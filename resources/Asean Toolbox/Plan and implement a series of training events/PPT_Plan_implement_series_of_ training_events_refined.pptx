
<file path=[Content_Types].xml><?xml version="1.0" encoding="utf-8"?>
<Types xmlns="http://schemas.openxmlformats.org/package/2006/content-types">
  <Default Extension="png" ContentType="image/png"/>
  <Default Extension="jpeg" ContentType="image/jpeg"/>
  <Default Extension="wmf" ContentType="image/x-wmf"/>
  <Default Extension="rels" ContentType="application/vnd.openxmlformats-package.relationships+xml"/>
  <Default Extension="xml" ContentType="application/xml"/>
  <Default Extension="tiff" ContentType="image/tiff"/>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notesSlides/notesSlide98.xml" ContentType="application/vnd.openxmlformats-officedocument.presentationml.notesSlide+xml"/>
  <Override PartName="/ppt/notesSlides/notesSlide99.xml" ContentType="application/vnd.openxmlformats-officedocument.presentationml.notesSlide+xml"/>
  <Override PartName="/ppt/notesSlides/notesSlide100.xml" ContentType="application/vnd.openxmlformats-officedocument.presentationml.notesSlide+xml"/>
  <Override PartName="/ppt/notesSlides/notesSlide101.xml" ContentType="application/vnd.openxmlformats-officedocument.presentationml.notesSlide+xml"/>
  <Override PartName="/ppt/notesSlides/notesSlide102.xml" ContentType="application/vnd.openxmlformats-officedocument.presentationml.notesSlide+xml"/>
  <Override PartName="/ppt/notesSlides/notesSlide103.xml" ContentType="application/vnd.openxmlformats-officedocument.presentationml.notesSlide+xml"/>
  <Override PartName="/ppt/notesSlides/notesSlide104.xml" ContentType="application/vnd.openxmlformats-officedocument.presentationml.notesSlide+xml"/>
  <Override PartName="/ppt/notesSlides/notesSlide105.xml" ContentType="application/vnd.openxmlformats-officedocument.presentationml.notesSlide+xml"/>
  <Override PartName="/ppt/notesSlides/notesSlide106.xml" ContentType="application/vnd.openxmlformats-officedocument.presentationml.notesSlide+xml"/>
  <Override PartName="/ppt/notesSlides/notesSlide107.xml" ContentType="application/vnd.openxmlformats-officedocument.presentationml.notesSlide+xml"/>
  <Override PartName="/ppt/notesSlides/notesSlide108.xml" ContentType="application/vnd.openxmlformats-officedocument.presentationml.notesSlide+xml"/>
  <Override PartName="/ppt/notesSlides/notesSlide109.xml" ContentType="application/vnd.openxmlformats-officedocument.presentationml.notesSlide+xml"/>
  <Override PartName="/ppt/notesSlides/notesSlide110.xml" ContentType="application/vnd.openxmlformats-officedocument.presentationml.notesSlide+xml"/>
  <Override PartName="/ppt/notesSlides/notesSlide111.xml" ContentType="application/vnd.openxmlformats-officedocument.presentationml.notesSlide+xml"/>
  <Override PartName="/ppt/notesSlides/notesSlide112.xml" ContentType="application/vnd.openxmlformats-officedocument.presentationml.notesSlide+xml"/>
  <Override PartName="/ppt/notesSlides/notesSlide113.xml" ContentType="application/vnd.openxmlformats-officedocument.presentationml.notesSlide+xml"/>
  <Override PartName="/ppt/notesSlides/notesSlide114.xml" ContentType="application/vnd.openxmlformats-officedocument.presentationml.notesSlide+xml"/>
  <Override PartName="/ppt/notesSlides/notesSlide115.xml" ContentType="application/vnd.openxmlformats-officedocument.presentationml.notesSlide+xml"/>
  <Override PartName="/ppt/notesSlides/notesSlide116.xml" ContentType="application/vnd.openxmlformats-officedocument.presentationml.notesSlide+xml"/>
  <Override PartName="/ppt/notesSlides/notesSlide117.xml" ContentType="application/vnd.openxmlformats-officedocument.presentationml.notesSlide+xml"/>
  <Override PartName="/ppt/notesSlides/notesSlide118.xml" ContentType="application/vnd.openxmlformats-officedocument.presentationml.notesSlide+xml"/>
  <Override PartName="/ppt/notesSlides/notesSlide119.xml" ContentType="application/vnd.openxmlformats-officedocument.presentationml.notesSlide+xml"/>
  <Override PartName="/ppt/notesSlides/notesSlide120.xml" ContentType="application/vnd.openxmlformats-officedocument.presentationml.notesSlide+xml"/>
  <Override PartName="/ppt/notesSlides/notesSlide1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08" r:id="rId1"/>
  </p:sldMasterIdLst>
  <p:notesMasterIdLst>
    <p:notesMasterId r:id="rId123"/>
  </p:notesMasterIdLst>
  <p:handoutMasterIdLst>
    <p:handoutMasterId r:id="rId124"/>
  </p:handoutMasterIdLst>
  <p:sldIdLst>
    <p:sldId id="256" r:id="rId2"/>
    <p:sldId id="257" r:id="rId3"/>
    <p:sldId id="258" r:id="rId4"/>
    <p:sldId id="259" r:id="rId5"/>
    <p:sldId id="261" r:id="rId6"/>
    <p:sldId id="260" r:id="rId7"/>
    <p:sldId id="267" r:id="rId8"/>
    <p:sldId id="326" r:id="rId9"/>
    <p:sldId id="327" r:id="rId10"/>
    <p:sldId id="328" r:id="rId11"/>
    <p:sldId id="329" r:id="rId12"/>
    <p:sldId id="330" r:id="rId13"/>
    <p:sldId id="325" r:id="rId14"/>
    <p:sldId id="332" r:id="rId15"/>
    <p:sldId id="331" r:id="rId16"/>
    <p:sldId id="268" r:id="rId17"/>
    <p:sldId id="269" r:id="rId18"/>
    <p:sldId id="270" r:id="rId19"/>
    <p:sldId id="333" r:id="rId20"/>
    <p:sldId id="334" r:id="rId21"/>
    <p:sldId id="335" r:id="rId22"/>
    <p:sldId id="336" r:id="rId23"/>
    <p:sldId id="337" r:id="rId24"/>
    <p:sldId id="338" r:id="rId25"/>
    <p:sldId id="339" r:id="rId26"/>
    <p:sldId id="340" r:id="rId27"/>
    <p:sldId id="341" r:id="rId28"/>
    <p:sldId id="271" r:id="rId29"/>
    <p:sldId id="342" r:id="rId30"/>
    <p:sldId id="343" r:id="rId31"/>
    <p:sldId id="273" r:id="rId32"/>
    <p:sldId id="274" r:id="rId33"/>
    <p:sldId id="275" r:id="rId34"/>
    <p:sldId id="344" r:id="rId35"/>
    <p:sldId id="277" r:id="rId36"/>
    <p:sldId id="278" r:id="rId37"/>
    <p:sldId id="279" r:id="rId38"/>
    <p:sldId id="280" r:id="rId39"/>
    <p:sldId id="281" r:id="rId40"/>
    <p:sldId id="282" r:id="rId41"/>
    <p:sldId id="283" r:id="rId42"/>
    <p:sldId id="284" r:id="rId43"/>
    <p:sldId id="285" r:id="rId44"/>
    <p:sldId id="286" r:id="rId45"/>
    <p:sldId id="345" r:id="rId46"/>
    <p:sldId id="346" r:id="rId47"/>
    <p:sldId id="347" r:id="rId48"/>
    <p:sldId id="348" r:id="rId49"/>
    <p:sldId id="349" r:id="rId50"/>
    <p:sldId id="350" r:id="rId51"/>
    <p:sldId id="351" r:id="rId52"/>
    <p:sldId id="319" r:id="rId53"/>
    <p:sldId id="324" r:id="rId54"/>
    <p:sldId id="320" r:id="rId55"/>
    <p:sldId id="321" r:id="rId56"/>
    <p:sldId id="322" r:id="rId57"/>
    <p:sldId id="323" r:id="rId58"/>
    <p:sldId id="352" r:id="rId59"/>
    <p:sldId id="353" r:id="rId60"/>
    <p:sldId id="287" r:id="rId61"/>
    <p:sldId id="355" r:id="rId62"/>
    <p:sldId id="356" r:id="rId63"/>
    <p:sldId id="357" r:id="rId64"/>
    <p:sldId id="358" r:id="rId65"/>
    <p:sldId id="359" r:id="rId66"/>
    <p:sldId id="360" r:id="rId67"/>
    <p:sldId id="368" r:id="rId68"/>
    <p:sldId id="369" r:id="rId69"/>
    <p:sldId id="370" r:id="rId70"/>
    <p:sldId id="371" r:id="rId71"/>
    <p:sldId id="372" r:id="rId72"/>
    <p:sldId id="373" r:id="rId73"/>
    <p:sldId id="374" r:id="rId74"/>
    <p:sldId id="375" r:id="rId75"/>
    <p:sldId id="262" r:id="rId76"/>
    <p:sldId id="263" r:id="rId77"/>
    <p:sldId id="264" r:id="rId78"/>
    <p:sldId id="361" r:id="rId79"/>
    <p:sldId id="362" r:id="rId80"/>
    <p:sldId id="363" r:id="rId81"/>
    <p:sldId id="364" r:id="rId82"/>
    <p:sldId id="365" r:id="rId83"/>
    <p:sldId id="366" r:id="rId84"/>
    <p:sldId id="367" r:id="rId85"/>
    <p:sldId id="376" r:id="rId86"/>
    <p:sldId id="377" r:id="rId87"/>
    <p:sldId id="378" r:id="rId88"/>
    <p:sldId id="379" r:id="rId89"/>
    <p:sldId id="380" r:id="rId90"/>
    <p:sldId id="381" r:id="rId91"/>
    <p:sldId id="382" r:id="rId92"/>
    <p:sldId id="383" r:id="rId93"/>
    <p:sldId id="384" r:id="rId94"/>
    <p:sldId id="385" r:id="rId95"/>
    <p:sldId id="387" r:id="rId96"/>
    <p:sldId id="388" r:id="rId97"/>
    <p:sldId id="386" r:id="rId98"/>
    <p:sldId id="302" r:id="rId99"/>
    <p:sldId id="303" r:id="rId100"/>
    <p:sldId id="304" r:id="rId101"/>
    <p:sldId id="305" r:id="rId102"/>
    <p:sldId id="389" r:id="rId103"/>
    <p:sldId id="390" r:id="rId104"/>
    <p:sldId id="391" r:id="rId105"/>
    <p:sldId id="392" r:id="rId106"/>
    <p:sldId id="393" r:id="rId107"/>
    <p:sldId id="265" r:id="rId108"/>
    <p:sldId id="266" r:id="rId109"/>
    <p:sldId id="394" r:id="rId110"/>
    <p:sldId id="395" r:id="rId111"/>
    <p:sldId id="396" r:id="rId112"/>
    <p:sldId id="397" r:id="rId113"/>
    <p:sldId id="398" r:id="rId114"/>
    <p:sldId id="399" r:id="rId115"/>
    <p:sldId id="400" r:id="rId116"/>
    <p:sldId id="401" r:id="rId117"/>
    <p:sldId id="402" r:id="rId118"/>
    <p:sldId id="403" r:id="rId119"/>
    <p:sldId id="404" r:id="rId120"/>
    <p:sldId id="405" r:id="rId121"/>
    <p:sldId id="406" r:id="rId122"/>
  </p:sldIdLst>
  <p:sldSz cx="9144000" cy="6858000" type="screen4x3"/>
  <p:notesSz cx="7099300" cy="10234613"/>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66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0335" autoAdjust="0"/>
    <p:restoredTop sz="73721" autoAdjust="0"/>
  </p:normalViewPr>
  <p:slideViewPr>
    <p:cSldViewPr>
      <p:cViewPr varScale="1">
        <p:scale>
          <a:sx n="68" d="100"/>
          <a:sy n="68" d="100"/>
        </p:scale>
        <p:origin x="1860" y="6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117" Type="http://schemas.openxmlformats.org/officeDocument/2006/relationships/slide" Target="slides/slide116.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12" Type="http://schemas.openxmlformats.org/officeDocument/2006/relationships/slide" Target="slides/slide111.xml"/><Relationship Id="rId16" Type="http://schemas.openxmlformats.org/officeDocument/2006/relationships/slide" Target="slides/slide15.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notesMaster" Target="notesMasters/notesMaster1.xml"/><Relationship Id="rId128" Type="http://schemas.openxmlformats.org/officeDocument/2006/relationships/tableStyles" Target="tableStyles.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113" Type="http://schemas.openxmlformats.org/officeDocument/2006/relationships/slide" Target="slides/slide112.xml"/><Relationship Id="rId118" Type="http://schemas.openxmlformats.org/officeDocument/2006/relationships/slide" Target="slides/slide117.xml"/><Relationship Id="rId126" Type="http://schemas.openxmlformats.org/officeDocument/2006/relationships/viewProps" Target="viewProps.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slide" Target="slides/slide84.xml"/><Relationship Id="rId93" Type="http://schemas.openxmlformats.org/officeDocument/2006/relationships/slide" Target="slides/slide92.xml"/><Relationship Id="rId98" Type="http://schemas.openxmlformats.org/officeDocument/2006/relationships/slide" Target="slides/slide97.xml"/><Relationship Id="rId121" Type="http://schemas.openxmlformats.org/officeDocument/2006/relationships/slide" Target="slides/slide12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103" Type="http://schemas.openxmlformats.org/officeDocument/2006/relationships/slide" Target="slides/slide102.xml"/><Relationship Id="rId108" Type="http://schemas.openxmlformats.org/officeDocument/2006/relationships/slide" Target="slides/slide107.xml"/><Relationship Id="rId116" Type="http://schemas.openxmlformats.org/officeDocument/2006/relationships/slide" Target="slides/slide115.xml"/><Relationship Id="rId124" Type="http://schemas.openxmlformats.org/officeDocument/2006/relationships/handoutMaster" Target="handoutMasters/handoutMaster1.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slide" Target="slides/slide87.xml"/><Relationship Id="rId91" Type="http://schemas.openxmlformats.org/officeDocument/2006/relationships/slide" Target="slides/slide90.xml"/><Relationship Id="rId96" Type="http://schemas.openxmlformats.org/officeDocument/2006/relationships/slide" Target="slides/slide95.xml"/><Relationship Id="rId111" Type="http://schemas.openxmlformats.org/officeDocument/2006/relationships/slide" Target="slides/slide110.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6" Type="http://schemas.openxmlformats.org/officeDocument/2006/relationships/slide" Target="slides/slide105.xml"/><Relationship Id="rId114" Type="http://schemas.openxmlformats.org/officeDocument/2006/relationships/slide" Target="slides/slide113.xml"/><Relationship Id="rId119" Type="http://schemas.openxmlformats.org/officeDocument/2006/relationships/slide" Target="slides/slide118.xml"/><Relationship Id="rId127" Type="http://schemas.openxmlformats.org/officeDocument/2006/relationships/theme" Target="theme/theme1.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slide" Target="slides/slide12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120" Type="http://schemas.openxmlformats.org/officeDocument/2006/relationships/slide" Target="slides/slide119.xml"/><Relationship Id="rId125" Type="http://schemas.openxmlformats.org/officeDocument/2006/relationships/presProps" Target="presProps.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slide" Target="slides/slide114.xml"/><Relationship Id="rId61" Type="http://schemas.openxmlformats.org/officeDocument/2006/relationships/slide" Target="slides/slide60.xml"/><Relationship Id="rId82" Type="http://schemas.openxmlformats.org/officeDocument/2006/relationships/slide" Target="slides/slide8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1" y="1"/>
            <a:ext cx="3076363" cy="511313"/>
          </a:xfrm>
          <a:prstGeom prst="rect">
            <a:avLst/>
          </a:prstGeom>
        </p:spPr>
        <p:txBody>
          <a:bodyPr vert="horz" lIns="94759" tIns="47380" rIns="94759" bIns="47380" rtlCol="0"/>
          <a:lstStyle>
            <a:lvl1pPr algn="l">
              <a:defRPr sz="1200"/>
            </a:lvl1pPr>
          </a:lstStyle>
          <a:p>
            <a:endParaRPr lang="en-GB" dirty="0">
              <a:latin typeface="Helvetica" pitchFamily="34" charset="0"/>
            </a:endParaRPr>
          </a:p>
        </p:txBody>
      </p:sp>
      <p:sp>
        <p:nvSpPr>
          <p:cNvPr id="3" name="Date Placeholder 2"/>
          <p:cNvSpPr>
            <a:spLocks noGrp="1"/>
          </p:cNvSpPr>
          <p:nvPr>
            <p:ph type="dt" sz="quarter" idx="1"/>
          </p:nvPr>
        </p:nvSpPr>
        <p:spPr>
          <a:xfrm>
            <a:off x="4021295" y="1"/>
            <a:ext cx="3076363" cy="511313"/>
          </a:xfrm>
          <a:prstGeom prst="rect">
            <a:avLst/>
          </a:prstGeom>
        </p:spPr>
        <p:txBody>
          <a:bodyPr vert="horz" lIns="94759" tIns="47380" rIns="94759" bIns="47380" rtlCol="0"/>
          <a:lstStyle>
            <a:lvl1pPr algn="r">
              <a:defRPr sz="1200"/>
            </a:lvl1pPr>
          </a:lstStyle>
          <a:p>
            <a:fld id="{E6916107-BD3A-45E2-B124-A5ED60630F4B}" type="datetimeFigureOut">
              <a:rPr lang="en-US" smtClean="0">
                <a:latin typeface="Helvetica" pitchFamily="34" charset="0"/>
              </a:rPr>
              <a:pPr/>
              <a:t>3/31/2015</a:t>
            </a:fld>
            <a:endParaRPr lang="en-GB" dirty="0">
              <a:latin typeface="Helvetica" pitchFamily="34" charset="0"/>
            </a:endParaRPr>
          </a:p>
        </p:txBody>
      </p:sp>
      <p:sp>
        <p:nvSpPr>
          <p:cNvPr id="4" name="Footer Placeholder 3"/>
          <p:cNvSpPr>
            <a:spLocks noGrp="1"/>
          </p:cNvSpPr>
          <p:nvPr>
            <p:ph type="ftr" sz="quarter" idx="2"/>
          </p:nvPr>
        </p:nvSpPr>
        <p:spPr>
          <a:xfrm>
            <a:off x="1" y="9721629"/>
            <a:ext cx="3076363" cy="511313"/>
          </a:xfrm>
          <a:prstGeom prst="rect">
            <a:avLst/>
          </a:prstGeom>
        </p:spPr>
        <p:txBody>
          <a:bodyPr vert="horz" lIns="94759" tIns="47380" rIns="94759" bIns="47380" rtlCol="0" anchor="b"/>
          <a:lstStyle>
            <a:lvl1pPr algn="l">
              <a:defRPr sz="1200"/>
            </a:lvl1pPr>
          </a:lstStyle>
          <a:p>
            <a:endParaRPr lang="en-GB" dirty="0">
              <a:latin typeface="Helvetica" pitchFamily="34" charset="0"/>
            </a:endParaRPr>
          </a:p>
        </p:txBody>
      </p:sp>
      <p:sp>
        <p:nvSpPr>
          <p:cNvPr id="5" name="Slide Number Placeholder 4"/>
          <p:cNvSpPr>
            <a:spLocks noGrp="1"/>
          </p:cNvSpPr>
          <p:nvPr>
            <p:ph type="sldNum" sz="quarter" idx="3"/>
          </p:nvPr>
        </p:nvSpPr>
        <p:spPr>
          <a:xfrm>
            <a:off x="4021295" y="9721629"/>
            <a:ext cx="3076363" cy="511313"/>
          </a:xfrm>
          <a:prstGeom prst="rect">
            <a:avLst/>
          </a:prstGeom>
        </p:spPr>
        <p:txBody>
          <a:bodyPr vert="horz" lIns="94759" tIns="47380" rIns="94759" bIns="47380" rtlCol="0" anchor="b"/>
          <a:lstStyle>
            <a:lvl1pPr algn="r">
              <a:defRPr sz="1200"/>
            </a:lvl1pPr>
          </a:lstStyle>
          <a:p>
            <a:fld id="{5905CC0A-F53C-4267-913E-3202B6ED95E3}" type="slidenum">
              <a:rPr lang="en-GB" smtClean="0">
                <a:latin typeface="Helvetica" pitchFamily="34" charset="0"/>
              </a:rPr>
              <a:pPr/>
              <a:t>‹#›</a:t>
            </a:fld>
            <a:endParaRPr lang="en-GB" dirty="0">
              <a:latin typeface="Helvetica" pitchFamily="34" charset="0"/>
            </a:endParaRPr>
          </a:p>
        </p:txBody>
      </p:sp>
    </p:spTree>
    <p:extLst>
      <p:ext uri="{BB962C8B-B14F-4D97-AF65-F5344CB8AC3E}">
        <p14:creationId xmlns:p14="http://schemas.microsoft.com/office/powerpoint/2010/main" val="3413138163"/>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1" y="1"/>
            <a:ext cx="3076363" cy="511730"/>
          </a:xfrm>
          <a:prstGeom prst="rect">
            <a:avLst/>
          </a:prstGeom>
        </p:spPr>
        <p:txBody>
          <a:bodyPr vert="horz" lIns="94759" tIns="47380" rIns="94759" bIns="47380" rtlCol="0"/>
          <a:lstStyle>
            <a:lvl1pPr algn="l">
              <a:defRPr sz="1200">
                <a:latin typeface="Helvetica" pitchFamily="34" charset="0"/>
              </a:defRPr>
            </a:lvl1pPr>
          </a:lstStyle>
          <a:p>
            <a:endParaRPr lang="en-US" dirty="0"/>
          </a:p>
        </p:txBody>
      </p:sp>
      <p:sp>
        <p:nvSpPr>
          <p:cNvPr id="3" name="Date Placeholder 2"/>
          <p:cNvSpPr>
            <a:spLocks noGrp="1"/>
          </p:cNvSpPr>
          <p:nvPr>
            <p:ph type="dt" idx="1"/>
          </p:nvPr>
        </p:nvSpPr>
        <p:spPr>
          <a:xfrm>
            <a:off x="4021295" y="1"/>
            <a:ext cx="3076363" cy="511730"/>
          </a:xfrm>
          <a:prstGeom prst="rect">
            <a:avLst/>
          </a:prstGeom>
        </p:spPr>
        <p:txBody>
          <a:bodyPr vert="horz" lIns="94759" tIns="47380" rIns="94759" bIns="47380" rtlCol="0"/>
          <a:lstStyle>
            <a:lvl1pPr algn="r">
              <a:defRPr sz="1200">
                <a:latin typeface="Helvetica" pitchFamily="34" charset="0"/>
              </a:defRPr>
            </a:lvl1pPr>
          </a:lstStyle>
          <a:p>
            <a:fld id="{BC34F173-2430-41D6-9CA5-C9CD3BDF7E96}" type="datetimeFigureOut">
              <a:rPr lang="en-US" smtClean="0"/>
              <a:pPr/>
              <a:t>3/31/2015</a:t>
            </a:fld>
            <a:endParaRPr lang="en-US" dirty="0"/>
          </a:p>
        </p:txBody>
      </p:sp>
      <p:sp>
        <p:nvSpPr>
          <p:cNvPr id="4" name="Slide Image Placeholder 3"/>
          <p:cNvSpPr>
            <a:spLocks noGrp="1" noRot="1" noChangeAspect="1"/>
          </p:cNvSpPr>
          <p:nvPr>
            <p:ph type="sldImg" idx="2"/>
          </p:nvPr>
        </p:nvSpPr>
        <p:spPr>
          <a:xfrm>
            <a:off x="990600" y="766763"/>
            <a:ext cx="5118100" cy="3838575"/>
          </a:xfrm>
          <a:prstGeom prst="rect">
            <a:avLst/>
          </a:prstGeom>
          <a:noFill/>
          <a:ln w="12700">
            <a:solidFill>
              <a:prstClr val="black"/>
            </a:solidFill>
          </a:ln>
        </p:spPr>
        <p:txBody>
          <a:bodyPr vert="horz" lIns="94759" tIns="47380" rIns="94759" bIns="47380" rtlCol="0" anchor="ctr"/>
          <a:lstStyle/>
          <a:p>
            <a:endParaRPr lang="en-US" dirty="0"/>
          </a:p>
        </p:txBody>
      </p:sp>
      <p:sp>
        <p:nvSpPr>
          <p:cNvPr id="5" name="Notes Placeholder 4"/>
          <p:cNvSpPr>
            <a:spLocks noGrp="1"/>
          </p:cNvSpPr>
          <p:nvPr>
            <p:ph type="body" sz="quarter" idx="3"/>
          </p:nvPr>
        </p:nvSpPr>
        <p:spPr>
          <a:xfrm>
            <a:off x="709931" y="4861442"/>
            <a:ext cx="5679440" cy="4605576"/>
          </a:xfrm>
          <a:prstGeom prst="rect">
            <a:avLst/>
          </a:prstGeom>
        </p:spPr>
        <p:txBody>
          <a:bodyPr vert="horz" lIns="94759" tIns="47380" rIns="94759" bIns="47380" rtlCol="0">
            <a:normAutofit/>
          </a:body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6" name="Footer Placeholder 5"/>
          <p:cNvSpPr>
            <a:spLocks noGrp="1"/>
          </p:cNvSpPr>
          <p:nvPr>
            <p:ph type="ftr" sz="quarter" idx="4"/>
          </p:nvPr>
        </p:nvSpPr>
        <p:spPr>
          <a:xfrm>
            <a:off x="1" y="9721106"/>
            <a:ext cx="3076363" cy="511730"/>
          </a:xfrm>
          <a:prstGeom prst="rect">
            <a:avLst/>
          </a:prstGeom>
        </p:spPr>
        <p:txBody>
          <a:bodyPr vert="horz" lIns="94759" tIns="47380" rIns="94759" bIns="47380" rtlCol="0" anchor="b"/>
          <a:lstStyle>
            <a:lvl1pPr algn="l">
              <a:defRPr sz="1200">
                <a:latin typeface="Helvetica" pitchFamily="34" charset="0"/>
              </a:defRPr>
            </a:lvl1pPr>
          </a:lstStyle>
          <a:p>
            <a:endParaRPr lang="en-US" dirty="0"/>
          </a:p>
        </p:txBody>
      </p:sp>
      <p:sp>
        <p:nvSpPr>
          <p:cNvPr id="7" name="Slide Number Placeholder 6"/>
          <p:cNvSpPr>
            <a:spLocks noGrp="1"/>
          </p:cNvSpPr>
          <p:nvPr>
            <p:ph type="sldNum" sz="quarter" idx="5"/>
          </p:nvPr>
        </p:nvSpPr>
        <p:spPr>
          <a:xfrm>
            <a:off x="4021295" y="9721106"/>
            <a:ext cx="3076363" cy="511730"/>
          </a:xfrm>
          <a:prstGeom prst="rect">
            <a:avLst/>
          </a:prstGeom>
        </p:spPr>
        <p:txBody>
          <a:bodyPr vert="horz" lIns="94759" tIns="47380" rIns="94759" bIns="47380" rtlCol="0" anchor="b"/>
          <a:lstStyle>
            <a:lvl1pPr algn="r">
              <a:defRPr sz="1200">
                <a:latin typeface="Helvetica" pitchFamily="34" charset="0"/>
              </a:defRPr>
            </a:lvl1pPr>
          </a:lstStyle>
          <a:p>
            <a:fld id="{006CD3C9-0AF2-437D-9D2F-7B6B298CC32F}" type="slidenum">
              <a:rPr lang="en-US" smtClean="0"/>
              <a:pPr/>
              <a:t>‹#›</a:t>
            </a:fld>
            <a:endParaRPr lang="en-US" dirty="0"/>
          </a:p>
        </p:txBody>
      </p:sp>
    </p:spTree>
    <p:extLst>
      <p:ext uri="{BB962C8B-B14F-4D97-AF65-F5344CB8AC3E}">
        <p14:creationId xmlns:p14="http://schemas.microsoft.com/office/powerpoint/2010/main" val="293735700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Helvetica" pitchFamily="34" charset="0"/>
        <a:ea typeface="+mn-ea"/>
        <a:cs typeface="+mn-cs"/>
      </a:defRPr>
    </a:lvl1pPr>
    <a:lvl2pPr marL="457200" algn="l" defTabSz="914400" rtl="0" eaLnBrk="1" latinLnBrk="0" hangingPunct="1">
      <a:defRPr sz="1200" kern="1200">
        <a:solidFill>
          <a:schemeClr val="tx1"/>
        </a:solidFill>
        <a:latin typeface="Helvetica" pitchFamily="34" charset="0"/>
        <a:ea typeface="+mn-ea"/>
        <a:cs typeface="+mn-cs"/>
      </a:defRPr>
    </a:lvl2pPr>
    <a:lvl3pPr marL="914400" algn="l" defTabSz="914400" rtl="0" eaLnBrk="1" latinLnBrk="0" hangingPunct="1">
      <a:defRPr sz="1200" kern="1200">
        <a:solidFill>
          <a:schemeClr val="tx1"/>
        </a:solidFill>
        <a:latin typeface="Helvetica" pitchFamily="34" charset="0"/>
        <a:ea typeface="+mn-ea"/>
        <a:cs typeface="+mn-cs"/>
      </a:defRPr>
    </a:lvl3pPr>
    <a:lvl4pPr marL="1371600" algn="l" defTabSz="914400" rtl="0" eaLnBrk="1" latinLnBrk="0" hangingPunct="1">
      <a:defRPr sz="1200" kern="1200">
        <a:solidFill>
          <a:schemeClr val="tx1"/>
        </a:solidFill>
        <a:latin typeface="Helvetica" pitchFamily="34" charset="0"/>
        <a:ea typeface="+mn-ea"/>
        <a:cs typeface="+mn-cs"/>
      </a:defRPr>
    </a:lvl4pPr>
    <a:lvl5pPr marL="1828800" algn="l" defTabSz="914400" rtl="0" eaLnBrk="1" latinLnBrk="0" hangingPunct="1">
      <a:defRPr sz="1200" kern="1200">
        <a:solidFill>
          <a:schemeClr val="tx1"/>
        </a:solidFill>
        <a:latin typeface="Helvetica" pitchFamily="34"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2" Type="http://schemas.openxmlformats.org/officeDocument/2006/relationships/slide" Target="../slides/slide87.xml"/><Relationship Id="rId1"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Id2" Type="http://schemas.openxmlformats.org/officeDocument/2006/relationships/slide" Target="../slides/slide88.xml"/><Relationship Id="rId1" Type="http://schemas.openxmlformats.org/officeDocument/2006/relationships/notesMaster" Target="../notesMasters/notesMaster1.xml"/></Relationships>
</file>

<file path=ppt/notesSlides/_rels/notesSlide89.xml.rels><?xml version="1.0" encoding="UTF-8" standalone="yes"?>
<Relationships xmlns="http://schemas.openxmlformats.org/package/2006/relationships"><Relationship Id="rId2" Type="http://schemas.openxmlformats.org/officeDocument/2006/relationships/slide" Target="../slides/slide89.xml"/><Relationship Id="rId1" Type="http://schemas.openxmlformats.org/officeDocument/2006/relationships/notesMaster" Target="../notesMasters/notesMaster1.xml"/></Relationships>
</file>

<file path=ppt/notesSlides/_rels/notesSlide90.xml.rels><?xml version="1.0" encoding="UTF-8" standalone="yes"?>
<Relationships xmlns="http://schemas.openxmlformats.org/package/2006/relationships"><Relationship Id="rId2" Type="http://schemas.openxmlformats.org/officeDocument/2006/relationships/slide" Target="../slides/slide90.xml"/><Relationship Id="rId1" Type="http://schemas.openxmlformats.org/officeDocument/2006/relationships/notesMaster" Target="../notesMasters/notesMaster1.xml"/></Relationships>
</file>

<file path=ppt/notesSlides/_rels/notesSlide91.xml.rels><?xml version="1.0" encoding="UTF-8" standalone="yes"?>
<Relationships xmlns="http://schemas.openxmlformats.org/package/2006/relationships"><Relationship Id="rId2" Type="http://schemas.openxmlformats.org/officeDocument/2006/relationships/slide" Target="../slides/slide91.xml"/><Relationship Id="rId1" Type="http://schemas.openxmlformats.org/officeDocument/2006/relationships/notesMaster" Target="../notesMasters/notesMaster1.xml"/></Relationships>
</file>

<file path=ppt/notesSlides/_rels/notesSlide92.xml.rels><?xml version="1.0" encoding="UTF-8" standalone="yes"?>
<Relationships xmlns="http://schemas.openxmlformats.org/package/2006/relationships"><Relationship Id="rId2" Type="http://schemas.openxmlformats.org/officeDocument/2006/relationships/slide" Target="../slides/slide92.xml"/><Relationship Id="rId1" Type="http://schemas.openxmlformats.org/officeDocument/2006/relationships/notesMaster" Target="../notesMasters/notesMaster1.xml"/></Relationships>
</file>

<file path=ppt/notesSlides/_rels/notesSlide93.xml.rels><?xml version="1.0" encoding="UTF-8" standalone="yes"?>
<Relationships xmlns="http://schemas.openxmlformats.org/package/2006/relationships"><Relationship Id="rId2" Type="http://schemas.openxmlformats.org/officeDocument/2006/relationships/slide" Target="../slides/slide93.xml"/><Relationship Id="rId1" Type="http://schemas.openxmlformats.org/officeDocument/2006/relationships/notesMaster" Target="../notesMasters/notesMaster1.xml"/></Relationships>
</file>

<file path=ppt/notesSlides/_rels/notesSlide94.xml.rels><?xml version="1.0" encoding="UTF-8" standalone="yes"?>
<Relationships xmlns="http://schemas.openxmlformats.org/package/2006/relationships"><Relationship Id="rId2" Type="http://schemas.openxmlformats.org/officeDocument/2006/relationships/slide" Target="../slides/slide94.xml"/><Relationship Id="rId1" Type="http://schemas.openxmlformats.org/officeDocument/2006/relationships/notesMaster" Target="../notesMasters/notesMaster1.xml"/></Relationships>
</file>

<file path=ppt/notesSlides/_rels/notesSlide95.xml.rels><?xml version="1.0" encoding="UTF-8" standalone="yes"?>
<Relationships xmlns="http://schemas.openxmlformats.org/package/2006/relationships"><Relationship Id="rId2" Type="http://schemas.openxmlformats.org/officeDocument/2006/relationships/slide" Target="../slides/slide95.xml"/><Relationship Id="rId1" Type="http://schemas.openxmlformats.org/officeDocument/2006/relationships/notesMaster" Target="../notesMasters/notesMaster1.xml"/></Relationships>
</file>

<file path=ppt/notesSlides/_rels/notesSlide96.xml.rels><?xml version="1.0" encoding="UTF-8" standalone="yes"?>
<Relationships xmlns="http://schemas.openxmlformats.org/package/2006/relationships"><Relationship Id="rId2" Type="http://schemas.openxmlformats.org/officeDocument/2006/relationships/slide" Target="../slides/slide96.xml"/><Relationship Id="rId1" Type="http://schemas.openxmlformats.org/officeDocument/2006/relationships/notesMaster" Target="../notesMasters/notesMaster1.xml"/></Relationships>
</file>

<file path=ppt/notesSlides/_rels/notesSlide97.xml.rels><?xml version="1.0" encoding="UTF-8" standalone="yes"?>
<Relationships xmlns="http://schemas.openxmlformats.org/package/2006/relationships"><Relationship Id="rId2" Type="http://schemas.openxmlformats.org/officeDocument/2006/relationships/slide" Target="../slides/slide97.xml"/><Relationship Id="rId1" Type="http://schemas.openxmlformats.org/officeDocument/2006/relationships/notesMaster" Target="../notesMasters/notesMaster1.xml"/></Relationships>
</file>

<file path=ppt/notesSlides/_rels/notesSlide98.xml.rels><?xml version="1.0" encoding="UTF-8" standalone="yes"?>
<Relationships xmlns="http://schemas.openxmlformats.org/package/2006/relationships"><Relationship Id="rId2" Type="http://schemas.openxmlformats.org/officeDocument/2006/relationships/slide" Target="../slides/slide98.xml"/><Relationship Id="rId1" Type="http://schemas.openxmlformats.org/officeDocument/2006/relationships/notesMaster" Target="../notesMasters/notesMaster1.xml"/></Relationships>
</file>

<file path=ppt/notesSlides/_rels/notesSlide99.xml.rels><?xml version="1.0" encoding="UTF-8" standalone="yes"?>
<Relationships xmlns="http://schemas.openxmlformats.org/package/2006/relationships"><Relationship Id="rId2" Type="http://schemas.openxmlformats.org/officeDocument/2006/relationships/slide" Target="../slides/slide99.xml"/><Relationship Id="rId1" Type="http://schemas.openxmlformats.org/officeDocument/2006/relationships/notesMaster" Target="../notesMasters/notesMaster1.xml"/></Relationships>
</file>

<file path=ppt/notesSlides/_rels/notesSlide100.xml.rels><?xml version="1.0" encoding="UTF-8" standalone="yes"?>
<Relationships xmlns="http://schemas.openxmlformats.org/package/2006/relationships"><Relationship Id="rId2" Type="http://schemas.openxmlformats.org/officeDocument/2006/relationships/slide" Target="../slides/slide100.xml"/><Relationship Id="rId1" Type="http://schemas.openxmlformats.org/officeDocument/2006/relationships/notesMaster" Target="../notesMasters/notesMaster1.xml"/></Relationships>
</file>

<file path=ppt/notesSlides/_rels/notesSlide101.xml.rels><?xml version="1.0" encoding="UTF-8" standalone="yes"?>
<Relationships xmlns="http://schemas.openxmlformats.org/package/2006/relationships"><Relationship Id="rId2" Type="http://schemas.openxmlformats.org/officeDocument/2006/relationships/slide" Target="../slides/slide101.xml"/><Relationship Id="rId1" Type="http://schemas.openxmlformats.org/officeDocument/2006/relationships/notesMaster" Target="../notesMasters/notesMaster1.xml"/></Relationships>
</file>

<file path=ppt/notesSlides/_rels/notesSlide102.xml.rels><?xml version="1.0" encoding="UTF-8" standalone="yes"?>
<Relationships xmlns="http://schemas.openxmlformats.org/package/2006/relationships"><Relationship Id="rId2" Type="http://schemas.openxmlformats.org/officeDocument/2006/relationships/slide" Target="../slides/slide102.xml"/><Relationship Id="rId1" Type="http://schemas.openxmlformats.org/officeDocument/2006/relationships/notesMaster" Target="../notesMasters/notesMaster1.xml"/></Relationships>
</file>

<file path=ppt/notesSlides/_rels/notesSlide103.xml.rels><?xml version="1.0" encoding="UTF-8" standalone="yes"?>
<Relationships xmlns="http://schemas.openxmlformats.org/package/2006/relationships"><Relationship Id="rId2" Type="http://schemas.openxmlformats.org/officeDocument/2006/relationships/slide" Target="../slides/slide103.xml"/><Relationship Id="rId1" Type="http://schemas.openxmlformats.org/officeDocument/2006/relationships/notesMaster" Target="../notesMasters/notesMaster1.xml"/></Relationships>
</file>

<file path=ppt/notesSlides/_rels/notesSlide104.xml.rels><?xml version="1.0" encoding="UTF-8" standalone="yes"?>
<Relationships xmlns="http://schemas.openxmlformats.org/package/2006/relationships"><Relationship Id="rId2" Type="http://schemas.openxmlformats.org/officeDocument/2006/relationships/slide" Target="../slides/slide104.xml"/><Relationship Id="rId1" Type="http://schemas.openxmlformats.org/officeDocument/2006/relationships/notesMaster" Target="../notesMasters/notesMaster1.xml"/></Relationships>
</file>

<file path=ppt/notesSlides/_rels/notesSlide105.xml.rels><?xml version="1.0" encoding="UTF-8" standalone="yes"?>
<Relationships xmlns="http://schemas.openxmlformats.org/package/2006/relationships"><Relationship Id="rId2" Type="http://schemas.openxmlformats.org/officeDocument/2006/relationships/slide" Target="../slides/slide105.xml"/><Relationship Id="rId1" Type="http://schemas.openxmlformats.org/officeDocument/2006/relationships/notesMaster" Target="../notesMasters/notesMaster1.xml"/></Relationships>
</file>

<file path=ppt/notesSlides/_rels/notesSlide106.xml.rels><?xml version="1.0" encoding="UTF-8" standalone="yes"?>
<Relationships xmlns="http://schemas.openxmlformats.org/package/2006/relationships"><Relationship Id="rId2" Type="http://schemas.openxmlformats.org/officeDocument/2006/relationships/slide" Target="../slides/slide106.xml"/><Relationship Id="rId1" Type="http://schemas.openxmlformats.org/officeDocument/2006/relationships/notesMaster" Target="../notesMasters/notesMaster1.xml"/></Relationships>
</file>

<file path=ppt/notesSlides/_rels/notesSlide107.xml.rels><?xml version="1.0" encoding="UTF-8" standalone="yes"?>
<Relationships xmlns="http://schemas.openxmlformats.org/package/2006/relationships"><Relationship Id="rId2" Type="http://schemas.openxmlformats.org/officeDocument/2006/relationships/slide" Target="../slides/slide107.xml"/><Relationship Id="rId1" Type="http://schemas.openxmlformats.org/officeDocument/2006/relationships/notesMaster" Target="../notesMasters/notesMaster1.xml"/></Relationships>
</file>

<file path=ppt/notesSlides/_rels/notesSlide108.xml.rels><?xml version="1.0" encoding="UTF-8" standalone="yes"?>
<Relationships xmlns="http://schemas.openxmlformats.org/package/2006/relationships"><Relationship Id="rId2" Type="http://schemas.openxmlformats.org/officeDocument/2006/relationships/slide" Target="../slides/slide108.xml"/><Relationship Id="rId1" Type="http://schemas.openxmlformats.org/officeDocument/2006/relationships/notesMaster" Target="../notesMasters/notesMaster1.xml"/></Relationships>
</file>

<file path=ppt/notesSlides/_rels/notesSlide109.xml.rels><?xml version="1.0" encoding="UTF-8" standalone="yes"?>
<Relationships xmlns="http://schemas.openxmlformats.org/package/2006/relationships"><Relationship Id="rId2" Type="http://schemas.openxmlformats.org/officeDocument/2006/relationships/slide" Target="../slides/slide109.xml"/><Relationship Id="rId1" Type="http://schemas.openxmlformats.org/officeDocument/2006/relationships/notesMaster" Target="../notesMasters/notesMaster1.xml"/></Relationships>
</file>

<file path=ppt/notesSlides/_rels/notesSlide110.xml.rels><?xml version="1.0" encoding="UTF-8" standalone="yes"?>
<Relationships xmlns="http://schemas.openxmlformats.org/package/2006/relationships"><Relationship Id="rId2" Type="http://schemas.openxmlformats.org/officeDocument/2006/relationships/slide" Target="../slides/slide110.xml"/><Relationship Id="rId1" Type="http://schemas.openxmlformats.org/officeDocument/2006/relationships/notesMaster" Target="../notesMasters/notesMaster1.xml"/></Relationships>
</file>

<file path=ppt/notesSlides/_rels/notesSlide111.xml.rels><?xml version="1.0" encoding="UTF-8" standalone="yes"?>
<Relationships xmlns="http://schemas.openxmlformats.org/package/2006/relationships"><Relationship Id="rId2" Type="http://schemas.openxmlformats.org/officeDocument/2006/relationships/slide" Target="../slides/slide111.xml"/><Relationship Id="rId1" Type="http://schemas.openxmlformats.org/officeDocument/2006/relationships/notesMaster" Target="../notesMasters/notesMaster1.xml"/></Relationships>
</file>

<file path=ppt/notesSlides/_rels/notesSlide112.xml.rels><?xml version="1.0" encoding="UTF-8" standalone="yes"?>
<Relationships xmlns="http://schemas.openxmlformats.org/package/2006/relationships"><Relationship Id="rId2" Type="http://schemas.openxmlformats.org/officeDocument/2006/relationships/slide" Target="../slides/slide112.xml"/><Relationship Id="rId1" Type="http://schemas.openxmlformats.org/officeDocument/2006/relationships/notesMaster" Target="../notesMasters/notesMaster1.xml"/></Relationships>
</file>

<file path=ppt/notesSlides/_rels/notesSlide113.xml.rels><?xml version="1.0" encoding="UTF-8" standalone="yes"?>
<Relationships xmlns="http://schemas.openxmlformats.org/package/2006/relationships"><Relationship Id="rId2" Type="http://schemas.openxmlformats.org/officeDocument/2006/relationships/slide" Target="../slides/slide113.xml"/><Relationship Id="rId1" Type="http://schemas.openxmlformats.org/officeDocument/2006/relationships/notesMaster" Target="../notesMasters/notesMaster1.xml"/></Relationships>
</file>

<file path=ppt/notesSlides/_rels/notesSlide114.xml.rels><?xml version="1.0" encoding="UTF-8" standalone="yes"?>
<Relationships xmlns="http://schemas.openxmlformats.org/package/2006/relationships"><Relationship Id="rId2" Type="http://schemas.openxmlformats.org/officeDocument/2006/relationships/slide" Target="../slides/slide114.xml"/><Relationship Id="rId1" Type="http://schemas.openxmlformats.org/officeDocument/2006/relationships/notesMaster" Target="../notesMasters/notesMaster1.xml"/></Relationships>
</file>

<file path=ppt/notesSlides/_rels/notesSlide115.xml.rels><?xml version="1.0" encoding="UTF-8" standalone="yes"?>
<Relationships xmlns="http://schemas.openxmlformats.org/package/2006/relationships"><Relationship Id="rId2" Type="http://schemas.openxmlformats.org/officeDocument/2006/relationships/slide" Target="../slides/slide115.xml"/><Relationship Id="rId1" Type="http://schemas.openxmlformats.org/officeDocument/2006/relationships/notesMaster" Target="../notesMasters/notesMaster1.xml"/></Relationships>
</file>

<file path=ppt/notesSlides/_rels/notesSlide116.xml.rels><?xml version="1.0" encoding="UTF-8" standalone="yes"?>
<Relationships xmlns="http://schemas.openxmlformats.org/package/2006/relationships"><Relationship Id="rId2" Type="http://schemas.openxmlformats.org/officeDocument/2006/relationships/slide" Target="../slides/slide116.xml"/><Relationship Id="rId1" Type="http://schemas.openxmlformats.org/officeDocument/2006/relationships/notesMaster" Target="../notesMasters/notesMaster1.xml"/></Relationships>
</file>

<file path=ppt/notesSlides/_rels/notesSlide117.xml.rels><?xml version="1.0" encoding="UTF-8" standalone="yes"?>
<Relationships xmlns="http://schemas.openxmlformats.org/package/2006/relationships"><Relationship Id="rId2" Type="http://schemas.openxmlformats.org/officeDocument/2006/relationships/slide" Target="../slides/slide117.xml"/><Relationship Id="rId1" Type="http://schemas.openxmlformats.org/officeDocument/2006/relationships/notesMaster" Target="../notesMasters/notesMaster1.xml"/></Relationships>
</file>

<file path=ppt/notesSlides/_rels/notesSlide118.xml.rels><?xml version="1.0" encoding="UTF-8" standalone="yes"?>
<Relationships xmlns="http://schemas.openxmlformats.org/package/2006/relationships"><Relationship Id="rId2" Type="http://schemas.openxmlformats.org/officeDocument/2006/relationships/slide" Target="../slides/slide118.xml"/><Relationship Id="rId1" Type="http://schemas.openxmlformats.org/officeDocument/2006/relationships/notesMaster" Target="../notesMasters/notesMaster1.xml"/></Relationships>
</file>

<file path=ppt/notesSlides/_rels/notesSlide119.xml.rels><?xml version="1.0" encoding="UTF-8" standalone="yes"?>
<Relationships xmlns="http://schemas.openxmlformats.org/package/2006/relationships"><Relationship Id="rId2" Type="http://schemas.openxmlformats.org/officeDocument/2006/relationships/slide" Target="../slides/slide119.xml"/><Relationship Id="rId1" Type="http://schemas.openxmlformats.org/officeDocument/2006/relationships/notesMaster" Target="../notesMasters/notesMaster1.xml"/></Relationships>
</file>

<file path=ppt/notesSlides/_rels/notesSlide120.xml.rels><?xml version="1.0" encoding="UTF-8" standalone="yes"?>
<Relationships xmlns="http://schemas.openxmlformats.org/package/2006/relationships"><Relationship Id="rId2" Type="http://schemas.openxmlformats.org/officeDocument/2006/relationships/slide" Target="../slides/slide120.xml"/><Relationship Id="rId1" Type="http://schemas.openxmlformats.org/officeDocument/2006/relationships/notesMaster" Target="../notesMasters/notesMaster1.xml"/></Relationships>
</file>

<file path=ppt/notesSlides/_rels/notesSlide121.xml.rels><?xml version="1.0" encoding="UTF-8" standalone="yes"?>
<Relationships xmlns="http://schemas.openxmlformats.org/package/2006/relationships"><Relationship Id="rId2" Type="http://schemas.openxmlformats.org/officeDocument/2006/relationships/slide" Target="../slides/slide1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noProof="0" dirty="0" smtClean="0"/>
              <a:t>Trainer</a:t>
            </a:r>
            <a:r>
              <a:rPr lang="en-AU" baseline="0" noProof="0" dirty="0" smtClean="0"/>
              <a:t> welcomes students to class.</a:t>
            </a: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a:t>
            </a:fld>
            <a:endParaRPr lang="en-US" dirty="0"/>
          </a:p>
        </p:txBody>
      </p:sp>
    </p:spTree>
    <p:extLst>
      <p:ext uri="{BB962C8B-B14F-4D97-AF65-F5344CB8AC3E}">
        <p14:creationId xmlns:p14="http://schemas.microsoft.com/office/powerpoint/2010/main" val="234057289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kern="1200" baseline="0" dirty="0" smtClean="0">
                <a:solidFill>
                  <a:schemeClr val="tx1"/>
                </a:solidFill>
                <a:ea typeface="+mn-ea"/>
                <a:cs typeface="+mn-cs"/>
              </a:rPr>
              <a:t>Trainer advises this Unit comprises three Elements, as listed on the slide explaining:</a:t>
            </a:r>
          </a:p>
          <a:p>
            <a:r>
              <a:rPr lang="en-AU" sz="1200" kern="1200" baseline="0" dirty="0" smtClean="0">
                <a:solidFill>
                  <a:schemeClr val="tx1"/>
                </a:solidFill>
                <a:ea typeface="+mn-ea"/>
                <a:cs typeface="+mn-cs"/>
              </a:rPr>
              <a:t>• Each Element comprises a number of Performance Criteria which will be identified throughout the class and explained in detail</a:t>
            </a:r>
          </a:p>
          <a:p>
            <a:r>
              <a:rPr lang="en-AU" sz="1200" kern="1200" baseline="0" dirty="0" smtClean="0">
                <a:solidFill>
                  <a:schemeClr val="tx1"/>
                </a:solidFill>
                <a:ea typeface="+mn-ea"/>
                <a:cs typeface="+mn-cs"/>
              </a:rPr>
              <a:t>• Trainees can obtain more detail from their Trainee Manual</a:t>
            </a:r>
          </a:p>
          <a:p>
            <a:r>
              <a:rPr lang="en-AU" sz="1200" kern="1200" baseline="0" dirty="0" smtClean="0">
                <a:solidFill>
                  <a:schemeClr val="tx1"/>
                </a:solidFill>
                <a:ea typeface="+mn-ea"/>
                <a:cs typeface="+mn-cs"/>
              </a:rPr>
              <a:t>• At times the course presents advice and information about various protocols but where their workplace requirements differ to what is presented, the workplace practices and standards, as well as policies and procedures must be observed.</a:t>
            </a:r>
            <a:endParaRPr lang="en-US" dirty="0" smtClean="0"/>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2</a:t>
            </a:fld>
            <a:endParaRPr lang="en-US" dirty="0"/>
          </a:p>
        </p:txBody>
      </p:sp>
    </p:spTree>
    <p:extLst>
      <p:ext uri="{BB962C8B-B14F-4D97-AF65-F5344CB8AC3E}">
        <p14:creationId xmlns:p14="http://schemas.microsoft.com/office/powerpoint/2010/main" val="375492320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kern="1200" baseline="0" dirty="0" smtClean="0">
                <a:solidFill>
                  <a:schemeClr val="tx1"/>
                </a:solidFill>
                <a:ea typeface="+mn-ea"/>
                <a:cs typeface="+mn-cs"/>
              </a:rPr>
              <a:t>Trainer advises that assessment for this Unit may take several forms all of which are aimed at verifying they have achieved competency for the Unit as required.</a:t>
            </a:r>
          </a:p>
          <a:p>
            <a:endParaRPr lang="en-AU" sz="1200" kern="1200" baseline="0" dirty="0" smtClean="0">
              <a:solidFill>
                <a:schemeClr val="tx1"/>
              </a:solidFill>
              <a:ea typeface="+mn-ea"/>
              <a:cs typeface="+mn-cs"/>
            </a:endParaRPr>
          </a:p>
          <a:p>
            <a:r>
              <a:rPr lang="en-AU" sz="1200" kern="1200" baseline="0" dirty="0" smtClean="0">
                <a:solidFill>
                  <a:schemeClr val="tx1"/>
                </a:solidFill>
                <a:ea typeface="+mn-ea"/>
                <a:cs typeface="+mn-cs"/>
              </a:rPr>
              <a:t>Trainer indicates the methods of assessment that will be applied to them for this Unit.</a:t>
            </a: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3</a:t>
            </a:fld>
            <a:endParaRPr lang="en-US" dirty="0"/>
          </a:p>
        </p:txBody>
      </p:sp>
    </p:spTree>
    <p:extLst>
      <p:ext uri="{BB962C8B-B14F-4D97-AF65-F5344CB8AC3E}">
        <p14:creationId xmlns:p14="http://schemas.microsoft.com/office/powerpoint/2010/main" val="164401910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kern="1200" dirty="0" smtClean="0">
                <a:solidFill>
                  <a:schemeClr val="tx1"/>
                </a:solidFill>
                <a:ea typeface="+mn-ea"/>
                <a:cs typeface="+mn-cs"/>
              </a:rPr>
              <a:t>Introduce</a:t>
            </a:r>
            <a:r>
              <a:rPr lang="en-AU" sz="1200" kern="1200" baseline="0" dirty="0" smtClean="0">
                <a:solidFill>
                  <a:schemeClr val="tx1"/>
                </a:solidFill>
                <a:ea typeface="+mn-ea"/>
                <a:cs typeface="+mn-cs"/>
              </a:rPr>
              <a:t> topic.</a:t>
            </a:r>
          </a:p>
          <a:p>
            <a:pPr marL="0" marR="0" indent="0" algn="l" defTabSz="914400" rtl="0" eaLnBrk="1" fontAlgn="auto" latinLnBrk="0" hangingPunct="1">
              <a:lnSpc>
                <a:spcPct val="100000"/>
              </a:lnSpc>
              <a:spcBef>
                <a:spcPts val="0"/>
              </a:spcBef>
              <a:spcAft>
                <a:spcPts val="0"/>
              </a:spcAft>
              <a:buClrTx/>
              <a:buSzTx/>
              <a:buFontTx/>
              <a:buNone/>
              <a:tabLst/>
              <a:defRPr/>
            </a:pPr>
            <a:endParaRPr lang="en-AU" sz="1200" b="1" kern="1200" baseline="0" dirty="0" smtClean="0">
              <a:solidFill>
                <a:schemeClr val="tx1"/>
              </a:solidFill>
              <a:ea typeface="+mn-ea"/>
              <a:cs typeface="+mn-cs"/>
            </a:endParaRPr>
          </a:p>
          <a:p>
            <a:pPr marL="0" marR="0" indent="0" algn="l" defTabSz="914400" rtl="0" eaLnBrk="1" fontAlgn="auto" latinLnBrk="0" hangingPunct="1">
              <a:lnSpc>
                <a:spcPct val="100000"/>
              </a:lnSpc>
              <a:spcBef>
                <a:spcPts val="0"/>
              </a:spcBef>
              <a:spcAft>
                <a:spcPts val="0"/>
              </a:spcAft>
              <a:buClrTx/>
              <a:buSzTx/>
              <a:buFontTx/>
              <a:buNone/>
              <a:tabLst/>
              <a:defRPr/>
            </a:pPr>
            <a:r>
              <a:rPr lang="en-AU" sz="1200" b="1" kern="1200" baseline="0" dirty="0" smtClean="0">
                <a:solidFill>
                  <a:schemeClr val="tx1"/>
                </a:solidFill>
                <a:ea typeface="+mn-ea"/>
                <a:cs typeface="+mn-cs"/>
              </a:rPr>
              <a:t>Class Activity – General Discussion</a:t>
            </a:r>
          </a:p>
          <a:p>
            <a:endParaRPr lang="en-AU" sz="1200" kern="1200" baseline="0" dirty="0" smtClean="0">
              <a:solidFill>
                <a:schemeClr val="tx1"/>
              </a:solidFill>
              <a:ea typeface="+mn-ea"/>
              <a:cs typeface="+mn-cs"/>
            </a:endParaRPr>
          </a:p>
          <a:p>
            <a:r>
              <a:rPr lang="en-AU" sz="1200" kern="1200" baseline="0" dirty="0" smtClean="0">
                <a:solidFill>
                  <a:schemeClr val="tx1"/>
                </a:solidFill>
                <a:ea typeface="+mn-ea"/>
                <a:cs typeface="+mn-cs"/>
              </a:rPr>
              <a:t>Ask general questions:</a:t>
            </a:r>
          </a:p>
          <a:p>
            <a:pPr>
              <a:buFont typeface="Arial" pitchFamily="34" charset="0"/>
              <a:buChar char="•"/>
            </a:pPr>
            <a:r>
              <a:rPr lang="en-AU" sz="1200" kern="1200" baseline="0" dirty="0" smtClean="0">
                <a:solidFill>
                  <a:schemeClr val="tx1"/>
                </a:solidFill>
                <a:ea typeface="+mn-ea"/>
                <a:cs typeface="+mn-cs"/>
              </a:rPr>
              <a:t>What is the purpose of training?</a:t>
            </a:r>
          </a:p>
          <a:p>
            <a:pPr>
              <a:buFont typeface="Arial" pitchFamily="34" charset="0"/>
              <a:buChar char="•"/>
            </a:pPr>
            <a:r>
              <a:rPr lang="en-AU" sz="1200" kern="1200" baseline="0" dirty="0" smtClean="0">
                <a:solidFill>
                  <a:schemeClr val="tx1"/>
                </a:solidFill>
                <a:ea typeface="+mn-ea"/>
                <a:cs typeface="+mn-cs"/>
              </a:rPr>
              <a:t>What are common training events?</a:t>
            </a:r>
          </a:p>
          <a:p>
            <a:pPr>
              <a:buFont typeface="Arial" pitchFamily="34" charset="0"/>
              <a:buChar char="•"/>
            </a:pPr>
            <a:r>
              <a:rPr lang="en-AU" sz="1200" kern="1200" baseline="0" dirty="0" smtClean="0">
                <a:solidFill>
                  <a:schemeClr val="tx1"/>
                </a:solidFill>
                <a:ea typeface="+mn-ea"/>
                <a:cs typeface="+mn-cs"/>
              </a:rPr>
              <a:t>What is associated with planning of events?</a:t>
            </a:r>
          </a:p>
          <a:p>
            <a:pPr>
              <a:buFont typeface="Arial" pitchFamily="34" charset="0"/>
              <a:buChar char="•"/>
            </a:pPr>
            <a:endParaRPr lang="en-AU" sz="1200" kern="1200" dirty="0">
              <a:solidFill>
                <a:schemeClr val="tx1"/>
              </a:solidFill>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4</a:t>
            </a:fld>
            <a:endParaRPr lang="en-US" dirty="0"/>
          </a:p>
        </p:txBody>
      </p:sp>
    </p:spTree>
    <p:extLst>
      <p:ext uri="{BB962C8B-B14F-4D97-AF65-F5344CB8AC3E}">
        <p14:creationId xmlns:p14="http://schemas.microsoft.com/office/powerpoint/2010/main" val="208620640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kern="1200" baseline="0" dirty="0" smtClean="0">
                <a:solidFill>
                  <a:schemeClr val="tx1"/>
                </a:solidFill>
                <a:ea typeface="+mn-ea"/>
                <a:cs typeface="+mn-cs"/>
              </a:rPr>
              <a:t>Trainer identifies the Performance Criteria for this Element, as listed on the slide.</a:t>
            </a: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5</a:t>
            </a:fld>
            <a:endParaRPr lang="en-US" dirty="0"/>
          </a:p>
        </p:txBody>
      </p:sp>
    </p:spTree>
    <p:extLst>
      <p:ext uri="{BB962C8B-B14F-4D97-AF65-F5344CB8AC3E}">
        <p14:creationId xmlns:p14="http://schemas.microsoft.com/office/powerpoint/2010/main" val="24951415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kern="1200" baseline="0" dirty="0" smtClean="0">
                <a:solidFill>
                  <a:schemeClr val="tx1"/>
                </a:solidFill>
                <a:ea typeface="+mn-ea"/>
                <a:cs typeface="+mn-cs"/>
              </a:rPr>
              <a:t>Trainer identifies the Performance Criteria for this Element, as listed on the slide.</a:t>
            </a: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6</a:t>
            </a:fld>
            <a:endParaRPr lang="en-US" dirty="0"/>
          </a:p>
        </p:txBody>
      </p:sp>
    </p:spTree>
    <p:extLst>
      <p:ext uri="{BB962C8B-B14F-4D97-AF65-F5344CB8AC3E}">
        <p14:creationId xmlns:p14="http://schemas.microsoft.com/office/powerpoint/2010/main" val="382408504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b="1" kern="1200" baseline="0" dirty="0" smtClean="0">
                <a:solidFill>
                  <a:schemeClr val="tx1"/>
                </a:solidFill>
                <a:ea typeface="+mn-ea"/>
                <a:cs typeface="+mn-cs"/>
              </a:rPr>
              <a:t>Class Activity – Questions</a:t>
            </a:r>
          </a:p>
          <a:p>
            <a:endParaRPr lang="en-AU" sz="1200" b="1" kern="1200" baseline="0" dirty="0" smtClean="0">
              <a:solidFill>
                <a:schemeClr val="tx1"/>
              </a:solidFill>
              <a:ea typeface="+mn-ea"/>
              <a:cs typeface="+mn-cs"/>
            </a:endParaRPr>
          </a:p>
          <a:p>
            <a:pPr lvl="0">
              <a:buFont typeface="Arial" pitchFamily="34" charset="0"/>
              <a:buChar char="•"/>
            </a:pPr>
            <a:r>
              <a:rPr lang="en-AU" sz="1200" b="0" dirty="0" smtClean="0"/>
              <a:t>What</a:t>
            </a:r>
            <a:r>
              <a:rPr lang="en-AU" sz="1200" b="0" baseline="0" dirty="0" smtClean="0"/>
              <a:t> are common external training programs?</a:t>
            </a:r>
          </a:p>
          <a:p>
            <a:pPr marL="0" marR="0" lvl="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dirty="0" smtClean="0"/>
              <a:t>What</a:t>
            </a:r>
            <a:r>
              <a:rPr lang="en-AU" sz="1200" b="0" baseline="0" dirty="0" smtClean="0"/>
              <a:t> are common internal training programs?</a:t>
            </a:r>
            <a:endParaRPr lang="en-US" b="0" dirty="0" smtClean="0"/>
          </a:p>
          <a:p>
            <a:pPr lvl="0">
              <a:buFont typeface="Arial" pitchFamily="34" charset="0"/>
              <a:buChar char="•"/>
            </a:pPr>
            <a:endParaRPr lang="en-US" b="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7</a:t>
            </a:fld>
            <a:endParaRPr lang="en-US" dirty="0"/>
          </a:p>
        </p:txBody>
      </p:sp>
    </p:spTree>
    <p:extLst>
      <p:ext uri="{BB962C8B-B14F-4D97-AF65-F5344CB8AC3E}">
        <p14:creationId xmlns:p14="http://schemas.microsoft.com/office/powerpoint/2010/main" val="162904374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b="1" kern="1200" baseline="0" dirty="0" smtClean="0">
                <a:solidFill>
                  <a:schemeClr val="tx1"/>
                </a:solidFill>
                <a:ea typeface="+mn-ea"/>
                <a:cs typeface="+mn-cs"/>
              </a:rPr>
              <a:t>Class Activity – Discuss these points</a:t>
            </a:r>
          </a:p>
          <a:p>
            <a:endParaRPr lang="en-AU" sz="1200" b="1" kern="1200" baseline="0" dirty="0" smtClean="0">
              <a:solidFill>
                <a:schemeClr val="tx1"/>
              </a:solidFill>
              <a:ea typeface="+mn-ea"/>
              <a:cs typeface="+mn-cs"/>
            </a:endParaRPr>
          </a:p>
          <a:p>
            <a:r>
              <a:rPr lang="en-AU" sz="1200" b="1" kern="1200" dirty="0" smtClean="0">
                <a:solidFill>
                  <a:schemeClr val="tx1"/>
                </a:solidFill>
                <a:ea typeface="+mn-ea"/>
                <a:cs typeface="+mn-cs"/>
              </a:rPr>
              <a:t>Psychomotor</a:t>
            </a:r>
            <a:r>
              <a:rPr lang="en-AU" sz="1200" kern="1200" dirty="0" smtClean="0">
                <a:solidFill>
                  <a:schemeClr val="tx1"/>
                </a:solidFill>
                <a:ea typeface="+mn-ea"/>
                <a:cs typeface="+mn-cs"/>
              </a:rPr>
              <a:t> refers to our ability to employ a skill to carry out a task. This may be slicing a loaf of bread or dealing with a customer complaint but in either case involves the practical application of skill. </a:t>
            </a:r>
          </a:p>
          <a:p>
            <a:endParaRPr lang="en-AU" sz="1200" b="1" kern="1200" dirty="0" smtClean="0">
              <a:solidFill>
                <a:schemeClr val="tx1"/>
              </a:solidFill>
              <a:ea typeface="+mn-ea"/>
              <a:cs typeface="+mn-cs"/>
            </a:endParaRPr>
          </a:p>
          <a:p>
            <a:r>
              <a:rPr lang="en-AU" sz="1200" b="1" kern="1200" dirty="0" smtClean="0">
                <a:solidFill>
                  <a:schemeClr val="tx1"/>
                </a:solidFill>
                <a:ea typeface="+mn-ea"/>
                <a:cs typeface="+mn-cs"/>
              </a:rPr>
              <a:t>Cognitive</a:t>
            </a:r>
            <a:r>
              <a:rPr lang="en-AU" sz="1200" kern="1200" dirty="0" smtClean="0">
                <a:solidFill>
                  <a:schemeClr val="tx1"/>
                </a:solidFill>
                <a:ea typeface="+mn-ea"/>
                <a:cs typeface="+mn-cs"/>
              </a:rPr>
              <a:t> refers to the process of thought and our level of understanding of concepts. In order to carry out work functions we need to understand underlying principles, process information and apply knowledge. </a:t>
            </a:r>
          </a:p>
          <a:p>
            <a:r>
              <a:rPr lang="en-AU" sz="1200" b="1" kern="1200" dirty="0" smtClean="0">
                <a:solidFill>
                  <a:schemeClr val="tx1"/>
                </a:solidFill>
                <a:ea typeface="+mn-ea"/>
                <a:cs typeface="+mn-cs"/>
              </a:rPr>
              <a:t/>
            </a:r>
            <a:br>
              <a:rPr lang="en-AU" sz="1200" b="1" kern="1200" dirty="0" smtClean="0">
                <a:solidFill>
                  <a:schemeClr val="tx1"/>
                </a:solidFill>
                <a:ea typeface="+mn-ea"/>
                <a:cs typeface="+mn-cs"/>
              </a:rPr>
            </a:br>
            <a:r>
              <a:rPr lang="en-AU" sz="1200" b="1" kern="1200" dirty="0" smtClean="0">
                <a:solidFill>
                  <a:schemeClr val="tx1"/>
                </a:solidFill>
                <a:ea typeface="+mn-ea"/>
                <a:cs typeface="+mn-cs"/>
              </a:rPr>
              <a:t> Affective</a:t>
            </a:r>
            <a:r>
              <a:rPr lang="en-AU" sz="1200" kern="1200" dirty="0" smtClean="0">
                <a:solidFill>
                  <a:schemeClr val="tx1"/>
                </a:solidFill>
                <a:ea typeface="+mn-ea"/>
                <a:cs typeface="+mn-cs"/>
              </a:rPr>
              <a:t> refers to our emotions and mood which manifest in the workplace as attitude.  Attitude determines the way in which we deploy our knowledge and our skills. For example, someone who has a high level of skill in dealing with customer complaints and a deep knowledge of organisational policies and procedures may still give bad service if they don’t care about what they are doing! </a:t>
            </a:r>
            <a:endParaRPr lang="en-US" b="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8</a:t>
            </a:fld>
            <a:endParaRPr lang="en-US" dirty="0"/>
          </a:p>
        </p:txBody>
      </p:sp>
    </p:spTree>
    <p:extLst>
      <p:ext uri="{BB962C8B-B14F-4D97-AF65-F5344CB8AC3E}">
        <p14:creationId xmlns:p14="http://schemas.microsoft.com/office/powerpoint/2010/main" val="65059294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b="1" kern="1200" baseline="0" dirty="0" smtClean="0">
                <a:solidFill>
                  <a:schemeClr val="tx1"/>
                </a:solidFill>
                <a:ea typeface="+mn-ea"/>
                <a:cs typeface="+mn-cs"/>
              </a:rPr>
              <a:t>Class Activity – Questions and Show documentation</a:t>
            </a:r>
          </a:p>
          <a:p>
            <a:endParaRPr lang="en-AU" sz="1200" b="1" kern="1200" baseline="0" dirty="0" smtClean="0">
              <a:solidFill>
                <a:schemeClr val="tx1"/>
              </a:solidFill>
              <a:ea typeface="+mn-ea"/>
              <a:cs typeface="+mn-cs"/>
            </a:endParaRPr>
          </a:p>
          <a:p>
            <a:pPr>
              <a:buFont typeface="Arial" pitchFamily="34" charset="0"/>
              <a:buChar char="•"/>
            </a:pPr>
            <a:r>
              <a:rPr lang="en-AU" sz="1200" b="0" kern="1200" baseline="0" dirty="0" smtClean="0">
                <a:solidFill>
                  <a:schemeClr val="tx1"/>
                </a:solidFill>
                <a:ea typeface="+mn-ea"/>
                <a:cs typeface="+mn-cs"/>
              </a:rPr>
              <a:t>What is the importance of this?</a:t>
            </a:r>
          </a:p>
          <a:p>
            <a:pPr>
              <a:buFont typeface="Arial" pitchFamily="34" charset="0"/>
              <a:buChar char="•"/>
            </a:pPr>
            <a:r>
              <a:rPr lang="en-AU" sz="1200" b="0" kern="1200" baseline="0" dirty="0" smtClean="0">
                <a:solidFill>
                  <a:schemeClr val="tx1"/>
                </a:solidFill>
                <a:ea typeface="+mn-ea"/>
                <a:cs typeface="+mn-cs"/>
              </a:rPr>
              <a:t>How is it done?</a:t>
            </a:r>
          </a:p>
          <a:p>
            <a:pPr>
              <a:buFont typeface="Arial" pitchFamily="34" charset="0"/>
              <a:buChar char="•"/>
            </a:pPr>
            <a:r>
              <a:rPr lang="en-AU" sz="1200" b="0" kern="1200" baseline="0" dirty="0" smtClean="0">
                <a:solidFill>
                  <a:schemeClr val="tx1"/>
                </a:solidFill>
                <a:ea typeface="+mn-ea"/>
                <a:cs typeface="+mn-cs"/>
              </a:rPr>
              <a:t>Show and discuss ‘Training Needs Analysis’ Form.</a:t>
            </a:r>
          </a:p>
        </p:txBody>
      </p:sp>
      <p:sp>
        <p:nvSpPr>
          <p:cNvPr id="4" name="Slide Number Placeholder 3"/>
          <p:cNvSpPr>
            <a:spLocks noGrp="1"/>
          </p:cNvSpPr>
          <p:nvPr>
            <p:ph type="sldNum" sz="quarter" idx="10"/>
          </p:nvPr>
        </p:nvSpPr>
        <p:spPr/>
        <p:txBody>
          <a:bodyPr/>
          <a:lstStyle/>
          <a:p>
            <a:fld id="{006CD3C9-0AF2-437D-9D2F-7B6B298CC32F}" type="slidenum">
              <a:rPr lang="en-US" smtClean="0"/>
              <a:pPr/>
              <a:t>9</a:t>
            </a:fld>
            <a:endParaRPr lang="en-US" dirty="0"/>
          </a:p>
        </p:txBody>
      </p:sp>
    </p:spTree>
    <p:extLst>
      <p:ext uri="{BB962C8B-B14F-4D97-AF65-F5344CB8AC3E}">
        <p14:creationId xmlns:p14="http://schemas.microsoft.com/office/powerpoint/2010/main" val="163277459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b="1" kern="1200" baseline="0" dirty="0" smtClean="0">
                <a:solidFill>
                  <a:schemeClr val="tx1"/>
                </a:solidFill>
                <a:ea typeface="+mn-ea"/>
                <a:cs typeface="+mn-cs"/>
              </a:rPr>
              <a:t>Class Activity – Questions </a:t>
            </a:r>
          </a:p>
          <a:p>
            <a:endParaRPr lang="en-AU" sz="1200" b="1" kern="1200" baseline="0" dirty="0" smtClean="0">
              <a:solidFill>
                <a:schemeClr val="tx1"/>
              </a:solidFill>
              <a:ea typeface="+mn-ea"/>
              <a:cs typeface="+mn-cs"/>
            </a:endParaRPr>
          </a:p>
          <a:p>
            <a:pPr>
              <a:buFont typeface="Arial" pitchFamily="34" charset="0"/>
              <a:buChar char="•"/>
            </a:pPr>
            <a:r>
              <a:rPr lang="en-AU" sz="1200" b="0" kern="1200" baseline="0" dirty="0" smtClean="0">
                <a:solidFill>
                  <a:schemeClr val="tx1"/>
                </a:solidFill>
                <a:ea typeface="+mn-ea"/>
                <a:cs typeface="+mn-cs"/>
              </a:rPr>
              <a:t>What is the difference in approach to training?</a:t>
            </a:r>
          </a:p>
          <a:p>
            <a:pPr>
              <a:buFont typeface="Arial" pitchFamily="34" charset="0"/>
              <a:buChar char="•"/>
            </a:pPr>
            <a:r>
              <a:rPr lang="en-AU" sz="1200" b="0" kern="1200" baseline="0" dirty="0" smtClean="0">
                <a:solidFill>
                  <a:schemeClr val="tx1"/>
                </a:solidFill>
                <a:ea typeface="+mn-ea"/>
                <a:cs typeface="+mn-cs"/>
              </a:rPr>
              <a:t>What are examples of training each group would need?</a:t>
            </a:r>
          </a:p>
        </p:txBody>
      </p:sp>
      <p:sp>
        <p:nvSpPr>
          <p:cNvPr id="4" name="Slide Number Placeholder 3"/>
          <p:cNvSpPr>
            <a:spLocks noGrp="1"/>
          </p:cNvSpPr>
          <p:nvPr>
            <p:ph type="sldNum" sz="quarter" idx="10"/>
          </p:nvPr>
        </p:nvSpPr>
        <p:spPr/>
        <p:txBody>
          <a:bodyPr/>
          <a:lstStyle/>
          <a:p>
            <a:fld id="{006CD3C9-0AF2-437D-9D2F-7B6B298CC32F}" type="slidenum">
              <a:rPr lang="en-US" smtClean="0"/>
              <a:pPr/>
              <a:t>10</a:t>
            </a:fld>
            <a:endParaRPr lang="en-US" dirty="0"/>
          </a:p>
        </p:txBody>
      </p:sp>
    </p:spTree>
    <p:extLst>
      <p:ext uri="{BB962C8B-B14F-4D97-AF65-F5344CB8AC3E}">
        <p14:creationId xmlns:p14="http://schemas.microsoft.com/office/powerpoint/2010/main" val="66127091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b="1" kern="1200" baseline="0" dirty="0" smtClean="0">
                <a:solidFill>
                  <a:schemeClr val="tx1"/>
                </a:solidFill>
                <a:ea typeface="+mn-ea"/>
                <a:cs typeface="+mn-cs"/>
              </a:rPr>
              <a:t>Class Activity – Discussion</a:t>
            </a:r>
          </a:p>
          <a:p>
            <a:endParaRPr lang="en-AU" sz="1200" b="1" kern="1200" baseline="0" dirty="0" smtClean="0">
              <a:solidFill>
                <a:schemeClr val="tx1"/>
              </a:solidFill>
              <a:ea typeface="+mn-ea"/>
              <a:cs typeface="+mn-cs"/>
            </a:endParaRPr>
          </a:p>
          <a:p>
            <a:pPr>
              <a:buFont typeface="Arial" pitchFamily="34" charset="0"/>
              <a:buChar char="•"/>
            </a:pPr>
            <a:r>
              <a:rPr lang="en-AU" sz="1200" b="0" kern="1200" baseline="0" dirty="0" smtClean="0">
                <a:solidFill>
                  <a:schemeClr val="tx1"/>
                </a:solidFill>
                <a:ea typeface="+mn-ea"/>
                <a:cs typeface="+mn-cs"/>
              </a:rPr>
              <a:t>Discuss these different ways to identify training needs?</a:t>
            </a:r>
          </a:p>
          <a:p>
            <a:pPr>
              <a:buFont typeface="Arial" pitchFamily="34" charset="0"/>
              <a:buChar char="•"/>
            </a:pPr>
            <a:r>
              <a:rPr lang="en-AU" sz="1200" b="0" kern="1200" baseline="0" dirty="0" smtClean="0">
                <a:solidFill>
                  <a:schemeClr val="tx1"/>
                </a:solidFill>
                <a:ea typeface="+mn-ea"/>
                <a:cs typeface="+mn-cs"/>
              </a:rPr>
              <a:t>What do these methods look for?</a:t>
            </a:r>
          </a:p>
        </p:txBody>
      </p:sp>
      <p:sp>
        <p:nvSpPr>
          <p:cNvPr id="4" name="Slide Number Placeholder 3"/>
          <p:cNvSpPr>
            <a:spLocks noGrp="1"/>
          </p:cNvSpPr>
          <p:nvPr>
            <p:ph type="sldNum" sz="quarter" idx="10"/>
          </p:nvPr>
        </p:nvSpPr>
        <p:spPr/>
        <p:txBody>
          <a:bodyPr/>
          <a:lstStyle/>
          <a:p>
            <a:fld id="{006CD3C9-0AF2-437D-9D2F-7B6B298CC32F}" type="slidenum">
              <a:rPr lang="en-US" smtClean="0"/>
              <a:pPr/>
              <a:t>11</a:t>
            </a:fld>
            <a:endParaRPr lang="en-US" dirty="0"/>
          </a:p>
        </p:txBody>
      </p:sp>
    </p:spTree>
    <p:extLst>
      <p:ext uri="{BB962C8B-B14F-4D97-AF65-F5344CB8AC3E}">
        <p14:creationId xmlns:p14="http://schemas.microsoft.com/office/powerpoint/2010/main" val="388932748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b="1" kern="1200" baseline="0" dirty="0" smtClean="0">
                <a:solidFill>
                  <a:schemeClr val="tx1"/>
                </a:solidFill>
                <a:ea typeface="+mn-ea"/>
                <a:cs typeface="+mn-cs"/>
              </a:rPr>
              <a:t>Class Activity – Discussion</a:t>
            </a:r>
          </a:p>
          <a:p>
            <a:endParaRPr lang="en-AU" sz="1200" b="1" kern="1200" baseline="0" dirty="0" smtClean="0">
              <a:solidFill>
                <a:schemeClr val="tx1"/>
              </a:solidFill>
              <a:ea typeface="+mn-ea"/>
              <a:cs typeface="+mn-cs"/>
            </a:endParaRPr>
          </a:p>
          <a:p>
            <a:pPr>
              <a:buFont typeface="Arial" pitchFamily="34" charset="0"/>
              <a:buChar char="•"/>
            </a:pPr>
            <a:r>
              <a:rPr lang="en-AU" sz="1200" b="0" kern="1200" baseline="0" dirty="0" smtClean="0">
                <a:solidFill>
                  <a:schemeClr val="tx1"/>
                </a:solidFill>
                <a:ea typeface="+mn-ea"/>
                <a:cs typeface="+mn-cs"/>
              </a:rPr>
              <a:t>Discuss these different ways to identify training needs?</a:t>
            </a:r>
          </a:p>
          <a:p>
            <a:pPr>
              <a:buFont typeface="Arial" pitchFamily="34" charset="0"/>
              <a:buChar char="•"/>
            </a:pPr>
            <a:r>
              <a:rPr lang="en-AU" sz="1200" b="0" kern="1200" baseline="0" dirty="0" smtClean="0">
                <a:solidFill>
                  <a:schemeClr val="tx1"/>
                </a:solidFill>
                <a:ea typeface="+mn-ea"/>
                <a:cs typeface="+mn-cs"/>
              </a:rPr>
              <a:t>What do these methods look for?</a:t>
            </a:r>
          </a:p>
        </p:txBody>
      </p:sp>
      <p:sp>
        <p:nvSpPr>
          <p:cNvPr id="4" name="Slide Number Placeholder 3"/>
          <p:cNvSpPr>
            <a:spLocks noGrp="1"/>
          </p:cNvSpPr>
          <p:nvPr>
            <p:ph type="sldNum" sz="quarter" idx="10"/>
          </p:nvPr>
        </p:nvSpPr>
        <p:spPr/>
        <p:txBody>
          <a:bodyPr/>
          <a:lstStyle/>
          <a:p>
            <a:fld id="{006CD3C9-0AF2-437D-9D2F-7B6B298CC32F}" type="slidenum">
              <a:rPr lang="en-US" smtClean="0"/>
              <a:pPr/>
              <a:t>12</a:t>
            </a:fld>
            <a:endParaRPr lang="en-US" dirty="0"/>
          </a:p>
        </p:txBody>
      </p:sp>
    </p:spTree>
    <p:extLst>
      <p:ext uri="{BB962C8B-B14F-4D97-AF65-F5344CB8AC3E}">
        <p14:creationId xmlns:p14="http://schemas.microsoft.com/office/powerpoint/2010/main" val="231498665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b="1" kern="1200" baseline="0" dirty="0" smtClean="0">
                <a:solidFill>
                  <a:schemeClr val="tx1"/>
                </a:solidFill>
                <a:ea typeface="+mn-ea"/>
                <a:cs typeface="+mn-cs"/>
              </a:rPr>
              <a:t>Class Activity – Discussion</a:t>
            </a:r>
          </a:p>
          <a:p>
            <a:endParaRPr lang="en-AU" sz="1200" b="1" kern="1200" baseline="0" dirty="0" smtClean="0">
              <a:solidFill>
                <a:schemeClr val="tx1"/>
              </a:solidFill>
              <a:ea typeface="+mn-ea"/>
              <a:cs typeface="+mn-cs"/>
            </a:endParaRPr>
          </a:p>
          <a:p>
            <a:pPr lvl="0">
              <a:buFont typeface="Arial" pitchFamily="34" charset="0"/>
              <a:buChar char="•"/>
            </a:pPr>
            <a:r>
              <a:rPr lang="en-AU" sz="1200" b="0" dirty="0" smtClean="0"/>
              <a:t>Discuss these</a:t>
            </a:r>
            <a:r>
              <a:rPr lang="en-AU" sz="1200" b="0" baseline="0" dirty="0" smtClean="0"/>
              <a:t> methods.</a:t>
            </a:r>
            <a:endParaRPr lang="en-US" b="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13</a:t>
            </a:fld>
            <a:endParaRPr lang="en-US" dirty="0"/>
          </a:p>
        </p:txBody>
      </p:sp>
    </p:spTree>
    <p:extLst>
      <p:ext uri="{BB962C8B-B14F-4D97-AF65-F5344CB8AC3E}">
        <p14:creationId xmlns:p14="http://schemas.microsoft.com/office/powerpoint/2010/main" val="230599128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b="1" kern="1200" baseline="0" dirty="0" smtClean="0">
                <a:solidFill>
                  <a:schemeClr val="tx1"/>
                </a:solidFill>
                <a:ea typeface="+mn-ea"/>
                <a:cs typeface="+mn-cs"/>
              </a:rPr>
              <a:t>Class Activity – Discussion</a:t>
            </a:r>
          </a:p>
          <a:p>
            <a:endParaRPr lang="en-AU" sz="1200" b="1" kern="1200" baseline="0" dirty="0" smtClean="0">
              <a:solidFill>
                <a:schemeClr val="tx1"/>
              </a:solidFill>
              <a:ea typeface="+mn-ea"/>
              <a:cs typeface="+mn-cs"/>
            </a:endParaRPr>
          </a:p>
          <a:p>
            <a:pPr lvl="0">
              <a:buFont typeface="Arial" pitchFamily="34" charset="0"/>
              <a:buChar char="•"/>
            </a:pPr>
            <a:r>
              <a:rPr lang="en-AU" sz="1200" b="0" dirty="0" smtClean="0"/>
              <a:t>Discuss these</a:t>
            </a:r>
            <a:r>
              <a:rPr lang="en-AU" sz="1200" b="0" baseline="0" dirty="0" smtClean="0"/>
              <a:t> methods.</a:t>
            </a:r>
            <a:endParaRPr lang="en-US" b="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14</a:t>
            </a:fld>
            <a:endParaRPr lang="en-US" dirty="0"/>
          </a:p>
        </p:txBody>
      </p:sp>
    </p:spTree>
    <p:extLst>
      <p:ext uri="{BB962C8B-B14F-4D97-AF65-F5344CB8AC3E}">
        <p14:creationId xmlns:p14="http://schemas.microsoft.com/office/powerpoint/2010/main" val="411063205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b="1" kern="1200" baseline="0" dirty="0" smtClean="0">
                <a:solidFill>
                  <a:schemeClr val="tx1"/>
                </a:solidFill>
                <a:ea typeface="+mn-ea"/>
                <a:cs typeface="+mn-cs"/>
              </a:rPr>
              <a:t>Class Activity – Questions</a:t>
            </a:r>
          </a:p>
          <a:p>
            <a:endParaRPr lang="en-AU" sz="1200" b="1" kern="1200" baseline="0" dirty="0" smtClean="0">
              <a:solidFill>
                <a:schemeClr val="tx1"/>
              </a:solidFill>
              <a:ea typeface="+mn-ea"/>
              <a:cs typeface="+mn-cs"/>
            </a:endParaRPr>
          </a:p>
          <a:p>
            <a:pPr lvl="0">
              <a:buFont typeface="Arial" pitchFamily="34" charset="0"/>
              <a:buChar char="•"/>
            </a:pPr>
            <a:r>
              <a:rPr lang="en-AU" sz="1200" b="0" dirty="0" smtClean="0"/>
              <a:t>Answer</a:t>
            </a:r>
            <a:r>
              <a:rPr lang="en-AU" sz="1200" b="0" baseline="0" dirty="0" smtClean="0"/>
              <a:t> question in the slide.</a:t>
            </a:r>
            <a:endParaRPr lang="en-US" b="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15</a:t>
            </a:fld>
            <a:endParaRPr lang="en-US" dirty="0"/>
          </a:p>
        </p:txBody>
      </p:sp>
    </p:spTree>
    <p:extLst>
      <p:ext uri="{BB962C8B-B14F-4D97-AF65-F5344CB8AC3E}">
        <p14:creationId xmlns:p14="http://schemas.microsoft.com/office/powerpoint/2010/main" val="362072647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b="1" kern="1200" baseline="0" dirty="0" smtClean="0">
                <a:solidFill>
                  <a:schemeClr val="tx1"/>
                </a:solidFill>
                <a:ea typeface="+mn-ea"/>
                <a:cs typeface="+mn-cs"/>
              </a:rPr>
              <a:t>Class Activity – Questions</a:t>
            </a:r>
          </a:p>
          <a:p>
            <a:endParaRPr lang="en-AU" sz="1200" b="1" kern="1200" baseline="0" dirty="0" smtClean="0">
              <a:solidFill>
                <a:schemeClr val="tx1"/>
              </a:solidFill>
              <a:ea typeface="+mn-ea"/>
              <a:cs typeface="+mn-cs"/>
            </a:endParaRPr>
          </a:p>
          <a:p>
            <a:pPr lvl="0">
              <a:buFont typeface="Arial" pitchFamily="34" charset="0"/>
              <a:buChar char="•"/>
            </a:pPr>
            <a:r>
              <a:rPr lang="en-AU" sz="1200" b="0" dirty="0" smtClean="0"/>
              <a:t>How can</a:t>
            </a:r>
            <a:r>
              <a:rPr lang="en-AU" sz="1200" b="0" baseline="0" dirty="0" smtClean="0"/>
              <a:t> they help operational departments when it comes to training?</a:t>
            </a:r>
            <a:endParaRPr lang="en-US" b="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16</a:t>
            </a:fld>
            <a:endParaRPr lang="en-US" dirty="0"/>
          </a:p>
        </p:txBody>
      </p:sp>
    </p:spTree>
    <p:extLst>
      <p:ext uri="{BB962C8B-B14F-4D97-AF65-F5344CB8AC3E}">
        <p14:creationId xmlns:p14="http://schemas.microsoft.com/office/powerpoint/2010/main" val="794992508"/>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b="1" kern="1200" baseline="0" dirty="0" smtClean="0">
                <a:solidFill>
                  <a:schemeClr val="tx1"/>
                </a:solidFill>
                <a:ea typeface="+mn-ea"/>
                <a:cs typeface="+mn-cs"/>
              </a:rPr>
              <a:t>Class Activity – Questions</a:t>
            </a:r>
          </a:p>
          <a:p>
            <a:endParaRPr lang="en-AU" sz="1200" b="1" kern="1200" baseline="0" dirty="0" smtClean="0">
              <a:solidFill>
                <a:schemeClr val="tx1"/>
              </a:solidFill>
              <a:ea typeface="+mn-ea"/>
              <a:cs typeface="+mn-cs"/>
            </a:endParaRPr>
          </a:p>
          <a:p>
            <a:pPr lvl="0">
              <a:buFont typeface="Arial" pitchFamily="34" charset="0"/>
              <a:buChar char="•"/>
            </a:pPr>
            <a:r>
              <a:rPr lang="en-AU" sz="1200" b="0" dirty="0" smtClean="0"/>
              <a:t>What</a:t>
            </a:r>
            <a:r>
              <a:rPr lang="en-AU" sz="1200" b="0" baseline="0" dirty="0" smtClean="0"/>
              <a:t> are examples of all the training programs that are normally conducted or initiated by Human Resources in a hotel?</a:t>
            </a:r>
            <a:endParaRPr lang="en-US" b="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17</a:t>
            </a:fld>
            <a:endParaRPr lang="en-US" dirty="0"/>
          </a:p>
        </p:txBody>
      </p:sp>
    </p:spTree>
    <p:extLst>
      <p:ext uri="{BB962C8B-B14F-4D97-AF65-F5344CB8AC3E}">
        <p14:creationId xmlns:p14="http://schemas.microsoft.com/office/powerpoint/2010/main" val="52734106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b="1" kern="1200" baseline="0" dirty="0" smtClean="0">
                <a:solidFill>
                  <a:schemeClr val="tx1"/>
                </a:solidFill>
                <a:ea typeface="+mn-ea"/>
                <a:cs typeface="+mn-cs"/>
              </a:rPr>
              <a:t>Class Activity – Questions</a:t>
            </a:r>
          </a:p>
          <a:p>
            <a:endParaRPr lang="en-AU" sz="1200" b="1" kern="1200" baseline="0" dirty="0" smtClean="0">
              <a:solidFill>
                <a:schemeClr val="tx1"/>
              </a:solidFill>
              <a:ea typeface="+mn-ea"/>
              <a:cs typeface="+mn-cs"/>
            </a:endParaRPr>
          </a:p>
          <a:p>
            <a:pPr lvl="0">
              <a:buFont typeface="Arial" pitchFamily="34" charset="0"/>
              <a:buChar char="•"/>
            </a:pPr>
            <a:r>
              <a:rPr lang="en-AU" sz="1200" b="0" dirty="0" smtClean="0"/>
              <a:t>Who</a:t>
            </a:r>
            <a:r>
              <a:rPr lang="en-AU" sz="1200" b="0" baseline="0" dirty="0" smtClean="0"/>
              <a:t> actually will conduct the training, HR or the operational departments?</a:t>
            </a:r>
          </a:p>
          <a:p>
            <a:pPr lvl="0">
              <a:buFont typeface="Arial" pitchFamily="34" charset="0"/>
              <a:buChar char="•"/>
            </a:pPr>
            <a:r>
              <a:rPr lang="en-AU" sz="1200" b="0" baseline="0" dirty="0" smtClean="0"/>
              <a:t>Where will training normally take place?</a:t>
            </a:r>
            <a:endParaRPr lang="en-US" b="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18</a:t>
            </a:fld>
            <a:endParaRPr lang="en-US" dirty="0"/>
          </a:p>
        </p:txBody>
      </p:sp>
    </p:spTree>
    <p:extLst>
      <p:ext uri="{BB962C8B-B14F-4D97-AF65-F5344CB8AC3E}">
        <p14:creationId xmlns:p14="http://schemas.microsoft.com/office/powerpoint/2010/main" val="987568965"/>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b="1" kern="1200" baseline="0" dirty="0" smtClean="0">
                <a:solidFill>
                  <a:schemeClr val="tx1"/>
                </a:solidFill>
                <a:ea typeface="+mn-ea"/>
                <a:cs typeface="+mn-cs"/>
              </a:rPr>
              <a:t>Class Activity – Questions</a:t>
            </a:r>
          </a:p>
          <a:p>
            <a:endParaRPr lang="en-AU" sz="1200" b="1" kern="1200" baseline="0" dirty="0" smtClean="0">
              <a:solidFill>
                <a:schemeClr val="tx1"/>
              </a:solidFill>
              <a:ea typeface="+mn-ea"/>
              <a:cs typeface="+mn-cs"/>
            </a:endParaRPr>
          </a:p>
          <a:p>
            <a:pPr>
              <a:buFont typeface="Arial" pitchFamily="34" charset="0"/>
              <a:buChar char="•"/>
            </a:pPr>
            <a:r>
              <a:rPr lang="en-AU" sz="1200" b="0" kern="1200" baseline="0" dirty="0" smtClean="0">
                <a:solidFill>
                  <a:schemeClr val="tx1"/>
                </a:solidFill>
                <a:ea typeface="+mn-ea"/>
                <a:cs typeface="+mn-cs"/>
              </a:rPr>
              <a:t>Answer the question in the slide.</a:t>
            </a:r>
          </a:p>
          <a:p>
            <a:endParaRPr lang="en-AU" sz="1200" b="1" kern="1200" baseline="0" dirty="0" smtClean="0">
              <a:solidFill>
                <a:schemeClr val="tx1"/>
              </a:solidFill>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19</a:t>
            </a:fld>
            <a:endParaRPr lang="en-US" dirty="0"/>
          </a:p>
        </p:txBody>
      </p:sp>
    </p:spTree>
    <p:extLst>
      <p:ext uri="{BB962C8B-B14F-4D97-AF65-F5344CB8AC3E}">
        <p14:creationId xmlns:p14="http://schemas.microsoft.com/office/powerpoint/2010/main" val="1463390964"/>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b="1" kern="1200" baseline="0" dirty="0" smtClean="0">
                <a:solidFill>
                  <a:schemeClr val="tx1"/>
                </a:solidFill>
                <a:ea typeface="+mn-ea"/>
                <a:cs typeface="+mn-cs"/>
              </a:rPr>
              <a:t>Class Activity – Questions</a:t>
            </a:r>
          </a:p>
          <a:p>
            <a:endParaRPr lang="en-AU" sz="1200" b="1" kern="1200" baseline="0" dirty="0" smtClean="0">
              <a:solidFill>
                <a:schemeClr val="tx1"/>
              </a:solidFill>
              <a:ea typeface="+mn-ea"/>
              <a:cs typeface="+mn-cs"/>
            </a:endParaRPr>
          </a:p>
          <a:p>
            <a:pPr>
              <a:buFont typeface="Arial" pitchFamily="34" charset="0"/>
              <a:buChar char="•"/>
            </a:pPr>
            <a:r>
              <a:rPr lang="en-AU" sz="1200" b="0" kern="1200" baseline="0" dirty="0" smtClean="0">
                <a:solidFill>
                  <a:schemeClr val="tx1"/>
                </a:solidFill>
                <a:ea typeface="+mn-ea"/>
                <a:cs typeface="+mn-cs"/>
              </a:rPr>
              <a:t>How do you identify the demands of each department?</a:t>
            </a:r>
          </a:p>
          <a:p>
            <a:endParaRPr lang="en-AU" sz="1200" b="1" kern="1200" baseline="0" dirty="0" smtClean="0">
              <a:solidFill>
                <a:schemeClr val="tx1"/>
              </a:solidFill>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20</a:t>
            </a:fld>
            <a:endParaRPr lang="en-US" dirty="0"/>
          </a:p>
        </p:txBody>
      </p:sp>
    </p:spTree>
    <p:extLst>
      <p:ext uri="{BB962C8B-B14F-4D97-AF65-F5344CB8AC3E}">
        <p14:creationId xmlns:p14="http://schemas.microsoft.com/office/powerpoint/2010/main" val="2222202558"/>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b="1" kern="1200" baseline="0" dirty="0" smtClean="0">
                <a:solidFill>
                  <a:schemeClr val="tx1"/>
                </a:solidFill>
                <a:ea typeface="+mn-ea"/>
                <a:cs typeface="+mn-cs"/>
              </a:rPr>
              <a:t>Class Activity – Questions</a:t>
            </a:r>
          </a:p>
          <a:p>
            <a:endParaRPr lang="en-AU" sz="1200" b="1" kern="1200" baseline="0" dirty="0" smtClean="0">
              <a:solidFill>
                <a:schemeClr val="tx1"/>
              </a:solidFill>
              <a:ea typeface="+mn-ea"/>
              <a:cs typeface="+mn-cs"/>
            </a:endParaRPr>
          </a:p>
          <a:p>
            <a:pPr>
              <a:buFont typeface="Arial" pitchFamily="34" charset="0"/>
              <a:buChar char="•"/>
            </a:pPr>
            <a:r>
              <a:rPr lang="en-AU" sz="1200" b="0" kern="1200" baseline="0" dirty="0" smtClean="0">
                <a:solidFill>
                  <a:schemeClr val="tx1"/>
                </a:solidFill>
                <a:ea typeface="+mn-ea"/>
                <a:cs typeface="+mn-cs"/>
              </a:rPr>
              <a:t>What are examples of each?</a:t>
            </a:r>
          </a:p>
          <a:p>
            <a:pPr>
              <a:buFont typeface="Arial" pitchFamily="34" charset="0"/>
              <a:buChar char="•"/>
            </a:pPr>
            <a:r>
              <a:rPr lang="en-AU" sz="1200" b="0" kern="1200" baseline="0" dirty="0" smtClean="0">
                <a:solidFill>
                  <a:schemeClr val="tx1"/>
                </a:solidFill>
                <a:ea typeface="+mn-ea"/>
                <a:cs typeface="+mn-cs"/>
              </a:rPr>
              <a:t>What are other areas that contain legislated obligations?</a:t>
            </a:r>
          </a:p>
          <a:p>
            <a:endParaRPr lang="en-AU" sz="1200" b="1" kern="1200" baseline="0" dirty="0" smtClean="0">
              <a:solidFill>
                <a:schemeClr val="tx1"/>
              </a:solidFill>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21</a:t>
            </a:fld>
            <a:endParaRPr lang="en-US" dirty="0"/>
          </a:p>
        </p:txBody>
      </p:sp>
    </p:spTree>
    <p:extLst>
      <p:ext uri="{BB962C8B-B14F-4D97-AF65-F5344CB8AC3E}">
        <p14:creationId xmlns:p14="http://schemas.microsoft.com/office/powerpoint/2010/main" val="321243743"/>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b="1" kern="1200" baseline="0" dirty="0" smtClean="0">
                <a:solidFill>
                  <a:schemeClr val="tx1"/>
                </a:solidFill>
                <a:ea typeface="+mn-ea"/>
                <a:cs typeface="+mn-cs"/>
              </a:rPr>
              <a:t>Class Activity – Questions</a:t>
            </a:r>
          </a:p>
          <a:p>
            <a:endParaRPr lang="en-AU" sz="1200" b="1" kern="1200" baseline="0" dirty="0" smtClean="0">
              <a:solidFill>
                <a:schemeClr val="tx1"/>
              </a:solidFill>
              <a:ea typeface="+mn-ea"/>
              <a:cs typeface="+mn-cs"/>
            </a:endParaRPr>
          </a:p>
          <a:p>
            <a:pPr>
              <a:buFont typeface="Arial" pitchFamily="34" charset="0"/>
              <a:buChar char="•"/>
            </a:pPr>
            <a:r>
              <a:rPr lang="en-AU" sz="1200" b="0" kern="1200" baseline="0" dirty="0" smtClean="0">
                <a:solidFill>
                  <a:schemeClr val="tx1"/>
                </a:solidFill>
                <a:ea typeface="+mn-ea"/>
                <a:cs typeface="+mn-cs"/>
              </a:rPr>
              <a:t>Answer the questions in the slide.</a:t>
            </a:r>
          </a:p>
          <a:p>
            <a:endParaRPr lang="en-AU" sz="1200" b="1" kern="1200" baseline="0" dirty="0" smtClean="0">
              <a:solidFill>
                <a:schemeClr val="tx1"/>
              </a:solidFill>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22</a:t>
            </a:fld>
            <a:endParaRPr lang="en-US" dirty="0"/>
          </a:p>
        </p:txBody>
      </p:sp>
    </p:spTree>
    <p:extLst>
      <p:ext uri="{BB962C8B-B14F-4D97-AF65-F5344CB8AC3E}">
        <p14:creationId xmlns:p14="http://schemas.microsoft.com/office/powerpoint/2010/main" val="1780612348"/>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b="1" kern="1200" baseline="0" dirty="0" smtClean="0">
                <a:solidFill>
                  <a:schemeClr val="tx1"/>
                </a:solidFill>
                <a:ea typeface="+mn-ea"/>
                <a:cs typeface="+mn-cs"/>
              </a:rPr>
              <a:t>Class Activity – Questions</a:t>
            </a:r>
          </a:p>
          <a:p>
            <a:endParaRPr lang="en-AU" sz="1200" b="1" kern="1200" baseline="0" dirty="0" smtClean="0">
              <a:solidFill>
                <a:schemeClr val="tx1"/>
              </a:solidFill>
              <a:ea typeface="+mn-ea"/>
              <a:cs typeface="+mn-cs"/>
            </a:endParaRPr>
          </a:p>
          <a:p>
            <a:pPr>
              <a:buFont typeface="Arial" pitchFamily="34" charset="0"/>
              <a:buChar char="•"/>
            </a:pPr>
            <a:r>
              <a:rPr lang="en-AU" sz="1200" b="0" kern="1200" baseline="0" dirty="0" smtClean="0">
                <a:solidFill>
                  <a:schemeClr val="tx1"/>
                </a:solidFill>
                <a:ea typeface="+mn-ea"/>
                <a:cs typeface="+mn-cs"/>
              </a:rPr>
              <a:t>What are the major costs?</a:t>
            </a:r>
          </a:p>
          <a:p>
            <a:pPr>
              <a:buFont typeface="Arial" pitchFamily="34" charset="0"/>
              <a:buChar char="•"/>
            </a:pPr>
            <a:r>
              <a:rPr lang="en-AU" sz="1200" b="0" kern="1200" baseline="0" dirty="0" smtClean="0">
                <a:solidFill>
                  <a:schemeClr val="tx1"/>
                </a:solidFill>
                <a:ea typeface="+mn-ea"/>
                <a:cs typeface="+mn-cs"/>
              </a:rPr>
              <a:t>What other costs are associated with conducting training events?</a:t>
            </a:r>
          </a:p>
          <a:p>
            <a:endParaRPr lang="en-AU" sz="1200" b="1" kern="1200" baseline="0" dirty="0" smtClean="0">
              <a:solidFill>
                <a:schemeClr val="tx1"/>
              </a:solidFill>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23</a:t>
            </a:fld>
            <a:endParaRPr lang="en-US" dirty="0"/>
          </a:p>
        </p:txBody>
      </p:sp>
    </p:spTree>
    <p:extLst>
      <p:ext uri="{BB962C8B-B14F-4D97-AF65-F5344CB8AC3E}">
        <p14:creationId xmlns:p14="http://schemas.microsoft.com/office/powerpoint/2010/main" val="3386018377"/>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b="1" kern="1200" baseline="0" dirty="0" smtClean="0">
                <a:solidFill>
                  <a:schemeClr val="tx1"/>
                </a:solidFill>
                <a:ea typeface="+mn-ea"/>
                <a:cs typeface="+mn-cs"/>
              </a:rPr>
              <a:t>Class Activity – Questions</a:t>
            </a:r>
          </a:p>
          <a:p>
            <a:endParaRPr lang="en-AU" sz="1200" b="1" kern="1200" baseline="0" dirty="0" smtClean="0">
              <a:solidFill>
                <a:schemeClr val="tx1"/>
              </a:solidFill>
              <a:ea typeface="+mn-ea"/>
              <a:cs typeface="+mn-cs"/>
            </a:endParaRPr>
          </a:p>
          <a:p>
            <a:pPr>
              <a:buFont typeface="Arial" pitchFamily="34" charset="0"/>
              <a:buChar char="•"/>
            </a:pPr>
            <a:r>
              <a:rPr lang="en-AU" sz="1200" b="0" kern="1200" baseline="0" dirty="0" smtClean="0">
                <a:solidFill>
                  <a:schemeClr val="tx1"/>
                </a:solidFill>
                <a:ea typeface="+mn-ea"/>
                <a:cs typeface="+mn-cs"/>
              </a:rPr>
              <a:t>What are the major impacts?</a:t>
            </a:r>
          </a:p>
          <a:p>
            <a:endParaRPr lang="en-AU" sz="1200" b="1" kern="1200" baseline="0" dirty="0" smtClean="0">
              <a:solidFill>
                <a:schemeClr val="tx1"/>
              </a:solidFill>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24</a:t>
            </a:fld>
            <a:endParaRPr lang="en-US" dirty="0"/>
          </a:p>
        </p:txBody>
      </p:sp>
    </p:spTree>
    <p:extLst>
      <p:ext uri="{BB962C8B-B14F-4D97-AF65-F5344CB8AC3E}">
        <p14:creationId xmlns:p14="http://schemas.microsoft.com/office/powerpoint/2010/main" val="4123534912"/>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b="1" kern="1200" baseline="0" dirty="0" smtClean="0">
                <a:solidFill>
                  <a:schemeClr val="tx1"/>
                </a:solidFill>
                <a:ea typeface="+mn-ea"/>
                <a:cs typeface="+mn-cs"/>
              </a:rPr>
              <a:t>Class Activity – Discussion</a:t>
            </a:r>
          </a:p>
          <a:p>
            <a:endParaRPr lang="en-AU" sz="1200" b="1" kern="1200" baseline="0" dirty="0" smtClean="0">
              <a:solidFill>
                <a:schemeClr val="tx1"/>
              </a:solidFill>
              <a:ea typeface="+mn-ea"/>
              <a:cs typeface="+mn-cs"/>
            </a:endParaRPr>
          </a:p>
          <a:p>
            <a:pPr>
              <a:buFont typeface="Arial" pitchFamily="34" charset="0"/>
              <a:buChar char="•"/>
            </a:pPr>
            <a:r>
              <a:rPr lang="en-AU" sz="1200" b="0" kern="1200" baseline="0" dirty="0" smtClean="0">
                <a:solidFill>
                  <a:schemeClr val="tx1"/>
                </a:solidFill>
                <a:ea typeface="+mn-ea"/>
                <a:cs typeface="+mn-cs"/>
              </a:rPr>
              <a:t>Discuss these impacts.</a:t>
            </a:r>
          </a:p>
          <a:p>
            <a:endParaRPr lang="en-AU" sz="1200" b="1" kern="1200" baseline="0" dirty="0" smtClean="0">
              <a:solidFill>
                <a:schemeClr val="tx1"/>
              </a:solidFill>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25</a:t>
            </a:fld>
            <a:endParaRPr lang="en-US" dirty="0"/>
          </a:p>
        </p:txBody>
      </p:sp>
    </p:spTree>
    <p:extLst>
      <p:ext uri="{BB962C8B-B14F-4D97-AF65-F5344CB8AC3E}">
        <p14:creationId xmlns:p14="http://schemas.microsoft.com/office/powerpoint/2010/main" val="571962233"/>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b="1" kern="1200" baseline="0" dirty="0" smtClean="0">
                <a:solidFill>
                  <a:schemeClr val="tx1"/>
                </a:solidFill>
                <a:ea typeface="+mn-ea"/>
                <a:cs typeface="+mn-cs"/>
              </a:rPr>
              <a:t>Class Activity – Discussion</a:t>
            </a:r>
          </a:p>
          <a:p>
            <a:endParaRPr lang="en-AU" sz="1200" b="1" kern="1200" baseline="0" dirty="0" smtClean="0">
              <a:solidFill>
                <a:schemeClr val="tx1"/>
              </a:solidFill>
              <a:ea typeface="+mn-ea"/>
              <a:cs typeface="+mn-cs"/>
            </a:endParaRPr>
          </a:p>
          <a:p>
            <a:pPr>
              <a:buFont typeface="Arial" pitchFamily="34" charset="0"/>
              <a:buChar char="•"/>
            </a:pPr>
            <a:r>
              <a:rPr lang="en-AU" sz="1200" b="0" kern="1200" baseline="0" dirty="0" smtClean="0">
                <a:solidFill>
                  <a:schemeClr val="tx1"/>
                </a:solidFill>
                <a:ea typeface="+mn-ea"/>
                <a:cs typeface="+mn-cs"/>
              </a:rPr>
              <a:t>Discuss these impacts.</a:t>
            </a:r>
          </a:p>
          <a:p>
            <a:endParaRPr lang="en-AU" sz="1200" b="1" kern="1200" baseline="0" dirty="0" smtClean="0">
              <a:solidFill>
                <a:schemeClr val="tx1"/>
              </a:solidFill>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26</a:t>
            </a:fld>
            <a:endParaRPr lang="en-US" dirty="0"/>
          </a:p>
        </p:txBody>
      </p:sp>
    </p:spTree>
    <p:extLst>
      <p:ext uri="{BB962C8B-B14F-4D97-AF65-F5344CB8AC3E}">
        <p14:creationId xmlns:p14="http://schemas.microsoft.com/office/powerpoint/2010/main" val="3322441086"/>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b="1" kern="1200" baseline="0" dirty="0" smtClean="0">
                <a:solidFill>
                  <a:schemeClr val="tx1"/>
                </a:solidFill>
                <a:ea typeface="+mn-ea"/>
                <a:cs typeface="+mn-cs"/>
              </a:rPr>
              <a:t>Class Activity – Discussion</a:t>
            </a:r>
          </a:p>
          <a:p>
            <a:endParaRPr lang="en-AU" sz="1200" b="1" kern="1200" baseline="0" dirty="0" smtClean="0">
              <a:solidFill>
                <a:schemeClr val="tx1"/>
              </a:solidFill>
              <a:ea typeface="+mn-ea"/>
              <a:cs typeface="+mn-cs"/>
            </a:endParaRPr>
          </a:p>
          <a:p>
            <a:pPr>
              <a:buFont typeface="Arial" pitchFamily="34" charset="0"/>
              <a:buChar char="•"/>
            </a:pPr>
            <a:r>
              <a:rPr lang="en-AU" sz="1200" b="0" kern="1200" baseline="0" dirty="0" smtClean="0">
                <a:solidFill>
                  <a:schemeClr val="tx1"/>
                </a:solidFill>
                <a:ea typeface="+mn-ea"/>
                <a:cs typeface="+mn-cs"/>
              </a:rPr>
              <a:t>Discuss these impacts.</a:t>
            </a:r>
          </a:p>
          <a:p>
            <a:endParaRPr lang="en-AU" sz="1200" b="1" kern="1200" baseline="0" dirty="0" smtClean="0">
              <a:solidFill>
                <a:schemeClr val="tx1"/>
              </a:solidFill>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27</a:t>
            </a:fld>
            <a:endParaRPr lang="en-US" dirty="0"/>
          </a:p>
        </p:txBody>
      </p:sp>
    </p:spTree>
    <p:extLst>
      <p:ext uri="{BB962C8B-B14F-4D97-AF65-F5344CB8AC3E}">
        <p14:creationId xmlns:p14="http://schemas.microsoft.com/office/powerpoint/2010/main" val="2021411968"/>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b="1" kern="1200" baseline="0" dirty="0" smtClean="0">
                <a:solidFill>
                  <a:schemeClr val="tx1"/>
                </a:solidFill>
                <a:ea typeface="+mn-ea"/>
                <a:cs typeface="+mn-cs"/>
              </a:rPr>
              <a:t>Class Activity – Reflection</a:t>
            </a:r>
          </a:p>
          <a:p>
            <a:endParaRPr lang="en-AU" sz="1200" b="1" kern="1200" baseline="0" dirty="0" smtClean="0">
              <a:solidFill>
                <a:schemeClr val="tx1"/>
              </a:solidFill>
              <a:ea typeface="+mn-ea"/>
              <a:cs typeface="+mn-cs"/>
            </a:endParaRPr>
          </a:p>
          <a:p>
            <a:pPr lvl="0">
              <a:buFont typeface="Arial" pitchFamily="34" charset="0"/>
              <a:buChar char="•"/>
            </a:pPr>
            <a:r>
              <a:rPr lang="en-AU" sz="1200" b="0" dirty="0" smtClean="0"/>
              <a:t>Think back to</a:t>
            </a:r>
            <a:r>
              <a:rPr lang="en-AU" sz="1200" b="0" baseline="0" dirty="0" smtClean="0"/>
              <a:t> all the possible training programs conducted or initiated by HR and relate them to the points in this slide</a:t>
            </a:r>
          </a:p>
          <a:p>
            <a:pPr lvl="0">
              <a:buFont typeface="Arial" pitchFamily="34" charset="0"/>
              <a:buChar char="•"/>
            </a:pPr>
            <a:r>
              <a:rPr lang="en-AU" sz="1200" b="0" baseline="0" dirty="0" smtClean="0"/>
              <a:t>No one person can be expected to do everything – they need some element of support.</a:t>
            </a:r>
            <a:endParaRPr lang="en-US" b="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28</a:t>
            </a:fld>
            <a:endParaRPr lang="en-US" dirty="0"/>
          </a:p>
        </p:txBody>
      </p:sp>
    </p:spTree>
    <p:extLst>
      <p:ext uri="{BB962C8B-B14F-4D97-AF65-F5344CB8AC3E}">
        <p14:creationId xmlns:p14="http://schemas.microsoft.com/office/powerpoint/2010/main" val="3215389006"/>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b="1" kern="1200" baseline="0" dirty="0" smtClean="0">
                <a:solidFill>
                  <a:schemeClr val="tx1"/>
                </a:solidFill>
                <a:ea typeface="+mn-ea"/>
                <a:cs typeface="+mn-cs"/>
              </a:rPr>
              <a:t>Class Activity – Questions</a:t>
            </a:r>
          </a:p>
          <a:p>
            <a:endParaRPr lang="en-AU" sz="1200" b="1" kern="1200" baseline="0" dirty="0" smtClean="0">
              <a:solidFill>
                <a:schemeClr val="tx1"/>
              </a:solidFill>
              <a:ea typeface="+mn-ea"/>
              <a:cs typeface="+mn-cs"/>
            </a:endParaRPr>
          </a:p>
          <a:p>
            <a:pPr lvl="0">
              <a:buFont typeface="Arial" pitchFamily="34" charset="0"/>
              <a:buChar char="•"/>
            </a:pPr>
            <a:r>
              <a:rPr lang="en-AU" sz="1200" b="0" dirty="0" smtClean="0"/>
              <a:t>Why</a:t>
            </a:r>
            <a:r>
              <a:rPr lang="en-AU" sz="1200" b="0" baseline="0" dirty="0" smtClean="0"/>
              <a:t> is this important to consider?</a:t>
            </a:r>
            <a:endParaRPr lang="en-US" b="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29</a:t>
            </a:fld>
            <a:endParaRPr lang="en-US" dirty="0"/>
          </a:p>
        </p:txBody>
      </p:sp>
    </p:spTree>
    <p:extLst>
      <p:ext uri="{BB962C8B-B14F-4D97-AF65-F5344CB8AC3E}">
        <p14:creationId xmlns:p14="http://schemas.microsoft.com/office/powerpoint/2010/main" val="2843761279"/>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b="1" kern="1200" baseline="0" dirty="0" smtClean="0">
                <a:solidFill>
                  <a:schemeClr val="tx1"/>
                </a:solidFill>
                <a:ea typeface="+mn-ea"/>
                <a:cs typeface="+mn-cs"/>
              </a:rPr>
              <a:t>Class Activity – Questions</a:t>
            </a:r>
          </a:p>
          <a:p>
            <a:endParaRPr lang="en-AU" sz="1200" b="1" kern="1200" baseline="0" dirty="0" smtClean="0">
              <a:solidFill>
                <a:schemeClr val="tx1"/>
              </a:solidFill>
              <a:ea typeface="+mn-ea"/>
              <a:cs typeface="+mn-cs"/>
            </a:endParaRPr>
          </a:p>
          <a:p>
            <a:pPr lvl="0">
              <a:buFont typeface="Arial" pitchFamily="34" charset="0"/>
              <a:buChar char="•"/>
            </a:pPr>
            <a:r>
              <a:rPr lang="en-AU" sz="1200" b="0" dirty="0" smtClean="0"/>
              <a:t>Why</a:t>
            </a:r>
            <a:r>
              <a:rPr lang="en-AU" sz="1200" b="0" baseline="0" dirty="0" smtClean="0"/>
              <a:t> is this important to consider?</a:t>
            </a:r>
            <a:endParaRPr lang="en-US" b="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30</a:t>
            </a:fld>
            <a:endParaRPr lang="en-US" dirty="0"/>
          </a:p>
        </p:txBody>
      </p:sp>
    </p:spTree>
    <p:extLst>
      <p:ext uri="{BB962C8B-B14F-4D97-AF65-F5344CB8AC3E}">
        <p14:creationId xmlns:p14="http://schemas.microsoft.com/office/powerpoint/2010/main" val="1647915470"/>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b="1" kern="1200" baseline="0" dirty="0" smtClean="0">
                <a:solidFill>
                  <a:schemeClr val="tx1"/>
                </a:solidFill>
                <a:ea typeface="+mn-ea"/>
                <a:cs typeface="+mn-cs"/>
              </a:rPr>
              <a:t>Class Activity – Questions</a:t>
            </a:r>
          </a:p>
          <a:p>
            <a:endParaRPr lang="en-AU" sz="1200" b="1" kern="1200" baseline="0" dirty="0" smtClean="0">
              <a:solidFill>
                <a:schemeClr val="tx1"/>
              </a:solidFill>
              <a:ea typeface="+mn-ea"/>
              <a:cs typeface="+mn-cs"/>
            </a:endParaRPr>
          </a:p>
          <a:p>
            <a:pPr lvl="0">
              <a:buFont typeface="Arial" pitchFamily="34" charset="0"/>
              <a:buChar char="•"/>
            </a:pPr>
            <a:r>
              <a:rPr lang="en-AU" sz="1200" b="0" dirty="0" smtClean="0"/>
              <a:t>Who else can do the training?</a:t>
            </a:r>
          </a:p>
          <a:p>
            <a:pPr lvl="0">
              <a:buFont typeface="Arial" pitchFamily="34" charset="0"/>
              <a:buChar char="•"/>
            </a:pPr>
            <a:r>
              <a:rPr lang="en-AU" sz="1200" b="0" dirty="0" smtClean="0"/>
              <a:t>Are</a:t>
            </a:r>
            <a:r>
              <a:rPr lang="en-AU" sz="1200" b="0" baseline="0" dirty="0" smtClean="0"/>
              <a:t> there other support options?</a:t>
            </a:r>
            <a:endParaRPr lang="en-US" b="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31</a:t>
            </a:fld>
            <a:endParaRPr lang="en-US" dirty="0"/>
          </a:p>
        </p:txBody>
      </p:sp>
    </p:spTree>
    <p:extLst>
      <p:ext uri="{BB962C8B-B14F-4D97-AF65-F5344CB8AC3E}">
        <p14:creationId xmlns:p14="http://schemas.microsoft.com/office/powerpoint/2010/main" val="300239780"/>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b="1" kern="1200" baseline="0" dirty="0" smtClean="0">
                <a:solidFill>
                  <a:schemeClr val="tx1"/>
                </a:solidFill>
                <a:ea typeface="+mn-ea"/>
                <a:cs typeface="+mn-cs"/>
              </a:rPr>
              <a:t>Class Activity – Discussion</a:t>
            </a:r>
          </a:p>
          <a:p>
            <a:endParaRPr lang="en-AU" sz="1200" b="1" kern="1200" baseline="0" dirty="0" smtClean="0">
              <a:solidFill>
                <a:schemeClr val="tx1"/>
              </a:solidFill>
              <a:ea typeface="+mn-ea"/>
              <a:cs typeface="+mn-cs"/>
            </a:endParaRPr>
          </a:p>
          <a:p>
            <a:pPr lvl="0">
              <a:buFont typeface="Arial" pitchFamily="34" charset="0"/>
              <a:buChar char="•"/>
            </a:pPr>
            <a:r>
              <a:rPr lang="en-AU" sz="1200" b="0" dirty="0" smtClean="0"/>
              <a:t>Discuss</a:t>
            </a:r>
            <a:r>
              <a:rPr lang="en-AU" sz="1200" b="0" baseline="0" dirty="0" smtClean="0"/>
              <a:t> the types of internal and external support systems and when best they would be used.</a:t>
            </a:r>
            <a:endParaRPr lang="en-US" b="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32</a:t>
            </a:fld>
            <a:endParaRPr lang="en-US" dirty="0"/>
          </a:p>
        </p:txBody>
      </p:sp>
    </p:spTree>
    <p:extLst>
      <p:ext uri="{BB962C8B-B14F-4D97-AF65-F5344CB8AC3E}">
        <p14:creationId xmlns:p14="http://schemas.microsoft.com/office/powerpoint/2010/main" val="1448461957"/>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b="1" kern="1200" baseline="0" dirty="0" smtClean="0">
                <a:solidFill>
                  <a:schemeClr val="tx1"/>
                </a:solidFill>
                <a:ea typeface="+mn-ea"/>
                <a:cs typeface="+mn-cs"/>
              </a:rPr>
              <a:t>Class Activity – Discussion</a:t>
            </a:r>
          </a:p>
          <a:p>
            <a:endParaRPr lang="en-AU" sz="1200" b="1" kern="1200" baseline="0" dirty="0" smtClean="0">
              <a:solidFill>
                <a:schemeClr val="tx1"/>
              </a:solidFill>
              <a:ea typeface="+mn-ea"/>
              <a:cs typeface="+mn-cs"/>
            </a:endParaRPr>
          </a:p>
          <a:p>
            <a:pPr lvl="0">
              <a:buFont typeface="Arial" pitchFamily="34" charset="0"/>
              <a:buChar char="•"/>
            </a:pPr>
            <a:r>
              <a:rPr lang="en-AU" sz="1200" b="0" dirty="0" smtClean="0"/>
              <a:t>When</a:t>
            </a:r>
            <a:r>
              <a:rPr lang="en-AU" sz="1200" b="0" baseline="0" dirty="0" smtClean="0"/>
              <a:t> would you use types of support?</a:t>
            </a:r>
            <a:endParaRPr lang="en-US" b="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33</a:t>
            </a:fld>
            <a:endParaRPr lang="en-US" dirty="0"/>
          </a:p>
        </p:txBody>
      </p:sp>
    </p:spTree>
    <p:extLst>
      <p:ext uri="{BB962C8B-B14F-4D97-AF65-F5344CB8AC3E}">
        <p14:creationId xmlns:p14="http://schemas.microsoft.com/office/powerpoint/2010/main" val="2720759842"/>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b="1" kern="1200" baseline="0" dirty="0" smtClean="0">
                <a:solidFill>
                  <a:schemeClr val="tx1"/>
                </a:solidFill>
                <a:ea typeface="+mn-ea"/>
                <a:cs typeface="+mn-cs"/>
              </a:rPr>
              <a:t>Class Activity – Discussion</a:t>
            </a:r>
          </a:p>
          <a:p>
            <a:endParaRPr lang="en-AU" sz="1200" b="1" kern="1200" baseline="0" dirty="0" smtClean="0">
              <a:solidFill>
                <a:schemeClr val="tx1"/>
              </a:solidFill>
              <a:ea typeface="+mn-ea"/>
              <a:cs typeface="+mn-cs"/>
            </a:endParaRPr>
          </a:p>
          <a:p>
            <a:pPr lvl="0">
              <a:buFont typeface="Arial" pitchFamily="34" charset="0"/>
              <a:buChar char="•"/>
            </a:pPr>
            <a:r>
              <a:rPr lang="en-AU" sz="1200" b="0" dirty="0" smtClean="0"/>
              <a:t>Where does financial support come from?</a:t>
            </a:r>
          </a:p>
          <a:p>
            <a:pPr lvl="0">
              <a:buFont typeface="Arial" pitchFamily="34" charset="0"/>
              <a:buChar char="•"/>
            </a:pPr>
            <a:r>
              <a:rPr lang="en-AU" sz="1200" b="0" dirty="0" smtClean="0"/>
              <a:t>Who</a:t>
            </a:r>
            <a:r>
              <a:rPr lang="en-AU" sz="1200" b="0" baseline="0" dirty="0" smtClean="0"/>
              <a:t> creates budgets?</a:t>
            </a:r>
          </a:p>
          <a:p>
            <a:pPr lvl="0">
              <a:buFont typeface="Arial" pitchFamily="34" charset="0"/>
              <a:buChar char="•"/>
            </a:pPr>
            <a:r>
              <a:rPr lang="en-AU" sz="1200" b="0" baseline="0" dirty="0" smtClean="0"/>
              <a:t>What budgets are designed for training?</a:t>
            </a:r>
            <a:endParaRPr lang="en-US" b="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34</a:t>
            </a:fld>
            <a:endParaRPr lang="en-US" dirty="0"/>
          </a:p>
        </p:txBody>
      </p:sp>
    </p:spTree>
    <p:extLst>
      <p:ext uri="{BB962C8B-B14F-4D97-AF65-F5344CB8AC3E}">
        <p14:creationId xmlns:p14="http://schemas.microsoft.com/office/powerpoint/2010/main" val="3785185419"/>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b="1" kern="1200" baseline="0" dirty="0" smtClean="0">
                <a:solidFill>
                  <a:schemeClr val="tx1"/>
                </a:solidFill>
                <a:ea typeface="+mn-ea"/>
                <a:cs typeface="+mn-cs"/>
              </a:rPr>
              <a:t>Class Activity –  Question</a:t>
            </a:r>
          </a:p>
          <a:p>
            <a:endParaRPr lang="en-AU" sz="1200" b="1" kern="1200" baseline="0" dirty="0" smtClean="0">
              <a:solidFill>
                <a:schemeClr val="tx1"/>
              </a:solidFill>
              <a:ea typeface="+mn-ea"/>
              <a:cs typeface="+mn-cs"/>
            </a:endParaRPr>
          </a:p>
          <a:p>
            <a:pPr lvl="0">
              <a:buFont typeface="Arial" pitchFamily="34" charset="0"/>
              <a:buChar char="•"/>
            </a:pPr>
            <a:r>
              <a:rPr lang="en-AU" sz="1200" dirty="0" smtClean="0">
                <a:latin typeface="Helvetica" pitchFamily="34" charset="0"/>
              </a:rPr>
              <a:t>When would you use each</a:t>
            </a:r>
            <a:r>
              <a:rPr lang="en-AU" sz="1200" baseline="0" dirty="0" smtClean="0">
                <a:latin typeface="Helvetica" pitchFamily="34" charset="0"/>
              </a:rPr>
              <a:t> of these types of resources and materials?</a:t>
            </a:r>
            <a:endParaRPr lang="en-AU" sz="1200" dirty="0" smtClean="0">
              <a:latin typeface="Helvetica" pitchFamily="34" charset="0"/>
            </a:endParaRP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kern="1200" dirty="0" smtClean="0">
              <a:solidFill>
                <a:schemeClr val="tx1"/>
              </a:solidFill>
              <a:ea typeface="+mn-ea"/>
              <a:cs typeface="+mn-cs"/>
            </a:endParaRPr>
          </a:p>
          <a:p>
            <a:pPr>
              <a:buFont typeface="Arial" pitchFamily="34" charset="0"/>
              <a:buChar char="•"/>
            </a:pPr>
            <a:endParaRPr lang="en-AU" sz="1200" b="0" kern="1200" baseline="0" dirty="0" smtClean="0">
              <a:solidFill>
                <a:schemeClr val="tx1"/>
              </a:solidFill>
              <a:ea typeface="+mn-ea"/>
              <a:cs typeface="+mn-cs"/>
            </a:endParaRPr>
          </a:p>
          <a:p>
            <a:pPr>
              <a:buFont typeface="Arial" pitchFamily="34" charset="0"/>
              <a:buNone/>
            </a:pPr>
            <a:endParaRPr lang="en-AU" sz="1200" b="0" kern="1200" baseline="0" dirty="0" smtClean="0">
              <a:solidFill>
                <a:schemeClr val="tx1"/>
              </a:solidFill>
              <a:ea typeface="+mn-ea"/>
              <a:cs typeface="+mn-cs"/>
            </a:endParaRPr>
          </a:p>
          <a:p>
            <a:pPr>
              <a:buFont typeface="Arial" pitchFamily="34" charset="0"/>
              <a:buNone/>
            </a:pPr>
            <a:endParaRPr lang="en-AU" sz="1200" b="0" kern="1200" baseline="0" dirty="0" smtClean="0">
              <a:solidFill>
                <a:schemeClr val="tx1"/>
              </a:solidFill>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35</a:t>
            </a:fld>
            <a:endParaRPr lang="en-US" dirty="0"/>
          </a:p>
        </p:txBody>
      </p:sp>
    </p:spTree>
    <p:extLst>
      <p:ext uri="{BB962C8B-B14F-4D97-AF65-F5344CB8AC3E}">
        <p14:creationId xmlns:p14="http://schemas.microsoft.com/office/powerpoint/2010/main" val="3414776886"/>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b="1" kern="1200" baseline="0" dirty="0" smtClean="0">
                <a:solidFill>
                  <a:schemeClr val="tx1"/>
                </a:solidFill>
                <a:ea typeface="+mn-ea"/>
                <a:cs typeface="+mn-cs"/>
              </a:rPr>
              <a:t>Class Activity –  Question &amp; Activity</a:t>
            </a:r>
          </a:p>
          <a:p>
            <a:endParaRPr lang="en-AU" sz="1200" b="1" kern="1200" baseline="0" dirty="0" smtClean="0">
              <a:solidFill>
                <a:schemeClr val="tx1"/>
              </a:solidFill>
              <a:ea typeface="+mn-ea"/>
              <a:cs typeface="+mn-cs"/>
            </a:endParaRPr>
          </a:p>
          <a:p>
            <a:pPr lvl="0">
              <a:buFont typeface="Arial" pitchFamily="34" charset="0"/>
              <a:buChar char="•"/>
            </a:pPr>
            <a:r>
              <a:rPr lang="en-AU" sz="1200" dirty="0" smtClean="0">
                <a:latin typeface="Helvetica" pitchFamily="34" charset="0"/>
              </a:rPr>
              <a:t>When would you use each</a:t>
            </a:r>
            <a:r>
              <a:rPr lang="en-AU" sz="1200" baseline="0" dirty="0" smtClean="0">
                <a:latin typeface="Helvetica" pitchFamily="34" charset="0"/>
              </a:rPr>
              <a:t> of these types of resources and materials?</a:t>
            </a:r>
          </a:p>
          <a:p>
            <a:pPr lvl="0">
              <a:buFont typeface="Arial" pitchFamily="34" charset="0"/>
              <a:buChar char="•"/>
            </a:pPr>
            <a:r>
              <a:rPr lang="en-AU" sz="1200" dirty="0" smtClean="0">
                <a:latin typeface="Helvetica" pitchFamily="34" charset="0"/>
              </a:rPr>
              <a:t>For</a:t>
            </a:r>
            <a:r>
              <a:rPr lang="en-AU" sz="1200" baseline="0" dirty="0" smtClean="0">
                <a:latin typeface="Helvetica" pitchFamily="34" charset="0"/>
              </a:rPr>
              <a:t> the activity, get the audience to think about the resources and materials they would need to train each point.</a:t>
            </a:r>
            <a:endParaRPr lang="en-AU" sz="1200" b="0" kern="1200" baseline="0" dirty="0" smtClean="0">
              <a:solidFill>
                <a:schemeClr val="tx1"/>
              </a:solidFill>
              <a:ea typeface="+mn-ea"/>
              <a:cs typeface="+mn-cs"/>
            </a:endParaRPr>
          </a:p>
          <a:p>
            <a:pPr>
              <a:buFont typeface="Arial" pitchFamily="34" charset="0"/>
              <a:buNone/>
            </a:pPr>
            <a:endParaRPr lang="en-AU" sz="1200" b="0" kern="1200" baseline="0" dirty="0" smtClean="0">
              <a:solidFill>
                <a:schemeClr val="tx1"/>
              </a:solidFill>
              <a:ea typeface="+mn-ea"/>
              <a:cs typeface="+mn-cs"/>
            </a:endParaRPr>
          </a:p>
          <a:p>
            <a:pPr>
              <a:buFont typeface="Arial" pitchFamily="34" charset="0"/>
              <a:buNone/>
            </a:pPr>
            <a:endParaRPr lang="en-AU" sz="1200" b="0" kern="1200" baseline="0" dirty="0" smtClean="0">
              <a:solidFill>
                <a:schemeClr val="tx1"/>
              </a:solidFill>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36</a:t>
            </a:fld>
            <a:endParaRPr lang="en-US" dirty="0"/>
          </a:p>
        </p:txBody>
      </p:sp>
    </p:spTree>
    <p:extLst>
      <p:ext uri="{BB962C8B-B14F-4D97-AF65-F5344CB8AC3E}">
        <p14:creationId xmlns:p14="http://schemas.microsoft.com/office/powerpoint/2010/main" val="2250374457"/>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b="1" kern="1200" baseline="0" dirty="0" smtClean="0">
                <a:solidFill>
                  <a:schemeClr val="tx1"/>
                </a:solidFill>
                <a:ea typeface="+mn-ea"/>
                <a:cs typeface="+mn-cs"/>
              </a:rPr>
              <a:t>Class Activity –  Question &amp; Activity</a:t>
            </a:r>
          </a:p>
          <a:p>
            <a:endParaRPr lang="en-AU" sz="1200" b="1" kern="1200" baseline="0" dirty="0" smtClean="0">
              <a:solidFill>
                <a:schemeClr val="tx1"/>
              </a:solidFill>
              <a:ea typeface="+mn-ea"/>
              <a:cs typeface="+mn-cs"/>
            </a:endParaRPr>
          </a:p>
          <a:p>
            <a:pPr lvl="0">
              <a:buFont typeface="Arial" pitchFamily="34" charset="0"/>
              <a:buChar char="•"/>
            </a:pPr>
            <a:r>
              <a:rPr lang="en-AU" sz="1200" dirty="0" smtClean="0">
                <a:latin typeface="Helvetica" pitchFamily="34" charset="0"/>
              </a:rPr>
              <a:t>When would you use each</a:t>
            </a:r>
            <a:r>
              <a:rPr lang="en-AU" sz="1200" baseline="0" dirty="0" smtClean="0">
                <a:latin typeface="Helvetica" pitchFamily="34" charset="0"/>
              </a:rPr>
              <a:t> of these types of resources and materials?</a:t>
            </a:r>
          </a:p>
          <a:p>
            <a:pPr marL="0" marR="0" lvl="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dirty="0" smtClean="0">
                <a:latin typeface="Helvetica" pitchFamily="34" charset="0"/>
              </a:rPr>
              <a:t>For</a:t>
            </a:r>
            <a:r>
              <a:rPr lang="en-AU" sz="1200" baseline="0" dirty="0" smtClean="0">
                <a:latin typeface="Helvetica" pitchFamily="34" charset="0"/>
              </a:rPr>
              <a:t> the activity, get the audience to think about the support items they would need to train each point.</a:t>
            </a:r>
            <a:endParaRPr lang="en-AU" sz="1200" dirty="0" smtClean="0">
              <a:latin typeface="Helvetica" pitchFamily="34" charset="0"/>
            </a:endParaRPr>
          </a:p>
          <a:p>
            <a:pPr lvl="0">
              <a:buFont typeface="Arial" pitchFamily="34" charset="0"/>
              <a:buChar char="•"/>
            </a:pPr>
            <a:endParaRPr lang="en-AU" sz="1200" dirty="0" smtClean="0">
              <a:latin typeface="Helvetica" pitchFamily="34" charset="0"/>
            </a:endParaRP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kern="1200" dirty="0" smtClean="0">
              <a:solidFill>
                <a:schemeClr val="tx1"/>
              </a:solidFill>
              <a:ea typeface="+mn-ea"/>
              <a:cs typeface="+mn-cs"/>
            </a:endParaRPr>
          </a:p>
          <a:p>
            <a:pPr>
              <a:buFont typeface="Arial" pitchFamily="34" charset="0"/>
              <a:buChar char="•"/>
            </a:pPr>
            <a:endParaRPr lang="en-AU" sz="1200" b="0" kern="1200" baseline="0" dirty="0" smtClean="0">
              <a:solidFill>
                <a:schemeClr val="tx1"/>
              </a:solidFill>
              <a:ea typeface="+mn-ea"/>
              <a:cs typeface="+mn-cs"/>
            </a:endParaRPr>
          </a:p>
          <a:p>
            <a:pPr>
              <a:buFont typeface="Arial" pitchFamily="34" charset="0"/>
              <a:buNone/>
            </a:pPr>
            <a:endParaRPr lang="en-AU" sz="1200" b="0" kern="1200" baseline="0" dirty="0" smtClean="0">
              <a:solidFill>
                <a:schemeClr val="tx1"/>
              </a:solidFill>
              <a:ea typeface="+mn-ea"/>
              <a:cs typeface="+mn-cs"/>
            </a:endParaRPr>
          </a:p>
          <a:p>
            <a:pPr>
              <a:buFont typeface="Arial" pitchFamily="34" charset="0"/>
              <a:buNone/>
            </a:pPr>
            <a:endParaRPr lang="en-AU" sz="1200" b="0" kern="1200" baseline="0" dirty="0" smtClean="0">
              <a:solidFill>
                <a:schemeClr val="tx1"/>
              </a:solidFill>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37</a:t>
            </a:fld>
            <a:endParaRPr lang="en-US" dirty="0"/>
          </a:p>
        </p:txBody>
      </p:sp>
    </p:spTree>
    <p:extLst>
      <p:ext uri="{BB962C8B-B14F-4D97-AF65-F5344CB8AC3E}">
        <p14:creationId xmlns:p14="http://schemas.microsoft.com/office/powerpoint/2010/main" val="2391908432"/>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b="1" kern="1200" baseline="0" dirty="0" smtClean="0">
                <a:solidFill>
                  <a:schemeClr val="tx1"/>
                </a:solidFill>
                <a:ea typeface="+mn-ea"/>
                <a:cs typeface="+mn-cs"/>
              </a:rPr>
              <a:t>Class Activity –  Question &amp; Activity</a:t>
            </a:r>
          </a:p>
          <a:p>
            <a:endParaRPr lang="en-AU" sz="1200" b="1" kern="1200" baseline="0" dirty="0" smtClean="0">
              <a:solidFill>
                <a:schemeClr val="tx1"/>
              </a:solidFill>
              <a:ea typeface="+mn-ea"/>
              <a:cs typeface="+mn-cs"/>
            </a:endParaRPr>
          </a:p>
          <a:p>
            <a:pPr lvl="0">
              <a:buFont typeface="Arial" pitchFamily="34" charset="0"/>
              <a:buChar char="•"/>
            </a:pPr>
            <a:r>
              <a:rPr lang="en-AU" sz="1200" dirty="0" smtClean="0">
                <a:latin typeface="Helvetica" pitchFamily="34" charset="0"/>
              </a:rPr>
              <a:t>For</a:t>
            </a:r>
            <a:r>
              <a:rPr lang="en-AU" sz="1200" baseline="0" dirty="0" smtClean="0">
                <a:latin typeface="Helvetica" pitchFamily="34" charset="0"/>
              </a:rPr>
              <a:t> the activity, get the audience to think about the equipment they would need to train each point.</a:t>
            </a:r>
            <a:endParaRPr lang="en-AU" sz="1200" dirty="0" smtClean="0">
              <a:latin typeface="Helvetica" pitchFamily="34" charset="0"/>
            </a:endParaRP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kern="1200" dirty="0" smtClean="0">
              <a:solidFill>
                <a:schemeClr val="tx1"/>
              </a:solidFill>
              <a:ea typeface="+mn-ea"/>
              <a:cs typeface="+mn-cs"/>
            </a:endParaRPr>
          </a:p>
          <a:p>
            <a:pPr>
              <a:buFont typeface="Arial" pitchFamily="34" charset="0"/>
              <a:buChar char="•"/>
            </a:pPr>
            <a:endParaRPr lang="en-AU" sz="1200" b="0" kern="1200" baseline="0" dirty="0" smtClean="0">
              <a:solidFill>
                <a:schemeClr val="tx1"/>
              </a:solidFill>
              <a:ea typeface="+mn-ea"/>
              <a:cs typeface="+mn-cs"/>
            </a:endParaRPr>
          </a:p>
          <a:p>
            <a:pPr>
              <a:buFont typeface="Arial" pitchFamily="34" charset="0"/>
              <a:buNone/>
            </a:pPr>
            <a:endParaRPr lang="en-AU" sz="1200" b="0" kern="1200" baseline="0" dirty="0" smtClean="0">
              <a:solidFill>
                <a:schemeClr val="tx1"/>
              </a:solidFill>
              <a:ea typeface="+mn-ea"/>
              <a:cs typeface="+mn-cs"/>
            </a:endParaRPr>
          </a:p>
          <a:p>
            <a:pPr>
              <a:buFont typeface="Arial" pitchFamily="34" charset="0"/>
              <a:buNone/>
            </a:pPr>
            <a:endParaRPr lang="en-AU" sz="1200" b="0" kern="1200" baseline="0" dirty="0" smtClean="0">
              <a:solidFill>
                <a:schemeClr val="tx1"/>
              </a:solidFill>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38</a:t>
            </a:fld>
            <a:endParaRPr lang="en-US" dirty="0"/>
          </a:p>
        </p:txBody>
      </p:sp>
    </p:spTree>
    <p:extLst>
      <p:ext uri="{BB962C8B-B14F-4D97-AF65-F5344CB8AC3E}">
        <p14:creationId xmlns:p14="http://schemas.microsoft.com/office/powerpoint/2010/main" val="1860320917"/>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b="1" kern="1200" baseline="0" dirty="0" smtClean="0">
                <a:solidFill>
                  <a:schemeClr val="tx1"/>
                </a:solidFill>
                <a:ea typeface="+mn-ea"/>
                <a:cs typeface="+mn-cs"/>
              </a:rPr>
              <a:t>Class Activity –  Question &amp; Activity</a:t>
            </a:r>
          </a:p>
          <a:p>
            <a:endParaRPr lang="en-AU" sz="1200" b="1" kern="1200" baseline="0" dirty="0" smtClean="0">
              <a:solidFill>
                <a:schemeClr val="tx1"/>
              </a:solidFill>
              <a:ea typeface="+mn-ea"/>
              <a:cs typeface="+mn-cs"/>
            </a:endParaRPr>
          </a:p>
          <a:p>
            <a:pPr lvl="0">
              <a:buFont typeface="Arial" pitchFamily="34" charset="0"/>
              <a:buChar char="•"/>
            </a:pPr>
            <a:r>
              <a:rPr lang="en-AU" sz="1200" dirty="0" smtClean="0">
                <a:latin typeface="Helvetica" pitchFamily="34" charset="0"/>
              </a:rPr>
              <a:t>For</a:t>
            </a:r>
            <a:r>
              <a:rPr lang="en-AU" sz="1200" baseline="0" dirty="0" smtClean="0">
                <a:latin typeface="Helvetica" pitchFamily="34" charset="0"/>
              </a:rPr>
              <a:t> the activity, get the audience to think about the consumables they would need to train each point.</a:t>
            </a:r>
            <a:endParaRPr lang="en-AU" sz="1200" dirty="0" smtClean="0">
              <a:latin typeface="Helvetica" pitchFamily="34" charset="0"/>
            </a:endParaRP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kern="1200" dirty="0" smtClean="0">
              <a:solidFill>
                <a:schemeClr val="tx1"/>
              </a:solidFill>
              <a:ea typeface="+mn-ea"/>
              <a:cs typeface="+mn-cs"/>
            </a:endParaRPr>
          </a:p>
          <a:p>
            <a:pPr>
              <a:buFont typeface="Arial" pitchFamily="34" charset="0"/>
              <a:buChar char="•"/>
            </a:pPr>
            <a:endParaRPr lang="en-AU" sz="1200" b="0" kern="1200" baseline="0" dirty="0" smtClean="0">
              <a:solidFill>
                <a:schemeClr val="tx1"/>
              </a:solidFill>
              <a:ea typeface="+mn-ea"/>
              <a:cs typeface="+mn-cs"/>
            </a:endParaRPr>
          </a:p>
          <a:p>
            <a:pPr>
              <a:buFont typeface="Arial" pitchFamily="34" charset="0"/>
              <a:buNone/>
            </a:pPr>
            <a:endParaRPr lang="en-AU" sz="1200" b="0" kern="1200" baseline="0" dirty="0" smtClean="0">
              <a:solidFill>
                <a:schemeClr val="tx1"/>
              </a:solidFill>
              <a:ea typeface="+mn-ea"/>
              <a:cs typeface="+mn-cs"/>
            </a:endParaRPr>
          </a:p>
          <a:p>
            <a:pPr>
              <a:buFont typeface="Arial" pitchFamily="34" charset="0"/>
              <a:buNone/>
            </a:pPr>
            <a:endParaRPr lang="en-AU" sz="1200" b="0" kern="1200" baseline="0" dirty="0" smtClean="0">
              <a:solidFill>
                <a:schemeClr val="tx1"/>
              </a:solidFill>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39</a:t>
            </a:fld>
            <a:endParaRPr lang="en-US" dirty="0"/>
          </a:p>
        </p:txBody>
      </p:sp>
    </p:spTree>
    <p:extLst>
      <p:ext uri="{BB962C8B-B14F-4D97-AF65-F5344CB8AC3E}">
        <p14:creationId xmlns:p14="http://schemas.microsoft.com/office/powerpoint/2010/main" val="2323428127"/>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b="1" kern="1200" baseline="0" dirty="0" smtClean="0">
                <a:solidFill>
                  <a:schemeClr val="tx1"/>
                </a:solidFill>
                <a:ea typeface="+mn-ea"/>
                <a:cs typeface="+mn-cs"/>
              </a:rPr>
              <a:t>Class Activity –  Question &amp; Activity</a:t>
            </a:r>
          </a:p>
          <a:p>
            <a:endParaRPr lang="en-AU" sz="1200" b="1" kern="1200" baseline="0" dirty="0" smtClean="0">
              <a:solidFill>
                <a:schemeClr val="tx1"/>
              </a:solidFill>
              <a:ea typeface="+mn-ea"/>
              <a:cs typeface="+mn-cs"/>
            </a:endParaRPr>
          </a:p>
          <a:p>
            <a:pPr>
              <a:buFont typeface="Arial" pitchFamily="34" charset="0"/>
              <a:buChar char="•"/>
            </a:pPr>
            <a:r>
              <a:rPr lang="en-AU" sz="1200" b="0" kern="1200" baseline="0" dirty="0" smtClean="0">
                <a:solidFill>
                  <a:schemeClr val="tx1"/>
                </a:solidFill>
                <a:ea typeface="+mn-ea"/>
                <a:cs typeface="+mn-cs"/>
              </a:rPr>
              <a:t>Which type would you use first and why?</a:t>
            </a:r>
          </a:p>
          <a:p>
            <a:pPr lvl="0">
              <a:buFont typeface="Arial" pitchFamily="34" charset="0"/>
              <a:buChar char="•"/>
            </a:pPr>
            <a:r>
              <a:rPr lang="en-AU" sz="1200" dirty="0" smtClean="0">
                <a:latin typeface="Helvetica" pitchFamily="34" charset="0"/>
              </a:rPr>
              <a:t>For</a:t>
            </a:r>
            <a:r>
              <a:rPr lang="en-AU" sz="1200" baseline="0" dirty="0" smtClean="0">
                <a:latin typeface="Helvetica" pitchFamily="34" charset="0"/>
              </a:rPr>
              <a:t> the activity, get the audience to think about where they would source resources and materials they would need to train each point.</a:t>
            </a:r>
            <a:endParaRPr lang="en-AU" sz="1200" dirty="0" smtClean="0">
              <a:latin typeface="Helvetica" pitchFamily="34" charset="0"/>
            </a:endParaRP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kern="1200" dirty="0" smtClean="0">
              <a:solidFill>
                <a:schemeClr val="tx1"/>
              </a:solidFill>
              <a:ea typeface="+mn-ea"/>
              <a:cs typeface="+mn-cs"/>
            </a:endParaRPr>
          </a:p>
          <a:p>
            <a:pPr>
              <a:buFont typeface="Arial" pitchFamily="34" charset="0"/>
              <a:buChar char="•"/>
            </a:pPr>
            <a:endParaRPr lang="en-AU" sz="1200" b="0" kern="1200" baseline="0" dirty="0" smtClean="0">
              <a:solidFill>
                <a:schemeClr val="tx1"/>
              </a:solidFill>
              <a:ea typeface="+mn-ea"/>
              <a:cs typeface="+mn-cs"/>
            </a:endParaRPr>
          </a:p>
          <a:p>
            <a:pPr>
              <a:buFont typeface="Arial" pitchFamily="34" charset="0"/>
              <a:buNone/>
            </a:pPr>
            <a:endParaRPr lang="en-AU" sz="1200" b="0" kern="1200" baseline="0" dirty="0" smtClean="0">
              <a:solidFill>
                <a:schemeClr val="tx1"/>
              </a:solidFill>
              <a:ea typeface="+mn-ea"/>
              <a:cs typeface="+mn-cs"/>
            </a:endParaRPr>
          </a:p>
          <a:p>
            <a:pPr>
              <a:buFont typeface="Arial" pitchFamily="34" charset="0"/>
              <a:buNone/>
            </a:pPr>
            <a:endParaRPr lang="en-AU" sz="1200" b="0" kern="1200" baseline="0" dirty="0" smtClean="0">
              <a:solidFill>
                <a:schemeClr val="tx1"/>
              </a:solidFill>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40</a:t>
            </a:fld>
            <a:endParaRPr lang="en-US" dirty="0"/>
          </a:p>
        </p:txBody>
      </p:sp>
    </p:spTree>
    <p:extLst>
      <p:ext uri="{BB962C8B-B14F-4D97-AF65-F5344CB8AC3E}">
        <p14:creationId xmlns:p14="http://schemas.microsoft.com/office/powerpoint/2010/main" val="4031517410"/>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b="1" kern="1200" baseline="0" dirty="0" smtClean="0">
                <a:solidFill>
                  <a:schemeClr val="tx1"/>
                </a:solidFill>
                <a:ea typeface="+mn-ea"/>
                <a:cs typeface="+mn-cs"/>
              </a:rPr>
              <a:t>Class Activity –  Question &amp; Activity</a:t>
            </a:r>
          </a:p>
          <a:p>
            <a:endParaRPr lang="en-AU" sz="1200" b="1" kern="1200" baseline="0" dirty="0" smtClean="0">
              <a:solidFill>
                <a:schemeClr val="tx1"/>
              </a:solidFill>
              <a:ea typeface="+mn-ea"/>
              <a:cs typeface="+mn-cs"/>
            </a:endParaRPr>
          </a:p>
          <a:p>
            <a:pPr>
              <a:buFont typeface="Arial" pitchFamily="34" charset="0"/>
              <a:buChar char="•"/>
            </a:pPr>
            <a:r>
              <a:rPr lang="en-AU" sz="1200" b="0" kern="1200" baseline="0" dirty="0" smtClean="0">
                <a:solidFill>
                  <a:schemeClr val="tx1"/>
                </a:solidFill>
                <a:ea typeface="+mn-ea"/>
                <a:cs typeface="+mn-cs"/>
              </a:rPr>
              <a:t>What are good sources of existing resources for your activity</a:t>
            </a:r>
            <a:endParaRPr lang="en-AU" sz="1200" dirty="0" smtClean="0">
              <a:latin typeface="Helvetica" pitchFamily="34" charset="0"/>
            </a:endParaRP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kern="1200" dirty="0" smtClean="0">
              <a:solidFill>
                <a:schemeClr val="tx1"/>
              </a:solidFill>
              <a:ea typeface="+mn-ea"/>
              <a:cs typeface="+mn-cs"/>
            </a:endParaRPr>
          </a:p>
          <a:p>
            <a:pPr>
              <a:buFont typeface="Arial" pitchFamily="34" charset="0"/>
              <a:buChar char="•"/>
            </a:pPr>
            <a:endParaRPr lang="en-AU" sz="1200" b="0" kern="1200" baseline="0" dirty="0" smtClean="0">
              <a:solidFill>
                <a:schemeClr val="tx1"/>
              </a:solidFill>
              <a:ea typeface="+mn-ea"/>
              <a:cs typeface="+mn-cs"/>
            </a:endParaRPr>
          </a:p>
          <a:p>
            <a:pPr>
              <a:buFont typeface="Arial" pitchFamily="34" charset="0"/>
              <a:buNone/>
            </a:pPr>
            <a:endParaRPr lang="en-AU" sz="1200" b="0" kern="1200" baseline="0" dirty="0" smtClean="0">
              <a:solidFill>
                <a:schemeClr val="tx1"/>
              </a:solidFill>
              <a:ea typeface="+mn-ea"/>
              <a:cs typeface="+mn-cs"/>
            </a:endParaRPr>
          </a:p>
          <a:p>
            <a:pPr>
              <a:buFont typeface="Arial" pitchFamily="34" charset="0"/>
              <a:buNone/>
            </a:pPr>
            <a:endParaRPr lang="en-AU" sz="1200" b="0" kern="1200" baseline="0" dirty="0" smtClean="0">
              <a:solidFill>
                <a:schemeClr val="tx1"/>
              </a:solidFill>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41</a:t>
            </a:fld>
            <a:endParaRPr lang="en-US" dirty="0"/>
          </a:p>
        </p:txBody>
      </p:sp>
    </p:spTree>
    <p:extLst>
      <p:ext uri="{BB962C8B-B14F-4D97-AF65-F5344CB8AC3E}">
        <p14:creationId xmlns:p14="http://schemas.microsoft.com/office/powerpoint/2010/main" val="2674578376"/>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b="1" kern="1200" baseline="0" dirty="0" smtClean="0">
                <a:solidFill>
                  <a:schemeClr val="tx1"/>
                </a:solidFill>
                <a:ea typeface="+mn-ea"/>
                <a:cs typeface="+mn-cs"/>
              </a:rPr>
              <a:t>Class Activity –  Question</a:t>
            </a:r>
          </a:p>
          <a:p>
            <a:endParaRPr lang="en-AU" sz="1200" b="1" kern="1200" baseline="0" dirty="0" smtClean="0">
              <a:solidFill>
                <a:schemeClr val="tx1"/>
              </a:solidFill>
              <a:ea typeface="+mn-ea"/>
              <a:cs typeface="+mn-cs"/>
            </a:endParaRPr>
          </a:p>
          <a:p>
            <a:pPr>
              <a:buFont typeface="Arial" pitchFamily="34" charset="0"/>
              <a:buChar char="•"/>
            </a:pPr>
            <a:r>
              <a:rPr lang="en-AU" sz="1200" b="0" kern="1200" baseline="0" dirty="0" smtClean="0">
                <a:solidFill>
                  <a:schemeClr val="tx1"/>
                </a:solidFill>
                <a:ea typeface="+mn-ea"/>
                <a:cs typeface="+mn-cs"/>
              </a:rPr>
              <a:t>What types of workplace materials may be prepared?</a:t>
            </a:r>
          </a:p>
          <a:p>
            <a:pPr>
              <a:buFont typeface="Arial" pitchFamily="34" charset="0"/>
              <a:buChar char="•"/>
            </a:pPr>
            <a:r>
              <a:rPr lang="en-AU" sz="1200" b="0" kern="1200" baseline="0" dirty="0" smtClean="0">
                <a:solidFill>
                  <a:schemeClr val="tx1"/>
                </a:solidFill>
                <a:ea typeface="+mn-ea"/>
                <a:cs typeface="+mn-cs"/>
              </a:rPr>
              <a:t>Where would these normally be located?</a:t>
            </a:r>
            <a:endParaRPr lang="en-AU" sz="1200" dirty="0" smtClean="0">
              <a:latin typeface="Helvetica" pitchFamily="34" charset="0"/>
            </a:endParaRP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kern="1200" dirty="0" smtClean="0">
              <a:solidFill>
                <a:schemeClr val="tx1"/>
              </a:solidFill>
              <a:ea typeface="+mn-ea"/>
              <a:cs typeface="+mn-cs"/>
            </a:endParaRPr>
          </a:p>
          <a:p>
            <a:pPr>
              <a:buFont typeface="Arial" pitchFamily="34" charset="0"/>
              <a:buChar char="•"/>
            </a:pPr>
            <a:endParaRPr lang="en-AU" sz="1200" b="0" kern="1200" baseline="0" dirty="0" smtClean="0">
              <a:solidFill>
                <a:schemeClr val="tx1"/>
              </a:solidFill>
              <a:ea typeface="+mn-ea"/>
              <a:cs typeface="+mn-cs"/>
            </a:endParaRPr>
          </a:p>
          <a:p>
            <a:pPr>
              <a:buFont typeface="Arial" pitchFamily="34" charset="0"/>
              <a:buNone/>
            </a:pPr>
            <a:endParaRPr lang="en-AU" sz="1200" b="0" kern="1200" baseline="0" dirty="0" smtClean="0">
              <a:solidFill>
                <a:schemeClr val="tx1"/>
              </a:solidFill>
              <a:ea typeface="+mn-ea"/>
              <a:cs typeface="+mn-cs"/>
            </a:endParaRPr>
          </a:p>
          <a:p>
            <a:pPr>
              <a:buFont typeface="Arial" pitchFamily="34" charset="0"/>
              <a:buNone/>
            </a:pPr>
            <a:endParaRPr lang="en-AU" sz="1200" b="0" kern="1200" baseline="0" dirty="0" smtClean="0">
              <a:solidFill>
                <a:schemeClr val="tx1"/>
              </a:solidFill>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42</a:t>
            </a:fld>
            <a:endParaRPr lang="en-US" dirty="0"/>
          </a:p>
        </p:txBody>
      </p:sp>
    </p:spTree>
    <p:extLst>
      <p:ext uri="{BB962C8B-B14F-4D97-AF65-F5344CB8AC3E}">
        <p14:creationId xmlns:p14="http://schemas.microsoft.com/office/powerpoint/2010/main" val="2019920259"/>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b="1" kern="1200" baseline="0" dirty="0" smtClean="0">
                <a:solidFill>
                  <a:schemeClr val="tx1"/>
                </a:solidFill>
                <a:ea typeface="+mn-ea"/>
                <a:cs typeface="+mn-cs"/>
              </a:rPr>
              <a:t>Class Activity –  Question</a:t>
            </a:r>
          </a:p>
          <a:p>
            <a:endParaRPr lang="en-AU" sz="1200" b="1" kern="1200" baseline="0" dirty="0" smtClean="0">
              <a:solidFill>
                <a:schemeClr val="tx1"/>
              </a:solidFill>
              <a:ea typeface="+mn-ea"/>
              <a:cs typeface="+mn-cs"/>
            </a:endParaRPr>
          </a:p>
          <a:p>
            <a:pPr>
              <a:buFont typeface="Arial" pitchFamily="34" charset="0"/>
              <a:buChar char="•"/>
            </a:pPr>
            <a:r>
              <a:rPr lang="en-AU" sz="1200" b="0" kern="1200" baseline="0" dirty="0" smtClean="0">
                <a:solidFill>
                  <a:schemeClr val="tx1"/>
                </a:solidFill>
                <a:ea typeface="+mn-ea"/>
                <a:cs typeface="+mn-cs"/>
              </a:rPr>
              <a:t>How can you do this?</a:t>
            </a:r>
            <a:endParaRPr lang="en-AU" sz="1200" dirty="0" smtClean="0">
              <a:latin typeface="Helvetica" pitchFamily="34" charset="0"/>
            </a:endParaRP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kern="1200" dirty="0" smtClean="0">
              <a:solidFill>
                <a:schemeClr val="tx1"/>
              </a:solidFill>
              <a:ea typeface="+mn-ea"/>
              <a:cs typeface="+mn-cs"/>
            </a:endParaRPr>
          </a:p>
          <a:p>
            <a:pPr>
              <a:buFont typeface="Arial" pitchFamily="34" charset="0"/>
              <a:buChar char="•"/>
            </a:pPr>
            <a:endParaRPr lang="en-AU" sz="1200" b="0" kern="1200" baseline="0" dirty="0" smtClean="0">
              <a:solidFill>
                <a:schemeClr val="tx1"/>
              </a:solidFill>
              <a:ea typeface="+mn-ea"/>
              <a:cs typeface="+mn-cs"/>
            </a:endParaRPr>
          </a:p>
          <a:p>
            <a:pPr>
              <a:buFont typeface="Arial" pitchFamily="34" charset="0"/>
              <a:buNone/>
            </a:pPr>
            <a:endParaRPr lang="en-AU" sz="1200" b="0" kern="1200" baseline="0" dirty="0" smtClean="0">
              <a:solidFill>
                <a:schemeClr val="tx1"/>
              </a:solidFill>
              <a:ea typeface="+mn-ea"/>
              <a:cs typeface="+mn-cs"/>
            </a:endParaRPr>
          </a:p>
          <a:p>
            <a:pPr>
              <a:buFont typeface="Arial" pitchFamily="34" charset="0"/>
              <a:buNone/>
            </a:pPr>
            <a:endParaRPr lang="en-AU" sz="1200" b="0" kern="1200" baseline="0" dirty="0" smtClean="0">
              <a:solidFill>
                <a:schemeClr val="tx1"/>
              </a:solidFill>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43</a:t>
            </a:fld>
            <a:endParaRPr lang="en-US" dirty="0"/>
          </a:p>
        </p:txBody>
      </p:sp>
    </p:spTree>
    <p:extLst>
      <p:ext uri="{BB962C8B-B14F-4D97-AF65-F5344CB8AC3E}">
        <p14:creationId xmlns:p14="http://schemas.microsoft.com/office/powerpoint/2010/main" val="3777252524"/>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b="1" kern="1200" baseline="0" dirty="0" smtClean="0">
                <a:solidFill>
                  <a:schemeClr val="tx1"/>
                </a:solidFill>
                <a:ea typeface="+mn-ea"/>
                <a:cs typeface="+mn-cs"/>
              </a:rPr>
              <a:t>Class Activity –  Discussion &amp; Questions</a:t>
            </a:r>
          </a:p>
          <a:p>
            <a:endParaRPr lang="en-AU" sz="1200" b="1" kern="1200" baseline="0" dirty="0" smtClean="0">
              <a:solidFill>
                <a:schemeClr val="tx1"/>
              </a:solidFill>
              <a:ea typeface="+mn-ea"/>
              <a:cs typeface="+mn-cs"/>
            </a:endParaRPr>
          </a:p>
          <a:p>
            <a:pPr>
              <a:buFont typeface="Arial" pitchFamily="34" charset="0"/>
              <a:buChar char="•"/>
            </a:pPr>
            <a:r>
              <a:rPr lang="en-AU" sz="1200" b="0" kern="1200" baseline="0" dirty="0" smtClean="0">
                <a:solidFill>
                  <a:schemeClr val="tx1"/>
                </a:solidFill>
                <a:ea typeface="+mn-ea"/>
                <a:cs typeface="+mn-cs"/>
              </a:rPr>
              <a:t>Discus points</a:t>
            </a:r>
          </a:p>
          <a:p>
            <a:pPr>
              <a:buFont typeface="Arial" pitchFamily="34" charset="0"/>
              <a:buChar char="•"/>
            </a:pPr>
            <a:r>
              <a:rPr lang="en-AU" sz="1200" b="0" kern="1200" baseline="0" dirty="0" smtClean="0">
                <a:solidFill>
                  <a:schemeClr val="tx1"/>
                </a:solidFill>
                <a:ea typeface="+mn-ea"/>
                <a:cs typeface="+mn-cs"/>
              </a:rPr>
              <a:t>When would you prepare specific information?</a:t>
            </a:r>
          </a:p>
          <a:p>
            <a:pPr>
              <a:buFont typeface="Arial" pitchFamily="34" charset="0"/>
              <a:buChar char="•"/>
            </a:pPr>
            <a:r>
              <a:rPr lang="en-AU" sz="1200" b="0" kern="1200" baseline="0" dirty="0" smtClean="0">
                <a:solidFill>
                  <a:schemeClr val="tx1"/>
                </a:solidFill>
                <a:ea typeface="+mn-ea"/>
                <a:cs typeface="+mn-cs"/>
              </a:rPr>
              <a:t>What are specific needs you would need to tailor resources and materials for?</a:t>
            </a:r>
            <a:endParaRPr lang="en-AU" sz="1200" dirty="0" smtClean="0">
              <a:latin typeface="Helvetica" pitchFamily="34" charset="0"/>
            </a:endParaRP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kern="1200" dirty="0" smtClean="0">
              <a:solidFill>
                <a:schemeClr val="tx1"/>
              </a:solidFill>
              <a:ea typeface="+mn-ea"/>
              <a:cs typeface="+mn-cs"/>
            </a:endParaRPr>
          </a:p>
          <a:p>
            <a:pPr>
              <a:buFont typeface="Arial" pitchFamily="34" charset="0"/>
              <a:buChar char="•"/>
            </a:pPr>
            <a:endParaRPr lang="en-AU" sz="1200" b="0" kern="1200" baseline="0" dirty="0" smtClean="0">
              <a:solidFill>
                <a:schemeClr val="tx1"/>
              </a:solidFill>
              <a:ea typeface="+mn-ea"/>
              <a:cs typeface="+mn-cs"/>
            </a:endParaRPr>
          </a:p>
          <a:p>
            <a:pPr>
              <a:buFont typeface="Arial" pitchFamily="34" charset="0"/>
              <a:buNone/>
            </a:pPr>
            <a:endParaRPr lang="en-AU" sz="1200" b="0" kern="1200" baseline="0" dirty="0" smtClean="0">
              <a:solidFill>
                <a:schemeClr val="tx1"/>
              </a:solidFill>
              <a:ea typeface="+mn-ea"/>
              <a:cs typeface="+mn-cs"/>
            </a:endParaRPr>
          </a:p>
          <a:p>
            <a:pPr>
              <a:buFont typeface="Arial" pitchFamily="34" charset="0"/>
              <a:buNone/>
            </a:pPr>
            <a:endParaRPr lang="en-AU" sz="1200" b="0" kern="1200" baseline="0" dirty="0" smtClean="0">
              <a:solidFill>
                <a:schemeClr val="tx1"/>
              </a:solidFill>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44</a:t>
            </a:fld>
            <a:endParaRPr lang="en-US" dirty="0"/>
          </a:p>
        </p:txBody>
      </p:sp>
    </p:spTree>
    <p:extLst>
      <p:ext uri="{BB962C8B-B14F-4D97-AF65-F5344CB8AC3E}">
        <p14:creationId xmlns:p14="http://schemas.microsoft.com/office/powerpoint/2010/main" val="29182456"/>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b="1" kern="1200" baseline="0" dirty="0" smtClean="0">
                <a:solidFill>
                  <a:schemeClr val="tx1"/>
                </a:solidFill>
                <a:ea typeface="+mn-ea"/>
                <a:cs typeface="+mn-cs"/>
              </a:rPr>
              <a:t>Class Activity –  Questions</a:t>
            </a:r>
          </a:p>
          <a:p>
            <a:endParaRPr lang="en-AU" sz="1200" b="1" kern="1200" baseline="0" dirty="0" smtClean="0">
              <a:solidFill>
                <a:schemeClr val="tx1"/>
              </a:solidFill>
              <a:ea typeface="+mn-ea"/>
              <a:cs typeface="+mn-cs"/>
            </a:endParaRPr>
          </a:p>
          <a:p>
            <a:pPr>
              <a:buFont typeface="Arial" pitchFamily="34" charset="0"/>
              <a:buChar char="•"/>
            </a:pPr>
            <a:r>
              <a:rPr lang="en-AU" sz="1200" b="0" kern="1200" baseline="0" dirty="0" smtClean="0">
                <a:solidFill>
                  <a:schemeClr val="tx1"/>
                </a:solidFill>
                <a:ea typeface="+mn-ea"/>
                <a:cs typeface="+mn-cs"/>
              </a:rPr>
              <a:t>When would these be used?</a:t>
            </a:r>
          </a:p>
          <a:p>
            <a:pPr>
              <a:buFont typeface="Arial" pitchFamily="34" charset="0"/>
              <a:buChar char="•"/>
            </a:pPr>
            <a:r>
              <a:rPr lang="en-AU" sz="1200" b="0" kern="1200" baseline="0" dirty="0" smtClean="0">
                <a:solidFill>
                  <a:schemeClr val="tx1"/>
                </a:solidFill>
                <a:ea typeface="+mn-ea"/>
                <a:cs typeface="+mn-cs"/>
              </a:rPr>
              <a:t>What are the benefits of using externally run training events?</a:t>
            </a:r>
            <a:endParaRPr lang="en-AU" sz="1200" b="0" kern="1200" dirty="0" smtClean="0">
              <a:solidFill>
                <a:schemeClr val="tx1"/>
              </a:solidFill>
              <a:ea typeface="+mn-ea"/>
              <a:cs typeface="+mn-cs"/>
            </a:endParaRPr>
          </a:p>
          <a:p>
            <a:pPr>
              <a:buFont typeface="Arial" pitchFamily="34" charset="0"/>
              <a:buChar char="•"/>
            </a:pPr>
            <a:endParaRPr lang="en-AU" sz="1200" b="0" kern="1200" baseline="0" dirty="0" smtClean="0">
              <a:solidFill>
                <a:schemeClr val="tx1"/>
              </a:solidFill>
              <a:ea typeface="+mn-ea"/>
              <a:cs typeface="+mn-cs"/>
            </a:endParaRPr>
          </a:p>
          <a:p>
            <a:pPr>
              <a:buFont typeface="Arial" pitchFamily="34" charset="0"/>
              <a:buNone/>
            </a:pPr>
            <a:endParaRPr lang="en-AU" sz="1200" b="0" kern="1200" baseline="0" dirty="0" smtClean="0">
              <a:solidFill>
                <a:schemeClr val="tx1"/>
              </a:solidFill>
              <a:ea typeface="+mn-ea"/>
              <a:cs typeface="+mn-cs"/>
            </a:endParaRPr>
          </a:p>
          <a:p>
            <a:pPr>
              <a:buFont typeface="Arial" pitchFamily="34" charset="0"/>
              <a:buNone/>
            </a:pPr>
            <a:endParaRPr lang="en-AU" sz="1200" b="0" kern="1200" baseline="0" dirty="0" smtClean="0">
              <a:solidFill>
                <a:schemeClr val="tx1"/>
              </a:solidFill>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45</a:t>
            </a:fld>
            <a:endParaRPr lang="en-US" dirty="0"/>
          </a:p>
        </p:txBody>
      </p:sp>
    </p:spTree>
    <p:extLst>
      <p:ext uri="{BB962C8B-B14F-4D97-AF65-F5344CB8AC3E}">
        <p14:creationId xmlns:p14="http://schemas.microsoft.com/office/powerpoint/2010/main" val="2678010789"/>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b="1" kern="1200" baseline="0" dirty="0" smtClean="0">
                <a:solidFill>
                  <a:schemeClr val="tx1"/>
                </a:solidFill>
                <a:ea typeface="+mn-ea"/>
                <a:cs typeface="+mn-cs"/>
              </a:rPr>
              <a:t>Class Activity –  Questions</a:t>
            </a:r>
          </a:p>
          <a:p>
            <a:endParaRPr lang="en-AU" sz="1200" b="1" kern="1200" baseline="0" dirty="0" smtClean="0">
              <a:solidFill>
                <a:schemeClr val="tx1"/>
              </a:solidFill>
              <a:ea typeface="+mn-ea"/>
              <a:cs typeface="+mn-cs"/>
            </a:endParaRPr>
          </a:p>
          <a:p>
            <a:pPr>
              <a:buFont typeface="Arial" pitchFamily="34" charset="0"/>
              <a:buChar char="•"/>
            </a:pPr>
            <a:r>
              <a:rPr lang="en-AU" sz="1200" b="0" kern="1200" baseline="0" dirty="0" smtClean="0">
                <a:solidFill>
                  <a:schemeClr val="tx1"/>
                </a:solidFill>
                <a:ea typeface="+mn-ea"/>
                <a:cs typeface="+mn-cs"/>
              </a:rPr>
              <a:t>When would each of these event types be used?</a:t>
            </a:r>
          </a:p>
          <a:p>
            <a:pPr>
              <a:buFont typeface="Arial" pitchFamily="34" charset="0"/>
              <a:buChar char="•"/>
            </a:pPr>
            <a:r>
              <a:rPr lang="en-AU" sz="1200" b="0" kern="1200" baseline="0" dirty="0" smtClean="0">
                <a:solidFill>
                  <a:schemeClr val="tx1"/>
                </a:solidFill>
                <a:ea typeface="+mn-ea"/>
                <a:cs typeface="+mn-cs"/>
              </a:rPr>
              <a:t>What training would they focus on?</a:t>
            </a:r>
            <a:endParaRPr lang="en-AU" sz="1200" b="0" kern="1200" dirty="0" smtClean="0">
              <a:solidFill>
                <a:schemeClr val="tx1"/>
              </a:solidFill>
              <a:ea typeface="+mn-ea"/>
              <a:cs typeface="+mn-cs"/>
            </a:endParaRPr>
          </a:p>
          <a:p>
            <a:pPr>
              <a:buFont typeface="Arial" pitchFamily="34" charset="0"/>
              <a:buChar char="•"/>
            </a:pPr>
            <a:endParaRPr lang="en-AU" sz="1200" b="0" kern="1200" baseline="0" dirty="0" smtClean="0">
              <a:solidFill>
                <a:schemeClr val="tx1"/>
              </a:solidFill>
              <a:ea typeface="+mn-ea"/>
              <a:cs typeface="+mn-cs"/>
            </a:endParaRPr>
          </a:p>
          <a:p>
            <a:pPr>
              <a:buFont typeface="Arial" pitchFamily="34" charset="0"/>
              <a:buNone/>
            </a:pPr>
            <a:endParaRPr lang="en-AU" sz="1200" b="0" kern="1200" baseline="0" dirty="0" smtClean="0">
              <a:solidFill>
                <a:schemeClr val="tx1"/>
              </a:solidFill>
              <a:ea typeface="+mn-ea"/>
              <a:cs typeface="+mn-cs"/>
            </a:endParaRPr>
          </a:p>
          <a:p>
            <a:pPr>
              <a:buFont typeface="Arial" pitchFamily="34" charset="0"/>
              <a:buNone/>
            </a:pPr>
            <a:endParaRPr lang="en-AU" sz="1200" b="0" kern="1200" baseline="0" dirty="0" smtClean="0">
              <a:solidFill>
                <a:schemeClr val="tx1"/>
              </a:solidFill>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46</a:t>
            </a:fld>
            <a:endParaRPr lang="en-US" dirty="0"/>
          </a:p>
        </p:txBody>
      </p:sp>
    </p:spTree>
    <p:extLst>
      <p:ext uri="{BB962C8B-B14F-4D97-AF65-F5344CB8AC3E}">
        <p14:creationId xmlns:p14="http://schemas.microsoft.com/office/powerpoint/2010/main" val="1673356125"/>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b="1" kern="1200" baseline="0" dirty="0" smtClean="0">
                <a:solidFill>
                  <a:schemeClr val="tx1"/>
                </a:solidFill>
                <a:ea typeface="+mn-ea"/>
                <a:cs typeface="+mn-cs"/>
              </a:rPr>
              <a:t>Class Activity –  Questions</a:t>
            </a:r>
          </a:p>
          <a:p>
            <a:endParaRPr lang="en-AU" sz="1200" b="1" kern="1200" baseline="0" dirty="0" smtClean="0">
              <a:solidFill>
                <a:schemeClr val="tx1"/>
              </a:solidFill>
              <a:ea typeface="+mn-ea"/>
              <a:cs typeface="+mn-cs"/>
            </a:endParaRPr>
          </a:p>
          <a:p>
            <a:pPr>
              <a:buFont typeface="Arial" pitchFamily="34" charset="0"/>
              <a:buChar char="•"/>
            </a:pPr>
            <a:r>
              <a:rPr lang="en-AU" sz="1200" b="0" kern="1200" baseline="0" dirty="0" smtClean="0">
                <a:solidFill>
                  <a:schemeClr val="tx1"/>
                </a:solidFill>
                <a:ea typeface="+mn-ea"/>
                <a:cs typeface="+mn-cs"/>
              </a:rPr>
              <a:t>When would each of these event types be used?</a:t>
            </a:r>
          </a:p>
          <a:p>
            <a:pPr>
              <a:buFont typeface="Arial" pitchFamily="34" charset="0"/>
              <a:buChar char="•"/>
            </a:pPr>
            <a:r>
              <a:rPr lang="en-AU" sz="1200" b="0" kern="1200" baseline="0" dirty="0" smtClean="0">
                <a:solidFill>
                  <a:schemeClr val="tx1"/>
                </a:solidFill>
                <a:ea typeface="+mn-ea"/>
                <a:cs typeface="+mn-cs"/>
              </a:rPr>
              <a:t>What training would they focus on?</a:t>
            </a:r>
            <a:endParaRPr lang="en-AU" sz="1200" b="0" kern="1200" dirty="0" smtClean="0">
              <a:solidFill>
                <a:schemeClr val="tx1"/>
              </a:solidFill>
              <a:ea typeface="+mn-ea"/>
              <a:cs typeface="+mn-cs"/>
            </a:endParaRPr>
          </a:p>
          <a:p>
            <a:pPr>
              <a:buFont typeface="Arial" pitchFamily="34" charset="0"/>
              <a:buChar char="•"/>
            </a:pPr>
            <a:endParaRPr lang="en-AU" sz="1200" b="0" kern="1200" baseline="0" dirty="0" smtClean="0">
              <a:solidFill>
                <a:schemeClr val="tx1"/>
              </a:solidFill>
              <a:ea typeface="+mn-ea"/>
              <a:cs typeface="+mn-cs"/>
            </a:endParaRPr>
          </a:p>
          <a:p>
            <a:pPr>
              <a:buFont typeface="Arial" pitchFamily="34" charset="0"/>
              <a:buNone/>
            </a:pPr>
            <a:endParaRPr lang="en-AU" sz="1200" b="0" kern="1200" baseline="0" dirty="0" smtClean="0">
              <a:solidFill>
                <a:schemeClr val="tx1"/>
              </a:solidFill>
              <a:ea typeface="+mn-ea"/>
              <a:cs typeface="+mn-cs"/>
            </a:endParaRPr>
          </a:p>
          <a:p>
            <a:pPr>
              <a:buFont typeface="Arial" pitchFamily="34" charset="0"/>
              <a:buNone/>
            </a:pPr>
            <a:endParaRPr lang="en-AU" sz="1200" b="0" kern="1200" baseline="0" dirty="0" smtClean="0">
              <a:solidFill>
                <a:schemeClr val="tx1"/>
              </a:solidFill>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47</a:t>
            </a:fld>
            <a:endParaRPr lang="en-US" dirty="0"/>
          </a:p>
        </p:txBody>
      </p:sp>
    </p:spTree>
    <p:extLst>
      <p:ext uri="{BB962C8B-B14F-4D97-AF65-F5344CB8AC3E}">
        <p14:creationId xmlns:p14="http://schemas.microsoft.com/office/powerpoint/2010/main" val="3838419796"/>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b="1" kern="1200" baseline="0" dirty="0" smtClean="0">
                <a:solidFill>
                  <a:schemeClr val="tx1"/>
                </a:solidFill>
                <a:ea typeface="+mn-ea"/>
                <a:cs typeface="+mn-cs"/>
              </a:rPr>
              <a:t>Class Activity –  Questions</a:t>
            </a:r>
          </a:p>
          <a:p>
            <a:endParaRPr lang="en-AU" sz="1200" b="1" kern="1200" baseline="0" dirty="0" smtClean="0">
              <a:solidFill>
                <a:schemeClr val="tx1"/>
              </a:solidFill>
              <a:ea typeface="+mn-ea"/>
              <a:cs typeface="+mn-cs"/>
            </a:endParaRPr>
          </a:p>
          <a:p>
            <a:pPr>
              <a:buFont typeface="Arial" pitchFamily="34" charset="0"/>
              <a:buChar char="•"/>
            </a:pPr>
            <a:r>
              <a:rPr lang="en-AU" sz="1200" b="0" kern="1200" baseline="0" dirty="0" smtClean="0">
                <a:solidFill>
                  <a:schemeClr val="tx1"/>
                </a:solidFill>
                <a:ea typeface="+mn-ea"/>
                <a:cs typeface="+mn-cs"/>
              </a:rPr>
              <a:t>When would each of these event types be used?</a:t>
            </a:r>
          </a:p>
          <a:p>
            <a:pPr>
              <a:buFont typeface="Arial" pitchFamily="34" charset="0"/>
              <a:buChar char="•"/>
            </a:pPr>
            <a:r>
              <a:rPr lang="en-AU" sz="1200" b="0" kern="1200" baseline="0" dirty="0" smtClean="0">
                <a:solidFill>
                  <a:schemeClr val="tx1"/>
                </a:solidFill>
                <a:ea typeface="+mn-ea"/>
                <a:cs typeface="+mn-cs"/>
              </a:rPr>
              <a:t>What training would they focus on?</a:t>
            </a:r>
            <a:endParaRPr lang="en-AU" sz="1200" b="0" kern="1200" dirty="0" smtClean="0">
              <a:solidFill>
                <a:schemeClr val="tx1"/>
              </a:solidFill>
              <a:ea typeface="+mn-ea"/>
              <a:cs typeface="+mn-cs"/>
            </a:endParaRPr>
          </a:p>
          <a:p>
            <a:pPr>
              <a:buFont typeface="Arial" pitchFamily="34" charset="0"/>
              <a:buChar char="•"/>
            </a:pPr>
            <a:endParaRPr lang="en-AU" sz="1200" b="0" kern="1200" baseline="0" dirty="0" smtClean="0">
              <a:solidFill>
                <a:schemeClr val="tx1"/>
              </a:solidFill>
              <a:ea typeface="+mn-ea"/>
              <a:cs typeface="+mn-cs"/>
            </a:endParaRPr>
          </a:p>
          <a:p>
            <a:pPr>
              <a:buFont typeface="Arial" pitchFamily="34" charset="0"/>
              <a:buNone/>
            </a:pPr>
            <a:endParaRPr lang="en-AU" sz="1200" b="0" kern="1200" baseline="0" dirty="0" smtClean="0">
              <a:solidFill>
                <a:schemeClr val="tx1"/>
              </a:solidFill>
              <a:ea typeface="+mn-ea"/>
              <a:cs typeface="+mn-cs"/>
            </a:endParaRPr>
          </a:p>
          <a:p>
            <a:pPr>
              <a:buFont typeface="Arial" pitchFamily="34" charset="0"/>
              <a:buNone/>
            </a:pPr>
            <a:endParaRPr lang="en-AU" sz="1200" b="0" kern="1200" baseline="0" dirty="0" smtClean="0">
              <a:solidFill>
                <a:schemeClr val="tx1"/>
              </a:solidFill>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48</a:t>
            </a:fld>
            <a:endParaRPr lang="en-US" dirty="0"/>
          </a:p>
        </p:txBody>
      </p:sp>
    </p:spTree>
    <p:extLst>
      <p:ext uri="{BB962C8B-B14F-4D97-AF65-F5344CB8AC3E}">
        <p14:creationId xmlns:p14="http://schemas.microsoft.com/office/powerpoint/2010/main" val="2782109898"/>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b="1" kern="1200" baseline="0" dirty="0" smtClean="0">
                <a:solidFill>
                  <a:schemeClr val="tx1"/>
                </a:solidFill>
                <a:ea typeface="+mn-ea"/>
                <a:cs typeface="+mn-cs"/>
              </a:rPr>
              <a:t>Class Activity –  Questions</a:t>
            </a:r>
          </a:p>
          <a:p>
            <a:endParaRPr lang="en-AU" sz="1200" b="1" kern="1200" baseline="0" dirty="0" smtClean="0">
              <a:solidFill>
                <a:schemeClr val="tx1"/>
              </a:solidFill>
              <a:ea typeface="+mn-ea"/>
              <a:cs typeface="+mn-cs"/>
            </a:endParaRPr>
          </a:p>
          <a:p>
            <a:pPr>
              <a:buFont typeface="Arial" pitchFamily="34" charset="0"/>
              <a:buChar char="•"/>
            </a:pPr>
            <a:r>
              <a:rPr lang="en-AU" sz="1200" b="0" kern="1200" baseline="0" dirty="0" smtClean="0">
                <a:solidFill>
                  <a:schemeClr val="tx1"/>
                </a:solidFill>
                <a:ea typeface="+mn-ea"/>
                <a:cs typeface="+mn-cs"/>
              </a:rPr>
              <a:t>When would each of these event types be used?</a:t>
            </a:r>
          </a:p>
          <a:p>
            <a:pPr>
              <a:buFont typeface="Arial" pitchFamily="34" charset="0"/>
              <a:buChar char="•"/>
            </a:pPr>
            <a:r>
              <a:rPr lang="en-AU" sz="1200" b="0" kern="1200" baseline="0" dirty="0" smtClean="0">
                <a:solidFill>
                  <a:schemeClr val="tx1"/>
                </a:solidFill>
                <a:ea typeface="+mn-ea"/>
                <a:cs typeface="+mn-cs"/>
              </a:rPr>
              <a:t>What training would they focus on?</a:t>
            </a:r>
            <a:endParaRPr lang="en-AU" sz="1200" b="0" kern="1200" dirty="0" smtClean="0">
              <a:solidFill>
                <a:schemeClr val="tx1"/>
              </a:solidFill>
              <a:ea typeface="+mn-ea"/>
              <a:cs typeface="+mn-cs"/>
            </a:endParaRPr>
          </a:p>
          <a:p>
            <a:pPr>
              <a:buFont typeface="Arial" pitchFamily="34" charset="0"/>
              <a:buNone/>
            </a:pPr>
            <a:endParaRPr lang="en-AU" sz="1200" b="0" kern="1200" baseline="0" dirty="0" smtClean="0">
              <a:solidFill>
                <a:schemeClr val="tx1"/>
              </a:solidFill>
              <a:ea typeface="+mn-ea"/>
              <a:cs typeface="+mn-cs"/>
            </a:endParaRPr>
          </a:p>
          <a:p>
            <a:pPr>
              <a:buFont typeface="Arial" pitchFamily="34" charset="0"/>
              <a:buNone/>
            </a:pPr>
            <a:endParaRPr lang="en-AU" sz="1200" b="0" kern="1200" baseline="0" dirty="0" smtClean="0">
              <a:solidFill>
                <a:schemeClr val="tx1"/>
              </a:solidFill>
              <a:ea typeface="+mn-ea"/>
              <a:cs typeface="+mn-cs"/>
            </a:endParaRPr>
          </a:p>
          <a:p>
            <a:pPr>
              <a:buFont typeface="Arial" pitchFamily="34" charset="0"/>
              <a:buNone/>
            </a:pPr>
            <a:endParaRPr lang="en-AU" sz="1200" b="0" kern="1200" baseline="0" dirty="0" smtClean="0">
              <a:solidFill>
                <a:schemeClr val="tx1"/>
              </a:solidFill>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49</a:t>
            </a:fld>
            <a:endParaRPr lang="en-US" dirty="0"/>
          </a:p>
        </p:txBody>
      </p:sp>
    </p:spTree>
    <p:extLst>
      <p:ext uri="{BB962C8B-B14F-4D97-AF65-F5344CB8AC3E}">
        <p14:creationId xmlns:p14="http://schemas.microsoft.com/office/powerpoint/2010/main" val="294357486"/>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b="1" kern="1200" baseline="0" dirty="0" smtClean="0">
                <a:solidFill>
                  <a:schemeClr val="tx1"/>
                </a:solidFill>
                <a:ea typeface="+mn-ea"/>
                <a:cs typeface="+mn-cs"/>
              </a:rPr>
              <a:t>Class Activity –  Questions</a:t>
            </a:r>
          </a:p>
          <a:p>
            <a:endParaRPr lang="en-AU" sz="1200" b="1" kern="1200" baseline="0" dirty="0" smtClean="0">
              <a:solidFill>
                <a:schemeClr val="tx1"/>
              </a:solidFill>
              <a:ea typeface="+mn-ea"/>
              <a:cs typeface="+mn-cs"/>
            </a:endParaRPr>
          </a:p>
          <a:p>
            <a:pPr>
              <a:buFont typeface="Arial" pitchFamily="34" charset="0"/>
              <a:buChar char="•"/>
            </a:pPr>
            <a:r>
              <a:rPr lang="en-AU" sz="1200" b="0" kern="1200" baseline="0" dirty="0" smtClean="0">
                <a:solidFill>
                  <a:schemeClr val="tx1"/>
                </a:solidFill>
                <a:ea typeface="+mn-ea"/>
                <a:cs typeface="+mn-cs"/>
              </a:rPr>
              <a:t>Discuss what information can be gathered from each source.</a:t>
            </a:r>
            <a:endParaRPr lang="en-AU" sz="1200" b="0" kern="1200" dirty="0" smtClean="0">
              <a:solidFill>
                <a:schemeClr val="tx1"/>
              </a:solidFill>
              <a:ea typeface="+mn-ea"/>
              <a:cs typeface="+mn-cs"/>
            </a:endParaRPr>
          </a:p>
          <a:p>
            <a:pPr>
              <a:buFont typeface="Arial" pitchFamily="34" charset="0"/>
              <a:buNone/>
            </a:pPr>
            <a:endParaRPr lang="en-AU" sz="1200" b="0" kern="1200" baseline="0" dirty="0" smtClean="0">
              <a:solidFill>
                <a:schemeClr val="tx1"/>
              </a:solidFill>
              <a:ea typeface="+mn-ea"/>
              <a:cs typeface="+mn-cs"/>
            </a:endParaRPr>
          </a:p>
          <a:p>
            <a:pPr>
              <a:buFont typeface="Arial" pitchFamily="34" charset="0"/>
              <a:buNone/>
            </a:pPr>
            <a:endParaRPr lang="en-AU" sz="1200" b="0" kern="1200" baseline="0" dirty="0" smtClean="0">
              <a:solidFill>
                <a:schemeClr val="tx1"/>
              </a:solidFill>
              <a:ea typeface="+mn-ea"/>
              <a:cs typeface="+mn-cs"/>
            </a:endParaRPr>
          </a:p>
          <a:p>
            <a:pPr>
              <a:buFont typeface="Arial" pitchFamily="34" charset="0"/>
              <a:buNone/>
            </a:pPr>
            <a:endParaRPr lang="en-AU" sz="1200" b="0" kern="1200" baseline="0" dirty="0" smtClean="0">
              <a:solidFill>
                <a:schemeClr val="tx1"/>
              </a:solidFill>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50</a:t>
            </a:fld>
            <a:endParaRPr lang="en-US" dirty="0"/>
          </a:p>
        </p:txBody>
      </p:sp>
    </p:spTree>
    <p:extLst>
      <p:ext uri="{BB962C8B-B14F-4D97-AF65-F5344CB8AC3E}">
        <p14:creationId xmlns:p14="http://schemas.microsoft.com/office/powerpoint/2010/main" val="256890285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b="1" kern="1200" baseline="0" dirty="0" smtClean="0">
                <a:solidFill>
                  <a:schemeClr val="tx1"/>
                </a:solidFill>
                <a:ea typeface="+mn-ea"/>
                <a:cs typeface="+mn-cs"/>
              </a:rPr>
              <a:t>Class Activity –  Questions</a:t>
            </a:r>
          </a:p>
          <a:p>
            <a:endParaRPr lang="en-AU" sz="1200" b="1" kern="1200" baseline="0" dirty="0" smtClean="0">
              <a:solidFill>
                <a:schemeClr val="tx1"/>
              </a:solidFill>
              <a:ea typeface="+mn-ea"/>
              <a:cs typeface="+mn-cs"/>
            </a:endParaRPr>
          </a:p>
          <a:p>
            <a:pPr>
              <a:buFont typeface="Arial" pitchFamily="34" charset="0"/>
              <a:buChar char="•"/>
            </a:pPr>
            <a:r>
              <a:rPr lang="en-AU" sz="1200" b="0" kern="1200" baseline="0" dirty="0" smtClean="0">
                <a:solidFill>
                  <a:schemeClr val="tx1"/>
                </a:solidFill>
                <a:ea typeface="+mn-ea"/>
                <a:cs typeface="+mn-cs"/>
              </a:rPr>
              <a:t>Discuss what information can be gathered from each source.</a:t>
            </a:r>
            <a:endParaRPr lang="en-AU" sz="1200" b="0" kern="1200" dirty="0" smtClean="0">
              <a:solidFill>
                <a:schemeClr val="tx1"/>
              </a:solidFill>
              <a:ea typeface="+mn-ea"/>
              <a:cs typeface="+mn-cs"/>
            </a:endParaRPr>
          </a:p>
          <a:p>
            <a:pPr>
              <a:buFont typeface="Arial" pitchFamily="34" charset="0"/>
              <a:buNone/>
            </a:pPr>
            <a:endParaRPr lang="en-AU" sz="1200" b="0" kern="1200" baseline="0" dirty="0" smtClean="0">
              <a:solidFill>
                <a:schemeClr val="tx1"/>
              </a:solidFill>
              <a:ea typeface="+mn-ea"/>
              <a:cs typeface="+mn-cs"/>
            </a:endParaRPr>
          </a:p>
          <a:p>
            <a:pPr>
              <a:buFont typeface="Arial" pitchFamily="34" charset="0"/>
              <a:buNone/>
            </a:pPr>
            <a:endParaRPr lang="en-AU" sz="1200" b="0" kern="1200" baseline="0" dirty="0" smtClean="0">
              <a:solidFill>
                <a:schemeClr val="tx1"/>
              </a:solidFill>
              <a:ea typeface="+mn-ea"/>
              <a:cs typeface="+mn-cs"/>
            </a:endParaRPr>
          </a:p>
          <a:p>
            <a:pPr>
              <a:buFont typeface="Arial" pitchFamily="34" charset="0"/>
              <a:buNone/>
            </a:pPr>
            <a:endParaRPr lang="en-AU" sz="1200" b="0" kern="1200" baseline="0" dirty="0" smtClean="0">
              <a:solidFill>
                <a:schemeClr val="tx1"/>
              </a:solidFill>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51</a:t>
            </a:fld>
            <a:endParaRPr lang="en-US" dirty="0"/>
          </a:p>
        </p:txBody>
      </p:sp>
    </p:spTree>
    <p:extLst>
      <p:ext uri="{BB962C8B-B14F-4D97-AF65-F5344CB8AC3E}">
        <p14:creationId xmlns:p14="http://schemas.microsoft.com/office/powerpoint/2010/main" val="3346603222"/>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b="1" kern="1200" baseline="0" dirty="0" smtClean="0">
                <a:solidFill>
                  <a:schemeClr val="tx1"/>
                </a:solidFill>
                <a:ea typeface="+mn-ea"/>
                <a:cs typeface="+mn-cs"/>
              </a:rPr>
              <a:t>Class Activity – Questions</a:t>
            </a:r>
          </a:p>
          <a:p>
            <a:endParaRPr lang="en-AU" sz="1200" b="1" kern="1200" baseline="0" dirty="0" smtClean="0">
              <a:solidFill>
                <a:schemeClr val="tx1"/>
              </a:solidFill>
              <a:ea typeface="+mn-ea"/>
              <a:cs typeface="+mn-cs"/>
            </a:endParaRPr>
          </a:p>
          <a:p>
            <a:pPr lvl="0">
              <a:buFont typeface="Arial" pitchFamily="34" charset="0"/>
              <a:buChar char="•"/>
            </a:pPr>
            <a:r>
              <a:rPr lang="en-AU" sz="1200" b="0" kern="1200" baseline="0" dirty="0" smtClean="0">
                <a:solidFill>
                  <a:schemeClr val="tx1"/>
                </a:solidFill>
                <a:ea typeface="+mn-ea"/>
                <a:cs typeface="+mn-cs"/>
              </a:rPr>
              <a:t>What is the importance of each of these stakeholders?</a:t>
            </a:r>
          </a:p>
          <a:p>
            <a:pPr lvl="0">
              <a:buFont typeface="Arial" pitchFamily="34" charset="0"/>
              <a:buChar char="•"/>
            </a:pPr>
            <a:r>
              <a:rPr lang="en-AU" sz="1200" b="0" kern="1200" baseline="0" dirty="0" smtClean="0">
                <a:solidFill>
                  <a:schemeClr val="tx1"/>
                </a:solidFill>
                <a:ea typeface="+mn-ea"/>
                <a:cs typeface="+mn-cs"/>
              </a:rPr>
              <a:t>What information, skills or decisions do they bring to assist when planning training activities?</a:t>
            </a:r>
          </a:p>
        </p:txBody>
      </p:sp>
      <p:sp>
        <p:nvSpPr>
          <p:cNvPr id="4" name="Slide Number Placeholder 3"/>
          <p:cNvSpPr>
            <a:spLocks noGrp="1"/>
          </p:cNvSpPr>
          <p:nvPr>
            <p:ph type="sldNum" sz="quarter" idx="10"/>
          </p:nvPr>
        </p:nvSpPr>
        <p:spPr/>
        <p:txBody>
          <a:bodyPr/>
          <a:lstStyle/>
          <a:p>
            <a:fld id="{006CD3C9-0AF2-437D-9D2F-7B6B298CC32F}" type="slidenum">
              <a:rPr lang="en-US" smtClean="0"/>
              <a:pPr/>
              <a:t>52</a:t>
            </a:fld>
            <a:endParaRPr lang="en-US" dirty="0"/>
          </a:p>
        </p:txBody>
      </p:sp>
    </p:spTree>
    <p:extLst>
      <p:ext uri="{BB962C8B-B14F-4D97-AF65-F5344CB8AC3E}">
        <p14:creationId xmlns:p14="http://schemas.microsoft.com/office/powerpoint/2010/main" val="717709062"/>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b="1" kern="1200" baseline="0" dirty="0" smtClean="0">
                <a:solidFill>
                  <a:schemeClr val="tx1"/>
                </a:solidFill>
                <a:ea typeface="+mn-ea"/>
                <a:cs typeface="+mn-cs"/>
              </a:rPr>
              <a:t>Class Activity – Questions</a:t>
            </a:r>
          </a:p>
          <a:p>
            <a:endParaRPr lang="en-AU" sz="1200" b="1" kern="1200" baseline="0" dirty="0" smtClean="0">
              <a:solidFill>
                <a:schemeClr val="tx1"/>
              </a:solidFill>
              <a:ea typeface="+mn-ea"/>
              <a:cs typeface="+mn-cs"/>
            </a:endParaRPr>
          </a:p>
          <a:p>
            <a:pPr lvl="0">
              <a:buFont typeface="Arial" pitchFamily="34" charset="0"/>
              <a:buChar char="•"/>
            </a:pPr>
            <a:r>
              <a:rPr lang="en-AU" sz="1200" b="0" kern="1200" baseline="0" dirty="0" smtClean="0">
                <a:solidFill>
                  <a:schemeClr val="tx1"/>
                </a:solidFill>
                <a:ea typeface="+mn-ea"/>
                <a:cs typeface="+mn-cs"/>
              </a:rPr>
              <a:t>What do you want to know about the learner?</a:t>
            </a:r>
          </a:p>
        </p:txBody>
      </p:sp>
      <p:sp>
        <p:nvSpPr>
          <p:cNvPr id="4" name="Slide Number Placeholder 3"/>
          <p:cNvSpPr>
            <a:spLocks noGrp="1"/>
          </p:cNvSpPr>
          <p:nvPr>
            <p:ph type="sldNum" sz="quarter" idx="10"/>
          </p:nvPr>
        </p:nvSpPr>
        <p:spPr/>
        <p:txBody>
          <a:bodyPr/>
          <a:lstStyle/>
          <a:p>
            <a:fld id="{006CD3C9-0AF2-437D-9D2F-7B6B298CC32F}" type="slidenum">
              <a:rPr lang="en-US" smtClean="0"/>
              <a:pPr/>
              <a:t>53</a:t>
            </a:fld>
            <a:endParaRPr lang="en-US" dirty="0"/>
          </a:p>
        </p:txBody>
      </p:sp>
    </p:spTree>
    <p:extLst>
      <p:ext uri="{BB962C8B-B14F-4D97-AF65-F5344CB8AC3E}">
        <p14:creationId xmlns:p14="http://schemas.microsoft.com/office/powerpoint/2010/main" val="4199316976"/>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b="1" kern="1200" baseline="0" dirty="0" smtClean="0">
                <a:solidFill>
                  <a:schemeClr val="tx1"/>
                </a:solidFill>
                <a:ea typeface="+mn-ea"/>
                <a:cs typeface="+mn-cs"/>
              </a:rPr>
              <a:t>Class Activity – Discuss points</a:t>
            </a:r>
          </a:p>
          <a:p>
            <a:endParaRPr lang="en-AU" sz="1200" b="1" kern="1200" baseline="0" dirty="0" smtClean="0">
              <a:solidFill>
                <a:schemeClr val="tx1"/>
              </a:solidFill>
              <a:ea typeface="+mn-ea"/>
              <a:cs typeface="+mn-cs"/>
            </a:endParaRPr>
          </a:p>
          <a:p>
            <a:r>
              <a:rPr lang="en-AU" sz="1200" b="0" kern="1200" baseline="0" dirty="0" smtClean="0">
                <a:solidFill>
                  <a:schemeClr val="tx1"/>
                </a:solidFill>
                <a:ea typeface="+mn-ea"/>
                <a:cs typeface="+mn-cs"/>
              </a:rPr>
              <a:t>For each point</a:t>
            </a:r>
          </a:p>
          <a:p>
            <a:pPr>
              <a:buFont typeface="Arial" pitchFamily="34" charset="0"/>
              <a:buChar char="•"/>
            </a:pPr>
            <a:r>
              <a:rPr lang="en-AU" sz="1200" b="0" kern="1200" baseline="0" dirty="0" smtClean="0">
                <a:solidFill>
                  <a:schemeClr val="tx1"/>
                </a:solidFill>
                <a:ea typeface="+mn-ea"/>
                <a:cs typeface="+mn-cs"/>
              </a:rPr>
              <a:t>Identify how you would cater to these needs</a:t>
            </a:r>
          </a:p>
          <a:p>
            <a:pPr>
              <a:buFont typeface="Arial" pitchFamily="34" charset="0"/>
              <a:buChar char="•"/>
            </a:pPr>
            <a:r>
              <a:rPr lang="en-AU" sz="1200" b="0" kern="1200" baseline="0" dirty="0" smtClean="0">
                <a:solidFill>
                  <a:schemeClr val="tx1"/>
                </a:solidFill>
                <a:ea typeface="+mn-ea"/>
                <a:cs typeface="+mn-cs"/>
              </a:rPr>
              <a:t>How they will influence a group training session</a:t>
            </a:r>
          </a:p>
          <a:p>
            <a:pPr>
              <a:buFont typeface="Arial" pitchFamily="34" charset="0"/>
              <a:buChar char="•"/>
            </a:pPr>
            <a:r>
              <a:rPr lang="en-AU" sz="1200" b="0" kern="1200" baseline="0" dirty="0" smtClean="0">
                <a:solidFill>
                  <a:schemeClr val="tx1"/>
                </a:solidFill>
                <a:ea typeface="+mn-ea"/>
                <a:cs typeface="+mn-cs"/>
              </a:rPr>
              <a:t>Use them to your training advantage.</a:t>
            </a:r>
          </a:p>
        </p:txBody>
      </p:sp>
      <p:sp>
        <p:nvSpPr>
          <p:cNvPr id="4" name="Slide Number Placeholder 3"/>
          <p:cNvSpPr>
            <a:spLocks noGrp="1"/>
          </p:cNvSpPr>
          <p:nvPr>
            <p:ph type="sldNum" sz="quarter" idx="10"/>
          </p:nvPr>
        </p:nvSpPr>
        <p:spPr/>
        <p:txBody>
          <a:bodyPr/>
          <a:lstStyle/>
          <a:p>
            <a:fld id="{006CD3C9-0AF2-437D-9D2F-7B6B298CC32F}" type="slidenum">
              <a:rPr lang="en-US" smtClean="0"/>
              <a:pPr/>
              <a:t>54</a:t>
            </a:fld>
            <a:endParaRPr lang="en-US" dirty="0"/>
          </a:p>
        </p:txBody>
      </p:sp>
    </p:spTree>
    <p:extLst>
      <p:ext uri="{BB962C8B-B14F-4D97-AF65-F5344CB8AC3E}">
        <p14:creationId xmlns:p14="http://schemas.microsoft.com/office/powerpoint/2010/main" val="1975149562"/>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b="1" kern="1200" baseline="0" dirty="0" smtClean="0">
                <a:solidFill>
                  <a:schemeClr val="tx1"/>
                </a:solidFill>
                <a:ea typeface="+mn-ea"/>
                <a:cs typeface="+mn-cs"/>
              </a:rPr>
              <a:t>Class Activity – Discuss points</a:t>
            </a:r>
          </a:p>
          <a:p>
            <a:endParaRPr lang="en-AU" sz="1200" b="1" kern="1200" baseline="0" dirty="0" smtClean="0">
              <a:solidFill>
                <a:schemeClr val="tx1"/>
              </a:solidFill>
              <a:ea typeface="+mn-ea"/>
              <a:cs typeface="+mn-cs"/>
            </a:endParaRPr>
          </a:p>
          <a:p>
            <a:r>
              <a:rPr lang="en-AU" sz="1200" b="0" kern="1200" baseline="0" dirty="0" smtClean="0">
                <a:solidFill>
                  <a:schemeClr val="tx1"/>
                </a:solidFill>
                <a:ea typeface="+mn-ea"/>
                <a:cs typeface="+mn-cs"/>
              </a:rPr>
              <a:t>For each point</a:t>
            </a:r>
          </a:p>
          <a:p>
            <a:pPr>
              <a:buFont typeface="Arial" pitchFamily="34" charset="0"/>
              <a:buChar char="•"/>
            </a:pPr>
            <a:r>
              <a:rPr lang="en-AU" sz="1200" b="0" kern="1200" baseline="0" dirty="0" smtClean="0">
                <a:solidFill>
                  <a:schemeClr val="tx1"/>
                </a:solidFill>
                <a:ea typeface="+mn-ea"/>
                <a:cs typeface="+mn-cs"/>
              </a:rPr>
              <a:t>Identify how you would cater to these needs</a:t>
            </a:r>
          </a:p>
          <a:p>
            <a:pPr>
              <a:buFont typeface="Arial" pitchFamily="34" charset="0"/>
              <a:buChar char="•"/>
            </a:pPr>
            <a:r>
              <a:rPr lang="en-AU" sz="1200" b="0" kern="1200" baseline="0" dirty="0" smtClean="0">
                <a:solidFill>
                  <a:schemeClr val="tx1"/>
                </a:solidFill>
                <a:ea typeface="+mn-ea"/>
                <a:cs typeface="+mn-cs"/>
              </a:rPr>
              <a:t>How they will influence a group training session</a:t>
            </a:r>
          </a:p>
          <a:p>
            <a:pPr>
              <a:buFont typeface="Arial" pitchFamily="34" charset="0"/>
              <a:buChar char="•"/>
            </a:pPr>
            <a:r>
              <a:rPr lang="en-AU" sz="1200" b="0" kern="1200" baseline="0" dirty="0" smtClean="0">
                <a:solidFill>
                  <a:schemeClr val="tx1"/>
                </a:solidFill>
                <a:ea typeface="+mn-ea"/>
                <a:cs typeface="+mn-cs"/>
              </a:rPr>
              <a:t>Use them to your training advantage.</a:t>
            </a:r>
          </a:p>
        </p:txBody>
      </p:sp>
      <p:sp>
        <p:nvSpPr>
          <p:cNvPr id="4" name="Slide Number Placeholder 3"/>
          <p:cNvSpPr>
            <a:spLocks noGrp="1"/>
          </p:cNvSpPr>
          <p:nvPr>
            <p:ph type="sldNum" sz="quarter" idx="10"/>
          </p:nvPr>
        </p:nvSpPr>
        <p:spPr/>
        <p:txBody>
          <a:bodyPr/>
          <a:lstStyle/>
          <a:p>
            <a:fld id="{006CD3C9-0AF2-437D-9D2F-7B6B298CC32F}" type="slidenum">
              <a:rPr lang="en-US" smtClean="0"/>
              <a:pPr/>
              <a:t>55</a:t>
            </a:fld>
            <a:endParaRPr lang="en-US" dirty="0"/>
          </a:p>
        </p:txBody>
      </p:sp>
    </p:spTree>
    <p:extLst>
      <p:ext uri="{BB962C8B-B14F-4D97-AF65-F5344CB8AC3E}">
        <p14:creationId xmlns:p14="http://schemas.microsoft.com/office/powerpoint/2010/main" val="3609212998"/>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b="1" kern="1200" baseline="0" dirty="0" smtClean="0">
                <a:solidFill>
                  <a:schemeClr val="tx1"/>
                </a:solidFill>
                <a:ea typeface="+mn-ea"/>
                <a:cs typeface="+mn-cs"/>
              </a:rPr>
              <a:t>Class Activity – Questions</a:t>
            </a:r>
          </a:p>
          <a:p>
            <a:endParaRPr lang="en-AU" sz="1200" b="1" kern="1200" baseline="0" dirty="0" smtClean="0">
              <a:solidFill>
                <a:schemeClr val="tx1"/>
              </a:solidFill>
              <a:ea typeface="+mn-ea"/>
              <a:cs typeface="+mn-cs"/>
            </a:endParaRPr>
          </a:p>
          <a:p>
            <a:pPr>
              <a:buFont typeface="Arial" pitchFamily="34" charset="0"/>
              <a:buChar char="•"/>
            </a:pPr>
            <a:r>
              <a:rPr lang="en-AU" sz="1200" b="0" kern="1200" baseline="0" dirty="0" smtClean="0">
                <a:solidFill>
                  <a:schemeClr val="tx1"/>
                </a:solidFill>
                <a:ea typeface="+mn-ea"/>
                <a:cs typeface="+mn-cs"/>
              </a:rPr>
              <a:t>Answer the question in the slide.</a:t>
            </a:r>
          </a:p>
        </p:txBody>
      </p:sp>
      <p:sp>
        <p:nvSpPr>
          <p:cNvPr id="4" name="Slide Number Placeholder 3"/>
          <p:cNvSpPr>
            <a:spLocks noGrp="1"/>
          </p:cNvSpPr>
          <p:nvPr>
            <p:ph type="sldNum" sz="quarter" idx="10"/>
          </p:nvPr>
        </p:nvSpPr>
        <p:spPr/>
        <p:txBody>
          <a:bodyPr/>
          <a:lstStyle/>
          <a:p>
            <a:fld id="{006CD3C9-0AF2-437D-9D2F-7B6B298CC32F}" type="slidenum">
              <a:rPr lang="en-US" smtClean="0"/>
              <a:pPr/>
              <a:t>56</a:t>
            </a:fld>
            <a:endParaRPr lang="en-US" dirty="0"/>
          </a:p>
        </p:txBody>
      </p:sp>
    </p:spTree>
    <p:extLst>
      <p:ext uri="{BB962C8B-B14F-4D97-AF65-F5344CB8AC3E}">
        <p14:creationId xmlns:p14="http://schemas.microsoft.com/office/powerpoint/2010/main" val="1334005612"/>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b="1" kern="1200" baseline="0" dirty="0" smtClean="0">
                <a:solidFill>
                  <a:schemeClr val="tx1"/>
                </a:solidFill>
                <a:ea typeface="+mn-ea"/>
                <a:cs typeface="+mn-cs"/>
              </a:rPr>
              <a:t>Class Activity – Discussion</a:t>
            </a:r>
          </a:p>
          <a:p>
            <a:endParaRPr lang="en-AU" sz="1200" b="1" kern="1200" baseline="0" dirty="0" smtClean="0">
              <a:solidFill>
                <a:schemeClr val="tx1"/>
              </a:solidFill>
              <a:ea typeface="+mn-ea"/>
              <a:cs typeface="+mn-cs"/>
            </a:endParaRPr>
          </a:p>
          <a:p>
            <a:pPr>
              <a:buFont typeface="Arial" pitchFamily="34" charset="0"/>
              <a:buChar char="•"/>
            </a:pPr>
            <a:r>
              <a:rPr lang="en-AU" sz="1200" b="0" kern="1200" baseline="0" dirty="0" smtClean="0">
                <a:solidFill>
                  <a:schemeClr val="tx1"/>
                </a:solidFill>
                <a:ea typeface="+mn-ea"/>
                <a:cs typeface="+mn-cs"/>
              </a:rPr>
              <a:t>Discuss the points in the slide</a:t>
            </a:r>
          </a:p>
          <a:p>
            <a:pPr>
              <a:buFont typeface="Arial" pitchFamily="34" charset="0"/>
              <a:buChar char="•"/>
            </a:pPr>
            <a:r>
              <a:rPr lang="en-AU" sz="1200" b="0" kern="1200" baseline="0" dirty="0" smtClean="0">
                <a:solidFill>
                  <a:schemeClr val="tx1"/>
                </a:solidFill>
                <a:ea typeface="+mn-ea"/>
                <a:cs typeface="+mn-cs"/>
              </a:rPr>
              <a:t>How you can use modify training to meet the needs of adults?</a:t>
            </a:r>
          </a:p>
        </p:txBody>
      </p:sp>
      <p:sp>
        <p:nvSpPr>
          <p:cNvPr id="4" name="Slide Number Placeholder 3"/>
          <p:cNvSpPr>
            <a:spLocks noGrp="1"/>
          </p:cNvSpPr>
          <p:nvPr>
            <p:ph type="sldNum" sz="quarter" idx="10"/>
          </p:nvPr>
        </p:nvSpPr>
        <p:spPr/>
        <p:txBody>
          <a:bodyPr/>
          <a:lstStyle/>
          <a:p>
            <a:fld id="{006CD3C9-0AF2-437D-9D2F-7B6B298CC32F}" type="slidenum">
              <a:rPr lang="en-US" smtClean="0"/>
              <a:pPr/>
              <a:t>57</a:t>
            </a:fld>
            <a:endParaRPr lang="en-US" dirty="0"/>
          </a:p>
        </p:txBody>
      </p:sp>
    </p:spTree>
    <p:extLst>
      <p:ext uri="{BB962C8B-B14F-4D97-AF65-F5344CB8AC3E}">
        <p14:creationId xmlns:p14="http://schemas.microsoft.com/office/powerpoint/2010/main" val="316787764"/>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b="1" kern="1200" baseline="0" dirty="0" smtClean="0">
                <a:solidFill>
                  <a:schemeClr val="tx1"/>
                </a:solidFill>
                <a:ea typeface="+mn-ea"/>
                <a:cs typeface="+mn-cs"/>
              </a:rPr>
              <a:t>Class Activity – Discussion</a:t>
            </a:r>
          </a:p>
          <a:p>
            <a:endParaRPr lang="en-AU" sz="1200" b="1" kern="1200" baseline="0" dirty="0" smtClean="0">
              <a:solidFill>
                <a:schemeClr val="tx1"/>
              </a:solidFill>
              <a:ea typeface="+mn-ea"/>
              <a:cs typeface="+mn-cs"/>
            </a:endParaRPr>
          </a:p>
          <a:p>
            <a:pPr>
              <a:buFont typeface="Arial" pitchFamily="34" charset="0"/>
              <a:buChar char="•"/>
            </a:pPr>
            <a:r>
              <a:rPr lang="en-AU" sz="1200" b="0" kern="1200" baseline="0" dirty="0" smtClean="0">
                <a:solidFill>
                  <a:schemeClr val="tx1"/>
                </a:solidFill>
                <a:ea typeface="+mn-ea"/>
                <a:cs typeface="+mn-cs"/>
              </a:rPr>
              <a:t>What barriers exist?</a:t>
            </a:r>
          </a:p>
          <a:p>
            <a:pPr>
              <a:buFont typeface="Arial" pitchFamily="34" charset="0"/>
              <a:buChar char="•"/>
            </a:pPr>
            <a:r>
              <a:rPr lang="en-AU" sz="1200" b="0" kern="1200" baseline="0" dirty="0" smtClean="0">
                <a:solidFill>
                  <a:schemeClr val="tx1"/>
                </a:solidFill>
                <a:ea typeface="+mn-ea"/>
                <a:cs typeface="+mn-cs"/>
              </a:rPr>
              <a:t>What causes these barriers?</a:t>
            </a:r>
          </a:p>
          <a:p>
            <a:pPr>
              <a:buFont typeface="Arial" pitchFamily="34" charset="0"/>
              <a:buChar char="•"/>
            </a:pPr>
            <a:r>
              <a:rPr lang="en-AU" sz="1200" b="0" kern="1200" baseline="0" dirty="0" smtClean="0">
                <a:solidFill>
                  <a:schemeClr val="tx1"/>
                </a:solidFill>
                <a:ea typeface="+mn-ea"/>
                <a:cs typeface="+mn-cs"/>
              </a:rPr>
              <a:t>What can you do to overcome these barriers?</a:t>
            </a:r>
          </a:p>
        </p:txBody>
      </p:sp>
      <p:sp>
        <p:nvSpPr>
          <p:cNvPr id="4" name="Slide Number Placeholder 3"/>
          <p:cNvSpPr>
            <a:spLocks noGrp="1"/>
          </p:cNvSpPr>
          <p:nvPr>
            <p:ph type="sldNum" sz="quarter" idx="10"/>
          </p:nvPr>
        </p:nvSpPr>
        <p:spPr/>
        <p:txBody>
          <a:bodyPr/>
          <a:lstStyle/>
          <a:p>
            <a:fld id="{006CD3C9-0AF2-437D-9D2F-7B6B298CC32F}" type="slidenum">
              <a:rPr lang="en-US" smtClean="0"/>
              <a:pPr/>
              <a:t>58</a:t>
            </a:fld>
            <a:endParaRPr lang="en-US" dirty="0"/>
          </a:p>
        </p:txBody>
      </p:sp>
    </p:spTree>
    <p:extLst>
      <p:ext uri="{BB962C8B-B14F-4D97-AF65-F5344CB8AC3E}">
        <p14:creationId xmlns:p14="http://schemas.microsoft.com/office/powerpoint/2010/main" val="1578750773"/>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b="1" kern="1200" baseline="0" dirty="0" smtClean="0">
                <a:solidFill>
                  <a:schemeClr val="tx1"/>
                </a:solidFill>
                <a:ea typeface="+mn-ea"/>
                <a:cs typeface="+mn-cs"/>
              </a:rPr>
              <a:t>Class Activity – Discussion</a:t>
            </a:r>
          </a:p>
          <a:p>
            <a:endParaRPr lang="en-AU" sz="1200" b="1" kern="1200" baseline="0" dirty="0" smtClean="0">
              <a:solidFill>
                <a:schemeClr val="tx1"/>
              </a:solidFill>
              <a:ea typeface="+mn-ea"/>
              <a:cs typeface="+mn-cs"/>
            </a:endParaRPr>
          </a:p>
          <a:p>
            <a:pPr>
              <a:buFont typeface="Arial" pitchFamily="34" charset="0"/>
              <a:buChar char="•"/>
            </a:pPr>
            <a:r>
              <a:rPr lang="en-AU" sz="1200" b="0" kern="1200" baseline="0" dirty="0" smtClean="0">
                <a:solidFill>
                  <a:schemeClr val="tx1"/>
                </a:solidFill>
                <a:ea typeface="+mn-ea"/>
                <a:cs typeface="+mn-cs"/>
              </a:rPr>
              <a:t>Discuss the points in the slide.</a:t>
            </a:r>
          </a:p>
        </p:txBody>
      </p:sp>
      <p:sp>
        <p:nvSpPr>
          <p:cNvPr id="4" name="Slide Number Placeholder 3"/>
          <p:cNvSpPr>
            <a:spLocks noGrp="1"/>
          </p:cNvSpPr>
          <p:nvPr>
            <p:ph type="sldNum" sz="quarter" idx="10"/>
          </p:nvPr>
        </p:nvSpPr>
        <p:spPr/>
        <p:txBody>
          <a:bodyPr/>
          <a:lstStyle/>
          <a:p>
            <a:fld id="{006CD3C9-0AF2-437D-9D2F-7B6B298CC32F}" type="slidenum">
              <a:rPr lang="en-US" smtClean="0"/>
              <a:pPr/>
              <a:t>59</a:t>
            </a:fld>
            <a:endParaRPr lang="en-US" dirty="0"/>
          </a:p>
        </p:txBody>
      </p:sp>
    </p:spTree>
    <p:extLst>
      <p:ext uri="{BB962C8B-B14F-4D97-AF65-F5344CB8AC3E}">
        <p14:creationId xmlns:p14="http://schemas.microsoft.com/office/powerpoint/2010/main" val="788784977"/>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b="1" kern="1200" baseline="0" dirty="0" smtClean="0">
                <a:solidFill>
                  <a:schemeClr val="tx1"/>
                </a:solidFill>
                <a:ea typeface="+mn-ea"/>
                <a:cs typeface="+mn-cs"/>
              </a:rPr>
              <a:t>Class Activity –  Questions</a:t>
            </a:r>
          </a:p>
          <a:p>
            <a:endParaRPr lang="en-AU" sz="1200" b="1" kern="1200" baseline="0" dirty="0" smtClean="0">
              <a:solidFill>
                <a:schemeClr val="tx1"/>
              </a:solidFill>
              <a:ea typeface="+mn-ea"/>
              <a:cs typeface="+mn-cs"/>
            </a:endParaRPr>
          </a:p>
          <a:p>
            <a:pPr>
              <a:buFont typeface="Arial" pitchFamily="34" charset="0"/>
              <a:buChar char="•"/>
            </a:pPr>
            <a:r>
              <a:rPr lang="en-AU" sz="1200" b="0" kern="1200" baseline="0" dirty="0" smtClean="0">
                <a:solidFill>
                  <a:schemeClr val="tx1"/>
                </a:solidFill>
                <a:ea typeface="+mn-ea"/>
                <a:cs typeface="+mn-cs"/>
              </a:rPr>
              <a:t>What are the advantages of each?</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ea typeface="+mn-ea"/>
                <a:cs typeface="+mn-cs"/>
              </a:rPr>
              <a:t>What are the disadvantages of each?</a:t>
            </a:r>
          </a:p>
          <a:p>
            <a:pPr>
              <a:buFont typeface="Arial" pitchFamily="34" charset="0"/>
              <a:buChar char="•"/>
            </a:pPr>
            <a:endParaRPr lang="en-AU" sz="1200" b="0" kern="1200" dirty="0">
              <a:solidFill>
                <a:schemeClr val="tx1"/>
              </a:solidFill>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60</a:t>
            </a:fld>
            <a:endParaRPr lang="en-US" dirty="0"/>
          </a:p>
        </p:txBody>
      </p:sp>
    </p:spTree>
    <p:extLst>
      <p:ext uri="{BB962C8B-B14F-4D97-AF65-F5344CB8AC3E}">
        <p14:creationId xmlns:p14="http://schemas.microsoft.com/office/powerpoint/2010/main" val="3366221204"/>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b="1" kern="1200" baseline="0" dirty="0" smtClean="0">
                <a:solidFill>
                  <a:schemeClr val="tx1"/>
                </a:solidFill>
                <a:ea typeface="+mn-ea"/>
                <a:cs typeface="+mn-cs"/>
              </a:rPr>
              <a:t>Class Activity – Discussion</a:t>
            </a:r>
          </a:p>
          <a:p>
            <a:endParaRPr lang="en-AU" sz="1200" b="1" kern="1200" baseline="0" dirty="0" smtClean="0">
              <a:solidFill>
                <a:schemeClr val="tx1"/>
              </a:solidFill>
              <a:ea typeface="+mn-ea"/>
              <a:cs typeface="+mn-cs"/>
            </a:endParaRPr>
          </a:p>
          <a:p>
            <a:pPr>
              <a:buFont typeface="Arial" pitchFamily="34" charset="0"/>
              <a:buChar char="•"/>
            </a:pPr>
            <a:r>
              <a:rPr lang="en-AU" sz="1200" b="0" kern="1200" baseline="0" dirty="0" smtClean="0">
                <a:solidFill>
                  <a:schemeClr val="tx1"/>
                </a:solidFill>
                <a:ea typeface="+mn-ea"/>
                <a:cs typeface="+mn-cs"/>
              </a:rPr>
              <a:t>Discuss these considerations.</a:t>
            </a:r>
          </a:p>
          <a:p>
            <a:pPr>
              <a:buFont typeface="Arial" pitchFamily="34" charset="0"/>
              <a:buChar char="•"/>
            </a:pPr>
            <a:endParaRPr lang="en-AU" sz="1200" b="0" kern="1200" dirty="0">
              <a:solidFill>
                <a:schemeClr val="tx1"/>
              </a:solidFill>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61</a:t>
            </a:fld>
            <a:endParaRPr lang="en-US" dirty="0"/>
          </a:p>
        </p:txBody>
      </p:sp>
    </p:spTree>
    <p:extLst>
      <p:ext uri="{BB962C8B-B14F-4D97-AF65-F5344CB8AC3E}">
        <p14:creationId xmlns:p14="http://schemas.microsoft.com/office/powerpoint/2010/main" val="3435669505"/>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b="1" kern="1200" baseline="0" dirty="0" smtClean="0">
                <a:solidFill>
                  <a:schemeClr val="tx1"/>
                </a:solidFill>
                <a:ea typeface="+mn-ea"/>
                <a:cs typeface="+mn-cs"/>
              </a:rPr>
              <a:t>Class Activity – Discussion</a:t>
            </a:r>
          </a:p>
          <a:p>
            <a:endParaRPr lang="en-AU" sz="1200" b="1" kern="1200" baseline="0" dirty="0" smtClean="0">
              <a:solidFill>
                <a:schemeClr val="tx1"/>
              </a:solidFill>
              <a:ea typeface="+mn-ea"/>
              <a:cs typeface="+mn-cs"/>
            </a:endParaRPr>
          </a:p>
          <a:p>
            <a:pPr>
              <a:buFont typeface="Arial" pitchFamily="34" charset="0"/>
              <a:buChar char="•"/>
            </a:pPr>
            <a:r>
              <a:rPr lang="en-AU" sz="1200" b="0" kern="1200" baseline="0" dirty="0" smtClean="0">
                <a:solidFill>
                  <a:schemeClr val="tx1"/>
                </a:solidFill>
                <a:ea typeface="+mn-ea"/>
                <a:cs typeface="+mn-cs"/>
              </a:rPr>
              <a:t>Discuss these considerations.</a:t>
            </a:r>
          </a:p>
          <a:p>
            <a:pPr>
              <a:buFont typeface="Arial" pitchFamily="34" charset="0"/>
              <a:buChar char="•"/>
            </a:pPr>
            <a:endParaRPr lang="en-AU" sz="1200" b="0" kern="1200" dirty="0">
              <a:solidFill>
                <a:schemeClr val="tx1"/>
              </a:solidFill>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62</a:t>
            </a:fld>
            <a:endParaRPr lang="en-US" dirty="0"/>
          </a:p>
        </p:txBody>
      </p:sp>
    </p:spTree>
    <p:extLst>
      <p:ext uri="{BB962C8B-B14F-4D97-AF65-F5344CB8AC3E}">
        <p14:creationId xmlns:p14="http://schemas.microsoft.com/office/powerpoint/2010/main" val="4214789768"/>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b="1" kern="1200" baseline="0" dirty="0" smtClean="0">
                <a:solidFill>
                  <a:schemeClr val="tx1"/>
                </a:solidFill>
                <a:ea typeface="+mn-ea"/>
                <a:cs typeface="+mn-cs"/>
              </a:rPr>
              <a:t>Class Activity – Discussion</a:t>
            </a:r>
          </a:p>
          <a:p>
            <a:endParaRPr lang="en-AU" sz="1200" b="1" kern="1200" baseline="0" dirty="0" smtClean="0">
              <a:solidFill>
                <a:schemeClr val="tx1"/>
              </a:solidFill>
              <a:ea typeface="+mn-ea"/>
              <a:cs typeface="+mn-cs"/>
            </a:endParaRPr>
          </a:p>
          <a:p>
            <a:pPr>
              <a:buFont typeface="Arial" pitchFamily="34" charset="0"/>
              <a:buChar char="•"/>
            </a:pPr>
            <a:r>
              <a:rPr lang="en-AU" sz="1200" b="0" kern="1200" baseline="0" dirty="0" smtClean="0">
                <a:solidFill>
                  <a:schemeClr val="tx1"/>
                </a:solidFill>
                <a:ea typeface="+mn-ea"/>
                <a:cs typeface="+mn-cs"/>
              </a:rPr>
              <a:t>Discuss these considerations.</a:t>
            </a:r>
          </a:p>
          <a:p>
            <a:pPr>
              <a:buFont typeface="Arial" pitchFamily="34" charset="0"/>
              <a:buChar char="•"/>
            </a:pPr>
            <a:endParaRPr lang="en-AU" sz="1200" b="0" kern="1200" dirty="0">
              <a:solidFill>
                <a:schemeClr val="tx1"/>
              </a:solidFill>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63</a:t>
            </a:fld>
            <a:endParaRPr lang="en-US" dirty="0"/>
          </a:p>
        </p:txBody>
      </p:sp>
    </p:spTree>
    <p:extLst>
      <p:ext uri="{BB962C8B-B14F-4D97-AF65-F5344CB8AC3E}">
        <p14:creationId xmlns:p14="http://schemas.microsoft.com/office/powerpoint/2010/main" val="2059037763"/>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b="1" kern="1200" baseline="0" dirty="0" smtClean="0">
                <a:solidFill>
                  <a:schemeClr val="tx1"/>
                </a:solidFill>
                <a:ea typeface="+mn-ea"/>
                <a:cs typeface="+mn-cs"/>
              </a:rPr>
              <a:t>Class Activity – Questions</a:t>
            </a:r>
          </a:p>
          <a:p>
            <a:endParaRPr lang="en-AU" sz="1200" b="1" kern="1200" baseline="0" dirty="0" smtClean="0">
              <a:solidFill>
                <a:schemeClr val="tx1"/>
              </a:solidFill>
              <a:ea typeface="+mn-ea"/>
              <a:cs typeface="+mn-cs"/>
            </a:endParaRPr>
          </a:p>
          <a:p>
            <a:pPr>
              <a:buFont typeface="Arial" pitchFamily="34" charset="0"/>
              <a:buChar char="•"/>
            </a:pPr>
            <a:r>
              <a:rPr lang="en-AU" sz="1200" b="0" kern="1200" baseline="0" dirty="0" smtClean="0">
                <a:solidFill>
                  <a:schemeClr val="tx1"/>
                </a:solidFill>
                <a:ea typeface="+mn-ea"/>
                <a:cs typeface="+mn-cs"/>
              </a:rPr>
              <a:t>Why are plans important?</a:t>
            </a:r>
          </a:p>
          <a:p>
            <a:pPr>
              <a:buFont typeface="Arial" pitchFamily="34" charset="0"/>
              <a:buChar char="•"/>
            </a:pPr>
            <a:r>
              <a:rPr lang="en-AU" sz="1200" b="0" kern="1200" baseline="0" dirty="0" smtClean="0">
                <a:solidFill>
                  <a:schemeClr val="tx1"/>
                </a:solidFill>
                <a:ea typeface="+mn-ea"/>
                <a:cs typeface="+mn-cs"/>
              </a:rPr>
              <a:t>What types of plans are there?</a:t>
            </a:r>
          </a:p>
          <a:p>
            <a:pPr>
              <a:buFont typeface="Arial" pitchFamily="34" charset="0"/>
              <a:buChar char="•"/>
            </a:pPr>
            <a:endParaRPr lang="en-AU" sz="1200" b="0" kern="1200" dirty="0">
              <a:solidFill>
                <a:schemeClr val="tx1"/>
              </a:solidFill>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64</a:t>
            </a:fld>
            <a:endParaRPr lang="en-US" dirty="0"/>
          </a:p>
        </p:txBody>
      </p:sp>
    </p:spTree>
    <p:extLst>
      <p:ext uri="{BB962C8B-B14F-4D97-AF65-F5344CB8AC3E}">
        <p14:creationId xmlns:p14="http://schemas.microsoft.com/office/powerpoint/2010/main" val="3801966509"/>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b="1" kern="1200" baseline="0" dirty="0" smtClean="0">
                <a:solidFill>
                  <a:schemeClr val="tx1"/>
                </a:solidFill>
                <a:ea typeface="+mn-ea"/>
                <a:cs typeface="+mn-cs"/>
              </a:rPr>
              <a:t>Class Activity – Questions and show examples of plans</a:t>
            </a:r>
          </a:p>
          <a:p>
            <a:endParaRPr lang="en-AU" sz="1200" b="1" kern="1200" baseline="0" dirty="0" smtClean="0">
              <a:solidFill>
                <a:schemeClr val="tx1"/>
              </a:solidFill>
              <a:ea typeface="+mn-ea"/>
              <a:cs typeface="+mn-cs"/>
            </a:endParaRPr>
          </a:p>
          <a:p>
            <a:pPr>
              <a:buFont typeface="Arial" pitchFamily="34" charset="0"/>
              <a:buChar char="•"/>
            </a:pPr>
            <a:r>
              <a:rPr lang="en-AU" sz="1200" b="0" kern="1200" baseline="0" dirty="0" smtClean="0">
                <a:solidFill>
                  <a:schemeClr val="tx1"/>
                </a:solidFill>
                <a:ea typeface="+mn-ea"/>
                <a:cs typeface="+mn-cs"/>
              </a:rPr>
              <a:t>How are each of these plans difference?</a:t>
            </a:r>
          </a:p>
          <a:p>
            <a:pPr>
              <a:buFont typeface="Arial" pitchFamily="34" charset="0"/>
              <a:buChar char="•"/>
            </a:pPr>
            <a:r>
              <a:rPr lang="en-AU" sz="1200" b="0" kern="1200" baseline="0" dirty="0" smtClean="0">
                <a:solidFill>
                  <a:schemeClr val="tx1"/>
                </a:solidFill>
                <a:ea typeface="+mn-ea"/>
                <a:cs typeface="+mn-cs"/>
              </a:rPr>
              <a:t>What is the purpose of these plans?</a:t>
            </a:r>
            <a:endParaRPr lang="en-AU" sz="1200" b="0" kern="1200" dirty="0">
              <a:solidFill>
                <a:schemeClr val="tx1"/>
              </a:solidFill>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65</a:t>
            </a:fld>
            <a:endParaRPr lang="en-US" dirty="0"/>
          </a:p>
        </p:txBody>
      </p:sp>
    </p:spTree>
    <p:extLst>
      <p:ext uri="{BB962C8B-B14F-4D97-AF65-F5344CB8AC3E}">
        <p14:creationId xmlns:p14="http://schemas.microsoft.com/office/powerpoint/2010/main" val="1504757019"/>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b="1" kern="1200" baseline="0" dirty="0" smtClean="0">
                <a:solidFill>
                  <a:schemeClr val="tx1"/>
                </a:solidFill>
                <a:ea typeface="+mn-ea"/>
                <a:cs typeface="+mn-cs"/>
              </a:rPr>
              <a:t>Class Activity – Discussion</a:t>
            </a:r>
          </a:p>
          <a:p>
            <a:endParaRPr lang="en-AU" sz="1200" b="1" kern="1200" baseline="0" dirty="0" smtClean="0">
              <a:solidFill>
                <a:schemeClr val="tx1"/>
              </a:solidFill>
              <a:ea typeface="+mn-ea"/>
              <a:cs typeface="+mn-cs"/>
            </a:endParaRPr>
          </a:p>
          <a:p>
            <a:pPr>
              <a:buFont typeface="Arial" pitchFamily="34" charset="0"/>
              <a:buChar char="•"/>
            </a:pPr>
            <a:r>
              <a:rPr lang="en-AU" sz="1200" b="0" kern="1200" baseline="0" dirty="0" smtClean="0">
                <a:solidFill>
                  <a:schemeClr val="tx1"/>
                </a:solidFill>
                <a:ea typeface="+mn-ea"/>
                <a:cs typeface="+mn-cs"/>
              </a:rPr>
              <a:t>Discuss these operational plan activities.</a:t>
            </a:r>
            <a:endParaRPr lang="en-AU" sz="1200" b="0" kern="1200" dirty="0">
              <a:solidFill>
                <a:schemeClr val="tx1"/>
              </a:solidFill>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66</a:t>
            </a:fld>
            <a:endParaRPr lang="en-US" dirty="0"/>
          </a:p>
        </p:txBody>
      </p:sp>
    </p:spTree>
    <p:extLst>
      <p:ext uri="{BB962C8B-B14F-4D97-AF65-F5344CB8AC3E}">
        <p14:creationId xmlns:p14="http://schemas.microsoft.com/office/powerpoint/2010/main" val="20984258"/>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b="1" kern="1200" baseline="0" dirty="0" smtClean="0">
                <a:solidFill>
                  <a:schemeClr val="tx1"/>
                </a:solidFill>
                <a:ea typeface="+mn-ea"/>
                <a:cs typeface="+mn-cs"/>
              </a:rPr>
              <a:t>Class Activity – Discussion</a:t>
            </a:r>
          </a:p>
          <a:p>
            <a:endParaRPr lang="en-AU" sz="1200" b="1" kern="1200" baseline="0" dirty="0" smtClean="0">
              <a:solidFill>
                <a:schemeClr val="tx1"/>
              </a:solidFill>
              <a:ea typeface="+mn-ea"/>
              <a:cs typeface="+mn-cs"/>
            </a:endParaRPr>
          </a:p>
          <a:p>
            <a:pPr>
              <a:buFont typeface="Arial" pitchFamily="34" charset="0"/>
              <a:buChar char="•"/>
            </a:pPr>
            <a:r>
              <a:rPr lang="en-AU" sz="1200" b="0" kern="1200" baseline="0" dirty="0" smtClean="0">
                <a:solidFill>
                  <a:schemeClr val="tx1"/>
                </a:solidFill>
                <a:ea typeface="+mn-ea"/>
                <a:cs typeface="+mn-cs"/>
              </a:rPr>
              <a:t>Discuss the importance of communication</a:t>
            </a:r>
          </a:p>
          <a:p>
            <a:pPr>
              <a:buFont typeface="Arial" pitchFamily="34" charset="0"/>
              <a:buChar char="•"/>
            </a:pPr>
            <a:r>
              <a:rPr lang="en-AU" sz="1200" b="0" kern="1200" baseline="0" dirty="0" smtClean="0">
                <a:solidFill>
                  <a:schemeClr val="tx1"/>
                </a:solidFill>
                <a:ea typeface="+mn-ea"/>
                <a:cs typeface="+mn-cs"/>
              </a:rPr>
              <a:t>What do stakeholders need to know?</a:t>
            </a:r>
            <a:endParaRPr lang="en-AU" sz="1200" b="0" kern="1200" dirty="0">
              <a:solidFill>
                <a:schemeClr val="tx1"/>
              </a:solidFill>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67</a:t>
            </a:fld>
            <a:endParaRPr lang="en-US" dirty="0"/>
          </a:p>
        </p:txBody>
      </p:sp>
    </p:spTree>
    <p:extLst>
      <p:ext uri="{BB962C8B-B14F-4D97-AF65-F5344CB8AC3E}">
        <p14:creationId xmlns:p14="http://schemas.microsoft.com/office/powerpoint/2010/main" val="2206514957"/>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b="1" kern="1200" baseline="0" dirty="0" smtClean="0">
                <a:solidFill>
                  <a:schemeClr val="tx1"/>
                </a:solidFill>
                <a:ea typeface="+mn-ea"/>
                <a:cs typeface="+mn-cs"/>
              </a:rPr>
              <a:t>Class Activity – Discussion</a:t>
            </a:r>
          </a:p>
          <a:p>
            <a:endParaRPr lang="en-AU" sz="1200" b="1" kern="1200" baseline="0" dirty="0" smtClean="0">
              <a:solidFill>
                <a:schemeClr val="tx1"/>
              </a:solidFill>
              <a:ea typeface="+mn-ea"/>
              <a:cs typeface="+mn-cs"/>
            </a:endParaRPr>
          </a:p>
          <a:p>
            <a:pPr>
              <a:buFont typeface="Arial" pitchFamily="34" charset="0"/>
              <a:buChar char="•"/>
            </a:pPr>
            <a:r>
              <a:rPr lang="en-AU" sz="1200" b="0" kern="1200" baseline="0" dirty="0" smtClean="0">
                <a:solidFill>
                  <a:schemeClr val="tx1"/>
                </a:solidFill>
                <a:ea typeface="+mn-ea"/>
                <a:cs typeface="+mn-cs"/>
              </a:rPr>
              <a:t>What else is important to stakeholders?</a:t>
            </a:r>
            <a:endParaRPr lang="en-AU" sz="1200" b="0" kern="1200" dirty="0">
              <a:solidFill>
                <a:schemeClr val="tx1"/>
              </a:solidFill>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68</a:t>
            </a:fld>
            <a:endParaRPr lang="en-US" dirty="0"/>
          </a:p>
        </p:txBody>
      </p:sp>
    </p:spTree>
    <p:extLst>
      <p:ext uri="{BB962C8B-B14F-4D97-AF65-F5344CB8AC3E}">
        <p14:creationId xmlns:p14="http://schemas.microsoft.com/office/powerpoint/2010/main" val="1884747016"/>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b="1" kern="1200" baseline="0" dirty="0" smtClean="0">
                <a:solidFill>
                  <a:schemeClr val="tx1"/>
                </a:solidFill>
                <a:ea typeface="+mn-ea"/>
                <a:cs typeface="+mn-cs"/>
              </a:rPr>
              <a:t>Class Activity – Discussion</a:t>
            </a:r>
          </a:p>
          <a:p>
            <a:endParaRPr lang="en-AU" sz="1200" b="1" kern="1200" baseline="0" dirty="0" smtClean="0">
              <a:solidFill>
                <a:schemeClr val="tx1"/>
              </a:solidFill>
              <a:ea typeface="+mn-ea"/>
              <a:cs typeface="+mn-cs"/>
            </a:endParaRPr>
          </a:p>
          <a:p>
            <a:pPr>
              <a:buFont typeface="Arial" pitchFamily="34" charset="0"/>
              <a:buChar char="•"/>
            </a:pPr>
            <a:r>
              <a:rPr lang="en-AU" sz="1200" b="0" kern="1200" baseline="0" dirty="0" smtClean="0">
                <a:solidFill>
                  <a:schemeClr val="tx1"/>
                </a:solidFill>
                <a:ea typeface="+mn-ea"/>
                <a:cs typeface="+mn-cs"/>
              </a:rPr>
              <a:t>What are the benefits of each type of communication channel?</a:t>
            </a:r>
            <a:endParaRPr lang="en-AU" sz="1200" b="0" kern="1200" dirty="0">
              <a:solidFill>
                <a:schemeClr val="tx1"/>
              </a:solidFill>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69</a:t>
            </a:fld>
            <a:endParaRPr lang="en-US" dirty="0"/>
          </a:p>
        </p:txBody>
      </p:sp>
    </p:spTree>
    <p:extLst>
      <p:ext uri="{BB962C8B-B14F-4D97-AF65-F5344CB8AC3E}">
        <p14:creationId xmlns:p14="http://schemas.microsoft.com/office/powerpoint/2010/main" val="2064431153"/>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b="1" kern="1200" baseline="0" dirty="0" smtClean="0">
                <a:solidFill>
                  <a:schemeClr val="tx1"/>
                </a:solidFill>
                <a:ea typeface="+mn-ea"/>
                <a:cs typeface="+mn-cs"/>
              </a:rPr>
              <a:t>Class Activity – Discussion</a:t>
            </a:r>
          </a:p>
          <a:p>
            <a:endParaRPr lang="en-AU" sz="1200" b="1" kern="1200" baseline="0" dirty="0" smtClean="0">
              <a:solidFill>
                <a:schemeClr val="tx1"/>
              </a:solidFill>
              <a:ea typeface="+mn-ea"/>
              <a:cs typeface="+mn-cs"/>
            </a:endParaRPr>
          </a:p>
          <a:p>
            <a:pPr>
              <a:buFont typeface="Arial" pitchFamily="34" charset="0"/>
              <a:buChar char="•"/>
            </a:pPr>
            <a:r>
              <a:rPr lang="en-AU" sz="1200" b="0" kern="1200" baseline="0" dirty="0" smtClean="0">
                <a:solidFill>
                  <a:schemeClr val="tx1"/>
                </a:solidFill>
                <a:ea typeface="+mn-ea"/>
                <a:cs typeface="+mn-cs"/>
              </a:rPr>
              <a:t>Discuss the purposes of training.</a:t>
            </a:r>
            <a:endParaRPr lang="en-AU" sz="1200" b="0" kern="1200" dirty="0">
              <a:solidFill>
                <a:schemeClr val="tx1"/>
              </a:solidFill>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70</a:t>
            </a:fld>
            <a:endParaRPr lang="en-US" dirty="0"/>
          </a:p>
        </p:txBody>
      </p:sp>
    </p:spTree>
    <p:extLst>
      <p:ext uri="{BB962C8B-B14F-4D97-AF65-F5344CB8AC3E}">
        <p14:creationId xmlns:p14="http://schemas.microsoft.com/office/powerpoint/2010/main" val="1661165182"/>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b="1" kern="1200" baseline="0" dirty="0" smtClean="0">
                <a:solidFill>
                  <a:schemeClr val="tx1"/>
                </a:solidFill>
                <a:ea typeface="+mn-ea"/>
                <a:cs typeface="+mn-cs"/>
              </a:rPr>
              <a:t>Class Activity – Discussion</a:t>
            </a:r>
          </a:p>
          <a:p>
            <a:endParaRPr lang="en-AU" sz="1200" b="1" kern="1200" baseline="0" dirty="0" smtClean="0">
              <a:solidFill>
                <a:schemeClr val="tx1"/>
              </a:solidFill>
              <a:ea typeface="+mn-ea"/>
              <a:cs typeface="+mn-cs"/>
            </a:endParaRPr>
          </a:p>
          <a:p>
            <a:pPr>
              <a:buFont typeface="Arial" pitchFamily="34" charset="0"/>
              <a:buChar char="•"/>
            </a:pPr>
            <a:r>
              <a:rPr lang="en-AU" sz="1200" b="0" kern="1200" baseline="0" dirty="0" smtClean="0">
                <a:solidFill>
                  <a:schemeClr val="tx1"/>
                </a:solidFill>
                <a:ea typeface="+mn-ea"/>
                <a:cs typeface="+mn-cs"/>
              </a:rPr>
              <a:t>Discuss the purposes of training.</a:t>
            </a:r>
            <a:endParaRPr lang="en-AU" sz="1200" b="0" kern="1200" dirty="0">
              <a:solidFill>
                <a:schemeClr val="tx1"/>
              </a:solidFill>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71</a:t>
            </a:fld>
            <a:endParaRPr lang="en-US" dirty="0"/>
          </a:p>
        </p:txBody>
      </p:sp>
    </p:spTree>
    <p:extLst>
      <p:ext uri="{BB962C8B-B14F-4D97-AF65-F5344CB8AC3E}">
        <p14:creationId xmlns:p14="http://schemas.microsoft.com/office/powerpoint/2010/main" val="2552470535"/>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b="1" kern="1200" baseline="0" dirty="0" smtClean="0">
                <a:solidFill>
                  <a:schemeClr val="tx1"/>
                </a:solidFill>
                <a:ea typeface="+mn-ea"/>
                <a:cs typeface="+mn-cs"/>
              </a:rPr>
              <a:t>Class Activity – Discussion</a:t>
            </a:r>
          </a:p>
          <a:p>
            <a:endParaRPr lang="en-AU" sz="1200" b="1" kern="1200" baseline="0" dirty="0" smtClean="0">
              <a:solidFill>
                <a:schemeClr val="tx1"/>
              </a:solidFill>
              <a:ea typeface="+mn-ea"/>
              <a:cs typeface="+mn-cs"/>
            </a:endParaRPr>
          </a:p>
          <a:p>
            <a:pPr>
              <a:buFont typeface="Arial" pitchFamily="34" charset="0"/>
              <a:buChar char="•"/>
            </a:pPr>
            <a:r>
              <a:rPr lang="en-AU" sz="1200" b="0" kern="1200" baseline="0" dirty="0" smtClean="0">
                <a:solidFill>
                  <a:schemeClr val="tx1"/>
                </a:solidFill>
                <a:ea typeface="+mn-ea"/>
                <a:cs typeface="+mn-cs"/>
              </a:rPr>
              <a:t>Discuss the benefits of training.</a:t>
            </a:r>
            <a:endParaRPr lang="en-AU" sz="1200" b="0" kern="1200" dirty="0">
              <a:solidFill>
                <a:schemeClr val="tx1"/>
              </a:solidFill>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72</a:t>
            </a:fld>
            <a:endParaRPr lang="en-US" dirty="0"/>
          </a:p>
        </p:txBody>
      </p:sp>
    </p:spTree>
    <p:extLst>
      <p:ext uri="{BB962C8B-B14F-4D97-AF65-F5344CB8AC3E}">
        <p14:creationId xmlns:p14="http://schemas.microsoft.com/office/powerpoint/2010/main" val="1709746756"/>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b="1" kern="1200" baseline="0" dirty="0" smtClean="0">
                <a:solidFill>
                  <a:schemeClr val="tx1"/>
                </a:solidFill>
                <a:ea typeface="+mn-ea"/>
                <a:cs typeface="+mn-cs"/>
              </a:rPr>
              <a:t>Class Activity – Discussion</a:t>
            </a:r>
          </a:p>
          <a:p>
            <a:endParaRPr lang="en-AU" sz="1200" b="1" kern="1200" baseline="0" dirty="0" smtClean="0">
              <a:solidFill>
                <a:schemeClr val="tx1"/>
              </a:solidFill>
              <a:ea typeface="+mn-ea"/>
              <a:cs typeface="+mn-cs"/>
            </a:endParaRPr>
          </a:p>
          <a:p>
            <a:pPr>
              <a:buFont typeface="Arial" pitchFamily="34" charset="0"/>
              <a:buChar char="•"/>
            </a:pPr>
            <a:r>
              <a:rPr lang="en-AU" sz="1200" b="0" kern="1200" baseline="0" dirty="0" smtClean="0">
                <a:solidFill>
                  <a:schemeClr val="tx1"/>
                </a:solidFill>
                <a:ea typeface="+mn-ea"/>
                <a:cs typeface="+mn-cs"/>
              </a:rPr>
              <a:t>Discuss the benefits of training.</a:t>
            </a:r>
            <a:endParaRPr lang="en-AU" sz="1200" b="0" kern="1200" dirty="0">
              <a:solidFill>
                <a:schemeClr val="tx1"/>
              </a:solidFill>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73</a:t>
            </a:fld>
            <a:endParaRPr lang="en-US" dirty="0"/>
          </a:p>
        </p:txBody>
      </p:sp>
    </p:spTree>
    <p:extLst>
      <p:ext uri="{BB962C8B-B14F-4D97-AF65-F5344CB8AC3E}">
        <p14:creationId xmlns:p14="http://schemas.microsoft.com/office/powerpoint/2010/main" val="427378163"/>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b="1" kern="1200" baseline="0" dirty="0" smtClean="0">
                <a:solidFill>
                  <a:schemeClr val="tx1"/>
                </a:solidFill>
                <a:ea typeface="+mn-ea"/>
                <a:cs typeface="+mn-cs"/>
              </a:rPr>
              <a:t>Class Activity – Discussion</a:t>
            </a:r>
          </a:p>
          <a:p>
            <a:endParaRPr lang="en-AU" sz="1200" b="1" kern="1200" baseline="0" dirty="0" smtClean="0">
              <a:solidFill>
                <a:schemeClr val="tx1"/>
              </a:solidFill>
              <a:ea typeface="+mn-ea"/>
              <a:cs typeface="+mn-cs"/>
            </a:endParaRPr>
          </a:p>
          <a:p>
            <a:pPr>
              <a:buFont typeface="Arial" pitchFamily="34" charset="0"/>
              <a:buChar char="•"/>
            </a:pPr>
            <a:r>
              <a:rPr lang="en-AU" sz="1200" b="0" kern="1200" baseline="0" dirty="0" smtClean="0">
                <a:solidFill>
                  <a:schemeClr val="tx1"/>
                </a:solidFill>
                <a:ea typeface="+mn-ea"/>
                <a:cs typeface="+mn-cs"/>
              </a:rPr>
              <a:t>Discuss questions in the slide.</a:t>
            </a:r>
            <a:endParaRPr lang="en-AU" sz="1200" b="0" kern="1200" dirty="0">
              <a:solidFill>
                <a:schemeClr val="tx1"/>
              </a:solidFill>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74</a:t>
            </a:fld>
            <a:endParaRPr lang="en-US" dirty="0"/>
          </a:p>
        </p:txBody>
      </p:sp>
    </p:spTree>
    <p:extLst>
      <p:ext uri="{BB962C8B-B14F-4D97-AF65-F5344CB8AC3E}">
        <p14:creationId xmlns:p14="http://schemas.microsoft.com/office/powerpoint/2010/main" val="3351329938"/>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kern="1200" dirty="0" smtClean="0">
                <a:solidFill>
                  <a:schemeClr val="tx1"/>
                </a:solidFill>
                <a:ea typeface="+mn-ea"/>
                <a:cs typeface="+mn-cs"/>
              </a:rPr>
              <a:t>Introduce</a:t>
            </a:r>
            <a:r>
              <a:rPr lang="en-AU" sz="1200" kern="1200" baseline="0" dirty="0" smtClean="0">
                <a:solidFill>
                  <a:schemeClr val="tx1"/>
                </a:solidFill>
                <a:ea typeface="+mn-ea"/>
                <a:cs typeface="+mn-cs"/>
              </a:rPr>
              <a:t> topic.</a:t>
            </a:r>
          </a:p>
          <a:p>
            <a:pPr marL="0" marR="0" indent="0" algn="l" defTabSz="914400" rtl="0" eaLnBrk="1" fontAlgn="auto" latinLnBrk="0" hangingPunct="1">
              <a:lnSpc>
                <a:spcPct val="100000"/>
              </a:lnSpc>
              <a:spcBef>
                <a:spcPts val="0"/>
              </a:spcBef>
              <a:spcAft>
                <a:spcPts val="0"/>
              </a:spcAft>
              <a:buClrTx/>
              <a:buSzTx/>
              <a:buFontTx/>
              <a:buNone/>
              <a:tabLst/>
              <a:defRPr/>
            </a:pPr>
            <a:endParaRPr lang="en-AU" sz="1200" b="1" kern="1200" baseline="0" dirty="0" smtClean="0">
              <a:solidFill>
                <a:schemeClr val="tx1"/>
              </a:solidFill>
              <a:ea typeface="+mn-ea"/>
              <a:cs typeface="+mn-cs"/>
            </a:endParaRPr>
          </a:p>
          <a:p>
            <a:pPr marL="0" marR="0" indent="0" algn="l" defTabSz="914400" rtl="0" eaLnBrk="1" fontAlgn="auto" latinLnBrk="0" hangingPunct="1">
              <a:lnSpc>
                <a:spcPct val="100000"/>
              </a:lnSpc>
              <a:spcBef>
                <a:spcPts val="0"/>
              </a:spcBef>
              <a:spcAft>
                <a:spcPts val="0"/>
              </a:spcAft>
              <a:buClrTx/>
              <a:buSzTx/>
              <a:buFontTx/>
              <a:buNone/>
              <a:tabLst/>
              <a:defRPr/>
            </a:pPr>
            <a:r>
              <a:rPr lang="en-AU" sz="1200" b="1" kern="1200" baseline="0" dirty="0" smtClean="0">
                <a:solidFill>
                  <a:schemeClr val="tx1"/>
                </a:solidFill>
                <a:ea typeface="+mn-ea"/>
                <a:cs typeface="+mn-cs"/>
              </a:rPr>
              <a:t>Class Activity – General Discussion</a:t>
            </a:r>
          </a:p>
          <a:p>
            <a:endParaRPr lang="en-AU" sz="1200" kern="1200" baseline="0" dirty="0" smtClean="0">
              <a:solidFill>
                <a:schemeClr val="tx1"/>
              </a:solidFill>
              <a:ea typeface="+mn-ea"/>
              <a:cs typeface="+mn-cs"/>
            </a:endParaRPr>
          </a:p>
          <a:p>
            <a:r>
              <a:rPr lang="en-AU" sz="1200" kern="1200" baseline="0" dirty="0" smtClean="0">
                <a:solidFill>
                  <a:schemeClr val="tx1"/>
                </a:solidFill>
                <a:ea typeface="+mn-ea"/>
                <a:cs typeface="+mn-cs"/>
              </a:rPr>
              <a:t>Ask general questions:</a:t>
            </a:r>
          </a:p>
          <a:p>
            <a:pPr>
              <a:buFont typeface="Arial" pitchFamily="34" charset="0"/>
              <a:buChar char="•"/>
            </a:pPr>
            <a:r>
              <a:rPr lang="en-AU" sz="1200" kern="1200" baseline="0" dirty="0" smtClean="0">
                <a:solidFill>
                  <a:schemeClr val="tx1"/>
                </a:solidFill>
                <a:ea typeface="+mn-ea"/>
                <a:cs typeface="+mn-cs"/>
              </a:rPr>
              <a:t>What is associated with implementing events?</a:t>
            </a:r>
          </a:p>
          <a:p>
            <a:pPr>
              <a:buFont typeface="Arial" pitchFamily="34" charset="0"/>
              <a:buChar char="•"/>
            </a:pPr>
            <a:r>
              <a:rPr lang="en-AU" sz="1200" kern="1200" baseline="0" dirty="0" smtClean="0">
                <a:solidFill>
                  <a:schemeClr val="tx1"/>
                </a:solidFill>
                <a:ea typeface="+mn-ea"/>
                <a:cs typeface="+mn-cs"/>
              </a:rPr>
              <a:t>What needs to be prepared?</a:t>
            </a:r>
          </a:p>
          <a:p>
            <a:pPr>
              <a:buFont typeface="Arial" pitchFamily="34" charset="0"/>
              <a:buChar char="•"/>
            </a:pPr>
            <a:r>
              <a:rPr lang="en-AU" sz="1200" kern="1200" baseline="0" dirty="0" smtClean="0">
                <a:solidFill>
                  <a:schemeClr val="tx1"/>
                </a:solidFill>
                <a:ea typeface="+mn-ea"/>
                <a:cs typeface="+mn-cs"/>
              </a:rPr>
              <a:t>Who attends these training events and what are their roles?</a:t>
            </a:r>
          </a:p>
          <a:p>
            <a:pPr>
              <a:buFont typeface="Arial" pitchFamily="34" charset="0"/>
              <a:buChar char="•"/>
            </a:pPr>
            <a:endParaRPr lang="en-AU" sz="1200" kern="1200" dirty="0">
              <a:solidFill>
                <a:schemeClr val="tx1"/>
              </a:solidFill>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75</a:t>
            </a:fld>
            <a:endParaRPr lang="en-US" dirty="0"/>
          </a:p>
        </p:txBody>
      </p:sp>
    </p:spTree>
    <p:extLst>
      <p:ext uri="{BB962C8B-B14F-4D97-AF65-F5344CB8AC3E}">
        <p14:creationId xmlns:p14="http://schemas.microsoft.com/office/powerpoint/2010/main" val="560966666"/>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kern="1200" baseline="0" dirty="0" smtClean="0">
                <a:solidFill>
                  <a:schemeClr val="tx1"/>
                </a:solidFill>
                <a:ea typeface="+mn-ea"/>
                <a:cs typeface="+mn-cs"/>
              </a:rPr>
              <a:t>Trainer identifies the Performance Criteria for this Element, as listed on the slide.</a:t>
            </a: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76</a:t>
            </a:fld>
            <a:endParaRPr lang="en-US" dirty="0"/>
          </a:p>
        </p:txBody>
      </p:sp>
    </p:spTree>
    <p:extLst>
      <p:ext uri="{BB962C8B-B14F-4D97-AF65-F5344CB8AC3E}">
        <p14:creationId xmlns:p14="http://schemas.microsoft.com/office/powerpoint/2010/main" val="710574171"/>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kern="1200" baseline="0" dirty="0" smtClean="0">
                <a:solidFill>
                  <a:schemeClr val="tx1"/>
                </a:solidFill>
                <a:ea typeface="+mn-ea"/>
                <a:cs typeface="+mn-cs"/>
              </a:rPr>
              <a:t>Trainer identifies the Performance Criteria for this Element, as listed on the slide.</a:t>
            </a: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77</a:t>
            </a:fld>
            <a:endParaRPr lang="en-US" dirty="0"/>
          </a:p>
        </p:txBody>
      </p:sp>
    </p:spTree>
    <p:extLst>
      <p:ext uri="{BB962C8B-B14F-4D97-AF65-F5344CB8AC3E}">
        <p14:creationId xmlns:p14="http://schemas.microsoft.com/office/powerpoint/2010/main" val="2545518728"/>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b="1" kern="1200" baseline="0" dirty="0" smtClean="0">
                <a:solidFill>
                  <a:schemeClr val="tx1"/>
                </a:solidFill>
                <a:ea typeface="+mn-ea"/>
                <a:cs typeface="+mn-cs"/>
              </a:rPr>
              <a:t>Class Activity –  Questions</a:t>
            </a:r>
          </a:p>
          <a:p>
            <a:endParaRPr lang="en-AU" sz="1200" b="1" kern="1200" baseline="0" dirty="0" smtClean="0">
              <a:solidFill>
                <a:schemeClr val="tx1"/>
              </a:solidFill>
              <a:ea typeface="+mn-ea"/>
              <a:cs typeface="+mn-cs"/>
            </a:endParaRPr>
          </a:p>
          <a:p>
            <a:pPr>
              <a:buFont typeface="Arial" pitchFamily="34" charset="0"/>
              <a:buChar char="•"/>
            </a:pPr>
            <a:r>
              <a:rPr lang="en-AU" sz="1200" b="0" kern="1200" baseline="0" dirty="0" smtClean="0">
                <a:solidFill>
                  <a:schemeClr val="tx1"/>
                </a:solidFill>
                <a:ea typeface="+mn-ea"/>
                <a:cs typeface="+mn-cs"/>
              </a:rPr>
              <a:t>What do learners need to know?</a:t>
            </a:r>
            <a:endParaRPr lang="en-AU" sz="1200" b="0" kern="1200" dirty="0">
              <a:solidFill>
                <a:schemeClr val="tx1"/>
              </a:solidFill>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78</a:t>
            </a:fld>
            <a:endParaRPr lang="en-US" dirty="0"/>
          </a:p>
        </p:txBody>
      </p:sp>
    </p:spTree>
    <p:extLst>
      <p:ext uri="{BB962C8B-B14F-4D97-AF65-F5344CB8AC3E}">
        <p14:creationId xmlns:p14="http://schemas.microsoft.com/office/powerpoint/2010/main" val="2326768738"/>
      </p:ext>
    </p:extLst>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b="1" kern="1200" baseline="0" dirty="0" smtClean="0">
                <a:solidFill>
                  <a:schemeClr val="tx1"/>
                </a:solidFill>
                <a:ea typeface="+mn-ea"/>
                <a:cs typeface="+mn-cs"/>
              </a:rPr>
              <a:t>Class Activity –  Questions</a:t>
            </a:r>
          </a:p>
          <a:p>
            <a:endParaRPr lang="en-AU" sz="1200" b="1" kern="1200" baseline="0" dirty="0" smtClean="0">
              <a:solidFill>
                <a:schemeClr val="tx1"/>
              </a:solidFill>
              <a:ea typeface="+mn-ea"/>
              <a:cs typeface="+mn-cs"/>
            </a:endParaRPr>
          </a:p>
          <a:p>
            <a:pPr>
              <a:buFont typeface="Arial" pitchFamily="34" charset="0"/>
              <a:buChar char="•"/>
            </a:pPr>
            <a:r>
              <a:rPr lang="en-AU" sz="1200" b="0" kern="1200" baseline="0" dirty="0" smtClean="0">
                <a:solidFill>
                  <a:schemeClr val="tx1"/>
                </a:solidFill>
                <a:ea typeface="+mn-ea"/>
                <a:cs typeface="+mn-cs"/>
              </a:rPr>
              <a:t>What do learners need to know?</a:t>
            </a:r>
            <a:endParaRPr lang="en-AU" sz="1200" b="0" kern="1200" dirty="0">
              <a:solidFill>
                <a:schemeClr val="tx1"/>
              </a:solidFill>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79</a:t>
            </a:fld>
            <a:endParaRPr lang="en-US" dirty="0"/>
          </a:p>
        </p:txBody>
      </p:sp>
    </p:spTree>
    <p:extLst>
      <p:ext uri="{BB962C8B-B14F-4D97-AF65-F5344CB8AC3E}">
        <p14:creationId xmlns:p14="http://schemas.microsoft.com/office/powerpoint/2010/main" val="4152201035"/>
      </p:ext>
    </p:extLst>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b="1" kern="1200" baseline="0" dirty="0" smtClean="0">
                <a:solidFill>
                  <a:schemeClr val="tx1"/>
                </a:solidFill>
                <a:ea typeface="+mn-ea"/>
                <a:cs typeface="+mn-cs"/>
              </a:rPr>
              <a:t>Class Activity –  Questions</a:t>
            </a:r>
          </a:p>
          <a:p>
            <a:endParaRPr lang="en-AU" sz="1200" b="1" kern="1200" baseline="0" dirty="0" smtClean="0">
              <a:solidFill>
                <a:schemeClr val="tx1"/>
              </a:solidFill>
              <a:ea typeface="+mn-ea"/>
              <a:cs typeface="+mn-cs"/>
            </a:endParaRPr>
          </a:p>
          <a:p>
            <a:pPr>
              <a:buFont typeface="Arial" pitchFamily="34" charset="0"/>
              <a:buChar char="•"/>
            </a:pPr>
            <a:r>
              <a:rPr lang="en-AU" sz="1200" b="0" kern="1200" baseline="0" dirty="0" smtClean="0">
                <a:solidFill>
                  <a:schemeClr val="tx1"/>
                </a:solidFill>
                <a:ea typeface="+mn-ea"/>
                <a:cs typeface="+mn-cs"/>
              </a:rPr>
              <a:t>Why is this information important?</a:t>
            </a:r>
          </a:p>
          <a:p>
            <a:endParaRPr lang="en-AU" sz="1200" b="1" kern="1200" baseline="0" dirty="0" smtClean="0">
              <a:solidFill>
                <a:schemeClr val="tx1"/>
              </a:solidFill>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80</a:t>
            </a:fld>
            <a:endParaRPr lang="en-US" dirty="0"/>
          </a:p>
        </p:txBody>
      </p:sp>
    </p:spTree>
    <p:extLst>
      <p:ext uri="{BB962C8B-B14F-4D97-AF65-F5344CB8AC3E}">
        <p14:creationId xmlns:p14="http://schemas.microsoft.com/office/powerpoint/2010/main" val="749792843"/>
      </p:ext>
    </p:extLst>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b="1" kern="1200" baseline="0" dirty="0" smtClean="0">
                <a:solidFill>
                  <a:schemeClr val="tx1"/>
                </a:solidFill>
                <a:ea typeface="+mn-ea"/>
                <a:cs typeface="+mn-cs"/>
              </a:rPr>
              <a:t>Class Activity –  Questions</a:t>
            </a:r>
          </a:p>
          <a:p>
            <a:endParaRPr lang="en-AU" sz="1200" b="1" kern="1200" baseline="0" dirty="0" smtClean="0">
              <a:solidFill>
                <a:schemeClr val="tx1"/>
              </a:solidFill>
              <a:ea typeface="+mn-ea"/>
              <a:cs typeface="+mn-cs"/>
            </a:endParaRPr>
          </a:p>
          <a:p>
            <a:pPr>
              <a:buFont typeface="Arial" pitchFamily="34" charset="0"/>
              <a:buChar char="•"/>
            </a:pPr>
            <a:r>
              <a:rPr lang="en-AU" sz="1200" b="0" kern="1200" baseline="0" dirty="0" smtClean="0">
                <a:solidFill>
                  <a:schemeClr val="tx1"/>
                </a:solidFill>
                <a:ea typeface="+mn-ea"/>
                <a:cs typeface="+mn-cs"/>
              </a:rPr>
              <a:t>Why is this information important?</a:t>
            </a:r>
          </a:p>
          <a:p>
            <a:endParaRPr lang="en-AU" sz="1200" b="1" kern="1200" baseline="0" dirty="0" smtClean="0">
              <a:solidFill>
                <a:schemeClr val="tx1"/>
              </a:solidFill>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81</a:t>
            </a:fld>
            <a:endParaRPr lang="en-US" dirty="0"/>
          </a:p>
        </p:txBody>
      </p:sp>
    </p:spTree>
    <p:extLst>
      <p:ext uri="{BB962C8B-B14F-4D97-AF65-F5344CB8AC3E}">
        <p14:creationId xmlns:p14="http://schemas.microsoft.com/office/powerpoint/2010/main" val="3944986564"/>
      </p:ext>
    </p:extLst>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b="1" kern="1200" baseline="0" dirty="0" smtClean="0">
                <a:solidFill>
                  <a:schemeClr val="tx1"/>
                </a:solidFill>
                <a:ea typeface="+mn-ea"/>
                <a:cs typeface="+mn-cs"/>
              </a:rPr>
              <a:t>Class Activity –  Questions</a:t>
            </a:r>
          </a:p>
          <a:p>
            <a:endParaRPr lang="en-AU" sz="1200" b="1" kern="1200" baseline="0" dirty="0" smtClean="0">
              <a:solidFill>
                <a:schemeClr val="tx1"/>
              </a:solidFill>
              <a:ea typeface="+mn-ea"/>
              <a:cs typeface="+mn-cs"/>
            </a:endParaRPr>
          </a:p>
          <a:p>
            <a:pPr>
              <a:buFont typeface="Arial" pitchFamily="34" charset="0"/>
              <a:buChar char="•"/>
            </a:pPr>
            <a:r>
              <a:rPr lang="en-AU" sz="1200" b="0" kern="1200" baseline="0" dirty="0" smtClean="0">
                <a:solidFill>
                  <a:schemeClr val="tx1"/>
                </a:solidFill>
                <a:ea typeface="+mn-ea"/>
                <a:cs typeface="+mn-cs"/>
              </a:rPr>
              <a:t>Why is this information important?</a:t>
            </a:r>
          </a:p>
          <a:p>
            <a:endParaRPr lang="en-AU" sz="1200" b="1" kern="1200" baseline="0" dirty="0" smtClean="0">
              <a:solidFill>
                <a:schemeClr val="tx1"/>
              </a:solidFill>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82</a:t>
            </a:fld>
            <a:endParaRPr lang="en-US" dirty="0"/>
          </a:p>
        </p:txBody>
      </p:sp>
    </p:spTree>
    <p:extLst>
      <p:ext uri="{BB962C8B-B14F-4D97-AF65-F5344CB8AC3E}">
        <p14:creationId xmlns:p14="http://schemas.microsoft.com/office/powerpoint/2010/main" val="3111808914"/>
      </p:ext>
    </p:extLst>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b="1" kern="1200" baseline="0" dirty="0" smtClean="0">
                <a:solidFill>
                  <a:schemeClr val="tx1"/>
                </a:solidFill>
                <a:ea typeface="+mn-ea"/>
                <a:cs typeface="+mn-cs"/>
              </a:rPr>
              <a:t>Class Activity –  Questions</a:t>
            </a:r>
          </a:p>
          <a:p>
            <a:endParaRPr lang="en-AU" sz="1200" b="1" kern="1200" baseline="0" dirty="0" smtClean="0">
              <a:solidFill>
                <a:schemeClr val="tx1"/>
              </a:solidFill>
              <a:ea typeface="+mn-ea"/>
              <a:cs typeface="+mn-cs"/>
            </a:endParaRPr>
          </a:p>
          <a:p>
            <a:pPr>
              <a:buFont typeface="Arial" pitchFamily="34" charset="0"/>
              <a:buChar char="•"/>
            </a:pPr>
            <a:r>
              <a:rPr lang="en-AU" sz="1200" b="0" kern="1200" baseline="0" dirty="0" smtClean="0">
                <a:solidFill>
                  <a:schemeClr val="tx1"/>
                </a:solidFill>
                <a:ea typeface="+mn-ea"/>
                <a:cs typeface="+mn-cs"/>
              </a:rPr>
              <a:t>Why is this information important?</a:t>
            </a:r>
          </a:p>
          <a:p>
            <a:endParaRPr lang="en-AU" sz="1200" b="1" kern="1200" baseline="0" dirty="0" smtClean="0">
              <a:solidFill>
                <a:schemeClr val="tx1"/>
              </a:solidFill>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83</a:t>
            </a:fld>
            <a:endParaRPr lang="en-US" dirty="0"/>
          </a:p>
        </p:txBody>
      </p:sp>
    </p:spTree>
    <p:extLst>
      <p:ext uri="{BB962C8B-B14F-4D97-AF65-F5344CB8AC3E}">
        <p14:creationId xmlns:p14="http://schemas.microsoft.com/office/powerpoint/2010/main" val="2743722103"/>
      </p:ext>
    </p:extLst>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b="1" kern="1200" baseline="0" dirty="0" smtClean="0">
                <a:solidFill>
                  <a:schemeClr val="tx1"/>
                </a:solidFill>
                <a:ea typeface="+mn-ea"/>
                <a:cs typeface="+mn-cs"/>
              </a:rPr>
              <a:t>Class Activity –  Questions</a:t>
            </a:r>
          </a:p>
          <a:p>
            <a:endParaRPr lang="en-AU" sz="1200" b="1" kern="1200" baseline="0" dirty="0" smtClean="0">
              <a:solidFill>
                <a:schemeClr val="tx1"/>
              </a:solidFill>
              <a:ea typeface="+mn-ea"/>
              <a:cs typeface="+mn-cs"/>
            </a:endParaRPr>
          </a:p>
          <a:p>
            <a:pPr>
              <a:buFont typeface="Arial" pitchFamily="34" charset="0"/>
              <a:buChar char="•"/>
            </a:pPr>
            <a:r>
              <a:rPr lang="en-AU" sz="1200" b="0" kern="1200" baseline="0" dirty="0" smtClean="0">
                <a:solidFill>
                  <a:schemeClr val="tx1"/>
                </a:solidFill>
                <a:ea typeface="+mn-ea"/>
                <a:cs typeface="+mn-cs"/>
              </a:rPr>
              <a:t>Why is this information important?</a:t>
            </a:r>
          </a:p>
          <a:p>
            <a:endParaRPr lang="en-AU" sz="1200" b="1" kern="1200" baseline="0" dirty="0" smtClean="0">
              <a:solidFill>
                <a:schemeClr val="tx1"/>
              </a:solidFill>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84</a:t>
            </a:fld>
            <a:endParaRPr lang="en-US" dirty="0"/>
          </a:p>
        </p:txBody>
      </p:sp>
    </p:spTree>
    <p:extLst>
      <p:ext uri="{BB962C8B-B14F-4D97-AF65-F5344CB8AC3E}">
        <p14:creationId xmlns:p14="http://schemas.microsoft.com/office/powerpoint/2010/main" val="3854180643"/>
      </p:ext>
    </p:extLst>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b="1" kern="1200" baseline="0" dirty="0" smtClean="0">
                <a:solidFill>
                  <a:schemeClr val="tx1"/>
                </a:solidFill>
                <a:ea typeface="+mn-ea"/>
                <a:cs typeface="+mn-cs"/>
              </a:rPr>
              <a:t>Class Activity –  Discussion</a:t>
            </a:r>
          </a:p>
          <a:p>
            <a:endParaRPr lang="en-AU" sz="1200" b="1" kern="1200" baseline="0" dirty="0" smtClean="0">
              <a:solidFill>
                <a:schemeClr val="tx1"/>
              </a:solidFill>
              <a:ea typeface="+mn-ea"/>
              <a:cs typeface="+mn-cs"/>
            </a:endParaRPr>
          </a:p>
          <a:p>
            <a:pPr>
              <a:buFont typeface="Arial" pitchFamily="34" charset="0"/>
              <a:buChar char="•"/>
            </a:pPr>
            <a:r>
              <a:rPr lang="en-AU" sz="1200" b="0" kern="1200" baseline="0" dirty="0" smtClean="0">
                <a:solidFill>
                  <a:schemeClr val="tx1"/>
                </a:solidFill>
                <a:ea typeface="+mn-ea"/>
                <a:cs typeface="+mn-cs"/>
              </a:rPr>
              <a:t>Explain the process of per diems</a:t>
            </a:r>
          </a:p>
          <a:p>
            <a:pPr>
              <a:buFont typeface="Arial" pitchFamily="34" charset="0"/>
              <a:buChar char="•"/>
            </a:pPr>
            <a:r>
              <a:rPr lang="en-AU" sz="1200" b="0" kern="1200" baseline="0" dirty="0" smtClean="0">
                <a:solidFill>
                  <a:schemeClr val="tx1"/>
                </a:solidFill>
                <a:ea typeface="+mn-ea"/>
                <a:cs typeface="+mn-cs"/>
              </a:rPr>
              <a:t>Explain the different ways they can be valued or allocated.</a:t>
            </a:r>
          </a:p>
          <a:p>
            <a:endParaRPr lang="en-AU" sz="1200" b="1" kern="1200" baseline="0" dirty="0" smtClean="0">
              <a:solidFill>
                <a:schemeClr val="tx1"/>
              </a:solidFill>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85</a:t>
            </a:fld>
            <a:endParaRPr lang="en-US" dirty="0"/>
          </a:p>
        </p:txBody>
      </p:sp>
    </p:spTree>
    <p:extLst>
      <p:ext uri="{BB962C8B-B14F-4D97-AF65-F5344CB8AC3E}">
        <p14:creationId xmlns:p14="http://schemas.microsoft.com/office/powerpoint/2010/main" val="3838205820"/>
      </p:ext>
    </p:extLst>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b="1" kern="1200" baseline="0" dirty="0" smtClean="0">
                <a:solidFill>
                  <a:schemeClr val="tx1"/>
                </a:solidFill>
                <a:ea typeface="+mn-ea"/>
                <a:cs typeface="+mn-cs"/>
              </a:rPr>
              <a:t>Class Activity –  Questions</a:t>
            </a:r>
          </a:p>
          <a:p>
            <a:endParaRPr lang="en-AU" sz="1200" b="1" kern="1200" baseline="0" dirty="0" smtClean="0">
              <a:solidFill>
                <a:schemeClr val="tx1"/>
              </a:solidFill>
              <a:ea typeface="+mn-ea"/>
              <a:cs typeface="+mn-cs"/>
            </a:endParaRPr>
          </a:p>
          <a:p>
            <a:pPr>
              <a:buFont typeface="Arial" pitchFamily="34" charset="0"/>
              <a:buChar char="•"/>
            </a:pPr>
            <a:r>
              <a:rPr lang="en-AU" sz="1200" b="0" kern="1200" baseline="0" dirty="0" smtClean="0">
                <a:solidFill>
                  <a:schemeClr val="tx1"/>
                </a:solidFill>
                <a:ea typeface="+mn-ea"/>
                <a:cs typeface="+mn-cs"/>
              </a:rPr>
              <a:t>Why is it important to provide pre-event materials?</a:t>
            </a:r>
          </a:p>
          <a:p>
            <a:pPr>
              <a:buFont typeface="Arial" pitchFamily="34" charset="0"/>
              <a:buChar char="•"/>
            </a:pPr>
            <a:r>
              <a:rPr lang="en-AU" sz="1200" b="0" kern="1200" baseline="0" dirty="0" smtClean="0">
                <a:solidFill>
                  <a:schemeClr val="tx1"/>
                </a:solidFill>
                <a:ea typeface="+mn-ea"/>
                <a:cs typeface="+mn-cs"/>
              </a:rPr>
              <a:t>How is the best way to get these materials to participants?</a:t>
            </a:r>
          </a:p>
          <a:p>
            <a:endParaRPr lang="en-AU" sz="1200" b="1" kern="1200" baseline="0" dirty="0" smtClean="0">
              <a:solidFill>
                <a:schemeClr val="tx1"/>
              </a:solidFill>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86</a:t>
            </a:fld>
            <a:endParaRPr lang="en-US" dirty="0"/>
          </a:p>
        </p:txBody>
      </p:sp>
    </p:spTree>
    <p:extLst>
      <p:ext uri="{BB962C8B-B14F-4D97-AF65-F5344CB8AC3E}">
        <p14:creationId xmlns:p14="http://schemas.microsoft.com/office/powerpoint/2010/main" val="1772495202"/>
      </p:ext>
    </p:extLst>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b="1" kern="1200" baseline="0" dirty="0" smtClean="0">
                <a:solidFill>
                  <a:schemeClr val="tx1"/>
                </a:solidFill>
                <a:ea typeface="+mn-ea"/>
                <a:cs typeface="+mn-cs"/>
              </a:rPr>
              <a:t>Class Activity –  Questions</a:t>
            </a:r>
          </a:p>
          <a:p>
            <a:endParaRPr lang="en-AU" sz="1200" b="1" kern="1200" baseline="0" dirty="0" smtClean="0">
              <a:solidFill>
                <a:schemeClr val="tx1"/>
              </a:solidFill>
              <a:ea typeface="+mn-ea"/>
              <a:cs typeface="+mn-cs"/>
            </a:endParaRPr>
          </a:p>
          <a:p>
            <a:pPr>
              <a:buFont typeface="Arial" pitchFamily="34" charset="0"/>
              <a:buChar char="•"/>
            </a:pPr>
            <a:r>
              <a:rPr lang="en-AU" sz="1200" b="0" kern="1200" baseline="0" dirty="0" smtClean="0">
                <a:solidFill>
                  <a:schemeClr val="tx1"/>
                </a:solidFill>
                <a:ea typeface="+mn-ea"/>
                <a:cs typeface="+mn-cs"/>
              </a:rPr>
              <a:t>Why is it important to provide pre-event materials?</a:t>
            </a:r>
          </a:p>
          <a:p>
            <a:pPr>
              <a:buFont typeface="Arial" pitchFamily="34" charset="0"/>
              <a:buChar char="•"/>
            </a:pPr>
            <a:r>
              <a:rPr lang="en-AU" sz="1200" b="0" kern="1200" baseline="0" dirty="0" smtClean="0">
                <a:solidFill>
                  <a:schemeClr val="tx1"/>
                </a:solidFill>
                <a:ea typeface="+mn-ea"/>
                <a:cs typeface="+mn-cs"/>
              </a:rPr>
              <a:t>How is the best way to get these materials to participants?</a:t>
            </a:r>
          </a:p>
          <a:p>
            <a:endParaRPr lang="en-AU" sz="1200" b="1" kern="1200" baseline="0" dirty="0" smtClean="0">
              <a:solidFill>
                <a:schemeClr val="tx1"/>
              </a:solidFill>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87</a:t>
            </a:fld>
            <a:endParaRPr lang="en-US" dirty="0"/>
          </a:p>
        </p:txBody>
      </p:sp>
    </p:spTree>
    <p:extLst>
      <p:ext uri="{BB962C8B-B14F-4D97-AF65-F5344CB8AC3E}">
        <p14:creationId xmlns:p14="http://schemas.microsoft.com/office/powerpoint/2010/main" val="916566433"/>
      </p:ext>
    </p:extLst>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b="1" kern="1200" baseline="0" dirty="0" smtClean="0">
                <a:solidFill>
                  <a:schemeClr val="tx1"/>
                </a:solidFill>
                <a:ea typeface="+mn-ea"/>
                <a:cs typeface="+mn-cs"/>
              </a:rPr>
              <a:t>Class Activity –  Questions</a:t>
            </a:r>
          </a:p>
          <a:p>
            <a:endParaRPr lang="en-AU" sz="1200" b="1" kern="1200" baseline="0" dirty="0" smtClean="0">
              <a:solidFill>
                <a:schemeClr val="tx1"/>
              </a:solidFill>
              <a:ea typeface="+mn-ea"/>
              <a:cs typeface="+mn-cs"/>
            </a:endParaRPr>
          </a:p>
          <a:p>
            <a:pPr>
              <a:buFont typeface="Arial" pitchFamily="34" charset="0"/>
              <a:buChar char="•"/>
            </a:pPr>
            <a:r>
              <a:rPr lang="en-AU" sz="1200" b="0" kern="1200" baseline="0" dirty="0" smtClean="0">
                <a:solidFill>
                  <a:schemeClr val="tx1"/>
                </a:solidFill>
                <a:ea typeface="+mn-ea"/>
                <a:cs typeface="+mn-cs"/>
              </a:rPr>
              <a:t>Discuss question in the slide.</a:t>
            </a:r>
          </a:p>
          <a:p>
            <a:endParaRPr lang="en-AU" sz="1200" b="1" kern="1200" baseline="0" dirty="0" smtClean="0">
              <a:solidFill>
                <a:schemeClr val="tx1"/>
              </a:solidFill>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88</a:t>
            </a:fld>
            <a:endParaRPr lang="en-US" dirty="0"/>
          </a:p>
        </p:txBody>
      </p:sp>
    </p:spTree>
    <p:extLst>
      <p:ext uri="{BB962C8B-B14F-4D97-AF65-F5344CB8AC3E}">
        <p14:creationId xmlns:p14="http://schemas.microsoft.com/office/powerpoint/2010/main" val="88570314"/>
      </p:ext>
    </p:extLst>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b="1" kern="1200" baseline="0" dirty="0" smtClean="0">
                <a:solidFill>
                  <a:schemeClr val="tx1"/>
                </a:solidFill>
                <a:ea typeface="+mn-ea"/>
                <a:cs typeface="+mn-cs"/>
              </a:rPr>
              <a:t>Class Activity –  Questions</a:t>
            </a:r>
          </a:p>
          <a:p>
            <a:endParaRPr lang="en-AU" sz="1200" b="1" kern="1200" baseline="0" dirty="0" smtClean="0">
              <a:solidFill>
                <a:schemeClr val="tx1"/>
              </a:solidFill>
              <a:ea typeface="+mn-ea"/>
              <a:cs typeface="+mn-cs"/>
            </a:endParaRPr>
          </a:p>
          <a:p>
            <a:pPr>
              <a:buFont typeface="Arial" pitchFamily="34" charset="0"/>
              <a:buChar char="•"/>
            </a:pPr>
            <a:r>
              <a:rPr lang="en-AU" sz="1200" b="0" kern="1200" baseline="0" dirty="0" smtClean="0">
                <a:solidFill>
                  <a:schemeClr val="tx1"/>
                </a:solidFill>
                <a:ea typeface="+mn-ea"/>
                <a:cs typeface="+mn-cs"/>
              </a:rPr>
              <a:t>Why are these resources important?</a:t>
            </a:r>
          </a:p>
          <a:p>
            <a:pPr>
              <a:buFont typeface="Arial" pitchFamily="34" charset="0"/>
              <a:buChar char="•"/>
            </a:pPr>
            <a:r>
              <a:rPr lang="en-AU" sz="1200" b="0" kern="1200" baseline="0" dirty="0" smtClean="0">
                <a:solidFill>
                  <a:schemeClr val="tx1"/>
                </a:solidFill>
                <a:ea typeface="+mn-ea"/>
                <a:cs typeface="+mn-cs"/>
              </a:rPr>
              <a:t>What activities need to take place in relation to each?</a:t>
            </a:r>
          </a:p>
          <a:p>
            <a:endParaRPr lang="en-AU" sz="1200" b="1" kern="1200" baseline="0" dirty="0" smtClean="0">
              <a:solidFill>
                <a:schemeClr val="tx1"/>
              </a:solidFill>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89</a:t>
            </a:fld>
            <a:endParaRPr lang="en-US" dirty="0"/>
          </a:p>
        </p:txBody>
      </p:sp>
    </p:spTree>
    <p:extLst>
      <p:ext uri="{BB962C8B-B14F-4D97-AF65-F5344CB8AC3E}">
        <p14:creationId xmlns:p14="http://schemas.microsoft.com/office/powerpoint/2010/main" val="1818303589"/>
      </p:ext>
    </p:extLst>
  </p:cSld>
  <p:clrMapOvr>
    <a:masterClrMapping/>
  </p:clrMapOvr>
</p:notes>
</file>

<file path=ppt/notesSlides/notesSlide9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b="1" kern="1200" baseline="0" dirty="0" smtClean="0">
                <a:solidFill>
                  <a:schemeClr val="tx1"/>
                </a:solidFill>
                <a:ea typeface="+mn-ea"/>
                <a:cs typeface="+mn-cs"/>
              </a:rPr>
              <a:t>Class Activity –  Questions</a:t>
            </a:r>
          </a:p>
          <a:p>
            <a:endParaRPr lang="en-AU" sz="1200" b="1" kern="1200" baseline="0" dirty="0" smtClean="0">
              <a:solidFill>
                <a:schemeClr val="tx1"/>
              </a:solidFill>
              <a:ea typeface="+mn-ea"/>
              <a:cs typeface="+mn-cs"/>
            </a:endParaRPr>
          </a:p>
          <a:p>
            <a:pPr>
              <a:buFont typeface="Arial" pitchFamily="34" charset="0"/>
              <a:buChar char="•"/>
            </a:pPr>
            <a:r>
              <a:rPr lang="en-AU" sz="1200" b="0" kern="1200" baseline="0" dirty="0" smtClean="0">
                <a:solidFill>
                  <a:schemeClr val="tx1"/>
                </a:solidFill>
                <a:ea typeface="+mn-ea"/>
                <a:cs typeface="+mn-cs"/>
              </a:rPr>
              <a:t>Why are these attendance requirements important?</a:t>
            </a:r>
          </a:p>
          <a:p>
            <a:endParaRPr lang="en-AU" sz="1200" b="1" kern="1200" baseline="0" dirty="0" smtClean="0">
              <a:solidFill>
                <a:schemeClr val="tx1"/>
              </a:solidFill>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90</a:t>
            </a:fld>
            <a:endParaRPr lang="en-US" dirty="0"/>
          </a:p>
        </p:txBody>
      </p:sp>
    </p:spTree>
    <p:extLst>
      <p:ext uri="{BB962C8B-B14F-4D97-AF65-F5344CB8AC3E}">
        <p14:creationId xmlns:p14="http://schemas.microsoft.com/office/powerpoint/2010/main" val="31803633"/>
      </p:ext>
    </p:extLst>
  </p:cSld>
  <p:clrMapOvr>
    <a:masterClrMapping/>
  </p:clrMapOvr>
</p:notes>
</file>

<file path=ppt/notesSlides/notesSlide9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b="1" kern="1200" baseline="0" dirty="0" smtClean="0">
                <a:solidFill>
                  <a:schemeClr val="tx1"/>
                </a:solidFill>
                <a:ea typeface="+mn-ea"/>
                <a:cs typeface="+mn-cs"/>
              </a:rPr>
              <a:t>Class Activity –  Questions</a:t>
            </a:r>
          </a:p>
          <a:p>
            <a:endParaRPr lang="en-AU" sz="1200" b="1" kern="1200" baseline="0" dirty="0" smtClean="0">
              <a:solidFill>
                <a:schemeClr val="tx1"/>
              </a:solidFill>
              <a:ea typeface="+mn-ea"/>
              <a:cs typeface="+mn-cs"/>
            </a:endParaRPr>
          </a:p>
          <a:p>
            <a:pPr>
              <a:buFont typeface="Arial" pitchFamily="34" charset="0"/>
              <a:buChar char="•"/>
            </a:pPr>
            <a:r>
              <a:rPr lang="en-AU" sz="1200" b="0" kern="1200" baseline="0" dirty="0" smtClean="0">
                <a:solidFill>
                  <a:schemeClr val="tx1"/>
                </a:solidFill>
                <a:ea typeface="+mn-ea"/>
                <a:cs typeface="+mn-cs"/>
              </a:rPr>
              <a:t>Why are these attendance requirements important?</a:t>
            </a:r>
          </a:p>
          <a:p>
            <a:endParaRPr lang="en-AU" sz="1200" b="1" kern="1200" baseline="0" dirty="0" smtClean="0">
              <a:solidFill>
                <a:schemeClr val="tx1"/>
              </a:solidFill>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91</a:t>
            </a:fld>
            <a:endParaRPr lang="en-US" dirty="0"/>
          </a:p>
        </p:txBody>
      </p:sp>
    </p:spTree>
    <p:extLst>
      <p:ext uri="{BB962C8B-B14F-4D97-AF65-F5344CB8AC3E}">
        <p14:creationId xmlns:p14="http://schemas.microsoft.com/office/powerpoint/2010/main" val="3292737122"/>
      </p:ext>
    </p:extLst>
  </p:cSld>
  <p:clrMapOvr>
    <a:masterClrMapping/>
  </p:clrMapOvr>
</p:notes>
</file>

<file path=ppt/notesSlides/notesSlide9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b="1" kern="1200" baseline="0" dirty="0" smtClean="0">
                <a:solidFill>
                  <a:schemeClr val="tx1"/>
                </a:solidFill>
                <a:ea typeface="+mn-ea"/>
                <a:cs typeface="+mn-cs"/>
              </a:rPr>
              <a:t>Class Activity –  Questions</a:t>
            </a:r>
          </a:p>
          <a:p>
            <a:endParaRPr lang="en-AU" sz="1200" b="1" kern="1200" baseline="0" dirty="0" smtClean="0">
              <a:solidFill>
                <a:schemeClr val="tx1"/>
              </a:solidFill>
              <a:ea typeface="+mn-ea"/>
              <a:cs typeface="+mn-cs"/>
            </a:endParaRPr>
          </a:p>
          <a:p>
            <a:pPr>
              <a:buFont typeface="Arial" pitchFamily="34" charset="0"/>
              <a:buChar char="•"/>
            </a:pPr>
            <a:r>
              <a:rPr lang="en-AU" sz="1200" b="0" kern="1200" baseline="0" dirty="0" smtClean="0">
                <a:solidFill>
                  <a:schemeClr val="tx1"/>
                </a:solidFill>
                <a:ea typeface="+mn-ea"/>
                <a:cs typeface="+mn-cs"/>
              </a:rPr>
              <a:t>What does the learner need to know?</a:t>
            </a:r>
          </a:p>
          <a:p>
            <a:pPr>
              <a:buFont typeface="Arial" pitchFamily="34" charset="0"/>
              <a:buChar char="•"/>
            </a:pPr>
            <a:r>
              <a:rPr lang="en-AU" sz="1200" b="0" kern="1200" baseline="0" dirty="0" smtClean="0">
                <a:solidFill>
                  <a:schemeClr val="tx1"/>
                </a:solidFill>
                <a:ea typeface="+mn-ea"/>
                <a:cs typeface="+mn-cs"/>
              </a:rPr>
              <a:t>What does the trainer need to know?</a:t>
            </a:r>
          </a:p>
          <a:p>
            <a:pPr>
              <a:buFont typeface="Arial" pitchFamily="34" charset="0"/>
              <a:buChar char="•"/>
            </a:pPr>
            <a:endParaRPr lang="en-AU" sz="1200" b="0" kern="1200" baseline="0" dirty="0" smtClean="0">
              <a:solidFill>
                <a:schemeClr val="tx1"/>
              </a:solidFill>
              <a:ea typeface="+mn-ea"/>
              <a:cs typeface="+mn-cs"/>
            </a:endParaRPr>
          </a:p>
          <a:p>
            <a:pPr>
              <a:buFont typeface="Arial" pitchFamily="34" charset="0"/>
              <a:buChar char="•"/>
            </a:pPr>
            <a:r>
              <a:rPr lang="en-AU" sz="1200" b="0" kern="1200" baseline="0" dirty="0" smtClean="0">
                <a:solidFill>
                  <a:schemeClr val="tx1"/>
                </a:solidFill>
                <a:ea typeface="+mn-ea"/>
                <a:cs typeface="+mn-cs"/>
              </a:rPr>
              <a:t>Refer to the Manual.</a:t>
            </a:r>
          </a:p>
          <a:p>
            <a:endParaRPr lang="en-AU" sz="1200" b="1" kern="1200" baseline="0" dirty="0" smtClean="0">
              <a:solidFill>
                <a:schemeClr val="tx1"/>
              </a:solidFill>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92</a:t>
            </a:fld>
            <a:endParaRPr lang="en-US" dirty="0"/>
          </a:p>
        </p:txBody>
      </p:sp>
    </p:spTree>
    <p:extLst>
      <p:ext uri="{BB962C8B-B14F-4D97-AF65-F5344CB8AC3E}">
        <p14:creationId xmlns:p14="http://schemas.microsoft.com/office/powerpoint/2010/main" val="3789649447"/>
      </p:ext>
    </p:extLst>
  </p:cSld>
  <p:clrMapOvr>
    <a:masterClrMapping/>
  </p:clrMapOvr>
</p:notes>
</file>

<file path=ppt/notesSlides/notesSlide9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b="1" kern="1200" baseline="0" dirty="0" smtClean="0">
                <a:solidFill>
                  <a:schemeClr val="tx1"/>
                </a:solidFill>
                <a:ea typeface="+mn-ea"/>
                <a:cs typeface="+mn-cs"/>
              </a:rPr>
              <a:t>Class Activity –  Questions</a:t>
            </a:r>
          </a:p>
          <a:p>
            <a:endParaRPr lang="en-AU" sz="1200" b="1" kern="1200" baseline="0" dirty="0" smtClean="0">
              <a:solidFill>
                <a:schemeClr val="tx1"/>
              </a:solidFill>
              <a:ea typeface="+mn-ea"/>
              <a:cs typeface="+mn-cs"/>
            </a:endParaRPr>
          </a:p>
          <a:p>
            <a:pPr>
              <a:buFont typeface="Arial" pitchFamily="34" charset="0"/>
              <a:buChar char="•"/>
            </a:pPr>
            <a:r>
              <a:rPr lang="en-AU" sz="1200" b="0" kern="1200" baseline="0" dirty="0" smtClean="0">
                <a:solidFill>
                  <a:schemeClr val="tx1"/>
                </a:solidFill>
                <a:ea typeface="+mn-ea"/>
                <a:cs typeface="+mn-cs"/>
              </a:rPr>
              <a:t>Discuss the question in the slide.</a:t>
            </a:r>
            <a:endParaRPr lang="en-AU" sz="1200" b="1" kern="1200" baseline="0" dirty="0" smtClean="0">
              <a:solidFill>
                <a:schemeClr val="tx1"/>
              </a:solidFill>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93</a:t>
            </a:fld>
            <a:endParaRPr lang="en-US" dirty="0"/>
          </a:p>
        </p:txBody>
      </p:sp>
    </p:spTree>
    <p:extLst>
      <p:ext uri="{BB962C8B-B14F-4D97-AF65-F5344CB8AC3E}">
        <p14:creationId xmlns:p14="http://schemas.microsoft.com/office/powerpoint/2010/main" val="3829623266"/>
      </p:ext>
    </p:extLst>
  </p:cSld>
  <p:clrMapOvr>
    <a:masterClrMapping/>
  </p:clrMapOvr>
</p:notes>
</file>

<file path=ppt/notesSlides/notesSlide9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b="1" kern="1200" baseline="0" dirty="0" smtClean="0">
                <a:solidFill>
                  <a:schemeClr val="tx1"/>
                </a:solidFill>
                <a:ea typeface="+mn-ea"/>
                <a:cs typeface="+mn-cs"/>
              </a:rPr>
              <a:t>Class Activity –  Questions</a:t>
            </a:r>
          </a:p>
          <a:p>
            <a:endParaRPr lang="en-AU" sz="1200" b="1" kern="1200" baseline="0" dirty="0" smtClean="0">
              <a:solidFill>
                <a:schemeClr val="tx1"/>
              </a:solidFill>
              <a:ea typeface="+mn-ea"/>
              <a:cs typeface="+mn-cs"/>
            </a:endParaRPr>
          </a:p>
          <a:p>
            <a:pPr>
              <a:buFont typeface="Arial" pitchFamily="34" charset="0"/>
              <a:buChar char="•"/>
            </a:pPr>
            <a:r>
              <a:rPr lang="en-AU" sz="1200" b="0" kern="1200" baseline="0" dirty="0" smtClean="0">
                <a:solidFill>
                  <a:schemeClr val="tx1"/>
                </a:solidFill>
                <a:ea typeface="+mn-ea"/>
                <a:cs typeface="+mn-cs"/>
              </a:rPr>
              <a:t>Discuss the questions in the slide.</a:t>
            </a:r>
            <a:endParaRPr lang="en-AU" sz="1200" b="1" kern="1200" baseline="0" dirty="0" smtClean="0">
              <a:solidFill>
                <a:schemeClr val="tx1"/>
              </a:solidFill>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94</a:t>
            </a:fld>
            <a:endParaRPr lang="en-US" dirty="0"/>
          </a:p>
        </p:txBody>
      </p:sp>
    </p:spTree>
    <p:extLst>
      <p:ext uri="{BB962C8B-B14F-4D97-AF65-F5344CB8AC3E}">
        <p14:creationId xmlns:p14="http://schemas.microsoft.com/office/powerpoint/2010/main" val="3305595030"/>
      </p:ext>
    </p:extLst>
  </p:cSld>
  <p:clrMapOvr>
    <a:masterClrMapping/>
  </p:clrMapOvr>
</p:notes>
</file>

<file path=ppt/notesSlides/notesSlide9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b="1" kern="1200" baseline="0" dirty="0" smtClean="0">
                <a:solidFill>
                  <a:schemeClr val="tx1"/>
                </a:solidFill>
                <a:ea typeface="+mn-ea"/>
                <a:cs typeface="+mn-cs"/>
              </a:rPr>
              <a:t>Class Activity –  Questions </a:t>
            </a:r>
          </a:p>
          <a:p>
            <a:endParaRPr lang="en-AU" sz="1200" b="1" kern="1200" baseline="0" dirty="0" smtClean="0">
              <a:solidFill>
                <a:schemeClr val="tx1"/>
              </a:solidFill>
              <a:ea typeface="+mn-ea"/>
              <a:cs typeface="+mn-cs"/>
            </a:endParaRPr>
          </a:p>
          <a:p>
            <a:pPr>
              <a:buFont typeface="Arial" pitchFamily="34" charset="0"/>
              <a:buChar char="•"/>
            </a:pPr>
            <a:r>
              <a:rPr lang="en-AU" sz="1200" b="0" kern="1200" baseline="0" dirty="0" smtClean="0">
                <a:solidFill>
                  <a:schemeClr val="tx1"/>
                </a:solidFill>
                <a:ea typeface="+mn-ea"/>
                <a:cs typeface="+mn-cs"/>
              </a:rPr>
              <a:t>Why is this important?</a:t>
            </a:r>
          </a:p>
        </p:txBody>
      </p:sp>
      <p:sp>
        <p:nvSpPr>
          <p:cNvPr id="4" name="Slide Number Placeholder 3"/>
          <p:cNvSpPr>
            <a:spLocks noGrp="1"/>
          </p:cNvSpPr>
          <p:nvPr>
            <p:ph type="sldNum" sz="quarter" idx="10"/>
          </p:nvPr>
        </p:nvSpPr>
        <p:spPr/>
        <p:txBody>
          <a:bodyPr/>
          <a:lstStyle/>
          <a:p>
            <a:fld id="{006CD3C9-0AF2-437D-9D2F-7B6B298CC32F}" type="slidenum">
              <a:rPr lang="en-US" smtClean="0"/>
              <a:pPr/>
              <a:t>95</a:t>
            </a:fld>
            <a:endParaRPr lang="en-US" dirty="0"/>
          </a:p>
        </p:txBody>
      </p:sp>
    </p:spTree>
    <p:extLst>
      <p:ext uri="{BB962C8B-B14F-4D97-AF65-F5344CB8AC3E}">
        <p14:creationId xmlns:p14="http://schemas.microsoft.com/office/powerpoint/2010/main" val="3028789246"/>
      </p:ext>
    </p:extLst>
  </p:cSld>
  <p:clrMapOvr>
    <a:masterClrMapping/>
  </p:clrMapOvr>
</p:notes>
</file>

<file path=ppt/notesSlides/notesSlide9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b="1" kern="1200" baseline="0" dirty="0" smtClean="0">
                <a:solidFill>
                  <a:schemeClr val="tx1"/>
                </a:solidFill>
                <a:ea typeface="+mn-ea"/>
                <a:cs typeface="+mn-cs"/>
              </a:rPr>
              <a:t>Class Activity –  Questions</a:t>
            </a:r>
          </a:p>
          <a:p>
            <a:endParaRPr lang="en-AU" sz="1200" b="1" kern="1200" baseline="0" dirty="0" smtClean="0">
              <a:solidFill>
                <a:schemeClr val="tx1"/>
              </a:solidFill>
              <a:ea typeface="+mn-ea"/>
              <a:cs typeface="+mn-cs"/>
            </a:endParaRPr>
          </a:p>
          <a:p>
            <a:pPr>
              <a:buFont typeface="Arial" pitchFamily="34" charset="0"/>
              <a:buChar char="•"/>
            </a:pPr>
            <a:r>
              <a:rPr lang="en-AU" sz="1200" b="0" kern="1200" baseline="0" dirty="0" smtClean="0">
                <a:solidFill>
                  <a:schemeClr val="tx1"/>
                </a:solidFill>
                <a:ea typeface="+mn-ea"/>
                <a:cs typeface="+mn-cs"/>
              </a:rPr>
              <a:t>What information would you like to collect in relation to these two areas?</a:t>
            </a:r>
          </a:p>
          <a:p>
            <a:pPr>
              <a:buFont typeface="Arial" pitchFamily="34" charset="0"/>
              <a:buNone/>
            </a:pPr>
            <a:endParaRPr lang="en-AU" sz="1200" b="0" kern="1200" baseline="0" dirty="0" smtClean="0">
              <a:solidFill>
                <a:schemeClr val="tx1"/>
              </a:solidFill>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96</a:t>
            </a:fld>
            <a:endParaRPr lang="en-US" dirty="0"/>
          </a:p>
        </p:txBody>
      </p:sp>
    </p:spTree>
    <p:extLst>
      <p:ext uri="{BB962C8B-B14F-4D97-AF65-F5344CB8AC3E}">
        <p14:creationId xmlns:p14="http://schemas.microsoft.com/office/powerpoint/2010/main" val="723912063"/>
      </p:ext>
    </p:extLst>
  </p:cSld>
  <p:clrMapOvr>
    <a:masterClrMapping/>
  </p:clrMapOvr>
</p:notes>
</file>

<file path=ppt/notesSlides/notesSlide9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b="1" kern="1200" baseline="0" dirty="0" smtClean="0">
                <a:solidFill>
                  <a:schemeClr val="tx1"/>
                </a:solidFill>
                <a:ea typeface="+mn-ea"/>
                <a:cs typeface="+mn-cs"/>
              </a:rPr>
              <a:t>Class Activity –  Discussion</a:t>
            </a:r>
          </a:p>
          <a:p>
            <a:endParaRPr lang="en-AU" sz="1200" b="1" kern="1200" baseline="0" dirty="0" smtClean="0">
              <a:solidFill>
                <a:schemeClr val="tx1"/>
              </a:solidFill>
              <a:ea typeface="+mn-ea"/>
              <a:cs typeface="+mn-cs"/>
            </a:endParaRPr>
          </a:p>
          <a:p>
            <a:pPr>
              <a:buFont typeface="Arial" pitchFamily="34" charset="0"/>
              <a:buChar char="•"/>
            </a:pPr>
            <a:r>
              <a:rPr lang="en-AU" sz="1200" b="0" kern="1200" baseline="0" dirty="0" smtClean="0">
                <a:solidFill>
                  <a:schemeClr val="tx1"/>
                </a:solidFill>
                <a:ea typeface="+mn-ea"/>
                <a:cs typeface="+mn-cs"/>
              </a:rPr>
              <a:t>Discuss the considerations and why they are important.</a:t>
            </a:r>
            <a:endParaRPr lang="en-AU" sz="1200" b="1" kern="1200" baseline="0" dirty="0" smtClean="0">
              <a:solidFill>
                <a:schemeClr val="tx1"/>
              </a:solidFill>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97</a:t>
            </a:fld>
            <a:endParaRPr lang="en-US" dirty="0"/>
          </a:p>
        </p:txBody>
      </p:sp>
    </p:spTree>
    <p:extLst>
      <p:ext uri="{BB962C8B-B14F-4D97-AF65-F5344CB8AC3E}">
        <p14:creationId xmlns:p14="http://schemas.microsoft.com/office/powerpoint/2010/main" val="4059764218"/>
      </p:ext>
    </p:extLst>
  </p:cSld>
  <p:clrMapOvr>
    <a:masterClrMapping/>
  </p:clrMapOvr>
</p:notes>
</file>

<file path=ppt/notesSlides/notesSlide9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b="1" kern="1200" baseline="0" dirty="0" smtClean="0">
                <a:solidFill>
                  <a:schemeClr val="tx1"/>
                </a:solidFill>
                <a:ea typeface="+mn-ea"/>
                <a:cs typeface="+mn-cs"/>
              </a:rPr>
              <a:t>Class Activity –  Questions</a:t>
            </a:r>
          </a:p>
          <a:p>
            <a:endParaRPr lang="en-AU" sz="1200" b="1" kern="1200" baseline="0" dirty="0" smtClean="0">
              <a:solidFill>
                <a:schemeClr val="tx1"/>
              </a:solidFill>
              <a:ea typeface="+mn-ea"/>
              <a:cs typeface="+mn-cs"/>
            </a:endParaRPr>
          </a:p>
          <a:p>
            <a:pPr>
              <a:buFont typeface="Arial" pitchFamily="34" charset="0"/>
              <a:buChar char="•"/>
            </a:pPr>
            <a:r>
              <a:rPr lang="en-AU" sz="1200" b="0" kern="1200" baseline="0" dirty="0" smtClean="0">
                <a:solidFill>
                  <a:schemeClr val="tx1"/>
                </a:solidFill>
                <a:ea typeface="+mn-ea"/>
                <a:cs typeface="+mn-cs"/>
              </a:rPr>
              <a:t>What would you do in regards to each of these points?</a:t>
            </a:r>
          </a:p>
          <a:p>
            <a:pPr>
              <a:buFont typeface="Arial" pitchFamily="34" charset="0"/>
              <a:buNone/>
            </a:pPr>
            <a:endParaRPr lang="en-AU" sz="1200" b="0" kern="1200" baseline="0" dirty="0" smtClean="0">
              <a:solidFill>
                <a:schemeClr val="tx1"/>
              </a:solidFill>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98</a:t>
            </a:fld>
            <a:endParaRPr lang="en-US" dirty="0"/>
          </a:p>
        </p:txBody>
      </p:sp>
    </p:spTree>
    <p:extLst>
      <p:ext uri="{BB962C8B-B14F-4D97-AF65-F5344CB8AC3E}">
        <p14:creationId xmlns:p14="http://schemas.microsoft.com/office/powerpoint/2010/main" val="937635746"/>
      </p:ext>
    </p:extLst>
  </p:cSld>
  <p:clrMapOvr>
    <a:masterClrMapping/>
  </p:clrMapOvr>
</p:notes>
</file>

<file path=ppt/notesSlides/notesSlide9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b="1" kern="1200" baseline="0" dirty="0" smtClean="0">
                <a:solidFill>
                  <a:schemeClr val="tx1"/>
                </a:solidFill>
                <a:ea typeface="+mn-ea"/>
                <a:cs typeface="+mn-cs"/>
              </a:rPr>
              <a:t>Class Activity –  Questions</a:t>
            </a:r>
          </a:p>
          <a:p>
            <a:endParaRPr lang="en-AU" sz="1200" b="1" kern="1200" baseline="0" dirty="0" smtClean="0">
              <a:solidFill>
                <a:schemeClr val="tx1"/>
              </a:solidFill>
              <a:ea typeface="+mn-ea"/>
              <a:cs typeface="+mn-cs"/>
            </a:endParaRPr>
          </a:p>
          <a:p>
            <a:pPr>
              <a:buFont typeface="Arial" pitchFamily="34" charset="0"/>
              <a:buNone/>
            </a:pPr>
            <a:r>
              <a:rPr lang="en-AU" sz="1200" b="0" kern="1200" baseline="0" dirty="0" smtClean="0">
                <a:solidFill>
                  <a:schemeClr val="tx1"/>
                </a:solidFill>
                <a:ea typeface="+mn-ea"/>
                <a:cs typeface="+mn-cs"/>
              </a:rPr>
              <a:t>What would you do in regards to each of these points?</a:t>
            </a:r>
          </a:p>
          <a:p>
            <a:pPr>
              <a:buFont typeface="Arial" pitchFamily="34" charset="0"/>
              <a:buChar char="•"/>
            </a:pPr>
            <a:endParaRPr lang="en-AU" sz="1200" b="0" kern="1200" baseline="0" dirty="0" smtClean="0">
              <a:solidFill>
                <a:schemeClr val="tx1"/>
              </a:solidFill>
              <a:ea typeface="+mn-ea"/>
              <a:cs typeface="+mn-cs"/>
            </a:endParaRPr>
          </a:p>
          <a:p>
            <a:pPr lvl="0">
              <a:buFont typeface="Arial" pitchFamily="34" charset="0"/>
              <a:buChar char="•"/>
            </a:pPr>
            <a:r>
              <a:rPr lang="en-AU" sz="1200" dirty="0" smtClean="0"/>
              <a:t>Poor, insufficient or rushed preparation – remember that good training takes time and that the preparation prior to the training session is a major indicator of the success of the training</a:t>
            </a:r>
          </a:p>
          <a:p>
            <a:pPr lvl="0">
              <a:buFont typeface="Arial" pitchFamily="34" charset="0"/>
              <a:buChar char="•"/>
            </a:pPr>
            <a:r>
              <a:rPr lang="en-AU" sz="1200" dirty="0" smtClean="0"/>
              <a:t>Time restraints – it is common for workplaces to place unrealistic expectations on trainers, asking them to do too much in too short a time: where you genuinely believe you are being allocated insufficient time, you must raise this with management, explain your concerns and negotiate extra hours</a:t>
            </a:r>
          </a:p>
          <a:p>
            <a:pPr lvl="0">
              <a:buFont typeface="Arial" pitchFamily="34" charset="0"/>
              <a:buChar char="•"/>
            </a:pPr>
            <a:r>
              <a:rPr lang="en-AU" sz="1200" dirty="0" smtClean="0"/>
              <a:t>Communication barriers – including interruptions from outside sources</a:t>
            </a:r>
          </a:p>
          <a:p>
            <a:pPr lvl="0">
              <a:buFont typeface="Arial" pitchFamily="34" charset="0"/>
              <a:buChar char="•"/>
            </a:pPr>
            <a:r>
              <a:rPr lang="en-AU" sz="1200" dirty="0" smtClean="0"/>
              <a:t>Uncomfortable surroundings </a:t>
            </a:r>
          </a:p>
          <a:p>
            <a:pPr lvl="0">
              <a:buFont typeface="Arial" pitchFamily="34" charset="0"/>
              <a:buChar char="•"/>
            </a:pPr>
            <a:r>
              <a:rPr lang="en-AU" sz="1200" dirty="0" smtClean="0"/>
              <a:t>Inappropriate learning tools.</a:t>
            </a:r>
            <a:endParaRPr lang="en-AU" sz="1200" b="0" kern="1200" baseline="0" dirty="0" smtClean="0">
              <a:solidFill>
                <a:schemeClr val="tx1"/>
              </a:solidFill>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99</a:t>
            </a:fld>
            <a:endParaRPr lang="en-US" dirty="0"/>
          </a:p>
        </p:txBody>
      </p:sp>
    </p:spTree>
    <p:extLst>
      <p:ext uri="{BB962C8B-B14F-4D97-AF65-F5344CB8AC3E}">
        <p14:creationId xmlns:p14="http://schemas.microsoft.com/office/powerpoint/2010/main" val="2561535143"/>
      </p:ext>
    </p:extLst>
  </p:cSld>
  <p:clrMapOvr>
    <a:masterClrMapping/>
  </p:clrMapOvr>
</p:notes>
</file>

<file path=ppt/notesSlides/notesSlide10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b="1" kern="1200" baseline="0" dirty="0" smtClean="0">
                <a:solidFill>
                  <a:schemeClr val="tx1"/>
                </a:solidFill>
                <a:ea typeface="+mn-ea"/>
                <a:cs typeface="+mn-cs"/>
              </a:rPr>
              <a:t>Class Activity –  Questions</a:t>
            </a:r>
          </a:p>
          <a:p>
            <a:endParaRPr lang="en-AU" sz="1200" b="1" kern="1200" baseline="0" dirty="0" smtClean="0">
              <a:solidFill>
                <a:schemeClr val="tx1"/>
              </a:solidFill>
              <a:ea typeface="+mn-ea"/>
              <a:cs typeface="+mn-cs"/>
            </a:endParaRPr>
          </a:p>
          <a:p>
            <a:pPr>
              <a:buFont typeface="Arial" pitchFamily="34" charset="0"/>
              <a:buNone/>
            </a:pPr>
            <a:r>
              <a:rPr lang="en-AU" sz="1200" b="0" kern="1200" baseline="0" dirty="0" smtClean="0">
                <a:solidFill>
                  <a:schemeClr val="tx1"/>
                </a:solidFill>
                <a:ea typeface="+mn-ea"/>
                <a:cs typeface="+mn-cs"/>
              </a:rPr>
              <a:t>What would you do in regards to each of these points?</a:t>
            </a:r>
          </a:p>
          <a:p>
            <a:pPr>
              <a:buFont typeface="Arial" pitchFamily="34" charset="0"/>
              <a:buChar char="•"/>
            </a:pPr>
            <a:endParaRPr lang="en-AU" sz="1200" b="0" kern="1200" baseline="0" dirty="0" smtClean="0">
              <a:solidFill>
                <a:schemeClr val="tx1"/>
              </a:solidFill>
              <a:ea typeface="+mn-ea"/>
              <a:cs typeface="+mn-cs"/>
            </a:endParaRPr>
          </a:p>
          <a:p>
            <a:pPr lvl="0">
              <a:buFont typeface="Arial" pitchFamily="34" charset="0"/>
              <a:buChar char="•"/>
            </a:pPr>
            <a:r>
              <a:rPr lang="en-AU" sz="1200" dirty="0" smtClean="0"/>
              <a:t>Broken, dangerous or faulty equipment </a:t>
            </a:r>
          </a:p>
          <a:p>
            <a:pPr lvl="0">
              <a:buFont typeface="Arial" pitchFamily="34" charset="0"/>
              <a:buChar char="•"/>
            </a:pPr>
            <a:r>
              <a:rPr lang="en-AU" sz="1200" dirty="0" smtClean="0"/>
              <a:t>Unmotivated learners – you will recall that a fundamental responsibility of trainers is to provide sufficient motivation for their learners: lots of learners attend training with no real motivation so it is up to you to generate it</a:t>
            </a:r>
          </a:p>
          <a:p>
            <a:pPr lvl="0">
              <a:buFont typeface="Arial" pitchFamily="34" charset="0"/>
              <a:buChar char="•"/>
            </a:pPr>
            <a:r>
              <a:rPr lang="en-AU" sz="1200" dirty="0" smtClean="0"/>
              <a:t>Insufficient stock, or consumables, to allow the training session to be completed as intended – this is commonly a budgetary constraint and where it is a genuine issue you must once again negotiate extra funding from management</a:t>
            </a:r>
          </a:p>
          <a:p>
            <a:pPr lvl="0">
              <a:buFont typeface="Arial" pitchFamily="34" charset="0"/>
              <a:buChar char="•"/>
            </a:pPr>
            <a:r>
              <a:rPr lang="en-AU" sz="1200" dirty="0" smtClean="0"/>
              <a:t>Poor levels of attendance – this may be due to poor motivation, or it can be due to the fact that supervisors will not release staff to attend training.</a:t>
            </a:r>
          </a:p>
          <a:p>
            <a:pPr>
              <a:buFont typeface="Arial" pitchFamily="34" charset="0"/>
              <a:buChar char="•"/>
            </a:pPr>
            <a:endParaRPr lang="en-AU" sz="1200" b="0" kern="1200" baseline="0" dirty="0" smtClean="0">
              <a:solidFill>
                <a:schemeClr val="tx1"/>
              </a:solidFill>
              <a:ea typeface="+mn-ea"/>
              <a:cs typeface="+mn-cs"/>
            </a:endParaRPr>
          </a:p>
          <a:p>
            <a:pPr>
              <a:buFont typeface="Arial" pitchFamily="34" charset="0"/>
              <a:buChar char="•"/>
            </a:pPr>
            <a:endParaRPr lang="en-AU" sz="1200" b="0" kern="1200" baseline="0" dirty="0" smtClean="0">
              <a:solidFill>
                <a:schemeClr val="tx1"/>
              </a:solidFill>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100</a:t>
            </a:fld>
            <a:endParaRPr lang="en-US" dirty="0"/>
          </a:p>
        </p:txBody>
      </p:sp>
    </p:spTree>
    <p:extLst>
      <p:ext uri="{BB962C8B-B14F-4D97-AF65-F5344CB8AC3E}">
        <p14:creationId xmlns:p14="http://schemas.microsoft.com/office/powerpoint/2010/main" val="3370941556"/>
      </p:ext>
    </p:extLst>
  </p:cSld>
  <p:clrMapOvr>
    <a:masterClrMapping/>
  </p:clrMapOvr>
</p:notes>
</file>

<file path=ppt/notesSlides/notesSlide10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b="1" kern="1200" baseline="0" dirty="0" smtClean="0">
                <a:solidFill>
                  <a:schemeClr val="tx1"/>
                </a:solidFill>
                <a:ea typeface="+mn-ea"/>
                <a:cs typeface="+mn-cs"/>
              </a:rPr>
              <a:t>Class Activity –  Questions</a:t>
            </a:r>
          </a:p>
          <a:p>
            <a:endParaRPr lang="en-AU" sz="1200" b="1" kern="1200" baseline="0" dirty="0" smtClean="0">
              <a:solidFill>
                <a:schemeClr val="tx1"/>
              </a:solidFill>
              <a:ea typeface="+mn-ea"/>
              <a:cs typeface="+mn-cs"/>
            </a:endParaRPr>
          </a:p>
          <a:p>
            <a:pPr>
              <a:buFont typeface="Arial" pitchFamily="34" charset="0"/>
              <a:buChar char="•"/>
            </a:pPr>
            <a:r>
              <a:rPr lang="en-AU" sz="1200" b="0" kern="1200" baseline="0" dirty="0" smtClean="0">
                <a:solidFill>
                  <a:schemeClr val="tx1"/>
                </a:solidFill>
                <a:ea typeface="+mn-ea"/>
                <a:cs typeface="+mn-cs"/>
              </a:rPr>
              <a:t>What types of information do each of these people want to know?</a:t>
            </a:r>
          </a:p>
          <a:p>
            <a:pPr>
              <a:buFont typeface="Arial" pitchFamily="34" charset="0"/>
              <a:buChar char="•"/>
            </a:pPr>
            <a:r>
              <a:rPr lang="en-AU" sz="1200" b="0" kern="1200" baseline="0" dirty="0" smtClean="0">
                <a:solidFill>
                  <a:schemeClr val="tx1"/>
                </a:solidFill>
                <a:ea typeface="+mn-ea"/>
                <a:cs typeface="+mn-cs"/>
              </a:rPr>
              <a:t>What is the best way to give this information?</a:t>
            </a:r>
          </a:p>
          <a:p>
            <a:pPr>
              <a:buFont typeface="Arial" pitchFamily="34" charset="0"/>
              <a:buChar char="•"/>
            </a:pPr>
            <a:endParaRPr lang="en-AU" sz="1200" b="0" kern="1200" baseline="0" dirty="0" smtClean="0">
              <a:solidFill>
                <a:schemeClr val="tx1"/>
              </a:solidFill>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101</a:t>
            </a:fld>
            <a:endParaRPr lang="en-US" dirty="0"/>
          </a:p>
        </p:txBody>
      </p:sp>
    </p:spTree>
    <p:extLst>
      <p:ext uri="{BB962C8B-B14F-4D97-AF65-F5344CB8AC3E}">
        <p14:creationId xmlns:p14="http://schemas.microsoft.com/office/powerpoint/2010/main" val="3259067710"/>
      </p:ext>
    </p:extLst>
  </p:cSld>
  <p:clrMapOvr>
    <a:masterClrMapping/>
  </p:clrMapOvr>
</p:notes>
</file>

<file path=ppt/notesSlides/notesSlide10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b="1" kern="1200" baseline="0" dirty="0" smtClean="0">
                <a:solidFill>
                  <a:schemeClr val="tx1"/>
                </a:solidFill>
                <a:ea typeface="+mn-ea"/>
                <a:cs typeface="+mn-cs"/>
              </a:rPr>
              <a:t>Class Activity –  Questions</a:t>
            </a:r>
          </a:p>
          <a:p>
            <a:endParaRPr lang="en-AU" sz="1200" b="1" kern="1200" baseline="0" dirty="0" smtClean="0">
              <a:solidFill>
                <a:schemeClr val="tx1"/>
              </a:solidFill>
              <a:ea typeface="+mn-ea"/>
              <a:cs typeface="+mn-cs"/>
            </a:endParaRPr>
          </a:p>
          <a:p>
            <a:pPr>
              <a:buFont typeface="Arial" pitchFamily="34" charset="0"/>
              <a:buChar char="•"/>
            </a:pPr>
            <a:r>
              <a:rPr lang="en-AU" sz="1200" b="0" kern="1200" baseline="0" dirty="0" smtClean="0">
                <a:solidFill>
                  <a:schemeClr val="tx1"/>
                </a:solidFill>
                <a:ea typeface="+mn-ea"/>
                <a:cs typeface="+mn-cs"/>
              </a:rPr>
              <a:t>Why would these modifications take place?</a:t>
            </a:r>
          </a:p>
          <a:p>
            <a:pPr>
              <a:buFont typeface="Arial" pitchFamily="34" charset="0"/>
              <a:buChar char="•"/>
            </a:pPr>
            <a:r>
              <a:rPr lang="en-AU" sz="1200" b="0" kern="1200" baseline="0" dirty="0" smtClean="0">
                <a:solidFill>
                  <a:schemeClr val="tx1"/>
                </a:solidFill>
                <a:ea typeface="+mn-ea"/>
                <a:cs typeface="+mn-cs"/>
              </a:rPr>
              <a:t>What are the benefits?</a:t>
            </a:r>
          </a:p>
          <a:p>
            <a:pPr>
              <a:buFont typeface="Arial" pitchFamily="34" charset="0"/>
              <a:buChar char="•"/>
            </a:pPr>
            <a:endParaRPr lang="en-AU" sz="1200" b="0" kern="1200" baseline="0" dirty="0" smtClean="0">
              <a:solidFill>
                <a:schemeClr val="tx1"/>
              </a:solidFill>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102</a:t>
            </a:fld>
            <a:endParaRPr lang="en-US" dirty="0"/>
          </a:p>
        </p:txBody>
      </p:sp>
    </p:spTree>
    <p:extLst>
      <p:ext uri="{BB962C8B-B14F-4D97-AF65-F5344CB8AC3E}">
        <p14:creationId xmlns:p14="http://schemas.microsoft.com/office/powerpoint/2010/main" val="2148652098"/>
      </p:ext>
    </p:extLst>
  </p:cSld>
  <p:clrMapOvr>
    <a:masterClrMapping/>
  </p:clrMapOvr>
</p:notes>
</file>

<file path=ppt/notesSlides/notesSlide10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b="1" kern="1200" baseline="0" dirty="0" smtClean="0">
                <a:solidFill>
                  <a:schemeClr val="tx1"/>
                </a:solidFill>
                <a:ea typeface="+mn-ea"/>
                <a:cs typeface="+mn-cs"/>
              </a:rPr>
              <a:t>Class Activity –  Questions</a:t>
            </a:r>
          </a:p>
          <a:p>
            <a:endParaRPr lang="en-AU" sz="1200" b="1" kern="1200" baseline="0" dirty="0" smtClean="0">
              <a:solidFill>
                <a:schemeClr val="tx1"/>
              </a:solidFill>
              <a:ea typeface="+mn-ea"/>
              <a:cs typeface="+mn-cs"/>
            </a:endParaRPr>
          </a:p>
          <a:p>
            <a:pPr>
              <a:buFont typeface="Arial" pitchFamily="34" charset="0"/>
              <a:buChar char="•"/>
            </a:pPr>
            <a:r>
              <a:rPr lang="en-AU" sz="1200" b="0" kern="1200" baseline="0" dirty="0" smtClean="0">
                <a:solidFill>
                  <a:schemeClr val="tx1"/>
                </a:solidFill>
                <a:ea typeface="+mn-ea"/>
                <a:cs typeface="+mn-cs"/>
              </a:rPr>
              <a:t>Why would these modifications take place?</a:t>
            </a:r>
          </a:p>
          <a:p>
            <a:pPr>
              <a:buFont typeface="Arial" pitchFamily="34" charset="0"/>
              <a:buChar char="•"/>
            </a:pPr>
            <a:r>
              <a:rPr lang="en-AU" sz="1200" b="0" kern="1200" baseline="0" dirty="0" smtClean="0">
                <a:solidFill>
                  <a:schemeClr val="tx1"/>
                </a:solidFill>
                <a:ea typeface="+mn-ea"/>
                <a:cs typeface="+mn-cs"/>
              </a:rPr>
              <a:t>What are the benefits?</a:t>
            </a:r>
          </a:p>
          <a:p>
            <a:pPr>
              <a:buFont typeface="Arial" pitchFamily="34" charset="0"/>
              <a:buChar char="•"/>
            </a:pPr>
            <a:endParaRPr lang="en-AU" sz="1200" b="0" kern="1200" baseline="0" dirty="0" smtClean="0">
              <a:solidFill>
                <a:schemeClr val="tx1"/>
              </a:solidFill>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103</a:t>
            </a:fld>
            <a:endParaRPr lang="en-US" dirty="0"/>
          </a:p>
        </p:txBody>
      </p:sp>
    </p:spTree>
    <p:extLst>
      <p:ext uri="{BB962C8B-B14F-4D97-AF65-F5344CB8AC3E}">
        <p14:creationId xmlns:p14="http://schemas.microsoft.com/office/powerpoint/2010/main" val="3284164638"/>
      </p:ext>
    </p:extLst>
  </p:cSld>
  <p:clrMapOvr>
    <a:masterClrMapping/>
  </p:clrMapOvr>
</p:notes>
</file>

<file path=ppt/notesSlides/notesSlide10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b="1" kern="1200" baseline="0" dirty="0" smtClean="0">
                <a:solidFill>
                  <a:schemeClr val="tx1"/>
                </a:solidFill>
                <a:ea typeface="+mn-ea"/>
                <a:cs typeface="+mn-cs"/>
              </a:rPr>
              <a:t>Class Activity –  Questions</a:t>
            </a:r>
          </a:p>
          <a:p>
            <a:endParaRPr lang="en-AU" sz="1200" b="1" kern="1200" baseline="0" dirty="0" smtClean="0">
              <a:solidFill>
                <a:schemeClr val="tx1"/>
              </a:solidFill>
              <a:ea typeface="+mn-ea"/>
              <a:cs typeface="+mn-cs"/>
            </a:endParaRPr>
          </a:p>
          <a:p>
            <a:pPr>
              <a:buFont typeface="Arial" pitchFamily="34" charset="0"/>
              <a:buChar char="•"/>
            </a:pPr>
            <a:r>
              <a:rPr lang="en-AU" sz="1200" b="0" kern="1200" baseline="0" dirty="0" smtClean="0">
                <a:solidFill>
                  <a:schemeClr val="tx1"/>
                </a:solidFill>
                <a:ea typeface="+mn-ea"/>
                <a:cs typeface="+mn-cs"/>
              </a:rPr>
              <a:t>Discuss the questions in the slide.</a:t>
            </a:r>
          </a:p>
          <a:p>
            <a:endParaRPr lang="en-AU" sz="1200" b="1" kern="1200" baseline="0" dirty="0" smtClean="0">
              <a:solidFill>
                <a:schemeClr val="tx1"/>
              </a:solidFill>
              <a:ea typeface="+mn-ea"/>
              <a:cs typeface="+mn-cs"/>
            </a:endParaRPr>
          </a:p>
          <a:p>
            <a:pPr>
              <a:buFont typeface="Arial" pitchFamily="34" charset="0"/>
              <a:buChar char="•"/>
            </a:pPr>
            <a:endParaRPr lang="en-AU" sz="1200" b="0" kern="1200" baseline="0" dirty="0" smtClean="0">
              <a:solidFill>
                <a:schemeClr val="tx1"/>
              </a:solidFill>
              <a:ea typeface="+mn-ea"/>
              <a:cs typeface="+mn-cs"/>
            </a:endParaRPr>
          </a:p>
          <a:p>
            <a:pPr>
              <a:buFont typeface="Arial" pitchFamily="34" charset="0"/>
              <a:buChar char="•"/>
            </a:pPr>
            <a:endParaRPr lang="en-AU" sz="1200" b="0" kern="1200" baseline="0" dirty="0" smtClean="0">
              <a:solidFill>
                <a:schemeClr val="tx1"/>
              </a:solidFill>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104</a:t>
            </a:fld>
            <a:endParaRPr lang="en-US" dirty="0"/>
          </a:p>
        </p:txBody>
      </p:sp>
    </p:spTree>
    <p:extLst>
      <p:ext uri="{BB962C8B-B14F-4D97-AF65-F5344CB8AC3E}">
        <p14:creationId xmlns:p14="http://schemas.microsoft.com/office/powerpoint/2010/main" val="4108500249"/>
      </p:ext>
    </p:extLst>
  </p:cSld>
  <p:clrMapOvr>
    <a:masterClrMapping/>
  </p:clrMapOvr>
</p:notes>
</file>

<file path=ppt/notesSlides/notesSlide10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b="1" kern="1200" baseline="0" dirty="0" smtClean="0">
                <a:solidFill>
                  <a:schemeClr val="tx1"/>
                </a:solidFill>
                <a:ea typeface="+mn-ea"/>
                <a:cs typeface="+mn-cs"/>
              </a:rPr>
              <a:t>Class Activity –  Questions</a:t>
            </a:r>
          </a:p>
          <a:p>
            <a:endParaRPr lang="en-AU" sz="1200" b="1" kern="1200" baseline="0" dirty="0" smtClean="0">
              <a:solidFill>
                <a:schemeClr val="tx1"/>
              </a:solidFill>
              <a:ea typeface="+mn-ea"/>
              <a:cs typeface="+mn-cs"/>
            </a:endParaRPr>
          </a:p>
          <a:p>
            <a:pPr>
              <a:buFont typeface="Arial" pitchFamily="34" charset="0"/>
              <a:buChar char="•"/>
            </a:pPr>
            <a:r>
              <a:rPr lang="en-AU" sz="1200" b="0" kern="1200" baseline="0" dirty="0" smtClean="0">
                <a:solidFill>
                  <a:schemeClr val="tx1"/>
                </a:solidFill>
                <a:ea typeface="+mn-ea"/>
                <a:cs typeface="+mn-cs"/>
              </a:rPr>
              <a:t>What other needs may organisers have?</a:t>
            </a:r>
          </a:p>
          <a:p>
            <a:pPr>
              <a:buFont typeface="Arial" pitchFamily="34" charset="0"/>
              <a:buChar char="•"/>
            </a:pPr>
            <a:r>
              <a:rPr lang="en-AU" sz="1200" b="0" kern="1200" baseline="0" dirty="0" smtClean="0">
                <a:solidFill>
                  <a:schemeClr val="tx1"/>
                </a:solidFill>
                <a:ea typeface="+mn-ea"/>
                <a:cs typeface="+mn-cs"/>
              </a:rPr>
              <a:t>Where do these needs come from?</a:t>
            </a:r>
          </a:p>
          <a:p>
            <a:pPr>
              <a:buFont typeface="Arial" pitchFamily="34" charset="0"/>
              <a:buChar char="•"/>
            </a:pPr>
            <a:endParaRPr lang="en-AU" sz="1200" b="0" kern="1200" baseline="0" dirty="0" smtClean="0">
              <a:solidFill>
                <a:schemeClr val="tx1"/>
              </a:solidFill>
              <a:ea typeface="+mn-ea"/>
              <a:cs typeface="+mn-cs"/>
            </a:endParaRPr>
          </a:p>
          <a:p>
            <a:pPr>
              <a:buFont typeface="Arial" pitchFamily="34" charset="0"/>
              <a:buChar char="•"/>
            </a:pPr>
            <a:endParaRPr lang="en-AU" sz="1200" b="0" kern="1200" baseline="0" dirty="0" smtClean="0">
              <a:solidFill>
                <a:schemeClr val="tx1"/>
              </a:solidFill>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105</a:t>
            </a:fld>
            <a:endParaRPr lang="en-US" dirty="0"/>
          </a:p>
        </p:txBody>
      </p:sp>
    </p:spTree>
    <p:extLst>
      <p:ext uri="{BB962C8B-B14F-4D97-AF65-F5344CB8AC3E}">
        <p14:creationId xmlns:p14="http://schemas.microsoft.com/office/powerpoint/2010/main" val="2758396462"/>
      </p:ext>
    </p:extLst>
  </p:cSld>
  <p:clrMapOvr>
    <a:masterClrMapping/>
  </p:clrMapOvr>
</p:notes>
</file>

<file path=ppt/notesSlides/notesSlide10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b="1" kern="1200" baseline="0" dirty="0" smtClean="0">
                <a:solidFill>
                  <a:schemeClr val="tx1"/>
                </a:solidFill>
                <a:ea typeface="+mn-ea"/>
                <a:cs typeface="+mn-cs"/>
              </a:rPr>
              <a:t>Class Activity –  Questions</a:t>
            </a:r>
          </a:p>
          <a:p>
            <a:endParaRPr lang="en-AU" sz="1200" b="1" kern="1200" baseline="0" dirty="0" smtClean="0">
              <a:solidFill>
                <a:schemeClr val="tx1"/>
              </a:solidFill>
              <a:ea typeface="+mn-ea"/>
              <a:cs typeface="+mn-cs"/>
            </a:endParaRPr>
          </a:p>
          <a:p>
            <a:pPr>
              <a:buFont typeface="Arial" pitchFamily="34" charset="0"/>
              <a:buChar char="•"/>
            </a:pPr>
            <a:r>
              <a:rPr lang="en-AU" sz="1200" b="0" kern="1200" baseline="0" dirty="0" smtClean="0">
                <a:solidFill>
                  <a:schemeClr val="tx1"/>
                </a:solidFill>
                <a:ea typeface="+mn-ea"/>
                <a:cs typeface="+mn-cs"/>
              </a:rPr>
              <a:t>What other needs may organisers have?</a:t>
            </a:r>
          </a:p>
          <a:p>
            <a:pPr>
              <a:buFont typeface="Arial" pitchFamily="34" charset="0"/>
              <a:buChar char="•"/>
            </a:pPr>
            <a:r>
              <a:rPr lang="en-AU" sz="1200" b="0" kern="1200" baseline="0" dirty="0" smtClean="0">
                <a:solidFill>
                  <a:schemeClr val="tx1"/>
                </a:solidFill>
                <a:ea typeface="+mn-ea"/>
                <a:cs typeface="+mn-cs"/>
              </a:rPr>
              <a:t>Where do these needs come from?</a:t>
            </a:r>
          </a:p>
          <a:p>
            <a:pPr>
              <a:buFont typeface="Arial" pitchFamily="34" charset="0"/>
              <a:buChar char="•"/>
            </a:pPr>
            <a:endParaRPr lang="en-AU" sz="1200" b="0" kern="1200" baseline="0" dirty="0" smtClean="0">
              <a:solidFill>
                <a:schemeClr val="tx1"/>
              </a:solidFill>
              <a:ea typeface="+mn-ea"/>
              <a:cs typeface="+mn-cs"/>
            </a:endParaRPr>
          </a:p>
          <a:p>
            <a:pPr>
              <a:buFont typeface="Arial" pitchFamily="34" charset="0"/>
              <a:buChar char="•"/>
            </a:pPr>
            <a:endParaRPr lang="en-AU" sz="1200" b="0" kern="1200" baseline="0" dirty="0" smtClean="0">
              <a:solidFill>
                <a:schemeClr val="tx1"/>
              </a:solidFill>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106</a:t>
            </a:fld>
            <a:endParaRPr lang="en-US" dirty="0"/>
          </a:p>
        </p:txBody>
      </p:sp>
    </p:spTree>
    <p:extLst>
      <p:ext uri="{BB962C8B-B14F-4D97-AF65-F5344CB8AC3E}">
        <p14:creationId xmlns:p14="http://schemas.microsoft.com/office/powerpoint/2010/main" val="3778677612"/>
      </p:ext>
    </p:extLst>
  </p:cSld>
  <p:clrMapOvr>
    <a:masterClrMapping/>
  </p:clrMapOvr>
</p:notes>
</file>

<file path=ppt/notesSlides/notesSlide10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kern="1200" dirty="0" smtClean="0">
                <a:solidFill>
                  <a:schemeClr val="tx1"/>
                </a:solidFill>
                <a:ea typeface="+mn-ea"/>
                <a:cs typeface="+mn-cs"/>
              </a:rPr>
              <a:t>Introduce</a:t>
            </a:r>
            <a:r>
              <a:rPr lang="en-AU" sz="1200" kern="1200" baseline="0" dirty="0" smtClean="0">
                <a:solidFill>
                  <a:schemeClr val="tx1"/>
                </a:solidFill>
                <a:ea typeface="+mn-ea"/>
                <a:cs typeface="+mn-cs"/>
              </a:rPr>
              <a:t> topic.</a:t>
            </a:r>
          </a:p>
          <a:p>
            <a:pPr marL="0" marR="0" indent="0" algn="l" defTabSz="914400" rtl="0" eaLnBrk="1" fontAlgn="auto" latinLnBrk="0" hangingPunct="1">
              <a:lnSpc>
                <a:spcPct val="100000"/>
              </a:lnSpc>
              <a:spcBef>
                <a:spcPts val="0"/>
              </a:spcBef>
              <a:spcAft>
                <a:spcPts val="0"/>
              </a:spcAft>
              <a:buClrTx/>
              <a:buSzTx/>
              <a:buFontTx/>
              <a:buNone/>
              <a:tabLst/>
              <a:defRPr/>
            </a:pPr>
            <a:endParaRPr lang="en-AU" sz="1200" b="1" kern="1200" baseline="0" dirty="0" smtClean="0">
              <a:solidFill>
                <a:schemeClr val="tx1"/>
              </a:solidFill>
              <a:ea typeface="+mn-ea"/>
              <a:cs typeface="+mn-cs"/>
            </a:endParaRPr>
          </a:p>
          <a:p>
            <a:pPr marL="0" marR="0" indent="0" algn="l" defTabSz="914400" rtl="0" eaLnBrk="1" fontAlgn="auto" latinLnBrk="0" hangingPunct="1">
              <a:lnSpc>
                <a:spcPct val="100000"/>
              </a:lnSpc>
              <a:spcBef>
                <a:spcPts val="0"/>
              </a:spcBef>
              <a:spcAft>
                <a:spcPts val="0"/>
              </a:spcAft>
              <a:buClrTx/>
              <a:buSzTx/>
              <a:buFontTx/>
              <a:buNone/>
              <a:tabLst/>
              <a:defRPr/>
            </a:pPr>
            <a:r>
              <a:rPr lang="en-AU" sz="1200" b="1" kern="1200" baseline="0" dirty="0" smtClean="0">
                <a:solidFill>
                  <a:schemeClr val="tx1"/>
                </a:solidFill>
                <a:ea typeface="+mn-ea"/>
                <a:cs typeface="+mn-cs"/>
              </a:rPr>
              <a:t>Class Activity – General Discussion</a:t>
            </a:r>
          </a:p>
          <a:p>
            <a:endParaRPr lang="en-AU" sz="1200" kern="1200" baseline="0" dirty="0" smtClean="0">
              <a:solidFill>
                <a:schemeClr val="tx1"/>
              </a:solidFill>
              <a:ea typeface="+mn-ea"/>
              <a:cs typeface="+mn-cs"/>
            </a:endParaRPr>
          </a:p>
          <a:p>
            <a:r>
              <a:rPr lang="en-AU" sz="1200" kern="1200" baseline="0" dirty="0" smtClean="0">
                <a:solidFill>
                  <a:schemeClr val="tx1"/>
                </a:solidFill>
                <a:ea typeface="+mn-ea"/>
                <a:cs typeface="+mn-cs"/>
              </a:rPr>
              <a:t>Ask general questions:</a:t>
            </a:r>
          </a:p>
          <a:p>
            <a:pPr>
              <a:buFont typeface="Arial" pitchFamily="34" charset="0"/>
              <a:buChar char="•"/>
            </a:pPr>
            <a:r>
              <a:rPr lang="en-AU" sz="1200" kern="1200" baseline="0" dirty="0" smtClean="0">
                <a:solidFill>
                  <a:schemeClr val="tx1"/>
                </a:solidFill>
                <a:ea typeface="+mn-ea"/>
                <a:cs typeface="+mn-cs"/>
              </a:rPr>
              <a:t>Why is it important to undertake a review?</a:t>
            </a:r>
          </a:p>
          <a:p>
            <a:pPr>
              <a:buFont typeface="Arial" pitchFamily="34" charset="0"/>
              <a:buChar char="•"/>
            </a:pPr>
            <a:r>
              <a:rPr lang="en-AU" sz="1200" kern="1200" baseline="0" dirty="0" smtClean="0">
                <a:solidFill>
                  <a:schemeClr val="tx1"/>
                </a:solidFill>
                <a:ea typeface="+mn-ea"/>
                <a:cs typeface="+mn-cs"/>
              </a:rPr>
              <a:t>What would you review in terms of planning?</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kern="1200" baseline="0" dirty="0" smtClean="0">
                <a:solidFill>
                  <a:schemeClr val="tx1"/>
                </a:solidFill>
                <a:ea typeface="+mn-ea"/>
                <a:cs typeface="+mn-cs"/>
              </a:rPr>
              <a:t>What would you review in terms of implementation?</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kern="1200" baseline="0" dirty="0" smtClean="0">
                <a:solidFill>
                  <a:schemeClr val="tx1"/>
                </a:solidFill>
                <a:ea typeface="+mn-ea"/>
                <a:cs typeface="+mn-cs"/>
              </a:rPr>
              <a:t>How can you undertake the review?</a:t>
            </a:r>
          </a:p>
          <a:p>
            <a:pPr>
              <a:buFont typeface="Arial" pitchFamily="34" charset="0"/>
              <a:buChar char="•"/>
            </a:pPr>
            <a:endParaRPr lang="en-AU" sz="1200" kern="1200" dirty="0">
              <a:solidFill>
                <a:schemeClr val="tx1"/>
              </a:solidFill>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107</a:t>
            </a:fld>
            <a:endParaRPr lang="en-US" dirty="0"/>
          </a:p>
        </p:txBody>
      </p:sp>
    </p:spTree>
    <p:extLst>
      <p:ext uri="{BB962C8B-B14F-4D97-AF65-F5344CB8AC3E}">
        <p14:creationId xmlns:p14="http://schemas.microsoft.com/office/powerpoint/2010/main" val="548803808"/>
      </p:ext>
    </p:extLst>
  </p:cSld>
  <p:clrMapOvr>
    <a:masterClrMapping/>
  </p:clrMapOvr>
</p:notes>
</file>

<file path=ppt/notesSlides/notesSlide10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kern="1200" baseline="0" dirty="0" smtClean="0">
                <a:solidFill>
                  <a:schemeClr val="tx1"/>
                </a:solidFill>
                <a:ea typeface="+mn-ea"/>
                <a:cs typeface="+mn-cs"/>
              </a:rPr>
              <a:t>Trainer identifies the Performance Criteria for this Element, as listed on the slide.</a:t>
            </a: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108</a:t>
            </a:fld>
            <a:endParaRPr lang="en-US" dirty="0"/>
          </a:p>
        </p:txBody>
      </p:sp>
    </p:spTree>
    <p:extLst>
      <p:ext uri="{BB962C8B-B14F-4D97-AF65-F5344CB8AC3E}">
        <p14:creationId xmlns:p14="http://schemas.microsoft.com/office/powerpoint/2010/main" val="2106999250"/>
      </p:ext>
    </p:extLst>
  </p:cSld>
  <p:clrMapOvr>
    <a:masterClrMapping/>
  </p:clrMapOvr>
</p:notes>
</file>

<file path=ppt/notesSlides/notesSlide10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b="1" kern="1200" baseline="0" dirty="0" smtClean="0">
                <a:solidFill>
                  <a:schemeClr val="tx1"/>
                </a:solidFill>
                <a:ea typeface="+mn-ea"/>
                <a:cs typeface="+mn-cs"/>
              </a:rPr>
              <a:t>Class Activity –  Questions</a:t>
            </a:r>
          </a:p>
          <a:p>
            <a:endParaRPr lang="en-AU" sz="1200" b="1" kern="1200" baseline="0" dirty="0" smtClean="0">
              <a:solidFill>
                <a:schemeClr val="tx1"/>
              </a:solidFill>
              <a:ea typeface="+mn-ea"/>
              <a:cs typeface="+mn-cs"/>
            </a:endParaRPr>
          </a:p>
          <a:p>
            <a:pPr>
              <a:buFont typeface="Arial" pitchFamily="34" charset="0"/>
              <a:buChar char="•"/>
            </a:pPr>
            <a:r>
              <a:rPr lang="en-AU" sz="1200" b="0" kern="1200" baseline="0" dirty="0" smtClean="0">
                <a:solidFill>
                  <a:schemeClr val="tx1"/>
                </a:solidFill>
                <a:ea typeface="+mn-ea"/>
                <a:cs typeface="+mn-cs"/>
              </a:rPr>
              <a:t>Why is this important?</a:t>
            </a:r>
          </a:p>
          <a:p>
            <a:pPr>
              <a:buFont typeface="Arial" pitchFamily="34" charset="0"/>
              <a:buChar char="•"/>
            </a:pPr>
            <a:endParaRPr lang="en-AU" sz="1200" b="0" kern="1200" baseline="0" dirty="0" smtClean="0">
              <a:solidFill>
                <a:schemeClr val="tx1"/>
              </a:solidFill>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109</a:t>
            </a:fld>
            <a:endParaRPr lang="en-US" dirty="0"/>
          </a:p>
        </p:txBody>
      </p:sp>
    </p:spTree>
    <p:extLst>
      <p:ext uri="{BB962C8B-B14F-4D97-AF65-F5344CB8AC3E}">
        <p14:creationId xmlns:p14="http://schemas.microsoft.com/office/powerpoint/2010/main" val="2731918245"/>
      </p:ext>
    </p:extLst>
  </p:cSld>
  <p:clrMapOvr>
    <a:masterClrMapping/>
  </p:clrMapOvr>
</p:notes>
</file>

<file path=ppt/notesSlides/notesSlide1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b="1" kern="1200" baseline="0" dirty="0" smtClean="0">
                <a:solidFill>
                  <a:schemeClr val="tx1"/>
                </a:solidFill>
                <a:ea typeface="+mn-ea"/>
                <a:cs typeface="+mn-cs"/>
              </a:rPr>
              <a:t>Class Activity –  Questions</a:t>
            </a:r>
          </a:p>
          <a:p>
            <a:endParaRPr lang="en-AU" sz="1200" b="1" kern="1200" baseline="0" dirty="0" smtClean="0">
              <a:solidFill>
                <a:schemeClr val="tx1"/>
              </a:solidFill>
              <a:ea typeface="+mn-ea"/>
              <a:cs typeface="+mn-cs"/>
            </a:endParaRPr>
          </a:p>
          <a:p>
            <a:pPr>
              <a:buFont typeface="Arial" pitchFamily="34" charset="0"/>
              <a:buChar char="•"/>
            </a:pPr>
            <a:r>
              <a:rPr lang="en-AU" sz="1200" b="0" kern="1200" baseline="0" dirty="0" smtClean="0">
                <a:solidFill>
                  <a:schemeClr val="tx1"/>
                </a:solidFill>
                <a:ea typeface="+mn-ea"/>
                <a:cs typeface="+mn-cs"/>
              </a:rPr>
              <a:t>Discuss the question in the slide.</a:t>
            </a:r>
          </a:p>
          <a:p>
            <a:pPr>
              <a:buFont typeface="Arial" pitchFamily="34" charset="0"/>
              <a:buChar char="•"/>
            </a:pPr>
            <a:endParaRPr lang="en-AU" sz="1200" b="0" kern="1200" baseline="0" dirty="0" smtClean="0">
              <a:solidFill>
                <a:schemeClr val="tx1"/>
              </a:solidFill>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110</a:t>
            </a:fld>
            <a:endParaRPr lang="en-US" dirty="0"/>
          </a:p>
        </p:txBody>
      </p:sp>
    </p:spTree>
    <p:extLst>
      <p:ext uri="{BB962C8B-B14F-4D97-AF65-F5344CB8AC3E}">
        <p14:creationId xmlns:p14="http://schemas.microsoft.com/office/powerpoint/2010/main" val="3424500230"/>
      </p:ext>
    </p:extLst>
  </p:cSld>
  <p:clrMapOvr>
    <a:masterClrMapping/>
  </p:clrMapOvr>
</p:notes>
</file>

<file path=ppt/notesSlides/notesSlide1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b="1" kern="1200" baseline="0" dirty="0" smtClean="0">
                <a:solidFill>
                  <a:schemeClr val="tx1"/>
                </a:solidFill>
                <a:ea typeface="+mn-ea"/>
                <a:cs typeface="+mn-cs"/>
              </a:rPr>
              <a:t>Class Activity –  Questions</a:t>
            </a:r>
          </a:p>
          <a:p>
            <a:endParaRPr lang="en-AU" sz="1200" b="1" kern="1200" baseline="0" dirty="0" smtClean="0">
              <a:solidFill>
                <a:schemeClr val="tx1"/>
              </a:solidFill>
              <a:ea typeface="+mn-ea"/>
              <a:cs typeface="+mn-cs"/>
            </a:endParaRPr>
          </a:p>
          <a:p>
            <a:pPr>
              <a:buFont typeface="Arial" pitchFamily="34" charset="0"/>
              <a:buChar char="•"/>
            </a:pPr>
            <a:r>
              <a:rPr lang="en-AU" sz="1200" b="0" kern="1200" baseline="0" dirty="0" smtClean="0">
                <a:solidFill>
                  <a:schemeClr val="tx1"/>
                </a:solidFill>
                <a:ea typeface="+mn-ea"/>
                <a:cs typeface="+mn-cs"/>
              </a:rPr>
              <a:t>Who needs to be paid wages?</a:t>
            </a:r>
          </a:p>
          <a:p>
            <a:pPr>
              <a:buFont typeface="Arial" pitchFamily="34" charset="0"/>
              <a:buChar char="•"/>
            </a:pPr>
            <a:r>
              <a:rPr lang="en-AU" sz="1200" b="0" kern="1200" baseline="0" dirty="0" smtClean="0">
                <a:solidFill>
                  <a:schemeClr val="tx1"/>
                </a:solidFill>
                <a:ea typeface="+mn-ea"/>
                <a:cs typeface="+mn-cs"/>
              </a:rPr>
              <a:t>What consumables are there?</a:t>
            </a:r>
          </a:p>
          <a:p>
            <a:pPr>
              <a:buFont typeface="Arial" pitchFamily="34" charset="0"/>
              <a:buChar char="•"/>
            </a:pPr>
            <a:r>
              <a:rPr lang="en-AU" sz="1200" b="0" kern="1200" baseline="0" dirty="0" smtClean="0">
                <a:solidFill>
                  <a:schemeClr val="tx1"/>
                </a:solidFill>
                <a:ea typeface="+mn-ea"/>
                <a:cs typeface="+mn-cs"/>
              </a:rPr>
              <a:t>What is normally purchased?</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ea typeface="+mn-ea"/>
                <a:cs typeface="+mn-cs"/>
              </a:rPr>
              <a:t>What is normally hired?</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ea typeface="+mn-ea"/>
                <a:cs typeface="+mn-cs"/>
              </a:rPr>
              <a:t>What other costs are associated with training events?</a:t>
            </a:r>
          </a:p>
          <a:p>
            <a:pPr>
              <a:buFont typeface="Arial" pitchFamily="34" charset="0"/>
              <a:buChar char="•"/>
            </a:pPr>
            <a:endParaRPr lang="en-AU" sz="1200" b="0" kern="1200" baseline="0" dirty="0" smtClean="0">
              <a:solidFill>
                <a:schemeClr val="tx1"/>
              </a:solidFill>
              <a:ea typeface="+mn-ea"/>
              <a:cs typeface="+mn-cs"/>
            </a:endParaRPr>
          </a:p>
          <a:p>
            <a:pPr>
              <a:buFont typeface="Arial" pitchFamily="34" charset="0"/>
              <a:buChar char="•"/>
            </a:pPr>
            <a:endParaRPr lang="en-AU" sz="1200" b="0" kern="1200" baseline="0" dirty="0" smtClean="0">
              <a:solidFill>
                <a:schemeClr val="tx1"/>
              </a:solidFill>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111</a:t>
            </a:fld>
            <a:endParaRPr lang="en-US" dirty="0"/>
          </a:p>
        </p:txBody>
      </p:sp>
    </p:spTree>
    <p:extLst>
      <p:ext uri="{BB962C8B-B14F-4D97-AF65-F5344CB8AC3E}">
        <p14:creationId xmlns:p14="http://schemas.microsoft.com/office/powerpoint/2010/main" val="2799362825"/>
      </p:ext>
    </p:extLst>
  </p:cSld>
  <p:clrMapOvr>
    <a:masterClrMapping/>
  </p:clrMapOvr>
</p:notes>
</file>

<file path=ppt/notesSlides/notesSlide1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b="1" kern="1200" baseline="0" dirty="0" smtClean="0">
                <a:solidFill>
                  <a:schemeClr val="tx1"/>
                </a:solidFill>
                <a:ea typeface="+mn-ea"/>
                <a:cs typeface="+mn-cs"/>
              </a:rPr>
              <a:t>Class Activity –  Questions</a:t>
            </a:r>
          </a:p>
          <a:p>
            <a:endParaRPr lang="en-AU" sz="1200" b="1" kern="1200" baseline="0" dirty="0" smtClean="0">
              <a:solidFill>
                <a:schemeClr val="tx1"/>
              </a:solidFill>
              <a:ea typeface="+mn-ea"/>
              <a:cs typeface="+mn-cs"/>
            </a:endParaRPr>
          </a:p>
          <a:p>
            <a:pPr>
              <a:buFont typeface="Arial" pitchFamily="34" charset="0"/>
              <a:buChar char="•"/>
            </a:pPr>
            <a:r>
              <a:rPr lang="en-AU" sz="1200" b="0" kern="1200" baseline="0" dirty="0" smtClean="0">
                <a:solidFill>
                  <a:schemeClr val="tx1"/>
                </a:solidFill>
                <a:ea typeface="+mn-ea"/>
                <a:cs typeface="+mn-cs"/>
              </a:rPr>
              <a:t>Why is it hard to determine value?</a:t>
            </a:r>
          </a:p>
          <a:p>
            <a:pPr>
              <a:buFont typeface="Arial" pitchFamily="34" charset="0"/>
              <a:buChar char="•"/>
            </a:pPr>
            <a:endParaRPr lang="en-AU" sz="1200" b="0" kern="1200" baseline="0" dirty="0" smtClean="0">
              <a:solidFill>
                <a:schemeClr val="tx1"/>
              </a:solidFill>
              <a:ea typeface="+mn-ea"/>
              <a:cs typeface="+mn-cs"/>
            </a:endParaRPr>
          </a:p>
          <a:p>
            <a:pPr>
              <a:buFont typeface="Arial" pitchFamily="34" charset="0"/>
              <a:buChar char="•"/>
            </a:pPr>
            <a:endParaRPr lang="en-AU" sz="1200" b="0" kern="1200" baseline="0" dirty="0" smtClean="0">
              <a:solidFill>
                <a:schemeClr val="tx1"/>
              </a:solidFill>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112</a:t>
            </a:fld>
            <a:endParaRPr lang="en-US" dirty="0"/>
          </a:p>
        </p:txBody>
      </p:sp>
    </p:spTree>
    <p:extLst>
      <p:ext uri="{BB962C8B-B14F-4D97-AF65-F5344CB8AC3E}">
        <p14:creationId xmlns:p14="http://schemas.microsoft.com/office/powerpoint/2010/main" val="431407376"/>
      </p:ext>
    </p:extLst>
  </p:cSld>
  <p:clrMapOvr>
    <a:masterClrMapping/>
  </p:clrMapOvr>
</p:notes>
</file>

<file path=ppt/notesSlides/notesSlide1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b="1" kern="1200" baseline="0" dirty="0" smtClean="0">
                <a:solidFill>
                  <a:schemeClr val="tx1"/>
                </a:solidFill>
                <a:ea typeface="+mn-ea"/>
                <a:cs typeface="+mn-cs"/>
              </a:rPr>
              <a:t>Class Activity –  Questions</a:t>
            </a:r>
          </a:p>
          <a:p>
            <a:endParaRPr lang="en-AU" sz="1200" b="1" kern="1200" baseline="0" dirty="0" smtClean="0">
              <a:solidFill>
                <a:schemeClr val="tx1"/>
              </a:solidFill>
              <a:ea typeface="+mn-ea"/>
              <a:cs typeface="+mn-cs"/>
            </a:endParaRPr>
          </a:p>
          <a:p>
            <a:pPr>
              <a:buFont typeface="Arial" pitchFamily="34" charset="0"/>
              <a:buChar char="•"/>
            </a:pPr>
            <a:r>
              <a:rPr lang="en-AU" sz="1200" b="0" kern="1200" baseline="0" dirty="0" smtClean="0">
                <a:solidFill>
                  <a:schemeClr val="tx1"/>
                </a:solidFill>
                <a:ea typeface="+mn-ea"/>
                <a:cs typeface="+mn-cs"/>
              </a:rPr>
              <a:t>What are other types of value?</a:t>
            </a:r>
          </a:p>
          <a:p>
            <a:pPr>
              <a:buFont typeface="Arial" pitchFamily="34" charset="0"/>
              <a:buChar char="•"/>
            </a:pPr>
            <a:endParaRPr lang="en-AU" sz="1200" b="0" kern="1200" baseline="0" dirty="0" smtClean="0">
              <a:solidFill>
                <a:schemeClr val="tx1"/>
              </a:solidFill>
              <a:ea typeface="+mn-ea"/>
              <a:cs typeface="+mn-cs"/>
            </a:endParaRPr>
          </a:p>
          <a:p>
            <a:pPr>
              <a:buFont typeface="Arial" pitchFamily="34" charset="0"/>
              <a:buChar char="•"/>
            </a:pPr>
            <a:endParaRPr lang="en-AU" sz="1200" b="0" kern="1200" baseline="0" dirty="0" smtClean="0">
              <a:solidFill>
                <a:schemeClr val="tx1"/>
              </a:solidFill>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113</a:t>
            </a:fld>
            <a:endParaRPr lang="en-US" dirty="0"/>
          </a:p>
        </p:txBody>
      </p:sp>
    </p:spTree>
    <p:extLst>
      <p:ext uri="{BB962C8B-B14F-4D97-AF65-F5344CB8AC3E}">
        <p14:creationId xmlns:p14="http://schemas.microsoft.com/office/powerpoint/2010/main" val="200456830"/>
      </p:ext>
    </p:extLst>
  </p:cSld>
  <p:clrMapOvr>
    <a:masterClrMapping/>
  </p:clrMapOvr>
</p:notes>
</file>

<file path=ppt/notesSlides/notesSlide1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b="1" kern="1200" baseline="0" dirty="0" smtClean="0">
                <a:solidFill>
                  <a:schemeClr val="tx1"/>
                </a:solidFill>
                <a:ea typeface="+mn-ea"/>
                <a:cs typeface="+mn-cs"/>
              </a:rPr>
              <a:t>Class Activity –  Questions</a:t>
            </a:r>
          </a:p>
          <a:p>
            <a:endParaRPr lang="en-AU" sz="1200" b="1" kern="1200" baseline="0" dirty="0" smtClean="0">
              <a:solidFill>
                <a:schemeClr val="tx1"/>
              </a:solidFill>
              <a:ea typeface="+mn-ea"/>
              <a:cs typeface="+mn-cs"/>
            </a:endParaRPr>
          </a:p>
          <a:p>
            <a:pPr>
              <a:buFont typeface="Arial" pitchFamily="34" charset="0"/>
              <a:buChar char="•"/>
            </a:pPr>
            <a:r>
              <a:rPr lang="en-AU" sz="1200" b="0" kern="1200" baseline="0" dirty="0" smtClean="0">
                <a:solidFill>
                  <a:schemeClr val="tx1"/>
                </a:solidFill>
                <a:ea typeface="+mn-ea"/>
                <a:cs typeface="+mn-cs"/>
              </a:rPr>
              <a:t>Discuss these methods to assess value for money.</a:t>
            </a:r>
          </a:p>
          <a:p>
            <a:pPr>
              <a:buFont typeface="Arial" pitchFamily="34" charset="0"/>
              <a:buChar char="•"/>
            </a:pPr>
            <a:endParaRPr lang="en-AU" sz="1200" b="0" kern="1200" baseline="0" dirty="0" smtClean="0">
              <a:solidFill>
                <a:schemeClr val="tx1"/>
              </a:solidFill>
              <a:ea typeface="+mn-ea"/>
              <a:cs typeface="+mn-cs"/>
            </a:endParaRPr>
          </a:p>
          <a:p>
            <a:pPr>
              <a:buFont typeface="Arial" pitchFamily="34" charset="0"/>
              <a:buChar char="•"/>
            </a:pPr>
            <a:endParaRPr lang="en-AU" sz="1200" b="0" kern="1200" baseline="0" dirty="0" smtClean="0">
              <a:solidFill>
                <a:schemeClr val="tx1"/>
              </a:solidFill>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114</a:t>
            </a:fld>
            <a:endParaRPr lang="en-US" dirty="0"/>
          </a:p>
        </p:txBody>
      </p:sp>
    </p:spTree>
    <p:extLst>
      <p:ext uri="{BB962C8B-B14F-4D97-AF65-F5344CB8AC3E}">
        <p14:creationId xmlns:p14="http://schemas.microsoft.com/office/powerpoint/2010/main" val="3608153160"/>
      </p:ext>
    </p:extLst>
  </p:cSld>
  <p:clrMapOvr>
    <a:masterClrMapping/>
  </p:clrMapOvr>
</p:notes>
</file>

<file path=ppt/notesSlides/notesSlide1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b="1" kern="1200" baseline="0" dirty="0" smtClean="0">
                <a:solidFill>
                  <a:schemeClr val="tx1"/>
                </a:solidFill>
                <a:ea typeface="+mn-ea"/>
                <a:cs typeface="+mn-cs"/>
              </a:rPr>
              <a:t>Class Activity –  Questions</a:t>
            </a:r>
          </a:p>
          <a:p>
            <a:endParaRPr lang="en-AU" sz="1200" b="1" kern="1200" baseline="0" dirty="0" smtClean="0">
              <a:solidFill>
                <a:schemeClr val="tx1"/>
              </a:solidFill>
              <a:ea typeface="+mn-ea"/>
              <a:cs typeface="+mn-cs"/>
            </a:endParaRPr>
          </a:p>
          <a:p>
            <a:pPr>
              <a:buFont typeface="Arial" pitchFamily="34" charset="0"/>
              <a:buChar char="•"/>
            </a:pPr>
            <a:r>
              <a:rPr lang="en-AU" sz="1200" b="0" kern="1200" baseline="0" dirty="0" smtClean="0">
                <a:solidFill>
                  <a:schemeClr val="tx1"/>
                </a:solidFill>
                <a:ea typeface="+mn-ea"/>
                <a:cs typeface="+mn-cs"/>
              </a:rPr>
              <a:t>Discuss question in slide.</a:t>
            </a:r>
          </a:p>
          <a:p>
            <a:pPr>
              <a:buFont typeface="Arial" pitchFamily="34" charset="0"/>
              <a:buChar char="•"/>
            </a:pPr>
            <a:endParaRPr lang="en-AU" sz="1200" b="0" kern="1200" baseline="0" dirty="0" smtClean="0">
              <a:solidFill>
                <a:schemeClr val="tx1"/>
              </a:solidFill>
              <a:ea typeface="+mn-ea"/>
              <a:cs typeface="+mn-cs"/>
            </a:endParaRPr>
          </a:p>
          <a:p>
            <a:pPr>
              <a:buFont typeface="Arial" pitchFamily="34" charset="0"/>
              <a:buChar char="•"/>
            </a:pPr>
            <a:endParaRPr lang="en-AU" sz="1200" b="0" kern="1200" baseline="0" dirty="0" smtClean="0">
              <a:solidFill>
                <a:schemeClr val="tx1"/>
              </a:solidFill>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115</a:t>
            </a:fld>
            <a:endParaRPr lang="en-US" dirty="0"/>
          </a:p>
        </p:txBody>
      </p:sp>
    </p:spTree>
    <p:extLst>
      <p:ext uri="{BB962C8B-B14F-4D97-AF65-F5344CB8AC3E}">
        <p14:creationId xmlns:p14="http://schemas.microsoft.com/office/powerpoint/2010/main" val="1483908298"/>
      </p:ext>
    </p:extLst>
  </p:cSld>
  <p:clrMapOvr>
    <a:masterClrMapping/>
  </p:clrMapOvr>
</p:notes>
</file>

<file path=ppt/notesSlides/notesSlide1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b="1" kern="1200" baseline="0" dirty="0" smtClean="0">
                <a:solidFill>
                  <a:schemeClr val="tx1"/>
                </a:solidFill>
                <a:ea typeface="+mn-ea"/>
                <a:cs typeface="+mn-cs"/>
              </a:rPr>
              <a:t>Class Activity –  Questions</a:t>
            </a:r>
          </a:p>
          <a:p>
            <a:endParaRPr lang="en-AU" sz="1200" b="1" kern="1200" baseline="0" dirty="0" smtClean="0">
              <a:solidFill>
                <a:schemeClr val="tx1"/>
              </a:solidFill>
              <a:ea typeface="+mn-ea"/>
              <a:cs typeface="+mn-cs"/>
            </a:endParaRPr>
          </a:p>
          <a:p>
            <a:pPr>
              <a:buFont typeface="Arial" pitchFamily="34" charset="0"/>
              <a:buChar char="•"/>
            </a:pPr>
            <a:r>
              <a:rPr lang="en-AU" sz="1200" b="0" kern="1200" baseline="0" dirty="0" smtClean="0">
                <a:solidFill>
                  <a:schemeClr val="tx1"/>
                </a:solidFill>
                <a:ea typeface="+mn-ea"/>
                <a:cs typeface="+mn-cs"/>
              </a:rPr>
              <a:t>What are potential problems associated with these cost saving measures?</a:t>
            </a:r>
          </a:p>
          <a:p>
            <a:pPr>
              <a:buFont typeface="Arial" pitchFamily="34" charset="0"/>
              <a:buChar char="•"/>
            </a:pPr>
            <a:r>
              <a:rPr lang="en-AU" sz="1200" b="0" kern="1200" baseline="0" dirty="0" smtClean="0">
                <a:solidFill>
                  <a:schemeClr val="tx1"/>
                </a:solidFill>
                <a:ea typeface="+mn-ea"/>
                <a:cs typeface="+mn-cs"/>
              </a:rPr>
              <a:t>How can they be overcome whilst not impacting on training quality?</a:t>
            </a:r>
          </a:p>
          <a:p>
            <a:pPr>
              <a:buFont typeface="Arial" pitchFamily="34" charset="0"/>
              <a:buChar char="•"/>
            </a:pPr>
            <a:endParaRPr lang="en-AU" sz="1200" b="0" kern="1200" baseline="0" dirty="0" smtClean="0">
              <a:solidFill>
                <a:schemeClr val="tx1"/>
              </a:solidFill>
              <a:ea typeface="+mn-ea"/>
              <a:cs typeface="+mn-cs"/>
            </a:endParaRPr>
          </a:p>
          <a:p>
            <a:pPr>
              <a:buFont typeface="Arial" pitchFamily="34" charset="0"/>
              <a:buChar char="•"/>
            </a:pPr>
            <a:endParaRPr lang="en-AU" sz="1200" b="0" kern="1200" baseline="0" dirty="0" smtClean="0">
              <a:solidFill>
                <a:schemeClr val="tx1"/>
              </a:solidFill>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116</a:t>
            </a:fld>
            <a:endParaRPr lang="en-US" dirty="0"/>
          </a:p>
        </p:txBody>
      </p:sp>
    </p:spTree>
    <p:extLst>
      <p:ext uri="{BB962C8B-B14F-4D97-AF65-F5344CB8AC3E}">
        <p14:creationId xmlns:p14="http://schemas.microsoft.com/office/powerpoint/2010/main" val="1199964076"/>
      </p:ext>
    </p:extLst>
  </p:cSld>
  <p:clrMapOvr>
    <a:masterClrMapping/>
  </p:clrMapOvr>
</p:notes>
</file>

<file path=ppt/notesSlides/notesSlide1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b="1" kern="1200" baseline="0" dirty="0" smtClean="0">
                <a:solidFill>
                  <a:schemeClr val="tx1"/>
                </a:solidFill>
                <a:ea typeface="+mn-ea"/>
                <a:cs typeface="+mn-cs"/>
              </a:rPr>
              <a:t>Class Activity –  Questions</a:t>
            </a:r>
          </a:p>
          <a:p>
            <a:endParaRPr lang="en-AU" sz="1200" b="1" kern="1200" baseline="0" dirty="0" smtClean="0">
              <a:solidFill>
                <a:schemeClr val="tx1"/>
              </a:solidFill>
              <a:ea typeface="+mn-ea"/>
              <a:cs typeface="+mn-cs"/>
            </a:endParaRPr>
          </a:p>
          <a:p>
            <a:pPr>
              <a:buFont typeface="Arial" pitchFamily="34" charset="0"/>
              <a:buChar char="•"/>
            </a:pPr>
            <a:r>
              <a:rPr lang="en-AU" sz="1200" b="0" kern="1200" baseline="0" dirty="0" smtClean="0">
                <a:solidFill>
                  <a:schemeClr val="tx1"/>
                </a:solidFill>
                <a:ea typeface="+mn-ea"/>
                <a:cs typeface="+mn-cs"/>
              </a:rPr>
              <a:t>What are potential problems associated with these cost saving measures?</a:t>
            </a:r>
          </a:p>
          <a:p>
            <a:pPr>
              <a:buFont typeface="Arial" pitchFamily="34" charset="0"/>
              <a:buChar char="•"/>
            </a:pPr>
            <a:r>
              <a:rPr lang="en-AU" sz="1200" b="0" kern="1200" baseline="0" dirty="0" smtClean="0">
                <a:solidFill>
                  <a:schemeClr val="tx1"/>
                </a:solidFill>
                <a:ea typeface="+mn-ea"/>
                <a:cs typeface="+mn-cs"/>
              </a:rPr>
              <a:t>How can they be overcome whilst not impacting on training quality?</a:t>
            </a:r>
          </a:p>
          <a:p>
            <a:pPr>
              <a:buFont typeface="Arial" pitchFamily="34" charset="0"/>
              <a:buChar char="•"/>
            </a:pPr>
            <a:endParaRPr lang="en-AU" sz="1200" b="0" kern="1200" baseline="0" dirty="0" smtClean="0">
              <a:solidFill>
                <a:schemeClr val="tx1"/>
              </a:solidFill>
              <a:ea typeface="+mn-ea"/>
              <a:cs typeface="+mn-cs"/>
            </a:endParaRPr>
          </a:p>
          <a:p>
            <a:pPr>
              <a:buFont typeface="Arial" pitchFamily="34" charset="0"/>
              <a:buChar char="•"/>
            </a:pPr>
            <a:endParaRPr lang="en-AU" sz="1200" b="0" kern="1200" baseline="0" dirty="0" smtClean="0">
              <a:solidFill>
                <a:schemeClr val="tx1"/>
              </a:solidFill>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117</a:t>
            </a:fld>
            <a:endParaRPr lang="en-US" dirty="0"/>
          </a:p>
        </p:txBody>
      </p:sp>
    </p:spTree>
    <p:extLst>
      <p:ext uri="{BB962C8B-B14F-4D97-AF65-F5344CB8AC3E}">
        <p14:creationId xmlns:p14="http://schemas.microsoft.com/office/powerpoint/2010/main" val="1149520572"/>
      </p:ext>
    </p:extLst>
  </p:cSld>
  <p:clrMapOvr>
    <a:masterClrMapping/>
  </p:clrMapOvr>
</p:notes>
</file>

<file path=ppt/notesSlides/notesSlide1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b="1" kern="1200" baseline="0" dirty="0" smtClean="0">
                <a:solidFill>
                  <a:schemeClr val="tx1"/>
                </a:solidFill>
                <a:ea typeface="+mn-ea"/>
                <a:cs typeface="+mn-cs"/>
              </a:rPr>
              <a:t>Class Activity –  Questions</a:t>
            </a:r>
          </a:p>
          <a:p>
            <a:endParaRPr lang="en-AU" sz="1200" b="1" kern="1200" baseline="0" dirty="0" smtClean="0">
              <a:solidFill>
                <a:schemeClr val="tx1"/>
              </a:solidFill>
              <a:ea typeface="+mn-ea"/>
              <a:cs typeface="+mn-cs"/>
            </a:endParaRPr>
          </a:p>
          <a:p>
            <a:pPr>
              <a:buFont typeface="Arial" pitchFamily="34" charset="0"/>
              <a:buChar char="•"/>
            </a:pPr>
            <a:r>
              <a:rPr lang="en-AU" sz="1200" b="0" kern="1200" baseline="0" dirty="0" smtClean="0">
                <a:solidFill>
                  <a:schemeClr val="tx1"/>
                </a:solidFill>
                <a:ea typeface="+mn-ea"/>
                <a:cs typeface="+mn-cs"/>
              </a:rPr>
              <a:t>What types of reports are prepared particularly focused on training?</a:t>
            </a:r>
          </a:p>
          <a:p>
            <a:pPr>
              <a:buFont typeface="Arial" pitchFamily="34" charset="0"/>
              <a:buChar char="•"/>
            </a:pPr>
            <a:r>
              <a:rPr lang="en-AU" sz="1200" b="0" kern="1200" baseline="0" dirty="0" smtClean="0">
                <a:solidFill>
                  <a:schemeClr val="tx1"/>
                </a:solidFill>
                <a:ea typeface="+mn-ea"/>
                <a:cs typeface="+mn-cs"/>
              </a:rPr>
              <a:t>What should the content of reports include?</a:t>
            </a:r>
          </a:p>
          <a:p>
            <a:pPr>
              <a:buFont typeface="Arial" pitchFamily="34" charset="0"/>
              <a:buChar char="•"/>
            </a:pPr>
            <a:r>
              <a:rPr lang="en-AU" sz="1200" b="0" kern="1200" baseline="0" dirty="0" smtClean="0">
                <a:solidFill>
                  <a:schemeClr val="tx1"/>
                </a:solidFill>
                <a:ea typeface="+mn-ea"/>
                <a:cs typeface="+mn-cs"/>
              </a:rPr>
              <a:t>Who prepares these reports?</a:t>
            </a:r>
          </a:p>
          <a:p>
            <a:pPr>
              <a:buFont typeface="Arial" pitchFamily="34" charset="0"/>
              <a:buChar char="•"/>
            </a:pPr>
            <a:r>
              <a:rPr lang="en-AU" sz="1200" b="0" kern="1200" baseline="0" dirty="0" smtClean="0">
                <a:solidFill>
                  <a:schemeClr val="tx1"/>
                </a:solidFill>
                <a:ea typeface="+mn-ea"/>
                <a:cs typeface="+mn-cs"/>
              </a:rPr>
              <a:t>Who receives these reports?</a:t>
            </a:r>
          </a:p>
          <a:p>
            <a:pPr>
              <a:buFont typeface="Arial" pitchFamily="34" charset="0"/>
              <a:buChar char="•"/>
            </a:pPr>
            <a:endParaRPr lang="en-AU" sz="1200" b="0" kern="1200" baseline="0" dirty="0" smtClean="0">
              <a:solidFill>
                <a:schemeClr val="tx1"/>
              </a:solidFill>
              <a:ea typeface="+mn-ea"/>
              <a:cs typeface="+mn-cs"/>
            </a:endParaRPr>
          </a:p>
          <a:p>
            <a:pPr>
              <a:buFont typeface="Arial" pitchFamily="34" charset="0"/>
              <a:buChar char="•"/>
            </a:pPr>
            <a:endParaRPr lang="en-AU" sz="1200" b="0" kern="1200" baseline="0" dirty="0" smtClean="0">
              <a:solidFill>
                <a:schemeClr val="tx1"/>
              </a:solidFill>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118</a:t>
            </a:fld>
            <a:endParaRPr lang="en-US" dirty="0"/>
          </a:p>
        </p:txBody>
      </p:sp>
    </p:spTree>
    <p:extLst>
      <p:ext uri="{BB962C8B-B14F-4D97-AF65-F5344CB8AC3E}">
        <p14:creationId xmlns:p14="http://schemas.microsoft.com/office/powerpoint/2010/main" val="1522268609"/>
      </p:ext>
    </p:extLst>
  </p:cSld>
  <p:clrMapOvr>
    <a:masterClrMapping/>
  </p:clrMapOvr>
</p:notes>
</file>

<file path=ppt/notesSlides/notesSlide1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b="1" kern="1200" baseline="0" dirty="0" smtClean="0">
                <a:solidFill>
                  <a:schemeClr val="tx1"/>
                </a:solidFill>
                <a:ea typeface="+mn-ea"/>
                <a:cs typeface="+mn-cs"/>
              </a:rPr>
              <a:t>Class Activity –  Questions</a:t>
            </a:r>
          </a:p>
          <a:p>
            <a:endParaRPr lang="en-AU" sz="1200" b="1" kern="1200" baseline="0" dirty="0" smtClean="0">
              <a:solidFill>
                <a:schemeClr val="tx1"/>
              </a:solidFill>
              <a:ea typeface="+mn-ea"/>
              <a:cs typeface="+mn-cs"/>
            </a:endParaRPr>
          </a:p>
          <a:p>
            <a:pPr>
              <a:buFont typeface="Arial" pitchFamily="34" charset="0"/>
              <a:buChar char="•"/>
            </a:pPr>
            <a:r>
              <a:rPr lang="en-AU" sz="1200" b="0" kern="1200" baseline="0" dirty="0" smtClean="0">
                <a:solidFill>
                  <a:schemeClr val="tx1"/>
                </a:solidFill>
                <a:ea typeface="+mn-ea"/>
                <a:cs typeface="+mn-cs"/>
              </a:rPr>
              <a:t>What other information could be included in reports?</a:t>
            </a:r>
          </a:p>
          <a:p>
            <a:pPr>
              <a:buFont typeface="Arial" pitchFamily="34" charset="0"/>
              <a:buChar char="•"/>
            </a:pPr>
            <a:endParaRPr lang="en-AU" sz="1200" b="0" kern="1200" baseline="0" dirty="0" smtClean="0">
              <a:solidFill>
                <a:schemeClr val="tx1"/>
              </a:solidFill>
              <a:ea typeface="+mn-ea"/>
              <a:cs typeface="+mn-cs"/>
            </a:endParaRPr>
          </a:p>
          <a:p>
            <a:pPr>
              <a:buFont typeface="Arial" pitchFamily="34" charset="0"/>
              <a:buChar char="•"/>
            </a:pPr>
            <a:endParaRPr lang="en-AU" sz="1200" b="0" kern="1200" baseline="0" dirty="0" smtClean="0">
              <a:solidFill>
                <a:schemeClr val="tx1"/>
              </a:solidFill>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119</a:t>
            </a:fld>
            <a:endParaRPr lang="en-US" dirty="0"/>
          </a:p>
        </p:txBody>
      </p:sp>
    </p:spTree>
    <p:extLst>
      <p:ext uri="{BB962C8B-B14F-4D97-AF65-F5344CB8AC3E}">
        <p14:creationId xmlns:p14="http://schemas.microsoft.com/office/powerpoint/2010/main" val="1640682439"/>
      </p:ext>
    </p:extLst>
  </p:cSld>
  <p:clrMapOvr>
    <a:masterClrMapping/>
  </p:clrMapOvr>
</p:notes>
</file>

<file path=ppt/notesSlides/notesSlide1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b="1" kern="1200" baseline="0" dirty="0" smtClean="0">
                <a:solidFill>
                  <a:schemeClr val="tx1"/>
                </a:solidFill>
                <a:ea typeface="+mn-ea"/>
                <a:cs typeface="+mn-cs"/>
              </a:rPr>
              <a:t>Class Activity –  Questions</a:t>
            </a:r>
          </a:p>
          <a:p>
            <a:endParaRPr lang="en-AU" sz="1200" b="1" kern="1200" baseline="0" dirty="0" smtClean="0">
              <a:solidFill>
                <a:schemeClr val="tx1"/>
              </a:solidFill>
              <a:ea typeface="+mn-ea"/>
              <a:cs typeface="+mn-cs"/>
            </a:endParaRPr>
          </a:p>
          <a:p>
            <a:pPr>
              <a:buFont typeface="Arial" pitchFamily="34" charset="0"/>
              <a:buChar char="•"/>
            </a:pPr>
            <a:r>
              <a:rPr lang="en-AU" sz="1200" b="0" kern="1200" baseline="0" dirty="0" smtClean="0">
                <a:solidFill>
                  <a:schemeClr val="tx1"/>
                </a:solidFill>
                <a:ea typeface="+mn-ea"/>
                <a:cs typeface="+mn-cs"/>
              </a:rPr>
              <a:t>What information do these specific people need?</a:t>
            </a:r>
          </a:p>
          <a:p>
            <a:pPr>
              <a:buFont typeface="Arial" pitchFamily="34" charset="0"/>
              <a:buChar char="•"/>
            </a:pPr>
            <a:endParaRPr lang="en-AU" sz="1200" b="0" kern="1200" baseline="0" dirty="0" smtClean="0">
              <a:solidFill>
                <a:schemeClr val="tx1"/>
              </a:solidFill>
              <a:ea typeface="+mn-ea"/>
              <a:cs typeface="+mn-cs"/>
            </a:endParaRPr>
          </a:p>
          <a:p>
            <a:pPr>
              <a:buFont typeface="Arial" pitchFamily="34" charset="0"/>
              <a:buChar char="•"/>
            </a:pPr>
            <a:endParaRPr lang="en-AU" sz="1200" b="0" kern="1200" baseline="0" dirty="0" smtClean="0">
              <a:solidFill>
                <a:schemeClr val="tx1"/>
              </a:solidFill>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120</a:t>
            </a:fld>
            <a:endParaRPr lang="en-US" dirty="0"/>
          </a:p>
        </p:txBody>
      </p:sp>
    </p:spTree>
    <p:extLst>
      <p:ext uri="{BB962C8B-B14F-4D97-AF65-F5344CB8AC3E}">
        <p14:creationId xmlns:p14="http://schemas.microsoft.com/office/powerpoint/2010/main" val="1745398278"/>
      </p:ext>
    </p:extLst>
  </p:cSld>
  <p:clrMapOvr>
    <a:masterClrMapping/>
  </p:clrMapOvr>
</p:notes>
</file>

<file path=ppt/notesSlides/notesSlide1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b="1" kern="1200" baseline="0" dirty="0" smtClean="0">
                <a:solidFill>
                  <a:schemeClr val="tx1"/>
                </a:solidFill>
                <a:ea typeface="+mn-ea"/>
                <a:cs typeface="+mn-cs"/>
              </a:rPr>
              <a:t>Class Activity –  Questions</a:t>
            </a:r>
          </a:p>
          <a:p>
            <a:endParaRPr lang="en-AU" sz="1200" b="1" kern="1200" baseline="0" dirty="0" smtClean="0">
              <a:solidFill>
                <a:schemeClr val="tx1"/>
              </a:solidFill>
              <a:ea typeface="+mn-ea"/>
              <a:cs typeface="+mn-cs"/>
            </a:endParaRPr>
          </a:p>
          <a:p>
            <a:pPr>
              <a:buFont typeface="Arial" pitchFamily="34" charset="0"/>
              <a:buChar char="•"/>
            </a:pPr>
            <a:r>
              <a:rPr lang="en-AU" sz="1200" b="0" kern="1200" baseline="0" dirty="0" smtClean="0">
                <a:solidFill>
                  <a:schemeClr val="tx1"/>
                </a:solidFill>
                <a:ea typeface="+mn-ea"/>
                <a:cs typeface="+mn-cs"/>
              </a:rPr>
              <a:t>Discuss importance.</a:t>
            </a:r>
          </a:p>
          <a:p>
            <a:pPr>
              <a:buFont typeface="Arial" pitchFamily="34" charset="0"/>
              <a:buChar char="•"/>
            </a:pPr>
            <a:endParaRPr lang="en-AU" sz="1200" b="0" kern="1200" baseline="0" dirty="0" smtClean="0">
              <a:solidFill>
                <a:schemeClr val="tx1"/>
              </a:solidFill>
              <a:ea typeface="+mn-ea"/>
              <a:cs typeface="+mn-cs"/>
            </a:endParaRPr>
          </a:p>
          <a:p>
            <a:pPr>
              <a:buFont typeface="Arial" pitchFamily="34" charset="0"/>
              <a:buChar char="•"/>
            </a:pPr>
            <a:endParaRPr lang="en-AU" sz="1200" b="0" kern="1200" baseline="0" dirty="0" smtClean="0">
              <a:solidFill>
                <a:schemeClr val="tx1"/>
              </a:solidFill>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121</a:t>
            </a:fld>
            <a:endParaRPr lang="en-US" dirty="0"/>
          </a:p>
        </p:txBody>
      </p:sp>
    </p:spTree>
    <p:extLst>
      <p:ext uri="{BB962C8B-B14F-4D97-AF65-F5344CB8AC3E}">
        <p14:creationId xmlns:p14="http://schemas.microsoft.com/office/powerpoint/2010/main" val="171540138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Freeform 6"/>
          <p:cNvSpPr>
            <a:spLocks/>
          </p:cNvSpPr>
          <p:nvPr/>
        </p:nvSpPr>
        <p:spPr bwMode="auto">
          <a:xfrm>
            <a:off x="0" y="4752126"/>
            <a:ext cx="9144000" cy="2112962"/>
          </a:xfrm>
          <a:custGeom>
            <a:avLst>
              <a:gd name="A1" fmla="val 0"/>
              <a:gd name="A2" fmla="val 0"/>
              <a:gd name="A3" fmla="val 0"/>
              <a:gd name="A4" fmla="val 0"/>
              <a:gd name="A5" fmla="val 0"/>
              <a:gd name="A6" fmla="val 0"/>
              <a:gd name="A7" fmla="val 0"/>
              <a:gd name="A8" fmla="val 0"/>
            </a:avLst>
            <a:gdLst/>
            <a:ahLst/>
            <a:cxnLst>
              <a:cxn ang="0">
                <a:pos x="0" y="1066"/>
              </a:cxn>
              <a:cxn ang="0">
                <a:pos x="0" y="1331"/>
              </a:cxn>
              <a:cxn ang="0">
                <a:pos x="5760" y="1331"/>
              </a:cxn>
              <a:cxn ang="0">
                <a:pos x="5760" y="0"/>
              </a:cxn>
              <a:cxn ang="0">
                <a:pos x="0" y="1066"/>
              </a:cxn>
            </a:cxnLst>
            <a:rect l="0" t="0" r="0" b="0"/>
            <a:pathLst>
              <a:path w="5760" h="1331">
                <a:moveTo>
                  <a:pt x="0" y="1066"/>
                </a:moveTo>
                <a:lnTo>
                  <a:pt x="0" y="1331"/>
                </a:lnTo>
                <a:lnTo>
                  <a:pt x="5760" y="1331"/>
                </a:lnTo>
                <a:lnTo>
                  <a:pt x="5760" y="0"/>
                </a:lnTo>
                <a:cubicBezTo>
                  <a:pt x="3220" y="1206"/>
                  <a:pt x="2250" y="1146"/>
                  <a:pt x="0" y="1066"/>
                </a:cubicBezTo>
                <a:close/>
              </a:path>
            </a:pathLst>
          </a:custGeom>
          <a:solidFill>
            <a:schemeClr val="bg1">
              <a:tint val="80000"/>
              <a:satMod val="200000"/>
              <a:alpha val="45000"/>
            </a:schemeClr>
          </a:solidFill>
          <a:ln w="9525" cap="flat" cmpd="sng" algn="ctr">
            <a:noFill/>
            <a:prstDash val="solid"/>
            <a:round/>
            <a:headEnd type="none" w="med" len="med"/>
            <a:tailEnd type="none" w="med" len="med"/>
          </a:ln>
          <a:effectLst>
            <a:outerShdw blurRad="50800" dist="44450" dir="16200000" algn="ctr" rotWithShape="0">
              <a:prstClr val="black">
                <a:alpha val="35000"/>
              </a:prstClr>
            </a:outerShdw>
          </a:effectLst>
        </p:spPr>
        <p:txBody>
          <a:bodyPr vert="horz" wrap="square" lIns="91440" tIns="45720" rIns="91440" bIns="45720" anchor="t" compatLnSpc="1"/>
          <a:lstStyle/>
          <a:p>
            <a:endParaRPr kumimoji="0" lang="en-US" dirty="0">
              <a:latin typeface="Helvetica" pitchFamily="34" charset="0"/>
            </a:endParaRPr>
          </a:p>
        </p:txBody>
      </p:sp>
      <p:sp>
        <p:nvSpPr>
          <p:cNvPr id="8" name="Freeform 7"/>
          <p:cNvSpPr>
            <a:spLocks/>
          </p:cNvSpPr>
          <p:nvPr/>
        </p:nvSpPr>
        <p:spPr bwMode="auto">
          <a:xfrm>
            <a:off x="6105525" y="0"/>
            <a:ext cx="3038475" cy="6858000"/>
          </a:xfrm>
          <a:custGeom>
            <a:avLst/>
            <a:gdLst>
              <a:gd name="connsiteX0" fmla="*/ 1914 w 1914"/>
              <a:gd name="connsiteY0" fmla="*/ 9 h 4329"/>
              <a:gd name="connsiteX1" fmla="*/ 1914 w 1914"/>
              <a:gd name="connsiteY1" fmla="*/ 4329 h 4329"/>
              <a:gd name="connsiteX2" fmla="*/ 204 w 1914"/>
              <a:gd name="connsiteY2" fmla="*/ 4327 h 4329"/>
              <a:gd name="connsiteX3" fmla="*/ 0 w 1914"/>
              <a:gd name="connsiteY3" fmla="*/ 0 h 4329"/>
              <a:gd name="connsiteX4" fmla="*/ 1914 w 1914"/>
              <a:gd name="connsiteY4" fmla="*/ 9 h 432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14" h="4329">
                <a:moveTo>
                  <a:pt x="1914" y="9"/>
                </a:moveTo>
                <a:lnTo>
                  <a:pt x="1914" y="4329"/>
                </a:lnTo>
                <a:lnTo>
                  <a:pt x="204" y="4327"/>
                </a:lnTo>
                <a:cubicBezTo>
                  <a:pt x="1288" y="3574"/>
                  <a:pt x="1608" y="1590"/>
                  <a:pt x="0" y="0"/>
                </a:cubicBezTo>
                <a:lnTo>
                  <a:pt x="1914" y="9"/>
                </a:lnTo>
                <a:close/>
              </a:path>
            </a:pathLst>
          </a:custGeom>
          <a:solidFill>
            <a:schemeClr val="bg1">
              <a:tint val="90000"/>
              <a:satMod val="350000"/>
              <a:alpha val="40000"/>
            </a:schemeClr>
          </a:solidFill>
          <a:ln w="9525" cap="flat" cmpd="sng" algn="ctr">
            <a:noFill/>
            <a:prstDash val="solid"/>
            <a:round/>
            <a:headEnd type="none" w="med" len="med"/>
            <a:tailEnd type="none" w="med" len="med"/>
          </a:ln>
          <a:effectLst>
            <a:outerShdw blurRad="50800" dist="50800" dir="10800000" algn="ctr" rotWithShape="0">
              <a:prstClr val="black">
                <a:alpha val="45000"/>
              </a:prstClr>
            </a:outerShdw>
          </a:effectLst>
        </p:spPr>
        <p:txBody>
          <a:bodyPr vert="horz" wrap="square" lIns="91440" tIns="45720" rIns="91440" bIns="45720" anchor="t" compatLnSpc="1"/>
          <a:lstStyle/>
          <a:p>
            <a:endParaRPr kumimoji="0" lang="en-US" dirty="0">
              <a:latin typeface="Helvetica" pitchFamily="34" charset="0"/>
            </a:endParaRPr>
          </a:p>
        </p:txBody>
      </p:sp>
      <p:sp>
        <p:nvSpPr>
          <p:cNvPr id="9" name="Title 8"/>
          <p:cNvSpPr>
            <a:spLocks noGrp="1"/>
          </p:cNvSpPr>
          <p:nvPr>
            <p:ph type="ctrTitle"/>
          </p:nvPr>
        </p:nvSpPr>
        <p:spPr>
          <a:xfrm>
            <a:off x="429064" y="3337560"/>
            <a:ext cx="6480048" cy="2301240"/>
          </a:xfrm>
        </p:spPr>
        <p:txBody>
          <a:bodyPr rIns="45720" anchor="t"/>
          <a:lstStyle>
            <a:lvl1pPr algn="r">
              <a:defRPr lang="en-US" b="1" cap="all" baseline="0" dirty="0">
                <a:ln w="5000" cmpd="sng">
                  <a:solidFill>
                    <a:schemeClr val="accent1">
                      <a:tint val="80000"/>
                      <a:shade val="99000"/>
                      <a:satMod val="500000"/>
                    </a:schemeClr>
                  </a:solidFill>
                  <a:prstDash val="solid"/>
                </a:ln>
                <a:gradFill>
                  <a:gsLst>
                    <a:gs pos="0">
                      <a:schemeClr val="accent1">
                        <a:tint val="63000"/>
                        <a:satMod val="255000"/>
                      </a:schemeClr>
                    </a:gs>
                    <a:gs pos="9000">
                      <a:schemeClr val="accent1">
                        <a:tint val="63000"/>
                        <a:satMod val="255000"/>
                      </a:schemeClr>
                    </a:gs>
                    <a:gs pos="53000">
                      <a:schemeClr val="accent1">
                        <a:shade val="60000"/>
                        <a:satMod val="100000"/>
                      </a:schemeClr>
                    </a:gs>
                    <a:gs pos="90000">
                      <a:schemeClr val="accent1">
                        <a:tint val="63000"/>
                        <a:satMod val="255000"/>
                      </a:schemeClr>
                    </a:gs>
                    <a:gs pos="100000">
                      <a:schemeClr val="accent1">
                        <a:tint val="63000"/>
                        <a:satMod val="255000"/>
                      </a:schemeClr>
                    </a:gs>
                  </a:gsLst>
                  <a:lin ang="5400000"/>
                </a:gradFill>
                <a:effectLst>
                  <a:outerShdw blurRad="50800" dist="38100" dir="5400000" algn="t" rotWithShape="0">
                    <a:prstClr val="black">
                      <a:alpha val="50000"/>
                    </a:prstClr>
                  </a:outerShdw>
                </a:effectLst>
              </a:defRPr>
            </a:lvl1pPr>
          </a:lstStyle>
          <a:p>
            <a:r>
              <a:rPr kumimoji="0" lang="en-US" smtClean="0"/>
              <a:t>Click to edit Master title style</a:t>
            </a:r>
            <a:endParaRPr kumimoji="0" lang="en-US"/>
          </a:p>
        </p:txBody>
      </p:sp>
      <p:sp>
        <p:nvSpPr>
          <p:cNvPr id="17" name="Subtitle 16"/>
          <p:cNvSpPr>
            <a:spLocks noGrp="1"/>
          </p:cNvSpPr>
          <p:nvPr>
            <p:ph type="subTitle" idx="1"/>
          </p:nvPr>
        </p:nvSpPr>
        <p:spPr>
          <a:xfrm>
            <a:off x="433050" y="1544812"/>
            <a:ext cx="6480048" cy="1752600"/>
          </a:xfrm>
        </p:spPr>
        <p:txBody>
          <a:bodyPr tIns="0" rIns="45720" bIns="0" anchor="b">
            <a:normAutofit/>
          </a:bodyPr>
          <a:lstStyle>
            <a:lvl1pPr marL="0" indent="0" algn="r">
              <a:buNone/>
              <a:defRPr sz="2000">
                <a:solidFill>
                  <a:schemeClr val="tx1"/>
                </a:solidFill>
                <a:effectLst/>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US" smtClean="0"/>
              <a:t>Click to edit Master subtitle style</a:t>
            </a:r>
            <a:endParaRPr kumimoji="0" lang="en-US"/>
          </a:p>
        </p:txBody>
      </p:sp>
      <p:sp>
        <p:nvSpPr>
          <p:cNvPr id="30" name="Date Placeholder 29"/>
          <p:cNvSpPr>
            <a:spLocks noGrp="1"/>
          </p:cNvSpPr>
          <p:nvPr>
            <p:ph type="dt" sz="half" idx="10"/>
          </p:nvPr>
        </p:nvSpPr>
        <p:spPr/>
        <p:txBody>
          <a:bodyPr/>
          <a:lstStyle/>
          <a:p>
            <a:fld id="{3F96675B-16CB-449C-AA64-20E2E057E166}" type="datetime1">
              <a:rPr lang="en-US" smtClean="0"/>
              <a:pPr/>
              <a:t>3/31/2015</a:t>
            </a:fld>
            <a:endParaRPr lang="en-US" dirty="0"/>
          </a:p>
        </p:txBody>
      </p:sp>
      <p:sp>
        <p:nvSpPr>
          <p:cNvPr id="19" name="Footer Placeholder 18"/>
          <p:cNvSpPr>
            <a:spLocks noGrp="1"/>
          </p:cNvSpPr>
          <p:nvPr>
            <p:ph type="ftr" sz="quarter" idx="11"/>
          </p:nvPr>
        </p:nvSpPr>
        <p:spPr/>
        <p:txBody>
          <a:bodyPr/>
          <a:lstStyle/>
          <a:p>
            <a:endParaRPr lang="en-US" dirty="0"/>
          </a:p>
        </p:txBody>
      </p:sp>
      <p:sp>
        <p:nvSpPr>
          <p:cNvPr id="27" name="Slide Number Placeholder 26"/>
          <p:cNvSpPr>
            <a:spLocks noGrp="1"/>
          </p:cNvSpPr>
          <p:nvPr>
            <p:ph type="sldNum" sz="quarter" idx="12"/>
          </p:nvPr>
        </p:nvSpPr>
        <p:spPr/>
        <p:txBody>
          <a:bodyPr/>
          <a:lstStyle/>
          <a:p>
            <a:fld id="{90BDF71C-F485-43AE-8825-5070AF1EA8C9}" type="slidenum">
              <a:rPr lang="en-US" smtClean="0"/>
              <a:pPr/>
              <a:t>‹#›</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l">
              <a:defRPr/>
            </a:lvl1pPr>
          </a:lstStyle>
          <a:p>
            <a:r>
              <a:rPr kumimoji="0" lang="en-US" smtClean="0"/>
              <a:t>Click to edit Master title style</a:t>
            </a:r>
            <a:endParaRPr kumimoji="0" lang="en-US"/>
          </a:p>
        </p:txBody>
      </p:sp>
      <p:sp>
        <p:nvSpPr>
          <p:cNvPr id="3" name="Content Placeholder 2"/>
          <p:cNvSpPr>
            <a:spLocks noGrp="1"/>
          </p:cNvSpPr>
          <p:nvPr>
            <p:ph idx="1"/>
          </p:nvPr>
        </p:nvSpPr>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0646F223-D3A2-44F5-8051-829B2F23C0D4}" type="datetime1">
              <a:rPr lang="en-US" smtClean="0"/>
              <a:pPr/>
              <a:t>3/31/2015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90BDF71C-F485-43AE-8825-5070AF1EA8C9}" type="slidenum">
              <a:rPr lang="en-US" smtClean="0"/>
              <a:pPr/>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7" name="Freeform 6"/>
          <p:cNvSpPr>
            <a:spLocks/>
          </p:cNvSpPr>
          <p:nvPr/>
        </p:nvSpPr>
        <p:spPr bwMode="auto">
          <a:xfrm>
            <a:off x="0" y="4752126"/>
            <a:ext cx="9144000" cy="2112962"/>
          </a:xfrm>
          <a:custGeom>
            <a:avLst>
              <a:gd name="A1" fmla="val 0"/>
              <a:gd name="A2" fmla="val 0"/>
              <a:gd name="A3" fmla="val 0"/>
              <a:gd name="A4" fmla="val 0"/>
              <a:gd name="A5" fmla="val 0"/>
              <a:gd name="A6" fmla="val 0"/>
              <a:gd name="A7" fmla="val 0"/>
              <a:gd name="A8" fmla="val 0"/>
            </a:avLst>
            <a:gdLst/>
            <a:ahLst/>
            <a:cxnLst>
              <a:cxn ang="0">
                <a:pos x="0" y="1066"/>
              </a:cxn>
              <a:cxn ang="0">
                <a:pos x="0" y="1331"/>
              </a:cxn>
              <a:cxn ang="0">
                <a:pos x="5760" y="1331"/>
              </a:cxn>
              <a:cxn ang="0">
                <a:pos x="5760" y="0"/>
              </a:cxn>
              <a:cxn ang="0">
                <a:pos x="0" y="1066"/>
              </a:cxn>
            </a:cxnLst>
            <a:rect l="0" t="0" r="0" b="0"/>
            <a:pathLst>
              <a:path w="5760" h="1331">
                <a:moveTo>
                  <a:pt x="0" y="1066"/>
                </a:moveTo>
                <a:lnTo>
                  <a:pt x="0" y="1331"/>
                </a:lnTo>
                <a:lnTo>
                  <a:pt x="5760" y="1331"/>
                </a:lnTo>
                <a:lnTo>
                  <a:pt x="5760" y="0"/>
                </a:lnTo>
                <a:cubicBezTo>
                  <a:pt x="3220" y="1206"/>
                  <a:pt x="2250" y="1146"/>
                  <a:pt x="0" y="1066"/>
                </a:cubicBezTo>
                <a:close/>
              </a:path>
            </a:pathLst>
          </a:custGeom>
          <a:solidFill>
            <a:schemeClr val="bg1">
              <a:tint val="80000"/>
              <a:satMod val="200000"/>
              <a:alpha val="45000"/>
            </a:schemeClr>
          </a:solidFill>
          <a:ln w="9525" cap="flat" cmpd="sng" algn="ctr">
            <a:noFill/>
            <a:prstDash val="solid"/>
            <a:round/>
            <a:headEnd type="none" w="med" len="med"/>
            <a:tailEnd type="none" w="med" len="med"/>
          </a:ln>
          <a:effectLst>
            <a:outerShdw blurRad="50800" dist="44450" dir="16200000" algn="ctr" rotWithShape="0">
              <a:prstClr val="black">
                <a:alpha val="35000"/>
              </a:prstClr>
            </a:outerShdw>
          </a:effectLst>
        </p:spPr>
        <p:txBody>
          <a:bodyPr vert="horz" wrap="square" lIns="91440" tIns="45720" rIns="91440" bIns="45720" anchor="t" compatLnSpc="1"/>
          <a:lstStyle/>
          <a:p>
            <a:endParaRPr kumimoji="0" lang="en-US" dirty="0">
              <a:latin typeface="Helvetica" pitchFamily="34" charset="0"/>
            </a:endParaRPr>
          </a:p>
        </p:txBody>
      </p:sp>
      <p:sp>
        <p:nvSpPr>
          <p:cNvPr id="9" name="Freeform 8"/>
          <p:cNvSpPr>
            <a:spLocks/>
          </p:cNvSpPr>
          <p:nvPr/>
        </p:nvSpPr>
        <p:spPr bwMode="auto">
          <a:xfrm>
            <a:off x="6105525" y="0"/>
            <a:ext cx="3038475" cy="6858000"/>
          </a:xfrm>
          <a:custGeom>
            <a:avLst/>
            <a:gdLst>
              <a:gd name="connsiteX0" fmla="*/ 1914 w 1914"/>
              <a:gd name="connsiteY0" fmla="*/ 9 h 4329"/>
              <a:gd name="connsiteX1" fmla="*/ 1914 w 1914"/>
              <a:gd name="connsiteY1" fmla="*/ 4329 h 4329"/>
              <a:gd name="connsiteX2" fmla="*/ 204 w 1914"/>
              <a:gd name="connsiteY2" fmla="*/ 4327 h 4329"/>
              <a:gd name="connsiteX3" fmla="*/ 0 w 1914"/>
              <a:gd name="connsiteY3" fmla="*/ 0 h 4329"/>
              <a:gd name="connsiteX4" fmla="*/ 1914 w 1914"/>
              <a:gd name="connsiteY4" fmla="*/ 9 h 432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14" h="4329">
                <a:moveTo>
                  <a:pt x="1914" y="9"/>
                </a:moveTo>
                <a:lnTo>
                  <a:pt x="1914" y="4329"/>
                </a:lnTo>
                <a:lnTo>
                  <a:pt x="204" y="4327"/>
                </a:lnTo>
                <a:cubicBezTo>
                  <a:pt x="1288" y="3574"/>
                  <a:pt x="1608" y="1590"/>
                  <a:pt x="0" y="0"/>
                </a:cubicBezTo>
                <a:lnTo>
                  <a:pt x="1914" y="9"/>
                </a:lnTo>
                <a:close/>
              </a:path>
            </a:pathLst>
          </a:custGeom>
          <a:solidFill>
            <a:schemeClr val="bg1">
              <a:tint val="90000"/>
              <a:satMod val="350000"/>
              <a:alpha val="40000"/>
            </a:schemeClr>
          </a:solidFill>
          <a:ln w="9525" cap="flat" cmpd="sng" algn="ctr">
            <a:noFill/>
            <a:prstDash val="solid"/>
            <a:round/>
            <a:headEnd type="none" w="med" len="med"/>
            <a:tailEnd type="none" w="med" len="med"/>
          </a:ln>
          <a:effectLst>
            <a:outerShdw blurRad="50800" dist="50800" dir="10800000" algn="ctr" rotWithShape="0">
              <a:prstClr val="black">
                <a:alpha val="45000"/>
              </a:prstClr>
            </a:outerShdw>
          </a:effectLst>
        </p:spPr>
        <p:txBody>
          <a:bodyPr vert="horz" wrap="square" lIns="91440" tIns="45720" rIns="91440" bIns="45720" anchor="t" compatLnSpc="1"/>
          <a:lstStyle/>
          <a:p>
            <a:endParaRPr kumimoji="0" lang="en-US" dirty="0">
              <a:latin typeface="Helvetica" pitchFamily="34" charset="0"/>
            </a:endParaRPr>
          </a:p>
        </p:txBody>
      </p:sp>
      <p:sp>
        <p:nvSpPr>
          <p:cNvPr id="2" name="Title 1"/>
          <p:cNvSpPr>
            <a:spLocks noGrp="1"/>
          </p:cNvSpPr>
          <p:nvPr>
            <p:ph type="title"/>
          </p:nvPr>
        </p:nvSpPr>
        <p:spPr>
          <a:xfrm>
            <a:off x="685800" y="3583837"/>
            <a:ext cx="6629400" cy="1826363"/>
          </a:xfrm>
        </p:spPr>
        <p:txBody>
          <a:bodyPr tIns="0" bIns="0" anchor="t"/>
          <a:lstStyle>
            <a:lvl1pPr algn="l">
              <a:buNone/>
              <a:defRPr sz="4200" b="1" cap="none" baseline="0">
                <a:ln w="5000" cmpd="sng">
                  <a:solidFill>
                    <a:schemeClr val="accent1">
                      <a:tint val="80000"/>
                      <a:shade val="99000"/>
                      <a:satMod val="500000"/>
                    </a:schemeClr>
                  </a:solidFill>
                  <a:prstDash val="solid"/>
                </a:ln>
                <a:gradFill>
                  <a:gsLst>
                    <a:gs pos="0">
                      <a:schemeClr val="accent1">
                        <a:tint val="63000"/>
                        <a:satMod val="255000"/>
                      </a:schemeClr>
                    </a:gs>
                    <a:gs pos="9000">
                      <a:schemeClr val="accent1">
                        <a:tint val="63000"/>
                        <a:satMod val="255000"/>
                      </a:schemeClr>
                    </a:gs>
                    <a:gs pos="53000">
                      <a:schemeClr val="accent1">
                        <a:shade val="60000"/>
                        <a:satMod val="100000"/>
                      </a:schemeClr>
                    </a:gs>
                    <a:gs pos="90000">
                      <a:schemeClr val="accent1">
                        <a:tint val="63000"/>
                        <a:satMod val="255000"/>
                      </a:schemeClr>
                    </a:gs>
                    <a:gs pos="100000">
                      <a:schemeClr val="accent1">
                        <a:tint val="63000"/>
                        <a:satMod val="255000"/>
                      </a:schemeClr>
                    </a:gs>
                  </a:gsLst>
                  <a:lin ang="5400000"/>
                </a:gradFill>
                <a:effectLst>
                  <a:outerShdw blurRad="50800" dist="38100" dir="5400000" algn="t" rotWithShape="0">
                    <a:prstClr val="black">
                      <a:alpha val="50000"/>
                    </a:prstClr>
                  </a:outerShdw>
                </a:effectLst>
              </a:defRPr>
            </a:lvl1pPr>
          </a:lstStyle>
          <a:p>
            <a:r>
              <a:rPr kumimoji="0" lang="en-US" smtClean="0"/>
              <a:t>Click to edit Master title style</a:t>
            </a:r>
            <a:endParaRPr kumimoji="0" lang="en-US"/>
          </a:p>
        </p:txBody>
      </p:sp>
      <p:sp>
        <p:nvSpPr>
          <p:cNvPr id="3" name="Text Placeholder 2"/>
          <p:cNvSpPr>
            <a:spLocks noGrp="1"/>
          </p:cNvSpPr>
          <p:nvPr>
            <p:ph type="body" idx="1"/>
          </p:nvPr>
        </p:nvSpPr>
        <p:spPr>
          <a:xfrm>
            <a:off x="685800" y="2485800"/>
            <a:ext cx="6629400" cy="1066688"/>
          </a:xfrm>
        </p:spPr>
        <p:txBody>
          <a:bodyPr lIns="45720" tIns="0" rIns="45720" bIns="0" anchor="b"/>
          <a:lstStyle>
            <a:lvl1pPr marL="0" indent="0" algn="l">
              <a:buNone/>
              <a:defRPr sz="2000">
                <a:solidFill>
                  <a:schemeClr val="tx1"/>
                </a:solidFill>
                <a:effectLst/>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n-US" smtClean="0"/>
              <a:t>Click to edit Master text styles</a:t>
            </a:r>
          </a:p>
        </p:txBody>
      </p:sp>
      <p:sp>
        <p:nvSpPr>
          <p:cNvPr id="4" name="Date Placeholder 3"/>
          <p:cNvSpPr>
            <a:spLocks noGrp="1"/>
          </p:cNvSpPr>
          <p:nvPr>
            <p:ph type="dt" sz="half" idx="10"/>
          </p:nvPr>
        </p:nvSpPr>
        <p:spPr/>
        <p:txBody>
          <a:bodyPr/>
          <a:lstStyle/>
          <a:p>
            <a:fld id="{9A33FE7D-417D-483E-A327-7AED21196679}" type="datetime1">
              <a:rPr lang="en-US" smtClean="0"/>
              <a:pPr/>
              <a:t>3/31/2015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90BDF71C-F485-43AE-8825-5070AF1EA8C9}" type="slidenum">
              <a:rPr lang="en-US" smtClean="0"/>
              <a:pPr/>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7467600" cy="1143000"/>
          </a:xfrm>
        </p:spPr>
        <p:txBody>
          <a:bodyPr/>
          <a:lstStyle/>
          <a:p>
            <a:r>
              <a:rPr kumimoji="0" lang="en-US" smtClean="0"/>
              <a:t>Click to edit Master title style</a:t>
            </a:r>
            <a:endParaRPr kumimoji="0" lang="en-US"/>
          </a:p>
        </p:txBody>
      </p:sp>
      <p:sp>
        <p:nvSpPr>
          <p:cNvPr id="3" name="Content Placeholder 2"/>
          <p:cNvSpPr>
            <a:spLocks noGrp="1"/>
          </p:cNvSpPr>
          <p:nvPr>
            <p:ph sz="half" idx="1"/>
          </p:nvPr>
        </p:nvSpPr>
        <p:spPr>
          <a:xfrm>
            <a:off x="457200" y="1600200"/>
            <a:ext cx="3657600" cy="4525963"/>
          </a:xfrm>
        </p:spPr>
        <p:txBody>
          <a:bodyPr/>
          <a:lstStyle>
            <a:lvl1pPr>
              <a:defRPr sz="2600"/>
            </a:lvl1pPr>
            <a:lvl2pPr>
              <a:defRPr sz="2200"/>
            </a:lvl2pPr>
            <a:lvl3pPr>
              <a:defRPr sz="2000"/>
            </a:lvl3pPr>
            <a:lvl4pPr>
              <a:defRPr sz="1800"/>
            </a:lvl4pPr>
            <a:lvl5pPr>
              <a:defRPr sz="18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Content Placeholder 3"/>
          <p:cNvSpPr>
            <a:spLocks noGrp="1"/>
          </p:cNvSpPr>
          <p:nvPr>
            <p:ph sz="half" idx="2"/>
          </p:nvPr>
        </p:nvSpPr>
        <p:spPr>
          <a:xfrm>
            <a:off x="4267200" y="1600200"/>
            <a:ext cx="3657600" cy="4525963"/>
          </a:xfrm>
        </p:spPr>
        <p:txBody>
          <a:bodyPr/>
          <a:lstStyle>
            <a:lvl1pPr>
              <a:defRPr sz="2600"/>
            </a:lvl1pPr>
            <a:lvl2pPr>
              <a:defRPr sz="2200"/>
            </a:lvl2pPr>
            <a:lvl3pPr>
              <a:defRPr sz="2000"/>
            </a:lvl3pPr>
            <a:lvl4pPr>
              <a:defRPr sz="1800"/>
            </a:lvl4pPr>
            <a:lvl5pPr>
              <a:defRPr sz="18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5" name="Date Placeholder 4"/>
          <p:cNvSpPr>
            <a:spLocks noGrp="1"/>
          </p:cNvSpPr>
          <p:nvPr>
            <p:ph type="dt" sz="half" idx="10"/>
          </p:nvPr>
        </p:nvSpPr>
        <p:spPr/>
        <p:txBody>
          <a:bodyPr/>
          <a:lstStyle/>
          <a:p>
            <a:fld id="{FBBE8DDC-366E-4D96-B475-59755FBFA064}" type="datetime1">
              <a:rPr lang="en-US" smtClean="0"/>
              <a:pPr/>
              <a:t>3/31/2015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90BDF71C-F485-43AE-8825-5070AF1EA8C9}" type="slidenum">
              <a:rPr lang="en-US" smtClean="0"/>
              <a:pPr/>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8229600" cy="1143000"/>
          </a:xfrm>
        </p:spPr>
        <p:txBody>
          <a:bodyPr anchor="ctr"/>
          <a:lstStyle>
            <a:lvl1pPr>
              <a:defRPr/>
            </a:lvl1pPr>
          </a:lstStyle>
          <a:p>
            <a:r>
              <a:rPr kumimoji="0" lang="en-US" smtClean="0"/>
              <a:t>Click to edit Master title style</a:t>
            </a:r>
            <a:endParaRPr kumimoji="0" lang="en-US"/>
          </a:p>
        </p:txBody>
      </p:sp>
      <p:sp>
        <p:nvSpPr>
          <p:cNvPr id="3" name="Text Placeholder 2"/>
          <p:cNvSpPr>
            <a:spLocks noGrp="1"/>
          </p:cNvSpPr>
          <p:nvPr>
            <p:ph type="body" idx="1"/>
          </p:nvPr>
        </p:nvSpPr>
        <p:spPr>
          <a:xfrm>
            <a:off x="457200" y="5486400"/>
            <a:ext cx="4040188" cy="838200"/>
          </a:xfrm>
        </p:spPr>
        <p:txBody>
          <a:bodyPr anchor="t"/>
          <a:lstStyle>
            <a:lvl1pPr marL="0" indent="0">
              <a:buNone/>
              <a:defRPr sz="2400" b="1">
                <a:solidFill>
                  <a:schemeClr val="accent1"/>
                </a:solidFill>
              </a:defRPr>
            </a:lvl1pPr>
            <a:lvl2pPr>
              <a:buNone/>
              <a:defRPr sz="2000" b="1"/>
            </a:lvl2pPr>
            <a:lvl3pPr>
              <a:buNone/>
              <a:defRPr sz="1800" b="1"/>
            </a:lvl3pPr>
            <a:lvl4pPr>
              <a:buNone/>
              <a:defRPr sz="1600" b="1"/>
            </a:lvl4pPr>
            <a:lvl5pPr>
              <a:buNone/>
              <a:defRPr sz="1600" b="1"/>
            </a:lvl5pPr>
          </a:lstStyle>
          <a:p>
            <a:pPr lvl="0" eaLnBrk="1" latinLnBrk="0" hangingPunct="1"/>
            <a:r>
              <a:rPr kumimoji="0" lang="en-US" smtClean="0"/>
              <a:t>Click to edit Master text styles</a:t>
            </a:r>
          </a:p>
        </p:txBody>
      </p:sp>
      <p:sp>
        <p:nvSpPr>
          <p:cNvPr id="4" name="Text Placeholder 3"/>
          <p:cNvSpPr>
            <a:spLocks noGrp="1"/>
          </p:cNvSpPr>
          <p:nvPr>
            <p:ph type="body" sz="half" idx="3"/>
          </p:nvPr>
        </p:nvSpPr>
        <p:spPr>
          <a:xfrm>
            <a:off x="4645025" y="5486400"/>
            <a:ext cx="4041775" cy="838200"/>
          </a:xfrm>
        </p:spPr>
        <p:txBody>
          <a:bodyPr anchor="t"/>
          <a:lstStyle>
            <a:lvl1pPr marL="0" indent="0">
              <a:buNone/>
              <a:defRPr sz="2400" b="1">
                <a:solidFill>
                  <a:schemeClr val="accent1"/>
                </a:solidFill>
              </a:defRPr>
            </a:lvl1pPr>
            <a:lvl2pPr>
              <a:buNone/>
              <a:defRPr sz="2000" b="1"/>
            </a:lvl2pPr>
            <a:lvl3pPr>
              <a:buNone/>
              <a:defRPr sz="1800" b="1"/>
            </a:lvl3pPr>
            <a:lvl4pPr>
              <a:buNone/>
              <a:defRPr sz="1600" b="1"/>
            </a:lvl4pPr>
            <a:lvl5pPr>
              <a:buNone/>
              <a:defRPr sz="1600" b="1"/>
            </a:lvl5pPr>
          </a:lstStyle>
          <a:p>
            <a:pPr lvl="0" eaLnBrk="1" latinLnBrk="0" hangingPunct="1"/>
            <a:r>
              <a:rPr kumimoji="0" lang="en-US" smtClean="0"/>
              <a:t>Click to edit Master text styles</a:t>
            </a:r>
          </a:p>
        </p:txBody>
      </p:sp>
      <p:sp>
        <p:nvSpPr>
          <p:cNvPr id="5" name="Content Placeholder 4"/>
          <p:cNvSpPr>
            <a:spLocks noGrp="1"/>
          </p:cNvSpPr>
          <p:nvPr>
            <p:ph sz="quarter" idx="2"/>
          </p:nvPr>
        </p:nvSpPr>
        <p:spPr>
          <a:xfrm>
            <a:off x="457200" y="1516912"/>
            <a:ext cx="4040188" cy="3941763"/>
          </a:xfrm>
        </p:spPr>
        <p:txBody>
          <a:bodyPr/>
          <a:lstStyle>
            <a:lvl1pPr>
              <a:defRPr sz="2400"/>
            </a:lvl1pPr>
            <a:lvl2pPr>
              <a:defRPr sz="2000"/>
            </a:lvl2pPr>
            <a:lvl3pPr>
              <a:defRPr sz="1800"/>
            </a:lvl3pPr>
            <a:lvl4pPr>
              <a:defRPr sz="1600"/>
            </a:lvl4pPr>
            <a:lvl5pPr>
              <a:defRPr sz="16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6" name="Content Placeholder 5"/>
          <p:cNvSpPr>
            <a:spLocks noGrp="1"/>
          </p:cNvSpPr>
          <p:nvPr>
            <p:ph sz="quarter" idx="4"/>
          </p:nvPr>
        </p:nvSpPr>
        <p:spPr>
          <a:xfrm>
            <a:off x="4645025" y="1516912"/>
            <a:ext cx="4041775" cy="3941763"/>
          </a:xfrm>
        </p:spPr>
        <p:txBody>
          <a:bodyPr/>
          <a:lstStyle>
            <a:lvl1pPr>
              <a:defRPr sz="2400"/>
            </a:lvl1pPr>
            <a:lvl2pPr>
              <a:defRPr sz="2000"/>
            </a:lvl2pPr>
            <a:lvl3pPr>
              <a:defRPr sz="1800"/>
            </a:lvl3pPr>
            <a:lvl4pPr>
              <a:defRPr sz="1600"/>
            </a:lvl4pPr>
            <a:lvl5pPr>
              <a:defRPr sz="16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7" name="Date Placeholder 6"/>
          <p:cNvSpPr>
            <a:spLocks noGrp="1"/>
          </p:cNvSpPr>
          <p:nvPr>
            <p:ph type="dt" sz="half" idx="10"/>
          </p:nvPr>
        </p:nvSpPr>
        <p:spPr/>
        <p:txBody>
          <a:bodyPr/>
          <a:lstStyle/>
          <a:p>
            <a:fld id="{AFB5C968-0B16-4ADF-91B3-C8ECABCFDA29}" type="datetime1">
              <a:rPr lang="en-US" smtClean="0"/>
              <a:pPr/>
              <a:t>3/31/2015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90BDF71C-F485-43AE-8825-5070AF1EA8C9}" type="slidenum">
              <a:rPr lang="en-US" smtClean="0"/>
              <a:pPr/>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274320"/>
            <a:ext cx="7470648" cy="1143000"/>
          </a:xfrm>
        </p:spPr>
        <p:txBody>
          <a:bodyPr anchor="ctr"/>
          <a:lstStyle>
            <a:lvl1pPr algn="l">
              <a:defRPr sz="4600"/>
            </a:lvl1pPr>
          </a:lstStyle>
          <a:p>
            <a:r>
              <a:rPr kumimoji="0" lang="en-US" smtClean="0"/>
              <a:t>Click to edit Master title style</a:t>
            </a:r>
            <a:endParaRPr kumimoji="0" lang="en-US"/>
          </a:p>
        </p:txBody>
      </p:sp>
      <p:sp>
        <p:nvSpPr>
          <p:cNvPr id="7" name="Date Placeholder 6"/>
          <p:cNvSpPr>
            <a:spLocks noGrp="1"/>
          </p:cNvSpPr>
          <p:nvPr>
            <p:ph type="dt" sz="half" idx="10"/>
          </p:nvPr>
        </p:nvSpPr>
        <p:spPr/>
        <p:txBody>
          <a:bodyPr/>
          <a:lstStyle/>
          <a:p>
            <a:fld id="{F3921DEA-061C-49D7-974B-38721BC66A5F}" type="datetime1">
              <a:rPr lang="en-US" smtClean="0"/>
              <a:pPr/>
              <a:t>3/31/2015</a:t>
            </a:fld>
            <a:endParaRPr lang="en-US" dirty="0"/>
          </a:p>
        </p:txBody>
      </p:sp>
      <p:sp>
        <p:nvSpPr>
          <p:cNvPr id="8" name="Slide Number Placeholder 7"/>
          <p:cNvSpPr>
            <a:spLocks noGrp="1"/>
          </p:cNvSpPr>
          <p:nvPr>
            <p:ph type="sldNum" sz="quarter" idx="11"/>
          </p:nvPr>
        </p:nvSpPr>
        <p:spPr/>
        <p:txBody>
          <a:bodyPr/>
          <a:lstStyle/>
          <a:p>
            <a:fld id="{90BDF71C-F485-43AE-8825-5070AF1EA8C9}" type="slidenum">
              <a:rPr lang="en-US" smtClean="0"/>
              <a:pPr/>
              <a:t>‹#›</a:t>
            </a:fld>
            <a:endParaRPr lang="en-US" dirty="0"/>
          </a:p>
        </p:txBody>
      </p:sp>
      <p:sp>
        <p:nvSpPr>
          <p:cNvPr id="9" name="Footer Placeholder 8"/>
          <p:cNvSpPr>
            <a:spLocks noGrp="1"/>
          </p:cNvSpPr>
          <p:nvPr>
            <p:ph type="ftr" sz="quarter" idx="12"/>
          </p:nvPr>
        </p:nvSpPr>
        <p:spPr/>
        <p:txBody>
          <a:bodyPr/>
          <a:lstStyle/>
          <a:p>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87EFC2B-FC2E-46FA-B53A-48A270754B05}" type="datetime1">
              <a:rPr lang="en-US" smtClean="0"/>
              <a:pPr/>
              <a:t>3/31/2015</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90BDF71C-F485-43AE-8825-5070AF1EA8C9}" type="slidenum">
              <a:rPr lang="en-US" smtClean="0"/>
              <a:pPr/>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1185528"/>
            <a:ext cx="3200400" cy="730250"/>
          </a:xfrm>
        </p:spPr>
        <p:txBody>
          <a:bodyPr tIns="0" bIns="0" anchor="t"/>
          <a:lstStyle>
            <a:lvl1pPr algn="l">
              <a:buNone/>
              <a:defRPr sz="1800" b="1">
                <a:solidFill>
                  <a:schemeClr val="accent1"/>
                </a:solidFill>
              </a:defRPr>
            </a:lvl1pPr>
          </a:lstStyle>
          <a:p>
            <a:r>
              <a:rPr kumimoji="0" lang="en-US" smtClean="0"/>
              <a:t>Click to edit Master title style</a:t>
            </a:r>
            <a:endParaRPr kumimoji="0" lang="en-US"/>
          </a:p>
        </p:txBody>
      </p:sp>
      <p:sp>
        <p:nvSpPr>
          <p:cNvPr id="3" name="Text Placeholder 2"/>
          <p:cNvSpPr>
            <a:spLocks noGrp="1"/>
          </p:cNvSpPr>
          <p:nvPr>
            <p:ph type="body" idx="2"/>
          </p:nvPr>
        </p:nvSpPr>
        <p:spPr>
          <a:xfrm>
            <a:off x="457200" y="214424"/>
            <a:ext cx="2743200" cy="914400"/>
          </a:xfrm>
        </p:spPr>
        <p:txBody>
          <a:bodyPr lIns="45720" tIns="0" rIns="45720" bIns="0" anchor="b"/>
          <a:lstStyle>
            <a:lvl1pPr marL="0" indent="0" algn="l">
              <a:buNone/>
              <a:defRPr sz="1400"/>
            </a:lvl1pPr>
            <a:lvl2pPr>
              <a:buNone/>
              <a:defRPr sz="1200"/>
            </a:lvl2pPr>
            <a:lvl3pPr>
              <a:buNone/>
              <a:defRPr sz="1000"/>
            </a:lvl3pPr>
            <a:lvl4pPr>
              <a:buNone/>
              <a:defRPr sz="900"/>
            </a:lvl4pPr>
            <a:lvl5pPr>
              <a:buNone/>
              <a:defRPr sz="900"/>
            </a:lvl5pPr>
          </a:lstStyle>
          <a:p>
            <a:pPr lvl="0" eaLnBrk="1" latinLnBrk="0" hangingPunct="1"/>
            <a:r>
              <a:rPr kumimoji="0" lang="en-US" smtClean="0"/>
              <a:t>Click to edit Master text styles</a:t>
            </a:r>
          </a:p>
        </p:txBody>
      </p:sp>
      <p:sp>
        <p:nvSpPr>
          <p:cNvPr id="4" name="Content Placeholder 3"/>
          <p:cNvSpPr>
            <a:spLocks noGrp="1"/>
          </p:cNvSpPr>
          <p:nvPr>
            <p:ph sz="half" idx="1"/>
          </p:nvPr>
        </p:nvSpPr>
        <p:spPr>
          <a:xfrm>
            <a:off x="457200" y="1981200"/>
            <a:ext cx="7086600" cy="3810000"/>
          </a:xfrm>
        </p:spPr>
        <p:txBody>
          <a:bodyPr/>
          <a:lstStyle>
            <a:lvl1pPr>
              <a:defRPr sz="2800"/>
            </a:lvl1pPr>
            <a:lvl2pPr>
              <a:defRPr sz="2400"/>
            </a:lvl2pPr>
            <a:lvl3pPr>
              <a:defRPr sz="2200"/>
            </a:lvl3pPr>
            <a:lvl4pPr>
              <a:defRPr sz="2000"/>
            </a:lvl4pPr>
            <a:lvl5pPr>
              <a:defRPr sz="20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5" name="Date Placeholder 4"/>
          <p:cNvSpPr>
            <a:spLocks noGrp="1"/>
          </p:cNvSpPr>
          <p:nvPr>
            <p:ph type="dt" sz="half" idx="10"/>
          </p:nvPr>
        </p:nvSpPr>
        <p:spPr/>
        <p:txBody>
          <a:bodyPr/>
          <a:lstStyle/>
          <a:p>
            <a:fld id="{71873B9F-1886-41EB-8596-DFD2474565B7}" type="datetime1">
              <a:rPr lang="en-US" smtClean="0"/>
              <a:pPr/>
              <a:t>3/31/2015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a:xfrm>
            <a:off x="8156448" y="6422064"/>
            <a:ext cx="762000" cy="365125"/>
          </a:xfrm>
        </p:spPr>
        <p:txBody>
          <a:bodyPr/>
          <a:lstStyle/>
          <a:p>
            <a:fld id="{90BDF71C-F485-43AE-8825-5070AF1EA8C9}" type="slidenum">
              <a:rPr lang="en-US" smtClean="0"/>
              <a:pPr/>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556732" y="1705709"/>
            <a:ext cx="3053868" cy="1253808"/>
          </a:xfrm>
        </p:spPr>
        <p:txBody>
          <a:bodyPr anchor="b"/>
          <a:lstStyle>
            <a:lvl1pPr algn="l">
              <a:buNone/>
              <a:defRPr sz="2200" b="1">
                <a:solidFill>
                  <a:schemeClr val="accent1"/>
                </a:solidFill>
              </a:defRPr>
            </a:lvl1pPr>
          </a:lstStyle>
          <a:p>
            <a:r>
              <a:rPr kumimoji="0" lang="en-US" smtClean="0"/>
              <a:t>Click to edit Master title style</a:t>
            </a:r>
            <a:endParaRPr kumimoji="0" lang="en-US"/>
          </a:p>
        </p:txBody>
      </p:sp>
      <p:sp>
        <p:nvSpPr>
          <p:cNvPr id="3" name="Picture Placeholder 2"/>
          <p:cNvSpPr>
            <a:spLocks noGrp="1"/>
          </p:cNvSpPr>
          <p:nvPr>
            <p:ph type="pic" idx="1"/>
          </p:nvPr>
        </p:nvSpPr>
        <p:spPr>
          <a:xfrm>
            <a:off x="1065628" y="1019907"/>
            <a:ext cx="4114800" cy="4114800"/>
          </a:xfrm>
          <a:prstGeom prst="ellipse">
            <a:avLst/>
          </a:prstGeom>
          <a:solidFill>
            <a:schemeClr val="bg2">
              <a:shade val="50000"/>
            </a:schemeClr>
          </a:solidFill>
          <a:ln w="50800" cap="flat">
            <a:solidFill>
              <a:schemeClr val="bg2"/>
            </a:solidFill>
            <a:miter lim="800000"/>
          </a:ln>
          <a:effectLst>
            <a:outerShdw blurRad="152000" dist="345000" dir="5400000" sx="-80000" sy="-18000" rotWithShape="0">
              <a:srgbClr val="000000">
                <a:alpha val="25000"/>
              </a:srgbClr>
            </a:outerShdw>
          </a:effectLst>
          <a:scene3d>
            <a:camera prst="orthographicFront"/>
            <a:lightRig rig="contrasting" dir="t">
              <a:rot lat="0" lon="0" rev="2400000"/>
            </a:lightRig>
          </a:scene3d>
          <a:sp3d contourW="7620">
            <a:bevelT w="63500" h="63500"/>
            <a:contourClr>
              <a:schemeClr val="bg2">
                <a:shade val="50000"/>
              </a:schemeClr>
            </a:contourClr>
          </a:sp3d>
        </p:spPr>
        <p:txBody>
          <a:bodyPr/>
          <a:lstStyle>
            <a:lvl1pPr marL="0" indent="0">
              <a:buNone/>
              <a:defRPr sz="3200"/>
            </a:lvl1pPr>
          </a:lstStyle>
          <a:p>
            <a:r>
              <a:rPr kumimoji="0" lang="en-US" dirty="0" smtClean="0"/>
              <a:t>Click icon to add picture</a:t>
            </a:r>
            <a:endParaRPr kumimoji="0" lang="en-US" dirty="0"/>
          </a:p>
        </p:txBody>
      </p:sp>
      <p:sp>
        <p:nvSpPr>
          <p:cNvPr id="4" name="Text Placeholder 3"/>
          <p:cNvSpPr>
            <a:spLocks noGrp="1"/>
          </p:cNvSpPr>
          <p:nvPr>
            <p:ph type="body" sz="half" idx="2"/>
          </p:nvPr>
        </p:nvSpPr>
        <p:spPr>
          <a:xfrm>
            <a:off x="5556734" y="2998765"/>
            <a:ext cx="3053866" cy="2663482"/>
          </a:xfrm>
        </p:spPr>
        <p:txBody>
          <a:bodyPr lIns="45720" rIns="45720"/>
          <a:lstStyle>
            <a:lvl1pPr marL="0" indent="0">
              <a:buFontTx/>
              <a:buNone/>
              <a:defRPr sz="1200"/>
            </a:lvl1pPr>
            <a:lvl2pPr>
              <a:buFontTx/>
              <a:buNone/>
              <a:defRPr sz="1200"/>
            </a:lvl2pPr>
            <a:lvl3pPr>
              <a:buFontTx/>
              <a:buNone/>
              <a:defRPr sz="1000"/>
            </a:lvl3pPr>
            <a:lvl4pPr>
              <a:buFontTx/>
              <a:buNone/>
              <a:defRPr sz="900"/>
            </a:lvl4pPr>
            <a:lvl5pPr>
              <a:buFontTx/>
              <a:buNone/>
              <a:defRPr sz="900"/>
            </a:lvl5pPr>
          </a:lstStyle>
          <a:p>
            <a:pPr lvl="0" eaLnBrk="1" latinLnBrk="0" hangingPunct="1"/>
            <a:r>
              <a:rPr kumimoji="0" lang="en-US" smtClean="0"/>
              <a:t>Click to edit Master text styles</a:t>
            </a:r>
          </a:p>
        </p:txBody>
      </p:sp>
      <p:sp>
        <p:nvSpPr>
          <p:cNvPr id="5" name="Date Placeholder 4"/>
          <p:cNvSpPr>
            <a:spLocks noGrp="1"/>
          </p:cNvSpPr>
          <p:nvPr>
            <p:ph type="dt" sz="half" idx="10"/>
          </p:nvPr>
        </p:nvSpPr>
        <p:spPr>
          <a:xfrm>
            <a:off x="457200" y="6422064"/>
            <a:ext cx="2133600" cy="365125"/>
          </a:xfrm>
        </p:spPr>
        <p:txBody>
          <a:bodyPr/>
          <a:lstStyle/>
          <a:p>
            <a:fld id="{5A6D77F6-049E-4E03-BBEC-9C9525B9448E}" type="datetime1">
              <a:rPr lang="en-US" smtClean="0"/>
              <a:pPr/>
              <a:t>3/31/2015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90BDF71C-F485-43AE-8825-5070AF1EA8C9}" type="slidenum">
              <a:rPr lang="en-US" smtClean="0"/>
              <a:pPr/>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DC8BABC8-BFBF-4030-9C7D-70F812C9AAE4}" type="datetime1">
              <a:rPr lang="en-US" smtClean="0"/>
              <a:pPr/>
              <a:t>3/31/2015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90BDF71C-F485-43AE-8825-5070AF1EA8C9}" type="slidenum">
              <a:rPr lang="en-US" smtClean="0"/>
              <a:pPr/>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88CF46A6-0262-42FF-B093-039AED07B7AD}" type="datetime1">
              <a:rPr lang="en-US" smtClean="0"/>
              <a:pPr/>
              <a:t>3/31/2015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90BDF71C-F485-43AE-8825-5070AF1EA8C9}" type="slidenum">
              <a:rPr lang="en-US" smtClean="0"/>
              <a:pPr/>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2" name="Freeform 11"/>
          <p:cNvSpPr>
            <a:spLocks/>
          </p:cNvSpPr>
          <p:nvPr/>
        </p:nvSpPr>
        <p:spPr bwMode="auto">
          <a:xfrm>
            <a:off x="0" y="4752126"/>
            <a:ext cx="9144000" cy="2112962"/>
          </a:xfrm>
          <a:custGeom>
            <a:avLst>
              <a:gd name="A1" fmla="val 0"/>
              <a:gd name="A2" fmla="val 0"/>
              <a:gd name="A3" fmla="val 0"/>
              <a:gd name="A4" fmla="val 0"/>
              <a:gd name="A5" fmla="val 0"/>
              <a:gd name="A6" fmla="val 0"/>
              <a:gd name="A7" fmla="val 0"/>
              <a:gd name="A8" fmla="val 0"/>
            </a:avLst>
            <a:gdLst/>
            <a:ahLst/>
            <a:cxnLst>
              <a:cxn ang="0">
                <a:pos x="0" y="1066"/>
              </a:cxn>
              <a:cxn ang="0">
                <a:pos x="0" y="1331"/>
              </a:cxn>
              <a:cxn ang="0">
                <a:pos x="5760" y="1331"/>
              </a:cxn>
              <a:cxn ang="0">
                <a:pos x="5760" y="0"/>
              </a:cxn>
              <a:cxn ang="0">
                <a:pos x="0" y="1066"/>
              </a:cxn>
            </a:cxnLst>
            <a:rect l="0" t="0" r="0" b="0"/>
            <a:pathLst>
              <a:path w="5760" h="1331">
                <a:moveTo>
                  <a:pt x="0" y="1066"/>
                </a:moveTo>
                <a:lnTo>
                  <a:pt x="0" y="1331"/>
                </a:lnTo>
                <a:lnTo>
                  <a:pt x="5760" y="1331"/>
                </a:lnTo>
                <a:lnTo>
                  <a:pt x="5760" y="0"/>
                </a:lnTo>
                <a:cubicBezTo>
                  <a:pt x="3220" y="1206"/>
                  <a:pt x="2250" y="1146"/>
                  <a:pt x="0" y="1066"/>
                </a:cubicBezTo>
                <a:close/>
              </a:path>
            </a:pathLst>
          </a:custGeom>
          <a:solidFill>
            <a:schemeClr val="bg1">
              <a:tint val="80000"/>
              <a:satMod val="200000"/>
              <a:alpha val="45000"/>
            </a:schemeClr>
          </a:solidFill>
          <a:ln w="9525" cap="flat" cmpd="sng" algn="ctr">
            <a:noFill/>
            <a:prstDash val="solid"/>
            <a:round/>
            <a:headEnd type="none" w="med" len="med"/>
            <a:tailEnd type="none" w="med" len="med"/>
          </a:ln>
          <a:effectLst>
            <a:outerShdw blurRad="50800" dist="44450" dir="16200000" algn="ctr" rotWithShape="0">
              <a:prstClr val="black">
                <a:alpha val="35000"/>
              </a:prstClr>
            </a:outerShdw>
          </a:effectLst>
        </p:spPr>
        <p:txBody>
          <a:bodyPr vert="horz" wrap="square" lIns="91440" tIns="45720" rIns="91440" bIns="45720" anchor="t" compatLnSpc="1"/>
          <a:lstStyle/>
          <a:p>
            <a:endParaRPr kumimoji="0" lang="en-US" dirty="0">
              <a:latin typeface="Helvetica" pitchFamily="34" charset="0"/>
            </a:endParaRPr>
          </a:p>
        </p:txBody>
      </p:sp>
      <p:sp>
        <p:nvSpPr>
          <p:cNvPr id="16" name="Freeform 15"/>
          <p:cNvSpPr>
            <a:spLocks/>
          </p:cNvSpPr>
          <p:nvPr/>
        </p:nvSpPr>
        <p:spPr bwMode="auto">
          <a:xfrm>
            <a:off x="7315200" y="0"/>
            <a:ext cx="1828800" cy="6858000"/>
          </a:xfrm>
          <a:custGeom>
            <a:avLst/>
            <a:gdLst>
              <a:gd name="connsiteX0" fmla="*/ 1914 w 1914"/>
              <a:gd name="connsiteY0" fmla="*/ 9 h 4329"/>
              <a:gd name="connsiteX1" fmla="*/ 1914 w 1914"/>
              <a:gd name="connsiteY1" fmla="*/ 4329 h 4329"/>
              <a:gd name="connsiteX2" fmla="*/ 204 w 1914"/>
              <a:gd name="connsiteY2" fmla="*/ 4327 h 4329"/>
              <a:gd name="connsiteX3" fmla="*/ 0 w 1914"/>
              <a:gd name="connsiteY3" fmla="*/ 0 h 4329"/>
              <a:gd name="connsiteX4" fmla="*/ 1914 w 1914"/>
              <a:gd name="connsiteY4" fmla="*/ 9 h 432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14" h="4329">
                <a:moveTo>
                  <a:pt x="1914" y="9"/>
                </a:moveTo>
                <a:lnTo>
                  <a:pt x="1914" y="4329"/>
                </a:lnTo>
                <a:lnTo>
                  <a:pt x="204" y="4327"/>
                </a:lnTo>
                <a:cubicBezTo>
                  <a:pt x="1288" y="3574"/>
                  <a:pt x="2082" y="1734"/>
                  <a:pt x="0" y="0"/>
                </a:cubicBezTo>
                <a:lnTo>
                  <a:pt x="1914" y="9"/>
                </a:lnTo>
                <a:close/>
              </a:path>
            </a:pathLst>
          </a:custGeom>
          <a:solidFill>
            <a:schemeClr val="bg1">
              <a:tint val="90000"/>
              <a:satMod val="350000"/>
              <a:alpha val="40000"/>
            </a:schemeClr>
          </a:solidFill>
          <a:ln w="9525" cap="flat" cmpd="sng" algn="ctr">
            <a:noFill/>
            <a:prstDash val="solid"/>
            <a:round/>
            <a:headEnd type="none" w="med" len="med"/>
            <a:tailEnd type="none" w="med" len="med"/>
          </a:ln>
          <a:effectLst>
            <a:outerShdw blurRad="50800" dist="50800" dir="10800000" algn="ctr" rotWithShape="0">
              <a:prstClr val="black">
                <a:alpha val="45000"/>
              </a:prstClr>
            </a:outerShdw>
          </a:effectLst>
        </p:spPr>
        <p:txBody>
          <a:bodyPr vert="horz" wrap="square" lIns="91440" tIns="45720" rIns="91440" bIns="45720" anchor="t" compatLnSpc="1"/>
          <a:lstStyle/>
          <a:p>
            <a:endParaRPr kumimoji="0" lang="en-US" dirty="0">
              <a:latin typeface="Helvetica" pitchFamily="34" charset="0"/>
            </a:endParaRPr>
          </a:p>
        </p:txBody>
      </p:sp>
      <p:sp>
        <p:nvSpPr>
          <p:cNvPr id="9" name="Title Placeholder 8"/>
          <p:cNvSpPr>
            <a:spLocks noGrp="1"/>
          </p:cNvSpPr>
          <p:nvPr>
            <p:ph type="title"/>
          </p:nvPr>
        </p:nvSpPr>
        <p:spPr>
          <a:xfrm>
            <a:off x="457200" y="274638"/>
            <a:ext cx="7467600" cy="1143000"/>
          </a:xfrm>
          <a:prstGeom prst="rect">
            <a:avLst/>
          </a:prstGeom>
        </p:spPr>
        <p:txBody>
          <a:bodyPr vert="horz" lIns="45720" rIns="45720" anchor="ctr">
            <a:normAutofit/>
          </a:bodyPr>
          <a:lstStyle/>
          <a:p>
            <a:r>
              <a:rPr kumimoji="0" lang="en-US" dirty="0" smtClean="0"/>
              <a:t>Click to edit Master title style</a:t>
            </a:r>
            <a:endParaRPr kumimoji="0" lang="en-US" dirty="0"/>
          </a:p>
        </p:txBody>
      </p:sp>
      <p:sp>
        <p:nvSpPr>
          <p:cNvPr id="30" name="Text Placeholder 29"/>
          <p:cNvSpPr>
            <a:spLocks noGrp="1"/>
          </p:cNvSpPr>
          <p:nvPr>
            <p:ph type="body" idx="1"/>
          </p:nvPr>
        </p:nvSpPr>
        <p:spPr>
          <a:xfrm>
            <a:off x="457200" y="1600200"/>
            <a:ext cx="7467600" cy="4525963"/>
          </a:xfrm>
          <a:prstGeom prst="rect">
            <a:avLst/>
          </a:prstGeom>
        </p:spPr>
        <p:txBody>
          <a:bodyPr vert="horz">
            <a:normAutofit/>
          </a:bodyPr>
          <a:lstStyle/>
          <a:p>
            <a:pPr lvl="0" eaLnBrk="1" latinLnBrk="0" hangingPunct="1"/>
            <a:r>
              <a:rPr kumimoji="0" lang="en-US" dirty="0" smtClean="0"/>
              <a:t>Click to edit Master text styles</a:t>
            </a:r>
          </a:p>
          <a:p>
            <a:pPr lvl="1" eaLnBrk="1" latinLnBrk="0" hangingPunct="1"/>
            <a:r>
              <a:rPr kumimoji="0" lang="en-US" dirty="0" smtClean="0"/>
              <a:t>Second level</a:t>
            </a:r>
          </a:p>
          <a:p>
            <a:pPr lvl="2" eaLnBrk="1" latinLnBrk="0" hangingPunct="1"/>
            <a:r>
              <a:rPr kumimoji="0" lang="en-US" dirty="0" smtClean="0"/>
              <a:t>Third level</a:t>
            </a:r>
          </a:p>
          <a:p>
            <a:pPr lvl="3" eaLnBrk="1" latinLnBrk="0" hangingPunct="1"/>
            <a:r>
              <a:rPr kumimoji="0" lang="en-US" dirty="0" smtClean="0"/>
              <a:t>Fourth level</a:t>
            </a:r>
          </a:p>
          <a:p>
            <a:pPr lvl="4" eaLnBrk="1" latinLnBrk="0" hangingPunct="1"/>
            <a:r>
              <a:rPr kumimoji="0" lang="en-US" dirty="0" smtClean="0"/>
              <a:t>Fifth level</a:t>
            </a:r>
            <a:endParaRPr kumimoji="0" lang="en-US" dirty="0"/>
          </a:p>
        </p:txBody>
      </p:sp>
      <p:sp>
        <p:nvSpPr>
          <p:cNvPr id="10" name="Date Placeholder 9"/>
          <p:cNvSpPr>
            <a:spLocks noGrp="1"/>
          </p:cNvSpPr>
          <p:nvPr>
            <p:ph type="dt" sz="half" idx="2"/>
          </p:nvPr>
        </p:nvSpPr>
        <p:spPr>
          <a:xfrm>
            <a:off x="457200" y="6422064"/>
            <a:ext cx="2133600" cy="365125"/>
          </a:xfrm>
          <a:prstGeom prst="rect">
            <a:avLst/>
          </a:prstGeom>
        </p:spPr>
        <p:txBody>
          <a:bodyPr vert="horz" bIns="0" anchor="b"/>
          <a:lstStyle>
            <a:lvl1pPr algn="l" eaLnBrk="1" latinLnBrk="0" hangingPunct="1">
              <a:defRPr kumimoji="0" sz="1000">
                <a:solidFill>
                  <a:schemeClr val="tx2">
                    <a:shade val="50000"/>
                  </a:schemeClr>
                </a:solidFill>
                <a:latin typeface="Helvetica" pitchFamily="34" charset="0"/>
              </a:defRPr>
            </a:lvl1pPr>
          </a:lstStyle>
          <a:p>
            <a:fld id="{60B9F9CF-7D2C-460C-8F3E-F6213A54EF65}" type="datetime1">
              <a:rPr lang="en-US" smtClean="0"/>
              <a:pPr/>
              <a:t>3/31/2015</a:t>
            </a:fld>
            <a:endParaRPr lang="en-US" dirty="0"/>
          </a:p>
        </p:txBody>
      </p:sp>
      <p:sp>
        <p:nvSpPr>
          <p:cNvPr id="22" name="Footer Placeholder 21"/>
          <p:cNvSpPr>
            <a:spLocks noGrp="1"/>
          </p:cNvSpPr>
          <p:nvPr>
            <p:ph type="ftr" sz="quarter" idx="3"/>
          </p:nvPr>
        </p:nvSpPr>
        <p:spPr>
          <a:xfrm>
            <a:off x="3124200" y="6422064"/>
            <a:ext cx="2895600" cy="365125"/>
          </a:xfrm>
          <a:prstGeom prst="rect">
            <a:avLst/>
          </a:prstGeom>
        </p:spPr>
        <p:txBody>
          <a:bodyPr vert="horz" lIns="0" rIns="0" bIns="0" anchor="b"/>
          <a:lstStyle>
            <a:lvl1pPr algn="ctr" eaLnBrk="1" latinLnBrk="0" hangingPunct="1">
              <a:defRPr kumimoji="0" sz="1000">
                <a:solidFill>
                  <a:schemeClr val="tx2">
                    <a:shade val="50000"/>
                  </a:schemeClr>
                </a:solidFill>
                <a:latin typeface="Helvetica" pitchFamily="34" charset="0"/>
              </a:defRPr>
            </a:lvl1pPr>
          </a:lstStyle>
          <a:p>
            <a:endParaRPr lang="en-US" dirty="0"/>
          </a:p>
        </p:txBody>
      </p:sp>
      <p:sp>
        <p:nvSpPr>
          <p:cNvPr id="18" name="Slide Number Placeholder 17"/>
          <p:cNvSpPr>
            <a:spLocks noGrp="1"/>
          </p:cNvSpPr>
          <p:nvPr>
            <p:ph type="sldNum" sz="quarter" idx="4"/>
          </p:nvPr>
        </p:nvSpPr>
        <p:spPr>
          <a:xfrm>
            <a:off x="8153400" y="6422064"/>
            <a:ext cx="762000" cy="365125"/>
          </a:xfrm>
          <a:prstGeom prst="rect">
            <a:avLst/>
          </a:prstGeom>
        </p:spPr>
        <p:txBody>
          <a:bodyPr vert="horz" lIns="0" tIns="0" rIns="0" bIns="0" anchor="b"/>
          <a:lstStyle>
            <a:lvl1pPr algn="r" eaLnBrk="1" latinLnBrk="0" hangingPunct="1">
              <a:defRPr kumimoji="0" sz="1000">
                <a:solidFill>
                  <a:schemeClr val="tx2">
                    <a:shade val="50000"/>
                  </a:schemeClr>
                </a:solidFill>
                <a:latin typeface="Helvetica" pitchFamily="34" charset="0"/>
              </a:defRPr>
            </a:lvl1pPr>
          </a:lstStyle>
          <a:p>
            <a:fld id="{90BDF71C-F485-43AE-8825-5070AF1EA8C9}" type="slidenum">
              <a:rPr lang="en-US" smtClean="0"/>
              <a:pPr/>
              <a:t>‹#›</a:t>
            </a:fld>
            <a:endParaRPr lang="en-US" dirty="0"/>
          </a:p>
        </p:txBody>
      </p:sp>
    </p:spTree>
  </p:cSld>
  <p:clrMap bg1="lt1" tx1="dk1" bg2="lt2" tx2="dk2" accent1="accent1" accent2="accent2" accent3="accent3" accent4="accent4" accent5="accent5" accent6="accent6" hlink="hlink" folHlink="folHlink"/>
  <p:sldLayoutIdLst>
    <p:sldLayoutId id="2147483709" r:id="rId1"/>
    <p:sldLayoutId id="2147483710" r:id="rId2"/>
    <p:sldLayoutId id="2147483711" r:id="rId3"/>
    <p:sldLayoutId id="2147483712" r:id="rId4"/>
    <p:sldLayoutId id="2147483713" r:id="rId5"/>
    <p:sldLayoutId id="2147483714" r:id="rId6"/>
    <p:sldLayoutId id="2147483715" r:id="rId7"/>
    <p:sldLayoutId id="2147483716" r:id="rId8"/>
    <p:sldLayoutId id="2147483717" r:id="rId9"/>
    <p:sldLayoutId id="2147483718" r:id="rId10"/>
    <p:sldLayoutId id="2147483719" r:id="rId11"/>
  </p:sldLayoutIdLst>
  <p:hf hdr="0" ftr="0" dt="0"/>
  <p:txStyles>
    <p:titleStyle>
      <a:lvl1pPr algn="l" rtl="0" eaLnBrk="1" latinLnBrk="0" hangingPunct="1">
        <a:spcBef>
          <a:spcPct val="0"/>
        </a:spcBef>
        <a:buNone/>
        <a:defRPr kumimoji="0" sz="4600" kern="1200">
          <a:solidFill>
            <a:schemeClr val="tx1"/>
          </a:solidFill>
          <a:latin typeface="Helvetica" pitchFamily="34" charset="0"/>
          <a:ea typeface="+mj-ea"/>
          <a:cs typeface="+mj-cs"/>
        </a:defRPr>
      </a:lvl1pPr>
    </p:titleStyle>
    <p:bodyStyle>
      <a:lvl1pPr marL="420624" indent="-384048" algn="l" rtl="0" eaLnBrk="1" latinLnBrk="0" hangingPunct="1">
        <a:spcBef>
          <a:spcPct val="20000"/>
        </a:spcBef>
        <a:buClr>
          <a:schemeClr val="accent1"/>
        </a:buClr>
        <a:buSzPct val="80000"/>
        <a:buFont typeface="Wingdings 2"/>
        <a:buChar char=""/>
        <a:defRPr kumimoji="0" sz="3000" kern="1200">
          <a:solidFill>
            <a:schemeClr val="tx1"/>
          </a:solidFill>
          <a:latin typeface="Helvetica" pitchFamily="34" charset="0"/>
          <a:ea typeface="+mn-ea"/>
          <a:cs typeface="+mn-cs"/>
        </a:defRPr>
      </a:lvl1pPr>
      <a:lvl2pPr marL="722376" indent="-274320" algn="l" rtl="0" eaLnBrk="1" latinLnBrk="0" hangingPunct="1">
        <a:spcBef>
          <a:spcPct val="20000"/>
        </a:spcBef>
        <a:buClr>
          <a:schemeClr val="accent1"/>
        </a:buClr>
        <a:buSzPct val="90000"/>
        <a:buFont typeface="Wingdings 2"/>
        <a:buChar char=""/>
        <a:defRPr kumimoji="0" sz="2600" kern="1200">
          <a:solidFill>
            <a:schemeClr val="tx1"/>
          </a:solidFill>
          <a:latin typeface="Helvetica" pitchFamily="34" charset="0"/>
          <a:ea typeface="+mn-ea"/>
          <a:cs typeface="+mn-cs"/>
        </a:defRPr>
      </a:lvl2pPr>
      <a:lvl3pPr marL="1005840" indent="-256032" algn="l" rtl="0" eaLnBrk="1" latinLnBrk="0" hangingPunct="1">
        <a:spcBef>
          <a:spcPct val="20000"/>
        </a:spcBef>
        <a:buClr>
          <a:schemeClr val="accent2"/>
        </a:buClr>
        <a:buSzPct val="85000"/>
        <a:buFont typeface="Arial"/>
        <a:buChar char="○"/>
        <a:defRPr kumimoji="0" sz="2400" kern="1200">
          <a:solidFill>
            <a:schemeClr val="tx1"/>
          </a:solidFill>
          <a:latin typeface="Helvetica" pitchFamily="34" charset="0"/>
          <a:ea typeface="+mn-ea"/>
          <a:cs typeface="+mn-cs"/>
        </a:defRPr>
      </a:lvl3pPr>
      <a:lvl4pPr marL="1280160" indent="-237744" algn="l" rtl="0" eaLnBrk="1" latinLnBrk="0" hangingPunct="1">
        <a:spcBef>
          <a:spcPct val="20000"/>
        </a:spcBef>
        <a:buClr>
          <a:schemeClr val="accent3"/>
        </a:buClr>
        <a:buSzPct val="90000"/>
        <a:buFont typeface="Wingdings 2"/>
        <a:buChar char=""/>
        <a:defRPr kumimoji="0" sz="2000" kern="1200">
          <a:solidFill>
            <a:schemeClr val="tx1"/>
          </a:solidFill>
          <a:latin typeface="Helvetica" pitchFamily="34" charset="0"/>
          <a:ea typeface="+mn-ea"/>
          <a:cs typeface="+mn-cs"/>
        </a:defRPr>
      </a:lvl4pPr>
      <a:lvl5pPr marL="1490472" indent="-182880" algn="l" rtl="0" eaLnBrk="1" latinLnBrk="0" hangingPunct="1">
        <a:spcBef>
          <a:spcPct val="20000"/>
        </a:spcBef>
        <a:buClr>
          <a:schemeClr val="accent4"/>
        </a:buClr>
        <a:buSzPct val="100000"/>
        <a:buFont typeface="Arial"/>
        <a:buChar char="-"/>
        <a:defRPr kumimoji="0" sz="2000" kern="1200">
          <a:solidFill>
            <a:schemeClr val="tx1"/>
          </a:solidFill>
          <a:latin typeface="Helvetica" pitchFamily="34" charset="0"/>
          <a:ea typeface="+mn-ea"/>
          <a:cs typeface="+mn-cs"/>
        </a:defRPr>
      </a:lvl5pPr>
      <a:lvl6pPr marL="1700784" indent="-182880" algn="l" rtl="0" eaLnBrk="1" latinLnBrk="0" hangingPunct="1">
        <a:spcBef>
          <a:spcPct val="20000"/>
        </a:spcBef>
        <a:buClr>
          <a:schemeClr val="accent5"/>
        </a:buClr>
        <a:buFont typeface="Arial"/>
        <a:buChar char="-"/>
        <a:defRPr kumimoji="0" sz="2000" kern="1200" baseline="0">
          <a:solidFill>
            <a:schemeClr val="tx1"/>
          </a:solidFill>
          <a:latin typeface="+mn-lt"/>
          <a:ea typeface="+mn-ea"/>
          <a:cs typeface="+mn-cs"/>
        </a:defRPr>
      </a:lvl6pPr>
      <a:lvl7pPr marL="1920240" indent="-182880" algn="l" rtl="0" eaLnBrk="1" latinLnBrk="0" hangingPunct="1">
        <a:spcBef>
          <a:spcPct val="20000"/>
        </a:spcBef>
        <a:buClr>
          <a:schemeClr val="accent6"/>
        </a:buClr>
        <a:buSzPct val="100000"/>
        <a:buFont typeface="Arial"/>
        <a:buChar char="•"/>
        <a:defRPr kumimoji="0" sz="1800" kern="1200" baseline="0">
          <a:solidFill>
            <a:schemeClr val="tx1"/>
          </a:solidFill>
          <a:latin typeface="+mn-lt"/>
          <a:ea typeface="+mn-ea"/>
          <a:cs typeface="+mn-cs"/>
        </a:defRPr>
      </a:lvl7pPr>
      <a:lvl8pPr marL="2139696" indent="-182880" algn="l" rtl="0" eaLnBrk="1" latinLnBrk="0" hangingPunct="1">
        <a:spcBef>
          <a:spcPct val="20000"/>
        </a:spcBef>
        <a:buClr>
          <a:schemeClr val="accent6"/>
        </a:buClr>
        <a:buFont typeface="Arial"/>
        <a:buChar char="▪"/>
        <a:defRPr kumimoji="0" sz="1600" kern="1200">
          <a:solidFill>
            <a:schemeClr val="tx1"/>
          </a:solidFill>
          <a:latin typeface="+mn-lt"/>
          <a:ea typeface="+mn-ea"/>
          <a:cs typeface="+mn-cs"/>
        </a:defRPr>
      </a:lvl8pPr>
      <a:lvl9pPr marL="2331720" indent="-182880" algn="l" rtl="0" eaLnBrk="1" latinLnBrk="0" hangingPunct="1">
        <a:spcBef>
          <a:spcPct val="20000"/>
        </a:spcBef>
        <a:buClr>
          <a:schemeClr val="accent6"/>
        </a:buClr>
        <a:buFont typeface="Arial"/>
        <a:buChar char="•"/>
        <a:defRPr kumimoji="0" sz="1600" kern="120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 Id="rId5" Type="http://schemas.openxmlformats.org/officeDocument/2006/relationships/image" Target="../media/image3.jpeg"/><Relationship Id="rId4" Type="http://schemas.openxmlformats.org/officeDocument/2006/relationships/image" Target="../media/image2.jpeg"/></Relationships>
</file>

<file path=ppt/slides/_rels/slide2.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7.wmf"/><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7.wmf"/><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8.jpe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9.jpe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20.jpe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21.jpe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22.jpeg"/><Relationship Id="rId2" Type="http://schemas.openxmlformats.org/officeDocument/2006/relationships/notesSlide" Target="../notesSlides/notesSlide21.xml"/><Relationship Id="rId1" Type="http://schemas.openxmlformats.org/officeDocument/2006/relationships/slideLayout" Target="../slideLayouts/slideLayout2.xml"/><Relationship Id="rId4" Type="http://schemas.openxmlformats.org/officeDocument/2006/relationships/image" Target="../media/image23.jpeg"/></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24.jpeg"/><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25.jpeg"/><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26.jpeg"/><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27.jpeg"/><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28.jpeg"/><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29.jpeg"/><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30.jpeg"/><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31.jpeg"/><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32.jpeg"/><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33.jpeg"/><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34.jpeg"/><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35.jpeg"/><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36.jpeg"/><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37.jpeg"/><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38.jpeg"/><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39.jpeg"/><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40.jpeg"/><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image" Target="../media/image41.jpeg"/><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image" Target="../media/image42.wmf"/><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image" Target="../media/image43.jpeg"/><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image" Target="../media/image44.jpeg"/><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image" Target="../media/image45.jpeg"/><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3" Type="http://schemas.openxmlformats.org/officeDocument/2006/relationships/image" Target="../media/image46.jpeg"/><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3" Type="http://schemas.openxmlformats.org/officeDocument/2006/relationships/image" Target="../media/image47.jpeg"/><Relationship Id="rId2" Type="http://schemas.openxmlformats.org/officeDocument/2006/relationships/notesSlide" Target="../notesSlides/notesSlide47.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3" Type="http://schemas.openxmlformats.org/officeDocument/2006/relationships/image" Target="../media/image48.tiff"/><Relationship Id="rId2" Type="http://schemas.openxmlformats.org/officeDocument/2006/relationships/notesSlide" Target="../notesSlides/notesSlide48.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3" Type="http://schemas.openxmlformats.org/officeDocument/2006/relationships/image" Target="../media/image49.jpeg"/><Relationship Id="rId2" Type="http://schemas.openxmlformats.org/officeDocument/2006/relationships/notesSlide" Target="../notesSlides/notesSlide49.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3" Type="http://schemas.openxmlformats.org/officeDocument/2006/relationships/image" Target="../media/image50.jpeg"/><Relationship Id="rId2" Type="http://schemas.openxmlformats.org/officeDocument/2006/relationships/notesSlide" Target="../notesSlides/notesSlide50.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3" Type="http://schemas.openxmlformats.org/officeDocument/2006/relationships/image" Target="../media/image51.jpeg"/><Relationship Id="rId2" Type="http://schemas.openxmlformats.org/officeDocument/2006/relationships/notesSlide" Target="../notesSlides/notesSlide51.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3" Type="http://schemas.openxmlformats.org/officeDocument/2006/relationships/image" Target="../media/image52.jpeg"/><Relationship Id="rId2" Type="http://schemas.openxmlformats.org/officeDocument/2006/relationships/notesSlide" Target="../notesSlides/notesSlide52.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3" Type="http://schemas.openxmlformats.org/officeDocument/2006/relationships/image" Target="../media/image53.jpeg"/><Relationship Id="rId2" Type="http://schemas.openxmlformats.org/officeDocument/2006/relationships/notesSlide" Target="../notesSlides/notesSlide53.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3" Type="http://schemas.openxmlformats.org/officeDocument/2006/relationships/image" Target="../media/image54.jpeg"/><Relationship Id="rId2" Type="http://schemas.openxmlformats.org/officeDocument/2006/relationships/notesSlide" Target="../notesSlides/notesSlide54.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3" Type="http://schemas.openxmlformats.org/officeDocument/2006/relationships/image" Target="../media/image55.jpeg"/><Relationship Id="rId2" Type="http://schemas.openxmlformats.org/officeDocument/2006/relationships/notesSlide" Target="../notesSlides/notesSlide55.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3" Type="http://schemas.openxmlformats.org/officeDocument/2006/relationships/image" Target="../media/image56.jpeg"/><Relationship Id="rId2" Type="http://schemas.openxmlformats.org/officeDocument/2006/relationships/notesSlide" Target="../notesSlides/notesSlide56.xml"/><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3" Type="http://schemas.openxmlformats.org/officeDocument/2006/relationships/image" Target="../media/image57.jpeg"/><Relationship Id="rId2" Type="http://schemas.openxmlformats.org/officeDocument/2006/relationships/notesSlide" Target="../notesSlides/notesSlide57.xml"/><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3" Type="http://schemas.openxmlformats.org/officeDocument/2006/relationships/image" Target="../media/image58.jpeg"/><Relationship Id="rId2" Type="http://schemas.openxmlformats.org/officeDocument/2006/relationships/notesSlide" Target="../notesSlides/notesSlide58.xml"/><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3" Type="http://schemas.openxmlformats.org/officeDocument/2006/relationships/image" Target="../media/image59.jpeg"/><Relationship Id="rId2" Type="http://schemas.openxmlformats.org/officeDocument/2006/relationships/notesSlide" Target="../notesSlides/notesSlide59.xml"/><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3" Type="http://schemas.openxmlformats.org/officeDocument/2006/relationships/image" Target="../media/image60.jpeg"/><Relationship Id="rId2" Type="http://schemas.openxmlformats.org/officeDocument/2006/relationships/notesSlide" Target="../notesSlides/notesSlide60.xml"/><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3" Type="http://schemas.openxmlformats.org/officeDocument/2006/relationships/image" Target="../media/image61.jpeg"/><Relationship Id="rId2" Type="http://schemas.openxmlformats.org/officeDocument/2006/relationships/notesSlide" Target="../notesSlides/notesSlide61.xml"/><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3" Type="http://schemas.openxmlformats.org/officeDocument/2006/relationships/image" Target="../media/image62.jpeg"/><Relationship Id="rId2" Type="http://schemas.openxmlformats.org/officeDocument/2006/relationships/notesSlide" Target="../notesSlides/notesSlide62.xml"/><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3" Type="http://schemas.openxmlformats.org/officeDocument/2006/relationships/image" Target="../media/image63.jpeg"/><Relationship Id="rId2" Type="http://schemas.openxmlformats.org/officeDocument/2006/relationships/notesSlide" Target="../notesSlides/notesSlide63.xml"/><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3" Type="http://schemas.openxmlformats.org/officeDocument/2006/relationships/image" Target="../media/image64.jpeg"/><Relationship Id="rId2" Type="http://schemas.openxmlformats.org/officeDocument/2006/relationships/notesSlide" Target="../notesSlides/notesSlide64.xml"/><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3" Type="http://schemas.openxmlformats.org/officeDocument/2006/relationships/image" Target="../media/image65.jpeg"/><Relationship Id="rId2" Type="http://schemas.openxmlformats.org/officeDocument/2006/relationships/notesSlide" Target="../notesSlides/notesSlide65.xml"/><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3" Type="http://schemas.openxmlformats.org/officeDocument/2006/relationships/image" Target="../media/image66.jpeg"/><Relationship Id="rId2" Type="http://schemas.openxmlformats.org/officeDocument/2006/relationships/notesSlide" Target="../notesSlides/notesSlide66.xml"/><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3" Type="http://schemas.openxmlformats.org/officeDocument/2006/relationships/image" Target="../media/image67.wmf"/><Relationship Id="rId2" Type="http://schemas.openxmlformats.org/officeDocument/2006/relationships/notesSlide" Target="../notesSlides/notesSlide67.xml"/><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3" Type="http://schemas.openxmlformats.org/officeDocument/2006/relationships/image" Target="../media/image68.jpeg"/><Relationship Id="rId2" Type="http://schemas.openxmlformats.org/officeDocument/2006/relationships/notesSlide" Target="../notesSlides/notesSlide68.xml"/><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3" Type="http://schemas.openxmlformats.org/officeDocument/2006/relationships/image" Target="../media/image69.jpeg"/><Relationship Id="rId2" Type="http://schemas.openxmlformats.org/officeDocument/2006/relationships/notesSlide" Target="../notesSlides/notesSlide69.xml"/><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3" Type="http://schemas.openxmlformats.org/officeDocument/2006/relationships/image" Target="../media/image70.jpeg"/><Relationship Id="rId2" Type="http://schemas.openxmlformats.org/officeDocument/2006/relationships/notesSlide" Target="../notesSlides/notesSlide70.xml"/><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3" Type="http://schemas.openxmlformats.org/officeDocument/2006/relationships/image" Target="../media/image71.jpeg"/><Relationship Id="rId2" Type="http://schemas.openxmlformats.org/officeDocument/2006/relationships/notesSlide" Target="../notesSlides/notesSlide71.xml"/><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3" Type="http://schemas.openxmlformats.org/officeDocument/2006/relationships/image" Target="../media/image72.jpeg"/><Relationship Id="rId2" Type="http://schemas.openxmlformats.org/officeDocument/2006/relationships/notesSlide" Target="../notesSlides/notesSlide72.xml"/><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3" Type="http://schemas.openxmlformats.org/officeDocument/2006/relationships/image" Target="../media/image73.jpeg"/><Relationship Id="rId2" Type="http://schemas.openxmlformats.org/officeDocument/2006/relationships/notesSlide" Target="../notesSlides/notesSlide73.xml"/><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3" Type="http://schemas.openxmlformats.org/officeDocument/2006/relationships/image" Target="../media/image74.jpeg"/><Relationship Id="rId2" Type="http://schemas.openxmlformats.org/officeDocument/2006/relationships/notesSlide" Target="../notesSlides/notesSlide74.xml"/><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3" Type="http://schemas.openxmlformats.org/officeDocument/2006/relationships/image" Target="../media/image75.tiff"/><Relationship Id="rId2" Type="http://schemas.openxmlformats.org/officeDocument/2006/relationships/notesSlide" Target="../notesSlides/notesSlide75.xml"/><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3" Type="http://schemas.openxmlformats.org/officeDocument/2006/relationships/image" Target="../media/image7.wmf"/><Relationship Id="rId2" Type="http://schemas.openxmlformats.org/officeDocument/2006/relationships/notesSlide" Target="../notesSlides/notesSlide76.xml"/><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3" Type="http://schemas.openxmlformats.org/officeDocument/2006/relationships/image" Target="../media/image7.wmf"/><Relationship Id="rId2" Type="http://schemas.openxmlformats.org/officeDocument/2006/relationships/notesSlide" Target="../notesSlides/notesSlide77.xml"/><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3" Type="http://schemas.openxmlformats.org/officeDocument/2006/relationships/image" Target="../media/image76.jpeg"/><Relationship Id="rId2" Type="http://schemas.openxmlformats.org/officeDocument/2006/relationships/notesSlide" Target="../notesSlides/notesSlide78.xml"/><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3" Type="http://schemas.openxmlformats.org/officeDocument/2006/relationships/image" Target="../media/image77.jpeg"/><Relationship Id="rId2" Type="http://schemas.openxmlformats.org/officeDocument/2006/relationships/notesSlide" Target="../notesSlides/notesSlide79.xml"/><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3" Type="http://schemas.openxmlformats.org/officeDocument/2006/relationships/image" Target="../media/image78.jpeg"/><Relationship Id="rId2" Type="http://schemas.openxmlformats.org/officeDocument/2006/relationships/notesSlide" Target="../notesSlides/notesSlide80.xml"/><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3" Type="http://schemas.openxmlformats.org/officeDocument/2006/relationships/image" Target="../media/image79.jpeg"/><Relationship Id="rId2" Type="http://schemas.openxmlformats.org/officeDocument/2006/relationships/notesSlide" Target="../notesSlides/notesSlide81.xml"/><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3" Type="http://schemas.openxmlformats.org/officeDocument/2006/relationships/image" Target="../media/image80.jpeg"/><Relationship Id="rId2" Type="http://schemas.openxmlformats.org/officeDocument/2006/relationships/notesSlide" Target="../notesSlides/notesSlide82.xml"/><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3" Type="http://schemas.openxmlformats.org/officeDocument/2006/relationships/image" Target="../media/image81.jpeg"/><Relationship Id="rId2" Type="http://schemas.openxmlformats.org/officeDocument/2006/relationships/notesSlide" Target="../notesSlides/notesSlide83.xml"/><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3" Type="http://schemas.openxmlformats.org/officeDocument/2006/relationships/image" Target="../media/image82.jpeg"/><Relationship Id="rId2" Type="http://schemas.openxmlformats.org/officeDocument/2006/relationships/notesSlide" Target="../notesSlides/notesSlide84.xml"/><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3" Type="http://schemas.openxmlformats.org/officeDocument/2006/relationships/image" Target="../media/image83.jpeg"/><Relationship Id="rId2" Type="http://schemas.openxmlformats.org/officeDocument/2006/relationships/notesSlide" Target="../notesSlides/notesSlide85.xml"/><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3" Type="http://schemas.openxmlformats.org/officeDocument/2006/relationships/image" Target="../media/image84.jpeg"/><Relationship Id="rId2" Type="http://schemas.openxmlformats.org/officeDocument/2006/relationships/notesSlide" Target="../notesSlides/notesSlide86.xml"/><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3" Type="http://schemas.openxmlformats.org/officeDocument/2006/relationships/image" Target="../media/image85.jpeg"/><Relationship Id="rId2" Type="http://schemas.openxmlformats.org/officeDocument/2006/relationships/notesSlide" Target="../notesSlides/notesSlide87.xml"/><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3" Type="http://schemas.openxmlformats.org/officeDocument/2006/relationships/image" Target="../media/image86.jpeg"/><Relationship Id="rId2" Type="http://schemas.openxmlformats.org/officeDocument/2006/relationships/notesSlide" Target="../notesSlides/notesSlide88.xml"/><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3" Type="http://schemas.openxmlformats.org/officeDocument/2006/relationships/image" Target="../media/image87.jpeg"/><Relationship Id="rId2" Type="http://schemas.openxmlformats.org/officeDocument/2006/relationships/notesSlide" Target="../notesSlides/notesSlide89.xml"/><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3" Type="http://schemas.openxmlformats.org/officeDocument/2006/relationships/image" Target="../media/image88.jpeg"/><Relationship Id="rId2" Type="http://schemas.openxmlformats.org/officeDocument/2006/relationships/notesSlide" Target="../notesSlides/notesSlide90.xml"/><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3" Type="http://schemas.openxmlformats.org/officeDocument/2006/relationships/image" Target="../media/image89.jpeg"/><Relationship Id="rId2" Type="http://schemas.openxmlformats.org/officeDocument/2006/relationships/notesSlide" Target="../notesSlides/notesSlide91.xml"/><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3" Type="http://schemas.openxmlformats.org/officeDocument/2006/relationships/image" Target="../media/image90.jpeg"/><Relationship Id="rId2" Type="http://schemas.openxmlformats.org/officeDocument/2006/relationships/notesSlide" Target="../notesSlides/notesSlide92.xml"/><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3" Type="http://schemas.openxmlformats.org/officeDocument/2006/relationships/image" Target="../media/image91.jpeg"/><Relationship Id="rId2" Type="http://schemas.openxmlformats.org/officeDocument/2006/relationships/notesSlide" Target="../notesSlides/notesSlide93.xml"/><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notesSlide" Target="../notesSlides/notesSlide94.xml"/><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3" Type="http://schemas.openxmlformats.org/officeDocument/2006/relationships/image" Target="../media/image92.tiff"/><Relationship Id="rId2" Type="http://schemas.openxmlformats.org/officeDocument/2006/relationships/notesSlide" Target="../notesSlides/notesSlide95.xml"/><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3" Type="http://schemas.openxmlformats.org/officeDocument/2006/relationships/image" Target="../media/image93.png"/><Relationship Id="rId2" Type="http://schemas.openxmlformats.org/officeDocument/2006/relationships/notesSlide" Target="../notesSlides/notesSlide96.xml"/><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3" Type="http://schemas.openxmlformats.org/officeDocument/2006/relationships/image" Target="../media/image94.jpeg"/><Relationship Id="rId2" Type="http://schemas.openxmlformats.org/officeDocument/2006/relationships/notesSlide" Target="../notesSlides/notesSlide97.xml"/><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3" Type="http://schemas.openxmlformats.org/officeDocument/2006/relationships/image" Target="../media/image93.png"/><Relationship Id="rId2" Type="http://schemas.openxmlformats.org/officeDocument/2006/relationships/notesSlide" Target="../notesSlides/notesSlide98.xml"/><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3" Type="http://schemas.openxmlformats.org/officeDocument/2006/relationships/image" Target="../media/image95.jpeg"/><Relationship Id="rId2" Type="http://schemas.openxmlformats.org/officeDocument/2006/relationships/notesSlide" Target="../notesSlides/notesSlide99.xml"/><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3" Type="http://schemas.openxmlformats.org/officeDocument/2006/relationships/image" Target="../media/image96.jpeg"/><Relationship Id="rId2" Type="http://schemas.openxmlformats.org/officeDocument/2006/relationships/notesSlide" Target="../notesSlides/notesSlide100.xml"/><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3" Type="http://schemas.openxmlformats.org/officeDocument/2006/relationships/image" Target="../media/image97.jpeg"/><Relationship Id="rId2" Type="http://schemas.openxmlformats.org/officeDocument/2006/relationships/notesSlide" Target="../notesSlides/notesSlide101.xml"/><Relationship Id="rId1"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3" Type="http://schemas.openxmlformats.org/officeDocument/2006/relationships/image" Target="../media/image98.wmf"/><Relationship Id="rId2" Type="http://schemas.openxmlformats.org/officeDocument/2006/relationships/notesSlide" Target="../notesSlides/notesSlide102.xml"/><Relationship Id="rId1" Type="http://schemas.openxmlformats.org/officeDocument/2006/relationships/slideLayout" Target="../slideLayouts/slideLayout2.xml"/></Relationships>
</file>

<file path=ppt/slides/_rels/slide103.xml.rels><?xml version="1.0" encoding="UTF-8" standalone="yes"?>
<Relationships xmlns="http://schemas.openxmlformats.org/package/2006/relationships"><Relationship Id="rId2" Type="http://schemas.openxmlformats.org/officeDocument/2006/relationships/notesSlide" Target="../notesSlides/notesSlide103.xml"/><Relationship Id="rId1" Type="http://schemas.openxmlformats.org/officeDocument/2006/relationships/slideLayout" Target="../slideLayouts/slideLayout2.xml"/></Relationships>
</file>

<file path=ppt/slides/_rels/slide104.xml.rels><?xml version="1.0" encoding="UTF-8" standalone="yes"?>
<Relationships xmlns="http://schemas.openxmlformats.org/package/2006/relationships"><Relationship Id="rId3" Type="http://schemas.openxmlformats.org/officeDocument/2006/relationships/image" Target="../media/image99.jpeg"/><Relationship Id="rId2" Type="http://schemas.openxmlformats.org/officeDocument/2006/relationships/notesSlide" Target="../notesSlides/notesSlide104.xml"/><Relationship Id="rId1" Type="http://schemas.openxmlformats.org/officeDocument/2006/relationships/slideLayout" Target="../slideLayouts/slideLayout2.xml"/></Relationships>
</file>

<file path=ppt/slides/_rels/slide105.xml.rels><?xml version="1.0" encoding="UTF-8" standalone="yes"?>
<Relationships xmlns="http://schemas.openxmlformats.org/package/2006/relationships"><Relationship Id="rId3" Type="http://schemas.openxmlformats.org/officeDocument/2006/relationships/image" Target="../media/image100.jpeg"/><Relationship Id="rId2" Type="http://schemas.openxmlformats.org/officeDocument/2006/relationships/notesSlide" Target="../notesSlides/notesSlide105.xml"/><Relationship Id="rId1" Type="http://schemas.openxmlformats.org/officeDocument/2006/relationships/slideLayout" Target="../slideLayouts/slideLayout2.xml"/></Relationships>
</file>

<file path=ppt/slides/_rels/slide106.xml.rels><?xml version="1.0" encoding="UTF-8" standalone="yes"?>
<Relationships xmlns="http://schemas.openxmlformats.org/package/2006/relationships"><Relationship Id="rId3" Type="http://schemas.openxmlformats.org/officeDocument/2006/relationships/image" Target="../media/image101.jpeg"/><Relationship Id="rId2" Type="http://schemas.openxmlformats.org/officeDocument/2006/relationships/notesSlide" Target="../notesSlides/notesSlide106.xml"/><Relationship Id="rId1" Type="http://schemas.openxmlformats.org/officeDocument/2006/relationships/slideLayout" Target="../slideLayouts/slideLayout2.xml"/></Relationships>
</file>

<file path=ppt/slides/_rels/slide107.xml.rels><?xml version="1.0" encoding="UTF-8" standalone="yes"?>
<Relationships xmlns="http://schemas.openxmlformats.org/package/2006/relationships"><Relationship Id="rId3" Type="http://schemas.openxmlformats.org/officeDocument/2006/relationships/image" Target="../media/image102.jpeg"/><Relationship Id="rId2" Type="http://schemas.openxmlformats.org/officeDocument/2006/relationships/notesSlide" Target="../notesSlides/notesSlide107.xml"/><Relationship Id="rId1" Type="http://schemas.openxmlformats.org/officeDocument/2006/relationships/slideLayout" Target="../slideLayouts/slideLayout2.xml"/></Relationships>
</file>

<file path=ppt/slides/_rels/slide108.xml.rels><?xml version="1.0" encoding="UTF-8" standalone="yes"?>
<Relationships xmlns="http://schemas.openxmlformats.org/package/2006/relationships"><Relationship Id="rId3" Type="http://schemas.openxmlformats.org/officeDocument/2006/relationships/image" Target="../media/image7.wmf"/><Relationship Id="rId2" Type="http://schemas.openxmlformats.org/officeDocument/2006/relationships/notesSlide" Target="../notesSlides/notesSlide108.xml"/><Relationship Id="rId1" Type="http://schemas.openxmlformats.org/officeDocument/2006/relationships/slideLayout" Target="../slideLayouts/slideLayout2.xml"/></Relationships>
</file>

<file path=ppt/slides/_rels/slide109.xml.rels><?xml version="1.0" encoding="UTF-8" standalone="yes"?>
<Relationships xmlns="http://schemas.openxmlformats.org/package/2006/relationships"><Relationship Id="rId3" Type="http://schemas.openxmlformats.org/officeDocument/2006/relationships/image" Target="../media/image103.jpeg"/><Relationship Id="rId2" Type="http://schemas.openxmlformats.org/officeDocument/2006/relationships/notesSlide" Target="../notesSlides/notesSlide109.xml"/><Relationship Id="rId1" Type="http://schemas.openxmlformats.org/officeDocument/2006/relationships/slideLayout" Target="../slideLayouts/slideLayout2.xml"/></Relationships>
</file>

<file path=ppt/slides/_rels/slide110.xml.rels><?xml version="1.0" encoding="UTF-8" standalone="yes"?>
<Relationships xmlns="http://schemas.openxmlformats.org/package/2006/relationships"><Relationship Id="rId3" Type="http://schemas.openxmlformats.org/officeDocument/2006/relationships/image" Target="../media/image104.jpeg"/><Relationship Id="rId2" Type="http://schemas.openxmlformats.org/officeDocument/2006/relationships/notesSlide" Target="../notesSlides/notesSlide110.xml"/><Relationship Id="rId1" Type="http://schemas.openxmlformats.org/officeDocument/2006/relationships/slideLayout" Target="../slideLayouts/slideLayout2.xml"/></Relationships>
</file>

<file path=ppt/slides/_rels/slide111.xml.rels><?xml version="1.0" encoding="UTF-8" standalone="yes"?>
<Relationships xmlns="http://schemas.openxmlformats.org/package/2006/relationships"><Relationship Id="rId3" Type="http://schemas.openxmlformats.org/officeDocument/2006/relationships/image" Target="../media/image105.jpeg"/><Relationship Id="rId2" Type="http://schemas.openxmlformats.org/officeDocument/2006/relationships/notesSlide" Target="../notesSlides/notesSlide111.xml"/><Relationship Id="rId1" Type="http://schemas.openxmlformats.org/officeDocument/2006/relationships/slideLayout" Target="../slideLayouts/slideLayout2.xml"/></Relationships>
</file>

<file path=ppt/slides/_rels/slide112.xml.rels><?xml version="1.0" encoding="UTF-8" standalone="yes"?>
<Relationships xmlns="http://schemas.openxmlformats.org/package/2006/relationships"><Relationship Id="rId3" Type="http://schemas.openxmlformats.org/officeDocument/2006/relationships/image" Target="../media/image106.jpeg"/><Relationship Id="rId2" Type="http://schemas.openxmlformats.org/officeDocument/2006/relationships/notesSlide" Target="../notesSlides/notesSlide112.xml"/><Relationship Id="rId1" Type="http://schemas.openxmlformats.org/officeDocument/2006/relationships/slideLayout" Target="../slideLayouts/slideLayout2.xml"/></Relationships>
</file>

<file path=ppt/slides/_rels/slide113.xml.rels><?xml version="1.0" encoding="UTF-8" standalone="yes"?>
<Relationships xmlns="http://schemas.openxmlformats.org/package/2006/relationships"><Relationship Id="rId3" Type="http://schemas.openxmlformats.org/officeDocument/2006/relationships/image" Target="../media/image107.jpeg"/><Relationship Id="rId2" Type="http://schemas.openxmlformats.org/officeDocument/2006/relationships/notesSlide" Target="../notesSlides/notesSlide113.xml"/><Relationship Id="rId1" Type="http://schemas.openxmlformats.org/officeDocument/2006/relationships/slideLayout" Target="../slideLayouts/slideLayout2.xml"/></Relationships>
</file>

<file path=ppt/slides/_rels/slide114.xml.rels><?xml version="1.0" encoding="UTF-8" standalone="yes"?>
<Relationships xmlns="http://schemas.openxmlformats.org/package/2006/relationships"><Relationship Id="rId3" Type="http://schemas.openxmlformats.org/officeDocument/2006/relationships/image" Target="../media/image108.jpeg"/><Relationship Id="rId2" Type="http://schemas.openxmlformats.org/officeDocument/2006/relationships/notesSlide" Target="../notesSlides/notesSlide114.xml"/><Relationship Id="rId1" Type="http://schemas.openxmlformats.org/officeDocument/2006/relationships/slideLayout" Target="../slideLayouts/slideLayout2.xml"/></Relationships>
</file>

<file path=ppt/slides/_rels/slide115.xml.rels><?xml version="1.0" encoding="UTF-8" standalone="yes"?>
<Relationships xmlns="http://schemas.openxmlformats.org/package/2006/relationships"><Relationship Id="rId3" Type="http://schemas.openxmlformats.org/officeDocument/2006/relationships/image" Target="../media/image109.jpeg"/><Relationship Id="rId2" Type="http://schemas.openxmlformats.org/officeDocument/2006/relationships/notesSlide" Target="../notesSlides/notesSlide115.xml"/><Relationship Id="rId1" Type="http://schemas.openxmlformats.org/officeDocument/2006/relationships/slideLayout" Target="../slideLayouts/slideLayout2.xml"/></Relationships>
</file>

<file path=ppt/slides/_rels/slide116.xml.rels><?xml version="1.0" encoding="UTF-8" standalone="yes"?>
<Relationships xmlns="http://schemas.openxmlformats.org/package/2006/relationships"><Relationship Id="rId3" Type="http://schemas.openxmlformats.org/officeDocument/2006/relationships/image" Target="../media/image110.jpeg"/><Relationship Id="rId2" Type="http://schemas.openxmlformats.org/officeDocument/2006/relationships/notesSlide" Target="../notesSlides/notesSlide116.xml"/><Relationship Id="rId1" Type="http://schemas.openxmlformats.org/officeDocument/2006/relationships/slideLayout" Target="../slideLayouts/slideLayout2.xml"/></Relationships>
</file>

<file path=ppt/slides/_rels/slide117.xml.rels><?xml version="1.0" encoding="UTF-8" standalone="yes"?>
<Relationships xmlns="http://schemas.openxmlformats.org/package/2006/relationships"><Relationship Id="rId3" Type="http://schemas.openxmlformats.org/officeDocument/2006/relationships/image" Target="../media/image111.jpeg"/><Relationship Id="rId2" Type="http://schemas.openxmlformats.org/officeDocument/2006/relationships/notesSlide" Target="../notesSlides/notesSlide117.xml"/><Relationship Id="rId1" Type="http://schemas.openxmlformats.org/officeDocument/2006/relationships/slideLayout" Target="../slideLayouts/slideLayout2.xml"/></Relationships>
</file>

<file path=ppt/slides/_rels/slide118.xml.rels><?xml version="1.0" encoding="UTF-8" standalone="yes"?>
<Relationships xmlns="http://schemas.openxmlformats.org/package/2006/relationships"><Relationship Id="rId3" Type="http://schemas.openxmlformats.org/officeDocument/2006/relationships/image" Target="../media/image112.jpeg"/><Relationship Id="rId2" Type="http://schemas.openxmlformats.org/officeDocument/2006/relationships/notesSlide" Target="../notesSlides/notesSlide118.xml"/><Relationship Id="rId1" Type="http://schemas.openxmlformats.org/officeDocument/2006/relationships/slideLayout" Target="../slideLayouts/slideLayout2.xml"/></Relationships>
</file>

<file path=ppt/slides/_rels/slide119.xml.rels><?xml version="1.0" encoding="UTF-8" standalone="yes"?>
<Relationships xmlns="http://schemas.openxmlformats.org/package/2006/relationships"><Relationship Id="rId3" Type="http://schemas.openxmlformats.org/officeDocument/2006/relationships/image" Target="../media/image113.jpeg"/><Relationship Id="rId2" Type="http://schemas.openxmlformats.org/officeDocument/2006/relationships/notesSlide" Target="../notesSlides/notesSlide119.xml"/><Relationship Id="rId1" Type="http://schemas.openxmlformats.org/officeDocument/2006/relationships/slideLayout" Target="../slideLayouts/slideLayout2.xml"/></Relationships>
</file>

<file path=ppt/slides/_rels/slide120.xml.rels><?xml version="1.0" encoding="UTF-8" standalone="yes"?>
<Relationships xmlns="http://schemas.openxmlformats.org/package/2006/relationships"><Relationship Id="rId3" Type="http://schemas.openxmlformats.org/officeDocument/2006/relationships/image" Target="../media/image114.jpeg"/><Relationship Id="rId2" Type="http://schemas.openxmlformats.org/officeDocument/2006/relationships/notesSlide" Target="../notesSlides/notesSlide120.xml"/><Relationship Id="rId1" Type="http://schemas.openxmlformats.org/officeDocument/2006/relationships/slideLayout" Target="../slideLayouts/slideLayout2.xml"/></Relationships>
</file>

<file path=ppt/slides/_rels/slide121.xml.rels><?xml version="1.0" encoding="UTF-8" standalone="yes"?>
<Relationships xmlns="http://schemas.openxmlformats.org/package/2006/relationships"><Relationship Id="rId3" Type="http://schemas.openxmlformats.org/officeDocument/2006/relationships/image" Target="../media/image115.jpeg"/><Relationship Id="rId2" Type="http://schemas.openxmlformats.org/officeDocument/2006/relationships/notesSlide" Target="../notesSlides/notesSlide121.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755576" y="404664"/>
            <a:ext cx="7632176" cy="1152128"/>
          </a:xfrm>
        </p:spPr>
        <p:txBody>
          <a:bodyPr>
            <a:normAutofit fontScale="90000"/>
          </a:bodyPr>
          <a:lstStyle/>
          <a:p>
            <a:r>
              <a:rPr lang="en-AU" sz="4000" dirty="0" smtClean="0">
                <a:ln w="5000" cmpd="sng">
                  <a:noFill/>
                  <a:prstDash val="solid"/>
                </a:ln>
                <a:solidFill>
                  <a:srgbClr val="FF6600"/>
                </a:solidFill>
                <a:latin typeface="Helvetica" pitchFamily="34" charset="0"/>
              </a:rPr>
              <a:t>PLAN AND IMPLEMENT A SERIES OF TRAINING EVENTS</a:t>
            </a:r>
            <a:endParaRPr lang="en-AU" sz="4000" dirty="0">
              <a:ln w="5000" cmpd="sng">
                <a:noFill/>
                <a:prstDash val="solid"/>
              </a:ln>
              <a:solidFill>
                <a:srgbClr val="FF6600"/>
              </a:solidFill>
              <a:latin typeface="Helvetica" pitchFamily="34" charset="0"/>
            </a:endParaRPr>
          </a:p>
        </p:txBody>
      </p:sp>
      <p:sp>
        <p:nvSpPr>
          <p:cNvPr id="3" name="Subtitle 2"/>
          <p:cNvSpPr>
            <a:spLocks noGrp="1"/>
          </p:cNvSpPr>
          <p:nvPr>
            <p:ph type="subTitle" idx="1"/>
          </p:nvPr>
        </p:nvSpPr>
        <p:spPr>
          <a:xfrm>
            <a:off x="5868144" y="1772816"/>
            <a:ext cx="2541268" cy="577774"/>
          </a:xfrm>
        </p:spPr>
        <p:txBody>
          <a:bodyPr>
            <a:noAutofit/>
          </a:bodyPr>
          <a:lstStyle/>
          <a:p>
            <a:r>
              <a:rPr lang="en-AU" b="1" dirty="0" smtClean="0">
                <a:latin typeface="Helvetica" pitchFamily="34" charset="0"/>
              </a:rPr>
              <a:t>D1.HRD.CL9.05</a:t>
            </a:r>
            <a:br>
              <a:rPr lang="en-AU" b="1" dirty="0" smtClean="0">
                <a:latin typeface="Helvetica" pitchFamily="34" charset="0"/>
              </a:rPr>
            </a:br>
            <a:r>
              <a:rPr lang="en-AU" b="1" dirty="0" smtClean="0">
                <a:latin typeface="Helvetica" pitchFamily="34" charset="0"/>
              </a:rPr>
              <a:t>D1.HHR.CL8.05</a:t>
            </a:r>
            <a:endParaRPr lang="en-AU" b="1" dirty="0">
              <a:latin typeface="Helvetica" pitchFamily="34" charset="0"/>
            </a:endParaRPr>
          </a:p>
        </p:txBody>
      </p:sp>
      <p:sp>
        <p:nvSpPr>
          <p:cNvPr id="4" name="Slide Number Placeholder 3"/>
          <p:cNvSpPr>
            <a:spLocks noGrp="1"/>
          </p:cNvSpPr>
          <p:nvPr>
            <p:ph type="sldNum" sz="quarter" idx="12"/>
          </p:nvPr>
        </p:nvSpPr>
        <p:spPr/>
        <p:txBody>
          <a:bodyPr/>
          <a:lstStyle/>
          <a:p>
            <a:r>
              <a:rPr lang="en-AU" dirty="0" smtClean="0"/>
              <a:t> </a:t>
            </a:r>
            <a:r>
              <a:rPr lang="en-AU" dirty="0" smtClean="0">
                <a:latin typeface="Helvetica" pitchFamily="34" charset="0"/>
              </a:rPr>
              <a:t>Slide </a:t>
            </a:r>
            <a:fld id="{90BDF71C-F485-43AE-8825-5070AF1EA8C9}" type="slidenum">
              <a:rPr lang="en-AU" smtClean="0">
                <a:latin typeface="Helvetica" pitchFamily="34" charset="0"/>
              </a:rPr>
              <a:pPr/>
              <a:t>1</a:t>
            </a:fld>
            <a:endParaRPr lang="en-AU" dirty="0">
              <a:latin typeface="Helvetica" pitchFamily="34" charset="0"/>
            </a:endParaRPr>
          </a:p>
        </p:txBody>
      </p:sp>
      <p:pic>
        <p:nvPicPr>
          <p:cNvPr id="5" name="Picture 2" descr="C:\Documents and Settings\danielc\Desktop\Plan and implement a series of training events\freeimage-6035175.jpg"/>
          <p:cNvPicPr>
            <a:picLocks noChangeAspect="1" noChangeArrowheads="1"/>
          </p:cNvPicPr>
          <p:nvPr/>
        </p:nvPicPr>
        <p:blipFill>
          <a:blip r:embed="rId3" cstate="print"/>
          <a:srcRect/>
          <a:stretch>
            <a:fillRect/>
          </a:stretch>
        </p:blipFill>
        <p:spPr bwMode="auto">
          <a:xfrm>
            <a:off x="5652120" y="2852936"/>
            <a:ext cx="2286016" cy="1706658"/>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pic>
        <p:nvPicPr>
          <p:cNvPr id="6" name="Picture 5" descr="C:\Documents and Settings\danielc\Desktop\Plan and implement a series of training events\1237611_teamwork_2.jpg"/>
          <p:cNvPicPr/>
          <p:nvPr/>
        </p:nvPicPr>
        <p:blipFill>
          <a:blip r:embed="rId4" cstate="print"/>
          <a:srcRect/>
          <a:stretch>
            <a:fillRect/>
          </a:stretch>
        </p:blipFill>
        <p:spPr bwMode="auto">
          <a:xfrm>
            <a:off x="611560" y="2780928"/>
            <a:ext cx="2480921" cy="1785950"/>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pic>
        <p:nvPicPr>
          <p:cNvPr id="9" name="Picture 8" descr="MP900439374[1].JPG"/>
          <p:cNvPicPr/>
          <p:nvPr/>
        </p:nvPicPr>
        <p:blipFill>
          <a:blip r:embed="rId5" cstate="print"/>
          <a:stretch>
            <a:fillRect/>
          </a:stretch>
        </p:blipFill>
        <p:spPr>
          <a:xfrm>
            <a:off x="3059832" y="3356992"/>
            <a:ext cx="2501126" cy="1661531"/>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Subject Elements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5301208"/>
          </a:xfrm>
        </p:spPr>
        <p:txBody>
          <a:bodyPr>
            <a:normAutofit/>
          </a:bodyPr>
          <a:lstStyle/>
          <a:p>
            <a:pPr marL="0" indent="0">
              <a:spcBef>
                <a:spcPts val="600"/>
              </a:spcBef>
              <a:spcAft>
                <a:spcPts val="1200"/>
              </a:spcAft>
              <a:buNone/>
            </a:pPr>
            <a:r>
              <a:rPr lang="en-US" sz="2200" dirty="0" smtClean="0">
                <a:latin typeface="Helvetica" pitchFamily="34" charset="0"/>
              </a:rPr>
              <a:t>This unit comprises three Elements:</a:t>
            </a:r>
          </a:p>
          <a:p>
            <a:pPr>
              <a:spcBef>
                <a:spcPts val="600"/>
              </a:spcBef>
              <a:spcAft>
                <a:spcPts val="1200"/>
              </a:spcAft>
            </a:pPr>
            <a:r>
              <a:rPr lang="en-AU" sz="2200" dirty="0" smtClean="0">
                <a:latin typeface="Helvetica" pitchFamily="34" charset="0"/>
              </a:rPr>
              <a:t>Plan a series of training events</a:t>
            </a:r>
          </a:p>
          <a:p>
            <a:pPr>
              <a:spcBef>
                <a:spcPts val="600"/>
              </a:spcBef>
              <a:spcAft>
                <a:spcPts val="1200"/>
              </a:spcAft>
            </a:pPr>
            <a:r>
              <a:rPr lang="en-AU" sz="2200" dirty="0" smtClean="0">
                <a:latin typeface="Helvetica" pitchFamily="34" charset="0"/>
              </a:rPr>
              <a:t>Implement a series of training events</a:t>
            </a:r>
          </a:p>
          <a:p>
            <a:pPr>
              <a:spcBef>
                <a:spcPts val="600"/>
              </a:spcBef>
              <a:spcAft>
                <a:spcPts val="1200"/>
              </a:spcAft>
            </a:pPr>
            <a:r>
              <a:rPr lang="en-AU" sz="2200" dirty="0" smtClean="0">
                <a:latin typeface="Helvetica" pitchFamily="34" charset="0"/>
              </a:rPr>
              <a:t>Review planning and implementation of a series of training events</a:t>
            </a: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2</a:t>
            </a:fld>
            <a:endParaRPr lang="en-US" dirty="0"/>
          </a:p>
        </p:txBody>
      </p:sp>
      <p:pic>
        <p:nvPicPr>
          <p:cNvPr id="5" name="Picture 4" descr="MP900399552[1].JPG"/>
          <p:cNvPicPr>
            <a:picLocks noChangeAspect="1"/>
          </p:cNvPicPr>
          <p:nvPr/>
        </p:nvPicPr>
        <p:blipFill>
          <a:blip r:embed="rId3" cstate="print"/>
          <a:stretch>
            <a:fillRect/>
          </a:stretch>
        </p:blipFill>
        <p:spPr>
          <a:xfrm>
            <a:off x="6286512" y="1214422"/>
            <a:ext cx="1469494" cy="1837316"/>
          </a:xfrm>
          <a:prstGeom prst="rect">
            <a:avLst/>
          </a:prstGeom>
        </p:spPr>
      </p:pic>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Assessment</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0" indent="0">
              <a:spcBef>
                <a:spcPts val="600"/>
              </a:spcBef>
              <a:spcAft>
                <a:spcPts val="1200"/>
              </a:spcAft>
              <a:buNone/>
            </a:pPr>
            <a:r>
              <a:rPr lang="en-US" sz="2200" dirty="0" smtClean="0">
                <a:latin typeface="Helvetica" pitchFamily="34" charset="0"/>
              </a:rPr>
              <a:t>Assessment for this unit may include:</a:t>
            </a:r>
          </a:p>
          <a:p>
            <a:pPr marL="360000" indent="-360000">
              <a:spcBef>
                <a:spcPts val="600"/>
              </a:spcBef>
              <a:spcAft>
                <a:spcPts val="1200"/>
              </a:spcAft>
            </a:pPr>
            <a:r>
              <a:rPr lang="en-US" sz="2200" dirty="0" smtClean="0">
                <a:latin typeface="Helvetica" pitchFamily="34" charset="0"/>
              </a:rPr>
              <a:t>Oral questions</a:t>
            </a:r>
          </a:p>
          <a:p>
            <a:pPr marL="360000" indent="-360000">
              <a:spcBef>
                <a:spcPts val="600"/>
              </a:spcBef>
              <a:spcAft>
                <a:spcPts val="1200"/>
              </a:spcAft>
            </a:pPr>
            <a:r>
              <a:rPr lang="en-US" sz="2200" dirty="0" smtClean="0">
                <a:latin typeface="Helvetica" pitchFamily="34" charset="0"/>
              </a:rPr>
              <a:t>Written questions</a:t>
            </a:r>
          </a:p>
          <a:p>
            <a:pPr marL="360000" indent="-360000">
              <a:spcBef>
                <a:spcPts val="600"/>
              </a:spcBef>
              <a:spcAft>
                <a:spcPts val="1200"/>
              </a:spcAft>
            </a:pPr>
            <a:r>
              <a:rPr lang="en-US" sz="2200" dirty="0" smtClean="0">
                <a:latin typeface="Helvetica" pitchFamily="34" charset="0"/>
              </a:rPr>
              <a:t>Work projects</a:t>
            </a:r>
          </a:p>
          <a:p>
            <a:pPr marL="360000" indent="-360000">
              <a:spcBef>
                <a:spcPts val="600"/>
              </a:spcBef>
              <a:spcAft>
                <a:spcPts val="1200"/>
              </a:spcAft>
            </a:pPr>
            <a:r>
              <a:rPr lang="en-US" sz="2200" dirty="0" smtClean="0">
                <a:latin typeface="Helvetica" pitchFamily="34" charset="0"/>
              </a:rPr>
              <a:t>Workplace observation of practical skills</a:t>
            </a:r>
          </a:p>
          <a:p>
            <a:pPr marL="360000" indent="-360000">
              <a:spcBef>
                <a:spcPts val="600"/>
              </a:spcBef>
              <a:spcAft>
                <a:spcPts val="1200"/>
              </a:spcAft>
            </a:pPr>
            <a:r>
              <a:rPr lang="en-US" sz="2200" dirty="0" smtClean="0">
                <a:latin typeface="Helvetica" pitchFamily="34" charset="0"/>
              </a:rPr>
              <a:t>Practical exercises</a:t>
            </a:r>
          </a:p>
          <a:p>
            <a:pPr marL="360000" indent="-360000">
              <a:spcBef>
                <a:spcPts val="600"/>
              </a:spcBef>
              <a:spcAft>
                <a:spcPts val="1200"/>
              </a:spcAft>
            </a:pPr>
            <a:r>
              <a:rPr lang="en-US" sz="2200" dirty="0" smtClean="0">
                <a:latin typeface="Helvetica" pitchFamily="34" charset="0"/>
              </a:rPr>
              <a:t>Formal report from supervisor</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3</a:t>
            </a:fld>
            <a:endParaRPr lang="en-US" dirty="0"/>
          </a:p>
        </p:txBody>
      </p:sp>
      <p:pic>
        <p:nvPicPr>
          <p:cNvPr id="7" name="Picture 2" descr="C:\Documents and Settings\PhongLan\Local Settings\Temporary Internet Files\Content.IE5\D4C0BBXF\MP900431095[1].jpg"/>
          <p:cNvPicPr>
            <a:picLocks noChangeAspect="1" noChangeArrowheads="1"/>
          </p:cNvPicPr>
          <p:nvPr/>
        </p:nvPicPr>
        <p:blipFill>
          <a:blip r:embed="rId3" cstate="print"/>
          <a:srcRect/>
          <a:stretch>
            <a:fillRect/>
          </a:stretch>
        </p:blipFill>
        <p:spPr bwMode="auto">
          <a:xfrm>
            <a:off x="6429388" y="1857364"/>
            <a:ext cx="1615308" cy="2428892"/>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11560" y="1556792"/>
            <a:ext cx="7632848" cy="4680520"/>
          </a:xfrm>
        </p:spPr>
        <p:txBody>
          <a:bodyPr>
            <a:normAutofit/>
          </a:bodyPr>
          <a:lstStyle/>
          <a:p>
            <a:pPr marL="0">
              <a:buNone/>
            </a:pPr>
            <a:r>
              <a:rPr lang="en-AU" sz="4000" b="1" dirty="0" smtClean="0">
                <a:solidFill>
                  <a:srgbClr val="FF6600"/>
                </a:solidFill>
              </a:rPr>
              <a:t>Element 1:</a:t>
            </a:r>
          </a:p>
          <a:p>
            <a:pPr marL="0">
              <a:spcBef>
                <a:spcPts val="600"/>
              </a:spcBef>
              <a:spcAft>
                <a:spcPts val="1200"/>
              </a:spcAft>
              <a:buNone/>
            </a:pPr>
            <a:r>
              <a:rPr lang="en-AU" sz="4000" dirty="0" smtClean="0">
                <a:solidFill>
                  <a:srgbClr val="FF6600"/>
                </a:solidFill>
                <a:latin typeface="Helvetica" pitchFamily="34" charset="0"/>
              </a:rPr>
              <a:t>Plan a series of training events </a:t>
            </a:r>
          </a:p>
          <a:p>
            <a:pPr>
              <a:buNone/>
            </a:pPr>
            <a:endParaRPr lang="en-AU" sz="4000" dirty="0" smtClean="0">
              <a:solidFill>
                <a:srgbClr val="FF6600"/>
              </a:solidFill>
            </a:endParaRPr>
          </a:p>
          <a:p>
            <a:pPr>
              <a:spcBef>
                <a:spcPts val="600"/>
              </a:spcBef>
              <a:spcAft>
                <a:spcPts val="1200"/>
              </a:spcAft>
            </a:pPr>
            <a:endParaRPr lang="en-AU" sz="2200" dirty="0" smtClean="0">
              <a:latin typeface="Helvetica" pitchFamily="34" charset="0"/>
            </a:endParaRPr>
          </a:p>
          <a:p>
            <a:pPr>
              <a:spcBef>
                <a:spcPts val="600"/>
              </a:spcBef>
              <a:spcAft>
                <a:spcPts val="1200"/>
              </a:spcAft>
              <a:buNone/>
            </a:pPr>
            <a:endParaRPr lang="en-AU" sz="2200" dirty="0" smtClean="0">
              <a:latin typeface="Helvetica" pitchFamily="34" charset="0"/>
            </a:endParaRPr>
          </a:p>
          <a:p>
            <a:pPr lvl="0">
              <a:spcBef>
                <a:spcPts val="600"/>
              </a:spcBef>
              <a:spcAft>
                <a:spcPts val="600"/>
              </a:spcAft>
            </a:pPr>
            <a:endParaRPr lang="en-AU" sz="2200" dirty="0" smtClean="0">
              <a:latin typeface="Helvetica" pitchFamily="34" charset="0"/>
            </a:endParaRPr>
          </a:p>
          <a:p>
            <a:pPr>
              <a:buNone/>
            </a:pPr>
            <a:endParaRPr lang="en-AU" sz="2400" dirty="0" smtClean="0"/>
          </a:p>
          <a:p>
            <a:pPr lvl="0">
              <a:spcBef>
                <a:spcPts val="600"/>
              </a:spcBef>
              <a:spcAft>
                <a:spcPts val="1200"/>
              </a:spcAft>
            </a:pPr>
            <a:endParaRPr lang="en-AU" sz="2200" dirty="0" smtClean="0">
              <a:latin typeface="Helvetica" pitchFamily="34" charset="0"/>
            </a:endParaRPr>
          </a:p>
          <a:p>
            <a:pPr marL="0">
              <a:spcBef>
                <a:spcPts val="600"/>
              </a:spcBef>
              <a:spcAft>
                <a:spcPts val="1200"/>
              </a:spcAft>
              <a:buNone/>
            </a:pPr>
            <a:endParaRPr lang="en-AU"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4</a:t>
            </a:fld>
            <a:endParaRPr lang="en-US" dirty="0"/>
          </a:p>
        </p:txBody>
      </p:sp>
      <p:pic>
        <p:nvPicPr>
          <p:cNvPr id="5" name="Picture 4" descr="MP900386406.JPG"/>
          <p:cNvPicPr>
            <a:picLocks noChangeAspect="1"/>
          </p:cNvPicPr>
          <p:nvPr/>
        </p:nvPicPr>
        <p:blipFill>
          <a:blip r:embed="rId3" cstate="print"/>
          <a:stretch>
            <a:fillRect/>
          </a:stretch>
        </p:blipFill>
        <p:spPr>
          <a:xfrm>
            <a:off x="3143240" y="3286124"/>
            <a:ext cx="2470044" cy="2474168"/>
          </a:xfrm>
          <a:prstGeom prst="rect">
            <a:avLst/>
          </a:prstGeom>
        </p:spPr>
      </p:pic>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999040" cy="1143000"/>
          </a:xfrm>
        </p:spPr>
        <p:txBody>
          <a:bodyPr>
            <a:normAutofit/>
          </a:bodyPr>
          <a:lstStyle/>
          <a:p>
            <a:pPr marL="0">
              <a:spcBef>
                <a:spcPts val="600"/>
              </a:spcBef>
              <a:spcAft>
                <a:spcPts val="1200"/>
              </a:spcAft>
            </a:pPr>
            <a:r>
              <a:rPr lang="en-AU" sz="3400" b="1" dirty="0" smtClean="0">
                <a:solidFill>
                  <a:srgbClr val="FF6600"/>
                </a:solidFill>
                <a:latin typeface="Helvetica" pitchFamily="34" charset="0"/>
              </a:rPr>
              <a:t>Plan a series of training events</a:t>
            </a:r>
          </a:p>
        </p:txBody>
      </p:sp>
      <p:sp>
        <p:nvSpPr>
          <p:cNvPr id="3" name="Content Placeholder 2"/>
          <p:cNvSpPr>
            <a:spLocks noGrp="1"/>
          </p:cNvSpPr>
          <p:nvPr>
            <p:ph idx="1"/>
          </p:nvPr>
        </p:nvSpPr>
        <p:spPr>
          <a:xfrm>
            <a:off x="611560" y="1556792"/>
            <a:ext cx="7467600" cy="4525963"/>
          </a:xfrm>
        </p:spPr>
        <p:txBody>
          <a:bodyPr>
            <a:normAutofit/>
          </a:bodyPr>
          <a:lstStyle/>
          <a:p>
            <a:pPr marL="0" indent="0">
              <a:spcBef>
                <a:spcPts val="600"/>
              </a:spcBef>
              <a:spcAft>
                <a:spcPts val="1200"/>
              </a:spcAft>
              <a:buNone/>
            </a:pPr>
            <a:r>
              <a:rPr lang="en-US" sz="2200" dirty="0" smtClean="0">
                <a:latin typeface="Helvetica" pitchFamily="34" charset="0"/>
              </a:rPr>
              <a:t>Performance Criteria for this Element are: </a:t>
            </a:r>
          </a:p>
          <a:p>
            <a:pPr>
              <a:spcBef>
                <a:spcPts val="600"/>
              </a:spcBef>
              <a:spcAft>
                <a:spcPts val="1200"/>
              </a:spcAft>
            </a:pPr>
            <a:r>
              <a:rPr lang="en-AU" sz="2200" dirty="0" smtClean="0">
                <a:latin typeface="Helvetica" pitchFamily="34" charset="0"/>
              </a:rPr>
              <a:t>Verify identified training need</a:t>
            </a:r>
          </a:p>
          <a:p>
            <a:pPr>
              <a:spcBef>
                <a:spcPts val="600"/>
              </a:spcBef>
              <a:spcAft>
                <a:spcPts val="1200"/>
              </a:spcAft>
            </a:pPr>
            <a:r>
              <a:rPr lang="en-AU" sz="2200" dirty="0" smtClean="0">
                <a:latin typeface="Helvetica" pitchFamily="34" charset="0"/>
              </a:rPr>
              <a:t>Prioritise identified training need</a:t>
            </a:r>
          </a:p>
          <a:p>
            <a:pPr>
              <a:spcBef>
                <a:spcPts val="600"/>
              </a:spcBef>
              <a:spcAft>
                <a:spcPts val="1200"/>
              </a:spcAft>
            </a:pPr>
            <a:r>
              <a:rPr lang="en-AU" sz="2200" dirty="0" smtClean="0">
                <a:latin typeface="Helvetica" pitchFamily="34" charset="0"/>
              </a:rPr>
              <a:t>Determine resources available to support training events to address identified training need</a:t>
            </a:r>
          </a:p>
          <a:p>
            <a:pPr>
              <a:spcBef>
                <a:spcPts val="600"/>
              </a:spcBef>
              <a:spcAft>
                <a:spcPts val="1200"/>
              </a:spcAft>
            </a:pPr>
            <a:r>
              <a:rPr lang="en-AU" sz="2200" dirty="0" smtClean="0">
                <a:latin typeface="Helvetica" pitchFamily="34" charset="0"/>
              </a:rPr>
              <a:t>Identify training events that will address identified workplace training need</a:t>
            </a:r>
          </a:p>
          <a:p>
            <a:pPr>
              <a:spcBef>
                <a:spcPts val="600"/>
              </a:spcBef>
              <a:spcAft>
                <a:spcPts val="1200"/>
              </a:spcAft>
            </a:pPr>
            <a:r>
              <a:rPr lang="en-AU" sz="2200" dirty="0" smtClean="0">
                <a:latin typeface="Helvetica" pitchFamily="34" charset="0"/>
              </a:rPr>
              <a:t>Determine availability of learners to attend and participate in identified training events</a:t>
            </a:r>
          </a:p>
          <a:p>
            <a:pPr>
              <a:spcBef>
                <a:spcPts val="600"/>
              </a:spcBef>
              <a:spcAft>
                <a:spcPts val="1200"/>
              </a:spcAft>
            </a:pP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5</a:t>
            </a:fld>
            <a:endParaRPr lang="en-US" dirty="0"/>
          </a:p>
        </p:txBody>
      </p:sp>
      <p:pic>
        <p:nvPicPr>
          <p:cNvPr id="2050" name="Picture 2" descr="C:\Documents and Settings\danielc\Local Settings\Temporary Internet Files\Content.IE5\V9A2RTT8\MC900434663[1].wmf"/>
          <p:cNvPicPr>
            <a:picLocks noChangeAspect="1" noChangeArrowheads="1"/>
          </p:cNvPicPr>
          <p:nvPr/>
        </p:nvPicPr>
        <p:blipFill>
          <a:blip r:embed="rId3" cstate="print"/>
          <a:srcRect/>
          <a:stretch>
            <a:fillRect/>
          </a:stretch>
        </p:blipFill>
        <p:spPr bwMode="auto">
          <a:xfrm>
            <a:off x="4786314" y="2000240"/>
            <a:ext cx="472690" cy="624143"/>
          </a:xfrm>
          <a:prstGeom prst="rect">
            <a:avLst/>
          </a:prstGeom>
          <a:noFill/>
        </p:spPr>
      </p:pic>
      <p:pic>
        <p:nvPicPr>
          <p:cNvPr id="7" name="Picture 2" descr="C:\Documents and Settings\danielc\Local Settings\Temporary Internet Files\Content.IE5\V9A2RTT8\MC900434663[1].wmf"/>
          <p:cNvPicPr>
            <a:picLocks noChangeAspect="1" noChangeArrowheads="1"/>
          </p:cNvPicPr>
          <p:nvPr/>
        </p:nvPicPr>
        <p:blipFill>
          <a:blip r:embed="rId3" cstate="print"/>
          <a:srcRect/>
          <a:stretch>
            <a:fillRect/>
          </a:stretch>
        </p:blipFill>
        <p:spPr bwMode="auto">
          <a:xfrm>
            <a:off x="5143504" y="2571744"/>
            <a:ext cx="472690" cy="624143"/>
          </a:xfrm>
          <a:prstGeom prst="rect">
            <a:avLst/>
          </a:prstGeom>
          <a:noFill/>
        </p:spPr>
      </p:pic>
      <p:pic>
        <p:nvPicPr>
          <p:cNvPr id="8" name="Picture 2" descr="C:\Documents and Settings\danielc\Local Settings\Temporary Internet Files\Content.IE5\V9A2RTT8\MC900434663[1].wmf"/>
          <p:cNvPicPr>
            <a:picLocks noChangeAspect="1" noChangeArrowheads="1"/>
          </p:cNvPicPr>
          <p:nvPr/>
        </p:nvPicPr>
        <p:blipFill>
          <a:blip r:embed="rId3" cstate="print"/>
          <a:srcRect/>
          <a:stretch>
            <a:fillRect/>
          </a:stretch>
        </p:blipFill>
        <p:spPr bwMode="auto">
          <a:xfrm>
            <a:off x="6242450" y="3590675"/>
            <a:ext cx="472690" cy="624143"/>
          </a:xfrm>
          <a:prstGeom prst="rect">
            <a:avLst/>
          </a:prstGeom>
          <a:noFill/>
        </p:spPr>
      </p:pic>
      <p:pic>
        <p:nvPicPr>
          <p:cNvPr id="9" name="Picture 2" descr="C:\Documents and Settings\danielc\Local Settings\Temporary Internet Files\Content.IE5\V9A2RTT8\MC900434663[1].wmf"/>
          <p:cNvPicPr>
            <a:picLocks noChangeAspect="1" noChangeArrowheads="1"/>
          </p:cNvPicPr>
          <p:nvPr/>
        </p:nvPicPr>
        <p:blipFill>
          <a:blip r:embed="rId3" cstate="print"/>
          <a:srcRect/>
          <a:stretch>
            <a:fillRect/>
          </a:stretch>
        </p:blipFill>
        <p:spPr bwMode="auto">
          <a:xfrm>
            <a:off x="4143372" y="4500570"/>
            <a:ext cx="472690" cy="624143"/>
          </a:xfrm>
          <a:prstGeom prst="rect">
            <a:avLst/>
          </a:prstGeom>
          <a:noFill/>
        </p:spPr>
      </p:pic>
      <p:pic>
        <p:nvPicPr>
          <p:cNvPr id="10" name="Picture 2" descr="C:\Documents and Settings\danielc\Local Settings\Temporary Internet Files\Content.IE5\V9A2RTT8\MC900434663[1].wmf"/>
          <p:cNvPicPr>
            <a:picLocks noChangeAspect="1" noChangeArrowheads="1"/>
          </p:cNvPicPr>
          <p:nvPr/>
        </p:nvPicPr>
        <p:blipFill>
          <a:blip r:embed="rId3" cstate="print"/>
          <a:srcRect/>
          <a:stretch>
            <a:fillRect/>
          </a:stretch>
        </p:blipFill>
        <p:spPr bwMode="auto">
          <a:xfrm>
            <a:off x="5813822" y="5429264"/>
            <a:ext cx="472690" cy="624143"/>
          </a:xfrm>
          <a:prstGeom prst="rect">
            <a:avLst/>
          </a:prstGeom>
          <a:noFill/>
        </p:spPr>
      </p:pic>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999040" cy="1143000"/>
          </a:xfrm>
        </p:spPr>
        <p:txBody>
          <a:bodyPr>
            <a:normAutofit/>
          </a:bodyPr>
          <a:lstStyle/>
          <a:p>
            <a:pPr marL="0">
              <a:spcBef>
                <a:spcPts val="600"/>
              </a:spcBef>
              <a:spcAft>
                <a:spcPts val="1200"/>
              </a:spcAft>
            </a:pPr>
            <a:r>
              <a:rPr lang="en-AU" sz="3400" b="1" dirty="0" smtClean="0">
                <a:solidFill>
                  <a:srgbClr val="FF6600"/>
                </a:solidFill>
                <a:latin typeface="Helvetica" pitchFamily="34" charset="0"/>
              </a:rPr>
              <a:t>Plan a series of training events</a:t>
            </a:r>
          </a:p>
        </p:txBody>
      </p:sp>
      <p:sp>
        <p:nvSpPr>
          <p:cNvPr id="3" name="Content Placeholder 2"/>
          <p:cNvSpPr>
            <a:spLocks noGrp="1"/>
          </p:cNvSpPr>
          <p:nvPr>
            <p:ph idx="1"/>
          </p:nvPr>
        </p:nvSpPr>
        <p:spPr>
          <a:xfrm>
            <a:off x="611560" y="1556792"/>
            <a:ext cx="7467600" cy="4525963"/>
          </a:xfrm>
        </p:spPr>
        <p:txBody>
          <a:bodyPr>
            <a:normAutofit lnSpcReduction="10000"/>
          </a:bodyPr>
          <a:lstStyle/>
          <a:p>
            <a:pPr marL="0" indent="0">
              <a:spcBef>
                <a:spcPts val="600"/>
              </a:spcBef>
              <a:spcAft>
                <a:spcPts val="1200"/>
              </a:spcAft>
              <a:buNone/>
            </a:pPr>
            <a:r>
              <a:rPr lang="en-US" sz="2200" dirty="0" smtClean="0">
                <a:latin typeface="Helvetica" pitchFamily="34" charset="0"/>
              </a:rPr>
              <a:t>Performance Criteria for this Element are: </a:t>
            </a:r>
          </a:p>
          <a:p>
            <a:pPr>
              <a:spcBef>
                <a:spcPts val="600"/>
              </a:spcBef>
              <a:spcAft>
                <a:spcPts val="1200"/>
              </a:spcAft>
            </a:pPr>
            <a:r>
              <a:rPr lang="en-AU" sz="2200" dirty="0" smtClean="0">
                <a:latin typeface="Helvetica" pitchFamily="34" charset="0"/>
              </a:rPr>
              <a:t>Involve stakeholders in planning activities</a:t>
            </a:r>
          </a:p>
          <a:p>
            <a:pPr>
              <a:spcBef>
                <a:spcPts val="600"/>
              </a:spcBef>
              <a:spcAft>
                <a:spcPts val="1200"/>
              </a:spcAft>
            </a:pPr>
            <a:r>
              <a:rPr lang="en-AU" sz="2200" dirty="0" smtClean="0">
                <a:latin typeface="Helvetica" pitchFamily="34" charset="0"/>
              </a:rPr>
              <a:t>Develop a schedule for implementing identified training events</a:t>
            </a:r>
          </a:p>
          <a:p>
            <a:pPr>
              <a:spcBef>
                <a:spcPts val="600"/>
              </a:spcBef>
              <a:spcAft>
                <a:spcPts val="1200"/>
              </a:spcAft>
            </a:pPr>
            <a:r>
              <a:rPr lang="en-AU" sz="2200" dirty="0" smtClean="0">
                <a:latin typeface="Helvetica" pitchFamily="34" charset="0"/>
              </a:rPr>
              <a:t>Develop an operational plan to support the implementation of identified training events</a:t>
            </a:r>
          </a:p>
          <a:p>
            <a:pPr>
              <a:spcBef>
                <a:spcPts val="600"/>
              </a:spcBef>
              <a:spcAft>
                <a:spcPts val="1200"/>
              </a:spcAft>
            </a:pPr>
            <a:r>
              <a:rPr lang="en-AU" sz="2200" dirty="0" smtClean="0">
                <a:latin typeface="Helvetica" pitchFamily="34" charset="0"/>
              </a:rPr>
              <a:t>Share the implementation plan for training events with stakeholders</a:t>
            </a:r>
          </a:p>
          <a:p>
            <a:pPr>
              <a:spcBef>
                <a:spcPts val="600"/>
              </a:spcBef>
              <a:spcAft>
                <a:spcPts val="1200"/>
              </a:spcAft>
            </a:pPr>
            <a:r>
              <a:rPr lang="en-AU" sz="2200" dirty="0" smtClean="0">
                <a:latin typeface="Helvetica" pitchFamily="34" charset="0"/>
              </a:rPr>
              <a:t>Encourage identified learners to engage with established training events</a:t>
            </a: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6</a:t>
            </a:fld>
            <a:endParaRPr lang="en-US" dirty="0"/>
          </a:p>
        </p:txBody>
      </p:sp>
      <p:pic>
        <p:nvPicPr>
          <p:cNvPr id="6" name="Picture 2" descr="C:\Documents and Settings\danielc\Local Settings\Temporary Internet Files\Content.IE5\V9A2RTT8\MC900434663[1].wmf"/>
          <p:cNvPicPr>
            <a:picLocks noChangeAspect="1" noChangeArrowheads="1"/>
          </p:cNvPicPr>
          <p:nvPr/>
        </p:nvPicPr>
        <p:blipFill>
          <a:blip r:embed="rId3" cstate="print"/>
          <a:srcRect/>
          <a:stretch>
            <a:fillRect/>
          </a:stretch>
        </p:blipFill>
        <p:spPr bwMode="auto">
          <a:xfrm>
            <a:off x="6286512" y="2000240"/>
            <a:ext cx="472690" cy="624143"/>
          </a:xfrm>
          <a:prstGeom prst="rect">
            <a:avLst/>
          </a:prstGeom>
          <a:noFill/>
        </p:spPr>
      </p:pic>
      <p:pic>
        <p:nvPicPr>
          <p:cNvPr id="7" name="Picture 2" descr="C:\Documents and Settings\danielc\Local Settings\Temporary Internet Files\Content.IE5\V9A2RTT8\MC900434663[1].wmf"/>
          <p:cNvPicPr>
            <a:picLocks noChangeAspect="1" noChangeArrowheads="1"/>
          </p:cNvPicPr>
          <p:nvPr/>
        </p:nvPicPr>
        <p:blipFill>
          <a:blip r:embed="rId3" cstate="print"/>
          <a:srcRect/>
          <a:stretch>
            <a:fillRect/>
          </a:stretch>
        </p:blipFill>
        <p:spPr bwMode="auto">
          <a:xfrm>
            <a:off x="2000232" y="2928934"/>
            <a:ext cx="472690" cy="624143"/>
          </a:xfrm>
          <a:prstGeom prst="rect">
            <a:avLst/>
          </a:prstGeom>
          <a:noFill/>
        </p:spPr>
      </p:pic>
      <p:pic>
        <p:nvPicPr>
          <p:cNvPr id="8" name="Picture 2" descr="C:\Documents and Settings\danielc\Local Settings\Temporary Internet Files\Content.IE5\V9A2RTT8\MC900434663[1].wmf"/>
          <p:cNvPicPr>
            <a:picLocks noChangeAspect="1" noChangeArrowheads="1"/>
          </p:cNvPicPr>
          <p:nvPr/>
        </p:nvPicPr>
        <p:blipFill>
          <a:blip r:embed="rId3" cstate="print"/>
          <a:srcRect/>
          <a:stretch>
            <a:fillRect/>
          </a:stretch>
        </p:blipFill>
        <p:spPr bwMode="auto">
          <a:xfrm>
            <a:off x="6429388" y="3643314"/>
            <a:ext cx="472690" cy="624143"/>
          </a:xfrm>
          <a:prstGeom prst="rect">
            <a:avLst/>
          </a:prstGeom>
          <a:noFill/>
        </p:spPr>
      </p:pic>
      <p:pic>
        <p:nvPicPr>
          <p:cNvPr id="9" name="Picture 2" descr="C:\Documents and Settings\danielc\Local Settings\Temporary Internet Files\Content.IE5\V9A2RTT8\MC900434663[1].wmf"/>
          <p:cNvPicPr>
            <a:picLocks noChangeAspect="1" noChangeArrowheads="1"/>
          </p:cNvPicPr>
          <p:nvPr/>
        </p:nvPicPr>
        <p:blipFill>
          <a:blip r:embed="rId3" cstate="print"/>
          <a:srcRect/>
          <a:stretch>
            <a:fillRect/>
          </a:stretch>
        </p:blipFill>
        <p:spPr bwMode="auto">
          <a:xfrm>
            <a:off x="2714612" y="4572008"/>
            <a:ext cx="472690" cy="624143"/>
          </a:xfrm>
          <a:prstGeom prst="rect">
            <a:avLst/>
          </a:prstGeom>
          <a:noFill/>
        </p:spPr>
      </p:pic>
      <p:pic>
        <p:nvPicPr>
          <p:cNvPr id="10" name="Picture 2" descr="C:\Documents and Settings\danielc\Local Settings\Temporary Internet Files\Content.IE5\V9A2RTT8\MC900434663[1].wmf"/>
          <p:cNvPicPr>
            <a:picLocks noChangeAspect="1" noChangeArrowheads="1"/>
          </p:cNvPicPr>
          <p:nvPr/>
        </p:nvPicPr>
        <p:blipFill>
          <a:blip r:embed="rId3" cstate="print"/>
          <a:srcRect/>
          <a:stretch>
            <a:fillRect/>
          </a:stretch>
        </p:blipFill>
        <p:spPr bwMode="auto">
          <a:xfrm>
            <a:off x="4429124" y="5429264"/>
            <a:ext cx="472690" cy="624143"/>
          </a:xfrm>
          <a:prstGeom prst="rect">
            <a:avLst/>
          </a:prstGeom>
          <a:noFill/>
        </p:spPr>
      </p:pic>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848872" cy="1143000"/>
          </a:xfrm>
        </p:spPr>
        <p:txBody>
          <a:bodyPr>
            <a:normAutofit/>
          </a:bodyPr>
          <a:lstStyle/>
          <a:p>
            <a:pPr marL="0"/>
            <a:r>
              <a:rPr lang="en-US" sz="3400" b="1" dirty="0" smtClean="0">
                <a:solidFill>
                  <a:srgbClr val="FF6600"/>
                </a:solidFill>
                <a:latin typeface="Helvetica" pitchFamily="34" charset="0"/>
              </a:rPr>
              <a:t>Importance of training</a:t>
            </a:r>
          </a:p>
        </p:txBody>
      </p:sp>
      <p:sp>
        <p:nvSpPr>
          <p:cNvPr id="3" name="Content Placeholder 2"/>
          <p:cNvSpPr>
            <a:spLocks noGrp="1"/>
          </p:cNvSpPr>
          <p:nvPr>
            <p:ph idx="1"/>
          </p:nvPr>
        </p:nvSpPr>
        <p:spPr>
          <a:xfrm>
            <a:off x="611560" y="1556792"/>
            <a:ext cx="7920880" cy="4824536"/>
          </a:xfrm>
        </p:spPr>
        <p:txBody>
          <a:bodyPr>
            <a:normAutofit/>
          </a:bodyPr>
          <a:lstStyle/>
          <a:p>
            <a:pPr>
              <a:spcBef>
                <a:spcPts val="600"/>
              </a:spcBef>
              <a:spcAft>
                <a:spcPts val="1200"/>
              </a:spcAft>
              <a:buNone/>
            </a:pPr>
            <a:r>
              <a:rPr lang="en-AU" sz="2200" b="1" dirty="0" smtClean="0">
                <a:latin typeface="Helvetica" pitchFamily="34" charset="0"/>
              </a:rPr>
              <a:t>Types of training</a:t>
            </a:r>
          </a:p>
          <a:p>
            <a:pPr marL="0">
              <a:spcBef>
                <a:spcPts val="600"/>
              </a:spcBef>
              <a:spcAft>
                <a:spcPts val="1200"/>
              </a:spcAft>
              <a:buNone/>
            </a:pPr>
            <a:r>
              <a:rPr lang="en-AU" sz="2200" dirty="0" smtClean="0">
                <a:latin typeface="Helvetica" pitchFamily="34" charset="0"/>
              </a:rPr>
              <a:t>There is a growing awareness of the importance of training and developing people across a range of situations. </a:t>
            </a:r>
          </a:p>
          <a:p>
            <a:pPr marL="0">
              <a:spcBef>
                <a:spcPts val="600"/>
              </a:spcBef>
              <a:spcAft>
                <a:spcPts val="1200"/>
              </a:spcAft>
              <a:buNone/>
            </a:pPr>
            <a:r>
              <a:rPr lang="en-AU" sz="2200" dirty="0" smtClean="0">
                <a:latin typeface="Helvetica" pitchFamily="34" charset="0"/>
              </a:rPr>
              <a:t>Whilst a large range of training programs are made available by external training providers, many individual’s training occurs:</a:t>
            </a:r>
          </a:p>
          <a:p>
            <a:pPr>
              <a:spcBef>
                <a:spcPts val="600"/>
              </a:spcBef>
              <a:spcAft>
                <a:spcPts val="1200"/>
              </a:spcAft>
            </a:pPr>
            <a:r>
              <a:rPr lang="en-AU" sz="2200" dirty="0" smtClean="0">
                <a:latin typeface="Helvetica" pitchFamily="34" charset="0"/>
              </a:rPr>
              <a:t>On the job</a:t>
            </a:r>
          </a:p>
          <a:p>
            <a:pPr>
              <a:spcBef>
                <a:spcPts val="600"/>
              </a:spcBef>
              <a:spcAft>
                <a:spcPts val="1200"/>
              </a:spcAft>
            </a:pPr>
            <a:r>
              <a:rPr lang="en-AU" sz="2200" dirty="0" smtClean="0">
                <a:latin typeface="Helvetica" pitchFamily="34" charset="0"/>
              </a:rPr>
              <a:t>As part of an internal group training process </a:t>
            </a: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sz="1100" dirty="0" smtClean="0">
                <a:latin typeface="Helvetica" pitchFamily="34" charset="0"/>
              </a:rPr>
              <a:t>Slide </a:t>
            </a:r>
            <a:fld id="{90BDF71C-F485-43AE-8825-5070AF1EA8C9}" type="slidenum">
              <a:rPr lang="en-US" sz="1100" smtClean="0">
                <a:latin typeface="Helvetica" pitchFamily="34" charset="0"/>
              </a:rPr>
              <a:pPr/>
              <a:t>7</a:t>
            </a:fld>
            <a:endParaRPr lang="en-US" sz="1100" dirty="0">
              <a:latin typeface="Helvetica" pitchFamily="34" charset="0"/>
            </a:endParaRPr>
          </a:p>
        </p:txBody>
      </p:sp>
      <p:pic>
        <p:nvPicPr>
          <p:cNvPr id="7" name="Picture 6" descr="MP900400285.JPG"/>
          <p:cNvPicPr>
            <a:picLocks noChangeAspect="1"/>
          </p:cNvPicPr>
          <p:nvPr/>
        </p:nvPicPr>
        <p:blipFill>
          <a:blip r:embed="rId3" cstate="print"/>
          <a:stretch>
            <a:fillRect/>
          </a:stretch>
        </p:blipFill>
        <p:spPr>
          <a:xfrm>
            <a:off x="6786578" y="4143380"/>
            <a:ext cx="1873807" cy="1250181"/>
          </a:xfrm>
          <a:prstGeom prst="rect">
            <a:avLst/>
          </a:prstGeom>
        </p:spPr>
      </p:pic>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848872" cy="1143000"/>
          </a:xfrm>
        </p:spPr>
        <p:txBody>
          <a:bodyPr>
            <a:normAutofit/>
          </a:bodyPr>
          <a:lstStyle/>
          <a:p>
            <a:pPr marL="0"/>
            <a:r>
              <a:rPr lang="en-US" sz="3400" b="1" dirty="0" smtClean="0">
                <a:solidFill>
                  <a:srgbClr val="FF6600"/>
                </a:solidFill>
                <a:latin typeface="Helvetica" pitchFamily="34" charset="0"/>
              </a:rPr>
              <a:t>Importance of training</a:t>
            </a:r>
          </a:p>
        </p:txBody>
      </p:sp>
      <p:sp>
        <p:nvSpPr>
          <p:cNvPr id="3" name="Content Placeholder 2"/>
          <p:cNvSpPr>
            <a:spLocks noGrp="1"/>
          </p:cNvSpPr>
          <p:nvPr>
            <p:ph idx="1"/>
          </p:nvPr>
        </p:nvSpPr>
        <p:spPr>
          <a:xfrm>
            <a:off x="611560" y="1556792"/>
            <a:ext cx="7920880" cy="4824536"/>
          </a:xfrm>
        </p:spPr>
        <p:txBody>
          <a:bodyPr>
            <a:normAutofit/>
          </a:bodyPr>
          <a:lstStyle/>
          <a:p>
            <a:pPr>
              <a:spcBef>
                <a:spcPts val="600"/>
              </a:spcBef>
              <a:spcAft>
                <a:spcPts val="1200"/>
              </a:spcAft>
              <a:buNone/>
            </a:pPr>
            <a:r>
              <a:rPr lang="en-AU" sz="2200" b="1" dirty="0" smtClean="0">
                <a:latin typeface="Helvetica" pitchFamily="34" charset="0"/>
              </a:rPr>
              <a:t>What are we trying to achieve through training?</a:t>
            </a:r>
          </a:p>
          <a:p>
            <a:pPr marL="0">
              <a:spcBef>
                <a:spcPts val="600"/>
              </a:spcBef>
              <a:spcAft>
                <a:spcPts val="1200"/>
              </a:spcAft>
              <a:buNone/>
            </a:pPr>
            <a:r>
              <a:rPr lang="en-AU" sz="2200" dirty="0" smtClean="0">
                <a:latin typeface="Helvetica" pitchFamily="34" charset="0"/>
              </a:rPr>
              <a:t>In any training activity we are trying to bring about change in three main areas: </a:t>
            </a:r>
          </a:p>
          <a:p>
            <a:pPr>
              <a:spcBef>
                <a:spcPts val="600"/>
              </a:spcBef>
              <a:spcAft>
                <a:spcPts val="1200"/>
              </a:spcAft>
            </a:pPr>
            <a:r>
              <a:rPr lang="en-AU" sz="2200" dirty="0" smtClean="0">
                <a:latin typeface="Helvetica" pitchFamily="34" charset="0"/>
              </a:rPr>
              <a:t>Psychomotor</a:t>
            </a:r>
          </a:p>
          <a:p>
            <a:pPr>
              <a:spcBef>
                <a:spcPts val="600"/>
              </a:spcBef>
              <a:spcAft>
                <a:spcPts val="1200"/>
              </a:spcAft>
            </a:pPr>
            <a:r>
              <a:rPr lang="en-AU" sz="2200" dirty="0" smtClean="0">
                <a:latin typeface="Helvetica" pitchFamily="34" charset="0"/>
              </a:rPr>
              <a:t>Cognitive</a:t>
            </a:r>
          </a:p>
          <a:p>
            <a:pPr>
              <a:spcBef>
                <a:spcPts val="600"/>
              </a:spcBef>
              <a:spcAft>
                <a:spcPts val="1200"/>
              </a:spcAft>
            </a:pPr>
            <a:r>
              <a:rPr lang="en-AU" sz="2200" dirty="0" smtClean="0">
                <a:latin typeface="Helvetica" pitchFamily="34" charset="0"/>
              </a:rPr>
              <a:t>Affective </a:t>
            </a:r>
          </a:p>
          <a:p>
            <a:pPr>
              <a:spcBef>
                <a:spcPts val="600"/>
              </a:spcBef>
              <a:spcAft>
                <a:spcPts val="1200"/>
              </a:spcAft>
              <a:buNone/>
            </a:pPr>
            <a:endParaRPr lang="en-AU" sz="2400" dirty="0"/>
          </a:p>
        </p:txBody>
      </p:sp>
      <p:sp>
        <p:nvSpPr>
          <p:cNvPr id="4" name="Slide Number Placeholder 3"/>
          <p:cNvSpPr>
            <a:spLocks noGrp="1"/>
          </p:cNvSpPr>
          <p:nvPr>
            <p:ph type="sldNum" sz="quarter" idx="12"/>
          </p:nvPr>
        </p:nvSpPr>
        <p:spPr/>
        <p:txBody>
          <a:bodyPr/>
          <a:lstStyle/>
          <a:p>
            <a:r>
              <a:rPr lang="en-US" dirty="0" smtClean="0"/>
              <a:t> </a:t>
            </a:r>
            <a:r>
              <a:rPr lang="en-US" sz="1100" dirty="0" smtClean="0">
                <a:latin typeface="Helvetica" pitchFamily="34" charset="0"/>
              </a:rPr>
              <a:t>Slide </a:t>
            </a:r>
            <a:fld id="{90BDF71C-F485-43AE-8825-5070AF1EA8C9}" type="slidenum">
              <a:rPr lang="en-US" sz="1100" smtClean="0">
                <a:latin typeface="Helvetica" pitchFamily="34" charset="0"/>
              </a:rPr>
              <a:pPr/>
              <a:t>8</a:t>
            </a:fld>
            <a:endParaRPr lang="en-US" sz="1100" dirty="0">
              <a:latin typeface="Helvetica" pitchFamily="34" charset="0"/>
            </a:endParaRPr>
          </a:p>
        </p:txBody>
      </p:sp>
      <p:pic>
        <p:nvPicPr>
          <p:cNvPr id="6" name="Picture 5" descr="1111.jpg"/>
          <p:cNvPicPr/>
          <p:nvPr/>
        </p:nvPicPr>
        <p:blipFill>
          <a:blip r:embed="rId3" cstate="print"/>
          <a:stretch>
            <a:fillRect/>
          </a:stretch>
        </p:blipFill>
        <p:spPr>
          <a:xfrm>
            <a:off x="6072198" y="2928934"/>
            <a:ext cx="2117323" cy="1667049"/>
          </a:xfrm>
          <a:prstGeom prst="rect">
            <a:avLst/>
          </a:prstGeom>
        </p:spPr>
      </p:pic>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848872" cy="1143000"/>
          </a:xfrm>
        </p:spPr>
        <p:txBody>
          <a:bodyPr>
            <a:normAutofit/>
          </a:bodyPr>
          <a:lstStyle/>
          <a:p>
            <a:pPr marL="0"/>
            <a:r>
              <a:rPr lang="en-US" sz="3400" b="1" dirty="0" smtClean="0">
                <a:solidFill>
                  <a:srgbClr val="FF6600"/>
                </a:solidFill>
                <a:latin typeface="Helvetica" pitchFamily="34" charset="0"/>
              </a:rPr>
              <a:t>Identify training needs</a:t>
            </a:r>
          </a:p>
        </p:txBody>
      </p:sp>
      <p:sp>
        <p:nvSpPr>
          <p:cNvPr id="3" name="Content Placeholder 2"/>
          <p:cNvSpPr>
            <a:spLocks noGrp="1"/>
          </p:cNvSpPr>
          <p:nvPr>
            <p:ph idx="1"/>
          </p:nvPr>
        </p:nvSpPr>
        <p:spPr>
          <a:xfrm>
            <a:off x="611560" y="1556792"/>
            <a:ext cx="7920880" cy="4824536"/>
          </a:xfrm>
        </p:spPr>
        <p:txBody>
          <a:bodyPr>
            <a:normAutofit/>
          </a:bodyPr>
          <a:lstStyle/>
          <a:p>
            <a:pPr>
              <a:spcBef>
                <a:spcPts val="600"/>
              </a:spcBef>
              <a:spcAft>
                <a:spcPts val="1200"/>
              </a:spcAft>
              <a:buNone/>
            </a:pPr>
            <a:r>
              <a:rPr lang="en-AU" sz="2200" b="1" dirty="0" smtClean="0">
                <a:latin typeface="Helvetica" pitchFamily="34" charset="0"/>
              </a:rPr>
              <a:t>A Training Needs Analysis (TNA) </a:t>
            </a:r>
          </a:p>
          <a:p>
            <a:pPr>
              <a:spcBef>
                <a:spcPts val="600"/>
              </a:spcBef>
              <a:spcAft>
                <a:spcPts val="1200"/>
              </a:spcAft>
            </a:pPr>
            <a:r>
              <a:rPr lang="en-AU" sz="2200" dirty="0" smtClean="0">
                <a:latin typeface="Helvetica" pitchFamily="34" charset="0"/>
              </a:rPr>
              <a:t>A training needs analysis</a:t>
            </a:r>
            <a:r>
              <a:rPr lang="en-AU" sz="2200" b="1" dirty="0" smtClean="0">
                <a:latin typeface="Helvetica" pitchFamily="34" charset="0"/>
              </a:rPr>
              <a:t> </a:t>
            </a:r>
            <a:r>
              <a:rPr lang="en-AU" sz="2200" dirty="0" smtClean="0">
                <a:latin typeface="Helvetica" pitchFamily="34" charset="0"/>
              </a:rPr>
              <a:t>process is a series of activities conducted to identify problems or other issues in the workplace and to determine whether training is an appropriate response</a:t>
            </a:r>
          </a:p>
          <a:p>
            <a:pPr>
              <a:spcBef>
                <a:spcPts val="600"/>
              </a:spcBef>
              <a:spcAft>
                <a:spcPts val="1200"/>
              </a:spcAft>
              <a:buNone/>
            </a:pPr>
            <a:endParaRPr lang="en-AU" sz="2400" dirty="0"/>
          </a:p>
        </p:txBody>
      </p:sp>
      <p:sp>
        <p:nvSpPr>
          <p:cNvPr id="4" name="Slide Number Placeholder 3"/>
          <p:cNvSpPr>
            <a:spLocks noGrp="1"/>
          </p:cNvSpPr>
          <p:nvPr>
            <p:ph type="sldNum" sz="quarter" idx="12"/>
          </p:nvPr>
        </p:nvSpPr>
        <p:spPr/>
        <p:txBody>
          <a:bodyPr/>
          <a:lstStyle/>
          <a:p>
            <a:r>
              <a:rPr lang="en-US" dirty="0" smtClean="0"/>
              <a:t> </a:t>
            </a:r>
            <a:r>
              <a:rPr lang="en-US" sz="1100" dirty="0" smtClean="0">
                <a:latin typeface="Helvetica" pitchFamily="34" charset="0"/>
              </a:rPr>
              <a:t>Slide </a:t>
            </a:r>
            <a:fld id="{90BDF71C-F485-43AE-8825-5070AF1EA8C9}" type="slidenum">
              <a:rPr lang="en-US" sz="1100" smtClean="0">
                <a:latin typeface="Helvetica" pitchFamily="34" charset="0"/>
              </a:rPr>
              <a:pPr/>
              <a:t>9</a:t>
            </a:fld>
            <a:endParaRPr lang="en-US" sz="1100" dirty="0">
              <a:latin typeface="Helvetica" pitchFamily="34" charset="0"/>
            </a:endParaRPr>
          </a:p>
        </p:txBody>
      </p:sp>
      <p:pic>
        <p:nvPicPr>
          <p:cNvPr id="7" name="Picture 6" descr="MP900422116.JPG"/>
          <p:cNvPicPr>
            <a:picLocks noChangeAspect="1"/>
          </p:cNvPicPr>
          <p:nvPr/>
        </p:nvPicPr>
        <p:blipFill>
          <a:blip r:embed="rId3" cstate="print"/>
          <a:stretch>
            <a:fillRect/>
          </a:stretch>
        </p:blipFill>
        <p:spPr>
          <a:xfrm>
            <a:off x="3571868" y="3929066"/>
            <a:ext cx="2579129" cy="1863824"/>
          </a:xfrm>
          <a:prstGeom prst="rect">
            <a:avLst/>
          </a:prstGeom>
        </p:spPr>
      </p:pic>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848872" cy="1143000"/>
          </a:xfrm>
        </p:spPr>
        <p:txBody>
          <a:bodyPr>
            <a:normAutofit/>
          </a:bodyPr>
          <a:lstStyle/>
          <a:p>
            <a:pPr marL="0"/>
            <a:r>
              <a:rPr lang="en-US" sz="3400" b="1" dirty="0" smtClean="0">
                <a:solidFill>
                  <a:srgbClr val="FF6600"/>
                </a:solidFill>
                <a:latin typeface="Helvetica" pitchFamily="34" charset="0"/>
              </a:rPr>
              <a:t>Identify training needs</a:t>
            </a:r>
          </a:p>
        </p:txBody>
      </p:sp>
      <p:sp>
        <p:nvSpPr>
          <p:cNvPr id="3" name="Content Placeholder 2"/>
          <p:cNvSpPr>
            <a:spLocks noGrp="1"/>
          </p:cNvSpPr>
          <p:nvPr>
            <p:ph idx="1"/>
          </p:nvPr>
        </p:nvSpPr>
        <p:spPr>
          <a:xfrm>
            <a:off x="611560" y="1556792"/>
            <a:ext cx="7920880" cy="4824536"/>
          </a:xfrm>
        </p:spPr>
        <p:txBody>
          <a:bodyPr>
            <a:normAutofit/>
          </a:bodyPr>
          <a:lstStyle/>
          <a:p>
            <a:pPr>
              <a:spcBef>
                <a:spcPts val="600"/>
              </a:spcBef>
              <a:spcAft>
                <a:spcPts val="1200"/>
              </a:spcAft>
              <a:buNone/>
            </a:pPr>
            <a:r>
              <a:rPr lang="en-AU" sz="2200" b="1" dirty="0" smtClean="0">
                <a:latin typeface="Helvetica" pitchFamily="34" charset="0"/>
              </a:rPr>
              <a:t>Types of organisational staff</a:t>
            </a:r>
            <a:endParaRPr lang="en-AU" sz="2200" dirty="0" smtClean="0">
              <a:latin typeface="Helvetica" pitchFamily="34" charset="0"/>
            </a:endParaRPr>
          </a:p>
          <a:p>
            <a:pPr marL="0">
              <a:spcBef>
                <a:spcPts val="600"/>
              </a:spcBef>
              <a:spcAft>
                <a:spcPts val="1200"/>
              </a:spcAft>
              <a:buNone/>
            </a:pPr>
            <a:r>
              <a:rPr lang="en-AU" sz="2200" dirty="0" smtClean="0">
                <a:latin typeface="Helvetica" pitchFamily="34" charset="0"/>
              </a:rPr>
              <a:t>Training needs will differ with the backgrounds of the employees to be trained, and their present status in the organisation. </a:t>
            </a:r>
          </a:p>
          <a:p>
            <a:pPr marL="0">
              <a:spcBef>
                <a:spcPts val="600"/>
              </a:spcBef>
              <a:spcAft>
                <a:spcPts val="1200"/>
              </a:spcAft>
              <a:buNone/>
            </a:pPr>
            <a:r>
              <a:rPr lang="en-AU" sz="2200" dirty="0" smtClean="0">
                <a:latin typeface="Helvetica" pitchFamily="34" charset="0"/>
              </a:rPr>
              <a:t>Basically, a candidate for training may come from any one of three groups:</a:t>
            </a:r>
          </a:p>
          <a:p>
            <a:pPr lvl="0">
              <a:spcBef>
                <a:spcPts val="600"/>
              </a:spcBef>
              <a:spcAft>
                <a:spcPts val="1200"/>
              </a:spcAft>
            </a:pPr>
            <a:r>
              <a:rPr lang="en-AU" sz="2200" dirty="0" smtClean="0">
                <a:latin typeface="Helvetica" pitchFamily="34" charset="0"/>
              </a:rPr>
              <a:t>New hires</a:t>
            </a:r>
          </a:p>
          <a:p>
            <a:pPr lvl="0">
              <a:spcBef>
                <a:spcPts val="600"/>
              </a:spcBef>
              <a:spcAft>
                <a:spcPts val="1200"/>
              </a:spcAft>
            </a:pPr>
            <a:r>
              <a:rPr lang="en-AU" sz="2200" dirty="0" smtClean="0">
                <a:latin typeface="Helvetica" pitchFamily="34" charset="0"/>
              </a:rPr>
              <a:t>Veteran employees</a:t>
            </a:r>
          </a:p>
          <a:p>
            <a:pPr lvl="0">
              <a:spcBef>
                <a:spcPts val="600"/>
              </a:spcBef>
              <a:spcAft>
                <a:spcPts val="1200"/>
              </a:spcAft>
            </a:pPr>
            <a:r>
              <a:rPr lang="en-AU" sz="2200" dirty="0" smtClean="0">
                <a:latin typeface="Helvetica" pitchFamily="34" charset="0"/>
              </a:rPr>
              <a:t>Trainees currently in training</a:t>
            </a:r>
          </a:p>
          <a:p>
            <a:pPr>
              <a:spcBef>
                <a:spcPts val="600"/>
              </a:spcBef>
              <a:spcAft>
                <a:spcPts val="1200"/>
              </a:spcAft>
              <a:buNone/>
            </a:pPr>
            <a:endParaRPr lang="en-AU" sz="2400" dirty="0"/>
          </a:p>
        </p:txBody>
      </p:sp>
      <p:sp>
        <p:nvSpPr>
          <p:cNvPr id="4" name="Slide Number Placeholder 3"/>
          <p:cNvSpPr>
            <a:spLocks noGrp="1"/>
          </p:cNvSpPr>
          <p:nvPr>
            <p:ph type="sldNum" sz="quarter" idx="12"/>
          </p:nvPr>
        </p:nvSpPr>
        <p:spPr/>
        <p:txBody>
          <a:bodyPr/>
          <a:lstStyle/>
          <a:p>
            <a:r>
              <a:rPr lang="en-US" dirty="0" smtClean="0"/>
              <a:t> </a:t>
            </a:r>
            <a:r>
              <a:rPr lang="en-US" sz="1100" dirty="0" smtClean="0">
                <a:latin typeface="Helvetica" pitchFamily="34" charset="0"/>
              </a:rPr>
              <a:t>Slide </a:t>
            </a:r>
            <a:fld id="{90BDF71C-F485-43AE-8825-5070AF1EA8C9}" type="slidenum">
              <a:rPr lang="en-US" sz="1100" smtClean="0">
                <a:latin typeface="Helvetica" pitchFamily="34" charset="0"/>
              </a:rPr>
              <a:pPr/>
              <a:t>10</a:t>
            </a:fld>
            <a:endParaRPr lang="en-US" sz="1100" dirty="0">
              <a:latin typeface="Helvetica" pitchFamily="34" charset="0"/>
            </a:endParaRPr>
          </a:p>
        </p:txBody>
      </p:sp>
      <p:pic>
        <p:nvPicPr>
          <p:cNvPr id="6" name="Picture 5" descr="19.jpg"/>
          <p:cNvPicPr>
            <a:picLocks noChangeAspect="1"/>
          </p:cNvPicPr>
          <p:nvPr/>
        </p:nvPicPr>
        <p:blipFill>
          <a:blip r:embed="rId3" cstate="print"/>
          <a:stretch>
            <a:fillRect/>
          </a:stretch>
        </p:blipFill>
        <p:spPr>
          <a:xfrm>
            <a:off x="5786446" y="4143380"/>
            <a:ext cx="2348880" cy="1565920"/>
          </a:xfrm>
          <a:prstGeom prst="rect">
            <a:avLst/>
          </a:prstGeom>
        </p:spPr>
      </p:pic>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848872" cy="1143000"/>
          </a:xfrm>
        </p:spPr>
        <p:txBody>
          <a:bodyPr>
            <a:normAutofit/>
          </a:bodyPr>
          <a:lstStyle/>
          <a:p>
            <a:pPr marL="0"/>
            <a:r>
              <a:rPr lang="en-US" sz="3400" b="1" dirty="0" smtClean="0">
                <a:solidFill>
                  <a:srgbClr val="FF6600"/>
                </a:solidFill>
                <a:latin typeface="Helvetica" pitchFamily="34" charset="0"/>
              </a:rPr>
              <a:t>Identify training needs</a:t>
            </a:r>
          </a:p>
        </p:txBody>
      </p:sp>
      <p:sp>
        <p:nvSpPr>
          <p:cNvPr id="3" name="Content Placeholder 2"/>
          <p:cNvSpPr>
            <a:spLocks noGrp="1"/>
          </p:cNvSpPr>
          <p:nvPr>
            <p:ph idx="1"/>
          </p:nvPr>
        </p:nvSpPr>
        <p:spPr>
          <a:xfrm>
            <a:off x="611560" y="1556792"/>
            <a:ext cx="7920880" cy="4824536"/>
          </a:xfrm>
        </p:spPr>
        <p:txBody>
          <a:bodyPr>
            <a:normAutofit/>
          </a:bodyPr>
          <a:lstStyle/>
          <a:p>
            <a:pPr>
              <a:spcBef>
                <a:spcPts val="600"/>
              </a:spcBef>
              <a:spcAft>
                <a:spcPts val="1200"/>
              </a:spcAft>
              <a:buNone/>
            </a:pPr>
            <a:r>
              <a:rPr lang="en-AU" sz="2200" b="1" dirty="0" smtClean="0">
                <a:latin typeface="Helvetica" pitchFamily="34" charset="0"/>
              </a:rPr>
              <a:t>Ways to identify training needs</a:t>
            </a:r>
            <a:endParaRPr lang="en-AU" sz="2200" dirty="0" smtClean="0">
              <a:latin typeface="Helvetica" pitchFamily="34" charset="0"/>
            </a:endParaRPr>
          </a:p>
          <a:p>
            <a:pPr lvl="0">
              <a:spcBef>
                <a:spcPts val="600"/>
              </a:spcBef>
              <a:spcAft>
                <a:spcPts val="1200"/>
              </a:spcAft>
            </a:pPr>
            <a:r>
              <a:rPr lang="en-AU" sz="2200" dirty="0" smtClean="0">
                <a:latin typeface="Helvetica" pitchFamily="34" charset="0"/>
              </a:rPr>
              <a:t>Observations</a:t>
            </a:r>
          </a:p>
          <a:p>
            <a:pPr lvl="0">
              <a:spcBef>
                <a:spcPts val="600"/>
              </a:spcBef>
              <a:spcAft>
                <a:spcPts val="1200"/>
              </a:spcAft>
            </a:pPr>
            <a:r>
              <a:rPr lang="en-AU" sz="2200" dirty="0" smtClean="0">
                <a:latin typeface="Helvetica" pitchFamily="34" charset="0"/>
              </a:rPr>
              <a:t>Interviews</a:t>
            </a:r>
          </a:p>
          <a:p>
            <a:pPr lvl="0">
              <a:spcBef>
                <a:spcPts val="600"/>
              </a:spcBef>
              <a:spcAft>
                <a:spcPts val="1200"/>
              </a:spcAft>
            </a:pPr>
            <a:r>
              <a:rPr lang="en-AU" sz="2200" dirty="0" smtClean="0">
                <a:latin typeface="Helvetica" pitchFamily="34" charset="0"/>
              </a:rPr>
              <a:t>Questionnaires</a:t>
            </a:r>
          </a:p>
          <a:p>
            <a:pPr lvl="0">
              <a:spcBef>
                <a:spcPts val="600"/>
              </a:spcBef>
              <a:spcAft>
                <a:spcPts val="1200"/>
              </a:spcAft>
            </a:pPr>
            <a:r>
              <a:rPr lang="en-AU" sz="2200" dirty="0" smtClean="0">
                <a:latin typeface="Helvetica" pitchFamily="34" charset="0"/>
              </a:rPr>
              <a:t>Job Descriptions</a:t>
            </a:r>
          </a:p>
        </p:txBody>
      </p:sp>
      <p:sp>
        <p:nvSpPr>
          <p:cNvPr id="4" name="Slide Number Placeholder 3"/>
          <p:cNvSpPr>
            <a:spLocks noGrp="1"/>
          </p:cNvSpPr>
          <p:nvPr>
            <p:ph type="sldNum" sz="quarter" idx="12"/>
          </p:nvPr>
        </p:nvSpPr>
        <p:spPr/>
        <p:txBody>
          <a:bodyPr/>
          <a:lstStyle/>
          <a:p>
            <a:r>
              <a:rPr lang="en-US" dirty="0" smtClean="0"/>
              <a:t> </a:t>
            </a:r>
            <a:r>
              <a:rPr lang="en-US" sz="1100" dirty="0" smtClean="0">
                <a:latin typeface="Helvetica" pitchFamily="34" charset="0"/>
              </a:rPr>
              <a:t>Slide </a:t>
            </a:r>
            <a:fld id="{90BDF71C-F485-43AE-8825-5070AF1EA8C9}" type="slidenum">
              <a:rPr lang="en-US" sz="1100" smtClean="0">
                <a:latin typeface="Helvetica" pitchFamily="34" charset="0"/>
              </a:rPr>
              <a:pPr/>
              <a:t>11</a:t>
            </a:fld>
            <a:endParaRPr lang="en-US" sz="1100" dirty="0">
              <a:latin typeface="Helvetica" pitchFamily="34" charset="0"/>
            </a:endParaRPr>
          </a:p>
        </p:txBody>
      </p:sp>
      <p:pic>
        <p:nvPicPr>
          <p:cNvPr id="3074" name="Picture 2" descr="C:\Documents and Settings\danielc\Desktop\Plan and implement a series of training events\feedback_form_excellent.jpg"/>
          <p:cNvPicPr>
            <a:picLocks noChangeAspect="1" noChangeArrowheads="1"/>
          </p:cNvPicPr>
          <p:nvPr/>
        </p:nvPicPr>
        <p:blipFill>
          <a:blip r:embed="rId3" cstate="print"/>
          <a:srcRect/>
          <a:stretch>
            <a:fillRect/>
          </a:stretch>
        </p:blipFill>
        <p:spPr bwMode="auto">
          <a:xfrm>
            <a:off x="5643570" y="1857364"/>
            <a:ext cx="2166935" cy="2453134"/>
          </a:xfrm>
          <a:prstGeom prst="rect">
            <a:avLst/>
          </a:prstGeom>
          <a:noFill/>
        </p:spPr>
      </p:pic>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848872" cy="1143000"/>
          </a:xfrm>
        </p:spPr>
        <p:txBody>
          <a:bodyPr>
            <a:normAutofit/>
          </a:bodyPr>
          <a:lstStyle/>
          <a:p>
            <a:pPr marL="0"/>
            <a:r>
              <a:rPr lang="en-US" sz="3400" b="1" dirty="0" smtClean="0">
                <a:solidFill>
                  <a:srgbClr val="FF6600"/>
                </a:solidFill>
                <a:latin typeface="Helvetica" pitchFamily="34" charset="0"/>
              </a:rPr>
              <a:t>Identify training needs</a:t>
            </a:r>
          </a:p>
        </p:txBody>
      </p:sp>
      <p:sp>
        <p:nvSpPr>
          <p:cNvPr id="3" name="Content Placeholder 2"/>
          <p:cNvSpPr>
            <a:spLocks noGrp="1"/>
          </p:cNvSpPr>
          <p:nvPr>
            <p:ph idx="1"/>
          </p:nvPr>
        </p:nvSpPr>
        <p:spPr>
          <a:xfrm>
            <a:off x="611560" y="1556792"/>
            <a:ext cx="7920880" cy="4824536"/>
          </a:xfrm>
        </p:spPr>
        <p:txBody>
          <a:bodyPr>
            <a:normAutofit/>
          </a:bodyPr>
          <a:lstStyle/>
          <a:p>
            <a:pPr>
              <a:spcBef>
                <a:spcPts val="600"/>
              </a:spcBef>
              <a:spcAft>
                <a:spcPts val="1200"/>
              </a:spcAft>
              <a:buNone/>
            </a:pPr>
            <a:r>
              <a:rPr lang="en-AU" sz="2200" b="1" dirty="0" smtClean="0">
                <a:latin typeface="Helvetica" pitchFamily="34" charset="0"/>
              </a:rPr>
              <a:t>Ways to identify training needs</a:t>
            </a:r>
            <a:endParaRPr lang="en-AU" sz="2200" dirty="0" smtClean="0">
              <a:latin typeface="Helvetica" pitchFamily="34" charset="0"/>
            </a:endParaRPr>
          </a:p>
          <a:p>
            <a:pPr lvl="0">
              <a:spcBef>
                <a:spcPts val="600"/>
              </a:spcBef>
              <a:spcAft>
                <a:spcPts val="1200"/>
              </a:spcAft>
            </a:pPr>
            <a:r>
              <a:rPr lang="en-AU" sz="2200" dirty="0" smtClean="0">
                <a:latin typeface="Helvetica" pitchFamily="34" charset="0"/>
              </a:rPr>
              <a:t>Difficulty Analysis</a:t>
            </a:r>
          </a:p>
          <a:p>
            <a:pPr lvl="0">
              <a:spcBef>
                <a:spcPts val="600"/>
              </a:spcBef>
              <a:spcAft>
                <a:spcPts val="1200"/>
              </a:spcAft>
            </a:pPr>
            <a:r>
              <a:rPr lang="en-AU" sz="2200" dirty="0" smtClean="0">
                <a:latin typeface="Helvetica" pitchFamily="34" charset="0"/>
              </a:rPr>
              <a:t>Problem Solving Conferences</a:t>
            </a:r>
          </a:p>
          <a:p>
            <a:pPr lvl="0">
              <a:spcBef>
                <a:spcPts val="600"/>
              </a:spcBef>
              <a:spcAft>
                <a:spcPts val="1200"/>
              </a:spcAft>
            </a:pPr>
            <a:r>
              <a:rPr lang="en-AU" sz="2200" dirty="0" smtClean="0">
                <a:latin typeface="Helvetica" pitchFamily="34" charset="0"/>
              </a:rPr>
              <a:t>Appraisal Reviews</a:t>
            </a:r>
          </a:p>
          <a:p>
            <a:pPr>
              <a:spcBef>
                <a:spcPts val="600"/>
              </a:spcBef>
              <a:spcAft>
                <a:spcPts val="1200"/>
              </a:spcAft>
            </a:pPr>
            <a:r>
              <a:rPr lang="en-AU" sz="2200" dirty="0" smtClean="0">
                <a:latin typeface="Helvetica" pitchFamily="34" charset="0"/>
              </a:rPr>
              <a:t>Organisational Policy</a:t>
            </a: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sz="1100" dirty="0" smtClean="0">
                <a:latin typeface="Helvetica" pitchFamily="34" charset="0"/>
              </a:rPr>
              <a:t>Slide </a:t>
            </a:r>
            <a:fld id="{90BDF71C-F485-43AE-8825-5070AF1EA8C9}" type="slidenum">
              <a:rPr lang="en-US" sz="1100" smtClean="0">
                <a:latin typeface="Helvetica" pitchFamily="34" charset="0"/>
              </a:rPr>
              <a:pPr/>
              <a:t>12</a:t>
            </a:fld>
            <a:endParaRPr lang="en-US" sz="1100" dirty="0">
              <a:latin typeface="Helvetica" pitchFamily="34" charset="0"/>
            </a:endParaRPr>
          </a:p>
        </p:txBody>
      </p:sp>
      <p:pic>
        <p:nvPicPr>
          <p:cNvPr id="5" name="Picture 4" descr="MP900439486[1].JPG"/>
          <p:cNvPicPr/>
          <p:nvPr/>
        </p:nvPicPr>
        <p:blipFill>
          <a:blip r:embed="rId3" cstate="print"/>
          <a:stretch>
            <a:fillRect/>
          </a:stretch>
        </p:blipFill>
        <p:spPr>
          <a:xfrm>
            <a:off x="5429256" y="2428868"/>
            <a:ext cx="2183681" cy="1599803"/>
          </a:xfrm>
          <a:prstGeom prst="rect">
            <a:avLst/>
          </a:prstGeom>
        </p:spPr>
      </p:pic>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848872" cy="1143000"/>
          </a:xfrm>
        </p:spPr>
        <p:txBody>
          <a:bodyPr>
            <a:normAutofit/>
          </a:bodyPr>
          <a:lstStyle/>
          <a:p>
            <a:pPr marL="0"/>
            <a:r>
              <a:rPr lang="en-US" sz="3400" b="1" dirty="0" smtClean="0">
                <a:solidFill>
                  <a:srgbClr val="FF6600"/>
                </a:solidFill>
                <a:latin typeface="Helvetica" pitchFamily="34" charset="0"/>
              </a:rPr>
              <a:t>Verify training needs</a:t>
            </a:r>
          </a:p>
        </p:txBody>
      </p:sp>
      <p:sp>
        <p:nvSpPr>
          <p:cNvPr id="3" name="Content Placeholder 2"/>
          <p:cNvSpPr>
            <a:spLocks noGrp="1"/>
          </p:cNvSpPr>
          <p:nvPr>
            <p:ph idx="1"/>
          </p:nvPr>
        </p:nvSpPr>
        <p:spPr>
          <a:xfrm>
            <a:off x="611560" y="1556792"/>
            <a:ext cx="7920880" cy="4824536"/>
          </a:xfrm>
        </p:spPr>
        <p:txBody>
          <a:bodyPr>
            <a:normAutofit/>
          </a:bodyPr>
          <a:lstStyle/>
          <a:p>
            <a:pPr marL="0">
              <a:spcBef>
                <a:spcPts val="600"/>
              </a:spcBef>
              <a:spcAft>
                <a:spcPts val="1200"/>
              </a:spcAft>
              <a:buNone/>
            </a:pPr>
            <a:r>
              <a:rPr lang="en-AU" sz="2200" b="1" dirty="0" smtClean="0">
                <a:latin typeface="Helvetica" pitchFamily="34" charset="0"/>
              </a:rPr>
              <a:t>Ways to verify identified training needs</a:t>
            </a:r>
          </a:p>
          <a:p>
            <a:pPr lvl="0">
              <a:spcBef>
                <a:spcPts val="600"/>
              </a:spcBef>
              <a:spcAft>
                <a:spcPts val="1200"/>
              </a:spcAft>
            </a:pPr>
            <a:r>
              <a:rPr lang="en-AU" sz="2200" dirty="0" smtClean="0">
                <a:latin typeface="Helvetica" pitchFamily="34" charset="0"/>
              </a:rPr>
              <a:t>Reviewing the results of training needs analyses</a:t>
            </a:r>
          </a:p>
          <a:p>
            <a:pPr lvl="0">
              <a:spcBef>
                <a:spcPts val="600"/>
              </a:spcBef>
              <a:spcAft>
                <a:spcPts val="1200"/>
              </a:spcAft>
            </a:pPr>
            <a:r>
              <a:rPr lang="en-AU" sz="2200" dirty="0" smtClean="0">
                <a:latin typeface="Helvetica" pitchFamily="34" charset="0"/>
              </a:rPr>
              <a:t>Reviewing individual input, including requests for </a:t>
            </a:r>
            <a:br>
              <a:rPr lang="en-AU" sz="2200" dirty="0" smtClean="0">
                <a:latin typeface="Helvetica" pitchFamily="34" charset="0"/>
              </a:rPr>
            </a:br>
            <a:r>
              <a:rPr lang="en-AU" sz="2200" dirty="0" smtClean="0">
                <a:latin typeface="Helvetica" pitchFamily="34" charset="0"/>
              </a:rPr>
              <a:t>training, from staff, co-workers, customers, </a:t>
            </a:r>
            <a:br>
              <a:rPr lang="en-AU" sz="2200" dirty="0" smtClean="0">
                <a:latin typeface="Helvetica" pitchFamily="34" charset="0"/>
              </a:rPr>
            </a:br>
            <a:r>
              <a:rPr lang="en-AU" sz="2200" dirty="0" smtClean="0">
                <a:latin typeface="Helvetica" pitchFamily="34" charset="0"/>
              </a:rPr>
              <a:t>supervisors, managers and other relevant personnel</a:t>
            </a:r>
          </a:p>
          <a:p>
            <a:pPr lvl="0">
              <a:spcBef>
                <a:spcPts val="600"/>
              </a:spcBef>
              <a:spcAft>
                <a:spcPts val="1200"/>
              </a:spcAft>
            </a:pPr>
            <a:r>
              <a:rPr lang="en-AU" sz="2200" dirty="0" smtClean="0">
                <a:latin typeface="Helvetica" pitchFamily="34" charset="0"/>
              </a:rPr>
              <a:t>Reviewing business plans, directions and objectives</a:t>
            </a:r>
          </a:p>
        </p:txBody>
      </p:sp>
      <p:sp>
        <p:nvSpPr>
          <p:cNvPr id="4" name="Slide Number Placeholder 3"/>
          <p:cNvSpPr>
            <a:spLocks noGrp="1"/>
          </p:cNvSpPr>
          <p:nvPr>
            <p:ph type="sldNum" sz="quarter" idx="12"/>
          </p:nvPr>
        </p:nvSpPr>
        <p:spPr/>
        <p:txBody>
          <a:bodyPr/>
          <a:lstStyle/>
          <a:p>
            <a:r>
              <a:rPr lang="en-US" dirty="0" smtClean="0"/>
              <a:t> </a:t>
            </a:r>
            <a:r>
              <a:rPr lang="en-US" sz="1100" dirty="0" smtClean="0">
                <a:latin typeface="Helvetica" pitchFamily="34" charset="0"/>
              </a:rPr>
              <a:t>Slide </a:t>
            </a:r>
            <a:fld id="{90BDF71C-F485-43AE-8825-5070AF1EA8C9}" type="slidenum">
              <a:rPr lang="en-US" sz="1100" smtClean="0">
                <a:latin typeface="Helvetica" pitchFamily="34" charset="0"/>
              </a:rPr>
              <a:pPr/>
              <a:t>13</a:t>
            </a:fld>
            <a:endParaRPr lang="en-US" sz="1100" dirty="0">
              <a:latin typeface="Helvetica" pitchFamily="34" charset="0"/>
            </a:endParaRPr>
          </a:p>
        </p:txBody>
      </p:sp>
      <p:pic>
        <p:nvPicPr>
          <p:cNvPr id="7" name="Picture 6" descr="MP900448464.JPG"/>
          <p:cNvPicPr>
            <a:picLocks noChangeAspect="1"/>
          </p:cNvPicPr>
          <p:nvPr/>
        </p:nvPicPr>
        <p:blipFill>
          <a:blip r:embed="rId3" cstate="print"/>
          <a:stretch>
            <a:fillRect/>
          </a:stretch>
        </p:blipFill>
        <p:spPr>
          <a:xfrm>
            <a:off x="7429520" y="1428736"/>
            <a:ext cx="1087387" cy="1631080"/>
          </a:xfrm>
          <a:prstGeom prst="rect">
            <a:avLst/>
          </a:prstGeom>
        </p:spPr>
      </p:pic>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848872" cy="1143000"/>
          </a:xfrm>
        </p:spPr>
        <p:txBody>
          <a:bodyPr>
            <a:normAutofit/>
          </a:bodyPr>
          <a:lstStyle/>
          <a:p>
            <a:pPr marL="0"/>
            <a:r>
              <a:rPr lang="en-US" sz="3400" b="1" dirty="0" smtClean="0">
                <a:solidFill>
                  <a:srgbClr val="FF6600"/>
                </a:solidFill>
                <a:latin typeface="Helvetica" pitchFamily="34" charset="0"/>
              </a:rPr>
              <a:t>Verify training needs</a:t>
            </a:r>
          </a:p>
        </p:txBody>
      </p:sp>
      <p:sp>
        <p:nvSpPr>
          <p:cNvPr id="3" name="Content Placeholder 2"/>
          <p:cNvSpPr>
            <a:spLocks noGrp="1"/>
          </p:cNvSpPr>
          <p:nvPr>
            <p:ph idx="1"/>
          </p:nvPr>
        </p:nvSpPr>
        <p:spPr>
          <a:xfrm>
            <a:off x="611560" y="1556792"/>
            <a:ext cx="7920880" cy="4824536"/>
          </a:xfrm>
        </p:spPr>
        <p:txBody>
          <a:bodyPr>
            <a:normAutofit/>
          </a:bodyPr>
          <a:lstStyle/>
          <a:p>
            <a:pPr marL="0">
              <a:spcBef>
                <a:spcPts val="600"/>
              </a:spcBef>
              <a:spcAft>
                <a:spcPts val="1200"/>
              </a:spcAft>
              <a:buNone/>
            </a:pPr>
            <a:r>
              <a:rPr lang="en-AU" sz="2200" b="1" dirty="0" smtClean="0">
                <a:latin typeface="Helvetica" pitchFamily="34" charset="0"/>
              </a:rPr>
              <a:t>Ways to verify identified training needs</a:t>
            </a:r>
          </a:p>
          <a:p>
            <a:pPr lvl="0">
              <a:spcBef>
                <a:spcPts val="600"/>
              </a:spcBef>
              <a:spcAft>
                <a:spcPts val="1200"/>
              </a:spcAft>
            </a:pPr>
            <a:r>
              <a:rPr lang="en-AU" sz="2200" dirty="0" smtClean="0">
                <a:latin typeface="Helvetica" pitchFamily="34" charset="0"/>
              </a:rPr>
              <a:t>Reviewing existing qualifications, certificates, licenses, etc held by staff</a:t>
            </a:r>
          </a:p>
          <a:p>
            <a:pPr lvl="0">
              <a:spcBef>
                <a:spcPts val="600"/>
              </a:spcBef>
              <a:spcAft>
                <a:spcPts val="1200"/>
              </a:spcAft>
            </a:pPr>
            <a:r>
              <a:rPr lang="en-AU" sz="2200" dirty="0" smtClean="0">
                <a:latin typeface="Helvetica" pitchFamily="34" charset="0"/>
              </a:rPr>
              <a:t>Reviewing changed workplace conditions </a:t>
            </a:r>
            <a:br>
              <a:rPr lang="en-AU" sz="2200" dirty="0" smtClean="0">
                <a:latin typeface="Helvetica" pitchFamily="34" charset="0"/>
              </a:rPr>
            </a:br>
            <a:r>
              <a:rPr lang="en-AU" sz="2200" dirty="0" smtClean="0">
                <a:latin typeface="Helvetica" pitchFamily="34" charset="0"/>
              </a:rPr>
              <a:t>necessitating staff training, including changes </a:t>
            </a:r>
            <a:br>
              <a:rPr lang="en-AU" sz="2200" dirty="0" smtClean="0">
                <a:latin typeface="Helvetica" pitchFamily="34" charset="0"/>
              </a:rPr>
            </a:br>
            <a:r>
              <a:rPr lang="en-AU" sz="2200" dirty="0" smtClean="0">
                <a:latin typeface="Helvetica" pitchFamily="34" charset="0"/>
              </a:rPr>
              <a:t>to equipment, procedures, legislation, layout, </a:t>
            </a:r>
            <a:br>
              <a:rPr lang="en-AU" sz="2200" dirty="0" smtClean="0">
                <a:latin typeface="Helvetica" pitchFamily="34" charset="0"/>
              </a:rPr>
            </a:br>
            <a:r>
              <a:rPr lang="en-AU" sz="2200" dirty="0" smtClean="0">
                <a:latin typeface="Helvetica" pitchFamily="34" charset="0"/>
              </a:rPr>
              <a:t>customer preferences etc</a:t>
            </a:r>
          </a:p>
          <a:p>
            <a:pPr lvl="0">
              <a:spcBef>
                <a:spcPts val="600"/>
              </a:spcBef>
              <a:spcAft>
                <a:spcPts val="1200"/>
              </a:spcAft>
            </a:pPr>
            <a:r>
              <a:rPr lang="en-AU" sz="2200" dirty="0" smtClean="0">
                <a:latin typeface="Helvetica" pitchFamily="34" charset="0"/>
              </a:rPr>
              <a:t>Clarifying training requirements by site, department, individual worker, workplace teams</a:t>
            </a: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sz="1100" dirty="0" smtClean="0">
                <a:latin typeface="Helvetica" pitchFamily="34" charset="0"/>
              </a:rPr>
              <a:t>Slide </a:t>
            </a:r>
            <a:fld id="{90BDF71C-F485-43AE-8825-5070AF1EA8C9}" type="slidenum">
              <a:rPr lang="en-US" sz="1100" smtClean="0">
                <a:latin typeface="Helvetica" pitchFamily="34" charset="0"/>
              </a:rPr>
              <a:pPr/>
              <a:t>14</a:t>
            </a:fld>
            <a:endParaRPr lang="en-US" sz="1100" dirty="0">
              <a:latin typeface="Helvetica" pitchFamily="34" charset="0"/>
            </a:endParaRPr>
          </a:p>
        </p:txBody>
      </p:sp>
      <p:pic>
        <p:nvPicPr>
          <p:cNvPr id="4098" name="Picture 2" descr="C:\Documents and Settings\danielc\Desktop\Certificates\Sample Diploma.jpg"/>
          <p:cNvPicPr>
            <a:picLocks noChangeAspect="1" noChangeArrowheads="1"/>
          </p:cNvPicPr>
          <p:nvPr/>
        </p:nvPicPr>
        <p:blipFill>
          <a:blip r:embed="rId3" cstate="print"/>
          <a:srcRect/>
          <a:stretch>
            <a:fillRect/>
          </a:stretch>
        </p:blipFill>
        <p:spPr bwMode="auto">
          <a:xfrm>
            <a:off x="7072330" y="2643182"/>
            <a:ext cx="1363707" cy="1928826"/>
          </a:xfrm>
          <a:prstGeom prst="rect">
            <a:avLst/>
          </a:prstGeom>
          <a:noFill/>
        </p:spPr>
      </p:pic>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848872" cy="1143000"/>
          </a:xfrm>
        </p:spPr>
        <p:txBody>
          <a:bodyPr>
            <a:normAutofit/>
          </a:bodyPr>
          <a:lstStyle/>
          <a:p>
            <a:pPr marL="0"/>
            <a:r>
              <a:rPr lang="en-US" sz="3400" b="1" dirty="0" smtClean="0">
                <a:solidFill>
                  <a:srgbClr val="FF6600"/>
                </a:solidFill>
                <a:latin typeface="Helvetica" pitchFamily="34" charset="0"/>
              </a:rPr>
              <a:t>Verify training needs</a:t>
            </a:r>
          </a:p>
        </p:txBody>
      </p:sp>
      <p:sp>
        <p:nvSpPr>
          <p:cNvPr id="3" name="Content Placeholder 2"/>
          <p:cNvSpPr>
            <a:spLocks noGrp="1"/>
          </p:cNvSpPr>
          <p:nvPr>
            <p:ph idx="1"/>
          </p:nvPr>
        </p:nvSpPr>
        <p:spPr>
          <a:xfrm>
            <a:off x="611560" y="1556792"/>
            <a:ext cx="7920880" cy="4824536"/>
          </a:xfrm>
        </p:spPr>
        <p:txBody>
          <a:bodyPr>
            <a:normAutofit/>
          </a:bodyPr>
          <a:lstStyle/>
          <a:p>
            <a:pPr marL="0">
              <a:spcBef>
                <a:spcPts val="600"/>
              </a:spcBef>
              <a:spcAft>
                <a:spcPts val="1200"/>
              </a:spcAft>
              <a:buNone/>
            </a:pPr>
            <a:r>
              <a:rPr lang="en-AU" sz="2200" b="1" dirty="0" smtClean="0">
                <a:latin typeface="Helvetica" pitchFamily="34" charset="0"/>
              </a:rPr>
              <a:t>Confirm the identified needs with relevant personnel </a:t>
            </a:r>
          </a:p>
          <a:p>
            <a:pPr marL="0">
              <a:spcBef>
                <a:spcPts val="600"/>
              </a:spcBef>
              <a:spcAft>
                <a:spcPts val="1200"/>
              </a:spcAft>
              <a:buNone/>
            </a:pPr>
            <a:r>
              <a:rPr lang="en-AU" sz="2200" dirty="0" smtClean="0">
                <a:latin typeface="Helvetica" pitchFamily="34" charset="0"/>
              </a:rPr>
              <a:t>Once the training needs have been identified it is important that they are approved with the relevant personnel:</a:t>
            </a:r>
          </a:p>
          <a:p>
            <a:pPr marL="0">
              <a:spcBef>
                <a:spcPts val="600"/>
              </a:spcBef>
              <a:spcAft>
                <a:spcPts val="1200"/>
              </a:spcAft>
            </a:pPr>
            <a:r>
              <a:rPr lang="en-AU" sz="2200" dirty="0" smtClean="0">
                <a:latin typeface="Helvetica" pitchFamily="34" charset="0"/>
              </a:rPr>
              <a:t>Who are the relevant personnel and why?</a:t>
            </a: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sz="1100" dirty="0" smtClean="0">
                <a:latin typeface="Helvetica" pitchFamily="34" charset="0"/>
              </a:rPr>
              <a:t>Slide </a:t>
            </a:r>
            <a:fld id="{90BDF71C-F485-43AE-8825-5070AF1EA8C9}" type="slidenum">
              <a:rPr lang="en-US" sz="1100" smtClean="0">
                <a:latin typeface="Helvetica" pitchFamily="34" charset="0"/>
              </a:rPr>
              <a:pPr/>
              <a:t>15</a:t>
            </a:fld>
            <a:endParaRPr lang="en-US" sz="1100" dirty="0">
              <a:latin typeface="Helvetica" pitchFamily="34" charset="0"/>
            </a:endParaRPr>
          </a:p>
        </p:txBody>
      </p:sp>
      <p:pic>
        <p:nvPicPr>
          <p:cNvPr id="6" name="Picture 5" descr="00385537.jpg"/>
          <p:cNvPicPr>
            <a:picLocks noChangeAspect="1"/>
          </p:cNvPicPr>
          <p:nvPr/>
        </p:nvPicPr>
        <p:blipFill>
          <a:blip r:embed="rId3" cstate="print"/>
          <a:stretch>
            <a:fillRect/>
          </a:stretch>
        </p:blipFill>
        <p:spPr>
          <a:xfrm>
            <a:off x="7000892" y="3143248"/>
            <a:ext cx="1275679" cy="1785950"/>
          </a:xfrm>
          <a:prstGeom prst="rect">
            <a:avLst/>
          </a:prstGeom>
        </p:spPr>
      </p:pic>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848872" cy="1143000"/>
          </a:xfrm>
        </p:spPr>
        <p:txBody>
          <a:bodyPr>
            <a:normAutofit/>
          </a:bodyPr>
          <a:lstStyle/>
          <a:p>
            <a:pPr marL="0"/>
            <a:r>
              <a:rPr lang="en-US" sz="3400" b="1" dirty="0" smtClean="0">
                <a:solidFill>
                  <a:srgbClr val="FF6600"/>
                </a:solidFill>
                <a:latin typeface="Helvetica" pitchFamily="34" charset="0"/>
              </a:rPr>
              <a:t>Verify training needs</a:t>
            </a:r>
          </a:p>
        </p:txBody>
      </p:sp>
      <p:sp>
        <p:nvSpPr>
          <p:cNvPr id="3" name="Content Placeholder 2"/>
          <p:cNvSpPr>
            <a:spLocks noGrp="1"/>
          </p:cNvSpPr>
          <p:nvPr>
            <p:ph idx="1"/>
          </p:nvPr>
        </p:nvSpPr>
        <p:spPr>
          <a:xfrm>
            <a:off x="611560" y="1556792"/>
            <a:ext cx="7920880" cy="4824536"/>
          </a:xfrm>
        </p:spPr>
        <p:txBody>
          <a:bodyPr>
            <a:normAutofit/>
          </a:bodyPr>
          <a:lstStyle/>
          <a:p>
            <a:pPr>
              <a:spcBef>
                <a:spcPts val="600"/>
              </a:spcBef>
              <a:spcAft>
                <a:spcPts val="1200"/>
              </a:spcAft>
              <a:buNone/>
            </a:pPr>
            <a:r>
              <a:rPr lang="en-AU" sz="2200" b="1" dirty="0" smtClean="0">
                <a:latin typeface="Helvetica" pitchFamily="34" charset="0"/>
              </a:rPr>
              <a:t>Relevant personnel</a:t>
            </a:r>
          </a:p>
          <a:p>
            <a:pPr>
              <a:spcBef>
                <a:spcPts val="600"/>
              </a:spcBef>
              <a:spcAft>
                <a:spcPts val="1200"/>
              </a:spcAft>
              <a:buNone/>
            </a:pPr>
            <a:r>
              <a:rPr lang="en-AU" sz="2200" dirty="0" smtClean="0">
                <a:latin typeface="Helvetica" pitchFamily="34" charset="0"/>
              </a:rPr>
              <a:t>The role of training normally falls under:</a:t>
            </a:r>
          </a:p>
          <a:p>
            <a:pPr>
              <a:spcBef>
                <a:spcPts val="600"/>
              </a:spcBef>
              <a:spcAft>
                <a:spcPts val="1200"/>
              </a:spcAft>
            </a:pPr>
            <a:r>
              <a:rPr lang="en-AU" sz="2200" dirty="0" smtClean="0">
                <a:latin typeface="Helvetica" pitchFamily="34" charset="0"/>
              </a:rPr>
              <a:t>A specific training department </a:t>
            </a:r>
          </a:p>
          <a:p>
            <a:pPr>
              <a:spcBef>
                <a:spcPts val="600"/>
              </a:spcBef>
              <a:spcAft>
                <a:spcPts val="1200"/>
              </a:spcAft>
            </a:pPr>
            <a:r>
              <a:rPr lang="en-AU" sz="2200" dirty="0" smtClean="0">
                <a:latin typeface="Helvetica" pitchFamily="34" charset="0"/>
              </a:rPr>
              <a:t>Or within the domain of Human Resources</a:t>
            </a:r>
          </a:p>
          <a:p>
            <a:pPr marL="0">
              <a:spcBef>
                <a:spcPts val="600"/>
              </a:spcBef>
              <a:spcAft>
                <a:spcPts val="1200"/>
              </a:spcAft>
              <a:buNone/>
            </a:pPr>
            <a:r>
              <a:rPr lang="en-AU" sz="2200" dirty="0" smtClean="0">
                <a:latin typeface="Helvetica" pitchFamily="34" charset="0"/>
              </a:rPr>
              <a:t>This department is designed to support operational departments (such as Food and Beverage, Front Office and Housekeeping) achieve their goals.</a:t>
            </a: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sz="1100" dirty="0" smtClean="0">
                <a:latin typeface="Helvetica" pitchFamily="34" charset="0"/>
              </a:rPr>
              <a:t>Slide </a:t>
            </a:r>
            <a:fld id="{90BDF71C-F485-43AE-8825-5070AF1EA8C9}" type="slidenum">
              <a:rPr lang="en-US" sz="1100" smtClean="0">
                <a:latin typeface="Helvetica" pitchFamily="34" charset="0"/>
              </a:rPr>
              <a:pPr/>
              <a:t>16</a:t>
            </a:fld>
            <a:endParaRPr lang="en-US" sz="1100" dirty="0">
              <a:latin typeface="Helvetica" pitchFamily="34" charset="0"/>
            </a:endParaRPr>
          </a:p>
        </p:txBody>
      </p:sp>
      <p:pic>
        <p:nvPicPr>
          <p:cNvPr id="7" name="Picture 6" descr="00341396.jpg"/>
          <p:cNvPicPr>
            <a:picLocks noChangeAspect="1"/>
          </p:cNvPicPr>
          <p:nvPr/>
        </p:nvPicPr>
        <p:blipFill>
          <a:blip r:embed="rId3" cstate="print"/>
          <a:stretch>
            <a:fillRect/>
          </a:stretch>
        </p:blipFill>
        <p:spPr>
          <a:xfrm>
            <a:off x="6804248" y="1700808"/>
            <a:ext cx="1305357" cy="1829940"/>
          </a:xfrm>
          <a:prstGeom prst="rect">
            <a:avLst/>
          </a:prstGeom>
        </p:spPr>
      </p:pic>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848872" cy="1143000"/>
          </a:xfrm>
        </p:spPr>
        <p:txBody>
          <a:bodyPr>
            <a:normAutofit/>
          </a:bodyPr>
          <a:lstStyle/>
          <a:p>
            <a:pPr marL="0"/>
            <a:r>
              <a:rPr lang="en-US" sz="3400" b="1" dirty="0" smtClean="0">
                <a:solidFill>
                  <a:srgbClr val="FF6600"/>
                </a:solidFill>
                <a:latin typeface="Helvetica" pitchFamily="34" charset="0"/>
              </a:rPr>
              <a:t>Verify training needs</a:t>
            </a:r>
          </a:p>
        </p:txBody>
      </p:sp>
      <p:sp>
        <p:nvSpPr>
          <p:cNvPr id="3" name="Content Placeholder 2"/>
          <p:cNvSpPr>
            <a:spLocks noGrp="1"/>
          </p:cNvSpPr>
          <p:nvPr>
            <p:ph idx="1"/>
          </p:nvPr>
        </p:nvSpPr>
        <p:spPr>
          <a:xfrm>
            <a:off x="611560" y="1556792"/>
            <a:ext cx="7920880" cy="4824536"/>
          </a:xfrm>
        </p:spPr>
        <p:txBody>
          <a:bodyPr>
            <a:normAutofit/>
          </a:bodyPr>
          <a:lstStyle/>
          <a:p>
            <a:pPr>
              <a:spcBef>
                <a:spcPts val="600"/>
              </a:spcBef>
              <a:spcAft>
                <a:spcPts val="1200"/>
              </a:spcAft>
              <a:buNone/>
            </a:pPr>
            <a:r>
              <a:rPr lang="en-AU" sz="2200" b="1" dirty="0" smtClean="0">
                <a:latin typeface="Helvetica" pitchFamily="34" charset="0"/>
              </a:rPr>
              <a:t>Human Resources</a:t>
            </a:r>
            <a:endParaRPr lang="en-AU" sz="2200" dirty="0" smtClean="0">
              <a:latin typeface="Helvetica" pitchFamily="34" charset="0"/>
            </a:endParaRPr>
          </a:p>
          <a:p>
            <a:pPr marL="0">
              <a:spcBef>
                <a:spcPts val="600"/>
              </a:spcBef>
              <a:spcAft>
                <a:spcPts val="1200"/>
              </a:spcAft>
              <a:buNone/>
            </a:pPr>
            <a:r>
              <a:rPr lang="en-AU" sz="2200" dirty="0" smtClean="0">
                <a:latin typeface="Helvetica" pitchFamily="34" charset="0"/>
              </a:rPr>
              <a:t>The Human  Resources department themselves will have a limited amount of resources, therefore training programs must be prioritised in terms of:</a:t>
            </a:r>
          </a:p>
          <a:p>
            <a:pPr lvl="0">
              <a:spcBef>
                <a:spcPts val="600"/>
              </a:spcBef>
              <a:spcAft>
                <a:spcPts val="1200"/>
              </a:spcAft>
            </a:pPr>
            <a:r>
              <a:rPr lang="en-AU" sz="2200" dirty="0" smtClean="0">
                <a:latin typeface="Helvetica" pitchFamily="34" charset="0"/>
              </a:rPr>
              <a:t>Training budget</a:t>
            </a:r>
          </a:p>
          <a:p>
            <a:pPr lvl="0">
              <a:spcBef>
                <a:spcPts val="600"/>
              </a:spcBef>
              <a:spcAft>
                <a:spcPts val="1200"/>
              </a:spcAft>
            </a:pPr>
            <a:r>
              <a:rPr lang="en-AU" sz="2200" dirty="0" smtClean="0">
                <a:latin typeface="Helvetica" pitchFamily="34" charset="0"/>
              </a:rPr>
              <a:t>Priority of training programs</a:t>
            </a:r>
          </a:p>
          <a:p>
            <a:pPr lvl="0">
              <a:spcBef>
                <a:spcPts val="600"/>
              </a:spcBef>
              <a:spcAft>
                <a:spcPts val="1200"/>
              </a:spcAft>
            </a:pPr>
            <a:r>
              <a:rPr lang="en-AU" sz="2200" dirty="0" smtClean="0">
                <a:latin typeface="Helvetica" pitchFamily="34" charset="0"/>
              </a:rPr>
              <a:t>Training staff</a:t>
            </a:r>
          </a:p>
          <a:p>
            <a:pPr lvl="0">
              <a:spcBef>
                <a:spcPts val="600"/>
              </a:spcBef>
              <a:spcAft>
                <a:spcPts val="1200"/>
              </a:spcAft>
            </a:pPr>
            <a:r>
              <a:rPr lang="en-AU" sz="2200" dirty="0" smtClean="0">
                <a:latin typeface="Helvetica" pitchFamily="34" charset="0"/>
              </a:rPr>
              <a:t>Availability of training rooms and resources</a:t>
            </a: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sz="1100" dirty="0" smtClean="0">
                <a:latin typeface="Helvetica" pitchFamily="34" charset="0"/>
              </a:rPr>
              <a:t>Slide </a:t>
            </a:r>
            <a:fld id="{90BDF71C-F485-43AE-8825-5070AF1EA8C9}" type="slidenum">
              <a:rPr lang="en-US" sz="1100" smtClean="0">
                <a:latin typeface="Helvetica" pitchFamily="34" charset="0"/>
              </a:rPr>
              <a:pPr/>
              <a:t>17</a:t>
            </a:fld>
            <a:endParaRPr lang="en-US" sz="1100" dirty="0">
              <a:latin typeface="Helvetica" pitchFamily="34" charset="0"/>
            </a:endParaRPr>
          </a:p>
        </p:txBody>
      </p:sp>
      <p:pic>
        <p:nvPicPr>
          <p:cNvPr id="6" name="Picture 5" descr="MC900438736.JPG"/>
          <p:cNvPicPr/>
          <p:nvPr/>
        </p:nvPicPr>
        <p:blipFill>
          <a:blip r:embed="rId3" cstate="print"/>
          <a:stretch>
            <a:fillRect/>
          </a:stretch>
        </p:blipFill>
        <p:spPr>
          <a:xfrm>
            <a:off x="6429388" y="3214686"/>
            <a:ext cx="1833564" cy="1369780"/>
          </a:xfrm>
          <a:prstGeom prst="rect">
            <a:avLst/>
          </a:prstGeom>
        </p:spPr>
      </p:pic>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848872" cy="1143000"/>
          </a:xfrm>
        </p:spPr>
        <p:txBody>
          <a:bodyPr>
            <a:normAutofit/>
          </a:bodyPr>
          <a:lstStyle/>
          <a:p>
            <a:pPr marL="0"/>
            <a:r>
              <a:rPr lang="en-US" sz="3400" b="1" dirty="0" smtClean="0">
                <a:solidFill>
                  <a:srgbClr val="FF6600"/>
                </a:solidFill>
                <a:latin typeface="Helvetica" pitchFamily="34" charset="0"/>
              </a:rPr>
              <a:t>Verify training needs</a:t>
            </a:r>
          </a:p>
        </p:txBody>
      </p:sp>
      <p:sp>
        <p:nvSpPr>
          <p:cNvPr id="3" name="Content Placeholder 2"/>
          <p:cNvSpPr>
            <a:spLocks noGrp="1"/>
          </p:cNvSpPr>
          <p:nvPr>
            <p:ph idx="1"/>
          </p:nvPr>
        </p:nvSpPr>
        <p:spPr>
          <a:xfrm>
            <a:off x="611560" y="1412776"/>
            <a:ext cx="7920880" cy="4968552"/>
          </a:xfrm>
        </p:spPr>
        <p:txBody>
          <a:bodyPr>
            <a:normAutofit/>
          </a:bodyPr>
          <a:lstStyle/>
          <a:p>
            <a:pPr>
              <a:spcBef>
                <a:spcPts val="600"/>
              </a:spcBef>
              <a:spcAft>
                <a:spcPts val="1200"/>
              </a:spcAft>
              <a:buNone/>
            </a:pPr>
            <a:r>
              <a:rPr lang="en-AU" sz="2200" b="1" dirty="0" smtClean="0">
                <a:latin typeface="Helvetica" pitchFamily="34" charset="0"/>
              </a:rPr>
              <a:t>Operational Managers</a:t>
            </a:r>
            <a:endParaRPr lang="en-AU" sz="2200" dirty="0" smtClean="0">
              <a:latin typeface="Helvetica" pitchFamily="34" charset="0"/>
            </a:endParaRPr>
          </a:p>
          <a:p>
            <a:pPr marL="0">
              <a:spcBef>
                <a:spcPts val="600"/>
              </a:spcBef>
              <a:spcAft>
                <a:spcPts val="1200"/>
              </a:spcAft>
              <a:buNone/>
            </a:pPr>
            <a:r>
              <a:rPr lang="en-AU" sz="2200" dirty="0" smtClean="0">
                <a:latin typeface="Helvetica" pitchFamily="34" charset="0"/>
              </a:rPr>
              <a:t>Whilst training may be the responsibility of the training department to organise, prepare or conduct, the objectives of the programs and training delivered must reflect the expectations of the operational departments.</a:t>
            </a:r>
          </a:p>
        </p:txBody>
      </p:sp>
      <p:sp>
        <p:nvSpPr>
          <p:cNvPr id="4" name="Slide Number Placeholder 3"/>
          <p:cNvSpPr>
            <a:spLocks noGrp="1"/>
          </p:cNvSpPr>
          <p:nvPr>
            <p:ph type="sldNum" sz="quarter" idx="12"/>
          </p:nvPr>
        </p:nvSpPr>
        <p:spPr/>
        <p:txBody>
          <a:bodyPr/>
          <a:lstStyle/>
          <a:p>
            <a:r>
              <a:rPr lang="en-US" dirty="0" smtClean="0"/>
              <a:t> </a:t>
            </a:r>
            <a:r>
              <a:rPr lang="en-US" sz="1100" dirty="0" smtClean="0">
                <a:latin typeface="Helvetica" pitchFamily="34" charset="0"/>
              </a:rPr>
              <a:t>Slide </a:t>
            </a:r>
            <a:fld id="{90BDF71C-F485-43AE-8825-5070AF1EA8C9}" type="slidenum">
              <a:rPr lang="en-US" sz="1100" smtClean="0">
                <a:latin typeface="Helvetica" pitchFamily="34" charset="0"/>
              </a:rPr>
              <a:pPr/>
              <a:t>18</a:t>
            </a:fld>
            <a:endParaRPr lang="en-US" sz="1100" dirty="0">
              <a:latin typeface="Helvetica" pitchFamily="34" charset="0"/>
            </a:endParaRPr>
          </a:p>
        </p:txBody>
      </p:sp>
      <p:pic>
        <p:nvPicPr>
          <p:cNvPr id="7" name="Picture 6" descr="Culinary Academy_017.jpg"/>
          <p:cNvPicPr/>
          <p:nvPr/>
        </p:nvPicPr>
        <p:blipFill>
          <a:blip r:embed="rId3" cstate="print"/>
          <a:stretch>
            <a:fillRect/>
          </a:stretch>
        </p:blipFill>
        <p:spPr>
          <a:xfrm>
            <a:off x="3714744" y="3857628"/>
            <a:ext cx="1534408" cy="1945382"/>
          </a:xfrm>
          <a:prstGeom prst="rect">
            <a:avLst/>
          </a:prstGeom>
        </p:spPr>
      </p:pic>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848872" cy="1143000"/>
          </a:xfrm>
        </p:spPr>
        <p:txBody>
          <a:bodyPr>
            <a:normAutofit/>
          </a:bodyPr>
          <a:lstStyle/>
          <a:p>
            <a:pPr marL="0"/>
            <a:r>
              <a:rPr lang="en-US" sz="3400" b="1" dirty="0" smtClean="0">
                <a:solidFill>
                  <a:srgbClr val="FF6600"/>
                </a:solidFill>
                <a:latin typeface="Helvetica" pitchFamily="34" charset="0"/>
              </a:rPr>
              <a:t>Prioritise training needs</a:t>
            </a:r>
          </a:p>
        </p:txBody>
      </p:sp>
      <p:sp>
        <p:nvSpPr>
          <p:cNvPr id="3" name="Content Placeholder 2"/>
          <p:cNvSpPr>
            <a:spLocks noGrp="1"/>
          </p:cNvSpPr>
          <p:nvPr>
            <p:ph idx="1"/>
          </p:nvPr>
        </p:nvSpPr>
        <p:spPr>
          <a:xfrm>
            <a:off x="611560" y="1412776"/>
            <a:ext cx="7920880" cy="4968552"/>
          </a:xfrm>
        </p:spPr>
        <p:txBody>
          <a:bodyPr>
            <a:normAutofit/>
          </a:bodyPr>
          <a:lstStyle/>
          <a:p>
            <a:pPr>
              <a:spcBef>
                <a:spcPts val="600"/>
              </a:spcBef>
              <a:spcAft>
                <a:spcPts val="1200"/>
              </a:spcAft>
              <a:buNone/>
            </a:pPr>
            <a:r>
              <a:rPr lang="en-AU" sz="2200" b="1" dirty="0" smtClean="0">
                <a:latin typeface="Helvetica" pitchFamily="34" charset="0"/>
              </a:rPr>
              <a:t>Importance of prioritisation</a:t>
            </a:r>
          </a:p>
          <a:p>
            <a:pPr>
              <a:spcBef>
                <a:spcPts val="600"/>
              </a:spcBef>
              <a:spcAft>
                <a:spcPts val="1200"/>
              </a:spcAft>
            </a:pPr>
            <a:r>
              <a:rPr lang="en-AU" sz="2200" dirty="0" smtClean="0">
                <a:latin typeface="Helvetica" pitchFamily="34" charset="0"/>
              </a:rPr>
              <a:t>Once all the training needs have been identified and confirmed it is important that the most urgent and pressing training needs are addressed first</a:t>
            </a:r>
            <a:endParaRPr lang="en-AU" sz="2200" b="1" dirty="0" smtClean="0">
              <a:latin typeface="Helvetica" pitchFamily="34" charset="0"/>
            </a:endParaRPr>
          </a:p>
          <a:p>
            <a:pPr>
              <a:spcBef>
                <a:spcPts val="600"/>
              </a:spcBef>
              <a:spcAft>
                <a:spcPts val="1200"/>
              </a:spcAft>
            </a:pPr>
            <a:r>
              <a:rPr lang="en-AU" sz="2200" dirty="0" smtClean="0">
                <a:latin typeface="Helvetica" pitchFamily="34" charset="0"/>
              </a:rPr>
              <a:t>This is the process of prioritisation</a:t>
            </a:r>
            <a:endParaRPr lang="en-AU" sz="2200" b="1" dirty="0" smtClean="0">
              <a:latin typeface="Helvetica" pitchFamily="34" charset="0"/>
            </a:endParaRPr>
          </a:p>
          <a:p>
            <a:pPr>
              <a:spcBef>
                <a:spcPts val="600"/>
              </a:spcBef>
              <a:spcAft>
                <a:spcPts val="1200"/>
              </a:spcAft>
            </a:pPr>
            <a:r>
              <a:rPr lang="en-AU" sz="2200" dirty="0" smtClean="0">
                <a:latin typeface="Helvetica" pitchFamily="34" charset="0"/>
              </a:rPr>
              <a:t>How can you determine which training needs require immediate action or importance over others</a:t>
            </a:r>
            <a:endParaRPr lang="en-AU" sz="2200" b="1"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sz="1100" dirty="0" smtClean="0">
                <a:latin typeface="Helvetica" pitchFamily="34" charset="0"/>
              </a:rPr>
              <a:t>Slide </a:t>
            </a:r>
            <a:fld id="{90BDF71C-F485-43AE-8825-5070AF1EA8C9}" type="slidenum">
              <a:rPr lang="en-US" sz="1100" smtClean="0">
                <a:latin typeface="Helvetica" pitchFamily="34" charset="0"/>
              </a:rPr>
              <a:pPr/>
              <a:t>19</a:t>
            </a:fld>
            <a:endParaRPr lang="en-US" sz="1100" dirty="0">
              <a:latin typeface="Helvetica" pitchFamily="34" charset="0"/>
            </a:endParaRPr>
          </a:p>
        </p:txBody>
      </p:sp>
      <p:pic>
        <p:nvPicPr>
          <p:cNvPr id="6" name="Picture 5" descr="MP910220909[1].JPG"/>
          <p:cNvPicPr/>
          <p:nvPr/>
        </p:nvPicPr>
        <p:blipFill>
          <a:blip r:embed="rId3" cstate="print"/>
          <a:stretch>
            <a:fillRect/>
          </a:stretch>
        </p:blipFill>
        <p:spPr>
          <a:xfrm>
            <a:off x="3786182" y="4929198"/>
            <a:ext cx="1512565" cy="1440557"/>
          </a:xfrm>
          <a:prstGeom prst="rect">
            <a:avLst/>
          </a:prstGeom>
        </p:spPr>
      </p:pic>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848872" cy="1143000"/>
          </a:xfrm>
        </p:spPr>
        <p:txBody>
          <a:bodyPr>
            <a:normAutofit/>
          </a:bodyPr>
          <a:lstStyle/>
          <a:p>
            <a:pPr marL="0"/>
            <a:r>
              <a:rPr lang="en-US" sz="3400" b="1" dirty="0" smtClean="0">
                <a:solidFill>
                  <a:srgbClr val="FF6600"/>
                </a:solidFill>
                <a:latin typeface="Helvetica" pitchFamily="34" charset="0"/>
              </a:rPr>
              <a:t>Prioritise training needs</a:t>
            </a:r>
          </a:p>
        </p:txBody>
      </p:sp>
      <p:sp>
        <p:nvSpPr>
          <p:cNvPr id="3" name="Content Placeholder 2"/>
          <p:cNvSpPr>
            <a:spLocks noGrp="1"/>
          </p:cNvSpPr>
          <p:nvPr>
            <p:ph idx="1"/>
          </p:nvPr>
        </p:nvSpPr>
        <p:spPr>
          <a:xfrm>
            <a:off x="611560" y="1412776"/>
            <a:ext cx="7920880" cy="4968552"/>
          </a:xfrm>
        </p:spPr>
        <p:txBody>
          <a:bodyPr>
            <a:normAutofit/>
          </a:bodyPr>
          <a:lstStyle/>
          <a:p>
            <a:pPr>
              <a:spcBef>
                <a:spcPts val="600"/>
              </a:spcBef>
              <a:spcAft>
                <a:spcPts val="1200"/>
              </a:spcAft>
              <a:buNone/>
            </a:pPr>
            <a:r>
              <a:rPr lang="en-AU" sz="2200" b="1" dirty="0" smtClean="0">
                <a:latin typeface="Helvetica" pitchFamily="34" charset="0"/>
              </a:rPr>
              <a:t>Matching training need against workplace demands</a:t>
            </a:r>
          </a:p>
          <a:p>
            <a:pPr>
              <a:spcBef>
                <a:spcPts val="600"/>
              </a:spcBef>
              <a:spcAft>
                <a:spcPts val="1200"/>
              </a:spcAft>
              <a:buNone/>
            </a:pPr>
            <a:r>
              <a:rPr lang="en-AU" sz="2200" dirty="0" smtClean="0">
                <a:latin typeface="Helvetica" pitchFamily="34" charset="0"/>
              </a:rPr>
              <a:t>This may be categorised by:</a:t>
            </a:r>
          </a:p>
          <a:p>
            <a:pPr lvl="0">
              <a:spcBef>
                <a:spcPts val="600"/>
              </a:spcBef>
              <a:spcAft>
                <a:spcPts val="1200"/>
              </a:spcAft>
            </a:pPr>
            <a:r>
              <a:rPr lang="en-AU" sz="2200" dirty="0" smtClean="0">
                <a:latin typeface="Helvetica" pitchFamily="34" charset="0"/>
              </a:rPr>
              <a:t>Site</a:t>
            </a:r>
          </a:p>
          <a:p>
            <a:pPr lvl="0">
              <a:spcBef>
                <a:spcPts val="600"/>
              </a:spcBef>
              <a:spcAft>
                <a:spcPts val="1200"/>
              </a:spcAft>
            </a:pPr>
            <a:r>
              <a:rPr lang="en-AU" sz="2200" dirty="0" smtClean="0">
                <a:latin typeface="Helvetica" pitchFamily="34" charset="0"/>
              </a:rPr>
              <a:t>Department</a:t>
            </a:r>
          </a:p>
          <a:p>
            <a:pPr lvl="0">
              <a:spcBef>
                <a:spcPts val="600"/>
              </a:spcBef>
              <a:spcAft>
                <a:spcPts val="1200"/>
              </a:spcAft>
            </a:pPr>
            <a:r>
              <a:rPr lang="en-AU" sz="2200" dirty="0" smtClean="0">
                <a:latin typeface="Helvetica" pitchFamily="34" charset="0"/>
              </a:rPr>
              <a:t>Workplace teams </a:t>
            </a:r>
          </a:p>
          <a:p>
            <a:pPr>
              <a:spcBef>
                <a:spcPts val="600"/>
              </a:spcBef>
              <a:spcAft>
                <a:spcPts val="1200"/>
              </a:spcAft>
            </a:pPr>
            <a:r>
              <a:rPr lang="en-AU" sz="2200" dirty="0" smtClean="0">
                <a:latin typeface="Helvetica" pitchFamily="34" charset="0"/>
              </a:rPr>
              <a:t>Individual workers</a:t>
            </a: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sz="1100" dirty="0" smtClean="0">
                <a:latin typeface="Helvetica" pitchFamily="34" charset="0"/>
              </a:rPr>
              <a:t>Slide </a:t>
            </a:r>
            <a:fld id="{90BDF71C-F485-43AE-8825-5070AF1EA8C9}" type="slidenum">
              <a:rPr lang="en-US" sz="1100" smtClean="0">
                <a:latin typeface="Helvetica" pitchFamily="34" charset="0"/>
              </a:rPr>
              <a:pPr/>
              <a:t>20</a:t>
            </a:fld>
            <a:endParaRPr lang="en-US" sz="1100" dirty="0">
              <a:latin typeface="Helvetica" pitchFamily="34" charset="0"/>
            </a:endParaRPr>
          </a:p>
        </p:txBody>
      </p:sp>
      <p:pic>
        <p:nvPicPr>
          <p:cNvPr id="7" name="Picture 6" descr="5.jpg"/>
          <p:cNvPicPr>
            <a:picLocks noChangeAspect="1"/>
          </p:cNvPicPr>
          <p:nvPr/>
        </p:nvPicPr>
        <p:blipFill>
          <a:blip r:embed="rId3" cstate="print"/>
          <a:stretch>
            <a:fillRect/>
          </a:stretch>
        </p:blipFill>
        <p:spPr>
          <a:xfrm>
            <a:off x="5143504" y="2714620"/>
            <a:ext cx="2454862" cy="1633165"/>
          </a:xfrm>
          <a:prstGeom prst="rect">
            <a:avLst/>
          </a:prstGeom>
        </p:spPr>
      </p:pic>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848872" cy="1143000"/>
          </a:xfrm>
        </p:spPr>
        <p:txBody>
          <a:bodyPr>
            <a:normAutofit/>
          </a:bodyPr>
          <a:lstStyle/>
          <a:p>
            <a:pPr marL="0"/>
            <a:r>
              <a:rPr lang="en-US" sz="3400" b="1" dirty="0" smtClean="0">
                <a:solidFill>
                  <a:srgbClr val="FF6600"/>
                </a:solidFill>
                <a:latin typeface="Helvetica" pitchFamily="34" charset="0"/>
              </a:rPr>
              <a:t>Prioritise training needs</a:t>
            </a:r>
          </a:p>
        </p:txBody>
      </p:sp>
      <p:sp>
        <p:nvSpPr>
          <p:cNvPr id="3" name="Content Placeholder 2"/>
          <p:cNvSpPr>
            <a:spLocks noGrp="1"/>
          </p:cNvSpPr>
          <p:nvPr>
            <p:ph idx="1"/>
          </p:nvPr>
        </p:nvSpPr>
        <p:spPr>
          <a:xfrm>
            <a:off x="611560" y="1412776"/>
            <a:ext cx="7920880" cy="4968552"/>
          </a:xfrm>
        </p:spPr>
        <p:txBody>
          <a:bodyPr>
            <a:normAutofit/>
          </a:bodyPr>
          <a:lstStyle/>
          <a:p>
            <a:pPr>
              <a:spcBef>
                <a:spcPts val="600"/>
              </a:spcBef>
              <a:spcAft>
                <a:spcPts val="1200"/>
              </a:spcAft>
              <a:buNone/>
            </a:pPr>
            <a:r>
              <a:rPr lang="en-AU" sz="2200" b="1" dirty="0" smtClean="0">
                <a:latin typeface="Helvetica" pitchFamily="34" charset="0"/>
              </a:rPr>
              <a:t>Factoring in legislated obligations</a:t>
            </a:r>
          </a:p>
          <a:p>
            <a:pPr lvl="0">
              <a:spcBef>
                <a:spcPts val="600"/>
              </a:spcBef>
              <a:spcAft>
                <a:spcPts val="1200"/>
              </a:spcAft>
            </a:pPr>
            <a:r>
              <a:rPr lang="en-AU" sz="2200" dirty="0" smtClean="0">
                <a:latin typeface="Helvetica" pitchFamily="34" charset="0"/>
              </a:rPr>
              <a:t>Health and Safety</a:t>
            </a:r>
          </a:p>
          <a:p>
            <a:pPr lvl="0">
              <a:spcBef>
                <a:spcPts val="600"/>
              </a:spcBef>
              <a:spcAft>
                <a:spcPts val="1200"/>
              </a:spcAft>
            </a:pPr>
            <a:r>
              <a:rPr lang="en-AU" sz="2200" dirty="0" smtClean="0">
                <a:latin typeface="Helvetica" pitchFamily="34" charset="0"/>
              </a:rPr>
              <a:t>Emergency procedures and evacuation</a:t>
            </a:r>
          </a:p>
          <a:p>
            <a:pPr lvl="0">
              <a:spcBef>
                <a:spcPts val="600"/>
              </a:spcBef>
              <a:spcAft>
                <a:spcPts val="1200"/>
              </a:spcAft>
            </a:pPr>
            <a:r>
              <a:rPr lang="en-AU" sz="2200" dirty="0" smtClean="0">
                <a:latin typeface="Helvetica" pitchFamily="34" charset="0"/>
              </a:rPr>
              <a:t>First Aid</a:t>
            </a:r>
          </a:p>
          <a:p>
            <a:pPr lvl="0">
              <a:spcBef>
                <a:spcPts val="600"/>
              </a:spcBef>
              <a:spcAft>
                <a:spcPts val="1200"/>
              </a:spcAft>
            </a:pPr>
            <a:r>
              <a:rPr lang="en-AU" sz="2200" dirty="0" smtClean="0">
                <a:latin typeface="Helvetica" pitchFamily="34" charset="0"/>
              </a:rPr>
              <a:t>Food Handling</a:t>
            </a:r>
          </a:p>
          <a:p>
            <a:pPr lvl="0">
              <a:spcBef>
                <a:spcPts val="600"/>
              </a:spcBef>
              <a:spcAft>
                <a:spcPts val="1200"/>
              </a:spcAft>
            </a:pPr>
            <a:r>
              <a:rPr lang="en-AU" sz="2200" dirty="0" smtClean="0">
                <a:latin typeface="Helvetica" pitchFamily="34" charset="0"/>
              </a:rPr>
              <a:t>Responsible Service of Alcohol</a:t>
            </a:r>
          </a:p>
          <a:p>
            <a:pPr lvl="0">
              <a:spcBef>
                <a:spcPts val="600"/>
              </a:spcBef>
              <a:spcAft>
                <a:spcPts val="1200"/>
              </a:spcAft>
            </a:pPr>
            <a:r>
              <a:rPr lang="en-AU" sz="2200" dirty="0" smtClean="0">
                <a:latin typeface="Helvetica" pitchFamily="34" charset="0"/>
              </a:rPr>
              <a:t>Manual handling</a:t>
            </a:r>
          </a:p>
          <a:p>
            <a:pPr lvl="0">
              <a:spcBef>
                <a:spcPts val="600"/>
              </a:spcBef>
              <a:spcAft>
                <a:spcPts val="1200"/>
              </a:spcAft>
            </a:pPr>
            <a:r>
              <a:rPr lang="en-AU" sz="2200" dirty="0" smtClean="0">
                <a:latin typeface="Helvetica" pitchFamily="34" charset="0"/>
              </a:rPr>
              <a:t>Specific software programs</a:t>
            </a:r>
          </a:p>
          <a:p>
            <a:pPr lvl="0">
              <a:spcBef>
                <a:spcPts val="600"/>
              </a:spcBef>
              <a:spcAft>
                <a:spcPts val="1200"/>
              </a:spcAft>
            </a:pPr>
            <a:r>
              <a:rPr lang="en-AU" sz="2200" dirty="0" smtClean="0">
                <a:latin typeface="Helvetica" pitchFamily="34" charset="0"/>
              </a:rPr>
              <a:t>Gaming</a:t>
            </a: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sz="1100" dirty="0" smtClean="0">
                <a:latin typeface="Helvetica" pitchFamily="34" charset="0"/>
              </a:rPr>
              <a:t>Slide </a:t>
            </a:r>
            <a:fld id="{90BDF71C-F485-43AE-8825-5070AF1EA8C9}" type="slidenum">
              <a:rPr lang="en-US" sz="1100" smtClean="0">
                <a:latin typeface="Helvetica" pitchFamily="34" charset="0"/>
              </a:rPr>
              <a:pPr/>
              <a:t>21</a:t>
            </a:fld>
            <a:endParaRPr lang="en-US" sz="1100" dirty="0">
              <a:latin typeface="Helvetica" pitchFamily="34" charset="0"/>
            </a:endParaRPr>
          </a:p>
        </p:txBody>
      </p:sp>
      <p:pic>
        <p:nvPicPr>
          <p:cNvPr id="6" name="Picture 5" descr="MP900178951[1].JPG"/>
          <p:cNvPicPr>
            <a:picLocks noChangeAspect="1"/>
          </p:cNvPicPr>
          <p:nvPr/>
        </p:nvPicPr>
        <p:blipFill>
          <a:blip r:embed="rId3" cstate="print"/>
          <a:stretch>
            <a:fillRect/>
          </a:stretch>
        </p:blipFill>
        <p:spPr>
          <a:xfrm>
            <a:off x="6357950" y="3262668"/>
            <a:ext cx="2078986" cy="1396385"/>
          </a:xfrm>
          <a:prstGeom prst="rect">
            <a:avLst/>
          </a:prstGeom>
        </p:spPr>
      </p:pic>
      <p:pic>
        <p:nvPicPr>
          <p:cNvPr id="5123" name="Picture 3" descr="C:\Documents and Settings\danielc\Local Settings\Temporary Internet Files\Content.IE5\XGIII3N1\MP900321071[1].jpg"/>
          <p:cNvPicPr>
            <a:picLocks noChangeAspect="1" noChangeArrowheads="1"/>
          </p:cNvPicPr>
          <p:nvPr/>
        </p:nvPicPr>
        <p:blipFill>
          <a:blip r:embed="rId4" cstate="print"/>
          <a:srcRect/>
          <a:stretch>
            <a:fillRect/>
          </a:stretch>
        </p:blipFill>
        <p:spPr bwMode="auto">
          <a:xfrm>
            <a:off x="6357950" y="1673530"/>
            <a:ext cx="2043114" cy="1457422"/>
          </a:xfrm>
          <a:prstGeom prst="rect">
            <a:avLst/>
          </a:prstGeom>
          <a:noFill/>
        </p:spPr>
      </p:pic>
    </p:spTree>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848872" cy="1143000"/>
          </a:xfrm>
        </p:spPr>
        <p:txBody>
          <a:bodyPr>
            <a:normAutofit/>
          </a:bodyPr>
          <a:lstStyle/>
          <a:p>
            <a:pPr marL="0"/>
            <a:r>
              <a:rPr lang="en-US" sz="3400" b="1" dirty="0" smtClean="0">
                <a:solidFill>
                  <a:srgbClr val="FF6600"/>
                </a:solidFill>
                <a:latin typeface="Helvetica" pitchFamily="34" charset="0"/>
              </a:rPr>
              <a:t>Prioritise training needs</a:t>
            </a:r>
          </a:p>
        </p:txBody>
      </p:sp>
      <p:sp>
        <p:nvSpPr>
          <p:cNvPr id="3" name="Content Placeholder 2"/>
          <p:cNvSpPr>
            <a:spLocks noGrp="1"/>
          </p:cNvSpPr>
          <p:nvPr>
            <p:ph idx="1"/>
          </p:nvPr>
        </p:nvSpPr>
        <p:spPr>
          <a:xfrm>
            <a:off x="611560" y="1412776"/>
            <a:ext cx="7920880" cy="4968552"/>
          </a:xfrm>
        </p:spPr>
        <p:txBody>
          <a:bodyPr>
            <a:normAutofit/>
          </a:bodyPr>
          <a:lstStyle/>
          <a:p>
            <a:pPr marL="0">
              <a:spcBef>
                <a:spcPts val="600"/>
              </a:spcBef>
              <a:spcAft>
                <a:spcPts val="1200"/>
              </a:spcAft>
              <a:buNone/>
            </a:pPr>
            <a:r>
              <a:rPr lang="en-AU" sz="2200" b="1" dirty="0" smtClean="0">
                <a:latin typeface="Helvetica" pitchFamily="34" charset="0"/>
              </a:rPr>
              <a:t>Determining existing competency levels to cater for anticipated demand</a:t>
            </a:r>
            <a:endParaRPr lang="en-AU" sz="2200" dirty="0" smtClean="0">
              <a:latin typeface="Helvetica" pitchFamily="34" charset="0"/>
            </a:endParaRPr>
          </a:p>
          <a:p>
            <a:pPr lvl="0">
              <a:spcBef>
                <a:spcPts val="600"/>
              </a:spcBef>
              <a:spcAft>
                <a:spcPts val="1200"/>
              </a:spcAft>
            </a:pPr>
            <a:r>
              <a:rPr lang="en-AU" sz="2200" dirty="0" smtClean="0">
                <a:latin typeface="Helvetica" pitchFamily="34" charset="0"/>
              </a:rPr>
              <a:t>What is competency?</a:t>
            </a:r>
          </a:p>
          <a:p>
            <a:pPr lvl="0">
              <a:spcBef>
                <a:spcPts val="600"/>
              </a:spcBef>
              <a:spcAft>
                <a:spcPts val="1200"/>
              </a:spcAft>
            </a:pPr>
            <a:r>
              <a:rPr lang="en-AU" sz="2200" dirty="0" smtClean="0">
                <a:latin typeface="Helvetica" pitchFamily="34" charset="0"/>
              </a:rPr>
              <a:t>How can you determine existing competency levels?</a:t>
            </a:r>
          </a:p>
          <a:p>
            <a:pPr>
              <a:spcBef>
                <a:spcPts val="600"/>
              </a:spcBef>
              <a:spcAft>
                <a:spcPts val="1200"/>
              </a:spcAft>
            </a:pPr>
            <a:r>
              <a:rPr lang="en-AU" sz="2200" dirty="0" smtClean="0">
                <a:latin typeface="Helvetica" pitchFamily="34" charset="0"/>
              </a:rPr>
              <a:t>How can you determine anticipated demand?</a:t>
            </a:r>
          </a:p>
          <a:p>
            <a:pPr lvl="0">
              <a:spcBef>
                <a:spcPts val="600"/>
              </a:spcBef>
              <a:spcAft>
                <a:spcPts val="1200"/>
              </a:spcAft>
            </a:pP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sz="1100" dirty="0" smtClean="0">
                <a:latin typeface="Helvetica" pitchFamily="34" charset="0"/>
              </a:rPr>
              <a:t>Slide </a:t>
            </a:r>
            <a:fld id="{90BDF71C-F485-43AE-8825-5070AF1EA8C9}" type="slidenum">
              <a:rPr lang="en-US" sz="1100" smtClean="0">
                <a:latin typeface="Helvetica" pitchFamily="34" charset="0"/>
              </a:rPr>
              <a:pPr/>
              <a:t>22</a:t>
            </a:fld>
            <a:endParaRPr lang="en-US" sz="1100" dirty="0">
              <a:latin typeface="Helvetica" pitchFamily="34" charset="0"/>
            </a:endParaRPr>
          </a:p>
        </p:txBody>
      </p:sp>
    </p:spTree>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848872" cy="1143000"/>
          </a:xfrm>
        </p:spPr>
        <p:txBody>
          <a:bodyPr>
            <a:normAutofit/>
          </a:bodyPr>
          <a:lstStyle/>
          <a:p>
            <a:pPr marL="0"/>
            <a:r>
              <a:rPr lang="en-US" sz="3400" b="1" dirty="0" smtClean="0">
                <a:solidFill>
                  <a:srgbClr val="FF6600"/>
                </a:solidFill>
                <a:latin typeface="Helvetica" pitchFamily="34" charset="0"/>
              </a:rPr>
              <a:t>Prioritise training needs</a:t>
            </a:r>
          </a:p>
        </p:txBody>
      </p:sp>
      <p:sp>
        <p:nvSpPr>
          <p:cNvPr id="3" name="Content Placeholder 2"/>
          <p:cNvSpPr>
            <a:spLocks noGrp="1"/>
          </p:cNvSpPr>
          <p:nvPr>
            <p:ph idx="1"/>
          </p:nvPr>
        </p:nvSpPr>
        <p:spPr>
          <a:xfrm>
            <a:off x="611560" y="1412776"/>
            <a:ext cx="7920880" cy="4968552"/>
          </a:xfrm>
        </p:spPr>
        <p:txBody>
          <a:bodyPr>
            <a:normAutofit lnSpcReduction="10000"/>
          </a:bodyPr>
          <a:lstStyle/>
          <a:p>
            <a:pPr marL="0">
              <a:spcBef>
                <a:spcPts val="600"/>
              </a:spcBef>
              <a:spcAft>
                <a:spcPts val="600"/>
              </a:spcAft>
              <a:buNone/>
            </a:pPr>
            <a:r>
              <a:rPr lang="en-AU" sz="2200" b="1" dirty="0" smtClean="0">
                <a:latin typeface="Helvetica" pitchFamily="34" charset="0"/>
              </a:rPr>
              <a:t>Determining costs associated with immediate and short-term training events </a:t>
            </a:r>
          </a:p>
          <a:p>
            <a:pPr>
              <a:spcBef>
                <a:spcPts val="600"/>
              </a:spcBef>
              <a:spcAft>
                <a:spcPts val="600"/>
              </a:spcAft>
              <a:buNone/>
            </a:pPr>
            <a:r>
              <a:rPr lang="en-AU" sz="2200" dirty="0" smtClean="0">
                <a:latin typeface="Helvetica" pitchFamily="34" charset="0"/>
              </a:rPr>
              <a:t>Each training activity will have respective costs including: </a:t>
            </a:r>
          </a:p>
          <a:p>
            <a:pPr lvl="0">
              <a:spcBef>
                <a:spcPts val="600"/>
              </a:spcBef>
              <a:spcAft>
                <a:spcPts val="600"/>
              </a:spcAft>
            </a:pPr>
            <a:r>
              <a:rPr lang="en-AU" sz="2200" dirty="0" smtClean="0">
                <a:latin typeface="Helvetica" pitchFamily="34" charset="0"/>
              </a:rPr>
              <a:t>Cost of training facility and materials</a:t>
            </a:r>
          </a:p>
          <a:p>
            <a:pPr lvl="0">
              <a:spcBef>
                <a:spcPts val="600"/>
              </a:spcBef>
              <a:spcAft>
                <a:spcPts val="600"/>
              </a:spcAft>
            </a:pPr>
            <a:r>
              <a:rPr lang="en-AU" sz="2200" dirty="0" smtClean="0">
                <a:latin typeface="Helvetica" pitchFamily="34" charset="0"/>
              </a:rPr>
              <a:t>Transport</a:t>
            </a:r>
          </a:p>
          <a:p>
            <a:pPr lvl="0">
              <a:spcBef>
                <a:spcPts val="600"/>
              </a:spcBef>
              <a:spcAft>
                <a:spcPts val="600"/>
              </a:spcAft>
            </a:pPr>
            <a:r>
              <a:rPr lang="en-AU" sz="2200" dirty="0" smtClean="0">
                <a:latin typeface="Helvetica" pitchFamily="34" charset="0"/>
              </a:rPr>
              <a:t>Accommodation</a:t>
            </a:r>
          </a:p>
          <a:p>
            <a:pPr lvl="0">
              <a:spcBef>
                <a:spcPts val="600"/>
              </a:spcBef>
              <a:spcAft>
                <a:spcPts val="600"/>
              </a:spcAft>
            </a:pPr>
            <a:r>
              <a:rPr lang="en-AU" sz="2200" dirty="0" smtClean="0">
                <a:latin typeface="Helvetica" pitchFamily="34" charset="0"/>
              </a:rPr>
              <a:t>Meals </a:t>
            </a:r>
          </a:p>
          <a:p>
            <a:pPr lvl="0">
              <a:spcBef>
                <a:spcPts val="600"/>
              </a:spcBef>
              <a:spcAft>
                <a:spcPts val="600"/>
              </a:spcAft>
            </a:pPr>
            <a:r>
              <a:rPr lang="en-AU" sz="2200" dirty="0" smtClean="0">
                <a:latin typeface="Helvetica" pitchFamily="34" charset="0"/>
              </a:rPr>
              <a:t>Cost of trainer</a:t>
            </a:r>
          </a:p>
          <a:p>
            <a:pPr lvl="0">
              <a:spcBef>
                <a:spcPts val="600"/>
              </a:spcBef>
              <a:spcAft>
                <a:spcPts val="600"/>
              </a:spcAft>
            </a:pPr>
            <a:r>
              <a:rPr lang="en-AU" sz="2200" dirty="0" smtClean="0">
                <a:latin typeface="Helvetica" pitchFamily="34" charset="0"/>
              </a:rPr>
              <a:t>Cost of participants to attend</a:t>
            </a:r>
          </a:p>
          <a:p>
            <a:pPr lvl="0">
              <a:spcBef>
                <a:spcPts val="600"/>
              </a:spcBef>
              <a:spcAft>
                <a:spcPts val="600"/>
              </a:spcAft>
            </a:pPr>
            <a:r>
              <a:rPr lang="en-AU" sz="2200" dirty="0" smtClean="0">
                <a:latin typeface="Helvetica" pitchFamily="34" charset="0"/>
              </a:rPr>
              <a:t>Salaries of participants whilst in training</a:t>
            </a:r>
          </a:p>
          <a:p>
            <a:pPr>
              <a:spcBef>
                <a:spcPts val="600"/>
              </a:spcBef>
              <a:spcAft>
                <a:spcPts val="600"/>
              </a:spcAft>
            </a:pPr>
            <a:r>
              <a:rPr lang="en-AU" sz="2200" dirty="0" smtClean="0">
                <a:latin typeface="Helvetica" pitchFamily="34" charset="0"/>
              </a:rPr>
              <a:t>Salaries of replacement staff</a:t>
            </a: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sz="1100" dirty="0" smtClean="0">
                <a:latin typeface="Helvetica" pitchFamily="34" charset="0"/>
              </a:rPr>
              <a:t>Slide </a:t>
            </a:r>
            <a:fld id="{90BDF71C-F485-43AE-8825-5070AF1EA8C9}" type="slidenum">
              <a:rPr lang="en-US" sz="1100" smtClean="0">
                <a:latin typeface="Helvetica" pitchFamily="34" charset="0"/>
              </a:rPr>
              <a:pPr/>
              <a:t>23</a:t>
            </a:fld>
            <a:endParaRPr lang="en-US" sz="1100" dirty="0">
              <a:latin typeface="Helvetica" pitchFamily="34" charset="0"/>
            </a:endParaRPr>
          </a:p>
        </p:txBody>
      </p:sp>
      <p:pic>
        <p:nvPicPr>
          <p:cNvPr id="6" name="Picture 5" descr="MP900400285.JPG"/>
          <p:cNvPicPr/>
          <p:nvPr/>
        </p:nvPicPr>
        <p:blipFill>
          <a:blip r:embed="rId3" cstate="print"/>
          <a:stretch>
            <a:fillRect/>
          </a:stretch>
        </p:blipFill>
        <p:spPr>
          <a:xfrm>
            <a:off x="6072198" y="3357562"/>
            <a:ext cx="2188443" cy="1532558"/>
          </a:xfrm>
          <a:prstGeom prst="rect">
            <a:avLst/>
          </a:prstGeom>
        </p:spPr>
      </p:pic>
    </p:spTree>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848872" cy="1143000"/>
          </a:xfrm>
        </p:spPr>
        <p:txBody>
          <a:bodyPr>
            <a:normAutofit/>
          </a:bodyPr>
          <a:lstStyle/>
          <a:p>
            <a:pPr marL="0"/>
            <a:r>
              <a:rPr lang="en-US" sz="3400" b="1" dirty="0" smtClean="0">
                <a:solidFill>
                  <a:srgbClr val="FF6600"/>
                </a:solidFill>
                <a:latin typeface="Helvetica" pitchFamily="34" charset="0"/>
              </a:rPr>
              <a:t>Prioritise training needs</a:t>
            </a:r>
          </a:p>
        </p:txBody>
      </p:sp>
      <p:sp>
        <p:nvSpPr>
          <p:cNvPr id="3" name="Content Placeholder 2"/>
          <p:cNvSpPr>
            <a:spLocks noGrp="1"/>
          </p:cNvSpPr>
          <p:nvPr>
            <p:ph idx="1"/>
          </p:nvPr>
        </p:nvSpPr>
        <p:spPr>
          <a:xfrm>
            <a:off x="611560" y="1412776"/>
            <a:ext cx="7920880" cy="4968552"/>
          </a:xfrm>
        </p:spPr>
        <p:txBody>
          <a:bodyPr>
            <a:normAutofit/>
          </a:bodyPr>
          <a:lstStyle/>
          <a:p>
            <a:pPr marL="0">
              <a:spcBef>
                <a:spcPts val="600"/>
              </a:spcBef>
              <a:spcAft>
                <a:spcPts val="1200"/>
              </a:spcAft>
              <a:buNone/>
            </a:pPr>
            <a:r>
              <a:rPr lang="en-AU" sz="2200" b="1" dirty="0" smtClean="0">
                <a:latin typeface="Helvetica" pitchFamily="34" charset="0"/>
              </a:rPr>
              <a:t>Identifying the impact of not responding immediately to urgent need</a:t>
            </a:r>
          </a:p>
          <a:p>
            <a:pPr lvl="0">
              <a:spcBef>
                <a:spcPts val="600"/>
              </a:spcBef>
              <a:spcAft>
                <a:spcPts val="1200"/>
              </a:spcAft>
            </a:pPr>
            <a:r>
              <a:rPr lang="en-AU" sz="2200" dirty="0" smtClean="0">
                <a:latin typeface="Helvetica" pitchFamily="34" charset="0"/>
              </a:rPr>
              <a:t>Closure of operations due to non-compliance with legal requirements</a:t>
            </a:r>
          </a:p>
          <a:p>
            <a:pPr lvl="0">
              <a:spcBef>
                <a:spcPts val="600"/>
              </a:spcBef>
              <a:spcAft>
                <a:spcPts val="1200"/>
              </a:spcAft>
            </a:pPr>
            <a:r>
              <a:rPr lang="en-AU" sz="2200" dirty="0" smtClean="0">
                <a:latin typeface="Helvetica" pitchFamily="34" charset="0"/>
              </a:rPr>
              <a:t>Fines</a:t>
            </a:r>
          </a:p>
          <a:p>
            <a:pPr lvl="0">
              <a:spcBef>
                <a:spcPts val="600"/>
              </a:spcBef>
              <a:spcAft>
                <a:spcPts val="1200"/>
              </a:spcAft>
            </a:pPr>
            <a:r>
              <a:rPr lang="en-AU" sz="2200" dirty="0" smtClean="0">
                <a:latin typeface="Helvetica" pitchFamily="34" charset="0"/>
              </a:rPr>
              <a:t>Level and severity of customer complaints</a:t>
            </a:r>
          </a:p>
          <a:p>
            <a:pPr lvl="0">
              <a:spcBef>
                <a:spcPts val="600"/>
              </a:spcBef>
              <a:spcAft>
                <a:spcPts val="1200"/>
              </a:spcAft>
            </a:pPr>
            <a:r>
              <a:rPr lang="en-AU" sz="2200" dirty="0" smtClean="0">
                <a:latin typeface="Helvetica" pitchFamily="34" charset="0"/>
              </a:rPr>
              <a:t>Costs associated with handling or                              compensating customer complaints</a:t>
            </a:r>
          </a:p>
          <a:p>
            <a:pPr lvl="0">
              <a:spcBef>
                <a:spcPts val="600"/>
              </a:spcBef>
              <a:spcAft>
                <a:spcPts val="1200"/>
              </a:spcAft>
            </a:pPr>
            <a:r>
              <a:rPr lang="en-AU" sz="2200" dirty="0" smtClean="0">
                <a:latin typeface="Helvetica" pitchFamily="34" charset="0"/>
              </a:rPr>
              <a:t>Loss of business</a:t>
            </a:r>
          </a:p>
          <a:p>
            <a:pPr lvl="0">
              <a:spcBef>
                <a:spcPts val="600"/>
              </a:spcBef>
              <a:spcAft>
                <a:spcPts val="1200"/>
              </a:spcAft>
            </a:pPr>
            <a:r>
              <a:rPr lang="en-AU" sz="2200" dirty="0" smtClean="0">
                <a:latin typeface="Helvetica" pitchFamily="34" charset="0"/>
              </a:rPr>
              <a:t>Loss of productivity</a:t>
            </a:r>
          </a:p>
          <a:p>
            <a:endParaRPr lang="en-AU" sz="2400" dirty="0"/>
          </a:p>
        </p:txBody>
      </p:sp>
      <p:sp>
        <p:nvSpPr>
          <p:cNvPr id="4" name="Slide Number Placeholder 3"/>
          <p:cNvSpPr>
            <a:spLocks noGrp="1"/>
          </p:cNvSpPr>
          <p:nvPr>
            <p:ph type="sldNum" sz="quarter" idx="12"/>
          </p:nvPr>
        </p:nvSpPr>
        <p:spPr/>
        <p:txBody>
          <a:bodyPr/>
          <a:lstStyle/>
          <a:p>
            <a:r>
              <a:rPr lang="en-US" dirty="0" smtClean="0"/>
              <a:t> </a:t>
            </a:r>
            <a:r>
              <a:rPr lang="en-US" sz="1100" dirty="0" smtClean="0">
                <a:latin typeface="Helvetica" pitchFamily="34" charset="0"/>
              </a:rPr>
              <a:t>Slide </a:t>
            </a:r>
            <a:fld id="{90BDF71C-F485-43AE-8825-5070AF1EA8C9}" type="slidenum">
              <a:rPr lang="en-US" sz="1100" smtClean="0">
                <a:latin typeface="Helvetica" pitchFamily="34" charset="0"/>
              </a:rPr>
              <a:pPr/>
              <a:t>24</a:t>
            </a:fld>
            <a:endParaRPr lang="en-US" sz="1100" dirty="0">
              <a:latin typeface="Helvetica" pitchFamily="34" charset="0"/>
            </a:endParaRPr>
          </a:p>
        </p:txBody>
      </p:sp>
      <p:pic>
        <p:nvPicPr>
          <p:cNvPr id="7" name="Picture 6" descr="MP900422224[1].JPG"/>
          <p:cNvPicPr>
            <a:picLocks noChangeAspect="1"/>
          </p:cNvPicPr>
          <p:nvPr/>
        </p:nvPicPr>
        <p:blipFill>
          <a:blip r:embed="rId3" cstate="print"/>
          <a:stretch>
            <a:fillRect/>
          </a:stretch>
        </p:blipFill>
        <p:spPr>
          <a:xfrm>
            <a:off x="6804248" y="2996952"/>
            <a:ext cx="1567036" cy="2349407"/>
          </a:xfrm>
          <a:prstGeom prst="rect">
            <a:avLst/>
          </a:prstGeom>
        </p:spPr>
      </p:pic>
    </p:spTree>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848872" cy="1143000"/>
          </a:xfrm>
        </p:spPr>
        <p:txBody>
          <a:bodyPr>
            <a:normAutofit/>
          </a:bodyPr>
          <a:lstStyle/>
          <a:p>
            <a:pPr marL="0"/>
            <a:r>
              <a:rPr lang="en-US" sz="3400" b="1" dirty="0" smtClean="0">
                <a:solidFill>
                  <a:srgbClr val="FF6600"/>
                </a:solidFill>
                <a:latin typeface="Helvetica" pitchFamily="34" charset="0"/>
              </a:rPr>
              <a:t>Prioritise training needs</a:t>
            </a:r>
          </a:p>
        </p:txBody>
      </p:sp>
      <p:sp>
        <p:nvSpPr>
          <p:cNvPr id="3" name="Content Placeholder 2"/>
          <p:cNvSpPr>
            <a:spLocks noGrp="1"/>
          </p:cNvSpPr>
          <p:nvPr>
            <p:ph idx="1"/>
          </p:nvPr>
        </p:nvSpPr>
        <p:spPr>
          <a:xfrm>
            <a:off x="611560" y="1412776"/>
            <a:ext cx="8208912" cy="4968552"/>
          </a:xfrm>
        </p:spPr>
        <p:txBody>
          <a:bodyPr>
            <a:normAutofit/>
          </a:bodyPr>
          <a:lstStyle/>
          <a:p>
            <a:pPr lvl="0">
              <a:spcBef>
                <a:spcPts val="600"/>
              </a:spcBef>
              <a:spcAft>
                <a:spcPts val="1200"/>
              </a:spcAft>
              <a:buNone/>
            </a:pPr>
            <a:r>
              <a:rPr lang="en-AU" sz="2200" b="1" dirty="0" smtClean="0">
                <a:latin typeface="Helvetica" pitchFamily="34" charset="0"/>
              </a:rPr>
              <a:t>Other impacts affecting prioritisation of training events</a:t>
            </a:r>
          </a:p>
          <a:p>
            <a:pPr>
              <a:spcBef>
                <a:spcPts val="600"/>
              </a:spcBef>
              <a:spcAft>
                <a:spcPts val="1200"/>
              </a:spcAft>
            </a:pPr>
            <a:r>
              <a:rPr lang="en-AU" sz="2200" dirty="0" smtClean="0">
                <a:latin typeface="Helvetica" pitchFamily="34" charset="0"/>
              </a:rPr>
              <a:t>Organisational policy</a:t>
            </a:r>
          </a:p>
          <a:p>
            <a:pPr lvl="0">
              <a:spcBef>
                <a:spcPts val="600"/>
              </a:spcBef>
              <a:spcAft>
                <a:spcPts val="1200"/>
              </a:spcAft>
            </a:pPr>
            <a:r>
              <a:rPr lang="en-AU" sz="2200" dirty="0" smtClean="0">
                <a:latin typeface="Helvetica" pitchFamily="34" charset="0"/>
              </a:rPr>
              <a:t>Head Office directives</a:t>
            </a:r>
          </a:p>
          <a:p>
            <a:pPr lvl="0">
              <a:spcBef>
                <a:spcPts val="600"/>
              </a:spcBef>
              <a:spcAft>
                <a:spcPts val="1200"/>
              </a:spcAft>
            </a:pPr>
            <a:r>
              <a:rPr lang="en-AU" sz="2200" dirty="0" smtClean="0">
                <a:latin typeface="Helvetica" pitchFamily="34" charset="0"/>
              </a:rPr>
              <a:t>Significant costs of training</a:t>
            </a:r>
          </a:p>
          <a:p>
            <a:pPr lvl="0">
              <a:spcBef>
                <a:spcPts val="600"/>
              </a:spcBef>
              <a:spcAft>
                <a:spcPts val="1200"/>
              </a:spcAft>
            </a:pPr>
            <a:r>
              <a:rPr lang="en-AU" sz="2200" dirty="0" smtClean="0">
                <a:latin typeface="Helvetica" pitchFamily="34" charset="0"/>
              </a:rPr>
              <a:t>No training venues available</a:t>
            </a:r>
          </a:p>
          <a:p>
            <a:pPr lvl="0">
              <a:spcBef>
                <a:spcPts val="600"/>
              </a:spcBef>
              <a:spcAft>
                <a:spcPts val="1200"/>
              </a:spcAft>
            </a:pPr>
            <a:r>
              <a:rPr lang="en-AU" sz="2200" dirty="0" smtClean="0">
                <a:latin typeface="Helvetica" pitchFamily="34" charset="0"/>
              </a:rPr>
              <a:t>High occupancy and operational demands, including servicing VIPs</a:t>
            </a:r>
          </a:p>
        </p:txBody>
      </p:sp>
      <p:sp>
        <p:nvSpPr>
          <p:cNvPr id="4" name="Slide Number Placeholder 3"/>
          <p:cNvSpPr>
            <a:spLocks noGrp="1"/>
          </p:cNvSpPr>
          <p:nvPr>
            <p:ph type="sldNum" sz="quarter" idx="12"/>
          </p:nvPr>
        </p:nvSpPr>
        <p:spPr/>
        <p:txBody>
          <a:bodyPr/>
          <a:lstStyle/>
          <a:p>
            <a:r>
              <a:rPr lang="en-US" dirty="0" smtClean="0"/>
              <a:t> </a:t>
            </a:r>
            <a:r>
              <a:rPr lang="en-US" sz="1100" dirty="0" smtClean="0">
                <a:latin typeface="Helvetica" pitchFamily="34" charset="0"/>
              </a:rPr>
              <a:t>Slide </a:t>
            </a:r>
            <a:fld id="{90BDF71C-F485-43AE-8825-5070AF1EA8C9}" type="slidenum">
              <a:rPr lang="en-US" sz="1100" smtClean="0">
                <a:latin typeface="Helvetica" pitchFamily="34" charset="0"/>
              </a:rPr>
              <a:pPr/>
              <a:t>25</a:t>
            </a:fld>
            <a:endParaRPr lang="en-US" sz="1100" dirty="0">
              <a:latin typeface="Helvetica" pitchFamily="34" charset="0"/>
            </a:endParaRPr>
          </a:p>
        </p:txBody>
      </p:sp>
      <p:pic>
        <p:nvPicPr>
          <p:cNvPr id="6" name="Picture 5" descr="21816_training.jpg"/>
          <p:cNvPicPr/>
          <p:nvPr/>
        </p:nvPicPr>
        <p:blipFill>
          <a:blip r:embed="rId3" cstate="print"/>
          <a:stretch>
            <a:fillRect/>
          </a:stretch>
        </p:blipFill>
        <p:spPr>
          <a:xfrm>
            <a:off x="5868144" y="2204864"/>
            <a:ext cx="2010519" cy="1757536"/>
          </a:xfrm>
          <a:prstGeom prst="rect">
            <a:avLst/>
          </a:prstGeom>
        </p:spPr>
      </p:pic>
    </p:spTree>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848872" cy="1143000"/>
          </a:xfrm>
        </p:spPr>
        <p:txBody>
          <a:bodyPr>
            <a:normAutofit/>
          </a:bodyPr>
          <a:lstStyle/>
          <a:p>
            <a:pPr marL="0"/>
            <a:r>
              <a:rPr lang="en-US" sz="3400" b="1" dirty="0" smtClean="0">
                <a:solidFill>
                  <a:srgbClr val="FF6600"/>
                </a:solidFill>
                <a:latin typeface="Helvetica" pitchFamily="34" charset="0"/>
              </a:rPr>
              <a:t>Prioritise training needs</a:t>
            </a:r>
          </a:p>
        </p:txBody>
      </p:sp>
      <p:sp>
        <p:nvSpPr>
          <p:cNvPr id="3" name="Content Placeholder 2"/>
          <p:cNvSpPr>
            <a:spLocks noGrp="1"/>
          </p:cNvSpPr>
          <p:nvPr>
            <p:ph idx="1"/>
          </p:nvPr>
        </p:nvSpPr>
        <p:spPr>
          <a:xfrm>
            <a:off x="611560" y="1412776"/>
            <a:ext cx="8208912" cy="4968552"/>
          </a:xfrm>
        </p:spPr>
        <p:txBody>
          <a:bodyPr>
            <a:normAutofit/>
          </a:bodyPr>
          <a:lstStyle/>
          <a:p>
            <a:pPr lvl="0">
              <a:spcBef>
                <a:spcPts val="600"/>
              </a:spcBef>
              <a:spcAft>
                <a:spcPts val="1200"/>
              </a:spcAft>
              <a:buNone/>
            </a:pPr>
            <a:r>
              <a:rPr lang="en-AU" sz="2200" b="1" dirty="0" smtClean="0">
                <a:latin typeface="Helvetica" pitchFamily="34" charset="0"/>
              </a:rPr>
              <a:t>Other impacts affecting prioritisation of training events</a:t>
            </a:r>
          </a:p>
          <a:p>
            <a:pPr lvl="0">
              <a:spcBef>
                <a:spcPts val="600"/>
              </a:spcBef>
              <a:spcAft>
                <a:spcPts val="1200"/>
              </a:spcAft>
            </a:pPr>
            <a:r>
              <a:rPr lang="en-AU" sz="2200" dirty="0" smtClean="0">
                <a:latin typeface="Helvetica" pitchFamily="34" charset="0"/>
              </a:rPr>
              <a:t>Inability to find suitable programs or trainers</a:t>
            </a:r>
          </a:p>
          <a:p>
            <a:pPr lvl="0">
              <a:spcBef>
                <a:spcPts val="600"/>
              </a:spcBef>
              <a:spcAft>
                <a:spcPts val="1200"/>
              </a:spcAft>
            </a:pPr>
            <a:r>
              <a:rPr lang="en-AU" sz="2200" dirty="0" smtClean="0">
                <a:latin typeface="Helvetica" pitchFamily="34" charset="0"/>
              </a:rPr>
              <a:t>Inability to find replacement staff to cover shifts whilst others are in training</a:t>
            </a:r>
          </a:p>
          <a:p>
            <a:pPr>
              <a:spcBef>
                <a:spcPts val="600"/>
              </a:spcBef>
              <a:spcAft>
                <a:spcPts val="1200"/>
              </a:spcAft>
            </a:pPr>
            <a:r>
              <a:rPr lang="en-AU" sz="2200" dirty="0" smtClean="0">
                <a:latin typeface="Helvetica" pitchFamily="34" charset="0"/>
              </a:rPr>
              <a:t>Unclear of the training benefits</a:t>
            </a:r>
          </a:p>
          <a:p>
            <a:pPr>
              <a:spcBef>
                <a:spcPts val="600"/>
              </a:spcBef>
              <a:spcAft>
                <a:spcPts val="1200"/>
              </a:spcAft>
            </a:pPr>
            <a:r>
              <a:rPr lang="en-AU" sz="2200" dirty="0" smtClean="0">
                <a:latin typeface="Helvetica" pitchFamily="34" charset="0"/>
              </a:rPr>
              <a:t>Budgets</a:t>
            </a: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sz="1100" dirty="0" smtClean="0">
                <a:latin typeface="Helvetica" pitchFamily="34" charset="0"/>
              </a:rPr>
              <a:t>Slide </a:t>
            </a:r>
            <a:fld id="{90BDF71C-F485-43AE-8825-5070AF1EA8C9}" type="slidenum">
              <a:rPr lang="en-US" sz="1100" smtClean="0">
                <a:latin typeface="Helvetica" pitchFamily="34" charset="0"/>
              </a:rPr>
              <a:pPr/>
              <a:t>26</a:t>
            </a:fld>
            <a:endParaRPr lang="en-US" sz="1100" dirty="0">
              <a:latin typeface="Helvetica" pitchFamily="34" charset="0"/>
            </a:endParaRPr>
          </a:p>
        </p:txBody>
      </p:sp>
      <p:pic>
        <p:nvPicPr>
          <p:cNvPr id="5" name="Picture 4" descr="884071_budget_cuts.jpg"/>
          <p:cNvPicPr/>
          <p:nvPr/>
        </p:nvPicPr>
        <p:blipFill>
          <a:blip r:embed="rId3" cstate="print"/>
          <a:stretch>
            <a:fillRect/>
          </a:stretch>
        </p:blipFill>
        <p:spPr>
          <a:xfrm>
            <a:off x="6444208" y="3861048"/>
            <a:ext cx="1676574" cy="2116435"/>
          </a:xfrm>
          <a:prstGeom prst="rect">
            <a:avLst/>
          </a:prstGeom>
        </p:spPr>
      </p:pic>
    </p:spTree>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848872" cy="1143000"/>
          </a:xfrm>
        </p:spPr>
        <p:txBody>
          <a:bodyPr>
            <a:normAutofit/>
          </a:bodyPr>
          <a:lstStyle/>
          <a:p>
            <a:pPr marL="0"/>
            <a:r>
              <a:rPr lang="en-US" sz="3400" b="1" dirty="0" smtClean="0">
                <a:solidFill>
                  <a:srgbClr val="FF6600"/>
                </a:solidFill>
                <a:latin typeface="Helvetica" pitchFamily="34" charset="0"/>
              </a:rPr>
              <a:t>Prioritise training needs</a:t>
            </a:r>
          </a:p>
        </p:txBody>
      </p:sp>
      <p:sp>
        <p:nvSpPr>
          <p:cNvPr id="3" name="Content Placeholder 2"/>
          <p:cNvSpPr>
            <a:spLocks noGrp="1"/>
          </p:cNvSpPr>
          <p:nvPr>
            <p:ph idx="1"/>
          </p:nvPr>
        </p:nvSpPr>
        <p:spPr>
          <a:xfrm>
            <a:off x="611560" y="1412776"/>
            <a:ext cx="8208912" cy="4968552"/>
          </a:xfrm>
        </p:spPr>
        <p:txBody>
          <a:bodyPr>
            <a:normAutofit/>
          </a:bodyPr>
          <a:lstStyle/>
          <a:p>
            <a:pPr lvl="0">
              <a:spcBef>
                <a:spcPts val="600"/>
              </a:spcBef>
              <a:spcAft>
                <a:spcPts val="1200"/>
              </a:spcAft>
              <a:buNone/>
            </a:pPr>
            <a:r>
              <a:rPr lang="en-AU" sz="2200" b="1" dirty="0" smtClean="0">
                <a:latin typeface="Helvetica" pitchFamily="34" charset="0"/>
              </a:rPr>
              <a:t>Identifying alternative short-term action</a:t>
            </a:r>
          </a:p>
          <a:p>
            <a:pPr>
              <a:spcBef>
                <a:spcPts val="600"/>
              </a:spcBef>
              <a:spcAft>
                <a:spcPts val="1200"/>
              </a:spcAft>
              <a:buNone/>
            </a:pPr>
            <a:r>
              <a:rPr lang="en-AU" sz="2200" dirty="0" smtClean="0">
                <a:latin typeface="Helvetica" pitchFamily="34" charset="0"/>
              </a:rPr>
              <a:t>Some of these activities may include:</a:t>
            </a:r>
            <a:endParaRPr lang="en-AU" sz="2200" b="1" dirty="0" smtClean="0">
              <a:latin typeface="Helvetica" pitchFamily="34" charset="0"/>
            </a:endParaRPr>
          </a:p>
          <a:p>
            <a:pPr lvl="0">
              <a:spcBef>
                <a:spcPts val="600"/>
              </a:spcBef>
              <a:spcAft>
                <a:spcPts val="1200"/>
              </a:spcAft>
            </a:pPr>
            <a:r>
              <a:rPr lang="en-AU" sz="2200" dirty="0" smtClean="0">
                <a:latin typeface="Helvetica" pitchFamily="34" charset="0"/>
              </a:rPr>
              <a:t>Implement technology (hardware and software) to alleviate human deficiencies</a:t>
            </a:r>
            <a:endParaRPr lang="en-AU" sz="2200" b="1" dirty="0" smtClean="0">
              <a:latin typeface="Helvetica" pitchFamily="34" charset="0"/>
            </a:endParaRPr>
          </a:p>
          <a:p>
            <a:pPr lvl="0">
              <a:spcBef>
                <a:spcPts val="600"/>
              </a:spcBef>
              <a:spcAft>
                <a:spcPts val="1200"/>
              </a:spcAft>
            </a:pPr>
            <a:r>
              <a:rPr lang="en-AU" sz="2200" dirty="0" smtClean="0">
                <a:latin typeface="Helvetica" pitchFamily="34" charset="0"/>
              </a:rPr>
              <a:t>Employ experienced staff, whether on a short term or permanent basis</a:t>
            </a:r>
            <a:endParaRPr lang="en-AU" sz="2200" b="1" dirty="0" smtClean="0">
              <a:latin typeface="Helvetica" pitchFamily="34" charset="0"/>
            </a:endParaRPr>
          </a:p>
          <a:p>
            <a:pPr lvl="0">
              <a:spcBef>
                <a:spcPts val="600"/>
              </a:spcBef>
              <a:spcAft>
                <a:spcPts val="1200"/>
              </a:spcAft>
            </a:pPr>
            <a:r>
              <a:rPr lang="en-AU" sz="2200" dirty="0" smtClean="0">
                <a:latin typeface="Helvetica" pitchFamily="34" charset="0"/>
              </a:rPr>
              <a:t>Change operational procedures</a:t>
            </a:r>
            <a:endParaRPr lang="en-AU" sz="2200" b="1" dirty="0" smtClean="0">
              <a:latin typeface="Helvetica" pitchFamily="34" charset="0"/>
            </a:endParaRPr>
          </a:p>
          <a:p>
            <a:pPr lvl="0">
              <a:spcBef>
                <a:spcPts val="600"/>
              </a:spcBef>
              <a:spcAft>
                <a:spcPts val="1200"/>
              </a:spcAft>
            </a:pPr>
            <a:r>
              <a:rPr lang="en-AU" sz="2200" dirty="0" smtClean="0">
                <a:latin typeface="Helvetica" pitchFamily="34" charset="0"/>
              </a:rPr>
              <a:t>Close areas or restrict services associated with                           high operational problems</a:t>
            </a:r>
            <a:endParaRPr lang="en-AU" sz="2200" b="1"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sz="1100" dirty="0" smtClean="0">
                <a:latin typeface="Helvetica" pitchFamily="34" charset="0"/>
              </a:rPr>
              <a:t>Slide </a:t>
            </a:r>
            <a:fld id="{90BDF71C-F485-43AE-8825-5070AF1EA8C9}" type="slidenum">
              <a:rPr lang="en-US" sz="1100" smtClean="0">
                <a:latin typeface="Helvetica" pitchFamily="34" charset="0"/>
              </a:rPr>
              <a:pPr/>
              <a:t>27</a:t>
            </a:fld>
            <a:endParaRPr lang="en-US" sz="1100" dirty="0">
              <a:latin typeface="Helvetica" pitchFamily="34" charset="0"/>
            </a:endParaRPr>
          </a:p>
        </p:txBody>
      </p:sp>
      <p:pic>
        <p:nvPicPr>
          <p:cNvPr id="6" name="Picture 5" descr="35029.JPG"/>
          <p:cNvPicPr/>
          <p:nvPr/>
        </p:nvPicPr>
        <p:blipFill>
          <a:blip r:embed="rId3" cstate="print"/>
          <a:stretch>
            <a:fillRect/>
          </a:stretch>
        </p:blipFill>
        <p:spPr>
          <a:xfrm>
            <a:off x="7380312" y="4149080"/>
            <a:ext cx="1021715" cy="1304925"/>
          </a:xfrm>
          <a:prstGeom prst="rect">
            <a:avLst/>
          </a:prstGeom>
        </p:spPr>
      </p:pic>
    </p:spTree>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848872" cy="1143000"/>
          </a:xfrm>
        </p:spPr>
        <p:txBody>
          <a:bodyPr>
            <a:normAutofit/>
          </a:bodyPr>
          <a:lstStyle/>
          <a:p>
            <a:pPr marL="0"/>
            <a:r>
              <a:rPr lang="en-US" sz="3200" b="1" dirty="0" smtClean="0">
                <a:solidFill>
                  <a:srgbClr val="FF6600"/>
                </a:solidFill>
                <a:latin typeface="Helvetica" pitchFamily="34" charset="0"/>
              </a:rPr>
              <a:t>Determine resources to support training</a:t>
            </a:r>
          </a:p>
        </p:txBody>
      </p:sp>
      <p:sp>
        <p:nvSpPr>
          <p:cNvPr id="3" name="Content Placeholder 2"/>
          <p:cNvSpPr>
            <a:spLocks noGrp="1"/>
          </p:cNvSpPr>
          <p:nvPr>
            <p:ph idx="1"/>
          </p:nvPr>
        </p:nvSpPr>
        <p:spPr>
          <a:xfrm>
            <a:off x="611560" y="1556792"/>
            <a:ext cx="7920880" cy="5301208"/>
          </a:xfrm>
        </p:spPr>
        <p:txBody>
          <a:bodyPr>
            <a:normAutofit/>
          </a:bodyPr>
          <a:lstStyle/>
          <a:p>
            <a:pPr marL="0">
              <a:spcBef>
                <a:spcPts val="600"/>
              </a:spcBef>
              <a:spcAft>
                <a:spcPts val="1200"/>
              </a:spcAft>
              <a:buNone/>
            </a:pPr>
            <a:r>
              <a:rPr lang="en-AU" sz="2200" dirty="0" smtClean="0">
                <a:latin typeface="Helvetica" pitchFamily="34" charset="0"/>
              </a:rPr>
              <a:t>When planning a training program for a hotel, it is important to remember that there will be a complex mix of training to be conducted comprising different:</a:t>
            </a:r>
          </a:p>
          <a:p>
            <a:pPr lvl="0">
              <a:spcBef>
                <a:spcPts val="600"/>
              </a:spcBef>
              <a:spcAft>
                <a:spcPts val="1200"/>
              </a:spcAft>
            </a:pPr>
            <a:r>
              <a:rPr lang="en-AU" sz="2200" dirty="0" smtClean="0">
                <a:latin typeface="Helvetica" pitchFamily="34" charset="0"/>
              </a:rPr>
              <a:t>Competencies</a:t>
            </a:r>
          </a:p>
          <a:p>
            <a:pPr lvl="0">
              <a:spcBef>
                <a:spcPts val="600"/>
              </a:spcBef>
              <a:spcAft>
                <a:spcPts val="1200"/>
              </a:spcAft>
            </a:pPr>
            <a:r>
              <a:rPr lang="en-AU" sz="2200" dirty="0" smtClean="0">
                <a:latin typeface="Helvetica" pitchFamily="34" charset="0"/>
              </a:rPr>
              <a:t>Dimensions of competencies</a:t>
            </a:r>
          </a:p>
          <a:p>
            <a:pPr lvl="0">
              <a:spcBef>
                <a:spcPts val="600"/>
              </a:spcBef>
              <a:spcAft>
                <a:spcPts val="1200"/>
              </a:spcAft>
            </a:pPr>
            <a:r>
              <a:rPr lang="en-AU" sz="2200" dirty="0" smtClean="0">
                <a:latin typeface="Helvetica" pitchFamily="34" charset="0"/>
              </a:rPr>
              <a:t>Different training styles</a:t>
            </a:r>
          </a:p>
          <a:p>
            <a:pPr lvl="0">
              <a:spcBef>
                <a:spcPts val="600"/>
              </a:spcBef>
              <a:spcAft>
                <a:spcPts val="1200"/>
              </a:spcAft>
            </a:pPr>
            <a:r>
              <a:rPr lang="en-AU" sz="2200" dirty="0" smtClean="0">
                <a:latin typeface="Helvetica" pitchFamily="34" charset="0"/>
              </a:rPr>
              <a:t>Different equipment and resources</a:t>
            </a:r>
          </a:p>
          <a:p>
            <a:pPr lvl="0">
              <a:spcBef>
                <a:spcPts val="600"/>
              </a:spcBef>
              <a:spcAft>
                <a:spcPts val="1200"/>
              </a:spcAft>
            </a:pPr>
            <a:r>
              <a:rPr lang="en-AU" sz="2200" dirty="0" smtClean="0">
                <a:latin typeface="Helvetica" pitchFamily="34" charset="0"/>
              </a:rPr>
              <a:t>Different locations</a:t>
            </a:r>
          </a:p>
        </p:txBody>
      </p:sp>
      <p:sp>
        <p:nvSpPr>
          <p:cNvPr id="4" name="Slide Number Placeholder 3"/>
          <p:cNvSpPr>
            <a:spLocks noGrp="1"/>
          </p:cNvSpPr>
          <p:nvPr>
            <p:ph type="sldNum" sz="quarter" idx="12"/>
          </p:nvPr>
        </p:nvSpPr>
        <p:spPr/>
        <p:txBody>
          <a:bodyPr/>
          <a:lstStyle/>
          <a:p>
            <a:r>
              <a:rPr lang="en-US" dirty="0" smtClean="0"/>
              <a:t> </a:t>
            </a:r>
            <a:r>
              <a:rPr lang="en-US" sz="1100" dirty="0" smtClean="0">
                <a:latin typeface="Helvetica" pitchFamily="34" charset="0"/>
              </a:rPr>
              <a:t>Slide </a:t>
            </a:r>
            <a:fld id="{90BDF71C-F485-43AE-8825-5070AF1EA8C9}" type="slidenum">
              <a:rPr lang="en-US" sz="1100" smtClean="0">
                <a:latin typeface="Helvetica" pitchFamily="34" charset="0"/>
              </a:rPr>
              <a:pPr/>
              <a:t>28</a:t>
            </a:fld>
            <a:endParaRPr lang="en-US" sz="1100" dirty="0">
              <a:latin typeface="Helvetica" pitchFamily="34" charset="0"/>
            </a:endParaRPr>
          </a:p>
        </p:txBody>
      </p:sp>
      <p:pic>
        <p:nvPicPr>
          <p:cNvPr id="6" name="Picture 5" descr="MP900439374[1].JPG"/>
          <p:cNvPicPr/>
          <p:nvPr/>
        </p:nvPicPr>
        <p:blipFill>
          <a:blip r:embed="rId3" cstate="print"/>
          <a:stretch>
            <a:fillRect/>
          </a:stretch>
        </p:blipFill>
        <p:spPr>
          <a:xfrm>
            <a:off x="6084168" y="3140968"/>
            <a:ext cx="2376264" cy="1695053"/>
          </a:xfrm>
          <a:prstGeom prst="rect">
            <a:avLst/>
          </a:prstGeom>
        </p:spPr>
      </p:pic>
    </p:spTree>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848872" cy="1143000"/>
          </a:xfrm>
        </p:spPr>
        <p:txBody>
          <a:bodyPr>
            <a:normAutofit/>
          </a:bodyPr>
          <a:lstStyle/>
          <a:p>
            <a:pPr marL="0"/>
            <a:r>
              <a:rPr lang="en-US" sz="3200" b="1" dirty="0" smtClean="0">
                <a:solidFill>
                  <a:srgbClr val="FF6600"/>
                </a:solidFill>
                <a:latin typeface="Helvetica" pitchFamily="34" charset="0"/>
              </a:rPr>
              <a:t>Determine resources to support training</a:t>
            </a:r>
          </a:p>
        </p:txBody>
      </p:sp>
      <p:sp>
        <p:nvSpPr>
          <p:cNvPr id="3" name="Content Placeholder 2"/>
          <p:cNvSpPr>
            <a:spLocks noGrp="1"/>
          </p:cNvSpPr>
          <p:nvPr>
            <p:ph idx="1"/>
          </p:nvPr>
        </p:nvSpPr>
        <p:spPr>
          <a:xfrm>
            <a:off x="611560" y="1556792"/>
            <a:ext cx="7920880" cy="4824536"/>
          </a:xfrm>
        </p:spPr>
        <p:txBody>
          <a:bodyPr>
            <a:normAutofit/>
          </a:bodyPr>
          <a:lstStyle/>
          <a:p>
            <a:pPr>
              <a:spcBef>
                <a:spcPts val="600"/>
              </a:spcBef>
              <a:spcAft>
                <a:spcPts val="1200"/>
              </a:spcAft>
              <a:buNone/>
            </a:pPr>
            <a:r>
              <a:rPr lang="en-AU" sz="2200" b="1" dirty="0" smtClean="0">
                <a:latin typeface="Helvetica" pitchFamily="34" charset="0"/>
              </a:rPr>
              <a:t>Timing considerations </a:t>
            </a:r>
          </a:p>
          <a:p>
            <a:pPr lvl="0">
              <a:spcBef>
                <a:spcPts val="600"/>
              </a:spcBef>
              <a:spcAft>
                <a:spcPts val="1200"/>
              </a:spcAft>
            </a:pPr>
            <a:r>
              <a:rPr lang="en-AU" sz="2200" dirty="0" smtClean="0">
                <a:latin typeface="Helvetica" pitchFamily="34" charset="0"/>
              </a:rPr>
              <a:t>Duration of the training program</a:t>
            </a:r>
          </a:p>
          <a:p>
            <a:pPr lvl="0">
              <a:spcBef>
                <a:spcPts val="600"/>
              </a:spcBef>
              <a:spcAft>
                <a:spcPts val="1200"/>
              </a:spcAft>
            </a:pPr>
            <a:r>
              <a:rPr lang="en-AU" sz="2200" dirty="0" smtClean="0">
                <a:latin typeface="Helvetica" pitchFamily="34" charset="0"/>
              </a:rPr>
              <a:t>Breakdown of components within the program</a:t>
            </a:r>
          </a:p>
          <a:p>
            <a:pPr lvl="0">
              <a:spcBef>
                <a:spcPts val="600"/>
              </a:spcBef>
              <a:spcAft>
                <a:spcPts val="1200"/>
              </a:spcAft>
            </a:pPr>
            <a:r>
              <a:rPr lang="en-AU" sz="2200" dirty="0" smtClean="0">
                <a:latin typeface="Helvetica" pitchFamily="34" charset="0"/>
              </a:rPr>
              <a:t>Days of the week to deliver</a:t>
            </a:r>
          </a:p>
          <a:p>
            <a:pPr lvl="0">
              <a:spcBef>
                <a:spcPts val="600"/>
              </a:spcBef>
              <a:spcAft>
                <a:spcPts val="1200"/>
              </a:spcAft>
            </a:pPr>
            <a:r>
              <a:rPr lang="en-AU" sz="2200" dirty="0" smtClean="0">
                <a:latin typeface="Helvetica" pitchFamily="34" charset="0"/>
              </a:rPr>
              <a:t>Times of the day to deliver</a:t>
            </a:r>
          </a:p>
          <a:p>
            <a:pPr lvl="0">
              <a:spcBef>
                <a:spcPts val="600"/>
              </a:spcBef>
              <a:spcAft>
                <a:spcPts val="1200"/>
              </a:spcAft>
            </a:pPr>
            <a:r>
              <a:rPr lang="en-AU" sz="2200" dirty="0" smtClean="0">
                <a:latin typeface="Helvetica" pitchFamily="34" charset="0"/>
              </a:rPr>
              <a:t>Availability of venues, trainers and participants</a:t>
            </a:r>
          </a:p>
          <a:p>
            <a:pPr lvl="0">
              <a:spcBef>
                <a:spcPts val="600"/>
              </a:spcBef>
              <a:spcAft>
                <a:spcPts val="1200"/>
              </a:spcAft>
            </a:pPr>
            <a:r>
              <a:rPr lang="en-AU" sz="2200" dirty="0" smtClean="0">
                <a:latin typeface="Helvetica" pitchFamily="34" charset="0"/>
              </a:rPr>
              <a:t>When is the most suitable time for participants                                  to undertake training whilst having minimal                             impact on operations</a:t>
            </a:r>
          </a:p>
        </p:txBody>
      </p:sp>
      <p:sp>
        <p:nvSpPr>
          <p:cNvPr id="4" name="Slide Number Placeholder 3"/>
          <p:cNvSpPr>
            <a:spLocks noGrp="1"/>
          </p:cNvSpPr>
          <p:nvPr>
            <p:ph type="sldNum" sz="quarter" idx="12"/>
          </p:nvPr>
        </p:nvSpPr>
        <p:spPr/>
        <p:txBody>
          <a:bodyPr/>
          <a:lstStyle/>
          <a:p>
            <a:r>
              <a:rPr lang="en-US" dirty="0" smtClean="0"/>
              <a:t> </a:t>
            </a:r>
            <a:r>
              <a:rPr lang="en-US" sz="1100" dirty="0" smtClean="0">
                <a:latin typeface="Helvetica" pitchFamily="34" charset="0"/>
              </a:rPr>
              <a:t>Slide </a:t>
            </a:r>
            <a:fld id="{90BDF71C-F485-43AE-8825-5070AF1EA8C9}" type="slidenum">
              <a:rPr lang="en-US" sz="1100" smtClean="0">
                <a:latin typeface="Helvetica" pitchFamily="34" charset="0"/>
              </a:rPr>
              <a:pPr/>
              <a:t>29</a:t>
            </a:fld>
            <a:endParaRPr lang="en-US" sz="1100" dirty="0">
              <a:latin typeface="Helvetica" pitchFamily="34" charset="0"/>
            </a:endParaRPr>
          </a:p>
        </p:txBody>
      </p:sp>
      <p:pic>
        <p:nvPicPr>
          <p:cNvPr id="7" name="Picture 6" descr="MP900431224.JPG"/>
          <p:cNvPicPr/>
          <p:nvPr/>
        </p:nvPicPr>
        <p:blipFill>
          <a:blip r:embed="rId3" cstate="print"/>
          <a:stretch>
            <a:fillRect/>
          </a:stretch>
        </p:blipFill>
        <p:spPr>
          <a:xfrm>
            <a:off x="6876256" y="3140968"/>
            <a:ext cx="1512828" cy="1128142"/>
          </a:xfrm>
          <a:prstGeom prst="rect">
            <a:avLst/>
          </a:prstGeom>
        </p:spPr>
      </p:pic>
    </p:spTree>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848872" cy="1143000"/>
          </a:xfrm>
        </p:spPr>
        <p:txBody>
          <a:bodyPr>
            <a:normAutofit/>
          </a:bodyPr>
          <a:lstStyle/>
          <a:p>
            <a:pPr marL="0"/>
            <a:r>
              <a:rPr lang="en-US" sz="3200" b="1" dirty="0" smtClean="0">
                <a:solidFill>
                  <a:srgbClr val="FF6600"/>
                </a:solidFill>
                <a:latin typeface="Helvetica" pitchFamily="34" charset="0"/>
              </a:rPr>
              <a:t>Determine resources to support training</a:t>
            </a:r>
          </a:p>
        </p:txBody>
      </p:sp>
      <p:sp>
        <p:nvSpPr>
          <p:cNvPr id="3" name="Content Placeholder 2"/>
          <p:cNvSpPr>
            <a:spLocks noGrp="1"/>
          </p:cNvSpPr>
          <p:nvPr>
            <p:ph idx="1"/>
          </p:nvPr>
        </p:nvSpPr>
        <p:spPr>
          <a:xfrm>
            <a:off x="611560" y="1556792"/>
            <a:ext cx="7920880" cy="4824536"/>
          </a:xfrm>
        </p:spPr>
        <p:txBody>
          <a:bodyPr>
            <a:normAutofit/>
          </a:bodyPr>
          <a:lstStyle/>
          <a:p>
            <a:pPr>
              <a:spcBef>
                <a:spcPts val="600"/>
              </a:spcBef>
              <a:spcAft>
                <a:spcPts val="1200"/>
              </a:spcAft>
              <a:buNone/>
            </a:pPr>
            <a:r>
              <a:rPr lang="en-AU" sz="2200" b="1" dirty="0" smtClean="0">
                <a:latin typeface="Helvetica" pitchFamily="34" charset="0"/>
              </a:rPr>
              <a:t>Space, location and venues</a:t>
            </a:r>
            <a:endParaRPr lang="en-AU" sz="2200" dirty="0" smtClean="0">
              <a:latin typeface="Helvetica" pitchFamily="34" charset="0"/>
            </a:endParaRPr>
          </a:p>
          <a:p>
            <a:pPr>
              <a:spcBef>
                <a:spcPts val="600"/>
              </a:spcBef>
              <a:spcAft>
                <a:spcPts val="1200"/>
              </a:spcAft>
              <a:buNone/>
            </a:pPr>
            <a:r>
              <a:rPr lang="en-AU" sz="2200" dirty="0" smtClean="0">
                <a:latin typeface="Helvetica" pitchFamily="34" charset="0"/>
              </a:rPr>
              <a:t>Considerations that will impact on the most suitable venue:</a:t>
            </a:r>
          </a:p>
          <a:p>
            <a:pPr lvl="0">
              <a:spcBef>
                <a:spcPts val="600"/>
              </a:spcBef>
              <a:spcAft>
                <a:spcPts val="1200"/>
              </a:spcAft>
            </a:pPr>
            <a:r>
              <a:rPr lang="en-AU" sz="2200" dirty="0" smtClean="0">
                <a:latin typeface="Helvetica" pitchFamily="34" charset="0"/>
              </a:rPr>
              <a:t>Number of participants</a:t>
            </a:r>
          </a:p>
          <a:p>
            <a:pPr lvl="0">
              <a:spcBef>
                <a:spcPts val="600"/>
              </a:spcBef>
              <a:spcAft>
                <a:spcPts val="1200"/>
              </a:spcAft>
            </a:pPr>
            <a:r>
              <a:rPr lang="en-AU" sz="2200" dirty="0" smtClean="0">
                <a:latin typeface="Helvetica" pitchFamily="34" charset="0"/>
              </a:rPr>
              <a:t>Use of main rooms and breakout rooms</a:t>
            </a:r>
          </a:p>
          <a:p>
            <a:pPr lvl="0">
              <a:spcBef>
                <a:spcPts val="600"/>
              </a:spcBef>
              <a:spcAft>
                <a:spcPts val="1200"/>
              </a:spcAft>
            </a:pPr>
            <a:r>
              <a:rPr lang="en-AU" sz="2200" dirty="0" smtClean="0">
                <a:latin typeface="Helvetica" pitchFamily="34" charset="0"/>
              </a:rPr>
              <a:t>Style of training event </a:t>
            </a:r>
          </a:p>
          <a:p>
            <a:pPr lvl="0">
              <a:spcBef>
                <a:spcPts val="600"/>
              </a:spcBef>
              <a:spcAft>
                <a:spcPts val="1200"/>
              </a:spcAft>
            </a:pPr>
            <a:r>
              <a:rPr lang="en-AU" sz="2200" dirty="0" smtClean="0">
                <a:latin typeface="Helvetica" pitchFamily="34" charset="0"/>
              </a:rPr>
              <a:t>Intended content of training</a:t>
            </a:r>
          </a:p>
          <a:p>
            <a:pPr lvl="0">
              <a:spcBef>
                <a:spcPts val="600"/>
              </a:spcBef>
              <a:spcAft>
                <a:spcPts val="1200"/>
              </a:spcAft>
            </a:pPr>
            <a:r>
              <a:rPr lang="en-AU" sz="2200" dirty="0" smtClean="0">
                <a:latin typeface="Helvetica" pitchFamily="34" charset="0"/>
              </a:rPr>
              <a:t>Level of practical involvement and practise</a:t>
            </a: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sz="1100" dirty="0" smtClean="0">
                <a:latin typeface="Helvetica" pitchFamily="34" charset="0"/>
              </a:rPr>
              <a:t>Slide </a:t>
            </a:r>
            <a:fld id="{90BDF71C-F485-43AE-8825-5070AF1EA8C9}" type="slidenum">
              <a:rPr lang="en-US" sz="1100" smtClean="0">
                <a:latin typeface="Helvetica" pitchFamily="34" charset="0"/>
              </a:rPr>
              <a:pPr/>
              <a:t>30</a:t>
            </a:fld>
            <a:endParaRPr lang="en-US" sz="1100" dirty="0">
              <a:latin typeface="Helvetica" pitchFamily="34" charset="0"/>
            </a:endParaRPr>
          </a:p>
        </p:txBody>
      </p:sp>
      <p:pic>
        <p:nvPicPr>
          <p:cNvPr id="6" name="Picture 5" descr="129359_conference_room_1.jpg"/>
          <p:cNvPicPr/>
          <p:nvPr/>
        </p:nvPicPr>
        <p:blipFill>
          <a:blip r:embed="rId3" cstate="print"/>
          <a:stretch>
            <a:fillRect/>
          </a:stretch>
        </p:blipFill>
        <p:spPr>
          <a:xfrm>
            <a:off x="6660232" y="3140968"/>
            <a:ext cx="1686555" cy="1278632"/>
          </a:xfrm>
          <a:prstGeom prst="rect">
            <a:avLst/>
          </a:prstGeom>
        </p:spPr>
      </p:pic>
    </p:spTree>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848872" cy="1143000"/>
          </a:xfrm>
        </p:spPr>
        <p:txBody>
          <a:bodyPr>
            <a:normAutofit/>
          </a:bodyPr>
          <a:lstStyle/>
          <a:p>
            <a:pPr marL="0"/>
            <a:r>
              <a:rPr lang="en-US" sz="3400" b="1" dirty="0" smtClean="0">
                <a:solidFill>
                  <a:srgbClr val="FF6600"/>
                </a:solidFill>
                <a:latin typeface="Helvetica" pitchFamily="34" charset="0"/>
              </a:rPr>
              <a:t>Human Resources </a:t>
            </a:r>
          </a:p>
        </p:txBody>
      </p:sp>
      <p:sp>
        <p:nvSpPr>
          <p:cNvPr id="3" name="Content Placeholder 2"/>
          <p:cNvSpPr>
            <a:spLocks noGrp="1"/>
          </p:cNvSpPr>
          <p:nvPr>
            <p:ph idx="1"/>
          </p:nvPr>
        </p:nvSpPr>
        <p:spPr>
          <a:xfrm>
            <a:off x="611560" y="1556792"/>
            <a:ext cx="8208912" cy="5301208"/>
          </a:xfrm>
        </p:spPr>
        <p:txBody>
          <a:bodyPr>
            <a:normAutofit/>
          </a:bodyPr>
          <a:lstStyle/>
          <a:p>
            <a:pPr>
              <a:spcBef>
                <a:spcPts val="600"/>
              </a:spcBef>
              <a:spcAft>
                <a:spcPts val="1200"/>
              </a:spcAft>
              <a:buNone/>
            </a:pPr>
            <a:r>
              <a:rPr lang="en-AU" sz="2200" b="1" dirty="0" smtClean="0">
                <a:latin typeface="Helvetica" pitchFamily="34" charset="0"/>
              </a:rPr>
              <a:t>Trainer competency</a:t>
            </a:r>
          </a:p>
          <a:p>
            <a:pPr marL="0">
              <a:spcBef>
                <a:spcPts val="600"/>
              </a:spcBef>
              <a:spcAft>
                <a:spcPts val="1200"/>
              </a:spcAft>
              <a:buNone/>
            </a:pPr>
            <a:r>
              <a:rPr lang="en-AU" sz="2200" dirty="0" smtClean="0">
                <a:latin typeface="Helvetica" pitchFamily="34" charset="0"/>
              </a:rPr>
              <a:t>If a trainer is considering delivering instruction and demonstrations to staff, they have to be able to do it competently.</a:t>
            </a:r>
          </a:p>
          <a:p>
            <a:pPr marL="0">
              <a:spcBef>
                <a:spcPts val="600"/>
              </a:spcBef>
              <a:spcAft>
                <a:spcPts val="1200"/>
              </a:spcAft>
              <a:buNone/>
            </a:pPr>
            <a:r>
              <a:rPr lang="en-AU" sz="2200" dirty="0" smtClean="0">
                <a:latin typeface="Helvetica" pitchFamily="34" charset="0"/>
              </a:rPr>
              <a:t>Where their competencies are not what they should be, two options exist:</a:t>
            </a:r>
          </a:p>
          <a:p>
            <a:pPr lvl="0">
              <a:spcBef>
                <a:spcPts val="600"/>
              </a:spcBef>
              <a:spcAft>
                <a:spcPts val="1200"/>
              </a:spcAft>
            </a:pPr>
            <a:r>
              <a:rPr lang="en-AU" sz="2200" dirty="0" smtClean="0">
                <a:latin typeface="Helvetica" pitchFamily="34" charset="0"/>
              </a:rPr>
              <a:t>Arrange for some training for themselves so that you can get up-to-speed with what is required</a:t>
            </a:r>
          </a:p>
          <a:p>
            <a:pPr lvl="0">
              <a:spcBef>
                <a:spcPts val="600"/>
              </a:spcBef>
              <a:spcAft>
                <a:spcPts val="1200"/>
              </a:spcAft>
            </a:pPr>
            <a:r>
              <a:rPr lang="en-AU" sz="2200" dirty="0" smtClean="0">
                <a:latin typeface="Helvetica" pitchFamily="34" charset="0"/>
              </a:rPr>
              <a:t>Get someone else to provide the training for staff</a:t>
            </a:r>
            <a:endParaRPr lang="en-AU" sz="2400" dirty="0" smtClean="0"/>
          </a:p>
          <a:p>
            <a:pPr>
              <a:spcBef>
                <a:spcPts val="600"/>
              </a:spcBef>
              <a:spcAft>
                <a:spcPts val="1200"/>
              </a:spcAft>
            </a:pP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sz="1100" dirty="0" smtClean="0">
                <a:latin typeface="Helvetica" pitchFamily="34" charset="0"/>
              </a:rPr>
              <a:t>Slide </a:t>
            </a:r>
            <a:fld id="{90BDF71C-F485-43AE-8825-5070AF1EA8C9}" type="slidenum">
              <a:rPr lang="en-US" sz="1100" smtClean="0">
                <a:latin typeface="Helvetica" pitchFamily="34" charset="0"/>
              </a:rPr>
              <a:pPr/>
              <a:t>31</a:t>
            </a:fld>
            <a:endParaRPr lang="en-US" sz="1100" dirty="0">
              <a:latin typeface="Helvetica" pitchFamily="34" charset="0"/>
            </a:endParaRPr>
          </a:p>
        </p:txBody>
      </p:sp>
      <p:pic>
        <p:nvPicPr>
          <p:cNvPr id="6" name="Picture 5" descr="MP900430506[1].JPG"/>
          <p:cNvPicPr>
            <a:picLocks noChangeAspect="1"/>
          </p:cNvPicPr>
          <p:nvPr/>
        </p:nvPicPr>
        <p:blipFill>
          <a:blip r:embed="rId3" cstate="print"/>
          <a:stretch>
            <a:fillRect/>
          </a:stretch>
        </p:blipFill>
        <p:spPr>
          <a:xfrm>
            <a:off x="3851920" y="5373216"/>
            <a:ext cx="1484784" cy="1484784"/>
          </a:xfrm>
          <a:prstGeom prst="rect">
            <a:avLst/>
          </a:prstGeom>
        </p:spPr>
      </p:pic>
    </p:spTree>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848872" cy="1143000"/>
          </a:xfrm>
        </p:spPr>
        <p:txBody>
          <a:bodyPr>
            <a:normAutofit/>
          </a:bodyPr>
          <a:lstStyle/>
          <a:p>
            <a:pPr marL="0"/>
            <a:r>
              <a:rPr lang="en-US" sz="3400" b="1" dirty="0" smtClean="0">
                <a:solidFill>
                  <a:srgbClr val="FF6600"/>
                </a:solidFill>
                <a:latin typeface="Helvetica" pitchFamily="34" charset="0"/>
              </a:rPr>
              <a:t>Human Resources </a:t>
            </a:r>
          </a:p>
        </p:txBody>
      </p:sp>
      <p:sp>
        <p:nvSpPr>
          <p:cNvPr id="3" name="Content Placeholder 2"/>
          <p:cNvSpPr>
            <a:spLocks noGrp="1"/>
          </p:cNvSpPr>
          <p:nvPr>
            <p:ph idx="1"/>
          </p:nvPr>
        </p:nvSpPr>
        <p:spPr>
          <a:xfrm>
            <a:off x="611560" y="1556792"/>
            <a:ext cx="7920880" cy="4824536"/>
          </a:xfrm>
        </p:spPr>
        <p:txBody>
          <a:bodyPr>
            <a:normAutofit/>
          </a:bodyPr>
          <a:lstStyle/>
          <a:p>
            <a:pPr>
              <a:spcBef>
                <a:spcPts val="600"/>
              </a:spcBef>
              <a:spcAft>
                <a:spcPts val="1200"/>
              </a:spcAft>
              <a:buNone/>
            </a:pPr>
            <a:r>
              <a:rPr lang="en-AU" sz="2200" b="1" dirty="0" smtClean="0">
                <a:latin typeface="Helvetica" pitchFamily="34" charset="0"/>
              </a:rPr>
              <a:t>Location of support</a:t>
            </a:r>
          </a:p>
          <a:p>
            <a:pPr>
              <a:spcBef>
                <a:spcPts val="600"/>
              </a:spcBef>
              <a:spcAft>
                <a:spcPts val="1200"/>
              </a:spcAft>
              <a:buNone/>
            </a:pPr>
            <a:r>
              <a:rPr lang="en-AU" sz="2200" dirty="0" smtClean="0">
                <a:latin typeface="Helvetica" pitchFamily="34" charset="0"/>
              </a:rPr>
              <a:t>Support may come from other people:</a:t>
            </a:r>
          </a:p>
          <a:p>
            <a:pPr lvl="0">
              <a:spcBef>
                <a:spcPts val="600"/>
              </a:spcBef>
              <a:spcAft>
                <a:spcPts val="1200"/>
              </a:spcAft>
            </a:pPr>
            <a:r>
              <a:rPr lang="en-AU" sz="2200" dirty="0" smtClean="0">
                <a:latin typeface="Helvetica" pitchFamily="34" charset="0"/>
              </a:rPr>
              <a:t>Inside the organisation including Human Resources and training personnel, managers, supervisors or senior staff</a:t>
            </a:r>
          </a:p>
          <a:p>
            <a:pPr lvl="0">
              <a:spcBef>
                <a:spcPts val="600"/>
              </a:spcBef>
              <a:spcAft>
                <a:spcPts val="1200"/>
              </a:spcAft>
            </a:pPr>
            <a:r>
              <a:rPr lang="en-AU" sz="2200" dirty="0" smtClean="0">
                <a:latin typeface="Helvetica" pitchFamily="34" charset="0"/>
              </a:rPr>
              <a:t>Outside the organisation including professional trainers, equipment suppliers or specialist personnel such as medical practitioners</a:t>
            </a:r>
            <a:endParaRPr lang="en-AU" sz="2400" dirty="0" smtClean="0"/>
          </a:p>
          <a:p>
            <a:pPr>
              <a:spcBef>
                <a:spcPts val="600"/>
              </a:spcBef>
              <a:spcAft>
                <a:spcPts val="1200"/>
              </a:spcAft>
            </a:pP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sz="1100" dirty="0" smtClean="0">
                <a:latin typeface="Helvetica" pitchFamily="34" charset="0"/>
              </a:rPr>
              <a:t>Slide </a:t>
            </a:r>
            <a:fld id="{90BDF71C-F485-43AE-8825-5070AF1EA8C9}" type="slidenum">
              <a:rPr lang="en-US" sz="1100" smtClean="0">
                <a:latin typeface="Helvetica" pitchFamily="34" charset="0"/>
              </a:rPr>
              <a:pPr/>
              <a:t>32</a:t>
            </a:fld>
            <a:endParaRPr lang="en-US" sz="1100" dirty="0">
              <a:latin typeface="Helvetica" pitchFamily="34" charset="0"/>
            </a:endParaRPr>
          </a:p>
        </p:txBody>
      </p:sp>
      <p:pic>
        <p:nvPicPr>
          <p:cNvPr id="1026" name="Picture 2" descr="C:\Documents and Settings\Godaishu\Local Settings\Temporary Internet Files\Content.IE5\AIDHLZ6J\MP900442176[1].jpg"/>
          <p:cNvPicPr>
            <a:picLocks noChangeAspect="1" noChangeArrowheads="1"/>
          </p:cNvPicPr>
          <p:nvPr/>
        </p:nvPicPr>
        <p:blipFill>
          <a:blip r:embed="rId3" cstate="print"/>
          <a:srcRect/>
          <a:stretch>
            <a:fillRect/>
          </a:stretch>
        </p:blipFill>
        <p:spPr bwMode="auto">
          <a:xfrm>
            <a:off x="3779912" y="4437112"/>
            <a:ext cx="2627784" cy="1751856"/>
          </a:xfrm>
          <a:prstGeom prst="rect">
            <a:avLst/>
          </a:prstGeom>
          <a:noFill/>
        </p:spPr>
      </p:pic>
    </p:spTree>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848872" cy="1143000"/>
          </a:xfrm>
        </p:spPr>
        <p:txBody>
          <a:bodyPr>
            <a:normAutofit/>
          </a:bodyPr>
          <a:lstStyle/>
          <a:p>
            <a:pPr marL="0"/>
            <a:r>
              <a:rPr lang="en-US" sz="3400" b="1" dirty="0" smtClean="0">
                <a:solidFill>
                  <a:srgbClr val="FF6600"/>
                </a:solidFill>
                <a:latin typeface="Helvetica" pitchFamily="34" charset="0"/>
              </a:rPr>
              <a:t>Human Resources </a:t>
            </a:r>
          </a:p>
        </p:txBody>
      </p:sp>
      <p:sp>
        <p:nvSpPr>
          <p:cNvPr id="3" name="Content Placeholder 2"/>
          <p:cNvSpPr>
            <a:spLocks noGrp="1"/>
          </p:cNvSpPr>
          <p:nvPr>
            <p:ph idx="1"/>
          </p:nvPr>
        </p:nvSpPr>
        <p:spPr>
          <a:xfrm>
            <a:off x="611560" y="1556792"/>
            <a:ext cx="7920880" cy="5184576"/>
          </a:xfrm>
        </p:spPr>
        <p:txBody>
          <a:bodyPr>
            <a:normAutofit/>
          </a:bodyPr>
          <a:lstStyle/>
          <a:p>
            <a:pPr>
              <a:spcBef>
                <a:spcPts val="600"/>
              </a:spcBef>
              <a:spcAft>
                <a:spcPts val="1200"/>
              </a:spcAft>
              <a:buNone/>
            </a:pPr>
            <a:r>
              <a:rPr lang="en-AU" sz="2200" b="1" dirty="0" smtClean="0">
                <a:latin typeface="Helvetica" pitchFamily="34" charset="0"/>
              </a:rPr>
              <a:t>Types of support</a:t>
            </a:r>
          </a:p>
          <a:p>
            <a:pPr lvl="0">
              <a:spcBef>
                <a:spcPts val="600"/>
              </a:spcBef>
              <a:spcAft>
                <a:spcPts val="1200"/>
              </a:spcAft>
            </a:pPr>
            <a:r>
              <a:rPr lang="en-AU" sz="2200" dirty="0" smtClean="0">
                <a:latin typeface="Helvetica" pitchFamily="34" charset="0"/>
              </a:rPr>
              <a:t>Contacting an expert to obtain their verbal input</a:t>
            </a:r>
          </a:p>
          <a:p>
            <a:pPr lvl="0">
              <a:spcBef>
                <a:spcPts val="600"/>
              </a:spcBef>
              <a:spcAft>
                <a:spcPts val="1200"/>
              </a:spcAft>
            </a:pPr>
            <a:r>
              <a:rPr lang="en-AU" sz="2200" dirty="0" smtClean="0">
                <a:latin typeface="Helvetica" pitchFamily="34" charset="0"/>
              </a:rPr>
              <a:t>Arranging for someone else to deliver the training be a trainer from the business who supplied the equipment</a:t>
            </a:r>
          </a:p>
          <a:p>
            <a:pPr lvl="0">
              <a:spcBef>
                <a:spcPts val="600"/>
              </a:spcBef>
              <a:spcAft>
                <a:spcPts val="1200"/>
              </a:spcAft>
            </a:pPr>
            <a:r>
              <a:rPr lang="en-AU" sz="2200" dirty="0" smtClean="0">
                <a:latin typeface="Helvetica" pitchFamily="34" charset="0"/>
              </a:rPr>
              <a:t>Arranging for guest speakers</a:t>
            </a:r>
          </a:p>
          <a:p>
            <a:pPr lvl="0">
              <a:spcBef>
                <a:spcPts val="600"/>
              </a:spcBef>
              <a:spcAft>
                <a:spcPts val="1200"/>
              </a:spcAft>
            </a:pPr>
            <a:r>
              <a:rPr lang="en-AU" sz="2200" dirty="0" smtClean="0">
                <a:latin typeface="Helvetica" pitchFamily="34" charset="0"/>
              </a:rPr>
              <a:t>Arranging external events</a:t>
            </a:r>
          </a:p>
          <a:p>
            <a:pPr>
              <a:spcBef>
                <a:spcPts val="600"/>
              </a:spcBef>
              <a:spcAft>
                <a:spcPts val="1200"/>
              </a:spcAft>
            </a:pPr>
            <a:r>
              <a:rPr lang="en-AU" sz="2200" dirty="0" smtClean="0">
                <a:latin typeface="Helvetica" pitchFamily="34" charset="0"/>
              </a:rPr>
              <a:t>Obtaining training materials that someone </a:t>
            </a:r>
            <a:br>
              <a:rPr lang="en-AU" sz="2200" dirty="0" smtClean="0">
                <a:latin typeface="Helvetica" pitchFamily="34" charset="0"/>
              </a:rPr>
            </a:br>
            <a:r>
              <a:rPr lang="en-AU" sz="2200" dirty="0" smtClean="0">
                <a:latin typeface="Helvetica" pitchFamily="34" charset="0"/>
              </a:rPr>
              <a:t>else has prepared</a:t>
            </a:r>
          </a:p>
          <a:p>
            <a:pPr>
              <a:spcBef>
                <a:spcPts val="600"/>
              </a:spcBef>
              <a:spcAft>
                <a:spcPts val="1200"/>
              </a:spcAft>
            </a:pP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sz="1100" dirty="0" smtClean="0">
                <a:latin typeface="Helvetica" pitchFamily="34" charset="0"/>
              </a:rPr>
              <a:t>Slide </a:t>
            </a:r>
            <a:fld id="{90BDF71C-F485-43AE-8825-5070AF1EA8C9}" type="slidenum">
              <a:rPr lang="en-US" sz="1100" smtClean="0">
                <a:latin typeface="Helvetica" pitchFamily="34" charset="0"/>
              </a:rPr>
              <a:pPr/>
              <a:t>33</a:t>
            </a:fld>
            <a:endParaRPr lang="en-US" sz="1100" dirty="0">
              <a:latin typeface="Helvetica" pitchFamily="34" charset="0"/>
            </a:endParaRPr>
          </a:p>
        </p:txBody>
      </p:sp>
      <p:pic>
        <p:nvPicPr>
          <p:cNvPr id="2050" name="Picture 2" descr="C:\Documents and Settings\Godaishu\Local Settings\Temporary Internet Files\Content.IE5\QE61NRUL\MP900341421[1].jpg"/>
          <p:cNvPicPr>
            <a:picLocks noChangeAspect="1" noChangeArrowheads="1"/>
          </p:cNvPicPr>
          <p:nvPr/>
        </p:nvPicPr>
        <p:blipFill>
          <a:blip r:embed="rId3" cstate="print"/>
          <a:srcRect/>
          <a:stretch>
            <a:fillRect/>
          </a:stretch>
        </p:blipFill>
        <p:spPr bwMode="auto">
          <a:xfrm>
            <a:off x="6732240" y="3645024"/>
            <a:ext cx="1510007" cy="2116832"/>
          </a:xfrm>
          <a:prstGeom prst="rect">
            <a:avLst/>
          </a:prstGeom>
          <a:noFill/>
        </p:spPr>
      </p:pic>
    </p:spTree>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848872" cy="1143000"/>
          </a:xfrm>
        </p:spPr>
        <p:txBody>
          <a:bodyPr>
            <a:normAutofit/>
          </a:bodyPr>
          <a:lstStyle/>
          <a:p>
            <a:pPr marL="0"/>
            <a:r>
              <a:rPr lang="en-US" sz="3400" b="1" dirty="0" smtClean="0">
                <a:solidFill>
                  <a:srgbClr val="FF6600"/>
                </a:solidFill>
                <a:latin typeface="Helvetica" pitchFamily="34" charset="0"/>
              </a:rPr>
              <a:t>Financial resources</a:t>
            </a:r>
          </a:p>
        </p:txBody>
      </p:sp>
      <p:sp>
        <p:nvSpPr>
          <p:cNvPr id="3" name="Content Placeholder 2"/>
          <p:cNvSpPr>
            <a:spLocks noGrp="1"/>
          </p:cNvSpPr>
          <p:nvPr>
            <p:ph idx="1"/>
          </p:nvPr>
        </p:nvSpPr>
        <p:spPr>
          <a:xfrm>
            <a:off x="611560" y="1556792"/>
            <a:ext cx="7920880" cy="5184576"/>
          </a:xfrm>
        </p:spPr>
        <p:txBody>
          <a:bodyPr>
            <a:normAutofit/>
          </a:bodyPr>
          <a:lstStyle/>
          <a:p>
            <a:pPr marL="0">
              <a:spcBef>
                <a:spcPts val="600"/>
              </a:spcBef>
              <a:spcAft>
                <a:spcPts val="1200"/>
              </a:spcAft>
              <a:buNone/>
            </a:pPr>
            <a:r>
              <a:rPr lang="en-AU" sz="2200" dirty="0" smtClean="0">
                <a:latin typeface="Helvetica" pitchFamily="34" charset="0"/>
              </a:rPr>
              <a:t>There are a number of financial considerations</a:t>
            </a:r>
          </a:p>
          <a:p>
            <a:pPr>
              <a:spcBef>
                <a:spcPts val="600"/>
              </a:spcBef>
              <a:spcAft>
                <a:spcPts val="1200"/>
              </a:spcAft>
              <a:buNone/>
            </a:pPr>
            <a:r>
              <a:rPr lang="en-AU" sz="2200" dirty="0" smtClean="0">
                <a:latin typeface="Helvetica" pitchFamily="34" charset="0"/>
              </a:rPr>
              <a:t>The main considerations are:</a:t>
            </a:r>
          </a:p>
          <a:p>
            <a:pPr lvl="0">
              <a:spcBef>
                <a:spcPts val="600"/>
              </a:spcBef>
              <a:spcAft>
                <a:spcPts val="1200"/>
              </a:spcAft>
            </a:pPr>
            <a:r>
              <a:rPr lang="en-AU" sz="2200" dirty="0" smtClean="0">
                <a:latin typeface="Helvetica" pitchFamily="34" charset="0"/>
              </a:rPr>
              <a:t>Cost of training</a:t>
            </a:r>
          </a:p>
          <a:p>
            <a:pPr lvl="0">
              <a:spcBef>
                <a:spcPts val="600"/>
              </a:spcBef>
              <a:spcAft>
                <a:spcPts val="1200"/>
              </a:spcAft>
            </a:pPr>
            <a:r>
              <a:rPr lang="en-AU" sz="2200" dirty="0" smtClean="0">
                <a:latin typeface="Helvetica" pitchFamily="34" charset="0"/>
              </a:rPr>
              <a:t>Budget allocated to training</a:t>
            </a:r>
          </a:p>
          <a:p>
            <a:pPr>
              <a:spcBef>
                <a:spcPts val="600"/>
              </a:spcBef>
              <a:spcAft>
                <a:spcPts val="1200"/>
              </a:spcAft>
            </a:pP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sz="1100" dirty="0" smtClean="0">
                <a:latin typeface="Helvetica" pitchFamily="34" charset="0"/>
              </a:rPr>
              <a:t>Slide </a:t>
            </a:r>
            <a:fld id="{90BDF71C-F485-43AE-8825-5070AF1EA8C9}" type="slidenum">
              <a:rPr lang="en-US" sz="1100" smtClean="0">
                <a:latin typeface="Helvetica" pitchFamily="34" charset="0"/>
              </a:rPr>
              <a:pPr/>
              <a:t>34</a:t>
            </a:fld>
            <a:endParaRPr lang="en-US" sz="1100" dirty="0">
              <a:latin typeface="Helvetica" pitchFamily="34" charset="0"/>
            </a:endParaRPr>
          </a:p>
        </p:txBody>
      </p:sp>
      <p:pic>
        <p:nvPicPr>
          <p:cNvPr id="7" name="Picture 6" descr="710064_counting_money.jpg"/>
          <p:cNvPicPr/>
          <p:nvPr/>
        </p:nvPicPr>
        <p:blipFill>
          <a:blip r:embed="rId3" cstate="print"/>
          <a:stretch>
            <a:fillRect/>
          </a:stretch>
        </p:blipFill>
        <p:spPr>
          <a:xfrm>
            <a:off x="6084168" y="2420888"/>
            <a:ext cx="1913364" cy="1417687"/>
          </a:xfrm>
          <a:prstGeom prst="rect">
            <a:avLst/>
          </a:prstGeom>
        </p:spPr>
      </p:pic>
    </p:spTree>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208912" cy="1143000"/>
          </a:xfrm>
        </p:spPr>
        <p:txBody>
          <a:bodyPr>
            <a:normAutofit/>
          </a:bodyPr>
          <a:lstStyle/>
          <a:p>
            <a:r>
              <a:rPr lang="en-US" sz="3400" b="1" dirty="0" smtClean="0">
                <a:solidFill>
                  <a:srgbClr val="FF6600"/>
                </a:solidFill>
                <a:latin typeface="Helvetica" pitchFamily="34" charset="0"/>
              </a:rPr>
              <a:t>Physical resources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5301208"/>
          </a:xfrm>
        </p:spPr>
        <p:txBody>
          <a:bodyPr>
            <a:normAutofit/>
          </a:bodyPr>
          <a:lstStyle/>
          <a:p>
            <a:pPr>
              <a:spcBef>
                <a:spcPts val="600"/>
              </a:spcBef>
              <a:spcAft>
                <a:spcPts val="1200"/>
              </a:spcAft>
              <a:buNone/>
            </a:pPr>
            <a:r>
              <a:rPr lang="en-AU" sz="2200" b="1" dirty="0" smtClean="0">
                <a:latin typeface="Helvetica" pitchFamily="34" charset="0"/>
              </a:rPr>
              <a:t>Types of resources and materials</a:t>
            </a:r>
          </a:p>
          <a:p>
            <a:pPr>
              <a:spcBef>
                <a:spcPts val="600"/>
              </a:spcBef>
              <a:spcAft>
                <a:spcPts val="1200"/>
              </a:spcAft>
            </a:pPr>
            <a:r>
              <a:rPr lang="en-AU" sz="2200" dirty="0" smtClean="0">
                <a:latin typeface="Helvetica" pitchFamily="34" charset="0"/>
              </a:rPr>
              <a:t>Notes</a:t>
            </a:r>
          </a:p>
          <a:p>
            <a:pPr>
              <a:spcBef>
                <a:spcPts val="600"/>
              </a:spcBef>
              <a:spcAft>
                <a:spcPts val="1200"/>
              </a:spcAft>
            </a:pPr>
            <a:r>
              <a:rPr lang="en-AU" sz="2200" dirty="0" smtClean="0">
                <a:latin typeface="Helvetica" pitchFamily="34" charset="0"/>
              </a:rPr>
              <a:t>Manuals</a:t>
            </a:r>
          </a:p>
          <a:p>
            <a:pPr>
              <a:spcBef>
                <a:spcPts val="600"/>
              </a:spcBef>
              <a:spcAft>
                <a:spcPts val="1200"/>
              </a:spcAft>
            </a:pPr>
            <a:r>
              <a:rPr lang="en-AU" sz="2200" dirty="0" smtClean="0">
                <a:latin typeface="Helvetica" pitchFamily="34" charset="0"/>
              </a:rPr>
              <a:t>Handouts</a:t>
            </a:r>
          </a:p>
          <a:p>
            <a:pPr>
              <a:spcBef>
                <a:spcPts val="600"/>
              </a:spcBef>
              <a:spcAft>
                <a:spcPts val="1200"/>
              </a:spcAft>
            </a:pPr>
            <a:r>
              <a:rPr lang="en-AU" sz="2200" dirty="0" smtClean="0">
                <a:latin typeface="Helvetica" pitchFamily="34" charset="0"/>
              </a:rPr>
              <a:t>PowerPoint presentations </a:t>
            </a:r>
          </a:p>
          <a:p>
            <a:pPr>
              <a:spcBef>
                <a:spcPts val="600"/>
              </a:spcBef>
              <a:spcAft>
                <a:spcPts val="1200"/>
              </a:spcAft>
            </a:pPr>
            <a:r>
              <a:rPr lang="en-AU" sz="2200" dirty="0" smtClean="0">
                <a:latin typeface="Helvetica" pitchFamily="34" charset="0"/>
              </a:rPr>
              <a:t>Posters </a:t>
            </a:r>
          </a:p>
          <a:p>
            <a:pPr>
              <a:spcBef>
                <a:spcPts val="600"/>
              </a:spcBef>
              <a:spcAft>
                <a:spcPts val="1200"/>
              </a:spcAft>
            </a:pPr>
            <a:r>
              <a:rPr lang="en-AU" sz="2200" dirty="0" smtClean="0">
                <a:latin typeface="Helvetica" pitchFamily="34" charset="0"/>
              </a:rPr>
              <a:t>Copies of price lists</a:t>
            </a:r>
          </a:p>
          <a:p>
            <a:pPr>
              <a:spcBef>
                <a:spcPts val="600"/>
              </a:spcBef>
              <a:spcAft>
                <a:spcPts val="1200"/>
              </a:spcAft>
              <a:buNone/>
            </a:pPr>
            <a:r>
              <a:rPr lang="en-AU" sz="2200" i="1" dirty="0" smtClean="0">
                <a:latin typeface="Helvetica" pitchFamily="34" charset="0"/>
              </a:rPr>
              <a:t>(continued)</a:t>
            </a:r>
            <a:endParaRPr lang="en-US" sz="2400" i="1" dirty="0" smtClean="0"/>
          </a:p>
          <a:p>
            <a:pPr>
              <a:buNone/>
            </a:pPr>
            <a:endParaRPr lang="en-AU" sz="2400" dirty="0" smtClean="0"/>
          </a:p>
          <a:p>
            <a:pPr lvl="0">
              <a:spcBef>
                <a:spcPts val="600"/>
              </a:spcBef>
              <a:spcAft>
                <a:spcPts val="1200"/>
              </a:spcAft>
              <a:buNone/>
            </a:pPr>
            <a:endParaRPr lang="en-AU" sz="2200" dirty="0" smtClean="0">
              <a:latin typeface="Helvetica" pitchFamily="34" charset="0"/>
            </a:endParaRPr>
          </a:p>
          <a:p>
            <a:pPr lvl="0"/>
            <a:endParaRPr lang="en-AU" sz="2400" dirty="0" smtClean="0"/>
          </a:p>
          <a:p>
            <a:pPr lvl="0">
              <a:buNone/>
            </a:pPr>
            <a:endParaRPr lang="en-AU" sz="2400" dirty="0"/>
          </a:p>
        </p:txBody>
      </p:sp>
      <p:sp>
        <p:nvSpPr>
          <p:cNvPr id="4" name="Slide Number Placeholder 3"/>
          <p:cNvSpPr>
            <a:spLocks noGrp="1"/>
          </p:cNvSpPr>
          <p:nvPr>
            <p:ph type="sldNum" sz="quarter" idx="12"/>
          </p:nvPr>
        </p:nvSpPr>
        <p:spPr/>
        <p:txBody>
          <a:bodyPr/>
          <a:lstStyle/>
          <a:p>
            <a:r>
              <a:rPr lang="en-US" dirty="0" smtClean="0"/>
              <a:t> </a:t>
            </a:r>
            <a:r>
              <a:rPr lang="en-US" sz="1100" dirty="0" smtClean="0">
                <a:latin typeface="Helvetica" pitchFamily="34" charset="0"/>
              </a:rPr>
              <a:t>Slide </a:t>
            </a:r>
            <a:fld id="{90BDF71C-F485-43AE-8825-5070AF1EA8C9}" type="slidenum">
              <a:rPr lang="en-US" sz="1100" smtClean="0">
                <a:latin typeface="Helvetica" pitchFamily="34" charset="0"/>
              </a:rPr>
              <a:pPr/>
              <a:t>35</a:t>
            </a:fld>
            <a:endParaRPr lang="en-US" sz="1100" dirty="0">
              <a:latin typeface="Helvetica" pitchFamily="34" charset="0"/>
            </a:endParaRPr>
          </a:p>
        </p:txBody>
      </p:sp>
      <p:pic>
        <p:nvPicPr>
          <p:cNvPr id="7" name="Picture 6" descr="MP900400321[1].JPG"/>
          <p:cNvPicPr>
            <a:picLocks noChangeAspect="1"/>
          </p:cNvPicPr>
          <p:nvPr/>
        </p:nvPicPr>
        <p:blipFill>
          <a:blip r:embed="rId3" cstate="print"/>
          <a:stretch>
            <a:fillRect/>
          </a:stretch>
        </p:blipFill>
        <p:spPr>
          <a:xfrm>
            <a:off x="5580112" y="2708920"/>
            <a:ext cx="2664296" cy="1775504"/>
          </a:xfrm>
          <a:prstGeom prst="rect">
            <a:avLst/>
          </a:prstGeom>
        </p:spPr>
      </p:pic>
    </p:spTree>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208912" cy="1143000"/>
          </a:xfrm>
        </p:spPr>
        <p:txBody>
          <a:bodyPr>
            <a:normAutofit/>
          </a:bodyPr>
          <a:lstStyle/>
          <a:p>
            <a:r>
              <a:rPr lang="en-US" sz="3400" b="1" dirty="0" smtClean="0">
                <a:solidFill>
                  <a:srgbClr val="FF6600"/>
                </a:solidFill>
                <a:latin typeface="Helvetica" pitchFamily="34" charset="0"/>
              </a:rPr>
              <a:t>Physical resources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5301208"/>
          </a:xfrm>
        </p:spPr>
        <p:txBody>
          <a:bodyPr>
            <a:normAutofit/>
          </a:bodyPr>
          <a:lstStyle/>
          <a:p>
            <a:pPr>
              <a:spcBef>
                <a:spcPts val="600"/>
              </a:spcBef>
              <a:spcAft>
                <a:spcPts val="1200"/>
              </a:spcAft>
              <a:buNone/>
            </a:pPr>
            <a:r>
              <a:rPr lang="en-AU" sz="2200" b="1" dirty="0" smtClean="0">
                <a:latin typeface="Helvetica" pitchFamily="34" charset="0"/>
              </a:rPr>
              <a:t>Types of resources and materials</a:t>
            </a:r>
          </a:p>
          <a:p>
            <a:pPr>
              <a:spcBef>
                <a:spcPts val="600"/>
              </a:spcBef>
              <a:spcAft>
                <a:spcPts val="1200"/>
              </a:spcAft>
            </a:pPr>
            <a:r>
              <a:rPr lang="en-AU" sz="2200" dirty="0" smtClean="0">
                <a:latin typeface="Helvetica" pitchFamily="34" charset="0"/>
              </a:rPr>
              <a:t>Supplier catalogues</a:t>
            </a:r>
          </a:p>
          <a:p>
            <a:pPr>
              <a:spcBef>
                <a:spcPts val="600"/>
              </a:spcBef>
              <a:spcAft>
                <a:spcPts val="1200"/>
              </a:spcAft>
            </a:pPr>
            <a:r>
              <a:rPr lang="en-AU" sz="2200" dirty="0" smtClean="0">
                <a:latin typeface="Helvetica" pitchFamily="34" charset="0"/>
              </a:rPr>
              <a:t>Forms used within the business </a:t>
            </a:r>
          </a:p>
          <a:p>
            <a:pPr>
              <a:spcBef>
                <a:spcPts val="600"/>
              </a:spcBef>
              <a:spcAft>
                <a:spcPts val="1200"/>
              </a:spcAft>
            </a:pPr>
            <a:r>
              <a:rPr lang="en-AU" sz="2200" dirty="0" smtClean="0">
                <a:latin typeface="Helvetica" pitchFamily="34" charset="0"/>
              </a:rPr>
              <a:t>Organisational policy and procedure manuals</a:t>
            </a:r>
          </a:p>
          <a:p>
            <a:pPr>
              <a:spcBef>
                <a:spcPts val="600"/>
              </a:spcBef>
              <a:spcAft>
                <a:spcPts val="1200"/>
              </a:spcAft>
            </a:pPr>
            <a:r>
              <a:rPr lang="en-AU" sz="2200" dirty="0" smtClean="0">
                <a:latin typeface="Helvetica" pitchFamily="34" charset="0"/>
              </a:rPr>
              <a:t>Reference material and texts</a:t>
            </a:r>
          </a:p>
          <a:p>
            <a:pPr>
              <a:spcBef>
                <a:spcPts val="600"/>
              </a:spcBef>
              <a:spcAft>
                <a:spcPts val="1200"/>
              </a:spcAft>
            </a:pPr>
            <a:r>
              <a:rPr lang="en-AU" sz="2200" dirty="0" smtClean="0">
                <a:latin typeface="Helvetica" pitchFamily="34" charset="0"/>
              </a:rPr>
              <a:t>Record books, log books</a:t>
            </a:r>
          </a:p>
          <a:p>
            <a:pPr>
              <a:spcBef>
                <a:spcPts val="600"/>
              </a:spcBef>
              <a:spcAft>
                <a:spcPts val="1200"/>
              </a:spcAft>
            </a:pPr>
            <a:r>
              <a:rPr lang="en-AU" sz="2200" dirty="0" smtClean="0">
                <a:latin typeface="Helvetica" pitchFamily="34" charset="0"/>
              </a:rPr>
              <a:t>Tapes and disks </a:t>
            </a:r>
          </a:p>
          <a:p>
            <a:pPr>
              <a:spcBef>
                <a:spcPts val="600"/>
              </a:spcBef>
              <a:spcAft>
                <a:spcPts val="1200"/>
              </a:spcAft>
            </a:pPr>
            <a:r>
              <a:rPr lang="en-AU" sz="2200" dirty="0" smtClean="0">
                <a:latin typeface="Helvetica" pitchFamily="34" charset="0"/>
              </a:rPr>
              <a:t>Samples of finished products</a:t>
            </a:r>
          </a:p>
          <a:p>
            <a:endParaRPr lang="en-AU" sz="2400" b="1" dirty="0" smtClean="0"/>
          </a:p>
          <a:p>
            <a:endParaRPr lang="en-AU" sz="2400" b="1" dirty="0" smtClean="0"/>
          </a:p>
          <a:p>
            <a:endParaRPr lang="en-US" sz="2400" dirty="0" smtClean="0"/>
          </a:p>
          <a:p>
            <a:pPr>
              <a:buNone/>
            </a:pPr>
            <a:endParaRPr lang="en-AU" sz="2400" dirty="0" smtClean="0"/>
          </a:p>
          <a:p>
            <a:pPr lvl="0">
              <a:spcBef>
                <a:spcPts val="600"/>
              </a:spcBef>
              <a:spcAft>
                <a:spcPts val="1200"/>
              </a:spcAft>
              <a:buNone/>
            </a:pPr>
            <a:endParaRPr lang="en-AU" sz="2200" dirty="0" smtClean="0">
              <a:latin typeface="Helvetica" pitchFamily="34" charset="0"/>
            </a:endParaRPr>
          </a:p>
          <a:p>
            <a:pPr lvl="0"/>
            <a:endParaRPr lang="en-AU" sz="2400" dirty="0" smtClean="0"/>
          </a:p>
          <a:p>
            <a:pPr lvl="0">
              <a:buNone/>
            </a:pPr>
            <a:endParaRPr lang="en-AU" sz="2400" dirty="0"/>
          </a:p>
        </p:txBody>
      </p:sp>
      <p:sp>
        <p:nvSpPr>
          <p:cNvPr id="4" name="Slide Number Placeholder 3"/>
          <p:cNvSpPr>
            <a:spLocks noGrp="1"/>
          </p:cNvSpPr>
          <p:nvPr>
            <p:ph type="sldNum" sz="quarter" idx="12"/>
          </p:nvPr>
        </p:nvSpPr>
        <p:spPr/>
        <p:txBody>
          <a:bodyPr/>
          <a:lstStyle/>
          <a:p>
            <a:r>
              <a:rPr lang="en-US" dirty="0" smtClean="0"/>
              <a:t> </a:t>
            </a:r>
            <a:r>
              <a:rPr lang="en-US" sz="1100" dirty="0" smtClean="0">
                <a:latin typeface="Helvetica" pitchFamily="34" charset="0"/>
              </a:rPr>
              <a:t>Slide </a:t>
            </a:r>
            <a:fld id="{90BDF71C-F485-43AE-8825-5070AF1EA8C9}" type="slidenum">
              <a:rPr lang="en-US" sz="1100" smtClean="0">
                <a:latin typeface="Helvetica" pitchFamily="34" charset="0"/>
              </a:rPr>
              <a:pPr/>
              <a:t>36</a:t>
            </a:fld>
            <a:endParaRPr lang="en-US" sz="1100" dirty="0">
              <a:latin typeface="Helvetica" pitchFamily="34" charset="0"/>
            </a:endParaRPr>
          </a:p>
        </p:txBody>
      </p:sp>
      <p:pic>
        <p:nvPicPr>
          <p:cNvPr id="5" name="Picture 4" descr="MP900385355[1].JPG"/>
          <p:cNvPicPr>
            <a:picLocks noChangeAspect="1"/>
          </p:cNvPicPr>
          <p:nvPr/>
        </p:nvPicPr>
        <p:blipFill>
          <a:blip r:embed="rId3" cstate="print"/>
          <a:stretch>
            <a:fillRect/>
          </a:stretch>
        </p:blipFill>
        <p:spPr>
          <a:xfrm>
            <a:off x="5652120" y="4077072"/>
            <a:ext cx="2278698" cy="1627641"/>
          </a:xfrm>
          <a:prstGeom prst="rect">
            <a:avLst/>
          </a:prstGeom>
        </p:spPr>
      </p:pic>
    </p:spTree>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208912" cy="1143000"/>
          </a:xfrm>
        </p:spPr>
        <p:txBody>
          <a:bodyPr>
            <a:normAutofit/>
          </a:bodyPr>
          <a:lstStyle/>
          <a:p>
            <a:r>
              <a:rPr lang="en-US" sz="3400" b="1" dirty="0" smtClean="0">
                <a:solidFill>
                  <a:srgbClr val="FF6600"/>
                </a:solidFill>
                <a:latin typeface="Helvetica" pitchFamily="34" charset="0"/>
              </a:rPr>
              <a:t>Physical resources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5301208"/>
          </a:xfrm>
        </p:spPr>
        <p:txBody>
          <a:bodyPr>
            <a:normAutofit/>
          </a:bodyPr>
          <a:lstStyle/>
          <a:p>
            <a:pPr lvl="0">
              <a:spcBef>
                <a:spcPts val="600"/>
              </a:spcBef>
              <a:spcAft>
                <a:spcPts val="1200"/>
              </a:spcAft>
              <a:buNone/>
            </a:pPr>
            <a:r>
              <a:rPr lang="en-AU" sz="2200" b="1" dirty="0" smtClean="0">
                <a:latin typeface="Helvetica" pitchFamily="34" charset="0"/>
              </a:rPr>
              <a:t>Items required to support training practice</a:t>
            </a:r>
          </a:p>
          <a:p>
            <a:pPr lvl="0">
              <a:spcBef>
                <a:spcPts val="600"/>
              </a:spcBef>
              <a:spcAft>
                <a:spcPts val="1200"/>
              </a:spcAft>
            </a:pPr>
            <a:r>
              <a:rPr lang="en-AU" sz="2200" dirty="0" smtClean="0">
                <a:latin typeface="Helvetica" pitchFamily="34" charset="0"/>
              </a:rPr>
              <a:t>Case studies</a:t>
            </a:r>
          </a:p>
          <a:p>
            <a:pPr lvl="0">
              <a:spcBef>
                <a:spcPts val="600"/>
              </a:spcBef>
              <a:spcAft>
                <a:spcPts val="1200"/>
              </a:spcAft>
            </a:pPr>
            <a:r>
              <a:rPr lang="en-AU" sz="2200" dirty="0" smtClean="0">
                <a:latin typeface="Helvetica" pitchFamily="34" charset="0"/>
              </a:rPr>
              <a:t>Activities</a:t>
            </a:r>
          </a:p>
          <a:p>
            <a:pPr lvl="0">
              <a:spcBef>
                <a:spcPts val="600"/>
              </a:spcBef>
              <a:spcAft>
                <a:spcPts val="1200"/>
              </a:spcAft>
            </a:pPr>
            <a:r>
              <a:rPr lang="en-AU" sz="2200" dirty="0" smtClean="0">
                <a:latin typeface="Helvetica" pitchFamily="34" charset="0"/>
              </a:rPr>
              <a:t>Exercises </a:t>
            </a:r>
          </a:p>
          <a:p>
            <a:pPr lvl="0">
              <a:spcBef>
                <a:spcPts val="600"/>
              </a:spcBef>
              <a:spcAft>
                <a:spcPts val="1200"/>
              </a:spcAft>
            </a:pPr>
            <a:r>
              <a:rPr lang="en-AU" sz="2200" dirty="0" smtClean="0">
                <a:latin typeface="Helvetica" pitchFamily="34" charset="0"/>
              </a:rPr>
              <a:t>Worksheets and workbooks </a:t>
            </a:r>
          </a:p>
          <a:p>
            <a:pPr lvl="0">
              <a:spcBef>
                <a:spcPts val="600"/>
              </a:spcBef>
              <a:spcAft>
                <a:spcPts val="1200"/>
              </a:spcAft>
            </a:pPr>
            <a:r>
              <a:rPr lang="en-AU" sz="2200" dirty="0" smtClean="0">
                <a:latin typeface="Helvetica" pitchFamily="34" charset="0"/>
              </a:rPr>
              <a:t>Task sheets</a:t>
            </a:r>
          </a:p>
          <a:p>
            <a:pPr lvl="0">
              <a:spcBef>
                <a:spcPts val="600"/>
              </a:spcBef>
              <a:spcAft>
                <a:spcPts val="1200"/>
              </a:spcAft>
            </a:pPr>
            <a:r>
              <a:rPr lang="en-AU" sz="2200" dirty="0" smtClean="0">
                <a:latin typeface="Helvetica" pitchFamily="34" charset="0"/>
              </a:rPr>
              <a:t>Assessments</a:t>
            </a:r>
          </a:p>
          <a:p>
            <a:endParaRPr lang="en-AU" sz="2400" b="1" dirty="0" smtClean="0"/>
          </a:p>
          <a:p>
            <a:endParaRPr lang="en-AU" sz="2400" b="1" dirty="0" smtClean="0"/>
          </a:p>
          <a:p>
            <a:endParaRPr lang="en-US" sz="2400" dirty="0" smtClean="0"/>
          </a:p>
          <a:p>
            <a:pPr>
              <a:buNone/>
            </a:pPr>
            <a:endParaRPr lang="en-AU" sz="2400" dirty="0" smtClean="0"/>
          </a:p>
          <a:p>
            <a:pPr lvl="0">
              <a:spcBef>
                <a:spcPts val="600"/>
              </a:spcBef>
              <a:spcAft>
                <a:spcPts val="1200"/>
              </a:spcAft>
              <a:buNone/>
            </a:pPr>
            <a:endParaRPr lang="en-AU" sz="2200" dirty="0" smtClean="0">
              <a:latin typeface="Helvetica" pitchFamily="34" charset="0"/>
            </a:endParaRPr>
          </a:p>
          <a:p>
            <a:pPr lvl="0"/>
            <a:endParaRPr lang="en-AU" sz="2400" dirty="0" smtClean="0"/>
          </a:p>
          <a:p>
            <a:pPr lvl="0">
              <a:buNone/>
            </a:pPr>
            <a:endParaRPr lang="en-AU" sz="2400" dirty="0"/>
          </a:p>
        </p:txBody>
      </p:sp>
      <p:sp>
        <p:nvSpPr>
          <p:cNvPr id="4" name="Slide Number Placeholder 3"/>
          <p:cNvSpPr>
            <a:spLocks noGrp="1"/>
          </p:cNvSpPr>
          <p:nvPr>
            <p:ph type="sldNum" sz="quarter" idx="12"/>
          </p:nvPr>
        </p:nvSpPr>
        <p:spPr/>
        <p:txBody>
          <a:bodyPr/>
          <a:lstStyle/>
          <a:p>
            <a:r>
              <a:rPr lang="en-US" dirty="0" smtClean="0"/>
              <a:t> </a:t>
            </a:r>
            <a:r>
              <a:rPr lang="en-US" sz="1100" dirty="0" smtClean="0">
                <a:latin typeface="Helvetica" pitchFamily="34" charset="0"/>
              </a:rPr>
              <a:t>Slide </a:t>
            </a:r>
            <a:fld id="{90BDF71C-F485-43AE-8825-5070AF1EA8C9}" type="slidenum">
              <a:rPr lang="en-US" sz="1100" smtClean="0">
                <a:latin typeface="Helvetica" pitchFamily="34" charset="0"/>
              </a:rPr>
              <a:pPr/>
              <a:t>37</a:t>
            </a:fld>
            <a:endParaRPr lang="en-US" sz="1100" dirty="0">
              <a:latin typeface="Helvetica" pitchFamily="34" charset="0"/>
            </a:endParaRPr>
          </a:p>
        </p:txBody>
      </p:sp>
      <p:pic>
        <p:nvPicPr>
          <p:cNvPr id="5" name="Picture 4" descr="MP900443367[1].JPG"/>
          <p:cNvPicPr>
            <a:picLocks noChangeAspect="1"/>
          </p:cNvPicPr>
          <p:nvPr/>
        </p:nvPicPr>
        <p:blipFill>
          <a:blip r:embed="rId3" cstate="print"/>
          <a:stretch>
            <a:fillRect/>
          </a:stretch>
        </p:blipFill>
        <p:spPr>
          <a:xfrm>
            <a:off x="5940152" y="2708920"/>
            <a:ext cx="1628971" cy="2348880"/>
          </a:xfrm>
          <a:prstGeom prst="rect">
            <a:avLst/>
          </a:prstGeom>
        </p:spPr>
      </p:pic>
    </p:spTree>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208912" cy="1143000"/>
          </a:xfrm>
        </p:spPr>
        <p:txBody>
          <a:bodyPr>
            <a:normAutofit/>
          </a:bodyPr>
          <a:lstStyle/>
          <a:p>
            <a:r>
              <a:rPr lang="en-US" sz="3400" b="1" dirty="0" smtClean="0">
                <a:solidFill>
                  <a:srgbClr val="FF6600"/>
                </a:solidFill>
                <a:latin typeface="Helvetica" pitchFamily="34" charset="0"/>
              </a:rPr>
              <a:t>Physical resources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5301208"/>
          </a:xfrm>
        </p:spPr>
        <p:txBody>
          <a:bodyPr>
            <a:normAutofit/>
          </a:bodyPr>
          <a:lstStyle/>
          <a:p>
            <a:pPr lvl="0">
              <a:spcBef>
                <a:spcPts val="600"/>
              </a:spcBef>
              <a:spcAft>
                <a:spcPts val="1200"/>
              </a:spcAft>
              <a:buNone/>
            </a:pPr>
            <a:r>
              <a:rPr lang="en-AU" sz="2200" b="1" dirty="0" smtClean="0">
                <a:latin typeface="Helvetica" pitchFamily="34" charset="0"/>
              </a:rPr>
              <a:t>Equipment used for demonstrations</a:t>
            </a:r>
          </a:p>
          <a:p>
            <a:pPr>
              <a:spcBef>
                <a:spcPts val="600"/>
              </a:spcBef>
              <a:spcAft>
                <a:spcPts val="1200"/>
              </a:spcAft>
            </a:pPr>
            <a:r>
              <a:rPr lang="en-AU" sz="2200" dirty="0" smtClean="0">
                <a:latin typeface="Helvetica" pitchFamily="34" charset="0"/>
              </a:rPr>
              <a:t>Actual equipment</a:t>
            </a:r>
          </a:p>
          <a:p>
            <a:pPr>
              <a:spcBef>
                <a:spcPts val="600"/>
              </a:spcBef>
              <a:spcAft>
                <a:spcPts val="1200"/>
              </a:spcAft>
            </a:pPr>
            <a:r>
              <a:rPr lang="en-AU" sz="2200" dirty="0" smtClean="0">
                <a:latin typeface="Helvetica" pitchFamily="34" charset="0"/>
              </a:rPr>
              <a:t>Associated items</a:t>
            </a:r>
          </a:p>
          <a:p>
            <a:pPr>
              <a:spcBef>
                <a:spcPts val="600"/>
              </a:spcBef>
              <a:spcAft>
                <a:spcPts val="1200"/>
              </a:spcAft>
            </a:pPr>
            <a:r>
              <a:rPr lang="en-AU" sz="2200" dirty="0" smtClean="0">
                <a:latin typeface="Helvetica" pitchFamily="34" charset="0"/>
              </a:rPr>
              <a:t>Utensils</a:t>
            </a:r>
          </a:p>
          <a:p>
            <a:pPr>
              <a:spcBef>
                <a:spcPts val="600"/>
              </a:spcBef>
              <a:spcAft>
                <a:spcPts val="1200"/>
              </a:spcAft>
            </a:pPr>
            <a:r>
              <a:rPr lang="en-AU" sz="2200" dirty="0" smtClean="0">
                <a:latin typeface="Helvetica" pitchFamily="34" charset="0"/>
              </a:rPr>
              <a:t>Ancillary materials</a:t>
            </a:r>
            <a:endParaRPr lang="en-AU" sz="2200" b="1" dirty="0" smtClean="0">
              <a:latin typeface="Helvetica" pitchFamily="34" charset="0"/>
            </a:endParaRPr>
          </a:p>
          <a:p>
            <a:endParaRPr lang="en-AU" sz="2400" b="1" dirty="0" smtClean="0"/>
          </a:p>
          <a:p>
            <a:endParaRPr lang="en-US" sz="2400" dirty="0" smtClean="0"/>
          </a:p>
          <a:p>
            <a:pPr>
              <a:buNone/>
            </a:pPr>
            <a:endParaRPr lang="en-AU" sz="2400" dirty="0" smtClean="0"/>
          </a:p>
          <a:p>
            <a:pPr lvl="0">
              <a:spcBef>
                <a:spcPts val="600"/>
              </a:spcBef>
              <a:spcAft>
                <a:spcPts val="1200"/>
              </a:spcAft>
              <a:buNone/>
            </a:pPr>
            <a:endParaRPr lang="en-AU" sz="2200" dirty="0" smtClean="0">
              <a:latin typeface="Helvetica" pitchFamily="34" charset="0"/>
            </a:endParaRPr>
          </a:p>
          <a:p>
            <a:pPr lvl="0"/>
            <a:endParaRPr lang="en-AU" sz="2400" dirty="0" smtClean="0"/>
          </a:p>
          <a:p>
            <a:pPr lvl="0">
              <a:buNone/>
            </a:pPr>
            <a:endParaRPr lang="en-AU" sz="2400" dirty="0"/>
          </a:p>
        </p:txBody>
      </p:sp>
      <p:sp>
        <p:nvSpPr>
          <p:cNvPr id="4" name="Slide Number Placeholder 3"/>
          <p:cNvSpPr>
            <a:spLocks noGrp="1"/>
          </p:cNvSpPr>
          <p:nvPr>
            <p:ph type="sldNum" sz="quarter" idx="12"/>
          </p:nvPr>
        </p:nvSpPr>
        <p:spPr/>
        <p:txBody>
          <a:bodyPr/>
          <a:lstStyle/>
          <a:p>
            <a:r>
              <a:rPr lang="en-US" dirty="0" smtClean="0"/>
              <a:t> </a:t>
            </a:r>
            <a:r>
              <a:rPr lang="en-US" sz="1100" dirty="0" smtClean="0">
                <a:latin typeface="Helvetica" pitchFamily="34" charset="0"/>
              </a:rPr>
              <a:t>Slide </a:t>
            </a:r>
            <a:fld id="{90BDF71C-F485-43AE-8825-5070AF1EA8C9}" type="slidenum">
              <a:rPr lang="en-US" sz="1100" smtClean="0">
                <a:latin typeface="Helvetica" pitchFamily="34" charset="0"/>
              </a:rPr>
              <a:pPr/>
              <a:t>38</a:t>
            </a:fld>
            <a:endParaRPr lang="en-US" sz="1100" dirty="0">
              <a:latin typeface="Helvetica" pitchFamily="34" charset="0"/>
            </a:endParaRPr>
          </a:p>
        </p:txBody>
      </p:sp>
      <p:pic>
        <p:nvPicPr>
          <p:cNvPr id="5" name="Picture 4" descr="MP900177962[1].JPG"/>
          <p:cNvPicPr>
            <a:picLocks noChangeAspect="1"/>
          </p:cNvPicPr>
          <p:nvPr/>
        </p:nvPicPr>
        <p:blipFill>
          <a:blip r:embed="rId3" cstate="print"/>
          <a:stretch>
            <a:fillRect/>
          </a:stretch>
        </p:blipFill>
        <p:spPr>
          <a:xfrm>
            <a:off x="5436096" y="2420888"/>
            <a:ext cx="2685492" cy="1790328"/>
          </a:xfrm>
          <a:prstGeom prst="rect">
            <a:avLst/>
          </a:prstGeom>
        </p:spPr>
      </p:pic>
    </p:spTree>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208912" cy="1143000"/>
          </a:xfrm>
        </p:spPr>
        <p:txBody>
          <a:bodyPr>
            <a:normAutofit/>
          </a:bodyPr>
          <a:lstStyle/>
          <a:p>
            <a:r>
              <a:rPr lang="en-US" sz="3400" b="1" dirty="0" smtClean="0">
                <a:solidFill>
                  <a:srgbClr val="FF6600"/>
                </a:solidFill>
                <a:latin typeface="Helvetica" pitchFamily="34" charset="0"/>
              </a:rPr>
              <a:t>Physical resources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5301208"/>
          </a:xfrm>
        </p:spPr>
        <p:txBody>
          <a:bodyPr>
            <a:normAutofit/>
          </a:bodyPr>
          <a:lstStyle/>
          <a:p>
            <a:pPr lvl="0">
              <a:spcBef>
                <a:spcPts val="600"/>
              </a:spcBef>
              <a:spcAft>
                <a:spcPts val="1200"/>
              </a:spcAft>
              <a:buNone/>
            </a:pPr>
            <a:r>
              <a:rPr lang="en-AU" sz="2200" b="1" dirty="0" smtClean="0">
                <a:latin typeface="Helvetica" pitchFamily="34" charset="0"/>
              </a:rPr>
              <a:t>Consumables </a:t>
            </a:r>
          </a:p>
          <a:p>
            <a:pPr lvl="0">
              <a:spcBef>
                <a:spcPts val="600"/>
              </a:spcBef>
              <a:spcAft>
                <a:spcPts val="1200"/>
              </a:spcAft>
            </a:pPr>
            <a:r>
              <a:rPr lang="en-AU" sz="2200" dirty="0" smtClean="0">
                <a:latin typeface="Helvetica" pitchFamily="34" charset="0"/>
              </a:rPr>
              <a:t>This is anything that is used during the training process</a:t>
            </a:r>
          </a:p>
          <a:p>
            <a:endParaRPr lang="en-AU" sz="2400" b="1" dirty="0" smtClean="0"/>
          </a:p>
          <a:p>
            <a:endParaRPr lang="en-US" sz="2400" dirty="0" smtClean="0"/>
          </a:p>
          <a:p>
            <a:pPr>
              <a:buNone/>
            </a:pPr>
            <a:endParaRPr lang="en-AU" sz="2400" dirty="0" smtClean="0"/>
          </a:p>
          <a:p>
            <a:pPr lvl="0">
              <a:spcBef>
                <a:spcPts val="600"/>
              </a:spcBef>
              <a:spcAft>
                <a:spcPts val="1200"/>
              </a:spcAft>
              <a:buNone/>
            </a:pPr>
            <a:endParaRPr lang="en-AU" sz="2200" dirty="0" smtClean="0">
              <a:latin typeface="Helvetica" pitchFamily="34" charset="0"/>
            </a:endParaRPr>
          </a:p>
          <a:p>
            <a:pPr lvl="0"/>
            <a:endParaRPr lang="en-AU" sz="2400" dirty="0" smtClean="0"/>
          </a:p>
          <a:p>
            <a:pPr lvl="0">
              <a:buNone/>
            </a:pPr>
            <a:endParaRPr lang="en-AU" sz="2400" dirty="0"/>
          </a:p>
        </p:txBody>
      </p:sp>
      <p:sp>
        <p:nvSpPr>
          <p:cNvPr id="4" name="Slide Number Placeholder 3"/>
          <p:cNvSpPr>
            <a:spLocks noGrp="1"/>
          </p:cNvSpPr>
          <p:nvPr>
            <p:ph type="sldNum" sz="quarter" idx="12"/>
          </p:nvPr>
        </p:nvSpPr>
        <p:spPr/>
        <p:txBody>
          <a:bodyPr/>
          <a:lstStyle/>
          <a:p>
            <a:r>
              <a:rPr lang="en-US" dirty="0" smtClean="0"/>
              <a:t> </a:t>
            </a:r>
            <a:r>
              <a:rPr lang="en-US" sz="1100" dirty="0" smtClean="0">
                <a:latin typeface="Helvetica" pitchFamily="34" charset="0"/>
              </a:rPr>
              <a:t>Slide </a:t>
            </a:r>
            <a:fld id="{90BDF71C-F485-43AE-8825-5070AF1EA8C9}" type="slidenum">
              <a:rPr lang="en-US" sz="1100" smtClean="0">
                <a:latin typeface="Helvetica" pitchFamily="34" charset="0"/>
              </a:rPr>
              <a:pPr/>
              <a:t>39</a:t>
            </a:fld>
            <a:endParaRPr lang="en-US" sz="1100" dirty="0">
              <a:latin typeface="Helvetica" pitchFamily="34" charset="0"/>
            </a:endParaRPr>
          </a:p>
        </p:txBody>
      </p:sp>
      <p:pic>
        <p:nvPicPr>
          <p:cNvPr id="6" name="Picture 5" descr="MP900399552[1].JPG"/>
          <p:cNvPicPr>
            <a:picLocks noChangeAspect="1"/>
          </p:cNvPicPr>
          <p:nvPr/>
        </p:nvPicPr>
        <p:blipFill>
          <a:blip r:embed="rId3" cstate="print"/>
          <a:stretch>
            <a:fillRect/>
          </a:stretch>
        </p:blipFill>
        <p:spPr>
          <a:xfrm>
            <a:off x="3707904" y="2996952"/>
            <a:ext cx="1698368" cy="2123479"/>
          </a:xfrm>
          <a:prstGeom prst="rect">
            <a:avLst/>
          </a:prstGeom>
        </p:spPr>
      </p:pic>
    </p:spTree>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208912" cy="1143000"/>
          </a:xfrm>
        </p:spPr>
        <p:txBody>
          <a:bodyPr>
            <a:normAutofit/>
          </a:bodyPr>
          <a:lstStyle/>
          <a:p>
            <a:r>
              <a:rPr lang="en-US" sz="3400" b="1" dirty="0" smtClean="0">
                <a:solidFill>
                  <a:srgbClr val="FF6600"/>
                </a:solidFill>
                <a:latin typeface="Helvetica" pitchFamily="34" charset="0"/>
              </a:rPr>
              <a:t>Sources of resources and materials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5301208"/>
          </a:xfrm>
        </p:spPr>
        <p:txBody>
          <a:bodyPr>
            <a:normAutofit/>
          </a:bodyPr>
          <a:lstStyle/>
          <a:p>
            <a:pPr lvl="0">
              <a:spcBef>
                <a:spcPts val="600"/>
              </a:spcBef>
              <a:spcAft>
                <a:spcPts val="1200"/>
              </a:spcAft>
              <a:buNone/>
            </a:pPr>
            <a:r>
              <a:rPr lang="en-AU" sz="2200" dirty="0" smtClean="0">
                <a:latin typeface="Helvetica" pitchFamily="34" charset="0"/>
              </a:rPr>
              <a:t>Resources and materials can be generated by:</a:t>
            </a:r>
          </a:p>
          <a:p>
            <a:pPr lvl="0">
              <a:spcBef>
                <a:spcPts val="600"/>
              </a:spcBef>
              <a:spcAft>
                <a:spcPts val="1200"/>
              </a:spcAft>
            </a:pPr>
            <a:r>
              <a:rPr lang="en-AU" sz="2200" dirty="0" smtClean="0">
                <a:latin typeface="Helvetica" pitchFamily="34" charset="0"/>
              </a:rPr>
              <a:t>Using existing resources</a:t>
            </a:r>
          </a:p>
          <a:p>
            <a:pPr lvl="0">
              <a:spcBef>
                <a:spcPts val="600"/>
              </a:spcBef>
              <a:spcAft>
                <a:spcPts val="1200"/>
              </a:spcAft>
            </a:pPr>
            <a:r>
              <a:rPr lang="en-AU" sz="2200" dirty="0" smtClean="0">
                <a:latin typeface="Helvetica" pitchFamily="34" charset="0"/>
              </a:rPr>
              <a:t>Preparing them yourself</a:t>
            </a:r>
          </a:p>
          <a:p>
            <a:pPr lvl="0">
              <a:spcBef>
                <a:spcPts val="600"/>
              </a:spcBef>
              <a:spcAft>
                <a:spcPts val="1200"/>
              </a:spcAft>
            </a:pPr>
            <a:r>
              <a:rPr lang="en-AU" sz="2200" dirty="0" smtClean="0">
                <a:latin typeface="Helvetica" pitchFamily="34" charset="0"/>
              </a:rPr>
              <a:t>Purchasing them from professional </a:t>
            </a:r>
            <a:br>
              <a:rPr lang="en-AU" sz="2200" dirty="0" smtClean="0">
                <a:latin typeface="Helvetica" pitchFamily="34" charset="0"/>
              </a:rPr>
            </a:br>
            <a:r>
              <a:rPr lang="en-AU" sz="2200" dirty="0" smtClean="0">
                <a:latin typeface="Helvetica" pitchFamily="34" charset="0"/>
              </a:rPr>
              <a:t>training organisations</a:t>
            </a:r>
          </a:p>
          <a:p>
            <a:pPr lvl="0">
              <a:spcBef>
                <a:spcPts val="600"/>
              </a:spcBef>
              <a:spcAft>
                <a:spcPts val="1200"/>
              </a:spcAft>
            </a:pPr>
            <a:r>
              <a:rPr lang="en-AU" sz="2200" dirty="0" smtClean="0">
                <a:latin typeface="Helvetica" pitchFamily="34" charset="0"/>
              </a:rPr>
              <a:t>Obtaining them from other sources</a:t>
            </a:r>
            <a:endParaRPr lang="en-AU" sz="2400" b="1" dirty="0" smtClean="0"/>
          </a:p>
          <a:p>
            <a:endParaRPr lang="en-US" sz="2400" dirty="0" smtClean="0"/>
          </a:p>
          <a:p>
            <a:pPr>
              <a:buNone/>
            </a:pPr>
            <a:endParaRPr lang="en-AU" sz="2400" dirty="0" smtClean="0"/>
          </a:p>
          <a:p>
            <a:pPr lvl="0">
              <a:spcBef>
                <a:spcPts val="600"/>
              </a:spcBef>
              <a:spcAft>
                <a:spcPts val="1200"/>
              </a:spcAft>
              <a:buNone/>
            </a:pPr>
            <a:endParaRPr lang="en-AU" sz="2200" dirty="0" smtClean="0">
              <a:latin typeface="Helvetica" pitchFamily="34" charset="0"/>
            </a:endParaRPr>
          </a:p>
          <a:p>
            <a:pPr lvl="0"/>
            <a:endParaRPr lang="en-AU" sz="2400" dirty="0" smtClean="0"/>
          </a:p>
          <a:p>
            <a:pPr lvl="0">
              <a:buNone/>
            </a:pPr>
            <a:endParaRPr lang="en-AU" sz="2400" dirty="0"/>
          </a:p>
        </p:txBody>
      </p:sp>
      <p:sp>
        <p:nvSpPr>
          <p:cNvPr id="4" name="Slide Number Placeholder 3"/>
          <p:cNvSpPr>
            <a:spLocks noGrp="1"/>
          </p:cNvSpPr>
          <p:nvPr>
            <p:ph type="sldNum" sz="quarter" idx="12"/>
          </p:nvPr>
        </p:nvSpPr>
        <p:spPr/>
        <p:txBody>
          <a:bodyPr/>
          <a:lstStyle/>
          <a:p>
            <a:r>
              <a:rPr lang="en-US" dirty="0" smtClean="0"/>
              <a:t> </a:t>
            </a:r>
            <a:r>
              <a:rPr lang="en-US" sz="1100" dirty="0" smtClean="0">
                <a:latin typeface="Helvetica" pitchFamily="34" charset="0"/>
              </a:rPr>
              <a:t>Slide </a:t>
            </a:r>
            <a:fld id="{90BDF71C-F485-43AE-8825-5070AF1EA8C9}" type="slidenum">
              <a:rPr lang="en-US" sz="1100" smtClean="0">
                <a:latin typeface="Helvetica" pitchFamily="34" charset="0"/>
              </a:rPr>
              <a:pPr/>
              <a:t>40</a:t>
            </a:fld>
            <a:endParaRPr lang="en-US" sz="1100" dirty="0">
              <a:latin typeface="Helvetica" pitchFamily="34" charset="0"/>
            </a:endParaRPr>
          </a:p>
        </p:txBody>
      </p:sp>
      <p:pic>
        <p:nvPicPr>
          <p:cNvPr id="7" name="Picture 6" descr="00302936.jpg"/>
          <p:cNvPicPr/>
          <p:nvPr/>
        </p:nvPicPr>
        <p:blipFill>
          <a:blip r:embed="rId3" cstate="print"/>
          <a:stretch>
            <a:fillRect/>
          </a:stretch>
        </p:blipFill>
        <p:spPr>
          <a:xfrm>
            <a:off x="6444208" y="2348880"/>
            <a:ext cx="1614289" cy="2105397"/>
          </a:xfrm>
          <a:prstGeom prst="rect">
            <a:avLst/>
          </a:prstGeom>
        </p:spPr>
      </p:pic>
    </p:spTree>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208912" cy="1143000"/>
          </a:xfrm>
        </p:spPr>
        <p:txBody>
          <a:bodyPr>
            <a:normAutofit/>
          </a:bodyPr>
          <a:lstStyle/>
          <a:p>
            <a:r>
              <a:rPr lang="en-US" sz="3200" b="1" dirty="0" smtClean="0">
                <a:solidFill>
                  <a:srgbClr val="FF6600"/>
                </a:solidFill>
                <a:latin typeface="Helvetica" pitchFamily="34" charset="0"/>
              </a:rPr>
              <a:t>Using existing resources and materials</a:t>
            </a:r>
            <a:endParaRPr lang="en-US" sz="32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5301208"/>
          </a:xfrm>
        </p:spPr>
        <p:txBody>
          <a:bodyPr>
            <a:normAutofit/>
          </a:bodyPr>
          <a:lstStyle/>
          <a:p>
            <a:pPr marL="0">
              <a:spcBef>
                <a:spcPts val="600"/>
              </a:spcBef>
              <a:spcAft>
                <a:spcPts val="1200"/>
              </a:spcAft>
              <a:buNone/>
            </a:pPr>
            <a:r>
              <a:rPr lang="en-AU" sz="2200" dirty="0" smtClean="0">
                <a:latin typeface="Helvetica" pitchFamily="34" charset="0"/>
              </a:rPr>
              <a:t>Using existing resources, where available, is the most effective way of preparing resources as a lot of the hard work has already been done.</a:t>
            </a:r>
          </a:p>
          <a:p>
            <a:pPr>
              <a:spcBef>
                <a:spcPts val="600"/>
              </a:spcBef>
              <a:spcAft>
                <a:spcPts val="1200"/>
              </a:spcAft>
              <a:buNone/>
            </a:pPr>
            <a:r>
              <a:rPr lang="en-AU" sz="2200" dirty="0" smtClean="0">
                <a:latin typeface="Helvetica" pitchFamily="34" charset="0"/>
              </a:rPr>
              <a:t>Remember:</a:t>
            </a:r>
          </a:p>
          <a:p>
            <a:pPr>
              <a:spcBef>
                <a:spcPts val="600"/>
              </a:spcBef>
              <a:spcAft>
                <a:spcPts val="1200"/>
              </a:spcAft>
            </a:pPr>
            <a:r>
              <a:rPr lang="en-AU" sz="2200" dirty="0" smtClean="0">
                <a:latin typeface="Helvetica" pitchFamily="34" charset="0"/>
              </a:rPr>
              <a:t>Alter to meet the exact needs of the training programs</a:t>
            </a:r>
          </a:p>
          <a:p>
            <a:pPr>
              <a:spcBef>
                <a:spcPts val="600"/>
              </a:spcBef>
              <a:spcAft>
                <a:spcPts val="1200"/>
              </a:spcAft>
            </a:pPr>
            <a:r>
              <a:rPr lang="en-AU" sz="2200" dirty="0" smtClean="0">
                <a:latin typeface="Helvetica" pitchFamily="34" charset="0"/>
              </a:rPr>
              <a:t>Ensure they are up to date, current and valid</a:t>
            </a:r>
          </a:p>
          <a:p>
            <a:pPr>
              <a:spcBef>
                <a:spcPts val="600"/>
              </a:spcBef>
              <a:spcAft>
                <a:spcPts val="1200"/>
              </a:spcAft>
            </a:pPr>
            <a:r>
              <a:rPr lang="en-AU" sz="2200" dirty="0" smtClean="0">
                <a:latin typeface="Helvetica" pitchFamily="34" charset="0"/>
              </a:rPr>
              <a:t>They must support that specific training </a:t>
            </a:r>
            <a:br>
              <a:rPr lang="en-AU" sz="2200" dirty="0" smtClean="0">
                <a:latin typeface="Helvetica" pitchFamily="34" charset="0"/>
              </a:rPr>
            </a:br>
            <a:r>
              <a:rPr lang="en-AU" sz="2200" dirty="0" smtClean="0">
                <a:latin typeface="Helvetica" pitchFamily="34" charset="0"/>
              </a:rPr>
              <a:t>delivery</a:t>
            </a:r>
          </a:p>
          <a:p>
            <a:pPr>
              <a:spcBef>
                <a:spcPts val="600"/>
              </a:spcBef>
              <a:spcAft>
                <a:spcPts val="1200"/>
              </a:spcAft>
            </a:pPr>
            <a:r>
              <a:rPr lang="en-AU" sz="2200" dirty="0" smtClean="0">
                <a:latin typeface="Helvetica" pitchFamily="34" charset="0"/>
              </a:rPr>
              <a:t>Check any copyright or use restrictions</a:t>
            </a:r>
          </a:p>
          <a:p>
            <a:endParaRPr lang="en-AU" sz="2400" b="1" dirty="0" smtClean="0"/>
          </a:p>
          <a:p>
            <a:endParaRPr lang="en-US" sz="2400" dirty="0" smtClean="0"/>
          </a:p>
          <a:p>
            <a:pPr>
              <a:buNone/>
            </a:pPr>
            <a:endParaRPr lang="en-AU" sz="2400" dirty="0" smtClean="0"/>
          </a:p>
          <a:p>
            <a:pPr lvl="0">
              <a:spcBef>
                <a:spcPts val="600"/>
              </a:spcBef>
              <a:spcAft>
                <a:spcPts val="1200"/>
              </a:spcAft>
              <a:buNone/>
            </a:pPr>
            <a:endParaRPr lang="en-AU" sz="2200" dirty="0" smtClean="0">
              <a:latin typeface="Helvetica" pitchFamily="34" charset="0"/>
            </a:endParaRPr>
          </a:p>
          <a:p>
            <a:pPr lvl="0"/>
            <a:endParaRPr lang="en-AU" sz="2400" dirty="0" smtClean="0"/>
          </a:p>
          <a:p>
            <a:pPr lvl="0">
              <a:buNone/>
            </a:pPr>
            <a:endParaRPr lang="en-AU" sz="2400" dirty="0"/>
          </a:p>
        </p:txBody>
      </p:sp>
      <p:sp>
        <p:nvSpPr>
          <p:cNvPr id="4" name="Slide Number Placeholder 3"/>
          <p:cNvSpPr>
            <a:spLocks noGrp="1"/>
          </p:cNvSpPr>
          <p:nvPr>
            <p:ph type="sldNum" sz="quarter" idx="12"/>
          </p:nvPr>
        </p:nvSpPr>
        <p:spPr/>
        <p:txBody>
          <a:bodyPr/>
          <a:lstStyle/>
          <a:p>
            <a:r>
              <a:rPr lang="en-US" dirty="0" smtClean="0"/>
              <a:t> </a:t>
            </a:r>
            <a:r>
              <a:rPr lang="en-US" sz="1100" dirty="0" smtClean="0">
                <a:latin typeface="Helvetica" pitchFamily="34" charset="0"/>
              </a:rPr>
              <a:t>Slide </a:t>
            </a:r>
            <a:fld id="{90BDF71C-F485-43AE-8825-5070AF1EA8C9}" type="slidenum">
              <a:rPr lang="en-US" sz="1100" smtClean="0">
                <a:latin typeface="Helvetica" pitchFamily="34" charset="0"/>
              </a:rPr>
              <a:pPr/>
              <a:t>41</a:t>
            </a:fld>
            <a:endParaRPr lang="en-US" sz="1100" dirty="0">
              <a:latin typeface="Helvetica" pitchFamily="34" charset="0"/>
            </a:endParaRPr>
          </a:p>
        </p:txBody>
      </p:sp>
      <p:pic>
        <p:nvPicPr>
          <p:cNvPr id="6" name="Picture 5" descr="MP900385553.JPG"/>
          <p:cNvPicPr/>
          <p:nvPr/>
        </p:nvPicPr>
        <p:blipFill>
          <a:blip r:embed="rId3" cstate="print"/>
          <a:stretch>
            <a:fillRect/>
          </a:stretch>
        </p:blipFill>
        <p:spPr>
          <a:xfrm>
            <a:off x="6444208" y="4581128"/>
            <a:ext cx="1905000" cy="1362075"/>
          </a:xfrm>
          <a:prstGeom prst="rect">
            <a:avLst/>
          </a:prstGeom>
        </p:spPr>
      </p:pic>
    </p:spTree>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208912" cy="1143000"/>
          </a:xfrm>
        </p:spPr>
        <p:txBody>
          <a:bodyPr>
            <a:normAutofit/>
          </a:bodyPr>
          <a:lstStyle/>
          <a:p>
            <a:r>
              <a:rPr lang="en-US" sz="3200" b="1" dirty="0" smtClean="0">
                <a:solidFill>
                  <a:srgbClr val="FF6600"/>
                </a:solidFill>
                <a:latin typeface="Helvetica" pitchFamily="34" charset="0"/>
              </a:rPr>
              <a:t>Using existing resources and materials</a:t>
            </a:r>
            <a:endParaRPr lang="en-US" sz="32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5301208"/>
          </a:xfrm>
        </p:spPr>
        <p:txBody>
          <a:bodyPr>
            <a:normAutofit/>
          </a:bodyPr>
          <a:lstStyle/>
          <a:p>
            <a:pPr marL="0">
              <a:spcBef>
                <a:spcPts val="600"/>
              </a:spcBef>
              <a:spcAft>
                <a:spcPts val="1200"/>
              </a:spcAft>
              <a:buNone/>
            </a:pPr>
            <a:r>
              <a:rPr lang="en-AU" sz="2200" b="1" dirty="0" smtClean="0">
                <a:latin typeface="Helvetica" pitchFamily="34" charset="0"/>
              </a:rPr>
              <a:t>Use workplace materials and resources wherever possible</a:t>
            </a:r>
            <a:endParaRPr lang="en-AU" sz="2200" dirty="0" smtClean="0">
              <a:latin typeface="Helvetica" pitchFamily="34" charset="0"/>
            </a:endParaRPr>
          </a:p>
          <a:p>
            <a:pPr marL="0">
              <a:spcBef>
                <a:spcPts val="600"/>
              </a:spcBef>
              <a:spcAft>
                <a:spcPts val="1200"/>
              </a:spcAft>
              <a:buNone/>
            </a:pPr>
            <a:r>
              <a:rPr lang="en-AU" sz="2200" dirty="0" smtClean="0">
                <a:latin typeface="Helvetica" pitchFamily="34" charset="0"/>
              </a:rPr>
              <a:t>Using materials available from within the workplace is the best training option because:</a:t>
            </a:r>
          </a:p>
          <a:p>
            <a:pPr lvl="0">
              <a:spcBef>
                <a:spcPts val="600"/>
              </a:spcBef>
              <a:spcAft>
                <a:spcPts val="1200"/>
              </a:spcAft>
            </a:pPr>
            <a:r>
              <a:rPr lang="en-AU" sz="2200" dirty="0" smtClean="0">
                <a:latin typeface="Helvetica" pitchFamily="34" charset="0"/>
              </a:rPr>
              <a:t>It reflects and accommodates current </a:t>
            </a:r>
            <a:br>
              <a:rPr lang="en-AU" sz="2200" dirty="0" smtClean="0">
                <a:latin typeface="Helvetica" pitchFamily="34" charset="0"/>
              </a:rPr>
            </a:br>
            <a:r>
              <a:rPr lang="en-AU" sz="2200" dirty="0" smtClean="0">
                <a:latin typeface="Helvetica" pitchFamily="34" charset="0"/>
              </a:rPr>
              <a:t>workplace practice</a:t>
            </a:r>
          </a:p>
          <a:p>
            <a:pPr lvl="0">
              <a:spcBef>
                <a:spcPts val="600"/>
              </a:spcBef>
              <a:spcAft>
                <a:spcPts val="1200"/>
              </a:spcAft>
            </a:pPr>
            <a:r>
              <a:rPr lang="en-AU" sz="2200" dirty="0" smtClean="0">
                <a:latin typeface="Helvetica" pitchFamily="34" charset="0"/>
              </a:rPr>
              <a:t>It is often more readily available</a:t>
            </a:r>
          </a:p>
          <a:p>
            <a:pPr lvl="0">
              <a:spcBef>
                <a:spcPts val="600"/>
              </a:spcBef>
              <a:spcAft>
                <a:spcPts val="1200"/>
              </a:spcAft>
            </a:pPr>
            <a:r>
              <a:rPr lang="en-AU" sz="2200" dirty="0" smtClean="0">
                <a:latin typeface="Helvetica" pitchFamily="34" charset="0"/>
              </a:rPr>
              <a:t>It can be much cheaper than other                                  bought-in alternatives</a:t>
            </a:r>
          </a:p>
          <a:p>
            <a:endParaRPr lang="en-AU" sz="2400" b="1" dirty="0" smtClean="0"/>
          </a:p>
          <a:p>
            <a:endParaRPr lang="en-US" sz="2400" dirty="0" smtClean="0"/>
          </a:p>
          <a:p>
            <a:pPr>
              <a:buNone/>
            </a:pPr>
            <a:endParaRPr lang="en-AU" sz="2400" dirty="0" smtClean="0"/>
          </a:p>
          <a:p>
            <a:pPr lvl="0">
              <a:spcBef>
                <a:spcPts val="600"/>
              </a:spcBef>
              <a:spcAft>
                <a:spcPts val="1200"/>
              </a:spcAft>
              <a:buNone/>
            </a:pPr>
            <a:endParaRPr lang="en-AU" sz="2200" dirty="0" smtClean="0">
              <a:latin typeface="Helvetica" pitchFamily="34" charset="0"/>
            </a:endParaRPr>
          </a:p>
          <a:p>
            <a:pPr lvl="0"/>
            <a:endParaRPr lang="en-AU" sz="2400" dirty="0" smtClean="0"/>
          </a:p>
          <a:p>
            <a:pPr lvl="0">
              <a:buNone/>
            </a:pPr>
            <a:endParaRPr lang="en-AU" sz="2400" dirty="0"/>
          </a:p>
        </p:txBody>
      </p:sp>
      <p:sp>
        <p:nvSpPr>
          <p:cNvPr id="4" name="Slide Number Placeholder 3"/>
          <p:cNvSpPr>
            <a:spLocks noGrp="1"/>
          </p:cNvSpPr>
          <p:nvPr>
            <p:ph type="sldNum" sz="quarter" idx="12"/>
          </p:nvPr>
        </p:nvSpPr>
        <p:spPr/>
        <p:txBody>
          <a:bodyPr/>
          <a:lstStyle/>
          <a:p>
            <a:r>
              <a:rPr lang="en-US" dirty="0" smtClean="0"/>
              <a:t> </a:t>
            </a:r>
            <a:r>
              <a:rPr lang="en-US" sz="1100" dirty="0" smtClean="0">
                <a:latin typeface="Helvetica" pitchFamily="34" charset="0"/>
              </a:rPr>
              <a:t>Slide </a:t>
            </a:r>
            <a:fld id="{90BDF71C-F485-43AE-8825-5070AF1EA8C9}" type="slidenum">
              <a:rPr lang="en-US" sz="1100" smtClean="0">
                <a:latin typeface="Helvetica" pitchFamily="34" charset="0"/>
              </a:rPr>
              <a:pPr/>
              <a:t>42</a:t>
            </a:fld>
            <a:endParaRPr lang="en-US" sz="1100" dirty="0">
              <a:latin typeface="Helvetica" pitchFamily="34" charset="0"/>
            </a:endParaRPr>
          </a:p>
        </p:txBody>
      </p:sp>
      <p:pic>
        <p:nvPicPr>
          <p:cNvPr id="6" name="Picture 5" descr="C:\Documents and Settings\danielc\Local Settings\Temporary Internet Files\Content.IE5\XGIII3N1\MC900237319[1].wmf"/>
          <p:cNvPicPr/>
          <p:nvPr/>
        </p:nvPicPr>
        <p:blipFill>
          <a:blip r:embed="rId3" cstate="print"/>
          <a:srcRect/>
          <a:stretch>
            <a:fillRect/>
          </a:stretch>
        </p:blipFill>
        <p:spPr bwMode="auto">
          <a:xfrm>
            <a:off x="6588224" y="2996952"/>
            <a:ext cx="1698913" cy="2216728"/>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208912" cy="1143000"/>
          </a:xfrm>
        </p:spPr>
        <p:txBody>
          <a:bodyPr>
            <a:normAutofit/>
          </a:bodyPr>
          <a:lstStyle/>
          <a:p>
            <a:r>
              <a:rPr lang="en-US" sz="3200" b="1" dirty="0" smtClean="0">
                <a:solidFill>
                  <a:srgbClr val="FF6600"/>
                </a:solidFill>
                <a:latin typeface="Helvetica" pitchFamily="34" charset="0"/>
              </a:rPr>
              <a:t>Using existing resources and materials</a:t>
            </a:r>
            <a:endParaRPr lang="en-US" sz="32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5301208"/>
          </a:xfrm>
        </p:spPr>
        <p:txBody>
          <a:bodyPr>
            <a:normAutofit/>
          </a:bodyPr>
          <a:lstStyle/>
          <a:p>
            <a:pPr marL="0">
              <a:spcBef>
                <a:spcPts val="600"/>
              </a:spcBef>
              <a:spcAft>
                <a:spcPts val="600"/>
              </a:spcAft>
              <a:buNone/>
            </a:pPr>
            <a:r>
              <a:rPr lang="en-AU" sz="2200" b="1" dirty="0" smtClean="0">
                <a:latin typeface="Helvetica" pitchFamily="34" charset="0"/>
              </a:rPr>
              <a:t>Use workplace materials and resources wherever possible</a:t>
            </a:r>
            <a:endParaRPr lang="en-AU" sz="2200" dirty="0" smtClean="0">
              <a:latin typeface="Helvetica" pitchFamily="34" charset="0"/>
            </a:endParaRPr>
          </a:p>
          <a:p>
            <a:pPr>
              <a:spcBef>
                <a:spcPts val="600"/>
              </a:spcBef>
              <a:spcAft>
                <a:spcPts val="600"/>
              </a:spcAft>
              <a:buNone/>
            </a:pPr>
            <a:r>
              <a:rPr lang="en-AU" sz="2200" dirty="0" smtClean="0">
                <a:latin typeface="Helvetica" pitchFamily="34" charset="0"/>
              </a:rPr>
              <a:t>Ensure you know all about any forms, including:</a:t>
            </a:r>
          </a:p>
          <a:p>
            <a:pPr lvl="0">
              <a:spcBef>
                <a:spcPts val="600"/>
              </a:spcBef>
              <a:spcAft>
                <a:spcPts val="400"/>
              </a:spcAft>
            </a:pPr>
            <a:r>
              <a:rPr lang="en-AU" sz="2200" dirty="0" smtClean="0">
                <a:latin typeface="Helvetica" pitchFamily="34" charset="0"/>
              </a:rPr>
              <a:t>When it has to be completed</a:t>
            </a:r>
          </a:p>
          <a:p>
            <a:pPr lvl="0">
              <a:spcBef>
                <a:spcPts val="600"/>
              </a:spcBef>
              <a:spcAft>
                <a:spcPts val="400"/>
              </a:spcAft>
            </a:pPr>
            <a:r>
              <a:rPr lang="en-AU" sz="2200" dirty="0" smtClean="0">
                <a:latin typeface="Helvetica" pitchFamily="34" charset="0"/>
              </a:rPr>
              <a:t>Who has to complete it</a:t>
            </a:r>
          </a:p>
          <a:p>
            <a:pPr lvl="0">
              <a:spcBef>
                <a:spcPts val="600"/>
              </a:spcBef>
              <a:spcAft>
                <a:spcPts val="400"/>
              </a:spcAft>
            </a:pPr>
            <a:r>
              <a:rPr lang="en-AU" sz="2200" dirty="0" smtClean="0">
                <a:latin typeface="Helvetica" pitchFamily="34" charset="0"/>
              </a:rPr>
              <a:t>What details are required in the form </a:t>
            </a:r>
          </a:p>
          <a:p>
            <a:pPr lvl="0">
              <a:spcBef>
                <a:spcPts val="600"/>
              </a:spcBef>
              <a:spcAft>
                <a:spcPts val="400"/>
              </a:spcAft>
            </a:pPr>
            <a:r>
              <a:rPr lang="en-AU" sz="2200" dirty="0" smtClean="0">
                <a:latin typeface="Helvetica" pitchFamily="34" charset="0"/>
              </a:rPr>
              <a:t>Where the form is available </a:t>
            </a:r>
          </a:p>
          <a:p>
            <a:pPr lvl="0">
              <a:spcBef>
                <a:spcPts val="600"/>
              </a:spcBef>
              <a:spcAft>
                <a:spcPts val="400"/>
              </a:spcAft>
            </a:pPr>
            <a:r>
              <a:rPr lang="en-AU" sz="2200" dirty="0" smtClean="0">
                <a:latin typeface="Helvetica" pitchFamily="34" charset="0"/>
              </a:rPr>
              <a:t>Where it goes once it is completed</a:t>
            </a:r>
          </a:p>
          <a:p>
            <a:pPr lvl="0">
              <a:spcBef>
                <a:spcPts val="600"/>
              </a:spcBef>
              <a:spcAft>
                <a:spcPts val="400"/>
              </a:spcAft>
            </a:pPr>
            <a:r>
              <a:rPr lang="en-AU" sz="2200" dirty="0" smtClean="0">
                <a:latin typeface="Helvetica" pitchFamily="34" charset="0"/>
              </a:rPr>
              <a:t>What all the sections of the form are used for</a:t>
            </a:r>
          </a:p>
          <a:p>
            <a:pPr lvl="0">
              <a:spcBef>
                <a:spcPts val="600"/>
              </a:spcBef>
              <a:spcAft>
                <a:spcPts val="400"/>
              </a:spcAft>
            </a:pPr>
            <a:r>
              <a:rPr lang="en-AU" sz="2200" dirty="0" smtClean="0">
                <a:latin typeface="Helvetica" pitchFamily="34" charset="0"/>
              </a:rPr>
              <a:t>Whether or not authorisation for the document is required</a:t>
            </a:r>
            <a:endParaRPr lang="en-AU" sz="2400" b="1" dirty="0" smtClean="0"/>
          </a:p>
          <a:p>
            <a:endParaRPr lang="en-US" sz="2400" dirty="0" smtClean="0"/>
          </a:p>
          <a:p>
            <a:pPr>
              <a:buNone/>
            </a:pPr>
            <a:endParaRPr lang="en-AU" sz="2400" dirty="0" smtClean="0"/>
          </a:p>
          <a:p>
            <a:pPr lvl="0">
              <a:spcBef>
                <a:spcPts val="600"/>
              </a:spcBef>
              <a:spcAft>
                <a:spcPts val="1200"/>
              </a:spcAft>
              <a:buNone/>
            </a:pPr>
            <a:endParaRPr lang="en-AU" sz="2200" dirty="0" smtClean="0">
              <a:latin typeface="Helvetica" pitchFamily="34" charset="0"/>
            </a:endParaRPr>
          </a:p>
          <a:p>
            <a:pPr lvl="0"/>
            <a:endParaRPr lang="en-AU" sz="2400" dirty="0" smtClean="0"/>
          </a:p>
          <a:p>
            <a:pPr lvl="0">
              <a:buNone/>
            </a:pPr>
            <a:endParaRPr lang="en-AU" sz="2400" dirty="0"/>
          </a:p>
        </p:txBody>
      </p:sp>
      <p:sp>
        <p:nvSpPr>
          <p:cNvPr id="4" name="Slide Number Placeholder 3"/>
          <p:cNvSpPr>
            <a:spLocks noGrp="1"/>
          </p:cNvSpPr>
          <p:nvPr>
            <p:ph type="sldNum" sz="quarter" idx="12"/>
          </p:nvPr>
        </p:nvSpPr>
        <p:spPr/>
        <p:txBody>
          <a:bodyPr/>
          <a:lstStyle/>
          <a:p>
            <a:r>
              <a:rPr lang="en-US" dirty="0" smtClean="0"/>
              <a:t> </a:t>
            </a:r>
            <a:r>
              <a:rPr lang="en-US" sz="1100" dirty="0" smtClean="0">
                <a:latin typeface="Helvetica" pitchFamily="34" charset="0"/>
              </a:rPr>
              <a:t>Slide </a:t>
            </a:r>
            <a:fld id="{90BDF71C-F485-43AE-8825-5070AF1EA8C9}" type="slidenum">
              <a:rPr lang="en-US" sz="1100" smtClean="0">
                <a:latin typeface="Helvetica" pitchFamily="34" charset="0"/>
              </a:rPr>
              <a:pPr/>
              <a:t>43</a:t>
            </a:fld>
            <a:endParaRPr lang="en-US" sz="1100" dirty="0">
              <a:latin typeface="Helvetica" pitchFamily="34" charset="0"/>
            </a:endParaRPr>
          </a:p>
        </p:txBody>
      </p:sp>
      <p:pic>
        <p:nvPicPr>
          <p:cNvPr id="6" name="Picture 5" descr="MP900448478[1].JPG"/>
          <p:cNvPicPr>
            <a:picLocks noChangeAspect="1"/>
          </p:cNvPicPr>
          <p:nvPr/>
        </p:nvPicPr>
        <p:blipFill>
          <a:blip r:embed="rId3" cstate="print"/>
          <a:stretch>
            <a:fillRect/>
          </a:stretch>
        </p:blipFill>
        <p:spPr>
          <a:xfrm>
            <a:off x="6012160" y="3140968"/>
            <a:ext cx="2339752" cy="1559835"/>
          </a:xfrm>
          <a:prstGeom prst="rect">
            <a:avLst/>
          </a:prstGeom>
        </p:spPr>
      </p:pic>
    </p:spTree>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208912" cy="1143000"/>
          </a:xfrm>
        </p:spPr>
        <p:txBody>
          <a:bodyPr>
            <a:normAutofit/>
          </a:bodyPr>
          <a:lstStyle/>
          <a:p>
            <a:r>
              <a:rPr lang="en-US" sz="3200" b="1" dirty="0" smtClean="0">
                <a:solidFill>
                  <a:srgbClr val="FF6600"/>
                </a:solidFill>
                <a:latin typeface="Helvetica" pitchFamily="34" charset="0"/>
              </a:rPr>
              <a:t>Using suitable resources and materials</a:t>
            </a:r>
            <a:endParaRPr lang="en-US" sz="32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5301208"/>
          </a:xfrm>
        </p:spPr>
        <p:txBody>
          <a:bodyPr>
            <a:normAutofit/>
          </a:bodyPr>
          <a:lstStyle/>
          <a:p>
            <a:pPr marL="0" indent="0">
              <a:spcBef>
                <a:spcPts val="600"/>
              </a:spcBef>
              <a:spcAft>
                <a:spcPts val="1200"/>
              </a:spcAft>
              <a:buNone/>
            </a:pPr>
            <a:r>
              <a:rPr lang="en-AU" sz="2200" b="1" dirty="0" smtClean="0">
                <a:latin typeface="Helvetica" pitchFamily="34" charset="0"/>
              </a:rPr>
              <a:t>Choose resources and materials to reflect learning styles and individual differences</a:t>
            </a:r>
          </a:p>
          <a:p>
            <a:pPr>
              <a:spcBef>
                <a:spcPts val="600"/>
              </a:spcBef>
              <a:spcAft>
                <a:spcPts val="1200"/>
              </a:spcAft>
            </a:pPr>
            <a:r>
              <a:rPr lang="en-AU" sz="2200" dirty="0" smtClean="0">
                <a:latin typeface="Helvetica" pitchFamily="34" charset="0"/>
              </a:rPr>
              <a:t>Bear in mind the individual learning styles and preferred learning preferences of the staff</a:t>
            </a:r>
          </a:p>
          <a:p>
            <a:pPr>
              <a:spcBef>
                <a:spcPts val="600"/>
              </a:spcBef>
              <a:spcAft>
                <a:spcPts val="1200"/>
              </a:spcAft>
            </a:pPr>
            <a:r>
              <a:rPr lang="en-AU" sz="2200" dirty="0" smtClean="0">
                <a:latin typeface="Helvetica" pitchFamily="34" charset="0"/>
              </a:rPr>
              <a:t>In practice, it is impossible for you to cater </a:t>
            </a:r>
            <a:br>
              <a:rPr lang="en-AU" sz="2200" dirty="0" smtClean="0">
                <a:latin typeface="Helvetica" pitchFamily="34" charset="0"/>
              </a:rPr>
            </a:br>
            <a:r>
              <a:rPr lang="en-AU" sz="2200" dirty="0" smtClean="0">
                <a:latin typeface="Helvetica" pitchFamily="34" charset="0"/>
              </a:rPr>
              <a:t>for all individual needs</a:t>
            </a:r>
          </a:p>
          <a:p>
            <a:pPr>
              <a:spcBef>
                <a:spcPts val="600"/>
              </a:spcBef>
              <a:spcAft>
                <a:spcPts val="1200"/>
              </a:spcAft>
            </a:pPr>
            <a:r>
              <a:rPr lang="en-AU" sz="2200" dirty="0" smtClean="0">
                <a:latin typeface="Helvetica" pitchFamily="34" charset="0"/>
              </a:rPr>
              <a:t>Therefore develop or obtain materials that                           will provide the most benefit to the                              greatest number</a:t>
            </a:r>
          </a:p>
          <a:p>
            <a:pPr>
              <a:buNone/>
            </a:pPr>
            <a:endParaRPr lang="en-AU" sz="2400" b="1" dirty="0" smtClean="0"/>
          </a:p>
          <a:p>
            <a:endParaRPr lang="en-US" sz="2400" dirty="0" smtClean="0"/>
          </a:p>
          <a:p>
            <a:pPr>
              <a:buNone/>
            </a:pPr>
            <a:endParaRPr lang="en-AU" sz="2400" dirty="0" smtClean="0"/>
          </a:p>
          <a:p>
            <a:pPr lvl="0">
              <a:spcBef>
                <a:spcPts val="600"/>
              </a:spcBef>
              <a:spcAft>
                <a:spcPts val="1200"/>
              </a:spcAft>
              <a:buNone/>
            </a:pPr>
            <a:endParaRPr lang="en-AU" sz="2200" dirty="0" smtClean="0">
              <a:latin typeface="Helvetica" pitchFamily="34" charset="0"/>
            </a:endParaRPr>
          </a:p>
          <a:p>
            <a:pPr lvl="0"/>
            <a:endParaRPr lang="en-AU" sz="2400" dirty="0" smtClean="0"/>
          </a:p>
          <a:p>
            <a:pPr lvl="0">
              <a:buNone/>
            </a:pPr>
            <a:endParaRPr lang="en-AU" sz="2400" dirty="0"/>
          </a:p>
        </p:txBody>
      </p:sp>
      <p:sp>
        <p:nvSpPr>
          <p:cNvPr id="4" name="Slide Number Placeholder 3"/>
          <p:cNvSpPr>
            <a:spLocks noGrp="1"/>
          </p:cNvSpPr>
          <p:nvPr>
            <p:ph type="sldNum" sz="quarter" idx="12"/>
          </p:nvPr>
        </p:nvSpPr>
        <p:spPr/>
        <p:txBody>
          <a:bodyPr/>
          <a:lstStyle/>
          <a:p>
            <a:r>
              <a:rPr lang="en-US" dirty="0" smtClean="0"/>
              <a:t> </a:t>
            </a:r>
            <a:r>
              <a:rPr lang="en-US" sz="1100" dirty="0" smtClean="0">
                <a:latin typeface="Helvetica" pitchFamily="34" charset="0"/>
              </a:rPr>
              <a:t>Slide </a:t>
            </a:r>
            <a:fld id="{90BDF71C-F485-43AE-8825-5070AF1EA8C9}" type="slidenum">
              <a:rPr lang="en-US" sz="1100" smtClean="0">
                <a:latin typeface="Helvetica" pitchFamily="34" charset="0"/>
              </a:rPr>
              <a:pPr/>
              <a:t>44</a:t>
            </a:fld>
            <a:endParaRPr lang="en-US" sz="1100" dirty="0">
              <a:latin typeface="Helvetica" pitchFamily="34" charset="0"/>
            </a:endParaRPr>
          </a:p>
        </p:txBody>
      </p:sp>
      <p:pic>
        <p:nvPicPr>
          <p:cNvPr id="7" name="Picture 6" descr="MB900012869.JPG"/>
          <p:cNvPicPr>
            <a:picLocks noChangeAspect="1"/>
          </p:cNvPicPr>
          <p:nvPr/>
        </p:nvPicPr>
        <p:blipFill>
          <a:blip r:embed="rId3" cstate="print"/>
          <a:stretch>
            <a:fillRect/>
          </a:stretch>
        </p:blipFill>
        <p:spPr>
          <a:xfrm>
            <a:off x="6444208" y="3140968"/>
            <a:ext cx="1828800" cy="1828800"/>
          </a:xfrm>
          <a:prstGeom prst="rect">
            <a:avLst/>
          </a:prstGeom>
        </p:spPr>
      </p:pic>
    </p:spTree>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208912" cy="1143000"/>
          </a:xfrm>
        </p:spPr>
        <p:txBody>
          <a:bodyPr>
            <a:normAutofit/>
          </a:bodyPr>
          <a:lstStyle/>
          <a:p>
            <a:r>
              <a:rPr lang="en-AU" sz="3400" b="1" dirty="0" smtClean="0">
                <a:solidFill>
                  <a:srgbClr val="FF6600"/>
                </a:solidFill>
                <a:latin typeface="Helvetica" pitchFamily="34" charset="0"/>
              </a:rPr>
              <a:t>Externally training events</a:t>
            </a:r>
            <a:endParaRPr lang="en-AU" sz="3400"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5301208"/>
          </a:xfrm>
        </p:spPr>
        <p:txBody>
          <a:bodyPr>
            <a:normAutofit/>
          </a:bodyPr>
          <a:lstStyle/>
          <a:p>
            <a:pPr lvl="0">
              <a:spcBef>
                <a:spcPts val="600"/>
              </a:spcBef>
              <a:spcAft>
                <a:spcPts val="1200"/>
              </a:spcAft>
              <a:buNone/>
            </a:pPr>
            <a:r>
              <a:rPr lang="en-AU" sz="2200" b="1" dirty="0" smtClean="0">
                <a:latin typeface="Helvetica" pitchFamily="34" charset="0"/>
              </a:rPr>
              <a:t>Types of events</a:t>
            </a:r>
          </a:p>
          <a:p>
            <a:pPr lvl="0">
              <a:spcBef>
                <a:spcPts val="600"/>
              </a:spcBef>
              <a:spcAft>
                <a:spcPts val="1200"/>
              </a:spcAft>
            </a:pPr>
            <a:r>
              <a:rPr lang="en-AU" sz="2200" dirty="0" smtClean="0">
                <a:latin typeface="Helvetica" pitchFamily="34" charset="0"/>
              </a:rPr>
              <a:t>Corporate events</a:t>
            </a:r>
          </a:p>
          <a:p>
            <a:pPr lvl="0">
              <a:spcBef>
                <a:spcPts val="600"/>
              </a:spcBef>
              <a:spcAft>
                <a:spcPts val="1200"/>
              </a:spcAft>
            </a:pPr>
            <a:r>
              <a:rPr lang="en-AU" sz="2200" dirty="0" smtClean="0">
                <a:latin typeface="Helvetica" pitchFamily="34" charset="0"/>
              </a:rPr>
              <a:t>Seminars and lectures</a:t>
            </a:r>
          </a:p>
          <a:p>
            <a:pPr lvl="0">
              <a:spcBef>
                <a:spcPts val="600"/>
              </a:spcBef>
              <a:spcAft>
                <a:spcPts val="1200"/>
              </a:spcAft>
            </a:pPr>
            <a:r>
              <a:rPr lang="en-AU" sz="2200" dirty="0" smtClean="0">
                <a:latin typeface="Helvetica" pitchFamily="34" charset="0"/>
              </a:rPr>
              <a:t>Working groups</a:t>
            </a:r>
          </a:p>
          <a:p>
            <a:pPr lvl="0">
              <a:spcBef>
                <a:spcPts val="600"/>
              </a:spcBef>
              <a:spcAft>
                <a:spcPts val="1200"/>
              </a:spcAft>
            </a:pPr>
            <a:r>
              <a:rPr lang="en-AU" sz="2200" dirty="0" smtClean="0">
                <a:latin typeface="Helvetica" pitchFamily="34" charset="0"/>
              </a:rPr>
              <a:t>Industry association events</a:t>
            </a:r>
          </a:p>
          <a:p>
            <a:pPr lvl="0">
              <a:spcBef>
                <a:spcPts val="600"/>
              </a:spcBef>
              <a:spcAft>
                <a:spcPts val="1200"/>
              </a:spcAft>
            </a:pPr>
            <a:r>
              <a:rPr lang="en-AU" sz="2200" dirty="0" smtClean="0">
                <a:latin typeface="Helvetica" pitchFamily="34" charset="0"/>
              </a:rPr>
              <a:t>Exhibitions</a:t>
            </a:r>
          </a:p>
          <a:p>
            <a:pPr lvl="0">
              <a:spcBef>
                <a:spcPts val="600"/>
              </a:spcBef>
              <a:spcAft>
                <a:spcPts val="1200"/>
              </a:spcAft>
            </a:pPr>
            <a:r>
              <a:rPr lang="en-AU" sz="2200" dirty="0" smtClean="0">
                <a:latin typeface="Helvetica" pitchFamily="34" charset="0"/>
              </a:rPr>
              <a:t>Public short courses </a:t>
            </a:r>
          </a:p>
          <a:p>
            <a:pPr lvl="0">
              <a:spcBef>
                <a:spcPts val="600"/>
              </a:spcBef>
              <a:spcAft>
                <a:spcPts val="1200"/>
              </a:spcAft>
            </a:pPr>
            <a:r>
              <a:rPr lang="en-AU" sz="2200" dirty="0" smtClean="0">
                <a:latin typeface="Helvetica" pitchFamily="34" charset="0"/>
              </a:rPr>
              <a:t>Qualification programs </a:t>
            </a:r>
          </a:p>
          <a:p>
            <a:pPr>
              <a:spcBef>
                <a:spcPts val="600"/>
              </a:spcBef>
              <a:spcAft>
                <a:spcPts val="1200"/>
              </a:spcAft>
            </a:pPr>
            <a:r>
              <a:rPr lang="en-AU" sz="2200" dirty="0" smtClean="0">
                <a:latin typeface="Helvetica" pitchFamily="34" charset="0"/>
              </a:rPr>
              <a:t>Organisational wide programs </a:t>
            </a:r>
            <a:endParaRPr lang="en-AU" sz="2200" b="1" dirty="0" smtClean="0">
              <a:latin typeface="Helvetica" pitchFamily="34" charset="0"/>
            </a:endParaRPr>
          </a:p>
          <a:p>
            <a:endParaRPr lang="en-US" sz="2400" dirty="0" smtClean="0"/>
          </a:p>
          <a:p>
            <a:pPr>
              <a:buNone/>
            </a:pPr>
            <a:endParaRPr lang="en-AU" sz="2400" dirty="0" smtClean="0"/>
          </a:p>
          <a:p>
            <a:pPr lvl="0">
              <a:spcBef>
                <a:spcPts val="600"/>
              </a:spcBef>
              <a:spcAft>
                <a:spcPts val="1200"/>
              </a:spcAft>
              <a:buNone/>
            </a:pPr>
            <a:endParaRPr lang="en-AU" sz="2200" dirty="0" smtClean="0">
              <a:latin typeface="Helvetica" pitchFamily="34" charset="0"/>
            </a:endParaRPr>
          </a:p>
          <a:p>
            <a:pPr lvl="0"/>
            <a:endParaRPr lang="en-AU" sz="2400" dirty="0" smtClean="0"/>
          </a:p>
          <a:p>
            <a:pPr lvl="0">
              <a:buNone/>
            </a:pPr>
            <a:endParaRPr lang="en-AU" sz="2400" dirty="0"/>
          </a:p>
        </p:txBody>
      </p:sp>
      <p:sp>
        <p:nvSpPr>
          <p:cNvPr id="4" name="Slide Number Placeholder 3"/>
          <p:cNvSpPr>
            <a:spLocks noGrp="1"/>
          </p:cNvSpPr>
          <p:nvPr>
            <p:ph type="sldNum" sz="quarter" idx="12"/>
          </p:nvPr>
        </p:nvSpPr>
        <p:spPr/>
        <p:txBody>
          <a:bodyPr/>
          <a:lstStyle/>
          <a:p>
            <a:r>
              <a:rPr lang="en-US" dirty="0" smtClean="0"/>
              <a:t> </a:t>
            </a:r>
            <a:r>
              <a:rPr lang="en-US" sz="1100" dirty="0" smtClean="0">
                <a:latin typeface="Helvetica" pitchFamily="34" charset="0"/>
              </a:rPr>
              <a:t>Slide </a:t>
            </a:r>
            <a:fld id="{90BDF71C-F485-43AE-8825-5070AF1EA8C9}" type="slidenum">
              <a:rPr lang="en-US" sz="1100" smtClean="0">
                <a:latin typeface="Helvetica" pitchFamily="34" charset="0"/>
              </a:rPr>
              <a:pPr/>
              <a:t>45</a:t>
            </a:fld>
            <a:endParaRPr lang="en-US" sz="1100" dirty="0">
              <a:latin typeface="Helvetica" pitchFamily="34" charset="0"/>
            </a:endParaRPr>
          </a:p>
        </p:txBody>
      </p:sp>
      <p:pic>
        <p:nvPicPr>
          <p:cNvPr id="6" name="Picture 5" descr="iStock_000002738475Medium_mono.jpg"/>
          <p:cNvPicPr/>
          <p:nvPr/>
        </p:nvPicPr>
        <p:blipFill>
          <a:blip r:embed="rId3" cstate="print"/>
          <a:stretch>
            <a:fillRect/>
          </a:stretch>
        </p:blipFill>
        <p:spPr>
          <a:xfrm>
            <a:off x="5868144" y="2924944"/>
            <a:ext cx="2481238" cy="1762869"/>
          </a:xfrm>
          <a:prstGeom prst="rect">
            <a:avLst/>
          </a:prstGeom>
        </p:spPr>
      </p:pic>
    </p:spTree>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208912" cy="1143000"/>
          </a:xfrm>
        </p:spPr>
        <p:txBody>
          <a:bodyPr>
            <a:normAutofit/>
          </a:bodyPr>
          <a:lstStyle/>
          <a:p>
            <a:r>
              <a:rPr lang="en-AU" sz="3400" b="1" dirty="0" smtClean="0">
                <a:solidFill>
                  <a:srgbClr val="FF6600"/>
                </a:solidFill>
                <a:latin typeface="Helvetica" pitchFamily="34" charset="0"/>
              </a:rPr>
              <a:t>Internal training events</a:t>
            </a:r>
            <a:endParaRPr lang="en-AU" sz="3400"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5301208"/>
          </a:xfrm>
        </p:spPr>
        <p:txBody>
          <a:bodyPr>
            <a:normAutofit/>
          </a:bodyPr>
          <a:lstStyle/>
          <a:p>
            <a:pPr lvl="0">
              <a:spcBef>
                <a:spcPts val="600"/>
              </a:spcBef>
              <a:spcAft>
                <a:spcPts val="1200"/>
              </a:spcAft>
              <a:buNone/>
            </a:pPr>
            <a:r>
              <a:rPr lang="en-AU" sz="2200" b="1" dirty="0" smtClean="0">
                <a:latin typeface="Helvetica" pitchFamily="34" charset="0"/>
              </a:rPr>
              <a:t>Types of events</a:t>
            </a:r>
          </a:p>
          <a:p>
            <a:pPr lvl="0">
              <a:spcBef>
                <a:spcPts val="600"/>
              </a:spcBef>
              <a:spcAft>
                <a:spcPts val="1200"/>
              </a:spcAft>
            </a:pPr>
            <a:r>
              <a:rPr lang="en-US" sz="2200" dirty="0" smtClean="0">
                <a:latin typeface="Helvetica" pitchFamily="34" charset="0"/>
              </a:rPr>
              <a:t>Lecture or Tutorial</a:t>
            </a:r>
            <a:endParaRPr lang="en-AU" sz="2200" b="1" dirty="0" smtClean="0">
              <a:latin typeface="Helvetica" pitchFamily="34" charset="0"/>
            </a:endParaRPr>
          </a:p>
          <a:p>
            <a:pPr lvl="0">
              <a:spcBef>
                <a:spcPts val="600"/>
              </a:spcBef>
              <a:spcAft>
                <a:spcPts val="1200"/>
              </a:spcAft>
            </a:pPr>
            <a:r>
              <a:rPr lang="en-US" sz="2200" dirty="0" smtClean="0">
                <a:latin typeface="Helvetica" pitchFamily="34" charset="0"/>
              </a:rPr>
              <a:t>Demonstration</a:t>
            </a:r>
            <a:endParaRPr lang="en-AU" sz="2200" b="1" dirty="0" smtClean="0">
              <a:latin typeface="Helvetica" pitchFamily="34" charset="0"/>
            </a:endParaRPr>
          </a:p>
          <a:p>
            <a:pPr lvl="0">
              <a:spcBef>
                <a:spcPts val="600"/>
              </a:spcBef>
              <a:spcAft>
                <a:spcPts val="1200"/>
              </a:spcAft>
            </a:pPr>
            <a:r>
              <a:rPr lang="en-US" sz="2200" dirty="0" smtClean="0">
                <a:latin typeface="Helvetica" pitchFamily="34" charset="0"/>
              </a:rPr>
              <a:t>Group Discussions</a:t>
            </a:r>
            <a:endParaRPr lang="en-AU" sz="2200" b="1" dirty="0" smtClean="0">
              <a:latin typeface="Helvetica" pitchFamily="34" charset="0"/>
            </a:endParaRPr>
          </a:p>
          <a:p>
            <a:pPr lvl="0">
              <a:spcBef>
                <a:spcPts val="600"/>
              </a:spcBef>
              <a:spcAft>
                <a:spcPts val="1200"/>
              </a:spcAft>
            </a:pPr>
            <a:r>
              <a:rPr lang="en-US" sz="2200" dirty="0" smtClean="0">
                <a:latin typeface="Helvetica" pitchFamily="34" charset="0"/>
              </a:rPr>
              <a:t>Role Play</a:t>
            </a:r>
            <a:endParaRPr lang="en-AU" sz="2200" b="1" dirty="0" smtClean="0">
              <a:latin typeface="Helvetica" pitchFamily="34" charset="0"/>
            </a:endParaRPr>
          </a:p>
          <a:p>
            <a:pPr lvl="0">
              <a:spcBef>
                <a:spcPts val="600"/>
              </a:spcBef>
              <a:spcAft>
                <a:spcPts val="1200"/>
              </a:spcAft>
            </a:pPr>
            <a:r>
              <a:rPr lang="en-US" sz="2200" dirty="0" smtClean="0">
                <a:latin typeface="Helvetica" pitchFamily="34" charset="0"/>
              </a:rPr>
              <a:t>Simulation Games </a:t>
            </a:r>
            <a:endParaRPr lang="en-AU" sz="2200" b="1" dirty="0" smtClean="0">
              <a:latin typeface="Helvetica" pitchFamily="34" charset="0"/>
            </a:endParaRPr>
          </a:p>
          <a:p>
            <a:pPr lvl="0">
              <a:spcBef>
                <a:spcPts val="600"/>
              </a:spcBef>
              <a:spcAft>
                <a:spcPts val="1200"/>
              </a:spcAft>
            </a:pPr>
            <a:r>
              <a:rPr lang="en-US" sz="2200" dirty="0" smtClean="0">
                <a:latin typeface="Helvetica" pitchFamily="34" charset="0"/>
              </a:rPr>
              <a:t>Individual or Group Exercises</a:t>
            </a:r>
            <a:endParaRPr lang="en-AU" sz="2200" b="1" dirty="0" smtClean="0">
              <a:latin typeface="Helvetica" pitchFamily="34" charset="0"/>
            </a:endParaRPr>
          </a:p>
          <a:p>
            <a:pPr lvl="0">
              <a:spcBef>
                <a:spcPts val="600"/>
              </a:spcBef>
              <a:spcAft>
                <a:spcPts val="1200"/>
              </a:spcAft>
            </a:pPr>
            <a:r>
              <a:rPr lang="en-US" sz="2200" dirty="0" smtClean="0">
                <a:latin typeface="Helvetica" pitchFamily="34" charset="0"/>
              </a:rPr>
              <a:t>Case Study </a:t>
            </a:r>
            <a:endParaRPr lang="en-AU" sz="2200" b="1" dirty="0" smtClean="0">
              <a:latin typeface="Helvetica" pitchFamily="34" charset="0"/>
            </a:endParaRPr>
          </a:p>
          <a:p>
            <a:endParaRPr lang="en-US" sz="2400" dirty="0" smtClean="0"/>
          </a:p>
          <a:p>
            <a:pPr>
              <a:buNone/>
            </a:pPr>
            <a:endParaRPr lang="en-AU" sz="2400" dirty="0" smtClean="0"/>
          </a:p>
          <a:p>
            <a:pPr lvl="0">
              <a:spcBef>
                <a:spcPts val="600"/>
              </a:spcBef>
              <a:spcAft>
                <a:spcPts val="1200"/>
              </a:spcAft>
              <a:buNone/>
            </a:pPr>
            <a:endParaRPr lang="en-AU" sz="2200" dirty="0" smtClean="0">
              <a:latin typeface="Helvetica" pitchFamily="34" charset="0"/>
            </a:endParaRPr>
          </a:p>
          <a:p>
            <a:pPr lvl="0"/>
            <a:endParaRPr lang="en-AU" sz="2400" dirty="0" smtClean="0"/>
          </a:p>
          <a:p>
            <a:pPr lvl="0">
              <a:buNone/>
            </a:pPr>
            <a:endParaRPr lang="en-AU" sz="2400" dirty="0"/>
          </a:p>
        </p:txBody>
      </p:sp>
      <p:sp>
        <p:nvSpPr>
          <p:cNvPr id="4" name="Slide Number Placeholder 3"/>
          <p:cNvSpPr>
            <a:spLocks noGrp="1"/>
          </p:cNvSpPr>
          <p:nvPr>
            <p:ph type="sldNum" sz="quarter" idx="12"/>
          </p:nvPr>
        </p:nvSpPr>
        <p:spPr/>
        <p:txBody>
          <a:bodyPr/>
          <a:lstStyle/>
          <a:p>
            <a:r>
              <a:rPr lang="en-US" dirty="0" smtClean="0"/>
              <a:t> </a:t>
            </a:r>
            <a:r>
              <a:rPr lang="en-US" sz="1100" dirty="0" smtClean="0">
                <a:latin typeface="Helvetica" pitchFamily="34" charset="0"/>
              </a:rPr>
              <a:t>Slide </a:t>
            </a:r>
            <a:fld id="{90BDF71C-F485-43AE-8825-5070AF1EA8C9}" type="slidenum">
              <a:rPr lang="en-US" sz="1100" smtClean="0">
                <a:latin typeface="Helvetica" pitchFamily="34" charset="0"/>
              </a:rPr>
              <a:pPr/>
              <a:t>46</a:t>
            </a:fld>
            <a:endParaRPr lang="en-US" sz="1100" dirty="0">
              <a:latin typeface="Helvetica" pitchFamily="34" charset="0"/>
            </a:endParaRPr>
          </a:p>
        </p:txBody>
      </p:sp>
      <p:pic>
        <p:nvPicPr>
          <p:cNvPr id="7" name="Picture 6" descr="Bar 1.jpg"/>
          <p:cNvPicPr>
            <a:picLocks noChangeAspect="1"/>
          </p:cNvPicPr>
          <p:nvPr/>
        </p:nvPicPr>
        <p:blipFill>
          <a:blip r:embed="rId3" cstate="print">
            <a:lum contrast="10000"/>
          </a:blip>
          <a:stretch>
            <a:fillRect/>
          </a:stretch>
        </p:blipFill>
        <p:spPr>
          <a:xfrm>
            <a:off x="5220072" y="2564904"/>
            <a:ext cx="2979486" cy="1964801"/>
          </a:xfrm>
          <a:prstGeom prst="rect">
            <a:avLst/>
          </a:prstGeom>
        </p:spPr>
      </p:pic>
    </p:spTree>
  </p:cSld>
  <p:clrMapOvr>
    <a:masterClrMapping/>
  </p:clrMapOvr>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208912" cy="1143000"/>
          </a:xfrm>
        </p:spPr>
        <p:txBody>
          <a:bodyPr>
            <a:normAutofit/>
          </a:bodyPr>
          <a:lstStyle/>
          <a:p>
            <a:r>
              <a:rPr lang="en-AU" sz="3400" b="1" dirty="0" smtClean="0">
                <a:solidFill>
                  <a:srgbClr val="FF6600"/>
                </a:solidFill>
                <a:latin typeface="Helvetica" pitchFamily="34" charset="0"/>
              </a:rPr>
              <a:t>Internal training events</a:t>
            </a:r>
            <a:endParaRPr lang="en-AU" sz="3400"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5301208"/>
          </a:xfrm>
        </p:spPr>
        <p:txBody>
          <a:bodyPr>
            <a:normAutofit/>
          </a:bodyPr>
          <a:lstStyle/>
          <a:p>
            <a:pPr lvl="0">
              <a:spcBef>
                <a:spcPts val="600"/>
              </a:spcBef>
              <a:spcAft>
                <a:spcPts val="1200"/>
              </a:spcAft>
              <a:buNone/>
            </a:pPr>
            <a:r>
              <a:rPr lang="en-AU" sz="2200" b="1" dirty="0" smtClean="0">
                <a:latin typeface="Helvetica" pitchFamily="34" charset="0"/>
              </a:rPr>
              <a:t>Types of events</a:t>
            </a:r>
          </a:p>
          <a:p>
            <a:pPr lvl="0">
              <a:spcBef>
                <a:spcPts val="600"/>
              </a:spcBef>
              <a:spcAft>
                <a:spcPts val="1200"/>
              </a:spcAft>
            </a:pPr>
            <a:r>
              <a:rPr lang="en-US" sz="2200" dirty="0" smtClean="0">
                <a:latin typeface="Helvetica" pitchFamily="34" charset="0"/>
              </a:rPr>
              <a:t>Field Visit</a:t>
            </a:r>
            <a:endParaRPr lang="en-AU" sz="2200" b="1" dirty="0" smtClean="0">
              <a:latin typeface="Helvetica" pitchFamily="34" charset="0"/>
            </a:endParaRPr>
          </a:p>
          <a:p>
            <a:pPr lvl="0">
              <a:spcBef>
                <a:spcPts val="600"/>
              </a:spcBef>
              <a:spcAft>
                <a:spcPts val="1200"/>
              </a:spcAft>
            </a:pPr>
            <a:r>
              <a:rPr lang="en-US" sz="2200" dirty="0" smtClean="0">
                <a:latin typeface="Helvetica" pitchFamily="34" charset="0"/>
              </a:rPr>
              <a:t>Group Presentation</a:t>
            </a:r>
            <a:endParaRPr lang="en-AU" sz="2200" b="1" dirty="0" smtClean="0">
              <a:latin typeface="Helvetica" pitchFamily="34" charset="0"/>
            </a:endParaRPr>
          </a:p>
          <a:p>
            <a:pPr lvl="0">
              <a:spcBef>
                <a:spcPts val="600"/>
              </a:spcBef>
              <a:spcAft>
                <a:spcPts val="1200"/>
              </a:spcAft>
            </a:pPr>
            <a:r>
              <a:rPr lang="en-US" sz="2200" dirty="0" smtClean="0">
                <a:latin typeface="Helvetica" pitchFamily="34" charset="0"/>
              </a:rPr>
              <a:t>Practice Sessions</a:t>
            </a:r>
            <a:endParaRPr lang="en-AU" sz="2200" b="1" dirty="0" smtClean="0">
              <a:latin typeface="Helvetica" pitchFamily="34" charset="0"/>
            </a:endParaRPr>
          </a:p>
          <a:p>
            <a:pPr lvl="0">
              <a:spcBef>
                <a:spcPts val="600"/>
              </a:spcBef>
              <a:spcAft>
                <a:spcPts val="1200"/>
              </a:spcAft>
            </a:pPr>
            <a:r>
              <a:rPr lang="en-US" sz="2200" dirty="0" smtClean="0">
                <a:latin typeface="Helvetica" pitchFamily="34" charset="0"/>
              </a:rPr>
              <a:t>Games</a:t>
            </a:r>
            <a:endParaRPr lang="en-AU" sz="2200" b="1" dirty="0" smtClean="0">
              <a:latin typeface="Helvetica" pitchFamily="34" charset="0"/>
            </a:endParaRPr>
          </a:p>
          <a:p>
            <a:pPr lvl="0">
              <a:spcBef>
                <a:spcPts val="600"/>
              </a:spcBef>
              <a:spcAft>
                <a:spcPts val="1200"/>
              </a:spcAft>
            </a:pPr>
            <a:r>
              <a:rPr lang="en-US" sz="2200" dirty="0" smtClean="0">
                <a:latin typeface="Helvetica" pitchFamily="34" charset="0"/>
              </a:rPr>
              <a:t>Research Activities</a:t>
            </a:r>
            <a:endParaRPr lang="en-AU" sz="2200" b="1" dirty="0" smtClean="0">
              <a:latin typeface="Helvetica" pitchFamily="34" charset="0"/>
            </a:endParaRPr>
          </a:p>
          <a:p>
            <a:pPr lvl="0">
              <a:spcBef>
                <a:spcPts val="600"/>
              </a:spcBef>
              <a:spcAft>
                <a:spcPts val="1200"/>
              </a:spcAft>
            </a:pPr>
            <a:r>
              <a:rPr lang="en-US" sz="2200" dirty="0" smtClean="0">
                <a:latin typeface="Helvetica" pitchFamily="34" charset="0"/>
              </a:rPr>
              <a:t>Qualifications and certified training programs </a:t>
            </a:r>
            <a:endParaRPr lang="en-AU" sz="2200" b="1" dirty="0" smtClean="0">
              <a:latin typeface="Helvetica" pitchFamily="34" charset="0"/>
            </a:endParaRPr>
          </a:p>
          <a:p>
            <a:endParaRPr lang="en-US" sz="2400" dirty="0" smtClean="0"/>
          </a:p>
          <a:p>
            <a:pPr>
              <a:buNone/>
            </a:pPr>
            <a:endParaRPr lang="en-AU" sz="2400" dirty="0" smtClean="0"/>
          </a:p>
          <a:p>
            <a:pPr lvl="0">
              <a:spcBef>
                <a:spcPts val="600"/>
              </a:spcBef>
              <a:spcAft>
                <a:spcPts val="1200"/>
              </a:spcAft>
              <a:buNone/>
            </a:pPr>
            <a:endParaRPr lang="en-AU" sz="2200" dirty="0" smtClean="0">
              <a:latin typeface="Helvetica" pitchFamily="34" charset="0"/>
            </a:endParaRPr>
          </a:p>
          <a:p>
            <a:pPr lvl="0"/>
            <a:endParaRPr lang="en-AU" sz="2400" dirty="0" smtClean="0"/>
          </a:p>
          <a:p>
            <a:pPr lvl="0">
              <a:buNone/>
            </a:pPr>
            <a:endParaRPr lang="en-AU" sz="2400" dirty="0"/>
          </a:p>
        </p:txBody>
      </p:sp>
      <p:sp>
        <p:nvSpPr>
          <p:cNvPr id="4" name="Slide Number Placeholder 3"/>
          <p:cNvSpPr>
            <a:spLocks noGrp="1"/>
          </p:cNvSpPr>
          <p:nvPr>
            <p:ph type="sldNum" sz="quarter" idx="12"/>
          </p:nvPr>
        </p:nvSpPr>
        <p:spPr/>
        <p:txBody>
          <a:bodyPr/>
          <a:lstStyle/>
          <a:p>
            <a:r>
              <a:rPr lang="en-US" dirty="0" smtClean="0"/>
              <a:t> </a:t>
            </a:r>
            <a:r>
              <a:rPr lang="en-US" sz="1100" dirty="0" smtClean="0">
                <a:latin typeface="Helvetica" pitchFamily="34" charset="0"/>
              </a:rPr>
              <a:t>Slide </a:t>
            </a:r>
            <a:fld id="{90BDF71C-F485-43AE-8825-5070AF1EA8C9}" type="slidenum">
              <a:rPr lang="en-US" sz="1100" smtClean="0">
                <a:latin typeface="Helvetica" pitchFamily="34" charset="0"/>
              </a:rPr>
              <a:pPr/>
              <a:t>47</a:t>
            </a:fld>
            <a:endParaRPr lang="en-US" sz="1100" dirty="0">
              <a:latin typeface="Helvetica" pitchFamily="34" charset="0"/>
            </a:endParaRPr>
          </a:p>
        </p:txBody>
      </p:sp>
      <p:pic>
        <p:nvPicPr>
          <p:cNvPr id="5" name="Picture 4" descr="_94_08_38%.jpg"/>
          <p:cNvPicPr>
            <a:picLocks noChangeAspect="1"/>
          </p:cNvPicPr>
          <p:nvPr/>
        </p:nvPicPr>
        <p:blipFill>
          <a:blip r:embed="rId3" cstate="print">
            <a:lum contrast="30000"/>
          </a:blip>
          <a:stretch>
            <a:fillRect/>
          </a:stretch>
        </p:blipFill>
        <p:spPr>
          <a:xfrm>
            <a:off x="6228184" y="2132856"/>
            <a:ext cx="1432819" cy="2167504"/>
          </a:xfrm>
          <a:prstGeom prst="rect">
            <a:avLst/>
          </a:prstGeom>
        </p:spPr>
      </p:pic>
    </p:spTree>
  </p:cSld>
  <p:clrMapOvr>
    <a:masterClrMapping/>
  </p:clrMapOvr>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208912" cy="1143000"/>
          </a:xfrm>
        </p:spPr>
        <p:txBody>
          <a:bodyPr>
            <a:normAutofit/>
          </a:bodyPr>
          <a:lstStyle/>
          <a:p>
            <a:r>
              <a:rPr lang="en-AU" sz="3400" b="1" dirty="0" smtClean="0">
                <a:solidFill>
                  <a:srgbClr val="FF6600"/>
                </a:solidFill>
                <a:latin typeface="Helvetica" pitchFamily="34" charset="0"/>
              </a:rPr>
              <a:t>Internal training events</a:t>
            </a:r>
            <a:endParaRPr lang="en-AU" sz="3400"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5301208"/>
          </a:xfrm>
        </p:spPr>
        <p:txBody>
          <a:bodyPr>
            <a:normAutofit/>
          </a:bodyPr>
          <a:lstStyle/>
          <a:p>
            <a:pPr lvl="0">
              <a:spcBef>
                <a:spcPts val="600"/>
              </a:spcBef>
              <a:spcAft>
                <a:spcPts val="1200"/>
              </a:spcAft>
              <a:buNone/>
            </a:pPr>
            <a:r>
              <a:rPr lang="en-AU" sz="2200" b="1" dirty="0" smtClean="0">
                <a:latin typeface="Helvetica" pitchFamily="34" charset="0"/>
              </a:rPr>
              <a:t>Types of events</a:t>
            </a:r>
          </a:p>
          <a:p>
            <a:pPr lvl="0">
              <a:spcBef>
                <a:spcPts val="600"/>
              </a:spcBef>
              <a:spcAft>
                <a:spcPts val="1200"/>
              </a:spcAft>
            </a:pPr>
            <a:r>
              <a:rPr lang="en-AU" sz="2200" dirty="0" smtClean="0">
                <a:latin typeface="Helvetica" pitchFamily="34" charset="0"/>
              </a:rPr>
              <a:t>Specialised programs</a:t>
            </a:r>
          </a:p>
          <a:p>
            <a:pPr lvl="0">
              <a:spcBef>
                <a:spcPts val="600"/>
              </a:spcBef>
              <a:spcAft>
                <a:spcPts val="1200"/>
              </a:spcAft>
            </a:pPr>
            <a:r>
              <a:rPr lang="en-AU" sz="2200" dirty="0" smtClean="0">
                <a:latin typeface="Helvetica" pitchFamily="34" charset="0"/>
              </a:rPr>
              <a:t>On the job learning</a:t>
            </a:r>
          </a:p>
          <a:p>
            <a:pPr lvl="0">
              <a:spcBef>
                <a:spcPts val="600"/>
              </a:spcBef>
              <a:spcAft>
                <a:spcPts val="1200"/>
              </a:spcAft>
            </a:pPr>
            <a:r>
              <a:rPr lang="en-AU" sz="2200" dirty="0" smtClean="0">
                <a:latin typeface="Helvetica" pitchFamily="34" charset="0"/>
              </a:rPr>
              <a:t>Buddy system</a:t>
            </a:r>
          </a:p>
          <a:p>
            <a:pPr lvl="0">
              <a:spcBef>
                <a:spcPts val="600"/>
              </a:spcBef>
              <a:spcAft>
                <a:spcPts val="1200"/>
              </a:spcAft>
            </a:pPr>
            <a:r>
              <a:rPr lang="en-AU" sz="2200" dirty="0" smtClean="0">
                <a:latin typeface="Helvetica" pitchFamily="34" charset="0"/>
              </a:rPr>
              <a:t>Home study</a:t>
            </a:r>
          </a:p>
          <a:p>
            <a:pPr lvl="0">
              <a:spcBef>
                <a:spcPts val="600"/>
              </a:spcBef>
              <a:spcAft>
                <a:spcPts val="1200"/>
              </a:spcAft>
            </a:pPr>
            <a:r>
              <a:rPr lang="en-AU" sz="2200" dirty="0" smtClean="0">
                <a:latin typeface="Helvetica" pitchFamily="34" charset="0"/>
              </a:rPr>
              <a:t>Conferences</a:t>
            </a:r>
          </a:p>
          <a:p>
            <a:pPr>
              <a:spcBef>
                <a:spcPts val="600"/>
              </a:spcBef>
              <a:spcAft>
                <a:spcPts val="1200"/>
              </a:spcAft>
            </a:pPr>
            <a:r>
              <a:rPr lang="en-AU" sz="2200" dirty="0" smtClean="0">
                <a:latin typeface="Helvetica" pitchFamily="34" charset="0"/>
              </a:rPr>
              <a:t>Seminars</a:t>
            </a:r>
            <a:endParaRPr lang="en-US" sz="2200" dirty="0" smtClean="0">
              <a:latin typeface="Helvetica" pitchFamily="34" charset="0"/>
            </a:endParaRPr>
          </a:p>
          <a:p>
            <a:pPr>
              <a:buNone/>
            </a:pPr>
            <a:endParaRPr lang="en-AU" sz="2400" dirty="0" smtClean="0"/>
          </a:p>
          <a:p>
            <a:pPr lvl="0">
              <a:spcBef>
                <a:spcPts val="600"/>
              </a:spcBef>
              <a:spcAft>
                <a:spcPts val="1200"/>
              </a:spcAft>
              <a:buNone/>
            </a:pPr>
            <a:endParaRPr lang="en-AU" sz="2200" dirty="0" smtClean="0">
              <a:latin typeface="Helvetica" pitchFamily="34" charset="0"/>
            </a:endParaRPr>
          </a:p>
          <a:p>
            <a:pPr lvl="0"/>
            <a:endParaRPr lang="en-AU" sz="2400" dirty="0" smtClean="0"/>
          </a:p>
          <a:p>
            <a:pPr lvl="0">
              <a:buNone/>
            </a:pPr>
            <a:endParaRPr lang="en-AU" sz="2400" dirty="0"/>
          </a:p>
        </p:txBody>
      </p:sp>
      <p:sp>
        <p:nvSpPr>
          <p:cNvPr id="4" name="Slide Number Placeholder 3"/>
          <p:cNvSpPr>
            <a:spLocks noGrp="1"/>
          </p:cNvSpPr>
          <p:nvPr>
            <p:ph type="sldNum" sz="quarter" idx="12"/>
          </p:nvPr>
        </p:nvSpPr>
        <p:spPr/>
        <p:txBody>
          <a:bodyPr/>
          <a:lstStyle/>
          <a:p>
            <a:r>
              <a:rPr lang="en-US" dirty="0" smtClean="0"/>
              <a:t> </a:t>
            </a:r>
            <a:r>
              <a:rPr lang="en-US" sz="1100" dirty="0" smtClean="0">
                <a:latin typeface="Helvetica" pitchFamily="34" charset="0"/>
              </a:rPr>
              <a:t>Slide </a:t>
            </a:r>
            <a:fld id="{90BDF71C-F485-43AE-8825-5070AF1EA8C9}" type="slidenum">
              <a:rPr lang="en-US" sz="1100" smtClean="0">
                <a:latin typeface="Helvetica" pitchFamily="34" charset="0"/>
              </a:rPr>
              <a:pPr/>
              <a:t>48</a:t>
            </a:fld>
            <a:endParaRPr lang="en-US" sz="1100" dirty="0">
              <a:latin typeface="Helvetica" pitchFamily="34" charset="0"/>
            </a:endParaRPr>
          </a:p>
        </p:txBody>
      </p:sp>
      <p:pic>
        <p:nvPicPr>
          <p:cNvPr id="5" name="Picture 4" descr="March 2005  503_RT8.TIF"/>
          <p:cNvPicPr>
            <a:picLocks noChangeAspect="1"/>
          </p:cNvPicPr>
          <p:nvPr/>
        </p:nvPicPr>
        <p:blipFill>
          <a:blip r:embed="rId3" cstate="print">
            <a:lum contrast="20000"/>
          </a:blip>
          <a:stretch>
            <a:fillRect/>
          </a:stretch>
        </p:blipFill>
        <p:spPr>
          <a:xfrm>
            <a:off x="5076056" y="2564904"/>
            <a:ext cx="2771800" cy="1847867"/>
          </a:xfrm>
          <a:prstGeom prst="rect">
            <a:avLst/>
          </a:prstGeom>
        </p:spPr>
      </p:pic>
    </p:spTree>
  </p:cSld>
  <p:clrMapOvr>
    <a:masterClrMapping/>
  </p:clrMapOvr>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208912" cy="1143000"/>
          </a:xfrm>
        </p:spPr>
        <p:txBody>
          <a:bodyPr>
            <a:normAutofit/>
          </a:bodyPr>
          <a:lstStyle/>
          <a:p>
            <a:r>
              <a:rPr lang="en-AU" sz="3400" b="1" dirty="0" smtClean="0">
                <a:solidFill>
                  <a:srgbClr val="FF6600"/>
                </a:solidFill>
                <a:latin typeface="Helvetica" pitchFamily="34" charset="0"/>
              </a:rPr>
              <a:t>Internal training events</a:t>
            </a:r>
            <a:endParaRPr lang="en-AU" sz="3400"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5301208"/>
          </a:xfrm>
        </p:spPr>
        <p:txBody>
          <a:bodyPr>
            <a:normAutofit/>
          </a:bodyPr>
          <a:lstStyle/>
          <a:p>
            <a:pPr lvl="0">
              <a:spcBef>
                <a:spcPts val="600"/>
              </a:spcBef>
              <a:spcAft>
                <a:spcPts val="1200"/>
              </a:spcAft>
              <a:buNone/>
            </a:pPr>
            <a:r>
              <a:rPr lang="en-AU" sz="2200" b="1" dirty="0" smtClean="0">
                <a:latin typeface="Helvetica" pitchFamily="34" charset="0"/>
              </a:rPr>
              <a:t>Types of events</a:t>
            </a:r>
          </a:p>
          <a:p>
            <a:pPr lvl="0">
              <a:spcBef>
                <a:spcPts val="600"/>
              </a:spcBef>
              <a:spcAft>
                <a:spcPts val="1200"/>
              </a:spcAft>
            </a:pPr>
            <a:r>
              <a:rPr lang="en-AU" sz="2200" dirty="0" smtClean="0">
                <a:latin typeface="Helvetica" pitchFamily="34" charset="0"/>
              </a:rPr>
              <a:t>Meetings</a:t>
            </a:r>
          </a:p>
          <a:p>
            <a:pPr lvl="0">
              <a:spcBef>
                <a:spcPts val="600"/>
              </a:spcBef>
              <a:spcAft>
                <a:spcPts val="1200"/>
              </a:spcAft>
            </a:pPr>
            <a:r>
              <a:rPr lang="en-AU" sz="2200" dirty="0" smtClean="0">
                <a:latin typeface="Helvetica" pitchFamily="34" charset="0"/>
              </a:rPr>
              <a:t>Exhibitions</a:t>
            </a:r>
          </a:p>
          <a:p>
            <a:pPr lvl="0">
              <a:spcBef>
                <a:spcPts val="600"/>
              </a:spcBef>
              <a:spcAft>
                <a:spcPts val="1200"/>
              </a:spcAft>
            </a:pPr>
            <a:r>
              <a:rPr lang="en-AU" sz="2200" dirty="0" smtClean="0">
                <a:latin typeface="Helvetica" pitchFamily="34" charset="0"/>
              </a:rPr>
              <a:t>Trade presentations</a:t>
            </a:r>
          </a:p>
          <a:p>
            <a:pPr lvl="0">
              <a:spcBef>
                <a:spcPts val="600"/>
              </a:spcBef>
              <a:spcAft>
                <a:spcPts val="1200"/>
              </a:spcAft>
            </a:pPr>
            <a:r>
              <a:rPr lang="en-AU" sz="2200" dirty="0" smtClean="0">
                <a:latin typeface="Helvetica" pitchFamily="34" charset="0"/>
              </a:rPr>
              <a:t>Symposiums</a:t>
            </a:r>
          </a:p>
          <a:p>
            <a:pPr>
              <a:buNone/>
            </a:pPr>
            <a:endParaRPr lang="en-AU" sz="2400" dirty="0" smtClean="0"/>
          </a:p>
          <a:p>
            <a:pPr lvl="0">
              <a:spcBef>
                <a:spcPts val="600"/>
              </a:spcBef>
              <a:spcAft>
                <a:spcPts val="1200"/>
              </a:spcAft>
              <a:buNone/>
            </a:pPr>
            <a:endParaRPr lang="en-AU" sz="2200" dirty="0" smtClean="0">
              <a:latin typeface="Helvetica" pitchFamily="34" charset="0"/>
            </a:endParaRPr>
          </a:p>
          <a:p>
            <a:pPr lvl="0"/>
            <a:endParaRPr lang="en-AU" sz="2400" dirty="0" smtClean="0"/>
          </a:p>
          <a:p>
            <a:pPr lvl="0">
              <a:buNone/>
            </a:pPr>
            <a:endParaRPr lang="en-AU" sz="2400" dirty="0"/>
          </a:p>
        </p:txBody>
      </p:sp>
      <p:sp>
        <p:nvSpPr>
          <p:cNvPr id="4" name="Slide Number Placeholder 3"/>
          <p:cNvSpPr>
            <a:spLocks noGrp="1"/>
          </p:cNvSpPr>
          <p:nvPr>
            <p:ph type="sldNum" sz="quarter" idx="12"/>
          </p:nvPr>
        </p:nvSpPr>
        <p:spPr/>
        <p:txBody>
          <a:bodyPr/>
          <a:lstStyle/>
          <a:p>
            <a:r>
              <a:rPr lang="en-US" dirty="0" smtClean="0"/>
              <a:t> </a:t>
            </a:r>
            <a:r>
              <a:rPr lang="en-US" sz="1100" dirty="0" smtClean="0">
                <a:latin typeface="Helvetica" pitchFamily="34" charset="0"/>
              </a:rPr>
              <a:t>Slide </a:t>
            </a:r>
            <a:fld id="{90BDF71C-F485-43AE-8825-5070AF1EA8C9}" type="slidenum">
              <a:rPr lang="en-US" sz="1100" smtClean="0">
                <a:latin typeface="Helvetica" pitchFamily="34" charset="0"/>
              </a:rPr>
              <a:pPr/>
              <a:t>49</a:t>
            </a:fld>
            <a:endParaRPr lang="en-US" sz="1100" dirty="0">
              <a:latin typeface="Helvetica" pitchFamily="34" charset="0"/>
            </a:endParaRPr>
          </a:p>
        </p:txBody>
      </p:sp>
      <p:pic>
        <p:nvPicPr>
          <p:cNvPr id="5" name="Picture 4" descr="MP900422638.JPG"/>
          <p:cNvPicPr>
            <a:picLocks noChangeAspect="1"/>
          </p:cNvPicPr>
          <p:nvPr/>
        </p:nvPicPr>
        <p:blipFill>
          <a:blip r:embed="rId3" cstate="print">
            <a:lum contrast="20000"/>
          </a:blip>
          <a:stretch>
            <a:fillRect/>
          </a:stretch>
        </p:blipFill>
        <p:spPr>
          <a:xfrm>
            <a:off x="5220072" y="2276872"/>
            <a:ext cx="2542759" cy="1714376"/>
          </a:xfrm>
          <a:prstGeom prst="rect">
            <a:avLst/>
          </a:prstGeom>
        </p:spPr>
      </p:pic>
    </p:spTree>
  </p:cSld>
  <p:clrMapOvr>
    <a:masterClrMapping/>
  </p:clrMapOvr>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208912" cy="1143000"/>
          </a:xfrm>
        </p:spPr>
        <p:txBody>
          <a:bodyPr>
            <a:normAutofit/>
          </a:bodyPr>
          <a:lstStyle/>
          <a:p>
            <a:r>
              <a:rPr lang="en-AU" sz="3400" b="1" dirty="0" smtClean="0">
                <a:solidFill>
                  <a:srgbClr val="FF6600"/>
                </a:solidFill>
                <a:latin typeface="Helvetica" pitchFamily="34" charset="0"/>
              </a:rPr>
              <a:t>Determine learner availability</a:t>
            </a:r>
            <a:endParaRPr lang="en-AU" sz="3400"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5301208"/>
          </a:xfrm>
        </p:spPr>
        <p:txBody>
          <a:bodyPr>
            <a:normAutofit/>
          </a:bodyPr>
          <a:lstStyle/>
          <a:p>
            <a:pPr marL="0" lvl="0">
              <a:spcBef>
                <a:spcPts val="600"/>
              </a:spcBef>
              <a:spcAft>
                <a:spcPts val="1200"/>
              </a:spcAft>
              <a:buNone/>
            </a:pPr>
            <a:r>
              <a:rPr lang="en-AU" sz="2200" b="1" dirty="0" smtClean="0">
                <a:latin typeface="Helvetica" pitchFamily="34" charset="0"/>
              </a:rPr>
              <a:t>Ways to identify learner availability to attend and participate in training events</a:t>
            </a:r>
          </a:p>
          <a:p>
            <a:pPr>
              <a:spcBef>
                <a:spcPts val="600"/>
              </a:spcBef>
              <a:spcAft>
                <a:spcPts val="1200"/>
              </a:spcAft>
            </a:pPr>
            <a:r>
              <a:rPr lang="en-AU" sz="2200" dirty="0" smtClean="0">
                <a:latin typeface="Helvetica" pitchFamily="34" charset="0"/>
              </a:rPr>
              <a:t>Identify suitable times</a:t>
            </a:r>
          </a:p>
          <a:p>
            <a:pPr>
              <a:spcBef>
                <a:spcPts val="600"/>
              </a:spcBef>
              <a:spcAft>
                <a:spcPts val="1200"/>
              </a:spcAft>
            </a:pPr>
            <a:r>
              <a:rPr lang="en-AU" sz="2200" dirty="0" smtClean="0">
                <a:latin typeface="Helvetica" pitchFamily="34" charset="0"/>
              </a:rPr>
              <a:t>Liaise with supervisors </a:t>
            </a:r>
          </a:p>
          <a:p>
            <a:pPr>
              <a:spcBef>
                <a:spcPts val="600"/>
              </a:spcBef>
              <a:spcAft>
                <a:spcPts val="1200"/>
              </a:spcAft>
            </a:pPr>
            <a:r>
              <a:rPr lang="en-AU" sz="2200" dirty="0" smtClean="0">
                <a:latin typeface="Helvetica" pitchFamily="34" charset="0"/>
              </a:rPr>
              <a:t>Liaise with finance department</a:t>
            </a:r>
          </a:p>
          <a:p>
            <a:pPr>
              <a:spcBef>
                <a:spcPts val="600"/>
              </a:spcBef>
              <a:spcAft>
                <a:spcPts val="1200"/>
              </a:spcAft>
            </a:pPr>
            <a:r>
              <a:rPr lang="en-AU" sz="2200" dirty="0" smtClean="0">
                <a:latin typeface="Helvetica" pitchFamily="34" charset="0"/>
              </a:rPr>
              <a:t>Identifying peak and low trading times, days and periods</a:t>
            </a:r>
          </a:p>
          <a:p>
            <a:endParaRPr lang="en-AU" sz="2400" dirty="0" smtClean="0"/>
          </a:p>
          <a:p>
            <a:pPr>
              <a:buNone/>
            </a:pPr>
            <a:endParaRPr lang="en-AU" sz="2400" dirty="0" smtClean="0"/>
          </a:p>
          <a:p>
            <a:pPr lvl="0">
              <a:spcBef>
                <a:spcPts val="600"/>
              </a:spcBef>
              <a:spcAft>
                <a:spcPts val="1200"/>
              </a:spcAft>
              <a:buNone/>
            </a:pPr>
            <a:endParaRPr lang="en-AU" sz="2200" dirty="0" smtClean="0">
              <a:latin typeface="Helvetica" pitchFamily="34" charset="0"/>
            </a:endParaRPr>
          </a:p>
          <a:p>
            <a:pPr lvl="0"/>
            <a:endParaRPr lang="en-AU" sz="2400" dirty="0" smtClean="0"/>
          </a:p>
          <a:p>
            <a:pPr lvl="0">
              <a:buNone/>
            </a:pPr>
            <a:endParaRPr lang="en-AU" sz="2400" dirty="0"/>
          </a:p>
        </p:txBody>
      </p:sp>
      <p:sp>
        <p:nvSpPr>
          <p:cNvPr id="4" name="Slide Number Placeholder 3"/>
          <p:cNvSpPr>
            <a:spLocks noGrp="1"/>
          </p:cNvSpPr>
          <p:nvPr>
            <p:ph type="sldNum" sz="quarter" idx="12"/>
          </p:nvPr>
        </p:nvSpPr>
        <p:spPr/>
        <p:txBody>
          <a:bodyPr/>
          <a:lstStyle/>
          <a:p>
            <a:r>
              <a:rPr lang="en-US" dirty="0" smtClean="0"/>
              <a:t> </a:t>
            </a:r>
            <a:r>
              <a:rPr lang="en-US" sz="1100" dirty="0" smtClean="0">
                <a:latin typeface="Helvetica" pitchFamily="34" charset="0"/>
              </a:rPr>
              <a:t>Slide </a:t>
            </a:r>
            <a:fld id="{90BDF71C-F485-43AE-8825-5070AF1EA8C9}" type="slidenum">
              <a:rPr lang="en-US" sz="1100" smtClean="0">
                <a:latin typeface="Helvetica" pitchFamily="34" charset="0"/>
              </a:rPr>
              <a:pPr/>
              <a:t>50</a:t>
            </a:fld>
            <a:endParaRPr lang="en-US" sz="1100" dirty="0">
              <a:latin typeface="Helvetica" pitchFamily="34" charset="0"/>
            </a:endParaRPr>
          </a:p>
        </p:txBody>
      </p:sp>
      <p:pic>
        <p:nvPicPr>
          <p:cNvPr id="6" name="Picture 5" descr="MP900443455[1].JPG"/>
          <p:cNvPicPr/>
          <p:nvPr/>
        </p:nvPicPr>
        <p:blipFill>
          <a:blip r:embed="rId3" cstate="print"/>
          <a:stretch>
            <a:fillRect/>
          </a:stretch>
        </p:blipFill>
        <p:spPr>
          <a:xfrm>
            <a:off x="6012160" y="2492896"/>
            <a:ext cx="1987674" cy="1368152"/>
          </a:xfrm>
          <a:prstGeom prst="rect">
            <a:avLst/>
          </a:prstGeom>
        </p:spPr>
      </p:pic>
    </p:spTree>
  </p:cSld>
  <p:clrMapOvr>
    <a:masterClrMapping/>
  </p:clrMapOvr>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208912" cy="1143000"/>
          </a:xfrm>
        </p:spPr>
        <p:txBody>
          <a:bodyPr>
            <a:normAutofit/>
          </a:bodyPr>
          <a:lstStyle/>
          <a:p>
            <a:r>
              <a:rPr lang="en-AU" sz="3400" b="1" dirty="0" smtClean="0">
                <a:solidFill>
                  <a:srgbClr val="FF6600"/>
                </a:solidFill>
                <a:latin typeface="Helvetica" pitchFamily="34" charset="0"/>
              </a:rPr>
              <a:t>Determine learner availability</a:t>
            </a:r>
            <a:endParaRPr lang="en-AU" sz="3400"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5301208"/>
          </a:xfrm>
        </p:spPr>
        <p:txBody>
          <a:bodyPr>
            <a:normAutofit/>
          </a:bodyPr>
          <a:lstStyle/>
          <a:p>
            <a:pPr marL="0" lvl="0">
              <a:spcBef>
                <a:spcPts val="600"/>
              </a:spcBef>
              <a:spcAft>
                <a:spcPts val="1200"/>
              </a:spcAft>
              <a:buNone/>
            </a:pPr>
            <a:r>
              <a:rPr lang="en-AU" sz="2200" b="1" dirty="0" smtClean="0">
                <a:latin typeface="Helvetica" pitchFamily="34" charset="0"/>
              </a:rPr>
              <a:t>Ways to identify learner availability to attend and participate in training events</a:t>
            </a:r>
          </a:p>
          <a:p>
            <a:pPr>
              <a:spcBef>
                <a:spcPts val="600"/>
              </a:spcBef>
              <a:spcAft>
                <a:spcPts val="1200"/>
              </a:spcAft>
            </a:pPr>
            <a:r>
              <a:rPr lang="en-AU" sz="2200" dirty="0" smtClean="0">
                <a:latin typeface="Helvetica" pitchFamily="34" charset="0"/>
              </a:rPr>
              <a:t>Identify participant’s time restrictions and personal affairs </a:t>
            </a:r>
          </a:p>
          <a:p>
            <a:pPr>
              <a:spcBef>
                <a:spcPts val="600"/>
              </a:spcBef>
              <a:spcAft>
                <a:spcPts val="1200"/>
              </a:spcAft>
            </a:pPr>
            <a:r>
              <a:rPr lang="en-AU" sz="2200" dirty="0" smtClean="0">
                <a:latin typeface="Helvetica" pitchFamily="34" charset="0"/>
              </a:rPr>
              <a:t>Identify productive times</a:t>
            </a:r>
          </a:p>
          <a:p>
            <a:pPr>
              <a:spcBef>
                <a:spcPts val="600"/>
              </a:spcBef>
              <a:spcAft>
                <a:spcPts val="1200"/>
              </a:spcAft>
            </a:pPr>
            <a:r>
              <a:rPr lang="en-AU" sz="2200" dirty="0" smtClean="0">
                <a:latin typeface="Helvetica" pitchFamily="34" charset="0"/>
              </a:rPr>
              <a:t>Consider additional time required outside of training hours</a:t>
            </a:r>
          </a:p>
          <a:p>
            <a:endParaRPr lang="en-AU" sz="2400" dirty="0" smtClean="0"/>
          </a:p>
          <a:p>
            <a:pPr>
              <a:buNone/>
            </a:pPr>
            <a:endParaRPr lang="en-AU" sz="2400" dirty="0" smtClean="0"/>
          </a:p>
          <a:p>
            <a:pPr lvl="0">
              <a:spcBef>
                <a:spcPts val="600"/>
              </a:spcBef>
              <a:spcAft>
                <a:spcPts val="1200"/>
              </a:spcAft>
              <a:buNone/>
            </a:pPr>
            <a:endParaRPr lang="en-AU" sz="2200" dirty="0" smtClean="0">
              <a:latin typeface="Helvetica" pitchFamily="34" charset="0"/>
            </a:endParaRPr>
          </a:p>
          <a:p>
            <a:pPr lvl="0"/>
            <a:endParaRPr lang="en-AU" sz="2400" dirty="0" smtClean="0"/>
          </a:p>
          <a:p>
            <a:pPr lvl="0">
              <a:buNone/>
            </a:pPr>
            <a:endParaRPr lang="en-AU" sz="2400" dirty="0"/>
          </a:p>
        </p:txBody>
      </p:sp>
      <p:sp>
        <p:nvSpPr>
          <p:cNvPr id="4" name="Slide Number Placeholder 3"/>
          <p:cNvSpPr>
            <a:spLocks noGrp="1"/>
          </p:cNvSpPr>
          <p:nvPr>
            <p:ph type="sldNum" sz="quarter" idx="12"/>
          </p:nvPr>
        </p:nvSpPr>
        <p:spPr/>
        <p:txBody>
          <a:bodyPr/>
          <a:lstStyle/>
          <a:p>
            <a:r>
              <a:rPr lang="en-US" dirty="0" smtClean="0"/>
              <a:t> </a:t>
            </a:r>
            <a:r>
              <a:rPr lang="en-US" sz="1100" dirty="0" smtClean="0">
                <a:latin typeface="Helvetica" pitchFamily="34" charset="0"/>
              </a:rPr>
              <a:t>Slide </a:t>
            </a:r>
            <a:fld id="{90BDF71C-F485-43AE-8825-5070AF1EA8C9}" type="slidenum">
              <a:rPr lang="en-US" sz="1100" smtClean="0">
                <a:latin typeface="Helvetica" pitchFamily="34" charset="0"/>
              </a:rPr>
              <a:pPr/>
              <a:t>51</a:t>
            </a:fld>
            <a:endParaRPr lang="en-US" sz="1100" dirty="0">
              <a:latin typeface="Helvetica" pitchFamily="34" charset="0"/>
            </a:endParaRPr>
          </a:p>
        </p:txBody>
      </p:sp>
      <p:pic>
        <p:nvPicPr>
          <p:cNvPr id="7" name="Picture 6" descr="MP900302942[1].JPG"/>
          <p:cNvPicPr/>
          <p:nvPr/>
        </p:nvPicPr>
        <p:blipFill>
          <a:blip r:embed="rId3" cstate="print"/>
          <a:stretch>
            <a:fillRect/>
          </a:stretch>
        </p:blipFill>
        <p:spPr>
          <a:xfrm>
            <a:off x="3491880" y="4581128"/>
            <a:ext cx="2160240" cy="1512168"/>
          </a:xfrm>
          <a:prstGeom prst="rect">
            <a:avLst/>
          </a:prstGeom>
        </p:spPr>
      </p:pic>
    </p:spTree>
  </p:cSld>
  <p:clrMapOvr>
    <a:masterClrMapping/>
  </p:clrMapOvr>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280920" cy="1143000"/>
          </a:xfrm>
        </p:spPr>
        <p:txBody>
          <a:bodyPr>
            <a:normAutofit/>
          </a:bodyPr>
          <a:lstStyle/>
          <a:p>
            <a:r>
              <a:rPr lang="en-US" sz="3200" b="1" dirty="0" smtClean="0">
                <a:solidFill>
                  <a:srgbClr val="FF6600"/>
                </a:solidFill>
                <a:latin typeface="Helvetica" pitchFamily="34" charset="0"/>
              </a:rPr>
              <a:t>Involve stakeholders in planning activities</a:t>
            </a:r>
            <a:endParaRPr lang="en-US" sz="32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5301208"/>
          </a:xfrm>
        </p:spPr>
        <p:txBody>
          <a:bodyPr>
            <a:normAutofit/>
          </a:bodyPr>
          <a:lstStyle/>
          <a:p>
            <a:pPr>
              <a:spcBef>
                <a:spcPts val="600"/>
              </a:spcBef>
              <a:spcAft>
                <a:spcPts val="600"/>
              </a:spcAft>
              <a:buNone/>
            </a:pPr>
            <a:r>
              <a:rPr lang="en-AU" sz="2200" b="1" dirty="0" smtClean="0">
                <a:latin typeface="Helvetica" pitchFamily="34" charset="0"/>
              </a:rPr>
              <a:t>Types of stakeholders</a:t>
            </a:r>
          </a:p>
          <a:p>
            <a:pPr lvl="0">
              <a:spcBef>
                <a:spcPts val="600"/>
              </a:spcBef>
              <a:spcAft>
                <a:spcPts val="600"/>
              </a:spcAft>
            </a:pPr>
            <a:r>
              <a:rPr lang="en-AU" sz="2200" dirty="0" smtClean="0">
                <a:latin typeface="Helvetica" pitchFamily="34" charset="0"/>
              </a:rPr>
              <a:t>Learners</a:t>
            </a:r>
          </a:p>
          <a:p>
            <a:pPr lvl="0">
              <a:spcBef>
                <a:spcPts val="600"/>
              </a:spcBef>
              <a:spcAft>
                <a:spcPts val="600"/>
              </a:spcAft>
            </a:pPr>
            <a:r>
              <a:rPr lang="en-AU" sz="2200" dirty="0" smtClean="0">
                <a:latin typeface="Helvetica" pitchFamily="34" charset="0"/>
              </a:rPr>
              <a:t>Human Resources </a:t>
            </a:r>
          </a:p>
          <a:p>
            <a:pPr lvl="0">
              <a:spcBef>
                <a:spcPts val="600"/>
              </a:spcBef>
              <a:spcAft>
                <a:spcPts val="600"/>
              </a:spcAft>
            </a:pPr>
            <a:r>
              <a:rPr lang="en-AU" sz="2200" dirty="0" smtClean="0">
                <a:latin typeface="Helvetica" pitchFamily="34" charset="0"/>
              </a:rPr>
              <a:t>Training Department</a:t>
            </a:r>
          </a:p>
          <a:p>
            <a:pPr lvl="0">
              <a:spcBef>
                <a:spcPts val="600"/>
              </a:spcBef>
              <a:spcAft>
                <a:spcPts val="600"/>
              </a:spcAft>
            </a:pPr>
            <a:r>
              <a:rPr lang="en-AU" sz="2200" dirty="0" smtClean="0">
                <a:latin typeface="Helvetica" pitchFamily="34" charset="0"/>
              </a:rPr>
              <a:t>Department heads</a:t>
            </a:r>
          </a:p>
          <a:p>
            <a:pPr lvl="0">
              <a:spcBef>
                <a:spcPts val="600"/>
              </a:spcBef>
              <a:spcAft>
                <a:spcPts val="600"/>
              </a:spcAft>
            </a:pPr>
            <a:r>
              <a:rPr lang="en-AU" sz="2200" dirty="0" smtClean="0">
                <a:latin typeface="Helvetica" pitchFamily="34" charset="0"/>
              </a:rPr>
              <a:t>Organisation</a:t>
            </a:r>
          </a:p>
          <a:p>
            <a:pPr lvl="0">
              <a:spcBef>
                <a:spcPts val="600"/>
              </a:spcBef>
              <a:spcAft>
                <a:spcPts val="600"/>
              </a:spcAft>
            </a:pPr>
            <a:r>
              <a:rPr lang="en-AU" sz="2200" dirty="0" smtClean="0">
                <a:latin typeface="Helvetica" pitchFamily="34" charset="0"/>
              </a:rPr>
              <a:t>Industry experts</a:t>
            </a:r>
          </a:p>
          <a:p>
            <a:pPr lvl="0">
              <a:spcBef>
                <a:spcPts val="600"/>
              </a:spcBef>
              <a:spcAft>
                <a:spcPts val="600"/>
              </a:spcAft>
            </a:pPr>
            <a:r>
              <a:rPr lang="en-AU" sz="2200" dirty="0" smtClean="0">
                <a:latin typeface="Helvetica" pitchFamily="34" charset="0"/>
              </a:rPr>
              <a:t>Trainers</a:t>
            </a:r>
          </a:p>
          <a:p>
            <a:pPr lvl="0">
              <a:spcBef>
                <a:spcPts val="600"/>
              </a:spcBef>
              <a:spcAft>
                <a:spcPts val="600"/>
              </a:spcAft>
            </a:pPr>
            <a:r>
              <a:rPr lang="en-AU" sz="2200" dirty="0" smtClean="0">
                <a:latin typeface="Helvetica" pitchFamily="34" charset="0"/>
              </a:rPr>
              <a:t>Administration staff</a:t>
            </a:r>
          </a:p>
          <a:p>
            <a:pPr>
              <a:spcBef>
                <a:spcPts val="600"/>
              </a:spcBef>
              <a:spcAft>
                <a:spcPts val="1200"/>
              </a:spcAft>
              <a:buNone/>
            </a:pPr>
            <a:endParaRPr lang="en-AU" sz="2400" dirty="0" smtClean="0"/>
          </a:p>
          <a:p>
            <a:pPr lvl="0">
              <a:spcBef>
                <a:spcPts val="600"/>
              </a:spcBef>
              <a:spcAft>
                <a:spcPts val="1200"/>
              </a:spcAft>
              <a:buNone/>
            </a:pPr>
            <a:endParaRPr lang="en-AU" sz="2200" dirty="0" smtClean="0">
              <a:latin typeface="Helvetica" pitchFamily="34" charset="0"/>
            </a:endParaRPr>
          </a:p>
          <a:p>
            <a:pPr lvl="0"/>
            <a:endParaRPr lang="en-AU" sz="2400" dirty="0" smtClean="0"/>
          </a:p>
          <a:p>
            <a:pPr lvl="0">
              <a:buNone/>
            </a:pPr>
            <a:endParaRPr lang="en-AU" sz="2400" dirty="0"/>
          </a:p>
        </p:txBody>
      </p:sp>
      <p:sp>
        <p:nvSpPr>
          <p:cNvPr id="4" name="Slide Number Placeholder 3"/>
          <p:cNvSpPr>
            <a:spLocks noGrp="1"/>
          </p:cNvSpPr>
          <p:nvPr>
            <p:ph type="sldNum" sz="quarter" idx="12"/>
          </p:nvPr>
        </p:nvSpPr>
        <p:spPr/>
        <p:txBody>
          <a:bodyPr/>
          <a:lstStyle/>
          <a:p>
            <a:r>
              <a:rPr lang="en-US" dirty="0" smtClean="0"/>
              <a:t> </a:t>
            </a:r>
            <a:r>
              <a:rPr lang="en-US" sz="1100" dirty="0" smtClean="0">
                <a:latin typeface="Helvetica" pitchFamily="34" charset="0"/>
              </a:rPr>
              <a:t>Slide </a:t>
            </a:r>
            <a:fld id="{90BDF71C-F485-43AE-8825-5070AF1EA8C9}" type="slidenum">
              <a:rPr lang="en-US" sz="1100" smtClean="0">
                <a:latin typeface="Helvetica" pitchFamily="34" charset="0"/>
              </a:rPr>
              <a:pPr/>
              <a:t>52</a:t>
            </a:fld>
            <a:endParaRPr lang="en-US" sz="1100" dirty="0">
              <a:latin typeface="Helvetica" pitchFamily="34" charset="0"/>
            </a:endParaRPr>
          </a:p>
        </p:txBody>
      </p:sp>
      <p:pic>
        <p:nvPicPr>
          <p:cNvPr id="6" name="Picture 5" descr="MP900422804[1].JPG"/>
          <p:cNvPicPr/>
          <p:nvPr/>
        </p:nvPicPr>
        <p:blipFill>
          <a:blip r:embed="rId3" cstate="print"/>
          <a:stretch>
            <a:fillRect/>
          </a:stretch>
        </p:blipFill>
        <p:spPr>
          <a:xfrm>
            <a:off x="6156176" y="2564904"/>
            <a:ext cx="1684387" cy="1612379"/>
          </a:xfrm>
          <a:prstGeom prst="rect">
            <a:avLst/>
          </a:prstGeom>
        </p:spPr>
      </p:pic>
    </p:spTree>
  </p:cSld>
  <p:clrMapOvr>
    <a:masterClrMapping/>
  </p:clrMapOvr>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992888" cy="1143000"/>
          </a:xfrm>
        </p:spPr>
        <p:txBody>
          <a:bodyPr>
            <a:normAutofit/>
          </a:bodyPr>
          <a:lstStyle/>
          <a:p>
            <a:r>
              <a:rPr lang="en-US" sz="3400" b="1" dirty="0" smtClean="0">
                <a:solidFill>
                  <a:srgbClr val="FF6600"/>
                </a:solidFill>
                <a:latin typeface="Helvetica" pitchFamily="34" charset="0"/>
              </a:rPr>
              <a:t>Involve participants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5301208"/>
          </a:xfrm>
        </p:spPr>
        <p:txBody>
          <a:bodyPr>
            <a:normAutofit/>
          </a:bodyPr>
          <a:lstStyle/>
          <a:p>
            <a:pPr>
              <a:spcBef>
                <a:spcPts val="600"/>
              </a:spcBef>
              <a:spcAft>
                <a:spcPts val="1200"/>
              </a:spcAft>
            </a:pPr>
            <a:r>
              <a:rPr lang="en-AU" sz="2200" dirty="0" smtClean="0">
                <a:latin typeface="Helvetica" pitchFamily="34" charset="0"/>
              </a:rPr>
              <a:t>One of the key considerations of any training experience is to understanding the learner</a:t>
            </a:r>
          </a:p>
          <a:p>
            <a:pPr>
              <a:spcBef>
                <a:spcPts val="600"/>
              </a:spcBef>
              <a:spcAft>
                <a:spcPts val="1200"/>
              </a:spcAft>
            </a:pPr>
            <a:r>
              <a:rPr lang="en-AU" sz="2200" dirty="0" smtClean="0">
                <a:latin typeface="Helvetica" pitchFamily="34" charset="0"/>
              </a:rPr>
              <a:t>This is the most important consideration</a:t>
            </a:r>
          </a:p>
          <a:p>
            <a:pPr>
              <a:spcBef>
                <a:spcPts val="600"/>
              </a:spcBef>
              <a:spcAft>
                <a:spcPts val="1200"/>
              </a:spcAft>
            </a:pPr>
            <a:r>
              <a:rPr lang="en-AU" sz="2200" dirty="0" smtClean="0">
                <a:latin typeface="Helvetica" pitchFamily="34" charset="0"/>
              </a:rPr>
              <a:t>If they are unable to learn what is required in a training program, the whole process will be unsuccessful and a waste of time</a:t>
            </a:r>
            <a:endParaRPr lang="en-AU" sz="2400" dirty="0" smtClean="0"/>
          </a:p>
          <a:p>
            <a:pPr lvl="0">
              <a:spcBef>
                <a:spcPts val="600"/>
              </a:spcBef>
              <a:spcAft>
                <a:spcPts val="1200"/>
              </a:spcAft>
              <a:buNone/>
            </a:pPr>
            <a:endParaRPr lang="en-AU" sz="2200" dirty="0" smtClean="0">
              <a:latin typeface="Helvetica" pitchFamily="34" charset="0"/>
            </a:endParaRPr>
          </a:p>
          <a:p>
            <a:pPr lvl="0"/>
            <a:endParaRPr lang="en-AU" sz="2400" dirty="0" smtClean="0"/>
          </a:p>
          <a:p>
            <a:pPr lvl="0">
              <a:buNone/>
            </a:pPr>
            <a:endParaRPr lang="en-AU" sz="2400" dirty="0"/>
          </a:p>
        </p:txBody>
      </p:sp>
      <p:sp>
        <p:nvSpPr>
          <p:cNvPr id="4" name="Slide Number Placeholder 3"/>
          <p:cNvSpPr>
            <a:spLocks noGrp="1"/>
          </p:cNvSpPr>
          <p:nvPr>
            <p:ph type="sldNum" sz="quarter" idx="12"/>
          </p:nvPr>
        </p:nvSpPr>
        <p:spPr/>
        <p:txBody>
          <a:bodyPr/>
          <a:lstStyle/>
          <a:p>
            <a:r>
              <a:rPr lang="en-US" dirty="0" smtClean="0"/>
              <a:t> </a:t>
            </a:r>
            <a:r>
              <a:rPr lang="en-US" sz="1100" dirty="0" smtClean="0">
                <a:latin typeface="Helvetica" pitchFamily="34" charset="0"/>
              </a:rPr>
              <a:t>Slide </a:t>
            </a:r>
            <a:fld id="{90BDF71C-F485-43AE-8825-5070AF1EA8C9}" type="slidenum">
              <a:rPr lang="en-US" sz="1100" smtClean="0">
                <a:latin typeface="Helvetica" pitchFamily="34" charset="0"/>
              </a:rPr>
              <a:pPr/>
              <a:t>53</a:t>
            </a:fld>
            <a:endParaRPr lang="en-US" sz="1100" dirty="0">
              <a:latin typeface="Helvetica" pitchFamily="34" charset="0"/>
            </a:endParaRPr>
          </a:p>
        </p:txBody>
      </p:sp>
      <p:pic>
        <p:nvPicPr>
          <p:cNvPr id="7" name="Picture 6" descr="2.jpg"/>
          <p:cNvPicPr/>
          <p:nvPr/>
        </p:nvPicPr>
        <p:blipFill>
          <a:blip r:embed="rId3" cstate="print"/>
          <a:stretch>
            <a:fillRect/>
          </a:stretch>
        </p:blipFill>
        <p:spPr>
          <a:xfrm>
            <a:off x="3851920" y="4149080"/>
            <a:ext cx="1476370" cy="1964432"/>
          </a:xfrm>
          <a:prstGeom prst="rect">
            <a:avLst/>
          </a:prstGeom>
        </p:spPr>
      </p:pic>
    </p:spTree>
  </p:cSld>
  <p:clrMapOvr>
    <a:masterClrMapping/>
  </p:clrMapOvr>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992888" cy="1143000"/>
          </a:xfrm>
        </p:spPr>
        <p:txBody>
          <a:bodyPr>
            <a:normAutofit/>
          </a:bodyPr>
          <a:lstStyle/>
          <a:p>
            <a:r>
              <a:rPr lang="en-US" sz="3400" b="1" dirty="0" smtClean="0">
                <a:solidFill>
                  <a:srgbClr val="FF6600"/>
                </a:solidFill>
                <a:latin typeface="Helvetica" pitchFamily="34" charset="0"/>
              </a:rPr>
              <a:t>Understand the learner</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5301208"/>
          </a:xfrm>
        </p:spPr>
        <p:txBody>
          <a:bodyPr>
            <a:normAutofit/>
          </a:bodyPr>
          <a:lstStyle/>
          <a:p>
            <a:pPr>
              <a:spcBef>
                <a:spcPts val="600"/>
              </a:spcBef>
              <a:spcAft>
                <a:spcPts val="1200"/>
              </a:spcAft>
              <a:buNone/>
            </a:pPr>
            <a:r>
              <a:rPr lang="en-AU" sz="2200" b="1" dirty="0" smtClean="0">
                <a:latin typeface="Helvetica" pitchFamily="34" charset="0"/>
              </a:rPr>
              <a:t>Everyone is different</a:t>
            </a:r>
          </a:p>
          <a:p>
            <a:pPr>
              <a:spcBef>
                <a:spcPts val="600"/>
              </a:spcBef>
              <a:spcAft>
                <a:spcPts val="1200"/>
              </a:spcAft>
            </a:pPr>
            <a:r>
              <a:rPr lang="en-AU" sz="2200" dirty="0" smtClean="0">
                <a:latin typeface="Helvetica" pitchFamily="34" charset="0"/>
              </a:rPr>
              <a:t>Backgrounds and experiences</a:t>
            </a:r>
          </a:p>
          <a:p>
            <a:pPr>
              <a:spcBef>
                <a:spcPts val="600"/>
              </a:spcBef>
              <a:spcAft>
                <a:spcPts val="1200"/>
              </a:spcAft>
            </a:pPr>
            <a:r>
              <a:rPr lang="en-AU" sz="2200" dirty="0" smtClean="0">
                <a:latin typeface="Helvetica" pitchFamily="34" charset="0"/>
              </a:rPr>
              <a:t>Physical differences </a:t>
            </a:r>
          </a:p>
          <a:p>
            <a:pPr>
              <a:spcBef>
                <a:spcPts val="600"/>
              </a:spcBef>
              <a:spcAft>
                <a:spcPts val="1200"/>
              </a:spcAft>
            </a:pPr>
            <a:r>
              <a:rPr lang="en-AU" sz="2200" dirty="0" smtClean="0">
                <a:latin typeface="Helvetica" pitchFamily="34" charset="0"/>
              </a:rPr>
              <a:t>Literacy and numeracy </a:t>
            </a:r>
          </a:p>
          <a:p>
            <a:pPr>
              <a:spcBef>
                <a:spcPts val="600"/>
              </a:spcBef>
              <a:spcAft>
                <a:spcPts val="1200"/>
              </a:spcAft>
            </a:pPr>
            <a:r>
              <a:rPr lang="en-AU" sz="2200" dirty="0" smtClean="0">
                <a:latin typeface="Helvetica" pitchFamily="34" charset="0"/>
              </a:rPr>
              <a:t>Personalities and characteristics</a:t>
            </a:r>
          </a:p>
          <a:p>
            <a:pPr>
              <a:spcBef>
                <a:spcPts val="600"/>
              </a:spcBef>
              <a:spcAft>
                <a:spcPts val="1200"/>
              </a:spcAft>
            </a:pPr>
            <a:r>
              <a:rPr lang="en-AU" sz="2200" dirty="0" smtClean="0">
                <a:latin typeface="Helvetica" pitchFamily="34" charset="0"/>
              </a:rPr>
              <a:t>Individual abilities </a:t>
            </a:r>
          </a:p>
          <a:p>
            <a:pPr>
              <a:spcBef>
                <a:spcPts val="600"/>
              </a:spcBef>
              <a:spcAft>
                <a:spcPts val="1200"/>
              </a:spcAft>
            </a:pPr>
            <a:r>
              <a:rPr lang="en-AU" sz="2200" dirty="0" smtClean="0">
                <a:latin typeface="Helvetica" pitchFamily="34" charset="0"/>
              </a:rPr>
              <a:t>Learning needs</a:t>
            </a:r>
          </a:p>
          <a:p>
            <a:pPr>
              <a:spcBef>
                <a:spcPts val="600"/>
              </a:spcBef>
              <a:spcAft>
                <a:spcPts val="1200"/>
              </a:spcAft>
              <a:buNone/>
            </a:pPr>
            <a:r>
              <a:rPr lang="en-AU" sz="2200" i="1" dirty="0" smtClean="0">
                <a:latin typeface="Helvetica" pitchFamily="34" charset="0"/>
              </a:rPr>
              <a:t>(continued)</a:t>
            </a:r>
            <a:endParaRPr lang="en-AU" sz="2200" i="1" dirty="0" smtClean="0"/>
          </a:p>
          <a:p>
            <a:endParaRPr lang="en-AU" sz="2400" b="1" dirty="0" smtClean="0"/>
          </a:p>
          <a:p>
            <a:endParaRPr lang="en-AU" sz="2400" b="1" dirty="0" smtClean="0"/>
          </a:p>
          <a:p>
            <a:endParaRPr lang="en-US" sz="2400" dirty="0" smtClean="0"/>
          </a:p>
          <a:p>
            <a:pPr>
              <a:buNone/>
            </a:pPr>
            <a:endParaRPr lang="en-AU" sz="2400" dirty="0" smtClean="0"/>
          </a:p>
          <a:p>
            <a:pPr lvl="0">
              <a:spcBef>
                <a:spcPts val="600"/>
              </a:spcBef>
              <a:spcAft>
                <a:spcPts val="1200"/>
              </a:spcAft>
              <a:buNone/>
            </a:pPr>
            <a:endParaRPr lang="en-AU" sz="2200" dirty="0" smtClean="0">
              <a:latin typeface="Helvetica" pitchFamily="34" charset="0"/>
            </a:endParaRPr>
          </a:p>
          <a:p>
            <a:pPr lvl="0"/>
            <a:endParaRPr lang="en-AU" sz="2400" dirty="0" smtClean="0"/>
          </a:p>
          <a:p>
            <a:pPr lvl="0">
              <a:buNone/>
            </a:pPr>
            <a:endParaRPr lang="en-AU" sz="2400" dirty="0"/>
          </a:p>
        </p:txBody>
      </p:sp>
      <p:sp>
        <p:nvSpPr>
          <p:cNvPr id="4" name="Slide Number Placeholder 3"/>
          <p:cNvSpPr>
            <a:spLocks noGrp="1"/>
          </p:cNvSpPr>
          <p:nvPr>
            <p:ph type="sldNum" sz="quarter" idx="12"/>
          </p:nvPr>
        </p:nvSpPr>
        <p:spPr/>
        <p:txBody>
          <a:bodyPr/>
          <a:lstStyle/>
          <a:p>
            <a:r>
              <a:rPr lang="en-US" dirty="0" smtClean="0"/>
              <a:t> </a:t>
            </a:r>
            <a:r>
              <a:rPr lang="en-US" sz="1100" dirty="0" smtClean="0">
                <a:latin typeface="Helvetica" pitchFamily="34" charset="0"/>
              </a:rPr>
              <a:t>Slide </a:t>
            </a:r>
            <a:fld id="{90BDF71C-F485-43AE-8825-5070AF1EA8C9}" type="slidenum">
              <a:rPr lang="en-US" sz="1100" smtClean="0">
                <a:latin typeface="Helvetica" pitchFamily="34" charset="0"/>
              </a:rPr>
              <a:pPr/>
              <a:t>54</a:t>
            </a:fld>
            <a:endParaRPr lang="en-US" sz="1100" dirty="0">
              <a:latin typeface="Helvetica" pitchFamily="34" charset="0"/>
            </a:endParaRPr>
          </a:p>
        </p:txBody>
      </p:sp>
      <p:pic>
        <p:nvPicPr>
          <p:cNvPr id="5" name="Picture 4" descr="1.jpg"/>
          <p:cNvPicPr/>
          <p:nvPr/>
        </p:nvPicPr>
        <p:blipFill>
          <a:blip r:embed="rId3" cstate="print"/>
          <a:stretch>
            <a:fillRect/>
          </a:stretch>
        </p:blipFill>
        <p:spPr>
          <a:xfrm>
            <a:off x="5868144" y="2564904"/>
            <a:ext cx="2134344" cy="1493317"/>
          </a:xfrm>
          <a:prstGeom prst="rect">
            <a:avLst/>
          </a:prstGeom>
        </p:spPr>
      </p:pic>
    </p:spTree>
  </p:cSld>
  <p:clrMapOvr>
    <a:masterClrMapping/>
  </p:clrMapOvr>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992888" cy="1143000"/>
          </a:xfrm>
        </p:spPr>
        <p:txBody>
          <a:bodyPr>
            <a:normAutofit/>
          </a:bodyPr>
          <a:lstStyle/>
          <a:p>
            <a:r>
              <a:rPr lang="en-US" sz="3400" b="1" dirty="0" smtClean="0">
                <a:solidFill>
                  <a:srgbClr val="FF6600"/>
                </a:solidFill>
                <a:latin typeface="Helvetica" pitchFamily="34" charset="0"/>
              </a:rPr>
              <a:t>Understand the learner</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5301208"/>
          </a:xfrm>
        </p:spPr>
        <p:txBody>
          <a:bodyPr>
            <a:normAutofit/>
          </a:bodyPr>
          <a:lstStyle/>
          <a:p>
            <a:pPr>
              <a:spcBef>
                <a:spcPts val="600"/>
              </a:spcBef>
              <a:spcAft>
                <a:spcPts val="1200"/>
              </a:spcAft>
              <a:buNone/>
            </a:pPr>
            <a:r>
              <a:rPr lang="en-AU" sz="2200" b="1" dirty="0" smtClean="0">
                <a:latin typeface="Helvetica" pitchFamily="34" charset="0"/>
              </a:rPr>
              <a:t>Everyone is different</a:t>
            </a:r>
          </a:p>
          <a:p>
            <a:pPr>
              <a:spcBef>
                <a:spcPts val="600"/>
              </a:spcBef>
              <a:spcAft>
                <a:spcPts val="1200"/>
              </a:spcAft>
            </a:pPr>
            <a:r>
              <a:rPr lang="en-AU" sz="2200" dirty="0" smtClean="0">
                <a:latin typeface="Helvetica" pitchFamily="34" charset="0"/>
              </a:rPr>
              <a:t>Preferred learning styles</a:t>
            </a:r>
          </a:p>
          <a:p>
            <a:pPr>
              <a:spcBef>
                <a:spcPts val="600"/>
              </a:spcBef>
              <a:spcAft>
                <a:spcPts val="1200"/>
              </a:spcAft>
            </a:pPr>
            <a:r>
              <a:rPr lang="en-AU" sz="2200" dirty="0" smtClean="0">
                <a:latin typeface="Helvetica" pitchFamily="34" charset="0"/>
              </a:rPr>
              <a:t>Speed of learning</a:t>
            </a:r>
          </a:p>
          <a:p>
            <a:pPr>
              <a:spcBef>
                <a:spcPts val="600"/>
              </a:spcBef>
              <a:spcAft>
                <a:spcPts val="1200"/>
              </a:spcAft>
            </a:pPr>
            <a:r>
              <a:rPr lang="en-AU" sz="2200" dirty="0" smtClean="0">
                <a:latin typeface="Helvetica" pitchFamily="34" charset="0"/>
              </a:rPr>
              <a:t>Socio-economic status</a:t>
            </a:r>
          </a:p>
          <a:p>
            <a:pPr>
              <a:spcBef>
                <a:spcPts val="600"/>
              </a:spcBef>
              <a:spcAft>
                <a:spcPts val="1200"/>
              </a:spcAft>
            </a:pPr>
            <a:r>
              <a:rPr lang="en-AU" sz="2200" dirty="0" smtClean="0">
                <a:latin typeface="Helvetica" pitchFamily="34" charset="0"/>
              </a:rPr>
              <a:t>Aspirations</a:t>
            </a:r>
          </a:p>
          <a:p>
            <a:pPr>
              <a:spcBef>
                <a:spcPts val="600"/>
              </a:spcBef>
              <a:spcAft>
                <a:spcPts val="1200"/>
              </a:spcAft>
            </a:pPr>
            <a:r>
              <a:rPr lang="en-AU" sz="2200" dirty="0" smtClean="0">
                <a:latin typeface="Helvetica" pitchFamily="34" charset="0"/>
              </a:rPr>
              <a:t>Motivation</a:t>
            </a:r>
          </a:p>
          <a:p>
            <a:pPr>
              <a:spcBef>
                <a:spcPts val="600"/>
              </a:spcBef>
              <a:spcAft>
                <a:spcPts val="1200"/>
              </a:spcAft>
            </a:pPr>
            <a:r>
              <a:rPr lang="en-AU" sz="2200" dirty="0" smtClean="0">
                <a:latin typeface="Helvetica" pitchFamily="34" charset="0"/>
              </a:rPr>
              <a:t>Family situation</a:t>
            </a:r>
          </a:p>
          <a:p>
            <a:pPr marL="0">
              <a:spcBef>
                <a:spcPts val="600"/>
              </a:spcBef>
              <a:spcAft>
                <a:spcPts val="1200"/>
              </a:spcAft>
              <a:buNone/>
            </a:pPr>
            <a:endParaRPr lang="en-AU" sz="2200" dirty="0" smtClean="0">
              <a:latin typeface="Helvetica" pitchFamily="34" charset="0"/>
            </a:endParaRPr>
          </a:p>
          <a:p>
            <a:endParaRPr lang="en-AU" sz="2400" b="1" dirty="0" smtClean="0"/>
          </a:p>
          <a:p>
            <a:endParaRPr lang="en-AU" sz="2400" b="1" dirty="0" smtClean="0"/>
          </a:p>
          <a:p>
            <a:endParaRPr lang="en-AU" sz="2400" b="1" dirty="0" smtClean="0"/>
          </a:p>
          <a:p>
            <a:endParaRPr lang="en-US" sz="2400" dirty="0" smtClean="0"/>
          </a:p>
          <a:p>
            <a:pPr>
              <a:buNone/>
            </a:pPr>
            <a:endParaRPr lang="en-AU" sz="2400" dirty="0" smtClean="0"/>
          </a:p>
          <a:p>
            <a:pPr lvl="0">
              <a:spcBef>
                <a:spcPts val="600"/>
              </a:spcBef>
              <a:spcAft>
                <a:spcPts val="1200"/>
              </a:spcAft>
              <a:buNone/>
            </a:pPr>
            <a:endParaRPr lang="en-AU" sz="2200" dirty="0" smtClean="0">
              <a:latin typeface="Helvetica" pitchFamily="34" charset="0"/>
            </a:endParaRPr>
          </a:p>
          <a:p>
            <a:pPr lvl="0"/>
            <a:endParaRPr lang="en-AU" sz="2400" dirty="0" smtClean="0"/>
          </a:p>
          <a:p>
            <a:pPr lvl="0">
              <a:buNone/>
            </a:pPr>
            <a:endParaRPr lang="en-AU" sz="2400" dirty="0"/>
          </a:p>
        </p:txBody>
      </p:sp>
      <p:sp>
        <p:nvSpPr>
          <p:cNvPr id="4" name="Slide Number Placeholder 3"/>
          <p:cNvSpPr>
            <a:spLocks noGrp="1"/>
          </p:cNvSpPr>
          <p:nvPr>
            <p:ph type="sldNum" sz="quarter" idx="12"/>
          </p:nvPr>
        </p:nvSpPr>
        <p:spPr/>
        <p:txBody>
          <a:bodyPr/>
          <a:lstStyle/>
          <a:p>
            <a:r>
              <a:rPr lang="en-US" dirty="0" smtClean="0"/>
              <a:t> </a:t>
            </a:r>
            <a:r>
              <a:rPr lang="en-US" sz="1100" dirty="0" smtClean="0">
                <a:latin typeface="Helvetica" pitchFamily="34" charset="0"/>
              </a:rPr>
              <a:t>Slide </a:t>
            </a:r>
            <a:fld id="{90BDF71C-F485-43AE-8825-5070AF1EA8C9}" type="slidenum">
              <a:rPr lang="en-US" sz="1100" smtClean="0">
                <a:latin typeface="Helvetica" pitchFamily="34" charset="0"/>
              </a:rPr>
              <a:pPr/>
              <a:t>55</a:t>
            </a:fld>
            <a:endParaRPr lang="en-US" sz="1100" dirty="0">
              <a:latin typeface="Helvetica" pitchFamily="34" charset="0"/>
            </a:endParaRPr>
          </a:p>
        </p:txBody>
      </p:sp>
      <p:pic>
        <p:nvPicPr>
          <p:cNvPr id="5" name="Picture 4" descr="MP900409038[1].JPG"/>
          <p:cNvPicPr>
            <a:picLocks noChangeAspect="1"/>
          </p:cNvPicPr>
          <p:nvPr/>
        </p:nvPicPr>
        <p:blipFill>
          <a:blip r:embed="rId3" cstate="print"/>
          <a:stretch>
            <a:fillRect/>
          </a:stretch>
        </p:blipFill>
        <p:spPr>
          <a:xfrm>
            <a:off x="5868144" y="2204864"/>
            <a:ext cx="1851670" cy="2468893"/>
          </a:xfrm>
          <a:prstGeom prst="rect">
            <a:avLst/>
          </a:prstGeom>
        </p:spPr>
      </p:pic>
    </p:spTree>
  </p:cSld>
  <p:clrMapOvr>
    <a:masterClrMapping/>
  </p:clrMapOvr>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992888" cy="1143000"/>
          </a:xfrm>
        </p:spPr>
        <p:txBody>
          <a:bodyPr>
            <a:normAutofit/>
          </a:bodyPr>
          <a:lstStyle/>
          <a:p>
            <a:r>
              <a:rPr lang="en-US" sz="3400" b="1" dirty="0" smtClean="0">
                <a:solidFill>
                  <a:srgbClr val="FF6600"/>
                </a:solidFill>
                <a:latin typeface="Helvetica" pitchFamily="34" charset="0"/>
              </a:rPr>
              <a:t>Understand the learner</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776864" cy="5301208"/>
          </a:xfrm>
        </p:spPr>
        <p:txBody>
          <a:bodyPr>
            <a:normAutofit/>
          </a:bodyPr>
          <a:lstStyle/>
          <a:p>
            <a:pPr>
              <a:spcBef>
                <a:spcPts val="600"/>
              </a:spcBef>
              <a:spcAft>
                <a:spcPts val="1200"/>
              </a:spcAft>
              <a:buNone/>
            </a:pPr>
            <a:r>
              <a:rPr lang="en-AU" sz="2200" b="1" dirty="0" smtClean="0">
                <a:latin typeface="Helvetica" pitchFamily="34" charset="0"/>
              </a:rPr>
              <a:t>Adult learners</a:t>
            </a:r>
          </a:p>
          <a:p>
            <a:pPr>
              <a:spcBef>
                <a:spcPts val="600"/>
              </a:spcBef>
              <a:spcAft>
                <a:spcPts val="1200"/>
              </a:spcAft>
            </a:pPr>
            <a:r>
              <a:rPr lang="en-AU" sz="2200" dirty="0" smtClean="0">
                <a:latin typeface="Helvetica" pitchFamily="34" charset="0"/>
              </a:rPr>
              <a:t>Part of being an effective instructor involves understanding how adults learn best</a:t>
            </a:r>
          </a:p>
          <a:p>
            <a:pPr>
              <a:spcBef>
                <a:spcPts val="600"/>
              </a:spcBef>
              <a:spcAft>
                <a:spcPts val="1200"/>
              </a:spcAft>
            </a:pPr>
            <a:r>
              <a:rPr lang="en-AU" sz="2200" dirty="0" smtClean="0">
                <a:latin typeface="Helvetica" pitchFamily="34" charset="0"/>
              </a:rPr>
              <a:t>Compared to children and teens, adults have </a:t>
            </a:r>
            <a:br>
              <a:rPr lang="en-AU" sz="2200" dirty="0" smtClean="0">
                <a:latin typeface="Helvetica" pitchFamily="34" charset="0"/>
              </a:rPr>
            </a:br>
            <a:r>
              <a:rPr lang="en-AU" sz="2200" dirty="0" smtClean="0">
                <a:latin typeface="Helvetica" pitchFamily="34" charset="0"/>
              </a:rPr>
              <a:t>special needs and requirements as learners</a:t>
            </a:r>
          </a:p>
          <a:p>
            <a:pPr>
              <a:spcBef>
                <a:spcPts val="600"/>
              </a:spcBef>
              <a:spcAft>
                <a:spcPts val="1200"/>
              </a:spcAft>
            </a:pPr>
            <a:r>
              <a:rPr lang="en-AU" sz="2200" dirty="0" smtClean="0">
                <a:latin typeface="Helvetica" pitchFamily="34" charset="0"/>
              </a:rPr>
              <a:t>What are the characteristics and needs of adult learners?</a:t>
            </a:r>
          </a:p>
          <a:p>
            <a:pPr lvl="0">
              <a:spcBef>
                <a:spcPts val="600"/>
              </a:spcBef>
              <a:spcAft>
                <a:spcPts val="1200"/>
              </a:spcAft>
              <a:buNone/>
            </a:pPr>
            <a:r>
              <a:rPr lang="en-AU" sz="2000" i="1" dirty="0" smtClean="0">
                <a:latin typeface="Helvetica" pitchFamily="34" charset="0"/>
              </a:rPr>
              <a:t>(continued)</a:t>
            </a:r>
            <a:endParaRPr lang="en-AU" sz="2200" dirty="0" smtClean="0">
              <a:latin typeface="Helvetica" pitchFamily="34" charset="0"/>
            </a:endParaRPr>
          </a:p>
          <a:p>
            <a:endParaRPr lang="en-AU" sz="2400" b="1" dirty="0" smtClean="0"/>
          </a:p>
          <a:p>
            <a:endParaRPr lang="en-AU" sz="2400" b="1" dirty="0" smtClean="0"/>
          </a:p>
          <a:p>
            <a:endParaRPr lang="en-AU" sz="2400" b="1" dirty="0" smtClean="0"/>
          </a:p>
          <a:p>
            <a:endParaRPr lang="en-US" sz="2400" dirty="0" smtClean="0"/>
          </a:p>
          <a:p>
            <a:pPr>
              <a:buNone/>
            </a:pPr>
            <a:endParaRPr lang="en-AU" sz="2400" dirty="0" smtClean="0"/>
          </a:p>
          <a:p>
            <a:pPr lvl="0">
              <a:spcBef>
                <a:spcPts val="600"/>
              </a:spcBef>
              <a:spcAft>
                <a:spcPts val="1200"/>
              </a:spcAft>
              <a:buNone/>
            </a:pPr>
            <a:endParaRPr lang="en-AU" sz="2200" dirty="0" smtClean="0">
              <a:latin typeface="Helvetica" pitchFamily="34" charset="0"/>
            </a:endParaRPr>
          </a:p>
          <a:p>
            <a:pPr lvl="0"/>
            <a:endParaRPr lang="en-AU" sz="2400" dirty="0" smtClean="0"/>
          </a:p>
          <a:p>
            <a:pPr lvl="0">
              <a:buNone/>
            </a:pPr>
            <a:endParaRPr lang="en-AU" sz="2400" dirty="0"/>
          </a:p>
        </p:txBody>
      </p:sp>
      <p:sp>
        <p:nvSpPr>
          <p:cNvPr id="4" name="Slide Number Placeholder 3"/>
          <p:cNvSpPr>
            <a:spLocks noGrp="1"/>
          </p:cNvSpPr>
          <p:nvPr>
            <p:ph type="sldNum" sz="quarter" idx="12"/>
          </p:nvPr>
        </p:nvSpPr>
        <p:spPr/>
        <p:txBody>
          <a:bodyPr/>
          <a:lstStyle/>
          <a:p>
            <a:r>
              <a:rPr lang="en-US" dirty="0" smtClean="0"/>
              <a:t> </a:t>
            </a:r>
            <a:r>
              <a:rPr lang="en-US" sz="1100" dirty="0" smtClean="0">
                <a:latin typeface="Helvetica" pitchFamily="34" charset="0"/>
              </a:rPr>
              <a:t>Slide </a:t>
            </a:r>
            <a:fld id="{90BDF71C-F485-43AE-8825-5070AF1EA8C9}" type="slidenum">
              <a:rPr lang="en-US" sz="1100" smtClean="0">
                <a:latin typeface="Helvetica" pitchFamily="34" charset="0"/>
              </a:rPr>
              <a:pPr/>
              <a:t>56</a:t>
            </a:fld>
            <a:endParaRPr lang="en-US" sz="1100" dirty="0">
              <a:latin typeface="Helvetica" pitchFamily="34" charset="0"/>
            </a:endParaRPr>
          </a:p>
        </p:txBody>
      </p:sp>
      <p:pic>
        <p:nvPicPr>
          <p:cNvPr id="7" name="Picture 6" descr="MP900316786.JPG"/>
          <p:cNvPicPr>
            <a:picLocks noChangeAspect="1"/>
          </p:cNvPicPr>
          <p:nvPr/>
        </p:nvPicPr>
        <p:blipFill>
          <a:blip r:embed="rId3" cstate="print"/>
          <a:stretch>
            <a:fillRect/>
          </a:stretch>
        </p:blipFill>
        <p:spPr>
          <a:xfrm>
            <a:off x="3491880" y="4581128"/>
            <a:ext cx="2325452" cy="1550301"/>
          </a:xfrm>
          <a:prstGeom prst="rect">
            <a:avLst/>
          </a:prstGeom>
        </p:spPr>
      </p:pic>
    </p:spTree>
  </p:cSld>
  <p:clrMapOvr>
    <a:masterClrMapping/>
  </p:clrMapOvr>
  <p:timing>
    <p:tnLst>
      <p:par>
        <p:cT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992888" cy="1143000"/>
          </a:xfrm>
        </p:spPr>
        <p:txBody>
          <a:bodyPr>
            <a:normAutofit/>
          </a:bodyPr>
          <a:lstStyle/>
          <a:p>
            <a:r>
              <a:rPr lang="en-US" sz="3400" b="1" dirty="0" smtClean="0">
                <a:solidFill>
                  <a:srgbClr val="FF6600"/>
                </a:solidFill>
                <a:latin typeface="Helvetica" pitchFamily="34" charset="0"/>
              </a:rPr>
              <a:t>Understand the learner</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412776"/>
            <a:ext cx="8064896" cy="5445224"/>
          </a:xfrm>
        </p:spPr>
        <p:txBody>
          <a:bodyPr>
            <a:normAutofit/>
          </a:bodyPr>
          <a:lstStyle/>
          <a:p>
            <a:pPr>
              <a:spcBef>
                <a:spcPts val="600"/>
              </a:spcBef>
              <a:spcAft>
                <a:spcPts val="1200"/>
              </a:spcAft>
              <a:buNone/>
            </a:pPr>
            <a:r>
              <a:rPr lang="en-AU" sz="2200" b="1" dirty="0" smtClean="0">
                <a:latin typeface="Helvetica" pitchFamily="34" charset="0"/>
              </a:rPr>
              <a:t>Adult learners</a:t>
            </a:r>
          </a:p>
          <a:p>
            <a:pPr lvl="0">
              <a:spcBef>
                <a:spcPts val="600"/>
              </a:spcBef>
              <a:spcAft>
                <a:spcPts val="1200"/>
              </a:spcAft>
            </a:pPr>
            <a:r>
              <a:rPr lang="en-AU" sz="2200" dirty="0" smtClean="0">
                <a:latin typeface="Helvetica" pitchFamily="34" charset="0"/>
              </a:rPr>
              <a:t>Are autonomous and self-directed </a:t>
            </a:r>
          </a:p>
          <a:p>
            <a:pPr>
              <a:spcBef>
                <a:spcPts val="600"/>
              </a:spcBef>
              <a:spcAft>
                <a:spcPts val="1200"/>
              </a:spcAft>
            </a:pPr>
            <a:r>
              <a:rPr lang="en-AU" sz="2200" dirty="0" smtClean="0">
                <a:latin typeface="Helvetica" pitchFamily="34" charset="0"/>
              </a:rPr>
              <a:t>Have accumulated a foundation of life experiences and knowledge </a:t>
            </a:r>
          </a:p>
          <a:p>
            <a:pPr>
              <a:spcBef>
                <a:spcPts val="600"/>
              </a:spcBef>
              <a:spcAft>
                <a:spcPts val="1200"/>
              </a:spcAft>
            </a:pPr>
            <a:r>
              <a:rPr lang="en-AU" sz="2200" dirty="0" smtClean="0">
                <a:latin typeface="Helvetica" pitchFamily="34" charset="0"/>
              </a:rPr>
              <a:t>Are goal-oriented</a:t>
            </a:r>
          </a:p>
          <a:p>
            <a:pPr>
              <a:spcBef>
                <a:spcPts val="600"/>
              </a:spcBef>
              <a:spcAft>
                <a:spcPts val="1200"/>
              </a:spcAft>
            </a:pPr>
            <a:r>
              <a:rPr lang="en-AU" sz="2200" dirty="0" smtClean="0">
                <a:latin typeface="Helvetica" pitchFamily="34" charset="0"/>
              </a:rPr>
              <a:t>Are relevancy-oriented</a:t>
            </a:r>
          </a:p>
          <a:p>
            <a:pPr>
              <a:spcBef>
                <a:spcPts val="600"/>
              </a:spcBef>
              <a:spcAft>
                <a:spcPts val="1200"/>
              </a:spcAft>
            </a:pPr>
            <a:r>
              <a:rPr lang="en-AU" sz="2200" dirty="0" smtClean="0">
                <a:latin typeface="Helvetica" pitchFamily="34" charset="0"/>
              </a:rPr>
              <a:t>Are practical</a:t>
            </a:r>
          </a:p>
          <a:p>
            <a:pPr>
              <a:spcBef>
                <a:spcPts val="600"/>
              </a:spcBef>
              <a:spcAft>
                <a:spcPts val="1200"/>
              </a:spcAft>
            </a:pPr>
            <a:r>
              <a:rPr lang="en-AU" sz="2200" dirty="0" smtClean="0">
                <a:latin typeface="Helvetica" pitchFamily="34" charset="0"/>
              </a:rPr>
              <a:t>Need to be shown respect</a:t>
            </a:r>
          </a:p>
          <a:p>
            <a:pPr>
              <a:spcBef>
                <a:spcPts val="600"/>
              </a:spcBef>
              <a:spcAft>
                <a:spcPts val="1200"/>
              </a:spcAft>
            </a:pPr>
            <a:r>
              <a:rPr lang="en-AU" sz="2200" dirty="0" smtClean="0">
                <a:latin typeface="Helvetica" pitchFamily="34" charset="0"/>
              </a:rPr>
              <a:t>Are motivated differently</a:t>
            </a:r>
          </a:p>
          <a:p>
            <a:endParaRPr lang="en-AU" sz="2400" b="1" dirty="0" smtClean="0"/>
          </a:p>
          <a:p>
            <a:endParaRPr lang="en-AU" sz="2400" b="1" dirty="0" smtClean="0"/>
          </a:p>
          <a:p>
            <a:endParaRPr lang="en-US" sz="2400" dirty="0" smtClean="0"/>
          </a:p>
          <a:p>
            <a:pPr>
              <a:buNone/>
            </a:pPr>
            <a:endParaRPr lang="en-AU" sz="2400" dirty="0" smtClean="0"/>
          </a:p>
          <a:p>
            <a:pPr lvl="0">
              <a:spcBef>
                <a:spcPts val="600"/>
              </a:spcBef>
              <a:spcAft>
                <a:spcPts val="1200"/>
              </a:spcAft>
              <a:buNone/>
            </a:pPr>
            <a:endParaRPr lang="en-AU" sz="2200" dirty="0" smtClean="0">
              <a:latin typeface="Helvetica" pitchFamily="34" charset="0"/>
            </a:endParaRPr>
          </a:p>
          <a:p>
            <a:pPr lvl="0"/>
            <a:endParaRPr lang="en-AU" sz="2400" dirty="0" smtClean="0"/>
          </a:p>
          <a:p>
            <a:pPr lvl="0">
              <a:buNone/>
            </a:pPr>
            <a:endParaRPr lang="en-AU" sz="2400" dirty="0"/>
          </a:p>
        </p:txBody>
      </p:sp>
      <p:sp>
        <p:nvSpPr>
          <p:cNvPr id="4" name="Slide Number Placeholder 3"/>
          <p:cNvSpPr>
            <a:spLocks noGrp="1"/>
          </p:cNvSpPr>
          <p:nvPr>
            <p:ph type="sldNum" sz="quarter" idx="12"/>
          </p:nvPr>
        </p:nvSpPr>
        <p:spPr>
          <a:xfrm>
            <a:off x="8130480" y="6448251"/>
            <a:ext cx="762000" cy="365125"/>
          </a:xfrm>
        </p:spPr>
        <p:txBody>
          <a:bodyPr/>
          <a:lstStyle/>
          <a:p>
            <a:r>
              <a:rPr lang="en-US" dirty="0" smtClean="0"/>
              <a:t> </a:t>
            </a:r>
            <a:r>
              <a:rPr lang="en-US" sz="1100" dirty="0" smtClean="0">
                <a:latin typeface="Helvetica" pitchFamily="34" charset="0"/>
              </a:rPr>
              <a:t>Slide </a:t>
            </a:r>
            <a:fld id="{90BDF71C-F485-43AE-8825-5070AF1EA8C9}" type="slidenum">
              <a:rPr lang="en-US" sz="1100" smtClean="0">
                <a:latin typeface="Helvetica" pitchFamily="34" charset="0"/>
              </a:rPr>
              <a:pPr/>
              <a:t>57</a:t>
            </a:fld>
            <a:endParaRPr lang="en-US" sz="1100" dirty="0">
              <a:latin typeface="Helvetica" pitchFamily="34" charset="0"/>
            </a:endParaRPr>
          </a:p>
        </p:txBody>
      </p:sp>
      <p:pic>
        <p:nvPicPr>
          <p:cNvPr id="6" name="Picture 5" descr="MP900422775.JPG"/>
          <p:cNvPicPr>
            <a:picLocks noChangeAspect="1"/>
          </p:cNvPicPr>
          <p:nvPr/>
        </p:nvPicPr>
        <p:blipFill>
          <a:blip r:embed="rId3" cstate="print"/>
          <a:stretch>
            <a:fillRect/>
          </a:stretch>
        </p:blipFill>
        <p:spPr>
          <a:xfrm>
            <a:off x="5940152" y="3284984"/>
            <a:ext cx="1988840" cy="1988840"/>
          </a:xfrm>
          <a:prstGeom prst="rect">
            <a:avLst/>
          </a:prstGeom>
        </p:spPr>
      </p:pic>
    </p:spTree>
  </p:cSld>
  <p:clrMapOvr>
    <a:masterClrMapping/>
  </p:clrMapOvr>
  <p:timing>
    <p:tnLst>
      <p:par>
        <p:cTn id="1" dur="indefinite" restart="never" nodeType="tmRoot"/>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992888" cy="1143000"/>
          </a:xfrm>
        </p:spPr>
        <p:txBody>
          <a:bodyPr>
            <a:normAutofit/>
          </a:bodyPr>
          <a:lstStyle/>
          <a:p>
            <a:r>
              <a:rPr lang="en-US" sz="3400" b="1" dirty="0" smtClean="0">
                <a:solidFill>
                  <a:srgbClr val="FF6600"/>
                </a:solidFill>
                <a:latin typeface="Helvetica" pitchFamily="34" charset="0"/>
              </a:rPr>
              <a:t>Identify training barriers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412776"/>
            <a:ext cx="7467600" cy="5445224"/>
          </a:xfrm>
        </p:spPr>
        <p:txBody>
          <a:bodyPr>
            <a:normAutofit/>
          </a:bodyPr>
          <a:lstStyle/>
          <a:p>
            <a:pPr marL="0">
              <a:spcBef>
                <a:spcPts val="600"/>
              </a:spcBef>
              <a:spcAft>
                <a:spcPts val="1200"/>
              </a:spcAft>
              <a:buNone/>
            </a:pPr>
            <a:r>
              <a:rPr lang="en-AU" sz="2200" dirty="0" smtClean="0">
                <a:latin typeface="Helvetica" pitchFamily="34" charset="0"/>
              </a:rPr>
              <a:t>These barriers can manifest themselves in three principal ways. </a:t>
            </a:r>
          </a:p>
          <a:p>
            <a:pPr lvl="0">
              <a:spcBef>
                <a:spcPts val="600"/>
              </a:spcBef>
              <a:spcAft>
                <a:spcPts val="1200"/>
              </a:spcAft>
            </a:pPr>
            <a:r>
              <a:rPr lang="en-AU" sz="2200" dirty="0" smtClean="0">
                <a:latin typeface="Helvetica" pitchFamily="34" charset="0"/>
              </a:rPr>
              <a:t>The attitude of the trainer</a:t>
            </a:r>
          </a:p>
          <a:p>
            <a:pPr lvl="0">
              <a:spcBef>
                <a:spcPts val="600"/>
              </a:spcBef>
              <a:spcAft>
                <a:spcPts val="1200"/>
              </a:spcAft>
            </a:pPr>
            <a:r>
              <a:rPr lang="en-AU" sz="2200" dirty="0" smtClean="0">
                <a:latin typeface="Helvetica" pitchFamily="34" charset="0"/>
              </a:rPr>
              <a:t> The physical environment for training appropriate</a:t>
            </a:r>
          </a:p>
          <a:p>
            <a:pPr>
              <a:spcBef>
                <a:spcPts val="600"/>
              </a:spcBef>
              <a:spcAft>
                <a:spcPts val="1200"/>
              </a:spcAft>
            </a:pPr>
            <a:r>
              <a:rPr lang="en-AU" sz="2200" dirty="0" smtClean="0">
                <a:latin typeface="Helvetica" pitchFamily="34" charset="0"/>
              </a:rPr>
              <a:t> The actual group itself</a:t>
            </a:r>
            <a:endParaRPr lang="en-AU" sz="2200" b="1" dirty="0" smtClean="0">
              <a:latin typeface="Helvetica" pitchFamily="34" charset="0"/>
            </a:endParaRPr>
          </a:p>
          <a:p>
            <a:endParaRPr lang="en-AU" sz="2400" b="1" dirty="0" smtClean="0"/>
          </a:p>
          <a:p>
            <a:endParaRPr lang="en-US" sz="2400" dirty="0" smtClean="0"/>
          </a:p>
          <a:p>
            <a:pPr>
              <a:buNone/>
            </a:pPr>
            <a:endParaRPr lang="en-AU" sz="2400" dirty="0" smtClean="0"/>
          </a:p>
          <a:p>
            <a:pPr lvl="0">
              <a:spcBef>
                <a:spcPts val="600"/>
              </a:spcBef>
              <a:spcAft>
                <a:spcPts val="1200"/>
              </a:spcAft>
              <a:buNone/>
            </a:pPr>
            <a:endParaRPr lang="en-AU" sz="2200" dirty="0" smtClean="0">
              <a:latin typeface="Helvetica" pitchFamily="34" charset="0"/>
            </a:endParaRPr>
          </a:p>
          <a:p>
            <a:pPr lvl="0"/>
            <a:endParaRPr lang="en-AU" sz="2400" dirty="0" smtClean="0"/>
          </a:p>
          <a:p>
            <a:pPr lvl="0">
              <a:buNone/>
            </a:pPr>
            <a:endParaRPr lang="en-AU" sz="2400" dirty="0"/>
          </a:p>
        </p:txBody>
      </p:sp>
      <p:sp>
        <p:nvSpPr>
          <p:cNvPr id="4" name="Slide Number Placeholder 3"/>
          <p:cNvSpPr>
            <a:spLocks noGrp="1"/>
          </p:cNvSpPr>
          <p:nvPr>
            <p:ph type="sldNum" sz="quarter" idx="12"/>
          </p:nvPr>
        </p:nvSpPr>
        <p:spPr>
          <a:xfrm>
            <a:off x="8130480" y="6448251"/>
            <a:ext cx="762000" cy="365125"/>
          </a:xfrm>
        </p:spPr>
        <p:txBody>
          <a:bodyPr/>
          <a:lstStyle/>
          <a:p>
            <a:r>
              <a:rPr lang="en-US" dirty="0" smtClean="0"/>
              <a:t> </a:t>
            </a:r>
            <a:r>
              <a:rPr lang="en-US" sz="1100" dirty="0" smtClean="0">
                <a:latin typeface="Helvetica" pitchFamily="34" charset="0"/>
              </a:rPr>
              <a:t>Slide </a:t>
            </a:r>
            <a:fld id="{90BDF71C-F485-43AE-8825-5070AF1EA8C9}" type="slidenum">
              <a:rPr lang="en-US" sz="1100" smtClean="0">
                <a:latin typeface="Helvetica" pitchFamily="34" charset="0"/>
              </a:rPr>
              <a:pPr/>
              <a:t>58</a:t>
            </a:fld>
            <a:endParaRPr lang="en-US" sz="1100" dirty="0">
              <a:latin typeface="Helvetica" pitchFamily="34" charset="0"/>
            </a:endParaRPr>
          </a:p>
        </p:txBody>
      </p:sp>
      <p:pic>
        <p:nvPicPr>
          <p:cNvPr id="7" name="Picture 6" descr="MP900178834.JPG"/>
          <p:cNvPicPr>
            <a:picLocks noChangeAspect="1"/>
          </p:cNvPicPr>
          <p:nvPr/>
        </p:nvPicPr>
        <p:blipFill>
          <a:blip r:embed="rId3" cstate="print"/>
          <a:stretch>
            <a:fillRect/>
          </a:stretch>
        </p:blipFill>
        <p:spPr>
          <a:xfrm>
            <a:off x="3405572" y="4221088"/>
            <a:ext cx="2332856" cy="1547461"/>
          </a:xfrm>
          <a:prstGeom prst="rect">
            <a:avLst/>
          </a:prstGeom>
        </p:spPr>
      </p:pic>
    </p:spTree>
  </p:cSld>
  <p:clrMapOvr>
    <a:masterClrMapping/>
  </p:clrMapOvr>
  <p:timing>
    <p:tnLst>
      <p:par>
        <p:cTn id="1" dur="indefinite" restart="never" nodeType="tmRoot"/>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992888" cy="1143000"/>
          </a:xfrm>
        </p:spPr>
        <p:txBody>
          <a:bodyPr>
            <a:normAutofit/>
          </a:bodyPr>
          <a:lstStyle/>
          <a:p>
            <a:r>
              <a:rPr lang="en-US" sz="3200" b="1" dirty="0" smtClean="0">
                <a:solidFill>
                  <a:srgbClr val="FF6600"/>
                </a:solidFill>
                <a:latin typeface="Helvetica" pitchFamily="34" charset="0"/>
              </a:rPr>
              <a:t>Describe available benefits and support</a:t>
            </a:r>
            <a:endParaRPr lang="en-US" sz="3200" b="1" dirty="0">
              <a:solidFill>
                <a:srgbClr val="FF6600"/>
              </a:solidFill>
              <a:latin typeface="Helvetica" pitchFamily="34" charset="0"/>
            </a:endParaRPr>
          </a:p>
        </p:txBody>
      </p:sp>
      <p:sp>
        <p:nvSpPr>
          <p:cNvPr id="3" name="Content Placeholder 2"/>
          <p:cNvSpPr>
            <a:spLocks noGrp="1"/>
          </p:cNvSpPr>
          <p:nvPr>
            <p:ph idx="1"/>
          </p:nvPr>
        </p:nvSpPr>
        <p:spPr>
          <a:xfrm>
            <a:off x="611560" y="1412776"/>
            <a:ext cx="7467600" cy="5445224"/>
          </a:xfrm>
        </p:spPr>
        <p:txBody>
          <a:bodyPr>
            <a:normAutofit/>
          </a:bodyPr>
          <a:lstStyle/>
          <a:p>
            <a:pPr lvl="0">
              <a:spcBef>
                <a:spcPts val="600"/>
              </a:spcBef>
              <a:spcAft>
                <a:spcPts val="1200"/>
              </a:spcAft>
              <a:buNone/>
            </a:pPr>
            <a:r>
              <a:rPr lang="en-AU" sz="2200" dirty="0" smtClean="0">
                <a:latin typeface="Helvetica" pitchFamily="34" charset="0"/>
              </a:rPr>
              <a:t>Benefits that will flow from participation in training events:</a:t>
            </a:r>
          </a:p>
          <a:p>
            <a:pPr lvl="0">
              <a:spcBef>
                <a:spcPts val="600"/>
              </a:spcBef>
              <a:spcAft>
                <a:spcPts val="1200"/>
              </a:spcAft>
            </a:pPr>
            <a:r>
              <a:rPr lang="en-AU" sz="2200" dirty="0" smtClean="0">
                <a:latin typeface="Helvetica" pitchFamily="34" charset="0"/>
              </a:rPr>
              <a:t>Travel allowances</a:t>
            </a:r>
          </a:p>
          <a:p>
            <a:pPr lvl="0">
              <a:spcBef>
                <a:spcPts val="600"/>
              </a:spcBef>
              <a:spcAft>
                <a:spcPts val="1200"/>
              </a:spcAft>
            </a:pPr>
            <a:r>
              <a:rPr lang="en-AU" sz="2200" dirty="0" smtClean="0">
                <a:latin typeface="Helvetica" pitchFamily="34" charset="0"/>
              </a:rPr>
              <a:t>Payment of fees and charges</a:t>
            </a:r>
          </a:p>
          <a:p>
            <a:pPr lvl="0">
              <a:spcBef>
                <a:spcPts val="600"/>
              </a:spcBef>
              <a:spcAft>
                <a:spcPts val="1200"/>
              </a:spcAft>
            </a:pPr>
            <a:r>
              <a:rPr lang="en-AU" sz="2200" dirty="0" smtClean="0">
                <a:latin typeface="Helvetica" pitchFamily="34" charset="0"/>
              </a:rPr>
              <a:t>Per diem allowances</a:t>
            </a:r>
          </a:p>
          <a:p>
            <a:pPr lvl="0">
              <a:spcBef>
                <a:spcPts val="600"/>
              </a:spcBef>
              <a:spcAft>
                <a:spcPts val="1200"/>
              </a:spcAft>
            </a:pPr>
            <a:r>
              <a:rPr lang="en-AU" sz="2200" dirty="0" smtClean="0">
                <a:latin typeface="Helvetica" pitchFamily="34" charset="0"/>
              </a:rPr>
              <a:t>Payment for meals and accommodation, where applicable</a:t>
            </a:r>
            <a:endParaRPr lang="en-US" sz="2400" dirty="0" smtClean="0"/>
          </a:p>
          <a:p>
            <a:pPr>
              <a:buNone/>
            </a:pPr>
            <a:endParaRPr lang="en-AU" sz="2400" dirty="0" smtClean="0"/>
          </a:p>
          <a:p>
            <a:pPr lvl="0">
              <a:spcBef>
                <a:spcPts val="600"/>
              </a:spcBef>
              <a:spcAft>
                <a:spcPts val="1200"/>
              </a:spcAft>
              <a:buNone/>
            </a:pPr>
            <a:endParaRPr lang="en-AU" sz="2200" dirty="0" smtClean="0">
              <a:latin typeface="Helvetica" pitchFamily="34" charset="0"/>
            </a:endParaRPr>
          </a:p>
          <a:p>
            <a:pPr lvl="0"/>
            <a:endParaRPr lang="en-AU" sz="2400" dirty="0" smtClean="0"/>
          </a:p>
          <a:p>
            <a:pPr lvl="0">
              <a:buNone/>
            </a:pPr>
            <a:endParaRPr lang="en-AU" sz="2400" dirty="0"/>
          </a:p>
        </p:txBody>
      </p:sp>
      <p:sp>
        <p:nvSpPr>
          <p:cNvPr id="4" name="Slide Number Placeholder 3"/>
          <p:cNvSpPr>
            <a:spLocks noGrp="1"/>
          </p:cNvSpPr>
          <p:nvPr>
            <p:ph type="sldNum" sz="quarter" idx="12"/>
          </p:nvPr>
        </p:nvSpPr>
        <p:spPr>
          <a:xfrm>
            <a:off x="8130480" y="6448251"/>
            <a:ext cx="762000" cy="365125"/>
          </a:xfrm>
        </p:spPr>
        <p:txBody>
          <a:bodyPr/>
          <a:lstStyle/>
          <a:p>
            <a:r>
              <a:rPr lang="en-US" dirty="0" smtClean="0"/>
              <a:t> </a:t>
            </a:r>
            <a:r>
              <a:rPr lang="en-US" sz="1100" dirty="0" smtClean="0">
                <a:latin typeface="Helvetica" pitchFamily="34" charset="0"/>
              </a:rPr>
              <a:t>Slide </a:t>
            </a:r>
            <a:fld id="{90BDF71C-F485-43AE-8825-5070AF1EA8C9}" type="slidenum">
              <a:rPr lang="en-US" sz="1100" smtClean="0">
                <a:latin typeface="Helvetica" pitchFamily="34" charset="0"/>
              </a:rPr>
              <a:pPr/>
              <a:t>59</a:t>
            </a:fld>
            <a:endParaRPr lang="en-US" sz="1100" dirty="0">
              <a:latin typeface="Helvetica" pitchFamily="34" charset="0"/>
            </a:endParaRPr>
          </a:p>
        </p:txBody>
      </p:sp>
      <p:pic>
        <p:nvPicPr>
          <p:cNvPr id="6" name="Picture 5" descr="C:\Documents and Settings\danielc\Desktop\Plan and implement a series of training events\freeimage-4262659.jpg"/>
          <p:cNvPicPr/>
          <p:nvPr/>
        </p:nvPicPr>
        <p:blipFill>
          <a:blip r:embed="rId3" cstate="print"/>
          <a:srcRect/>
          <a:stretch>
            <a:fillRect/>
          </a:stretch>
        </p:blipFill>
        <p:spPr bwMode="auto">
          <a:xfrm>
            <a:off x="3035833" y="4581128"/>
            <a:ext cx="3072335" cy="1624646"/>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208912" cy="1143000"/>
          </a:xfrm>
        </p:spPr>
        <p:txBody>
          <a:bodyPr>
            <a:normAutofit/>
          </a:bodyPr>
          <a:lstStyle/>
          <a:p>
            <a:r>
              <a:rPr lang="en-AU" sz="3400" b="1" dirty="0" smtClean="0">
                <a:solidFill>
                  <a:srgbClr val="FF6600"/>
                </a:solidFill>
                <a:latin typeface="Helvetica" pitchFamily="34" charset="0"/>
              </a:rPr>
              <a:t>Develop a schedule for implementing identified training events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5301208"/>
          </a:xfrm>
        </p:spPr>
        <p:txBody>
          <a:bodyPr>
            <a:normAutofit/>
          </a:bodyPr>
          <a:lstStyle/>
          <a:p>
            <a:pPr>
              <a:spcBef>
                <a:spcPts val="600"/>
              </a:spcBef>
              <a:spcAft>
                <a:spcPts val="1200"/>
              </a:spcAft>
              <a:buNone/>
            </a:pPr>
            <a:r>
              <a:rPr lang="en-AU" sz="2200" b="1" dirty="0" smtClean="0">
                <a:latin typeface="Helvetica" pitchFamily="34" charset="0"/>
              </a:rPr>
              <a:t>Context of training events</a:t>
            </a:r>
            <a:endParaRPr lang="en-AU" sz="2200" dirty="0" smtClean="0">
              <a:latin typeface="Helvetica" pitchFamily="34" charset="0"/>
            </a:endParaRPr>
          </a:p>
          <a:p>
            <a:pPr>
              <a:spcBef>
                <a:spcPts val="600"/>
              </a:spcBef>
              <a:spcAft>
                <a:spcPts val="1200"/>
              </a:spcAft>
            </a:pPr>
            <a:r>
              <a:rPr lang="en-AU" sz="2200" dirty="0" smtClean="0">
                <a:latin typeface="Helvetica" pitchFamily="34" charset="0"/>
              </a:rPr>
              <a:t>On the job training</a:t>
            </a:r>
          </a:p>
          <a:p>
            <a:pPr>
              <a:spcBef>
                <a:spcPts val="600"/>
              </a:spcBef>
              <a:spcAft>
                <a:spcPts val="1200"/>
              </a:spcAft>
            </a:pPr>
            <a:r>
              <a:rPr lang="en-AU" sz="2200" dirty="0" smtClean="0">
                <a:latin typeface="Helvetica" pitchFamily="34" charset="0"/>
              </a:rPr>
              <a:t>Before or after work</a:t>
            </a:r>
          </a:p>
          <a:p>
            <a:pPr>
              <a:spcBef>
                <a:spcPts val="600"/>
              </a:spcBef>
              <a:spcAft>
                <a:spcPts val="1200"/>
              </a:spcAft>
            </a:pPr>
            <a:r>
              <a:rPr lang="en-AU" sz="2200" dirty="0" smtClean="0">
                <a:latin typeface="Helvetica" pitchFamily="34" charset="0"/>
              </a:rPr>
              <a:t>In a simulated location away from the actual workplace</a:t>
            </a:r>
          </a:p>
          <a:p>
            <a:pPr>
              <a:buNone/>
            </a:pPr>
            <a:endParaRPr lang="en-AU" sz="2400" dirty="0" smtClean="0"/>
          </a:p>
          <a:p>
            <a:pPr lvl="0">
              <a:spcBef>
                <a:spcPts val="600"/>
              </a:spcBef>
              <a:spcAft>
                <a:spcPts val="1200"/>
              </a:spcAft>
              <a:buNone/>
            </a:pPr>
            <a:endParaRPr lang="en-AU" sz="2200" dirty="0" smtClean="0">
              <a:latin typeface="Helvetica" pitchFamily="34" charset="0"/>
            </a:endParaRPr>
          </a:p>
          <a:p>
            <a:pPr lvl="0"/>
            <a:endParaRPr lang="en-AU" sz="2400" dirty="0" smtClean="0"/>
          </a:p>
          <a:p>
            <a:pPr lvl="0">
              <a:buNone/>
            </a:pPr>
            <a:endParaRPr lang="en-AU" sz="2400" dirty="0"/>
          </a:p>
        </p:txBody>
      </p:sp>
      <p:sp>
        <p:nvSpPr>
          <p:cNvPr id="4" name="Slide Number Placeholder 3"/>
          <p:cNvSpPr>
            <a:spLocks noGrp="1"/>
          </p:cNvSpPr>
          <p:nvPr>
            <p:ph type="sldNum" sz="quarter" idx="12"/>
          </p:nvPr>
        </p:nvSpPr>
        <p:spPr/>
        <p:txBody>
          <a:bodyPr/>
          <a:lstStyle/>
          <a:p>
            <a:r>
              <a:rPr lang="en-US" dirty="0" smtClean="0"/>
              <a:t> </a:t>
            </a:r>
            <a:r>
              <a:rPr lang="en-US" sz="1100" dirty="0" smtClean="0">
                <a:latin typeface="Helvetica" pitchFamily="34" charset="0"/>
              </a:rPr>
              <a:t>Slide </a:t>
            </a:r>
            <a:fld id="{90BDF71C-F485-43AE-8825-5070AF1EA8C9}" type="slidenum">
              <a:rPr lang="en-US" sz="1100" smtClean="0">
                <a:latin typeface="Helvetica" pitchFamily="34" charset="0"/>
              </a:rPr>
              <a:pPr/>
              <a:t>60</a:t>
            </a:fld>
            <a:endParaRPr lang="en-US" sz="1100" dirty="0">
              <a:latin typeface="Helvetica" pitchFamily="34" charset="0"/>
            </a:endParaRPr>
          </a:p>
        </p:txBody>
      </p:sp>
      <p:pic>
        <p:nvPicPr>
          <p:cNvPr id="6" name="Picture 5" descr="MP900433150.JPG"/>
          <p:cNvPicPr/>
          <p:nvPr/>
        </p:nvPicPr>
        <p:blipFill>
          <a:blip r:embed="rId3" cstate="print"/>
          <a:stretch>
            <a:fillRect/>
          </a:stretch>
        </p:blipFill>
        <p:spPr>
          <a:xfrm>
            <a:off x="3635896" y="4365104"/>
            <a:ext cx="1880791" cy="1493887"/>
          </a:xfrm>
          <a:prstGeom prst="rect">
            <a:avLst/>
          </a:prstGeom>
        </p:spPr>
      </p:pic>
    </p:spTree>
  </p:cSld>
  <p:clrMapOvr>
    <a:masterClrMapping/>
  </p:clrMapOvr>
  <p:timing>
    <p:tnLst>
      <p:par>
        <p:cTn id="1" dur="indefinite" restart="never" nodeType="tmRoot"/>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208912" cy="1143000"/>
          </a:xfrm>
        </p:spPr>
        <p:txBody>
          <a:bodyPr>
            <a:normAutofit/>
          </a:bodyPr>
          <a:lstStyle/>
          <a:p>
            <a:r>
              <a:rPr lang="en-AU" sz="3400" b="1" dirty="0" smtClean="0">
                <a:solidFill>
                  <a:srgbClr val="FF6600"/>
                </a:solidFill>
                <a:latin typeface="Helvetica" pitchFamily="34" charset="0"/>
              </a:rPr>
              <a:t>Develop a schedule for implementing identified training events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5301208"/>
          </a:xfrm>
        </p:spPr>
        <p:txBody>
          <a:bodyPr>
            <a:normAutofit/>
          </a:bodyPr>
          <a:lstStyle/>
          <a:p>
            <a:pPr>
              <a:spcBef>
                <a:spcPts val="600"/>
              </a:spcBef>
              <a:spcAft>
                <a:spcPts val="1200"/>
              </a:spcAft>
              <a:buNone/>
            </a:pPr>
            <a:r>
              <a:rPr lang="en-AU" sz="2200" b="1" dirty="0" smtClean="0">
                <a:latin typeface="Helvetica" pitchFamily="34" charset="0"/>
              </a:rPr>
              <a:t>Considerations</a:t>
            </a:r>
            <a:endParaRPr lang="en-AU" sz="2200" dirty="0" smtClean="0">
              <a:latin typeface="Helvetica" pitchFamily="34" charset="0"/>
            </a:endParaRPr>
          </a:p>
          <a:p>
            <a:pPr>
              <a:spcBef>
                <a:spcPts val="600"/>
              </a:spcBef>
              <a:spcAft>
                <a:spcPts val="1200"/>
              </a:spcAft>
            </a:pPr>
            <a:r>
              <a:rPr lang="en-AU" sz="2200" dirty="0" smtClean="0">
                <a:latin typeface="Helvetica" pitchFamily="34" charset="0"/>
              </a:rPr>
              <a:t>Identifying specific days, dates, times and staff for individual training events at each location/venue</a:t>
            </a:r>
          </a:p>
          <a:p>
            <a:pPr>
              <a:spcBef>
                <a:spcPts val="600"/>
              </a:spcBef>
              <a:spcAft>
                <a:spcPts val="1200"/>
              </a:spcAft>
            </a:pPr>
            <a:r>
              <a:rPr lang="en-AU" sz="2200" dirty="0" smtClean="0">
                <a:latin typeface="Helvetica" pitchFamily="34" charset="0"/>
              </a:rPr>
              <a:t>Accommodating reason for the training</a:t>
            </a:r>
          </a:p>
          <a:p>
            <a:pPr>
              <a:spcBef>
                <a:spcPts val="600"/>
              </a:spcBef>
              <a:spcAft>
                <a:spcPts val="1200"/>
              </a:spcAft>
            </a:pPr>
            <a:r>
              <a:rPr lang="en-AU" sz="2200" dirty="0" smtClean="0">
                <a:latin typeface="Helvetica" pitchFamily="34" charset="0"/>
              </a:rPr>
              <a:t>Accommodating availability of location</a:t>
            </a:r>
          </a:p>
          <a:p>
            <a:pPr>
              <a:spcBef>
                <a:spcPts val="600"/>
              </a:spcBef>
              <a:spcAft>
                <a:spcPts val="1200"/>
              </a:spcAft>
            </a:pPr>
            <a:r>
              <a:rPr lang="en-AU" sz="2200" dirty="0" smtClean="0">
                <a:latin typeface="Helvetica" pitchFamily="34" charset="0"/>
              </a:rPr>
              <a:t>Accommodating individual workplace operational needs </a:t>
            </a:r>
            <a:endParaRPr lang="en-AU" sz="2400" dirty="0" smtClean="0"/>
          </a:p>
          <a:p>
            <a:pPr>
              <a:buNone/>
            </a:pPr>
            <a:endParaRPr lang="en-AU" sz="2400" dirty="0" smtClean="0"/>
          </a:p>
          <a:p>
            <a:pPr lvl="0">
              <a:spcBef>
                <a:spcPts val="600"/>
              </a:spcBef>
              <a:spcAft>
                <a:spcPts val="1200"/>
              </a:spcAft>
              <a:buNone/>
            </a:pPr>
            <a:endParaRPr lang="en-AU" sz="2200" dirty="0" smtClean="0">
              <a:latin typeface="Helvetica" pitchFamily="34" charset="0"/>
            </a:endParaRPr>
          </a:p>
          <a:p>
            <a:pPr lvl="0"/>
            <a:endParaRPr lang="en-AU" sz="2400" dirty="0" smtClean="0"/>
          </a:p>
          <a:p>
            <a:pPr lvl="0">
              <a:buNone/>
            </a:pPr>
            <a:endParaRPr lang="en-AU" sz="2400" dirty="0"/>
          </a:p>
        </p:txBody>
      </p:sp>
      <p:sp>
        <p:nvSpPr>
          <p:cNvPr id="4" name="Slide Number Placeholder 3"/>
          <p:cNvSpPr>
            <a:spLocks noGrp="1"/>
          </p:cNvSpPr>
          <p:nvPr>
            <p:ph type="sldNum" sz="quarter" idx="12"/>
          </p:nvPr>
        </p:nvSpPr>
        <p:spPr/>
        <p:txBody>
          <a:bodyPr/>
          <a:lstStyle/>
          <a:p>
            <a:r>
              <a:rPr lang="en-US" dirty="0" smtClean="0"/>
              <a:t> </a:t>
            </a:r>
            <a:r>
              <a:rPr lang="en-US" sz="1100" dirty="0" smtClean="0">
                <a:latin typeface="Helvetica" pitchFamily="34" charset="0"/>
              </a:rPr>
              <a:t>Slide </a:t>
            </a:r>
            <a:fld id="{90BDF71C-F485-43AE-8825-5070AF1EA8C9}" type="slidenum">
              <a:rPr lang="en-US" sz="1100" smtClean="0">
                <a:latin typeface="Helvetica" pitchFamily="34" charset="0"/>
              </a:rPr>
              <a:pPr/>
              <a:t>61</a:t>
            </a:fld>
            <a:endParaRPr lang="en-US" sz="1100" dirty="0">
              <a:latin typeface="Helvetica" pitchFamily="34" charset="0"/>
            </a:endParaRPr>
          </a:p>
        </p:txBody>
      </p:sp>
      <p:pic>
        <p:nvPicPr>
          <p:cNvPr id="7" name="Picture 6" descr="MP900442434.JPG"/>
          <p:cNvPicPr/>
          <p:nvPr/>
        </p:nvPicPr>
        <p:blipFill>
          <a:blip r:embed="rId3" cstate="print"/>
          <a:stretch>
            <a:fillRect/>
          </a:stretch>
        </p:blipFill>
        <p:spPr>
          <a:xfrm>
            <a:off x="3923928" y="5013176"/>
            <a:ext cx="2038350" cy="1362075"/>
          </a:xfrm>
          <a:prstGeom prst="rect">
            <a:avLst/>
          </a:prstGeom>
        </p:spPr>
      </p:pic>
    </p:spTree>
  </p:cSld>
  <p:clrMapOvr>
    <a:masterClrMapping/>
  </p:clrMapOvr>
  <p:timing>
    <p:tnLst>
      <p:par>
        <p:cTn id="1" dur="indefinite" restart="never" nodeType="tmRoot"/>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208912" cy="1143000"/>
          </a:xfrm>
        </p:spPr>
        <p:txBody>
          <a:bodyPr>
            <a:normAutofit/>
          </a:bodyPr>
          <a:lstStyle/>
          <a:p>
            <a:r>
              <a:rPr lang="en-AU" sz="3400" b="1" dirty="0" smtClean="0">
                <a:solidFill>
                  <a:srgbClr val="FF6600"/>
                </a:solidFill>
                <a:latin typeface="Helvetica" pitchFamily="34" charset="0"/>
              </a:rPr>
              <a:t>Develop a schedule for implementing identified training events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5301208"/>
          </a:xfrm>
        </p:spPr>
        <p:txBody>
          <a:bodyPr>
            <a:normAutofit/>
          </a:bodyPr>
          <a:lstStyle/>
          <a:p>
            <a:pPr>
              <a:spcBef>
                <a:spcPts val="600"/>
              </a:spcBef>
              <a:spcAft>
                <a:spcPts val="1200"/>
              </a:spcAft>
              <a:buNone/>
            </a:pPr>
            <a:r>
              <a:rPr lang="en-AU" sz="2200" b="1" dirty="0" smtClean="0">
                <a:latin typeface="Helvetica" pitchFamily="34" charset="0"/>
              </a:rPr>
              <a:t>Considerations</a:t>
            </a:r>
            <a:endParaRPr lang="en-AU" sz="2200" dirty="0" smtClean="0">
              <a:latin typeface="Helvetica" pitchFamily="34" charset="0"/>
            </a:endParaRPr>
          </a:p>
          <a:p>
            <a:pPr lvl="0">
              <a:spcBef>
                <a:spcPts val="600"/>
              </a:spcBef>
              <a:spcAft>
                <a:spcPts val="1200"/>
              </a:spcAft>
            </a:pPr>
            <a:r>
              <a:rPr lang="en-AU" sz="2200" dirty="0" smtClean="0">
                <a:latin typeface="Helvetica" pitchFamily="34" charset="0"/>
              </a:rPr>
              <a:t>Accommodating individual learner preferences to the greatest extent possible</a:t>
            </a:r>
          </a:p>
          <a:p>
            <a:pPr lvl="0">
              <a:spcBef>
                <a:spcPts val="600"/>
              </a:spcBef>
              <a:spcAft>
                <a:spcPts val="1200"/>
              </a:spcAft>
            </a:pPr>
            <a:r>
              <a:rPr lang="en-AU" sz="2200" dirty="0" smtClean="0">
                <a:latin typeface="Helvetica" pitchFamily="34" charset="0"/>
              </a:rPr>
              <a:t>Limiting training events and numbers attending </a:t>
            </a:r>
          </a:p>
          <a:p>
            <a:pPr lvl="0">
              <a:spcBef>
                <a:spcPts val="600"/>
              </a:spcBef>
              <a:spcAft>
                <a:spcPts val="1200"/>
              </a:spcAft>
            </a:pPr>
            <a:r>
              <a:rPr lang="en-AU" sz="2200" dirty="0" smtClean="0">
                <a:latin typeface="Helvetica" pitchFamily="34" charset="0"/>
              </a:rPr>
              <a:t>Coordinating the attendance of learners from multiple sites or departments at the one training event</a:t>
            </a:r>
          </a:p>
          <a:p>
            <a:pPr lvl="0"/>
            <a:endParaRPr lang="en-AU" sz="2400" dirty="0" smtClean="0"/>
          </a:p>
          <a:p>
            <a:pPr lvl="0">
              <a:buNone/>
            </a:pPr>
            <a:endParaRPr lang="en-AU" sz="2400" dirty="0"/>
          </a:p>
        </p:txBody>
      </p:sp>
      <p:sp>
        <p:nvSpPr>
          <p:cNvPr id="4" name="Slide Number Placeholder 3"/>
          <p:cNvSpPr>
            <a:spLocks noGrp="1"/>
          </p:cNvSpPr>
          <p:nvPr>
            <p:ph type="sldNum" sz="quarter" idx="12"/>
          </p:nvPr>
        </p:nvSpPr>
        <p:spPr/>
        <p:txBody>
          <a:bodyPr/>
          <a:lstStyle/>
          <a:p>
            <a:r>
              <a:rPr lang="en-US" dirty="0" smtClean="0"/>
              <a:t> </a:t>
            </a:r>
            <a:r>
              <a:rPr lang="en-US" sz="1100" dirty="0" smtClean="0">
                <a:latin typeface="Helvetica" pitchFamily="34" charset="0"/>
              </a:rPr>
              <a:t>Slide </a:t>
            </a:r>
            <a:fld id="{90BDF71C-F485-43AE-8825-5070AF1EA8C9}" type="slidenum">
              <a:rPr lang="en-US" sz="1100" smtClean="0">
                <a:latin typeface="Helvetica" pitchFamily="34" charset="0"/>
              </a:rPr>
              <a:pPr/>
              <a:t>62</a:t>
            </a:fld>
            <a:endParaRPr lang="en-US" sz="1100" dirty="0">
              <a:latin typeface="Helvetica" pitchFamily="34" charset="0"/>
            </a:endParaRPr>
          </a:p>
        </p:txBody>
      </p:sp>
      <p:pic>
        <p:nvPicPr>
          <p:cNvPr id="6" name="Picture 5" descr="MP900431736.JPG"/>
          <p:cNvPicPr/>
          <p:nvPr/>
        </p:nvPicPr>
        <p:blipFill>
          <a:blip r:embed="rId3" cstate="print"/>
          <a:srcRect t="29630"/>
          <a:stretch>
            <a:fillRect/>
          </a:stretch>
        </p:blipFill>
        <p:spPr>
          <a:xfrm>
            <a:off x="3635896" y="4653136"/>
            <a:ext cx="1944216" cy="1368152"/>
          </a:xfrm>
          <a:prstGeom prst="rect">
            <a:avLst/>
          </a:prstGeom>
        </p:spPr>
      </p:pic>
    </p:spTree>
  </p:cSld>
  <p:clrMapOvr>
    <a:masterClrMapping/>
  </p:clrMapOvr>
  <p:timing>
    <p:tnLst>
      <p:par>
        <p:cTn id="1" dur="indefinite" restart="never" nodeType="tmRoot"/>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208912" cy="1143000"/>
          </a:xfrm>
        </p:spPr>
        <p:txBody>
          <a:bodyPr>
            <a:normAutofit/>
          </a:bodyPr>
          <a:lstStyle/>
          <a:p>
            <a:r>
              <a:rPr lang="en-AU" sz="3400" b="1" dirty="0" smtClean="0">
                <a:solidFill>
                  <a:srgbClr val="FF6600"/>
                </a:solidFill>
                <a:latin typeface="Helvetica" pitchFamily="34" charset="0"/>
              </a:rPr>
              <a:t>Develop a schedule for implementing identified training events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5301208"/>
          </a:xfrm>
        </p:spPr>
        <p:txBody>
          <a:bodyPr>
            <a:normAutofit/>
          </a:bodyPr>
          <a:lstStyle/>
          <a:p>
            <a:pPr>
              <a:spcBef>
                <a:spcPts val="600"/>
              </a:spcBef>
              <a:spcAft>
                <a:spcPts val="1200"/>
              </a:spcAft>
              <a:buNone/>
            </a:pPr>
            <a:r>
              <a:rPr lang="en-AU" sz="2200" b="1" dirty="0" smtClean="0">
                <a:latin typeface="Helvetica" pitchFamily="34" charset="0"/>
              </a:rPr>
              <a:t>Considerations</a:t>
            </a:r>
            <a:endParaRPr lang="en-AU" sz="2200" dirty="0" smtClean="0">
              <a:latin typeface="Helvetica" pitchFamily="34" charset="0"/>
            </a:endParaRPr>
          </a:p>
          <a:p>
            <a:pPr lvl="0">
              <a:spcBef>
                <a:spcPts val="600"/>
              </a:spcBef>
              <a:spcAft>
                <a:spcPts val="1200"/>
              </a:spcAft>
            </a:pPr>
            <a:r>
              <a:rPr lang="en-AU" sz="2200" dirty="0" smtClean="0">
                <a:latin typeface="Helvetica" pitchFamily="34" charset="0"/>
              </a:rPr>
              <a:t>Identifying relevant training events that will optimise learning </a:t>
            </a:r>
          </a:p>
          <a:p>
            <a:pPr lvl="0">
              <a:spcBef>
                <a:spcPts val="600"/>
              </a:spcBef>
              <a:spcAft>
                <a:spcPts val="1200"/>
              </a:spcAft>
            </a:pPr>
            <a:r>
              <a:rPr lang="en-AU" sz="2200" dirty="0" smtClean="0">
                <a:latin typeface="Helvetica" pitchFamily="34" charset="0"/>
              </a:rPr>
              <a:t>Communicating a draft schedule to learners and management or supervisors</a:t>
            </a:r>
          </a:p>
          <a:p>
            <a:pPr>
              <a:spcBef>
                <a:spcPts val="600"/>
              </a:spcBef>
              <a:spcAft>
                <a:spcPts val="1200"/>
              </a:spcAft>
            </a:pPr>
            <a:r>
              <a:rPr lang="en-AU" sz="2200" dirty="0" smtClean="0">
                <a:latin typeface="Helvetica" pitchFamily="34" charset="0"/>
              </a:rPr>
              <a:t>Revising attendance at training events</a:t>
            </a:r>
            <a:endParaRPr lang="en-AU" sz="2200" b="1" dirty="0" smtClean="0">
              <a:latin typeface="Helvetica" pitchFamily="34" charset="0"/>
            </a:endParaRPr>
          </a:p>
          <a:p>
            <a:endParaRPr lang="en-AU" sz="2400" dirty="0" smtClean="0"/>
          </a:p>
          <a:p>
            <a:pPr>
              <a:buNone/>
            </a:pPr>
            <a:endParaRPr lang="en-AU" sz="2400" dirty="0" smtClean="0"/>
          </a:p>
          <a:p>
            <a:pPr lvl="0">
              <a:spcBef>
                <a:spcPts val="600"/>
              </a:spcBef>
              <a:spcAft>
                <a:spcPts val="1200"/>
              </a:spcAft>
              <a:buNone/>
            </a:pPr>
            <a:endParaRPr lang="en-AU" sz="2200" dirty="0" smtClean="0">
              <a:latin typeface="Helvetica" pitchFamily="34" charset="0"/>
            </a:endParaRPr>
          </a:p>
          <a:p>
            <a:pPr lvl="0"/>
            <a:endParaRPr lang="en-AU" sz="2400" dirty="0" smtClean="0"/>
          </a:p>
          <a:p>
            <a:pPr lvl="0">
              <a:buNone/>
            </a:pPr>
            <a:endParaRPr lang="en-AU" sz="2400" dirty="0"/>
          </a:p>
        </p:txBody>
      </p:sp>
      <p:sp>
        <p:nvSpPr>
          <p:cNvPr id="4" name="Slide Number Placeholder 3"/>
          <p:cNvSpPr>
            <a:spLocks noGrp="1"/>
          </p:cNvSpPr>
          <p:nvPr>
            <p:ph type="sldNum" sz="quarter" idx="12"/>
          </p:nvPr>
        </p:nvSpPr>
        <p:spPr/>
        <p:txBody>
          <a:bodyPr/>
          <a:lstStyle/>
          <a:p>
            <a:r>
              <a:rPr lang="en-US" dirty="0" smtClean="0"/>
              <a:t> </a:t>
            </a:r>
            <a:r>
              <a:rPr lang="en-US" sz="1100" dirty="0" smtClean="0">
                <a:latin typeface="Helvetica" pitchFamily="34" charset="0"/>
              </a:rPr>
              <a:t>Slide </a:t>
            </a:r>
            <a:fld id="{90BDF71C-F485-43AE-8825-5070AF1EA8C9}" type="slidenum">
              <a:rPr lang="en-US" sz="1100" smtClean="0">
                <a:latin typeface="Helvetica" pitchFamily="34" charset="0"/>
              </a:rPr>
              <a:pPr/>
              <a:t>63</a:t>
            </a:fld>
            <a:endParaRPr lang="en-US" sz="1100" dirty="0">
              <a:latin typeface="Helvetica" pitchFamily="34" charset="0"/>
            </a:endParaRPr>
          </a:p>
        </p:txBody>
      </p:sp>
      <p:pic>
        <p:nvPicPr>
          <p:cNvPr id="5" name="Picture 4" descr="MP900289901.JPG"/>
          <p:cNvPicPr>
            <a:picLocks noChangeAspect="1"/>
          </p:cNvPicPr>
          <p:nvPr/>
        </p:nvPicPr>
        <p:blipFill>
          <a:blip r:embed="rId3" cstate="print"/>
          <a:stretch>
            <a:fillRect/>
          </a:stretch>
        </p:blipFill>
        <p:spPr>
          <a:xfrm>
            <a:off x="6228184" y="3717032"/>
            <a:ext cx="2258699" cy="1513328"/>
          </a:xfrm>
          <a:prstGeom prst="rect">
            <a:avLst/>
          </a:prstGeom>
        </p:spPr>
      </p:pic>
    </p:spTree>
  </p:cSld>
  <p:clrMapOvr>
    <a:masterClrMapping/>
  </p:clrMapOvr>
  <p:timing>
    <p:tnLst>
      <p:par>
        <p:cTn id="1" dur="indefinite" restart="never" nodeType="tmRoot"/>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208912" cy="1143000"/>
          </a:xfrm>
        </p:spPr>
        <p:txBody>
          <a:bodyPr>
            <a:normAutofit/>
          </a:bodyPr>
          <a:lstStyle/>
          <a:p>
            <a:r>
              <a:rPr lang="en-AU" sz="3400" b="1" dirty="0" smtClean="0">
                <a:solidFill>
                  <a:srgbClr val="FF6600"/>
                </a:solidFill>
                <a:latin typeface="Helvetica" pitchFamily="34" charset="0"/>
              </a:rPr>
              <a:t>Develop an operational plan to implement training</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5301208"/>
          </a:xfrm>
        </p:spPr>
        <p:txBody>
          <a:bodyPr>
            <a:normAutofit/>
          </a:bodyPr>
          <a:lstStyle/>
          <a:p>
            <a:pPr>
              <a:spcBef>
                <a:spcPts val="600"/>
              </a:spcBef>
              <a:spcAft>
                <a:spcPts val="1200"/>
              </a:spcAft>
              <a:buNone/>
            </a:pPr>
            <a:r>
              <a:rPr lang="en-AU" sz="2200" b="1" dirty="0" smtClean="0">
                <a:latin typeface="Helvetica" pitchFamily="34" charset="0"/>
              </a:rPr>
              <a:t>Importance of planning</a:t>
            </a:r>
          </a:p>
          <a:p>
            <a:pPr marL="0">
              <a:spcBef>
                <a:spcPts val="600"/>
              </a:spcBef>
              <a:spcAft>
                <a:spcPts val="1200"/>
              </a:spcAft>
              <a:buNone/>
            </a:pPr>
            <a:r>
              <a:rPr lang="en-AU" sz="2200" dirty="0" smtClean="0">
                <a:latin typeface="Helvetica" pitchFamily="34" charset="0"/>
              </a:rPr>
              <a:t>Once a schedule has been prepared a plan must be put into place focused on:</a:t>
            </a:r>
          </a:p>
          <a:p>
            <a:pPr>
              <a:spcBef>
                <a:spcPts val="600"/>
              </a:spcBef>
              <a:spcAft>
                <a:spcPts val="1200"/>
              </a:spcAft>
            </a:pPr>
            <a:r>
              <a:rPr lang="en-AU" sz="2200" dirty="0" smtClean="0">
                <a:latin typeface="Helvetica" pitchFamily="34" charset="0"/>
              </a:rPr>
              <a:t>How it will be implemented </a:t>
            </a:r>
          </a:p>
          <a:p>
            <a:pPr>
              <a:spcBef>
                <a:spcPts val="600"/>
              </a:spcBef>
              <a:spcAft>
                <a:spcPts val="1200"/>
              </a:spcAft>
            </a:pPr>
            <a:r>
              <a:rPr lang="en-AU" sz="2200" dirty="0" smtClean="0">
                <a:latin typeface="Helvetica" pitchFamily="34" charset="0"/>
              </a:rPr>
              <a:t>Involvement of support activities required to </a:t>
            </a:r>
            <a:br>
              <a:rPr lang="en-AU" sz="2200" dirty="0" smtClean="0">
                <a:latin typeface="Helvetica" pitchFamily="34" charset="0"/>
              </a:rPr>
            </a:br>
            <a:r>
              <a:rPr lang="en-AU" sz="2200" dirty="0" smtClean="0">
                <a:latin typeface="Helvetica" pitchFamily="34" charset="0"/>
              </a:rPr>
              <a:t>make them run smoothly</a:t>
            </a:r>
            <a:endParaRPr lang="en-AU" sz="2400" dirty="0" smtClean="0"/>
          </a:p>
          <a:p>
            <a:pPr>
              <a:buNone/>
            </a:pPr>
            <a:endParaRPr lang="en-AU" sz="2400" dirty="0" smtClean="0"/>
          </a:p>
          <a:p>
            <a:pPr lvl="0">
              <a:spcBef>
                <a:spcPts val="600"/>
              </a:spcBef>
              <a:spcAft>
                <a:spcPts val="1200"/>
              </a:spcAft>
              <a:buNone/>
            </a:pPr>
            <a:endParaRPr lang="en-AU" sz="2200" dirty="0" smtClean="0">
              <a:latin typeface="Helvetica" pitchFamily="34" charset="0"/>
            </a:endParaRPr>
          </a:p>
          <a:p>
            <a:pPr lvl="0"/>
            <a:endParaRPr lang="en-AU" sz="2400" dirty="0" smtClean="0"/>
          </a:p>
          <a:p>
            <a:pPr lvl="0">
              <a:buNone/>
            </a:pPr>
            <a:endParaRPr lang="en-AU" sz="2400" dirty="0"/>
          </a:p>
        </p:txBody>
      </p:sp>
      <p:sp>
        <p:nvSpPr>
          <p:cNvPr id="4" name="Slide Number Placeholder 3"/>
          <p:cNvSpPr>
            <a:spLocks noGrp="1"/>
          </p:cNvSpPr>
          <p:nvPr>
            <p:ph type="sldNum" sz="quarter" idx="12"/>
          </p:nvPr>
        </p:nvSpPr>
        <p:spPr/>
        <p:txBody>
          <a:bodyPr/>
          <a:lstStyle/>
          <a:p>
            <a:r>
              <a:rPr lang="en-US" dirty="0" smtClean="0"/>
              <a:t> </a:t>
            </a:r>
            <a:r>
              <a:rPr lang="en-US" sz="1100" dirty="0" smtClean="0">
                <a:latin typeface="Helvetica" pitchFamily="34" charset="0"/>
              </a:rPr>
              <a:t>Slide </a:t>
            </a:r>
            <a:fld id="{90BDF71C-F485-43AE-8825-5070AF1EA8C9}" type="slidenum">
              <a:rPr lang="en-US" sz="1100" smtClean="0">
                <a:latin typeface="Helvetica" pitchFamily="34" charset="0"/>
              </a:rPr>
              <a:pPr/>
              <a:t>64</a:t>
            </a:fld>
            <a:endParaRPr lang="en-US" sz="1100" dirty="0">
              <a:latin typeface="Helvetica" pitchFamily="34" charset="0"/>
            </a:endParaRPr>
          </a:p>
        </p:txBody>
      </p:sp>
      <p:pic>
        <p:nvPicPr>
          <p:cNvPr id="6" name="Picture 5" descr="MP900386161.JPG"/>
          <p:cNvPicPr/>
          <p:nvPr/>
        </p:nvPicPr>
        <p:blipFill>
          <a:blip r:embed="rId3" cstate="print"/>
          <a:stretch>
            <a:fillRect/>
          </a:stretch>
        </p:blipFill>
        <p:spPr>
          <a:xfrm>
            <a:off x="6800907" y="2852936"/>
            <a:ext cx="1580165" cy="2376264"/>
          </a:xfrm>
          <a:prstGeom prst="rect">
            <a:avLst/>
          </a:prstGeom>
        </p:spPr>
      </p:pic>
    </p:spTree>
  </p:cSld>
  <p:clrMapOvr>
    <a:masterClrMapping/>
  </p:clrMapOvr>
  <p:timing>
    <p:tnLst>
      <p:par>
        <p:cTn id="1" dur="indefinite" restart="never" nodeType="tmRoot"/>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208912" cy="1143000"/>
          </a:xfrm>
        </p:spPr>
        <p:txBody>
          <a:bodyPr>
            <a:normAutofit/>
          </a:bodyPr>
          <a:lstStyle/>
          <a:p>
            <a:r>
              <a:rPr lang="en-AU" sz="3400" b="1" dirty="0" smtClean="0">
                <a:solidFill>
                  <a:srgbClr val="FF6600"/>
                </a:solidFill>
                <a:latin typeface="Helvetica" pitchFamily="34" charset="0"/>
              </a:rPr>
              <a:t>Develop an operational plan to implement training</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5301208"/>
          </a:xfrm>
        </p:spPr>
        <p:txBody>
          <a:bodyPr>
            <a:normAutofit/>
          </a:bodyPr>
          <a:lstStyle/>
          <a:p>
            <a:pPr>
              <a:spcBef>
                <a:spcPts val="600"/>
              </a:spcBef>
              <a:spcAft>
                <a:spcPts val="1200"/>
              </a:spcAft>
              <a:buNone/>
            </a:pPr>
            <a:r>
              <a:rPr lang="en-AU" sz="2200" b="1" dirty="0" smtClean="0">
                <a:latin typeface="Helvetica" pitchFamily="34" charset="0"/>
              </a:rPr>
              <a:t>Types of plans</a:t>
            </a:r>
            <a:endParaRPr lang="en-AU" sz="2200" dirty="0" smtClean="0">
              <a:latin typeface="Helvetica" pitchFamily="34" charset="0"/>
            </a:endParaRPr>
          </a:p>
          <a:p>
            <a:pPr>
              <a:spcBef>
                <a:spcPts val="600"/>
              </a:spcBef>
              <a:spcAft>
                <a:spcPts val="1200"/>
              </a:spcAft>
            </a:pPr>
            <a:r>
              <a:rPr lang="en-AU" sz="2200" dirty="0" smtClean="0">
                <a:latin typeface="Helvetica" pitchFamily="34" charset="0"/>
              </a:rPr>
              <a:t>Learning program</a:t>
            </a:r>
          </a:p>
          <a:p>
            <a:pPr>
              <a:spcBef>
                <a:spcPts val="600"/>
              </a:spcBef>
              <a:spcAft>
                <a:spcPts val="1200"/>
              </a:spcAft>
            </a:pPr>
            <a:r>
              <a:rPr lang="en-AU" sz="2200" dirty="0" smtClean="0">
                <a:latin typeface="Helvetica" pitchFamily="34" charset="0"/>
              </a:rPr>
              <a:t> Work based learning plans</a:t>
            </a:r>
          </a:p>
          <a:p>
            <a:pPr>
              <a:spcBef>
                <a:spcPts val="600"/>
              </a:spcBef>
              <a:spcAft>
                <a:spcPts val="1200"/>
              </a:spcAft>
            </a:pPr>
            <a:r>
              <a:rPr lang="en-AU" sz="2200" dirty="0" smtClean="0">
                <a:latin typeface="Helvetica" pitchFamily="34" charset="0"/>
              </a:rPr>
              <a:t>Individual learning plans</a:t>
            </a:r>
          </a:p>
          <a:p>
            <a:pPr>
              <a:spcBef>
                <a:spcPts val="600"/>
              </a:spcBef>
              <a:spcAft>
                <a:spcPts val="1200"/>
              </a:spcAft>
            </a:pPr>
            <a:r>
              <a:rPr lang="en-AU" sz="2200" dirty="0" smtClean="0">
                <a:latin typeface="Helvetica" pitchFamily="34" charset="0"/>
              </a:rPr>
              <a:t>Session plan</a:t>
            </a:r>
          </a:p>
          <a:p>
            <a:endParaRPr lang="en-AU" sz="2400" dirty="0" smtClean="0"/>
          </a:p>
          <a:p>
            <a:endParaRPr lang="en-AU" sz="2400" dirty="0" smtClean="0"/>
          </a:p>
          <a:p>
            <a:pPr>
              <a:buNone/>
            </a:pPr>
            <a:endParaRPr lang="en-AU" sz="2400" dirty="0" smtClean="0"/>
          </a:p>
          <a:p>
            <a:pPr lvl="0">
              <a:spcBef>
                <a:spcPts val="600"/>
              </a:spcBef>
              <a:spcAft>
                <a:spcPts val="1200"/>
              </a:spcAft>
              <a:buNone/>
            </a:pPr>
            <a:endParaRPr lang="en-AU" sz="2200" dirty="0" smtClean="0">
              <a:latin typeface="Helvetica" pitchFamily="34" charset="0"/>
            </a:endParaRPr>
          </a:p>
          <a:p>
            <a:pPr lvl="0"/>
            <a:endParaRPr lang="en-AU" sz="2400" dirty="0" smtClean="0"/>
          </a:p>
          <a:p>
            <a:pPr lvl="0">
              <a:buNone/>
            </a:pPr>
            <a:endParaRPr lang="en-AU" sz="2400" dirty="0"/>
          </a:p>
        </p:txBody>
      </p:sp>
      <p:sp>
        <p:nvSpPr>
          <p:cNvPr id="4" name="Slide Number Placeholder 3"/>
          <p:cNvSpPr>
            <a:spLocks noGrp="1"/>
          </p:cNvSpPr>
          <p:nvPr>
            <p:ph type="sldNum" sz="quarter" idx="12"/>
          </p:nvPr>
        </p:nvSpPr>
        <p:spPr/>
        <p:txBody>
          <a:bodyPr/>
          <a:lstStyle/>
          <a:p>
            <a:r>
              <a:rPr lang="en-US" dirty="0" smtClean="0"/>
              <a:t> </a:t>
            </a:r>
            <a:r>
              <a:rPr lang="en-US" sz="1100" dirty="0" smtClean="0">
                <a:latin typeface="Helvetica" pitchFamily="34" charset="0"/>
              </a:rPr>
              <a:t>Slide </a:t>
            </a:r>
            <a:fld id="{90BDF71C-F485-43AE-8825-5070AF1EA8C9}" type="slidenum">
              <a:rPr lang="en-US" sz="1100" smtClean="0">
                <a:latin typeface="Helvetica" pitchFamily="34" charset="0"/>
              </a:rPr>
              <a:pPr/>
              <a:t>65</a:t>
            </a:fld>
            <a:endParaRPr lang="en-US" sz="1100" dirty="0">
              <a:latin typeface="Helvetica" pitchFamily="34" charset="0"/>
            </a:endParaRPr>
          </a:p>
        </p:txBody>
      </p:sp>
      <p:pic>
        <p:nvPicPr>
          <p:cNvPr id="7" name="Picture 6" descr="MP900443233.JPG"/>
          <p:cNvPicPr>
            <a:picLocks noChangeAspect="1"/>
          </p:cNvPicPr>
          <p:nvPr/>
        </p:nvPicPr>
        <p:blipFill>
          <a:blip r:embed="rId3" cstate="print"/>
          <a:stretch>
            <a:fillRect/>
          </a:stretch>
        </p:blipFill>
        <p:spPr>
          <a:xfrm>
            <a:off x="5796136" y="2492896"/>
            <a:ext cx="2315170" cy="1540720"/>
          </a:xfrm>
          <a:prstGeom prst="rect">
            <a:avLst/>
          </a:prstGeom>
        </p:spPr>
      </p:pic>
    </p:spTree>
  </p:cSld>
  <p:clrMapOvr>
    <a:masterClrMapping/>
  </p:clrMapOvr>
  <p:timing>
    <p:tnLst>
      <p:par>
        <p:cTn id="1" dur="indefinite" restart="never" nodeType="tmRoot"/>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208912" cy="1143000"/>
          </a:xfrm>
        </p:spPr>
        <p:txBody>
          <a:bodyPr>
            <a:normAutofit/>
          </a:bodyPr>
          <a:lstStyle/>
          <a:p>
            <a:r>
              <a:rPr lang="en-AU" sz="3400" b="1" dirty="0" smtClean="0">
                <a:solidFill>
                  <a:srgbClr val="FF6600"/>
                </a:solidFill>
                <a:latin typeface="Helvetica" pitchFamily="34" charset="0"/>
              </a:rPr>
              <a:t>Develop an operational plan to implement training</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5301208"/>
          </a:xfrm>
        </p:spPr>
        <p:txBody>
          <a:bodyPr>
            <a:normAutofit/>
          </a:bodyPr>
          <a:lstStyle/>
          <a:p>
            <a:pPr>
              <a:spcBef>
                <a:spcPts val="600"/>
              </a:spcBef>
              <a:spcAft>
                <a:spcPts val="1200"/>
              </a:spcAft>
              <a:buNone/>
            </a:pPr>
            <a:r>
              <a:rPr lang="en-AU" sz="2200" b="1" dirty="0" smtClean="0">
                <a:latin typeface="Helvetica" pitchFamily="34" charset="0"/>
              </a:rPr>
              <a:t>Operational plan activities</a:t>
            </a:r>
            <a:endParaRPr lang="en-AU" sz="2200" dirty="0" smtClean="0">
              <a:latin typeface="Helvetica" pitchFamily="34" charset="0"/>
            </a:endParaRPr>
          </a:p>
          <a:p>
            <a:pPr>
              <a:spcBef>
                <a:spcPts val="600"/>
              </a:spcBef>
              <a:spcAft>
                <a:spcPts val="1200"/>
              </a:spcAft>
            </a:pPr>
            <a:r>
              <a:rPr lang="en-AU" sz="2200" dirty="0" smtClean="0">
                <a:latin typeface="Helvetica" pitchFamily="34" charset="0"/>
              </a:rPr>
              <a:t>Allocating responsibilities</a:t>
            </a:r>
          </a:p>
          <a:p>
            <a:pPr>
              <a:spcBef>
                <a:spcPts val="600"/>
              </a:spcBef>
              <a:spcAft>
                <a:spcPts val="1200"/>
              </a:spcAft>
            </a:pPr>
            <a:r>
              <a:rPr lang="en-AU" sz="2200" dirty="0" smtClean="0">
                <a:latin typeface="Helvetica" pitchFamily="34" charset="0"/>
              </a:rPr>
              <a:t>Enrolling or registering learners in training </a:t>
            </a:r>
            <a:br>
              <a:rPr lang="en-AU" sz="2200" dirty="0" smtClean="0">
                <a:latin typeface="Helvetica" pitchFamily="34" charset="0"/>
              </a:rPr>
            </a:br>
            <a:r>
              <a:rPr lang="en-AU" sz="2200" dirty="0" smtClean="0">
                <a:latin typeface="Helvetica" pitchFamily="34" charset="0"/>
              </a:rPr>
              <a:t>events</a:t>
            </a:r>
          </a:p>
          <a:p>
            <a:pPr>
              <a:spcBef>
                <a:spcPts val="600"/>
              </a:spcBef>
              <a:spcAft>
                <a:spcPts val="1200"/>
              </a:spcAft>
            </a:pPr>
            <a:r>
              <a:rPr lang="en-AU" sz="2200" dirty="0" smtClean="0">
                <a:latin typeface="Helvetica" pitchFamily="34" charset="0"/>
              </a:rPr>
              <a:t>Supplying learners with event information</a:t>
            </a:r>
          </a:p>
          <a:p>
            <a:pPr>
              <a:spcBef>
                <a:spcPts val="600"/>
              </a:spcBef>
              <a:spcAft>
                <a:spcPts val="1200"/>
              </a:spcAft>
            </a:pPr>
            <a:r>
              <a:rPr lang="en-AU" sz="2200" dirty="0" smtClean="0">
                <a:latin typeface="Helvetica" pitchFamily="34" charset="0"/>
              </a:rPr>
              <a:t>Developing a continual learning framework</a:t>
            </a:r>
          </a:p>
          <a:p>
            <a:pPr>
              <a:spcBef>
                <a:spcPts val="600"/>
              </a:spcBef>
              <a:spcAft>
                <a:spcPts val="1200"/>
              </a:spcAft>
            </a:pPr>
            <a:r>
              <a:rPr lang="en-AU" sz="2200" dirty="0" smtClean="0">
                <a:latin typeface="Helvetica" pitchFamily="34" charset="0"/>
              </a:rPr>
              <a:t>Authorise staff rosters and payments</a:t>
            </a:r>
          </a:p>
          <a:p>
            <a:pPr>
              <a:spcBef>
                <a:spcPts val="600"/>
              </a:spcBef>
              <a:spcAft>
                <a:spcPts val="1200"/>
              </a:spcAft>
            </a:pPr>
            <a:r>
              <a:rPr lang="en-AU" sz="2200" dirty="0" smtClean="0">
                <a:latin typeface="Helvetica" pitchFamily="34" charset="0"/>
              </a:rPr>
              <a:t>Determining criteria to be used when evaluating                         post-participation in training events</a:t>
            </a:r>
          </a:p>
          <a:p>
            <a:endParaRPr lang="en-AU" sz="2400" dirty="0" smtClean="0"/>
          </a:p>
          <a:p>
            <a:endParaRPr lang="en-AU" sz="2400" dirty="0" smtClean="0"/>
          </a:p>
          <a:p>
            <a:pPr>
              <a:buNone/>
            </a:pPr>
            <a:endParaRPr lang="en-AU" sz="2400" dirty="0" smtClean="0"/>
          </a:p>
          <a:p>
            <a:pPr lvl="0">
              <a:spcBef>
                <a:spcPts val="600"/>
              </a:spcBef>
              <a:spcAft>
                <a:spcPts val="1200"/>
              </a:spcAft>
              <a:buNone/>
            </a:pPr>
            <a:endParaRPr lang="en-AU" sz="2200" dirty="0" smtClean="0">
              <a:latin typeface="Helvetica" pitchFamily="34" charset="0"/>
            </a:endParaRPr>
          </a:p>
          <a:p>
            <a:pPr lvl="0"/>
            <a:endParaRPr lang="en-AU" sz="2400" dirty="0" smtClean="0"/>
          </a:p>
          <a:p>
            <a:pPr lvl="0">
              <a:buNone/>
            </a:pPr>
            <a:endParaRPr lang="en-AU" sz="2400" dirty="0"/>
          </a:p>
        </p:txBody>
      </p:sp>
      <p:sp>
        <p:nvSpPr>
          <p:cNvPr id="4" name="Slide Number Placeholder 3"/>
          <p:cNvSpPr>
            <a:spLocks noGrp="1"/>
          </p:cNvSpPr>
          <p:nvPr>
            <p:ph type="sldNum" sz="quarter" idx="12"/>
          </p:nvPr>
        </p:nvSpPr>
        <p:spPr/>
        <p:txBody>
          <a:bodyPr/>
          <a:lstStyle/>
          <a:p>
            <a:r>
              <a:rPr lang="en-US" dirty="0" smtClean="0"/>
              <a:t> </a:t>
            </a:r>
            <a:r>
              <a:rPr lang="en-US" sz="1100" dirty="0" smtClean="0">
                <a:latin typeface="Helvetica" pitchFamily="34" charset="0"/>
              </a:rPr>
              <a:t>Slide </a:t>
            </a:r>
            <a:fld id="{90BDF71C-F485-43AE-8825-5070AF1EA8C9}" type="slidenum">
              <a:rPr lang="en-US" sz="1100" smtClean="0">
                <a:latin typeface="Helvetica" pitchFamily="34" charset="0"/>
              </a:rPr>
              <a:pPr/>
              <a:t>66</a:t>
            </a:fld>
            <a:endParaRPr lang="en-US" sz="1100" dirty="0">
              <a:latin typeface="Helvetica" pitchFamily="34" charset="0"/>
            </a:endParaRPr>
          </a:p>
        </p:txBody>
      </p:sp>
      <p:pic>
        <p:nvPicPr>
          <p:cNvPr id="6" name="Picture 5" descr="MP900400286.JPG"/>
          <p:cNvPicPr/>
          <p:nvPr/>
        </p:nvPicPr>
        <p:blipFill>
          <a:blip r:embed="rId3" cstate="print"/>
          <a:stretch>
            <a:fillRect/>
          </a:stretch>
        </p:blipFill>
        <p:spPr>
          <a:xfrm>
            <a:off x="7236296" y="2780928"/>
            <a:ext cx="1133475" cy="1695450"/>
          </a:xfrm>
          <a:prstGeom prst="rect">
            <a:avLst/>
          </a:prstGeom>
        </p:spPr>
      </p:pic>
    </p:spTree>
  </p:cSld>
  <p:clrMapOvr>
    <a:masterClrMapping/>
  </p:clrMapOvr>
  <p:timing>
    <p:tnLst>
      <p:par>
        <p:cTn id="1" dur="indefinite" restart="never" nodeType="tmRoot"/>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208912" cy="1143000"/>
          </a:xfrm>
        </p:spPr>
        <p:txBody>
          <a:bodyPr>
            <a:normAutofit/>
          </a:bodyPr>
          <a:lstStyle/>
          <a:p>
            <a:r>
              <a:rPr lang="en-AU" sz="3400" b="1" dirty="0" smtClean="0">
                <a:solidFill>
                  <a:srgbClr val="FF6600"/>
                </a:solidFill>
                <a:latin typeface="Helvetica" pitchFamily="34" charset="0"/>
              </a:rPr>
              <a:t>Share the implementation plan for training events with stakeholders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5301208"/>
          </a:xfrm>
        </p:spPr>
        <p:txBody>
          <a:bodyPr>
            <a:normAutofit/>
          </a:bodyPr>
          <a:lstStyle/>
          <a:p>
            <a:pPr>
              <a:spcBef>
                <a:spcPts val="600"/>
              </a:spcBef>
              <a:spcAft>
                <a:spcPts val="1200"/>
              </a:spcAft>
              <a:buNone/>
            </a:pPr>
            <a:r>
              <a:rPr lang="en-AU" sz="2200" b="1" dirty="0" smtClean="0">
                <a:latin typeface="Helvetica" pitchFamily="34" charset="0"/>
              </a:rPr>
              <a:t>Importance of communication</a:t>
            </a:r>
          </a:p>
          <a:p>
            <a:pPr>
              <a:spcBef>
                <a:spcPts val="600"/>
              </a:spcBef>
              <a:spcAft>
                <a:spcPts val="1200"/>
              </a:spcAft>
            </a:pPr>
            <a:r>
              <a:rPr lang="en-AU" sz="2200" dirty="0" smtClean="0">
                <a:latin typeface="Helvetica" pitchFamily="34" charset="0"/>
              </a:rPr>
              <a:t>Communication is essential when planning and implementing training plans</a:t>
            </a:r>
          </a:p>
          <a:p>
            <a:pPr>
              <a:spcBef>
                <a:spcPts val="600"/>
              </a:spcBef>
              <a:spcAft>
                <a:spcPts val="1200"/>
              </a:spcAft>
            </a:pPr>
            <a:r>
              <a:rPr lang="en-AU" sz="2200" dirty="0" smtClean="0">
                <a:latin typeface="Helvetica" pitchFamily="34" charset="0"/>
              </a:rPr>
              <a:t>Each stakeholder plays an important part </a:t>
            </a:r>
            <a:br>
              <a:rPr lang="en-AU" sz="2200" dirty="0" smtClean="0">
                <a:latin typeface="Helvetica" pitchFamily="34" charset="0"/>
              </a:rPr>
            </a:br>
            <a:r>
              <a:rPr lang="en-AU" sz="2200" dirty="0" smtClean="0">
                <a:latin typeface="Helvetica" pitchFamily="34" charset="0"/>
              </a:rPr>
              <a:t>in the overall training strategy</a:t>
            </a:r>
          </a:p>
          <a:p>
            <a:pPr>
              <a:spcBef>
                <a:spcPts val="600"/>
              </a:spcBef>
              <a:spcAft>
                <a:spcPts val="1200"/>
              </a:spcAft>
            </a:pPr>
            <a:r>
              <a:rPr lang="en-AU" sz="2200" dirty="0" smtClean="0">
                <a:latin typeface="Helvetica" pitchFamily="34" charset="0"/>
              </a:rPr>
              <a:t>Their understanding of their roles and what is expected cannot be understated</a:t>
            </a:r>
          </a:p>
          <a:p>
            <a:pPr>
              <a:spcBef>
                <a:spcPts val="600"/>
              </a:spcBef>
              <a:spcAft>
                <a:spcPts val="1200"/>
              </a:spcAft>
            </a:pPr>
            <a:r>
              <a:rPr lang="en-AU" sz="2200" dirty="0" smtClean="0">
                <a:latin typeface="Helvetica" pitchFamily="34" charset="0"/>
              </a:rPr>
              <a:t>Like in any activity within a hospitality organisation, each team member must work together towards an overall objective</a:t>
            </a:r>
          </a:p>
          <a:p>
            <a:endParaRPr lang="en-AU" sz="2400" dirty="0" smtClean="0"/>
          </a:p>
          <a:p>
            <a:endParaRPr lang="en-AU" sz="2400" dirty="0" smtClean="0"/>
          </a:p>
          <a:p>
            <a:pPr>
              <a:buNone/>
            </a:pPr>
            <a:endParaRPr lang="en-AU" sz="2400" dirty="0" smtClean="0"/>
          </a:p>
          <a:p>
            <a:pPr lvl="0">
              <a:spcBef>
                <a:spcPts val="600"/>
              </a:spcBef>
              <a:spcAft>
                <a:spcPts val="1200"/>
              </a:spcAft>
              <a:buNone/>
            </a:pPr>
            <a:endParaRPr lang="en-AU" sz="2200" dirty="0" smtClean="0">
              <a:latin typeface="Helvetica" pitchFamily="34" charset="0"/>
            </a:endParaRPr>
          </a:p>
          <a:p>
            <a:pPr lvl="0"/>
            <a:endParaRPr lang="en-AU" sz="2400" dirty="0" smtClean="0"/>
          </a:p>
          <a:p>
            <a:pPr lvl="0">
              <a:buNone/>
            </a:pPr>
            <a:endParaRPr lang="en-AU" sz="2400" dirty="0"/>
          </a:p>
        </p:txBody>
      </p:sp>
      <p:sp>
        <p:nvSpPr>
          <p:cNvPr id="4" name="Slide Number Placeholder 3"/>
          <p:cNvSpPr>
            <a:spLocks noGrp="1"/>
          </p:cNvSpPr>
          <p:nvPr>
            <p:ph type="sldNum" sz="quarter" idx="12"/>
          </p:nvPr>
        </p:nvSpPr>
        <p:spPr/>
        <p:txBody>
          <a:bodyPr/>
          <a:lstStyle/>
          <a:p>
            <a:r>
              <a:rPr lang="en-US" dirty="0" smtClean="0"/>
              <a:t> </a:t>
            </a:r>
            <a:r>
              <a:rPr lang="en-US" sz="1100" dirty="0" smtClean="0">
                <a:latin typeface="Helvetica" pitchFamily="34" charset="0"/>
              </a:rPr>
              <a:t>Slide </a:t>
            </a:r>
            <a:fld id="{90BDF71C-F485-43AE-8825-5070AF1EA8C9}" type="slidenum">
              <a:rPr lang="en-US" sz="1100" smtClean="0">
                <a:latin typeface="Helvetica" pitchFamily="34" charset="0"/>
              </a:rPr>
              <a:pPr/>
              <a:t>67</a:t>
            </a:fld>
            <a:endParaRPr lang="en-US" sz="1100" dirty="0">
              <a:latin typeface="Helvetica" pitchFamily="34" charset="0"/>
            </a:endParaRPr>
          </a:p>
        </p:txBody>
      </p:sp>
      <p:pic>
        <p:nvPicPr>
          <p:cNvPr id="3074" name="Picture 2" descr="C:\Documents and Settings\Godaishu\Local Settings\Temporary Internet Files\Content.IE5\QYNVKJ9D\MC900078706[1].wmf"/>
          <p:cNvPicPr>
            <a:picLocks noChangeAspect="1" noChangeArrowheads="1"/>
          </p:cNvPicPr>
          <p:nvPr/>
        </p:nvPicPr>
        <p:blipFill>
          <a:blip r:embed="rId3" cstate="print"/>
          <a:srcRect/>
          <a:stretch>
            <a:fillRect/>
          </a:stretch>
        </p:blipFill>
        <p:spPr bwMode="auto">
          <a:xfrm>
            <a:off x="6516216" y="2636912"/>
            <a:ext cx="2016224" cy="1188029"/>
          </a:xfrm>
          <a:prstGeom prst="rect">
            <a:avLst/>
          </a:prstGeom>
          <a:noFill/>
        </p:spPr>
      </p:pic>
    </p:spTree>
  </p:cSld>
  <p:clrMapOvr>
    <a:masterClrMapping/>
  </p:clrMapOvr>
  <p:timing>
    <p:tnLst>
      <p:par>
        <p:cTn id="1" dur="indefinite" restart="never" nodeType="tmRoot"/>
      </p:par>
    </p:tn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208912" cy="1143000"/>
          </a:xfrm>
        </p:spPr>
        <p:txBody>
          <a:bodyPr>
            <a:normAutofit/>
          </a:bodyPr>
          <a:lstStyle/>
          <a:p>
            <a:r>
              <a:rPr lang="en-AU" sz="3400" b="1" dirty="0" smtClean="0">
                <a:solidFill>
                  <a:srgbClr val="FF6600"/>
                </a:solidFill>
                <a:latin typeface="Helvetica" pitchFamily="34" charset="0"/>
              </a:rPr>
              <a:t>Share the implementation plan for training events with stakeholders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5301208"/>
          </a:xfrm>
        </p:spPr>
        <p:txBody>
          <a:bodyPr>
            <a:normAutofit/>
          </a:bodyPr>
          <a:lstStyle/>
          <a:p>
            <a:pPr>
              <a:spcBef>
                <a:spcPts val="600"/>
              </a:spcBef>
              <a:spcAft>
                <a:spcPts val="1200"/>
              </a:spcAft>
              <a:buNone/>
            </a:pPr>
            <a:r>
              <a:rPr lang="en-AU" sz="2200" b="1" dirty="0" smtClean="0">
                <a:latin typeface="Helvetica" pitchFamily="34" charset="0"/>
              </a:rPr>
              <a:t>Importance of communication</a:t>
            </a:r>
          </a:p>
          <a:p>
            <a:pPr>
              <a:spcBef>
                <a:spcPts val="600"/>
              </a:spcBef>
              <a:spcAft>
                <a:spcPts val="1200"/>
              </a:spcAft>
              <a:buNone/>
            </a:pPr>
            <a:r>
              <a:rPr lang="en-AU" sz="2200" dirty="0" smtClean="0">
                <a:latin typeface="Helvetica" pitchFamily="34" charset="0"/>
              </a:rPr>
              <a:t>All stakeholders need to have an understanding of:</a:t>
            </a:r>
          </a:p>
          <a:p>
            <a:pPr lvl="0">
              <a:spcBef>
                <a:spcPts val="600"/>
              </a:spcBef>
              <a:spcAft>
                <a:spcPts val="1200"/>
              </a:spcAft>
            </a:pPr>
            <a:r>
              <a:rPr lang="en-AU" sz="2200" dirty="0" smtClean="0">
                <a:latin typeface="Helvetica" pitchFamily="34" charset="0"/>
              </a:rPr>
              <a:t>What is going to take place</a:t>
            </a:r>
          </a:p>
          <a:p>
            <a:pPr lvl="0">
              <a:spcBef>
                <a:spcPts val="600"/>
              </a:spcBef>
              <a:spcAft>
                <a:spcPts val="1200"/>
              </a:spcAft>
            </a:pPr>
            <a:r>
              <a:rPr lang="en-AU" sz="2200" dirty="0" smtClean="0">
                <a:latin typeface="Helvetica" pitchFamily="34" charset="0"/>
              </a:rPr>
              <a:t>When activities will take place</a:t>
            </a:r>
          </a:p>
          <a:p>
            <a:pPr lvl="0">
              <a:spcBef>
                <a:spcPts val="600"/>
              </a:spcBef>
              <a:spcAft>
                <a:spcPts val="1200"/>
              </a:spcAft>
            </a:pPr>
            <a:r>
              <a:rPr lang="en-AU" sz="2200" dirty="0" smtClean="0">
                <a:latin typeface="Helvetica" pitchFamily="34" charset="0"/>
              </a:rPr>
              <a:t>What roles and responsibilities each person has</a:t>
            </a:r>
            <a:endParaRPr lang="en-AU" sz="2400" dirty="0" smtClean="0"/>
          </a:p>
          <a:p>
            <a:pPr lvl="0">
              <a:buNone/>
            </a:pPr>
            <a:endParaRPr lang="en-AU" sz="2400" dirty="0"/>
          </a:p>
        </p:txBody>
      </p:sp>
      <p:sp>
        <p:nvSpPr>
          <p:cNvPr id="4" name="Slide Number Placeholder 3"/>
          <p:cNvSpPr>
            <a:spLocks noGrp="1"/>
          </p:cNvSpPr>
          <p:nvPr>
            <p:ph type="sldNum" sz="quarter" idx="12"/>
          </p:nvPr>
        </p:nvSpPr>
        <p:spPr/>
        <p:txBody>
          <a:bodyPr/>
          <a:lstStyle/>
          <a:p>
            <a:r>
              <a:rPr lang="en-US" dirty="0" smtClean="0"/>
              <a:t> </a:t>
            </a:r>
            <a:r>
              <a:rPr lang="en-US" sz="1100" dirty="0" smtClean="0">
                <a:latin typeface="Helvetica" pitchFamily="34" charset="0"/>
              </a:rPr>
              <a:t>Slide </a:t>
            </a:r>
            <a:fld id="{90BDF71C-F485-43AE-8825-5070AF1EA8C9}" type="slidenum">
              <a:rPr lang="en-US" sz="1100" smtClean="0">
                <a:latin typeface="Helvetica" pitchFamily="34" charset="0"/>
              </a:rPr>
              <a:pPr/>
              <a:t>68</a:t>
            </a:fld>
            <a:endParaRPr lang="en-US" sz="1100" dirty="0">
              <a:latin typeface="Helvetica" pitchFamily="34" charset="0"/>
            </a:endParaRPr>
          </a:p>
        </p:txBody>
      </p:sp>
      <p:pic>
        <p:nvPicPr>
          <p:cNvPr id="5" name="Picture 4" descr="MP900385528.JPG"/>
          <p:cNvPicPr/>
          <p:nvPr/>
        </p:nvPicPr>
        <p:blipFill>
          <a:blip r:embed="rId3" cstate="print"/>
          <a:stretch>
            <a:fillRect/>
          </a:stretch>
        </p:blipFill>
        <p:spPr>
          <a:xfrm>
            <a:off x="3707904" y="4365104"/>
            <a:ext cx="2029569" cy="1531987"/>
          </a:xfrm>
          <a:prstGeom prst="rect">
            <a:avLst/>
          </a:prstGeom>
        </p:spPr>
      </p:pic>
    </p:spTree>
  </p:cSld>
  <p:clrMapOvr>
    <a:masterClrMapping/>
  </p:clrMapOvr>
  <p:timing>
    <p:tnLst>
      <p:par>
        <p:cTn id="1" dur="indefinite" restart="never" nodeType="tmRoot"/>
      </p:par>
    </p:tn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208912" cy="1143000"/>
          </a:xfrm>
        </p:spPr>
        <p:txBody>
          <a:bodyPr>
            <a:normAutofit/>
          </a:bodyPr>
          <a:lstStyle/>
          <a:p>
            <a:r>
              <a:rPr lang="en-AU" sz="3400" b="1" dirty="0" smtClean="0">
                <a:solidFill>
                  <a:srgbClr val="FF6600"/>
                </a:solidFill>
                <a:latin typeface="Helvetica" pitchFamily="34" charset="0"/>
              </a:rPr>
              <a:t>Share the implementation plan for training events with stakeholders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5301208"/>
          </a:xfrm>
        </p:spPr>
        <p:txBody>
          <a:bodyPr>
            <a:normAutofit/>
          </a:bodyPr>
          <a:lstStyle/>
          <a:p>
            <a:pPr>
              <a:spcBef>
                <a:spcPts val="600"/>
              </a:spcBef>
              <a:spcAft>
                <a:spcPts val="1200"/>
              </a:spcAft>
              <a:buNone/>
            </a:pPr>
            <a:r>
              <a:rPr lang="en-AU" sz="2200" b="1" dirty="0" smtClean="0">
                <a:latin typeface="Helvetica" pitchFamily="34" charset="0"/>
              </a:rPr>
              <a:t>Sharing the implementation plan</a:t>
            </a:r>
            <a:endParaRPr lang="en-AU" sz="2200" dirty="0" smtClean="0">
              <a:latin typeface="Helvetica" pitchFamily="34" charset="0"/>
            </a:endParaRPr>
          </a:p>
          <a:p>
            <a:pPr>
              <a:spcBef>
                <a:spcPts val="600"/>
              </a:spcBef>
              <a:spcAft>
                <a:spcPts val="1200"/>
              </a:spcAft>
            </a:pPr>
            <a:r>
              <a:rPr lang="en-AU" sz="2200" dirty="0" smtClean="0">
                <a:latin typeface="Helvetica" pitchFamily="34" charset="0"/>
              </a:rPr>
              <a:t>Using electronic communication</a:t>
            </a:r>
          </a:p>
          <a:p>
            <a:pPr>
              <a:spcBef>
                <a:spcPts val="600"/>
              </a:spcBef>
              <a:spcAft>
                <a:spcPts val="1200"/>
              </a:spcAft>
            </a:pPr>
            <a:r>
              <a:rPr lang="en-AU" sz="2200" dirty="0" smtClean="0">
                <a:latin typeface="Helvetica" pitchFamily="34" charset="0"/>
              </a:rPr>
              <a:t>Providing hard-copy information</a:t>
            </a:r>
          </a:p>
          <a:p>
            <a:pPr>
              <a:spcBef>
                <a:spcPts val="600"/>
              </a:spcBef>
              <a:spcAft>
                <a:spcPts val="1200"/>
              </a:spcAft>
            </a:pPr>
            <a:r>
              <a:rPr lang="en-AU" sz="2200" dirty="0" smtClean="0">
                <a:latin typeface="Helvetica" pitchFamily="34" charset="0"/>
              </a:rPr>
              <a:t>Discussing in meetings</a:t>
            </a:r>
          </a:p>
          <a:p>
            <a:pPr>
              <a:spcBef>
                <a:spcPts val="600"/>
              </a:spcBef>
              <a:spcAft>
                <a:spcPts val="1200"/>
              </a:spcAft>
            </a:pPr>
            <a:r>
              <a:rPr lang="en-AU" sz="2200" dirty="0" smtClean="0">
                <a:latin typeface="Helvetica" pitchFamily="34" charset="0"/>
              </a:rPr>
              <a:t>Conducting training event-specific information sessions</a:t>
            </a:r>
          </a:p>
          <a:p>
            <a:endParaRPr lang="en-AU" sz="2400" dirty="0" smtClean="0"/>
          </a:p>
          <a:p>
            <a:endParaRPr lang="en-AU" sz="2400" dirty="0" smtClean="0"/>
          </a:p>
          <a:p>
            <a:endParaRPr lang="en-AU" sz="2400" dirty="0" smtClean="0"/>
          </a:p>
          <a:p>
            <a:pPr>
              <a:buNone/>
            </a:pPr>
            <a:endParaRPr lang="en-AU" sz="2400" dirty="0" smtClean="0"/>
          </a:p>
          <a:p>
            <a:pPr lvl="0">
              <a:spcBef>
                <a:spcPts val="600"/>
              </a:spcBef>
              <a:spcAft>
                <a:spcPts val="1200"/>
              </a:spcAft>
              <a:buNone/>
            </a:pPr>
            <a:endParaRPr lang="en-AU" sz="2200" dirty="0" smtClean="0">
              <a:latin typeface="Helvetica" pitchFamily="34" charset="0"/>
            </a:endParaRPr>
          </a:p>
          <a:p>
            <a:pPr lvl="0"/>
            <a:endParaRPr lang="en-AU" sz="2400" dirty="0" smtClean="0"/>
          </a:p>
          <a:p>
            <a:pPr lvl="0">
              <a:buNone/>
            </a:pPr>
            <a:endParaRPr lang="en-AU" sz="2400" dirty="0"/>
          </a:p>
        </p:txBody>
      </p:sp>
      <p:sp>
        <p:nvSpPr>
          <p:cNvPr id="4" name="Slide Number Placeholder 3"/>
          <p:cNvSpPr>
            <a:spLocks noGrp="1"/>
          </p:cNvSpPr>
          <p:nvPr>
            <p:ph type="sldNum" sz="quarter" idx="12"/>
          </p:nvPr>
        </p:nvSpPr>
        <p:spPr/>
        <p:txBody>
          <a:bodyPr/>
          <a:lstStyle/>
          <a:p>
            <a:r>
              <a:rPr lang="en-US" dirty="0" smtClean="0"/>
              <a:t> </a:t>
            </a:r>
            <a:r>
              <a:rPr lang="en-US" sz="1100" dirty="0" smtClean="0">
                <a:latin typeface="Helvetica" pitchFamily="34" charset="0"/>
              </a:rPr>
              <a:t>Slide </a:t>
            </a:r>
            <a:fld id="{90BDF71C-F485-43AE-8825-5070AF1EA8C9}" type="slidenum">
              <a:rPr lang="en-US" sz="1100" smtClean="0">
                <a:latin typeface="Helvetica" pitchFamily="34" charset="0"/>
              </a:rPr>
              <a:pPr/>
              <a:t>69</a:t>
            </a:fld>
            <a:endParaRPr lang="en-US" sz="1100" dirty="0">
              <a:latin typeface="Helvetica" pitchFamily="34" charset="0"/>
            </a:endParaRPr>
          </a:p>
        </p:txBody>
      </p:sp>
      <p:pic>
        <p:nvPicPr>
          <p:cNvPr id="6" name="Picture 5" descr="MP900438650.JPG"/>
          <p:cNvPicPr/>
          <p:nvPr/>
        </p:nvPicPr>
        <p:blipFill>
          <a:blip r:embed="rId3" cstate="print"/>
          <a:stretch>
            <a:fillRect/>
          </a:stretch>
        </p:blipFill>
        <p:spPr>
          <a:xfrm>
            <a:off x="6660232" y="1772816"/>
            <a:ext cx="1238250" cy="1905000"/>
          </a:xfrm>
          <a:prstGeom prst="rect">
            <a:avLst/>
          </a:prstGeom>
        </p:spPr>
      </p:pic>
    </p:spTree>
  </p:cSld>
  <p:clrMapOvr>
    <a:masterClrMapping/>
  </p:clrMapOvr>
  <p:timing>
    <p:tnLst>
      <p:par>
        <p:cTn id="1" dur="indefinite" restart="never" nodeType="tmRoot"/>
      </p:par>
    </p:tn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208912" cy="1143000"/>
          </a:xfrm>
        </p:spPr>
        <p:txBody>
          <a:bodyPr>
            <a:normAutofit fontScale="90000"/>
          </a:bodyPr>
          <a:lstStyle/>
          <a:p>
            <a:r>
              <a:rPr lang="en-AU" sz="3400" b="1" dirty="0" smtClean="0">
                <a:solidFill>
                  <a:srgbClr val="FF6600"/>
                </a:solidFill>
                <a:latin typeface="Helvetica" pitchFamily="34" charset="0"/>
              </a:rPr>
              <a:t>Encourage identified learners to engage with established training events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5301208"/>
          </a:xfrm>
        </p:spPr>
        <p:txBody>
          <a:bodyPr>
            <a:normAutofit/>
          </a:bodyPr>
          <a:lstStyle/>
          <a:p>
            <a:pPr>
              <a:spcBef>
                <a:spcPts val="600"/>
              </a:spcBef>
              <a:spcAft>
                <a:spcPts val="1200"/>
              </a:spcAft>
              <a:buNone/>
            </a:pPr>
            <a:r>
              <a:rPr lang="en-AU" sz="2200" b="1" dirty="0" smtClean="0">
                <a:latin typeface="Helvetica" pitchFamily="34" charset="0"/>
              </a:rPr>
              <a:t>Explain purpose of training</a:t>
            </a:r>
          </a:p>
          <a:p>
            <a:pPr lvl="0">
              <a:spcBef>
                <a:spcPts val="600"/>
              </a:spcBef>
              <a:spcAft>
                <a:spcPts val="1200"/>
              </a:spcAft>
            </a:pPr>
            <a:r>
              <a:rPr lang="en-AU" sz="2200" dirty="0" smtClean="0">
                <a:latin typeface="Helvetica" pitchFamily="34" charset="0"/>
              </a:rPr>
              <a:t>To increase product knowledge </a:t>
            </a:r>
          </a:p>
          <a:p>
            <a:pPr lvl="0">
              <a:spcBef>
                <a:spcPts val="600"/>
              </a:spcBef>
              <a:spcAft>
                <a:spcPts val="1200"/>
              </a:spcAft>
            </a:pPr>
            <a:r>
              <a:rPr lang="en-AU" sz="2200" dirty="0" smtClean="0">
                <a:latin typeface="Helvetica" pitchFamily="34" charset="0"/>
              </a:rPr>
              <a:t>To address a legally-imposed compliance requirement </a:t>
            </a:r>
          </a:p>
          <a:p>
            <a:pPr lvl="0">
              <a:spcBef>
                <a:spcPts val="600"/>
              </a:spcBef>
              <a:spcAft>
                <a:spcPts val="1200"/>
              </a:spcAft>
            </a:pPr>
            <a:r>
              <a:rPr lang="en-AU" sz="2200" dirty="0" smtClean="0">
                <a:latin typeface="Helvetica" pitchFamily="34" charset="0"/>
              </a:rPr>
              <a:t>To increase workplace safety </a:t>
            </a:r>
          </a:p>
          <a:p>
            <a:pPr lvl="0">
              <a:spcBef>
                <a:spcPts val="600"/>
              </a:spcBef>
              <a:spcAft>
                <a:spcPts val="1200"/>
              </a:spcAft>
            </a:pPr>
            <a:r>
              <a:rPr lang="en-AU" sz="2200" dirty="0" smtClean="0">
                <a:latin typeface="Helvetica" pitchFamily="34" charset="0"/>
              </a:rPr>
              <a:t>To reduce wastage </a:t>
            </a:r>
          </a:p>
          <a:p>
            <a:pPr lvl="0">
              <a:spcBef>
                <a:spcPts val="600"/>
              </a:spcBef>
              <a:spcAft>
                <a:spcPts val="1200"/>
              </a:spcAft>
            </a:pPr>
            <a:r>
              <a:rPr lang="en-AU" sz="2200" dirty="0" smtClean="0">
                <a:latin typeface="Helvetica" pitchFamily="34" charset="0"/>
              </a:rPr>
              <a:t>To increase productivity </a:t>
            </a:r>
          </a:p>
          <a:p>
            <a:endParaRPr lang="en-AU" sz="2400" dirty="0" smtClean="0"/>
          </a:p>
          <a:p>
            <a:endParaRPr lang="en-AU" sz="2400" dirty="0" smtClean="0"/>
          </a:p>
          <a:p>
            <a:endParaRPr lang="en-AU" sz="2400" dirty="0" smtClean="0"/>
          </a:p>
          <a:p>
            <a:endParaRPr lang="en-AU" sz="2400" dirty="0" smtClean="0"/>
          </a:p>
          <a:p>
            <a:pPr>
              <a:buNone/>
            </a:pPr>
            <a:endParaRPr lang="en-AU" sz="2400" dirty="0" smtClean="0"/>
          </a:p>
          <a:p>
            <a:pPr lvl="0">
              <a:spcBef>
                <a:spcPts val="600"/>
              </a:spcBef>
              <a:spcAft>
                <a:spcPts val="1200"/>
              </a:spcAft>
              <a:buNone/>
            </a:pPr>
            <a:endParaRPr lang="en-AU" sz="2200" dirty="0" smtClean="0">
              <a:latin typeface="Helvetica" pitchFamily="34" charset="0"/>
            </a:endParaRPr>
          </a:p>
          <a:p>
            <a:pPr lvl="0"/>
            <a:endParaRPr lang="en-AU" sz="2400" dirty="0" smtClean="0"/>
          </a:p>
          <a:p>
            <a:pPr lvl="0">
              <a:buNone/>
            </a:pPr>
            <a:endParaRPr lang="en-AU" sz="2400" dirty="0"/>
          </a:p>
        </p:txBody>
      </p:sp>
      <p:sp>
        <p:nvSpPr>
          <p:cNvPr id="4" name="Slide Number Placeholder 3"/>
          <p:cNvSpPr>
            <a:spLocks noGrp="1"/>
          </p:cNvSpPr>
          <p:nvPr>
            <p:ph type="sldNum" sz="quarter" idx="12"/>
          </p:nvPr>
        </p:nvSpPr>
        <p:spPr/>
        <p:txBody>
          <a:bodyPr/>
          <a:lstStyle/>
          <a:p>
            <a:r>
              <a:rPr lang="en-US" dirty="0" smtClean="0"/>
              <a:t> </a:t>
            </a:r>
            <a:r>
              <a:rPr lang="en-US" sz="1100" dirty="0" smtClean="0">
                <a:latin typeface="Helvetica" pitchFamily="34" charset="0"/>
              </a:rPr>
              <a:t>Slide </a:t>
            </a:r>
            <a:fld id="{90BDF71C-F485-43AE-8825-5070AF1EA8C9}" type="slidenum">
              <a:rPr lang="en-US" sz="1100" smtClean="0">
                <a:latin typeface="Helvetica" pitchFamily="34" charset="0"/>
              </a:rPr>
              <a:pPr/>
              <a:t>70</a:t>
            </a:fld>
            <a:endParaRPr lang="en-US" sz="1100" dirty="0">
              <a:latin typeface="Helvetica" pitchFamily="34" charset="0"/>
            </a:endParaRPr>
          </a:p>
        </p:txBody>
      </p:sp>
      <p:pic>
        <p:nvPicPr>
          <p:cNvPr id="7" name="Picture 6" descr="MP900431735.JPG"/>
          <p:cNvPicPr/>
          <p:nvPr/>
        </p:nvPicPr>
        <p:blipFill>
          <a:blip r:embed="rId3" cstate="print"/>
          <a:stretch>
            <a:fillRect/>
          </a:stretch>
        </p:blipFill>
        <p:spPr>
          <a:xfrm>
            <a:off x="6516216" y="3429000"/>
            <a:ext cx="1438275" cy="1438275"/>
          </a:xfrm>
          <a:prstGeom prst="rect">
            <a:avLst/>
          </a:prstGeom>
        </p:spPr>
      </p:pic>
    </p:spTree>
  </p:cSld>
  <p:clrMapOvr>
    <a:masterClrMapping/>
  </p:clrMapOvr>
  <p:timing>
    <p:tnLst>
      <p:par>
        <p:cTn id="1" dur="indefinite" restart="never" nodeType="tmRoot"/>
      </p:par>
    </p:tn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208912" cy="1143000"/>
          </a:xfrm>
        </p:spPr>
        <p:txBody>
          <a:bodyPr>
            <a:normAutofit fontScale="90000"/>
          </a:bodyPr>
          <a:lstStyle/>
          <a:p>
            <a:r>
              <a:rPr lang="en-AU" sz="3400" b="1" dirty="0" smtClean="0">
                <a:solidFill>
                  <a:srgbClr val="FF6600"/>
                </a:solidFill>
                <a:latin typeface="Helvetica" pitchFamily="34" charset="0"/>
              </a:rPr>
              <a:t>Encourage identified learners to engage with established training events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5301208"/>
          </a:xfrm>
        </p:spPr>
        <p:txBody>
          <a:bodyPr>
            <a:normAutofit/>
          </a:bodyPr>
          <a:lstStyle/>
          <a:p>
            <a:pPr>
              <a:spcBef>
                <a:spcPts val="600"/>
              </a:spcBef>
              <a:spcAft>
                <a:spcPts val="1200"/>
              </a:spcAft>
              <a:buNone/>
            </a:pPr>
            <a:r>
              <a:rPr lang="en-AU" sz="2200" b="1" dirty="0" smtClean="0">
                <a:latin typeface="Helvetica" pitchFamily="34" charset="0"/>
              </a:rPr>
              <a:t>Explain purpose of training</a:t>
            </a:r>
          </a:p>
          <a:p>
            <a:pPr lvl="0">
              <a:spcBef>
                <a:spcPts val="600"/>
              </a:spcBef>
              <a:spcAft>
                <a:spcPts val="1200"/>
              </a:spcAft>
            </a:pPr>
            <a:r>
              <a:rPr lang="en-AU" sz="2200" dirty="0" smtClean="0">
                <a:latin typeface="Helvetica" pitchFamily="34" charset="0"/>
              </a:rPr>
              <a:t>To raise service delivery standards </a:t>
            </a:r>
          </a:p>
          <a:p>
            <a:pPr lvl="0">
              <a:spcBef>
                <a:spcPts val="600"/>
              </a:spcBef>
              <a:spcAft>
                <a:spcPts val="1200"/>
              </a:spcAft>
            </a:pPr>
            <a:r>
              <a:rPr lang="en-AU" sz="2200" dirty="0" smtClean="0">
                <a:latin typeface="Helvetica" pitchFamily="34" charset="0"/>
              </a:rPr>
              <a:t>To change an existing skill to one required or </a:t>
            </a:r>
            <a:br>
              <a:rPr lang="en-AU" sz="2200" dirty="0" smtClean="0">
                <a:latin typeface="Helvetica" pitchFamily="34" charset="0"/>
              </a:rPr>
            </a:br>
            <a:r>
              <a:rPr lang="en-AU" sz="2200" dirty="0" smtClean="0">
                <a:latin typeface="Helvetica" pitchFamily="34" charset="0"/>
              </a:rPr>
              <a:t>preferred by the employer </a:t>
            </a:r>
          </a:p>
          <a:p>
            <a:pPr lvl="0">
              <a:spcBef>
                <a:spcPts val="600"/>
              </a:spcBef>
              <a:spcAft>
                <a:spcPts val="1200"/>
              </a:spcAft>
            </a:pPr>
            <a:r>
              <a:rPr lang="en-AU" sz="2200" dirty="0" smtClean="0">
                <a:latin typeface="Helvetica" pitchFamily="34" charset="0"/>
              </a:rPr>
              <a:t>To prepare the learner for extra duties, promotion or additional responsibilities</a:t>
            </a:r>
          </a:p>
          <a:p>
            <a:endParaRPr lang="en-AU" sz="2400" dirty="0" smtClean="0"/>
          </a:p>
          <a:p>
            <a:endParaRPr lang="en-AU" sz="2400" dirty="0" smtClean="0"/>
          </a:p>
          <a:p>
            <a:endParaRPr lang="en-AU" sz="2400" dirty="0" smtClean="0"/>
          </a:p>
          <a:p>
            <a:endParaRPr lang="en-AU" sz="2400" dirty="0" smtClean="0"/>
          </a:p>
          <a:p>
            <a:pPr>
              <a:buNone/>
            </a:pPr>
            <a:endParaRPr lang="en-AU" sz="2400" dirty="0" smtClean="0"/>
          </a:p>
          <a:p>
            <a:pPr lvl="0">
              <a:spcBef>
                <a:spcPts val="600"/>
              </a:spcBef>
              <a:spcAft>
                <a:spcPts val="1200"/>
              </a:spcAft>
              <a:buNone/>
            </a:pPr>
            <a:endParaRPr lang="en-AU" sz="2200" dirty="0" smtClean="0">
              <a:latin typeface="Helvetica" pitchFamily="34" charset="0"/>
            </a:endParaRPr>
          </a:p>
          <a:p>
            <a:pPr lvl="0"/>
            <a:endParaRPr lang="en-AU" sz="2400" dirty="0" smtClean="0"/>
          </a:p>
          <a:p>
            <a:pPr lvl="0">
              <a:buNone/>
            </a:pPr>
            <a:endParaRPr lang="en-AU" sz="2400" dirty="0"/>
          </a:p>
        </p:txBody>
      </p:sp>
      <p:sp>
        <p:nvSpPr>
          <p:cNvPr id="4" name="Slide Number Placeholder 3"/>
          <p:cNvSpPr>
            <a:spLocks noGrp="1"/>
          </p:cNvSpPr>
          <p:nvPr>
            <p:ph type="sldNum" sz="quarter" idx="12"/>
          </p:nvPr>
        </p:nvSpPr>
        <p:spPr/>
        <p:txBody>
          <a:bodyPr/>
          <a:lstStyle/>
          <a:p>
            <a:r>
              <a:rPr lang="en-US" dirty="0" smtClean="0"/>
              <a:t> </a:t>
            </a:r>
            <a:r>
              <a:rPr lang="en-US" sz="1100" dirty="0" smtClean="0">
                <a:latin typeface="Helvetica" pitchFamily="34" charset="0"/>
              </a:rPr>
              <a:t>Slide </a:t>
            </a:r>
            <a:fld id="{90BDF71C-F485-43AE-8825-5070AF1EA8C9}" type="slidenum">
              <a:rPr lang="en-US" sz="1100" smtClean="0">
                <a:latin typeface="Helvetica" pitchFamily="34" charset="0"/>
              </a:rPr>
              <a:pPr/>
              <a:t>71</a:t>
            </a:fld>
            <a:endParaRPr lang="en-US" sz="1100" dirty="0">
              <a:latin typeface="Helvetica" pitchFamily="34" charset="0"/>
            </a:endParaRPr>
          </a:p>
        </p:txBody>
      </p:sp>
      <p:pic>
        <p:nvPicPr>
          <p:cNvPr id="6" name="Picture 5" descr="Asian receptionist (2).jpg"/>
          <p:cNvPicPr/>
          <p:nvPr/>
        </p:nvPicPr>
        <p:blipFill>
          <a:blip r:embed="rId3" cstate="print"/>
          <a:srcRect l="31500"/>
          <a:stretch>
            <a:fillRect/>
          </a:stretch>
        </p:blipFill>
        <p:spPr>
          <a:xfrm>
            <a:off x="7020272" y="2132856"/>
            <a:ext cx="1252736" cy="1371600"/>
          </a:xfrm>
          <a:prstGeom prst="rect">
            <a:avLst/>
          </a:prstGeom>
        </p:spPr>
      </p:pic>
    </p:spTree>
  </p:cSld>
  <p:clrMapOvr>
    <a:masterClrMapping/>
  </p:clrMapOvr>
  <p:timing>
    <p:tnLst>
      <p:par>
        <p:cTn id="1" dur="indefinite" restart="never" nodeType="tmRoot"/>
      </p:par>
    </p:tn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208912" cy="1143000"/>
          </a:xfrm>
        </p:spPr>
        <p:txBody>
          <a:bodyPr>
            <a:normAutofit fontScale="90000"/>
          </a:bodyPr>
          <a:lstStyle/>
          <a:p>
            <a:r>
              <a:rPr lang="en-AU" sz="3400" b="1" dirty="0" smtClean="0">
                <a:solidFill>
                  <a:srgbClr val="FF6600"/>
                </a:solidFill>
                <a:latin typeface="Helvetica" pitchFamily="34" charset="0"/>
              </a:rPr>
              <a:t>Encourage identified learners to engage with established training events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5301208"/>
          </a:xfrm>
        </p:spPr>
        <p:txBody>
          <a:bodyPr>
            <a:normAutofit/>
          </a:bodyPr>
          <a:lstStyle/>
          <a:p>
            <a:pPr>
              <a:spcBef>
                <a:spcPts val="600"/>
              </a:spcBef>
              <a:spcAft>
                <a:spcPts val="1200"/>
              </a:spcAft>
              <a:buNone/>
            </a:pPr>
            <a:r>
              <a:rPr lang="en-AU" sz="2200" b="1" dirty="0" smtClean="0">
                <a:latin typeface="Helvetica" pitchFamily="34" charset="0"/>
              </a:rPr>
              <a:t>Explain benefits of training</a:t>
            </a:r>
            <a:endParaRPr lang="en-AU" sz="2200" dirty="0" smtClean="0">
              <a:latin typeface="Helvetica" pitchFamily="34" charset="0"/>
            </a:endParaRPr>
          </a:p>
          <a:p>
            <a:pPr lvl="0">
              <a:spcBef>
                <a:spcPts val="600"/>
              </a:spcBef>
              <a:spcAft>
                <a:spcPts val="1200"/>
              </a:spcAft>
            </a:pPr>
            <a:r>
              <a:rPr lang="en-AU" sz="2200" dirty="0" smtClean="0">
                <a:latin typeface="Helvetica" pitchFamily="34" charset="0"/>
              </a:rPr>
              <a:t>Understand your role and what is required</a:t>
            </a:r>
          </a:p>
          <a:p>
            <a:pPr lvl="0">
              <a:spcBef>
                <a:spcPts val="600"/>
              </a:spcBef>
              <a:spcAft>
                <a:spcPts val="1200"/>
              </a:spcAft>
            </a:pPr>
            <a:r>
              <a:rPr lang="en-AU" sz="2200" dirty="0" smtClean="0">
                <a:latin typeface="Helvetica" pitchFamily="34" charset="0"/>
              </a:rPr>
              <a:t>Have updated understanding of latest information, trends and practices</a:t>
            </a:r>
          </a:p>
          <a:p>
            <a:pPr lvl="0">
              <a:spcBef>
                <a:spcPts val="600"/>
              </a:spcBef>
              <a:spcAft>
                <a:spcPts val="1200"/>
              </a:spcAft>
            </a:pPr>
            <a:r>
              <a:rPr lang="en-AU" sz="2200" dirty="0" smtClean="0">
                <a:latin typeface="Helvetica" pitchFamily="34" charset="0"/>
              </a:rPr>
              <a:t>Increased productivity</a:t>
            </a:r>
          </a:p>
          <a:p>
            <a:pPr lvl="0">
              <a:spcBef>
                <a:spcPts val="600"/>
              </a:spcBef>
              <a:spcAft>
                <a:spcPts val="1200"/>
              </a:spcAft>
            </a:pPr>
            <a:r>
              <a:rPr lang="en-AU" sz="2200" dirty="0" smtClean="0">
                <a:latin typeface="Helvetica" pitchFamily="34" charset="0"/>
              </a:rPr>
              <a:t>Have greater confidence in performing your </a:t>
            </a:r>
            <a:br>
              <a:rPr lang="en-AU" sz="2200" dirty="0" smtClean="0">
                <a:latin typeface="Helvetica" pitchFamily="34" charset="0"/>
              </a:rPr>
            </a:br>
            <a:r>
              <a:rPr lang="en-AU" sz="2200" dirty="0" smtClean="0">
                <a:latin typeface="Helvetica" pitchFamily="34" charset="0"/>
              </a:rPr>
              <a:t>job</a:t>
            </a:r>
          </a:p>
          <a:p>
            <a:pPr lvl="0">
              <a:spcBef>
                <a:spcPts val="600"/>
              </a:spcBef>
              <a:spcAft>
                <a:spcPts val="1200"/>
              </a:spcAft>
            </a:pPr>
            <a:r>
              <a:rPr lang="en-AU" sz="2200" dirty="0" smtClean="0">
                <a:latin typeface="Helvetica" pitchFamily="34" charset="0"/>
              </a:rPr>
              <a:t>Work in a safer manner and having less accidents</a:t>
            </a:r>
          </a:p>
          <a:p>
            <a:endParaRPr lang="en-AU" sz="2400" dirty="0" smtClean="0"/>
          </a:p>
          <a:p>
            <a:endParaRPr lang="en-AU" sz="2400" dirty="0" smtClean="0"/>
          </a:p>
          <a:p>
            <a:endParaRPr lang="en-AU" sz="2400" dirty="0" smtClean="0"/>
          </a:p>
          <a:p>
            <a:endParaRPr lang="en-AU" sz="2400" dirty="0" smtClean="0"/>
          </a:p>
          <a:p>
            <a:pPr>
              <a:buNone/>
            </a:pPr>
            <a:endParaRPr lang="en-AU" sz="2400" dirty="0" smtClean="0"/>
          </a:p>
          <a:p>
            <a:pPr lvl="0">
              <a:spcBef>
                <a:spcPts val="600"/>
              </a:spcBef>
              <a:spcAft>
                <a:spcPts val="1200"/>
              </a:spcAft>
              <a:buNone/>
            </a:pPr>
            <a:endParaRPr lang="en-AU" sz="2200" dirty="0" smtClean="0">
              <a:latin typeface="Helvetica" pitchFamily="34" charset="0"/>
            </a:endParaRPr>
          </a:p>
          <a:p>
            <a:pPr lvl="0"/>
            <a:endParaRPr lang="en-AU" sz="2400" dirty="0" smtClean="0"/>
          </a:p>
          <a:p>
            <a:pPr lvl="0">
              <a:buNone/>
            </a:pPr>
            <a:endParaRPr lang="en-AU" sz="2400" dirty="0"/>
          </a:p>
        </p:txBody>
      </p:sp>
      <p:sp>
        <p:nvSpPr>
          <p:cNvPr id="4" name="Slide Number Placeholder 3"/>
          <p:cNvSpPr>
            <a:spLocks noGrp="1"/>
          </p:cNvSpPr>
          <p:nvPr>
            <p:ph type="sldNum" sz="quarter" idx="12"/>
          </p:nvPr>
        </p:nvSpPr>
        <p:spPr/>
        <p:txBody>
          <a:bodyPr/>
          <a:lstStyle/>
          <a:p>
            <a:r>
              <a:rPr lang="en-US" dirty="0" smtClean="0"/>
              <a:t> </a:t>
            </a:r>
            <a:r>
              <a:rPr lang="en-US" sz="1100" dirty="0" smtClean="0">
                <a:latin typeface="Helvetica" pitchFamily="34" charset="0"/>
              </a:rPr>
              <a:t>Slide </a:t>
            </a:r>
            <a:fld id="{90BDF71C-F485-43AE-8825-5070AF1EA8C9}" type="slidenum">
              <a:rPr lang="en-US" sz="1100" smtClean="0">
                <a:latin typeface="Helvetica" pitchFamily="34" charset="0"/>
              </a:rPr>
              <a:pPr/>
              <a:t>72</a:t>
            </a:fld>
            <a:endParaRPr lang="en-US" sz="1100" dirty="0">
              <a:latin typeface="Helvetica" pitchFamily="34" charset="0"/>
            </a:endParaRPr>
          </a:p>
        </p:txBody>
      </p:sp>
      <p:pic>
        <p:nvPicPr>
          <p:cNvPr id="7" name="Picture 6" descr="BW_4.jpg"/>
          <p:cNvPicPr/>
          <p:nvPr/>
        </p:nvPicPr>
        <p:blipFill>
          <a:blip r:embed="rId3" cstate="print"/>
          <a:stretch>
            <a:fillRect/>
          </a:stretch>
        </p:blipFill>
        <p:spPr>
          <a:xfrm>
            <a:off x="7074278" y="3284984"/>
            <a:ext cx="1296144" cy="1728192"/>
          </a:xfrm>
          <a:prstGeom prst="rect">
            <a:avLst/>
          </a:prstGeom>
        </p:spPr>
      </p:pic>
    </p:spTree>
  </p:cSld>
  <p:clrMapOvr>
    <a:masterClrMapping/>
  </p:clrMapOvr>
  <p:timing>
    <p:tnLst>
      <p:par>
        <p:cTn id="1" dur="indefinite" restart="never" nodeType="tmRoot"/>
      </p:par>
    </p:tn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208912" cy="1143000"/>
          </a:xfrm>
        </p:spPr>
        <p:txBody>
          <a:bodyPr>
            <a:normAutofit fontScale="90000"/>
          </a:bodyPr>
          <a:lstStyle/>
          <a:p>
            <a:r>
              <a:rPr lang="en-AU" sz="3400" b="1" dirty="0" smtClean="0">
                <a:solidFill>
                  <a:srgbClr val="FF6600"/>
                </a:solidFill>
                <a:latin typeface="Helvetica" pitchFamily="34" charset="0"/>
              </a:rPr>
              <a:t>Encourage identified learners to engage with established training events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5301208"/>
          </a:xfrm>
        </p:spPr>
        <p:txBody>
          <a:bodyPr>
            <a:normAutofit/>
          </a:bodyPr>
          <a:lstStyle/>
          <a:p>
            <a:pPr>
              <a:spcBef>
                <a:spcPts val="600"/>
              </a:spcBef>
              <a:spcAft>
                <a:spcPts val="1200"/>
              </a:spcAft>
              <a:buNone/>
            </a:pPr>
            <a:r>
              <a:rPr lang="en-AU" sz="2200" b="1" dirty="0" smtClean="0">
                <a:latin typeface="Helvetica" pitchFamily="34" charset="0"/>
              </a:rPr>
              <a:t>Explain benefits of training</a:t>
            </a:r>
            <a:endParaRPr lang="en-AU" sz="2200" dirty="0" smtClean="0">
              <a:latin typeface="Helvetica" pitchFamily="34" charset="0"/>
            </a:endParaRPr>
          </a:p>
          <a:p>
            <a:pPr lvl="0">
              <a:spcBef>
                <a:spcPts val="600"/>
              </a:spcBef>
              <a:spcAft>
                <a:spcPts val="1200"/>
              </a:spcAft>
            </a:pPr>
            <a:r>
              <a:rPr lang="en-AU" sz="2200" dirty="0" smtClean="0">
                <a:latin typeface="Helvetica" pitchFamily="34" charset="0"/>
              </a:rPr>
              <a:t>Increased knowledge and skills in a greater cross section of operational areas and tasks</a:t>
            </a:r>
          </a:p>
          <a:p>
            <a:pPr lvl="0">
              <a:spcBef>
                <a:spcPts val="600"/>
              </a:spcBef>
              <a:spcAft>
                <a:spcPts val="1200"/>
              </a:spcAft>
            </a:pPr>
            <a:r>
              <a:rPr lang="en-AU" sz="2200" dirty="0" smtClean="0">
                <a:latin typeface="Helvetica" pitchFamily="34" charset="0"/>
              </a:rPr>
              <a:t>Greater chances for tips or incentives</a:t>
            </a:r>
          </a:p>
          <a:p>
            <a:pPr lvl="0">
              <a:spcBef>
                <a:spcPts val="600"/>
              </a:spcBef>
              <a:spcAft>
                <a:spcPts val="1200"/>
              </a:spcAft>
            </a:pPr>
            <a:r>
              <a:rPr lang="en-AU" sz="2200" dirty="0" smtClean="0">
                <a:latin typeface="Helvetica" pitchFamily="34" charset="0"/>
              </a:rPr>
              <a:t>Chance to earn more money</a:t>
            </a:r>
          </a:p>
          <a:p>
            <a:pPr>
              <a:spcBef>
                <a:spcPts val="600"/>
              </a:spcBef>
              <a:spcAft>
                <a:spcPts val="1200"/>
              </a:spcAft>
            </a:pPr>
            <a:r>
              <a:rPr lang="en-AU" sz="2200" dirty="0" smtClean="0">
                <a:latin typeface="Helvetica" pitchFamily="34" charset="0"/>
              </a:rPr>
              <a:t>Greater chances for promotion</a:t>
            </a:r>
          </a:p>
          <a:p>
            <a:endParaRPr lang="en-AU" sz="2400" dirty="0" smtClean="0"/>
          </a:p>
          <a:p>
            <a:endParaRPr lang="en-AU" sz="2400" dirty="0" smtClean="0"/>
          </a:p>
          <a:p>
            <a:endParaRPr lang="en-AU" sz="2400" dirty="0" smtClean="0"/>
          </a:p>
          <a:p>
            <a:pPr>
              <a:buNone/>
            </a:pPr>
            <a:endParaRPr lang="en-AU" sz="2400" dirty="0" smtClean="0"/>
          </a:p>
          <a:p>
            <a:pPr lvl="0">
              <a:spcBef>
                <a:spcPts val="600"/>
              </a:spcBef>
              <a:spcAft>
                <a:spcPts val="1200"/>
              </a:spcAft>
              <a:buNone/>
            </a:pPr>
            <a:endParaRPr lang="en-AU" sz="2200" dirty="0" smtClean="0">
              <a:latin typeface="Helvetica" pitchFamily="34" charset="0"/>
            </a:endParaRPr>
          </a:p>
          <a:p>
            <a:pPr lvl="0"/>
            <a:endParaRPr lang="en-AU" sz="2400" dirty="0" smtClean="0"/>
          </a:p>
          <a:p>
            <a:pPr lvl="0">
              <a:buNone/>
            </a:pPr>
            <a:endParaRPr lang="en-AU" sz="2400" dirty="0"/>
          </a:p>
        </p:txBody>
      </p:sp>
      <p:sp>
        <p:nvSpPr>
          <p:cNvPr id="4" name="Slide Number Placeholder 3"/>
          <p:cNvSpPr>
            <a:spLocks noGrp="1"/>
          </p:cNvSpPr>
          <p:nvPr>
            <p:ph type="sldNum" sz="quarter" idx="12"/>
          </p:nvPr>
        </p:nvSpPr>
        <p:spPr/>
        <p:txBody>
          <a:bodyPr/>
          <a:lstStyle/>
          <a:p>
            <a:r>
              <a:rPr lang="en-US" dirty="0" smtClean="0"/>
              <a:t> </a:t>
            </a:r>
            <a:r>
              <a:rPr lang="en-US" sz="1100" dirty="0" smtClean="0">
                <a:latin typeface="Helvetica" pitchFamily="34" charset="0"/>
              </a:rPr>
              <a:t>Slide </a:t>
            </a:r>
            <a:fld id="{90BDF71C-F485-43AE-8825-5070AF1EA8C9}" type="slidenum">
              <a:rPr lang="en-US" sz="1100" smtClean="0">
                <a:latin typeface="Helvetica" pitchFamily="34" charset="0"/>
              </a:rPr>
              <a:pPr/>
              <a:t>73</a:t>
            </a:fld>
            <a:endParaRPr lang="en-US" sz="1100" dirty="0">
              <a:latin typeface="Helvetica" pitchFamily="34" charset="0"/>
            </a:endParaRPr>
          </a:p>
        </p:txBody>
      </p:sp>
      <p:pic>
        <p:nvPicPr>
          <p:cNvPr id="6" name="Picture 5" descr="24.jpg"/>
          <p:cNvPicPr>
            <a:picLocks noChangeAspect="1"/>
          </p:cNvPicPr>
          <p:nvPr/>
        </p:nvPicPr>
        <p:blipFill>
          <a:blip r:embed="rId3" cstate="print"/>
          <a:stretch>
            <a:fillRect/>
          </a:stretch>
        </p:blipFill>
        <p:spPr>
          <a:xfrm>
            <a:off x="6588224" y="2780928"/>
            <a:ext cx="1537058" cy="2294384"/>
          </a:xfrm>
          <a:prstGeom prst="rect">
            <a:avLst/>
          </a:prstGeom>
        </p:spPr>
      </p:pic>
    </p:spTree>
  </p:cSld>
  <p:clrMapOvr>
    <a:masterClrMapping/>
  </p:clrMapOvr>
  <p:timing>
    <p:tnLst>
      <p:par>
        <p:cTn id="1" dur="indefinite" restart="never" nodeType="tmRoot"/>
      </p:par>
    </p:tn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208912" cy="1143000"/>
          </a:xfrm>
        </p:spPr>
        <p:txBody>
          <a:bodyPr>
            <a:normAutofit fontScale="90000"/>
          </a:bodyPr>
          <a:lstStyle/>
          <a:p>
            <a:r>
              <a:rPr lang="en-AU" sz="3400" b="1" dirty="0" smtClean="0">
                <a:solidFill>
                  <a:srgbClr val="FF6600"/>
                </a:solidFill>
                <a:latin typeface="Helvetica" pitchFamily="34" charset="0"/>
              </a:rPr>
              <a:t>Encourage identified learners to engage with established training events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5301208"/>
          </a:xfrm>
        </p:spPr>
        <p:txBody>
          <a:bodyPr>
            <a:normAutofit/>
          </a:bodyPr>
          <a:lstStyle/>
          <a:p>
            <a:pPr>
              <a:spcBef>
                <a:spcPts val="600"/>
              </a:spcBef>
              <a:spcAft>
                <a:spcPts val="1200"/>
              </a:spcAft>
              <a:buNone/>
            </a:pPr>
            <a:r>
              <a:rPr lang="en-AU" sz="2200" b="1" dirty="0" smtClean="0">
                <a:latin typeface="Helvetica" pitchFamily="34" charset="0"/>
              </a:rPr>
              <a:t>Other considerations</a:t>
            </a:r>
            <a:endParaRPr lang="en-AU" sz="2200" dirty="0" smtClean="0">
              <a:latin typeface="Helvetica" pitchFamily="34" charset="0"/>
            </a:endParaRPr>
          </a:p>
          <a:p>
            <a:pPr>
              <a:spcBef>
                <a:spcPts val="600"/>
              </a:spcBef>
              <a:spcAft>
                <a:spcPts val="1200"/>
              </a:spcAft>
            </a:pPr>
            <a:r>
              <a:rPr lang="en-AU" sz="2200" dirty="0" smtClean="0">
                <a:latin typeface="Helvetica" pitchFamily="34" charset="0"/>
              </a:rPr>
              <a:t>Change location for training</a:t>
            </a:r>
          </a:p>
          <a:p>
            <a:pPr>
              <a:spcBef>
                <a:spcPts val="600"/>
              </a:spcBef>
              <a:spcAft>
                <a:spcPts val="1200"/>
              </a:spcAft>
            </a:pPr>
            <a:r>
              <a:rPr lang="en-AU" sz="2200" dirty="0" smtClean="0">
                <a:latin typeface="Helvetica" pitchFamily="34" charset="0"/>
              </a:rPr>
              <a:t>Incorporate fun</a:t>
            </a:r>
          </a:p>
          <a:p>
            <a:pPr>
              <a:spcBef>
                <a:spcPts val="600"/>
              </a:spcBef>
              <a:spcAft>
                <a:spcPts val="1200"/>
              </a:spcAft>
            </a:pPr>
            <a:r>
              <a:rPr lang="en-AU" sz="2200" i="1" dirty="0" smtClean="0">
                <a:latin typeface="Helvetica" pitchFamily="34" charset="0"/>
              </a:rPr>
              <a:t>What else can you do to encourage and motivate participants to attend training events?</a:t>
            </a:r>
            <a:endParaRPr lang="en-AU" sz="2400" dirty="0" smtClean="0"/>
          </a:p>
          <a:p>
            <a:pPr>
              <a:buNone/>
            </a:pPr>
            <a:endParaRPr lang="en-AU" sz="2400" dirty="0" smtClean="0"/>
          </a:p>
          <a:p>
            <a:pPr lvl="0">
              <a:spcBef>
                <a:spcPts val="600"/>
              </a:spcBef>
              <a:spcAft>
                <a:spcPts val="1200"/>
              </a:spcAft>
              <a:buNone/>
            </a:pPr>
            <a:endParaRPr lang="en-AU" sz="2200" dirty="0" smtClean="0">
              <a:latin typeface="Helvetica" pitchFamily="34" charset="0"/>
            </a:endParaRPr>
          </a:p>
          <a:p>
            <a:pPr lvl="0"/>
            <a:endParaRPr lang="en-AU" sz="2400" dirty="0" smtClean="0"/>
          </a:p>
          <a:p>
            <a:pPr lvl="0">
              <a:buNone/>
            </a:pPr>
            <a:endParaRPr lang="en-AU" sz="2400" dirty="0"/>
          </a:p>
        </p:txBody>
      </p:sp>
      <p:sp>
        <p:nvSpPr>
          <p:cNvPr id="4" name="Slide Number Placeholder 3"/>
          <p:cNvSpPr>
            <a:spLocks noGrp="1"/>
          </p:cNvSpPr>
          <p:nvPr>
            <p:ph type="sldNum" sz="quarter" idx="12"/>
          </p:nvPr>
        </p:nvSpPr>
        <p:spPr/>
        <p:txBody>
          <a:bodyPr/>
          <a:lstStyle/>
          <a:p>
            <a:r>
              <a:rPr lang="en-US" dirty="0" smtClean="0"/>
              <a:t> </a:t>
            </a:r>
            <a:r>
              <a:rPr lang="en-US" sz="1100" dirty="0" smtClean="0">
                <a:latin typeface="Helvetica" pitchFamily="34" charset="0"/>
              </a:rPr>
              <a:t>Slide </a:t>
            </a:r>
            <a:fld id="{90BDF71C-F485-43AE-8825-5070AF1EA8C9}" type="slidenum">
              <a:rPr lang="en-US" sz="1100" smtClean="0">
                <a:latin typeface="Helvetica" pitchFamily="34" charset="0"/>
              </a:rPr>
              <a:pPr/>
              <a:t>74</a:t>
            </a:fld>
            <a:endParaRPr lang="en-US" sz="1100" dirty="0">
              <a:latin typeface="Helvetica" pitchFamily="34" charset="0"/>
            </a:endParaRPr>
          </a:p>
        </p:txBody>
      </p:sp>
      <p:pic>
        <p:nvPicPr>
          <p:cNvPr id="4098" name="Picture 2" descr="C:\Documents and Settings\Godaishu\Local Settings\Temporary Internet Files\Content.IE5\YISE4YB4\MP900431165[1].jpg"/>
          <p:cNvPicPr>
            <a:picLocks noChangeAspect="1" noChangeArrowheads="1"/>
          </p:cNvPicPr>
          <p:nvPr/>
        </p:nvPicPr>
        <p:blipFill>
          <a:blip r:embed="rId3" cstate="print"/>
          <a:srcRect/>
          <a:stretch>
            <a:fillRect/>
          </a:stretch>
        </p:blipFill>
        <p:spPr bwMode="auto">
          <a:xfrm>
            <a:off x="3491880" y="4293096"/>
            <a:ext cx="2843132" cy="1894681"/>
          </a:xfrm>
          <a:prstGeom prst="rect">
            <a:avLst/>
          </a:prstGeom>
          <a:noFill/>
        </p:spPr>
      </p:pic>
    </p:spTree>
  </p:cSld>
  <p:clrMapOvr>
    <a:masterClrMapping/>
  </p:clrMapOvr>
  <p:timing>
    <p:tnLst>
      <p:par>
        <p:cTn id="1" dur="indefinite" restart="never" nodeType="tmRoot"/>
      </p:par>
    </p:tn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11560" y="1556792"/>
            <a:ext cx="7632848" cy="4680520"/>
          </a:xfrm>
        </p:spPr>
        <p:txBody>
          <a:bodyPr>
            <a:normAutofit/>
          </a:bodyPr>
          <a:lstStyle/>
          <a:p>
            <a:pPr marL="0">
              <a:buNone/>
            </a:pPr>
            <a:r>
              <a:rPr lang="en-AU" sz="4000" b="1" dirty="0" smtClean="0">
                <a:solidFill>
                  <a:srgbClr val="FF6600"/>
                </a:solidFill>
              </a:rPr>
              <a:t>Element 2:</a:t>
            </a:r>
          </a:p>
          <a:p>
            <a:pPr marL="0">
              <a:spcBef>
                <a:spcPts val="600"/>
              </a:spcBef>
              <a:spcAft>
                <a:spcPts val="1200"/>
              </a:spcAft>
              <a:buNone/>
            </a:pPr>
            <a:r>
              <a:rPr lang="en-AU" sz="4000" dirty="0" smtClean="0">
                <a:solidFill>
                  <a:srgbClr val="FF6600"/>
                </a:solidFill>
                <a:latin typeface="Helvetica" pitchFamily="34" charset="0"/>
              </a:rPr>
              <a:t>Implement a series of training events </a:t>
            </a:r>
          </a:p>
          <a:p>
            <a:pPr>
              <a:buNone/>
            </a:pPr>
            <a:endParaRPr lang="en-AU" sz="4000" dirty="0" smtClean="0">
              <a:solidFill>
                <a:srgbClr val="FF6600"/>
              </a:solidFill>
            </a:endParaRPr>
          </a:p>
          <a:p>
            <a:pPr>
              <a:spcBef>
                <a:spcPts val="600"/>
              </a:spcBef>
              <a:spcAft>
                <a:spcPts val="1200"/>
              </a:spcAft>
            </a:pPr>
            <a:endParaRPr lang="en-AU" sz="2200" dirty="0" smtClean="0">
              <a:latin typeface="Helvetica" pitchFamily="34" charset="0"/>
            </a:endParaRPr>
          </a:p>
          <a:p>
            <a:pPr>
              <a:spcBef>
                <a:spcPts val="600"/>
              </a:spcBef>
              <a:spcAft>
                <a:spcPts val="1200"/>
              </a:spcAft>
              <a:buNone/>
            </a:pPr>
            <a:endParaRPr lang="en-AU" sz="2200" dirty="0" smtClean="0">
              <a:latin typeface="Helvetica" pitchFamily="34" charset="0"/>
            </a:endParaRPr>
          </a:p>
          <a:p>
            <a:pPr lvl="0">
              <a:spcBef>
                <a:spcPts val="600"/>
              </a:spcBef>
              <a:spcAft>
                <a:spcPts val="600"/>
              </a:spcAft>
            </a:pPr>
            <a:endParaRPr lang="en-AU" sz="2200" dirty="0" smtClean="0">
              <a:latin typeface="Helvetica" pitchFamily="34" charset="0"/>
            </a:endParaRPr>
          </a:p>
          <a:p>
            <a:pPr>
              <a:buNone/>
            </a:pPr>
            <a:endParaRPr lang="en-AU" sz="2400" dirty="0" smtClean="0"/>
          </a:p>
          <a:p>
            <a:pPr lvl="0">
              <a:spcBef>
                <a:spcPts val="600"/>
              </a:spcBef>
              <a:spcAft>
                <a:spcPts val="1200"/>
              </a:spcAft>
            </a:pPr>
            <a:endParaRPr lang="en-AU" sz="2200" dirty="0" smtClean="0">
              <a:latin typeface="Helvetica" pitchFamily="34" charset="0"/>
            </a:endParaRPr>
          </a:p>
          <a:p>
            <a:pPr marL="0">
              <a:spcBef>
                <a:spcPts val="600"/>
              </a:spcBef>
              <a:spcAft>
                <a:spcPts val="1200"/>
              </a:spcAft>
              <a:buNone/>
            </a:pPr>
            <a:endParaRPr lang="en-AU"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75</a:t>
            </a:fld>
            <a:endParaRPr lang="en-US" dirty="0"/>
          </a:p>
        </p:txBody>
      </p:sp>
      <p:pic>
        <p:nvPicPr>
          <p:cNvPr id="6" name="Picture 5" descr="Culinaryacademy368.TIF"/>
          <p:cNvPicPr>
            <a:picLocks noChangeAspect="1"/>
          </p:cNvPicPr>
          <p:nvPr/>
        </p:nvPicPr>
        <p:blipFill>
          <a:blip r:embed="rId3" cstate="print"/>
          <a:stretch>
            <a:fillRect/>
          </a:stretch>
        </p:blipFill>
        <p:spPr>
          <a:xfrm>
            <a:off x="3203848" y="3429000"/>
            <a:ext cx="3348372" cy="2232248"/>
          </a:xfrm>
          <a:prstGeom prst="rect">
            <a:avLst/>
          </a:prstGeom>
        </p:spPr>
      </p:pic>
    </p:spTree>
  </p:cSld>
  <p:clrMapOvr>
    <a:masterClrMapping/>
  </p:clrMapOvr>
  <p:timing>
    <p:tnLst>
      <p:par>
        <p:cTn id="1" dur="indefinite" restart="never" nodeType="tmRoot"/>
      </p:par>
    </p:tn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999040" cy="1143000"/>
          </a:xfrm>
        </p:spPr>
        <p:txBody>
          <a:bodyPr>
            <a:normAutofit/>
          </a:bodyPr>
          <a:lstStyle/>
          <a:p>
            <a:pPr marL="0">
              <a:spcBef>
                <a:spcPts val="600"/>
              </a:spcBef>
              <a:spcAft>
                <a:spcPts val="1200"/>
              </a:spcAft>
            </a:pPr>
            <a:r>
              <a:rPr lang="en-AU" sz="3400" b="1" dirty="0" smtClean="0">
                <a:solidFill>
                  <a:srgbClr val="FF6600"/>
                </a:solidFill>
                <a:latin typeface="Helvetica" pitchFamily="34" charset="0"/>
              </a:rPr>
              <a:t>Implement a series of training events</a:t>
            </a:r>
          </a:p>
        </p:txBody>
      </p:sp>
      <p:sp>
        <p:nvSpPr>
          <p:cNvPr id="3" name="Content Placeholder 2"/>
          <p:cNvSpPr>
            <a:spLocks noGrp="1"/>
          </p:cNvSpPr>
          <p:nvPr>
            <p:ph idx="1"/>
          </p:nvPr>
        </p:nvSpPr>
        <p:spPr>
          <a:xfrm>
            <a:off x="611560" y="1556792"/>
            <a:ext cx="7467600" cy="4525963"/>
          </a:xfrm>
        </p:spPr>
        <p:txBody>
          <a:bodyPr>
            <a:normAutofit/>
          </a:bodyPr>
          <a:lstStyle/>
          <a:p>
            <a:pPr marL="0" indent="0">
              <a:spcBef>
                <a:spcPts val="600"/>
              </a:spcBef>
              <a:spcAft>
                <a:spcPts val="1200"/>
              </a:spcAft>
              <a:buNone/>
            </a:pPr>
            <a:r>
              <a:rPr lang="en-US" sz="2200" dirty="0" smtClean="0">
                <a:latin typeface="Helvetica" pitchFamily="34" charset="0"/>
              </a:rPr>
              <a:t>Performance Criteria for this Element are: </a:t>
            </a:r>
          </a:p>
          <a:p>
            <a:pPr>
              <a:spcBef>
                <a:spcPts val="600"/>
              </a:spcBef>
              <a:spcAft>
                <a:spcPts val="1200"/>
              </a:spcAft>
            </a:pPr>
            <a:r>
              <a:rPr lang="en-AU" sz="2200" dirty="0" smtClean="0">
                <a:latin typeface="Helvetica" pitchFamily="34" charset="0"/>
              </a:rPr>
              <a:t>Provide identified support for learners to attend identified training events</a:t>
            </a:r>
          </a:p>
          <a:p>
            <a:pPr>
              <a:spcBef>
                <a:spcPts val="600"/>
              </a:spcBef>
              <a:spcAft>
                <a:spcPts val="1200"/>
              </a:spcAft>
            </a:pPr>
            <a:r>
              <a:rPr lang="en-AU" sz="2200" dirty="0" smtClean="0">
                <a:latin typeface="Helvetica" pitchFamily="34" charset="0"/>
              </a:rPr>
              <a:t>Provide required resources for supervisors to maintain required service levels during identified training events</a:t>
            </a:r>
          </a:p>
          <a:p>
            <a:pPr>
              <a:spcBef>
                <a:spcPts val="600"/>
              </a:spcBef>
              <a:spcAft>
                <a:spcPts val="1200"/>
              </a:spcAft>
            </a:pPr>
            <a:r>
              <a:rPr lang="en-AU" sz="2200" dirty="0" smtClean="0">
                <a:latin typeface="Helvetica" pitchFamily="34" charset="0"/>
              </a:rPr>
              <a:t>Advise learners of attendance requirements as required by the organisation</a:t>
            </a:r>
          </a:p>
          <a:p>
            <a:pPr>
              <a:spcBef>
                <a:spcPts val="600"/>
              </a:spcBef>
              <a:spcAft>
                <a:spcPts val="1200"/>
              </a:spcAft>
            </a:pPr>
            <a:r>
              <a:rPr lang="en-AU" sz="2200" dirty="0" smtClean="0">
                <a:latin typeface="Helvetica" pitchFamily="34" charset="0"/>
              </a:rPr>
              <a:t>Capture feedback from learners on individual                    training events</a:t>
            </a:r>
          </a:p>
          <a:p>
            <a:pPr>
              <a:spcBef>
                <a:spcPts val="600"/>
              </a:spcBef>
              <a:spcAft>
                <a:spcPts val="1200"/>
              </a:spcAft>
            </a:pP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76</a:t>
            </a:fld>
            <a:endParaRPr lang="en-US" dirty="0"/>
          </a:p>
        </p:txBody>
      </p:sp>
      <p:pic>
        <p:nvPicPr>
          <p:cNvPr id="6" name="Picture 2" descr="C:\Documents and Settings\danielc\Local Settings\Temporary Internet Files\Content.IE5\V9A2RTT8\MC900434663[1].wmf"/>
          <p:cNvPicPr>
            <a:picLocks noChangeAspect="1" noChangeArrowheads="1"/>
          </p:cNvPicPr>
          <p:nvPr/>
        </p:nvPicPr>
        <p:blipFill>
          <a:blip r:embed="rId3" cstate="print"/>
          <a:srcRect/>
          <a:stretch>
            <a:fillRect/>
          </a:stretch>
        </p:blipFill>
        <p:spPr bwMode="auto">
          <a:xfrm>
            <a:off x="7884368" y="3284984"/>
            <a:ext cx="472690" cy="624143"/>
          </a:xfrm>
          <a:prstGeom prst="rect">
            <a:avLst/>
          </a:prstGeom>
          <a:noFill/>
        </p:spPr>
      </p:pic>
      <p:pic>
        <p:nvPicPr>
          <p:cNvPr id="7" name="Picture 2" descr="C:\Documents and Settings\danielc\Local Settings\Temporary Internet Files\Content.IE5\V9A2RTT8\MC900434663[1].wmf"/>
          <p:cNvPicPr>
            <a:picLocks noChangeAspect="1" noChangeArrowheads="1"/>
          </p:cNvPicPr>
          <p:nvPr/>
        </p:nvPicPr>
        <p:blipFill>
          <a:blip r:embed="rId3" cstate="print"/>
          <a:srcRect/>
          <a:stretch>
            <a:fillRect/>
          </a:stretch>
        </p:blipFill>
        <p:spPr bwMode="auto">
          <a:xfrm>
            <a:off x="4139952" y="2420888"/>
            <a:ext cx="472690" cy="624143"/>
          </a:xfrm>
          <a:prstGeom prst="rect">
            <a:avLst/>
          </a:prstGeom>
          <a:noFill/>
        </p:spPr>
      </p:pic>
      <p:pic>
        <p:nvPicPr>
          <p:cNvPr id="8" name="Picture 2" descr="C:\Documents and Settings\danielc\Local Settings\Temporary Internet Files\Content.IE5\V9A2RTT8\MC900434663[1].wmf"/>
          <p:cNvPicPr>
            <a:picLocks noChangeAspect="1" noChangeArrowheads="1"/>
          </p:cNvPicPr>
          <p:nvPr/>
        </p:nvPicPr>
        <p:blipFill>
          <a:blip r:embed="rId3" cstate="print"/>
          <a:srcRect/>
          <a:stretch>
            <a:fillRect/>
          </a:stretch>
        </p:blipFill>
        <p:spPr bwMode="auto">
          <a:xfrm>
            <a:off x="4572000" y="4293096"/>
            <a:ext cx="472690" cy="624143"/>
          </a:xfrm>
          <a:prstGeom prst="rect">
            <a:avLst/>
          </a:prstGeom>
          <a:noFill/>
        </p:spPr>
      </p:pic>
      <p:pic>
        <p:nvPicPr>
          <p:cNvPr id="9" name="Picture 2" descr="C:\Documents and Settings\danielc\Local Settings\Temporary Internet Files\Content.IE5\V9A2RTT8\MC900434663[1].wmf"/>
          <p:cNvPicPr>
            <a:picLocks noChangeAspect="1" noChangeArrowheads="1"/>
          </p:cNvPicPr>
          <p:nvPr/>
        </p:nvPicPr>
        <p:blipFill>
          <a:blip r:embed="rId3" cstate="print"/>
          <a:srcRect/>
          <a:stretch>
            <a:fillRect/>
          </a:stretch>
        </p:blipFill>
        <p:spPr bwMode="auto">
          <a:xfrm>
            <a:off x="2915816" y="5157192"/>
            <a:ext cx="472690" cy="624143"/>
          </a:xfrm>
          <a:prstGeom prst="rect">
            <a:avLst/>
          </a:prstGeom>
          <a:noFill/>
        </p:spPr>
      </p:pic>
    </p:spTree>
  </p:cSld>
  <p:clrMapOvr>
    <a:masterClrMapping/>
  </p:clrMapOvr>
  <p:timing>
    <p:tnLst>
      <p:par>
        <p:cTn id="1" dur="indefinite" restart="never" nodeType="tmRoot"/>
      </p:par>
    </p:tn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999040" cy="1143000"/>
          </a:xfrm>
        </p:spPr>
        <p:txBody>
          <a:bodyPr>
            <a:normAutofit/>
          </a:bodyPr>
          <a:lstStyle/>
          <a:p>
            <a:pPr marL="0">
              <a:spcBef>
                <a:spcPts val="600"/>
              </a:spcBef>
              <a:spcAft>
                <a:spcPts val="1200"/>
              </a:spcAft>
            </a:pPr>
            <a:r>
              <a:rPr lang="en-AU" sz="3400" b="1" dirty="0" smtClean="0">
                <a:solidFill>
                  <a:srgbClr val="FF6600"/>
                </a:solidFill>
                <a:latin typeface="Helvetica" pitchFamily="34" charset="0"/>
              </a:rPr>
              <a:t>Implement a series of training events</a:t>
            </a:r>
          </a:p>
        </p:txBody>
      </p:sp>
      <p:sp>
        <p:nvSpPr>
          <p:cNvPr id="3" name="Content Placeholder 2"/>
          <p:cNvSpPr>
            <a:spLocks noGrp="1"/>
          </p:cNvSpPr>
          <p:nvPr>
            <p:ph idx="1"/>
          </p:nvPr>
        </p:nvSpPr>
        <p:spPr>
          <a:xfrm>
            <a:off x="611560" y="1556792"/>
            <a:ext cx="7632848" cy="4525963"/>
          </a:xfrm>
        </p:spPr>
        <p:txBody>
          <a:bodyPr>
            <a:normAutofit/>
          </a:bodyPr>
          <a:lstStyle/>
          <a:p>
            <a:pPr marL="0" indent="0">
              <a:spcBef>
                <a:spcPts val="600"/>
              </a:spcBef>
              <a:spcAft>
                <a:spcPts val="1200"/>
              </a:spcAft>
              <a:buNone/>
            </a:pPr>
            <a:r>
              <a:rPr lang="en-US" sz="2200" dirty="0" smtClean="0">
                <a:latin typeface="Helvetica" pitchFamily="34" charset="0"/>
              </a:rPr>
              <a:t>Performance Criteria for this Element are: </a:t>
            </a:r>
          </a:p>
          <a:p>
            <a:pPr>
              <a:spcBef>
                <a:spcPts val="600"/>
              </a:spcBef>
              <a:spcAft>
                <a:spcPts val="1200"/>
              </a:spcAft>
            </a:pPr>
            <a:r>
              <a:rPr lang="en-AU" sz="2200" dirty="0" smtClean="0">
                <a:latin typeface="Helvetica" pitchFamily="34" charset="0"/>
              </a:rPr>
              <a:t>Modify planned schedule of training events on the basis of feedback and other issues arising</a:t>
            </a:r>
          </a:p>
          <a:p>
            <a:pPr>
              <a:spcBef>
                <a:spcPts val="600"/>
              </a:spcBef>
              <a:spcAft>
                <a:spcPts val="1200"/>
              </a:spcAft>
            </a:pPr>
            <a:r>
              <a:rPr lang="en-AU" sz="2200" dirty="0" smtClean="0">
                <a:latin typeface="Helvetica" pitchFamily="34" charset="0"/>
              </a:rPr>
              <a:t>Attend training events to monitor and evaluate their implementation</a:t>
            </a:r>
          </a:p>
          <a:p>
            <a:pPr>
              <a:spcBef>
                <a:spcPts val="600"/>
              </a:spcBef>
              <a:spcAft>
                <a:spcPts val="1200"/>
              </a:spcAft>
            </a:pPr>
            <a:r>
              <a:rPr lang="en-AU" sz="2200" dirty="0" smtClean="0">
                <a:latin typeface="Helvetica" pitchFamily="34" charset="0"/>
              </a:rPr>
              <a:t>Maintain contact with training event organisers/providers</a:t>
            </a: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77</a:t>
            </a:fld>
            <a:endParaRPr lang="en-US" dirty="0"/>
          </a:p>
        </p:txBody>
      </p:sp>
      <p:pic>
        <p:nvPicPr>
          <p:cNvPr id="7" name="Picture 2" descr="C:\Documents and Settings\danielc\Local Settings\Temporary Internet Files\Content.IE5\V9A2RTT8\MC900434663[1].wmf"/>
          <p:cNvPicPr>
            <a:picLocks noChangeAspect="1" noChangeArrowheads="1"/>
          </p:cNvPicPr>
          <p:nvPr/>
        </p:nvPicPr>
        <p:blipFill>
          <a:blip r:embed="rId3" cstate="print"/>
          <a:srcRect/>
          <a:stretch>
            <a:fillRect/>
          </a:stretch>
        </p:blipFill>
        <p:spPr bwMode="auto">
          <a:xfrm>
            <a:off x="5652120" y="2492896"/>
            <a:ext cx="472690" cy="624143"/>
          </a:xfrm>
          <a:prstGeom prst="rect">
            <a:avLst/>
          </a:prstGeom>
          <a:noFill/>
        </p:spPr>
      </p:pic>
      <p:pic>
        <p:nvPicPr>
          <p:cNvPr id="8" name="Picture 2" descr="C:\Documents and Settings\danielc\Local Settings\Temporary Internet Files\Content.IE5\V9A2RTT8\MC900434663[1].wmf"/>
          <p:cNvPicPr>
            <a:picLocks noChangeAspect="1" noChangeArrowheads="1"/>
          </p:cNvPicPr>
          <p:nvPr/>
        </p:nvPicPr>
        <p:blipFill>
          <a:blip r:embed="rId3" cstate="print"/>
          <a:srcRect/>
          <a:stretch>
            <a:fillRect/>
          </a:stretch>
        </p:blipFill>
        <p:spPr bwMode="auto">
          <a:xfrm>
            <a:off x="3059832" y="3380921"/>
            <a:ext cx="472690" cy="624143"/>
          </a:xfrm>
          <a:prstGeom prst="rect">
            <a:avLst/>
          </a:prstGeom>
          <a:noFill/>
        </p:spPr>
      </p:pic>
      <p:pic>
        <p:nvPicPr>
          <p:cNvPr id="9" name="Picture 2" descr="C:\Documents and Settings\danielc\Local Settings\Temporary Internet Files\Content.IE5\V9A2RTT8\MC900434663[1].wmf"/>
          <p:cNvPicPr>
            <a:picLocks noChangeAspect="1" noChangeArrowheads="1"/>
          </p:cNvPicPr>
          <p:nvPr/>
        </p:nvPicPr>
        <p:blipFill>
          <a:blip r:embed="rId3" cstate="print"/>
          <a:srcRect/>
          <a:stretch>
            <a:fillRect/>
          </a:stretch>
        </p:blipFill>
        <p:spPr bwMode="auto">
          <a:xfrm>
            <a:off x="8172400" y="3861048"/>
            <a:ext cx="472690" cy="624143"/>
          </a:xfrm>
          <a:prstGeom prst="rect">
            <a:avLst/>
          </a:prstGeom>
          <a:noFill/>
        </p:spPr>
      </p:pic>
    </p:spTree>
  </p:cSld>
  <p:clrMapOvr>
    <a:masterClrMapping/>
  </p:clrMapOvr>
  <p:timing>
    <p:tnLst>
      <p:par>
        <p:cTn id="1" dur="indefinite" restart="never" nodeType="tmRoot"/>
      </p:par>
    </p:tn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208912" cy="1143000"/>
          </a:xfrm>
        </p:spPr>
        <p:txBody>
          <a:bodyPr>
            <a:normAutofit/>
          </a:bodyPr>
          <a:lstStyle/>
          <a:p>
            <a:r>
              <a:rPr lang="en-AU" sz="3400" b="1" dirty="0" smtClean="0">
                <a:solidFill>
                  <a:srgbClr val="FF6600"/>
                </a:solidFill>
                <a:latin typeface="Helvetica" pitchFamily="34" charset="0"/>
              </a:rPr>
              <a:t>Provide identified support for learners to attend identified training events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728192"/>
            <a:ext cx="7467600" cy="5301208"/>
          </a:xfrm>
        </p:spPr>
        <p:txBody>
          <a:bodyPr>
            <a:normAutofit/>
          </a:bodyPr>
          <a:lstStyle/>
          <a:p>
            <a:r>
              <a:rPr lang="en-AU" sz="2200" dirty="0" smtClean="0">
                <a:latin typeface="Helvetica" pitchFamily="34" charset="0"/>
              </a:rPr>
              <a:t>Whilst planning and implementing training events is critical to the success of participant learning, there are a number of support mechanisms and provisions that also must be planned and communicated with learners</a:t>
            </a:r>
          </a:p>
        </p:txBody>
      </p:sp>
      <p:sp>
        <p:nvSpPr>
          <p:cNvPr id="4" name="Slide Number Placeholder 3"/>
          <p:cNvSpPr>
            <a:spLocks noGrp="1"/>
          </p:cNvSpPr>
          <p:nvPr>
            <p:ph type="sldNum" sz="quarter" idx="12"/>
          </p:nvPr>
        </p:nvSpPr>
        <p:spPr/>
        <p:txBody>
          <a:bodyPr/>
          <a:lstStyle/>
          <a:p>
            <a:r>
              <a:rPr lang="en-US" dirty="0" smtClean="0"/>
              <a:t> </a:t>
            </a:r>
            <a:r>
              <a:rPr lang="en-US" sz="1100" dirty="0" smtClean="0">
                <a:latin typeface="Helvetica" pitchFamily="34" charset="0"/>
              </a:rPr>
              <a:t>Slide </a:t>
            </a:r>
            <a:fld id="{90BDF71C-F485-43AE-8825-5070AF1EA8C9}" type="slidenum">
              <a:rPr lang="en-US" sz="1100" smtClean="0">
                <a:latin typeface="Helvetica" pitchFamily="34" charset="0"/>
              </a:rPr>
              <a:pPr/>
              <a:t>78</a:t>
            </a:fld>
            <a:endParaRPr lang="en-US" sz="1100" dirty="0">
              <a:latin typeface="Helvetica" pitchFamily="34" charset="0"/>
            </a:endParaRPr>
          </a:p>
        </p:txBody>
      </p:sp>
      <p:pic>
        <p:nvPicPr>
          <p:cNvPr id="6" name="Picture 5" descr="11111.jpg"/>
          <p:cNvPicPr>
            <a:picLocks noChangeAspect="1"/>
          </p:cNvPicPr>
          <p:nvPr/>
        </p:nvPicPr>
        <p:blipFill>
          <a:blip r:embed="rId3" cstate="print"/>
          <a:stretch>
            <a:fillRect/>
          </a:stretch>
        </p:blipFill>
        <p:spPr>
          <a:xfrm>
            <a:off x="3995936" y="3573016"/>
            <a:ext cx="1599259" cy="2394396"/>
          </a:xfrm>
          <a:prstGeom prst="rect">
            <a:avLst/>
          </a:prstGeom>
        </p:spPr>
      </p:pic>
    </p:spTree>
  </p:cSld>
  <p:clrMapOvr>
    <a:masterClrMapping/>
  </p:clrMapOvr>
  <p:timing>
    <p:tnLst>
      <p:par>
        <p:cTn id="1" dur="indefinite" restart="never" nodeType="tmRoot"/>
      </p:par>
    </p:tn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208912" cy="1143000"/>
          </a:xfrm>
        </p:spPr>
        <p:txBody>
          <a:bodyPr>
            <a:normAutofit/>
          </a:bodyPr>
          <a:lstStyle/>
          <a:p>
            <a:r>
              <a:rPr lang="en-AU" sz="3400" b="1" dirty="0" smtClean="0">
                <a:solidFill>
                  <a:srgbClr val="FF6600"/>
                </a:solidFill>
                <a:latin typeface="Helvetica" pitchFamily="34" charset="0"/>
              </a:rPr>
              <a:t>Learners are notified of training details</a:t>
            </a:r>
            <a:endParaRPr lang="en-AU" sz="3400"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5301208"/>
          </a:xfrm>
        </p:spPr>
        <p:txBody>
          <a:bodyPr>
            <a:normAutofit/>
          </a:bodyPr>
          <a:lstStyle/>
          <a:p>
            <a:pPr marL="0">
              <a:spcBef>
                <a:spcPts val="600"/>
              </a:spcBef>
              <a:spcAft>
                <a:spcPts val="1200"/>
              </a:spcAft>
              <a:buNone/>
            </a:pPr>
            <a:r>
              <a:rPr lang="en-AU" sz="2200" dirty="0" smtClean="0">
                <a:latin typeface="Helvetica" pitchFamily="34" charset="0"/>
              </a:rPr>
              <a:t>It will be your responsibility to organise the training and then to let learners know what is happening.</a:t>
            </a:r>
          </a:p>
          <a:p>
            <a:pPr>
              <a:spcBef>
                <a:spcPts val="600"/>
              </a:spcBef>
              <a:spcAft>
                <a:spcPts val="1200"/>
              </a:spcAft>
              <a:buNone/>
            </a:pPr>
            <a:r>
              <a:rPr lang="en-AU" sz="2200" dirty="0" smtClean="0">
                <a:latin typeface="Helvetica" pitchFamily="34" charset="0"/>
              </a:rPr>
              <a:t>Ways to achieve this include:</a:t>
            </a:r>
          </a:p>
          <a:p>
            <a:pPr lvl="0">
              <a:spcBef>
                <a:spcPts val="600"/>
              </a:spcBef>
              <a:spcAft>
                <a:spcPts val="1200"/>
              </a:spcAft>
            </a:pPr>
            <a:r>
              <a:rPr lang="en-AU" sz="2200" dirty="0" smtClean="0">
                <a:latin typeface="Helvetica" pitchFamily="34" charset="0"/>
              </a:rPr>
              <a:t>Verbally letting them know</a:t>
            </a:r>
          </a:p>
          <a:p>
            <a:pPr lvl="0">
              <a:spcBef>
                <a:spcPts val="600"/>
              </a:spcBef>
              <a:spcAft>
                <a:spcPts val="1200"/>
              </a:spcAft>
            </a:pPr>
            <a:r>
              <a:rPr lang="en-AU" sz="2200" dirty="0" smtClean="0">
                <a:latin typeface="Helvetica" pitchFamily="34" charset="0"/>
              </a:rPr>
              <a:t>Putting a message on the staff noticeboard</a:t>
            </a:r>
          </a:p>
          <a:p>
            <a:pPr lvl="0">
              <a:spcBef>
                <a:spcPts val="600"/>
              </a:spcBef>
              <a:spcAft>
                <a:spcPts val="1200"/>
              </a:spcAft>
            </a:pPr>
            <a:r>
              <a:rPr lang="en-AU" sz="2200" dirty="0" smtClean="0">
                <a:latin typeface="Helvetica" pitchFamily="34" charset="0"/>
              </a:rPr>
              <a:t>Using the e-mail</a:t>
            </a:r>
          </a:p>
          <a:p>
            <a:pPr>
              <a:buNone/>
            </a:pPr>
            <a:endParaRPr lang="en-AU" sz="2400" dirty="0" smtClean="0"/>
          </a:p>
          <a:p>
            <a:pPr lvl="0">
              <a:spcBef>
                <a:spcPts val="600"/>
              </a:spcBef>
              <a:spcAft>
                <a:spcPts val="1200"/>
              </a:spcAft>
              <a:buNone/>
            </a:pPr>
            <a:endParaRPr lang="en-AU" sz="2200" dirty="0" smtClean="0">
              <a:latin typeface="Helvetica" pitchFamily="34" charset="0"/>
            </a:endParaRPr>
          </a:p>
          <a:p>
            <a:pPr lvl="0"/>
            <a:endParaRPr lang="en-AU" sz="2400" dirty="0" smtClean="0"/>
          </a:p>
          <a:p>
            <a:pPr lvl="0">
              <a:buNone/>
            </a:pPr>
            <a:endParaRPr lang="en-AU" sz="2400" dirty="0"/>
          </a:p>
        </p:txBody>
      </p:sp>
      <p:sp>
        <p:nvSpPr>
          <p:cNvPr id="4" name="Slide Number Placeholder 3"/>
          <p:cNvSpPr>
            <a:spLocks noGrp="1"/>
          </p:cNvSpPr>
          <p:nvPr>
            <p:ph type="sldNum" sz="quarter" idx="12"/>
          </p:nvPr>
        </p:nvSpPr>
        <p:spPr/>
        <p:txBody>
          <a:bodyPr/>
          <a:lstStyle/>
          <a:p>
            <a:r>
              <a:rPr lang="en-US" dirty="0" smtClean="0"/>
              <a:t> </a:t>
            </a:r>
            <a:r>
              <a:rPr lang="en-US" sz="1100" dirty="0" smtClean="0">
                <a:latin typeface="Helvetica" pitchFamily="34" charset="0"/>
              </a:rPr>
              <a:t>Slide </a:t>
            </a:r>
            <a:fld id="{90BDF71C-F485-43AE-8825-5070AF1EA8C9}" type="slidenum">
              <a:rPr lang="en-US" sz="1100" smtClean="0">
                <a:latin typeface="Helvetica" pitchFamily="34" charset="0"/>
              </a:rPr>
              <a:pPr/>
              <a:t>79</a:t>
            </a:fld>
            <a:endParaRPr lang="en-US" sz="1100" dirty="0">
              <a:latin typeface="Helvetica" pitchFamily="34" charset="0"/>
            </a:endParaRPr>
          </a:p>
        </p:txBody>
      </p:sp>
      <p:pic>
        <p:nvPicPr>
          <p:cNvPr id="7" name="Picture 6" descr="j0409400.jpg"/>
          <p:cNvPicPr/>
          <p:nvPr/>
        </p:nvPicPr>
        <p:blipFill>
          <a:blip r:embed="rId3" cstate="print"/>
          <a:stretch>
            <a:fillRect/>
          </a:stretch>
        </p:blipFill>
        <p:spPr>
          <a:xfrm>
            <a:off x="6732240" y="2636912"/>
            <a:ext cx="1584176" cy="1525743"/>
          </a:xfrm>
          <a:prstGeom prst="rect">
            <a:avLst/>
          </a:prstGeom>
        </p:spPr>
      </p:pic>
    </p:spTree>
  </p:cSld>
  <p:clrMapOvr>
    <a:masterClrMapping/>
  </p:clrMapOvr>
  <p:timing>
    <p:tnLst>
      <p:par>
        <p:cTn id="1" dur="indefinite" restart="never" nodeType="tmRoot"/>
      </p:par>
    </p:tn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208912" cy="1143000"/>
          </a:xfrm>
        </p:spPr>
        <p:txBody>
          <a:bodyPr>
            <a:normAutofit/>
          </a:bodyPr>
          <a:lstStyle/>
          <a:p>
            <a:r>
              <a:rPr lang="en-AU" sz="3400" b="1" dirty="0" smtClean="0">
                <a:solidFill>
                  <a:srgbClr val="FF6600"/>
                </a:solidFill>
                <a:latin typeface="Helvetica" pitchFamily="34" charset="0"/>
              </a:rPr>
              <a:t>Learners are notified of training details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8136904" cy="5301208"/>
          </a:xfrm>
        </p:spPr>
        <p:txBody>
          <a:bodyPr>
            <a:normAutofit/>
          </a:bodyPr>
          <a:lstStyle/>
          <a:p>
            <a:pPr marL="0">
              <a:spcBef>
                <a:spcPts val="600"/>
              </a:spcBef>
              <a:spcAft>
                <a:spcPts val="1200"/>
              </a:spcAft>
              <a:buNone/>
            </a:pPr>
            <a:r>
              <a:rPr lang="en-AU" sz="2200" b="1" dirty="0" smtClean="0">
                <a:latin typeface="Helvetica" pitchFamily="34" charset="0"/>
              </a:rPr>
              <a:t>Timing</a:t>
            </a:r>
          </a:p>
          <a:p>
            <a:pPr lvl="0">
              <a:spcBef>
                <a:spcPts val="600"/>
              </a:spcBef>
              <a:spcAft>
                <a:spcPts val="1200"/>
              </a:spcAft>
            </a:pPr>
            <a:r>
              <a:rPr lang="en-AU" sz="2200" dirty="0" smtClean="0">
                <a:latin typeface="Helvetica" pitchFamily="34" charset="0"/>
              </a:rPr>
              <a:t>Give exact time in suitable format (AM, PM or 24 hour clock)</a:t>
            </a:r>
          </a:p>
          <a:p>
            <a:pPr lvl="0">
              <a:spcBef>
                <a:spcPts val="600"/>
              </a:spcBef>
              <a:spcAft>
                <a:spcPts val="1200"/>
              </a:spcAft>
            </a:pPr>
            <a:r>
              <a:rPr lang="en-AU" sz="2200" dirty="0" smtClean="0">
                <a:latin typeface="Helvetica" pitchFamily="34" charset="0"/>
              </a:rPr>
              <a:t>Pick up times (where appropriate)</a:t>
            </a:r>
          </a:p>
          <a:p>
            <a:pPr lvl="0">
              <a:spcBef>
                <a:spcPts val="600"/>
              </a:spcBef>
              <a:spcAft>
                <a:spcPts val="1200"/>
              </a:spcAft>
            </a:pPr>
            <a:r>
              <a:rPr lang="en-AU" sz="2200" dirty="0" smtClean="0">
                <a:latin typeface="Helvetica" pitchFamily="34" charset="0"/>
              </a:rPr>
              <a:t>Possible transport time</a:t>
            </a:r>
          </a:p>
          <a:p>
            <a:pPr lvl="0">
              <a:spcBef>
                <a:spcPts val="600"/>
              </a:spcBef>
              <a:spcAft>
                <a:spcPts val="1200"/>
              </a:spcAft>
            </a:pPr>
            <a:r>
              <a:rPr lang="en-AU" sz="2200" dirty="0" smtClean="0">
                <a:latin typeface="Helvetica" pitchFamily="34" charset="0"/>
              </a:rPr>
              <a:t>Access time</a:t>
            </a:r>
          </a:p>
          <a:p>
            <a:pPr lvl="0">
              <a:spcBef>
                <a:spcPts val="600"/>
              </a:spcBef>
              <a:spcAft>
                <a:spcPts val="1200"/>
              </a:spcAft>
            </a:pPr>
            <a:r>
              <a:rPr lang="en-AU" sz="2200" dirty="0" smtClean="0">
                <a:latin typeface="Helvetica" pitchFamily="34" charset="0"/>
              </a:rPr>
              <a:t>Starting time</a:t>
            </a:r>
          </a:p>
          <a:p>
            <a:pPr lvl="0">
              <a:spcBef>
                <a:spcPts val="600"/>
              </a:spcBef>
              <a:spcAft>
                <a:spcPts val="1200"/>
              </a:spcAft>
            </a:pPr>
            <a:r>
              <a:rPr lang="en-AU" sz="2200" dirty="0" smtClean="0">
                <a:latin typeface="Helvetica" pitchFamily="34" charset="0"/>
              </a:rPr>
              <a:t>Break times</a:t>
            </a:r>
          </a:p>
          <a:p>
            <a:pPr lvl="0">
              <a:spcBef>
                <a:spcPts val="600"/>
              </a:spcBef>
              <a:spcAft>
                <a:spcPts val="1200"/>
              </a:spcAft>
            </a:pPr>
            <a:r>
              <a:rPr lang="en-AU" sz="2200" dirty="0" smtClean="0">
                <a:latin typeface="Helvetica" pitchFamily="34" charset="0"/>
              </a:rPr>
              <a:t>Finishing time</a:t>
            </a:r>
          </a:p>
          <a:p>
            <a:pPr lvl="0"/>
            <a:endParaRPr lang="en-AU" sz="2400" dirty="0" smtClean="0"/>
          </a:p>
          <a:p>
            <a:pPr marL="0">
              <a:spcBef>
                <a:spcPts val="600"/>
              </a:spcBef>
              <a:spcAft>
                <a:spcPts val="1200"/>
              </a:spcAft>
              <a:buNone/>
            </a:pPr>
            <a:endParaRPr lang="en-AU" sz="2200" dirty="0" smtClean="0">
              <a:latin typeface="Helvetica" pitchFamily="34" charset="0"/>
            </a:endParaRPr>
          </a:p>
          <a:p>
            <a:pPr>
              <a:buNone/>
            </a:pPr>
            <a:endParaRPr lang="en-AU" sz="2400" dirty="0" smtClean="0"/>
          </a:p>
          <a:p>
            <a:pPr lvl="0">
              <a:spcBef>
                <a:spcPts val="600"/>
              </a:spcBef>
              <a:spcAft>
                <a:spcPts val="1200"/>
              </a:spcAft>
              <a:buNone/>
            </a:pPr>
            <a:endParaRPr lang="en-AU" sz="2200" dirty="0" smtClean="0">
              <a:latin typeface="Helvetica" pitchFamily="34" charset="0"/>
            </a:endParaRPr>
          </a:p>
          <a:p>
            <a:pPr lvl="0"/>
            <a:endParaRPr lang="en-AU" sz="2400" dirty="0" smtClean="0"/>
          </a:p>
          <a:p>
            <a:pPr lvl="0">
              <a:buNone/>
            </a:pPr>
            <a:endParaRPr lang="en-AU" sz="2400" dirty="0"/>
          </a:p>
        </p:txBody>
      </p:sp>
      <p:sp>
        <p:nvSpPr>
          <p:cNvPr id="4" name="Slide Number Placeholder 3"/>
          <p:cNvSpPr>
            <a:spLocks noGrp="1"/>
          </p:cNvSpPr>
          <p:nvPr>
            <p:ph type="sldNum" sz="quarter" idx="12"/>
          </p:nvPr>
        </p:nvSpPr>
        <p:spPr/>
        <p:txBody>
          <a:bodyPr/>
          <a:lstStyle/>
          <a:p>
            <a:r>
              <a:rPr lang="en-US" dirty="0" smtClean="0"/>
              <a:t> </a:t>
            </a:r>
            <a:r>
              <a:rPr lang="en-US" sz="1100" dirty="0" smtClean="0">
                <a:latin typeface="Helvetica" pitchFamily="34" charset="0"/>
              </a:rPr>
              <a:t>Slide </a:t>
            </a:r>
            <a:fld id="{90BDF71C-F485-43AE-8825-5070AF1EA8C9}" type="slidenum">
              <a:rPr lang="en-US" sz="1100" smtClean="0">
                <a:latin typeface="Helvetica" pitchFamily="34" charset="0"/>
              </a:rPr>
              <a:pPr/>
              <a:t>80</a:t>
            </a:fld>
            <a:endParaRPr lang="en-US" sz="1100" dirty="0">
              <a:latin typeface="Helvetica" pitchFamily="34" charset="0"/>
            </a:endParaRPr>
          </a:p>
        </p:txBody>
      </p:sp>
      <p:pic>
        <p:nvPicPr>
          <p:cNvPr id="6" name="Picture 5" descr="MP900446452[1].JPG"/>
          <p:cNvPicPr>
            <a:picLocks noChangeAspect="1"/>
          </p:cNvPicPr>
          <p:nvPr/>
        </p:nvPicPr>
        <p:blipFill>
          <a:blip r:embed="rId3" cstate="print"/>
          <a:stretch>
            <a:fillRect/>
          </a:stretch>
        </p:blipFill>
        <p:spPr>
          <a:xfrm>
            <a:off x="5868144" y="2564904"/>
            <a:ext cx="2348880" cy="2348880"/>
          </a:xfrm>
          <a:prstGeom prst="rect">
            <a:avLst/>
          </a:prstGeom>
        </p:spPr>
      </p:pic>
    </p:spTree>
  </p:cSld>
  <p:clrMapOvr>
    <a:masterClrMapping/>
  </p:clrMapOvr>
  <p:timing>
    <p:tnLst>
      <p:par>
        <p:cTn id="1" dur="indefinite" restart="never" nodeType="tmRoot"/>
      </p:par>
    </p:tn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208912" cy="1143000"/>
          </a:xfrm>
        </p:spPr>
        <p:txBody>
          <a:bodyPr>
            <a:normAutofit/>
          </a:bodyPr>
          <a:lstStyle/>
          <a:p>
            <a:r>
              <a:rPr lang="en-AU" sz="3400" b="1" dirty="0" smtClean="0">
                <a:solidFill>
                  <a:srgbClr val="FF6600"/>
                </a:solidFill>
                <a:latin typeface="Helvetica" pitchFamily="34" charset="0"/>
              </a:rPr>
              <a:t>Learners are notified of training details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8136904" cy="5301208"/>
          </a:xfrm>
        </p:spPr>
        <p:txBody>
          <a:bodyPr>
            <a:normAutofit/>
          </a:bodyPr>
          <a:lstStyle/>
          <a:p>
            <a:pPr>
              <a:spcBef>
                <a:spcPts val="600"/>
              </a:spcBef>
              <a:spcAft>
                <a:spcPts val="1200"/>
              </a:spcAft>
              <a:buNone/>
            </a:pPr>
            <a:r>
              <a:rPr lang="en-AU" sz="2200" b="1" dirty="0" smtClean="0">
                <a:latin typeface="Helvetica" pitchFamily="34" charset="0"/>
              </a:rPr>
              <a:t>Location</a:t>
            </a:r>
            <a:endParaRPr lang="en-AU" sz="2200" dirty="0" smtClean="0">
              <a:latin typeface="Helvetica" pitchFamily="34" charset="0"/>
            </a:endParaRPr>
          </a:p>
          <a:p>
            <a:pPr>
              <a:spcBef>
                <a:spcPts val="600"/>
              </a:spcBef>
              <a:spcAft>
                <a:spcPts val="1200"/>
              </a:spcAft>
            </a:pPr>
            <a:r>
              <a:rPr lang="en-AU" sz="2200" dirty="0" smtClean="0">
                <a:latin typeface="Helvetica" pitchFamily="34" charset="0"/>
              </a:rPr>
              <a:t>Give clear directions</a:t>
            </a:r>
          </a:p>
          <a:p>
            <a:pPr lvl="0">
              <a:spcBef>
                <a:spcPts val="600"/>
              </a:spcBef>
              <a:spcAft>
                <a:spcPts val="1200"/>
              </a:spcAft>
            </a:pPr>
            <a:r>
              <a:rPr lang="en-AU" sz="2200" dirty="0" smtClean="0">
                <a:latin typeface="Helvetica" pitchFamily="34" charset="0"/>
              </a:rPr>
              <a:t>Street address</a:t>
            </a:r>
          </a:p>
          <a:p>
            <a:pPr lvl="0">
              <a:spcBef>
                <a:spcPts val="600"/>
              </a:spcBef>
              <a:spcAft>
                <a:spcPts val="1200"/>
              </a:spcAft>
            </a:pPr>
            <a:r>
              <a:rPr lang="en-AU" sz="2200" dirty="0" smtClean="0">
                <a:latin typeface="Helvetica" pitchFamily="34" charset="0"/>
              </a:rPr>
              <a:t>Building name</a:t>
            </a:r>
          </a:p>
          <a:p>
            <a:pPr lvl="0">
              <a:spcBef>
                <a:spcPts val="600"/>
              </a:spcBef>
              <a:spcAft>
                <a:spcPts val="1200"/>
              </a:spcAft>
            </a:pPr>
            <a:r>
              <a:rPr lang="en-AU" sz="2200" dirty="0" smtClean="0">
                <a:latin typeface="Helvetica" pitchFamily="34" charset="0"/>
              </a:rPr>
              <a:t>Floor</a:t>
            </a:r>
          </a:p>
          <a:p>
            <a:pPr lvl="0">
              <a:spcBef>
                <a:spcPts val="600"/>
              </a:spcBef>
              <a:spcAft>
                <a:spcPts val="1200"/>
              </a:spcAft>
            </a:pPr>
            <a:r>
              <a:rPr lang="en-AU" sz="2200" dirty="0" smtClean="0">
                <a:latin typeface="Helvetica" pitchFamily="34" charset="0"/>
              </a:rPr>
              <a:t>Room number and or name</a:t>
            </a:r>
          </a:p>
          <a:p>
            <a:pPr lvl="0">
              <a:spcBef>
                <a:spcPts val="600"/>
              </a:spcBef>
              <a:spcAft>
                <a:spcPts val="1200"/>
              </a:spcAft>
            </a:pPr>
            <a:r>
              <a:rPr lang="en-AU" sz="2200" dirty="0" smtClean="0">
                <a:latin typeface="Helvetica" pitchFamily="34" charset="0"/>
              </a:rPr>
              <a:t>Details of any transport provided</a:t>
            </a:r>
          </a:p>
          <a:p>
            <a:pPr lvl="0">
              <a:spcBef>
                <a:spcPts val="600"/>
              </a:spcBef>
              <a:spcAft>
                <a:spcPts val="1200"/>
              </a:spcAft>
            </a:pPr>
            <a:r>
              <a:rPr lang="en-AU" sz="2200" dirty="0" smtClean="0">
                <a:latin typeface="Helvetica" pitchFamily="34" charset="0"/>
              </a:rPr>
              <a:t>Suggested route</a:t>
            </a:r>
          </a:p>
          <a:p>
            <a:pPr lvl="0"/>
            <a:endParaRPr lang="en-AU" sz="2400" dirty="0" smtClean="0"/>
          </a:p>
          <a:p>
            <a:pPr marL="0">
              <a:spcBef>
                <a:spcPts val="600"/>
              </a:spcBef>
              <a:spcAft>
                <a:spcPts val="1200"/>
              </a:spcAft>
              <a:buNone/>
            </a:pPr>
            <a:endParaRPr lang="en-AU" sz="2200" dirty="0" smtClean="0">
              <a:latin typeface="Helvetica" pitchFamily="34" charset="0"/>
            </a:endParaRPr>
          </a:p>
          <a:p>
            <a:pPr>
              <a:buNone/>
            </a:pPr>
            <a:endParaRPr lang="en-AU" sz="2400" dirty="0" smtClean="0"/>
          </a:p>
          <a:p>
            <a:pPr lvl="0">
              <a:spcBef>
                <a:spcPts val="600"/>
              </a:spcBef>
              <a:spcAft>
                <a:spcPts val="1200"/>
              </a:spcAft>
              <a:buNone/>
            </a:pPr>
            <a:endParaRPr lang="en-AU" sz="2200" dirty="0" smtClean="0">
              <a:latin typeface="Helvetica" pitchFamily="34" charset="0"/>
            </a:endParaRPr>
          </a:p>
          <a:p>
            <a:pPr lvl="0"/>
            <a:endParaRPr lang="en-AU" sz="2400" dirty="0" smtClean="0"/>
          </a:p>
          <a:p>
            <a:pPr lvl="0">
              <a:buNone/>
            </a:pPr>
            <a:endParaRPr lang="en-AU" sz="2400" dirty="0"/>
          </a:p>
        </p:txBody>
      </p:sp>
      <p:sp>
        <p:nvSpPr>
          <p:cNvPr id="4" name="Slide Number Placeholder 3"/>
          <p:cNvSpPr>
            <a:spLocks noGrp="1"/>
          </p:cNvSpPr>
          <p:nvPr>
            <p:ph type="sldNum" sz="quarter" idx="12"/>
          </p:nvPr>
        </p:nvSpPr>
        <p:spPr/>
        <p:txBody>
          <a:bodyPr/>
          <a:lstStyle/>
          <a:p>
            <a:r>
              <a:rPr lang="en-US" dirty="0" smtClean="0"/>
              <a:t> </a:t>
            </a:r>
            <a:r>
              <a:rPr lang="en-US" sz="1100" dirty="0" smtClean="0">
                <a:latin typeface="Helvetica" pitchFamily="34" charset="0"/>
              </a:rPr>
              <a:t>Slide </a:t>
            </a:r>
            <a:fld id="{90BDF71C-F485-43AE-8825-5070AF1EA8C9}" type="slidenum">
              <a:rPr lang="en-US" sz="1100" smtClean="0">
                <a:latin typeface="Helvetica" pitchFamily="34" charset="0"/>
              </a:rPr>
              <a:pPr/>
              <a:t>81</a:t>
            </a:fld>
            <a:endParaRPr lang="en-US" sz="1100" dirty="0">
              <a:latin typeface="Helvetica" pitchFamily="34" charset="0"/>
            </a:endParaRPr>
          </a:p>
        </p:txBody>
      </p:sp>
      <p:pic>
        <p:nvPicPr>
          <p:cNvPr id="7" name="Picture 6" descr="MP900321197[1].JPG"/>
          <p:cNvPicPr>
            <a:picLocks noChangeAspect="1"/>
          </p:cNvPicPr>
          <p:nvPr/>
        </p:nvPicPr>
        <p:blipFill>
          <a:blip r:embed="rId3" cstate="print"/>
          <a:stretch>
            <a:fillRect/>
          </a:stretch>
        </p:blipFill>
        <p:spPr>
          <a:xfrm>
            <a:off x="5940152" y="2348880"/>
            <a:ext cx="1941334" cy="2721496"/>
          </a:xfrm>
          <a:prstGeom prst="rect">
            <a:avLst/>
          </a:prstGeom>
        </p:spPr>
      </p:pic>
    </p:spTree>
  </p:cSld>
  <p:clrMapOvr>
    <a:masterClrMapping/>
  </p:clrMapOvr>
  <p:timing>
    <p:tnLst>
      <p:par>
        <p:cTn id="1" dur="indefinite" restart="never" nodeType="tmRoot"/>
      </p:par>
    </p:tnLst>
  </p:timing>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208912" cy="1143000"/>
          </a:xfrm>
        </p:spPr>
        <p:txBody>
          <a:bodyPr>
            <a:normAutofit/>
          </a:bodyPr>
          <a:lstStyle/>
          <a:p>
            <a:r>
              <a:rPr lang="en-AU" sz="3400" b="1" dirty="0" smtClean="0">
                <a:solidFill>
                  <a:srgbClr val="FF6600"/>
                </a:solidFill>
                <a:latin typeface="Helvetica" pitchFamily="34" charset="0"/>
              </a:rPr>
              <a:t>Learners are notified of training details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8136904" cy="5301208"/>
          </a:xfrm>
        </p:spPr>
        <p:txBody>
          <a:bodyPr>
            <a:normAutofit/>
          </a:bodyPr>
          <a:lstStyle/>
          <a:p>
            <a:pPr>
              <a:spcBef>
                <a:spcPts val="600"/>
              </a:spcBef>
              <a:spcAft>
                <a:spcPts val="1200"/>
              </a:spcAft>
              <a:buNone/>
            </a:pPr>
            <a:r>
              <a:rPr lang="en-AU" sz="2200" b="1" dirty="0" smtClean="0">
                <a:latin typeface="Helvetica" pitchFamily="34" charset="0"/>
              </a:rPr>
              <a:t>Contact details</a:t>
            </a:r>
            <a:endParaRPr lang="en-AU" sz="2200" dirty="0" smtClean="0">
              <a:latin typeface="Helvetica" pitchFamily="34" charset="0"/>
            </a:endParaRPr>
          </a:p>
          <a:p>
            <a:pPr lvl="0">
              <a:spcBef>
                <a:spcPts val="600"/>
              </a:spcBef>
              <a:spcAft>
                <a:spcPts val="1200"/>
              </a:spcAft>
            </a:pPr>
            <a:r>
              <a:rPr lang="en-AU" sz="2200" dirty="0" smtClean="0">
                <a:latin typeface="Helvetica" pitchFamily="34" charset="0"/>
              </a:rPr>
              <a:t>Your contact details</a:t>
            </a:r>
          </a:p>
          <a:p>
            <a:pPr lvl="0">
              <a:spcBef>
                <a:spcPts val="600"/>
              </a:spcBef>
              <a:spcAft>
                <a:spcPts val="1200"/>
              </a:spcAft>
            </a:pPr>
            <a:r>
              <a:rPr lang="en-AU" sz="2200" dirty="0" smtClean="0">
                <a:latin typeface="Helvetica" pitchFamily="34" charset="0"/>
              </a:rPr>
              <a:t>Venue contact details</a:t>
            </a:r>
          </a:p>
          <a:p>
            <a:pPr lvl="0">
              <a:spcBef>
                <a:spcPts val="600"/>
              </a:spcBef>
              <a:spcAft>
                <a:spcPts val="1200"/>
              </a:spcAft>
            </a:pPr>
            <a:r>
              <a:rPr lang="en-AU" sz="2200" dirty="0" smtClean="0">
                <a:latin typeface="Helvetica" pitchFamily="34" charset="0"/>
              </a:rPr>
              <a:t>Courier details</a:t>
            </a:r>
          </a:p>
          <a:p>
            <a:pPr lvl="0">
              <a:spcBef>
                <a:spcPts val="600"/>
              </a:spcBef>
              <a:spcAft>
                <a:spcPts val="1200"/>
              </a:spcAft>
            </a:pPr>
            <a:r>
              <a:rPr lang="en-AU" sz="2200" dirty="0" smtClean="0">
                <a:latin typeface="Helvetica" pitchFamily="34" charset="0"/>
              </a:rPr>
              <a:t>Reservation details (if accommodation needed)</a:t>
            </a:r>
          </a:p>
          <a:p>
            <a:pPr lvl="0"/>
            <a:endParaRPr lang="en-AU" sz="2400" dirty="0" smtClean="0"/>
          </a:p>
          <a:p>
            <a:pPr marL="0">
              <a:spcBef>
                <a:spcPts val="600"/>
              </a:spcBef>
              <a:spcAft>
                <a:spcPts val="1200"/>
              </a:spcAft>
              <a:buNone/>
            </a:pPr>
            <a:endParaRPr lang="en-AU" sz="2200" dirty="0" smtClean="0">
              <a:latin typeface="Helvetica" pitchFamily="34" charset="0"/>
            </a:endParaRPr>
          </a:p>
          <a:p>
            <a:pPr>
              <a:buNone/>
            </a:pPr>
            <a:endParaRPr lang="en-AU" sz="2400" dirty="0" smtClean="0"/>
          </a:p>
          <a:p>
            <a:pPr lvl="0">
              <a:spcBef>
                <a:spcPts val="600"/>
              </a:spcBef>
              <a:spcAft>
                <a:spcPts val="1200"/>
              </a:spcAft>
              <a:buNone/>
            </a:pPr>
            <a:endParaRPr lang="en-AU" sz="2200" dirty="0" smtClean="0">
              <a:latin typeface="Helvetica" pitchFamily="34" charset="0"/>
            </a:endParaRPr>
          </a:p>
          <a:p>
            <a:pPr lvl="0"/>
            <a:endParaRPr lang="en-AU" sz="2400" dirty="0" smtClean="0"/>
          </a:p>
          <a:p>
            <a:pPr lvl="0">
              <a:buNone/>
            </a:pPr>
            <a:endParaRPr lang="en-AU" sz="2400" dirty="0"/>
          </a:p>
        </p:txBody>
      </p:sp>
      <p:sp>
        <p:nvSpPr>
          <p:cNvPr id="4" name="Slide Number Placeholder 3"/>
          <p:cNvSpPr>
            <a:spLocks noGrp="1"/>
          </p:cNvSpPr>
          <p:nvPr>
            <p:ph type="sldNum" sz="quarter" idx="12"/>
          </p:nvPr>
        </p:nvSpPr>
        <p:spPr/>
        <p:txBody>
          <a:bodyPr/>
          <a:lstStyle/>
          <a:p>
            <a:r>
              <a:rPr lang="en-US" dirty="0" smtClean="0"/>
              <a:t> </a:t>
            </a:r>
            <a:r>
              <a:rPr lang="en-US" sz="1100" dirty="0" smtClean="0">
                <a:latin typeface="Helvetica" pitchFamily="34" charset="0"/>
              </a:rPr>
              <a:t>Slide </a:t>
            </a:r>
            <a:fld id="{90BDF71C-F485-43AE-8825-5070AF1EA8C9}" type="slidenum">
              <a:rPr lang="en-US" sz="1100" smtClean="0">
                <a:latin typeface="Helvetica" pitchFamily="34" charset="0"/>
              </a:rPr>
              <a:pPr/>
              <a:t>82</a:t>
            </a:fld>
            <a:endParaRPr lang="en-US" sz="1100" dirty="0">
              <a:latin typeface="Helvetica" pitchFamily="34" charset="0"/>
            </a:endParaRPr>
          </a:p>
        </p:txBody>
      </p:sp>
      <p:pic>
        <p:nvPicPr>
          <p:cNvPr id="6" name="Picture 5" descr="j0402032.jpg"/>
          <p:cNvPicPr>
            <a:picLocks noChangeAspect="1"/>
          </p:cNvPicPr>
          <p:nvPr/>
        </p:nvPicPr>
        <p:blipFill>
          <a:blip r:embed="rId3" cstate="print"/>
          <a:stretch>
            <a:fillRect/>
          </a:stretch>
        </p:blipFill>
        <p:spPr>
          <a:xfrm>
            <a:off x="5652120" y="1916832"/>
            <a:ext cx="2401729" cy="1600527"/>
          </a:xfrm>
          <a:prstGeom prst="rect">
            <a:avLst/>
          </a:prstGeom>
        </p:spPr>
      </p:pic>
    </p:spTree>
  </p:cSld>
  <p:clrMapOvr>
    <a:masterClrMapping/>
  </p:clrMapOvr>
  <p:timing>
    <p:tnLst>
      <p:par>
        <p:cTn id="1" dur="indefinite" restart="never" nodeType="tmRoot"/>
      </p:par>
    </p:tnLst>
  </p:timing>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208912" cy="1143000"/>
          </a:xfrm>
        </p:spPr>
        <p:txBody>
          <a:bodyPr>
            <a:normAutofit/>
          </a:bodyPr>
          <a:lstStyle/>
          <a:p>
            <a:r>
              <a:rPr lang="en-US" sz="3400" b="1" dirty="0" smtClean="0">
                <a:solidFill>
                  <a:srgbClr val="FF6600"/>
                </a:solidFill>
                <a:latin typeface="Helvetica" pitchFamily="34" charset="0"/>
              </a:rPr>
              <a:t>Notify learners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8136904" cy="5301208"/>
          </a:xfrm>
        </p:spPr>
        <p:txBody>
          <a:bodyPr>
            <a:normAutofit/>
          </a:bodyPr>
          <a:lstStyle/>
          <a:p>
            <a:pPr>
              <a:spcBef>
                <a:spcPts val="600"/>
              </a:spcBef>
              <a:spcAft>
                <a:spcPts val="1200"/>
              </a:spcAft>
              <a:buNone/>
            </a:pPr>
            <a:r>
              <a:rPr lang="en-AU" sz="2200" b="1" dirty="0" smtClean="0">
                <a:latin typeface="Helvetica" pitchFamily="34" charset="0"/>
              </a:rPr>
              <a:t>What to bring</a:t>
            </a:r>
            <a:endParaRPr lang="en-AU" sz="2200" dirty="0" smtClean="0">
              <a:latin typeface="Helvetica" pitchFamily="34" charset="0"/>
            </a:endParaRPr>
          </a:p>
          <a:p>
            <a:pPr lvl="0">
              <a:spcBef>
                <a:spcPts val="600"/>
              </a:spcBef>
              <a:spcAft>
                <a:spcPts val="1200"/>
              </a:spcAft>
            </a:pPr>
            <a:r>
              <a:rPr lang="en-AU" sz="2200" dirty="0" smtClean="0">
                <a:latin typeface="Helvetica" pitchFamily="34" charset="0"/>
              </a:rPr>
              <a:t>Paper and pen</a:t>
            </a:r>
          </a:p>
          <a:p>
            <a:pPr lvl="0">
              <a:spcBef>
                <a:spcPts val="600"/>
              </a:spcBef>
              <a:spcAft>
                <a:spcPts val="1200"/>
              </a:spcAft>
            </a:pPr>
            <a:r>
              <a:rPr lang="en-AU" sz="2200" dirty="0" smtClean="0">
                <a:latin typeface="Helvetica" pitchFamily="34" charset="0"/>
              </a:rPr>
              <a:t>Training materials (if already distributed)</a:t>
            </a:r>
          </a:p>
          <a:p>
            <a:pPr lvl="0">
              <a:spcBef>
                <a:spcPts val="600"/>
              </a:spcBef>
              <a:spcAft>
                <a:spcPts val="1200"/>
              </a:spcAft>
            </a:pPr>
            <a:r>
              <a:rPr lang="en-AU" sz="2200" dirty="0" smtClean="0">
                <a:latin typeface="Helvetica" pitchFamily="34" charset="0"/>
              </a:rPr>
              <a:t>Portfolio of work they are preparing</a:t>
            </a:r>
          </a:p>
          <a:p>
            <a:pPr lvl="0">
              <a:spcBef>
                <a:spcPts val="600"/>
              </a:spcBef>
              <a:spcAft>
                <a:spcPts val="1200"/>
              </a:spcAft>
            </a:pPr>
            <a:r>
              <a:rPr lang="en-AU" sz="2200" dirty="0" smtClean="0">
                <a:latin typeface="Helvetica" pitchFamily="34" charset="0"/>
              </a:rPr>
              <a:t>Samples of work already prepared</a:t>
            </a:r>
          </a:p>
          <a:p>
            <a:pPr lvl="0">
              <a:spcBef>
                <a:spcPts val="600"/>
              </a:spcBef>
              <a:spcAft>
                <a:spcPts val="1200"/>
              </a:spcAft>
            </a:pPr>
            <a:r>
              <a:rPr lang="en-AU" sz="2200" dirty="0" smtClean="0">
                <a:latin typeface="Helvetica" pitchFamily="34" charset="0"/>
              </a:rPr>
              <a:t>Personal protective equipment and clothing</a:t>
            </a:r>
          </a:p>
          <a:p>
            <a:pPr lvl="0">
              <a:spcBef>
                <a:spcPts val="600"/>
              </a:spcBef>
              <a:spcAft>
                <a:spcPts val="1200"/>
              </a:spcAft>
            </a:pPr>
            <a:r>
              <a:rPr lang="en-AU" sz="2200" dirty="0" smtClean="0">
                <a:latin typeface="Helvetica" pitchFamily="34" charset="0"/>
              </a:rPr>
              <a:t>If food is being provided</a:t>
            </a:r>
          </a:p>
          <a:p>
            <a:pPr lvl="0">
              <a:spcBef>
                <a:spcPts val="600"/>
              </a:spcBef>
              <a:spcAft>
                <a:spcPts val="1200"/>
              </a:spcAft>
            </a:pPr>
            <a:endParaRPr lang="en-AU" sz="2200" dirty="0" smtClean="0">
              <a:latin typeface="Helvetica" pitchFamily="34" charset="0"/>
            </a:endParaRPr>
          </a:p>
          <a:p>
            <a:pPr lvl="0"/>
            <a:endParaRPr lang="en-AU" sz="2400" dirty="0" smtClean="0"/>
          </a:p>
          <a:p>
            <a:pPr marL="0">
              <a:spcBef>
                <a:spcPts val="600"/>
              </a:spcBef>
              <a:spcAft>
                <a:spcPts val="1200"/>
              </a:spcAft>
              <a:buNone/>
            </a:pPr>
            <a:endParaRPr lang="en-AU" sz="2200" dirty="0" smtClean="0">
              <a:latin typeface="Helvetica" pitchFamily="34" charset="0"/>
            </a:endParaRPr>
          </a:p>
          <a:p>
            <a:pPr>
              <a:buNone/>
            </a:pPr>
            <a:endParaRPr lang="en-AU" sz="2400" dirty="0" smtClean="0"/>
          </a:p>
          <a:p>
            <a:pPr lvl="0">
              <a:spcBef>
                <a:spcPts val="600"/>
              </a:spcBef>
              <a:spcAft>
                <a:spcPts val="1200"/>
              </a:spcAft>
              <a:buNone/>
            </a:pPr>
            <a:endParaRPr lang="en-AU" sz="2200" dirty="0" smtClean="0">
              <a:latin typeface="Helvetica" pitchFamily="34" charset="0"/>
            </a:endParaRPr>
          </a:p>
          <a:p>
            <a:pPr lvl="0"/>
            <a:endParaRPr lang="en-AU" sz="2400" dirty="0" smtClean="0"/>
          </a:p>
          <a:p>
            <a:pPr lvl="0">
              <a:buNone/>
            </a:pPr>
            <a:endParaRPr lang="en-AU" sz="2400" dirty="0"/>
          </a:p>
        </p:txBody>
      </p:sp>
      <p:sp>
        <p:nvSpPr>
          <p:cNvPr id="4" name="Slide Number Placeholder 3"/>
          <p:cNvSpPr>
            <a:spLocks noGrp="1"/>
          </p:cNvSpPr>
          <p:nvPr>
            <p:ph type="sldNum" sz="quarter" idx="12"/>
          </p:nvPr>
        </p:nvSpPr>
        <p:spPr/>
        <p:txBody>
          <a:bodyPr/>
          <a:lstStyle/>
          <a:p>
            <a:r>
              <a:rPr lang="en-US" dirty="0" smtClean="0"/>
              <a:t> </a:t>
            </a:r>
            <a:r>
              <a:rPr lang="en-US" sz="1100" dirty="0" smtClean="0">
                <a:latin typeface="Helvetica" pitchFamily="34" charset="0"/>
              </a:rPr>
              <a:t>Slide </a:t>
            </a:r>
            <a:fld id="{90BDF71C-F485-43AE-8825-5070AF1EA8C9}" type="slidenum">
              <a:rPr lang="en-US" sz="1100" smtClean="0">
                <a:latin typeface="Helvetica" pitchFamily="34" charset="0"/>
              </a:rPr>
              <a:pPr/>
              <a:t>83</a:t>
            </a:fld>
            <a:endParaRPr lang="en-US" sz="1100" dirty="0">
              <a:latin typeface="Helvetica" pitchFamily="34" charset="0"/>
            </a:endParaRPr>
          </a:p>
        </p:txBody>
      </p:sp>
      <p:pic>
        <p:nvPicPr>
          <p:cNvPr id="6" name="Picture 5" descr="MP900422149[1].JPG"/>
          <p:cNvPicPr/>
          <p:nvPr/>
        </p:nvPicPr>
        <p:blipFill>
          <a:blip r:embed="rId3" cstate="print"/>
          <a:stretch>
            <a:fillRect/>
          </a:stretch>
        </p:blipFill>
        <p:spPr>
          <a:xfrm>
            <a:off x="6309871" y="2780928"/>
            <a:ext cx="2089697" cy="1368152"/>
          </a:xfrm>
          <a:prstGeom prst="rect">
            <a:avLst/>
          </a:prstGeom>
        </p:spPr>
      </p:pic>
    </p:spTree>
  </p:cSld>
  <p:clrMapOvr>
    <a:masterClrMapping/>
  </p:clrMapOvr>
  <p:timing>
    <p:tnLst>
      <p:par>
        <p:cTn id="1" dur="indefinite" restart="never" nodeType="tmRoot"/>
      </p:par>
    </p:tnLst>
  </p:timing>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208912" cy="1143000"/>
          </a:xfrm>
        </p:spPr>
        <p:txBody>
          <a:bodyPr>
            <a:normAutofit/>
          </a:bodyPr>
          <a:lstStyle/>
          <a:p>
            <a:r>
              <a:rPr lang="en-US" sz="3400" b="1" dirty="0" smtClean="0">
                <a:solidFill>
                  <a:srgbClr val="FF6600"/>
                </a:solidFill>
                <a:latin typeface="Helvetica" pitchFamily="34" charset="0"/>
              </a:rPr>
              <a:t>Notify learners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8136904" cy="5301208"/>
          </a:xfrm>
        </p:spPr>
        <p:txBody>
          <a:bodyPr>
            <a:normAutofit/>
          </a:bodyPr>
          <a:lstStyle/>
          <a:p>
            <a:pPr>
              <a:spcBef>
                <a:spcPts val="600"/>
              </a:spcBef>
              <a:spcAft>
                <a:spcPts val="1200"/>
              </a:spcAft>
              <a:buNone/>
            </a:pPr>
            <a:r>
              <a:rPr lang="en-AU" sz="2200" b="1" dirty="0" smtClean="0">
                <a:latin typeface="Helvetica" pitchFamily="34" charset="0"/>
              </a:rPr>
              <a:t>People attending</a:t>
            </a:r>
            <a:endParaRPr lang="en-AU" sz="2200" dirty="0" smtClean="0">
              <a:latin typeface="Helvetica" pitchFamily="34" charset="0"/>
            </a:endParaRPr>
          </a:p>
          <a:p>
            <a:pPr marL="0">
              <a:spcBef>
                <a:spcPts val="600"/>
              </a:spcBef>
              <a:spcAft>
                <a:spcPts val="1200"/>
              </a:spcAft>
              <a:buNone/>
            </a:pPr>
            <a:r>
              <a:rPr lang="en-AU" sz="2200" dirty="0" smtClean="0">
                <a:latin typeface="Helvetica" pitchFamily="34" charset="0"/>
              </a:rPr>
              <a:t>Notify them about anyone who will be attending the training session and give an indication as to why that person will be there. </a:t>
            </a:r>
          </a:p>
          <a:p>
            <a:pPr>
              <a:spcBef>
                <a:spcPts val="600"/>
              </a:spcBef>
              <a:spcAft>
                <a:spcPts val="1200"/>
              </a:spcAft>
              <a:buNone/>
            </a:pPr>
            <a:r>
              <a:rPr lang="en-AU" sz="2200" dirty="0" smtClean="0">
                <a:latin typeface="Helvetica" pitchFamily="34" charset="0"/>
              </a:rPr>
              <a:t>This can include:</a:t>
            </a:r>
          </a:p>
          <a:p>
            <a:pPr lvl="0">
              <a:spcBef>
                <a:spcPts val="600"/>
              </a:spcBef>
              <a:spcAft>
                <a:spcPts val="1200"/>
              </a:spcAft>
            </a:pPr>
            <a:r>
              <a:rPr lang="en-AU" sz="2200" dirty="0" smtClean="0">
                <a:latin typeface="Helvetica" pitchFamily="34" charset="0"/>
              </a:rPr>
              <a:t>List of other participants</a:t>
            </a:r>
          </a:p>
          <a:p>
            <a:pPr lvl="0">
              <a:spcBef>
                <a:spcPts val="600"/>
              </a:spcBef>
              <a:spcAft>
                <a:spcPts val="1200"/>
              </a:spcAft>
            </a:pPr>
            <a:r>
              <a:rPr lang="en-AU" sz="2200" dirty="0" smtClean="0">
                <a:latin typeface="Helvetica" pitchFamily="34" charset="0"/>
              </a:rPr>
              <a:t>A guest speaker</a:t>
            </a:r>
          </a:p>
          <a:p>
            <a:pPr lvl="0">
              <a:spcBef>
                <a:spcPts val="600"/>
              </a:spcBef>
              <a:spcAft>
                <a:spcPts val="1200"/>
              </a:spcAft>
            </a:pPr>
            <a:r>
              <a:rPr lang="en-AU" sz="2200" dirty="0" smtClean="0">
                <a:latin typeface="Helvetica" pitchFamily="34" charset="0"/>
              </a:rPr>
              <a:t>A representative from a supplier company </a:t>
            </a:r>
          </a:p>
          <a:p>
            <a:pPr lvl="0">
              <a:spcBef>
                <a:spcPts val="600"/>
              </a:spcBef>
              <a:spcAft>
                <a:spcPts val="1200"/>
              </a:spcAft>
            </a:pPr>
            <a:r>
              <a:rPr lang="en-AU" sz="2200" dirty="0" smtClean="0">
                <a:latin typeface="Helvetica" pitchFamily="34" charset="0"/>
              </a:rPr>
              <a:t>A management representative</a:t>
            </a:r>
          </a:p>
          <a:p>
            <a:pPr lvl="0">
              <a:spcBef>
                <a:spcPts val="600"/>
              </a:spcBef>
              <a:spcAft>
                <a:spcPts val="1200"/>
              </a:spcAft>
            </a:pPr>
            <a:endParaRPr lang="en-AU" sz="2200" dirty="0" smtClean="0">
              <a:latin typeface="Helvetica" pitchFamily="34" charset="0"/>
            </a:endParaRPr>
          </a:p>
          <a:p>
            <a:pPr lvl="0"/>
            <a:endParaRPr lang="en-AU" sz="2400" dirty="0" smtClean="0"/>
          </a:p>
          <a:p>
            <a:pPr marL="0">
              <a:spcBef>
                <a:spcPts val="600"/>
              </a:spcBef>
              <a:spcAft>
                <a:spcPts val="1200"/>
              </a:spcAft>
              <a:buNone/>
            </a:pPr>
            <a:endParaRPr lang="en-AU" sz="2200" dirty="0" smtClean="0">
              <a:latin typeface="Helvetica" pitchFamily="34" charset="0"/>
            </a:endParaRPr>
          </a:p>
          <a:p>
            <a:pPr>
              <a:buNone/>
            </a:pPr>
            <a:endParaRPr lang="en-AU" sz="2400" dirty="0" smtClean="0"/>
          </a:p>
          <a:p>
            <a:pPr lvl="0">
              <a:spcBef>
                <a:spcPts val="600"/>
              </a:spcBef>
              <a:spcAft>
                <a:spcPts val="1200"/>
              </a:spcAft>
              <a:buNone/>
            </a:pPr>
            <a:endParaRPr lang="en-AU" sz="2200" dirty="0" smtClean="0">
              <a:latin typeface="Helvetica" pitchFamily="34" charset="0"/>
            </a:endParaRPr>
          </a:p>
          <a:p>
            <a:pPr lvl="0"/>
            <a:endParaRPr lang="en-AU" sz="2400" dirty="0" smtClean="0"/>
          </a:p>
          <a:p>
            <a:pPr lvl="0">
              <a:buNone/>
            </a:pPr>
            <a:endParaRPr lang="en-AU" sz="2400" dirty="0"/>
          </a:p>
        </p:txBody>
      </p:sp>
      <p:sp>
        <p:nvSpPr>
          <p:cNvPr id="4" name="Slide Number Placeholder 3"/>
          <p:cNvSpPr>
            <a:spLocks noGrp="1"/>
          </p:cNvSpPr>
          <p:nvPr>
            <p:ph type="sldNum" sz="quarter" idx="12"/>
          </p:nvPr>
        </p:nvSpPr>
        <p:spPr/>
        <p:txBody>
          <a:bodyPr/>
          <a:lstStyle/>
          <a:p>
            <a:r>
              <a:rPr lang="en-US" dirty="0" smtClean="0"/>
              <a:t> </a:t>
            </a:r>
            <a:r>
              <a:rPr lang="en-US" sz="1100" dirty="0" smtClean="0">
                <a:latin typeface="Helvetica" pitchFamily="34" charset="0"/>
              </a:rPr>
              <a:t>Slide </a:t>
            </a:r>
            <a:fld id="{90BDF71C-F485-43AE-8825-5070AF1EA8C9}" type="slidenum">
              <a:rPr lang="en-US" sz="1100" smtClean="0">
                <a:latin typeface="Helvetica" pitchFamily="34" charset="0"/>
              </a:rPr>
              <a:pPr/>
              <a:t>84</a:t>
            </a:fld>
            <a:endParaRPr lang="en-US" sz="1100" dirty="0">
              <a:latin typeface="Helvetica" pitchFamily="34" charset="0"/>
            </a:endParaRPr>
          </a:p>
        </p:txBody>
      </p:sp>
      <p:pic>
        <p:nvPicPr>
          <p:cNvPr id="6" name="Picture 5" descr="I:\Overseas Projects\PHOTOS\2012\Office\1209813_conference_registration_sign.jpg"/>
          <p:cNvPicPr/>
          <p:nvPr/>
        </p:nvPicPr>
        <p:blipFill>
          <a:blip r:embed="rId3" cstate="print"/>
          <a:srcRect/>
          <a:stretch>
            <a:fillRect/>
          </a:stretch>
        </p:blipFill>
        <p:spPr bwMode="auto">
          <a:xfrm>
            <a:off x="5573380" y="3140968"/>
            <a:ext cx="2399220" cy="1584176"/>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208912" cy="1143000"/>
          </a:xfrm>
        </p:spPr>
        <p:txBody>
          <a:bodyPr>
            <a:normAutofit/>
          </a:bodyPr>
          <a:lstStyle/>
          <a:p>
            <a:r>
              <a:rPr lang="en-US" sz="3400" b="1" dirty="0" smtClean="0">
                <a:solidFill>
                  <a:srgbClr val="FF6600"/>
                </a:solidFill>
                <a:latin typeface="Helvetica" pitchFamily="34" charset="0"/>
              </a:rPr>
              <a:t>Support Information</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8136904" cy="5301208"/>
          </a:xfrm>
        </p:spPr>
        <p:txBody>
          <a:bodyPr>
            <a:normAutofit/>
          </a:bodyPr>
          <a:lstStyle/>
          <a:p>
            <a:pPr>
              <a:spcBef>
                <a:spcPts val="600"/>
              </a:spcBef>
              <a:spcAft>
                <a:spcPts val="1200"/>
              </a:spcAft>
              <a:buNone/>
            </a:pPr>
            <a:r>
              <a:rPr lang="en-AU" sz="2200" b="1" dirty="0" smtClean="0">
                <a:latin typeface="Helvetica" pitchFamily="34" charset="0"/>
              </a:rPr>
              <a:t>Provide payments and reimbursements</a:t>
            </a:r>
            <a:endParaRPr lang="en-AU" sz="2200" dirty="0" smtClean="0">
              <a:latin typeface="Helvetica" pitchFamily="34" charset="0"/>
            </a:endParaRPr>
          </a:p>
          <a:p>
            <a:pPr>
              <a:spcBef>
                <a:spcPts val="600"/>
              </a:spcBef>
              <a:spcAft>
                <a:spcPts val="1200"/>
              </a:spcAft>
              <a:buNone/>
            </a:pPr>
            <a:r>
              <a:rPr lang="en-AU" sz="2200" dirty="0" smtClean="0">
                <a:latin typeface="Helvetica" pitchFamily="34" charset="0"/>
              </a:rPr>
              <a:t>These payments may be in relation to:</a:t>
            </a:r>
          </a:p>
          <a:p>
            <a:pPr lvl="0">
              <a:spcBef>
                <a:spcPts val="600"/>
              </a:spcBef>
              <a:spcAft>
                <a:spcPts val="1200"/>
              </a:spcAft>
            </a:pPr>
            <a:r>
              <a:rPr lang="en-AU" sz="2200" dirty="0" smtClean="0">
                <a:latin typeface="Helvetica" pitchFamily="34" charset="0"/>
              </a:rPr>
              <a:t>Transportation </a:t>
            </a:r>
          </a:p>
          <a:p>
            <a:pPr lvl="0">
              <a:spcBef>
                <a:spcPts val="600"/>
              </a:spcBef>
              <a:spcAft>
                <a:spcPts val="1200"/>
              </a:spcAft>
            </a:pPr>
            <a:r>
              <a:rPr lang="en-AU" sz="2200" dirty="0" smtClean="0">
                <a:latin typeface="Helvetica" pitchFamily="34" charset="0"/>
              </a:rPr>
              <a:t>Per diems </a:t>
            </a:r>
          </a:p>
          <a:p>
            <a:pPr lvl="0">
              <a:spcBef>
                <a:spcPts val="600"/>
              </a:spcBef>
              <a:spcAft>
                <a:spcPts val="1200"/>
              </a:spcAft>
            </a:pPr>
            <a:r>
              <a:rPr lang="en-AU" sz="2200" dirty="0" smtClean="0">
                <a:latin typeface="Helvetica" pitchFamily="34" charset="0"/>
              </a:rPr>
              <a:t>Accommodation</a:t>
            </a:r>
          </a:p>
          <a:p>
            <a:pPr lvl="0">
              <a:spcBef>
                <a:spcPts val="600"/>
              </a:spcBef>
              <a:spcAft>
                <a:spcPts val="1200"/>
              </a:spcAft>
            </a:pPr>
            <a:r>
              <a:rPr lang="en-AU" sz="2200" dirty="0" smtClean="0">
                <a:latin typeface="Helvetica" pitchFamily="34" charset="0"/>
              </a:rPr>
              <a:t>Meals</a:t>
            </a:r>
          </a:p>
          <a:p>
            <a:pPr lvl="0">
              <a:spcBef>
                <a:spcPts val="600"/>
              </a:spcBef>
              <a:spcAft>
                <a:spcPts val="1200"/>
              </a:spcAft>
            </a:pPr>
            <a:r>
              <a:rPr lang="en-AU" sz="2200" dirty="0" smtClean="0">
                <a:latin typeface="Helvetica" pitchFamily="34" charset="0"/>
              </a:rPr>
              <a:t>Purchase of equipment, uniforms or tools</a:t>
            </a:r>
          </a:p>
          <a:p>
            <a:pPr lvl="0">
              <a:spcBef>
                <a:spcPts val="600"/>
              </a:spcBef>
              <a:spcAft>
                <a:spcPts val="1200"/>
              </a:spcAft>
            </a:pPr>
            <a:r>
              <a:rPr lang="en-AU" sz="2200" dirty="0" smtClean="0">
                <a:latin typeface="Helvetica" pitchFamily="34" charset="0"/>
              </a:rPr>
              <a:t>Visas and medical vaccinations</a:t>
            </a:r>
          </a:p>
          <a:p>
            <a:pPr lvl="0">
              <a:spcBef>
                <a:spcPts val="600"/>
              </a:spcBef>
              <a:spcAft>
                <a:spcPts val="1200"/>
              </a:spcAft>
            </a:pPr>
            <a:r>
              <a:rPr lang="en-AU" sz="2200" dirty="0" smtClean="0">
                <a:latin typeface="Helvetica" pitchFamily="34" charset="0"/>
              </a:rPr>
              <a:t>Printing of materials</a:t>
            </a:r>
          </a:p>
          <a:p>
            <a:pPr lvl="0">
              <a:spcBef>
                <a:spcPts val="600"/>
              </a:spcBef>
              <a:spcAft>
                <a:spcPts val="1200"/>
              </a:spcAft>
            </a:pPr>
            <a:endParaRPr lang="en-AU" sz="2200" dirty="0" smtClean="0">
              <a:latin typeface="Helvetica" pitchFamily="34" charset="0"/>
            </a:endParaRPr>
          </a:p>
          <a:p>
            <a:pPr lvl="0"/>
            <a:endParaRPr lang="en-AU" sz="2400" dirty="0" smtClean="0"/>
          </a:p>
          <a:p>
            <a:pPr marL="0">
              <a:spcBef>
                <a:spcPts val="600"/>
              </a:spcBef>
              <a:spcAft>
                <a:spcPts val="1200"/>
              </a:spcAft>
              <a:buNone/>
            </a:pPr>
            <a:endParaRPr lang="en-AU" sz="2200" dirty="0" smtClean="0">
              <a:latin typeface="Helvetica" pitchFamily="34" charset="0"/>
            </a:endParaRPr>
          </a:p>
          <a:p>
            <a:pPr>
              <a:buNone/>
            </a:pPr>
            <a:endParaRPr lang="en-AU" sz="2400" dirty="0" smtClean="0"/>
          </a:p>
          <a:p>
            <a:pPr lvl="0">
              <a:spcBef>
                <a:spcPts val="600"/>
              </a:spcBef>
              <a:spcAft>
                <a:spcPts val="1200"/>
              </a:spcAft>
              <a:buNone/>
            </a:pPr>
            <a:endParaRPr lang="en-AU" sz="2200" dirty="0" smtClean="0">
              <a:latin typeface="Helvetica" pitchFamily="34" charset="0"/>
            </a:endParaRPr>
          </a:p>
          <a:p>
            <a:pPr lvl="0"/>
            <a:endParaRPr lang="en-AU" sz="2400" dirty="0" smtClean="0"/>
          </a:p>
          <a:p>
            <a:pPr lvl="0">
              <a:buNone/>
            </a:pPr>
            <a:endParaRPr lang="en-AU" sz="2400" dirty="0"/>
          </a:p>
        </p:txBody>
      </p:sp>
      <p:sp>
        <p:nvSpPr>
          <p:cNvPr id="4" name="Slide Number Placeholder 3"/>
          <p:cNvSpPr>
            <a:spLocks noGrp="1"/>
          </p:cNvSpPr>
          <p:nvPr>
            <p:ph type="sldNum" sz="quarter" idx="12"/>
          </p:nvPr>
        </p:nvSpPr>
        <p:spPr/>
        <p:txBody>
          <a:bodyPr/>
          <a:lstStyle/>
          <a:p>
            <a:r>
              <a:rPr lang="en-US" dirty="0" smtClean="0"/>
              <a:t> </a:t>
            </a:r>
            <a:r>
              <a:rPr lang="en-US" sz="1100" dirty="0" smtClean="0">
                <a:latin typeface="Helvetica" pitchFamily="34" charset="0"/>
              </a:rPr>
              <a:t>Slide </a:t>
            </a:r>
            <a:fld id="{90BDF71C-F485-43AE-8825-5070AF1EA8C9}" type="slidenum">
              <a:rPr lang="en-US" sz="1100" smtClean="0">
                <a:latin typeface="Helvetica" pitchFamily="34" charset="0"/>
              </a:rPr>
              <a:pPr/>
              <a:t>85</a:t>
            </a:fld>
            <a:endParaRPr lang="en-US" sz="1100" dirty="0">
              <a:latin typeface="Helvetica" pitchFamily="34" charset="0"/>
            </a:endParaRPr>
          </a:p>
        </p:txBody>
      </p:sp>
      <p:pic>
        <p:nvPicPr>
          <p:cNvPr id="7" name="Picture 6" descr="C:\Documents and Settings\danielc\Desktop\Plan and implement a series of training events\freeimage-7746150.jpg"/>
          <p:cNvPicPr/>
          <p:nvPr/>
        </p:nvPicPr>
        <p:blipFill>
          <a:blip r:embed="rId3" cstate="print">
            <a:lum contrast="10000"/>
          </a:blip>
          <a:srcRect/>
          <a:stretch>
            <a:fillRect/>
          </a:stretch>
        </p:blipFill>
        <p:spPr bwMode="auto">
          <a:xfrm>
            <a:off x="6588224" y="2492896"/>
            <a:ext cx="1355133" cy="202312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208912" cy="1143000"/>
          </a:xfrm>
        </p:spPr>
        <p:txBody>
          <a:bodyPr>
            <a:normAutofit/>
          </a:bodyPr>
          <a:lstStyle/>
          <a:p>
            <a:r>
              <a:rPr lang="en-US" sz="3400" b="1" dirty="0" smtClean="0">
                <a:solidFill>
                  <a:srgbClr val="FF6600"/>
                </a:solidFill>
                <a:latin typeface="Helvetica" pitchFamily="34" charset="0"/>
              </a:rPr>
              <a:t>Support Information</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8136904" cy="5301208"/>
          </a:xfrm>
        </p:spPr>
        <p:txBody>
          <a:bodyPr>
            <a:normAutofit/>
          </a:bodyPr>
          <a:lstStyle/>
          <a:p>
            <a:pPr>
              <a:spcBef>
                <a:spcPts val="600"/>
              </a:spcBef>
              <a:spcAft>
                <a:spcPts val="1200"/>
              </a:spcAft>
              <a:buNone/>
            </a:pPr>
            <a:r>
              <a:rPr lang="en-AU" sz="2200" b="1" dirty="0" smtClean="0">
                <a:latin typeface="Helvetica" pitchFamily="34" charset="0"/>
              </a:rPr>
              <a:t>Supply of pre-training event materials</a:t>
            </a:r>
            <a:endParaRPr lang="en-AU" sz="2200" dirty="0" smtClean="0">
              <a:latin typeface="Helvetica" pitchFamily="34" charset="0"/>
            </a:endParaRPr>
          </a:p>
          <a:p>
            <a:pPr>
              <a:spcBef>
                <a:spcPts val="600"/>
              </a:spcBef>
              <a:spcAft>
                <a:spcPts val="1200"/>
              </a:spcAft>
              <a:buNone/>
            </a:pPr>
            <a:r>
              <a:rPr lang="en-AU" sz="2200" dirty="0" smtClean="0">
                <a:latin typeface="Helvetica" pitchFamily="34" charset="0"/>
              </a:rPr>
              <a:t>In addition pre-event reading and instructions may include:</a:t>
            </a:r>
          </a:p>
          <a:p>
            <a:pPr lvl="0">
              <a:spcBef>
                <a:spcPts val="600"/>
              </a:spcBef>
              <a:spcAft>
                <a:spcPts val="1200"/>
              </a:spcAft>
            </a:pPr>
            <a:r>
              <a:rPr lang="en-AU" sz="2200" dirty="0" smtClean="0">
                <a:latin typeface="Helvetica" pitchFamily="34" charset="0"/>
              </a:rPr>
              <a:t>Logistical arrangements</a:t>
            </a:r>
          </a:p>
          <a:p>
            <a:pPr lvl="0">
              <a:spcBef>
                <a:spcPts val="600"/>
              </a:spcBef>
              <a:spcAft>
                <a:spcPts val="1200"/>
              </a:spcAft>
            </a:pPr>
            <a:r>
              <a:rPr lang="en-AU" sz="2200" dirty="0" smtClean="0">
                <a:latin typeface="Helvetica" pitchFamily="34" charset="0"/>
              </a:rPr>
              <a:t>Preferred accommodation or transportation suppliers</a:t>
            </a:r>
          </a:p>
          <a:p>
            <a:pPr lvl="0">
              <a:spcBef>
                <a:spcPts val="600"/>
              </a:spcBef>
              <a:spcAft>
                <a:spcPts val="1200"/>
              </a:spcAft>
            </a:pPr>
            <a:r>
              <a:rPr lang="en-AU" sz="2200" dirty="0" smtClean="0">
                <a:latin typeface="Helvetica" pitchFamily="34" charset="0"/>
              </a:rPr>
              <a:t>Background information </a:t>
            </a:r>
          </a:p>
          <a:p>
            <a:pPr lvl="0">
              <a:spcBef>
                <a:spcPts val="600"/>
              </a:spcBef>
              <a:spcAft>
                <a:spcPts val="1200"/>
              </a:spcAft>
            </a:pPr>
            <a:r>
              <a:rPr lang="en-AU" sz="2200" dirty="0" smtClean="0">
                <a:latin typeface="Helvetica" pitchFamily="34" charset="0"/>
              </a:rPr>
              <a:t>Summary of event schedule and activities</a:t>
            </a:r>
          </a:p>
          <a:p>
            <a:pPr>
              <a:spcBef>
                <a:spcPts val="600"/>
              </a:spcBef>
              <a:spcAft>
                <a:spcPts val="1200"/>
              </a:spcAft>
            </a:pPr>
            <a:r>
              <a:rPr lang="en-AU" sz="2200" dirty="0" smtClean="0">
                <a:latin typeface="Helvetica" pitchFamily="34" charset="0"/>
              </a:rPr>
              <a:t>List of other participants</a:t>
            </a:r>
          </a:p>
          <a:p>
            <a:pPr lvl="0"/>
            <a:endParaRPr lang="en-AU" sz="2400" dirty="0" smtClean="0"/>
          </a:p>
          <a:p>
            <a:pPr marL="0">
              <a:spcBef>
                <a:spcPts val="600"/>
              </a:spcBef>
              <a:spcAft>
                <a:spcPts val="1200"/>
              </a:spcAft>
              <a:buNone/>
            </a:pPr>
            <a:endParaRPr lang="en-AU" sz="2200" dirty="0" smtClean="0">
              <a:latin typeface="Helvetica" pitchFamily="34" charset="0"/>
            </a:endParaRPr>
          </a:p>
          <a:p>
            <a:pPr>
              <a:buNone/>
            </a:pPr>
            <a:endParaRPr lang="en-AU" sz="2400" dirty="0" smtClean="0"/>
          </a:p>
          <a:p>
            <a:pPr lvl="0">
              <a:spcBef>
                <a:spcPts val="600"/>
              </a:spcBef>
              <a:spcAft>
                <a:spcPts val="1200"/>
              </a:spcAft>
              <a:buNone/>
            </a:pPr>
            <a:endParaRPr lang="en-AU" sz="2200" dirty="0" smtClean="0">
              <a:latin typeface="Helvetica" pitchFamily="34" charset="0"/>
            </a:endParaRPr>
          </a:p>
          <a:p>
            <a:pPr lvl="0"/>
            <a:endParaRPr lang="en-AU" sz="2400" dirty="0" smtClean="0"/>
          </a:p>
          <a:p>
            <a:pPr lvl="0">
              <a:buNone/>
            </a:pPr>
            <a:endParaRPr lang="en-AU" sz="2400" dirty="0"/>
          </a:p>
        </p:txBody>
      </p:sp>
      <p:sp>
        <p:nvSpPr>
          <p:cNvPr id="4" name="Slide Number Placeholder 3"/>
          <p:cNvSpPr>
            <a:spLocks noGrp="1"/>
          </p:cNvSpPr>
          <p:nvPr>
            <p:ph type="sldNum" sz="quarter" idx="12"/>
          </p:nvPr>
        </p:nvSpPr>
        <p:spPr/>
        <p:txBody>
          <a:bodyPr/>
          <a:lstStyle/>
          <a:p>
            <a:r>
              <a:rPr lang="en-US" dirty="0" smtClean="0"/>
              <a:t> </a:t>
            </a:r>
            <a:r>
              <a:rPr lang="en-US" sz="1100" dirty="0" smtClean="0">
                <a:latin typeface="Helvetica" pitchFamily="34" charset="0"/>
              </a:rPr>
              <a:t>Slide </a:t>
            </a:r>
            <a:fld id="{90BDF71C-F485-43AE-8825-5070AF1EA8C9}" type="slidenum">
              <a:rPr lang="en-US" sz="1100" smtClean="0">
                <a:latin typeface="Helvetica" pitchFamily="34" charset="0"/>
              </a:rPr>
              <a:pPr/>
              <a:t>86</a:t>
            </a:fld>
            <a:endParaRPr lang="en-US" sz="1100" dirty="0">
              <a:latin typeface="Helvetica" pitchFamily="34" charset="0"/>
            </a:endParaRPr>
          </a:p>
        </p:txBody>
      </p:sp>
      <p:pic>
        <p:nvPicPr>
          <p:cNvPr id="7" name="Picture 6" descr="Data entry.jpg"/>
          <p:cNvPicPr/>
          <p:nvPr/>
        </p:nvPicPr>
        <p:blipFill>
          <a:blip r:embed="rId3" cstate="print"/>
          <a:stretch>
            <a:fillRect/>
          </a:stretch>
        </p:blipFill>
        <p:spPr>
          <a:xfrm>
            <a:off x="6516216" y="4005064"/>
            <a:ext cx="1996440" cy="904875"/>
          </a:xfrm>
          <a:prstGeom prst="rect">
            <a:avLst/>
          </a:prstGeom>
        </p:spPr>
      </p:pic>
    </p:spTree>
  </p:cSld>
  <p:clrMapOvr>
    <a:masterClrMapping/>
  </p:clrMapOvr>
  <p:timing>
    <p:tnLst>
      <p:par>
        <p:cTn id="1" dur="indefinite" restart="never" nodeType="tmRoot"/>
      </p:par>
    </p:tnLst>
  </p:timing>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208912" cy="1143000"/>
          </a:xfrm>
        </p:spPr>
        <p:txBody>
          <a:bodyPr>
            <a:normAutofit/>
          </a:bodyPr>
          <a:lstStyle/>
          <a:p>
            <a:r>
              <a:rPr lang="en-US" sz="3400" b="1" dirty="0" smtClean="0">
                <a:solidFill>
                  <a:srgbClr val="FF6600"/>
                </a:solidFill>
                <a:latin typeface="Helvetica" pitchFamily="34" charset="0"/>
              </a:rPr>
              <a:t>Support Information</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8136904" cy="5301208"/>
          </a:xfrm>
        </p:spPr>
        <p:txBody>
          <a:bodyPr>
            <a:normAutofit/>
          </a:bodyPr>
          <a:lstStyle/>
          <a:p>
            <a:pPr>
              <a:spcBef>
                <a:spcPts val="600"/>
              </a:spcBef>
              <a:spcAft>
                <a:spcPts val="1200"/>
              </a:spcAft>
              <a:buNone/>
            </a:pPr>
            <a:r>
              <a:rPr lang="en-AU" sz="2200" b="1" dirty="0" smtClean="0">
                <a:latin typeface="Helvetica" pitchFamily="34" charset="0"/>
              </a:rPr>
              <a:t>Program expectations</a:t>
            </a:r>
            <a:endParaRPr lang="en-AU" sz="2200" dirty="0" smtClean="0">
              <a:latin typeface="Helvetica" pitchFamily="34" charset="0"/>
            </a:endParaRPr>
          </a:p>
          <a:p>
            <a:pPr>
              <a:spcBef>
                <a:spcPts val="600"/>
              </a:spcBef>
              <a:spcAft>
                <a:spcPts val="1200"/>
              </a:spcAft>
              <a:buNone/>
            </a:pPr>
            <a:r>
              <a:rPr lang="en-AU" sz="2200" dirty="0" smtClean="0">
                <a:latin typeface="Helvetica" pitchFamily="34" charset="0"/>
              </a:rPr>
              <a:t>There may need to be clarification with learners regarding:</a:t>
            </a:r>
          </a:p>
          <a:p>
            <a:pPr>
              <a:spcBef>
                <a:spcPts val="600"/>
              </a:spcBef>
              <a:spcAft>
                <a:spcPts val="1200"/>
              </a:spcAft>
            </a:pPr>
            <a:r>
              <a:rPr lang="en-AU" sz="2200" dirty="0" smtClean="0">
                <a:latin typeface="Helvetica" pitchFamily="34" charset="0"/>
              </a:rPr>
              <a:t>Organisational expectations</a:t>
            </a:r>
          </a:p>
          <a:p>
            <a:pPr>
              <a:spcBef>
                <a:spcPts val="600"/>
              </a:spcBef>
              <a:spcAft>
                <a:spcPts val="1200"/>
              </a:spcAft>
            </a:pPr>
            <a:r>
              <a:rPr lang="en-AU" sz="2200" dirty="0" smtClean="0">
                <a:latin typeface="Helvetica" pitchFamily="34" charset="0"/>
              </a:rPr>
              <a:t>Expected standards of performance</a:t>
            </a:r>
          </a:p>
          <a:p>
            <a:pPr>
              <a:spcBef>
                <a:spcPts val="600"/>
              </a:spcBef>
              <a:spcAft>
                <a:spcPts val="1200"/>
              </a:spcAft>
            </a:pPr>
            <a:r>
              <a:rPr lang="en-AU" sz="2200" dirty="0" smtClean="0">
                <a:latin typeface="Helvetica" pitchFamily="34" charset="0"/>
              </a:rPr>
              <a:t>Behaviour</a:t>
            </a:r>
          </a:p>
          <a:p>
            <a:pPr>
              <a:spcBef>
                <a:spcPts val="600"/>
              </a:spcBef>
              <a:spcAft>
                <a:spcPts val="1200"/>
              </a:spcAft>
            </a:pPr>
            <a:r>
              <a:rPr lang="en-AU" sz="2200" dirty="0" smtClean="0">
                <a:latin typeface="Helvetica" pitchFamily="34" charset="0"/>
              </a:rPr>
              <a:t>Codes of conduct</a:t>
            </a:r>
          </a:p>
          <a:p>
            <a:pPr>
              <a:spcBef>
                <a:spcPts val="600"/>
              </a:spcBef>
              <a:spcAft>
                <a:spcPts val="1200"/>
              </a:spcAft>
            </a:pPr>
            <a:r>
              <a:rPr lang="en-AU" sz="2200" dirty="0" smtClean="0">
                <a:latin typeface="Helvetica" pitchFamily="34" charset="0"/>
              </a:rPr>
              <a:t>Uniforms</a:t>
            </a:r>
          </a:p>
          <a:p>
            <a:pPr>
              <a:spcBef>
                <a:spcPts val="600"/>
              </a:spcBef>
              <a:spcAft>
                <a:spcPts val="1200"/>
              </a:spcAft>
            </a:pPr>
            <a:r>
              <a:rPr lang="en-AU" sz="2200" dirty="0" smtClean="0">
                <a:latin typeface="Helvetica" pitchFamily="34" charset="0"/>
              </a:rPr>
              <a:t>Attire</a:t>
            </a:r>
          </a:p>
          <a:p>
            <a:pPr lvl="0"/>
            <a:endParaRPr lang="en-AU" sz="2400" dirty="0" smtClean="0"/>
          </a:p>
          <a:p>
            <a:pPr marL="0">
              <a:spcBef>
                <a:spcPts val="600"/>
              </a:spcBef>
              <a:spcAft>
                <a:spcPts val="1200"/>
              </a:spcAft>
              <a:buNone/>
            </a:pPr>
            <a:endParaRPr lang="en-AU" sz="2200" dirty="0" smtClean="0">
              <a:latin typeface="Helvetica" pitchFamily="34" charset="0"/>
            </a:endParaRPr>
          </a:p>
          <a:p>
            <a:pPr>
              <a:buNone/>
            </a:pPr>
            <a:endParaRPr lang="en-AU" sz="2400" dirty="0" smtClean="0"/>
          </a:p>
          <a:p>
            <a:pPr lvl="0">
              <a:spcBef>
                <a:spcPts val="600"/>
              </a:spcBef>
              <a:spcAft>
                <a:spcPts val="1200"/>
              </a:spcAft>
              <a:buNone/>
            </a:pPr>
            <a:endParaRPr lang="en-AU" sz="2200" dirty="0" smtClean="0">
              <a:latin typeface="Helvetica" pitchFamily="34" charset="0"/>
            </a:endParaRPr>
          </a:p>
          <a:p>
            <a:pPr lvl="0"/>
            <a:endParaRPr lang="en-AU" sz="2400" dirty="0" smtClean="0"/>
          </a:p>
          <a:p>
            <a:pPr lvl="0">
              <a:buNone/>
            </a:pPr>
            <a:endParaRPr lang="en-AU" sz="2400" dirty="0"/>
          </a:p>
        </p:txBody>
      </p:sp>
      <p:sp>
        <p:nvSpPr>
          <p:cNvPr id="4" name="Slide Number Placeholder 3"/>
          <p:cNvSpPr>
            <a:spLocks noGrp="1"/>
          </p:cNvSpPr>
          <p:nvPr>
            <p:ph type="sldNum" sz="quarter" idx="12"/>
          </p:nvPr>
        </p:nvSpPr>
        <p:spPr/>
        <p:txBody>
          <a:bodyPr/>
          <a:lstStyle/>
          <a:p>
            <a:r>
              <a:rPr lang="en-US" dirty="0" smtClean="0"/>
              <a:t> </a:t>
            </a:r>
            <a:r>
              <a:rPr lang="en-US" sz="1100" dirty="0" smtClean="0">
                <a:latin typeface="Helvetica" pitchFamily="34" charset="0"/>
              </a:rPr>
              <a:t>Slide </a:t>
            </a:r>
            <a:fld id="{90BDF71C-F485-43AE-8825-5070AF1EA8C9}" type="slidenum">
              <a:rPr lang="en-US" sz="1100" smtClean="0">
                <a:latin typeface="Helvetica" pitchFamily="34" charset="0"/>
              </a:rPr>
              <a:pPr/>
              <a:t>87</a:t>
            </a:fld>
            <a:endParaRPr lang="en-US" sz="1100" dirty="0">
              <a:latin typeface="Helvetica" pitchFamily="34" charset="0"/>
            </a:endParaRPr>
          </a:p>
        </p:txBody>
      </p:sp>
      <p:pic>
        <p:nvPicPr>
          <p:cNvPr id="6" name="Picture 5" descr="MP900448464.JPG"/>
          <p:cNvPicPr>
            <a:picLocks noChangeAspect="1"/>
          </p:cNvPicPr>
          <p:nvPr/>
        </p:nvPicPr>
        <p:blipFill>
          <a:blip r:embed="rId3" cstate="print"/>
          <a:stretch>
            <a:fillRect/>
          </a:stretch>
        </p:blipFill>
        <p:spPr>
          <a:xfrm>
            <a:off x="6300192" y="2996952"/>
            <a:ext cx="1517915" cy="2276872"/>
          </a:xfrm>
          <a:prstGeom prst="rect">
            <a:avLst/>
          </a:prstGeom>
        </p:spPr>
      </p:pic>
    </p:spTree>
  </p:cSld>
  <p:clrMapOvr>
    <a:masterClrMapping/>
  </p:clrMapOvr>
  <p:timing>
    <p:tnLst>
      <p:par>
        <p:cTn id="1" dur="indefinite" restart="never" nodeType="tmRoot"/>
      </p:par>
    </p:tnLst>
  </p:timing>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208912" cy="1143000"/>
          </a:xfrm>
        </p:spPr>
        <p:txBody>
          <a:bodyPr>
            <a:normAutofit/>
          </a:bodyPr>
          <a:lstStyle/>
          <a:p>
            <a:r>
              <a:rPr lang="en-US" sz="3400" b="1" dirty="0" smtClean="0">
                <a:solidFill>
                  <a:srgbClr val="FF6600"/>
                </a:solidFill>
                <a:latin typeface="Helvetica" pitchFamily="34" charset="0"/>
              </a:rPr>
              <a:t>Provide resources to supervisors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8136904" cy="5301208"/>
          </a:xfrm>
        </p:spPr>
        <p:txBody>
          <a:bodyPr>
            <a:normAutofit/>
          </a:bodyPr>
          <a:lstStyle/>
          <a:p>
            <a:pPr marL="0">
              <a:spcBef>
                <a:spcPts val="600"/>
              </a:spcBef>
              <a:spcAft>
                <a:spcPts val="1200"/>
              </a:spcAft>
              <a:buNone/>
            </a:pPr>
            <a:r>
              <a:rPr lang="en-AU" sz="2200" dirty="0" smtClean="0">
                <a:latin typeface="Helvetica" pitchFamily="34" charset="0"/>
              </a:rPr>
              <a:t>It is not just participants and trainers who require resources and support from training event organisers.</a:t>
            </a:r>
          </a:p>
          <a:p>
            <a:pPr marL="0">
              <a:spcBef>
                <a:spcPts val="600"/>
              </a:spcBef>
              <a:spcAft>
                <a:spcPts val="1200"/>
              </a:spcAft>
              <a:buNone/>
            </a:pPr>
            <a:r>
              <a:rPr lang="en-AU" sz="2200" dirty="0" smtClean="0">
                <a:latin typeface="Helvetica" pitchFamily="34" charset="0"/>
              </a:rPr>
              <a:t>Given the fact that training greatly impacts the normal operations of a hospitality department, it is important that supervisors are provided with appropriate assistance.</a:t>
            </a:r>
          </a:p>
          <a:p>
            <a:pPr>
              <a:spcBef>
                <a:spcPts val="600"/>
              </a:spcBef>
              <a:spcAft>
                <a:spcPts val="1200"/>
              </a:spcAft>
            </a:pPr>
            <a:r>
              <a:rPr lang="en-AU" sz="2200" dirty="0" smtClean="0">
                <a:latin typeface="Helvetica" pitchFamily="34" charset="0"/>
              </a:rPr>
              <a:t>What assistance is required by supervisors by training organisers?</a:t>
            </a:r>
          </a:p>
          <a:p>
            <a:pPr lvl="0"/>
            <a:endParaRPr lang="en-AU" sz="2400" dirty="0" smtClean="0"/>
          </a:p>
          <a:p>
            <a:pPr marL="0">
              <a:spcBef>
                <a:spcPts val="600"/>
              </a:spcBef>
              <a:spcAft>
                <a:spcPts val="1200"/>
              </a:spcAft>
              <a:buNone/>
            </a:pPr>
            <a:endParaRPr lang="en-AU" sz="2200" dirty="0" smtClean="0">
              <a:latin typeface="Helvetica" pitchFamily="34" charset="0"/>
            </a:endParaRPr>
          </a:p>
          <a:p>
            <a:pPr>
              <a:buNone/>
            </a:pPr>
            <a:endParaRPr lang="en-AU" sz="2400" dirty="0" smtClean="0"/>
          </a:p>
          <a:p>
            <a:pPr lvl="0">
              <a:spcBef>
                <a:spcPts val="600"/>
              </a:spcBef>
              <a:spcAft>
                <a:spcPts val="1200"/>
              </a:spcAft>
              <a:buNone/>
            </a:pPr>
            <a:endParaRPr lang="en-AU" sz="2200" dirty="0" smtClean="0">
              <a:latin typeface="Helvetica" pitchFamily="34" charset="0"/>
            </a:endParaRPr>
          </a:p>
          <a:p>
            <a:pPr lvl="0"/>
            <a:endParaRPr lang="en-AU" sz="2400" dirty="0" smtClean="0"/>
          </a:p>
          <a:p>
            <a:pPr lvl="0">
              <a:buNone/>
            </a:pPr>
            <a:endParaRPr lang="en-AU" sz="2400" dirty="0"/>
          </a:p>
        </p:txBody>
      </p:sp>
      <p:sp>
        <p:nvSpPr>
          <p:cNvPr id="4" name="Slide Number Placeholder 3"/>
          <p:cNvSpPr>
            <a:spLocks noGrp="1"/>
          </p:cNvSpPr>
          <p:nvPr>
            <p:ph type="sldNum" sz="quarter" idx="12"/>
          </p:nvPr>
        </p:nvSpPr>
        <p:spPr/>
        <p:txBody>
          <a:bodyPr/>
          <a:lstStyle/>
          <a:p>
            <a:r>
              <a:rPr lang="en-US" dirty="0" smtClean="0"/>
              <a:t> </a:t>
            </a:r>
            <a:r>
              <a:rPr lang="en-US" sz="1100" dirty="0" smtClean="0">
                <a:latin typeface="Helvetica" pitchFamily="34" charset="0"/>
              </a:rPr>
              <a:t>Slide </a:t>
            </a:r>
            <a:fld id="{90BDF71C-F485-43AE-8825-5070AF1EA8C9}" type="slidenum">
              <a:rPr lang="en-US" sz="1100" smtClean="0">
                <a:latin typeface="Helvetica" pitchFamily="34" charset="0"/>
              </a:rPr>
              <a:pPr/>
              <a:t>88</a:t>
            </a:fld>
            <a:endParaRPr lang="en-US" sz="1100" dirty="0">
              <a:latin typeface="Helvetica" pitchFamily="34" charset="0"/>
            </a:endParaRPr>
          </a:p>
        </p:txBody>
      </p:sp>
      <p:pic>
        <p:nvPicPr>
          <p:cNvPr id="7" name="Picture 6" descr="MB900178873.JPG"/>
          <p:cNvPicPr>
            <a:picLocks noChangeAspect="1"/>
          </p:cNvPicPr>
          <p:nvPr/>
        </p:nvPicPr>
        <p:blipFill>
          <a:blip r:embed="rId3" cstate="print"/>
          <a:stretch>
            <a:fillRect/>
          </a:stretch>
        </p:blipFill>
        <p:spPr>
          <a:xfrm>
            <a:off x="3779912" y="4221088"/>
            <a:ext cx="2304256" cy="2304256"/>
          </a:xfrm>
          <a:prstGeom prst="rect">
            <a:avLst/>
          </a:prstGeom>
        </p:spPr>
      </p:pic>
    </p:spTree>
  </p:cSld>
  <p:clrMapOvr>
    <a:masterClrMapping/>
  </p:clrMapOvr>
  <p:timing>
    <p:tnLst>
      <p:par>
        <p:cTn id="1" dur="indefinite" restart="never" nodeType="tmRoot"/>
      </p:par>
    </p:tnLst>
  </p:timing>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208912" cy="1143000"/>
          </a:xfrm>
        </p:spPr>
        <p:txBody>
          <a:bodyPr>
            <a:normAutofit/>
          </a:bodyPr>
          <a:lstStyle/>
          <a:p>
            <a:r>
              <a:rPr lang="en-US" sz="3400" b="1" dirty="0" smtClean="0">
                <a:solidFill>
                  <a:srgbClr val="FF6600"/>
                </a:solidFill>
                <a:latin typeface="Helvetica" pitchFamily="34" charset="0"/>
              </a:rPr>
              <a:t>Provide resources to supervisors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8136904" cy="5301208"/>
          </a:xfrm>
        </p:spPr>
        <p:txBody>
          <a:bodyPr>
            <a:normAutofit/>
          </a:bodyPr>
          <a:lstStyle/>
          <a:p>
            <a:pPr>
              <a:spcBef>
                <a:spcPts val="600"/>
              </a:spcBef>
              <a:spcAft>
                <a:spcPts val="600"/>
              </a:spcAft>
              <a:buNone/>
            </a:pPr>
            <a:r>
              <a:rPr lang="en-AU" sz="2200" b="1" dirty="0" smtClean="0">
                <a:latin typeface="Helvetica" pitchFamily="34" charset="0"/>
              </a:rPr>
              <a:t>Types of resources</a:t>
            </a:r>
            <a:endParaRPr lang="en-AU" sz="2200" dirty="0" smtClean="0">
              <a:latin typeface="Helvetica" pitchFamily="34" charset="0"/>
            </a:endParaRPr>
          </a:p>
          <a:p>
            <a:pPr lvl="0">
              <a:spcBef>
                <a:spcPts val="600"/>
              </a:spcBef>
              <a:spcAft>
                <a:spcPts val="600"/>
              </a:spcAft>
            </a:pPr>
            <a:r>
              <a:rPr lang="en-AU" sz="2200" dirty="0" smtClean="0">
                <a:latin typeface="Helvetica" pitchFamily="34" charset="0"/>
              </a:rPr>
              <a:t>Authorising and arranging for supplementary staff to replace learners who are attending training events</a:t>
            </a:r>
          </a:p>
          <a:p>
            <a:pPr lvl="0">
              <a:spcBef>
                <a:spcPts val="600"/>
              </a:spcBef>
              <a:spcAft>
                <a:spcPts val="600"/>
              </a:spcAft>
            </a:pPr>
            <a:r>
              <a:rPr lang="en-AU" sz="2200" dirty="0" smtClean="0">
                <a:latin typeface="Helvetica" pitchFamily="34" charset="0"/>
              </a:rPr>
              <a:t>Modifying normal workloads to factor in the absence of traditional staffing levels</a:t>
            </a:r>
          </a:p>
          <a:p>
            <a:pPr lvl="0">
              <a:spcBef>
                <a:spcPts val="600"/>
              </a:spcBef>
              <a:spcAft>
                <a:spcPts val="600"/>
              </a:spcAft>
            </a:pPr>
            <a:r>
              <a:rPr lang="en-AU" sz="2200" dirty="0" smtClean="0">
                <a:latin typeface="Helvetica" pitchFamily="34" charset="0"/>
              </a:rPr>
              <a:t>Revising workplace activities to accommodate reduced staff levels</a:t>
            </a:r>
          </a:p>
          <a:p>
            <a:pPr lvl="0">
              <a:spcBef>
                <a:spcPts val="600"/>
              </a:spcBef>
              <a:spcAft>
                <a:spcPts val="600"/>
              </a:spcAft>
            </a:pPr>
            <a:r>
              <a:rPr lang="en-AU" sz="2200" dirty="0" smtClean="0">
                <a:latin typeface="Helvetica" pitchFamily="34" charset="0"/>
              </a:rPr>
              <a:t>Amending trading hours</a:t>
            </a:r>
          </a:p>
          <a:p>
            <a:pPr lvl="0">
              <a:spcBef>
                <a:spcPts val="600"/>
              </a:spcBef>
              <a:spcAft>
                <a:spcPts val="600"/>
              </a:spcAft>
            </a:pPr>
            <a:r>
              <a:rPr lang="en-AU" sz="2200" dirty="0" smtClean="0">
                <a:latin typeface="Helvetica" pitchFamily="34" charset="0"/>
              </a:rPr>
              <a:t>Closing sites</a:t>
            </a:r>
          </a:p>
          <a:p>
            <a:pPr lvl="0">
              <a:spcBef>
                <a:spcPts val="600"/>
              </a:spcBef>
              <a:spcAft>
                <a:spcPts val="600"/>
              </a:spcAft>
            </a:pPr>
            <a:r>
              <a:rPr lang="en-AU" sz="2200" dirty="0" smtClean="0">
                <a:latin typeface="Helvetica" pitchFamily="34" charset="0"/>
              </a:rPr>
              <a:t>Authorising the payment of overtime to normal                           staff to enable them to back-fill learners</a:t>
            </a:r>
          </a:p>
          <a:p>
            <a:pPr lvl="0"/>
            <a:endParaRPr lang="en-AU" sz="2400" dirty="0" smtClean="0"/>
          </a:p>
          <a:p>
            <a:pPr marL="0">
              <a:spcBef>
                <a:spcPts val="600"/>
              </a:spcBef>
              <a:spcAft>
                <a:spcPts val="1200"/>
              </a:spcAft>
              <a:buNone/>
            </a:pPr>
            <a:endParaRPr lang="en-AU" sz="2200" dirty="0" smtClean="0">
              <a:latin typeface="Helvetica" pitchFamily="34" charset="0"/>
            </a:endParaRPr>
          </a:p>
          <a:p>
            <a:pPr>
              <a:buNone/>
            </a:pPr>
            <a:endParaRPr lang="en-AU" sz="2400" dirty="0" smtClean="0"/>
          </a:p>
          <a:p>
            <a:pPr lvl="0">
              <a:spcBef>
                <a:spcPts val="600"/>
              </a:spcBef>
              <a:spcAft>
                <a:spcPts val="1200"/>
              </a:spcAft>
              <a:buNone/>
            </a:pPr>
            <a:endParaRPr lang="en-AU" sz="2200" dirty="0" smtClean="0">
              <a:latin typeface="Helvetica" pitchFamily="34" charset="0"/>
            </a:endParaRPr>
          </a:p>
          <a:p>
            <a:pPr lvl="0"/>
            <a:endParaRPr lang="en-AU" sz="2400" dirty="0" smtClean="0"/>
          </a:p>
          <a:p>
            <a:pPr lvl="0">
              <a:buNone/>
            </a:pPr>
            <a:endParaRPr lang="en-AU" sz="2400" dirty="0"/>
          </a:p>
        </p:txBody>
      </p:sp>
      <p:sp>
        <p:nvSpPr>
          <p:cNvPr id="4" name="Slide Number Placeholder 3"/>
          <p:cNvSpPr>
            <a:spLocks noGrp="1"/>
          </p:cNvSpPr>
          <p:nvPr>
            <p:ph type="sldNum" sz="quarter" idx="12"/>
          </p:nvPr>
        </p:nvSpPr>
        <p:spPr/>
        <p:txBody>
          <a:bodyPr/>
          <a:lstStyle/>
          <a:p>
            <a:r>
              <a:rPr lang="en-US" dirty="0" smtClean="0"/>
              <a:t> </a:t>
            </a:r>
            <a:r>
              <a:rPr lang="en-US" sz="1100" dirty="0" smtClean="0">
                <a:latin typeface="Helvetica" pitchFamily="34" charset="0"/>
              </a:rPr>
              <a:t>Slide </a:t>
            </a:r>
            <a:fld id="{90BDF71C-F485-43AE-8825-5070AF1EA8C9}" type="slidenum">
              <a:rPr lang="en-US" sz="1100" smtClean="0">
                <a:latin typeface="Helvetica" pitchFamily="34" charset="0"/>
              </a:rPr>
              <a:pPr/>
              <a:t>89</a:t>
            </a:fld>
            <a:endParaRPr lang="en-US" sz="1100" dirty="0">
              <a:latin typeface="Helvetica" pitchFamily="34" charset="0"/>
            </a:endParaRPr>
          </a:p>
        </p:txBody>
      </p:sp>
      <p:pic>
        <p:nvPicPr>
          <p:cNvPr id="6" name="Picture 5" descr="Asian receptionist.jpg"/>
          <p:cNvPicPr/>
          <p:nvPr/>
        </p:nvPicPr>
        <p:blipFill>
          <a:blip r:embed="rId3" cstate="print"/>
          <a:stretch>
            <a:fillRect/>
          </a:stretch>
        </p:blipFill>
        <p:spPr>
          <a:xfrm>
            <a:off x="7236296" y="4509120"/>
            <a:ext cx="1057910" cy="1638300"/>
          </a:xfrm>
          <a:prstGeom prst="rect">
            <a:avLst/>
          </a:prstGeom>
        </p:spPr>
      </p:pic>
    </p:spTree>
  </p:cSld>
  <p:clrMapOvr>
    <a:masterClrMapping/>
  </p:clrMapOvr>
  <p:timing>
    <p:tnLst>
      <p:par>
        <p:cTn id="1" dur="indefinite" restart="never" nodeType="tmRoot"/>
      </p:par>
    </p:tnLst>
  </p:timing>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208912" cy="1143000"/>
          </a:xfrm>
        </p:spPr>
        <p:txBody>
          <a:bodyPr>
            <a:normAutofit/>
          </a:bodyPr>
          <a:lstStyle/>
          <a:p>
            <a:r>
              <a:rPr lang="en-US" sz="3400" b="1" dirty="0" smtClean="0">
                <a:solidFill>
                  <a:srgbClr val="FF6600"/>
                </a:solidFill>
                <a:latin typeface="Helvetica" pitchFamily="34" charset="0"/>
              </a:rPr>
              <a:t>Advise learners of attendance requirements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8136904" cy="5301208"/>
          </a:xfrm>
        </p:spPr>
        <p:txBody>
          <a:bodyPr>
            <a:normAutofit/>
          </a:bodyPr>
          <a:lstStyle/>
          <a:p>
            <a:pPr>
              <a:spcBef>
                <a:spcPts val="600"/>
              </a:spcBef>
              <a:spcAft>
                <a:spcPts val="1200"/>
              </a:spcAft>
              <a:buNone/>
            </a:pPr>
            <a:r>
              <a:rPr lang="en-AU" sz="2200" b="1" dirty="0" smtClean="0">
                <a:latin typeface="Helvetica" pitchFamily="34" charset="0"/>
              </a:rPr>
              <a:t>Types of attendance requirements</a:t>
            </a:r>
            <a:endParaRPr lang="en-AU" sz="2200" dirty="0" smtClean="0">
              <a:latin typeface="Helvetica" pitchFamily="34" charset="0"/>
            </a:endParaRPr>
          </a:p>
          <a:p>
            <a:pPr lvl="0">
              <a:spcBef>
                <a:spcPts val="600"/>
              </a:spcBef>
              <a:spcAft>
                <a:spcPts val="1200"/>
              </a:spcAft>
            </a:pPr>
            <a:r>
              <a:rPr lang="en-AU" sz="2200" dirty="0" smtClean="0">
                <a:latin typeface="Helvetica" pitchFamily="34" charset="0"/>
              </a:rPr>
              <a:t>Punctuality</a:t>
            </a:r>
          </a:p>
          <a:p>
            <a:pPr lvl="0">
              <a:spcBef>
                <a:spcPts val="600"/>
              </a:spcBef>
              <a:spcAft>
                <a:spcPts val="1200"/>
              </a:spcAft>
            </a:pPr>
            <a:r>
              <a:rPr lang="en-AU" sz="2200" dirty="0" smtClean="0">
                <a:latin typeface="Helvetica" pitchFamily="34" charset="0"/>
              </a:rPr>
              <a:t>Attendance for the duration of nominated aspects of the training event</a:t>
            </a:r>
          </a:p>
          <a:p>
            <a:pPr lvl="0">
              <a:spcBef>
                <a:spcPts val="600"/>
              </a:spcBef>
              <a:spcAft>
                <a:spcPts val="1200"/>
              </a:spcAft>
            </a:pPr>
            <a:r>
              <a:rPr lang="en-AU" sz="2200" dirty="0" smtClean="0">
                <a:latin typeface="Helvetica" pitchFamily="34" charset="0"/>
              </a:rPr>
              <a:t>Active participation in activities</a:t>
            </a:r>
          </a:p>
          <a:p>
            <a:pPr lvl="0">
              <a:spcBef>
                <a:spcPts val="600"/>
              </a:spcBef>
              <a:spcAft>
                <a:spcPts val="1200"/>
              </a:spcAft>
            </a:pPr>
            <a:r>
              <a:rPr lang="en-AU" sz="2200" dirty="0" smtClean="0">
                <a:latin typeface="Helvetica" pitchFamily="34" charset="0"/>
              </a:rPr>
              <a:t>Engagement with all aspects of the training event</a:t>
            </a:r>
          </a:p>
          <a:p>
            <a:pPr lvl="0">
              <a:spcBef>
                <a:spcPts val="600"/>
              </a:spcBef>
              <a:spcAft>
                <a:spcPts val="1200"/>
              </a:spcAft>
            </a:pPr>
            <a:r>
              <a:rPr lang="en-AU" sz="2200" dirty="0" smtClean="0">
                <a:latin typeface="Helvetica" pitchFamily="34" charset="0"/>
              </a:rPr>
              <a:t>Undertaking assessment that comprises part of                          the training event</a:t>
            </a:r>
          </a:p>
          <a:p>
            <a:pPr lvl="0">
              <a:spcBef>
                <a:spcPts val="600"/>
              </a:spcBef>
              <a:spcAft>
                <a:spcPts val="1200"/>
              </a:spcAft>
            </a:pPr>
            <a:r>
              <a:rPr lang="en-AU" sz="2200" dirty="0" smtClean="0">
                <a:latin typeface="Helvetica" pitchFamily="34" charset="0"/>
              </a:rPr>
              <a:t>Networking with other training event participant/s</a:t>
            </a:r>
          </a:p>
          <a:p>
            <a:pPr lvl="0"/>
            <a:endParaRPr lang="en-AU" sz="2400" dirty="0" smtClean="0"/>
          </a:p>
          <a:p>
            <a:pPr marL="0">
              <a:spcBef>
                <a:spcPts val="600"/>
              </a:spcBef>
              <a:spcAft>
                <a:spcPts val="1200"/>
              </a:spcAft>
              <a:buNone/>
            </a:pPr>
            <a:endParaRPr lang="en-AU" sz="2200" dirty="0" smtClean="0">
              <a:latin typeface="Helvetica" pitchFamily="34" charset="0"/>
            </a:endParaRPr>
          </a:p>
          <a:p>
            <a:pPr>
              <a:buNone/>
            </a:pPr>
            <a:endParaRPr lang="en-AU" sz="2400" dirty="0" smtClean="0"/>
          </a:p>
          <a:p>
            <a:pPr lvl="0">
              <a:spcBef>
                <a:spcPts val="600"/>
              </a:spcBef>
              <a:spcAft>
                <a:spcPts val="1200"/>
              </a:spcAft>
              <a:buNone/>
            </a:pPr>
            <a:endParaRPr lang="en-AU" sz="2200" dirty="0" smtClean="0">
              <a:latin typeface="Helvetica" pitchFamily="34" charset="0"/>
            </a:endParaRPr>
          </a:p>
          <a:p>
            <a:pPr lvl="0"/>
            <a:endParaRPr lang="en-AU" sz="2400" dirty="0" smtClean="0"/>
          </a:p>
          <a:p>
            <a:pPr lvl="0">
              <a:buNone/>
            </a:pPr>
            <a:endParaRPr lang="en-AU" sz="2400" dirty="0"/>
          </a:p>
        </p:txBody>
      </p:sp>
      <p:sp>
        <p:nvSpPr>
          <p:cNvPr id="4" name="Slide Number Placeholder 3"/>
          <p:cNvSpPr>
            <a:spLocks noGrp="1"/>
          </p:cNvSpPr>
          <p:nvPr>
            <p:ph type="sldNum" sz="quarter" idx="12"/>
          </p:nvPr>
        </p:nvSpPr>
        <p:spPr/>
        <p:txBody>
          <a:bodyPr/>
          <a:lstStyle/>
          <a:p>
            <a:r>
              <a:rPr lang="en-US" dirty="0" smtClean="0"/>
              <a:t> </a:t>
            </a:r>
            <a:r>
              <a:rPr lang="en-US" sz="1100" dirty="0" smtClean="0">
                <a:latin typeface="Helvetica" pitchFamily="34" charset="0"/>
              </a:rPr>
              <a:t>Slide </a:t>
            </a:r>
            <a:fld id="{90BDF71C-F485-43AE-8825-5070AF1EA8C9}" type="slidenum">
              <a:rPr lang="en-US" sz="1100" smtClean="0">
                <a:latin typeface="Helvetica" pitchFamily="34" charset="0"/>
              </a:rPr>
              <a:pPr/>
              <a:t>90</a:t>
            </a:fld>
            <a:endParaRPr lang="en-US" sz="1100" dirty="0">
              <a:latin typeface="Helvetica" pitchFamily="34" charset="0"/>
            </a:endParaRPr>
          </a:p>
        </p:txBody>
      </p:sp>
      <p:pic>
        <p:nvPicPr>
          <p:cNvPr id="7" name="Picture 6" descr="MP900431736.JPG"/>
          <p:cNvPicPr>
            <a:picLocks noChangeAspect="1"/>
          </p:cNvPicPr>
          <p:nvPr/>
        </p:nvPicPr>
        <p:blipFill>
          <a:blip r:embed="rId3" cstate="print"/>
          <a:stretch>
            <a:fillRect/>
          </a:stretch>
        </p:blipFill>
        <p:spPr>
          <a:xfrm>
            <a:off x="7452320" y="3501008"/>
            <a:ext cx="1484784" cy="1484784"/>
          </a:xfrm>
          <a:prstGeom prst="rect">
            <a:avLst/>
          </a:prstGeom>
        </p:spPr>
      </p:pic>
    </p:spTree>
  </p:cSld>
  <p:clrMapOvr>
    <a:masterClrMapping/>
  </p:clrMapOvr>
  <p:timing>
    <p:tnLst>
      <p:par>
        <p:cTn id="1" dur="indefinite" restart="never" nodeType="tmRoot"/>
      </p:par>
    </p:tnLst>
  </p:timing>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208912" cy="1143000"/>
          </a:xfrm>
        </p:spPr>
        <p:txBody>
          <a:bodyPr>
            <a:normAutofit/>
          </a:bodyPr>
          <a:lstStyle/>
          <a:p>
            <a:r>
              <a:rPr lang="en-US" sz="3400" b="1" dirty="0" smtClean="0">
                <a:solidFill>
                  <a:srgbClr val="FF6600"/>
                </a:solidFill>
                <a:latin typeface="Helvetica" pitchFamily="34" charset="0"/>
              </a:rPr>
              <a:t>Advise learners of attendance requirements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8136904" cy="5301208"/>
          </a:xfrm>
        </p:spPr>
        <p:txBody>
          <a:bodyPr>
            <a:normAutofit/>
          </a:bodyPr>
          <a:lstStyle/>
          <a:p>
            <a:pPr>
              <a:spcBef>
                <a:spcPts val="600"/>
              </a:spcBef>
              <a:spcAft>
                <a:spcPts val="1200"/>
              </a:spcAft>
              <a:buNone/>
            </a:pPr>
            <a:r>
              <a:rPr lang="en-AU" sz="2200" b="1" dirty="0" smtClean="0">
                <a:latin typeface="Helvetica" pitchFamily="34" charset="0"/>
              </a:rPr>
              <a:t>Types of attendance requirements</a:t>
            </a:r>
            <a:endParaRPr lang="en-AU" sz="2200" dirty="0" smtClean="0">
              <a:latin typeface="Helvetica" pitchFamily="34" charset="0"/>
            </a:endParaRPr>
          </a:p>
          <a:p>
            <a:pPr lvl="0">
              <a:spcBef>
                <a:spcPts val="600"/>
              </a:spcBef>
              <a:spcAft>
                <a:spcPts val="1200"/>
              </a:spcAft>
            </a:pPr>
            <a:r>
              <a:rPr lang="en-AU" sz="2200" dirty="0" smtClean="0">
                <a:latin typeface="Helvetica" pitchFamily="34" charset="0"/>
              </a:rPr>
              <a:t>Returning to work with copies of materials or resources </a:t>
            </a:r>
          </a:p>
          <a:p>
            <a:pPr lvl="0">
              <a:spcBef>
                <a:spcPts val="600"/>
              </a:spcBef>
              <a:spcAft>
                <a:spcPts val="1200"/>
              </a:spcAft>
            </a:pPr>
            <a:r>
              <a:rPr lang="en-AU" sz="2200" dirty="0" smtClean="0">
                <a:latin typeface="Helvetica" pitchFamily="34" charset="0"/>
              </a:rPr>
              <a:t>Focus on nominated training needs </a:t>
            </a:r>
          </a:p>
          <a:p>
            <a:pPr lvl="0">
              <a:spcBef>
                <a:spcPts val="600"/>
              </a:spcBef>
              <a:spcAft>
                <a:spcPts val="1200"/>
              </a:spcAft>
            </a:pPr>
            <a:r>
              <a:rPr lang="en-AU" sz="2200" dirty="0" smtClean="0">
                <a:latin typeface="Helvetica" pitchFamily="34" charset="0"/>
              </a:rPr>
              <a:t>Being able to prove attendance </a:t>
            </a:r>
            <a:br>
              <a:rPr lang="en-AU" sz="2200" dirty="0" smtClean="0">
                <a:latin typeface="Helvetica" pitchFamily="34" charset="0"/>
              </a:rPr>
            </a:br>
            <a:r>
              <a:rPr lang="en-AU" sz="2200" dirty="0" smtClean="0">
                <a:latin typeface="Helvetica" pitchFamily="34" charset="0"/>
              </a:rPr>
              <a:t>at the training event</a:t>
            </a:r>
          </a:p>
          <a:p>
            <a:pPr lvl="0">
              <a:spcBef>
                <a:spcPts val="600"/>
              </a:spcBef>
              <a:spcAft>
                <a:spcPts val="1200"/>
              </a:spcAft>
            </a:pPr>
            <a:r>
              <a:rPr lang="en-AU" sz="2200" dirty="0" smtClean="0">
                <a:latin typeface="Helvetica" pitchFamily="34" charset="0"/>
              </a:rPr>
              <a:t>Completing an evaluation of the training event</a:t>
            </a:r>
          </a:p>
          <a:p>
            <a:pPr lvl="0">
              <a:spcBef>
                <a:spcPts val="600"/>
              </a:spcBef>
              <a:spcAft>
                <a:spcPts val="1200"/>
              </a:spcAft>
            </a:pPr>
            <a:r>
              <a:rPr lang="en-AU" sz="2200" dirty="0" smtClean="0">
                <a:latin typeface="Helvetica" pitchFamily="34" charset="0"/>
              </a:rPr>
              <a:t>Sharing knowledge, skills and attitudes learned with other staff</a:t>
            </a:r>
          </a:p>
          <a:p>
            <a:pPr lvl="0"/>
            <a:endParaRPr lang="en-AU" sz="2400" dirty="0" smtClean="0"/>
          </a:p>
          <a:p>
            <a:pPr marL="0">
              <a:spcBef>
                <a:spcPts val="600"/>
              </a:spcBef>
              <a:spcAft>
                <a:spcPts val="1200"/>
              </a:spcAft>
              <a:buNone/>
            </a:pPr>
            <a:endParaRPr lang="en-AU" sz="2200" dirty="0" smtClean="0">
              <a:latin typeface="Helvetica" pitchFamily="34" charset="0"/>
            </a:endParaRPr>
          </a:p>
          <a:p>
            <a:pPr>
              <a:buNone/>
            </a:pPr>
            <a:endParaRPr lang="en-AU" sz="2400" dirty="0" smtClean="0"/>
          </a:p>
          <a:p>
            <a:pPr lvl="0">
              <a:spcBef>
                <a:spcPts val="600"/>
              </a:spcBef>
              <a:spcAft>
                <a:spcPts val="1200"/>
              </a:spcAft>
              <a:buNone/>
            </a:pPr>
            <a:endParaRPr lang="en-AU" sz="2200" dirty="0" smtClean="0">
              <a:latin typeface="Helvetica" pitchFamily="34" charset="0"/>
            </a:endParaRPr>
          </a:p>
          <a:p>
            <a:pPr lvl="0"/>
            <a:endParaRPr lang="en-AU" sz="2400" dirty="0" smtClean="0"/>
          </a:p>
          <a:p>
            <a:pPr lvl="0">
              <a:buNone/>
            </a:pPr>
            <a:endParaRPr lang="en-AU" sz="2400" dirty="0"/>
          </a:p>
        </p:txBody>
      </p:sp>
      <p:sp>
        <p:nvSpPr>
          <p:cNvPr id="4" name="Slide Number Placeholder 3"/>
          <p:cNvSpPr>
            <a:spLocks noGrp="1"/>
          </p:cNvSpPr>
          <p:nvPr>
            <p:ph type="sldNum" sz="quarter" idx="12"/>
          </p:nvPr>
        </p:nvSpPr>
        <p:spPr/>
        <p:txBody>
          <a:bodyPr/>
          <a:lstStyle/>
          <a:p>
            <a:r>
              <a:rPr lang="en-US" dirty="0" smtClean="0"/>
              <a:t> </a:t>
            </a:r>
            <a:r>
              <a:rPr lang="en-US" sz="1100" dirty="0" smtClean="0">
                <a:latin typeface="Helvetica" pitchFamily="34" charset="0"/>
              </a:rPr>
              <a:t>Slide </a:t>
            </a:r>
            <a:fld id="{90BDF71C-F485-43AE-8825-5070AF1EA8C9}" type="slidenum">
              <a:rPr lang="en-US" sz="1100" smtClean="0">
                <a:latin typeface="Helvetica" pitchFamily="34" charset="0"/>
              </a:rPr>
              <a:pPr/>
              <a:t>91</a:t>
            </a:fld>
            <a:endParaRPr lang="en-US" sz="1100" dirty="0">
              <a:latin typeface="Helvetica" pitchFamily="34" charset="0"/>
            </a:endParaRPr>
          </a:p>
        </p:txBody>
      </p:sp>
      <p:pic>
        <p:nvPicPr>
          <p:cNvPr id="6" name="Picture 5" descr="MP900443186.JPG"/>
          <p:cNvPicPr>
            <a:picLocks noChangeAspect="1"/>
          </p:cNvPicPr>
          <p:nvPr/>
        </p:nvPicPr>
        <p:blipFill>
          <a:blip r:embed="rId3" cstate="print"/>
          <a:stretch>
            <a:fillRect/>
          </a:stretch>
        </p:blipFill>
        <p:spPr>
          <a:xfrm>
            <a:off x="6300192" y="2780928"/>
            <a:ext cx="1879298" cy="1250652"/>
          </a:xfrm>
          <a:prstGeom prst="rect">
            <a:avLst/>
          </a:prstGeom>
        </p:spPr>
      </p:pic>
    </p:spTree>
  </p:cSld>
  <p:clrMapOvr>
    <a:masterClrMapping/>
  </p:clrMapOvr>
  <p:timing>
    <p:tnLst>
      <p:par>
        <p:cTn id="1" dur="indefinite" restart="never" nodeType="tmRoot"/>
      </p:par>
    </p:tnLst>
  </p:timing>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208912" cy="1143000"/>
          </a:xfrm>
        </p:spPr>
        <p:txBody>
          <a:bodyPr>
            <a:normAutofit/>
          </a:bodyPr>
          <a:lstStyle/>
          <a:p>
            <a:r>
              <a:rPr lang="en-US" sz="3400" b="1" dirty="0" smtClean="0">
                <a:solidFill>
                  <a:srgbClr val="FF6600"/>
                </a:solidFill>
                <a:latin typeface="Helvetica" pitchFamily="34" charset="0"/>
              </a:rPr>
              <a:t>Advise learners of attendance requirements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8136904" cy="5301208"/>
          </a:xfrm>
        </p:spPr>
        <p:txBody>
          <a:bodyPr>
            <a:normAutofit/>
          </a:bodyPr>
          <a:lstStyle/>
          <a:p>
            <a:pPr>
              <a:spcBef>
                <a:spcPts val="600"/>
              </a:spcBef>
              <a:spcAft>
                <a:spcPts val="1200"/>
              </a:spcAft>
              <a:buNone/>
            </a:pPr>
            <a:r>
              <a:rPr lang="en-AU" sz="2200" b="1" dirty="0" smtClean="0">
                <a:latin typeface="Helvetica" pitchFamily="34" charset="0"/>
              </a:rPr>
              <a:t>Confirm reasons for confirming attendance</a:t>
            </a:r>
            <a:endParaRPr lang="en-AU" sz="2200" dirty="0" smtClean="0">
              <a:latin typeface="Helvetica" pitchFamily="34" charset="0"/>
            </a:endParaRPr>
          </a:p>
          <a:p>
            <a:pPr>
              <a:spcBef>
                <a:spcPts val="600"/>
              </a:spcBef>
              <a:spcAft>
                <a:spcPts val="1200"/>
              </a:spcAft>
            </a:pPr>
            <a:r>
              <a:rPr lang="en-AU" sz="2200" dirty="0" smtClean="0">
                <a:latin typeface="Helvetica" pitchFamily="34" charset="0"/>
              </a:rPr>
              <a:t>For the Learner</a:t>
            </a:r>
          </a:p>
          <a:p>
            <a:pPr lvl="0">
              <a:spcBef>
                <a:spcPts val="600"/>
              </a:spcBef>
              <a:spcAft>
                <a:spcPts val="1200"/>
              </a:spcAft>
            </a:pPr>
            <a:r>
              <a:rPr lang="en-AU" sz="2200" dirty="0" smtClean="0">
                <a:latin typeface="Helvetica" pitchFamily="34" charset="0"/>
              </a:rPr>
              <a:t>For the Trainer</a:t>
            </a:r>
          </a:p>
          <a:p>
            <a:pPr lvl="0">
              <a:spcBef>
                <a:spcPts val="600"/>
              </a:spcBef>
              <a:spcAft>
                <a:spcPts val="1200"/>
              </a:spcAft>
            </a:pPr>
            <a:endParaRPr lang="en-AU" sz="2200" dirty="0" smtClean="0">
              <a:latin typeface="Helvetica" pitchFamily="34" charset="0"/>
            </a:endParaRPr>
          </a:p>
          <a:p>
            <a:pPr lvl="0">
              <a:spcBef>
                <a:spcPts val="600"/>
              </a:spcBef>
              <a:spcAft>
                <a:spcPts val="1200"/>
              </a:spcAft>
            </a:pPr>
            <a:r>
              <a:rPr lang="en-AU" sz="2200" dirty="0" smtClean="0">
                <a:latin typeface="Helvetica" pitchFamily="34" charset="0"/>
              </a:rPr>
              <a:t>How can you follow up with participants?</a:t>
            </a:r>
          </a:p>
          <a:p>
            <a:pPr marL="0">
              <a:spcBef>
                <a:spcPts val="600"/>
              </a:spcBef>
              <a:spcAft>
                <a:spcPts val="1200"/>
              </a:spcAft>
              <a:buNone/>
            </a:pPr>
            <a:endParaRPr lang="en-AU" sz="2200" dirty="0" smtClean="0">
              <a:latin typeface="Helvetica" pitchFamily="34" charset="0"/>
            </a:endParaRPr>
          </a:p>
          <a:p>
            <a:pPr>
              <a:buNone/>
            </a:pPr>
            <a:endParaRPr lang="en-AU" sz="2400" dirty="0" smtClean="0"/>
          </a:p>
          <a:p>
            <a:pPr lvl="0">
              <a:spcBef>
                <a:spcPts val="600"/>
              </a:spcBef>
              <a:spcAft>
                <a:spcPts val="1200"/>
              </a:spcAft>
              <a:buNone/>
            </a:pPr>
            <a:endParaRPr lang="en-AU" sz="2200" dirty="0" smtClean="0">
              <a:latin typeface="Helvetica" pitchFamily="34" charset="0"/>
            </a:endParaRPr>
          </a:p>
          <a:p>
            <a:pPr lvl="0"/>
            <a:endParaRPr lang="en-AU" sz="2400" dirty="0" smtClean="0"/>
          </a:p>
          <a:p>
            <a:pPr lvl="0">
              <a:buNone/>
            </a:pPr>
            <a:endParaRPr lang="en-AU" sz="2400" dirty="0"/>
          </a:p>
        </p:txBody>
      </p:sp>
      <p:sp>
        <p:nvSpPr>
          <p:cNvPr id="4" name="Slide Number Placeholder 3"/>
          <p:cNvSpPr>
            <a:spLocks noGrp="1"/>
          </p:cNvSpPr>
          <p:nvPr>
            <p:ph type="sldNum" sz="quarter" idx="12"/>
          </p:nvPr>
        </p:nvSpPr>
        <p:spPr/>
        <p:txBody>
          <a:bodyPr/>
          <a:lstStyle/>
          <a:p>
            <a:r>
              <a:rPr lang="en-US" dirty="0" smtClean="0"/>
              <a:t> </a:t>
            </a:r>
            <a:r>
              <a:rPr lang="en-US" sz="1100" dirty="0" smtClean="0">
                <a:latin typeface="Helvetica" pitchFamily="34" charset="0"/>
              </a:rPr>
              <a:t>Slide </a:t>
            </a:r>
            <a:fld id="{90BDF71C-F485-43AE-8825-5070AF1EA8C9}" type="slidenum">
              <a:rPr lang="en-US" sz="1100" smtClean="0">
                <a:latin typeface="Helvetica" pitchFamily="34" charset="0"/>
              </a:rPr>
              <a:pPr/>
              <a:t>92</a:t>
            </a:fld>
            <a:endParaRPr lang="en-US" sz="1100" dirty="0">
              <a:latin typeface="Helvetica" pitchFamily="34" charset="0"/>
            </a:endParaRPr>
          </a:p>
        </p:txBody>
      </p:sp>
      <p:pic>
        <p:nvPicPr>
          <p:cNvPr id="8" name="Picture 7" descr="MP900423018[1].JPG"/>
          <p:cNvPicPr/>
          <p:nvPr/>
        </p:nvPicPr>
        <p:blipFill>
          <a:blip r:embed="rId3" cstate="print"/>
          <a:stretch>
            <a:fillRect/>
          </a:stretch>
        </p:blipFill>
        <p:spPr>
          <a:xfrm>
            <a:off x="6660232" y="2276872"/>
            <a:ext cx="1612642" cy="1684015"/>
          </a:xfrm>
          <a:prstGeom prst="rect">
            <a:avLst/>
          </a:prstGeom>
        </p:spPr>
      </p:pic>
    </p:spTree>
  </p:cSld>
  <p:clrMapOvr>
    <a:masterClrMapping/>
  </p:clrMapOvr>
  <p:timing>
    <p:tnLst>
      <p:par>
        <p:cTn id="1" dur="indefinite" restart="never" nodeType="tmRoot"/>
      </p:par>
    </p:tnLst>
  </p:timing>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208912" cy="1143000"/>
          </a:xfrm>
        </p:spPr>
        <p:txBody>
          <a:bodyPr>
            <a:normAutofit/>
          </a:bodyPr>
          <a:lstStyle/>
          <a:p>
            <a:r>
              <a:rPr lang="en-US" sz="3400" b="1" dirty="0" smtClean="0">
                <a:solidFill>
                  <a:srgbClr val="FF6600"/>
                </a:solidFill>
                <a:latin typeface="Helvetica" pitchFamily="34" charset="0"/>
              </a:rPr>
              <a:t>Keeping records of attendance</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8136904" cy="5301208"/>
          </a:xfrm>
        </p:spPr>
        <p:txBody>
          <a:bodyPr>
            <a:normAutofit/>
          </a:bodyPr>
          <a:lstStyle/>
          <a:p>
            <a:pPr>
              <a:spcBef>
                <a:spcPts val="600"/>
              </a:spcBef>
              <a:spcAft>
                <a:spcPts val="1200"/>
              </a:spcAft>
              <a:buNone/>
            </a:pPr>
            <a:r>
              <a:rPr lang="en-AU" sz="2200" b="1" dirty="0" smtClean="0">
                <a:latin typeface="Helvetica" pitchFamily="34" charset="0"/>
              </a:rPr>
              <a:t>Person with access to records</a:t>
            </a:r>
            <a:endParaRPr lang="en-AU" sz="2200" dirty="0" smtClean="0">
              <a:latin typeface="Helvetica" pitchFamily="34" charset="0"/>
            </a:endParaRPr>
          </a:p>
          <a:p>
            <a:pPr lvl="0">
              <a:spcBef>
                <a:spcPts val="600"/>
              </a:spcBef>
              <a:spcAft>
                <a:spcPts val="1200"/>
              </a:spcAft>
            </a:pPr>
            <a:r>
              <a:rPr lang="en-AU" sz="2200" dirty="0" smtClean="0">
                <a:latin typeface="Helvetica" pitchFamily="34" charset="0"/>
              </a:rPr>
              <a:t>Participants</a:t>
            </a:r>
          </a:p>
          <a:p>
            <a:pPr lvl="0">
              <a:spcBef>
                <a:spcPts val="600"/>
              </a:spcBef>
              <a:spcAft>
                <a:spcPts val="1200"/>
              </a:spcAft>
            </a:pPr>
            <a:r>
              <a:rPr lang="en-AU" sz="2200" dirty="0" smtClean="0">
                <a:latin typeface="Helvetica" pitchFamily="34" charset="0"/>
              </a:rPr>
              <a:t>Trainers</a:t>
            </a:r>
          </a:p>
          <a:p>
            <a:pPr lvl="0">
              <a:spcBef>
                <a:spcPts val="600"/>
              </a:spcBef>
              <a:spcAft>
                <a:spcPts val="1200"/>
              </a:spcAft>
            </a:pPr>
            <a:r>
              <a:rPr lang="en-AU" sz="2200" dirty="0" smtClean="0">
                <a:latin typeface="Helvetica" pitchFamily="34" charset="0"/>
              </a:rPr>
              <a:t>Participant’s Manager</a:t>
            </a:r>
          </a:p>
          <a:p>
            <a:pPr lvl="0">
              <a:spcBef>
                <a:spcPts val="600"/>
              </a:spcBef>
              <a:spcAft>
                <a:spcPts val="1200"/>
              </a:spcAft>
            </a:pPr>
            <a:r>
              <a:rPr lang="en-AU" sz="2200" dirty="0" smtClean="0">
                <a:latin typeface="Helvetica" pitchFamily="34" charset="0"/>
              </a:rPr>
              <a:t>Human Resources</a:t>
            </a:r>
          </a:p>
          <a:p>
            <a:pPr lvl="0">
              <a:spcBef>
                <a:spcPts val="600"/>
              </a:spcBef>
              <a:spcAft>
                <a:spcPts val="1200"/>
              </a:spcAft>
            </a:pPr>
            <a:endParaRPr lang="en-AU" sz="2200" dirty="0" smtClean="0">
              <a:latin typeface="Helvetica" pitchFamily="34" charset="0"/>
            </a:endParaRPr>
          </a:p>
          <a:p>
            <a:pPr lvl="0">
              <a:spcBef>
                <a:spcPts val="600"/>
              </a:spcBef>
              <a:spcAft>
                <a:spcPts val="1200"/>
              </a:spcAft>
            </a:pPr>
            <a:r>
              <a:rPr lang="en-AU" sz="2200" dirty="0" smtClean="0">
                <a:latin typeface="Helvetica" pitchFamily="34" charset="0"/>
              </a:rPr>
              <a:t>What types of information or records are kept?</a:t>
            </a:r>
          </a:p>
          <a:p>
            <a:pPr marL="0">
              <a:spcBef>
                <a:spcPts val="600"/>
              </a:spcBef>
              <a:spcAft>
                <a:spcPts val="1200"/>
              </a:spcAft>
              <a:buNone/>
            </a:pPr>
            <a:endParaRPr lang="en-AU" sz="2200" dirty="0" smtClean="0">
              <a:latin typeface="Helvetica" pitchFamily="34" charset="0"/>
            </a:endParaRPr>
          </a:p>
          <a:p>
            <a:pPr>
              <a:buNone/>
            </a:pPr>
            <a:endParaRPr lang="en-AU" sz="2400" dirty="0" smtClean="0"/>
          </a:p>
          <a:p>
            <a:pPr lvl="0">
              <a:spcBef>
                <a:spcPts val="600"/>
              </a:spcBef>
              <a:spcAft>
                <a:spcPts val="1200"/>
              </a:spcAft>
              <a:buNone/>
            </a:pPr>
            <a:endParaRPr lang="en-AU" sz="2200" dirty="0" smtClean="0">
              <a:latin typeface="Helvetica" pitchFamily="34" charset="0"/>
            </a:endParaRPr>
          </a:p>
          <a:p>
            <a:pPr lvl="0"/>
            <a:endParaRPr lang="en-AU" sz="2400" dirty="0" smtClean="0"/>
          </a:p>
          <a:p>
            <a:pPr lvl="0">
              <a:buNone/>
            </a:pPr>
            <a:endParaRPr lang="en-AU" sz="2400" dirty="0"/>
          </a:p>
        </p:txBody>
      </p:sp>
      <p:sp>
        <p:nvSpPr>
          <p:cNvPr id="4" name="Slide Number Placeholder 3"/>
          <p:cNvSpPr>
            <a:spLocks noGrp="1"/>
          </p:cNvSpPr>
          <p:nvPr>
            <p:ph type="sldNum" sz="quarter" idx="12"/>
          </p:nvPr>
        </p:nvSpPr>
        <p:spPr/>
        <p:txBody>
          <a:bodyPr/>
          <a:lstStyle/>
          <a:p>
            <a:r>
              <a:rPr lang="en-US" dirty="0" smtClean="0"/>
              <a:t> </a:t>
            </a:r>
            <a:r>
              <a:rPr lang="en-US" sz="1100" dirty="0" smtClean="0">
                <a:latin typeface="Helvetica" pitchFamily="34" charset="0"/>
              </a:rPr>
              <a:t>Slide </a:t>
            </a:r>
            <a:fld id="{90BDF71C-F485-43AE-8825-5070AF1EA8C9}" type="slidenum">
              <a:rPr lang="en-US" sz="1100" smtClean="0">
                <a:latin typeface="Helvetica" pitchFamily="34" charset="0"/>
              </a:rPr>
              <a:pPr/>
              <a:t>93</a:t>
            </a:fld>
            <a:endParaRPr lang="en-US" sz="1100" dirty="0">
              <a:latin typeface="Helvetica" pitchFamily="34" charset="0"/>
            </a:endParaRPr>
          </a:p>
        </p:txBody>
      </p:sp>
      <p:pic>
        <p:nvPicPr>
          <p:cNvPr id="7" name="Picture 6" descr="00433062.jpg"/>
          <p:cNvPicPr/>
          <p:nvPr/>
        </p:nvPicPr>
        <p:blipFill>
          <a:blip r:embed="rId3" cstate="print"/>
          <a:stretch>
            <a:fillRect/>
          </a:stretch>
        </p:blipFill>
        <p:spPr>
          <a:xfrm>
            <a:off x="6372200" y="2132856"/>
            <a:ext cx="1285875" cy="1933575"/>
          </a:xfrm>
          <a:prstGeom prst="rect">
            <a:avLst/>
          </a:prstGeom>
        </p:spPr>
      </p:pic>
    </p:spTree>
  </p:cSld>
  <p:clrMapOvr>
    <a:masterClrMapping/>
  </p:clrMapOvr>
  <p:timing>
    <p:tnLst>
      <p:par>
        <p:cTn id="1" dur="indefinite" restart="never" nodeType="tmRoot"/>
      </p:par>
    </p:tnLst>
  </p:timing>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208912" cy="1143000"/>
          </a:xfrm>
        </p:spPr>
        <p:txBody>
          <a:bodyPr>
            <a:normAutofit/>
          </a:bodyPr>
          <a:lstStyle/>
          <a:p>
            <a:r>
              <a:rPr lang="en-US" sz="3400" b="1" dirty="0" smtClean="0">
                <a:solidFill>
                  <a:srgbClr val="FF6600"/>
                </a:solidFill>
                <a:latin typeface="Helvetica" pitchFamily="34" charset="0"/>
              </a:rPr>
              <a:t>Capture feedback from learners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8136904" cy="5301208"/>
          </a:xfrm>
        </p:spPr>
        <p:txBody>
          <a:bodyPr>
            <a:normAutofit/>
          </a:bodyPr>
          <a:lstStyle/>
          <a:p>
            <a:pPr>
              <a:spcBef>
                <a:spcPts val="600"/>
              </a:spcBef>
              <a:spcAft>
                <a:spcPts val="1200"/>
              </a:spcAft>
              <a:buNone/>
            </a:pPr>
            <a:r>
              <a:rPr lang="en-AU" sz="2200" b="1" dirty="0" smtClean="0">
                <a:latin typeface="Helvetica" pitchFamily="34" charset="0"/>
              </a:rPr>
              <a:t>Importance of feedback</a:t>
            </a:r>
            <a:endParaRPr lang="en-AU" sz="2200" dirty="0" smtClean="0">
              <a:latin typeface="Helvetica" pitchFamily="34" charset="0"/>
            </a:endParaRPr>
          </a:p>
          <a:p>
            <a:pPr lvl="0">
              <a:spcBef>
                <a:spcPts val="600"/>
              </a:spcBef>
              <a:spcAft>
                <a:spcPts val="1200"/>
              </a:spcAft>
            </a:pPr>
            <a:r>
              <a:rPr lang="en-AU" sz="2200" dirty="0" smtClean="0">
                <a:latin typeface="Helvetica" pitchFamily="34" charset="0"/>
              </a:rPr>
              <a:t>Why is it important to evaluate feedback?</a:t>
            </a:r>
          </a:p>
          <a:p>
            <a:pPr lvl="0">
              <a:spcBef>
                <a:spcPts val="600"/>
              </a:spcBef>
              <a:spcAft>
                <a:spcPts val="1200"/>
              </a:spcAft>
            </a:pPr>
            <a:r>
              <a:rPr lang="en-AU" sz="2200" dirty="0" smtClean="0">
                <a:latin typeface="Helvetica" pitchFamily="34" charset="0"/>
              </a:rPr>
              <a:t>What do we evaluate?</a:t>
            </a:r>
          </a:p>
          <a:p>
            <a:pPr lvl="0">
              <a:spcBef>
                <a:spcPts val="600"/>
              </a:spcBef>
              <a:spcAft>
                <a:spcPts val="1200"/>
              </a:spcAft>
            </a:pPr>
            <a:r>
              <a:rPr lang="en-AU" sz="2200" dirty="0" smtClean="0">
                <a:latin typeface="Helvetica" pitchFamily="34" charset="0"/>
              </a:rPr>
              <a:t>Who do we get feedback from?</a:t>
            </a:r>
          </a:p>
          <a:p>
            <a:pPr lvl="0">
              <a:spcBef>
                <a:spcPts val="600"/>
              </a:spcBef>
              <a:spcAft>
                <a:spcPts val="1200"/>
              </a:spcAft>
            </a:pPr>
            <a:r>
              <a:rPr lang="en-AU" sz="2200" dirty="0" smtClean="0">
                <a:latin typeface="Helvetica" pitchFamily="34" charset="0"/>
              </a:rPr>
              <a:t>How do we get feedback?</a:t>
            </a:r>
          </a:p>
          <a:p>
            <a:pPr marL="0">
              <a:spcBef>
                <a:spcPts val="600"/>
              </a:spcBef>
              <a:spcAft>
                <a:spcPts val="1200"/>
              </a:spcAft>
              <a:buNone/>
            </a:pPr>
            <a:endParaRPr lang="en-AU" sz="2200" dirty="0" smtClean="0">
              <a:latin typeface="Helvetica" pitchFamily="34" charset="0"/>
            </a:endParaRPr>
          </a:p>
          <a:p>
            <a:pPr>
              <a:buNone/>
            </a:pPr>
            <a:endParaRPr lang="en-AU" sz="2400" dirty="0" smtClean="0"/>
          </a:p>
          <a:p>
            <a:pPr lvl="0">
              <a:spcBef>
                <a:spcPts val="600"/>
              </a:spcBef>
              <a:spcAft>
                <a:spcPts val="1200"/>
              </a:spcAft>
              <a:buNone/>
            </a:pPr>
            <a:endParaRPr lang="en-AU" sz="2200" dirty="0" smtClean="0">
              <a:latin typeface="Helvetica" pitchFamily="34" charset="0"/>
            </a:endParaRPr>
          </a:p>
          <a:p>
            <a:pPr lvl="0"/>
            <a:endParaRPr lang="en-AU" sz="2400" dirty="0" smtClean="0"/>
          </a:p>
          <a:p>
            <a:pPr lvl="0">
              <a:buNone/>
            </a:pPr>
            <a:endParaRPr lang="en-AU" sz="2400" dirty="0"/>
          </a:p>
        </p:txBody>
      </p:sp>
      <p:sp>
        <p:nvSpPr>
          <p:cNvPr id="4" name="Slide Number Placeholder 3"/>
          <p:cNvSpPr>
            <a:spLocks noGrp="1"/>
          </p:cNvSpPr>
          <p:nvPr>
            <p:ph type="sldNum" sz="quarter" idx="12"/>
          </p:nvPr>
        </p:nvSpPr>
        <p:spPr/>
        <p:txBody>
          <a:bodyPr/>
          <a:lstStyle/>
          <a:p>
            <a:r>
              <a:rPr lang="en-US" dirty="0" smtClean="0"/>
              <a:t> </a:t>
            </a:r>
            <a:r>
              <a:rPr lang="en-US" sz="1100" dirty="0" smtClean="0">
                <a:latin typeface="Helvetica" pitchFamily="34" charset="0"/>
              </a:rPr>
              <a:t>Slide </a:t>
            </a:r>
            <a:fld id="{90BDF71C-F485-43AE-8825-5070AF1EA8C9}" type="slidenum">
              <a:rPr lang="en-US" sz="1100" smtClean="0">
                <a:latin typeface="Helvetica" pitchFamily="34" charset="0"/>
              </a:rPr>
              <a:pPr/>
              <a:t>94</a:t>
            </a:fld>
            <a:endParaRPr lang="en-US" sz="1100" dirty="0">
              <a:latin typeface="Helvetica" pitchFamily="34" charset="0"/>
            </a:endParaRPr>
          </a:p>
        </p:txBody>
      </p:sp>
      <p:pic>
        <p:nvPicPr>
          <p:cNvPr id="7" name="Picture 6" descr="I:\Overseas Projects\PHOTOS\2012\Office\feedback_form_excellent.jpg"/>
          <p:cNvPicPr/>
          <p:nvPr/>
        </p:nvPicPr>
        <p:blipFill>
          <a:blip r:embed="rId3" cstate="print"/>
          <a:srcRect/>
          <a:stretch>
            <a:fillRect/>
          </a:stretch>
        </p:blipFill>
        <p:spPr bwMode="auto">
          <a:xfrm>
            <a:off x="6588224" y="2564904"/>
            <a:ext cx="1698913" cy="1953491"/>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848872" cy="1143000"/>
          </a:xfrm>
        </p:spPr>
        <p:txBody>
          <a:bodyPr>
            <a:normAutofit/>
          </a:bodyPr>
          <a:lstStyle/>
          <a:p>
            <a:pPr marL="0"/>
            <a:r>
              <a:rPr lang="en-US" sz="3400" b="1" dirty="0" smtClean="0">
                <a:solidFill>
                  <a:srgbClr val="FF6600"/>
                </a:solidFill>
                <a:latin typeface="Helvetica" pitchFamily="34" charset="0"/>
              </a:rPr>
              <a:t>Capture feedback from learners</a:t>
            </a:r>
          </a:p>
        </p:txBody>
      </p:sp>
      <p:sp>
        <p:nvSpPr>
          <p:cNvPr id="3" name="Content Placeholder 2"/>
          <p:cNvSpPr>
            <a:spLocks noGrp="1"/>
          </p:cNvSpPr>
          <p:nvPr>
            <p:ph idx="1"/>
          </p:nvPr>
        </p:nvSpPr>
        <p:spPr>
          <a:xfrm>
            <a:off x="611560" y="1556792"/>
            <a:ext cx="8064896" cy="4752528"/>
          </a:xfrm>
        </p:spPr>
        <p:txBody>
          <a:bodyPr>
            <a:noAutofit/>
          </a:bodyPr>
          <a:lstStyle/>
          <a:p>
            <a:pPr>
              <a:spcBef>
                <a:spcPts val="600"/>
              </a:spcBef>
              <a:spcAft>
                <a:spcPts val="1200"/>
              </a:spcAft>
            </a:pPr>
            <a:r>
              <a:rPr lang="en-AU" sz="2200" dirty="0" smtClean="0">
                <a:latin typeface="Helvetica" pitchFamily="34" charset="0"/>
              </a:rPr>
              <a:t>Everyone learns at a training session</a:t>
            </a:r>
          </a:p>
          <a:p>
            <a:pPr>
              <a:spcBef>
                <a:spcPts val="600"/>
              </a:spcBef>
              <a:spcAft>
                <a:spcPts val="1200"/>
              </a:spcAft>
            </a:pPr>
            <a:r>
              <a:rPr lang="en-AU" sz="2200" dirty="0" smtClean="0">
                <a:latin typeface="Helvetica" pitchFamily="34" charset="0"/>
              </a:rPr>
              <a:t>The trainer should also ask for the learner’s feedback </a:t>
            </a:r>
            <a:br>
              <a:rPr lang="en-AU" sz="2200" dirty="0" smtClean="0">
                <a:latin typeface="Helvetica" pitchFamily="34" charset="0"/>
              </a:rPr>
            </a:br>
            <a:r>
              <a:rPr lang="en-AU" sz="2200" dirty="0" smtClean="0">
                <a:latin typeface="Helvetica" pitchFamily="34" charset="0"/>
              </a:rPr>
              <a:t>on the training</a:t>
            </a:r>
          </a:p>
          <a:p>
            <a:pPr>
              <a:spcBef>
                <a:spcPts val="600"/>
              </a:spcBef>
              <a:spcAft>
                <a:spcPts val="1200"/>
              </a:spcAft>
            </a:pPr>
            <a:r>
              <a:rPr lang="en-AU" sz="2200" dirty="0" smtClean="0">
                <a:latin typeface="Helvetica" pitchFamily="34" charset="0"/>
              </a:rPr>
              <a:t>This feedback should be taken seriously and constructively</a:t>
            </a:r>
          </a:p>
        </p:txBody>
      </p:sp>
      <p:sp>
        <p:nvSpPr>
          <p:cNvPr id="4" name="Slide Number Placeholder 3"/>
          <p:cNvSpPr>
            <a:spLocks noGrp="1"/>
          </p:cNvSpPr>
          <p:nvPr>
            <p:ph type="sldNum" sz="quarter" idx="12"/>
          </p:nvPr>
        </p:nvSpPr>
        <p:spPr/>
        <p:txBody>
          <a:bodyPr/>
          <a:lstStyle/>
          <a:p>
            <a:r>
              <a:rPr lang="en-US" dirty="0" smtClean="0"/>
              <a:t> </a:t>
            </a:r>
            <a:r>
              <a:rPr lang="en-US" sz="1100" dirty="0" smtClean="0">
                <a:latin typeface="Helvetica" pitchFamily="34" charset="0"/>
              </a:rPr>
              <a:t>Slide </a:t>
            </a:r>
            <a:fld id="{90BDF71C-F485-43AE-8825-5070AF1EA8C9}" type="slidenum">
              <a:rPr lang="en-US" sz="1100" smtClean="0">
                <a:latin typeface="Helvetica" pitchFamily="34" charset="0"/>
              </a:rPr>
              <a:pPr/>
              <a:t>95</a:t>
            </a:fld>
            <a:endParaRPr lang="en-US" sz="1100" dirty="0">
              <a:latin typeface="Helvetica" pitchFamily="34" charset="0"/>
            </a:endParaRPr>
          </a:p>
        </p:txBody>
      </p:sp>
      <p:pic>
        <p:nvPicPr>
          <p:cNvPr id="8" name="Picture 7" descr="Culinaryacademy166.TIF"/>
          <p:cNvPicPr/>
          <p:nvPr/>
        </p:nvPicPr>
        <p:blipFill>
          <a:blip r:embed="rId3" cstate="print">
            <a:lum contrast="20000"/>
          </a:blip>
          <a:stretch>
            <a:fillRect/>
          </a:stretch>
        </p:blipFill>
        <p:spPr>
          <a:xfrm>
            <a:off x="3779912" y="3861048"/>
            <a:ext cx="1402253" cy="2119746"/>
          </a:xfrm>
          <a:prstGeom prst="rect">
            <a:avLst/>
          </a:prstGeom>
        </p:spPr>
      </p:pic>
    </p:spTree>
  </p:cSld>
  <p:clrMapOvr>
    <a:masterClrMapping/>
  </p:clrMapOvr>
  <p:timing>
    <p:tnLst>
      <p:par>
        <p:cTn id="1" dur="indefinite" restart="never" nodeType="tmRoot"/>
      </p:par>
    </p:tnLst>
  </p:timing>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848872" cy="1143000"/>
          </a:xfrm>
        </p:spPr>
        <p:txBody>
          <a:bodyPr>
            <a:normAutofit/>
          </a:bodyPr>
          <a:lstStyle/>
          <a:p>
            <a:pPr marL="0"/>
            <a:r>
              <a:rPr lang="en-US" sz="3400" b="1" dirty="0" smtClean="0">
                <a:solidFill>
                  <a:srgbClr val="FF6600"/>
                </a:solidFill>
                <a:latin typeface="Helvetica" pitchFamily="34" charset="0"/>
              </a:rPr>
              <a:t>Capture feedback from learners</a:t>
            </a:r>
          </a:p>
        </p:txBody>
      </p:sp>
      <p:sp>
        <p:nvSpPr>
          <p:cNvPr id="3" name="Content Placeholder 2"/>
          <p:cNvSpPr>
            <a:spLocks noGrp="1"/>
          </p:cNvSpPr>
          <p:nvPr>
            <p:ph idx="1"/>
          </p:nvPr>
        </p:nvSpPr>
        <p:spPr>
          <a:xfrm>
            <a:off x="611560" y="1556792"/>
            <a:ext cx="7848872" cy="5112568"/>
          </a:xfrm>
        </p:spPr>
        <p:txBody>
          <a:bodyPr>
            <a:noAutofit/>
          </a:bodyPr>
          <a:lstStyle/>
          <a:p>
            <a:pPr>
              <a:spcBef>
                <a:spcPts val="600"/>
              </a:spcBef>
              <a:spcAft>
                <a:spcPts val="1200"/>
              </a:spcAft>
              <a:buNone/>
            </a:pPr>
            <a:r>
              <a:rPr lang="en-AU" sz="2200" dirty="0" smtClean="0">
                <a:latin typeface="Helvetica" pitchFamily="34" charset="0"/>
              </a:rPr>
              <a:t>Feedback may be based on:</a:t>
            </a:r>
          </a:p>
          <a:p>
            <a:pPr>
              <a:spcBef>
                <a:spcPts val="600"/>
              </a:spcBef>
              <a:spcAft>
                <a:spcPts val="1200"/>
              </a:spcAft>
            </a:pPr>
            <a:r>
              <a:rPr lang="en-AU" sz="2200" dirty="0" smtClean="0">
                <a:latin typeface="Helvetica" pitchFamily="34" charset="0"/>
              </a:rPr>
              <a:t>The training program</a:t>
            </a:r>
          </a:p>
          <a:p>
            <a:pPr>
              <a:spcBef>
                <a:spcPts val="600"/>
              </a:spcBef>
              <a:spcAft>
                <a:spcPts val="1200"/>
              </a:spcAft>
            </a:pPr>
            <a:r>
              <a:rPr lang="en-AU" sz="2200" dirty="0" smtClean="0">
                <a:latin typeface="Helvetica" pitchFamily="34" charset="0"/>
              </a:rPr>
              <a:t>The trainer themselves</a:t>
            </a:r>
          </a:p>
        </p:txBody>
      </p:sp>
      <p:sp>
        <p:nvSpPr>
          <p:cNvPr id="4" name="Slide Number Placeholder 3"/>
          <p:cNvSpPr>
            <a:spLocks noGrp="1"/>
          </p:cNvSpPr>
          <p:nvPr>
            <p:ph type="sldNum" sz="quarter" idx="12"/>
          </p:nvPr>
        </p:nvSpPr>
        <p:spPr/>
        <p:txBody>
          <a:bodyPr/>
          <a:lstStyle/>
          <a:p>
            <a:r>
              <a:rPr lang="en-US" dirty="0" smtClean="0"/>
              <a:t> </a:t>
            </a:r>
            <a:r>
              <a:rPr lang="en-US" sz="1100" dirty="0" smtClean="0">
                <a:latin typeface="Helvetica" pitchFamily="34" charset="0"/>
              </a:rPr>
              <a:t>Slide </a:t>
            </a:r>
            <a:fld id="{90BDF71C-F485-43AE-8825-5070AF1EA8C9}" type="slidenum">
              <a:rPr lang="en-US" sz="1100" smtClean="0">
                <a:latin typeface="Helvetica" pitchFamily="34" charset="0"/>
              </a:rPr>
              <a:pPr/>
              <a:t>96</a:t>
            </a:fld>
            <a:endParaRPr lang="en-US" sz="1100" dirty="0">
              <a:latin typeface="Helvetica" pitchFamily="34" charset="0"/>
            </a:endParaRPr>
          </a:p>
        </p:txBody>
      </p:sp>
      <p:pic>
        <p:nvPicPr>
          <p:cNvPr id="6" name="Picture 5" descr="what-is-eoscar-investigation.png"/>
          <p:cNvPicPr/>
          <p:nvPr/>
        </p:nvPicPr>
        <p:blipFill>
          <a:blip r:embed="rId3" cstate="print"/>
          <a:stretch>
            <a:fillRect/>
          </a:stretch>
        </p:blipFill>
        <p:spPr>
          <a:xfrm>
            <a:off x="5652120" y="1844824"/>
            <a:ext cx="1354974" cy="1350587"/>
          </a:xfrm>
          <a:prstGeom prst="ellipse">
            <a:avLst/>
          </a:prstGeom>
          <a:ln w="63500" cap="rnd">
            <a:solidFill>
              <a:srgbClr val="333333"/>
            </a:solidFill>
          </a:ln>
          <a:effectLst>
            <a:outerShdw blurRad="381000" dist="292100" dir="5400000" sx="-80000" sy="-18000" rotWithShape="0">
              <a:srgbClr val="000000">
                <a:alpha val="22000"/>
              </a:srgbClr>
            </a:outerShdw>
          </a:effectLst>
          <a:scene3d>
            <a:camera prst="orthographicFront"/>
            <a:lightRig rig="contrasting" dir="t">
              <a:rot lat="0" lon="0" rev="3000000"/>
            </a:lightRig>
          </a:scene3d>
          <a:sp3d contourW="7620">
            <a:bevelT w="95250" h="31750"/>
            <a:contourClr>
              <a:srgbClr val="333333"/>
            </a:contourClr>
          </a:sp3d>
        </p:spPr>
      </p:pic>
    </p:spTree>
  </p:cSld>
  <p:clrMapOvr>
    <a:masterClrMapping/>
  </p:clrMapOvr>
  <p:timing>
    <p:tnLst>
      <p:par>
        <p:cTn id="1" dur="indefinite" restart="never" nodeType="tmRoot"/>
      </p:par>
    </p:tnLst>
  </p:timing>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208912" cy="1143000"/>
          </a:xfrm>
        </p:spPr>
        <p:txBody>
          <a:bodyPr>
            <a:normAutofit/>
          </a:bodyPr>
          <a:lstStyle/>
          <a:p>
            <a:r>
              <a:rPr lang="en-US" sz="3400" b="1" dirty="0" smtClean="0">
                <a:solidFill>
                  <a:srgbClr val="FF6600"/>
                </a:solidFill>
                <a:latin typeface="Helvetica" pitchFamily="34" charset="0"/>
              </a:rPr>
              <a:t>Capture feedback from learners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8136904" cy="5301208"/>
          </a:xfrm>
        </p:spPr>
        <p:txBody>
          <a:bodyPr>
            <a:normAutofit/>
          </a:bodyPr>
          <a:lstStyle/>
          <a:p>
            <a:pPr>
              <a:spcBef>
                <a:spcPts val="600"/>
              </a:spcBef>
              <a:spcAft>
                <a:spcPts val="1200"/>
              </a:spcAft>
              <a:buNone/>
            </a:pPr>
            <a:r>
              <a:rPr lang="en-AU" sz="2200" b="1" dirty="0" smtClean="0">
                <a:latin typeface="Helvetica" pitchFamily="34" charset="0"/>
              </a:rPr>
              <a:t>Considerations when collecting feedback</a:t>
            </a:r>
            <a:endParaRPr lang="en-AU" sz="2200" dirty="0" smtClean="0">
              <a:latin typeface="Helvetica" pitchFamily="34" charset="0"/>
            </a:endParaRPr>
          </a:p>
          <a:p>
            <a:pPr>
              <a:spcBef>
                <a:spcPts val="600"/>
              </a:spcBef>
              <a:spcAft>
                <a:spcPts val="1200"/>
              </a:spcAft>
            </a:pPr>
            <a:r>
              <a:rPr lang="en-AU" sz="2200" dirty="0" smtClean="0">
                <a:latin typeface="Helvetica" pitchFamily="34" charset="0"/>
              </a:rPr>
              <a:t>Compulsory feedback </a:t>
            </a:r>
          </a:p>
          <a:p>
            <a:pPr>
              <a:spcBef>
                <a:spcPts val="600"/>
              </a:spcBef>
              <a:spcAft>
                <a:spcPts val="1200"/>
              </a:spcAft>
            </a:pPr>
            <a:r>
              <a:rPr lang="en-AU" sz="2200" dirty="0" smtClean="0">
                <a:latin typeface="Helvetica" pitchFamily="34" charset="0"/>
              </a:rPr>
              <a:t>Comments are relevant</a:t>
            </a:r>
          </a:p>
          <a:p>
            <a:pPr>
              <a:spcBef>
                <a:spcPts val="600"/>
              </a:spcBef>
              <a:spcAft>
                <a:spcPts val="1200"/>
              </a:spcAft>
            </a:pPr>
            <a:r>
              <a:rPr lang="en-AU" sz="2200" dirty="0" smtClean="0">
                <a:latin typeface="Helvetica" pitchFamily="34" charset="0"/>
              </a:rPr>
              <a:t>Value of training</a:t>
            </a:r>
          </a:p>
          <a:p>
            <a:pPr>
              <a:spcBef>
                <a:spcPts val="600"/>
              </a:spcBef>
              <a:spcAft>
                <a:spcPts val="1200"/>
              </a:spcAft>
            </a:pPr>
            <a:r>
              <a:rPr lang="en-AU" sz="2200" dirty="0" smtClean="0">
                <a:latin typeface="Helvetica" pitchFamily="34" charset="0"/>
              </a:rPr>
              <a:t>Ensuring feedback represents a valid profile of learners </a:t>
            </a:r>
          </a:p>
          <a:p>
            <a:endParaRPr lang="en-AU" sz="2200" dirty="0" smtClean="0">
              <a:latin typeface="Helvetica" pitchFamily="34" charset="0"/>
            </a:endParaRPr>
          </a:p>
          <a:p>
            <a:pPr>
              <a:buNone/>
            </a:pPr>
            <a:endParaRPr lang="en-AU" sz="2400" dirty="0" smtClean="0"/>
          </a:p>
          <a:p>
            <a:pPr lvl="0">
              <a:spcBef>
                <a:spcPts val="600"/>
              </a:spcBef>
              <a:spcAft>
                <a:spcPts val="1200"/>
              </a:spcAft>
              <a:buNone/>
            </a:pPr>
            <a:endParaRPr lang="en-AU" sz="2200" dirty="0" smtClean="0">
              <a:latin typeface="Helvetica" pitchFamily="34" charset="0"/>
            </a:endParaRPr>
          </a:p>
          <a:p>
            <a:pPr lvl="0"/>
            <a:endParaRPr lang="en-AU" sz="2400" dirty="0" smtClean="0"/>
          </a:p>
          <a:p>
            <a:pPr lvl="0">
              <a:buNone/>
            </a:pPr>
            <a:endParaRPr lang="en-AU" sz="2400" dirty="0"/>
          </a:p>
        </p:txBody>
      </p:sp>
      <p:sp>
        <p:nvSpPr>
          <p:cNvPr id="4" name="Slide Number Placeholder 3"/>
          <p:cNvSpPr>
            <a:spLocks noGrp="1"/>
          </p:cNvSpPr>
          <p:nvPr>
            <p:ph type="sldNum" sz="quarter" idx="12"/>
          </p:nvPr>
        </p:nvSpPr>
        <p:spPr/>
        <p:txBody>
          <a:bodyPr/>
          <a:lstStyle/>
          <a:p>
            <a:r>
              <a:rPr lang="en-US" dirty="0" smtClean="0"/>
              <a:t> </a:t>
            </a:r>
            <a:r>
              <a:rPr lang="en-US" sz="1100" dirty="0" smtClean="0">
                <a:latin typeface="Helvetica" pitchFamily="34" charset="0"/>
              </a:rPr>
              <a:t>Slide </a:t>
            </a:r>
            <a:fld id="{90BDF71C-F485-43AE-8825-5070AF1EA8C9}" type="slidenum">
              <a:rPr lang="en-US" sz="1100" smtClean="0">
                <a:latin typeface="Helvetica" pitchFamily="34" charset="0"/>
              </a:rPr>
              <a:pPr/>
              <a:t>97</a:t>
            </a:fld>
            <a:endParaRPr lang="en-US" sz="1100" dirty="0">
              <a:latin typeface="Helvetica" pitchFamily="34" charset="0"/>
            </a:endParaRPr>
          </a:p>
        </p:txBody>
      </p:sp>
      <p:pic>
        <p:nvPicPr>
          <p:cNvPr id="7" name="Picture 6" descr="shutterstock_57319615.jpg"/>
          <p:cNvPicPr/>
          <p:nvPr/>
        </p:nvPicPr>
        <p:blipFill>
          <a:blip r:embed="rId3" cstate="print"/>
          <a:stretch>
            <a:fillRect/>
          </a:stretch>
        </p:blipFill>
        <p:spPr>
          <a:xfrm>
            <a:off x="6012160" y="2276872"/>
            <a:ext cx="1928614" cy="1336923"/>
          </a:xfrm>
          <a:prstGeom prst="rect">
            <a:avLst/>
          </a:prstGeom>
        </p:spPr>
      </p:pic>
    </p:spTree>
  </p:cSld>
  <p:clrMapOvr>
    <a:masterClrMapping/>
  </p:clrMapOvr>
  <p:timing>
    <p:tnLst>
      <p:par>
        <p:cTn id="1" dur="indefinite" restart="never" nodeType="tmRoot"/>
      </p:par>
    </p:tnLst>
  </p:timing>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848872" cy="1143000"/>
          </a:xfrm>
        </p:spPr>
        <p:txBody>
          <a:bodyPr>
            <a:normAutofit/>
          </a:bodyPr>
          <a:lstStyle/>
          <a:p>
            <a:pPr marL="0"/>
            <a:r>
              <a:rPr lang="en-US" sz="3400" b="1" dirty="0" smtClean="0">
                <a:solidFill>
                  <a:srgbClr val="FF6600"/>
                </a:solidFill>
                <a:latin typeface="Helvetica" pitchFamily="34" charset="0"/>
              </a:rPr>
              <a:t>Capture feedback from learners</a:t>
            </a:r>
          </a:p>
        </p:txBody>
      </p:sp>
      <p:sp>
        <p:nvSpPr>
          <p:cNvPr id="3" name="Content Placeholder 2"/>
          <p:cNvSpPr>
            <a:spLocks noGrp="1"/>
          </p:cNvSpPr>
          <p:nvPr>
            <p:ph idx="1"/>
          </p:nvPr>
        </p:nvSpPr>
        <p:spPr>
          <a:xfrm>
            <a:off x="611560" y="1340768"/>
            <a:ext cx="7848872" cy="5517232"/>
          </a:xfrm>
        </p:spPr>
        <p:txBody>
          <a:bodyPr>
            <a:noAutofit/>
          </a:bodyPr>
          <a:lstStyle/>
          <a:p>
            <a:pPr>
              <a:spcBef>
                <a:spcPts val="600"/>
              </a:spcBef>
              <a:spcAft>
                <a:spcPts val="1200"/>
              </a:spcAft>
              <a:buNone/>
            </a:pPr>
            <a:r>
              <a:rPr lang="en-AU" sz="2200" b="1" dirty="0" smtClean="0">
                <a:latin typeface="Helvetica" pitchFamily="34" charset="0"/>
              </a:rPr>
              <a:t>Training problems</a:t>
            </a:r>
          </a:p>
          <a:p>
            <a:pPr marL="0">
              <a:spcBef>
                <a:spcPts val="600"/>
              </a:spcBef>
              <a:spcAft>
                <a:spcPts val="1200"/>
              </a:spcAft>
              <a:buNone/>
            </a:pPr>
            <a:r>
              <a:rPr lang="en-AU" sz="2200" dirty="0" smtClean="0">
                <a:latin typeface="Helvetica" pitchFamily="34" charset="0"/>
              </a:rPr>
              <a:t>As a trainer, you must be alert to signs your training has not been effective. </a:t>
            </a:r>
          </a:p>
          <a:p>
            <a:pPr>
              <a:spcBef>
                <a:spcPts val="600"/>
              </a:spcBef>
              <a:spcAft>
                <a:spcPts val="1200"/>
              </a:spcAft>
              <a:buNone/>
            </a:pPr>
            <a:r>
              <a:rPr lang="en-AU" sz="2200" dirty="0" smtClean="0">
                <a:latin typeface="Helvetica" pitchFamily="34" charset="0"/>
              </a:rPr>
              <a:t>Performance problems or difficulties may be due to:</a:t>
            </a:r>
          </a:p>
          <a:p>
            <a:pPr lvl="0">
              <a:spcBef>
                <a:spcPts val="600"/>
              </a:spcBef>
              <a:spcAft>
                <a:spcPts val="1200"/>
              </a:spcAft>
            </a:pPr>
            <a:r>
              <a:rPr lang="en-AU" sz="2200" dirty="0" smtClean="0">
                <a:latin typeface="Helvetica" pitchFamily="34" charset="0"/>
              </a:rPr>
              <a:t>Shyness or lack of confidence</a:t>
            </a:r>
          </a:p>
          <a:p>
            <a:pPr lvl="0">
              <a:spcBef>
                <a:spcPts val="600"/>
              </a:spcBef>
              <a:spcAft>
                <a:spcPts val="1200"/>
              </a:spcAft>
            </a:pPr>
            <a:r>
              <a:rPr lang="en-AU" sz="2200" dirty="0" smtClean="0">
                <a:latin typeface="Helvetica" pitchFamily="34" charset="0"/>
              </a:rPr>
              <a:t>A breakdown in communication </a:t>
            </a:r>
          </a:p>
          <a:p>
            <a:pPr lvl="0">
              <a:spcBef>
                <a:spcPts val="600"/>
              </a:spcBef>
              <a:spcAft>
                <a:spcPts val="1200"/>
              </a:spcAft>
            </a:pPr>
            <a:r>
              <a:rPr lang="en-AU" sz="2200" dirty="0" smtClean="0">
                <a:latin typeface="Helvetica" pitchFamily="34" charset="0"/>
              </a:rPr>
              <a:t>Language or cultural barriers</a:t>
            </a:r>
          </a:p>
          <a:p>
            <a:pPr lvl="0">
              <a:spcBef>
                <a:spcPts val="600"/>
              </a:spcBef>
              <a:spcAft>
                <a:spcPts val="1200"/>
              </a:spcAft>
            </a:pPr>
            <a:r>
              <a:rPr lang="en-AU" sz="2200" dirty="0" smtClean="0">
                <a:latin typeface="Helvetica" pitchFamily="34" charset="0"/>
              </a:rPr>
              <a:t>Insufficient opportunity to practise</a:t>
            </a:r>
          </a:p>
          <a:p>
            <a:pPr lvl="0">
              <a:spcBef>
                <a:spcPts val="600"/>
              </a:spcBef>
              <a:spcAft>
                <a:spcPts val="1200"/>
              </a:spcAft>
            </a:pPr>
            <a:r>
              <a:rPr lang="en-AU" sz="2200" dirty="0" smtClean="0">
                <a:latin typeface="Helvetica" pitchFamily="34" charset="0"/>
              </a:rPr>
              <a:t>An inappropriate training and practice environment</a:t>
            </a: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sz="1100" dirty="0" smtClean="0">
                <a:latin typeface="Helvetica" pitchFamily="34" charset="0"/>
              </a:rPr>
              <a:t>Slide </a:t>
            </a:r>
            <a:fld id="{90BDF71C-F485-43AE-8825-5070AF1EA8C9}" type="slidenum">
              <a:rPr lang="en-US" sz="1100" smtClean="0">
                <a:latin typeface="Helvetica" pitchFamily="34" charset="0"/>
              </a:rPr>
              <a:pPr/>
              <a:t>98</a:t>
            </a:fld>
            <a:endParaRPr lang="en-US" sz="1100" dirty="0">
              <a:latin typeface="Helvetica" pitchFamily="34" charset="0"/>
            </a:endParaRPr>
          </a:p>
        </p:txBody>
      </p:sp>
      <p:pic>
        <p:nvPicPr>
          <p:cNvPr id="6" name="Picture 5" descr="what-is-eoscar-investigation.png"/>
          <p:cNvPicPr/>
          <p:nvPr/>
        </p:nvPicPr>
        <p:blipFill>
          <a:blip r:embed="rId3" cstate="print"/>
          <a:stretch>
            <a:fillRect/>
          </a:stretch>
        </p:blipFill>
        <p:spPr>
          <a:xfrm>
            <a:off x="6516216" y="3429000"/>
            <a:ext cx="1728192" cy="1679823"/>
          </a:xfrm>
          <a:prstGeom prst="rect">
            <a:avLst/>
          </a:prstGeom>
        </p:spPr>
      </p:pic>
    </p:spTree>
  </p:cSld>
  <p:clrMapOvr>
    <a:masterClrMapping/>
  </p:clrMapOvr>
  <p:timing>
    <p:tnLst>
      <p:par>
        <p:cTn id="1" dur="indefinite" restart="never" nodeType="tmRoot"/>
      </p:par>
    </p:tnLst>
  </p:timing>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848872" cy="1143000"/>
          </a:xfrm>
        </p:spPr>
        <p:txBody>
          <a:bodyPr>
            <a:normAutofit/>
          </a:bodyPr>
          <a:lstStyle/>
          <a:p>
            <a:pPr marL="0"/>
            <a:r>
              <a:rPr lang="en-US" sz="3400" b="1" dirty="0" smtClean="0">
                <a:solidFill>
                  <a:srgbClr val="FF6600"/>
                </a:solidFill>
                <a:latin typeface="Helvetica" pitchFamily="34" charset="0"/>
              </a:rPr>
              <a:t>Seek feedback from learners</a:t>
            </a:r>
          </a:p>
        </p:txBody>
      </p:sp>
      <p:sp>
        <p:nvSpPr>
          <p:cNvPr id="3" name="Content Placeholder 2"/>
          <p:cNvSpPr>
            <a:spLocks noGrp="1"/>
          </p:cNvSpPr>
          <p:nvPr>
            <p:ph idx="1"/>
          </p:nvPr>
        </p:nvSpPr>
        <p:spPr>
          <a:xfrm>
            <a:off x="611560" y="1556792"/>
            <a:ext cx="7848872" cy="5112568"/>
          </a:xfrm>
        </p:spPr>
        <p:txBody>
          <a:bodyPr>
            <a:noAutofit/>
          </a:bodyPr>
          <a:lstStyle/>
          <a:p>
            <a:pPr>
              <a:spcBef>
                <a:spcPts val="600"/>
              </a:spcBef>
              <a:spcAft>
                <a:spcPts val="1200"/>
              </a:spcAft>
              <a:buNone/>
            </a:pPr>
            <a:r>
              <a:rPr lang="en-AU" sz="2200" b="1" dirty="0" smtClean="0">
                <a:latin typeface="Helvetica" pitchFamily="34" charset="0"/>
              </a:rPr>
              <a:t>Common causes of training problems</a:t>
            </a:r>
          </a:p>
          <a:p>
            <a:pPr lvl="0">
              <a:spcBef>
                <a:spcPts val="600"/>
              </a:spcBef>
              <a:spcAft>
                <a:spcPts val="1200"/>
              </a:spcAft>
            </a:pPr>
            <a:r>
              <a:rPr lang="en-AU" sz="2200" dirty="0" smtClean="0">
                <a:latin typeface="Helvetica" pitchFamily="34" charset="0"/>
              </a:rPr>
              <a:t>Poor, insufficient or rushed preparation</a:t>
            </a:r>
          </a:p>
          <a:p>
            <a:pPr lvl="0">
              <a:spcBef>
                <a:spcPts val="600"/>
              </a:spcBef>
              <a:spcAft>
                <a:spcPts val="1200"/>
              </a:spcAft>
            </a:pPr>
            <a:r>
              <a:rPr lang="en-AU" sz="2200" dirty="0" smtClean="0">
                <a:latin typeface="Helvetica" pitchFamily="34" charset="0"/>
              </a:rPr>
              <a:t>Time restraints</a:t>
            </a:r>
          </a:p>
          <a:p>
            <a:pPr lvl="0">
              <a:spcBef>
                <a:spcPts val="600"/>
              </a:spcBef>
              <a:spcAft>
                <a:spcPts val="1200"/>
              </a:spcAft>
            </a:pPr>
            <a:r>
              <a:rPr lang="en-AU" sz="2200" dirty="0" smtClean="0">
                <a:latin typeface="Helvetica" pitchFamily="34" charset="0"/>
              </a:rPr>
              <a:t>Communication barriers</a:t>
            </a:r>
          </a:p>
          <a:p>
            <a:pPr lvl="0">
              <a:spcBef>
                <a:spcPts val="600"/>
              </a:spcBef>
              <a:spcAft>
                <a:spcPts val="1200"/>
              </a:spcAft>
            </a:pPr>
            <a:r>
              <a:rPr lang="en-AU" sz="2200" dirty="0" smtClean="0">
                <a:latin typeface="Helvetica" pitchFamily="34" charset="0"/>
              </a:rPr>
              <a:t>Uncomfortable surroundings </a:t>
            </a:r>
          </a:p>
          <a:p>
            <a:pPr lvl="0">
              <a:spcBef>
                <a:spcPts val="600"/>
              </a:spcBef>
              <a:spcAft>
                <a:spcPts val="1200"/>
              </a:spcAft>
            </a:pPr>
            <a:r>
              <a:rPr lang="en-AU" sz="2200" dirty="0" smtClean="0">
                <a:latin typeface="Helvetica" pitchFamily="34" charset="0"/>
              </a:rPr>
              <a:t>Inappropriate learning tools</a:t>
            </a:r>
          </a:p>
          <a:p>
            <a:pPr lvl="0">
              <a:spcBef>
                <a:spcPts val="600"/>
              </a:spcBef>
              <a:spcAft>
                <a:spcPts val="1200"/>
              </a:spcAft>
              <a:buNone/>
            </a:pPr>
            <a:r>
              <a:rPr lang="en-AU" sz="2200" i="1" dirty="0" smtClean="0">
                <a:latin typeface="Helvetica" pitchFamily="34" charset="0"/>
              </a:rPr>
              <a:t>(continued)</a:t>
            </a:r>
          </a:p>
        </p:txBody>
      </p:sp>
      <p:sp>
        <p:nvSpPr>
          <p:cNvPr id="4" name="Slide Number Placeholder 3"/>
          <p:cNvSpPr>
            <a:spLocks noGrp="1"/>
          </p:cNvSpPr>
          <p:nvPr>
            <p:ph type="sldNum" sz="quarter" idx="12"/>
          </p:nvPr>
        </p:nvSpPr>
        <p:spPr/>
        <p:txBody>
          <a:bodyPr/>
          <a:lstStyle/>
          <a:p>
            <a:r>
              <a:rPr lang="en-US" dirty="0" smtClean="0"/>
              <a:t> </a:t>
            </a:r>
            <a:r>
              <a:rPr lang="en-US" sz="1100" dirty="0" smtClean="0">
                <a:latin typeface="Helvetica" pitchFamily="34" charset="0"/>
              </a:rPr>
              <a:t>Slide </a:t>
            </a:r>
            <a:fld id="{90BDF71C-F485-43AE-8825-5070AF1EA8C9}" type="slidenum">
              <a:rPr lang="en-US" sz="1100" smtClean="0">
                <a:latin typeface="Helvetica" pitchFamily="34" charset="0"/>
              </a:rPr>
              <a:pPr/>
              <a:t>99</a:t>
            </a:fld>
            <a:endParaRPr lang="en-US" sz="1100" dirty="0">
              <a:latin typeface="Helvetica" pitchFamily="34" charset="0"/>
            </a:endParaRPr>
          </a:p>
        </p:txBody>
      </p:sp>
      <p:pic>
        <p:nvPicPr>
          <p:cNvPr id="7" name="Picture 6" descr="MP900448464.JPG"/>
          <p:cNvPicPr>
            <a:picLocks noChangeAspect="1"/>
          </p:cNvPicPr>
          <p:nvPr/>
        </p:nvPicPr>
        <p:blipFill>
          <a:blip r:embed="rId3" cstate="print"/>
          <a:stretch>
            <a:fillRect/>
          </a:stretch>
        </p:blipFill>
        <p:spPr>
          <a:xfrm>
            <a:off x="6660232" y="2636912"/>
            <a:ext cx="1584176" cy="2376264"/>
          </a:xfrm>
          <a:prstGeom prst="rect">
            <a:avLst/>
          </a:prstGeom>
        </p:spPr>
      </p:pic>
    </p:spTree>
  </p:cSld>
  <p:clrMapOvr>
    <a:masterClrMapping/>
  </p:clrMapOvr>
  <p:timing>
    <p:tnLst>
      <p:par>
        <p:cTn id="1" dur="indefinite" restart="never" nodeType="tmRoot"/>
      </p:par>
    </p:tnLst>
  </p:timing>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848872" cy="1143000"/>
          </a:xfrm>
        </p:spPr>
        <p:txBody>
          <a:bodyPr>
            <a:normAutofit/>
          </a:bodyPr>
          <a:lstStyle/>
          <a:p>
            <a:pPr marL="0"/>
            <a:r>
              <a:rPr lang="en-US" sz="3400" b="1" dirty="0" smtClean="0">
                <a:solidFill>
                  <a:srgbClr val="FF6600"/>
                </a:solidFill>
                <a:latin typeface="Helvetica" pitchFamily="34" charset="0"/>
              </a:rPr>
              <a:t>Seek feedback from learners</a:t>
            </a:r>
          </a:p>
        </p:txBody>
      </p:sp>
      <p:sp>
        <p:nvSpPr>
          <p:cNvPr id="3" name="Content Placeholder 2"/>
          <p:cNvSpPr>
            <a:spLocks noGrp="1"/>
          </p:cNvSpPr>
          <p:nvPr>
            <p:ph idx="1"/>
          </p:nvPr>
        </p:nvSpPr>
        <p:spPr>
          <a:xfrm>
            <a:off x="611560" y="1556792"/>
            <a:ext cx="7848872" cy="5301208"/>
          </a:xfrm>
        </p:spPr>
        <p:txBody>
          <a:bodyPr>
            <a:noAutofit/>
          </a:bodyPr>
          <a:lstStyle/>
          <a:p>
            <a:pPr>
              <a:spcBef>
                <a:spcPts val="600"/>
              </a:spcBef>
              <a:spcAft>
                <a:spcPts val="1200"/>
              </a:spcAft>
              <a:buNone/>
            </a:pPr>
            <a:r>
              <a:rPr lang="en-AU" sz="2200" b="1" dirty="0" smtClean="0">
                <a:latin typeface="Helvetica" pitchFamily="34" charset="0"/>
              </a:rPr>
              <a:t>Common causes of training problems</a:t>
            </a:r>
          </a:p>
          <a:p>
            <a:pPr lvl="0">
              <a:spcBef>
                <a:spcPts val="600"/>
              </a:spcBef>
              <a:spcAft>
                <a:spcPts val="1200"/>
              </a:spcAft>
            </a:pPr>
            <a:r>
              <a:rPr lang="en-AU" sz="2200" dirty="0" smtClean="0">
                <a:latin typeface="Helvetica" pitchFamily="34" charset="0"/>
              </a:rPr>
              <a:t>Broken, dangerous or faulty equipment </a:t>
            </a:r>
          </a:p>
          <a:p>
            <a:pPr lvl="0">
              <a:spcBef>
                <a:spcPts val="600"/>
              </a:spcBef>
              <a:spcAft>
                <a:spcPts val="1200"/>
              </a:spcAft>
            </a:pPr>
            <a:r>
              <a:rPr lang="en-AU" sz="2200" dirty="0" smtClean="0">
                <a:latin typeface="Helvetica" pitchFamily="34" charset="0"/>
              </a:rPr>
              <a:t>Unmotivated learners</a:t>
            </a:r>
          </a:p>
          <a:p>
            <a:pPr lvl="0">
              <a:spcBef>
                <a:spcPts val="600"/>
              </a:spcBef>
              <a:spcAft>
                <a:spcPts val="1200"/>
              </a:spcAft>
            </a:pPr>
            <a:r>
              <a:rPr lang="en-AU" sz="2200" dirty="0" smtClean="0">
                <a:latin typeface="Helvetica" pitchFamily="34" charset="0"/>
              </a:rPr>
              <a:t>Insufficient stock, or consumables</a:t>
            </a:r>
          </a:p>
          <a:p>
            <a:pPr lvl="0">
              <a:spcBef>
                <a:spcPts val="600"/>
              </a:spcBef>
              <a:spcAft>
                <a:spcPts val="1200"/>
              </a:spcAft>
            </a:pPr>
            <a:r>
              <a:rPr lang="en-AU" sz="2200" dirty="0" smtClean="0">
                <a:latin typeface="Helvetica" pitchFamily="34" charset="0"/>
              </a:rPr>
              <a:t>Poor levels of attendance</a:t>
            </a: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sz="1100" dirty="0" smtClean="0">
                <a:latin typeface="Helvetica" pitchFamily="34" charset="0"/>
              </a:rPr>
              <a:t>Slide </a:t>
            </a:r>
            <a:fld id="{90BDF71C-F485-43AE-8825-5070AF1EA8C9}" type="slidenum">
              <a:rPr lang="en-US" sz="1100" smtClean="0">
                <a:latin typeface="Helvetica" pitchFamily="34" charset="0"/>
              </a:rPr>
              <a:pPr/>
              <a:t>100</a:t>
            </a:fld>
            <a:endParaRPr lang="en-US" sz="1100" dirty="0">
              <a:latin typeface="Helvetica" pitchFamily="34" charset="0"/>
            </a:endParaRPr>
          </a:p>
        </p:txBody>
      </p:sp>
      <p:pic>
        <p:nvPicPr>
          <p:cNvPr id="5" name="Picture 4" descr="MP900400285.JPG"/>
          <p:cNvPicPr>
            <a:picLocks noChangeAspect="1"/>
          </p:cNvPicPr>
          <p:nvPr/>
        </p:nvPicPr>
        <p:blipFill>
          <a:blip r:embed="rId3" cstate="print"/>
          <a:stretch>
            <a:fillRect/>
          </a:stretch>
        </p:blipFill>
        <p:spPr>
          <a:xfrm>
            <a:off x="6084168" y="2780928"/>
            <a:ext cx="2160071" cy="1441173"/>
          </a:xfrm>
          <a:prstGeom prst="rect">
            <a:avLst/>
          </a:prstGeom>
        </p:spPr>
      </p:pic>
    </p:spTree>
  </p:cSld>
  <p:clrMapOvr>
    <a:masterClrMapping/>
  </p:clrMapOvr>
  <p:timing>
    <p:tnLst>
      <p:par>
        <p:cTn id="1" dur="indefinite" restart="never" nodeType="tmRoot"/>
      </p:par>
    </p:tnLst>
  </p:timing>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848872" cy="1143000"/>
          </a:xfrm>
        </p:spPr>
        <p:txBody>
          <a:bodyPr>
            <a:normAutofit/>
          </a:bodyPr>
          <a:lstStyle/>
          <a:p>
            <a:pPr marL="0"/>
            <a:r>
              <a:rPr lang="en-US" sz="3400" b="1" dirty="0" smtClean="0">
                <a:solidFill>
                  <a:srgbClr val="FF6600"/>
                </a:solidFill>
                <a:latin typeface="Helvetica" pitchFamily="34" charset="0"/>
              </a:rPr>
              <a:t>Feedback with others </a:t>
            </a:r>
          </a:p>
        </p:txBody>
      </p:sp>
      <p:sp>
        <p:nvSpPr>
          <p:cNvPr id="3" name="Content Placeholder 2"/>
          <p:cNvSpPr>
            <a:spLocks noGrp="1"/>
          </p:cNvSpPr>
          <p:nvPr>
            <p:ph idx="1"/>
          </p:nvPr>
        </p:nvSpPr>
        <p:spPr>
          <a:xfrm>
            <a:off x="611560" y="1556792"/>
            <a:ext cx="7848872" cy="5301208"/>
          </a:xfrm>
        </p:spPr>
        <p:txBody>
          <a:bodyPr>
            <a:noAutofit/>
          </a:bodyPr>
          <a:lstStyle/>
          <a:p>
            <a:pPr>
              <a:spcBef>
                <a:spcPts val="600"/>
              </a:spcBef>
              <a:spcAft>
                <a:spcPts val="1200"/>
              </a:spcAft>
              <a:buNone/>
            </a:pPr>
            <a:r>
              <a:rPr lang="en-AU" sz="2200" dirty="0" smtClean="0">
                <a:latin typeface="Helvetica" pitchFamily="34" charset="0"/>
              </a:rPr>
              <a:t>It is common for trainers to be required to give feedback to:</a:t>
            </a:r>
          </a:p>
          <a:p>
            <a:pPr>
              <a:spcBef>
                <a:spcPts val="600"/>
              </a:spcBef>
              <a:spcAft>
                <a:spcPts val="1200"/>
              </a:spcAft>
            </a:pPr>
            <a:r>
              <a:rPr lang="en-AU" sz="2200" dirty="0" smtClean="0">
                <a:latin typeface="Helvetica" pitchFamily="34" charset="0"/>
              </a:rPr>
              <a:t>Owners</a:t>
            </a:r>
          </a:p>
          <a:p>
            <a:pPr>
              <a:spcBef>
                <a:spcPts val="600"/>
              </a:spcBef>
              <a:spcAft>
                <a:spcPts val="1200"/>
              </a:spcAft>
            </a:pPr>
            <a:r>
              <a:rPr lang="en-AU" sz="2200" dirty="0" smtClean="0">
                <a:latin typeface="Helvetica" pitchFamily="34" charset="0"/>
              </a:rPr>
              <a:t>Managers</a:t>
            </a:r>
          </a:p>
          <a:p>
            <a:pPr>
              <a:spcBef>
                <a:spcPts val="600"/>
              </a:spcBef>
              <a:spcAft>
                <a:spcPts val="1200"/>
              </a:spcAft>
            </a:pPr>
            <a:r>
              <a:rPr lang="en-AU" sz="2200" dirty="0" smtClean="0">
                <a:latin typeface="Helvetica" pitchFamily="34" charset="0"/>
              </a:rPr>
              <a:t>Supervisors</a:t>
            </a:r>
          </a:p>
          <a:p>
            <a:pPr>
              <a:spcBef>
                <a:spcPts val="600"/>
              </a:spcBef>
              <a:spcAft>
                <a:spcPts val="1200"/>
              </a:spcAft>
            </a:pPr>
            <a:r>
              <a:rPr lang="en-AU" sz="2200" dirty="0" smtClean="0">
                <a:latin typeface="Helvetica" pitchFamily="34" charset="0"/>
              </a:rPr>
              <a:t>Other trainers and assessors </a:t>
            </a:r>
          </a:p>
          <a:p>
            <a:pPr>
              <a:spcBef>
                <a:spcPts val="600"/>
              </a:spcBef>
              <a:spcAft>
                <a:spcPts val="1200"/>
              </a:spcAft>
            </a:pPr>
            <a:r>
              <a:rPr lang="en-AU" sz="2200" dirty="0" smtClean="0">
                <a:latin typeface="Helvetica" pitchFamily="34" charset="0"/>
              </a:rPr>
              <a:t>The Human Resources (HR) department</a:t>
            </a: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sz="1100" dirty="0" smtClean="0">
                <a:latin typeface="Helvetica" pitchFamily="34" charset="0"/>
              </a:rPr>
              <a:t>Slide </a:t>
            </a:r>
            <a:fld id="{90BDF71C-F485-43AE-8825-5070AF1EA8C9}" type="slidenum">
              <a:rPr lang="en-US" sz="1100" smtClean="0">
                <a:latin typeface="Helvetica" pitchFamily="34" charset="0"/>
              </a:rPr>
              <a:pPr/>
              <a:t>101</a:t>
            </a:fld>
            <a:endParaRPr lang="en-US" sz="1100" dirty="0">
              <a:latin typeface="Helvetica" pitchFamily="34" charset="0"/>
            </a:endParaRPr>
          </a:p>
        </p:txBody>
      </p:sp>
      <p:pic>
        <p:nvPicPr>
          <p:cNvPr id="6" name="Picture 5" descr="00385537.jpg"/>
          <p:cNvPicPr/>
          <p:nvPr/>
        </p:nvPicPr>
        <p:blipFill>
          <a:blip r:embed="rId3" cstate="print"/>
          <a:stretch>
            <a:fillRect/>
          </a:stretch>
        </p:blipFill>
        <p:spPr>
          <a:xfrm>
            <a:off x="6732240" y="2636912"/>
            <a:ext cx="1500758" cy="2022218"/>
          </a:xfrm>
          <a:prstGeom prst="rect">
            <a:avLst/>
          </a:prstGeom>
        </p:spPr>
      </p:pic>
    </p:spTree>
  </p:cSld>
  <p:clrMapOvr>
    <a:masterClrMapping/>
  </p:clrMapOvr>
  <p:timing>
    <p:tnLst>
      <p:par>
        <p:cTn id="1" dur="indefinite" restart="never" nodeType="tmRoot"/>
      </p:par>
    </p:tnLst>
  </p:timing>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848872" cy="1143000"/>
          </a:xfrm>
        </p:spPr>
        <p:txBody>
          <a:bodyPr>
            <a:normAutofit/>
          </a:bodyPr>
          <a:lstStyle/>
          <a:p>
            <a:pPr marL="0"/>
            <a:r>
              <a:rPr lang="en-AU" sz="3400" b="1" dirty="0" smtClean="0">
                <a:solidFill>
                  <a:srgbClr val="FF6600"/>
                </a:solidFill>
                <a:latin typeface="Helvetica" pitchFamily="34" charset="0"/>
              </a:rPr>
              <a:t>Modify training schedule based on feedback</a:t>
            </a:r>
            <a:endParaRPr lang="en-US" sz="3400" b="1" dirty="0" smtClean="0">
              <a:solidFill>
                <a:srgbClr val="FF6600"/>
              </a:solidFill>
              <a:latin typeface="Helvetica" pitchFamily="34" charset="0"/>
            </a:endParaRPr>
          </a:p>
        </p:txBody>
      </p:sp>
      <p:sp>
        <p:nvSpPr>
          <p:cNvPr id="3" name="Content Placeholder 2"/>
          <p:cNvSpPr>
            <a:spLocks noGrp="1"/>
          </p:cNvSpPr>
          <p:nvPr>
            <p:ph idx="1"/>
          </p:nvPr>
        </p:nvSpPr>
        <p:spPr>
          <a:xfrm>
            <a:off x="611560" y="1556792"/>
            <a:ext cx="7848872" cy="5301208"/>
          </a:xfrm>
        </p:spPr>
        <p:txBody>
          <a:bodyPr>
            <a:noAutofit/>
          </a:bodyPr>
          <a:lstStyle/>
          <a:p>
            <a:pPr>
              <a:spcBef>
                <a:spcPts val="600"/>
              </a:spcBef>
              <a:spcAft>
                <a:spcPts val="600"/>
              </a:spcAft>
              <a:buNone/>
            </a:pPr>
            <a:r>
              <a:rPr lang="en-AU" sz="2200" b="1" dirty="0" smtClean="0">
                <a:latin typeface="Helvetica" pitchFamily="34" charset="0"/>
              </a:rPr>
              <a:t>Types of modifications</a:t>
            </a:r>
            <a:endParaRPr lang="en-AU" sz="2200" dirty="0" smtClean="0">
              <a:latin typeface="Helvetica" pitchFamily="34" charset="0"/>
            </a:endParaRPr>
          </a:p>
          <a:p>
            <a:pPr lvl="0">
              <a:spcBef>
                <a:spcPts val="600"/>
              </a:spcBef>
              <a:spcAft>
                <a:spcPts val="600"/>
              </a:spcAft>
            </a:pPr>
            <a:r>
              <a:rPr lang="en-AU" sz="2200" dirty="0" smtClean="0">
                <a:latin typeface="Helvetica" pitchFamily="34" charset="0"/>
              </a:rPr>
              <a:t>Adding extra learners to nominated training events</a:t>
            </a:r>
          </a:p>
          <a:p>
            <a:pPr lvl="0">
              <a:spcBef>
                <a:spcPts val="600"/>
              </a:spcBef>
              <a:spcAft>
                <a:spcPts val="600"/>
              </a:spcAft>
            </a:pPr>
            <a:r>
              <a:rPr lang="en-AU" sz="2200" dirty="0" smtClean="0">
                <a:latin typeface="Helvetica" pitchFamily="34" charset="0"/>
              </a:rPr>
              <a:t>Reducing the number of learners initially identified as participants in training events</a:t>
            </a:r>
          </a:p>
          <a:p>
            <a:pPr lvl="0">
              <a:spcBef>
                <a:spcPts val="600"/>
              </a:spcBef>
              <a:spcAft>
                <a:spcPts val="600"/>
              </a:spcAft>
            </a:pPr>
            <a:r>
              <a:rPr lang="en-AU" sz="2200" dirty="0" smtClean="0">
                <a:latin typeface="Helvetica" pitchFamily="34" charset="0"/>
              </a:rPr>
              <a:t>Asking training event organisers to </a:t>
            </a:r>
            <a:br>
              <a:rPr lang="en-AU" sz="2200" dirty="0" smtClean="0">
                <a:latin typeface="Helvetica" pitchFamily="34" charset="0"/>
              </a:rPr>
            </a:br>
            <a:r>
              <a:rPr lang="en-AU" sz="2200" dirty="0" smtClean="0">
                <a:latin typeface="Helvetica" pitchFamily="34" charset="0"/>
              </a:rPr>
              <a:t>modify training events </a:t>
            </a:r>
          </a:p>
          <a:p>
            <a:pPr lvl="0">
              <a:spcBef>
                <a:spcPts val="600"/>
              </a:spcBef>
              <a:spcAft>
                <a:spcPts val="600"/>
              </a:spcAft>
            </a:pPr>
            <a:r>
              <a:rPr lang="en-AU" sz="2200" dirty="0" smtClean="0">
                <a:latin typeface="Helvetica" pitchFamily="34" charset="0"/>
              </a:rPr>
              <a:t>Seeking recompense from training event organisers where the training event failed to deliver as promised</a:t>
            </a:r>
          </a:p>
          <a:p>
            <a:pPr lvl="0">
              <a:spcBef>
                <a:spcPts val="600"/>
              </a:spcBef>
              <a:spcAft>
                <a:spcPts val="600"/>
              </a:spcAft>
            </a:pPr>
            <a:r>
              <a:rPr lang="en-AU" sz="2200" dirty="0" smtClean="0">
                <a:latin typeface="Helvetica" pitchFamily="34" charset="0"/>
              </a:rPr>
              <a:t>Removing learners from generic training events </a:t>
            </a:r>
          </a:p>
          <a:p>
            <a:pPr lvl="0">
              <a:spcBef>
                <a:spcPts val="600"/>
              </a:spcBef>
              <a:spcAft>
                <a:spcPts val="600"/>
              </a:spcAft>
            </a:pPr>
            <a:r>
              <a:rPr lang="en-AU" sz="2200" dirty="0" smtClean="0">
                <a:latin typeface="Helvetica" pitchFamily="34" charset="0"/>
              </a:rPr>
              <a:t>Create organisation-specific training event</a:t>
            </a: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sz="1100" dirty="0" smtClean="0">
                <a:latin typeface="Helvetica" pitchFamily="34" charset="0"/>
              </a:rPr>
              <a:t>Slide </a:t>
            </a:r>
            <a:fld id="{90BDF71C-F485-43AE-8825-5070AF1EA8C9}" type="slidenum">
              <a:rPr lang="en-US" sz="1100" smtClean="0">
                <a:latin typeface="Helvetica" pitchFamily="34" charset="0"/>
              </a:rPr>
              <a:pPr/>
              <a:t>102</a:t>
            </a:fld>
            <a:endParaRPr lang="en-US" sz="1100" dirty="0">
              <a:latin typeface="Helvetica" pitchFamily="34" charset="0"/>
            </a:endParaRPr>
          </a:p>
        </p:txBody>
      </p:sp>
      <p:pic>
        <p:nvPicPr>
          <p:cNvPr id="6" name="Picture 5" descr="C:\Documents and Settings\danielc\Local Settings\Temporary Internet Files\Content.IE5\V9A2RTT8\MC900078824[1].wmf"/>
          <p:cNvPicPr/>
          <p:nvPr/>
        </p:nvPicPr>
        <p:blipFill>
          <a:blip r:embed="rId3" cstate="print"/>
          <a:srcRect/>
          <a:stretch>
            <a:fillRect/>
          </a:stretch>
        </p:blipFill>
        <p:spPr bwMode="auto">
          <a:xfrm>
            <a:off x="7361959" y="2636912"/>
            <a:ext cx="1782041" cy="152400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848872" cy="1143000"/>
          </a:xfrm>
        </p:spPr>
        <p:txBody>
          <a:bodyPr>
            <a:normAutofit/>
          </a:bodyPr>
          <a:lstStyle/>
          <a:p>
            <a:pPr marL="0"/>
            <a:r>
              <a:rPr lang="en-AU" sz="3400" b="1" dirty="0" smtClean="0">
                <a:solidFill>
                  <a:srgbClr val="FF6600"/>
                </a:solidFill>
                <a:latin typeface="Helvetica" pitchFamily="34" charset="0"/>
              </a:rPr>
              <a:t>Modify training schedule based on feedback</a:t>
            </a:r>
            <a:endParaRPr lang="en-US" sz="3400" b="1" dirty="0" smtClean="0">
              <a:solidFill>
                <a:srgbClr val="FF6600"/>
              </a:solidFill>
              <a:latin typeface="Helvetica" pitchFamily="34" charset="0"/>
            </a:endParaRPr>
          </a:p>
        </p:txBody>
      </p:sp>
      <p:sp>
        <p:nvSpPr>
          <p:cNvPr id="3" name="Content Placeholder 2"/>
          <p:cNvSpPr>
            <a:spLocks noGrp="1"/>
          </p:cNvSpPr>
          <p:nvPr>
            <p:ph idx="1"/>
          </p:nvPr>
        </p:nvSpPr>
        <p:spPr>
          <a:xfrm>
            <a:off x="611560" y="1556792"/>
            <a:ext cx="7848872" cy="5301208"/>
          </a:xfrm>
        </p:spPr>
        <p:txBody>
          <a:bodyPr>
            <a:noAutofit/>
          </a:bodyPr>
          <a:lstStyle/>
          <a:p>
            <a:pPr>
              <a:spcBef>
                <a:spcPts val="600"/>
              </a:spcBef>
              <a:spcAft>
                <a:spcPts val="1200"/>
              </a:spcAft>
              <a:buNone/>
            </a:pPr>
            <a:r>
              <a:rPr lang="en-AU" sz="2200" b="1" dirty="0" smtClean="0">
                <a:latin typeface="Helvetica" pitchFamily="34" charset="0"/>
              </a:rPr>
              <a:t>Types of modifications</a:t>
            </a:r>
            <a:endParaRPr lang="en-AU" sz="2200" dirty="0" smtClean="0">
              <a:latin typeface="Helvetica" pitchFamily="34" charset="0"/>
            </a:endParaRPr>
          </a:p>
          <a:p>
            <a:pPr lvl="0">
              <a:spcBef>
                <a:spcPts val="600"/>
              </a:spcBef>
              <a:spcAft>
                <a:spcPts val="1200"/>
              </a:spcAft>
            </a:pPr>
            <a:r>
              <a:rPr lang="en-AU" sz="2200" dirty="0" smtClean="0">
                <a:latin typeface="Helvetica" pitchFamily="34" charset="0"/>
              </a:rPr>
              <a:t>Altering the style of training event </a:t>
            </a:r>
          </a:p>
          <a:p>
            <a:pPr lvl="0">
              <a:spcBef>
                <a:spcPts val="600"/>
              </a:spcBef>
              <a:spcAft>
                <a:spcPts val="1200"/>
              </a:spcAft>
            </a:pPr>
            <a:r>
              <a:rPr lang="en-AU" sz="2200" dirty="0" smtClean="0">
                <a:latin typeface="Helvetica" pitchFamily="34" charset="0"/>
              </a:rPr>
              <a:t>Change facilitators </a:t>
            </a:r>
          </a:p>
          <a:p>
            <a:pPr>
              <a:spcBef>
                <a:spcPts val="600"/>
              </a:spcBef>
              <a:spcAft>
                <a:spcPts val="1200"/>
              </a:spcAft>
            </a:pPr>
            <a:r>
              <a:rPr lang="en-AU" sz="2200" dirty="0" smtClean="0">
                <a:latin typeface="Helvetica" pitchFamily="34" charset="0"/>
              </a:rPr>
              <a:t>Advising training event organisers of organisational needs and preferences </a:t>
            </a:r>
          </a:p>
          <a:p>
            <a:pPr lvl="0">
              <a:spcBef>
                <a:spcPts val="600"/>
              </a:spcBef>
              <a:spcAft>
                <a:spcPts val="1200"/>
              </a:spcAft>
            </a:pPr>
            <a:r>
              <a:rPr lang="en-AU" sz="2200" dirty="0" smtClean="0">
                <a:latin typeface="Helvetica" pitchFamily="34" charset="0"/>
              </a:rPr>
              <a:t>Discussing impact of proposed changes on operational issues with supervisors, staff, management, customers, etc</a:t>
            </a:r>
          </a:p>
          <a:p>
            <a:pPr lvl="0">
              <a:spcBef>
                <a:spcPts val="600"/>
              </a:spcBef>
              <a:spcAft>
                <a:spcPts val="1200"/>
              </a:spcAft>
            </a:pPr>
            <a:r>
              <a:rPr lang="en-AU" sz="2200" dirty="0" smtClean="0">
                <a:latin typeface="Helvetica" pitchFamily="34" charset="0"/>
              </a:rPr>
              <a:t>Communicating revisions to schedules to                          learners and relevant others</a:t>
            </a:r>
          </a:p>
          <a:p>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sz="1100" dirty="0" smtClean="0">
                <a:latin typeface="Helvetica" pitchFamily="34" charset="0"/>
              </a:rPr>
              <a:t>Slide </a:t>
            </a:r>
            <a:fld id="{90BDF71C-F485-43AE-8825-5070AF1EA8C9}" type="slidenum">
              <a:rPr lang="en-US" sz="1100" smtClean="0">
                <a:latin typeface="Helvetica" pitchFamily="34" charset="0"/>
              </a:rPr>
              <a:pPr/>
              <a:t>103</a:t>
            </a:fld>
            <a:endParaRPr lang="en-US" sz="1100" dirty="0">
              <a:latin typeface="Helvetica" pitchFamily="34" charset="0"/>
            </a:endParaRPr>
          </a:p>
        </p:txBody>
      </p:sp>
    </p:spTree>
  </p:cSld>
  <p:clrMapOvr>
    <a:masterClrMapping/>
  </p:clrMapOvr>
  <p:timing>
    <p:tnLst>
      <p:par>
        <p:cTn id="1" dur="indefinite" restart="never" nodeType="tmRoot"/>
      </p:par>
    </p:tnLst>
  </p:timing>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848872" cy="1143000"/>
          </a:xfrm>
        </p:spPr>
        <p:txBody>
          <a:bodyPr>
            <a:normAutofit/>
          </a:bodyPr>
          <a:lstStyle/>
          <a:p>
            <a:pPr marL="0"/>
            <a:r>
              <a:rPr lang="en-AU" sz="3400" b="1" dirty="0" smtClean="0">
                <a:solidFill>
                  <a:srgbClr val="FF6600"/>
                </a:solidFill>
                <a:latin typeface="Helvetica" pitchFamily="34" charset="0"/>
              </a:rPr>
              <a:t>Maintain contact with organisers and trainers</a:t>
            </a:r>
            <a:endParaRPr lang="en-US" sz="3400" b="1" dirty="0" smtClean="0">
              <a:solidFill>
                <a:srgbClr val="FF6600"/>
              </a:solidFill>
              <a:latin typeface="Helvetica" pitchFamily="34" charset="0"/>
            </a:endParaRPr>
          </a:p>
        </p:txBody>
      </p:sp>
      <p:sp>
        <p:nvSpPr>
          <p:cNvPr id="3" name="Content Placeholder 2"/>
          <p:cNvSpPr>
            <a:spLocks noGrp="1"/>
          </p:cNvSpPr>
          <p:nvPr>
            <p:ph idx="1"/>
          </p:nvPr>
        </p:nvSpPr>
        <p:spPr>
          <a:xfrm>
            <a:off x="611560" y="1556792"/>
            <a:ext cx="7848872" cy="5301208"/>
          </a:xfrm>
        </p:spPr>
        <p:txBody>
          <a:bodyPr>
            <a:noAutofit/>
          </a:bodyPr>
          <a:lstStyle/>
          <a:p>
            <a:pPr>
              <a:spcBef>
                <a:spcPts val="600"/>
              </a:spcBef>
              <a:spcAft>
                <a:spcPts val="1200"/>
              </a:spcAft>
              <a:buNone/>
            </a:pPr>
            <a:r>
              <a:rPr lang="en-AU" sz="2200" b="1" dirty="0" smtClean="0">
                <a:latin typeface="Helvetica" pitchFamily="34" charset="0"/>
              </a:rPr>
              <a:t>Importance of constant communication</a:t>
            </a:r>
          </a:p>
          <a:p>
            <a:pPr marL="0">
              <a:spcBef>
                <a:spcPts val="600"/>
              </a:spcBef>
              <a:spcAft>
                <a:spcPts val="1200"/>
              </a:spcAft>
              <a:buNone/>
            </a:pPr>
            <a:r>
              <a:rPr lang="en-AU" sz="2200" dirty="0" smtClean="0">
                <a:latin typeface="Helvetica" pitchFamily="34" charset="0"/>
              </a:rPr>
              <a:t>Trainers and event organisers should be in constant communication with each other, not only before and after the actual training sessions.</a:t>
            </a:r>
            <a:endParaRPr lang="en-AU" sz="2200" b="1" dirty="0" smtClean="0">
              <a:latin typeface="Helvetica" pitchFamily="34" charset="0"/>
            </a:endParaRPr>
          </a:p>
          <a:p>
            <a:pPr marL="0">
              <a:spcBef>
                <a:spcPts val="600"/>
              </a:spcBef>
              <a:spcAft>
                <a:spcPts val="1200"/>
              </a:spcAft>
              <a:buNone/>
            </a:pPr>
            <a:r>
              <a:rPr lang="en-AU" sz="2200" dirty="0" smtClean="0">
                <a:latin typeface="Helvetica" pitchFamily="34" charset="0"/>
              </a:rPr>
              <a:t>Both parties will have needs that need to be addressed which may involve the input or actions of others.</a:t>
            </a:r>
          </a:p>
          <a:p>
            <a:pPr>
              <a:spcBef>
                <a:spcPts val="600"/>
              </a:spcBef>
              <a:spcAft>
                <a:spcPts val="1200"/>
              </a:spcAft>
            </a:pPr>
            <a:r>
              <a:rPr lang="en-AU" sz="2200" dirty="0" smtClean="0">
                <a:latin typeface="Helvetica" pitchFamily="34" charset="0"/>
              </a:rPr>
              <a:t>What are the needs of organisers?</a:t>
            </a:r>
          </a:p>
          <a:p>
            <a:pPr>
              <a:spcBef>
                <a:spcPts val="600"/>
              </a:spcBef>
              <a:spcAft>
                <a:spcPts val="1200"/>
              </a:spcAft>
            </a:pPr>
            <a:r>
              <a:rPr lang="en-AU" sz="2200" dirty="0" smtClean="0">
                <a:latin typeface="Helvetica" pitchFamily="34" charset="0"/>
              </a:rPr>
              <a:t>What are the needs of trainers?</a:t>
            </a:r>
          </a:p>
          <a:p>
            <a:pPr>
              <a:buNone/>
            </a:pPr>
            <a:endParaRPr lang="en-AU" sz="2400" b="1" dirty="0" smtClean="0"/>
          </a:p>
          <a:p>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sz="1100" dirty="0" smtClean="0">
                <a:latin typeface="Helvetica" pitchFamily="34" charset="0"/>
              </a:rPr>
              <a:t>Slide </a:t>
            </a:r>
            <a:fld id="{90BDF71C-F485-43AE-8825-5070AF1EA8C9}" type="slidenum">
              <a:rPr lang="en-US" sz="1100" smtClean="0">
                <a:latin typeface="Helvetica" pitchFamily="34" charset="0"/>
              </a:rPr>
              <a:pPr/>
              <a:t>104</a:t>
            </a:fld>
            <a:endParaRPr lang="en-US" sz="1100" dirty="0">
              <a:latin typeface="Helvetica" pitchFamily="34" charset="0"/>
            </a:endParaRPr>
          </a:p>
        </p:txBody>
      </p:sp>
      <p:pic>
        <p:nvPicPr>
          <p:cNvPr id="7" name="Picture 6" descr="Event 21.JPG"/>
          <p:cNvPicPr/>
          <p:nvPr/>
        </p:nvPicPr>
        <p:blipFill>
          <a:blip r:embed="rId3" cstate="print"/>
          <a:stretch>
            <a:fillRect/>
          </a:stretch>
        </p:blipFill>
        <p:spPr>
          <a:xfrm>
            <a:off x="6372200" y="4077072"/>
            <a:ext cx="2012489" cy="1531987"/>
          </a:xfrm>
          <a:prstGeom prst="rect">
            <a:avLst/>
          </a:prstGeom>
        </p:spPr>
      </p:pic>
    </p:spTree>
  </p:cSld>
  <p:clrMapOvr>
    <a:masterClrMapping/>
  </p:clrMapOvr>
  <p:timing>
    <p:tnLst>
      <p:par>
        <p:cTn id="1" dur="indefinite" restart="never" nodeType="tmRoot"/>
      </p:par>
    </p:tnLst>
  </p:timing>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848872" cy="1143000"/>
          </a:xfrm>
        </p:spPr>
        <p:txBody>
          <a:bodyPr>
            <a:normAutofit/>
          </a:bodyPr>
          <a:lstStyle/>
          <a:p>
            <a:pPr marL="0"/>
            <a:r>
              <a:rPr lang="en-AU" sz="3400" b="1" dirty="0" smtClean="0">
                <a:solidFill>
                  <a:srgbClr val="FF6600"/>
                </a:solidFill>
                <a:latin typeface="Helvetica" pitchFamily="34" charset="0"/>
              </a:rPr>
              <a:t>Maintain contact with organisers and trainers</a:t>
            </a:r>
            <a:endParaRPr lang="en-US" sz="3400" b="1" dirty="0" smtClean="0">
              <a:solidFill>
                <a:srgbClr val="FF6600"/>
              </a:solidFill>
              <a:latin typeface="Helvetica" pitchFamily="34" charset="0"/>
            </a:endParaRPr>
          </a:p>
        </p:txBody>
      </p:sp>
      <p:sp>
        <p:nvSpPr>
          <p:cNvPr id="3" name="Content Placeholder 2"/>
          <p:cNvSpPr>
            <a:spLocks noGrp="1"/>
          </p:cNvSpPr>
          <p:nvPr>
            <p:ph idx="1"/>
          </p:nvPr>
        </p:nvSpPr>
        <p:spPr>
          <a:xfrm>
            <a:off x="611560" y="1556792"/>
            <a:ext cx="7848872" cy="5301208"/>
          </a:xfrm>
        </p:spPr>
        <p:txBody>
          <a:bodyPr>
            <a:noAutofit/>
          </a:bodyPr>
          <a:lstStyle/>
          <a:p>
            <a:pPr>
              <a:spcBef>
                <a:spcPts val="600"/>
              </a:spcBef>
              <a:spcAft>
                <a:spcPts val="1200"/>
              </a:spcAft>
              <a:buNone/>
            </a:pPr>
            <a:r>
              <a:rPr lang="en-AU" sz="2200" b="1" dirty="0" smtClean="0">
                <a:latin typeface="Helvetica" pitchFamily="34" charset="0"/>
              </a:rPr>
              <a:t>Needs of organisers</a:t>
            </a:r>
          </a:p>
          <a:p>
            <a:pPr marL="0">
              <a:spcBef>
                <a:spcPts val="600"/>
              </a:spcBef>
              <a:spcAft>
                <a:spcPts val="1200"/>
              </a:spcAft>
              <a:buNone/>
            </a:pPr>
            <a:r>
              <a:rPr lang="en-AU" sz="2200" dirty="0" smtClean="0">
                <a:latin typeface="Helvetica" pitchFamily="34" charset="0"/>
              </a:rPr>
              <a:t>The organisers may need to communicate to trainers to inform them of:</a:t>
            </a:r>
          </a:p>
          <a:p>
            <a:pPr lvl="0">
              <a:spcBef>
                <a:spcPts val="600"/>
              </a:spcBef>
              <a:spcAft>
                <a:spcPts val="1200"/>
              </a:spcAft>
            </a:pPr>
            <a:r>
              <a:rPr lang="en-AU" sz="2200" dirty="0" smtClean="0">
                <a:latin typeface="Helvetica" pitchFamily="34" charset="0"/>
              </a:rPr>
              <a:t>Client requests</a:t>
            </a:r>
          </a:p>
          <a:p>
            <a:pPr lvl="0">
              <a:spcBef>
                <a:spcPts val="600"/>
              </a:spcBef>
              <a:spcAft>
                <a:spcPts val="1200"/>
              </a:spcAft>
            </a:pPr>
            <a:r>
              <a:rPr lang="en-AU" sz="2200" dirty="0" smtClean="0">
                <a:latin typeface="Helvetica" pitchFamily="34" charset="0"/>
              </a:rPr>
              <a:t>Suggested inclusions to program content</a:t>
            </a:r>
          </a:p>
          <a:p>
            <a:pPr lvl="0">
              <a:spcBef>
                <a:spcPts val="600"/>
              </a:spcBef>
              <a:spcAft>
                <a:spcPts val="1200"/>
              </a:spcAft>
            </a:pPr>
            <a:r>
              <a:rPr lang="en-AU" sz="2200" dirty="0" smtClean="0">
                <a:latin typeface="Helvetica" pitchFamily="34" charset="0"/>
              </a:rPr>
              <a:t>Changes to program scheduling </a:t>
            </a:r>
          </a:p>
          <a:p>
            <a:pPr lvl="0">
              <a:spcBef>
                <a:spcPts val="600"/>
              </a:spcBef>
              <a:spcAft>
                <a:spcPts val="1200"/>
              </a:spcAft>
            </a:pPr>
            <a:r>
              <a:rPr lang="en-AU" sz="2200" dirty="0" smtClean="0">
                <a:latin typeface="Helvetica" pitchFamily="34" charset="0"/>
              </a:rPr>
              <a:t>Printing or preparation of materials</a:t>
            </a:r>
          </a:p>
          <a:p>
            <a:pPr>
              <a:spcBef>
                <a:spcPts val="600"/>
              </a:spcBef>
              <a:spcAft>
                <a:spcPts val="1200"/>
              </a:spcAft>
            </a:pPr>
            <a:r>
              <a:rPr lang="en-AU" sz="2200" dirty="0" smtClean="0">
                <a:latin typeface="Helvetica" pitchFamily="34" charset="0"/>
              </a:rPr>
              <a:t>Scheduling of different classes </a:t>
            </a:r>
            <a:endParaRPr lang="en-AU" sz="2200" b="1" dirty="0" smtClean="0">
              <a:latin typeface="Helvetica" pitchFamily="34" charset="0"/>
            </a:endParaRPr>
          </a:p>
          <a:p>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sz="1100" dirty="0" smtClean="0">
                <a:latin typeface="Helvetica" pitchFamily="34" charset="0"/>
              </a:rPr>
              <a:t>Slide </a:t>
            </a:r>
            <a:fld id="{90BDF71C-F485-43AE-8825-5070AF1EA8C9}" type="slidenum">
              <a:rPr lang="en-US" sz="1100" smtClean="0">
                <a:latin typeface="Helvetica" pitchFamily="34" charset="0"/>
              </a:rPr>
              <a:pPr/>
              <a:t>105</a:t>
            </a:fld>
            <a:endParaRPr lang="en-US" sz="1100" dirty="0">
              <a:latin typeface="Helvetica" pitchFamily="34" charset="0"/>
            </a:endParaRPr>
          </a:p>
        </p:txBody>
      </p:sp>
      <p:pic>
        <p:nvPicPr>
          <p:cNvPr id="6" name="Picture 5" descr="Business Man.JPG"/>
          <p:cNvPicPr/>
          <p:nvPr/>
        </p:nvPicPr>
        <p:blipFill>
          <a:blip r:embed="rId3" cstate="print"/>
          <a:stretch>
            <a:fillRect/>
          </a:stretch>
        </p:blipFill>
        <p:spPr>
          <a:xfrm>
            <a:off x="6732240" y="2780928"/>
            <a:ext cx="1571625" cy="2362200"/>
          </a:xfrm>
          <a:prstGeom prst="rect">
            <a:avLst/>
          </a:prstGeom>
        </p:spPr>
      </p:pic>
    </p:spTree>
  </p:cSld>
  <p:clrMapOvr>
    <a:masterClrMapping/>
  </p:clrMapOvr>
  <p:timing>
    <p:tnLst>
      <p:par>
        <p:cTn id="1" dur="indefinite" restart="never" nodeType="tmRoot"/>
      </p:par>
    </p:tnLst>
  </p:timing>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848872" cy="1143000"/>
          </a:xfrm>
        </p:spPr>
        <p:txBody>
          <a:bodyPr>
            <a:normAutofit/>
          </a:bodyPr>
          <a:lstStyle/>
          <a:p>
            <a:pPr marL="0"/>
            <a:r>
              <a:rPr lang="en-AU" sz="3400" b="1" dirty="0" smtClean="0">
                <a:solidFill>
                  <a:srgbClr val="FF6600"/>
                </a:solidFill>
                <a:latin typeface="Helvetica" pitchFamily="34" charset="0"/>
              </a:rPr>
              <a:t>Maintain contact with organisers and trainers</a:t>
            </a:r>
            <a:endParaRPr lang="en-US" sz="3400" b="1" dirty="0" smtClean="0">
              <a:solidFill>
                <a:srgbClr val="FF6600"/>
              </a:solidFill>
              <a:latin typeface="Helvetica" pitchFamily="34" charset="0"/>
            </a:endParaRPr>
          </a:p>
        </p:txBody>
      </p:sp>
      <p:sp>
        <p:nvSpPr>
          <p:cNvPr id="3" name="Content Placeholder 2"/>
          <p:cNvSpPr>
            <a:spLocks noGrp="1"/>
          </p:cNvSpPr>
          <p:nvPr>
            <p:ph idx="1"/>
          </p:nvPr>
        </p:nvSpPr>
        <p:spPr>
          <a:xfrm>
            <a:off x="611560" y="1556792"/>
            <a:ext cx="7848872" cy="5301208"/>
          </a:xfrm>
        </p:spPr>
        <p:txBody>
          <a:bodyPr>
            <a:noAutofit/>
          </a:bodyPr>
          <a:lstStyle/>
          <a:p>
            <a:pPr>
              <a:spcBef>
                <a:spcPts val="600"/>
              </a:spcBef>
              <a:spcAft>
                <a:spcPts val="1200"/>
              </a:spcAft>
              <a:buNone/>
            </a:pPr>
            <a:r>
              <a:rPr lang="en-AU" sz="2200" b="1" dirty="0" smtClean="0">
                <a:latin typeface="Helvetica" pitchFamily="34" charset="0"/>
              </a:rPr>
              <a:t>Needs of trainers</a:t>
            </a:r>
          </a:p>
          <a:p>
            <a:pPr lvl="0">
              <a:spcBef>
                <a:spcPts val="600"/>
              </a:spcBef>
              <a:spcAft>
                <a:spcPts val="1200"/>
              </a:spcAft>
            </a:pPr>
            <a:r>
              <a:rPr lang="en-AU" sz="2200" dirty="0" smtClean="0">
                <a:latin typeface="Helvetica" pitchFamily="34" charset="0"/>
              </a:rPr>
              <a:t>Request for learning aids</a:t>
            </a:r>
            <a:endParaRPr lang="en-AU" sz="2200" b="1" dirty="0" smtClean="0">
              <a:latin typeface="Helvetica" pitchFamily="34" charset="0"/>
            </a:endParaRPr>
          </a:p>
          <a:p>
            <a:pPr lvl="0">
              <a:spcBef>
                <a:spcPts val="600"/>
              </a:spcBef>
              <a:spcAft>
                <a:spcPts val="1200"/>
              </a:spcAft>
            </a:pPr>
            <a:r>
              <a:rPr lang="en-AU" sz="2200" dirty="0" smtClean="0">
                <a:latin typeface="Helvetica" pitchFamily="34" charset="0"/>
              </a:rPr>
              <a:t>Clarity on program structure and content</a:t>
            </a:r>
            <a:endParaRPr lang="en-AU" sz="2200" b="1" dirty="0" smtClean="0">
              <a:latin typeface="Helvetica" pitchFamily="34" charset="0"/>
            </a:endParaRPr>
          </a:p>
          <a:p>
            <a:pPr lvl="0">
              <a:spcBef>
                <a:spcPts val="600"/>
              </a:spcBef>
              <a:spcAft>
                <a:spcPts val="1200"/>
              </a:spcAft>
            </a:pPr>
            <a:r>
              <a:rPr lang="en-AU" sz="2200" dirty="0" smtClean="0">
                <a:latin typeface="Helvetica" pitchFamily="34" charset="0"/>
              </a:rPr>
              <a:t>Feedback on programs</a:t>
            </a:r>
            <a:endParaRPr lang="en-AU" sz="2200" b="1" dirty="0" smtClean="0">
              <a:latin typeface="Helvetica" pitchFamily="34" charset="0"/>
            </a:endParaRPr>
          </a:p>
          <a:p>
            <a:pPr lvl="0">
              <a:spcBef>
                <a:spcPts val="600"/>
              </a:spcBef>
              <a:spcAft>
                <a:spcPts val="1200"/>
              </a:spcAft>
            </a:pPr>
            <a:r>
              <a:rPr lang="en-AU" sz="2200" dirty="0" smtClean="0">
                <a:latin typeface="Helvetica" pitchFamily="34" charset="0"/>
              </a:rPr>
              <a:t>Timing of programs including breaks and meals etc</a:t>
            </a:r>
            <a:endParaRPr lang="en-AU" sz="2200" b="1" dirty="0" smtClean="0">
              <a:latin typeface="Helvetica" pitchFamily="34" charset="0"/>
            </a:endParaRPr>
          </a:p>
          <a:p>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sz="1100" dirty="0" smtClean="0">
                <a:latin typeface="Helvetica" pitchFamily="34" charset="0"/>
              </a:rPr>
              <a:t>Slide </a:t>
            </a:r>
            <a:fld id="{90BDF71C-F485-43AE-8825-5070AF1EA8C9}" type="slidenum">
              <a:rPr lang="en-US" sz="1100" smtClean="0">
                <a:latin typeface="Helvetica" pitchFamily="34" charset="0"/>
              </a:rPr>
              <a:pPr/>
              <a:t>106</a:t>
            </a:fld>
            <a:endParaRPr lang="en-US" sz="1100" dirty="0">
              <a:latin typeface="Helvetica" pitchFamily="34" charset="0"/>
            </a:endParaRPr>
          </a:p>
        </p:txBody>
      </p:sp>
      <p:pic>
        <p:nvPicPr>
          <p:cNvPr id="7" name="Picture 6" descr="MP900431224.JPG"/>
          <p:cNvPicPr/>
          <p:nvPr/>
        </p:nvPicPr>
        <p:blipFill>
          <a:blip r:embed="rId3" cstate="print"/>
          <a:stretch>
            <a:fillRect/>
          </a:stretch>
        </p:blipFill>
        <p:spPr>
          <a:xfrm>
            <a:off x="6372200" y="2564904"/>
            <a:ext cx="1947664" cy="1202432"/>
          </a:xfrm>
          <a:prstGeom prst="rect">
            <a:avLst/>
          </a:prstGeom>
        </p:spPr>
      </p:pic>
    </p:spTree>
  </p:cSld>
  <p:clrMapOvr>
    <a:masterClrMapping/>
  </p:clrMapOvr>
  <p:timing>
    <p:tnLst>
      <p:par>
        <p:cTn id="1" dur="indefinite" restart="never" nodeType="tmRoot"/>
      </p:par>
    </p:tnLst>
  </p:timing>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11560" y="1484784"/>
            <a:ext cx="7632848" cy="4680520"/>
          </a:xfrm>
        </p:spPr>
        <p:txBody>
          <a:bodyPr>
            <a:normAutofit/>
          </a:bodyPr>
          <a:lstStyle/>
          <a:p>
            <a:pPr marL="0">
              <a:buNone/>
            </a:pPr>
            <a:r>
              <a:rPr lang="en-AU" sz="4000" b="1" dirty="0" smtClean="0">
                <a:solidFill>
                  <a:srgbClr val="FF6600"/>
                </a:solidFill>
              </a:rPr>
              <a:t>Element 3:</a:t>
            </a:r>
          </a:p>
          <a:p>
            <a:pPr marL="0">
              <a:spcBef>
                <a:spcPts val="600"/>
              </a:spcBef>
              <a:spcAft>
                <a:spcPts val="1200"/>
              </a:spcAft>
              <a:buNone/>
            </a:pPr>
            <a:r>
              <a:rPr lang="en-AU" sz="4000" dirty="0" smtClean="0">
                <a:solidFill>
                  <a:srgbClr val="FF6600"/>
                </a:solidFill>
              </a:rPr>
              <a:t>Review planning and implementation of a series of training events</a:t>
            </a:r>
            <a:endParaRPr lang="en-AU" sz="4000" dirty="0" smtClean="0">
              <a:solidFill>
                <a:srgbClr val="FF6600"/>
              </a:solidFill>
              <a:latin typeface="Helvetica" pitchFamily="34" charset="0"/>
            </a:endParaRPr>
          </a:p>
          <a:p>
            <a:pPr>
              <a:buNone/>
            </a:pPr>
            <a:endParaRPr lang="en-AU" sz="4000" dirty="0" smtClean="0">
              <a:solidFill>
                <a:srgbClr val="FF6600"/>
              </a:solidFill>
            </a:endParaRPr>
          </a:p>
          <a:p>
            <a:pPr>
              <a:spcBef>
                <a:spcPts val="600"/>
              </a:spcBef>
              <a:spcAft>
                <a:spcPts val="1200"/>
              </a:spcAft>
            </a:pPr>
            <a:endParaRPr lang="en-AU" sz="2200" dirty="0" smtClean="0">
              <a:latin typeface="Helvetica" pitchFamily="34" charset="0"/>
            </a:endParaRPr>
          </a:p>
          <a:p>
            <a:pPr>
              <a:spcBef>
                <a:spcPts val="600"/>
              </a:spcBef>
              <a:spcAft>
                <a:spcPts val="1200"/>
              </a:spcAft>
              <a:buNone/>
            </a:pPr>
            <a:endParaRPr lang="en-AU" sz="2200" dirty="0" smtClean="0">
              <a:latin typeface="Helvetica" pitchFamily="34" charset="0"/>
            </a:endParaRPr>
          </a:p>
          <a:p>
            <a:pPr lvl="0">
              <a:spcBef>
                <a:spcPts val="600"/>
              </a:spcBef>
              <a:spcAft>
                <a:spcPts val="600"/>
              </a:spcAft>
            </a:pPr>
            <a:endParaRPr lang="en-AU" sz="2200" dirty="0" smtClean="0">
              <a:latin typeface="Helvetica" pitchFamily="34" charset="0"/>
            </a:endParaRPr>
          </a:p>
          <a:p>
            <a:pPr>
              <a:buNone/>
            </a:pPr>
            <a:endParaRPr lang="en-AU" sz="2400" dirty="0" smtClean="0"/>
          </a:p>
          <a:p>
            <a:pPr lvl="0">
              <a:spcBef>
                <a:spcPts val="600"/>
              </a:spcBef>
              <a:spcAft>
                <a:spcPts val="1200"/>
              </a:spcAft>
            </a:pPr>
            <a:endParaRPr lang="en-AU" sz="2200" dirty="0" smtClean="0">
              <a:latin typeface="Helvetica" pitchFamily="34" charset="0"/>
            </a:endParaRPr>
          </a:p>
          <a:p>
            <a:pPr marL="0">
              <a:spcBef>
                <a:spcPts val="600"/>
              </a:spcBef>
              <a:spcAft>
                <a:spcPts val="1200"/>
              </a:spcAft>
              <a:buNone/>
            </a:pPr>
            <a:endParaRPr lang="en-AU"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107</a:t>
            </a:fld>
            <a:endParaRPr lang="en-US" dirty="0"/>
          </a:p>
        </p:txBody>
      </p:sp>
      <p:pic>
        <p:nvPicPr>
          <p:cNvPr id="5" name="Picture 4" descr="MP900423037.JPG"/>
          <p:cNvPicPr>
            <a:picLocks noChangeAspect="1"/>
          </p:cNvPicPr>
          <p:nvPr/>
        </p:nvPicPr>
        <p:blipFill>
          <a:blip r:embed="rId3" cstate="print"/>
          <a:stretch>
            <a:fillRect/>
          </a:stretch>
        </p:blipFill>
        <p:spPr>
          <a:xfrm>
            <a:off x="4932040" y="3789040"/>
            <a:ext cx="2276872" cy="2276872"/>
          </a:xfrm>
          <a:prstGeom prst="rect">
            <a:avLst/>
          </a:prstGeom>
        </p:spPr>
      </p:pic>
    </p:spTree>
  </p:cSld>
  <p:clrMapOvr>
    <a:masterClrMapping/>
  </p:clrMapOvr>
  <p:timing>
    <p:tnLst>
      <p:par>
        <p:cTn id="1" dur="indefinite" restart="never" nodeType="tmRoot"/>
      </p:par>
    </p:tnLst>
  </p:timing>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999040" cy="1143000"/>
          </a:xfrm>
        </p:spPr>
        <p:txBody>
          <a:bodyPr>
            <a:normAutofit/>
          </a:bodyPr>
          <a:lstStyle/>
          <a:p>
            <a:pPr marL="0">
              <a:spcBef>
                <a:spcPts val="600"/>
              </a:spcBef>
              <a:spcAft>
                <a:spcPts val="1200"/>
              </a:spcAft>
            </a:pPr>
            <a:r>
              <a:rPr lang="en-AU" sz="3400" b="1" dirty="0" smtClean="0">
                <a:solidFill>
                  <a:srgbClr val="FF6600"/>
                </a:solidFill>
                <a:latin typeface="Helvetica" pitchFamily="34" charset="0"/>
              </a:rPr>
              <a:t>Review planning and implementation of a series of training events</a:t>
            </a:r>
          </a:p>
        </p:txBody>
      </p:sp>
      <p:sp>
        <p:nvSpPr>
          <p:cNvPr id="3" name="Content Placeholder 2"/>
          <p:cNvSpPr>
            <a:spLocks noGrp="1"/>
          </p:cNvSpPr>
          <p:nvPr>
            <p:ph idx="1"/>
          </p:nvPr>
        </p:nvSpPr>
        <p:spPr>
          <a:xfrm>
            <a:off x="611560" y="1556792"/>
            <a:ext cx="7467600" cy="4525963"/>
          </a:xfrm>
        </p:spPr>
        <p:txBody>
          <a:bodyPr>
            <a:normAutofit/>
          </a:bodyPr>
          <a:lstStyle/>
          <a:p>
            <a:pPr marL="0" indent="0">
              <a:spcBef>
                <a:spcPts val="600"/>
              </a:spcBef>
              <a:spcAft>
                <a:spcPts val="1200"/>
              </a:spcAft>
              <a:buNone/>
            </a:pPr>
            <a:r>
              <a:rPr lang="en-US" sz="2200" dirty="0" smtClean="0">
                <a:latin typeface="Helvetica" pitchFamily="34" charset="0"/>
              </a:rPr>
              <a:t>Performance Criteria for this Element are: </a:t>
            </a:r>
          </a:p>
          <a:p>
            <a:pPr>
              <a:spcBef>
                <a:spcPts val="600"/>
              </a:spcBef>
              <a:spcAft>
                <a:spcPts val="1200"/>
              </a:spcAft>
            </a:pPr>
            <a:r>
              <a:rPr lang="en-AU" sz="2200" dirty="0" smtClean="0">
                <a:latin typeface="Helvetica" pitchFamily="34" charset="0"/>
              </a:rPr>
              <a:t>Evaluate the impact of attendance at training events</a:t>
            </a:r>
          </a:p>
          <a:p>
            <a:pPr>
              <a:spcBef>
                <a:spcPts val="600"/>
              </a:spcBef>
              <a:spcAft>
                <a:spcPts val="1200"/>
              </a:spcAft>
            </a:pPr>
            <a:r>
              <a:rPr lang="en-AU" sz="2200" dirty="0" smtClean="0">
                <a:latin typeface="Helvetica" pitchFamily="34" charset="0"/>
              </a:rPr>
              <a:t>Assess the value-for-money provided by engagement with training events</a:t>
            </a:r>
          </a:p>
          <a:p>
            <a:pPr>
              <a:spcBef>
                <a:spcPts val="600"/>
              </a:spcBef>
              <a:spcAft>
                <a:spcPts val="1200"/>
              </a:spcAft>
            </a:pPr>
            <a:r>
              <a:rPr lang="en-AU" sz="2200" dirty="0" smtClean="0">
                <a:latin typeface="Helvetica" pitchFamily="34" charset="0"/>
              </a:rPr>
              <a:t>Identify ways in which more cost-effective use of training events could be effected</a:t>
            </a:r>
          </a:p>
          <a:p>
            <a:pPr>
              <a:spcBef>
                <a:spcPts val="600"/>
              </a:spcBef>
              <a:spcAft>
                <a:spcPts val="1200"/>
              </a:spcAft>
            </a:pPr>
            <a:r>
              <a:rPr lang="en-AU" sz="2200" dirty="0" smtClean="0">
                <a:latin typeface="Helvetica" pitchFamily="34" charset="0"/>
              </a:rPr>
              <a:t>Prepare a report on the use of training events within the organisation</a:t>
            </a:r>
          </a:p>
          <a:p>
            <a:pPr>
              <a:spcBef>
                <a:spcPts val="600"/>
              </a:spcBef>
              <a:spcAft>
                <a:spcPts val="1200"/>
              </a:spcAft>
              <a:buNone/>
            </a:pP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108</a:t>
            </a:fld>
            <a:endParaRPr lang="en-US" dirty="0"/>
          </a:p>
        </p:txBody>
      </p:sp>
      <p:pic>
        <p:nvPicPr>
          <p:cNvPr id="6" name="Picture 2" descr="C:\Documents and Settings\danielc\Local Settings\Temporary Internet Files\Content.IE5\V9A2RTT8\MC900434663[1].wmf"/>
          <p:cNvPicPr>
            <a:picLocks noChangeAspect="1" noChangeArrowheads="1"/>
          </p:cNvPicPr>
          <p:nvPr/>
        </p:nvPicPr>
        <p:blipFill>
          <a:blip r:embed="rId3" cstate="print"/>
          <a:srcRect/>
          <a:stretch>
            <a:fillRect/>
          </a:stretch>
        </p:blipFill>
        <p:spPr bwMode="auto">
          <a:xfrm>
            <a:off x="7596336" y="2060848"/>
            <a:ext cx="472690" cy="624143"/>
          </a:xfrm>
          <a:prstGeom prst="rect">
            <a:avLst/>
          </a:prstGeom>
          <a:noFill/>
        </p:spPr>
      </p:pic>
      <p:pic>
        <p:nvPicPr>
          <p:cNvPr id="7" name="Picture 2" descr="C:\Documents and Settings\danielc\Local Settings\Temporary Internet Files\Content.IE5\V9A2RTT8\MC900434663[1].wmf"/>
          <p:cNvPicPr>
            <a:picLocks noChangeAspect="1" noChangeArrowheads="1"/>
          </p:cNvPicPr>
          <p:nvPr/>
        </p:nvPicPr>
        <p:blipFill>
          <a:blip r:embed="rId3" cstate="print"/>
          <a:srcRect/>
          <a:stretch>
            <a:fillRect/>
          </a:stretch>
        </p:blipFill>
        <p:spPr bwMode="auto">
          <a:xfrm>
            <a:off x="3523246" y="3020881"/>
            <a:ext cx="472690" cy="624143"/>
          </a:xfrm>
          <a:prstGeom prst="rect">
            <a:avLst/>
          </a:prstGeom>
          <a:noFill/>
        </p:spPr>
      </p:pic>
      <p:pic>
        <p:nvPicPr>
          <p:cNvPr id="8" name="Picture 2" descr="C:\Documents and Settings\danielc\Local Settings\Temporary Internet Files\Content.IE5\V9A2RTT8\MC900434663[1].wmf"/>
          <p:cNvPicPr>
            <a:picLocks noChangeAspect="1" noChangeArrowheads="1"/>
          </p:cNvPicPr>
          <p:nvPr/>
        </p:nvPicPr>
        <p:blipFill>
          <a:blip r:embed="rId3" cstate="print"/>
          <a:srcRect/>
          <a:stretch>
            <a:fillRect/>
          </a:stretch>
        </p:blipFill>
        <p:spPr bwMode="auto">
          <a:xfrm>
            <a:off x="5148064" y="3933056"/>
            <a:ext cx="472690" cy="624143"/>
          </a:xfrm>
          <a:prstGeom prst="rect">
            <a:avLst/>
          </a:prstGeom>
          <a:noFill/>
        </p:spPr>
      </p:pic>
      <p:pic>
        <p:nvPicPr>
          <p:cNvPr id="9" name="Picture 2" descr="C:\Documents and Settings\danielc\Local Settings\Temporary Internet Files\Content.IE5\V9A2RTT8\MC900434663[1].wmf"/>
          <p:cNvPicPr>
            <a:picLocks noChangeAspect="1" noChangeArrowheads="1"/>
          </p:cNvPicPr>
          <p:nvPr/>
        </p:nvPicPr>
        <p:blipFill>
          <a:blip r:embed="rId3" cstate="print"/>
          <a:srcRect/>
          <a:stretch>
            <a:fillRect/>
          </a:stretch>
        </p:blipFill>
        <p:spPr bwMode="auto">
          <a:xfrm>
            <a:off x="3131840" y="4869160"/>
            <a:ext cx="472690" cy="624143"/>
          </a:xfrm>
          <a:prstGeom prst="rect">
            <a:avLst/>
          </a:prstGeom>
          <a:noFill/>
        </p:spPr>
      </p:pic>
    </p:spTree>
  </p:cSld>
  <p:clrMapOvr>
    <a:masterClrMapping/>
  </p:clrMapOvr>
  <p:timing>
    <p:tnLst>
      <p:par>
        <p:cTn id="1" dur="indefinite" restart="never" nodeType="tmRoot"/>
      </p:par>
    </p:tnLst>
  </p:timing>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848872" cy="1143000"/>
          </a:xfrm>
        </p:spPr>
        <p:txBody>
          <a:bodyPr>
            <a:normAutofit/>
          </a:bodyPr>
          <a:lstStyle/>
          <a:p>
            <a:pPr marL="0"/>
            <a:r>
              <a:rPr lang="en-AU" sz="3400" b="1" dirty="0" smtClean="0">
                <a:solidFill>
                  <a:srgbClr val="FF6600"/>
                </a:solidFill>
                <a:latin typeface="Helvetica" pitchFamily="34" charset="0"/>
              </a:rPr>
              <a:t>Evaluate impact of training</a:t>
            </a:r>
            <a:endParaRPr lang="en-US" sz="3400" b="1" dirty="0" smtClean="0">
              <a:solidFill>
                <a:srgbClr val="FF6600"/>
              </a:solidFill>
              <a:latin typeface="Helvetica" pitchFamily="34" charset="0"/>
            </a:endParaRPr>
          </a:p>
        </p:txBody>
      </p:sp>
      <p:sp>
        <p:nvSpPr>
          <p:cNvPr id="3" name="Content Placeholder 2"/>
          <p:cNvSpPr>
            <a:spLocks noGrp="1"/>
          </p:cNvSpPr>
          <p:nvPr>
            <p:ph idx="1"/>
          </p:nvPr>
        </p:nvSpPr>
        <p:spPr>
          <a:xfrm>
            <a:off x="611560" y="1556792"/>
            <a:ext cx="7848872" cy="5301208"/>
          </a:xfrm>
        </p:spPr>
        <p:txBody>
          <a:bodyPr>
            <a:noAutofit/>
          </a:bodyPr>
          <a:lstStyle/>
          <a:p>
            <a:pPr marL="0">
              <a:spcBef>
                <a:spcPts val="600"/>
              </a:spcBef>
              <a:spcAft>
                <a:spcPts val="1200"/>
              </a:spcAft>
              <a:buNone/>
            </a:pPr>
            <a:r>
              <a:rPr lang="en-AU" sz="2200" dirty="0" smtClean="0">
                <a:latin typeface="Helvetica" pitchFamily="34" charset="0"/>
              </a:rPr>
              <a:t>Evaluate the impact of attendance at training events may include:</a:t>
            </a:r>
          </a:p>
          <a:p>
            <a:pPr lvl="0">
              <a:spcBef>
                <a:spcPts val="600"/>
              </a:spcBef>
              <a:spcAft>
                <a:spcPts val="1200"/>
              </a:spcAft>
            </a:pPr>
            <a:r>
              <a:rPr lang="en-AU" sz="2200" dirty="0" smtClean="0">
                <a:latin typeface="Helvetica" pitchFamily="34" charset="0"/>
              </a:rPr>
              <a:t>Seeking input from all relevant stakeholders</a:t>
            </a:r>
          </a:p>
          <a:p>
            <a:pPr lvl="0">
              <a:spcBef>
                <a:spcPts val="600"/>
              </a:spcBef>
              <a:spcAft>
                <a:spcPts val="1200"/>
              </a:spcAft>
            </a:pPr>
            <a:r>
              <a:rPr lang="en-AU" sz="2200" dirty="0" smtClean="0">
                <a:latin typeface="Helvetica" pitchFamily="34" charset="0"/>
              </a:rPr>
              <a:t>Comparing pre-training event workplace </a:t>
            </a:r>
            <a:br>
              <a:rPr lang="en-AU" sz="2200" dirty="0" smtClean="0">
                <a:latin typeface="Helvetica" pitchFamily="34" charset="0"/>
              </a:rPr>
            </a:br>
            <a:r>
              <a:rPr lang="en-AU" sz="2200" dirty="0" smtClean="0">
                <a:latin typeface="Helvetica" pitchFamily="34" charset="0"/>
              </a:rPr>
              <a:t>practice, operation, statistics with </a:t>
            </a:r>
            <a:br>
              <a:rPr lang="en-AU" sz="2200" dirty="0" smtClean="0">
                <a:latin typeface="Helvetica" pitchFamily="34" charset="0"/>
              </a:rPr>
            </a:br>
            <a:r>
              <a:rPr lang="en-AU" sz="2200" dirty="0" smtClean="0">
                <a:latin typeface="Helvetica" pitchFamily="34" charset="0"/>
              </a:rPr>
              <a:t>post-training event workplace practice, </a:t>
            </a:r>
            <a:br>
              <a:rPr lang="en-AU" sz="2200" dirty="0" smtClean="0">
                <a:latin typeface="Helvetica" pitchFamily="34" charset="0"/>
              </a:rPr>
            </a:br>
            <a:r>
              <a:rPr lang="en-AU" sz="2200" dirty="0" smtClean="0">
                <a:latin typeface="Helvetica" pitchFamily="34" charset="0"/>
              </a:rPr>
              <a:t>operation, statistics</a:t>
            </a:r>
          </a:p>
          <a:p>
            <a:pPr lvl="0">
              <a:spcBef>
                <a:spcPts val="600"/>
              </a:spcBef>
              <a:spcAft>
                <a:spcPts val="1200"/>
              </a:spcAft>
            </a:pPr>
            <a:r>
              <a:rPr lang="en-AU" sz="2200" dirty="0" smtClean="0">
                <a:latin typeface="Helvetica" pitchFamily="34" charset="0"/>
              </a:rPr>
              <a:t>Focusing on the criteria that were identified as being central to evaluating participation</a:t>
            </a:r>
          </a:p>
          <a:p>
            <a:pPr lvl="0">
              <a:spcBef>
                <a:spcPts val="600"/>
              </a:spcBef>
              <a:spcAft>
                <a:spcPts val="1200"/>
              </a:spcAft>
            </a:pPr>
            <a:r>
              <a:rPr lang="en-AU" sz="2200" dirty="0" smtClean="0">
                <a:latin typeface="Helvetica" pitchFamily="34" charset="0"/>
              </a:rPr>
              <a:t>Comparing the outcomes of  training events with standard programs</a:t>
            </a:r>
          </a:p>
          <a:p>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sz="1100" dirty="0" smtClean="0">
                <a:latin typeface="Helvetica" pitchFamily="34" charset="0"/>
              </a:rPr>
              <a:t>Slide </a:t>
            </a:r>
            <a:fld id="{90BDF71C-F485-43AE-8825-5070AF1EA8C9}" type="slidenum">
              <a:rPr lang="en-US" sz="1100" smtClean="0">
                <a:latin typeface="Helvetica" pitchFamily="34" charset="0"/>
              </a:rPr>
              <a:pPr/>
              <a:t>109</a:t>
            </a:fld>
            <a:endParaRPr lang="en-US" sz="1100" dirty="0">
              <a:latin typeface="Helvetica" pitchFamily="34" charset="0"/>
            </a:endParaRPr>
          </a:p>
        </p:txBody>
      </p:sp>
      <p:pic>
        <p:nvPicPr>
          <p:cNvPr id="7" name="Picture 6" descr="I:\Overseas Projects\PHOTOS\2012\Office\iStock_000003921984Medium.jpg"/>
          <p:cNvPicPr/>
          <p:nvPr/>
        </p:nvPicPr>
        <p:blipFill>
          <a:blip r:embed="rId3" cstate="print"/>
          <a:srcRect/>
          <a:stretch>
            <a:fillRect/>
          </a:stretch>
        </p:blipFill>
        <p:spPr bwMode="auto">
          <a:xfrm>
            <a:off x="6948264" y="2276872"/>
            <a:ext cx="1368152" cy="2058164"/>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848872" cy="1143000"/>
          </a:xfrm>
        </p:spPr>
        <p:txBody>
          <a:bodyPr>
            <a:normAutofit/>
          </a:bodyPr>
          <a:lstStyle/>
          <a:p>
            <a:pPr marL="0"/>
            <a:r>
              <a:rPr lang="en-AU" sz="3400" b="1" dirty="0" smtClean="0">
                <a:solidFill>
                  <a:srgbClr val="FF6600"/>
                </a:solidFill>
                <a:latin typeface="Helvetica" pitchFamily="34" charset="0"/>
              </a:rPr>
              <a:t>Assess value for money of training</a:t>
            </a:r>
            <a:endParaRPr lang="en-US" sz="3400" b="1" dirty="0" smtClean="0">
              <a:solidFill>
                <a:srgbClr val="FF6600"/>
              </a:solidFill>
              <a:latin typeface="Helvetica" pitchFamily="34" charset="0"/>
            </a:endParaRPr>
          </a:p>
        </p:txBody>
      </p:sp>
      <p:sp>
        <p:nvSpPr>
          <p:cNvPr id="3" name="Content Placeholder 2"/>
          <p:cNvSpPr>
            <a:spLocks noGrp="1"/>
          </p:cNvSpPr>
          <p:nvPr>
            <p:ph idx="1"/>
          </p:nvPr>
        </p:nvSpPr>
        <p:spPr>
          <a:xfrm>
            <a:off x="611560" y="1556792"/>
            <a:ext cx="7848872" cy="5301208"/>
          </a:xfrm>
        </p:spPr>
        <p:txBody>
          <a:bodyPr>
            <a:noAutofit/>
          </a:bodyPr>
          <a:lstStyle/>
          <a:p>
            <a:pPr marL="0">
              <a:spcBef>
                <a:spcPts val="600"/>
              </a:spcBef>
              <a:spcAft>
                <a:spcPts val="1200"/>
              </a:spcAft>
              <a:buNone/>
            </a:pPr>
            <a:r>
              <a:rPr lang="en-AU" sz="2200" dirty="0" smtClean="0">
                <a:latin typeface="Helvetica" pitchFamily="34" charset="0"/>
              </a:rPr>
              <a:t>Planning and implementing events does not come cheap and every manager wants to get a return on the investment they have made.</a:t>
            </a:r>
          </a:p>
          <a:p>
            <a:pPr marL="0">
              <a:spcBef>
                <a:spcPts val="600"/>
              </a:spcBef>
              <a:spcAft>
                <a:spcPts val="1200"/>
              </a:spcAft>
            </a:pPr>
            <a:r>
              <a:rPr lang="en-AU" sz="2200" dirty="0" smtClean="0">
                <a:latin typeface="Helvetica" pitchFamily="34" charset="0"/>
              </a:rPr>
              <a:t>How can you assess value for money?</a:t>
            </a:r>
          </a:p>
          <a:p>
            <a:pPr marL="0">
              <a:spcBef>
                <a:spcPts val="600"/>
              </a:spcBef>
              <a:spcAft>
                <a:spcPts val="1200"/>
              </a:spcAft>
              <a:buNone/>
            </a:pPr>
            <a:endParaRPr lang="en-AU" sz="2400" dirty="0" smtClean="0">
              <a:latin typeface="Helvetica" pitchFamily="34" charset="0"/>
            </a:endParaRPr>
          </a:p>
          <a:p>
            <a:pPr marL="0">
              <a:spcBef>
                <a:spcPts val="600"/>
              </a:spcBef>
              <a:spcAft>
                <a:spcPts val="1200"/>
              </a:spcAft>
              <a:buNone/>
            </a:pP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sz="1100" dirty="0" smtClean="0">
                <a:latin typeface="Helvetica" pitchFamily="34" charset="0"/>
              </a:rPr>
              <a:t>Slide </a:t>
            </a:r>
            <a:fld id="{90BDF71C-F485-43AE-8825-5070AF1EA8C9}" type="slidenum">
              <a:rPr lang="en-US" sz="1100" smtClean="0">
                <a:latin typeface="Helvetica" pitchFamily="34" charset="0"/>
              </a:rPr>
              <a:pPr/>
              <a:t>110</a:t>
            </a:fld>
            <a:endParaRPr lang="en-US" sz="1100" dirty="0">
              <a:latin typeface="Helvetica" pitchFamily="34" charset="0"/>
            </a:endParaRPr>
          </a:p>
        </p:txBody>
      </p:sp>
      <p:pic>
        <p:nvPicPr>
          <p:cNvPr id="7" name="Picture 6" descr="MP900442211.JPG"/>
          <p:cNvPicPr/>
          <p:nvPr/>
        </p:nvPicPr>
        <p:blipFill>
          <a:blip r:embed="rId3" cstate="print"/>
          <a:stretch>
            <a:fillRect/>
          </a:stretch>
        </p:blipFill>
        <p:spPr>
          <a:xfrm>
            <a:off x="6516216" y="2708920"/>
            <a:ext cx="1618283" cy="2173015"/>
          </a:xfrm>
          <a:prstGeom prst="rect">
            <a:avLst/>
          </a:prstGeom>
        </p:spPr>
      </p:pic>
    </p:spTree>
  </p:cSld>
  <p:clrMapOvr>
    <a:masterClrMapping/>
  </p:clrMapOvr>
  <p:timing>
    <p:tnLst>
      <p:par>
        <p:cTn id="1" dur="indefinite" restart="never" nodeType="tmRoot"/>
      </p:par>
    </p:tnLst>
  </p:timing>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848872" cy="1143000"/>
          </a:xfrm>
        </p:spPr>
        <p:txBody>
          <a:bodyPr>
            <a:normAutofit/>
          </a:bodyPr>
          <a:lstStyle/>
          <a:p>
            <a:pPr marL="0"/>
            <a:r>
              <a:rPr lang="en-AU" sz="3400" b="1" dirty="0" smtClean="0">
                <a:solidFill>
                  <a:srgbClr val="FF6600"/>
                </a:solidFill>
                <a:latin typeface="Helvetica" pitchFamily="34" charset="0"/>
              </a:rPr>
              <a:t>Assess value for money of training</a:t>
            </a:r>
            <a:endParaRPr lang="en-US" sz="3400" b="1" dirty="0" smtClean="0">
              <a:solidFill>
                <a:srgbClr val="FF6600"/>
              </a:solidFill>
              <a:latin typeface="Helvetica" pitchFamily="34" charset="0"/>
            </a:endParaRPr>
          </a:p>
        </p:txBody>
      </p:sp>
      <p:sp>
        <p:nvSpPr>
          <p:cNvPr id="3" name="Content Placeholder 2"/>
          <p:cNvSpPr>
            <a:spLocks noGrp="1"/>
          </p:cNvSpPr>
          <p:nvPr>
            <p:ph idx="1"/>
          </p:nvPr>
        </p:nvSpPr>
        <p:spPr>
          <a:xfrm>
            <a:off x="611560" y="1556792"/>
            <a:ext cx="7848872" cy="5301208"/>
          </a:xfrm>
        </p:spPr>
        <p:txBody>
          <a:bodyPr>
            <a:noAutofit/>
          </a:bodyPr>
          <a:lstStyle/>
          <a:p>
            <a:pPr>
              <a:spcBef>
                <a:spcPts val="600"/>
              </a:spcBef>
              <a:spcAft>
                <a:spcPts val="1200"/>
              </a:spcAft>
              <a:buNone/>
            </a:pPr>
            <a:r>
              <a:rPr lang="en-AU" sz="2200" b="1" dirty="0" smtClean="0">
                <a:latin typeface="Helvetica" pitchFamily="34" charset="0"/>
              </a:rPr>
              <a:t>Tracking the costs</a:t>
            </a:r>
            <a:endParaRPr lang="en-AU" sz="2200" dirty="0" smtClean="0">
              <a:latin typeface="Helvetica" pitchFamily="34" charset="0"/>
            </a:endParaRPr>
          </a:p>
          <a:p>
            <a:pPr lvl="0">
              <a:spcBef>
                <a:spcPts val="600"/>
              </a:spcBef>
              <a:spcAft>
                <a:spcPts val="1200"/>
              </a:spcAft>
            </a:pPr>
            <a:r>
              <a:rPr lang="en-AU" sz="2200" dirty="0" smtClean="0">
                <a:latin typeface="Helvetica" pitchFamily="34" charset="0"/>
              </a:rPr>
              <a:t>Staff wages in relation to those who attended training and assessment sessions </a:t>
            </a:r>
          </a:p>
          <a:p>
            <a:pPr lvl="0">
              <a:spcBef>
                <a:spcPts val="600"/>
              </a:spcBef>
              <a:spcAft>
                <a:spcPts val="1200"/>
              </a:spcAft>
            </a:pPr>
            <a:r>
              <a:rPr lang="en-AU" sz="2200" dirty="0" smtClean="0">
                <a:latin typeface="Helvetica" pitchFamily="34" charset="0"/>
              </a:rPr>
              <a:t>Consumables </a:t>
            </a:r>
          </a:p>
          <a:p>
            <a:pPr lvl="0">
              <a:spcBef>
                <a:spcPts val="600"/>
              </a:spcBef>
              <a:spcAft>
                <a:spcPts val="1200"/>
              </a:spcAft>
            </a:pPr>
            <a:r>
              <a:rPr lang="en-AU" sz="2200" dirty="0" smtClean="0">
                <a:latin typeface="Helvetica" pitchFamily="34" charset="0"/>
              </a:rPr>
              <a:t>Purchases and hiring charges </a:t>
            </a:r>
          </a:p>
          <a:p>
            <a:pPr>
              <a:spcBef>
                <a:spcPts val="600"/>
              </a:spcBef>
              <a:spcAft>
                <a:spcPts val="1200"/>
              </a:spcAft>
            </a:pPr>
            <a:r>
              <a:rPr lang="en-AU" sz="2200" dirty="0" smtClean="0">
                <a:latin typeface="Helvetica" pitchFamily="34" charset="0"/>
              </a:rPr>
              <a:t>Accommodation, travel and meals </a:t>
            </a:r>
          </a:p>
          <a:p>
            <a:pPr marL="0">
              <a:spcBef>
                <a:spcPts val="600"/>
              </a:spcBef>
              <a:spcAft>
                <a:spcPts val="1200"/>
              </a:spcAft>
              <a:buNone/>
            </a:pP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sz="1100" dirty="0" smtClean="0">
                <a:latin typeface="Helvetica" pitchFamily="34" charset="0"/>
              </a:rPr>
              <a:t>Slide </a:t>
            </a:r>
            <a:fld id="{90BDF71C-F485-43AE-8825-5070AF1EA8C9}" type="slidenum">
              <a:rPr lang="en-US" sz="1100" smtClean="0">
                <a:latin typeface="Helvetica" pitchFamily="34" charset="0"/>
              </a:rPr>
              <a:pPr/>
              <a:t>111</a:t>
            </a:fld>
            <a:endParaRPr lang="en-US" sz="1100" dirty="0">
              <a:latin typeface="Helvetica" pitchFamily="34" charset="0"/>
            </a:endParaRPr>
          </a:p>
        </p:txBody>
      </p:sp>
      <p:pic>
        <p:nvPicPr>
          <p:cNvPr id="7" name="Picture 6" descr="Calculator 1.jpg"/>
          <p:cNvPicPr/>
          <p:nvPr/>
        </p:nvPicPr>
        <p:blipFill>
          <a:blip r:embed="rId3" cstate="print"/>
          <a:stretch>
            <a:fillRect/>
          </a:stretch>
        </p:blipFill>
        <p:spPr>
          <a:xfrm>
            <a:off x="5940152" y="2924944"/>
            <a:ext cx="2294659" cy="1510146"/>
          </a:xfrm>
          <a:prstGeom prst="rect">
            <a:avLst/>
          </a:prstGeom>
        </p:spPr>
      </p:pic>
    </p:spTree>
  </p:cSld>
  <p:clrMapOvr>
    <a:masterClrMapping/>
  </p:clrMapOvr>
  <p:timing>
    <p:tnLst>
      <p:par>
        <p:cTn id="1" dur="indefinite" restart="never" nodeType="tmRoot"/>
      </p:par>
    </p:tnLst>
  </p:timing>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848872" cy="1143000"/>
          </a:xfrm>
        </p:spPr>
        <p:txBody>
          <a:bodyPr>
            <a:normAutofit/>
          </a:bodyPr>
          <a:lstStyle/>
          <a:p>
            <a:pPr marL="0"/>
            <a:r>
              <a:rPr lang="en-AU" sz="3400" b="1" dirty="0" smtClean="0">
                <a:solidFill>
                  <a:srgbClr val="FF6600"/>
                </a:solidFill>
                <a:latin typeface="Helvetica" pitchFamily="34" charset="0"/>
              </a:rPr>
              <a:t>Assess value for money of training</a:t>
            </a:r>
            <a:endParaRPr lang="en-US" sz="3400" b="1" dirty="0" smtClean="0">
              <a:solidFill>
                <a:srgbClr val="FF6600"/>
              </a:solidFill>
              <a:latin typeface="Helvetica" pitchFamily="34" charset="0"/>
            </a:endParaRPr>
          </a:p>
        </p:txBody>
      </p:sp>
      <p:sp>
        <p:nvSpPr>
          <p:cNvPr id="3" name="Content Placeholder 2"/>
          <p:cNvSpPr>
            <a:spLocks noGrp="1"/>
          </p:cNvSpPr>
          <p:nvPr>
            <p:ph idx="1"/>
          </p:nvPr>
        </p:nvSpPr>
        <p:spPr>
          <a:xfrm>
            <a:off x="611560" y="1556792"/>
            <a:ext cx="7848872" cy="5301208"/>
          </a:xfrm>
        </p:spPr>
        <p:txBody>
          <a:bodyPr>
            <a:noAutofit/>
          </a:bodyPr>
          <a:lstStyle/>
          <a:p>
            <a:pPr>
              <a:spcBef>
                <a:spcPts val="600"/>
              </a:spcBef>
              <a:spcAft>
                <a:spcPts val="1200"/>
              </a:spcAft>
              <a:buNone/>
            </a:pPr>
            <a:r>
              <a:rPr lang="en-AU" sz="2200" b="1" dirty="0" smtClean="0">
                <a:latin typeface="Helvetica" pitchFamily="34" charset="0"/>
              </a:rPr>
              <a:t>Determining value</a:t>
            </a:r>
            <a:endParaRPr lang="en-AU" sz="2200" dirty="0" smtClean="0">
              <a:latin typeface="Helvetica" pitchFamily="34" charset="0"/>
            </a:endParaRPr>
          </a:p>
          <a:p>
            <a:pPr lvl="0">
              <a:spcBef>
                <a:spcPts val="600"/>
              </a:spcBef>
              <a:spcAft>
                <a:spcPts val="1200"/>
              </a:spcAft>
            </a:pPr>
            <a:r>
              <a:rPr lang="en-AU" sz="2200" dirty="0" smtClean="0">
                <a:latin typeface="Helvetica" pitchFamily="34" charset="0"/>
              </a:rPr>
              <a:t>Increasing revenue</a:t>
            </a:r>
          </a:p>
          <a:p>
            <a:pPr lvl="0">
              <a:spcBef>
                <a:spcPts val="600"/>
              </a:spcBef>
              <a:spcAft>
                <a:spcPts val="1200"/>
              </a:spcAft>
            </a:pPr>
            <a:r>
              <a:rPr lang="en-AU" sz="2200" dirty="0" smtClean="0">
                <a:latin typeface="Helvetica" pitchFamily="34" charset="0"/>
              </a:rPr>
              <a:t>Offering greater levels of service</a:t>
            </a:r>
          </a:p>
          <a:p>
            <a:pPr lvl="0">
              <a:spcBef>
                <a:spcPts val="600"/>
              </a:spcBef>
              <a:spcAft>
                <a:spcPts val="1200"/>
              </a:spcAft>
            </a:pPr>
            <a:r>
              <a:rPr lang="en-AU" sz="2200" dirty="0" smtClean="0">
                <a:latin typeface="Helvetica" pitchFamily="34" charset="0"/>
              </a:rPr>
              <a:t>Developing staff</a:t>
            </a:r>
          </a:p>
          <a:p>
            <a:pPr lvl="0">
              <a:spcBef>
                <a:spcPts val="600"/>
              </a:spcBef>
              <a:spcAft>
                <a:spcPts val="1200"/>
              </a:spcAft>
            </a:pPr>
            <a:r>
              <a:rPr lang="en-AU" sz="2200" dirty="0" smtClean="0">
                <a:latin typeface="Helvetica" pitchFamily="34" charset="0"/>
              </a:rPr>
              <a:t>Reducing accidents</a:t>
            </a:r>
          </a:p>
          <a:p>
            <a:pPr lvl="0">
              <a:spcBef>
                <a:spcPts val="600"/>
              </a:spcBef>
              <a:spcAft>
                <a:spcPts val="1200"/>
              </a:spcAft>
            </a:pPr>
            <a:r>
              <a:rPr lang="en-AU" sz="2200" dirty="0" smtClean="0">
                <a:latin typeface="Helvetica" pitchFamily="34" charset="0"/>
              </a:rPr>
              <a:t>Reducing labour costs</a:t>
            </a:r>
          </a:p>
          <a:p>
            <a:pPr marL="0">
              <a:spcBef>
                <a:spcPts val="600"/>
              </a:spcBef>
              <a:spcAft>
                <a:spcPts val="1200"/>
              </a:spcAft>
              <a:buNone/>
            </a:pP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sz="1100" dirty="0" smtClean="0">
                <a:latin typeface="Helvetica" pitchFamily="34" charset="0"/>
              </a:rPr>
              <a:t>Slide </a:t>
            </a:r>
            <a:fld id="{90BDF71C-F485-43AE-8825-5070AF1EA8C9}" type="slidenum">
              <a:rPr lang="en-US" sz="1100" smtClean="0">
                <a:latin typeface="Helvetica" pitchFamily="34" charset="0"/>
              </a:rPr>
              <a:pPr/>
              <a:t>112</a:t>
            </a:fld>
            <a:endParaRPr lang="en-US" sz="1100" dirty="0">
              <a:latin typeface="Helvetica" pitchFamily="34" charset="0"/>
            </a:endParaRPr>
          </a:p>
        </p:txBody>
      </p:sp>
      <p:pic>
        <p:nvPicPr>
          <p:cNvPr id="7" name="Picture 6" descr="1.jpg"/>
          <p:cNvPicPr/>
          <p:nvPr/>
        </p:nvPicPr>
        <p:blipFill>
          <a:blip r:embed="rId3" cstate="print"/>
          <a:stretch>
            <a:fillRect/>
          </a:stretch>
        </p:blipFill>
        <p:spPr>
          <a:xfrm>
            <a:off x="5868144" y="2780928"/>
            <a:ext cx="2413992" cy="1681336"/>
          </a:xfrm>
          <a:prstGeom prst="rect">
            <a:avLst/>
          </a:prstGeom>
        </p:spPr>
      </p:pic>
    </p:spTree>
  </p:cSld>
  <p:clrMapOvr>
    <a:masterClrMapping/>
  </p:clrMapOvr>
  <p:timing>
    <p:tnLst>
      <p:par>
        <p:cTn id="1" dur="indefinite" restart="never" nodeType="tmRoot"/>
      </p:par>
    </p:tnLst>
  </p:timing>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848872" cy="1143000"/>
          </a:xfrm>
        </p:spPr>
        <p:txBody>
          <a:bodyPr>
            <a:normAutofit/>
          </a:bodyPr>
          <a:lstStyle/>
          <a:p>
            <a:pPr marL="0"/>
            <a:r>
              <a:rPr lang="en-AU" sz="3400" b="1" dirty="0" smtClean="0">
                <a:solidFill>
                  <a:srgbClr val="FF6600"/>
                </a:solidFill>
                <a:latin typeface="Helvetica" pitchFamily="34" charset="0"/>
              </a:rPr>
              <a:t>Assess value for money of training</a:t>
            </a:r>
            <a:endParaRPr lang="en-US" sz="3400" b="1" dirty="0" smtClean="0">
              <a:solidFill>
                <a:srgbClr val="FF6600"/>
              </a:solidFill>
              <a:latin typeface="Helvetica" pitchFamily="34" charset="0"/>
            </a:endParaRPr>
          </a:p>
        </p:txBody>
      </p:sp>
      <p:sp>
        <p:nvSpPr>
          <p:cNvPr id="3" name="Content Placeholder 2"/>
          <p:cNvSpPr>
            <a:spLocks noGrp="1"/>
          </p:cNvSpPr>
          <p:nvPr>
            <p:ph idx="1"/>
          </p:nvPr>
        </p:nvSpPr>
        <p:spPr>
          <a:xfrm>
            <a:off x="611560" y="1556792"/>
            <a:ext cx="7848872" cy="5301208"/>
          </a:xfrm>
        </p:spPr>
        <p:txBody>
          <a:bodyPr>
            <a:noAutofit/>
          </a:bodyPr>
          <a:lstStyle/>
          <a:p>
            <a:pPr>
              <a:spcBef>
                <a:spcPts val="600"/>
              </a:spcBef>
              <a:spcAft>
                <a:spcPts val="1200"/>
              </a:spcAft>
              <a:buNone/>
            </a:pPr>
            <a:r>
              <a:rPr lang="en-AU" sz="2200" b="1" dirty="0" smtClean="0">
                <a:latin typeface="Helvetica" pitchFamily="34" charset="0"/>
              </a:rPr>
              <a:t>Determining value</a:t>
            </a:r>
            <a:endParaRPr lang="en-AU" sz="2200" dirty="0" smtClean="0">
              <a:latin typeface="Helvetica" pitchFamily="34" charset="0"/>
            </a:endParaRPr>
          </a:p>
          <a:p>
            <a:pPr lvl="0">
              <a:spcBef>
                <a:spcPts val="600"/>
              </a:spcBef>
              <a:spcAft>
                <a:spcPts val="1200"/>
              </a:spcAft>
            </a:pPr>
            <a:r>
              <a:rPr lang="en-AU" sz="2200" dirty="0" smtClean="0">
                <a:latin typeface="Helvetica" pitchFamily="34" charset="0"/>
              </a:rPr>
              <a:t>Improving efficiency</a:t>
            </a:r>
          </a:p>
          <a:p>
            <a:pPr lvl="0">
              <a:spcBef>
                <a:spcPts val="600"/>
              </a:spcBef>
              <a:spcAft>
                <a:spcPts val="1200"/>
              </a:spcAft>
            </a:pPr>
            <a:r>
              <a:rPr lang="en-AU" sz="2200" dirty="0" smtClean="0">
                <a:latin typeface="Helvetica" pitchFamily="34" charset="0"/>
              </a:rPr>
              <a:t>Reducing complaints</a:t>
            </a:r>
          </a:p>
          <a:p>
            <a:pPr lvl="0">
              <a:spcBef>
                <a:spcPts val="600"/>
              </a:spcBef>
              <a:spcAft>
                <a:spcPts val="1200"/>
              </a:spcAft>
            </a:pPr>
            <a:r>
              <a:rPr lang="en-AU" sz="2200" dirty="0" smtClean="0">
                <a:latin typeface="Helvetica" pitchFamily="34" charset="0"/>
              </a:rPr>
              <a:t>Increasing consistency in service</a:t>
            </a:r>
          </a:p>
          <a:p>
            <a:pPr lvl="0">
              <a:spcBef>
                <a:spcPts val="600"/>
              </a:spcBef>
              <a:spcAft>
                <a:spcPts val="1200"/>
              </a:spcAft>
            </a:pPr>
            <a:r>
              <a:rPr lang="en-AU" sz="2200" dirty="0" smtClean="0">
                <a:latin typeface="Helvetica" pitchFamily="34" charset="0"/>
              </a:rPr>
              <a:t>Increasing customer satisfaction</a:t>
            </a:r>
          </a:p>
          <a:p>
            <a:pPr>
              <a:spcBef>
                <a:spcPts val="600"/>
              </a:spcBef>
              <a:spcAft>
                <a:spcPts val="1200"/>
              </a:spcAft>
            </a:pPr>
            <a:r>
              <a:rPr lang="en-AU" sz="2200" dirty="0" smtClean="0">
                <a:latin typeface="Helvetica" pitchFamily="34" charset="0"/>
              </a:rPr>
              <a:t>Strengthening brand value</a:t>
            </a: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sz="1100" dirty="0" smtClean="0">
                <a:latin typeface="Helvetica" pitchFamily="34" charset="0"/>
              </a:rPr>
              <a:t>Slide </a:t>
            </a:r>
            <a:fld id="{90BDF71C-F485-43AE-8825-5070AF1EA8C9}" type="slidenum">
              <a:rPr lang="en-US" sz="1100" smtClean="0">
                <a:latin typeface="Helvetica" pitchFamily="34" charset="0"/>
              </a:rPr>
              <a:pPr/>
              <a:t>113</a:t>
            </a:fld>
            <a:endParaRPr lang="en-US" sz="1100" dirty="0">
              <a:latin typeface="Helvetica" pitchFamily="34" charset="0"/>
            </a:endParaRPr>
          </a:p>
        </p:txBody>
      </p:sp>
      <p:pic>
        <p:nvPicPr>
          <p:cNvPr id="6" name="Picture 5" descr="BW_4.jpg"/>
          <p:cNvPicPr>
            <a:picLocks noChangeAspect="1"/>
          </p:cNvPicPr>
          <p:nvPr/>
        </p:nvPicPr>
        <p:blipFill>
          <a:blip r:embed="rId3" cstate="print"/>
          <a:stretch>
            <a:fillRect/>
          </a:stretch>
        </p:blipFill>
        <p:spPr>
          <a:xfrm>
            <a:off x="6228184" y="2420888"/>
            <a:ext cx="1641462" cy="2183678"/>
          </a:xfrm>
          <a:prstGeom prst="rect">
            <a:avLst/>
          </a:prstGeom>
        </p:spPr>
      </p:pic>
    </p:spTree>
  </p:cSld>
  <p:clrMapOvr>
    <a:masterClrMapping/>
  </p:clrMapOvr>
  <p:timing>
    <p:tnLst>
      <p:par>
        <p:cTn id="1" dur="indefinite" restart="never" nodeType="tmRoot"/>
      </p:par>
    </p:tnLst>
  </p:timing>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848872" cy="1143000"/>
          </a:xfrm>
        </p:spPr>
        <p:txBody>
          <a:bodyPr>
            <a:normAutofit/>
          </a:bodyPr>
          <a:lstStyle/>
          <a:p>
            <a:pPr marL="0"/>
            <a:r>
              <a:rPr lang="en-AU" sz="3400" b="1" dirty="0" smtClean="0">
                <a:solidFill>
                  <a:srgbClr val="FF6600"/>
                </a:solidFill>
                <a:latin typeface="Helvetica" pitchFamily="34" charset="0"/>
              </a:rPr>
              <a:t>Assess value for money of training</a:t>
            </a:r>
            <a:endParaRPr lang="en-US" sz="3400" b="1" dirty="0" smtClean="0">
              <a:solidFill>
                <a:srgbClr val="FF6600"/>
              </a:solidFill>
              <a:latin typeface="Helvetica" pitchFamily="34" charset="0"/>
            </a:endParaRPr>
          </a:p>
        </p:txBody>
      </p:sp>
      <p:sp>
        <p:nvSpPr>
          <p:cNvPr id="3" name="Content Placeholder 2"/>
          <p:cNvSpPr>
            <a:spLocks noGrp="1"/>
          </p:cNvSpPr>
          <p:nvPr>
            <p:ph idx="1"/>
          </p:nvPr>
        </p:nvSpPr>
        <p:spPr>
          <a:xfrm>
            <a:off x="611560" y="1556792"/>
            <a:ext cx="8280920" cy="5301208"/>
          </a:xfrm>
        </p:spPr>
        <p:txBody>
          <a:bodyPr>
            <a:noAutofit/>
          </a:bodyPr>
          <a:lstStyle/>
          <a:p>
            <a:pPr>
              <a:spcBef>
                <a:spcPts val="600"/>
              </a:spcBef>
              <a:spcAft>
                <a:spcPts val="1200"/>
              </a:spcAft>
              <a:buNone/>
            </a:pPr>
            <a:r>
              <a:rPr lang="en-AU" sz="2200" b="1" dirty="0" smtClean="0">
                <a:latin typeface="Helvetica" pitchFamily="34" charset="0"/>
              </a:rPr>
              <a:t>Assessing value for money</a:t>
            </a:r>
            <a:endParaRPr lang="en-AU" sz="2200" dirty="0" smtClean="0">
              <a:latin typeface="Helvetica" pitchFamily="34" charset="0"/>
            </a:endParaRPr>
          </a:p>
          <a:p>
            <a:pPr lvl="0">
              <a:spcBef>
                <a:spcPts val="600"/>
              </a:spcBef>
              <a:spcAft>
                <a:spcPts val="1200"/>
              </a:spcAft>
            </a:pPr>
            <a:r>
              <a:rPr lang="en-AU" sz="2200" dirty="0" smtClean="0">
                <a:latin typeface="Helvetica" pitchFamily="34" charset="0"/>
              </a:rPr>
              <a:t>Undertaking a cost-benefit analysis, </a:t>
            </a:r>
            <a:br>
              <a:rPr lang="en-AU" sz="2200" dirty="0" smtClean="0">
                <a:latin typeface="Helvetica" pitchFamily="34" charset="0"/>
              </a:rPr>
            </a:br>
            <a:r>
              <a:rPr lang="en-AU" sz="2200" dirty="0" smtClean="0">
                <a:latin typeface="Helvetica" pitchFamily="34" charset="0"/>
              </a:rPr>
              <a:t>including identification and quantification </a:t>
            </a:r>
            <a:br>
              <a:rPr lang="en-AU" sz="2200" dirty="0" smtClean="0">
                <a:latin typeface="Helvetica" pitchFamily="34" charset="0"/>
              </a:rPr>
            </a:br>
            <a:r>
              <a:rPr lang="en-AU" sz="2200" dirty="0" smtClean="0">
                <a:latin typeface="Helvetica" pitchFamily="34" charset="0"/>
              </a:rPr>
              <a:t>of hidden costs </a:t>
            </a:r>
          </a:p>
          <a:p>
            <a:pPr lvl="0">
              <a:spcBef>
                <a:spcPts val="600"/>
              </a:spcBef>
              <a:spcAft>
                <a:spcPts val="1200"/>
              </a:spcAft>
            </a:pPr>
            <a:r>
              <a:rPr lang="en-AU" sz="2200" dirty="0" smtClean="0">
                <a:latin typeface="Helvetica" pitchFamily="34" charset="0"/>
              </a:rPr>
              <a:t>Comparing pre-engagement cost-benefit analysis </a:t>
            </a:r>
            <a:br>
              <a:rPr lang="en-AU" sz="2200" dirty="0" smtClean="0">
                <a:latin typeface="Helvetica" pitchFamily="34" charset="0"/>
              </a:rPr>
            </a:br>
            <a:r>
              <a:rPr lang="en-AU" sz="2200" dirty="0" smtClean="0">
                <a:latin typeface="Helvetica" pitchFamily="34" charset="0"/>
              </a:rPr>
              <a:t>figures with post-participation cost-benefit analysis, </a:t>
            </a:r>
          </a:p>
          <a:p>
            <a:pPr lvl="0">
              <a:spcBef>
                <a:spcPts val="600"/>
              </a:spcBef>
              <a:spcAft>
                <a:spcPts val="1200"/>
              </a:spcAft>
            </a:pPr>
            <a:r>
              <a:rPr lang="en-AU" sz="2200" dirty="0" smtClean="0">
                <a:latin typeface="Helvetica" pitchFamily="34" charset="0"/>
              </a:rPr>
              <a:t>Identifying alternative training that could have been provided at the same actual cost </a:t>
            </a:r>
          </a:p>
          <a:p>
            <a:pPr lvl="0">
              <a:spcBef>
                <a:spcPts val="600"/>
              </a:spcBef>
              <a:spcAft>
                <a:spcPts val="1200"/>
              </a:spcAft>
            </a:pPr>
            <a:r>
              <a:rPr lang="en-AU" sz="2200" dirty="0" smtClean="0">
                <a:latin typeface="Helvetica" pitchFamily="34" charset="0"/>
              </a:rPr>
              <a:t>Obtaining positive and negative emotional issues experienced by learners</a:t>
            </a: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sz="1100" dirty="0" smtClean="0">
                <a:latin typeface="Helvetica" pitchFamily="34" charset="0"/>
              </a:rPr>
              <a:t>Slide </a:t>
            </a:r>
            <a:fld id="{90BDF71C-F485-43AE-8825-5070AF1EA8C9}" type="slidenum">
              <a:rPr lang="en-US" sz="1100" smtClean="0">
                <a:latin typeface="Helvetica" pitchFamily="34" charset="0"/>
              </a:rPr>
              <a:pPr/>
              <a:t>114</a:t>
            </a:fld>
            <a:endParaRPr lang="en-US" sz="1100" dirty="0">
              <a:latin typeface="Helvetica" pitchFamily="34" charset="0"/>
            </a:endParaRPr>
          </a:p>
        </p:txBody>
      </p:sp>
      <p:pic>
        <p:nvPicPr>
          <p:cNvPr id="5122" name="Picture 2" descr="C:\Documents and Settings\Godaishu\Local Settings\Temporary Internet Files\Content.IE5\QE61NRUL\MP900341911[1].jpg"/>
          <p:cNvPicPr>
            <a:picLocks noChangeAspect="1" noChangeArrowheads="1"/>
          </p:cNvPicPr>
          <p:nvPr/>
        </p:nvPicPr>
        <p:blipFill>
          <a:blip r:embed="rId3" cstate="print"/>
          <a:srcRect/>
          <a:stretch>
            <a:fillRect/>
          </a:stretch>
        </p:blipFill>
        <p:spPr bwMode="auto">
          <a:xfrm>
            <a:off x="6516216" y="1772816"/>
            <a:ext cx="1872208" cy="1335509"/>
          </a:xfrm>
          <a:prstGeom prst="rect">
            <a:avLst/>
          </a:prstGeom>
          <a:noFill/>
        </p:spPr>
      </p:pic>
    </p:spTree>
  </p:cSld>
  <p:clrMapOvr>
    <a:masterClrMapping/>
  </p:clrMapOvr>
  <p:timing>
    <p:tnLst>
      <p:par>
        <p:cTn id="1" dur="indefinite" restart="never" nodeType="tmRoot"/>
      </p:par>
    </p:tnLst>
  </p:timing>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848872" cy="1143000"/>
          </a:xfrm>
        </p:spPr>
        <p:txBody>
          <a:bodyPr>
            <a:normAutofit/>
          </a:bodyPr>
          <a:lstStyle/>
          <a:p>
            <a:pPr marL="0"/>
            <a:r>
              <a:rPr lang="en-AU" sz="3400" b="1" dirty="0" smtClean="0">
                <a:solidFill>
                  <a:srgbClr val="FF6600"/>
                </a:solidFill>
                <a:latin typeface="Helvetica" pitchFamily="34" charset="0"/>
              </a:rPr>
              <a:t>Identify cost effective ways to train</a:t>
            </a:r>
            <a:endParaRPr lang="en-US" sz="3400" b="1" dirty="0" smtClean="0">
              <a:solidFill>
                <a:srgbClr val="FF6600"/>
              </a:solidFill>
              <a:latin typeface="Helvetica" pitchFamily="34" charset="0"/>
            </a:endParaRPr>
          </a:p>
        </p:txBody>
      </p:sp>
      <p:sp>
        <p:nvSpPr>
          <p:cNvPr id="3" name="Content Placeholder 2"/>
          <p:cNvSpPr>
            <a:spLocks noGrp="1"/>
          </p:cNvSpPr>
          <p:nvPr>
            <p:ph idx="1"/>
          </p:nvPr>
        </p:nvSpPr>
        <p:spPr>
          <a:xfrm>
            <a:off x="611560" y="1556792"/>
            <a:ext cx="7848872" cy="5301208"/>
          </a:xfrm>
        </p:spPr>
        <p:txBody>
          <a:bodyPr>
            <a:noAutofit/>
          </a:bodyPr>
          <a:lstStyle/>
          <a:p>
            <a:pPr>
              <a:spcBef>
                <a:spcPts val="600"/>
              </a:spcBef>
              <a:spcAft>
                <a:spcPts val="1200"/>
              </a:spcAft>
              <a:buNone/>
            </a:pPr>
            <a:r>
              <a:rPr lang="en-AU" sz="2200" dirty="0" smtClean="0">
                <a:latin typeface="Helvetica" pitchFamily="34" charset="0"/>
              </a:rPr>
              <a:t>There are always ways to make training cheaper. </a:t>
            </a:r>
          </a:p>
          <a:p>
            <a:pPr marL="0">
              <a:spcBef>
                <a:spcPts val="600"/>
              </a:spcBef>
              <a:spcAft>
                <a:spcPts val="1200"/>
              </a:spcAft>
              <a:buNone/>
            </a:pPr>
            <a:r>
              <a:rPr lang="en-AU" sz="2200" dirty="0" smtClean="0">
                <a:latin typeface="Helvetica" pitchFamily="34" charset="0"/>
              </a:rPr>
              <a:t>The key point to remember is that costs should only be reduced without impacting the quality of the training</a:t>
            </a:r>
          </a:p>
          <a:p>
            <a:pPr>
              <a:spcBef>
                <a:spcPts val="600"/>
              </a:spcBef>
              <a:spcAft>
                <a:spcPts val="1200"/>
              </a:spcAft>
            </a:pPr>
            <a:r>
              <a:rPr lang="en-AU" sz="2200" dirty="0" smtClean="0">
                <a:latin typeface="Helvetica" pitchFamily="34" charset="0"/>
              </a:rPr>
              <a:t>What are examples of cutting costs in training?</a:t>
            </a: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sz="1100" dirty="0" smtClean="0">
                <a:latin typeface="Helvetica" pitchFamily="34" charset="0"/>
              </a:rPr>
              <a:t>Slide </a:t>
            </a:r>
            <a:fld id="{90BDF71C-F485-43AE-8825-5070AF1EA8C9}" type="slidenum">
              <a:rPr lang="en-US" sz="1100" smtClean="0">
                <a:latin typeface="Helvetica" pitchFamily="34" charset="0"/>
              </a:rPr>
              <a:pPr/>
              <a:t>115</a:t>
            </a:fld>
            <a:endParaRPr lang="en-US" sz="1100" dirty="0">
              <a:latin typeface="Helvetica" pitchFamily="34" charset="0"/>
            </a:endParaRPr>
          </a:p>
        </p:txBody>
      </p:sp>
      <p:pic>
        <p:nvPicPr>
          <p:cNvPr id="6" name="Picture 5" descr="australian-currency.jpg"/>
          <p:cNvPicPr/>
          <p:nvPr/>
        </p:nvPicPr>
        <p:blipFill>
          <a:blip r:embed="rId3" cstate="print"/>
          <a:stretch>
            <a:fillRect/>
          </a:stretch>
        </p:blipFill>
        <p:spPr>
          <a:xfrm>
            <a:off x="3456633" y="4005064"/>
            <a:ext cx="2230735" cy="1676003"/>
          </a:xfrm>
          <a:prstGeom prst="rect">
            <a:avLst/>
          </a:prstGeom>
        </p:spPr>
      </p:pic>
    </p:spTree>
  </p:cSld>
  <p:clrMapOvr>
    <a:masterClrMapping/>
  </p:clrMapOvr>
  <p:timing>
    <p:tnLst>
      <p:par>
        <p:cTn id="1" dur="indefinite" restart="never" nodeType="tmRoot"/>
      </p:par>
    </p:tnLst>
  </p:timing>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848872" cy="1143000"/>
          </a:xfrm>
        </p:spPr>
        <p:txBody>
          <a:bodyPr>
            <a:normAutofit/>
          </a:bodyPr>
          <a:lstStyle/>
          <a:p>
            <a:pPr marL="0"/>
            <a:r>
              <a:rPr lang="en-AU" sz="3400" b="1" dirty="0" smtClean="0">
                <a:solidFill>
                  <a:srgbClr val="FF6600"/>
                </a:solidFill>
                <a:latin typeface="Helvetica" pitchFamily="34" charset="0"/>
              </a:rPr>
              <a:t>Identify cost effective ways to train</a:t>
            </a:r>
            <a:endParaRPr lang="en-US" sz="3400" b="1" dirty="0" smtClean="0">
              <a:solidFill>
                <a:srgbClr val="FF6600"/>
              </a:solidFill>
              <a:latin typeface="Helvetica" pitchFamily="34" charset="0"/>
            </a:endParaRPr>
          </a:p>
        </p:txBody>
      </p:sp>
      <p:sp>
        <p:nvSpPr>
          <p:cNvPr id="3" name="Content Placeholder 2"/>
          <p:cNvSpPr>
            <a:spLocks noGrp="1"/>
          </p:cNvSpPr>
          <p:nvPr>
            <p:ph idx="1"/>
          </p:nvPr>
        </p:nvSpPr>
        <p:spPr>
          <a:xfrm>
            <a:off x="611560" y="1556792"/>
            <a:ext cx="7848872" cy="5301208"/>
          </a:xfrm>
        </p:spPr>
        <p:txBody>
          <a:bodyPr>
            <a:noAutofit/>
          </a:bodyPr>
          <a:lstStyle/>
          <a:p>
            <a:pPr>
              <a:spcBef>
                <a:spcPts val="600"/>
              </a:spcBef>
              <a:spcAft>
                <a:spcPts val="1200"/>
              </a:spcAft>
              <a:buNone/>
            </a:pPr>
            <a:r>
              <a:rPr lang="en-AU" sz="2200" b="1" dirty="0" smtClean="0">
                <a:latin typeface="Helvetica" pitchFamily="34" charset="0"/>
              </a:rPr>
              <a:t>Types of cost effective measures</a:t>
            </a:r>
            <a:endParaRPr lang="en-AU" sz="2200" dirty="0" smtClean="0">
              <a:latin typeface="Helvetica" pitchFamily="34" charset="0"/>
            </a:endParaRPr>
          </a:p>
          <a:p>
            <a:pPr lvl="0">
              <a:spcBef>
                <a:spcPts val="600"/>
              </a:spcBef>
              <a:spcAft>
                <a:spcPts val="1200"/>
              </a:spcAft>
            </a:pPr>
            <a:r>
              <a:rPr lang="en-AU" sz="2200" dirty="0" smtClean="0">
                <a:latin typeface="Helvetica" pitchFamily="34" charset="0"/>
              </a:rPr>
              <a:t>Seeking group discounts for participation with future training events</a:t>
            </a:r>
          </a:p>
          <a:p>
            <a:pPr lvl="0">
              <a:spcBef>
                <a:spcPts val="600"/>
              </a:spcBef>
              <a:spcAft>
                <a:spcPts val="1200"/>
              </a:spcAft>
            </a:pPr>
            <a:r>
              <a:rPr lang="en-AU" sz="2200" dirty="0" smtClean="0">
                <a:latin typeface="Helvetica" pitchFamily="34" charset="0"/>
              </a:rPr>
              <a:t>Organising internal training events and offering these events to internal learners and attendees from other organisations</a:t>
            </a:r>
          </a:p>
          <a:p>
            <a:pPr lvl="0">
              <a:spcBef>
                <a:spcPts val="600"/>
              </a:spcBef>
              <a:spcAft>
                <a:spcPts val="1200"/>
              </a:spcAft>
            </a:pPr>
            <a:r>
              <a:rPr lang="en-AU" sz="2200" dirty="0" smtClean="0">
                <a:latin typeface="Helvetica" pitchFamily="34" charset="0"/>
              </a:rPr>
              <a:t>Undertaking joint venture or cost sharing                      arrangements with others</a:t>
            </a:r>
          </a:p>
          <a:p>
            <a:pPr lvl="0">
              <a:spcBef>
                <a:spcPts val="600"/>
              </a:spcBef>
              <a:spcAft>
                <a:spcPts val="1200"/>
              </a:spcAft>
            </a:pPr>
            <a:r>
              <a:rPr lang="en-AU" sz="2200" dirty="0" smtClean="0">
                <a:latin typeface="Helvetica" pitchFamily="34" charset="0"/>
              </a:rPr>
              <a:t>Requiring learners to contribute to the                                    cost of the training event</a:t>
            </a: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sz="1100" dirty="0" smtClean="0">
                <a:latin typeface="Helvetica" pitchFamily="34" charset="0"/>
              </a:rPr>
              <a:t>Slide </a:t>
            </a:r>
            <a:fld id="{90BDF71C-F485-43AE-8825-5070AF1EA8C9}" type="slidenum">
              <a:rPr lang="en-US" sz="1100" smtClean="0">
                <a:latin typeface="Helvetica" pitchFamily="34" charset="0"/>
              </a:rPr>
              <a:pPr/>
              <a:t>116</a:t>
            </a:fld>
            <a:endParaRPr lang="en-US" sz="1100" dirty="0">
              <a:latin typeface="Helvetica" pitchFamily="34" charset="0"/>
            </a:endParaRPr>
          </a:p>
        </p:txBody>
      </p:sp>
      <p:pic>
        <p:nvPicPr>
          <p:cNvPr id="7" name="Picture 6" descr="conference_room.jpg"/>
          <p:cNvPicPr/>
          <p:nvPr/>
        </p:nvPicPr>
        <p:blipFill>
          <a:blip r:embed="rId3" cstate="print"/>
          <a:stretch>
            <a:fillRect/>
          </a:stretch>
        </p:blipFill>
        <p:spPr>
          <a:xfrm>
            <a:off x="6516216" y="4293096"/>
            <a:ext cx="1770112" cy="1229668"/>
          </a:xfrm>
          <a:prstGeom prst="rect">
            <a:avLst/>
          </a:prstGeom>
        </p:spPr>
      </p:pic>
    </p:spTree>
  </p:cSld>
  <p:clrMapOvr>
    <a:masterClrMapping/>
  </p:clrMapOvr>
  <p:timing>
    <p:tnLst>
      <p:par>
        <p:cTn id="1" dur="indefinite" restart="never" nodeType="tmRoot"/>
      </p:par>
    </p:tnLst>
  </p:timing>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848872" cy="1143000"/>
          </a:xfrm>
        </p:spPr>
        <p:txBody>
          <a:bodyPr>
            <a:normAutofit/>
          </a:bodyPr>
          <a:lstStyle/>
          <a:p>
            <a:pPr marL="0"/>
            <a:r>
              <a:rPr lang="en-AU" sz="3400" b="1" dirty="0" smtClean="0">
                <a:solidFill>
                  <a:srgbClr val="FF6600"/>
                </a:solidFill>
                <a:latin typeface="Helvetica" pitchFamily="34" charset="0"/>
              </a:rPr>
              <a:t>Identify cost effective ways to train</a:t>
            </a:r>
            <a:endParaRPr lang="en-US" sz="3400" b="1" dirty="0" smtClean="0">
              <a:solidFill>
                <a:srgbClr val="FF6600"/>
              </a:solidFill>
              <a:latin typeface="Helvetica" pitchFamily="34" charset="0"/>
            </a:endParaRPr>
          </a:p>
        </p:txBody>
      </p:sp>
      <p:sp>
        <p:nvSpPr>
          <p:cNvPr id="3" name="Content Placeholder 2"/>
          <p:cNvSpPr>
            <a:spLocks noGrp="1"/>
          </p:cNvSpPr>
          <p:nvPr>
            <p:ph idx="1"/>
          </p:nvPr>
        </p:nvSpPr>
        <p:spPr>
          <a:xfrm>
            <a:off x="611560" y="1556792"/>
            <a:ext cx="7848872" cy="5301208"/>
          </a:xfrm>
        </p:spPr>
        <p:txBody>
          <a:bodyPr>
            <a:noAutofit/>
          </a:bodyPr>
          <a:lstStyle/>
          <a:p>
            <a:pPr>
              <a:spcBef>
                <a:spcPts val="600"/>
              </a:spcBef>
              <a:spcAft>
                <a:spcPts val="1200"/>
              </a:spcAft>
              <a:buNone/>
            </a:pPr>
            <a:r>
              <a:rPr lang="en-AU" sz="2200" b="1" dirty="0" smtClean="0">
                <a:latin typeface="Helvetica" pitchFamily="34" charset="0"/>
              </a:rPr>
              <a:t>Types of cost effective measures</a:t>
            </a:r>
            <a:endParaRPr lang="en-AU" sz="2200" dirty="0" smtClean="0">
              <a:latin typeface="Helvetica" pitchFamily="34" charset="0"/>
            </a:endParaRPr>
          </a:p>
          <a:p>
            <a:pPr lvl="0">
              <a:spcBef>
                <a:spcPts val="600"/>
              </a:spcBef>
              <a:spcAft>
                <a:spcPts val="1200"/>
              </a:spcAft>
            </a:pPr>
            <a:r>
              <a:rPr lang="en-AU" sz="2200" dirty="0" smtClean="0">
                <a:latin typeface="Helvetica" pitchFamily="34" charset="0"/>
              </a:rPr>
              <a:t>Working with the organiser to present a shorter duration training event</a:t>
            </a:r>
          </a:p>
          <a:p>
            <a:pPr lvl="0">
              <a:spcBef>
                <a:spcPts val="600"/>
              </a:spcBef>
              <a:spcAft>
                <a:spcPts val="1200"/>
              </a:spcAft>
            </a:pPr>
            <a:r>
              <a:rPr lang="en-AU" sz="2200" dirty="0" smtClean="0">
                <a:latin typeface="Helvetica" pitchFamily="34" charset="0"/>
              </a:rPr>
              <a:t>Developing a more structured internal approach to the sharing of knowledge and skills gained by learners at training events with other employees</a:t>
            </a:r>
          </a:p>
          <a:p>
            <a:pPr>
              <a:spcBef>
                <a:spcPts val="600"/>
              </a:spcBef>
              <a:spcAft>
                <a:spcPts val="1200"/>
              </a:spcAft>
            </a:pPr>
            <a:r>
              <a:rPr lang="en-AU" sz="2200" dirty="0" smtClean="0">
                <a:latin typeface="Helvetica" pitchFamily="34" charset="0"/>
              </a:rPr>
              <a:t>Use a mix of ‘self study’ and contact programs                   where the trainer is present</a:t>
            </a: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sz="1100" dirty="0" smtClean="0">
                <a:latin typeface="Helvetica" pitchFamily="34" charset="0"/>
              </a:rPr>
              <a:t>Slide </a:t>
            </a:r>
            <a:fld id="{90BDF71C-F485-43AE-8825-5070AF1EA8C9}" type="slidenum">
              <a:rPr lang="en-US" sz="1100" smtClean="0">
                <a:latin typeface="Helvetica" pitchFamily="34" charset="0"/>
              </a:rPr>
              <a:pPr/>
              <a:t>117</a:t>
            </a:fld>
            <a:endParaRPr lang="en-US" sz="1100" dirty="0">
              <a:latin typeface="Helvetica" pitchFamily="34" charset="0"/>
            </a:endParaRPr>
          </a:p>
        </p:txBody>
      </p:sp>
      <p:pic>
        <p:nvPicPr>
          <p:cNvPr id="6" name="Picture 5" descr="Hotel receptionist.jpg"/>
          <p:cNvPicPr>
            <a:picLocks noChangeAspect="1"/>
          </p:cNvPicPr>
          <p:nvPr/>
        </p:nvPicPr>
        <p:blipFill>
          <a:blip r:embed="rId3" cstate="print"/>
          <a:stretch>
            <a:fillRect/>
          </a:stretch>
        </p:blipFill>
        <p:spPr>
          <a:xfrm>
            <a:off x="7164288" y="4077072"/>
            <a:ext cx="1132333" cy="1705321"/>
          </a:xfrm>
          <a:prstGeom prst="rect">
            <a:avLst/>
          </a:prstGeom>
        </p:spPr>
      </p:pic>
    </p:spTree>
  </p:cSld>
  <p:clrMapOvr>
    <a:masterClrMapping/>
  </p:clrMapOvr>
  <p:timing>
    <p:tnLst>
      <p:par>
        <p:cTn id="1" dur="indefinite" restart="never" nodeType="tmRoot"/>
      </p:par>
    </p:tnLst>
  </p:timing>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848872" cy="1143000"/>
          </a:xfrm>
        </p:spPr>
        <p:txBody>
          <a:bodyPr>
            <a:normAutofit/>
          </a:bodyPr>
          <a:lstStyle/>
          <a:p>
            <a:pPr marL="0"/>
            <a:r>
              <a:rPr lang="en-AU" sz="3400" b="1" dirty="0" smtClean="0">
                <a:solidFill>
                  <a:srgbClr val="FF6600"/>
                </a:solidFill>
                <a:latin typeface="Helvetica" pitchFamily="34" charset="0"/>
              </a:rPr>
              <a:t>Prepare training reports</a:t>
            </a:r>
            <a:endParaRPr lang="en-US" sz="3400" b="1" dirty="0" smtClean="0">
              <a:solidFill>
                <a:srgbClr val="FF6600"/>
              </a:solidFill>
              <a:latin typeface="Helvetica" pitchFamily="34" charset="0"/>
            </a:endParaRPr>
          </a:p>
        </p:txBody>
      </p:sp>
      <p:sp>
        <p:nvSpPr>
          <p:cNvPr id="3" name="Content Placeholder 2"/>
          <p:cNvSpPr>
            <a:spLocks noGrp="1"/>
          </p:cNvSpPr>
          <p:nvPr>
            <p:ph idx="1"/>
          </p:nvPr>
        </p:nvSpPr>
        <p:spPr>
          <a:xfrm>
            <a:off x="611560" y="1556792"/>
            <a:ext cx="7848872" cy="5301208"/>
          </a:xfrm>
        </p:spPr>
        <p:txBody>
          <a:bodyPr>
            <a:noAutofit/>
          </a:bodyPr>
          <a:lstStyle/>
          <a:p>
            <a:pPr>
              <a:spcBef>
                <a:spcPts val="600"/>
              </a:spcBef>
              <a:spcAft>
                <a:spcPts val="1200"/>
              </a:spcAft>
              <a:buNone/>
            </a:pPr>
            <a:r>
              <a:rPr lang="en-AU" sz="2200" b="1" dirty="0" smtClean="0">
                <a:latin typeface="Helvetica" pitchFamily="34" charset="0"/>
              </a:rPr>
              <a:t>Importance of reports</a:t>
            </a:r>
          </a:p>
          <a:p>
            <a:pPr>
              <a:spcBef>
                <a:spcPts val="600"/>
              </a:spcBef>
              <a:spcAft>
                <a:spcPts val="1200"/>
              </a:spcAft>
            </a:pPr>
            <a:r>
              <a:rPr lang="en-AU" sz="2200" dirty="0" smtClean="0">
                <a:latin typeface="Helvetica" pitchFamily="34" charset="0"/>
              </a:rPr>
              <a:t>Progress on training may be reported in a formal or informal manner</a:t>
            </a:r>
          </a:p>
          <a:p>
            <a:pPr>
              <a:spcBef>
                <a:spcPts val="600"/>
              </a:spcBef>
              <a:spcAft>
                <a:spcPts val="1200"/>
              </a:spcAft>
            </a:pPr>
            <a:r>
              <a:rPr lang="en-AU" sz="2200" dirty="0" smtClean="0">
                <a:latin typeface="Helvetica" pitchFamily="34" charset="0"/>
              </a:rPr>
              <a:t>The precise method used in each instance will depend on the particular establishment’s policies and procedures</a:t>
            </a: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sz="1100" dirty="0" smtClean="0">
                <a:latin typeface="Helvetica" pitchFamily="34" charset="0"/>
              </a:rPr>
              <a:t>Slide </a:t>
            </a:r>
            <a:fld id="{90BDF71C-F485-43AE-8825-5070AF1EA8C9}" type="slidenum">
              <a:rPr lang="en-US" sz="1100" smtClean="0">
                <a:latin typeface="Helvetica" pitchFamily="34" charset="0"/>
              </a:rPr>
              <a:pPr/>
              <a:t>118</a:t>
            </a:fld>
            <a:endParaRPr lang="en-US" sz="1100" dirty="0">
              <a:latin typeface="Helvetica" pitchFamily="34" charset="0"/>
            </a:endParaRPr>
          </a:p>
        </p:txBody>
      </p:sp>
      <p:pic>
        <p:nvPicPr>
          <p:cNvPr id="7" name="Picture 6" descr="iStock_000003194010Medium.jpg"/>
          <p:cNvPicPr/>
          <p:nvPr/>
        </p:nvPicPr>
        <p:blipFill>
          <a:blip r:embed="rId3" cstate="print"/>
          <a:stretch>
            <a:fillRect/>
          </a:stretch>
        </p:blipFill>
        <p:spPr>
          <a:xfrm>
            <a:off x="3851920" y="4149080"/>
            <a:ext cx="2163490" cy="1608758"/>
          </a:xfrm>
          <a:prstGeom prst="rect">
            <a:avLst/>
          </a:prstGeom>
        </p:spPr>
      </p:pic>
    </p:spTree>
  </p:cSld>
  <p:clrMapOvr>
    <a:masterClrMapping/>
  </p:clrMapOvr>
  <p:timing>
    <p:tnLst>
      <p:par>
        <p:cTn id="1" dur="indefinite" restart="never" nodeType="tmRoot"/>
      </p:par>
    </p:tnLst>
  </p:timing>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848872" cy="1143000"/>
          </a:xfrm>
        </p:spPr>
        <p:txBody>
          <a:bodyPr>
            <a:normAutofit/>
          </a:bodyPr>
          <a:lstStyle/>
          <a:p>
            <a:pPr marL="0"/>
            <a:r>
              <a:rPr lang="en-AU" sz="3400" b="1" dirty="0" smtClean="0">
                <a:solidFill>
                  <a:srgbClr val="FF6600"/>
                </a:solidFill>
                <a:latin typeface="Helvetica" pitchFamily="34" charset="0"/>
              </a:rPr>
              <a:t>Prepare training reports</a:t>
            </a:r>
            <a:endParaRPr lang="en-US" sz="3400" b="1" dirty="0" smtClean="0">
              <a:solidFill>
                <a:srgbClr val="FF6600"/>
              </a:solidFill>
              <a:latin typeface="Helvetica" pitchFamily="34" charset="0"/>
            </a:endParaRPr>
          </a:p>
        </p:txBody>
      </p:sp>
      <p:sp>
        <p:nvSpPr>
          <p:cNvPr id="3" name="Content Placeholder 2"/>
          <p:cNvSpPr>
            <a:spLocks noGrp="1"/>
          </p:cNvSpPr>
          <p:nvPr>
            <p:ph idx="1"/>
          </p:nvPr>
        </p:nvSpPr>
        <p:spPr>
          <a:xfrm>
            <a:off x="611560" y="1556792"/>
            <a:ext cx="7848872" cy="5301208"/>
          </a:xfrm>
        </p:spPr>
        <p:txBody>
          <a:bodyPr>
            <a:noAutofit/>
          </a:bodyPr>
          <a:lstStyle/>
          <a:p>
            <a:pPr>
              <a:spcBef>
                <a:spcPts val="600"/>
              </a:spcBef>
              <a:spcAft>
                <a:spcPts val="600"/>
              </a:spcAft>
              <a:buNone/>
            </a:pPr>
            <a:r>
              <a:rPr lang="en-AU" sz="2200" b="1" dirty="0" smtClean="0">
                <a:latin typeface="Helvetica" pitchFamily="34" charset="0"/>
              </a:rPr>
              <a:t>Contents of a report</a:t>
            </a:r>
            <a:endParaRPr lang="en-AU" sz="2200" dirty="0" smtClean="0">
              <a:latin typeface="Helvetica" pitchFamily="34" charset="0"/>
            </a:endParaRPr>
          </a:p>
          <a:p>
            <a:pPr lvl="0">
              <a:spcBef>
                <a:spcPts val="600"/>
              </a:spcBef>
              <a:spcAft>
                <a:spcPts val="600"/>
              </a:spcAft>
            </a:pPr>
            <a:r>
              <a:rPr lang="en-AU" sz="2200" dirty="0" smtClean="0">
                <a:latin typeface="Helvetica" pitchFamily="34" charset="0"/>
              </a:rPr>
              <a:t>An outline and overview of the training events that were used</a:t>
            </a:r>
          </a:p>
          <a:p>
            <a:pPr lvl="0">
              <a:spcBef>
                <a:spcPts val="600"/>
              </a:spcBef>
              <a:spcAft>
                <a:spcPts val="600"/>
              </a:spcAft>
            </a:pPr>
            <a:r>
              <a:rPr lang="en-AU" sz="2200" dirty="0" smtClean="0">
                <a:latin typeface="Helvetica" pitchFamily="34" charset="0"/>
              </a:rPr>
              <a:t>Identification of the costs involved and benefits that resulted</a:t>
            </a:r>
          </a:p>
          <a:p>
            <a:pPr lvl="0">
              <a:spcBef>
                <a:spcPts val="600"/>
              </a:spcBef>
              <a:spcAft>
                <a:spcPts val="600"/>
              </a:spcAft>
            </a:pPr>
            <a:r>
              <a:rPr lang="en-AU" sz="2200" dirty="0" smtClean="0">
                <a:latin typeface="Helvetica" pitchFamily="34" charset="0"/>
              </a:rPr>
              <a:t>Identification of numbers of staff who engaged with training events</a:t>
            </a:r>
          </a:p>
          <a:p>
            <a:pPr lvl="0">
              <a:spcBef>
                <a:spcPts val="600"/>
              </a:spcBef>
              <a:spcAft>
                <a:spcPts val="600"/>
              </a:spcAft>
            </a:pPr>
            <a:r>
              <a:rPr lang="en-AU" sz="2200" dirty="0" smtClean="0">
                <a:latin typeface="Helvetica" pitchFamily="34" charset="0"/>
              </a:rPr>
              <a:t>An overview of learners’ evaluations of                         participation in training events</a:t>
            </a:r>
          </a:p>
          <a:p>
            <a:pPr lvl="0">
              <a:spcBef>
                <a:spcPts val="600"/>
              </a:spcBef>
              <a:spcAft>
                <a:spcPts val="600"/>
              </a:spcAft>
            </a:pPr>
            <a:r>
              <a:rPr lang="en-AU" sz="2200" dirty="0" smtClean="0">
                <a:latin typeface="Helvetica" pitchFamily="34" charset="0"/>
              </a:rPr>
              <a:t>Comparative cost analysis of providing                              leaner training using alternative means</a:t>
            </a:r>
          </a:p>
          <a:p>
            <a:pPr>
              <a:spcBef>
                <a:spcPts val="600"/>
              </a:spcBef>
              <a:spcAft>
                <a:spcPts val="600"/>
              </a:spcAft>
            </a:pPr>
            <a:r>
              <a:rPr lang="en-AU" sz="2200" dirty="0" smtClean="0">
                <a:latin typeface="Helvetica" pitchFamily="34" charset="0"/>
              </a:rPr>
              <a:t>Description of up-coming training events </a:t>
            </a: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sz="1100" dirty="0" smtClean="0">
                <a:latin typeface="Helvetica" pitchFamily="34" charset="0"/>
              </a:rPr>
              <a:t>Slide </a:t>
            </a:r>
            <a:fld id="{90BDF71C-F485-43AE-8825-5070AF1EA8C9}" type="slidenum">
              <a:rPr lang="en-US" sz="1100" smtClean="0">
                <a:latin typeface="Helvetica" pitchFamily="34" charset="0"/>
              </a:rPr>
              <a:pPr/>
              <a:t>119</a:t>
            </a:fld>
            <a:endParaRPr lang="en-US" sz="1100" dirty="0">
              <a:latin typeface="Helvetica" pitchFamily="34" charset="0"/>
            </a:endParaRPr>
          </a:p>
        </p:txBody>
      </p:sp>
      <p:pic>
        <p:nvPicPr>
          <p:cNvPr id="6" name="Picture 5" descr="1088924_59510934[1].jpg"/>
          <p:cNvPicPr>
            <a:picLocks noChangeAspect="1"/>
          </p:cNvPicPr>
          <p:nvPr/>
        </p:nvPicPr>
        <p:blipFill>
          <a:blip r:embed="rId3" cstate="print"/>
          <a:stretch>
            <a:fillRect/>
          </a:stretch>
        </p:blipFill>
        <p:spPr>
          <a:xfrm>
            <a:off x="6300192" y="4797152"/>
            <a:ext cx="1525920" cy="1525920"/>
          </a:xfrm>
          <a:prstGeom prst="rect">
            <a:avLst/>
          </a:prstGeom>
        </p:spPr>
      </p:pic>
    </p:spTree>
  </p:cSld>
  <p:clrMapOvr>
    <a:masterClrMapping/>
  </p:clrMapOvr>
  <p:timing>
    <p:tnLst>
      <p:par>
        <p:cTn id="1" dur="indefinite" restart="never" nodeType="tmRoot"/>
      </p:par>
    </p:tnLst>
  </p:timing>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848872" cy="1143000"/>
          </a:xfrm>
        </p:spPr>
        <p:txBody>
          <a:bodyPr>
            <a:normAutofit/>
          </a:bodyPr>
          <a:lstStyle/>
          <a:p>
            <a:pPr marL="0"/>
            <a:r>
              <a:rPr lang="en-AU" sz="3400" b="1" dirty="0" smtClean="0">
                <a:solidFill>
                  <a:srgbClr val="FF6600"/>
                </a:solidFill>
                <a:latin typeface="Helvetica" pitchFamily="34" charset="0"/>
              </a:rPr>
              <a:t>Prepare training reports</a:t>
            </a:r>
            <a:endParaRPr lang="en-US" sz="3400" b="1" dirty="0" smtClean="0">
              <a:solidFill>
                <a:srgbClr val="FF6600"/>
              </a:solidFill>
              <a:latin typeface="Helvetica" pitchFamily="34" charset="0"/>
            </a:endParaRPr>
          </a:p>
        </p:txBody>
      </p:sp>
      <p:sp>
        <p:nvSpPr>
          <p:cNvPr id="3" name="Content Placeholder 2"/>
          <p:cNvSpPr>
            <a:spLocks noGrp="1"/>
          </p:cNvSpPr>
          <p:nvPr>
            <p:ph idx="1"/>
          </p:nvPr>
        </p:nvSpPr>
        <p:spPr>
          <a:xfrm>
            <a:off x="611560" y="1556792"/>
            <a:ext cx="7848872" cy="5301208"/>
          </a:xfrm>
        </p:spPr>
        <p:txBody>
          <a:bodyPr>
            <a:noAutofit/>
          </a:bodyPr>
          <a:lstStyle/>
          <a:p>
            <a:pPr>
              <a:spcBef>
                <a:spcPts val="600"/>
              </a:spcBef>
              <a:spcAft>
                <a:spcPts val="1200"/>
              </a:spcAft>
              <a:buNone/>
            </a:pPr>
            <a:r>
              <a:rPr lang="en-AU" sz="2200" b="1" dirty="0" smtClean="0">
                <a:latin typeface="Helvetica" pitchFamily="34" charset="0"/>
              </a:rPr>
              <a:t>Who might receive a report? </a:t>
            </a:r>
            <a:endParaRPr lang="en-AU" sz="2200" dirty="0" smtClean="0">
              <a:latin typeface="Helvetica" pitchFamily="34" charset="0"/>
            </a:endParaRPr>
          </a:p>
          <a:p>
            <a:pPr lvl="0">
              <a:spcBef>
                <a:spcPts val="600"/>
              </a:spcBef>
              <a:spcAft>
                <a:spcPts val="1200"/>
              </a:spcAft>
            </a:pPr>
            <a:r>
              <a:rPr lang="en-AU" sz="2200" dirty="0" smtClean="0">
                <a:latin typeface="Helvetica" pitchFamily="34" charset="0"/>
              </a:rPr>
              <a:t>Participants themselves</a:t>
            </a:r>
          </a:p>
          <a:p>
            <a:pPr lvl="0">
              <a:spcBef>
                <a:spcPts val="600"/>
              </a:spcBef>
              <a:spcAft>
                <a:spcPts val="1200"/>
              </a:spcAft>
            </a:pPr>
            <a:r>
              <a:rPr lang="en-AU" sz="2200" dirty="0" smtClean="0">
                <a:latin typeface="Helvetica" pitchFamily="34" charset="0"/>
              </a:rPr>
              <a:t>Management and or the owners of the </a:t>
            </a:r>
            <a:br>
              <a:rPr lang="en-AU" sz="2200" dirty="0" smtClean="0">
                <a:latin typeface="Helvetica" pitchFamily="34" charset="0"/>
              </a:rPr>
            </a:br>
            <a:r>
              <a:rPr lang="en-AU" sz="2200" dirty="0" smtClean="0">
                <a:latin typeface="Helvetica" pitchFamily="34" charset="0"/>
              </a:rPr>
              <a:t>business </a:t>
            </a:r>
          </a:p>
          <a:p>
            <a:pPr lvl="0">
              <a:spcBef>
                <a:spcPts val="600"/>
              </a:spcBef>
              <a:spcAft>
                <a:spcPts val="1200"/>
              </a:spcAft>
            </a:pPr>
            <a:r>
              <a:rPr lang="en-AU" sz="2200" dirty="0" smtClean="0">
                <a:latin typeface="Helvetica" pitchFamily="34" charset="0"/>
              </a:rPr>
              <a:t>The HR Department </a:t>
            </a:r>
          </a:p>
          <a:p>
            <a:pPr lvl="0">
              <a:spcBef>
                <a:spcPts val="600"/>
              </a:spcBef>
              <a:spcAft>
                <a:spcPts val="1200"/>
              </a:spcAft>
            </a:pPr>
            <a:r>
              <a:rPr lang="en-AU" sz="2200" dirty="0" smtClean="0">
                <a:latin typeface="Helvetica" pitchFamily="34" charset="0"/>
              </a:rPr>
              <a:t>Head Office </a:t>
            </a:r>
          </a:p>
          <a:p>
            <a:pPr>
              <a:spcBef>
                <a:spcPts val="600"/>
              </a:spcBef>
              <a:spcAft>
                <a:spcPts val="1200"/>
              </a:spcAft>
            </a:pPr>
            <a:r>
              <a:rPr lang="en-AU" sz="2200" dirty="0" smtClean="0">
                <a:latin typeface="Helvetica" pitchFamily="34" charset="0"/>
              </a:rPr>
              <a:t>The supervisor in the area where the learner works </a:t>
            </a: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sz="1100" dirty="0" smtClean="0">
                <a:latin typeface="Helvetica" pitchFamily="34" charset="0"/>
              </a:rPr>
              <a:t>Slide </a:t>
            </a:r>
            <a:fld id="{90BDF71C-F485-43AE-8825-5070AF1EA8C9}" type="slidenum">
              <a:rPr lang="en-US" sz="1100" smtClean="0">
                <a:latin typeface="Helvetica" pitchFamily="34" charset="0"/>
              </a:rPr>
              <a:pPr/>
              <a:t>120</a:t>
            </a:fld>
            <a:endParaRPr lang="en-US" sz="1100" dirty="0">
              <a:latin typeface="Helvetica" pitchFamily="34" charset="0"/>
            </a:endParaRPr>
          </a:p>
        </p:txBody>
      </p:sp>
      <p:pic>
        <p:nvPicPr>
          <p:cNvPr id="7" name="Picture 6" descr="MP900402225[1].JPG"/>
          <p:cNvPicPr/>
          <p:nvPr/>
        </p:nvPicPr>
        <p:blipFill>
          <a:blip r:embed="rId3" cstate="print"/>
          <a:stretch>
            <a:fillRect/>
          </a:stretch>
        </p:blipFill>
        <p:spPr>
          <a:xfrm>
            <a:off x="6084168" y="2564904"/>
            <a:ext cx="2152011" cy="1728192"/>
          </a:xfrm>
          <a:prstGeom prst="rect">
            <a:avLst/>
          </a:prstGeom>
        </p:spPr>
      </p:pic>
    </p:spTree>
  </p:cSld>
  <p:clrMapOvr>
    <a:masterClrMapping/>
  </p:clrMapOvr>
  <p:timing>
    <p:tnLst>
      <p:par>
        <p:cTn id="1" dur="indefinite" restart="never" nodeType="tmRoot"/>
      </p:par>
    </p:tnLst>
  </p:timing>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848872" cy="1143000"/>
          </a:xfrm>
        </p:spPr>
        <p:txBody>
          <a:bodyPr>
            <a:normAutofit/>
          </a:bodyPr>
          <a:lstStyle/>
          <a:p>
            <a:pPr marL="0"/>
            <a:r>
              <a:rPr lang="en-AU" sz="3400" b="1" dirty="0" smtClean="0">
                <a:solidFill>
                  <a:srgbClr val="FF6600"/>
                </a:solidFill>
                <a:latin typeface="Helvetica" pitchFamily="34" charset="0"/>
              </a:rPr>
              <a:t>Prepare training reports</a:t>
            </a:r>
            <a:endParaRPr lang="en-US" sz="3400" b="1" dirty="0" smtClean="0">
              <a:solidFill>
                <a:srgbClr val="FF6600"/>
              </a:solidFill>
              <a:latin typeface="Helvetica" pitchFamily="34" charset="0"/>
            </a:endParaRPr>
          </a:p>
        </p:txBody>
      </p:sp>
      <p:sp>
        <p:nvSpPr>
          <p:cNvPr id="3" name="Content Placeholder 2"/>
          <p:cNvSpPr>
            <a:spLocks noGrp="1"/>
          </p:cNvSpPr>
          <p:nvPr>
            <p:ph idx="1"/>
          </p:nvPr>
        </p:nvSpPr>
        <p:spPr>
          <a:xfrm>
            <a:off x="611560" y="1556792"/>
            <a:ext cx="7848872" cy="5301208"/>
          </a:xfrm>
        </p:spPr>
        <p:txBody>
          <a:bodyPr>
            <a:noAutofit/>
          </a:bodyPr>
          <a:lstStyle/>
          <a:p>
            <a:pPr>
              <a:spcBef>
                <a:spcPts val="600"/>
              </a:spcBef>
              <a:spcAft>
                <a:spcPts val="1200"/>
              </a:spcAft>
              <a:buNone/>
            </a:pPr>
            <a:r>
              <a:rPr lang="en-AU" sz="2200" b="1" dirty="0" smtClean="0">
                <a:latin typeface="Helvetica" pitchFamily="34" charset="0"/>
              </a:rPr>
              <a:t>Why are these reports required? </a:t>
            </a:r>
            <a:endParaRPr lang="en-AU" sz="2200" dirty="0" smtClean="0">
              <a:latin typeface="Helvetica" pitchFamily="34" charset="0"/>
            </a:endParaRPr>
          </a:p>
          <a:p>
            <a:pPr>
              <a:spcBef>
                <a:spcPts val="600"/>
              </a:spcBef>
              <a:spcAft>
                <a:spcPts val="1200"/>
              </a:spcAft>
            </a:pPr>
            <a:r>
              <a:rPr lang="en-AU" sz="2200" dirty="0" smtClean="0">
                <a:latin typeface="Helvetica" pitchFamily="34" charset="0"/>
              </a:rPr>
              <a:t>Checking overall skill levels of staff</a:t>
            </a:r>
          </a:p>
          <a:p>
            <a:pPr>
              <a:spcBef>
                <a:spcPts val="600"/>
              </a:spcBef>
              <a:spcAft>
                <a:spcPts val="1200"/>
              </a:spcAft>
            </a:pPr>
            <a:r>
              <a:rPr lang="en-AU" sz="2200" dirty="0" smtClean="0">
                <a:latin typeface="Helvetica" pitchFamily="34" charset="0"/>
              </a:rPr>
              <a:t>Identifying those who appear appropriate for future skill development</a:t>
            </a:r>
          </a:p>
          <a:p>
            <a:pPr>
              <a:spcBef>
                <a:spcPts val="600"/>
              </a:spcBef>
              <a:spcAft>
                <a:spcPts val="1200"/>
              </a:spcAft>
            </a:pPr>
            <a:r>
              <a:rPr lang="en-AU" sz="2200" dirty="0" smtClean="0">
                <a:latin typeface="Helvetica" pitchFamily="34" charset="0"/>
              </a:rPr>
              <a:t>Providing a reference for promoting </a:t>
            </a:r>
            <a:br>
              <a:rPr lang="en-AU" sz="2200" dirty="0" smtClean="0">
                <a:latin typeface="Helvetica" pitchFamily="34" charset="0"/>
              </a:rPr>
            </a:br>
            <a:r>
              <a:rPr lang="en-AU" sz="2200" dirty="0" smtClean="0">
                <a:latin typeface="Helvetica" pitchFamily="34" charset="0"/>
              </a:rPr>
              <a:t>employees</a:t>
            </a:r>
          </a:p>
          <a:p>
            <a:pPr>
              <a:spcBef>
                <a:spcPts val="600"/>
              </a:spcBef>
              <a:spcAft>
                <a:spcPts val="1200"/>
              </a:spcAft>
            </a:pPr>
            <a:r>
              <a:rPr lang="en-AU" sz="2200" dirty="0" smtClean="0">
                <a:latin typeface="Helvetica" pitchFamily="34" charset="0"/>
              </a:rPr>
              <a:t>Amending employee’s staffing record</a:t>
            </a:r>
          </a:p>
          <a:p>
            <a:pPr>
              <a:spcBef>
                <a:spcPts val="600"/>
              </a:spcBef>
              <a:spcAft>
                <a:spcPts val="1200"/>
              </a:spcAft>
            </a:pPr>
            <a:r>
              <a:rPr lang="en-AU" sz="2200" dirty="0" smtClean="0">
                <a:latin typeface="Helvetica" pitchFamily="34" charset="0"/>
              </a:rPr>
              <a:t>Compiling statistical records</a:t>
            </a:r>
          </a:p>
          <a:p>
            <a:endParaRPr lang="en-AU" sz="2400" dirty="0"/>
          </a:p>
        </p:txBody>
      </p:sp>
      <p:sp>
        <p:nvSpPr>
          <p:cNvPr id="4" name="Slide Number Placeholder 3"/>
          <p:cNvSpPr>
            <a:spLocks noGrp="1"/>
          </p:cNvSpPr>
          <p:nvPr>
            <p:ph type="sldNum" sz="quarter" idx="12"/>
          </p:nvPr>
        </p:nvSpPr>
        <p:spPr/>
        <p:txBody>
          <a:bodyPr/>
          <a:lstStyle/>
          <a:p>
            <a:r>
              <a:rPr lang="en-US" dirty="0" smtClean="0"/>
              <a:t> </a:t>
            </a:r>
            <a:r>
              <a:rPr lang="en-US" sz="1100" dirty="0" smtClean="0">
                <a:latin typeface="Helvetica" pitchFamily="34" charset="0"/>
              </a:rPr>
              <a:t>Slide </a:t>
            </a:r>
            <a:fld id="{90BDF71C-F485-43AE-8825-5070AF1EA8C9}" type="slidenum">
              <a:rPr lang="en-US" sz="1100" smtClean="0">
                <a:latin typeface="Helvetica" pitchFamily="34" charset="0"/>
              </a:rPr>
              <a:pPr/>
              <a:t>121</a:t>
            </a:fld>
            <a:endParaRPr lang="en-US" sz="1100" dirty="0">
              <a:latin typeface="Helvetica" pitchFamily="34" charset="0"/>
            </a:endParaRPr>
          </a:p>
        </p:txBody>
      </p:sp>
      <p:pic>
        <p:nvPicPr>
          <p:cNvPr id="6" name="Picture 5" descr="MP900409469[1].JPG"/>
          <p:cNvPicPr/>
          <p:nvPr/>
        </p:nvPicPr>
        <p:blipFill>
          <a:blip r:embed="rId3" cstate="print"/>
          <a:stretch>
            <a:fillRect/>
          </a:stretch>
        </p:blipFill>
        <p:spPr>
          <a:xfrm>
            <a:off x="6156176" y="3416194"/>
            <a:ext cx="2133462" cy="1452966"/>
          </a:xfrm>
          <a:prstGeom prst="rect">
            <a:avLst/>
          </a:prstGeom>
        </p:spPr>
      </p:pic>
    </p:spTree>
  </p:cSld>
  <p:clrMapOvr>
    <a:masterClrMapping/>
  </p:clrMapOvr>
  <p:timing>
    <p:tnLst>
      <p:par>
        <p:cTn id="1" dur="indefinite" restart="never" nodeType="tmRoot"/>
      </p:par>
    </p:tnLst>
  </p:timing>
</p:sld>
</file>

<file path=ppt/theme/theme1.xml><?xml version="1.0" encoding="utf-8"?>
<a:theme xmlns:a="http://schemas.openxmlformats.org/drawingml/2006/main" name="PPT_FO_template_250612">
  <a:themeElements>
    <a:clrScheme name="Metro">
      <a:dk1>
        <a:sysClr val="windowText" lastClr="000000"/>
      </a:dk1>
      <a:lt1>
        <a:sysClr val="window" lastClr="FFFFFF"/>
      </a:lt1>
      <a:dk2>
        <a:srgbClr val="4E5B6F"/>
      </a:dk2>
      <a:lt2>
        <a:srgbClr val="D6ECFF"/>
      </a:lt2>
      <a:accent1>
        <a:srgbClr val="7FD13B"/>
      </a:accent1>
      <a:accent2>
        <a:srgbClr val="EA157A"/>
      </a:accent2>
      <a:accent3>
        <a:srgbClr val="FEB80A"/>
      </a:accent3>
      <a:accent4>
        <a:srgbClr val="00ADDC"/>
      </a:accent4>
      <a:accent5>
        <a:srgbClr val="738AC8"/>
      </a:accent5>
      <a:accent6>
        <a:srgbClr val="1AB39F"/>
      </a:accent6>
      <a:hlink>
        <a:srgbClr val="EB8803"/>
      </a:hlink>
      <a:folHlink>
        <a:srgbClr val="5F7791"/>
      </a:folHlink>
    </a:clrScheme>
    <a:fontScheme name="Technic">
      <a:majorFont>
        <a:latin typeface="Franklin Gothic Book"/>
        <a:ea typeface=""/>
        <a:cs typeface=""/>
        <a:font script="Jpan" typeface="ＭＳ Ｐゴシック"/>
        <a:font script="Hang" typeface="HY견고딕"/>
        <a:font script="Hans" typeface="宋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Arial"/>
        <a:ea typeface=""/>
        <a:cs typeface=""/>
        <a:font script="Jpan" typeface="HGｺﾞｼｯｸM"/>
        <a:font script="Hang" typeface="HY중고딕"/>
        <a:font script="Hans" typeface="黑体"/>
        <a:font script="Hant" typeface="微軟正黑體"/>
        <a:font script="Arab" typeface="Tahoma"/>
        <a:font script="Hebr" typeface="Levenim MT"/>
        <a:font script="Thai" typeface="Lily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Technic">
      <a:fillStyleLst>
        <a:solidFill>
          <a:schemeClr val="phClr"/>
        </a:solidFill>
        <a:gradFill rotWithShape="1">
          <a:gsLst>
            <a:gs pos="0">
              <a:schemeClr val="phClr">
                <a:tint val="1000"/>
              </a:schemeClr>
            </a:gs>
            <a:gs pos="68000">
              <a:schemeClr val="phClr">
                <a:tint val="77000"/>
              </a:schemeClr>
            </a:gs>
            <a:gs pos="81000">
              <a:schemeClr val="phClr">
                <a:tint val="79000"/>
              </a:schemeClr>
            </a:gs>
            <a:gs pos="86000">
              <a:schemeClr val="phClr">
                <a:tint val="73000"/>
              </a:schemeClr>
            </a:gs>
            <a:gs pos="100000">
              <a:schemeClr val="phClr">
                <a:tint val="35000"/>
              </a:schemeClr>
            </a:gs>
          </a:gsLst>
          <a:lin ang="5400000" scaled="1"/>
        </a:gradFill>
        <a:gradFill rotWithShape="1">
          <a:gsLst>
            <a:gs pos="0">
              <a:schemeClr val="phClr">
                <a:tint val="73000"/>
                <a:satMod val="150000"/>
              </a:schemeClr>
            </a:gs>
            <a:gs pos="25000">
              <a:schemeClr val="phClr">
                <a:tint val="96000"/>
                <a:shade val="80000"/>
                <a:satMod val="105000"/>
              </a:schemeClr>
            </a:gs>
            <a:gs pos="38000">
              <a:schemeClr val="phClr">
                <a:tint val="96000"/>
                <a:shade val="59000"/>
                <a:satMod val="120000"/>
              </a:schemeClr>
            </a:gs>
            <a:gs pos="55000">
              <a:schemeClr val="phClr">
                <a:shade val="57000"/>
                <a:satMod val="120000"/>
              </a:schemeClr>
            </a:gs>
            <a:gs pos="80000">
              <a:schemeClr val="phClr">
                <a:shade val="56000"/>
                <a:satMod val="145000"/>
              </a:schemeClr>
            </a:gs>
            <a:gs pos="88000">
              <a:schemeClr val="phClr">
                <a:shade val="63000"/>
                <a:satMod val="160000"/>
              </a:schemeClr>
            </a:gs>
            <a:gs pos="100000">
              <a:schemeClr val="phClr">
                <a:tint val="99555"/>
                <a:satMod val="155000"/>
              </a:schemeClr>
            </a:gs>
          </a:gsLst>
          <a:lin ang="5400000" scaled="1"/>
        </a:gradFill>
      </a:fillStyleLst>
      <a:lnStyleLst>
        <a:ln w="9525" cap="flat" cmpd="sng" algn="ctr">
          <a:solidFill>
            <a:schemeClr val="phClr">
              <a:shade val="60000"/>
              <a:satMod val="300000"/>
            </a:schemeClr>
          </a:solidFill>
          <a:prstDash val="solid"/>
        </a:ln>
        <a:ln w="19050" cap="flat" cmpd="sng" algn="ctr">
          <a:solidFill>
            <a:schemeClr val="phClr"/>
          </a:solidFill>
          <a:prstDash val="solid"/>
        </a:ln>
        <a:ln w="19050" cap="flat" cmpd="sng" algn="ctr">
          <a:solidFill>
            <a:schemeClr val="phClr"/>
          </a:solidFill>
          <a:prstDash val="solid"/>
        </a:ln>
      </a:lnStyleLst>
      <a:effectStyleLst>
        <a:effectStyle>
          <a:effectLst>
            <a:glow rad="63500">
              <a:schemeClr val="phClr">
                <a:tint val="30000"/>
                <a:shade val="95000"/>
                <a:satMod val="300000"/>
                <a:alpha val="50000"/>
              </a:schemeClr>
            </a:glow>
          </a:effectLst>
        </a:effectStyle>
        <a:effectStyle>
          <a:effectLst>
            <a:glow rad="70000">
              <a:schemeClr val="phClr">
                <a:tint val="30000"/>
                <a:shade val="95000"/>
                <a:satMod val="300000"/>
                <a:alpha val="50000"/>
              </a:schemeClr>
            </a:glow>
          </a:effectLst>
        </a:effectStyle>
        <a:effectStyle>
          <a:effectLst>
            <a:glow rad="76200">
              <a:schemeClr val="phClr">
                <a:tint val="30000"/>
                <a:shade val="95000"/>
                <a:satMod val="300000"/>
                <a:alpha val="50000"/>
              </a:schemeClr>
            </a:glow>
          </a:effectLst>
          <a:scene3d>
            <a:camera prst="orthographicFront" fov="0">
              <a:rot lat="0" lon="0" rev="0"/>
            </a:camera>
            <a:lightRig rig="harsh" dir="t">
              <a:rot lat="6000000" lon="6000000" rev="0"/>
            </a:lightRig>
          </a:scene3d>
          <a:sp3d contourW="10000" prstMaterial="metal">
            <a:bevelT w="20000" h="9000" prst="softRound"/>
            <a:contourClr>
              <a:schemeClr val="phClr">
                <a:shade val="30000"/>
                <a:satMod val="200000"/>
              </a:schemeClr>
            </a:contourClr>
          </a:sp3d>
        </a:effectStyle>
      </a:effectStyleLst>
      <a:bgFillStyleLst>
        <a:solidFill>
          <a:schemeClr val="phClr"/>
        </a:solidFill>
        <a:gradFill rotWithShape="1">
          <a:gsLst>
            <a:gs pos="0">
              <a:schemeClr val="phClr">
                <a:shade val="40000"/>
                <a:satMod val="150000"/>
              </a:schemeClr>
            </a:gs>
            <a:gs pos="30000">
              <a:schemeClr val="phClr">
                <a:shade val="60000"/>
                <a:satMod val="150000"/>
              </a:schemeClr>
            </a:gs>
            <a:gs pos="100000">
              <a:schemeClr val="phClr">
                <a:tint val="83000"/>
                <a:satMod val="200000"/>
              </a:schemeClr>
            </a:gs>
          </a:gsLst>
          <a:lin ang="13000000" scaled="0"/>
        </a:gradFill>
        <a:gradFill rotWithShape="1">
          <a:gsLst>
            <a:gs pos="0">
              <a:schemeClr val="phClr">
                <a:tint val="78000"/>
                <a:satMod val="220000"/>
              </a:schemeClr>
            </a:gs>
            <a:gs pos="100000">
              <a:schemeClr val="phClr">
                <a:shade val="35000"/>
                <a:satMod val="155000"/>
              </a:schemeClr>
            </a:gs>
          </a:gsLst>
          <a:path path="circle">
            <a:fillToRect l="60000" t="50000" r="4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PPT_FO_template_250612</Template>
  <TotalTime>3909</TotalTime>
  <Words>7109</Words>
  <Application>Microsoft Office PowerPoint</Application>
  <PresentationFormat>On-screen Show (4:3)</PresentationFormat>
  <Paragraphs>1701</Paragraphs>
  <Slides>121</Slides>
  <Notes>121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121</vt:i4>
      </vt:variant>
    </vt:vector>
  </HeadingPairs>
  <TitlesOfParts>
    <vt:vector size="125" baseType="lpstr">
      <vt:lpstr>Arial</vt:lpstr>
      <vt:lpstr>Helvetica</vt:lpstr>
      <vt:lpstr>Wingdings 2</vt:lpstr>
      <vt:lpstr>PPT_FO_template_250612</vt:lpstr>
      <vt:lpstr>PLAN AND IMPLEMENT A SERIES OF TRAINING EVENTS</vt:lpstr>
      <vt:lpstr>Subject Elements</vt:lpstr>
      <vt:lpstr>Assessment</vt:lpstr>
      <vt:lpstr>PowerPoint Presentation</vt:lpstr>
      <vt:lpstr>Plan a series of training events</vt:lpstr>
      <vt:lpstr>Plan a series of training events</vt:lpstr>
      <vt:lpstr>Importance of training</vt:lpstr>
      <vt:lpstr>Importance of training</vt:lpstr>
      <vt:lpstr>Identify training needs</vt:lpstr>
      <vt:lpstr>Identify training needs</vt:lpstr>
      <vt:lpstr>Identify training needs</vt:lpstr>
      <vt:lpstr>Identify training needs</vt:lpstr>
      <vt:lpstr>Verify training needs</vt:lpstr>
      <vt:lpstr>Verify training needs</vt:lpstr>
      <vt:lpstr>Verify training needs</vt:lpstr>
      <vt:lpstr>Verify training needs</vt:lpstr>
      <vt:lpstr>Verify training needs</vt:lpstr>
      <vt:lpstr>Verify training needs</vt:lpstr>
      <vt:lpstr>Prioritise training needs</vt:lpstr>
      <vt:lpstr>Prioritise training needs</vt:lpstr>
      <vt:lpstr>Prioritise training needs</vt:lpstr>
      <vt:lpstr>Prioritise training needs</vt:lpstr>
      <vt:lpstr>Prioritise training needs</vt:lpstr>
      <vt:lpstr>Prioritise training needs</vt:lpstr>
      <vt:lpstr>Prioritise training needs</vt:lpstr>
      <vt:lpstr>Prioritise training needs</vt:lpstr>
      <vt:lpstr>Prioritise training needs</vt:lpstr>
      <vt:lpstr>Determine resources to support training</vt:lpstr>
      <vt:lpstr>Determine resources to support training</vt:lpstr>
      <vt:lpstr>Determine resources to support training</vt:lpstr>
      <vt:lpstr>Human Resources </vt:lpstr>
      <vt:lpstr>Human Resources </vt:lpstr>
      <vt:lpstr>Human Resources </vt:lpstr>
      <vt:lpstr>Financial resources</vt:lpstr>
      <vt:lpstr>Physical resources</vt:lpstr>
      <vt:lpstr>Physical resources</vt:lpstr>
      <vt:lpstr>Physical resources</vt:lpstr>
      <vt:lpstr>Physical resources</vt:lpstr>
      <vt:lpstr>Physical resources</vt:lpstr>
      <vt:lpstr>Sources of resources and materials</vt:lpstr>
      <vt:lpstr>Using existing resources and materials</vt:lpstr>
      <vt:lpstr>Using existing resources and materials</vt:lpstr>
      <vt:lpstr>Using existing resources and materials</vt:lpstr>
      <vt:lpstr>Using suitable resources and materials</vt:lpstr>
      <vt:lpstr>Externally training events</vt:lpstr>
      <vt:lpstr>Internal training events</vt:lpstr>
      <vt:lpstr>Internal training events</vt:lpstr>
      <vt:lpstr>Internal training events</vt:lpstr>
      <vt:lpstr>Internal training events</vt:lpstr>
      <vt:lpstr>Determine learner availability</vt:lpstr>
      <vt:lpstr>Determine learner availability</vt:lpstr>
      <vt:lpstr>Involve stakeholders in planning activities</vt:lpstr>
      <vt:lpstr>Involve participants</vt:lpstr>
      <vt:lpstr>Understand the learner</vt:lpstr>
      <vt:lpstr>Understand the learner</vt:lpstr>
      <vt:lpstr>Understand the learner</vt:lpstr>
      <vt:lpstr>Understand the learner</vt:lpstr>
      <vt:lpstr>Identify training barriers</vt:lpstr>
      <vt:lpstr>Describe available benefits and support</vt:lpstr>
      <vt:lpstr>Develop a schedule for implementing identified training events</vt:lpstr>
      <vt:lpstr>Develop a schedule for implementing identified training events</vt:lpstr>
      <vt:lpstr>Develop a schedule for implementing identified training events</vt:lpstr>
      <vt:lpstr>Develop a schedule for implementing identified training events</vt:lpstr>
      <vt:lpstr>Develop an operational plan to implement training</vt:lpstr>
      <vt:lpstr>Develop an operational plan to implement training</vt:lpstr>
      <vt:lpstr>Develop an operational plan to implement training</vt:lpstr>
      <vt:lpstr>Share the implementation plan for training events with stakeholders</vt:lpstr>
      <vt:lpstr>Share the implementation plan for training events with stakeholders</vt:lpstr>
      <vt:lpstr>Share the implementation plan for training events with stakeholders</vt:lpstr>
      <vt:lpstr>Encourage identified learners to engage with established training events</vt:lpstr>
      <vt:lpstr>Encourage identified learners to engage with established training events</vt:lpstr>
      <vt:lpstr>Encourage identified learners to engage with established training events</vt:lpstr>
      <vt:lpstr>Encourage identified learners to engage with established training events</vt:lpstr>
      <vt:lpstr>Encourage identified learners to engage with established training events</vt:lpstr>
      <vt:lpstr>PowerPoint Presentation</vt:lpstr>
      <vt:lpstr>Implement a series of training events</vt:lpstr>
      <vt:lpstr>Implement a series of training events</vt:lpstr>
      <vt:lpstr>Provide identified support for learners to attend identified training events</vt:lpstr>
      <vt:lpstr>Learners are notified of training details</vt:lpstr>
      <vt:lpstr>Learners are notified of training details</vt:lpstr>
      <vt:lpstr>Learners are notified of training details</vt:lpstr>
      <vt:lpstr>Learners are notified of training details</vt:lpstr>
      <vt:lpstr>Notify learners</vt:lpstr>
      <vt:lpstr>Notify learners</vt:lpstr>
      <vt:lpstr>Support Information</vt:lpstr>
      <vt:lpstr>Support Information</vt:lpstr>
      <vt:lpstr>Support Information</vt:lpstr>
      <vt:lpstr>Provide resources to supervisors</vt:lpstr>
      <vt:lpstr>Provide resources to supervisors</vt:lpstr>
      <vt:lpstr>Advise learners of attendance requirements</vt:lpstr>
      <vt:lpstr>Advise learners of attendance requirements</vt:lpstr>
      <vt:lpstr>Advise learners of attendance requirements</vt:lpstr>
      <vt:lpstr>Keeping records of attendance</vt:lpstr>
      <vt:lpstr>Capture feedback from learners</vt:lpstr>
      <vt:lpstr>Capture feedback from learners</vt:lpstr>
      <vt:lpstr>Capture feedback from learners</vt:lpstr>
      <vt:lpstr>Capture feedback from learners</vt:lpstr>
      <vt:lpstr>Capture feedback from learners</vt:lpstr>
      <vt:lpstr>Seek feedback from learners</vt:lpstr>
      <vt:lpstr>Seek feedback from learners</vt:lpstr>
      <vt:lpstr>Feedback with others </vt:lpstr>
      <vt:lpstr>Modify training schedule based on feedback</vt:lpstr>
      <vt:lpstr>Modify training schedule based on feedback</vt:lpstr>
      <vt:lpstr>Maintain contact with organisers and trainers</vt:lpstr>
      <vt:lpstr>Maintain contact with organisers and trainers</vt:lpstr>
      <vt:lpstr>Maintain contact with organisers and trainers</vt:lpstr>
      <vt:lpstr>PowerPoint Presentation</vt:lpstr>
      <vt:lpstr>Review planning and implementation of a series of training events</vt:lpstr>
      <vt:lpstr>Evaluate impact of training</vt:lpstr>
      <vt:lpstr>Assess value for money of training</vt:lpstr>
      <vt:lpstr>Assess value for money of training</vt:lpstr>
      <vt:lpstr>Assess value for money of training</vt:lpstr>
      <vt:lpstr>Assess value for money of training</vt:lpstr>
      <vt:lpstr>Assess value for money of training</vt:lpstr>
      <vt:lpstr>Identify cost effective ways to train</vt:lpstr>
      <vt:lpstr>Identify cost effective ways to train</vt:lpstr>
      <vt:lpstr>Identify cost effective ways to train</vt:lpstr>
      <vt:lpstr>Prepare training reports</vt:lpstr>
      <vt:lpstr>Prepare training reports</vt:lpstr>
      <vt:lpstr>Prepare training reports</vt:lpstr>
      <vt:lpstr>Prepare training reports</vt:lpstr>
    </vt:vector>
  </TitlesOfParts>
  <Company>William Angliss Institute</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PLAN AND IMPLEMENT A SERIES OF TRAINING EVENTS</dc:title>
  <dc:creator>Administrator</dc:creator>
  <cp:lastModifiedBy>Ma. Christina Aquino</cp:lastModifiedBy>
  <cp:revision>138</cp:revision>
  <dcterms:created xsi:type="dcterms:W3CDTF">2013-02-04T01:06:16Z</dcterms:created>
  <dcterms:modified xsi:type="dcterms:W3CDTF">2015-03-31T02:17:19Z</dcterms:modified>
</cp:coreProperties>
</file>