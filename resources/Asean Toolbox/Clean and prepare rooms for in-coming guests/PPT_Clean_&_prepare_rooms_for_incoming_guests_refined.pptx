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0"/>
  </p:notesMasterIdLst>
  <p:handoutMasterIdLst>
    <p:handoutMasterId r:id="rId191"/>
  </p:handoutMasterIdLst>
  <p:sldIdLst>
    <p:sldId id="256" r:id="rId2"/>
    <p:sldId id="257" r:id="rId3"/>
    <p:sldId id="296" r:id="rId4"/>
    <p:sldId id="366" r:id="rId5"/>
    <p:sldId id="297" r:id="rId6"/>
    <p:sldId id="437" r:id="rId7"/>
    <p:sldId id="300" r:id="rId8"/>
    <p:sldId id="438" r:id="rId9"/>
    <p:sldId id="439" r:id="rId10"/>
    <p:sldId id="440" r:id="rId11"/>
    <p:sldId id="441" r:id="rId12"/>
    <p:sldId id="442" r:id="rId13"/>
    <p:sldId id="443" r:id="rId14"/>
    <p:sldId id="444" r:id="rId15"/>
    <p:sldId id="445" r:id="rId16"/>
    <p:sldId id="446" r:id="rId17"/>
    <p:sldId id="447" r:id="rId18"/>
    <p:sldId id="448" r:id="rId19"/>
    <p:sldId id="449" r:id="rId20"/>
    <p:sldId id="450" r:id="rId21"/>
    <p:sldId id="451" r:id="rId22"/>
    <p:sldId id="452" r:id="rId23"/>
    <p:sldId id="453" r:id="rId24"/>
    <p:sldId id="454" r:id="rId25"/>
    <p:sldId id="455" r:id="rId26"/>
    <p:sldId id="456" r:id="rId27"/>
    <p:sldId id="457" r:id="rId28"/>
    <p:sldId id="458" r:id="rId29"/>
    <p:sldId id="459" r:id="rId30"/>
    <p:sldId id="460" r:id="rId31"/>
    <p:sldId id="461" r:id="rId32"/>
    <p:sldId id="620" r:id="rId33"/>
    <p:sldId id="464" r:id="rId34"/>
    <p:sldId id="463" r:id="rId35"/>
    <p:sldId id="465" r:id="rId36"/>
    <p:sldId id="466" r:id="rId37"/>
    <p:sldId id="467" r:id="rId38"/>
    <p:sldId id="468" r:id="rId39"/>
    <p:sldId id="469" r:id="rId40"/>
    <p:sldId id="470" r:id="rId41"/>
    <p:sldId id="471" r:id="rId42"/>
    <p:sldId id="472" r:id="rId43"/>
    <p:sldId id="473" r:id="rId44"/>
    <p:sldId id="474" r:id="rId45"/>
    <p:sldId id="475" r:id="rId46"/>
    <p:sldId id="476" r:id="rId47"/>
    <p:sldId id="477" r:id="rId48"/>
    <p:sldId id="478" r:id="rId49"/>
    <p:sldId id="479" r:id="rId50"/>
    <p:sldId id="480" r:id="rId51"/>
    <p:sldId id="481" r:id="rId52"/>
    <p:sldId id="482" r:id="rId53"/>
    <p:sldId id="483" r:id="rId54"/>
    <p:sldId id="484" r:id="rId55"/>
    <p:sldId id="485" r:id="rId56"/>
    <p:sldId id="486" r:id="rId57"/>
    <p:sldId id="487" r:id="rId58"/>
    <p:sldId id="489" r:id="rId59"/>
    <p:sldId id="488" r:id="rId60"/>
    <p:sldId id="491" r:id="rId61"/>
    <p:sldId id="490" r:id="rId62"/>
    <p:sldId id="492" r:id="rId63"/>
    <p:sldId id="493" r:id="rId64"/>
    <p:sldId id="494" r:id="rId65"/>
    <p:sldId id="495" r:id="rId66"/>
    <p:sldId id="496" r:id="rId67"/>
    <p:sldId id="497" r:id="rId68"/>
    <p:sldId id="498" r:id="rId69"/>
    <p:sldId id="500" r:id="rId70"/>
    <p:sldId id="501" r:id="rId71"/>
    <p:sldId id="502" r:id="rId72"/>
    <p:sldId id="499" r:id="rId73"/>
    <p:sldId id="503" r:id="rId74"/>
    <p:sldId id="504" r:id="rId75"/>
    <p:sldId id="505" r:id="rId76"/>
    <p:sldId id="506" r:id="rId77"/>
    <p:sldId id="507" r:id="rId78"/>
    <p:sldId id="508" r:id="rId79"/>
    <p:sldId id="509" r:id="rId80"/>
    <p:sldId id="510" r:id="rId81"/>
    <p:sldId id="511" r:id="rId82"/>
    <p:sldId id="512" r:id="rId83"/>
    <p:sldId id="513" r:id="rId84"/>
    <p:sldId id="514" r:id="rId85"/>
    <p:sldId id="515" r:id="rId86"/>
    <p:sldId id="516" r:id="rId87"/>
    <p:sldId id="517" r:id="rId88"/>
    <p:sldId id="518" r:id="rId89"/>
    <p:sldId id="519" r:id="rId90"/>
    <p:sldId id="520" r:id="rId91"/>
    <p:sldId id="521" r:id="rId92"/>
    <p:sldId id="522" r:id="rId93"/>
    <p:sldId id="523" r:id="rId94"/>
    <p:sldId id="524" r:id="rId95"/>
    <p:sldId id="525" r:id="rId96"/>
    <p:sldId id="526" r:id="rId97"/>
    <p:sldId id="527" r:id="rId98"/>
    <p:sldId id="528" r:id="rId99"/>
    <p:sldId id="529" r:id="rId100"/>
    <p:sldId id="530" r:id="rId101"/>
    <p:sldId id="532" r:id="rId102"/>
    <p:sldId id="531" r:id="rId103"/>
    <p:sldId id="533" r:id="rId104"/>
    <p:sldId id="534" r:id="rId105"/>
    <p:sldId id="535" r:id="rId106"/>
    <p:sldId id="536" r:id="rId107"/>
    <p:sldId id="537" r:id="rId108"/>
    <p:sldId id="538" r:id="rId109"/>
    <p:sldId id="539" r:id="rId110"/>
    <p:sldId id="540" r:id="rId111"/>
    <p:sldId id="541" r:id="rId112"/>
    <p:sldId id="542" r:id="rId113"/>
    <p:sldId id="543" r:id="rId114"/>
    <p:sldId id="544" r:id="rId115"/>
    <p:sldId id="545" r:id="rId116"/>
    <p:sldId id="546" r:id="rId117"/>
    <p:sldId id="547" r:id="rId118"/>
    <p:sldId id="548" r:id="rId119"/>
    <p:sldId id="549" r:id="rId120"/>
    <p:sldId id="550" r:id="rId121"/>
    <p:sldId id="551" r:id="rId122"/>
    <p:sldId id="552" r:id="rId123"/>
    <p:sldId id="553" r:id="rId124"/>
    <p:sldId id="554" r:id="rId125"/>
    <p:sldId id="555" r:id="rId126"/>
    <p:sldId id="556" r:id="rId127"/>
    <p:sldId id="557" r:id="rId128"/>
    <p:sldId id="558" r:id="rId129"/>
    <p:sldId id="559" r:id="rId130"/>
    <p:sldId id="560" r:id="rId131"/>
    <p:sldId id="561" r:id="rId132"/>
    <p:sldId id="562" r:id="rId133"/>
    <p:sldId id="563" r:id="rId134"/>
    <p:sldId id="564" r:id="rId135"/>
    <p:sldId id="565" r:id="rId136"/>
    <p:sldId id="566" r:id="rId137"/>
    <p:sldId id="567" r:id="rId138"/>
    <p:sldId id="569" r:id="rId139"/>
    <p:sldId id="570" r:id="rId140"/>
    <p:sldId id="568" r:id="rId141"/>
    <p:sldId id="571" r:id="rId142"/>
    <p:sldId id="572" r:id="rId143"/>
    <p:sldId id="573" r:id="rId144"/>
    <p:sldId id="574" r:id="rId145"/>
    <p:sldId id="575" r:id="rId146"/>
    <p:sldId id="577" r:id="rId147"/>
    <p:sldId id="578" r:id="rId148"/>
    <p:sldId id="579" r:id="rId149"/>
    <p:sldId id="580" r:id="rId150"/>
    <p:sldId id="581" r:id="rId151"/>
    <p:sldId id="582" r:id="rId152"/>
    <p:sldId id="583" r:id="rId153"/>
    <p:sldId id="584" r:id="rId154"/>
    <p:sldId id="585" r:id="rId155"/>
    <p:sldId id="586" r:id="rId156"/>
    <p:sldId id="587" r:id="rId157"/>
    <p:sldId id="588" r:id="rId158"/>
    <p:sldId id="589" r:id="rId159"/>
    <p:sldId id="590" r:id="rId160"/>
    <p:sldId id="591" r:id="rId161"/>
    <p:sldId id="592" r:id="rId162"/>
    <p:sldId id="593" r:id="rId163"/>
    <p:sldId id="594" r:id="rId164"/>
    <p:sldId id="595" r:id="rId165"/>
    <p:sldId id="596" r:id="rId166"/>
    <p:sldId id="597" r:id="rId167"/>
    <p:sldId id="598" r:id="rId168"/>
    <p:sldId id="599" r:id="rId169"/>
    <p:sldId id="600" r:id="rId170"/>
    <p:sldId id="601" r:id="rId171"/>
    <p:sldId id="602" r:id="rId172"/>
    <p:sldId id="603" r:id="rId173"/>
    <p:sldId id="604" r:id="rId174"/>
    <p:sldId id="606" r:id="rId175"/>
    <p:sldId id="605" r:id="rId176"/>
    <p:sldId id="607" r:id="rId177"/>
    <p:sldId id="608" r:id="rId178"/>
    <p:sldId id="609" r:id="rId179"/>
    <p:sldId id="610" r:id="rId180"/>
    <p:sldId id="611" r:id="rId181"/>
    <p:sldId id="612" r:id="rId182"/>
    <p:sldId id="613" r:id="rId183"/>
    <p:sldId id="614" r:id="rId184"/>
    <p:sldId id="615" r:id="rId185"/>
    <p:sldId id="616" r:id="rId186"/>
    <p:sldId id="617" r:id="rId187"/>
    <p:sldId id="618" r:id="rId188"/>
    <p:sldId id="619" r:id="rId189"/>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31" autoAdjust="0"/>
    <p:restoredTop sz="73369" autoAdjust="0"/>
  </p:normalViewPr>
  <p:slideViewPr>
    <p:cSldViewPr>
      <p:cViewPr varScale="1">
        <p:scale>
          <a:sx n="68" d="100"/>
          <a:sy n="68" d="100"/>
        </p:scale>
        <p:origin x="202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93"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ableStyles" Target="tableStyles.xml"/><Relationship Id="rId190"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3/12/2015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2920872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3/12/2015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626202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500807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seven Elements, as listed on this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882912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706223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does a room attendant do?</a:t>
            </a:r>
          </a:p>
          <a:p>
            <a:pPr>
              <a:buFont typeface="Arial" pitchFamily="34" charset="0"/>
              <a:buChar char="•"/>
            </a:pPr>
            <a:r>
              <a:rPr lang="en-AU" sz="1200" kern="1200" baseline="0" dirty="0" smtClean="0">
                <a:solidFill>
                  <a:schemeClr val="tx1"/>
                </a:solidFill>
                <a:ea typeface="+mn-ea"/>
                <a:cs typeface="+mn-cs"/>
              </a:rPr>
              <a:t>Why is the role of a room attendant important in a hotel?</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50684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274344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652142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there more room attendants employed than in other positions within a hotel?</a:t>
            </a: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542056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Char char="•"/>
            </a:pPr>
            <a:r>
              <a:rPr lang="en-AU" sz="1200" dirty="0" smtClean="0">
                <a:latin typeface="Helvetica" pitchFamily="34" charset="0"/>
              </a:rPr>
              <a:t>How can you make a room appealing?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121571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How can a room attendant:</a:t>
            </a:r>
          </a:p>
          <a:p>
            <a:pPr marL="0">
              <a:buFont typeface="Arial" pitchFamily="34" charset="0"/>
              <a:buChar char="•"/>
            </a:pPr>
            <a:r>
              <a:rPr lang="en-AU" sz="1200" dirty="0" smtClean="0">
                <a:latin typeface="Helvetica" pitchFamily="34" charset="0"/>
              </a:rPr>
              <a:t>Be friendly?</a:t>
            </a:r>
          </a:p>
          <a:p>
            <a:pPr marL="0">
              <a:buFont typeface="Arial" pitchFamily="34" charset="0"/>
              <a:buChar char="•"/>
            </a:pPr>
            <a:r>
              <a:rPr lang="en-AU" sz="1200" dirty="0" smtClean="0">
                <a:latin typeface="Helvetica" pitchFamily="34" charset="0"/>
              </a:rPr>
              <a:t>Be</a:t>
            </a:r>
            <a:r>
              <a:rPr lang="en-AU" sz="1200" baseline="0" dirty="0" smtClean="0">
                <a:latin typeface="Helvetica" pitchFamily="34" charset="0"/>
              </a:rPr>
              <a:t> informative – what information do they need to give the guest about the room?</a:t>
            </a:r>
          </a:p>
          <a:p>
            <a:pPr marL="0">
              <a:buFont typeface="Arial" pitchFamily="34" charset="0"/>
              <a:buChar char="•"/>
            </a:pPr>
            <a:r>
              <a:rPr lang="en-AU" sz="1200" baseline="0" dirty="0" smtClean="0">
                <a:latin typeface="Helvetica" pitchFamily="34" charset="0"/>
              </a:rPr>
              <a:t>Be discreet – what does this mean and how do they do it?</a:t>
            </a:r>
          </a:p>
          <a:p>
            <a:pPr marL="0">
              <a:buFont typeface="Arial" pitchFamily="34" charset="0"/>
              <a:buChar char="•"/>
            </a:pPr>
            <a:r>
              <a:rPr lang="en-AU" sz="1200" baseline="0" dirty="0" smtClean="0">
                <a:latin typeface="Helvetica" pitchFamily="34" charset="0"/>
              </a:rPr>
              <a:t>What are common requests?</a:t>
            </a:r>
          </a:p>
          <a:p>
            <a:pPr marL="0">
              <a:buFont typeface="Arial" pitchFamily="34" charset="0"/>
              <a:buChar char="•"/>
            </a:pPr>
            <a:r>
              <a:rPr lang="en-AU" sz="1200" baseline="0" dirty="0" smtClean="0">
                <a:latin typeface="Helvetica" pitchFamily="34" charset="0"/>
              </a:rPr>
              <a:t>What are common problems?</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711232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How can a room attendant:</a:t>
            </a:r>
          </a:p>
          <a:p>
            <a:pPr marL="0">
              <a:buFont typeface="Arial" pitchFamily="34" charset="0"/>
              <a:buChar char="•"/>
            </a:pPr>
            <a:r>
              <a:rPr lang="en-AU" sz="1200" dirty="0" smtClean="0">
                <a:latin typeface="Helvetica" pitchFamily="34" charset="0"/>
              </a:rPr>
              <a:t>Make a room clean?</a:t>
            </a:r>
          </a:p>
          <a:p>
            <a:pPr marL="0">
              <a:buFont typeface="Arial" pitchFamily="34" charset="0"/>
              <a:buChar char="•"/>
            </a:pPr>
            <a:r>
              <a:rPr lang="en-AU" sz="1200" dirty="0" smtClean="0">
                <a:latin typeface="Helvetica" pitchFamily="34" charset="0"/>
              </a:rPr>
              <a:t>Improve the appearance of a room?</a:t>
            </a:r>
            <a:endParaRPr lang="en-AU" sz="1200" baseline="0" dirty="0" smtClean="0">
              <a:latin typeface="Helvetica" pitchFamily="34" charset="0"/>
            </a:endParaRPr>
          </a:p>
          <a:p>
            <a:pPr marL="0">
              <a:buFont typeface="Arial" pitchFamily="34" charset="0"/>
              <a:buChar char="•"/>
            </a:pPr>
            <a:r>
              <a:rPr lang="en-AU" sz="1200" baseline="0" dirty="0" smtClean="0">
                <a:latin typeface="Helvetica" pitchFamily="34" charset="0"/>
              </a:rPr>
              <a:t>Improve the security of guests and their property in a room?</a:t>
            </a:r>
          </a:p>
          <a:p>
            <a:pPr marL="0">
              <a:buFont typeface="Arial" pitchFamily="34" charset="0"/>
              <a:buChar char="•"/>
            </a:pPr>
            <a:r>
              <a:rPr lang="en-AU" sz="1200" baseline="0" dirty="0" smtClean="0">
                <a:latin typeface="Helvetica" pitchFamily="34" charset="0"/>
              </a:rPr>
              <a:t>Ensure the privacy of guests and their actions?</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023619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dirty="0" smtClean="0">
                <a:solidFill>
                  <a:schemeClr val="tx1"/>
                </a:solidFill>
                <a:ea typeface="+mn-ea"/>
                <a:cs typeface="+mn-cs"/>
              </a:rPr>
              <a:t>Guest Relations</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Every employee of a hotel, including the room attendant, is expected to warmly greet guests and to be friendly and professional.</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In many cases they need to work independently from other colleagues and must handle any problems that arise, without the assistance or guidance of others.</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If there is a complaint about the room or its furnishings or fixtures, in many cases the room attendant must not only handle to issue, but take ownership to ensure it is resolved in a timely manner.</a:t>
            </a:r>
            <a:endParaRPr lang="en-AU" sz="1200" kern="1200" dirty="0" smtClean="0">
              <a:solidFill>
                <a:schemeClr val="tx1"/>
              </a:solidFill>
              <a:ea typeface="+mn-ea"/>
              <a:cs typeface="+mn-cs"/>
            </a:endParaRPr>
          </a:p>
          <a:p>
            <a:endParaRPr lang="en-US" sz="1200" b="1" kern="1200" dirty="0" smtClean="0">
              <a:solidFill>
                <a:schemeClr val="tx1"/>
              </a:solidFill>
              <a:ea typeface="+mn-ea"/>
              <a:cs typeface="+mn-cs"/>
            </a:endParaRPr>
          </a:p>
          <a:p>
            <a:r>
              <a:rPr lang="en-US" sz="1200" b="1" kern="1200" dirty="0" smtClean="0">
                <a:solidFill>
                  <a:schemeClr val="tx1"/>
                </a:solidFill>
                <a:ea typeface="+mn-ea"/>
                <a:cs typeface="+mn-cs"/>
              </a:rPr>
              <a:t>Guest Safety</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The job description of a room attendant includes ensuring the safety and well being of guests and their property. </a:t>
            </a:r>
            <a:endParaRPr lang="en-AU" sz="1200" kern="1200" dirty="0" smtClean="0">
              <a:solidFill>
                <a:schemeClr val="tx1"/>
              </a:solidFill>
              <a:ea typeface="+mn-ea"/>
              <a:cs typeface="+mn-cs"/>
            </a:endParaRPr>
          </a:p>
          <a:p>
            <a:endParaRPr lang="en-US" sz="1200" b="1" kern="1200" dirty="0" smtClean="0">
              <a:solidFill>
                <a:schemeClr val="tx1"/>
              </a:solidFill>
              <a:ea typeface="+mn-ea"/>
              <a:cs typeface="+mn-cs"/>
            </a:endParaRPr>
          </a:p>
          <a:p>
            <a:r>
              <a:rPr lang="en-US" sz="1200" b="1" kern="1200" dirty="0" smtClean="0">
                <a:solidFill>
                  <a:schemeClr val="tx1"/>
                </a:solidFill>
                <a:ea typeface="+mn-ea"/>
                <a:cs typeface="+mn-cs"/>
              </a:rPr>
              <a:t>Cleaning</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They are required to ensure all aspects of a guest room is clean and tidy.</a:t>
            </a:r>
            <a:endParaRPr lang="en-AU" sz="1200" kern="1200" dirty="0" smtClean="0">
              <a:solidFill>
                <a:schemeClr val="tx1"/>
              </a:solidFill>
              <a:ea typeface="+mn-ea"/>
              <a:cs typeface="+mn-cs"/>
            </a:endParaRPr>
          </a:p>
          <a:p>
            <a:endParaRPr lang="en-US" sz="1200" b="1" kern="1200" dirty="0" smtClean="0">
              <a:solidFill>
                <a:schemeClr val="tx1"/>
              </a:solidFill>
              <a:ea typeface="+mn-ea"/>
              <a:cs typeface="+mn-cs"/>
            </a:endParaRPr>
          </a:p>
          <a:p>
            <a:r>
              <a:rPr lang="en-US" sz="1200" b="1" kern="1200" dirty="0" smtClean="0">
                <a:solidFill>
                  <a:schemeClr val="tx1"/>
                </a:solidFill>
                <a:ea typeface="+mn-ea"/>
                <a:cs typeface="+mn-cs"/>
              </a:rPr>
              <a:t>Administration and Communication</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Room attendants must ensure they understand what rooms they are to clean and in which order. Administration and communication is vital to ensure rooms are returned ‘clean’ ready for new guests. </a:t>
            </a:r>
            <a:endParaRPr lang="en-AU" sz="1200" kern="1200" dirty="0" smtClean="0">
              <a:solidFill>
                <a:schemeClr val="tx1"/>
              </a:solidFill>
              <a:ea typeface="+mn-ea"/>
              <a:cs typeface="+mn-cs"/>
            </a:endParaRP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425154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Group work</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The trainer should get the trainees</a:t>
            </a:r>
            <a:r>
              <a:rPr lang="en-AU" sz="1200" baseline="0" dirty="0" smtClean="0">
                <a:latin typeface="Helvetica" pitchFamily="34" charset="0"/>
              </a:rPr>
              <a:t> into small groups. </a:t>
            </a:r>
          </a:p>
          <a:p>
            <a:pPr marL="0">
              <a:buFont typeface="Arial" pitchFamily="34" charset="0"/>
              <a:buNone/>
            </a:pPr>
            <a:r>
              <a:rPr lang="en-AU" sz="1200" baseline="0" dirty="0" smtClean="0">
                <a:latin typeface="Helvetica" pitchFamily="34" charset="0"/>
              </a:rPr>
              <a:t>Allocate one of the topics in this slide to each group.</a:t>
            </a:r>
          </a:p>
          <a:p>
            <a:pPr marL="0">
              <a:buFont typeface="Arial" pitchFamily="34" charset="0"/>
              <a:buNone/>
            </a:pPr>
            <a:r>
              <a:rPr lang="en-AU" sz="1200" baseline="0" dirty="0" smtClean="0">
                <a:latin typeface="Helvetica" pitchFamily="34" charset="0"/>
              </a:rPr>
              <a:t>Get them to identify all the activities that would be completed in a normal day.</a:t>
            </a:r>
          </a:p>
          <a:p>
            <a:pPr marL="0">
              <a:buFont typeface="Arial" pitchFamily="34" charset="0"/>
              <a:buNone/>
            </a:pPr>
            <a:r>
              <a:rPr lang="en-AU" sz="1200" baseline="0" dirty="0" smtClean="0">
                <a:latin typeface="Helvetica" pitchFamily="34" charset="0"/>
              </a:rPr>
              <a:t>Get the trainees to discuss or list on board.</a:t>
            </a:r>
          </a:p>
          <a:p>
            <a:pPr marL="0">
              <a:buFont typeface="Arial" pitchFamily="34" charset="0"/>
              <a:buNone/>
            </a:pPr>
            <a:endParaRPr lang="en-AU" sz="1200" baseline="0" dirty="0" smtClean="0">
              <a:latin typeface="Helvetica" pitchFamily="34" charset="0"/>
            </a:endParaRPr>
          </a:p>
          <a:p>
            <a:pPr marL="0">
              <a:buFont typeface="Arial" pitchFamily="34" charset="0"/>
              <a:buNone/>
            </a:pPr>
            <a:r>
              <a:rPr lang="en-AU" sz="1200" baseline="0" dirty="0" smtClean="0">
                <a:latin typeface="Helvetica" pitchFamily="34" charset="0"/>
              </a:rPr>
              <a:t>This activity is designed to get people thinking about the diversity of the role of room attendant. Each of these topics will be discussed in more detail over the next few slides.</a:t>
            </a:r>
            <a:endParaRPr lang="en-AU" sz="1200" dirty="0" smtClean="0">
              <a:latin typeface="Helvetica" pitchFamily="34" charset="0"/>
            </a:endParaRP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882783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648072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221172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197452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361408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4173704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180167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302853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286858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504245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Trainer to discuss topics in slide, providing examples</a:t>
            </a:r>
            <a:r>
              <a:rPr lang="en-AU" sz="1200" baseline="0" dirty="0" smtClean="0">
                <a:latin typeface="Helvetica" pitchFamily="34" charset="0"/>
              </a:rPr>
              <a:t> where possible.</a:t>
            </a:r>
            <a:endParaRPr lang="en-AU" sz="1200" dirty="0" smtClean="0">
              <a:latin typeface="Helvetica" pitchFamily="34" charset="0"/>
            </a:endParaRP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9608636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Char char="•"/>
            </a:pPr>
            <a:r>
              <a:rPr lang="en-AU" sz="1200" dirty="0" smtClean="0">
                <a:latin typeface="Helvetica" pitchFamily="34" charset="0"/>
              </a:rPr>
              <a:t>Where does a room attendant work</a:t>
            </a:r>
            <a:r>
              <a:rPr lang="en-AU" sz="1200" baseline="0" dirty="0" smtClean="0">
                <a:latin typeface="Helvetica" pitchFamily="34" charset="0"/>
              </a:rPr>
              <a:t> in a hotel?</a:t>
            </a:r>
          </a:p>
          <a:p>
            <a:pPr marL="0">
              <a:buFont typeface="Arial" pitchFamily="34" charset="0"/>
              <a:buChar char="•"/>
            </a:pPr>
            <a:r>
              <a:rPr lang="en-AU" sz="1200" baseline="0" dirty="0" smtClean="0">
                <a:latin typeface="Helvetica" pitchFamily="34" charset="0"/>
              </a:rPr>
              <a:t>Who is their manager?</a:t>
            </a:r>
          </a:p>
          <a:p>
            <a:pPr marL="0">
              <a:buFont typeface="Arial" pitchFamily="34" charset="0"/>
              <a:buChar char="•"/>
            </a:pPr>
            <a:r>
              <a:rPr lang="en-AU" sz="1200" baseline="0" dirty="0" smtClean="0">
                <a:latin typeface="Helvetica" pitchFamily="34" charset="0"/>
              </a:rPr>
              <a:t>Who are their colleagues?</a:t>
            </a:r>
          </a:p>
          <a:p>
            <a:pPr marL="0">
              <a:buFont typeface="Arial" pitchFamily="34" charset="0"/>
              <a:buChar char="•"/>
            </a:pPr>
            <a:r>
              <a:rPr lang="en-AU" sz="1200" baseline="0" dirty="0" smtClean="0">
                <a:latin typeface="Helvetica" pitchFamily="34" charset="0"/>
              </a:rPr>
              <a:t>Are they managers of anyone?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371526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Char char="•"/>
            </a:pPr>
            <a:r>
              <a:rPr lang="en-AU" sz="1200" dirty="0" smtClean="0">
                <a:latin typeface="Helvetica" pitchFamily="34" charset="0"/>
              </a:rPr>
              <a:t>What are all the activities housekeeping perform under these three categories?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397233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marL="0">
              <a:buFont typeface="Arial" pitchFamily="34" charset="0"/>
              <a:buChar char="•"/>
            </a:pPr>
            <a:r>
              <a:rPr lang="en-AU" sz="1200" dirty="0" smtClean="0">
                <a:latin typeface="Helvetica" pitchFamily="34" charset="0"/>
              </a:rPr>
              <a:t>What are all the activities perform under these categories?</a:t>
            </a: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1617975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buFont typeface="Arial" pitchFamily="34" charset="0"/>
              <a:buChar char="•"/>
            </a:pPr>
            <a:r>
              <a:rPr lang="en-AU" sz="1200" dirty="0" smtClean="0"/>
              <a:t>What do each of these people do?</a:t>
            </a:r>
          </a:p>
          <a:p>
            <a:pPr>
              <a:buFont typeface="Arial" pitchFamily="34" charset="0"/>
              <a:buChar char="•"/>
            </a:pPr>
            <a:endParaRPr lang="en-AU" sz="1200" dirty="0" smtClean="0"/>
          </a:p>
          <a:p>
            <a:pPr>
              <a:buFont typeface="Arial" pitchFamily="34" charset="0"/>
              <a:buNone/>
            </a:pPr>
            <a:r>
              <a:rPr lang="en-AU" sz="1200" dirty="0" smtClean="0"/>
              <a:t>A senior room attendant or Housekeeping supervisor</a:t>
            </a:r>
            <a:r>
              <a:rPr lang="en-AU" sz="1200" baseline="0" dirty="0" smtClean="0"/>
              <a:t> - </a:t>
            </a:r>
            <a:r>
              <a:rPr lang="en-AU" sz="1200" dirty="0" smtClean="0"/>
              <a:t>This person is normally responsible for the allocation of rooms and to check rooms up on completion of cleaning by room attendants.</a:t>
            </a:r>
          </a:p>
          <a:p>
            <a:pPr>
              <a:buFont typeface="Arial" pitchFamily="34" charset="0"/>
              <a:buNone/>
            </a:pPr>
            <a:endParaRPr lang="en-AU" sz="1200" b="1" dirty="0" smtClean="0"/>
          </a:p>
          <a:p>
            <a:r>
              <a:rPr lang="en-AU" sz="1200" dirty="0" smtClean="0"/>
              <a:t>The head of Housekeeping is called the Executive Housekeeper</a:t>
            </a:r>
            <a:r>
              <a:rPr lang="en-AU" sz="1200" baseline="0" dirty="0" smtClean="0"/>
              <a:t> – responsible for Housekeeping department. </a:t>
            </a:r>
            <a:r>
              <a:rPr lang="en-AU" sz="1200" dirty="0" smtClean="0"/>
              <a:t>This person will report to the Rooms Division Manager</a:t>
            </a:r>
            <a:r>
              <a:rPr lang="en-AU" sz="1200" baseline="0" dirty="0" smtClean="0"/>
              <a:t> – responsible for Front Office and Housekeeping departments.</a:t>
            </a:r>
            <a:endParaRPr lang="en-AU" sz="1200" b="1" dirty="0" smtClean="0"/>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553897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characteristics are important for a room attendant to have?</a:t>
            </a:r>
          </a:p>
          <a:p>
            <a:pPr>
              <a:buFont typeface="Arial" pitchFamily="34" charset="0"/>
              <a:buNone/>
            </a:pPr>
            <a:endParaRPr lang="en-AU" sz="1200" b="1"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488995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information</a:t>
            </a:r>
            <a:r>
              <a:rPr lang="en-AU" sz="1200" baseline="0" dirty="0" smtClean="0">
                <a:latin typeface="Helvetica" pitchFamily="34" charset="0"/>
              </a:rPr>
              <a:t> do they need to know about the hotel?</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dirty="0" smtClean="0">
                <a:latin typeface="Helvetica" pitchFamily="34" charset="0"/>
              </a:rPr>
              <a:t>What information</a:t>
            </a:r>
            <a:r>
              <a:rPr lang="en-AU" sz="1200" baseline="0" dirty="0" smtClean="0">
                <a:latin typeface="Helvetica" pitchFamily="34" charset="0"/>
              </a:rPr>
              <a:t> do they need to know about the hotel?</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dirty="0" smtClean="0">
                <a:latin typeface="Helvetica" pitchFamily="34" charset="0"/>
              </a:rPr>
              <a:t>What cleaning products do they use?</a:t>
            </a: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dirty="0" smtClean="0">
              <a:latin typeface="Helvetica" pitchFamily="34" charset="0"/>
            </a:endParaRPr>
          </a:p>
          <a:p>
            <a:pPr>
              <a:buFont typeface="Arial" pitchFamily="34" charset="0"/>
              <a:buNone/>
            </a:pPr>
            <a:endParaRPr lang="en-AU" sz="1200" b="1"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7790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is manual handling?</a:t>
            </a:r>
          </a:p>
          <a:p>
            <a:pPr>
              <a:spcBef>
                <a:spcPts val="600"/>
              </a:spcBef>
              <a:spcAft>
                <a:spcPts val="1200"/>
              </a:spcAft>
              <a:buFont typeface="Arial" pitchFamily="34" charset="0"/>
              <a:buNone/>
            </a:pPr>
            <a:endParaRPr lang="en-AU" sz="1200" dirty="0" smtClean="0">
              <a:latin typeface="Helvetica" pitchFamily="34" charset="0"/>
            </a:endParaRPr>
          </a:p>
          <a:p>
            <a:pPr>
              <a:buFont typeface="Arial" pitchFamily="34" charset="0"/>
              <a:buNone/>
            </a:pPr>
            <a:endParaRPr lang="en-AU" sz="1200" b="1"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7796457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Hard working</a:t>
            </a:r>
          </a:p>
          <a:p>
            <a:pPr lvl="0">
              <a:buFont typeface="Arial" pitchFamily="34" charset="0"/>
              <a:buChar char="•"/>
            </a:pPr>
            <a:r>
              <a:rPr lang="en-AU" sz="1200" dirty="0" smtClean="0"/>
              <a:t>Physical strength - mobility and stamina required to clean for large periods of time</a:t>
            </a:r>
          </a:p>
          <a:p>
            <a:pPr lvl="0">
              <a:buFont typeface="Arial" pitchFamily="34" charset="0"/>
              <a:buChar char="•"/>
            </a:pPr>
            <a:r>
              <a:rPr lang="en-AU" sz="1200" dirty="0" smtClean="0"/>
              <a:t>Ability to follow instruction – most activities follow strict procedures</a:t>
            </a:r>
          </a:p>
          <a:p>
            <a:pPr lvl="0">
              <a:buFont typeface="Arial" pitchFamily="34" charset="0"/>
              <a:buChar char="•"/>
            </a:pPr>
            <a:r>
              <a:rPr lang="en-AU" sz="1200" dirty="0" smtClean="0"/>
              <a:t>Good time management – most room attendants will need to clean approximately 12-20 rooms per shift, with no supervision</a:t>
            </a:r>
          </a:p>
          <a:p>
            <a:pPr lvl="0">
              <a:buFont typeface="Arial" pitchFamily="34" charset="0"/>
              <a:buChar char="•"/>
            </a:pPr>
            <a:r>
              <a:rPr lang="en-AU" sz="1200" dirty="0" smtClean="0"/>
              <a:t>Attention to detail – ability to ensure cleaning is performed to an extremely high standard.</a:t>
            </a:r>
          </a:p>
          <a:p>
            <a:pPr>
              <a:spcBef>
                <a:spcPts val="600"/>
              </a:spcBef>
              <a:spcAft>
                <a:spcPts val="1200"/>
              </a:spcAft>
              <a:buFont typeface="Arial" pitchFamily="34" charset="0"/>
              <a:buNone/>
            </a:pPr>
            <a:endParaRPr lang="en-AU" sz="1200" dirty="0" smtClean="0">
              <a:latin typeface="Helvetica" pitchFamily="34" charset="0"/>
            </a:endParaRPr>
          </a:p>
          <a:p>
            <a:pPr>
              <a:buFont typeface="Arial" pitchFamily="34" charset="0"/>
              <a:buNone/>
            </a:pPr>
            <a:endParaRPr lang="en-AU" sz="1200" b="1"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2185801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Why</a:t>
            </a:r>
            <a:r>
              <a:rPr lang="en-AU" sz="1200" baseline="0" dirty="0" smtClean="0">
                <a:latin typeface="Helvetica" pitchFamily="34" charset="0"/>
              </a:rPr>
              <a:t> is organisational skills important?</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r>
              <a:rPr lang="en-AU" sz="1200" baseline="0" dirty="0" smtClean="0">
                <a:latin typeface="Helvetica" pitchFamily="34" charset="0"/>
              </a:rPr>
              <a:t>The trainer may want to mention organisational skills are vital because room attendants work by themselves, in remote locations and under strict timeframes.</a:t>
            </a:r>
            <a:endParaRPr lang="en-AU" sz="1200" dirty="0" smtClean="0">
              <a:latin typeface="Helvetica" pitchFamily="34" charset="0"/>
            </a:endParaRPr>
          </a:p>
          <a:p>
            <a:pPr>
              <a:buFont typeface="Arial" pitchFamily="34" charset="0"/>
              <a:buNone/>
            </a:pPr>
            <a:endParaRPr lang="en-AU" sz="1200" b="1"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6479902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rgbClr val="FF0000"/>
                </a:solidFill>
                <a:ea typeface="+mn-ea"/>
                <a:cs typeface="+mn-cs"/>
              </a:rPr>
              <a:t>Class Activity – General Discussion</a:t>
            </a:r>
          </a:p>
          <a:p>
            <a:endParaRPr lang="en-AU" sz="1200" b="1" kern="1200" baseline="0" dirty="0" smtClean="0">
              <a:solidFill>
                <a:srgbClr val="FF0000"/>
              </a:solidFill>
              <a:ea typeface="+mn-ea"/>
              <a:cs typeface="+mn-cs"/>
            </a:endParaRPr>
          </a:p>
          <a:p>
            <a:pPr>
              <a:spcBef>
                <a:spcPts val="600"/>
              </a:spcBef>
              <a:spcAft>
                <a:spcPts val="1200"/>
              </a:spcAft>
              <a:buFont typeface="Arial" pitchFamily="34" charset="0"/>
              <a:buNone/>
            </a:pPr>
            <a:r>
              <a:rPr lang="en-AU" sz="1200" dirty="0" smtClean="0">
                <a:solidFill>
                  <a:srgbClr val="FF0000"/>
                </a:solidFill>
                <a:latin typeface="Helvetica" pitchFamily="34" charset="0"/>
              </a:rPr>
              <a:t>Discuss in pairs:</a:t>
            </a:r>
          </a:p>
          <a:p>
            <a:pPr>
              <a:spcBef>
                <a:spcPts val="600"/>
              </a:spcBef>
              <a:spcAft>
                <a:spcPts val="1200"/>
              </a:spcAft>
              <a:buFont typeface="Arial" pitchFamily="34" charset="0"/>
              <a:buNone/>
            </a:pPr>
            <a:endParaRPr lang="en-AU" sz="1200" dirty="0" smtClean="0">
              <a:solidFill>
                <a:srgbClr val="FF0000"/>
              </a:solidFill>
              <a:latin typeface="Helvetica" pitchFamily="34" charset="0"/>
            </a:endParaRPr>
          </a:p>
          <a:p>
            <a:pPr marL="228600" indent="-228600">
              <a:spcBef>
                <a:spcPts val="600"/>
              </a:spcBef>
              <a:spcAft>
                <a:spcPts val="1200"/>
              </a:spcAft>
              <a:buFont typeface="Arial" pitchFamily="34" charset="0"/>
              <a:buAutoNum type="alphaLcParenBoth"/>
            </a:pPr>
            <a:r>
              <a:rPr lang="en-AU" sz="1200" dirty="0" smtClean="0">
                <a:solidFill>
                  <a:srgbClr val="FF0000"/>
                </a:solidFill>
                <a:latin typeface="Helvetica" pitchFamily="34" charset="0"/>
              </a:rPr>
              <a:t>What are some of the ‘temptations’ a room attendant needs to resist when he/she has access to a guest’s room?</a:t>
            </a:r>
          </a:p>
          <a:p>
            <a:pPr marL="228600" indent="-228600">
              <a:spcBef>
                <a:spcPts val="600"/>
              </a:spcBef>
              <a:spcAft>
                <a:spcPts val="1200"/>
              </a:spcAft>
              <a:buFont typeface="Arial" pitchFamily="34" charset="0"/>
              <a:buAutoNum type="alphaLcParenBoth"/>
            </a:pPr>
            <a:r>
              <a:rPr lang="en-AU" sz="1200" dirty="0" smtClean="0">
                <a:solidFill>
                  <a:srgbClr val="FF0000"/>
                </a:solidFill>
                <a:latin typeface="Helvetica" pitchFamily="34" charset="0"/>
              </a:rPr>
              <a:t>Should a room attendant share information with others about a guest if he/she thinks what</a:t>
            </a:r>
            <a:r>
              <a:rPr lang="en-AU" sz="1200" baseline="0" dirty="0" smtClean="0">
                <a:solidFill>
                  <a:srgbClr val="FF0000"/>
                </a:solidFill>
                <a:latin typeface="Helvetica" pitchFamily="34" charset="0"/>
              </a:rPr>
              <a:t> the guest is doing is morally wrong?</a:t>
            </a:r>
          </a:p>
          <a:p>
            <a:pPr marL="228600" indent="-228600">
              <a:spcBef>
                <a:spcPts val="600"/>
              </a:spcBef>
              <a:spcAft>
                <a:spcPts val="1200"/>
              </a:spcAft>
              <a:buFont typeface="Arial" pitchFamily="34" charset="0"/>
              <a:buAutoNum type="alphaLcParenBoth"/>
            </a:pPr>
            <a:r>
              <a:rPr lang="en-AU" sz="1200" baseline="0" dirty="0" smtClean="0">
                <a:solidFill>
                  <a:srgbClr val="FF0000"/>
                </a:solidFill>
                <a:latin typeface="Helvetica" pitchFamily="34" charset="0"/>
              </a:rPr>
              <a:t>In what instances can a room attendant report to management on a guest’s activities in their room?</a:t>
            </a:r>
            <a:endParaRPr lang="en-AU" sz="1200" dirty="0" smtClean="0">
              <a:solidFill>
                <a:srgbClr val="FF0000"/>
              </a:solidFill>
              <a:latin typeface="Helvetica" pitchFamily="34" charset="0"/>
            </a:endParaRPr>
          </a:p>
          <a:p>
            <a:pPr>
              <a:buFont typeface="Arial" pitchFamily="34" charset="0"/>
              <a:buNone/>
            </a:pPr>
            <a:endParaRPr lang="en-AU" sz="1200" b="1" dirty="0" smtClean="0">
              <a:solidFill>
                <a:srgbClr val="FF0000"/>
              </a:solidFill>
            </a:endParaRPr>
          </a:p>
          <a:p>
            <a:pPr>
              <a:buFont typeface="Arial" pitchFamily="34" charset="0"/>
              <a:buNone/>
            </a:pPr>
            <a:endParaRPr lang="en-AU" sz="1200" kern="1200" dirty="0" smtClean="0">
              <a:solidFill>
                <a:srgbClr val="FF0000"/>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924323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Why</a:t>
            </a:r>
            <a:r>
              <a:rPr lang="en-AU" sz="1200" baseline="0" dirty="0" smtClean="0">
                <a:latin typeface="Helvetica" pitchFamily="34" charset="0"/>
              </a:rPr>
              <a:t> are having grooming standards important?</a:t>
            </a:r>
          </a:p>
          <a:p>
            <a:pPr>
              <a:spcBef>
                <a:spcPts val="600"/>
              </a:spcBef>
              <a:spcAft>
                <a:spcPts val="1200"/>
              </a:spcAft>
              <a:buFont typeface="Arial" pitchFamily="34" charset="0"/>
              <a:buChar char="•"/>
            </a:pPr>
            <a:r>
              <a:rPr lang="en-AU" sz="1200" baseline="0" dirty="0" smtClean="0">
                <a:latin typeface="Helvetica" pitchFamily="34" charset="0"/>
              </a:rPr>
              <a:t>What are common grooming standards?</a:t>
            </a:r>
          </a:p>
          <a:p>
            <a:pPr>
              <a:spcBef>
                <a:spcPts val="600"/>
              </a:spcBef>
              <a:spcAft>
                <a:spcPts val="1200"/>
              </a:spcAft>
              <a:buFont typeface="Arial" pitchFamily="34" charset="0"/>
              <a:buChar char="•"/>
            </a:pPr>
            <a:r>
              <a:rPr lang="en-AU" sz="1200" baseline="0" dirty="0" smtClean="0">
                <a:latin typeface="Helvetica" pitchFamily="34" charset="0"/>
              </a:rPr>
              <a:t>Why is it harder to maintain grooming standards as a room attendant compared with other jobs?</a:t>
            </a:r>
          </a:p>
          <a:p>
            <a:pPr>
              <a:spcBef>
                <a:spcPts val="600"/>
              </a:spcBef>
              <a:spcAft>
                <a:spcPts val="1200"/>
              </a:spcAft>
              <a:buFont typeface="Arial" pitchFamily="34" charset="0"/>
              <a:buChar char="•"/>
            </a:pPr>
            <a:r>
              <a:rPr lang="en-AU" sz="1200" baseline="0" dirty="0" smtClean="0">
                <a:latin typeface="Helvetica" pitchFamily="34" charset="0"/>
              </a:rPr>
              <a:t>How can you combat this?</a:t>
            </a:r>
            <a:endParaRPr lang="en-AU" sz="1200" dirty="0" smtClean="0">
              <a:latin typeface="Helvetica" pitchFamily="34" charset="0"/>
            </a:endParaRPr>
          </a:p>
          <a:p>
            <a:pPr>
              <a:buFont typeface="Arial" pitchFamily="34" charset="0"/>
              <a:buNone/>
            </a:pPr>
            <a:endParaRPr lang="en-AU" sz="1200" b="1"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7816274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sz="1200" b="1" kern="1200" dirty="0" smtClean="0">
                <a:solidFill>
                  <a:schemeClr val="tx1"/>
                </a:solidFill>
                <a:ea typeface="+mn-ea"/>
                <a:cs typeface="+mn-cs"/>
              </a:rPr>
              <a:t>Clothing</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All clothes should be:</a:t>
            </a:r>
          </a:p>
          <a:p>
            <a:pPr lvl="0">
              <a:buFont typeface="Arial" pitchFamily="34" charset="0"/>
              <a:buChar char="•"/>
            </a:pPr>
            <a:r>
              <a:rPr lang="en-AU" sz="1200" kern="1200" dirty="0" smtClean="0">
                <a:solidFill>
                  <a:schemeClr val="tx1"/>
                </a:solidFill>
                <a:ea typeface="+mn-ea"/>
                <a:cs typeface="+mn-cs"/>
              </a:rPr>
              <a:t>Clean at the start of each day</a:t>
            </a:r>
          </a:p>
          <a:p>
            <a:pPr lvl="0">
              <a:buFont typeface="Arial" pitchFamily="34" charset="0"/>
              <a:buChar char="•"/>
            </a:pPr>
            <a:r>
              <a:rPr lang="en-AU" sz="1200" kern="1200" dirty="0" smtClean="0">
                <a:solidFill>
                  <a:schemeClr val="tx1"/>
                </a:solidFill>
                <a:ea typeface="+mn-ea"/>
                <a:cs typeface="+mn-cs"/>
              </a:rPr>
              <a:t>Replaced if soiled to a unsuitable standard</a:t>
            </a:r>
          </a:p>
          <a:p>
            <a:pPr lvl="0">
              <a:buFont typeface="Arial" pitchFamily="34" charset="0"/>
              <a:buChar char="•"/>
            </a:pPr>
            <a:r>
              <a:rPr lang="en-AU" sz="1200" kern="1200" dirty="0" smtClean="0">
                <a:solidFill>
                  <a:schemeClr val="tx1"/>
                </a:solidFill>
                <a:ea typeface="+mn-ea"/>
                <a:cs typeface="+mn-cs"/>
              </a:rPr>
              <a:t>Worn in its correct manner</a:t>
            </a:r>
          </a:p>
          <a:p>
            <a:pPr lvl="0">
              <a:buFont typeface="Arial" pitchFamily="34" charset="0"/>
              <a:buChar char="•"/>
            </a:pPr>
            <a:r>
              <a:rPr lang="en-AU" sz="1200" kern="1200" dirty="0" smtClean="0">
                <a:solidFill>
                  <a:schemeClr val="tx1"/>
                </a:solidFill>
                <a:ea typeface="+mn-ea"/>
                <a:cs typeface="+mn-cs"/>
              </a:rPr>
              <a:t>Shoes to be suitable for the role.</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Name Badge</a:t>
            </a:r>
          </a:p>
          <a:p>
            <a:pPr lvl="0">
              <a:buFont typeface="Arial" pitchFamily="34" charset="0"/>
              <a:buChar char="•"/>
            </a:pPr>
            <a:r>
              <a:rPr lang="en-US" sz="1200" kern="1200" dirty="0" smtClean="0">
                <a:solidFill>
                  <a:schemeClr val="tx1"/>
                </a:solidFill>
                <a:ea typeface="+mn-ea"/>
                <a:cs typeface="+mn-cs"/>
              </a:rPr>
              <a:t>A staff member must wear their name badge at all times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This is normally in a particular position on each staff member.</a:t>
            </a:r>
            <a:endParaRPr lang="en-AU" sz="1200" kern="1200" dirty="0" smtClean="0">
              <a:solidFill>
                <a:schemeClr val="tx1"/>
              </a:solidFill>
              <a:ea typeface="+mn-ea"/>
              <a:cs typeface="+mn-cs"/>
            </a:endParaRPr>
          </a:p>
          <a:p>
            <a:pPr>
              <a:buFont typeface="Arial" pitchFamily="34" charset="0"/>
              <a:buNone/>
            </a:pPr>
            <a:endParaRPr lang="en-AU" sz="1200" b="1" dirty="0" smtClean="0"/>
          </a:p>
          <a:p>
            <a:r>
              <a:rPr lang="en-AU" sz="1200" b="1" kern="1200" dirty="0" smtClean="0">
                <a:solidFill>
                  <a:schemeClr val="tx1"/>
                </a:solidFill>
                <a:ea typeface="+mn-ea"/>
                <a:cs typeface="+mn-cs"/>
              </a:rPr>
              <a:t>Hair</a:t>
            </a:r>
          </a:p>
          <a:p>
            <a:pPr lvl="0">
              <a:buFont typeface="Arial" pitchFamily="34" charset="0"/>
              <a:buChar char="•"/>
            </a:pPr>
            <a:r>
              <a:rPr lang="en-US" sz="1200" kern="1200" dirty="0" smtClean="0">
                <a:solidFill>
                  <a:schemeClr val="tx1"/>
                </a:solidFill>
                <a:ea typeface="+mn-ea"/>
                <a:cs typeface="+mn-cs"/>
              </a:rPr>
              <a:t>Short and neat cut hair for men</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Tight or pulled back hair for women</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Natural hair color</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Men to have well trimmed facial hair or to be clean shaved.</a:t>
            </a:r>
            <a:endParaRPr lang="en-AU" sz="1200"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Nails</a:t>
            </a:r>
          </a:p>
          <a:p>
            <a:pPr lvl="0">
              <a:buFont typeface="Arial" pitchFamily="34" charset="0"/>
              <a:buChar char="•"/>
            </a:pPr>
            <a:r>
              <a:rPr lang="en-US" sz="1200" kern="1200" dirty="0" smtClean="0">
                <a:solidFill>
                  <a:schemeClr val="tx1"/>
                </a:solidFill>
                <a:ea typeface="+mn-ea"/>
                <a:cs typeface="+mn-cs"/>
              </a:rPr>
              <a:t>Short and well trimmed</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No bright nail polish</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Cleaned on a regular basis.</a:t>
            </a:r>
            <a:endParaRPr lang="en-AU" sz="1200"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Jewellery</a:t>
            </a:r>
          </a:p>
          <a:p>
            <a:pPr lvl="0">
              <a:buFont typeface="Arial" pitchFamily="34" charset="0"/>
              <a:buChar char="•"/>
            </a:pPr>
            <a:r>
              <a:rPr lang="en-US" sz="1200" kern="1200" dirty="0" smtClean="0">
                <a:solidFill>
                  <a:schemeClr val="tx1"/>
                </a:solidFill>
                <a:ea typeface="+mn-ea"/>
                <a:cs typeface="+mn-cs"/>
              </a:rPr>
              <a:t>One dress ring or wedding ring</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Suitable watches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No other jewelry including bracelets, earrings, nose rings or necklaces.</a:t>
            </a:r>
            <a:endParaRPr lang="en-AU" sz="1200"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Make up</a:t>
            </a:r>
          </a:p>
          <a:p>
            <a:pPr lvl="0">
              <a:buFont typeface="Arial" pitchFamily="34" charset="0"/>
              <a:buChar char="•"/>
            </a:pPr>
            <a:r>
              <a:rPr lang="en-US" sz="1200" kern="1200" dirty="0" smtClean="0">
                <a:solidFill>
                  <a:schemeClr val="tx1"/>
                </a:solidFill>
                <a:ea typeface="+mn-ea"/>
                <a:cs typeface="+mn-cs"/>
              </a:rPr>
              <a:t>No excessive make up</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No visible tattoos.</a:t>
            </a: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2431458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Odour</a:t>
            </a:r>
          </a:p>
          <a:p>
            <a:pPr lvl="0">
              <a:buFont typeface="Arial" pitchFamily="34" charset="0"/>
              <a:buChar char="•"/>
            </a:pPr>
            <a:r>
              <a:rPr lang="en-US" sz="1200" kern="1200" dirty="0" smtClean="0">
                <a:solidFill>
                  <a:schemeClr val="tx1"/>
                </a:solidFill>
                <a:ea typeface="+mn-ea"/>
                <a:cs typeface="+mn-cs"/>
              </a:rPr>
              <a:t>No excessive perfumes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Staff should use deodorant on a regular basis. This is important in a labour intensive role like cleaning rooms.</a:t>
            </a:r>
          </a:p>
          <a:p>
            <a:pPr lvl="0"/>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Personal hygiene</a:t>
            </a:r>
          </a:p>
          <a:p>
            <a:pPr lvl="0">
              <a:buFont typeface="Arial" pitchFamily="34" charset="0"/>
              <a:buChar char="•"/>
            </a:pPr>
            <a:r>
              <a:rPr lang="en-US" sz="1200" kern="1200" dirty="0" smtClean="0">
                <a:solidFill>
                  <a:schemeClr val="tx1"/>
                </a:solidFill>
                <a:ea typeface="+mn-ea"/>
                <a:cs typeface="+mn-cs"/>
              </a:rPr>
              <a:t>Bath or shower before work</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Teeth must be brushed</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Hands and face must be washed and cleaned.</a:t>
            </a:r>
            <a:endParaRPr lang="en-AU" sz="1200"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Personal belongings</a:t>
            </a:r>
          </a:p>
          <a:p>
            <a:pPr lvl="0">
              <a:buFont typeface="Arial" pitchFamily="34" charset="0"/>
              <a:buChar char="•"/>
            </a:pPr>
            <a:r>
              <a:rPr lang="en-US" sz="1200" kern="1200" dirty="0" smtClean="0">
                <a:solidFill>
                  <a:schemeClr val="tx1"/>
                </a:solidFill>
                <a:ea typeface="+mn-ea"/>
                <a:cs typeface="+mn-cs"/>
              </a:rPr>
              <a:t>No personal bags in work areas – to reduce chance of theft</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No mobile phones.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8375779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are common</a:t>
            </a:r>
            <a:r>
              <a:rPr lang="en-AU" sz="1200" baseline="0" dirty="0" smtClean="0">
                <a:latin typeface="Helvetica" pitchFamily="34" charset="0"/>
              </a:rPr>
              <a:t> policies and procedures in any work place regardless of position?</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dirty="0" smtClean="0">
                <a:latin typeface="Helvetica" pitchFamily="34" charset="0"/>
              </a:rPr>
              <a:t>What are common</a:t>
            </a:r>
            <a:r>
              <a:rPr lang="en-AU" sz="1200" baseline="0" dirty="0" smtClean="0">
                <a:latin typeface="Helvetica" pitchFamily="34" charset="0"/>
              </a:rPr>
              <a:t> policies and procedures specific to room attendants?</a:t>
            </a: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41606303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Get the trainees to think of other policies</a:t>
            </a:r>
            <a:r>
              <a:rPr lang="en-AU" sz="1200" baseline="0" dirty="0" smtClean="0">
                <a:latin typeface="Helvetica" pitchFamily="34" charset="0"/>
              </a:rPr>
              <a:t> that are directly related to room attendants.</a:t>
            </a: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8698259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Get the trainees to think of other procedures</a:t>
            </a:r>
            <a:r>
              <a:rPr lang="en-AU" sz="1200" baseline="0" dirty="0" smtClean="0">
                <a:latin typeface="Helvetica" pitchFamily="34" charset="0"/>
              </a:rPr>
              <a:t> that are directly related to room attendants.</a:t>
            </a: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783080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Get the trainees to identify different policies</a:t>
            </a:r>
            <a:r>
              <a:rPr lang="en-AU" sz="1200" baseline="0" dirty="0" smtClean="0">
                <a:latin typeface="Helvetica" pitchFamily="34" charset="0"/>
              </a:rPr>
              <a:t> and procedures that would come from each area identified in the slide.</a:t>
            </a: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20450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Types of policies and procedures</a:t>
            </a:r>
          </a:p>
          <a:p>
            <a:endParaRPr lang="en-AU" sz="1200" b="1" kern="1200" dirty="0" smtClean="0">
              <a:solidFill>
                <a:schemeClr val="tx1"/>
              </a:solidFill>
              <a:ea typeface="+mn-ea"/>
              <a:cs typeface="+mn-cs"/>
            </a:endParaRPr>
          </a:p>
          <a:p>
            <a:r>
              <a:rPr lang="en-AU" sz="1200" kern="1200" dirty="0" smtClean="0">
                <a:solidFill>
                  <a:schemeClr val="tx1"/>
                </a:solidFill>
                <a:ea typeface="+mn-ea"/>
                <a:cs typeface="+mn-cs"/>
              </a:rPr>
              <a:t>Policies and procedures in housekeeping normally relate to the correct handling, use, cleaning, storage and protective items relating to:</a:t>
            </a:r>
          </a:p>
          <a:p>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Equipment – housekeeping cleaning equipment including vacuum cleaners, waxing machines, trolleys</a:t>
            </a:r>
          </a:p>
          <a:p>
            <a:pPr lvl="0">
              <a:buFont typeface="Arial" pitchFamily="34" charset="0"/>
              <a:buChar char="•"/>
            </a:pPr>
            <a:r>
              <a:rPr lang="en-AU" sz="1200" kern="1200" dirty="0" smtClean="0">
                <a:solidFill>
                  <a:schemeClr val="tx1"/>
                </a:solidFill>
                <a:ea typeface="+mn-ea"/>
                <a:cs typeface="+mn-cs"/>
              </a:rPr>
              <a:t>Chemicals – including all cleaning products and items used to clean including cloths, rags, mops</a:t>
            </a:r>
          </a:p>
          <a:p>
            <a:pPr lvl="0">
              <a:buFont typeface="Arial" pitchFamily="34" charset="0"/>
              <a:buChar char="•"/>
            </a:pPr>
            <a:r>
              <a:rPr lang="en-AU" sz="1200" kern="1200" dirty="0" smtClean="0">
                <a:solidFill>
                  <a:schemeClr val="tx1"/>
                </a:solidFill>
                <a:ea typeface="+mn-ea"/>
                <a:cs typeface="+mn-cs"/>
              </a:rPr>
              <a:t>Furnishings – bedding, tables, couches, kitchens, televisions, carpets</a:t>
            </a:r>
          </a:p>
          <a:p>
            <a:pPr lvl="0">
              <a:buFont typeface="Arial" pitchFamily="34" charset="0"/>
              <a:buChar char="•"/>
            </a:pPr>
            <a:r>
              <a:rPr lang="en-AU" sz="1200" kern="1200" dirty="0" smtClean="0">
                <a:solidFill>
                  <a:schemeClr val="tx1"/>
                </a:solidFill>
                <a:ea typeface="+mn-ea"/>
                <a:cs typeface="+mn-cs"/>
              </a:rPr>
              <a:t>Fittings – lights, electricals, air conditioners</a:t>
            </a:r>
          </a:p>
          <a:p>
            <a:pPr lvl="0">
              <a:buFont typeface="Arial" pitchFamily="34" charset="0"/>
              <a:buChar char="•"/>
            </a:pPr>
            <a:r>
              <a:rPr lang="en-AU" sz="1200" kern="1200" dirty="0" smtClean="0">
                <a:solidFill>
                  <a:schemeClr val="tx1"/>
                </a:solidFill>
                <a:ea typeface="+mn-ea"/>
                <a:cs typeface="+mn-cs"/>
              </a:rPr>
              <a:t>Clothing – uniforms and protective clothing.</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8047619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In your point of view, what is the best way to ensure staff know and understand policies and procedures?</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1188919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types of information are communicated by room attendants?</a:t>
            </a:r>
          </a:p>
          <a:p>
            <a:pPr>
              <a:spcBef>
                <a:spcPts val="600"/>
              </a:spcBef>
              <a:spcAft>
                <a:spcPts val="1200"/>
              </a:spcAft>
              <a:buFont typeface="Arial" pitchFamily="34" charset="0"/>
              <a:buChar char="•"/>
            </a:pPr>
            <a:r>
              <a:rPr lang="en-AU" sz="1200" baseline="0" dirty="0" smtClean="0">
                <a:latin typeface="Helvetica" pitchFamily="34" charset="0"/>
              </a:rPr>
              <a:t>Who do they communicate with?</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5985944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For each of these positions what information is communicated?</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Receptionists </a:t>
            </a:r>
          </a:p>
          <a:p>
            <a:r>
              <a:rPr lang="en-AU" sz="1200" b="0" kern="1200" dirty="0" smtClean="0">
                <a:solidFill>
                  <a:schemeClr val="tx1"/>
                </a:solidFill>
                <a:ea typeface="+mn-ea"/>
                <a:cs typeface="+mn-cs"/>
              </a:rPr>
              <a:t>Room attendants work closely with reception for a number of reasons including:</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Identify vacant rooms - to find out when guests have checked out so they can start cleaning vacant dirty rooms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Report clean rooms - when rooms are clean and ready for new guests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Handle special requirements - for incoming guests including VIP’s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Handle guest requests -  relating to the room including additional towels and pillows, buckets of ice and for laundry to collected</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Co-ordinate internet access.</a:t>
            </a:r>
            <a:endParaRPr lang="en-AU" sz="1200" b="1"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House Attendants</a:t>
            </a:r>
          </a:p>
          <a:p>
            <a:r>
              <a:rPr lang="en-AU" sz="1200" b="0" kern="1200" dirty="0" smtClean="0">
                <a:solidFill>
                  <a:schemeClr val="tx1"/>
                </a:solidFill>
                <a:ea typeface="+mn-ea"/>
                <a:cs typeface="+mn-cs"/>
              </a:rPr>
              <a:t>These people will normally be responsible for the distribution of items to/from the housekeeping office to the store rooms on each floor, for easier access by room attendants.</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These items include:</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Cleaning products  - sprays, agents and cleaning clothes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Equipment – buckets and mops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Linen – bed sheets, pillow cases, blankets, bath towels, floor mats, hand towels and face cloths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Room supplies – including shampoo, conditioners, stationery, matches, soaps etc</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Fresh produce – milk and biscuits for tea and coffee facilities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Removal of dirty items – soiled bedding and rubbish</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Collection of return of laundry or dry cleaning</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As a room attendant will normally be stationed on a selected floor, they will communicate with house attendants if items need to replenished.</a:t>
            </a:r>
            <a:endParaRPr lang="en-AU" sz="1200" b="1"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Maintenance</a:t>
            </a:r>
          </a:p>
          <a:p>
            <a:r>
              <a:rPr lang="en-AU" sz="1200" b="0" kern="1200" dirty="0" smtClean="0">
                <a:solidFill>
                  <a:schemeClr val="tx1"/>
                </a:solidFill>
                <a:ea typeface="+mn-ea"/>
                <a:cs typeface="+mn-cs"/>
              </a:rPr>
              <a:t>Room attendants will often call maintenance to fix or replace light bulbs and any faulty furnishings or equipment. In most cases any calls will be made relating to faulty televisions and air conditions.</a:t>
            </a:r>
            <a:endParaRPr lang="en-AU" sz="1200" b="1"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Mini Bar</a:t>
            </a:r>
          </a:p>
          <a:p>
            <a:r>
              <a:rPr lang="en-AU" sz="1200" b="0" kern="1200" dirty="0" smtClean="0">
                <a:solidFill>
                  <a:schemeClr val="tx1"/>
                </a:solidFill>
                <a:ea typeface="+mn-ea"/>
                <a:cs typeface="+mn-cs"/>
              </a:rPr>
              <a:t>In some organisations, the room attendant may be responsible for replenishing mini bar items and charging them to the guest rooms themselves or may contact mini bar for this service to be performed.</a:t>
            </a:r>
            <a:endParaRPr lang="en-AU" sz="1200" b="1"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Room Service</a:t>
            </a:r>
          </a:p>
          <a:p>
            <a:r>
              <a:rPr lang="en-AU" sz="1200" b="0" kern="1200" dirty="0" smtClean="0">
                <a:solidFill>
                  <a:schemeClr val="tx1"/>
                </a:solidFill>
                <a:ea typeface="+mn-ea"/>
                <a:cs typeface="+mn-cs"/>
              </a:rPr>
              <a:t>When cleaning rooms, room attendants will remove used room service trays which must be placed out of guest sight and placed in the appropriate storage area on each guest floor. They will communicate with room service for the  trays to be collected from the storage areas.</a:t>
            </a:r>
            <a:endParaRPr lang="en-AU" sz="1200" b="1" kern="1200" dirty="0" smtClean="0">
              <a:solidFill>
                <a:schemeClr val="tx1"/>
              </a:solidFill>
              <a:ea typeface="+mn-ea"/>
              <a:cs typeface="+mn-cs"/>
            </a:endParaRP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Security</a:t>
            </a:r>
          </a:p>
          <a:p>
            <a:r>
              <a:rPr lang="en-AU" sz="1200" b="0" kern="1200" dirty="0" smtClean="0">
                <a:solidFill>
                  <a:schemeClr val="tx1"/>
                </a:solidFill>
                <a:ea typeface="+mn-ea"/>
                <a:cs typeface="+mn-cs"/>
              </a:rPr>
              <a:t>With room attendants spending the majority of their shift working on guest floors, it is their responsibility to observe activities that take place around them. They must constantly listen and watch to ensure guest activities are conducted in a safe and secure manner. If there are any issues which they cannot resolve, security must be contacted quickly.</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8022050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cleaning duties are performed?</a:t>
            </a:r>
          </a:p>
          <a:p>
            <a:pPr>
              <a:buFont typeface="Arial" pitchFamily="34" charset="0"/>
              <a:buChar char="•"/>
            </a:pPr>
            <a:r>
              <a:rPr lang="en-AU" sz="1200" kern="1200" baseline="0" dirty="0" smtClean="0">
                <a:solidFill>
                  <a:schemeClr val="tx1"/>
                </a:solidFill>
                <a:ea typeface="+mn-ea"/>
                <a:cs typeface="+mn-cs"/>
              </a:rPr>
              <a:t>What preparation do they need to do before they can start cleaning?</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9926232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9050023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items need to be replenished?</a:t>
            </a:r>
          </a:p>
          <a:p>
            <a:pPr>
              <a:spcBef>
                <a:spcPts val="600"/>
              </a:spcBef>
              <a:spcAft>
                <a:spcPts val="1200"/>
              </a:spcAft>
              <a:buFont typeface="Arial" pitchFamily="34" charset="0"/>
              <a:buChar char="•"/>
            </a:pPr>
            <a:r>
              <a:rPr lang="en-AU" sz="1200" baseline="0" dirty="0" smtClean="0">
                <a:latin typeface="Helvetica" pitchFamily="34" charset="0"/>
              </a:rPr>
              <a:t>For each item: Where do they go – in a linen store or straight on a trolley?</a:t>
            </a: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063052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purpose of each piece of equipment identified in this slide?</a:t>
            </a:r>
          </a:p>
          <a:p>
            <a:pPr>
              <a:spcBef>
                <a:spcPts val="600"/>
              </a:spcBef>
              <a:spcAft>
                <a:spcPts val="1200"/>
              </a:spcAft>
              <a:buFont typeface="Arial" pitchFamily="34" charset="0"/>
              <a:buChar char="•"/>
            </a:pPr>
            <a:r>
              <a:rPr lang="en-AU" sz="1200" baseline="0" dirty="0" smtClean="0">
                <a:latin typeface="Helvetica" pitchFamily="34" charset="0"/>
              </a:rPr>
              <a:t>When preparing the equipment what would you need to do?</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3532240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purpose of each piece of equipment identified in this slide?</a:t>
            </a:r>
          </a:p>
          <a:p>
            <a:pPr>
              <a:spcBef>
                <a:spcPts val="600"/>
              </a:spcBef>
              <a:spcAft>
                <a:spcPts val="1200"/>
              </a:spcAft>
              <a:buFont typeface="Arial" pitchFamily="34" charset="0"/>
              <a:buChar char="•"/>
            </a:pPr>
            <a:r>
              <a:rPr lang="en-AU" sz="1200" baseline="0" dirty="0" smtClean="0">
                <a:latin typeface="Helvetica" pitchFamily="34" charset="0"/>
              </a:rPr>
              <a:t>When preparing the equipment what would you need to do?</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3947600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purpose of each of the cleaning supplies identified in this slide?</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4599127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purpose of each of the cleaning supplies identified in this slide?</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6856842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Group work</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The trainer arrange the trainees</a:t>
            </a:r>
            <a:r>
              <a:rPr lang="en-AU" sz="1200" baseline="0" dirty="0" smtClean="0">
                <a:latin typeface="Helvetica" pitchFamily="34" charset="0"/>
              </a:rPr>
              <a:t> into small groups. </a:t>
            </a:r>
          </a:p>
          <a:p>
            <a:pPr marL="0">
              <a:buFont typeface="Arial" pitchFamily="34" charset="0"/>
              <a:buNone/>
            </a:pPr>
            <a:r>
              <a:rPr lang="en-AU" sz="1200" baseline="0" dirty="0" smtClean="0">
                <a:latin typeface="Helvetica" pitchFamily="34" charset="0"/>
              </a:rPr>
              <a:t>Allocate one of the topics in this slide to each group.</a:t>
            </a:r>
          </a:p>
          <a:p>
            <a:pPr marL="0">
              <a:buFont typeface="Arial" pitchFamily="34" charset="0"/>
              <a:buNone/>
            </a:pPr>
            <a:r>
              <a:rPr lang="en-AU" sz="1200" baseline="0" dirty="0" smtClean="0">
                <a:latin typeface="Helvetica" pitchFamily="34" charset="0"/>
              </a:rPr>
              <a:t>Get them to identify all the supplies that would be allocated to each section.</a:t>
            </a:r>
          </a:p>
          <a:p>
            <a:pPr marL="0">
              <a:buFont typeface="Arial" pitchFamily="34" charset="0"/>
              <a:buNone/>
            </a:pPr>
            <a:r>
              <a:rPr lang="en-AU" sz="1200" baseline="0" dirty="0" smtClean="0">
                <a:latin typeface="Helvetica" pitchFamily="34" charset="0"/>
              </a:rPr>
              <a:t>Get the trainees to discuss or list on board.</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9624809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Review documents</a:t>
            </a:r>
          </a:p>
          <a:p>
            <a:endParaRPr lang="en-AU" sz="1200" b="1" kern="1200" baseline="0" dirty="0" smtClean="0">
              <a:solidFill>
                <a:schemeClr val="tx1"/>
              </a:solidFill>
              <a:ea typeface="+mn-ea"/>
              <a:cs typeface="+mn-cs"/>
            </a:endParaRPr>
          </a:p>
          <a:p>
            <a:pPr marL="0">
              <a:buFont typeface="Arial" pitchFamily="34" charset="0"/>
              <a:buNone/>
            </a:pPr>
            <a:r>
              <a:rPr lang="en-AU" sz="1200" dirty="0" smtClean="0">
                <a:latin typeface="Helvetica" pitchFamily="34" charset="0"/>
              </a:rPr>
              <a:t>The trainer should get a copy of a ordering</a:t>
            </a:r>
            <a:r>
              <a:rPr lang="en-AU" sz="1200" baseline="0" dirty="0" smtClean="0">
                <a:latin typeface="Helvetica" pitchFamily="34" charset="0"/>
              </a:rPr>
              <a:t> or requisitioning document and explain it to the class.</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23899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manual handling?</a:t>
            </a:r>
          </a:p>
          <a:p>
            <a:pPr>
              <a:spcBef>
                <a:spcPts val="600"/>
              </a:spcBef>
              <a:spcAft>
                <a:spcPts val="1200"/>
              </a:spcAft>
              <a:buFont typeface="Arial" pitchFamily="34" charset="0"/>
              <a:buChar char="•"/>
            </a:pPr>
            <a:r>
              <a:rPr lang="en-AU" sz="1200" baseline="0" dirty="0" smtClean="0">
                <a:latin typeface="Helvetica" pitchFamily="34" charset="0"/>
              </a:rPr>
              <a:t>Why is it important not just in loading trolleys, but when completing all tasks as a room attendant?</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9832374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items do room attendants normally:</a:t>
            </a:r>
          </a:p>
          <a:p>
            <a:pPr marL="228600" indent="-228600">
              <a:spcBef>
                <a:spcPts val="600"/>
              </a:spcBef>
              <a:spcAft>
                <a:spcPts val="1200"/>
              </a:spcAft>
              <a:buFont typeface="Arial" pitchFamily="34" charset="0"/>
              <a:buAutoNum type="alphaLcParenR"/>
            </a:pPr>
            <a:r>
              <a:rPr lang="en-AU" sz="1200" baseline="0" dirty="0" smtClean="0">
                <a:latin typeface="Helvetica" pitchFamily="34" charset="0"/>
              </a:rPr>
              <a:t>Lift</a:t>
            </a:r>
          </a:p>
          <a:p>
            <a:pPr marL="228600" indent="-228600">
              <a:spcBef>
                <a:spcPts val="600"/>
              </a:spcBef>
              <a:spcAft>
                <a:spcPts val="1200"/>
              </a:spcAft>
              <a:buFont typeface="Arial" pitchFamily="34" charset="0"/>
              <a:buAutoNum type="alphaLcParenR"/>
            </a:pPr>
            <a:r>
              <a:rPr lang="en-AU" sz="1200" baseline="0" dirty="0" smtClean="0">
                <a:latin typeface="Helvetica" pitchFamily="34" charset="0"/>
              </a:rPr>
              <a:t>Carry</a:t>
            </a:r>
          </a:p>
          <a:p>
            <a:pPr marL="228600" indent="-228600">
              <a:spcBef>
                <a:spcPts val="600"/>
              </a:spcBef>
              <a:spcAft>
                <a:spcPts val="1200"/>
              </a:spcAft>
              <a:buFont typeface="Arial" pitchFamily="34" charset="0"/>
              <a:buAutoNum type="alphaLcParenR"/>
            </a:pPr>
            <a:r>
              <a:rPr lang="en-AU" sz="1200" baseline="0" dirty="0" smtClean="0">
                <a:latin typeface="Helvetica" pitchFamily="34" charset="0"/>
              </a:rPr>
              <a:t>Pull</a:t>
            </a:r>
          </a:p>
          <a:p>
            <a:pPr marL="228600" indent="-228600">
              <a:spcBef>
                <a:spcPts val="600"/>
              </a:spcBef>
              <a:spcAft>
                <a:spcPts val="1200"/>
              </a:spcAft>
              <a:buFont typeface="Arial" pitchFamily="34" charset="0"/>
              <a:buAutoNum type="alphaLcParenR"/>
            </a:pPr>
            <a:r>
              <a:rPr lang="en-AU" sz="1200" baseline="0" dirty="0" smtClean="0">
                <a:latin typeface="Helvetica" pitchFamily="34" charset="0"/>
              </a:rPr>
              <a:t>Push.</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pPr marL="228600" indent="-228600">
              <a:spcBef>
                <a:spcPts val="600"/>
              </a:spcBef>
              <a:spcAft>
                <a:spcPts val="1200"/>
              </a:spcAft>
              <a:buFont typeface="Arial" pitchFamily="34" charset="0"/>
              <a:buNone/>
            </a:pPr>
            <a:r>
              <a:rPr lang="en-AU" sz="1200" baseline="0" dirty="0" smtClean="0">
                <a:latin typeface="Helvetica" pitchFamily="34" charset="0"/>
              </a:rPr>
              <a:t>The trainer should demonstrate the best way to do these movements.</a:t>
            </a:r>
          </a:p>
          <a:p>
            <a:pPr marL="228600" indent="-228600">
              <a:spcBef>
                <a:spcPts val="600"/>
              </a:spcBef>
              <a:spcAft>
                <a:spcPts val="1200"/>
              </a:spcAft>
              <a:buFont typeface="Arial" pitchFamily="34" charset="0"/>
              <a:buNone/>
            </a:pPr>
            <a:r>
              <a:rPr lang="en-AU" sz="1200" baseline="0" dirty="0" smtClean="0">
                <a:latin typeface="Helvetica" pitchFamily="34" charset="0"/>
              </a:rPr>
              <a:t>Also get the audience to think of strategies to prevent injury (use of specific equipment etc) when using these range of movements.</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1807669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points in the slide and why they are important.</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42817726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points in the slide and why they are important</a:t>
            </a:r>
          </a:p>
          <a:p>
            <a:pPr>
              <a:spcBef>
                <a:spcPts val="600"/>
              </a:spcBef>
              <a:spcAft>
                <a:spcPts val="1200"/>
              </a:spcAft>
              <a:buFont typeface="Arial" pitchFamily="34" charset="0"/>
              <a:buChar char="•"/>
            </a:pPr>
            <a:r>
              <a:rPr lang="en-AU" sz="1200" baseline="0" dirty="0" smtClean="0">
                <a:latin typeface="Helvetica" pitchFamily="34" charset="0"/>
              </a:rPr>
              <a:t>These are not considered as supplies, but are vital.</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5793593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Why is it easy for guests to steal from trolleys? If you were a guest how could you do it?</a:t>
            </a:r>
          </a:p>
          <a:p>
            <a:pPr>
              <a:spcBef>
                <a:spcPts val="600"/>
              </a:spcBef>
              <a:spcAft>
                <a:spcPts val="1200"/>
              </a:spcAft>
              <a:buFont typeface="Arial" pitchFamily="34" charset="0"/>
              <a:buChar char="•"/>
            </a:pPr>
            <a:r>
              <a:rPr lang="en-AU" sz="1200" baseline="0" dirty="0" smtClean="0">
                <a:latin typeface="Helvetica" pitchFamily="34" charset="0"/>
              </a:rPr>
              <a:t>What would you steal?</a:t>
            </a:r>
          </a:p>
          <a:p>
            <a:pPr>
              <a:spcBef>
                <a:spcPts val="600"/>
              </a:spcBef>
              <a:spcAft>
                <a:spcPts val="1200"/>
              </a:spcAft>
              <a:buFont typeface="Arial" pitchFamily="34" charset="0"/>
              <a:buChar char="•"/>
            </a:pPr>
            <a:r>
              <a:rPr lang="en-AU" sz="1200" baseline="0" dirty="0" smtClean="0">
                <a:latin typeface="Helvetica" pitchFamily="34" charset="0"/>
              </a:rPr>
              <a:t>How can staff prevent this?</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5035863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baseline="0" dirty="0" smtClean="0">
                <a:latin typeface="Helvetica" pitchFamily="34" charset="0"/>
              </a:rPr>
              <a:t>Most organisations require trolleys to be placed in front of the open door to the room they are cleaning</a:t>
            </a:r>
          </a:p>
          <a:p>
            <a:pPr>
              <a:spcBef>
                <a:spcPts val="600"/>
              </a:spcBef>
              <a:spcAft>
                <a:spcPts val="1200"/>
              </a:spcAft>
              <a:buFont typeface="Arial" pitchFamily="34" charset="0"/>
              <a:buChar char="•"/>
            </a:pPr>
            <a:r>
              <a:rPr lang="en-AU" sz="1200" baseline="0" dirty="0" smtClean="0">
                <a:latin typeface="Helvetica" pitchFamily="34" charset="0"/>
              </a:rPr>
              <a:t>What are the reasons for this?</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42290462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needs to be considered when identifying rooms to be cleaned, and in what order?</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29333334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When do briefings normally take place?</a:t>
            </a:r>
          </a:p>
          <a:p>
            <a:pPr>
              <a:spcBef>
                <a:spcPts val="600"/>
              </a:spcBef>
              <a:spcAft>
                <a:spcPts val="1200"/>
              </a:spcAft>
              <a:buFont typeface="Arial" pitchFamily="34" charset="0"/>
              <a:buChar char="•"/>
            </a:pPr>
            <a:r>
              <a:rPr lang="en-AU" sz="1200" baseline="0" dirty="0" smtClean="0">
                <a:latin typeface="Helvetica" pitchFamily="34" charset="0"/>
              </a:rPr>
              <a:t>Who normally directs these sessions?</a:t>
            </a:r>
          </a:p>
          <a:p>
            <a:pPr>
              <a:spcBef>
                <a:spcPts val="600"/>
              </a:spcBef>
              <a:spcAft>
                <a:spcPts val="1200"/>
              </a:spcAft>
              <a:buFont typeface="Arial" pitchFamily="34" charset="0"/>
              <a:buChar char="•"/>
            </a:pPr>
            <a:r>
              <a:rPr lang="en-AU" sz="1200" baseline="0" dirty="0" smtClean="0">
                <a:latin typeface="Helvetica" pitchFamily="34" charset="0"/>
              </a:rPr>
              <a:t>How long do they usually take?</a:t>
            </a: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3309394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influences do each of the points in this slide have?</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91104113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difference between each type of room?</a:t>
            </a:r>
          </a:p>
          <a:p>
            <a:pPr>
              <a:spcBef>
                <a:spcPts val="600"/>
              </a:spcBef>
              <a:spcAft>
                <a:spcPts val="1200"/>
              </a:spcAft>
              <a:buFont typeface="Arial" pitchFamily="34" charset="0"/>
              <a:buChar char="•"/>
            </a:pPr>
            <a:r>
              <a:rPr lang="en-AU" sz="1200" baseline="0" dirty="0" smtClean="0">
                <a:latin typeface="Helvetica" pitchFamily="34" charset="0"/>
              </a:rPr>
              <a:t>Who are these rooms normally allocated to?</a:t>
            </a:r>
          </a:p>
          <a:p>
            <a:pPr>
              <a:spcBef>
                <a:spcPts val="600"/>
              </a:spcBef>
              <a:spcAft>
                <a:spcPts val="1200"/>
              </a:spcAft>
              <a:buFont typeface="Arial" pitchFamily="34" charset="0"/>
              <a:buChar char="•"/>
            </a:pPr>
            <a:r>
              <a:rPr lang="en-AU" sz="1200" baseline="0" dirty="0" smtClean="0">
                <a:latin typeface="Helvetica" pitchFamily="34" charset="0"/>
              </a:rPr>
              <a:t>As a cleaner, which rooms take longer to clean and why?</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5270096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Which inclusions are found in a ‘normal’ room?</a:t>
            </a:r>
          </a:p>
          <a:p>
            <a:pPr>
              <a:spcBef>
                <a:spcPts val="600"/>
              </a:spcBef>
              <a:spcAft>
                <a:spcPts val="1200"/>
              </a:spcAft>
              <a:buFont typeface="Arial" pitchFamily="34" charset="0"/>
              <a:buChar char="•"/>
            </a:pPr>
            <a:r>
              <a:rPr lang="en-AU" sz="1200" baseline="0" dirty="0" smtClean="0">
                <a:latin typeface="Helvetica" pitchFamily="34" charset="0"/>
              </a:rPr>
              <a:t>As an exercise get the trainees to identify an approximate time it would take to clean each point identified in this slide providing explanation for the timing.</a:t>
            </a: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5884171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Check out rooms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These are the rooms where guests are expected to check-out. They may be known as ‘departing rooms’, ‘going rooms’ or ‘vacated rooms’</a:t>
            </a:r>
            <a:endParaRPr lang="en-AU" sz="1200" kern="1200" dirty="0" smtClean="0">
              <a:solidFill>
                <a:schemeClr val="tx1"/>
              </a:solidFill>
              <a:ea typeface="+mn-ea"/>
              <a:cs typeface="+mn-cs"/>
            </a:endParaRPr>
          </a:p>
          <a:p>
            <a:pPr>
              <a:buFont typeface="Arial" pitchFamily="34" charset="0"/>
              <a:buChar char="•"/>
            </a:pPr>
            <a:r>
              <a:rPr lang="en-GB" sz="1200" kern="1200" dirty="0" smtClean="0">
                <a:solidFill>
                  <a:schemeClr val="tx1"/>
                </a:solidFill>
                <a:ea typeface="+mn-ea"/>
                <a:cs typeface="+mn-cs"/>
              </a:rPr>
              <a:t>These rooms will take longer to clean than a room that continues to be occupied because a full service is required. Approximately thirty minutes is allocated. </a:t>
            </a:r>
            <a:endParaRPr lang="en-AU" sz="1200" kern="1200" dirty="0" smtClean="0">
              <a:solidFill>
                <a:schemeClr val="tx1"/>
              </a:solidFill>
              <a:ea typeface="+mn-ea"/>
              <a:cs typeface="+mn-cs"/>
            </a:endParaRPr>
          </a:p>
          <a:p>
            <a:endParaRPr lang="en-US" sz="1200" b="1" kern="1200" dirty="0" smtClean="0">
              <a:solidFill>
                <a:schemeClr val="tx1"/>
              </a:solidFill>
              <a:ea typeface="+mn-ea"/>
              <a:cs typeface="+mn-cs"/>
            </a:endParaRPr>
          </a:p>
          <a:p>
            <a:r>
              <a:rPr lang="en-US" sz="1200" b="1" kern="1200" dirty="0" smtClean="0">
                <a:solidFill>
                  <a:schemeClr val="tx1"/>
                </a:solidFill>
                <a:ea typeface="+mn-ea"/>
                <a:cs typeface="+mn-cs"/>
              </a:rPr>
              <a:t>Occupied rooms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These are rooms where the guest will be staying for another night. They may also be known as ‘stay rooms’</a:t>
            </a:r>
            <a:endParaRPr lang="en-AU" sz="1200" kern="1200" dirty="0" smtClean="0">
              <a:solidFill>
                <a:schemeClr val="tx1"/>
              </a:solidFill>
              <a:ea typeface="+mn-ea"/>
              <a:cs typeface="+mn-cs"/>
            </a:endParaRPr>
          </a:p>
          <a:p>
            <a:pPr>
              <a:buFont typeface="Arial" pitchFamily="34" charset="0"/>
              <a:buChar char="•"/>
            </a:pPr>
            <a:r>
              <a:rPr lang="en-GB" sz="1200" kern="1200" dirty="0" smtClean="0">
                <a:solidFill>
                  <a:schemeClr val="tx1"/>
                </a:solidFill>
                <a:ea typeface="+mn-ea"/>
                <a:cs typeface="+mn-cs"/>
              </a:rPr>
              <a:t>Generally these rooms won’t take as long to clean as a check-out room, and approximately twenty minutes will be allocated.</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Vacant rooms</a:t>
            </a:r>
          </a:p>
          <a:p>
            <a:r>
              <a:rPr lang="en-AU" sz="1200" kern="1200" dirty="0" smtClean="0">
                <a:solidFill>
                  <a:schemeClr val="tx1"/>
                </a:solidFill>
                <a:ea typeface="+mn-ea"/>
                <a:cs typeface="+mn-cs"/>
              </a:rPr>
              <a:t>You will also be required to inspect and provide basic service to vacant rooms.</a:t>
            </a:r>
            <a:endParaRPr lang="en-AU" sz="1000" kern="1200" dirty="0" smtClean="0">
              <a:solidFill>
                <a:schemeClr val="tx1"/>
              </a:solidFill>
              <a:ea typeface="+mn-ea"/>
              <a:cs typeface="+mn-cs"/>
            </a:endParaRPr>
          </a:p>
          <a:p>
            <a:r>
              <a:rPr lang="en-AU" sz="1000" kern="1200" dirty="0" smtClean="0">
                <a:solidFill>
                  <a:schemeClr val="tx1"/>
                </a:solidFill>
                <a:ea typeface="+mn-ea"/>
                <a:cs typeface="+mn-cs"/>
              </a:rPr>
              <a:t>These rooms, even though not being used, still require some attention such as:</a:t>
            </a:r>
          </a:p>
          <a:p>
            <a:pPr lvl="0">
              <a:buFont typeface="Arial" pitchFamily="34" charset="0"/>
              <a:buChar char="•"/>
            </a:pPr>
            <a:r>
              <a:rPr lang="en-US" sz="1000" kern="1200" dirty="0" smtClean="0">
                <a:solidFill>
                  <a:schemeClr val="tx1"/>
                </a:solidFill>
                <a:ea typeface="+mn-ea"/>
                <a:cs typeface="+mn-cs"/>
              </a:rPr>
              <a:t>Inspection – to identify anything that might have happened or gone wrong with or in </a:t>
            </a:r>
            <a:r>
              <a:rPr lang="en-US" sz="1200" kern="1200" dirty="0" smtClean="0">
                <a:solidFill>
                  <a:schemeClr val="tx1"/>
                </a:solidFill>
                <a:ea typeface="+mn-ea"/>
                <a:cs typeface="+mn-cs"/>
              </a:rPr>
              <a:t>the room</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General dusting</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Flushing of the toilet</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Checking that the refrigerator is working properly</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Ensuring the room has not been occupied by a guest for whom no information exists.</a:t>
            </a:r>
            <a:endParaRPr lang="en-AU" sz="1200" kern="1200" dirty="0" smtClean="0">
              <a:solidFill>
                <a:schemeClr val="tx1"/>
              </a:solidFill>
              <a:ea typeface="+mn-ea"/>
              <a:cs typeface="+mn-cs"/>
            </a:endParaRPr>
          </a:p>
          <a:p>
            <a:pPr marL="228600" indent="-228600">
              <a:spcBef>
                <a:spcPts val="600"/>
              </a:spcBef>
              <a:spcAft>
                <a:spcPts val="1200"/>
              </a:spcAft>
              <a:buFont typeface="Arial" pitchFamily="34" charset="0"/>
              <a:buAutoNum type="alphaLcParenR"/>
            </a:pPr>
            <a:endParaRPr lang="en-AU" sz="1200" baseline="0" dirty="0" smtClean="0">
              <a:latin typeface="Helvetica" pitchFamily="34" charset="0"/>
            </a:endParaRP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18157773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Which rooms normally need to be cleaned first?</a:t>
            </a:r>
          </a:p>
          <a:p>
            <a:pPr>
              <a:spcBef>
                <a:spcPts val="600"/>
              </a:spcBef>
              <a:spcAft>
                <a:spcPts val="1200"/>
              </a:spcAft>
              <a:buFont typeface="Arial" pitchFamily="34" charset="0"/>
              <a:buChar char="•"/>
            </a:pPr>
            <a:r>
              <a:rPr lang="en-AU" sz="1200" baseline="0" dirty="0" smtClean="0">
                <a:latin typeface="Helvetica" pitchFamily="34" charset="0"/>
              </a:rPr>
              <a:t>What time constraints exist?</a:t>
            </a:r>
          </a:p>
          <a:p>
            <a:pPr>
              <a:spcBef>
                <a:spcPts val="600"/>
              </a:spcBef>
              <a:spcAft>
                <a:spcPts val="1200"/>
              </a:spcAft>
              <a:buFont typeface="Arial" pitchFamily="34" charset="0"/>
              <a:buChar char="•"/>
            </a:pPr>
            <a:r>
              <a:rPr lang="en-AU" sz="1200" baseline="0" dirty="0" smtClean="0">
                <a:latin typeface="Helvetica" pitchFamily="34" charset="0"/>
              </a:rPr>
              <a:t>What other areas do room attendants have to clean?</a:t>
            </a:r>
          </a:p>
          <a:p>
            <a:pPr>
              <a:spcBef>
                <a:spcPts val="600"/>
              </a:spcBef>
              <a:spcAft>
                <a:spcPts val="1200"/>
              </a:spcAft>
              <a:buFont typeface="Arial" pitchFamily="34" charset="0"/>
              <a:buChar char="•"/>
            </a:pPr>
            <a:r>
              <a:rPr lang="en-AU" sz="1200" baseline="0" dirty="0" smtClean="0">
                <a:latin typeface="Helvetica" pitchFamily="34" charset="0"/>
              </a:rPr>
              <a:t> Is this part of their normal job?</a:t>
            </a:r>
          </a:p>
          <a:p>
            <a:pPr>
              <a:spcBef>
                <a:spcPts val="600"/>
              </a:spcBef>
              <a:spcAft>
                <a:spcPts val="1200"/>
              </a:spcAft>
              <a:buFont typeface="Arial" pitchFamily="34" charset="0"/>
              <a:buChar char="•"/>
            </a:pPr>
            <a:r>
              <a:rPr lang="en-AU" sz="1200" baseline="0" dirty="0" smtClean="0">
                <a:latin typeface="Helvetica" pitchFamily="34" charset="0"/>
              </a:rPr>
              <a:t>If not, who does it and why would room attendants be required to help?</a:t>
            </a:r>
          </a:p>
          <a:p>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41320859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normal procedure for accessing and entering a room?</a:t>
            </a: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Why is it done this way?</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0181965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Role Play</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role play accessing and entering a room.</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4444398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Role Play</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role play accessing and entering a room.</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7718415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Role Play</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role play accessing and entering a room.</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00178670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occur when making a bed?</a:t>
            </a:r>
          </a:p>
          <a:p>
            <a:pPr>
              <a:buFont typeface="Arial" pitchFamily="34" charset="0"/>
              <a:buChar char="•"/>
            </a:pPr>
            <a:r>
              <a:rPr lang="en-AU" sz="1200" kern="1200" baseline="0" dirty="0" smtClean="0">
                <a:solidFill>
                  <a:schemeClr val="tx1"/>
                </a:solidFill>
                <a:ea typeface="+mn-ea"/>
                <a:cs typeface="+mn-cs"/>
              </a:rPr>
              <a:t>Does this differ for a new guest compared with an existing guest?</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8858913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752962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does stripping a bed involve?</a:t>
            </a:r>
          </a:p>
          <a:p>
            <a:pPr>
              <a:spcBef>
                <a:spcPts val="600"/>
              </a:spcBef>
              <a:spcAft>
                <a:spcPts val="1200"/>
              </a:spcAft>
              <a:buFont typeface="Arial" pitchFamily="34" charset="0"/>
              <a:buChar char="•"/>
            </a:pPr>
            <a:r>
              <a:rPr lang="en-AU" sz="1200" baseline="0" dirty="0" smtClean="0">
                <a:latin typeface="Helvetica" pitchFamily="34" charset="0"/>
              </a:rPr>
              <a:t>Where should you place the items you have stripped?</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54196123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do you think is a suitable time frame?</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3243942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stripping a bed.</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82822810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stripping a bed.</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8688354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What are common stains on bed items?</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28054942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What is involved in making a bed?</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07582881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What is the purpose of each bedding item?</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explain how the </a:t>
            </a:r>
            <a:r>
              <a:rPr lang="en-AU" sz="1200" dirty="0" smtClean="0">
                <a:latin typeface="Helvetica" pitchFamily="34" charset="0"/>
              </a:rPr>
              <a:t>‘American’ and ‘Norwegian’ (refer to notes) styles differ and why they</a:t>
            </a:r>
            <a:r>
              <a:rPr lang="en-AU" sz="1200" baseline="0" dirty="0" smtClean="0">
                <a:latin typeface="Helvetica" pitchFamily="34" charset="0"/>
              </a:rPr>
              <a:t> are used.</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2941124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making a bed.</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7693567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making a bed.</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67501616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making a bed.</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0394608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Remaking a bed using existing bed linen</a:t>
            </a:r>
          </a:p>
          <a:p>
            <a:r>
              <a:rPr lang="en-AU" sz="1200" kern="1200" dirty="0" smtClean="0">
                <a:solidFill>
                  <a:schemeClr val="tx1"/>
                </a:solidFill>
                <a:ea typeface="+mn-ea"/>
                <a:cs typeface="+mn-cs"/>
              </a:rPr>
              <a:t>Whilst the instructions may reflect those previously given in Section 3.1, it is important that clear procedures are identified when making a bed for an occupied room.</a:t>
            </a:r>
          </a:p>
          <a:p>
            <a:r>
              <a:rPr lang="en-GB" sz="1200" kern="1200" dirty="0" smtClean="0">
                <a:solidFill>
                  <a:schemeClr val="tx1"/>
                </a:solidFill>
                <a:ea typeface="+mn-ea"/>
                <a:cs typeface="+mn-cs"/>
              </a:rPr>
              <a:t>1.</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Remove pillows and place them on a clean surface, checking for stains or need for replacement</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2.</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Remove or pull back any blankets or duvets, again checking for stains or need for replacement</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3.</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Straighten bottom sheet, again checking for stains or need for replacement. If a new sheet is required, change accordingly.</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4. </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Re-tuck in sheet</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5.</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Smooth out creases</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6.</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With seams up, position top sheet – top edge even with mattress at bed head</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7.</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Position blanket – seams up</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8.</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Turn head of top sheet over blanket</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9.</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Smooth out creases</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10.</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Tuck in top sheet and blanket on sides</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11.</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Mitre all corners, top sheet and blanket together</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12.</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Smooth out creases</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13.</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Position bedspread so it is straight and all corners are even</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14.</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Fold back bedspread at </a:t>
            </a:r>
            <a:r>
              <a:rPr lang="en-GB" sz="1200" kern="1200" dirty="0" err="1" smtClean="0">
                <a:solidFill>
                  <a:schemeClr val="tx1"/>
                </a:solidFill>
                <a:ea typeface="+mn-ea"/>
                <a:cs typeface="+mn-cs"/>
              </a:rPr>
              <a:t>bedhead</a:t>
            </a:r>
            <a:r>
              <a:rPr lang="en-GB" sz="1200" kern="1200" dirty="0" smtClean="0">
                <a:solidFill>
                  <a:schemeClr val="tx1"/>
                </a:solidFill>
                <a:ea typeface="+mn-ea"/>
                <a:cs typeface="+mn-cs"/>
              </a:rPr>
              <a:t> end</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15.</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Place pillowcases on fluffed up pillows</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16.</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Position pillows on the bed as required</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17.</a:t>
            </a:r>
            <a:r>
              <a:rPr lang="en-GB" sz="1200" kern="1200" baseline="0" dirty="0" smtClean="0">
                <a:solidFill>
                  <a:schemeClr val="tx1"/>
                </a:solidFill>
                <a:ea typeface="+mn-ea"/>
                <a:cs typeface="+mn-cs"/>
              </a:rPr>
              <a:t> </a:t>
            </a:r>
            <a:r>
              <a:rPr lang="en-GB" sz="1200" kern="1200" dirty="0" smtClean="0">
                <a:solidFill>
                  <a:schemeClr val="tx1"/>
                </a:solidFill>
                <a:ea typeface="+mn-ea"/>
                <a:cs typeface="+mn-cs"/>
              </a:rPr>
              <a:t>Fold bedspread over pillow and neatly tuck in.</a:t>
            </a: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08632580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occur when cleaning a bathroom?</a:t>
            </a:r>
          </a:p>
          <a:p>
            <a:pPr>
              <a:buFont typeface="Arial" pitchFamily="34" charset="0"/>
              <a:buChar char="•"/>
            </a:pPr>
            <a:r>
              <a:rPr lang="en-AU" sz="1200" kern="1200" baseline="0" dirty="0" smtClean="0">
                <a:solidFill>
                  <a:schemeClr val="tx1"/>
                </a:solidFill>
                <a:ea typeface="+mn-ea"/>
                <a:cs typeface="+mn-cs"/>
              </a:rPr>
              <a:t>How long should it take to clean a bathroom?</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14061431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63710679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points explaining why they are important to undertake.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48447325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Why is it so important to handle syringes in the right manner?</a:t>
            </a:r>
          </a:p>
          <a:p>
            <a:pPr>
              <a:spcBef>
                <a:spcPts val="600"/>
              </a:spcBef>
              <a:spcAft>
                <a:spcPts val="1200"/>
              </a:spcAft>
              <a:buFont typeface="Arial" pitchFamily="34" charset="0"/>
              <a:buChar char="•"/>
            </a:pPr>
            <a:r>
              <a:rPr lang="en-AU" sz="1200" baseline="0" dirty="0" smtClean="0">
                <a:latin typeface="Helvetica" pitchFamily="34" charset="0"/>
              </a:rPr>
              <a:t>Why are syringes commonly found in rooms?</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16705465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bath.</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17394991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shower.</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2004472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toilet.</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44042003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toilet.</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165749872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Types of towels are used in a bathroom?</a:t>
            </a:r>
          </a:p>
          <a:p>
            <a:pPr>
              <a:spcBef>
                <a:spcPts val="600"/>
              </a:spcBef>
              <a:spcAft>
                <a:spcPts val="1200"/>
              </a:spcAft>
              <a:buFont typeface="Arial" pitchFamily="34" charset="0"/>
              <a:buChar char="•"/>
            </a:pPr>
            <a:r>
              <a:rPr lang="en-AU" sz="1200" baseline="0" dirty="0" smtClean="0">
                <a:latin typeface="Helvetica" pitchFamily="34" charset="0"/>
              </a:rPr>
              <a:t>What amenities are normally supplied in the vanity area?</a:t>
            </a:r>
          </a:p>
          <a:p>
            <a:pPr>
              <a:spcBef>
                <a:spcPts val="600"/>
              </a:spcBef>
              <a:spcAft>
                <a:spcPts val="1200"/>
              </a:spcAft>
              <a:buFont typeface="Arial" pitchFamily="34" charset="0"/>
              <a:buChar char="•"/>
            </a:pPr>
            <a:r>
              <a:rPr lang="en-AU" sz="1200" baseline="0" dirty="0" smtClean="0">
                <a:latin typeface="Helvetica" pitchFamily="34" charset="0"/>
              </a:rPr>
              <a:t>What are appropriate amenities for men?</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are appropriate amenities for women?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808364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vanity area.</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248186987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vanity area.</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34944760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the bathroom floor.</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426038512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the bathroom floor.</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92365458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Bef>
                <a:spcPts val="600"/>
              </a:spcBef>
              <a:spcAft>
                <a:spcPts val="1200"/>
              </a:spcAft>
              <a:buFont typeface="Arial" pitchFamily="34" charset="0"/>
              <a:buNone/>
            </a:pPr>
            <a:r>
              <a:rPr lang="en-AU" sz="1200" baseline="0" dirty="0" smtClean="0">
                <a:latin typeface="Helvetica" pitchFamily="34" charset="0"/>
              </a:rPr>
              <a:t>Discuss why each of these amenities are included. </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304014674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Bef>
                <a:spcPts val="600"/>
              </a:spcBef>
              <a:spcAft>
                <a:spcPts val="1200"/>
              </a:spcAft>
              <a:buFont typeface="Arial" pitchFamily="34" charset="0"/>
              <a:buChar char="•"/>
            </a:pPr>
            <a:r>
              <a:rPr lang="en-AU" sz="1200" baseline="0" dirty="0" smtClean="0">
                <a:latin typeface="Helvetica" pitchFamily="34" charset="0"/>
              </a:rPr>
              <a:t>Discuss why each of these amenities are included. </a:t>
            </a:r>
          </a:p>
          <a:p>
            <a:pPr>
              <a:spcBef>
                <a:spcPts val="600"/>
              </a:spcBef>
              <a:spcAft>
                <a:spcPts val="1200"/>
              </a:spcAft>
              <a:buFont typeface="Arial" pitchFamily="34" charset="0"/>
              <a:buChar char="•"/>
            </a:pPr>
            <a:r>
              <a:rPr lang="en-AU" sz="1200" baseline="0" dirty="0" smtClean="0">
                <a:latin typeface="Helvetica" pitchFamily="34" charset="0"/>
              </a:rPr>
              <a:t>Are there any additional amenities that would be beneficial for guests?</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72707324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Bef>
                <a:spcPts val="600"/>
              </a:spcBef>
              <a:spcAft>
                <a:spcPts val="1200"/>
              </a:spcAft>
              <a:buFont typeface="Arial" pitchFamily="34" charset="0"/>
              <a:buNone/>
            </a:pPr>
            <a:r>
              <a:rPr lang="en-AU" sz="1200" baseline="0" dirty="0" smtClean="0">
                <a:latin typeface="Helvetica" pitchFamily="34" charset="0"/>
              </a:rPr>
              <a:t>Discuss why it is important to ensure the bathroom is completely clean before moving onto other tasks.</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24773325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occur when cleaning a room?</a:t>
            </a:r>
          </a:p>
          <a:p>
            <a:pPr>
              <a:buFont typeface="Arial" pitchFamily="34" charset="0"/>
              <a:buChar char="•"/>
            </a:pPr>
            <a:r>
              <a:rPr lang="en-AU" sz="1200" kern="1200" baseline="0" dirty="0" smtClean="0">
                <a:solidFill>
                  <a:schemeClr val="tx1"/>
                </a:solidFill>
                <a:ea typeface="+mn-ea"/>
                <a:cs typeface="+mn-cs"/>
              </a:rPr>
              <a:t>How long should it take to clean a room?</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92794287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53498261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60994711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The steps to cleaning a room may have already been clarified but it is good to revise and to be able to explain to trainees what we have currently covered to date. </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33998490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reasons why certain protocols exist when cleaning an occupied room.</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50819851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other furniture items are there in a room?</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other fixture items are there in a room?</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other fitting items are there in a room?</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How do you clean these?</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35279055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items do you dust and polish?</a:t>
            </a:r>
          </a:p>
          <a:p>
            <a:pPr>
              <a:spcBef>
                <a:spcPts val="600"/>
              </a:spcBef>
              <a:spcAft>
                <a:spcPts val="1200"/>
              </a:spcAft>
              <a:buFont typeface="Arial" pitchFamily="34" charset="0"/>
              <a:buChar char="•"/>
            </a:pPr>
            <a:r>
              <a:rPr lang="en-AU" sz="1200" baseline="0" dirty="0" smtClean="0">
                <a:latin typeface="Helvetica" pitchFamily="34" charset="0"/>
              </a:rPr>
              <a:t>What is the difference between dusting and polishing?</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64926670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polishing and dusting some items identified in the slide.</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408932008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polishing and dusting some items identified in the slide.</a:t>
            </a:r>
            <a:endParaRPr lang="en-AU" sz="1200" kern="1200" dirty="0" smtClean="0">
              <a:solidFill>
                <a:schemeClr val="tx1"/>
              </a:solidFill>
              <a:ea typeface="+mn-ea"/>
              <a:cs typeface="+mn-cs"/>
            </a:endParaRPr>
          </a:p>
          <a:p>
            <a:pPr lvl="0">
              <a:spcBef>
                <a:spcPts val="600"/>
              </a:spcBef>
              <a:spcAft>
                <a:spcPts val="600"/>
              </a:spcAft>
            </a:pPr>
            <a:endParaRPr lang="en-US" sz="1200" dirty="0" smtClean="0">
              <a:latin typeface="Helvetica" pitchFamily="34" charset="0"/>
            </a:endParaRPr>
          </a:p>
          <a:p>
            <a:pPr lvl="0">
              <a:spcBef>
                <a:spcPts val="600"/>
              </a:spcBef>
              <a:spcAft>
                <a:spcPts val="600"/>
              </a:spcAft>
              <a:buFont typeface="Arial" pitchFamily="34" charset="0"/>
              <a:buChar char="•"/>
            </a:pPr>
            <a:r>
              <a:rPr lang="en-US" sz="1200" dirty="0" smtClean="0">
                <a:latin typeface="Helvetica" pitchFamily="34" charset="0"/>
              </a:rPr>
              <a:t>Window sills</a:t>
            </a:r>
            <a:endParaRPr lang="en-AU" sz="1200" dirty="0" smtClean="0">
              <a:latin typeface="Helvetica" pitchFamily="34" charset="0"/>
            </a:endParaRPr>
          </a:p>
          <a:p>
            <a:pPr lvl="0">
              <a:spcBef>
                <a:spcPts val="600"/>
              </a:spcBef>
              <a:spcAft>
                <a:spcPts val="600"/>
              </a:spcAft>
              <a:buFont typeface="Arial" pitchFamily="34" charset="0"/>
              <a:buChar char="•"/>
            </a:pPr>
            <a:r>
              <a:rPr lang="en-US" sz="1200" dirty="0" smtClean="0">
                <a:latin typeface="Helvetica" pitchFamily="34" charset="0"/>
              </a:rPr>
              <a:t>Walls – check for cobwebs and marks</a:t>
            </a:r>
            <a:endParaRPr lang="en-AU" sz="1200" dirty="0" smtClean="0">
              <a:latin typeface="Helvetica" pitchFamily="34" charset="0"/>
            </a:endParaRPr>
          </a:p>
          <a:p>
            <a:pPr lvl="0">
              <a:spcBef>
                <a:spcPts val="600"/>
              </a:spcBef>
              <a:spcAft>
                <a:spcPts val="600"/>
              </a:spcAft>
              <a:buFont typeface="Arial" pitchFamily="34" charset="0"/>
              <a:buChar char="•"/>
            </a:pPr>
            <a:r>
              <a:rPr lang="en-US" sz="1200" dirty="0" smtClean="0">
                <a:latin typeface="Helvetica" pitchFamily="34" charset="0"/>
              </a:rPr>
              <a:t>Lamps – base, shade and cord</a:t>
            </a:r>
            <a:endParaRPr lang="en-AU" sz="1200" dirty="0" smtClean="0">
              <a:latin typeface="Helvetica" pitchFamily="34" charset="0"/>
            </a:endParaRPr>
          </a:p>
          <a:p>
            <a:pPr lvl="0">
              <a:spcBef>
                <a:spcPts val="600"/>
              </a:spcBef>
              <a:spcAft>
                <a:spcPts val="600"/>
              </a:spcAft>
              <a:buFont typeface="Arial" pitchFamily="34" charset="0"/>
              <a:buChar char="•"/>
            </a:pPr>
            <a:r>
              <a:rPr lang="en-US" sz="1200" dirty="0" smtClean="0">
                <a:latin typeface="Helvetica" pitchFamily="34" charset="0"/>
              </a:rPr>
              <a:t>Telephone – main unit and hand receiver</a:t>
            </a:r>
            <a:endParaRPr lang="en-AU" sz="1200" dirty="0" smtClean="0">
              <a:latin typeface="Helvetica" pitchFamily="34" charset="0"/>
            </a:endParaRPr>
          </a:p>
          <a:p>
            <a:pPr lvl="0">
              <a:spcBef>
                <a:spcPts val="600"/>
              </a:spcBef>
              <a:spcAft>
                <a:spcPts val="600"/>
              </a:spcAft>
              <a:buFont typeface="Arial" pitchFamily="34" charset="0"/>
              <a:buChar char="•"/>
            </a:pPr>
            <a:r>
              <a:rPr lang="en-US" sz="1200" dirty="0" smtClean="0">
                <a:latin typeface="Helvetica" pitchFamily="34" charset="0"/>
              </a:rPr>
              <a:t>Seat furniture – don’t forget to remove cushions and check sides, legs, back and underneath</a:t>
            </a:r>
            <a:endParaRPr lang="en-AU" sz="1200" dirty="0" smtClean="0">
              <a:latin typeface="Helvetica" pitchFamily="34" charset="0"/>
            </a:endParaRPr>
          </a:p>
          <a:p>
            <a:pPr lvl="0">
              <a:spcBef>
                <a:spcPts val="600"/>
              </a:spcBef>
              <a:spcAft>
                <a:spcPts val="600"/>
              </a:spcAft>
              <a:buFont typeface="Arial" pitchFamily="34" charset="0"/>
              <a:buChar char="•"/>
            </a:pPr>
            <a:r>
              <a:rPr lang="en-US" sz="1200" dirty="0" smtClean="0">
                <a:latin typeface="Helvetica" pitchFamily="34" charset="0"/>
              </a:rPr>
              <a:t>All furniture – top, sides, legs, and underneath each item; don’t forget to clean inside the drawers</a:t>
            </a:r>
            <a:endParaRPr lang="en-AU" sz="1200" dirty="0" smtClean="0">
              <a:latin typeface="Helvetica" pitchFamily="34" charset="0"/>
            </a:endParaRPr>
          </a:p>
          <a:p>
            <a:pPr lvl="0">
              <a:spcBef>
                <a:spcPts val="600"/>
              </a:spcBef>
              <a:spcAft>
                <a:spcPts val="600"/>
              </a:spcAft>
              <a:buFont typeface="Arial" pitchFamily="34" charset="0"/>
              <a:buChar char="•"/>
            </a:pPr>
            <a:r>
              <a:rPr lang="en-US" sz="1200" dirty="0" smtClean="0">
                <a:latin typeface="Helvetica" pitchFamily="34" charset="0"/>
              </a:rPr>
              <a:t>Outside/balcony areas – furniture, ash trays.</a:t>
            </a:r>
            <a:endParaRPr lang="en-AU"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126357674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clean a bin.</a:t>
            </a:r>
            <a:endParaRPr lang="en-AU" sz="1200" kern="1200" dirty="0" smtClean="0">
              <a:solidFill>
                <a:schemeClr val="tx1"/>
              </a:solidFill>
              <a:ea typeface="+mn-ea"/>
              <a:cs typeface="+mn-cs"/>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115947475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purpose of vacuuming?</a:t>
            </a: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416638954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vacuuming.</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93959174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other items are often found in a kitchenette?</a:t>
            </a:r>
          </a:p>
          <a:p>
            <a:pPr>
              <a:spcBef>
                <a:spcPts val="600"/>
              </a:spcBef>
              <a:spcAft>
                <a:spcPts val="1200"/>
              </a:spcAft>
              <a:buFont typeface="Arial" pitchFamily="34" charset="0"/>
              <a:buChar char="•"/>
            </a:pPr>
            <a:r>
              <a:rPr lang="en-AU" sz="1200" baseline="0" dirty="0" smtClean="0">
                <a:latin typeface="Helvetica" pitchFamily="34" charset="0"/>
              </a:rPr>
              <a:t>How long should it take to clean?</a:t>
            </a:r>
          </a:p>
          <a:p>
            <a:pPr>
              <a:spcBef>
                <a:spcPts val="600"/>
              </a:spcBef>
              <a:spcAft>
                <a:spcPts val="1200"/>
              </a:spcAft>
              <a:buFont typeface="Arial" pitchFamily="34" charset="0"/>
              <a:buChar char="•"/>
            </a:pPr>
            <a:r>
              <a:rPr lang="en-AU" sz="1200" baseline="0" dirty="0" smtClean="0">
                <a:latin typeface="Helvetica" pitchFamily="34" charset="0"/>
              </a:rPr>
              <a:t>What steps are involved?</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143477903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refrigerator.</a:t>
            </a: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14986822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gas stove.</a:t>
            </a: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17192108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an electric stove.</a:t>
            </a: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65150914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an oven.</a:t>
            </a: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241584382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an oven glass window.</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22222110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dishwasher.</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72810116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washing machine.</a:t>
            </a: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75919878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 dryer.</a:t>
            </a: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30100464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other items.</a:t>
            </a: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52600210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other items.</a:t>
            </a: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360364808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guest supplies are there?</a:t>
            </a:r>
          </a:p>
          <a:p>
            <a:pPr>
              <a:spcBef>
                <a:spcPts val="600"/>
              </a:spcBef>
              <a:spcAft>
                <a:spcPts val="1200"/>
              </a:spcAft>
              <a:buFont typeface="Arial" pitchFamily="34" charset="0"/>
              <a:buChar char="•"/>
            </a:pPr>
            <a:r>
              <a:rPr lang="en-AU" sz="1200" baseline="0" dirty="0" smtClean="0">
                <a:latin typeface="Helvetica" pitchFamily="34" charset="0"/>
              </a:rPr>
              <a:t>Which ones do we allow guests to take?</a:t>
            </a:r>
          </a:p>
          <a:p>
            <a:pPr>
              <a:spcBef>
                <a:spcPts val="600"/>
              </a:spcBef>
              <a:spcAft>
                <a:spcPts val="1200"/>
              </a:spcAft>
              <a:buFont typeface="Arial" pitchFamily="34" charset="0"/>
              <a:buChar char="•"/>
            </a:pPr>
            <a:r>
              <a:rPr lang="en-AU" sz="1200" baseline="0" dirty="0" smtClean="0">
                <a:latin typeface="Helvetica" pitchFamily="34" charset="0"/>
              </a:rPr>
              <a:t>Which ones do we charge for?</a:t>
            </a: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64475071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baseline="0" dirty="0" smtClean="0">
                <a:latin typeface="Helvetica" pitchFamily="34" charset="0"/>
              </a:rPr>
              <a:t>Discuss the guest supplies in the slide:</a:t>
            </a:r>
          </a:p>
          <a:p>
            <a:pPr>
              <a:spcBef>
                <a:spcPts val="600"/>
              </a:spcBef>
              <a:spcAft>
                <a:spcPts val="1200"/>
              </a:spcAft>
              <a:buFont typeface="Arial" pitchFamily="34" charset="0"/>
              <a:buChar char="•"/>
            </a:pPr>
            <a:r>
              <a:rPr lang="en-AU" sz="1200" baseline="0" dirty="0" smtClean="0">
                <a:latin typeface="Helvetica" pitchFamily="34" charset="0"/>
              </a:rPr>
              <a:t>Where are they located?</a:t>
            </a:r>
          </a:p>
          <a:p>
            <a:pPr>
              <a:spcBef>
                <a:spcPts val="600"/>
              </a:spcBef>
              <a:spcAft>
                <a:spcPts val="1200"/>
              </a:spcAft>
              <a:buFont typeface="Arial" pitchFamily="34" charset="0"/>
              <a:buChar char="•"/>
            </a:pPr>
            <a:r>
              <a:rPr lang="en-AU" sz="1200" baseline="0" dirty="0" smtClean="0">
                <a:latin typeface="Helvetica" pitchFamily="34" charset="0"/>
              </a:rPr>
              <a:t>What is their quantity?</a:t>
            </a:r>
          </a:p>
          <a:p>
            <a:pPr>
              <a:spcBef>
                <a:spcPts val="600"/>
              </a:spcBef>
              <a:spcAft>
                <a:spcPts val="1200"/>
              </a:spcAft>
              <a:buFont typeface="Arial" pitchFamily="34" charset="0"/>
              <a:buChar char="•"/>
            </a:pPr>
            <a:r>
              <a:rPr lang="en-AU" sz="1200" baseline="0" dirty="0" smtClean="0">
                <a:latin typeface="Helvetica" pitchFamily="34" charset="0"/>
              </a:rPr>
              <a:t>How should they be presented?</a:t>
            </a:r>
          </a:p>
          <a:p>
            <a:pPr>
              <a:spcBef>
                <a:spcPts val="600"/>
              </a:spcBef>
              <a:spcAft>
                <a:spcPts val="1200"/>
              </a:spcAft>
              <a:buFont typeface="Arial" pitchFamily="34" charset="0"/>
              <a:buChar char="•"/>
            </a:pPr>
            <a:r>
              <a:rPr lang="en-AU" sz="1200" baseline="0" dirty="0" smtClean="0">
                <a:latin typeface="Helvetica" pitchFamily="34" charset="0"/>
              </a:rPr>
              <a:t>Do they expire? If so, how can you check they are still within the expiry date?</a:t>
            </a: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30678217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baseline="0" dirty="0" smtClean="0">
                <a:latin typeface="Helvetica" pitchFamily="34" charset="0"/>
              </a:rPr>
              <a:t>Discuss the guest supplies in the slide:</a:t>
            </a:r>
          </a:p>
          <a:p>
            <a:pPr>
              <a:spcBef>
                <a:spcPts val="600"/>
              </a:spcBef>
              <a:spcAft>
                <a:spcPts val="1200"/>
              </a:spcAft>
              <a:buFont typeface="Arial" pitchFamily="34" charset="0"/>
              <a:buChar char="•"/>
            </a:pPr>
            <a:r>
              <a:rPr lang="en-AU" sz="1200" baseline="0" dirty="0" smtClean="0">
                <a:latin typeface="Helvetica" pitchFamily="34" charset="0"/>
              </a:rPr>
              <a:t>Where are they located?</a:t>
            </a:r>
          </a:p>
          <a:p>
            <a:pPr>
              <a:spcBef>
                <a:spcPts val="600"/>
              </a:spcBef>
              <a:spcAft>
                <a:spcPts val="1200"/>
              </a:spcAft>
              <a:buFont typeface="Arial" pitchFamily="34" charset="0"/>
              <a:buChar char="•"/>
            </a:pPr>
            <a:r>
              <a:rPr lang="en-AU" sz="1200" baseline="0" dirty="0" smtClean="0">
                <a:latin typeface="Helvetica" pitchFamily="34" charset="0"/>
              </a:rPr>
              <a:t>What is their quantity?</a:t>
            </a:r>
          </a:p>
          <a:p>
            <a:pPr>
              <a:spcBef>
                <a:spcPts val="600"/>
              </a:spcBef>
              <a:spcAft>
                <a:spcPts val="1200"/>
              </a:spcAft>
              <a:buFont typeface="Arial" pitchFamily="34" charset="0"/>
              <a:buChar char="•"/>
            </a:pPr>
            <a:r>
              <a:rPr lang="en-AU" sz="1200" baseline="0" dirty="0" smtClean="0">
                <a:latin typeface="Helvetica" pitchFamily="34" charset="0"/>
              </a:rPr>
              <a:t>How should they be presented?</a:t>
            </a:r>
          </a:p>
          <a:p>
            <a:pPr>
              <a:spcBef>
                <a:spcPts val="600"/>
              </a:spcBef>
              <a:spcAft>
                <a:spcPts val="1200"/>
              </a:spcAft>
              <a:buFont typeface="Arial" pitchFamily="34" charset="0"/>
              <a:buChar char="•"/>
            </a:pPr>
            <a:r>
              <a:rPr lang="en-AU" sz="1200" baseline="0" dirty="0" smtClean="0">
                <a:latin typeface="Helvetica" pitchFamily="34" charset="0"/>
              </a:rPr>
              <a:t>Do they expire? If so, how can you check they are still within the expiry date?</a:t>
            </a: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48294269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checking the operational readiness of items.</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78352931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difference between a defect and damage?</a:t>
            </a:r>
          </a:p>
          <a:p>
            <a:pPr>
              <a:spcBef>
                <a:spcPts val="600"/>
              </a:spcBef>
              <a:spcAft>
                <a:spcPts val="1200"/>
              </a:spcAft>
              <a:buFont typeface="Arial" pitchFamily="34" charset="0"/>
              <a:buChar char="•"/>
            </a:pPr>
            <a:r>
              <a:rPr lang="en-AU" sz="1200" baseline="0" dirty="0" smtClean="0">
                <a:latin typeface="Helvetica" pitchFamily="34" charset="0"/>
              </a:rPr>
              <a:t>What items normally have defects?</a:t>
            </a:r>
          </a:p>
          <a:p>
            <a:pPr>
              <a:spcBef>
                <a:spcPts val="600"/>
              </a:spcBef>
              <a:spcAft>
                <a:spcPts val="1200"/>
              </a:spcAft>
              <a:buFont typeface="Arial" pitchFamily="34" charset="0"/>
              <a:buChar char="•"/>
            </a:pPr>
            <a:r>
              <a:rPr lang="en-AU" sz="1200" baseline="0" dirty="0" smtClean="0">
                <a:latin typeface="Helvetica" pitchFamily="34" charset="0"/>
              </a:rPr>
              <a:t>What items normally have damage?</a:t>
            </a: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80958920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causes it?</a:t>
            </a:r>
          </a:p>
          <a:p>
            <a:pPr>
              <a:spcBef>
                <a:spcPts val="600"/>
              </a:spcBef>
              <a:spcAft>
                <a:spcPts val="1200"/>
              </a:spcAft>
              <a:buFont typeface="Arial" pitchFamily="34" charset="0"/>
              <a:buChar char="•"/>
            </a:pPr>
            <a:r>
              <a:rPr lang="en-AU" sz="1200" baseline="0" dirty="0" smtClean="0">
                <a:latin typeface="Helvetica" pitchFamily="34" charset="0"/>
              </a:rPr>
              <a:t>What can you do about it?</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47188244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causes it?</a:t>
            </a:r>
          </a:p>
          <a:p>
            <a:pPr>
              <a:spcBef>
                <a:spcPts val="600"/>
              </a:spcBef>
              <a:spcAft>
                <a:spcPts val="1200"/>
              </a:spcAft>
              <a:buFont typeface="Arial" pitchFamily="34" charset="0"/>
              <a:buChar char="•"/>
            </a:pPr>
            <a:r>
              <a:rPr lang="en-AU" sz="1200" baseline="0" dirty="0" smtClean="0">
                <a:latin typeface="Helvetica" pitchFamily="34" charset="0"/>
              </a:rPr>
              <a:t>What can you do about it?</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86088835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baseline="0" dirty="0" smtClean="0">
                <a:latin typeface="Helvetica" pitchFamily="34" charset="0"/>
              </a:rPr>
              <a:t>Go back the list on the last 2 pages and identify which items can be:</a:t>
            </a:r>
          </a:p>
          <a:p>
            <a:pPr marL="228600" indent="-228600">
              <a:spcBef>
                <a:spcPts val="600"/>
              </a:spcBef>
              <a:spcAft>
                <a:spcPts val="1200"/>
              </a:spcAft>
              <a:buFont typeface="Arial" pitchFamily="34" charset="0"/>
              <a:buAutoNum type="alphaLcParenR"/>
            </a:pPr>
            <a:r>
              <a:rPr lang="en-AU" sz="1200" baseline="0" dirty="0" smtClean="0">
                <a:latin typeface="Helvetica" pitchFamily="34" charset="0"/>
              </a:rPr>
              <a:t>Replaced</a:t>
            </a:r>
          </a:p>
          <a:p>
            <a:pPr marL="228600" indent="-228600">
              <a:spcBef>
                <a:spcPts val="600"/>
              </a:spcBef>
              <a:spcAft>
                <a:spcPts val="1200"/>
              </a:spcAft>
              <a:buFont typeface="Arial" pitchFamily="34" charset="0"/>
              <a:buAutoNum type="alphaLcParenR"/>
            </a:pPr>
            <a:r>
              <a:rPr lang="en-AU" sz="1200" baseline="0" dirty="0" smtClean="0">
                <a:latin typeface="Helvetica" pitchFamily="34" charset="0"/>
              </a:rPr>
              <a:t>Will need to be repaired in the room.</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329164595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baseline="0" dirty="0" smtClean="0">
                <a:latin typeface="Helvetica" pitchFamily="34" charset="0"/>
              </a:rPr>
              <a:t>Personal observation and guest comments are the two common ways.</a:t>
            </a:r>
          </a:p>
          <a:p>
            <a:pPr>
              <a:spcBef>
                <a:spcPts val="600"/>
              </a:spcBef>
              <a:spcAft>
                <a:spcPts val="1200"/>
              </a:spcAft>
              <a:buFont typeface="Arial" pitchFamily="34" charset="0"/>
              <a:buChar char="•"/>
            </a:pPr>
            <a:r>
              <a:rPr lang="en-AU" sz="1200" baseline="0" dirty="0" smtClean="0">
                <a:latin typeface="Helvetica" pitchFamily="34" charset="0"/>
              </a:rPr>
              <a:t>When can you observe?</a:t>
            </a:r>
          </a:p>
          <a:p>
            <a:pPr>
              <a:spcBef>
                <a:spcPts val="600"/>
              </a:spcBef>
              <a:spcAft>
                <a:spcPts val="1200"/>
              </a:spcAft>
              <a:buFont typeface="Arial" pitchFamily="34" charset="0"/>
              <a:buChar char="•"/>
            </a:pPr>
            <a:r>
              <a:rPr lang="en-AU" sz="1200" baseline="0" dirty="0" smtClean="0">
                <a:latin typeface="Helvetica" pitchFamily="34" charset="0"/>
              </a:rPr>
              <a:t>How do guests normally advise staff of problems?</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330575937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Which is the best way and why?</a:t>
            </a:r>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314383543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common pests and how do you eliminate their presence?</a:t>
            </a:r>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408274638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is the best way to prevent them?</a:t>
            </a:r>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24664176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other ways to keep food and beverage away?</a:t>
            </a:r>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401308522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illegal activities that commonly take place in hotel rooms?</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do you know they are happening?</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What can you do about it?</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323993132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common immoral activities that takes place in guest rooms?</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What can you do about it?</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130406999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common items found?</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253485788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are common s</a:t>
            </a:r>
            <a:r>
              <a:rPr lang="en-AU" sz="1200" dirty="0" smtClean="0">
                <a:latin typeface="Helvetica" pitchFamily="34" charset="0"/>
              </a:rPr>
              <a:t>uspicious occurrences or people?</a:t>
            </a:r>
          </a:p>
          <a:p>
            <a:pPr>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345018101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do you normally do?</a:t>
            </a:r>
            <a:endParaRPr lang="en-AU" sz="1200" dirty="0" smtClean="0">
              <a:latin typeface="Helvetica" pitchFamily="34" charset="0"/>
            </a:endParaRPr>
          </a:p>
          <a:p>
            <a:pPr>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289430142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In what cases would you contact security directly?</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282154272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items are usually left in rooms?</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Where are they normally located?</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Are they left there intentionally?</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45069741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it the procedure in most hotels?</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199936907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smtClean="0">
                <a:latin typeface="Helvetica" pitchFamily="34" charset="0"/>
              </a:rPr>
              <a:t>What is </a:t>
            </a:r>
            <a:r>
              <a:rPr lang="en-AU" sz="1200" baseline="0" dirty="0" smtClean="0">
                <a:latin typeface="Helvetica" pitchFamily="34" charset="0"/>
              </a:rPr>
              <a:t>the procedure in most hotels for handling items that are considered to be left on purpose?</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89116724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additional housekeeping services?</a:t>
            </a:r>
          </a:p>
          <a:p>
            <a:pPr>
              <a:buFont typeface="Arial" pitchFamily="34" charset="0"/>
              <a:buChar char="•"/>
            </a:pPr>
            <a:r>
              <a:rPr lang="en-AU" sz="1200" kern="1200" baseline="0" dirty="0" smtClean="0">
                <a:solidFill>
                  <a:schemeClr val="tx1"/>
                </a:solidFill>
                <a:ea typeface="+mn-ea"/>
                <a:cs typeface="+mn-cs"/>
              </a:rPr>
              <a:t>When would these be done?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320346930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83446963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activities are involved in turn-down service?</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When should it take place?</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long should it take?</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112674125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turning down a room.</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02490294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turning down a room.</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What are common supplies a guest would normally ask for?</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384649353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turning down a room.</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3545096234"/>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turning down a room.</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168032922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turning down a room.</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337077902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it the procedure in most hotels?</a:t>
            </a: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144150229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examples of preventative maintenance?</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are examples of deep cleaning?</a:t>
            </a:r>
          </a:p>
          <a:p>
            <a:pPr>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83065735"/>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Why do mattresses need to be turned?</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items need to be replaced on a regular basis? Why?</a:t>
            </a:r>
          </a:p>
          <a:p>
            <a:pPr>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429077277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areas of a room need deep cleaning?</a:t>
            </a:r>
          </a:p>
          <a:p>
            <a:pPr>
              <a:spcBef>
                <a:spcPts val="600"/>
              </a:spcBef>
              <a:spcAft>
                <a:spcPts val="1200"/>
              </a:spcAft>
              <a:buFont typeface="Arial" pitchFamily="34" charset="0"/>
              <a:buChar char="•"/>
            </a:pPr>
            <a:r>
              <a:rPr lang="en-AU" sz="1200" baseline="0" dirty="0" smtClean="0">
                <a:latin typeface="Helvetica" pitchFamily="34" charset="0"/>
              </a:rPr>
              <a:t>Why?</a:t>
            </a:r>
          </a:p>
          <a:p>
            <a:pPr>
              <a:spcBef>
                <a:spcPts val="600"/>
              </a:spcBef>
              <a:spcAft>
                <a:spcPts val="1200"/>
              </a:spcAft>
              <a:buFont typeface="Arial" pitchFamily="34" charset="0"/>
              <a:buChar char="•"/>
            </a:pPr>
            <a:r>
              <a:rPr lang="en-AU" sz="1200" baseline="0" dirty="0" smtClean="0">
                <a:latin typeface="Helvetica" pitchFamily="34" charset="0"/>
              </a:rPr>
              <a:t>When should it be done?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2457337599"/>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None/>
            </a:pPr>
            <a:r>
              <a:rPr lang="en-AU" sz="1200" baseline="0" dirty="0" smtClean="0">
                <a:latin typeface="Helvetica" pitchFamily="34" charset="0"/>
              </a:rPr>
              <a:t>For each of the items needing deep cleaning provide an explanation of the exact cleaning to take place.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100676379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None/>
            </a:pPr>
            <a:r>
              <a:rPr lang="en-AU" sz="1200" baseline="0" dirty="0" smtClean="0">
                <a:latin typeface="Helvetica" pitchFamily="34" charset="0"/>
              </a:rPr>
              <a:t>For each of the items needing deep cleaning provide an explanation of the exact cleaning to take place.</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292046877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None/>
            </a:pPr>
            <a:r>
              <a:rPr lang="en-AU" sz="1200" baseline="0" dirty="0" smtClean="0">
                <a:latin typeface="Helvetica" pitchFamily="34" charset="0"/>
              </a:rPr>
              <a:t>For each of the items needing deep cleaning provide an explanation of the exact cleaning to take place.</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53855821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None/>
            </a:pPr>
            <a:r>
              <a:rPr lang="en-AU" sz="1200" baseline="0" dirty="0" smtClean="0">
                <a:latin typeface="Helvetica" pitchFamily="34" charset="0"/>
              </a:rPr>
              <a:t>For each of the items needing inspection provide an explanation of the exact cleaning to take place.</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3293978228"/>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None/>
            </a:pPr>
            <a:r>
              <a:rPr lang="en-AU" sz="1200" baseline="0" dirty="0" smtClean="0">
                <a:latin typeface="Helvetica" pitchFamily="34" charset="0"/>
              </a:rPr>
              <a:t>For each of the items needing inspection provide an explanation of the exact cleaning to take place.</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1032530020"/>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items are normally loaned to guests?</a:t>
            </a:r>
          </a:p>
          <a:p>
            <a:pPr>
              <a:spcBef>
                <a:spcPts val="600"/>
              </a:spcBef>
              <a:spcAft>
                <a:spcPts val="1200"/>
              </a:spcAft>
              <a:buFont typeface="Arial" pitchFamily="34" charset="0"/>
              <a:buChar char="•"/>
            </a:pPr>
            <a:r>
              <a:rPr lang="en-AU" sz="1200" baseline="0" dirty="0" smtClean="0">
                <a:latin typeface="Helvetica" pitchFamily="34" charset="0"/>
              </a:rPr>
              <a:t>Is there a charge?</a:t>
            </a:r>
          </a:p>
          <a:p>
            <a:pPr>
              <a:spcBef>
                <a:spcPts val="600"/>
              </a:spcBef>
              <a:spcAft>
                <a:spcPts val="1200"/>
              </a:spcAft>
              <a:buFont typeface="Arial" pitchFamily="34" charset="0"/>
              <a:buChar char="•"/>
            </a:pPr>
            <a:r>
              <a:rPr lang="en-AU" sz="1200" baseline="0" dirty="0" smtClean="0">
                <a:latin typeface="Helvetica" pitchFamily="34" charset="0"/>
              </a:rPr>
              <a:t>What procedures take place when loaning items?</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2951077444"/>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baseline="0" dirty="0" smtClean="0">
                <a:latin typeface="Helvetica" pitchFamily="34" charset="0"/>
              </a:rPr>
              <a:t>For each of the loan items, identify:</a:t>
            </a:r>
          </a:p>
          <a:p>
            <a:pPr>
              <a:spcBef>
                <a:spcPts val="600"/>
              </a:spcBef>
              <a:spcAft>
                <a:spcPts val="1200"/>
              </a:spcAft>
              <a:buFont typeface="Arial" pitchFamily="34" charset="0"/>
              <a:buChar char="•"/>
            </a:pPr>
            <a:r>
              <a:rPr lang="en-AU" sz="1200" baseline="0" dirty="0" smtClean="0">
                <a:latin typeface="Helvetica" pitchFamily="34" charset="0"/>
              </a:rPr>
              <a:t>Is there a charge?</a:t>
            </a:r>
          </a:p>
          <a:p>
            <a:pPr>
              <a:spcBef>
                <a:spcPts val="600"/>
              </a:spcBef>
              <a:spcAft>
                <a:spcPts val="1200"/>
              </a:spcAft>
              <a:buFont typeface="Arial" pitchFamily="34" charset="0"/>
              <a:buChar char="•"/>
            </a:pPr>
            <a:r>
              <a:rPr lang="en-AU" sz="1200" baseline="0" dirty="0" smtClean="0">
                <a:latin typeface="Helvetica" pitchFamily="34" charset="0"/>
              </a:rPr>
              <a:t>What procedures take place when loaning items?</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687195088"/>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baseline="0" dirty="0" smtClean="0">
                <a:latin typeface="Helvetica" pitchFamily="34" charset="0"/>
              </a:rPr>
              <a:t>For each of the loan items, identify:</a:t>
            </a:r>
          </a:p>
          <a:p>
            <a:pPr>
              <a:spcBef>
                <a:spcPts val="600"/>
              </a:spcBef>
              <a:spcAft>
                <a:spcPts val="1200"/>
              </a:spcAft>
              <a:buFont typeface="Arial" pitchFamily="34" charset="0"/>
              <a:buChar char="•"/>
            </a:pPr>
            <a:r>
              <a:rPr lang="en-AU" sz="1200" baseline="0" dirty="0" smtClean="0">
                <a:latin typeface="Helvetica" pitchFamily="34" charset="0"/>
              </a:rPr>
              <a:t>Is there a charge?</a:t>
            </a:r>
          </a:p>
          <a:p>
            <a:pPr>
              <a:spcBef>
                <a:spcPts val="600"/>
              </a:spcBef>
              <a:spcAft>
                <a:spcPts val="1200"/>
              </a:spcAft>
              <a:buFont typeface="Arial" pitchFamily="34" charset="0"/>
              <a:buChar char="•"/>
            </a:pPr>
            <a:r>
              <a:rPr lang="en-AU" sz="1200" baseline="0" dirty="0" smtClean="0">
                <a:latin typeface="Helvetica" pitchFamily="34" charset="0"/>
              </a:rPr>
              <a:t>What procedures take place when loaning items?</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47423577"/>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dirty="0" smtClean="0"/>
              <a:t>Record item – this is to ensure that once the guest has departed the item is still in the room and accounted for and that the appropriate action is taken to return it to its appropriate storage location</a:t>
            </a:r>
          </a:p>
          <a:p>
            <a:pPr>
              <a:buFont typeface="Arial" pitchFamily="34" charset="0"/>
              <a:buChar char="•"/>
            </a:pPr>
            <a:r>
              <a:rPr lang="en-AU" sz="1200" dirty="0" smtClean="0"/>
              <a:t>Give the item in a timely manner – this is the most important aspect. It is important to get the item as soon as possible to the guest</a:t>
            </a:r>
          </a:p>
          <a:p>
            <a:pPr>
              <a:buFont typeface="Arial" pitchFamily="34" charset="0"/>
              <a:buChar char="•"/>
            </a:pPr>
            <a:r>
              <a:rPr lang="en-AU" sz="1200" dirty="0" smtClean="0"/>
              <a:t>Get signature – at times a guest signature may be required if an item is expensive or if there is a charge involved</a:t>
            </a:r>
          </a:p>
          <a:p>
            <a:pPr>
              <a:buFont typeface="Arial" pitchFamily="34" charset="0"/>
              <a:buChar char="•"/>
            </a:pPr>
            <a:r>
              <a:rPr lang="en-AU" sz="1200" dirty="0" smtClean="0"/>
              <a:t>Record charges where appropriate – this is often completed at Front Office</a:t>
            </a:r>
          </a:p>
          <a:p>
            <a:pPr>
              <a:buFont typeface="Arial" pitchFamily="34" charset="0"/>
              <a:buChar char="•"/>
            </a:pPr>
            <a:r>
              <a:rPr lang="en-AU" sz="1200" dirty="0" smtClean="0"/>
              <a:t>Ensure items have been returned.</a:t>
            </a:r>
          </a:p>
          <a:p>
            <a:pPr>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3897896517"/>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do you need to do to prepare for the next shift?</a:t>
            </a:r>
          </a:p>
          <a:p>
            <a:pPr>
              <a:buFont typeface="Arial" pitchFamily="34" charset="0"/>
              <a:buChar char="•"/>
            </a:pPr>
            <a:r>
              <a:rPr lang="en-AU" sz="1200" kern="1200" baseline="0" dirty="0" smtClean="0">
                <a:solidFill>
                  <a:schemeClr val="tx1"/>
                </a:solidFill>
                <a:ea typeface="+mn-ea"/>
                <a:cs typeface="+mn-cs"/>
              </a:rPr>
              <a:t>When would these be done?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4242424327"/>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3731368748"/>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other documents may a room attendant be required to fill out?</a:t>
            </a:r>
          </a:p>
          <a:p>
            <a:pPr>
              <a:spcBef>
                <a:spcPts val="600"/>
              </a:spcBef>
              <a:spcAft>
                <a:spcPts val="1200"/>
              </a:spcAft>
              <a:buFont typeface="Arial" pitchFamily="34" charset="0"/>
              <a:buNone/>
            </a:pPr>
            <a:endParaRPr lang="en-AU" sz="1200" b="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b="0" kern="1200" baseline="0" dirty="0" smtClean="0">
                <a:solidFill>
                  <a:schemeClr val="tx1"/>
                </a:solidFill>
                <a:latin typeface="Helvetica" pitchFamily="34" charset="0"/>
                <a:ea typeface="+mn-ea"/>
                <a:cs typeface="+mn-cs"/>
              </a:rPr>
              <a:t>For the examples in this slide, the Trainer should try to get examples of them and demonstrate how to fill them out.</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350705572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is considered to be rubbish?</a:t>
            </a:r>
          </a:p>
          <a:p>
            <a:pPr>
              <a:spcBef>
                <a:spcPts val="600"/>
              </a:spcBef>
              <a:spcAft>
                <a:spcPts val="1200"/>
              </a:spcAft>
              <a:buFont typeface="Arial" pitchFamily="34" charset="0"/>
              <a:buChar char="•"/>
            </a:pPr>
            <a:r>
              <a:rPr lang="en-AU" sz="1200" baseline="0" dirty="0" smtClean="0">
                <a:latin typeface="Helvetica" pitchFamily="34" charset="0"/>
              </a:rPr>
              <a:t>Where is rubbish kept during a shift, considering a room attendant works on a guest floor?</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What is the procedure for disposing of rubbish?</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11258430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the benefits of proper waste management.</a:t>
            </a:r>
          </a:p>
          <a:p>
            <a:pPr>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Get the trainees to think about why it is important to clean at their own home. What happens if you don’t clean?</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3508435089"/>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Answer questions in the slide.</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3717594173"/>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How do you handle this rubbish?</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141424600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How do you handle this rubbish?</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874045487"/>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each point and the importance of each step.</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95212859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buFont typeface="Arial" pitchFamily="34" charset="0"/>
              <a:buChar char="•"/>
            </a:pPr>
            <a:r>
              <a:rPr lang="en-US" dirty="0" smtClean="0"/>
              <a:t>Answer</a:t>
            </a:r>
            <a:r>
              <a:rPr lang="en-US" baseline="0" dirty="0" smtClean="0"/>
              <a:t> question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1497356603"/>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and storing trolleys.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2938998819"/>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what needs to be re-stocked on a trolley.</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re-stocking trolleys.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336893181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What is the normal procedure for the movement of stock before, during and after a shift?</a:t>
            </a: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How normally does this?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2575367192"/>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How do you fill out a requisition form?</a:t>
            </a:r>
          </a:p>
          <a:p>
            <a:pPr>
              <a:spcBef>
                <a:spcPts val="600"/>
              </a:spcBef>
              <a:spcAft>
                <a:spcPts val="1200"/>
              </a:spcAft>
              <a:buFont typeface="Arial" pitchFamily="34" charset="0"/>
              <a:buNone/>
            </a:pPr>
            <a:endParaRPr lang="en-AU" sz="1200" b="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b="0" kern="1200" baseline="0" dirty="0" smtClean="0">
                <a:solidFill>
                  <a:schemeClr val="tx1"/>
                </a:solidFill>
                <a:latin typeface="Helvetica" pitchFamily="34" charset="0"/>
                <a:ea typeface="+mn-ea"/>
                <a:cs typeface="+mn-cs"/>
              </a:rPr>
              <a:t>Trainer should try to get examples of them and demonstrate how to fill them out.</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2531025438"/>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points</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389570086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equipment.</a:t>
            </a:r>
          </a:p>
          <a:p>
            <a:pPr lvl="0"/>
            <a:endParaRPr lang="en-US" sz="1200" dirty="0" smtClean="0">
              <a:latin typeface="Helvetica" pitchFamily="34" charset="0"/>
            </a:endParaRPr>
          </a:p>
          <a:p>
            <a:pPr lvl="0">
              <a:buFont typeface="Arial" pitchFamily="34" charset="0"/>
              <a:buChar char="•"/>
            </a:pPr>
            <a:r>
              <a:rPr lang="en-US" sz="1200" dirty="0" smtClean="0">
                <a:latin typeface="Helvetica" pitchFamily="34" charset="0"/>
              </a:rPr>
              <a:t>Dusting mops – after use, shake thoroughly in appropriate location (outside) then wash in hot soapy water, and hang out to air dry</a:t>
            </a:r>
            <a:endParaRPr lang="en-AU" sz="1200" dirty="0" smtClean="0">
              <a:latin typeface="Helvetica" pitchFamily="34" charset="0"/>
            </a:endParaRPr>
          </a:p>
          <a:p>
            <a:pPr lvl="0">
              <a:buFont typeface="Arial" pitchFamily="34" charset="0"/>
              <a:buChar char="•"/>
            </a:pPr>
            <a:r>
              <a:rPr lang="en-US" sz="1200" dirty="0" smtClean="0">
                <a:latin typeface="Helvetica" pitchFamily="34" charset="0"/>
              </a:rPr>
              <a:t>Polishing mops – on a regular basis, remove fluff and rinse mop in turpentine, which will remove the polish – after the mop has been squeeze-dried, re-coat with polish</a:t>
            </a:r>
            <a:endParaRPr lang="en-AU" sz="1200" dirty="0" smtClean="0">
              <a:latin typeface="Helvetica" pitchFamily="34" charset="0"/>
            </a:endParaRPr>
          </a:p>
          <a:p>
            <a:pPr lvl="0">
              <a:buFont typeface="Arial" pitchFamily="34" charset="0"/>
              <a:buChar char="•"/>
            </a:pPr>
            <a:r>
              <a:rPr lang="en-US" sz="1200" dirty="0" smtClean="0">
                <a:latin typeface="Helvetica" pitchFamily="34" charset="0"/>
              </a:rPr>
              <a:t>Washing mops – on a regular basis mops should be washed in hot soapy water, rinsed thoroughly, squeeze-dried, then hung up to air dry.</a:t>
            </a:r>
            <a:endParaRPr lang="en-AU" sz="1200" dirty="0" smtClean="0">
              <a:latin typeface="Helvetica" pitchFamily="34" charset="0"/>
            </a:endParaRPr>
          </a:p>
          <a:p>
            <a:pPr>
              <a:spcBef>
                <a:spcPts val="600"/>
              </a:spcBef>
              <a:spcAft>
                <a:spcPts val="1200"/>
              </a:spcAft>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3242772828"/>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equipment.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258985470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equipment.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3467768008"/>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equipment.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extLst>
      <p:ext uri="{BB962C8B-B14F-4D97-AF65-F5344CB8AC3E}">
        <p14:creationId xmlns:p14="http://schemas.microsoft.com/office/powerpoint/2010/main" val="209330586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equipment.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extLst>
      <p:ext uri="{BB962C8B-B14F-4D97-AF65-F5344CB8AC3E}">
        <p14:creationId xmlns:p14="http://schemas.microsoft.com/office/powerpoint/2010/main" val="1823180073"/>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Trainees to practice cleaning equipment.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extLst>
      <p:ext uri="{BB962C8B-B14F-4D97-AF65-F5344CB8AC3E}">
        <p14:creationId xmlns:p14="http://schemas.microsoft.com/office/powerpoint/2010/main" val="3682955237"/>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show where items are stored in a storage area.</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extLst>
      <p:ext uri="{BB962C8B-B14F-4D97-AF65-F5344CB8AC3E}">
        <p14:creationId xmlns:p14="http://schemas.microsoft.com/office/powerpoint/2010/main" val="2000568823"/>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Discuss points.</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Char char="•"/>
            </a:pPr>
            <a:r>
              <a:rPr lang="en-AU" sz="1200" kern="1200" baseline="0" dirty="0" smtClean="0">
                <a:solidFill>
                  <a:schemeClr val="tx1"/>
                </a:solidFill>
                <a:latin typeface="Helvetica" pitchFamily="34" charset="0"/>
                <a:ea typeface="+mn-ea"/>
                <a:cs typeface="+mn-cs"/>
              </a:rPr>
              <a:t>What happens now that all equipment has been cleaned and stored away?</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extLst>
      <p:ext uri="{BB962C8B-B14F-4D97-AF65-F5344CB8AC3E}">
        <p14:creationId xmlns:p14="http://schemas.microsoft.com/office/powerpoint/2010/main" val="469861063"/>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and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Discuss points.</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extLst>
      <p:ext uri="{BB962C8B-B14F-4D97-AF65-F5344CB8AC3E}">
        <p14:creationId xmlns:p14="http://schemas.microsoft.com/office/powerpoint/2010/main" val="3769094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3/12/2015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3/12/2015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3/12/2015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3/12/2015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3/12/2015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xc.hu/browse.phtml?f=download&amp;id=1260927"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116.wmf"/></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3.xml"/><Relationship Id="rId1" Type="http://schemas.openxmlformats.org/officeDocument/2006/relationships/slideLayout" Target="../slideLayouts/slideLayout2.xml"/><Relationship Id="rId5" Type="http://schemas.openxmlformats.org/officeDocument/2006/relationships/image" Target="../media/image133.wmf"/><Relationship Id="rId4" Type="http://schemas.openxmlformats.org/officeDocument/2006/relationships/image" Target="../media/image132.jpeg"/></Relationships>
</file>

<file path=ppt/slides/_rels/slide1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62.xml"/><Relationship Id="rId1" Type="http://schemas.openxmlformats.org/officeDocument/2006/relationships/slideLayout" Target="../slideLayouts/slideLayout2.xml"/><Relationship Id="rId4" Type="http://schemas.openxmlformats.org/officeDocument/2006/relationships/image" Target="../media/image150.jpeg"/></Relationships>
</file>

<file path=ppt/slides/_rels/slide163.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63.xml"/><Relationship Id="rId1" Type="http://schemas.openxmlformats.org/officeDocument/2006/relationships/slideLayout" Target="../slideLayouts/slideLayout2.xml"/><Relationship Id="rId4" Type="http://schemas.openxmlformats.org/officeDocument/2006/relationships/image" Target="../media/image152.wmf"/></Relationships>
</file>

<file path=ppt/slides/_rels/slide164.x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58.wmf"/><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79.xml"/><Relationship Id="rId1" Type="http://schemas.openxmlformats.org/officeDocument/2006/relationships/slideLayout" Target="../slideLayouts/slideLayout2.xml"/><Relationship Id="rId5" Type="http://schemas.openxmlformats.org/officeDocument/2006/relationships/image" Target="../media/image168.wmf"/><Relationship Id="rId4" Type="http://schemas.openxmlformats.org/officeDocument/2006/relationships/image" Target="../media/image167.jpeg"/></Relationships>
</file>

<file path=ppt/slides/_rels/slide180.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86.xml"/><Relationship Id="rId1" Type="http://schemas.openxmlformats.org/officeDocument/2006/relationships/slideLayout" Target="../slideLayouts/slideLayout2.xml"/><Relationship Id="rId4" Type="http://schemas.openxmlformats.org/officeDocument/2006/relationships/image" Target="../media/image176.jpeg"/></Relationships>
</file>

<file path=ppt/slides/_rels/slide187.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692696"/>
            <a:ext cx="6480048" cy="1285884"/>
          </a:xfrm>
        </p:spPr>
        <p:txBody>
          <a:bodyPr>
            <a:normAutofit fontScale="90000"/>
          </a:bodyPr>
          <a:lstStyle/>
          <a:p>
            <a:r>
              <a:rPr lang="en-US" sz="4000" dirty="0" smtClean="0">
                <a:ln w="5000" cmpd="sng">
                  <a:noFill/>
                  <a:prstDash val="solid"/>
                </a:ln>
                <a:solidFill>
                  <a:srgbClr val="FF6600"/>
                </a:solidFill>
                <a:latin typeface="Helvetica" pitchFamily="34" charset="0"/>
              </a:rPr>
              <a:t>CLEAN AND PREPARE ROOMS FOR INCOMING GUESTS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1835696" y="1700808"/>
            <a:ext cx="6480048" cy="1075560"/>
          </a:xfrm>
        </p:spPr>
        <p:txBody>
          <a:bodyPr>
            <a:normAutofit/>
          </a:bodyPr>
          <a:lstStyle/>
          <a:p>
            <a:r>
              <a:rPr lang="en-AU" b="1" dirty="0" smtClean="0"/>
              <a:t>D1.HHK.CL3.03</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384002" name="Picture 2" descr="Beach house indoors">
            <a:hlinkClick r:id="rId3"/>
          </p:cNvPr>
          <p:cNvPicPr>
            <a:picLocks noChangeAspect="1" noChangeArrowheads="1"/>
          </p:cNvPicPr>
          <p:nvPr/>
        </p:nvPicPr>
        <p:blipFill>
          <a:blip r:embed="rId4" cstate="print"/>
          <a:srcRect/>
          <a:stretch>
            <a:fillRect/>
          </a:stretch>
        </p:blipFill>
        <p:spPr bwMode="auto">
          <a:xfrm>
            <a:off x="971600" y="2276872"/>
            <a:ext cx="2857500" cy="1905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descr="MP900431755[1].JPG"/>
          <p:cNvPicPr>
            <a:picLocks noChangeAspect="1"/>
          </p:cNvPicPr>
          <p:nvPr/>
        </p:nvPicPr>
        <p:blipFill>
          <a:blip r:embed="rId5" cstate="print"/>
          <a:stretch>
            <a:fillRect/>
          </a:stretch>
        </p:blipFill>
        <p:spPr>
          <a:xfrm>
            <a:off x="1475656" y="3933056"/>
            <a:ext cx="2951271" cy="19667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IMG_1116.JPG"/>
          <p:cNvPicPr/>
          <p:nvPr/>
        </p:nvPicPr>
        <p:blipFill>
          <a:blip r:embed="rId6" cstate="print"/>
          <a:srcRect l="10260" r="1135"/>
          <a:stretch>
            <a:fillRect/>
          </a:stretch>
        </p:blipFill>
        <p:spPr>
          <a:xfrm>
            <a:off x="3995936" y="2924944"/>
            <a:ext cx="2650141" cy="21379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This unit comprises seven Elements:</a:t>
            </a:r>
          </a:p>
          <a:p>
            <a:pPr marL="360000" indent="-360000">
              <a:spcBef>
                <a:spcPts val="600"/>
              </a:spcBef>
              <a:spcAft>
                <a:spcPts val="1200"/>
              </a:spcAft>
            </a:pPr>
            <a:r>
              <a:rPr lang="en-AU" sz="2200" dirty="0" smtClean="0">
                <a:latin typeface="Helvetica" pitchFamily="34" charset="0"/>
              </a:rPr>
              <a:t>Identify the role of room attendants </a:t>
            </a:r>
          </a:p>
          <a:p>
            <a:pPr marL="360000" indent="-360000">
              <a:spcBef>
                <a:spcPts val="600"/>
              </a:spcBef>
              <a:spcAft>
                <a:spcPts val="1200"/>
              </a:spcAft>
            </a:pPr>
            <a:r>
              <a:rPr lang="en-AU" sz="2200" dirty="0" smtClean="0">
                <a:latin typeface="Helvetica" pitchFamily="34" charset="0"/>
              </a:rPr>
              <a:t>Prepare for cleaning duties </a:t>
            </a:r>
          </a:p>
          <a:p>
            <a:pPr marL="360000" indent="-360000">
              <a:spcBef>
                <a:spcPts val="600"/>
              </a:spcBef>
              <a:spcAft>
                <a:spcPts val="1200"/>
              </a:spcAft>
            </a:pPr>
            <a:r>
              <a:rPr lang="en-AU" sz="2200" dirty="0" smtClean="0">
                <a:latin typeface="Helvetica" pitchFamily="34" charset="0"/>
              </a:rPr>
              <a:t>Make beds</a:t>
            </a:r>
          </a:p>
          <a:p>
            <a:pPr marL="360000" indent="-360000">
              <a:spcBef>
                <a:spcPts val="600"/>
              </a:spcBef>
              <a:spcAft>
                <a:spcPts val="1200"/>
              </a:spcAft>
            </a:pPr>
            <a:r>
              <a:rPr lang="en-AU" sz="2200" dirty="0" smtClean="0">
                <a:latin typeface="Helvetica" pitchFamily="34" charset="0"/>
              </a:rPr>
              <a:t>Clean bathroom</a:t>
            </a:r>
          </a:p>
          <a:p>
            <a:pPr marL="360000" indent="-360000">
              <a:spcBef>
                <a:spcPts val="600"/>
              </a:spcBef>
              <a:spcAft>
                <a:spcPts val="1200"/>
              </a:spcAft>
            </a:pPr>
            <a:r>
              <a:rPr lang="en-AU" sz="2200" dirty="0" smtClean="0">
                <a:latin typeface="Helvetica" pitchFamily="34" charset="0"/>
              </a:rPr>
              <a:t>Clean room</a:t>
            </a:r>
          </a:p>
          <a:p>
            <a:pPr marL="360000" indent="-360000">
              <a:spcBef>
                <a:spcPts val="600"/>
              </a:spcBef>
              <a:spcAft>
                <a:spcPts val="1200"/>
              </a:spcAft>
            </a:pPr>
            <a:r>
              <a:rPr lang="en-AU" sz="2200" dirty="0" smtClean="0">
                <a:latin typeface="Helvetica" pitchFamily="34" charset="0"/>
              </a:rPr>
              <a:t>Provide additional housekeeping services</a:t>
            </a:r>
          </a:p>
          <a:p>
            <a:pPr marL="360000" indent="-360000">
              <a:spcBef>
                <a:spcPts val="600"/>
              </a:spcBef>
              <a:spcAft>
                <a:spcPts val="1200"/>
              </a:spcAft>
            </a:pPr>
            <a:r>
              <a:rPr lang="en-AU" sz="2200" dirty="0" smtClean="0">
                <a:latin typeface="Helvetica" pitchFamily="34" charset="0"/>
              </a:rPr>
              <a:t>Prepare for next shift.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7" name="Picture 6" descr="MP900314373[1].JPG"/>
          <p:cNvPicPr>
            <a:picLocks noChangeAspect="1"/>
          </p:cNvPicPr>
          <p:nvPr/>
        </p:nvPicPr>
        <p:blipFill>
          <a:blip r:embed="rId3" cstate="print"/>
          <a:stretch>
            <a:fillRect/>
          </a:stretch>
        </p:blipFill>
        <p:spPr>
          <a:xfrm>
            <a:off x="6516216" y="2204864"/>
            <a:ext cx="1276942" cy="288032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6" descr="MP900314372[1].JPG"/>
          <p:cNvPicPr>
            <a:picLocks noChangeAspect="1"/>
          </p:cNvPicPr>
          <p:nvPr/>
        </p:nvPicPr>
        <p:blipFill>
          <a:blip r:embed="rId3" cstate="print"/>
          <a:stretch>
            <a:fillRect/>
          </a:stretch>
        </p:blipFill>
        <p:spPr>
          <a:xfrm>
            <a:off x="6588224" y="2060848"/>
            <a:ext cx="1358551" cy="288032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88832" cy="4608512"/>
          </a:xfrm>
        </p:spPr>
        <p:txBody>
          <a:bodyPr>
            <a:normAutofit/>
          </a:bodyPr>
          <a:lstStyle/>
          <a:p>
            <a:pPr>
              <a:buNone/>
            </a:pPr>
            <a:r>
              <a:rPr lang="en-AU" sz="3200" b="1" dirty="0" smtClean="0">
                <a:solidFill>
                  <a:srgbClr val="FF6600"/>
                </a:solidFill>
              </a:rPr>
              <a:t>Element 1:</a:t>
            </a:r>
          </a:p>
          <a:p>
            <a:pPr marL="0">
              <a:buNone/>
            </a:pPr>
            <a:r>
              <a:rPr lang="en-AU" sz="3200" b="1" i="1" dirty="0" smtClean="0">
                <a:solidFill>
                  <a:srgbClr val="FF6600"/>
                </a:solidFill>
              </a:rPr>
              <a:t>Identify the role of room attendants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5" descr="MP900408879[1].JPG"/>
          <p:cNvPicPr>
            <a:picLocks noChangeAspect="1"/>
          </p:cNvPicPr>
          <p:nvPr/>
        </p:nvPicPr>
        <p:blipFill>
          <a:blip r:embed="rId3" cstate="print"/>
          <a:stretch>
            <a:fillRect/>
          </a:stretch>
        </p:blipFill>
        <p:spPr>
          <a:xfrm>
            <a:off x="3059832" y="3789040"/>
            <a:ext cx="2232248" cy="223224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role of room attendants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Describe the services delivered by a room attendant</a:t>
            </a:r>
          </a:p>
          <a:p>
            <a:pPr>
              <a:spcBef>
                <a:spcPts val="600"/>
              </a:spcBef>
              <a:spcAft>
                <a:spcPts val="1200"/>
              </a:spcAft>
            </a:pPr>
            <a:r>
              <a:rPr lang="en-AU" sz="2200" dirty="0" smtClean="0">
                <a:latin typeface="Helvetica" pitchFamily="34" charset="0"/>
              </a:rPr>
              <a:t>Locate the position of room attendants within the enterprise</a:t>
            </a:r>
          </a:p>
          <a:p>
            <a:pPr>
              <a:spcBef>
                <a:spcPts val="600"/>
              </a:spcBef>
              <a:spcAft>
                <a:spcPts val="1200"/>
              </a:spcAft>
            </a:pPr>
            <a:r>
              <a:rPr lang="en-AU" sz="2200" dirty="0" smtClean="0">
                <a:latin typeface="Helvetica" pitchFamily="34" charset="0"/>
              </a:rPr>
              <a:t>Identify the personal characteristics                             required of a room attendant.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7" name="Picture 6" descr="MP900431749[1].JPG"/>
          <p:cNvPicPr>
            <a:picLocks noChangeAspect="1"/>
          </p:cNvPicPr>
          <p:nvPr/>
        </p:nvPicPr>
        <p:blipFill>
          <a:blip r:embed="rId3" cstate="print"/>
          <a:stretch>
            <a:fillRect/>
          </a:stretch>
        </p:blipFill>
        <p:spPr>
          <a:xfrm>
            <a:off x="5724128" y="3429000"/>
            <a:ext cx="1916832" cy="191683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role of room attendants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000"/>
              </a:spcAft>
            </a:pPr>
            <a:r>
              <a:rPr lang="en-AU" sz="2200" dirty="0" smtClean="0">
                <a:latin typeface="Helvetica" pitchFamily="34" charset="0"/>
              </a:rPr>
              <a:t>Describe grooming and personal presentation standards for a room attendant</a:t>
            </a:r>
          </a:p>
          <a:p>
            <a:pPr>
              <a:spcBef>
                <a:spcPts val="600"/>
              </a:spcBef>
              <a:spcAft>
                <a:spcPts val="1000"/>
              </a:spcAft>
            </a:pPr>
            <a:r>
              <a:rPr lang="en-AU" sz="2200" dirty="0" smtClean="0">
                <a:latin typeface="Helvetica" pitchFamily="34" charset="0"/>
              </a:rPr>
              <a:t>Interpret enterprise policies and procedures for the provision of housekeeping services</a:t>
            </a:r>
          </a:p>
          <a:p>
            <a:pPr>
              <a:spcBef>
                <a:spcPts val="600"/>
              </a:spcBef>
              <a:spcAft>
                <a:spcPts val="1000"/>
              </a:spcAft>
            </a:pPr>
            <a:r>
              <a:rPr lang="en-AU" sz="2200" dirty="0" smtClean="0">
                <a:latin typeface="Helvetica" pitchFamily="34" charset="0"/>
              </a:rPr>
              <a:t>Identify and explain the role of communication in the provision of housekeeping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4" descr="MP900385508[1].JPG"/>
          <p:cNvPicPr>
            <a:picLocks noChangeAspect="1"/>
          </p:cNvPicPr>
          <p:nvPr/>
        </p:nvPicPr>
        <p:blipFill>
          <a:blip r:embed="rId3" cstate="print"/>
          <a:stretch>
            <a:fillRect/>
          </a:stretch>
        </p:blipFill>
        <p:spPr>
          <a:xfrm>
            <a:off x="3671900" y="4786322"/>
            <a:ext cx="1800200" cy="1285857"/>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Room attendants are located in any tourism and hospitality business that provides accommodation to their guests. </a:t>
            </a:r>
          </a:p>
          <a:p>
            <a:pPr marL="0">
              <a:spcBef>
                <a:spcPts val="600"/>
              </a:spcBef>
              <a:spcAft>
                <a:spcPts val="1200"/>
              </a:spcAft>
              <a:buNone/>
            </a:pPr>
            <a:r>
              <a:rPr lang="en-AU" sz="2200" dirty="0" smtClean="0">
                <a:latin typeface="Helvetica" pitchFamily="34" charset="0"/>
              </a:rPr>
              <a:t>In many hotels and resorts, more people are employed as room attendants than any other front line position.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5" descr="MP900431691[1].JPG"/>
          <p:cNvPicPr/>
          <p:nvPr/>
        </p:nvPicPr>
        <p:blipFill>
          <a:blip r:embed="rId3" cstate="print"/>
          <a:stretch>
            <a:fillRect/>
          </a:stretch>
        </p:blipFill>
        <p:spPr>
          <a:xfrm>
            <a:off x="3453966" y="3573016"/>
            <a:ext cx="2236068" cy="230807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Aft>
                <a:spcPts val="1200"/>
              </a:spcAft>
              <a:buNone/>
            </a:pPr>
            <a:r>
              <a:rPr lang="en-AU" sz="2200" dirty="0" smtClean="0">
                <a:latin typeface="Helvetica" pitchFamily="34" charset="0"/>
              </a:rPr>
              <a:t>Their role is to facilitate the comfort of guests ensuring their ‘home away from home’ is clean, safe and presented in an appealing manner. </a:t>
            </a:r>
          </a:p>
          <a:p>
            <a:pPr marL="0">
              <a:spcAft>
                <a:spcPts val="1200"/>
              </a:spcAft>
            </a:pPr>
            <a:r>
              <a:rPr lang="en-AU" sz="2200" dirty="0" smtClean="0">
                <a:latin typeface="Helvetica" pitchFamily="34" charset="0"/>
              </a:rPr>
              <a:t>How can you make a room appealing?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368642" name="Picture 2" descr="C:\Documents and Settings\jirayut\Desktop\Hotel room1.jpg"/>
          <p:cNvPicPr>
            <a:picLocks noChangeAspect="1" noChangeArrowheads="1"/>
          </p:cNvPicPr>
          <p:nvPr/>
        </p:nvPicPr>
        <p:blipFill>
          <a:blip r:embed="rId3" cstate="print"/>
          <a:srcRect/>
          <a:stretch>
            <a:fillRect/>
          </a:stretch>
        </p:blipFill>
        <p:spPr bwMode="auto">
          <a:xfrm>
            <a:off x="3167844" y="3500438"/>
            <a:ext cx="2808312" cy="2106234"/>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buNone/>
            </a:pPr>
            <a:r>
              <a:rPr lang="en-AU" sz="2200" dirty="0" smtClean="0">
                <a:latin typeface="Helvetica" pitchFamily="34" charset="0"/>
              </a:rPr>
              <a:t>Whilst their primary function is to clean they must also be friendly, informative, discreet and handle any requests or problems relating to the guest room. </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366594" name="Picture 2" descr="http://farm7.staticflickr.com/6188/6055762549_ce8cdf9c3b.jpg"/>
          <p:cNvPicPr>
            <a:picLocks noChangeAspect="1" noChangeArrowheads="1"/>
          </p:cNvPicPr>
          <p:nvPr/>
        </p:nvPicPr>
        <p:blipFill>
          <a:blip r:embed="rId3" cstate="print"/>
          <a:srcRect/>
          <a:stretch>
            <a:fillRect/>
          </a:stretch>
        </p:blipFill>
        <p:spPr bwMode="auto">
          <a:xfrm>
            <a:off x="3059832" y="3429000"/>
            <a:ext cx="3024336" cy="2014208"/>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Areas of responsibility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dirty="0" smtClean="0">
                <a:latin typeface="Helvetica" pitchFamily="34" charset="0"/>
              </a:rPr>
              <a:t>In summary they are responsible for the: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Cleanliness of rooms</a:t>
            </a:r>
          </a:p>
          <a:p>
            <a:pPr lvl="0">
              <a:spcBef>
                <a:spcPts val="600"/>
              </a:spcBef>
              <a:spcAft>
                <a:spcPts val="1200"/>
              </a:spcAft>
            </a:pPr>
            <a:r>
              <a:rPr lang="en-AU" sz="2200" dirty="0" smtClean="0">
                <a:latin typeface="Helvetica" pitchFamily="34" charset="0"/>
              </a:rPr>
              <a:t>Overall appearance of rooms</a:t>
            </a:r>
          </a:p>
          <a:p>
            <a:pPr lvl="0">
              <a:spcBef>
                <a:spcPts val="600"/>
              </a:spcBef>
              <a:spcAft>
                <a:spcPts val="1200"/>
              </a:spcAft>
            </a:pPr>
            <a:r>
              <a:rPr lang="en-AU" sz="2200" dirty="0" smtClean="0">
                <a:latin typeface="Helvetica" pitchFamily="34" charset="0"/>
              </a:rPr>
              <a:t>Security of guest rooms</a:t>
            </a:r>
          </a:p>
          <a:p>
            <a:pPr lvl="0">
              <a:spcBef>
                <a:spcPts val="600"/>
              </a:spcBef>
              <a:spcAft>
                <a:spcPts val="1200"/>
              </a:spcAft>
            </a:pPr>
            <a:r>
              <a:rPr lang="en-AU" sz="2200" dirty="0" smtClean="0">
                <a:latin typeface="Helvetica" pitchFamily="34" charset="0"/>
              </a:rPr>
              <a:t>Privacy of guests.</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364546" name="Picture 2" descr="http://farm4.staticflickr.com/3158/2494690766_370ef0908e.jpg"/>
          <p:cNvPicPr>
            <a:picLocks noChangeAspect="1" noChangeArrowheads="1"/>
          </p:cNvPicPr>
          <p:nvPr/>
        </p:nvPicPr>
        <p:blipFill>
          <a:blip r:embed="rId3" cstate="print"/>
          <a:srcRect/>
          <a:stretch>
            <a:fillRect/>
          </a:stretch>
        </p:blipFill>
        <p:spPr bwMode="auto">
          <a:xfrm>
            <a:off x="5143504" y="3286124"/>
            <a:ext cx="3010785" cy="1728192"/>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Areas of responsibility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dirty="0" smtClean="0">
                <a:latin typeface="Helvetica" pitchFamily="34" charset="0"/>
              </a:rPr>
              <a:t>The areas of responsibility include: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Guest Relations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Guest Safety</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Cleaning</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Administration and Communication.</a:t>
            </a:r>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MP900430525[1].JPG"/>
          <p:cNvPicPr/>
          <p:nvPr/>
        </p:nvPicPr>
        <p:blipFill>
          <a:blip r:embed="rId3" cstate="print"/>
          <a:stretch>
            <a:fillRect/>
          </a:stretch>
        </p:blipFill>
        <p:spPr>
          <a:xfrm>
            <a:off x="5724128" y="2780928"/>
            <a:ext cx="2016224" cy="231931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What are all the activities you think a room attendant does during a shift?</a:t>
            </a:r>
          </a:p>
          <a:p>
            <a:pPr>
              <a:spcBef>
                <a:spcPts val="600"/>
              </a:spcBef>
              <a:spcAft>
                <a:spcPts val="1200"/>
              </a:spcAft>
            </a:pPr>
            <a:r>
              <a:rPr lang="en-AU" sz="2200" dirty="0" smtClean="0">
                <a:latin typeface="Helvetica" pitchFamily="34" charset="0"/>
              </a:rPr>
              <a:t>Prepare for work</a:t>
            </a:r>
          </a:p>
          <a:p>
            <a:pPr>
              <a:spcBef>
                <a:spcPts val="600"/>
              </a:spcBef>
              <a:spcAft>
                <a:spcPts val="1200"/>
              </a:spcAft>
            </a:pPr>
            <a:r>
              <a:rPr lang="en-AU" sz="2200" dirty="0" smtClean="0">
                <a:latin typeface="Helvetica" pitchFamily="34" charset="0"/>
              </a:rPr>
              <a:t>Enter room</a:t>
            </a:r>
          </a:p>
          <a:p>
            <a:pPr>
              <a:spcBef>
                <a:spcPts val="600"/>
              </a:spcBef>
              <a:spcAft>
                <a:spcPts val="1200"/>
              </a:spcAft>
            </a:pPr>
            <a:r>
              <a:rPr lang="en-AU" sz="2200" dirty="0" smtClean="0">
                <a:latin typeface="Helvetica" pitchFamily="34" charset="0"/>
              </a:rPr>
              <a:t>Clean room</a:t>
            </a:r>
          </a:p>
          <a:p>
            <a:pPr>
              <a:spcBef>
                <a:spcPts val="600"/>
              </a:spcBef>
              <a:spcAft>
                <a:spcPts val="1200"/>
              </a:spcAft>
            </a:pPr>
            <a:r>
              <a:rPr lang="en-AU" sz="2200" dirty="0" smtClean="0">
                <a:latin typeface="Helvetica" pitchFamily="34" charset="0"/>
              </a:rPr>
              <a:t>Provide information to guests</a:t>
            </a:r>
          </a:p>
          <a:p>
            <a:pPr>
              <a:spcBef>
                <a:spcPts val="600"/>
              </a:spcBef>
              <a:spcAft>
                <a:spcPts val="1200"/>
              </a:spcAft>
            </a:pPr>
            <a:r>
              <a:rPr lang="en-AU" sz="2200" dirty="0" smtClean="0">
                <a:latin typeface="Helvetica" pitchFamily="34" charset="0"/>
              </a:rPr>
              <a:t>Maintain storage areas and trolleys</a:t>
            </a:r>
          </a:p>
          <a:p>
            <a:pPr>
              <a:spcBef>
                <a:spcPts val="600"/>
              </a:spcBef>
              <a:spcAft>
                <a:spcPts val="1200"/>
              </a:spcAft>
            </a:pPr>
            <a:r>
              <a:rPr lang="en-AU" sz="2200" dirty="0" smtClean="0">
                <a:latin typeface="Helvetica" pitchFamily="34" charset="0"/>
              </a:rPr>
              <a:t>Close shift.</a:t>
            </a:r>
          </a:p>
          <a:p>
            <a:pPr>
              <a:spcBef>
                <a:spcPts val="600"/>
              </a:spcBef>
              <a:spcAft>
                <a:spcPts val="1200"/>
              </a:spcAft>
              <a:buNone/>
            </a:pPr>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7" name="Picture 6" descr="MP900448582[1].JPG"/>
          <p:cNvPicPr/>
          <p:nvPr/>
        </p:nvPicPr>
        <p:blipFill>
          <a:blip r:embed="rId3" cstate="print"/>
          <a:stretch>
            <a:fillRect/>
          </a:stretch>
        </p:blipFill>
        <p:spPr>
          <a:xfrm>
            <a:off x="5724128" y="2780928"/>
            <a:ext cx="2016224" cy="201528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Prepare for work</a:t>
            </a:r>
          </a:p>
          <a:p>
            <a:pPr lvl="0">
              <a:spcBef>
                <a:spcPts val="600"/>
              </a:spcBef>
              <a:spcAft>
                <a:spcPts val="1200"/>
              </a:spcAft>
            </a:pPr>
            <a:r>
              <a:rPr lang="en-AU" sz="2200" dirty="0" smtClean="0">
                <a:latin typeface="Helvetica" pitchFamily="34" charset="0"/>
              </a:rPr>
              <a:t>Collect master keys</a:t>
            </a:r>
          </a:p>
          <a:p>
            <a:pPr lvl="0">
              <a:spcBef>
                <a:spcPts val="600"/>
              </a:spcBef>
              <a:spcAft>
                <a:spcPts val="1200"/>
              </a:spcAft>
            </a:pPr>
            <a:r>
              <a:rPr lang="en-AU" sz="2200" dirty="0" smtClean="0">
                <a:latin typeface="Helvetica" pitchFamily="34" charset="0"/>
              </a:rPr>
              <a:t>Collect daily room allocation sheets</a:t>
            </a:r>
          </a:p>
          <a:p>
            <a:pPr lvl="0">
              <a:spcBef>
                <a:spcPts val="600"/>
              </a:spcBef>
              <a:spcAft>
                <a:spcPts val="1200"/>
              </a:spcAft>
            </a:pPr>
            <a:r>
              <a:rPr lang="en-AU" sz="2200" dirty="0" smtClean="0">
                <a:latin typeface="Helvetica" pitchFamily="34" charset="0"/>
              </a:rPr>
              <a:t>Stock housekeeping trolleys</a:t>
            </a:r>
          </a:p>
          <a:p>
            <a:pPr lvl="0">
              <a:spcBef>
                <a:spcPts val="600"/>
              </a:spcBef>
              <a:spcAft>
                <a:spcPts val="1200"/>
              </a:spcAft>
            </a:pPr>
            <a:r>
              <a:rPr lang="en-AU" sz="2200" dirty="0" smtClean="0">
                <a:latin typeface="Helvetica" pitchFamily="34" charset="0"/>
              </a:rPr>
              <a:t>Stock and store supplies</a:t>
            </a:r>
          </a:p>
          <a:p>
            <a:pPr lvl="0">
              <a:spcBef>
                <a:spcPts val="600"/>
              </a:spcBef>
              <a:spcAft>
                <a:spcPts val="1200"/>
              </a:spcAft>
            </a:pPr>
            <a:r>
              <a:rPr lang="en-AU" sz="2200" dirty="0" smtClean="0">
                <a:latin typeface="Helvetica" pitchFamily="34" charset="0"/>
              </a:rPr>
              <a:t>Determine the order of cleaning of rooms</a:t>
            </a:r>
          </a:p>
          <a:p>
            <a:pPr lvl="0">
              <a:spcBef>
                <a:spcPts val="600"/>
              </a:spcBef>
              <a:spcAft>
                <a:spcPts val="1200"/>
              </a:spcAft>
            </a:pPr>
            <a:r>
              <a:rPr lang="en-AU" sz="2200" dirty="0" smtClean="0">
                <a:latin typeface="Helvetica" pitchFamily="34" charset="0"/>
              </a:rPr>
              <a:t>Identify any special requests.</a:t>
            </a:r>
          </a:p>
          <a:p>
            <a:pPr>
              <a:spcBef>
                <a:spcPts val="600"/>
              </a:spcBef>
              <a:spcAft>
                <a:spcPts val="1200"/>
              </a:spcAft>
              <a:buNone/>
            </a:pPr>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descr="MP900174909[1].JPG"/>
          <p:cNvPicPr>
            <a:picLocks noChangeAspect="1"/>
          </p:cNvPicPr>
          <p:nvPr/>
        </p:nvPicPr>
        <p:blipFill>
          <a:blip r:embed="rId3" cstate="print"/>
          <a:stretch>
            <a:fillRect/>
          </a:stretch>
        </p:blipFill>
        <p:spPr>
          <a:xfrm>
            <a:off x="6084168" y="1484784"/>
            <a:ext cx="1574304" cy="236145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Enter room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Knock on door in compliance with policy</a:t>
            </a:r>
          </a:p>
          <a:p>
            <a:pPr lvl="0">
              <a:spcBef>
                <a:spcPts val="600"/>
              </a:spcBef>
              <a:spcAft>
                <a:spcPts val="1200"/>
              </a:spcAft>
            </a:pPr>
            <a:r>
              <a:rPr lang="en-AU" sz="2200" dirty="0" smtClean="0">
                <a:latin typeface="Helvetica" pitchFamily="34" charset="0"/>
              </a:rPr>
              <a:t>Open door securely</a:t>
            </a:r>
          </a:p>
          <a:p>
            <a:pPr lvl="0">
              <a:spcBef>
                <a:spcPts val="600"/>
              </a:spcBef>
              <a:spcAft>
                <a:spcPts val="1200"/>
              </a:spcAft>
            </a:pPr>
            <a:r>
              <a:rPr lang="en-AU" sz="2200" dirty="0" smtClean="0">
                <a:latin typeface="Helvetica" pitchFamily="34" charset="0"/>
              </a:rPr>
              <a:t>Place trolley in door path.</a:t>
            </a:r>
          </a:p>
          <a:p>
            <a:pPr>
              <a:spcBef>
                <a:spcPts val="600"/>
              </a:spcBef>
              <a:spcAft>
                <a:spcPts val="1200"/>
              </a:spcAft>
              <a:buNone/>
            </a:pPr>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7" name="Picture 6" descr="MP900431763[1].JPG"/>
          <p:cNvPicPr/>
          <p:nvPr/>
        </p:nvPicPr>
        <p:blipFill>
          <a:blip r:embed="rId3" cstate="print">
            <a:duotone>
              <a:prstClr val="black"/>
              <a:srgbClr val="D9C3A5">
                <a:tint val="50000"/>
                <a:satMod val="180000"/>
              </a:srgbClr>
            </a:duotone>
          </a:blip>
          <a:stretch>
            <a:fillRect/>
          </a:stretch>
        </p:blipFill>
        <p:spPr>
          <a:xfrm>
            <a:off x="6357950" y="2714620"/>
            <a:ext cx="1752114" cy="237532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Clean room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Open curtains and windows for ventilation</a:t>
            </a:r>
          </a:p>
          <a:p>
            <a:pPr lvl="0">
              <a:spcBef>
                <a:spcPts val="600"/>
              </a:spcBef>
              <a:spcAft>
                <a:spcPts val="1200"/>
              </a:spcAft>
            </a:pPr>
            <a:r>
              <a:rPr lang="en-AU" sz="2200" dirty="0" smtClean="0">
                <a:latin typeface="Helvetica" pitchFamily="34" charset="0"/>
              </a:rPr>
              <a:t>Removing used guest amenities and </a:t>
            </a:r>
            <a:br>
              <a:rPr lang="en-AU" sz="2200" dirty="0" smtClean="0">
                <a:latin typeface="Helvetica" pitchFamily="34" charset="0"/>
              </a:rPr>
            </a:br>
            <a:r>
              <a:rPr lang="en-AU" sz="2200" dirty="0" smtClean="0">
                <a:latin typeface="Helvetica" pitchFamily="34" charset="0"/>
              </a:rPr>
              <a:t>rubbish</a:t>
            </a:r>
          </a:p>
          <a:p>
            <a:pPr lvl="0">
              <a:spcBef>
                <a:spcPts val="600"/>
              </a:spcBef>
              <a:spcAft>
                <a:spcPts val="1200"/>
              </a:spcAft>
            </a:pPr>
            <a:r>
              <a:rPr lang="en-AU" sz="2200" dirty="0" smtClean="0">
                <a:latin typeface="Helvetica" pitchFamily="34" charset="0"/>
              </a:rPr>
              <a:t>Cleaning showers, tubs, sinks and </a:t>
            </a:r>
            <a:br>
              <a:rPr lang="en-AU" sz="2200" dirty="0" smtClean="0">
                <a:latin typeface="Helvetica" pitchFamily="34" charset="0"/>
              </a:rPr>
            </a:br>
            <a:r>
              <a:rPr lang="en-AU" sz="2200" dirty="0" smtClean="0">
                <a:latin typeface="Helvetica" pitchFamily="34" charset="0"/>
              </a:rPr>
              <a:t>bathroom items</a:t>
            </a:r>
          </a:p>
          <a:p>
            <a:pPr lvl="0">
              <a:spcBef>
                <a:spcPts val="600"/>
              </a:spcBef>
              <a:spcAft>
                <a:spcPts val="1200"/>
              </a:spcAft>
            </a:pPr>
            <a:r>
              <a:rPr lang="en-AU" sz="2200" dirty="0" smtClean="0">
                <a:latin typeface="Helvetica" pitchFamily="34" charset="0"/>
              </a:rPr>
              <a:t>Changing linen and making beds</a:t>
            </a:r>
          </a:p>
          <a:p>
            <a:pPr lvl="0">
              <a:spcBef>
                <a:spcPts val="600"/>
              </a:spcBef>
              <a:spcAft>
                <a:spcPts val="1200"/>
              </a:spcAft>
            </a:pPr>
            <a:r>
              <a:rPr lang="en-AU" sz="2200" dirty="0" smtClean="0">
                <a:latin typeface="Helvetica" pitchFamily="34" charset="0"/>
              </a:rPr>
              <a:t>Checking for damaged linens</a:t>
            </a:r>
          </a:p>
          <a:p>
            <a:pPr lvl="0">
              <a:spcBef>
                <a:spcPts val="600"/>
              </a:spcBef>
              <a:spcAft>
                <a:spcPts val="1200"/>
              </a:spcAft>
            </a:pPr>
            <a:r>
              <a:rPr lang="en-AU" sz="2200" dirty="0" smtClean="0">
                <a:latin typeface="Helvetica" pitchFamily="34" charset="0"/>
              </a:rPr>
              <a:t>Inspecting rooms for safety hazards.</a:t>
            </a:r>
          </a:p>
          <a:p>
            <a:pPr>
              <a:spcBef>
                <a:spcPts val="600"/>
              </a:spcBef>
              <a:spcAft>
                <a:spcPts val="1200"/>
              </a:spcAft>
              <a:buNone/>
            </a:pPr>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5" descr="MP900411745[1].JPG"/>
          <p:cNvPicPr>
            <a:picLocks noChangeAspect="1"/>
          </p:cNvPicPr>
          <p:nvPr/>
        </p:nvPicPr>
        <p:blipFill>
          <a:blip r:embed="rId3" cstate="print"/>
          <a:stretch>
            <a:fillRect/>
          </a:stretch>
        </p:blipFill>
        <p:spPr>
          <a:xfrm>
            <a:off x="6572264" y="2500306"/>
            <a:ext cx="1643074" cy="1643074"/>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Clean room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Reporting lost and found articles, maintenance problems or special room problems </a:t>
            </a:r>
          </a:p>
          <a:p>
            <a:pPr lvl="0">
              <a:spcBef>
                <a:spcPts val="600"/>
              </a:spcBef>
              <a:spcAft>
                <a:spcPts val="1200"/>
              </a:spcAft>
            </a:pPr>
            <a:r>
              <a:rPr lang="en-AU" sz="2200" dirty="0" smtClean="0">
                <a:latin typeface="Helvetica" pitchFamily="34" charset="0"/>
              </a:rPr>
              <a:t>Dusting and cleaning room decorations, </a:t>
            </a:r>
            <a:br>
              <a:rPr lang="en-AU" sz="2200" dirty="0" smtClean="0">
                <a:latin typeface="Helvetica" pitchFamily="34" charset="0"/>
              </a:rPr>
            </a:br>
            <a:r>
              <a:rPr lang="en-AU" sz="2200" dirty="0" smtClean="0">
                <a:latin typeface="Helvetica" pitchFamily="34" charset="0"/>
              </a:rPr>
              <a:t>appliances and structural surfaces</a:t>
            </a:r>
          </a:p>
          <a:p>
            <a:pPr lvl="0">
              <a:spcBef>
                <a:spcPts val="600"/>
              </a:spcBef>
              <a:spcAft>
                <a:spcPts val="1200"/>
              </a:spcAft>
            </a:pPr>
            <a:r>
              <a:rPr lang="en-AU" sz="2200" dirty="0" smtClean="0">
                <a:latin typeface="Helvetica" pitchFamily="34" charset="0"/>
              </a:rPr>
              <a:t>Dusting, brushing, polishing and </a:t>
            </a:r>
            <a:br>
              <a:rPr lang="en-AU" sz="2200" dirty="0" smtClean="0">
                <a:latin typeface="Helvetica" pitchFamily="34" charset="0"/>
              </a:rPr>
            </a:br>
            <a:r>
              <a:rPr lang="en-AU" sz="2200" dirty="0" smtClean="0">
                <a:latin typeface="Helvetica" pitchFamily="34" charset="0"/>
              </a:rPr>
              <a:t>vacuuming furniture</a:t>
            </a:r>
          </a:p>
          <a:p>
            <a:pPr lvl="0">
              <a:spcBef>
                <a:spcPts val="600"/>
              </a:spcBef>
              <a:spcAft>
                <a:spcPts val="1200"/>
              </a:spcAft>
            </a:pPr>
            <a:r>
              <a:rPr lang="en-AU" sz="2200" dirty="0" smtClean="0">
                <a:latin typeface="Helvetica" pitchFamily="34" charset="0"/>
              </a:rPr>
              <a:t>Replenishing guest room amenities and supplies.</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descr="MP900387608[1].JPG"/>
          <p:cNvPicPr>
            <a:picLocks noChangeAspect="1"/>
          </p:cNvPicPr>
          <p:nvPr/>
        </p:nvPicPr>
        <p:blipFill>
          <a:blip r:embed="rId3" cstate="print"/>
          <a:stretch>
            <a:fillRect/>
          </a:stretch>
        </p:blipFill>
        <p:spPr>
          <a:xfrm>
            <a:off x="6357950" y="3071809"/>
            <a:ext cx="2054889" cy="1465821"/>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Clean room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 record and replenish mini bar</a:t>
            </a:r>
          </a:p>
          <a:p>
            <a:pPr lvl="0">
              <a:spcBef>
                <a:spcPts val="600"/>
              </a:spcBef>
              <a:spcAft>
                <a:spcPts val="1200"/>
              </a:spcAft>
            </a:pPr>
            <a:r>
              <a:rPr lang="en-AU" sz="2200" dirty="0" smtClean="0">
                <a:latin typeface="Helvetica" pitchFamily="34" charset="0"/>
              </a:rPr>
              <a:t>Preparing rooms for guest arrival </a:t>
            </a:r>
          </a:p>
          <a:p>
            <a:pPr lvl="0">
              <a:spcBef>
                <a:spcPts val="600"/>
              </a:spcBef>
              <a:spcAft>
                <a:spcPts val="1200"/>
              </a:spcAft>
            </a:pPr>
            <a:r>
              <a:rPr lang="en-AU" sz="2200" dirty="0" smtClean="0">
                <a:latin typeface="Helvetica" pitchFamily="34" charset="0"/>
              </a:rPr>
              <a:t>Responding to special guest requests</a:t>
            </a:r>
          </a:p>
          <a:p>
            <a:pPr lvl="0">
              <a:spcBef>
                <a:spcPts val="600"/>
              </a:spcBef>
              <a:spcAft>
                <a:spcPts val="1200"/>
              </a:spcAft>
            </a:pPr>
            <a:r>
              <a:rPr lang="en-AU" sz="2200" dirty="0" smtClean="0">
                <a:latin typeface="Helvetica" pitchFamily="34" charset="0"/>
              </a:rPr>
              <a:t>Deliver and retrieve items on loan to guests</a:t>
            </a:r>
          </a:p>
          <a:p>
            <a:pPr lvl="0">
              <a:spcBef>
                <a:spcPts val="600"/>
              </a:spcBef>
              <a:spcAft>
                <a:spcPts val="1200"/>
              </a:spcAft>
            </a:pPr>
            <a:r>
              <a:rPr lang="en-AU" sz="2200" dirty="0" smtClean="0">
                <a:latin typeface="Helvetica" pitchFamily="34" charset="0"/>
              </a:rPr>
              <a:t>Perform rotation cleaning duties.</a:t>
            </a:r>
          </a:p>
          <a:p>
            <a:pPr lvl="0"/>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MP900431692[1].JPG"/>
          <p:cNvPicPr>
            <a:picLocks noChangeAspect="1"/>
          </p:cNvPicPr>
          <p:nvPr/>
        </p:nvPicPr>
        <p:blipFill>
          <a:blip r:embed="rId3" cstate="print"/>
          <a:stretch>
            <a:fillRect/>
          </a:stretch>
        </p:blipFill>
        <p:spPr>
          <a:xfrm>
            <a:off x="6715140" y="2285992"/>
            <a:ext cx="1500198" cy="150019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Clean room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Vacuuming and sweeping carpets and floors</a:t>
            </a:r>
          </a:p>
          <a:p>
            <a:pPr lvl="0">
              <a:spcBef>
                <a:spcPts val="600"/>
              </a:spcBef>
              <a:spcAft>
                <a:spcPts val="1200"/>
              </a:spcAft>
            </a:pPr>
            <a:r>
              <a:rPr lang="en-AU" sz="2200" dirty="0" smtClean="0">
                <a:latin typeface="Helvetica" pitchFamily="34" charset="0"/>
              </a:rPr>
              <a:t>Mopping floors as needed</a:t>
            </a:r>
          </a:p>
          <a:p>
            <a:pPr lvl="0">
              <a:spcBef>
                <a:spcPts val="600"/>
              </a:spcBef>
              <a:spcAft>
                <a:spcPts val="1200"/>
              </a:spcAft>
            </a:pPr>
            <a:r>
              <a:rPr lang="en-AU" sz="2200" dirty="0" smtClean="0">
                <a:latin typeface="Helvetica" pitchFamily="34" charset="0"/>
              </a:rPr>
              <a:t>Recording room status on work assignment sheets</a:t>
            </a:r>
          </a:p>
          <a:p>
            <a:pPr lvl="0">
              <a:spcBef>
                <a:spcPts val="600"/>
              </a:spcBef>
              <a:spcAft>
                <a:spcPts val="1200"/>
              </a:spcAft>
            </a:pPr>
            <a:r>
              <a:rPr lang="en-AU" sz="2200" dirty="0" smtClean="0">
                <a:latin typeface="Helvetica" pitchFamily="34" charset="0"/>
              </a:rPr>
              <a:t>Phone supervisor or reception updating status of room</a:t>
            </a:r>
          </a:p>
          <a:p>
            <a:pPr lvl="0">
              <a:spcBef>
                <a:spcPts val="600"/>
              </a:spcBef>
              <a:spcAft>
                <a:spcPts val="1200"/>
              </a:spcAft>
            </a:pPr>
            <a:r>
              <a:rPr lang="en-AU" sz="2200" dirty="0" smtClean="0">
                <a:latin typeface="Helvetica" pitchFamily="34" charset="0"/>
              </a:rPr>
              <a:t>Close door.</a:t>
            </a:r>
          </a:p>
          <a:p>
            <a:pPr lvl="0"/>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MP900383000[1].JPG"/>
          <p:cNvPicPr>
            <a:picLocks noChangeAspect="1"/>
          </p:cNvPicPr>
          <p:nvPr/>
        </p:nvPicPr>
        <p:blipFill>
          <a:blip r:embed="rId3" cstate="print"/>
          <a:stretch>
            <a:fillRect/>
          </a:stretch>
        </p:blipFill>
        <p:spPr>
          <a:xfrm>
            <a:off x="3705644" y="4786322"/>
            <a:ext cx="1732713" cy="123765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lnSpcReduction="20000"/>
          </a:bodyPr>
          <a:lstStyle/>
          <a:p>
            <a:pPr>
              <a:spcBef>
                <a:spcPts val="600"/>
              </a:spcBef>
              <a:spcAft>
                <a:spcPts val="600"/>
              </a:spcAft>
              <a:buNone/>
            </a:pPr>
            <a:r>
              <a:rPr lang="en-AU" sz="2200" b="1" dirty="0" smtClean="0">
                <a:latin typeface="Helvetica" pitchFamily="34" charset="0"/>
              </a:rPr>
              <a:t>Provide information to guests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Listening and responding to guests’ requests </a:t>
            </a:r>
            <a:br>
              <a:rPr lang="en-AU" sz="2200" dirty="0" smtClean="0">
                <a:latin typeface="Helvetica" pitchFamily="34" charset="0"/>
              </a:rPr>
            </a:br>
            <a:r>
              <a:rPr lang="en-AU" sz="2200" dirty="0" smtClean="0">
                <a:latin typeface="Helvetica" pitchFamily="34" charset="0"/>
              </a:rPr>
              <a:t>or complaints</a:t>
            </a:r>
          </a:p>
          <a:p>
            <a:pPr lvl="0">
              <a:spcBef>
                <a:spcPts val="600"/>
              </a:spcBef>
              <a:spcAft>
                <a:spcPts val="600"/>
              </a:spcAft>
            </a:pPr>
            <a:r>
              <a:rPr lang="en-AU" sz="2200" dirty="0" smtClean="0">
                <a:latin typeface="Helvetica" pitchFamily="34" charset="0"/>
              </a:rPr>
              <a:t>Explain room equipment and facilities</a:t>
            </a:r>
          </a:p>
          <a:p>
            <a:pPr lvl="0">
              <a:spcBef>
                <a:spcPts val="600"/>
              </a:spcBef>
              <a:spcAft>
                <a:spcPts val="600"/>
              </a:spcAft>
            </a:pPr>
            <a:r>
              <a:rPr lang="en-AU" sz="2200" dirty="0" smtClean="0">
                <a:latin typeface="Helvetica" pitchFamily="34" charset="0"/>
              </a:rPr>
              <a:t>Explain and handle dry cleaning and laundry requests</a:t>
            </a:r>
          </a:p>
          <a:p>
            <a:pPr lvl="0">
              <a:spcBef>
                <a:spcPts val="600"/>
              </a:spcBef>
              <a:spcAft>
                <a:spcPts val="600"/>
              </a:spcAft>
            </a:pPr>
            <a:r>
              <a:rPr lang="en-AU" sz="2200" dirty="0" smtClean="0">
                <a:latin typeface="Helvetica" pitchFamily="34" charset="0"/>
              </a:rPr>
              <a:t>Providing information to guests about:</a:t>
            </a:r>
          </a:p>
          <a:p>
            <a:pPr lvl="1">
              <a:spcBef>
                <a:spcPts val="600"/>
              </a:spcBef>
              <a:spcAft>
                <a:spcPts val="600"/>
              </a:spcAft>
            </a:pPr>
            <a:r>
              <a:rPr lang="en-AU" sz="2200" dirty="0" smtClean="0">
                <a:latin typeface="Helvetica" pitchFamily="34" charset="0"/>
              </a:rPr>
              <a:t>Hotel services, facilities and other amenities</a:t>
            </a:r>
          </a:p>
          <a:p>
            <a:pPr lvl="1">
              <a:spcBef>
                <a:spcPts val="600"/>
              </a:spcBef>
              <a:spcAft>
                <a:spcPts val="600"/>
              </a:spcAft>
            </a:pPr>
            <a:r>
              <a:rPr lang="en-AU" sz="2200" dirty="0" smtClean="0">
                <a:latin typeface="Helvetica" pitchFamily="34" charset="0"/>
              </a:rPr>
              <a:t>Local attractions and services</a:t>
            </a:r>
          </a:p>
          <a:p>
            <a:pPr lvl="1">
              <a:spcBef>
                <a:spcPts val="600"/>
              </a:spcBef>
              <a:spcAft>
                <a:spcPts val="600"/>
              </a:spcAft>
            </a:pPr>
            <a:r>
              <a:rPr lang="en-AU" sz="2200" dirty="0" smtClean="0"/>
              <a:t>Location of places for religious worship</a:t>
            </a:r>
          </a:p>
          <a:p>
            <a:pPr lvl="1">
              <a:spcBef>
                <a:spcPts val="600"/>
              </a:spcBef>
              <a:spcAft>
                <a:spcPts val="600"/>
              </a:spcAft>
            </a:pPr>
            <a:r>
              <a:rPr lang="en-AU" sz="2200" dirty="0" smtClean="0">
                <a:latin typeface="Helvetica" pitchFamily="34" charset="0"/>
              </a:rPr>
              <a:t>Prayer and fasting times</a:t>
            </a:r>
          </a:p>
          <a:p>
            <a:pPr lvl="1">
              <a:spcBef>
                <a:spcPts val="600"/>
              </a:spcBef>
              <a:spcAft>
                <a:spcPts val="600"/>
              </a:spcAft>
            </a:pPr>
            <a:r>
              <a:rPr lang="en-AU" sz="2200" dirty="0" smtClean="0"/>
              <a:t>Location of prayer mats and prayer orientation.</a:t>
            </a:r>
            <a:endParaRPr lang="en-AU" sz="2200" dirty="0" smtClean="0">
              <a:latin typeface="Helvetica" pitchFamily="34" charset="0"/>
            </a:endParaRPr>
          </a:p>
          <a:p>
            <a:pPr lvl="0"/>
            <a:endParaRPr lang="en-AU" sz="2200" dirty="0" smtClean="0">
              <a:solidFill>
                <a:srgbClr val="FF0000"/>
              </a:solidFill>
              <a:latin typeface="Helvetica" pitchFamily="34" charset="0"/>
            </a:endParaRPr>
          </a:p>
          <a:p>
            <a:pPr marL="0">
              <a:buNone/>
            </a:pPr>
            <a:endParaRPr lang="en-AU" sz="2200" dirty="0" smtClean="0">
              <a:solidFill>
                <a:srgbClr val="FF00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7" name="Picture 6" descr="MP900386192[1].JPG"/>
          <p:cNvPicPr/>
          <p:nvPr/>
        </p:nvPicPr>
        <p:blipFill>
          <a:blip r:embed="rId3" cstate="print"/>
          <a:srcRect l="16532" t="13022" r="12377" b="7415"/>
          <a:stretch>
            <a:fillRect/>
          </a:stretch>
        </p:blipFill>
        <p:spPr>
          <a:xfrm>
            <a:off x="7308304" y="3717032"/>
            <a:ext cx="1143008" cy="171451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Maintain storage areas and trolleys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Return trolley to storage room</a:t>
            </a:r>
          </a:p>
          <a:p>
            <a:pPr lvl="0">
              <a:spcBef>
                <a:spcPts val="600"/>
              </a:spcBef>
              <a:spcAft>
                <a:spcPts val="1200"/>
              </a:spcAft>
            </a:pPr>
            <a:r>
              <a:rPr lang="en-AU" sz="2200" dirty="0" smtClean="0">
                <a:latin typeface="Helvetica" pitchFamily="34" charset="0"/>
              </a:rPr>
              <a:t>Empty linen from housekeeping cart</a:t>
            </a:r>
          </a:p>
          <a:p>
            <a:pPr lvl="0">
              <a:spcBef>
                <a:spcPts val="600"/>
              </a:spcBef>
              <a:spcAft>
                <a:spcPts val="1200"/>
              </a:spcAft>
            </a:pPr>
            <a:r>
              <a:rPr lang="en-AU" sz="2200" dirty="0" smtClean="0">
                <a:latin typeface="Helvetica" pitchFamily="34" charset="0"/>
              </a:rPr>
              <a:t>Remove soiled linen to laundry</a:t>
            </a:r>
          </a:p>
          <a:p>
            <a:pPr lvl="0">
              <a:spcBef>
                <a:spcPts val="600"/>
              </a:spcBef>
              <a:spcAft>
                <a:spcPts val="1200"/>
              </a:spcAft>
            </a:pPr>
            <a:r>
              <a:rPr lang="en-AU" sz="2200" dirty="0" smtClean="0">
                <a:latin typeface="Helvetica" pitchFamily="34" charset="0"/>
              </a:rPr>
              <a:t>Replenish linen and guest amenities.</a:t>
            </a:r>
          </a:p>
          <a:p>
            <a:pPr lvl="0"/>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MP900431749[1].JPG"/>
          <p:cNvPicPr>
            <a:picLocks noChangeAspect="1"/>
          </p:cNvPicPr>
          <p:nvPr/>
        </p:nvPicPr>
        <p:blipFill>
          <a:blip r:embed="rId3" cstate="print"/>
          <a:stretch>
            <a:fillRect/>
          </a:stretch>
        </p:blipFill>
        <p:spPr>
          <a:xfrm>
            <a:off x="6357950" y="2285992"/>
            <a:ext cx="1772840" cy="177284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Maintain storage areas and trolleys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Handle lost property</a:t>
            </a:r>
          </a:p>
          <a:p>
            <a:pPr lvl="0">
              <a:spcBef>
                <a:spcPts val="600"/>
              </a:spcBef>
              <a:spcAft>
                <a:spcPts val="1200"/>
              </a:spcAft>
            </a:pPr>
            <a:r>
              <a:rPr lang="en-AU" sz="2200" dirty="0" smtClean="0">
                <a:latin typeface="Helvetica" pitchFamily="34" charset="0"/>
              </a:rPr>
              <a:t>Clean cleaning equipment including mops and vacuum cleaners</a:t>
            </a:r>
          </a:p>
          <a:p>
            <a:pPr lvl="0">
              <a:spcBef>
                <a:spcPts val="600"/>
              </a:spcBef>
              <a:spcAft>
                <a:spcPts val="1200"/>
              </a:spcAft>
            </a:pPr>
            <a:r>
              <a:rPr lang="en-AU" sz="2200" dirty="0" smtClean="0">
                <a:latin typeface="Helvetica" pitchFamily="34" charset="0"/>
              </a:rPr>
              <a:t>Remove rubbish</a:t>
            </a:r>
          </a:p>
          <a:p>
            <a:pPr lvl="0">
              <a:spcBef>
                <a:spcPts val="600"/>
              </a:spcBef>
              <a:spcAft>
                <a:spcPts val="1200"/>
              </a:spcAft>
            </a:pPr>
            <a:r>
              <a:rPr lang="en-AU" sz="2200" dirty="0" smtClean="0">
                <a:latin typeface="Helvetica" pitchFamily="34" charset="0"/>
              </a:rPr>
              <a:t>Clean storage room floor.</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MP900403047[1].JPG"/>
          <p:cNvPicPr>
            <a:picLocks noChangeAspect="1"/>
          </p:cNvPicPr>
          <p:nvPr/>
        </p:nvPicPr>
        <p:blipFill>
          <a:blip r:embed="rId3" cstate="print"/>
          <a:stretch>
            <a:fillRect/>
          </a:stretch>
        </p:blipFill>
        <p:spPr>
          <a:xfrm>
            <a:off x="5643570" y="3500438"/>
            <a:ext cx="2349474" cy="157190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Daily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Close shift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Return work allocation sheets</a:t>
            </a:r>
          </a:p>
          <a:p>
            <a:pPr lvl="0">
              <a:spcBef>
                <a:spcPts val="600"/>
              </a:spcBef>
              <a:spcAft>
                <a:spcPts val="1200"/>
              </a:spcAft>
            </a:pPr>
            <a:r>
              <a:rPr lang="en-AU" sz="2200" dirty="0" smtClean="0">
                <a:latin typeface="Helvetica" pitchFamily="34" charset="0"/>
              </a:rPr>
              <a:t>Complete reports and other documentation</a:t>
            </a:r>
          </a:p>
          <a:p>
            <a:pPr lvl="0">
              <a:spcBef>
                <a:spcPts val="600"/>
              </a:spcBef>
              <a:spcAft>
                <a:spcPts val="1200"/>
              </a:spcAft>
            </a:pPr>
            <a:r>
              <a:rPr lang="en-AU" sz="2200" dirty="0" smtClean="0">
                <a:latin typeface="Helvetica" pitchFamily="34" charset="0"/>
              </a:rPr>
              <a:t>Return keys.</a:t>
            </a:r>
          </a:p>
          <a:p>
            <a:pPr lvl="0"/>
            <a:endParaRPr lang="en-AU" sz="2200"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descr="MP900431749[1].JPG"/>
          <p:cNvPicPr>
            <a:picLocks noChangeAspect="1"/>
          </p:cNvPicPr>
          <p:nvPr/>
        </p:nvPicPr>
        <p:blipFill>
          <a:blip r:embed="rId3" cstate="print">
            <a:grayscl/>
          </a:blip>
          <a:stretch>
            <a:fillRect/>
          </a:stretch>
        </p:blipFill>
        <p:spPr>
          <a:xfrm>
            <a:off x="6286512" y="3357562"/>
            <a:ext cx="1714512" cy="171451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Room attendant &amp; organisation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role of room attendants is quite extensive, however where does this position fit into the larger picture of a hospitality or tourism organisation?</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5" name="Picture 4" descr="MP900386132[1].JPG"/>
          <p:cNvPicPr>
            <a:picLocks noChangeAspect="1"/>
          </p:cNvPicPr>
          <p:nvPr/>
        </p:nvPicPr>
        <p:blipFill>
          <a:blip r:embed="rId3" cstate="print"/>
          <a:srcRect l="8169" t="10811" r="14222"/>
          <a:stretch>
            <a:fillRect/>
          </a:stretch>
        </p:blipFill>
        <p:spPr>
          <a:xfrm>
            <a:off x="3839761" y="3143247"/>
            <a:ext cx="1464479" cy="2543569"/>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Their immediate department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dirty="0" smtClean="0">
                <a:latin typeface="Helvetica" pitchFamily="34" charset="0"/>
              </a:rPr>
              <a:t>Room attendants work in the Housekeeping department. </a:t>
            </a:r>
          </a:p>
          <a:p>
            <a:pPr>
              <a:spcBef>
                <a:spcPts val="600"/>
              </a:spcBef>
              <a:spcAft>
                <a:spcPts val="1200"/>
              </a:spcAft>
              <a:buNone/>
            </a:pPr>
            <a:r>
              <a:rPr lang="en-AU" sz="2200" dirty="0" smtClean="0">
                <a:latin typeface="Helvetica" pitchFamily="34" charset="0"/>
              </a:rPr>
              <a:t>Housekeeping is responsible for</a:t>
            </a:r>
            <a:r>
              <a:rPr lang="en-AU" sz="2200" b="1" dirty="0" smtClean="0">
                <a:latin typeface="Helvetica" pitchFamily="34" charset="0"/>
              </a:rPr>
              <a:t>:</a:t>
            </a:r>
          </a:p>
          <a:p>
            <a:pPr lvl="0">
              <a:spcBef>
                <a:spcPts val="600"/>
              </a:spcBef>
              <a:spcAft>
                <a:spcPts val="1200"/>
              </a:spcAft>
            </a:pPr>
            <a:r>
              <a:rPr lang="en-AU" sz="2200" dirty="0" smtClean="0">
                <a:latin typeface="Helvetica" pitchFamily="34" charset="0"/>
              </a:rPr>
              <a:t>The cleanliness of the hotel</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Lost property</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Laundry and dry cleaning.</a:t>
            </a:r>
            <a:endParaRPr lang="en-AU" sz="2200" b="1"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6" name="Picture 5" descr="MP900427796[1].JPG"/>
          <p:cNvPicPr>
            <a:picLocks noChangeAspect="1"/>
          </p:cNvPicPr>
          <p:nvPr/>
        </p:nvPicPr>
        <p:blipFill>
          <a:blip r:embed="rId3" cstate="print"/>
          <a:stretch>
            <a:fillRect/>
          </a:stretch>
        </p:blipFill>
        <p:spPr>
          <a:xfrm>
            <a:off x="6143636" y="2357429"/>
            <a:ext cx="1621053" cy="2430393"/>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Their wider department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dirty="0" smtClean="0">
                <a:latin typeface="Helvetica" pitchFamily="34" charset="0"/>
              </a:rPr>
              <a:t>Housekeeping department is part of Rooms Division. </a:t>
            </a:r>
          </a:p>
          <a:p>
            <a:pPr marL="0">
              <a:spcBef>
                <a:spcPts val="600"/>
              </a:spcBef>
              <a:spcAft>
                <a:spcPts val="1200"/>
              </a:spcAft>
              <a:buNone/>
            </a:pPr>
            <a:r>
              <a:rPr lang="en-AU" sz="2200" dirty="0" smtClean="0">
                <a:latin typeface="Helvetica" pitchFamily="34" charset="0"/>
              </a:rPr>
              <a:t>This department is responsible for all activities relating to accommodation including:</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Reservations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Switchboard</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Reception</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Concierge.</a:t>
            </a:r>
            <a:endParaRPr lang="en-AU" sz="2200" b="1"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7" name="Picture 6" descr="MP900289522[1].JPG"/>
          <p:cNvPicPr/>
          <p:nvPr/>
        </p:nvPicPr>
        <p:blipFill>
          <a:blip r:embed="rId3" cstate="print"/>
          <a:stretch>
            <a:fillRect/>
          </a:stretch>
        </p:blipFill>
        <p:spPr>
          <a:xfrm>
            <a:off x="4929190" y="3214687"/>
            <a:ext cx="2730598" cy="1842654"/>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Their supervisor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persons whom a room attendant will normally report to the following:</a:t>
            </a:r>
          </a:p>
          <a:p>
            <a:pPr>
              <a:spcBef>
                <a:spcPts val="600"/>
              </a:spcBef>
              <a:spcAft>
                <a:spcPts val="1200"/>
              </a:spcAft>
            </a:pPr>
            <a:r>
              <a:rPr lang="en-AU" sz="2200" dirty="0" smtClean="0">
                <a:latin typeface="Helvetica" pitchFamily="34" charset="0"/>
              </a:rPr>
              <a:t>Senior Room Attendant</a:t>
            </a:r>
          </a:p>
          <a:p>
            <a:pPr>
              <a:spcBef>
                <a:spcPts val="600"/>
              </a:spcBef>
              <a:spcAft>
                <a:spcPts val="1200"/>
              </a:spcAft>
            </a:pPr>
            <a:r>
              <a:rPr lang="en-AU" sz="2200" dirty="0" smtClean="0">
                <a:latin typeface="Helvetica" pitchFamily="34" charset="0"/>
              </a:rPr>
              <a:t>Housekeeping supervisor</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Executive Housekeeper </a:t>
            </a:r>
          </a:p>
          <a:p>
            <a:pPr>
              <a:spcBef>
                <a:spcPts val="600"/>
              </a:spcBef>
              <a:spcAft>
                <a:spcPts val="1200"/>
              </a:spcAft>
            </a:pPr>
            <a:r>
              <a:rPr lang="en-AU" sz="2200" dirty="0" smtClean="0">
                <a:latin typeface="Helvetica" pitchFamily="34" charset="0"/>
              </a:rPr>
              <a:t>Rooms Division Manager.</a:t>
            </a:r>
            <a:endParaRPr lang="en-AU" sz="2200" b="1" dirty="0" smtClean="0">
              <a:latin typeface="Helvetica" pitchFamily="34" charset="0"/>
            </a:endParaRP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descr="MP900422965[1].JPG"/>
          <p:cNvPicPr>
            <a:picLocks noChangeAspect="1"/>
          </p:cNvPicPr>
          <p:nvPr/>
        </p:nvPicPr>
        <p:blipFill>
          <a:blip r:embed="rId3" cstate="print"/>
          <a:stretch>
            <a:fillRect/>
          </a:stretch>
        </p:blipFill>
        <p:spPr>
          <a:xfrm>
            <a:off x="5572132" y="2500306"/>
            <a:ext cx="1991144" cy="1991144"/>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Characteristics of a 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Whilst some of the personal characteristics of a room attendant is similar to those of anyone else working in the tourism and hospitality industry, there are also job specific skill sets that are required.</a:t>
            </a:r>
          </a:p>
          <a:p>
            <a:pPr>
              <a:spcBef>
                <a:spcPts val="600"/>
              </a:spcBef>
              <a:spcAft>
                <a:spcPts val="1200"/>
              </a:spcAft>
            </a:pPr>
            <a:r>
              <a:rPr lang="en-AU" sz="2200" dirty="0" smtClean="0">
                <a:latin typeface="Helvetica" pitchFamily="34" charset="0"/>
              </a:rPr>
              <a:t>What characteristics are important for a room attendant to have?</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7" name="Picture 6" descr="MP900399796[1].JPG"/>
          <p:cNvPicPr>
            <a:picLocks noChangeAspect="1"/>
          </p:cNvPicPr>
          <p:nvPr/>
        </p:nvPicPr>
        <p:blipFill>
          <a:blip r:embed="rId3" cstate="print"/>
          <a:stretch>
            <a:fillRect/>
          </a:stretch>
        </p:blipFill>
        <p:spPr>
          <a:xfrm>
            <a:off x="3398372" y="4000504"/>
            <a:ext cx="2347256" cy="156422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Characteristics of a 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Knowledge</a:t>
            </a:r>
          </a:p>
          <a:p>
            <a:pPr lvl="0">
              <a:spcBef>
                <a:spcPts val="600"/>
              </a:spcBef>
              <a:spcAft>
                <a:spcPts val="1200"/>
              </a:spcAft>
            </a:pPr>
            <a:r>
              <a:rPr lang="en-AU" sz="2200" dirty="0" smtClean="0">
                <a:latin typeface="Helvetica" pitchFamily="34" charset="0"/>
              </a:rPr>
              <a:t>Working condition of all items</a:t>
            </a:r>
          </a:p>
          <a:p>
            <a:pPr lvl="0">
              <a:spcBef>
                <a:spcPts val="600"/>
              </a:spcBef>
              <a:spcAft>
                <a:spcPts val="1200"/>
              </a:spcAft>
            </a:pPr>
            <a:r>
              <a:rPr lang="en-AU" sz="2200" dirty="0" smtClean="0">
                <a:latin typeface="Helvetica" pitchFamily="34" charset="0"/>
              </a:rPr>
              <a:t>Hotel and room facilities</a:t>
            </a:r>
          </a:p>
          <a:p>
            <a:pPr lvl="0">
              <a:spcBef>
                <a:spcPts val="600"/>
              </a:spcBef>
              <a:spcAft>
                <a:spcPts val="1200"/>
              </a:spcAft>
            </a:pPr>
            <a:r>
              <a:rPr lang="en-AU" sz="2200" dirty="0" smtClean="0">
                <a:latin typeface="Helvetica" pitchFamily="34" charset="0"/>
              </a:rPr>
              <a:t>Knowledge of cleaning equipment </a:t>
            </a:r>
            <a:br>
              <a:rPr lang="en-AU" sz="2200" dirty="0" smtClean="0">
                <a:latin typeface="Helvetica" pitchFamily="34" charset="0"/>
              </a:rPr>
            </a:br>
            <a:r>
              <a:rPr lang="en-AU" sz="2200" dirty="0" smtClean="0">
                <a:latin typeface="Helvetica" pitchFamily="34" charset="0"/>
              </a:rPr>
              <a:t>and chemicals</a:t>
            </a:r>
          </a:p>
          <a:p>
            <a:pPr lvl="0">
              <a:spcBef>
                <a:spcPts val="600"/>
              </a:spcBef>
              <a:spcAft>
                <a:spcPts val="1200"/>
              </a:spcAft>
            </a:pPr>
            <a:r>
              <a:rPr lang="en-AU" sz="2200" dirty="0" smtClean="0">
                <a:latin typeface="Helvetica" pitchFamily="34" charset="0"/>
              </a:rPr>
              <a:t>Procedures for cleaning a room</a:t>
            </a:r>
          </a:p>
          <a:p>
            <a:pPr lvl="0">
              <a:spcBef>
                <a:spcPts val="600"/>
              </a:spcBef>
              <a:spcAft>
                <a:spcPts val="1200"/>
              </a:spcAft>
            </a:pPr>
            <a:r>
              <a:rPr lang="en-AU" sz="2200" dirty="0" smtClean="0">
                <a:latin typeface="Helvetica" pitchFamily="34" charset="0"/>
              </a:rPr>
              <a:t>Safety and security.</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MP900430537[1].JPG"/>
          <p:cNvPicPr>
            <a:picLocks noChangeAspect="1"/>
          </p:cNvPicPr>
          <p:nvPr/>
        </p:nvPicPr>
        <p:blipFill>
          <a:blip r:embed="rId3" cstate="print"/>
          <a:stretch>
            <a:fillRect/>
          </a:stretch>
        </p:blipFill>
        <p:spPr>
          <a:xfrm>
            <a:off x="6357950" y="2357430"/>
            <a:ext cx="1732930" cy="214314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Characteristics of a 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Skills</a:t>
            </a:r>
          </a:p>
          <a:p>
            <a:pPr lvl="0">
              <a:spcBef>
                <a:spcPts val="600"/>
              </a:spcBef>
              <a:spcAft>
                <a:spcPts val="1200"/>
              </a:spcAft>
            </a:pPr>
            <a:r>
              <a:rPr lang="en-AU" sz="2200" dirty="0" smtClean="0">
                <a:latin typeface="Helvetica" pitchFamily="34" charset="0"/>
              </a:rPr>
              <a:t>Ability to perform cleaning duties in a                           thorough and efficient manner</a:t>
            </a:r>
          </a:p>
          <a:p>
            <a:pPr lvl="0">
              <a:spcBef>
                <a:spcPts val="600"/>
              </a:spcBef>
              <a:spcAft>
                <a:spcPts val="1200"/>
              </a:spcAft>
            </a:pPr>
            <a:r>
              <a:rPr lang="en-AU" sz="2200" dirty="0" smtClean="0">
                <a:latin typeface="Helvetica" pitchFamily="34" charset="0"/>
              </a:rPr>
              <a:t>Manual handling.</a:t>
            </a:r>
          </a:p>
          <a:p>
            <a:pPr marL="0">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7" name="Picture 6" descr="MP900314373[1].JPG"/>
          <p:cNvPicPr>
            <a:picLocks noChangeAspect="1"/>
          </p:cNvPicPr>
          <p:nvPr/>
        </p:nvPicPr>
        <p:blipFill>
          <a:blip r:embed="rId3" cstate="print"/>
          <a:stretch>
            <a:fillRect/>
          </a:stretch>
        </p:blipFill>
        <p:spPr>
          <a:xfrm>
            <a:off x="6286512" y="1857364"/>
            <a:ext cx="1429484" cy="32244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Characteristics of a 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Attributes</a:t>
            </a:r>
          </a:p>
          <a:p>
            <a:pPr lvl="0">
              <a:spcBef>
                <a:spcPts val="600"/>
              </a:spcBef>
              <a:spcAft>
                <a:spcPts val="1200"/>
              </a:spcAft>
            </a:pPr>
            <a:r>
              <a:rPr lang="en-AU" sz="2200" dirty="0" smtClean="0">
                <a:latin typeface="Helvetica" pitchFamily="34" charset="0"/>
              </a:rPr>
              <a:t>Hard working</a:t>
            </a:r>
          </a:p>
          <a:p>
            <a:pPr lvl="0">
              <a:spcBef>
                <a:spcPts val="600"/>
              </a:spcBef>
              <a:spcAft>
                <a:spcPts val="1200"/>
              </a:spcAft>
            </a:pPr>
            <a:r>
              <a:rPr lang="en-AU" sz="2200" dirty="0" smtClean="0">
                <a:latin typeface="Helvetica" pitchFamily="34" charset="0"/>
              </a:rPr>
              <a:t>Physical strength</a:t>
            </a:r>
          </a:p>
          <a:p>
            <a:pPr lvl="0">
              <a:spcBef>
                <a:spcPts val="600"/>
              </a:spcBef>
              <a:spcAft>
                <a:spcPts val="1200"/>
              </a:spcAft>
            </a:pPr>
            <a:r>
              <a:rPr lang="en-AU" sz="2200" dirty="0" smtClean="0">
                <a:latin typeface="Helvetica" pitchFamily="34" charset="0"/>
              </a:rPr>
              <a:t>Ability to follow instruction</a:t>
            </a:r>
          </a:p>
          <a:p>
            <a:pPr lvl="0">
              <a:spcBef>
                <a:spcPts val="600"/>
              </a:spcBef>
              <a:spcAft>
                <a:spcPts val="1200"/>
              </a:spcAft>
            </a:pPr>
            <a:r>
              <a:rPr lang="en-AU" sz="2200" dirty="0" smtClean="0">
                <a:latin typeface="Helvetica" pitchFamily="34" charset="0"/>
              </a:rPr>
              <a:t>Good time management</a:t>
            </a:r>
          </a:p>
          <a:p>
            <a:pPr lvl="0">
              <a:spcBef>
                <a:spcPts val="600"/>
              </a:spcBef>
              <a:spcAft>
                <a:spcPts val="1200"/>
              </a:spcAft>
            </a:pPr>
            <a:r>
              <a:rPr lang="en-AU" sz="2200" dirty="0" smtClean="0">
                <a:latin typeface="Helvetica" pitchFamily="34" charset="0"/>
              </a:rPr>
              <a:t>Attention to detail.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6" name="Picture 5" descr="MP900314372[1].JPG"/>
          <p:cNvPicPr>
            <a:picLocks noChangeAspect="1"/>
          </p:cNvPicPr>
          <p:nvPr/>
        </p:nvPicPr>
        <p:blipFill>
          <a:blip r:embed="rId3" cstate="print"/>
          <a:stretch>
            <a:fillRect/>
          </a:stretch>
        </p:blipFill>
        <p:spPr>
          <a:xfrm>
            <a:off x="6215074" y="1428736"/>
            <a:ext cx="1684746" cy="35719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Characteristics of a room attendant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Attributes</a:t>
            </a:r>
          </a:p>
          <a:p>
            <a:pPr lvl="0">
              <a:spcBef>
                <a:spcPts val="600"/>
              </a:spcBef>
              <a:spcAft>
                <a:spcPts val="1200"/>
              </a:spcAft>
            </a:pPr>
            <a:r>
              <a:rPr lang="en-AU" sz="2200" dirty="0" smtClean="0">
                <a:latin typeface="Helvetica" pitchFamily="34" charset="0"/>
              </a:rPr>
              <a:t>Professional attitude </a:t>
            </a:r>
          </a:p>
          <a:p>
            <a:pPr lvl="0">
              <a:spcBef>
                <a:spcPts val="600"/>
              </a:spcBef>
              <a:spcAft>
                <a:spcPts val="1200"/>
              </a:spcAft>
            </a:pPr>
            <a:r>
              <a:rPr lang="en-AU" sz="2200" dirty="0" smtClean="0">
                <a:latin typeface="Helvetica" pitchFamily="34" charset="0"/>
              </a:rPr>
              <a:t>Ability to work independently </a:t>
            </a:r>
          </a:p>
          <a:p>
            <a:pPr lvl="0">
              <a:spcBef>
                <a:spcPts val="600"/>
              </a:spcBef>
              <a:spcAft>
                <a:spcPts val="1200"/>
              </a:spcAft>
            </a:pPr>
            <a:r>
              <a:rPr lang="en-AU" sz="2200" dirty="0" smtClean="0">
                <a:latin typeface="Helvetica" pitchFamily="34" charset="0"/>
              </a:rPr>
              <a:t>Previous customer service experience</a:t>
            </a:r>
          </a:p>
          <a:p>
            <a:pPr lvl="0">
              <a:spcBef>
                <a:spcPts val="600"/>
              </a:spcBef>
              <a:spcAft>
                <a:spcPts val="1200"/>
              </a:spcAft>
            </a:pPr>
            <a:r>
              <a:rPr lang="en-AU" sz="2200" dirty="0" smtClean="0">
                <a:latin typeface="Helvetica" pitchFamily="34" charset="0"/>
              </a:rPr>
              <a:t>Good communication skills </a:t>
            </a:r>
          </a:p>
          <a:p>
            <a:pPr>
              <a:spcBef>
                <a:spcPts val="600"/>
              </a:spcBef>
              <a:spcAft>
                <a:spcPts val="1200"/>
              </a:spcAft>
            </a:pPr>
            <a:r>
              <a:rPr lang="en-AU" sz="2200" dirty="0" smtClean="0">
                <a:latin typeface="Helvetica" pitchFamily="34" charset="0"/>
              </a:rPr>
              <a:t>Good organisational skills.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7" name="Picture 6" descr="MP900422222[1].JPG"/>
          <p:cNvPicPr>
            <a:picLocks noChangeAspect="1"/>
          </p:cNvPicPr>
          <p:nvPr/>
        </p:nvPicPr>
        <p:blipFill>
          <a:blip r:embed="rId3" cstate="print"/>
          <a:srcRect r="27387"/>
          <a:stretch>
            <a:fillRect/>
          </a:stretch>
        </p:blipFill>
        <p:spPr>
          <a:xfrm>
            <a:off x="6372200" y="2996952"/>
            <a:ext cx="1919706" cy="197455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Characteristics of a room attendant</a:t>
            </a:r>
            <a:endParaRPr lang="en-US" sz="3400" b="1" dirty="0">
              <a:solidFill>
                <a:srgbClr val="FF6600"/>
              </a:solidFill>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Attributes</a:t>
            </a:r>
          </a:p>
          <a:p>
            <a:pPr lvl="0">
              <a:spcBef>
                <a:spcPts val="600"/>
              </a:spcBef>
              <a:spcAft>
                <a:spcPts val="1200"/>
              </a:spcAft>
            </a:pPr>
            <a:r>
              <a:rPr lang="en-AU" sz="2200" dirty="0" smtClean="0">
                <a:latin typeface="Helvetica" pitchFamily="34" charset="0"/>
              </a:rPr>
              <a:t>Integrity and confidentiality – room </a:t>
            </a:r>
            <a:r>
              <a:rPr lang="en-AU" sz="2200" dirty="0" smtClean="0"/>
              <a:t>attendants need to respect guests’ privacy</a:t>
            </a:r>
            <a:endParaRPr lang="en-AU" sz="2200" dirty="0" smtClean="0">
              <a:latin typeface="Helvetica" pitchFamily="34" charset="0"/>
            </a:endParaRPr>
          </a:p>
          <a:p>
            <a:pPr lvl="0">
              <a:spcBef>
                <a:spcPts val="600"/>
              </a:spcBef>
              <a:spcAft>
                <a:spcPts val="1200"/>
              </a:spcAft>
            </a:pPr>
            <a:r>
              <a:rPr lang="en-AU" sz="2200" dirty="0" smtClean="0"/>
              <a:t>Honesty – room attendants have no right to take guest belongings or even items like perfume, food or drink</a:t>
            </a:r>
            <a:endParaRPr lang="en-AU" sz="2200" dirty="0" smtClean="0">
              <a:latin typeface="Helvetica" pitchFamily="34" charset="0"/>
            </a:endParaRPr>
          </a:p>
          <a:p>
            <a:pPr lvl="0">
              <a:spcBef>
                <a:spcPts val="600"/>
              </a:spcBef>
              <a:spcAft>
                <a:spcPts val="1200"/>
              </a:spcAft>
            </a:pPr>
            <a:r>
              <a:rPr lang="en-AU" sz="2200" dirty="0" smtClean="0"/>
              <a:t>Discretion – guest information or </a:t>
            </a:r>
            <a:br>
              <a:rPr lang="en-AU" sz="2200" dirty="0" smtClean="0"/>
            </a:br>
            <a:r>
              <a:rPr lang="en-AU" sz="2200" dirty="0" smtClean="0"/>
              <a:t>activities are not allowed to be </a:t>
            </a:r>
            <a:br>
              <a:rPr lang="en-AU" sz="2200" dirty="0" smtClean="0"/>
            </a:br>
            <a:r>
              <a:rPr lang="en-AU" sz="2200" dirty="0" smtClean="0"/>
              <a:t>shared with others.</a:t>
            </a:r>
            <a:endParaRPr lang="en-AU" sz="2200" dirty="0" smtClean="0">
              <a:latin typeface="Helvetica" pitchFamily="34" charset="0"/>
            </a:endParaRPr>
          </a:p>
          <a:p>
            <a:pPr lvl="0">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7" name="Picture 6" descr="MP900422222[1].JPG"/>
          <p:cNvPicPr>
            <a:picLocks noChangeAspect="1"/>
          </p:cNvPicPr>
          <p:nvPr/>
        </p:nvPicPr>
        <p:blipFill>
          <a:blip r:embed="rId3" cstate="print"/>
          <a:stretch>
            <a:fillRect/>
          </a:stretch>
        </p:blipFill>
        <p:spPr>
          <a:xfrm>
            <a:off x="6084168" y="4221088"/>
            <a:ext cx="2224111" cy="1483481"/>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Grooming &amp; personal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US" sz="2200" dirty="0" smtClean="0">
                <a:latin typeface="Helvetica" pitchFamily="34" charset="0"/>
              </a:rPr>
              <a:t>In all aspects of grooming, room attendants should reflect expectations of the guest and the property. </a:t>
            </a:r>
          </a:p>
          <a:p>
            <a:pPr>
              <a:spcBef>
                <a:spcPts val="600"/>
              </a:spcBef>
              <a:spcAft>
                <a:spcPts val="1200"/>
              </a:spcAft>
              <a:buNone/>
            </a:pPr>
            <a:r>
              <a:rPr lang="en-US" sz="2200" dirty="0" smtClean="0">
                <a:latin typeface="Helvetica" pitchFamily="34" charset="0"/>
              </a:rPr>
              <a:t>Most organisations will have strict grooming standards to:</a:t>
            </a:r>
          </a:p>
          <a:p>
            <a:pPr>
              <a:spcBef>
                <a:spcPts val="600"/>
              </a:spcBef>
              <a:spcAft>
                <a:spcPts val="1200"/>
              </a:spcAft>
            </a:pPr>
            <a:r>
              <a:rPr lang="en-US" sz="2200" dirty="0" smtClean="0">
                <a:latin typeface="Helvetica" pitchFamily="34" charset="0"/>
              </a:rPr>
              <a:t>Ensure consistency</a:t>
            </a:r>
          </a:p>
          <a:p>
            <a:pPr>
              <a:spcBef>
                <a:spcPts val="600"/>
              </a:spcBef>
              <a:spcAft>
                <a:spcPts val="1200"/>
              </a:spcAft>
            </a:pPr>
            <a:r>
              <a:rPr lang="en-US" sz="2200" dirty="0" smtClean="0">
                <a:latin typeface="Helvetica" pitchFamily="34" charset="0"/>
              </a:rPr>
              <a:t>Build confidence and pride of staff</a:t>
            </a:r>
          </a:p>
          <a:p>
            <a:pPr>
              <a:spcBef>
                <a:spcPts val="600"/>
              </a:spcBef>
              <a:spcAft>
                <a:spcPts val="1200"/>
              </a:spcAft>
            </a:pPr>
            <a:r>
              <a:rPr lang="en-US" sz="2200" dirty="0" smtClean="0">
                <a:latin typeface="Helvetica" pitchFamily="34" charset="0"/>
              </a:rPr>
              <a:t>Uphold a professional image.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MP900408879[1].JPG"/>
          <p:cNvPicPr>
            <a:picLocks noChangeAspect="1"/>
          </p:cNvPicPr>
          <p:nvPr/>
        </p:nvPicPr>
        <p:blipFill>
          <a:blip r:embed="rId3" cstate="print"/>
          <a:stretch>
            <a:fillRect/>
          </a:stretch>
        </p:blipFill>
        <p:spPr>
          <a:xfrm>
            <a:off x="6228184" y="3212976"/>
            <a:ext cx="1857388" cy="1857388"/>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Grooming &amp; personal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US" sz="2200" dirty="0" smtClean="0">
                <a:latin typeface="Helvetica" pitchFamily="34" charset="0"/>
              </a:rPr>
              <a:t>What are expected standards for:</a:t>
            </a:r>
          </a:p>
          <a:p>
            <a:pPr marL="0">
              <a:spcBef>
                <a:spcPts val="600"/>
              </a:spcBef>
              <a:spcAft>
                <a:spcPts val="1200"/>
              </a:spcAft>
            </a:pPr>
            <a:r>
              <a:rPr lang="en-US" sz="2200" dirty="0" smtClean="0">
                <a:latin typeface="Helvetica" pitchFamily="34" charset="0"/>
              </a:rPr>
              <a:t>Clothing </a:t>
            </a:r>
          </a:p>
          <a:p>
            <a:pPr marL="0">
              <a:spcBef>
                <a:spcPts val="600"/>
              </a:spcBef>
              <a:spcAft>
                <a:spcPts val="1200"/>
              </a:spcAft>
            </a:pPr>
            <a:r>
              <a:rPr lang="en-US" sz="2200" dirty="0" smtClean="0">
                <a:latin typeface="Helvetica" pitchFamily="34" charset="0"/>
              </a:rPr>
              <a:t>Name Badge</a:t>
            </a:r>
          </a:p>
          <a:p>
            <a:pPr marL="0">
              <a:spcBef>
                <a:spcPts val="600"/>
              </a:spcBef>
              <a:spcAft>
                <a:spcPts val="1200"/>
              </a:spcAft>
            </a:pPr>
            <a:r>
              <a:rPr lang="en-US" sz="2200" dirty="0" smtClean="0">
                <a:latin typeface="Helvetica" pitchFamily="34" charset="0"/>
              </a:rPr>
              <a:t>Hair</a:t>
            </a:r>
          </a:p>
          <a:p>
            <a:pPr marL="0">
              <a:spcBef>
                <a:spcPts val="600"/>
              </a:spcBef>
              <a:spcAft>
                <a:spcPts val="1200"/>
              </a:spcAft>
            </a:pPr>
            <a:r>
              <a:rPr lang="en-US" sz="2200" dirty="0" smtClean="0">
                <a:latin typeface="Helvetica" pitchFamily="34" charset="0"/>
              </a:rPr>
              <a:t>Nails</a:t>
            </a:r>
          </a:p>
          <a:p>
            <a:pPr marL="0">
              <a:spcBef>
                <a:spcPts val="600"/>
              </a:spcBef>
              <a:spcAft>
                <a:spcPts val="1200"/>
              </a:spcAft>
            </a:pPr>
            <a:r>
              <a:rPr lang="en-US" sz="2200" dirty="0" smtClean="0">
                <a:latin typeface="Helvetica" pitchFamily="34" charset="0"/>
              </a:rPr>
              <a:t>Jewelry</a:t>
            </a:r>
          </a:p>
          <a:p>
            <a:pPr marL="0">
              <a:spcBef>
                <a:spcPts val="600"/>
              </a:spcBef>
              <a:spcAft>
                <a:spcPts val="1200"/>
              </a:spcAft>
            </a:pPr>
            <a:r>
              <a:rPr lang="en-US" sz="2200" dirty="0" smtClean="0">
                <a:latin typeface="Helvetica" pitchFamily="34" charset="0"/>
              </a:rPr>
              <a:t>Make Up.</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4" descr="MP900314373[1].JPG"/>
          <p:cNvPicPr>
            <a:picLocks noChangeAspect="1"/>
          </p:cNvPicPr>
          <p:nvPr/>
        </p:nvPicPr>
        <p:blipFill>
          <a:blip r:embed="rId3" cstate="print"/>
          <a:stretch>
            <a:fillRect/>
          </a:stretch>
        </p:blipFill>
        <p:spPr>
          <a:xfrm>
            <a:off x="6516216" y="2348880"/>
            <a:ext cx="1238954" cy="2794632"/>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Grooming &amp; personal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US" sz="2200" dirty="0" smtClean="0">
                <a:latin typeface="Helvetica" pitchFamily="34" charset="0"/>
              </a:rPr>
              <a:t>What are expected standards for:</a:t>
            </a:r>
          </a:p>
          <a:p>
            <a:pPr marL="0">
              <a:spcBef>
                <a:spcPts val="600"/>
              </a:spcBef>
              <a:spcAft>
                <a:spcPts val="1200"/>
              </a:spcAft>
            </a:pPr>
            <a:r>
              <a:rPr lang="en-US" sz="2200" dirty="0" smtClean="0">
                <a:latin typeface="Helvetica" pitchFamily="34" charset="0"/>
              </a:rPr>
              <a:t>Odour</a:t>
            </a:r>
          </a:p>
          <a:p>
            <a:pPr marL="0">
              <a:spcBef>
                <a:spcPts val="600"/>
              </a:spcBef>
              <a:spcAft>
                <a:spcPts val="1200"/>
              </a:spcAft>
            </a:pPr>
            <a:r>
              <a:rPr lang="en-US" sz="2200" dirty="0" smtClean="0">
                <a:latin typeface="Helvetica" pitchFamily="34" charset="0"/>
              </a:rPr>
              <a:t>Personal hygiene</a:t>
            </a:r>
          </a:p>
          <a:p>
            <a:pPr marL="0">
              <a:spcBef>
                <a:spcPts val="600"/>
              </a:spcBef>
              <a:spcAft>
                <a:spcPts val="1200"/>
              </a:spcAft>
            </a:pPr>
            <a:r>
              <a:rPr lang="en-US" sz="2200" dirty="0" smtClean="0">
                <a:latin typeface="Helvetica" pitchFamily="34" charset="0"/>
              </a:rPr>
              <a:t>Personal belongings.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4" descr="MP900427641[1].JPG"/>
          <p:cNvPicPr/>
          <p:nvPr/>
        </p:nvPicPr>
        <p:blipFill>
          <a:blip r:embed="rId3" cstate="print"/>
          <a:stretch>
            <a:fillRect/>
          </a:stretch>
        </p:blipFill>
        <p:spPr>
          <a:xfrm>
            <a:off x="5643570" y="1714488"/>
            <a:ext cx="2214364" cy="2214364"/>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Each organisation will have its own policies and procedures.</a:t>
            </a:r>
          </a:p>
          <a:p>
            <a:pPr marL="0">
              <a:spcBef>
                <a:spcPts val="600"/>
              </a:spcBef>
              <a:spcAft>
                <a:spcPts val="1200"/>
              </a:spcAft>
              <a:buNone/>
            </a:pPr>
            <a:r>
              <a:rPr lang="en-AU" sz="2200" dirty="0" smtClean="0">
                <a:latin typeface="Helvetica" pitchFamily="34" charset="0"/>
              </a:rPr>
              <a:t>Their main provision is to ensure the health, safety, security and privacy of the organisation, staff and customers. </a:t>
            </a:r>
          </a:p>
          <a:p>
            <a:pPr>
              <a:spcBef>
                <a:spcPts val="600"/>
              </a:spcBef>
              <a:spcAft>
                <a:spcPts val="1200"/>
              </a:spcAft>
            </a:pPr>
            <a:r>
              <a:rPr lang="en-AU" sz="2200" dirty="0" smtClean="0">
                <a:latin typeface="Helvetica" pitchFamily="34" charset="0"/>
              </a:rPr>
              <a:t>Policy – rule or code of conduct</a:t>
            </a:r>
          </a:p>
          <a:p>
            <a:pPr lvl="0">
              <a:spcBef>
                <a:spcPts val="600"/>
              </a:spcBef>
              <a:spcAft>
                <a:spcPts val="1200"/>
              </a:spcAft>
            </a:pPr>
            <a:r>
              <a:rPr lang="en-AU" sz="2200" dirty="0" smtClean="0">
                <a:latin typeface="Helvetica" pitchFamily="34" charset="0"/>
              </a:rPr>
              <a:t>Procedure – step by step instruction.</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8" name="Picture 7" descr="MP900442488[1].JPG"/>
          <p:cNvPicPr>
            <a:picLocks noChangeAspect="1"/>
          </p:cNvPicPr>
          <p:nvPr/>
        </p:nvPicPr>
        <p:blipFill>
          <a:blip r:embed="rId3" cstate="print"/>
          <a:stretch>
            <a:fillRect/>
          </a:stretch>
        </p:blipFill>
        <p:spPr>
          <a:xfrm>
            <a:off x="6643702" y="3429000"/>
            <a:ext cx="1347610" cy="1756112"/>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Examples of housekeeping policies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No stealing</a:t>
            </a:r>
          </a:p>
          <a:p>
            <a:pPr lvl="0">
              <a:spcBef>
                <a:spcPts val="600"/>
              </a:spcBef>
              <a:spcAft>
                <a:spcPts val="1200"/>
              </a:spcAft>
            </a:pPr>
            <a:r>
              <a:rPr lang="en-AU" sz="2200" dirty="0" smtClean="0">
                <a:latin typeface="Helvetica" pitchFamily="34" charset="0"/>
              </a:rPr>
              <a:t>Guest room doors cannot be closed whilst </a:t>
            </a:r>
            <a:br>
              <a:rPr lang="en-AU" sz="2200" dirty="0" smtClean="0">
                <a:latin typeface="Helvetica" pitchFamily="34" charset="0"/>
              </a:rPr>
            </a:br>
            <a:r>
              <a:rPr lang="en-AU" sz="2200" dirty="0" smtClean="0">
                <a:latin typeface="Helvetica" pitchFamily="34" charset="0"/>
              </a:rPr>
              <a:t>cleaning</a:t>
            </a:r>
          </a:p>
          <a:p>
            <a:pPr lvl="0">
              <a:spcBef>
                <a:spcPts val="600"/>
              </a:spcBef>
              <a:spcAft>
                <a:spcPts val="1200"/>
              </a:spcAft>
            </a:pPr>
            <a:r>
              <a:rPr lang="en-AU" sz="2200" dirty="0" smtClean="0">
                <a:latin typeface="Helvetica" pitchFamily="34" charset="0"/>
              </a:rPr>
              <a:t>Protective clothes to be worn when </a:t>
            </a:r>
            <a:br>
              <a:rPr lang="en-AU" sz="2200" dirty="0" smtClean="0">
                <a:latin typeface="Helvetica" pitchFamily="34" charset="0"/>
              </a:rPr>
            </a:br>
            <a:r>
              <a:rPr lang="en-AU" sz="2200" dirty="0" smtClean="0">
                <a:latin typeface="Helvetica" pitchFamily="34" charset="0"/>
              </a:rPr>
              <a:t>cleaning</a:t>
            </a:r>
          </a:p>
          <a:p>
            <a:pPr lvl="0">
              <a:spcBef>
                <a:spcPts val="600"/>
              </a:spcBef>
              <a:spcAft>
                <a:spcPts val="1200"/>
              </a:spcAft>
            </a:pPr>
            <a:r>
              <a:rPr lang="en-AU" sz="2200" dirty="0" smtClean="0">
                <a:latin typeface="Helvetica" pitchFamily="34" charset="0"/>
              </a:rPr>
              <a:t>Confidentiality of guest information.</a:t>
            </a:r>
          </a:p>
          <a:p>
            <a:pPr lvl="0" algn="ctr">
              <a:spcBef>
                <a:spcPts val="600"/>
              </a:spcBef>
              <a:spcAft>
                <a:spcPts val="1200"/>
              </a:spcAft>
              <a:buNone/>
            </a:pPr>
            <a:r>
              <a:rPr lang="en-AU" sz="2200" b="1" dirty="0" smtClean="0">
                <a:latin typeface="Helvetica" pitchFamily="34" charset="0"/>
              </a:rPr>
              <a:t>What other policies exist?</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Picture 5" descr="MP900175520[1].JPG"/>
          <p:cNvPicPr>
            <a:picLocks noChangeAspect="1"/>
          </p:cNvPicPr>
          <p:nvPr/>
        </p:nvPicPr>
        <p:blipFill>
          <a:blip r:embed="rId3" cstate="print"/>
          <a:stretch>
            <a:fillRect/>
          </a:stretch>
        </p:blipFill>
        <p:spPr>
          <a:xfrm>
            <a:off x="6786578" y="2500306"/>
            <a:ext cx="1411090" cy="2100879"/>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Examples of housekeeping procedures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Accessing a room</a:t>
            </a:r>
          </a:p>
          <a:p>
            <a:pPr lvl="0">
              <a:spcBef>
                <a:spcPts val="600"/>
              </a:spcBef>
              <a:spcAft>
                <a:spcPts val="1200"/>
              </a:spcAft>
            </a:pPr>
            <a:r>
              <a:rPr lang="en-AU" sz="2200" dirty="0" smtClean="0">
                <a:latin typeface="Helvetica" pitchFamily="34" charset="0"/>
              </a:rPr>
              <a:t>Making a bed</a:t>
            </a:r>
          </a:p>
          <a:p>
            <a:pPr lvl="0">
              <a:spcBef>
                <a:spcPts val="600"/>
              </a:spcBef>
              <a:spcAft>
                <a:spcPts val="1200"/>
              </a:spcAft>
            </a:pPr>
            <a:r>
              <a:rPr lang="en-AU" sz="2200" dirty="0" smtClean="0">
                <a:latin typeface="Helvetica" pitchFamily="34" charset="0"/>
              </a:rPr>
              <a:t>Cleaning a window</a:t>
            </a:r>
          </a:p>
          <a:p>
            <a:pPr lvl="0">
              <a:spcBef>
                <a:spcPts val="600"/>
              </a:spcBef>
              <a:spcAft>
                <a:spcPts val="1200"/>
              </a:spcAft>
            </a:pPr>
            <a:r>
              <a:rPr lang="en-AU" sz="2200" dirty="0" smtClean="0">
                <a:latin typeface="Helvetica" pitchFamily="34" charset="0"/>
              </a:rPr>
              <a:t>Cleaning a bathroom</a:t>
            </a:r>
          </a:p>
          <a:p>
            <a:pPr lvl="0">
              <a:spcBef>
                <a:spcPts val="600"/>
              </a:spcBef>
              <a:spcAft>
                <a:spcPts val="1200"/>
              </a:spcAft>
            </a:pPr>
            <a:r>
              <a:rPr lang="en-AU" sz="2200" dirty="0" smtClean="0">
                <a:latin typeface="Helvetica" pitchFamily="34" charset="0"/>
              </a:rPr>
              <a:t>Mopping a floor</a:t>
            </a:r>
          </a:p>
          <a:p>
            <a:pPr>
              <a:spcBef>
                <a:spcPts val="600"/>
              </a:spcBef>
              <a:spcAft>
                <a:spcPts val="1200"/>
              </a:spcAft>
            </a:pPr>
            <a:r>
              <a:rPr lang="en-AU" sz="2200" dirty="0" smtClean="0">
                <a:latin typeface="Helvetica" pitchFamily="34" charset="0"/>
              </a:rPr>
              <a:t>Handling lost property.</a:t>
            </a:r>
          </a:p>
          <a:p>
            <a:pPr lvl="0" algn="ctr">
              <a:spcBef>
                <a:spcPts val="600"/>
              </a:spcBef>
              <a:spcAft>
                <a:spcPts val="1200"/>
              </a:spcAft>
              <a:buNone/>
            </a:pPr>
            <a:r>
              <a:rPr lang="en-AU" sz="2200" b="1" dirty="0" smtClean="0">
                <a:latin typeface="Helvetica" pitchFamily="34" charset="0"/>
              </a:rPr>
              <a:t>What other procedures exist?</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 name="Picture 6" descr="MP900385501[1].JPG"/>
          <p:cNvPicPr/>
          <p:nvPr/>
        </p:nvPicPr>
        <p:blipFill>
          <a:blip r:embed="rId3" cstate="print"/>
          <a:stretch>
            <a:fillRect/>
          </a:stretch>
        </p:blipFill>
        <p:spPr>
          <a:xfrm>
            <a:off x="6072198" y="2285992"/>
            <a:ext cx="1882202" cy="242889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Who creates policies and procedures</a:t>
            </a:r>
          </a:p>
          <a:p>
            <a:pPr>
              <a:spcBef>
                <a:spcPts val="600"/>
              </a:spcBef>
              <a:spcAft>
                <a:spcPts val="1200"/>
              </a:spcAft>
              <a:buNone/>
            </a:pPr>
            <a:r>
              <a:rPr lang="en-AU" sz="2200" dirty="0" smtClean="0">
                <a:latin typeface="Helvetica" pitchFamily="34" charset="0"/>
              </a:rPr>
              <a:t>Policies and procedures may be created by:</a:t>
            </a:r>
          </a:p>
          <a:p>
            <a:pPr lvl="0">
              <a:spcBef>
                <a:spcPts val="600"/>
              </a:spcBef>
              <a:spcAft>
                <a:spcPts val="1200"/>
              </a:spcAft>
            </a:pPr>
            <a:r>
              <a:rPr lang="en-AU" sz="2200" dirty="0" smtClean="0">
                <a:latin typeface="Helvetica" pitchFamily="34" charset="0"/>
              </a:rPr>
              <a:t>Individual housekeeping department – for </a:t>
            </a:r>
            <a:br>
              <a:rPr lang="en-AU" sz="2200" dirty="0" smtClean="0">
                <a:latin typeface="Helvetica" pitchFamily="34" charset="0"/>
              </a:rPr>
            </a:br>
            <a:r>
              <a:rPr lang="en-AU" sz="2200" dirty="0" smtClean="0">
                <a:latin typeface="Helvetica" pitchFamily="34" charset="0"/>
              </a:rPr>
              <a:t>specific use in that location</a:t>
            </a:r>
          </a:p>
          <a:p>
            <a:pPr lvl="0">
              <a:spcBef>
                <a:spcPts val="600"/>
              </a:spcBef>
              <a:spcAft>
                <a:spcPts val="1200"/>
              </a:spcAft>
            </a:pPr>
            <a:r>
              <a:rPr lang="en-AU" sz="2200" dirty="0" smtClean="0">
                <a:latin typeface="Helvetica" pitchFamily="34" charset="0"/>
              </a:rPr>
              <a:t>Head office – for use throughout the chain</a:t>
            </a:r>
          </a:p>
          <a:p>
            <a:pPr lvl="0">
              <a:spcBef>
                <a:spcPts val="600"/>
              </a:spcBef>
              <a:spcAft>
                <a:spcPts val="1200"/>
              </a:spcAft>
            </a:pPr>
            <a:r>
              <a:rPr lang="en-AU" sz="2200" dirty="0" smtClean="0">
                <a:latin typeface="Helvetica" pitchFamily="34" charset="0"/>
              </a:rPr>
              <a:t>Manufacturers – to identify the correct                              methods for use and maintenance.</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6" name="Picture 5" descr="MP900175432[1].JPG"/>
          <p:cNvPicPr>
            <a:picLocks noChangeAspect="1"/>
          </p:cNvPicPr>
          <p:nvPr/>
        </p:nvPicPr>
        <p:blipFill>
          <a:blip r:embed="rId3" cstate="print"/>
          <a:stretch>
            <a:fillRect/>
          </a:stretch>
        </p:blipFill>
        <p:spPr>
          <a:xfrm>
            <a:off x="6858016" y="2428868"/>
            <a:ext cx="1389196" cy="206828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Types of policies and procedures</a:t>
            </a:r>
          </a:p>
          <a:p>
            <a:pPr marL="0">
              <a:spcBef>
                <a:spcPts val="600"/>
              </a:spcBef>
              <a:spcAft>
                <a:spcPts val="1200"/>
              </a:spcAft>
              <a:buNone/>
            </a:pPr>
            <a:r>
              <a:rPr lang="en-AU" sz="2200" dirty="0" smtClean="0">
                <a:latin typeface="Helvetica" pitchFamily="34" charset="0"/>
              </a:rPr>
              <a:t>Policies and procedures in housekeeping normally relate to the correct handling, use, cleaning, storage and protective items relating to:</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Chemicals</a:t>
            </a:r>
          </a:p>
          <a:p>
            <a:pPr lvl="0">
              <a:spcBef>
                <a:spcPts val="600"/>
              </a:spcBef>
              <a:spcAft>
                <a:spcPts val="1200"/>
              </a:spcAft>
            </a:pPr>
            <a:r>
              <a:rPr lang="en-AU" sz="2200" dirty="0" smtClean="0">
                <a:latin typeface="Helvetica" pitchFamily="34" charset="0"/>
              </a:rPr>
              <a:t>Furnishings</a:t>
            </a:r>
          </a:p>
          <a:p>
            <a:pPr lvl="0">
              <a:spcBef>
                <a:spcPts val="600"/>
              </a:spcBef>
              <a:spcAft>
                <a:spcPts val="1200"/>
              </a:spcAft>
            </a:pPr>
            <a:r>
              <a:rPr lang="en-AU" sz="2200" dirty="0" smtClean="0">
                <a:latin typeface="Helvetica" pitchFamily="34" charset="0"/>
              </a:rPr>
              <a:t>Fittings</a:t>
            </a:r>
          </a:p>
          <a:p>
            <a:pPr lvl="0">
              <a:spcBef>
                <a:spcPts val="600"/>
              </a:spcBef>
              <a:spcAft>
                <a:spcPts val="1200"/>
              </a:spcAft>
            </a:pPr>
            <a:r>
              <a:rPr lang="en-AU" sz="2200" dirty="0" smtClean="0">
                <a:latin typeface="Helvetica" pitchFamily="34" charset="0"/>
              </a:rPr>
              <a:t>Clothing.</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7" name="Picture 6" descr="MP900178951[1].JPG"/>
          <p:cNvPicPr>
            <a:picLocks noChangeAspect="1"/>
          </p:cNvPicPr>
          <p:nvPr/>
        </p:nvPicPr>
        <p:blipFill>
          <a:blip r:embed="rId3" cstate="print"/>
          <a:stretch>
            <a:fillRect/>
          </a:stretch>
        </p:blipFill>
        <p:spPr>
          <a:xfrm>
            <a:off x="5286380" y="3429000"/>
            <a:ext cx="2552623" cy="1714512"/>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Finding out about policies and procedures</a:t>
            </a:r>
          </a:p>
          <a:p>
            <a:pPr lvl="0">
              <a:spcBef>
                <a:spcPts val="600"/>
              </a:spcBef>
              <a:spcAft>
                <a:spcPts val="1200"/>
              </a:spcAft>
            </a:pPr>
            <a:r>
              <a:rPr lang="en-AU" sz="2200" dirty="0" smtClean="0">
                <a:latin typeface="Helvetica" pitchFamily="34" charset="0"/>
              </a:rPr>
              <a:t>Job Descriptions</a:t>
            </a:r>
          </a:p>
          <a:p>
            <a:pPr lvl="0">
              <a:spcBef>
                <a:spcPts val="600"/>
              </a:spcBef>
              <a:spcAft>
                <a:spcPts val="1200"/>
              </a:spcAft>
            </a:pPr>
            <a:r>
              <a:rPr lang="en-AU" sz="2200" dirty="0" smtClean="0">
                <a:latin typeface="Helvetica" pitchFamily="34" charset="0"/>
              </a:rPr>
              <a:t>Training sessions</a:t>
            </a:r>
          </a:p>
          <a:p>
            <a:pPr lvl="0">
              <a:spcBef>
                <a:spcPts val="600"/>
              </a:spcBef>
              <a:spcAft>
                <a:spcPts val="1200"/>
              </a:spcAft>
            </a:pPr>
            <a:r>
              <a:rPr lang="en-AU" sz="2200" dirty="0" smtClean="0">
                <a:latin typeface="Helvetica" pitchFamily="34" charset="0"/>
              </a:rPr>
              <a:t>Standard Operating Procedures</a:t>
            </a:r>
          </a:p>
          <a:p>
            <a:pPr lvl="0">
              <a:spcBef>
                <a:spcPts val="600"/>
              </a:spcBef>
              <a:spcAft>
                <a:spcPts val="1200"/>
              </a:spcAft>
            </a:pPr>
            <a:r>
              <a:rPr lang="en-AU" sz="2200" dirty="0" smtClean="0">
                <a:latin typeface="Helvetica" pitchFamily="34" charset="0"/>
              </a:rPr>
              <a:t>Checklists and Task Sheets</a:t>
            </a:r>
          </a:p>
          <a:p>
            <a:pPr lvl="0">
              <a:spcBef>
                <a:spcPts val="600"/>
              </a:spcBef>
              <a:spcAft>
                <a:spcPts val="1200"/>
              </a:spcAft>
            </a:pPr>
            <a:r>
              <a:rPr lang="en-AU" sz="2200" dirty="0" smtClean="0">
                <a:latin typeface="Helvetica" pitchFamily="34" charset="0"/>
              </a:rPr>
              <a:t>Observation by colleagues</a:t>
            </a:r>
          </a:p>
          <a:p>
            <a:pPr lvl="0">
              <a:spcBef>
                <a:spcPts val="600"/>
              </a:spcBef>
              <a:spcAft>
                <a:spcPts val="1200"/>
              </a:spcAft>
            </a:pPr>
            <a:r>
              <a:rPr lang="en-AU" sz="2200" dirty="0" smtClean="0">
                <a:latin typeface="Helvetica" pitchFamily="34" charset="0"/>
              </a:rPr>
              <a:t>Supervision and instruction by management.</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6" name="Picture 5" descr="MP900399796[1].JPG"/>
          <p:cNvPicPr/>
          <p:nvPr/>
        </p:nvPicPr>
        <p:blipFill>
          <a:blip r:embed="rId3" cstate="print"/>
          <a:stretch>
            <a:fillRect/>
          </a:stretch>
        </p:blipFill>
        <p:spPr>
          <a:xfrm>
            <a:off x="5829043" y="2786058"/>
            <a:ext cx="2304027" cy="1643074"/>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As most staff will never enter a guest room except for a room attendant, it is important that room attendants are the eyes and ears for the hotel, either to update the status of rooms or co-ordinate any appropriate services to be performed, including maintenance, in a timely manner.</a:t>
            </a:r>
            <a:endParaRPr lang="en-AU" sz="2200" b="1"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1027" name="Picture 3" descr="C:\Documents and Settings\danielc\Local Settings\Temporary Internet Files\Content.IE5\XKVY0NPI\MP900316790[1].jpg"/>
          <p:cNvPicPr>
            <a:picLocks noChangeAspect="1" noChangeArrowheads="1"/>
          </p:cNvPicPr>
          <p:nvPr/>
        </p:nvPicPr>
        <p:blipFill>
          <a:blip r:embed="rId3" cstate="print">
            <a:grayscl/>
          </a:blip>
          <a:srcRect/>
          <a:stretch>
            <a:fillRect/>
          </a:stretch>
        </p:blipFill>
        <p:spPr bwMode="auto">
          <a:xfrm>
            <a:off x="3847623" y="3929066"/>
            <a:ext cx="1448754" cy="2146302"/>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dirty="0" smtClean="0">
                <a:latin typeface="Helvetica" pitchFamily="34" charset="0"/>
              </a:rPr>
              <a:t>Room attendants usually communicate with:</a:t>
            </a:r>
          </a:p>
          <a:p>
            <a:pPr>
              <a:spcBef>
                <a:spcPts val="600"/>
              </a:spcBef>
              <a:spcAft>
                <a:spcPts val="1200"/>
              </a:spcAft>
            </a:pPr>
            <a:r>
              <a:rPr lang="en-AU" sz="2200" dirty="0" smtClean="0">
                <a:latin typeface="Helvetica" pitchFamily="34" charset="0"/>
              </a:rPr>
              <a:t>Receptionists </a:t>
            </a:r>
          </a:p>
          <a:p>
            <a:pPr>
              <a:spcBef>
                <a:spcPts val="600"/>
              </a:spcBef>
              <a:spcAft>
                <a:spcPts val="1200"/>
              </a:spcAft>
            </a:pPr>
            <a:r>
              <a:rPr lang="en-AU" sz="2200" dirty="0" smtClean="0">
                <a:latin typeface="Helvetica" pitchFamily="34" charset="0"/>
              </a:rPr>
              <a:t>House Attendants</a:t>
            </a:r>
          </a:p>
          <a:p>
            <a:pPr>
              <a:spcBef>
                <a:spcPts val="600"/>
              </a:spcBef>
              <a:spcAft>
                <a:spcPts val="1200"/>
              </a:spcAft>
            </a:pPr>
            <a:r>
              <a:rPr lang="en-AU" sz="2200" dirty="0" smtClean="0">
                <a:latin typeface="Helvetica" pitchFamily="34" charset="0"/>
              </a:rPr>
              <a:t>Maintenance</a:t>
            </a:r>
          </a:p>
          <a:p>
            <a:pPr>
              <a:spcBef>
                <a:spcPts val="600"/>
              </a:spcBef>
              <a:spcAft>
                <a:spcPts val="1200"/>
              </a:spcAft>
            </a:pPr>
            <a:r>
              <a:rPr lang="en-AU" sz="2200" dirty="0" smtClean="0">
                <a:latin typeface="Helvetica" pitchFamily="34" charset="0"/>
              </a:rPr>
              <a:t>Mini Bar</a:t>
            </a:r>
          </a:p>
          <a:p>
            <a:pPr>
              <a:spcBef>
                <a:spcPts val="600"/>
              </a:spcBef>
              <a:spcAft>
                <a:spcPts val="1200"/>
              </a:spcAft>
            </a:pPr>
            <a:r>
              <a:rPr lang="en-AU" sz="2200" dirty="0" smtClean="0">
                <a:latin typeface="Helvetica" pitchFamily="34" charset="0"/>
              </a:rPr>
              <a:t>Room Service</a:t>
            </a:r>
          </a:p>
          <a:p>
            <a:pPr>
              <a:spcBef>
                <a:spcPts val="600"/>
              </a:spcBef>
              <a:spcAft>
                <a:spcPts val="1200"/>
              </a:spcAft>
            </a:pPr>
            <a:r>
              <a:rPr lang="en-AU" sz="2200" dirty="0" smtClean="0">
                <a:latin typeface="Helvetica" pitchFamily="34" charset="0"/>
              </a:rPr>
              <a:t>Security.</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2050" name="Picture 2" descr="C:\Documents and Settings\danielc\Local Settings\Temporary Internet Files\Content.IE5\0OCRPEL9\MP900185079[1].jpg"/>
          <p:cNvPicPr>
            <a:picLocks noChangeAspect="1" noChangeArrowheads="1"/>
          </p:cNvPicPr>
          <p:nvPr/>
        </p:nvPicPr>
        <p:blipFill>
          <a:blip r:embed="rId3" cstate="print"/>
          <a:srcRect/>
          <a:stretch>
            <a:fillRect/>
          </a:stretch>
        </p:blipFill>
        <p:spPr bwMode="auto">
          <a:xfrm>
            <a:off x="5715008" y="2643182"/>
            <a:ext cx="1512477" cy="2257428"/>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3200" b="1" dirty="0" smtClean="0">
                <a:solidFill>
                  <a:srgbClr val="FF6600"/>
                </a:solidFill>
              </a:rPr>
              <a:t>Element 2:</a:t>
            </a:r>
          </a:p>
          <a:p>
            <a:pPr marL="0">
              <a:buNone/>
            </a:pPr>
            <a:r>
              <a:rPr lang="en-AU" sz="3200" b="1" i="1" dirty="0" smtClean="0">
                <a:solidFill>
                  <a:srgbClr val="FF6600"/>
                </a:solidFill>
              </a:rPr>
              <a:t>Prepare for cleaning duties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3074" name="Picture 2" descr="C:\Documents and Settings\danielc\Local Settings\Temporary Internet Files\Content.IE5\0OCRPEL9\MP900386132[1].jpg"/>
          <p:cNvPicPr>
            <a:picLocks noChangeAspect="1" noChangeArrowheads="1"/>
          </p:cNvPicPr>
          <p:nvPr/>
        </p:nvPicPr>
        <p:blipFill>
          <a:blip r:embed="rId3" cstate="print"/>
          <a:srcRect/>
          <a:stretch>
            <a:fillRect/>
          </a:stretch>
        </p:blipFill>
        <p:spPr bwMode="auto">
          <a:xfrm>
            <a:off x="3681220" y="3286124"/>
            <a:ext cx="1781560" cy="2692534"/>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Preparing for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Replenish linen room supplies</a:t>
            </a:r>
          </a:p>
          <a:p>
            <a:pPr>
              <a:spcBef>
                <a:spcPts val="600"/>
              </a:spcBef>
              <a:spcAft>
                <a:spcPts val="1200"/>
              </a:spcAft>
            </a:pPr>
            <a:r>
              <a:rPr lang="en-AU" sz="2200" dirty="0" smtClean="0">
                <a:latin typeface="Helvetica" pitchFamily="34" charset="0"/>
              </a:rPr>
              <a:t>Load housekeeping trolley with supplies </a:t>
            </a:r>
            <a:br>
              <a:rPr lang="en-AU" sz="2200" dirty="0" smtClean="0">
                <a:latin typeface="Helvetica" pitchFamily="34" charset="0"/>
              </a:rPr>
            </a:br>
            <a:r>
              <a:rPr lang="en-AU" sz="2200" dirty="0" smtClean="0">
                <a:latin typeface="Helvetica" pitchFamily="34" charset="0"/>
              </a:rPr>
              <a:t>for service</a:t>
            </a:r>
          </a:p>
          <a:p>
            <a:pPr>
              <a:spcBef>
                <a:spcPts val="600"/>
              </a:spcBef>
              <a:spcAft>
                <a:spcPts val="1200"/>
              </a:spcAft>
            </a:pPr>
            <a:r>
              <a:rPr lang="en-AU" sz="2200" dirty="0" smtClean="0">
                <a:latin typeface="Helvetica" pitchFamily="34" charset="0"/>
              </a:rPr>
              <a:t>Check housekeeping trolley prior to use</a:t>
            </a:r>
          </a:p>
          <a:p>
            <a:pPr>
              <a:spcBef>
                <a:spcPts val="600"/>
              </a:spcBef>
              <a:spcAft>
                <a:spcPts val="1200"/>
              </a:spcAft>
            </a:pPr>
            <a:r>
              <a:rPr lang="en-AU" sz="2200" dirty="0" smtClean="0">
                <a:latin typeface="Helvetica" pitchFamily="34" charset="0"/>
              </a:rPr>
              <a:t>Identify rooms to be cleaned for the shift</a:t>
            </a:r>
          </a:p>
          <a:p>
            <a:pPr>
              <a:spcBef>
                <a:spcPts val="600"/>
              </a:spcBef>
              <a:spcAft>
                <a:spcPts val="1200"/>
              </a:spcAft>
            </a:pPr>
            <a:r>
              <a:rPr lang="en-AU" sz="2200" dirty="0" smtClean="0">
                <a:latin typeface="Helvetica" pitchFamily="34" charset="0"/>
              </a:rPr>
              <a:t>Access and enter guest room appropriately.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MP900337391[1].JPG"/>
          <p:cNvPicPr/>
          <p:nvPr/>
        </p:nvPicPr>
        <p:blipFill>
          <a:blip r:embed="rId3" cstate="print"/>
          <a:stretch>
            <a:fillRect/>
          </a:stretch>
        </p:blipFill>
        <p:spPr>
          <a:xfrm>
            <a:off x="6643702" y="2071678"/>
            <a:ext cx="1473356" cy="1997984"/>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Replenish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buNone/>
            </a:pPr>
            <a:r>
              <a:rPr lang="en-AU" sz="2200" dirty="0" smtClean="0">
                <a:latin typeface="Helvetica" pitchFamily="34" charset="0"/>
              </a:rPr>
              <a:t>Before guest rooms are serviced, there is a need to prepare the linen room supplies and trolley that will be used to cart the cleaning materials and the room supplies to those rooms.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MP900386465[1].JPG"/>
          <p:cNvPicPr/>
          <p:nvPr/>
        </p:nvPicPr>
        <p:blipFill>
          <a:blip r:embed="rId3" cstate="print"/>
          <a:stretch>
            <a:fillRect/>
          </a:stretch>
        </p:blipFill>
        <p:spPr>
          <a:xfrm>
            <a:off x="3614080" y="3214686"/>
            <a:ext cx="1915840" cy="2566963"/>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Equipment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pPr>
            <a:r>
              <a:rPr lang="en-US" sz="2200" dirty="0" smtClean="0">
                <a:latin typeface="Helvetica" pitchFamily="34" charset="0"/>
              </a:rPr>
              <a:t>Housekeeping trolley</a:t>
            </a:r>
            <a:endParaRPr lang="en-AU" sz="2200" dirty="0" smtClean="0">
              <a:latin typeface="Helvetica" pitchFamily="34" charset="0"/>
            </a:endParaRPr>
          </a:p>
          <a:p>
            <a:pPr marL="0">
              <a:spcBef>
                <a:spcPts val="600"/>
              </a:spcBef>
              <a:spcAft>
                <a:spcPts val="1200"/>
              </a:spcAft>
            </a:pPr>
            <a:r>
              <a:rPr lang="en-US" sz="2200" dirty="0" smtClean="0">
                <a:latin typeface="Helvetica" pitchFamily="34" charset="0"/>
              </a:rPr>
              <a:t>Vacuum cleaner</a:t>
            </a:r>
            <a:endParaRPr lang="en-AU" sz="2200" dirty="0" smtClean="0">
              <a:latin typeface="Helvetica" pitchFamily="34" charset="0"/>
            </a:endParaRPr>
          </a:p>
          <a:p>
            <a:pPr marL="0">
              <a:spcBef>
                <a:spcPts val="600"/>
              </a:spcBef>
              <a:spcAft>
                <a:spcPts val="1200"/>
              </a:spcAft>
            </a:pPr>
            <a:r>
              <a:rPr lang="en-US" sz="2200" dirty="0" smtClean="0">
                <a:latin typeface="Helvetica" pitchFamily="34" charset="0"/>
              </a:rPr>
              <a:t>Mops </a:t>
            </a:r>
            <a:endParaRPr lang="en-AU" sz="2200" dirty="0" smtClean="0">
              <a:latin typeface="Helvetica" pitchFamily="34" charset="0"/>
            </a:endParaRPr>
          </a:p>
          <a:p>
            <a:pPr marL="0">
              <a:spcBef>
                <a:spcPts val="600"/>
              </a:spcBef>
              <a:spcAft>
                <a:spcPts val="1200"/>
              </a:spcAft>
            </a:pPr>
            <a:r>
              <a:rPr lang="en-US" sz="2200" dirty="0" smtClean="0">
                <a:latin typeface="Helvetica" pitchFamily="34" charset="0"/>
              </a:rPr>
              <a:t>Brooms and brushes</a:t>
            </a:r>
            <a:endParaRPr lang="en-AU" sz="2200" dirty="0" smtClean="0">
              <a:latin typeface="Helvetica" pitchFamily="34" charset="0"/>
            </a:endParaRPr>
          </a:p>
          <a:p>
            <a:pPr marL="0">
              <a:spcBef>
                <a:spcPts val="600"/>
              </a:spcBef>
              <a:spcAft>
                <a:spcPts val="1200"/>
              </a:spcAft>
            </a:pPr>
            <a:r>
              <a:rPr lang="en-US" sz="2200" dirty="0" smtClean="0">
                <a:latin typeface="Helvetica" pitchFamily="34" charset="0"/>
              </a:rPr>
              <a:t>Buckets.</a:t>
            </a:r>
            <a:endParaRPr lang="en-AU" sz="22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MP900385501[1].JPG"/>
          <p:cNvPicPr/>
          <p:nvPr/>
        </p:nvPicPr>
        <p:blipFill>
          <a:blip r:embed="rId3" cstate="print">
            <a:duotone>
              <a:prstClr val="black"/>
              <a:schemeClr val="accent2">
                <a:tint val="45000"/>
                <a:satMod val="400000"/>
              </a:schemeClr>
            </a:duotone>
          </a:blip>
          <a:stretch>
            <a:fillRect/>
          </a:stretch>
        </p:blipFill>
        <p:spPr>
          <a:xfrm>
            <a:off x="5572132" y="1714488"/>
            <a:ext cx="1754483" cy="2335038"/>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Equipment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pPr>
            <a:r>
              <a:rPr lang="en-US" sz="2200" dirty="0" smtClean="0">
                <a:latin typeface="Helvetica" pitchFamily="34" charset="0"/>
              </a:rPr>
              <a:t>Protective gloves  </a:t>
            </a:r>
            <a:endParaRPr lang="en-AU" sz="2200" dirty="0" smtClean="0">
              <a:latin typeface="Helvetica" pitchFamily="34" charset="0"/>
            </a:endParaRPr>
          </a:p>
          <a:p>
            <a:pPr marL="0">
              <a:spcBef>
                <a:spcPts val="600"/>
              </a:spcBef>
              <a:spcAft>
                <a:spcPts val="1200"/>
              </a:spcAft>
            </a:pPr>
            <a:r>
              <a:rPr lang="en-GB" sz="2200" dirty="0" smtClean="0">
                <a:latin typeface="Helvetica" pitchFamily="34" charset="0"/>
              </a:rPr>
              <a:t>Housekeeping uniform</a:t>
            </a:r>
            <a:endParaRPr lang="en-AU" sz="2200" dirty="0" smtClean="0">
              <a:latin typeface="Helvetica" pitchFamily="34" charset="0"/>
            </a:endParaRPr>
          </a:p>
          <a:p>
            <a:pPr marL="0">
              <a:spcBef>
                <a:spcPts val="600"/>
              </a:spcBef>
              <a:spcAft>
                <a:spcPts val="1200"/>
              </a:spcAft>
            </a:pPr>
            <a:r>
              <a:rPr lang="en-US" sz="2200" dirty="0" smtClean="0">
                <a:latin typeface="Helvetica" pitchFamily="34" charset="0"/>
              </a:rPr>
              <a:t>Cloths </a:t>
            </a:r>
            <a:endParaRPr lang="en-AU" sz="2200" dirty="0" smtClean="0">
              <a:latin typeface="Helvetica" pitchFamily="34" charset="0"/>
            </a:endParaRPr>
          </a:p>
          <a:p>
            <a:pPr marL="0">
              <a:spcBef>
                <a:spcPts val="600"/>
              </a:spcBef>
              <a:spcAft>
                <a:spcPts val="1200"/>
              </a:spcAft>
            </a:pPr>
            <a:r>
              <a:rPr lang="en-US" sz="2200" dirty="0" smtClean="0">
                <a:latin typeface="Helvetica" pitchFamily="34" charset="0"/>
              </a:rPr>
              <a:t>Warning signs </a:t>
            </a:r>
          </a:p>
          <a:p>
            <a:pPr marL="0">
              <a:spcBef>
                <a:spcPts val="600"/>
              </a:spcBef>
              <a:spcAft>
                <a:spcPts val="1200"/>
              </a:spcAft>
            </a:pPr>
            <a:r>
              <a:rPr lang="en-US" sz="2200" dirty="0" smtClean="0">
                <a:latin typeface="Helvetica" pitchFamily="34" charset="0"/>
              </a:rPr>
              <a:t>Dust pan.</a:t>
            </a:r>
            <a:endParaRPr lang="en-AU" sz="22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MP900049625[1].JPG"/>
          <p:cNvPicPr/>
          <p:nvPr/>
        </p:nvPicPr>
        <p:blipFill>
          <a:blip r:embed="rId3" cstate="print"/>
          <a:stretch>
            <a:fillRect/>
          </a:stretch>
        </p:blipFill>
        <p:spPr>
          <a:xfrm>
            <a:off x="4714876" y="2214554"/>
            <a:ext cx="2726283" cy="2016423"/>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and chemical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pPr>
            <a:r>
              <a:rPr lang="en-US" sz="2200" dirty="0" smtClean="0">
                <a:latin typeface="Helvetica" pitchFamily="34" charset="0"/>
              </a:rPr>
              <a:t>Polishes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Detergents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Glass cleaner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Multi-purpose cleaners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Oven cleaners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Stainless steel cleaners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Leather cleaners.</a:t>
            </a:r>
            <a:endParaRPr lang="en-AU" sz="22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6" name="Picture 5" descr="MP900439279[1].JPG"/>
          <p:cNvPicPr/>
          <p:nvPr/>
        </p:nvPicPr>
        <p:blipFill>
          <a:blip r:embed="rId3" cstate="print"/>
          <a:stretch>
            <a:fillRect/>
          </a:stretch>
        </p:blipFill>
        <p:spPr>
          <a:xfrm>
            <a:off x="5500694" y="1714488"/>
            <a:ext cx="2326556" cy="3014638"/>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and chemical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lvl="0">
              <a:spcBef>
                <a:spcPts val="600"/>
              </a:spcBef>
              <a:spcAft>
                <a:spcPts val="1200"/>
              </a:spcAft>
            </a:pPr>
            <a:r>
              <a:rPr lang="en-US" sz="2200" dirty="0" smtClean="0">
                <a:latin typeface="Helvetica" pitchFamily="34" charset="0"/>
              </a:rPr>
              <a:t>Porcelain and ceramic cleaners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Toilet and urinal cleaners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Dishwashing detergent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Sanitisers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Disinfectants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Deodorisers and air sprays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Pest control sprays and similar.</a:t>
            </a:r>
            <a:endParaRPr lang="en-AU" sz="22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MP900341784[1].JPG"/>
          <p:cNvPicPr>
            <a:picLocks noChangeAspect="1"/>
          </p:cNvPicPr>
          <p:nvPr/>
        </p:nvPicPr>
        <p:blipFill>
          <a:blip r:embed="rId3" cstate="print"/>
          <a:stretch>
            <a:fillRect/>
          </a:stretch>
        </p:blipFill>
        <p:spPr>
          <a:xfrm>
            <a:off x="5929322" y="2143116"/>
            <a:ext cx="1630691" cy="2286016"/>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Other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fontScale="92500" lnSpcReduction="10000"/>
          </a:bodyPr>
          <a:lstStyle/>
          <a:p>
            <a:pPr lvl="0">
              <a:spcBef>
                <a:spcPts val="600"/>
              </a:spcBef>
              <a:spcAft>
                <a:spcPts val="1200"/>
              </a:spcAft>
            </a:pPr>
            <a:r>
              <a:rPr lang="en-AU" sz="2400" dirty="0" smtClean="0">
                <a:latin typeface="Helvetica" pitchFamily="34" charset="0"/>
              </a:rPr>
              <a:t>Bed linen</a:t>
            </a:r>
          </a:p>
          <a:p>
            <a:pPr lvl="0">
              <a:spcBef>
                <a:spcPts val="600"/>
              </a:spcBef>
              <a:spcAft>
                <a:spcPts val="1200"/>
              </a:spcAft>
            </a:pPr>
            <a:r>
              <a:rPr lang="en-US" sz="2400" dirty="0" smtClean="0">
                <a:latin typeface="Helvetica" pitchFamily="34" charset="0"/>
              </a:rPr>
              <a:t>Towels</a:t>
            </a:r>
            <a:endParaRPr lang="en-AU" sz="2400" dirty="0" smtClean="0">
              <a:latin typeface="Helvetica" pitchFamily="34" charset="0"/>
            </a:endParaRPr>
          </a:p>
          <a:p>
            <a:pPr>
              <a:spcBef>
                <a:spcPts val="600"/>
              </a:spcBef>
              <a:spcAft>
                <a:spcPts val="1200"/>
              </a:spcAft>
            </a:pPr>
            <a:r>
              <a:rPr lang="en-US" sz="2400" dirty="0" smtClean="0">
                <a:latin typeface="Helvetica" pitchFamily="34" charset="0"/>
              </a:rPr>
              <a:t>Toiletries</a:t>
            </a:r>
            <a:endParaRPr lang="en-AU" sz="2400" dirty="0" smtClean="0">
              <a:latin typeface="Helvetica" pitchFamily="34" charset="0"/>
            </a:endParaRPr>
          </a:p>
          <a:p>
            <a:pPr marL="0">
              <a:spcBef>
                <a:spcPts val="600"/>
              </a:spcBef>
              <a:spcAft>
                <a:spcPts val="1200"/>
              </a:spcAft>
            </a:pPr>
            <a:r>
              <a:rPr lang="en-US" sz="2400" dirty="0" smtClean="0">
                <a:latin typeface="Helvetica" pitchFamily="34" charset="0"/>
              </a:rPr>
              <a:t>Stationery</a:t>
            </a:r>
            <a:endParaRPr lang="en-AU" sz="2400" dirty="0" smtClean="0">
              <a:latin typeface="Helvetica" pitchFamily="34" charset="0"/>
            </a:endParaRPr>
          </a:p>
          <a:p>
            <a:pPr marL="0">
              <a:spcBef>
                <a:spcPts val="600"/>
              </a:spcBef>
              <a:spcAft>
                <a:spcPts val="1200"/>
              </a:spcAft>
            </a:pPr>
            <a:r>
              <a:rPr lang="en-US" sz="2400" dirty="0" smtClean="0">
                <a:latin typeface="Helvetica" pitchFamily="34" charset="0"/>
              </a:rPr>
              <a:t>Paper products</a:t>
            </a:r>
            <a:endParaRPr lang="en-AU" sz="2400" dirty="0" smtClean="0">
              <a:latin typeface="Helvetica" pitchFamily="34" charset="0"/>
            </a:endParaRPr>
          </a:p>
          <a:p>
            <a:pPr marL="0">
              <a:spcBef>
                <a:spcPts val="600"/>
              </a:spcBef>
              <a:spcAft>
                <a:spcPts val="1200"/>
              </a:spcAft>
            </a:pPr>
            <a:r>
              <a:rPr lang="en-US" sz="2400" dirty="0" smtClean="0">
                <a:latin typeface="Helvetica" pitchFamily="34" charset="0"/>
              </a:rPr>
              <a:t>Promotional and Informational Material</a:t>
            </a:r>
            <a:endParaRPr lang="en-AU" sz="2400" dirty="0" smtClean="0">
              <a:latin typeface="Helvetica" pitchFamily="34" charset="0"/>
            </a:endParaRPr>
          </a:p>
          <a:p>
            <a:pPr marL="0">
              <a:spcBef>
                <a:spcPts val="600"/>
              </a:spcBef>
              <a:spcAft>
                <a:spcPts val="1200"/>
              </a:spcAft>
            </a:pPr>
            <a:r>
              <a:rPr lang="en-US" sz="2400" dirty="0" smtClean="0">
                <a:latin typeface="Helvetica" pitchFamily="34" charset="0"/>
              </a:rPr>
              <a:t>Bags</a:t>
            </a:r>
            <a:endParaRPr lang="en-AU" sz="2400" dirty="0" smtClean="0">
              <a:latin typeface="Helvetica" pitchFamily="34" charset="0"/>
            </a:endParaRPr>
          </a:p>
          <a:p>
            <a:pPr marL="0">
              <a:spcBef>
                <a:spcPts val="600"/>
              </a:spcBef>
              <a:spcAft>
                <a:spcPts val="1200"/>
              </a:spcAft>
            </a:pPr>
            <a:r>
              <a:rPr lang="en-US" sz="2400" dirty="0" smtClean="0">
                <a:latin typeface="Helvetica" pitchFamily="34" charset="0"/>
              </a:rPr>
              <a:t>Give away items</a:t>
            </a:r>
            <a:endParaRPr lang="en-AU" sz="2400" dirty="0" smtClean="0">
              <a:latin typeface="Helvetica" pitchFamily="34" charset="0"/>
            </a:endParaRPr>
          </a:p>
          <a:p>
            <a:pPr marL="0">
              <a:spcBef>
                <a:spcPts val="600"/>
              </a:spcBef>
              <a:spcAft>
                <a:spcPts val="1200"/>
              </a:spcAft>
            </a:pPr>
            <a:r>
              <a:rPr lang="en-US" sz="2400" dirty="0" smtClean="0">
                <a:latin typeface="Helvetica" pitchFamily="34" charset="0"/>
              </a:rPr>
              <a:t>Replacement items.</a:t>
            </a:r>
            <a:endParaRPr lang="en-AU" sz="24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MP900431692[1].JPG"/>
          <p:cNvPicPr/>
          <p:nvPr/>
        </p:nvPicPr>
        <p:blipFill>
          <a:blip r:embed="rId3" cstate="print"/>
          <a:stretch>
            <a:fillRect/>
          </a:stretch>
        </p:blipFill>
        <p:spPr>
          <a:xfrm>
            <a:off x="5715008" y="1785926"/>
            <a:ext cx="1843708" cy="2024349"/>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Ordering and receiving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When requesting supplies you may be required to complete a requisition form.</a:t>
            </a:r>
          </a:p>
          <a:p>
            <a:pPr marL="0">
              <a:spcBef>
                <a:spcPts val="600"/>
              </a:spcBef>
              <a:spcAft>
                <a:spcPts val="1200"/>
              </a:spcAft>
              <a:buNone/>
            </a:pPr>
            <a:r>
              <a:rPr lang="en-AU" sz="2200" dirty="0" smtClean="0">
                <a:latin typeface="Helvetica" pitchFamily="34" charset="0"/>
              </a:rPr>
              <a:t>The requisition form is an internal stock ordering form that you fill in and give to the Head Housekeeper identifying:</a:t>
            </a:r>
          </a:p>
          <a:p>
            <a:pPr lvl="0">
              <a:spcBef>
                <a:spcPts val="600"/>
              </a:spcBef>
              <a:spcAft>
                <a:spcPts val="1200"/>
              </a:spcAft>
            </a:pPr>
            <a:r>
              <a:rPr lang="en-US" sz="2200" dirty="0" smtClean="0">
                <a:latin typeface="Helvetica" pitchFamily="34" charset="0"/>
              </a:rPr>
              <a:t>Person requesting the items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Type of items needed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Quantity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Date.</a:t>
            </a:r>
            <a:endParaRPr lang="en-AU" sz="22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4098" name="Picture 2" descr="C:\Documents and Settings\danielc\Local Settings\Temporary Internet Files\Content.IE5\ZB5AOP62\MC900311310[1].wmf"/>
          <p:cNvPicPr>
            <a:picLocks noChangeAspect="1" noChangeArrowheads="1"/>
          </p:cNvPicPr>
          <p:nvPr/>
        </p:nvPicPr>
        <p:blipFill>
          <a:blip r:embed="rId3" cstate="print"/>
          <a:srcRect/>
          <a:stretch>
            <a:fillRect/>
          </a:stretch>
        </p:blipFill>
        <p:spPr bwMode="auto">
          <a:xfrm>
            <a:off x="5286380" y="3643314"/>
            <a:ext cx="1806854" cy="1821485"/>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Loading housekeeping trolley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pPr>
            <a:r>
              <a:rPr lang="en-US" sz="2200" dirty="0" smtClean="0">
                <a:latin typeface="Helvetica" pitchFamily="34" charset="0"/>
              </a:rPr>
              <a:t>Health and safety issues need to be addressed when loading housekeeping trolleys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Manual handling activities are the main cause of injuries in the workplace and the housekeeping department traditionally gives rise to the majority of OHS injuries.</a:t>
            </a: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6" name="Picture 5" descr="MP900424376[1].JPG"/>
          <p:cNvPicPr>
            <a:picLocks noChangeAspect="1"/>
          </p:cNvPicPr>
          <p:nvPr/>
        </p:nvPicPr>
        <p:blipFill>
          <a:blip r:embed="rId3" cstate="print"/>
          <a:stretch>
            <a:fillRect/>
          </a:stretch>
        </p:blipFill>
        <p:spPr>
          <a:xfrm>
            <a:off x="2500298" y="4214818"/>
            <a:ext cx="1500198" cy="1500198"/>
          </a:xfrm>
          <a:prstGeom prst="rect">
            <a:avLst/>
          </a:prstGeom>
        </p:spPr>
      </p:pic>
      <p:pic>
        <p:nvPicPr>
          <p:cNvPr id="5122" name="Picture 2" descr="I:\Overseas Projects\PHOTOS\2012\diagonal_lift.png"/>
          <p:cNvPicPr>
            <a:picLocks noChangeAspect="1" noChangeArrowheads="1"/>
          </p:cNvPicPr>
          <p:nvPr/>
        </p:nvPicPr>
        <p:blipFill>
          <a:blip r:embed="rId4" cstate="print"/>
          <a:srcRect/>
          <a:stretch>
            <a:fillRect/>
          </a:stretch>
        </p:blipFill>
        <p:spPr bwMode="auto">
          <a:xfrm>
            <a:off x="4143372" y="4286256"/>
            <a:ext cx="2355829" cy="1438097"/>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Loading housekeeping trolley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Manual Handling</a:t>
            </a:r>
          </a:p>
          <a:p>
            <a:pPr>
              <a:spcBef>
                <a:spcPts val="600"/>
              </a:spcBef>
              <a:spcAft>
                <a:spcPts val="1200"/>
              </a:spcAft>
              <a:buNone/>
            </a:pPr>
            <a:r>
              <a:rPr lang="en-AU" sz="2200" dirty="0" smtClean="0">
                <a:latin typeface="Helvetica" pitchFamily="34" charset="0"/>
              </a:rPr>
              <a:t>Manual handling activities include:</a:t>
            </a:r>
          </a:p>
          <a:p>
            <a:pPr lvl="0">
              <a:spcBef>
                <a:spcPts val="600"/>
              </a:spcBef>
              <a:spcAft>
                <a:spcPts val="1200"/>
              </a:spcAft>
            </a:pPr>
            <a:r>
              <a:rPr lang="en-US" sz="2200" dirty="0" smtClean="0">
                <a:latin typeface="Helvetica" pitchFamily="34" charset="0"/>
              </a:rPr>
              <a:t>Lifting – of stock, cartons and boxes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Carrying – items from storage areas to trolleys, moving stock from place-to-place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Pulling – boxes and cartons forward in storage areas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Pushing trolleys.</a:t>
            </a:r>
            <a:endParaRPr lang="en-AU" sz="22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146" name="Picture 2" descr="C:\Documents and Settings\danielc\Local Settings\Temporary Internet Files\Content.IE5\M0QL8DHR\MP900403686[1].jpg"/>
          <p:cNvPicPr>
            <a:picLocks noChangeAspect="1" noChangeArrowheads="1"/>
          </p:cNvPicPr>
          <p:nvPr/>
        </p:nvPicPr>
        <p:blipFill>
          <a:blip r:embed="rId3" cstate="print"/>
          <a:srcRect/>
          <a:stretch>
            <a:fillRect/>
          </a:stretch>
        </p:blipFill>
        <p:spPr bwMode="auto">
          <a:xfrm>
            <a:off x="6072198" y="1714488"/>
            <a:ext cx="1940957" cy="1285884"/>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Loading housekeeping trolley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Key points to remember when stocking or handling trolleys:</a:t>
            </a:r>
          </a:p>
          <a:p>
            <a:pPr lvl="0">
              <a:spcBef>
                <a:spcPts val="600"/>
              </a:spcBef>
              <a:spcAft>
                <a:spcPts val="1200"/>
              </a:spcAft>
            </a:pPr>
            <a:r>
              <a:rPr lang="en-US" sz="2200" dirty="0" smtClean="0">
                <a:latin typeface="Helvetica" pitchFamily="34" charset="0"/>
              </a:rPr>
              <a:t>Report any damage or faults with the trolley.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Push the trolley, don’t pull it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Always stock items in their designated place                        on the trolley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Never lift anything on your own that weighs                            over 16 kg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 prepared to ask for help when needed.</a:t>
            </a:r>
            <a:endParaRPr lang="en-AU" sz="2200"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8" name="Picture 7" descr="MP900431692[1].JPG"/>
          <p:cNvPicPr/>
          <p:nvPr/>
        </p:nvPicPr>
        <p:blipFill>
          <a:blip r:embed="rId3" cstate="print"/>
          <a:stretch>
            <a:fillRect/>
          </a:stretch>
        </p:blipFill>
        <p:spPr>
          <a:xfrm>
            <a:off x="7000892" y="2786058"/>
            <a:ext cx="1351622" cy="1351622"/>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housekeeping trolley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Before leaving the housekeeping office or linen store it is vital that you have all the necessary supplies on your housekeeping trolley.</a:t>
            </a:r>
          </a:p>
          <a:p>
            <a:pPr>
              <a:spcBef>
                <a:spcPts val="600"/>
              </a:spcBef>
              <a:spcAft>
                <a:spcPts val="1200"/>
              </a:spcAft>
              <a:buNone/>
            </a:pPr>
            <a:r>
              <a:rPr lang="en-AU" sz="2200" b="1" dirty="0" smtClean="0">
                <a:latin typeface="Helvetica" pitchFamily="34" charset="0"/>
              </a:rPr>
              <a:t>Additional items include:</a:t>
            </a:r>
          </a:p>
          <a:p>
            <a:pPr lvl="0">
              <a:spcBef>
                <a:spcPts val="600"/>
              </a:spcBef>
              <a:spcAft>
                <a:spcPts val="1200"/>
              </a:spcAft>
            </a:pPr>
            <a:r>
              <a:rPr lang="en-AU" sz="2200" dirty="0" smtClean="0">
                <a:latin typeface="Helvetica" pitchFamily="34" charset="0"/>
              </a:rPr>
              <a:t>Keys for floors and rooms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Communication walkie-talkie </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List of rooms to clean and                                            alternate rooms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Personal drink container.</a:t>
            </a:r>
            <a:endParaRPr lang="en-AU" sz="2200" b="1" dirty="0" smtClean="0">
              <a:latin typeface="Helvetica" pitchFamily="34" charset="0"/>
            </a:endParaRPr>
          </a:p>
          <a:p>
            <a:pPr marL="0">
              <a:spcBef>
                <a:spcPts val="600"/>
              </a:spcBef>
              <a:spcAft>
                <a:spcPts val="1200"/>
              </a:spcAft>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7" name="Picture 6" descr="MP900316402[1].JPG"/>
          <p:cNvPicPr/>
          <p:nvPr/>
        </p:nvPicPr>
        <p:blipFill>
          <a:blip r:embed="rId3" cstate="print"/>
          <a:stretch>
            <a:fillRect/>
          </a:stretch>
        </p:blipFill>
        <p:spPr>
          <a:xfrm>
            <a:off x="5357818" y="3143248"/>
            <a:ext cx="2571611" cy="2007096"/>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Security of housekeeping trolley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spcBef>
                <a:spcPts val="600"/>
              </a:spcBef>
              <a:spcAft>
                <a:spcPts val="1200"/>
              </a:spcAft>
              <a:buNone/>
            </a:pPr>
            <a:r>
              <a:rPr lang="en-AU" sz="2200" dirty="0" smtClean="0">
                <a:latin typeface="Helvetica" pitchFamily="34" charset="0"/>
              </a:rPr>
              <a:t>It is important to maintain security of trolleys in hallways as:</a:t>
            </a:r>
          </a:p>
          <a:p>
            <a:pPr>
              <a:spcBef>
                <a:spcPts val="600"/>
              </a:spcBef>
              <a:spcAft>
                <a:spcPts val="1200"/>
              </a:spcAft>
            </a:pPr>
            <a:r>
              <a:rPr lang="en-AU" sz="2200" dirty="0" smtClean="0">
                <a:latin typeface="Helvetica" pitchFamily="34" charset="0"/>
              </a:rPr>
              <a:t>They contain many valuable items</a:t>
            </a:r>
          </a:p>
          <a:p>
            <a:pPr>
              <a:spcBef>
                <a:spcPts val="600"/>
              </a:spcBef>
              <a:spcAft>
                <a:spcPts val="1200"/>
              </a:spcAft>
            </a:pPr>
            <a:r>
              <a:rPr lang="en-AU" sz="2200" dirty="0" smtClean="0">
                <a:latin typeface="Helvetica" pitchFamily="34" charset="0"/>
              </a:rPr>
              <a:t>Staff work out of sight of trolleys</a:t>
            </a:r>
          </a:p>
          <a:p>
            <a:pPr>
              <a:spcBef>
                <a:spcPts val="600"/>
              </a:spcBef>
              <a:spcAft>
                <a:spcPts val="1200"/>
              </a:spcAft>
            </a:pPr>
            <a:r>
              <a:rPr lang="en-AU" sz="2200" dirty="0" smtClean="0">
                <a:latin typeface="Helvetica" pitchFamily="34" charset="0"/>
              </a:rPr>
              <a:t>Contains information of guests.</a:t>
            </a:r>
          </a:p>
          <a:p>
            <a:pPr algn="ctr">
              <a:spcBef>
                <a:spcPts val="600"/>
              </a:spcBef>
              <a:spcAft>
                <a:spcPts val="1200"/>
              </a:spcAft>
              <a:buNone/>
            </a:pPr>
            <a:r>
              <a:rPr lang="en-AU" sz="2200" b="1" dirty="0" smtClean="0">
                <a:latin typeface="Helvetica" pitchFamily="34" charset="0"/>
              </a:rPr>
              <a:t>Lock trolleys where possible.</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MP900178008[1].JPG"/>
          <p:cNvPicPr>
            <a:picLocks noChangeAspect="1"/>
          </p:cNvPicPr>
          <p:nvPr/>
        </p:nvPicPr>
        <p:blipFill>
          <a:blip r:embed="rId3" cstate="print"/>
          <a:stretch>
            <a:fillRect/>
          </a:stretch>
        </p:blipFill>
        <p:spPr>
          <a:xfrm>
            <a:off x="6715140" y="2357430"/>
            <a:ext cx="1475245" cy="2212868"/>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Position of housekeeping trolley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US" sz="2200" dirty="0" smtClean="0">
                <a:latin typeface="Helvetica" pitchFamily="34" charset="0"/>
              </a:rPr>
              <a:t>Always position the trolley near the wall and out of the guest’s way. </a:t>
            </a:r>
          </a:p>
          <a:p>
            <a:pPr>
              <a:spcBef>
                <a:spcPts val="600"/>
              </a:spcBef>
              <a:spcAft>
                <a:spcPts val="1200"/>
              </a:spcAft>
              <a:buNone/>
            </a:pPr>
            <a:r>
              <a:rPr lang="en-US" sz="2200" dirty="0" smtClean="0">
                <a:latin typeface="Helvetica" pitchFamily="34" charset="0"/>
              </a:rPr>
              <a:t>Don’t leave them in the middle of the corridor as: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It makes it harder for movement of people in the corridor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It makes it more appealing for theft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It helps avoid injuries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Ensures a clear path in the event of                                        an emergency.</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MP900403464[1].JPG"/>
          <p:cNvPicPr/>
          <p:nvPr/>
        </p:nvPicPr>
        <p:blipFill>
          <a:blip r:embed="rId3" cstate="print"/>
          <a:stretch>
            <a:fillRect/>
          </a:stretch>
        </p:blipFill>
        <p:spPr>
          <a:xfrm>
            <a:off x="6429388" y="3643314"/>
            <a:ext cx="1703112" cy="1459303"/>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rooms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buNone/>
            </a:pPr>
            <a:r>
              <a:rPr lang="en-AU" sz="2200" dirty="0" smtClean="0">
                <a:latin typeface="Helvetica" pitchFamily="34" charset="0"/>
              </a:rPr>
              <a:t>In order to service rooms in a timely fashion and to control labour costs, every property will allocate specific rooms to individual staff for room preparation duties.</a:t>
            </a:r>
          </a:p>
          <a:p>
            <a:pPr marL="0">
              <a:buNone/>
            </a:pPr>
            <a:endParaRPr lang="en-AU" sz="2200" dirty="0" smtClean="0">
              <a:latin typeface="Helvetica" pitchFamily="34" charset="0"/>
            </a:endParaRPr>
          </a:p>
          <a:p>
            <a:pPr marL="0">
              <a:buNone/>
            </a:pPr>
            <a:r>
              <a:rPr lang="en-AU" sz="2200" dirty="0" smtClean="0">
                <a:latin typeface="Helvetica" pitchFamily="34" charset="0"/>
              </a:rPr>
              <a:t>The primary role of a room attendant is to clean rooms. </a:t>
            </a:r>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8" name="Picture 7" descr="MP900430722[1].JPG"/>
          <p:cNvPicPr/>
          <p:nvPr/>
        </p:nvPicPr>
        <p:blipFill>
          <a:blip r:embed="rId3" cstate="print"/>
          <a:stretch>
            <a:fillRect/>
          </a:stretch>
        </p:blipFill>
        <p:spPr>
          <a:xfrm>
            <a:off x="3588742" y="3929066"/>
            <a:ext cx="1966516" cy="2038524"/>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rooms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marL="0">
              <a:spcBef>
                <a:spcPts val="600"/>
              </a:spcBef>
              <a:spcAft>
                <a:spcPts val="1200"/>
              </a:spcAft>
              <a:buNone/>
            </a:pPr>
            <a:r>
              <a:rPr lang="en-AU" sz="2200" b="1" dirty="0" smtClean="0">
                <a:latin typeface="Helvetica" pitchFamily="34" charset="0"/>
              </a:rPr>
              <a:t>Housekeeping briefing session</a:t>
            </a:r>
          </a:p>
          <a:p>
            <a:pPr lvl="0">
              <a:spcBef>
                <a:spcPts val="600"/>
              </a:spcBef>
              <a:spcAft>
                <a:spcPts val="1200"/>
              </a:spcAft>
            </a:pPr>
            <a:r>
              <a:rPr lang="en-US" sz="2200" dirty="0" smtClean="0">
                <a:latin typeface="Helvetica" pitchFamily="34" charset="0"/>
              </a:rPr>
              <a:t>Verify staff working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Discuss up-coming information</a:t>
            </a:r>
          </a:p>
          <a:p>
            <a:pPr lvl="0">
              <a:spcBef>
                <a:spcPts val="600"/>
              </a:spcBef>
              <a:spcAft>
                <a:spcPts val="1200"/>
              </a:spcAft>
            </a:pPr>
            <a:r>
              <a:rPr lang="en-US" sz="2200" dirty="0" smtClean="0">
                <a:latin typeface="Helvetica" pitchFamily="34" charset="0"/>
              </a:rPr>
              <a:t>Discuss VIP’s requirements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Address room servicing problems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Address complaints received by guests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Identify up-coming training sessions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Allocate rooms to individual staff for                                         the shift.</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6" name="Picture 5" descr="MP900430650[1].JPG"/>
          <p:cNvPicPr/>
          <p:nvPr/>
        </p:nvPicPr>
        <p:blipFill>
          <a:blip r:embed="rId3" cstate="print"/>
          <a:stretch>
            <a:fillRect/>
          </a:stretch>
        </p:blipFill>
        <p:spPr>
          <a:xfrm>
            <a:off x="5929322" y="2214554"/>
            <a:ext cx="2186161" cy="1579042"/>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rooms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Most room attendants are required to clean approximately 12-20 rooms a day depending on:</a:t>
            </a:r>
          </a:p>
          <a:p>
            <a:pPr lvl="0">
              <a:spcBef>
                <a:spcPts val="600"/>
              </a:spcBef>
              <a:spcAft>
                <a:spcPts val="1200"/>
              </a:spcAft>
            </a:pPr>
            <a:r>
              <a:rPr lang="en-AU" sz="2200" dirty="0" smtClean="0">
                <a:latin typeface="Helvetica" pitchFamily="34" charset="0"/>
              </a:rPr>
              <a:t>Organisation standards</a:t>
            </a:r>
          </a:p>
          <a:p>
            <a:pPr lvl="0">
              <a:spcBef>
                <a:spcPts val="600"/>
              </a:spcBef>
              <a:spcAft>
                <a:spcPts val="1200"/>
              </a:spcAft>
            </a:pPr>
            <a:r>
              <a:rPr lang="en-AU" sz="2200" dirty="0" smtClean="0">
                <a:latin typeface="Helvetica" pitchFamily="34" charset="0"/>
              </a:rPr>
              <a:t>Types of rooms </a:t>
            </a:r>
          </a:p>
          <a:p>
            <a:pPr lvl="0">
              <a:spcBef>
                <a:spcPts val="600"/>
              </a:spcBef>
              <a:spcAft>
                <a:spcPts val="1200"/>
              </a:spcAft>
            </a:pPr>
            <a:r>
              <a:rPr lang="en-AU" sz="2200" dirty="0" smtClean="0">
                <a:latin typeface="Helvetica" pitchFamily="34" charset="0"/>
              </a:rPr>
              <a:t>Status of the room</a:t>
            </a:r>
          </a:p>
          <a:p>
            <a:pPr lvl="0">
              <a:spcBef>
                <a:spcPts val="600"/>
              </a:spcBef>
              <a:spcAft>
                <a:spcPts val="1200"/>
              </a:spcAft>
            </a:pPr>
            <a:r>
              <a:rPr lang="en-AU" sz="2200" dirty="0" smtClean="0">
                <a:latin typeface="Helvetica" pitchFamily="34" charset="0"/>
              </a:rPr>
              <a:t>Other considerations.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5" name="Picture 4" descr="MP900448639[1].JPG"/>
          <p:cNvPicPr>
            <a:picLocks noChangeAspect="1"/>
          </p:cNvPicPr>
          <p:nvPr/>
        </p:nvPicPr>
        <p:blipFill>
          <a:blip r:embed="rId3" cstate="print"/>
          <a:stretch>
            <a:fillRect/>
          </a:stretch>
        </p:blipFill>
        <p:spPr>
          <a:xfrm>
            <a:off x="6228184" y="3092963"/>
            <a:ext cx="1591490" cy="2121987"/>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rooms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Types of rooms</a:t>
            </a:r>
          </a:p>
          <a:p>
            <a:pPr>
              <a:spcBef>
                <a:spcPts val="600"/>
              </a:spcBef>
              <a:spcAft>
                <a:spcPts val="1200"/>
              </a:spcAft>
              <a:buNone/>
            </a:pPr>
            <a:r>
              <a:rPr lang="en-AU" sz="2200" dirty="0" smtClean="0">
                <a:latin typeface="Helvetica" pitchFamily="34" charset="0"/>
              </a:rPr>
              <a:t>Generally it is ‘guest rooms’ that will need to be prepared. </a:t>
            </a:r>
          </a:p>
          <a:p>
            <a:pPr>
              <a:spcBef>
                <a:spcPts val="600"/>
              </a:spcBef>
              <a:spcAft>
                <a:spcPts val="1200"/>
              </a:spcAft>
              <a:buNone/>
            </a:pPr>
            <a:r>
              <a:rPr lang="en-AU" sz="2200" dirty="0" smtClean="0">
                <a:latin typeface="Helvetica" pitchFamily="34" charset="0"/>
              </a:rPr>
              <a:t>These rooms can include:</a:t>
            </a:r>
          </a:p>
          <a:p>
            <a:pPr lvl="0">
              <a:spcBef>
                <a:spcPts val="600"/>
              </a:spcBef>
              <a:spcAft>
                <a:spcPts val="1200"/>
              </a:spcAft>
            </a:pPr>
            <a:r>
              <a:rPr lang="en-US" sz="2200" dirty="0" smtClean="0">
                <a:latin typeface="Helvetica" pitchFamily="34" charset="0"/>
              </a:rPr>
              <a:t>Single rooms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Doubles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Twins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Suites.</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MP900443738[1].JPG"/>
          <p:cNvPicPr>
            <a:picLocks noChangeAspect="1"/>
          </p:cNvPicPr>
          <p:nvPr/>
        </p:nvPicPr>
        <p:blipFill>
          <a:blip r:embed="rId3" cstate="print"/>
          <a:stretch>
            <a:fillRect/>
          </a:stretch>
        </p:blipFill>
        <p:spPr>
          <a:xfrm>
            <a:off x="5143504" y="3143248"/>
            <a:ext cx="2533941" cy="1857388"/>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rooms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1200"/>
              </a:spcAft>
              <a:buNone/>
            </a:pPr>
            <a:r>
              <a:rPr lang="en-AU" sz="2200" b="1" dirty="0" smtClean="0">
                <a:latin typeface="Helvetica" pitchFamily="34" charset="0"/>
              </a:rPr>
              <a:t>Room inclusions</a:t>
            </a:r>
          </a:p>
          <a:p>
            <a:pPr marL="0" indent="0">
              <a:spcBef>
                <a:spcPts val="600"/>
              </a:spcBef>
              <a:spcAft>
                <a:spcPts val="1200"/>
              </a:spcAft>
              <a:buNone/>
            </a:pPr>
            <a:r>
              <a:rPr lang="en-AU" sz="2200" dirty="0" smtClean="0">
                <a:latin typeface="Helvetica" pitchFamily="34" charset="0"/>
              </a:rPr>
              <a:t>These rooms can contain their own spaces that require servicing such as:</a:t>
            </a:r>
          </a:p>
          <a:p>
            <a:pPr lvl="0">
              <a:spcBef>
                <a:spcPts val="600"/>
              </a:spcBef>
              <a:spcAft>
                <a:spcPts val="1200"/>
              </a:spcAft>
            </a:pPr>
            <a:r>
              <a:rPr lang="en-US" sz="2200" dirty="0" smtClean="0">
                <a:latin typeface="Helvetica" pitchFamily="34" charset="0"/>
              </a:rPr>
              <a:t>Bathroom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Bedroom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Lounge or living area</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Kitchen or kitchenette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Balcony area</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Lobby or vestibule.</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8" name="Picture 7" descr="MP900448314[1].JPG"/>
          <p:cNvPicPr>
            <a:picLocks noChangeAspect="1"/>
          </p:cNvPicPr>
          <p:nvPr/>
        </p:nvPicPr>
        <p:blipFill>
          <a:blip r:embed="rId3" cstate="print"/>
          <a:stretch>
            <a:fillRect/>
          </a:stretch>
        </p:blipFill>
        <p:spPr>
          <a:xfrm>
            <a:off x="5143504" y="3143248"/>
            <a:ext cx="2893239" cy="1928826"/>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rooms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Status of rooms</a:t>
            </a:r>
          </a:p>
          <a:p>
            <a:pPr marL="0">
              <a:spcBef>
                <a:spcPts val="600"/>
              </a:spcBef>
              <a:spcAft>
                <a:spcPts val="1200"/>
              </a:spcAft>
              <a:buNone/>
            </a:pPr>
            <a:r>
              <a:rPr lang="en-AU" sz="2200" dirty="0" smtClean="0">
                <a:latin typeface="Helvetica" pitchFamily="34" charset="0"/>
              </a:rPr>
              <a:t>There are usually three types of rooms that need to be cleaned:</a:t>
            </a:r>
          </a:p>
          <a:p>
            <a:pPr>
              <a:spcBef>
                <a:spcPts val="600"/>
              </a:spcBef>
              <a:spcAft>
                <a:spcPts val="1200"/>
              </a:spcAft>
            </a:pPr>
            <a:r>
              <a:rPr lang="en-AU" sz="2200" dirty="0" smtClean="0">
                <a:latin typeface="Helvetica" pitchFamily="34" charset="0"/>
              </a:rPr>
              <a:t>Check out rooms</a:t>
            </a:r>
          </a:p>
          <a:p>
            <a:pPr>
              <a:spcBef>
                <a:spcPts val="600"/>
              </a:spcBef>
              <a:spcAft>
                <a:spcPts val="1200"/>
              </a:spcAft>
            </a:pPr>
            <a:r>
              <a:rPr lang="en-AU" sz="2200" dirty="0" smtClean="0">
                <a:latin typeface="Helvetica" pitchFamily="34" charset="0"/>
              </a:rPr>
              <a:t>Occupied rooms</a:t>
            </a:r>
          </a:p>
          <a:p>
            <a:pPr>
              <a:spcBef>
                <a:spcPts val="600"/>
              </a:spcBef>
              <a:spcAft>
                <a:spcPts val="1200"/>
              </a:spcAft>
            </a:pPr>
            <a:r>
              <a:rPr lang="en-AU" sz="2200" dirty="0" smtClean="0">
                <a:latin typeface="Helvetica" pitchFamily="34" charset="0"/>
              </a:rPr>
              <a:t>Vacant rooms.</a:t>
            </a:r>
          </a:p>
          <a:p>
            <a:pPr algn="ctr">
              <a:spcBef>
                <a:spcPts val="600"/>
              </a:spcBef>
              <a:spcAft>
                <a:spcPts val="1200"/>
              </a:spcAft>
              <a:buNone/>
            </a:pPr>
            <a:r>
              <a:rPr lang="en-AU" sz="2200" b="1" dirty="0" smtClean="0">
                <a:latin typeface="Helvetica" pitchFamily="34" charset="0"/>
              </a:rPr>
              <a:t>What is the difference between these rooms?</a:t>
            </a:r>
          </a:p>
          <a:p>
            <a:pPr algn="ctr">
              <a:spcBef>
                <a:spcPts val="600"/>
              </a:spcBef>
              <a:spcAft>
                <a:spcPts val="1200"/>
              </a:spcAft>
              <a:buNone/>
            </a:pPr>
            <a:r>
              <a:rPr lang="en-AU" sz="2200" b="1" dirty="0" smtClean="0">
                <a:latin typeface="Helvetica" pitchFamily="34" charset="0"/>
              </a:rPr>
              <a:t>What activities are performed for each?</a:t>
            </a: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5" descr="MP900430537[1].JPG"/>
          <p:cNvPicPr/>
          <p:nvPr/>
        </p:nvPicPr>
        <p:blipFill>
          <a:blip r:embed="rId3" cstate="print"/>
          <a:stretch>
            <a:fillRect/>
          </a:stretch>
        </p:blipFill>
        <p:spPr>
          <a:xfrm>
            <a:off x="6215074" y="2928934"/>
            <a:ext cx="1270813" cy="1571636"/>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rooms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Other considerations</a:t>
            </a:r>
          </a:p>
          <a:p>
            <a:pPr lvl="0">
              <a:spcBef>
                <a:spcPts val="600"/>
              </a:spcBef>
              <a:spcAft>
                <a:spcPts val="1200"/>
              </a:spcAft>
            </a:pPr>
            <a:r>
              <a:rPr lang="en-US" sz="2200" dirty="0" smtClean="0">
                <a:latin typeface="Helvetica" pitchFamily="34" charset="0"/>
              </a:rPr>
              <a:t>Which rooms need to be cleaned first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Special cleaning tasks or stain removal tasks for certain rooms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 Time constraints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Other areas in the venue that                                               need to be cleaned.</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7" name="Picture 6" descr="MP900382676[1].JPG"/>
          <p:cNvPicPr/>
          <p:nvPr/>
        </p:nvPicPr>
        <p:blipFill>
          <a:blip r:embed="rId3" cstate="print"/>
          <a:stretch>
            <a:fillRect/>
          </a:stretch>
        </p:blipFill>
        <p:spPr>
          <a:xfrm>
            <a:off x="6572264" y="3286124"/>
            <a:ext cx="1403772" cy="178595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Access and enter guest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All guest rooms must only be accessed after following the house procedures that apply.</a:t>
            </a:r>
          </a:p>
          <a:p>
            <a:pPr marL="0">
              <a:spcBef>
                <a:spcPts val="600"/>
              </a:spcBef>
              <a:spcAft>
                <a:spcPts val="1200"/>
              </a:spcAft>
              <a:buNone/>
            </a:pPr>
            <a:r>
              <a:rPr lang="en-AU" sz="2200" dirty="0" smtClean="0">
                <a:latin typeface="Helvetica" pitchFamily="34" charset="0"/>
              </a:rPr>
              <a:t>These procedures relate to service delivery and security.</a:t>
            </a:r>
          </a:p>
          <a:p>
            <a:pPr marL="0">
              <a:spcBef>
                <a:spcPts val="600"/>
              </a:spcBef>
              <a:spcAft>
                <a:spcPts val="1200"/>
              </a:spcAft>
              <a:buNone/>
            </a:pPr>
            <a:r>
              <a:rPr lang="en-AU" sz="2200" dirty="0" smtClean="0">
                <a:latin typeface="Helvetica" pitchFamily="34" charset="0"/>
              </a:rPr>
              <a:t>They also function to help avoid embarrassment to both guests and staff. </a:t>
            </a: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6" name="Picture 5" descr="MP900431773[1].JPG"/>
          <p:cNvPicPr/>
          <p:nvPr/>
        </p:nvPicPr>
        <p:blipFill>
          <a:blip r:embed="rId3" cstate="print"/>
          <a:stretch>
            <a:fillRect/>
          </a:stretch>
        </p:blipFill>
        <p:spPr>
          <a:xfrm>
            <a:off x="3657625" y="4071942"/>
            <a:ext cx="1828751" cy="1714512"/>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Access and enter guest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4824536"/>
          </a:xfrm>
        </p:spPr>
        <p:txBody>
          <a:bodyPr>
            <a:normAutofit fontScale="92500" lnSpcReduction="10000"/>
          </a:bodyPr>
          <a:lstStyle/>
          <a:p>
            <a:pPr>
              <a:spcBef>
                <a:spcPts val="600"/>
              </a:spcBef>
              <a:spcAft>
                <a:spcPts val="600"/>
              </a:spcAft>
              <a:buNone/>
            </a:pPr>
            <a:r>
              <a:rPr lang="en-AU" sz="2400" b="1" dirty="0" smtClean="0">
                <a:latin typeface="Helvetica" pitchFamily="34" charset="0"/>
              </a:rPr>
              <a:t>Standard procedure to access rooms</a:t>
            </a:r>
          </a:p>
          <a:p>
            <a:pPr lvl="0">
              <a:spcBef>
                <a:spcPts val="600"/>
              </a:spcBef>
              <a:spcAft>
                <a:spcPts val="600"/>
              </a:spcAft>
            </a:pPr>
            <a:r>
              <a:rPr lang="en-US" sz="2400" dirty="0" smtClean="0">
                <a:latin typeface="Helvetica" pitchFamily="34" charset="0"/>
              </a:rPr>
              <a:t>Knock on door (quite loudly) – use knuckles not keys or any other item as it could mark the door and call out, “Housekeeping!”</a:t>
            </a:r>
            <a:endParaRPr lang="en-AU" sz="2400" dirty="0" smtClean="0">
              <a:latin typeface="Helvetica" pitchFamily="34" charset="0"/>
            </a:endParaRPr>
          </a:p>
          <a:p>
            <a:pPr lvl="0">
              <a:spcBef>
                <a:spcPts val="600"/>
              </a:spcBef>
              <a:spcAft>
                <a:spcPts val="600"/>
              </a:spcAft>
            </a:pPr>
            <a:r>
              <a:rPr lang="en-US" sz="2400" dirty="0" smtClean="0">
                <a:latin typeface="Helvetica" pitchFamily="34" charset="0"/>
              </a:rPr>
              <a:t>Count to five</a:t>
            </a:r>
            <a:endParaRPr lang="en-AU" sz="2400" dirty="0" smtClean="0">
              <a:latin typeface="Helvetica" pitchFamily="34" charset="0"/>
            </a:endParaRPr>
          </a:p>
          <a:p>
            <a:pPr lvl="0">
              <a:spcBef>
                <a:spcPts val="600"/>
              </a:spcBef>
              <a:spcAft>
                <a:spcPts val="600"/>
              </a:spcAft>
            </a:pPr>
            <a:r>
              <a:rPr lang="en-US" sz="2400" dirty="0" smtClean="0">
                <a:latin typeface="Helvetica" pitchFamily="34" charset="0"/>
              </a:rPr>
              <a:t>If no answer, knock again, and then use your key to enter</a:t>
            </a:r>
            <a:endParaRPr lang="en-AU" sz="2400" dirty="0" smtClean="0">
              <a:latin typeface="Helvetica" pitchFamily="34" charset="0"/>
            </a:endParaRPr>
          </a:p>
          <a:p>
            <a:pPr lvl="0">
              <a:spcBef>
                <a:spcPts val="600"/>
              </a:spcBef>
              <a:spcAft>
                <a:spcPts val="600"/>
              </a:spcAft>
            </a:pPr>
            <a:r>
              <a:rPr lang="en-US" sz="2400" dirty="0" smtClean="0">
                <a:latin typeface="Helvetica" pitchFamily="34" charset="0"/>
              </a:rPr>
              <a:t>Take one step into the room and announce out “Good morning/afternoon, Housekeeping to service your room.”</a:t>
            </a:r>
            <a:endParaRPr lang="en-AU" sz="2400" dirty="0" smtClean="0">
              <a:latin typeface="Helvetica" pitchFamily="34" charset="0"/>
            </a:endParaRPr>
          </a:p>
          <a:p>
            <a:pPr lvl="0">
              <a:spcBef>
                <a:spcPts val="600"/>
              </a:spcBef>
              <a:spcAft>
                <a:spcPts val="600"/>
              </a:spcAft>
            </a:pPr>
            <a:r>
              <a:rPr lang="en-US" sz="2400" dirty="0" smtClean="0">
                <a:latin typeface="Helvetica" pitchFamily="34" charset="0"/>
              </a:rPr>
              <a:t>If the guest is still in bed, undressed or distressed, quickly and quietly leave the room.</a:t>
            </a:r>
            <a:endParaRPr lang="en-AU" sz="24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Access and enter guest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500174"/>
            <a:ext cx="7467600" cy="4824536"/>
          </a:xfrm>
        </p:spPr>
        <p:txBody>
          <a:bodyPr>
            <a:normAutofit/>
          </a:bodyPr>
          <a:lstStyle/>
          <a:p>
            <a:pPr>
              <a:spcBef>
                <a:spcPts val="600"/>
              </a:spcBef>
              <a:spcAft>
                <a:spcPts val="600"/>
              </a:spcAft>
              <a:buNone/>
            </a:pPr>
            <a:r>
              <a:rPr lang="en-AU" sz="2200" b="1" dirty="0" smtClean="0">
                <a:latin typeface="Helvetica" pitchFamily="34" charset="0"/>
              </a:rPr>
              <a:t>Standard procedure to access rooms</a:t>
            </a:r>
          </a:p>
          <a:p>
            <a:pPr lvl="0">
              <a:spcBef>
                <a:spcPts val="600"/>
              </a:spcBef>
              <a:spcAft>
                <a:spcPts val="600"/>
              </a:spcAft>
            </a:pPr>
            <a:r>
              <a:rPr lang="en-US" sz="2200" dirty="0" smtClean="0">
                <a:latin typeface="Helvetica" pitchFamily="34" charset="0"/>
              </a:rPr>
              <a:t>If the guest is awake and up, say “Housekeeping, would you like your room serviced?”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Comply with their request – you may be invited to service the room, just do a quick tidy, replace the towels, soap and leave, or asked to come back at a later time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Once you have gained access to the room, the door should be left wide open – to provide notice to a returning guest that someone is in their room.</a:t>
            </a: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Access and enter guest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b="1" dirty="0" smtClean="0">
                <a:latin typeface="Helvetica" pitchFamily="34" charset="0"/>
              </a:rPr>
              <a:t>Standard procedure to access rooms</a:t>
            </a:r>
          </a:p>
          <a:p>
            <a:pPr lvl="0">
              <a:spcBef>
                <a:spcPts val="600"/>
              </a:spcBef>
              <a:spcAft>
                <a:spcPts val="600"/>
              </a:spcAft>
            </a:pPr>
            <a:r>
              <a:rPr lang="en-AU" sz="2200" dirty="0" smtClean="0">
                <a:latin typeface="Helvetica" pitchFamily="34" charset="0"/>
              </a:rPr>
              <a:t>The trolley should be parked across the entrance, or near the entrance to the room</a:t>
            </a:r>
          </a:p>
          <a:p>
            <a:pPr lvl="0">
              <a:spcBef>
                <a:spcPts val="600"/>
              </a:spcBef>
              <a:spcAft>
                <a:spcPts val="600"/>
              </a:spcAft>
            </a:pPr>
            <a:r>
              <a:rPr lang="en-AU" sz="2200" dirty="0" smtClean="0">
                <a:latin typeface="Helvetica" pitchFamily="34" charset="0"/>
              </a:rPr>
              <a:t>It is standard procedure in the majority of establishments for trolleys to be left </a:t>
            </a:r>
            <a:r>
              <a:rPr lang="en-AU" sz="2200" i="1" dirty="0" smtClean="0">
                <a:latin typeface="Helvetica" pitchFamily="34" charset="0"/>
              </a:rPr>
              <a:t>outside </a:t>
            </a:r>
            <a:br>
              <a:rPr lang="en-AU" sz="2200" i="1" dirty="0" smtClean="0">
                <a:latin typeface="Helvetica" pitchFamily="34" charset="0"/>
              </a:rPr>
            </a:br>
            <a:r>
              <a:rPr lang="en-AU" sz="2200" dirty="0" smtClean="0">
                <a:latin typeface="Helvetica" pitchFamily="34" charset="0"/>
              </a:rPr>
              <a:t>the room being cleaned</a:t>
            </a:r>
          </a:p>
          <a:p>
            <a:pPr lvl="0">
              <a:spcBef>
                <a:spcPts val="600"/>
              </a:spcBef>
              <a:spcAft>
                <a:spcPts val="600"/>
              </a:spcAft>
            </a:pPr>
            <a:r>
              <a:rPr lang="en-AU" sz="2200" dirty="0" smtClean="0">
                <a:latin typeface="Helvetica" pitchFamily="34" charset="0"/>
              </a:rPr>
              <a:t>Where the trolley is allowed to be taken into </a:t>
            </a:r>
            <a:br>
              <a:rPr lang="en-AU" sz="2200" dirty="0" smtClean="0">
                <a:latin typeface="Helvetica" pitchFamily="34" charset="0"/>
              </a:rPr>
            </a:br>
            <a:r>
              <a:rPr lang="en-AU" sz="2200" dirty="0" smtClean="0">
                <a:latin typeface="Helvetica" pitchFamily="34" charset="0"/>
              </a:rPr>
              <a:t>the room, a large sign should be placed </a:t>
            </a:r>
            <a:br>
              <a:rPr lang="en-AU" sz="2200" dirty="0" smtClean="0">
                <a:latin typeface="Helvetica" pitchFamily="34" charset="0"/>
              </a:rPr>
            </a:br>
            <a:r>
              <a:rPr lang="en-AU" sz="2200" dirty="0" smtClean="0">
                <a:latin typeface="Helvetica" pitchFamily="34" charset="0"/>
              </a:rPr>
              <a:t>reading ‘Cleaning in Progress’.</a:t>
            </a: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5" name="Picture 4" descr="MP900401413[1].JPG"/>
          <p:cNvPicPr/>
          <p:nvPr/>
        </p:nvPicPr>
        <p:blipFill>
          <a:blip r:embed="rId3" cstate="print"/>
          <a:stretch>
            <a:fillRect/>
          </a:stretch>
        </p:blipFill>
        <p:spPr>
          <a:xfrm>
            <a:off x="7000892" y="2857496"/>
            <a:ext cx="1314450" cy="1971675"/>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3200" b="1" dirty="0" smtClean="0">
                <a:solidFill>
                  <a:srgbClr val="FF6600"/>
                </a:solidFill>
              </a:rPr>
              <a:t>Element 3: </a:t>
            </a:r>
            <a:r>
              <a:rPr lang="en-AU" sz="3200" b="1" i="1" dirty="0" smtClean="0">
                <a:solidFill>
                  <a:srgbClr val="FF6600"/>
                </a:solidFill>
              </a:rPr>
              <a:t>Make beds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7172" name="Picture 4" descr="C:\Documents and Settings\danielc\Local Settings\Temporary Internet Files\Content.IE5\2LMD6966\MP900423029[1].jpg"/>
          <p:cNvPicPr>
            <a:picLocks noChangeAspect="1" noChangeArrowheads="1"/>
          </p:cNvPicPr>
          <p:nvPr/>
        </p:nvPicPr>
        <p:blipFill>
          <a:blip r:embed="rId3" cstate="print"/>
          <a:srcRect/>
          <a:stretch>
            <a:fillRect/>
          </a:stretch>
        </p:blipFill>
        <p:spPr bwMode="auto">
          <a:xfrm>
            <a:off x="2987824" y="2780928"/>
            <a:ext cx="2500306" cy="2500306"/>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beds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Strip and re-make bed with fresh bed linen</a:t>
            </a:r>
          </a:p>
          <a:p>
            <a:pPr>
              <a:spcBef>
                <a:spcPts val="600"/>
              </a:spcBef>
              <a:spcAft>
                <a:spcPts val="1200"/>
              </a:spcAft>
            </a:pPr>
            <a:r>
              <a:rPr lang="en-AU" sz="2200" dirty="0" smtClean="0">
                <a:latin typeface="Helvetica" pitchFamily="34" charset="0"/>
              </a:rPr>
              <a:t>Re-make bed using existing bed linen.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7" name="Picture 6" descr="MP900431761[1].JPG"/>
          <p:cNvPicPr>
            <a:picLocks noChangeAspect="1"/>
          </p:cNvPicPr>
          <p:nvPr/>
        </p:nvPicPr>
        <p:blipFill>
          <a:blip r:embed="rId3" cstate="print"/>
          <a:stretch>
            <a:fillRect/>
          </a:stretch>
        </p:blipFill>
        <p:spPr>
          <a:xfrm>
            <a:off x="3042084" y="3714752"/>
            <a:ext cx="3059832" cy="2039091"/>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pPr>
            <a:r>
              <a:rPr lang="en-AU" sz="2200" dirty="0" smtClean="0">
                <a:latin typeface="Helvetica" pitchFamily="34" charset="0"/>
              </a:rPr>
              <a:t>Once you have successfully entered the room, it is now time to start cleaning the room</a:t>
            </a:r>
          </a:p>
          <a:p>
            <a:pPr>
              <a:spcBef>
                <a:spcPts val="600"/>
              </a:spcBef>
              <a:spcAft>
                <a:spcPts val="1200"/>
              </a:spcAft>
            </a:pPr>
            <a:r>
              <a:rPr lang="en-AU" sz="2200" dirty="0" smtClean="0">
                <a:latin typeface="Helvetica" pitchFamily="34" charset="0"/>
              </a:rPr>
              <a:t>One of the first tasks is normally to make the beds</a:t>
            </a:r>
          </a:p>
          <a:p>
            <a:pPr>
              <a:spcBef>
                <a:spcPts val="600"/>
              </a:spcBef>
              <a:spcAft>
                <a:spcPts val="1200"/>
              </a:spcAft>
            </a:pPr>
            <a:r>
              <a:rPr lang="en-AU" sz="2200" dirty="0" smtClean="0">
                <a:latin typeface="Helvetica" pitchFamily="34" charset="0"/>
              </a:rPr>
              <a:t>Beds will need to be stripped in all departing rooms and at nominated intervals for staying guests.</a:t>
            </a: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MP900430722[1].JPG"/>
          <p:cNvPicPr/>
          <p:nvPr/>
        </p:nvPicPr>
        <p:blipFill>
          <a:blip r:embed="rId3" cstate="print"/>
          <a:stretch>
            <a:fillRect/>
          </a:stretch>
        </p:blipFill>
        <p:spPr>
          <a:xfrm>
            <a:off x="3600649" y="4000504"/>
            <a:ext cx="1942703" cy="2014711"/>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When should the bed be stripped?</a:t>
            </a:r>
          </a:p>
          <a:p>
            <a:pPr>
              <a:spcBef>
                <a:spcPts val="600"/>
              </a:spcBef>
              <a:spcAft>
                <a:spcPts val="1200"/>
              </a:spcAft>
              <a:buNone/>
            </a:pPr>
            <a:r>
              <a:rPr lang="en-AU" sz="2200" dirty="0" smtClean="0">
                <a:latin typeface="Helvetica" pitchFamily="34" charset="0"/>
              </a:rPr>
              <a:t>Options include:</a:t>
            </a:r>
          </a:p>
          <a:p>
            <a:pPr lvl="0">
              <a:spcBef>
                <a:spcPts val="600"/>
              </a:spcBef>
              <a:spcAft>
                <a:spcPts val="1200"/>
              </a:spcAft>
            </a:pPr>
            <a:r>
              <a:rPr lang="en-US" sz="2200" dirty="0" smtClean="0">
                <a:latin typeface="Helvetica" pitchFamily="34" charset="0"/>
              </a:rPr>
              <a:t>Daily – in high-priced rooms, prestige establishments: full change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Every second or third day – full change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Change when the condition of the linen requires it – such as situations where linen is dirty or damaged.</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1200"/>
              </a:spcAft>
              <a:buNone/>
            </a:pPr>
            <a:r>
              <a:rPr lang="en-US" sz="2200" b="1" dirty="0" smtClean="0">
                <a:latin typeface="Helvetica" pitchFamily="34" charset="0"/>
              </a:rPr>
              <a:t>Steps to strip a bed:</a:t>
            </a:r>
          </a:p>
          <a:p>
            <a:pPr>
              <a:spcBef>
                <a:spcPts val="600"/>
              </a:spcBef>
              <a:spcAft>
                <a:spcPts val="1200"/>
              </a:spcAft>
              <a:buNone/>
            </a:pPr>
            <a:r>
              <a:rPr lang="en-US" sz="2200" dirty="0" smtClean="0">
                <a:latin typeface="Helvetica" pitchFamily="34" charset="0"/>
              </a:rPr>
              <a:t>1. 	Remove bedspread or duvet. – inspect and air, or replace as required. All bedspreads etc are washed or dry-cleaned periodically</a:t>
            </a:r>
            <a:endParaRPr lang="en-AU" sz="2200" dirty="0" smtClean="0">
              <a:latin typeface="Helvetica" pitchFamily="34" charset="0"/>
            </a:endParaRPr>
          </a:p>
          <a:p>
            <a:pPr>
              <a:spcBef>
                <a:spcPts val="600"/>
              </a:spcBef>
              <a:spcAft>
                <a:spcPts val="1200"/>
              </a:spcAft>
              <a:buNone/>
            </a:pPr>
            <a:r>
              <a:rPr lang="en-US" sz="2200" dirty="0" smtClean="0">
                <a:latin typeface="Helvetica" pitchFamily="34" charset="0"/>
              </a:rPr>
              <a:t>2. 	Remove blankets (where provided) - inspect and air, or replace as required. All blankets are washed or dry-cleaned periodically</a:t>
            </a:r>
            <a:endParaRPr lang="en-AU" sz="2200" dirty="0" smtClean="0">
              <a:latin typeface="Helvetica" pitchFamily="34" charset="0"/>
            </a:endParaRPr>
          </a:p>
          <a:p>
            <a:pPr>
              <a:spcBef>
                <a:spcPts val="600"/>
              </a:spcBef>
              <a:spcAft>
                <a:spcPts val="1200"/>
              </a:spcAft>
              <a:buNone/>
            </a:pPr>
            <a:r>
              <a:rPr lang="en-US" sz="2200" dirty="0" smtClean="0">
                <a:latin typeface="Helvetica" pitchFamily="34" charset="0"/>
              </a:rPr>
              <a:t>3.	Remove pillowcases – place into soiled linen bag. Inspect pillow and pillow protectors to determine if they require attention or replacement</a:t>
            </a:r>
            <a:endParaRPr lang="en-AU" sz="2200" dirty="0" smtClean="0">
              <a:latin typeface="Helvetica" pitchFamily="34" charset="0"/>
            </a:endParaRPr>
          </a:p>
          <a:p>
            <a:pPr>
              <a:buNone/>
            </a:pPr>
            <a:endParaRPr lang="en-AU" sz="2400" dirty="0" smtClean="0"/>
          </a:p>
          <a:p>
            <a:pPr>
              <a:buNone/>
            </a:pPr>
            <a:r>
              <a:rPr lang="en-AU" sz="2200" dirty="0" smtClean="0"/>
              <a:t>(Continued)</a:t>
            </a:r>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US" sz="2200" b="1" dirty="0" smtClean="0">
                <a:latin typeface="Helvetica" pitchFamily="34" charset="0"/>
              </a:rPr>
              <a:t>Steps to strip a bed:</a:t>
            </a:r>
          </a:p>
          <a:p>
            <a:pPr>
              <a:spcBef>
                <a:spcPts val="600"/>
              </a:spcBef>
              <a:spcAft>
                <a:spcPts val="1200"/>
              </a:spcAft>
              <a:buNone/>
            </a:pPr>
            <a:r>
              <a:rPr lang="en-US" sz="2200" dirty="0" smtClean="0">
                <a:latin typeface="Helvetica" pitchFamily="34" charset="0"/>
              </a:rPr>
              <a:t>4.	Remove sheets - place into soiled linen bag</a:t>
            </a:r>
            <a:endParaRPr lang="en-AU" sz="2200" dirty="0" smtClean="0">
              <a:latin typeface="Helvetica" pitchFamily="34" charset="0"/>
            </a:endParaRPr>
          </a:p>
          <a:p>
            <a:pPr>
              <a:spcBef>
                <a:spcPts val="600"/>
              </a:spcBef>
              <a:spcAft>
                <a:spcPts val="1200"/>
              </a:spcAft>
              <a:buNone/>
            </a:pPr>
            <a:r>
              <a:rPr lang="en-US" sz="2200" dirty="0" smtClean="0">
                <a:latin typeface="Helvetica" pitchFamily="34" charset="0"/>
              </a:rPr>
              <a:t>5. 	Check mattress protector – spot clean as necessary or replace if required due to staining or damage</a:t>
            </a:r>
            <a:endParaRPr lang="en-AU" sz="2200" dirty="0" smtClean="0">
              <a:latin typeface="Helvetica" pitchFamily="34" charset="0"/>
            </a:endParaRPr>
          </a:p>
          <a:p>
            <a:pPr>
              <a:spcBef>
                <a:spcPts val="600"/>
              </a:spcBef>
              <a:spcAft>
                <a:spcPts val="1200"/>
              </a:spcAft>
              <a:buNone/>
            </a:pPr>
            <a:r>
              <a:rPr lang="en-US" sz="2200" dirty="0" smtClean="0">
                <a:latin typeface="Helvetica" pitchFamily="34" charset="0"/>
              </a:rPr>
              <a:t>6.	Inspect electric blanket – safety check and for signs of staining. Replace as per house protocols</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5" name="Picture 4" descr="MP900448639[1].JPG"/>
          <p:cNvPicPr/>
          <p:nvPr/>
        </p:nvPicPr>
        <p:blipFill>
          <a:blip r:embed="rId3" cstate="print"/>
          <a:stretch>
            <a:fillRect/>
          </a:stretch>
        </p:blipFill>
        <p:spPr>
          <a:xfrm>
            <a:off x="3824241" y="4500570"/>
            <a:ext cx="1495518" cy="1731638"/>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b="1" dirty="0" smtClean="0">
                <a:latin typeface="Helvetica" pitchFamily="34" charset="0"/>
              </a:rPr>
              <a:t>Damaged or soiled bed items</a:t>
            </a:r>
          </a:p>
          <a:p>
            <a:pPr marL="0" indent="0">
              <a:spcBef>
                <a:spcPts val="600"/>
              </a:spcBef>
              <a:spcAft>
                <a:spcPts val="600"/>
              </a:spcAft>
              <a:buNone/>
            </a:pPr>
            <a:r>
              <a:rPr lang="en-AU" sz="2200" dirty="0" smtClean="0">
                <a:latin typeface="Helvetica" pitchFamily="34" charset="0"/>
              </a:rPr>
              <a:t>When damaged items are found they must be replaced or forwarded for repair or disposal.</a:t>
            </a:r>
          </a:p>
          <a:p>
            <a:pPr>
              <a:spcBef>
                <a:spcPts val="600"/>
              </a:spcBef>
              <a:spcAft>
                <a:spcPts val="600"/>
              </a:spcAft>
              <a:buNone/>
            </a:pPr>
            <a:r>
              <a:rPr lang="en-AU" sz="2200" dirty="0" smtClean="0">
                <a:latin typeface="Helvetica" pitchFamily="34" charset="0"/>
              </a:rPr>
              <a:t>Types of stains: </a:t>
            </a:r>
          </a:p>
          <a:p>
            <a:pPr lvl="0">
              <a:spcBef>
                <a:spcPts val="600"/>
              </a:spcBef>
              <a:spcAft>
                <a:spcPts val="600"/>
              </a:spcAft>
            </a:pPr>
            <a:r>
              <a:rPr lang="en-US" sz="2200" dirty="0" smtClean="0">
                <a:latin typeface="Helvetica" pitchFamily="34" charset="0"/>
              </a:rPr>
              <a:t>Urine and faeces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Blood</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Beverage – tea, soft drinks, alcohol</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Shoe polish</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Food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Mud, dirt, grease and oil.</a:t>
            </a:r>
            <a:endParaRPr lang="en-AU" sz="2200" dirty="0" smtClean="0">
              <a:latin typeface="Helvetica" pitchFamily="34" charset="0"/>
            </a:endParaRPr>
          </a:p>
          <a:p>
            <a:pPr>
              <a:spcBef>
                <a:spcPts val="600"/>
              </a:spcBef>
              <a:spcAft>
                <a:spcPts val="1200"/>
              </a:spcAft>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6" name="Picture 5" descr="MP900430485[1].JPG"/>
          <p:cNvPicPr/>
          <p:nvPr/>
        </p:nvPicPr>
        <p:blipFill>
          <a:blip r:embed="rId3" cstate="print"/>
          <a:stretch>
            <a:fillRect/>
          </a:stretch>
        </p:blipFill>
        <p:spPr>
          <a:xfrm>
            <a:off x="5929322" y="3286124"/>
            <a:ext cx="1844848" cy="1675562"/>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Remaking bed with fresh linen </a:t>
            </a:r>
          </a:p>
          <a:p>
            <a:pPr>
              <a:spcBef>
                <a:spcPts val="600"/>
              </a:spcBef>
              <a:spcAft>
                <a:spcPts val="1200"/>
              </a:spcAft>
            </a:pPr>
            <a:r>
              <a:rPr lang="en-AU" sz="2200" dirty="0" smtClean="0">
                <a:latin typeface="Helvetica" pitchFamily="34" charset="0"/>
              </a:rPr>
              <a:t>Making the bed ‘properly’ is an extremely important part of servicing any room because the bed is often the focal point of the room and one of the first things in the room that the guest looks at</a:t>
            </a:r>
          </a:p>
          <a:p>
            <a:pPr>
              <a:spcBef>
                <a:spcPts val="600"/>
              </a:spcBef>
              <a:spcAft>
                <a:spcPts val="1200"/>
              </a:spcAft>
            </a:pPr>
            <a:r>
              <a:rPr lang="en-AU" sz="2200" dirty="0" smtClean="0">
                <a:latin typeface="Helvetica" pitchFamily="34" charset="0"/>
              </a:rPr>
              <a:t>The final appearance of the made bed must therefore make the right impression – neat, tidy, balanced, crisp, clean, attractive and inviting</a:t>
            </a:r>
            <a:r>
              <a:rPr lang="en-AU" sz="2400" dirty="0" smtClean="0"/>
              <a:t>.</a:t>
            </a:r>
          </a:p>
          <a:p>
            <a:pPr>
              <a:spcBef>
                <a:spcPts val="600"/>
              </a:spcBef>
              <a:spcAft>
                <a:spcPts val="1200"/>
              </a:spcAft>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8" name="Picture 7" descr="MP900431761[1].JPG"/>
          <p:cNvPicPr>
            <a:picLocks noChangeAspect="1"/>
          </p:cNvPicPr>
          <p:nvPr/>
        </p:nvPicPr>
        <p:blipFill>
          <a:blip r:embed="rId3" cstate="print"/>
          <a:stretch>
            <a:fillRect/>
          </a:stretch>
        </p:blipFill>
        <p:spPr>
          <a:xfrm>
            <a:off x="3643306" y="5072074"/>
            <a:ext cx="2194807" cy="1462633"/>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Bed making styles</a:t>
            </a:r>
          </a:p>
          <a:p>
            <a:pPr lvl="0">
              <a:spcBef>
                <a:spcPts val="600"/>
              </a:spcBef>
              <a:spcAft>
                <a:spcPts val="1200"/>
              </a:spcAft>
              <a:buNone/>
            </a:pPr>
            <a:r>
              <a:rPr lang="en-US" sz="2200" dirty="0" smtClean="0">
                <a:latin typeface="Helvetica" pitchFamily="34" charset="0"/>
              </a:rPr>
              <a:t>The standard style to make a bed involves:</a:t>
            </a:r>
          </a:p>
          <a:p>
            <a:pPr lvl="0"/>
            <a:r>
              <a:rPr lang="en-US" sz="2200" dirty="0" smtClean="0">
                <a:latin typeface="Helvetica" pitchFamily="34" charset="0"/>
              </a:rPr>
              <a:t>Mattress protector</a:t>
            </a:r>
            <a:endParaRPr lang="en-AU" sz="2200" dirty="0" smtClean="0">
              <a:latin typeface="Helvetica" pitchFamily="34" charset="0"/>
            </a:endParaRPr>
          </a:p>
          <a:p>
            <a:pPr lvl="0"/>
            <a:r>
              <a:rPr lang="en-US" sz="2200" dirty="0" smtClean="0">
                <a:latin typeface="Helvetica" pitchFamily="34" charset="0"/>
              </a:rPr>
              <a:t>Bottom sheet</a:t>
            </a:r>
            <a:endParaRPr lang="en-AU" sz="2200" dirty="0" smtClean="0">
              <a:latin typeface="Helvetica" pitchFamily="34" charset="0"/>
            </a:endParaRPr>
          </a:p>
          <a:p>
            <a:pPr lvl="0"/>
            <a:r>
              <a:rPr lang="en-US" sz="2200" dirty="0" smtClean="0">
                <a:latin typeface="Helvetica" pitchFamily="34" charset="0"/>
              </a:rPr>
              <a:t>Top sheet</a:t>
            </a:r>
            <a:endParaRPr lang="en-AU" sz="2200" dirty="0" smtClean="0">
              <a:latin typeface="Helvetica" pitchFamily="34" charset="0"/>
            </a:endParaRPr>
          </a:p>
          <a:p>
            <a:pPr lvl="0"/>
            <a:r>
              <a:rPr lang="en-US" sz="2200" dirty="0" smtClean="0">
                <a:latin typeface="Helvetica" pitchFamily="34" charset="0"/>
              </a:rPr>
              <a:t>Blanket</a:t>
            </a:r>
            <a:endParaRPr lang="en-AU" sz="2200" dirty="0" smtClean="0">
              <a:latin typeface="Helvetica" pitchFamily="34" charset="0"/>
            </a:endParaRPr>
          </a:p>
          <a:p>
            <a:pPr lvl="0"/>
            <a:r>
              <a:rPr lang="en-US" sz="2200" dirty="0" smtClean="0">
                <a:latin typeface="Helvetica" pitchFamily="34" charset="0"/>
              </a:rPr>
              <a:t>Bedspread</a:t>
            </a:r>
            <a:endParaRPr lang="en-AU" sz="2200" dirty="0" smtClean="0">
              <a:latin typeface="Helvetica" pitchFamily="34" charset="0"/>
            </a:endParaRPr>
          </a:p>
          <a:p>
            <a:pPr lvl="0"/>
            <a:r>
              <a:rPr lang="en-US" sz="2200" dirty="0" smtClean="0">
                <a:latin typeface="Helvetica" pitchFamily="34" charset="0"/>
              </a:rPr>
              <a:t>Pillows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Pillowcases.</a:t>
            </a:r>
            <a:endParaRPr lang="en-AU" sz="2200" dirty="0" smtClean="0">
              <a:latin typeface="Helvetica" pitchFamily="34" charset="0"/>
            </a:endParaRPr>
          </a:p>
          <a:p>
            <a:pPr>
              <a:buNone/>
            </a:pPr>
            <a:r>
              <a:rPr lang="en-AU" sz="2200" b="1" dirty="0" smtClean="0">
                <a:latin typeface="Helvetica" pitchFamily="34" charset="0"/>
              </a:rPr>
              <a:t>Other styles include ‘American’ and ‘Norwegian’.</a:t>
            </a:r>
          </a:p>
          <a:p>
            <a:pPr>
              <a:spcBef>
                <a:spcPts val="600"/>
              </a:spcBef>
              <a:spcAft>
                <a:spcPts val="1200"/>
              </a:spcAft>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6" name="Picture 5" descr="MP900423029[1].JPG"/>
          <p:cNvPicPr/>
          <p:nvPr/>
        </p:nvPicPr>
        <p:blipFill>
          <a:blip r:embed="rId3" cstate="print">
            <a:grayscl/>
          </a:blip>
          <a:stretch>
            <a:fillRect/>
          </a:stretch>
        </p:blipFill>
        <p:spPr>
          <a:xfrm>
            <a:off x="5724128" y="2780928"/>
            <a:ext cx="2350939" cy="2206923"/>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1200"/>
              </a:spcAft>
              <a:buNone/>
            </a:pPr>
            <a:r>
              <a:rPr lang="en-AU" sz="2200" b="1" dirty="0" smtClean="0">
                <a:latin typeface="Helvetica" pitchFamily="34" charset="0"/>
              </a:rPr>
              <a:t>Bed making steps</a:t>
            </a:r>
          </a:p>
          <a:p>
            <a:pPr>
              <a:spcBef>
                <a:spcPts val="600"/>
              </a:spcBef>
              <a:spcAft>
                <a:spcPts val="1200"/>
              </a:spcAft>
              <a:buNone/>
            </a:pPr>
            <a:r>
              <a:rPr lang="en-GB" sz="2200" dirty="0" smtClean="0">
                <a:latin typeface="Helvetica" pitchFamily="34" charset="0"/>
              </a:rPr>
              <a:t>1.	Check electric blanket is straight and secured</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2.	Position mattress protector and secure strings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3.	With seams down, position bottom sheet</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4.	Mitre bottom sheet </a:t>
            </a:r>
          </a:p>
          <a:p>
            <a:pPr>
              <a:spcBef>
                <a:spcPts val="600"/>
              </a:spcBef>
              <a:spcAft>
                <a:spcPts val="1200"/>
              </a:spcAft>
              <a:buNone/>
            </a:pPr>
            <a:r>
              <a:rPr lang="en-GB" sz="2200" dirty="0" smtClean="0">
                <a:latin typeface="Helvetica" pitchFamily="34" charset="0"/>
              </a:rPr>
              <a:t>5.	Smooth out creases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6.	With seams up, position top sheet</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r>
              <a:rPr lang="en-AU" sz="2000" dirty="0" smtClean="0"/>
              <a:t>(Continued)</a:t>
            </a:r>
            <a:endParaRPr lang="en-AU" sz="2000" dirty="0" smtClean="0">
              <a:latin typeface="Helvetica" pitchFamily="34" charset="0"/>
            </a:endParaRPr>
          </a:p>
          <a:p>
            <a:pPr>
              <a:spcBef>
                <a:spcPts val="600"/>
              </a:spcBef>
              <a:spcAft>
                <a:spcPts val="1200"/>
              </a:spcAft>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7" name="Picture 6" descr="MP900431761[1].JPG"/>
          <p:cNvPicPr/>
          <p:nvPr/>
        </p:nvPicPr>
        <p:blipFill>
          <a:blip r:embed="rId3" cstate="print"/>
          <a:stretch>
            <a:fillRect/>
          </a:stretch>
        </p:blipFill>
        <p:spPr>
          <a:xfrm>
            <a:off x="6072198" y="3786190"/>
            <a:ext cx="2060872" cy="1373113"/>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a:bodyPr>
          <a:lstStyle/>
          <a:p>
            <a:pPr>
              <a:spcBef>
                <a:spcPts val="600"/>
              </a:spcBef>
              <a:spcAft>
                <a:spcPts val="1200"/>
              </a:spcAft>
              <a:buNone/>
            </a:pPr>
            <a:r>
              <a:rPr lang="en-AU" sz="2200" b="1" dirty="0" smtClean="0">
                <a:latin typeface="Helvetica" pitchFamily="34" charset="0"/>
              </a:rPr>
              <a:t>Bed making steps</a:t>
            </a:r>
          </a:p>
          <a:p>
            <a:pPr>
              <a:spcBef>
                <a:spcPts val="600"/>
              </a:spcBef>
              <a:spcAft>
                <a:spcPts val="1200"/>
              </a:spcAft>
              <a:buNone/>
            </a:pPr>
            <a:r>
              <a:rPr lang="en-GB" sz="2200" dirty="0" smtClean="0">
                <a:latin typeface="Helvetica" pitchFamily="34" charset="0"/>
              </a:rPr>
              <a:t>7.	Position blanket – seams up</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8.	Turn head of top sheet over blanket</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9.	Smooth out creases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10. Tuck in top sheet and blanket on sides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11. Mitre all corners, top sheet and                                        blanket together</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12. Smooth out creases</a:t>
            </a:r>
            <a:endParaRPr lang="en-AU" sz="2200" dirty="0" smtClean="0">
              <a:latin typeface="Helvetica" pitchFamily="34" charset="0"/>
            </a:endParaRPr>
          </a:p>
          <a:p>
            <a:pPr>
              <a:spcBef>
                <a:spcPts val="600"/>
              </a:spcBef>
              <a:spcAft>
                <a:spcPts val="1200"/>
              </a:spcAft>
              <a:buNone/>
            </a:pPr>
            <a:r>
              <a:rPr lang="en-AU" sz="2000" dirty="0" smtClean="0"/>
              <a:t>(Continued)</a:t>
            </a:r>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5" name="Picture 4" descr="MP900414048[1].JPG"/>
          <p:cNvPicPr>
            <a:picLocks noChangeAspect="1"/>
          </p:cNvPicPr>
          <p:nvPr/>
        </p:nvPicPr>
        <p:blipFill>
          <a:blip r:embed="rId3" cstate="print"/>
          <a:stretch>
            <a:fillRect/>
          </a:stretch>
        </p:blipFill>
        <p:spPr>
          <a:xfrm>
            <a:off x="6516216" y="4077072"/>
            <a:ext cx="2276872" cy="2276872"/>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Bed making steps</a:t>
            </a:r>
          </a:p>
          <a:p>
            <a:pPr>
              <a:spcBef>
                <a:spcPts val="600"/>
              </a:spcBef>
              <a:spcAft>
                <a:spcPts val="1200"/>
              </a:spcAft>
              <a:buNone/>
            </a:pPr>
            <a:r>
              <a:rPr lang="en-GB" sz="2200" dirty="0" smtClean="0">
                <a:latin typeface="Helvetica" pitchFamily="34" charset="0"/>
              </a:rPr>
              <a:t>13. Position bedspread so it is straight and all corners are even.</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14. Fold back bedspread at bedhead end.</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15. Place pillowcases on fluffed up pillows.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16. Position pillows on the bed as required.</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17. Fold bedspread over pillow and                                               neatly tuck in.</a:t>
            </a:r>
            <a:endParaRPr lang="en-AU" sz="2200" dirty="0" smtClean="0">
              <a:latin typeface="Helvetica" pitchFamily="34" charset="0"/>
            </a:endParaRPr>
          </a:p>
          <a:p>
            <a:pPr>
              <a:spcBef>
                <a:spcPts val="600"/>
              </a:spcBef>
              <a:spcAft>
                <a:spcPts val="1200"/>
              </a:spcAft>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6" name="Picture 5" descr="MP900423029[1].JPG"/>
          <p:cNvPicPr>
            <a:picLocks noChangeAspect="1"/>
          </p:cNvPicPr>
          <p:nvPr/>
        </p:nvPicPr>
        <p:blipFill>
          <a:blip r:embed="rId3" cstate="print"/>
          <a:stretch>
            <a:fillRect/>
          </a:stretch>
        </p:blipFill>
        <p:spPr>
          <a:xfrm>
            <a:off x="6572264" y="2928934"/>
            <a:ext cx="1984874" cy="1984874"/>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Strip and make a bed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lgn="ctr">
              <a:spcBef>
                <a:spcPts val="600"/>
              </a:spcBef>
              <a:spcAft>
                <a:spcPts val="600"/>
              </a:spcAft>
              <a:buNone/>
            </a:pPr>
            <a:r>
              <a:rPr lang="en-AU" sz="2200" b="1" dirty="0" smtClean="0">
                <a:latin typeface="Helvetica" pitchFamily="34" charset="0"/>
              </a:rPr>
              <a:t>What do you do differently when making a bed using existing linen instead of fresh linen?</a:t>
            </a:r>
          </a:p>
          <a:p>
            <a:pPr lvl="0">
              <a:spcBef>
                <a:spcPts val="600"/>
              </a:spcBef>
              <a:spcAft>
                <a:spcPts val="600"/>
              </a:spcAft>
              <a:buNone/>
            </a:pPr>
            <a:r>
              <a:rPr lang="en-US" sz="2200" dirty="0" smtClean="0">
                <a:latin typeface="Helvetica" pitchFamily="34" charset="0"/>
              </a:rPr>
              <a:t>Remember guest preferences:</a:t>
            </a:r>
          </a:p>
          <a:p>
            <a:pPr lvl="0">
              <a:spcBef>
                <a:spcPts val="600"/>
              </a:spcBef>
              <a:spcAft>
                <a:spcPts val="600"/>
              </a:spcAft>
            </a:pPr>
            <a:r>
              <a:rPr lang="en-US" sz="2200" dirty="0" smtClean="0">
                <a:latin typeface="Helvetica" pitchFamily="34" charset="0"/>
              </a:rPr>
              <a:t>If they have removed the blanket or duvet, you may wish to place this in the cupboard or folded back at the end of the bed</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If they have more pillows, make the bed and position the pillows accordingly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If items such as books, magazines, glasses, clothes or other personal items were found on the bed, place them back on the bed in a similar position and in a neat state.</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1640" y="1556792"/>
            <a:ext cx="6912768" cy="4680520"/>
          </a:xfrm>
        </p:spPr>
        <p:txBody>
          <a:bodyPr>
            <a:normAutofit/>
          </a:bodyPr>
          <a:lstStyle/>
          <a:p>
            <a:pPr>
              <a:buNone/>
            </a:pPr>
            <a:r>
              <a:rPr lang="en-AU" sz="3200" b="1" dirty="0" smtClean="0">
                <a:solidFill>
                  <a:srgbClr val="FF6600"/>
                </a:solidFill>
              </a:rPr>
              <a:t>Element 4:</a:t>
            </a:r>
          </a:p>
          <a:p>
            <a:pPr marL="0">
              <a:buNone/>
            </a:pPr>
            <a:r>
              <a:rPr lang="en-AU" sz="3200" b="1" i="1" dirty="0" smtClean="0">
                <a:solidFill>
                  <a:srgbClr val="FF6600"/>
                </a:solidFill>
              </a:rPr>
              <a:t>Clean bathroom</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7" name="Picture 6" descr="MP900399685[1].JPG"/>
          <p:cNvPicPr/>
          <p:nvPr/>
        </p:nvPicPr>
        <p:blipFill>
          <a:blip r:embed="rId3" cstate="print"/>
          <a:stretch>
            <a:fillRect/>
          </a:stretch>
        </p:blipFill>
        <p:spPr>
          <a:xfrm>
            <a:off x="2411760" y="3140968"/>
            <a:ext cx="2643206" cy="2642295"/>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bathroom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Clean bath and shower area</a:t>
            </a:r>
          </a:p>
          <a:p>
            <a:pPr>
              <a:spcBef>
                <a:spcPts val="600"/>
              </a:spcBef>
              <a:spcAft>
                <a:spcPts val="1200"/>
              </a:spcAft>
            </a:pPr>
            <a:r>
              <a:rPr lang="en-AU" sz="2200" dirty="0" smtClean="0">
                <a:latin typeface="Helvetica" pitchFamily="34" charset="0"/>
              </a:rPr>
              <a:t>Clean toilets</a:t>
            </a:r>
          </a:p>
          <a:p>
            <a:pPr>
              <a:spcBef>
                <a:spcPts val="600"/>
              </a:spcBef>
              <a:spcAft>
                <a:spcPts val="1200"/>
              </a:spcAft>
            </a:pPr>
            <a:r>
              <a:rPr lang="en-AU" sz="2200" dirty="0" smtClean="0">
                <a:latin typeface="Helvetica" pitchFamily="34" charset="0"/>
              </a:rPr>
              <a:t>Clean vanity area</a:t>
            </a:r>
          </a:p>
          <a:p>
            <a:pPr>
              <a:spcBef>
                <a:spcPts val="600"/>
              </a:spcBef>
              <a:spcAft>
                <a:spcPts val="1200"/>
              </a:spcAft>
            </a:pPr>
            <a:r>
              <a:rPr lang="en-AU" sz="2200" dirty="0" smtClean="0">
                <a:latin typeface="Helvetica" pitchFamily="34" charset="0"/>
              </a:rPr>
              <a:t>Clean floors</a:t>
            </a:r>
          </a:p>
          <a:p>
            <a:pPr>
              <a:spcBef>
                <a:spcPts val="600"/>
              </a:spcBef>
              <a:spcAft>
                <a:spcPts val="1200"/>
              </a:spcAft>
            </a:pPr>
            <a:r>
              <a:rPr lang="en-AU" sz="2200" dirty="0" smtClean="0">
                <a:latin typeface="Helvetica" pitchFamily="34" charset="0"/>
              </a:rPr>
              <a:t>Replenish guest supplies.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8194" name="Picture 2" descr="C:\Documents and Settings\danielc\Local Settings\Temporary Internet Files\Content.IE5\XKVY0NPI\MP900399797[1].jpg"/>
          <p:cNvPicPr>
            <a:picLocks noChangeAspect="1" noChangeArrowheads="1"/>
          </p:cNvPicPr>
          <p:nvPr/>
        </p:nvPicPr>
        <p:blipFill>
          <a:blip r:embed="rId3" cstate="print"/>
          <a:srcRect/>
          <a:stretch>
            <a:fillRect/>
          </a:stretch>
        </p:blipFill>
        <p:spPr bwMode="auto">
          <a:xfrm>
            <a:off x="5857884" y="2214554"/>
            <a:ext cx="1724594" cy="2585628"/>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Preparing a bathroom for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lvl="0">
              <a:spcBef>
                <a:spcPts val="600"/>
              </a:spcBef>
              <a:spcAft>
                <a:spcPts val="1200"/>
              </a:spcAft>
            </a:pPr>
            <a:r>
              <a:rPr lang="en-US" sz="2200" dirty="0" smtClean="0">
                <a:latin typeface="Helvetica" pitchFamily="34" charset="0"/>
              </a:rPr>
              <a:t>Collect all dirty toweling items and place in soiled laundry bag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Collect all used bathroom supplies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Check shower curtain for cleanliness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Check all light globes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Check all electrical equipment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Check all fixtures and fittings.</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7" name="Picture 6" descr="MP900422266[1].JPG"/>
          <p:cNvPicPr>
            <a:picLocks noChangeAspect="1"/>
          </p:cNvPicPr>
          <p:nvPr/>
        </p:nvPicPr>
        <p:blipFill>
          <a:blip r:embed="rId3" cstate="print"/>
          <a:stretch>
            <a:fillRect/>
          </a:stretch>
        </p:blipFill>
        <p:spPr>
          <a:xfrm>
            <a:off x="6286512" y="2714620"/>
            <a:ext cx="1923672" cy="1923672"/>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08112"/>
          </a:xfrm>
        </p:spPr>
        <p:txBody>
          <a:bodyPr>
            <a:normAutofit/>
          </a:bodyPr>
          <a:lstStyle/>
          <a:p>
            <a:r>
              <a:rPr lang="en-US" sz="3400" b="1" dirty="0" smtClean="0">
                <a:solidFill>
                  <a:srgbClr val="FF6600"/>
                </a:solidFill>
                <a:latin typeface="Helvetica" pitchFamily="34" charset="0"/>
              </a:rPr>
              <a:t>Preparing a bathroom for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112568"/>
          </a:xfrm>
        </p:spPr>
        <p:txBody>
          <a:bodyPr>
            <a:noAutofit/>
          </a:bodyPr>
          <a:lstStyle/>
          <a:p>
            <a:pPr>
              <a:spcBef>
                <a:spcPts val="600"/>
              </a:spcBef>
              <a:spcAft>
                <a:spcPts val="600"/>
              </a:spcAft>
              <a:buNone/>
            </a:pPr>
            <a:r>
              <a:rPr lang="en-AU" sz="2000" b="1" dirty="0" smtClean="0">
                <a:latin typeface="Helvetica" pitchFamily="34" charset="0"/>
              </a:rPr>
              <a:t>Handling syringes</a:t>
            </a:r>
            <a:endParaRPr lang="en-AU" sz="2000" dirty="0" smtClean="0">
              <a:latin typeface="Helvetica" pitchFamily="34" charset="0"/>
            </a:endParaRPr>
          </a:p>
          <a:p>
            <a:pPr>
              <a:spcBef>
                <a:spcPts val="600"/>
              </a:spcBef>
              <a:spcAft>
                <a:spcPts val="600"/>
              </a:spcAft>
              <a:buNone/>
            </a:pPr>
            <a:r>
              <a:rPr lang="en-GB" sz="2000" dirty="0" smtClean="0">
                <a:latin typeface="Helvetica" pitchFamily="34" charset="0"/>
              </a:rPr>
              <a:t>1.	Don’t panic</a:t>
            </a:r>
            <a:endParaRPr lang="en-AU" sz="2000" dirty="0" smtClean="0">
              <a:latin typeface="Helvetica" pitchFamily="34" charset="0"/>
            </a:endParaRPr>
          </a:p>
          <a:p>
            <a:pPr>
              <a:spcBef>
                <a:spcPts val="600"/>
              </a:spcBef>
              <a:spcAft>
                <a:spcPts val="600"/>
              </a:spcAft>
              <a:buNone/>
            </a:pPr>
            <a:r>
              <a:rPr lang="en-GB" sz="2000" dirty="0" smtClean="0">
                <a:latin typeface="Helvetica" pitchFamily="34" charset="0"/>
              </a:rPr>
              <a:t>2.	Don’t touch the needle with bare hands and do not attempt to recap it</a:t>
            </a:r>
            <a:endParaRPr lang="en-AU" sz="2000" dirty="0" smtClean="0">
              <a:latin typeface="Helvetica" pitchFamily="34" charset="0"/>
            </a:endParaRPr>
          </a:p>
          <a:p>
            <a:pPr>
              <a:spcBef>
                <a:spcPts val="600"/>
              </a:spcBef>
              <a:spcAft>
                <a:spcPts val="600"/>
              </a:spcAft>
              <a:buNone/>
            </a:pPr>
            <a:r>
              <a:rPr lang="en-GB" sz="2000" dirty="0" smtClean="0">
                <a:latin typeface="Helvetica" pitchFamily="34" charset="0"/>
              </a:rPr>
              <a:t>3.	Find a sturdy plastic container</a:t>
            </a:r>
            <a:endParaRPr lang="en-AU" sz="2000" dirty="0" smtClean="0">
              <a:latin typeface="Helvetica" pitchFamily="34" charset="0"/>
            </a:endParaRPr>
          </a:p>
          <a:p>
            <a:pPr>
              <a:spcBef>
                <a:spcPts val="600"/>
              </a:spcBef>
              <a:spcAft>
                <a:spcPts val="600"/>
              </a:spcAft>
              <a:buNone/>
            </a:pPr>
            <a:r>
              <a:rPr lang="en-GB" sz="2000" dirty="0" smtClean="0">
                <a:latin typeface="Helvetica" pitchFamily="34" charset="0"/>
              </a:rPr>
              <a:t>4.	Ease the syringe into the container without making skin contact with it – where applicable, use a brush and shovel to sweep syringe up</a:t>
            </a:r>
            <a:endParaRPr lang="en-AU" sz="2000" dirty="0" smtClean="0">
              <a:latin typeface="Helvetica" pitchFamily="34" charset="0"/>
            </a:endParaRPr>
          </a:p>
          <a:p>
            <a:pPr>
              <a:spcBef>
                <a:spcPts val="600"/>
              </a:spcBef>
              <a:spcAft>
                <a:spcPts val="600"/>
              </a:spcAft>
              <a:buNone/>
            </a:pPr>
            <a:r>
              <a:rPr lang="en-GB" sz="2000" dirty="0" smtClean="0">
                <a:latin typeface="Helvetica" pitchFamily="34" charset="0"/>
              </a:rPr>
              <a:t>5.	Tightly seal the container</a:t>
            </a:r>
            <a:endParaRPr lang="en-AU" sz="2000" dirty="0" smtClean="0">
              <a:latin typeface="Helvetica" pitchFamily="34" charset="0"/>
            </a:endParaRPr>
          </a:p>
          <a:p>
            <a:pPr>
              <a:spcBef>
                <a:spcPts val="600"/>
              </a:spcBef>
              <a:spcAft>
                <a:spcPts val="600"/>
              </a:spcAft>
              <a:buNone/>
            </a:pPr>
            <a:r>
              <a:rPr lang="en-GB" sz="2000" dirty="0" smtClean="0">
                <a:latin typeface="Helvetica" pitchFamily="34" charset="0"/>
              </a:rPr>
              <a:t>6.	Immediately wash your hands</a:t>
            </a:r>
            <a:endParaRPr lang="en-AU" sz="2000" dirty="0" smtClean="0">
              <a:latin typeface="Helvetica" pitchFamily="34" charset="0"/>
            </a:endParaRPr>
          </a:p>
          <a:p>
            <a:pPr>
              <a:spcBef>
                <a:spcPts val="600"/>
              </a:spcBef>
              <a:spcAft>
                <a:spcPts val="600"/>
              </a:spcAft>
              <a:buNone/>
            </a:pPr>
            <a:r>
              <a:rPr lang="en-GB" sz="2000" dirty="0" smtClean="0">
                <a:latin typeface="Helvetica" pitchFamily="34" charset="0"/>
              </a:rPr>
              <a:t>7.	Immediately alert the appropriate person </a:t>
            </a:r>
            <a:br>
              <a:rPr lang="en-GB" sz="2000" dirty="0" smtClean="0">
                <a:latin typeface="Helvetica" pitchFamily="34" charset="0"/>
              </a:rPr>
            </a:br>
            <a:r>
              <a:rPr lang="en-GB" sz="2000" dirty="0" smtClean="0">
                <a:latin typeface="Helvetica" pitchFamily="34" charset="0"/>
              </a:rPr>
              <a:t>for correct disposal of syringe.</a:t>
            </a:r>
            <a:endParaRPr lang="en-AU" sz="2000" dirty="0" smtClean="0">
              <a:latin typeface="Helvetica" pitchFamily="34" charset="0"/>
            </a:endParaRPr>
          </a:p>
          <a:p>
            <a:pPr>
              <a:spcBef>
                <a:spcPts val="600"/>
              </a:spcBef>
              <a:spcAft>
                <a:spcPts val="600"/>
              </a:spcAft>
              <a:buNone/>
            </a:pPr>
            <a:endParaRPr lang="en-AU" sz="2000" dirty="0" smtClean="0"/>
          </a:p>
          <a:p>
            <a:pPr>
              <a:spcBef>
                <a:spcPts val="600"/>
              </a:spcBef>
              <a:spcAft>
                <a:spcPts val="600"/>
              </a:spcAft>
              <a:buNone/>
            </a:pPr>
            <a:endParaRPr lang="en-AU" sz="2000" dirty="0" smtClean="0"/>
          </a:p>
          <a:p>
            <a:pPr marL="0">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6" name="Picture 5" descr="MP900308894[1].JPG"/>
          <p:cNvPicPr/>
          <p:nvPr/>
        </p:nvPicPr>
        <p:blipFill>
          <a:blip r:embed="rId3" cstate="print"/>
          <a:stretch>
            <a:fillRect/>
          </a:stretch>
        </p:blipFill>
        <p:spPr>
          <a:xfrm>
            <a:off x="6372200" y="4509120"/>
            <a:ext cx="2152650" cy="1419225"/>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bath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GB" sz="2200" dirty="0" smtClean="0">
                <a:latin typeface="Helvetica" pitchFamily="34" charset="0"/>
              </a:rPr>
              <a:t>1.	Wet tub with water and check plughole for foreign matter</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2.	Scour tub using non-metal pad – removing stains, residue and marks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3.	Clean and polish taps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4.	Rinse bath thoroughly</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5.	Dry and polish with cloth</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6. 	Conduct final inspection.</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7" name="Picture 6" descr="MP900399685[1].JPG"/>
          <p:cNvPicPr/>
          <p:nvPr/>
        </p:nvPicPr>
        <p:blipFill>
          <a:blip r:embed="rId3" cstate="print"/>
          <a:stretch>
            <a:fillRect/>
          </a:stretch>
        </p:blipFill>
        <p:spPr>
          <a:xfrm>
            <a:off x="5940152" y="3573016"/>
            <a:ext cx="2583929" cy="2295897"/>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shower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GB" sz="2200" dirty="0" smtClean="0">
                <a:latin typeface="Helvetica" pitchFamily="34" charset="0"/>
              </a:rPr>
              <a:t>1.	Wet shower basin and sides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2.	Clean tiles and floor – check plughole for foreign matter</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3.	Clean shower curtain – check pole is clean and all hooks are in place and working</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4.	Rinse walls and floor thoroughly</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5.	Polish fittings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6.	Replenish supplies  </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7.   Conduct final inspection – leave shower                          curtain neat and to one side.</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6" name="Picture 5" descr="114_1491.JPG"/>
          <p:cNvPicPr/>
          <p:nvPr/>
        </p:nvPicPr>
        <p:blipFill>
          <a:blip r:embed="rId3" cstate="print"/>
          <a:stretch>
            <a:fillRect/>
          </a:stretch>
        </p:blipFill>
        <p:spPr>
          <a:xfrm>
            <a:off x="6804248" y="3861048"/>
            <a:ext cx="1666875" cy="2219325"/>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toilet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1200"/>
              </a:spcAft>
              <a:buNone/>
            </a:pPr>
            <a:r>
              <a:rPr lang="en-GB" sz="2200" dirty="0" smtClean="0">
                <a:latin typeface="Helvetica" pitchFamily="34" charset="0"/>
              </a:rPr>
              <a:t>1.	Flush toilet to wet sides of bowl</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2.	Pour in cleanser – leave to soak: continue with other work</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3.	Wash lid and dry – both sides and near back hinges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4.	Wash seat and dry – both sides and near back hinges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5.	Wash outsides of the bowl and dry</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smtClean="0">
              <a:latin typeface="Helvetica" pitchFamily="34" charset="0"/>
            </a:endParaRPr>
          </a:p>
          <a:p>
            <a:pPr marL="0">
              <a:spcBef>
                <a:spcPts val="600"/>
              </a:spcBef>
              <a:spcAft>
                <a:spcPts val="1200"/>
              </a:spcAft>
              <a:buNone/>
            </a:pPr>
            <a:r>
              <a:rPr lang="en-AU" sz="2200" dirty="0" smtClean="0"/>
              <a:t>(Continued)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7" name="Picture 6" descr="MP900422503[1].JPG"/>
          <p:cNvPicPr>
            <a:picLocks noChangeAspect="1"/>
          </p:cNvPicPr>
          <p:nvPr/>
        </p:nvPicPr>
        <p:blipFill>
          <a:blip r:embed="rId3" cstate="print"/>
          <a:srcRect t="13320"/>
          <a:stretch>
            <a:fillRect/>
          </a:stretch>
        </p:blipFill>
        <p:spPr>
          <a:xfrm>
            <a:off x="3857620" y="4572008"/>
            <a:ext cx="1428760" cy="1859482"/>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toilet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GB" sz="2200" dirty="0" smtClean="0">
                <a:latin typeface="Helvetica" pitchFamily="34" charset="0"/>
              </a:rPr>
              <a:t>6.	Wash and dry water holding unit and polish button</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7.	Scour bowl thoroughly – use a toilet brush</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8.	Flush toilet a number of times to wash away dirt </a:t>
            </a:r>
            <a:br>
              <a:rPr lang="en-GB" sz="2200" dirty="0" smtClean="0">
                <a:latin typeface="Helvetica" pitchFamily="34" charset="0"/>
              </a:rPr>
            </a:br>
            <a:r>
              <a:rPr lang="en-GB" sz="2200" dirty="0" smtClean="0">
                <a:latin typeface="Helvetica" pitchFamily="34" charset="0"/>
              </a:rPr>
              <a:t>and residue</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9.	Place a hygiene strip over the closed toilet lid</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10. Conduct final inspection – leave lid down </a:t>
            </a:r>
            <a:br>
              <a:rPr lang="en-GB" sz="2200" dirty="0" smtClean="0">
                <a:latin typeface="Helvetica" pitchFamily="34" charset="0"/>
              </a:rPr>
            </a:br>
            <a:r>
              <a:rPr lang="en-GB" sz="2200" dirty="0" smtClean="0">
                <a:latin typeface="Helvetica" pitchFamily="34" charset="0"/>
              </a:rPr>
              <a:t> when thoroughly cleaned. Add hygiene strip,</a:t>
            </a:r>
            <a:br>
              <a:rPr lang="en-GB" sz="2200" dirty="0" smtClean="0">
                <a:latin typeface="Helvetica" pitchFamily="34" charset="0"/>
              </a:rPr>
            </a:br>
            <a:r>
              <a:rPr lang="en-GB" sz="2200" dirty="0" smtClean="0">
                <a:latin typeface="Helvetica" pitchFamily="34" charset="0"/>
              </a:rPr>
              <a:t> if appropriate.</a:t>
            </a:r>
            <a:endParaRPr lang="en-AU" sz="2200"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5" name="Picture 4" descr="MP900399797[1].JPG"/>
          <p:cNvPicPr/>
          <p:nvPr/>
        </p:nvPicPr>
        <p:blipFill>
          <a:blip r:embed="rId3" cstate="print"/>
          <a:stretch>
            <a:fillRect/>
          </a:stretch>
        </p:blipFill>
        <p:spPr>
          <a:xfrm>
            <a:off x="7143768" y="3143248"/>
            <a:ext cx="1214446" cy="1817648"/>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vanity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1200"/>
              </a:spcAft>
              <a:buNone/>
            </a:pPr>
            <a:r>
              <a:rPr lang="en-AU" sz="2200" dirty="0" smtClean="0">
                <a:latin typeface="Helvetica" pitchFamily="34" charset="0"/>
              </a:rPr>
              <a:t>The vanity area normally includes:</a:t>
            </a:r>
          </a:p>
          <a:p>
            <a:pPr lvl="0">
              <a:spcBef>
                <a:spcPts val="600"/>
              </a:spcBef>
              <a:spcAft>
                <a:spcPts val="1200"/>
              </a:spcAft>
            </a:pPr>
            <a:r>
              <a:rPr lang="en-AU" sz="2200" dirty="0" smtClean="0">
                <a:latin typeface="Helvetica" pitchFamily="34" charset="0"/>
              </a:rPr>
              <a:t>Bathroom bench</a:t>
            </a:r>
          </a:p>
          <a:p>
            <a:pPr lvl="0">
              <a:spcBef>
                <a:spcPts val="600"/>
              </a:spcBef>
              <a:spcAft>
                <a:spcPts val="1200"/>
              </a:spcAft>
            </a:pPr>
            <a:r>
              <a:rPr lang="en-AU" sz="2200" dirty="0" smtClean="0">
                <a:latin typeface="Helvetica" pitchFamily="34" charset="0"/>
              </a:rPr>
              <a:t>Basins</a:t>
            </a:r>
          </a:p>
          <a:p>
            <a:pPr lvl="0">
              <a:spcBef>
                <a:spcPts val="600"/>
              </a:spcBef>
              <a:spcAft>
                <a:spcPts val="1200"/>
              </a:spcAft>
            </a:pPr>
            <a:r>
              <a:rPr lang="en-AU" sz="2200" dirty="0" smtClean="0">
                <a:latin typeface="Helvetica" pitchFamily="34" charset="0"/>
              </a:rPr>
              <a:t>Taps</a:t>
            </a:r>
          </a:p>
          <a:p>
            <a:pPr lvl="0">
              <a:spcBef>
                <a:spcPts val="600"/>
              </a:spcBef>
              <a:spcAft>
                <a:spcPts val="1200"/>
              </a:spcAft>
            </a:pPr>
            <a:r>
              <a:rPr lang="en-AU" sz="2200" dirty="0" smtClean="0">
                <a:latin typeface="Helvetica" pitchFamily="34" charset="0"/>
              </a:rPr>
              <a:t>Mirror</a:t>
            </a:r>
          </a:p>
          <a:p>
            <a:pPr lvl="0">
              <a:spcBef>
                <a:spcPts val="600"/>
              </a:spcBef>
              <a:spcAft>
                <a:spcPts val="1200"/>
              </a:spcAft>
            </a:pPr>
            <a:r>
              <a:rPr lang="en-AU" sz="2200" dirty="0" smtClean="0">
                <a:latin typeface="Helvetica" pitchFamily="34" charset="0"/>
              </a:rPr>
              <a:t>Cupboards</a:t>
            </a:r>
          </a:p>
          <a:p>
            <a:pPr lvl="0">
              <a:spcBef>
                <a:spcPts val="600"/>
              </a:spcBef>
              <a:spcAft>
                <a:spcPts val="1200"/>
              </a:spcAft>
            </a:pPr>
            <a:r>
              <a:rPr lang="en-AU" sz="2200" dirty="0" smtClean="0">
                <a:latin typeface="Helvetica" pitchFamily="34" charset="0"/>
              </a:rPr>
              <a:t>Handtowels</a:t>
            </a:r>
          </a:p>
          <a:p>
            <a:pPr lvl="0">
              <a:spcBef>
                <a:spcPts val="600"/>
              </a:spcBef>
              <a:spcAft>
                <a:spcPts val="1200"/>
              </a:spcAft>
            </a:pPr>
            <a:r>
              <a:rPr lang="en-AU" sz="2200" dirty="0" smtClean="0">
                <a:latin typeface="Helvetica" pitchFamily="34" charset="0"/>
              </a:rPr>
              <a:t>Amenities</a:t>
            </a:r>
          </a:p>
          <a:p>
            <a:pPr lvl="0">
              <a:spcBef>
                <a:spcPts val="600"/>
              </a:spcBef>
              <a:spcAft>
                <a:spcPts val="1200"/>
              </a:spcAft>
            </a:pPr>
            <a:r>
              <a:rPr lang="en-AU" sz="2200" dirty="0" smtClean="0">
                <a:latin typeface="Helvetica" pitchFamily="34" charset="0"/>
              </a:rPr>
              <a:t>Soap containers.</a:t>
            </a: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6" name="Picture 5" descr="114_1493.JPG"/>
          <p:cNvPicPr/>
          <p:nvPr/>
        </p:nvPicPr>
        <p:blipFill>
          <a:blip r:embed="rId3" cstate="print"/>
          <a:stretch>
            <a:fillRect/>
          </a:stretch>
        </p:blipFill>
        <p:spPr>
          <a:xfrm>
            <a:off x="5072066" y="2714620"/>
            <a:ext cx="3002062" cy="2178348"/>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vanity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GB" sz="2200" dirty="0" smtClean="0">
                <a:latin typeface="Helvetica" pitchFamily="34" charset="0"/>
              </a:rPr>
              <a:t>1.	Clean and dry shelves – replacing guest’s toiletries, where applicable</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2.	Scrub hand basin, rinse, then dry and polish with clean cloth – check plughole</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3.	Polish fittings and taps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4.	Clean and dry wall tiles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5.	Clean, dry and polish bench top</a:t>
            </a:r>
            <a:endParaRPr lang="en-AU" sz="2200"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r>
              <a:rPr lang="en-AU" sz="2200" dirty="0" smtClean="0">
                <a:latin typeface="Helvetica" pitchFamily="34" charset="0"/>
              </a:rPr>
              <a:t>(Continued)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8" name="Picture 7" descr="MP900411745[1].JPG"/>
          <p:cNvPicPr>
            <a:picLocks noChangeAspect="1"/>
          </p:cNvPicPr>
          <p:nvPr/>
        </p:nvPicPr>
        <p:blipFill>
          <a:blip r:embed="rId3" cstate="print"/>
          <a:stretch>
            <a:fillRect/>
          </a:stretch>
        </p:blipFill>
        <p:spPr>
          <a:xfrm>
            <a:off x="6000760" y="3214686"/>
            <a:ext cx="1914006" cy="1914006"/>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vanity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GB" sz="2200" dirty="0" smtClean="0">
                <a:latin typeface="Helvetica" pitchFamily="34" charset="0"/>
              </a:rPr>
              <a:t>6.	Clean and polish mirror</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7.	Check under vanity for cleanliness – cobwebs, etc</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8.	Replenish stock – soap, tissues, facial items, shower caps, water</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9.	Replenish towels – bath, face, hand, and floor mats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10. Conduct final check.</a:t>
            </a:r>
            <a:endParaRPr lang="en-AU" sz="2200"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6" name="Picture 5" descr="MP900399796[1].JPG"/>
          <p:cNvPicPr>
            <a:picLocks noChangeAspect="1"/>
          </p:cNvPicPr>
          <p:nvPr/>
        </p:nvPicPr>
        <p:blipFill>
          <a:blip r:embed="rId3" cstate="print"/>
          <a:stretch>
            <a:fillRect/>
          </a:stretch>
        </p:blipFill>
        <p:spPr>
          <a:xfrm>
            <a:off x="5357818" y="4357694"/>
            <a:ext cx="2428892" cy="1618629"/>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bathroom floor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354013" lvl="0" indent="-354013">
              <a:spcBef>
                <a:spcPts val="600"/>
              </a:spcBef>
              <a:spcAft>
                <a:spcPts val="1200"/>
              </a:spcAft>
              <a:buNone/>
            </a:pPr>
            <a:r>
              <a:rPr lang="en-US" sz="2000" dirty="0" smtClean="0">
                <a:latin typeface="Helvetica" pitchFamily="34" charset="0"/>
              </a:rPr>
              <a:t>1.  Remove everything that may be on the bathroom floor such as mats, trash cans, and small pieces of furniture</a:t>
            </a:r>
            <a:endParaRPr lang="en-AU" sz="2000" dirty="0" smtClean="0">
              <a:latin typeface="Helvetica" pitchFamily="34" charset="0"/>
            </a:endParaRPr>
          </a:p>
          <a:p>
            <a:pPr marL="354013" lvl="0" indent="-354013">
              <a:spcBef>
                <a:spcPts val="600"/>
              </a:spcBef>
              <a:spcAft>
                <a:spcPts val="1200"/>
              </a:spcAft>
              <a:buNone/>
            </a:pPr>
            <a:r>
              <a:rPr lang="en-US" sz="2000" dirty="0" smtClean="0">
                <a:latin typeface="Helvetica" pitchFamily="34" charset="0"/>
              </a:rPr>
              <a:t>2.  Sweep the floor to remove dirt, hair, dust, and other debris</a:t>
            </a:r>
            <a:endParaRPr lang="en-AU" sz="2000" dirty="0" smtClean="0">
              <a:latin typeface="Helvetica" pitchFamily="34" charset="0"/>
            </a:endParaRPr>
          </a:p>
          <a:p>
            <a:pPr marL="354013" lvl="0" indent="-354013">
              <a:spcBef>
                <a:spcPts val="600"/>
              </a:spcBef>
              <a:spcAft>
                <a:spcPts val="1200"/>
              </a:spcAft>
              <a:buNone/>
            </a:pPr>
            <a:r>
              <a:rPr lang="en-US" sz="2000" dirty="0" smtClean="0">
                <a:latin typeface="Helvetica" pitchFamily="34" charset="0"/>
              </a:rPr>
              <a:t>3.  Dissolve detergent into warm water using the manufacturer's instructions for the correct water to detergent ratio</a:t>
            </a:r>
            <a:endParaRPr lang="en-AU" sz="2000" dirty="0" smtClean="0">
              <a:latin typeface="Helvetica" pitchFamily="34" charset="0"/>
            </a:endParaRPr>
          </a:p>
          <a:p>
            <a:pPr marL="354013" lvl="0" indent="-354013">
              <a:spcBef>
                <a:spcPts val="600"/>
              </a:spcBef>
              <a:spcAft>
                <a:spcPts val="1200"/>
              </a:spcAft>
              <a:buNone/>
            </a:pPr>
            <a:r>
              <a:rPr lang="en-US" sz="2000" dirty="0" smtClean="0">
                <a:latin typeface="Helvetica" pitchFamily="34" charset="0"/>
              </a:rPr>
              <a:t>4.  Pour the solution over the entire floor so that the solution can fill into the grout lines</a:t>
            </a:r>
            <a:endParaRPr lang="en-AU" sz="2000" dirty="0" smtClean="0">
              <a:latin typeface="Helvetica" pitchFamily="34" charset="0"/>
            </a:endParaRPr>
          </a:p>
          <a:p>
            <a:pPr marL="354013" lvl="0" indent="-354013">
              <a:spcBef>
                <a:spcPts val="600"/>
              </a:spcBef>
              <a:spcAft>
                <a:spcPts val="1200"/>
              </a:spcAft>
              <a:buNone/>
            </a:pPr>
            <a:r>
              <a:rPr lang="en-US" sz="2000" dirty="0" smtClean="0">
                <a:latin typeface="Helvetica" pitchFamily="34" charset="0"/>
              </a:rPr>
              <a:t>5.  Allow the solution to remain on the floor for 15 to 20 minutes</a:t>
            </a:r>
            <a:endParaRPr lang="en-AU" sz="2000" dirty="0" smtClean="0">
              <a:latin typeface="Helvetica" pitchFamily="34" charset="0"/>
            </a:endParaRPr>
          </a:p>
          <a:p>
            <a:pPr marL="354013" lvl="0" indent="-354013">
              <a:spcBef>
                <a:spcPts val="600"/>
              </a:spcBef>
              <a:spcAft>
                <a:spcPts val="1200"/>
              </a:spcAft>
              <a:buNone/>
            </a:pPr>
            <a:r>
              <a:rPr lang="en-US" sz="2000" dirty="0" smtClean="0">
                <a:latin typeface="Helvetica" pitchFamily="34" charset="0"/>
              </a:rPr>
              <a:t>6.  Scrub the grout with a small medium-bristled brush</a:t>
            </a:r>
            <a:endParaRPr lang="en-AU" sz="2000"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bathroom floor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493776" lvl="0" indent="-457200">
              <a:spcBef>
                <a:spcPts val="600"/>
              </a:spcBef>
              <a:spcAft>
                <a:spcPts val="1200"/>
              </a:spcAft>
              <a:buNone/>
            </a:pPr>
            <a:r>
              <a:rPr lang="en-US" sz="2200" dirty="0" smtClean="0">
                <a:latin typeface="Helvetica" pitchFamily="34" charset="0"/>
              </a:rPr>
              <a:t>7.   Rinse the floor with a mop dampened with clean water</a:t>
            </a:r>
            <a:endParaRPr lang="en-AU" sz="2200" dirty="0" smtClean="0">
              <a:latin typeface="Helvetica" pitchFamily="34" charset="0"/>
            </a:endParaRPr>
          </a:p>
          <a:p>
            <a:pPr marL="493776" lvl="0" indent="-457200">
              <a:spcBef>
                <a:spcPts val="600"/>
              </a:spcBef>
              <a:spcAft>
                <a:spcPts val="1200"/>
              </a:spcAft>
              <a:buNone/>
            </a:pPr>
            <a:r>
              <a:rPr lang="en-US" sz="2200" dirty="0" smtClean="0">
                <a:latin typeface="Helvetica" pitchFamily="34" charset="0"/>
              </a:rPr>
              <a:t>8.   Mix a second batch of detergent and water</a:t>
            </a:r>
            <a:endParaRPr lang="en-AU" sz="2200" dirty="0" smtClean="0">
              <a:latin typeface="Helvetica" pitchFamily="34" charset="0"/>
            </a:endParaRPr>
          </a:p>
          <a:p>
            <a:pPr marL="493776" lvl="0" indent="-457200">
              <a:spcBef>
                <a:spcPts val="600"/>
              </a:spcBef>
              <a:spcAft>
                <a:spcPts val="1200"/>
              </a:spcAft>
              <a:buNone/>
            </a:pPr>
            <a:r>
              <a:rPr lang="en-US" sz="2200" dirty="0" smtClean="0">
                <a:latin typeface="Helvetica" pitchFamily="34" charset="0"/>
              </a:rPr>
              <a:t>9.   Mop the entire floor with the fresh solution</a:t>
            </a:r>
            <a:endParaRPr lang="en-AU" sz="2200" dirty="0" smtClean="0">
              <a:latin typeface="Helvetica" pitchFamily="34" charset="0"/>
            </a:endParaRPr>
          </a:p>
          <a:p>
            <a:pPr marL="493776" lvl="0" indent="-457200">
              <a:spcBef>
                <a:spcPts val="600"/>
              </a:spcBef>
              <a:spcAft>
                <a:spcPts val="1200"/>
              </a:spcAft>
              <a:buNone/>
            </a:pPr>
            <a:r>
              <a:rPr lang="en-US" sz="2200" dirty="0" smtClean="0">
                <a:latin typeface="Helvetica" pitchFamily="34" charset="0"/>
              </a:rPr>
              <a:t>10. Rinse the mop with clean water and mop </a:t>
            </a:r>
            <a:br>
              <a:rPr lang="en-US" sz="2200" dirty="0" smtClean="0">
                <a:latin typeface="Helvetica" pitchFamily="34" charset="0"/>
              </a:rPr>
            </a:br>
            <a:r>
              <a:rPr lang="en-US" sz="2200" dirty="0" smtClean="0">
                <a:latin typeface="Helvetica" pitchFamily="34" charset="0"/>
              </a:rPr>
              <a:t>a second time over the floor to rinse it</a:t>
            </a:r>
            <a:endParaRPr lang="en-AU" sz="2200" dirty="0" smtClean="0">
              <a:latin typeface="Helvetica" pitchFamily="34" charset="0"/>
            </a:endParaRPr>
          </a:p>
          <a:p>
            <a:pPr marL="493776" lvl="0" indent="-457200">
              <a:spcBef>
                <a:spcPts val="600"/>
              </a:spcBef>
              <a:spcAft>
                <a:spcPts val="1200"/>
              </a:spcAft>
              <a:buNone/>
            </a:pPr>
            <a:r>
              <a:rPr lang="en-US" sz="2200" dirty="0" smtClean="0">
                <a:latin typeface="Helvetica" pitchFamily="34" charset="0"/>
              </a:rPr>
              <a:t>11. Use a squeegee to push residual                                  moisture to one area of the floor                                          before absorbing it with dry towels.</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4" descr="MP900385501[1].JPG"/>
          <p:cNvPicPr>
            <a:picLocks noChangeAspect="1"/>
          </p:cNvPicPr>
          <p:nvPr/>
        </p:nvPicPr>
        <p:blipFill>
          <a:blip r:embed="rId3" cstate="print"/>
          <a:stretch>
            <a:fillRect/>
          </a:stretch>
        </p:blipFill>
        <p:spPr>
          <a:xfrm>
            <a:off x="6929454" y="2928934"/>
            <a:ext cx="1380757" cy="1933059"/>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Replenishing guest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b="1" dirty="0" smtClean="0">
                <a:latin typeface="Helvetica" pitchFamily="34" charset="0"/>
              </a:rPr>
              <a:t>Bathroom guest supplies:</a:t>
            </a:r>
          </a:p>
          <a:p>
            <a:pPr lvl="0">
              <a:spcBef>
                <a:spcPts val="600"/>
              </a:spcBef>
              <a:spcAft>
                <a:spcPts val="600"/>
              </a:spcAft>
            </a:pPr>
            <a:r>
              <a:rPr lang="en-US" sz="2200" dirty="0" smtClean="0">
                <a:latin typeface="Helvetica" pitchFamily="34" charset="0"/>
              </a:rPr>
              <a:t>Toilet paper and sanitary pads and bags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Tissues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Towels including hand towels, face cloths, bathmats, bath towels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Shampoo</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Conditioner</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Moisturiser</a:t>
            </a:r>
            <a:r>
              <a:rPr lang="en-US" sz="2200" dirty="0" smtClean="0">
                <a:latin typeface="Helvetica" pitchFamily="34" charset="0"/>
              </a:rPr>
              <a:t>.</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6" name="Picture 5" descr="134_3446.JPG"/>
          <p:cNvPicPr/>
          <p:nvPr/>
        </p:nvPicPr>
        <p:blipFill>
          <a:blip r:embed="rId3" cstate="print"/>
          <a:stretch>
            <a:fillRect/>
          </a:stretch>
        </p:blipFill>
        <p:spPr>
          <a:xfrm>
            <a:off x="4572000" y="3857628"/>
            <a:ext cx="2207168" cy="1742311"/>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Replenishing guest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b="1" dirty="0" smtClean="0">
                <a:latin typeface="Helvetica" pitchFamily="34" charset="0"/>
              </a:rPr>
              <a:t>Bathroom guest supplies:</a:t>
            </a:r>
          </a:p>
          <a:p>
            <a:pPr lvl="0">
              <a:spcBef>
                <a:spcPts val="600"/>
              </a:spcBef>
              <a:spcAft>
                <a:spcPts val="600"/>
              </a:spcAft>
            </a:pPr>
            <a:r>
              <a:rPr lang="en-US" sz="2200" dirty="0" smtClean="0">
                <a:latin typeface="Helvetica" pitchFamily="34" charset="0"/>
              </a:rPr>
              <a:t>Hand lotion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Toothbrushes and toothpaste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Make up remover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Combs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Water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Soap</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Perfumes, aftershaves and                                                    other fragrances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Sewing kits.</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5" name="Picture 4" descr="134_3445.JPG"/>
          <p:cNvPicPr/>
          <p:nvPr/>
        </p:nvPicPr>
        <p:blipFill>
          <a:blip r:embed="rId3" cstate="print"/>
          <a:stretch>
            <a:fillRect/>
          </a:stretch>
        </p:blipFill>
        <p:spPr>
          <a:xfrm>
            <a:off x="5857884" y="2714620"/>
            <a:ext cx="2203748" cy="1654879"/>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Final check of bathroom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spcBef>
                <a:spcPts val="600"/>
              </a:spcBef>
              <a:spcAft>
                <a:spcPts val="1200"/>
              </a:spcAft>
              <a:buNone/>
            </a:pPr>
            <a:r>
              <a:rPr lang="en-AU" sz="2200" dirty="0" smtClean="0">
                <a:latin typeface="Helvetica" pitchFamily="34" charset="0"/>
              </a:rPr>
              <a:t>Before leaving the bathroom, do a final check noting the following points:</a:t>
            </a:r>
          </a:p>
          <a:p>
            <a:pPr lvl="0">
              <a:spcBef>
                <a:spcPts val="600"/>
              </a:spcBef>
              <a:spcAft>
                <a:spcPts val="1200"/>
              </a:spcAft>
            </a:pPr>
            <a:r>
              <a:rPr lang="en-US" sz="2200" dirty="0" smtClean="0">
                <a:latin typeface="Helvetica" pitchFamily="34" charset="0"/>
              </a:rPr>
              <a:t>Bathroom looks clean and tidy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Towels and guest supplies have been replenished and stocked accordingly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Toilet paper is well stocked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All appliances are working</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All surfaces are clean and dry.</a:t>
            </a:r>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6" name="Picture 5" descr="MP900411745[1].JPG"/>
          <p:cNvPicPr>
            <a:picLocks noChangeAspect="1"/>
          </p:cNvPicPr>
          <p:nvPr/>
        </p:nvPicPr>
        <p:blipFill>
          <a:blip r:embed="rId3" cstate="print"/>
          <a:stretch>
            <a:fillRect/>
          </a:stretch>
        </p:blipFill>
        <p:spPr>
          <a:xfrm>
            <a:off x="5929322" y="3857628"/>
            <a:ext cx="1997414" cy="1997414"/>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7704" y="1556792"/>
            <a:ext cx="6336704" cy="4680520"/>
          </a:xfrm>
        </p:spPr>
        <p:txBody>
          <a:bodyPr>
            <a:normAutofit/>
          </a:bodyPr>
          <a:lstStyle/>
          <a:p>
            <a:pPr>
              <a:buNone/>
            </a:pPr>
            <a:r>
              <a:rPr lang="en-AU" sz="3200" b="1" dirty="0" smtClean="0">
                <a:solidFill>
                  <a:srgbClr val="FF6600"/>
                </a:solidFill>
              </a:rPr>
              <a:t>Element 5: </a:t>
            </a:r>
            <a:r>
              <a:rPr lang="en-AU" sz="3200" b="1" i="1" dirty="0" smtClean="0">
                <a:solidFill>
                  <a:srgbClr val="FF6600"/>
                </a:solidFill>
              </a:rPr>
              <a:t>Clean room</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6" name="Picture 5" descr="MP900408879[1].JPG"/>
          <p:cNvPicPr>
            <a:picLocks noChangeAspect="1"/>
          </p:cNvPicPr>
          <p:nvPr/>
        </p:nvPicPr>
        <p:blipFill>
          <a:blip r:embed="rId3" cstate="print"/>
          <a:stretch>
            <a:fillRect/>
          </a:stretch>
        </p:blipFill>
        <p:spPr>
          <a:xfrm>
            <a:off x="3059832" y="3068960"/>
            <a:ext cx="2420888" cy="2420888"/>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Follow in-house requirements and policies in relation to room cleaning</a:t>
            </a:r>
          </a:p>
          <a:p>
            <a:pPr>
              <a:spcBef>
                <a:spcPts val="600"/>
              </a:spcBef>
              <a:spcAft>
                <a:spcPts val="1200"/>
              </a:spcAft>
            </a:pPr>
            <a:r>
              <a:rPr lang="en-AU" sz="2200" dirty="0" smtClean="0">
                <a:latin typeface="Helvetica" pitchFamily="34" charset="0"/>
              </a:rPr>
              <a:t>Clean fixtures and fittings</a:t>
            </a:r>
          </a:p>
          <a:p>
            <a:pPr>
              <a:spcBef>
                <a:spcPts val="600"/>
              </a:spcBef>
              <a:spcAft>
                <a:spcPts val="1200"/>
              </a:spcAft>
            </a:pPr>
            <a:r>
              <a:rPr lang="en-AU" sz="2200" dirty="0" smtClean="0">
                <a:latin typeface="Helvetica" pitchFamily="34" charset="0"/>
              </a:rPr>
              <a:t>Vacuum floors and other areas</a:t>
            </a:r>
          </a:p>
          <a:p>
            <a:pPr>
              <a:spcBef>
                <a:spcPts val="600"/>
              </a:spcBef>
              <a:spcAft>
                <a:spcPts val="1200"/>
              </a:spcAft>
            </a:pPr>
            <a:r>
              <a:rPr lang="en-AU" sz="2200" dirty="0" smtClean="0">
                <a:latin typeface="Helvetica" pitchFamily="34" charset="0"/>
              </a:rPr>
              <a:t>Clean kitchenette area, where applicable.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7" name="Picture 6" descr="MP900439268[1].JPG"/>
          <p:cNvPicPr>
            <a:picLocks noChangeAspect="1"/>
          </p:cNvPicPr>
          <p:nvPr/>
        </p:nvPicPr>
        <p:blipFill>
          <a:blip r:embed="rId3" cstate="print"/>
          <a:stretch>
            <a:fillRect/>
          </a:stretch>
        </p:blipFill>
        <p:spPr>
          <a:xfrm>
            <a:off x="6215074" y="2786058"/>
            <a:ext cx="1843708" cy="1213336"/>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Replenish guest supplies</a:t>
            </a:r>
          </a:p>
          <a:p>
            <a:pPr>
              <a:spcBef>
                <a:spcPts val="600"/>
              </a:spcBef>
              <a:spcAft>
                <a:spcPts val="1200"/>
              </a:spcAft>
            </a:pPr>
            <a:r>
              <a:rPr lang="en-AU" sz="2200" dirty="0" smtClean="0">
                <a:latin typeface="Helvetica" pitchFamily="34" charset="0"/>
              </a:rPr>
              <a:t>Check operational readiness of all items and equipment</a:t>
            </a:r>
          </a:p>
          <a:p>
            <a:pPr>
              <a:spcBef>
                <a:spcPts val="600"/>
              </a:spcBef>
              <a:spcAft>
                <a:spcPts val="1200"/>
              </a:spcAft>
            </a:pPr>
            <a:r>
              <a:rPr lang="en-AU" sz="2200" dirty="0" smtClean="0">
                <a:latin typeface="Helvetica" pitchFamily="34" charset="0"/>
              </a:rPr>
              <a:t>Report and remedy room defects and damaged items</a:t>
            </a:r>
          </a:p>
          <a:p>
            <a:pPr>
              <a:spcBef>
                <a:spcPts val="600"/>
              </a:spcBef>
              <a:spcAft>
                <a:spcPts val="1200"/>
              </a:spcAft>
            </a:pPr>
            <a:r>
              <a:rPr lang="en-AU" sz="2200" dirty="0" smtClean="0">
                <a:latin typeface="Helvetica" pitchFamily="34" charset="0"/>
              </a:rPr>
              <a:t>Report suspicious items or situations</a:t>
            </a:r>
          </a:p>
          <a:p>
            <a:pPr>
              <a:spcBef>
                <a:spcPts val="600"/>
              </a:spcBef>
              <a:spcAft>
                <a:spcPts val="1200"/>
              </a:spcAft>
            </a:pPr>
            <a:r>
              <a:rPr lang="en-AU" sz="2200" dirty="0" smtClean="0">
                <a:latin typeface="Helvetica" pitchFamily="34" charset="0"/>
              </a:rPr>
              <a:t>Handle guest property left in room                                  from which guest departed.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5" name="Picture 4" descr="MP900442650[1].JPG"/>
          <p:cNvPicPr>
            <a:picLocks noChangeAspect="1"/>
          </p:cNvPicPr>
          <p:nvPr/>
        </p:nvPicPr>
        <p:blipFill>
          <a:blip r:embed="rId3" cstate="print"/>
          <a:stretch>
            <a:fillRect/>
          </a:stretch>
        </p:blipFill>
        <p:spPr>
          <a:xfrm>
            <a:off x="6223012" y="4653136"/>
            <a:ext cx="2281279" cy="1474098"/>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Protocol for cleaning a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fontScale="77500" lnSpcReduction="20000"/>
          </a:bodyPr>
          <a:lstStyle/>
          <a:p>
            <a:pPr marL="0" indent="0">
              <a:lnSpc>
                <a:spcPct val="120000"/>
              </a:lnSpc>
              <a:spcBef>
                <a:spcPts val="600"/>
              </a:spcBef>
              <a:spcAft>
                <a:spcPts val="600"/>
              </a:spcAft>
              <a:buNone/>
            </a:pPr>
            <a:r>
              <a:rPr lang="en-AU" sz="2400" dirty="0" smtClean="0">
                <a:latin typeface="Helvetica" pitchFamily="34" charset="0"/>
              </a:rPr>
              <a:t>Where your premises vary from these, adhere to house policy:</a:t>
            </a:r>
          </a:p>
          <a:p>
            <a:pPr>
              <a:lnSpc>
                <a:spcPct val="110000"/>
              </a:lnSpc>
              <a:spcAft>
                <a:spcPts val="600"/>
              </a:spcAft>
              <a:buNone/>
            </a:pPr>
            <a:r>
              <a:rPr lang="en-GB" sz="2400" dirty="0" smtClean="0">
                <a:latin typeface="Helvetica" pitchFamily="34" charset="0"/>
              </a:rPr>
              <a:t>1.	Enter and prepare room </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2.	Strip and make bed </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3.	Clear and clean bathroom </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4.	Replenish all bathroom supplies</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5.	Dust and polish</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6.	Replenish guest supplies</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7.	Clean bins</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8.	Clean fridge</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9.	Vacuum</a:t>
            </a:r>
            <a:endParaRPr lang="en-AU" sz="2400" dirty="0" smtClean="0">
              <a:latin typeface="Helvetica" pitchFamily="34" charset="0"/>
            </a:endParaRPr>
          </a:p>
          <a:p>
            <a:pPr>
              <a:lnSpc>
                <a:spcPct val="110000"/>
              </a:lnSpc>
              <a:spcAft>
                <a:spcPts val="600"/>
              </a:spcAft>
              <a:buNone/>
            </a:pPr>
            <a:r>
              <a:rPr lang="en-GB" sz="2400" dirty="0" smtClean="0">
                <a:latin typeface="Helvetica" pitchFamily="34" charset="0"/>
              </a:rPr>
              <a:t>10. Deodorise</a:t>
            </a:r>
            <a:endParaRPr lang="en-AU" sz="2400" dirty="0" smtClean="0">
              <a:latin typeface="Helvetica" pitchFamily="34" charset="0"/>
            </a:endParaRPr>
          </a:p>
          <a:p>
            <a:pPr>
              <a:lnSpc>
                <a:spcPct val="110000"/>
              </a:lnSpc>
              <a:spcAft>
                <a:spcPts val="600"/>
              </a:spcAft>
              <a:buNone/>
            </a:pPr>
            <a:r>
              <a:rPr lang="en-AU" sz="2400" dirty="0" smtClean="0">
                <a:latin typeface="Helvetica" pitchFamily="34" charset="0"/>
              </a:rPr>
              <a:t>11. Do a final inspection.</a:t>
            </a:r>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6" name="Picture 5" descr="MP900314372[1].JPG"/>
          <p:cNvPicPr>
            <a:picLocks noChangeAspect="1"/>
          </p:cNvPicPr>
          <p:nvPr/>
        </p:nvPicPr>
        <p:blipFill>
          <a:blip r:embed="rId3" cstate="print"/>
          <a:stretch>
            <a:fillRect/>
          </a:stretch>
        </p:blipFill>
        <p:spPr>
          <a:xfrm>
            <a:off x="6314788" y="2143116"/>
            <a:ext cx="1482577" cy="3143272"/>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Protocol for cleaning a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latin typeface="Helvetica" pitchFamily="34" charset="0"/>
              </a:rPr>
              <a:t>Protocols when cleaning an occupied room</a:t>
            </a:r>
          </a:p>
          <a:p>
            <a:pPr lvl="0">
              <a:spcBef>
                <a:spcPts val="600"/>
              </a:spcBef>
              <a:spcAft>
                <a:spcPts val="1200"/>
              </a:spcAft>
            </a:pPr>
            <a:r>
              <a:rPr lang="en-US" sz="2000" dirty="0" smtClean="0">
                <a:latin typeface="Helvetica" pitchFamily="34" charset="0"/>
              </a:rPr>
              <a:t>Never throw out any items like magazines and newspapers belonging to the guest</a:t>
            </a:r>
          </a:p>
          <a:p>
            <a:pPr lvl="0">
              <a:spcBef>
                <a:spcPts val="600"/>
              </a:spcBef>
              <a:spcAft>
                <a:spcPts val="1200"/>
              </a:spcAft>
            </a:pPr>
            <a:r>
              <a:rPr lang="en-US" sz="2000" dirty="0" smtClean="0">
                <a:latin typeface="Helvetica" pitchFamily="34" charset="0"/>
              </a:rPr>
              <a:t>If business papers are out on the desk or table and obviously being used, avoid cleaning or tidying that area</a:t>
            </a:r>
            <a:endParaRPr lang="en-AU" sz="2000" dirty="0" smtClean="0">
              <a:latin typeface="Helvetica" pitchFamily="34" charset="0"/>
            </a:endParaRPr>
          </a:p>
          <a:p>
            <a:pPr lvl="0">
              <a:spcBef>
                <a:spcPts val="600"/>
              </a:spcBef>
              <a:spcAft>
                <a:spcPts val="1200"/>
              </a:spcAft>
            </a:pPr>
            <a:r>
              <a:rPr lang="en-US" sz="2000" dirty="0" smtClean="0">
                <a:latin typeface="Helvetica" pitchFamily="34" charset="0"/>
              </a:rPr>
              <a:t>Respect the guest’s privacy and don’t be nosy</a:t>
            </a:r>
            <a:endParaRPr lang="en-AU" sz="2000" dirty="0" smtClean="0">
              <a:latin typeface="Helvetica" pitchFamily="34" charset="0"/>
            </a:endParaRPr>
          </a:p>
          <a:p>
            <a:pPr lvl="0">
              <a:spcBef>
                <a:spcPts val="600"/>
              </a:spcBef>
              <a:spcAft>
                <a:spcPts val="1200"/>
              </a:spcAft>
            </a:pPr>
            <a:r>
              <a:rPr lang="en-US" sz="2000" dirty="0" smtClean="0">
                <a:latin typeface="Helvetica" pitchFamily="34" charset="0"/>
              </a:rPr>
              <a:t>Take special care with all guest’s items</a:t>
            </a:r>
            <a:endParaRPr lang="en-AU" sz="2000" dirty="0" smtClean="0">
              <a:latin typeface="Helvetica" pitchFamily="34" charset="0"/>
            </a:endParaRPr>
          </a:p>
          <a:p>
            <a:pPr lvl="0">
              <a:spcBef>
                <a:spcPts val="600"/>
              </a:spcBef>
              <a:spcAft>
                <a:spcPts val="1200"/>
              </a:spcAft>
            </a:pPr>
            <a:r>
              <a:rPr lang="en-US" sz="2000" dirty="0" smtClean="0">
                <a:latin typeface="Helvetica" pitchFamily="34" charset="0"/>
              </a:rPr>
              <a:t>Hang guest’s clothing up appropriately</a:t>
            </a:r>
            <a:endParaRPr lang="en-AU" sz="2000" dirty="0" smtClean="0">
              <a:latin typeface="Helvetica" pitchFamily="34" charset="0"/>
            </a:endParaRPr>
          </a:p>
          <a:p>
            <a:pPr>
              <a:spcBef>
                <a:spcPts val="600"/>
              </a:spcBef>
              <a:spcAft>
                <a:spcPts val="1200"/>
              </a:spcAft>
            </a:pPr>
            <a:r>
              <a:rPr lang="en-AU" sz="2000" dirty="0" smtClean="0">
                <a:latin typeface="Helvetica" pitchFamily="34" charset="0"/>
              </a:rPr>
              <a:t>All cloths used in cleaning should be housekeeping issued – room towels and linen should never be used for cleaning.</a:t>
            </a:r>
          </a:p>
          <a:p>
            <a:pPr marL="0">
              <a:spcBef>
                <a:spcPts val="600"/>
              </a:spcBef>
              <a:spcAft>
                <a:spcPts val="12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furniture, fixtures and fittings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600"/>
              </a:spcAft>
              <a:buNone/>
            </a:pPr>
            <a:r>
              <a:rPr lang="en-AU" sz="2200" dirty="0" smtClean="0">
                <a:latin typeface="Helvetica" pitchFamily="34" charset="0"/>
              </a:rPr>
              <a:t>All rooms will have furniture, fixtures and fittings to some extent.</a:t>
            </a:r>
          </a:p>
          <a:p>
            <a:pPr>
              <a:spcBef>
                <a:spcPts val="600"/>
              </a:spcBef>
              <a:spcAft>
                <a:spcPts val="600"/>
              </a:spcAft>
            </a:pPr>
            <a:r>
              <a:rPr lang="en-AU" sz="2200" b="1" dirty="0" smtClean="0">
                <a:latin typeface="Helvetica" pitchFamily="34" charset="0"/>
              </a:rPr>
              <a:t>Furniture</a:t>
            </a:r>
            <a:r>
              <a:rPr lang="en-AU" sz="2200" dirty="0" smtClean="0">
                <a:latin typeface="Helvetica" pitchFamily="34" charset="0"/>
              </a:rPr>
              <a:t> commonly refers to items in the room that are movable including beds, couches, desks, television, clock radios etc</a:t>
            </a:r>
          </a:p>
          <a:p>
            <a:pPr>
              <a:spcBef>
                <a:spcPts val="600"/>
              </a:spcBef>
              <a:spcAft>
                <a:spcPts val="600"/>
              </a:spcAft>
            </a:pPr>
            <a:r>
              <a:rPr lang="en-AU" sz="2200" b="1" dirty="0" smtClean="0">
                <a:latin typeface="Helvetica" pitchFamily="34" charset="0"/>
              </a:rPr>
              <a:t>Fixtures</a:t>
            </a:r>
            <a:r>
              <a:rPr lang="en-AU" sz="2200" dirty="0" smtClean="0">
                <a:latin typeface="Helvetica" pitchFamily="34" charset="0"/>
              </a:rPr>
              <a:t> refer to items that are attached that are used by the guest including air conditioners, light controls </a:t>
            </a:r>
          </a:p>
          <a:p>
            <a:pPr>
              <a:spcBef>
                <a:spcPts val="600"/>
              </a:spcBef>
              <a:spcAft>
                <a:spcPts val="600"/>
              </a:spcAft>
            </a:pPr>
            <a:r>
              <a:rPr lang="en-AU" sz="2200" b="1" dirty="0" smtClean="0">
                <a:latin typeface="Helvetica" pitchFamily="34" charset="0"/>
              </a:rPr>
              <a:t>Fittings</a:t>
            </a:r>
            <a:r>
              <a:rPr lang="en-AU" sz="2200" dirty="0" smtClean="0">
                <a:latin typeface="Helvetica" pitchFamily="34" charset="0"/>
              </a:rPr>
              <a:t> refers to taps, pipes and electrical aspects of the room.</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5" name="Picture 4" descr="MP900431690[1].JPG"/>
          <p:cNvPicPr/>
          <p:nvPr/>
        </p:nvPicPr>
        <p:blipFill>
          <a:blip r:embed="rId3" cstate="print"/>
          <a:stretch>
            <a:fillRect/>
          </a:stretch>
        </p:blipFill>
        <p:spPr>
          <a:xfrm>
            <a:off x="3585528" y="5072074"/>
            <a:ext cx="1972945" cy="1314450"/>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Dusting and polishing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dirty="0" smtClean="0">
                <a:latin typeface="Helvetica" pitchFamily="34" charset="0"/>
              </a:rPr>
              <a:t>The main purpose of dusting and polishing is to:</a:t>
            </a:r>
          </a:p>
          <a:p>
            <a:pPr>
              <a:spcBef>
                <a:spcPts val="600"/>
              </a:spcBef>
              <a:spcAft>
                <a:spcPts val="600"/>
              </a:spcAft>
            </a:pPr>
            <a:r>
              <a:rPr lang="en-AU" sz="2200" dirty="0" smtClean="0">
                <a:latin typeface="Helvetica" pitchFamily="34" charset="0"/>
              </a:rPr>
              <a:t>Collect small particles of dust</a:t>
            </a:r>
          </a:p>
          <a:p>
            <a:pPr>
              <a:spcBef>
                <a:spcPts val="600"/>
              </a:spcBef>
              <a:spcAft>
                <a:spcPts val="600"/>
              </a:spcAft>
            </a:pPr>
            <a:r>
              <a:rPr lang="en-AU" sz="2200" dirty="0" smtClean="0">
                <a:latin typeface="Helvetica" pitchFamily="34" charset="0"/>
              </a:rPr>
              <a:t>Clean the item and leave a shiny, reflecting finish.</a:t>
            </a:r>
          </a:p>
          <a:p>
            <a:pPr>
              <a:spcBef>
                <a:spcPts val="600"/>
              </a:spcBef>
              <a:spcAft>
                <a:spcPts val="600"/>
              </a:spcAft>
              <a:buNone/>
            </a:pPr>
            <a:r>
              <a:rPr lang="en-AU" sz="2200" dirty="0" smtClean="0">
                <a:latin typeface="Helvetica" pitchFamily="34" charset="0"/>
              </a:rPr>
              <a:t>When polishing an item, make sure to:</a:t>
            </a:r>
          </a:p>
          <a:p>
            <a:pPr lvl="0">
              <a:spcBef>
                <a:spcPts val="600"/>
              </a:spcBef>
              <a:spcAft>
                <a:spcPts val="600"/>
              </a:spcAft>
            </a:pPr>
            <a:r>
              <a:rPr lang="en-US" sz="2200" dirty="0" smtClean="0">
                <a:latin typeface="Helvetica" pitchFamily="34" charset="0"/>
              </a:rPr>
              <a:t>Spray the cleaning agent onto the cloth -                        not onto the surface to be cleaned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Buff the surface after cleaning to                                      remove any streaks</a:t>
            </a:r>
            <a:endParaRPr lang="en-AU" sz="2200" dirty="0" smtClean="0">
              <a:latin typeface="Helvetica" pitchFamily="34" charset="0"/>
            </a:endParaRPr>
          </a:p>
          <a:p>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6" name="Picture 5" descr="MP900341784[1].JPG"/>
          <p:cNvPicPr>
            <a:picLocks noChangeAspect="1"/>
          </p:cNvPicPr>
          <p:nvPr/>
        </p:nvPicPr>
        <p:blipFill>
          <a:blip r:embed="rId3" cstate="print"/>
          <a:stretch>
            <a:fillRect/>
          </a:stretch>
        </p:blipFill>
        <p:spPr>
          <a:xfrm>
            <a:off x="6858016" y="3357562"/>
            <a:ext cx="1273165" cy="1784810"/>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Dusting and polishing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600"/>
              </a:spcAft>
              <a:buNone/>
            </a:pPr>
            <a:r>
              <a:rPr lang="en-AU" sz="2200" dirty="0" smtClean="0">
                <a:latin typeface="Helvetica" pitchFamily="34" charset="0"/>
              </a:rPr>
              <a:t>Items to dust and polish:</a:t>
            </a:r>
          </a:p>
          <a:p>
            <a:pPr lvl="0">
              <a:spcBef>
                <a:spcPts val="600"/>
              </a:spcBef>
              <a:spcAft>
                <a:spcPts val="600"/>
              </a:spcAft>
            </a:pPr>
            <a:r>
              <a:rPr lang="en-US" sz="2200" dirty="0" smtClean="0">
                <a:latin typeface="Helvetica" pitchFamily="34" charset="0"/>
              </a:rPr>
              <a:t>Air conditioning vents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Doors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Picture frames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Mirrors – frame and mirror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Skirting boards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Dressing table and drawers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Side tables and ledges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Wardrobe and internal shelving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Windows – glass and frames.</a:t>
            </a:r>
            <a:endParaRPr lang="en-AU" sz="2200" dirty="0" smtClean="0">
              <a:latin typeface="Helvetica" pitchFamily="34" charset="0"/>
            </a:endParaRPr>
          </a:p>
          <a:p>
            <a:pPr>
              <a:spcBef>
                <a:spcPts val="600"/>
              </a:spcBef>
              <a:spcAft>
                <a:spcPts val="600"/>
              </a:spcAft>
              <a:buNone/>
            </a:pPr>
            <a:endParaRPr lang="en-AU" sz="2200" dirty="0" smtClean="0">
              <a:latin typeface="Helvetica" pitchFamily="34" charset="0"/>
            </a:endParaRPr>
          </a:p>
          <a:p>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9218" name="Picture 2" descr="C:\Documents and Settings\danielc\Local Settings\Temporary Internet Files\Content.IE5\M0QL8DHR\MP900386134[1].jpg"/>
          <p:cNvPicPr>
            <a:picLocks noChangeAspect="1" noChangeArrowheads="1"/>
          </p:cNvPicPr>
          <p:nvPr/>
        </p:nvPicPr>
        <p:blipFill>
          <a:blip r:embed="rId3" cstate="print"/>
          <a:srcRect/>
          <a:stretch>
            <a:fillRect/>
          </a:stretch>
        </p:blipFill>
        <p:spPr bwMode="auto">
          <a:xfrm>
            <a:off x="6000760" y="1643050"/>
            <a:ext cx="1989674" cy="3014658"/>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Dusting and polishing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dirty="0" smtClean="0">
                <a:latin typeface="Helvetica" pitchFamily="34" charset="0"/>
              </a:rPr>
              <a:t>Items to dust and polish:</a:t>
            </a:r>
          </a:p>
          <a:p>
            <a:pPr lvl="0">
              <a:spcBef>
                <a:spcPts val="600"/>
              </a:spcBef>
              <a:spcAft>
                <a:spcPts val="600"/>
              </a:spcAft>
            </a:pPr>
            <a:r>
              <a:rPr lang="en-US" sz="2200" dirty="0" smtClean="0">
                <a:latin typeface="Helvetica" pitchFamily="34" charset="0"/>
              </a:rPr>
              <a:t>Window sills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Walls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Lamps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Telephone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Seat furniture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All furniture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Outside/balcony areas.</a:t>
            </a:r>
            <a:endParaRPr lang="en-AU" sz="2200" dirty="0" smtClean="0">
              <a:latin typeface="Helvetica" pitchFamily="34" charset="0"/>
            </a:endParaRPr>
          </a:p>
          <a:p>
            <a:pPr>
              <a:spcBef>
                <a:spcPts val="600"/>
              </a:spcBef>
              <a:spcAft>
                <a:spcPts val="600"/>
              </a:spcAft>
              <a:buNone/>
            </a:pPr>
            <a:endParaRPr lang="en-AU" sz="2200" dirty="0" smtClean="0">
              <a:latin typeface="Helvetica" pitchFamily="34" charset="0"/>
            </a:endParaRPr>
          </a:p>
          <a:p>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5" name="Picture 4" descr="MP900448314[1].JPG"/>
          <p:cNvPicPr>
            <a:picLocks noChangeAspect="1"/>
          </p:cNvPicPr>
          <p:nvPr/>
        </p:nvPicPr>
        <p:blipFill>
          <a:blip r:embed="rId3" cstate="print"/>
          <a:stretch>
            <a:fillRect/>
          </a:stretch>
        </p:blipFill>
        <p:spPr>
          <a:xfrm>
            <a:off x="4786314" y="2428868"/>
            <a:ext cx="3275856" cy="2183904"/>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bins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US" sz="2200" dirty="0" smtClean="0">
                <a:latin typeface="Helvetica" pitchFamily="34" charset="0"/>
              </a:rPr>
              <a:t>Waste bins should be properly cleaned by: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Tying the bin liner around the rubbish or emptying the bin directly into your waste bag on the trolley. Remove larger and non-dangerous by hand to facilitate this process where applicable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Spraying bin with appropriate multi-purpose cleaner, inside and out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Cleaning with the appropriate cloth</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Fitting a new bin liner.</a:t>
            </a:r>
          </a:p>
          <a:p>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6" name="Picture 5" descr="MP900403047[1].JPG"/>
          <p:cNvPicPr/>
          <p:nvPr/>
        </p:nvPicPr>
        <p:blipFill>
          <a:blip r:embed="rId3" cstate="print"/>
          <a:stretch>
            <a:fillRect/>
          </a:stretch>
        </p:blipFill>
        <p:spPr>
          <a:xfrm>
            <a:off x="6286512" y="4429132"/>
            <a:ext cx="1343025" cy="895350"/>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Vacuum floors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buNone/>
            </a:pPr>
            <a:r>
              <a:rPr lang="en-AU" sz="2200" dirty="0" smtClean="0">
                <a:latin typeface="Helvetica" pitchFamily="34" charset="0"/>
              </a:rPr>
              <a:t>All carpeted areas should be vacuumed and many non-carpeted areas including wooden floors, tiled bathroom area, linoleum floors in kitchenette may also require vacuuming. </a:t>
            </a:r>
          </a:p>
          <a:p>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10242" name="Picture 2" descr="C:\Documents and Settings\danielc\Local Settings\Temporary Internet Files\Content.IE5\WOYKSSHU\MC900336237[1].wmf"/>
          <p:cNvPicPr>
            <a:picLocks noChangeAspect="1" noChangeArrowheads="1"/>
          </p:cNvPicPr>
          <p:nvPr/>
        </p:nvPicPr>
        <p:blipFill>
          <a:blip r:embed="rId3" cstate="print"/>
          <a:srcRect/>
          <a:stretch>
            <a:fillRect/>
          </a:stretch>
        </p:blipFill>
        <p:spPr bwMode="auto">
          <a:xfrm>
            <a:off x="3361404" y="3429000"/>
            <a:ext cx="2421193" cy="2430438"/>
          </a:xfrm>
          <a:prstGeom prst="rect">
            <a:avLst/>
          </a:prstGeom>
          <a:noFill/>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Vacuum floors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600"/>
              </a:spcAft>
              <a:buNone/>
            </a:pPr>
            <a:r>
              <a:rPr lang="en-AU" sz="2200" dirty="0" smtClean="0">
                <a:latin typeface="Helvetica" pitchFamily="34" charset="0"/>
              </a:rPr>
              <a:t>Vacuuming tips:</a:t>
            </a:r>
          </a:p>
          <a:p>
            <a:pPr>
              <a:spcBef>
                <a:spcPts val="600"/>
              </a:spcBef>
              <a:spcAft>
                <a:spcPts val="600"/>
              </a:spcAft>
            </a:pPr>
            <a:r>
              <a:rPr lang="en-AU" sz="2200" dirty="0" smtClean="0">
                <a:latin typeface="Helvetica" pitchFamily="34" charset="0"/>
              </a:rPr>
              <a:t>Try to vacuum the room starting at the furthest corner from the door and work back toward the exit</a:t>
            </a:r>
          </a:p>
          <a:p>
            <a:pPr>
              <a:spcBef>
                <a:spcPts val="600"/>
              </a:spcBef>
              <a:spcAft>
                <a:spcPts val="600"/>
              </a:spcAft>
            </a:pPr>
            <a:r>
              <a:rPr lang="en-AU" sz="2200" dirty="0" smtClean="0">
                <a:latin typeface="Helvetica" pitchFamily="34" charset="0"/>
              </a:rPr>
              <a:t>Ensure you vacuum around and under </a:t>
            </a:r>
            <a:r>
              <a:rPr lang="en-AU" sz="2200" i="1" dirty="0" smtClean="0">
                <a:latin typeface="Helvetica" pitchFamily="34" charset="0"/>
              </a:rPr>
              <a:t>all </a:t>
            </a:r>
            <a:r>
              <a:rPr lang="en-AU" sz="2200" dirty="0" smtClean="0">
                <a:latin typeface="Helvetica" pitchFamily="34" charset="0"/>
              </a:rPr>
              <a:t>furniture, and under the bed</a:t>
            </a:r>
          </a:p>
          <a:p>
            <a:pPr>
              <a:spcBef>
                <a:spcPts val="600"/>
              </a:spcBef>
              <a:spcAft>
                <a:spcPts val="600"/>
              </a:spcAft>
            </a:pPr>
            <a:r>
              <a:rPr lang="en-AU" sz="2200" dirty="0" smtClean="0">
                <a:latin typeface="Helvetica" pitchFamily="34" charset="0"/>
              </a:rPr>
              <a:t>Particular attention should be placed on the corners of the room, including the skirting boards</a:t>
            </a:r>
          </a:p>
          <a:p>
            <a:pPr>
              <a:spcBef>
                <a:spcPts val="600"/>
              </a:spcBef>
              <a:spcAft>
                <a:spcPts val="600"/>
              </a:spcAft>
            </a:pPr>
            <a:r>
              <a:rPr lang="en-AU" sz="2200" dirty="0" smtClean="0">
                <a:latin typeface="Helvetica" pitchFamily="34" charset="0"/>
              </a:rPr>
              <a:t>bend your knees when cleaning under items</a:t>
            </a:r>
          </a:p>
          <a:p>
            <a:pPr>
              <a:spcBef>
                <a:spcPts val="600"/>
              </a:spcBef>
              <a:spcAft>
                <a:spcPts val="600"/>
              </a:spcAft>
            </a:pPr>
            <a:r>
              <a:rPr lang="en-AU" sz="2200" dirty="0" smtClean="0">
                <a:latin typeface="Helvetica" pitchFamily="34" charset="0"/>
              </a:rPr>
              <a:t>Try to avoid ‘bending over’ the machine.</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6" name="Picture 5" descr="MP900387601[1].JPG"/>
          <p:cNvPicPr>
            <a:picLocks noChangeAspect="1"/>
          </p:cNvPicPr>
          <p:nvPr/>
        </p:nvPicPr>
        <p:blipFill>
          <a:blip r:embed="rId3" cstate="print"/>
          <a:stretch>
            <a:fillRect/>
          </a:stretch>
        </p:blipFill>
        <p:spPr>
          <a:xfrm>
            <a:off x="6643702" y="4214818"/>
            <a:ext cx="2030691" cy="1448560"/>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 kitchenette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lvl="0">
              <a:spcBef>
                <a:spcPts val="600"/>
              </a:spcBef>
              <a:spcAft>
                <a:spcPts val="1200"/>
              </a:spcAft>
              <a:buNone/>
            </a:pPr>
            <a:r>
              <a:rPr lang="en-US" sz="2200" b="1" dirty="0" smtClean="0">
                <a:latin typeface="Helvetica" pitchFamily="34" charset="0"/>
              </a:rPr>
              <a:t>Kitchenette items</a:t>
            </a:r>
          </a:p>
          <a:p>
            <a:pPr lvl="0">
              <a:spcBef>
                <a:spcPts val="600"/>
              </a:spcBef>
              <a:spcAft>
                <a:spcPts val="1200"/>
              </a:spcAft>
            </a:pPr>
            <a:r>
              <a:rPr lang="en-US" sz="2200" dirty="0" smtClean="0">
                <a:latin typeface="Helvetica" pitchFamily="34" charset="0"/>
              </a:rPr>
              <a:t>Refrigerator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Stove &amp; Oven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Microwave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Dishwasher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Tea and coffee making facilities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Pots and Pans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Crockery and cutlery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Washer and dryer.</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7" name="Picture 6" descr="MP900439268[1].JPG"/>
          <p:cNvPicPr>
            <a:picLocks noChangeAspect="1"/>
          </p:cNvPicPr>
          <p:nvPr/>
        </p:nvPicPr>
        <p:blipFill>
          <a:blip r:embed="rId3" cstate="print"/>
          <a:stretch>
            <a:fillRect/>
          </a:stretch>
        </p:blipFill>
        <p:spPr>
          <a:xfrm>
            <a:off x="5286380" y="2500306"/>
            <a:ext cx="2388159" cy="1571636"/>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refrigerator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lvl="0">
              <a:spcBef>
                <a:spcPts val="600"/>
              </a:spcBef>
              <a:spcAft>
                <a:spcPts val="600"/>
              </a:spcAft>
            </a:pPr>
            <a:r>
              <a:rPr lang="en-US" sz="2200" dirty="0" smtClean="0">
                <a:latin typeface="Helvetica" pitchFamily="34" charset="0"/>
              </a:rPr>
              <a:t>Clean the inside of the refrigerator, including seals, with either hot soapy water or a designated spray-on cleaner.</a:t>
            </a:r>
          </a:p>
          <a:p>
            <a:pPr lvl="0">
              <a:spcBef>
                <a:spcPts val="600"/>
              </a:spcBef>
              <a:spcAft>
                <a:spcPts val="600"/>
              </a:spcAft>
            </a:pPr>
            <a:r>
              <a:rPr lang="en-US" sz="2200" dirty="0" smtClean="0">
                <a:latin typeface="Helvetica" pitchFamily="34" charset="0"/>
              </a:rPr>
              <a:t>Dry with a cloth when the cleaning has been done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Make sure food products and glasses are protected</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Replenish cold water in jugs, milk sachets and ice trays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Switch refrigerator back on if it has been turned off prior to cleaning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Check the refrigerator door seals for splits and cracks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Report items needing repair. </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stove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4824536"/>
          </a:xfrm>
        </p:spPr>
        <p:txBody>
          <a:bodyPr>
            <a:normAutofit fontScale="92500"/>
          </a:bodyPr>
          <a:lstStyle/>
          <a:p>
            <a:pPr>
              <a:spcBef>
                <a:spcPts val="600"/>
              </a:spcBef>
              <a:spcAft>
                <a:spcPts val="600"/>
              </a:spcAft>
              <a:buNone/>
            </a:pPr>
            <a:r>
              <a:rPr lang="en-AU" sz="2200" b="1" dirty="0" smtClean="0">
                <a:latin typeface="Helvetica" pitchFamily="34" charset="0"/>
              </a:rPr>
              <a:t>For a gas stove: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Remove burner caps, grates, and control knobs</a:t>
            </a:r>
          </a:p>
          <a:p>
            <a:pPr lvl="0">
              <a:spcBef>
                <a:spcPts val="600"/>
              </a:spcBef>
              <a:spcAft>
                <a:spcPts val="600"/>
              </a:spcAft>
            </a:pPr>
            <a:r>
              <a:rPr lang="en-AU" sz="2200" dirty="0" smtClean="0">
                <a:latin typeface="Helvetica" pitchFamily="34" charset="0"/>
              </a:rPr>
              <a:t>Put them in your sink filled with very hot water and dish soap</a:t>
            </a:r>
          </a:p>
          <a:p>
            <a:pPr lvl="0">
              <a:spcBef>
                <a:spcPts val="600"/>
              </a:spcBef>
              <a:spcAft>
                <a:spcPts val="600"/>
              </a:spcAft>
            </a:pPr>
            <a:r>
              <a:rPr lang="en-AU" sz="2200" dirty="0" smtClean="0">
                <a:latin typeface="Helvetica" pitchFamily="34" charset="0"/>
              </a:rPr>
              <a:t>As these soak, dip a scrubbing sponge into the sink water and wring</a:t>
            </a:r>
          </a:p>
          <a:p>
            <a:pPr lvl="0">
              <a:spcBef>
                <a:spcPts val="600"/>
              </a:spcBef>
              <a:spcAft>
                <a:spcPts val="600"/>
              </a:spcAft>
            </a:pPr>
            <a:r>
              <a:rPr lang="en-AU" sz="2200" dirty="0" smtClean="0">
                <a:latin typeface="Helvetica" pitchFamily="34" charset="0"/>
              </a:rPr>
              <a:t>Go over the stovetop, paying extra attention</a:t>
            </a:r>
            <a:br>
              <a:rPr lang="en-AU" sz="2200" dirty="0" smtClean="0">
                <a:latin typeface="Helvetica" pitchFamily="34" charset="0"/>
              </a:rPr>
            </a:br>
            <a:r>
              <a:rPr lang="en-AU" sz="2200" dirty="0" smtClean="0">
                <a:latin typeface="Helvetica" pitchFamily="34" charset="0"/>
              </a:rPr>
              <a:t> to any stains around the burners</a:t>
            </a:r>
          </a:p>
          <a:p>
            <a:pPr lvl="0">
              <a:spcBef>
                <a:spcPts val="600"/>
              </a:spcBef>
              <a:spcAft>
                <a:spcPts val="600"/>
              </a:spcAft>
            </a:pPr>
            <a:r>
              <a:rPr lang="en-AU" sz="2200" dirty="0" smtClean="0">
                <a:latin typeface="Helvetica" pitchFamily="34" charset="0"/>
              </a:rPr>
              <a:t>Rinse with clean water; let dry</a:t>
            </a:r>
          </a:p>
          <a:p>
            <a:pPr lvl="0">
              <a:spcBef>
                <a:spcPts val="600"/>
              </a:spcBef>
              <a:spcAft>
                <a:spcPts val="600"/>
              </a:spcAft>
            </a:pPr>
            <a:r>
              <a:rPr lang="en-AU" sz="2200" dirty="0" smtClean="0">
                <a:latin typeface="Helvetica" pitchFamily="34" charset="0"/>
              </a:rPr>
              <a:t>Head to the sink and wipe down each                                    item with your sponge </a:t>
            </a:r>
          </a:p>
          <a:p>
            <a:pPr lvl="0">
              <a:spcBef>
                <a:spcPts val="600"/>
              </a:spcBef>
              <a:spcAft>
                <a:spcPts val="600"/>
              </a:spcAft>
            </a:pPr>
            <a:r>
              <a:rPr lang="en-AU" sz="2200" dirty="0" smtClean="0">
                <a:latin typeface="Helvetica" pitchFamily="34" charset="0"/>
              </a:rPr>
              <a:t>Rinse and dry the parts; reassemble the cooktop</a:t>
            </a:r>
            <a:r>
              <a:rPr lang="en-AU" sz="2400" dirty="0" smtClean="0"/>
              <a:t>.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11266" name="Picture 2" descr="C:\Documents and Settings\danielc\Local Settings\Temporary Internet Files\Content.IE5\LSIXJYS2\MC900082421[1].wmf"/>
          <p:cNvPicPr>
            <a:picLocks noChangeAspect="1" noChangeArrowheads="1"/>
          </p:cNvPicPr>
          <p:nvPr/>
        </p:nvPicPr>
        <p:blipFill>
          <a:blip r:embed="rId3" cstate="print"/>
          <a:srcRect/>
          <a:stretch>
            <a:fillRect/>
          </a:stretch>
        </p:blipFill>
        <p:spPr bwMode="auto">
          <a:xfrm>
            <a:off x="6429388" y="3429000"/>
            <a:ext cx="1827886" cy="1828800"/>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stove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b="1" dirty="0" smtClean="0">
                <a:latin typeface="Helvetica" pitchFamily="34" charset="0"/>
              </a:rPr>
              <a:t>For an electric stove: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For a coil electric stovetop, do this soaking method with the drip pans and knobs but not the burners, which shouldn't be submerged</a:t>
            </a:r>
          </a:p>
          <a:p>
            <a:pPr lvl="0">
              <a:spcBef>
                <a:spcPts val="600"/>
              </a:spcBef>
              <a:spcAft>
                <a:spcPts val="600"/>
              </a:spcAft>
            </a:pPr>
            <a:r>
              <a:rPr lang="en-AU" sz="2200" dirty="0" smtClean="0">
                <a:latin typeface="Helvetica" pitchFamily="34" charset="0"/>
              </a:rPr>
              <a:t>For a smooth electric stovetop, clean the surface with a nonabrasive scrubbing pad and a liquid </a:t>
            </a:r>
            <a:r>
              <a:rPr lang="en-AU" sz="2200" dirty="0" err="1" smtClean="0">
                <a:latin typeface="Helvetica" pitchFamily="34" charset="0"/>
              </a:rPr>
              <a:t>cooktop</a:t>
            </a:r>
            <a:r>
              <a:rPr lang="en-AU" sz="2200" dirty="0" smtClean="0">
                <a:latin typeface="Helvetica" pitchFamily="34" charset="0"/>
              </a:rPr>
              <a:t> cleaner</a:t>
            </a:r>
          </a:p>
          <a:p>
            <a:pPr lvl="0">
              <a:spcBef>
                <a:spcPts val="600"/>
              </a:spcBef>
              <a:spcAft>
                <a:spcPts val="600"/>
              </a:spcAft>
            </a:pPr>
            <a:r>
              <a:rPr lang="en-AU" sz="2200" dirty="0" smtClean="0">
                <a:latin typeface="Helvetica" pitchFamily="34" charset="0"/>
              </a:rPr>
              <a:t>Dip a sponge in hot soapy water, wring well, </a:t>
            </a:r>
            <a:br>
              <a:rPr lang="en-AU" sz="2200" dirty="0" smtClean="0">
                <a:latin typeface="Helvetica" pitchFamily="34" charset="0"/>
              </a:rPr>
            </a:br>
            <a:r>
              <a:rPr lang="en-AU" sz="2200" dirty="0" smtClean="0">
                <a:latin typeface="Helvetica" pitchFamily="34" charset="0"/>
              </a:rPr>
              <a:t>and wipe the controls</a:t>
            </a:r>
          </a:p>
          <a:p>
            <a:pPr lvl="0">
              <a:spcBef>
                <a:spcPts val="600"/>
              </a:spcBef>
              <a:spcAft>
                <a:spcPts val="600"/>
              </a:spcAft>
            </a:pPr>
            <a:r>
              <a:rPr lang="en-AU" sz="2200" dirty="0" smtClean="0">
                <a:latin typeface="Helvetica" pitchFamily="34" charset="0"/>
              </a:rPr>
              <a:t>Rinse and let dry.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12291" name="Picture 3" descr="C:\Documents and Settings\danielc\Local Settings\Temporary Internet Files\Content.IE5\ZB5AOP62\MC900030353[1].wmf"/>
          <p:cNvPicPr>
            <a:picLocks noChangeAspect="1" noChangeArrowheads="1"/>
          </p:cNvPicPr>
          <p:nvPr/>
        </p:nvPicPr>
        <p:blipFill>
          <a:blip r:embed="rId3" cstate="print"/>
          <a:srcRect/>
          <a:stretch>
            <a:fillRect/>
          </a:stretch>
        </p:blipFill>
        <p:spPr bwMode="auto">
          <a:xfrm>
            <a:off x="7358082" y="4357694"/>
            <a:ext cx="1370922" cy="1643074"/>
          </a:xfrm>
          <a:prstGeom prst="rect">
            <a:avLst/>
          </a:prstGeom>
          <a:noFill/>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oven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85860"/>
            <a:ext cx="7467600" cy="4824536"/>
          </a:xfrm>
        </p:spPr>
        <p:txBody>
          <a:bodyPr>
            <a:noAutofit/>
          </a:bodyPr>
          <a:lstStyle/>
          <a:p>
            <a:pPr>
              <a:spcAft>
                <a:spcPts val="600"/>
              </a:spcAft>
              <a:buNone/>
            </a:pPr>
            <a:r>
              <a:rPr lang="en-AU" sz="2100" b="1" dirty="0" smtClean="0">
                <a:latin typeface="Helvetica" pitchFamily="34" charset="0"/>
              </a:rPr>
              <a:t>Inside oven</a:t>
            </a:r>
            <a:endParaRPr lang="en-AU" sz="2100" dirty="0" smtClean="0">
              <a:latin typeface="Helvetica" pitchFamily="34" charset="0"/>
            </a:endParaRPr>
          </a:p>
          <a:p>
            <a:pPr>
              <a:spcAft>
                <a:spcPts val="600"/>
              </a:spcAft>
            </a:pPr>
            <a:r>
              <a:rPr lang="en-AU" sz="2100" dirty="0" smtClean="0">
                <a:latin typeface="Helvetica" pitchFamily="34" charset="0"/>
              </a:rPr>
              <a:t>Cooked food stuck on the bottom, sides or glass of ovens can give off odours and smoke</a:t>
            </a:r>
          </a:p>
          <a:p>
            <a:pPr lvl="0">
              <a:spcAft>
                <a:spcPts val="600"/>
              </a:spcAft>
            </a:pPr>
            <a:r>
              <a:rPr lang="en-AU" sz="2100" dirty="0" smtClean="0">
                <a:latin typeface="Helvetica" pitchFamily="34" charset="0"/>
              </a:rPr>
              <a:t>Try to remove large or deep stuck food items with a metal spatula and gently chip off any loose pieces </a:t>
            </a:r>
          </a:p>
          <a:p>
            <a:pPr lvl="0">
              <a:spcAft>
                <a:spcPts val="600"/>
              </a:spcAft>
            </a:pPr>
            <a:r>
              <a:rPr lang="en-AU" sz="2100" dirty="0" smtClean="0">
                <a:latin typeface="Helvetica" pitchFamily="34" charset="0"/>
              </a:rPr>
              <a:t>Spray a cleaning agent on all sides on the inside or an oven</a:t>
            </a:r>
          </a:p>
          <a:p>
            <a:pPr lvl="0">
              <a:spcAft>
                <a:spcPts val="600"/>
              </a:spcAft>
            </a:pPr>
            <a:r>
              <a:rPr lang="en-AU" sz="2100" dirty="0" smtClean="0">
                <a:latin typeface="Helvetica" pitchFamily="34" charset="0"/>
              </a:rPr>
              <a:t>Wipe away</a:t>
            </a:r>
          </a:p>
          <a:p>
            <a:pPr lvl="0">
              <a:spcAft>
                <a:spcPts val="600"/>
              </a:spcAft>
            </a:pPr>
            <a:r>
              <a:rPr lang="en-AU" sz="2100" dirty="0" smtClean="0">
                <a:latin typeface="Helvetica" pitchFamily="34" charset="0"/>
              </a:rPr>
              <a:t> For hard to remove stains, use baking soda with a few drops of white vinegar. Let it bubble for a minute or two, then whisk away the grime with a scrub sponge</a:t>
            </a:r>
          </a:p>
          <a:p>
            <a:pPr lvl="0">
              <a:spcAft>
                <a:spcPts val="600"/>
              </a:spcAft>
            </a:pPr>
            <a:r>
              <a:rPr lang="en-AU" sz="2100" dirty="0" smtClean="0">
                <a:latin typeface="Helvetica" pitchFamily="34" charset="0"/>
              </a:rPr>
              <a:t>Rinse with a clean, wet, regular sponge. </a:t>
            </a:r>
          </a:p>
          <a:p>
            <a:pPr marL="0">
              <a:spcBef>
                <a:spcPts val="600"/>
              </a:spcBef>
              <a:spcAft>
                <a:spcPts val="6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oven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AU" sz="2200" b="1" dirty="0" smtClean="0">
                <a:latin typeface="Helvetica" pitchFamily="34" charset="0"/>
              </a:rPr>
              <a:t>Oven glass window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Spray the inside of the window with appropriate cleaning agent</a:t>
            </a:r>
          </a:p>
          <a:p>
            <a:pPr lvl="0">
              <a:spcBef>
                <a:spcPts val="600"/>
              </a:spcBef>
              <a:spcAft>
                <a:spcPts val="1200"/>
              </a:spcAft>
            </a:pPr>
            <a:r>
              <a:rPr lang="en-AU" sz="2200" dirty="0" smtClean="0">
                <a:latin typeface="Helvetica" pitchFamily="34" charset="0"/>
              </a:rPr>
              <a:t> Let it soak</a:t>
            </a:r>
          </a:p>
          <a:p>
            <a:pPr lvl="0">
              <a:spcBef>
                <a:spcPts val="600"/>
              </a:spcBef>
              <a:spcAft>
                <a:spcPts val="1200"/>
              </a:spcAft>
            </a:pPr>
            <a:r>
              <a:rPr lang="en-AU" sz="2200" dirty="0" smtClean="0">
                <a:latin typeface="Helvetica" pitchFamily="34" charset="0"/>
              </a:rPr>
              <a:t>After a few minutes, rub down the glass </a:t>
            </a:r>
            <a:br>
              <a:rPr lang="en-AU" sz="2200" dirty="0" smtClean="0">
                <a:latin typeface="Helvetica" pitchFamily="34" charset="0"/>
              </a:rPr>
            </a:br>
            <a:r>
              <a:rPr lang="en-AU" sz="2200" dirty="0" smtClean="0">
                <a:latin typeface="Helvetica" pitchFamily="34" charset="0"/>
              </a:rPr>
              <a:t>with a nonabrasive scrubbing pad</a:t>
            </a:r>
          </a:p>
          <a:p>
            <a:pPr lvl="0">
              <a:spcBef>
                <a:spcPts val="600"/>
              </a:spcBef>
              <a:spcAft>
                <a:spcPts val="1200"/>
              </a:spcAft>
            </a:pPr>
            <a:r>
              <a:rPr lang="en-AU" sz="2200" dirty="0" smtClean="0">
                <a:latin typeface="Helvetica" pitchFamily="34" charset="0"/>
              </a:rPr>
              <a:t>Rinse with a wet sponge, and dry with a paper towel or microfiber cloth</a:t>
            </a:r>
          </a:p>
          <a:p>
            <a:pPr lvl="0">
              <a:spcBef>
                <a:spcPts val="600"/>
              </a:spcBef>
              <a:spcAft>
                <a:spcPts val="1200"/>
              </a:spcAft>
            </a:pPr>
            <a:r>
              <a:rPr lang="en-AU" sz="2200" dirty="0" smtClean="0">
                <a:latin typeface="Helvetica" pitchFamily="34" charset="0"/>
              </a:rPr>
              <a:t>Give the glass on the outside of the door a quick spray and wipe as well.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5" name="Picture 4" descr="MP900430544[1].JPG"/>
          <p:cNvPicPr/>
          <p:nvPr/>
        </p:nvPicPr>
        <p:blipFill>
          <a:blip r:embed="rId3" cstate="print"/>
          <a:stretch>
            <a:fillRect/>
          </a:stretch>
        </p:blipFill>
        <p:spPr>
          <a:xfrm>
            <a:off x="6386212" y="2857496"/>
            <a:ext cx="1933889" cy="1285884"/>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dishwasher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600"/>
              </a:spcAft>
              <a:buNone/>
            </a:pPr>
            <a:r>
              <a:rPr lang="en-US" sz="2200" dirty="0" smtClean="0">
                <a:latin typeface="Helvetica" pitchFamily="34" charset="0"/>
              </a:rPr>
              <a:t>When cleaning dishwashers, ensure: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All items have been removed and placed away in cupboards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Water is drained</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Clean around area where detergent has been used</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Fill rinse aid dispenser where required.</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6" name="imgHvThumb" descr="Dishwasher household appliance"/>
          <p:cNvPicPr/>
          <p:nvPr/>
        </p:nvPicPr>
        <p:blipFill>
          <a:blip r:embed="rId3" cstate="print"/>
          <a:srcRect/>
          <a:stretch>
            <a:fillRect/>
          </a:stretch>
        </p:blipFill>
        <p:spPr bwMode="auto">
          <a:xfrm>
            <a:off x="3714744" y="4429132"/>
            <a:ext cx="1628780" cy="16287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washing machine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US" sz="2200" dirty="0" smtClean="0">
                <a:latin typeface="Helvetica" pitchFamily="34" charset="0"/>
              </a:rPr>
              <a:t>When cleaning washing machines, ensure: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It is empty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If items are found, process them as lost property if the guest has departed, or neatly fold for an existing guest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Clear away any leftover clothing strands                          from inside the machine.</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7" name="Picture 6" descr="MP900402566[1].JPG"/>
          <p:cNvPicPr/>
          <p:nvPr/>
        </p:nvPicPr>
        <p:blipFill>
          <a:blip r:embed="rId3" cstate="print"/>
          <a:stretch>
            <a:fillRect/>
          </a:stretch>
        </p:blipFill>
        <p:spPr>
          <a:xfrm>
            <a:off x="4025289" y="4572008"/>
            <a:ext cx="1093423" cy="1666897"/>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the dryer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US" sz="2200" dirty="0" smtClean="0">
                <a:latin typeface="Helvetica" pitchFamily="34" charset="0"/>
              </a:rPr>
              <a:t>When cleaning dryers, ensure: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It is empty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If items are found, process them as lost property if the guest has departed, or neatly fold for an existing guest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Clear away lint from catchment areas.</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6" name="imgHvThumb" descr="Washing machine and dryer"/>
          <p:cNvPicPr/>
          <p:nvPr/>
        </p:nvPicPr>
        <p:blipFill>
          <a:blip r:embed="rId3" cstate="print"/>
          <a:srcRect/>
          <a:stretch>
            <a:fillRect/>
          </a:stretch>
        </p:blipFill>
        <p:spPr bwMode="auto">
          <a:xfrm>
            <a:off x="3500430" y="4143380"/>
            <a:ext cx="2023114" cy="19565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other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600"/>
              </a:spcAft>
              <a:buNone/>
            </a:pPr>
            <a:r>
              <a:rPr lang="en-US" sz="2200" dirty="0" smtClean="0">
                <a:latin typeface="Helvetica" pitchFamily="34" charset="0"/>
              </a:rPr>
              <a:t>Once the major pieces of equipment have been cleaned there are other tasks to perform. </a:t>
            </a:r>
          </a:p>
          <a:p>
            <a:pPr>
              <a:spcBef>
                <a:spcPts val="600"/>
              </a:spcBef>
              <a:spcAft>
                <a:spcPts val="600"/>
              </a:spcAft>
              <a:buNone/>
            </a:pPr>
            <a:r>
              <a:rPr lang="en-US" sz="2200" dirty="0" smtClean="0">
                <a:latin typeface="Helvetica" pitchFamily="34" charset="0"/>
              </a:rPr>
              <a:t>These may include: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Washing and drying pots, pans, crockery and cutlery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Placing clean items in cupboards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Cleaning inside cupboards and doors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Refilling ice trays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Cleaning kettles.</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7" name="Picture 6" descr="MP900386419[1].JPG"/>
          <p:cNvPicPr/>
          <p:nvPr/>
        </p:nvPicPr>
        <p:blipFill>
          <a:blip r:embed="rId3" cstate="print">
            <a:grayscl/>
          </a:blip>
          <a:stretch>
            <a:fillRect/>
          </a:stretch>
        </p:blipFill>
        <p:spPr>
          <a:xfrm>
            <a:off x="6858016" y="3571876"/>
            <a:ext cx="1438650" cy="178595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other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28736"/>
            <a:ext cx="7467600" cy="4824536"/>
          </a:xfrm>
        </p:spPr>
        <p:txBody>
          <a:bodyPr>
            <a:normAutofit/>
          </a:bodyPr>
          <a:lstStyle/>
          <a:p>
            <a:pPr lvl="0">
              <a:spcBef>
                <a:spcPts val="600"/>
              </a:spcBef>
              <a:spcAft>
                <a:spcPts val="600"/>
              </a:spcAft>
            </a:pPr>
            <a:r>
              <a:rPr lang="en-US" sz="2200" dirty="0" smtClean="0">
                <a:latin typeface="Helvetica" pitchFamily="34" charset="0"/>
              </a:rPr>
              <a:t>Restocking give-ways including tea, coffee and biscuits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Changing drying towels and cleaning sponges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Replenishing detergents, washing powder and cleaning agents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Placing fresh milk in the refrigerator or other items as dictated by regulations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Cleaning the microwave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Wiping down benches and sinks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Cleaning the floor.</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5" name="Picture 4" descr="MP900430543[1].JPG"/>
          <p:cNvPicPr>
            <a:picLocks noChangeAspect="1"/>
          </p:cNvPicPr>
          <p:nvPr/>
        </p:nvPicPr>
        <p:blipFill>
          <a:blip r:embed="rId3" cstate="print"/>
          <a:stretch>
            <a:fillRect/>
          </a:stretch>
        </p:blipFill>
        <p:spPr>
          <a:xfrm>
            <a:off x="6072198" y="4143380"/>
            <a:ext cx="1474259" cy="2210310"/>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Replenish guest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Depending on the establishment, there can be a number of items that will qualify as guest supplies.</a:t>
            </a:r>
          </a:p>
          <a:p>
            <a:pPr marL="0">
              <a:spcBef>
                <a:spcPts val="600"/>
              </a:spcBef>
              <a:spcAft>
                <a:spcPts val="1200"/>
              </a:spcAft>
              <a:buNone/>
            </a:pPr>
            <a:r>
              <a:rPr lang="en-AU" sz="2200" dirty="0" smtClean="0">
                <a:latin typeface="Helvetica" pitchFamily="34" charset="0"/>
              </a:rPr>
              <a:t>The simplest definition is ‘any small item that can be used, and in some cases taken, by a guest is a guest supply’.</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13314" name="Picture 2" descr="I:\Overseas Projects\PHOTOS\2012\requisition form.jpg"/>
          <p:cNvPicPr>
            <a:picLocks noChangeAspect="1" noChangeArrowheads="1"/>
          </p:cNvPicPr>
          <p:nvPr/>
        </p:nvPicPr>
        <p:blipFill>
          <a:blip r:embed="rId3" cstate="print"/>
          <a:srcRect/>
          <a:stretch>
            <a:fillRect/>
          </a:stretch>
        </p:blipFill>
        <p:spPr bwMode="auto">
          <a:xfrm>
            <a:off x="2837652" y="3643314"/>
            <a:ext cx="3468696" cy="2166873"/>
          </a:xfrm>
          <a:prstGeom prst="rect">
            <a:avLst/>
          </a:prstGeom>
          <a:noFill/>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Replenish guest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lvl="0">
              <a:spcBef>
                <a:spcPts val="600"/>
              </a:spcBef>
              <a:spcAft>
                <a:spcPts val="600"/>
              </a:spcAft>
              <a:buNone/>
            </a:pPr>
            <a:r>
              <a:rPr lang="en-US" sz="2200" b="1" dirty="0" smtClean="0">
                <a:latin typeface="Helvetica" pitchFamily="34" charset="0"/>
              </a:rPr>
              <a:t>Guest supplies include:</a:t>
            </a:r>
          </a:p>
          <a:p>
            <a:pPr lvl="0">
              <a:spcBef>
                <a:spcPts val="600"/>
              </a:spcBef>
              <a:spcAft>
                <a:spcPts val="600"/>
              </a:spcAft>
            </a:pPr>
            <a:r>
              <a:rPr lang="en-US" sz="2200" dirty="0" smtClean="0">
                <a:latin typeface="Helvetica" pitchFamily="34" charset="0"/>
              </a:rPr>
              <a:t>Pens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Paper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Stationery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Envelopes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Fax or e-mail forms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Promotional material</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Room service menus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Sewing and shoe polishing kits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Guest dry-cleaning bag.</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14338" name="Picture 2" descr="C:\Documents and Settings\danielc\Local Settings\Temporary Internet Files\Content.IE5\Y2UABRAT\MP900439412[1].jpg"/>
          <p:cNvPicPr>
            <a:picLocks noChangeAspect="1" noChangeArrowheads="1"/>
          </p:cNvPicPr>
          <p:nvPr/>
        </p:nvPicPr>
        <p:blipFill>
          <a:blip r:embed="rId3" cstate="print"/>
          <a:srcRect/>
          <a:stretch>
            <a:fillRect/>
          </a:stretch>
        </p:blipFill>
        <p:spPr bwMode="auto">
          <a:xfrm>
            <a:off x="5500694" y="2143116"/>
            <a:ext cx="1919311" cy="2557458"/>
          </a:xfrm>
          <a:prstGeom prst="rect">
            <a:avLst/>
          </a:prstGeom>
          <a:noFill/>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Replenish guest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lvl="0">
              <a:spcBef>
                <a:spcPts val="600"/>
              </a:spcBef>
              <a:spcAft>
                <a:spcPts val="600"/>
              </a:spcAft>
              <a:buNone/>
            </a:pPr>
            <a:r>
              <a:rPr lang="en-US" sz="2200" b="1" dirty="0" smtClean="0">
                <a:latin typeface="Helvetica" pitchFamily="34" charset="0"/>
              </a:rPr>
              <a:t>Guest supplies include:</a:t>
            </a:r>
          </a:p>
          <a:p>
            <a:pPr lvl="0">
              <a:spcBef>
                <a:spcPts val="600"/>
              </a:spcBef>
              <a:spcAft>
                <a:spcPts val="600"/>
              </a:spcAft>
            </a:pPr>
            <a:r>
              <a:rPr lang="en-US" sz="2200" dirty="0" smtClean="0">
                <a:latin typeface="Helvetica" pitchFamily="34" charset="0"/>
              </a:rPr>
              <a:t>Guest laundry list</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Tea, coffee, milk and biscuits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Iron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Fly spray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Additional blankets and pillows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Remote control units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Hair dryer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Electric jug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Basic cups, mugs, saucers, glasses,                                 tea-spoons, bottle opener.</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5" name="Picture 4" descr="MP900402019[1].JPG"/>
          <p:cNvPicPr/>
          <p:nvPr/>
        </p:nvPicPr>
        <p:blipFill>
          <a:blip r:embed="rId3" cstate="print"/>
          <a:stretch>
            <a:fillRect/>
          </a:stretch>
        </p:blipFill>
        <p:spPr>
          <a:xfrm>
            <a:off x="6000760" y="2428868"/>
            <a:ext cx="1977752" cy="2346176"/>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Check operational readiness of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4968552"/>
          </a:xfrm>
        </p:spPr>
        <p:txBody>
          <a:bodyPr>
            <a:normAutofit/>
          </a:bodyPr>
          <a:lstStyle/>
          <a:p>
            <a:pPr lvl="0">
              <a:spcAft>
                <a:spcPts val="600"/>
              </a:spcAft>
            </a:pPr>
            <a:r>
              <a:rPr lang="en-US" sz="2000" dirty="0" smtClean="0">
                <a:latin typeface="Helvetica" pitchFamily="34" charset="0"/>
              </a:rPr>
              <a:t>In-room air conditioning set at a predetermined temperature level </a:t>
            </a:r>
            <a:endParaRPr lang="en-AU" sz="2000" dirty="0" smtClean="0">
              <a:latin typeface="Helvetica" pitchFamily="34" charset="0"/>
            </a:endParaRPr>
          </a:p>
          <a:p>
            <a:pPr lvl="0">
              <a:spcAft>
                <a:spcPts val="600"/>
              </a:spcAft>
            </a:pPr>
            <a:r>
              <a:rPr lang="en-US" sz="2000" dirty="0" smtClean="0">
                <a:latin typeface="Helvetica" pitchFamily="34" charset="0"/>
              </a:rPr>
              <a:t>Refrigerator left at a nominated setting</a:t>
            </a:r>
            <a:endParaRPr lang="en-AU" sz="2000" dirty="0" smtClean="0">
              <a:latin typeface="Helvetica" pitchFamily="34" charset="0"/>
            </a:endParaRPr>
          </a:p>
          <a:p>
            <a:pPr lvl="0">
              <a:spcAft>
                <a:spcPts val="600"/>
              </a:spcAft>
            </a:pPr>
            <a:r>
              <a:rPr lang="en-US" sz="2000" dirty="0" smtClean="0">
                <a:latin typeface="Helvetica" pitchFamily="34" charset="0"/>
              </a:rPr>
              <a:t>Television set to a prescribed volume or channel</a:t>
            </a:r>
            <a:endParaRPr lang="en-AU" sz="2000" dirty="0" smtClean="0">
              <a:latin typeface="Helvetica" pitchFamily="34" charset="0"/>
            </a:endParaRPr>
          </a:p>
          <a:p>
            <a:pPr lvl="0">
              <a:spcAft>
                <a:spcPts val="600"/>
              </a:spcAft>
            </a:pPr>
            <a:r>
              <a:rPr lang="en-US" sz="2000" dirty="0" smtClean="0">
                <a:latin typeface="Helvetica" pitchFamily="34" charset="0"/>
              </a:rPr>
              <a:t>Clock set to the correct time</a:t>
            </a:r>
            <a:endParaRPr lang="en-AU" sz="2000" dirty="0" smtClean="0">
              <a:latin typeface="Helvetica" pitchFamily="34" charset="0"/>
            </a:endParaRPr>
          </a:p>
          <a:p>
            <a:pPr lvl="0">
              <a:spcAft>
                <a:spcPts val="600"/>
              </a:spcAft>
            </a:pPr>
            <a:r>
              <a:rPr lang="en-US" sz="2000" dirty="0" smtClean="0">
                <a:latin typeface="Helvetica" pitchFamily="34" charset="0"/>
              </a:rPr>
              <a:t>Alarm clock checked to ensure the alarm is not </a:t>
            </a:r>
            <a:br>
              <a:rPr lang="en-US" sz="2000" dirty="0" smtClean="0">
                <a:latin typeface="Helvetica" pitchFamily="34" charset="0"/>
              </a:rPr>
            </a:br>
            <a:r>
              <a:rPr lang="en-US" sz="2000" dirty="0" smtClean="0">
                <a:latin typeface="Helvetica" pitchFamily="34" charset="0"/>
              </a:rPr>
              <a:t>active</a:t>
            </a:r>
            <a:endParaRPr lang="en-AU" sz="2000" dirty="0" smtClean="0">
              <a:latin typeface="Helvetica" pitchFamily="34" charset="0"/>
            </a:endParaRPr>
          </a:p>
          <a:p>
            <a:pPr lvl="0">
              <a:spcAft>
                <a:spcPts val="600"/>
              </a:spcAft>
            </a:pPr>
            <a:r>
              <a:rPr lang="en-US" sz="2000" dirty="0" smtClean="0">
                <a:latin typeface="Helvetica" pitchFamily="34" charset="0"/>
              </a:rPr>
              <a:t>Radio tuned to nominated channel and set at </a:t>
            </a:r>
            <a:br>
              <a:rPr lang="en-US" sz="2000" dirty="0" smtClean="0">
                <a:latin typeface="Helvetica" pitchFamily="34" charset="0"/>
              </a:rPr>
            </a:br>
            <a:r>
              <a:rPr lang="en-US" sz="2000" dirty="0" smtClean="0">
                <a:latin typeface="Helvetica" pitchFamily="34" charset="0"/>
              </a:rPr>
              <a:t>desired volume</a:t>
            </a:r>
            <a:endParaRPr lang="en-AU" sz="2000" dirty="0" smtClean="0">
              <a:latin typeface="Helvetica" pitchFamily="34" charset="0"/>
            </a:endParaRPr>
          </a:p>
          <a:p>
            <a:pPr lvl="0">
              <a:spcAft>
                <a:spcPts val="600"/>
              </a:spcAft>
            </a:pPr>
            <a:r>
              <a:rPr lang="en-US" sz="2000" dirty="0" smtClean="0">
                <a:latin typeface="Helvetica" pitchFamily="34" charset="0"/>
              </a:rPr>
              <a:t>Dimmers set to medium setting</a:t>
            </a:r>
            <a:endParaRPr lang="en-AU" sz="2000" dirty="0" smtClean="0">
              <a:latin typeface="Helvetica" pitchFamily="34" charset="0"/>
            </a:endParaRPr>
          </a:p>
          <a:p>
            <a:pPr lvl="0">
              <a:spcAft>
                <a:spcPts val="600"/>
              </a:spcAft>
            </a:pPr>
            <a:r>
              <a:rPr lang="en-US" sz="2000" dirty="0" smtClean="0">
                <a:latin typeface="Helvetica" pitchFamily="34" charset="0"/>
              </a:rPr>
              <a:t>Toaster set to desired setting</a:t>
            </a:r>
            <a:endParaRPr lang="en-AU" sz="2000" dirty="0" smtClean="0">
              <a:latin typeface="Helvetica" pitchFamily="34" charset="0"/>
            </a:endParaRPr>
          </a:p>
          <a:p>
            <a:pPr lvl="0">
              <a:spcAft>
                <a:spcPts val="600"/>
              </a:spcAft>
            </a:pPr>
            <a:r>
              <a:rPr lang="en-US" sz="2000" dirty="0" smtClean="0">
                <a:latin typeface="Helvetica" pitchFamily="34" charset="0"/>
              </a:rPr>
              <a:t>Pens and message pads are located conveniently.</a:t>
            </a:r>
            <a:endParaRPr lang="en-AU" sz="20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MP900422230[1].JPG"/>
          <p:cNvPicPr/>
          <p:nvPr/>
        </p:nvPicPr>
        <p:blipFill>
          <a:blip r:embed="rId3" cstate="print"/>
          <a:stretch>
            <a:fillRect/>
          </a:stretch>
        </p:blipFill>
        <p:spPr>
          <a:xfrm>
            <a:off x="6786578" y="3143248"/>
            <a:ext cx="1516979" cy="1643074"/>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Report and remedy room defects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pPr>
            <a:r>
              <a:rPr lang="en-AU" sz="2200" dirty="0" smtClean="0">
                <a:latin typeface="Helvetica" pitchFamily="34" charset="0"/>
              </a:rPr>
              <a:t>Regardless of how well a room is maintained, general wear and tear will happen, equipment will break down and other problems will occur</a:t>
            </a:r>
          </a:p>
          <a:p>
            <a:pPr>
              <a:spcBef>
                <a:spcPts val="600"/>
              </a:spcBef>
              <a:spcAft>
                <a:spcPts val="1200"/>
              </a:spcAft>
            </a:pPr>
            <a:r>
              <a:rPr lang="en-AU" sz="2200" dirty="0" smtClean="0">
                <a:latin typeface="Helvetica" pitchFamily="34" charset="0"/>
              </a:rPr>
              <a:t>When servicing a guest room is to check </a:t>
            </a:r>
            <a:br>
              <a:rPr lang="en-AU" sz="2200" dirty="0" smtClean="0">
                <a:latin typeface="Helvetica" pitchFamily="34" charset="0"/>
              </a:rPr>
            </a:br>
            <a:r>
              <a:rPr lang="en-AU" sz="2200" dirty="0" smtClean="0">
                <a:latin typeface="Helvetica" pitchFamily="34" charset="0"/>
              </a:rPr>
              <a:t>the room for any defects in equipment, </a:t>
            </a:r>
            <a:br>
              <a:rPr lang="en-AU" sz="2200" dirty="0" smtClean="0">
                <a:latin typeface="Helvetica" pitchFamily="34" charset="0"/>
              </a:rPr>
            </a:br>
            <a:r>
              <a:rPr lang="en-AU" sz="2200" dirty="0" smtClean="0">
                <a:latin typeface="Helvetica" pitchFamily="34" charset="0"/>
              </a:rPr>
              <a:t>appliances, furniture or fittings.</a:t>
            </a:r>
          </a:p>
          <a:p>
            <a:pPr algn="ctr">
              <a:spcBef>
                <a:spcPts val="600"/>
              </a:spcBef>
              <a:spcAft>
                <a:spcPts val="1200"/>
              </a:spcAft>
              <a:buNone/>
            </a:pPr>
            <a:r>
              <a:rPr lang="en-AU" sz="2200" b="1" dirty="0" smtClean="0">
                <a:latin typeface="Helvetica" pitchFamily="34" charset="0"/>
              </a:rPr>
              <a:t>What are defects, what is damage?</a:t>
            </a:r>
          </a:p>
          <a:p>
            <a:pPr>
              <a:spcBef>
                <a:spcPts val="600"/>
              </a:spcBef>
              <a:spcAft>
                <a:spcPts val="1200"/>
              </a:spcAft>
            </a:pPr>
            <a:r>
              <a:rPr lang="en-AU" sz="2200" dirty="0" smtClean="0">
                <a:latin typeface="Helvetica" pitchFamily="34" charset="0"/>
              </a:rPr>
              <a:t>Defects or damage can result form normal wear-and-tear, accidental damage or deliberate and malicious action by guests</a:t>
            </a:r>
            <a:r>
              <a:rPr lang="en-AU" sz="2400" dirty="0" smtClean="0"/>
              <a:t>.</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15362" name="Picture 2" descr="C:\Documents and Settings\danielc\Local Settings\Temporary Internet Files\Content.IE5\Y2UABRAT\MP900442939[1].jpg"/>
          <p:cNvPicPr>
            <a:picLocks noChangeAspect="1" noChangeArrowheads="1"/>
          </p:cNvPicPr>
          <p:nvPr/>
        </p:nvPicPr>
        <p:blipFill>
          <a:blip r:embed="rId3" cstate="print"/>
          <a:srcRect/>
          <a:stretch>
            <a:fillRect/>
          </a:stretch>
        </p:blipFill>
        <p:spPr bwMode="auto">
          <a:xfrm>
            <a:off x="6962350" y="2428868"/>
            <a:ext cx="1335082" cy="2000264"/>
          </a:xfrm>
          <a:prstGeom prst="rect">
            <a:avLst/>
          </a:prstGeom>
          <a:noFill/>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Report and remedy room defects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Examples of defects and damage:</a:t>
            </a:r>
          </a:p>
          <a:p>
            <a:pPr lvl="0">
              <a:spcBef>
                <a:spcPts val="600"/>
              </a:spcBef>
              <a:spcAft>
                <a:spcPts val="600"/>
              </a:spcAft>
            </a:pPr>
            <a:r>
              <a:rPr lang="en-US" sz="2200" dirty="0" smtClean="0">
                <a:latin typeface="Helvetica" pitchFamily="34" charset="0"/>
              </a:rPr>
              <a:t>Broken refrigerator door seals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Chipped or broken glasses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Flickering fluorescent lights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Blown light globes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Remote controls with flat, or no, batteries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Broken fixtures or fittings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Refrigerators that make ‘too much’ noise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Noisy air conditioning.</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16386" name="Picture 2" descr="C:\Documents and Settings\danielc\Local Settings\Temporary Internet Files\Content.IE5\XKVY0NPI\MC900112962[1].wmf"/>
          <p:cNvPicPr>
            <a:picLocks noChangeAspect="1" noChangeArrowheads="1"/>
          </p:cNvPicPr>
          <p:nvPr/>
        </p:nvPicPr>
        <p:blipFill>
          <a:blip r:embed="rId3" cstate="print"/>
          <a:srcRect/>
          <a:stretch>
            <a:fillRect/>
          </a:stretch>
        </p:blipFill>
        <p:spPr bwMode="auto">
          <a:xfrm>
            <a:off x="6500826" y="1643050"/>
            <a:ext cx="1189528" cy="1214446"/>
          </a:xfrm>
          <a:prstGeom prst="rect">
            <a:avLst/>
          </a:prstGeom>
          <a:noFill/>
        </p:spPr>
      </p:pic>
      <p:pic>
        <p:nvPicPr>
          <p:cNvPr id="16387" name="Picture 3" descr="C:\Documents and Settings\danielc\Local Settings\Temporary Internet Files\Content.IE5\WOYKSSHU\MC900112970[1].wmf"/>
          <p:cNvPicPr>
            <a:picLocks noChangeAspect="1" noChangeArrowheads="1"/>
          </p:cNvPicPr>
          <p:nvPr/>
        </p:nvPicPr>
        <p:blipFill>
          <a:blip r:embed="rId4" cstate="print"/>
          <a:srcRect/>
          <a:stretch>
            <a:fillRect/>
          </a:stretch>
        </p:blipFill>
        <p:spPr bwMode="auto">
          <a:xfrm>
            <a:off x="6215074" y="2928934"/>
            <a:ext cx="1965378" cy="1119073"/>
          </a:xfrm>
          <a:prstGeom prst="rect">
            <a:avLst/>
          </a:prstGeom>
          <a:noFill/>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Report and remedy room defects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Examples of defects and damage:</a:t>
            </a:r>
          </a:p>
          <a:p>
            <a:pPr lvl="0">
              <a:spcBef>
                <a:spcPts val="600"/>
              </a:spcBef>
              <a:spcAft>
                <a:spcPts val="600"/>
              </a:spcAft>
            </a:pPr>
            <a:r>
              <a:rPr lang="en-US" sz="2200" dirty="0" smtClean="0">
                <a:latin typeface="Helvetica" pitchFamily="34" charset="0"/>
              </a:rPr>
              <a:t>Dripping taps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Ripped curtains and drapes that do not properly close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Ripped, tired-looking or stained furnishings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Fuzzy television reception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Electric jugs and hair dryers that don’t </a:t>
            </a:r>
            <a:br>
              <a:rPr lang="en-US" sz="2200" dirty="0" smtClean="0">
                <a:latin typeface="Helvetica" pitchFamily="34" charset="0"/>
              </a:rPr>
            </a:br>
            <a:r>
              <a:rPr lang="en-US" sz="2200" dirty="0" smtClean="0">
                <a:latin typeface="Helvetica" pitchFamily="34" charset="0"/>
              </a:rPr>
              <a:t>work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Room cards that do not easily integrate                                       with the power controls in-room</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Irons where the temperature control settings </a:t>
            </a:r>
            <a:br>
              <a:rPr lang="en-US" sz="2200" dirty="0" smtClean="0">
                <a:latin typeface="Helvetica" pitchFamily="34" charset="0"/>
              </a:rPr>
            </a:br>
            <a:r>
              <a:rPr lang="en-US" sz="2200" dirty="0" smtClean="0">
                <a:latin typeface="Helvetica" pitchFamily="34" charset="0"/>
              </a:rPr>
              <a:t>are not working.</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Report and remedy room defects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What do you do?</a:t>
            </a:r>
          </a:p>
          <a:p>
            <a:pPr marL="0">
              <a:spcBef>
                <a:spcPts val="600"/>
              </a:spcBef>
              <a:spcAft>
                <a:spcPts val="600"/>
              </a:spcAft>
              <a:buNone/>
            </a:pPr>
            <a:r>
              <a:rPr lang="en-AU" sz="2200" dirty="0" smtClean="0">
                <a:latin typeface="Helvetica" pitchFamily="34" charset="0"/>
              </a:rPr>
              <a:t>The course of action chosen will depend on the seriousness of the damage and whether or not </a:t>
            </a:r>
            <a:br>
              <a:rPr lang="en-AU" sz="2200" dirty="0" smtClean="0">
                <a:latin typeface="Helvetica" pitchFamily="34" charset="0"/>
              </a:rPr>
            </a:br>
            <a:r>
              <a:rPr lang="en-AU" sz="2200" dirty="0" smtClean="0">
                <a:latin typeface="Helvetica" pitchFamily="34" charset="0"/>
              </a:rPr>
              <a:t>someone could be harmed because of the problem. </a:t>
            </a:r>
          </a:p>
          <a:p>
            <a:pPr>
              <a:spcBef>
                <a:spcPts val="600"/>
              </a:spcBef>
              <a:spcAft>
                <a:spcPts val="600"/>
              </a:spcAft>
              <a:buNone/>
            </a:pPr>
            <a:r>
              <a:rPr lang="en-AU" sz="2200" dirty="0" smtClean="0">
                <a:latin typeface="Helvetica" pitchFamily="34" charset="0"/>
              </a:rPr>
              <a:t>The two possible courses of action are:</a:t>
            </a:r>
          </a:p>
          <a:p>
            <a:pPr>
              <a:spcBef>
                <a:spcPts val="600"/>
              </a:spcBef>
              <a:spcAft>
                <a:spcPts val="600"/>
              </a:spcAft>
            </a:pPr>
            <a:r>
              <a:rPr lang="en-US" sz="2200" dirty="0" smtClean="0">
                <a:latin typeface="Helvetica" pitchFamily="34" charset="0"/>
              </a:rPr>
              <a:t>The item must be taken out of service immediately and replaced if possible</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The item is reported on a maintenance report                   and submitted to the appropriate person for.</a:t>
            </a:r>
          </a:p>
          <a:p>
            <a:pPr algn="ctr">
              <a:spcBef>
                <a:spcPts val="600"/>
              </a:spcBef>
              <a:spcAft>
                <a:spcPts val="600"/>
              </a:spcAft>
              <a:buNone/>
            </a:pPr>
            <a:r>
              <a:rPr lang="en-AU" sz="2200" b="1" dirty="0" smtClean="0">
                <a:latin typeface="Helvetica" pitchFamily="34" charset="0"/>
              </a:rPr>
              <a:t>‘If in doubt, have it checked out.’</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6" name="imgHvThumb" descr="Screen bean repair character holding a hammer"/>
          <p:cNvPicPr/>
          <p:nvPr/>
        </p:nvPicPr>
        <p:blipFill>
          <a:blip r:embed="rId3" cstate="print"/>
          <a:srcRect/>
          <a:stretch>
            <a:fillRect/>
          </a:stretch>
        </p:blipFill>
        <p:spPr bwMode="auto">
          <a:xfrm>
            <a:off x="6858016" y="1500174"/>
            <a:ext cx="1223321" cy="117160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Report and remedy room defects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Identifying damaged items</a:t>
            </a:r>
          </a:p>
          <a:p>
            <a:pPr>
              <a:spcBef>
                <a:spcPts val="600"/>
              </a:spcBef>
              <a:spcAft>
                <a:spcPts val="1200"/>
              </a:spcAft>
              <a:buNone/>
            </a:pPr>
            <a:r>
              <a:rPr lang="en-AU" sz="2200" dirty="0" smtClean="0">
                <a:latin typeface="Helvetica" pitchFamily="34" charset="0"/>
              </a:rPr>
              <a:t>You can become aware that an item is damaged through:</a:t>
            </a:r>
          </a:p>
          <a:p>
            <a:pPr lvl="0">
              <a:spcBef>
                <a:spcPts val="600"/>
              </a:spcBef>
              <a:spcAft>
                <a:spcPts val="1200"/>
              </a:spcAft>
            </a:pPr>
            <a:r>
              <a:rPr lang="en-US" sz="2200" dirty="0" smtClean="0">
                <a:latin typeface="Helvetica" pitchFamily="34" charset="0"/>
              </a:rPr>
              <a:t>Personal observation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Look for damaged items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Listen for equipment that doesn’t </a:t>
            </a:r>
            <a:br>
              <a:rPr lang="en-US" sz="2200" dirty="0" smtClean="0">
                <a:latin typeface="Helvetica" pitchFamily="34" charset="0"/>
              </a:rPr>
            </a:br>
            <a:r>
              <a:rPr lang="en-US" sz="2200" dirty="0" smtClean="0">
                <a:latin typeface="Helvetica" pitchFamily="34" charset="0"/>
              </a:rPr>
              <a:t>sounds right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 alert to smells that indicate problems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Advice from guests.</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17410" name="Picture 2" descr="C:\Documents and Settings\danielc\Local Settings\Temporary Internet Files\Content.IE5\0OCRPEL9\MC900441926[1].wmf"/>
          <p:cNvPicPr>
            <a:picLocks noChangeAspect="1" noChangeArrowheads="1"/>
          </p:cNvPicPr>
          <p:nvPr/>
        </p:nvPicPr>
        <p:blipFill>
          <a:blip r:embed="rId3" cstate="print"/>
          <a:srcRect/>
          <a:stretch>
            <a:fillRect/>
          </a:stretch>
        </p:blipFill>
        <p:spPr bwMode="auto">
          <a:xfrm>
            <a:off x="6429388" y="3143248"/>
            <a:ext cx="1743075" cy="1371600"/>
          </a:xfrm>
          <a:prstGeom prst="rect">
            <a:avLst/>
          </a:prstGeom>
          <a:noFill/>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Report and remedy room defects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Identifying damaged items</a:t>
            </a:r>
          </a:p>
          <a:p>
            <a:pPr lvl="0">
              <a:spcBef>
                <a:spcPts val="600"/>
              </a:spcBef>
              <a:spcAft>
                <a:spcPts val="1200"/>
              </a:spcAft>
            </a:pPr>
            <a:r>
              <a:rPr lang="en-US" sz="2200" dirty="0" smtClean="0">
                <a:latin typeface="Helvetica" pitchFamily="34" charset="0"/>
              </a:rPr>
              <a:t>Speaking face-to-face with the supervisor, Floor Housekeeper or relevant other person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Using the in-room phone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Using other internal communication </a:t>
            </a:r>
            <a:br>
              <a:rPr lang="en-US" sz="2200" dirty="0" smtClean="0">
                <a:latin typeface="Helvetica" pitchFamily="34" charset="0"/>
              </a:rPr>
            </a:br>
            <a:r>
              <a:rPr lang="en-US" sz="2200" dirty="0" smtClean="0">
                <a:latin typeface="Helvetica" pitchFamily="34" charset="0"/>
              </a:rPr>
              <a:t>methods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Using the in-room phone to contact reception </a:t>
            </a:r>
            <a:br>
              <a:rPr lang="en-US" sz="2200" dirty="0" smtClean="0">
                <a:latin typeface="Helvetica" pitchFamily="34" charset="0"/>
              </a:rPr>
            </a:br>
            <a:r>
              <a:rPr lang="en-US" sz="2200" dirty="0" smtClean="0">
                <a:latin typeface="Helvetica" pitchFamily="34" charset="0"/>
              </a:rPr>
              <a:t>and leave a message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Completion of a Maintenance Report.</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18434" name="Picture 2" descr="C:\Documents and Settings\danielc\Local Settings\Temporary Internet Files\Content.IE5\0OCRPEL9\MP900387826[1].jpg"/>
          <p:cNvPicPr>
            <a:picLocks noChangeAspect="1" noChangeArrowheads="1"/>
          </p:cNvPicPr>
          <p:nvPr/>
        </p:nvPicPr>
        <p:blipFill>
          <a:blip r:embed="rId3" cstate="print"/>
          <a:srcRect/>
          <a:stretch>
            <a:fillRect/>
          </a:stretch>
        </p:blipFill>
        <p:spPr bwMode="auto">
          <a:xfrm>
            <a:off x="6286512" y="2928934"/>
            <a:ext cx="2103081" cy="1500198"/>
          </a:xfrm>
          <a:prstGeom prst="rect">
            <a:avLst/>
          </a:prstGeom>
          <a:noFill/>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Identifying pests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pests</a:t>
            </a:r>
          </a:p>
          <a:p>
            <a:pPr lvl="0">
              <a:spcBef>
                <a:spcPts val="600"/>
              </a:spcBef>
              <a:spcAft>
                <a:spcPts val="1200"/>
              </a:spcAft>
            </a:pPr>
            <a:r>
              <a:rPr lang="en-US" sz="2200" dirty="0" smtClean="0">
                <a:latin typeface="Helvetica" pitchFamily="34" charset="0"/>
              </a:rPr>
              <a:t>Flies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Cockroaches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Silverfish</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Fleas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Spiders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Mice, rats and ants.</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19458" name="Picture 2" descr="C:\Documents and Settings\danielc\Local Settings\Temporary Internet Files\Content.IE5\ZB5AOP62\MC900335348[1].wmf"/>
          <p:cNvPicPr>
            <a:picLocks noChangeAspect="1" noChangeArrowheads="1"/>
          </p:cNvPicPr>
          <p:nvPr/>
        </p:nvPicPr>
        <p:blipFill>
          <a:blip r:embed="rId3" cstate="print"/>
          <a:srcRect/>
          <a:stretch>
            <a:fillRect/>
          </a:stretch>
        </p:blipFill>
        <p:spPr bwMode="auto">
          <a:xfrm>
            <a:off x="5286380" y="3071810"/>
            <a:ext cx="1828800" cy="1829714"/>
          </a:xfrm>
          <a:prstGeom prst="rect">
            <a:avLst/>
          </a:prstGeom>
          <a:noFill/>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Preventing pests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lvl="0">
              <a:spcBef>
                <a:spcPts val="600"/>
              </a:spcBef>
              <a:spcAft>
                <a:spcPts val="1200"/>
              </a:spcAft>
              <a:buNone/>
            </a:pPr>
            <a:r>
              <a:rPr lang="en-US" sz="2200" dirty="0" smtClean="0">
                <a:latin typeface="Helvetica" pitchFamily="34" charset="0"/>
              </a:rPr>
              <a:t>Do whatever you can to keep the pests out in the first place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Keeping doors and windows to guest rooms </a:t>
            </a:r>
            <a:br>
              <a:rPr lang="en-US" sz="2200" dirty="0" smtClean="0">
                <a:latin typeface="Helvetica" pitchFamily="34" charset="0"/>
              </a:rPr>
            </a:br>
            <a:r>
              <a:rPr lang="en-US" sz="2200" dirty="0" smtClean="0">
                <a:latin typeface="Helvetica" pitchFamily="34" charset="0"/>
              </a:rPr>
              <a:t>closed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Making sure fly wire screens are fitted and in </a:t>
            </a:r>
            <a:br>
              <a:rPr lang="en-US" sz="2200" dirty="0" smtClean="0">
                <a:latin typeface="Helvetica" pitchFamily="34" charset="0"/>
              </a:rPr>
            </a:br>
            <a:r>
              <a:rPr lang="en-US" sz="2200" dirty="0" smtClean="0">
                <a:latin typeface="Helvetica" pitchFamily="34" charset="0"/>
              </a:rPr>
              <a:t>good condition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Making sure that anything provided to a guest </a:t>
            </a:r>
            <a:br>
              <a:rPr lang="en-US" sz="2200" dirty="0" smtClean="0">
                <a:latin typeface="Helvetica" pitchFamily="34" charset="0"/>
              </a:rPr>
            </a:br>
            <a:r>
              <a:rPr lang="en-US" sz="2200" dirty="0" smtClean="0">
                <a:latin typeface="Helvetica" pitchFamily="34" charset="0"/>
              </a:rPr>
              <a:t>room is free from pests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Control any pests you see – using aerosol sprays, baits, traps, fogging, commercial spraying.</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6" name="Picture 5" descr="MP900341784[1].JPG"/>
          <p:cNvPicPr/>
          <p:nvPr/>
        </p:nvPicPr>
        <p:blipFill>
          <a:blip r:embed="rId3" cstate="print"/>
          <a:stretch>
            <a:fillRect/>
          </a:stretch>
        </p:blipFill>
        <p:spPr>
          <a:xfrm>
            <a:off x="7072330" y="2428868"/>
            <a:ext cx="1085215" cy="152400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Preventing pests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4968552"/>
          </a:xfrm>
        </p:spPr>
        <p:txBody>
          <a:bodyPr>
            <a:normAutofit/>
          </a:bodyPr>
          <a:lstStyle/>
          <a:p>
            <a:pPr marL="0">
              <a:spcBef>
                <a:spcPts val="600"/>
              </a:spcBef>
              <a:spcAft>
                <a:spcPts val="1200"/>
              </a:spcAft>
              <a:buNone/>
            </a:pPr>
            <a:r>
              <a:rPr lang="en-US" sz="2200" dirty="0" smtClean="0">
                <a:latin typeface="Helvetica" pitchFamily="34" charset="0"/>
              </a:rPr>
              <a:t>Apply good housekeeping techniques to deny food and drink to pests and maintain hygienic conditions includes: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Never leaving food out on benches or tables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Checking to ensure food scraps are not lying on the floor anywhere in the room – in the kitchen under the stove; under the bed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Keeping bins clean and in good repair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Cleaning premises thoroughly and </a:t>
            </a:r>
            <a:br>
              <a:rPr lang="en-US" sz="2200" dirty="0" smtClean="0">
                <a:latin typeface="Helvetica" pitchFamily="34" charset="0"/>
              </a:rPr>
            </a:br>
            <a:r>
              <a:rPr lang="en-US" sz="2200" dirty="0" smtClean="0">
                <a:latin typeface="Helvetica" pitchFamily="34" charset="0"/>
              </a:rPr>
              <a:t>disinfecting when necessary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Removing all rubbish on a regular basis.</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7" name="imgHvThumb" descr="Bee throwing garbage in trashcan"/>
          <p:cNvPicPr/>
          <p:nvPr/>
        </p:nvPicPr>
        <p:blipFill>
          <a:blip r:embed="rId3" cstate="print"/>
          <a:srcRect/>
          <a:stretch>
            <a:fillRect/>
          </a:stretch>
        </p:blipFill>
        <p:spPr bwMode="auto">
          <a:xfrm>
            <a:off x="6715140" y="3714752"/>
            <a:ext cx="1400172" cy="14001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Suspicious items or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dirty="0" smtClean="0">
                <a:latin typeface="Helvetica" pitchFamily="34" charset="0"/>
              </a:rPr>
              <a:t>Accommodation establishments are the setting for many </a:t>
            </a:r>
            <a:r>
              <a:rPr lang="en-AU" sz="2200" b="1" u="sng" dirty="0" smtClean="0">
                <a:latin typeface="Helvetica" pitchFamily="34" charset="0"/>
              </a:rPr>
              <a:t>illegal activities</a:t>
            </a:r>
            <a:r>
              <a:rPr lang="en-AU" sz="2200" dirty="0" smtClean="0">
                <a:latin typeface="Helvetica" pitchFamily="34" charset="0"/>
              </a:rPr>
              <a:t> and all room attendants must be alert for signs this is happening or may take place.</a:t>
            </a:r>
          </a:p>
          <a:p>
            <a:pPr marL="0">
              <a:spcBef>
                <a:spcPts val="600"/>
              </a:spcBef>
              <a:spcAft>
                <a:spcPts val="1200"/>
              </a:spcAft>
              <a:buNone/>
            </a:pPr>
            <a:r>
              <a:rPr lang="en-AU" sz="2200" dirty="0" smtClean="0">
                <a:latin typeface="Helvetica" pitchFamily="34" charset="0"/>
              </a:rPr>
              <a:t>The role of a room attendant is this regard is only to ‘report’ – it is not to intervene, take action or put themselves in harm’s way.</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6" name="Picture 5" descr="MP900448718[1].JPG"/>
          <p:cNvPicPr/>
          <p:nvPr/>
        </p:nvPicPr>
        <p:blipFill>
          <a:blip r:embed="rId3" cstate="print"/>
          <a:stretch>
            <a:fillRect/>
          </a:stretch>
        </p:blipFill>
        <p:spPr>
          <a:xfrm>
            <a:off x="3489433" y="4286256"/>
            <a:ext cx="2165134" cy="167675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Suspicious items or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Is the activity illegal or immoral?</a:t>
            </a:r>
          </a:p>
          <a:p>
            <a:pPr marL="0">
              <a:spcBef>
                <a:spcPts val="600"/>
              </a:spcBef>
              <a:spcAft>
                <a:spcPts val="1200"/>
              </a:spcAft>
              <a:buNone/>
            </a:pPr>
            <a:r>
              <a:rPr lang="en-AU" sz="2200" dirty="0" smtClean="0">
                <a:latin typeface="Helvetica" pitchFamily="34" charset="0"/>
              </a:rPr>
              <a:t>Most properties are not prepared to allow illegal activity and also frown on immoral activity.</a:t>
            </a:r>
          </a:p>
          <a:p>
            <a:pPr marL="0">
              <a:spcBef>
                <a:spcPts val="600"/>
              </a:spcBef>
              <a:spcAft>
                <a:spcPts val="1200"/>
              </a:spcAft>
              <a:buNone/>
            </a:pPr>
            <a:r>
              <a:rPr lang="en-AU" sz="2200" dirty="0" smtClean="0">
                <a:latin typeface="Helvetica" pitchFamily="34" charset="0"/>
              </a:rPr>
              <a:t>Some turn a blind eye to immoral activities deeming that what guests do in the privacy of their own room is their business.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20482" name="Picture 2" descr="C:\Documents and Settings\danielc\Local Settings\Temporary Internet Files\Content.IE5\M0QL8DHR\MP900439353[1].jpg"/>
          <p:cNvPicPr>
            <a:picLocks noChangeAspect="1" noChangeArrowheads="1"/>
          </p:cNvPicPr>
          <p:nvPr/>
        </p:nvPicPr>
        <p:blipFill>
          <a:blip r:embed="rId3" cstate="print"/>
          <a:srcRect/>
          <a:stretch>
            <a:fillRect/>
          </a:stretch>
        </p:blipFill>
        <p:spPr bwMode="auto">
          <a:xfrm>
            <a:off x="3400428" y="4357694"/>
            <a:ext cx="2343144" cy="1562096"/>
          </a:xfrm>
          <a:prstGeom prst="rect">
            <a:avLst/>
          </a:prstGeom>
          <a:no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Suspicious items or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Unusual items or situations:</a:t>
            </a:r>
          </a:p>
          <a:p>
            <a:pPr lvl="0">
              <a:spcBef>
                <a:spcPts val="600"/>
              </a:spcBef>
              <a:spcAft>
                <a:spcPts val="1200"/>
              </a:spcAft>
            </a:pPr>
            <a:r>
              <a:rPr lang="en-US" sz="2200" dirty="0" smtClean="0">
                <a:latin typeface="Helvetica" pitchFamily="34" charset="0"/>
              </a:rPr>
              <a:t>A package left unattended in corridor or stairwells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An item that is heavily bloodstained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package left in a check-out room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weapon found in a room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Drugs or packages thought to contain drugs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Explosives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Evidence of drug taking in a room.</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8" name="Picture 7" descr="MP900403071[1].JPG"/>
          <p:cNvPicPr/>
          <p:nvPr/>
        </p:nvPicPr>
        <p:blipFill>
          <a:blip r:embed="rId3" cstate="print"/>
          <a:stretch>
            <a:fillRect/>
          </a:stretch>
        </p:blipFill>
        <p:spPr>
          <a:xfrm>
            <a:off x="6357950" y="2786058"/>
            <a:ext cx="1904603" cy="1512937"/>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Suspicious items or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Suspicious occurrences or people:</a:t>
            </a:r>
          </a:p>
          <a:p>
            <a:pPr lvl="0">
              <a:spcBef>
                <a:spcPts val="600"/>
              </a:spcBef>
              <a:spcAft>
                <a:spcPts val="1200"/>
              </a:spcAft>
            </a:pPr>
            <a:r>
              <a:rPr lang="en-US" sz="2200" dirty="0" smtClean="0">
                <a:latin typeface="Helvetica" pitchFamily="34" charset="0"/>
              </a:rPr>
              <a:t>Person behaving nervously or anxiously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Person in an area they shouldn’t be in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Person using excessive force against another person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Loud voices and swearing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Sounds that indicate damage is being done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Person seeming to loiter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Person asking you to let them into a room.</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6" name="Picture 5" descr="MP900442650[1].JPG"/>
          <p:cNvPicPr/>
          <p:nvPr/>
        </p:nvPicPr>
        <p:blipFill>
          <a:blip r:embed="rId3" cstate="print"/>
          <a:stretch>
            <a:fillRect/>
          </a:stretch>
        </p:blipFill>
        <p:spPr>
          <a:xfrm>
            <a:off x="6500826" y="2214554"/>
            <a:ext cx="1544920" cy="1000132"/>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Suspicious items or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If you see or hear anything that is suspicious, unusual or appears illegal you should:</a:t>
            </a:r>
          </a:p>
          <a:p>
            <a:pPr lvl="0">
              <a:spcBef>
                <a:spcPts val="600"/>
              </a:spcBef>
              <a:spcAft>
                <a:spcPts val="1200"/>
              </a:spcAft>
            </a:pPr>
            <a:r>
              <a:rPr lang="en-US" sz="2200" dirty="0" smtClean="0">
                <a:latin typeface="Helvetica" pitchFamily="34" charset="0"/>
              </a:rPr>
              <a:t>Not say anything to the persons involved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Try not to alert them to the fact you have </a:t>
            </a:r>
            <a:br>
              <a:rPr lang="en-US" sz="2200" dirty="0" smtClean="0">
                <a:latin typeface="Helvetica" pitchFamily="34" charset="0"/>
              </a:rPr>
            </a:br>
            <a:r>
              <a:rPr lang="en-US" sz="2200" dirty="0" smtClean="0">
                <a:latin typeface="Helvetica" pitchFamily="34" charset="0"/>
              </a:rPr>
              <a:t>noticed something suspicious, unusual etc</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Try to remember as much detail as possible and write down notes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Alert the relevant person as soon as possible.</a:t>
            </a: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7" name="Picture 6" descr="MP900409717[1].JPG"/>
          <p:cNvPicPr/>
          <p:nvPr/>
        </p:nvPicPr>
        <p:blipFill>
          <a:blip r:embed="rId3" cstate="print"/>
          <a:stretch>
            <a:fillRect/>
          </a:stretch>
        </p:blipFill>
        <p:spPr>
          <a:xfrm>
            <a:off x="6643702" y="2643182"/>
            <a:ext cx="1758214" cy="1133318"/>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Suspicious items or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Taking action</a:t>
            </a:r>
          </a:p>
          <a:p>
            <a:pPr>
              <a:spcBef>
                <a:spcPts val="600"/>
              </a:spcBef>
              <a:spcAft>
                <a:spcPts val="1200"/>
              </a:spcAft>
              <a:buNone/>
            </a:pPr>
            <a:r>
              <a:rPr lang="en-AU" sz="2200" dirty="0" smtClean="0">
                <a:latin typeface="Helvetica" pitchFamily="34" charset="0"/>
              </a:rPr>
              <a:t>If you notice something that looks unusual or suspicious:</a:t>
            </a:r>
          </a:p>
          <a:p>
            <a:pPr>
              <a:spcBef>
                <a:spcPts val="600"/>
              </a:spcBef>
              <a:spcAft>
                <a:spcPts val="1200"/>
              </a:spcAft>
            </a:pPr>
            <a:r>
              <a:rPr lang="en-US" sz="2200" dirty="0" smtClean="0">
                <a:latin typeface="Helvetica" pitchFamily="34" charset="0"/>
              </a:rPr>
              <a:t>Advise the floor supervisor, the Floor Housekeeper or the Executive Housekeeper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Contact venue security. </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6" name="Picture 5" descr="MP900422699[1].JPG"/>
          <p:cNvPicPr/>
          <p:nvPr/>
        </p:nvPicPr>
        <p:blipFill>
          <a:blip r:embed="rId3" cstate="print"/>
          <a:stretch>
            <a:fillRect/>
          </a:stretch>
        </p:blipFill>
        <p:spPr>
          <a:xfrm>
            <a:off x="3909060" y="4143380"/>
            <a:ext cx="1325880" cy="2009775"/>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Handling guest property left in departed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Dealing with lost property</a:t>
            </a:r>
          </a:p>
          <a:p>
            <a:pPr>
              <a:spcBef>
                <a:spcPts val="600"/>
              </a:spcBef>
              <a:spcAft>
                <a:spcPts val="1200"/>
              </a:spcAft>
            </a:pPr>
            <a:r>
              <a:rPr lang="en-US" sz="2200" dirty="0" smtClean="0">
                <a:latin typeface="Helvetica" pitchFamily="34" charset="0"/>
              </a:rPr>
              <a:t>There may be times when you come across items in check-out rooms that have been left behind by the guest</a:t>
            </a:r>
          </a:p>
          <a:p>
            <a:pPr>
              <a:spcBef>
                <a:spcPts val="600"/>
              </a:spcBef>
              <a:spcAft>
                <a:spcPts val="1200"/>
              </a:spcAft>
            </a:pPr>
            <a:r>
              <a:rPr lang="en-AU" sz="2200" dirty="0" smtClean="0">
                <a:latin typeface="Helvetica" pitchFamily="34" charset="0"/>
              </a:rPr>
              <a:t>Sometimes this is an over-sight on their part and sometimes it is intentional</a:t>
            </a:r>
          </a:p>
          <a:p>
            <a:pPr>
              <a:spcBef>
                <a:spcPts val="600"/>
              </a:spcBef>
              <a:spcAft>
                <a:spcPts val="1200"/>
              </a:spcAft>
            </a:pPr>
            <a:r>
              <a:rPr lang="en-US" sz="2200" dirty="0" smtClean="0">
                <a:latin typeface="Helvetica" pitchFamily="34" charset="0"/>
              </a:rPr>
              <a:t>Such items should be treated as valuable, regardless of monetary value.</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21506" name="Picture 2" descr="I:\Overseas Projects\PHOTOS\2012\L&amp;F Signage.jpg"/>
          <p:cNvPicPr>
            <a:picLocks noChangeAspect="1" noChangeArrowheads="1"/>
          </p:cNvPicPr>
          <p:nvPr/>
        </p:nvPicPr>
        <p:blipFill>
          <a:blip r:embed="rId3" cstate="print"/>
          <a:srcRect/>
          <a:stretch>
            <a:fillRect/>
          </a:stretch>
        </p:blipFill>
        <p:spPr bwMode="auto">
          <a:xfrm>
            <a:off x="3605216" y="5143512"/>
            <a:ext cx="1933568" cy="1164508"/>
          </a:xfrm>
          <a:prstGeom prst="rect">
            <a:avLst/>
          </a:prstGeom>
          <a:noFill/>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Handling guest property left in departed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600"/>
              </a:spcAft>
              <a:buNone/>
            </a:pPr>
            <a:r>
              <a:rPr lang="en-US" sz="2200" dirty="0" smtClean="0">
                <a:latin typeface="Helvetica" pitchFamily="34" charset="0"/>
              </a:rPr>
              <a:t>All such items should be taken to the housekeeping department and recorded in the ‘Lost and Found’ log book. </a:t>
            </a:r>
            <a:endParaRPr lang="en-AU" sz="2200" dirty="0" smtClean="0">
              <a:latin typeface="Helvetica" pitchFamily="34" charset="0"/>
            </a:endParaRPr>
          </a:p>
          <a:p>
            <a:pPr marL="0">
              <a:spcBef>
                <a:spcPts val="600"/>
              </a:spcBef>
              <a:spcAft>
                <a:spcPts val="600"/>
              </a:spcAft>
              <a:buNone/>
            </a:pPr>
            <a:r>
              <a:rPr lang="en-US" sz="2200" dirty="0" smtClean="0">
                <a:latin typeface="Helvetica" pitchFamily="34" charset="0"/>
              </a:rPr>
              <a:t>Information that needs to be recorded about the item includes:</a:t>
            </a:r>
            <a:endParaRPr lang="en-AU" sz="2200" dirty="0" smtClean="0">
              <a:latin typeface="Helvetica" pitchFamily="34" charset="0"/>
            </a:endParaRPr>
          </a:p>
          <a:p>
            <a:pPr marL="0" lvl="0">
              <a:spcBef>
                <a:spcPts val="600"/>
              </a:spcBef>
              <a:spcAft>
                <a:spcPts val="600"/>
              </a:spcAft>
            </a:pPr>
            <a:r>
              <a:rPr lang="en-US" sz="2200" dirty="0" smtClean="0">
                <a:latin typeface="Helvetica" pitchFamily="34" charset="0"/>
              </a:rPr>
              <a:t>Date found</a:t>
            </a:r>
            <a:endParaRPr lang="en-AU" sz="2200" dirty="0" smtClean="0">
              <a:latin typeface="Helvetica" pitchFamily="34" charset="0"/>
            </a:endParaRPr>
          </a:p>
          <a:p>
            <a:pPr marL="0" lvl="0">
              <a:spcBef>
                <a:spcPts val="600"/>
              </a:spcBef>
              <a:spcAft>
                <a:spcPts val="600"/>
              </a:spcAft>
            </a:pPr>
            <a:r>
              <a:rPr lang="en-US" sz="2200" dirty="0" smtClean="0">
                <a:latin typeface="Helvetica" pitchFamily="34" charset="0"/>
              </a:rPr>
              <a:t>Room number or other location</a:t>
            </a:r>
            <a:endParaRPr lang="en-AU" sz="2200" dirty="0" smtClean="0">
              <a:latin typeface="Helvetica" pitchFamily="34" charset="0"/>
            </a:endParaRPr>
          </a:p>
          <a:p>
            <a:pPr marL="0" lvl="0">
              <a:spcBef>
                <a:spcPts val="600"/>
              </a:spcBef>
              <a:spcAft>
                <a:spcPts val="600"/>
              </a:spcAft>
            </a:pPr>
            <a:r>
              <a:rPr lang="en-US" sz="2200" dirty="0" smtClean="0">
                <a:latin typeface="Helvetica" pitchFamily="34" charset="0"/>
              </a:rPr>
              <a:t>Exact location</a:t>
            </a:r>
            <a:endParaRPr lang="en-AU" sz="2200" dirty="0" smtClean="0">
              <a:latin typeface="Helvetica" pitchFamily="34" charset="0"/>
            </a:endParaRPr>
          </a:p>
          <a:p>
            <a:pPr marL="0" lvl="0">
              <a:spcBef>
                <a:spcPts val="600"/>
              </a:spcBef>
              <a:spcAft>
                <a:spcPts val="600"/>
              </a:spcAft>
            </a:pPr>
            <a:r>
              <a:rPr lang="en-US" sz="2200" dirty="0" smtClean="0">
                <a:latin typeface="Helvetica" pitchFamily="34" charset="0"/>
              </a:rPr>
              <a:t>Description of item</a:t>
            </a:r>
            <a:endParaRPr lang="en-AU" sz="2200" dirty="0" smtClean="0">
              <a:latin typeface="Helvetica" pitchFamily="34" charset="0"/>
            </a:endParaRPr>
          </a:p>
          <a:p>
            <a:pPr marL="0" lvl="0">
              <a:spcBef>
                <a:spcPts val="600"/>
              </a:spcBef>
              <a:spcAft>
                <a:spcPts val="600"/>
              </a:spcAft>
            </a:pPr>
            <a:r>
              <a:rPr lang="en-US" sz="2200" dirty="0" smtClean="0">
                <a:latin typeface="Helvetica" pitchFamily="34" charset="0"/>
              </a:rPr>
              <a:t>Name of person who found the item</a:t>
            </a:r>
            <a:endParaRPr lang="en-AU" sz="2200" dirty="0" smtClean="0">
              <a:latin typeface="Helvetica" pitchFamily="34" charset="0"/>
            </a:endParaRPr>
          </a:p>
          <a:p>
            <a:pPr marL="0" lvl="0">
              <a:spcBef>
                <a:spcPts val="600"/>
              </a:spcBef>
              <a:spcAft>
                <a:spcPts val="600"/>
              </a:spcAft>
            </a:pPr>
            <a:r>
              <a:rPr lang="en-US" sz="2200" dirty="0" smtClean="0">
                <a:latin typeface="Helvetica" pitchFamily="34" charset="0"/>
              </a:rPr>
              <a:t>Date item was returned to the owner.</a:t>
            </a: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6" name="Picture 5" descr="MP900442283[1].JPG"/>
          <p:cNvPicPr/>
          <p:nvPr/>
        </p:nvPicPr>
        <p:blipFill>
          <a:blip r:embed="rId3" cstate="print"/>
          <a:stretch>
            <a:fillRect/>
          </a:stretch>
        </p:blipFill>
        <p:spPr>
          <a:xfrm>
            <a:off x="6072198" y="3429000"/>
            <a:ext cx="2078881" cy="1571636"/>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Handling guest property left in departed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600"/>
              </a:spcAft>
              <a:buNone/>
            </a:pPr>
            <a:r>
              <a:rPr lang="en-AU" sz="2200" dirty="0" smtClean="0">
                <a:latin typeface="Helvetica" pitchFamily="34" charset="0"/>
              </a:rPr>
              <a:t>Not all items left in a guest room are ‘lost’. They may have been deliberately left there. </a:t>
            </a:r>
          </a:p>
          <a:p>
            <a:pPr marL="0" lvl="0">
              <a:spcBef>
                <a:spcPts val="600"/>
              </a:spcBef>
              <a:spcAft>
                <a:spcPts val="600"/>
              </a:spcAft>
            </a:pPr>
            <a:r>
              <a:rPr lang="en-AU" sz="2200" dirty="0" smtClean="0">
                <a:latin typeface="Helvetica" pitchFamily="34" charset="0"/>
              </a:rPr>
              <a:t>Romantic or sexual items</a:t>
            </a:r>
          </a:p>
          <a:p>
            <a:pPr>
              <a:spcBef>
                <a:spcPts val="600"/>
              </a:spcBef>
              <a:spcAft>
                <a:spcPts val="600"/>
              </a:spcAft>
            </a:pPr>
            <a:r>
              <a:rPr lang="en-AU" sz="2200" dirty="0" smtClean="0">
                <a:latin typeface="Helvetica" pitchFamily="34" charset="0"/>
              </a:rPr>
              <a:t>Perishable food</a:t>
            </a:r>
          </a:p>
          <a:p>
            <a:pPr>
              <a:spcBef>
                <a:spcPts val="600"/>
              </a:spcBef>
              <a:spcAft>
                <a:spcPts val="600"/>
              </a:spcAft>
            </a:pPr>
            <a:r>
              <a:rPr lang="en-AU" sz="2200" dirty="0" smtClean="0">
                <a:latin typeface="Helvetica" pitchFamily="34" charset="0"/>
              </a:rPr>
              <a:t>Liquor</a:t>
            </a:r>
          </a:p>
          <a:p>
            <a:pPr marL="0" lvl="0">
              <a:spcBef>
                <a:spcPts val="600"/>
              </a:spcBef>
              <a:spcAft>
                <a:spcPts val="600"/>
              </a:spcAft>
            </a:pPr>
            <a:r>
              <a:rPr lang="en-AU" sz="2200" dirty="0" smtClean="0">
                <a:latin typeface="Helvetica" pitchFamily="34" charset="0"/>
              </a:rPr>
              <a:t>Newspapers</a:t>
            </a:r>
          </a:p>
          <a:p>
            <a:pPr marL="0" lvl="0">
              <a:spcBef>
                <a:spcPts val="600"/>
              </a:spcBef>
              <a:spcAft>
                <a:spcPts val="600"/>
              </a:spcAft>
            </a:pPr>
            <a:r>
              <a:rPr lang="en-AU" sz="2200" dirty="0" smtClean="0">
                <a:latin typeface="Helvetica" pitchFamily="34" charset="0"/>
              </a:rPr>
              <a:t>Books</a:t>
            </a:r>
          </a:p>
          <a:p>
            <a:pPr marL="0" lvl="0">
              <a:spcBef>
                <a:spcPts val="600"/>
              </a:spcBef>
              <a:spcAft>
                <a:spcPts val="600"/>
              </a:spcAft>
            </a:pPr>
            <a:r>
              <a:rPr lang="en-AU" sz="2200" dirty="0" smtClean="0">
                <a:latin typeface="Helvetica" pitchFamily="34" charset="0"/>
              </a:rPr>
              <a:t>Magazines</a:t>
            </a:r>
          </a:p>
          <a:p>
            <a:pPr marL="0" lvl="0">
              <a:spcBef>
                <a:spcPts val="600"/>
              </a:spcBef>
              <a:spcAft>
                <a:spcPts val="600"/>
              </a:spcAft>
            </a:pPr>
            <a:r>
              <a:rPr lang="en-AU" sz="2200" dirty="0" smtClean="0">
                <a:latin typeface="Helvetica" pitchFamily="34" charset="0"/>
              </a:rPr>
              <a:t>Documents</a:t>
            </a:r>
          </a:p>
          <a:p>
            <a:pPr marL="0" lvl="0">
              <a:spcBef>
                <a:spcPts val="600"/>
              </a:spcBef>
              <a:spcAft>
                <a:spcPts val="600"/>
              </a:spcAft>
            </a:pPr>
            <a:r>
              <a:rPr lang="en-AU" sz="2200" dirty="0" smtClean="0">
                <a:latin typeface="Helvetica" pitchFamily="34" charset="0"/>
              </a:rPr>
              <a:t>Other inexpensive items.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8" name="Picture 7" descr="MP900425493[1].JPG"/>
          <p:cNvPicPr/>
          <p:nvPr/>
        </p:nvPicPr>
        <p:blipFill>
          <a:blip r:embed="rId3" cstate="print"/>
          <a:stretch>
            <a:fillRect/>
          </a:stretch>
        </p:blipFill>
        <p:spPr>
          <a:xfrm>
            <a:off x="6572264" y="2071678"/>
            <a:ext cx="1204309" cy="1132603"/>
          </a:xfrm>
          <a:prstGeom prst="rect">
            <a:avLst/>
          </a:prstGeom>
        </p:spPr>
      </p:pic>
      <p:pic>
        <p:nvPicPr>
          <p:cNvPr id="22530" name="Picture 2" descr="C:\Documents and Settings\danielc\Local Settings\Temporary Internet Files\Content.IE5\M0QL8DHR\MP900314269[1].jpg"/>
          <p:cNvPicPr>
            <a:picLocks noChangeAspect="1" noChangeArrowheads="1"/>
          </p:cNvPicPr>
          <p:nvPr/>
        </p:nvPicPr>
        <p:blipFill>
          <a:blip r:embed="rId4" cstate="print"/>
          <a:srcRect/>
          <a:stretch>
            <a:fillRect/>
          </a:stretch>
        </p:blipFill>
        <p:spPr bwMode="auto">
          <a:xfrm>
            <a:off x="6286512" y="3286124"/>
            <a:ext cx="1614486" cy="1089778"/>
          </a:xfrm>
          <a:prstGeom prst="rect">
            <a:avLst/>
          </a:prstGeom>
          <a:noFill/>
        </p:spPr>
      </p:pic>
      <p:pic>
        <p:nvPicPr>
          <p:cNvPr id="22531" name="Picture 3" descr="C:\Documents and Settings\danielc\Local Settings\Temporary Internet Files\Content.IE5\M0QL8DHR\MC900112496[1].wmf"/>
          <p:cNvPicPr>
            <a:picLocks noChangeAspect="1" noChangeArrowheads="1"/>
          </p:cNvPicPr>
          <p:nvPr/>
        </p:nvPicPr>
        <p:blipFill>
          <a:blip r:embed="rId5" cstate="print"/>
          <a:srcRect/>
          <a:stretch>
            <a:fillRect/>
          </a:stretch>
        </p:blipFill>
        <p:spPr bwMode="auto">
          <a:xfrm>
            <a:off x="4357686" y="3000372"/>
            <a:ext cx="1822430" cy="1172825"/>
          </a:xfrm>
          <a:prstGeom prst="rect">
            <a:avLst/>
          </a:prstGeom>
          <a:noFill/>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12776"/>
            <a:ext cx="8280920" cy="4680520"/>
          </a:xfrm>
        </p:spPr>
        <p:txBody>
          <a:bodyPr>
            <a:normAutofit/>
          </a:bodyPr>
          <a:lstStyle/>
          <a:p>
            <a:pPr>
              <a:buNone/>
            </a:pPr>
            <a:r>
              <a:rPr lang="en-AU" sz="3200" b="1" dirty="0" smtClean="0">
                <a:solidFill>
                  <a:srgbClr val="FF6600"/>
                </a:solidFill>
              </a:rPr>
              <a:t>Element 6:</a:t>
            </a:r>
          </a:p>
          <a:p>
            <a:pPr marL="0">
              <a:buNone/>
            </a:pPr>
            <a:r>
              <a:rPr lang="en-AU" sz="3200" b="1" i="1" dirty="0" smtClean="0">
                <a:solidFill>
                  <a:srgbClr val="FF6600"/>
                </a:solidFill>
              </a:rPr>
              <a:t>Provide additional housekeeping services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6" name="Picture 5" descr="MP900408879[1].JPG"/>
          <p:cNvPicPr>
            <a:picLocks noChangeAspect="1"/>
          </p:cNvPicPr>
          <p:nvPr/>
        </p:nvPicPr>
        <p:blipFill>
          <a:blip r:embed="rId3" cstate="print"/>
          <a:stretch>
            <a:fillRect/>
          </a:stretch>
        </p:blipFill>
        <p:spPr>
          <a:xfrm>
            <a:off x="3419872" y="3284984"/>
            <a:ext cx="2143140" cy="2143140"/>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additional housekeeping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Provide turn-down service</a:t>
            </a:r>
          </a:p>
          <a:p>
            <a:pPr>
              <a:spcBef>
                <a:spcPts val="600"/>
              </a:spcBef>
              <a:spcAft>
                <a:spcPts val="1200"/>
              </a:spcAft>
            </a:pPr>
            <a:r>
              <a:rPr lang="en-AU" sz="2200" dirty="0" smtClean="0">
                <a:latin typeface="Helvetica" pitchFamily="34" charset="0"/>
              </a:rPr>
              <a:t>Carry out rotational cleaning duties</a:t>
            </a:r>
          </a:p>
          <a:p>
            <a:pPr>
              <a:spcBef>
                <a:spcPts val="600"/>
              </a:spcBef>
              <a:spcAft>
                <a:spcPts val="1200"/>
              </a:spcAft>
            </a:pPr>
            <a:r>
              <a:rPr lang="en-AU" sz="2200" dirty="0" smtClean="0">
                <a:latin typeface="Helvetica" pitchFamily="34" charset="0"/>
              </a:rPr>
              <a:t>Lend equipment to guests, as requested in accordance with house policies.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6" name="Picture 5" descr="MP900387002[1].JPG"/>
          <p:cNvPicPr>
            <a:picLocks noChangeAspect="1"/>
          </p:cNvPicPr>
          <p:nvPr/>
        </p:nvPicPr>
        <p:blipFill>
          <a:blip r:embed="rId3" cstate="print"/>
          <a:stretch>
            <a:fillRect/>
          </a:stretch>
        </p:blipFill>
        <p:spPr>
          <a:xfrm>
            <a:off x="3909532" y="4214818"/>
            <a:ext cx="1324937" cy="1857388"/>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turn-down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Turn down service is service commonly found in four or five star hotels</a:t>
            </a:r>
          </a:p>
          <a:p>
            <a:pPr>
              <a:spcBef>
                <a:spcPts val="600"/>
              </a:spcBef>
              <a:spcAft>
                <a:spcPts val="1200"/>
              </a:spcAft>
            </a:pPr>
            <a:r>
              <a:rPr lang="en-AU" sz="2200" dirty="0" smtClean="0">
                <a:latin typeface="Helvetica" pitchFamily="34" charset="0"/>
              </a:rPr>
              <a:t>It is a service that prepares the room at the end of the day for the comfort of the guest</a:t>
            </a:r>
          </a:p>
          <a:p>
            <a:pPr>
              <a:spcBef>
                <a:spcPts val="600"/>
              </a:spcBef>
              <a:spcAft>
                <a:spcPts val="1200"/>
              </a:spcAft>
            </a:pPr>
            <a:r>
              <a:rPr lang="en-AU" sz="2200" dirty="0" smtClean="0">
                <a:latin typeface="Helvetica" pitchFamily="34" charset="0"/>
              </a:rPr>
              <a:t>It is designed to make the room soothing and inviting for rest and relaxation.</a:t>
            </a:r>
            <a:endParaRPr lang="en-AU"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23554" name="Picture 2" descr="C:\Documents and Settings\danielc\Local Settings\Temporary Internet Files\Content.IE5\WOYKSSHU\MC900233533[1].wmf"/>
          <p:cNvPicPr>
            <a:picLocks noChangeAspect="1" noChangeArrowheads="1"/>
          </p:cNvPicPr>
          <p:nvPr/>
        </p:nvPicPr>
        <p:blipFill>
          <a:blip r:embed="rId3" cstate="print"/>
          <a:srcRect/>
          <a:stretch>
            <a:fillRect/>
          </a:stretch>
        </p:blipFill>
        <p:spPr bwMode="auto">
          <a:xfrm>
            <a:off x="3786182" y="4572008"/>
            <a:ext cx="1537629" cy="1340385"/>
          </a:xfrm>
          <a:prstGeom prst="rect">
            <a:avLst/>
          </a:prstGeom>
          <a:noFill/>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Steps of turn-down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Preparation</a:t>
            </a:r>
          </a:p>
          <a:p>
            <a:pPr marL="0">
              <a:spcBef>
                <a:spcPts val="600"/>
              </a:spcBef>
              <a:spcAft>
                <a:spcPts val="1200"/>
              </a:spcAft>
              <a:buNone/>
            </a:pPr>
            <a:r>
              <a:rPr lang="en-AU" sz="2200" dirty="0" smtClean="0">
                <a:latin typeface="Helvetica" pitchFamily="34" charset="0"/>
              </a:rPr>
              <a:t>The first step is to prepare the items that may be used as part of turn-down including:</a:t>
            </a:r>
          </a:p>
          <a:p>
            <a:pPr lvl="0">
              <a:spcBef>
                <a:spcPts val="600"/>
              </a:spcBef>
              <a:spcAft>
                <a:spcPts val="1200"/>
              </a:spcAft>
            </a:pPr>
            <a:r>
              <a:rPr lang="en-AU" sz="2200" dirty="0" smtClean="0">
                <a:latin typeface="Helvetica" pitchFamily="34" charset="0"/>
              </a:rPr>
              <a:t>Linen – bed sheets, bath towels and pillows</a:t>
            </a:r>
          </a:p>
          <a:p>
            <a:pPr lvl="0">
              <a:spcBef>
                <a:spcPts val="600"/>
              </a:spcBef>
              <a:spcAft>
                <a:spcPts val="1200"/>
              </a:spcAft>
            </a:pPr>
            <a:r>
              <a:rPr lang="en-AU" sz="2200" dirty="0" smtClean="0">
                <a:latin typeface="Helvetica" pitchFamily="34" charset="0"/>
              </a:rPr>
              <a:t>Amenities – shampoo, conditioner, hand lotion, moisturiser, sanitary items, toilet paper, tissues</a:t>
            </a:r>
          </a:p>
          <a:p>
            <a:pPr lvl="0">
              <a:spcBef>
                <a:spcPts val="600"/>
              </a:spcBef>
              <a:spcAft>
                <a:spcPts val="1200"/>
              </a:spcAft>
            </a:pPr>
            <a:r>
              <a:rPr lang="en-AU" sz="2200" dirty="0" smtClean="0">
                <a:latin typeface="Helvetica" pitchFamily="34" charset="0"/>
              </a:rPr>
              <a:t>Give always – newspapers, chocolates,                            fruit, messages, flowers.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24578" name="Picture 2" descr="I:\Overseas Projects\PHOTOS\2012\508417_85009206.jpg"/>
          <p:cNvPicPr>
            <a:picLocks noChangeAspect="1" noChangeArrowheads="1"/>
          </p:cNvPicPr>
          <p:nvPr/>
        </p:nvPicPr>
        <p:blipFill>
          <a:blip r:embed="rId3" cstate="print"/>
          <a:srcRect/>
          <a:stretch>
            <a:fillRect/>
          </a:stretch>
        </p:blipFill>
        <p:spPr bwMode="auto">
          <a:xfrm>
            <a:off x="6572264" y="4643446"/>
            <a:ext cx="1714512" cy="1285884"/>
          </a:xfrm>
          <a:prstGeom prst="rect">
            <a:avLst/>
          </a:prstGeom>
          <a:noFill/>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Steps of turn-down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Enter the room</a:t>
            </a:r>
          </a:p>
          <a:p>
            <a:pPr marL="0" indent="0">
              <a:spcBef>
                <a:spcPts val="600"/>
              </a:spcBef>
              <a:spcAft>
                <a:spcPts val="1200"/>
              </a:spcAft>
              <a:buNone/>
            </a:pPr>
            <a:r>
              <a:rPr lang="en-AU" sz="2200" dirty="0" smtClean="0">
                <a:latin typeface="Helvetica" pitchFamily="34" charset="0"/>
              </a:rPr>
              <a:t>There will be a good chance the guest is in the room and may request:</a:t>
            </a:r>
          </a:p>
          <a:p>
            <a:pPr lvl="0">
              <a:spcBef>
                <a:spcPts val="600"/>
              </a:spcBef>
              <a:spcAft>
                <a:spcPts val="1200"/>
              </a:spcAft>
            </a:pPr>
            <a:r>
              <a:rPr lang="en-AU" sz="2200" dirty="0" smtClean="0">
                <a:latin typeface="Helvetica" pitchFamily="34" charset="0"/>
              </a:rPr>
              <a:t>No service</a:t>
            </a:r>
          </a:p>
          <a:p>
            <a:pPr lvl="0">
              <a:spcBef>
                <a:spcPts val="600"/>
              </a:spcBef>
              <a:spcAft>
                <a:spcPts val="1200"/>
              </a:spcAft>
            </a:pPr>
            <a:r>
              <a:rPr lang="en-AU" sz="2200" dirty="0" smtClean="0">
                <a:latin typeface="Helvetica" pitchFamily="34" charset="0"/>
              </a:rPr>
              <a:t>Supply more and replacement items whilst not allowing you to enter the room</a:t>
            </a:r>
          </a:p>
          <a:p>
            <a:pPr lvl="0">
              <a:spcBef>
                <a:spcPts val="600"/>
              </a:spcBef>
              <a:spcAft>
                <a:spcPts val="1200"/>
              </a:spcAft>
            </a:pPr>
            <a:r>
              <a:rPr lang="en-AU" sz="2200" dirty="0" smtClean="0">
                <a:latin typeface="Helvetica" pitchFamily="34" charset="0"/>
              </a:rPr>
              <a:t>Turn-down service as normal.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6" name="Picture 5" descr="MP900431692[1].JPG"/>
          <p:cNvPicPr/>
          <p:nvPr/>
        </p:nvPicPr>
        <p:blipFill>
          <a:blip r:embed="rId3" cstate="print"/>
          <a:stretch>
            <a:fillRect/>
          </a:stretch>
        </p:blipFill>
        <p:spPr>
          <a:xfrm>
            <a:off x="5857884" y="4429132"/>
            <a:ext cx="1780778" cy="1780778"/>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Steps of turn-down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Complete turn-down service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Closing of curtains</a:t>
            </a:r>
          </a:p>
          <a:p>
            <a:pPr lvl="0">
              <a:spcBef>
                <a:spcPts val="600"/>
              </a:spcBef>
              <a:spcAft>
                <a:spcPts val="1200"/>
              </a:spcAft>
            </a:pPr>
            <a:r>
              <a:rPr lang="en-AU" sz="2200" dirty="0" smtClean="0">
                <a:latin typeface="Helvetica" pitchFamily="34" charset="0"/>
              </a:rPr>
              <a:t>Turning on lights to a soothing level</a:t>
            </a:r>
          </a:p>
          <a:p>
            <a:pPr lvl="0">
              <a:spcBef>
                <a:spcPts val="600"/>
              </a:spcBef>
              <a:spcAft>
                <a:spcPts val="1200"/>
              </a:spcAft>
            </a:pPr>
            <a:r>
              <a:rPr lang="en-AU" sz="2200" dirty="0" smtClean="0">
                <a:latin typeface="Helvetica" pitchFamily="34" charset="0"/>
              </a:rPr>
              <a:t>Playing appropriate music through the radio or television</a:t>
            </a:r>
          </a:p>
          <a:p>
            <a:pPr lvl="0">
              <a:spcBef>
                <a:spcPts val="600"/>
              </a:spcBef>
              <a:spcAft>
                <a:spcPts val="1200"/>
              </a:spcAft>
            </a:pPr>
            <a:r>
              <a:rPr lang="en-AU" sz="2200" dirty="0" smtClean="0">
                <a:latin typeface="Helvetica" pitchFamily="34" charset="0"/>
              </a:rPr>
              <a:t>Preparing the bed by removing or folding back display quilts and blankets making access to bed easier.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7" name="Picture 6" descr="MP900448314[1].JPG"/>
          <p:cNvPicPr/>
          <p:nvPr/>
        </p:nvPicPr>
        <p:blipFill>
          <a:blip r:embed="rId3" cstate="print"/>
          <a:stretch>
            <a:fillRect/>
          </a:stretch>
        </p:blipFill>
        <p:spPr>
          <a:xfrm>
            <a:off x="6429388" y="1714488"/>
            <a:ext cx="1589142" cy="1348730"/>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Steps of turn-down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Complete turn-down service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Placing items on the bed including fruit, messages, flowers or chocolates</a:t>
            </a:r>
          </a:p>
          <a:p>
            <a:pPr lvl="0">
              <a:spcBef>
                <a:spcPts val="600"/>
              </a:spcBef>
              <a:spcAft>
                <a:spcPts val="1200"/>
              </a:spcAft>
            </a:pPr>
            <a:r>
              <a:rPr lang="en-AU" sz="2200" dirty="0" smtClean="0">
                <a:latin typeface="Helvetica" pitchFamily="34" charset="0"/>
              </a:rPr>
              <a:t>Replace dirty towels</a:t>
            </a:r>
          </a:p>
          <a:p>
            <a:pPr lvl="0">
              <a:spcBef>
                <a:spcPts val="600"/>
              </a:spcBef>
              <a:spcAft>
                <a:spcPts val="1200"/>
              </a:spcAft>
            </a:pPr>
            <a:r>
              <a:rPr lang="en-AU" sz="2200" dirty="0" smtClean="0">
                <a:latin typeface="Helvetica" pitchFamily="34" charset="0"/>
              </a:rPr>
              <a:t>Clean basic and bathroom surfaces</a:t>
            </a:r>
          </a:p>
          <a:p>
            <a:pPr lvl="0">
              <a:spcBef>
                <a:spcPts val="600"/>
              </a:spcBef>
              <a:spcAft>
                <a:spcPts val="1200"/>
              </a:spcAft>
            </a:pPr>
            <a:r>
              <a:rPr lang="en-AU" sz="2200" dirty="0" smtClean="0">
                <a:latin typeface="Helvetica" pitchFamily="34" charset="0"/>
              </a:rPr>
              <a:t>Clean used crockery and cutlery</a:t>
            </a:r>
          </a:p>
          <a:p>
            <a:pPr lvl="0">
              <a:spcBef>
                <a:spcPts val="600"/>
              </a:spcBef>
              <a:spcAft>
                <a:spcPts val="1200"/>
              </a:spcAft>
            </a:pPr>
            <a:r>
              <a:rPr lang="en-AU" sz="2200" dirty="0" smtClean="0">
                <a:latin typeface="Helvetica" pitchFamily="34" charset="0"/>
              </a:rPr>
              <a:t>Clean bins</a:t>
            </a:r>
          </a:p>
          <a:p>
            <a:pPr lvl="0">
              <a:spcBef>
                <a:spcPts val="600"/>
              </a:spcBef>
              <a:spcAft>
                <a:spcPts val="1200"/>
              </a:spcAft>
            </a:pPr>
            <a:r>
              <a:rPr lang="en-AU" sz="2200" dirty="0" smtClean="0">
                <a:latin typeface="Helvetica" pitchFamily="34" charset="0"/>
              </a:rPr>
              <a:t>Conduct a general clean and tidy.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7" name="Picture 6" descr="MP900431755[1].JPG"/>
          <p:cNvPicPr>
            <a:picLocks noChangeAspect="1"/>
          </p:cNvPicPr>
          <p:nvPr/>
        </p:nvPicPr>
        <p:blipFill>
          <a:blip r:embed="rId3" cstate="print"/>
          <a:stretch>
            <a:fillRect/>
          </a:stretch>
        </p:blipFill>
        <p:spPr>
          <a:xfrm>
            <a:off x="6072198" y="2928934"/>
            <a:ext cx="2061442" cy="1373758"/>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Steps of turn-down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Complete turn-down service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Once you have completed the turn-down service:</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Ask guest if they require any additional services – they may have laundry for submission</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Excuse yourself and leave the room at the earliest possible convenience.</a:t>
            </a:r>
            <a:endParaRPr lang="en-AU"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6" name="Picture 5" descr="MP900386192[1].JPG"/>
          <p:cNvPicPr>
            <a:picLocks noChangeAspect="1"/>
          </p:cNvPicPr>
          <p:nvPr/>
        </p:nvPicPr>
        <p:blipFill>
          <a:blip r:embed="rId3" cstate="print"/>
          <a:stretch>
            <a:fillRect/>
          </a:stretch>
        </p:blipFill>
        <p:spPr>
          <a:xfrm>
            <a:off x="3714744" y="4429132"/>
            <a:ext cx="1315211" cy="1972816"/>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Steps of turn-down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buNone/>
            </a:pPr>
            <a:r>
              <a:rPr lang="en-AU" sz="2200" b="1" dirty="0" smtClean="0">
                <a:latin typeface="Helvetica" pitchFamily="34" charset="0"/>
              </a:rPr>
              <a:t>Do Not Disturb (DND) Rooms</a:t>
            </a:r>
          </a:p>
          <a:p>
            <a:pPr marL="0">
              <a:spcBef>
                <a:spcPts val="600"/>
              </a:spcBef>
              <a:spcAft>
                <a:spcPts val="600"/>
              </a:spcAft>
              <a:buNone/>
            </a:pPr>
            <a:r>
              <a:rPr lang="en-AU" sz="2200" dirty="0" smtClean="0">
                <a:latin typeface="Helvetica" pitchFamily="34" charset="0"/>
              </a:rPr>
              <a:t>A number of rooms may have their DND signs out. In this case you must not knock on the door or enter the room:</a:t>
            </a:r>
            <a:endParaRPr lang="en-AU" sz="2200" b="1" dirty="0" smtClean="0">
              <a:latin typeface="Helvetica" pitchFamily="34" charset="0"/>
            </a:endParaRPr>
          </a:p>
          <a:p>
            <a:pPr lvl="0">
              <a:spcBef>
                <a:spcPts val="600"/>
              </a:spcBef>
              <a:spcAft>
                <a:spcPts val="600"/>
              </a:spcAft>
            </a:pPr>
            <a:r>
              <a:rPr lang="en-AU" sz="2200" dirty="0" smtClean="0">
                <a:latin typeface="Helvetica" pitchFamily="34" charset="0"/>
              </a:rPr>
              <a:t>Record the time</a:t>
            </a:r>
            <a:endParaRPr lang="en-AU" sz="2200" b="1" dirty="0" smtClean="0">
              <a:latin typeface="Helvetica" pitchFamily="34" charset="0"/>
            </a:endParaRPr>
          </a:p>
          <a:p>
            <a:pPr lvl="0">
              <a:spcBef>
                <a:spcPts val="600"/>
              </a:spcBef>
              <a:spcAft>
                <a:spcPts val="600"/>
              </a:spcAft>
            </a:pPr>
            <a:r>
              <a:rPr lang="en-AU" sz="2200" dirty="0" smtClean="0">
                <a:latin typeface="Helvetica" pitchFamily="34" charset="0"/>
              </a:rPr>
              <a:t>Go back after you have completed other rooms </a:t>
            </a:r>
            <a:br>
              <a:rPr lang="en-AU" sz="2200" dirty="0" smtClean="0">
                <a:latin typeface="Helvetica" pitchFamily="34" charset="0"/>
              </a:rPr>
            </a:br>
            <a:r>
              <a:rPr lang="en-AU" sz="2200" dirty="0" smtClean="0">
                <a:latin typeface="Helvetica" pitchFamily="34" charset="0"/>
              </a:rPr>
              <a:t>to check if the room is ready for service</a:t>
            </a:r>
          </a:p>
          <a:p>
            <a:pPr lvl="0">
              <a:spcBef>
                <a:spcPts val="600"/>
              </a:spcBef>
              <a:spcAft>
                <a:spcPts val="600"/>
              </a:spcAft>
            </a:pPr>
            <a:r>
              <a:rPr lang="en-AU" sz="2200" dirty="0" smtClean="0">
                <a:latin typeface="Helvetica" pitchFamily="34" charset="0"/>
              </a:rPr>
              <a:t>If the DND sign is still there, slip an appropriate </a:t>
            </a:r>
            <a:br>
              <a:rPr lang="en-AU" sz="2200" dirty="0" smtClean="0">
                <a:latin typeface="Helvetica" pitchFamily="34" charset="0"/>
              </a:rPr>
            </a:br>
            <a:r>
              <a:rPr lang="en-AU" sz="2200" dirty="0" smtClean="0">
                <a:latin typeface="Helvetica" pitchFamily="34" charset="0"/>
              </a:rPr>
              <a:t>card under the door, requesting the guest to call housekeeping if they require turn-down at an appropriate time.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7" name="Picture 6" descr="MP900431800[1].JPG"/>
          <p:cNvPicPr>
            <a:picLocks noChangeAspect="1"/>
          </p:cNvPicPr>
          <p:nvPr/>
        </p:nvPicPr>
        <p:blipFill>
          <a:blip r:embed="rId3" cstate="print"/>
          <a:stretch>
            <a:fillRect/>
          </a:stretch>
        </p:blipFill>
        <p:spPr>
          <a:xfrm>
            <a:off x="7286644" y="3000372"/>
            <a:ext cx="1038790" cy="1557424"/>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dirty="0" smtClean="0">
                <a:latin typeface="Helvetica" pitchFamily="34" charset="0"/>
              </a:rPr>
              <a:t>These activities may be classified as:</a:t>
            </a:r>
          </a:p>
          <a:p>
            <a:pPr lvl="0">
              <a:spcBef>
                <a:spcPts val="600"/>
              </a:spcBef>
              <a:spcAft>
                <a:spcPts val="1200"/>
              </a:spcAft>
            </a:pPr>
            <a:r>
              <a:rPr lang="en-AU" sz="2200" b="1" dirty="0" smtClean="0">
                <a:latin typeface="Helvetica" pitchFamily="34" charset="0"/>
              </a:rPr>
              <a:t>Preventative maintenance </a:t>
            </a:r>
            <a:r>
              <a:rPr lang="en-AU" sz="2200" dirty="0" smtClean="0">
                <a:latin typeface="Helvetica" pitchFamily="34" charset="0"/>
              </a:rPr>
              <a:t>– activities to ensure equipment furniture, fixtures and fittings are operation and effective</a:t>
            </a:r>
          </a:p>
          <a:p>
            <a:pPr lvl="0">
              <a:spcBef>
                <a:spcPts val="600"/>
              </a:spcBef>
              <a:spcAft>
                <a:spcPts val="1200"/>
              </a:spcAft>
            </a:pPr>
            <a:r>
              <a:rPr lang="en-AU" sz="2200" b="1" dirty="0" smtClean="0">
                <a:latin typeface="Helvetica" pitchFamily="34" charset="0"/>
              </a:rPr>
              <a:t>Deep cleaning </a:t>
            </a:r>
            <a:r>
              <a:rPr lang="en-AU" sz="2200" dirty="0" smtClean="0">
                <a:latin typeface="Helvetica" pitchFamily="34" charset="0"/>
              </a:rPr>
              <a:t>– activities to ensure equipment furniture, fixtures and fittings are clean.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5" descr="MP900399692[1].JPG"/>
          <p:cNvPicPr/>
          <p:nvPr/>
        </p:nvPicPr>
        <p:blipFill>
          <a:blip r:embed="rId3" cstate="print"/>
          <a:stretch>
            <a:fillRect/>
          </a:stretch>
        </p:blipFill>
        <p:spPr>
          <a:xfrm>
            <a:off x="3698589" y="4357694"/>
            <a:ext cx="1746823" cy="1686981"/>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Preventative maintenance</a:t>
            </a:r>
          </a:p>
          <a:p>
            <a:pPr>
              <a:spcBef>
                <a:spcPts val="600"/>
              </a:spcBef>
              <a:spcAft>
                <a:spcPts val="1200"/>
              </a:spcAft>
              <a:buNone/>
            </a:pPr>
            <a:r>
              <a:rPr lang="en-AU" sz="2200" dirty="0" smtClean="0">
                <a:latin typeface="Helvetica" pitchFamily="34" charset="0"/>
              </a:rPr>
              <a:t>Some of these activities may include:</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Turning of mattresses </a:t>
            </a:r>
          </a:p>
          <a:p>
            <a:pPr lvl="0">
              <a:spcBef>
                <a:spcPts val="600"/>
              </a:spcBef>
              <a:spcAft>
                <a:spcPts val="1200"/>
              </a:spcAft>
            </a:pPr>
            <a:r>
              <a:rPr lang="en-AU" sz="2200" dirty="0" smtClean="0">
                <a:latin typeface="Helvetica" pitchFamily="34" charset="0"/>
              </a:rPr>
              <a:t>Replacement of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25602" name="Picture 2" descr="C:\Documents and Settings\danielc\Local Settings\Temporary Internet Files\Content.IE5\0OCRPEL9\MC900383482[1].wmf"/>
          <p:cNvPicPr>
            <a:picLocks noChangeAspect="1" noChangeArrowheads="1"/>
          </p:cNvPicPr>
          <p:nvPr/>
        </p:nvPicPr>
        <p:blipFill>
          <a:blip r:embed="rId3" cstate="print"/>
          <a:srcRect/>
          <a:stretch>
            <a:fillRect/>
          </a:stretch>
        </p:blipFill>
        <p:spPr bwMode="auto">
          <a:xfrm>
            <a:off x="5857884" y="2214554"/>
            <a:ext cx="1812341" cy="1408176"/>
          </a:xfrm>
          <a:prstGeom prst="rect">
            <a:avLst/>
          </a:prstGeom>
          <a:noFill/>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Deep cleaning</a:t>
            </a:r>
          </a:p>
          <a:p>
            <a:pPr marL="0" indent="0">
              <a:spcBef>
                <a:spcPts val="600"/>
              </a:spcBef>
              <a:spcAft>
                <a:spcPts val="1200"/>
              </a:spcAft>
              <a:buNone/>
            </a:pPr>
            <a:r>
              <a:rPr lang="en-US" sz="2200" dirty="0" smtClean="0">
                <a:latin typeface="Helvetica" pitchFamily="34" charset="0"/>
              </a:rPr>
              <a:t>In the normal daily cleaning process whilst the guest room is cleaned, quite often it may be ‘surface clean’ requiring a ‘deep clean’ on a regular basis</a:t>
            </a:r>
            <a:r>
              <a:rPr lang="en-US" sz="2400" dirty="0" smtClean="0"/>
              <a:t>.</a:t>
            </a:r>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6" name="Picture 5" descr="MP900175520[1].JPG"/>
          <p:cNvPicPr>
            <a:picLocks noChangeAspect="1"/>
          </p:cNvPicPr>
          <p:nvPr/>
        </p:nvPicPr>
        <p:blipFill>
          <a:blip r:embed="rId3" cstate="print"/>
          <a:stretch>
            <a:fillRect/>
          </a:stretch>
        </p:blipFill>
        <p:spPr>
          <a:xfrm>
            <a:off x="3705800" y="3500438"/>
            <a:ext cx="1732400" cy="2579256"/>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buNone/>
            </a:pPr>
            <a:r>
              <a:rPr lang="en-US" sz="2200" b="1" dirty="0" smtClean="0">
                <a:solidFill>
                  <a:srgbClr val="FF6600"/>
                </a:solidFill>
                <a:latin typeface="Helvetica" pitchFamily="34" charset="0"/>
              </a:rPr>
              <a:t>Deep cleaning</a:t>
            </a:r>
          </a:p>
          <a:p>
            <a:pPr>
              <a:spcBef>
                <a:spcPts val="600"/>
              </a:spcBef>
              <a:spcAft>
                <a:spcPts val="600"/>
              </a:spcAft>
              <a:buNone/>
            </a:pPr>
            <a:r>
              <a:rPr lang="en-US" sz="2200" b="1" u="sng" dirty="0" smtClean="0">
                <a:latin typeface="Helvetica" pitchFamily="34" charset="0"/>
              </a:rPr>
              <a:t>Room cleaning</a:t>
            </a:r>
            <a:endParaRPr lang="en-AU" sz="2200" b="1" u="sng" dirty="0" smtClean="0">
              <a:latin typeface="Helvetica" pitchFamily="34" charset="0"/>
            </a:endParaRPr>
          </a:p>
          <a:p>
            <a:pPr lvl="0">
              <a:spcBef>
                <a:spcPts val="600"/>
              </a:spcBef>
              <a:spcAft>
                <a:spcPts val="600"/>
              </a:spcAft>
            </a:pPr>
            <a:r>
              <a:rPr lang="en-AU" sz="2200" dirty="0" smtClean="0">
                <a:latin typeface="Helvetica" pitchFamily="34" charset="0"/>
              </a:rPr>
              <a:t>Moving all furniture and ensuring it is clean underneath</a:t>
            </a:r>
          </a:p>
          <a:p>
            <a:pPr lvl="0">
              <a:spcBef>
                <a:spcPts val="600"/>
              </a:spcBef>
              <a:spcAft>
                <a:spcPts val="600"/>
              </a:spcAft>
            </a:pPr>
            <a:r>
              <a:rPr lang="en-US" sz="2200" dirty="0" smtClean="0">
                <a:latin typeface="Helvetica" pitchFamily="34" charset="0"/>
              </a:rPr>
              <a:t>Steam cleaning of floors, furniture and curtains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Extensive glass cleaning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Closer attention to the baseboards ensuring all dirt is wiped clean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Dust and clean blinds, valences or shutters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Vacuum or clean high shelves.</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solidFill>
                  <a:srgbClr val="FF6600"/>
                </a:solidFill>
                <a:latin typeface="Helvetica" pitchFamily="34" charset="0"/>
              </a:rPr>
              <a:t>Deep cleaning</a:t>
            </a:r>
          </a:p>
          <a:p>
            <a:pPr>
              <a:spcBef>
                <a:spcPts val="600"/>
              </a:spcBef>
              <a:spcAft>
                <a:spcPts val="1200"/>
              </a:spcAft>
              <a:buNone/>
            </a:pPr>
            <a:r>
              <a:rPr lang="en-US" sz="2200" b="1" u="sng" dirty="0" smtClean="0">
                <a:latin typeface="Helvetica" pitchFamily="34" charset="0"/>
              </a:rPr>
              <a:t>Bathroom Cleaning</a:t>
            </a:r>
            <a:endParaRPr lang="en-AU" sz="2200" b="1" u="sng" dirty="0" smtClean="0">
              <a:latin typeface="Helvetica" pitchFamily="34" charset="0"/>
            </a:endParaRPr>
          </a:p>
          <a:p>
            <a:pPr lvl="0">
              <a:spcBef>
                <a:spcPts val="600"/>
              </a:spcBef>
              <a:spcAft>
                <a:spcPts val="1200"/>
              </a:spcAft>
            </a:pPr>
            <a:r>
              <a:rPr lang="en-US" sz="2200" dirty="0" smtClean="0">
                <a:latin typeface="Helvetica" pitchFamily="34" charset="0"/>
              </a:rPr>
              <a:t>Bleaching of all surfaces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Grouting of shower and floor tiles.</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6" name="Picture 5" descr="MP900385508[1].JPG"/>
          <p:cNvPicPr>
            <a:picLocks noChangeAspect="1"/>
          </p:cNvPicPr>
          <p:nvPr/>
        </p:nvPicPr>
        <p:blipFill>
          <a:blip r:embed="rId3" cstate="print"/>
          <a:stretch>
            <a:fillRect/>
          </a:stretch>
        </p:blipFill>
        <p:spPr>
          <a:xfrm>
            <a:off x="3371842" y="4143380"/>
            <a:ext cx="2400316" cy="1714512"/>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85728"/>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81808"/>
            <a:ext cx="7776864" cy="5616624"/>
          </a:xfrm>
        </p:spPr>
        <p:txBody>
          <a:bodyPr>
            <a:normAutofit fontScale="85000" lnSpcReduction="10000"/>
          </a:bodyPr>
          <a:lstStyle/>
          <a:p>
            <a:pPr>
              <a:lnSpc>
                <a:spcPct val="120000"/>
              </a:lnSpc>
              <a:spcBef>
                <a:spcPts val="600"/>
              </a:spcBef>
              <a:spcAft>
                <a:spcPts val="600"/>
              </a:spcAft>
              <a:buNone/>
            </a:pPr>
            <a:r>
              <a:rPr lang="en-US" sz="2600" b="1" dirty="0" smtClean="0">
                <a:solidFill>
                  <a:srgbClr val="FF6600"/>
                </a:solidFill>
                <a:latin typeface="Helvetica" pitchFamily="34" charset="0"/>
              </a:rPr>
              <a:t>Deep cleaning</a:t>
            </a:r>
          </a:p>
          <a:p>
            <a:pPr>
              <a:lnSpc>
                <a:spcPct val="120000"/>
              </a:lnSpc>
              <a:spcBef>
                <a:spcPts val="400"/>
              </a:spcBef>
              <a:spcAft>
                <a:spcPts val="400"/>
              </a:spcAft>
              <a:buNone/>
            </a:pPr>
            <a:r>
              <a:rPr lang="en-US" sz="2600" b="1" u="sng" dirty="0" smtClean="0">
                <a:latin typeface="Helvetica" pitchFamily="34" charset="0"/>
              </a:rPr>
              <a:t>Kitchen Cleaning</a:t>
            </a:r>
            <a:endParaRPr lang="en-AU" sz="2600" b="1" u="sng"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Pull stove and other appliances away from wall and clean</a:t>
            </a:r>
            <a:endParaRPr lang="en-AU" sz="2600"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Detail cabinets and pantry</a:t>
            </a:r>
            <a:endParaRPr lang="en-AU" sz="2600"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Detail kitchen drawers </a:t>
            </a:r>
            <a:endParaRPr lang="en-AU" sz="2600"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Refrigerator should be cleaned under and behind</a:t>
            </a:r>
            <a:endParaRPr lang="en-AU" sz="2600"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Disinfect countertops, backsplash, front of cabinetry and under countertop appliances</a:t>
            </a:r>
            <a:endParaRPr lang="en-AU" sz="2600"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Disinfect grooves in dishwasher and stove with toothbrush</a:t>
            </a:r>
            <a:endParaRPr lang="en-AU" sz="2600"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Defrosting of freezers</a:t>
            </a:r>
            <a:endParaRPr lang="en-AU" sz="2600" dirty="0" smtClean="0">
              <a:latin typeface="Helvetica" pitchFamily="34" charset="0"/>
            </a:endParaRPr>
          </a:p>
          <a:p>
            <a:pPr lvl="0">
              <a:lnSpc>
                <a:spcPct val="120000"/>
              </a:lnSpc>
              <a:spcBef>
                <a:spcPts val="400"/>
              </a:spcBef>
              <a:spcAft>
                <a:spcPts val="400"/>
              </a:spcAft>
            </a:pPr>
            <a:r>
              <a:rPr lang="en-US" sz="2600" dirty="0" smtClean="0">
                <a:latin typeface="Helvetica" pitchFamily="34" charset="0"/>
              </a:rPr>
              <a:t>Disinfect garbage bins.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Aft>
                <a:spcPts val="600"/>
              </a:spcAft>
              <a:buNone/>
            </a:pPr>
            <a:r>
              <a:rPr lang="en-AU" sz="2200" b="1" dirty="0" smtClean="0">
                <a:latin typeface="Helvetica" pitchFamily="34" charset="0"/>
              </a:rPr>
              <a:t>Final Inspection of room</a:t>
            </a:r>
          </a:p>
          <a:p>
            <a:pPr lvl="0">
              <a:spcAft>
                <a:spcPts val="600"/>
              </a:spcAft>
            </a:pPr>
            <a:r>
              <a:rPr lang="en-AU" sz="2200" dirty="0" smtClean="0">
                <a:latin typeface="Helvetica" pitchFamily="34" charset="0"/>
              </a:rPr>
              <a:t>All equipment is in correct operational order</a:t>
            </a:r>
          </a:p>
          <a:p>
            <a:pPr lvl="0">
              <a:spcAft>
                <a:spcPts val="600"/>
              </a:spcAft>
            </a:pPr>
            <a:r>
              <a:rPr lang="en-AU" sz="2200" dirty="0" smtClean="0">
                <a:latin typeface="Helvetica" pitchFamily="34" charset="0"/>
              </a:rPr>
              <a:t>All equipment is re-set – clock radio, video, </a:t>
            </a:r>
            <a:br>
              <a:rPr lang="en-AU" sz="2200" dirty="0" smtClean="0">
                <a:latin typeface="Helvetica" pitchFamily="34" charset="0"/>
              </a:rPr>
            </a:br>
            <a:r>
              <a:rPr lang="en-AU" sz="2200" dirty="0" smtClean="0">
                <a:latin typeface="Helvetica" pitchFamily="34" charset="0"/>
              </a:rPr>
              <a:t>telephone volume</a:t>
            </a:r>
          </a:p>
          <a:p>
            <a:pPr lvl="0">
              <a:spcAft>
                <a:spcPts val="600"/>
              </a:spcAft>
            </a:pPr>
            <a:r>
              <a:rPr lang="en-AU" sz="2200" dirty="0" smtClean="0">
                <a:latin typeface="Helvetica" pitchFamily="34" charset="0"/>
              </a:rPr>
              <a:t>All crockery, cutlery and glassware is clean </a:t>
            </a:r>
            <a:br>
              <a:rPr lang="en-AU" sz="2200" dirty="0" smtClean="0">
                <a:latin typeface="Helvetica" pitchFamily="34" charset="0"/>
              </a:rPr>
            </a:br>
            <a:r>
              <a:rPr lang="en-AU" sz="2200" dirty="0" smtClean="0">
                <a:latin typeface="Helvetica" pitchFamily="34" charset="0"/>
              </a:rPr>
              <a:t>and replaced</a:t>
            </a:r>
          </a:p>
          <a:p>
            <a:pPr lvl="0">
              <a:spcAft>
                <a:spcPts val="600"/>
              </a:spcAft>
            </a:pPr>
            <a:r>
              <a:rPr lang="en-AU" sz="2200" dirty="0" smtClean="0">
                <a:latin typeface="Helvetica" pitchFamily="34" charset="0"/>
              </a:rPr>
              <a:t>All light bulbs are operational</a:t>
            </a:r>
          </a:p>
          <a:p>
            <a:pPr lvl="0">
              <a:spcAft>
                <a:spcPts val="600"/>
              </a:spcAft>
            </a:pPr>
            <a:r>
              <a:rPr lang="en-AU" sz="2200" dirty="0" smtClean="0">
                <a:latin typeface="Helvetica" pitchFamily="34" charset="0"/>
              </a:rPr>
              <a:t>Bed has been made properly and looks attractive</a:t>
            </a:r>
          </a:p>
          <a:p>
            <a:pPr lvl="0">
              <a:spcAft>
                <a:spcPts val="600"/>
              </a:spcAft>
            </a:pPr>
            <a:r>
              <a:rPr lang="en-AU" sz="2200" dirty="0" smtClean="0">
                <a:latin typeface="Helvetica" pitchFamily="34" charset="0"/>
              </a:rPr>
              <a:t>All picture frames are straight</a:t>
            </a:r>
          </a:p>
          <a:p>
            <a:pPr lvl="0">
              <a:spcAft>
                <a:spcPts val="600"/>
              </a:spcAft>
            </a:pPr>
            <a:r>
              <a:rPr lang="en-AU" sz="2200" dirty="0" smtClean="0">
                <a:latin typeface="Helvetica" pitchFamily="34" charset="0"/>
              </a:rPr>
              <a:t>All furniture is in the correct location.</a:t>
            </a: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26626" name="Picture 2" descr="C:\Documents and Settings\danielc\Local Settings\Temporary Internet Files\Content.IE5\ZB5AOP62\MP900410142[1].jpg"/>
          <p:cNvPicPr>
            <a:picLocks noChangeAspect="1" noChangeArrowheads="1"/>
          </p:cNvPicPr>
          <p:nvPr/>
        </p:nvPicPr>
        <p:blipFill>
          <a:blip r:embed="rId3" cstate="print"/>
          <a:srcRect/>
          <a:stretch>
            <a:fillRect/>
          </a:stretch>
        </p:blipFill>
        <p:spPr bwMode="auto">
          <a:xfrm>
            <a:off x="7000892" y="2428868"/>
            <a:ext cx="1377746" cy="2071678"/>
          </a:xfrm>
          <a:prstGeom prst="rect">
            <a:avLst/>
          </a:prstGeom>
          <a:noFill/>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Rotational cleaning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214422"/>
            <a:ext cx="7467600" cy="4525963"/>
          </a:xfrm>
        </p:spPr>
        <p:txBody>
          <a:bodyPr>
            <a:noAutofit/>
          </a:bodyPr>
          <a:lstStyle/>
          <a:p>
            <a:pPr lvl="0">
              <a:lnSpc>
                <a:spcPct val="120000"/>
              </a:lnSpc>
              <a:spcAft>
                <a:spcPts val="600"/>
              </a:spcAft>
              <a:buNone/>
            </a:pPr>
            <a:r>
              <a:rPr lang="en-AU" sz="2000" b="1" dirty="0" smtClean="0">
                <a:latin typeface="Helvetica" pitchFamily="34" charset="0"/>
              </a:rPr>
              <a:t>Final Inspection of room</a:t>
            </a:r>
          </a:p>
          <a:p>
            <a:pPr lvl="0">
              <a:lnSpc>
                <a:spcPct val="120000"/>
              </a:lnSpc>
              <a:spcAft>
                <a:spcPts val="600"/>
              </a:spcAft>
            </a:pPr>
            <a:r>
              <a:rPr lang="en-AU" sz="2000" dirty="0" smtClean="0">
                <a:latin typeface="Helvetica" pitchFamily="34" charset="0"/>
              </a:rPr>
              <a:t>Bathroom is clean and all stock replenished</a:t>
            </a:r>
          </a:p>
          <a:p>
            <a:pPr lvl="0">
              <a:lnSpc>
                <a:spcPct val="120000"/>
              </a:lnSpc>
              <a:spcAft>
                <a:spcPts val="600"/>
              </a:spcAft>
            </a:pPr>
            <a:r>
              <a:rPr lang="en-AU" sz="2000" dirty="0" smtClean="0">
                <a:latin typeface="Helvetica" pitchFamily="34" charset="0"/>
              </a:rPr>
              <a:t>Refrigerator is clean, turned on and restocked as required (fresh water, milk, ice cubes)</a:t>
            </a:r>
          </a:p>
          <a:p>
            <a:pPr lvl="0">
              <a:lnSpc>
                <a:spcPct val="120000"/>
              </a:lnSpc>
              <a:spcAft>
                <a:spcPts val="600"/>
              </a:spcAft>
            </a:pPr>
            <a:r>
              <a:rPr lang="en-AU" sz="2000" dirty="0" smtClean="0">
                <a:latin typeface="Helvetica" pitchFamily="34" charset="0"/>
              </a:rPr>
              <a:t>All guest supplies (give-aways) have been restocked</a:t>
            </a:r>
          </a:p>
          <a:p>
            <a:pPr lvl="0">
              <a:lnSpc>
                <a:spcPct val="120000"/>
              </a:lnSpc>
              <a:spcAft>
                <a:spcPts val="600"/>
              </a:spcAft>
            </a:pPr>
            <a:r>
              <a:rPr lang="en-AU" sz="2000" dirty="0" smtClean="0">
                <a:latin typeface="Helvetica" pitchFamily="34" charset="0"/>
              </a:rPr>
              <a:t>Bin liners have been replaced</a:t>
            </a:r>
          </a:p>
          <a:p>
            <a:pPr lvl="0">
              <a:lnSpc>
                <a:spcPct val="120000"/>
              </a:lnSpc>
              <a:spcAft>
                <a:spcPts val="600"/>
              </a:spcAft>
            </a:pPr>
            <a:r>
              <a:rPr lang="en-AU" sz="2000" dirty="0" smtClean="0">
                <a:latin typeface="Helvetica" pitchFamily="34" charset="0"/>
              </a:rPr>
              <a:t>All windows are closed</a:t>
            </a:r>
          </a:p>
          <a:p>
            <a:pPr lvl="0">
              <a:lnSpc>
                <a:spcPct val="120000"/>
              </a:lnSpc>
              <a:spcAft>
                <a:spcPts val="600"/>
              </a:spcAft>
            </a:pPr>
            <a:r>
              <a:rPr lang="en-AU" sz="2000" dirty="0" smtClean="0">
                <a:latin typeface="Helvetica" pitchFamily="34" charset="0"/>
              </a:rPr>
              <a:t>External doors to balconies are locked</a:t>
            </a:r>
          </a:p>
          <a:p>
            <a:pPr lvl="0">
              <a:lnSpc>
                <a:spcPct val="120000"/>
              </a:lnSpc>
              <a:spcAft>
                <a:spcPts val="600"/>
              </a:spcAft>
            </a:pPr>
            <a:r>
              <a:rPr lang="en-AU" sz="2000" dirty="0" smtClean="0">
                <a:latin typeface="Helvetica" pitchFamily="34" charset="0"/>
              </a:rPr>
              <a:t>All blinds and curtains are in place</a:t>
            </a:r>
          </a:p>
          <a:p>
            <a:pPr lvl="0">
              <a:lnSpc>
                <a:spcPct val="120000"/>
              </a:lnSpc>
              <a:spcAft>
                <a:spcPts val="600"/>
              </a:spcAft>
            </a:pPr>
            <a:r>
              <a:rPr lang="en-AU" sz="2000" dirty="0" smtClean="0">
                <a:latin typeface="Helvetica" pitchFamily="34" charset="0"/>
              </a:rPr>
              <a:t>Floor has been vacuumed</a:t>
            </a:r>
          </a:p>
          <a:p>
            <a:pPr lvl="0">
              <a:lnSpc>
                <a:spcPct val="120000"/>
              </a:lnSpc>
              <a:spcAft>
                <a:spcPts val="600"/>
              </a:spcAft>
            </a:pPr>
            <a:r>
              <a:rPr lang="en-AU" sz="2000" dirty="0" smtClean="0">
                <a:latin typeface="Helvetica" pitchFamily="34" charset="0"/>
              </a:rPr>
              <a:t>All lights are turned off.</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5" name="Picture 4" descr="MP900411745[1].JPG"/>
          <p:cNvPicPr>
            <a:picLocks noChangeAspect="1"/>
          </p:cNvPicPr>
          <p:nvPr/>
        </p:nvPicPr>
        <p:blipFill>
          <a:blip r:embed="rId3" cstate="print"/>
          <a:stretch>
            <a:fillRect/>
          </a:stretch>
        </p:blipFill>
        <p:spPr>
          <a:xfrm>
            <a:off x="6500826" y="3929066"/>
            <a:ext cx="1571636" cy="1571636"/>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Lending equipment to guests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It is impossible for a hotel to provide all items the guest could possibly need in all rooms</a:t>
            </a:r>
          </a:p>
          <a:p>
            <a:pPr>
              <a:spcBef>
                <a:spcPts val="600"/>
              </a:spcBef>
              <a:spcAft>
                <a:spcPts val="1200"/>
              </a:spcAft>
            </a:pPr>
            <a:r>
              <a:rPr lang="en-AU" sz="2200" dirty="0" smtClean="0">
                <a:latin typeface="Helvetica" pitchFamily="34" charset="0"/>
              </a:rPr>
              <a:t>Firstly the cost would be substantial, the room would become more cluttered and the opportunity for theft would greatly increase</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Therefore most hotels will have items available for loan to guests, upon request.</a:t>
            </a:r>
            <a:endParaRPr lang="en-AU"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6" name="Picture 5" descr="MP900431692[1].JPG"/>
          <p:cNvPicPr/>
          <p:nvPr/>
        </p:nvPicPr>
        <p:blipFill>
          <a:blip r:embed="rId3" cstate="print"/>
          <a:stretch>
            <a:fillRect/>
          </a:stretch>
        </p:blipFill>
        <p:spPr>
          <a:xfrm>
            <a:off x="3843338" y="4643446"/>
            <a:ext cx="1457325" cy="1457325"/>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loan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000660"/>
          </a:xfrm>
        </p:spPr>
        <p:txBody>
          <a:bodyPr>
            <a:normAutofit fontScale="85000" lnSpcReduction="20000"/>
          </a:bodyPr>
          <a:lstStyle/>
          <a:p>
            <a:pPr>
              <a:spcBef>
                <a:spcPts val="600"/>
              </a:spcBef>
              <a:spcAft>
                <a:spcPts val="1200"/>
              </a:spcAft>
            </a:pPr>
            <a:r>
              <a:rPr lang="en-AU" sz="2200" dirty="0" smtClean="0">
                <a:latin typeface="Helvetica" pitchFamily="34" charset="0"/>
              </a:rPr>
              <a:t>Special pillows</a:t>
            </a:r>
          </a:p>
          <a:p>
            <a:pPr>
              <a:spcBef>
                <a:spcPts val="600"/>
              </a:spcBef>
              <a:spcAft>
                <a:spcPts val="1200"/>
              </a:spcAft>
            </a:pPr>
            <a:r>
              <a:rPr lang="en-AU" sz="2200" dirty="0" smtClean="0">
                <a:latin typeface="Helvetica" pitchFamily="34" charset="0"/>
              </a:rPr>
              <a:t>Extra bedding</a:t>
            </a:r>
          </a:p>
          <a:p>
            <a:pPr>
              <a:spcBef>
                <a:spcPts val="600"/>
              </a:spcBef>
              <a:spcAft>
                <a:spcPts val="1200"/>
              </a:spcAft>
            </a:pPr>
            <a:r>
              <a:rPr lang="en-AU" sz="2200" dirty="0" smtClean="0">
                <a:latin typeface="Helvetica" pitchFamily="34" charset="0"/>
              </a:rPr>
              <a:t>Extra crockery and cutlery</a:t>
            </a:r>
          </a:p>
          <a:p>
            <a:pPr>
              <a:spcBef>
                <a:spcPts val="600"/>
              </a:spcBef>
              <a:spcAft>
                <a:spcPts val="1200"/>
              </a:spcAft>
            </a:pPr>
            <a:r>
              <a:rPr lang="en-AU" sz="2200" dirty="0" smtClean="0">
                <a:latin typeface="Helvetica" pitchFamily="34" charset="0"/>
              </a:rPr>
              <a:t>Cots</a:t>
            </a:r>
          </a:p>
          <a:p>
            <a:pPr>
              <a:spcBef>
                <a:spcPts val="600"/>
              </a:spcBef>
              <a:spcAft>
                <a:spcPts val="1200"/>
              </a:spcAft>
            </a:pPr>
            <a:r>
              <a:rPr lang="en-AU" sz="2200" dirty="0" smtClean="0">
                <a:latin typeface="Helvetica" pitchFamily="34" charset="0"/>
              </a:rPr>
              <a:t>Extra beds / rollway beds</a:t>
            </a:r>
          </a:p>
          <a:p>
            <a:pPr>
              <a:spcBef>
                <a:spcPts val="600"/>
              </a:spcBef>
              <a:spcAft>
                <a:spcPts val="1200"/>
              </a:spcAft>
            </a:pPr>
            <a:r>
              <a:rPr lang="en-AU" sz="2200" dirty="0" smtClean="0">
                <a:latin typeface="Helvetica" pitchFamily="34" charset="0"/>
              </a:rPr>
              <a:t>Extra furniture</a:t>
            </a:r>
          </a:p>
          <a:p>
            <a:pPr>
              <a:spcBef>
                <a:spcPts val="600"/>
              </a:spcBef>
              <a:spcAft>
                <a:spcPts val="1200"/>
              </a:spcAft>
            </a:pPr>
            <a:r>
              <a:rPr lang="en-AU" sz="2200" dirty="0" smtClean="0">
                <a:latin typeface="Helvetica" pitchFamily="34" charset="0"/>
              </a:rPr>
              <a:t>Ice buckets</a:t>
            </a:r>
          </a:p>
          <a:p>
            <a:pPr>
              <a:spcBef>
                <a:spcPts val="600"/>
              </a:spcBef>
              <a:spcAft>
                <a:spcPts val="1200"/>
              </a:spcAft>
            </a:pPr>
            <a:r>
              <a:rPr lang="en-AU" sz="2200" dirty="0" smtClean="0">
                <a:latin typeface="Helvetica" pitchFamily="34" charset="0"/>
              </a:rPr>
              <a:t>Extra towels</a:t>
            </a:r>
          </a:p>
          <a:p>
            <a:pPr>
              <a:spcBef>
                <a:spcPts val="600"/>
              </a:spcBef>
              <a:spcAft>
                <a:spcPts val="1200"/>
              </a:spcAft>
            </a:pPr>
            <a:r>
              <a:rPr lang="en-AU" sz="2200" dirty="0" smtClean="0">
                <a:latin typeface="Helvetica" pitchFamily="34" charset="0"/>
              </a:rPr>
              <a:t>Telephone chargers</a:t>
            </a:r>
          </a:p>
          <a:p>
            <a:pPr>
              <a:spcBef>
                <a:spcPts val="600"/>
              </a:spcBef>
              <a:spcAft>
                <a:spcPts val="1200"/>
              </a:spcAft>
            </a:pPr>
            <a:r>
              <a:rPr lang="en-AU" sz="2200" dirty="0" smtClean="0">
                <a:latin typeface="Helvetica" pitchFamily="34" charset="0"/>
              </a:rPr>
              <a:t>Power boards</a:t>
            </a:r>
          </a:p>
          <a:p>
            <a:pPr>
              <a:spcBef>
                <a:spcPts val="600"/>
              </a:spcBef>
              <a:spcAft>
                <a:spcPts val="1200"/>
              </a:spcAft>
            </a:pPr>
            <a:r>
              <a:rPr lang="en-AU" sz="2200" dirty="0" smtClean="0">
                <a:latin typeface="Helvetica" pitchFamily="34" charset="0"/>
              </a:rPr>
              <a:t>Internet cables.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27650" name="Picture 2" descr="C:\Documents and Settings\danielc\Local Settings\Temporary Internet Files\Content.IE5\Y2UABRAT\MP900432837[1].jpg"/>
          <p:cNvPicPr>
            <a:picLocks noChangeAspect="1" noChangeArrowheads="1"/>
          </p:cNvPicPr>
          <p:nvPr/>
        </p:nvPicPr>
        <p:blipFill>
          <a:blip r:embed="rId3" cstate="print"/>
          <a:srcRect/>
          <a:stretch>
            <a:fillRect/>
          </a:stretch>
        </p:blipFill>
        <p:spPr bwMode="auto">
          <a:xfrm>
            <a:off x="5643570" y="1428736"/>
            <a:ext cx="1950235" cy="1448746"/>
          </a:xfrm>
          <a:prstGeom prst="rect">
            <a:avLst/>
          </a:prstGeom>
          <a:noFill/>
        </p:spPr>
      </p:pic>
      <p:pic>
        <p:nvPicPr>
          <p:cNvPr id="27651" name="Picture 3" descr="C:\Documents and Settings\danielc\Local Settings\Temporary Internet Files\Content.IE5\M0QL8DHR\MP900400637[1].jpg"/>
          <p:cNvPicPr>
            <a:picLocks noChangeAspect="1" noChangeArrowheads="1"/>
          </p:cNvPicPr>
          <p:nvPr/>
        </p:nvPicPr>
        <p:blipFill>
          <a:blip r:embed="rId4" cstate="print"/>
          <a:srcRect/>
          <a:stretch>
            <a:fillRect/>
          </a:stretch>
        </p:blipFill>
        <p:spPr bwMode="auto">
          <a:xfrm>
            <a:off x="5643570" y="3000372"/>
            <a:ext cx="1999757" cy="2357454"/>
          </a:xfrm>
          <a:prstGeom prst="rect">
            <a:avLst/>
          </a:prstGeom>
          <a:noFill/>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loan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285860"/>
            <a:ext cx="7467600" cy="4525963"/>
          </a:xfrm>
        </p:spPr>
        <p:txBody>
          <a:bodyPr>
            <a:noAutofit/>
          </a:bodyPr>
          <a:lstStyle/>
          <a:p>
            <a:pPr>
              <a:spcBef>
                <a:spcPts val="300"/>
              </a:spcBef>
              <a:spcAft>
                <a:spcPts val="600"/>
              </a:spcAft>
            </a:pPr>
            <a:r>
              <a:rPr lang="en-AU" sz="2000" dirty="0" smtClean="0">
                <a:latin typeface="Helvetica" pitchFamily="34" charset="0"/>
              </a:rPr>
              <a:t>Video players and consoles</a:t>
            </a:r>
          </a:p>
          <a:p>
            <a:pPr>
              <a:spcBef>
                <a:spcPts val="300"/>
              </a:spcBef>
              <a:spcAft>
                <a:spcPts val="600"/>
              </a:spcAft>
            </a:pPr>
            <a:r>
              <a:rPr lang="en-AU" sz="2000" dirty="0" smtClean="0">
                <a:latin typeface="Helvetica" pitchFamily="34" charset="0"/>
              </a:rPr>
              <a:t>Children games &amp; toys</a:t>
            </a:r>
          </a:p>
          <a:p>
            <a:pPr>
              <a:spcBef>
                <a:spcPts val="300"/>
              </a:spcBef>
              <a:spcAft>
                <a:spcPts val="600"/>
              </a:spcAft>
            </a:pPr>
            <a:r>
              <a:rPr lang="en-AU" sz="2000" dirty="0" smtClean="0">
                <a:latin typeface="Helvetica" pitchFamily="34" charset="0"/>
              </a:rPr>
              <a:t>DVD’s </a:t>
            </a:r>
          </a:p>
          <a:p>
            <a:pPr>
              <a:spcBef>
                <a:spcPts val="300"/>
              </a:spcBef>
              <a:spcAft>
                <a:spcPts val="600"/>
              </a:spcAft>
            </a:pPr>
            <a:r>
              <a:rPr lang="en-AU" sz="2000" dirty="0" smtClean="0">
                <a:latin typeface="Helvetica" pitchFamily="34" charset="0"/>
              </a:rPr>
              <a:t>Books</a:t>
            </a:r>
          </a:p>
          <a:p>
            <a:pPr>
              <a:spcBef>
                <a:spcPts val="300"/>
              </a:spcBef>
              <a:spcAft>
                <a:spcPts val="600"/>
              </a:spcAft>
            </a:pPr>
            <a:r>
              <a:rPr lang="en-AU" sz="2000" dirty="0" smtClean="0">
                <a:latin typeface="Helvetica" pitchFamily="34" charset="0"/>
              </a:rPr>
              <a:t>Iron and ironing board</a:t>
            </a:r>
          </a:p>
          <a:p>
            <a:pPr>
              <a:spcBef>
                <a:spcPts val="300"/>
              </a:spcBef>
              <a:spcAft>
                <a:spcPts val="600"/>
              </a:spcAft>
            </a:pPr>
            <a:r>
              <a:rPr lang="en-AU" sz="2000" dirty="0" smtClean="0">
                <a:latin typeface="Helvetica" pitchFamily="34" charset="0"/>
              </a:rPr>
              <a:t>Electrical adapters</a:t>
            </a:r>
          </a:p>
          <a:p>
            <a:pPr>
              <a:spcBef>
                <a:spcPts val="300"/>
              </a:spcBef>
              <a:spcAft>
                <a:spcPts val="600"/>
              </a:spcAft>
            </a:pPr>
            <a:r>
              <a:rPr lang="en-AU" sz="2000" dirty="0" smtClean="0">
                <a:latin typeface="Helvetica" pitchFamily="34" charset="0"/>
              </a:rPr>
              <a:t>Bath robe and weight scales</a:t>
            </a:r>
          </a:p>
          <a:p>
            <a:pPr>
              <a:spcBef>
                <a:spcPts val="300"/>
              </a:spcBef>
              <a:spcAft>
                <a:spcPts val="600"/>
              </a:spcAft>
            </a:pPr>
            <a:r>
              <a:rPr lang="en-AU" sz="2000" dirty="0" smtClean="0">
                <a:latin typeface="Helvetica" pitchFamily="34" charset="0"/>
              </a:rPr>
              <a:t>Hair dryer</a:t>
            </a:r>
          </a:p>
          <a:p>
            <a:pPr>
              <a:spcBef>
                <a:spcPts val="300"/>
              </a:spcBef>
              <a:spcAft>
                <a:spcPts val="600"/>
              </a:spcAft>
            </a:pPr>
            <a:r>
              <a:rPr lang="en-AU" sz="2000" dirty="0" smtClean="0">
                <a:latin typeface="Helvetica" pitchFamily="34" charset="0"/>
              </a:rPr>
              <a:t>Extra coat hangers</a:t>
            </a:r>
          </a:p>
          <a:p>
            <a:pPr>
              <a:spcBef>
                <a:spcPts val="300"/>
              </a:spcBef>
              <a:spcAft>
                <a:spcPts val="600"/>
              </a:spcAft>
            </a:pPr>
            <a:r>
              <a:rPr lang="en-AU" sz="2000" dirty="0" smtClean="0">
                <a:latin typeface="Helvetica" pitchFamily="34" charset="0"/>
              </a:rPr>
              <a:t>Portable fans or heather</a:t>
            </a:r>
          </a:p>
          <a:p>
            <a:pPr>
              <a:spcBef>
                <a:spcPts val="300"/>
              </a:spcBef>
              <a:spcAft>
                <a:spcPts val="600"/>
              </a:spcAft>
            </a:pPr>
            <a:r>
              <a:rPr lang="en-AU" sz="2000" dirty="0" smtClean="0">
                <a:latin typeface="Helvetica" pitchFamily="34" charset="0"/>
              </a:rPr>
              <a:t>Picnic baskets</a:t>
            </a:r>
          </a:p>
          <a:p>
            <a:pPr>
              <a:spcBef>
                <a:spcPts val="300"/>
              </a:spcBef>
              <a:spcAft>
                <a:spcPts val="600"/>
              </a:spcAft>
            </a:pPr>
            <a:r>
              <a:rPr lang="en-AU" sz="2000" dirty="0" smtClean="0">
                <a:latin typeface="Helvetica" pitchFamily="34" charset="0"/>
              </a:rPr>
              <a:t>Clothes drying racks.</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5" name="Picture 4" descr="MP900430807[1].JPG"/>
          <p:cNvPicPr/>
          <p:nvPr/>
        </p:nvPicPr>
        <p:blipFill>
          <a:blip r:embed="rId3" cstate="print"/>
          <a:stretch>
            <a:fillRect/>
          </a:stretch>
        </p:blipFill>
        <p:spPr>
          <a:xfrm>
            <a:off x="5500694" y="1500174"/>
            <a:ext cx="2130420" cy="1703065"/>
          </a:xfrm>
          <a:prstGeom prst="rect">
            <a:avLst/>
          </a:prstGeom>
        </p:spPr>
      </p:pic>
      <p:pic>
        <p:nvPicPr>
          <p:cNvPr id="28674" name="Picture 2" descr="C:\Documents and Settings\danielc\Local Settings\Temporary Internet Files\Content.IE5\M0QL8DHR\MC900195840[1].wmf"/>
          <p:cNvPicPr>
            <a:picLocks noChangeAspect="1" noChangeArrowheads="1"/>
          </p:cNvPicPr>
          <p:nvPr/>
        </p:nvPicPr>
        <p:blipFill>
          <a:blip r:embed="rId4" cstate="print"/>
          <a:srcRect/>
          <a:stretch>
            <a:fillRect/>
          </a:stretch>
        </p:blipFill>
        <p:spPr bwMode="auto">
          <a:xfrm>
            <a:off x="5643570" y="3357562"/>
            <a:ext cx="1767535" cy="1811426"/>
          </a:xfrm>
          <a:prstGeom prst="rect">
            <a:avLst/>
          </a:prstGeom>
          <a:noFill/>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Procedures for loaning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pPr>
            <a:r>
              <a:rPr lang="en-AU" sz="2200" dirty="0" smtClean="0">
                <a:latin typeface="Helvetica" pitchFamily="34" charset="0"/>
              </a:rPr>
              <a:t>Record item</a:t>
            </a:r>
          </a:p>
          <a:p>
            <a:pPr>
              <a:spcBef>
                <a:spcPts val="600"/>
              </a:spcBef>
              <a:spcAft>
                <a:spcPts val="1200"/>
              </a:spcAft>
            </a:pPr>
            <a:r>
              <a:rPr lang="en-AU" sz="2200" dirty="0" smtClean="0">
                <a:latin typeface="Helvetica" pitchFamily="34" charset="0"/>
              </a:rPr>
              <a:t>Give the item in a timely manner</a:t>
            </a:r>
          </a:p>
          <a:p>
            <a:pPr>
              <a:spcBef>
                <a:spcPts val="600"/>
              </a:spcBef>
              <a:spcAft>
                <a:spcPts val="1200"/>
              </a:spcAft>
            </a:pPr>
            <a:r>
              <a:rPr lang="en-AU" sz="2200" dirty="0" smtClean="0">
                <a:latin typeface="Helvetica" pitchFamily="34" charset="0"/>
              </a:rPr>
              <a:t>Get signature</a:t>
            </a:r>
          </a:p>
          <a:p>
            <a:pPr>
              <a:spcBef>
                <a:spcPts val="600"/>
              </a:spcBef>
              <a:spcAft>
                <a:spcPts val="1200"/>
              </a:spcAft>
            </a:pPr>
            <a:r>
              <a:rPr lang="en-AU" sz="2200" dirty="0" smtClean="0">
                <a:latin typeface="Helvetica" pitchFamily="34" charset="0"/>
              </a:rPr>
              <a:t>Record charges where appropriate</a:t>
            </a:r>
          </a:p>
          <a:p>
            <a:pPr>
              <a:spcBef>
                <a:spcPts val="600"/>
              </a:spcBef>
              <a:spcAft>
                <a:spcPts val="1200"/>
              </a:spcAft>
            </a:pPr>
            <a:r>
              <a:rPr lang="en-AU" sz="2200" dirty="0" smtClean="0">
                <a:latin typeface="Helvetica" pitchFamily="34" charset="0"/>
              </a:rPr>
              <a:t>Ensure items have been returned.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29699" name="Picture 3" descr="C:\Documents and Settings\danielc\Local Settings\Temporary Internet Files\Content.IE5\LSIXJYS2\MC900440428[1].wmf"/>
          <p:cNvPicPr>
            <a:picLocks noChangeAspect="1" noChangeArrowheads="1"/>
          </p:cNvPicPr>
          <p:nvPr/>
        </p:nvPicPr>
        <p:blipFill>
          <a:blip r:embed="rId3" cstate="print"/>
          <a:srcRect/>
          <a:stretch>
            <a:fillRect/>
          </a:stretch>
        </p:blipFill>
        <p:spPr bwMode="auto">
          <a:xfrm>
            <a:off x="6572264" y="2571744"/>
            <a:ext cx="1736725" cy="1828800"/>
          </a:xfrm>
          <a:prstGeom prst="rect">
            <a:avLst/>
          </a:prstGeom>
          <a:noFill/>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3200" b="1" dirty="0" smtClean="0">
                <a:solidFill>
                  <a:srgbClr val="FF6600"/>
                </a:solidFill>
              </a:rPr>
              <a:t>Element 7:</a:t>
            </a:r>
          </a:p>
          <a:p>
            <a:pPr marL="0">
              <a:buNone/>
            </a:pPr>
            <a:r>
              <a:rPr lang="en-AU" sz="3200" b="1" i="1" dirty="0" smtClean="0">
                <a:solidFill>
                  <a:srgbClr val="FF6600"/>
                </a:solidFill>
              </a:rPr>
              <a:t>Prepare for next shift</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6" name="Picture 5" descr="MP900408879[1].JPG"/>
          <p:cNvPicPr>
            <a:picLocks noChangeAspect="1"/>
          </p:cNvPicPr>
          <p:nvPr/>
        </p:nvPicPr>
        <p:blipFill>
          <a:blip r:embed="rId3" cstate="print"/>
          <a:stretch>
            <a:fillRect/>
          </a:stretch>
        </p:blipFill>
        <p:spPr>
          <a:xfrm>
            <a:off x="3361556" y="3500438"/>
            <a:ext cx="2420888" cy="2420888"/>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for the next shift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Complete required records and notifications</a:t>
            </a:r>
          </a:p>
          <a:p>
            <a:pPr>
              <a:spcBef>
                <a:spcPts val="600"/>
              </a:spcBef>
              <a:spcAft>
                <a:spcPts val="1200"/>
              </a:spcAft>
            </a:pPr>
            <a:r>
              <a:rPr lang="en-AU" sz="2200" dirty="0" smtClean="0">
                <a:latin typeface="Helvetica" pitchFamily="34" charset="0"/>
              </a:rPr>
              <a:t>Dispose of rubbish</a:t>
            </a:r>
          </a:p>
          <a:p>
            <a:pPr>
              <a:spcBef>
                <a:spcPts val="600"/>
              </a:spcBef>
              <a:spcAft>
                <a:spcPts val="1200"/>
              </a:spcAft>
            </a:pPr>
            <a:r>
              <a:rPr lang="en-AU" sz="2200" dirty="0" smtClean="0">
                <a:latin typeface="Helvetica" pitchFamily="34" charset="0"/>
              </a:rPr>
              <a:t>Clean and store trolleys</a:t>
            </a:r>
          </a:p>
          <a:p>
            <a:pPr>
              <a:spcBef>
                <a:spcPts val="600"/>
              </a:spcBef>
              <a:spcAft>
                <a:spcPts val="1200"/>
              </a:spcAft>
            </a:pPr>
            <a:r>
              <a:rPr lang="en-AU" sz="2200" dirty="0" smtClean="0">
                <a:latin typeface="Helvetica" pitchFamily="34" charset="0"/>
              </a:rPr>
              <a:t>Replenish stock items as necessary</a:t>
            </a:r>
          </a:p>
          <a:p>
            <a:pPr>
              <a:spcBef>
                <a:spcPts val="600"/>
              </a:spcBef>
              <a:spcAft>
                <a:spcPts val="1200"/>
              </a:spcAft>
            </a:pPr>
            <a:r>
              <a:rPr lang="en-AU" sz="2200" dirty="0" smtClean="0">
                <a:latin typeface="Helvetica" pitchFamily="34" charset="0"/>
              </a:rPr>
              <a:t>Clean housekeeping equipment prior                                       to storage.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30723" name="Picture 3" descr="C:\Documents and Settings\danielc\Local Settings\Temporary Internet Files\Content.IE5\2LMD6966\MC900104872[1].wmf"/>
          <p:cNvPicPr>
            <a:picLocks noChangeAspect="1" noChangeArrowheads="1"/>
          </p:cNvPicPr>
          <p:nvPr/>
        </p:nvPicPr>
        <p:blipFill>
          <a:blip r:embed="rId3" cstate="print"/>
          <a:srcRect/>
          <a:stretch>
            <a:fillRect/>
          </a:stretch>
        </p:blipFill>
        <p:spPr bwMode="auto">
          <a:xfrm>
            <a:off x="6072198" y="3071810"/>
            <a:ext cx="1955902" cy="1506931"/>
          </a:xfrm>
          <a:prstGeom prst="rect">
            <a:avLst/>
          </a:prstGeom>
          <a:noFill/>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records and notifications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600"/>
              </a:spcAft>
            </a:pPr>
            <a:r>
              <a:rPr lang="en-AU" sz="2200" dirty="0" smtClean="0">
                <a:latin typeface="Helvetica" pitchFamily="34" charset="0"/>
              </a:rPr>
              <a:t>Recording status of rooms</a:t>
            </a:r>
          </a:p>
          <a:p>
            <a:pPr lvl="0">
              <a:spcBef>
                <a:spcPts val="600"/>
              </a:spcBef>
              <a:spcAft>
                <a:spcPts val="600"/>
              </a:spcAft>
            </a:pPr>
            <a:r>
              <a:rPr lang="en-AU" sz="2200" dirty="0" smtClean="0">
                <a:latin typeface="Helvetica" pitchFamily="34" charset="0"/>
              </a:rPr>
              <a:t>Lost property reports</a:t>
            </a:r>
          </a:p>
          <a:p>
            <a:pPr lvl="0">
              <a:spcBef>
                <a:spcPts val="600"/>
              </a:spcBef>
              <a:spcAft>
                <a:spcPts val="600"/>
              </a:spcAft>
            </a:pPr>
            <a:r>
              <a:rPr lang="en-AU" sz="2200" dirty="0" smtClean="0">
                <a:latin typeface="Helvetica" pitchFamily="34" charset="0"/>
              </a:rPr>
              <a:t>Ordering of supplies</a:t>
            </a:r>
          </a:p>
          <a:p>
            <a:pPr lvl="0">
              <a:spcBef>
                <a:spcPts val="600"/>
              </a:spcBef>
              <a:spcAft>
                <a:spcPts val="600"/>
              </a:spcAft>
            </a:pPr>
            <a:r>
              <a:rPr lang="en-AU" sz="2200" dirty="0" smtClean="0">
                <a:latin typeface="Helvetica" pitchFamily="34" charset="0"/>
              </a:rPr>
              <a:t>Handover reports – information required for the next shift, including turn-down rooms to complete and incidents that occurred that day</a:t>
            </a:r>
          </a:p>
          <a:p>
            <a:pPr lvl="0">
              <a:spcBef>
                <a:spcPts val="600"/>
              </a:spcBef>
              <a:spcAft>
                <a:spcPts val="600"/>
              </a:spcAft>
            </a:pPr>
            <a:r>
              <a:rPr lang="en-AU" sz="2200" dirty="0" smtClean="0">
                <a:latin typeface="Helvetica" pitchFamily="34" charset="0"/>
              </a:rPr>
              <a:t>Records of items that were loaned to guests</a:t>
            </a:r>
          </a:p>
          <a:p>
            <a:pPr lvl="0">
              <a:spcBef>
                <a:spcPts val="600"/>
              </a:spcBef>
              <a:spcAft>
                <a:spcPts val="600"/>
              </a:spcAft>
            </a:pPr>
            <a:r>
              <a:rPr lang="en-AU" sz="2200" dirty="0" smtClean="0">
                <a:latin typeface="Helvetica" pitchFamily="34" charset="0"/>
              </a:rPr>
              <a:t>Maintenance requests</a:t>
            </a:r>
          </a:p>
          <a:p>
            <a:pPr lvl="0">
              <a:spcBef>
                <a:spcPts val="600"/>
              </a:spcBef>
              <a:spcAft>
                <a:spcPts val="600"/>
              </a:spcAft>
            </a:pPr>
            <a:r>
              <a:rPr lang="en-AU" sz="2200" dirty="0" smtClean="0">
                <a:latin typeface="Helvetica" pitchFamily="34" charset="0"/>
              </a:rPr>
              <a:t>Time sheets.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7" name="Picture 6" descr="MP900400353[1].JPG"/>
          <p:cNvPicPr/>
          <p:nvPr/>
        </p:nvPicPr>
        <p:blipFill>
          <a:blip r:embed="rId3" cstate="print"/>
          <a:stretch>
            <a:fillRect/>
          </a:stretch>
        </p:blipFill>
        <p:spPr>
          <a:xfrm>
            <a:off x="5786446" y="1571612"/>
            <a:ext cx="2074287" cy="1334641"/>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Dispose of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Housekeeping is all about cleanliness and tidiness and this should not stop at the end of the day</a:t>
            </a:r>
          </a:p>
          <a:p>
            <a:pPr>
              <a:spcBef>
                <a:spcPts val="600"/>
              </a:spcBef>
              <a:spcAft>
                <a:spcPts val="1200"/>
              </a:spcAft>
            </a:pPr>
            <a:r>
              <a:rPr lang="en-AU" sz="2200" dirty="0" smtClean="0">
                <a:latin typeface="Helvetica" pitchFamily="34" charset="0"/>
              </a:rPr>
              <a:t>The general cleanliness and hygiene of a hospitality business is vital to the health of all stakeholders including staff, guests, owners and the community in general.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6" name="Picture 5" descr="MP900175567[1].JPG"/>
          <p:cNvPicPr>
            <a:picLocks noChangeAspect="1"/>
          </p:cNvPicPr>
          <p:nvPr/>
        </p:nvPicPr>
        <p:blipFill>
          <a:blip r:embed="rId3" cstate="print"/>
          <a:stretch>
            <a:fillRect/>
          </a:stretch>
        </p:blipFill>
        <p:spPr>
          <a:xfrm>
            <a:off x="3743688" y="3929066"/>
            <a:ext cx="1656624" cy="2472573"/>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Dispose of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600"/>
              </a:spcAft>
              <a:buNone/>
            </a:pPr>
            <a:r>
              <a:rPr lang="en-AU" sz="2100" dirty="0" smtClean="0">
                <a:latin typeface="Helvetica" pitchFamily="34" charset="0"/>
              </a:rPr>
              <a:t>Handling and disposing of rubbish is vital for a number of reasons including:</a:t>
            </a:r>
          </a:p>
          <a:p>
            <a:pPr lvl="0">
              <a:spcBef>
                <a:spcPts val="600"/>
              </a:spcBef>
              <a:spcAft>
                <a:spcPts val="600"/>
              </a:spcAft>
            </a:pPr>
            <a:r>
              <a:rPr lang="en-AU" sz="2100" dirty="0" smtClean="0">
                <a:latin typeface="Helvetica" pitchFamily="34" charset="0"/>
              </a:rPr>
              <a:t>Maintains a clean environment and ensures it is aesthetically pleasing</a:t>
            </a:r>
          </a:p>
          <a:p>
            <a:pPr lvl="0">
              <a:spcBef>
                <a:spcPts val="600"/>
              </a:spcBef>
              <a:spcAft>
                <a:spcPts val="600"/>
              </a:spcAft>
            </a:pPr>
            <a:r>
              <a:rPr lang="en-AU" sz="2100" dirty="0" smtClean="0">
                <a:latin typeface="Helvetica" pitchFamily="34" charset="0"/>
              </a:rPr>
              <a:t>Reduces accidents caused by people tripping and falling over</a:t>
            </a:r>
          </a:p>
          <a:p>
            <a:pPr lvl="0">
              <a:spcBef>
                <a:spcPts val="600"/>
              </a:spcBef>
              <a:spcAft>
                <a:spcPts val="600"/>
              </a:spcAft>
            </a:pPr>
            <a:r>
              <a:rPr lang="en-AU" sz="2100" dirty="0" smtClean="0">
                <a:latin typeface="Helvetica" pitchFamily="34" charset="0"/>
              </a:rPr>
              <a:t>Reduces the chance of contamination</a:t>
            </a:r>
          </a:p>
          <a:p>
            <a:pPr lvl="0">
              <a:spcBef>
                <a:spcPts val="600"/>
              </a:spcBef>
              <a:spcAft>
                <a:spcPts val="600"/>
              </a:spcAft>
            </a:pPr>
            <a:r>
              <a:rPr lang="en-AU" sz="2100" dirty="0" smtClean="0">
                <a:latin typeface="Helvetica" pitchFamily="34" charset="0"/>
              </a:rPr>
              <a:t>Reduces bad odours</a:t>
            </a:r>
          </a:p>
          <a:p>
            <a:pPr lvl="0">
              <a:spcBef>
                <a:spcPts val="600"/>
              </a:spcBef>
              <a:spcAft>
                <a:spcPts val="600"/>
              </a:spcAft>
            </a:pPr>
            <a:r>
              <a:rPr lang="en-AU" sz="2100" dirty="0" smtClean="0">
                <a:latin typeface="Helvetica" pitchFamily="34" charset="0"/>
              </a:rPr>
              <a:t>Attracts fewer insects and rodents</a:t>
            </a:r>
          </a:p>
          <a:p>
            <a:pPr lvl="0">
              <a:spcBef>
                <a:spcPts val="600"/>
              </a:spcBef>
              <a:spcAft>
                <a:spcPts val="600"/>
              </a:spcAft>
            </a:pPr>
            <a:r>
              <a:rPr lang="en-AU" sz="2100" dirty="0" smtClean="0">
                <a:latin typeface="Helvetica" pitchFamily="34" charset="0"/>
              </a:rPr>
              <a:t>Reduces likelihood of contamination. </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7" name="Picture 6" descr="MP900386465[1].JPG"/>
          <p:cNvPicPr>
            <a:picLocks noChangeAspect="1"/>
          </p:cNvPicPr>
          <p:nvPr/>
        </p:nvPicPr>
        <p:blipFill>
          <a:blip r:embed="rId3" cstate="print"/>
          <a:stretch>
            <a:fillRect/>
          </a:stretch>
        </p:blipFill>
        <p:spPr>
          <a:xfrm>
            <a:off x="6572264" y="3857628"/>
            <a:ext cx="1234816" cy="1731050"/>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There are two main types of rubbish in hospitality environments:</a:t>
            </a:r>
          </a:p>
          <a:p>
            <a:pPr>
              <a:spcBef>
                <a:spcPts val="600"/>
              </a:spcBef>
              <a:spcAft>
                <a:spcPts val="1200"/>
              </a:spcAft>
            </a:pPr>
            <a:r>
              <a:rPr lang="en-AU" sz="2200" dirty="0" smtClean="0">
                <a:latin typeface="Helvetica" pitchFamily="34" charset="0"/>
              </a:rPr>
              <a:t>General Rubbish </a:t>
            </a:r>
          </a:p>
          <a:p>
            <a:pPr>
              <a:spcBef>
                <a:spcPts val="600"/>
              </a:spcBef>
              <a:spcAft>
                <a:spcPts val="1200"/>
              </a:spcAft>
            </a:pPr>
            <a:r>
              <a:rPr lang="en-AU" sz="2200" dirty="0" smtClean="0">
                <a:latin typeface="Helvetica" pitchFamily="34" charset="0"/>
              </a:rPr>
              <a:t>Hazardous Rubbish.</a:t>
            </a:r>
          </a:p>
          <a:p>
            <a:pPr>
              <a:spcBef>
                <a:spcPts val="600"/>
              </a:spcBef>
              <a:spcAft>
                <a:spcPts val="1200"/>
              </a:spcAft>
              <a:buNone/>
            </a:pPr>
            <a:r>
              <a:rPr lang="en-AU" sz="2200" b="1" dirty="0" smtClean="0">
                <a:latin typeface="Helvetica" pitchFamily="34" charset="0"/>
              </a:rPr>
              <a:t>What are some examples of both?</a:t>
            </a:r>
          </a:p>
          <a:p>
            <a:pPr>
              <a:spcBef>
                <a:spcPts val="600"/>
              </a:spcBef>
              <a:spcAft>
                <a:spcPts val="1200"/>
              </a:spcAft>
              <a:buNone/>
            </a:pPr>
            <a:r>
              <a:rPr lang="en-AU" sz="2200" b="1" dirty="0" smtClean="0">
                <a:latin typeface="Helvetica" pitchFamily="34" charset="0"/>
              </a:rPr>
              <a:t>How do you handle and dispose of these?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34818" name="Picture 2" descr="C:\Documents and Settings\danielc\Local Settings\Temporary Internet Files\Content.IE5\ZB5AOP62\MC900318636[1].wmf"/>
          <p:cNvPicPr>
            <a:picLocks noChangeAspect="1" noChangeArrowheads="1"/>
          </p:cNvPicPr>
          <p:nvPr/>
        </p:nvPicPr>
        <p:blipFill>
          <a:blip r:embed="rId3" cstate="print"/>
          <a:srcRect/>
          <a:stretch>
            <a:fillRect/>
          </a:stretch>
        </p:blipFill>
        <p:spPr bwMode="auto">
          <a:xfrm>
            <a:off x="6072198" y="2285992"/>
            <a:ext cx="1815084" cy="1733702"/>
          </a:xfrm>
          <a:prstGeom prst="rect">
            <a:avLst/>
          </a:prstGeom>
          <a:noFill/>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General Rubbish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This is similar to household rubbish and is the type of rubbish most found in hospitality organisations and guest rooms. It includes:</a:t>
            </a:r>
          </a:p>
          <a:p>
            <a:pPr lvl="0">
              <a:spcBef>
                <a:spcPts val="600"/>
              </a:spcBef>
              <a:spcAft>
                <a:spcPts val="1200"/>
              </a:spcAft>
            </a:pPr>
            <a:r>
              <a:rPr lang="en-AU" sz="2200" dirty="0" smtClean="0">
                <a:latin typeface="Helvetica" pitchFamily="34" charset="0"/>
              </a:rPr>
              <a:t>Paper and boxes</a:t>
            </a:r>
          </a:p>
          <a:p>
            <a:pPr lvl="0">
              <a:spcBef>
                <a:spcPts val="600"/>
              </a:spcBef>
              <a:spcAft>
                <a:spcPts val="1200"/>
              </a:spcAft>
            </a:pPr>
            <a:r>
              <a:rPr lang="en-AU" sz="2200" dirty="0" smtClean="0">
                <a:latin typeface="Helvetica" pitchFamily="34" charset="0"/>
              </a:rPr>
              <a:t>Bottles</a:t>
            </a:r>
          </a:p>
          <a:p>
            <a:pPr lvl="0">
              <a:spcBef>
                <a:spcPts val="600"/>
              </a:spcBef>
              <a:spcAft>
                <a:spcPts val="1200"/>
              </a:spcAft>
            </a:pPr>
            <a:r>
              <a:rPr lang="en-AU" sz="2200" dirty="0" smtClean="0">
                <a:latin typeface="Helvetica" pitchFamily="34" charset="0"/>
              </a:rPr>
              <a:t>Plastic containers</a:t>
            </a:r>
          </a:p>
          <a:p>
            <a:pPr lvl="0">
              <a:spcBef>
                <a:spcPts val="600"/>
              </a:spcBef>
              <a:spcAft>
                <a:spcPts val="1200"/>
              </a:spcAft>
            </a:pPr>
            <a:r>
              <a:rPr lang="en-AU" sz="2200" dirty="0" smtClean="0">
                <a:latin typeface="Helvetica" pitchFamily="34" charset="0"/>
              </a:rPr>
              <a:t>Food and beverage related trash.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7" name="Picture 6" descr="MP900437237[1].JPG"/>
          <p:cNvPicPr>
            <a:picLocks noChangeAspect="1"/>
          </p:cNvPicPr>
          <p:nvPr/>
        </p:nvPicPr>
        <p:blipFill>
          <a:blip r:embed="rId3" cstate="print"/>
          <a:srcRect r="30582"/>
          <a:stretch>
            <a:fillRect/>
          </a:stretch>
        </p:blipFill>
        <p:spPr>
          <a:xfrm>
            <a:off x="5643570" y="3071810"/>
            <a:ext cx="2071702" cy="1989584"/>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Hazardous Rubbish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This rubbish that can be harmful and should be treated carefully. It includes:</a:t>
            </a:r>
          </a:p>
          <a:p>
            <a:pPr lvl="0">
              <a:spcBef>
                <a:spcPts val="600"/>
              </a:spcBef>
              <a:spcAft>
                <a:spcPts val="1200"/>
              </a:spcAft>
            </a:pPr>
            <a:r>
              <a:rPr lang="en-AU" sz="2200" dirty="0" smtClean="0">
                <a:latin typeface="Helvetica" pitchFamily="34" charset="0"/>
              </a:rPr>
              <a:t>Chemicals</a:t>
            </a:r>
          </a:p>
          <a:p>
            <a:pPr lvl="0">
              <a:spcBef>
                <a:spcPts val="600"/>
              </a:spcBef>
              <a:spcAft>
                <a:spcPts val="1200"/>
              </a:spcAft>
            </a:pPr>
            <a:r>
              <a:rPr lang="en-AU" sz="2200" dirty="0" smtClean="0">
                <a:latin typeface="Helvetica" pitchFamily="34" charset="0"/>
              </a:rPr>
              <a:t>Broken glass</a:t>
            </a:r>
          </a:p>
          <a:p>
            <a:pPr lvl="0">
              <a:spcBef>
                <a:spcPts val="600"/>
              </a:spcBef>
              <a:spcAft>
                <a:spcPts val="1200"/>
              </a:spcAft>
            </a:pPr>
            <a:r>
              <a:rPr lang="en-AU" sz="2200" dirty="0" smtClean="0">
                <a:latin typeface="Helvetica" pitchFamily="34" charset="0"/>
              </a:rPr>
              <a:t>Cleaning products</a:t>
            </a:r>
          </a:p>
          <a:p>
            <a:pPr lvl="0">
              <a:spcBef>
                <a:spcPts val="600"/>
              </a:spcBef>
              <a:spcAft>
                <a:spcPts val="1200"/>
              </a:spcAft>
            </a:pPr>
            <a:r>
              <a:rPr lang="en-AU" sz="2200" dirty="0" smtClean="0">
                <a:latin typeface="Helvetica" pitchFamily="34" charset="0"/>
              </a:rPr>
              <a:t>Disinfectants</a:t>
            </a:r>
          </a:p>
          <a:p>
            <a:pPr>
              <a:spcBef>
                <a:spcPts val="600"/>
              </a:spcBef>
              <a:spcAft>
                <a:spcPts val="1200"/>
              </a:spcAft>
            </a:pPr>
            <a:r>
              <a:rPr lang="en-AU" sz="2200" dirty="0" smtClean="0">
                <a:latin typeface="Helvetica" pitchFamily="34" charset="0"/>
              </a:rPr>
              <a:t>Unknown bottles and liquids.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6" name="Picture 5" descr="MP900313951[1].JPG"/>
          <p:cNvPicPr/>
          <p:nvPr/>
        </p:nvPicPr>
        <p:blipFill>
          <a:blip r:embed="rId3" cstate="print"/>
          <a:stretch>
            <a:fillRect/>
          </a:stretch>
        </p:blipFill>
        <p:spPr>
          <a:xfrm>
            <a:off x="5929322" y="3071810"/>
            <a:ext cx="1546275" cy="2264073"/>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Handling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600"/>
              </a:spcAft>
              <a:buNone/>
            </a:pPr>
            <a:r>
              <a:rPr lang="en-AU" sz="2100" dirty="0" smtClean="0">
                <a:latin typeface="Helvetica" pitchFamily="34" charset="0"/>
              </a:rPr>
              <a:t>It is always advisable to:</a:t>
            </a:r>
          </a:p>
          <a:p>
            <a:pPr lvl="0">
              <a:spcBef>
                <a:spcPts val="600"/>
              </a:spcBef>
              <a:spcAft>
                <a:spcPts val="600"/>
              </a:spcAft>
            </a:pPr>
            <a:r>
              <a:rPr lang="en-AU" sz="2100" dirty="0" smtClean="0">
                <a:latin typeface="Helvetica" pitchFamily="34" charset="0"/>
              </a:rPr>
              <a:t>Wear gloves when handling rubbish</a:t>
            </a:r>
          </a:p>
          <a:p>
            <a:pPr lvl="0">
              <a:spcBef>
                <a:spcPts val="600"/>
              </a:spcBef>
              <a:spcAft>
                <a:spcPts val="600"/>
              </a:spcAft>
            </a:pPr>
            <a:r>
              <a:rPr lang="en-AU" sz="2100" dirty="0" smtClean="0">
                <a:latin typeface="Helvetica" pitchFamily="34" charset="0"/>
              </a:rPr>
              <a:t>Not overloading rubbish bags or bins</a:t>
            </a:r>
          </a:p>
          <a:p>
            <a:pPr lvl="0">
              <a:spcBef>
                <a:spcPts val="600"/>
              </a:spcBef>
              <a:spcAft>
                <a:spcPts val="600"/>
              </a:spcAft>
            </a:pPr>
            <a:r>
              <a:rPr lang="en-AU" sz="2100" dirty="0" smtClean="0">
                <a:latin typeface="Helvetica" pitchFamily="34" charset="0"/>
              </a:rPr>
              <a:t>Using safe manual handling techniques</a:t>
            </a:r>
          </a:p>
          <a:p>
            <a:pPr lvl="0">
              <a:spcBef>
                <a:spcPts val="600"/>
              </a:spcBef>
              <a:spcAft>
                <a:spcPts val="600"/>
              </a:spcAft>
            </a:pPr>
            <a:r>
              <a:rPr lang="en-AU" sz="2100" dirty="0" smtClean="0">
                <a:latin typeface="Helvetica" pitchFamily="34" charset="0"/>
              </a:rPr>
              <a:t>Using a trolley to move rubbish where necessary</a:t>
            </a:r>
          </a:p>
          <a:p>
            <a:pPr lvl="0">
              <a:spcBef>
                <a:spcPts val="600"/>
              </a:spcBef>
              <a:spcAft>
                <a:spcPts val="600"/>
              </a:spcAft>
            </a:pPr>
            <a:r>
              <a:rPr lang="en-AU" sz="2100" dirty="0" smtClean="0">
                <a:latin typeface="Helvetica" pitchFamily="34" charset="0"/>
              </a:rPr>
              <a:t>Disposing of rubbish in a timely manner</a:t>
            </a:r>
          </a:p>
          <a:p>
            <a:pPr lvl="0">
              <a:spcBef>
                <a:spcPts val="600"/>
              </a:spcBef>
              <a:spcAft>
                <a:spcPts val="600"/>
              </a:spcAft>
            </a:pPr>
            <a:r>
              <a:rPr lang="en-AU" sz="2100" dirty="0" smtClean="0">
                <a:latin typeface="Helvetica" pitchFamily="34" charset="0"/>
              </a:rPr>
              <a:t>Moving rubbish to disposal areas during quiet                   times or on quiet routes</a:t>
            </a:r>
          </a:p>
          <a:p>
            <a:pPr lvl="0">
              <a:spcBef>
                <a:spcPts val="600"/>
              </a:spcBef>
              <a:spcAft>
                <a:spcPts val="600"/>
              </a:spcAft>
            </a:pPr>
            <a:r>
              <a:rPr lang="en-AU" sz="2100" dirty="0" smtClean="0">
                <a:latin typeface="Helvetica" pitchFamily="34" charset="0"/>
              </a:rPr>
              <a:t>Placing rubbish in the suitable disposal area – this includes the separation of paper, glass and plastic based products.</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7" name="Picture 6" descr="MP900175520[1].JPG"/>
          <p:cNvPicPr/>
          <p:nvPr/>
        </p:nvPicPr>
        <p:blipFill>
          <a:blip r:embed="rId3" cstate="print"/>
          <a:stretch>
            <a:fillRect/>
          </a:stretch>
        </p:blipFill>
        <p:spPr>
          <a:xfrm>
            <a:off x="6786578" y="1571612"/>
            <a:ext cx="1180465" cy="1752600"/>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and store trolleys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Aft>
                <a:spcPts val="1200"/>
              </a:spcAft>
              <a:buNone/>
            </a:pPr>
            <a:r>
              <a:rPr lang="en-AU" sz="2200" dirty="0" smtClean="0">
                <a:latin typeface="Helvetica" pitchFamily="34" charset="0"/>
              </a:rPr>
              <a:t>After every use you are responsible for cleaning and restocking the trolley you have used during the cleaning activities.</a:t>
            </a:r>
          </a:p>
          <a:p>
            <a:pPr>
              <a:spcAft>
                <a:spcPts val="1200"/>
              </a:spcAft>
            </a:pPr>
            <a:r>
              <a:rPr lang="en-AU" sz="2200" dirty="0" smtClean="0">
                <a:latin typeface="Helvetica" pitchFamily="34" charset="0"/>
              </a:rPr>
              <a:t>What activities do you need to do with trolleys at the end of the shift?</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5" name="Picture 4" descr="MP900403686[1].JPG"/>
          <p:cNvPicPr>
            <a:picLocks noChangeAspect="1"/>
          </p:cNvPicPr>
          <p:nvPr/>
        </p:nvPicPr>
        <p:blipFill>
          <a:blip r:embed="rId3" cstate="print"/>
          <a:stretch>
            <a:fillRect/>
          </a:stretch>
        </p:blipFill>
        <p:spPr>
          <a:xfrm>
            <a:off x="3209876" y="3857628"/>
            <a:ext cx="2724248" cy="1804814"/>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and store trolleys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Cleaning the housekeeping trolley</a:t>
            </a:r>
          </a:p>
          <a:p>
            <a:pPr>
              <a:spcBef>
                <a:spcPts val="600"/>
              </a:spcBef>
              <a:spcAft>
                <a:spcPts val="1200"/>
              </a:spcAft>
            </a:pPr>
            <a:r>
              <a:rPr lang="en-AU" sz="2200" dirty="0" smtClean="0">
                <a:latin typeface="Helvetica" pitchFamily="34" charset="0"/>
              </a:rPr>
              <a:t>Wipe over by a general purpose cleaner should suffice</a:t>
            </a:r>
          </a:p>
          <a:p>
            <a:pPr>
              <a:spcBef>
                <a:spcPts val="600"/>
              </a:spcBef>
              <a:spcAft>
                <a:spcPts val="1200"/>
              </a:spcAft>
            </a:pPr>
            <a:r>
              <a:rPr lang="en-AU" sz="2200" dirty="0" smtClean="0">
                <a:latin typeface="Helvetica" pitchFamily="34" charset="0"/>
              </a:rPr>
              <a:t>Extra spot-cleaning as required</a:t>
            </a:r>
          </a:p>
          <a:p>
            <a:pPr>
              <a:spcBef>
                <a:spcPts val="600"/>
              </a:spcBef>
              <a:spcAft>
                <a:spcPts val="1200"/>
              </a:spcAft>
            </a:pPr>
            <a:r>
              <a:rPr lang="en-AU" sz="2200" dirty="0" smtClean="0">
                <a:latin typeface="Helvetica" pitchFamily="34" charset="0"/>
              </a:rPr>
              <a:t>Replace used or dirty linen and rubbish bags</a:t>
            </a:r>
          </a:p>
          <a:p>
            <a:pPr lvl="0">
              <a:spcBef>
                <a:spcPts val="600"/>
              </a:spcBef>
              <a:spcAft>
                <a:spcPts val="1200"/>
              </a:spcAft>
            </a:pPr>
            <a:r>
              <a:rPr lang="en-US" sz="2200" dirty="0" smtClean="0">
                <a:latin typeface="Helvetica" pitchFamily="34" charset="0"/>
              </a:rPr>
              <a:t>Removing any soiled items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Removing any empty packages.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33795" name="Picture 3" descr="C:\Documents and Settings\danielc\Local Settings\Temporary Internet Files\Content.IE5\XKVY0NPI\MP900386471[1].jpg"/>
          <p:cNvPicPr>
            <a:picLocks noChangeAspect="1" noChangeArrowheads="1"/>
          </p:cNvPicPr>
          <p:nvPr/>
        </p:nvPicPr>
        <p:blipFill>
          <a:blip r:embed="rId3" cstate="print"/>
          <a:srcRect/>
          <a:stretch>
            <a:fillRect/>
          </a:stretch>
        </p:blipFill>
        <p:spPr bwMode="auto">
          <a:xfrm>
            <a:off x="7072330" y="2857496"/>
            <a:ext cx="1223018" cy="1714512"/>
          </a:xfrm>
          <a:prstGeom prst="rect">
            <a:avLst/>
          </a:prstGeom>
          <a:noFill/>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and store trolleys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Restock the housekeeping trolley</a:t>
            </a:r>
          </a:p>
          <a:p>
            <a:pPr>
              <a:spcBef>
                <a:spcPts val="600"/>
              </a:spcBef>
              <a:spcAft>
                <a:spcPts val="1200"/>
              </a:spcAft>
            </a:pPr>
            <a:r>
              <a:rPr lang="en-AU" sz="2200" dirty="0" smtClean="0">
                <a:latin typeface="Helvetica" pitchFamily="34" charset="0"/>
              </a:rPr>
              <a:t>The trolley is not unloaded at the end-of-shift. Items that are on the trolley when it returns to the storeroom are left on it</a:t>
            </a:r>
          </a:p>
          <a:p>
            <a:pPr>
              <a:spcBef>
                <a:spcPts val="600"/>
              </a:spcBef>
              <a:spcAft>
                <a:spcPts val="1200"/>
              </a:spcAft>
            </a:pPr>
            <a:r>
              <a:rPr lang="en-AU" sz="2200" dirty="0" smtClean="0">
                <a:latin typeface="Helvetica" pitchFamily="34" charset="0"/>
              </a:rPr>
              <a:t>It is important that you restock your trolley so                    that it is ready for the next shift</a:t>
            </a:r>
          </a:p>
          <a:p>
            <a:pPr>
              <a:spcBef>
                <a:spcPts val="600"/>
              </a:spcBef>
              <a:spcAft>
                <a:spcPts val="1200"/>
              </a:spcAft>
            </a:pPr>
            <a:r>
              <a:rPr lang="en-AU" sz="2200" dirty="0" smtClean="0">
                <a:latin typeface="Helvetica" pitchFamily="34" charset="0"/>
              </a:rPr>
              <a:t>Each organisation will have different items </a:t>
            </a:r>
            <a:br>
              <a:rPr lang="en-AU" sz="2200" dirty="0" smtClean="0">
                <a:latin typeface="Helvetica" pitchFamily="34" charset="0"/>
              </a:rPr>
            </a:br>
            <a:r>
              <a:rPr lang="en-AU" sz="2200" dirty="0" smtClean="0">
                <a:latin typeface="Helvetica" pitchFamily="34" charset="0"/>
              </a:rPr>
              <a:t>that need to be placed on the trolley.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6" name="Picture 5" descr="MP900314373[1].JPG"/>
          <p:cNvPicPr>
            <a:picLocks noChangeAspect="1"/>
          </p:cNvPicPr>
          <p:nvPr/>
        </p:nvPicPr>
        <p:blipFill>
          <a:blip r:embed="rId3" cstate="print"/>
          <a:stretch>
            <a:fillRect/>
          </a:stretch>
        </p:blipFill>
        <p:spPr>
          <a:xfrm>
            <a:off x="7286644" y="2928934"/>
            <a:ext cx="983275" cy="2217912"/>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Reorder stock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pPr>
            <a:r>
              <a:rPr lang="en-AU" sz="2100" dirty="0" smtClean="0">
                <a:latin typeface="Helvetica" pitchFamily="34" charset="0"/>
              </a:rPr>
              <a:t>The aim of maintaining stock and supplies in a housekeeping store is that you never run out of </a:t>
            </a:r>
            <a:br>
              <a:rPr lang="en-AU" sz="2100" dirty="0" smtClean="0">
                <a:latin typeface="Helvetica" pitchFamily="34" charset="0"/>
              </a:rPr>
            </a:br>
            <a:r>
              <a:rPr lang="en-AU" sz="2100" dirty="0" smtClean="0">
                <a:latin typeface="Helvetica" pitchFamily="34" charset="0"/>
              </a:rPr>
              <a:t>anything but you don’t over-stock</a:t>
            </a:r>
          </a:p>
          <a:p>
            <a:pPr>
              <a:spcBef>
                <a:spcPts val="600"/>
              </a:spcBef>
              <a:spcAft>
                <a:spcPts val="600"/>
              </a:spcAft>
            </a:pPr>
            <a:r>
              <a:rPr lang="en-AU" sz="2100" dirty="0" smtClean="0">
                <a:latin typeface="Helvetica" pitchFamily="34" charset="0"/>
              </a:rPr>
              <a:t>Housekeeping trolleys can be stocked at the </a:t>
            </a:r>
            <a:br>
              <a:rPr lang="en-AU" sz="2100" dirty="0" smtClean="0">
                <a:latin typeface="Helvetica" pitchFamily="34" charset="0"/>
              </a:rPr>
            </a:br>
            <a:r>
              <a:rPr lang="en-AU" sz="2100" dirty="0" smtClean="0">
                <a:latin typeface="Helvetica" pitchFamily="34" charset="0"/>
              </a:rPr>
              <a:t>beginning or end of each shift.</a:t>
            </a:r>
          </a:p>
          <a:p>
            <a:pPr>
              <a:spcBef>
                <a:spcPts val="600"/>
              </a:spcBef>
              <a:spcAft>
                <a:spcPts val="600"/>
              </a:spcAft>
            </a:pPr>
            <a:r>
              <a:rPr lang="en-AU" sz="2100" dirty="0" smtClean="0">
                <a:latin typeface="Helvetica" pitchFamily="34" charset="0"/>
              </a:rPr>
              <a:t>When supplies run low during a shift, further supplies may be accessed from the housekeeping store room </a:t>
            </a:r>
          </a:p>
          <a:p>
            <a:pPr>
              <a:spcBef>
                <a:spcPts val="600"/>
              </a:spcBef>
              <a:spcAft>
                <a:spcPts val="600"/>
              </a:spcAft>
            </a:pPr>
            <a:r>
              <a:rPr lang="en-AU" sz="2100" dirty="0" smtClean="0">
                <a:latin typeface="Helvetica" pitchFamily="34" charset="0"/>
              </a:rPr>
              <a:t>When supplies in the floor housekeeping store room run low, further supplies can be brought up from the housekeeping department.</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7" name="Picture 6" descr="MP900174909[1].JPG"/>
          <p:cNvPicPr>
            <a:picLocks noChangeAspect="1"/>
          </p:cNvPicPr>
          <p:nvPr/>
        </p:nvPicPr>
        <p:blipFill>
          <a:blip r:embed="rId3" cstate="print"/>
          <a:stretch>
            <a:fillRect/>
          </a:stretch>
        </p:blipFill>
        <p:spPr>
          <a:xfrm>
            <a:off x="7143768" y="1785926"/>
            <a:ext cx="955171" cy="1432756"/>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Reorder stock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600"/>
              </a:spcAft>
              <a:buNone/>
            </a:pPr>
            <a:r>
              <a:rPr lang="en-AU" sz="2200" dirty="0" smtClean="0">
                <a:latin typeface="Helvetica" pitchFamily="34" charset="0"/>
              </a:rPr>
              <a:t>When requesting supplies you may be required to complete a requisition form.</a:t>
            </a:r>
          </a:p>
          <a:p>
            <a:pPr marL="0">
              <a:spcBef>
                <a:spcPts val="600"/>
              </a:spcBef>
              <a:spcAft>
                <a:spcPts val="600"/>
              </a:spcAft>
              <a:buNone/>
            </a:pPr>
            <a:r>
              <a:rPr lang="en-AU" sz="2200" dirty="0" smtClean="0">
                <a:latin typeface="Helvetica" pitchFamily="34" charset="0"/>
              </a:rPr>
              <a:t>The requisition form is an internal stock ordering form that you fill in and give to the Head Housekeeper.</a:t>
            </a:r>
          </a:p>
          <a:p>
            <a:pPr>
              <a:spcBef>
                <a:spcPts val="600"/>
              </a:spcBef>
              <a:spcAft>
                <a:spcPts val="600"/>
              </a:spcAft>
              <a:buNone/>
            </a:pPr>
            <a:r>
              <a:rPr lang="en-AU" sz="2200" dirty="0" smtClean="0">
                <a:latin typeface="Helvetica" pitchFamily="34" charset="0"/>
              </a:rPr>
              <a:t>It will identify:</a:t>
            </a:r>
          </a:p>
          <a:p>
            <a:pPr lvl="0">
              <a:spcBef>
                <a:spcPts val="600"/>
              </a:spcBef>
              <a:spcAft>
                <a:spcPts val="600"/>
              </a:spcAft>
            </a:pPr>
            <a:r>
              <a:rPr lang="en-US" sz="2200" dirty="0" smtClean="0">
                <a:latin typeface="Helvetica" pitchFamily="34" charset="0"/>
              </a:rPr>
              <a:t>Person requesting the items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Type of items needed</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Quantity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Date.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32770" name="Picture 2" descr="I:\Overseas Projects\PHOTOS\2012\requisition form.jpg"/>
          <p:cNvPicPr>
            <a:picLocks noChangeAspect="1" noChangeArrowheads="1"/>
          </p:cNvPicPr>
          <p:nvPr/>
        </p:nvPicPr>
        <p:blipFill>
          <a:blip r:embed="rId3" cstate="print"/>
          <a:srcRect/>
          <a:stretch>
            <a:fillRect/>
          </a:stretch>
        </p:blipFill>
        <p:spPr bwMode="auto">
          <a:xfrm>
            <a:off x="5072066" y="3429000"/>
            <a:ext cx="2894001" cy="1807864"/>
          </a:xfrm>
          <a:prstGeom prst="rect">
            <a:avLst/>
          </a:prstGeom>
          <a:noFill/>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Reorder stock and supplies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600"/>
              </a:spcAft>
            </a:pPr>
            <a:r>
              <a:rPr lang="en-US" sz="2200" dirty="0" smtClean="0">
                <a:latin typeface="Helvetica" pitchFamily="34" charset="0"/>
              </a:rPr>
              <a:t>Light globes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Remote control batteries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Ash trays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Glasses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An assortment of cutlery and crockery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Safety pins and drawing pins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Spare electric blankets, irons, ironing                            board covers, hair dryers, electric jugs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Ice cube trays.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7" name="Picture 6" descr="C:\Documents and Settings\danielc\Local Settings\Temporary Internet Files\Content.IE5\Y2UABRAT\MC900434930[1].png"/>
          <p:cNvPicPr/>
          <p:nvPr/>
        </p:nvPicPr>
        <p:blipFill>
          <a:blip r:embed="rId3" cstate="print"/>
          <a:srcRect/>
          <a:stretch>
            <a:fillRect/>
          </a:stretch>
        </p:blipFill>
        <p:spPr bwMode="auto">
          <a:xfrm>
            <a:off x="6786578" y="1142984"/>
            <a:ext cx="1419727" cy="1419727"/>
          </a:xfrm>
          <a:prstGeom prst="rect">
            <a:avLst/>
          </a:prstGeom>
          <a:noFill/>
          <a:ln w="9525">
            <a:noFill/>
            <a:miter lim="800000"/>
            <a:headEnd/>
            <a:tailEnd/>
          </a:ln>
        </p:spPr>
      </p:pic>
      <p:pic>
        <p:nvPicPr>
          <p:cNvPr id="8" name="Picture 7" descr="C:\Documents and Settings\danielc\Local Settings\Temporary Internet Files\Content.IE5\ZB5AOP62\MP900401372[1].jpg"/>
          <p:cNvPicPr/>
          <p:nvPr/>
        </p:nvPicPr>
        <p:blipFill>
          <a:blip r:embed="rId4" cstate="print"/>
          <a:srcRect/>
          <a:stretch>
            <a:fillRect/>
          </a:stretch>
        </p:blipFill>
        <p:spPr bwMode="auto">
          <a:xfrm>
            <a:off x="6858016" y="2643182"/>
            <a:ext cx="1315185" cy="1648326"/>
          </a:xfrm>
          <a:prstGeom prst="rect">
            <a:avLst/>
          </a:prstGeom>
          <a:noFill/>
          <a:ln w="9525">
            <a:noFill/>
            <a:miter lim="800000"/>
            <a:headEnd/>
            <a:tailEnd/>
          </a:ln>
        </p:spPr>
      </p:pic>
      <p:pic>
        <p:nvPicPr>
          <p:cNvPr id="9" name="Picture 8" descr="C:\Documents and Settings\danielc\Local Settings\Temporary Internet Files\Content.IE5\M0QL8DHR\MC900217528[1].wmf"/>
          <p:cNvPicPr/>
          <p:nvPr/>
        </p:nvPicPr>
        <p:blipFill>
          <a:blip r:embed="rId5" cstate="print"/>
          <a:srcRect/>
          <a:stretch>
            <a:fillRect/>
          </a:stretch>
        </p:blipFill>
        <p:spPr bwMode="auto">
          <a:xfrm>
            <a:off x="6572264" y="4429132"/>
            <a:ext cx="1792705" cy="10467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housekeeping equipment prior 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Mops</a:t>
            </a:r>
          </a:p>
          <a:p>
            <a:pPr lvl="0">
              <a:spcBef>
                <a:spcPts val="600"/>
              </a:spcBef>
              <a:spcAft>
                <a:spcPts val="1200"/>
              </a:spcAft>
            </a:pPr>
            <a:r>
              <a:rPr lang="en-US" sz="2200" dirty="0" smtClean="0">
                <a:latin typeface="Helvetica" pitchFamily="34" charset="0"/>
              </a:rPr>
              <a:t>Dusting mops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Polishing mops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Washing mops.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7" name="Picture 6" descr="MP900385501[1].JPG"/>
          <p:cNvPicPr/>
          <p:nvPr/>
        </p:nvPicPr>
        <p:blipFill>
          <a:blip r:embed="rId3" cstate="print"/>
          <a:stretch>
            <a:fillRect/>
          </a:stretch>
        </p:blipFill>
        <p:spPr>
          <a:xfrm>
            <a:off x="5286380" y="2214554"/>
            <a:ext cx="1853813" cy="2350765"/>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housekeeping equipment prior 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buNone/>
            </a:pPr>
            <a:r>
              <a:rPr lang="en-AU" sz="2200" b="1" dirty="0" smtClean="0">
                <a:latin typeface="Helvetica" pitchFamily="34" charset="0"/>
              </a:rPr>
              <a:t>Dusters</a:t>
            </a:r>
          </a:p>
          <a:p>
            <a:pPr>
              <a:spcBef>
                <a:spcPts val="600"/>
              </a:spcBef>
              <a:spcAft>
                <a:spcPts val="600"/>
              </a:spcAft>
              <a:buNone/>
            </a:pPr>
            <a:r>
              <a:rPr lang="en-AU" sz="2200" dirty="0" smtClean="0">
                <a:latin typeface="Helvetica" pitchFamily="34" charset="0"/>
              </a:rPr>
              <a:t>Cleaning of dusters involves:</a:t>
            </a:r>
          </a:p>
          <a:p>
            <a:pPr lvl="0">
              <a:spcBef>
                <a:spcPts val="600"/>
              </a:spcBef>
              <a:spcAft>
                <a:spcPts val="600"/>
              </a:spcAft>
            </a:pPr>
            <a:r>
              <a:rPr lang="en-US" sz="2200" dirty="0" smtClean="0">
                <a:latin typeface="Helvetica" pitchFamily="34" charset="0"/>
              </a:rPr>
              <a:t>Shaking clean regularly in an appropriate outside location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Washing in accordance with the manufacturer’s instructions – the laundry will be responsible for this: you will be required to leave all used dusters and cleaning cloths in a nominated location for the laundry porter to pick up.</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6" name="Picture 5" descr="MP900387608[1].JPG"/>
          <p:cNvPicPr/>
          <p:nvPr/>
        </p:nvPicPr>
        <p:blipFill>
          <a:blip r:embed="rId3" cstate="print"/>
          <a:stretch>
            <a:fillRect/>
          </a:stretch>
        </p:blipFill>
        <p:spPr>
          <a:xfrm>
            <a:off x="3714744" y="5143512"/>
            <a:ext cx="1819275" cy="1295400"/>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housekeeping equipment prior 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buNone/>
            </a:pPr>
            <a:r>
              <a:rPr lang="en-AU" sz="2200" b="1" dirty="0" smtClean="0">
                <a:latin typeface="Helvetica" pitchFamily="34" charset="0"/>
              </a:rPr>
              <a:t>Brooms and brushes</a:t>
            </a:r>
          </a:p>
          <a:p>
            <a:pPr marL="0" indent="0">
              <a:spcBef>
                <a:spcPts val="600"/>
              </a:spcBef>
              <a:spcAft>
                <a:spcPts val="600"/>
              </a:spcAft>
              <a:buNone/>
            </a:pPr>
            <a:r>
              <a:rPr lang="en-AU" sz="2200" dirty="0" smtClean="0">
                <a:latin typeface="Helvetica" pitchFamily="34" charset="0"/>
              </a:rPr>
              <a:t>Cleaning of brooms and brushes involves may vary with special items but the general approach is:</a:t>
            </a:r>
          </a:p>
          <a:p>
            <a:pPr lvl="0">
              <a:spcBef>
                <a:spcPts val="600"/>
              </a:spcBef>
              <a:spcAft>
                <a:spcPts val="600"/>
              </a:spcAft>
            </a:pPr>
            <a:r>
              <a:rPr lang="en-US" sz="2200" dirty="0" smtClean="0">
                <a:latin typeface="Helvetica" pitchFamily="34" charset="0"/>
              </a:rPr>
              <a:t>Shake clean in an outside location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Wash with designated detergent – some properties will also require sanitising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Hang to air dry.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7" name="Picture 6" descr="MP900386463[1].JPG"/>
          <p:cNvPicPr/>
          <p:nvPr/>
        </p:nvPicPr>
        <p:blipFill>
          <a:blip r:embed="rId3" cstate="print"/>
          <a:stretch>
            <a:fillRect/>
          </a:stretch>
        </p:blipFill>
        <p:spPr>
          <a:xfrm>
            <a:off x="3770189" y="4429132"/>
            <a:ext cx="1603623" cy="1926332"/>
          </a:xfrm>
          <a:prstGeom prst="rect">
            <a:avLst/>
          </a:prstGeom>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housekeeping equipment prior 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Cloths and sponges</a:t>
            </a:r>
          </a:p>
          <a:p>
            <a:pPr marL="0">
              <a:spcBef>
                <a:spcPts val="600"/>
              </a:spcBef>
              <a:spcAft>
                <a:spcPts val="1200"/>
              </a:spcAft>
              <a:buNone/>
            </a:pPr>
            <a:r>
              <a:rPr lang="en-AU" sz="2200" dirty="0" smtClean="0">
                <a:latin typeface="Helvetica" pitchFamily="34" charset="0"/>
              </a:rPr>
              <a:t>Clothes may be given to the laundry for cleaning, or you may have to do your own.</a:t>
            </a:r>
          </a:p>
          <a:p>
            <a:pPr>
              <a:spcBef>
                <a:spcPts val="600"/>
              </a:spcBef>
              <a:spcAft>
                <a:spcPts val="1200"/>
              </a:spcAft>
              <a:buNone/>
            </a:pPr>
            <a:r>
              <a:rPr lang="en-AU" sz="2200" dirty="0" smtClean="0">
                <a:latin typeface="Helvetica" pitchFamily="34" charset="0"/>
              </a:rPr>
              <a:t>Where you have to clean your own:</a:t>
            </a:r>
          </a:p>
          <a:p>
            <a:pPr lvl="0">
              <a:spcBef>
                <a:spcPts val="600"/>
              </a:spcBef>
              <a:spcAft>
                <a:spcPts val="1200"/>
              </a:spcAft>
            </a:pPr>
            <a:r>
              <a:rPr lang="en-US" sz="2200" dirty="0" smtClean="0">
                <a:latin typeface="Helvetica" pitchFamily="34" charset="0"/>
              </a:rPr>
              <a:t>Wash with designated detergent – some properties will also require sanitising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Air dry.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6" name="Picture 5" descr="MP900448582[1].JPG"/>
          <p:cNvPicPr>
            <a:picLocks noChangeAspect="1"/>
          </p:cNvPicPr>
          <p:nvPr/>
        </p:nvPicPr>
        <p:blipFill>
          <a:blip r:embed="rId3" cstate="print"/>
          <a:stretch>
            <a:fillRect/>
          </a:stretch>
        </p:blipFill>
        <p:spPr>
          <a:xfrm>
            <a:off x="3750463" y="4572008"/>
            <a:ext cx="1643074" cy="1628910"/>
          </a:xfrm>
          <a:prstGeom prst="rect">
            <a:avLst/>
          </a:prstGeom>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housekeeping equipment prior 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Buckets</a:t>
            </a:r>
          </a:p>
          <a:p>
            <a:pPr lvl="0">
              <a:spcBef>
                <a:spcPts val="600"/>
              </a:spcBef>
              <a:spcAft>
                <a:spcPts val="1200"/>
              </a:spcAft>
            </a:pPr>
            <a:r>
              <a:rPr lang="en-US" sz="2200" dirty="0" smtClean="0">
                <a:latin typeface="Helvetica" pitchFamily="34" charset="0"/>
              </a:rPr>
              <a:t>Tipping out the dirty water into the sink or gully trap identified for this purpose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Removing or rinsing out any dirt and material</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Washing with designated detergent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Checking rollers and removing debris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Turning upside down and leaving to air dry.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5" name="Picture 4" descr="MP900386468[1].JPG"/>
          <p:cNvPicPr/>
          <p:nvPr/>
        </p:nvPicPr>
        <p:blipFill>
          <a:blip r:embed="rId3" cstate="print"/>
          <a:stretch>
            <a:fillRect/>
          </a:stretch>
        </p:blipFill>
        <p:spPr>
          <a:xfrm>
            <a:off x="7000892" y="3571876"/>
            <a:ext cx="1285369" cy="1538288"/>
          </a:xfrm>
          <a:prstGeom prst="rect">
            <a:avLst/>
          </a:prstGeom>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housekeeping equipment prior 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800"/>
              </a:spcAft>
              <a:buNone/>
            </a:pPr>
            <a:r>
              <a:rPr lang="en-AU" sz="2000" b="1" dirty="0" smtClean="0">
                <a:latin typeface="Helvetica" pitchFamily="34" charset="0"/>
              </a:rPr>
              <a:t>Vacuum cleaners</a:t>
            </a:r>
          </a:p>
          <a:p>
            <a:pPr>
              <a:spcBef>
                <a:spcPts val="600"/>
              </a:spcBef>
              <a:spcAft>
                <a:spcPts val="800"/>
              </a:spcAft>
            </a:pPr>
            <a:r>
              <a:rPr lang="en-US" sz="2000" dirty="0" smtClean="0">
                <a:latin typeface="Helvetica" pitchFamily="34" charset="0"/>
              </a:rPr>
              <a:t>All vacuum cleaners must be cleaned out at the end of the shift and the bag replaced if required</a:t>
            </a:r>
            <a:endParaRPr lang="en-AU" sz="2000" dirty="0" smtClean="0">
              <a:latin typeface="Helvetica" pitchFamily="34" charset="0"/>
            </a:endParaRPr>
          </a:p>
          <a:p>
            <a:pPr>
              <a:spcBef>
                <a:spcPts val="600"/>
              </a:spcBef>
              <a:spcAft>
                <a:spcPts val="800"/>
              </a:spcAft>
            </a:pPr>
            <a:r>
              <a:rPr lang="en-US" sz="2000" dirty="0" smtClean="0">
                <a:latin typeface="Helvetica" pitchFamily="34" charset="0"/>
              </a:rPr>
              <a:t>The machine and its attachments must be wiped clean using a damp cloth</a:t>
            </a:r>
            <a:endParaRPr lang="en-AU" sz="2000" dirty="0" smtClean="0">
              <a:latin typeface="Helvetica" pitchFamily="34" charset="0"/>
            </a:endParaRPr>
          </a:p>
          <a:p>
            <a:pPr>
              <a:spcBef>
                <a:spcPts val="600"/>
              </a:spcBef>
              <a:spcAft>
                <a:spcPts val="800"/>
              </a:spcAft>
            </a:pPr>
            <a:r>
              <a:rPr lang="en-US" sz="2000" dirty="0" smtClean="0">
                <a:latin typeface="Helvetica" pitchFamily="34" charset="0"/>
              </a:rPr>
              <a:t>The power cord should be wrapped correctly and safely</a:t>
            </a:r>
            <a:endParaRPr lang="en-AU" sz="2000" dirty="0" smtClean="0">
              <a:latin typeface="Helvetica" pitchFamily="34" charset="0"/>
            </a:endParaRPr>
          </a:p>
          <a:p>
            <a:pPr>
              <a:spcBef>
                <a:spcPts val="600"/>
              </a:spcBef>
              <a:spcAft>
                <a:spcPts val="800"/>
              </a:spcAft>
            </a:pPr>
            <a:r>
              <a:rPr lang="en-US" sz="2000" dirty="0" smtClean="0">
                <a:latin typeface="Helvetica" pitchFamily="34" charset="0"/>
              </a:rPr>
              <a:t>All cleaning of vacuum cleaners must be done in accordance with manufacturer’s instructions. </a:t>
            </a: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6" name="Picture 5" descr="MP900386460[1].JPG"/>
          <p:cNvPicPr/>
          <p:nvPr/>
        </p:nvPicPr>
        <p:blipFill>
          <a:blip r:embed="rId3" cstate="print"/>
          <a:stretch>
            <a:fillRect/>
          </a:stretch>
        </p:blipFill>
        <p:spPr>
          <a:xfrm>
            <a:off x="3929058" y="4929198"/>
            <a:ext cx="1133775" cy="1379055"/>
          </a:xfrm>
          <a:prstGeom prst="rect">
            <a:avLst/>
          </a:prstGeom>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Storing housekeeping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US" sz="2200" b="1" dirty="0" smtClean="0">
                <a:latin typeface="Helvetica" pitchFamily="34" charset="0"/>
              </a:rPr>
              <a:t>Large items</a:t>
            </a:r>
          </a:p>
          <a:p>
            <a:pPr lvl="0">
              <a:spcBef>
                <a:spcPts val="600"/>
              </a:spcBef>
              <a:spcAft>
                <a:spcPts val="1200"/>
              </a:spcAft>
            </a:pPr>
            <a:r>
              <a:rPr lang="en-US" sz="2200" dirty="0" smtClean="0">
                <a:latin typeface="Helvetica" pitchFamily="34" charset="0"/>
              </a:rPr>
              <a:t>Vacuum cleaners, brooms &amp; buckets </a:t>
            </a:r>
          </a:p>
          <a:p>
            <a:pPr lvl="0">
              <a:spcBef>
                <a:spcPts val="600"/>
              </a:spcBef>
              <a:spcAft>
                <a:spcPts val="1200"/>
              </a:spcAft>
            </a:pPr>
            <a:r>
              <a:rPr lang="en-US" sz="2200" dirty="0" smtClean="0">
                <a:latin typeface="Helvetica" pitchFamily="34" charset="0"/>
              </a:rPr>
              <a:t>Normally go on the floor.</a:t>
            </a:r>
            <a:endParaRPr lang="en-AU" sz="2200" dirty="0" smtClean="0">
              <a:latin typeface="Helvetica" pitchFamily="34" charset="0"/>
            </a:endParaRPr>
          </a:p>
          <a:p>
            <a:pPr lvl="0">
              <a:spcBef>
                <a:spcPts val="600"/>
              </a:spcBef>
              <a:spcAft>
                <a:spcPts val="1200"/>
              </a:spcAft>
              <a:buNone/>
            </a:pPr>
            <a:r>
              <a:rPr lang="en-US" sz="2200" b="1" dirty="0" smtClean="0">
                <a:latin typeface="Helvetica" pitchFamily="34" charset="0"/>
              </a:rPr>
              <a:t>Smaller items</a:t>
            </a:r>
          </a:p>
          <a:p>
            <a:pPr>
              <a:spcBef>
                <a:spcPts val="600"/>
              </a:spcBef>
              <a:spcAft>
                <a:spcPts val="1200"/>
              </a:spcAft>
            </a:pPr>
            <a:r>
              <a:rPr lang="en-US" sz="2200" dirty="0" smtClean="0">
                <a:latin typeface="Helvetica" pitchFamily="34" charset="0"/>
              </a:rPr>
              <a:t>Guest supplies</a:t>
            </a:r>
          </a:p>
          <a:p>
            <a:pPr>
              <a:spcBef>
                <a:spcPts val="600"/>
              </a:spcBef>
              <a:spcAft>
                <a:spcPts val="1200"/>
              </a:spcAft>
            </a:pPr>
            <a:r>
              <a:rPr lang="en-US" sz="2200" dirty="0" smtClean="0">
                <a:latin typeface="Helvetica" pitchFamily="34" charset="0"/>
              </a:rPr>
              <a:t>Go on shelves – shelves often have labels                       to show what goes where.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7" name="Picture 6" descr="MP900387601[1].JPG"/>
          <p:cNvPicPr>
            <a:picLocks noChangeAspect="1"/>
          </p:cNvPicPr>
          <p:nvPr/>
        </p:nvPicPr>
        <p:blipFill>
          <a:blip r:embed="rId3" cstate="print"/>
          <a:stretch>
            <a:fillRect/>
          </a:stretch>
        </p:blipFill>
        <p:spPr>
          <a:xfrm>
            <a:off x="6215074" y="1785926"/>
            <a:ext cx="1840575" cy="1312944"/>
          </a:xfrm>
          <a:prstGeom prst="rect">
            <a:avLst/>
          </a:prstGeom>
        </p:spPr>
      </p:pic>
      <p:pic>
        <p:nvPicPr>
          <p:cNvPr id="31746" name="Picture 2" descr="C:\Documents and Settings\danielc\Local Settings\Temporary Internet Files\Content.IE5\WOYKSSHU\MP900411663[1].jpg"/>
          <p:cNvPicPr>
            <a:picLocks noChangeAspect="1" noChangeArrowheads="1"/>
          </p:cNvPicPr>
          <p:nvPr/>
        </p:nvPicPr>
        <p:blipFill>
          <a:blip r:embed="rId4" cstate="print"/>
          <a:srcRect/>
          <a:stretch>
            <a:fillRect/>
          </a:stretch>
        </p:blipFill>
        <p:spPr bwMode="auto">
          <a:xfrm>
            <a:off x="6748050" y="3500438"/>
            <a:ext cx="1209423" cy="1571636"/>
          </a:xfrm>
          <a:prstGeom prst="rect">
            <a:avLst/>
          </a:prstGeom>
          <a:noFill/>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Storing housekeeping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4525963"/>
          </a:xfrm>
        </p:spPr>
        <p:txBody>
          <a:bodyPr>
            <a:normAutofit/>
          </a:bodyPr>
          <a:lstStyle/>
          <a:p>
            <a:pPr lvl="0">
              <a:spcBef>
                <a:spcPts val="600"/>
              </a:spcBef>
              <a:spcAft>
                <a:spcPts val="1200"/>
              </a:spcAft>
              <a:buNone/>
            </a:pPr>
            <a:r>
              <a:rPr lang="en-US" sz="2200" b="1" dirty="0" smtClean="0">
                <a:latin typeface="Helvetica" pitchFamily="34" charset="0"/>
              </a:rPr>
              <a:t>Final checks when storing equipment</a:t>
            </a:r>
          </a:p>
          <a:p>
            <a:pPr lvl="0">
              <a:spcBef>
                <a:spcPts val="600"/>
              </a:spcBef>
              <a:spcAft>
                <a:spcPts val="600"/>
              </a:spcAft>
            </a:pPr>
            <a:r>
              <a:rPr lang="en-US" sz="2200" dirty="0" smtClean="0">
                <a:latin typeface="Helvetica" pitchFamily="34" charset="0"/>
              </a:rPr>
              <a:t>All minor or major faults and repair needs have been identified and acted 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All equipment has been cleaned – and where appropriate, dry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Electrical cords are rolled up and positioned </a:t>
            </a:r>
            <a:br>
              <a:rPr lang="en-US" sz="2200" dirty="0" smtClean="0">
                <a:latin typeface="Helvetica" pitchFamily="34" charset="0"/>
              </a:rPr>
            </a:br>
            <a:r>
              <a:rPr lang="en-US" sz="2200" dirty="0" smtClean="0">
                <a:latin typeface="Helvetica" pitchFamily="34" charset="0"/>
              </a:rPr>
              <a:t>safely and securely</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Every piece of equipment and every cleaning item </a:t>
            </a:r>
            <a:br>
              <a:rPr lang="en-US" sz="2200" dirty="0" smtClean="0">
                <a:latin typeface="Helvetica" pitchFamily="34" charset="0"/>
              </a:rPr>
            </a:br>
            <a:r>
              <a:rPr lang="en-US" sz="2200" dirty="0" smtClean="0">
                <a:latin typeface="Helvetica" pitchFamily="34" charset="0"/>
              </a:rPr>
              <a:t>is stored safely and in the appropriate location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The door to the storeroom is locked when you leave.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187</a:t>
            </a:fld>
            <a:endParaRPr lang="en-US" dirty="0"/>
          </a:p>
        </p:txBody>
      </p:sp>
      <p:pic>
        <p:nvPicPr>
          <p:cNvPr id="6" name="Picture 5" descr="MP900178008[1].JPG"/>
          <p:cNvPicPr/>
          <p:nvPr/>
        </p:nvPicPr>
        <p:blipFill>
          <a:blip r:embed="rId3" cstate="print"/>
          <a:stretch>
            <a:fillRect/>
          </a:stretch>
        </p:blipFill>
        <p:spPr>
          <a:xfrm>
            <a:off x="7143768" y="2571744"/>
            <a:ext cx="1104900" cy="1657350"/>
          </a:xfrm>
          <a:prstGeom prst="rect">
            <a:avLst/>
          </a:prstGeom>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Finish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4525963"/>
          </a:xfrm>
        </p:spPr>
        <p:txBody>
          <a:bodyPr>
            <a:normAutofit/>
          </a:bodyPr>
          <a:lstStyle/>
          <a:p>
            <a:pPr>
              <a:spcBef>
                <a:spcPts val="600"/>
              </a:spcBef>
              <a:spcAft>
                <a:spcPts val="600"/>
              </a:spcAft>
              <a:buNone/>
            </a:pPr>
            <a:r>
              <a:rPr lang="en-AU" sz="2200" dirty="0" smtClean="0">
                <a:latin typeface="Helvetica" pitchFamily="34" charset="0"/>
              </a:rPr>
              <a:t>Go to the Head Housekeeper’s office and:</a:t>
            </a:r>
          </a:p>
          <a:p>
            <a:pPr lvl="0">
              <a:spcBef>
                <a:spcPts val="600"/>
              </a:spcBef>
              <a:spcAft>
                <a:spcPts val="600"/>
              </a:spcAft>
            </a:pPr>
            <a:r>
              <a:rPr lang="en-US" sz="2200" dirty="0" smtClean="0">
                <a:latin typeface="Helvetica" pitchFamily="34" charset="0"/>
              </a:rPr>
              <a:t>Advise that you have finished and about to go</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Notify the office of any problems you have identified or any suspicions etc you have. This includes submitting any requisitions, requests, reports, forms etc</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Hand back and sign in your room keys/cards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Complete your time sheet</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Once you have completed this task you have successfully completed your shift.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188</a:t>
            </a:fld>
            <a:endParaRPr lang="en-US" dirty="0"/>
          </a:p>
        </p:txBody>
      </p:sp>
      <p:pic>
        <p:nvPicPr>
          <p:cNvPr id="8" name="Picture 7" descr="MP900314372[1].JPG"/>
          <p:cNvPicPr>
            <a:picLocks noChangeAspect="1"/>
          </p:cNvPicPr>
          <p:nvPr/>
        </p:nvPicPr>
        <p:blipFill>
          <a:blip r:embed="rId3" cstate="print"/>
          <a:stretch>
            <a:fillRect/>
          </a:stretch>
        </p:blipFill>
        <p:spPr>
          <a:xfrm>
            <a:off x="7500958" y="3571876"/>
            <a:ext cx="803449" cy="1500198"/>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_PPT_Template_010611_MV[1]">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ASEAN_PPT_Template_010611_MV[1]</Template>
  <TotalTime>2494</TotalTime>
  <Words>14227</Words>
  <Application>Microsoft Office PowerPoint</Application>
  <PresentationFormat>On-screen Show (4:3)</PresentationFormat>
  <Paragraphs>2822</Paragraphs>
  <Slides>188</Slides>
  <Notes>188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188</vt:i4>
      </vt:variant>
    </vt:vector>
  </HeadingPairs>
  <TitlesOfParts>
    <vt:vector size="192" baseType="lpstr">
      <vt:lpstr>Arial</vt:lpstr>
      <vt:lpstr>Helvetica</vt:lpstr>
      <vt:lpstr>Wingdings 2</vt:lpstr>
      <vt:lpstr>ASEAN_PPT_Template_010611_MV[1]</vt:lpstr>
      <vt:lpstr>CLEAN AND PREPARE ROOMS FOR INCOMING GUESTS</vt:lpstr>
      <vt:lpstr>Subject Elements</vt:lpstr>
      <vt:lpstr>Assessment</vt:lpstr>
      <vt:lpstr>PowerPoint Presentation</vt:lpstr>
      <vt:lpstr>Identify the role of room attendants</vt:lpstr>
      <vt:lpstr>Identify the role of room attendants</vt:lpstr>
      <vt:lpstr>Room attendant</vt:lpstr>
      <vt:lpstr>Room attendant</vt:lpstr>
      <vt:lpstr>Room attendant</vt:lpstr>
      <vt:lpstr>Areas of responsibility</vt:lpstr>
      <vt:lpstr>Areas of responsibility</vt:lpstr>
      <vt:lpstr>Daily activities</vt:lpstr>
      <vt:lpstr>Daily activities</vt:lpstr>
      <vt:lpstr>Daily activities</vt:lpstr>
      <vt:lpstr>Daily activities</vt:lpstr>
      <vt:lpstr>Daily activities</vt:lpstr>
      <vt:lpstr>Daily activities</vt:lpstr>
      <vt:lpstr>Daily activities</vt:lpstr>
      <vt:lpstr>Daily activities</vt:lpstr>
      <vt:lpstr>Daily activities</vt:lpstr>
      <vt:lpstr>Daily activities</vt:lpstr>
      <vt:lpstr>Daily activities</vt:lpstr>
      <vt:lpstr>Room attendant &amp; organisation</vt:lpstr>
      <vt:lpstr>Their immediate department</vt:lpstr>
      <vt:lpstr>Their wider department</vt:lpstr>
      <vt:lpstr>Their supervisor</vt:lpstr>
      <vt:lpstr>Characteristics of a room attendant</vt:lpstr>
      <vt:lpstr>Characteristics of a room attendant</vt:lpstr>
      <vt:lpstr>Characteristics of a room attendant</vt:lpstr>
      <vt:lpstr>Characteristics of a room attendant</vt:lpstr>
      <vt:lpstr>Characteristics of a room attendant</vt:lpstr>
      <vt:lpstr>Characteristics of a room attendant</vt:lpstr>
      <vt:lpstr>Grooming &amp; personal presentation</vt:lpstr>
      <vt:lpstr>Grooming &amp; personal presentation</vt:lpstr>
      <vt:lpstr>Grooming &amp; personal presentation</vt:lpstr>
      <vt:lpstr>Policies and procedures</vt:lpstr>
      <vt:lpstr>Policies and procedures</vt:lpstr>
      <vt:lpstr>Policies and procedures</vt:lpstr>
      <vt:lpstr>Policies and procedures</vt:lpstr>
      <vt:lpstr>Policies and procedures</vt:lpstr>
      <vt:lpstr>Policies and procedures</vt:lpstr>
      <vt:lpstr>Communication</vt:lpstr>
      <vt:lpstr>Communication</vt:lpstr>
      <vt:lpstr>PowerPoint Presentation</vt:lpstr>
      <vt:lpstr>Preparing for cleaning duties</vt:lpstr>
      <vt:lpstr>Replenish supplies</vt:lpstr>
      <vt:lpstr>Equipment supplies</vt:lpstr>
      <vt:lpstr>Equipment supplies</vt:lpstr>
      <vt:lpstr>Cleaning and chemical supplies</vt:lpstr>
      <vt:lpstr>Cleaning and chemical supplies</vt:lpstr>
      <vt:lpstr>Other supplies</vt:lpstr>
      <vt:lpstr>Ordering and receiving supplies</vt:lpstr>
      <vt:lpstr>Loading housekeeping trolley</vt:lpstr>
      <vt:lpstr>Loading housekeeping trolley</vt:lpstr>
      <vt:lpstr>Loading housekeeping trolley</vt:lpstr>
      <vt:lpstr>Check housekeeping trolley</vt:lpstr>
      <vt:lpstr>Security of housekeeping trolley</vt:lpstr>
      <vt:lpstr>Position of housekeeping trolley</vt:lpstr>
      <vt:lpstr>Identify rooms to be cleaned</vt:lpstr>
      <vt:lpstr>Identify rooms to be cleaned</vt:lpstr>
      <vt:lpstr>Identify rooms to be cleaned</vt:lpstr>
      <vt:lpstr>Identify rooms to be cleaned</vt:lpstr>
      <vt:lpstr>Identify rooms to be cleaned</vt:lpstr>
      <vt:lpstr>Identify rooms to be cleaned</vt:lpstr>
      <vt:lpstr>Identify rooms to be cleaned</vt:lpstr>
      <vt:lpstr>Access and enter guest room</vt:lpstr>
      <vt:lpstr>Access and enter guest room</vt:lpstr>
      <vt:lpstr>Access and enter guest room</vt:lpstr>
      <vt:lpstr>Access and enter guest room</vt:lpstr>
      <vt:lpstr>PowerPoint Presentation</vt:lpstr>
      <vt:lpstr>Make beds</vt:lpstr>
      <vt:lpstr>Strip and make a bed</vt:lpstr>
      <vt:lpstr>Strip and make a bed</vt:lpstr>
      <vt:lpstr>Strip and make a bed</vt:lpstr>
      <vt:lpstr>Strip and make a bed</vt:lpstr>
      <vt:lpstr>Strip and make a bed</vt:lpstr>
      <vt:lpstr>Strip and make a bed</vt:lpstr>
      <vt:lpstr>Strip and make a bed</vt:lpstr>
      <vt:lpstr>Strip and make a bed</vt:lpstr>
      <vt:lpstr>Strip and make a bed</vt:lpstr>
      <vt:lpstr>Strip and make a bed</vt:lpstr>
      <vt:lpstr>Strip and make a bed</vt:lpstr>
      <vt:lpstr>PowerPoint Presentation</vt:lpstr>
      <vt:lpstr>Clean bathroom</vt:lpstr>
      <vt:lpstr>Preparing a bathroom for cleaning</vt:lpstr>
      <vt:lpstr>Preparing a bathroom for cleaning</vt:lpstr>
      <vt:lpstr>Cleaning the bath</vt:lpstr>
      <vt:lpstr>Cleaning the shower</vt:lpstr>
      <vt:lpstr>Cleaning the toilet</vt:lpstr>
      <vt:lpstr>Cleaning the toilet</vt:lpstr>
      <vt:lpstr>Cleaning the vanity area</vt:lpstr>
      <vt:lpstr>Cleaning the vanity area</vt:lpstr>
      <vt:lpstr>Cleaning the vanity area</vt:lpstr>
      <vt:lpstr>Cleaning the bathroom floor</vt:lpstr>
      <vt:lpstr>Cleaning the bathroom floor</vt:lpstr>
      <vt:lpstr>Replenishing guest supplies</vt:lpstr>
      <vt:lpstr>Replenishing guest supplies</vt:lpstr>
      <vt:lpstr>Final check of bathroom</vt:lpstr>
      <vt:lpstr>PowerPoint Presentation</vt:lpstr>
      <vt:lpstr>Clean room</vt:lpstr>
      <vt:lpstr>Clean room</vt:lpstr>
      <vt:lpstr>Protocol for cleaning a room</vt:lpstr>
      <vt:lpstr>Protocol for cleaning a room</vt:lpstr>
      <vt:lpstr>Cleaning furniture, fixtures and fittings</vt:lpstr>
      <vt:lpstr>Dusting and polishing</vt:lpstr>
      <vt:lpstr>Dusting and polishing</vt:lpstr>
      <vt:lpstr>Dusting and polishing</vt:lpstr>
      <vt:lpstr>Cleaning bins</vt:lpstr>
      <vt:lpstr>Vacuum floors</vt:lpstr>
      <vt:lpstr>Vacuum floors</vt:lpstr>
      <vt:lpstr>Clean kitchenette</vt:lpstr>
      <vt:lpstr>Cleaning the refrigerator</vt:lpstr>
      <vt:lpstr>Cleaning the stove</vt:lpstr>
      <vt:lpstr>Cleaning the stove</vt:lpstr>
      <vt:lpstr>Cleaning the oven</vt:lpstr>
      <vt:lpstr>Cleaning the oven</vt:lpstr>
      <vt:lpstr>Cleaning the dishwasher</vt:lpstr>
      <vt:lpstr>Cleaning the washing machine</vt:lpstr>
      <vt:lpstr>Cleaning the dryer</vt:lpstr>
      <vt:lpstr>Cleaning other items</vt:lpstr>
      <vt:lpstr>Cleaning other items</vt:lpstr>
      <vt:lpstr>Replenish guest supplies</vt:lpstr>
      <vt:lpstr>Replenish guest supplies</vt:lpstr>
      <vt:lpstr>Replenish guest supplies</vt:lpstr>
      <vt:lpstr>Check operational readiness of items</vt:lpstr>
      <vt:lpstr>Report and remedy room defects</vt:lpstr>
      <vt:lpstr>Report and remedy room defects</vt:lpstr>
      <vt:lpstr>Report and remedy room defects</vt:lpstr>
      <vt:lpstr>Report and remedy room defects</vt:lpstr>
      <vt:lpstr>Report and remedy room defects</vt:lpstr>
      <vt:lpstr>Report and remedy room defects</vt:lpstr>
      <vt:lpstr>Identifying pests</vt:lpstr>
      <vt:lpstr>Preventing pests</vt:lpstr>
      <vt:lpstr>Preventing pests</vt:lpstr>
      <vt:lpstr>Suspicious items or situations</vt:lpstr>
      <vt:lpstr>Suspicious items or situations</vt:lpstr>
      <vt:lpstr>Suspicious items or situations</vt:lpstr>
      <vt:lpstr>Suspicious items or situations</vt:lpstr>
      <vt:lpstr>Suspicious items or situations</vt:lpstr>
      <vt:lpstr>Suspicious items or situations</vt:lpstr>
      <vt:lpstr>Handling guest property left in departed room</vt:lpstr>
      <vt:lpstr>Handling guest property left in departed room</vt:lpstr>
      <vt:lpstr>Handling guest property left in departed room</vt:lpstr>
      <vt:lpstr>PowerPoint Presentation</vt:lpstr>
      <vt:lpstr>Provide additional housekeeping services</vt:lpstr>
      <vt:lpstr>Provide turn-down service</vt:lpstr>
      <vt:lpstr>Steps of turn-down service</vt:lpstr>
      <vt:lpstr>Steps of turn-down service</vt:lpstr>
      <vt:lpstr>Steps of turn-down service</vt:lpstr>
      <vt:lpstr>Steps of turn-down service</vt:lpstr>
      <vt:lpstr>Steps of turn-down service</vt:lpstr>
      <vt:lpstr>Steps of turn-down service</vt:lpstr>
      <vt:lpstr>Rotational cleaning duties</vt:lpstr>
      <vt:lpstr>Rotational cleaning duties</vt:lpstr>
      <vt:lpstr>Rotational cleaning duties</vt:lpstr>
      <vt:lpstr>Rotational cleaning duties</vt:lpstr>
      <vt:lpstr>Rotational cleaning duties</vt:lpstr>
      <vt:lpstr>Rotational cleaning duties</vt:lpstr>
      <vt:lpstr>Rotational cleaning duties</vt:lpstr>
      <vt:lpstr>Rotational cleaning duties</vt:lpstr>
      <vt:lpstr>Lending equipment to guests</vt:lpstr>
      <vt:lpstr>Types of loan items</vt:lpstr>
      <vt:lpstr>Types of loan items</vt:lpstr>
      <vt:lpstr>Procedures for loaning items</vt:lpstr>
      <vt:lpstr>PowerPoint Presentation</vt:lpstr>
      <vt:lpstr>Prepare for the next shift</vt:lpstr>
      <vt:lpstr>Complete records and notifications</vt:lpstr>
      <vt:lpstr>Dispose of rubbish</vt:lpstr>
      <vt:lpstr>Dispose of rubbish</vt:lpstr>
      <vt:lpstr>Types of rubbish</vt:lpstr>
      <vt:lpstr>Types of rubbish</vt:lpstr>
      <vt:lpstr>Types of rubbish</vt:lpstr>
      <vt:lpstr>Handling rubbish</vt:lpstr>
      <vt:lpstr>Clean and store trolleys</vt:lpstr>
      <vt:lpstr>Clean and store trolleys</vt:lpstr>
      <vt:lpstr>Clean and store trolleys</vt:lpstr>
      <vt:lpstr>Reorder stock and supplies</vt:lpstr>
      <vt:lpstr>Reorder stock and supplies</vt:lpstr>
      <vt:lpstr>Reorder stock and supplies</vt:lpstr>
      <vt:lpstr>Clean housekeeping equipment prior to storage</vt:lpstr>
      <vt:lpstr>Clean housekeeping equipment prior to storage</vt:lpstr>
      <vt:lpstr>Clean housekeeping equipment prior to storage</vt:lpstr>
      <vt:lpstr>Clean housekeeping equipment prior to storage</vt:lpstr>
      <vt:lpstr>Clean housekeeping equipment prior to storage</vt:lpstr>
      <vt:lpstr>Clean housekeeping equipment prior to storage</vt:lpstr>
      <vt:lpstr>Storing housekeeping equipment</vt:lpstr>
      <vt:lpstr>Storing housekeeping equipment</vt:lpstr>
      <vt:lpstr>Finish</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Administrator</dc:creator>
  <cp:lastModifiedBy>Carla Angelica Co</cp:lastModifiedBy>
  <cp:revision>387</cp:revision>
  <dcterms:created xsi:type="dcterms:W3CDTF">2011-11-25T01:40:05Z</dcterms:created>
  <dcterms:modified xsi:type="dcterms:W3CDTF">2015-03-12T03:12:55Z</dcterms:modified>
</cp:coreProperties>
</file>