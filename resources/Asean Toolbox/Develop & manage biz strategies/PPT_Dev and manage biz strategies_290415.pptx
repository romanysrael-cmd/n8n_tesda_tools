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8"/>
  </p:notesMasterIdLst>
  <p:handoutMasterIdLst>
    <p:handoutMasterId r:id="rId189"/>
  </p:handoutMasterIdLst>
  <p:sldIdLst>
    <p:sldId id="256" r:id="rId2"/>
    <p:sldId id="257" r:id="rId3"/>
    <p:sldId id="258" r:id="rId4"/>
    <p:sldId id="259" r:id="rId5"/>
    <p:sldId id="260" r:id="rId6"/>
    <p:sldId id="307" r:id="rId7"/>
    <p:sldId id="416" r:id="rId8"/>
    <p:sldId id="308" r:id="rId9"/>
    <p:sldId id="309" r:id="rId10"/>
    <p:sldId id="417" r:id="rId11"/>
    <p:sldId id="418" r:id="rId12"/>
    <p:sldId id="419" r:id="rId13"/>
    <p:sldId id="420" r:id="rId14"/>
    <p:sldId id="421" r:id="rId15"/>
    <p:sldId id="422" r:id="rId16"/>
    <p:sldId id="423" r:id="rId17"/>
    <p:sldId id="424" r:id="rId18"/>
    <p:sldId id="425" r:id="rId19"/>
    <p:sldId id="426" r:id="rId20"/>
    <p:sldId id="427" r:id="rId21"/>
    <p:sldId id="428" r:id="rId22"/>
    <p:sldId id="429" r:id="rId23"/>
    <p:sldId id="441" r:id="rId24"/>
    <p:sldId id="442" r:id="rId25"/>
    <p:sldId id="430" r:id="rId26"/>
    <p:sldId id="443" r:id="rId27"/>
    <p:sldId id="431" r:id="rId28"/>
    <p:sldId id="432" r:id="rId29"/>
    <p:sldId id="433" r:id="rId30"/>
    <p:sldId id="434" r:id="rId31"/>
    <p:sldId id="435" r:id="rId32"/>
    <p:sldId id="436" r:id="rId33"/>
    <p:sldId id="437" r:id="rId34"/>
    <p:sldId id="438" r:id="rId35"/>
    <p:sldId id="444" r:id="rId36"/>
    <p:sldId id="439" r:id="rId37"/>
    <p:sldId id="445" r:id="rId38"/>
    <p:sldId id="440" r:id="rId39"/>
    <p:sldId id="446" r:id="rId40"/>
    <p:sldId id="447" r:id="rId41"/>
    <p:sldId id="448" r:id="rId42"/>
    <p:sldId id="449" r:id="rId43"/>
    <p:sldId id="406" r:id="rId44"/>
    <p:sldId id="452" r:id="rId45"/>
    <p:sldId id="409" r:id="rId46"/>
    <p:sldId id="408" r:id="rId47"/>
    <p:sldId id="410" r:id="rId48"/>
    <p:sldId id="412" r:id="rId49"/>
    <p:sldId id="413" r:id="rId50"/>
    <p:sldId id="414" r:id="rId51"/>
    <p:sldId id="415" r:id="rId52"/>
    <p:sldId id="453" r:id="rId53"/>
    <p:sldId id="454" r:id="rId54"/>
    <p:sldId id="456" r:id="rId55"/>
    <p:sldId id="455" r:id="rId56"/>
    <p:sldId id="457" r:id="rId57"/>
    <p:sldId id="458" r:id="rId58"/>
    <p:sldId id="269" r:id="rId59"/>
    <p:sldId id="270" r:id="rId60"/>
    <p:sldId id="460" r:id="rId61"/>
    <p:sldId id="461" r:id="rId62"/>
    <p:sldId id="462" r:id="rId63"/>
    <p:sldId id="463" r:id="rId64"/>
    <p:sldId id="464" r:id="rId65"/>
    <p:sldId id="315" r:id="rId66"/>
    <p:sldId id="317" r:id="rId67"/>
    <p:sldId id="339" r:id="rId68"/>
    <p:sldId id="466" r:id="rId69"/>
    <p:sldId id="467" r:id="rId70"/>
    <p:sldId id="465" r:id="rId71"/>
    <p:sldId id="344" r:id="rId72"/>
    <p:sldId id="319" r:id="rId73"/>
    <p:sldId id="468" r:id="rId74"/>
    <p:sldId id="469" r:id="rId75"/>
    <p:sldId id="320" r:id="rId76"/>
    <p:sldId id="470" r:id="rId77"/>
    <p:sldId id="471" r:id="rId78"/>
    <p:sldId id="472" r:id="rId79"/>
    <p:sldId id="473" r:id="rId80"/>
    <p:sldId id="474" r:id="rId81"/>
    <p:sldId id="475" r:id="rId82"/>
    <p:sldId id="476" r:id="rId83"/>
    <p:sldId id="477" r:id="rId84"/>
    <p:sldId id="478" r:id="rId85"/>
    <p:sldId id="479" r:id="rId86"/>
    <p:sldId id="334" r:id="rId87"/>
    <p:sldId id="335" r:id="rId88"/>
    <p:sldId id="336" r:id="rId89"/>
    <p:sldId id="337" r:id="rId90"/>
    <p:sldId id="338" r:id="rId91"/>
    <p:sldId id="276" r:id="rId92"/>
    <p:sldId id="277" r:id="rId93"/>
    <p:sldId id="480" r:id="rId94"/>
    <p:sldId id="481" r:id="rId95"/>
    <p:sldId id="482" r:id="rId96"/>
    <p:sldId id="484" r:id="rId97"/>
    <p:sldId id="483" r:id="rId98"/>
    <p:sldId id="485" r:id="rId99"/>
    <p:sldId id="486" r:id="rId100"/>
    <p:sldId id="487" r:id="rId101"/>
    <p:sldId id="488" r:id="rId102"/>
    <p:sldId id="386" r:id="rId103"/>
    <p:sldId id="387" r:id="rId104"/>
    <p:sldId id="388" r:id="rId105"/>
    <p:sldId id="389" r:id="rId106"/>
    <p:sldId id="489" r:id="rId107"/>
    <p:sldId id="490" r:id="rId108"/>
    <p:sldId id="491" r:id="rId109"/>
    <p:sldId id="492" r:id="rId110"/>
    <p:sldId id="493" r:id="rId111"/>
    <p:sldId id="494" r:id="rId112"/>
    <p:sldId id="495" r:id="rId113"/>
    <p:sldId id="496" r:id="rId114"/>
    <p:sldId id="392" r:id="rId115"/>
    <p:sldId id="497" r:id="rId116"/>
    <p:sldId id="498" r:id="rId117"/>
    <p:sldId id="397" r:id="rId118"/>
    <p:sldId id="345" r:id="rId119"/>
    <p:sldId id="346" r:id="rId120"/>
    <p:sldId id="347" r:id="rId121"/>
    <p:sldId id="348" r:id="rId122"/>
    <p:sldId id="349" r:id="rId123"/>
    <p:sldId id="350" r:id="rId124"/>
    <p:sldId id="286" r:id="rId125"/>
    <p:sldId id="287" r:id="rId126"/>
    <p:sldId id="362" r:id="rId127"/>
    <p:sldId id="499" r:id="rId128"/>
    <p:sldId id="500" r:id="rId129"/>
    <p:sldId id="501" r:id="rId130"/>
    <p:sldId id="505" r:id="rId131"/>
    <p:sldId id="502" r:id="rId132"/>
    <p:sldId id="506" r:id="rId133"/>
    <p:sldId id="507" r:id="rId134"/>
    <p:sldId id="508" r:id="rId135"/>
    <p:sldId id="509" r:id="rId136"/>
    <p:sldId id="510" r:id="rId137"/>
    <p:sldId id="511" r:id="rId138"/>
    <p:sldId id="367" r:id="rId139"/>
    <p:sldId id="371" r:id="rId140"/>
    <p:sldId id="372" r:id="rId141"/>
    <p:sldId id="373" r:id="rId142"/>
    <p:sldId id="512" r:id="rId143"/>
    <p:sldId id="513" r:id="rId144"/>
    <p:sldId id="514" r:id="rId145"/>
    <p:sldId id="377" r:id="rId146"/>
    <p:sldId id="515" r:id="rId147"/>
    <p:sldId id="516" r:id="rId148"/>
    <p:sldId id="296" r:id="rId149"/>
    <p:sldId id="297" r:id="rId150"/>
    <p:sldId id="301" r:id="rId151"/>
    <p:sldId id="390" r:id="rId152"/>
    <p:sldId id="517" r:id="rId153"/>
    <p:sldId id="518" r:id="rId154"/>
    <p:sldId id="519" r:id="rId155"/>
    <p:sldId id="520" r:id="rId156"/>
    <p:sldId id="521" r:id="rId157"/>
    <p:sldId id="522" r:id="rId158"/>
    <p:sldId id="523" r:id="rId159"/>
    <p:sldId id="524" r:id="rId160"/>
    <p:sldId id="525" r:id="rId161"/>
    <p:sldId id="526" r:id="rId162"/>
    <p:sldId id="527" r:id="rId163"/>
    <p:sldId id="528" r:id="rId164"/>
    <p:sldId id="529" r:id="rId165"/>
    <p:sldId id="530" r:id="rId166"/>
    <p:sldId id="531" r:id="rId167"/>
    <p:sldId id="532" r:id="rId168"/>
    <p:sldId id="533" r:id="rId169"/>
    <p:sldId id="534" r:id="rId170"/>
    <p:sldId id="535" r:id="rId171"/>
    <p:sldId id="536" r:id="rId172"/>
    <p:sldId id="537" r:id="rId173"/>
    <p:sldId id="538" r:id="rId174"/>
    <p:sldId id="539" r:id="rId175"/>
    <p:sldId id="540" r:id="rId176"/>
    <p:sldId id="541" r:id="rId177"/>
    <p:sldId id="542" r:id="rId178"/>
    <p:sldId id="543" r:id="rId179"/>
    <p:sldId id="544" r:id="rId180"/>
    <p:sldId id="545" r:id="rId181"/>
    <p:sldId id="546" r:id="rId182"/>
    <p:sldId id="547" r:id="rId183"/>
    <p:sldId id="548" r:id="rId184"/>
    <p:sldId id="549" r:id="rId185"/>
    <p:sldId id="550" r:id="rId186"/>
    <p:sldId id="551" r:id="rId18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81" autoAdjust="0"/>
    <p:restoredTop sz="85103" autoAdjust="0"/>
  </p:normalViewPr>
  <p:slideViewPr>
    <p:cSldViewPr>
      <p:cViewPr varScale="1">
        <p:scale>
          <a:sx n="78" d="100"/>
          <a:sy n="78" d="100"/>
        </p:scale>
        <p:origin x="177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93"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8/5/2015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8/5/2015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welcomes students to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014449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five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601158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237805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t>
            </a:r>
            <a:r>
              <a:rPr lang="en-US" sz="1200" kern="1200" baseline="0" dirty="0" smtClean="0">
                <a:solidFill>
                  <a:schemeClr val="tx1"/>
                </a:solidFill>
                <a:ea typeface="+mn-ea"/>
                <a:cs typeface="+mn-cs"/>
              </a:rPr>
              <a:t>the internal business environment?</a:t>
            </a:r>
          </a:p>
          <a:p>
            <a:pPr>
              <a:buFont typeface="Arial" pitchFamily="34" charset="0"/>
              <a:buChar char="•"/>
            </a:pPr>
            <a:r>
              <a:rPr lang="en-US" sz="1200" kern="1200" baseline="0" dirty="0" smtClean="0">
                <a:solidFill>
                  <a:schemeClr val="tx1"/>
                </a:solidFill>
                <a:ea typeface="+mn-ea"/>
                <a:cs typeface="+mn-cs"/>
              </a:rPr>
              <a:t>What do you want to analyse within the environment?</a:t>
            </a:r>
          </a:p>
          <a:p>
            <a:pPr>
              <a:buFont typeface="Arial" pitchFamily="34" charset="0"/>
              <a:buChar char="•"/>
            </a:pPr>
            <a:r>
              <a:rPr lang="en-US" sz="1200" kern="1200" baseline="0" dirty="0" smtClean="0">
                <a:solidFill>
                  <a:schemeClr val="tx1"/>
                </a:solidFill>
                <a:ea typeface="+mn-ea"/>
                <a:cs typeface="+mn-cs"/>
              </a:rPr>
              <a:t>How can you conduct analysis?</a:t>
            </a:r>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4270786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270097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dirty="0" smtClean="0">
                <a:solidFill>
                  <a:schemeClr val="tx1"/>
                </a:solidFill>
                <a:ea typeface="+mn-ea"/>
                <a:cs typeface="+mn-cs"/>
              </a:rPr>
              <a:t>What is the difference between</a:t>
            </a:r>
            <a:r>
              <a:rPr lang="en-AU" sz="1200" kern="1200" baseline="0" dirty="0" smtClean="0">
                <a:solidFill>
                  <a:schemeClr val="tx1"/>
                </a:solidFill>
                <a:ea typeface="+mn-ea"/>
                <a:cs typeface="+mn-cs"/>
              </a:rPr>
              <a:t> plans and strategies?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921910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dirty="0" smtClean="0">
                <a:solidFill>
                  <a:schemeClr val="tx1"/>
                </a:solidFill>
                <a:ea typeface="+mn-ea"/>
                <a:cs typeface="+mn-cs"/>
              </a:rPr>
              <a:t>What is the purpose of a business</a:t>
            </a:r>
            <a:r>
              <a:rPr lang="en-AU" sz="1200" kern="1200" baseline="0" dirty="0" smtClean="0">
                <a:solidFill>
                  <a:schemeClr val="tx1"/>
                </a:solidFill>
                <a:ea typeface="+mn-ea"/>
                <a:cs typeface="+mn-cs"/>
              </a:rPr>
              <a:t> plan?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076699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information is included in a business plan?</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606463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How can you analyse current performance?</a:t>
            </a:r>
          </a:p>
          <a:p>
            <a:pPr>
              <a:buFont typeface="Arial" pitchFamily="34" charset="0"/>
              <a:buChar char="•"/>
            </a:pPr>
            <a:r>
              <a:rPr lang="en-AU" sz="1200" kern="1200" baseline="0" dirty="0" smtClean="0">
                <a:solidFill>
                  <a:schemeClr val="tx1"/>
                </a:solidFill>
                <a:ea typeface="+mn-ea"/>
                <a:cs typeface="+mn-cs"/>
              </a:rPr>
              <a:t>How can you determine future trends?</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538957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purpose of each step?</a:t>
            </a:r>
          </a:p>
          <a:p>
            <a:pPr>
              <a:buFont typeface="Arial" pitchFamily="34" charset="0"/>
              <a:buChar char="•"/>
            </a:pPr>
            <a:r>
              <a:rPr lang="en-AU" sz="1200" kern="1200" baseline="0" dirty="0" smtClean="0">
                <a:solidFill>
                  <a:schemeClr val="tx1"/>
                </a:solidFill>
                <a:ea typeface="+mn-ea"/>
                <a:cs typeface="+mn-cs"/>
              </a:rPr>
              <a:t>What activities are performed under each step?</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753820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 &amp; Review business planning documents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 in the slide</a:t>
            </a:r>
          </a:p>
          <a:p>
            <a:pPr>
              <a:buFont typeface="Arial" pitchFamily="34" charset="0"/>
              <a:buChar char="•"/>
            </a:pPr>
            <a:r>
              <a:rPr lang="en-AU" sz="1200" kern="1200" baseline="0" dirty="0" smtClean="0">
                <a:solidFill>
                  <a:schemeClr val="tx1"/>
                </a:solidFill>
                <a:ea typeface="+mn-ea"/>
                <a:cs typeface="+mn-cs"/>
              </a:rPr>
              <a:t>Trainer to show examples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017123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key tasks undertaken for each of these activities?</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990486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key tasks undertaken for each of these activities?</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031921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key tasks undertaken for each of these activities?</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477574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key tasks undertaken for each of these activities?</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459092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key tasks undertaken for each of these activities?</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4213668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090280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other examples of products sold in the travel and tourism industry?</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66579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other examples of services provided or sold in the travel and tourism industry?</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42156399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products and services are sold within these?</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634909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products and services are sold within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8290026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different approaches do you use when attracting potential vs existing customers?</a:t>
            </a:r>
          </a:p>
          <a:p>
            <a:pPr>
              <a:buFont typeface="Arial" pitchFamily="34" charset="0"/>
              <a:buChar char="•"/>
            </a:pPr>
            <a:r>
              <a:rPr lang="en-AU" sz="1200" kern="1200" baseline="0" dirty="0" smtClean="0">
                <a:solidFill>
                  <a:schemeClr val="tx1"/>
                </a:solidFill>
                <a:ea typeface="+mn-ea"/>
                <a:cs typeface="+mn-cs"/>
              </a:rPr>
              <a:t>Who do you identify potential customers?</a:t>
            </a:r>
          </a:p>
          <a:p>
            <a:pPr>
              <a:buFont typeface="Arial" pitchFamily="34" charset="0"/>
              <a:buChar char="•"/>
            </a:pPr>
            <a:r>
              <a:rPr lang="en-AU" sz="1200" kern="1200" baseline="0" dirty="0" smtClean="0">
                <a:solidFill>
                  <a:schemeClr val="tx1"/>
                </a:solidFill>
                <a:ea typeface="+mn-ea"/>
                <a:cs typeface="+mn-cs"/>
              </a:rPr>
              <a:t>What are the different types of market segments do travel and tourism companies try to attract?</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017100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needs of these market segments?</a:t>
            </a:r>
          </a:p>
          <a:p>
            <a:pPr>
              <a:buFont typeface="Arial" pitchFamily="34" charset="0"/>
              <a:buChar char="•"/>
            </a:pPr>
            <a:r>
              <a:rPr lang="en-AU" sz="1200" kern="1200" baseline="0" dirty="0" smtClean="0">
                <a:solidFill>
                  <a:schemeClr val="tx1"/>
                </a:solidFill>
                <a:ea typeface="+mn-ea"/>
                <a:cs typeface="+mn-cs"/>
              </a:rPr>
              <a:t>What types of travel and tourism do they seek?</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0878767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needs of these market segments?</a:t>
            </a:r>
          </a:p>
          <a:p>
            <a:pPr>
              <a:buFont typeface="Arial" pitchFamily="34" charset="0"/>
              <a:buChar char="•"/>
            </a:pPr>
            <a:r>
              <a:rPr lang="en-AU" sz="1200" kern="1200" baseline="0" dirty="0" smtClean="0">
                <a:solidFill>
                  <a:schemeClr val="tx1"/>
                </a:solidFill>
                <a:ea typeface="+mn-ea"/>
                <a:cs typeface="+mn-cs"/>
              </a:rPr>
              <a:t>What types of travel and tourism do they seek?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962616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are different types of research you can undertake?</a:t>
            </a:r>
          </a:p>
          <a:p>
            <a:pPr>
              <a:buFont typeface="Arial" pitchFamily="34" charset="0"/>
              <a:buNone/>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020196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are examples of each?</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707035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are other examples of primary data?</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540113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is the difference between these two types of research?</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41633799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are examples of each?</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2783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 questions in the slide.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868576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are the benefits</a:t>
            </a:r>
            <a:r>
              <a:rPr lang="en-US" sz="1200" b="0" kern="1200" baseline="0" dirty="0" smtClean="0">
                <a:solidFill>
                  <a:schemeClr val="tx1"/>
                </a:solidFill>
                <a:ea typeface="+mn-ea"/>
                <a:cs typeface="+mn-cs"/>
              </a:rPr>
              <a:t> of collecting these pieces of data?</a:t>
            </a:r>
            <a:endParaRPr lang="en-US" sz="1200" b="0"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other types of secondary data would you collect?</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8592989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are the benefits</a:t>
            </a:r>
            <a:r>
              <a:rPr lang="en-US" sz="1200" b="0" kern="1200" baseline="0" dirty="0" smtClean="0">
                <a:solidFill>
                  <a:schemeClr val="tx1"/>
                </a:solidFill>
                <a:ea typeface="+mn-ea"/>
                <a:cs typeface="+mn-cs"/>
              </a:rPr>
              <a:t> of collecting these pieces of data?</a:t>
            </a:r>
            <a:endParaRPr lang="en-US" sz="1200" b="0"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other types of secondary data would you collect?</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4256002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information is found from these sources?</a:t>
            </a:r>
          </a:p>
          <a:p>
            <a:pPr>
              <a:buFont typeface="Arial" pitchFamily="34" charset="0"/>
              <a:buChar char="•"/>
            </a:pPr>
            <a:r>
              <a:rPr lang="en-US" sz="1200" b="0" kern="1200" dirty="0" smtClean="0">
                <a:solidFill>
                  <a:schemeClr val="tx1"/>
                </a:solidFill>
                <a:ea typeface="+mn-ea"/>
                <a:cs typeface="+mn-cs"/>
              </a:rPr>
              <a:t>What types of secondary data</a:t>
            </a:r>
            <a:r>
              <a:rPr lang="en-US" sz="1200" b="0" kern="1200" baseline="0" dirty="0" smtClean="0">
                <a:solidFill>
                  <a:schemeClr val="tx1"/>
                </a:solidFill>
                <a:ea typeface="+mn-ea"/>
                <a:cs typeface="+mn-cs"/>
              </a:rPr>
              <a:t> would you seek?</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41028524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benefits of each source?</a:t>
            </a:r>
          </a:p>
          <a:p>
            <a:pPr>
              <a:buFont typeface="Arial" pitchFamily="34" charset="0"/>
              <a:buChar char="•"/>
            </a:pPr>
            <a:r>
              <a:rPr lang="en-AU" sz="1200" kern="1200" baseline="0" dirty="0" smtClean="0">
                <a:solidFill>
                  <a:schemeClr val="tx1"/>
                </a:solidFill>
                <a:ea typeface="+mn-ea"/>
                <a:cs typeface="+mn-cs"/>
              </a:rPr>
              <a:t>What information could be gathered from each source?</a:t>
            </a: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9502721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benefits of each source?</a:t>
            </a:r>
          </a:p>
          <a:p>
            <a:pPr>
              <a:buFont typeface="Arial" pitchFamily="34" charset="0"/>
              <a:buChar char="•"/>
            </a:pPr>
            <a:r>
              <a:rPr lang="en-AU" sz="1200" kern="1200" baseline="0" dirty="0" smtClean="0">
                <a:solidFill>
                  <a:schemeClr val="tx1"/>
                </a:solidFill>
                <a:ea typeface="+mn-ea"/>
                <a:cs typeface="+mn-cs"/>
              </a:rPr>
              <a:t>What information could be gathered from each source?</a:t>
            </a: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9034063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information is researched under each point?</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42272257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For a travel and tourism organisation, provide examples of the marketing mix in a practical example.</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4051329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analysed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42785275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would you want to analyse for each point?</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2991244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would you want to analyse for each point?</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5435474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 in the slide</a:t>
            </a:r>
          </a:p>
          <a:p>
            <a:pPr>
              <a:buFont typeface="Arial" pitchFamily="34" charset="0"/>
              <a:buChar char="•"/>
            </a:pPr>
            <a:r>
              <a:rPr lang="en-AU" sz="1200" kern="1200" baseline="0" dirty="0" smtClean="0">
                <a:solidFill>
                  <a:schemeClr val="tx1"/>
                </a:solidFill>
                <a:ea typeface="+mn-ea"/>
                <a:cs typeface="+mn-cs"/>
              </a:rPr>
              <a:t>Refer to the TM for examples.</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2720998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information do you want to collect from each review?</a:t>
            </a:r>
          </a:p>
          <a:p>
            <a:pPr>
              <a:buFont typeface="Arial" pitchFamily="34" charset="0"/>
              <a:buChar char="•"/>
            </a:pPr>
            <a:r>
              <a:rPr lang="en-AU" sz="1200" kern="1200" baseline="0" dirty="0" smtClean="0">
                <a:solidFill>
                  <a:schemeClr val="tx1"/>
                </a:solidFill>
                <a:ea typeface="+mn-ea"/>
                <a:cs typeface="+mn-cs"/>
              </a:rPr>
              <a:t>How can you conduct each type of review?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4437428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Answer questions in the slide.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9000930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capabilities.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2203156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4616681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5536589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1612210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8338785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these factors affect resources?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4051375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these factors affect resources?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631601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these factors affect resources?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b="0"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0313146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How can you identify ‘underperformance’?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7671562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causes of these?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7523817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other methods can be used?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8091412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under each point?</a:t>
            </a:r>
          </a:p>
          <a:p>
            <a:pPr>
              <a:buFont typeface="Arial" pitchFamily="34" charset="0"/>
              <a:buChar char="•"/>
            </a:pPr>
            <a:r>
              <a:rPr lang="en-AU" sz="1200" kern="1200" baseline="0" dirty="0" smtClean="0">
                <a:solidFill>
                  <a:schemeClr val="tx1"/>
                </a:solidFill>
                <a:ea typeface="+mn-ea"/>
                <a:cs typeface="+mn-cs"/>
              </a:rPr>
              <a:t>How can you address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5040582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noProof="0" dirty="0" smtClean="0">
                <a:solidFill>
                  <a:schemeClr val="tx1"/>
                </a:solidFill>
                <a:ea typeface="+mn-ea"/>
                <a:cs typeface="+mn-cs"/>
              </a:rPr>
              <a:t>Discuss when and how these corrective strategies can best get used.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28946797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noProof="0" dirty="0" smtClean="0">
                <a:solidFill>
                  <a:schemeClr val="tx1"/>
                </a:solidFill>
                <a:ea typeface="+mn-ea"/>
                <a:cs typeface="+mn-cs"/>
              </a:rPr>
              <a:t>Discuss when and how these corrective strategies can best get used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355494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t>
            </a:r>
            <a:r>
              <a:rPr lang="en-US" sz="1200" kern="1200" baseline="0" dirty="0" smtClean="0">
                <a:solidFill>
                  <a:schemeClr val="tx1"/>
                </a:solidFill>
                <a:ea typeface="+mn-ea"/>
                <a:cs typeface="+mn-cs"/>
              </a:rPr>
              <a:t>factors outside the business can have an impact?</a:t>
            </a:r>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3631841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412176405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information can be collected about each of these environments?</a:t>
            </a:r>
            <a:endParaRPr lang="en-AU"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42001489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Review Section 1 and the areas covered</a:t>
            </a:r>
          </a:p>
          <a:p>
            <a:pPr>
              <a:buFont typeface="Arial" pitchFamily="34" charset="0"/>
              <a:buChar char="•"/>
            </a:pPr>
            <a:r>
              <a:rPr lang="en-AU" sz="1200" kern="1200" baseline="0" dirty="0" smtClean="0">
                <a:solidFill>
                  <a:schemeClr val="tx1"/>
                </a:solidFill>
                <a:ea typeface="+mn-ea"/>
                <a:cs typeface="+mn-cs"/>
              </a:rPr>
              <a:t>Anticipate what will be covered in Section 2.</a:t>
            </a:r>
            <a:endParaRPr lang="en-AU"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2133245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it important to understand market share?</a:t>
            </a:r>
          </a:p>
          <a:p>
            <a:pPr>
              <a:buFont typeface="Arial" pitchFamily="34" charset="0"/>
              <a:buChar char="•"/>
            </a:pPr>
            <a:r>
              <a:rPr lang="en-AU" sz="1200" kern="1200" baseline="0" dirty="0" smtClean="0">
                <a:solidFill>
                  <a:schemeClr val="tx1"/>
                </a:solidFill>
                <a:ea typeface="+mn-ea"/>
                <a:cs typeface="+mn-cs"/>
              </a:rPr>
              <a:t>How can you identify your market share?</a:t>
            </a:r>
            <a:endParaRPr lang="en-AU"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1045252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dirty="0" smtClean="0"/>
              <a:t>Discuss</a:t>
            </a:r>
            <a:r>
              <a:rPr lang="en-AU" baseline="0" dirty="0" smtClean="0"/>
              <a:t> importance of these pieces of information to a business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4337686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dirty="0" smtClean="0"/>
              <a:t>Discuss</a:t>
            </a:r>
            <a:r>
              <a:rPr lang="en-AU" baseline="0" dirty="0" smtClean="0"/>
              <a:t>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3264943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32960165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Activity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Identify different</a:t>
            </a:r>
            <a:r>
              <a:rPr lang="en-AU" baseline="0" dirty="0" smtClean="0"/>
              <a:t> types of information to be collected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541972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How can you understand competition?</a:t>
            </a:r>
          </a:p>
          <a:p>
            <a:pPr>
              <a:buFont typeface="Arial" pitchFamily="34" charset="0"/>
              <a:buChar char="•"/>
            </a:pPr>
            <a:r>
              <a:rPr lang="en-AU" dirty="0" smtClean="0"/>
              <a:t>What do you want to know?</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40758925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Provide</a:t>
            </a:r>
            <a:r>
              <a:rPr lang="en-AU" baseline="0" dirty="0" smtClean="0"/>
              <a:t> examples of competitors in the travel and tourism industry in your region.</a:t>
            </a: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5760900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the questions in</a:t>
            </a:r>
            <a:r>
              <a:rPr lang="en-AU" baseline="0" dirty="0" smtClean="0"/>
              <a:t> the slide</a:t>
            </a:r>
          </a:p>
          <a:p>
            <a:pPr>
              <a:buFont typeface="Arial" pitchFamily="34" charset="0"/>
              <a:buChar char="•"/>
            </a:pPr>
            <a:r>
              <a:rPr lang="en-AU" baseline="0" dirty="0" smtClean="0"/>
              <a:t>Refer to examples on TM Page 63 &amp; 64</a:t>
            </a: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8293468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97432464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and Activity</a:t>
            </a:r>
          </a:p>
          <a:p>
            <a:endParaRPr lang="en-AU" dirty="0" smtClean="0"/>
          </a:p>
          <a:p>
            <a:pPr>
              <a:buFont typeface="Arial" pitchFamily="34" charset="0"/>
              <a:buChar char="•"/>
            </a:pPr>
            <a:r>
              <a:rPr lang="en-AU" dirty="0" smtClean="0"/>
              <a:t>Identify different types of successful</a:t>
            </a:r>
            <a:r>
              <a:rPr lang="en-AU" baseline="0" dirty="0" smtClean="0"/>
              <a:t> ventures or strategic alliances between companies</a:t>
            </a:r>
          </a:p>
          <a:p>
            <a:pPr>
              <a:buFont typeface="Arial" pitchFamily="34" charset="0"/>
              <a:buChar char="•"/>
            </a:pPr>
            <a:r>
              <a:rPr lang="en-AU" b="0" baseline="0" dirty="0" smtClean="0"/>
              <a:t>What made them successful?</a:t>
            </a:r>
          </a:p>
          <a:p>
            <a:pPr>
              <a:buFont typeface="Arial" pitchFamily="34" charset="0"/>
              <a:buChar char="•"/>
            </a:pPr>
            <a:r>
              <a:rPr lang="en-AU" b="0" baseline="0" dirty="0" smtClean="0"/>
              <a:t>What would be the criteria for successful mergers?</a:t>
            </a:r>
          </a:p>
          <a:p>
            <a:pPr>
              <a:buFont typeface="Arial" pitchFamily="34" charset="0"/>
              <a:buChar char="•"/>
            </a:pPr>
            <a:r>
              <a:rPr lang="en-AU" baseline="0" dirty="0" smtClean="0"/>
              <a:t>Complete Activity 12.</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42395199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84710592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Why are these points important?</a:t>
            </a:r>
          </a:p>
          <a:p>
            <a:pPr lvl="0">
              <a:buFont typeface="Arial" pitchFamily="34" charset="0"/>
              <a:buChar char="•"/>
            </a:pPr>
            <a:r>
              <a:rPr lang="en-US" sz="1200" kern="1200" dirty="0" smtClean="0">
                <a:solidFill>
                  <a:schemeClr val="tx1"/>
                </a:solidFill>
                <a:ea typeface="+mn-ea"/>
                <a:cs typeface="+mn-cs"/>
              </a:rPr>
              <a:t>What else do you want to seek?</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8072360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a:t>
            </a:r>
            <a:r>
              <a:rPr lang="en-US" sz="1200" kern="1200" baseline="0" dirty="0" smtClean="0">
                <a:solidFill>
                  <a:schemeClr val="tx1"/>
                </a:solidFill>
                <a:ea typeface="+mn-ea"/>
                <a:cs typeface="+mn-cs"/>
              </a:rPr>
              <a:t> are examples of emerging trends?</a:t>
            </a:r>
          </a:p>
          <a:p>
            <a:pPr lvl="0">
              <a:buFont typeface="Arial" pitchFamily="34" charset="0"/>
              <a:buChar char="•"/>
            </a:pPr>
            <a:r>
              <a:rPr lang="en-US" sz="1200" kern="1200" baseline="0" dirty="0" smtClean="0">
                <a:solidFill>
                  <a:schemeClr val="tx1"/>
                </a:solidFill>
                <a:ea typeface="+mn-ea"/>
                <a:cs typeface="+mn-cs"/>
              </a:rPr>
              <a:t>Which ones are positive?</a:t>
            </a:r>
          </a:p>
          <a:p>
            <a:pPr lvl="0">
              <a:buFont typeface="Arial" pitchFamily="34" charset="0"/>
              <a:buChar char="•"/>
            </a:pPr>
            <a:r>
              <a:rPr lang="en-US" sz="1200" kern="1200" baseline="0" dirty="0" smtClean="0">
                <a:solidFill>
                  <a:schemeClr val="tx1"/>
                </a:solidFill>
                <a:ea typeface="+mn-ea"/>
                <a:cs typeface="+mn-cs"/>
              </a:rPr>
              <a:t>Which ones are negative?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94894734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information can be gathered from each of these sources?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15732802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information can be gathered from each of these sources?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3398389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 </a:t>
            </a:r>
            <a:r>
              <a:rPr lang="en-AU" sz="1200" b="1" kern="1200" baseline="0" dirty="0" smtClean="0">
                <a:solidFill>
                  <a:schemeClr val="tx1"/>
                </a:solidFill>
                <a:ea typeface="+mn-ea"/>
                <a:cs typeface="+mn-cs"/>
              </a:rPr>
              <a:t>&amp; Activity</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information can be gathered from each of these sources?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lvl="0">
              <a:buFont typeface="Arial" pitchFamily="34" charset="0"/>
              <a:buChar char="•"/>
            </a:pP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96503011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it important to understand laws?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8154938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37770610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Identify examples of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80456426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laws apply in each business area?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70336776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laws apply in each business area?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88158627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laws apply in each business area?</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6985684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question in the slide</a:t>
            </a:r>
          </a:p>
          <a:p>
            <a:pPr>
              <a:buFont typeface="Arial" pitchFamily="34" charset="0"/>
              <a:buChar char="•"/>
            </a:pPr>
            <a:r>
              <a:rPr lang="en-AU" sz="1200" kern="1200" baseline="0" dirty="0" smtClean="0">
                <a:solidFill>
                  <a:schemeClr val="tx1"/>
                </a:solidFill>
                <a:ea typeface="+mn-ea"/>
                <a:cs typeface="+mn-cs"/>
              </a:rPr>
              <a:t>Refer to TM pages 76 &amp; 77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26637179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question in the slide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403778692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dirty="0" smtClean="0"/>
          </a:p>
          <a:p>
            <a:pPr>
              <a:buFont typeface="Arial" pitchFamily="34" charset="0"/>
              <a:buChar char="•"/>
            </a:pPr>
            <a:r>
              <a:rPr lang="en-AU" sz="1200" kern="1200" baseline="0" dirty="0" smtClean="0">
                <a:solidFill>
                  <a:schemeClr val="tx1"/>
                </a:solidFill>
                <a:ea typeface="+mn-ea"/>
                <a:cs typeface="+mn-cs"/>
              </a:rPr>
              <a:t>Identify examples of each</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99568578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Activity</a:t>
            </a:r>
          </a:p>
          <a:p>
            <a:endParaRPr lang="en-AU" dirty="0" smtClean="0"/>
          </a:p>
          <a:p>
            <a:pPr>
              <a:buFont typeface="Arial" pitchFamily="34" charset="0"/>
              <a:buChar char="•"/>
            </a:pPr>
            <a:r>
              <a:rPr lang="en-AU" dirty="0" smtClean="0"/>
              <a:t>Review SWOT Analysis components</a:t>
            </a:r>
            <a:endParaRPr lang="en-AU" b="0" baseline="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38675335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Activity</a:t>
            </a:r>
          </a:p>
          <a:p>
            <a:endParaRPr lang="en-AU" dirty="0" smtClean="0"/>
          </a:p>
          <a:p>
            <a:pPr>
              <a:buFont typeface="Arial" pitchFamily="34" charset="0"/>
              <a:buChar char="•"/>
            </a:pPr>
            <a:r>
              <a:rPr lang="en-AU" dirty="0" smtClean="0"/>
              <a:t>Review SWOT Analysis components</a:t>
            </a:r>
            <a:endParaRPr lang="en-AU" b="0" baseline="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41697205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Activity</a:t>
            </a:r>
          </a:p>
          <a:p>
            <a:endParaRPr lang="en-AU" dirty="0" smtClean="0"/>
          </a:p>
          <a:p>
            <a:pPr>
              <a:buFont typeface="Arial" pitchFamily="34" charset="0"/>
              <a:buChar char="•"/>
            </a:pPr>
            <a:r>
              <a:rPr lang="en-AU" dirty="0" smtClean="0"/>
              <a:t>Review SWOT Analysis components</a:t>
            </a:r>
            <a:endParaRPr lang="en-AU" b="0" baseline="0" dirty="0" smtClean="0"/>
          </a:p>
          <a:p>
            <a:pPr>
              <a:buFont typeface="Arial" pitchFamily="34" charset="0"/>
              <a:buChar char="•"/>
            </a:pPr>
            <a:r>
              <a:rPr lang="en-AU" baseline="0" dirty="0" smtClean="0"/>
              <a:t>Undertake analysis as part of Activity 6.</a:t>
            </a: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96083908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Activity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Review SWOT Analysis components</a:t>
            </a:r>
            <a:endParaRPr lang="en-AU" b="0" baseline="0" dirty="0" smtClean="0"/>
          </a:p>
          <a:p>
            <a:pPr>
              <a:buFont typeface="Arial" pitchFamily="34" charset="0"/>
              <a:buChar char="•"/>
            </a:pPr>
            <a:r>
              <a:rPr lang="en-AU" baseline="0" dirty="0" smtClean="0"/>
              <a:t>Undertake analysis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00918183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None/>
            </a:pPr>
            <a:r>
              <a:rPr lang="en-AU" sz="1200" kern="1200" baseline="0" dirty="0" smtClean="0">
                <a:solidFill>
                  <a:schemeClr val="tx1"/>
                </a:solidFill>
                <a:ea typeface="+mn-ea"/>
                <a:cs typeface="+mn-cs"/>
              </a:rPr>
              <a:t>What </a:t>
            </a:r>
            <a:r>
              <a:rPr lang="en-US" sz="1200" kern="1200" baseline="0" dirty="0" smtClean="0">
                <a:solidFill>
                  <a:schemeClr val="tx1"/>
                </a:solidFill>
                <a:ea typeface="+mn-ea"/>
                <a:cs typeface="+mn-cs"/>
              </a:rPr>
              <a:t>needs to be considered when:</a:t>
            </a:r>
          </a:p>
          <a:p>
            <a:pPr>
              <a:buFont typeface="Arial" pitchFamily="34" charset="0"/>
              <a:buChar char="•"/>
            </a:pPr>
            <a:r>
              <a:rPr lang="en-US" sz="1200" kern="1200" baseline="0" dirty="0" smtClean="0">
                <a:solidFill>
                  <a:schemeClr val="tx1"/>
                </a:solidFill>
                <a:ea typeface="+mn-ea"/>
                <a:cs typeface="+mn-cs"/>
              </a:rPr>
              <a:t> developing business strategies?</a:t>
            </a:r>
          </a:p>
          <a:p>
            <a:pPr>
              <a:buFont typeface="Arial" pitchFamily="34" charset="0"/>
              <a:buChar char="•"/>
            </a:pPr>
            <a:r>
              <a:rPr lang="en-US" sz="1200" kern="1200" baseline="0" dirty="0" smtClean="0">
                <a:solidFill>
                  <a:schemeClr val="tx1"/>
                </a:solidFill>
                <a:ea typeface="+mn-ea"/>
                <a:cs typeface="+mn-cs"/>
              </a:rPr>
              <a:t> implementing business strategies?</a:t>
            </a:r>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21790948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27770378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of objectives?</a:t>
            </a:r>
          </a:p>
          <a:p>
            <a:pPr>
              <a:buFont typeface="Arial" pitchFamily="34" charset="0"/>
              <a:buChar char="•"/>
            </a:pPr>
            <a:r>
              <a:rPr lang="en-AU" sz="1200" kern="1200" baseline="0" dirty="0" smtClean="0">
                <a:solidFill>
                  <a:schemeClr val="tx1"/>
                </a:solidFill>
                <a:ea typeface="+mn-ea"/>
                <a:cs typeface="+mn-cs"/>
              </a:rPr>
              <a:t>Who sets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93770366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of other business units?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214991537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SMART objectives important?</a:t>
            </a:r>
          </a:p>
          <a:p>
            <a:pPr>
              <a:buFont typeface="Arial" pitchFamily="34" charset="0"/>
              <a:buChar char="•"/>
            </a:pPr>
            <a:r>
              <a:rPr lang="en-AU" sz="1200" kern="1200" baseline="0" dirty="0" smtClean="0">
                <a:solidFill>
                  <a:schemeClr val="tx1"/>
                </a:solidFill>
                <a:ea typeface="+mn-ea"/>
                <a:cs typeface="+mn-cs"/>
              </a:rPr>
              <a:t>What are examples of SMART objectives?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153249921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of SMART objectives for each of these lines?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217685679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of SMART objectives for each of these lines?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13849902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95443064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this important?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82712885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review of documents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other documents can be reviewed?</a:t>
            </a:r>
          </a:p>
          <a:p>
            <a:pPr>
              <a:buFont typeface="Arial" pitchFamily="34" charset="0"/>
              <a:buChar char="•"/>
            </a:pPr>
            <a:r>
              <a:rPr lang="en-AU" sz="1200" kern="1200" baseline="0" dirty="0" smtClean="0">
                <a:solidFill>
                  <a:schemeClr val="tx1"/>
                </a:solidFill>
                <a:ea typeface="+mn-ea"/>
                <a:cs typeface="+mn-cs"/>
              </a:rPr>
              <a:t>Trainer to show copies of documents</a:t>
            </a:r>
          </a:p>
          <a:p>
            <a:pPr>
              <a:buFont typeface="Arial" pitchFamily="34" charset="0"/>
              <a:buChar char="•"/>
            </a:pPr>
            <a:r>
              <a:rPr lang="en-AU" baseline="0" dirty="0" smtClean="0"/>
              <a:t>Complete Activity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418312843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are associated with each of these steps?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5158018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question in the slide.</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98331087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question in</a:t>
            </a:r>
            <a:r>
              <a:rPr lang="en-AU" baseline="0" dirty="0" smtClean="0"/>
              <a:t> the slide.</a:t>
            </a: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48386236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other methods could</a:t>
            </a:r>
            <a:r>
              <a:rPr lang="en-AU" baseline="0" dirty="0" smtClean="0"/>
              <a:t> be incorporated to involve staff?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258936245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What other methods could</a:t>
            </a:r>
            <a:r>
              <a:rPr lang="en-AU" baseline="0" dirty="0" smtClean="0"/>
              <a:t> be incorporated to involve staff?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82941062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would be some</a:t>
            </a:r>
            <a:r>
              <a:rPr lang="en-AU" baseline="0" dirty="0" smtClean="0"/>
              <a:t> actions to implement these strategies?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51634913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would be some</a:t>
            </a:r>
            <a:r>
              <a:rPr lang="en-AU" baseline="0" dirty="0" smtClean="0"/>
              <a:t> actions to implement these strategies?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11542194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would be some</a:t>
            </a:r>
            <a:r>
              <a:rPr lang="en-AU" baseline="0" dirty="0" smtClean="0"/>
              <a:t> actions to implement these strategies?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05007943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is the purpose of </a:t>
            </a:r>
            <a:r>
              <a:rPr lang="en-AU" sz="1200" dirty="0" smtClean="0">
                <a:latin typeface="Helvetica" pitchFamily="34" charset="0"/>
              </a:rPr>
              <a:t>capability statements?</a:t>
            </a:r>
          </a:p>
          <a:p>
            <a:pPr>
              <a:buFont typeface="Arial" pitchFamily="34" charset="0"/>
              <a:buChar char="•"/>
            </a:pPr>
            <a:r>
              <a:rPr lang="en-AU" sz="1200" baseline="0" dirty="0" smtClean="0">
                <a:latin typeface="Helvetica" pitchFamily="34" charset="0"/>
              </a:rPr>
              <a:t>What types of </a:t>
            </a:r>
            <a:r>
              <a:rPr lang="en-AU" sz="1200" dirty="0" smtClean="0">
                <a:latin typeface="Helvetica" pitchFamily="34" charset="0"/>
              </a:rPr>
              <a:t>capability statements are there?</a:t>
            </a: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151878182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Review</a:t>
            </a:r>
            <a:r>
              <a:rPr lang="en-AU" b="1" baseline="0" dirty="0" smtClean="0"/>
              <a:t> </a:t>
            </a:r>
            <a:r>
              <a:rPr lang="en-AU" sz="1200" b="1" dirty="0" smtClean="0">
                <a:latin typeface="Helvetica" pitchFamily="34" charset="0"/>
              </a:rPr>
              <a:t>capability statements</a:t>
            </a:r>
            <a:endParaRPr lang="en-AU" b="1" dirty="0" smtClean="0"/>
          </a:p>
          <a:p>
            <a:endParaRPr lang="en-AU" dirty="0" smtClean="0"/>
          </a:p>
          <a:p>
            <a:pPr>
              <a:buFont typeface="Arial" pitchFamily="34" charset="0"/>
              <a:buChar char="•"/>
            </a:pPr>
            <a:r>
              <a:rPr lang="en-AU" dirty="0" smtClean="0"/>
              <a:t>What is the difference between</a:t>
            </a:r>
            <a:r>
              <a:rPr lang="en-AU" baseline="0" dirty="0" smtClean="0"/>
              <a:t> these </a:t>
            </a:r>
            <a:r>
              <a:rPr lang="en-AU" sz="1200" dirty="0" smtClean="0">
                <a:latin typeface="Helvetica" pitchFamily="34" charset="0"/>
              </a:rPr>
              <a:t>capability statements?</a:t>
            </a:r>
          </a:p>
          <a:p>
            <a:pPr>
              <a:buFont typeface="Arial" pitchFamily="34" charset="0"/>
              <a:buChar char="•"/>
            </a:pPr>
            <a:r>
              <a:rPr lang="en-AU" sz="1200" baseline="0" dirty="0" smtClean="0">
                <a:latin typeface="Helvetica" pitchFamily="34" charset="0"/>
              </a:rPr>
              <a:t>What information is contained within these </a:t>
            </a:r>
            <a:r>
              <a:rPr lang="en-AU" sz="1200" dirty="0" smtClean="0">
                <a:latin typeface="Helvetica" pitchFamily="34" charset="0"/>
              </a:rPr>
              <a:t>capability statements?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Trainer to provide examples for review</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5747756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Review</a:t>
            </a:r>
            <a:r>
              <a:rPr lang="en-AU" b="1" baseline="0" dirty="0" smtClean="0"/>
              <a:t> </a:t>
            </a:r>
            <a:r>
              <a:rPr lang="en-AU" sz="1200" b="1" dirty="0" smtClean="0">
                <a:latin typeface="Helvetica" pitchFamily="34" charset="0"/>
              </a:rPr>
              <a:t>gap analysis</a:t>
            </a:r>
            <a:endParaRPr lang="en-AU" b="1" dirty="0" smtClean="0"/>
          </a:p>
          <a:p>
            <a:endParaRPr lang="en-AU" dirty="0" smtClean="0"/>
          </a:p>
          <a:p>
            <a:pPr>
              <a:buFont typeface="Arial" pitchFamily="34" charset="0"/>
              <a:buChar char="•"/>
            </a:pPr>
            <a:r>
              <a:rPr lang="en-AU" dirty="0" smtClean="0"/>
              <a:t>Discuss the questions in the slide</a:t>
            </a:r>
          </a:p>
          <a:p>
            <a:pPr>
              <a:buFont typeface="Arial" pitchFamily="34" charset="0"/>
              <a:buChar char="•"/>
            </a:pPr>
            <a:r>
              <a:rPr lang="en-AU" baseline="0" dirty="0" smtClean="0"/>
              <a:t>Trainer to provide examples for review</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32904145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are other KPI’s that could be used, specific to the tourism industry?</a:t>
            </a:r>
          </a:p>
          <a:p>
            <a:pPr>
              <a:buFont typeface="Arial" pitchFamily="34" charset="0"/>
              <a:buChar char="•"/>
            </a:pPr>
            <a:r>
              <a:rPr lang="en-AU" baseline="0" dirty="0" smtClean="0"/>
              <a:t>What exact measurements or standards for each KPI should be identified?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20937713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are other KPI’s that could be used, specific to the tourism industry?</a:t>
            </a:r>
          </a:p>
          <a:p>
            <a:pPr>
              <a:buFont typeface="Arial" pitchFamily="34" charset="0"/>
              <a:buChar char="•"/>
            </a:pPr>
            <a:r>
              <a:rPr lang="en-AU" baseline="0" dirty="0" smtClean="0"/>
              <a:t>What exact measurements or standards for each KPI should be identified?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57111263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b="1" baseline="0" dirty="0" smtClean="0"/>
              <a:t>ion</a:t>
            </a:r>
            <a:endParaRPr lang="en-AU" b="1" dirty="0" smtClean="0"/>
          </a:p>
          <a:p>
            <a:endParaRPr lang="en-AU" dirty="0" smtClean="0"/>
          </a:p>
          <a:p>
            <a:pPr>
              <a:buFont typeface="Arial" pitchFamily="34" charset="0"/>
              <a:buChar char="•"/>
            </a:pPr>
            <a:r>
              <a:rPr lang="en-AU" dirty="0" smtClean="0"/>
              <a:t>What</a:t>
            </a:r>
            <a:r>
              <a:rPr lang="en-AU" baseline="0" dirty="0" smtClean="0"/>
              <a:t> information needs to be communicated under each point?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60072436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b="1" baseline="0" dirty="0" smtClean="0"/>
              <a:t>ion</a:t>
            </a:r>
            <a:endParaRPr lang="en-AU" b="1" dirty="0" smtClean="0"/>
          </a:p>
          <a:p>
            <a:endParaRPr lang="en-AU" dirty="0" smtClean="0"/>
          </a:p>
          <a:p>
            <a:pPr>
              <a:buFont typeface="Arial" pitchFamily="34" charset="0"/>
              <a:buChar char="•"/>
            </a:pPr>
            <a:r>
              <a:rPr lang="en-AU" dirty="0" smtClean="0"/>
              <a:t>What</a:t>
            </a:r>
            <a:r>
              <a:rPr lang="en-AU" baseline="0" dirty="0" smtClean="0"/>
              <a:t> information needs to be communicated under each point?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95037954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b="1" baseline="0" dirty="0" smtClean="0"/>
              <a:t>ion</a:t>
            </a:r>
            <a:endParaRPr lang="en-AU" b="1" dirty="0" smtClean="0"/>
          </a:p>
          <a:p>
            <a:endParaRPr lang="en-AU" dirty="0" smtClean="0"/>
          </a:p>
          <a:p>
            <a:pPr>
              <a:buFont typeface="Arial" pitchFamily="34" charset="0"/>
              <a:buChar char="•"/>
            </a:pPr>
            <a:r>
              <a:rPr lang="en-AU" dirty="0" smtClean="0"/>
              <a:t>What</a:t>
            </a:r>
            <a:r>
              <a:rPr lang="en-AU" baseline="0" dirty="0" smtClean="0"/>
              <a:t> information needs to be communicated under each point?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51076179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Activity</a:t>
            </a:r>
          </a:p>
          <a:p>
            <a:endParaRPr lang="en-AU" dirty="0" smtClean="0"/>
          </a:p>
          <a:p>
            <a:pPr>
              <a:buFont typeface="Arial" pitchFamily="34" charset="0"/>
              <a:buChar char="•"/>
            </a:pPr>
            <a:r>
              <a:rPr lang="en-AU" dirty="0" smtClean="0"/>
              <a:t>Identify the different types</a:t>
            </a:r>
            <a:r>
              <a:rPr lang="en-AU" baseline="0" dirty="0" smtClean="0"/>
              <a:t> of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43107912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are considerations</a:t>
            </a:r>
            <a:r>
              <a:rPr lang="en-AU" baseline="0" dirty="0" smtClean="0"/>
              <a:t> when planning to present final business strategies?</a:t>
            </a:r>
          </a:p>
          <a:p>
            <a:pPr>
              <a:buFont typeface="Arial" pitchFamily="34" charset="0"/>
              <a:buChar char="•"/>
            </a:pPr>
            <a:r>
              <a:rPr lang="en-AU" baseline="0" dirty="0" smtClean="0"/>
              <a:t>What activities need to be completed?</a:t>
            </a:r>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34972179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How can you meet these concerns?</a:t>
            </a:r>
          </a:p>
          <a:p>
            <a:pPr>
              <a:buFont typeface="Arial" pitchFamily="34" charset="0"/>
              <a:buChar char="•"/>
            </a:pPr>
            <a:r>
              <a:rPr lang="en-AU" dirty="0" smtClean="0"/>
              <a:t>What other concerns would you have?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133438708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How can you meet these concerns?</a:t>
            </a:r>
          </a:p>
          <a:p>
            <a:pPr>
              <a:buFont typeface="Arial" pitchFamily="34" charset="0"/>
              <a:buChar char="•"/>
            </a:pPr>
            <a:r>
              <a:rPr lang="en-AU" dirty="0" smtClean="0"/>
              <a:t>What other concerns would you have?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74954147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Why involve these stakeholders?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375088061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else could be communicated?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26746411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Activity</a:t>
            </a:r>
          </a:p>
          <a:p>
            <a:endParaRPr lang="en-AU" dirty="0" smtClean="0"/>
          </a:p>
          <a:p>
            <a:pPr>
              <a:buFont typeface="Arial" pitchFamily="34" charset="0"/>
              <a:buChar char="•"/>
            </a:pPr>
            <a:r>
              <a:rPr lang="en-AU" dirty="0" smtClean="0"/>
              <a:t>Discuss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116253827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can you review </a:t>
            </a:r>
            <a:r>
              <a:rPr lang="en-US" sz="1200" dirty="0" smtClean="0">
                <a:solidFill>
                  <a:srgbClr val="FF6600"/>
                </a:solidFill>
                <a:latin typeface="Helvetica" pitchFamily="34" charset="0"/>
              </a:rPr>
              <a:t>the effectiveness of business strategies?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solidFill>
                  <a:srgbClr val="FF6600"/>
                </a:solidFill>
                <a:latin typeface="Helvetica" pitchFamily="34" charset="0"/>
              </a:rPr>
              <a:t>What</a:t>
            </a:r>
            <a:r>
              <a:rPr lang="en-US" sz="1200" baseline="0" dirty="0" smtClean="0">
                <a:solidFill>
                  <a:srgbClr val="FF6600"/>
                </a:solidFill>
                <a:latin typeface="Helvetica" pitchFamily="34" charset="0"/>
              </a:rPr>
              <a:t> information do you seek?</a:t>
            </a:r>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46148361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197815980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aims of reviewing business strategies?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34394227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Questions &amp;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else can influence the timing of reviews?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sz="1200" b="0" kern="1200" baseline="0" dirty="0" smtClean="0">
              <a:solidFill>
                <a:schemeClr val="tx1"/>
              </a:solidFill>
              <a:ea typeface="+mn-ea"/>
              <a:cs typeface="+mn-cs"/>
            </a:endParaRP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69157215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the difference between ‘reviewing’ and ‘evaluating’?</a:t>
            </a:r>
          </a:p>
          <a:p>
            <a:pPr>
              <a:buFont typeface="Arial" pitchFamily="34" charset="0"/>
              <a:buChar char="•"/>
            </a:pPr>
            <a:r>
              <a:rPr lang="en-AU" sz="1200" b="0" kern="1200" baseline="0" dirty="0" smtClean="0">
                <a:solidFill>
                  <a:schemeClr val="tx1"/>
                </a:solidFill>
                <a:ea typeface="+mn-ea"/>
                <a:cs typeface="+mn-cs"/>
              </a:rPr>
              <a:t>How is it done in the workplace?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221544425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Review of strategy implementation</a:t>
            </a:r>
          </a:p>
          <a:p>
            <a:endParaRPr lang="en-AU" sz="1200" b="1" kern="1200" baseline="0" dirty="0" smtClean="0">
              <a:solidFill>
                <a:schemeClr val="tx1"/>
              </a:solidFill>
              <a:ea typeface="+mn-ea"/>
              <a:cs typeface="+mn-cs"/>
            </a:endParaRPr>
          </a:p>
          <a:p>
            <a:r>
              <a:rPr lang="en-AU" sz="1200" b="1" kern="1200" baseline="0" dirty="0" smtClean="0">
                <a:solidFill>
                  <a:schemeClr val="tx1"/>
                </a:solidFill>
                <a:ea typeface="+mn-ea"/>
                <a:cs typeface="+mn-cs"/>
              </a:rPr>
              <a:t>The Trainer to get to think about recent experiences they have had.</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areas where performance is normally good?</a:t>
            </a:r>
          </a:p>
          <a:p>
            <a:pPr>
              <a:buFont typeface="Arial" pitchFamily="34" charset="0"/>
              <a:buChar char="•"/>
            </a:pPr>
            <a:r>
              <a:rPr lang="en-AU" sz="1200" b="0" kern="1200" baseline="0" dirty="0" smtClean="0">
                <a:solidFill>
                  <a:schemeClr val="tx1"/>
                </a:solidFill>
                <a:ea typeface="+mn-ea"/>
                <a:cs typeface="+mn-cs"/>
              </a:rPr>
              <a:t>What causes these areas to be good?</a:t>
            </a:r>
          </a:p>
          <a:p>
            <a:pPr>
              <a:buFont typeface="Arial" pitchFamily="34" charset="0"/>
              <a:buChar char="•"/>
            </a:pPr>
            <a:r>
              <a:rPr lang="en-AU" sz="1200" b="0" kern="1200" baseline="0" dirty="0" smtClean="0">
                <a:solidFill>
                  <a:schemeClr val="tx1"/>
                </a:solidFill>
                <a:ea typeface="+mn-ea"/>
                <a:cs typeface="+mn-cs"/>
              </a:rPr>
              <a:t>What are areas where performance is normally bad?</a:t>
            </a:r>
          </a:p>
          <a:p>
            <a:pPr>
              <a:buFont typeface="Arial" pitchFamily="34" charset="0"/>
              <a:buChar char="•"/>
            </a:pPr>
            <a:r>
              <a:rPr lang="en-AU" sz="1200" b="0" kern="1200" baseline="0" dirty="0" smtClean="0">
                <a:solidFill>
                  <a:schemeClr val="tx1"/>
                </a:solidFill>
                <a:ea typeface="+mn-ea"/>
                <a:cs typeface="+mn-cs"/>
              </a:rPr>
              <a:t>What causes these areas to be bad?</a:t>
            </a:r>
          </a:p>
          <a:p>
            <a:pPr>
              <a:buFont typeface="Arial" pitchFamily="34" charset="0"/>
              <a:buChar char="•"/>
            </a:pPr>
            <a:r>
              <a:rPr lang="en-AU" sz="1200" b="0" kern="1200" baseline="0" dirty="0" smtClean="0">
                <a:solidFill>
                  <a:schemeClr val="tx1"/>
                </a:solidFill>
                <a:ea typeface="+mn-ea"/>
                <a:cs typeface="+mn-cs"/>
              </a:rPr>
              <a:t>Besides through customer comments, as a manager of this business how could you identify the problem exists?</a:t>
            </a:r>
          </a:p>
          <a:p>
            <a:pPr>
              <a:buFont typeface="Arial" pitchFamily="34" charset="0"/>
              <a:buChar char="•"/>
            </a:pPr>
            <a:r>
              <a:rPr lang="en-AU" sz="1200" b="0" kern="1200" baseline="0" dirty="0" smtClean="0">
                <a:solidFill>
                  <a:schemeClr val="tx1"/>
                </a:solidFill>
                <a:ea typeface="+mn-ea"/>
                <a:cs typeface="+mn-cs"/>
              </a:rPr>
              <a:t>What would be remedies you would put in place to improve them?</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409180974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importance of these steps.</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351083338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Helvetica" pitchFamily="34" charset="0"/>
                <a:ea typeface="+mn-ea"/>
                <a:cs typeface="+mn-cs"/>
              </a:rPr>
              <a:t>Class Activity – Questions</a:t>
            </a:r>
          </a:p>
          <a:p>
            <a:endParaRPr lang="en-AU" sz="1200" b="1"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Discuss what information can be gathered from each of these methods?</a:t>
            </a:r>
          </a:p>
          <a:p>
            <a:pPr>
              <a:spcBef>
                <a:spcPts val="600"/>
              </a:spcBef>
              <a:spcAft>
                <a:spcPts val="1200"/>
              </a:spcAft>
              <a:buFont typeface="Arial" pitchFamily="34" charset="0"/>
              <a:buChar char="•"/>
            </a:pPr>
            <a:r>
              <a:rPr lang="en-AU" sz="1200" dirty="0" smtClean="0">
                <a:latin typeface="Helvetica" pitchFamily="34" charset="0"/>
              </a:rPr>
              <a:t>When are they best used?</a:t>
            </a:r>
          </a:p>
          <a:p>
            <a:pPr>
              <a:spcBef>
                <a:spcPts val="600"/>
              </a:spcBef>
              <a:spcAft>
                <a:spcPts val="1200"/>
              </a:spcAft>
              <a:buFont typeface="Arial" pitchFamily="34" charset="0"/>
              <a:buChar char="•"/>
            </a:pPr>
            <a:r>
              <a:rPr lang="en-AU" sz="1200" dirty="0" smtClean="0">
                <a:latin typeface="Helvetica" pitchFamily="34" charset="0"/>
              </a:rPr>
              <a:t>What are the advantages and disadvantages</a:t>
            </a:r>
            <a:r>
              <a:rPr lang="en-AU" sz="1200" baseline="0" dirty="0" smtClean="0">
                <a:latin typeface="Helvetica" pitchFamily="34" charset="0"/>
              </a:rPr>
              <a:t> of each method?</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293043756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Helvetica" pitchFamily="34" charset="0"/>
                <a:ea typeface="+mn-ea"/>
                <a:cs typeface="+mn-cs"/>
              </a:rPr>
              <a:t>Class Activity – Questions</a:t>
            </a:r>
          </a:p>
          <a:p>
            <a:endParaRPr lang="en-AU" sz="1200" b="1"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Discuss what information can be gathered from each of these methods?</a:t>
            </a:r>
          </a:p>
          <a:p>
            <a:pPr>
              <a:spcBef>
                <a:spcPts val="600"/>
              </a:spcBef>
              <a:spcAft>
                <a:spcPts val="1200"/>
              </a:spcAft>
              <a:buFont typeface="Arial" pitchFamily="34" charset="0"/>
              <a:buChar char="•"/>
            </a:pPr>
            <a:r>
              <a:rPr lang="en-AU" sz="1200" dirty="0" smtClean="0">
                <a:latin typeface="Helvetica" pitchFamily="34" charset="0"/>
              </a:rPr>
              <a:t>When are they best used?</a:t>
            </a:r>
          </a:p>
          <a:p>
            <a:pPr>
              <a:spcBef>
                <a:spcPts val="600"/>
              </a:spcBef>
              <a:spcAft>
                <a:spcPts val="1200"/>
              </a:spcAft>
              <a:buFont typeface="Arial" pitchFamily="34" charset="0"/>
              <a:buChar char="•"/>
            </a:pPr>
            <a:r>
              <a:rPr lang="en-AU" sz="1200" dirty="0" smtClean="0">
                <a:latin typeface="Helvetica" pitchFamily="34" charset="0"/>
              </a:rPr>
              <a:t>What are the advantages and disadvantages</a:t>
            </a:r>
            <a:r>
              <a:rPr lang="en-AU" sz="1200" baseline="0" dirty="0" smtClean="0">
                <a:latin typeface="Helvetica" pitchFamily="34" charset="0"/>
              </a:rPr>
              <a:t> of each method?</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262821456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Helvetica" pitchFamily="34" charset="0"/>
                <a:ea typeface="+mn-ea"/>
                <a:cs typeface="+mn-cs"/>
              </a:rPr>
              <a:t>Class Activity – Questions</a:t>
            </a:r>
          </a:p>
          <a:p>
            <a:endParaRPr lang="en-AU" sz="1200" b="1"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Discuss what information can be gathered from each of these methods?</a:t>
            </a:r>
          </a:p>
          <a:p>
            <a:pPr>
              <a:spcBef>
                <a:spcPts val="600"/>
              </a:spcBef>
              <a:spcAft>
                <a:spcPts val="1200"/>
              </a:spcAft>
              <a:buFont typeface="Arial" pitchFamily="34" charset="0"/>
              <a:buChar char="•"/>
            </a:pPr>
            <a:r>
              <a:rPr lang="en-AU" sz="1200" dirty="0" smtClean="0">
                <a:latin typeface="Helvetica" pitchFamily="34" charset="0"/>
              </a:rPr>
              <a:t>When are they best used?</a:t>
            </a:r>
          </a:p>
          <a:p>
            <a:pPr>
              <a:spcBef>
                <a:spcPts val="600"/>
              </a:spcBef>
              <a:spcAft>
                <a:spcPts val="1200"/>
              </a:spcAft>
              <a:buFont typeface="Arial" pitchFamily="34" charset="0"/>
              <a:buChar char="•"/>
            </a:pPr>
            <a:r>
              <a:rPr lang="en-AU" sz="1200" dirty="0" smtClean="0">
                <a:latin typeface="Helvetica" pitchFamily="34" charset="0"/>
              </a:rPr>
              <a:t>What are the advantages and disadvantages</a:t>
            </a:r>
            <a:r>
              <a:rPr lang="en-AU" sz="1200" baseline="0" dirty="0" smtClean="0">
                <a:latin typeface="Helvetica" pitchFamily="34" charset="0"/>
              </a:rPr>
              <a:t> of each method?</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91700420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Helvetica" pitchFamily="34" charset="0"/>
                <a:ea typeface="+mn-ea"/>
                <a:cs typeface="+mn-cs"/>
              </a:rPr>
              <a:t>Class Activity – Questions </a:t>
            </a:r>
            <a:r>
              <a:rPr lang="en-AU" sz="1200" b="1" kern="1200" baseline="0" dirty="0" smtClean="0">
                <a:solidFill>
                  <a:schemeClr val="tx1"/>
                </a:solidFill>
                <a:ea typeface="+mn-ea"/>
                <a:cs typeface="+mn-cs"/>
              </a:rPr>
              <a:t>&amp; Activity</a:t>
            </a:r>
            <a:endParaRPr lang="en-AU" sz="1200" b="1" kern="1200" baseline="0" dirty="0" smtClean="0">
              <a:solidFill>
                <a:schemeClr val="tx1"/>
              </a:solidFill>
              <a:latin typeface="Helvetica" pitchFamily="34" charset="0"/>
              <a:ea typeface="+mn-ea"/>
              <a:cs typeface="+mn-cs"/>
            </a:endParaRPr>
          </a:p>
          <a:p>
            <a:endParaRPr lang="en-AU" sz="1200" b="1"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Discuss what information can be gathered from each of these methods?</a:t>
            </a:r>
          </a:p>
          <a:p>
            <a:pPr>
              <a:spcBef>
                <a:spcPts val="600"/>
              </a:spcBef>
              <a:spcAft>
                <a:spcPts val="1200"/>
              </a:spcAft>
              <a:buFont typeface="Arial" pitchFamily="34" charset="0"/>
              <a:buChar char="•"/>
            </a:pPr>
            <a:r>
              <a:rPr lang="en-AU" sz="1200" dirty="0" smtClean="0">
                <a:latin typeface="Helvetica" pitchFamily="34" charset="0"/>
              </a:rPr>
              <a:t>When are they best used?</a:t>
            </a:r>
          </a:p>
          <a:p>
            <a:pPr>
              <a:spcBef>
                <a:spcPts val="600"/>
              </a:spcBef>
              <a:spcAft>
                <a:spcPts val="1200"/>
              </a:spcAft>
              <a:buFont typeface="Arial" pitchFamily="34" charset="0"/>
              <a:buChar char="•"/>
            </a:pPr>
            <a:r>
              <a:rPr lang="en-AU" sz="1200" dirty="0" smtClean="0">
                <a:latin typeface="Helvetica" pitchFamily="34" charset="0"/>
              </a:rPr>
              <a:t>What are the advantages and disadvantages</a:t>
            </a:r>
            <a:r>
              <a:rPr lang="en-AU" sz="1200" baseline="0" dirty="0" smtClean="0">
                <a:latin typeface="Helvetica" pitchFamily="34" charset="0"/>
              </a:rPr>
              <a:t> of each method?</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baseline="0" dirty="0" smtClean="0"/>
              <a:t>Complete Activity</a:t>
            </a:r>
          </a:p>
          <a:p>
            <a:pPr>
              <a:spcBef>
                <a:spcPts val="600"/>
              </a:spcBef>
              <a:spcAft>
                <a:spcPts val="1200"/>
              </a:spcAft>
              <a:buFont typeface="Arial" pitchFamily="34" charset="0"/>
              <a:buChar char="•"/>
            </a:pP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402576138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What are examples of KPI’s?</a:t>
            </a:r>
            <a:endParaRPr lang="en-AU" sz="1200" b="1"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66173191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can you compare results against KPI’s?</a:t>
            </a:r>
            <a:endParaRPr lang="en-AU" sz="1200" b="1"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3002750816"/>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can you compare results against KPI’s?</a:t>
            </a:r>
            <a:endParaRPr lang="en-AU" sz="1200" b="1"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84615760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Where</a:t>
            </a:r>
            <a:r>
              <a:rPr lang="en-AU" sz="1200" baseline="0" dirty="0" smtClean="0">
                <a:latin typeface="Helvetica" pitchFamily="34" charset="0"/>
              </a:rPr>
              <a:t> can you get access to KPI’s and industry indicators?</a:t>
            </a:r>
          </a:p>
          <a:p>
            <a:pPr>
              <a:spcBef>
                <a:spcPts val="600"/>
              </a:spcBef>
              <a:spcAft>
                <a:spcPts val="1200"/>
              </a:spcAft>
              <a:buFont typeface="Arial" pitchFamily="34" charset="0"/>
              <a:buChar char="•"/>
            </a:pPr>
            <a:r>
              <a:rPr lang="en-AU" sz="1200" baseline="0" dirty="0" smtClean="0">
                <a:latin typeface="Helvetica" pitchFamily="34" charset="0"/>
              </a:rPr>
              <a:t>How do you compare them?</a:t>
            </a:r>
          </a:p>
          <a:p>
            <a:pPr>
              <a:spcBef>
                <a:spcPts val="600"/>
              </a:spcBef>
              <a:spcAft>
                <a:spcPts val="1200"/>
              </a:spcAft>
              <a:buFont typeface="Arial" pitchFamily="34" charset="0"/>
              <a:buChar char="•"/>
            </a:pPr>
            <a:r>
              <a:rPr lang="en-AU" sz="1200" baseline="0" dirty="0" smtClean="0">
                <a:latin typeface="Helvetica" pitchFamily="34" charset="0"/>
              </a:rPr>
              <a:t>Why would </a:t>
            </a:r>
            <a:r>
              <a:rPr lang="en-AU" sz="1200" dirty="0" smtClean="0">
                <a:latin typeface="Helvetica" pitchFamily="34" charset="0"/>
              </a:rPr>
              <a:t>original target become unrealistic?</a:t>
            </a:r>
          </a:p>
          <a:p>
            <a:endParaRPr lang="en-AU" sz="1200" b="1"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229071099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cause of these problems?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would you do to resolve these?</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971770344"/>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cause of these problems?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would you do to resolve these?</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265664246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cause of these problems?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would you do to resolve these?</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40923048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Discuss the questions in the slide.</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416251192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Discuss the importance of these steps.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79446831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What are examples under each of these points?</a:t>
            </a:r>
          </a:p>
          <a:p>
            <a:pPr>
              <a:buFont typeface="Arial" pitchFamily="34" charset="0"/>
              <a:buChar char="•"/>
            </a:pPr>
            <a:r>
              <a:rPr lang="en-AU" sz="1200" b="0" kern="1200" baseline="0" dirty="0" smtClean="0">
                <a:solidFill>
                  <a:schemeClr val="tx1"/>
                </a:solidFill>
                <a:ea typeface="+mn-ea"/>
                <a:cs typeface="+mn-cs"/>
              </a:rPr>
              <a:t>Refer to TM Pages 116 - 117 for examples.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2145085923"/>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short term and long term action?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are these used?</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Refer to TM Pages 118-119 for examples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1797298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Activity</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228870573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Activity</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36178140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t>
            </a:r>
            <a:r>
              <a:rPr lang="en-US" sz="1200" kern="1200" baseline="0" dirty="0" smtClean="0">
                <a:solidFill>
                  <a:schemeClr val="tx1"/>
                </a:solidFill>
                <a:ea typeface="+mn-ea"/>
                <a:cs typeface="+mn-cs"/>
              </a:rPr>
              <a:t>a risk?</a:t>
            </a:r>
          </a:p>
          <a:p>
            <a:pPr>
              <a:buFont typeface="Arial" pitchFamily="34" charset="0"/>
              <a:buChar char="•"/>
            </a:pPr>
            <a:r>
              <a:rPr lang="en-US" sz="1200" kern="1200" baseline="0" dirty="0" smtClean="0">
                <a:solidFill>
                  <a:schemeClr val="tx1"/>
                </a:solidFill>
                <a:ea typeface="+mn-ea"/>
                <a:cs typeface="+mn-cs"/>
              </a:rPr>
              <a:t>What are common types of risks?</a:t>
            </a:r>
          </a:p>
          <a:p>
            <a:pPr>
              <a:buFont typeface="Arial" pitchFamily="34" charset="0"/>
              <a:buChar char="•"/>
            </a:pPr>
            <a:r>
              <a:rPr lang="en-US" sz="1200" kern="1200" baseline="0" dirty="0" smtClean="0">
                <a:solidFill>
                  <a:schemeClr val="tx1"/>
                </a:solidFill>
                <a:ea typeface="+mn-ea"/>
                <a:cs typeface="+mn-cs"/>
              </a:rPr>
              <a:t>How can you manage risks?</a:t>
            </a:r>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3181198453"/>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256183253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138593599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questions in the slide.</a:t>
            </a: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88521217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questions in the slide.</a:t>
            </a: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308223590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 types of</a:t>
            </a:r>
            <a:r>
              <a:rPr lang="en-AU" baseline="0" dirty="0" smtClean="0"/>
              <a:t> risks</a:t>
            </a:r>
          </a:p>
          <a:p>
            <a:pPr>
              <a:buFont typeface="Arial" pitchFamily="34" charset="0"/>
              <a:buChar char="•"/>
            </a:pPr>
            <a:r>
              <a:rPr lang="en-AU" baseline="0" dirty="0" smtClean="0"/>
              <a:t>Refer to TM Page 128 for examples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28487210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 types of</a:t>
            </a:r>
            <a:r>
              <a:rPr lang="en-AU" baseline="0" dirty="0" smtClean="0"/>
              <a:t> internal risks</a:t>
            </a:r>
          </a:p>
          <a:p>
            <a:pPr>
              <a:buFont typeface="Arial" pitchFamily="34" charset="0"/>
              <a:buChar char="•"/>
            </a:pPr>
            <a:r>
              <a:rPr lang="en-AU" baseline="0" dirty="0" smtClean="0"/>
              <a:t>Refer to TM Pages 129-130 for examples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89908418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 types of</a:t>
            </a:r>
            <a:r>
              <a:rPr lang="en-AU" baseline="0" dirty="0" smtClean="0"/>
              <a:t> external risks</a:t>
            </a:r>
          </a:p>
          <a:p>
            <a:pPr>
              <a:buFont typeface="Arial" pitchFamily="34" charset="0"/>
              <a:buChar char="•"/>
            </a:pPr>
            <a:r>
              <a:rPr lang="en-AU" baseline="0" dirty="0" smtClean="0"/>
              <a:t>Refer to TM Pages 130-132 for examples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184855040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the risk management steps</a:t>
            </a:r>
          </a:p>
          <a:p>
            <a:pPr>
              <a:buFont typeface="Arial" pitchFamily="34" charset="0"/>
              <a:buChar char="•"/>
            </a:pPr>
            <a:r>
              <a:rPr lang="en-AU" baseline="0" dirty="0" smtClean="0"/>
              <a:t>What activities are associated with each of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276224682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 question in the slide</a:t>
            </a: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208246620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1789165559"/>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 importance</a:t>
            </a:r>
            <a:r>
              <a:rPr lang="en-AU" baseline="0" dirty="0" smtClean="0"/>
              <a:t> of each technique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26021156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 importance</a:t>
            </a:r>
            <a:r>
              <a:rPr lang="en-AU" baseline="0" dirty="0" smtClean="0"/>
              <a:t> of each technique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4273798818"/>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 importance</a:t>
            </a:r>
            <a:r>
              <a:rPr lang="en-AU" baseline="0" dirty="0" smtClean="0"/>
              <a:t> of each technique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219465654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the importance</a:t>
            </a:r>
            <a:r>
              <a:rPr lang="en-AU" baseline="0" dirty="0" smtClean="0"/>
              <a:t> of each technique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16149852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question in</a:t>
            </a:r>
            <a:r>
              <a:rPr lang="en-AU" baseline="0" dirty="0" smtClean="0"/>
              <a:t>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1321356966"/>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importance of</a:t>
            </a:r>
            <a:r>
              <a:rPr lang="en-AU" baseline="0" dirty="0" smtClean="0"/>
              <a:t>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176570481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Introduce these two points</a:t>
            </a: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4099161229"/>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Provide examples of risks by</a:t>
            </a:r>
            <a:r>
              <a:rPr lang="en-AU" baseline="0" dirty="0" smtClean="0"/>
              <a:t> likelihood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161561675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Provide examples of risks by</a:t>
            </a:r>
            <a:r>
              <a:rPr lang="en-AU" baseline="0" dirty="0" smtClean="0"/>
              <a:t> consequences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495919786"/>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Provide examples of risks using the matrix</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247562603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question in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992626483"/>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Provide</a:t>
            </a:r>
            <a:r>
              <a:rPr lang="en-AU" baseline="0" dirty="0" smtClean="0"/>
              <a:t> examples of when to use each of the risk management options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2780518795"/>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questions</a:t>
            </a:r>
            <a:r>
              <a:rPr lang="en-AU" baseline="0" dirty="0" smtClean="0"/>
              <a:t> in the slide.</a:t>
            </a:r>
          </a:p>
          <a:p>
            <a:pPr>
              <a:buFont typeface="Arial" pitchFamily="34" charset="0"/>
              <a:buChar char="•"/>
            </a:pPr>
            <a:r>
              <a:rPr lang="en-AU" baseline="0" dirty="0" smtClean="0"/>
              <a:t>Refer to TM pages 149-150 for examples</a:t>
            </a:r>
          </a:p>
          <a:p>
            <a:pPr>
              <a:buFont typeface="Arial" pitchFamily="34" charset="0"/>
              <a:buChar char="•"/>
            </a:pPr>
            <a:r>
              <a:rPr lang="en-AU" baseline="0" dirty="0" smtClean="0"/>
              <a:t>Complete Activity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1051539460"/>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question</a:t>
            </a:r>
            <a:r>
              <a:rPr lang="en-AU" baseline="0" dirty="0" smtClean="0"/>
              <a:t>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267488225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these inclusions</a:t>
            </a: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3435813084"/>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these inclusions</a:t>
            </a: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362003830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these inclusions</a:t>
            </a:r>
            <a:endParaRPr lang="en-AU" baseline="0" dirty="0" smtClean="0"/>
          </a:p>
          <a:p>
            <a:pPr>
              <a:buFont typeface="Arial" pitchFamily="34" charset="0"/>
              <a:buChar char="•"/>
            </a:pPr>
            <a:r>
              <a:rPr lang="en-AU" baseline="0" dirty="0" smtClean="0"/>
              <a:t>Complete Activity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4103565817"/>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details need to be considered for each requirement?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Refer to TM pages 153-156 for examples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171573720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question</a:t>
            </a:r>
            <a:r>
              <a:rPr lang="en-AU" baseline="0" dirty="0" smtClean="0"/>
              <a:t> in the slide.</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1295333760"/>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importance</a:t>
            </a:r>
            <a:r>
              <a:rPr lang="en-AU" baseline="0" dirty="0" smtClean="0"/>
              <a:t> of these points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2486004137"/>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are examples of both?</a:t>
            </a:r>
          </a:p>
          <a:p>
            <a:pPr>
              <a:buFont typeface="Arial" pitchFamily="34" charset="0"/>
              <a:buChar char="•"/>
            </a:pPr>
            <a:r>
              <a:rPr lang="en-AU" baseline="0" dirty="0" smtClean="0"/>
              <a:t>What contingencies can you put into place for both?</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3718989667"/>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are examples of each?</a:t>
            </a:r>
          </a:p>
          <a:p>
            <a:pPr>
              <a:buFont typeface="Arial" pitchFamily="34" charset="0"/>
              <a:buChar char="•"/>
            </a:pPr>
            <a:r>
              <a:rPr lang="en-AU" baseline="0" dirty="0" smtClean="0"/>
              <a:t>Refer to TM Pages 157-158 for examples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1366530158"/>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What are examples of each section of a contingency plan?</a:t>
            </a:r>
          </a:p>
          <a:p>
            <a:pPr>
              <a:buFont typeface="Arial" pitchFamily="34" charset="0"/>
              <a:buChar char="•"/>
            </a:pPr>
            <a:r>
              <a:rPr lang="en-AU" baseline="0" dirty="0" smtClean="0"/>
              <a:t>Refer to TM Pages 159-161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87300068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 question</a:t>
            </a:r>
            <a:r>
              <a:rPr lang="en-AU" baseline="0" dirty="0" smtClean="0"/>
              <a:t>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Refer to TM Pages 162-163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391610578"/>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importance of these points</a:t>
            </a:r>
            <a:endParaRPr lang="en-AU"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extLst>
      <p:ext uri="{BB962C8B-B14F-4D97-AF65-F5344CB8AC3E}">
        <p14:creationId xmlns:p14="http://schemas.microsoft.com/office/powerpoint/2010/main" val="270122889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Provide examples for</a:t>
            </a:r>
            <a:r>
              <a:rPr lang="en-AU" baseline="0" dirty="0" smtClean="0"/>
              <a:t> the need for </a:t>
            </a:r>
            <a:r>
              <a:rPr lang="en-AU" sz="1200" dirty="0" smtClean="0">
                <a:latin typeface="Helvetica" pitchFamily="34" charset="0"/>
              </a:rPr>
              <a:t>unscheduled reviews </a:t>
            </a:r>
            <a:endParaRPr lang="en-AU"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extLst>
      <p:ext uri="{BB962C8B-B14F-4D97-AF65-F5344CB8AC3E}">
        <p14:creationId xmlns:p14="http://schemas.microsoft.com/office/powerpoint/2010/main" val="2964136439"/>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information can be gathered from each of these methods?</a:t>
            </a:r>
          </a:p>
          <a:p>
            <a:pPr>
              <a:buFont typeface="Arial" pitchFamily="34" charset="0"/>
              <a:buChar char="•"/>
            </a:pPr>
            <a:r>
              <a:rPr lang="en-AU" baseline="0" dirty="0" smtClean="0"/>
              <a:t>Which methods would you use and why?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extLst>
      <p:ext uri="{BB962C8B-B14F-4D97-AF65-F5344CB8AC3E}">
        <p14:creationId xmlns:p14="http://schemas.microsoft.com/office/powerpoint/2010/main" val="702692040"/>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dirty="0" smtClean="0"/>
              <a:t>Discuss</a:t>
            </a:r>
            <a:r>
              <a:rPr lang="en-AU" baseline="0" dirty="0" smtClean="0"/>
              <a:t> question in the slide</a:t>
            </a:r>
            <a:r>
              <a:rPr lang="en-AU" dirty="0" smtClean="0"/>
              <a:t>?</a:t>
            </a:r>
          </a:p>
          <a:p>
            <a:pPr>
              <a:buFont typeface="Arial" pitchFamily="34" charset="0"/>
              <a:buChar char="•"/>
            </a:pPr>
            <a:r>
              <a:rPr lang="en-AU" baseline="0" dirty="0" smtClean="0"/>
              <a:t>Refer to TM Pages 166-167 for examples</a:t>
            </a:r>
          </a:p>
          <a:p>
            <a:pPr>
              <a:buFont typeface="Arial" pitchFamily="34" charset="0"/>
              <a:buChar char="•"/>
            </a:pPr>
            <a:r>
              <a:rPr lang="en-AU" baseline="0" dirty="0" smtClean="0"/>
              <a:t>Complete Activity</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extLst>
      <p:ext uri="{BB962C8B-B14F-4D97-AF65-F5344CB8AC3E}">
        <p14:creationId xmlns:p14="http://schemas.microsoft.com/office/powerpoint/2010/main" val="3401645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8/5/2015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8/5/2015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8/5/2015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8/5/2015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8/5/2015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8/5/2015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8/5/2015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8/5/2015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8/5/2015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8/5/2015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8/5/2015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8/5/2015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260648"/>
            <a:ext cx="7488160" cy="936104"/>
          </a:xfrm>
        </p:spPr>
        <p:txBody>
          <a:bodyPr>
            <a:normAutofit fontScale="90000"/>
          </a:bodyPr>
          <a:lstStyle/>
          <a:p>
            <a:r>
              <a:rPr lang="en-AU" sz="4000" dirty="0" smtClean="0">
                <a:ln w="5000" cmpd="sng">
                  <a:noFill/>
                  <a:prstDash val="solid"/>
                </a:ln>
                <a:solidFill>
                  <a:srgbClr val="FF6600"/>
                </a:solidFill>
                <a:latin typeface="Helvetica" pitchFamily="34" charset="0"/>
              </a:rPr>
              <a:t>Develop and manage business strategies</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484784"/>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7156" y="1483074"/>
            <a:ext cx="2541268" cy="289742"/>
          </a:xfrm>
        </p:spPr>
        <p:txBody>
          <a:bodyPr>
            <a:normAutofit lnSpcReduction="10000"/>
          </a:bodyPr>
          <a:lstStyle/>
          <a:p>
            <a:r>
              <a:rPr lang="en-AU" b="1" dirty="0">
                <a:latin typeface="Helvetica" pitchFamily="34" charset="0"/>
              </a:rPr>
              <a:t>D2.TRM.CL9.03</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five Elements:</a:t>
            </a:r>
          </a:p>
          <a:p>
            <a:pPr>
              <a:spcBef>
                <a:spcPts val="600"/>
              </a:spcBef>
              <a:spcAft>
                <a:spcPts val="1200"/>
              </a:spcAft>
            </a:pPr>
            <a:r>
              <a:rPr lang="en-US" sz="2200" dirty="0" smtClean="0">
                <a:latin typeface="Helvetica" pitchFamily="34" charset="0"/>
              </a:rPr>
              <a:t>Identify the internal business environment</a:t>
            </a:r>
          </a:p>
          <a:p>
            <a:pPr>
              <a:spcBef>
                <a:spcPts val="600"/>
              </a:spcBef>
              <a:spcAft>
                <a:spcPts val="1200"/>
              </a:spcAft>
            </a:pPr>
            <a:r>
              <a:rPr lang="en-US" sz="2200" dirty="0" smtClean="0">
                <a:latin typeface="Helvetica" pitchFamily="34" charset="0"/>
              </a:rPr>
              <a:t>Identify the external business environment</a:t>
            </a:r>
          </a:p>
          <a:p>
            <a:pPr>
              <a:spcBef>
                <a:spcPts val="600"/>
              </a:spcBef>
              <a:spcAft>
                <a:spcPts val="1200"/>
              </a:spcAft>
            </a:pPr>
            <a:r>
              <a:rPr lang="en-US" sz="2200" dirty="0" smtClean="0">
                <a:latin typeface="Helvetica" pitchFamily="34" charset="0"/>
              </a:rPr>
              <a:t>Define and implement business strategies</a:t>
            </a:r>
          </a:p>
          <a:p>
            <a:pPr>
              <a:spcBef>
                <a:spcPts val="600"/>
              </a:spcBef>
              <a:spcAft>
                <a:spcPts val="1200"/>
              </a:spcAft>
            </a:pPr>
            <a:r>
              <a:rPr lang="en-US" sz="2200" dirty="0" smtClean="0">
                <a:latin typeface="Helvetica" pitchFamily="34" charset="0"/>
              </a:rPr>
              <a:t>Review the effectiveness of business strategies </a:t>
            </a:r>
          </a:p>
          <a:p>
            <a:pPr>
              <a:spcBef>
                <a:spcPts val="600"/>
              </a:spcBef>
              <a:spcAft>
                <a:spcPts val="1200"/>
              </a:spcAft>
            </a:pPr>
            <a:r>
              <a:rPr lang="en-US" sz="2200" dirty="0" smtClean="0">
                <a:latin typeface="Helvetica" pitchFamily="34" charset="0"/>
              </a:rPr>
              <a:t>Manage risk associated with business strategies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A2 shutterstock_99180761.jpg"/>
          <p:cNvPicPr>
            <a:picLocks noChangeAspect="1"/>
          </p:cNvPicPr>
          <p:nvPr/>
        </p:nvPicPr>
        <p:blipFill>
          <a:blip r:embed="rId3" cstate="print"/>
          <a:stretch>
            <a:fillRect/>
          </a:stretch>
        </p:blipFill>
        <p:spPr>
          <a:xfrm>
            <a:off x="6804248" y="4941168"/>
            <a:ext cx="1884040" cy="125665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smtClean="0">
                <a:latin typeface="Helvetica" pitchFamily="34" charset="0"/>
              </a:rPr>
              <a:t>Work projects</a:t>
            </a: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80169094.jpg"/>
          <p:cNvPicPr>
            <a:picLocks noChangeAspect="1"/>
          </p:cNvPicPr>
          <p:nvPr/>
        </p:nvPicPr>
        <p:blipFill>
          <a:blip r:embed="rId3" cstate="print"/>
          <a:stretch>
            <a:fillRect/>
          </a:stretch>
        </p:blipFill>
        <p:spPr>
          <a:xfrm>
            <a:off x="6012160" y="1916832"/>
            <a:ext cx="2095504" cy="140189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1:</a:t>
            </a:r>
          </a:p>
          <a:p>
            <a:pPr marL="0">
              <a:buNone/>
            </a:pPr>
            <a:r>
              <a:rPr lang="en-US" sz="4000" dirty="0" smtClean="0">
                <a:solidFill>
                  <a:srgbClr val="FF6600"/>
                </a:solidFill>
                <a:latin typeface="Helvetica" pitchFamily="34" charset="0"/>
              </a:rPr>
              <a:t>Identify the internal business environment</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shutterstock_99237542.jpg"/>
          <p:cNvPicPr>
            <a:picLocks noChangeAspect="1"/>
          </p:cNvPicPr>
          <p:nvPr/>
        </p:nvPicPr>
        <p:blipFill>
          <a:blip r:embed="rId3" cstate="print"/>
          <a:stretch>
            <a:fillRect/>
          </a:stretch>
        </p:blipFill>
        <p:spPr>
          <a:xfrm>
            <a:off x="5364088" y="3645024"/>
            <a:ext cx="2244080" cy="1492313"/>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Identify the internal business environment</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628800"/>
            <a:ext cx="6336704" cy="4525963"/>
          </a:xfrm>
        </p:spPr>
        <p:txBody>
          <a:bodyPr>
            <a:normAutofit lnSpcReduction="10000"/>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US" sz="2200" dirty="0" smtClean="0">
                <a:latin typeface="Helvetica" pitchFamily="34" charset="0"/>
              </a:rPr>
              <a:t>Identify and confirm core features of the business</a:t>
            </a:r>
          </a:p>
          <a:p>
            <a:pPr>
              <a:spcBef>
                <a:spcPts val="600"/>
              </a:spcBef>
              <a:spcAft>
                <a:spcPts val="1200"/>
              </a:spcAft>
            </a:pPr>
            <a:r>
              <a:rPr lang="en-US" sz="2200" dirty="0" smtClean="0">
                <a:latin typeface="Helvetica" pitchFamily="34" charset="0"/>
              </a:rPr>
              <a:t>Identify marketing information relevant to the current situation</a:t>
            </a:r>
          </a:p>
          <a:p>
            <a:pPr>
              <a:spcBef>
                <a:spcPts val="600"/>
              </a:spcBef>
              <a:spcAft>
                <a:spcPts val="1200"/>
              </a:spcAft>
            </a:pPr>
            <a:r>
              <a:rPr lang="en-US" sz="2200" dirty="0" smtClean="0">
                <a:latin typeface="Helvetica" pitchFamily="34" charset="0"/>
              </a:rPr>
              <a:t>Review business performance information</a:t>
            </a:r>
          </a:p>
          <a:p>
            <a:pPr>
              <a:spcBef>
                <a:spcPts val="600"/>
              </a:spcBef>
              <a:spcAft>
                <a:spcPts val="1200"/>
              </a:spcAft>
            </a:pPr>
            <a:r>
              <a:rPr lang="en-US" sz="2200" dirty="0" smtClean="0">
                <a:latin typeface="Helvetica" pitchFamily="34" charset="0"/>
              </a:rPr>
              <a:t>Identify capabilities and resources of the business</a:t>
            </a:r>
          </a:p>
          <a:p>
            <a:pPr>
              <a:spcBef>
                <a:spcPts val="600"/>
              </a:spcBef>
              <a:spcAft>
                <a:spcPts val="1200"/>
              </a:spcAft>
            </a:pPr>
            <a:r>
              <a:rPr lang="en-US" sz="2200" dirty="0" smtClean="0">
                <a:latin typeface="Helvetica" pitchFamily="34" charset="0"/>
              </a:rPr>
              <a:t>Identify under performing products and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A20 shutterstock_182023328.jpg"/>
          <p:cNvPicPr>
            <a:picLocks noChangeAspect="1"/>
          </p:cNvPicPr>
          <p:nvPr/>
        </p:nvPicPr>
        <p:blipFill>
          <a:blip r:embed="rId3" cstate="print"/>
          <a:stretch>
            <a:fillRect/>
          </a:stretch>
        </p:blipFill>
        <p:spPr>
          <a:xfrm>
            <a:off x="6876256" y="3645024"/>
            <a:ext cx="1451992" cy="136777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Business plans and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Importance of business plans and strategies</a:t>
            </a:r>
          </a:p>
          <a:p>
            <a:pPr>
              <a:spcBef>
                <a:spcPts val="600"/>
              </a:spcBef>
              <a:spcAft>
                <a:spcPts val="1200"/>
              </a:spcAft>
            </a:pPr>
            <a:r>
              <a:rPr lang="en-US" sz="2200" dirty="0" smtClean="0">
                <a:latin typeface="Helvetica" pitchFamily="34" charset="0"/>
              </a:rPr>
              <a:t>Used in most travel and tourism organisations, a business strategy commonly is a document that clearly articulates the direction a business will pursue in the future and the steps it will take to achieve its objectives </a:t>
            </a:r>
          </a:p>
          <a:p>
            <a:pPr>
              <a:spcBef>
                <a:spcPts val="600"/>
              </a:spcBef>
              <a:spcAft>
                <a:spcPts val="1200"/>
              </a:spcAft>
            </a:pPr>
            <a:r>
              <a:rPr lang="en-US" sz="2200" dirty="0" smtClean="0">
                <a:latin typeface="Helvetica" pitchFamily="34" charset="0"/>
              </a:rPr>
              <a:t>Business strategies are usually derived from a business plan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shutterstock_81150025.jpg"/>
          <p:cNvPicPr/>
          <p:nvPr/>
        </p:nvPicPr>
        <p:blipFill>
          <a:blip r:embed="rId3" cstate="print"/>
          <a:stretch>
            <a:fillRect/>
          </a:stretch>
        </p:blipFill>
        <p:spPr>
          <a:xfrm>
            <a:off x="3491880" y="4509120"/>
            <a:ext cx="2200285" cy="140494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Business plans and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 business plan</a:t>
            </a:r>
          </a:p>
          <a:p>
            <a:pPr marL="0">
              <a:spcBef>
                <a:spcPts val="600"/>
              </a:spcBef>
              <a:spcAft>
                <a:spcPts val="1200"/>
              </a:spcAft>
              <a:buNone/>
            </a:pPr>
            <a:r>
              <a:rPr lang="en-AU" sz="2200" dirty="0" smtClean="0">
                <a:latin typeface="Helvetica" pitchFamily="34" charset="0"/>
              </a:rPr>
              <a:t>A business plan is a written document that presents detailed information about:</a:t>
            </a:r>
          </a:p>
          <a:p>
            <a:pPr>
              <a:spcBef>
                <a:spcPts val="600"/>
              </a:spcBef>
              <a:spcAft>
                <a:spcPts val="1200"/>
              </a:spcAft>
            </a:pPr>
            <a:r>
              <a:rPr lang="en-AU" sz="2200" dirty="0" smtClean="0">
                <a:latin typeface="Helvetica" pitchFamily="34" charset="0"/>
              </a:rPr>
              <a:t>The business</a:t>
            </a:r>
          </a:p>
          <a:p>
            <a:pPr>
              <a:spcBef>
                <a:spcPts val="600"/>
              </a:spcBef>
              <a:spcAft>
                <a:spcPts val="1200"/>
              </a:spcAft>
            </a:pPr>
            <a:r>
              <a:rPr lang="en-AU" sz="2200" dirty="0" smtClean="0">
                <a:latin typeface="Helvetica" pitchFamily="34" charset="0"/>
              </a:rPr>
              <a:t>Its projected plans and projections for the future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A8 shutterstock_149513465.jpg"/>
          <p:cNvPicPr>
            <a:picLocks noChangeAspect="1"/>
          </p:cNvPicPr>
          <p:nvPr/>
        </p:nvPicPr>
        <p:blipFill>
          <a:blip r:embed="rId3" cstate="print"/>
          <a:stretch>
            <a:fillRect/>
          </a:stretch>
        </p:blipFill>
        <p:spPr>
          <a:xfrm>
            <a:off x="2915816" y="4725144"/>
            <a:ext cx="1950714" cy="131673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Business plans and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Importance of a business plan</a:t>
            </a:r>
          </a:p>
          <a:p>
            <a:pPr>
              <a:spcBef>
                <a:spcPts val="600"/>
              </a:spcBef>
              <a:spcAft>
                <a:spcPts val="1200"/>
              </a:spcAft>
            </a:pPr>
            <a:r>
              <a:rPr lang="en-AU" sz="2200" dirty="0" smtClean="0">
                <a:latin typeface="Helvetica" pitchFamily="34" charset="0"/>
              </a:rPr>
              <a:t>A business plan is the key formal document that sets out a total picture of how a business will operate </a:t>
            </a:r>
          </a:p>
          <a:p>
            <a:pPr>
              <a:spcBef>
                <a:spcPts val="600"/>
              </a:spcBef>
              <a:spcAft>
                <a:spcPts val="1200"/>
              </a:spcAft>
            </a:pPr>
            <a:r>
              <a:rPr lang="en-AU" sz="2200" dirty="0" smtClean="0">
                <a:latin typeface="Helvetica" pitchFamily="34" charset="0"/>
              </a:rPr>
              <a:t>It helps to establish standards for measuring the success of all aspects of a business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6" name="Picture 5" descr="A9 shutterstock_155310890.jpg"/>
          <p:cNvPicPr>
            <a:picLocks noChangeAspect="1"/>
          </p:cNvPicPr>
          <p:nvPr/>
        </p:nvPicPr>
        <p:blipFill>
          <a:blip r:embed="rId3" cstate="print"/>
          <a:stretch>
            <a:fillRect/>
          </a:stretch>
        </p:blipFill>
        <p:spPr>
          <a:xfrm>
            <a:off x="3275856" y="4365104"/>
            <a:ext cx="2532112" cy="144583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Business plans and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048672" cy="4525963"/>
          </a:xfrm>
        </p:spPr>
        <p:txBody>
          <a:bodyPr>
            <a:normAutofit/>
          </a:bodyPr>
          <a:lstStyle/>
          <a:p>
            <a:pPr>
              <a:spcBef>
                <a:spcPts val="600"/>
              </a:spcBef>
              <a:spcAft>
                <a:spcPts val="1200"/>
              </a:spcAft>
              <a:buNone/>
            </a:pPr>
            <a:r>
              <a:rPr lang="en-AU" sz="2200" b="1" dirty="0" smtClean="0">
                <a:latin typeface="Helvetica" pitchFamily="34" charset="0"/>
              </a:rPr>
              <a:t>Basis of a business plan</a:t>
            </a:r>
          </a:p>
          <a:p>
            <a:pPr>
              <a:spcBef>
                <a:spcPts val="600"/>
              </a:spcBef>
              <a:spcAft>
                <a:spcPts val="1200"/>
              </a:spcAft>
              <a:buNone/>
            </a:pPr>
            <a:r>
              <a:rPr lang="en-AU" sz="2200" dirty="0" smtClean="0">
                <a:latin typeface="Helvetica" pitchFamily="34" charset="0"/>
              </a:rPr>
              <a:t>The plan is based on:</a:t>
            </a:r>
          </a:p>
          <a:p>
            <a:pPr>
              <a:spcBef>
                <a:spcPts val="600"/>
              </a:spcBef>
              <a:spcAft>
                <a:spcPts val="1200"/>
              </a:spcAft>
            </a:pPr>
            <a:r>
              <a:rPr lang="en-AU" sz="2200" dirty="0" smtClean="0">
                <a:latin typeface="Helvetica" pitchFamily="34" charset="0"/>
              </a:rPr>
              <a:t>An analysis of the business’ current situation</a:t>
            </a:r>
          </a:p>
          <a:p>
            <a:pPr>
              <a:spcBef>
                <a:spcPts val="600"/>
              </a:spcBef>
              <a:spcAft>
                <a:spcPts val="1200"/>
              </a:spcAft>
            </a:pPr>
            <a:r>
              <a:rPr lang="en-AU" sz="2200" dirty="0" smtClean="0">
                <a:latin typeface="Helvetica" pitchFamily="34" charset="0"/>
              </a:rPr>
              <a:t>Forecasts of future trends within the relevant industry and economy</a:t>
            </a:r>
          </a:p>
          <a:p>
            <a:pPr>
              <a:spcBef>
                <a:spcPts val="600"/>
              </a:spcBef>
              <a:spcAft>
                <a:spcPts val="1200"/>
              </a:spcAft>
            </a:pPr>
            <a:r>
              <a:rPr lang="en-AU" sz="2200" dirty="0" smtClean="0">
                <a:latin typeface="Helvetica" pitchFamily="34" charset="0"/>
              </a:rPr>
              <a:t>Includes results from research into all aspects of the business operation</a:t>
            </a:r>
          </a:p>
          <a:p>
            <a:pPr>
              <a:spcBef>
                <a:spcPts val="600"/>
              </a:spcBef>
              <a:spcAft>
                <a:spcPts val="1200"/>
              </a:spcAft>
            </a:pPr>
            <a:r>
              <a:rPr lang="en-AU" sz="2200" dirty="0" smtClean="0">
                <a:latin typeface="Helvetica" pitchFamily="34" charset="0"/>
              </a:rPr>
              <a:t>Is a logical and structured document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A7 shutterstock_138419417.jpg"/>
          <p:cNvPicPr>
            <a:picLocks noChangeAspect="1"/>
          </p:cNvPicPr>
          <p:nvPr/>
        </p:nvPicPr>
        <p:blipFill>
          <a:blip r:embed="rId3" cstate="print"/>
          <a:stretch>
            <a:fillRect/>
          </a:stretch>
        </p:blipFill>
        <p:spPr>
          <a:xfrm>
            <a:off x="6588224" y="3429000"/>
            <a:ext cx="1740565" cy="115747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Business plans and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Business strategy steps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A typical business strategy is developed in four steps:</a:t>
            </a:r>
          </a:p>
          <a:p>
            <a:pPr lvl="0">
              <a:spcBef>
                <a:spcPts val="600"/>
              </a:spcBef>
              <a:spcAft>
                <a:spcPts val="1200"/>
              </a:spcAft>
            </a:pPr>
            <a:r>
              <a:rPr lang="en-US" sz="2200" dirty="0" smtClean="0">
                <a:latin typeface="Helvetica" pitchFamily="34" charset="0"/>
              </a:rPr>
              <a:t>Analysis</a:t>
            </a:r>
          </a:p>
          <a:p>
            <a:pPr lvl="0">
              <a:spcBef>
                <a:spcPts val="600"/>
              </a:spcBef>
              <a:spcAft>
                <a:spcPts val="1200"/>
              </a:spcAft>
            </a:pPr>
            <a:r>
              <a:rPr lang="en-US" sz="2200" dirty="0" smtClean="0">
                <a:latin typeface="Helvetica" pitchFamily="34" charset="0"/>
              </a:rPr>
              <a:t>Development</a:t>
            </a:r>
          </a:p>
          <a:p>
            <a:pPr lvl="0">
              <a:spcBef>
                <a:spcPts val="600"/>
              </a:spcBef>
              <a:spcAft>
                <a:spcPts val="1200"/>
              </a:spcAft>
            </a:pPr>
            <a:r>
              <a:rPr lang="en-US" sz="2200" dirty="0" smtClean="0">
                <a:latin typeface="Helvetica" pitchFamily="34" charset="0"/>
              </a:rPr>
              <a:t>Implementation</a:t>
            </a:r>
          </a:p>
          <a:p>
            <a:pPr lvl="0">
              <a:spcBef>
                <a:spcPts val="600"/>
              </a:spcBef>
              <a:spcAft>
                <a:spcPts val="1200"/>
              </a:spcAft>
            </a:pPr>
            <a:r>
              <a:rPr lang="en-US" sz="2200" dirty="0" smtClean="0">
                <a:latin typeface="Helvetica" pitchFamily="34" charset="0"/>
              </a:rPr>
              <a:t>Review</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shutterstock_116731201.jpg"/>
          <p:cNvPicPr/>
          <p:nvPr/>
        </p:nvPicPr>
        <p:blipFill>
          <a:blip r:embed="rId3" cstate="print"/>
          <a:stretch>
            <a:fillRect/>
          </a:stretch>
        </p:blipFill>
        <p:spPr>
          <a:xfrm>
            <a:off x="5508104" y="3284984"/>
            <a:ext cx="2090341" cy="141597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Business plans and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lnSpcReduction="10000"/>
          </a:bodyPr>
          <a:lstStyle/>
          <a:p>
            <a:pPr marL="0">
              <a:spcBef>
                <a:spcPts val="600"/>
              </a:spcBef>
              <a:spcAft>
                <a:spcPts val="1200"/>
              </a:spcAft>
              <a:buNone/>
            </a:pPr>
            <a:r>
              <a:rPr lang="en-AU" sz="2200" b="1" dirty="0" smtClean="0">
                <a:latin typeface="Helvetica" pitchFamily="34" charset="0"/>
              </a:rPr>
              <a:t>Understand vision, values and mission of the business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Why is the purpose of the following documents?</a:t>
            </a:r>
          </a:p>
          <a:p>
            <a:pPr>
              <a:spcBef>
                <a:spcPts val="600"/>
              </a:spcBef>
              <a:spcAft>
                <a:spcPts val="1200"/>
              </a:spcAft>
            </a:pPr>
            <a:r>
              <a:rPr lang="en-AU" sz="2200" dirty="0" smtClean="0">
                <a:latin typeface="Helvetica" pitchFamily="34" charset="0"/>
              </a:rPr>
              <a:t>Vision</a:t>
            </a:r>
          </a:p>
          <a:p>
            <a:pPr>
              <a:spcBef>
                <a:spcPts val="600"/>
              </a:spcBef>
              <a:spcAft>
                <a:spcPts val="1200"/>
              </a:spcAft>
            </a:pPr>
            <a:r>
              <a:rPr lang="en-AU" sz="2200" dirty="0" smtClean="0">
                <a:latin typeface="Helvetica" pitchFamily="34" charset="0"/>
              </a:rPr>
              <a:t>Values</a:t>
            </a:r>
          </a:p>
          <a:p>
            <a:pPr>
              <a:spcBef>
                <a:spcPts val="600"/>
              </a:spcBef>
              <a:spcAft>
                <a:spcPts val="1200"/>
              </a:spcAft>
            </a:pPr>
            <a:r>
              <a:rPr lang="en-AU" sz="2200" dirty="0" smtClean="0">
                <a:latin typeface="Helvetica" pitchFamily="34" charset="0"/>
              </a:rPr>
              <a:t>Mission Statement</a:t>
            </a:r>
          </a:p>
          <a:p>
            <a:pPr>
              <a:spcBef>
                <a:spcPts val="600"/>
              </a:spcBef>
              <a:spcAft>
                <a:spcPts val="1200"/>
              </a:spcAft>
            </a:pPr>
            <a:r>
              <a:rPr lang="en-AU" sz="2200" dirty="0" smtClean="0">
                <a:latin typeface="Helvetica" pitchFamily="34" charset="0"/>
              </a:rPr>
              <a:t>Corporate goals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Strategic plans</a:t>
            </a:r>
            <a:endParaRPr lang="en-US" sz="2200" dirty="0" smtClean="0">
              <a:latin typeface="Helvetica" pitchFamily="34" charset="0"/>
            </a:endParaRPr>
          </a:p>
          <a:p>
            <a:pPr>
              <a:buNone/>
            </a:pPr>
            <a:endParaRPr lang="en-AU" sz="2200" dirty="0" smtClean="0">
              <a:solidFill>
                <a:srgbClr val="FF6600"/>
              </a:solidFill>
            </a:endParaRPr>
          </a:p>
          <a:p>
            <a:pPr>
              <a:buNone/>
            </a:pPr>
            <a:r>
              <a:rPr lang="en-AU" sz="2200" dirty="0" smtClean="0">
                <a:solidFill>
                  <a:srgbClr val="FF6600"/>
                </a:solidFill>
              </a:rPr>
              <a:t>COMPLETE ACTIVITY 1</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7" name="Picture 6" descr="shutterstock_122942875.jpg"/>
          <p:cNvPicPr/>
          <p:nvPr/>
        </p:nvPicPr>
        <p:blipFill>
          <a:blip r:embed="rId3" cstate="print"/>
          <a:stretch>
            <a:fillRect/>
          </a:stretch>
        </p:blipFill>
        <p:spPr>
          <a:xfrm>
            <a:off x="6084168" y="3501008"/>
            <a:ext cx="1876425" cy="124777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Core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6696744" cy="4824536"/>
          </a:xfrm>
        </p:spPr>
        <p:txBody>
          <a:bodyPr>
            <a:noAutofit/>
          </a:bodyPr>
          <a:lstStyle/>
          <a:p>
            <a:pPr>
              <a:spcBef>
                <a:spcPts val="600"/>
              </a:spcBef>
              <a:spcAft>
                <a:spcPts val="1000"/>
              </a:spcAft>
              <a:buNone/>
            </a:pPr>
            <a:r>
              <a:rPr lang="en-AU" sz="2200" b="1" dirty="0" smtClean="0">
                <a:latin typeface="Helvetica" pitchFamily="34" charset="0"/>
              </a:rPr>
              <a:t>Identify general core activities</a:t>
            </a:r>
            <a:endParaRPr lang="en-US" sz="2200" b="1" dirty="0" smtClean="0">
              <a:latin typeface="Helvetica" pitchFamily="34" charset="0"/>
            </a:endParaRPr>
          </a:p>
          <a:p>
            <a:pPr>
              <a:spcBef>
                <a:spcPts val="600"/>
              </a:spcBef>
              <a:spcAft>
                <a:spcPts val="1000"/>
              </a:spcAft>
            </a:pPr>
            <a:r>
              <a:rPr lang="en-AU" sz="2200" dirty="0" smtClean="0">
                <a:latin typeface="Helvetica" pitchFamily="34" charset="0"/>
              </a:rPr>
              <a:t>Getting information</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Selling or influencing others </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Interacting with computers </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Communicating with persons outside organi</a:t>
            </a:r>
            <a:r>
              <a:rPr lang="en-US" sz="2200" dirty="0" smtClean="0">
                <a:latin typeface="Helvetica" pitchFamily="34" charset="0"/>
              </a:rPr>
              <a:t>s</a:t>
            </a:r>
            <a:r>
              <a:rPr lang="en-AU" sz="2200" dirty="0" smtClean="0">
                <a:latin typeface="Helvetica" pitchFamily="34" charset="0"/>
              </a:rPr>
              <a:t>ation </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Updating and using relevant knowledge </a:t>
            </a:r>
          </a:p>
          <a:p>
            <a:pPr>
              <a:spcBef>
                <a:spcPts val="600"/>
              </a:spcBef>
              <a:spcAft>
                <a:spcPts val="1000"/>
              </a:spcAft>
            </a:pPr>
            <a:r>
              <a:rPr lang="en-AU" sz="2200" dirty="0" smtClean="0">
                <a:latin typeface="Helvetica" pitchFamily="34" charset="0"/>
              </a:rPr>
              <a:t>Establishing and maintaining interpersonal relationships</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Organi</a:t>
            </a:r>
            <a:r>
              <a:rPr lang="en-US" sz="2200" dirty="0" smtClean="0">
                <a:latin typeface="Helvetica" pitchFamily="34" charset="0"/>
              </a:rPr>
              <a:t>s</a:t>
            </a:r>
            <a:r>
              <a:rPr lang="en-AU" sz="2200" dirty="0" smtClean="0">
                <a:latin typeface="Helvetica" pitchFamily="34" charset="0"/>
              </a:rPr>
              <a:t>ing, planning, and prioriti</a:t>
            </a:r>
            <a:r>
              <a:rPr lang="en-US" sz="2200" dirty="0" smtClean="0">
                <a:latin typeface="Helvetica" pitchFamily="34" charset="0"/>
              </a:rPr>
              <a:t>s</a:t>
            </a:r>
            <a:r>
              <a:rPr lang="en-AU" sz="2200" dirty="0" smtClean="0">
                <a:latin typeface="Helvetica" pitchFamily="34" charset="0"/>
              </a:rPr>
              <a:t>ing work </a:t>
            </a:r>
            <a:endParaRPr lang="en-US" sz="2200" dirty="0" smtClean="0">
              <a:latin typeface="Helvetica" pitchFamily="34" charset="0"/>
            </a:endParaRPr>
          </a:p>
          <a:p>
            <a:pPr>
              <a:spcAft>
                <a:spcPts val="1000"/>
              </a:spcAft>
            </a:pPr>
            <a:endParaRPr lang="en-US" sz="2200" dirty="0" smtClean="0">
              <a:latin typeface="Helvetica" pitchFamily="34" charset="0"/>
            </a:endParaRPr>
          </a:p>
          <a:p>
            <a:pPr>
              <a:spcAft>
                <a:spcPts val="1000"/>
              </a:spcAft>
            </a:pPr>
            <a:endParaRPr lang="en-US"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8" name="Picture 7" descr="Asian girl with world on hand_34766518.jpg"/>
          <p:cNvPicPr/>
          <p:nvPr/>
        </p:nvPicPr>
        <p:blipFill>
          <a:blip r:embed="rId3" cstate="print"/>
          <a:stretch>
            <a:fillRect/>
          </a:stretch>
        </p:blipFill>
        <p:spPr>
          <a:xfrm>
            <a:off x="6876256" y="2780928"/>
            <a:ext cx="1038225" cy="155257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Core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lnSpc>
                <a:spcPct val="110000"/>
              </a:lnSpc>
              <a:spcBef>
                <a:spcPts val="600"/>
              </a:spcBef>
              <a:spcAft>
                <a:spcPts val="1200"/>
              </a:spcAft>
              <a:buNone/>
            </a:pPr>
            <a:r>
              <a:rPr lang="en-AU" sz="2200" b="1" dirty="0" smtClean="0">
                <a:latin typeface="Helvetica" pitchFamily="34" charset="0"/>
              </a:rPr>
              <a:t>Identify general core activities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Communicating with supervisors, peers, or subordinates</a:t>
            </a:r>
          </a:p>
          <a:p>
            <a:pPr>
              <a:spcBef>
                <a:spcPts val="600"/>
              </a:spcBef>
              <a:spcAft>
                <a:spcPts val="1200"/>
              </a:spcAft>
            </a:pPr>
            <a:r>
              <a:rPr lang="en-AU" sz="2200" dirty="0" smtClean="0">
                <a:latin typeface="Helvetica" pitchFamily="34" charset="0"/>
              </a:rPr>
              <a:t>Documenting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Making decisions and solving problems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Interpreting others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Resolving conflicts and negotiating with others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Performing administrative activities</a:t>
            </a:r>
            <a:endParaRPr lang="en-US" sz="2200" dirty="0" smtClean="0">
              <a:latin typeface="Helvetica" pitchFamily="34" charset="0"/>
            </a:endParaRPr>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descr="shutterstock_143143042.jpg"/>
          <p:cNvPicPr/>
          <p:nvPr/>
        </p:nvPicPr>
        <p:blipFill>
          <a:blip r:embed="rId3" cstate="print"/>
          <a:stretch>
            <a:fillRect/>
          </a:stretch>
        </p:blipFill>
        <p:spPr>
          <a:xfrm>
            <a:off x="6876256" y="2852936"/>
            <a:ext cx="1123950" cy="16383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Core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lnSpc>
                <a:spcPct val="110000"/>
              </a:lnSpc>
              <a:spcBef>
                <a:spcPts val="600"/>
              </a:spcBef>
              <a:spcAft>
                <a:spcPts val="1200"/>
              </a:spcAft>
              <a:buNone/>
            </a:pPr>
            <a:r>
              <a:rPr lang="en-AU" sz="2200" b="1" dirty="0" smtClean="0">
                <a:latin typeface="Helvetica" pitchFamily="34" charset="0"/>
              </a:rPr>
              <a:t>Identify general core activities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Judging the qualities of things, services or people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Processing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Thinking creatively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Analysing data or information </a:t>
            </a:r>
          </a:p>
          <a:p>
            <a:pPr>
              <a:spcBef>
                <a:spcPts val="600"/>
              </a:spcBef>
              <a:spcAft>
                <a:spcPts val="1200"/>
              </a:spcAft>
            </a:pPr>
            <a:r>
              <a:rPr lang="en-AU" sz="2200" dirty="0" smtClean="0">
                <a:latin typeface="Helvetica" pitchFamily="34" charset="0"/>
              </a:rPr>
              <a:t>Assisting and caring for others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Coordinating the work activities of others</a:t>
            </a:r>
            <a:endParaRPr lang="en-US" sz="2200" dirty="0" smtClean="0">
              <a:latin typeface="Helvetica" pitchFamily="34" charset="0"/>
            </a:endParaRPr>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7" name="Picture 6" descr="shutterstock_127785503.jpg"/>
          <p:cNvPicPr/>
          <p:nvPr/>
        </p:nvPicPr>
        <p:blipFill>
          <a:blip r:embed="rId3" cstate="print"/>
          <a:stretch>
            <a:fillRect/>
          </a:stretch>
        </p:blipFill>
        <p:spPr>
          <a:xfrm>
            <a:off x="6444208" y="3284984"/>
            <a:ext cx="1769110" cy="11811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Core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60784" y="1484784"/>
            <a:ext cx="7467600" cy="5301208"/>
          </a:xfrm>
        </p:spPr>
        <p:txBody>
          <a:bodyPr>
            <a:normAutofit lnSpcReduction="10000"/>
          </a:bodyPr>
          <a:lstStyle/>
          <a:p>
            <a:pPr>
              <a:lnSpc>
                <a:spcPct val="110000"/>
              </a:lnSpc>
              <a:spcBef>
                <a:spcPts val="600"/>
              </a:spcBef>
              <a:spcAft>
                <a:spcPts val="1000"/>
              </a:spcAft>
              <a:buNone/>
            </a:pPr>
            <a:r>
              <a:rPr lang="en-AU" sz="2200" b="1" dirty="0" smtClean="0">
                <a:latin typeface="Helvetica" pitchFamily="34" charset="0"/>
              </a:rPr>
              <a:t>Identify general core activities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Scheduling work and activities</a:t>
            </a:r>
          </a:p>
          <a:p>
            <a:pPr>
              <a:spcBef>
                <a:spcPts val="600"/>
              </a:spcBef>
              <a:spcAft>
                <a:spcPts val="1200"/>
              </a:spcAft>
            </a:pPr>
            <a:r>
              <a:rPr lang="en-AU" sz="2200" dirty="0" smtClean="0">
                <a:latin typeface="Helvetica" pitchFamily="34" charset="0"/>
              </a:rPr>
              <a:t>Monitoring and controlling resources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Training and teaching others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Developing objectives and strategies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Identifying objects, actions and events</a:t>
            </a:r>
          </a:p>
          <a:p>
            <a:pPr>
              <a:spcBef>
                <a:spcPts val="600"/>
              </a:spcBef>
              <a:spcAft>
                <a:spcPts val="1200"/>
              </a:spcAft>
            </a:pPr>
            <a:r>
              <a:rPr lang="en-AU" sz="2200" dirty="0" smtClean="0">
                <a:latin typeface="Helvetica" pitchFamily="34" charset="0"/>
              </a:rPr>
              <a:t>Estimating the quantifiable characteristics of products, events or information </a:t>
            </a:r>
          </a:p>
          <a:p>
            <a:pPr>
              <a:spcBef>
                <a:spcPts val="600"/>
              </a:spcBef>
              <a:spcAft>
                <a:spcPts val="1200"/>
              </a:spcAft>
            </a:pPr>
            <a:r>
              <a:rPr lang="en-AU" sz="2200" dirty="0" smtClean="0">
                <a:latin typeface="Helvetica" pitchFamily="34" charset="0"/>
              </a:rPr>
              <a:t>Provide consultation and advice to others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Developing and building teams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5" descr="shutterstock_168391730.jpg"/>
          <p:cNvPicPr/>
          <p:nvPr/>
        </p:nvPicPr>
        <p:blipFill>
          <a:blip r:embed="rId3" cstate="print"/>
          <a:stretch>
            <a:fillRect/>
          </a:stretch>
        </p:blipFill>
        <p:spPr>
          <a:xfrm>
            <a:off x="6660232" y="2348880"/>
            <a:ext cx="1362075" cy="184785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Core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08712" cy="4824536"/>
          </a:xfrm>
        </p:spPr>
        <p:txBody>
          <a:bodyPr>
            <a:normAutofit/>
          </a:bodyPr>
          <a:lstStyle/>
          <a:p>
            <a:pPr>
              <a:lnSpc>
                <a:spcPct val="110000"/>
              </a:lnSpc>
              <a:spcBef>
                <a:spcPts val="600"/>
              </a:spcBef>
              <a:spcAft>
                <a:spcPts val="1200"/>
              </a:spcAft>
              <a:buNone/>
            </a:pPr>
            <a:r>
              <a:rPr lang="en-AU" sz="2200" b="1" dirty="0" smtClean="0">
                <a:latin typeface="Helvetica" pitchFamily="34" charset="0"/>
              </a:rPr>
              <a:t>Identify general core activities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Coaching and developing other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Evaluating information to determine compliance with standards</a:t>
            </a:r>
          </a:p>
          <a:p>
            <a:pPr>
              <a:spcBef>
                <a:spcPts val="600"/>
              </a:spcBef>
              <a:spcAft>
                <a:spcPts val="1200"/>
              </a:spcAft>
            </a:pPr>
            <a:r>
              <a:rPr lang="en-AU" sz="2200" dirty="0" smtClean="0">
                <a:latin typeface="Helvetica" pitchFamily="34" charset="0"/>
              </a:rPr>
              <a:t>Monitor processes, materials or surroundings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Guiding, directing and motivating subordinates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Staffing organi</a:t>
            </a:r>
            <a:r>
              <a:rPr lang="en-US" sz="2200" dirty="0" smtClean="0">
                <a:latin typeface="Helvetica" pitchFamily="34" charset="0"/>
              </a:rPr>
              <a:t>s</a:t>
            </a:r>
            <a:r>
              <a:rPr lang="en-AU" sz="2200" dirty="0" smtClean="0">
                <a:latin typeface="Helvetica" pitchFamily="34" charset="0"/>
              </a:rPr>
              <a:t>ational units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Handling and moving objects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7" name="Picture 6" descr="A5 shutterstock_131103662.jpg"/>
          <p:cNvPicPr/>
          <p:nvPr/>
        </p:nvPicPr>
        <p:blipFill>
          <a:blip r:embed="rId3" cstate="print"/>
          <a:stretch>
            <a:fillRect/>
          </a:stretch>
        </p:blipFill>
        <p:spPr>
          <a:xfrm>
            <a:off x="6156176" y="2060848"/>
            <a:ext cx="2066925" cy="13716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Core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lnSpc>
                <a:spcPct val="110000"/>
              </a:lnSpc>
              <a:spcBef>
                <a:spcPts val="600"/>
              </a:spcBef>
              <a:spcAft>
                <a:spcPts val="1200"/>
              </a:spcAft>
              <a:buNone/>
            </a:pPr>
            <a:r>
              <a:rPr lang="en-AU" sz="2200" b="1" dirty="0" smtClean="0">
                <a:latin typeface="Helvetica" pitchFamily="34" charset="0"/>
              </a:rPr>
              <a:t>Identify core activities for different positions</a:t>
            </a:r>
            <a:endParaRPr lang="en-US" sz="2200" b="1" dirty="0" smtClean="0">
              <a:latin typeface="Helvetica" pitchFamily="34" charset="0"/>
            </a:endParaRPr>
          </a:p>
          <a:p>
            <a:pPr>
              <a:spcBef>
                <a:spcPts val="600"/>
              </a:spcBef>
              <a:spcAft>
                <a:spcPts val="1200"/>
              </a:spcAft>
              <a:buNone/>
            </a:pPr>
            <a:r>
              <a:rPr lang="en-US" sz="2200" dirty="0" smtClean="0">
                <a:latin typeface="Helvetica" pitchFamily="34" charset="0"/>
              </a:rPr>
              <a:t>What are the core activities for the following positions?</a:t>
            </a:r>
          </a:p>
          <a:p>
            <a:pPr>
              <a:spcBef>
                <a:spcPts val="600"/>
              </a:spcBef>
              <a:spcAft>
                <a:spcPts val="1200"/>
              </a:spcAft>
            </a:pPr>
            <a:r>
              <a:rPr lang="en-US" sz="2200" dirty="0" smtClean="0">
                <a:latin typeface="Helvetica" pitchFamily="34" charset="0"/>
              </a:rPr>
              <a:t>Travel agent</a:t>
            </a:r>
          </a:p>
          <a:p>
            <a:pPr>
              <a:spcBef>
                <a:spcPts val="600"/>
              </a:spcBef>
              <a:spcAft>
                <a:spcPts val="1200"/>
              </a:spcAft>
            </a:pPr>
            <a:r>
              <a:rPr lang="en-US" sz="2200" dirty="0" smtClean="0">
                <a:latin typeface="Helvetica" pitchFamily="34" charset="0"/>
              </a:rPr>
              <a:t>Tour guide</a:t>
            </a:r>
          </a:p>
          <a:p>
            <a:pPr>
              <a:spcBef>
                <a:spcPts val="600"/>
              </a:spcBef>
              <a:spcAft>
                <a:spcPts val="1200"/>
              </a:spcAft>
            </a:pPr>
            <a:r>
              <a:rPr lang="en-US" sz="2200" dirty="0" smtClean="0">
                <a:latin typeface="Helvetica" pitchFamily="34" charset="0"/>
              </a:rPr>
              <a:t>Other travel and tourism industry positions</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dirty="0" smtClean="0">
                <a:solidFill>
                  <a:srgbClr val="FF6600"/>
                </a:solidFill>
              </a:rPr>
              <a:t>COMPLETE ACTIVITY 2</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6" name="Picture 5" descr="shutterstock_141853249.jpg"/>
          <p:cNvPicPr/>
          <p:nvPr/>
        </p:nvPicPr>
        <p:blipFill>
          <a:blip r:embed="rId3" cstate="print"/>
          <a:stretch>
            <a:fillRect/>
          </a:stretch>
        </p:blipFill>
        <p:spPr>
          <a:xfrm>
            <a:off x="6228184" y="4653136"/>
            <a:ext cx="2232273" cy="141617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products and services offered</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Products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product is anything that can be offered to a market that might satisfy a want or need.</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This can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Tourism products and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Packages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Merchandise</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7" name="Picture 6" descr="shutterstock_114459544.jpg"/>
          <p:cNvPicPr>
            <a:picLocks noChangeAspect="1"/>
          </p:cNvPicPr>
          <p:nvPr/>
        </p:nvPicPr>
        <p:blipFill>
          <a:blip r:embed="rId3" cstate="print"/>
          <a:stretch>
            <a:fillRect/>
          </a:stretch>
        </p:blipFill>
        <p:spPr>
          <a:xfrm>
            <a:off x="5940152" y="3068960"/>
            <a:ext cx="2283120" cy="151599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products and services offered</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US" sz="2200" b="1" dirty="0" smtClean="0">
                <a:latin typeface="Helvetica" pitchFamily="34" charset="0"/>
              </a:rPr>
              <a:t>Services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 </a:t>
            </a:r>
            <a:r>
              <a:rPr lang="en-AU" sz="2200" dirty="0" smtClean="0">
                <a:latin typeface="Helvetica" pitchFamily="34" charset="0"/>
              </a:rPr>
              <a:t>service is any activity or benefit that one party can offer to the other which is essentially  intangible and does not result in the ownership of anything.</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I</a:t>
            </a:r>
            <a:r>
              <a:rPr lang="en-AU" sz="2200" dirty="0" smtClean="0">
                <a:latin typeface="Helvetica" pitchFamily="34" charset="0"/>
              </a:rPr>
              <a:t>t</a:t>
            </a:r>
            <a:r>
              <a:rPr lang="en-US" sz="2200" dirty="0" smtClean="0">
                <a:latin typeface="Helvetica" pitchFamily="34" charset="0"/>
              </a:rPr>
              <a:t>'</a:t>
            </a:r>
            <a:r>
              <a:rPr lang="en-AU" sz="2200" dirty="0" smtClean="0">
                <a:latin typeface="Helvetica" pitchFamily="34" charset="0"/>
              </a:rPr>
              <a:t>s production may or may not be tied to the product</a:t>
            </a:r>
            <a:r>
              <a:rPr lang="en-US" sz="2200" dirty="0" smtClean="0">
                <a:latin typeface="Helvetica" pitchFamily="34" charset="0"/>
              </a:rPr>
              <a:t>.</a:t>
            </a:r>
          </a:p>
          <a:p>
            <a:pPr lvl="0">
              <a:spcBef>
                <a:spcPts val="600"/>
              </a:spcBef>
              <a:spcAft>
                <a:spcPts val="1200"/>
              </a:spcAft>
            </a:pPr>
            <a:r>
              <a:rPr lang="en-US" sz="2200" dirty="0" smtClean="0">
                <a:latin typeface="Helvetica" pitchFamily="34" charset="0"/>
              </a:rPr>
              <a:t>Booking services</a:t>
            </a:r>
          </a:p>
          <a:p>
            <a:pPr lvl="0">
              <a:spcBef>
                <a:spcPts val="600"/>
              </a:spcBef>
              <a:spcAft>
                <a:spcPts val="1200"/>
              </a:spcAft>
            </a:pPr>
            <a:r>
              <a:rPr lang="en-US" sz="2200" dirty="0" smtClean="0">
                <a:latin typeface="Helvetica" pitchFamily="34" charset="0"/>
              </a:rPr>
              <a:t>Foreign exchange services</a:t>
            </a:r>
          </a:p>
          <a:p>
            <a:pPr lvl="0">
              <a:spcBef>
                <a:spcPts val="600"/>
              </a:spcBef>
              <a:spcAft>
                <a:spcPts val="1200"/>
              </a:spcAft>
            </a:pPr>
            <a:r>
              <a:rPr lang="en-US" sz="2200" dirty="0" smtClean="0">
                <a:latin typeface="Helvetica" pitchFamily="34" charset="0"/>
              </a:rPr>
              <a:t>Insurance</a:t>
            </a:r>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descr="shutterstock_156185711.jpg"/>
          <p:cNvPicPr/>
          <p:nvPr/>
        </p:nvPicPr>
        <p:blipFill>
          <a:blip r:embed="rId3" cstate="print"/>
          <a:stretch>
            <a:fillRect/>
          </a:stretch>
        </p:blipFill>
        <p:spPr>
          <a:xfrm>
            <a:off x="5868144" y="4221088"/>
            <a:ext cx="2133074" cy="156532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products and services offered</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US" sz="2200" b="1" dirty="0" smtClean="0">
                <a:latin typeface="Helvetica" pitchFamily="34" charset="0"/>
              </a:rPr>
              <a:t>Travel and tourism products and services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Commonly purchased products and services include:</a:t>
            </a:r>
          </a:p>
          <a:p>
            <a:pPr lvl="0">
              <a:spcBef>
                <a:spcPts val="600"/>
              </a:spcBef>
              <a:spcAft>
                <a:spcPts val="1200"/>
              </a:spcAft>
            </a:pPr>
            <a:r>
              <a:rPr lang="en-AU" sz="2200" dirty="0" smtClean="0">
                <a:latin typeface="Helvetica" pitchFamily="34" charset="0"/>
              </a:rPr>
              <a:t>Tours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Attractions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Activities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Entertainment</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Events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Accommodation </a:t>
            </a: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7" name="Picture 6" descr="W579_shutterstock_50380444.jpg"/>
          <p:cNvPicPr>
            <a:picLocks noChangeAspect="1"/>
          </p:cNvPicPr>
          <p:nvPr/>
        </p:nvPicPr>
        <p:blipFill>
          <a:blip r:embed="rId3" cstate="print"/>
          <a:stretch>
            <a:fillRect/>
          </a:stretch>
        </p:blipFill>
        <p:spPr>
          <a:xfrm>
            <a:off x="5292080" y="3140968"/>
            <a:ext cx="2771800" cy="185550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products and services offered</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Travel and tourism products and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Amenities and services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Airlines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Car hire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Cruises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Transfers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Rail</a:t>
            </a:r>
            <a:endParaRPr lang="en-US" sz="2200" dirty="0" smtClean="0">
              <a:latin typeface="Helvetica" pitchFamily="34" charset="0"/>
            </a:endParaRPr>
          </a:p>
          <a:p>
            <a:pPr>
              <a:spcBef>
                <a:spcPts val="600"/>
              </a:spcBef>
              <a:spcAft>
                <a:spcPts val="1200"/>
              </a:spcAft>
              <a:buNone/>
            </a:pPr>
            <a:r>
              <a:rPr lang="en-AU" sz="2200" dirty="0" smtClean="0">
                <a:solidFill>
                  <a:srgbClr val="FF6600"/>
                </a:solidFill>
              </a:rPr>
              <a:t>COMPLETE ACTIVITY 3</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6" name="Picture 5" descr="shutterstock_30589195.jpg"/>
          <p:cNvPicPr>
            <a:picLocks noChangeAspect="1"/>
          </p:cNvPicPr>
          <p:nvPr/>
        </p:nvPicPr>
        <p:blipFill>
          <a:blip r:embed="rId3" cstate="print"/>
          <a:stretch>
            <a:fillRect/>
          </a:stretch>
        </p:blipFill>
        <p:spPr>
          <a:xfrm>
            <a:off x="5796136" y="2996952"/>
            <a:ext cx="2100064" cy="1360841"/>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Types of customers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Different types of </a:t>
            </a:r>
            <a:r>
              <a:rPr lang="en-US" sz="2200" b="1" dirty="0" smtClean="0">
                <a:latin typeface="Helvetica" pitchFamily="34" charset="0"/>
              </a:rPr>
              <a:t>customers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Existing customers</a:t>
            </a:r>
          </a:p>
          <a:p>
            <a:pPr lvl="0">
              <a:spcBef>
                <a:spcPts val="600"/>
              </a:spcBef>
              <a:spcAft>
                <a:spcPts val="1200"/>
              </a:spcAft>
            </a:pPr>
            <a:r>
              <a:rPr lang="en-US" sz="2200" dirty="0" smtClean="0">
                <a:latin typeface="Helvetica" pitchFamily="34" charset="0"/>
              </a:rPr>
              <a:t>Potential customers</a:t>
            </a:r>
          </a:p>
          <a:p>
            <a:pPr lvl="0">
              <a:spcBef>
                <a:spcPts val="600"/>
              </a:spcBef>
              <a:spcAft>
                <a:spcPts val="1200"/>
              </a:spcAft>
            </a:pPr>
            <a:r>
              <a:rPr lang="en-US" sz="2200" dirty="0" smtClean="0">
                <a:latin typeface="Helvetica" pitchFamily="34" charset="0"/>
              </a:rPr>
              <a:t>Different market segments</a:t>
            </a:r>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7" name="Picture 6" descr="shutterstock_122825338.jpg"/>
          <p:cNvPicPr/>
          <p:nvPr/>
        </p:nvPicPr>
        <p:blipFill>
          <a:blip r:embed="rId3" cstate="print"/>
          <a:stretch>
            <a:fillRect/>
          </a:stretch>
        </p:blipFill>
        <p:spPr>
          <a:xfrm>
            <a:off x="5796136" y="2132856"/>
            <a:ext cx="2268835" cy="148855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Types of customers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Common customer segments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Business</a:t>
            </a:r>
          </a:p>
          <a:p>
            <a:pPr>
              <a:spcBef>
                <a:spcPts val="600"/>
              </a:spcBef>
              <a:spcAft>
                <a:spcPts val="1200"/>
              </a:spcAft>
            </a:pPr>
            <a:r>
              <a:rPr lang="en-AU" sz="2200" dirty="0" smtClean="0">
                <a:latin typeface="Helvetica" pitchFamily="34" charset="0"/>
              </a:rPr>
              <a:t>Leisure</a:t>
            </a:r>
            <a:endParaRPr lang="en-US" sz="2200" dirty="0" smtClean="0">
              <a:latin typeface="Helvetica" pitchFamily="34" charset="0"/>
            </a:endParaRPr>
          </a:p>
          <a:p>
            <a:pPr lvl="0" fontAlgn="ctr">
              <a:spcBef>
                <a:spcPts val="600"/>
              </a:spcBef>
              <a:spcAft>
                <a:spcPts val="1200"/>
              </a:spcAft>
            </a:pPr>
            <a:r>
              <a:rPr lang="en-US" sz="2200" dirty="0" smtClean="0">
                <a:latin typeface="Helvetica" pitchFamily="34" charset="0"/>
              </a:rPr>
              <a:t>FIT (Free Independent Travelers)</a:t>
            </a:r>
          </a:p>
          <a:p>
            <a:pPr lvl="0" fontAlgn="ctr">
              <a:spcBef>
                <a:spcPts val="600"/>
              </a:spcBef>
              <a:spcAft>
                <a:spcPts val="1200"/>
              </a:spcAft>
            </a:pPr>
            <a:r>
              <a:rPr lang="en-US" sz="2200" dirty="0" smtClean="0">
                <a:latin typeface="Helvetica" pitchFamily="34" charset="0"/>
              </a:rPr>
              <a:t>Tours / coach groups </a:t>
            </a:r>
          </a:p>
          <a:p>
            <a:pPr lvl="0" fontAlgn="ctr">
              <a:spcBef>
                <a:spcPts val="600"/>
              </a:spcBef>
              <a:spcAft>
                <a:spcPts val="1200"/>
              </a:spcAft>
            </a:pPr>
            <a:r>
              <a:rPr lang="en-US" sz="2200" dirty="0" smtClean="0">
                <a:latin typeface="Helvetica" pitchFamily="34" charset="0"/>
              </a:rPr>
              <a:t>Honeymooners</a:t>
            </a:r>
          </a:p>
          <a:p>
            <a:pPr lvl="0" fontAlgn="ctr">
              <a:spcBef>
                <a:spcPts val="600"/>
              </a:spcBef>
              <a:spcAft>
                <a:spcPts val="1200"/>
              </a:spcAft>
            </a:pPr>
            <a:r>
              <a:rPr lang="en-US" sz="2200" dirty="0" smtClean="0">
                <a:latin typeface="Helvetica" pitchFamily="34" charset="0"/>
              </a:rPr>
              <a:t>Families</a:t>
            </a:r>
          </a:p>
          <a:p>
            <a:pPr lvl="0" fontAlgn="ctr">
              <a:spcBef>
                <a:spcPts val="600"/>
              </a:spcBef>
              <a:spcAft>
                <a:spcPts val="1200"/>
              </a:spcAft>
            </a:pPr>
            <a:r>
              <a:rPr lang="en-US" sz="2200" dirty="0" smtClean="0">
                <a:latin typeface="Helvetica" pitchFamily="34" charset="0"/>
              </a:rPr>
              <a:t>Elderly</a:t>
            </a:r>
          </a:p>
          <a:p>
            <a:endParaRPr lang="en-US" sz="2400" dirty="0" smtClean="0"/>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shutterstock_156692717.jpg"/>
          <p:cNvPicPr/>
          <p:nvPr/>
        </p:nvPicPr>
        <p:blipFill>
          <a:blip r:embed="rId3" cstate="print"/>
          <a:stretch>
            <a:fillRect/>
          </a:stretch>
        </p:blipFill>
        <p:spPr>
          <a:xfrm>
            <a:off x="6300192" y="3933056"/>
            <a:ext cx="2009775" cy="134302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Types of customers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AU" sz="2200" b="1" dirty="0" smtClean="0">
                <a:latin typeface="Helvetica" pitchFamily="34" charset="0"/>
              </a:rPr>
              <a:t>Common customer segments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Religious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Sporting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Outbound Tourists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Inbound Tourists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Domestic Tourists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International Tourists</a:t>
            </a:r>
            <a:endParaRPr lang="en-US" sz="2200" dirty="0" smtClean="0">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4</a:t>
            </a:r>
            <a:endParaRPr lang="en-US" sz="2200" dirty="0" smtClean="0">
              <a:latin typeface="Helvetica" pitchFamily="34" charset="0"/>
            </a:endParaRPr>
          </a:p>
          <a:p>
            <a:endParaRPr lang="en-US" sz="2400" dirty="0" smtClean="0"/>
          </a:p>
          <a:p>
            <a:pPr>
              <a:spcBef>
                <a:spcPts val="600"/>
              </a:spcBef>
              <a:spcAft>
                <a:spcPts val="1200"/>
              </a:spcAft>
            </a:pPr>
            <a:endParaRPr lang="en-US" sz="2200" dirty="0" smtClean="0">
              <a:latin typeface="Helvetica" pitchFamily="34" charset="0"/>
            </a:endParaRPr>
          </a:p>
          <a:p>
            <a:endParaRPr lang="en-US" sz="2400" dirty="0" smtClean="0"/>
          </a:p>
          <a:p>
            <a:endParaRPr lang="en-US" sz="2400" dirty="0" smtClean="0"/>
          </a:p>
          <a:p>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7" name="Picture 6" descr="shutterstock_82771594.jpg"/>
          <p:cNvPicPr/>
          <p:nvPr/>
        </p:nvPicPr>
        <p:blipFill>
          <a:blip r:embed="rId3" cstate="print"/>
          <a:stretch>
            <a:fillRect/>
          </a:stretch>
        </p:blipFill>
        <p:spPr>
          <a:xfrm>
            <a:off x="6372200" y="3789040"/>
            <a:ext cx="1802765" cy="120015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Researching travel and tourism information</a:t>
            </a:r>
          </a:p>
          <a:p>
            <a:pPr>
              <a:spcBef>
                <a:spcPts val="600"/>
              </a:spcBef>
              <a:spcAft>
                <a:spcPts val="1200"/>
              </a:spcAft>
            </a:pPr>
            <a:r>
              <a:rPr lang="en-AU" sz="2200" dirty="0" smtClean="0">
                <a:latin typeface="Helvetica" pitchFamily="34" charset="0"/>
              </a:rPr>
              <a:t>Once you have reviewed and understood the core features of the organisation, it is important to review and research other aspects that will affect the future strategic direction of the organisation</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7" name="Picture 6" descr="shutterstock_98921651.jpg"/>
          <p:cNvPicPr>
            <a:picLocks noChangeAspect="1"/>
          </p:cNvPicPr>
          <p:nvPr/>
        </p:nvPicPr>
        <p:blipFill>
          <a:blip r:embed="rId3" cstate="print"/>
          <a:stretch>
            <a:fillRect/>
          </a:stretch>
        </p:blipFill>
        <p:spPr>
          <a:xfrm>
            <a:off x="3563888" y="4221088"/>
            <a:ext cx="1955832" cy="130454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Collect primary and secondary data</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Data is a piece of information that can be collected and interpreted by an organisation for their use.</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two most common sources of data 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Primary data – collected for a specific purpose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Secondary data – generic information</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6" name="Picture 5" descr="shutterstock_143143042.jpg"/>
          <p:cNvPicPr/>
          <p:nvPr/>
        </p:nvPicPr>
        <p:blipFill>
          <a:blip r:embed="rId3" cstate="print"/>
          <a:stretch>
            <a:fillRect/>
          </a:stretch>
        </p:blipFill>
        <p:spPr>
          <a:xfrm>
            <a:off x="7164288" y="2708920"/>
            <a:ext cx="1235199" cy="1701924"/>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Primary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Primary data</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Primary research data is newly generated research information that you yourself or the organisation create.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surveys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In-house questionnaires and feedback sheets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Focus groups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Electronic responses on the website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Observation</a:t>
            </a: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6" name="Picture 5" descr="shutterstock_161774252.jpg"/>
          <p:cNvPicPr/>
          <p:nvPr/>
        </p:nvPicPr>
        <p:blipFill>
          <a:blip r:embed="rId3" cstate="print"/>
          <a:stretch>
            <a:fillRect/>
          </a:stretch>
        </p:blipFill>
        <p:spPr>
          <a:xfrm>
            <a:off x="7092280" y="3212976"/>
            <a:ext cx="1205989" cy="1673349"/>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Primary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Qualitative or quantitative research</a:t>
            </a:r>
          </a:p>
          <a:p>
            <a:pPr>
              <a:spcBef>
                <a:spcPts val="600"/>
              </a:spcBef>
              <a:spcAft>
                <a:spcPts val="1200"/>
              </a:spcAft>
              <a:buNone/>
            </a:pPr>
            <a:r>
              <a:rPr lang="en-AU" sz="2200" dirty="0" smtClean="0">
                <a:latin typeface="Helvetica" pitchFamily="34" charset="0"/>
              </a:rPr>
              <a:t>Primary data is considered to be either:</a:t>
            </a:r>
          </a:p>
          <a:p>
            <a:pPr>
              <a:spcBef>
                <a:spcPts val="600"/>
              </a:spcBef>
              <a:spcAft>
                <a:spcPts val="1200"/>
              </a:spcAft>
            </a:pPr>
            <a:r>
              <a:rPr lang="en-AU" sz="2200" dirty="0" smtClean="0">
                <a:latin typeface="Helvetica" pitchFamily="34" charset="0"/>
              </a:rPr>
              <a:t>Qualitative research</a:t>
            </a:r>
          </a:p>
          <a:p>
            <a:pPr>
              <a:spcBef>
                <a:spcPts val="600"/>
              </a:spcBef>
              <a:spcAft>
                <a:spcPts val="1200"/>
              </a:spcAft>
            </a:pPr>
            <a:r>
              <a:rPr lang="en-AU" sz="2200" dirty="0" smtClean="0">
                <a:latin typeface="Helvetica" pitchFamily="34" charset="0"/>
              </a:rPr>
              <a:t>Quantitative research</a:t>
            </a: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shutterstock_117432550.jpg"/>
          <p:cNvPicPr/>
          <p:nvPr/>
        </p:nvPicPr>
        <p:blipFill>
          <a:blip r:embed="rId3" cstate="print"/>
          <a:stretch>
            <a:fillRect/>
          </a:stretch>
        </p:blipFill>
        <p:spPr>
          <a:xfrm>
            <a:off x="6084168" y="2492896"/>
            <a:ext cx="2247692" cy="1425501"/>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Primary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000"/>
              </a:spcAft>
              <a:buNone/>
            </a:pPr>
            <a:r>
              <a:rPr lang="en-AU" sz="2200" b="1" dirty="0" smtClean="0">
                <a:latin typeface="Helvetica" pitchFamily="34" charset="0"/>
              </a:rPr>
              <a:t>Qualitative research </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Qualitative research does not look at numbers but tries to find out the reasoning behind certain actions, procedures, activities or ways of thought</a:t>
            </a:r>
            <a:endParaRPr lang="en-US" sz="2200" dirty="0" smtClean="0">
              <a:latin typeface="Helvetica" pitchFamily="34" charset="0"/>
            </a:endParaRPr>
          </a:p>
          <a:p>
            <a:pPr>
              <a:spcBef>
                <a:spcPts val="600"/>
              </a:spcBef>
              <a:spcAft>
                <a:spcPts val="1000"/>
              </a:spcAft>
              <a:buNone/>
            </a:pPr>
            <a:r>
              <a:rPr lang="en-AU" sz="2200" b="1" dirty="0" smtClean="0">
                <a:latin typeface="Helvetica" pitchFamily="34" charset="0"/>
              </a:rPr>
              <a:t>Quantitative research </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Quantitative research is market research, based on structured, closed-ended questionnaires, which aims to gather responses that can be summarised in numbers</a:t>
            </a:r>
            <a:endParaRPr lang="en-US" sz="2200" dirty="0" smtClean="0">
              <a:latin typeface="Helvetica" pitchFamily="34" charset="0"/>
            </a:endParaRPr>
          </a:p>
          <a:p>
            <a:pPr>
              <a:spcBef>
                <a:spcPts val="600"/>
              </a:spcBef>
              <a:spcAft>
                <a:spcPts val="1000"/>
              </a:spcAft>
              <a:buNone/>
            </a:pPr>
            <a:endParaRPr lang="en-US" sz="2200" dirty="0" smtClean="0"/>
          </a:p>
          <a:p>
            <a:pPr>
              <a:spcBef>
                <a:spcPts val="600"/>
              </a:spcBef>
              <a:spcAft>
                <a:spcPts val="1000"/>
              </a:spcAft>
              <a:buNone/>
            </a:pPr>
            <a:endParaRPr lang="en-US" sz="2200" dirty="0" smtClean="0"/>
          </a:p>
          <a:p>
            <a:pPr>
              <a:spcBef>
                <a:spcPts val="600"/>
              </a:spcBef>
              <a:spcAft>
                <a:spcPts val="1000"/>
              </a:spcAft>
            </a:pPr>
            <a:endParaRPr lang="en-AU" sz="2200" b="1" dirty="0" smtClean="0"/>
          </a:p>
          <a:p>
            <a:pPr>
              <a:spcBef>
                <a:spcPts val="600"/>
              </a:spcBef>
              <a:spcAft>
                <a:spcPts val="1000"/>
              </a:spcAft>
            </a:pPr>
            <a:endParaRPr lang="en-US" sz="2200" dirty="0" smtClean="0"/>
          </a:p>
          <a:p>
            <a:pPr>
              <a:spcBef>
                <a:spcPts val="600"/>
              </a:spcBef>
              <a:spcAft>
                <a:spcPts val="1000"/>
              </a:spcAft>
            </a:pPr>
            <a:endParaRPr lang="en-US" sz="2200" b="1" dirty="0" smtClean="0">
              <a:latin typeface="Helvetica" pitchFamily="34" charset="0"/>
            </a:endParaRPr>
          </a:p>
          <a:p>
            <a:pPr>
              <a:spcBef>
                <a:spcPts val="600"/>
              </a:spcBef>
              <a:spcAft>
                <a:spcPts val="1000"/>
              </a:spcAft>
            </a:pPr>
            <a:endParaRPr lang="en-US" sz="2200" b="1" dirty="0" smtClean="0"/>
          </a:p>
          <a:p>
            <a:pPr>
              <a:spcBef>
                <a:spcPts val="600"/>
              </a:spcBef>
              <a:spcAft>
                <a:spcPts val="10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descr="shutterstock_179800145.jpg"/>
          <p:cNvPicPr>
            <a:picLocks noChangeAspect="1"/>
          </p:cNvPicPr>
          <p:nvPr/>
        </p:nvPicPr>
        <p:blipFill>
          <a:blip r:embed="rId3" cstate="print"/>
          <a:stretch>
            <a:fillRect/>
          </a:stretch>
        </p:blipFill>
        <p:spPr>
          <a:xfrm>
            <a:off x="3396726" y="5229200"/>
            <a:ext cx="2051202" cy="1368152"/>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secondary data</a:t>
            </a:r>
          </a:p>
          <a:p>
            <a:pPr>
              <a:spcBef>
                <a:spcPts val="600"/>
              </a:spcBef>
              <a:spcAft>
                <a:spcPts val="1200"/>
              </a:spcAft>
              <a:buNone/>
            </a:pPr>
            <a:r>
              <a:rPr lang="en-AU" sz="2200" dirty="0" smtClean="0">
                <a:latin typeface="Helvetica" pitchFamily="34" charset="0"/>
              </a:rPr>
              <a:t>Secondary data is information that already exists. </a:t>
            </a:r>
          </a:p>
          <a:p>
            <a:pPr>
              <a:spcBef>
                <a:spcPts val="600"/>
              </a:spcBef>
              <a:spcAft>
                <a:spcPts val="1200"/>
              </a:spcAft>
              <a:buNone/>
            </a:pPr>
            <a:r>
              <a:rPr lang="en-AU" sz="2200" dirty="0" smtClean="0">
                <a:latin typeface="Helvetica" pitchFamily="34" charset="0"/>
              </a:rPr>
              <a:t>It just needs to be found.</a:t>
            </a:r>
          </a:p>
          <a:p>
            <a:pPr>
              <a:spcBef>
                <a:spcPts val="600"/>
              </a:spcBef>
              <a:spcAft>
                <a:spcPts val="1200"/>
              </a:spcAft>
            </a:pPr>
            <a:r>
              <a:rPr lang="en-AU" sz="2200" dirty="0" smtClean="0">
                <a:latin typeface="Helvetica" pitchFamily="34" charset="0"/>
              </a:rPr>
              <a:t>What are the benefits of secondary data?</a:t>
            </a:r>
          </a:p>
          <a:p>
            <a:pPr>
              <a:spcBef>
                <a:spcPts val="600"/>
              </a:spcBef>
              <a:spcAft>
                <a:spcPts val="1200"/>
              </a:spcAft>
            </a:pPr>
            <a:r>
              <a:rPr lang="en-US" sz="2200" dirty="0" smtClean="0">
                <a:latin typeface="Helvetica" pitchFamily="34" charset="0"/>
              </a:rPr>
              <a:t>What are sources of secondary data?</a:t>
            </a: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descr="W196_meeting_discussion_shutterstock_155875358.jpg"/>
          <p:cNvPicPr>
            <a:picLocks noChangeAspect="1"/>
          </p:cNvPicPr>
          <p:nvPr/>
        </p:nvPicPr>
        <p:blipFill>
          <a:blip r:embed="rId3" cstate="print"/>
          <a:stretch>
            <a:fillRect/>
          </a:stretch>
        </p:blipFill>
        <p:spPr>
          <a:xfrm>
            <a:off x="3419872" y="4581128"/>
            <a:ext cx="1946348" cy="1399424"/>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6264696" cy="5301208"/>
          </a:xfrm>
        </p:spPr>
        <p:txBody>
          <a:bodyPr>
            <a:normAutofit/>
          </a:bodyPr>
          <a:lstStyle/>
          <a:p>
            <a:pPr>
              <a:spcBef>
                <a:spcPts val="600"/>
              </a:spcBef>
              <a:spcAft>
                <a:spcPts val="1200"/>
              </a:spcAft>
              <a:buNone/>
            </a:pPr>
            <a:r>
              <a:rPr lang="en-AU" sz="2200" b="1" dirty="0" smtClean="0">
                <a:latin typeface="Helvetica" pitchFamily="34" charset="0"/>
              </a:rPr>
              <a:t>Types of secondary data</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Domestic and international visitor statistics on departures, expenditure, visitor nights</a:t>
            </a:r>
          </a:p>
          <a:p>
            <a:pPr lvl="0">
              <a:spcBef>
                <a:spcPts val="600"/>
              </a:spcBef>
              <a:spcAft>
                <a:spcPts val="1200"/>
              </a:spcAft>
            </a:pPr>
            <a:r>
              <a:rPr lang="en-US" sz="2200" dirty="0" smtClean="0">
                <a:latin typeface="Helvetica" pitchFamily="34" charset="0"/>
              </a:rPr>
              <a:t>Visitor profiles including tourist origins, volume, purpose of trip, seasonality, accommodation, transport and expenditure</a:t>
            </a:r>
          </a:p>
          <a:p>
            <a:pPr lvl="0">
              <a:spcBef>
                <a:spcPts val="600"/>
              </a:spcBef>
              <a:spcAft>
                <a:spcPts val="1200"/>
              </a:spcAft>
            </a:pPr>
            <a:r>
              <a:rPr lang="en-US" sz="2200" dirty="0" smtClean="0">
                <a:latin typeface="Helvetica" pitchFamily="34" charset="0"/>
              </a:rPr>
              <a:t>Industry and government research reports on industry trends, current development activity and forecasts of future developments</a:t>
            </a: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6" name="Picture 5" descr="shutterstock_117432550.jpg"/>
          <p:cNvPicPr/>
          <p:nvPr/>
        </p:nvPicPr>
        <p:blipFill>
          <a:blip r:embed="rId3" cstate="print"/>
          <a:stretch>
            <a:fillRect/>
          </a:stretch>
        </p:blipFill>
        <p:spPr>
          <a:xfrm>
            <a:off x="7020272" y="2996952"/>
            <a:ext cx="1777568" cy="1152128"/>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secondary data</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Client feedback </a:t>
            </a:r>
          </a:p>
          <a:p>
            <a:pPr lvl="0">
              <a:spcBef>
                <a:spcPts val="600"/>
              </a:spcBef>
              <a:spcAft>
                <a:spcPts val="1200"/>
              </a:spcAft>
            </a:pPr>
            <a:r>
              <a:rPr lang="en-US" sz="2200" dirty="0" smtClean="0">
                <a:latin typeface="Helvetica" pitchFamily="34" charset="0"/>
              </a:rPr>
              <a:t>Feasibility studies for new developments or products</a:t>
            </a:r>
          </a:p>
          <a:p>
            <a:pPr lvl="0">
              <a:spcBef>
                <a:spcPts val="600"/>
              </a:spcBef>
              <a:spcAft>
                <a:spcPts val="1200"/>
              </a:spcAft>
            </a:pPr>
            <a:r>
              <a:rPr lang="en-US" sz="2200" dirty="0" smtClean="0">
                <a:latin typeface="Helvetica" pitchFamily="34" charset="0"/>
              </a:rPr>
              <a:t>Responses to surveys, questionnaires on preferences, needs and current tourist activities</a:t>
            </a: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A20 shutterstock_182023328.jpg"/>
          <p:cNvPicPr>
            <a:picLocks noChangeAspect="1"/>
          </p:cNvPicPr>
          <p:nvPr/>
        </p:nvPicPr>
        <p:blipFill>
          <a:blip r:embed="rId3" cstate="print"/>
          <a:stretch>
            <a:fillRect/>
          </a:stretch>
        </p:blipFill>
        <p:spPr>
          <a:xfrm>
            <a:off x="3851920" y="4293096"/>
            <a:ext cx="1892907" cy="157962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6840760" cy="5301208"/>
          </a:xfrm>
        </p:spPr>
        <p:txBody>
          <a:bodyPr>
            <a:normAutofit lnSpcReduction="10000"/>
          </a:bodyPr>
          <a:lstStyle/>
          <a:p>
            <a:pPr>
              <a:spcBef>
                <a:spcPts val="600"/>
              </a:spcBef>
              <a:spcAft>
                <a:spcPts val="1200"/>
              </a:spcAft>
              <a:buNone/>
            </a:pPr>
            <a:r>
              <a:rPr lang="en-AU" sz="2200" b="1" dirty="0" smtClean="0">
                <a:latin typeface="Helvetica" pitchFamily="34" charset="0"/>
              </a:rPr>
              <a:t>Sources of secondary data</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Government statistics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Libraries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Government websites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Private market research firms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Trade, professional and business associations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Newspapers and magazines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and industry-specific journals and periodicals</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descr="shutterstock_136866284.jpg"/>
          <p:cNvPicPr/>
          <p:nvPr/>
        </p:nvPicPr>
        <p:blipFill>
          <a:blip r:embed="rId3" cstate="print"/>
          <a:stretch>
            <a:fillRect/>
          </a:stretch>
        </p:blipFill>
        <p:spPr>
          <a:xfrm>
            <a:off x="6516216" y="2708920"/>
            <a:ext cx="1422400" cy="157162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900"/>
              </a:spcAft>
              <a:buNone/>
            </a:pPr>
            <a:r>
              <a:rPr lang="en-AU" sz="2200" b="1" dirty="0" smtClean="0">
                <a:latin typeface="Helvetica" pitchFamily="34" charset="0"/>
              </a:rPr>
              <a:t>Sources of data</a:t>
            </a:r>
            <a:endParaRPr lang="en-US" sz="2200" dirty="0" smtClean="0">
              <a:latin typeface="Helvetica" pitchFamily="34" charset="0"/>
            </a:endParaRPr>
          </a:p>
          <a:p>
            <a:pPr marL="0">
              <a:spcBef>
                <a:spcPts val="600"/>
              </a:spcBef>
              <a:spcAft>
                <a:spcPts val="900"/>
              </a:spcAft>
              <a:buNone/>
            </a:pPr>
            <a:r>
              <a:rPr lang="en-AU" sz="2200" dirty="0" smtClean="0">
                <a:latin typeface="Helvetica" pitchFamily="34" charset="0"/>
              </a:rPr>
              <a:t>Data may be collected through endless sources, including but not limited to:</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Interviewing colleagues and clients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Focus groups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Data analysis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Product sampling</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Documentation reviews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Brochures/DVDs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Industry statistics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6" name="Picture 5" descr="W616_shutterstock_74684551.jpg"/>
          <p:cNvPicPr/>
          <p:nvPr/>
        </p:nvPicPr>
        <p:blipFill>
          <a:blip r:embed="rId3" cstate="print"/>
          <a:stretch>
            <a:fillRect/>
          </a:stretch>
        </p:blipFill>
        <p:spPr>
          <a:xfrm>
            <a:off x="5940152" y="3573016"/>
            <a:ext cx="2124566" cy="1464171"/>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Sources of data</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Trade journals </a:t>
            </a:r>
          </a:p>
          <a:p>
            <a:pPr lvl="0">
              <a:spcBef>
                <a:spcPts val="600"/>
              </a:spcBef>
              <a:spcAft>
                <a:spcPts val="1200"/>
              </a:spcAft>
            </a:pPr>
            <a:r>
              <a:rPr lang="en-US" sz="2200" dirty="0" smtClean="0">
                <a:latin typeface="Helvetica" pitchFamily="34" charset="0"/>
              </a:rPr>
              <a:t>Daily newspapers </a:t>
            </a:r>
          </a:p>
          <a:p>
            <a:pPr lvl="0">
              <a:spcBef>
                <a:spcPts val="600"/>
              </a:spcBef>
              <a:spcAft>
                <a:spcPts val="1200"/>
              </a:spcAft>
            </a:pPr>
            <a:r>
              <a:rPr lang="en-US" sz="2200" dirty="0" smtClean="0">
                <a:latin typeface="Helvetica" pitchFamily="34" charset="0"/>
              </a:rPr>
              <a:t>Internet </a:t>
            </a:r>
          </a:p>
          <a:p>
            <a:pPr lvl="0">
              <a:spcBef>
                <a:spcPts val="600"/>
              </a:spcBef>
              <a:spcAft>
                <a:spcPts val="1200"/>
              </a:spcAft>
            </a:pPr>
            <a:r>
              <a:rPr lang="en-US" sz="2200" dirty="0" smtClean="0">
                <a:latin typeface="Helvetica" pitchFamily="34" charset="0"/>
              </a:rPr>
              <a:t>Government departments </a:t>
            </a:r>
          </a:p>
          <a:p>
            <a:pPr lvl="0">
              <a:spcBef>
                <a:spcPts val="600"/>
              </a:spcBef>
              <a:spcAft>
                <a:spcPts val="1200"/>
              </a:spcAft>
            </a:pPr>
            <a:r>
              <a:rPr lang="en-US" sz="2200" dirty="0" smtClean="0">
                <a:latin typeface="Helvetica" pitchFamily="34" charset="0"/>
              </a:rPr>
              <a:t>Local council </a:t>
            </a:r>
          </a:p>
          <a:p>
            <a:pPr lvl="0">
              <a:spcBef>
                <a:spcPts val="600"/>
              </a:spcBef>
              <a:spcAft>
                <a:spcPts val="1200"/>
              </a:spcAft>
            </a:pPr>
            <a:r>
              <a:rPr lang="en-US" sz="2200" dirty="0" smtClean="0">
                <a:latin typeface="Helvetica" pitchFamily="34" charset="0"/>
              </a:rPr>
              <a:t>Friends, colleagues, business associates </a:t>
            </a:r>
          </a:p>
          <a:p>
            <a:pPr>
              <a:spcBef>
                <a:spcPts val="600"/>
              </a:spcBef>
              <a:spcAft>
                <a:spcPts val="1200"/>
              </a:spcAft>
            </a:pPr>
            <a:r>
              <a:rPr lang="en-US" sz="2200" dirty="0" smtClean="0">
                <a:latin typeface="Helvetica" pitchFamily="34" charset="0"/>
              </a:rPr>
              <a:t>Other associated businesses in the field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1026" name="Picture 2" descr="C:\Documents and Settings\Godaishu\Local Settings\Temporary Internet Files\Content.IE5\NT726O0A\newspaper[1].jpg"/>
          <p:cNvPicPr>
            <a:picLocks noChangeAspect="1" noChangeArrowheads="1"/>
          </p:cNvPicPr>
          <p:nvPr/>
        </p:nvPicPr>
        <p:blipFill>
          <a:blip r:embed="rId3" cstate="print"/>
          <a:srcRect/>
          <a:stretch>
            <a:fillRect/>
          </a:stretch>
        </p:blipFill>
        <p:spPr bwMode="auto">
          <a:xfrm>
            <a:off x="6444208" y="2492896"/>
            <a:ext cx="1656184" cy="1900848"/>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Identify current marketing situation</a:t>
            </a:r>
            <a:endParaRPr lang="en-US" sz="2200" b="1" dirty="0" smtClean="0">
              <a:latin typeface="Helvetica" pitchFamily="34" charset="0"/>
            </a:endParaRPr>
          </a:p>
          <a:p>
            <a:pPr>
              <a:spcBef>
                <a:spcPts val="600"/>
              </a:spcBef>
              <a:spcAft>
                <a:spcPts val="1200"/>
              </a:spcAft>
            </a:pPr>
            <a:r>
              <a:rPr lang="en-US" sz="2200" dirty="0" smtClean="0">
                <a:latin typeface="Helvetica" pitchFamily="34" charset="0"/>
              </a:rPr>
              <a:t>M</a:t>
            </a:r>
            <a:r>
              <a:rPr lang="en-AU" sz="2200" dirty="0" smtClean="0">
                <a:latin typeface="Helvetica" pitchFamily="34" charset="0"/>
              </a:rPr>
              <a:t>arket situation</a:t>
            </a:r>
          </a:p>
          <a:p>
            <a:pPr>
              <a:spcBef>
                <a:spcPts val="600"/>
              </a:spcBef>
              <a:spcAft>
                <a:spcPts val="1200"/>
              </a:spcAft>
            </a:pPr>
            <a:r>
              <a:rPr lang="en-US" sz="2200" dirty="0" smtClean="0">
                <a:latin typeface="Helvetica" pitchFamily="34" charset="0"/>
              </a:rPr>
              <a:t>P</a:t>
            </a:r>
            <a:r>
              <a:rPr lang="en-AU" sz="2200" dirty="0" smtClean="0">
                <a:latin typeface="Helvetica" pitchFamily="34" charset="0"/>
              </a:rPr>
              <a:t>roduct situation</a:t>
            </a:r>
          </a:p>
          <a:p>
            <a:pPr>
              <a:spcBef>
                <a:spcPts val="600"/>
              </a:spcBef>
              <a:spcAft>
                <a:spcPts val="1200"/>
              </a:spcAft>
            </a:pPr>
            <a:r>
              <a:rPr lang="en-AU" sz="2200" dirty="0" smtClean="0">
                <a:latin typeface="Helvetica" pitchFamily="34" charset="0"/>
              </a:rPr>
              <a:t>Competitive situation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Current strategies</a:t>
            </a: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6" name="Picture 5" descr="Best Tour_129392636.jpg"/>
          <p:cNvPicPr/>
          <p:nvPr/>
        </p:nvPicPr>
        <p:blipFill>
          <a:blip r:embed="rId3" cstate="print"/>
          <a:stretch>
            <a:fillRect/>
          </a:stretch>
        </p:blipFill>
        <p:spPr>
          <a:xfrm>
            <a:off x="5724128" y="2492896"/>
            <a:ext cx="1857549" cy="1598662"/>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buNone/>
            </a:pPr>
            <a:r>
              <a:rPr lang="en-AU" sz="2200" b="1" dirty="0" smtClean="0">
                <a:latin typeface="Helvetica" pitchFamily="34" charset="0"/>
              </a:rPr>
              <a:t>Identify current marketing mix</a:t>
            </a:r>
            <a:endParaRPr lang="en-US" sz="2200" b="1"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7" name="Picture 6"/>
          <p:cNvPicPr/>
          <p:nvPr/>
        </p:nvPicPr>
        <p:blipFill>
          <a:blip r:embed="rId3" cstate="print"/>
          <a:srcRect/>
          <a:stretch>
            <a:fillRect/>
          </a:stretch>
        </p:blipFill>
        <p:spPr bwMode="auto">
          <a:xfrm>
            <a:off x="1331640" y="2204864"/>
            <a:ext cx="6339375" cy="409498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000"/>
              </a:spcAft>
              <a:buNone/>
            </a:pPr>
            <a:r>
              <a:rPr lang="en-US" sz="2200" b="1" dirty="0" smtClean="0">
                <a:latin typeface="Helvetica" pitchFamily="34" charset="0"/>
              </a:rPr>
              <a:t>Conduct a marketing audit</a:t>
            </a:r>
            <a:endParaRPr lang="en-US" sz="2200" dirty="0" smtClean="0">
              <a:latin typeface="Helvetica" pitchFamily="34" charset="0"/>
            </a:endParaRPr>
          </a:p>
          <a:p>
            <a:pPr>
              <a:spcBef>
                <a:spcPts val="600"/>
              </a:spcBef>
              <a:spcAft>
                <a:spcPts val="1000"/>
              </a:spcAft>
            </a:pPr>
            <a:r>
              <a:rPr lang="en-US" sz="2200" dirty="0" smtClean="0">
                <a:latin typeface="Helvetica" pitchFamily="34" charset="0"/>
              </a:rPr>
              <a:t>T</a:t>
            </a:r>
            <a:r>
              <a:rPr lang="en-AU" sz="2200" dirty="0" smtClean="0">
                <a:latin typeface="Helvetica" pitchFamily="34" charset="0"/>
              </a:rPr>
              <a:t>he macro-environment</a:t>
            </a:r>
          </a:p>
          <a:p>
            <a:pPr>
              <a:spcBef>
                <a:spcPts val="600"/>
              </a:spcBef>
              <a:spcAft>
                <a:spcPts val="1000"/>
              </a:spcAft>
            </a:pPr>
            <a:r>
              <a:rPr lang="en-US" sz="2200" dirty="0" smtClean="0">
                <a:latin typeface="Helvetica" pitchFamily="34" charset="0"/>
              </a:rPr>
              <a:t>T</a:t>
            </a:r>
            <a:r>
              <a:rPr lang="en-AU" sz="2200" dirty="0" smtClean="0">
                <a:latin typeface="Helvetica" pitchFamily="34" charset="0"/>
              </a:rPr>
              <a:t>he task environment</a:t>
            </a:r>
            <a:endParaRPr lang="en-US" sz="2200" dirty="0" smtClean="0">
              <a:latin typeface="Helvetica" pitchFamily="34" charset="0"/>
            </a:endParaRPr>
          </a:p>
          <a:p>
            <a:pPr>
              <a:spcBef>
                <a:spcPts val="600"/>
              </a:spcBef>
              <a:spcAft>
                <a:spcPts val="1000"/>
              </a:spcAft>
            </a:pPr>
            <a:r>
              <a:rPr lang="en-US" sz="2200" dirty="0" smtClean="0">
                <a:latin typeface="Helvetica" pitchFamily="34" charset="0"/>
              </a:rPr>
              <a:t>M</a:t>
            </a:r>
            <a:r>
              <a:rPr lang="en-AU" sz="2200" dirty="0" smtClean="0">
                <a:latin typeface="Helvetica" pitchFamily="34" charset="0"/>
              </a:rPr>
              <a:t>arketing strategy audit</a:t>
            </a:r>
            <a:endParaRPr lang="en-US" sz="2200" dirty="0" smtClean="0">
              <a:latin typeface="Helvetica" pitchFamily="34" charset="0"/>
            </a:endParaRPr>
          </a:p>
          <a:p>
            <a:pPr>
              <a:spcBef>
                <a:spcPts val="600"/>
              </a:spcBef>
              <a:spcAft>
                <a:spcPts val="1000"/>
              </a:spcAft>
            </a:pPr>
            <a:r>
              <a:rPr lang="en-US" sz="2200" dirty="0" smtClean="0">
                <a:latin typeface="Helvetica" pitchFamily="34" charset="0"/>
              </a:rPr>
              <a:t>M</a:t>
            </a:r>
            <a:r>
              <a:rPr lang="en-AU" sz="2200" dirty="0" smtClean="0">
                <a:latin typeface="Helvetica" pitchFamily="34" charset="0"/>
              </a:rPr>
              <a:t>arketing organisation audit</a:t>
            </a:r>
            <a:endParaRPr lang="en-US" sz="2200" dirty="0" smtClean="0">
              <a:latin typeface="Helvetica" pitchFamily="34" charset="0"/>
            </a:endParaRPr>
          </a:p>
          <a:p>
            <a:pPr>
              <a:spcBef>
                <a:spcPts val="600"/>
              </a:spcBef>
              <a:spcAft>
                <a:spcPts val="1000"/>
              </a:spcAft>
            </a:pPr>
            <a:r>
              <a:rPr lang="en-US" sz="2200" dirty="0" smtClean="0">
                <a:latin typeface="Helvetica" pitchFamily="34" charset="0"/>
              </a:rPr>
              <a:t>M</a:t>
            </a:r>
            <a:r>
              <a:rPr lang="en-AU" sz="2200" dirty="0" smtClean="0">
                <a:latin typeface="Helvetica" pitchFamily="34" charset="0"/>
              </a:rPr>
              <a:t>arketing systems audit</a:t>
            </a:r>
            <a:endParaRPr lang="en-US" sz="2200" dirty="0" smtClean="0">
              <a:latin typeface="Helvetica" pitchFamily="34" charset="0"/>
            </a:endParaRPr>
          </a:p>
          <a:p>
            <a:pPr>
              <a:spcBef>
                <a:spcPts val="600"/>
              </a:spcBef>
              <a:spcAft>
                <a:spcPts val="1000"/>
              </a:spcAft>
            </a:pPr>
            <a:r>
              <a:rPr lang="en-US" sz="2200" dirty="0" smtClean="0">
                <a:latin typeface="Helvetica" pitchFamily="34" charset="0"/>
              </a:rPr>
              <a:t>M</a:t>
            </a:r>
            <a:r>
              <a:rPr lang="en-AU" sz="2200" dirty="0" smtClean="0">
                <a:latin typeface="Helvetica" pitchFamily="34" charset="0"/>
              </a:rPr>
              <a:t>arketing productivity audit</a:t>
            </a:r>
          </a:p>
          <a:p>
            <a:pPr>
              <a:spcBef>
                <a:spcPts val="600"/>
              </a:spcBef>
              <a:spcAft>
                <a:spcPts val="1000"/>
              </a:spcAft>
            </a:pPr>
            <a:r>
              <a:rPr lang="en-US" sz="2200" dirty="0" smtClean="0">
                <a:latin typeface="Helvetica" pitchFamily="34" charset="0"/>
              </a:rPr>
              <a:t>M</a:t>
            </a:r>
            <a:r>
              <a:rPr lang="en-AU" sz="2200" dirty="0" smtClean="0">
                <a:latin typeface="Helvetica" pitchFamily="34" charset="0"/>
              </a:rPr>
              <a:t>arketing function audit</a:t>
            </a:r>
            <a:endParaRPr lang="en-US" sz="2200" dirty="0" smtClean="0">
              <a:latin typeface="Helvetica" pitchFamily="34" charset="0"/>
            </a:endParaRPr>
          </a:p>
          <a:p>
            <a:pPr>
              <a:spcBef>
                <a:spcPts val="600"/>
              </a:spcBef>
              <a:spcAft>
                <a:spcPts val="1000"/>
              </a:spcAft>
              <a:buNone/>
            </a:pPr>
            <a:r>
              <a:rPr lang="en-AU" sz="2200" dirty="0" smtClean="0">
                <a:solidFill>
                  <a:srgbClr val="FF6600"/>
                </a:solidFill>
              </a:rPr>
              <a:t>COMPLETE ACTIVITY 5</a:t>
            </a:r>
            <a:endParaRPr lang="en-US" sz="2200" dirty="0" smtClean="0">
              <a:latin typeface="Helvetica" pitchFamily="34" charset="0"/>
            </a:endParaRPr>
          </a:p>
          <a:p>
            <a:pPr>
              <a:spcBef>
                <a:spcPts val="600"/>
              </a:spcBef>
              <a:spcAft>
                <a:spcPts val="1000"/>
              </a:spcAft>
            </a:pPr>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8" name="Picture 7" descr="shutterstock_156813770.jpg"/>
          <p:cNvPicPr/>
          <p:nvPr/>
        </p:nvPicPr>
        <p:blipFill>
          <a:blip r:embed="rId3" cstate="print"/>
          <a:stretch>
            <a:fillRect/>
          </a:stretch>
        </p:blipFill>
        <p:spPr>
          <a:xfrm>
            <a:off x="6372200" y="2564904"/>
            <a:ext cx="1702867" cy="1578471"/>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Review business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Areas of business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and bookings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Profit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flow</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Trends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 share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partnerships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Position in the marketplace</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6" name="Picture 5" descr="shutterstock_191506634.jpg"/>
          <p:cNvPicPr/>
          <p:nvPr/>
        </p:nvPicPr>
        <p:blipFill>
          <a:blip r:embed="rId3" cstate="print"/>
          <a:stretch>
            <a:fillRect/>
          </a:stretch>
        </p:blipFill>
        <p:spPr>
          <a:xfrm>
            <a:off x="6228184" y="2871787"/>
            <a:ext cx="1989058" cy="1421309"/>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Review business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256584" cy="4525963"/>
          </a:xfrm>
        </p:spPr>
        <p:txBody>
          <a:bodyPr>
            <a:noAutofit/>
          </a:bodyPr>
          <a:lstStyle/>
          <a:p>
            <a:pPr>
              <a:spcBef>
                <a:spcPts val="600"/>
              </a:spcBef>
              <a:spcAft>
                <a:spcPts val="1200"/>
              </a:spcAft>
              <a:buNone/>
            </a:pPr>
            <a:r>
              <a:rPr lang="en-AU" sz="2200" b="1" dirty="0" smtClean="0">
                <a:latin typeface="Helvetica" pitchFamily="34" charset="0"/>
              </a:rPr>
              <a:t>Areas of business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Position in the marketplace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Image of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strengths and weaknesses of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critical success factors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 name="Picture 4" descr="shutterstock_196231892.jpg"/>
          <p:cNvPicPr>
            <a:picLocks noChangeAspect="1"/>
          </p:cNvPicPr>
          <p:nvPr/>
        </p:nvPicPr>
        <p:blipFill>
          <a:blip r:embed="rId3" cstate="print"/>
          <a:stretch>
            <a:fillRect/>
          </a:stretch>
        </p:blipFill>
        <p:spPr>
          <a:xfrm>
            <a:off x="6084168" y="2564904"/>
            <a:ext cx="2285414" cy="1512944"/>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Review business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Methods to review business performance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different ways to review business performance will vary depending on which aspect of business performance is to be reviewed. </a:t>
            </a:r>
          </a:p>
          <a:p>
            <a:pPr>
              <a:spcBef>
                <a:spcPts val="600"/>
              </a:spcBef>
              <a:spcAft>
                <a:spcPts val="1200"/>
              </a:spcAft>
            </a:pPr>
            <a:r>
              <a:rPr lang="en-AU" sz="2200" dirty="0" smtClean="0">
                <a:latin typeface="Helvetica" pitchFamily="34" charset="0"/>
              </a:rPr>
              <a:t>What are the different methods that can be used to review business performance?</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6" name="Picture 5" descr="W208_travelagent_shutterstock.jpg"/>
          <p:cNvPicPr/>
          <p:nvPr/>
        </p:nvPicPr>
        <p:blipFill>
          <a:blip r:embed="rId3" cstate="print"/>
          <a:stretch>
            <a:fillRect/>
          </a:stretch>
        </p:blipFill>
        <p:spPr>
          <a:xfrm>
            <a:off x="3707904" y="4509120"/>
            <a:ext cx="1685925" cy="130492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Review business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Methods to review business performance</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Reviewing:</a:t>
            </a:r>
          </a:p>
          <a:p>
            <a:pPr>
              <a:spcBef>
                <a:spcPts val="600"/>
              </a:spcBef>
              <a:spcAft>
                <a:spcPts val="1200"/>
              </a:spcAft>
            </a:pPr>
            <a:r>
              <a:rPr lang="en-AU" sz="2200" dirty="0" smtClean="0">
                <a:latin typeface="Helvetica" pitchFamily="34" charset="0"/>
              </a:rPr>
              <a:t>Past records and previous business plans</a:t>
            </a:r>
          </a:p>
          <a:p>
            <a:pPr>
              <a:spcBef>
                <a:spcPts val="600"/>
              </a:spcBef>
              <a:spcAft>
                <a:spcPts val="1200"/>
              </a:spcAft>
            </a:pPr>
            <a:r>
              <a:rPr lang="en-AU" sz="2200" dirty="0" smtClean="0">
                <a:latin typeface="Helvetica" pitchFamily="34" charset="0"/>
              </a:rPr>
              <a:t>Legal business structure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Client feedback</a:t>
            </a:r>
          </a:p>
          <a:p>
            <a:pPr>
              <a:spcBef>
                <a:spcPts val="600"/>
              </a:spcBef>
              <a:spcAft>
                <a:spcPts val="1200"/>
              </a:spcAft>
            </a:pPr>
            <a:r>
              <a:rPr lang="en-AU" sz="2200" dirty="0" smtClean="0">
                <a:latin typeface="Helvetica" pitchFamily="34" charset="0"/>
              </a:rPr>
              <a:t>Service audits</a:t>
            </a:r>
          </a:p>
          <a:p>
            <a:pPr>
              <a:spcBef>
                <a:spcPts val="600"/>
              </a:spcBef>
              <a:spcAft>
                <a:spcPts val="1200"/>
              </a:spcAft>
            </a:pPr>
            <a:r>
              <a:rPr lang="en-AU" sz="2200" dirty="0" smtClean="0">
                <a:latin typeface="Helvetica" pitchFamily="34" charset="0"/>
              </a:rPr>
              <a:t>Public perception of the business</a:t>
            </a:r>
          </a:p>
          <a:p>
            <a:pPr>
              <a:spcBef>
                <a:spcPts val="600"/>
              </a:spcBef>
              <a:spcAft>
                <a:spcPts val="1200"/>
              </a:spcAft>
            </a:pPr>
            <a:r>
              <a:rPr lang="en-AU" sz="2200" dirty="0" smtClean="0">
                <a:latin typeface="Helvetica" pitchFamily="34" charset="0"/>
              </a:rPr>
              <a:t>Financial performance</a:t>
            </a:r>
          </a:p>
          <a:p>
            <a:pPr>
              <a:spcBef>
                <a:spcPts val="600"/>
              </a:spcBef>
              <a:spcAft>
                <a:spcPts val="1200"/>
              </a:spcAft>
              <a:buNone/>
            </a:pPr>
            <a:r>
              <a:rPr lang="en-AU" sz="2200" dirty="0" smtClean="0">
                <a:solidFill>
                  <a:srgbClr val="FF6600"/>
                </a:solidFill>
              </a:rPr>
              <a:t>COMPLETE ACTIVITY 6</a:t>
            </a:r>
            <a:endParaRPr lang="en-US" sz="2200" dirty="0" smtClean="0">
              <a:latin typeface="Helvetica" pitchFamily="34" charset="0"/>
            </a:endParaRPr>
          </a:p>
          <a:p>
            <a:pPr>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7" name="Picture 6" descr="W510_man and lady_holding file_185092082.jpg"/>
          <p:cNvPicPr/>
          <p:nvPr/>
        </p:nvPicPr>
        <p:blipFill>
          <a:blip r:embed="rId3" cstate="print"/>
          <a:stretch>
            <a:fillRect/>
          </a:stretch>
        </p:blipFill>
        <p:spPr>
          <a:xfrm>
            <a:off x="6516216" y="3501008"/>
            <a:ext cx="1673860" cy="134302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Capabilities and resources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Importance of identifying capabilities and resources</a:t>
            </a:r>
          </a:p>
          <a:p>
            <a:pPr marL="0">
              <a:spcBef>
                <a:spcPts val="600"/>
              </a:spcBef>
              <a:spcAft>
                <a:spcPts val="1200"/>
              </a:spcAft>
              <a:buNone/>
            </a:pPr>
            <a:r>
              <a:rPr lang="en-AU" sz="2200" dirty="0" smtClean="0">
                <a:latin typeface="Helvetica" pitchFamily="34" charset="0"/>
              </a:rPr>
              <a:t>The key aspects of achieving business success is through the use of capabilities and resources.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it is important to review the 'end results' as identified in previous sections, it is important to identify the capabilities and resources used in providing products and services to clients.</a:t>
            </a:r>
          </a:p>
          <a:p>
            <a:pPr>
              <a:spcBef>
                <a:spcPts val="600"/>
              </a:spcBef>
              <a:spcAft>
                <a:spcPts val="1200"/>
              </a:spcAft>
            </a:pPr>
            <a:r>
              <a:rPr lang="en-AU" sz="2200" dirty="0" smtClean="0">
                <a:latin typeface="Helvetica" pitchFamily="34" charset="0"/>
              </a:rPr>
              <a:t>What are capabilities?</a:t>
            </a:r>
          </a:p>
          <a:p>
            <a:pPr>
              <a:spcBef>
                <a:spcPts val="600"/>
              </a:spcBef>
              <a:spcAft>
                <a:spcPts val="1200"/>
              </a:spcAft>
            </a:pPr>
            <a:r>
              <a:rPr lang="en-AU" sz="2200" dirty="0" smtClean="0">
                <a:latin typeface="Helvetica" pitchFamily="34" charset="0"/>
              </a:rPr>
              <a:t>What are resources?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7" name="Picture 6" descr="shutterstock_118921213.jpg"/>
          <p:cNvPicPr>
            <a:picLocks noChangeAspect="1"/>
          </p:cNvPicPr>
          <p:nvPr/>
        </p:nvPicPr>
        <p:blipFill>
          <a:blip r:embed="rId3" cstate="print"/>
          <a:stretch>
            <a:fillRect/>
          </a:stretch>
        </p:blipFill>
        <p:spPr>
          <a:xfrm>
            <a:off x="6156176" y="4653136"/>
            <a:ext cx="2387664" cy="1592572"/>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Capabilities and resources</a:t>
            </a:r>
          </a:p>
        </p:txBody>
      </p:sp>
      <p:sp>
        <p:nvSpPr>
          <p:cNvPr id="3" name="Content Placeholder 2"/>
          <p:cNvSpPr>
            <a:spLocks noGrp="1"/>
          </p:cNvSpPr>
          <p:nvPr>
            <p:ph idx="1"/>
          </p:nvPr>
        </p:nvSpPr>
        <p:spPr>
          <a:xfrm>
            <a:off x="611560" y="1556792"/>
            <a:ext cx="7467600" cy="5301208"/>
          </a:xfrm>
        </p:spPr>
        <p:txBody>
          <a:bodyPr>
            <a:normAutofit lnSpcReduction="10000"/>
          </a:bodyPr>
          <a:lstStyle/>
          <a:p>
            <a:pPr>
              <a:spcBef>
                <a:spcPts val="600"/>
              </a:spcBef>
              <a:spcAft>
                <a:spcPts val="600"/>
              </a:spcAft>
              <a:buNone/>
            </a:pPr>
            <a:r>
              <a:rPr lang="en-AU" sz="2200" b="1" dirty="0" smtClean="0">
                <a:latin typeface="Helvetica" pitchFamily="34" charset="0"/>
              </a:rPr>
              <a:t>Types of capabilities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Products and or services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Capacity to produce goods or services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Equipment capacity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Skill level of staff, management and owners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Hours of operation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Communication capabilities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Location/position of the agency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E-business capacity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Need for specialist assistance in certain areas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Maintaining a competitive advantage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6" name="Picture 5" descr="shutterstock_179800145.jpg"/>
          <p:cNvPicPr/>
          <p:nvPr/>
        </p:nvPicPr>
        <p:blipFill>
          <a:blip r:embed="rId3" cstate="print"/>
          <a:stretch>
            <a:fillRect/>
          </a:stretch>
        </p:blipFill>
        <p:spPr>
          <a:xfrm>
            <a:off x="6660232" y="4005064"/>
            <a:ext cx="1859915" cy="123825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Physical resources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These types of resources are essential in performing basic operational activities.</a:t>
            </a:r>
          </a:p>
          <a:p>
            <a:pPr>
              <a:spcBef>
                <a:spcPts val="600"/>
              </a:spcBef>
              <a:spcAft>
                <a:spcPts val="1200"/>
              </a:spcAft>
              <a:buNone/>
            </a:pPr>
            <a:r>
              <a:rPr lang="en-AU" sz="2200" dirty="0" smtClean="0">
                <a:latin typeface="Helvetica" pitchFamily="34" charset="0"/>
              </a:rPr>
              <a:t>They include:</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Raw materials</a:t>
            </a:r>
          </a:p>
          <a:p>
            <a:pPr lvl="0">
              <a:spcBef>
                <a:spcPts val="600"/>
              </a:spcBef>
              <a:spcAft>
                <a:spcPts val="1200"/>
              </a:spcAft>
            </a:pPr>
            <a:r>
              <a:rPr lang="en-AU" sz="2200" dirty="0" smtClean="0">
                <a:latin typeface="Helvetica" pitchFamily="34" charset="0"/>
              </a:rPr>
              <a:t>Stock</a:t>
            </a:r>
          </a:p>
          <a:p>
            <a:pPr lvl="0">
              <a:spcBef>
                <a:spcPts val="600"/>
              </a:spcBef>
              <a:spcAft>
                <a:spcPts val="1200"/>
              </a:spcAft>
            </a:pPr>
            <a:r>
              <a:rPr lang="en-AU" sz="2200" dirty="0" smtClean="0">
                <a:latin typeface="Helvetica" pitchFamily="34" charset="0"/>
              </a:rPr>
              <a:t>Technology</a:t>
            </a:r>
          </a:p>
          <a:p>
            <a:pPr>
              <a:spcBef>
                <a:spcPts val="600"/>
              </a:spcBef>
              <a:spcAft>
                <a:spcPts val="1200"/>
              </a:spcAft>
            </a:pPr>
            <a:r>
              <a:rPr lang="en-AU" sz="2200" dirty="0" smtClean="0">
                <a:latin typeface="Helvetica" pitchFamily="34" charset="0"/>
              </a:rPr>
              <a:t>Location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shutterstock_68250304.jpg"/>
          <p:cNvPicPr/>
          <p:nvPr/>
        </p:nvPicPr>
        <p:blipFill>
          <a:blip r:embed="rId3" cstate="print"/>
          <a:stretch>
            <a:fillRect/>
          </a:stretch>
        </p:blipFill>
        <p:spPr>
          <a:xfrm>
            <a:off x="5940152" y="3356992"/>
            <a:ext cx="2306365" cy="1559992"/>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Financial resources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Types of financial resources include:</a:t>
            </a:r>
          </a:p>
          <a:p>
            <a:pPr lvl="0">
              <a:spcBef>
                <a:spcPts val="600"/>
              </a:spcBef>
              <a:spcAft>
                <a:spcPts val="1200"/>
              </a:spcAft>
            </a:pPr>
            <a:r>
              <a:rPr lang="en-AU" sz="2200" dirty="0" smtClean="0">
                <a:latin typeface="Helvetica" pitchFamily="34" charset="0"/>
              </a:rPr>
              <a:t>Cash</a:t>
            </a:r>
          </a:p>
          <a:p>
            <a:pPr lvl="0">
              <a:spcBef>
                <a:spcPts val="600"/>
              </a:spcBef>
              <a:spcAft>
                <a:spcPts val="1200"/>
              </a:spcAft>
            </a:pPr>
            <a:r>
              <a:rPr lang="en-AU" sz="2200" dirty="0" smtClean="0">
                <a:latin typeface="Helvetica" pitchFamily="34" charset="0"/>
              </a:rPr>
              <a:t>Stock</a:t>
            </a:r>
          </a:p>
          <a:p>
            <a:pPr lvl="0">
              <a:spcBef>
                <a:spcPts val="600"/>
              </a:spcBef>
              <a:spcAft>
                <a:spcPts val="1200"/>
              </a:spcAft>
            </a:pPr>
            <a:r>
              <a:rPr lang="en-AU" sz="2200" dirty="0" smtClean="0">
                <a:latin typeface="Helvetica" pitchFamily="34" charset="0"/>
              </a:rPr>
              <a:t>Equity</a:t>
            </a:r>
          </a:p>
          <a:p>
            <a:pPr lvl="0">
              <a:spcBef>
                <a:spcPts val="600"/>
              </a:spcBef>
              <a:spcAft>
                <a:spcPts val="1200"/>
              </a:spcAft>
            </a:pPr>
            <a:r>
              <a:rPr lang="en-AU" sz="2200" dirty="0" smtClean="0">
                <a:latin typeface="Helvetica" pitchFamily="34" charset="0"/>
              </a:rPr>
              <a:t>Loans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7" name="Picture 6" descr="W424_resources_shutterstock_161870750.jpg"/>
          <p:cNvPicPr/>
          <p:nvPr/>
        </p:nvPicPr>
        <p:blipFill>
          <a:blip r:embed="rId3" cstate="print"/>
          <a:stretch>
            <a:fillRect/>
          </a:stretch>
        </p:blipFill>
        <p:spPr>
          <a:xfrm>
            <a:off x="6084168" y="3068960"/>
            <a:ext cx="1982326" cy="1296913"/>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Human resources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Human resources include:</a:t>
            </a:r>
          </a:p>
          <a:p>
            <a:pPr lvl="0">
              <a:spcBef>
                <a:spcPts val="600"/>
              </a:spcBef>
              <a:spcAft>
                <a:spcPts val="1200"/>
              </a:spcAft>
            </a:pPr>
            <a:r>
              <a:rPr lang="en-AU" sz="2200" dirty="0" smtClean="0">
                <a:latin typeface="Helvetica" pitchFamily="34" charset="0"/>
              </a:rPr>
              <a:t>Physical number of staff</a:t>
            </a:r>
          </a:p>
          <a:p>
            <a:pPr lvl="0">
              <a:spcBef>
                <a:spcPts val="600"/>
              </a:spcBef>
              <a:spcAft>
                <a:spcPts val="1200"/>
              </a:spcAft>
            </a:pPr>
            <a:r>
              <a:rPr lang="en-AU" sz="2200" dirty="0" smtClean="0">
                <a:latin typeface="Helvetica" pitchFamily="34" charset="0"/>
              </a:rPr>
              <a:t>Staff expertise</a:t>
            </a:r>
          </a:p>
          <a:p>
            <a:pPr lvl="0">
              <a:spcBef>
                <a:spcPts val="600"/>
              </a:spcBef>
              <a:spcAft>
                <a:spcPts val="1200"/>
              </a:spcAft>
            </a:pPr>
            <a:r>
              <a:rPr lang="en-AU" sz="2200" dirty="0" smtClean="0">
                <a:latin typeface="Helvetica" pitchFamily="34" charset="0"/>
              </a:rPr>
              <a:t>Skills </a:t>
            </a:r>
          </a:p>
          <a:p>
            <a:pPr>
              <a:spcBef>
                <a:spcPts val="600"/>
              </a:spcBef>
              <a:spcAft>
                <a:spcPts val="1200"/>
              </a:spcAft>
            </a:pPr>
            <a:r>
              <a:rPr lang="en-AU" sz="2200" dirty="0" smtClean="0">
                <a:latin typeface="Helvetica" pitchFamily="34" charset="0"/>
              </a:rPr>
              <a:t>Knowledge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shutterstock_141853249.jpg"/>
          <p:cNvPicPr/>
          <p:nvPr/>
        </p:nvPicPr>
        <p:blipFill>
          <a:blip r:embed="rId3" cstate="print"/>
          <a:stretch>
            <a:fillRect/>
          </a:stretch>
        </p:blipFill>
        <p:spPr>
          <a:xfrm>
            <a:off x="5868144" y="2564904"/>
            <a:ext cx="2253977" cy="1382638"/>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Intangible resources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these are not ‘seen’ they are certainly important in the service industry.</a:t>
            </a:r>
          </a:p>
          <a:p>
            <a:pPr lvl="0">
              <a:spcBef>
                <a:spcPts val="600"/>
              </a:spcBef>
              <a:spcAft>
                <a:spcPts val="1200"/>
              </a:spcAft>
            </a:pPr>
            <a:r>
              <a:rPr lang="en-AU" sz="2200" dirty="0" smtClean="0">
                <a:latin typeface="Helvetica" pitchFamily="34" charset="0"/>
              </a:rPr>
              <a:t>Reputation</a:t>
            </a:r>
          </a:p>
          <a:p>
            <a:pPr lvl="0">
              <a:spcBef>
                <a:spcPts val="600"/>
              </a:spcBef>
              <a:spcAft>
                <a:spcPts val="1200"/>
              </a:spcAft>
            </a:pPr>
            <a:r>
              <a:rPr lang="en-AU" sz="2200" dirty="0" smtClean="0">
                <a:latin typeface="Helvetica" pitchFamily="34" charset="0"/>
              </a:rPr>
              <a:t>Good will</a:t>
            </a:r>
          </a:p>
          <a:p>
            <a:pPr lvl="0">
              <a:spcBef>
                <a:spcPts val="600"/>
              </a:spcBef>
              <a:spcAft>
                <a:spcPts val="1200"/>
              </a:spcAft>
            </a:pPr>
            <a:r>
              <a:rPr lang="en-AU" sz="2200" dirty="0" smtClean="0">
                <a:latin typeface="Helvetica" pitchFamily="34" charset="0"/>
              </a:rPr>
              <a:t>Image</a:t>
            </a:r>
          </a:p>
          <a:p>
            <a:pPr lvl="0">
              <a:spcBef>
                <a:spcPts val="600"/>
              </a:spcBef>
              <a:spcAft>
                <a:spcPts val="1200"/>
              </a:spcAft>
            </a:pPr>
            <a:r>
              <a:rPr lang="en-AU" sz="2200" dirty="0" smtClean="0">
                <a:latin typeface="Helvetica" pitchFamily="34" charset="0"/>
              </a:rPr>
              <a:t>Brand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7" name="Picture 6" descr="W82_Muslim_Lady_Receptionist_shutterstock_133392065.jpg"/>
          <p:cNvPicPr/>
          <p:nvPr/>
        </p:nvPicPr>
        <p:blipFill>
          <a:blip r:embed="rId3" cstate="print"/>
          <a:stretch>
            <a:fillRect/>
          </a:stretch>
        </p:blipFill>
        <p:spPr>
          <a:xfrm>
            <a:off x="6516216" y="2852936"/>
            <a:ext cx="1352550" cy="2028825"/>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Internal factors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Directions the business wishes to take</a:t>
            </a:r>
          </a:p>
          <a:p>
            <a:pPr lvl="0">
              <a:spcBef>
                <a:spcPts val="600"/>
              </a:spcBef>
              <a:spcAft>
                <a:spcPts val="1200"/>
              </a:spcAft>
            </a:pPr>
            <a:r>
              <a:rPr lang="en-AU" sz="2200" dirty="0" smtClean="0">
                <a:latin typeface="Helvetica" pitchFamily="34" charset="0"/>
              </a:rPr>
              <a:t>Target markets</a:t>
            </a:r>
          </a:p>
          <a:p>
            <a:pPr lvl="0">
              <a:spcBef>
                <a:spcPts val="600"/>
              </a:spcBef>
              <a:spcAft>
                <a:spcPts val="1200"/>
              </a:spcAft>
            </a:pPr>
            <a:r>
              <a:rPr lang="en-AU" sz="2200" dirty="0" smtClean="0">
                <a:latin typeface="Helvetica" pitchFamily="34" charset="0"/>
              </a:rPr>
              <a:t>Nature and type of customers </a:t>
            </a:r>
          </a:p>
          <a:p>
            <a:pPr lvl="0">
              <a:spcBef>
                <a:spcPts val="600"/>
              </a:spcBef>
              <a:spcAft>
                <a:spcPts val="1200"/>
              </a:spcAft>
            </a:pPr>
            <a:r>
              <a:rPr lang="en-AU" sz="2200" dirty="0" smtClean="0">
                <a:latin typeface="Helvetica" pitchFamily="34" charset="0"/>
              </a:rPr>
              <a:t>Service levels and standards</a:t>
            </a:r>
          </a:p>
          <a:p>
            <a:pPr lvl="0">
              <a:spcBef>
                <a:spcPts val="600"/>
              </a:spcBef>
              <a:spcAft>
                <a:spcPts val="1200"/>
              </a:spcAft>
            </a:pPr>
            <a:r>
              <a:rPr lang="en-AU" sz="2200" dirty="0" smtClean="0">
                <a:latin typeface="Helvetica" pitchFamily="34" charset="0"/>
              </a:rPr>
              <a:t>Services and products provided</a:t>
            </a:r>
          </a:p>
          <a:p>
            <a:pPr lvl="0">
              <a:spcBef>
                <a:spcPts val="600"/>
              </a:spcBef>
              <a:spcAft>
                <a:spcPts val="1200"/>
              </a:spcAft>
            </a:pPr>
            <a:r>
              <a:rPr lang="en-AU" sz="2200" dirty="0" smtClean="0">
                <a:latin typeface="Helvetica" pitchFamily="34" charset="0"/>
              </a:rPr>
              <a:t>Equipment used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2050" name="Picture 2" descr="C:\Documents and Settings\Godaishu\Desktop\PHOTOS\2014\Proposals\page_detail_zoom_438.jpg"/>
          <p:cNvPicPr>
            <a:picLocks noChangeAspect="1" noChangeArrowheads="1"/>
          </p:cNvPicPr>
          <p:nvPr/>
        </p:nvPicPr>
        <p:blipFill>
          <a:blip r:embed="rId3" cstate="print"/>
          <a:srcRect/>
          <a:stretch>
            <a:fillRect/>
          </a:stretch>
        </p:blipFill>
        <p:spPr bwMode="auto">
          <a:xfrm>
            <a:off x="6637514" y="2924944"/>
            <a:ext cx="1595058" cy="2016224"/>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Internal factors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existing reputation and image of the business</a:t>
            </a:r>
          </a:p>
          <a:p>
            <a:pPr lvl="0">
              <a:spcBef>
                <a:spcPts val="600"/>
              </a:spcBef>
              <a:spcAft>
                <a:spcPts val="1200"/>
              </a:spcAft>
            </a:pPr>
            <a:r>
              <a:rPr lang="en-AU" sz="2200" dirty="0" smtClean="0">
                <a:latin typeface="Helvetica" pitchFamily="34" charset="0"/>
              </a:rPr>
              <a:t>Budget</a:t>
            </a:r>
          </a:p>
          <a:p>
            <a:pPr lvl="0">
              <a:spcBef>
                <a:spcPts val="600"/>
              </a:spcBef>
              <a:spcAft>
                <a:spcPts val="1200"/>
              </a:spcAft>
            </a:pPr>
            <a:r>
              <a:rPr lang="en-AU" sz="2200" dirty="0" smtClean="0">
                <a:latin typeface="Helvetica" pitchFamily="34" charset="0"/>
              </a:rPr>
              <a:t>Style of service</a:t>
            </a:r>
          </a:p>
          <a:p>
            <a:pPr lvl="0">
              <a:spcBef>
                <a:spcPts val="600"/>
              </a:spcBef>
              <a:spcAft>
                <a:spcPts val="1200"/>
              </a:spcAft>
            </a:pPr>
            <a:r>
              <a:rPr lang="en-AU" sz="2200" dirty="0" smtClean="0">
                <a:latin typeface="Helvetica" pitchFamily="34" charset="0"/>
              </a:rPr>
              <a:t>Existing resources</a:t>
            </a:r>
          </a:p>
          <a:p>
            <a:pPr lvl="0">
              <a:spcBef>
                <a:spcPts val="600"/>
              </a:spcBef>
              <a:spcAft>
                <a:spcPts val="1200"/>
              </a:spcAft>
            </a:pPr>
            <a:r>
              <a:rPr lang="en-AU" sz="2200" dirty="0" smtClean="0">
                <a:latin typeface="Helvetica" pitchFamily="34" charset="0"/>
              </a:rPr>
              <a:t>Volume of customers</a:t>
            </a:r>
          </a:p>
          <a:p>
            <a:pPr lvl="0">
              <a:spcBef>
                <a:spcPts val="600"/>
              </a:spcBef>
              <a:spcAft>
                <a:spcPts val="1200"/>
              </a:spcAft>
            </a:pPr>
            <a:r>
              <a:rPr lang="en-AU" sz="2200" dirty="0" smtClean="0">
                <a:latin typeface="Helvetica" pitchFamily="34" charset="0"/>
              </a:rPr>
              <a:t>Promises made</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7" name="Picture 6" descr="shutterstock_148416917.jpg"/>
          <p:cNvPicPr/>
          <p:nvPr/>
        </p:nvPicPr>
        <p:blipFill>
          <a:blip r:embed="rId3" cstate="print"/>
          <a:stretch>
            <a:fillRect/>
          </a:stretch>
        </p:blipFill>
        <p:spPr>
          <a:xfrm>
            <a:off x="6156176" y="3429000"/>
            <a:ext cx="1746885" cy="126682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External factors</a:t>
            </a:r>
          </a:p>
          <a:p>
            <a:pPr lvl="0">
              <a:spcBef>
                <a:spcPts val="600"/>
              </a:spcBef>
              <a:spcAft>
                <a:spcPts val="1200"/>
              </a:spcAft>
            </a:pPr>
            <a:r>
              <a:rPr lang="en-AU" sz="2200" dirty="0" smtClean="0">
                <a:latin typeface="Helvetica" pitchFamily="34" charset="0"/>
              </a:rPr>
              <a:t>The external business environment</a:t>
            </a:r>
          </a:p>
          <a:p>
            <a:pPr lvl="0">
              <a:spcBef>
                <a:spcPts val="600"/>
              </a:spcBef>
              <a:spcAft>
                <a:spcPts val="1200"/>
              </a:spcAft>
            </a:pPr>
            <a:r>
              <a:rPr lang="en-AU" sz="2200" dirty="0" smtClean="0">
                <a:latin typeface="Helvetica" pitchFamily="34" charset="0"/>
              </a:rPr>
              <a:t>Customer expectations</a:t>
            </a:r>
          </a:p>
          <a:p>
            <a:pPr lvl="0">
              <a:spcBef>
                <a:spcPts val="600"/>
              </a:spcBef>
              <a:spcAft>
                <a:spcPts val="1200"/>
              </a:spcAft>
            </a:pPr>
            <a:r>
              <a:rPr lang="en-AU" sz="2200" dirty="0" smtClean="0">
                <a:latin typeface="Helvetica" pitchFamily="34" charset="0"/>
              </a:rPr>
              <a:t>Emerging trends</a:t>
            </a:r>
          </a:p>
          <a:p>
            <a:pPr lvl="0">
              <a:spcBef>
                <a:spcPts val="600"/>
              </a:spcBef>
              <a:spcAft>
                <a:spcPts val="1200"/>
              </a:spcAft>
            </a:pPr>
            <a:r>
              <a:rPr lang="en-AU" sz="2200" dirty="0" smtClean="0">
                <a:latin typeface="Helvetica" pitchFamily="34" charset="0"/>
              </a:rPr>
              <a:t>Changes in legislation and technology</a:t>
            </a:r>
          </a:p>
          <a:p>
            <a:pPr lvl="0">
              <a:spcBef>
                <a:spcPts val="600"/>
              </a:spcBef>
              <a:spcAft>
                <a:spcPts val="1200"/>
              </a:spcAft>
            </a:pPr>
            <a:r>
              <a:rPr lang="en-AU" sz="2200" dirty="0" smtClean="0">
                <a:latin typeface="Helvetica" pitchFamily="34" charset="0"/>
              </a:rPr>
              <a:t>Availability of resources</a:t>
            </a:r>
          </a:p>
          <a:p>
            <a:pPr>
              <a:buNone/>
            </a:pPr>
            <a:endParaRPr lang="en-AU" sz="2400" dirty="0" smtClean="0">
              <a:solidFill>
                <a:srgbClr val="FF6600"/>
              </a:solidFill>
            </a:endParaRPr>
          </a:p>
          <a:p>
            <a:pPr>
              <a:buNone/>
            </a:pPr>
            <a:r>
              <a:rPr lang="en-AU" sz="2200" dirty="0" smtClean="0">
                <a:solidFill>
                  <a:srgbClr val="FF6600"/>
                </a:solidFill>
              </a:rPr>
              <a:t>COMPLETE ACTIVITY 7</a:t>
            </a:r>
            <a:endParaRPr lang="en-US" sz="2200" dirty="0" smtClean="0">
              <a:latin typeface="Helvetica" pitchFamily="34" charset="0"/>
            </a:endParaRP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shutterstock_141853249.jpg"/>
          <p:cNvPicPr>
            <a:picLocks noChangeAspect="1"/>
          </p:cNvPicPr>
          <p:nvPr/>
        </p:nvPicPr>
        <p:blipFill>
          <a:blip r:embed="rId3" cstate="print"/>
          <a:stretch>
            <a:fillRect/>
          </a:stretch>
        </p:blipFill>
        <p:spPr>
          <a:xfrm>
            <a:off x="6516216" y="2852936"/>
            <a:ext cx="2027624" cy="135242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underperformance</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6336704" cy="4525963"/>
          </a:xfrm>
        </p:spPr>
        <p:txBody>
          <a:bodyPr>
            <a:normAutofit/>
          </a:bodyPr>
          <a:lstStyle/>
          <a:p>
            <a:pPr marL="0" indent="0">
              <a:spcBef>
                <a:spcPts val="600"/>
              </a:spcBef>
              <a:spcAft>
                <a:spcPts val="1200"/>
              </a:spcAft>
              <a:buNone/>
            </a:pPr>
            <a:r>
              <a:rPr lang="en-AU" sz="2200" b="1" dirty="0" smtClean="0">
                <a:latin typeface="Helvetica" pitchFamily="34" charset="0"/>
              </a:rPr>
              <a:t>Importance of identifying under performing products and services</a:t>
            </a:r>
          </a:p>
          <a:p>
            <a:pPr>
              <a:spcBef>
                <a:spcPts val="600"/>
              </a:spcBef>
              <a:spcAft>
                <a:spcPts val="1200"/>
              </a:spcAft>
            </a:pPr>
            <a:r>
              <a:rPr lang="en-AU" sz="2200" dirty="0" smtClean="0">
                <a:latin typeface="Helvetica" pitchFamily="34" charset="0"/>
              </a:rPr>
              <a:t>It is vital that any underperforming products and services currently being provided in your travel and tourism organisation are identified in a timely manner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Not only is it important that you identify problem areas or areas for improvement, but you also understand the reasoning behind the problems or substandard performance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shutterstock_155573669.jpg"/>
          <p:cNvPicPr/>
          <p:nvPr/>
        </p:nvPicPr>
        <p:blipFill>
          <a:blip r:embed="rId3" cstate="print"/>
          <a:stretch>
            <a:fillRect/>
          </a:stretch>
        </p:blipFill>
        <p:spPr>
          <a:xfrm>
            <a:off x="7164288" y="2708920"/>
            <a:ext cx="1174427" cy="1460748"/>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underperformance</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eaLnBrk="0" hangingPunct="0">
              <a:spcBef>
                <a:spcPts val="600"/>
              </a:spcBef>
              <a:spcAft>
                <a:spcPts val="1200"/>
              </a:spcAft>
              <a:buNone/>
            </a:pPr>
            <a:r>
              <a:rPr lang="en-AU" sz="2200" b="1" dirty="0" smtClean="0">
                <a:latin typeface="Helvetica" pitchFamily="34" charset="0"/>
              </a:rPr>
              <a:t>Underperformance in service oriented industries</a:t>
            </a:r>
            <a:endParaRPr lang="en-US" sz="2200" b="1"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Staff absences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Professional incompetence</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Service failure</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Customer complaints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Customer attrition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Failure to meet targets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6" name="Picture 5" descr="W641_shutterstock_142097794.jpg"/>
          <p:cNvPicPr>
            <a:picLocks noChangeAspect="1"/>
          </p:cNvPicPr>
          <p:nvPr/>
        </p:nvPicPr>
        <p:blipFill>
          <a:blip r:embed="rId3" cstate="print"/>
          <a:stretch>
            <a:fillRect/>
          </a:stretch>
        </p:blipFill>
        <p:spPr>
          <a:xfrm>
            <a:off x="5868144" y="2564904"/>
            <a:ext cx="2483768" cy="1645093"/>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underperformance</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buNone/>
            </a:pPr>
            <a:r>
              <a:rPr lang="en-US" sz="2200" b="1" dirty="0" smtClean="0">
                <a:latin typeface="Helvetica" pitchFamily="34" charset="0"/>
              </a:rPr>
              <a:t>Methods to identify underperformance</a:t>
            </a:r>
            <a:endParaRPr lang="en-US" sz="2200" dirty="0" smtClean="0">
              <a:latin typeface="Helvetica" pitchFamily="34" charset="0"/>
            </a:endParaRPr>
          </a:p>
          <a:p>
            <a:pPr>
              <a:spcBef>
                <a:spcPts val="600"/>
              </a:spcBef>
              <a:spcAft>
                <a:spcPts val="600"/>
              </a:spcAft>
            </a:pPr>
            <a:r>
              <a:rPr lang="x-none" sz="2200" smtClean="0">
                <a:latin typeface="Helvetica" pitchFamily="34" charset="0"/>
              </a:rPr>
              <a:t>Observing what occurs in the workplace </a:t>
            </a:r>
            <a:endParaRPr lang="en-US" sz="2200" dirty="0" smtClean="0">
              <a:latin typeface="Helvetica" pitchFamily="34" charset="0"/>
            </a:endParaRPr>
          </a:p>
          <a:p>
            <a:pPr>
              <a:spcBef>
                <a:spcPts val="600"/>
              </a:spcBef>
              <a:spcAft>
                <a:spcPts val="600"/>
              </a:spcAft>
            </a:pPr>
            <a:r>
              <a:rPr lang="x-none" sz="2200" smtClean="0">
                <a:latin typeface="Helvetica" pitchFamily="34" charset="0"/>
              </a:rPr>
              <a:t>Develop and use a checklist to guide what you observe </a:t>
            </a:r>
            <a:endParaRPr lang="en-US" sz="2200" dirty="0" smtClean="0">
              <a:latin typeface="Helvetica" pitchFamily="34" charset="0"/>
            </a:endParaRPr>
          </a:p>
          <a:p>
            <a:pPr>
              <a:spcBef>
                <a:spcPts val="600"/>
              </a:spcBef>
              <a:spcAft>
                <a:spcPts val="600"/>
              </a:spcAft>
            </a:pPr>
            <a:r>
              <a:rPr lang="x-none" sz="2200" smtClean="0">
                <a:latin typeface="Helvetica" pitchFamily="34" charset="0"/>
              </a:rPr>
              <a:t>Observing inefficient work practices </a:t>
            </a:r>
            <a:endParaRPr lang="en-US" sz="2200" dirty="0" smtClean="0">
              <a:latin typeface="Helvetica" pitchFamily="34" charset="0"/>
            </a:endParaRPr>
          </a:p>
          <a:p>
            <a:pPr>
              <a:spcBef>
                <a:spcPts val="600"/>
              </a:spcBef>
              <a:spcAft>
                <a:spcPts val="600"/>
              </a:spcAft>
            </a:pPr>
            <a:r>
              <a:rPr lang="en-US" sz="2200" dirty="0" smtClean="0">
                <a:latin typeface="Helvetica" pitchFamily="34" charset="0"/>
              </a:rPr>
              <a:t>Looking for causes of problems </a:t>
            </a:r>
          </a:p>
          <a:p>
            <a:pPr>
              <a:spcBef>
                <a:spcPts val="600"/>
              </a:spcBef>
              <a:spcAft>
                <a:spcPts val="600"/>
              </a:spcAft>
            </a:pPr>
            <a:r>
              <a:rPr lang="x-none" sz="2200" smtClean="0">
                <a:latin typeface="Helvetica" pitchFamily="34" charset="0"/>
              </a:rPr>
              <a:t>Observing non-compliant situations</a:t>
            </a:r>
            <a:endParaRPr lang="en-US" sz="2200" dirty="0" smtClean="0">
              <a:latin typeface="Helvetica" pitchFamily="34" charset="0"/>
            </a:endParaRPr>
          </a:p>
          <a:p>
            <a:pPr>
              <a:spcBef>
                <a:spcPts val="600"/>
              </a:spcBef>
              <a:spcAft>
                <a:spcPts val="600"/>
              </a:spcAft>
            </a:pPr>
            <a:r>
              <a:rPr lang="x-none" sz="2200" smtClean="0">
                <a:latin typeface="Helvetica" pitchFamily="34" charset="0"/>
              </a:rPr>
              <a:t>Analysing documentation</a:t>
            </a:r>
            <a:endParaRPr lang="en-US" sz="2200" dirty="0" smtClean="0">
              <a:latin typeface="Helvetica" pitchFamily="34" charset="0"/>
            </a:endParaRPr>
          </a:p>
          <a:p>
            <a:pPr>
              <a:spcBef>
                <a:spcPts val="600"/>
              </a:spcBef>
              <a:spcAft>
                <a:spcPts val="600"/>
              </a:spcAft>
            </a:pPr>
            <a:r>
              <a:rPr lang="x-none" sz="2200" smtClean="0">
                <a:latin typeface="Helvetica" pitchFamily="34" charset="0"/>
              </a:rPr>
              <a:t>Being advised by management/owners </a:t>
            </a:r>
            <a:endParaRPr lang="en-US" sz="2200" dirty="0" smtClean="0">
              <a:latin typeface="Helvetica" pitchFamily="34" charset="0"/>
            </a:endParaRPr>
          </a:p>
          <a:p>
            <a:pPr>
              <a:spcBef>
                <a:spcPts val="600"/>
              </a:spcBef>
              <a:spcAft>
                <a:spcPts val="600"/>
              </a:spcAft>
            </a:pPr>
            <a:r>
              <a:rPr lang="x-none" sz="2200" smtClean="0">
                <a:latin typeface="Helvetica" pitchFamily="34" charset="0"/>
              </a:rPr>
              <a:t>Involve workers in your observations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6" name="Picture 5" descr="shutterstock_129565649.jpg"/>
          <p:cNvPicPr/>
          <p:nvPr/>
        </p:nvPicPr>
        <p:blipFill>
          <a:blip r:embed="rId3" cstate="print"/>
          <a:stretch>
            <a:fillRect/>
          </a:stretch>
        </p:blipFill>
        <p:spPr>
          <a:xfrm>
            <a:off x="6516216" y="3429000"/>
            <a:ext cx="1819275" cy="1209675"/>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underperformance</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Sources of underperformance</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Whilst a number of problems relating to performance may be caused directly by staff, it is arrogant for management to think that every problem is caused by staff. </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Employee qualities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Organisational sources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External sources </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7" name="Picture 6" descr="shutterstock_198824870.jpg"/>
          <p:cNvPicPr/>
          <p:nvPr/>
        </p:nvPicPr>
        <p:blipFill>
          <a:blip r:embed="rId3" cstate="print"/>
          <a:stretch>
            <a:fillRect/>
          </a:stretch>
        </p:blipFill>
        <p:spPr>
          <a:xfrm>
            <a:off x="6588224" y="3501008"/>
            <a:ext cx="1496060" cy="168592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underperformance</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lnSpcReduction="10000"/>
          </a:bodyPr>
          <a:lstStyle/>
          <a:p>
            <a:pPr marL="0" eaLnBrk="0" hangingPunct="0">
              <a:spcBef>
                <a:spcPts val="600"/>
              </a:spcBef>
              <a:spcAft>
                <a:spcPts val="1200"/>
              </a:spcAft>
              <a:buNone/>
            </a:pPr>
            <a:r>
              <a:rPr lang="en-AU" sz="2200" b="1" dirty="0" smtClean="0">
                <a:latin typeface="Helvetica" pitchFamily="34" charset="0"/>
              </a:rPr>
              <a:t>Corrective strategies to resolve underperformance issues </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Open discussion and problem solving with relevant stakeholders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Grievance reporting</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Employee counselling</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Developing and implementing action plans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Job rotation</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Addressing staff perceptions of                                                company branding</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6" name="Picture 5" descr="shutterstock_136866284.jpg"/>
          <p:cNvPicPr/>
          <p:nvPr/>
        </p:nvPicPr>
        <p:blipFill>
          <a:blip r:embed="rId3" cstate="print"/>
          <a:stretch>
            <a:fillRect/>
          </a:stretch>
        </p:blipFill>
        <p:spPr>
          <a:xfrm>
            <a:off x="6948264" y="3356992"/>
            <a:ext cx="1446530" cy="160020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underperformance</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marL="0" eaLnBrk="0" hangingPunct="0">
              <a:spcBef>
                <a:spcPts val="600"/>
              </a:spcBef>
              <a:spcAft>
                <a:spcPts val="1200"/>
              </a:spcAft>
              <a:buNone/>
            </a:pPr>
            <a:r>
              <a:rPr lang="en-AU" sz="2200" b="1" dirty="0" smtClean="0">
                <a:latin typeface="Helvetica" pitchFamily="34" charset="0"/>
              </a:rPr>
              <a:t>Corrective strategies to resolve underperformance issues </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Improved work processes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Adjusting service resources allocations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Training and development</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Resolving industrial issues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Resolving occupational health and safety issues</a:t>
            </a:r>
            <a:endParaRPr lang="en-US" sz="2200" dirty="0" smtClean="0">
              <a:latin typeface="Helvetica" pitchFamily="34" charset="0"/>
            </a:endParaRPr>
          </a:p>
          <a:p>
            <a:pPr lvl="0" eaLnBrk="0" hangingPunct="0">
              <a:spcBef>
                <a:spcPts val="600"/>
              </a:spcBef>
              <a:spcAft>
                <a:spcPts val="1200"/>
              </a:spcAft>
            </a:pPr>
            <a:r>
              <a:rPr lang="en-AU" sz="2200" dirty="0" smtClean="0">
                <a:latin typeface="Helvetica" pitchFamily="34" charset="0"/>
              </a:rPr>
              <a:t>Management by walk about (MBWA)</a:t>
            </a:r>
            <a:endParaRPr lang="en-US" sz="2200" dirty="0" smtClean="0">
              <a:latin typeface="Helvetica" pitchFamily="34" charset="0"/>
            </a:endParaRPr>
          </a:p>
          <a:p>
            <a:pPr>
              <a:buNone/>
            </a:pPr>
            <a:r>
              <a:rPr lang="en-AU" sz="2200" dirty="0" smtClean="0">
                <a:solidFill>
                  <a:srgbClr val="FF6600"/>
                </a:solidFill>
              </a:rPr>
              <a:t>COMPLETE ACTIVITY 8</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7" name="Picture 6" descr="A11 158587457.jpg"/>
          <p:cNvPicPr>
            <a:picLocks noChangeAspect="1"/>
          </p:cNvPicPr>
          <p:nvPr/>
        </p:nvPicPr>
        <p:blipFill>
          <a:blip r:embed="rId3" cstate="print"/>
          <a:stretch>
            <a:fillRect/>
          </a:stretch>
        </p:blipFill>
        <p:spPr>
          <a:xfrm>
            <a:off x="6804248" y="3356992"/>
            <a:ext cx="1416042" cy="94450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2:</a:t>
            </a:r>
          </a:p>
          <a:p>
            <a:pPr marL="0">
              <a:buNone/>
            </a:pPr>
            <a:r>
              <a:rPr lang="en-US" sz="4000" dirty="0" smtClean="0">
                <a:solidFill>
                  <a:srgbClr val="FF6600"/>
                </a:solidFill>
                <a:latin typeface="Helvetica" pitchFamily="34" charset="0"/>
              </a:rPr>
              <a:t>Identify the external business environment</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Generic_Globe with lots of faces_110905763.jpg"/>
          <p:cNvPicPr>
            <a:picLocks noChangeAspect="1"/>
          </p:cNvPicPr>
          <p:nvPr/>
        </p:nvPicPr>
        <p:blipFill>
          <a:blip r:embed="rId3" cstate="print"/>
          <a:stretch>
            <a:fillRect/>
          </a:stretch>
        </p:blipFill>
        <p:spPr>
          <a:xfrm>
            <a:off x="5148064" y="3573016"/>
            <a:ext cx="2530323" cy="1629528"/>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Identify the external business environment</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628800"/>
            <a:ext cx="576064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US" sz="2200" dirty="0" smtClean="0">
                <a:latin typeface="Helvetica" pitchFamily="34" charset="0"/>
              </a:rPr>
              <a:t>Identify expected market share</a:t>
            </a:r>
          </a:p>
          <a:p>
            <a:pPr>
              <a:spcBef>
                <a:spcPts val="600"/>
              </a:spcBef>
              <a:spcAft>
                <a:spcPts val="1200"/>
              </a:spcAft>
            </a:pPr>
            <a:r>
              <a:rPr lang="en-US" sz="2200" dirty="0" smtClean="0">
                <a:latin typeface="Helvetica" pitchFamily="34" charset="0"/>
              </a:rPr>
              <a:t>Identify external factors impacting on the business</a:t>
            </a:r>
          </a:p>
          <a:p>
            <a:pPr>
              <a:spcBef>
                <a:spcPts val="600"/>
              </a:spcBef>
              <a:spcAft>
                <a:spcPts val="1200"/>
              </a:spcAft>
            </a:pPr>
            <a:r>
              <a:rPr lang="en-US" sz="2200" dirty="0" smtClean="0">
                <a:latin typeface="Helvetica" pitchFamily="34" charset="0"/>
              </a:rPr>
              <a:t>Analyse comparative market information</a:t>
            </a:r>
          </a:p>
          <a:p>
            <a:pPr>
              <a:spcBef>
                <a:spcPts val="600"/>
              </a:spcBef>
              <a:spcAft>
                <a:spcPts val="1200"/>
              </a:spcAft>
            </a:pPr>
            <a:r>
              <a:rPr lang="en-US" sz="2200" dirty="0" smtClean="0">
                <a:latin typeface="Helvetica" pitchFamily="34" charset="0"/>
              </a:rPr>
              <a:t>Analyse industry and customer trends</a:t>
            </a:r>
          </a:p>
          <a:p>
            <a:pPr>
              <a:spcBef>
                <a:spcPts val="600"/>
              </a:spcBef>
              <a:spcAft>
                <a:spcPts val="1200"/>
              </a:spcAft>
            </a:pPr>
            <a:r>
              <a:rPr lang="en-US" sz="2200" dirty="0" smtClean="0">
                <a:latin typeface="Helvetica" pitchFamily="34" charset="0"/>
              </a:rPr>
              <a:t>Analyse the legal and ethical issues                                       in the market place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descr="W565_ladywithfile_shutterstock_143142244.jpg"/>
          <p:cNvPicPr>
            <a:picLocks noChangeAspect="1"/>
          </p:cNvPicPr>
          <p:nvPr/>
        </p:nvPicPr>
        <p:blipFill>
          <a:blip r:embed="rId3" cstate="print"/>
          <a:stretch>
            <a:fillRect/>
          </a:stretch>
        </p:blipFill>
        <p:spPr>
          <a:xfrm>
            <a:off x="6732240" y="2852936"/>
            <a:ext cx="1727684" cy="1151789"/>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Understanding environments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marL="0">
              <a:spcBef>
                <a:spcPts val="600"/>
              </a:spcBef>
              <a:spcAft>
                <a:spcPts val="1200"/>
              </a:spcAft>
              <a:buNone/>
            </a:pPr>
            <a:r>
              <a:rPr lang="en-AU" sz="2200" dirty="0" smtClean="0">
                <a:latin typeface="Helvetica" pitchFamily="34" charset="0"/>
              </a:rPr>
              <a:t>When researching information to help facilitate the business strategic planning process, it is essential to collecting and analysing information </a:t>
            </a:r>
            <a:r>
              <a:rPr lang="en-US" sz="2200" dirty="0" smtClean="0">
                <a:latin typeface="Helvetica" pitchFamily="34" charset="0"/>
              </a:rPr>
              <a:t>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External environment - what is provided or needed by competitors and the industry as a whole </a:t>
            </a:r>
          </a:p>
          <a:p>
            <a:pPr>
              <a:spcBef>
                <a:spcPts val="600"/>
              </a:spcBef>
              <a:spcAft>
                <a:spcPts val="1200"/>
              </a:spcAft>
            </a:pPr>
            <a:r>
              <a:rPr lang="en-AU" sz="2200" dirty="0" smtClean="0">
                <a:latin typeface="Helvetica" pitchFamily="34" charset="0"/>
              </a:rPr>
              <a:t>Internal environment - what the organisation provides</a:t>
            </a: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5" name="Picture 4" descr="C:\Documents and Settings\nickh\Desktop\PROJECTS\Singapore\Photos\W296_communication_shutterstock_81103063.jpg"/>
          <p:cNvPicPr/>
          <p:nvPr/>
        </p:nvPicPr>
        <p:blipFill>
          <a:blip r:embed="rId3" cstate="print"/>
          <a:srcRect/>
          <a:stretch>
            <a:fillRect/>
          </a:stretch>
        </p:blipFill>
        <p:spPr bwMode="auto">
          <a:xfrm>
            <a:off x="3707904" y="4437112"/>
            <a:ext cx="2088232" cy="1474813"/>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60</a:t>
            </a:fld>
            <a:endParaRPr lang="en-US" dirty="0"/>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Understanding environments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1200"/>
              </a:spcAft>
            </a:pPr>
            <a:r>
              <a:rPr lang="en-AU" sz="2200" dirty="0" smtClean="0">
                <a:latin typeface="Helvetica" pitchFamily="34" charset="0"/>
              </a:rPr>
              <a:t>Section 1 focused on the </a:t>
            </a:r>
            <a:r>
              <a:rPr lang="en-AU" sz="2200" u="sng" dirty="0" smtClean="0">
                <a:latin typeface="Helvetica" pitchFamily="34" charset="0"/>
              </a:rPr>
              <a:t>internal</a:t>
            </a:r>
            <a:r>
              <a:rPr lang="en-AU" sz="2200" dirty="0" smtClean="0">
                <a:latin typeface="Helvetica" pitchFamily="34" charset="0"/>
              </a:rPr>
              <a:t> environment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Section 2 will focus on the </a:t>
            </a:r>
            <a:r>
              <a:rPr lang="en-AU" sz="2200" u="sng" dirty="0" smtClean="0">
                <a:latin typeface="Helvetica" pitchFamily="34" charset="0"/>
              </a:rPr>
              <a:t>external</a:t>
            </a:r>
            <a:r>
              <a:rPr lang="en-AU" sz="2200" dirty="0" smtClean="0">
                <a:latin typeface="Helvetica" pitchFamily="34" charset="0"/>
              </a:rPr>
              <a:t> environment</a:t>
            </a:r>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61</a:t>
            </a:fld>
            <a:endParaRPr lang="en-US" dirty="0"/>
          </a:p>
        </p:txBody>
      </p:sp>
      <p:pic>
        <p:nvPicPr>
          <p:cNvPr id="7" name="Picture 6" descr="shutterstock_135122642.jpg"/>
          <p:cNvPicPr>
            <a:picLocks noChangeAspect="1"/>
          </p:cNvPicPr>
          <p:nvPr/>
        </p:nvPicPr>
        <p:blipFill>
          <a:blip r:embed="rId3" cstate="print"/>
          <a:stretch>
            <a:fillRect/>
          </a:stretch>
        </p:blipFill>
        <p:spPr>
          <a:xfrm>
            <a:off x="3563888" y="3212976"/>
            <a:ext cx="1956480" cy="1303016"/>
          </a:xfrm>
          <a:prstGeom prst="rect">
            <a:avLst/>
          </a:prstGeom>
        </p:spPr>
      </p:pic>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market share</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1200"/>
              </a:spcAft>
              <a:buNone/>
            </a:pPr>
            <a:r>
              <a:rPr lang="en-AU" sz="2200" b="1" dirty="0" smtClean="0">
                <a:latin typeface="Helvetica" pitchFamily="34" charset="0"/>
              </a:rPr>
              <a:t>Definition of market share </a:t>
            </a:r>
            <a:endParaRPr lang="en-US" sz="2200" b="1" dirty="0" smtClean="0">
              <a:latin typeface="Helvetica" pitchFamily="34" charset="0"/>
            </a:endParaRPr>
          </a:p>
          <a:p>
            <a:pPr>
              <a:spcBef>
                <a:spcPts val="600"/>
              </a:spcBef>
              <a:spcAft>
                <a:spcPts val="1200"/>
              </a:spcAft>
            </a:pPr>
            <a:r>
              <a:rPr lang="en-US" sz="2200" dirty="0" smtClean="0">
                <a:latin typeface="Helvetica" pitchFamily="34" charset="0"/>
              </a:rPr>
              <a:t>Market share is defined at the breakup of market size in percentage terms, based on the volume of business conducted in relation to similar businesses in the industry</a:t>
            </a:r>
          </a:p>
          <a:p>
            <a:pPr>
              <a:spcBef>
                <a:spcPts val="600"/>
              </a:spcBef>
              <a:spcAft>
                <a:spcPts val="1200"/>
              </a:spcAft>
            </a:pPr>
            <a:r>
              <a:rPr lang="en-US" sz="2200" dirty="0" smtClean="0">
                <a:latin typeface="Helvetica" pitchFamily="34" charset="0"/>
              </a:rPr>
              <a:t>It is used to identify the size and success of individual competing companies within a specific industry</a:t>
            </a:r>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62</a:t>
            </a:fld>
            <a:endParaRPr lang="en-US" dirty="0"/>
          </a:p>
        </p:txBody>
      </p:sp>
      <p:pic>
        <p:nvPicPr>
          <p:cNvPr id="8" name="Picture 7" descr="shutterstock_131587952.jpg"/>
          <p:cNvPicPr/>
          <p:nvPr/>
        </p:nvPicPr>
        <p:blipFill>
          <a:blip r:embed="rId3" cstate="print"/>
          <a:stretch>
            <a:fillRect/>
          </a:stretch>
        </p:blipFill>
        <p:spPr>
          <a:xfrm>
            <a:off x="3563888" y="4581128"/>
            <a:ext cx="1918891" cy="1229668"/>
          </a:xfrm>
          <a:prstGeom prst="rect">
            <a:avLst/>
          </a:prstGeom>
        </p:spPr>
      </p:pic>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market share</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600"/>
              </a:spcAft>
              <a:buNone/>
            </a:pPr>
            <a:r>
              <a:rPr lang="en-US" sz="2200" b="1" dirty="0" smtClean="0">
                <a:latin typeface="Helvetica" pitchFamily="34" charset="0"/>
              </a:rPr>
              <a:t>Collecting market information</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Size of the overall market </a:t>
            </a:r>
          </a:p>
          <a:p>
            <a:pPr lvl="0">
              <a:spcBef>
                <a:spcPts val="600"/>
              </a:spcBef>
              <a:spcAft>
                <a:spcPts val="600"/>
              </a:spcAft>
            </a:pPr>
            <a:r>
              <a:rPr lang="en-US" sz="2200" dirty="0" smtClean="0">
                <a:latin typeface="Helvetica" pitchFamily="34" charset="0"/>
              </a:rPr>
              <a:t>Market Growth Rate</a:t>
            </a:r>
          </a:p>
          <a:p>
            <a:pPr lvl="0">
              <a:spcBef>
                <a:spcPts val="600"/>
              </a:spcBef>
              <a:spcAft>
                <a:spcPts val="600"/>
              </a:spcAft>
            </a:pPr>
            <a:r>
              <a:rPr lang="en-US" sz="2200" dirty="0" smtClean="0">
                <a:latin typeface="Helvetica" pitchFamily="34" charset="0"/>
              </a:rPr>
              <a:t>Indicators of market size</a:t>
            </a:r>
          </a:p>
          <a:p>
            <a:pPr lvl="0">
              <a:spcBef>
                <a:spcPts val="600"/>
              </a:spcBef>
              <a:spcAft>
                <a:spcPts val="600"/>
              </a:spcAft>
            </a:pPr>
            <a:r>
              <a:rPr lang="en-US" sz="2200" dirty="0" smtClean="0">
                <a:latin typeface="Helvetica" pitchFamily="34" charset="0"/>
              </a:rPr>
              <a:t>Products and services sold / product definition</a:t>
            </a:r>
          </a:p>
          <a:p>
            <a:pPr lvl="0">
              <a:spcBef>
                <a:spcPts val="600"/>
              </a:spcBef>
              <a:spcAft>
                <a:spcPts val="600"/>
              </a:spcAft>
            </a:pPr>
            <a:r>
              <a:rPr lang="en-US" sz="2200" dirty="0" smtClean="0">
                <a:latin typeface="Helvetica" pitchFamily="34" charset="0"/>
              </a:rPr>
              <a:t>Names of competitors</a:t>
            </a:r>
          </a:p>
          <a:p>
            <a:pPr lvl="0">
              <a:spcBef>
                <a:spcPts val="600"/>
              </a:spcBef>
              <a:spcAft>
                <a:spcPts val="600"/>
              </a:spcAft>
            </a:pPr>
            <a:r>
              <a:rPr lang="en-US" sz="2200" dirty="0" smtClean="0">
                <a:latin typeface="Helvetica" pitchFamily="34" charset="0"/>
              </a:rPr>
              <a:t>Market share - overall and for different products and services</a:t>
            </a:r>
          </a:p>
          <a:p>
            <a:pPr lvl="0">
              <a:spcBef>
                <a:spcPts val="600"/>
              </a:spcBef>
              <a:spcAft>
                <a:spcPts val="600"/>
              </a:spcAft>
            </a:pPr>
            <a:r>
              <a:rPr lang="en-US" sz="2200" dirty="0" smtClean="0">
                <a:latin typeface="Helvetica" pitchFamily="34" charset="0"/>
              </a:rPr>
              <a:t>Past market growth</a:t>
            </a:r>
          </a:p>
          <a:p>
            <a:pPr lvl="0">
              <a:spcBef>
                <a:spcPts val="600"/>
              </a:spcBef>
              <a:spcAft>
                <a:spcPts val="600"/>
              </a:spcAft>
            </a:pPr>
            <a:r>
              <a:rPr lang="en-US" sz="2200" dirty="0" smtClean="0">
                <a:latin typeface="Helvetica" pitchFamily="34" charset="0"/>
              </a:rPr>
              <a:t>Emerging Opportunities / Threats </a:t>
            </a:r>
          </a:p>
          <a:p>
            <a:pPr>
              <a:spcBef>
                <a:spcPts val="600"/>
              </a:spcBef>
              <a:spcAft>
                <a:spcPts val="600"/>
              </a:spcAft>
            </a:pPr>
            <a:r>
              <a:rPr lang="en-AU" sz="2200" dirty="0" smtClean="0">
                <a:latin typeface="Helvetica" pitchFamily="34" charset="0"/>
              </a:rPr>
              <a:t>Projected market growth</a:t>
            </a:r>
            <a:endParaRPr lang="en-US" sz="22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63</a:t>
            </a:fld>
            <a:endParaRPr lang="en-US" dirty="0"/>
          </a:p>
        </p:txBody>
      </p:sp>
      <p:pic>
        <p:nvPicPr>
          <p:cNvPr id="7" name="Picture 6" descr="W556_man_holding_file_55609777 NH.jpg"/>
          <p:cNvPicPr/>
          <p:nvPr/>
        </p:nvPicPr>
        <p:blipFill>
          <a:blip r:embed="rId3" cstate="print"/>
          <a:stretch>
            <a:fillRect/>
          </a:stretch>
        </p:blipFill>
        <p:spPr>
          <a:xfrm>
            <a:off x="6732240" y="2204864"/>
            <a:ext cx="1603251" cy="1065659"/>
          </a:xfrm>
          <a:prstGeom prst="rect">
            <a:avLst/>
          </a:prstGeom>
        </p:spPr>
      </p:pic>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market share</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1200"/>
              </a:spcAft>
              <a:buNone/>
            </a:pPr>
            <a:r>
              <a:rPr lang="en-US" sz="2200" b="1" dirty="0" smtClean="0">
                <a:latin typeface="Helvetica" pitchFamily="34" charset="0"/>
              </a:rPr>
              <a:t>Identify and understand businesses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Why is it important to identify successful and unsuccessful businesses?</a:t>
            </a:r>
          </a:p>
          <a:p>
            <a:pPr lvl="0">
              <a:spcBef>
                <a:spcPts val="600"/>
              </a:spcBef>
              <a:spcAft>
                <a:spcPts val="1200"/>
              </a:spcAft>
            </a:pPr>
            <a:r>
              <a:rPr lang="en-US" sz="2200" dirty="0" smtClean="0">
                <a:latin typeface="Helvetica" pitchFamily="34" charset="0"/>
              </a:rPr>
              <a:t>What are examples of successful and unsuccessful businesses in your region and in your industry?</a:t>
            </a:r>
          </a:p>
          <a:p>
            <a:pPr lvl="0">
              <a:spcBef>
                <a:spcPts val="600"/>
              </a:spcBef>
              <a:spcAft>
                <a:spcPts val="1200"/>
              </a:spcAft>
            </a:pPr>
            <a:r>
              <a:rPr lang="en-US" sz="2200" dirty="0" smtClean="0">
                <a:latin typeface="Helvetica" pitchFamily="34" charset="0"/>
              </a:rPr>
              <a:t>What information do you want to know about them to improve your market share?</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dirty="0" smtClean="0">
                <a:solidFill>
                  <a:srgbClr val="FF6600"/>
                </a:solidFill>
              </a:rPr>
              <a:t>COMPLETE ACTIVITY 9</a:t>
            </a:r>
          </a:p>
          <a:p>
            <a:pPr lvl="0">
              <a:spcBef>
                <a:spcPts val="600"/>
              </a:spcBef>
              <a:spcAft>
                <a:spcPts val="1200"/>
              </a:spcAft>
              <a:buNone/>
            </a:pPr>
            <a:endParaRPr lang="en-US" sz="22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64</a:t>
            </a:fld>
            <a:endParaRPr lang="en-US" dirty="0"/>
          </a:p>
        </p:txBody>
      </p:sp>
      <p:pic>
        <p:nvPicPr>
          <p:cNvPr id="8" name="Picture 7" descr="shutterstock_196601204.jpg"/>
          <p:cNvPicPr>
            <a:picLocks noChangeAspect="1"/>
          </p:cNvPicPr>
          <p:nvPr/>
        </p:nvPicPr>
        <p:blipFill>
          <a:blip r:embed="rId3" cstate="print"/>
          <a:stretch>
            <a:fillRect/>
          </a:stretch>
        </p:blipFill>
        <p:spPr>
          <a:xfrm>
            <a:off x="6444208" y="4725144"/>
            <a:ext cx="1287016" cy="1716021"/>
          </a:xfrm>
          <a:prstGeom prst="rect">
            <a:avLst/>
          </a:prstGeom>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Analysing external environment</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1200"/>
              </a:spcAft>
              <a:buNone/>
            </a:pPr>
            <a:r>
              <a:rPr lang="en-AU" sz="2200" b="1" dirty="0" smtClean="0">
                <a:latin typeface="Helvetica" pitchFamily="34" charset="0"/>
              </a:rPr>
              <a:t>Importance of analysing the external environment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What do you want to analyse?</a:t>
            </a:r>
          </a:p>
          <a:p>
            <a:pPr lvl="0">
              <a:spcBef>
                <a:spcPts val="600"/>
              </a:spcBef>
              <a:spcAft>
                <a:spcPts val="1200"/>
              </a:spcAft>
            </a:pPr>
            <a:r>
              <a:rPr lang="en-AU" sz="2200" dirty="0" smtClean="0">
                <a:latin typeface="Helvetica" pitchFamily="34" charset="0"/>
              </a:rPr>
              <a:t>What information do you seek?</a:t>
            </a:r>
          </a:p>
          <a:p>
            <a:pPr lvl="0">
              <a:spcBef>
                <a:spcPts val="600"/>
              </a:spcBef>
              <a:spcAft>
                <a:spcPts val="1200"/>
              </a:spcAft>
            </a:pPr>
            <a:r>
              <a:rPr lang="en-AU" sz="2200" dirty="0" smtClean="0">
                <a:latin typeface="Helvetica" pitchFamily="34" charset="0"/>
              </a:rPr>
              <a:t>Where do you get this information?</a:t>
            </a: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65</a:t>
            </a:fld>
            <a:endParaRPr lang="en-US" dirty="0"/>
          </a:p>
        </p:txBody>
      </p:sp>
      <p:pic>
        <p:nvPicPr>
          <p:cNvPr id="8" name="Picture 7" descr="shutterstock_84348874.jpg"/>
          <p:cNvPicPr/>
          <p:nvPr/>
        </p:nvPicPr>
        <p:blipFill>
          <a:blip r:embed="rId3" cstate="print"/>
          <a:stretch>
            <a:fillRect/>
          </a:stretch>
        </p:blipFill>
        <p:spPr>
          <a:xfrm>
            <a:off x="6156176" y="2852936"/>
            <a:ext cx="2038524" cy="1435596"/>
          </a:xfrm>
          <a:prstGeom prst="rect">
            <a:avLst/>
          </a:prstGeom>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Analysing external environment</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GB" sz="2200" b="1" dirty="0" smtClean="0">
                <a:latin typeface="Helvetica" pitchFamily="34" charset="0"/>
              </a:rPr>
              <a:t>Analysis of external environment</a:t>
            </a:r>
            <a:endParaRPr lang="en-AU" sz="2200" b="1" dirty="0" smtClean="0">
              <a:latin typeface="Helvetica" pitchFamily="34" charset="0"/>
            </a:endParaRPr>
          </a:p>
          <a:p>
            <a:pPr lvl="0">
              <a:spcBef>
                <a:spcPts val="600"/>
              </a:spcBef>
              <a:spcAft>
                <a:spcPts val="1200"/>
              </a:spcAft>
            </a:pPr>
            <a:r>
              <a:rPr lang="en-GB" sz="2200" dirty="0" smtClean="0">
                <a:latin typeface="Helvetica" pitchFamily="34" charset="0"/>
              </a:rPr>
              <a:t>Economic climate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Customer preferences and trends</a:t>
            </a:r>
          </a:p>
          <a:p>
            <a:pPr lvl="0">
              <a:spcBef>
                <a:spcPts val="600"/>
              </a:spcBef>
              <a:spcAft>
                <a:spcPts val="1200"/>
              </a:spcAft>
            </a:pPr>
            <a:r>
              <a:rPr lang="en-AU" sz="2200" dirty="0" smtClean="0">
                <a:latin typeface="Helvetica" pitchFamily="34" charset="0"/>
              </a:rPr>
              <a:t>Markets</a:t>
            </a:r>
          </a:p>
          <a:p>
            <a:pPr lvl="0">
              <a:spcBef>
                <a:spcPts val="600"/>
              </a:spcBef>
              <a:spcAft>
                <a:spcPts val="1200"/>
              </a:spcAft>
            </a:pPr>
            <a:r>
              <a:rPr lang="en-AU" sz="2200" dirty="0" smtClean="0">
                <a:latin typeface="Helvetica" pitchFamily="34" charset="0"/>
              </a:rPr>
              <a:t>Environment</a:t>
            </a:r>
          </a:p>
          <a:p>
            <a:pPr lvl="0">
              <a:spcBef>
                <a:spcPts val="600"/>
              </a:spcBef>
              <a:spcAft>
                <a:spcPts val="1200"/>
              </a:spcAft>
            </a:pPr>
            <a:r>
              <a:rPr lang="en-AU" sz="2200" dirty="0" smtClean="0">
                <a:latin typeface="Helvetica" pitchFamily="34" charset="0"/>
              </a:rPr>
              <a:t>Technology</a:t>
            </a:r>
          </a:p>
          <a:p>
            <a:pPr lvl="0">
              <a:spcBef>
                <a:spcPts val="600"/>
              </a:spcBef>
              <a:spcAft>
                <a:spcPts val="1200"/>
              </a:spcAft>
            </a:pPr>
            <a:r>
              <a:rPr lang="en-AU" sz="2200" dirty="0" smtClean="0">
                <a:latin typeface="Helvetica" pitchFamily="34" charset="0"/>
              </a:rPr>
              <a:t>Political issues</a:t>
            </a:r>
          </a:p>
          <a:p>
            <a:pPr marL="706320" lvl="2" indent="-453600">
              <a:lnSpc>
                <a:spcPct val="120000"/>
              </a:lnSpc>
              <a:spcBef>
                <a:spcPts val="600"/>
              </a:spcBef>
              <a:spcAft>
                <a:spcPts val="1200"/>
              </a:spcAft>
              <a:buClr>
                <a:srgbClr val="EB7125"/>
              </a:buClr>
              <a:buNone/>
            </a:pPr>
            <a:r>
              <a:rPr lang="en-AU" sz="2200" i="1" dirty="0" smtClean="0">
                <a:latin typeface="Helvetica" pitchFamily="34" charset="0"/>
              </a:rPr>
              <a:t>What other external influences exist?</a:t>
            </a:r>
          </a:p>
          <a:p>
            <a:pPr>
              <a:spcBef>
                <a:spcPts val="600"/>
              </a:spcBef>
              <a:spcAft>
                <a:spcPts val="1200"/>
              </a:spcAft>
              <a:buNone/>
            </a:pPr>
            <a:r>
              <a:rPr lang="en-AU" sz="2200" dirty="0" smtClean="0">
                <a:solidFill>
                  <a:srgbClr val="FF6600"/>
                </a:solidFill>
              </a:rPr>
              <a:t>COMPLETE ACTIVITY 10</a:t>
            </a:r>
          </a:p>
          <a:p>
            <a:pPr lvl="0">
              <a:spcBef>
                <a:spcPts val="600"/>
              </a:spcBef>
              <a:spcAft>
                <a:spcPts val="1200"/>
              </a:spcAft>
            </a:pPr>
            <a:endParaRPr lang="en-AU" sz="2200" dirty="0" smtClean="0">
              <a:latin typeface="Helvetica" pitchFamily="34" charset="0"/>
            </a:endParaRPr>
          </a:p>
          <a:p>
            <a:pPr marL="432000" lvl="1" indent="-453600">
              <a:lnSpc>
                <a:spcPct val="120000"/>
              </a:lnSpc>
              <a:spcBef>
                <a:spcPts val="600"/>
              </a:spcBef>
              <a:spcAft>
                <a:spcPts val="1200"/>
              </a:spcAft>
              <a:buClr>
                <a:srgbClr val="EB7125"/>
              </a:buClr>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pic>
        <p:nvPicPr>
          <p:cNvPr id="6" name="Picture 5" descr="C:\Documents and Settings\nickh\Desktop\PROJECTS\Singapore\Photos\W263_progress1_shutterstock_157209023.jpg"/>
          <p:cNvPicPr/>
          <p:nvPr/>
        </p:nvPicPr>
        <p:blipFill>
          <a:blip r:embed="rId3" cstate="print"/>
          <a:srcRect/>
          <a:stretch>
            <a:fillRect/>
          </a:stretch>
        </p:blipFill>
        <p:spPr bwMode="auto">
          <a:xfrm>
            <a:off x="6012160" y="3645024"/>
            <a:ext cx="2228850" cy="1485900"/>
          </a:xfrm>
          <a:prstGeom prst="rect">
            <a:avLst/>
          </a:prstGeom>
          <a:noFill/>
          <a:ln w="9525">
            <a:noFill/>
            <a:miter lim="800000"/>
            <a:headEnd/>
            <a:tailEnd/>
          </a:ln>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66</a:t>
            </a:fld>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74638"/>
            <a:ext cx="7467600" cy="1143000"/>
          </a:xfrm>
        </p:spPr>
        <p:txBody>
          <a:bodyPr>
            <a:noAutofit/>
          </a:bodyPr>
          <a:lstStyle/>
          <a:p>
            <a:r>
              <a:rPr lang="en-US" sz="3400" b="1" dirty="0" smtClean="0">
                <a:solidFill>
                  <a:srgbClr val="FF6600"/>
                </a:solidFill>
                <a:latin typeface="Helvetica" pitchFamily="34" charset="0"/>
              </a:rPr>
              <a:t>Analyse competition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540640" y="1600200"/>
            <a:ext cx="6695656" cy="4997152"/>
          </a:xfrm>
          <a:prstGeom prst="rect">
            <a:avLst/>
          </a:prstGeom>
        </p:spPr>
        <p:txBody>
          <a:bodyPr>
            <a:normAutofit lnSpcReduction="10000"/>
          </a:bodyPr>
          <a:lstStyle/>
          <a:p>
            <a:pPr>
              <a:spcBef>
                <a:spcPts val="600"/>
              </a:spcBef>
              <a:spcAft>
                <a:spcPts val="1200"/>
              </a:spcAft>
              <a:buNone/>
            </a:pPr>
            <a:r>
              <a:rPr lang="en-AU" sz="2200" b="1" dirty="0" smtClean="0">
                <a:latin typeface="Helvetica" pitchFamily="34" charset="0"/>
              </a:rPr>
              <a:t>Importance of understanding competition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Knowing what the competition is doing in the marketplace is a critical aspect of strategic planning for any business.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This knowledge can be combined with other data to determine: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Which target markets the establishment will develop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Which ones it may elect to move out of</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the premises needs to do in order to meet                              or exceed what the opposition is doing</a:t>
            </a:r>
            <a:endParaRPr lang="en-US" sz="2200" dirty="0" smtClean="0">
              <a:latin typeface="Helvetica" pitchFamily="34" charset="0"/>
            </a:endParaRPr>
          </a:p>
          <a:p>
            <a:endParaRPr lang="en-AU" sz="2200" dirty="0" smtClean="0"/>
          </a:p>
          <a:p>
            <a:pPr marL="432000" lvl="1" indent="-453600">
              <a:lnSpc>
                <a:spcPct val="110000"/>
              </a:lnSpc>
              <a:spcBef>
                <a:spcPts val="600"/>
              </a:spcBef>
              <a:spcAft>
                <a:spcPts val="1200"/>
              </a:spcAft>
              <a:buClr>
                <a:srgbClr val="EB7125"/>
              </a:buClr>
            </a:pPr>
            <a:endParaRPr lang="en-AU" sz="2200" dirty="0" smtClean="0"/>
          </a:p>
          <a:p>
            <a:pPr>
              <a:lnSpc>
                <a:spcPct val="110000"/>
              </a:lnSpc>
              <a:spcBef>
                <a:spcPts val="600"/>
              </a:spcBef>
              <a:spcAft>
                <a:spcPts val="1200"/>
              </a:spcAft>
            </a:pPr>
            <a:endParaRPr lang="en-US" sz="2200" dirty="0" smtClean="0">
              <a:latin typeface="Helvetica" pitchFamily="34" charset="0"/>
            </a:endParaRPr>
          </a:p>
          <a:p>
            <a:pPr>
              <a:lnSpc>
                <a:spcPct val="110000"/>
              </a:lnSpc>
              <a:spcBef>
                <a:spcPts val="600"/>
              </a:spcBef>
              <a:spcAft>
                <a:spcPts val="1200"/>
              </a:spcAft>
            </a:pPr>
            <a:endParaRPr lang="en-US" sz="22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67</a:t>
            </a:fld>
            <a:endParaRPr lang="en-US" dirty="0"/>
          </a:p>
        </p:txBody>
      </p:sp>
      <p:pic>
        <p:nvPicPr>
          <p:cNvPr id="7" name="Picture 6" descr="shutterstock_170984318.jpg"/>
          <p:cNvPicPr>
            <a:picLocks noChangeAspect="1"/>
          </p:cNvPicPr>
          <p:nvPr/>
        </p:nvPicPr>
        <p:blipFill>
          <a:blip r:embed="rId3" cstate="print"/>
          <a:stretch>
            <a:fillRect/>
          </a:stretch>
        </p:blipFill>
        <p:spPr>
          <a:xfrm>
            <a:off x="7020272" y="3501008"/>
            <a:ext cx="1221858" cy="1588891"/>
          </a:xfrm>
          <a:prstGeom prst="rect">
            <a:avLst/>
          </a:prstGeom>
        </p:spPr>
      </p:pic>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Analyse competition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1200"/>
              </a:spcAft>
              <a:buNone/>
            </a:pPr>
            <a:r>
              <a:rPr lang="en-US" sz="2200" b="1" dirty="0" smtClean="0">
                <a:latin typeface="Helvetica" pitchFamily="34" charset="0"/>
              </a:rPr>
              <a:t>Identifying the competition </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It is important to identify the main competitors to your business including their: </a:t>
            </a:r>
          </a:p>
          <a:p>
            <a:pPr lvl="0">
              <a:spcBef>
                <a:spcPts val="600"/>
              </a:spcBef>
              <a:spcAft>
                <a:spcPts val="1200"/>
              </a:spcAft>
            </a:pPr>
            <a:r>
              <a:rPr lang="en-US" sz="2200" dirty="0" smtClean="0">
                <a:latin typeface="Helvetica" pitchFamily="34" charset="0"/>
              </a:rPr>
              <a:t>Name </a:t>
            </a:r>
          </a:p>
          <a:p>
            <a:pPr lvl="0">
              <a:spcBef>
                <a:spcPts val="600"/>
              </a:spcBef>
              <a:spcAft>
                <a:spcPts val="1200"/>
              </a:spcAft>
            </a:pPr>
            <a:r>
              <a:rPr lang="en-US" sz="2200" dirty="0" smtClean="0">
                <a:latin typeface="Helvetica" pitchFamily="34" charset="0"/>
              </a:rPr>
              <a:t>Address </a:t>
            </a:r>
          </a:p>
          <a:p>
            <a:pPr lvl="0">
              <a:spcBef>
                <a:spcPts val="600"/>
              </a:spcBef>
              <a:spcAft>
                <a:spcPts val="1200"/>
              </a:spcAft>
            </a:pPr>
            <a:r>
              <a:rPr lang="en-US" sz="2200" dirty="0" smtClean="0">
                <a:latin typeface="Helvetica" pitchFamily="34" charset="0"/>
              </a:rPr>
              <a:t>Number of staff </a:t>
            </a:r>
          </a:p>
          <a:p>
            <a:pPr lvl="0">
              <a:spcBef>
                <a:spcPts val="600"/>
              </a:spcBef>
              <a:spcAft>
                <a:spcPts val="1200"/>
              </a:spcAft>
            </a:pPr>
            <a:r>
              <a:rPr lang="en-US" sz="2200" dirty="0" smtClean="0">
                <a:latin typeface="Helvetica" pitchFamily="34" charset="0"/>
              </a:rPr>
              <a:t>Strengths and weaknesses </a:t>
            </a: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68</a:t>
            </a:fld>
            <a:endParaRPr lang="en-US" dirty="0"/>
          </a:p>
        </p:txBody>
      </p:sp>
      <p:pic>
        <p:nvPicPr>
          <p:cNvPr id="8" name="Picture 7" descr="C:\Documents and Settings\nickh\Desktop\PROJECTS\Singapore\Photos\W258_info_shutterstock_156516218.jpg"/>
          <p:cNvPicPr/>
          <p:nvPr/>
        </p:nvPicPr>
        <p:blipFill>
          <a:blip r:embed="rId3" cstate="print"/>
          <a:srcRect/>
          <a:stretch>
            <a:fillRect/>
          </a:stretch>
        </p:blipFill>
        <p:spPr bwMode="auto">
          <a:xfrm>
            <a:off x="6228184" y="3284984"/>
            <a:ext cx="1640954" cy="17129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Analyse competition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1200"/>
              </a:spcAft>
              <a:buNone/>
            </a:pPr>
            <a:r>
              <a:rPr lang="en-US" sz="2200" b="1" dirty="0" smtClean="0">
                <a:latin typeface="Helvetica" pitchFamily="34" charset="0"/>
              </a:rPr>
              <a:t>Analysing  the competition </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It is important to identify the main competitors to your business including their: </a:t>
            </a:r>
          </a:p>
          <a:p>
            <a:pPr lvl="0">
              <a:spcBef>
                <a:spcPts val="600"/>
              </a:spcBef>
              <a:spcAft>
                <a:spcPts val="1200"/>
              </a:spcAft>
            </a:pPr>
            <a:r>
              <a:rPr lang="en-US" sz="2200" dirty="0" smtClean="0">
                <a:latin typeface="Helvetica" pitchFamily="34" charset="0"/>
              </a:rPr>
              <a:t>What information do you want to know?</a:t>
            </a:r>
          </a:p>
          <a:p>
            <a:pPr lvl="0">
              <a:spcBef>
                <a:spcPts val="600"/>
              </a:spcBef>
              <a:spcAft>
                <a:spcPts val="1200"/>
              </a:spcAft>
            </a:pPr>
            <a:r>
              <a:rPr lang="en-US" sz="2200" dirty="0" smtClean="0">
                <a:latin typeface="Helvetica" pitchFamily="34" charset="0"/>
              </a:rPr>
              <a:t>How can you get the information?</a:t>
            </a: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69</a:t>
            </a:fld>
            <a:endParaRPr lang="en-US" dirty="0"/>
          </a:p>
        </p:txBody>
      </p:sp>
      <p:pic>
        <p:nvPicPr>
          <p:cNvPr id="7" name="Picture 6" descr="shutterstock_132318596.jpg"/>
          <p:cNvPicPr/>
          <p:nvPr/>
        </p:nvPicPr>
        <p:blipFill>
          <a:blip r:embed="rId3" cstate="print"/>
          <a:stretch>
            <a:fillRect/>
          </a:stretch>
        </p:blipFill>
        <p:spPr>
          <a:xfrm>
            <a:off x="6372200" y="2924944"/>
            <a:ext cx="2004616" cy="1358826"/>
          </a:xfrm>
          <a:prstGeom prst="rect">
            <a:avLst/>
          </a:prstGeom>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Developing competitive advantage</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a:spcBef>
                <a:spcPts val="600"/>
              </a:spcBef>
              <a:spcAft>
                <a:spcPts val="1200"/>
              </a:spcAft>
              <a:buNone/>
            </a:pPr>
            <a:r>
              <a:rPr lang="en-AU" sz="2200" b="1" dirty="0" smtClean="0">
                <a:latin typeface="Helvetica" pitchFamily="34" charset="0"/>
              </a:rPr>
              <a:t>Importance of understanding competitive advantage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Why is this important?</a:t>
            </a:r>
          </a:p>
          <a:p>
            <a:pPr lvl="0">
              <a:spcBef>
                <a:spcPts val="600"/>
              </a:spcBef>
              <a:spcAft>
                <a:spcPts val="1200"/>
              </a:spcAft>
            </a:pPr>
            <a:r>
              <a:rPr lang="en-AU" sz="2200" dirty="0" smtClean="0">
                <a:latin typeface="Helvetica" pitchFamily="34" charset="0"/>
              </a:rPr>
              <a:t>How can you create a competitive advantage?</a:t>
            </a:r>
          </a:p>
          <a:p>
            <a:pPr lvl="0">
              <a:spcBef>
                <a:spcPts val="600"/>
              </a:spcBef>
              <a:spcAft>
                <a:spcPts val="1200"/>
              </a:spcAft>
            </a:pPr>
            <a:r>
              <a:rPr lang="en-AU" sz="2200" dirty="0" smtClean="0">
                <a:latin typeface="Helvetica" pitchFamily="34" charset="0"/>
              </a:rPr>
              <a:t>What are examples of competitive advantages companies have in your industry?</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rPr>
              <a:t>COMPLETE ACTIVITY 11</a:t>
            </a:r>
          </a:p>
          <a:p>
            <a:pPr lvl="0">
              <a:spcBef>
                <a:spcPts val="600"/>
              </a:spcBef>
              <a:spcAft>
                <a:spcPts val="1200"/>
              </a:spcAft>
              <a:buNone/>
            </a:pPr>
            <a:endParaRPr lang="en-AU"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70</a:t>
            </a:fld>
            <a:endParaRPr lang="en-US" dirty="0"/>
          </a:p>
        </p:txBody>
      </p:sp>
      <p:pic>
        <p:nvPicPr>
          <p:cNvPr id="7" name="Picture 6" descr="shutterstock_136968575.jpg"/>
          <p:cNvPicPr/>
          <p:nvPr/>
        </p:nvPicPr>
        <p:blipFill>
          <a:blip r:embed="rId3" cstate="print"/>
          <a:stretch>
            <a:fillRect/>
          </a:stretch>
        </p:blipFill>
        <p:spPr>
          <a:xfrm>
            <a:off x="6588224" y="4149080"/>
            <a:ext cx="1368921" cy="1765350"/>
          </a:xfrm>
          <a:prstGeom prst="rect">
            <a:avLst/>
          </a:prstGeom>
        </p:spPr>
      </p:pic>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Joint ventures and strategic alliances</a:t>
            </a: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Explore the potential for joint ventures and strategic alliances.</a:t>
            </a:r>
          </a:p>
          <a:p>
            <a:pPr>
              <a:spcBef>
                <a:spcPts val="600"/>
              </a:spcBef>
              <a:spcAft>
                <a:spcPts val="1200"/>
              </a:spcAft>
            </a:pPr>
            <a:r>
              <a:rPr lang="en-AU" sz="2200" dirty="0" smtClean="0">
                <a:latin typeface="Helvetica" pitchFamily="34" charset="0"/>
              </a:rPr>
              <a:t>It may be that there is an opportunity for your business to form a joint venture or strategic alliance with another organisation</a:t>
            </a:r>
          </a:p>
          <a:p>
            <a:pPr>
              <a:spcBef>
                <a:spcPts val="600"/>
              </a:spcBef>
              <a:spcAft>
                <a:spcPts val="1200"/>
              </a:spcAft>
              <a:buNone/>
            </a:pPr>
            <a:endParaRPr lang="en-AU" sz="2400" dirty="0" smtClean="0"/>
          </a:p>
          <a:p>
            <a:pPr>
              <a:spcBef>
                <a:spcPts val="600"/>
              </a:spcBef>
              <a:spcAft>
                <a:spcPts val="1200"/>
              </a:spcAft>
              <a:buNone/>
            </a:pPr>
            <a:r>
              <a:rPr lang="en-AU" sz="2200" dirty="0" smtClean="0">
                <a:solidFill>
                  <a:srgbClr val="FF6600"/>
                </a:solidFill>
              </a:rPr>
              <a:t>COMPLETE ACTIVITY 12</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6" name="Picture 5" descr="shutterstock_148596215.jpg"/>
          <p:cNvPicPr>
            <a:picLocks noChangeAspect="1"/>
          </p:cNvPicPr>
          <p:nvPr/>
        </p:nvPicPr>
        <p:blipFill>
          <a:blip r:embed="rId3" cstate="print"/>
          <a:stretch>
            <a:fillRect/>
          </a:stretch>
        </p:blipFill>
        <p:spPr>
          <a:xfrm>
            <a:off x="5796136" y="3573016"/>
            <a:ext cx="2162352" cy="1700808"/>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Analyse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understanding trends</a:t>
            </a:r>
          </a:p>
          <a:p>
            <a:pPr marL="0">
              <a:spcBef>
                <a:spcPts val="600"/>
              </a:spcBef>
              <a:spcAft>
                <a:spcPts val="1200"/>
              </a:spcAft>
              <a:buNone/>
            </a:pPr>
            <a:r>
              <a:rPr lang="en-GB" sz="2200" dirty="0" smtClean="0">
                <a:latin typeface="Helvetica" pitchFamily="34" charset="0"/>
              </a:rPr>
              <a:t>Understanding trends of the industry is vital in ensuring that what you are seeking to provide to the market is not only fresh and relevant but is in demand.</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is a trend?</a:t>
            </a:r>
          </a:p>
          <a:p>
            <a:pPr>
              <a:spcBef>
                <a:spcPts val="600"/>
              </a:spcBef>
              <a:spcAft>
                <a:spcPts val="1200"/>
              </a:spcAft>
            </a:pPr>
            <a:r>
              <a:rPr lang="en-US" sz="2200" dirty="0" smtClean="0">
                <a:latin typeface="Helvetica" pitchFamily="34" charset="0"/>
              </a:rPr>
              <a:t>Why is it important to understand trends?</a:t>
            </a:r>
          </a:p>
          <a:p>
            <a:pPr>
              <a:spcBef>
                <a:spcPts val="600"/>
              </a:spcBef>
              <a:spcAft>
                <a:spcPts val="1200"/>
              </a:spcAft>
            </a:pPr>
            <a:r>
              <a:rPr lang="en-US" sz="2200" dirty="0" smtClean="0">
                <a:latin typeface="Helvetica" pitchFamily="34" charset="0"/>
              </a:rPr>
              <a:t>Which trends and statistics are important?</a:t>
            </a:r>
          </a:p>
          <a:p>
            <a:pPr>
              <a:spcBef>
                <a:spcPts val="600"/>
              </a:spcBef>
              <a:spcAft>
                <a:spcPts val="1200"/>
              </a:spcAft>
            </a:pPr>
            <a:r>
              <a:rPr lang="en-US" sz="2200" dirty="0" smtClean="0">
                <a:latin typeface="Helvetica" pitchFamily="34" charset="0"/>
              </a:rPr>
              <a:t>How can you collect this information?</a:t>
            </a:r>
            <a:endParaRPr lang="en-AU"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shutterstock_131744006.jpg"/>
          <p:cNvPicPr>
            <a:picLocks noChangeAspect="1"/>
          </p:cNvPicPr>
          <p:nvPr/>
        </p:nvPicPr>
        <p:blipFill>
          <a:blip r:embed="rId3" cstate="print"/>
          <a:stretch>
            <a:fillRect/>
          </a:stretch>
        </p:blipFill>
        <p:spPr>
          <a:xfrm>
            <a:off x="7164288" y="3933056"/>
            <a:ext cx="1826006" cy="1223424"/>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Analyse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understanding trends</a:t>
            </a:r>
          </a:p>
          <a:p>
            <a:pPr>
              <a:spcBef>
                <a:spcPts val="600"/>
              </a:spcBef>
              <a:spcAft>
                <a:spcPts val="1200"/>
              </a:spcAft>
              <a:buNone/>
            </a:pPr>
            <a:r>
              <a:rPr lang="en-AU" sz="2200" dirty="0" smtClean="0">
                <a:latin typeface="Helvetica" pitchFamily="34" charset="0"/>
              </a:rPr>
              <a:t>Your research should seek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Determine what the trend 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whether it is a positive or negative trend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Calculate how long the trend has been identifiable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Determine the possible threat or opportunity this trend presents or provides</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7" name="Picture 6" descr="shutterstock_127785503.jpg"/>
          <p:cNvPicPr/>
          <p:nvPr/>
        </p:nvPicPr>
        <p:blipFill>
          <a:blip r:embed="rId3" cstate="print"/>
          <a:stretch>
            <a:fillRect/>
          </a:stretch>
        </p:blipFill>
        <p:spPr>
          <a:xfrm>
            <a:off x="6660232" y="1988840"/>
            <a:ext cx="1568574" cy="1115566"/>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Analyse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Emerging trends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aim of ‘analysing information’ in this context is to identify emerging trends.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An emerging trend may be seen as: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Something which did not previously exist but now does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 variation to a previous pattern:</a:t>
            </a:r>
            <a:endParaRPr lang="en-US" sz="2200" dirty="0" smtClean="0">
              <a:latin typeface="Helvetica" pitchFamily="34" charset="0"/>
            </a:endParaRPr>
          </a:p>
          <a:p>
            <a:pPr lvl="1">
              <a:spcBef>
                <a:spcPts val="600"/>
              </a:spcBef>
              <a:spcAft>
                <a:spcPts val="1200"/>
              </a:spcAft>
            </a:pPr>
            <a:r>
              <a:rPr lang="en-AU" sz="2200" dirty="0" smtClean="0">
                <a:latin typeface="Helvetica" pitchFamily="34" charset="0"/>
              </a:rPr>
              <a:t>Positive – a ‘growing’ trend</a:t>
            </a:r>
            <a:endParaRPr lang="en-US" sz="2200" dirty="0" smtClean="0">
              <a:latin typeface="Helvetica" pitchFamily="34" charset="0"/>
            </a:endParaRPr>
          </a:p>
          <a:p>
            <a:pPr lvl="1">
              <a:spcBef>
                <a:spcPts val="600"/>
              </a:spcBef>
              <a:spcAft>
                <a:spcPts val="1200"/>
              </a:spcAft>
            </a:pPr>
            <a:r>
              <a:rPr lang="en-AU" sz="2200" dirty="0" smtClean="0">
                <a:latin typeface="Helvetica" pitchFamily="34" charset="0"/>
              </a:rPr>
              <a:t>Negative – a ‘declining’ trend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change in the degree of the variation</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6" name="Picture 5" descr="shutterstock_102368671.jpg"/>
          <p:cNvPicPr/>
          <p:nvPr/>
        </p:nvPicPr>
        <p:blipFill>
          <a:blip r:embed="rId3" cstate="print"/>
          <a:stretch>
            <a:fillRect/>
          </a:stretch>
        </p:blipFill>
        <p:spPr>
          <a:xfrm>
            <a:off x="6876256" y="4509120"/>
            <a:ext cx="1781175" cy="154305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Analyse trends</a:t>
            </a:r>
          </a:p>
        </p:txBody>
      </p:sp>
      <p:sp>
        <p:nvSpPr>
          <p:cNvPr id="3" name="Content Placeholder 2"/>
          <p:cNvSpPr>
            <a:spLocks noGrp="1"/>
          </p:cNvSpPr>
          <p:nvPr>
            <p:ph idx="1"/>
          </p:nvPr>
        </p:nvSpPr>
        <p:spPr>
          <a:xfrm>
            <a:off x="611560" y="1556792"/>
            <a:ext cx="7467600" cy="5301208"/>
          </a:xfrm>
        </p:spPr>
        <p:txBody>
          <a:bodyPr>
            <a:normAutofit lnSpcReduction="10000"/>
          </a:bodyPr>
          <a:lstStyle/>
          <a:p>
            <a:pPr>
              <a:spcBef>
                <a:spcPts val="600"/>
              </a:spcBef>
              <a:spcAft>
                <a:spcPts val="1000"/>
              </a:spcAft>
              <a:buNone/>
            </a:pPr>
            <a:r>
              <a:rPr lang="en-AU" sz="2200" b="1" dirty="0" smtClean="0">
                <a:latin typeface="Helvetica" pitchFamily="34" charset="0"/>
              </a:rPr>
              <a:t>Sources of trend information</a:t>
            </a:r>
            <a:endParaRPr lang="en-US" sz="2200" dirty="0" smtClean="0">
              <a:latin typeface="Helvetica" pitchFamily="34" charset="0"/>
            </a:endParaRPr>
          </a:p>
          <a:p>
            <a:pPr lvl="0">
              <a:spcBef>
                <a:spcPts val="600"/>
              </a:spcBef>
              <a:spcAft>
                <a:spcPts val="1000"/>
              </a:spcAft>
            </a:pPr>
            <a:r>
              <a:rPr lang="en-US" sz="2200" dirty="0" smtClean="0">
                <a:latin typeface="Helvetica" pitchFamily="34" charset="0"/>
              </a:rPr>
              <a:t>Direct observation</a:t>
            </a:r>
          </a:p>
          <a:p>
            <a:pPr lvl="0">
              <a:spcBef>
                <a:spcPts val="600"/>
              </a:spcBef>
              <a:spcAft>
                <a:spcPts val="1000"/>
              </a:spcAft>
            </a:pPr>
            <a:r>
              <a:rPr lang="en-US" sz="2200" dirty="0" smtClean="0">
                <a:latin typeface="Helvetica" pitchFamily="34" charset="0"/>
              </a:rPr>
              <a:t>Personal surveys</a:t>
            </a:r>
          </a:p>
          <a:p>
            <a:pPr lvl="0">
              <a:spcBef>
                <a:spcPts val="600"/>
              </a:spcBef>
              <a:spcAft>
                <a:spcPts val="1000"/>
              </a:spcAft>
            </a:pPr>
            <a:r>
              <a:rPr lang="en-AU" sz="2200" dirty="0" smtClean="0">
                <a:latin typeface="Helvetica" pitchFamily="34" charset="0"/>
              </a:rPr>
              <a:t>Internet research</a:t>
            </a:r>
            <a:endParaRPr lang="en-US" sz="2200" dirty="0" smtClean="0">
              <a:latin typeface="Helvetica" pitchFamily="34" charset="0"/>
            </a:endParaRPr>
          </a:p>
          <a:p>
            <a:pPr lvl="0">
              <a:spcBef>
                <a:spcPts val="600"/>
              </a:spcBef>
              <a:spcAft>
                <a:spcPts val="1000"/>
              </a:spcAft>
            </a:pPr>
            <a:r>
              <a:rPr lang="en-US" sz="2200" dirty="0" smtClean="0">
                <a:latin typeface="Helvetica" pitchFamily="34" charset="0"/>
              </a:rPr>
              <a:t>Colleagues, supervisors and managers</a:t>
            </a:r>
            <a:r>
              <a:rPr lang="en-US" sz="2200" b="1" dirty="0" smtClean="0">
                <a:latin typeface="Helvetica" pitchFamily="34" charset="0"/>
              </a:rPr>
              <a:t> </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Head office</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Customers</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Industry suppliers</a:t>
            </a:r>
            <a:endParaRPr lang="en-US" sz="2200" dirty="0" smtClean="0">
              <a:latin typeface="Helvetica" pitchFamily="34" charset="0"/>
            </a:endParaRPr>
          </a:p>
          <a:p>
            <a:pPr lvl="0" fontAlgn="ctr">
              <a:spcBef>
                <a:spcPts val="600"/>
              </a:spcBef>
              <a:spcAft>
                <a:spcPts val="1000"/>
              </a:spcAft>
            </a:pPr>
            <a:r>
              <a:rPr lang="en-US" sz="2200" dirty="0" smtClean="0">
                <a:latin typeface="Helvetica" pitchFamily="34" charset="0"/>
              </a:rPr>
              <a:t>Developing your own industry network</a:t>
            </a:r>
          </a:p>
          <a:p>
            <a:pPr>
              <a:spcBef>
                <a:spcPts val="600"/>
              </a:spcBef>
              <a:spcAft>
                <a:spcPts val="1000"/>
              </a:spcAft>
            </a:pPr>
            <a:r>
              <a:rPr lang="en-US" sz="2200" dirty="0" smtClean="0">
                <a:latin typeface="Helvetica" pitchFamily="34" charset="0"/>
              </a:rPr>
              <a:t>Conferences and seminars</a:t>
            </a:r>
            <a:endParaRPr lang="en-AU" sz="2200" dirty="0" smtClean="0">
              <a:latin typeface="Helvetica" pitchFamily="34" charset="0"/>
            </a:endParaRPr>
          </a:p>
          <a:p>
            <a:pPr>
              <a:spcBef>
                <a:spcPts val="600"/>
              </a:spcBef>
              <a:spcAft>
                <a:spcPts val="10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7" name="Picture 6" descr="shutterstock_126073382.jpg"/>
          <p:cNvPicPr/>
          <p:nvPr/>
        </p:nvPicPr>
        <p:blipFill>
          <a:blip r:embed="rId3" cstate="print"/>
          <a:stretch>
            <a:fillRect/>
          </a:stretch>
        </p:blipFill>
        <p:spPr>
          <a:xfrm>
            <a:off x="6444208" y="3356992"/>
            <a:ext cx="1924050" cy="1304925"/>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Analyse trends</a:t>
            </a:r>
          </a:p>
        </p:txBody>
      </p:sp>
      <p:sp>
        <p:nvSpPr>
          <p:cNvPr id="3" name="Content Placeholder 2"/>
          <p:cNvSpPr>
            <a:spLocks noGrp="1"/>
          </p:cNvSpPr>
          <p:nvPr>
            <p:ph idx="1"/>
          </p:nvPr>
        </p:nvSpPr>
        <p:spPr>
          <a:xfrm>
            <a:off x="611560" y="1556792"/>
            <a:ext cx="7467600" cy="5301208"/>
          </a:xfrm>
        </p:spPr>
        <p:txBody>
          <a:bodyPr>
            <a:normAutofit/>
          </a:bodyPr>
          <a:lstStyle/>
          <a:p>
            <a:pPr>
              <a:lnSpc>
                <a:spcPct val="120000"/>
              </a:lnSpc>
              <a:spcBef>
                <a:spcPts val="600"/>
              </a:spcBef>
              <a:spcAft>
                <a:spcPts val="600"/>
              </a:spcAft>
              <a:buNone/>
            </a:pPr>
            <a:r>
              <a:rPr lang="en-AU" sz="2200" b="1" dirty="0" smtClean="0">
                <a:latin typeface="Helvetica" pitchFamily="34" charset="0"/>
              </a:rPr>
              <a:t>Sources of trend information</a:t>
            </a:r>
            <a:endParaRPr lang="en-US" sz="2200" dirty="0" smtClean="0">
              <a:latin typeface="Helvetica" pitchFamily="34" charset="0"/>
            </a:endParaRPr>
          </a:p>
          <a:p>
            <a:pPr lvl="0" fontAlgn="ctr">
              <a:spcBef>
                <a:spcPts val="600"/>
              </a:spcBef>
              <a:spcAft>
                <a:spcPts val="600"/>
              </a:spcAft>
            </a:pPr>
            <a:r>
              <a:rPr lang="en-US" sz="2200" dirty="0" smtClean="0">
                <a:latin typeface="Helvetica" pitchFamily="34" charset="0"/>
              </a:rPr>
              <a:t>Product launches</a:t>
            </a:r>
          </a:p>
          <a:p>
            <a:pPr lvl="0">
              <a:spcBef>
                <a:spcPts val="600"/>
              </a:spcBef>
              <a:spcAft>
                <a:spcPts val="600"/>
              </a:spcAft>
            </a:pPr>
            <a:r>
              <a:rPr lang="en-AU" sz="2200" dirty="0" smtClean="0">
                <a:latin typeface="Helvetica" pitchFamily="34" charset="0"/>
              </a:rPr>
              <a:t>Industry statistics from industry bodies or associations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Data from relevant government agencies </a:t>
            </a:r>
            <a:endParaRPr lang="en-US" sz="2200" dirty="0" smtClean="0">
              <a:latin typeface="Helvetica" pitchFamily="34" charset="0"/>
            </a:endParaRPr>
          </a:p>
          <a:p>
            <a:pPr lvl="0" fontAlgn="ctr">
              <a:spcBef>
                <a:spcPts val="600"/>
              </a:spcBef>
              <a:spcAft>
                <a:spcPts val="600"/>
              </a:spcAft>
            </a:pPr>
            <a:r>
              <a:rPr lang="en-US" sz="2200" dirty="0" smtClean="0">
                <a:latin typeface="Helvetica" pitchFamily="34" charset="0"/>
              </a:rPr>
              <a:t>Trade magazines </a:t>
            </a:r>
          </a:p>
          <a:p>
            <a:pPr lvl="0" fontAlgn="ctr">
              <a:spcBef>
                <a:spcPts val="600"/>
              </a:spcBef>
              <a:spcAft>
                <a:spcPts val="600"/>
              </a:spcAft>
            </a:pPr>
            <a:r>
              <a:rPr lang="en-US" sz="2200" dirty="0" smtClean="0">
                <a:latin typeface="Helvetica" pitchFamily="34" charset="0"/>
              </a:rPr>
              <a:t>Industry publications</a:t>
            </a:r>
          </a:p>
          <a:p>
            <a:pPr lvl="0" fontAlgn="ctr">
              <a:spcBef>
                <a:spcPts val="600"/>
              </a:spcBef>
              <a:spcAft>
                <a:spcPts val="600"/>
              </a:spcAft>
            </a:pPr>
            <a:r>
              <a:rPr lang="en-US" sz="2200" dirty="0" smtClean="0">
                <a:latin typeface="Helvetica" pitchFamily="34" charset="0"/>
              </a:rPr>
              <a:t>Newsletters and brochures  </a:t>
            </a:r>
          </a:p>
          <a:p>
            <a:pPr lvl="0" fontAlgn="ctr">
              <a:spcBef>
                <a:spcPts val="600"/>
              </a:spcBef>
              <a:spcAft>
                <a:spcPts val="600"/>
              </a:spcAft>
            </a:pPr>
            <a:r>
              <a:rPr lang="en-US" sz="2200" dirty="0" smtClean="0">
                <a:latin typeface="Helvetica" pitchFamily="34" charset="0"/>
              </a:rPr>
              <a:t>Advertisements </a:t>
            </a:r>
          </a:p>
          <a:p>
            <a:pPr>
              <a:spcBef>
                <a:spcPts val="600"/>
              </a:spcBef>
              <a:spcAft>
                <a:spcPts val="600"/>
              </a:spcAft>
            </a:pPr>
            <a:r>
              <a:rPr lang="en-US" sz="2200" dirty="0" smtClean="0">
                <a:latin typeface="Helvetica" pitchFamily="34" charset="0"/>
              </a:rPr>
              <a:t>Reference books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6" name="Picture 5" descr="shutterstock_150502661.jpg"/>
          <p:cNvPicPr/>
          <p:nvPr/>
        </p:nvPicPr>
        <p:blipFill>
          <a:blip r:embed="rId3" cstate="print"/>
          <a:stretch>
            <a:fillRect/>
          </a:stretch>
        </p:blipFill>
        <p:spPr>
          <a:xfrm>
            <a:off x="6084168" y="3861048"/>
            <a:ext cx="1905174" cy="1345109"/>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Analyse trends</a:t>
            </a:r>
          </a:p>
        </p:txBody>
      </p:sp>
      <p:sp>
        <p:nvSpPr>
          <p:cNvPr id="3" name="Content Placeholder 2"/>
          <p:cNvSpPr>
            <a:spLocks noGrp="1"/>
          </p:cNvSpPr>
          <p:nvPr>
            <p:ph idx="1"/>
          </p:nvPr>
        </p:nvSpPr>
        <p:spPr>
          <a:xfrm>
            <a:off x="611560" y="1556792"/>
            <a:ext cx="7467600" cy="5301208"/>
          </a:xfrm>
        </p:spPr>
        <p:txBody>
          <a:bodyPr>
            <a:normAutofit/>
          </a:bodyPr>
          <a:lstStyle/>
          <a:p>
            <a:pPr>
              <a:lnSpc>
                <a:spcPct val="120000"/>
              </a:lnSpc>
              <a:spcBef>
                <a:spcPts val="600"/>
              </a:spcBef>
              <a:spcAft>
                <a:spcPts val="1200"/>
              </a:spcAft>
              <a:buNone/>
            </a:pPr>
            <a:r>
              <a:rPr lang="en-US" sz="2200" b="1" dirty="0" smtClean="0">
                <a:latin typeface="Helvetica" pitchFamily="34" charset="0"/>
              </a:rPr>
              <a:t>Types of trends</a:t>
            </a:r>
            <a:endParaRPr lang="en-US" sz="2200" dirty="0" smtClean="0">
              <a:latin typeface="Helvetica" pitchFamily="34" charset="0"/>
            </a:endParaRPr>
          </a:p>
          <a:p>
            <a:pPr lvl="0" fontAlgn="ctr">
              <a:spcBef>
                <a:spcPts val="600"/>
              </a:spcBef>
              <a:spcAft>
                <a:spcPts val="1200"/>
              </a:spcAft>
            </a:pPr>
            <a:r>
              <a:rPr lang="en-US" sz="2200" dirty="0" smtClean="0">
                <a:latin typeface="Helvetica" pitchFamily="34" charset="0"/>
              </a:rPr>
              <a:t>Market trends</a:t>
            </a:r>
          </a:p>
          <a:p>
            <a:pPr fontAlgn="ctr">
              <a:spcBef>
                <a:spcPts val="600"/>
              </a:spcBef>
              <a:spcAft>
                <a:spcPts val="1200"/>
              </a:spcAft>
            </a:pPr>
            <a:r>
              <a:rPr lang="en-GB" sz="2200" dirty="0" smtClean="0">
                <a:latin typeface="Helvetica" pitchFamily="34" charset="0"/>
              </a:rPr>
              <a:t>Social trends</a:t>
            </a:r>
            <a:endParaRPr lang="en-US" sz="2200" dirty="0" smtClean="0">
              <a:latin typeface="Helvetica" pitchFamily="34" charset="0"/>
            </a:endParaRPr>
          </a:p>
          <a:p>
            <a:pPr fontAlgn="ctr">
              <a:spcBef>
                <a:spcPts val="600"/>
              </a:spcBef>
              <a:spcAft>
                <a:spcPts val="1200"/>
              </a:spcAft>
            </a:pPr>
            <a:r>
              <a:rPr lang="en-AU" sz="2200" dirty="0" smtClean="0">
                <a:latin typeface="Helvetica" pitchFamily="34" charset="0"/>
              </a:rPr>
              <a:t>Customer trends</a:t>
            </a:r>
            <a:endParaRPr lang="en-US" sz="2200" dirty="0" smtClean="0">
              <a:latin typeface="Helvetica" pitchFamily="34" charset="0"/>
            </a:endParaRPr>
          </a:p>
          <a:p>
            <a:pPr fontAlgn="ctr">
              <a:spcBef>
                <a:spcPts val="600"/>
              </a:spcBef>
              <a:spcAft>
                <a:spcPts val="1200"/>
              </a:spcAft>
            </a:pPr>
            <a:r>
              <a:rPr lang="en-AU" sz="2200" dirty="0" smtClean="0">
                <a:latin typeface="Helvetica" pitchFamily="34" charset="0"/>
              </a:rPr>
              <a:t>Tourism industry statistics and trends</a:t>
            </a:r>
            <a:endParaRPr lang="en-US" sz="2200" dirty="0" smtClean="0">
              <a:latin typeface="Helvetica" pitchFamily="34" charset="0"/>
            </a:endParaRPr>
          </a:p>
          <a:p>
            <a:pPr fontAlgn="ctr">
              <a:spcBef>
                <a:spcPts val="600"/>
              </a:spcBef>
              <a:spcAft>
                <a:spcPts val="600"/>
              </a:spcAft>
              <a:buNone/>
            </a:pPr>
            <a:endParaRPr lang="en-AU" sz="2200" dirty="0" smtClean="0">
              <a:solidFill>
                <a:srgbClr val="FF6600"/>
              </a:solidFill>
            </a:endParaRPr>
          </a:p>
          <a:p>
            <a:pPr fontAlgn="ctr">
              <a:spcBef>
                <a:spcPts val="600"/>
              </a:spcBef>
              <a:spcAft>
                <a:spcPts val="600"/>
              </a:spcAft>
              <a:buNone/>
            </a:pPr>
            <a:r>
              <a:rPr lang="en-AU" sz="2200" dirty="0" smtClean="0">
                <a:solidFill>
                  <a:srgbClr val="FF6600"/>
                </a:solidFill>
              </a:rPr>
              <a:t>COMPLETE ACTIVITY 13</a:t>
            </a:r>
          </a:p>
          <a:p>
            <a:pPr lvl="0" fontAlgn="ctr">
              <a:spcBef>
                <a:spcPts val="600"/>
              </a:spcBef>
              <a:spcAft>
                <a:spcPts val="6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7" name="Picture 6" descr="Globe_152802833.jpg"/>
          <p:cNvPicPr/>
          <p:nvPr/>
        </p:nvPicPr>
        <p:blipFill>
          <a:blip r:embed="rId3" cstate="print"/>
          <a:stretch>
            <a:fillRect/>
          </a:stretch>
        </p:blipFill>
        <p:spPr>
          <a:xfrm>
            <a:off x="6444208" y="2060848"/>
            <a:ext cx="1706245" cy="1514475"/>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Analyse legal issues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Importance of understanding laws</a:t>
            </a:r>
          </a:p>
          <a:p>
            <a:pPr>
              <a:spcBef>
                <a:spcPts val="600"/>
              </a:spcBef>
              <a:spcAft>
                <a:spcPts val="1200"/>
              </a:spcAft>
            </a:pPr>
            <a:r>
              <a:rPr lang="en-US" sz="2200" dirty="0" smtClean="0">
                <a:latin typeface="Helvetica" pitchFamily="34" charset="0"/>
              </a:rPr>
              <a:t>For any business it is important to understand the different types of laws that govern business operations and activities</a:t>
            </a:r>
          </a:p>
          <a:p>
            <a:pPr>
              <a:spcBef>
                <a:spcPts val="600"/>
              </a:spcBef>
              <a:spcAft>
                <a:spcPts val="1200"/>
              </a:spcAft>
            </a:pPr>
            <a:r>
              <a:rPr lang="en-AU" sz="2200" dirty="0" smtClean="0">
                <a:latin typeface="Helvetica" pitchFamily="34" charset="0"/>
              </a:rPr>
              <a:t>Laws are legally binding requirements established under legislation or Acts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shutterstock_94053853.jpg"/>
          <p:cNvPicPr/>
          <p:nvPr/>
        </p:nvPicPr>
        <p:blipFill>
          <a:blip r:embed="rId3" cstate="print"/>
          <a:stretch>
            <a:fillRect/>
          </a:stretch>
        </p:blipFill>
        <p:spPr>
          <a:xfrm>
            <a:off x="6156176" y="3861048"/>
            <a:ext cx="1136650" cy="156210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Analyse legal issues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Tourism law</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Tourism Law is commonly defined as a body of rules or principles of action which deals with the regulation, authority, relations and obedience among members of a society involved in tourist travel and accommodation.</a:t>
            </a:r>
          </a:p>
          <a:p>
            <a:pPr>
              <a:spcBef>
                <a:spcPts val="600"/>
              </a:spcBef>
              <a:spcAft>
                <a:spcPts val="1200"/>
              </a:spcAft>
            </a:pPr>
            <a:r>
              <a:rPr lang="en-AU" sz="2200" dirty="0" smtClean="0">
                <a:latin typeface="Helvetica" pitchFamily="34" charset="0"/>
              </a:rPr>
              <a:t>What laws affect the travel and tourism industry?</a:t>
            </a:r>
          </a:p>
          <a:p>
            <a:pPr>
              <a:spcBef>
                <a:spcPts val="600"/>
              </a:spcBef>
              <a:spcAft>
                <a:spcPts val="1200"/>
              </a:spcAft>
            </a:pPr>
            <a:r>
              <a:rPr lang="en-AU" sz="2200" dirty="0" smtClean="0">
                <a:latin typeface="Helvetica" pitchFamily="34" charset="0"/>
              </a:rPr>
              <a:t>What legal trends exist?</a:t>
            </a:r>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6" name="Picture 5" descr="shutterstock_43006897.jpg"/>
          <p:cNvPicPr/>
          <p:nvPr/>
        </p:nvPicPr>
        <p:blipFill>
          <a:blip r:embed="rId3" cstate="print"/>
          <a:stretch>
            <a:fillRect/>
          </a:stretch>
        </p:blipFill>
        <p:spPr>
          <a:xfrm>
            <a:off x="3635896" y="4941168"/>
            <a:ext cx="1743075" cy="1152525"/>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Analyse legal issues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Types of laws and regulations </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Legislation</a:t>
            </a:r>
          </a:p>
          <a:p>
            <a:pPr>
              <a:spcBef>
                <a:spcPts val="600"/>
              </a:spcBef>
              <a:spcAft>
                <a:spcPts val="1200"/>
              </a:spcAft>
            </a:pPr>
            <a:r>
              <a:rPr lang="en-AU" sz="2200" dirty="0" smtClean="0">
                <a:latin typeface="Helvetica" pitchFamily="34" charset="0"/>
              </a:rPr>
              <a:t>Common law</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Act of Parliament</a:t>
            </a:r>
          </a:p>
          <a:p>
            <a:pPr>
              <a:spcBef>
                <a:spcPts val="600"/>
              </a:spcBef>
              <a:spcAft>
                <a:spcPts val="1200"/>
              </a:spcAft>
            </a:pPr>
            <a:r>
              <a:rPr lang="en-US" sz="2200" dirty="0" smtClean="0">
                <a:latin typeface="Helvetica" pitchFamily="34" charset="0"/>
              </a:rPr>
              <a:t>Regulations</a:t>
            </a:r>
          </a:p>
          <a:p>
            <a:pPr>
              <a:spcBef>
                <a:spcPts val="600"/>
              </a:spcBef>
              <a:spcAft>
                <a:spcPts val="1200"/>
              </a:spcAft>
            </a:pPr>
            <a:r>
              <a:rPr lang="en-AU" sz="2200" dirty="0" smtClean="0">
                <a:latin typeface="Helvetica" pitchFamily="34" charset="0"/>
              </a:rPr>
              <a:t>Codes of Practice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Civil and criminal law</a:t>
            </a:r>
            <a:endParaRPr lang="en-US" sz="2200" dirty="0" smtClean="0">
              <a:latin typeface="Helvetica" pitchFamily="34" charset="0"/>
            </a:endParaRPr>
          </a:p>
          <a:p>
            <a:endParaRPr lang="en-US" sz="2400" b="1" dirty="0" smtClean="0"/>
          </a:p>
          <a:p>
            <a:endParaRPr lang="en-US" sz="2400" dirty="0" smtClean="0"/>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7" name="Picture 6" descr="shutterstock_155045228.jpg"/>
          <p:cNvPicPr/>
          <p:nvPr/>
        </p:nvPicPr>
        <p:blipFill>
          <a:blip r:embed="rId3" cstate="print"/>
          <a:stretch>
            <a:fillRect/>
          </a:stretch>
        </p:blipFill>
        <p:spPr>
          <a:xfrm>
            <a:off x="6516216" y="3068960"/>
            <a:ext cx="1304925" cy="1304925"/>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Analyse legal issues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AU" sz="2200" b="1" dirty="0" smtClean="0">
                <a:latin typeface="Helvetica" pitchFamily="34" charset="0"/>
              </a:rPr>
              <a:t>General areas to which legal requirements apply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establishment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operation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Licensing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Consumer protection and trade practices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Duty of Care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Fair trading legislation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Employment relations</a:t>
            </a:r>
            <a:endParaRPr lang="en-US" sz="2200" dirty="0" smtClean="0">
              <a:latin typeface="Helvetica" pitchFamily="34" charset="0"/>
            </a:endParaRPr>
          </a:p>
          <a:p>
            <a:pPr>
              <a:buNone/>
            </a:pPr>
            <a:endParaRPr lang="en-US" sz="2400" b="1" dirty="0" smtClean="0"/>
          </a:p>
          <a:p>
            <a:endParaRPr lang="en-US" sz="2400" dirty="0" smtClean="0"/>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shutterstock_190771268.jpg"/>
          <p:cNvPicPr/>
          <p:nvPr/>
        </p:nvPicPr>
        <p:blipFill>
          <a:blip r:embed="rId3" cstate="print"/>
          <a:stretch>
            <a:fillRect/>
          </a:stretch>
        </p:blipFill>
        <p:spPr>
          <a:xfrm>
            <a:off x="6732240" y="2996952"/>
            <a:ext cx="1664196" cy="125348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Analyse legal issues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128792" cy="5112568"/>
          </a:xfrm>
        </p:spPr>
        <p:txBody>
          <a:bodyPr>
            <a:normAutofit/>
          </a:bodyPr>
          <a:lstStyle/>
          <a:p>
            <a:pPr>
              <a:spcBef>
                <a:spcPts val="600"/>
              </a:spcBef>
              <a:spcAft>
                <a:spcPts val="1200"/>
              </a:spcAft>
              <a:buNone/>
            </a:pPr>
            <a:r>
              <a:rPr lang="en-AU" sz="2200" b="1" dirty="0" smtClean="0">
                <a:latin typeface="Helvetica" pitchFamily="34" charset="0"/>
              </a:rPr>
              <a:t>General areas to which legal requirements apply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Employment of foreign workers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Superannuation / Pension Funds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Contributory Negligence and Personal Injuries legislation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Contracts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Income and company taxation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Goods and Services taxation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Financial recording and management</a:t>
            </a:r>
            <a:endParaRPr lang="en-US" sz="2200" dirty="0" smtClean="0">
              <a:latin typeface="Helvetica" pitchFamily="34" charset="0"/>
            </a:endParaRPr>
          </a:p>
          <a:p>
            <a:endParaRPr lang="en-US" sz="2400" b="1" dirty="0" smtClean="0"/>
          </a:p>
          <a:p>
            <a:endParaRPr lang="en-US" sz="2400" dirty="0" smtClean="0"/>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7" name="Picture 6" descr="shutterstock_165739871.jpg"/>
          <p:cNvPicPr/>
          <p:nvPr/>
        </p:nvPicPr>
        <p:blipFill>
          <a:blip r:embed="rId3" cstate="print"/>
          <a:stretch>
            <a:fillRect/>
          </a:stretch>
        </p:blipFill>
        <p:spPr>
          <a:xfrm>
            <a:off x="6516216" y="3639441"/>
            <a:ext cx="1599966" cy="1620641"/>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Analyse legal issues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AU" sz="2200" b="1" dirty="0" smtClean="0">
                <a:latin typeface="Helvetica" pitchFamily="34" charset="0"/>
              </a:rPr>
              <a:t>General areas to which legal requirements apply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Anti-corruption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Copyright, patent, design and trademark protection, trade secrets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Occupational safety and health (OSH)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Fire Safety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Environmental legislation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Insurance requirements </a:t>
            </a:r>
          </a:p>
          <a:p>
            <a:pPr>
              <a:spcBef>
                <a:spcPts val="600"/>
              </a:spcBef>
              <a:spcAft>
                <a:spcPts val="1200"/>
              </a:spcAft>
              <a:buNone/>
            </a:pPr>
            <a:r>
              <a:rPr lang="en-AU" sz="2200" dirty="0" smtClean="0">
                <a:solidFill>
                  <a:srgbClr val="FF6600"/>
                </a:solidFill>
              </a:rPr>
              <a:t>COMPLETE ACTIVITY 14</a:t>
            </a:r>
          </a:p>
          <a:p>
            <a:pPr lvl="0">
              <a:spcBef>
                <a:spcPts val="600"/>
              </a:spcBef>
              <a:spcAft>
                <a:spcPts val="1200"/>
              </a:spcAft>
            </a:pPr>
            <a:endParaRPr lang="en-US" sz="2200" dirty="0" smtClean="0">
              <a:latin typeface="Helvetica" pitchFamily="34" charset="0"/>
            </a:endParaRPr>
          </a:p>
          <a:p>
            <a:endParaRPr lang="en-US" sz="2400" b="1" dirty="0" smtClean="0"/>
          </a:p>
          <a:p>
            <a:endParaRPr lang="en-US" sz="2400" dirty="0" smtClean="0"/>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6" name="Picture 5" descr="shutterstock_14099602.jpg"/>
          <p:cNvPicPr>
            <a:picLocks noChangeAspect="1"/>
          </p:cNvPicPr>
          <p:nvPr/>
        </p:nvPicPr>
        <p:blipFill>
          <a:blip r:embed="rId3" cstate="print"/>
          <a:stretch>
            <a:fillRect/>
          </a:stretch>
        </p:blipFill>
        <p:spPr>
          <a:xfrm>
            <a:off x="6876256" y="3429000"/>
            <a:ext cx="1155376" cy="1740024"/>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Analyse ethical considerations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US" sz="2200" b="1" dirty="0" smtClean="0">
                <a:latin typeface="Helvetica" pitchFamily="34" charset="0"/>
              </a:rPr>
              <a:t>Ethical considerations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Ethical requirements relate to issues about which a personal judgement has to be made regarding the way the business elects to conduct its business.</a:t>
            </a:r>
          </a:p>
          <a:p>
            <a:pPr>
              <a:spcBef>
                <a:spcPts val="600"/>
              </a:spcBef>
              <a:spcAft>
                <a:spcPts val="1200"/>
              </a:spcAft>
            </a:pPr>
            <a:r>
              <a:rPr lang="en-AU" sz="2200" dirty="0" smtClean="0">
                <a:latin typeface="Helvetica" pitchFamily="34" charset="0"/>
              </a:rPr>
              <a:t>What are examples of ethical behaviour in a business?</a:t>
            </a:r>
            <a:endParaRPr lang="en-US" sz="2200" dirty="0" smtClean="0">
              <a:latin typeface="Helvetica" pitchFamily="34" charset="0"/>
            </a:endParaRPr>
          </a:p>
          <a:p>
            <a:pPr>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15</a:t>
            </a:r>
          </a:p>
          <a:p>
            <a:pPr lvl="0">
              <a:spcBef>
                <a:spcPts val="600"/>
              </a:spcBef>
              <a:spcAft>
                <a:spcPts val="1200"/>
              </a:spcAft>
            </a:pPr>
            <a:endParaRPr lang="en-US" sz="2200" dirty="0" smtClean="0">
              <a:latin typeface="Helvetica" pitchFamily="34" charset="0"/>
            </a:endParaRPr>
          </a:p>
          <a:p>
            <a:endParaRPr lang="en-US" sz="2400" b="1" dirty="0" smtClean="0"/>
          </a:p>
          <a:p>
            <a:endParaRPr lang="en-US" sz="2400" dirty="0" smtClean="0"/>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5796136" y="4005064"/>
            <a:ext cx="1714500" cy="1323975"/>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a 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637112"/>
          </a:xfrm>
          <a:prstGeom prst="rect">
            <a:avLst/>
          </a:prstGeom>
        </p:spPr>
        <p:txBody>
          <a:bodyPr>
            <a:normAutofit/>
          </a:bodyPr>
          <a:lstStyle/>
          <a:p>
            <a:pPr marL="0">
              <a:spcBef>
                <a:spcPts val="600"/>
              </a:spcBef>
              <a:spcAft>
                <a:spcPts val="1200"/>
              </a:spcAft>
              <a:buNone/>
            </a:pPr>
            <a:r>
              <a:rPr lang="en-AU" sz="2200" dirty="0" smtClean="0">
                <a:latin typeface="Helvetica" pitchFamily="34" charset="0"/>
              </a:rPr>
              <a:t>So far in this section we have investigated the internal (Section1) and the external (Section 2) influences on a business.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Now that we have a thorough understanding on what may impact on a business it is time to undertake a SWOT Analysis.</a:t>
            </a:r>
            <a:endParaRPr lang="en-US" sz="2200" dirty="0" smtClean="0">
              <a:latin typeface="Helvetica" pitchFamily="34" charset="0"/>
            </a:endParaRPr>
          </a:p>
          <a:p>
            <a:pPr>
              <a:lnSpc>
                <a:spcPct val="110000"/>
              </a:lnSpc>
              <a:spcBef>
                <a:spcPts val="600"/>
              </a:spcBef>
              <a:spcAft>
                <a:spcPts val="1200"/>
              </a:spcAft>
            </a:pPr>
            <a:r>
              <a:rPr lang="en-US" sz="2200" dirty="0" smtClean="0">
                <a:latin typeface="Helvetica" pitchFamily="34" charset="0"/>
              </a:rPr>
              <a:t>What is a SWOT Analysis?</a:t>
            </a:r>
          </a:p>
          <a:p>
            <a:pPr>
              <a:lnSpc>
                <a:spcPct val="110000"/>
              </a:lnSpc>
              <a:spcBef>
                <a:spcPts val="600"/>
              </a:spcBef>
              <a:spcAft>
                <a:spcPts val="1200"/>
              </a:spcAft>
            </a:pPr>
            <a:r>
              <a:rPr lang="en-US" sz="2200" dirty="0" smtClean="0">
                <a:latin typeface="Helvetica" pitchFamily="34" charset="0"/>
              </a:rPr>
              <a:t>What is its importance?</a:t>
            </a:r>
            <a:endParaRPr lang="en-US" sz="22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85</a:t>
            </a:fld>
            <a:endParaRPr lang="en-US" dirty="0"/>
          </a:p>
        </p:txBody>
      </p:sp>
      <p:pic>
        <p:nvPicPr>
          <p:cNvPr id="8" name="Picture 7" descr="Asian girl with world on hand_34766518.jpg"/>
          <p:cNvPicPr>
            <a:picLocks noChangeAspect="1"/>
          </p:cNvPicPr>
          <p:nvPr/>
        </p:nvPicPr>
        <p:blipFill>
          <a:blip r:embed="rId3" cstate="print"/>
          <a:srcRect t="7175"/>
          <a:stretch>
            <a:fillRect/>
          </a:stretch>
        </p:blipFill>
        <p:spPr>
          <a:xfrm>
            <a:off x="5211460" y="3717032"/>
            <a:ext cx="1448772" cy="2016224"/>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a 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6263608" cy="3845024"/>
          </a:xfrm>
          <a:prstGeom prst="rect">
            <a:avLst/>
          </a:prstGeom>
        </p:spPr>
        <p:txBody>
          <a:bodyPr>
            <a:normAutofit/>
          </a:bodyPr>
          <a:lstStyle/>
          <a:p>
            <a:pPr>
              <a:spcBef>
                <a:spcPts val="600"/>
              </a:spcBef>
              <a:spcAft>
                <a:spcPts val="1200"/>
              </a:spcAft>
              <a:buNone/>
            </a:pPr>
            <a:r>
              <a:rPr lang="en-GB" sz="2200" b="1" dirty="0" smtClean="0">
                <a:latin typeface="Helvetica" pitchFamily="34" charset="0"/>
              </a:rPr>
              <a:t>SWOT Analysis</a:t>
            </a:r>
            <a:endParaRPr lang="en-AU" sz="2200" b="1" dirty="0" smtClean="0">
              <a:latin typeface="Helvetica" pitchFamily="34" charset="0"/>
            </a:endParaRPr>
          </a:p>
          <a:p>
            <a:pPr lvl="0">
              <a:spcBef>
                <a:spcPts val="600"/>
              </a:spcBef>
              <a:spcAft>
                <a:spcPts val="1200"/>
              </a:spcAft>
            </a:pPr>
            <a:r>
              <a:rPr lang="en-GB" sz="2200" dirty="0" smtClean="0">
                <a:latin typeface="Helvetica" pitchFamily="34" charset="0"/>
              </a:rPr>
              <a:t>Strengths – what the business does well</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Weaknesses – what the business can improve upon</a:t>
            </a:r>
          </a:p>
          <a:p>
            <a:pPr lvl="0">
              <a:spcBef>
                <a:spcPts val="600"/>
              </a:spcBef>
              <a:spcAft>
                <a:spcPts val="1200"/>
              </a:spcAft>
            </a:pPr>
            <a:r>
              <a:rPr lang="en-GB" sz="2200" dirty="0" smtClean="0">
                <a:latin typeface="Helvetica" pitchFamily="34" charset="0"/>
              </a:rPr>
              <a:t>Opportunities – where the business can improve or take advantage</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Threats – where the business may become disadvantaged, weakened or susceptible</a:t>
            </a:r>
            <a:endParaRPr lang="en-AU" sz="3100" dirty="0" smtClean="0"/>
          </a:p>
          <a:p>
            <a:pPr>
              <a:lnSpc>
                <a:spcPct val="110000"/>
              </a:lnSpc>
              <a:spcBef>
                <a:spcPts val="600"/>
              </a:spcBef>
              <a:spcAft>
                <a:spcPts val="1200"/>
              </a:spcAft>
            </a:pPr>
            <a:endParaRPr lang="en-US" sz="2400" dirty="0">
              <a:latin typeface="Helvetica" pitchFamily="34" charset="0"/>
            </a:endParaRPr>
          </a:p>
        </p:txBody>
      </p:sp>
      <p:pic>
        <p:nvPicPr>
          <p:cNvPr id="6" name="Picture 5" descr="C:\Documents and Settings\nickh\Desktop\PROJECTS\Singapore\Photos\shutterstock_161977274.jpg"/>
          <p:cNvPicPr/>
          <p:nvPr/>
        </p:nvPicPr>
        <p:blipFill>
          <a:blip r:embed="rId3" cstate="print"/>
          <a:srcRect/>
          <a:stretch>
            <a:fillRect/>
          </a:stretch>
        </p:blipFill>
        <p:spPr bwMode="auto">
          <a:xfrm>
            <a:off x="7164288" y="2996952"/>
            <a:ext cx="1266825" cy="1266825"/>
          </a:xfrm>
          <a:prstGeom prst="rect">
            <a:avLst/>
          </a:prstGeom>
          <a:noFill/>
          <a:ln w="9525">
            <a:noFill/>
            <a:miter lim="800000"/>
            <a:headEnd/>
            <a:tailEnd/>
          </a:ln>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86</a:t>
            </a:fld>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a 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72072"/>
          </a:xfrm>
          <a:prstGeom prst="rect">
            <a:avLst/>
          </a:prstGeom>
        </p:spPr>
        <p:txBody>
          <a:bodyPr>
            <a:normAutofit fontScale="92500" lnSpcReduction="20000"/>
          </a:bodyPr>
          <a:lstStyle/>
          <a:p>
            <a:pPr lvl="0">
              <a:lnSpc>
                <a:spcPct val="120000"/>
              </a:lnSpc>
              <a:spcBef>
                <a:spcPts val="600"/>
              </a:spcBef>
              <a:spcAft>
                <a:spcPts val="600"/>
              </a:spcAft>
              <a:buNone/>
            </a:pPr>
            <a:r>
              <a:rPr lang="en-GB" sz="2400" b="1" dirty="0" smtClean="0">
                <a:latin typeface="Helvetica" pitchFamily="34" charset="0"/>
              </a:rPr>
              <a:t>Strengths</a:t>
            </a:r>
            <a:r>
              <a:rPr lang="en-AU" sz="2400" b="1" dirty="0" smtClean="0">
                <a:latin typeface="Helvetica" pitchFamily="34" charset="0"/>
              </a:rPr>
              <a:t> and </a:t>
            </a:r>
            <a:r>
              <a:rPr lang="en-GB" sz="2400" b="1" dirty="0" smtClean="0">
                <a:latin typeface="Helvetica" pitchFamily="34" charset="0"/>
              </a:rPr>
              <a:t>Weaknesses</a:t>
            </a:r>
          </a:p>
          <a:p>
            <a:pPr lvl="0">
              <a:lnSpc>
                <a:spcPct val="120000"/>
              </a:lnSpc>
              <a:spcBef>
                <a:spcPts val="600"/>
              </a:spcBef>
              <a:spcAft>
                <a:spcPts val="600"/>
              </a:spcAft>
            </a:pPr>
            <a:r>
              <a:rPr lang="en-AU" sz="2400" dirty="0" smtClean="0">
                <a:latin typeface="Helvetica" pitchFamily="34" charset="0"/>
              </a:rPr>
              <a:t>Finance</a:t>
            </a:r>
          </a:p>
          <a:p>
            <a:pPr lvl="0">
              <a:lnSpc>
                <a:spcPct val="120000"/>
              </a:lnSpc>
              <a:spcBef>
                <a:spcPts val="600"/>
              </a:spcBef>
              <a:spcAft>
                <a:spcPts val="600"/>
              </a:spcAft>
            </a:pPr>
            <a:r>
              <a:rPr lang="en-AU" sz="2400" dirty="0" smtClean="0">
                <a:latin typeface="Helvetica" pitchFamily="34" charset="0"/>
              </a:rPr>
              <a:t>Production</a:t>
            </a:r>
          </a:p>
          <a:p>
            <a:pPr lvl="0">
              <a:lnSpc>
                <a:spcPct val="120000"/>
              </a:lnSpc>
              <a:spcBef>
                <a:spcPts val="600"/>
              </a:spcBef>
              <a:spcAft>
                <a:spcPts val="600"/>
              </a:spcAft>
            </a:pPr>
            <a:r>
              <a:rPr lang="en-AU" sz="2400" dirty="0" smtClean="0">
                <a:latin typeface="Helvetica" pitchFamily="34" charset="0"/>
              </a:rPr>
              <a:t>Resources</a:t>
            </a:r>
          </a:p>
          <a:p>
            <a:pPr lvl="0">
              <a:lnSpc>
                <a:spcPct val="120000"/>
              </a:lnSpc>
              <a:spcBef>
                <a:spcPts val="600"/>
              </a:spcBef>
              <a:spcAft>
                <a:spcPts val="600"/>
              </a:spcAft>
            </a:pPr>
            <a:r>
              <a:rPr lang="en-AU" sz="2400" dirty="0" smtClean="0">
                <a:latin typeface="Helvetica" pitchFamily="34" charset="0"/>
              </a:rPr>
              <a:t>Offerings</a:t>
            </a:r>
          </a:p>
          <a:p>
            <a:pPr lvl="0">
              <a:lnSpc>
                <a:spcPct val="120000"/>
              </a:lnSpc>
              <a:spcBef>
                <a:spcPts val="600"/>
              </a:spcBef>
              <a:spcAft>
                <a:spcPts val="600"/>
              </a:spcAft>
            </a:pPr>
            <a:r>
              <a:rPr lang="en-AU" sz="2400" dirty="0" smtClean="0">
                <a:latin typeface="Helvetica" pitchFamily="34" charset="0"/>
              </a:rPr>
              <a:t>Marketing</a:t>
            </a:r>
          </a:p>
          <a:p>
            <a:pPr lvl="0">
              <a:lnSpc>
                <a:spcPct val="120000"/>
              </a:lnSpc>
              <a:spcBef>
                <a:spcPts val="600"/>
              </a:spcBef>
              <a:spcAft>
                <a:spcPts val="600"/>
              </a:spcAft>
            </a:pPr>
            <a:r>
              <a:rPr lang="en-AU" sz="2400" dirty="0" smtClean="0">
                <a:latin typeface="Helvetica" pitchFamily="34" charset="0"/>
              </a:rPr>
              <a:t>Product life cycle</a:t>
            </a:r>
          </a:p>
          <a:p>
            <a:pPr lvl="0">
              <a:lnSpc>
                <a:spcPct val="120000"/>
              </a:lnSpc>
              <a:spcBef>
                <a:spcPts val="600"/>
              </a:spcBef>
              <a:spcAft>
                <a:spcPts val="600"/>
              </a:spcAft>
            </a:pPr>
            <a:r>
              <a:rPr lang="en-AU" sz="2400" dirty="0" smtClean="0">
                <a:latin typeface="Helvetica" pitchFamily="34" charset="0"/>
              </a:rPr>
              <a:t>Business relationships </a:t>
            </a:r>
          </a:p>
          <a:p>
            <a:pPr lvl="0">
              <a:lnSpc>
                <a:spcPct val="120000"/>
              </a:lnSpc>
              <a:spcBef>
                <a:spcPts val="600"/>
              </a:spcBef>
              <a:spcAft>
                <a:spcPts val="600"/>
              </a:spcAft>
            </a:pPr>
            <a:r>
              <a:rPr lang="en-AU" sz="2400" dirty="0" smtClean="0">
                <a:latin typeface="Helvetica" pitchFamily="34" charset="0"/>
              </a:rPr>
              <a:t>Relationships with customers </a:t>
            </a:r>
          </a:p>
          <a:p>
            <a:pPr lvl="0">
              <a:lnSpc>
                <a:spcPct val="120000"/>
              </a:lnSpc>
              <a:spcBef>
                <a:spcPts val="600"/>
              </a:spcBef>
              <a:spcAft>
                <a:spcPts val="600"/>
              </a:spcAft>
            </a:pPr>
            <a:r>
              <a:rPr lang="en-AU" sz="2400" dirty="0" smtClean="0">
                <a:latin typeface="Helvetica" pitchFamily="34" charset="0"/>
              </a:rPr>
              <a:t>Personnel</a:t>
            </a:r>
            <a:endParaRPr lang="en-US" sz="2400" dirty="0" smtClean="0">
              <a:latin typeface="Helvetica" pitchFamily="34" charset="0"/>
            </a:endParaRPr>
          </a:p>
          <a:p>
            <a:pPr lvl="0">
              <a:spcBef>
                <a:spcPts val="600"/>
              </a:spcBef>
              <a:spcAft>
                <a:spcPts val="1200"/>
              </a:spcAft>
            </a:pPr>
            <a:endParaRPr lang="en-US" sz="2400" dirty="0">
              <a:latin typeface="Helvetica" pitchFamily="34" charset="0"/>
            </a:endParaRPr>
          </a:p>
        </p:txBody>
      </p:sp>
      <p:pic>
        <p:nvPicPr>
          <p:cNvPr id="7" name="Picture 6" descr="shutterstock_104238854.jpg"/>
          <p:cNvPicPr/>
          <p:nvPr/>
        </p:nvPicPr>
        <p:blipFill>
          <a:blip r:embed="rId3" cstate="print"/>
          <a:stretch>
            <a:fillRect/>
          </a:stretch>
        </p:blipFill>
        <p:spPr>
          <a:xfrm>
            <a:off x="5796136" y="2996952"/>
            <a:ext cx="2052647" cy="1438282"/>
          </a:xfrm>
          <a:prstGeom prst="rect">
            <a:avLst/>
          </a:prstGeom>
        </p:spPr>
      </p:pic>
      <p:sp>
        <p:nvSpPr>
          <p:cNvPr id="8"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87</a:t>
            </a:fld>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a 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72072"/>
          </a:xfrm>
          <a:prstGeom prst="rect">
            <a:avLst/>
          </a:prstGeom>
        </p:spPr>
        <p:txBody>
          <a:bodyPr>
            <a:normAutofit/>
          </a:bodyPr>
          <a:lstStyle/>
          <a:p>
            <a:pPr lvl="0">
              <a:lnSpc>
                <a:spcPct val="120000"/>
              </a:lnSpc>
              <a:spcBef>
                <a:spcPts val="600"/>
              </a:spcBef>
              <a:spcAft>
                <a:spcPts val="1200"/>
              </a:spcAft>
              <a:buNone/>
            </a:pPr>
            <a:r>
              <a:rPr lang="en-AU" sz="2200" b="1" dirty="0" smtClean="0">
                <a:latin typeface="Helvetica" pitchFamily="34" charset="0"/>
              </a:rPr>
              <a:t>Opportunities and threats </a:t>
            </a:r>
          </a:p>
          <a:p>
            <a:pPr>
              <a:spcBef>
                <a:spcPts val="600"/>
              </a:spcBef>
              <a:spcAft>
                <a:spcPts val="1200"/>
              </a:spcAft>
            </a:pPr>
            <a:r>
              <a:rPr lang="en-AU" sz="2200" dirty="0" smtClean="0">
                <a:latin typeface="Helvetica" pitchFamily="34" charset="0"/>
              </a:rPr>
              <a:t>Political considerations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Economic considerations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Social considerations </a:t>
            </a:r>
          </a:p>
          <a:p>
            <a:pPr>
              <a:spcBef>
                <a:spcPts val="600"/>
              </a:spcBef>
              <a:spcAft>
                <a:spcPts val="1200"/>
              </a:spcAft>
            </a:pPr>
            <a:r>
              <a:rPr lang="en-AU" sz="2200" dirty="0" smtClean="0">
                <a:latin typeface="Helvetica" pitchFamily="34" charset="0"/>
              </a:rPr>
              <a:t>Technological considerations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Legal considerations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Environmental considerations </a:t>
            </a:r>
            <a:endParaRPr lang="en-US" sz="2200" dirty="0" smtClean="0">
              <a:latin typeface="Helvetica" pitchFamily="34" charset="0"/>
            </a:endParaRPr>
          </a:p>
          <a:p>
            <a:pPr>
              <a:spcBef>
                <a:spcPts val="600"/>
              </a:spcBef>
              <a:spcAft>
                <a:spcPts val="1200"/>
              </a:spcAft>
            </a:pPr>
            <a:endParaRPr lang="en-US" sz="2400" dirty="0" smtClean="0"/>
          </a:p>
          <a:p>
            <a:pPr lvl="0">
              <a:spcBef>
                <a:spcPts val="600"/>
              </a:spcBef>
              <a:spcAft>
                <a:spcPts val="1200"/>
              </a:spcAft>
            </a:pPr>
            <a:endParaRPr lang="en-US" sz="2400" dirty="0">
              <a:latin typeface="Helvetica" pitchFamily="34" charset="0"/>
            </a:endParaRPr>
          </a:p>
        </p:txBody>
      </p:sp>
      <p:pic>
        <p:nvPicPr>
          <p:cNvPr id="5" name="Picture 4" descr="A21 shutterstock_182028425.jpg"/>
          <p:cNvPicPr/>
          <p:nvPr/>
        </p:nvPicPr>
        <p:blipFill>
          <a:blip r:embed="rId3" cstate="print"/>
          <a:stretch>
            <a:fillRect/>
          </a:stretch>
        </p:blipFill>
        <p:spPr>
          <a:xfrm>
            <a:off x="6429388" y="4500570"/>
            <a:ext cx="2131381" cy="144304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88</a:t>
            </a:fld>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a 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5831560" cy="4972072"/>
          </a:xfrm>
          <a:prstGeom prst="rect">
            <a:avLst/>
          </a:prstGeom>
        </p:spPr>
        <p:txBody>
          <a:bodyPr>
            <a:normAutofit lnSpcReduction="10000"/>
          </a:bodyPr>
          <a:lstStyle/>
          <a:p>
            <a:pPr>
              <a:spcBef>
                <a:spcPts val="600"/>
              </a:spcBef>
              <a:spcAft>
                <a:spcPts val="1200"/>
              </a:spcAft>
              <a:buNone/>
            </a:pPr>
            <a:r>
              <a:rPr lang="en-AU" sz="2200" b="1" dirty="0" smtClean="0">
                <a:latin typeface="Helvetica" pitchFamily="34" charset="0"/>
              </a:rPr>
              <a:t>Opportunities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New markets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New, up-dated or modified products or services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Occasions where new/higher prices may be charged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Problems being experienced by other providers  which result in an opening for you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Closure of an opposition business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Fresh markets now available</a:t>
            </a:r>
            <a:endParaRPr lang="en-US" sz="2200" dirty="0" smtClean="0">
              <a:latin typeface="Helvetica" pitchFamily="34" charset="0"/>
            </a:endParaRPr>
          </a:p>
          <a:p>
            <a:pPr lvl="0">
              <a:spcBef>
                <a:spcPts val="600"/>
              </a:spcBef>
              <a:spcAft>
                <a:spcPts val="1200"/>
              </a:spcAft>
            </a:pPr>
            <a:endParaRPr lang="en-US" sz="2400" dirty="0">
              <a:latin typeface="Helvetica" pitchFamily="34" charset="0"/>
            </a:endParaRPr>
          </a:p>
        </p:txBody>
      </p:sp>
      <p:pic>
        <p:nvPicPr>
          <p:cNvPr id="6" name="Picture 5" descr="shutterstock_123083974.jpg"/>
          <p:cNvPicPr/>
          <p:nvPr/>
        </p:nvPicPr>
        <p:blipFill>
          <a:blip r:embed="rId3" cstate="print"/>
          <a:stretch>
            <a:fillRect/>
          </a:stretch>
        </p:blipFill>
        <p:spPr>
          <a:xfrm>
            <a:off x="6804248" y="2937165"/>
            <a:ext cx="1512168" cy="140587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89</a:t>
            </a:fld>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a 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395536" y="1339552"/>
            <a:ext cx="7272808" cy="5257800"/>
          </a:xfrm>
          <a:prstGeom prst="rect">
            <a:avLst/>
          </a:prstGeom>
        </p:spPr>
        <p:txBody>
          <a:bodyPr>
            <a:noAutofit/>
          </a:bodyPr>
          <a:lstStyle/>
          <a:p>
            <a:pPr>
              <a:spcBef>
                <a:spcPts val="600"/>
              </a:spcBef>
              <a:spcAft>
                <a:spcPts val="1000"/>
              </a:spcAft>
              <a:buNone/>
            </a:pPr>
            <a:r>
              <a:rPr lang="en-AU" sz="2100" b="1" dirty="0" smtClean="0">
                <a:latin typeface="Helvetica" pitchFamily="34" charset="0"/>
              </a:rPr>
              <a:t>Threats </a:t>
            </a:r>
            <a:endParaRPr lang="en-US" sz="2100" dirty="0" smtClean="0">
              <a:latin typeface="Helvetica" pitchFamily="34" charset="0"/>
            </a:endParaRPr>
          </a:p>
          <a:p>
            <a:pPr lvl="0">
              <a:spcBef>
                <a:spcPts val="600"/>
              </a:spcBef>
              <a:spcAft>
                <a:spcPts val="1000"/>
              </a:spcAft>
            </a:pPr>
            <a:r>
              <a:rPr lang="en-AU" sz="2100" dirty="0" smtClean="0">
                <a:latin typeface="Helvetica" pitchFamily="34" charset="0"/>
              </a:rPr>
              <a:t>Introduction of new or more severe legislation </a:t>
            </a:r>
            <a:endParaRPr lang="en-US" sz="2100" dirty="0" smtClean="0">
              <a:latin typeface="Helvetica" pitchFamily="34" charset="0"/>
            </a:endParaRPr>
          </a:p>
          <a:p>
            <a:pPr lvl="0">
              <a:spcBef>
                <a:spcPts val="600"/>
              </a:spcBef>
              <a:spcAft>
                <a:spcPts val="1000"/>
              </a:spcAft>
            </a:pPr>
            <a:r>
              <a:rPr lang="en-AU" sz="2100" dirty="0" smtClean="0">
                <a:latin typeface="Helvetica" pitchFamily="34" charset="0"/>
              </a:rPr>
              <a:t>Opening of a new competitor </a:t>
            </a:r>
            <a:endParaRPr lang="en-US" sz="2100" dirty="0" smtClean="0">
              <a:latin typeface="Helvetica" pitchFamily="34" charset="0"/>
            </a:endParaRPr>
          </a:p>
          <a:p>
            <a:pPr lvl="0">
              <a:spcBef>
                <a:spcPts val="600"/>
              </a:spcBef>
              <a:spcAft>
                <a:spcPts val="1000"/>
              </a:spcAft>
            </a:pPr>
            <a:r>
              <a:rPr lang="en-AU" sz="2100" dirty="0" smtClean="0">
                <a:latin typeface="Helvetica" pitchFamily="34" charset="0"/>
              </a:rPr>
              <a:t>Worsening economic conditions </a:t>
            </a:r>
            <a:endParaRPr lang="en-US" sz="2100" dirty="0" smtClean="0">
              <a:latin typeface="Helvetica" pitchFamily="34" charset="0"/>
            </a:endParaRPr>
          </a:p>
          <a:p>
            <a:pPr lvl="0">
              <a:spcBef>
                <a:spcPts val="600"/>
              </a:spcBef>
              <a:spcAft>
                <a:spcPts val="1000"/>
              </a:spcAft>
            </a:pPr>
            <a:r>
              <a:rPr lang="en-AU" sz="2100" dirty="0" smtClean="0">
                <a:latin typeface="Helvetica" pitchFamily="34" charset="0"/>
              </a:rPr>
              <a:t>Staff shortages </a:t>
            </a:r>
            <a:endParaRPr lang="en-US" sz="2100" dirty="0" smtClean="0">
              <a:latin typeface="Helvetica" pitchFamily="34" charset="0"/>
            </a:endParaRPr>
          </a:p>
          <a:p>
            <a:pPr lvl="0">
              <a:spcBef>
                <a:spcPts val="600"/>
              </a:spcBef>
              <a:spcAft>
                <a:spcPts val="1000"/>
              </a:spcAft>
            </a:pPr>
            <a:r>
              <a:rPr lang="en-AU" sz="2100" dirty="0" smtClean="0">
                <a:latin typeface="Helvetica" pitchFamily="34" charset="0"/>
              </a:rPr>
              <a:t>Difficulty in obtaining physical resources </a:t>
            </a:r>
            <a:endParaRPr lang="en-US" sz="2100" dirty="0" smtClean="0">
              <a:latin typeface="Helvetica" pitchFamily="34" charset="0"/>
            </a:endParaRPr>
          </a:p>
          <a:p>
            <a:pPr lvl="0">
              <a:spcBef>
                <a:spcPts val="600"/>
              </a:spcBef>
              <a:spcAft>
                <a:spcPts val="1000"/>
              </a:spcAft>
            </a:pPr>
            <a:r>
              <a:rPr lang="en-AU" sz="2100" dirty="0" smtClean="0">
                <a:latin typeface="Helvetica" pitchFamily="34" charset="0"/>
              </a:rPr>
              <a:t>An unsettled domestic situation which scares off tourists </a:t>
            </a:r>
            <a:endParaRPr lang="en-US" sz="2100" dirty="0" smtClean="0">
              <a:latin typeface="Helvetica" pitchFamily="34" charset="0"/>
            </a:endParaRPr>
          </a:p>
          <a:p>
            <a:pPr lvl="0">
              <a:spcBef>
                <a:spcPts val="600"/>
              </a:spcBef>
              <a:spcAft>
                <a:spcPts val="1000"/>
              </a:spcAft>
            </a:pPr>
            <a:r>
              <a:rPr lang="en-AU" sz="2100" dirty="0" smtClean="0">
                <a:latin typeface="Helvetica" pitchFamily="34" charset="0"/>
              </a:rPr>
              <a:t>Negative comparative monetary exchange rates with countries who are major clients</a:t>
            </a:r>
          </a:p>
          <a:p>
            <a:pPr>
              <a:spcBef>
                <a:spcPts val="600"/>
              </a:spcBef>
              <a:spcAft>
                <a:spcPts val="1000"/>
              </a:spcAft>
              <a:buNone/>
            </a:pPr>
            <a:r>
              <a:rPr lang="en-AU" sz="2100" dirty="0" smtClean="0">
                <a:solidFill>
                  <a:srgbClr val="FF6600"/>
                </a:solidFill>
              </a:rPr>
              <a:t>COMPLETE ACTIVITY 16</a:t>
            </a:r>
            <a:endParaRPr lang="en-US" sz="2100" dirty="0" smtClean="0">
              <a:latin typeface="Helvetica" pitchFamily="34" charset="0"/>
            </a:endParaRPr>
          </a:p>
          <a:p>
            <a:pPr lvl="0">
              <a:spcBef>
                <a:spcPts val="600"/>
              </a:spcBef>
              <a:spcAft>
                <a:spcPts val="1000"/>
              </a:spcAft>
            </a:pPr>
            <a:endParaRPr lang="en-US" sz="2100" dirty="0">
              <a:latin typeface="Helvetica" pitchFamily="34" charset="0"/>
            </a:endParaRPr>
          </a:p>
        </p:txBody>
      </p:sp>
      <p:pic>
        <p:nvPicPr>
          <p:cNvPr id="5" name="Picture 4" descr="shutterstock_114659890.jpg"/>
          <p:cNvPicPr/>
          <p:nvPr/>
        </p:nvPicPr>
        <p:blipFill>
          <a:blip r:embed="rId3" cstate="print"/>
          <a:stretch>
            <a:fillRect/>
          </a:stretch>
        </p:blipFill>
        <p:spPr>
          <a:xfrm>
            <a:off x="6804248" y="2852936"/>
            <a:ext cx="1647825" cy="1095375"/>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90</a:t>
            </a:fld>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3:</a:t>
            </a:r>
          </a:p>
          <a:p>
            <a:pPr marL="0">
              <a:buNone/>
            </a:pPr>
            <a:r>
              <a:rPr lang="en-US" sz="4000" dirty="0" smtClean="0">
                <a:solidFill>
                  <a:srgbClr val="FF6600"/>
                </a:solidFill>
                <a:latin typeface="Helvetica" pitchFamily="34" charset="0"/>
              </a:rPr>
              <a:t>Define and implement business strategies</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6" name="Picture 5" descr="shutterstock_94314028.jpg"/>
          <p:cNvPicPr>
            <a:picLocks noChangeAspect="1"/>
          </p:cNvPicPr>
          <p:nvPr/>
        </p:nvPicPr>
        <p:blipFill>
          <a:blip r:embed="rId3" cstate="print"/>
          <a:stretch>
            <a:fillRect/>
          </a:stretch>
        </p:blipFill>
        <p:spPr>
          <a:xfrm>
            <a:off x="3563888" y="4077072"/>
            <a:ext cx="1884040" cy="1742737"/>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Define and implement business strategies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US" sz="2200" dirty="0" smtClean="0">
                <a:latin typeface="Helvetica" pitchFamily="34" charset="0"/>
              </a:rPr>
              <a:t>Formulate business objectives for individual business units</a:t>
            </a:r>
          </a:p>
          <a:p>
            <a:pPr>
              <a:spcBef>
                <a:spcPts val="600"/>
              </a:spcBef>
              <a:spcAft>
                <a:spcPts val="1200"/>
              </a:spcAft>
            </a:pPr>
            <a:r>
              <a:rPr lang="en-US" sz="2200" dirty="0" smtClean="0">
                <a:latin typeface="Helvetica" pitchFamily="34" charset="0"/>
              </a:rPr>
              <a:t>Review existing business strategies</a:t>
            </a:r>
          </a:p>
          <a:p>
            <a:pPr>
              <a:spcBef>
                <a:spcPts val="600"/>
              </a:spcBef>
              <a:spcAft>
                <a:spcPts val="1200"/>
              </a:spcAft>
            </a:pPr>
            <a:r>
              <a:rPr lang="en-US" sz="2200" dirty="0" smtClean="0">
                <a:latin typeface="Helvetica" pitchFamily="34" charset="0"/>
              </a:rPr>
              <a:t>Develop business strategies relating to established strategic objectives for the organisation</a:t>
            </a:r>
          </a:p>
          <a:p>
            <a:pPr>
              <a:spcBef>
                <a:spcPts val="600"/>
              </a:spcBef>
              <a:spcAft>
                <a:spcPts val="1200"/>
              </a:spcAft>
            </a:pPr>
            <a:r>
              <a:rPr lang="en-US" sz="2200" dirty="0" smtClean="0">
                <a:latin typeface="Helvetica" pitchFamily="34" charset="0"/>
              </a:rPr>
              <a:t>Communicate business strategies                                       to relevant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shutterstock_150075068.jpg"/>
          <p:cNvPicPr>
            <a:picLocks noChangeAspect="1"/>
          </p:cNvPicPr>
          <p:nvPr/>
        </p:nvPicPr>
        <p:blipFill>
          <a:blip r:embed="rId3" cstate="print"/>
          <a:stretch>
            <a:fillRect/>
          </a:stretch>
        </p:blipFill>
        <p:spPr>
          <a:xfrm>
            <a:off x="6372308" y="4581128"/>
            <a:ext cx="2171964" cy="1448700"/>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Formulate business strategies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Importance of business objectives</a:t>
            </a:r>
          </a:p>
          <a:p>
            <a:pPr>
              <a:spcBef>
                <a:spcPts val="600"/>
              </a:spcBef>
              <a:spcAft>
                <a:spcPts val="1200"/>
              </a:spcAft>
            </a:pPr>
            <a:r>
              <a:rPr lang="en-US" sz="2200" dirty="0" smtClean="0">
                <a:latin typeface="Helvetica" pitchFamily="34" charset="0"/>
              </a:rPr>
              <a:t>One of the initial aspects of establishing business strategies is to identify objectives you wish to achieve </a:t>
            </a:r>
          </a:p>
          <a:p>
            <a:pPr>
              <a:spcBef>
                <a:spcPts val="600"/>
              </a:spcBef>
              <a:spcAft>
                <a:spcPts val="1200"/>
              </a:spcAft>
            </a:pPr>
            <a:r>
              <a:rPr lang="en-US" sz="2200" dirty="0" smtClean="0">
                <a:latin typeface="Helvetica" pitchFamily="34" charset="0"/>
              </a:rPr>
              <a:t>The objectives are the goals or targets to work towards and once defined, enable the planning of strategies to achieve them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shutterstock_179245358.jpg"/>
          <p:cNvPicPr/>
          <p:nvPr/>
        </p:nvPicPr>
        <p:blipFill>
          <a:blip r:embed="rId3" cstate="print"/>
          <a:stretch>
            <a:fillRect/>
          </a:stretch>
        </p:blipFill>
        <p:spPr>
          <a:xfrm>
            <a:off x="6516216" y="4797152"/>
            <a:ext cx="2033647" cy="1378074"/>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Formulate business strategies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Identify business units requiring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Individual programs and sub-programs or individual product and service lines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centres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Branches and agencies including sub-agencies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6" name="Picture 5" descr="A7 shutterstock_138419417.jpg"/>
          <p:cNvPicPr>
            <a:picLocks noChangeAspect="1"/>
          </p:cNvPicPr>
          <p:nvPr/>
        </p:nvPicPr>
        <p:blipFill>
          <a:blip r:embed="rId3" cstate="print"/>
          <a:stretch>
            <a:fillRect/>
          </a:stretch>
        </p:blipFill>
        <p:spPr>
          <a:xfrm>
            <a:off x="3491880" y="4437112"/>
            <a:ext cx="2173696" cy="1445508"/>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Formulate business strategies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Develop SMART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Specific</a:t>
            </a:r>
          </a:p>
          <a:p>
            <a:pPr lvl="0">
              <a:spcBef>
                <a:spcPts val="600"/>
              </a:spcBef>
              <a:spcAft>
                <a:spcPts val="1200"/>
              </a:spcAft>
            </a:pPr>
            <a:r>
              <a:rPr lang="en-AU" sz="2200" dirty="0" smtClean="0">
                <a:latin typeface="Helvetica" pitchFamily="34" charset="0"/>
              </a:rPr>
              <a:t>Measurable</a:t>
            </a:r>
          </a:p>
          <a:p>
            <a:pPr lvl="0">
              <a:spcBef>
                <a:spcPts val="600"/>
              </a:spcBef>
              <a:spcAft>
                <a:spcPts val="1200"/>
              </a:spcAft>
            </a:pPr>
            <a:r>
              <a:rPr lang="en-AU" sz="2200" dirty="0" smtClean="0">
                <a:latin typeface="Helvetica" pitchFamily="34" charset="0"/>
              </a:rPr>
              <a:t>Accurate</a:t>
            </a:r>
          </a:p>
          <a:p>
            <a:pPr lvl="0">
              <a:spcBef>
                <a:spcPts val="600"/>
              </a:spcBef>
              <a:spcAft>
                <a:spcPts val="1200"/>
              </a:spcAft>
            </a:pPr>
            <a:r>
              <a:rPr lang="en-AU" sz="2200" dirty="0" smtClean="0">
                <a:latin typeface="Helvetica" pitchFamily="34" charset="0"/>
              </a:rPr>
              <a:t>Realistic </a:t>
            </a:r>
          </a:p>
          <a:p>
            <a:pPr lvl="0">
              <a:spcBef>
                <a:spcPts val="600"/>
              </a:spcBef>
              <a:spcAft>
                <a:spcPts val="1200"/>
              </a:spcAft>
            </a:pPr>
            <a:r>
              <a:rPr lang="en-AU" sz="2200" dirty="0" smtClean="0">
                <a:latin typeface="Helvetica" pitchFamily="34" charset="0"/>
              </a:rPr>
              <a:t>Trackable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7" name="Picture 6" descr="W27_Five_Professionals_Blank_Msg_shutterstock_2052513.jpg"/>
          <p:cNvPicPr/>
          <p:nvPr/>
        </p:nvPicPr>
        <p:blipFill>
          <a:blip r:embed="rId3" cstate="print"/>
          <a:stretch>
            <a:fillRect/>
          </a:stretch>
        </p:blipFill>
        <p:spPr>
          <a:xfrm>
            <a:off x="5508104" y="2852936"/>
            <a:ext cx="2213223" cy="1416174"/>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Formulate business strategies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Focus of objectives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Sales figures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Revenues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Delivery times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Service standards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Client numbers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Client handling times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Staff turnover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Profit margins</a:t>
            </a:r>
          </a:p>
          <a:p>
            <a:pPr>
              <a:spcBef>
                <a:spcPts val="600"/>
              </a:spcBef>
              <a:spcAft>
                <a:spcPts val="600"/>
              </a:spcAft>
            </a:pPr>
            <a:r>
              <a:rPr lang="en-AU" sz="2200" dirty="0" smtClean="0">
                <a:latin typeface="Helvetica" pitchFamily="34" charset="0"/>
              </a:rPr>
              <a:t>Client development</a:t>
            </a:r>
            <a:endParaRPr lang="en-US" sz="2200" dirty="0" smtClean="0">
              <a:latin typeface="Helvetica" pitchFamily="34" charset="0"/>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6" name="Picture 5" descr="shutterstock_31468954.jpg"/>
          <p:cNvPicPr>
            <a:picLocks noChangeAspect="1"/>
          </p:cNvPicPr>
          <p:nvPr/>
        </p:nvPicPr>
        <p:blipFill>
          <a:blip r:embed="rId3" cstate="print"/>
          <a:stretch>
            <a:fillRect/>
          </a:stretch>
        </p:blipFill>
        <p:spPr>
          <a:xfrm>
            <a:off x="6156176" y="2996952"/>
            <a:ext cx="1954541" cy="1307588"/>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Formulate business strategies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5301208"/>
          </a:xfrm>
        </p:spPr>
        <p:txBody>
          <a:bodyPr>
            <a:noAutofit/>
          </a:bodyPr>
          <a:lstStyle/>
          <a:p>
            <a:pPr>
              <a:spcBef>
                <a:spcPts val="600"/>
              </a:spcBef>
              <a:spcAft>
                <a:spcPts val="600"/>
              </a:spcAft>
              <a:buNone/>
            </a:pPr>
            <a:r>
              <a:rPr lang="en-AU" sz="2200" b="1" dirty="0" smtClean="0">
                <a:latin typeface="Helvetica" pitchFamily="34" charset="0"/>
              </a:rPr>
              <a:t>Focus of objectives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Geographic expansion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Organisational growth</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Service growth</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Debt reduction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Income development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Re-positioning the business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New target markets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Meeting competition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Customer loyalty</a:t>
            </a:r>
          </a:p>
          <a:p>
            <a:pPr>
              <a:spcBef>
                <a:spcPts val="600"/>
              </a:spcBef>
              <a:spcAft>
                <a:spcPts val="600"/>
              </a:spcAft>
              <a:buNone/>
            </a:pPr>
            <a:r>
              <a:rPr lang="en-AU" sz="2200" dirty="0" smtClean="0">
                <a:solidFill>
                  <a:srgbClr val="FF6600"/>
                </a:solidFill>
              </a:rPr>
              <a:t>COMPLETE ACTIVITY 17</a:t>
            </a:r>
            <a:endParaRPr lang="en-US" sz="2200" dirty="0" smtClean="0">
              <a:latin typeface="Helvetica" pitchFamily="34" charset="0"/>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9" name="Picture 8" descr="shutterstock_121585801.jpg"/>
          <p:cNvPicPr>
            <a:picLocks noChangeAspect="1"/>
          </p:cNvPicPr>
          <p:nvPr/>
        </p:nvPicPr>
        <p:blipFill>
          <a:blip r:embed="rId3" cstate="print"/>
          <a:stretch>
            <a:fillRect/>
          </a:stretch>
        </p:blipFill>
        <p:spPr>
          <a:xfrm>
            <a:off x="6156176" y="2924944"/>
            <a:ext cx="2063790" cy="1376548"/>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Review business strategies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560784" y="1412776"/>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Importance of reviewing previous business plans and strategies</a:t>
            </a:r>
            <a:endParaRPr lang="en-AU" sz="2200" dirty="0" smtClean="0">
              <a:latin typeface="Helvetica" pitchFamily="34" charset="0"/>
            </a:endParaRPr>
          </a:p>
          <a:p>
            <a:pPr marL="0">
              <a:spcBef>
                <a:spcPts val="600"/>
              </a:spcBef>
              <a:spcAft>
                <a:spcPts val="1200"/>
              </a:spcAft>
              <a:buNone/>
            </a:pPr>
            <a:r>
              <a:rPr lang="en-US" sz="2200" dirty="0" smtClean="0">
                <a:latin typeface="Helvetica" pitchFamily="34" charset="0"/>
              </a:rPr>
              <a:t>Once you have identified your business objectives, it is now time to reflect on past strategies as a learning tool as to how to progress in the future.</a:t>
            </a:r>
          </a:p>
          <a:p>
            <a:pPr>
              <a:spcBef>
                <a:spcPts val="600"/>
              </a:spcBef>
              <a:spcAft>
                <a:spcPts val="1200"/>
              </a:spcAft>
            </a:pPr>
            <a:r>
              <a:rPr lang="en-US" sz="2200" dirty="0" smtClean="0">
                <a:latin typeface="Helvetica" pitchFamily="34" charset="0"/>
              </a:rPr>
              <a:t>What documents would you look at?</a:t>
            </a:r>
          </a:p>
          <a:p>
            <a:pPr>
              <a:spcBef>
                <a:spcPts val="600"/>
              </a:spcBef>
              <a:spcAft>
                <a:spcPts val="1200"/>
              </a:spcAft>
            </a:pPr>
            <a:r>
              <a:rPr lang="en-US" sz="2200" dirty="0" smtClean="0">
                <a:latin typeface="Helvetica" pitchFamily="34" charset="0"/>
              </a:rPr>
              <a:t>What information would you seek?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descr="shutterstock_196106324.jpg"/>
          <p:cNvPicPr/>
          <p:nvPr/>
        </p:nvPicPr>
        <p:blipFill>
          <a:blip r:embed="rId3" cstate="print"/>
          <a:stretch>
            <a:fillRect/>
          </a:stretch>
        </p:blipFill>
        <p:spPr>
          <a:xfrm>
            <a:off x="6156176" y="3789040"/>
            <a:ext cx="2081386" cy="1435596"/>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Review business strategies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301208"/>
          </a:xfrm>
        </p:spPr>
        <p:txBody>
          <a:bodyPr>
            <a:normAutofit/>
          </a:bodyPr>
          <a:lstStyle/>
          <a:p>
            <a:pPr marL="0" indent="0">
              <a:spcBef>
                <a:spcPts val="600"/>
              </a:spcBef>
              <a:spcAft>
                <a:spcPts val="600"/>
              </a:spcAft>
              <a:buNone/>
            </a:pPr>
            <a:r>
              <a:rPr lang="en-AU" sz="2100" b="1" dirty="0" smtClean="0">
                <a:latin typeface="Helvetica" pitchFamily="34" charset="0"/>
              </a:rPr>
              <a:t>Importance of reviewing previous business plans and strategies</a:t>
            </a:r>
            <a:endParaRPr lang="en-AU" sz="2100" dirty="0" smtClean="0">
              <a:latin typeface="Helvetica" pitchFamily="34" charset="0"/>
            </a:endParaRPr>
          </a:p>
          <a:p>
            <a:pPr>
              <a:spcBef>
                <a:spcPts val="600"/>
              </a:spcBef>
              <a:spcAft>
                <a:spcPts val="600"/>
              </a:spcAft>
              <a:buNone/>
            </a:pPr>
            <a:r>
              <a:rPr lang="en-AU" sz="2100" dirty="0" smtClean="0">
                <a:latin typeface="Helvetica" pitchFamily="34" charset="0"/>
              </a:rPr>
              <a:t>To determine:</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What the earlier goals of the business were</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How the business tried to achieve them</a:t>
            </a:r>
            <a:endParaRPr lang="en-US" sz="2100" dirty="0" smtClean="0">
              <a:latin typeface="Helvetica" pitchFamily="34" charset="0"/>
            </a:endParaRPr>
          </a:p>
          <a:p>
            <a:pPr lvl="0">
              <a:spcBef>
                <a:spcPts val="600"/>
              </a:spcBef>
              <a:spcAft>
                <a:spcPts val="600"/>
              </a:spcAft>
            </a:pPr>
            <a:r>
              <a:rPr lang="en-US" sz="2100" dirty="0" smtClean="0">
                <a:latin typeface="Helvetica" pitchFamily="34" charset="0"/>
              </a:rPr>
              <a:t>What has worked in the past</a:t>
            </a:r>
          </a:p>
          <a:p>
            <a:pPr lvl="0">
              <a:spcBef>
                <a:spcPts val="600"/>
              </a:spcBef>
              <a:spcAft>
                <a:spcPts val="600"/>
              </a:spcAft>
            </a:pPr>
            <a:r>
              <a:rPr lang="en-AU" sz="2100" dirty="0" smtClean="0">
                <a:latin typeface="Helvetica" pitchFamily="34" charset="0"/>
              </a:rPr>
              <a:t>The extent of the success it had in achieving its goals</a:t>
            </a:r>
            <a:endParaRPr lang="en-US" sz="2100" dirty="0" smtClean="0">
              <a:latin typeface="Helvetica" pitchFamily="34" charset="0"/>
            </a:endParaRPr>
          </a:p>
          <a:p>
            <a:pPr lvl="0">
              <a:spcBef>
                <a:spcPts val="600"/>
              </a:spcBef>
              <a:spcAft>
                <a:spcPts val="600"/>
              </a:spcAft>
            </a:pPr>
            <a:r>
              <a:rPr lang="en-US" sz="2100" dirty="0" smtClean="0">
                <a:latin typeface="Helvetica" pitchFamily="34" charset="0"/>
              </a:rPr>
              <a:t>What strategies were not successful</a:t>
            </a:r>
          </a:p>
          <a:p>
            <a:pPr lvl="0">
              <a:spcBef>
                <a:spcPts val="600"/>
              </a:spcBef>
              <a:spcAft>
                <a:spcPts val="600"/>
              </a:spcAft>
            </a:pPr>
            <a:r>
              <a:rPr lang="en-US" sz="2100" dirty="0" smtClean="0">
                <a:latin typeface="Helvetica" pitchFamily="34" charset="0"/>
              </a:rPr>
              <a:t>Reasons behind success and failure of previous strategies</a:t>
            </a:r>
          </a:p>
          <a:p>
            <a:pPr lvl="0">
              <a:spcBef>
                <a:spcPts val="600"/>
              </a:spcBef>
              <a:spcAft>
                <a:spcPts val="600"/>
              </a:spcAft>
            </a:pPr>
            <a:r>
              <a:rPr lang="en-US" sz="2100" dirty="0" smtClean="0">
                <a:latin typeface="Helvetica" pitchFamily="34" charset="0"/>
              </a:rPr>
              <a:t>Which strategies can be used in future strategic planning, either in their existing format or amended </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6" name="Picture 5" descr="shutterstock_168391730.jpg"/>
          <p:cNvPicPr>
            <a:picLocks noChangeAspect="1"/>
          </p:cNvPicPr>
          <p:nvPr/>
        </p:nvPicPr>
        <p:blipFill>
          <a:blip r:embed="rId3" cstate="print"/>
          <a:stretch>
            <a:fillRect/>
          </a:stretch>
        </p:blipFill>
        <p:spPr>
          <a:xfrm>
            <a:off x="7164288" y="2132856"/>
            <a:ext cx="1124712" cy="152400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Review business strategies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Documents to review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Business plans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Business strategies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Accounting documentation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Budgets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Profit and loss statements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Balance sheets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Cash flow reports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Customer feedback documentation  </a:t>
            </a:r>
            <a:endParaRPr lang="en-US" sz="2200" dirty="0" smtClean="0">
              <a:latin typeface="Helvetica" pitchFamily="34" charset="0"/>
            </a:endParaRPr>
          </a:p>
          <a:p>
            <a:pPr>
              <a:spcBef>
                <a:spcPts val="600"/>
              </a:spcBef>
              <a:spcAft>
                <a:spcPts val="600"/>
              </a:spcAft>
              <a:buNone/>
            </a:pPr>
            <a:r>
              <a:rPr lang="en-AU" sz="2200" dirty="0" smtClean="0">
                <a:solidFill>
                  <a:srgbClr val="FF6600"/>
                </a:solidFill>
              </a:rPr>
              <a:t>COMPLETE ACTIVITY 18</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7" name="Picture 6" descr="A15 shutterstock_173608850[1].JPG"/>
          <p:cNvPicPr/>
          <p:nvPr/>
        </p:nvPicPr>
        <p:blipFill>
          <a:blip r:embed="rId3" cstate="print"/>
          <a:stretch>
            <a:fillRect/>
          </a:stretch>
        </p:blipFill>
        <p:spPr>
          <a:xfrm>
            <a:off x="6228184" y="2852936"/>
            <a:ext cx="1876425" cy="1247775"/>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Develop business strategies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fontScale="92500" lnSpcReduction="20000"/>
          </a:bodyPr>
          <a:lstStyle/>
          <a:p>
            <a:pPr>
              <a:spcBef>
                <a:spcPts val="600"/>
              </a:spcBef>
              <a:spcAft>
                <a:spcPts val="600"/>
              </a:spcAft>
              <a:buNone/>
            </a:pPr>
            <a:r>
              <a:rPr lang="en-AU" sz="2400" b="1" dirty="0" smtClean="0">
                <a:latin typeface="Helvetica" pitchFamily="34" charset="0"/>
              </a:rPr>
              <a:t>Steps in developing business strategies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Involve input of stakeholders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Identifying possible business strategies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Developing capability statements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Undertaking gap analysis between capabilities and expectations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Investigating and evaluating strategic options in accordance with the strategic plan for the business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Prepare Key Performance Indicators (KPIs)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Define and assign roles</a:t>
            </a:r>
            <a:endParaRPr lang="en-US" sz="2400" dirty="0" smtClean="0">
              <a:latin typeface="Helvetica" pitchFamily="34" charset="0"/>
            </a:endParaRPr>
          </a:p>
          <a:p>
            <a:pPr lvl="0">
              <a:spcBef>
                <a:spcPts val="600"/>
              </a:spcBef>
              <a:spcAft>
                <a:spcPts val="600"/>
              </a:spcAft>
            </a:pPr>
            <a:r>
              <a:rPr lang="en-GB" sz="2400" dirty="0" smtClean="0">
                <a:latin typeface="Helvetica" pitchFamily="34" charset="0"/>
              </a:rPr>
              <a:t>Identify support and resources required to                      support implementation of new strategies</a:t>
            </a:r>
            <a:endParaRPr lang="en-US" sz="24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shutterstock_179245358.jpg"/>
          <p:cNvPicPr/>
          <p:nvPr/>
        </p:nvPicPr>
        <p:blipFill>
          <a:blip r:embed="rId3" cstate="print"/>
          <a:stretch>
            <a:fillRect/>
          </a:stretch>
        </p:blipFill>
        <p:spPr>
          <a:xfrm>
            <a:off x="6948264" y="1772816"/>
            <a:ext cx="1828800" cy="1219200"/>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Involve stakeholders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stakeholders</a:t>
            </a:r>
          </a:p>
          <a:p>
            <a:pPr>
              <a:spcBef>
                <a:spcPts val="600"/>
              </a:spcBef>
              <a:spcAft>
                <a:spcPts val="1200"/>
              </a:spcAft>
            </a:pPr>
            <a:r>
              <a:rPr lang="en-AU" sz="2200" dirty="0" smtClean="0">
                <a:latin typeface="Helvetica" pitchFamily="34" charset="0"/>
              </a:rPr>
              <a:t>What are examples of stakeholders?</a:t>
            </a:r>
          </a:p>
          <a:p>
            <a:pPr>
              <a:spcBef>
                <a:spcPts val="600"/>
              </a:spcBef>
              <a:spcAft>
                <a:spcPts val="1200"/>
              </a:spcAft>
            </a:pPr>
            <a:r>
              <a:rPr lang="en-AU" sz="2200" dirty="0" smtClean="0">
                <a:latin typeface="Helvetica" pitchFamily="34" charset="0"/>
              </a:rPr>
              <a:t>Why involve them in developing strategies?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6" name="Picture 5" descr="shutterstock_98921651.jpg"/>
          <p:cNvPicPr/>
          <p:nvPr/>
        </p:nvPicPr>
        <p:blipFill>
          <a:blip r:embed="rId3" cstate="print"/>
          <a:stretch>
            <a:fillRect/>
          </a:stretch>
        </p:blipFill>
        <p:spPr>
          <a:xfrm>
            <a:off x="3203848" y="3789040"/>
            <a:ext cx="2664296" cy="1728192"/>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Encourage staff to input into plans</a:t>
            </a:r>
          </a:p>
        </p:txBody>
      </p:sp>
      <p:sp>
        <p:nvSpPr>
          <p:cNvPr id="3" name="Content Placeholder 2"/>
          <p:cNvSpPr>
            <a:spLocks noGrp="1"/>
          </p:cNvSpPr>
          <p:nvPr>
            <p:ph idx="1"/>
          </p:nvPr>
        </p:nvSpPr>
        <p:spPr>
          <a:xfrm>
            <a:off x="611560" y="1700808"/>
            <a:ext cx="7467600" cy="4896544"/>
          </a:xfrm>
        </p:spPr>
        <p:txBody>
          <a:bodyPr>
            <a:normAutofit/>
          </a:bodyPr>
          <a:lstStyle/>
          <a:p>
            <a:pPr marL="0">
              <a:spcBef>
                <a:spcPts val="600"/>
              </a:spcBef>
              <a:spcAft>
                <a:spcPts val="1200"/>
              </a:spcAft>
              <a:buNone/>
            </a:pPr>
            <a:r>
              <a:rPr lang="en-AU" sz="2200" b="1" dirty="0" smtClean="0">
                <a:latin typeface="Helvetica" pitchFamily="34" charset="0"/>
              </a:rPr>
              <a:t>Encourage staff to provide input into strategic planning</a:t>
            </a:r>
          </a:p>
          <a:p>
            <a:pPr>
              <a:spcBef>
                <a:spcPts val="600"/>
              </a:spcBef>
              <a:spcAft>
                <a:spcPts val="1200"/>
              </a:spcAft>
            </a:pPr>
            <a:r>
              <a:rPr lang="en-AU" sz="2200" dirty="0" smtClean="0">
                <a:latin typeface="Helvetica" pitchFamily="34" charset="0"/>
              </a:rPr>
              <a:t>How can a manager do this?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6" name="Picture 5" descr="A19 shutterstock_181811597.jpg"/>
          <p:cNvPicPr/>
          <p:nvPr/>
        </p:nvPicPr>
        <p:blipFill>
          <a:blip r:embed="rId3" cstate="print"/>
          <a:stretch>
            <a:fillRect/>
          </a:stretch>
        </p:blipFill>
        <p:spPr>
          <a:xfrm>
            <a:off x="6228184" y="2708920"/>
            <a:ext cx="1790700" cy="1200150"/>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Encourage staff to input into plans</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US" sz="2200" b="1" dirty="0" smtClean="0">
                <a:latin typeface="Helvetica" pitchFamily="34" charset="0"/>
              </a:rPr>
              <a:t>Methods to encourage staff input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Asking for ideas </a:t>
            </a:r>
          </a:p>
          <a:p>
            <a:pPr>
              <a:spcBef>
                <a:spcPts val="600"/>
              </a:spcBef>
              <a:spcAft>
                <a:spcPts val="1200"/>
              </a:spcAft>
            </a:pPr>
            <a:r>
              <a:rPr lang="en-AU" sz="2200" dirty="0" smtClean="0">
                <a:latin typeface="Helvetica" pitchFamily="34" charset="0"/>
              </a:rPr>
              <a:t>Having an ‘open door’ policy regarding suggestions </a:t>
            </a:r>
          </a:p>
          <a:p>
            <a:pPr>
              <a:spcBef>
                <a:spcPts val="600"/>
              </a:spcBef>
              <a:spcAft>
                <a:spcPts val="1200"/>
              </a:spcAft>
            </a:pPr>
            <a:r>
              <a:rPr lang="en-AU" sz="2200" dirty="0" smtClean="0">
                <a:latin typeface="Helvetica" pitchFamily="34" charset="0"/>
              </a:rPr>
              <a:t>Sharing ideas </a:t>
            </a:r>
          </a:p>
          <a:p>
            <a:pPr>
              <a:spcBef>
                <a:spcPts val="600"/>
              </a:spcBef>
              <a:spcAft>
                <a:spcPts val="1200"/>
              </a:spcAft>
            </a:pPr>
            <a:r>
              <a:rPr lang="en-AU" sz="2200" dirty="0" smtClean="0">
                <a:latin typeface="Helvetica" pitchFamily="34" charset="0"/>
              </a:rPr>
              <a:t>Being prepared to test new ideas </a:t>
            </a:r>
          </a:p>
          <a:p>
            <a:pPr>
              <a:spcBef>
                <a:spcPts val="600"/>
              </a:spcBef>
              <a:spcAft>
                <a:spcPts val="1200"/>
              </a:spcAft>
            </a:pPr>
            <a:r>
              <a:rPr lang="en-AU" sz="2200" dirty="0" smtClean="0">
                <a:latin typeface="Helvetica" pitchFamily="34" charset="0"/>
              </a:rPr>
              <a:t>Seeking information and ideas from                                     non-traditional places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6" name="Picture 5" descr="shutterstock_126073382.jpg"/>
          <p:cNvPicPr/>
          <p:nvPr/>
        </p:nvPicPr>
        <p:blipFill>
          <a:blip r:embed="rId3" cstate="print"/>
          <a:stretch>
            <a:fillRect/>
          </a:stretch>
        </p:blipFill>
        <p:spPr>
          <a:xfrm>
            <a:off x="6156176" y="3645024"/>
            <a:ext cx="2076450" cy="1409700"/>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Encourage staff to input into plans</a:t>
            </a:r>
          </a:p>
        </p:txBody>
      </p:sp>
      <p:sp>
        <p:nvSpPr>
          <p:cNvPr id="3" name="Content Placeholder 2"/>
          <p:cNvSpPr>
            <a:spLocks noGrp="1"/>
          </p:cNvSpPr>
          <p:nvPr>
            <p:ph idx="1"/>
          </p:nvPr>
        </p:nvSpPr>
        <p:spPr>
          <a:xfrm>
            <a:off x="611560" y="1700808"/>
            <a:ext cx="6984776" cy="4896544"/>
          </a:xfrm>
        </p:spPr>
        <p:txBody>
          <a:bodyPr>
            <a:normAutofit/>
          </a:bodyPr>
          <a:lstStyle/>
          <a:p>
            <a:pPr>
              <a:spcBef>
                <a:spcPts val="600"/>
              </a:spcBef>
              <a:spcAft>
                <a:spcPts val="1200"/>
              </a:spcAft>
              <a:buNone/>
            </a:pPr>
            <a:r>
              <a:rPr lang="en-US" sz="2200" b="1" dirty="0" smtClean="0">
                <a:latin typeface="Helvetica" pitchFamily="34" charset="0"/>
              </a:rPr>
              <a:t>Methods to encourage staff input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Thanking people for their contributions</a:t>
            </a:r>
          </a:p>
          <a:p>
            <a:pPr>
              <a:spcBef>
                <a:spcPts val="600"/>
              </a:spcBef>
              <a:spcAft>
                <a:spcPts val="1200"/>
              </a:spcAft>
            </a:pPr>
            <a:r>
              <a:rPr lang="en-AU" sz="2200" dirty="0" smtClean="0">
                <a:latin typeface="Helvetica" pitchFamily="34" charset="0"/>
              </a:rPr>
              <a:t>Taking the time and effort to explain to someone who contributed an idea why their idea was not implemented </a:t>
            </a:r>
          </a:p>
          <a:p>
            <a:pPr>
              <a:spcBef>
                <a:spcPts val="600"/>
              </a:spcBef>
              <a:spcAft>
                <a:spcPts val="1200"/>
              </a:spcAft>
            </a:pPr>
            <a:r>
              <a:rPr lang="en-AU" sz="2200" dirty="0" smtClean="0">
                <a:latin typeface="Helvetica" pitchFamily="34" charset="0"/>
              </a:rPr>
              <a:t>Ensuring the person responsible for suggesting                          an effective new approach receives the credit                                  for doing so </a:t>
            </a:r>
          </a:p>
          <a:p>
            <a:pPr>
              <a:spcBef>
                <a:spcPts val="600"/>
              </a:spcBef>
              <a:spcAft>
                <a:spcPts val="1200"/>
              </a:spcAft>
              <a:buNone/>
            </a:pPr>
            <a:r>
              <a:rPr lang="en-AU" sz="2200" dirty="0" smtClean="0">
                <a:solidFill>
                  <a:srgbClr val="FF6600"/>
                </a:solidFill>
              </a:rPr>
              <a:t>COMPLETE ACTIVITY 19</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6" name="Picture 5" descr="W49_indian_lady_shaking_hands_shutterstock_106067732.jpg"/>
          <p:cNvPicPr>
            <a:picLocks noChangeAspect="1"/>
          </p:cNvPicPr>
          <p:nvPr/>
        </p:nvPicPr>
        <p:blipFill>
          <a:blip r:embed="rId3" cstate="print"/>
          <a:stretch>
            <a:fillRect/>
          </a:stretch>
        </p:blipFill>
        <p:spPr>
          <a:xfrm>
            <a:off x="7236296" y="3861048"/>
            <a:ext cx="1230822" cy="1845310"/>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Identify possible business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growth, including expansions and acquisitions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Contraction of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Catch-up</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Redirection, including business turnaround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Maintaining or growing market share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Moving into new markets</a:t>
            </a:r>
            <a:endParaRPr lang="en-AU" sz="2200" dirty="0" smtClean="0">
              <a:solidFill>
                <a:srgbClr val="FF6600"/>
              </a:solidFill>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7" name="Picture 6" descr="W42_Illustration_Growth_People_shutterstock_136968608.jpg"/>
          <p:cNvPicPr/>
          <p:nvPr/>
        </p:nvPicPr>
        <p:blipFill>
          <a:blip r:embed="rId3" cstate="print"/>
          <a:stretch>
            <a:fillRect/>
          </a:stretch>
        </p:blipFill>
        <p:spPr>
          <a:xfrm>
            <a:off x="6084168" y="2852936"/>
            <a:ext cx="2080379" cy="1224136"/>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700808"/>
            <a:ext cx="6552728" cy="4896544"/>
          </a:xfrm>
        </p:spPr>
        <p:txBody>
          <a:bodyPr>
            <a:normAutofit/>
          </a:bodyPr>
          <a:lstStyle/>
          <a:p>
            <a:pPr>
              <a:spcBef>
                <a:spcPts val="600"/>
              </a:spcBef>
              <a:spcAft>
                <a:spcPts val="1200"/>
              </a:spcAft>
              <a:buNone/>
            </a:pPr>
            <a:r>
              <a:rPr lang="en-AU" sz="2200" b="1" dirty="0" smtClean="0">
                <a:latin typeface="Helvetica" pitchFamily="34" charset="0"/>
              </a:rPr>
              <a:t>Identify possible business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Refurbishing the property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Developing new products, services or facilities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Making changes to or upgrading existing products, services, packages, deals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Re-positioning the venue in the marketplace                           in the eyes of the customers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6" name="Picture 5" descr="Best Tour_129392636.jpg"/>
          <p:cNvPicPr>
            <a:picLocks noChangeAspect="1"/>
          </p:cNvPicPr>
          <p:nvPr/>
        </p:nvPicPr>
        <p:blipFill>
          <a:blip r:embed="rId3" cstate="print"/>
          <a:stretch>
            <a:fillRect/>
          </a:stretch>
        </p:blipFill>
        <p:spPr>
          <a:xfrm>
            <a:off x="6792416" y="3212976"/>
            <a:ext cx="1596008" cy="1492267"/>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484784"/>
            <a:ext cx="7467600" cy="4896544"/>
          </a:xfrm>
        </p:spPr>
        <p:txBody>
          <a:bodyPr>
            <a:normAutofit/>
          </a:bodyPr>
          <a:lstStyle/>
          <a:p>
            <a:pPr>
              <a:spcBef>
                <a:spcPts val="600"/>
              </a:spcBef>
              <a:spcAft>
                <a:spcPts val="600"/>
              </a:spcAft>
              <a:buNone/>
            </a:pPr>
            <a:r>
              <a:rPr lang="en-AU" sz="2200" b="1" dirty="0" smtClean="0">
                <a:latin typeface="Helvetica" pitchFamily="34" charset="0"/>
              </a:rPr>
              <a:t>Identify possible business strategies</a:t>
            </a:r>
            <a:endParaRPr lang="en-US" sz="2200" dirty="0" smtClean="0">
              <a:latin typeface="Helvetica" pitchFamily="34" charset="0"/>
            </a:endParaRPr>
          </a:p>
          <a:p>
            <a:pPr lvl="0">
              <a:spcBef>
                <a:spcPts val="600"/>
              </a:spcBef>
              <a:spcAft>
                <a:spcPts val="600"/>
              </a:spcAft>
              <a:buNone/>
            </a:pPr>
            <a:r>
              <a:rPr lang="en-AU" sz="2200" dirty="0" smtClean="0">
                <a:latin typeface="Helvetica" pitchFamily="34" charset="0"/>
              </a:rPr>
              <a:t>Addressing specific areas such as: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Technology</a:t>
            </a:r>
          </a:p>
          <a:p>
            <a:pPr lvl="0">
              <a:spcBef>
                <a:spcPts val="600"/>
              </a:spcBef>
              <a:spcAft>
                <a:spcPts val="600"/>
              </a:spcAft>
            </a:pPr>
            <a:r>
              <a:rPr lang="en-US" sz="2200" dirty="0" smtClean="0">
                <a:latin typeface="Helvetica" pitchFamily="34" charset="0"/>
              </a:rPr>
              <a:t>Staffing</a:t>
            </a:r>
          </a:p>
          <a:p>
            <a:pPr lvl="0">
              <a:spcBef>
                <a:spcPts val="600"/>
              </a:spcBef>
              <a:spcAft>
                <a:spcPts val="600"/>
              </a:spcAft>
            </a:pPr>
            <a:r>
              <a:rPr lang="en-US" sz="2200" dirty="0" smtClean="0">
                <a:latin typeface="Helvetica" pitchFamily="34" charset="0"/>
              </a:rPr>
              <a:t>Funding</a:t>
            </a:r>
          </a:p>
          <a:p>
            <a:pPr lvl="0">
              <a:spcBef>
                <a:spcPts val="600"/>
              </a:spcBef>
              <a:spcAft>
                <a:spcPts val="600"/>
              </a:spcAft>
            </a:pPr>
            <a:r>
              <a:rPr lang="en-US" sz="2200" dirty="0" smtClean="0">
                <a:latin typeface="Helvetica" pitchFamily="34" charset="0"/>
              </a:rPr>
              <a:t>Marketing</a:t>
            </a:r>
          </a:p>
          <a:p>
            <a:pPr lvl="0">
              <a:spcBef>
                <a:spcPts val="600"/>
              </a:spcBef>
              <a:spcAft>
                <a:spcPts val="600"/>
              </a:spcAft>
            </a:pPr>
            <a:r>
              <a:rPr lang="en-US" sz="2200" dirty="0" smtClean="0">
                <a:latin typeface="Helvetica" pitchFamily="34" charset="0"/>
              </a:rPr>
              <a:t>Products and services</a:t>
            </a:r>
          </a:p>
          <a:p>
            <a:pPr lvl="0">
              <a:spcBef>
                <a:spcPts val="600"/>
              </a:spcBef>
              <a:spcAft>
                <a:spcPts val="600"/>
              </a:spcAft>
            </a:pPr>
            <a:r>
              <a:rPr lang="en-US" sz="2200" dirty="0" smtClean="0">
                <a:latin typeface="Helvetica" pitchFamily="34" charset="0"/>
              </a:rPr>
              <a:t>Sales</a:t>
            </a:r>
          </a:p>
          <a:p>
            <a:pPr lvl="0">
              <a:spcBef>
                <a:spcPts val="600"/>
              </a:spcBef>
              <a:spcAft>
                <a:spcPts val="600"/>
              </a:spcAft>
            </a:pPr>
            <a:r>
              <a:rPr lang="en-US" sz="2200" dirty="0" smtClean="0">
                <a:latin typeface="Helvetica" pitchFamily="34" charset="0"/>
              </a:rPr>
              <a:t>Administration</a:t>
            </a:r>
          </a:p>
          <a:p>
            <a:pPr lvl="0">
              <a:spcBef>
                <a:spcPts val="600"/>
              </a:spcBef>
              <a:spcAft>
                <a:spcPts val="600"/>
              </a:spcAft>
            </a:pPr>
            <a:r>
              <a:rPr lang="en-US" sz="2200" dirty="0" smtClean="0">
                <a:latin typeface="Helvetica" pitchFamily="34" charset="0"/>
              </a:rPr>
              <a:t>Structure and organisation</a:t>
            </a: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3074" name="Picture 2" descr="C:\Documents and Settings\Godaishu\Local Settings\Temporary Internet Files\Content.IE5\KKO48ZB1\Marketing[1].png"/>
          <p:cNvPicPr>
            <a:picLocks noChangeAspect="1" noChangeArrowheads="1"/>
          </p:cNvPicPr>
          <p:nvPr/>
        </p:nvPicPr>
        <p:blipFill>
          <a:blip r:embed="rId3" cstate="print">
            <a:duotone>
              <a:schemeClr val="accent1">
                <a:shade val="45000"/>
                <a:satMod val="135000"/>
              </a:schemeClr>
              <a:prstClr val="white"/>
            </a:duotone>
          </a:blip>
          <a:srcRect/>
          <a:stretch>
            <a:fillRect/>
          </a:stretch>
        </p:blipFill>
        <p:spPr bwMode="auto">
          <a:xfrm>
            <a:off x="5724128" y="2708920"/>
            <a:ext cx="2314575" cy="1905000"/>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Develop capability statements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One way of identifying what the business can and wants do is to develop a range of ‘capability statements’.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These capability statements will specify: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the business is able to do</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its limitations are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7" name="Picture 6" descr="A11 158587457.jpg"/>
          <p:cNvPicPr/>
          <p:nvPr/>
        </p:nvPicPr>
        <p:blipFill>
          <a:blip r:embed="rId3" cstate="print"/>
          <a:stretch>
            <a:fillRect/>
          </a:stretch>
        </p:blipFill>
        <p:spPr>
          <a:xfrm>
            <a:off x="6300192" y="3861048"/>
            <a:ext cx="1903095" cy="1266825"/>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Types of capability statements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External capability statements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Internal capability statements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8" name="Picture 7" descr="shutterstock_165735539.jpg"/>
          <p:cNvPicPr/>
          <p:nvPr/>
        </p:nvPicPr>
        <p:blipFill>
          <a:blip r:embed="rId3" cstate="print"/>
          <a:stretch>
            <a:fillRect/>
          </a:stretch>
        </p:blipFill>
        <p:spPr>
          <a:xfrm>
            <a:off x="5724128" y="1988840"/>
            <a:ext cx="2296840" cy="1574279"/>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Undertake gap analysis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is its purpose?</a:t>
            </a:r>
          </a:p>
          <a:p>
            <a:pPr>
              <a:spcBef>
                <a:spcPts val="600"/>
              </a:spcBef>
              <a:spcAft>
                <a:spcPts val="1200"/>
              </a:spcAft>
            </a:pPr>
            <a:r>
              <a:rPr lang="en-US" sz="2200" dirty="0" smtClean="0">
                <a:latin typeface="Helvetica" pitchFamily="34" charset="0"/>
              </a:rPr>
              <a:t>What information is contained in a gap analysis?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6" name="Picture 5" descr="Assessment_115352104.jpg"/>
          <p:cNvPicPr/>
          <p:nvPr/>
        </p:nvPicPr>
        <p:blipFill>
          <a:blip r:embed="rId3" cstate="print"/>
          <a:stretch>
            <a:fillRect/>
          </a:stretch>
        </p:blipFill>
        <p:spPr>
          <a:xfrm>
            <a:off x="3635896" y="3933056"/>
            <a:ext cx="1865630" cy="1247775"/>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Develop Key Performance Indicators (KPIs)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Total number of customers </a:t>
            </a:r>
          </a:p>
          <a:p>
            <a:pPr lvl="0">
              <a:spcBef>
                <a:spcPts val="600"/>
              </a:spcBef>
              <a:spcAft>
                <a:spcPts val="1200"/>
              </a:spcAft>
            </a:pPr>
            <a:r>
              <a:rPr lang="en-US" sz="2200" dirty="0" smtClean="0">
                <a:latin typeface="Helvetica" pitchFamily="34" charset="0"/>
              </a:rPr>
              <a:t>Total number of customers per department or market segment </a:t>
            </a:r>
          </a:p>
          <a:p>
            <a:pPr lvl="0">
              <a:spcBef>
                <a:spcPts val="600"/>
              </a:spcBef>
              <a:spcAft>
                <a:spcPts val="1200"/>
              </a:spcAft>
            </a:pPr>
            <a:r>
              <a:rPr lang="en-US" sz="2200" dirty="0" smtClean="0">
                <a:latin typeface="Helvetica" pitchFamily="34" charset="0"/>
              </a:rPr>
              <a:t>Average dollar spent </a:t>
            </a:r>
          </a:p>
          <a:p>
            <a:pPr lvl="0">
              <a:spcBef>
                <a:spcPts val="600"/>
              </a:spcBef>
              <a:spcAft>
                <a:spcPts val="1200"/>
              </a:spcAft>
            </a:pPr>
            <a:r>
              <a:rPr lang="en-US" sz="2200" dirty="0" smtClean="0">
                <a:latin typeface="Helvetica" pitchFamily="34" charset="0"/>
              </a:rPr>
              <a:t>Total revenue per capita </a:t>
            </a:r>
          </a:p>
          <a:p>
            <a:pPr lvl="0">
              <a:spcBef>
                <a:spcPts val="600"/>
              </a:spcBef>
              <a:spcAft>
                <a:spcPts val="1200"/>
              </a:spcAft>
            </a:pPr>
            <a:r>
              <a:rPr lang="en-US" sz="2200" dirty="0" smtClean="0">
                <a:latin typeface="Helvetica" pitchFamily="34" charset="0"/>
              </a:rPr>
              <a:t>Sales per product group </a:t>
            </a:r>
          </a:p>
          <a:p>
            <a:pPr lvl="0">
              <a:spcBef>
                <a:spcPts val="600"/>
              </a:spcBef>
              <a:spcAft>
                <a:spcPts val="1200"/>
              </a:spcAft>
            </a:pPr>
            <a:r>
              <a:rPr lang="en-US" sz="2200" dirty="0" smtClean="0">
                <a:latin typeface="Helvetica" pitchFamily="34" charset="0"/>
              </a:rPr>
              <a:t>Average sales per day’s trading </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shutterstock_196106324.jpg"/>
          <p:cNvPicPr/>
          <p:nvPr/>
        </p:nvPicPr>
        <p:blipFill>
          <a:blip r:embed="rId3" cstate="print"/>
          <a:stretch>
            <a:fillRect/>
          </a:stretch>
        </p:blipFill>
        <p:spPr>
          <a:xfrm>
            <a:off x="6300192" y="3933056"/>
            <a:ext cx="1752600" cy="1162050"/>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Develop Key Performance Indicators (KPIs)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Average total revenue per client </a:t>
            </a:r>
          </a:p>
          <a:p>
            <a:pPr lvl="0">
              <a:spcBef>
                <a:spcPts val="600"/>
              </a:spcBef>
              <a:spcAft>
                <a:spcPts val="1200"/>
              </a:spcAft>
            </a:pPr>
            <a:r>
              <a:rPr lang="en-US" sz="2200" dirty="0" smtClean="0">
                <a:latin typeface="Helvetica" pitchFamily="34" charset="0"/>
              </a:rPr>
              <a:t>Marketing expense per customer </a:t>
            </a:r>
          </a:p>
          <a:p>
            <a:pPr lvl="0">
              <a:spcBef>
                <a:spcPts val="600"/>
              </a:spcBef>
              <a:spcAft>
                <a:spcPts val="1200"/>
              </a:spcAft>
            </a:pPr>
            <a:r>
              <a:rPr lang="en-US" sz="2200" dirty="0" smtClean="0">
                <a:latin typeface="Helvetica" pitchFamily="34" charset="0"/>
              </a:rPr>
              <a:t>Marketing expense and sales revenue per customer from a specific campaign </a:t>
            </a:r>
          </a:p>
          <a:p>
            <a:pPr lvl="0">
              <a:spcBef>
                <a:spcPts val="600"/>
              </a:spcBef>
              <a:spcAft>
                <a:spcPts val="1200"/>
              </a:spcAft>
            </a:pPr>
            <a:r>
              <a:rPr lang="en-US" sz="2200" dirty="0" smtClean="0">
                <a:latin typeface="Helvetica" pitchFamily="34" charset="0"/>
              </a:rPr>
              <a:t>Total revenue / full time employee </a:t>
            </a:r>
          </a:p>
          <a:p>
            <a:pPr lvl="0">
              <a:spcBef>
                <a:spcPts val="600"/>
              </a:spcBef>
              <a:spcAft>
                <a:spcPts val="1200"/>
              </a:spcAft>
            </a:pPr>
            <a:r>
              <a:rPr lang="en-US" sz="2200" dirty="0" smtClean="0">
                <a:latin typeface="Helvetica" pitchFamily="34" charset="0"/>
              </a:rPr>
              <a:t>Gross profit margin </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7" name="Picture 6" descr="shutterstock_200057282.jpg"/>
          <p:cNvPicPr>
            <a:picLocks noChangeAspect="1"/>
          </p:cNvPicPr>
          <p:nvPr/>
        </p:nvPicPr>
        <p:blipFill>
          <a:blip r:embed="rId3" cstate="print"/>
          <a:stretch>
            <a:fillRect/>
          </a:stretch>
        </p:blipFill>
        <p:spPr>
          <a:xfrm>
            <a:off x="6084168" y="4077072"/>
            <a:ext cx="2061937" cy="1369126"/>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GB" sz="2200" b="1" dirty="0" smtClean="0">
                <a:latin typeface="Helvetica" pitchFamily="34" charset="0"/>
              </a:rPr>
              <a:t>Define and assign roles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Structure of the project time</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Level of responsibility and authority</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Start dates of change</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Expected completion date</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Pre-change activities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Activities to be performed</a:t>
            </a:r>
            <a:endParaRPr lang="en-US" sz="2200" dirty="0" smtClean="0">
              <a:latin typeface="Helvetica" pitchFamily="34" charset="0"/>
            </a:endParaRPr>
          </a:p>
          <a:p>
            <a:pPr>
              <a:spcBef>
                <a:spcPts val="600"/>
              </a:spcBef>
              <a:spcAft>
                <a:spcPts val="600"/>
              </a:spcAft>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6" name="Picture 5" descr="shutterstock_188933945.jpg"/>
          <p:cNvPicPr/>
          <p:nvPr/>
        </p:nvPicPr>
        <p:blipFill>
          <a:blip r:embed="rId3" cstate="print"/>
          <a:stretch>
            <a:fillRect/>
          </a:stretch>
        </p:blipFill>
        <p:spPr>
          <a:xfrm>
            <a:off x="6084168" y="2492896"/>
            <a:ext cx="2245995" cy="1495425"/>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GB" sz="2200" b="1" dirty="0" smtClean="0">
                <a:latin typeface="Helvetica" pitchFamily="34" charset="0"/>
              </a:rPr>
              <a:t>Define and assign roles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Resources required to implement the plan</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Work breakdown</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Involvement of other staff</a:t>
            </a:r>
            <a:endParaRPr lang="en-US" sz="2200" dirty="0" smtClean="0">
              <a:latin typeface="Helvetica" pitchFamily="34" charset="0"/>
            </a:endParaRPr>
          </a:p>
          <a:p>
            <a:pPr>
              <a:spcBef>
                <a:spcPts val="600"/>
              </a:spcBef>
              <a:spcAft>
                <a:spcPts val="1200"/>
              </a:spcAft>
            </a:pPr>
            <a:r>
              <a:rPr lang="en-GB" sz="2200" dirty="0" smtClean="0">
                <a:latin typeface="Helvetica" pitchFamily="34" charset="0"/>
              </a:rPr>
              <a:t>Training to be taken </a:t>
            </a:r>
          </a:p>
          <a:p>
            <a:pPr lvl="0">
              <a:spcBef>
                <a:spcPts val="600"/>
              </a:spcBef>
              <a:spcAft>
                <a:spcPts val="1200"/>
              </a:spcAft>
            </a:pPr>
            <a:r>
              <a:rPr lang="en-GB" sz="2200" dirty="0" smtClean="0">
                <a:latin typeface="Helvetica" pitchFamily="34" charset="0"/>
              </a:rPr>
              <a:t>Support mechanisms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Expected standard of performance</a:t>
            </a:r>
            <a:endParaRPr lang="en-US" sz="2200" dirty="0" smtClean="0">
              <a:latin typeface="Helvetica" pitchFamily="34" charset="0"/>
            </a:endParaRPr>
          </a:p>
          <a:p>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7" name="Picture 6" descr="shutterstock_95857066.jpg"/>
          <p:cNvPicPr/>
          <p:nvPr/>
        </p:nvPicPr>
        <p:blipFill>
          <a:blip r:embed="rId3" cstate="print"/>
          <a:stretch>
            <a:fillRect/>
          </a:stretch>
        </p:blipFill>
        <p:spPr>
          <a:xfrm>
            <a:off x="6516216" y="3068960"/>
            <a:ext cx="1668780" cy="137160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GB" sz="2200" b="1" dirty="0" smtClean="0">
                <a:latin typeface="Helvetica" pitchFamily="34" charset="0"/>
              </a:rPr>
              <a:t>Define and assign roles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Milestones for completion</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Budgets to work within</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Methods of communication</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Making observations</a:t>
            </a:r>
            <a:endParaRPr lang="en-US" sz="2200" dirty="0" smtClean="0">
              <a:latin typeface="Helvetica" pitchFamily="34" charset="0"/>
            </a:endParaRPr>
          </a:p>
          <a:p>
            <a:pPr>
              <a:spcBef>
                <a:spcPts val="600"/>
              </a:spcBef>
              <a:spcAft>
                <a:spcPts val="1200"/>
              </a:spcAft>
            </a:pPr>
            <a:r>
              <a:rPr lang="en-GB" sz="2200" dirty="0" smtClean="0">
                <a:latin typeface="Helvetica" pitchFamily="34" charset="0"/>
              </a:rPr>
              <a:t>Providing feedback</a:t>
            </a: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6" name="Picture 5" descr="shutterstock_159046976.jpg"/>
          <p:cNvPicPr>
            <a:picLocks noChangeAspect="1"/>
          </p:cNvPicPr>
          <p:nvPr/>
        </p:nvPicPr>
        <p:blipFill>
          <a:blip r:embed="rId3" cstate="print"/>
          <a:stretch>
            <a:fillRect/>
          </a:stretch>
        </p:blipFill>
        <p:spPr>
          <a:xfrm>
            <a:off x="5940152" y="2420888"/>
            <a:ext cx="2279706" cy="1520564"/>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Identify business strategies</a:t>
            </a:r>
          </a:p>
        </p:txBody>
      </p:sp>
      <p:sp>
        <p:nvSpPr>
          <p:cNvPr id="3" name="Content Placeholder 2"/>
          <p:cNvSpPr>
            <a:spLocks noGrp="1"/>
          </p:cNvSpPr>
          <p:nvPr>
            <p:ph idx="1"/>
          </p:nvPr>
        </p:nvSpPr>
        <p:spPr>
          <a:xfrm>
            <a:off x="611560" y="1700808"/>
            <a:ext cx="7467600" cy="4896544"/>
          </a:xfrm>
        </p:spPr>
        <p:txBody>
          <a:bodyPr>
            <a:normAutofit/>
          </a:bodyPr>
          <a:lstStyle/>
          <a:p>
            <a:pPr marL="0">
              <a:spcBef>
                <a:spcPts val="600"/>
              </a:spcBef>
              <a:spcAft>
                <a:spcPts val="1200"/>
              </a:spcAft>
              <a:buNone/>
            </a:pPr>
            <a:r>
              <a:rPr lang="en-GB" sz="2200" b="1" dirty="0" smtClean="0">
                <a:latin typeface="Helvetica" pitchFamily="34" charset="0"/>
              </a:rPr>
              <a:t>Identify support and resources to support implementation of strategies</a:t>
            </a:r>
            <a:endParaRPr lang="en-US" sz="2200" b="1" dirty="0" smtClean="0">
              <a:latin typeface="Helvetica" pitchFamily="34" charset="0"/>
            </a:endParaRPr>
          </a:p>
          <a:p>
            <a:pPr marL="0">
              <a:spcBef>
                <a:spcPts val="600"/>
              </a:spcBef>
              <a:spcAft>
                <a:spcPts val="1200"/>
              </a:spcAft>
              <a:buNone/>
            </a:pPr>
            <a:r>
              <a:rPr lang="en-GB" sz="2200" dirty="0" smtClean="0">
                <a:latin typeface="Helvetica" pitchFamily="34" charset="0"/>
              </a:rPr>
              <a:t>The aim is to enable staff to be able to learn and implement new strategies into the workplace.</a:t>
            </a:r>
            <a:endParaRPr lang="en-US" sz="2200" dirty="0" smtClean="0">
              <a:latin typeface="Helvetica" pitchFamily="34" charset="0"/>
            </a:endParaRPr>
          </a:p>
          <a:p>
            <a:pPr>
              <a:spcBef>
                <a:spcPts val="600"/>
              </a:spcBef>
              <a:spcAft>
                <a:spcPts val="1200"/>
              </a:spcAft>
              <a:buNone/>
            </a:pPr>
            <a:r>
              <a:rPr lang="en-GB" sz="2200" dirty="0" smtClean="0">
                <a:latin typeface="Helvetica" pitchFamily="34" charset="0"/>
              </a:rPr>
              <a:t>During this period, you must manage the twin functions of:</a:t>
            </a:r>
          </a:p>
          <a:p>
            <a:pPr>
              <a:spcBef>
                <a:spcPts val="600"/>
              </a:spcBef>
              <a:spcAft>
                <a:spcPts val="1200"/>
              </a:spcAft>
            </a:pPr>
            <a:r>
              <a:rPr lang="en-GB" sz="2200" dirty="0" smtClean="0">
                <a:latin typeface="Helvetica" pitchFamily="34" charset="0"/>
              </a:rPr>
              <a:t>Task functions</a:t>
            </a:r>
          </a:p>
          <a:p>
            <a:pPr>
              <a:spcBef>
                <a:spcPts val="600"/>
              </a:spcBef>
              <a:spcAft>
                <a:spcPts val="1200"/>
              </a:spcAft>
            </a:pPr>
            <a:r>
              <a:rPr lang="en-GB" sz="2200" dirty="0" smtClean="0">
                <a:latin typeface="Helvetica" pitchFamily="34" charset="0"/>
              </a:rPr>
              <a:t>Maintenance functions</a:t>
            </a:r>
            <a:endParaRPr lang="en-US" sz="2200" dirty="0" smtClean="0">
              <a:latin typeface="Helvetica" pitchFamily="34" charset="0"/>
            </a:endParaRPr>
          </a:p>
          <a:p>
            <a:pPr>
              <a:buNone/>
            </a:pPr>
            <a:endParaRPr lang="en-US" sz="2400" dirty="0" smtClean="0"/>
          </a:p>
          <a:p>
            <a:pPr>
              <a:buNone/>
            </a:pPr>
            <a:r>
              <a:rPr lang="en-AU" sz="2200" dirty="0" smtClean="0">
                <a:solidFill>
                  <a:srgbClr val="FF6600"/>
                </a:solidFill>
              </a:rPr>
              <a:t>COMPLETE ACTIVITY 20</a:t>
            </a:r>
            <a:endParaRPr lang="en-US" sz="2200" dirty="0" smtClean="0">
              <a:latin typeface="Helvetica" pitchFamily="34" charset="0"/>
            </a:endParaRPr>
          </a:p>
          <a:p>
            <a:pPr>
              <a:buNone/>
            </a:pPr>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7" name="Picture 6" descr="W105_Success_Group_Clapping_H_shutterstock_122824909.jpg"/>
          <p:cNvPicPr/>
          <p:nvPr/>
        </p:nvPicPr>
        <p:blipFill>
          <a:blip r:embed="rId3" cstate="print"/>
          <a:stretch>
            <a:fillRect/>
          </a:stretch>
        </p:blipFill>
        <p:spPr>
          <a:xfrm>
            <a:off x="5868144" y="4437112"/>
            <a:ext cx="2000250" cy="1400175"/>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business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Present final strategies to relevant stakeholders accurately</a:t>
            </a:r>
          </a:p>
          <a:p>
            <a:r>
              <a:rPr lang="en-AU" sz="2200" dirty="0" smtClean="0">
                <a:latin typeface="Helvetica" pitchFamily="34" charset="0"/>
              </a:rPr>
              <a:t>Once business strategies been finalised, it is now time to present the final version to relevant stakeholders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7" name="Picture 6" descr="shutterstock_133083470.jpg"/>
          <p:cNvPicPr/>
          <p:nvPr/>
        </p:nvPicPr>
        <p:blipFill>
          <a:blip r:embed="rId3" cstate="print"/>
          <a:stretch>
            <a:fillRect/>
          </a:stretch>
        </p:blipFill>
        <p:spPr>
          <a:xfrm>
            <a:off x="3131840" y="3933056"/>
            <a:ext cx="2376488" cy="1800225"/>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business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912768" cy="4525963"/>
          </a:xfrm>
        </p:spPr>
        <p:txBody>
          <a:bodyPr>
            <a:noAutofit/>
          </a:bodyPr>
          <a:lstStyle/>
          <a:p>
            <a:pPr>
              <a:spcBef>
                <a:spcPts val="600"/>
              </a:spcBef>
              <a:spcAft>
                <a:spcPts val="1000"/>
              </a:spcAft>
              <a:buNone/>
            </a:pPr>
            <a:r>
              <a:rPr lang="en-AU" sz="2200" b="1" dirty="0" smtClean="0">
                <a:latin typeface="Helvetica" pitchFamily="34" charset="0"/>
              </a:rPr>
              <a:t>Stakeholder considerations</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Get a clear understanding of the business strategies</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Ensure that all key concerns have been considered</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Understand the benefits of the business strategies</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Understand how the business strategies will benefit them</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Understand how the business strategies                               will impact on them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6" name="Picture 5" descr="shutterstock_131587952.jpg"/>
          <p:cNvPicPr/>
          <p:nvPr/>
        </p:nvPicPr>
        <p:blipFill>
          <a:blip r:embed="rId3" cstate="print"/>
          <a:stretch>
            <a:fillRect/>
          </a:stretch>
        </p:blipFill>
        <p:spPr>
          <a:xfrm>
            <a:off x="6876256" y="2564904"/>
            <a:ext cx="1457323" cy="1000124"/>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business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832648" cy="4525963"/>
          </a:xfrm>
        </p:spPr>
        <p:txBody>
          <a:bodyPr>
            <a:normAutofit/>
          </a:bodyPr>
          <a:lstStyle/>
          <a:p>
            <a:pPr>
              <a:spcBef>
                <a:spcPts val="600"/>
              </a:spcBef>
              <a:spcAft>
                <a:spcPts val="1200"/>
              </a:spcAft>
              <a:buNone/>
            </a:pPr>
            <a:r>
              <a:rPr lang="en-AU" sz="2200" b="1" dirty="0" smtClean="0">
                <a:latin typeface="Helvetica" pitchFamily="34" charset="0"/>
              </a:rPr>
              <a:t>Stakeholder considerations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 their role in implementing the business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Any potential problems identified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Have their concerns addressed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 excited and reassured about the business strategies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7" name="Picture 6" descr="shutterstock_134583104.jpg"/>
          <p:cNvPicPr/>
          <p:nvPr/>
        </p:nvPicPr>
        <p:blipFill>
          <a:blip r:embed="rId3" cstate="print"/>
          <a:stretch>
            <a:fillRect/>
          </a:stretch>
        </p:blipFill>
        <p:spPr>
          <a:xfrm>
            <a:off x="6156176" y="2852936"/>
            <a:ext cx="2105034" cy="128588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business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a:spcBef>
                <a:spcPts val="600"/>
              </a:spcBef>
              <a:spcAft>
                <a:spcPts val="600"/>
              </a:spcAft>
              <a:buNone/>
            </a:pPr>
            <a:r>
              <a:rPr lang="en-AU" sz="2200" b="1" dirty="0" smtClean="0">
                <a:latin typeface="Helvetica" pitchFamily="34" charset="0"/>
              </a:rPr>
              <a:t>Types of stakeholders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Clients</a:t>
            </a:r>
          </a:p>
          <a:p>
            <a:pPr lvl="0">
              <a:spcBef>
                <a:spcPts val="600"/>
              </a:spcBef>
              <a:spcAft>
                <a:spcPts val="600"/>
              </a:spcAft>
            </a:pPr>
            <a:r>
              <a:rPr lang="en-AU" sz="2200" dirty="0" smtClean="0">
                <a:latin typeface="Helvetica" pitchFamily="34" charset="0"/>
              </a:rPr>
              <a:t>Business partners</a:t>
            </a:r>
          </a:p>
          <a:p>
            <a:pPr lvl="0">
              <a:spcBef>
                <a:spcPts val="600"/>
              </a:spcBef>
              <a:spcAft>
                <a:spcPts val="600"/>
              </a:spcAft>
            </a:pPr>
            <a:r>
              <a:rPr lang="en-AU" sz="2200" dirty="0" smtClean="0">
                <a:latin typeface="Helvetica" pitchFamily="34" charset="0"/>
              </a:rPr>
              <a:t>Colleagues</a:t>
            </a:r>
          </a:p>
          <a:p>
            <a:pPr lvl="0">
              <a:spcBef>
                <a:spcPts val="600"/>
              </a:spcBef>
              <a:spcAft>
                <a:spcPts val="600"/>
              </a:spcAft>
            </a:pPr>
            <a:r>
              <a:rPr lang="en-AU" sz="2200" dirty="0" smtClean="0">
                <a:latin typeface="Helvetica" pitchFamily="34" charset="0"/>
              </a:rPr>
              <a:t>Staff</a:t>
            </a:r>
          </a:p>
          <a:p>
            <a:pPr lvl="0">
              <a:spcBef>
                <a:spcPts val="600"/>
              </a:spcBef>
              <a:spcAft>
                <a:spcPts val="600"/>
              </a:spcAft>
            </a:pPr>
            <a:r>
              <a:rPr lang="en-AU" sz="2200" dirty="0" smtClean="0">
                <a:latin typeface="Helvetica" pitchFamily="34" charset="0"/>
              </a:rPr>
              <a:t>Superiors</a:t>
            </a:r>
          </a:p>
          <a:p>
            <a:pPr lvl="0">
              <a:spcBef>
                <a:spcPts val="600"/>
              </a:spcBef>
              <a:spcAft>
                <a:spcPts val="600"/>
              </a:spcAft>
            </a:pPr>
            <a:r>
              <a:rPr lang="en-AU" sz="2200" dirty="0" smtClean="0">
                <a:latin typeface="Helvetica" pitchFamily="34" charset="0"/>
              </a:rPr>
              <a:t>Suppliers / vendors</a:t>
            </a:r>
          </a:p>
          <a:p>
            <a:pPr lvl="0">
              <a:spcBef>
                <a:spcPts val="600"/>
              </a:spcBef>
              <a:spcAft>
                <a:spcPts val="600"/>
              </a:spcAft>
            </a:pPr>
            <a:r>
              <a:rPr lang="en-AU" sz="2200" dirty="0" smtClean="0">
                <a:latin typeface="Helvetica" pitchFamily="34" charset="0"/>
              </a:rPr>
              <a:t>Team leaders</a:t>
            </a:r>
          </a:p>
          <a:p>
            <a:pPr lvl="0">
              <a:spcBef>
                <a:spcPts val="600"/>
              </a:spcBef>
              <a:spcAft>
                <a:spcPts val="600"/>
              </a:spcAft>
            </a:pPr>
            <a:r>
              <a:rPr lang="en-AU" sz="2200" dirty="0" smtClean="0">
                <a:latin typeface="Helvetica" pitchFamily="34" charset="0"/>
              </a:rPr>
              <a:t>Team members</a:t>
            </a:r>
          </a:p>
          <a:p>
            <a:pPr lvl="0">
              <a:spcBef>
                <a:spcPts val="600"/>
              </a:spcBef>
              <a:spcAft>
                <a:spcPts val="600"/>
              </a:spcAft>
            </a:pPr>
            <a:r>
              <a:rPr lang="en-AU" sz="2200" dirty="0" smtClean="0">
                <a:latin typeface="Helvetica" pitchFamily="34" charset="0"/>
              </a:rPr>
              <a:t>Venue operator / leaser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7" name="Picture 6" descr="shutterstock_128200763.jpg"/>
          <p:cNvPicPr/>
          <p:nvPr/>
        </p:nvPicPr>
        <p:blipFill>
          <a:blip r:embed="rId3" cstate="print"/>
          <a:stretch>
            <a:fillRect/>
          </a:stretch>
        </p:blipFill>
        <p:spPr>
          <a:xfrm>
            <a:off x="6012160" y="2852936"/>
            <a:ext cx="2281248" cy="1519244"/>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US" sz="3400" b="1" dirty="0" smtClean="0">
                <a:solidFill>
                  <a:srgbClr val="FF6600"/>
                </a:solidFill>
                <a:latin typeface="Helvetica" pitchFamily="34" charset="0"/>
              </a:rPr>
              <a:t>Communicate business strategies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AU" sz="2200" b="1" dirty="0" smtClean="0">
                <a:latin typeface="Helvetica" pitchFamily="34" charset="0"/>
              </a:rPr>
              <a:t>Communicate business strategy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Key vision of the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Reasoning or purpose behind the business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Background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objectives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How the strategies will be implemented</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Roles and responsibilities of key stakeholders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Timelines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Support mechanisms</a:t>
            </a:r>
            <a:endParaRPr lang="en-US" sz="2200" dirty="0" smtClean="0">
              <a:latin typeface="Helvetica" pitchFamily="34" charset="0"/>
            </a:endParaRPr>
          </a:p>
          <a:p>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6" name="Picture 5" descr="W270_whiteboard_shutterstock_147483182.jpg"/>
          <p:cNvPicPr/>
          <p:nvPr/>
        </p:nvPicPr>
        <p:blipFill>
          <a:blip r:embed="rId3" cstate="print">
            <a:lum contrast="20000"/>
          </a:blip>
          <a:stretch>
            <a:fillRect/>
          </a:stretch>
        </p:blipFill>
        <p:spPr>
          <a:xfrm>
            <a:off x="6876256" y="3212976"/>
            <a:ext cx="1415396" cy="1181089"/>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US" sz="3400" b="1" dirty="0" smtClean="0">
                <a:solidFill>
                  <a:srgbClr val="FF6600"/>
                </a:solidFill>
                <a:latin typeface="Helvetica" pitchFamily="34" charset="0"/>
              </a:rPr>
              <a:t>Communicate business strategies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Communicate information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How can you communicate information to:</a:t>
            </a:r>
          </a:p>
          <a:p>
            <a:pPr>
              <a:spcBef>
                <a:spcPts val="600"/>
              </a:spcBef>
              <a:spcAft>
                <a:spcPts val="1200"/>
              </a:spcAft>
            </a:pPr>
            <a:r>
              <a:rPr lang="en-AU" sz="2200" dirty="0" smtClean="0">
                <a:latin typeface="Helvetica" pitchFamily="34" charset="0"/>
              </a:rPr>
              <a:t>Staff</a:t>
            </a:r>
          </a:p>
          <a:p>
            <a:pPr>
              <a:spcBef>
                <a:spcPts val="600"/>
              </a:spcBef>
              <a:spcAft>
                <a:spcPts val="1200"/>
              </a:spcAft>
            </a:pPr>
            <a:r>
              <a:rPr lang="en-AU" sz="2200" dirty="0" smtClean="0">
                <a:latin typeface="Helvetica" pitchFamily="34" charset="0"/>
              </a:rPr>
              <a:t>Managers</a:t>
            </a:r>
          </a:p>
          <a:p>
            <a:pPr>
              <a:spcBef>
                <a:spcPts val="600"/>
              </a:spcBef>
              <a:spcAft>
                <a:spcPts val="1200"/>
              </a:spcAft>
            </a:pPr>
            <a:r>
              <a:rPr lang="en-AU" sz="2200" dirty="0" smtClean="0">
                <a:latin typeface="Helvetica" pitchFamily="34" charset="0"/>
              </a:rPr>
              <a:t>Clients</a:t>
            </a:r>
          </a:p>
          <a:p>
            <a:pPr>
              <a:spcBef>
                <a:spcPts val="600"/>
              </a:spcBef>
              <a:spcAft>
                <a:spcPts val="1200"/>
              </a:spcAft>
            </a:pPr>
            <a:r>
              <a:rPr lang="en-AU" sz="2200" dirty="0" smtClean="0">
                <a:latin typeface="Helvetica" pitchFamily="34" charset="0"/>
              </a:rPr>
              <a:t>Suppliers</a:t>
            </a:r>
          </a:p>
          <a:p>
            <a:endParaRPr lang="en-AU" sz="2400" dirty="0" smtClean="0"/>
          </a:p>
          <a:p>
            <a:pPr>
              <a:spcBef>
                <a:spcPts val="600"/>
              </a:spcBef>
              <a:spcAft>
                <a:spcPts val="1200"/>
              </a:spcAft>
              <a:buNone/>
            </a:pPr>
            <a:r>
              <a:rPr lang="en-AU" sz="2400" dirty="0" smtClean="0">
                <a:solidFill>
                  <a:srgbClr val="FF6600"/>
                </a:solidFill>
              </a:rPr>
              <a:t>COMPLETE ACTIVITY 21</a:t>
            </a:r>
            <a:endParaRPr lang="en-US" sz="2400" dirty="0" smtClean="0">
              <a:latin typeface="Helvetica" pitchFamily="34" charset="0"/>
            </a:endParaRPr>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shutterstock_191031131.jpg"/>
          <p:cNvPicPr/>
          <p:nvPr/>
        </p:nvPicPr>
        <p:blipFill>
          <a:blip r:embed="rId3" cstate="print"/>
          <a:stretch>
            <a:fillRect/>
          </a:stretch>
        </p:blipFill>
        <p:spPr>
          <a:xfrm>
            <a:off x="5868144" y="2996952"/>
            <a:ext cx="2233615" cy="1533527"/>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4:</a:t>
            </a:r>
          </a:p>
          <a:p>
            <a:pPr marL="0">
              <a:buNone/>
            </a:pPr>
            <a:r>
              <a:rPr lang="en-US" sz="4000" dirty="0" smtClean="0">
                <a:solidFill>
                  <a:srgbClr val="FF6600"/>
                </a:solidFill>
                <a:latin typeface="Helvetica" pitchFamily="34" charset="0"/>
              </a:rPr>
              <a:t>Review the effectiveness of business strategies </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descr="shutterstock_126073382.jpg"/>
          <p:cNvPicPr>
            <a:picLocks noChangeAspect="1"/>
          </p:cNvPicPr>
          <p:nvPr/>
        </p:nvPicPr>
        <p:blipFill>
          <a:blip r:embed="rId3" cstate="print"/>
          <a:stretch>
            <a:fillRect/>
          </a:stretch>
        </p:blipFill>
        <p:spPr>
          <a:xfrm>
            <a:off x="3563888" y="4077072"/>
            <a:ext cx="2586065" cy="1753352"/>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Review the effectiveness of business strategies </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00808"/>
            <a:ext cx="5832648"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US" sz="2200" dirty="0" smtClean="0">
                <a:latin typeface="Helvetica" pitchFamily="34" charset="0"/>
              </a:rPr>
              <a:t>Review established strategies</a:t>
            </a:r>
          </a:p>
          <a:p>
            <a:pPr>
              <a:spcBef>
                <a:spcPts val="600"/>
              </a:spcBef>
              <a:spcAft>
                <a:spcPts val="1200"/>
              </a:spcAft>
            </a:pPr>
            <a:r>
              <a:rPr lang="en-US" sz="2200" dirty="0" smtClean="0">
                <a:latin typeface="Helvetica" pitchFamily="34" charset="0"/>
              </a:rPr>
              <a:t>Include multiple perspectives and information sources in determining the effectiveness of strategies</a:t>
            </a:r>
          </a:p>
          <a:p>
            <a:pPr>
              <a:spcBef>
                <a:spcPts val="600"/>
              </a:spcBef>
              <a:spcAft>
                <a:spcPts val="1200"/>
              </a:spcAft>
            </a:pPr>
            <a:r>
              <a:rPr lang="en-US" sz="2200" dirty="0" smtClean="0">
                <a:latin typeface="Helvetica" pitchFamily="34" charset="0"/>
              </a:rPr>
              <a:t>Evaluate the effectiveness of the strategies</a:t>
            </a:r>
          </a:p>
          <a:p>
            <a:pPr>
              <a:spcBef>
                <a:spcPts val="600"/>
              </a:spcBef>
              <a:spcAft>
                <a:spcPts val="1200"/>
              </a:spcAft>
            </a:pPr>
            <a:r>
              <a:rPr lang="en-US" sz="2200" dirty="0" smtClean="0">
                <a:latin typeface="Helvetica" pitchFamily="34" charset="0"/>
              </a:rPr>
              <a:t>Make recommendations for enhancements to strategies and 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descr="shutterstock_71651842.jpg"/>
          <p:cNvPicPr>
            <a:picLocks noChangeAspect="1"/>
          </p:cNvPicPr>
          <p:nvPr/>
        </p:nvPicPr>
        <p:blipFill>
          <a:blip r:embed="rId3" cstate="print">
            <a:lum contrast="10000"/>
          </a:blip>
          <a:stretch>
            <a:fillRect/>
          </a:stretch>
        </p:blipFill>
        <p:spPr>
          <a:xfrm>
            <a:off x="6372200" y="2708920"/>
            <a:ext cx="1596008" cy="1596008"/>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Review business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reviewing business strategies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that business strategies are reviewed on a regular basis.</a:t>
            </a:r>
          </a:p>
          <a:p>
            <a:pPr lvl="0">
              <a:spcBef>
                <a:spcPts val="600"/>
              </a:spcBef>
              <a:spcAft>
                <a:spcPts val="1200"/>
              </a:spcAft>
            </a:pPr>
            <a:r>
              <a:rPr lang="en-US" sz="2200" dirty="0" smtClean="0">
                <a:latin typeface="Helvetica" pitchFamily="34" charset="0"/>
              </a:rPr>
              <a:t>What is being done correctly</a:t>
            </a:r>
          </a:p>
          <a:p>
            <a:pPr lvl="0">
              <a:spcBef>
                <a:spcPts val="600"/>
              </a:spcBef>
              <a:spcAft>
                <a:spcPts val="1200"/>
              </a:spcAft>
            </a:pPr>
            <a:r>
              <a:rPr lang="en-US" sz="2200" dirty="0" smtClean="0">
                <a:latin typeface="Helvetica" pitchFamily="34" charset="0"/>
              </a:rPr>
              <a:t>What needs improvement, by identifying causes and remedy</a:t>
            </a:r>
          </a:p>
          <a:p>
            <a:endParaRPr lang="en-US" sz="2400" dirty="0" smtClean="0"/>
          </a:p>
          <a:p>
            <a:pPr marL="0">
              <a:spcBef>
                <a:spcPts val="600"/>
              </a:spcBef>
              <a:spcAft>
                <a:spcPts val="1200"/>
              </a:spcAft>
              <a:buNone/>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7" name="Picture 6" descr="W263_progress1_shutterstock_157209023.jpg"/>
          <p:cNvPicPr/>
          <p:nvPr/>
        </p:nvPicPr>
        <p:blipFill>
          <a:blip r:embed="rId3" cstate="print"/>
          <a:stretch>
            <a:fillRect/>
          </a:stretch>
        </p:blipFill>
        <p:spPr>
          <a:xfrm>
            <a:off x="3635896" y="4437112"/>
            <a:ext cx="2051863" cy="1368152"/>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Review business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Timing of business strategy reviews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They may be based 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Quarterly reviews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plan cycle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Performance 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Major events triggering a review</a:t>
            </a:r>
            <a:endParaRPr lang="en-US"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r>
              <a:rPr lang="en-AU" sz="2400" dirty="0" smtClean="0">
                <a:solidFill>
                  <a:srgbClr val="FF6600"/>
                </a:solidFill>
              </a:rPr>
              <a:t>COMPLETE ACTIVITY 22</a:t>
            </a:r>
            <a:endParaRPr lang="en-US" sz="24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6" name="Picture 5" descr="W40_calender.jpg"/>
          <p:cNvPicPr/>
          <p:nvPr/>
        </p:nvPicPr>
        <p:blipFill>
          <a:blip r:embed="rId3" cstate="print"/>
          <a:stretch>
            <a:fillRect/>
          </a:stretch>
        </p:blipFill>
        <p:spPr>
          <a:xfrm>
            <a:off x="6228184" y="2924944"/>
            <a:ext cx="2000250" cy="1333500"/>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Evaluate strategy effectiveness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US" sz="2200" dirty="0" smtClean="0">
                <a:latin typeface="Helvetica" pitchFamily="34" charset="0"/>
              </a:rPr>
              <a:t>In order for an organisation to be successful in being able to provide the highest quality of service whilst still making an adequate financial return for investors, it is vital </a:t>
            </a:r>
            <a:r>
              <a:rPr lang="en-US" sz="2200" u="sng" dirty="0" smtClean="0">
                <a:latin typeface="Helvetica" pitchFamily="34" charset="0"/>
              </a:rPr>
              <a:t>that every aspect of the operation</a:t>
            </a:r>
            <a:r>
              <a:rPr lang="en-US" sz="2200" dirty="0" smtClean="0">
                <a:latin typeface="Helvetica" pitchFamily="34" charset="0"/>
              </a:rPr>
              <a:t> is </a:t>
            </a:r>
            <a:r>
              <a:rPr lang="en-US" sz="2200" u="sng" dirty="0" smtClean="0">
                <a:latin typeface="Helvetica" pitchFamily="34" charset="0"/>
              </a:rPr>
              <a:t>operating to the best of its ability</a:t>
            </a:r>
            <a:endParaRPr lang="en-AU" sz="2200" u="sng" dirty="0" smtClean="0">
              <a:latin typeface="Helvetica" pitchFamily="34" charset="0"/>
            </a:endParaRPr>
          </a:p>
          <a:p>
            <a:pPr>
              <a:spcBef>
                <a:spcPts val="600"/>
              </a:spcBef>
              <a:spcAft>
                <a:spcPts val="1200"/>
              </a:spcAft>
            </a:pPr>
            <a:r>
              <a:rPr lang="en-US" sz="2200" dirty="0" smtClean="0">
                <a:latin typeface="Helvetica" pitchFamily="34" charset="0"/>
              </a:rPr>
              <a:t>Therefore management must constantly </a:t>
            </a:r>
            <a:r>
              <a:rPr lang="en-US" sz="2200" u="sng" dirty="0" smtClean="0">
                <a:latin typeface="Helvetica" pitchFamily="34" charset="0"/>
              </a:rPr>
              <a:t>review</a:t>
            </a:r>
            <a:r>
              <a:rPr lang="en-US" sz="2200" dirty="0" smtClean="0">
                <a:latin typeface="Helvetica" pitchFamily="34" charset="0"/>
              </a:rPr>
              <a:t> and </a:t>
            </a:r>
            <a:r>
              <a:rPr lang="en-US" sz="2200" u="sng" dirty="0" smtClean="0">
                <a:latin typeface="Helvetica" pitchFamily="34" charset="0"/>
              </a:rPr>
              <a:t>evaluate</a:t>
            </a:r>
            <a:r>
              <a:rPr lang="en-US" sz="2200" dirty="0" smtClean="0">
                <a:latin typeface="Helvetica" pitchFamily="34" charset="0"/>
              </a:rPr>
              <a:t> the </a:t>
            </a:r>
            <a:r>
              <a:rPr lang="en-US" sz="2200" u="sng" dirty="0" smtClean="0">
                <a:latin typeface="Helvetica" pitchFamily="34" charset="0"/>
              </a:rPr>
              <a:t>performance of all areas</a:t>
            </a:r>
            <a:r>
              <a:rPr lang="en-US" sz="2200" dirty="0" smtClean="0">
                <a:latin typeface="Helvetica" pitchFamily="34" charset="0"/>
              </a:rPr>
              <a:t> that contribute to the functioning of the business</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7" name="Picture 6" descr="Assessment checklist.jpg"/>
          <p:cNvPicPr>
            <a:picLocks noChangeAspect="1"/>
          </p:cNvPicPr>
          <p:nvPr/>
        </p:nvPicPr>
        <p:blipFill>
          <a:blip r:embed="rId3" cstate="print"/>
          <a:stretch>
            <a:fillRect/>
          </a:stretch>
        </p:blipFill>
        <p:spPr>
          <a:xfrm>
            <a:off x="3707904" y="4653136"/>
            <a:ext cx="1989584" cy="1600200"/>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Evaluate strategy effectiveness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200" dirty="0" smtClean="0">
                <a:latin typeface="Helvetica" pitchFamily="34" charset="0"/>
              </a:rPr>
              <a:t>In order to do this, strategy implementation must be assessed and evaluated to find out:</a:t>
            </a:r>
          </a:p>
          <a:p>
            <a:pPr lvl="0">
              <a:spcBef>
                <a:spcPts val="600"/>
              </a:spcBef>
              <a:spcAft>
                <a:spcPts val="1200"/>
              </a:spcAft>
            </a:pPr>
            <a:r>
              <a:rPr lang="en-US" sz="2200" dirty="0" smtClean="0">
                <a:latin typeface="Helvetica" pitchFamily="34" charset="0"/>
              </a:rPr>
              <a:t>What is being done correctly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What needs improvement by:</a:t>
            </a:r>
          </a:p>
          <a:p>
            <a:pPr lvl="1">
              <a:spcBef>
                <a:spcPts val="600"/>
              </a:spcBef>
              <a:spcAft>
                <a:spcPts val="1200"/>
              </a:spcAft>
            </a:pPr>
            <a:r>
              <a:rPr lang="en-US" sz="2200" dirty="0" smtClean="0">
                <a:latin typeface="Helvetica" pitchFamily="34" charset="0"/>
              </a:rPr>
              <a:t>Identifying problems</a:t>
            </a:r>
          </a:p>
          <a:p>
            <a:pPr lvl="1">
              <a:spcBef>
                <a:spcPts val="600"/>
              </a:spcBef>
              <a:spcAft>
                <a:spcPts val="1200"/>
              </a:spcAft>
            </a:pPr>
            <a:r>
              <a:rPr lang="en-US" sz="2200" dirty="0" smtClean="0">
                <a:latin typeface="Helvetica" pitchFamily="34" charset="0"/>
              </a:rPr>
              <a:t>Understanding causes</a:t>
            </a:r>
          </a:p>
          <a:p>
            <a:pPr lvl="1">
              <a:spcBef>
                <a:spcPts val="600"/>
              </a:spcBef>
              <a:spcAft>
                <a:spcPts val="1200"/>
              </a:spcAft>
            </a:pPr>
            <a:r>
              <a:rPr lang="en-US" sz="2200" dirty="0" smtClean="0">
                <a:latin typeface="Helvetica" pitchFamily="34" charset="0"/>
              </a:rPr>
              <a:t>Providing and implementing a suitable remedy</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7" name="Picture 6" descr="A9 shutterstock_155310890.jpg"/>
          <p:cNvPicPr/>
          <p:nvPr/>
        </p:nvPicPr>
        <p:blipFill>
          <a:blip r:embed="rId3" cstate="print"/>
          <a:stretch>
            <a:fillRect/>
          </a:stretch>
        </p:blipFill>
        <p:spPr>
          <a:xfrm>
            <a:off x="6012160" y="2852936"/>
            <a:ext cx="2161223" cy="133350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Evaluate strategy effectiveness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912768" cy="5301208"/>
          </a:xfrm>
        </p:spPr>
        <p:txBody>
          <a:bodyPr>
            <a:normAutofit/>
          </a:bodyPr>
          <a:lstStyle/>
          <a:p>
            <a:pPr marL="0">
              <a:spcBef>
                <a:spcPts val="600"/>
              </a:spcBef>
              <a:spcAft>
                <a:spcPts val="1200"/>
              </a:spcAft>
              <a:buNone/>
            </a:pPr>
            <a:r>
              <a:rPr lang="en-AU" sz="2200" b="1" dirty="0" smtClean="0">
                <a:latin typeface="Helvetica" pitchFamily="34" charset="0"/>
              </a:rPr>
              <a:t>Steps of reviewing and evaluating effectiveness of business strategies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Assessing performance against the attainment of established indicators, including objectives, use of resources, timelines, execution of allocated responsibilities and budgets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Seeking opinions from relevant stakeholders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Validating conclusions reached in relation                             to strategy performance</a:t>
            </a: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6" name="Picture 5" descr="W553_men_checking_file_51616180 NH.jpg"/>
          <p:cNvPicPr/>
          <p:nvPr/>
        </p:nvPicPr>
        <p:blipFill>
          <a:blip r:embed="rId3" cstate="print"/>
          <a:stretch>
            <a:fillRect/>
          </a:stretch>
        </p:blipFill>
        <p:spPr>
          <a:xfrm>
            <a:off x="7164288" y="3573016"/>
            <a:ext cx="1701924" cy="1134616"/>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Evaluate strategy effectiveness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Methods used to review and evaluate the effectiveness of business strategies</a:t>
            </a:r>
          </a:p>
          <a:p>
            <a:pPr>
              <a:spcBef>
                <a:spcPts val="600"/>
              </a:spcBef>
              <a:spcAft>
                <a:spcPts val="1200"/>
              </a:spcAft>
            </a:pPr>
            <a:r>
              <a:rPr lang="en-AU" sz="2200" dirty="0" smtClean="0">
                <a:latin typeface="Helvetica" pitchFamily="34" charset="0"/>
              </a:rPr>
              <a:t>Legislation</a:t>
            </a:r>
          </a:p>
          <a:p>
            <a:pPr>
              <a:spcBef>
                <a:spcPts val="600"/>
              </a:spcBef>
              <a:spcAft>
                <a:spcPts val="1200"/>
              </a:spcAft>
            </a:pPr>
            <a:r>
              <a:rPr lang="en-AU" sz="2200" dirty="0" smtClean="0">
                <a:latin typeface="Helvetica" pitchFamily="34" charset="0"/>
              </a:rPr>
              <a:t>Industry data</a:t>
            </a:r>
          </a:p>
          <a:p>
            <a:pPr>
              <a:spcBef>
                <a:spcPts val="600"/>
              </a:spcBef>
              <a:spcAft>
                <a:spcPts val="1200"/>
              </a:spcAft>
            </a:pPr>
            <a:r>
              <a:rPr lang="en-AU" sz="2200" dirty="0" smtClean="0">
                <a:latin typeface="Helvetica" pitchFamily="34" charset="0"/>
              </a:rPr>
              <a:t>Reports</a:t>
            </a:r>
          </a:p>
          <a:p>
            <a:pPr>
              <a:spcBef>
                <a:spcPts val="600"/>
              </a:spcBef>
              <a:spcAft>
                <a:spcPts val="1200"/>
              </a:spcAft>
            </a:pPr>
            <a:r>
              <a:rPr lang="en-AU" sz="2200" dirty="0" smtClean="0">
                <a:latin typeface="Helvetica" pitchFamily="34" charset="0"/>
              </a:rPr>
              <a:t>Best practice information</a:t>
            </a:r>
          </a:p>
          <a:p>
            <a:pPr>
              <a:spcBef>
                <a:spcPts val="600"/>
              </a:spcBef>
              <a:spcAft>
                <a:spcPts val="1200"/>
              </a:spcAft>
            </a:pPr>
            <a:r>
              <a:rPr lang="en-AU" sz="2200" dirty="0" smtClean="0">
                <a:latin typeface="Helvetica" pitchFamily="34" charset="0"/>
              </a:rPr>
              <a:t>New market research information</a:t>
            </a:r>
          </a:p>
          <a:p>
            <a:pPr>
              <a:spcBef>
                <a:spcPts val="600"/>
              </a:spcBef>
              <a:spcAft>
                <a:spcPts val="1200"/>
              </a:spcAft>
            </a:pPr>
            <a:r>
              <a:rPr lang="en-AU" sz="2200" dirty="0" smtClean="0">
                <a:latin typeface="Helvetica" pitchFamily="34" charset="0"/>
              </a:rPr>
              <a:t>Revised internal policies and procedures</a:t>
            </a:r>
            <a:endParaRPr lang="en-US" sz="2200" dirty="0" smtClean="0">
              <a:latin typeface="Helvetica" pitchFamily="34" charset="0"/>
            </a:endParaRPr>
          </a:p>
          <a:p>
            <a:pPr>
              <a:buNone/>
            </a:pPr>
            <a:endParaRPr lang="en-US"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7" name="Picture 6" descr="shutterstock_88003519.jpg"/>
          <p:cNvPicPr/>
          <p:nvPr/>
        </p:nvPicPr>
        <p:blipFill>
          <a:blip r:embed="rId3" cstate="print"/>
          <a:stretch>
            <a:fillRect/>
          </a:stretch>
        </p:blipFill>
        <p:spPr>
          <a:xfrm>
            <a:off x="6732240" y="2636912"/>
            <a:ext cx="1254051" cy="1770683"/>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Evaluate strategy effectiveness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Methods used to review and evaluate the effectiveness of business strategies</a:t>
            </a:r>
          </a:p>
          <a:p>
            <a:pPr lvl="0">
              <a:spcBef>
                <a:spcPts val="600"/>
              </a:spcBef>
              <a:spcAft>
                <a:spcPts val="1200"/>
              </a:spcAft>
            </a:pPr>
            <a:r>
              <a:rPr lang="en-AU" sz="2200" dirty="0" smtClean="0">
                <a:latin typeface="Helvetica" pitchFamily="34" charset="0"/>
              </a:rPr>
              <a:t>Using a pretend customer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Observation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Interviews with stakeholders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Surveys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Focus group interviews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Discuss progress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Solicited and unsolicited feedback</a:t>
            </a:r>
            <a:endParaRPr lang="en-US" sz="2200" dirty="0" smtClean="0">
              <a:latin typeface="Helvetica" pitchFamily="34" charset="0"/>
            </a:endParaRPr>
          </a:p>
          <a:p>
            <a:pPr>
              <a:buNone/>
            </a:pPr>
            <a:endParaRPr lang="en-US"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6" name="Picture 5" descr="shutterstock_119674882.jpg"/>
          <p:cNvPicPr>
            <a:picLocks noChangeAspect="1"/>
          </p:cNvPicPr>
          <p:nvPr/>
        </p:nvPicPr>
        <p:blipFill>
          <a:blip r:embed="rId3" cstate="print"/>
          <a:stretch>
            <a:fillRect/>
          </a:stretch>
        </p:blipFill>
        <p:spPr>
          <a:xfrm>
            <a:off x="6300192" y="3068960"/>
            <a:ext cx="1956048" cy="1304684"/>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Evaluate strategy effectiveness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Methods used to review and evaluate the effectiveness of business strategies</a:t>
            </a:r>
          </a:p>
          <a:p>
            <a:pPr lvl="0">
              <a:spcBef>
                <a:spcPts val="600"/>
              </a:spcBef>
              <a:spcAft>
                <a:spcPts val="1200"/>
              </a:spcAft>
            </a:pPr>
            <a:r>
              <a:rPr lang="en-AU" sz="2200" dirty="0" smtClean="0">
                <a:latin typeface="Helvetica" pitchFamily="34" charset="0"/>
              </a:rPr>
              <a:t>Research on existing programs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Organisational reviews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Workforce management data</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Statistical data</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Comparisons with KPI’s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Checking of documentation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Verifying time sheets </a:t>
            </a:r>
            <a:endParaRPr lang="en-US" sz="2200" dirty="0" smtClean="0">
              <a:latin typeface="Helvetica" pitchFamily="34" charset="0"/>
            </a:endParaRPr>
          </a:p>
          <a:p>
            <a:pPr>
              <a:buNone/>
            </a:pPr>
            <a:endParaRPr lang="en-US"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5" name="Picture 4" descr="A21 shutterstock_182028425.jpg"/>
          <p:cNvPicPr>
            <a:picLocks noChangeAspect="1"/>
          </p:cNvPicPr>
          <p:nvPr/>
        </p:nvPicPr>
        <p:blipFill>
          <a:blip r:embed="rId3" cstate="print"/>
          <a:stretch>
            <a:fillRect/>
          </a:stretch>
        </p:blipFill>
        <p:spPr>
          <a:xfrm>
            <a:off x="5940152" y="3068960"/>
            <a:ext cx="2244080" cy="1496801"/>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Evaluate strategy effectiveness</a:t>
            </a:r>
          </a:p>
        </p:txBody>
      </p:sp>
      <p:sp>
        <p:nvSpPr>
          <p:cNvPr id="3" name="Content Placeholder 2"/>
          <p:cNvSpPr>
            <a:spLocks noGrp="1"/>
          </p:cNvSpPr>
          <p:nvPr>
            <p:ph idx="1"/>
          </p:nvPr>
        </p:nvSpPr>
        <p:spPr>
          <a:xfrm>
            <a:off x="611560" y="1412776"/>
            <a:ext cx="7467600" cy="5472608"/>
          </a:xfrm>
        </p:spPr>
        <p:txBody>
          <a:bodyPr>
            <a:normAutofit/>
          </a:bodyPr>
          <a:lstStyle/>
          <a:p>
            <a:pPr marL="0">
              <a:spcBef>
                <a:spcPts val="600"/>
              </a:spcBef>
              <a:spcAft>
                <a:spcPts val="1000"/>
              </a:spcAft>
              <a:buNone/>
            </a:pPr>
            <a:r>
              <a:rPr lang="en-AU" sz="2200" b="1" dirty="0" smtClean="0">
                <a:latin typeface="Helvetica" pitchFamily="34" charset="0"/>
              </a:rPr>
              <a:t>Methods used to review and evaluate the effectiveness of business strategies</a:t>
            </a:r>
          </a:p>
          <a:p>
            <a:pPr lvl="0">
              <a:spcBef>
                <a:spcPts val="600"/>
              </a:spcBef>
              <a:spcAft>
                <a:spcPts val="1000"/>
              </a:spcAft>
            </a:pPr>
            <a:r>
              <a:rPr lang="en-AU" sz="2200" dirty="0" smtClean="0">
                <a:latin typeface="Helvetica" pitchFamily="34" charset="0"/>
              </a:rPr>
              <a:t>Brainstorming sessions  </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Staff input and review  </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Checklists</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Flowcharts</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Benchmarking</a:t>
            </a:r>
            <a:endParaRPr lang="en-US" sz="2200" dirty="0" smtClean="0">
              <a:latin typeface="Helvetica" pitchFamily="34" charset="0"/>
            </a:endParaRPr>
          </a:p>
          <a:p>
            <a:pPr lvl="0">
              <a:spcBef>
                <a:spcPts val="600"/>
              </a:spcBef>
              <a:spcAft>
                <a:spcPts val="1000"/>
              </a:spcAft>
            </a:pPr>
            <a:r>
              <a:rPr lang="en-AU" sz="2200" dirty="0" smtClean="0">
                <a:latin typeface="Helvetica" pitchFamily="34" charset="0"/>
              </a:rPr>
              <a:t>Gap analysis </a:t>
            </a:r>
            <a:endParaRPr lang="en-US" sz="2200" dirty="0" smtClean="0">
              <a:latin typeface="Helvetica" pitchFamily="34" charset="0"/>
            </a:endParaRPr>
          </a:p>
          <a:p>
            <a:pPr>
              <a:spcBef>
                <a:spcPts val="600"/>
              </a:spcBef>
              <a:spcAft>
                <a:spcPts val="1000"/>
              </a:spcAft>
            </a:pPr>
            <a:r>
              <a:rPr lang="en-AU" sz="2200" dirty="0" smtClean="0">
                <a:latin typeface="Helvetica" pitchFamily="34" charset="0"/>
              </a:rPr>
              <a:t>Compliance reports</a:t>
            </a:r>
          </a:p>
          <a:p>
            <a:pPr>
              <a:spcBef>
                <a:spcPts val="600"/>
              </a:spcBef>
              <a:spcAft>
                <a:spcPts val="1000"/>
              </a:spcAft>
              <a:buNone/>
            </a:pPr>
            <a:r>
              <a:rPr lang="en-AU" sz="2200" dirty="0" smtClean="0">
                <a:solidFill>
                  <a:srgbClr val="FF6600"/>
                </a:solidFill>
              </a:rPr>
              <a:t>COMPLETE ACTIVITY 23</a:t>
            </a:r>
            <a:endParaRPr lang="en-US" sz="2200" dirty="0" smtClean="0">
              <a:latin typeface="Helvetica" pitchFamily="34" charset="0"/>
            </a:endParaRPr>
          </a:p>
          <a:p>
            <a:pPr>
              <a:spcBef>
                <a:spcPts val="600"/>
              </a:spcBef>
              <a:spcAft>
                <a:spcPts val="1000"/>
              </a:spcAft>
            </a:pPr>
            <a:endParaRPr lang="en-US" sz="2200" dirty="0" smtClean="0">
              <a:latin typeface="Helvetica" pitchFamily="34" charset="0"/>
            </a:endParaRPr>
          </a:p>
          <a:p>
            <a:pPr>
              <a:spcBef>
                <a:spcPts val="600"/>
              </a:spcBef>
              <a:spcAft>
                <a:spcPts val="1000"/>
              </a:spcAft>
              <a:buNone/>
            </a:pPr>
            <a:endParaRPr lang="en-AU" sz="2400" dirty="0" smtClean="0"/>
          </a:p>
          <a:p>
            <a:pPr marL="0">
              <a:spcBef>
                <a:spcPts val="600"/>
              </a:spcBef>
              <a:spcAft>
                <a:spcPts val="1000"/>
              </a:spcAft>
              <a:buNone/>
            </a:pPr>
            <a:endParaRPr lang="en-AU" sz="2000" dirty="0" smtClean="0"/>
          </a:p>
          <a:p>
            <a:pPr marL="0">
              <a:spcBef>
                <a:spcPts val="600"/>
              </a:spcBef>
              <a:spcAft>
                <a:spcPts val="10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5" name="Picture 4" descr="Generic_Assessment_115352104.jpg"/>
          <p:cNvPicPr>
            <a:picLocks noChangeAspect="1"/>
          </p:cNvPicPr>
          <p:nvPr/>
        </p:nvPicPr>
        <p:blipFill>
          <a:blip r:embed="rId3" cstate="print"/>
          <a:stretch>
            <a:fillRect/>
          </a:stretch>
        </p:blipFill>
        <p:spPr>
          <a:xfrm>
            <a:off x="5866637" y="3429000"/>
            <a:ext cx="2186918" cy="1463048"/>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Comparison against KPIs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Organisation’s key performance indicators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Organisation’s key performance indicators are a set of metrics which organisations can use to measure the success of business plan actions.</a:t>
            </a:r>
          </a:p>
          <a:p>
            <a:pPr>
              <a:spcBef>
                <a:spcPts val="600"/>
              </a:spcBef>
              <a:spcAft>
                <a:spcPts val="1200"/>
              </a:spcAft>
            </a:pPr>
            <a:r>
              <a:rPr lang="en-AU" sz="2200" dirty="0" smtClean="0">
                <a:latin typeface="Helvetica" pitchFamily="34" charset="0"/>
              </a:rPr>
              <a:t>What are examples of KPIs?</a:t>
            </a:r>
            <a:endParaRPr lang="en-AU" sz="2200" b="1" dirty="0" smtClean="0">
              <a:latin typeface="Helvetica" pitchFamily="34" charset="0"/>
            </a:endParaRPr>
          </a:p>
          <a:p>
            <a:endParaRPr lang="en-AU" sz="2400" dirty="0" smtClean="0"/>
          </a:p>
          <a:p>
            <a:pPr>
              <a:buNone/>
            </a:pPr>
            <a:endParaRPr lang="en-AU"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7" name="Picture 6" descr="W112_business_documents_shutterstock_156031889.jpg"/>
          <p:cNvPicPr>
            <a:picLocks noChangeAspect="1"/>
          </p:cNvPicPr>
          <p:nvPr/>
        </p:nvPicPr>
        <p:blipFill>
          <a:blip r:embed="rId3" cstate="print"/>
          <a:stretch>
            <a:fillRect/>
          </a:stretch>
        </p:blipFill>
        <p:spPr>
          <a:xfrm>
            <a:off x="6228184" y="3356992"/>
            <a:ext cx="2107784" cy="1405892"/>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Comparison against KPIs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Types of key performance indicators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Market share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figures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satisfaction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Growth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Profitability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Turnaround times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Output rates </a:t>
            </a:r>
            <a:endParaRPr lang="en-US"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5" name="Picture 4" descr="W27_Five_Professionals_Blank_Msg_shutterstock_2052513.jpg"/>
          <p:cNvPicPr>
            <a:picLocks noChangeAspect="1"/>
          </p:cNvPicPr>
          <p:nvPr/>
        </p:nvPicPr>
        <p:blipFill>
          <a:blip r:embed="rId3" cstate="print"/>
          <a:stretch>
            <a:fillRect/>
          </a:stretch>
        </p:blipFill>
        <p:spPr>
          <a:xfrm>
            <a:off x="6156176" y="2708920"/>
            <a:ext cx="2087609" cy="1411224"/>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Comparison against KPIs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Types of key performance indicators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Quality rates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feedback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Equipment usage rates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Lead times and down times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Compliments-complaints ratio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Satisfaction Index (CSI)</a:t>
            </a:r>
            <a:endParaRPr lang="en-US"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6" name="Picture 5" descr="shutterstock_162154547.jpg"/>
          <p:cNvPicPr/>
          <p:nvPr/>
        </p:nvPicPr>
        <p:blipFill>
          <a:blip r:embed="rId3" cstate="print"/>
          <a:stretch>
            <a:fillRect/>
          </a:stretch>
        </p:blipFill>
        <p:spPr>
          <a:xfrm>
            <a:off x="6156176" y="2852936"/>
            <a:ext cx="2000250" cy="1333500"/>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Identify performance gaps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Compare what is happening against benchmarks</a:t>
            </a:r>
          </a:p>
          <a:p>
            <a:pPr lvl="0">
              <a:spcBef>
                <a:spcPts val="600"/>
              </a:spcBef>
              <a:spcAft>
                <a:spcPts val="1200"/>
              </a:spcAft>
            </a:pPr>
            <a:r>
              <a:rPr lang="en-AU" sz="2200" dirty="0" smtClean="0">
                <a:latin typeface="Helvetica" pitchFamily="34" charset="0"/>
              </a:rPr>
              <a:t>Comparing actual performance against key performance indicators or service standards set</a:t>
            </a:r>
          </a:p>
          <a:p>
            <a:pPr lvl="0">
              <a:spcBef>
                <a:spcPts val="600"/>
              </a:spcBef>
              <a:spcAft>
                <a:spcPts val="1200"/>
              </a:spcAft>
            </a:pPr>
            <a:r>
              <a:rPr lang="en-AU" sz="2200" dirty="0" smtClean="0">
                <a:latin typeface="Helvetica" pitchFamily="34" charset="0"/>
              </a:rPr>
              <a:t>Comparing actual performance against benchmark indicators, which can include industry indicators or performance levels of other branches</a:t>
            </a:r>
          </a:p>
          <a:p>
            <a:pPr>
              <a:buNone/>
            </a:pPr>
            <a:endParaRPr lang="en-AU"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6" name="Picture 5" descr="W380_reports_shutterstock_117432517.jpg"/>
          <p:cNvPicPr/>
          <p:nvPr/>
        </p:nvPicPr>
        <p:blipFill>
          <a:blip r:embed="rId3" cstate="print"/>
          <a:stretch>
            <a:fillRect/>
          </a:stretch>
        </p:blipFill>
        <p:spPr>
          <a:xfrm>
            <a:off x="3563888" y="4365104"/>
            <a:ext cx="2016224" cy="1342302"/>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Identify performance gaps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5832648" cy="4680520"/>
          </a:xfrm>
        </p:spPr>
        <p:txBody>
          <a:bodyPr>
            <a:noAutofit/>
          </a:bodyPr>
          <a:lstStyle/>
          <a:p>
            <a:pPr>
              <a:spcBef>
                <a:spcPts val="600"/>
              </a:spcBef>
              <a:spcAft>
                <a:spcPts val="1200"/>
              </a:spcAft>
              <a:buNone/>
            </a:pPr>
            <a:r>
              <a:rPr lang="en-AU" sz="2200" b="1" dirty="0" smtClean="0">
                <a:latin typeface="Helvetica" pitchFamily="34" charset="0"/>
              </a:rPr>
              <a:t>Types of performance gaps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or service failures</a:t>
            </a:r>
          </a:p>
          <a:p>
            <a:pPr lvl="0">
              <a:spcBef>
                <a:spcPts val="600"/>
              </a:spcBef>
              <a:spcAft>
                <a:spcPts val="1200"/>
              </a:spcAft>
            </a:pPr>
            <a:r>
              <a:rPr lang="en-AU" sz="2200" dirty="0" smtClean="0">
                <a:latin typeface="Helvetica" pitchFamily="34" charset="0"/>
              </a:rPr>
              <a:t>Long wait times for service</a:t>
            </a:r>
          </a:p>
          <a:p>
            <a:pPr lvl="0">
              <a:spcBef>
                <a:spcPts val="600"/>
              </a:spcBef>
              <a:spcAft>
                <a:spcPts val="1200"/>
              </a:spcAft>
            </a:pPr>
            <a:r>
              <a:rPr lang="en-AU" sz="2200" dirty="0" smtClean="0">
                <a:latin typeface="Helvetica" pitchFamily="34" charset="0"/>
              </a:rPr>
              <a:t>High volume of customer traffic</a:t>
            </a:r>
          </a:p>
          <a:p>
            <a:pPr lvl="0">
              <a:spcBef>
                <a:spcPts val="600"/>
              </a:spcBef>
              <a:spcAft>
                <a:spcPts val="1200"/>
              </a:spcAft>
            </a:pPr>
            <a:r>
              <a:rPr lang="en-AU" sz="2200" dirty="0" smtClean="0">
                <a:latin typeface="Helvetica" pitchFamily="34" charset="0"/>
              </a:rPr>
              <a:t>Inaccurate or conflicting information provided to customers</a:t>
            </a:r>
          </a:p>
          <a:p>
            <a:pPr lvl="0">
              <a:spcBef>
                <a:spcPts val="600"/>
              </a:spcBef>
              <a:spcAft>
                <a:spcPts val="1200"/>
              </a:spcAft>
            </a:pPr>
            <a:r>
              <a:rPr lang="en-AU" sz="2200" dirty="0" smtClean="0">
                <a:latin typeface="Helvetica" pitchFamily="34" charset="0"/>
              </a:rPr>
              <a:t>Lack of follow-up action by customer care representatives</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6" name="Picture 5" descr="shutterstock_162541940.jpg"/>
          <p:cNvPicPr/>
          <p:nvPr/>
        </p:nvPicPr>
        <p:blipFill>
          <a:blip r:embed="rId3" cstate="print"/>
          <a:stretch>
            <a:fillRect/>
          </a:stretch>
        </p:blipFill>
        <p:spPr>
          <a:xfrm>
            <a:off x="6660232" y="2348880"/>
            <a:ext cx="1332230" cy="1933575"/>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Identify performance gaps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632848" cy="4680520"/>
          </a:xfrm>
        </p:spPr>
        <p:txBody>
          <a:bodyPr>
            <a:noAutofit/>
          </a:bodyPr>
          <a:lstStyle/>
          <a:p>
            <a:pPr>
              <a:spcBef>
                <a:spcPts val="600"/>
              </a:spcBef>
              <a:spcAft>
                <a:spcPts val="1200"/>
              </a:spcAft>
              <a:buNone/>
            </a:pPr>
            <a:r>
              <a:rPr lang="en-AU" sz="2200" b="1" dirty="0" smtClean="0">
                <a:latin typeface="Helvetica" pitchFamily="34" charset="0"/>
              </a:rPr>
              <a:t>Types of performance gaps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Aggressive cross-selling or up-selling by customer service representatives or sales persons</a:t>
            </a:r>
          </a:p>
          <a:p>
            <a:pPr lvl="0">
              <a:spcBef>
                <a:spcPts val="600"/>
              </a:spcBef>
              <a:spcAft>
                <a:spcPts val="1200"/>
              </a:spcAft>
            </a:pPr>
            <a:r>
              <a:rPr lang="en-AU" sz="2200" dirty="0" smtClean="0">
                <a:latin typeface="Helvetica" pitchFamily="34" charset="0"/>
              </a:rPr>
              <a:t>Lack of resources required to implement service operations</a:t>
            </a:r>
          </a:p>
          <a:p>
            <a:pPr lvl="0">
              <a:spcBef>
                <a:spcPts val="600"/>
              </a:spcBef>
              <a:spcAft>
                <a:spcPts val="1200"/>
              </a:spcAft>
            </a:pPr>
            <a:r>
              <a:rPr lang="en-AU" sz="2200" dirty="0" smtClean="0">
                <a:latin typeface="Helvetica" pitchFamily="34" charset="0"/>
              </a:rPr>
              <a:t>Conflicts in priorities</a:t>
            </a:r>
          </a:p>
          <a:p>
            <a:pPr lvl="0">
              <a:spcBef>
                <a:spcPts val="600"/>
              </a:spcBef>
              <a:spcAft>
                <a:spcPts val="1200"/>
              </a:spcAft>
            </a:pPr>
            <a:r>
              <a:rPr lang="en-AU" sz="2200" dirty="0" smtClean="0">
                <a:latin typeface="Helvetica" pitchFamily="34" charset="0"/>
              </a:rPr>
              <a:t>Resource constraints</a:t>
            </a:r>
          </a:p>
          <a:p>
            <a:pPr lvl="0">
              <a:spcBef>
                <a:spcPts val="600"/>
              </a:spcBef>
              <a:spcAft>
                <a:spcPts val="1200"/>
              </a:spcAft>
            </a:pPr>
            <a:r>
              <a:rPr lang="en-AU" sz="2200" dirty="0" smtClean="0">
                <a:latin typeface="Helvetica" pitchFamily="34" charset="0"/>
              </a:rPr>
              <a:t>Lack of information</a:t>
            </a:r>
          </a:p>
          <a:p>
            <a:pPr lvl="0">
              <a:spcBef>
                <a:spcPts val="600"/>
              </a:spcBef>
              <a:spcAft>
                <a:spcPts val="1200"/>
              </a:spcAft>
            </a:pPr>
            <a:r>
              <a:rPr lang="en-AU" sz="2200" dirty="0" smtClean="0">
                <a:latin typeface="Helvetica" pitchFamily="34" charset="0"/>
              </a:rPr>
              <a:t>Supplier delays</a:t>
            </a:r>
          </a:p>
          <a:p>
            <a:pPr lvl="0">
              <a:spcBef>
                <a:spcPts val="600"/>
              </a:spcBef>
              <a:spcAft>
                <a:spcPts val="1200"/>
              </a:spcAft>
            </a:pPr>
            <a:r>
              <a:rPr lang="en-AU" sz="2200" dirty="0" smtClean="0">
                <a:latin typeface="Helvetica" pitchFamily="34" charset="0"/>
              </a:rPr>
              <a:t>Differences in opinion</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7" name="Picture 6" descr="W424_resources_shutterstock_161870750.jpg"/>
          <p:cNvPicPr>
            <a:picLocks noChangeAspect="1"/>
          </p:cNvPicPr>
          <p:nvPr/>
        </p:nvPicPr>
        <p:blipFill>
          <a:blip r:embed="rId3" cstate="print"/>
          <a:stretch>
            <a:fillRect/>
          </a:stretch>
        </p:blipFill>
        <p:spPr>
          <a:xfrm>
            <a:off x="5796136" y="3645024"/>
            <a:ext cx="2286000" cy="1524762"/>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Identify performance gaps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Types of performance gaps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Interpersonal conflict</a:t>
            </a:r>
          </a:p>
          <a:p>
            <a:pPr lvl="0">
              <a:spcBef>
                <a:spcPts val="600"/>
              </a:spcBef>
              <a:spcAft>
                <a:spcPts val="1200"/>
              </a:spcAft>
            </a:pPr>
            <a:r>
              <a:rPr lang="en-AU" sz="2200" dirty="0" smtClean="0">
                <a:latin typeface="Helvetica" pitchFamily="34" charset="0"/>
              </a:rPr>
              <a:t>Hazardous events</a:t>
            </a:r>
          </a:p>
          <a:p>
            <a:pPr lvl="0">
              <a:spcBef>
                <a:spcPts val="600"/>
              </a:spcBef>
              <a:spcAft>
                <a:spcPts val="1200"/>
              </a:spcAft>
            </a:pPr>
            <a:r>
              <a:rPr lang="en-AU" sz="2200" dirty="0" smtClean="0">
                <a:latin typeface="Helvetica" pitchFamily="34" charset="0"/>
              </a:rPr>
              <a:t>Time constraints</a:t>
            </a:r>
          </a:p>
          <a:p>
            <a:pPr lvl="0">
              <a:spcBef>
                <a:spcPts val="600"/>
              </a:spcBef>
              <a:spcAft>
                <a:spcPts val="1200"/>
              </a:spcAft>
            </a:pPr>
            <a:r>
              <a:rPr lang="en-AU" sz="2200" dirty="0" smtClean="0">
                <a:latin typeface="Helvetica" pitchFamily="34" charset="0"/>
              </a:rPr>
              <a:t>Electricity shortages</a:t>
            </a:r>
          </a:p>
          <a:p>
            <a:pPr lvl="0">
              <a:spcBef>
                <a:spcPts val="600"/>
              </a:spcBef>
              <a:spcAft>
                <a:spcPts val="1200"/>
              </a:spcAft>
            </a:pPr>
            <a:r>
              <a:rPr lang="en-AU" sz="2200" dirty="0" smtClean="0">
                <a:latin typeface="Helvetica" pitchFamily="34" charset="0"/>
              </a:rPr>
              <a:t>Bad weather</a:t>
            </a:r>
          </a:p>
          <a:p>
            <a:pPr lvl="0">
              <a:spcBef>
                <a:spcPts val="600"/>
              </a:spcBef>
              <a:spcAft>
                <a:spcPts val="1200"/>
              </a:spcAft>
            </a:pPr>
            <a:r>
              <a:rPr lang="en-AU" sz="2200" dirty="0" smtClean="0">
                <a:latin typeface="Helvetica" pitchFamily="34" charset="0"/>
              </a:rPr>
              <a:t>Shortfalls in expected outcomes</a:t>
            </a:r>
          </a:p>
          <a:p>
            <a:pPr>
              <a:spcBef>
                <a:spcPts val="600"/>
              </a:spcBef>
              <a:spcAft>
                <a:spcPts val="1200"/>
              </a:spcAft>
            </a:pPr>
            <a:r>
              <a:rPr lang="en-AU" sz="2200" dirty="0" smtClean="0">
                <a:latin typeface="Helvetica" pitchFamily="34" charset="0"/>
              </a:rPr>
              <a:t>Poor staff performance </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7" name="Picture 6" descr="W376_stressed_manager_shutterstock_159274385.jpg"/>
          <p:cNvPicPr>
            <a:picLocks noChangeAspect="1"/>
          </p:cNvPicPr>
          <p:nvPr/>
        </p:nvPicPr>
        <p:blipFill>
          <a:blip r:embed="rId3" cstate="print"/>
          <a:stretch>
            <a:fillRect/>
          </a:stretch>
        </p:blipFill>
        <p:spPr>
          <a:xfrm>
            <a:off x="5940152" y="2996952"/>
            <a:ext cx="2323814" cy="1549984"/>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recommendations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US" sz="2200" b="1" dirty="0" smtClean="0">
                <a:latin typeface="Helvetica" pitchFamily="34" charset="0"/>
              </a:rPr>
              <a:t>Present recommendations for strategic and operational improvement</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are possible reasons for recommendations?</a:t>
            </a:r>
          </a:p>
          <a:p>
            <a:pPr>
              <a:spcBef>
                <a:spcPts val="600"/>
              </a:spcBef>
              <a:spcAft>
                <a:spcPts val="1200"/>
              </a:spcAft>
            </a:pPr>
            <a:r>
              <a:rPr lang="en-US" sz="2200" dirty="0" smtClean="0">
                <a:latin typeface="Helvetica" pitchFamily="34" charset="0"/>
              </a:rPr>
              <a:t>What information needs to be included in a recommendation?</a:t>
            </a:r>
          </a:p>
          <a:p>
            <a:pPr>
              <a:spcBef>
                <a:spcPts val="600"/>
              </a:spcBef>
              <a:spcAft>
                <a:spcPts val="1200"/>
              </a:spcAft>
            </a:pPr>
            <a:r>
              <a:rPr lang="en-US" sz="2200" dirty="0" smtClean="0">
                <a:latin typeface="Helvetica" pitchFamily="34" charset="0"/>
              </a:rPr>
              <a:t>What are types of recommendations?</a:t>
            </a:r>
          </a:p>
          <a:p>
            <a:endParaRPr lang="en-US"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6" name="Picture 5" descr="shutterstock_108055754.jpg"/>
          <p:cNvPicPr/>
          <p:nvPr/>
        </p:nvPicPr>
        <p:blipFill>
          <a:blip r:embed="rId3" cstate="print"/>
          <a:stretch>
            <a:fillRect/>
          </a:stretch>
        </p:blipFill>
        <p:spPr>
          <a:xfrm>
            <a:off x="3779912" y="4725144"/>
            <a:ext cx="1657350" cy="1409700"/>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recommendations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624736" cy="4968552"/>
          </a:xfrm>
        </p:spPr>
        <p:txBody>
          <a:bodyPr>
            <a:normAutofit/>
          </a:bodyPr>
          <a:lstStyle/>
          <a:p>
            <a:pPr>
              <a:spcBef>
                <a:spcPts val="600"/>
              </a:spcBef>
              <a:spcAft>
                <a:spcPts val="1200"/>
              </a:spcAft>
              <a:buNone/>
            </a:pPr>
            <a:r>
              <a:rPr lang="en-AU" sz="2200" b="1" dirty="0" smtClean="0">
                <a:latin typeface="Helvetica" pitchFamily="34" charset="0"/>
              </a:rPr>
              <a:t>Steps associated with making recommendations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Targeting recommendations to evidence-based outcomes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Reviewing internal and external business environment factors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Revising organisational policies and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Revising goals, objectives and targets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Recommending changes in strategic                              directions for the organisation</a:t>
            </a:r>
            <a:endParaRPr lang="en-US" sz="2200" dirty="0" smtClean="0">
              <a:latin typeface="Helvetica" pitchFamily="34" charset="0"/>
            </a:endParaRPr>
          </a:p>
          <a:p>
            <a:endParaRPr lang="en-US"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7" name="Picture 6" descr="W343_discussion1_shutterstock_159062525.jpg"/>
          <p:cNvPicPr/>
          <p:nvPr/>
        </p:nvPicPr>
        <p:blipFill>
          <a:blip r:embed="rId3" cstate="print"/>
          <a:stretch>
            <a:fillRect/>
          </a:stretch>
        </p:blipFill>
        <p:spPr>
          <a:xfrm>
            <a:off x="6804248" y="3068960"/>
            <a:ext cx="1641599" cy="1085868"/>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recommendations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US" sz="2200" b="1" dirty="0" smtClean="0">
                <a:latin typeface="Helvetica" pitchFamily="34" charset="0"/>
              </a:rPr>
              <a:t>Identify types of recommendations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Leverage on identified strengths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Address identified weaknesses</a:t>
            </a:r>
          </a:p>
          <a:p>
            <a:pPr>
              <a:spcBef>
                <a:spcPts val="600"/>
              </a:spcBef>
              <a:spcAft>
                <a:spcPts val="1200"/>
              </a:spcAft>
            </a:pPr>
            <a:r>
              <a:rPr lang="en-AU" sz="2200" dirty="0" smtClean="0">
                <a:latin typeface="Helvetica" pitchFamily="34" charset="0"/>
              </a:rPr>
              <a:t>Identified opportunities and threats</a:t>
            </a:r>
          </a:p>
          <a:p>
            <a:pPr>
              <a:spcBef>
                <a:spcPts val="600"/>
              </a:spcBef>
              <a:spcAft>
                <a:spcPts val="1200"/>
              </a:spcAft>
            </a:pPr>
            <a:r>
              <a:rPr lang="en-AU" sz="2200" dirty="0" smtClean="0">
                <a:latin typeface="Helvetica" pitchFamily="34" charset="0"/>
              </a:rPr>
              <a:t>Capitalising on golden opportunities</a:t>
            </a:r>
          </a:p>
          <a:p>
            <a:pPr>
              <a:spcBef>
                <a:spcPts val="600"/>
              </a:spcBef>
              <a:spcAft>
                <a:spcPts val="1200"/>
              </a:spcAft>
            </a:pPr>
            <a:r>
              <a:rPr lang="en-AU" sz="2200" dirty="0" smtClean="0">
                <a:latin typeface="Helvetica" pitchFamily="34" charset="0"/>
              </a:rPr>
              <a:t>Introducing, modifying or removing actions</a:t>
            </a:r>
          </a:p>
          <a:p>
            <a:pPr>
              <a:spcBef>
                <a:spcPts val="600"/>
              </a:spcBef>
              <a:spcAft>
                <a:spcPts val="1200"/>
              </a:spcAft>
            </a:pPr>
            <a:r>
              <a:rPr lang="en-AU" sz="2200" dirty="0" smtClean="0">
                <a:latin typeface="Helvetica" pitchFamily="34" charset="0"/>
              </a:rPr>
              <a:t>Changing the organisational structure</a:t>
            </a:r>
          </a:p>
          <a:p>
            <a:pPr>
              <a:spcBef>
                <a:spcPts val="600"/>
              </a:spcBef>
              <a:spcAft>
                <a:spcPts val="1200"/>
              </a:spcAft>
            </a:pPr>
            <a:r>
              <a:rPr lang="en-AU" sz="2200" dirty="0" smtClean="0">
                <a:latin typeface="Helvetica" pitchFamily="34" charset="0"/>
              </a:rPr>
              <a:t>Enable greater compliance </a:t>
            </a:r>
          </a:p>
          <a:p>
            <a:pPr>
              <a:spcBef>
                <a:spcPts val="600"/>
              </a:spcBef>
              <a:spcAft>
                <a:spcPts val="1200"/>
              </a:spcAft>
            </a:pPr>
            <a:r>
              <a:rPr lang="en-AU" sz="2200" dirty="0" smtClean="0">
                <a:latin typeface="Helvetica" pitchFamily="34" charset="0"/>
              </a:rPr>
              <a:t>Address future activity in relation to areas </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8" name="Picture 7" descr="shutterstock_82265860.jpg"/>
          <p:cNvPicPr/>
          <p:nvPr/>
        </p:nvPicPr>
        <p:blipFill>
          <a:blip r:embed="rId3" cstate="print"/>
          <a:stretch>
            <a:fillRect/>
          </a:stretch>
        </p:blipFill>
        <p:spPr>
          <a:xfrm>
            <a:off x="6372200" y="2636912"/>
            <a:ext cx="1950508" cy="1296144"/>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Make recommendations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96544"/>
          </a:xfrm>
        </p:spPr>
        <p:txBody>
          <a:bodyPr>
            <a:normAutofit/>
          </a:bodyPr>
          <a:lstStyle/>
          <a:p>
            <a:pPr marL="0">
              <a:spcBef>
                <a:spcPts val="1200"/>
              </a:spcBef>
              <a:spcAft>
                <a:spcPts val="1200"/>
              </a:spcAft>
              <a:buNone/>
            </a:pPr>
            <a:r>
              <a:rPr lang="en-AU" sz="2200" b="1" dirty="0" smtClean="0">
                <a:latin typeface="Helvetica" pitchFamily="34" charset="0"/>
              </a:rPr>
              <a:t>Recommend short and long term corrective action</a:t>
            </a:r>
          </a:p>
          <a:p>
            <a:pPr marL="0">
              <a:spcBef>
                <a:spcPts val="1200"/>
              </a:spcBef>
              <a:spcAft>
                <a:spcPts val="1200"/>
              </a:spcAft>
              <a:buNone/>
            </a:pPr>
            <a:r>
              <a:rPr lang="en-AU" sz="2200" dirty="0" smtClean="0">
                <a:latin typeface="Helvetica" pitchFamily="34" charset="0"/>
              </a:rPr>
              <a:t>Corrective actions taken within an operation workplace context can be seen as either:</a:t>
            </a:r>
          </a:p>
          <a:p>
            <a:pPr>
              <a:spcBef>
                <a:spcPts val="1200"/>
              </a:spcBef>
              <a:spcAft>
                <a:spcPts val="1200"/>
              </a:spcAft>
            </a:pPr>
            <a:r>
              <a:rPr lang="en-AU" sz="2200" dirty="0" smtClean="0">
                <a:latin typeface="Helvetica" pitchFamily="34" charset="0"/>
              </a:rPr>
              <a:t>Short term corrective action</a:t>
            </a:r>
          </a:p>
          <a:p>
            <a:pPr>
              <a:spcBef>
                <a:spcPts val="1200"/>
              </a:spcBef>
              <a:spcAft>
                <a:spcPts val="1200"/>
              </a:spcAft>
            </a:pPr>
            <a:r>
              <a:rPr lang="en-AU" sz="2200" dirty="0" smtClean="0">
                <a:latin typeface="Helvetica" pitchFamily="34" charset="0"/>
              </a:rPr>
              <a:t>Long term corrective action</a:t>
            </a: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7" name="Picture 6" descr="shutterstock_96331862.jpg"/>
          <p:cNvPicPr/>
          <p:nvPr/>
        </p:nvPicPr>
        <p:blipFill>
          <a:blip r:embed="rId3" cstate="print"/>
          <a:stretch>
            <a:fillRect/>
          </a:stretch>
        </p:blipFill>
        <p:spPr>
          <a:xfrm>
            <a:off x="6084168" y="3356992"/>
            <a:ext cx="1862146" cy="1500194"/>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Make recommendations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96544"/>
          </a:xfrm>
        </p:spPr>
        <p:txBody>
          <a:bodyPr>
            <a:normAutofit/>
          </a:bodyPr>
          <a:lstStyle/>
          <a:p>
            <a:pPr>
              <a:spcBef>
                <a:spcPts val="600"/>
              </a:spcBef>
              <a:spcAft>
                <a:spcPts val="1200"/>
              </a:spcAft>
              <a:buNone/>
            </a:pPr>
            <a:r>
              <a:rPr lang="en-US" sz="2200" b="1" dirty="0" smtClean="0">
                <a:latin typeface="Helvetica" pitchFamily="34" charset="0"/>
              </a:rPr>
              <a:t>Inclusions in a recommendation</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Now that we have identified a wide variety of recommendations that can be made, it is now time to put them into the appropriate format for presentation to appropriate stakeholders.</a:t>
            </a:r>
          </a:p>
          <a:p>
            <a:pPr>
              <a:spcBef>
                <a:spcPts val="600"/>
              </a:spcBef>
              <a:spcAft>
                <a:spcPts val="1200"/>
              </a:spcAft>
            </a:pPr>
            <a:r>
              <a:rPr lang="en-AU" sz="2200" dirty="0" smtClean="0">
                <a:latin typeface="Helvetica" pitchFamily="34" charset="0"/>
              </a:rPr>
              <a:t>What information should be included in a recommendation?</a:t>
            </a: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dirty="0" smtClean="0">
                <a:solidFill>
                  <a:srgbClr val="FF6600"/>
                </a:solidFill>
              </a:rPr>
              <a:t>COMPLETE ACTIVITIES 24 &amp; 25</a:t>
            </a:r>
            <a:endParaRPr lang="en-US"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6" name="Picture 5" descr="shutterstock_168391730.jpg"/>
          <p:cNvPicPr/>
          <p:nvPr/>
        </p:nvPicPr>
        <p:blipFill>
          <a:blip r:embed="rId3" cstate="print"/>
          <a:stretch>
            <a:fillRect/>
          </a:stretch>
        </p:blipFill>
        <p:spPr>
          <a:xfrm>
            <a:off x="6876256" y="3501008"/>
            <a:ext cx="1397496" cy="1660004"/>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Make recommendations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72816"/>
            <a:ext cx="5760640" cy="4896544"/>
          </a:xfrm>
        </p:spPr>
        <p:txBody>
          <a:bodyPr>
            <a:normAutofit/>
          </a:bodyPr>
          <a:lstStyle/>
          <a:p>
            <a:pPr>
              <a:spcBef>
                <a:spcPts val="600"/>
              </a:spcBef>
              <a:spcAft>
                <a:spcPts val="1200"/>
              </a:spcAft>
              <a:buNone/>
            </a:pPr>
            <a:r>
              <a:rPr lang="en-AU" sz="2200" b="1" dirty="0" smtClean="0">
                <a:latin typeface="Helvetica" pitchFamily="34" charset="0"/>
              </a:rPr>
              <a:t>Implementing recommendations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are activities potentially involved in implementing recommendations?</a:t>
            </a:r>
          </a:p>
          <a:p>
            <a:pPr>
              <a:spcBef>
                <a:spcPts val="600"/>
              </a:spcBef>
              <a:spcAft>
                <a:spcPts val="1200"/>
              </a:spcAft>
            </a:pPr>
            <a:r>
              <a:rPr lang="en-AU" sz="2200" dirty="0" smtClean="0">
                <a:latin typeface="Helvetica" pitchFamily="34" charset="0"/>
              </a:rPr>
              <a:t>How can you monitor the implementation of recommendations?</a:t>
            </a:r>
          </a:p>
          <a:p>
            <a:pPr>
              <a:spcBef>
                <a:spcPts val="600"/>
              </a:spcBef>
              <a:spcAft>
                <a:spcPts val="1200"/>
              </a:spcAft>
            </a:pPr>
            <a:r>
              <a:rPr lang="en-AU" sz="2200" dirty="0" smtClean="0">
                <a:latin typeface="Helvetica" pitchFamily="34" charset="0"/>
              </a:rPr>
              <a:t>Why is it important to monitor the implementation of recommendations?</a:t>
            </a:r>
            <a:endParaRPr lang="en-US" sz="2200" dirty="0" smtClean="0">
              <a:latin typeface="Helvetica" pitchFamily="34" charset="0"/>
            </a:endParaRPr>
          </a:p>
          <a:p>
            <a:pPr>
              <a:spcBef>
                <a:spcPts val="600"/>
              </a:spcBef>
              <a:spcAft>
                <a:spcPts val="1200"/>
              </a:spcAft>
              <a:buNone/>
            </a:pPr>
            <a:r>
              <a:rPr lang="en-AU" sz="2200" dirty="0" smtClean="0">
                <a:solidFill>
                  <a:srgbClr val="FF6600"/>
                </a:solidFill>
              </a:rPr>
              <a:t>COMPLETE ACTIVITY 26</a:t>
            </a:r>
            <a:endParaRPr lang="en-US"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7" name="Picture 6" descr="W111_agenda_shutterstock_155461625.jpg"/>
          <p:cNvPicPr/>
          <p:nvPr/>
        </p:nvPicPr>
        <p:blipFill>
          <a:blip r:embed="rId3" cstate="print"/>
          <a:stretch>
            <a:fillRect/>
          </a:stretch>
        </p:blipFill>
        <p:spPr>
          <a:xfrm>
            <a:off x="6732240" y="2708920"/>
            <a:ext cx="1647825" cy="1095375"/>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5:</a:t>
            </a:r>
          </a:p>
          <a:p>
            <a:pPr marL="0">
              <a:buNone/>
            </a:pPr>
            <a:r>
              <a:rPr lang="en-US" sz="4000" dirty="0" smtClean="0">
                <a:solidFill>
                  <a:srgbClr val="FF6600"/>
                </a:solidFill>
                <a:latin typeface="Helvetica" pitchFamily="34" charset="0"/>
              </a:rPr>
              <a:t>Manage risk associated with business strategies</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4" descr="W421_riskmanagment_shutterstock_161159150.jpg"/>
          <p:cNvPicPr/>
          <p:nvPr/>
        </p:nvPicPr>
        <p:blipFill>
          <a:blip r:embed="rId3" cstate="print"/>
          <a:stretch>
            <a:fillRect/>
          </a:stretch>
        </p:blipFill>
        <p:spPr>
          <a:xfrm>
            <a:off x="3419872" y="4057428"/>
            <a:ext cx="2520280" cy="1623268"/>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Manage risk associated with business strategies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US" sz="2200" dirty="0" smtClean="0">
                <a:latin typeface="Helvetica" pitchFamily="34" charset="0"/>
              </a:rPr>
              <a:t>Identify risks associated with implementation of strategic plans</a:t>
            </a:r>
          </a:p>
          <a:p>
            <a:pPr>
              <a:spcBef>
                <a:spcPts val="600"/>
              </a:spcBef>
              <a:spcAft>
                <a:spcPts val="1200"/>
              </a:spcAft>
            </a:pPr>
            <a:r>
              <a:rPr lang="en-US" sz="2200" dirty="0" smtClean="0">
                <a:latin typeface="Helvetica" pitchFamily="34" charset="0"/>
              </a:rPr>
              <a:t>Access information sources in relation to identified risk</a:t>
            </a:r>
          </a:p>
          <a:p>
            <a:pPr>
              <a:spcBef>
                <a:spcPts val="600"/>
              </a:spcBef>
              <a:spcAft>
                <a:spcPts val="1200"/>
              </a:spcAft>
            </a:pPr>
            <a:r>
              <a:rPr lang="en-US" sz="2200" dirty="0" smtClean="0">
                <a:latin typeface="Helvetica" pitchFamily="34" charset="0"/>
              </a:rPr>
              <a:t>Assess risk levels</a:t>
            </a:r>
          </a:p>
          <a:p>
            <a:pPr>
              <a:spcBef>
                <a:spcPts val="600"/>
              </a:spcBef>
              <a:spcAft>
                <a:spcPts val="1200"/>
              </a:spcAft>
            </a:pPr>
            <a:r>
              <a:rPr lang="en-US" sz="2200" dirty="0" smtClean="0">
                <a:latin typeface="Helvetica" pitchFamily="34" charset="0"/>
              </a:rPr>
              <a:t>Develop written operational risk                                  management policy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4" descr="A11 158587457.jpg"/>
          <p:cNvPicPr>
            <a:picLocks noChangeAspect="1"/>
          </p:cNvPicPr>
          <p:nvPr/>
        </p:nvPicPr>
        <p:blipFill>
          <a:blip r:embed="rId3" cstate="print"/>
          <a:stretch>
            <a:fillRect/>
          </a:stretch>
        </p:blipFill>
        <p:spPr>
          <a:xfrm>
            <a:off x="6084168" y="3933056"/>
            <a:ext cx="2279706" cy="1520564"/>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Manage risk associated with business strategies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US" sz="2200" dirty="0" smtClean="0">
                <a:latin typeface="Helvetica" pitchFamily="34" charset="0"/>
              </a:rPr>
              <a:t>Develop written operational risk management plans</a:t>
            </a:r>
          </a:p>
          <a:p>
            <a:pPr>
              <a:spcBef>
                <a:spcPts val="600"/>
              </a:spcBef>
              <a:spcAft>
                <a:spcPts val="1200"/>
              </a:spcAft>
            </a:pPr>
            <a:r>
              <a:rPr lang="en-US" sz="2200" dirty="0" smtClean="0">
                <a:latin typeface="Helvetica" pitchFamily="34" charset="0"/>
              </a:rPr>
              <a:t>Develop written operational contingency plans</a:t>
            </a:r>
          </a:p>
          <a:p>
            <a:pPr>
              <a:spcBef>
                <a:spcPts val="600"/>
              </a:spcBef>
              <a:spcAft>
                <a:spcPts val="1200"/>
              </a:spcAft>
            </a:pPr>
            <a:r>
              <a:rPr lang="en-US" sz="2200" dirty="0" smtClean="0">
                <a:latin typeface="Helvetica" pitchFamily="34" charset="0"/>
              </a:rPr>
              <a:t>Communicate risk management strategies to stakeholders</a:t>
            </a:r>
          </a:p>
          <a:p>
            <a:pPr>
              <a:spcBef>
                <a:spcPts val="600"/>
              </a:spcBef>
              <a:spcAft>
                <a:spcPts val="1200"/>
              </a:spcAft>
            </a:pPr>
            <a:r>
              <a:rPr lang="en-US" sz="2200" dirty="0" smtClean="0">
                <a:latin typeface="Helvetica" pitchFamily="34" charset="0"/>
              </a:rPr>
              <a:t>Review and monitor risk management                                     plans and procedures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5" name="Picture 4" descr="shutterstock_198824870.jpg"/>
          <p:cNvPicPr>
            <a:picLocks noChangeAspect="1"/>
          </p:cNvPicPr>
          <p:nvPr/>
        </p:nvPicPr>
        <p:blipFill>
          <a:blip r:embed="rId3" cstate="print"/>
          <a:stretch>
            <a:fillRect/>
          </a:stretch>
        </p:blipFill>
        <p:spPr>
          <a:xfrm>
            <a:off x="6948264" y="4293096"/>
            <a:ext cx="1609084" cy="1812032"/>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Risk Identification</a:t>
            </a:r>
          </a:p>
          <a:p>
            <a:pPr>
              <a:spcBef>
                <a:spcPts val="600"/>
              </a:spcBef>
              <a:spcAft>
                <a:spcPts val="1200"/>
              </a:spcAft>
            </a:pPr>
            <a:r>
              <a:rPr lang="en-AU" sz="2200" dirty="0" smtClean="0">
                <a:latin typeface="Helvetica" pitchFamily="34" charset="0"/>
              </a:rPr>
              <a:t>What are different types of risks?</a:t>
            </a:r>
          </a:p>
          <a:p>
            <a:pPr>
              <a:spcBef>
                <a:spcPts val="600"/>
              </a:spcBef>
              <a:spcAft>
                <a:spcPts val="1200"/>
              </a:spcAft>
            </a:pPr>
            <a:r>
              <a:rPr lang="en-AU" sz="2200" dirty="0" smtClean="0">
                <a:latin typeface="Helvetica" pitchFamily="34" charset="0"/>
              </a:rPr>
              <a:t>What needs to be considered?</a:t>
            </a:r>
          </a:p>
          <a:p>
            <a:pPr>
              <a:spcBef>
                <a:spcPts val="600"/>
              </a:spcBef>
              <a:spcAft>
                <a:spcPts val="1200"/>
              </a:spcAft>
            </a:pPr>
            <a:r>
              <a:rPr lang="en-AU" sz="2200" dirty="0" smtClean="0">
                <a:latin typeface="Helvetica" pitchFamily="34" charset="0"/>
              </a:rPr>
              <a:t>What are the steps to reduce risks?</a:t>
            </a: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6" name="Picture 5" descr="shutterstock_123754822.jpg"/>
          <p:cNvPicPr>
            <a:picLocks noChangeAspect="1"/>
          </p:cNvPicPr>
          <p:nvPr/>
        </p:nvPicPr>
        <p:blipFill>
          <a:blip r:embed="rId3" cstate="print"/>
          <a:stretch>
            <a:fillRect/>
          </a:stretch>
        </p:blipFill>
        <p:spPr>
          <a:xfrm>
            <a:off x="5940152" y="2348880"/>
            <a:ext cx="2387664" cy="1592572"/>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Risk Management</a:t>
            </a:r>
          </a:p>
          <a:p>
            <a:pPr marL="0">
              <a:spcBef>
                <a:spcPts val="600"/>
              </a:spcBef>
              <a:spcAft>
                <a:spcPts val="1200"/>
              </a:spcAft>
              <a:buNone/>
            </a:pPr>
            <a:r>
              <a:rPr lang="en-AU" sz="2200" dirty="0" smtClean="0">
                <a:latin typeface="Helvetica" pitchFamily="34" charset="0"/>
              </a:rPr>
              <a:t>Risk management is a logical and systematic process of identifying, analysing, evaluating, treating and monitoring risks related to any strategy plan, process, program or procedures </a:t>
            </a:r>
          </a:p>
          <a:p>
            <a:pPr>
              <a:spcBef>
                <a:spcPts val="600"/>
              </a:spcBef>
              <a:spcAft>
                <a:spcPts val="1200"/>
              </a:spcAft>
            </a:pPr>
            <a:r>
              <a:rPr lang="en-AU" sz="2200" dirty="0" smtClean="0">
                <a:latin typeface="Helvetica" pitchFamily="34" charset="0"/>
              </a:rPr>
              <a:t>What activities are associated with risk management?</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7" name="Picture 6" descr="shutterstock_184985339.jpg"/>
          <p:cNvPicPr/>
          <p:nvPr/>
        </p:nvPicPr>
        <p:blipFill>
          <a:blip r:embed="rId3" cstate="print"/>
          <a:stretch>
            <a:fillRect/>
          </a:stretch>
        </p:blipFill>
        <p:spPr>
          <a:xfrm>
            <a:off x="3419872" y="4365104"/>
            <a:ext cx="2320280" cy="1512168"/>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risks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Internal and external risks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Real and perceived risk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Random risk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Inherent risk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Residual risk </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5" descr="W615_shutterstock_161774243.jpg"/>
          <p:cNvPicPr/>
          <p:nvPr/>
        </p:nvPicPr>
        <p:blipFill>
          <a:blip r:embed="rId3" cstate="print"/>
          <a:stretch>
            <a:fillRect/>
          </a:stretch>
        </p:blipFill>
        <p:spPr>
          <a:xfrm>
            <a:off x="6588224" y="2564904"/>
            <a:ext cx="1362075" cy="2038350"/>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internal risks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Infrastructure</a:t>
            </a:r>
          </a:p>
          <a:p>
            <a:pPr>
              <a:spcBef>
                <a:spcPts val="600"/>
              </a:spcBef>
              <a:spcAft>
                <a:spcPts val="1200"/>
              </a:spcAft>
            </a:pPr>
            <a:r>
              <a:rPr lang="en-AU" sz="2200" dirty="0" smtClean="0">
                <a:latin typeface="Helvetica" pitchFamily="34" charset="0"/>
              </a:rPr>
              <a:t>Employees</a:t>
            </a:r>
          </a:p>
          <a:p>
            <a:pPr>
              <a:spcBef>
                <a:spcPts val="600"/>
              </a:spcBef>
              <a:spcAft>
                <a:spcPts val="1200"/>
              </a:spcAft>
            </a:pPr>
            <a:r>
              <a:rPr lang="en-AU" sz="2200" dirty="0" smtClean="0">
                <a:latin typeface="Helvetica" pitchFamily="34" charset="0"/>
              </a:rPr>
              <a:t>Process</a:t>
            </a:r>
          </a:p>
          <a:p>
            <a:pPr>
              <a:spcBef>
                <a:spcPts val="600"/>
              </a:spcBef>
              <a:spcAft>
                <a:spcPts val="1200"/>
              </a:spcAft>
            </a:pPr>
            <a:r>
              <a:rPr lang="en-AU" sz="2200" dirty="0" smtClean="0">
                <a:latin typeface="Helvetica" pitchFamily="34" charset="0"/>
              </a:rPr>
              <a:t>Business operating systems</a:t>
            </a:r>
          </a:p>
          <a:p>
            <a:pPr>
              <a:spcBef>
                <a:spcPts val="600"/>
              </a:spcBef>
              <a:spcAft>
                <a:spcPts val="1200"/>
              </a:spcAft>
            </a:pPr>
            <a:r>
              <a:rPr lang="en-AU" sz="2200" dirty="0" smtClean="0">
                <a:latin typeface="Helvetica" pitchFamily="34" charset="0"/>
              </a:rPr>
              <a:t>Technology</a:t>
            </a:r>
          </a:p>
          <a:p>
            <a:pPr>
              <a:spcBef>
                <a:spcPts val="600"/>
              </a:spcBef>
              <a:spcAft>
                <a:spcPts val="1200"/>
              </a:spcAft>
            </a:pPr>
            <a:r>
              <a:rPr lang="en-AU" sz="2200" dirty="0" smtClean="0">
                <a:latin typeface="Helvetica" pitchFamily="34" charset="0"/>
              </a:rPr>
              <a:t>Strategic</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7" name="Picture 6" descr="shutterstock_2953316.jpg"/>
          <p:cNvPicPr/>
          <p:nvPr/>
        </p:nvPicPr>
        <p:blipFill>
          <a:blip r:embed="rId3" cstate="print"/>
          <a:stretch>
            <a:fillRect/>
          </a:stretch>
        </p:blipFill>
        <p:spPr>
          <a:xfrm>
            <a:off x="6228184" y="2708920"/>
            <a:ext cx="1790700" cy="1466850"/>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smtClean="0">
                <a:latin typeface="Helvetica" pitchFamily="34" charset="0"/>
              </a:rPr>
              <a:t>Types of external risks</a:t>
            </a:r>
          </a:p>
          <a:p>
            <a:pPr>
              <a:spcBef>
                <a:spcPts val="600"/>
              </a:spcBef>
              <a:spcAft>
                <a:spcPts val="1200"/>
              </a:spcAft>
            </a:pPr>
            <a:r>
              <a:rPr lang="en-AU" sz="2200" smtClean="0">
                <a:latin typeface="Helvetica" pitchFamily="34" charset="0"/>
              </a:rPr>
              <a:t>Economy</a:t>
            </a:r>
          </a:p>
          <a:p>
            <a:pPr>
              <a:spcBef>
                <a:spcPts val="600"/>
              </a:spcBef>
              <a:spcAft>
                <a:spcPts val="1200"/>
              </a:spcAft>
            </a:pPr>
            <a:r>
              <a:rPr lang="en-AU" sz="2200" smtClean="0">
                <a:latin typeface="Helvetica" pitchFamily="34" charset="0"/>
              </a:rPr>
              <a:t>Supply and demand</a:t>
            </a:r>
          </a:p>
          <a:p>
            <a:pPr>
              <a:spcBef>
                <a:spcPts val="600"/>
              </a:spcBef>
              <a:spcAft>
                <a:spcPts val="1200"/>
              </a:spcAft>
            </a:pPr>
            <a:r>
              <a:rPr lang="en-AU" sz="2200" smtClean="0">
                <a:latin typeface="Helvetica" pitchFamily="34" charset="0"/>
              </a:rPr>
              <a:t>Natural environment</a:t>
            </a:r>
          </a:p>
          <a:p>
            <a:pPr>
              <a:spcBef>
                <a:spcPts val="600"/>
              </a:spcBef>
              <a:spcAft>
                <a:spcPts val="1200"/>
              </a:spcAft>
            </a:pPr>
            <a:r>
              <a:rPr lang="en-AU" sz="2200" smtClean="0">
                <a:latin typeface="Helvetica" pitchFamily="34" charset="0"/>
              </a:rPr>
              <a:t>Politics</a:t>
            </a:r>
          </a:p>
          <a:p>
            <a:pPr>
              <a:spcBef>
                <a:spcPts val="600"/>
              </a:spcBef>
              <a:spcAft>
                <a:spcPts val="1200"/>
              </a:spcAft>
            </a:pPr>
            <a:r>
              <a:rPr lang="en-AU" sz="2200" smtClean="0">
                <a:latin typeface="Helvetica" pitchFamily="34" charset="0"/>
              </a:rPr>
              <a:t>Industry and business associations</a:t>
            </a:r>
          </a:p>
          <a:p>
            <a:pPr>
              <a:spcBef>
                <a:spcPts val="600"/>
              </a:spcBef>
              <a:spcAft>
                <a:spcPts val="1200"/>
              </a:spcAft>
            </a:pPr>
            <a:r>
              <a:rPr lang="en-AU" sz="2200" smtClean="0">
                <a:latin typeface="Helvetica" pitchFamily="34" charset="0"/>
              </a:rPr>
              <a:t>Society</a:t>
            </a:r>
          </a:p>
          <a:p>
            <a:pPr>
              <a:spcBef>
                <a:spcPts val="600"/>
              </a:spcBef>
              <a:spcAft>
                <a:spcPts val="1200"/>
              </a:spcAft>
            </a:pPr>
            <a:r>
              <a:rPr lang="en-AU" sz="2200" smtClean="0">
                <a:latin typeface="Helvetica" pitchFamily="34" charset="0"/>
              </a:rPr>
              <a:t>Technology</a:t>
            </a:r>
          </a:p>
          <a:p>
            <a:endParaRPr lang="en-AU" sz="2400" smtClean="0"/>
          </a:p>
          <a:p>
            <a:pPr>
              <a:spcBef>
                <a:spcPts val="600"/>
              </a:spcBef>
              <a:spcAft>
                <a:spcPts val="1200"/>
              </a:spcAft>
            </a:pPr>
            <a:endParaRPr lang="en-AU" sz="220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6" name="Picture 5" descr="shutterstock_131162912.jpg"/>
          <p:cNvPicPr/>
          <p:nvPr/>
        </p:nvPicPr>
        <p:blipFill>
          <a:blip r:embed="rId3" cstate="print"/>
          <a:stretch>
            <a:fillRect/>
          </a:stretch>
        </p:blipFill>
        <p:spPr>
          <a:xfrm>
            <a:off x="6300192" y="2780928"/>
            <a:ext cx="1819275" cy="1209675"/>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Risk management steps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Identify and document the risks</a:t>
            </a:r>
          </a:p>
          <a:p>
            <a:pPr lvl="0">
              <a:spcBef>
                <a:spcPts val="600"/>
              </a:spcBef>
              <a:spcAft>
                <a:spcPts val="1200"/>
              </a:spcAft>
            </a:pPr>
            <a:r>
              <a:rPr lang="en-US" sz="2200" dirty="0" smtClean="0">
                <a:latin typeface="Helvetica" pitchFamily="34" charset="0"/>
              </a:rPr>
              <a:t>Analyse the risks</a:t>
            </a:r>
          </a:p>
          <a:p>
            <a:pPr lvl="0">
              <a:spcBef>
                <a:spcPts val="600"/>
              </a:spcBef>
              <a:spcAft>
                <a:spcPts val="1200"/>
              </a:spcAft>
            </a:pPr>
            <a:r>
              <a:rPr lang="en-US" sz="2200" dirty="0" smtClean="0">
                <a:latin typeface="Helvetica" pitchFamily="34" charset="0"/>
              </a:rPr>
              <a:t>Categorise the risks</a:t>
            </a:r>
          </a:p>
          <a:p>
            <a:pPr lvl="0">
              <a:spcBef>
                <a:spcPts val="600"/>
              </a:spcBef>
              <a:spcAft>
                <a:spcPts val="1200"/>
              </a:spcAft>
            </a:pPr>
            <a:r>
              <a:rPr lang="en-US" sz="2200" dirty="0" smtClean="0">
                <a:latin typeface="Helvetica" pitchFamily="34" charset="0"/>
              </a:rPr>
              <a:t>Establish reporting procedures</a:t>
            </a:r>
          </a:p>
          <a:p>
            <a:pPr lvl="0">
              <a:spcBef>
                <a:spcPts val="600"/>
              </a:spcBef>
              <a:spcAft>
                <a:spcPts val="1200"/>
              </a:spcAft>
            </a:pPr>
            <a:r>
              <a:rPr lang="en-US" sz="2200" dirty="0" smtClean="0">
                <a:latin typeface="Helvetica" pitchFamily="34" charset="0"/>
              </a:rPr>
              <a:t>Identify training and education opportunities</a:t>
            </a:r>
          </a:p>
          <a:p>
            <a:pPr lvl="0">
              <a:spcBef>
                <a:spcPts val="600"/>
              </a:spcBef>
              <a:spcAft>
                <a:spcPts val="1200"/>
              </a:spcAft>
            </a:pPr>
            <a:r>
              <a:rPr lang="en-US" sz="2200" dirty="0" smtClean="0">
                <a:latin typeface="Helvetica" pitchFamily="34" charset="0"/>
              </a:rPr>
              <a:t>Monitor activities to identify potential risks </a:t>
            </a:r>
          </a:p>
          <a:p>
            <a:pPr lvl="0">
              <a:spcBef>
                <a:spcPts val="600"/>
              </a:spcBef>
              <a:spcAft>
                <a:spcPts val="1200"/>
              </a:spcAft>
            </a:pPr>
            <a:r>
              <a:rPr lang="en-US" sz="2200" dirty="0" smtClean="0">
                <a:latin typeface="Helvetica" pitchFamily="34" charset="0"/>
              </a:rPr>
              <a:t>Minimise and remove risks</a:t>
            </a:r>
          </a:p>
          <a:p>
            <a:pPr>
              <a:buNone/>
            </a:pPr>
            <a:r>
              <a:rPr lang="en-AU" sz="2200" dirty="0" smtClean="0">
                <a:solidFill>
                  <a:srgbClr val="FF6600"/>
                </a:solidFill>
              </a:rPr>
              <a:t>COMPLETE ACTIVITY 27</a:t>
            </a:r>
            <a:endParaRPr lang="en-US" sz="2200" dirty="0" smtClean="0">
              <a:latin typeface="Helvetica" pitchFamily="34" charset="0"/>
            </a:endParaRPr>
          </a:p>
          <a:p>
            <a:endParaRPr lang="en-US"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7" name="Picture 6" descr="shutterstock_122825407.jpg"/>
          <p:cNvPicPr/>
          <p:nvPr/>
        </p:nvPicPr>
        <p:blipFill>
          <a:blip r:embed="rId3" cstate="print"/>
          <a:stretch>
            <a:fillRect/>
          </a:stretch>
        </p:blipFill>
        <p:spPr>
          <a:xfrm>
            <a:off x="6444208" y="2924944"/>
            <a:ext cx="1771650" cy="1181100"/>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information sources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Risk identification options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variety of options exist for organisations to select from in relation to their risk management decision making for identified risk and the calculation of risk levels.</a:t>
            </a:r>
          </a:p>
          <a:p>
            <a:pPr>
              <a:spcBef>
                <a:spcPts val="600"/>
              </a:spcBef>
              <a:spcAft>
                <a:spcPts val="1200"/>
              </a:spcAft>
            </a:pPr>
            <a:r>
              <a:rPr lang="en-AU" sz="2200" dirty="0" smtClean="0">
                <a:latin typeface="Helvetica" pitchFamily="34" charset="0"/>
              </a:rPr>
              <a:t>What options exist?</a:t>
            </a:r>
            <a:endParaRPr lang="en-US" sz="2200" dirty="0" smtClean="0">
              <a:latin typeface="Helvetica" pitchFamily="34" charset="0"/>
            </a:endParaRPr>
          </a:p>
          <a:p>
            <a:endParaRPr lang="en-US"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6" name="Picture 5" descr="shutterstock_95857066.jpg"/>
          <p:cNvPicPr/>
          <p:nvPr/>
        </p:nvPicPr>
        <p:blipFill>
          <a:blip r:embed="rId3" cstate="print"/>
          <a:stretch>
            <a:fillRect/>
          </a:stretch>
        </p:blipFill>
        <p:spPr>
          <a:xfrm>
            <a:off x="6228184" y="3789040"/>
            <a:ext cx="1724025" cy="1419225"/>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information sources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Identify stakeholders in risk identification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terms of risk management ‘relevant stakeholders’ can be seen as anyone, whether internal or external to the organisation, who is impacted by, or who impacts on, the business.</a:t>
            </a:r>
          </a:p>
          <a:p>
            <a:pPr>
              <a:spcBef>
                <a:spcPts val="600"/>
              </a:spcBef>
              <a:spcAft>
                <a:spcPts val="1200"/>
              </a:spcAft>
            </a:pPr>
            <a:r>
              <a:rPr lang="en-AU" sz="2200" dirty="0" smtClean="0">
                <a:latin typeface="Helvetica" pitchFamily="34" charset="0"/>
              </a:rPr>
              <a:t>Who are ‘risk analysis’ stakeholders?</a:t>
            </a:r>
          </a:p>
          <a:p>
            <a:pPr>
              <a:spcBef>
                <a:spcPts val="600"/>
              </a:spcBef>
              <a:spcAft>
                <a:spcPts val="1200"/>
              </a:spcAft>
            </a:pPr>
            <a:r>
              <a:rPr lang="en-AU" sz="2200" dirty="0" smtClean="0">
                <a:latin typeface="Helvetica" pitchFamily="34" charset="0"/>
              </a:rPr>
              <a:t>Why consult them?</a:t>
            </a:r>
            <a:endParaRPr lang="en-US" sz="2200" dirty="0" smtClean="0">
              <a:latin typeface="Helvetica" pitchFamily="34" charset="0"/>
            </a:endParaRPr>
          </a:p>
          <a:p>
            <a:endParaRPr lang="en-US" sz="2400" dirty="0" smtClean="0"/>
          </a:p>
          <a:p>
            <a:pPr>
              <a:spcBef>
                <a:spcPts val="600"/>
              </a:spcBef>
              <a:spcAft>
                <a:spcPts val="1200"/>
              </a:spcAft>
              <a:buNone/>
            </a:pPr>
            <a:r>
              <a:rPr lang="en-AU" sz="2200" dirty="0" smtClean="0">
                <a:solidFill>
                  <a:srgbClr val="FF6600"/>
                </a:solidFill>
              </a:rPr>
              <a:t>COMPLETE ACTIVITY 28</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7" name="Picture 6" descr="shutterstock_153548027.jpg"/>
          <p:cNvPicPr/>
          <p:nvPr/>
        </p:nvPicPr>
        <p:blipFill>
          <a:blip r:embed="rId3" cstate="print"/>
          <a:stretch>
            <a:fillRect/>
          </a:stretch>
        </p:blipFill>
        <p:spPr>
          <a:xfrm>
            <a:off x="6372200" y="3645024"/>
            <a:ext cx="1828800" cy="1219200"/>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information sources</a:t>
            </a:r>
          </a:p>
        </p:txBody>
      </p:sp>
      <p:sp>
        <p:nvSpPr>
          <p:cNvPr id="3" name="Content Placeholder 2"/>
          <p:cNvSpPr>
            <a:spLocks noGrp="1"/>
          </p:cNvSpPr>
          <p:nvPr>
            <p:ph idx="1"/>
          </p:nvPr>
        </p:nvSpPr>
        <p:spPr>
          <a:xfrm>
            <a:off x="611560" y="1556792"/>
            <a:ext cx="6192688" cy="4968552"/>
          </a:xfrm>
        </p:spPr>
        <p:txBody>
          <a:bodyPr>
            <a:normAutofit/>
          </a:bodyPr>
          <a:lstStyle/>
          <a:p>
            <a:pPr>
              <a:spcBef>
                <a:spcPts val="600"/>
              </a:spcBef>
              <a:spcAft>
                <a:spcPts val="1200"/>
              </a:spcAft>
              <a:buNone/>
            </a:pPr>
            <a:r>
              <a:rPr lang="en-AU" sz="2200" b="1" dirty="0" smtClean="0">
                <a:latin typeface="Helvetica" pitchFamily="34" charset="0"/>
              </a:rPr>
              <a:t>Techniques for risk identification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Analysis of existing business documentation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Conduct safety and risk audit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Testing of equipment, plant and machinery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Using an external, professional risk consultant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Reviewing existing risk management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Visiting the competition and observing                                   what they are doing</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6" name="Picture 5" descr="shutterstock_170984318.jpg"/>
          <p:cNvPicPr/>
          <p:nvPr/>
        </p:nvPicPr>
        <p:blipFill>
          <a:blip r:embed="rId3" cstate="print"/>
          <a:stretch>
            <a:fillRect/>
          </a:stretch>
        </p:blipFill>
        <p:spPr>
          <a:xfrm>
            <a:off x="6876256" y="2996952"/>
            <a:ext cx="1447800" cy="1885950"/>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information sources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Techniques for risk identification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Touring the local area</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Contacting the council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Consultation with stakeholders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Brainstorming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Process charting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Flow charts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Critical thinking techniques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7" name="Picture 6" descr="shutterstock_156813770.jpg"/>
          <p:cNvPicPr/>
          <p:nvPr/>
        </p:nvPicPr>
        <p:blipFill>
          <a:blip r:embed="rId3" cstate="print"/>
          <a:stretch>
            <a:fillRect/>
          </a:stretch>
        </p:blipFill>
        <p:spPr>
          <a:xfrm>
            <a:off x="6372200" y="2708920"/>
            <a:ext cx="1676400" cy="1562100"/>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information sources</a:t>
            </a:r>
          </a:p>
        </p:txBody>
      </p:sp>
      <p:sp>
        <p:nvSpPr>
          <p:cNvPr id="3" name="Content Placeholder 2"/>
          <p:cNvSpPr>
            <a:spLocks noGrp="1"/>
          </p:cNvSpPr>
          <p:nvPr>
            <p:ph idx="1"/>
          </p:nvPr>
        </p:nvSpPr>
        <p:spPr>
          <a:xfrm>
            <a:off x="611560" y="1556792"/>
            <a:ext cx="6336704" cy="4968552"/>
          </a:xfrm>
        </p:spPr>
        <p:txBody>
          <a:bodyPr>
            <a:normAutofit/>
          </a:bodyPr>
          <a:lstStyle/>
          <a:p>
            <a:pPr>
              <a:spcBef>
                <a:spcPts val="600"/>
              </a:spcBef>
              <a:spcAft>
                <a:spcPts val="1200"/>
              </a:spcAft>
              <a:buNone/>
            </a:pPr>
            <a:r>
              <a:rPr lang="en-AU" sz="2200" b="1" dirty="0" smtClean="0">
                <a:latin typeface="Helvetica" pitchFamily="34" charset="0"/>
              </a:rPr>
              <a:t>Techniques for risk identification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Focus groups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Personal workplace observation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Reviewing any previous risk management work that has been done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Seeking advice from peak industry bodies</a:t>
            </a:r>
          </a:p>
          <a:p>
            <a:pPr lvl="0">
              <a:spcBef>
                <a:spcPts val="600"/>
              </a:spcBef>
              <a:spcAft>
                <a:spcPts val="1200"/>
              </a:spcAft>
            </a:pPr>
            <a:r>
              <a:rPr lang="en-AU" sz="2200" dirty="0" smtClean="0">
                <a:latin typeface="Helvetica" pitchFamily="34" charset="0"/>
              </a:rPr>
              <a:t>Using your personal network of contacts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Computer modelling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6" name="Picture 5" descr="shutterstock_166468943.jpg"/>
          <p:cNvPicPr/>
          <p:nvPr/>
        </p:nvPicPr>
        <p:blipFill>
          <a:blip r:embed="rId3" cstate="print"/>
          <a:stretch>
            <a:fillRect/>
          </a:stretch>
        </p:blipFill>
        <p:spPr>
          <a:xfrm>
            <a:off x="6732240" y="3068960"/>
            <a:ext cx="1699821" cy="1152128"/>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information sources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Techniques for risk identification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Sensitivity analysis </a:t>
            </a:r>
          </a:p>
          <a:p>
            <a:pPr lvl="0">
              <a:spcBef>
                <a:spcPts val="600"/>
              </a:spcBef>
              <a:spcAft>
                <a:spcPts val="1200"/>
              </a:spcAft>
            </a:pPr>
            <a:r>
              <a:rPr lang="en-AU" sz="2200" dirty="0" smtClean="0">
                <a:latin typeface="Helvetica" pitchFamily="34" charset="0"/>
              </a:rPr>
              <a:t>Structured interviews </a:t>
            </a:r>
          </a:p>
          <a:p>
            <a:pPr lvl="0">
              <a:spcBef>
                <a:spcPts val="600"/>
              </a:spcBef>
              <a:spcAft>
                <a:spcPts val="1200"/>
              </a:spcAft>
            </a:pPr>
            <a:r>
              <a:rPr lang="en-AU" sz="2200" dirty="0" smtClean="0">
                <a:latin typeface="Helvetica" pitchFamily="34" charset="0"/>
              </a:rPr>
              <a:t>Questionnaires</a:t>
            </a:r>
          </a:p>
          <a:p>
            <a:pPr lvl="0">
              <a:spcBef>
                <a:spcPts val="600"/>
              </a:spcBef>
              <a:spcAft>
                <a:spcPts val="1200"/>
              </a:spcAft>
            </a:pPr>
            <a:r>
              <a:rPr lang="en-AU" sz="2200" dirty="0" smtClean="0">
                <a:latin typeface="Helvetica" pitchFamily="34" charset="0"/>
              </a:rPr>
              <a:t>Fault trees </a:t>
            </a:r>
          </a:p>
          <a:p>
            <a:pPr lvl="0">
              <a:spcBef>
                <a:spcPts val="600"/>
              </a:spcBef>
              <a:spcAft>
                <a:spcPts val="1200"/>
              </a:spcAft>
            </a:pPr>
            <a:r>
              <a:rPr lang="en-AU" sz="2200" dirty="0" smtClean="0">
                <a:latin typeface="Helvetica" pitchFamily="34" charset="0"/>
              </a:rPr>
              <a:t>Analysis of consequences </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29</a:t>
            </a:r>
            <a:endParaRPr lang="en-US" sz="2200" dirty="0" smtClean="0">
              <a:latin typeface="Helvetica" pitchFamily="34" charset="0"/>
            </a:endParaRP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7" name="Picture 6" descr="shutterstock_132318596.jpg"/>
          <p:cNvPicPr/>
          <p:nvPr/>
        </p:nvPicPr>
        <p:blipFill>
          <a:blip r:embed="rId3" cstate="print"/>
          <a:stretch>
            <a:fillRect/>
          </a:stretch>
        </p:blipFill>
        <p:spPr>
          <a:xfrm>
            <a:off x="5868144" y="2492896"/>
            <a:ext cx="2162175" cy="1438275"/>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Risk analysis</a:t>
            </a:r>
            <a:endParaRPr lang="en-US" sz="2200" dirty="0" smtClean="0">
              <a:latin typeface="Helvetica" pitchFamily="34" charset="0"/>
            </a:endParaRPr>
          </a:p>
          <a:p>
            <a:pPr marL="0" lvl="0">
              <a:spcBef>
                <a:spcPts val="600"/>
              </a:spcBef>
              <a:spcAft>
                <a:spcPts val="1200"/>
              </a:spcAft>
              <a:buNone/>
            </a:pPr>
            <a:r>
              <a:rPr lang="en-AU" sz="2200" dirty="0" smtClean="0">
                <a:latin typeface="Helvetica" pitchFamily="34" charset="0"/>
              </a:rPr>
              <a:t>Risk analysis is the process of examining identified risk so that the organisation can understand and appreciate the totality of each risk</a:t>
            </a:r>
          </a:p>
          <a:p>
            <a:pPr lvl="0">
              <a:spcBef>
                <a:spcPts val="600"/>
              </a:spcBef>
              <a:spcAft>
                <a:spcPts val="1200"/>
              </a:spcAft>
            </a:pPr>
            <a:r>
              <a:rPr lang="en-AU" sz="2200" dirty="0" smtClean="0">
                <a:latin typeface="Helvetica" pitchFamily="34" charset="0"/>
              </a:rPr>
              <a:t>What are risk analysis activities?</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6" name="Picture 5" descr="A2 shutterstock_99180761.jpg"/>
          <p:cNvPicPr>
            <a:picLocks noChangeAspect="1"/>
          </p:cNvPicPr>
          <p:nvPr/>
        </p:nvPicPr>
        <p:blipFill>
          <a:blip r:embed="rId3" cstate="print"/>
          <a:stretch>
            <a:fillRect/>
          </a:stretch>
        </p:blipFill>
        <p:spPr>
          <a:xfrm>
            <a:off x="5940152" y="3284984"/>
            <a:ext cx="2387664" cy="1592572"/>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5976664" cy="4968552"/>
          </a:xfrm>
        </p:spPr>
        <p:txBody>
          <a:bodyPr>
            <a:normAutofit/>
          </a:bodyPr>
          <a:lstStyle/>
          <a:p>
            <a:pPr>
              <a:spcBef>
                <a:spcPts val="600"/>
              </a:spcBef>
              <a:spcAft>
                <a:spcPts val="1200"/>
              </a:spcAft>
              <a:buNone/>
            </a:pPr>
            <a:r>
              <a:rPr lang="en-AU" sz="2200" b="1" dirty="0" smtClean="0">
                <a:latin typeface="Helvetica" pitchFamily="34" charset="0"/>
              </a:rPr>
              <a:t>Risk analysis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Estimate likelihood of risk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Estimate consequences of risk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Risk profiling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Determining acceptable and unacceptable risks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Classifying the level and extent of the risk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Risk prioritisation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Balancing risks against opportunities</a:t>
            </a:r>
            <a:endParaRPr lang="en-US" sz="2200" dirty="0" smtClean="0">
              <a:latin typeface="Helvetica" pitchFamily="34" charset="0"/>
            </a:endParaRP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7" name="Picture 6" descr="A22 shutterstock_182450381.jpg"/>
          <p:cNvPicPr>
            <a:picLocks noChangeAspect="1"/>
          </p:cNvPicPr>
          <p:nvPr/>
        </p:nvPicPr>
        <p:blipFill>
          <a:blip r:embed="rId3" cstate="print"/>
          <a:stretch>
            <a:fillRect/>
          </a:stretch>
        </p:blipFill>
        <p:spPr>
          <a:xfrm>
            <a:off x="6300192" y="2060848"/>
            <a:ext cx="1847389" cy="1234056"/>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Consequences and Likelihood</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Risk analysis involves combining the:</a:t>
            </a:r>
          </a:p>
          <a:p>
            <a:pPr>
              <a:spcBef>
                <a:spcPts val="600"/>
              </a:spcBef>
              <a:spcAft>
                <a:spcPts val="1200"/>
              </a:spcAft>
            </a:pPr>
            <a:r>
              <a:rPr lang="en-AU" sz="2200" dirty="0" smtClean="0">
                <a:latin typeface="Helvetica" pitchFamily="34" charset="0"/>
              </a:rPr>
              <a:t>Likelihood of a risk occurring </a:t>
            </a:r>
          </a:p>
          <a:p>
            <a:pPr>
              <a:spcBef>
                <a:spcPts val="600"/>
              </a:spcBef>
              <a:spcAft>
                <a:spcPts val="1200"/>
              </a:spcAft>
            </a:pPr>
            <a:r>
              <a:rPr lang="en-AU" sz="2200" dirty="0" smtClean="0">
                <a:latin typeface="Helvetica" pitchFamily="34" charset="0"/>
              </a:rPr>
              <a:t>Consequences of that risk to produce a risk level</a:t>
            </a:r>
            <a:endParaRPr lang="en-US" sz="2200" dirty="0" smtClean="0">
              <a:latin typeface="Helvetica" pitchFamily="34" charset="0"/>
            </a:endParaRP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6" name="Picture 5" descr="shutterstock_129565649.jpg"/>
          <p:cNvPicPr/>
          <p:nvPr/>
        </p:nvPicPr>
        <p:blipFill>
          <a:blip r:embed="rId3" cstate="print"/>
          <a:stretch>
            <a:fillRect/>
          </a:stretch>
        </p:blipFill>
        <p:spPr>
          <a:xfrm>
            <a:off x="3419872" y="4221088"/>
            <a:ext cx="2092449" cy="1463799"/>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Likelihood</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One standard classification of likelihood 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Almost certain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Likely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Possible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Unlikely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Rare</a:t>
            </a:r>
            <a:endParaRPr lang="en-US" sz="2200" dirty="0" smtClean="0">
              <a:latin typeface="Helvetica" pitchFamily="34" charset="0"/>
            </a:endParaRP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7" name="Picture 6" descr="shutterstock_154527362.jpg"/>
          <p:cNvPicPr/>
          <p:nvPr/>
        </p:nvPicPr>
        <p:blipFill>
          <a:blip r:embed="rId3" cstate="print"/>
          <a:stretch>
            <a:fillRect/>
          </a:stretch>
        </p:blipFill>
        <p:spPr>
          <a:xfrm>
            <a:off x="4355976" y="3356992"/>
            <a:ext cx="2105025" cy="1400175"/>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Consequences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One commonly used classification of consequences 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Insignificant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Minor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Moderate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Major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Catastrophic</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6" name="Picture 5" descr="W615_shutterstock_161774243.jpg"/>
          <p:cNvPicPr/>
          <p:nvPr/>
        </p:nvPicPr>
        <p:blipFill>
          <a:blip r:embed="rId3" cstate="print"/>
          <a:stretch>
            <a:fillRect/>
          </a:stretch>
        </p:blipFill>
        <p:spPr>
          <a:xfrm>
            <a:off x="5580112" y="2852936"/>
            <a:ext cx="1465580" cy="2200275"/>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7467600" cy="4968552"/>
          </a:xfrm>
        </p:spPr>
        <p:txBody>
          <a:bodyPr>
            <a:normAutofit/>
          </a:bodyPr>
          <a:lstStyle/>
          <a:p>
            <a:pPr>
              <a:buNone/>
            </a:pPr>
            <a:r>
              <a:rPr lang="en-AU" sz="2200" b="1" dirty="0" smtClean="0">
                <a:latin typeface="Helvetica" pitchFamily="34" charset="0"/>
              </a:rPr>
              <a:t>Risk assessment matrix</a:t>
            </a: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endParaRPr lang="en-AU" sz="2200" b="1" dirty="0" smtClean="0">
              <a:latin typeface="Helvetica" pitchFamily="34" charset="0"/>
            </a:endParaRPr>
          </a:p>
          <a:p>
            <a:pPr>
              <a:buNone/>
            </a:pPr>
            <a:r>
              <a:rPr lang="en-AU" sz="2200" dirty="0" smtClean="0">
                <a:solidFill>
                  <a:srgbClr val="FF6600"/>
                </a:solidFill>
              </a:rPr>
              <a:t>COMPLETE ACTIVITY 30</a:t>
            </a:r>
            <a:endParaRPr lang="en-US" sz="2200" dirty="0" smtClean="0">
              <a:latin typeface="Helvetica" pitchFamily="34" charset="0"/>
            </a:endParaRPr>
          </a:p>
          <a:p>
            <a:pPr>
              <a:buNone/>
            </a:pPr>
            <a:endParaRPr lang="en-AU" sz="2200" b="1" dirty="0" smtClean="0">
              <a:latin typeface="Helvetica" pitchFamily="34" charset="0"/>
            </a:endParaRPr>
          </a:p>
          <a:p>
            <a:pPr>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7" name="Picture 6"/>
          <p:cNvPicPr/>
          <p:nvPr/>
        </p:nvPicPr>
        <p:blipFill>
          <a:blip r:embed="rId3" cstate="print"/>
          <a:srcRect/>
          <a:stretch>
            <a:fillRect/>
          </a:stretch>
        </p:blipFill>
        <p:spPr bwMode="auto">
          <a:xfrm>
            <a:off x="2915816" y="2348880"/>
            <a:ext cx="4541912" cy="30589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Acceptable risk</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terms of risk management, an acceptable risk is any risk which an organisation has determined to have the least potential for harm.</a:t>
            </a:r>
          </a:p>
          <a:p>
            <a:pPr>
              <a:spcBef>
                <a:spcPts val="600"/>
              </a:spcBef>
              <a:spcAft>
                <a:spcPts val="1200"/>
              </a:spcAft>
            </a:pPr>
            <a:r>
              <a:rPr lang="en-AU" sz="2200" dirty="0" smtClean="0">
                <a:latin typeface="Helvetica" pitchFamily="34" charset="0"/>
              </a:rPr>
              <a:t>What are examples of acceptable risks?</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rPr>
              <a:t>COMPLETE ACTIVITY 31</a:t>
            </a:r>
            <a:endParaRPr lang="en-US"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7" name="Picture 6" descr="shutterstock_143143042.jpg"/>
          <p:cNvPicPr/>
          <p:nvPr/>
        </p:nvPicPr>
        <p:blipFill>
          <a:blip r:embed="rId3" cstate="print"/>
          <a:stretch>
            <a:fillRect/>
          </a:stretch>
        </p:blipFill>
        <p:spPr>
          <a:xfrm>
            <a:off x="6804248" y="3068960"/>
            <a:ext cx="1191260" cy="1733550"/>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Assess risks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Risk management options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Risk avoidance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Retaining the risk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Controlling the risk</a:t>
            </a:r>
          </a:p>
          <a:p>
            <a:pPr>
              <a:spcBef>
                <a:spcPts val="600"/>
              </a:spcBef>
              <a:spcAft>
                <a:spcPts val="1200"/>
              </a:spcAft>
            </a:pPr>
            <a:r>
              <a:rPr lang="en-AU" sz="2200" dirty="0" smtClean="0">
                <a:latin typeface="Helvetica" pitchFamily="34" charset="0"/>
              </a:rPr>
              <a:t>Transferring the risk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Deferring the risk</a:t>
            </a:r>
            <a:endParaRPr lang="en-US" sz="2200" dirty="0" smtClean="0">
              <a:latin typeface="Helvetica" pitchFamily="34" charset="0"/>
            </a:endParaRPr>
          </a:p>
          <a:p>
            <a:pPr>
              <a:spcBef>
                <a:spcPts val="600"/>
              </a:spcBef>
              <a:spcAft>
                <a:spcPts val="1200"/>
              </a:spcAft>
            </a:pPr>
            <a:endParaRPr lang="en-US" sz="2400" dirty="0" smtClean="0"/>
          </a:p>
          <a:p>
            <a:pPr>
              <a:spcBef>
                <a:spcPts val="600"/>
              </a:spcBef>
              <a:spcAft>
                <a:spcPts val="1200"/>
              </a:spcAft>
              <a:buNone/>
            </a:pPr>
            <a:r>
              <a:rPr lang="en-AU" sz="2200" dirty="0" smtClean="0">
                <a:solidFill>
                  <a:srgbClr val="FF6600"/>
                </a:solidFill>
              </a:rPr>
              <a:t>COMPLETE ACTIVITY 32</a:t>
            </a:r>
            <a:endParaRPr lang="en-US"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6" name="Picture 5" descr="shutterstock_136866284.jpg"/>
          <p:cNvPicPr/>
          <p:nvPr/>
        </p:nvPicPr>
        <p:blipFill>
          <a:blip r:embed="rId3" cstate="print"/>
          <a:stretch>
            <a:fillRect/>
          </a:stretch>
        </p:blipFill>
        <p:spPr>
          <a:xfrm>
            <a:off x="5940152" y="2492896"/>
            <a:ext cx="1708150" cy="1885950"/>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Risk management policy</a:t>
            </a:r>
          </a:p>
        </p:txBody>
      </p:sp>
      <p:sp>
        <p:nvSpPr>
          <p:cNvPr id="3" name="Content Placeholder 2"/>
          <p:cNvSpPr>
            <a:spLocks noGrp="1"/>
          </p:cNvSpPr>
          <p:nvPr>
            <p:ph idx="1"/>
          </p:nvPr>
        </p:nvSpPr>
        <p:spPr>
          <a:xfrm>
            <a:off x="611560" y="1556792"/>
            <a:ext cx="6768752" cy="4968552"/>
          </a:xfrm>
        </p:spPr>
        <p:txBody>
          <a:bodyPr>
            <a:noAutofit/>
          </a:bodyPr>
          <a:lstStyle/>
          <a:p>
            <a:pPr>
              <a:spcBef>
                <a:spcPts val="600"/>
              </a:spcBef>
              <a:spcAft>
                <a:spcPts val="1200"/>
              </a:spcAft>
              <a:buNone/>
            </a:pPr>
            <a:r>
              <a:rPr lang="en-AU" sz="2100" b="1" dirty="0" smtClean="0">
                <a:latin typeface="Helvetica" pitchFamily="34" charset="0"/>
              </a:rPr>
              <a:t>Develop risk management policy</a:t>
            </a:r>
          </a:p>
          <a:p>
            <a:pPr marL="0">
              <a:spcBef>
                <a:spcPts val="600"/>
              </a:spcBef>
              <a:spcAft>
                <a:spcPts val="1200"/>
              </a:spcAft>
              <a:buNone/>
            </a:pPr>
            <a:r>
              <a:rPr lang="en-AU" sz="2100" dirty="0" smtClean="0">
                <a:latin typeface="Helvetica" pitchFamily="34" charset="0"/>
              </a:rPr>
              <a:t>Before the risk management plans themselves are prepared, it is important to establish policies that will be the foundation for risk management plans.</a:t>
            </a:r>
          </a:p>
          <a:p>
            <a:pPr>
              <a:spcBef>
                <a:spcPts val="600"/>
              </a:spcBef>
              <a:spcAft>
                <a:spcPts val="1200"/>
              </a:spcAft>
            </a:pPr>
            <a:r>
              <a:rPr lang="en-AU" sz="2100" dirty="0" smtClean="0">
                <a:latin typeface="Helvetica" pitchFamily="34" charset="0"/>
              </a:rPr>
              <a:t>What is a policy?</a:t>
            </a:r>
          </a:p>
          <a:p>
            <a:pPr marL="0" indent="0">
              <a:spcBef>
                <a:spcPts val="600"/>
              </a:spcBef>
              <a:spcAft>
                <a:spcPts val="1200"/>
              </a:spcAft>
              <a:buNone/>
            </a:pPr>
            <a:r>
              <a:rPr lang="en-AU" sz="2100" dirty="0" smtClean="0">
                <a:latin typeface="Helvetica" pitchFamily="34" charset="0"/>
              </a:rPr>
              <a:t>What types of policies would you implement in regards to:</a:t>
            </a:r>
          </a:p>
          <a:p>
            <a:pPr>
              <a:spcBef>
                <a:spcPts val="600"/>
              </a:spcBef>
              <a:spcAft>
                <a:spcPts val="1200"/>
              </a:spcAft>
            </a:pPr>
            <a:r>
              <a:rPr lang="en-AU" sz="2100" dirty="0" smtClean="0">
                <a:latin typeface="Helvetica" pitchFamily="34" charset="0"/>
              </a:rPr>
              <a:t>The construction of risk management plans?</a:t>
            </a:r>
          </a:p>
          <a:p>
            <a:pPr>
              <a:spcBef>
                <a:spcPts val="600"/>
              </a:spcBef>
              <a:spcAft>
                <a:spcPts val="1200"/>
              </a:spcAft>
            </a:pPr>
            <a:r>
              <a:rPr lang="en-AU" sz="2100" dirty="0" smtClean="0">
                <a:latin typeface="Helvetica" pitchFamily="34" charset="0"/>
              </a:rPr>
              <a:t>The inclusions in risk management plans?</a:t>
            </a:r>
            <a:endParaRPr lang="en-US" sz="2100" dirty="0" smtClean="0">
              <a:latin typeface="Helvetica" pitchFamily="34" charset="0"/>
            </a:endParaRPr>
          </a:p>
          <a:p>
            <a:pPr>
              <a:spcBef>
                <a:spcPts val="600"/>
              </a:spcBef>
              <a:spcAft>
                <a:spcPts val="1200"/>
              </a:spcAft>
              <a:buNone/>
            </a:pPr>
            <a:endParaRPr lang="en-AU" sz="2100" dirty="0" smtClean="0">
              <a:solidFill>
                <a:srgbClr val="FF6600"/>
              </a:solidFill>
            </a:endParaRPr>
          </a:p>
          <a:p>
            <a:pPr>
              <a:spcBef>
                <a:spcPts val="600"/>
              </a:spcBef>
              <a:spcAft>
                <a:spcPts val="1200"/>
              </a:spcAft>
              <a:buNone/>
            </a:pPr>
            <a:r>
              <a:rPr lang="en-AU" sz="2100" dirty="0" smtClean="0">
                <a:solidFill>
                  <a:srgbClr val="FF6600"/>
                </a:solidFill>
              </a:rPr>
              <a:t>COMPLETE ACTIVITY 33</a:t>
            </a:r>
            <a:endParaRPr lang="en-US" sz="2100" dirty="0" smtClean="0">
              <a:latin typeface="Helvetica" pitchFamily="34" charset="0"/>
            </a:endParaRPr>
          </a:p>
          <a:p>
            <a:pPr>
              <a:spcBef>
                <a:spcPts val="600"/>
              </a:spcBef>
              <a:spcAft>
                <a:spcPts val="1200"/>
              </a:spcAft>
            </a:pPr>
            <a:endParaRPr lang="en-US" sz="2100" dirty="0" smtClean="0"/>
          </a:p>
          <a:p>
            <a:pPr>
              <a:spcBef>
                <a:spcPts val="600"/>
              </a:spcBef>
              <a:spcAft>
                <a:spcPts val="1200"/>
              </a:spcAft>
            </a:pP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US"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8" name="Picture 7" descr="A16 shutterstock_173793329.jpg"/>
          <p:cNvPicPr/>
          <p:nvPr/>
        </p:nvPicPr>
        <p:blipFill>
          <a:blip r:embed="rId3" cstate="print"/>
          <a:stretch>
            <a:fillRect/>
          </a:stretch>
        </p:blipFill>
        <p:spPr>
          <a:xfrm>
            <a:off x="6804248" y="5013176"/>
            <a:ext cx="1876425" cy="1171575"/>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Risk management plans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Develop risk management plans</a:t>
            </a:r>
          </a:p>
          <a:p>
            <a:pPr marL="0">
              <a:spcBef>
                <a:spcPts val="600"/>
              </a:spcBef>
              <a:spcAft>
                <a:spcPts val="1200"/>
              </a:spcAft>
              <a:buNone/>
            </a:pPr>
            <a:r>
              <a:rPr lang="en-AU" sz="2200" dirty="0" smtClean="0">
                <a:latin typeface="Helvetica" pitchFamily="34" charset="0"/>
              </a:rPr>
              <a:t>A risk management plan is the logical culmination of all risk management planning activities. </a:t>
            </a:r>
          </a:p>
          <a:p>
            <a:pPr marL="0">
              <a:spcBef>
                <a:spcPts val="600"/>
              </a:spcBef>
              <a:spcAft>
                <a:spcPts val="1200"/>
              </a:spcAft>
            </a:pPr>
            <a:r>
              <a:rPr lang="en-AU" sz="2200" dirty="0" smtClean="0">
                <a:latin typeface="Helvetica" pitchFamily="34" charset="0"/>
              </a:rPr>
              <a:t>What is included in a risk management plan?</a:t>
            </a:r>
          </a:p>
          <a:p>
            <a:pPr>
              <a:spcBef>
                <a:spcPts val="600"/>
              </a:spcBef>
              <a:spcAft>
                <a:spcPts val="1200"/>
              </a:spcAft>
              <a:buNone/>
            </a:pPr>
            <a:endParaRPr lang="en-AU" sz="2400" dirty="0" smtClean="0">
              <a:solidFill>
                <a:srgbClr val="FF6600"/>
              </a:solidFill>
            </a:endParaRPr>
          </a:p>
          <a:p>
            <a:pPr>
              <a:spcBef>
                <a:spcPts val="600"/>
              </a:spcBef>
              <a:spcAft>
                <a:spcPts val="1200"/>
              </a:spcAft>
            </a:pPr>
            <a:endParaRPr lang="en-US" sz="2400" dirty="0" smtClean="0"/>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6" name="Picture 5" descr="shutterstock_114113611.jpg"/>
          <p:cNvPicPr/>
          <p:nvPr/>
        </p:nvPicPr>
        <p:blipFill>
          <a:blip r:embed="rId3" cstate="print"/>
          <a:stretch>
            <a:fillRect/>
          </a:stretch>
        </p:blipFill>
        <p:spPr>
          <a:xfrm>
            <a:off x="3491880" y="4149080"/>
            <a:ext cx="2047875" cy="1362075"/>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Risk management plans</a:t>
            </a:r>
          </a:p>
        </p:txBody>
      </p:sp>
      <p:sp>
        <p:nvSpPr>
          <p:cNvPr id="3" name="Content Placeholder 2"/>
          <p:cNvSpPr>
            <a:spLocks noGrp="1"/>
          </p:cNvSpPr>
          <p:nvPr>
            <p:ph idx="1"/>
          </p:nvPr>
        </p:nvSpPr>
        <p:spPr>
          <a:xfrm>
            <a:off x="611560" y="1556792"/>
            <a:ext cx="6696744" cy="4968552"/>
          </a:xfrm>
        </p:spPr>
        <p:txBody>
          <a:bodyPr>
            <a:normAutofit/>
          </a:bodyPr>
          <a:lstStyle/>
          <a:p>
            <a:pPr>
              <a:spcBef>
                <a:spcPts val="600"/>
              </a:spcBef>
              <a:spcAft>
                <a:spcPts val="600"/>
              </a:spcAft>
              <a:buNone/>
            </a:pPr>
            <a:r>
              <a:rPr lang="en-AU" sz="2200" b="1" dirty="0" smtClean="0">
                <a:latin typeface="Helvetica" pitchFamily="34" charset="0"/>
              </a:rPr>
              <a:t>Inclusions in risk management plans</a:t>
            </a:r>
          </a:p>
          <a:p>
            <a:pPr lvl="0">
              <a:spcBef>
                <a:spcPts val="600"/>
              </a:spcBef>
              <a:spcAft>
                <a:spcPts val="600"/>
              </a:spcAft>
            </a:pPr>
            <a:r>
              <a:rPr lang="en-AU" sz="2200" dirty="0" smtClean="0">
                <a:latin typeface="Helvetica" pitchFamily="34" charset="0"/>
              </a:rPr>
              <a:t>Sources of risks and risk events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Analysis of risks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Prioritised list of unacceptable risks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Statement and description of the operational risks to be managed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Preventative action to be taken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Steps to eliminate unacceptable operational risks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Details of identified risk control measures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Treatment options selected </a:t>
            </a:r>
            <a:endParaRPr lang="en-AU" sz="2200" dirty="0" smtClean="0">
              <a:solidFill>
                <a:srgbClr val="FF6600"/>
              </a:solidFill>
              <a:latin typeface="Helvetica" pitchFamily="34" charset="0"/>
            </a:endParaRPr>
          </a:p>
          <a:p>
            <a:pPr>
              <a:spcBef>
                <a:spcPts val="600"/>
              </a:spcBef>
              <a:spcAft>
                <a:spcPts val="1200"/>
              </a:spcAft>
            </a:pPr>
            <a:endParaRPr lang="en-US" sz="2400" dirty="0" smtClean="0"/>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7" name="Picture 6" descr="W371_checklist1_shutterstock_158100785.jpg"/>
          <p:cNvPicPr>
            <a:picLocks noChangeAspect="1"/>
          </p:cNvPicPr>
          <p:nvPr/>
        </p:nvPicPr>
        <p:blipFill>
          <a:blip r:embed="rId3" cstate="print"/>
          <a:stretch>
            <a:fillRect/>
          </a:stretch>
        </p:blipFill>
        <p:spPr>
          <a:xfrm>
            <a:off x="6640894" y="1628800"/>
            <a:ext cx="1382554" cy="1728192"/>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Risk management plans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Inclusions in risk management plans</a:t>
            </a:r>
          </a:p>
          <a:p>
            <a:pPr lvl="0">
              <a:spcBef>
                <a:spcPts val="600"/>
              </a:spcBef>
              <a:spcAft>
                <a:spcPts val="1200"/>
              </a:spcAft>
            </a:pPr>
            <a:r>
              <a:rPr lang="en-AU" sz="2200" dirty="0" smtClean="0">
                <a:latin typeface="Helvetica" pitchFamily="34" charset="0"/>
              </a:rPr>
              <a:t>Descriptions of action to be taken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Persons responsible for implementation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Resources required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Performance measures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Timeframe for implementation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Timetable for review of the plan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Reporting requirements </a:t>
            </a:r>
            <a:endParaRPr lang="en-US"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5" name="Picture 4" descr="W134_white_board_shutterstock_156103070.jpg"/>
          <p:cNvPicPr>
            <a:picLocks noChangeAspect="1"/>
          </p:cNvPicPr>
          <p:nvPr/>
        </p:nvPicPr>
        <p:blipFill>
          <a:blip r:embed="rId3" cstate="print"/>
          <a:stretch>
            <a:fillRect/>
          </a:stretch>
        </p:blipFill>
        <p:spPr>
          <a:xfrm>
            <a:off x="6804248" y="2708920"/>
            <a:ext cx="1400743" cy="2100064"/>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Risk management plans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Inclusions in risk management plans</a:t>
            </a:r>
          </a:p>
          <a:p>
            <a:pPr lvl="0">
              <a:spcBef>
                <a:spcPts val="600"/>
              </a:spcBef>
              <a:spcAft>
                <a:spcPts val="1200"/>
              </a:spcAft>
            </a:pPr>
            <a:r>
              <a:rPr lang="en-AU" sz="2200" dirty="0" smtClean="0">
                <a:latin typeface="Helvetica" pitchFamily="34" charset="0"/>
              </a:rPr>
              <a:t>All organisational policies and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Proof of insurance from suppliers </a:t>
            </a:r>
          </a:p>
          <a:p>
            <a:pPr lvl="0">
              <a:spcBef>
                <a:spcPts val="600"/>
              </a:spcBef>
              <a:spcAft>
                <a:spcPts val="1200"/>
              </a:spcAft>
            </a:pPr>
            <a:r>
              <a:rPr lang="en-AU" sz="2200" dirty="0" smtClean="0">
                <a:latin typeface="Helvetica" pitchFamily="34" charset="0"/>
              </a:rPr>
              <a:t>Emergency procedures for the business </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ACTIVITIES 34 &amp; 35</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5" name="Picture 4" descr="shutterstock_140073586.jpg"/>
          <p:cNvPicPr/>
          <p:nvPr/>
        </p:nvPicPr>
        <p:blipFill>
          <a:blip r:embed="rId3" cstate="print"/>
          <a:stretch>
            <a:fillRect/>
          </a:stretch>
        </p:blipFill>
        <p:spPr>
          <a:xfrm>
            <a:off x="6300192" y="3789040"/>
            <a:ext cx="1943100" cy="1295400"/>
          </a:xfrm>
          <a:prstGeom prst="rect">
            <a:avLst/>
          </a:prstGeom>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Implement risk management plan</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Implementation requirements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To ensure staff are properly trained in relation to risk control and procedures you should implement a programme combining the following three elements: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Information provision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Resource provision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Practical components</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6" name="Picture 5" descr="shutterstock_141007105.jpg"/>
          <p:cNvPicPr/>
          <p:nvPr/>
        </p:nvPicPr>
        <p:blipFill>
          <a:blip r:embed="rId3" cstate="print"/>
          <a:stretch>
            <a:fillRect/>
          </a:stretch>
        </p:blipFill>
        <p:spPr>
          <a:xfrm>
            <a:off x="6228184" y="3573016"/>
            <a:ext cx="1987674" cy="1325116"/>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contingency plans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contingency plans </a:t>
            </a:r>
          </a:p>
          <a:p>
            <a:pPr marL="0">
              <a:spcBef>
                <a:spcPts val="600"/>
              </a:spcBef>
              <a:spcAft>
                <a:spcPts val="1200"/>
              </a:spcAft>
              <a:buNone/>
            </a:pPr>
            <a:r>
              <a:rPr lang="en-AU" sz="2200" dirty="0" smtClean="0">
                <a:latin typeface="Helvetica" pitchFamily="34" charset="0"/>
              </a:rPr>
              <a:t>Contingency plans need to be prepared for all situations where risk assessment procedures indicate a need to do so.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is the purpose of a contingency plan?</a:t>
            </a:r>
          </a:p>
          <a:p>
            <a:pPr lvl="0">
              <a:spcBef>
                <a:spcPts val="600"/>
              </a:spcBef>
              <a:spcAft>
                <a:spcPts val="1200"/>
              </a:spcAft>
            </a:pPr>
            <a:r>
              <a:rPr lang="en-US" sz="2200" dirty="0" smtClean="0">
                <a:latin typeface="Helvetica" pitchFamily="34" charset="0"/>
              </a:rPr>
              <a:t>What information is contained within a </a:t>
            </a:r>
            <a:r>
              <a:rPr lang="en-AU" sz="2200" dirty="0" smtClean="0">
                <a:latin typeface="Helvetica" pitchFamily="34" charset="0"/>
              </a:rPr>
              <a:t>contingency plan?</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7" name="Picture 6" descr="shutterstock_163584698.jpg"/>
          <p:cNvPicPr/>
          <p:nvPr/>
        </p:nvPicPr>
        <p:blipFill>
          <a:blip r:embed="rId3" cstate="print"/>
          <a:stretch>
            <a:fillRect/>
          </a:stretch>
        </p:blipFill>
        <p:spPr>
          <a:xfrm>
            <a:off x="3563888" y="4797152"/>
            <a:ext cx="1824990" cy="1295400"/>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contingency plans</a:t>
            </a:r>
          </a:p>
        </p:txBody>
      </p:sp>
      <p:sp>
        <p:nvSpPr>
          <p:cNvPr id="3" name="Content Placeholder 2"/>
          <p:cNvSpPr>
            <a:spLocks noGrp="1"/>
          </p:cNvSpPr>
          <p:nvPr>
            <p:ph idx="1"/>
          </p:nvPr>
        </p:nvSpPr>
        <p:spPr>
          <a:xfrm>
            <a:off x="611560" y="1556792"/>
            <a:ext cx="7200800" cy="4968552"/>
          </a:xfrm>
        </p:spPr>
        <p:txBody>
          <a:bodyPr>
            <a:normAutofit lnSpcReduction="10000"/>
          </a:bodyPr>
          <a:lstStyle/>
          <a:p>
            <a:pPr>
              <a:spcBef>
                <a:spcPts val="600"/>
              </a:spcBef>
              <a:spcAft>
                <a:spcPts val="600"/>
              </a:spcAft>
              <a:buNone/>
            </a:pPr>
            <a:r>
              <a:rPr lang="en-AU" sz="2200" b="1" dirty="0" smtClean="0">
                <a:latin typeface="Helvetica" pitchFamily="34" charset="0"/>
              </a:rPr>
              <a:t>Importance of planning for unforeseen events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provide direction in the event of negative situations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mitigate negative outcomes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allow the business to continue, resume or recover normal business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Because things do not always go as planned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address ‘due diligence’ requirements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protect the ongoing viability of the business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optimise business performance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provide you with a sense of security</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6" name="Picture 5" descr="shutterstock_88003519.jpg"/>
          <p:cNvPicPr>
            <a:picLocks noChangeAspect="1"/>
          </p:cNvPicPr>
          <p:nvPr/>
        </p:nvPicPr>
        <p:blipFill>
          <a:blip r:embed="rId3" cstate="print"/>
          <a:stretch>
            <a:fillRect/>
          </a:stretch>
        </p:blipFill>
        <p:spPr>
          <a:xfrm>
            <a:off x="7668344" y="3501008"/>
            <a:ext cx="1352713" cy="2028056"/>
          </a:xfrm>
          <a:prstGeom prst="rect">
            <a:avLst/>
          </a:prstGeom>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contingency plans</a:t>
            </a: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Contingency plans for ‘positive’ and ‘negative’ situations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Contingency plans can be developed to address:</a:t>
            </a:r>
          </a:p>
          <a:p>
            <a:pPr>
              <a:spcBef>
                <a:spcPts val="600"/>
              </a:spcBef>
              <a:spcAft>
                <a:spcPts val="1200"/>
              </a:spcAft>
            </a:pPr>
            <a:r>
              <a:rPr lang="en-AU" sz="2200" dirty="0" smtClean="0">
                <a:latin typeface="Helvetica" pitchFamily="34" charset="0"/>
              </a:rPr>
              <a:t>Positive situations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Negative situations</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7" name="Picture 6" descr="shutterstock_129508757.jpg"/>
          <p:cNvPicPr>
            <a:picLocks noChangeAspect="1"/>
          </p:cNvPicPr>
          <p:nvPr/>
        </p:nvPicPr>
        <p:blipFill>
          <a:blip r:embed="rId3" cstate="print"/>
          <a:stretch>
            <a:fillRect/>
          </a:stretch>
        </p:blipFill>
        <p:spPr>
          <a:xfrm>
            <a:off x="5796136" y="2924944"/>
            <a:ext cx="2285414" cy="1512944"/>
          </a:xfrm>
          <a:prstGeom prst="rect">
            <a:avLst/>
          </a:prstGeom>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contingency plans</a:t>
            </a:r>
          </a:p>
        </p:txBody>
      </p:sp>
      <p:sp>
        <p:nvSpPr>
          <p:cNvPr id="3" name="Content Placeholder 2"/>
          <p:cNvSpPr>
            <a:spLocks noGrp="1"/>
          </p:cNvSpPr>
          <p:nvPr>
            <p:ph idx="1"/>
          </p:nvPr>
        </p:nvSpPr>
        <p:spPr>
          <a:xfrm>
            <a:off x="611560" y="1556792"/>
            <a:ext cx="7467600" cy="5112568"/>
          </a:xfrm>
        </p:spPr>
        <p:txBody>
          <a:bodyPr>
            <a:normAutofit lnSpcReduction="10000"/>
          </a:bodyPr>
          <a:lstStyle/>
          <a:p>
            <a:pPr>
              <a:spcBef>
                <a:spcPts val="600"/>
              </a:spcBef>
              <a:spcAft>
                <a:spcPts val="600"/>
              </a:spcAft>
              <a:buNone/>
            </a:pPr>
            <a:r>
              <a:rPr lang="en-AU" sz="2200" b="1" dirty="0" smtClean="0">
                <a:latin typeface="Helvetica" pitchFamily="34" charset="0"/>
              </a:rPr>
              <a:t>Common contingencies to be addressed</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Faults and malfunctions </a:t>
            </a:r>
          </a:p>
          <a:p>
            <a:pPr>
              <a:spcBef>
                <a:spcPts val="600"/>
              </a:spcBef>
              <a:spcAft>
                <a:spcPts val="600"/>
              </a:spcAft>
            </a:pPr>
            <a:r>
              <a:rPr lang="en-AU" sz="2200" dirty="0" smtClean="0">
                <a:latin typeface="Helvetica" pitchFamily="34" charset="0"/>
              </a:rPr>
              <a:t>Adverse weather conditions </a:t>
            </a:r>
          </a:p>
          <a:p>
            <a:pPr>
              <a:spcBef>
                <a:spcPts val="600"/>
              </a:spcBef>
              <a:spcAft>
                <a:spcPts val="600"/>
              </a:spcAft>
            </a:pPr>
            <a:r>
              <a:rPr lang="en-AU" sz="2200" dirty="0" smtClean="0">
                <a:latin typeface="Helvetica" pitchFamily="34" charset="0"/>
              </a:rPr>
              <a:t>Changes to bookings </a:t>
            </a:r>
          </a:p>
          <a:p>
            <a:pPr>
              <a:spcBef>
                <a:spcPts val="600"/>
              </a:spcBef>
              <a:spcAft>
                <a:spcPts val="600"/>
              </a:spcAft>
            </a:pPr>
            <a:r>
              <a:rPr lang="en-AU" sz="2200" dirty="0" smtClean="0">
                <a:latin typeface="Helvetica" pitchFamily="34" charset="0"/>
              </a:rPr>
              <a:t>Labour disputes </a:t>
            </a:r>
          </a:p>
          <a:p>
            <a:pPr>
              <a:spcBef>
                <a:spcPts val="600"/>
              </a:spcBef>
              <a:spcAft>
                <a:spcPts val="600"/>
              </a:spcAft>
            </a:pPr>
            <a:r>
              <a:rPr lang="en-AU" sz="2200" dirty="0" smtClean="0">
                <a:latin typeface="Helvetica" pitchFamily="34" charset="0"/>
              </a:rPr>
              <a:t>Funding shortfalls </a:t>
            </a:r>
          </a:p>
          <a:p>
            <a:pPr lvl="0">
              <a:spcBef>
                <a:spcPts val="600"/>
              </a:spcBef>
              <a:spcAft>
                <a:spcPts val="600"/>
              </a:spcAft>
            </a:pPr>
            <a:r>
              <a:rPr lang="en-AU" sz="2200" dirty="0" smtClean="0">
                <a:latin typeface="Helvetica" pitchFamily="34" charset="0"/>
              </a:rPr>
              <a:t>Data loss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Loss of a major client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Power failure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Loss or absence of key staff</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Death of customer </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6" name="Picture 5" descr="W610_man in suit_on the phone_175323584.jpg"/>
          <p:cNvPicPr/>
          <p:nvPr/>
        </p:nvPicPr>
        <p:blipFill>
          <a:blip r:embed="rId3" cstate="print"/>
          <a:stretch>
            <a:fillRect/>
          </a:stretch>
        </p:blipFill>
        <p:spPr>
          <a:xfrm>
            <a:off x="6228184" y="3068960"/>
            <a:ext cx="1971675" cy="1314450"/>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contingency plans</a:t>
            </a: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600"/>
              </a:spcAft>
              <a:buNone/>
            </a:pPr>
            <a:r>
              <a:rPr lang="en-AU" sz="2200" b="1" dirty="0" smtClean="0">
                <a:latin typeface="Helvetica" pitchFamily="34" charset="0"/>
              </a:rPr>
              <a:t>Contents of a contingency plan</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Title of the plan</a:t>
            </a:r>
          </a:p>
          <a:p>
            <a:pPr>
              <a:spcBef>
                <a:spcPts val="600"/>
              </a:spcBef>
              <a:spcAft>
                <a:spcPts val="600"/>
              </a:spcAft>
            </a:pPr>
            <a:r>
              <a:rPr lang="en-AU" sz="2200" dirty="0" smtClean="0">
                <a:latin typeface="Helvetica" pitchFamily="34" charset="0"/>
              </a:rPr>
              <a:t>Actions to take</a:t>
            </a:r>
          </a:p>
          <a:p>
            <a:pPr>
              <a:spcBef>
                <a:spcPts val="600"/>
              </a:spcBef>
              <a:spcAft>
                <a:spcPts val="600"/>
              </a:spcAft>
            </a:pPr>
            <a:r>
              <a:rPr lang="en-AU" sz="2200" dirty="0" smtClean="0">
                <a:latin typeface="Helvetica" pitchFamily="34" charset="0"/>
              </a:rPr>
              <a:t>Conditions and circumstances for action</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Responsibilities for actions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Timelines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Resources</a:t>
            </a:r>
          </a:p>
          <a:p>
            <a:pPr>
              <a:spcBef>
                <a:spcPts val="600"/>
              </a:spcBef>
              <a:spcAft>
                <a:spcPts val="600"/>
              </a:spcAft>
            </a:pPr>
            <a:r>
              <a:rPr lang="en-AU" sz="2200" dirty="0" smtClean="0">
                <a:latin typeface="Helvetica" pitchFamily="34" charset="0"/>
              </a:rPr>
              <a:t>Parameters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Intended results</a:t>
            </a:r>
            <a:endParaRPr lang="en-US" sz="2200" dirty="0" smtClean="0">
              <a:latin typeface="Helvetica" pitchFamily="34" charset="0"/>
            </a:endParaRPr>
          </a:p>
          <a:p>
            <a:pPr>
              <a:spcBef>
                <a:spcPts val="600"/>
              </a:spcBef>
              <a:spcAft>
                <a:spcPts val="600"/>
              </a:spcAft>
              <a:buNone/>
            </a:pPr>
            <a:r>
              <a:rPr lang="en-AU" sz="2200" dirty="0" smtClean="0">
                <a:solidFill>
                  <a:srgbClr val="FF6600"/>
                </a:solidFill>
                <a:latin typeface="Helvetica" pitchFamily="34" charset="0"/>
              </a:rPr>
              <a:t>COMPLETE ACTIVITY 36</a:t>
            </a:r>
            <a:endParaRPr lang="en-US" sz="2200"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7" name="Picture 6" descr="shutterstock_184837817.jpg"/>
          <p:cNvPicPr/>
          <p:nvPr/>
        </p:nvPicPr>
        <p:blipFill>
          <a:blip r:embed="rId3" cstate="print"/>
          <a:stretch>
            <a:fillRect/>
          </a:stretch>
        </p:blipFill>
        <p:spPr>
          <a:xfrm>
            <a:off x="6588224" y="2924944"/>
            <a:ext cx="1847850" cy="1238250"/>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Communicate risk management strategies</a:t>
            </a:r>
          </a:p>
        </p:txBody>
      </p:sp>
      <p:sp>
        <p:nvSpPr>
          <p:cNvPr id="3" name="Content Placeholder 2"/>
          <p:cNvSpPr>
            <a:spLocks noGrp="1"/>
          </p:cNvSpPr>
          <p:nvPr>
            <p:ph idx="1"/>
          </p:nvPr>
        </p:nvSpPr>
        <p:spPr>
          <a:xfrm>
            <a:off x="611560" y="1556792"/>
            <a:ext cx="7467600" cy="5112568"/>
          </a:xfrm>
        </p:spPr>
        <p:txBody>
          <a:bodyPr>
            <a:normAutofit/>
          </a:bodyPr>
          <a:lstStyle/>
          <a:p>
            <a:pPr marL="0">
              <a:spcBef>
                <a:spcPts val="600"/>
              </a:spcBef>
              <a:spcAft>
                <a:spcPts val="1200"/>
              </a:spcAft>
              <a:buNone/>
            </a:pPr>
            <a:r>
              <a:rPr lang="en-AU" sz="2200" b="1" dirty="0" smtClean="0">
                <a:latin typeface="Helvetica" pitchFamily="34" charset="0"/>
              </a:rPr>
              <a:t>Communicate risk management strategies to stakeholders</a:t>
            </a:r>
          </a:p>
          <a:p>
            <a:pPr marL="0">
              <a:spcBef>
                <a:spcPts val="600"/>
              </a:spcBef>
              <a:spcAft>
                <a:spcPts val="1200"/>
              </a:spcAft>
              <a:buNone/>
            </a:pPr>
            <a:r>
              <a:rPr lang="en-AU" sz="2200" dirty="0" smtClean="0">
                <a:latin typeface="Helvetica" pitchFamily="34" charset="0"/>
              </a:rPr>
              <a:t>Once the plan has been approved, all those impacted by or with responsibilities under the plan need to have the plan communicated to them.</a:t>
            </a:r>
          </a:p>
          <a:p>
            <a:pPr>
              <a:spcBef>
                <a:spcPts val="600"/>
              </a:spcBef>
              <a:spcAft>
                <a:spcPts val="1200"/>
              </a:spcAft>
            </a:pPr>
            <a:r>
              <a:rPr lang="en-AU" sz="2200" dirty="0" smtClean="0">
                <a:latin typeface="Helvetica" pitchFamily="34" charset="0"/>
              </a:rPr>
              <a:t>Who are ‘stakeholders’?</a:t>
            </a:r>
          </a:p>
          <a:p>
            <a:pPr>
              <a:spcBef>
                <a:spcPts val="600"/>
              </a:spcBef>
              <a:spcAft>
                <a:spcPts val="1200"/>
              </a:spcAft>
            </a:pPr>
            <a:r>
              <a:rPr lang="en-AU" sz="2200" dirty="0" smtClean="0">
                <a:latin typeface="Helvetica" pitchFamily="34" charset="0"/>
              </a:rPr>
              <a:t>What needs to be communicated?</a:t>
            </a:r>
          </a:p>
          <a:p>
            <a:pPr>
              <a:spcBef>
                <a:spcPts val="600"/>
              </a:spcBef>
              <a:spcAft>
                <a:spcPts val="1200"/>
              </a:spcAft>
            </a:pPr>
            <a:r>
              <a:rPr lang="en-AU" sz="2200" dirty="0" smtClean="0">
                <a:latin typeface="Helvetica" pitchFamily="34" charset="0"/>
              </a:rPr>
              <a:t>How can information be communicated?</a:t>
            </a:r>
            <a:endParaRPr lang="en-US" sz="2200" dirty="0" smtClean="0">
              <a:latin typeface="Helvetica" pitchFamily="34" charset="0"/>
            </a:endParaRPr>
          </a:p>
          <a:p>
            <a:pPr>
              <a:spcBef>
                <a:spcPts val="600"/>
              </a:spcBef>
              <a:spcAft>
                <a:spcPts val="600"/>
              </a:spcAft>
              <a:buNone/>
            </a:pPr>
            <a:endParaRPr lang="en-AU" sz="2200" dirty="0" smtClean="0">
              <a:solidFill>
                <a:srgbClr val="FF6600"/>
              </a:solidFill>
              <a:latin typeface="Helvetica" pitchFamily="34" charset="0"/>
            </a:endParaRPr>
          </a:p>
          <a:p>
            <a:pPr>
              <a:spcBef>
                <a:spcPts val="600"/>
              </a:spcBef>
              <a:spcAft>
                <a:spcPts val="600"/>
              </a:spcAft>
              <a:buNone/>
            </a:pPr>
            <a:r>
              <a:rPr lang="en-AU" sz="2200" dirty="0" smtClean="0">
                <a:solidFill>
                  <a:srgbClr val="FF6600"/>
                </a:solidFill>
                <a:latin typeface="Helvetica" pitchFamily="34" charset="0"/>
              </a:rPr>
              <a:t>COMPLETE ACTIVITY 37</a:t>
            </a:r>
            <a:endParaRPr lang="en-US" sz="2200" dirty="0" smtClean="0">
              <a:latin typeface="Helvetica" pitchFamily="34" charset="0"/>
            </a:endParaRPr>
          </a:p>
          <a:p>
            <a:pPr>
              <a:spcBef>
                <a:spcPts val="600"/>
              </a:spcBef>
              <a:spcAft>
                <a:spcPts val="600"/>
              </a:spcAft>
              <a:buNone/>
            </a:pPr>
            <a:endParaRPr lang="en-US" sz="2200"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6" name="Picture 5" descr="shutterstock_191506634.jpg"/>
          <p:cNvPicPr/>
          <p:nvPr/>
        </p:nvPicPr>
        <p:blipFill>
          <a:blip r:embed="rId3" cstate="print"/>
          <a:stretch>
            <a:fillRect/>
          </a:stretch>
        </p:blipFill>
        <p:spPr>
          <a:xfrm>
            <a:off x="6516216" y="3645024"/>
            <a:ext cx="1743906" cy="1160909"/>
          </a:xfrm>
          <a:prstGeom prst="rect">
            <a:avLst/>
          </a:prstGeom>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Review risk management plans</a:t>
            </a:r>
          </a:p>
        </p:txBody>
      </p:sp>
      <p:sp>
        <p:nvSpPr>
          <p:cNvPr id="3" name="Content Placeholder 2"/>
          <p:cNvSpPr>
            <a:spLocks noGrp="1"/>
          </p:cNvSpPr>
          <p:nvPr>
            <p:ph idx="1"/>
          </p:nvPr>
        </p:nvSpPr>
        <p:spPr>
          <a:xfrm>
            <a:off x="611560" y="1556792"/>
            <a:ext cx="7344816" cy="5112568"/>
          </a:xfrm>
        </p:spPr>
        <p:txBody>
          <a:bodyPr>
            <a:normAutofit/>
          </a:bodyPr>
          <a:lstStyle/>
          <a:p>
            <a:pPr>
              <a:spcBef>
                <a:spcPts val="600"/>
              </a:spcBef>
              <a:spcAft>
                <a:spcPts val="600"/>
              </a:spcAft>
              <a:buNone/>
            </a:pPr>
            <a:r>
              <a:rPr lang="en-AU" sz="2200" b="1" dirty="0" smtClean="0">
                <a:latin typeface="Helvetica" pitchFamily="34" charset="0"/>
              </a:rPr>
              <a:t>Purpose of reviewing risk management plans</a:t>
            </a:r>
            <a:endParaRPr lang="en-US" sz="2200" dirty="0" smtClean="0">
              <a:latin typeface="Helvetica" pitchFamily="34" charset="0"/>
            </a:endParaRPr>
          </a:p>
          <a:p>
            <a:pPr>
              <a:spcBef>
                <a:spcPts val="600"/>
              </a:spcBef>
              <a:spcAft>
                <a:spcPts val="600"/>
              </a:spcAft>
              <a:buNone/>
            </a:pPr>
            <a:r>
              <a:rPr lang="en-AU" sz="2200" dirty="0" smtClean="0">
                <a:latin typeface="Helvetica" pitchFamily="34" charset="0"/>
              </a:rPr>
              <a:t>The keys in evaluating the risk management plan are to:</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Measure actual progress in the workplace against the requirements of the plan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Determine and quantify the actual occurrences of risk in the workplace</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Projections and expectations identified in the development of the initial risk level assessment and treatment option for that risk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Incorporate lessons learned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Look to the future </a:t>
            </a:r>
            <a:endParaRPr lang="en-US" sz="2200" dirty="0" smtClean="0">
              <a:latin typeface="Helvetica" pitchFamily="34" charset="0"/>
            </a:endParaRPr>
          </a:p>
          <a:p>
            <a:pPr>
              <a:spcBef>
                <a:spcPts val="600"/>
              </a:spcBef>
              <a:spcAft>
                <a:spcPts val="600"/>
              </a:spcAft>
              <a:buNone/>
            </a:pPr>
            <a:endParaRPr lang="en-US" sz="2200"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7" name="Picture 6" descr="shutterstock_96331862.jpg"/>
          <p:cNvPicPr/>
          <p:nvPr/>
        </p:nvPicPr>
        <p:blipFill>
          <a:blip r:embed="rId3" cstate="print"/>
          <a:stretch>
            <a:fillRect/>
          </a:stretch>
        </p:blipFill>
        <p:spPr>
          <a:xfrm>
            <a:off x="7332603" y="4869160"/>
            <a:ext cx="1811397" cy="1438396"/>
          </a:xfrm>
          <a:prstGeom prst="rect">
            <a:avLst/>
          </a:prstGeom>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Review risk management plans</a:t>
            </a:r>
          </a:p>
        </p:txBody>
      </p:sp>
      <p:sp>
        <p:nvSpPr>
          <p:cNvPr id="3" name="Content Placeholder 2"/>
          <p:cNvSpPr>
            <a:spLocks noGrp="1"/>
          </p:cNvSpPr>
          <p:nvPr>
            <p:ph idx="1"/>
          </p:nvPr>
        </p:nvSpPr>
        <p:spPr>
          <a:xfrm>
            <a:off x="611560" y="1556792"/>
            <a:ext cx="7467600" cy="5112568"/>
          </a:xfrm>
        </p:spPr>
        <p:txBody>
          <a:bodyPr>
            <a:normAutofit lnSpcReduction="10000"/>
          </a:bodyPr>
          <a:lstStyle/>
          <a:p>
            <a:pPr>
              <a:spcBef>
                <a:spcPts val="600"/>
              </a:spcBef>
              <a:spcAft>
                <a:spcPts val="1200"/>
              </a:spcAft>
              <a:buNone/>
            </a:pPr>
            <a:r>
              <a:rPr lang="en-AU" sz="2200" b="1" dirty="0" smtClean="0">
                <a:latin typeface="Helvetica" pitchFamily="34" charset="0"/>
              </a:rPr>
              <a:t>Indicators requiring need for review</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Possible indicators that unscheduled reviews are needed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Obviously changed context for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Changed strategic directions for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Instances where those with responsibility are unable to fulfil their allocated duties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Failure to adhere to plan parameters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Significant workplace events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Emergence of a new risk</a:t>
            </a:r>
            <a:endParaRPr lang="en-US" sz="2200"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6" name="Picture 5" descr="shutterstock_105269162.jpg"/>
          <p:cNvPicPr>
            <a:picLocks noChangeAspect="1"/>
          </p:cNvPicPr>
          <p:nvPr/>
        </p:nvPicPr>
        <p:blipFill>
          <a:blip r:embed="rId3" cstate="print"/>
          <a:stretch>
            <a:fillRect/>
          </a:stretch>
        </p:blipFill>
        <p:spPr>
          <a:xfrm>
            <a:off x="7469382" y="4581128"/>
            <a:ext cx="1674618" cy="1728192"/>
          </a:xfrm>
          <a:prstGeom prst="rect">
            <a:avLst/>
          </a:prstGeom>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Review risk management plans</a:t>
            </a:r>
          </a:p>
        </p:txBody>
      </p:sp>
      <p:sp>
        <p:nvSpPr>
          <p:cNvPr id="3" name="Content Placeholder 2"/>
          <p:cNvSpPr>
            <a:spLocks noGrp="1"/>
          </p:cNvSpPr>
          <p:nvPr>
            <p:ph idx="1"/>
          </p:nvPr>
        </p:nvSpPr>
        <p:spPr>
          <a:xfrm>
            <a:off x="611560" y="1556792"/>
            <a:ext cx="6912768" cy="5112568"/>
          </a:xfrm>
        </p:spPr>
        <p:txBody>
          <a:bodyPr>
            <a:noAutofit/>
          </a:bodyPr>
          <a:lstStyle/>
          <a:p>
            <a:pPr>
              <a:spcBef>
                <a:spcPts val="600"/>
              </a:spcBef>
              <a:spcAft>
                <a:spcPts val="600"/>
              </a:spcAft>
              <a:buNone/>
            </a:pPr>
            <a:r>
              <a:rPr lang="en-AU" sz="2100" b="1" dirty="0" smtClean="0">
                <a:latin typeface="Helvetica" pitchFamily="34" charset="0"/>
              </a:rPr>
              <a:t>Methods to review risk management plans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Personal observations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Physical inspections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Incident reports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Results of inspections or audits by external authorities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Distribution of questionnaires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Interviews with stakeholders </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Regular reviews of risk treatment                             procedures</a:t>
            </a:r>
            <a:endParaRPr lang="en-US" sz="2100" dirty="0" smtClean="0">
              <a:latin typeface="Helvetica" pitchFamily="34" charset="0"/>
            </a:endParaRPr>
          </a:p>
          <a:p>
            <a:pPr lvl="0">
              <a:lnSpc>
                <a:spcPct val="110000"/>
              </a:lnSpc>
              <a:spcBef>
                <a:spcPts val="600"/>
              </a:spcBef>
              <a:spcAft>
                <a:spcPts val="1000"/>
              </a:spcAft>
            </a:pPr>
            <a:r>
              <a:rPr lang="en-AU" sz="2100" dirty="0" smtClean="0">
                <a:latin typeface="Helvetica" pitchFamily="34" charset="0"/>
              </a:rPr>
              <a:t>Use of an external risk management  professionals</a:t>
            </a:r>
            <a:endParaRPr lang="en-US" sz="2100" dirty="0" smtClean="0">
              <a:latin typeface="Helvetica" pitchFamily="34" charset="0"/>
            </a:endParaRPr>
          </a:p>
          <a:p>
            <a:endParaRPr lang="en-US" sz="2100" dirty="0" smtClean="0"/>
          </a:p>
          <a:p>
            <a:endParaRPr lang="en-US" sz="2100" dirty="0" smtClean="0"/>
          </a:p>
          <a:p>
            <a:endParaRPr lang="en-US" sz="2100" dirty="0" smtClean="0"/>
          </a:p>
          <a:p>
            <a:endParaRPr lang="en-US"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7" name="Picture 6" descr="A19 shutterstock_181811597.jpg"/>
          <p:cNvPicPr/>
          <p:nvPr/>
        </p:nvPicPr>
        <p:blipFill>
          <a:blip r:embed="rId3" cstate="print"/>
          <a:stretch>
            <a:fillRect/>
          </a:stretch>
        </p:blipFill>
        <p:spPr>
          <a:xfrm>
            <a:off x="6156176" y="4005064"/>
            <a:ext cx="2264410" cy="1514475"/>
          </a:xfrm>
          <a:prstGeom prst="rect">
            <a:avLst/>
          </a:prstGeom>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Review risk management plans</a:t>
            </a: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US" sz="2200" b="1" dirty="0" smtClean="0">
                <a:latin typeface="Helvetica" pitchFamily="34" charset="0"/>
              </a:rPr>
              <a:t>Actions to be taken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actions to be taken as a result of reviewing performance?</a:t>
            </a:r>
          </a:p>
          <a:p>
            <a:pPr lvl="0">
              <a:spcBef>
                <a:spcPts val="600"/>
              </a:spcBef>
              <a:spcAft>
                <a:spcPts val="1200"/>
              </a:spcAft>
            </a:pPr>
            <a:r>
              <a:rPr lang="en-AU" sz="2200" dirty="0" smtClean="0">
                <a:latin typeface="Helvetica" pitchFamily="34" charset="0"/>
              </a:rPr>
              <a:t>What are ‘post risk event’ reviews?</a:t>
            </a:r>
            <a:endParaRPr lang="en-US" sz="2200" dirty="0" smtClean="0">
              <a:latin typeface="Helvetica" pitchFamily="34" charset="0"/>
            </a:endParaRPr>
          </a:p>
          <a:p>
            <a:pPr>
              <a:buNone/>
            </a:pPr>
            <a:endParaRPr lang="en-US" sz="2400" dirty="0" smtClean="0"/>
          </a:p>
          <a:p>
            <a:pPr>
              <a:buNone/>
            </a:pPr>
            <a:r>
              <a:rPr lang="en-AU" sz="2200" dirty="0" smtClean="0">
                <a:solidFill>
                  <a:srgbClr val="FF6600"/>
                </a:solidFill>
                <a:latin typeface="Helvetica" pitchFamily="34" charset="0"/>
              </a:rPr>
              <a:t>COMPLETE ACTIVITY 38</a:t>
            </a:r>
            <a:endParaRPr lang="en-US" sz="2200" dirty="0" smtClean="0">
              <a:latin typeface="Helvetica" pitchFamily="34" charset="0"/>
            </a:endParaRPr>
          </a:p>
          <a:p>
            <a:pPr>
              <a:buNone/>
            </a:pPr>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6" name="Picture 5" descr="shutterstock_179800145.jpg"/>
          <p:cNvPicPr/>
          <p:nvPr/>
        </p:nvPicPr>
        <p:blipFill>
          <a:blip r:embed="rId3" cstate="print"/>
          <a:stretch>
            <a:fillRect/>
          </a:stretch>
        </p:blipFill>
        <p:spPr>
          <a:xfrm>
            <a:off x="6372200" y="3140968"/>
            <a:ext cx="2017395" cy="134302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1268</TotalTime>
  <Words>10446</Words>
  <Application>Microsoft Office PowerPoint</Application>
  <PresentationFormat>On-screen Show (4:3)</PresentationFormat>
  <Paragraphs>2639</Paragraphs>
  <Slides>186</Slides>
  <Notes>186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186</vt:i4>
      </vt:variant>
    </vt:vector>
  </HeadingPairs>
  <TitlesOfParts>
    <vt:vector size="190" baseType="lpstr">
      <vt:lpstr>Arial</vt:lpstr>
      <vt:lpstr>Helvetica</vt:lpstr>
      <vt:lpstr>Wingdings 2</vt:lpstr>
      <vt:lpstr>PPT_Tour_operation_&amp;_travel_agencies_template_130214</vt:lpstr>
      <vt:lpstr>Develop and manage business strategies</vt:lpstr>
      <vt:lpstr>Subject elements</vt:lpstr>
      <vt:lpstr>Assessment</vt:lpstr>
      <vt:lpstr>PowerPoint Presentation</vt:lpstr>
      <vt:lpstr>Identify the internal business environment</vt:lpstr>
      <vt:lpstr>Business plans and strategies</vt:lpstr>
      <vt:lpstr>Business plans and strategies</vt:lpstr>
      <vt:lpstr>Business plans and strategies</vt:lpstr>
      <vt:lpstr>Business plans and strategies</vt:lpstr>
      <vt:lpstr>Business plans and strategies</vt:lpstr>
      <vt:lpstr>Business plans and strategies</vt:lpstr>
      <vt:lpstr>Core Activities</vt:lpstr>
      <vt:lpstr>Core Activities</vt:lpstr>
      <vt:lpstr>Core Activities</vt:lpstr>
      <vt:lpstr>Core Activities</vt:lpstr>
      <vt:lpstr>Core Activities</vt:lpstr>
      <vt:lpstr>Core Activities</vt:lpstr>
      <vt:lpstr>Identify products and services offered</vt:lpstr>
      <vt:lpstr>Identify products and services offered</vt:lpstr>
      <vt:lpstr>Identify products and services offered</vt:lpstr>
      <vt:lpstr>Identify products and services offered</vt:lpstr>
      <vt:lpstr>Types of customers</vt:lpstr>
      <vt:lpstr>Types of customers</vt:lpstr>
      <vt:lpstr>Types of customers</vt:lpstr>
      <vt:lpstr>Research information</vt:lpstr>
      <vt:lpstr>Research information</vt:lpstr>
      <vt:lpstr>Primary data</vt:lpstr>
      <vt:lpstr>Primary data</vt:lpstr>
      <vt:lpstr>Primary data</vt:lpstr>
      <vt:lpstr>Secondary data</vt:lpstr>
      <vt:lpstr>Secondary data</vt:lpstr>
      <vt:lpstr>Secondary data</vt:lpstr>
      <vt:lpstr>Secondary data</vt:lpstr>
      <vt:lpstr>Research information</vt:lpstr>
      <vt:lpstr>Research information</vt:lpstr>
      <vt:lpstr>Research information</vt:lpstr>
      <vt:lpstr>Research information</vt:lpstr>
      <vt:lpstr>Research information</vt:lpstr>
      <vt:lpstr>Review business performance</vt:lpstr>
      <vt:lpstr>Review business performance</vt:lpstr>
      <vt:lpstr>Review business performance</vt:lpstr>
      <vt:lpstr>Review business performance</vt:lpstr>
      <vt:lpstr>Capabilities and resources</vt:lpstr>
      <vt:lpstr>Capabilities and resources</vt:lpstr>
      <vt:lpstr>Types of resources</vt:lpstr>
      <vt:lpstr>Types of resources</vt:lpstr>
      <vt:lpstr>Types of resources</vt:lpstr>
      <vt:lpstr>Types of resources</vt:lpstr>
      <vt:lpstr>Factors affecting resources</vt:lpstr>
      <vt:lpstr>Factors affecting resources</vt:lpstr>
      <vt:lpstr>Factors affecting resources</vt:lpstr>
      <vt:lpstr>Identify underperformance</vt:lpstr>
      <vt:lpstr>Identify underperformance</vt:lpstr>
      <vt:lpstr>Identify underperformance</vt:lpstr>
      <vt:lpstr>Identify underperformance</vt:lpstr>
      <vt:lpstr>Identify underperformance</vt:lpstr>
      <vt:lpstr>Identify underperformance</vt:lpstr>
      <vt:lpstr>PowerPoint Presentation</vt:lpstr>
      <vt:lpstr>Identify the external business environment</vt:lpstr>
      <vt:lpstr>Understanding environments</vt:lpstr>
      <vt:lpstr>Understanding environments</vt:lpstr>
      <vt:lpstr>Identify market share</vt:lpstr>
      <vt:lpstr>Identify market share</vt:lpstr>
      <vt:lpstr>Identify market share</vt:lpstr>
      <vt:lpstr>Analysing external environment</vt:lpstr>
      <vt:lpstr>Analysing external environment</vt:lpstr>
      <vt:lpstr>Analyse competition</vt:lpstr>
      <vt:lpstr>Analyse competition</vt:lpstr>
      <vt:lpstr>Analyse competition</vt:lpstr>
      <vt:lpstr>Developing competitive advantage</vt:lpstr>
      <vt:lpstr>Joint ventures and strategic alliances</vt:lpstr>
      <vt:lpstr>Analyse trends</vt:lpstr>
      <vt:lpstr>Analyse trends</vt:lpstr>
      <vt:lpstr>Analyse trends</vt:lpstr>
      <vt:lpstr>Analyse trends</vt:lpstr>
      <vt:lpstr>Analyse trends</vt:lpstr>
      <vt:lpstr>Analyse trends</vt:lpstr>
      <vt:lpstr>Analyse legal issues</vt:lpstr>
      <vt:lpstr>Analyse legal issues</vt:lpstr>
      <vt:lpstr>Analyse legal issues</vt:lpstr>
      <vt:lpstr>Analyse legal issues</vt:lpstr>
      <vt:lpstr>Analyse legal issues</vt:lpstr>
      <vt:lpstr>Analyse legal issues</vt:lpstr>
      <vt:lpstr>Analyse ethical considerations</vt:lpstr>
      <vt:lpstr>Conduct a SWOT Analysis</vt:lpstr>
      <vt:lpstr>Conduct a SWOT Analysis</vt:lpstr>
      <vt:lpstr>Conduct a SWOT Analysis</vt:lpstr>
      <vt:lpstr>Conduct a SWOT Analysis</vt:lpstr>
      <vt:lpstr>Conduct a SWOT Analysis</vt:lpstr>
      <vt:lpstr>Conduct a SWOT Analysis</vt:lpstr>
      <vt:lpstr>PowerPoint Presentation</vt:lpstr>
      <vt:lpstr>Define and implement business strategies</vt:lpstr>
      <vt:lpstr>Formulate business strategies</vt:lpstr>
      <vt:lpstr>Formulate business strategies</vt:lpstr>
      <vt:lpstr>Formulate business strategies</vt:lpstr>
      <vt:lpstr>Formulate business strategies</vt:lpstr>
      <vt:lpstr>Formulate business strategies</vt:lpstr>
      <vt:lpstr>Review business strategies</vt:lpstr>
      <vt:lpstr>Review business strategies</vt:lpstr>
      <vt:lpstr>Review business strategies</vt:lpstr>
      <vt:lpstr>Develop business strategies</vt:lpstr>
      <vt:lpstr>Involve stakeholders</vt:lpstr>
      <vt:lpstr>Encourage staff to input into plans</vt:lpstr>
      <vt:lpstr>Encourage staff to input into plans</vt:lpstr>
      <vt:lpstr>Encourage staff to input into plans</vt:lpstr>
      <vt:lpstr>Identify business strategies</vt:lpstr>
      <vt:lpstr>Identify business strategies</vt:lpstr>
      <vt:lpstr>Identify business strategies</vt:lpstr>
      <vt:lpstr>Identify business strategies</vt:lpstr>
      <vt:lpstr>Identify business strategies</vt:lpstr>
      <vt:lpstr>Identify business strategies</vt:lpstr>
      <vt:lpstr>Identify business strategies</vt:lpstr>
      <vt:lpstr>Identify business strategies</vt:lpstr>
      <vt:lpstr>Identify business strategies</vt:lpstr>
      <vt:lpstr>Identify business strategies</vt:lpstr>
      <vt:lpstr>Identify business strategies</vt:lpstr>
      <vt:lpstr>Identify business strategies</vt:lpstr>
      <vt:lpstr>Communicate business strategies</vt:lpstr>
      <vt:lpstr>Communicate business strategies</vt:lpstr>
      <vt:lpstr>Communicate business strategies</vt:lpstr>
      <vt:lpstr>Communicate business strategies</vt:lpstr>
      <vt:lpstr>Communicate business strategies</vt:lpstr>
      <vt:lpstr>Communicate business strategies</vt:lpstr>
      <vt:lpstr>PowerPoint Presentation</vt:lpstr>
      <vt:lpstr>Review the effectiveness of business strategies </vt:lpstr>
      <vt:lpstr>Review business strategies</vt:lpstr>
      <vt:lpstr>Review business strategies</vt:lpstr>
      <vt:lpstr>Evaluate strategy effectiveness</vt:lpstr>
      <vt:lpstr>Evaluate strategy effectiveness</vt:lpstr>
      <vt:lpstr>Evaluate strategy effectiveness</vt:lpstr>
      <vt:lpstr>Evaluate strategy effectiveness</vt:lpstr>
      <vt:lpstr>Evaluate strategy effectiveness</vt:lpstr>
      <vt:lpstr>Evaluate strategy effectiveness</vt:lpstr>
      <vt:lpstr>Evaluate strategy effectiveness</vt:lpstr>
      <vt:lpstr>Comparison against KPIs</vt:lpstr>
      <vt:lpstr>Comparison against KPIs</vt:lpstr>
      <vt:lpstr>Comparison against KPIs</vt:lpstr>
      <vt:lpstr>Identify performance gaps</vt:lpstr>
      <vt:lpstr>Identify performance gaps</vt:lpstr>
      <vt:lpstr>Identify performance gaps</vt:lpstr>
      <vt:lpstr>Identify performance gaps</vt:lpstr>
      <vt:lpstr>Make recommendations</vt:lpstr>
      <vt:lpstr>Make recommendations</vt:lpstr>
      <vt:lpstr>Make recommendations</vt:lpstr>
      <vt:lpstr>Make recommendations</vt:lpstr>
      <vt:lpstr>Make recommendations</vt:lpstr>
      <vt:lpstr>Make recommendations</vt:lpstr>
      <vt:lpstr>PowerPoint Presentation</vt:lpstr>
      <vt:lpstr>Manage risk associated with business strategies</vt:lpstr>
      <vt:lpstr>Manage risk associated with business strategies</vt:lpstr>
      <vt:lpstr>Identify risks</vt:lpstr>
      <vt:lpstr>Identify risks</vt:lpstr>
      <vt:lpstr>Identify risks</vt:lpstr>
      <vt:lpstr>Identify risks</vt:lpstr>
      <vt:lpstr>Identify risks</vt:lpstr>
      <vt:lpstr>Identify risks</vt:lpstr>
      <vt:lpstr>Assess information sources</vt:lpstr>
      <vt:lpstr>Assess information sources</vt:lpstr>
      <vt:lpstr>Assess information sources</vt:lpstr>
      <vt:lpstr>Assess information sources</vt:lpstr>
      <vt:lpstr>Assess information sources</vt:lpstr>
      <vt:lpstr>Assess information sources</vt:lpstr>
      <vt:lpstr>Assess risks</vt:lpstr>
      <vt:lpstr>Assess risks</vt:lpstr>
      <vt:lpstr>Assess risks</vt:lpstr>
      <vt:lpstr>Assess risks</vt:lpstr>
      <vt:lpstr>Assess risks</vt:lpstr>
      <vt:lpstr>Assess risks</vt:lpstr>
      <vt:lpstr>Assess risks</vt:lpstr>
      <vt:lpstr>Assess risks</vt:lpstr>
      <vt:lpstr>Risk management policy</vt:lpstr>
      <vt:lpstr>Risk management plans</vt:lpstr>
      <vt:lpstr>Risk management plans</vt:lpstr>
      <vt:lpstr>Risk management plans</vt:lpstr>
      <vt:lpstr>Risk management plans</vt:lpstr>
      <vt:lpstr>Implement risk management plan</vt:lpstr>
      <vt:lpstr>Develop contingency plans</vt:lpstr>
      <vt:lpstr>Develop contingency plans</vt:lpstr>
      <vt:lpstr>Develop contingency plans</vt:lpstr>
      <vt:lpstr>Develop contingency plans</vt:lpstr>
      <vt:lpstr>Develop contingency plans</vt:lpstr>
      <vt:lpstr>Communicate risk management strategies</vt:lpstr>
      <vt:lpstr>Review risk management plans</vt:lpstr>
      <vt:lpstr>Review risk management plans</vt:lpstr>
      <vt:lpstr>Review risk management plans</vt:lpstr>
      <vt:lpstr>Review risk management plans</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Kaly Quach</dc:creator>
  <cp:lastModifiedBy>Carla Angelica Co</cp:lastModifiedBy>
  <cp:revision>201</cp:revision>
  <dcterms:created xsi:type="dcterms:W3CDTF">2014-05-05T04:18:39Z</dcterms:created>
  <dcterms:modified xsi:type="dcterms:W3CDTF">2015-08-05T08:24:34Z</dcterms:modified>
</cp:coreProperties>
</file>