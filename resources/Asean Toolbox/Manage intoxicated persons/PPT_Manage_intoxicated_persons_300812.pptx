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notesSlides/notesSlide124.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notesSlides/notesSlide118.xml" ContentType="application/vnd.openxmlformats-officedocument.presentationml.notes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25.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14.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wmf" ContentType="image/x-wmf"/>
  <Override PartName="/ppt/notesSlides/notesSlide65.xml" ContentType="application/vnd.openxmlformats-officedocument.presentationml.notesSlide+xml"/>
  <Override PartName="/ppt/notesSlides/notesSlide83.xml" ContentType="application/vnd.openxmlformats-officedocument.presentationml.notesSlide+xml"/>
  <Override PartName="/ppt/notesSlides/notesSlide110.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notesSlides/notesSlide90.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26.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95.xml" ContentType="application/vnd.openxmlformats-officedocument.presentationml.notesSlide+xml"/>
  <Override PartName="/ppt/notesSlides/notesSlide122.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27.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notesSlides/notesSlide89.xml" ContentType="application/vnd.openxmlformats-officedocument.presentationml.notesSlide+xml"/>
  <Override PartName="/ppt/notesSlides/notesSlide116.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notesSlides/notesSlide42.xml" ContentType="application/vnd.openxmlformats-officedocument.presentationml.notes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29"/>
  </p:notesMasterIdLst>
  <p:handoutMasterIdLst>
    <p:handoutMasterId r:id="rId130"/>
  </p:handoutMasterIdLst>
  <p:sldIdLst>
    <p:sldId id="256" r:id="rId2"/>
    <p:sldId id="257" r:id="rId3"/>
    <p:sldId id="258" r:id="rId4"/>
    <p:sldId id="259" r:id="rId5"/>
    <p:sldId id="261" r:id="rId6"/>
    <p:sldId id="262" r:id="rId7"/>
    <p:sldId id="263" r:id="rId8"/>
    <p:sldId id="265" r:id="rId9"/>
    <p:sldId id="266" r:id="rId10"/>
    <p:sldId id="267" r:id="rId11"/>
    <p:sldId id="264" r:id="rId12"/>
    <p:sldId id="268" r:id="rId13"/>
    <p:sldId id="269" r:id="rId14"/>
    <p:sldId id="270" r:id="rId15"/>
    <p:sldId id="271" r:id="rId16"/>
    <p:sldId id="272" r:id="rId17"/>
    <p:sldId id="273" r:id="rId18"/>
    <p:sldId id="274" r:id="rId19"/>
    <p:sldId id="280" r:id="rId20"/>
    <p:sldId id="275" r:id="rId21"/>
    <p:sldId id="276" r:id="rId22"/>
    <p:sldId id="277" r:id="rId23"/>
    <p:sldId id="278" r:id="rId24"/>
    <p:sldId id="27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2" r:id="rId46"/>
    <p:sldId id="304" r:id="rId47"/>
    <p:sldId id="303" r:id="rId48"/>
    <p:sldId id="301" r:id="rId49"/>
    <p:sldId id="305" r:id="rId50"/>
    <p:sldId id="306" r:id="rId51"/>
    <p:sldId id="307" r:id="rId52"/>
    <p:sldId id="308"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3" r:id="rId76"/>
    <p:sldId id="332" r:id="rId77"/>
    <p:sldId id="334" r:id="rId78"/>
    <p:sldId id="335" r:id="rId79"/>
    <p:sldId id="336" r:id="rId80"/>
    <p:sldId id="337" r:id="rId81"/>
    <p:sldId id="338" r:id="rId82"/>
    <p:sldId id="339" r:id="rId83"/>
    <p:sldId id="340" r:id="rId84"/>
    <p:sldId id="341" r:id="rId85"/>
    <p:sldId id="342" r:id="rId86"/>
    <p:sldId id="343"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32" autoAdjust="0"/>
    <p:restoredTop sz="75309" autoAdjust="0"/>
  </p:normalViewPr>
  <p:slideViewPr>
    <p:cSldViewPr>
      <p:cViewPr varScale="1">
        <p:scale>
          <a:sx n="100" d="100"/>
          <a:sy n="100" d="100"/>
        </p:scale>
        <p:origin x="-237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5/7/2012</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5/7/2012</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trainees</a:t>
            </a:r>
            <a:r>
              <a:rPr lang="en-US" baseline="0" dirty="0" smtClean="0"/>
              <a:t> to class and informs them that the unit “Manage Intoxicated Persons” will be presented.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three Elements, as listed on this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r>
              <a:rPr lang="en-AU" sz="1200" kern="1200" baseline="0" dirty="0" smtClean="0">
                <a:solidFill>
                  <a:schemeClr val="tx1"/>
                </a:solidFill>
                <a:ea typeface="+mn-ea"/>
                <a:cs typeface="+mn-cs"/>
              </a:rPr>
              <a:t>:</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What  is intoxication?</a:t>
            </a:r>
          </a:p>
          <a:p>
            <a:pPr>
              <a:buFont typeface="Arial" pitchFamily="34" charset="0"/>
              <a:buChar char="•"/>
            </a:pPr>
            <a:r>
              <a:rPr lang="en-AU" sz="1200" kern="1200" baseline="0" dirty="0" smtClean="0">
                <a:solidFill>
                  <a:schemeClr val="tx1"/>
                </a:solidFill>
                <a:ea typeface="+mn-ea"/>
                <a:cs typeface="+mn-cs"/>
              </a:rPr>
              <a:t>What causes intoxication?</a:t>
            </a:r>
          </a:p>
          <a:p>
            <a:pPr>
              <a:buFont typeface="Arial" pitchFamily="34" charset="0"/>
              <a:buChar char="•"/>
            </a:pPr>
            <a:r>
              <a:rPr lang="en-AU" sz="1200" kern="1200" baseline="0" dirty="0" smtClean="0">
                <a:solidFill>
                  <a:schemeClr val="tx1"/>
                </a:solidFill>
                <a:ea typeface="+mn-ea"/>
                <a:cs typeface="+mn-cs"/>
              </a:rPr>
              <a:t>What is an acceptable level of intoxication?</a:t>
            </a:r>
          </a:p>
          <a:p>
            <a:pPr>
              <a:buFont typeface="Arial" pitchFamily="34" charset="0"/>
              <a:buChar char="•"/>
            </a:pPr>
            <a:r>
              <a:rPr lang="en-AU" sz="1200" kern="1200" baseline="0" dirty="0" smtClean="0">
                <a:solidFill>
                  <a:schemeClr val="tx1"/>
                </a:solidFill>
                <a:ea typeface="+mn-ea"/>
                <a:cs typeface="+mn-cs"/>
              </a:rPr>
              <a:t>How do you handle someone who is intoxicated?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types of venues serve alcohol?</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are</a:t>
            </a:r>
            <a:r>
              <a:rPr lang="en-AU" sz="1200" baseline="0" dirty="0" smtClean="0">
                <a:latin typeface="Helvetica" pitchFamily="34" charset="0"/>
              </a:rPr>
              <a:t> some </a:t>
            </a:r>
            <a:r>
              <a:rPr lang="en-AU" sz="1200" dirty="0" smtClean="0">
                <a:latin typeface="Helvetica" pitchFamily="34" charset="0"/>
              </a:rPr>
              <a:t>legal implications when serving alcohol?</a:t>
            </a:r>
          </a:p>
          <a:p>
            <a:pPr lvl="0">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some management and staff </a:t>
            </a:r>
            <a:r>
              <a:rPr lang="en-AU" sz="1200" dirty="0" smtClean="0">
                <a:latin typeface="Helvetica" pitchFamily="34" charset="0"/>
              </a:rPr>
              <a:t>responsibilities in relation to the service of alcohol?</a:t>
            </a:r>
          </a:p>
          <a:p>
            <a:pPr lvl="0">
              <a:spcBef>
                <a:spcPts val="600"/>
              </a:spcBef>
              <a:spcAft>
                <a:spcPts val="1200"/>
              </a:spcAft>
              <a:buFont typeface="Arial" pitchFamily="34" charset="0"/>
              <a:buChar char="•"/>
            </a:pPr>
            <a:r>
              <a:rPr lang="en-AU" sz="1200" dirty="0" smtClean="0">
                <a:latin typeface="Helvetica" pitchFamily="34" charset="0"/>
              </a:rPr>
              <a:t>How do</a:t>
            </a:r>
            <a:r>
              <a:rPr lang="en-AU" sz="1200" baseline="0" dirty="0" smtClean="0">
                <a:latin typeface="Helvetica" pitchFamily="34" charset="0"/>
              </a:rPr>
              <a:t> you h</a:t>
            </a:r>
            <a:r>
              <a:rPr lang="en-AU" sz="1200" dirty="0" smtClean="0">
                <a:latin typeface="Helvetica" pitchFamily="34" charset="0"/>
              </a:rPr>
              <a:t>andle situations where people are intoxicated?</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Who is impacted by a business?</a:t>
            </a:r>
          </a:p>
          <a:p>
            <a:pPr lvl="0">
              <a:spcBef>
                <a:spcPts val="600"/>
              </a:spcBef>
              <a:spcAft>
                <a:spcPts val="1200"/>
              </a:spcAft>
              <a:buFont typeface="Arial" pitchFamily="34" charset="0"/>
              <a:buChar char="•"/>
            </a:pP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Does</a:t>
            </a:r>
            <a:r>
              <a:rPr lang="en-AU" sz="1200" baseline="0" dirty="0" smtClean="0">
                <a:latin typeface="Helvetica" pitchFamily="34" charset="0"/>
              </a:rPr>
              <a:t> a business need to care what happens when drunk people leave the premises?</a:t>
            </a:r>
            <a:endParaRPr lang="en-AU" sz="1200" dirty="0" smtClean="0">
              <a:latin typeface="Helvetica" pitchFamily="34" charset="0"/>
            </a:endParaRPr>
          </a:p>
          <a:p>
            <a:pPr lvl="0">
              <a:spcBef>
                <a:spcPts val="600"/>
              </a:spcBef>
              <a:spcAft>
                <a:spcPts val="1200"/>
              </a:spcAft>
              <a:buFont typeface="Arial" pitchFamily="34" charset="0"/>
              <a:buChar char="•"/>
            </a:pPr>
            <a:r>
              <a:rPr lang="en-AU" sz="1200" dirty="0" smtClean="0">
                <a:latin typeface="Helvetica" pitchFamily="34" charset="0"/>
              </a:rPr>
              <a:t>Think</a:t>
            </a:r>
            <a:r>
              <a:rPr lang="en-AU" sz="1200" baseline="0" dirty="0" smtClean="0">
                <a:latin typeface="Helvetica" pitchFamily="34" charset="0"/>
              </a:rPr>
              <a:t> about a night club and the movement of patrons after they have left. What potential problems exist?</a:t>
            </a:r>
            <a:endParaRPr lang="en-AU" sz="1200" dirty="0" smtClean="0">
              <a:latin typeface="Helvetica" pitchFamily="34" charset="0"/>
            </a:endParaRPr>
          </a:p>
          <a:p>
            <a:pPr lvl="0">
              <a:spcBef>
                <a:spcPts val="600"/>
              </a:spcBef>
              <a:spcAft>
                <a:spcPts val="1200"/>
              </a:spcAft>
              <a:buFont typeface="Arial" pitchFamily="34" charset="0"/>
              <a:buChar char="•"/>
            </a:pPr>
            <a:r>
              <a:rPr lang="en-AU" sz="1200" dirty="0" smtClean="0">
                <a:latin typeface="Helvetica" pitchFamily="34" charset="0"/>
              </a:rPr>
              <a:t>How can you ensure an</a:t>
            </a:r>
            <a:r>
              <a:rPr lang="en-AU" sz="1200" baseline="0" dirty="0" smtClean="0">
                <a:latin typeface="Helvetica" pitchFamily="34" charset="0"/>
              </a:rPr>
              <a:t> adequate duty of care?</a:t>
            </a:r>
            <a:endParaRPr lang="en-AU" sz="1200" dirty="0" smtClean="0">
              <a:latin typeface="Helvetica" pitchFamily="34" charset="0"/>
            </a:endParaRPr>
          </a:p>
          <a:p>
            <a:pPr lvl="0">
              <a:spcBef>
                <a:spcPts val="600"/>
              </a:spcBef>
              <a:spcAft>
                <a:spcPts val="1200"/>
              </a:spcAft>
              <a:buFont typeface="Arial" pitchFamily="34" charset="0"/>
              <a:buChar char="•"/>
            </a:pP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How can you provide</a:t>
            </a:r>
            <a:r>
              <a:rPr lang="en-AU" sz="1200" baseline="0" dirty="0" smtClean="0">
                <a:latin typeface="Helvetica" pitchFamily="34" charset="0"/>
              </a:rPr>
              <a:t> a duty of care to each of these people mentioned in the slide?</a:t>
            </a:r>
            <a:endParaRPr lang="en-AU" sz="1200" dirty="0" smtClean="0">
              <a:latin typeface="Helvetica" pitchFamily="34" charset="0"/>
            </a:endParaRPr>
          </a:p>
          <a:p>
            <a:pPr lvl="0">
              <a:spcBef>
                <a:spcPts val="600"/>
              </a:spcBef>
              <a:spcAft>
                <a:spcPts val="1200"/>
              </a:spcAft>
              <a:buFont typeface="Arial" pitchFamily="34" charset="0"/>
              <a:buChar char="•"/>
            </a:pP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None/>
            </a:pPr>
            <a:r>
              <a:rPr lang="en-AU" sz="1200" dirty="0" smtClean="0">
                <a:latin typeface="Helvetica" pitchFamily="34" charset="0"/>
              </a:rPr>
              <a:t>Answer the questions in the slide.</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None/>
            </a:pPr>
            <a:r>
              <a:rPr lang="en-AU" sz="1200" dirty="0" smtClean="0">
                <a:latin typeface="Helvetica" pitchFamily="34" charset="0"/>
              </a:rPr>
              <a:t>Discuss the </a:t>
            </a:r>
            <a:r>
              <a:rPr lang="en-AU" sz="1200" dirty="0" smtClean="0">
                <a:latin typeface="Helvetica" pitchFamily="34" charset="0"/>
              </a:rPr>
              <a:t>benefits.</a:t>
            </a: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None/>
            </a:pPr>
            <a:r>
              <a:rPr lang="en-AU" sz="1200" dirty="0" smtClean="0">
                <a:latin typeface="Helvetica" pitchFamily="34" charset="0"/>
              </a:rPr>
              <a:t>Discuss the </a:t>
            </a:r>
            <a:r>
              <a:rPr lang="en-AU" sz="1200" dirty="0" smtClean="0">
                <a:latin typeface="Helvetica" pitchFamily="34" charset="0"/>
              </a:rPr>
              <a:t>benefits.</a:t>
            </a: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None/>
            </a:pPr>
            <a:r>
              <a:rPr lang="en-AU" sz="1200" dirty="0" smtClean="0">
                <a:latin typeface="Helvetica" pitchFamily="34" charset="0"/>
              </a:rPr>
              <a:t>Discuss the </a:t>
            </a:r>
            <a:r>
              <a:rPr lang="en-AU" sz="1200" dirty="0" smtClean="0">
                <a:latin typeface="Helvetica" pitchFamily="34" charset="0"/>
              </a:rPr>
              <a:t>benefits.</a:t>
            </a: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None/>
            </a:pPr>
            <a:r>
              <a:rPr lang="en-AU" sz="1200" dirty="0" smtClean="0">
                <a:latin typeface="Helvetica" pitchFamily="34" charset="0"/>
              </a:rPr>
              <a:t>Discuss the </a:t>
            </a:r>
            <a:r>
              <a:rPr lang="en-AU" sz="1200" dirty="0" smtClean="0">
                <a:latin typeface="Helvetica" pitchFamily="34" charset="0"/>
              </a:rPr>
              <a:t>benefits.</a:t>
            </a: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and Tour of bar</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alcohol?</a:t>
            </a:r>
          </a:p>
          <a:p>
            <a:pPr lvl="0">
              <a:spcBef>
                <a:spcPts val="600"/>
              </a:spcBef>
              <a:spcAft>
                <a:spcPts val="1200"/>
              </a:spcAft>
              <a:buFont typeface="Arial" pitchFamily="34" charset="0"/>
              <a:buChar char="•"/>
            </a:pPr>
            <a:r>
              <a:rPr lang="en-AU" sz="1200" dirty="0" smtClean="0">
                <a:latin typeface="Helvetica" pitchFamily="34" charset="0"/>
              </a:rPr>
              <a:t>How</a:t>
            </a:r>
            <a:r>
              <a:rPr lang="en-AU" sz="1200" baseline="0" dirty="0" smtClean="0">
                <a:latin typeface="Helvetica" pitchFamily="34" charset="0"/>
              </a:rPr>
              <a:t> is it made?</a:t>
            </a:r>
          </a:p>
          <a:p>
            <a:pPr lvl="0">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1200"/>
              </a:spcAft>
              <a:buFont typeface="Arial" pitchFamily="34" charset="0"/>
              <a:buNone/>
            </a:pPr>
            <a:r>
              <a:rPr lang="en-AU" sz="1200" baseline="0" dirty="0" smtClean="0">
                <a:latin typeface="Helvetica" pitchFamily="34" charset="0"/>
              </a:rPr>
              <a:t>The trainer should take the audience to a bar or to a location that has a large variety of alcoholic beverages</a:t>
            </a:r>
            <a:r>
              <a:rPr lang="en-AU" sz="1200" baseline="0" dirty="0" smtClean="0">
                <a:latin typeface="Helvetica" pitchFamily="34" charset="0"/>
              </a:rPr>
              <a:t>.</a:t>
            </a:r>
          </a:p>
          <a:p>
            <a:pPr lvl="0">
              <a:spcBef>
                <a:spcPts val="600"/>
              </a:spcBef>
              <a:spcAft>
                <a:spcPts val="1200"/>
              </a:spcAft>
              <a:buFont typeface="Arial" pitchFamily="34" charset="0"/>
              <a:buNone/>
            </a:pPr>
            <a:endParaRPr lang="en-AU" sz="1200" baseline="0" dirty="0" smtClean="0">
              <a:latin typeface="Helvetica" pitchFamily="34" charset="0"/>
            </a:endParaRPr>
          </a:p>
          <a:p>
            <a:pPr lvl="0">
              <a:spcBef>
                <a:spcPts val="600"/>
              </a:spcBef>
              <a:spcAft>
                <a:spcPts val="1200"/>
              </a:spcAft>
              <a:buFont typeface="Arial" pitchFamily="34" charset="0"/>
              <a:buChar char="•"/>
            </a:pPr>
            <a:r>
              <a:rPr lang="en-AU" sz="1200" baseline="0" dirty="0" smtClean="0">
                <a:latin typeface="Helvetica" pitchFamily="34" charset="0"/>
              </a:rPr>
              <a:t>What types of alcoholic drinks are there?</a:t>
            </a: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Which alcoholic</a:t>
            </a:r>
            <a:r>
              <a:rPr lang="en-AU" sz="1200" baseline="0" dirty="0" smtClean="0">
                <a:latin typeface="Helvetica" pitchFamily="34" charset="0"/>
              </a:rPr>
              <a:t> drinks are stronger than others?</a:t>
            </a:r>
          </a:p>
          <a:p>
            <a:pPr lvl="0">
              <a:spcBef>
                <a:spcPts val="600"/>
              </a:spcBef>
              <a:spcAft>
                <a:spcPts val="1200"/>
              </a:spcAft>
              <a:buFont typeface="Arial" pitchFamily="34" charset="0"/>
              <a:buChar char="•"/>
            </a:pPr>
            <a:r>
              <a:rPr lang="en-AU" sz="1200" baseline="0" dirty="0" smtClean="0">
                <a:latin typeface="Helvetica" pitchFamily="34" charset="0"/>
              </a:rPr>
              <a:t>Why is this the case?</a:t>
            </a: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it important to have a standard measure for alcohol?</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None/>
            </a:pP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ABV of other alcoholic drinks?</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None/>
            </a:pP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is the volume for a standard drink? (This will change depending on the drink)</a:t>
            </a: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How many standard drinks?</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The </a:t>
            </a:r>
            <a:r>
              <a:rPr lang="en-AU" sz="1200" b="0" kern="1200" baseline="0" dirty="0" smtClean="0">
                <a:solidFill>
                  <a:schemeClr val="tx1"/>
                </a:solidFill>
                <a:ea typeface="+mn-ea"/>
                <a:cs typeface="+mn-cs"/>
              </a:rPr>
              <a:t>trainer </a:t>
            </a:r>
            <a:r>
              <a:rPr lang="en-AU" sz="1200" b="0" kern="1200" baseline="0" dirty="0" smtClean="0">
                <a:solidFill>
                  <a:schemeClr val="tx1"/>
                </a:solidFill>
                <a:ea typeface="+mn-ea"/>
                <a:cs typeface="+mn-cs"/>
              </a:rPr>
              <a:t>should show or write down a range of different drinks and get the audience to guess how many standard drinks are in each beverage.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How many standard drinks?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many drinks actual come as a ‘standard drink’?</a:t>
            </a:r>
          </a:p>
          <a:p>
            <a:pPr>
              <a:buFont typeface="Arial" pitchFamily="34" charset="0"/>
              <a:buChar char="•"/>
            </a:pPr>
            <a:r>
              <a:rPr lang="en-AU" sz="1200" b="0" kern="1200" baseline="0" dirty="0" smtClean="0">
                <a:solidFill>
                  <a:schemeClr val="tx1"/>
                </a:solidFill>
                <a:ea typeface="+mn-ea"/>
                <a:cs typeface="+mn-cs"/>
              </a:rPr>
              <a:t>Which do?</a:t>
            </a:r>
          </a:p>
          <a:p>
            <a:pPr>
              <a:buFont typeface="Arial" pitchFamily="34" charset="0"/>
              <a:buChar char="•"/>
            </a:pPr>
            <a:r>
              <a:rPr lang="en-AU" sz="1200" b="0" kern="1200" baseline="0" dirty="0" smtClean="0">
                <a:solidFill>
                  <a:schemeClr val="tx1"/>
                </a:solidFill>
                <a:ea typeface="+mn-ea"/>
                <a:cs typeface="+mn-cs"/>
              </a:rPr>
              <a:t>Which don’t?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How many standard drinks?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many standard drinks are there in average size drinks?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How many standard drinks?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many standard drinks are there in other average size drinks?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How many standard drinks exercise</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Based on this </a:t>
            </a:r>
            <a:r>
              <a:rPr lang="en-AU" sz="1200" b="0" kern="1200" baseline="0" dirty="0" smtClean="0">
                <a:solidFill>
                  <a:schemeClr val="tx1"/>
                </a:solidFill>
                <a:ea typeface="+mn-ea"/>
                <a:cs typeface="+mn-cs"/>
              </a:rPr>
              <a:t>formula, </a:t>
            </a:r>
            <a:r>
              <a:rPr lang="en-AU" sz="1200" b="0" kern="1200" baseline="0" dirty="0" smtClean="0">
                <a:solidFill>
                  <a:schemeClr val="tx1"/>
                </a:solidFill>
                <a:ea typeface="+mn-ea"/>
                <a:cs typeface="+mn-cs"/>
              </a:rPr>
              <a:t>trainer should get the audience to determine how many standards of drinks are in a range of alcoholic beverages.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Answer the questions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changes in behaviour take place?</a:t>
            </a:r>
          </a:p>
          <a:p>
            <a:pPr>
              <a:buFont typeface="Arial" pitchFamily="34" charset="0"/>
              <a:buChar char="•"/>
            </a:pPr>
            <a:r>
              <a:rPr lang="en-AU" sz="1200" b="0" kern="1200" baseline="0" dirty="0" smtClean="0">
                <a:solidFill>
                  <a:schemeClr val="tx1"/>
                </a:solidFill>
                <a:ea typeface="+mn-ea"/>
                <a:cs typeface="+mn-cs"/>
              </a:rPr>
              <a:t>How does alcohol change your behaviour?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does ‘irresponsible’ mean?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How can you ensure customers:</a:t>
            </a:r>
          </a:p>
          <a:p>
            <a:pPr>
              <a:buFont typeface="Arial" pitchFamily="34" charset="0"/>
              <a:buChar char="•"/>
            </a:pPr>
            <a:r>
              <a:rPr lang="en-AU" sz="1200" dirty="0" smtClean="0"/>
              <a:t>Consume alcohol in a sensible manner?</a:t>
            </a:r>
          </a:p>
          <a:p>
            <a:pPr>
              <a:buFont typeface="Arial" pitchFamily="34" charset="0"/>
              <a:buChar char="•"/>
            </a:pPr>
            <a:r>
              <a:rPr lang="en-AU" sz="1200" dirty="0" smtClean="0"/>
              <a:t>Understand the effect alcohol has on people?</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Discuss how alcohol enters the body – based on the points in the slide.</a:t>
            </a: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Discuss how alcohol enters the body – based on the points in the slide.</a:t>
            </a: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Discuss how alcohol enters the body – based on the points in the slide.</a:t>
            </a: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why a</a:t>
            </a:r>
            <a:r>
              <a:rPr lang="en-AU" sz="1200" b="1" dirty="0" smtClean="0"/>
              <a:t>lcohol affects people differently</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Speed of drinking</a:t>
            </a:r>
          </a:p>
          <a:p>
            <a:pPr lvl="0">
              <a:buFont typeface="Arial" pitchFamily="34" charset="0"/>
              <a:buChar char="•"/>
            </a:pPr>
            <a:r>
              <a:rPr lang="en-AU" sz="1200" dirty="0" smtClean="0"/>
              <a:t>Strength of drink - the blood alcohol concentration (BAC</a:t>
            </a:r>
            <a:r>
              <a:rPr lang="en-AU" sz="1200" dirty="0" smtClean="0"/>
              <a:t>)</a:t>
            </a:r>
            <a:endParaRPr lang="en-AU" sz="1200" dirty="0" smtClean="0"/>
          </a:p>
          <a:p>
            <a:pPr lvl="0">
              <a:buFont typeface="Arial" pitchFamily="34" charset="0"/>
              <a:buChar char="•"/>
            </a:pPr>
            <a:r>
              <a:rPr lang="en-AU" sz="1200" dirty="0" smtClean="0"/>
              <a:t>Person’s sex - women are more affected than men</a:t>
            </a:r>
          </a:p>
          <a:p>
            <a:pPr lvl="0">
              <a:buFont typeface="Arial" pitchFamily="34" charset="0"/>
              <a:buChar char="•"/>
            </a:pPr>
            <a:r>
              <a:rPr lang="en-AU" sz="1200" dirty="0" smtClean="0"/>
              <a:t>Person’s weight - a small person is more affected than a big person</a:t>
            </a:r>
          </a:p>
          <a:p>
            <a:pPr lvl="0">
              <a:buFont typeface="Arial" pitchFamily="34" charset="0"/>
              <a:buChar char="•"/>
            </a:pPr>
            <a:r>
              <a:rPr lang="en-AU" sz="1200" dirty="0" smtClean="0"/>
              <a:t>Amount of food eaten -  a person who has empty stomach is more affected than a person who has eaten a big meal</a:t>
            </a:r>
          </a:p>
          <a:p>
            <a:pPr lvl="0">
              <a:buFont typeface="Arial" pitchFamily="34" charset="0"/>
              <a:buChar char="•"/>
            </a:pPr>
            <a:r>
              <a:rPr lang="en-AU" sz="1200" dirty="0" smtClean="0"/>
              <a:t>Tolerance to alcohol - a person who drinks rarely will appear more affected than a person who drinks </a:t>
            </a:r>
            <a:r>
              <a:rPr lang="en-AU" sz="1200" dirty="0" smtClean="0"/>
              <a:t>regularly.</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Why</a:t>
            </a:r>
            <a:r>
              <a:rPr lang="en-AU" sz="1200" baseline="0" dirty="0" smtClean="0"/>
              <a:t> is this role of staff members to monitor?</a:t>
            </a:r>
          </a:p>
          <a:p>
            <a:pPr lvl="0">
              <a:buFont typeface="Arial" pitchFamily="34" charset="0"/>
              <a:buChar char="•"/>
            </a:pPr>
            <a:r>
              <a:rPr lang="en-AU" sz="1200" baseline="0" dirty="0" smtClean="0"/>
              <a:t>What consequences exist for the organisation and individual staff members if patrons become intoxicated?</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As a staff </a:t>
            </a:r>
            <a:r>
              <a:rPr lang="en-AU" sz="1200" dirty="0" smtClean="0"/>
              <a:t>member</a:t>
            </a:r>
            <a:r>
              <a:rPr lang="en-AU" sz="1200" baseline="0" dirty="0" smtClean="0"/>
              <a:t> </a:t>
            </a:r>
            <a:r>
              <a:rPr lang="en-AU" sz="1200" dirty="0" smtClean="0"/>
              <a:t>when </a:t>
            </a:r>
            <a:r>
              <a:rPr lang="en-AU" sz="1200" dirty="0" smtClean="0"/>
              <a:t>should you decide a customer</a:t>
            </a:r>
            <a:r>
              <a:rPr lang="en-AU" sz="1200" baseline="0" dirty="0" smtClean="0"/>
              <a:t> has had enough to drink?</a:t>
            </a:r>
          </a:p>
          <a:p>
            <a:pPr lvl="0">
              <a:buFont typeface="Arial" pitchFamily="34" charset="0"/>
              <a:buChar char="•"/>
            </a:pPr>
            <a:r>
              <a:rPr lang="en-AU" sz="1200" baseline="0" dirty="0" smtClean="0"/>
              <a:t>How do you approach this with the customer?</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Answer the questions in the slide.</a:t>
            </a:r>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What are signs of intoxication?</a:t>
            </a:r>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Discuss these signs of </a:t>
            </a:r>
            <a:r>
              <a:rPr lang="en-AU" sz="1200" dirty="0" smtClean="0"/>
              <a:t>intoxication</a:t>
            </a:r>
            <a:endParaRPr lang="en-AU" sz="1200" baseline="0" dirty="0" smtClean="0"/>
          </a:p>
          <a:p>
            <a:pPr lvl="0">
              <a:buFont typeface="Arial" pitchFamily="34" charset="0"/>
              <a:buChar char="•"/>
            </a:pPr>
            <a:r>
              <a:rPr lang="en-AU" sz="1200" baseline="0" dirty="0" smtClean="0"/>
              <a:t>How do you spot them?</a:t>
            </a:r>
          </a:p>
          <a:p>
            <a:pPr lvl="0">
              <a:buFont typeface="Arial" pitchFamily="34" charset="0"/>
              <a:buChar char="•"/>
            </a:pPr>
            <a:r>
              <a:rPr lang="en-AU" sz="1200" baseline="0" dirty="0" smtClean="0"/>
              <a:t>Are they easy to identify?</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Discuss these signs of </a:t>
            </a:r>
            <a:r>
              <a:rPr lang="en-AU" sz="1200" dirty="0" smtClean="0"/>
              <a:t>intoxication</a:t>
            </a:r>
            <a:endParaRPr lang="en-AU" sz="1200" baseline="0" dirty="0" smtClean="0"/>
          </a:p>
          <a:p>
            <a:pPr lvl="0">
              <a:buFont typeface="Arial" pitchFamily="34" charset="0"/>
              <a:buChar char="•"/>
            </a:pPr>
            <a:r>
              <a:rPr lang="en-AU" sz="1200" baseline="0" dirty="0" smtClean="0"/>
              <a:t>How do you spot them?</a:t>
            </a:r>
          </a:p>
          <a:p>
            <a:pPr lvl="0">
              <a:buFont typeface="Arial" pitchFamily="34" charset="0"/>
              <a:buChar char="•"/>
            </a:pPr>
            <a:r>
              <a:rPr lang="en-AU" sz="1200" baseline="0" dirty="0" smtClean="0"/>
              <a:t>Are they easy to identify?</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Discuss these signs of </a:t>
            </a:r>
            <a:r>
              <a:rPr lang="en-AU" sz="1200" dirty="0" smtClean="0"/>
              <a:t>intoxication</a:t>
            </a:r>
            <a:endParaRPr lang="en-AU" sz="1200" baseline="0" dirty="0" smtClean="0"/>
          </a:p>
          <a:p>
            <a:pPr lvl="0">
              <a:buFont typeface="Arial" pitchFamily="34" charset="0"/>
              <a:buChar char="•"/>
            </a:pPr>
            <a:r>
              <a:rPr lang="en-AU" sz="1200" baseline="0" dirty="0" smtClean="0"/>
              <a:t>How do you spot them?</a:t>
            </a:r>
          </a:p>
          <a:p>
            <a:pPr lvl="0">
              <a:buFont typeface="Arial" pitchFamily="34" charset="0"/>
              <a:buChar char="•"/>
            </a:pPr>
            <a:r>
              <a:rPr lang="en-AU" sz="1200" baseline="0" dirty="0" smtClean="0"/>
              <a:t>Are they easy to identify?</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Discuss these signs of </a:t>
            </a:r>
            <a:r>
              <a:rPr lang="en-AU" sz="1200" dirty="0" smtClean="0"/>
              <a:t>intoxication</a:t>
            </a:r>
            <a:endParaRPr lang="en-AU" sz="1200" baseline="0" dirty="0" smtClean="0"/>
          </a:p>
          <a:p>
            <a:pPr lvl="0">
              <a:buFont typeface="Arial" pitchFamily="34" charset="0"/>
              <a:buChar char="•"/>
            </a:pPr>
            <a:r>
              <a:rPr lang="en-AU" sz="1200" baseline="0" dirty="0" smtClean="0"/>
              <a:t>How do you spot them?</a:t>
            </a:r>
          </a:p>
          <a:p>
            <a:pPr lvl="0">
              <a:buFont typeface="Arial" pitchFamily="34" charset="0"/>
              <a:buChar char="•"/>
            </a:pPr>
            <a:r>
              <a:rPr lang="en-AU" sz="1200" baseline="0" dirty="0" smtClean="0"/>
              <a:t>Are they easy to identify?</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Answer the question in the slide.</a:t>
            </a:r>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Discuss tool.</a:t>
            </a:r>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What</a:t>
            </a:r>
            <a:r>
              <a:rPr lang="en-AU" sz="1200" baseline="0" dirty="0" smtClean="0"/>
              <a:t> is determined to be acceptable levels of intoxication?</a:t>
            </a:r>
          </a:p>
          <a:p>
            <a:pPr lvl="0">
              <a:buFont typeface="Arial" pitchFamily="34" charset="0"/>
              <a:buChar char="•"/>
            </a:pPr>
            <a:r>
              <a:rPr lang="en-AU" sz="1200" baseline="0" dirty="0" smtClean="0"/>
              <a:t>When should a person be required to leave a premises?</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How can you monitor</a:t>
            </a:r>
            <a:r>
              <a:rPr lang="en-AU" sz="1200" baseline="0" dirty="0" smtClean="0"/>
              <a:t> the environment to ensure the level of intoxication of patrons individually or as a collective?</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How can you do these monitoring steps?</a:t>
            </a:r>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How can you do these monitoring steps?</a:t>
            </a:r>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Before asking someone to leave the premises, what different types of assistance</a:t>
            </a:r>
            <a:r>
              <a:rPr lang="en-AU" sz="1200" baseline="0" dirty="0" smtClean="0"/>
              <a:t> can you provide, to allow someone to stay and enjoy the venue?</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types of assistance that can be provided.</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Talk to the customer or their friend – this helps determine not only the level of intoxication, but how they will respond to suggestions that may be suitable</a:t>
            </a:r>
          </a:p>
          <a:p>
            <a:pPr lvl="0">
              <a:buFont typeface="Arial" pitchFamily="34" charset="0"/>
              <a:buChar char="•"/>
            </a:pPr>
            <a:r>
              <a:rPr lang="en-AU" sz="1200" dirty="0" smtClean="0"/>
              <a:t>Briefly explain your responsibilities – you may wish to outline the house policy that applies, directly to the customer or a friend of theirs. Try to get the person on your side by explaining that whilst you would like the customer to stay on the premises, they must abide by the rules of the establishment</a:t>
            </a:r>
          </a:p>
          <a:p>
            <a:pPr lvl="0">
              <a:buFont typeface="Arial" pitchFamily="34" charset="0"/>
              <a:buChar char="•"/>
            </a:pPr>
            <a:r>
              <a:rPr lang="en-AU" sz="1200" dirty="0" smtClean="0"/>
              <a:t>Promoting non-alcoholic drinks – most venues will have a range of soft drinks, juices or mocktails which can be a suitable alternative to alcohol</a:t>
            </a:r>
          </a:p>
          <a:p>
            <a:pPr lvl="0">
              <a:buFont typeface="Arial" pitchFamily="34" charset="0"/>
              <a:buChar char="•"/>
            </a:pPr>
            <a:r>
              <a:rPr lang="en-AU" sz="1200" dirty="0" smtClean="0"/>
              <a:t>Offer food – whether through providing a menu or offering complimentary or low costs snacks such as nuts and </a:t>
            </a:r>
            <a:r>
              <a:rPr lang="en-AU" sz="1200" dirty="0" smtClean="0"/>
              <a:t>chips.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types of assistance that can be provided.</a:t>
            </a:r>
            <a:endParaRPr lang="en-AU" sz="1200" dirty="0" smtClean="0"/>
          </a:p>
          <a:p>
            <a:endParaRPr lang="en-AU" sz="1200" b="1" kern="1200" baseline="0" dirty="0" smtClean="0">
              <a:solidFill>
                <a:schemeClr val="tx1"/>
              </a:solidFill>
              <a:ea typeface="+mn-ea"/>
              <a:cs typeface="+mn-cs"/>
            </a:endParaRPr>
          </a:p>
          <a:p>
            <a:pPr lvl="0">
              <a:buFont typeface="Arial" pitchFamily="34" charset="0"/>
              <a:buChar char="•"/>
            </a:pPr>
            <a:r>
              <a:rPr lang="en-AU" sz="1200" dirty="0" smtClean="0"/>
              <a:t>Offering low-alcoholic beverages – some beverages such as beer come in a low alcoholic format which can be promoted. Alternatively half measures may be suggested when serving spirits</a:t>
            </a:r>
          </a:p>
          <a:p>
            <a:pPr lvl="0">
              <a:buFont typeface="Arial" pitchFamily="34" charset="0"/>
              <a:buChar char="•"/>
            </a:pPr>
            <a:r>
              <a:rPr lang="en-AU" sz="1200" dirty="0" smtClean="0"/>
              <a:t>Offer water – water is free of charge in most facilities. You may suggest a customer having a glass of water between alcoholic drinks or for a specific period of time</a:t>
            </a:r>
          </a:p>
          <a:p>
            <a:pPr lvl="0">
              <a:buFont typeface="Arial" pitchFamily="34" charset="0"/>
              <a:buChar char="•"/>
            </a:pPr>
            <a:r>
              <a:rPr lang="en-AU" sz="1200" dirty="0" smtClean="0"/>
              <a:t>Slowing down service – try to delay the service of drinks to a person, however this should not be obvious as it may frustrate the customer </a:t>
            </a:r>
          </a:p>
          <a:p>
            <a:pPr lvl="0">
              <a:buFont typeface="Arial" pitchFamily="34" charset="0"/>
              <a:buChar char="•"/>
            </a:pPr>
            <a:r>
              <a:rPr lang="en-AU" sz="1200" dirty="0" smtClean="0"/>
              <a:t>Advise other staff – as to the amount of drinks the person has had or any concerns which you may </a:t>
            </a:r>
            <a:r>
              <a:rPr lang="en-AU" sz="1200" dirty="0" smtClean="0"/>
              <a:t>have.</a:t>
            </a:r>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situations can you handle?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might you wish to seek the assistance of others?</a:t>
            </a:r>
            <a:endParaRPr lang="en-AU" sz="1200" b="0" dirty="0" smtClean="0">
              <a:latin typeface="Helvetica" pitchFamily="34" charset="0"/>
            </a:endParaRPr>
          </a:p>
          <a:p>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endParaRPr lang="en-AU" sz="1200" dirty="0" smtClean="0"/>
          </a:p>
          <a:p>
            <a:pPr>
              <a:buFont typeface="Arial" pitchFamily="34" charset="0"/>
              <a:buChar char="•"/>
            </a:pPr>
            <a:r>
              <a:rPr lang="en-AU" sz="1200" b="0" kern="1200" baseline="0" dirty="0" smtClean="0">
                <a:solidFill>
                  <a:schemeClr val="tx1"/>
                </a:solidFill>
                <a:ea typeface="+mn-ea"/>
                <a:cs typeface="+mn-cs"/>
              </a:rPr>
              <a:t>Who would you seek assistance from:</a:t>
            </a:r>
          </a:p>
          <a:p>
            <a:pPr>
              <a:spcBef>
                <a:spcPts val="600"/>
              </a:spcBef>
              <a:spcAft>
                <a:spcPts val="1200"/>
              </a:spcAft>
              <a:buFont typeface="Arial" pitchFamily="34" charset="0"/>
              <a:buNone/>
            </a:pPr>
            <a:r>
              <a:rPr lang="en-AU" sz="1200" dirty="0" smtClean="0">
                <a:latin typeface="Helvetica" pitchFamily="34" charset="0"/>
              </a:rPr>
              <a:t>a) Inside the organisation</a:t>
            </a:r>
          </a:p>
          <a:p>
            <a:pPr>
              <a:spcBef>
                <a:spcPts val="600"/>
              </a:spcBef>
              <a:spcAft>
                <a:spcPts val="1200"/>
              </a:spcAft>
              <a:buFont typeface="Arial" pitchFamily="34" charset="0"/>
              <a:buNone/>
            </a:pPr>
            <a:r>
              <a:rPr lang="en-AU" sz="1200" dirty="0" smtClean="0">
                <a:latin typeface="Helvetica" pitchFamily="34" charset="0"/>
              </a:rPr>
              <a:t>b) Outside the organisation</a:t>
            </a:r>
          </a:p>
          <a:p>
            <a:pPr>
              <a:spcBef>
                <a:spcPts val="600"/>
              </a:spcBef>
              <a:spcAft>
                <a:spcPts val="1200"/>
              </a:spcAft>
              <a:buFont typeface="Arial" pitchFamily="34" charset="0"/>
              <a:buChar char="•"/>
            </a:pPr>
            <a:endParaRPr lang="en-AU" sz="1200" dirty="0" smtClean="0">
              <a:latin typeface="Helvetica" pitchFamily="34" charset="0"/>
            </a:endParaRPr>
          </a:p>
          <a:p>
            <a:pPr>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help would you need?</a:t>
            </a:r>
          </a:p>
          <a:p>
            <a:pPr>
              <a:spcBef>
                <a:spcPts val="600"/>
              </a:spcBef>
              <a:spcAft>
                <a:spcPts val="1200"/>
              </a:spcAft>
              <a:buFont typeface="Arial" pitchFamily="34" charset="0"/>
              <a:buChar char="•"/>
            </a:pPr>
            <a:r>
              <a:rPr lang="en-AU" sz="1200" baseline="0" dirty="0" smtClean="0">
                <a:latin typeface="Helvetica" pitchFamily="34" charset="0"/>
              </a:rPr>
              <a:t>How would you contact them?</a:t>
            </a:r>
            <a:endParaRPr lang="en-AU" sz="1200" dirty="0" smtClean="0">
              <a:latin typeface="Helvetica" pitchFamily="34" charset="0"/>
            </a:endParaRPr>
          </a:p>
          <a:p>
            <a:endParaRPr lang="en-AU" sz="1200" dirty="0" smtClean="0"/>
          </a:p>
          <a:p>
            <a:pPr>
              <a:buFont typeface="Arial" pitchFamily="34" charset="0"/>
              <a:buChar char="•"/>
            </a:pPr>
            <a:endParaRPr lang="en-AU" sz="1200" dirty="0" smtClean="0"/>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Discussion</a:t>
            </a:r>
          </a:p>
          <a:p>
            <a:pPr lvl="0"/>
            <a:endParaRPr lang="en-AU" sz="1200" b="1" kern="1200" baseline="0" dirty="0" smtClean="0">
              <a:solidFill>
                <a:schemeClr val="tx1"/>
              </a:solidFill>
              <a:ea typeface="+mn-ea"/>
              <a:cs typeface="+mn-cs"/>
            </a:endParaRPr>
          </a:p>
          <a:p>
            <a:pPr lvl="0"/>
            <a:r>
              <a:rPr lang="en-AU" sz="1200" b="1" kern="1200" baseline="0" dirty="0" smtClean="0">
                <a:solidFill>
                  <a:schemeClr val="tx1"/>
                </a:solidFill>
                <a:ea typeface="+mn-ea"/>
                <a:cs typeface="+mn-cs"/>
              </a:rPr>
              <a:t>Discuss the type of assistance these people can provide.</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Supervisor or Manager – they will make or authorise courses of action to take</a:t>
            </a:r>
          </a:p>
          <a:p>
            <a:pPr lvl="0">
              <a:buFont typeface="Arial" pitchFamily="34" charset="0"/>
              <a:buChar char="•"/>
            </a:pPr>
            <a:r>
              <a:rPr lang="en-AU" sz="1200" dirty="0" smtClean="0"/>
              <a:t>Security – they will have the expertise to deal with the manner</a:t>
            </a:r>
          </a:p>
          <a:p>
            <a:pPr lvl="0">
              <a:buFont typeface="Arial" pitchFamily="34" charset="0"/>
              <a:buChar char="•"/>
            </a:pPr>
            <a:r>
              <a:rPr lang="en-AU" sz="1200" dirty="0" smtClean="0"/>
              <a:t>DJ – they have the capacity to communicate not only with different authorities but can also communicate directly to the patrons within the </a:t>
            </a:r>
            <a:r>
              <a:rPr lang="en-AU" sz="1200" dirty="0" smtClean="0"/>
              <a:t>venue.</a:t>
            </a:r>
            <a:endParaRPr lang="en-AU" sz="120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Which is the best way to communicate?</a:t>
            </a:r>
          </a:p>
          <a:p>
            <a:pPr lvl="0">
              <a:buFont typeface="Arial" pitchFamily="34" charset="0"/>
              <a:buChar char="•"/>
            </a:pPr>
            <a:r>
              <a:rPr lang="en-AU" sz="1200" b="0" kern="1200" baseline="0" dirty="0" smtClean="0">
                <a:solidFill>
                  <a:schemeClr val="tx1"/>
                </a:solidFill>
                <a:ea typeface="+mn-ea"/>
                <a:cs typeface="+mn-cs"/>
              </a:rPr>
              <a:t>Are there any other ways to communicate to these people?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Discussion</a:t>
            </a:r>
          </a:p>
          <a:p>
            <a:pPr lvl="0"/>
            <a:endParaRPr lang="en-AU" sz="1200" b="1" kern="1200" baseline="0" dirty="0" smtClean="0">
              <a:solidFill>
                <a:schemeClr val="tx1"/>
              </a:solidFill>
              <a:ea typeface="+mn-ea"/>
              <a:cs typeface="+mn-cs"/>
            </a:endParaRPr>
          </a:p>
          <a:p>
            <a:pPr lvl="0"/>
            <a:r>
              <a:rPr lang="en-AU" sz="1200" b="1" kern="1200" baseline="0" dirty="0" smtClean="0">
                <a:solidFill>
                  <a:schemeClr val="tx1"/>
                </a:solidFill>
                <a:ea typeface="+mn-ea"/>
                <a:cs typeface="+mn-cs"/>
              </a:rPr>
              <a:t>Discuss the type of assistance these people can provide.</a:t>
            </a:r>
          </a:p>
          <a:p>
            <a:pPr lvl="0"/>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Police – in the event of any activity that is breaking the law or likely to increase the risk of harm to all patrons and staff</a:t>
            </a:r>
          </a:p>
          <a:p>
            <a:pPr lvl="0">
              <a:buFont typeface="Arial" pitchFamily="34" charset="0"/>
              <a:buChar char="•"/>
            </a:pPr>
            <a:r>
              <a:rPr lang="en-AU" sz="1200" kern="1200" dirty="0" smtClean="0">
                <a:solidFill>
                  <a:schemeClr val="tx1"/>
                </a:solidFill>
                <a:ea typeface="+mn-ea"/>
                <a:cs typeface="+mn-cs"/>
              </a:rPr>
              <a:t>Fire – if there appears to be a likelihood of fire </a:t>
            </a:r>
          </a:p>
          <a:p>
            <a:pPr lvl="0">
              <a:buFont typeface="Arial" pitchFamily="34" charset="0"/>
              <a:buChar char="•"/>
            </a:pPr>
            <a:r>
              <a:rPr lang="en-AU" sz="1200" kern="1200" dirty="0" smtClean="0">
                <a:solidFill>
                  <a:schemeClr val="tx1"/>
                </a:solidFill>
                <a:ea typeface="+mn-ea"/>
                <a:cs typeface="+mn-cs"/>
              </a:rPr>
              <a:t>Ambulance – in the event a person requires medical </a:t>
            </a:r>
            <a:r>
              <a:rPr lang="en-AU" sz="1200" kern="1200" dirty="0" smtClean="0">
                <a:solidFill>
                  <a:schemeClr val="tx1"/>
                </a:solidFill>
                <a:ea typeface="+mn-ea"/>
                <a:cs typeface="+mn-cs"/>
              </a:rPr>
              <a:t>assistance.</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Which is the best way to communicate?</a:t>
            </a:r>
          </a:p>
          <a:p>
            <a:pPr lvl="0">
              <a:buFont typeface="Arial" pitchFamily="34" charset="0"/>
              <a:buChar char="•"/>
            </a:pPr>
            <a:r>
              <a:rPr lang="en-AU" sz="1200" b="0" kern="1200" baseline="0" dirty="0" smtClean="0">
                <a:solidFill>
                  <a:schemeClr val="tx1"/>
                </a:solidFill>
                <a:ea typeface="+mn-ea"/>
                <a:cs typeface="+mn-cs"/>
              </a:rPr>
              <a:t>Are there any other ways to communicate to these people?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best ways to handle intoxicated people?</a:t>
            </a:r>
          </a:p>
          <a:p>
            <a:pPr>
              <a:buFont typeface="Arial" pitchFamily="34" charset="0"/>
              <a:buChar char="•"/>
            </a:pPr>
            <a:r>
              <a:rPr lang="en-AU" sz="1200" kern="1200" baseline="0" dirty="0" smtClean="0">
                <a:solidFill>
                  <a:schemeClr val="tx1"/>
                </a:solidFill>
                <a:ea typeface="+mn-ea"/>
                <a:cs typeface="+mn-cs"/>
              </a:rPr>
              <a:t>Who should be responsible for doing this?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a:t>
            </a:r>
            <a:r>
              <a:rPr lang="en-AU" sz="1200" dirty="0" smtClean="0">
                <a:latin typeface="Helvetica" pitchFamily="34" charset="0"/>
              </a:rPr>
              <a:t> would you consider to be acceptable behaviour and actions?</a:t>
            </a:r>
          </a:p>
          <a:p>
            <a:pPr lvl="0">
              <a:buFont typeface="Arial" pitchFamily="34" charset="0"/>
              <a:buChar char="•"/>
            </a:pPr>
            <a:r>
              <a:rPr lang="en-AU" sz="1200" dirty="0" smtClean="0">
                <a:latin typeface="Helvetica" pitchFamily="34" charset="0"/>
              </a:rPr>
              <a:t>What measures would you put into place to ensure patrons can enjoy the facility?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How do create a safe and responsible drinking environment?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influences drinking behaviour?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influence can management and staff have?</a:t>
            </a:r>
          </a:p>
          <a:p>
            <a:pPr lvl="0">
              <a:buFont typeface="Arial" pitchFamily="34" charset="0"/>
              <a:buChar char="•"/>
            </a:pPr>
            <a:r>
              <a:rPr lang="en-AU" sz="1200" b="0" kern="1200" baseline="0" dirty="0" smtClean="0">
                <a:solidFill>
                  <a:schemeClr val="tx1"/>
                </a:solidFill>
                <a:ea typeface="+mn-ea"/>
                <a:cs typeface="+mn-cs"/>
              </a:rPr>
              <a:t>How can you </a:t>
            </a:r>
            <a:r>
              <a:rPr lang="en-AU" sz="1200" dirty="0" smtClean="0"/>
              <a:t>promote</a:t>
            </a:r>
            <a:r>
              <a:rPr lang="en-AU" sz="1200" baseline="0" dirty="0" smtClean="0"/>
              <a:t> </a:t>
            </a:r>
            <a:r>
              <a:rPr lang="en-AU" sz="1200" dirty="0" smtClean="0"/>
              <a:t>drinking behaviour?</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you </a:t>
            </a:r>
            <a:r>
              <a:rPr lang="en-AU" sz="1200" dirty="0" smtClean="0"/>
              <a:t>encourage</a:t>
            </a:r>
            <a:r>
              <a:rPr lang="en-AU" sz="1200" baseline="0" dirty="0" smtClean="0"/>
              <a:t> </a:t>
            </a:r>
            <a:r>
              <a:rPr lang="en-AU" sz="1200" dirty="0" smtClean="0"/>
              <a:t>drinking behaviour?</a:t>
            </a:r>
            <a:endParaRPr lang="en-US"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you </a:t>
            </a:r>
            <a:r>
              <a:rPr lang="en-AU" sz="1200" dirty="0" smtClean="0"/>
              <a:t>control drinking behaviour?</a:t>
            </a:r>
            <a:endParaRPr lang="en-US" dirty="0" smtClean="0"/>
          </a:p>
          <a:p>
            <a:pPr lvl="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the three factors and how you can influence them?</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The drink - the amount and strength of alcohol </a:t>
            </a:r>
          </a:p>
          <a:p>
            <a:pPr lvl="0">
              <a:buFont typeface="Arial" pitchFamily="34" charset="0"/>
              <a:buChar char="•"/>
            </a:pPr>
            <a:r>
              <a:rPr lang="en-AU" sz="1200" dirty="0" smtClean="0"/>
              <a:t>The drinker - the characteristics of the person drinking the alcohol and his or her state of mind and personal circumstances </a:t>
            </a:r>
          </a:p>
          <a:p>
            <a:pPr lvl="0">
              <a:buFont typeface="Arial" pitchFamily="34" charset="0"/>
              <a:buChar char="•"/>
            </a:pPr>
            <a:r>
              <a:rPr lang="en-AU" sz="1200" dirty="0" smtClean="0"/>
              <a:t>The environment - the atmosphere and prevailing rules of the establishment where the drinking is taking place. This could be a sports area, dancing area or a quieter dining or bistro area. The layout of the premises, whether there are more people sitting or standing, the lighting and the music are all things that create the drinking environment.</a:t>
            </a:r>
          </a:p>
          <a:p>
            <a:pPr lvl="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What positive factors</a:t>
            </a:r>
            <a:r>
              <a:rPr lang="en-AU" sz="1200" baseline="0" dirty="0" smtClean="0"/>
              <a:t> exist?</a:t>
            </a:r>
          </a:p>
          <a:p>
            <a:pPr lvl="0">
              <a:buFont typeface="Arial" pitchFamily="34" charset="0"/>
              <a:buChar char="•"/>
            </a:pPr>
            <a:r>
              <a:rPr lang="en-AU" sz="1200" baseline="0" dirty="0" smtClean="0"/>
              <a:t>What negative factors exist?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the positive factors</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What else</a:t>
            </a:r>
            <a:r>
              <a:rPr lang="en-AU" sz="1200" baseline="0" dirty="0" smtClean="0"/>
              <a:t> can contribute positively when creating atmosphere?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the positive factors</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What else</a:t>
            </a:r>
            <a:r>
              <a:rPr lang="en-AU" sz="1200" baseline="0" dirty="0" smtClean="0"/>
              <a:t> can contribute positively when creating atmosphere?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the negative factors</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What else</a:t>
            </a:r>
            <a:r>
              <a:rPr lang="en-AU" sz="1200" baseline="0" dirty="0" smtClean="0"/>
              <a:t> can contribute negatively when creating atmosphere?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the negative factors</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What else</a:t>
            </a:r>
            <a:r>
              <a:rPr lang="en-AU" sz="1200" baseline="0" dirty="0" smtClean="0"/>
              <a:t> can contribute negatively when creating atmosphere?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the negative factors</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What else</a:t>
            </a:r>
            <a:r>
              <a:rPr lang="en-AU" sz="1200" baseline="0" dirty="0" smtClean="0"/>
              <a:t> can contribute negatively when creating atmosphere?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the negative factors</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Why</a:t>
            </a:r>
            <a:r>
              <a:rPr lang="en-AU" sz="1200" baseline="0" dirty="0" smtClean="0"/>
              <a:t> is it important to continuously monitor the situation?</a:t>
            </a:r>
          </a:p>
          <a:p>
            <a:pPr lvl="0">
              <a:buFont typeface="Arial" pitchFamily="34" charset="0"/>
              <a:buChar char="•"/>
            </a:pPr>
            <a:r>
              <a:rPr lang="en-AU" sz="1200" baseline="0" dirty="0" smtClean="0"/>
              <a:t>Who should be doing it?</a:t>
            </a:r>
          </a:p>
          <a:p>
            <a:pPr lvl="0">
              <a:buFont typeface="Arial" pitchFamily="34" charset="0"/>
              <a:buChar char="•"/>
            </a:pPr>
            <a:r>
              <a:rPr lang="en-AU" sz="1200" baseline="0" dirty="0" smtClean="0"/>
              <a:t>How can it be done?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Why</a:t>
            </a:r>
            <a:r>
              <a:rPr lang="en-AU" sz="1200" baseline="0" dirty="0" smtClean="0"/>
              <a:t> policies would you introduce?</a:t>
            </a:r>
          </a:p>
          <a:p>
            <a:pPr lvl="0">
              <a:buFont typeface="Arial" pitchFamily="34" charset="0"/>
              <a:buChar char="•"/>
            </a:pPr>
            <a:r>
              <a:rPr lang="en-AU" sz="1200" baseline="0" dirty="0" smtClean="0"/>
              <a:t>What procedures would you introduce?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dirty="0" smtClean="0"/>
              <a:t>What is a ‘house policy’?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aseline="0" dirty="0" smtClean="0"/>
              <a:t>What should be included in a ‘house policy’?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aseline="0" dirty="0" smtClean="0"/>
              <a:t>What else should be included in a ‘house policy’?</a:t>
            </a:r>
          </a:p>
          <a:p>
            <a:pPr lvl="0">
              <a:buFont typeface="Arial" pitchFamily="34" charset="0"/>
              <a:buChar char="•"/>
            </a:pPr>
            <a:r>
              <a:rPr lang="en-AU" sz="1200" baseline="0" dirty="0" smtClean="0"/>
              <a:t>What would be different inclusions for a restaurant, bar or nightclub?</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aseline="0" dirty="0" smtClean="0"/>
              <a:t>What signs would you have?</a:t>
            </a:r>
          </a:p>
          <a:p>
            <a:pPr lvl="0">
              <a:buFont typeface="Arial" pitchFamily="34" charset="0"/>
              <a:buChar char="•"/>
            </a:pPr>
            <a:r>
              <a:rPr lang="en-AU" sz="1200" baseline="0" dirty="0" smtClean="0"/>
              <a:t>Where would you place them for maximum visibility?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aseline="0" dirty="0" smtClean="0"/>
              <a:t>What would you have escalation plans about? (such as fights, major injury or death of patron)</a:t>
            </a:r>
          </a:p>
          <a:p>
            <a:pPr lvl="0">
              <a:buFont typeface="Arial" pitchFamily="34" charset="0"/>
              <a:buChar char="•"/>
            </a:pPr>
            <a:r>
              <a:rPr lang="en-AU" sz="1200" baseline="0" dirty="0" smtClean="0"/>
              <a:t>What would be some steps in these escalation plans?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aseline="0" dirty="0" smtClean="0"/>
              <a:t>What causes drink spiking?</a:t>
            </a:r>
          </a:p>
          <a:p>
            <a:pPr lvl="0">
              <a:buFont typeface="Arial" pitchFamily="34" charset="0"/>
              <a:buChar char="•"/>
            </a:pPr>
            <a:r>
              <a:rPr lang="en-AU" sz="1200" baseline="0" dirty="0" smtClean="0"/>
              <a:t>Why does it take place?</a:t>
            </a:r>
          </a:p>
          <a:p>
            <a:pPr lvl="0">
              <a:buFont typeface="Arial" pitchFamily="34" charset="0"/>
              <a:buChar char="•"/>
            </a:pPr>
            <a:r>
              <a:rPr lang="en-AU" sz="1200" baseline="0" dirty="0" smtClean="0"/>
              <a:t>Who normally does it?</a:t>
            </a:r>
          </a:p>
          <a:p>
            <a:pPr lvl="0">
              <a:buFont typeface="Arial" pitchFamily="34" charset="0"/>
              <a:buChar char="•"/>
            </a:pPr>
            <a:r>
              <a:rPr lang="en-AU" sz="1200" baseline="0" dirty="0" smtClean="0"/>
              <a:t>Who is normally the victim?</a:t>
            </a:r>
          </a:p>
          <a:p>
            <a:pPr lvl="0">
              <a:buFont typeface="Arial" pitchFamily="34" charset="0"/>
              <a:buChar char="•"/>
            </a:pPr>
            <a:r>
              <a:rPr lang="en-AU" sz="1200" baseline="0" dirty="0" smtClean="0"/>
              <a:t>How can a premises control or eliminate it?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aseline="0" dirty="0" smtClean="0"/>
              <a:t>What else can you do?</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aseline="0" dirty="0" smtClean="0"/>
              <a:t>Answer the question in the </a:t>
            </a:r>
            <a:r>
              <a:rPr lang="en-AU" sz="1200" baseline="0" dirty="0" smtClean="0"/>
              <a:t>slide.</a:t>
            </a:r>
            <a:endParaRPr lang="en-AU" sz="120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aseline="0" dirty="0" smtClean="0"/>
              <a:t>Answer the questions in the </a:t>
            </a:r>
            <a:r>
              <a:rPr lang="en-AU" sz="1200" baseline="0" dirty="0" smtClean="0"/>
              <a:t>slide.</a:t>
            </a:r>
            <a:endParaRPr lang="en-AU" sz="120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aseline="0" dirty="0" smtClean="0"/>
              <a:t>What steps would you follow when </a:t>
            </a:r>
            <a:r>
              <a:rPr lang="en-AU" sz="1200" dirty="0" smtClean="0">
                <a:latin typeface="Helvetica" pitchFamily="34" charset="0"/>
              </a:rPr>
              <a:t>handling intoxicated persons?</a:t>
            </a:r>
            <a:endParaRPr lang="en-AU" sz="120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lvl="0"/>
            <a:r>
              <a:rPr lang="en-AU" sz="1200" b="1" kern="1200" baseline="0" dirty="0" smtClean="0">
                <a:solidFill>
                  <a:schemeClr val="tx1"/>
                </a:solidFill>
                <a:ea typeface="+mn-ea"/>
                <a:cs typeface="+mn-cs"/>
              </a:rPr>
              <a:t>Class Activity – Explain these steps</a:t>
            </a:r>
          </a:p>
          <a:p>
            <a:pPr lvl="0"/>
            <a:endParaRPr lang="en-AU" sz="1200" b="1" kern="1200" baseline="0" dirty="0" smtClean="0">
              <a:solidFill>
                <a:schemeClr val="tx1"/>
              </a:solidFill>
              <a:ea typeface="+mn-ea"/>
              <a:cs typeface="+mn-cs"/>
            </a:endParaRPr>
          </a:p>
          <a:p>
            <a:r>
              <a:rPr lang="en-AU" sz="1200" b="1" kern="1200" dirty="0" smtClean="0">
                <a:solidFill>
                  <a:schemeClr val="tx1"/>
                </a:solidFill>
                <a:ea typeface="+mn-ea"/>
                <a:cs typeface="+mn-cs"/>
              </a:rPr>
              <a:t>Tell early</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If staff are aware of early signs of intoxication, they are able to help provide assistance to customers which enables them to still enjoy their experience. Some of these types of assistance were identified in Section </a:t>
            </a:r>
            <a:r>
              <a:rPr lang="en-AU" sz="1200" kern="1200" dirty="0" smtClean="0">
                <a:solidFill>
                  <a:schemeClr val="tx1"/>
                </a:solidFill>
                <a:ea typeface="+mn-ea"/>
                <a:cs typeface="+mn-cs"/>
              </a:rPr>
              <a:t>1.1.</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Avoid put-downs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You must be respectful in your approach with people. Do not judge them or talk down to them. </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Keep calm</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Whilst it is not uncommon for intoxicated persons to talk in a rude manner to you, remember you are just doing your job and try not to take the comments personally. Try to use a calm and controlled voice. You don’t want to use loud or threatening words or tones which can further escalate the </a:t>
            </a:r>
            <a:r>
              <a:rPr lang="en-AU" sz="1200" kern="1200" dirty="0" smtClean="0">
                <a:solidFill>
                  <a:schemeClr val="tx1"/>
                </a:solidFill>
                <a:ea typeface="+mn-ea"/>
                <a:cs typeface="+mn-cs"/>
              </a:rPr>
              <a:t>problem.</a:t>
            </a:r>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  </a:t>
            </a:r>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Ever courteous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Regardless of the way that you may be treated by a specific customer, you must respect the customer and be professional and polite</a:t>
            </a:r>
            <a:r>
              <a:rPr lang="en-AU" sz="1200" kern="1200" dirty="0" smtClean="0">
                <a:solidFill>
                  <a:schemeClr val="tx1"/>
                </a:solidFill>
                <a:ea typeface="+mn-ea"/>
                <a:cs typeface="+mn-cs"/>
              </a:rPr>
              <a:t>.</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Don’t be confrontational and demeaning about the person. Your role is to explain why you are taking a certain approach. Normally this involves identifying how a person may be breaking the law</a:t>
            </a:r>
            <a:r>
              <a:rPr lang="en-AU" sz="1200" kern="1200" dirty="0" smtClean="0">
                <a:solidFill>
                  <a:schemeClr val="tx1"/>
                </a:solidFill>
                <a:ea typeface="+mn-ea"/>
                <a:cs typeface="+mn-cs"/>
              </a:rPr>
              <a:t>.</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Clarify refusal</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You need to explain why a person may be refused a beverage, entry into the premises or the right to remain on the premises. Be practical in your explanation and stick to the facts. Don’t get emotional or personal about the intoxicated patron. You may merely state that at this time, the law requires them to follow a certain action. You may want to remind the person they are welcome back when they abide by the law</a:t>
            </a:r>
            <a:r>
              <a:rPr lang="en-AU" sz="1200" kern="1200" dirty="0" smtClean="0">
                <a:solidFill>
                  <a:schemeClr val="tx1"/>
                </a:solidFill>
                <a:ea typeface="+mn-ea"/>
                <a:cs typeface="+mn-cs"/>
              </a:rPr>
              <a:t>.</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Alternatives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If handled in a prompt manner, a staff member will be able to provide and explain a range of alternatives including switching to soft drinks or eating a meal, which will allow the customer to remain on the premises. At least you have placed some responsibility back in the customer’s hands in relations to their actions</a:t>
            </a:r>
            <a:r>
              <a:rPr lang="en-AU" sz="1200" kern="1200" dirty="0" smtClean="0">
                <a:solidFill>
                  <a:schemeClr val="tx1"/>
                </a:solidFill>
                <a:ea typeface="+mn-ea"/>
                <a:cs typeface="+mn-cs"/>
              </a:rPr>
              <a:t>.</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Report</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Ensure other people are aware of what is happening. For legal reasons you may be required to keep a written record of events as they happen and the approach taken</a:t>
            </a:r>
            <a:r>
              <a:rPr lang="en-AU" sz="1200" kern="1200" dirty="0" smtClean="0">
                <a:solidFill>
                  <a:schemeClr val="tx1"/>
                </a:solidFill>
                <a:ea typeface="+mn-ea"/>
                <a:cs typeface="+mn-cs"/>
              </a:rPr>
              <a:t>.</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Echo</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You may wish to notify a friend of the intoxicated person why certain actions are taking place. They may be in a more controlled state and understand the situation more clearly. They can also become an ally when dealing with the intoxicated person</a:t>
            </a:r>
            <a:r>
              <a:rPr lang="en-AU" sz="1200" kern="1200" dirty="0" smtClean="0">
                <a:solidFill>
                  <a:schemeClr val="tx1"/>
                </a:solidFill>
                <a:ea typeface="+mn-ea"/>
                <a:cs typeface="+mn-cs"/>
              </a:rPr>
              <a:t>.</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If the customer is a regular, you may wish to explain your actions and the reasons behind it when they next return and in a clearer frame of mind to avoid a re-occurrence</a:t>
            </a:r>
            <a:r>
              <a:rPr lang="en-AU" sz="1200" kern="1200" dirty="0" smtClean="0">
                <a:solidFill>
                  <a:schemeClr val="tx1"/>
                </a:solidFill>
                <a:ea typeface="+mn-ea"/>
                <a:cs typeface="+mn-cs"/>
              </a:rPr>
              <a:t>.</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is the best way to handle complaints?</a:t>
            </a:r>
          </a:p>
          <a:p>
            <a:pPr lvl="0">
              <a:buFont typeface="Arial" pitchFamily="34" charset="0"/>
              <a:buChar char="•"/>
            </a:pPr>
            <a:r>
              <a:rPr lang="en-AU" sz="1200" b="0" kern="1200" baseline="0" dirty="0" smtClean="0">
                <a:solidFill>
                  <a:schemeClr val="tx1"/>
                </a:solidFill>
                <a:ea typeface="+mn-ea"/>
                <a:cs typeface="+mn-cs"/>
              </a:rPr>
              <a:t>What steps would you follow?</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Role play</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Trainer to get the audience to come up with logical and illogical </a:t>
            </a:r>
            <a:r>
              <a:rPr lang="en-AU" sz="1200" b="0" kern="1200" baseline="0" dirty="0" smtClean="0">
                <a:solidFill>
                  <a:schemeClr val="tx1"/>
                </a:solidFill>
                <a:ea typeface="+mn-ea"/>
                <a:cs typeface="+mn-cs"/>
              </a:rPr>
              <a:t>complaints</a:t>
            </a:r>
            <a:endParaRPr lang="en-AU" sz="1200" b="0"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Role play using the steps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Role play</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How can you calm someone who is very angry?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Role play</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How can you handle large groups to ensure they drink in a responsible manner?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Discuss the steps associated with handling large single sex groups.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Discuss the steps associated with handling large single sex groups.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Discuss the steps associated with handling large single sex groups.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Discuss the steps associated with handling domestic arguments?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Discuss the steps associated with handling domestic arguments?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Discuss the steps associated with games or sports related problems?</a:t>
            </a:r>
          </a:p>
          <a:p>
            <a:pPr lvl="0">
              <a:buFont typeface="Arial" pitchFamily="34" charset="0"/>
              <a:buChar char="•"/>
            </a:pPr>
            <a:r>
              <a:rPr lang="en-AU" sz="1200" b="0" kern="1200" baseline="0" dirty="0" smtClean="0">
                <a:solidFill>
                  <a:schemeClr val="tx1"/>
                </a:solidFill>
                <a:ea typeface="+mn-ea"/>
                <a:cs typeface="+mn-cs"/>
              </a:rPr>
              <a:t>Why are these problems common?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other behaviour warrants someone to leave the premises?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and role play someone being asked to leave the premises</a:t>
            </a:r>
          </a:p>
          <a:p>
            <a:pPr lvl="0"/>
            <a:endParaRPr lang="en-AU" sz="1200" b="1" kern="1200" baseline="0" dirty="0" smtClean="0">
              <a:solidFill>
                <a:schemeClr val="tx1"/>
              </a:solidFill>
              <a:ea typeface="+mn-ea"/>
              <a:cs typeface="+mn-cs"/>
            </a:endParaRPr>
          </a:p>
          <a:p>
            <a:r>
              <a:rPr lang="en-AU" sz="1200" b="1" kern="1200" dirty="0" smtClean="0">
                <a:solidFill>
                  <a:schemeClr val="tx1"/>
                </a:solidFill>
                <a:ea typeface="+mn-ea"/>
                <a:cs typeface="+mn-cs"/>
              </a:rPr>
              <a:t>Steps when asking someone to leave</a:t>
            </a:r>
          </a:p>
          <a:p>
            <a:pPr lvl="0">
              <a:buFont typeface="Arial" pitchFamily="34" charset="0"/>
              <a:buChar char="•"/>
            </a:pPr>
            <a:r>
              <a:rPr lang="en-AU" sz="1200" kern="1200" dirty="0" smtClean="0">
                <a:solidFill>
                  <a:schemeClr val="tx1"/>
                </a:solidFill>
                <a:ea typeface="+mn-ea"/>
                <a:cs typeface="+mn-cs"/>
              </a:rPr>
              <a:t>Final warning - The first step may be to give someone a final warning explaining their actions may lead to them being asked to leave</a:t>
            </a:r>
          </a:p>
          <a:p>
            <a:pPr lvl="0">
              <a:buFont typeface="Arial" pitchFamily="34" charset="0"/>
              <a:buChar char="•"/>
            </a:pPr>
            <a:r>
              <a:rPr lang="en-AU" sz="1200" kern="1200" dirty="0" smtClean="0">
                <a:solidFill>
                  <a:schemeClr val="tx1"/>
                </a:solidFill>
                <a:ea typeface="+mn-ea"/>
                <a:cs typeface="+mn-cs"/>
              </a:rPr>
              <a:t>Notifying friends – you may wish to notify a friend of the intoxicated person what is happening. Intoxicated people are more likely to listen to their own friends than those of </a:t>
            </a:r>
            <a:r>
              <a:rPr lang="en-AU" sz="1200" kern="1200" dirty="0" smtClean="0">
                <a:solidFill>
                  <a:schemeClr val="tx1"/>
                </a:solidFill>
                <a:ea typeface="+mn-ea"/>
                <a:cs typeface="+mn-cs"/>
              </a:rPr>
              <a:t>authority</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Identify transportation – you may wish to arrange a taxi for the person or identify suitable transportation, whether it is with one of their friends. Whilst it is not always a legal requirement, you do not want an intoxicated person in a situation where they are roaming the streets or trying to drive themselves home. Not only does this cause potential risk to the community, but may have legal ramifications on the </a:t>
            </a:r>
            <a:r>
              <a:rPr lang="en-AU" sz="1200" kern="1200" dirty="0" smtClean="0">
                <a:solidFill>
                  <a:schemeClr val="tx1"/>
                </a:solidFill>
                <a:ea typeface="+mn-ea"/>
                <a:cs typeface="+mn-cs"/>
              </a:rPr>
              <a:t>organisation</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Arrange assistance – before a person is being asked to leave you may wish to call upon others to either assist, monitor or actually undertake the </a:t>
            </a:r>
            <a:r>
              <a:rPr lang="en-AU" sz="1200" kern="1200" dirty="0" smtClean="0">
                <a:solidFill>
                  <a:schemeClr val="tx1"/>
                </a:solidFill>
                <a:ea typeface="+mn-ea"/>
                <a:cs typeface="+mn-cs"/>
              </a:rPr>
              <a:t>process</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Explain why the person is being asked to leave – be professional and explain to the person why they must leave the premises. Normally notifying them that they are breaking the law is enough information.</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and role play someone being asked to leave the premises</a:t>
            </a:r>
          </a:p>
          <a:p>
            <a:pPr lvl="0"/>
            <a:endParaRPr lang="en-AU" sz="1200" b="1" kern="1200" baseline="0" dirty="0" smtClean="0">
              <a:solidFill>
                <a:schemeClr val="tx1"/>
              </a:solidFill>
              <a:ea typeface="+mn-ea"/>
              <a:cs typeface="+mn-cs"/>
            </a:endParaRPr>
          </a:p>
          <a:p>
            <a:r>
              <a:rPr lang="en-AU" sz="1200" b="1" kern="1200" dirty="0" smtClean="0">
                <a:solidFill>
                  <a:schemeClr val="tx1"/>
                </a:solidFill>
                <a:ea typeface="+mn-ea"/>
                <a:cs typeface="+mn-cs"/>
              </a:rPr>
              <a:t>Steps when asking someone to leave</a:t>
            </a:r>
          </a:p>
          <a:p>
            <a:pPr lvl="0">
              <a:buFont typeface="Arial" pitchFamily="34" charset="0"/>
              <a:buChar char="•"/>
            </a:pPr>
            <a:r>
              <a:rPr lang="en-AU" sz="1200" kern="1200" dirty="0" smtClean="0">
                <a:solidFill>
                  <a:schemeClr val="tx1"/>
                </a:solidFill>
                <a:ea typeface="+mn-ea"/>
                <a:cs typeface="+mn-cs"/>
              </a:rPr>
              <a:t>Explain transportation options – you may wish to notify the person how they will be getting home, once they have left the </a:t>
            </a:r>
            <a:r>
              <a:rPr lang="en-AU" sz="1200" kern="1200" dirty="0" smtClean="0">
                <a:solidFill>
                  <a:schemeClr val="tx1"/>
                </a:solidFill>
                <a:ea typeface="+mn-ea"/>
                <a:cs typeface="+mn-cs"/>
              </a:rPr>
              <a:t>premises</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Follow the person to the door – ensure the person has collected all their belongings. Do not touch the person as this may provoke them further and try to keep the process as discreet as possible</a:t>
            </a:r>
          </a:p>
          <a:p>
            <a:pPr lvl="0">
              <a:buFont typeface="Arial" pitchFamily="34" charset="0"/>
              <a:buChar char="•"/>
            </a:pPr>
            <a:r>
              <a:rPr lang="en-AU" sz="1200" kern="1200" dirty="0" smtClean="0">
                <a:solidFill>
                  <a:schemeClr val="tx1"/>
                </a:solidFill>
                <a:ea typeface="+mn-ea"/>
                <a:cs typeface="+mn-cs"/>
              </a:rPr>
              <a:t>Ensure the person is safely off the premises – hopefully this is in transportation or they have a friend who can ensure the person gets home </a:t>
            </a:r>
            <a:r>
              <a:rPr lang="en-AU" sz="1200" kern="1200" dirty="0" smtClean="0">
                <a:solidFill>
                  <a:schemeClr val="tx1"/>
                </a:solidFill>
                <a:ea typeface="+mn-ea"/>
                <a:cs typeface="+mn-cs"/>
              </a:rPr>
              <a:t>safely.</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When would you use security?</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would you call the police?</a:t>
            </a:r>
          </a:p>
          <a:p>
            <a:pPr lvl="0">
              <a:buFont typeface="Arial" pitchFamily="34" charset="0"/>
              <a:buChar cha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does ‘legislation’ mean?</a:t>
            </a:r>
          </a:p>
          <a:p>
            <a:pPr>
              <a:buFont typeface="Arial" pitchFamily="34" charset="0"/>
              <a:buChar char="•"/>
            </a:pPr>
            <a:r>
              <a:rPr lang="en-AU" sz="1200" kern="1200" baseline="0" dirty="0" smtClean="0">
                <a:solidFill>
                  <a:schemeClr val="tx1"/>
                </a:solidFill>
                <a:ea typeface="+mn-ea"/>
                <a:cs typeface="+mn-cs"/>
              </a:rPr>
              <a:t>What legislation applies to businesses who sell or supply alcohol?</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How can you ensure these three things?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would be good promotions to have?</a:t>
            </a:r>
          </a:p>
          <a:p>
            <a:pPr lvl="0">
              <a:buFont typeface="Arial" pitchFamily="34" charset="0"/>
              <a:buChar char="•"/>
            </a:pPr>
            <a:r>
              <a:rPr lang="en-AU" sz="1200" b="0" kern="1200" baseline="0" dirty="0" smtClean="0">
                <a:solidFill>
                  <a:schemeClr val="tx1"/>
                </a:solidFill>
                <a:ea typeface="+mn-ea"/>
                <a:cs typeface="+mn-cs"/>
              </a:rPr>
              <a:t>What areas of training would you conduct with staff?</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other tips would you have when handling intoxicated persons in a legal manner?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Have you ever drunk at an age which you shouldn’t have?</a:t>
            </a:r>
          </a:p>
          <a:p>
            <a:pPr lvl="0">
              <a:buFont typeface="Arial" pitchFamily="34" charset="0"/>
              <a:buChar char="•"/>
            </a:pPr>
            <a:r>
              <a:rPr lang="en-AU" sz="1200" b="0" kern="1200" baseline="0" dirty="0" smtClean="0">
                <a:solidFill>
                  <a:schemeClr val="tx1"/>
                </a:solidFill>
                <a:ea typeface="+mn-ea"/>
                <a:cs typeface="+mn-cs"/>
              </a:rPr>
              <a:t>Why?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How can you stop underage drinkers?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a:buFont typeface="Arial" pitchFamily="34" charset="0"/>
              <a:buChar char="•"/>
            </a:pPr>
            <a:r>
              <a:rPr lang="en-AU" sz="1200" b="0" dirty="0" smtClean="0">
                <a:latin typeface="Helvetica" pitchFamily="34" charset="0"/>
              </a:rPr>
              <a:t>What is the minimum drinking age in your country?</a:t>
            </a:r>
          </a:p>
          <a:p>
            <a:pPr>
              <a:buFont typeface="Arial" pitchFamily="34" charset="0"/>
              <a:buChar char="•"/>
            </a:pPr>
            <a:r>
              <a:rPr lang="en-AU" sz="1200" b="0" dirty="0" smtClean="0">
                <a:latin typeface="Helvetica" pitchFamily="34" charset="0"/>
              </a:rPr>
              <a:t>Why is the consumption of alcohol more dangerous to young people?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Remember back to when you were a minor, how did alcohol affect you?</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Remember back to when you were a minor, how did alcohol affect you?</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are the laws of your country when it comes to minors being able to:</a:t>
            </a:r>
          </a:p>
          <a:p>
            <a:pPr marL="228600" lvl="0" indent="-228600">
              <a:buFont typeface="Arial" pitchFamily="34" charset="0"/>
              <a:buAutoNum type="alphaLcParenR"/>
            </a:pPr>
            <a:r>
              <a:rPr lang="en-AU" sz="1200" b="0" kern="1200" baseline="0" dirty="0" smtClean="0">
                <a:solidFill>
                  <a:schemeClr val="tx1"/>
                </a:solidFill>
                <a:ea typeface="+mn-ea"/>
                <a:cs typeface="+mn-cs"/>
              </a:rPr>
              <a:t>Be in an area where alcohol is sold?</a:t>
            </a:r>
          </a:p>
          <a:p>
            <a:pPr marL="228600" lvl="0" indent="-228600">
              <a:buFont typeface="Arial" pitchFamily="34" charset="0"/>
              <a:buAutoNum type="alphaLcParenR"/>
            </a:pPr>
            <a:r>
              <a:rPr lang="en-AU" sz="1200" b="0" kern="1200" baseline="0" dirty="0" smtClean="0">
                <a:solidFill>
                  <a:schemeClr val="tx1"/>
                </a:solidFill>
                <a:ea typeface="+mn-ea"/>
                <a:cs typeface="+mn-cs"/>
              </a:rPr>
              <a:t>Able to buy or consume alcohol?</a:t>
            </a:r>
          </a:p>
          <a:p>
            <a:pPr marL="228600" lvl="0" indent="-228600">
              <a:buFont typeface="Arial" pitchFamily="34" charset="0"/>
              <a:buAutoNum type="alphaLcParenR"/>
            </a:pPr>
            <a:r>
              <a:rPr lang="en-AU" sz="1200" b="0" kern="1200" baseline="0" dirty="0" smtClean="0">
                <a:solidFill>
                  <a:schemeClr val="tx1"/>
                </a:solidFill>
                <a:ea typeface="+mn-ea"/>
                <a:cs typeface="+mn-cs"/>
              </a:rPr>
              <a:t>Need for a parent or custodian?</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Discuss the legal considerations stated in this slide</a:t>
            </a:r>
          </a:p>
          <a:p>
            <a:pPr lvl="0">
              <a:buFont typeface="Arial" pitchFamily="34" charset="0"/>
              <a:buChar char="•"/>
            </a:pPr>
            <a:r>
              <a:rPr lang="en-AU" sz="1200" b="0" kern="1200" baseline="0" dirty="0" smtClean="0">
                <a:solidFill>
                  <a:schemeClr val="tx1"/>
                </a:solidFill>
                <a:ea typeface="+mn-ea"/>
                <a:cs typeface="+mn-cs"/>
              </a:rPr>
              <a:t>Is it different in your country?</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Discuss the legal considerations stated in this slide</a:t>
            </a:r>
          </a:p>
          <a:p>
            <a:pPr lvl="0">
              <a:buFont typeface="Arial" pitchFamily="34" charset="0"/>
              <a:buChar char="•"/>
            </a:pPr>
            <a:r>
              <a:rPr lang="en-AU" sz="1200" b="0" kern="1200" baseline="0" dirty="0" smtClean="0">
                <a:solidFill>
                  <a:schemeClr val="tx1"/>
                </a:solidFill>
                <a:ea typeface="+mn-ea"/>
                <a:cs typeface="+mn-cs"/>
              </a:rPr>
              <a:t>Is it different in your country?</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Discuss the legal considerations stated in this slide</a:t>
            </a:r>
          </a:p>
          <a:p>
            <a:pPr lvl="0">
              <a:buFont typeface="Arial" pitchFamily="34" charset="0"/>
              <a:buChar char="•"/>
            </a:pPr>
            <a:r>
              <a:rPr lang="en-AU" sz="1200" b="0" kern="1200" baseline="0" dirty="0" smtClean="0">
                <a:solidFill>
                  <a:schemeClr val="tx1"/>
                </a:solidFill>
                <a:ea typeface="+mn-ea"/>
                <a:cs typeface="+mn-cs"/>
              </a:rPr>
              <a:t>Is it different in your country?</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How many places have a dedicated person to do this?</a:t>
            </a:r>
          </a:p>
          <a:p>
            <a:pPr lvl="0">
              <a:buFont typeface="Arial" pitchFamily="34" charset="0"/>
              <a:buChar char="•"/>
            </a:pPr>
            <a:r>
              <a:rPr lang="en-AU" sz="1200" b="0" kern="1200" baseline="0" dirty="0" smtClean="0">
                <a:solidFill>
                  <a:schemeClr val="tx1"/>
                </a:solidFill>
                <a:ea typeface="+mn-ea"/>
                <a:cs typeface="+mn-cs"/>
              </a:rPr>
              <a:t>How can this best be done if no dedicated people perform this task?</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are other acceptable forms of identification in your country?</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other measures can you do to ensure the document is acceptable?</a:t>
            </a:r>
          </a:p>
          <a:p>
            <a:pPr lvl="0">
              <a:buFont typeface="Arial" pitchFamily="34" charset="0"/>
              <a:buNone/>
            </a:pPr>
            <a:endParaRPr lang="en-AU" sz="1200" b="0" kern="1200" baseline="0" dirty="0" smtClean="0">
              <a:solidFill>
                <a:schemeClr val="tx1"/>
              </a:solidFill>
              <a:ea typeface="+mn-ea"/>
              <a:cs typeface="+mn-cs"/>
            </a:endParaRP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How can you ensure the person is the same as the documentation?</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are common types of fake identification used by underage people?</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is the best way to spot an underage person drinking?</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laws apply in your area?</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aspects of the law ensure ‘order and protection to public health’?</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stipulations can apply in relation to the sale and supply of alcohol?</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other stipulations apply which are specific to your country or location?</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a:t>
            </a:r>
          </a:p>
          <a:p>
            <a:pPr lvl="0"/>
            <a:endParaRPr lang="en-AU" sz="1200" b="1" kern="1200" baseline="0" dirty="0" smtClean="0">
              <a:solidFill>
                <a:schemeClr val="tx1"/>
              </a:solidFill>
              <a:ea typeface="+mn-ea"/>
              <a:cs typeface="+mn-cs"/>
            </a:endParaRPr>
          </a:p>
          <a:p>
            <a:pPr lvl="0"/>
            <a:r>
              <a:rPr lang="en-AU" sz="1200" b="0" kern="1200" baseline="0" dirty="0" smtClean="0">
                <a:solidFill>
                  <a:schemeClr val="tx1"/>
                </a:solidFill>
                <a:ea typeface="+mn-ea"/>
                <a:cs typeface="+mn-cs"/>
              </a:rPr>
              <a:t>Discuss points.</a:t>
            </a:r>
          </a:p>
          <a:p>
            <a:pPr lvl="0"/>
            <a:endParaRPr lang="en-AU" sz="1200" b="1" kern="1200" baseline="0" dirty="0" smtClean="0">
              <a:solidFill>
                <a:schemeClr val="tx1"/>
              </a:solidFill>
              <a:ea typeface="+mn-ea"/>
              <a:cs typeface="+mn-cs"/>
            </a:endParaRP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types of training would you give to staff who need to sell or serve alcohol?</a:t>
            </a:r>
          </a:p>
          <a:p>
            <a:pPr lvl="0">
              <a:buFont typeface="Arial" pitchFamily="34" charset="0"/>
              <a:buChar char="•"/>
            </a:pPr>
            <a:r>
              <a:rPr lang="en-AU" sz="1200" b="0" kern="1200" baseline="0" dirty="0" smtClean="0">
                <a:solidFill>
                  <a:schemeClr val="tx1"/>
                </a:solidFill>
                <a:ea typeface="+mn-ea"/>
                <a:cs typeface="+mn-cs"/>
              </a:rPr>
              <a:t>Who would do this training?</a:t>
            </a:r>
          </a:p>
          <a:p>
            <a:pPr lvl="0">
              <a:buFont typeface="Arial" pitchFamily="34" charset="0"/>
              <a:buChar char="•"/>
            </a:pPr>
            <a:r>
              <a:rPr lang="en-AU" sz="1200" b="0" kern="1200" baseline="0" dirty="0" smtClean="0">
                <a:solidFill>
                  <a:schemeClr val="tx1"/>
                </a:solidFill>
                <a:ea typeface="+mn-ea"/>
                <a:cs typeface="+mn-cs"/>
              </a:rPr>
              <a:t>Where would it be done?</a:t>
            </a:r>
          </a:p>
          <a:p>
            <a:pPr lvl="0"/>
            <a:endParaRPr lang="en-AU" sz="1200" b="1" kern="1200" baseline="0" dirty="0" smtClean="0">
              <a:solidFill>
                <a:schemeClr val="tx1"/>
              </a:solidFill>
              <a:ea typeface="+mn-ea"/>
              <a:cs typeface="+mn-cs"/>
            </a:endParaRP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other requirements are there for staff?</a:t>
            </a:r>
          </a:p>
          <a:p>
            <a:pPr lvl="0"/>
            <a:endParaRPr lang="en-AU" sz="1200" b="1" kern="1200" baseline="0" dirty="0" smtClean="0">
              <a:solidFill>
                <a:schemeClr val="tx1"/>
              </a:solidFill>
              <a:ea typeface="+mn-ea"/>
              <a:cs typeface="+mn-cs"/>
            </a:endParaRP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Discuss the types of documents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are the benefits of having documentation?</a:t>
            </a:r>
          </a:p>
          <a:p>
            <a:pPr lvl="0">
              <a:buFont typeface="Arial" pitchFamily="34" charset="0"/>
              <a:buChar char="•"/>
            </a:pPr>
            <a:r>
              <a:rPr lang="en-AU" sz="1200" b="0" kern="1200" baseline="0" dirty="0" smtClean="0">
                <a:solidFill>
                  <a:schemeClr val="tx1"/>
                </a:solidFill>
                <a:ea typeface="+mn-ea"/>
                <a:cs typeface="+mn-cs"/>
              </a:rPr>
              <a:t>What is the purpose of each type of document?</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should be included in each type of document?</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Who should complete each type of document?</a:t>
            </a:r>
          </a:p>
          <a:p>
            <a:pPr lvl="0">
              <a:buFont typeface="Arial" pitchFamily="34" charset="0"/>
              <a:buChar char="•"/>
            </a:pPr>
            <a:endParaRPr lang="en-AU" sz="1200" b="0" kern="1200" baseline="0" dirty="0" smtClean="0">
              <a:solidFill>
                <a:schemeClr val="tx1"/>
              </a:solidFill>
              <a:ea typeface="+mn-ea"/>
              <a:cs typeface="+mn-cs"/>
            </a:endParaRPr>
          </a:p>
          <a:p>
            <a:pPr lvl="0">
              <a:buFont typeface="Arial" pitchFamily="34" charset="0"/>
              <a:buChar char="•"/>
            </a:pPr>
            <a:endParaRPr lang="en-AU" sz="1200" b="0" kern="1200" baseline="0" dirty="0" smtClean="0">
              <a:solidFill>
                <a:schemeClr val="tx1"/>
              </a:solidFill>
              <a:ea typeface="+mn-ea"/>
              <a:cs typeface="+mn-cs"/>
            </a:endParaRPr>
          </a:p>
          <a:p>
            <a:pPr lvl="0"/>
            <a:endParaRPr lang="en-AU" sz="1200" b="1" kern="1200" baseline="0" dirty="0" smtClean="0">
              <a:solidFill>
                <a:schemeClr val="tx1"/>
              </a:solidFill>
              <a:ea typeface="+mn-ea"/>
              <a:cs typeface="+mn-cs"/>
            </a:endParaRP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other reasons exist for recording incidents?</a:t>
            </a:r>
          </a:p>
          <a:p>
            <a:pPr lvl="0">
              <a:buFont typeface="Arial" pitchFamily="34" charset="0"/>
              <a:buChar char="•"/>
            </a:pPr>
            <a:r>
              <a:rPr lang="en-AU" sz="1200" b="0" kern="1200" baseline="0" dirty="0" smtClean="0">
                <a:solidFill>
                  <a:schemeClr val="tx1"/>
                </a:solidFill>
                <a:ea typeface="+mn-ea"/>
                <a:cs typeface="+mn-cs"/>
              </a:rPr>
              <a:t>Who else may use these documents?</a:t>
            </a:r>
          </a:p>
          <a:p>
            <a:pPr lvl="0">
              <a:buFont typeface="Arial" pitchFamily="34" charset="0"/>
              <a:buChar char="•"/>
            </a:pPr>
            <a:endParaRPr lang="en-AU" sz="1200" b="0" kern="1200" baseline="0" dirty="0" smtClean="0">
              <a:solidFill>
                <a:schemeClr val="tx1"/>
              </a:solidFill>
              <a:ea typeface="+mn-ea"/>
              <a:cs typeface="+mn-cs"/>
            </a:endParaRPr>
          </a:p>
          <a:p>
            <a:pPr lvl="0">
              <a:buFont typeface="Arial" pitchFamily="34" charset="0"/>
              <a:buChar char="•"/>
            </a:pPr>
            <a:endParaRPr lang="en-AU" sz="1200" b="0" kern="1200" baseline="0" dirty="0" smtClean="0">
              <a:solidFill>
                <a:schemeClr val="tx1"/>
              </a:solidFill>
              <a:ea typeface="+mn-ea"/>
              <a:cs typeface="+mn-cs"/>
            </a:endParaRPr>
          </a:p>
          <a:p>
            <a:pPr lvl="0"/>
            <a:endParaRPr lang="en-AU" sz="1200" b="1" kern="1200" baseline="0" dirty="0" smtClean="0">
              <a:solidFill>
                <a:schemeClr val="tx1"/>
              </a:solidFill>
              <a:ea typeface="+mn-ea"/>
              <a:cs typeface="+mn-cs"/>
            </a:endParaRP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Questions</a:t>
            </a:r>
          </a:p>
          <a:p>
            <a:pPr lvl="0"/>
            <a:endParaRPr lang="en-AU" sz="1200" b="1" kern="1200" baseline="0" dirty="0" smtClean="0">
              <a:solidFill>
                <a:schemeClr val="tx1"/>
              </a:solidFill>
              <a:ea typeface="+mn-ea"/>
              <a:cs typeface="+mn-cs"/>
            </a:endParaRPr>
          </a:p>
          <a:p>
            <a:pPr lvl="0">
              <a:buFont typeface="Arial" pitchFamily="34" charset="0"/>
              <a:buChar char="•"/>
            </a:pPr>
            <a:r>
              <a:rPr lang="en-AU" sz="1200" b="0" kern="1200" baseline="0" dirty="0" smtClean="0">
                <a:solidFill>
                  <a:schemeClr val="tx1"/>
                </a:solidFill>
                <a:ea typeface="+mn-ea"/>
                <a:cs typeface="+mn-cs"/>
              </a:rPr>
              <a:t>What other information would you wish to record?</a:t>
            </a:r>
          </a:p>
          <a:p>
            <a:pPr lvl="0">
              <a:buFont typeface="Arial" pitchFamily="34" charset="0"/>
              <a:buChar char="•"/>
            </a:pPr>
            <a:endParaRPr lang="en-AU" sz="1200" b="0" kern="1200" baseline="0" dirty="0" smtClean="0">
              <a:solidFill>
                <a:schemeClr val="tx1"/>
              </a:solidFill>
              <a:ea typeface="+mn-ea"/>
              <a:cs typeface="+mn-cs"/>
            </a:endParaRPr>
          </a:p>
          <a:p>
            <a:pPr lvl="0">
              <a:buFont typeface="Arial" pitchFamily="34" charset="0"/>
              <a:buChar char="•"/>
            </a:pPr>
            <a:endParaRPr lang="en-AU" sz="1200" b="0" kern="1200" baseline="0" dirty="0" smtClean="0">
              <a:solidFill>
                <a:schemeClr val="tx1"/>
              </a:solidFill>
              <a:ea typeface="+mn-ea"/>
              <a:cs typeface="+mn-cs"/>
            </a:endParaRPr>
          </a:p>
          <a:p>
            <a:pPr lvl="0"/>
            <a:endParaRPr lang="en-AU" sz="1200" b="1" kern="1200" baseline="0" dirty="0" smtClean="0">
              <a:solidFill>
                <a:schemeClr val="tx1"/>
              </a:solidFill>
              <a:ea typeface="+mn-ea"/>
              <a:cs typeface="+mn-cs"/>
            </a:endParaRP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a:t>
            </a:r>
            <a:r>
              <a:rPr lang="en-AU" sz="1200" kern="1200" baseline="0" dirty="0" smtClean="0">
                <a:solidFill>
                  <a:schemeClr val="tx1"/>
                </a:solidFill>
                <a:ea typeface="+mn-ea"/>
                <a:cs typeface="+mn-cs"/>
              </a:rPr>
              <a:t> is the conclusion of the subject.</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Thank the audience and deliver assessments as required.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5/7/2012</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5/7/2012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5/7/2012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5/7/2012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5/7/2012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5/7/2012</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5/7/2012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5/7/2012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5/7/2012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5/7/2012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5/7/2012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5/7/2012</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www.safetysign.com/images/catlog/product/large/F7476.png"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7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hyperlink" Target="http://www.google.com/imgres?imgurl=http://www.thegeminigeek.com/wp-content/uploads/2010/09/drinking-age.jpg&amp;imgrefurl=http://www.thegeminigeek.com/when-did-the-drinking-age-become-21/&amp;usg=__O1yJlNxTq7OBAF0GOUjPtSf8EAo=&amp;h=375&amp;w=375&amp;sz=46&amp;hl=en&amp;start=8&amp;zoom=1&amp;tbnid=eK354cDlKnJq2M:&amp;tbnh=122&amp;tbnw=122&amp;ei=zxyhT72GGsbJ0QWukL2hCA&amp;prev=/search?q=alcohol+and+age&amp;um=1&amp;hl=en&amp;sa=N&amp;rls=com.microsoft:*&amp;tbm=isch&amp;um=1&amp;itbs=1" TargetMode="External"/><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98.jpeg"/></Relationships>
</file>

<file path=ppt/slides/_rels/slide103.xml.rels><?xml version="1.0" encoding="UTF-8" standalone="yes"?>
<Relationships xmlns="http://schemas.openxmlformats.org/package/2006/relationships"><Relationship Id="rId3" Type="http://schemas.openxmlformats.org/officeDocument/2006/relationships/hyperlink" Target="http://www.google.com/imgres?imgurl=http://images.sodahead.com/polls/002287913/2559599176_Underage_Drinking_xlarge.jpeg&amp;imgrefurl=http://www.sodahead.com/living/at-what-age-did-you-first-drink-alcohol-howd-that-end/question-2287913/&amp;usg=__BjiD9uhaY66uhXcKymc7j2OCI5g=&amp;h=307&amp;w=262&amp;sz=16&amp;hl=en&amp;start=21&amp;zoom=1&amp;tbnid=uSR9gfwrNkwPwM:&amp;tbnh=117&amp;tbnw=100&amp;ei=zxyhT72GGsbJ0QWukL2hCA&amp;prev=/search?q=alcohol+and+age&amp;um=1&amp;hl=en&amp;sa=N&amp;rls=com.microsoft:*&amp;tbm=isch&amp;um=1&amp;itbs=1" TargetMode="External"/><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99.jpeg"/></Relationships>
</file>

<file path=ppt/slides/_rels/slide104.xml.rels><?xml version="1.0" encoding="UTF-8" standalone="yes"?>
<Relationships xmlns="http://schemas.openxmlformats.org/package/2006/relationships"><Relationship Id="rId3" Type="http://schemas.openxmlformats.org/officeDocument/2006/relationships/hyperlink" Target="http://www.google.com/imgres?imgurl=http://us.123rf.com/400wm/400/400/fintastique/fintastique0811/fintastique081100044/3817187-eighteen-years-alcohol-age-requirement-sign-with-beer-glasses-halftone-effect.jpg&amp;imgrefurl=http://www.123rf.com/photo_3817187_eighteen-years-alcohol-age-requirement-sign-with-beer-glasses-halftone-effect.html&amp;usg=__QT41r48QTpT_6oCBImS-YuTROLY=&amp;h=1200&amp;w=1200&amp;sz=140&amp;hl=en&amp;start=12&amp;zoom=1&amp;tbnid=tKDS-fqxFruLUM:&amp;tbnh=150&amp;tbnw=150&amp;ei=zxyhT72GGsbJ0QWukL2hCA&amp;prev=/search?q=alcohol+and+age&amp;um=1&amp;hl=en&amp;sa=N&amp;rls=com.microsoft:*&amp;tbm=isch&amp;um=1&amp;itbs=1" TargetMode="External"/><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100.jpeg"/></Relationships>
</file>

<file path=ppt/slides/_rels/slide105.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www.google.com/imgres?imgurl=http://www.alcoholtrainingsouthdakota.com/web/site_173_files/images/1273186709_mustbe21toEnter.png&amp;imgrefurl=http://www.alcoholtrainingsouthdakota.com/web/index.php?siteid=173&amp;pageid=976&amp;usg=__3XrbERc0GXEz_7ayFGCWMWNSFaQ=&amp;h=600&amp;w=480&amp;sz=12&amp;hl=en&amp;start=7&amp;zoom=1&amp;tbnid=e4W-KREQckSn-M:&amp;tbnh=135&amp;tbnw=108&amp;ei=5R-hT9GFEuO20QW4y7myCA&amp;prev=/search?q=drinking+age+laws&amp;um=1&amp;hl=en&amp;rls=com.microsoft:*&amp;tbm=isch&amp;um=1&amp;itbs=1" TargetMode="External"/><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103.jpeg"/></Relationships>
</file>

<file path=ppt/slides/_rels/slide108.xml.rels><?xml version="1.0" encoding="UTF-8" standalone="yes"?>
<Relationships xmlns="http://schemas.openxmlformats.org/package/2006/relationships"><Relationship Id="rId3" Type="http://schemas.openxmlformats.org/officeDocument/2006/relationships/hyperlink" Target="http://www.safetysign.com/images/catlog/product/large/F7476.png" TargetMode="External"/><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109.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hyperlink" Target="http://www.google.com/imgres?imgurl=http://allfacebook.com/files/2011/03/06fake.1841.jpeg&amp;imgrefurl=http://allfacebook.com/facebook-ad-targets-teenagers-looking-for-fake-ids_b34699&amp;usg=__NkqC-ynDuvlZTGlNNGrVqA-6wIo=&amp;h=207&amp;w=200&amp;sz=13&amp;hl=en&amp;start=6&amp;zoom=1&amp;tbnid=oyGWcRZcfIxegM:&amp;tbnh=105&amp;tbnw=101&amp;ei=1SOhT5a8FemQ0AWW3uisCA&amp;prev=/search?q=fake+identification&amp;um=1&amp;hl=en&amp;sa=N&amp;rls=com.microsoft:*&amp;tbm=isch&amp;um=1&amp;itbs=1" TargetMode="External"/><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image" Target="../media/image110.jpe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20" y="908720"/>
            <a:ext cx="7776192" cy="1285884"/>
          </a:xfrm>
        </p:spPr>
        <p:txBody>
          <a:bodyPr>
            <a:normAutofit fontScale="90000"/>
          </a:bodyPr>
          <a:lstStyle/>
          <a:p>
            <a:r>
              <a:rPr lang="en-AU" sz="4000" dirty="0" smtClean="0">
                <a:ln w="5000" cmpd="sng">
                  <a:noFill/>
                  <a:prstDash val="solid"/>
                </a:ln>
                <a:solidFill>
                  <a:srgbClr val="FF6600"/>
                </a:solidFill>
                <a:latin typeface="Helvetica" pitchFamily="34" charset="0"/>
              </a:rPr>
              <a:t>Manage intoxicated </a:t>
            </a:r>
            <a:r>
              <a:rPr lang="en-AU" sz="4000" dirty="0" smtClean="0">
                <a:ln w="5000" cmpd="sng">
                  <a:noFill/>
                  <a:prstDash val="solid"/>
                </a:ln>
                <a:solidFill>
                  <a:srgbClr val="FF6600"/>
                </a:solidFill>
                <a:latin typeface="Helvetica" pitchFamily="34" charset="0"/>
              </a:rPr>
              <a:t/>
            </a:r>
            <a:br>
              <a:rPr lang="en-AU" sz="4000" dirty="0" smtClean="0">
                <a:ln w="5000" cmpd="sng">
                  <a:noFill/>
                  <a:prstDash val="solid"/>
                </a:ln>
                <a:solidFill>
                  <a:srgbClr val="FF6600"/>
                </a:solidFill>
                <a:latin typeface="Helvetica" pitchFamily="34" charset="0"/>
              </a:rPr>
            </a:br>
            <a:r>
              <a:rPr lang="en-AU" sz="4000" dirty="0" smtClean="0">
                <a:ln w="5000" cmpd="sng">
                  <a:noFill/>
                  <a:prstDash val="solid"/>
                </a:ln>
                <a:solidFill>
                  <a:srgbClr val="FF6600"/>
                </a:solidFill>
                <a:latin typeface="Helvetica" pitchFamily="34" charset="0"/>
              </a:rPr>
              <a:t>persons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195664" y="1992830"/>
            <a:ext cx="2469260" cy="721790"/>
          </a:xfrm>
        </p:spPr>
        <p:txBody>
          <a:bodyPr>
            <a:noAutofit/>
          </a:bodyPr>
          <a:lstStyle/>
          <a:p>
            <a:r>
              <a:rPr lang="en-AU" sz="1600" b="1" dirty="0" smtClean="0">
                <a:latin typeface="Helvetica" pitchFamily="34" charset="0"/>
              </a:rPr>
              <a:t>D1.HBS.CL5.17  D1.HSS.CL4.07</a:t>
            </a:r>
            <a:endParaRPr lang="en-US" sz="16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11" name="Picture 10" descr="248540_wines.jpg"/>
          <p:cNvPicPr>
            <a:picLocks noChangeAspect="1"/>
          </p:cNvPicPr>
          <p:nvPr/>
        </p:nvPicPr>
        <p:blipFill>
          <a:blip r:embed="rId3" cstate="print"/>
          <a:stretch>
            <a:fillRect/>
          </a:stretch>
        </p:blipFill>
        <p:spPr>
          <a:xfrm>
            <a:off x="3714745" y="2643182"/>
            <a:ext cx="2143140" cy="15716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descr="MP900432807[1].JPG"/>
          <p:cNvPicPr>
            <a:picLocks noChangeAspect="1"/>
          </p:cNvPicPr>
          <p:nvPr/>
        </p:nvPicPr>
        <p:blipFill>
          <a:blip r:embed="rId4" cstate="print"/>
          <a:stretch>
            <a:fillRect/>
          </a:stretch>
        </p:blipFill>
        <p:spPr>
          <a:xfrm>
            <a:off x="1714480" y="2285992"/>
            <a:ext cx="1973944" cy="15001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descr="MP900410119[1].JPG"/>
          <p:cNvPicPr>
            <a:picLocks noChangeAspect="1"/>
          </p:cNvPicPr>
          <p:nvPr/>
        </p:nvPicPr>
        <p:blipFill>
          <a:blip r:embed="rId5" cstate="print">
            <a:lum contrast="20000"/>
          </a:blip>
          <a:stretch>
            <a:fillRect/>
          </a:stretch>
        </p:blipFill>
        <p:spPr>
          <a:xfrm>
            <a:off x="3714744" y="4286256"/>
            <a:ext cx="2357454" cy="15034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descr="268881_on_the_rocks_2.jpg"/>
          <p:cNvPicPr>
            <a:picLocks noChangeAspect="1"/>
          </p:cNvPicPr>
          <p:nvPr/>
        </p:nvPicPr>
        <p:blipFill>
          <a:blip r:embed="rId6" cstate="print"/>
          <a:stretch>
            <a:fillRect/>
          </a:stretch>
        </p:blipFill>
        <p:spPr>
          <a:xfrm>
            <a:off x="1357290" y="3786190"/>
            <a:ext cx="2286016" cy="16287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a:p>
            <a:pPr>
              <a:spcBef>
                <a:spcPts val="600"/>
              </a:spcBef>
              <a:spcAft>
                <a:spcPts val="1200"/>
              </a:spcAft>
            </a:pPr>
            <a:r>
              <a:rPr lang="en-AU" sz="2200" dirty="0" smtClean="0">
                <a:latin typeface="Helvetica" pitchFamily="34" charset="0"/>
              </a:rPr>
              <a:t>Determine the level of intoxication</a:t>
            </a:r>
          </a:p>
          <a:p>
            <a:pPr>
              <a:spcBef>
                <a:spcPts val="600"/>
              </a:spcBef>
              <a:spcAft>
                <a:spcPts val="1200"/>
              </a:spcAft>
            </a:pPr>
            <a:r>
              <a:rPr lang="en-AU" sz="2200" dirty="0" smtClean="0">
                <a:latin typeface="Helvetica" pitchFamily="34" charset="0"/>
              </a:rPr>
              <a:t>Apply appropriate procedures</a:t>
            </a:r>
          </a:p>
          <a:p>
            <a:pPr>
              <a:spcBef>
                <a:spcPts val="600"/>
              </a:spcBef>
              <a:spcAft>
                <a:spcPts val="1200"/>
              </a:spcAft>
            </a:pPr>
            <a:r>
              <a:rPr lang="en-AU" sz="2200" dirty="0" smtClean="0">
                <a:latin typeface="Helvetica" pitchFamily="34" charset="0"/>
              </a:rPr>
              <a:t>Comply with </a:t>
            </a:r>
            <a:r>
              <a:rPr lang="en-AU" sz="2200" dirty="0" smtClean="0">
                <a:latin typeface="Helvetica" pitchFamily="34" charset="0"/>
              </a:rPr>
              <a:t>legislation.</a:t>
            </a:r>
            <a:endParaRPr lang="en-AU" sz="2200" dirty="0" smtClean="0">
              <a:latin typeface="Helvetica" pitchFamily="34" charset="0"/>
            </a:endParaRPr>
          </a:p>
          <a:p>
            <a:pPr>
              <a:spcBef>
                <a:spcPts val="600"/>
              </a:spcBef>
              <a:spcAft>
                <a:spcPts val="1200"/>
              </a:spcAft>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6" name="Picture 5" descr="MP900409565[1].JPG"/>
          <p:cNvPicPr>
            <a:picLocks noChangeAspect="1"/>
          </p:cNvPicPr>
          <p:nvPr/>
        </p:nvPicPr>
        <p:blipFill>
          <a:blip r:embed="rId3" cstate="print"/>
          <a:stretch>
            <a:fillRect/>
          </a:stretch>
        </p:blipFill>
        <p:spPr>
          <a:xfrm>
            <a:off x="6215074" y="1571612"/>
            <a:ext cx="1428697" cy="21420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a:t>
            </a:r>
            <a:r>
              <a:rPr lang="en-US" sz="2200" dirty="0" smtClean="0">
                <a:latin typeface="Helvetica" pitchFamily="34" charset="0"/>
              </a:rPr>
              <a:t>supervisor.</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6" name="Picture 5" descr="MP900432952[1].JPG"/>
          <p:cNvPicPr>
            <a:picLocks noChangeAspect="1"/>
          </p:cNvPicPr>
          <p:nvPr/>
        </p:nvPicPr>
        <p:blipFill>
          <a:blip r:embed="rId3" cstate="print"/>
          <a:stretch>
            <a:fillRect/>
          </a:stretch>
        </p:blipFill>
        <p:spPr>
          <a:xfrm>
            <a:off x="6948264" y="3717032"/>
            <a:ext cx="1613544" cy="2283317"/>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1:</a:t>
            </a:r>
          </a:p>
          <a:p>
            <a:pPr marL="0">
              <a:buNone/>
            </a:pPr>
            <a:r>
              <a:rPr lang="en-US" sz="4000" dirty="0" smtClean="0">
                <a:solidFill>
                  <a:srgbClr val="FF6600"/>
                </a:solidFill>
              </a:rPr>
              <a:t>Determine the level of intoxication</a:t>
            </a:r>
            <a:endParaRPr lang="en-US" sz="4000" dirty="0" smtClean="0">
              <a:solidFill>
                <a:srgbClr val="FF6600"/>
              </a:solidFill>
              <a:latin typeface="Helvetica" pitchFamily="34" charset="0"/>
            </a:endParaRPr>
          </a:p>
          <a:p>
            <a:pPr marL="0">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6" name="Picture 5" descr="MP900409372[1].JPG"/>
          <p:cNvPicPr>
            <a:picLocks noChangeAspect="1"/>
          </p:cNvPicPr>
          <p:nvPr/>
        </p:nvPicPr>
        <p:blipFill>
          <a:blip r:embed="rId3" cstate="print"/>
          <a:stretch>
            <a:fillRect/>
          </a:stretch>
        </p:blipFill>
        <p:spPr>
          <a:xfrm>
            <a:off x="6228184" y="3789040"/>
            <a:ext cx="2060848" cy="206084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Determine the level of intoxication</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6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Assess intoxication levels of customers</a:t>
            </a:r>
          </a:p>
          <a:p>
            <a:pPr>
              <a:spcBef>
                <a:spcPts val="600"/>
              </a:spcBef>
              <a:spcAft>
                <a:spcPts val="1200"/>
              </a:spcAft>
            </a:pPr>
            <a:r>
              <a:rPr lang="en-AU" sz="2200" dirty="0" smtClean="0">
                <a:latin typeface="Helvetica" pitchFamily="34" charset="0"/>
              </a:rPr>
              <a:t>Offer assistance to intoxicated customers politely</a:t>
            </a:r>
          </a:p>
          <a:p>
            <a:pPr>
              <a:spcBef>
                <a:spcPts val="600"/>
              </a:spcBef>
              <a:spcAft>
                <a:spcPts val="1200"/>
              </a:spcAft>
            </a:pPr>
            <a:r>
              <a:rPr lang="en-AU" sz="2200" dirty="0" smtClean="0">
                <a:latin typeface="Helvetica" pitchFamily="34" charset="0"/>
              </a:rPr>
              <a:t>Refer difficult situations to an appropriate person within or outside of the establishment</a:t>
            </a:r>
          </a:p>
          <a:p>
            <a:pPr>
              <a:spcBef>
                <a:spcPts val="600"/>
              </a:spcBef>
              <a:spcAft>
                <a:spcPts val="1200"/>
              </a:spcAft>
            </a:pPr>
            <a:r>
              <a:rPr lang="en-AU" sz="2200" dirty="0" smtClean="0">
                <a:latin typeface="Helvetica" pitchFamily="34" charset="0"/>
              </a:rPr>
              <a:t>Seek assistance from appropriate people for situations which pose a threat to safety or security of colleagues, customers or </a:t>
            </a:r>
            <a:r>
              <a:rPr lang="en-AU" sz="2200" dirty="0" smtClean="0">
                <a:latin typeface="Helvetica" pitchFamily="34" charset="0"/>
              </a:rPr>
              <a:t>property.</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6" name="Picture 5" descr="MP900430940[1].JPG"/>
          <p:cNvPicPr>
            <a:picLocks noChangeAspect="1"/>
          </p:cNvPicPr>
          <p:nvPr/>
        </p:nvPicPr>
        <p:blipFill>
          <a:blip r:embed="rId3" cstate="print"/>
          <a:stretch>
            <a:fillRect/>
          </a:stretch>
        </p:blipFill>
        <p:spPr>
          <a:xfrm>
            <a:off x="6715140" y="1357298"/>
            <a:ext cx="1554536" cy="116590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pPr>
            <a:r>
              <a:rPr lang="en-AU" sz="2200" dirty="0" smtClean="0">
                <a:latin typeface="Helvetica" pitchFamily="34" charset="0"/>
              </a:rPr>
              <a:t>Many hospitality venues serve alcohol in their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various </a:t>
            </a:r>
            <a:r>
              <a:rPr lang="en-AU" sz="2200" dirty="0" smtClean="0">
                <a:latin typeface="Helvetica" pitchFamily="34" charset="0"/>
              </a:rPr>
              <a:t>food and beverage </a:t>
            </a:r>
            <a:r>
              <a:rPr lang="en-AU" sz="2200" dirty="0" smtClean="0">
                <a:latin typeface="Helvetica" pitchFamily="34" charset="0"/>
              </a:rPr>
              <a:t>outlets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It is part of most cultures that alcohol is served,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with </a:t>
            </a:r>
            <a:r>
              <a:rPr lang="en-AU" sz="2200" dirty="0" smtClean="0">
                <a:latin typeface="Helvetica" pitchFamily="34" charset="0"/>
              </a:rPr>
              <a:t>or without </a:t>
            </a:r>
            <a:r>
              <a:rPr lang="en-AU" sz="2200" dirty="0" smtClean="0">
                <a:latin typeface="Helvetica" pitchFamily="34" charset="0"/>
              </a:rPr>
              <a:t>meals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Whilst for the most parts customers are able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to enjoy </a:t>
            </a:r>
            <a:r>
              <a:rPr lang="en-AU" sz="2200" dirty="0" smtClean="0">
                <a:latin typeface="Helvetica" pitchFamily="34" charset="0"/>
              </a:rPr>
              <a:t>themselves and drink in a responsible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manner</a:t>
            </a:r>
            <a:r>
              <a:rPr lang="en-AU" sz="2200" dirty="0" smtClean="0">
                <a:latin typeface="Helvetica" pitchFamily="34" charset="0"/>
              </a:rPr>
              <a:t>, this is not always the case.</a:t>
            </a:r>
          </a:p>
          <a:p>
            <a:pPr marL="0" indent="0">
              <a:spcBef>
                <a:spcPts val="600"/>
              </a:spcBef>
              <a:spcAft>
                <a:spcPts val="6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descr="MP900443470[1].JPG"/>
          <p:cNvPicPr>
            <a:picLocks noChangeAspect="1"/>
          </p:cNvPicPr>
          <p:nvPr/>
        </p:nvPicPr>
        <p:blipFill>
          <a:blip r:embed="rId3" cstate="print"/>
          <a:stretch>
            <a:fillRect/>
          </a:stretch>
        </p:blipFill>
        <p:spPr>
          <a:xfrm>
            <a:off x="7215206" y="2250400"/>
            <a:ext cx="1247352" cy="1868824"/>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dirty="0" smtClean="0">
                <a:latin typeface="Helvetica" pitchFamily="34" charset="0"/>
              </a:rPr>
              <a:t>The purpose of this subject is to enable hospitality staff to:</a:t>
            </a:r>
          </a:p>
          <a:p>
            <a:pPr lvl="0">
              <a:spcBef>
                <a:spcPts val="600"/>
              </a:spcBef>
              <a:spcAft>
                <a:spcPts val="1200"/>
              </a:spcAft>
            </a:pPr>
            <a:r>
              <a:rPr lang="en-AU" sz="2200" dirty="0" smtClean="0">
                <a:latin typeface="Helvetica" pitchFamily="34" charset="0"/>
              </a:rPr>
              <a:t>Understand the legal implications when serving alcohol</a:t>
            </a:r>
          </a:p>
          <a:p>
            <a:pPr lvl="0">
              <a:spcBef>
                <a:spcPts val="600"/>
              </a:spcBef>
              <a:spcAft>
                <a:spcPts val="1200"/>
              </a:spcAft>
            </a:pPr>
            <a:r>
              <a:rPr lang="en-AU" sz="2200" dirty="0" smtClean="0">
                <a:latin typeface="Helvetica" pitchFamily="34" charset="0"/>
              </a:rPr>
              <a:t>Understand their responsibilities in relation to the service of alcohol</a:t>
            </a:r>
          </a:p>
          <a:p>
            <a:pPr lvl="0">
              <a:spcBef>
                <a:spcPts val="600"/>
              </a:spcBef>
              <a:spcAft>
                <a:spcPts val="1200"/>
              </a:spcAft>
            </a:pPr>
            <a:r>
              <a:rPr lang="en-AU" sz="2200" dirty="0" smtClean="0">
                <a:latin typeface="Helvetica" pitchFamily="34" charset="0"/>
              </a:rPr>
              <a:t>Handle situations where people are </a:t>
            </a:r>
            <a:r>
              <a:rPr lang="en-AU" sz="2200" dirty="0" smtClean="0">
                <a:latin typeface="Helvetica" pitchFamily="34" charset="0"/>
              </a:rPr>
              <a:t>intoxicated.</a:t>
            </a:r>
            <a:endParaRPr lang="en-AU" sz="2200" dirty="0" smtClean="0">
              <a:latin typeface="Helvetica" pitchFamily="34" charset="0"/>
            </a:endParaRPr>
          </a:p>
          <a:p>
            <a:pPr marL="0" indent="0">
              <a:spcBef>
                <a:spcPts val="600"/>
              </a:spcBef>
              <a:spcAft>
                <a:spcPts val="6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7" name="Picture 6" descr="MP900444003[1].JPG"/>
          <p:cNvPicPr/>
          <p:nvPr/>
        </p:nvPicPr>
        <p:blipFill>
          <a:blip r:embed="rId3" cstate="print"/>
          <a:stretch>
            <a:fillRect/>
          </a:stretch>
        </p:blipFill>
        <p:spPr>
          <a:xfrm>
            <a:off x="3483768" y="4357694"/>
            <a:ext cx="2176465" cy="144717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Duty of care</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The primary responsibility a business has is to ensure the health and safety of those who either:</a:t>
            </a:r>
          </a:p>
          <a:p>
            <a:pPr marL="0">
              <a:spcBef>
                <a:spcPts val="600"/>
              </a:spcBef>
              <a:spcAft>
                <a:spcPts val="1200"/>
              </a:spcAft>
            </a:pPr>
            <a:r>
              <a:rPr lang="en-AU" sz="2200" dirty="0" smtClean="0">
                <a:latin typeface="Helvetica" pitchFamily="34" charset="0"/>
              </a:rPr>
              <a:t>Frequent an establishment or </a:t>
            </a:r>
          </a:p>
          <a:p>
            <a:pPr marL="0">
              <a:spcBef>
                <a:spcPts val="600"/>
              </a:spcBef>
              <a:spcAft>
                <a:spcPts val="1200"/>
              </a:spcAft>
            </a:pPr>
            <a:r>
              <a:rPr lang="en-AU" sz="2200" dirty="0" smtClean="0">
                <a:latin typeface="Helvetica" pitchFamily="34" charset="0"/>
              </a:rPr>
              <a:t>Are impacted due to its </a:t>
            </a:r>
            <a:r>
              <a:rPr lang="en-AU" sz="2200" dirty="0" smtClean="0">
                <a:latin typeface="Helvetica" pitchFamily="34" charset="0"/>
              </a:rPr>
              <a:t>existence.</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9" name="Picture 8" descr="MP900401950[1].JPG"/>
          <p:cNvPicPr>
            <a:picLocks noChangeAspect="1"/>
          </p:cNvPicPr>
          <p:nvPr/>
        </p:nvPicPr>
        <p:blipFill>
          <a:blip r:embed="rId3" cstate="print"/>
          <a:stretch>
            <a:fillRect/>
          </a:stretch>
        </p:blipFill>
        <p:spPr>
          <a:xfrm>
            <a:off x="5715008" y="2214554"/>
            <a:ext cx="2349474" cy="1565704"/>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Duty of care</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Managers and staff have a duty of care to make sure that all people are safe from harm when:</a:t>
            </a:r>
          </a:p>
          <a:p>
            <a:pPr marL="0">
              <a:spcBef>
                <a:spcPts val="600"/>
              </a:spcBef>
              <a:spcAft>
                <a:spcPts val="1200"/>
              </a:spcAft>
            </a:pPr>
            <a:r>
              <a:rPr lang="en-AU" sz="2200" dirty="0" smtClean="0">
                <a:latin typeface="Helvetica" pitchFamily="34" charset="0"/>
              </a:rPr>
              <a:t>On the premises </a:t>
            </a:r>
          </a:p>
          <a:p>
            <a:pPr marL="0">
              <a:spcBef>
                <a:spcPts val="600"/>
              </a:spcBef>
              <a:spcAft>
                <a:spcPts val="1200"/>
              </a:spcAft>
            </a:pPr>
            <a:r>
              <a:rPr lang="en-AU" sz="2200" dirty="0" smtClean="0">
                <a:latin typeface="Helvetica" pitchFamily="34" charset="0"/>
              </a:rPr>
              <a:t>When they </a:t>
            </a:r>
            <a:r>
              <a:rPr lang="en-AU" sz="2200" dirty="0" smtClean="0">
                <a:latin typeface="Helvetica" pitchFamily="34" charset="0"/>
              </a:rPr>
              <a:t>leave.</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6" name="Picture 5" descr="MP900341777[1].JPG"/>
          <p:cNvPicPr>
            <a:picLocks noChangeAspect="1"/>
          </p:cNvPicPr>
          <p:nvPr/>
        </p:nvPicPr>
        <p:blipFill>
          <a:blip r:embed="rId3" cstate="print"/>
          <a:stretch>
            <a:fillRect/>
          </a:stretch>
        </p:blipFill>
        <p:spPr>
          <a:xfrm>
            <a:off x="6072198" y="2428868"/>
            <a:ext cx="1715470" cy="240486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Duty of care</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This duty of care is owed to all people in the environment including:</a:t>
            </a:r>
          </a:p>
          <a:p>
            <a:pPr lvl="0">
              <a:spcBef>
                <a:spcPts val="600"/>
              </a:spcBef>
              <a:spcAft>
                <a:spcPts val="1200"/>
              </a:spcAft>
            </a:pPr>
            <a:r>
              <a:rPr lang="en-AU" sz="2200" dirty="0" smtClean="0">
                <a:latin typeface="Helvetica" pitchFamily="34" charset="0"/>
              </a:rPr>
              <a:t>Customers</a:t>
            </a:r>
          </a:p>
          <a:p>
            <a:pPr lvl="0">
              <a:spcBef>
                <a:spcPts val="600"/>
              </a:spcBef>
              <a:spcAft>
                <a:spcPts val="1200"/>
              </a:spcAft>
            </a:pPr>
            <a:r>
              <a:rPr lang="en-AU" sz="2200" dirty="0" smtClean="0">
                <a:latin typeface="Helvetica" pitchFamily="34" charset="0"/>
              </a:rPr>
              <a:t>Owners</a:t>
            </a:r>
          </a:p>
          <a:p>
            <a:pPr lvl="0">
              <a:spcBef>
                <a:spcPts val="600"/>
              </a:spcBef>
              <a:spcAft>
                <a:spcPts val="1200"/>
              </a:spcAft>
            </a:pPr>
            <a:r>
              <a:rPr lang="en-AU" sz="2200" dirty="0" smtClean="0">
                <a:latin typeface="Helvetica" pitchFamily="34" charset="0"/>
              </a:rPr>
              <a:t>Managers</a:t>
            </a:r>
          </a:p>
          <a:p>
            <a:pPr lvl="0">
              <a:spcBef>
                <a:spcPts val="600"/>
              </a:spcBef>
              <a:spcAft>
                <a:spcPts val="1200"/>
              </a:spcAft>
            </a:pPr>
            <a:r>
              <a:rPr lang="en-AU" sz="2200" dirty="0" smtClean="0">
                <a:latin typeface="Helvetica" pitchFamily="34" charset="0"/>
              </a:rPr>
              <a:t>Staff</a:t>
            </a:r>
          </a:p>
          <a:p>
            <a:pPr lvl="0">
              <a:spcBef>
                <a:spcPts val="600"/>
              </a:spcBef>
              <a:spcAft>
                <a:spcPts val="1200"/>
              </a:spcAft>
            </a:pPr>
            <a:r>
              <a:rPr lang="en-AU" sz="2200" dirty="0" smtClean="0">
                <a:latin typeface="Helvetica" pitchFamily="34" charset="0"/>
              </a:rPr>
              <a:t>General </a:t>
            </a:r>
            <a:r>
              <a:rPr lang="en-AU" sz="2200" dirty="0" smtClean="0">
                <a:latin typeface="Helvetica" pitchFamily="34" charset="0"/>
              </a:rPr>
              <a:t>Public.</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7" name="Picture 6" descr="MP900442876[1].JPG"/>
          <p:cNvPicPr/>
          <p:nvPr/>
        </p:nvPicPr>
        <p:blipFill>
          <a:blip r:embed="rId3" cstate="print"/>
          <a:stretch>
            <a:fillRect/>
          </a:stretch>
        </p:blipFill>
        <p:spPr>
          <a:xfrm>
            <a:off x="5929322" y="2428868"/>
            <a:ext cx="1826369" cy="238903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Responsible service of alcohol</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Every organisation must promote the responsible service of alcohol.</a:t>
            </a:r>
          </a:p>
          <a:p>
            <a:pPr>
              <a:spcBef>
                <a:spcPts val="600"/>
              </a:spcBef>
              <a:spcAft>
                <a:spcPts val="1200"/>
              </a:spcAft>
            </a:pPr>
            <a:r>
              <a:rPr lang="en-AU" sz="2200" dirty="0" smtClean="0">
                <a:latin typeface="Helvetica" pitchFamily="34" charset="0"/>
              </a:rPr>
              <a:t>What </a:t>
            </a:r>
            <a:r>
              <a:rPr lang="en-AU" sz="2200" dirty="0" smtClean="0">
                <a:latin typeface="Helvetica" pitchFamily="34" charset="0"/>
              </a:rPr>
              <a:t>is it?</a:t>
            </a:r>
          </a:p>
          <a:p>
            <a:pPr>
              <a:spcBef>
                <a:spcPts val="600"/>
              </a:spcBef>
              <a:spcAft>
                <a:spcPts val="1200"/>
              </a:spcAft>
            </a:pPr>
            <a:r>
              <a:rPr lang="en-AU" sz="2200" dirty="0" smtClean="0">
                <a:latin typeface="Helvetica" pitchFamily="34" charset="0"/>
              </a:rPr>
              <a:t>How do you do it?</a:t>
            </a:r>
          </a:p>
          <a:p>
            <a:pPr marL="0" indent="0">
              <a:spcBef>
                <a:spcPts val="600"/>
              </a:spcBef>
              <a:spcAft>
                <a:spcPts val="6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 name="Picture 5" descr="MP900442597[1].JPG"/>
          <p:cNvPicPr>
            <a:picLocks noChangeAspect="1"/>
          </p:cNvPicPr>
          <p:nvPr/>
        </p:nvPicPr>
        <p:blipFill>
          <a:blip r:embed="rId3" cstate="print"/>
          <a:stretch>
            <a:fillRect/>
          </a:stretch>
        </p:blipFill>
        <p:spPr>
          <a:xfrm>
            <a:off x="5072066" y="2428868"/>
            <a:ext cx="2672658" cy="199034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Responsible service of alcohol</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Benefits to the business: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Increase to reputation</a:t>
            </a:r>
          </a:p>
          <a:p>
            <a:pPr lvl="0">
              <a:spcBef>
                <a:spcPts val="600"/>
              </a:spcBef>
              <a:spcAft>
                <a:spcPts val="1200"/>
              </a:spcAft>
            </a:pPr>
            <a:r>
              <a:rPr lang="en-AU" sz="2200" dirty="0" smtClean="0">
                <a:latin typeface="Helvetica" pitchFamily="34" charset="0"/>
              </a:rPr>
              <a:t>Reduces fines and liability</a:t>
            </a:r>
          </a:p>
          <a:p>
            <a:pPr lvl="0">
              <a:spcBef>
                <a:spcPts val="600"/>
              </a:spcBef>
              <a:spcAft>
                <a:spcPts val="1200"/>
              </a:spcAft>
            </a:pPr>
            <a:r>
              <a:rPr lang="en-AU" sz="2200" dirty="0" smtClean="0">
                <a:latin typeface="Helvetica" pitchFamily="34" charset="0"/>
              </a:rPr>
              <a:t>Allows a business to remain operational</a:t>
            </a:r>
          </a:p>
          <a:p>
            <a:pPr lvl="0">
              <a:spcBef>
                <a:spcPts val="600"/>
              </a:spcBef>
              <a:spcAft>
                <a:spcPts val="1200"/>
              </a:spcAft>
            </a:pPr>
            <a:r>
              <a:rPr lang="en-AU" sz="2200" dirty="0" smtClean="0">
                <a:latin typeface="Helvetica" pitchFamily="34" charset="0"/>
              </a:rPr>
              <a:t>Increased business and profits as people feel comfortable visiting your establishment</a:t>
            </a:r>
          </a:p>
          <a:p>
            <a:pPr lvl="0">
              <a:spcBef>
                <a:spcPts val="600"/>
              </a:spcBef>
              <a:spcAft>
                <a:spcPts val="1200"/>
              </a:spcAft>
            </a:pPr>
            <a:r>
              <a:rPr lang="en-AU" sz="2200" dirty="0" smtClean="0">
                <a:latin typeface="Helvetica" pitchFamily="34" charset="0"/>
              </a:rPr>
              <a:t>Less likely to have damage to the premises                          due to breakages, spillage, </a:t>
            </a:r>
            <a:r>
              <a:rPr lang="en-AU" sz="2200" dirty="0" smtClean="0">
                <a:latin typeface="Helvetica" pitchFamily="34" charset="0"/>
              </a:rPr>
              <a:t>vomit.</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8" name="Picture 7" descr="MP900387953[1].JPG"/>
          <p:cNvPicPr>
            <a:picLocks noChangeAspect="1"/>
          </p:cNvPicPr>
          <p:nvPr/>
        </p:nvPicPr>
        <p:blipFill>
          <a:blip r:embed="rId3" cstate="print"/>
          <a:stretch>
            <a:fillRect/>
          </a:stretch>
        </p:blipFill>
        <p:spPr>
          <a:xfrm>
            <a:off x="5857884" y="1785926"/>
            <a:ext cx="1899098" cy="135469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Responsible service of alcohol</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Benefits to the business: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Reduced costs to repair broken items</a:t>
            </a:r>
          </a:p>
          <a:p>
            <a:pPr lvl="0">
              <a:spcBef>
                <a:spcPts val="600"/>
              </a:spcBef>
              <a:spcAft>
                <a:spcPts val="1200"/>
              </a:spcAft>
            </a:pPr>
            <a:r>
              <a:rPr lang="en-AU" sz="2200" dirty="0" smtClean="0">
                <a:latin typeface="Helvetica" pitchFamily="34" charset="0"/>
              </a:rPr>
              <a:t>Create disorder and ruin the ambience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of </a:t>
            </a:r>
            <a:r>
              <a:rPr lang="en-AU" sz="2200" dirty="0" smtClean="0">
                <a:latin typeface="Helvetica" pitchFamily="34" charset="0"/>
              </a:rPr>
              <a:t>a venue</a:t>
            </a:r>
          </a:p>
          <a:p>
            <a:pPr lvl="0">
              <a:spcBef>
                <a:spcPts val="600"/>
              </a:spcBef>
              <a:spcAft>
                <a:spcPts val="1200"/>
              </a:spcAft>
            </a:pPr>
            <a:r>
              <a:rPr lang="en-AU" sz="2200" dirty="0" smtClean="0">
                <a:latin typeface="Helvetica" pitchFamily="34" charset="0"/>
              </a:rPr>
              <a:t>Reduces staff costs as less staff are required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to </a:t>
            </a:r>
            <a:r>
              <a:rPr lang="en-AU" sz="2200" dirty="0" smtClean="0">
                <a:latin typeface="Helvetica" pitchFamily="34" charset="0"/>
              </a:rPr>
              <a:t>handle drunk patrons </a:t>
            </a:r>
          </a:p>
          <a:p>
            <a:pPr lvl="0">
              <a:spcBef>
                <a:spcPts val="600"/>
              </a:spcBef>
              <a:spcAft>
                <a:spcPts val="1200"/>
              </a:spcAft>
            </a:pPr>
            <a:r>
              <a:rPr lang="en-AU" sz="2200" dirty="0" smtClean="0">
                <a:latin typeface="Helvetica" pitchFamily="34" charset="0"/>
              </a:rPr>
              <a:t>Reduced liability and insurance</a:t>
            </a:r>
          </a:p>
          <a:p>
            <a:pPr lvl="0">
              <a:spcBef>
                <a:spcPts val="600"/>
              </a:spcBef>
              <a:spcAft>
                <a:spcPts val="1200"/>
              </a:spcAft>
            </a:pPr>
            <a:r>
              <a:rPr lang="en-AU" sz="2200" dirty="0" smtClean="0">
                <a:latin typeface="Helvetica" pitchFamily="34" charset="0"/>
              </a:rPr>
              <a:t>Reduced legal </a:t>
            </a:r>
            <a:r>
              <a:rPr lang="en-AU" sz="2200" dirty="0" smtClean="0">
                <a:latin typeface="Helvetica" pitchFamily="34" charset="0"/>
              </a:rPr>
              <a:t>claims.</a:t>
            </a:r>
            <a:endParaRPr lang="en-AU" sz="2200" dirty="0" smtClean="0">
              <a:latin typeface="Helvetica" pitchFamily="34" charset="0"/>
            </a:endParaRPr>
          </a:p>
          <a:p>
            <a:pPr marL="0" indent="0">
              <a:spcBef>
                <a:spcPts val="600"/>
              </a:spcBef>
              <a:spcAft>
                <a:spcPts val="6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6" name="Picture 5" descr="MP900400297[1].JPG"/>
          <p:cNvPicPr>
            <a:picLocks noChangeAspect="1"/>
          </p:cNvPicPr>
          <p:nvPr/>
        </p:nvPicPr>
        <p:blipFill>
          <a:blip r:embed="rId3" cstate="print"/>
          <a:stretch>
            <a:fillRect/>
          </a:stretch>
        </p:blipFill>
        <p:spPr>
          <a:xfrm>
            <a:off x="6429388" y="1571612"/>
            <a:ext cx="1365804" cy="170767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Responsible service of alcohol</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Benefits to staff:</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Less stress for staff</a:t>
            </a:r>
          </a:p>
          <a:p>
            <a:pPr lvl="0">
              <a:spcBef>
                <a:spcPts val="600"/>
              </a:spcBef>
              <a:spcAft>
                <a:spcPts val="1200"/>
              </a:spcAft>
            </a:pPr>
            <a:r>
              <a:rPr lang="en-AU" sz="2200" dirty="0" smtClean="0">
                <a:latin typeface="Helvetica" pitchFamily="34" charset="0"/>
              </a:rPr>
              <a:t>Less potential harm or threatening actions</a:t>
            </a:r>
          </a:p>
          <a:p>
            <a:pPr lvl="0">
              <a:spcBef>
                <a:spcPts val="600"/>
              </a:spcBef>
              <a:spcAft>
                <a:spcPts val="1200"/>
              </a:spcAft>
            </a:pPr>
            <a:r>
              <a:rPr lang="en-AU" sz="2200" dirty="0" smtClean="0">
                <a:latin typeface="Helvetica" pitchFamily="34" charset="0"/>
              </a:rPr>
              <a:t>Enables easier communication with customers</a:t>
            </a:r>
          </a:p>
          <a:p>
            <a:pPr lvl="0">
              <a:spcBef>
                <a:spcPts val="600"/>
              </a:spcBef>
              <a:spcAft>
                <a:spcPts val="1200"/>
              </a:spcAft>
            </a:pPr>
            <a:r>
              <a:rPr lang="en-AU" sz="2200" dirty="0" smtClean="0">
                <a:latin typeface="Helvetica" pitchFamily="34" charset="0"/>
              </a:rPr>
              <a:t>Less work for staff</a:t>
            </a:r>
          </a:p>
          <a:p>
            <a:pPr lvl="0">
              <a:spcBef>
                <a:spcPts val="600"/>
              </a:spcBef>
              <a:spcAft>
                <a:spcPts val="1200"/>
              </a:spcAft>
            </a:pPr>
            <a:r>
              <a:rPr lang="en-AU" sz="2200" dirty="0" smtClean="0">
                <a:latin typeface="Helvetica" pitchFamily="34" charset="0"/>
              </a:rPr>
              <a:t>Creates a safe and harmonious work place                                    for all staff and customers</a:t>
            </a:r>
          </a:p>
          <a:p>
            <a:pPr lvl="0">
              <a:spcBef>
                <a:spcPts val="600"/>
              </a:spcBef>
              <a:spcAft>
                <a:spcPts val="1200"/>
              </a:spcAft>
            </a:pPr>
            <a:r>
              <a:rPr lang="en-AU" sz="2200" dirty="0" smtClean="0">
                <a:latin typeface="Helvetica" pitchFamily="34" charset="0"/>
              </a:rPr>
              <a:t>Increases job satisfaction and </a:t>
            </a:r>
            <a:r>
              <a:rPr lang="en-AU" sz="2200" dirty="0" smtClean="0">
                <a:latin typeface="Helvetica" pitchFamily="34" charset="0"/>
              </a:rPr>
              <a:t>security.</a:t>
            </a:r>
            <a:endParaRPr lang="en-AU" sz="2200" dirty="0" smtClean="0">
              <a:latin typeface="Helvetica" pitchFamily="34" charset="0"/>
            </a:endParaRPr>
          </a:p>
          <a:p>
            <a:pPr marL="0" indent="0">
              <a:spcBef>
                <a:spcPts val="600"/>
              </a:spcBef>
              <a:spcAft>
                <a:spcPts val="6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 name="Picture 5" descr="MP900410119[1].JPG"/>
          <p:cNvPicPr>
            <a:picLocks noChangeAspect="1"/>
          </p:cNvPicPr>
          <p:nvPr/>
        </p:nvPicPr>
        <p:blipFill>
          <a:blip r:embed="rId3" cstate="print"/>
          <a:stretch>
            <a:fillRect/>
          </a:stretch>
        </p:blipFill>
        <p:spPr>
          <a:xfrm>
            <a:off x="6786578" y="3786190"/>
            <a:ext cx="1909984" cy="12967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Responsible service of alcohol</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Benefits to customers: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Reduces chance of customers hurting themselves or others </a:t>
            </a:r>
          </a:p>
          <a:p>
            <a:pPr lvl="0">
              <a:spcBef>
                <a:spcPts val="600"/>
              </a:spcBef>
              <a:spcAft>
                <a:spcPts val="1200"/>
              </a:spcAft>
            </a:pPr>
            <a:r>
              <a:rPr lang="en-AU" sz="2200" dirty="0" smtClean="0">
                <a:latin typeface="Helvetica" pitchFamily="34" charset="0"/>
              </a:rPr>
              <a:t>Allows the atmosphere and experience of fellow customers to be positive</a:t>
            </a:r>
          </a:p>
          <a:p>
            <a:pPr lvl="0">
              <a:spcBef>
                <a:spcPts val="600"/>
              </a:spcBef>
              <a:spcAft>
                <a:spcPts val="1200"/>
              </a:spcAft>
            </a:pPr>
            <a:r>
              <a:rPr lang="en-AU" sz="2200" dirty="0" smtClean="0">
                <a:latin typeface="Helvetica" pitchFamily="34" charset="0"/>
              </a:rPr>
              <a:t>Reduces violent or threatening behaviour</a:t>
            </a:r>
          </a:p>
          <a:p>
            <a:pPr lvl="0">
              <a:spcBef>
                <a:spcPts val="600"/>
              </a:spcBef>
              <a:spcAft>
                <a:spcPts val="1200"/>
              </a:spcAft>
            </a:pPr>
            <a:r>
              <a:rPr lang="en-AU" sz="2200" dirty="0" smtClean="0">
                <a:latin typeface="Helvetica" pitchFamily="34" charset="0"/>
              </a:rPr>
              <a:t>Reduces crimes and domestic violence</a:t>
            </a:r>
          </a:p>
          <a:p>
            <a:pPr lvl="0">
              <a:spcBef>
                <a:spcPts val="600"/>
              </a:spcBef>
              <a:spcAft>
                <a:spcPts val="1200"/>
              </a:spcAft>
            </a:pPr>
            <a:r>
              <a:rPr lang="en-AU" sz="2200" dirty="0" smtClean="0">
                <a:latin typeface="Helvetica" pitchFamily="34" charset="0"/>
              </a:rPr>
              <a:t>Reduces drink driving which is a leading                          cause of road and pedestrian </a:t>
            </a:r>
            <a:r>
              <a:rPr lang="en-AU" sz="2200" dirty="0" smtClean="0">
                <a:latin typeface="Helvetica" pitchFamily="34" charset="0"/>
              </a:rPr>
              <a:t>accidents.</a:t>
            </a:r>
            <a:endParaRPr lang="en-AU" sz="2200" dirty="0" smtClean="0">
              <a:latin typeface="Helvetica" pitchFamily="34" charset="0"/>
            </a:endParaRPr>
          </a:p>
          <a:p>
            <a:pPr marL="0" indent="0">
              <a:spcBef>
                <a:spcPts val="600"/>
              </a:spcBef>
              <a:spcAft>
                <a:spcPts val="6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7" name="Picture 6" descr="MP900401310[1].JPG"/>
          <p:cNvPicPr>
            <a:picLocks noChangeAspect="1"/>
          </p:cNvPicPr>
          <p:nvPr/>
        </p:nvPicPr>
        <p:blipFill>
          <a:blip r:embed="rId3" cstate="print"/>
          <a:stretch>
            <a:fillRect/>
          </a:stretch>
        </p:blipFill>
        <p:spPr>
          <a:xfrm>
            <a:off x="6948264" y="3861048"/>
            <a:ext cx="1400932" cy="2100372"/>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pPr>
            <a:r>
              <a:rPr lang="en-AU" sz="2200" dirty="0" smtClean="0">
                <a:latin typeface="Helvetica" pitchFamily="34" charset="0"/>
              </a:rPr>
              <a:t>Alcohol is a substance that has become an everyday part of society</a:t>
            </a:r>
          </a:p>
          <a:p>
            <a:pPr>
              <a:spcBef>
                <a:spcPts val="600"/>
              </a:spcBef>
              <a:spcAft>
                <a:spcPts val="1200"/>
              </a:spcAft>
            </a:pPr>
            <a:r>
              <a:rPr lang="en-AU" sz="2200" dirty="0" smtClean="0">
                <a:latin typeface="Helvetica" pitchFamily="34" charset="0"/>
              </a:rPr>
              <a:t>However what it is and how it affects the body is often not </a:t>
            </a:r>
            <a:r>
              <a:rPr lang="en-AU" sz="2200" dirty="0" smtClean="0">
                <a:latin typeface="Helvetica" pitchFamily="34" charset="0"/>
              </a:rPr>
              <a:t>discussed.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6" name="Picture 5" descr="MP900289878[1].JPG"/>
          <p:cNvPicPr>
            <a:picLocks noChangeAspect="1"/>
          </p:cNvPicPr>
          <p:nvPr/>
        </p:nvPicPr>
        <p:blipFill>
          <a:blip r:embed="rId3" cstate="print"/>
          <a:stretch>
            <a:fillRect/>
          </a:stretch>
        </p:blipFill>
        <p:spPr>
          <a:xfrm>
            <a:off x="3441576" y="3714752"/>
            <a:ext cx="2260848" cy="155621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pPr>
            <a:r>
              <a:rPr lang="en-AU" sz="2200" dirty="0" smtClean="0">
                <a:latin typeface="Helvetica" pitchFamily="34" charset="0"/>
              </a:rPr>
              <a:t>The intoxicating ingredient in alcoholic beverages is known as ethyl alcohol or pure alcohol</a:t>
            </a:r>
          </a:p>
          <a:p>
            <a:pPr>
              <a:spcBef>
                <a:spcPts val="600"/>
              </a:spcBef>
              <a:spcAft>
                <a:spcPts val="1200"/>
              </a:spcAft>
            </a:pPr>
            <a:r>
              <a:rPr lang="en-AU" sz="2200" dirty="0" smtClean="0">
                <a:latin typeface="Helvetica" pitchFamily="34" charset="0"/>
              </a:rPr>
              <a:t>This ingredient is contained in all alcoholic drinks</a:t>
            </a:r>
          </a:p>
          <a:p>
            <a:pPr>
              <a:spcBef>
                <a:spcPts val="600"/>
              </a:spcBef>
              <a:spcAft>
                <a:spcPts val="1200"/>
              </a:spcAft>
            </a:pPr>
            <a:r>
              <a:rPr lang="en-AU" sz="2200" dirty="0" smtClean="0">
                <a:latin typeface="Helvetica" pitchFamily="34" charset="0"/>
              </a:rPr>
              <a:t>However the level of concentration differs                        between </a:t>
            </a:r>
            <a:r>
              <a:rPr lang="en-AU" sz="2200" dirty="0" smtClean="0">
                <a:latin typeface="Helvetica" pitchFamily="34" charset="0"/>
              </a:rPr>
              <a:t>drinks.</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7" name="Picture 6" descr="MP900432803[1].JPG"/>
          <p:cNvPicPr>
            <a:picLocks noChangeAspect="1"/>
          </p:cNvPicPr>
          <p:nvPr/>
        </p:nvPicPr>
        <p:blipFill>
          <a:blip r:embed="rId3" cstate="print"/>
          <a:stretch>
            <a:fillRect/>
          </a:stretch>
        </p:blipFill>
        <p:spPr>
          <a:xfrm>
            <a:off x="3722556" y="3929066"/>
            <a:ext cx="1698888" cy="231666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In order to make measurement as uniform as possible, the agreed convention for standardizing drinks is ‘grams of pure alcohol’.</a:t>
            </a:r>
          </a:p>
          <a:p>
            <a:pPr>
              <a:buNone/>
            </a:pPr>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4098" name="Picture 2" descr="Alcohol graphics"/>
          <p:cNvPicPr>
            <a:picLocks noChangeAspect="1" noChangeArrowheads="1"/>
          </p:cNvPicPr>
          <p:nvPr/>
        </p:nvPicPr>
        <p:blipFill>
          <a:blip r:embed="rId3" cstate="print"/>
          <a:srcRect/>
          <a:stretch>
            <a:fillRect/>
          </a:stretch>
        </p:blipFill>
        <p:spPr bwMode="auto">
          <a:xfrm>
            <a:off x="3052763" y="3071810"/>
            <a:ext cx="3038475" cy="23431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 by volume</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Different drinks will also have some different strengths.</a:t>
            </a:r>
          </a:p>
          <a:p>
            <a:pPr marL="0">
              <a:spcBef>
                <a:spcPts val="600"/>
              </a:spcBef>
              <a:spcAft>
                <a:spcPts val="1200"/>
              </a:spcAft>
              <a:buNone/>
            </a:pPr>
            <a:r>
              <a:rPr lang="en-AU" sz="2200" dirty="0" smtClean="0">
                <a:latin typeface="Helvetica" pitchFamily="34" charset="0"/>
              </a:rPr>
              <a:t>This is referred to as ‘alcohol by volume</a:t>
            </a:r>
            <a:r>
              <a:rPr lang="en-AU" sz="2200" dirty="0" smtClean="0">
                <a:latin typeface="Helvetica" pitchFamily="34" charset="0"/>
              </a:rPr>
              <a: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Examples include:</a:t>
            </a:r>
          </a:p>
          <a:p>
            <a:pPr marL="0">
              <a:spcBef>
                <a:spcPts val="600"/>
              </a:spcBef>
              <a:spcAft>
                <a:spcPts val="1200"/>
              </a:spcAft>
            </a:pPr>
            <a:r>
              <a:rPr lang="en-AU" sz="2200" dirty="0" smtClean="0">
                <a:latin typeface="Helvetica" pitchFamily="34" charset="0"/>
              </a:rPr>
              <a:t>Beer: normally 3 – 5 %</a:t>
            </a:r>
          </a:p>
          <a:p>
            <a:pPr marL="0">
              <a:spcBef>
                <a:spcPts val="600"/>
              </a:spcBef>
              <a:spcAft>
                <a:spcPts val="1200"/>
              </a:spcAft>
            </a:pPr>
            <a:r>
              <a:rPr lang="en-AU" sz="2200" dirty="0" smtClean="0">
                <a:latin typeface="Helvetica" pitchFamily="34" charset="0"/>
              </a:rPr>
              <a:t>Wine: normally 12 – 14%</a:t>
            </a:r>
          </a:p>
          <a:p>
            <a:pPr marL="0">
              <a:spcBef>
                <a:spcPts val="600"/>
              </a:spcBef>
              <a:spcAft>
                <a:spcPts val="1200"/>
              </a:spcAft>
            </a:pPr>
            <a:r>
              <a:rPr lang="en-AU" sz="2200" dirty="0" smtClean="0">
                <a:latin typeface="Helvetica" pitchFamily="34" charset="0"/>
              </a:rPr>
              <a:t>Spirits: normally 37 – 43</a:t>
            </a:r>
            <a:r>
              <a:rPr lang="en-AU" sz="2200" dirty="0" smtClean="0">
                <a:latin typeface="Helvetica" pitchFamily="34" charset="0"/>
              </a:rPr>
              <a:t>%.</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6" name="Picture 5" descr="MP900409565[1].JPG"/>
          <p:cNvPicPr>
            <a:picLocks noChangeAspect="1"/>
          </p:cNvPicPr>
          <p:nvPr/>
        </p:nvPicPr>
        <p:blipFill>
          <a:blip r:embed="rId3" cstate="print"/>
          <a:stretch>
            <a:fillRect/>
          </a:stretch>
        </p:blipFill>
        <p:spPr>
          <a:xfrm>
            <a:off x="6072198" y="2714620"/>
            <a:ext cx="1639044" cy="2457366"/>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Standard drink</a:t>
            </a:r>
          </a:p>
        </p:txBody>
      </p:sp>
      <p:sp>
        <p:nvSpPr>
          <p:cNvPr id="3" name="Content Placeholder 2"/>
          <p:cNvSpPr>
            <a:spLocks noGrp="1"/>
          </p:cNvSpPr>
          <p:nvPr>
            <p:ph idx="1"/>
          </p:nvPr>
        </p:nvSpPr>
        <p:spPr>
          <a:xfrm>
            <a:off x="611560" y="1556792"/>
            <a:ext cx="7467600" cy="4896544"/>
          </a:xfrm>
        </p:spPr>
        <p:txBody>
          <a:bodyPr>
            <a:normAutofit/>
          </a:bodyPr>
          <a:lstStyle/>
          <a:p>
            <a:pPr marL="0">
              <a:buNone/>
            </a:pPr>
            <a:r>
              <a:rPr lang="en-AU" sz="2200" dirty="0" smtClean="0">
                <a:latin typeface="Helvetica" pitchFamily="34" charset="0"/>
              </a:rPr>
              <a:t>A “standard” drink will always contain a given amount of pure alcohol, regardless of whether it is beer, wine or spirits.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2050" name="Picture 2" descr="Alcohol graphics"/>
          <p:cNvPicPr>
            <a:picLocks noChangeAspect="1" noChangeArrowheads="1"/>
          </p:cNvPicPr>
          <p:nvPr/>
        </p:nvPicPr>
        <p:blipFill>
          <a:blip r:embed="rId3" cstate="print"/>
          <a:srcRect/>
          <a:stretch>
            <a:fillRect/>
          </a:stretch>
        </p:blipFill>
        <p:spPr bwMode="auto">
          <a:xfrm>
            <a:off x="3547164" y="3000372"/>
            <a:ext cx="2049672" cy="2551188"/>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Standard drink</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pPr>
            <a:r>
              <a:rPr lang="en-AU" sz="2200" dirty="0" smtClean="0">
                <a:latin typeface="Helvetica" pitchFamily="34" charset="0"/>
              </a:rPr>
              <a:t>A standard drink is commonly defined as a beverage that contains 10 grams of pure alcohol</a:t>
            </a:r>
          </a:p>
          <a:p>
            <a:pPr>
              <a:spcBef>
                <a:spcPts val="600"/>
              </a:spcBef>
              <a:spcAft>
                <a:spcPts val="1200"/>
              </a:spcAft>
            </a:pPr>
            <a:r>
              <a:rPr lang="en-AU" sz="2200" dirty="0" smtClean="0">
                <a:latin typeface="Helvetica" pitchFamily="34" charset="0"/>
              </a:rPr>
              <a:t>This may vary between 8 and 14 grams in different countries</a:t>
            </a:r>
          </a:p>
          <a:p>
            <a:pPr>
              <a:spcBef>
                <a:spcPts val="600"/>
              </a:spcBef>
              <a:spcAft>
                <a:spcPts val="1200"/>
              </a:spcAft>
            </a:pPr>
            <a:r>
              <a:rPr lang="en-AU" sz="2200" dirty="0" smtClean="0">
                <a:latin typeface="Helvetica" pitchFamily="34" charset="0"/>
              </a:rPr>
              <a:t>Some countries do not identify a ‘standard drink</a:t>
            </a:r>
            <a:r>
              <a:rPr lang="en-AU" sz="2200" dirty="0" smtClean="0">
                <a:latin typeface="Helvetica" pitchFamily="34" charset="0"/>
              </a:rPr>
              <a:t>’.</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5298" name="Picture 2" descr="Alcohol graphics"/>
          <p:cNvPicPr>
            <a:picLocks noChangeAspect="1" noChangeArrowheads="1"/>
          </p:cNvPicPr>
          <p:nvPr/>
        </p:nvPicPr>
        <p:blipFill>
          <a:blip r:embed="rId3" cstate="print"/>
          <a:srcRect/>
          <a:stretch>
            <a:fillRect/>
          </a:stretch>
        </p:blipFill>
        <p:spPr bwMode="auto">
          <a:xfrm>
            <a:off x="2381243" y="4143380"/>
            <a:ext cx="4381514" cy="1761640"/>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Standard drink</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dirty="0" smtClean="0">
                <a:latin typeface="Helvetica" pitchFamily="34" charset="0"/>
              </a:rPr>
              <a:t>As a general rule, a standard drink can be defined as:</a:t>
            </a:r>
          </a:p>
          <a:p>
            <a:pPr lvl="0">
              <a:spcBef>
                <a:spcPts val="600"/>
              </a:spcBef>
              <a:spcAft>
                <a:spcPts val="1200"/>
              </a:spcAft>
            </a:pPr>
            <a:r>
              <a:rPr lang="en-AU" sz="2200" dirty="0" smtClean="0">
                <a:latin typeface="Helvetica" pitchFamily="34" charset="0"/>
              </a:rPr>
              <a:t>30 mls of sprits</a:t>
            </a:r>
          </a:p>
          <a:p>
            <a:pPr lvl="0">
              <a:spcBef>
                <a:spcPts val="600"/>
              </a:spcBef>
              <a:spcAft>
                <a:spcPts val="1200"/>
              </a:spcAft>
            </a:pPr>
            <a:r>
              <a:rPr lang="en-AU" sz="2200" dirty="0" smtClean="0">
                <a:latin typeface="Helvetica" pitchFamily="34" charset="0"/>
              </a:rPr>
              <a:t>285 mls of full strength beer</a:t>
            </a:r>
          </a:p>
          <a:p>
            <a:pPr lvl="0">
              <a:spcBef>
                <a:spcPts val="600"/>
              </a:spcBef>
              <a:spcAft>
                <a:spcPts val="1200"/>
              </a:spcAft>
            </a:pPr>
            <a:r>
              <a:rPr lang="en-AU" sz="2200" dirty="0" smtClean="0">
                <a:latin typeface="Helvetica" pitchFamily="34" charset="0"/>
              </a:rPr>
              <a:t>100 mls of </a:t>
            </a:r>
            <a:r>
              <a:rPr lang="en-AU" sz="2200" dirty="0" smtClean="0">
                <a:latin typeface="Helvetica" pitchFamily="34" charset="0"/>
              </a:rPr>
              <a:t>wine.</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7346" name="Picture 2" descr="Alcohol graphics"/>
          <p:cNvPicPr>
            <a:picLocks noChangeAspect="1" noChangeArrowheads="1"/>
          </p:cNvPicPr>
          <p:nvPr/>
        </p:nvPicPr>
        <p:blipFill>
          <a:blip r:embed="rId3" cstate="print"/>
          <a:srcRect/>
          <a:stretch>
            <a:fillRect/>
          </a:stretch>
        </p:blipFill>
        <p:spPr bwMode="auto">
          <a:xfrm>
            <a:off x="3214678" y="4143380"/>
            <a:ext cx="2730793" cy="1739255"/>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Standard drink</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pPr>
            <a:r>
              <a:rPr lang="en-AU" sz="2200" dirty="0" smtClean="0">
                <a:latin typeface="Helvetica" pitchFamily="34" charset="0"/>
              </a:rPr>
              <a:t>In reality, most alcoholic drinks are not served as a neat ‘standard drink</a:t>
            </a:r>
            <a:r>
              <a:rPr lang="en-AU" sz="2200" dirty="0" smtClean="0">
                <a:latin typeface="Helvetica" pitchFamily="34" charset="0"/>
              </a:rPr>
              <a: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The size of the glass and pouring size may mean a drink contains more than 1 standard drink or 10 grams of alcohol.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MP900444255[1].JPG"/>
          <p:cNvPicPr>
            <a:picLocks noChangeAspect="1"/>
          </p:cNvPicPr>
          <p:nvPr/>
        </p:nvPicPr>
        <p:blipFill>
          <a:blip r:embed="rId3" cstate="print"/>
          <a:stretch>
            <a:fillRect/>
          </a:stretch>
        </p:blipFill>
        <p:spPr>
          <a:xfrm>
            <a:off x="3777823" y="3789040"/>
            <a:ext cx="1588354" cy="2132856"/>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Standard drink</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dirty="0" smtClean="0">
                <a:latin typeface="Helvetica" pitchFamily="34" charset="0"/>
              </a:rPr>
              <a:t>For example:</a:t>
            </a:r>
          </a:p>
          <a:p>
            <a:pPr lvl="0">
              <a:spcBef>
                <a:spcPts val="600"/>
              </a:spcBef>
              <a:spcAft>
                <a:spcPts val="1200"/>
              </a:spcAft>
            </a:pPr>
            <a:r>
              <a:rPr lang="en-AU" sz="2200" dirty="0" smtClean="0">
                <a:latin typeface="Helvetica" pitchFamily="34" charset="0"/>
              </a:rPr>
              <a:t>A 330ml bottle of beer (5% ABV) may contain                      13.2 grams of alcohol / 1.3 standard drinks</a:t>
            </a:r>
          </a:p>
          <a:p>
            <a:pPr lvl="0">
              <a:spcBef>
                <a:spcPts val="600"/>
              </a:spcBef>
              <a:spcAft>
                <a:spcPts val="1200"/>
              </a:spcAft>
            </a:pPr>
            <a:r>
              <a:rPr lang="en-AU" sz="2200" dirty="0" smtClean="0">
                <a:latin typeface="Helvetica" pitchFamily="34" charset="0"/>
              </a:rPr>
              <a:t>A 200ml glass of wine (12% ABV) may contain                   19.2 grams of alcohol / 1.9 standard drinks</a:t>
            </a:r>
          </a:p>
          <a:p>
            <a:pPr lvl="0">
              <a:spcBef>
                <a:spcPts val="600"/>
              </a:spcBef>
              <a:spcAft>
                <a:spcPts val="1200"/>
              </a:spcAft>
            </a:pPr>
            <a:r>
              <a:rPr lang="en-AU" sz="2200" dirty="0" smtClean="0">
                <a:latin typeface="Helvetica" pitchFamily="34" charset="0"/>
              </a:rPr>
              <a:t>A 568ml (pint) of beer (4% ABV) may contain                       18.2 grams of alcohol / 1.8 standard </a:t>
            </a:r>
            <a:r>
              <a:rPr lang="en-AU" sz="2200" dirty="0" smtClean="0">
                <a:latin typeface="Helvetica" pitchFamily="34" charset="0"/>
              </a:rPr>
              <a:t>drinks.</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7" name="Picture 6" descr="MP900432952[1].JPG"/>
          <p:cNvPicPr>
            <a:picLocks noChangeAspect="1"/>
          </p:cNvPicPr>
          <p:nvPr/>
        </p:nvPicPr>
        <p:blipFill>
          <a:blip r:embed="rId3" cstate="print"/>
          <a:stretch>
            <a:fillRect/>
          </a:stretch>
        </p:blipFill>
        <p:spPr>
          <a:xfrm>
            <a:off x="7143768" y="2357430"/>
            <a:ext cx="1362741" cy="1928407"/>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Determining ‘standard drink’</a:t>
            </a:r>
          </a:p>
        </p:txBody>
      </p:sp>
      <p:sp>
        <p:nvSpPr>
          <p:cNvPr id="3" name="Content Placeholder 2"/>
          <p:cNvSpPr>
            <a:spLocks noGrp="1"/>
          </p:cNvSpPr>
          <p:nvPr>
            <p:ph idx="1"/>
          </p:nvPr>
        </p:nvSpPr>
        <p:spPr>
          <a:xfrm>
            <a:off x="611560" y="1556792"/>
            <a:ext cx="7992888" cy="4896544"/>
          </a:xfrm>
        </p:spPr>
        <p:txBody>
          <a:bodyPr>
            <a:normAutofit/>
          </a:bodyPr>
          <a:lstStyle/>
          <a:p>
            <a:pPr marL="0">
              <a:buNone/>
            </a:pPr>
            <a:r>
              <a:rPr lang="en-AU" sz="2100" dirty="0" smtClean="0">
                <a:latin typeface="Helvetica" pitchFamily="34" charset="0"/>
              </a:rPr>
              <a:t>A formula for working out how many grams of alcohol / standard drinks in a beverage is:</a:t>
            </a:r>
          </a:p>
          <a:p>
            <a:pPr>
              <a:buNone/>
            </a:pPr>
            <a:endParaRPr lang="en-AU" sz="2400" dirty="0" smtClean="0"/>
          </a:p>
          <a:p>
            <a:pPr algn="ctr">
              <a:buNone/>
            </a:pPr>
            <a:r>
              <a:rPr lang="en-AU" sz="2400" b="1" u="sng" dirty="0" smtClean="0"/>
              <a:t>{</a:t>
            </a:r>
            <a:r>
              <a:rPr lang="en-AU" sz="2300" b="1" u="sng" dirty="0" smtClean="0"/>
              <a:t>Amount of drink (ml) X Strength of drink (ABV)} x 8</a:t>
            </a:r>
            <a:endParaRPr lang="en-AU" sz="2300" dirty="0" smtClean="0"/>
          </a:p>
          <a:p>
            <a:pPr algn="ctr">
              <a:buNone/>
            </a:pPr>
            <a:r>
              <a:rPr lang="en-AU" sz="2300" b="1" dirty="0" smtClean="0"/>
              <a:t>1000</a:t>
            </a:r>
            <a:endParaRPr lang="en-AU" sz="23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6" name="Picture 5" descr="MP900443861[1].JPG"/>
          <p:cNvPicPr/>
          <p:nvPr/>
        </p:nvPicPr>
        <p:blipFill>
          <a:blip r:embed="rId3" cstate="print"/>
          <a:stretch>
            <a:fillRect/>
          </a:stretch>
        </p:blipFill>
        <p:spPr>
          <a:xfrm>
            <a:off x="3688085" y="4005064"/>
            <a:ext cx="1767830" cy="193166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Effects of alcohol</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dirty="0" smtClean="0">
                <a:latin typeface="Helvetica" pitchFamily="34" charset="0"/>
              </a:rPr>
              <a:t>Many people enjoy visiting hospitality organisations as it provides a chance for people to relax, unwind and enjoy themselves through the provision of good food, beverage and entertainment.</a:t>
            </a:r>
          </a:p>
          <a:p>
            <a:pPr marL="0">
              <a:spcBef>
                <a:spcPts val="600"/>
              </a:spcBef>
              <a:spcAft>
                <a:spcPts val="1200"/>
              </a:spcAft>
            </a:pPr>
            <a:r>
              <a:rPr lang="en-AU" sz="2200" dirty="0" smtClean="0">
                <a:latin typeface="Helvetica" pitchFamily="34" charset="0"/>
              </a:rPr>
              <a:t>Why do people drink alcohol?</a:t>
            </a:r>
          </a:p>
          <a:p>
            <a:pPr marL="0">
              <a:spcBef>
                <a:spcPts val="600"/>
              </a:spcBef>
              <a:spcAft>
                <a:spcPts val="1200"/>
              </a:spcAft>
            </a:pPr>
            <a:r>
              <a:rPr lang="en-AU" sz="2200" dirty="0" smtClean="0">
                <a:latin typeface="Helvetica" pitchFamily="34" charset="0"/>
              </a:rPr>
              <a:t>What effects does it have?</a:t>
            </a:r>
          </a:p>
          <a:p>
            <a:pPr marL="0">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7" name="Picture 6" descr="MP900430935[1].JPG"/>
          <p:cNvPicPr/>
          <p:nvPr/>
        </p:nvPicPr>
        <p:blipFill>
          <a:blip r:embed="rId3" cstate="print"/>
          <a:stretch>
            <a:fillRect/>
          </a:stretch>
        </p:blipFill>
        <p:spPr>
          <a:xfrm>
            <a:off x="5857884" y="3071810"/>
            <a:ext cx="2287315" cy="1550467"/>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Effects of alcohol</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dirty="0" smtClean="0">
                <a:latin typeface="Helvetica" pitchFamily="34" charset="0"/>
              </a:rPr>
              <a:t>It is still important to remember that alcohol:</a:t>
            </a:r>
          </a:p>
          <a:p>
            <a:pPr marL="0">
              <a:spcBef>
                <a:spcPts val="600"/>
              </a:spcBef>
              <a:spcAft>
                <a:spcPts val="1200"/>
              </a:spcAft>
            </a:pPr>
            <a:r>
              <a:rPr lang="en-AU" sz="2200" dirty="0" smtClean="0">
                <a:latin typeface="Helvetica" pitchFamily="34" charset="0"/>
              </a:rPr>
              <a:t>Depresses the brain’s functions </a:t>
            </a:r>
          </a:p>
          <a:p>
            <a:pPr marL="0">
              <a:spcBef>
                <a:spcPts val="600"/>
              </a:spcBef>
              <a:spcAft>
                <a:spcPts val="1200"/>
              </a:spcAft>
            </a:pPr>
            <a:r>
              <a:rPr lang="en-AU" sz="2200" dirty="0" smtClean="0">
                <a:latin typeface="Helvetica" pitchFamily="34" charset="0"/>
              </a:rPr>
              <a:t>Which leads to changes in a person’s </a:t>
            </a:r>
            <a:r>
              <a:rPr lang="en-AU" sz="2200" dirty="0" smtClean="0">
                <a:latin typeface="Helvetica" pitchFamily="34" charset="0"/>
              </a:rPr>
              <a:t>behaviour.</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MP900444080[1].JPG"/>
          <p:cNvPicPr>
            <a:picLocks noChangeAspect="1"/>
          </p:cNvPicPr>
          <p:nvPr/>
        </p:nvPicPr>
        <p:blipFill>
          <a:blip r:embed="rId3" cstate="print"/>
          <a:stretch>
            <a:fillRect/>
          </a:stretch>
        </p:blipFill>
        <p:spPr>
          <a:xfrm>
            <a:off x="3071802" y="3857628"/>
            <a:ext cx="2938153" cy="1955308"/>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Effects of alcohol</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dirty="0" smtClean="0">
                <a:latin typeface="Helvetica" pitchFamily="34" charset="0"/>
              </a:rPr>
              <a:t>When consumed in an irresponsible manner alcohol can become a:</a:t>
            </a:r>
          </a:p>
          <a:p>
            <a:pPr marL="0">
              <a:spcBef>
                <a:spcPts val="600"/>
              </a:spcBef>
              <a:spcAft>
                <a:spcPts val="1200"/>
              </a:spcAft>
            </a:pPr>
            <a:r>
              <a:rPr lang="en-AU" sz="2200" dirty="0" smtClean="0">
                <a:latin typeface="Helvetica" pitchFamily="34" charset="0"/>
              </a:rPr>
              <a:t>Dangerous and damaging substance </a:t>
            </a:r>
          </a:p>
          <a:p>
            <a:pPr>
              <a:spcBef>
                <a:spcPts val="600"/>
              </a:spcBef>
              <a:spcAft>
                <a:spcPts val="1200"/>
              </a:spcAft>
            </a:pPr>
            <a:r>
              <a:rPr lang="en-AU" sz="2200" dirty="0" smtClean="0">
                <a:latin typeface="Helvetica" pitchFamily="34" charset="0"/>
              </a:rPr>
              <a:t>Which can have serious effects on a </a:t>
            </a:r>
            <a:r>
              <a:rPr lang="en-AU" sz="2200" dirty="0" smtClean="0">
                <a:latin typeface="Helvetica" pitchFamily="34" charset="0"/>
              </a:rPr>
              <a:t>person.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7" name="Picture 6" descr="MP900443097[1].JPG"/>
          <p:cNvPicPr>
            <a:picLocks noChangeAspect="1"/>
          </p:cNvPicPr>
          <p:nvPr/>
        </p:nvPicPr>
        <p:blipFill>
          <a:blip r:embed="rId3" cstate="print"/>
          <a:stretch>
            <a:fillRect/>
          </a:stretch>
        </p:blipFill>
        <p:spPr>
          <a:xfrm>
            <a:off x="7072330" y="2285992"/>
            <a:ext cx="1382764" cy="2071702"/>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Effects of alcohol</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dirty="0" smtClean="0">
                <a:latin typeface="Helvetica" pitchFamily="34" charset="0"/>
              </a:rPr>
              <a:t>Therefore as a staff member within the hospitality industry,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it </a:t>
            </a:r>
            <a:r>
              <a:rPr lang="en-AU" sz="2200" dirty="0" smtClean="0">
                <a:latin typeface="Helvetica" pitchFamily="34" charset="0"/>
              </a:rPr>
              <a:t>is important that you ensure customers:</a:t>
            </a:r>
          </a:p>
          <a:p>
            <a:pPr>
              <a:spcBef>
                <a:spcPts val="600"/>
              </a:spcBef>
              <a:spcAft>
                <a:spcPts val="1200"/>
              </a:spcAft>
            </a:pPr>
            <a:r>
              <a:rPr lang="en-AU" sz="2200" dirty="0" smtClean="0">
                <a:latin typeface="Helvetica" pitchFamily="34" charset="0"/>
              </a:rPr>
              <a:t>Consume alcohol in a sensible manner</a:t>
            </a:r>
          </a:p>
          <a:p>
            <a:pPr>
              <a:spcBef>
                <a:spcPts val="600"/>
              </a:spcBef>
              <a:spcAft>
                <a:spcPts val="1200"/>
              </a:spcAft>
            </a:pPr>
            <a:r>
              <a:rPr lang="en-AU" sz="2200" dirty="0" smtClean="0">
                <a:latin typeface="Helvetica" pitchFamily="34" charset="0"/>
              </a:rPr>
              <a:t>Understand the effect alcohol has on </a:t>
            </a:r>
            <a:r>
              <a:rPr lang="en-AU" sz="2200" dirty="0" smtClean="0">
                <a:latin typeface="Helvetica" pitchFamily="34" charset="0"/>
              </a:rPr>
              <a:t>people.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MP900422472[1].JPG"/>
          <p:cNvPicPr>
            <a:picLocks noChangeAspect="1"/>
          </p:cNvPicPr>
          <p:nvPr/>
        </p:nvPicPr>
        <p:blipFill>
          <a:blip r:embed="rId3" cstate="print"/>
          <a:stretch>
            <a:fillRect/>
          </a:stretch>
        </p:blipFill>
        <p:spPr>
          <a:xfrm>
            <a:off x="3714744" y="3786190"/>
            <a:ext cx="1714512" cy="257428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 and the body</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b="1" dirty="0" smtClean="0">
                <a:latin typeface="Helvetica" pitchFamily="34" charset="0"/>
              </a:rPr>
              <a:t>Alcohol entering body</a:t>
            </a:r>
          </a:p>
          <a:p>
            <a:pPr>
              <a:spcBef>
                <a:spcPts val="600"/>
              </a:spcBef>
              <a:spcAft>
                <a:spcPts val="1200"/>
              </a:spcAft>
            </a:pPr>
            <a:r>
              <a:rPr lang="en-AU" sz="2200" dirty="0" smtClean="0">
                <a:latin typeface="Helvetica" pitchFamily="34" charset="0"/>
              </a:rPr>
              <a:t>Alcohol, when consumed it is normally swallowed and goes into the stomach</a:t>
            </a:r>
          </a:p>
          <a:p>
            <a:pPr>
              <a:spcBef>
                <a:spcPts val="600"/>
              </a:spcBef>
              <a:spcAft>
                <a:spcPts val="1200"/>
              </a:spcAft>
            </a:pPr>
            <a:r>
              <a:rPr lang="en-AU" sz="2200" dirty="0" smtClean="0">
                <a:latin typeface="Helvetica" pitchFamily="34" charset="0"/>
              </a:rPr>
              <a:t>The stomach breaks down food and drink before passing it to the small intestine</a:t>
            </a:r>
          </a:p>
          <a:p>
            <a:pPr>
              <a:spcBef>
                <a:spcPts val="600"/>
              </a:spcBef>
              <a:spcAft>
                <a:spcPts val="1200"/>
              </a:spcAft>
            </a:pPr>
            <a:r>
              <a:rPr lang="en-AU" sz="2200" dirty="0" smtClean="0">
                <a:latin typeface="Helvetica" pitchFamily="34" charset="0"/>
              </a:rPr>
              <a:t> It is then absorbed into the bloodstream</a:t>
            </a:r>
          </a:p>
          <a:p>
            <a:pPr>
              <a:spcBef>
                <a:spcPts val="600"/>
              </a:spcBef>
              <a:spcAft>
                <a:spcPts val="1200"/>
              </a:spcAft>
            </a:pPr>
            <a:r>
              <a:rPr lang="en-AU" sz="2200" dirty="0" smtClean="0">
                <a:latin typeface="Helvetica" pitchFamily="34" charset="0"/>
              </a:rPr>
              <a:t>The less food eaten, the quicker it is </a:t>
            </a:r>
            <a:r>
              <a:rPr lang="en-AU" sz="2200" dirty="0" smtClean="0">
                <a:latin typeface="Helvetica" pitchFamily="34" charset="0"/>
              </a:rPr>
              <a:t>absorbed.</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7" name="imgHvThumb" descr="Creature drinking water from an oversized cup"/>
          <p:cNvPicPr/>
          <p:nvPr/>
        </p:nvPicPr>
        <p:blipFill>
          <a:blip r:embed="rId3" cstate="print"/>
          <a:srcRect/>
          <a:stretch>
            <a:fillRect/>
          </a:stretch>
        </p:blipFill>
        <p:spPr bwMode="auto">
          <a:xfrm>
            <a:off x="7233432" y="3714752"/>
            <a:ext cx="1124782" cy="107157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 and the body</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b="1" dirty="0" smtClean="0">
                <a:latin typeface="Helvetica" pitchFamily="34" charset="0"/>
              </a:rPr>
              <a:t>Alcohol entering body</a:t>
            </a:r>
          </a:p>
          <a:p>
            <a:pPr>
              <a:spcBef>
                <a:spcPts val="600"/>
              </a:spcBef>
              <a:spcAft>
                <a:spcPts val="1200"/>
              </a:spcAft>
            </a:pPr>
            <a:r>
              <a:rPr lang="en-AU" sz="2200" dirty="0" smtClean="0">
                <a:latin typeface="Helvetica" pitchFamily="34" charset="0"/>
              </a:rPr>
              <a:t>The bloodstream then carries the alcohol to the brain</a:t>
            </a:r>
          </a:p>
          <a:p>
            <a:pPr>
              <a:spcBef>
                <a:spcPts val="600"/>
              </a:spcBef>
              <a:spcAft>
                <a:spcPts val="1200"/>
              </a:spcAft>
            </a:pPr>
            <a:r>
              <a:rPr lang="en-AU" sz="2200" dirty="0" smtClean="0">
                <a:latin typeface="Helvetica" pitchFamily="34" charset="0"/>
              </a:rPr>
              <a:t>This process takes about 5 minutes</a:t>
            </a:r>
          </a:p>
          <a:p>
            <a:pPr>
              <a:spcBef>
                <a:spcPts val="600"/>
              </a:spcBef>
              <a:spcAft>
                <a:spcPts val="1200"/>
              </a:spcAft>
            </a:pPr>
            <a:r>
              <a:rPr lang="en-AU" sz="2200" dirty="0" smtClean="0">
                <a:latin typeface="Helvetica" pitchFamily="34" charset="0"/>
              </a:rPr>
              <a:t>It starts to affect the function of the brain including:</a:t>
            </a:r>
          </a:p>
          <a:p>
            <a:pPr lvl="1">
              <a:spcBef>
                <a:spcPts val="600"/>
              </a:spcBef>
              <a:spcAft>
                <a:spcPts val="1200"/>
              </a:spcAft>
            </a:pPr>
            <a:r>
              <a:rPr lang="en-AU" sz="2200" dirty="0" smtClean="0">
                <a:latin typeface="Helvetica" pitchFamily="34" charset="0"/>
              </a:rPr>
              <a:t>Judgement</a:t>
            </a:r>
          </a:p>
          <a:p>
            <a:pPr lvl="1">
              <a:spcBef>
                <a:spcPts val="600"/>
              </a:spcBef>
              <a:spcAft>
                <a:spcPts val="1200"/>
              </a:spcAft>
            </a:pPr>
            <a:r>
              <a:rPr lang="en-AU" sz="2200" dirty="0" smtClean="0">
                <a:latin typeface="Helvetica" pitchFamily="34" charset="0"/>
              </a:rPr>
              <a:t>Inhibitions.</a:t>
            </a:r>
            <a:endParaRPr lang="en-AU" sz="2200" dirty="0" smtClean="0">
              <a:latin typeface="Helvetica" pitchFamily="34" charset="0"/>
            </a:endParaRPr>
          </a:p>
          <a:p>
            <a:pPr marL="0">
              <a:spcBef>
                <a:spcPts val="600"/>
              </a:spcBef>
              <a:spcAft>
                <a:spcPts val="1200"/>
              </a:spcAft>
              <a:buNone/>
            </a:pP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6" name="Picture 5" descr="MP900438746[1].JPG"/>
          <p:cNvPicPr>
            <a:picLocks noChangeAspect="1"/>
          </p:cNvPicPr>
          <p:nvPr/>
        </p:nvPicPr>
        <p:blipFill>
          <a:blip r:embed="rId3" cstate="print"/>
          <a:stretch>
            <a:fillRect/>
          </a:stretch>
        </p:blipFill>
        <p:spPr>
          <a:xfrm>
            <a:off x="5214942" y="3857628"/>
            <a:ext cx="1389603" cy="185280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 and the body</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b="1" dirty="0" smtClean="0">
                <a:latin typeface="Helvetica" pitchFamily="34" charset="0"/>
              </a:rPr>
              <a:t>Alcohol entering body</a:t>
            </a:r>
          </a:p>
          <a:p>
            <a:pPr>
              <a:spcBef>
                <a:spcPts val="600"/>
              </a:spcBef>
              <a:spcAft>
                <a:spcPts val="1200"/>
              </a:spcAft>
            </a:pPr>
            <a:r>
              <a:rPr lang="en-AU" sz="2200" dirty="0" smtClean="0">
                <a:latin typeface="Helvetica" pitchFamily="34" charset="0"/>
              </a:rPr>
              <a:t>As more alcohol is absorbed, it continues to travel to other parts of the body affecting other functions including:</a:t>
            </a:r>
          </a:p>
          <a:p>
            <a:pPr lvl="1">
              <a:spcBef>
                <a:spcPts val="600"/>
              </a:spcBef>
              <a:spcAft>
                <a:spcPts val="600"/>
              </a:spcAft>
            </a:pPr>
            <a:r>
              <a:rPr lang="en-AU" sz="2200" dirty="0" smtClean="0">
                <a:latin typeface="Helvetica" pitchFamily="34" charset="0"/>
              </a:rPr>
              <a:t>Balance</a:t>
            </a:r>
          </a:p>
          <a:p>
            <a:pPr lvl="1">
              <a:spcBef>
                <a:spcPts val="600"/>
              </a:spcBef>
              <a:spcAft>
                <a:spcPts val="600"/>
              </a:spcAft>
            </a:pPr>
            <a:r>
              <a:rPr lang="en-AU" sz="2200" dirty="0" smtClean="0">
                <a:latin typeface="Helvetica" pitchFamily="34" charset="0"/>
              </a:rPr>
              <a:t>Co-ordination</a:t>
            </a:r>
          </a:p>
          <a:p>
            <a:pPr>
              <a:spcBef>
                <a:spcPts val="600"/>
              </a:spcBef>
              <a:spcAft>
                <a:spcPts val="1200"/>
              </a:spcAft>
            </a:pPr>
            <a:r>
              <a:rPr lang="en-AU" sz="2200" dirty="0" smtClean="0">
                <a:latin typeface="Helvetica" pitchFamily="34" charset="0"/>
              </a:rPr>
              <a:t>It is this effect that starts to make us appear                               to be </a:t>
            </a:r>
            <a:r>
              <a:rPr lang="en-AU" sz="2200" dirty="0" smtClean="0">
                <a:latin typeface="Helvetica" pitchFamily="34" charset="0"/>
              </a:rPr>
              <a:t>drunk.</a:t>
            </a:r>
            <a:endParaRPr lang="en-AU" sz="2200" dirty="0" smtClean="0">
              <a:latin typeface="Helvetica" pitchFamily="34" charset="0"/>
            </a:endParaRPr>
          </a:p>
          <a:p>
            <a:pPr marL="0">
              <a:spcBef>
                <a:spcPts val="600"/>
              </a:spcBef>
              <a:spcAft>
                <a:spcPts val="1200"/>
              </a:spcAft>
              <a:buNone/>
            </a:pP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4" descr="MP900409372[1].JPG"/>
          <p:cNvPicPr>
            <a:picLocks noChangeAspect="1"/>
          </p:cNvPicPr>
          <p:nvPr/>
        </p:nvPicPr>
        <p:blipFill>
          <a:blip r:embed="rId3" cstate="print"/>
          <a:stretch>
            <a:fillRect/>
          </a:stretch>
        </p:blipFill>
        <p:spPr>
          <a:xfrm>
            <a:off x="7000892" y="3214686"/>
            <a:ext cx="1481388" cy="1481388"/>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Alcohol and the body</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Alcohol affects people differently</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 essence, alcohol affects different people in different ways due to:</a:t>
            </a:r>
          </a:p>
          <a:p>
            <a:pPr lvl="0">
              <a:spcBef>
                <a:spcPts val="600"/>
              </a:spcBef>
              <a:spcAft>
                <a:spcPts val="1200"/>
              </a:spcAft>
            </a:pPr>
            <a:r>
              <a:rPr lang="en-AU" sz="2200" dirty="0" smtClean="0">
                <a:latin typeface="Helvetica" pitchFamily="34" charset="0"/>
              </a:rPr>
              <a:t>Speed of drinking</a:t>
            </a:r>
          </a:p>
          <a:p>
            <a:pPr lvl="0">
              <a:spcBef>
                <a:spcPts val="600"/>
              </a:spcBef>
              <a:spcAft>
                <a:spcPts val="1200"/>
              </a:spcAft>
            </a:pPr>
            <a:r>
              <a:rPr lang="en-AU" sz="2200" dirty="0" smtClean="0">
                <a:latin typeface="Helvetica" pitchFamily="34" charset="0"/>
              </a:rPr>
              <a:t>Strength of drink</a:t>
            </a:r>
          </a:p>
          <a:p>
            <a:pPr lvl="0">
              <a:spcBef>
                <a:spcPts val="600"/>
              </a:spcBef>
              <a:spcAft>
                <a:spcPts val="1200"/>
              </a:spcAft>
            </a:pPr>
            <a:r>
              <a:rPr lang="en-AU" sz="2200" dirty="0" smtClean="0">
                <a:latin typeface="Helvetica" pitchFamily="34" charset="0"/>
              </a:rPr>
              <a:t>Person’s sex</a:t>
            </a:r>
          </a:p>
          <a:p>
            <a:pPr lvl="0">
              <a:spcBef>
                <a:spcPts val="600"/>
              </a:spcBef>
              <a:spcAft>
                <a:spcPts val="1200"/>
              </a:spcAft>
            </a:pPr>
            <a:r>
              <a:rPr lang="en-AU" sz="2200" dirty="0" smtClean="0">
                <a:latin typeface="Helvetica" pitchFamily="34" charset="0"/>
              </a:rPr>
              <a:t>Person’s weight</a:t>
            </a:r>
          </a:p>
          <a:p>
            <a:pPr lvl="0">
              <a:spcBef>
                <a:spcPts val="600"/>
              </a:spcBef>
              <a:spcAft>
                <a:spcPts val="1200"/>
              </a:spcAft>
            </a:pPr>
            <a:r>
              <a:rPr lang="en-AU" sz="2200" dirty="0" smtClean="0">
                <a:latin typeface="Helvetica" pitchFamily="34" charset="0"/>
              </a:rPr>
              <a:t>Amount of food eaten</a:t>
            </a:r>
          </a:p>
          <a:p>
            <a:pPr lvl="0">
              <a:spcBef>
                <a:spcPts val="600"/>
              </a:spcBef>
              <a:spcAft>
                <a:spcPts val="1200"/>
              </a:spcAft>
            </a:pPr>
            <a:r>
              <a:rPr lang="en-AU" sz="2200" dirty="0" smtClean="0">
                <a:latin typeface="Helvetica" pitchFamily="34" charset="0"/>
              </a:rPr>
              <a:t>Tolerance to </a:t>
            </a:r>
            <a:r>
              <a:rPr lang="en-AU" sz="2200" dirty="0" smtClean="0">
                <a:latin typeface="Helvetica" pitchFamily="34" charset="0"/>
              </a:rPr>
              <a:t>alcohol.</a:t>
            </a:r>
            <a:endParaRPr lang="en-AU" sz="2200" dirty="0" smtClean="0">
              <a:latin typeface="Helvetica" pitchFamily="34" charset="0"/>
            </a:endParaRPr>
          </a:p>
          <a:p>
            <a:pPr marL="0">
              <a:spcBef>
                <a:spcPts val="600"/>
              </a:spcBef>
              <a:spcAft>
                <a:spcPts val="1200"/>
              </a:spcAft>
              <a:buNone/>
            </a:pP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7" name="Picture 6" descr="00302923.jpg"/>
          <p:cNvPicPr/>
          <p:nvPr/>
        </p:nvPicPr>
        <p:blipFill>
          <a:blip r:embed="rId3" cstate="print"/>
          <a:stretch>
            <a:fillRect/>
          </a:stretch>
        </p:blipFill>
        <p:spPr>
          <a:xfrm>
            <a:off x="5500694" y="3071810"/>
            <a:ext cx="2475334" cy="1737916"/>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Monitoring intoxication</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dirty="0" smtClean="0">
                <a:latin typeface="Helvetica" pitchFamily="34" charset="0"/>
              </a:rPr>
              <a:t>As a staff member, it is important to:</a:t>
            </a:r>
          </a:p>
          <a:p>
            <a:pPr>
              <a:spcBef>
                <a:spcPts val="600"/>
              </a:spcBef>
              <a:spcAft>
                <a:spcPts val="1200"/>
              </a:spcAft>
            </a:pPr>
            <a:r>
              <a:rPr lang="en-AU" sz="2200" dirty="0" smtClean="0">
                <a:latin typeface="Helvetica" pitchFamily="34" charset="0"/>
              </a:rPr>
              <a:t>Know the early symptoms of intoxication</a:t>
            </a:r>
          </a:p>
          <a:p>
            <a:pPr>
              <a:spcBef>
                <a:spcPts val="600"/>
              </a:spcBef>
              <a:spcAft>
                <a:spcPts val="1200"/>
              </a:spcAft>
            </a:pPr>
            <a:r>
              <a:rPr lang="en-AU" sz="2200" dirty="0" smtClean="0">
                <a:latin typeface="Helvetica" pitchFamily="34" charset="0"/>
              </a:rPr>
              <a:t>Refuse to serve such customers well before they become obviously </a:t>
            </a:r>
            <a:r>
              <a:rPr lang="en-AU" sz="2200" dirty="0" smtClean="0">
                <a:latin typeface="Helvetica" pitchFamily="34" charset="0"/>
              </a:rPr>
              <a:t>drunk.</a:t>
            </a:r>
            <a:endParaRPr lang="en-AU" sz="2200" dirty="0" smtClean="0">
              <a:latin typeface="Helvetica" pitchFamily="34" charset="0"/>
            </a:endParaRPr>
          </a:p>
          <a:p>
            <a:pPr marL="0">
              <a:spcBef>
                <a:spcPts val="600"/>
              </a:spcBef>
              <a:spcAft>
                <a:spcPts val="1200"/>
              </a:spcAft>
              <a:buNone/>
            </a:pP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6" name="Picture 5" descr="MP900432807[1].JPG"/>
          <p:cNvPicPr>
            <a:picLocks noChangeAspect="1"/>
          </p:cNvPicPr>
          <p:nvPr/>
        </p:nvPicPr>
        <p:blipFill>
          <a:blip r:embed="rId3" cstate="print"/>
          <a:stretch>
            <a:fillRect/>
          </a:stretch>
        </p:blipFill>
        <p:spPr>
          <a:xfrm>
            <a:off x="3321835" y="3714751"/>
            <a:ext cx="2500330" cy="1900251"/>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Monitoring intoxication</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dirty="0" smtClean="0">
                <a:latin typeface="Helvetica" pitchFamily="34" charset="0"/>
              </a:rPr>
              <a:t>As alcohol consumption increases it:</a:t>
            </a:r>
          </a:p>
          <a:p>
            <a:pPr>
              <a:spcBef>
                <a:spcPts val="600"/>
              </a:spcBef>
              <a:spcAft>
                <a:spcPts val="1200"/>
              </a:spcAft>
            </a:pPr>
            <a:r>
              <a:rPr lang="en-AU" sz="2200" dirty="0" smtClean="0">
                <a:latin typeface="Helvetica" pitchFamily="34" charset="0"/>
              </a:rPr>
              <a:t>Worsens customer’s physical and mental functioning</a:t>
            </a:r>
          </a:p>
          <a:p>
            <a:pPr>
              <a:spcBef>
                <a:spcPts val="600"/>
              </a:spcBef>
              <a:spcAft>
                <a:spcPts val="1200"/>
              </a:spcAft>
            </a:pPr>
            <a:r>
              <a:rPr lang="en-AU" sz="2200" dirty="0" smtClean="0">
                <a:latin typeface="Helvetica" pitchFamily="34" charset="0"/>
              </a:rPr>
              <a:t>Makes them less likely to be able to make decisions about their own well </a:t>
            </a:r>
            <a:r>
              <a:rPr lang="en-AU" sz="2200" dirty="0" smtClean="0">
                <a:latin typeface="Helvetica" pitchFamily="34" charset="0"/>
              </a:rPr>
              <a:t>being.</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This is why it is up to the server to decide who has had enough to drink, not the drinking customer.</a:t>
            </a:r>
          </a:p>
          <a:p>
            <a:pPr marL="0">
              <a:spcBef>
                <a:spcPts val="600"/>
              </a:spcBef>
              <a:spcAft>
                <a:spcPts val="1200"/>
              </a:spcAft>
              <a:buNone/>
            </a:pP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7" name="Picture 6" descr="MP900442598[1].JPG"/>
          <p:cNvPicPr>
            <a:picLocks noChangeAspect="1"/>
          </p:cNvPicPr>
          <p:nvPr/>
        </p:nvPicPr>
        <p:blipFill>
          <a:blip r:embed="rId3" cstate="print"/>
          <a:stretch>
            <a:fillRect/>
          </a:stretch>
        </p:blipFill>
        <p:spPr>
          <a:xfrm>
            <a:off x="3318505" y="4714884"/>
            <a:ext cx="2506990" cy="1678233"/>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Intoxication</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What is intoxication?</a:t>
            </a:r>
          </a:p>
          <a:p>
            <a:pPr marL="0">
              <a:spcBef>
                <a:spcPts val="600"/>
              </a:spcBef>
              <a:spcAft>
                <a:spcPts val="1200"/>
              </a:spcAft>
              <a:buNone/>
            </a:pPr>
            <a:r>
              <a:rPr lang="en-AU" sz="2200" dirty="0" smtClean="0">
                <a:latin typeface="Helvetica" pitchFamily="34" charset="0"/>
              </a:rPr>
              <a:t>Different countries will prohibit the sale or supply or alcohol to someone who appears to be intoxicated or drunk. </a:t>
            </a:r>
          </a:p>
          <a:p>
            <a:pPr>
              <a:spcBef>
                <a:spcPts val="600"/>
              </a:spcBef>
              <a:spcAft>
                <a:spcPts val="1200"/>
              </a:spcAft>
            </a:pPr>
            <a:r>
              <a:rPr lang="en-AU" sz="2200" dirty="0" smtClean="0">
                <a:latin typeface="Helvetica" pitchFamily="34" charset="0"/>
              </a:rPr>
              <a:t>By what does this mean? </a:t>
            </a:r>
          </a:p>
          <a:p>
            <a:pPr>
              <a:spcBef>
                <a:spcPts val="600"/>
              </a:spcBef>
              <a:spcAft>
                <a:spcPts val="1200"/>
              </a:spcAft>
            </a:pPr>
            <a:r>
              <a:rPr lang="en-AU" sz="2200" dirty="0" smtClean="0">
                <a:latin typeface="Helvetica" pitchFamily="34" charset="0"/>
              </a:rPr>
              <a:t>When do you know someone has reached this level? </a:t>
            </a:r>
          </a:p>
          <a:p>
            <a:pPr marL="0">
              <a:spcBef>
                <a:spcPts val="600"/>
              </a:spcBef>
              <a:spcAft>
                <a:spcPts val="1200"/>
              </a:spcAft>
              <a:buNone/>
            </a:pP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6" name="Picture 5" descr="MP900442439[1].JPG"/>
          <p:cNvPicPr>
            <a:picLocks noChangeAspect="1"/>
          </p:cNvPicPr>
          <p:nvPr/>
        </p:nvPicPr>
        <p:blipFill>
          <a:blip r:embed="rId3" cstate="print"/>
          <a:stretch>
            <a:fillRect/>
          </a:stretch>
        </p:blipFill>
        <p:spPr>
          <a:xfrm>
            <a:off x="6012160" y="4437112"/>
            <a:ext cx="2335188" cy="1556792"/>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Intoxication</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What is intoxication?</a:t>
            </a:r>
          </a:p>
          <a:p>
            <a:pPr>
              <a:spcBef>
                <a:spcPts val="600"/>
              </a:spcBef>
              <a:spcAft>
                <a:spcPts val="1200"/>
              </a:spcAft>
            </a:pPr>
            <a:r>
              <a:rPr lang="en-AU" sz="2200" dirty="0" smtClean="0">
                <a:latin typeface="Helvetica" pitchFamily="34" charset="0"/>
              </a:rPr>
              <a:t>In summary, “intoxicated” is the body’s response to having alcohol in the human </a:t>
            </a:r>
            <a:r>
              <a:rPr lang="en-AU" sz="2200" dirty="0" smtClean="0">
                <a:latin typeface="Helvetica" pitchFamily="34" charset="0"/>
              </a:rPr>
              <a:t>system</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This is always hard to identify so what signs exist that may indicate intoxication?</a:t>
            </a:r>
          </a:p>
          <a:p>
            <a:pPr marL="0">
              <a:spcBef>
                <a:spcPts val="600"/>
              </a:spcBef>
              <a:spcAft>
                <a:spcPts val="1200"/>
              </a:spcAft>
              <a:buNone/>
            </a:pP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6" name="imgHvThumb" descr="Smiling stick-person drinking from a straw"/>
          <p:cNvPicPr/>
          <p:nvPr/>
        </p:nvPicPr>
        <p:blipFill>
          <a:blip r:embed="rId3" cstate="print"/>
          <a:srcRect/>
          <a:stretch>
            <a:fillRect/>
          </a:stretch>
        </p:blipFill>
        <p:spPr bwMode="auto">
          <a:xfrm>
            <a:off x="3486919" y="4214818"/>
            <a:ext cx="2170162" cy="173811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Signs of intoxication</a:t>
            </a:r>
          </a:p>
        </p:txBody>
      </p:sp>
      <p:sp>
        <p:nvSpPr>
          <p:cNvPr id="3" name="Content Placeholder 2"/>
          <p:cNvSpPr>
            <a:spLocks noGrp="1"/>
          </p:cNvSpPr>
          <p:nvPr>
            <p:ph idx="1"/>
          </p:nvPr>
        </p:nvSpPr>
        <p:spPr>
          <a:xfrm>
            <a:off x="611560" y="1556792"/>
            <a:ext cx="7992888" cy="4896544"/>
          </a:xfrm>
        </p:spPr>
        <p:txBody>
          <a:bodyPr>
            <a:normAutofit lnSpcReduction="10000"/>
          </a:bodyPr>
          <a:lstStyle/>
          <a:p>
            <a:pPr>
              <a:spcBef>
                <a:spcPts val="600"/>
              </a:spcBef>
              <a:spcAft>
                <a:spcPts val="1200"/>
              </a:spcAft>
              <a:buNone/>
            </a:pPr>
            <a:r>
              <a:rPr lang="en-AU" sz="2200" b="1" dirty="0" smtClean="0">
                <a:latin typeface="Helvetica" pitchFamily="34" charset="0"/>
              </a:rPr>
              <a:t>Loss of coordination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Being clumsy</a:t>
            </a:r>
          </a:p>
          <a:p>
            <a:pPr lvl="0">
              <a:spcBef>
                <a:spcPts val="600"/>
              </a:spcBef>
              <a:spcAft>
                <a:spcPts val="1200"/>
              </a:spcAft>
            </a:pPr>
            <a:r>
              <a:rPr lang="en-AU" sz="2200" dirty="0" smtClean="0">
                <a:latin typeface="Helvetica" pitchFamily="34" charset="0"/>
              </a:rPr>
              <a:t>Eyes seem unfocused or glassy</a:t>
            </a:r>
          </a:p>
          <a:p>
            <a:pPr lvl="0">
              <a:spcBef>
                <a:spcPts val="600"/>
              </a:spcBef>
              <a:spcAft>
                <a:spcPts val="1200"/>
              </a:spcAft>
            </a:pPr>
            <a:r>
              <a:rPr lang="en-AU" sz="2200" dirty="0" smtClean="0">
                <a:latin typeface="Helvetica" pitchFamily="34" charset="0"/>
              </a:rPr>
              <a:t>Bumping into furniture and other people</a:t>
            </a:r>
          </a:p>
          <a:p>
            <a:pPr lvl="0">
              <a:spcBef>
                <a:spcPts val="600"/>
              </a:spcBef>
              <a:spcAft>
                <a:spcPts val="1200"/>
              </a:spcAft>
            </a:pPr>
            <a:r>
              <a:rPr lang="en-AU" sz="2200" dirty="0" smtClean="0">
                <a:latin typeface="Helvetica" pitchFamily="34" charset="0"/>
              </a:rPr>
              <a:t>Staggering</a:t>
            </a:r>
          </a:p>
          <a:p>
            <a:pPr lvl="0">
              <a:spcBef>
                <a:spcPts val="600"/>
              </a:spcBef>
              <a:spcAft>
                <a:spcPts val="1200"/>
              </a:spcAft>
            </a:pPr>
            <a:r>
              <a:rPr lang="en-AU" sz="2200" dirty="0" smtClean="0">
                <a:latin typeface="Helvetica" pitchFamily="34" charset="0"/>
              </a:rPr>
              <a:t>Falling down or tripping over things</a:t>
            </a:r>
          </a:p>
          <a:p>
            <a:pPr lvl="0">
              <a:spcBef>
                <a:spcPts val="600"/>
              </a:spcBef>
              <a:spcAft>
                <a:spcPts val="1200"/>
              </a:spcAft>
            </a:pPr>
            <a:r>
              <a:rPr lang="en-AU" sz="2200" dirty="0" smtClean="0">
                <a:latin typeface="Helvetica" pitchFamily="34" charset="0"/>
              </a:rPr>
              <a:t>Inability to walk in a straight line</a:t>
            </a:r>
          </a:p>
          <a:p>
            <a:pPr lvl="0">
              <a:spcBef>
                <a:spcPts val="600"/>
              </a:spcBef>
              <a:spcAft>
                <a:spcPts val="1200"/>
              </a:spcAft>
            </a:pPr>
            <a:r>
              <a:rPr lang="en-AU" sz="2200" dirty="0" smtClean="0">
                <a:latin typeface="Helvetica" pitchFamily="34" charset="0"/>
              </a:rPr>
              <a:t>Inability to do basic tasks like lifting a glass</a:t>
            </a:r>
          </a:p>
          <a:p>
            <a:pPr>
              <a:spcBef>
                <a:spcPts val="600"/>
              </a:spcBef>
              <a:spcAft>
                <a:spcPts val="1200"/>
              </a:spcAft>
            </a:pPr>
            <a:r>
              <a:rPr lang="en-AU" sz="2200" dirty="0" smtClean="0">
                <a:latin typeface="Helvetica" pitchFamily="34" charset="0"/>
              </a:rPr>
              <a:t>Knocking things </a:t>
            </a:r>
            <a:r>
              <a:rPr lang="en-AU" sz="2200" dirty="0" smtClean="0">
                <a:latin typeface="Helvetica" pitchFamily="34" charset="0"/>
              </a:rPr>
              <a:t>over.</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7" name="imgHvThumb" descr="Happy stick-person having a belly-laugh"/>
          <p:cNvPicPr/>
          <p:nvPr/>
        </p:nvPicPr>
        <p:blipFill>
          <a:blip r:embed="rId3" cstate="print"/>
          <a:srcRect/>
          <a:stretch>
            <a:fillRect/>
          </a:stretch>
        </p:blipFill>
        <p:spPr bwMode="auto">
          <a:xfrm>
            <a:off x="6357950" y="2285992"/>
            <a:ext cx="1828800"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Signs of intoxication</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Change in speech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Having trouble talking in a normal manner</a:t>
            </a:r>
          </a:p>
          <a:p>
            <a:pPr lvl="0">
              <a:spcBef>
                <a:spcPts val="600"/>
              </a:spcBef>
              <a:spcAft>
                <a:spcPts val="1200"/>
              </a:spcAft>
            </a:pPr>
            <a:r>
              <a:rPr lang="en-AU" sz="2200" dirty="0" smtClean="0">
                <a:latin typeface="Helvetica" pitchFamily="34" charset="0"/>
              </a:rPr>
              <a:t>Speech becomes slower and slurred</a:t>
            </a:r>
          </a:p>
          <a:p>
            <a:pPr lvl="0">
              <a:spcBef>
                <a:spcPts val="600"/>
              </a:spcBef>
              <a:spcAft>
                <a:spcPts val="1200"/>
              </a:spcAft>
            </a:pPr>
            <a:r>
              <a:rPr lang="en-AU" sz="2200" dirty="0" smtClean="0">
                <a:latin typeface="Helvetica" pitchFamily="34" charset="0"/>
              </a:rPr>
              <a:t>Volume of speech becomes louder</a:t>
            </a:r>
          </a:p>
          <a:p>
            <a:pPr>
              <a:spcBef>
                <a:spcPts val="600"/>
              </a:spcBef>
              <a:spcAft>
                <a:spcPts val="1200"/>
              </a:spcAft>
            </a:pPr>
            <a:r>
              <a:rPr lang="en-AU" sz="2200" dirty="0" smtClean="0">
                <a:latin typeface="Helvetica" pitchFamily="34" charset="0"/>
              </a:rPr>
              <a:t>Person becomes </a:t>
            </a:r>
            <a:r>
              <a:rPr lang="en-AU" sz="2200" dirty="0" smtClean="0">
                <a:latin typeface="Helvetica" pitchFamily="34" charset="0"/>
              </a:rPr>
              <a:t>outspoken.</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4" descr="MP900443085[1].JPG"/>
          <p:cNvPicPr/>
          <p:nvPr/>
        </p:nvPicPr>
        <p:blipFill>
          <a:blip r:embed="rId3" cstate="print"/>
          <a:stretch>
            <a:fillRect/>
          </a:stretch>
        </p:blipFill>
        <p:spPr>
          <a:xfrm>
            <a:off x="6215074" y="2857496"/>
            <a:ext cx="1967573" cy="142876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Signs of intoxication</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Moods, behaviour and conduct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Big changes in mood over time</a:t>
            </a:r>
          </a:p>
          <a:p>
            <a:pPr lvl="0">
              <a:spcBef>
                <a:spcPts val="600"/>
              </a:spcBef>
              <a:spcAft>
                <a:spcPts val="1200"/>
              </a:spcAft>
            </a:pPr>
            <a:r>
              <a:rPr lang="en-AU" sz="2200" dirty="0" smtClean="0">
                <a:latin typeface="Helvetica" pitchFamily="34" charset="0"/>
              </a:rPr>
              <a:t>Personality changes</a:t>
            </a:r>
          </a:p>
          <a:p>
            <a:pPr lvl="0">
              <a:spcBef>
                <a:spcPts val="600"/>
              </a:spcBef>
              <a:spcAft>
                <a:spcPts val="1200"/>
              </a:spcAft>
            </a:pPr>
            <a:r>
              <a:rPr lang="en-AU" sz="2200" dirty="0" smtClean="0">
                <a:latin typeface="Helvetica" pitchFamily="34" charset="0"/>
              </a:rPr>
              <a:t>Becoming isolated from group</a:t>
            </a:r>
          </a:p>
          <a:p>
            <a:pPr lvl="0">
              <a:spcBef>
                <a:spcPts val="600"/>
              </a:spcBef>
              <a:spcAft>
                <a:spcPts val="1200"/>
              </a:spcAft>
            </a:pPr>
            <a:r>
              <a:rPr lang="en-AU" sz="2200" dirty="0" smtClean="0">
                <a:latin typeface="Helvetica" pitchFamily="34" charset="0"/>
              </a:rPr>
              <a:t>Inappropriately affectionate</a:t>
            </a:r>
          </a:p>
          <a:p>
            <a:pPr lvl="0">
              <a:spcBef>
                <a:spcPts val="600"/>
              </a:spcBef>
              <a:spcAft>
                <a:spcPts val="1200"/>
              </a:spcAft>
            </a:pPr>
            <a:r>
              <a:rPr lang="en-AU" sz="2200" dirty="0" smtClean="0">
                <a:latin typeface="Helvetica" pitchFamily="34" charset="0"/>
              </a:rPr>
              <a:t>Extremely outgoing</a:t>
            </a:r>
          </a:p>
          <a:p>
            <a:pPr lvl="0">
              <a:spcBef>
                <a:spcPts val="600"/>
              </a:spcBef>
              <a:spcAft>
                <a:spcPts val="1200"/>
              </a:spcAft>
            </a:pPr>
            <a:r>
              <a:rPr lang="en-AU" sz="2200" dirty="0" smtClean="0">
                <a:latin typeface="Helvetica" pitchFamily="34" charset="0"/>
              </a:rPr>
              <a:t>Wanting to cause arguments</a:t>
            </a:r>
          </a:p>
          <a:p>
            <a:pPr>
              <a:spcBef>
                <a:spcPts val="600"/>
              </a:spcBef>
              <a:spcAft>
                <a:spcPts val="1200"/>
              </a:spcAft>
            </a:pPr>
            <a:r>
              <a:rPr lang="en-AU" sz="2200" dirty="0" smtClean="0">
                <a:latin typeface="Helvetica" pitchFamily="34" charset="0"/>
              </a:rPr>
              <a:t>Being over affectionate to </a:t>
            </a:r>
            <a:r>
              <a:rPr lang="en-AU" sz="2200" dirty="0" smtClean="0">
                <a:latin typeface="Helvetica" pitchFamily="34" charset="0"/>
              </a:rPr>
              <a:t>strangers.</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7" name="imgHvThumb" descr="Happy stick-person pointing excitedly"/>
          <p:cNvPicPr/>
          <p:nvPr/>
        </p:nvPicPr>
        <p:blipFill>
          <a:blip r:embed="rId3" cstate="print"/>
          <a:srcRect/>
          <a:stretch>
            <a:fillRect/>
          </a:stretch>
        </p:blipFill>
        <p:spPr bwMode="auto">
          <a:xfrm>
            <a:off x="6000760" y="2214554"/>
            <a:ext cx="1828800"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Signs of intoxication</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Quantity of alcohol consumed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 amount of drinks consumed</a:t>
            </a:r>
          </a:p>
          <a:p>
            <a:pPr lvl="0">
              <a:spcBef>
                <a:spcPts val="600"/>
              </a:spcBef>
              <a:spcAft>
                <a:spcPts val="1200"/>
              </a:spcAft>
            </a:pPr>
            <a:r>
              <a:rPr lang="en-AU" sz="2200" dirty="0" smtClean="0">
                <a:latin typeface="Helvetica" pitchFamily="34" charset="0"/>
              </a:rPr>
              <a:t>The rate of consumption</a:t>
            </a:r>
          </a:p>
          <a:p>
            <a:pPr lvl="0">
              <a:spcBef>
                <a:spcPts val="600"/>
              </a:spcBef>
              <a:spcAft>
                <a:spcPts val="1200"/>
              </a:spcAft>
            </a:pPr>
            <a:r>
              <a:rPr lang="en-AU" sz="2200" dirty="0" smtClean="0">
                <a:latin typeface="Helvetica" pitchFamily="34" charset="0"/>
              </a:rPr>
              <a:t>They are ordering more drinks at a time</a:t>
            </a:r>
          </a:p>
          <a:p>
            <a:pPr lvl="0">
              <a:spcBef>
                <a:spcPts val="600"/>
              </a:spcBef>
              <a:spcAft>
                <a:spcPts val="1200"/>
              </a:spcAft>
            </a:pPr>
            <a:r>
              <a:rPr lang="en-AU" sz="2200" dirty="0" smtClean="0">
                <a:latin typeface="Helvetica" pitchFamily="34" charset="0"/>
              </a:rPr>
              <a:t>The types of drinks – normally become stronger</a:t>
            </a:r>
          </a:p>
          <a:p>
            <a:pPr>
              <a:spcBef>
                <a:spcPts val="600"/>
              </a:spcBef>
              <a:spcAft>
                <a:spcPts val="1200"/>
              </a:spcAft>
            </a:pPr>
            <a:r>
              <a:rPr lang="en-AU" sz="2200" dirty="0" smtClean="0">
                <a:latin typeface="Helvetica" pitchFamily="34" charset="0"/>
              </a:rPr>
              <a:t>Complaints about strength of </a:t>
            </a:r>
            <a:r>
              <a:rPr lang="en-AU" sz="2200" dirty="0" smtClean="0">
                <a:latin typeface="Helvetica" pitchFamily="34" charset="0"/>
              </a:rPr>
              <a:t>drinks.</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6" name="Picture 5" descr="MP900443728[1].JPG"/>
          <p:cNvPicPr/>
          <p:nvPr/>
        </p:nvPicPr>
        <p:blipFill>
          <a:blip r:embed="rId3" cstate="print"/>
          <a:stretch>
            <a:fillRect/>
          </a:stretch>
        </p:blipFill>
        <p:spPr>
          <a:xfrm>
            <a:off x="6143636" y="1785927"/>
            <a:ext cx="1823267" cy="1285884"/>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Signs of intoxication</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pPr>
            <a:r>
              <a:rPr lang="en-AU" sz="2200" dirty="0" smtClean="0">
                <a:latin typeface="Helvetica" pitchFamily="34" charset="0"/>
              </a:rPr>
              <a:t>Smell of alcohol</a:t>
            </a:r>
          </a:p>
          <a:p>
            <a:pPr>
              <a:spcBef>
                <a:spcPts val="600"/>
              </a:spcBef>
              <a:spcAft>
                <a:spcPts val="1200"/>
              </a:spcAft>
            </a:pPr>
            <a:r>
              <a:rPr lang="en-AU" sz="2200" dirty="0" smtClean="0">
                <a:latin typeface="Helvetica" pitchFamily="34" charset="0"/>
              </a:rPr>
              <a:t>Body </a:t>
            </a:r>
            <a:r>
              <a:rPr lang="en-AU" sz="2200" dirty="0" smtClean="0">
                <a:latin typeface="Helvetica" pitchFamily="34" charset="0"/>
              </a:rPr>
              <a:t>language.</a:t>
            </a:r>
            <a:endParaRPr lang="en-AU" sz="2200" dirty="0" smtClean="0">
              <a:latin typeface="Helvetica" pitchFamily="34" charset="0"/>
            </a:endParaRPr>
          </a:p>
          <a:p>
            <a:pPr>
              <a:spcBef>
                <a:spcPts val="600"/>
              </a:spcBef>
              <a:spcAft>
                <a:spcPts val="1200"/>
              </a:spcAft>
              <a:buNone/>
            </a:pPr>
            <a:r>
              <a:rPr lang="en-AU" sz="2200" b="1" dirty="0" smtClean="0">
                <a:latin typeface="Helvetica" pitchFamily="34" charset="0"/>
              </a:rPr>
              <a:t>What </a:t>
            </a:r>
            <a:r>
              <a:rPr lang="en-AU" sz="2200" b="1" dirty="0" smtClean="0">
                <a:latin typeface="Helvetica" pitchFamily="34" charset="0"/>
              </a:rPr>
              <a:t>can you read from body language?</a:t>
            </a: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7" name="Picture 6" descr="MP900444080[1].JPG"/>
          <p:cNvPicPr/>
          <p:nvPr/>
        </p:nvPicPr>
        <p:blipFill>
          <a:blip r:embed="rId3" cstate="print"/>
          <a:stretch>
            <a:fillRect/>
          </a:stretch>
        </p:blipFill>
        <p:spPr>
          <a:xfrm>
            <a:off x="2819870" y="3357562"/>
            <a:ext cx="3504261" cy="2299251"/>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Signs of intoxication</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Tool to help identify intoxication</a:t>
            </a:r>
          </a:p>
          <a:p>
            <a:pPr>
              <a:spcBef>
                <a:spcPts val="600"/>
              </a:spcBef>
              <a:spcAft>
                <a:spcPts val="1200"/>
              </a:spcAft>
              <a:buNone/>
            </a:pPr>
            <a:r>
              <a:rPr lang="en-AU" sz="2200" b="1" dirty="0" smtClean="0">
                <a:latin typeface="Helvetica" pitchFamily="34" charset="0"/>
              </a:rPr>
              <a:t>C</a:t>
            </a:r>
            <a:r>
              <a:rPr lang="en-AU" sz="2200" dirty="0" smtClean="0">
                <a:latin typeface="Helvetica" pitchFamily="34" charset="0"/>
              </a:rPr>
              <a:t>oordination </a:t>
            </a:r>
            <a:endParaRPr lang="en-AU" sz="2200" dirty="0" smtClean="0">
              <a:latin typeface="Helvetica" pitchFamily="34" charset="0"/>
            </a:endParaRPr>
          </a:p>
          <a:p>
            <a:pPr>
              <a:spcBef>
                <a:spcPts val="600"/>
              </a:spcBef>
              <a:spcAft>
                <a:spcPts val="1200"/>
              </a:spcAft>
              <a:buNone/>
            </a:pPr>
            <a:r>
              <a:rPr lang="en-AU" sz="2200" b="1" dirty="0" smtClean="0">
                <a:latin typeface="Helvetica" pitchFamily="34" charset="0"/>
              </a:rPr>
              <a:t>A</a:t>
            </a:r>
            <a:r>
              <a:rPr lang="en-AU" sz="2200" dirty="0" smtClean="0">
                <a:latin typeface="Helvetica" pitchFamily="34" charset="0"/>
              </a:rPr>
              <a:t>lcohol Smell </a:t>
            </a:r>
          </a:p>
          <a:p>
            <a:pPr>
              <a:spcBef>
                <a:spcPts val="600"/>
              </a:spcBef>
              <a:spcAft>
                <a:spcPts val="1200"/>
              </a:spcAft>
              <a:buNone/>
            </a:pPr>
            <a:r>
              <a:rPr lang="en-AU" sz="2200" b="1" dirty="0" smtClean="0">
                <a:latin typeface="Helvetica" pitchFamily="34" charset="0"/>
              </a:rPr>
              <a:t>U</a:t>
            </a:r>
            <a:r>
              <a:rPr lang="en-AU" sz="2200" dirty="0" smtClean="0">
                <a:latin typeface="Helvetica" pitchFamily="34" charset="0"/>
              </a:rPr>
              <a:t>nsteady </a:t>
            </a:r>
          </a:p>
          <a:p>
            <a:pPr>
              <a:spcBef>
                <a:spcPts val="600"/>
              </a:spcBef>
              <a:spcAft>
                <a:spcPts val="1200"/>
              </a:spcAft>
              <a:buNone/>
            </a:pPr>
            <a:r>
              <a:rPr lang="en-AU" sz="2200" b="1" dirty="0" smtClean="0">
                <a:latin typeface="Helvetica" pitchFamily="34" charset="0"/>
              </a:rPr>
              <a:t>S</a:t>
            </a:r>
            <a:r>
              <a:rPr lang="en-AU" sz="2200" dirty="0" smtClean="0">
                <a:latin typeface="Helvetica" pitchFamily="34" charset="0"/>
              </a:rPr>
              <a:t>lurred Speech </a:t>
            </a:r>
          </a:p>
          <a:p>
            <a:pPr>
              <a:spcBef>
                <a:spcPts val="600"/>
              </a:spcBef>
              <a:spcAft>
                <a:spcPts val="1200"/>
              </a:spcAft>
              <a:buNone/>
            </a:pPr>
            <a:r>
              <a:rPr lang="en-AU" sz="2200" b="1" dirty="0" smtClean="0">
                <a:latin typeface="Helvetica" pitchFamily="34" charset="0"/>
              </a:rPr>
              <a:t>E</a:t>
            </a:r>
            <a:r>
              <a:rPr lang="en-AU" sz="2200" dirty="0" smtClean="0">
                <a:latin typeface="Helvetica" pitchFamily="34" charset="0"/>
              </a:rPr>
              <a:t>yes Glazed</a:t>
            </a: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6" name="imgHvThumb" descr="Confused stick-person"/>
          <p:cNvPicPr/>
          <p:nvPr/>
        </p:nvPicPr>
        <p:blipFill>
          <a:blip r:embed="rId3" cstate="print"/>
          <a:srcRect/>
          <a:stretch>
            <a:fillRect/>
          </a:stretch>
        </p:blipFill>
        <p:spPr bwMode="auto">
          <a:xfrm>
            <a:off x="3357554" y="2857496"/>
            <a:ext cx="1143008" cy="11430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Offering assistance</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pPr>
            <a:r>
              <a:rPr lang="en-AU" sz="2200" dirty="0" smtClean="0">
                <a:latin typeface="Helvetica" pitchFamily="34" charset="0"/>
              </a:rPr>
              <a:t>When it is determined that a person is intoxicated, it is wise for staff to provide assistance where applicable</a:t>
            </a:r>
          </a:p>
          <a:p>
            <a:pPr>
              <a:spcBef>
                <a:spcPts val="600"/>
              </a:spcBef>
              <a:spcAft>
                <a:spcPts val="1200"/>
              </a:spcAft>
            </a:pPr>
            <a:r>
              <a:rPr lang="en-AU" sz="2200" dirty="0" smtClean="0">
                <a:latin typeface="Helvetica" pitchFamily="34" charset="0"/>
              </a:rPr>
              <a:t>Just because someone is intoxicated does not mean they need to leave the premises</a:t>
            </a:r>
          </a:p>
          <a:p>
            <a:pPr>
              <a:spcBef>
                <a:spcPts val="600"/>
              </a:spcBef>
              <a:spcAft>
                <a:spcPts val="1200"/>
              </a:spcAft>
            </a:pPr>
            <a:r>
              <a:rPr lang="en-AU" sz="2200" dirty="0" smtClean="0">
                <a:latin typeface="Helvetica" pitchFamily="34" charset="0"/>
              </a:rPr>
              <a:t>It is important to remember that each situation must be handled in a professional and discrete </a:t>
            </a:r>
            <a:r>
              <a:rPr lang="en-AU" sz="2200" dirty="0" smtClean="0">
                <a:latin typeface="Helvetica" pitchFamily="34" charset="0"/>
              </a:rPr>
              <a:t>manner.</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8" name="Picture 7" descr="MP900443206[1].JPG"/>
          <p:cNvPicPr>
            <a:picLocks noChangeAspect="1"/>
          </p:cNvPicPr>
          <p:nvPr/>
        </p:nvPicPr>
        <p:blipFill>
          <a:blip r:embed="rId3" cstate="print"/>
          <a:stretch>
            <a:fillRect/>
          </a:stretch>
        </p:blipFill>
        <p:spPr>
          <a:xfrm>
            <a:off x="3996881" y="4357694"/>
            <a:ext cx="1150238" cy="1723325"/>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Monitoring the environment</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dirty="0" smtClean="0">
                <a:latin typeface="Helvetica" pitchFamily="34" charset="0"/>
              </a:rPr>
              <a:t>Staff members must always be aware of the environment and alert to the consumption of alcohol by groups or individual customers within the establishment. </a:t>
            </a: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6" name="Picture 5" descr="what-is-eoscar-investigation.png"/>
          <p:cNvPicPr>
            <a:picLocks noChangeAspect="1"/>
          </p:cNvPicPr>
          <p:nvPr/>
        </p:nvPicPr>
        <p:blipFill>
          <a:blip r:embed="rId3" cstate="print"/>
          <a:stretch>
            <a:fillRect/>
          </a:stretch>
        </p:blipFill>
        <p:spPr>
          <a:xfrm>
            <a:off x="3737696" y="3214686"/>
            <a:ext cx="1668609" cy="1668609"/>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Monitoring the environment</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dirty="0" smtClean="0">
                <a:latin typeface="Helvetica" pitchFamily="34" charset="0"/>
              </a:rPr>
              <a:t>When monitoring, be aware of:</a:t>
            </a:r>
          </a:p>
          <a:p>
            <a:pPr lvl="0">
              <a:spcBef>
                <a:spcPts val="600"/>
              </a:spcBef>
              <a:spcAft>
                <a:spcPts val="1200"/>
              </a:spcAft>
            </a:pPr>
            <a:r>
              <a:rPr lang="en-AU" sz="2200" dirty="0" smtClean="0">
                <a:latin typeface="Helvetica" pitchFamily="34" charset="0"/>
              </a:rPr>
              <a:t>Types of drinks being ordered</a:t>
            </a:r>
          </a:p>
          <a:p>
            <a:pPr lvl="0">
              <a:spcBef>
                <a:spcPts val="600"/>
              </a:spcBef>
              <a:spcAft>
                <a:spcPts val="1200"/>
              </a:spcAft>
            </a:pPr>
            <a:r>
              <a:rPr lang="en-AU" sz="2200" dirty="0" smtClean="0">
                <a:latin typeface="Helvetica" pitchFamily="34" charset="0"/>
              </a:rPr>
              <a:t>Who is ordering the drinks</a:t>
            </a:r>
          </a:p>
          <a:p>
            <a:pPr lvl="0">
              <a:spcBef>
                <a:spcPts val="600"/>
              </a:spcBef>
              <a:spcAft>
                <a:spcPts val="1200"/>
              </a:spcAft>
            </a:pPr>
            <a:r>
              <a:rPr lang="en-AU" sz="2200" dirty="0" smtClean="0">
                <a:latin typeface="Helvetica" pitchFamily="34" charset="0"/>
              </a:rPr>
              <a:t>Who is consuming the drinks</a:t>
            </a:r>
          </a:p>
          <a:p>
            <a:pPr lvl="0">
              <a:spcBef>
                <a:spcPts val="600"/>
              </a:spcBef>
              <a:spcAft>
                <a:spcPts val="1200"/>
              </a:spcAft>
            </a:pPr>
            <a:r>
              <a:rPr lang="en-AU" sz="2200" dirty="0" smtClean="0">
                <a:latin typeface="Helvetica" pitchFamily="34" charset="0"/>
              </a:rPr>
              <a:t>Rate of </a:t>
            </a:r>
            <a:r>
              <a:rPr lang="en-AU" sz="2200" dirty="0" smtClean="0">
                <a:latin typeface="Helvetica" pitchFamily="34" charset="0"/>
              </a:rPr>
              <a:t>consumption.</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5" name="Picture 4" descr="MP900443470[1].JPG"/>
          <p:cNvPicPr>
            <a:picLocks noChangeAspect="1"/>
          </p:cNvPicPr>
          <p:nvPr/>
        </p:nvPicPr>
        <p:blipFill>
          <a:blip r:embed="rId3" cstate="print"/>
          <a:stretch>
            <a:fillRect/>
          </a:stretch>
        </p:blipFill>
        <p:spPr>
          <a:xfrm>
            <a:off x="5857884" y="2214554"/>
            <a:ext cx="1335843" cy="2001404"/>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Monitoring the environment</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dirty="0" smtClean="0">
                <a:latin typeface="Helvetica" pitchFamily="34" charset="0"/>
              </a:rPr>
              <a:t>When monitoring, be aware of:</a:t>
            </a:r>
          </a:p>
          <a:p>
            <a:pPr lvl="0">
              <a:spcBef>
                <a:spcPts val="600"/>
              </a:spcBef>
              <a:spcAft>
                <a:spcPts val="1200"/>
              </a:spcAft>
            </a:pPr>
            <a:r>
              <a:rPr lang="en-AU" sz="2200" dirty="0" smtClean="0">
                <a:latin typeface="Helvetica" pitchFamily="34" charset="0"/>
              </a:rPr>
              <a:t>Whether food is also being consumed</a:t>
            </a:r>
          </a:p>
          <a:p>
            <a:pPr lvl="0">
              <a:spcBef>
                <a:spcPts val="600"/>
              </a:spcBef>
              <a:spcAft>
                <a:spcPts val="1200"/>
              </a:spcAft>
            </a:pPr>
            <a:r>
              <a:rPr lang="en-AU" sz="2200" dirty="0" smtClean="0">
                <a:latin typeface="Helvetica" pitchFamily="34" charset="0"/>
              </a:rPr>
              <a:t>People showing signs of intoxication</a:t>
            </a:r>
          </a:p>
          <a:p>
            <a:pPr lvl="0">
              <a:spcBef>
                <a:spcPts val="600"/>
              </a:spcBef>
              <a:spcAft>
                <a:spcPts val="1200"/>
              </a:spcAft>
            </a:pPr>
            <a:r>
              <a:rPr lang="en-AU" sz="2200" dirty="0" smtClean="0">
                <a:latin typeface="Helvetica" pitchFamily="34" charset="0"/>
              </a:rPr>
              <a:t>Any drinking games being conducted</a:t>
            </a:r>
          </a:p>
          <a:p>
            <a:pPr lvl="0">
              <a:spcBef>
                <a:spcPts val="600"/>
              </a:spcBef>
              <a:spcAft>
                <a:spcPts val="1200"/>
              </a:spcAft>
            </a:pPr>
            <a:r>
              <a:rPr lang="en-AU" sz="2200" dirty="0" smtClean="0">
                <a:latin typeface="Helvetica" pitchFamily="34" charset="0"/>
              </a:rPr>
              <a:t>Which people in the group could be of assistance                        when dealing with intoxicated </a:t>
            </a:r>
            <a:r>
              <a:rPr lang="en-AU" sz="2200" dirty="0" smtClean="0">
                <a:latin typeface="Helvetica" pitchFamily="34" charset="0"/>
              </a:rPr>
              <a:t>patrons.</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7" name="Picture 6" descr="MP900432807[1].JPG"/>
          <p:cNvPicPr/>
          <p:nvPr/>
        </p:nvPicPr>
        <p:blipFill>
          <a:blip r:embed="rId3" cstate="print"/>
          <a:stretch>
            <a:fillRect/>
          </a:stretch>
        </p:blipFill>
        <p:spPr>
          <a:xfrm>
            <a:off x="6215074" y="2214554"/>
            <a:ext cx="1835274" cy="1372741"/>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Offering assistance</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dirty="0" smtClean="0">
                <a:latin typeface="Helvetica" pitchFamily="34" charset="0"/>
              </a:rPr>
              <a:t>There are a range of suitable alternatives that can be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provided </a:t>
            </a:r>
            <a:r>
              <a:rPr lang="en-AU" sz="2200" dirty="0" smtClean="0">
                <a:latin typeface="Helvetica" pitchFamily="34" charset="0"/>
              </a:rPr>
              <a:t>depending on the:</a:t>
            </a:r>
          </a:p>
          <a:p>
            <a:pPr>
              <a:spcBef>
                <a:spcPts val="600"/>
              </a:spcBef>
              <a:spcAft>
                <a:spcPts val="1200"/>
              </a:spcAft>
            </a:pPr>
            <a:r>
              <a:rPr lang="en-AU" sz="2200" dirty="0" smtClean="0">
                <a:latin typeface="Helvetica" pitchFamily="34" charset="0"/>
              </a:rPr>
              <a:t>Individual situation</a:t>
            </a:r>
          </a:p>
          <a:p>
            <a:pPr>
              <a:spcBef>
                <a:spcPts val="600"/>
              </a:spcBef>
              <a:spcAft>
                <a:spcPts val="1200"/>
              </a:spcAft>
            </a:pPr>
            <a:r>
              <a:rPr lang="en-AU" sz="2200" dirty="0" smtClean="0">
                <a:latin typeface="Helvetica" pitchFamily="34" charset="0"/>
              </a:rPr>
              <a:t>Level of </a:t>
            </a:r>
            <a:r>
              <a:rPr lang="en-AU" sz="2200" dirty="0" smtClean="0">
                <a:latin typeface="Helvetica" pitchFamily="34" charset="0"/>
              </a:rPr>
              <a:t>intoxication.</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4" descr="New Image.BMP"/>
          <p:cNvPicPr>
            <a:picLocks noChangeAspect="1"/>
          </p:cNvPicPr>
          <p:nvPr/>
        </p:nvPicPr>
        <p:blipFill>
          <a:blip r:embed="rId3" cstate="print"/>
          <a:stretch>
            <a:fillRect/>
          </a:stretch>
        </p:blipFill>
        <p:spPr>
          <a:xfrm>
            <a:off x="6072198" y="2214553"/>
            <a:ext cx="989598" cy="1502997"/>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Offering assistance</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b="1" dirty="0" smtClean="0">
                <a:latin typeface="Helvetica" pitchFamily="34" charset="0"/>
              </a:rPr>
              <a:t>Types of assistance</a:t>
            </a:r>
          </a:p>
          <a:p>
            <a:pPr lvl="0">
              <a:spcBef>
                <a:spcPts val="600"/>
              </a:spcBef>
              <a:spcAft>
                <a:spcPts val="1200"/>
              </a:spcAft>
            </a:pPr>
            <a:r>
              <a:rPr lang="en-AU" sz="2200" dirty="0" smtClean="0">
                <a:latin typeface="Helvetica" pitchFamily="34" charset="0"/>
              </a:rPr>
              <a:t>Talk to the customer or their friend</a:t>
            </a:r>
          </a:p>
          <a:p>
            <a:pPr lvl="0">
              <a:spcBef>
                <a:spcPts val="600"/>
              </a:spcBef>
              <a:spcAft>
                <a:spcPts val="1200"/>
              </a:spcAft>
            </a:pPr>
            <a:r>
              <a:rPr lang="en-AU" sz="2200" dirty="0" smtClean="0">
                <a:latin typeface="Helvetica" pitchFamily="34" charset="0"/>
              </a:rPr>
              <a:t>Briefly explain your responsibilities</a:t>
            </a:r>
          </a:p>
          <a:p>
            <a:pPr lvl="0">
              <a:spcBef>
                <a:spcPts val="600"/>
              </a:spcBef>
              <a:spcAft>
                <a:spcPts val="1200"/>
              </a:spcAft>
            </a:pPr>
            <a:r>
              <a:rPr lang="en-AU" sz="2200" dirty="0" smtClean="0">
                <a:latin typeface="Helvetica" pitchFamily="34" charset="0"/>
              </a:rPr>
              <a:t>Promoting non-alcoholic drinks</a:t>
            </a:r>
          </a:p>
          <a:p>
            <a:pPr>
              <a:spcBef>
                <a:spcPts val="600"/>
              </a:spcBef>
              <a:spcAft>
                <a:spcPts val="1200"/>
              </a:spcAft>
            </a:pPr>
            <a:r>
              <a:rPr lang="en-AU" sz="2200" dirty="0" smtClean="0">
                <a:latin typeface="Helvetica" pitchFamily="34" charset="0"/>
              </a:rPr>
              <a:t>Offer </a:t>
            </a:r>
            <a:r>
              <a:rPr lang="en-AU" sz="2200" dirty="0" smtClean="0">
                <a:latin typeface="Helvetica" pitchFamily="34" charset="0"/>
              </a:rPr>
              <a:t>food.</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6" name="Picture 5" descr="MP900400595[1].JPG"/>
          <p:cNvPicPr>
            <a:picLocks noChangeAspect="1"/>
          </p:cNvPicPr>
          <p:nvPr/>
        </p:nvPicPr>
        <p:blipFill>
          <a:blip r:embed="rId3" cstate="print"/>
          <a:stretch>
            <a:fillRect/>
          </a:stretch>
        </p:blipFill>
        <p:spPr>
          <a:xfrm>
            <a:off x="6215074" y="2285992"/>
            <a:ext cx="1454296" cy="1818314"/>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Offering assistance</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b="1" dirty="0" smtClean="0">
                <a:latin typeface="Helvetica" pitchFamily="34" charset="0"/>
              </a:rPr>
              <a:t>Types of assistance</a:t>
            </a:r>
          </a:p>
          <a:p>
            <a:pPr>
              <a:spcBef>
                <a:spcPts val="600"/>
              </a:spcBef>
              <a:spcAft>
                <a:spcPts val="1200"/>
              </a:spcAft>
            </a:pPr>
            <a:r>
              <a:rPr lang="en-AU" sz="2200" dirty="0" smtClean="0">
                <a:latin typeface="Helvetica" pitchFamily="34" charset="0"/>
              </a:rPr>
              <a:t>Offering low-alcoholic beverages</a:t>
            </a:r>
          </a:p>
          <a:p>
            <a:pPr lvl="0">
              <a:spcBef>
                <a:spcPts val="600"/>
              </a:spcBef>
              <a:spcAft>
                <a:spcPts val="1200"/>
              </a:spcAft>
            </a:pPr>
            <a:r>
              <a:rPr lang="en-AU" sz="2200" dirty="0" smtClean="0">
                <a:latin typeface="Helvetica" pitchFamily="34" charset="0"/>
              </a:rPr>
              <a:t>Offer water</a:t>
            </a:r>
          </a:p>
          <a:p>
            <a:pPr lvl="0">
              <a:spcBef>
                <a:spcPts val="600"/>
              </a:spcBef>
              <a:spcAft>
                <a:spcPts val="1200"/>
              </a:spcAft>
            </a:pPr>
            <a:r>
              <a:rPr lang="en-AU" sz="2200" dirty="0" smtClean="0">
                <a:latin typeface="Helvetica" pitchFamily="34" charset="0"/>
              </a:rPr>
              <a:t>Slowing down service</a:t>
            </a:r>
          </a:p>
          <a:p>
            <a:pPr lvl="0">
              <a:spcBef>
                <a:spcPts val="600"/>
              </a:spcBef>
              <a:spcAft>
                <a:spcPts val="1200"/>
              </a:spcAft>
            </a:pPr>
            <a:r>
              <a:rPr lang="en-AU" sz="2200" dirty="0" smtClean="0">
                <a:latin typeface="Helvetica" pitchFamily="34" charset="0"/>
              </a:rPr>
              <a:t>Advise other </a:t>
            </a:r>
            <a:r>
              <a:rPr lang="en-AU" sz="2200" dirty="0" smtClean="0">
                <a:latin typeface="Helvetica" pitchFamily="34" charset="0"/>
              </a:rPr>
              <a:t>staff.</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5" name="Picture 4" descr="MP900422193[1].JPG"/>
          <p:cNvPicPr/>
          <p:nvPr/>
        </p:nvPicPr>
        <p:blipFill>
          <a:blip r:embed="rId3" cstate="print"/>
          <a:stretch>
            <a:fillRect/>
          </a:stretch>
        </p:blipFill>
        <p:spPr>
          <a:xfrm>
            <a:off x="5572132" y="2428868"/>
            <a:ext cx="2423914" cy="1516757"/>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Refer matters to appropriate people</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dirty="0" smtClean="0">
                <a:latin typeface="Helvetica" pitchFamily="34" charset="0"/>
              </a:rPr>
              <a:t>It must be remembered, that the health and safety of staff, other customers and the intoxicated person themselves is the primary objective when handling instances involving intoxication.</a:t>
            </a:r>
          </a:p>
          <a:p>
            <a:pPr marL="0">
              <a:spcBef>
                <a:spcPts val="600"/>
              </a:spcBef>
              <a:spcAft>
                <a:spcPts val="1200"/>
              </a:spcAft>
              <a:buNone/>
            </a:pPr>
            <a:r>
              <a:rPr lang="en-AU" sz="2200" dirty="0" smtClean="0">
                <a:latin typeface="Helvetica" pitchFamily="34" charset="0"/>
              </a:rPr>
              <a:t>As customers become more intoxicated, the more difficult it may be to handle the situation yourself.</a:t>
            </a:r>
          </a:p>
          <a:p>
            <a:pPr>
              <a:buNone/>
            </a:pP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7" name="Picture 6" descr="MP900427772[1].JPG"/>
          <p:cNvPicPr>
            <a:picLocks noChangeAspect="1"/>
          </p:cNvPicPr>
          <p:nvPr/>
        </p:nvPicPr>
        <p:blipFill>
          <a:blip r:embed="rId3" cstate="print"/>
          <a:srcRect t="25391"/>
          <a:stretch>
            <a:fillRect/>
          </a:stretch>
        </p:blipFill>
        <p:spPr>
          <a:xfrm>
            <a:off x="3726894" y="4143380"/>
            <a:ext cx="1690213" cy="1719456"/>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Refer matters to appropriate people</a:t>
            </a:r>
          </a:p>
        </p:txBody>
      </p:sp>
      <p:sp>
        <p:nvSpPr>
          <p:cNvPr id="3" name="Content Placeholder 2"/>
          <p:cNvSpPr>
            <a:spLocks noGrp="1"/>
          </p:cNvSpPr>
          <p:nvPr>
            <p:ph idx="1"/>
          </p:nvPr>
        </p:nvSpPr>
        <p:spPr>
          <a:xfrm>
            <a:off x="611560" y="1556792"/>
            <a:ext cx="7992888" cy="4896544"/>
          </a:xfrm>
        </p:spPr>
        <p:txBody>
          <a:bodyPr>
            <a:normAutofit/>
          </a:bodyPr>
          <a:lstStyle/>
          <a:p>
            <a:pPr marL="0">
              <a:spcBef>
                <a:spcPts val="600"/>
              </a:spcBef>
              <a:spcAft>
                <a:spcPts val="1200"/>
              </a:spcAft>
              <a:buNone/>
            </a:pPr>
            <a:r>
              <a:rPr lang="en-AU" sz="2200" dirty="0" smtClean="0">
                <a:latin typeface="Helvetica" pitchFamily="34" charset="0"/>
              </a:rPr>
              <a:t>As a staff member, it is not a requirement for you to place yourself in harm’s way if you feel you cannot handle the situation.</a:t>
            </a:r>
          </a:p>
          <a:p>
            <a:pPr>
              <a:spcBef>
                <a:spcPts val="600"/>
              </a:spcBef>
              <a:spcAft>
                <a:spcPts val="1200"/>
              </a:spcAft>
              <a:buNone/>
            </a:pPr>
            <a:r>
              <a:rPr lang="en-AU" sz="2200" dirty="0" smtClean="0">
                <a:latin typeface="Helvetica" pitchFamily="34" charset="0"/>
              </a:rPr>
              <a:t>You may need to get the assistance from someone:</a:t>
            </a:r>
          </a:p>
          <a:p>
            <a:pPr>
              <a:spcBef>
                <a:spcPts val="600"/>
              </a:spcBef>
              <a:spcAft>
                <a:spcPts val="1200"/>
              </a:spcAft>
            </a:pPr>
            <a:r>
              <a:rPr lang="en-AU" sz="2200" dirty="0" smtClean="0">
                <a:latin typeface="Helvetica" pitchFamily="34" charset="0"/>
              </a:rPr>
              <a:t>Inside the organisation</a:t>
            </a:r>
          </a:p>
          <a:p>
            <a:pPr>
              <a:spcBef>
                <a:spcPts val="600"/>
              </a:spcBef>
              <a:spcAft>
                <a:spcPts val="1200"/>
              </a:spcAft>
            </a:pPr>
            <a:r>
              <a:rPr lang="en-AU" sz="2200" dirty="0" smtClean="0">
                <a:latin typeface="Helvetica" pitchFamily="34" charset="0"/>
              </a:rPr>
              <a:t>Outside the </a:t>
            </a:r>
            <a:r>
              <a:rPr lang="en-AU" sz="2200" dirty="0" smtClean="0">
                <a:latin typeface="Helvetica" pitchFamily="34" charset="0"/>
              </a:rPr>
              <a:t>organisation.</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1026" name="Picture 2" descr="C:\Documents and Settings\danielc\Local Settings\Temporary Internet Files\Content.IE5\DMNK07QZ\MC900070852[1].wmf"/>
          <p:cNvPicPr>
            <a:picLocks noChangeAspect="1" noChangeArrowheads="1"/>
          </p:cNvPicPr>
          <p:nvPr/>
        </p:nvPicPr>
        <p:blipFill>
          <a:blip r:embed="rId3" cstate="print"/>
          <a:srcRect/>
          <a:stretch>
            <a:fillRect/>
          </a:stretch>
        </p:blipFill>
        <p:spPr bwMode="auto">
          <a:xfrm>
            <a:off x="5929322" y="3429000"/>
            <a:ext cx="1634150" cy="1975164"/>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Refer matters to internal staff</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Internal sources of assistance</a:t>
            </a:r>
          </a:p>
          <a:p>
            <a:pPr>
              <a:spcBef>
                <a:spcPts val="600"/>
              </a:spcBef>
              <a:spcAft>
                <a:spcPts val="1200"/>
              </a:spcAft>
              <a:buNone/>
            </a:pPr>
            <a:r>
              <a:rPr lang="en-AU" sz="2200" dirty="0" smtClean="0">
                <a:latin typeface="Helvetica" pitchFamily="34" charset="0"/>
              </a:rPr>
              <a:t>These persons include:</a:t>
            </a:r>
          </a:p>
          <a:p>
            <a:pPr lvl="0">
              <a:spcBef>
                <a:spcPts val="600"/>
              </a:spcBef>
              <a:spcAft>
                <a:spcPts val="1200"/>
              </a:spcAft>
            </a:pPr>
            <a:r>
              <a:rPr lang="en-AU" sz="2200" dirty="0" smtClean="0">
                <a:latin typeface="Helvetica" pitchFamily="34" charset="0"/>
              </a:rPr>
              <a:t>Supervisor  or Manager</a:t>
            </a:r>
          </a:p>
          <a:p>
            <a:pPr lvl="0">
              <a:spcBef>
                <a:spcPts val="600"/>
              </a:spcBef>
              <a:spcAft>
                <a:spcPts val="1200"/>
              </a:spcAft>
            </a:pPr>
            <a:r>
              <a:rPr lang="en-AU" sz="2200" dirty="0" smtClean="0">
                <a:latin typeface="Helvetica" pitchFamily="34" charset="0"/>
              </a:rPr>
              <a:t>Security</a:t>
            </a:r>
          </a:p>
          <a:p>
            <a:pPr lvl="0">
              <a:spcBef>
                <a:spcPts val="600"/>
              </a:spcBef>
              <a:spcAft>
                <a:spcPts val="1200"/>
              </a:spcAft>
            </a:pPr>
            <a:r>
              <a:rPr lang="en-AU" sz="2200" dirty="0" smtClean="0">
                <a:latin typeface="Helvetica" pitchFamily="34" charset="0"/>
              </a:rPr>
              <a:t>DJ.</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2050" name="Picture 2" descr="C:\Documents and Settings\danielc\Local Settings\Temporary Internet Files\Content.IE5\DMNK07QZ\MC900436159[1].wmf"/>
          <p:cNvPicPr>
            <a:picLocks noChangeAspect="1" noChangeArrowheads="1"/>
          </p:cNvPicPr>
          <p:nvPr/>
        </p:nvPicPr>
        <p:blipFill>
          <a:blip r:embed="rId3" cstate="print"/>
          <a:srcRect/>
          <a:stretch>
            <a:fillRect/>
          </a:stretch>
        </p:blipFill>
        <p:spPr bwMode="auto">
          <a:xfrm>
            <a:off x="5572132" y="2428868"/>
            <a:ext cx="1692275" cy="1841500"/>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Refer matters to internal staff</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Contacting internal sources</a:t>
            </a:r>
          </a:p>
          <a:p>
            <a:pPr marL="0">
              <a:spcBef>
                <a:spcPts val="600"/>
              </a:spcBef>
              <a:spcAft>
                <a:spcPts val="1200"/>
              </a:spcAft>
              <a:buNone/>
            </a:pPr>
            <a:r>
              <a:rPr lang="en-AU" sz="2200" dirty="0" smtClean="0">
                <a:latin typeface="Helvetica" pitchFamily="34" charset="0"/>
              </a:rPr>
              <a:t>There must be an easy to use communication system to be able to notify appropriate internal people. </a:t>
            </a:r>
          </a:p>
          <a:p>
            <a:pPr>
              <a:spcBef>
                <a:spcPts val="600"/>
              </a:spcBef>
              <a:spcAft>
                <a:spcPts val="1200"/>
              </a:spcAft>
              <a:buNone/>
            </a:pPr>
            <a:r>
              <a:rPr lang="en-AU" sz="2200" dirty="0" smtClean="0">
                <a:latin typeface="Helvetica" pitchFamily="34" charset="0"/>
              </a:rPr>
              <a:t>Systems can include:</a:t>
            </a:r>
          </a:p>
          <a:p>
            <a:pPr lvl="0">
              <a:spcBef>
                <a:spcPts val="600"/>
              </a:spcBef>
              <a:spcAft>
                <a:spcPts val="1200"/>
              </a:spcAft>
            </a:pPr>
            <a:r>
              <a:rPr lang="en-AU" sz="2200" dirty="0" smtClean="0">
                <a:latin typeface="Helvetica" pitchFamily="34" charset="0"/>
              </a:rPr>
              <a:t>Pagers</a:t>
            </a:r>
          </a:p>
          <a:p>
            <a:pPr lvl="0">
              <a:spcBef>
                <a:spcPts val="600"/>
              </a:spcBef>
              <a:spcAft>
                <a:spcPts val="1200"/>
              </a:spcAft>
            </a:pPr>
            <a:r>
              <a:rPr lang="en-AU" sz="2200" dirty="0" smtClean="0">
                <a:latin typeface="Helvetica" pitchFamily="34" charset="0"/>
              </a:rPr>
              <a:t>Signals – verbal or hand</a:t>
            </a:r>
          </a:p>
          <a:p>
            <a:pPr lvl="0">
              <a:spcBef>
                <a:spcPts val="600"/>
              </a:spcBef>
              <a:spcAft>
                <a:spcPts val="1200"/>
              </a:spcAft>
            </a:pPr>
            <a:r>
              <a:rPr lang="en-AU" sz="2200" dirty="0" smtClean="0">
                <a:latin typeface="Helvetica" pitchFamily="34" charset="0"/>
              </a:rPr>
              <a:t>Button</a:t>
            </a:r>
          </a:p>
          <a:p>
            <a:pPr lvl="0">
              <a:spcBef>
                <a:spcPts val="600"/>
              </a:spcBef>
              <a:spcAft>
                <a:spcPts val="1200"/>
              </a:spcAft>
            </a:pPr>
            <a:r>
              <a:rPr lang="en-AU" sz="2200" dirty="0" smtClean="0">
                <a:latin typeface="Helvetica" pitchFamily="34" charset="0"/>
              </a:rPr>
              <a:t>Phone </a:t>
            </a:r>
            <a:r>
              <a:rPr lang="en-AU" sz="2200" dirty="0" smtClean="0">
                <a:latin typeface="Helvetica" pitchFamily="34" charset="0"/>
              </a:rPr>
              <a:t>call.</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 name="Picture 5" descr="j0402031.jpg"/>
          <p:cNvPicPr/>
          <p:nvPr/>
        </p:nvPicPr>
        <p:blipFill>
          <a:blip r:embed="rId3" cstate="print"/>
          <a:stretch>
            <a:fillRect/>
          </a:stretch>
        </p:blipFill>
        <p:spPr>
          <a:xfrm>
            <a:off x="5643570" y="3357562"/>
            <a:ext cx="2048500" cy="1677913"/>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Refer matters to external sources</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External sources of assistance</a:t>
            </a:r>
          </a:p>
          <a:p>
            <a:pPr>
              <a:spcBef>
                <a:spcPts val="600"/>
              </a:spcBef>
              <a:spcAft>
                <a:spcPts val="1200"/>
              </a:spcAft>
              <a:buNone/>
            </a:pPr>
            <a:r>
              <a:rPr lang="en-AU" sz="2200" dirty="0" smtClean="0">
                <a:latin typeface="Helvetica" pitchFamily="34" charset="0"/>
              </a:rPr>
              <a:t>These persons include:</a:t>
            </a:r>
          </a:p>
          <a:p>
            <a:pPr lvl="0">
              <a:spcBef>
                <a:spcPts val="600"/>
              </a:spcBef>
              <a:spcAft>
                <a:spcPts val="1200"/>
              </a:spcAft>
            </a:pPr>
            <a:r>
              <a:rPr lang="en-AU" sz="2200" dirty="0" smtClean="0">
                <a:latin typeface="Helvetica" pitchFamily="34" charset="0"/>
              </a:rPr>
              <a:t>Police</a:t>
            </a:r>
          </a:p>
          <a:p>
            <a:pPr lvl="0">
              <a:spcBef>
                <a:spcPts val="600"/>
              </a:spcBef>
              <a:spcAft>
                <a:spcPts val="1200"/>
              </a:spcAft>
            </a:pPr>
            <a:r>
              <a:rPr lang="en-AU" sz="2200" dirty="0" smtClean="0">
                <a:latin typeface="Helvetica" pitchFamily="34" charset="0"/>
              </a:rPr>
              <a:t>Fire</a:t>
            </a:r>
          </a:p>
          <a:p>
            <a:pPr lvl="0">
              <a:spcBef>
                <a:spcPts val="600"/>
              </a:spcBef>
              <a:spcAft>
                <a:spcPts val="1200"/>
              </a:spcAft>
            </a:pPr>
            <a:r>
              <a:rPr lang="en-AU" sz="2200" dirty="0" smtClean="0">
                <a:latin typeface="Helvetica" pitchFamily="34" charset="0"/>
              </a:rPr>
              <a:t>Ambulance.</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6" name="Picture 5" descr="MP900426566[1].JPG"/>
          <p:cNvPicPr/>
          <p:nvPr/>
        </p:nvPicPr>
        <p:blipFill>
          <a:blip r:embed="rId3" cstate="print"/>
          <a:stretch>
            <a:fillRect/>
          </a:stretch>
        </p:blipFill>
        <p:spPr>
          <a:xfrm>
            <a:off x="5786446" y="2428868"/>
            <a:ext cx="1992040" cy="1920032"/>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Refer matters to external sources</a:t>
            </a:r>
          </a:p>
        </p:txBody>
      </p:sp>
      <p:sp>
        <p:nvSpPr>
          <p:cNvPr id="3" name="Content Placeholder 2"/>
          <p:cNvSpPr>
            <a:spLocks noGrp="1"/>
          </p:cNvSpPr>
          <p:nvPr>
            <p:ph idx="1"/>
          </p:nvPr>
        </p:nvSpPr>
        <p:spPr>
          <a:xfrm>
            <a:off x="611560" y="1556792"/>
            <a:ext cx="7992888" cy="4896544"/>
          </a:xfrm>
        </p:spPr>
        <p:txBody>
          <a:bodyPr>
            <a:normAutofit/>
          </a:bodyPr>
          <a:lstStyle/>
          <a:p>
            <a:pPr>
              <a:spcBef>
                <a:spcPts val="600"/>
              </a:spcBef>
              <a:spcAft>
                <a:spcPts val="1200"/>
              </a:spcAft>
              <a:buNone/>
            </a:pPr>
            <a:r>
              <a:rPr lang="en-AU" sz="2200" b="1" dirty="0" smtClean="0">
                <a:latin typeface="Helvetica" pitchFamily="34" charset="0"/>
              </a:rPr>
              <a:t>Contacting external sources</a:t>
            </a:r>
          </a:p>
          <a:p>
            <a:pPr>
              <a:spcBef>
                <a:spcPts val="600"/>
              </a:spcBef>
              <a:spcAft>
                <a:spcPts val="1200"/>
              </a:spcAft>
              <a:buNone/>
            </a:pPr>
            <a:r>
              <a:rPr lang="en-AU" sz="2200" dirty="0" smtClean="0">
                <a:latin typeface="Helvetica" pitchFamily="34" charset="0"/>
              </a:rPr>
              <a:t>Easy to reach contact details can include:</a:t>
            </a:r>
          </a:p>
          <a:p>
            <a:pPr lvl="0">
              <a:spcBef>
                <a:spcPts val="600"/>
              </a:spcBef>
              <a:spcAft>
                <a:spcPts val="1200"/>
              </a:spcAft>
            </a:pPr>
            <a:r>
              <a:rPr lang="en-AU" sz="2200" dirty="0" smtClean="0">
                <a:latin typeface="Helvetica" pitchFamily="34" charset="0"/>
              </a:rPr>
              <a:t>Special button</a:t>
            </a:r>
          </a:p>
          <a:p>
            <a:pPr lvl="0">
              <a:spcBef>
                <a:spcPts val="600"/>
              </a:spcBef>
              <a:spcAft>
                <a:spcPts val="1200"/>
              </a:spcAft>
            </a:pPr>
            <a:r>
              <a:rPr lang="en-AU" sz="2200" dirty="0" smtClean="0">
                <a:latin typeface="Helvetica" pitchFamily="34" charset="0"/>
              </a:rPr>
              <a:t>Posters with contact numbers</a:t>
            </a:r>
          </a:p>
          <a:p>
            <a:pPr lvl="0">
              <a:spcBef>
                <a:spcPts val="600"/>
              </a:spcBef>
              <a:spcAft>
                <a:spcPts val="1200"/>
              </a:spcAft>
            </a:pPr>
            <a:r>
              <a:rPr lang="en-AU" sz="2200" dirty="0" smtClean="0">
                <a:latin typeface="Helvetica" pitchFamily="34" charset="0"/>
              </a:rPr>
              <a:t>Speed dials</a:t>
            </a:r>
          </a:p>
          <a:p>
            <a:pPr lvl="0">
              <a:spcBef>
                <a:spcPts val="600"/>
              </a:spcBef>
              <a:spcAft>
                <a:spcPts val="1200"/>
              </a:spcAft>
            </a:pPr>
            <a:r>
              <a:rPr lang="en-AU" sz="2200" dirty="0" smtClean="0">
                <a:latin typeface="Helvetica" pitchFamily="34" charset="0"/>
              </a:rPr>
              <a:t>Other methods that are </a:t>
            </a:r>
            <a:r>
              <a:rPr lang="en-AU" sz="2200" dirty="0" smtClean="0">
                <a:latin typeface="Helvetica" pitchFamily="34" charset="0"/>
              </a:rPr>
              <a:t>suitable.</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7" name="Picture 6" descr="MP900438367[1].JPG"/>
          <p:cNvPicPr/>
          <p:nvPr/>
        </p:nvPicPr>
        <p:blipFill>
          <a:blip r:embed="rId3" cstate="print"/>
          <a:stretch>
            <a:fillRect/>
          </a:stretch>
        </p:blipFill>
        <p:spPr>
          <a:xfrm>
            <a:off x="5929322" y="2928934"/>
            <a:ext cx="2346176" cy="1661716"/>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2:</a:t>
            </a:r>
          </a:p>
          <a:p>
            <a:pPr marL="0">
              <a:buNone/>
            </a:pPr>
            <a:r>
              <a:rPr lang="en-US" sz="4000" dirty="0" smtClean="0">
                <a:solidFill>
                  <a:srgbClr val="FF6600"/>
                </a:solidFill>
              </a:rPr>
              <a:t>Apply appropriate procedures</a:t>
            </a:r>
            <a:endParaRPr lang="en-US" sz="4000" dirty="0" smtClean="0">
              <a:solidFill>
                <a:srgbClr val="FF6600"/>
              </a:solidFill>
              <a:latin typeface="Helvetica" pitchFamily="34" charset="0"/>
            </a:endParaRPr>
          </a:p>
          <a:p>
            <a:pPr marL="0">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5" name="Picture 4" descr="MP900409447[1].JPG"/>
          <p:cNvPicPr/>
          <p:nvPr/>
        </p:nvPicPr>
        <p:blipFill>
          <a:blip r:embed="rId3" cstate="print"/>
          <a:stretch>
            <a:fillRect/>
          </a:stretch>
        </p:blipFill>
        <p:spPr>
          <a:xfrm>
            <a:off x="3286116" y="3571876"/>
            <a:ext cx="2571768" cy="194531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Apply appropriate procedures</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6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Analyse situation carefully</a:t>
            </a:r>
          </a:p>
          <a:p>
            <a:pPr>
              <a:spcBef>
                <a:spcPts val="600"/>
              </a:spcBef>
              <a:spcAft>
                <a:spcPts val="1200"/>
              </a:spcAft>
            </a:pPr>
            <a:r>
              <a:rPr lang="en-AU" sz="2200" dirty="0" smtClean="0">
                <a:latin typeface="Helvetica" pitchFamily="34" charset="0"/>
              </a:rPr>
              <a:t>Apply procedures appropriate to the situation and in accordance with organizational policy</a:t>
            </a:r>
          </a:p>
          <a:p>
            <a:pPr>
              <a:spcBef>
                <a:spcPts val="600"/>
              </a:spcBef>
              <a:spcAft>
                <a:spcPts val="1200"/>
              </a:spcAft>
            </a:pPr>
            <a:r>
              <a:rPr lang="en-AU" sz="2200" dirty="0" smtClean="0">
                <a:latin typeface="Helvetica" pitchFamily="34" charset="0"/>
              </a:rPr>
              <a:t>Explain the position to the customer using appropriate communication skills</a:t>
            </a:r>
          </a:p>
          <a:p>
            <a:pPr>
              <a:spcBef>
                <a:spcPts val="600"/>
              </a:spcBef>
              <a:spcAft>
                <a:spcPts val="1200"/>
              </a:spcAft>
            </a:pPr>
            <a:r>
              <a:rPr lang="en-AU" sz="2200" dirty="0" smtClean="0">
                <a:latin typeface="Helvetica" pitchFamily="34" charset="0"/>
              </a:rPr>
              <a:t>Assist the customer to leave the                                     premises if </a:t>
            </a:r>
            <a:r>
              <a:rPr lang="en-AU" sz="2200" dirty="0" smtClean="0">
                <a:latin typeface="Helvetica" pitchFamily="34" charset="0"/>
              </a:rPr>
              <a:t>necessary.</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6" name="Picture 5" descr="MP900430940[1].JPG"/>
          <p:cNvPicPr>
            <a:picLocks noChangeAspect="1"/>
          </p:cNvPicPr>
          <p:nvPr/>
        </p:nvPicPr>
        <p:blipFill>
          <a:blip r:embed="rId3" cstate="print"/>
          <a:stretch>
            <a:fillRect/>
          </a:stretch>
        </p:blipFill>
        <p:spPr>
          <a:xfrm>
            <a:off x="6429388" y="1357299"/>
            <a:ext cx="1428760" cy="1071570"/>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Establishing a safe venue and atmosphere</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The manager plays a pivotal role in ensuring the venue is safe for all staff and patrons to enjoy.</a:t>
            </a:r>
          </a:p>
          <a:p>
            <a:pPr>
              <a:spcBef>
                <a:spcPts val="600"/>
              </a:spcBef>
              <a:spcAft>
                <a:spcPts val="1200"/>
              </a:spcAft>
              <a:buNone/>
            </a:pPr>
            <a:r>
              <a:rPr lang="en-AU" sz="2200" dirty="0" smtClean="0">
                <a:latin typeface="Helvetica" pitchFamily="34" charset="0"/>
              </a:rPr>
              <a:t>They have control over:</a:t>
            </a:r>
          </a:p>
          <a:p>
            <a:pPr>
              <a:spcBef>
                <a:spcPts val="600"/>
              </a:spcBef>
              <a:spcAft>
                <a:spcPts val="1200"/>
              </a:spcAft>
            </a:pPr>
            <a:r>
              <a:rPr lang="en-AU" sz="2200" dirty="0" smtClean="0">
                <a:latin typeface="Helvetica" pitchFamily="34" charset="0"/>
              </a:rPr>
              <a:t>What will be determined acceptable behaviour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and </a:t>
            </a:r>
            <a:r>
              <a:rPr lang="en-AU" sz="2200" dirty="0" smtClean="0">
                <a:latin typeface="Helvetica" pitchFamily="34" charset="0"/>
              </a:rPr>
              <a:t>actions within a venue</a:t>
            </a:r>
          </a:p>
          <a:p>
            <a:pPr>
              <a:spcBef>
                <a:spcPts val="600"/>
              </a:spcBef>
              <a:spcAft>
                <a:spcPts val="1200"/>
              </a:spcAft>
            </a:pPr>
            <a:r>
              <a:rPr lang="en-AU" sz="2200" dirty="0" smtClean="0">
                <a:latin typeface="Helvetica" pitchFamily="34" charset="0"/>
              </a:rPr>
              <a:t>How it should be run to ensure patrons                             can enjoy the </a:t>
            </a:r>
            <a:r>
              <a:rPr lang="en-AU" sz="2200" dirty="0" smtClean="0">
                <a:latin typeface="Helvetica" pitchFamily="34" charset="0"/>
              </a:rPr>
              <a:t>facility.</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7" name="Picture 6" descr="MP900422965[1].JPG"/>
          <p:cNvPicPr>
            <a:picLocks noChangeAspect="1"/>
          </p:cNvPicPr>
          <p:nvPr/>
        </p:nvPicPr>
        <p:blipFill>
          <a:blip r:embed="rId3" cstate="print"/>
          <a:stretch>
            <a:fillRect/>
          </a:stretch>
        </p:blipFill>
        <p:spPr>
          <a:xfrm>
            <a:off x="7000892" y="3786190"/>
            <a:ext cx="1280754" cy="1280754"/>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Establishing a safe venue and atmosphere</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Their decisions and actions guide the atmosphere of a venue. </a:t>
            </a:r>
          </a:p>
          <a:p>
            <a:pPr marL="0">
              <a:spcBef>
                <a:spcPts val="600"/>
              </a:spcBef>
              <a:spcAft>
                <a:spcPts val="1200"/>
              </a:spcAft>
              <a:buNone/>
            </a:pPr>
            <a:r>
              <a:rPr lang="en-AU" sz="2200" dirty="0" smtClean="0">
                <a:latin typeface="Helvetica" pitchFamily="34" charset="0"/>
              </a:rPr>
              <a:t>In essence the atmosphere is the general mood or feeling of a place. </a:t>
            </a:r>
          </a:p>
          <a:p>
            <a:pPr>
              <a:spcBef>
                <a:spcPts val="600"/>
              </a:spcBef>
              <a:spcAft>
                <a:spcPts val="1200"/>
              </a:spcAft>
              <a:buNone/>
            </a:pPr>
            <a:r>
              <a:rPr lang="en-AU" sz="2200" dirty="0" smtClean="0">
                <a:latin typeface="Helvetica" pitchFamily="34" charset="0"/>
              </a:rPr>
              <a:t>It influences the:</a:t>
            </a:r>
          </a:p>
          <a:p>
            <a:pPr>
              <a:spcBef>
                <a:spcPts val="600"/>
              </a:spcBef>
              <a:spcAft>
                <a:spcPts val="1200"/>
              </a:spcAft>
            </a:pPr>
            <a:r>
              <a:rPr lang="en-AU" sz="2200" dirty="0" smtClean="0">
                <a:latin typeface="Helvetica" pitchFamily="34" charset="0"/>
              </a:rPr>
              <a:t>Behaviour and actions of customers </a:t>
            </a:r>
          </a:p>
          <a:p>
            <a:pPr>
              <a:spcBef>
                <a:spcPts val="600"/>
              </a:spcBef>
              <a:spcAft>
                <a:spcPts val="1200"/>
              </a:spcAft>
            </a:pPr>
            <a:r>
              <a:rPr lang="en-AU" sz="2200" dirty="0" smtClean="0">
                <a:latin typeface="Helvetica" pitchFamily="34" charset="0"/>
              </a:rPr>
              <a:t>The way they drink</a:t>
            </a:r>
          </a:p>
          <a:p>
            <a:pPr>
              <a:spcBef>
                <a:spcPts val="600"/>
              </a:spcBef>
              <a:spcAft>
                <a:spcPts val="1200"/>
              </a:spcAft>
            </a:pPr>
            <a:r>
              <a:rPr lang="en-AU" sz="2200" dirty="0" smtClean="0">
                <a:latin typeface="Helvetica" pitchFamily="34" charset="0"/>
              </a:rPr>
              <a:t>Their ongoing </a:t>
            </a:r>
            <a:r>
              <a:rPr lang="en-AU" sz="2200" dirty="0" smtClean="0">
                <a:latin typeface="Helvetica" pitchFamily="34" charset="0"/>
              </a:rPr>
              <a:t>behaviour.</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8" name="Picture 7" descr="MP900430462[1].JPG"/>
          <p:cNvPicPr>
            <a:picLocks noChangeAspect="1"/>
          </p:cNvPicPr>
          <p:nvPr/>
        </p:nvPicPr>
        <p:blipFill>
          <a:blip r:embed="rId3" cstate="print"/>
          <a:stretch>
            <a:fillRect/>
          </a:stretch>
        </p:blipFill>
        <p:spPr>
          <a:xfrm>
            <a:off x="6215074" y="3357562"/>
            <a:ext cx="1707672" cy="1707672"/>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Drinking behaviour</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dirty="0" smtClean="0">
                <a:latin typeface="Helvetica" pitchFamily="34" charset="0"/>
              </a:rPr>
              <a:t>Drinking behaviour is the greatest influence on:</a:t>
            </a:r>
          </a:p>
          <a:p>
            <a:pPr>
              <a:spcBef>
                <a:spcPts val="600"/>
              </a:spcBef>
              <a:spcAft>
                <a:spcPts val="1200"/>
              </a:spcAft>
            </a:pPr>
            <a:r>
              <a:rPr lang="en-AU" sz="2200" dirty="0" smtClean="0">
                <a:latin typeface="Helvetica" pitchFamily="34" charset="0"/>
              </a:rPr>
              <a:t>How each person’s behaviour and actions</a:t>
            </a:r>
          </a:p>
          <a:p>
            <a:pPr>
              <a:spcBef>
                <a:spcPts val="600"/>
              </a:spcBef>
              <a:spcAft>
                <a:spcPts val="1200"/>
              </a:spcAft>
            </a:pPr>
            <a:r>
              <a:rPr lang="en-AU" sz="2200" dirty="0" smtClean="0">
                <a:latin typeface="Helvetica" pitchFamily="34" charset="0"/>
              </a:rPr>
              <a:t>The way a group interacts</a:t>
            </a:r>
          </a:p>
          <a:p>
            <a:pPr>
              <a:spcBef>
                <a:spcPts val="600"/>
              </a:spcBef>
              <a:spcAft>
                <a:spcPts val="1200"/>
              </a:spcAft>
            </a:pPr>
            <a:r>
              <a:rPr lang="en-AU" sz="2200" dirty="0" smtClean="0">
                <a:latin typeface="Helvetica" pitchFamily="34" charset="0"/>
              </a:rPr>
              <a:t>The general conduct within the </a:t>
            </a:r>
            <a:r>
              <a:rPr lang="en-AU" sz="2200" dirty="0" smtClean="0">
                <a:latin typeface="Helvetica" pitchFamily="34" charset="0"/>
              </a:rPr>
              <a:t>premises.</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MP900430940[1].JPG"/>
          <p:cNvPicPr>
            <a:picLocks noChangeAspect="1"/>
          </p:cNvPicPr>
          <p:nvPr/>
        </p:nvPicPr>
        <p:blipFill>
          <a:blip r:embed="rId3" cstate="print">
            <a:duotone>
              <a:prstClr val="black"/>
              <a:srgbClr val="D9C3A5">
                <a:tint val="50000"/>
                <a:satMod val="180000"/>
              </a:srgbClr>
            </a:duotone>
          </a:blip>
          <a:stretch>
            <a:fillRect/>
          </a:stretch>
        </p:blipFill>
        <p:spPr>
          <a:xfrm>
            <a:off x="3469271" y="4143380"/>
            <a:ext cx="2205458" cy="1654093"/>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Drinking behaviour</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By promoting, encouraging and controlling the drinking behaviour, it will certainly help reduce the risks associated with intoxication.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5" descr="MP900400590[1].JPG"/>
          <p:cNvPicPr>
            <a:picLocks noChangeAspect="1"/>
          </p:cNvPicPr>
          <p:nvPr/>
        </p:nvPicPr>
        <p:blipFill>
          <a:blip r:embed="rId3" cstate="print"/>
          <a:stretch>
            <a:fillRect/>
          </a:stretch>
        </p:blipFill>
        <p:spPr>
          <a:xfrm>
            <a:off x="5929322" y="2643182"/>
            <a:ext cx="1824220" cy="2280832"/>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Drinking behaviour</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dirty="0" smtClean="0">
                <a:latin typeface="Helvetica" pitchFamily="34" charset="0"/>
              </a:rPr>
              <a:t>Drinking behaviour depends on three different factors: </a:t>
            </a:r>
          </a:p>
          <a:p>
            <a:pPr lvl="0">
              <a:spcBef>
                <a:spcPts val="600"/>
              </a:spcBef>
              <a:spcAft>
                <a:spcPts val="1200"/>
              </a:spcAft>
            </a:pPr>
            <a:r>
              <a:rPr lang="en-AU" sz="2200" dirty="0" smtClean="0">
                <a:latin typeface="Helvetica" pitchFamily="34" charset="0"/>
              </a:rPr>
              <a:t>The drink</a:t>
            </a:r>
          </a:p>
          <a:p>
            <a:pPr lvl="0">
              <a:spcBef>
                <a:spcPts val="600"/>
              </a:spcBef>
              <a:spcAft>
                <a:spcPts val="1200"/>
              </a:spcAft>
            </a:pPr>
            <a:r>
              <a:rPr lang="en-AU" sz="2200" dirty="0" smtClean="0">
                <a:latin typeface="Helvetica" pitchFamily="34" charset="0"/>
              </a:rPr>
              <a:t>The drinker</a:t>
            </a:r>
          </a:p>
          <a:p>
            <a:pPr lvl="0">
              <a:spcBef>
                <a:spcPts val="600"/>
              </a:spcBef>
              <a:spcAft>
                <a:spcPts val="1200"/>
              </a:spcAft>
            </a:pPr>
            <a:r>
              <a:rPr lang="en-AU" sz="2200" dirty="0" smtClean="0">
                <a:latin typeface="Helvetica" pitchFamily="34" charset="0"/>
              </a:rPr>
              <a:t>The </a:t>
            </a:r>
            <a:r>
              <a:rPr lang="en-AU" sz="2200" dirty="0" smtClean="0">
                <a:latin typeface="Helvetica" pitchFamily="34" charset="0"/>
              </a:rPr>
              <a:t>environment.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Removing or changing any one of </a:t>
            </a:r>
            <a:r>
              <a:rPr lang="en-AU" sz="2200" dirty="0" smtClean="0">
                <a:latin typeface="Helvetica" pitchFamily="34" charset="0"/>
              </a:rPr>
              <a:t>these factors </a:t>
            </a:r>
            <a:r>
              <a:rPr lang="en-AU" sz="2200" dirty="0" smtClean="0">
                <a:latin typeface="Helvetica" pitchFamily="34" charset="0"/>
              </a:rPr>
              <a:t>will alter the drinking behaviour.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7" name="Picture 6" descr="MP900431165[1].JPG"/>
          <p:cNvPicPr>
            <a:picLocks noChangeAspect="1"/>
          </p:cNvPicPr>
          <p:nvPr/>
        </p:nvPicPr>
        <p:blipFill>
          <a:blip r:embed="rId3" cstate="print"/>
          <a:stretch>
            <a:fillRect/>
          </a:stretch>
        </p:blipFill>
        <p:spPr>
          <a:xfrm>
            <a:off x="5500694" y="2285992"/>
            <a:ext cx="2051720" cy="1367279"/>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Creating the right environment</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There are a number of factors that influence drinking behaviour and the change and degree of problems associated with intoxication. </a:t>
            </a:r>
          </a:p>
          <a:p>
            <a:pPr>
              <a:spcBef>
                <a:spcPts val="600"/>
              </a:spcBef>
              <a:spcAft>
                <a:spcPts val="1200"/>
              </a:spcAft>
              <a:buNone/>
            </a:pPr>
            <a:r>
              <a:rPr lang="en-AU" sz="2200" dirty="0" smtClean="0">
                <a:latin typeface="Helvetica" pitchFamily="34" charset="0"/>
              </a:rPr>
              <a:t> These factors can be:</a:t>
            </a:r>
          </a:p>
          <a:p>
            <a:pPr>
              <a:spcBef>
                <a:spcPts val="600"/>
              </a:spcBef>
              <a:spcAft>
                <a:spcPts val="1200"/>
              </a:spcAft>
            </a:pPr>
            <a:r>
              <a:rPr lang="en-AU" sz="2200" dirty="0" smtClean="0">
                <a:latin typeface="Helvetica" pitchFamily="34" charset="0"/>
              </a:rPr>
              <a:t>Positive </a:t>
            </a:r>
          </a:p>
          <a:p>
            <a:pPr>
              <a:spcBef>
                <a:spcPts val="600"/>
              </a:spcBef>
              <a:spcAft>
                <a:spcPts val="1200"/>
              </a:spcAft>
            </a:pPr>
            <a:r>
              <a:rPr lang="en-AU" sz="2200" dirty="0" smtClean="0">
                <a:latin typeface="Helvetica" pitchFamily="34" charset="0"/>
              </a:rPr>
              <a:t>Negative.</a:t>
            </a: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6" name="Picture 5" descr="MP900442439[1].JPG"/>
          <p:cNvPicPr>
            <a:picLocks noChangeAspect="1"/>
          </p:cNvPicPr>
          <p:nvPr/>
        </p:nvPicPr>
        <p:blipFill>
          <a:blip r:embed="rId3" cstate="print"/>
          <a:stretch>
            <a:fillRect/>
          </a:stretch>
        </p:blipFill>
        <p:spPr>
          <a:xfrm>
            <a:off x="5286380" y="2857496"/>
            <a:ext cx="2627784" cy="1751856"/>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Creating the right environment</a:t>
            </a:r>
          </a:p>
        </p:txBody>
      </p:sp>
      <p:sp>
        <p:nvSpPr>
          <p:cNvPr id="3" name="Content Placeholder 2"/>
          <p:cNvSpPr>
            <a:spLocks noGrp="1"/>
          </p:cNvSpPr>
          <p:nvPr>
            <p:ph idx="1"/>
          </p:nvPr>
        </p:nvSpPr>
        <p:spPr>
          <a:xfrm>
            <a:off x="611560" y="1556792"/>
            <a:ext cx="7467600" cy="4896544"/>
          </a:xfrm>
        </p:spPr>
        <p:txBody>
          <a:bodyPr>
            <a:normAutofit/>
          </a:bodyPr>
          <a:lstStyle/>
          <a:p>
            <a:pPr lvl="0">
              <a:spcBef>
                <a:spcPts val="600"/>
              </a:spcBef>
              <a:spcAft>
                <a:spcPts val="1200"/>
              </a:spcAft>
              <a:buNone/>
            </a:pPr>
            <a:r>
              <a:rPr lang="en-AU" sz="2200" b="1" dirty="0" smtClean="0">
                <a:latin typeface="Helvetica" pitchFamily="34" charset="0"/>
              </a:rPr>
              <a:t>Positive factors</a:t>
            </a:r>
          </a:p>
          <a:p>
            <a:pPr>
              <a:spcBef>
                <a:spcPts val="600"/>
              </a:spcBef>
              <a:spcAft>
                <a:spcPts val="1000"/>
              </a:spcAft>
            </a:pPr>
            <a:r>
              <a:rPr lang="en-AU" sz="2200" dirty="0" smtClean="0">
                <a:latin typeface="Helvetica" pitchFamily="34" charset="0"/>
              </a:rPr>
              <a:t>High levels of cleanliness</a:t>
            </a:r>
          </a:p>
          <a:p>
            <a:pPr lvl="0">
              <a:spcBef>
                <a:spcPts val="600"/>
              </a:spcBef>
              <a:spcAft>
                <a:spcPts val="1000"/>
              </a:spcAft>
            </a:pPr>
            <a:r>
              <a:rPr lang="en-AU" sz="2200" dirty="0" smtClean="0">
                <a:latin typeface="Helvetica" pitchFamily="34" charset="0"/>
              </a:rPr>
              <a:t>Well trained and professional staff</a:t>
            </a:r>
          </a:p>
          <a:p>
            <a:pPr lvl="0">
              <a:spcBef>
                <a:spcPts val="600"/>
              </a:spcBef>
              <a:spcAft>
                <a:spcPts val="1000"/>
              </a:spcAft>
            </a:pPr>
            <a:r>
              <a:rPr lang="en-AU" sz="2200" dirty="0" smtClean="0">
                <a:latin typeface="Helvetica" pitchFamily="34" charset="0"/>
              </a:rPr>
              <a:t>Facilities in operational order</a:t>
            </a:r>
          </a:p>
          <a:p>
            <a:pPr lvl="0">
              <a:spcBef>
                <a:spcPts val="600"/>
              </a:spcBef>
              <a:spcAft>
                <a:spcPts val="1000"/>
              </a:spcAft>
            </a:pPr>
            <a:r>
              <a:rPr lang="en-AU" sz="2200" dirty="0" smtClean="0">
                <a:latin typeface="Helvetica" pitchFamily="34" charset="0"/>
              </a:rPr>
              <a:t>Good security measures</a:t>
            </a:r>
          </a:p>
          <a:p>
            <a:pPr lvl="0">
              <a:spcBef>
                <a:spcPts val="600"/>
              </a:spcBef>
              <a:spcAft>
                <a:spcPts val="1000"/>
              </a:spcAft>
            </a:pPr>
            <a:r>
              <a:rPr lang="en-AU" sz="2200" dirty="0" smtClean="0">
                <a:latin typeface="Helvetica" pitchFamily="34" charset="0"/>
              </a:rPr>
              <a:t>Regular removal or rubbish and waste</a:t>
            </a:r>
          </a:p>
          <a:p>
            <a:pPr lvl="0">
              <a:spcBef>
                <a:spcPts val="600"/>
              </a:spcBef>
              <a:spcAft>
                <a:spcPts val="1000"/>
              </a:spcAft>
            </a:pPr>
            <a:r>
              <a:rPr lang="en-AU" sz="2200" dirty="0" smtClean="0">
                <a:latin typeface="Helvetica" pitchFamily="34" charset="0"/>
              </a:rPr>
              <a:t>Prompt cleaning of tables and removal </a:t>
            </a:r>
            <a:r>
              <a:rPr lang="en-AU" sz="2200" dirty="0" smtClean="0">
                <a:latin typeface="Helvetica" pitchFamily="34" charset="0"/>
              </a:rPr>
              <a:t>of dirty </a:t>
            </a:r>
            <a:r>
              <a:rPr lang="en-AU" sz="2200" dirty="0" smtClean="0">
                <a:latin typeface="Helvetica" pitchFamily="34" charset="0"/>
              </a:rPr>
              <a:t>bottles, plates and glasses</a:t>
            </a:r>
          </a:p>
          <a:p>
            <a:pPr lvl="0">
              <a:spcBef>
                <a:spcPts val="600"/>
              </a:spcBef>
              <a:spcAft>
                <a:spcPts val="1000"/>
              </a:spcAft>
            </a:pPr>
            <a:r>
              <a:rPr lang="en-AU" sz="2200" dirty="0" smtClean="0">
                <a:latin typeface="Helvetica" pitchFamily="34" charset="0"/>
              </a:rPr>
              <a:t>Adequate and well lit and ventilated </a:t>
            </a:r>
            <a:r>
              <a:rPr lang="en-AU" sz="2200" dirty="0" smtClean="0">
                <a:latin typeface="Helvetica" pitchFamily="34" charset="0"/>
              </a:rPr>
              <a:t>toilets.</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7" name="Picture 6" descr="MP900410119[1].JPG"/>
          <p:cNvPicPr/>
          <p:nvPr/>
        </p:nvPicPr>
        <p:blipFill>
          <a:blip r:embed="rId3" cstate="print"/>
          <a:stretch>
            <a:fillRect/>
          </a:stretch>
        </p:blipFill>
        <p:spPr>
          <a:xfrm>
            <a:off x="6357950" y="2071678"/>
            <a:ext cx="1663824" cy="1341115"/>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Creating the right environment</a:t>
            </a:r>
          </a:p>
        </p:txBody>
      </p:sp>
      <p:sp>
        <p:nvSpPr>
          <p:cNvPr id="3" name="Content Placeholder 2"/>
          <p:cNvSpPr>
            <a:spLocks noGrp="1"/>
          </p:cNvSpPr>
          <p:nvPr>
            <p:ph idx="1"/>
          </p:nvPr>
        </p:nvSpPr>
        <p:spPr>
          <a:xfrm>
            <a:off x="611560" y="1556792"/>
            <a:ext cx="7467600" cy="4896544"/>
          </a:xfrm>
        </p:spPr>
        <p:txBody>
          <a:bodyPr>
            <a:normAutofit/>
          </a:bodyPr>
          <a:lstStyle/>
          <a:p>
            <a:pPr lvl="0">
              <a:spcBef>
                <a:spcPts val="600"/>
              </a:spcBef>
              <a:spcAft>
                <a:spcPts val="1200"/>
              </a:spcAft>
              <a:buNone/>
            </a:pPr>
            <a:r>
              <a:rPr lang="en-AU" sz="2200" b="1" dirty="0" smtClean="0">
                <a:latin typeface="Helvetica" pitchFamily="34" charset="0"/>
              </a:rPr>
              <a:t>Positive factors</a:t>
            </a:r>
          </a:p>
          <a:p>
            <a:pPr lvl="0">
              <a:spcBef>
                <a:spcPts val="600"/>
              </a:spcBef>
              <a:spcAft>
                <a:spcPts val="1200"/>
              </a:spcAft>
            </a:pPr>
            <a:r>
              <a:rPr lang="en-AU" sz="2200" dirty="0" smtClean="0">
                <a:latin typeface="Helvetica" pitchFamily="34" charset="0"/>
              </a:rPr>
              <a:t>Non-aggressive security staff</a:t>
            </a:r>
          </a:p>
          <a:p>
            <a:pPr lvl="0">
              <a:spcBef>
                <a:spcPts val="600"/>
              </a:spcBef>
              <a:spcAft>
                <a:spcPts val="1200"/>
              </a:spcAft>
            </a:pPr>
            <a:r>
              <a:rPr lang="en-AU" sz="2200" dirty="0" smtClean="0">
                <a:latin typeface="Helvetica" pitchFamily="34" charset="0"/>
              </a:rPr>
              <a:t>Non-crowding policies</a:t>
            </a:r>
          </a:p>
          <a:p>
            <a:pPr lvl="0">
              <a:spcBef>
                <a:spcPts val="600"/>
              </a:spcBef>
              <a:spcAft>
                <a:spcPts val="1200"/>
              </a:spcAft>
            </a:pPr>
            <a:r>
              <a:rPr lang="en-AU" sz="2200" dirty="0" smtClean="0">
                <a:latin typeface="Helvetica" pitchFamily="34" charset="0"/>
              </a:rPr>
              <a:t>Mix between men and women</a:t>
            </a:r>
          </a:p>
          <a:p>
            <a:pPr lvl="0">
              <a:spcBef>
                <a:spcPts val="600"/>
              </a:spcBef>
              <a:spcAft>
                <a:spcPts val="1200"/>
              </a:spcAft>
            </a:pPr>
            <a:r>
              <a:rPr lang="en-AU" sz="2200" dirty="0" smtClean="0">
                <a:latin typeface="Helvetica" pitchFamily="34" charset="0"/>
              </a:rPr>
              <a:t>Good communication</a:t>
            </a:r>
          </a:p>
          <a:p>
            <a:pPr lvl="0">
              <a:spcBef>
                <a:spcPts val="600"/>
              </a:spcBef>
              <a:spcAft>
                <a:spcPts val="1200"/>
              </a:spcAft>
            </a:pPr>
            <a:r>
              <a:rPr lang="en-AU" sz="2200" dirty="0" smtClean="0">
                <a:latin typeface="Helvetica" pitchFamily="34" charset="0"/>
              </a:rPr>
              <a:t>Good activities</a:t>
            </a:r>
          </a:p>
          <a:p>
            <a:pPr lvl="0">
              <a:spcBef>
                <a:spcPts val="600"/>
              </a:spcBef>
              <a:spcAft>
                <a:spcPts val="1200"/>
              </a:spcAft>
            </a:pPr>
            <a:r>
              <a:rPr lang="en-AU" sz="2200" dirty="0" smtClean="0">
                <a:latin typeface="Helvetica" pitchFamily="34" charset="0"/>
              </a:rPr>
              <a:t>Safe venue layout</a:t>
            </a:r>
          </a:p>
          <a:p>
            <a:pPr>
              <a:spcBef>
                <a:spcPts val="600"/>
              </a:spcBef>
              <a:spcAft>
                <a:spcPts val="1200"/>
              </a:spcAft>
            </a:pPr>
            <a:r>
              <a:rPr lang="en-AU" sz="2200" dirty="0" smtClean="0">
                <a:latin typeface="Helvetica" pitchFamily="34" charset="0"/>
              </a:rPr>
              <a:t>Video camera </a:t>
            </a:r>
            <a:r>
              <a:rPr lang="en-AU" sz="2200" dirty="0" smtClean="0">
                <a:latin typeface="Helvetica" pitchFamily="34" charset="0"/>
              </a:rPr>
              <a:t>surveillance.</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6" descr="MP900431163[1].JPG"/>
          <p:cNvPicPr>
            <a:picLocks noChangeAspect="1"/>
          </p:cNvPicPr>
          <p:nvPr/>
        </p:nvPicPr>
        <p:blipFill>
          <a:blip r:embed="rId3" cstate="print"/>
          <a:stretch>
            <a:fillRect/>
          </a:stretch>
        </p:blipFill>
        <p:spPr>
          <a:xfrm>
            <a:off x="5786446" y="2643182"/>
            <a:ext cx="2339752" cy="1559225"/>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Creating the right environment</a:t>
            </a:r>
          </a:p>
        </p:txBody>
      </p:sp>
      <p:sp>
        <p:nvSpPr>
          <p:cNvPr id="3" name="Content Placeholder 2"/>
          <p:cNvSpPr>
            <a:spLocks noGrp="1"/>
          </p:cNvSpPr>
          <p:nvPr>
            <p:ph idx="1"/>
          </p:nvPr>
        </p:nvSpPr>
        <p:spPr>
          <a:xfrm>
            <a:off x="611560" y="1556792"/>
            <a:ext cx="7467600" cy="4896544"/>
          </a:xfrm>
        </p:spPr>
        <p:txBody>
          <a:bodyPr>
            <a:normAutofit/>
          </a:bodyPr>
          <a:lstStyle/>
          <a:p>
            <a:pPr lvl="0">
              <a:spcBef>
                <a:spcPts val="600"/>
              </a:spcBef>
              <a:spcAft>
                <a:spcPts val="1200"/>
              </a:spcAft>
              <a:buNone/>
            </a:pPr>
            <a:r>
              <a:rPr lang="en-AU" sz="2200" b="1" dirty="0" smtClean="0">
                <a:latin typeface="Helvetica" pitchFamily="34" charset="0"/>
              </a:rPr>
              <a:t>Negative factors</a:t>
            </a:r>
          </a:p>
          <a:p>
            <a:pPr lvl="0">
              <a:spcBef>
                <a:spcPts val="600"/>
              </a:spcBef>
              <a:spcAft>
                <a:spcPts val="1200"/>
              </a:spcAft>
            </a:pPr>
            <a:r>
              <a:rPr lang="en-AU" sz="2200" dirty="0" smtClean="0">
                <a:latin typeface="Helvetica" pitchFamily="34" charset="0"/>
              </a:rPr>
              <a:t>Unsupervised pool tables</a:t>
            </a:r>
          </a:p>
          <a:p>
            <a:pPr lvl="0">
              <a:spcBef>
                <a:spcPts val="600"/>
              </a:spcBef>
              <a:spcAft>
                <a:spcPts val="1200"/>
              </a:spcAft>
            </a:pPr>
            <a:r>
              <a:rPr lang="en-AU" sz="2200" dirty="0" smtClean="0">
                <a:latin typeface="Helvetica" pitchFamily="34" charset="0"/>
              </a:rPr>
              <a:t>TV showing aggressive, offensive, sexual or intoxication-related images</a:t>
            </a:r>
          </a:p>
          <a:p>
            <a:pPr lvl="0">
              <a:spcBef>
                <a:spcPts val="600"/>
              </a:spcBef>
              <a:spcAft>
                <a:spcPts val="1200"/>
              </a:spcAft>
            </a:pPr>
            <a:r>
              <a:rPr lang="en-AU" sz="2200" dirty="0" smtClean="0">
                <a:latin typeface="Helvetica" pitchFamily="34" charset="0"/>
              </a:rPr>
              <a:t>Offensive or sexually explicit music</a:t>
            </a:r>
          </a:p>
          <a:p>
            <a:pPr lvl="0">
              <a:spcBef>
                <a:spcPts val="600"/>
              </a:spcBef>
              <a:spcAft>
                <a:spcPts val="1200"/>
              </a:spcAft>
            </a:pPr>
            <a:r>
              <a:rPr lang="en-AU" sz="2200" dirty="0" smtClean="0">
                <a:latin typeface="Helvetica" pitchFamily="34" charset="0"/>
              </a:rPr>
              <a:t>Congestion </a:t>
            </a:r>
          </a:p>
          <a:p>
            <a:pPr lvl="0">
              <a:spcBef>
                <a:spcPts val="600"/>
              </a:spcBef>
              <a:spcAft>
                <a:spcPts val="1200"/>
              </a:spcAft>
            </a:pPr>
            <a:r>
              <a:rPr lang="en-AU" sz="2200" dirty="0" smtClean="0">
                <a:latin typeface="Helvetica" pitchFamily="34" charset="0"/>
              </a:rPr>
              <a:t>Higher percentage of customers standing</a:t>
            </a:r>
          </a:p>
          <a:p>
            <a:pPr lvl="0">
              <a:spcBef>
                <a:spcPts val="600"/>
              </a:spcBef>
              <a:spcAft>
                <a:spcPts val="1200"/>
              </a:spcAft>
            </a:pPr>
            <a:r>
              <a:rPr lang="en-AU" sz="2200" dirty="0" smtClean="0">
                <a:latin typeface="Helvetica" pitchFamily="34" charset="0"/>
              </a:rPr>
              <a:t>Drunk or underage persons</a:t>
            </a:r>
          </a:p>
          <a:p>
            <a:pPr lvl="0">
              <a:spcBef>
                <a:spcPts val="600"/>
              </a:spcBef>
              <a:spcAft>
                <a:spcPts val="1200"/>
              </a:spcAft>
            </a:pPr>
            <a:r>
              <a:rPr lang="en-AU" sz="2200" dirty="0" smtClean="0">
                <a:latin typeface="Helvetica" pitchFamily="34" charset="0"/>
              </a:rPr>
              <a:t>Vomiting.</a:t>
            </a: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MP900444217[1].JPG"/>
          <p:cNvPicPr/>
          <p:nvPr/>
        </p:nvPicPr>
        <p:blipFill>
          <a:blip r:embed="rId3" cstate="print"/>
          <a:stretch>
            <a:fillRect/>
          </a:stretch>
        </p:blipFill>
        <p:spPr>
          <a:xfrm>
            <a:off x="6357950" y="3286124"/>
            <a:ext cx="2055172" cy="1428760"/>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Creating the right environment</a:t>
            </a:r>
          </a:p>
        </p:txBody>
      </p:sp>
      <p:sp>
        <p:nvSpPr>
          <p:cNvPr id="3" name="Content Placeholder 2"/>
          <p:cNvSpPr>
            <a:spLocks noGrp="1"/>
          </p:cNvSpPr>
          <p:nvPr>
            <p:ph idx="1"/>
          </p:nvPr>
        </p:nvSpPr>
        <p:spPr>
          <a:xfrm>
            <a:off x="611560" y="1556792"/>
            <a:ext cx="7467600" cy="4896544"/>
          </a:xfrm>
        </p:spPr>
        <p:txBody>
          <a:bodyPr>
            <a:normAutofit/>
          </a:bodyPr>
          <a:lstStyle/>
          <a:p>
            <a:pPr lvl="0">
              <a:spcBef>
                <a:spcPts val="600"/>
              </a:spcBef>
              <a:spcAft>
                <a:spcPts val="1200"/>
              </a:spcAft>
              <a:buNone/>
            </a:pPr>
            <a:r>
              <a:rPr lang="en-AU" sz="2200" b="1" dirty="0" smtClean="0">
                <a:latin typeface="Helvetica" pitchFamily="34" charset="0"/>
              </a:rPr>
              <a:t>Negative factors</a:t>
            </a:r>
          </a:p>
          <a:p>
            <a:pPr lvl="0">
              <a:spcBef>
                <a:spcPts val="600"/>
              </a:spcBef>
              <a:spcAft>
                <a:spcPts val="1200"/>
              </a:spcAft>
            </a:pPr>
            <a:r>
              <a:rPr lang="en-AU" sz="2200" dirty="0" smtClean="0">
                <a:latin typeface="Helvetica" pitchFamily="34" charset="0"/>
              </a:rPr>
              <a:t>Drug dealing or drug use</a:t>
            </a:r>
          </a:p>
          <a:p>
            <a:pPr lvl="0">
              <a:spcBef>
                <a:spcPts val="600"/>
              </a:spcBef>
              <a:spcAft>
                <a:spcPts val="1200"/>
              </a:spcAft>
            </a:pPr>
            <a:r>
              <a:rPr lang="en-AU" sz="2200" dirty="0" smtClean="0">
                <a:latin typeface="Helvetica" pitchFamily="34" charset="0"/>
              </a:rPr>
              <a:t>Drunk customers in the premises</a:t>
            </a:r>
          </a:p>
          <a:p>
            <a:pPr lvl="0">
              <a:spcBef>
                <a:spcPts val="600"/>
              </a:spcBef>
              <a:spcAft>
                <a:spcPts val="1200"/>
              </a:spcAft>
            </a:pPr>
            <a:r>
              <a:rPr lang="en-AU" sz="2200" dirty="0" smtClean="0">
                <a:latin typeface="Helvetica" pitchFamily="34" charset="0"/>
              </a:rPr>
              <a:t>Staff being hostile or aggressive towards patrons</a:t>
            </a:r>
          </a:p>
          <a:p>
            <a:pPr lvl="0">
              <a:spcBef>
                <a:spcPts val="600"/>
              </a:spcBef>
              <a:spcAft>
                <a:spcPts val="1200"/>
              </a:spcAft>
            </a:pPr>
            <a:r>
              <a:rPr lang="en-AU" sz="2200" dirty="0" smtClean="0">
                <a:latin typeface="Helvetica" pitchFamily="34" charset="0"/>
              </a:rPr>
              <a:t>Staff allowing aggression or watching conflict</a:t>
            </a:r>
          </a:p>
          <a:p>
            <a:pPr lvl="0">
              <a:spcBef>
                <a:spcPts val="600"/>
              </a:spcBef>
              <a:spcAft>
                <a:spcPts val="1200"/>
              </a:spcAft>
            </a:pPr>
            <a:r>
              <a:rPr lang="en-AU" sz="2200" dirty="0" smtClean="0">
                <a:latin typeface="Helvetica" pitchFamily="34" charset="0"/>
              </a:rPr>
              <a:t>Staff sending people outside to fight</a:t>
            </a:r>
          </a:p>
          <a:p>
            <a:pPr lvl="0">
              <a:spcBef>
                <a:spcPts val="600"/>
              </a:spcBef>
              <a:spcAft>
                <a:spcPts val="1200"/>
              </a:spcAft>
            </a:pPr>
            <a:r>
              <a:rPr lang="en-AU" sz="2200" dirty="0" smtClean="0">
                <a:latin typeface="Helvetica" pitchFamily="34" charset="0"/>
              </a:rPr>
              <a:t>Late intervention in situations by </a:t>
            </a:r>
            <a:r>
              <a:rPr lang="en-AU" sz="2200" dirty="0" smtClean="0">
                <a:latin typeface="Helvetica" pitchFamily="34" charset="0"/>
              </a:rPr>
              <a:t>staff.</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5" name="Picture 4" descr="MP900443018[1].JPG"/>
          <p:cNvPicPr>
            <a:picLocks noChangeAspect="1"/>
          </p:cNvPicPr>
          <p:nvPr/>
        </p:nvPicPr>
        <p:blipFill>
          <a:blip r:embed="rId3" cstate="print">
            <a:grayscl/>
            <a:lum bright="20000"/>
          </a:blip>
          <a:stretch>
            <a:fillRect/>
          </a:stretch>
        </p:blipFill>
        <p:spPr>
          <a:xfrm>
            <a:off x="6786578" y="1500174"/>
            <a:ext cx="1132432" cy="1703658"/>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Creating the right environment</a:t>
            </a:r>
          </a:p>
        </p:txBody>
      </p:sp>
      <p:sp>
        <p:nvSpPr>
          <p:cNvPr id="3" name="Content Placeholder 2"/>
          <p:cNvSpPr>
            <a:spLocks noGrp="1"/>
          </p:cNvSpPr>
          <p:nvPr>
            <p:ph idx="1"/>
          </p:nvPr>
        </p:nvSpPr>
        <p:spPr>
          <a:xfrm>
            <a:off x="611560" y="1556792"/>
            <a:ext cx="7467600" cy="4896544"/>
          </a:xfrm>
        </p:spPr>
        <p:txBody>
          <a:bodyPr>
            <a:normAutofit/>
          </a:bodyPr>
          <a:lstStyle/>
          <a:p>
            <a:pPr lvl="0">
              <a:spcBef>
                <a:spcPts val="600"/>
              </a:spcBef>
              <a:spcAft>
                <a:spcPts val="1200"/>
              </a:spcAft>
              <a:buNone/>
            </a:pPr>
            <a:r>
              <a:rPr lang="en-AU" sz="2200" b="1" dirty="0" smtClean="0">
                <a:latin typeface="Helvetica" pitchFamily="34" charset="0"/>
              </a:rPr>
              <a:t>Negative factors</a:t>
            </a:r>
          </a:p>
          <a:p>
            <a:pPr lvl="0">
              <a:spcBef>
                <a:spcPts val="600"/>
              </a:spcBef>
              <a:spcAft>
                <a:spcPts val="1200"/>
              </a:spcAft>
            </a:pPr>
            <a:r>
              <a:rPr lang="en-AU" sz="2200" dirty="0" smtClean="0">
                <a:latin typeface="Helvetica" pitchFamily="34" charset="0"/>
              </a:rPr>
              <a:t>Patrons served double at closing time</a:t>
            </a:r>
          </a:p>
          <a:p>
            <a:pPr lvl="0">
              <a:spcBef>
                <a:spcPts val="600"/>
              </a:spcBef>
              <a:spcAft>
                <a:spcPts val="1200"/>
              </a:spcAft>
            </a:pPr>
            <a:r>
              <a:rPr lang="en-AU" sz="2200" dirty="0" smtClean="0">
                <a:latin typeface="Helvetica" pitchFamily="34" charset="0"/>
              </a:rPr>
              <a:t>Served after closing time</a:t>
            </a:r>
          </a:p>
          <a:p>
            <a:pPr lvl="0">
              <a:spcBef>
                <a:spcPts val="600"/>
              </a:spcBef>
              <a:spcAft>
                <a:spcPts val="1200"/>
              </a:spcAft>
            </a:pPr>
            <a:r>
              <a:rPr lang="en-AU" sz="2200" dirty="0" smtClean="0">
                <a:latin typeface="Helvetica" pitchFamily="34" charset="0"/>
              </a:rPr>
              <a:t>Smokiness or lack of ventilation</a:t>
            </a:r>
          </a:p>
          <a:p>
            <a:pPr lvl="0">
              <a:spcBef>
                <a:spcPts val="600"/>
              </a:spcBef>
              <a:spcAft>
                <a:spcPts val="1200"/>
              </a:spcAft>
            </a:pPr>
            <a:r>
              <a:rPr lang="en-AU" sz="2200" dirty="0" smtClean="0">
                <a:latin typeface="Helvetica" pitchFamily="34" charset="0"/>
              </a:rPr>
              <a:t>High level of noise and movement</a:t>
            </a:r>
          </a:p>
          <a:p>
            <a:pPr lvl="0">
              <a:spcBef>
                <a:spcPts val="600"/>
              </a:spcBef>
              <a:spcAft>
                <a:spcPts val="1200"/>
              </a:spcAft>
            </a:pPr>
            <a:r>
              <a:rPr lang="en-AU" sz="2200" dirty="0" smtClean="0">
                <a:latin typeface="Helvetica" pitchFamily="34" charset="0"/>
              </a:rPr>
              <a:t>Lack of bar wiping, table clearing, toilet cleanliness</a:t>
            </a:r>
          </a:p>
          <a:p>
            <a:pPr lvl="0">
              <a:spcBef>
                <a:spcPts val="600"/>
              </a:spcBef>
              <a:spcAft>
                <a:spcPts val="1200"/>
              </a:spcAft>
            </a:pPr>
            <a:r>
              <a:rPr lang="en-AU" sz="2200" dirty="0" smtClean="0">
                <a:latin typeface="Helvetica" pitchFamily="34" charset="0"/>
              </a:rPr>
              <a:t>Openly sexual or sexually competitive activity</a:t>
            </a:r>
          </a:p>
          <a:p>
            <a:pPr lvl="0">
              <a:spcBef>
                <a:spcPts val="600"/>
              </a:spcBef>
              <a:spcAft>
                <a:spcPts val="1200"/>
              </a:spcAft>
            </a:pPr>
            <a:r>
              <a:rPr lang="en-AU" sz="2200" dirty="0" smtClean="0">
                <a:latin typeface="Helvetica" pitchFamily="34" charset="0"/>
              </a:rPr>
              <a:t>In-house promotion on alcohol and “sexy dancing</a:t>
            </a:r>
            <a:r>
              <a:rPr lang="en-AU" sz="2200" dirty="0" smtClean="0">
                <a:latin typeface="Helvetica" pitchFamily="34" charset="0"/>
              </a:rPr>
              <a:t>”.</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5" name="Picture 4" descr="MP900443691[1].JPG"/>
          <p:cNvPicPr>
            <a:picLocks noChangeAspect="1"/>
          </p:cNvPicPr>
          <p:nvPr/>
        </p:nvPicPr>
        <p:blipFill>
          <a:blip r:embed="rId3" cstate="print"/>
          <a:stretch>
            <a:fillRect/>
          </a:stretch>
        </p:blipFill>
        <p:spPr>
          <a:xfrm>
            <a:off x="6786578" y="2071678"/>
            <a:ext cx="1221600" cy="162880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Assessing the situation</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pPr>
            <a:r>
              <a:rPr lang="en-AU" sz="2200" dirty="0" smtClean="0">
                <a:latin typeface="Helvetica" pitchFamily="34" charset="0"/>
              </a:rPr>
              <a:t>Once the risks have been addressed and action taken to create the right atmosphere, this does not guarantee problems will not </a:t>
            </a:r>
            <a:r>
              <a:rPr lang="en-AU" sz="2200" dirty="0" smtClean="0">
                <a:latin typeface="Helvetica" pitchFamily="34" charset="0"/>
              </a:rPr>
              <a:t>arise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It is vital that not only managers, but all staff constantly assess and monitor the situation as the shift unfolds. </a:t>
            </a:r>
          </a:p>
          <a:p>
            <a:pPr lvl="0">
              <a:spcBef>
                <a:spcPts val="600"/>
              </a:spcBef>
              <a:spcAft>
                <a:spcPts val="1200"/>
              </a:spcAft>
            </a:pP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6" name="Picture 5" descr="MP900402222[1].JPG"/>
          <p:cNvPicPr/>
          <p:nvPr/>
        </p:nvPicPr>
        <p:blipFill>
          <a:blip r:embed="rId3" cstate="print"/>
          <a:stretch>
            <a:fillRect/>
          </a:stretch>
        </p:blipFill>
        <p:spPr>
          <a:xfrm>
            <a:off x="3533589" y="4000504"/>
            <a:ext cx="2076822" cy="1584573"/>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Apply procedures</a:t>
            </a:r>
          </a:p>
        </p:txBody>
      </p:sp>
      <p:sp>
        <p:nvSpPr>
          <p:cNvPr id="3" name="Content Placeholder 2"/>
          <p:cNvSpPr>
            <a:spLocks noGrp="1"/>
          </p:cNvSpPr>
          <p:nvPr>
            <p:ph idx="1"/>
          </p:nvPr>
        </p:nvSpPr>
        <p:spPr>
          <a:xfrm>
            <a:off x="611560" y="1556792"/>
            <a:ext cx="7467600" cy="4896544"/>
          </a:xfrm>
        </p:spPr>
        <p:txBody>
          <a:bodyPr>
            <a:normAutofit/>
          </a:bodyPr>
          <a:lstStyle/>
          <a:p>
            <a:pPr marL="0">
              <a:buNone/>
            </a:pPr>
            <a:r>
              <a:rPr lang="en-AU" sz="2200" dirty="0" smtClean="0">
                <a:latin typeface="Helvetica" pitchFamily="34" charset="0"/>
              </a:rPr>
              <a:t>Every organisation that serves alcohol should have established </a:t>
            </a:r>
            <a:r>
              <a:rPr lang="en-AU" sz="2200" u="sng" dirty="0" smtClean="0">
                <a:latin typeface="Helvetica" pitchFamily="34" charset="0"/>
              </a:rPr>
              <a:t>policies</a:t>
            </a:r>
            <a:r>
              <a:rPr lang="en-AU" sz="2200" dirty="0" smtClean="0">
                <a:latin typeface="Helvetica" pitchFamily="34" charset="0"/>
              </a:rPr>
              <a:t> and </a:t>
            </a:r>
            <a:r>
              <a:rPr lang="en-AU" sz="2200" u="sng" dirty="0" smtClean="0">
                <a:latin typeface="Helvetica" pitchFamily="34" charset="0"/>
              </a:rPr>
              <a:t>procedures</a:t>
            </a:r>
            <a:r>
              <a:rPr lang="en-AU" sz="2200" dirty="0" smtClean="0">
                <a:latin typeface="Helvetica" pitchFamily="34" charset="0"/>
              </a:rPr>
              <a:t> that are in place to help promote the responsible service and consumption of alcohol.</a:t>
            </a:r>
          </a:p>
          <a:p>
            <a:pPr lvl="0">
              <a:spcBef>
                <a:spcPts val="600"/>
              </a:spcBef>
              <a:spcAft>
                <a:spcPts val="1200"/>
              </a:spcAft>
            </a:pP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7" name="Picture 6" descr="http://www.camdenciviccentre.com.au/content/title/no_more.jpg"/>
          <p:cNvPicPr/>
          <p:nvPr/>
        </p:nvPicPr>
        <p:blipFill>
          <a:blip r:embed="rId3" cstate="print"/>
          <a:srcRect/>
          <a:stretch>
            <a:fillRect/>
          </a:stretch>
        </p:blipFill>
        <p:spPr bwMode="auto">
          <a:xfrm>
            <a:off x="3601889" y="3000372"/>
            <a:ext cx="1940223" cy="224559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House policy</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Establish a house policy</a:t>
            </a:r>
          </a:p>
          <a:p>
            <a:pPr marL="0">
              <a:spcBef>
                <a:spcPts val="600"/>
              </a:spcBef>
              <a:spcAft>
                <a:spcPts val="1200"/>
              </a:spcAft>
              <a:buNone/>
            </a:pPr>
            <a:r>
              <a:rPr lang="en-AU" sz="2200" dirty="0" smtClean="0">
                <a:latin typeface="Helvetica" pitchFamily="34" charset="0"/>
              </a:rPr>
              <a:t>One of the most powerful ways of reducing the risks of a breach of your duty of care or local laws and regulations is to have a house policy that is:</a:t>
            </a:r>
          </a:p>
          <a:p>
            <a:pPr marL="0">
              <a:spcBef>
                <a:spcPts val="600"/>
              </a:spcBef>
              <a:spcAft>
                <a:spcPts val="1200"/>
              </a:spcAft>
            </a:pPr>
            <a:r>
              <a:rPr lang="en-AU" sz="2200" dirty="0" smtClean="0">
                <a:latin typeface="Helvetica" pitchFamily="34" charset="0"/>
              </a:rPr>
              <a:t>Visible </a:t>
            </a:r>
          </a:p>
          <a:p>
            <a:pPr marL="0">
              <a:spcBef>
                <a:spcPts val="600"/>
              </a:spcBef>
              <a:spcAft>
                <a:spcPts val="1200"/>
              </a:spcAft>
            </a:pPr>
            <a:r>
              <a:rPr lang="en-AU" sz="2200" dirty="0" smtClean="0">
                <a:latin typeface="Helvetica" pitchFamily="34" charset="0"/>
              </a:rPr>
              <a:t>Understood by staff and customers</a:t>
            </a:r>
          </a:p>
          <a:p>
            <a:pPr marL="0">
              <a:spcBef>
                <a:spcPts val="600"/>
              </a:spcBef>
              <a:spcAft>
                <a:spcPts val="1200"/>
              </a:spcAft>
            </a:pPr>
            <a:r>
              <a:rPr lang="en-AU" sz="2200" dirty="0" smtClean="0">
                <a:latin typeface="Helvetica" pitchFamily="34" charset="0"/>
              </a:rPr>
              <a:t>Always</a:t>
            </a:r>
            <a:r>
              <a:rPr lang="en-AU" sz="2200" b="1" dirty="0" smtClean="0">
                <a:latin typeface="Helvetica" pitchFamily="34" charset="0"/>
              </a:rPr>
              <a:t> </a:t>
            </a:r>
            <a:r>
              <a:rPr lang="en-AU" sz="2200" dirty="0" smtClean="0">
                <a:latin typeface="Helvetica" pitchFamily="34" charset="0"/>
              </a:rPr>
              <a:t>applied.</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8" name="Picture 7" descr="Notice All Patrons Must Have Valid Photo ID Sign">
            <a:hlinkClick r:id="rId3"/>
          </p:cNvPr>
          <p:cNvPicPr/>
          <p:nvPr/>
        </p:nvPicPr>
        <p:blipFill>
          <a:blip r:embed="rId4" cstate="print"/>
          <a:srcRect/>
          <a:stretch>
            <a:fillRect/>
          </a:stretch>
        </p:blipFill>
        <p:spPr bwMode="auto">
          <a:xfrm>
            <a:off x="6286512" y="3214686"/>
            <a:ext cx="1777514" cy="12384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House policy</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Establish a house policy</a:t>
            </a:r>
          </a:p>
          <a:p>
            <a:pPr>
              <a:spcBef>
                <a:spcPts val="600"/>
              </a:spcBef>
              <a:spcAft>
                <a:spcPts val="1200"/>
              </a:spcAft>
            </a:pPr>
            <a:r>
              <a:rPr lang="en-AU" sz="2200" dirty="0" smtClean="0">
                <a:latin typeface="Helvetica" pitchFamily="34" charset="0"/>
              </a:rPr>
              <a:t>They contain the laws and rules of a specific </a:t>
            </a:r>
            <a:r>
              <a:rPr lang="en-AU" sz="2200" dirty="0" smtClean="0">
                <a:latin typeface="Helvetica" pitchFamily="34" charset="0"/>
              </a:rPr>
              <a:t>organisation</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It creates a framework for how an organisation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will </a:t>
            </a:r>
            <a:r>
              <a:rPr lang="en-AU" sz="2200" dirty="0" smtClean="0">
                <a:latin typeface="Helvetica" pitchFamily="34" charset="0"/>
              </a:rPr>
              <a:t>promote the safe supply and consumption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of </a:t>
            </a:r>
            <a:r>
              <a:rPr lang="en-AU" sz="2200" dirty="0" smtClean="0">
                <a:latin typeface="Helvetica" pitchFamily="34" charset="0"/>
              </a:rPr>
              <a:t>alcohol</a:t>
            </a:r>
          </a:p>
          <a:p>
            <a:pPr>
              <a:spcBef>
                <a:spcPts val="600"/>
              </a:spcBef>
              <a:spcAft>
                <a:spcPts val="1200"/>
              </a:spcAft>
            </a:pPr>
            <a:r>
              <a:rPr lang="en-AU" sz="2200" dirty="0" smtClean="0">
                <a:latin typeface="Helvetica" pitchFamily="34" charset="0"/>
              </a:rPr>
              <a:t>They are often written by and unique to a </a:t>
            </a:r>
            <a:r>
              <a:rPr lang="en-AU" sz="2200" dirty="0" smtClean="0">
                <a:latin typeface="Helvetica" pitchFamily="34" charset="0"/>
              </a:rPr>
              <a:t>venue.</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6" name="Picture 5" descr="WillNotServe"/>
          <p:cNvPicPr/>
          <p:nvPr/>
        </p:nvPicPr>
        <p:blipFill>
          <a:blip r:embed="rId3" cstate="print"/>
          <a:srcRect/>
          <a:stretch>
            <a:fillRect/>
          </a:stretch>
        </p:blipFill>
        <p:spPr bwMode="auto">
          <a:xfrm>
            <a:off x="7215206" y="2571744"/>
            <a:ext cx="1219486" cy="15121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House policy</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Inclusions in a house policy</a:t>
            </a:r>
          </a:p>
          <a:p>
            <a:pPr marL="0">
              <a:spcBef>
                <a:spcPts val="600"/>
              </a:spcBef>
              <a:spcAft>
                <a:spcPts val="1200"/>
              </a:spcAft>
              <a:buNone/>
            </a:pPr>
            <a:r>
              <a:rPr lang="en-AU" sz="2200" dirty="0" smtClean="0">
                <a:latin typeface="Helvetica" pitchFamily="34" charset="0"/>
              </a:rPr>
              <a:t>The following, at a minimum, should be included in a house policy: </a:t>
            </a:r>
          </a:p>
          <a:p>
            <a:pPr lvl="0">
              <a:spcBef>
                <a:spcPts val="600"/>
              </a:spcBef>
              <a:spcAft>
                <a:spcPts val="1200"/>
              </a:spcAft>
            </a:pPr>
            <a:r>
              <a:rPr lang="en-AU" sz="2200" dirty="0" smtClean="0">
                <a:latin typeface="Helvetica" pitchFamily="34" charset="0"/>
              </a:rPr>
              <a:t>Expected standards of behaviour of customers</a:t>
            </a:r>
          </a:p>
          <a:p>
            <a:pPr lvl="0">
              <a:spcBef>
                <a:spcPts val="600"/>
              </a:spcBef>
              <a:spcAft>
                <a:spcPts val="1200"/>
              </a:spcAft>
            </a:pPr>
            <a:r>
              <a:rPr lang="en-AU" sz="2200" dirty="0" smtClean="0">
                <a:latin typeface="Helvetica" pitchFamily="34" charset="0"/>
              </a:rPr>
              <a:t>A list of those not to be served alcohol</a:t>
            </a:r>
          </a:p>
          <a:p>
            <a:pPr lvl="0">
              <a:spcBef>
                <a:spcPts val="600"/>
              </a:spcBef>
              <a:spcAft>
                <a:spcPts val="1200"/>
              </a:spcAft>
            </a:pPr>
            <a:r>
              <a:rPr lang="en-AU" sz="2200" dirty="0" smtClean="0">
                <a:latin typeface="Helvetica" pitchFamily="34" charset="0"/>
              </a:rPr>
              <a:t>Limits for cocktails, shots or </a:t>
            </a:r>
            <a:r>
              <a:rPr lang="en-AU" sz="2200" dirty="0" smtClean="0">
                <a:latin typeface="Helvetica" pitchFamily="34" charset="0"/>
              </a:rPr>
              <a:t>shooters.</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7" name="Picture 6" descr="MP900443728[1].JPG"/>
          <p:cNvPicPr>
            <a:picLocks noChangeAspect="1"/>
          </p:cNvPicPr>
          <p:nvPr/>
        </p:nvPicPr>
        <p:blipFill>
          <a:blip r:embed="rId3" cstate="print"/>
          <a:stretch>
            <a:fillRect/>
          </a:stretch>
        </p:blipFill>
        <p:spPr>
          <a:xfrm>
            <a:off x="7072330" y="3357562"/>
            <a:ext cx="1736976" cy="1155938"/>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Signage</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Most laws will require or encourage a premises to have suitable signage placed in locations that can be:</a:t>
            </a:r>
          </a:p>
          <a:p>
            <a:pPr>
              <a:spcBef>
                <a:spcPts val="600"/>
              </a:spcBef>
              <a:spcAft>
                <a:spcPts val="1200"/>
              </a:spcAft>
            </a:pPr>
            <a:r>
              <a:rPr lang="en-AU" sz="2200" dirty="0" smtClean="0">
                <a:latin typeface="Helvetica" pitchFamily="34" charset="0"/>
              </a:rPr>
              <a:t>Seen by customers</a:t>
            </a:r>
          </a:p>
          <a:p>
            <a:pPr>
              <a:spcBef>
                <a:spcPts val="600"/>
              </a:spcBef>
              <a:spcAft>
                <a:spcPts val="1200"/>
              </a:spcAft>
            </a:pPr>
            <a:r>
              <a:rPr lang="en-AU" sz="2200" dirty="0" smtClean="0">
                <a:latin typeface="Helvetica" pitchFamily="34" charset="0"/>
              </a:rPr>
              <a:t>Referred by </a:t>
            </a:r>
            <a:r>
              <a:rPr lang="en-AU" sz="2200" dirty="0" smtClean="0">
                <a:latin typeface="Helvetica" pitchFamily="34" charset="0"/>
              </a:rPr>
              <a:t>staff.</a:t>
            </a:r>
            <a:endParaRPr lang="en-AU" sz="2200" dirty="0" smtClean="0">
              <a:latin typeface="Helvetica" pitchFamily="34" charset="0"/>
            </a:endParaRPr>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6" name="Picture 5" descr="http://www.clubcoffs.com.au/ContentFiles/SmartTemplates/1/Images/Club%20-%20under%2018%20not%20permitted_1.JPG"/>
          <p:cNvPicPr/>
          <p:nvPr/>
        </p:nvPicPr>
        <p:blipFill>
          <a:blip r:embed="rId3" cstate="print"/>
          <a:srcRect/>
          <a:stretch>
            <a:fillRect/>
          </a:stretch>
        </p:blipFill>
        <p:spPr bwMode="auto">
          <a:xfrm>
            <a:off x="5786446" y="2643182"/>
            <a:ext cx="1679748" cy="21431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Escalation Plan</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dirty="0" smtClean="0">
                <a:latin typeface="Helvetica" pitchFamily="34" charset="0"/>
              </a:rPr>
              <a:t>It is wise to have a plan for if things get worse. </a:t>
            </a:r>
          </a:p>
          <a:p>
            <a:pPr marL="0">
              <a:spcBef>
                <a:spcPts val="600"/>
              </a:spcBef>
              <a:spcAft>
                <a:spcPts val="1200"/>
              </a:spcAft>
              <a:buNone/>
            </a:pPr>
            <a:r>
              <a:rPr lang="en-AU" sz="2200" dirty="0" smtClean="0">
                <a:latin typeface="Helvetica" pitchFamily="34" charset="0"/>
              </a:rPr>
              <a:t>By having a plan which is understood by all staff members before an incident takes place, there is a clear path of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pre-determined</a:t>
            </a:r>
            <a:r>
              <a:rPr lang="en-AU" sz="2200" dirty="0" smtClean="0">
                <a:latin typeface="Helvetica" pitchFamily="34" charset="0"/>
              </a:rPr>
              <a:t>:</a:t>
            </a:r>
          </a:p>
          <a:p>
            <a:pPr>
              <a:spcBef>
                <a:spcPts val="600"/>
              </a:spcBef>
              <a:spcAft>
                <a:spcPts val="1200"/>
              </a:spcAft>
            </a:pPr>
            <a:r>
              <a:rPr lang="en-AU" sz="2200" dirty="0" smtClean="0">
                <a:latin typeface="Helvetica" pitchFamily="34" charset="0"/>
              </a:rPr>
              <a:t>Responsibilities</a:t>
            </a:r>
          </a:p>
          <a:p>
            <a:pPr>
              <a:spcBef>
                <a:spcPts val="600"/>
              </a:spcBef>
              <a:spcAft>
                <a:spcPts val="1200"/>
              </a:spcAft>
            </a:pPr>
            <a:r>
              <a:rPr lang="en-AU" sz="2200" dirty="0" smtClean="0">
                <a:latin typeface="Helvetica" pitchFamily="34" charset="0"/>
              </a:rPr>
              <a:t>Courses of </a:t>
            </a:r>
            <a:r>
              <a:rPr lang="en-AU" sz="2200" dirty="0" smtClean="0">
                <a:latin typeface="Helvetica" pitchFamily="34" charset="0"/>
              </a:rPr>
              <a:t>action.</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8" name="Picture 7" descr="MP900400454[1].JPG"/>
          <p:cNvPicPr>
            <a:picLocks noChangeAspect="1"/>
          </p:cNvPicPr>
          <p:nvPr/>
        </p:nvPicPr>
        <p:blipFill>
          <a:blip r:embed="rId3" cstate="print"/>
          <a:stretch>
            <a:fillRect/>
          </a:stretch>
        </p:blipFill>
        <p:spPr>
          <a:xfrm>
            <a:off x="5715008" y="3143248"/>
            <a:ext cx="2251176" cy="1500198"/>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Identify and address current issues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Drink spiking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This is where alcohol or other substances is added to drinks without the drinker’s knowledge or consent.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6" name="Picture 5" descr="MP900443953[1].JPG"/>
          <p:cNvPicPr/>
          <p:nvPr/>
        </p:nvPicPr>
        <p:blipFill>
          <a:blip r:embed="rId3" cstate="print"/>
          <a:stretch>
            <a:fillRect/>
          </a:stretch>
        </p:blipFill>
        <p:spPr>
          <a:xfrm>
            <a:off x="3733800" y="3286124"/>
            <a:ext cx="1676400" cy="247650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Identify and address current issues</a:t>
            </a:r>
          </a:p>
        </p:txBody>
      </p:sp>
      <p:sp>
        <p:nvSpPr>
          <p:cNvPr id="3" name="Content Placeholder 2"/>
          <p:cNvSpPr>
            <a:spLocks noGrp="1"/>
          </p:cNvSpPr>
          <p:nvPr>
            <p:ph idx="1"/>
          </p:nvPr>
        </p:nvSpPr>
        <p:spPr>
          <a:xfrm>
            <a:off x="611560" y="1556792"/>
            <a:ext cx="7467600" cy="4896544"/>
          </a:xfrm>
        </p:spPr>
        <p:txBody>
          <a:bodyPr>
            <a:normAutofit lnSpcReduction="10000"/>
          </a:bodyPr>
          <a:lstStyle/>
          <a:p>
            <a:pPr>
              <a:spcBef>
                <a:spcPts val="600"/>
              </a:spcBef>
              <a:spcAft>
                <a:spcPts val="600"/>
              </a:spcAft>
              <a:buNone/>
            </a:pPr>
            <a:r>
              <a:rPr lang="en-AU" sz="2200" b="1" dirty="0" smtClean="0">
                <a:latin typeface="Helvetica" pitchFamily="34" charset="0"/>
              </a:rPr>
              <a:t>Drink spiking </a:t>
            </a:r>
            <a:endParaRPr lang="en-AU" sz="2200" dirty="0" smtClean="0">
              <a:latin typeface="Helvetica" pitchFamily="34" charset="0"/>
            </a:endParaRPr>
          </a:p>
          <a:p>
            <a:pPr>
              <a:spcBef>
                <a:spcPts val="600"/>
              </a:spcBef>
              <a:spcAft>
                <a:spcPts val="600"/>
              </a:spcAft>
              <a:buNone/>
            </a:pPr>
            <a:r>
              <a:rPr lang="en-AU" sz="2200" dirty="0" smtClean="0">
                <a:latin typeface="Helvetica" pitchFamily="34" charset="0"/>
              </a:rPr>
              <a:t>Strategies to avoid drink spiking: </a:t>
            </a:r>
          </a:p>
          <a:p>
            <a:pPr lvl="0">
              <a:spcBef>
                <a:spcPts val="600"/>
              </a:spcBef>
              <a:spcAft>
                <a:spcPts val="600"/>
              </a:spcAft>
            </a:pPr>
            <a:r>
              <a:rPr lang="en-AU" sz="2200" dirty="0" smtClean="0">
                <a:latin typeface="Helvetica" pitchFamily="34" charset="0"/>
              </a:rPr>
              <a:t>Warn customers not to leave drinks unattended</a:t>
            </a:r>
          </a:p>
          <a:p>
            <a:pPr lvl="0">
              <a:spcBef>
                <a:spcPts val="600"/>
              </a:spcBef>
              <a:spcAft>
                <a:spcPts val="600"/>
              </a:spcAft>
            </a:pPr>
            <a:r>
              <a:rPr lang="en-AU" sz="2200" dirty="0" smtClean="0">
                <a:latin typeface="Helvetica" pitchFamily="34" charset="0"/>
              </a:rPr>
              <a:t>Have a policy regarding the maximum number of shots per drink</a:t>
            </a:r>
          </a:p>
          <a:p>
            <a:pPr lvl="0">
              <a:spcBef>
                <a:spcPts val="600"/>
              </a:spcBef>
              <a:spcAft>
                <a:spcPts val="600"/>
              </a:spcAft>
            </a:pPr>
            <a:r>
              <a:rPr lang="en-AU" sz="2200" dirty="0" smtClean="0">
                <a:latin typeface="Helvetica" pitchFamily="34" charset="0"/>
              </a:rPr>
              <a:t>Dispose of unattended drinks</a:t>
            </a:r>
          </a:p>
          <a:p>
            <a:pPr lvl="0">
              <a:spcBef>
                <a:spcPts val="600"/>
              </a:spcBef>
              <a:spcAft>
                <a:spcPts val="600"/>
              </a:spcAft>
            </a:pPr>
            <a:r>
              <a:rPr lang="en-AU" sz="2200" dirty="0" smtClean="0">
                <a:latin typeface="Helvetica" pitchFamily="34" charset="0"/>
              </a:rPr>
              <a:t>Be suspicious of orders for drinks with                               added shots of spirits</a:t>
            </a:r>
          </a:p>
          <a:p>
            <a:pPr lvl="0">
              <a:spcBef>
                <a:spcPts val="600"/>
              </a:spcBef>
              <a:spcAft>
                <a:spcPts val="600"/>
              </a:spcAft>
            </a:pPr>
            <a:r>
              <a:rPr lang="en-AU" sz="2200" dirty="0" smtClean="0">
                <a:latin typeface="Helvetica" pitchFamily="34" charset="0"/>
              </a:rPr>
              <a:t>Look for signs that a person has become                        suddenly drunk</a:t>
            </a:r>
          </a:p>
          <a:p>
            <a:pPr lvl="0">
              <a:spcBef>
                <a:spcPts val="600"/>
              </a:spcBef>
              <a:spcAft>
                <a:spcPts val="600"/>
              </a:spcAft>
            </a:pPr>
            <a:r>
              <a:rPr lang="en-AU" sz="2200" dirty="0" smtClean="0">
                <a:latin typeface="Helvetica" pitchFamily="34" charset="0"/>
              </a:rPr>
              <a:t>Take notice of people offering to take                                 the affected person </a:t>
            </a:r>
            <a:r>
              <a:rPr lang="en-AU" sz="2200" dirty="0" smtClean="0">
                <a:latin typeface="Helvetica" pitchFamily="34" charset="0"/>
              </a:rPr>
              <a:t>home.</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7" name="Picture 2" descr="Alcohol graphics"/>
          <p:cNvPicPr>
            <a:picLocks noChangeAspect="1" noChangeArrowheads="1"/>
          </p:cNvPicPr>
          <p:nvPr/>
        </p:nvPicPr>
        <p:blipFill>
          <a:blip r:embed="rId3" cstate="print"/>
          <a:srcRect/>
          <a:stretch>
            <a:fillRect/>
          </a:stretch>
        </p:blipFill>
        <p:spPr bwMode="auto">
          <a:xfrm>
            <a:off x="6500826" y="3714752"/>
            <a:ext cx="1826319" cy="1163191"/>
          </a:xfrm>
          <a:prstGeom prst="rect">
            <a:avLst/>
          </a:prstGeom>
          <a:noFill/>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Identify and address current issues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Binge drinking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Binge drinking is a very harmful practice of drinking too much in a short period of time or in one-off episodes. </a:t>
            </a:r>
          </a:p>
          <a:p>
            <a:pPr>
              <a:spcBef>
                <a:spcPts val="600"/>
              </a:spcBef>
              <a:spcAft>
                <a:spcPts val="1200"/>
              </a:spcAft>
            </a:pPr>
            <a:r>
              <a:rPr lang="en-AU" sz="2200" dirty="0" smtClean="0">
                <a:latin typeface="Helvetica" pitchFamily="34" charset="0"/>
              </a:rPr>
              <a:t>What </a:t>
            </a:r>
            <a:r>
              <a:rPr lang="en-AU" sz="2200" dirty="0" smtClean="0">
                <a:latin typeface="Helvetica" pitchFamily="34" charset="0"/>
              </a:rPr>
              <a:t>can you do to reduce ‘binge drinking’?</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6" name="Picture 5" descr="MP900442439[1].JPG"/>
          <p:cNvPicPr/>
          <p:nvPr/>
        </p:nvPicPr>
        <p:blipFill>
          <a:blip r:embed="rId3" cstate="print"/>
          <a:stretch>
            <a:fillRect/>
          </a:stretch>
        </p:blipFill>
        <p:spPr>
          <a:xfrm>
            <a:off x="3514475" y="3929066"/>
            <a:ext cx="2115051" cy="1652389"/>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Identify and address current issues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Other issues</a:t>
            </a:r>
          </a:p>
          <a:p>
            <a:pPr>
              <a:spcBef>
                <a:spcPts val="600"/>
              </a:spcBef>
              <a:spcAft>
                <a:spcPts val="1200"/>
              </a:spcAft>
            </a:pPr>
            <a:r>
              <a:rPr lang="en-AU" sz="2200" dirty="0" smtClean="0">
                <a:latin typeface="Helvetica" pitchFamily="34" charset="0"/>
              </a:rPr>
              <a:t>What other current issues exist that are related to the consumption of alcohol?</a:t>
            </a:r>
          </a:p>
          <a:p>
            <a:pPr>
              <a:spcBef>
                <a:spcPts val="600"/>
              </a:spcBef>
              <a:spcAft>
                <a:spcPts val="1200"/>
              </a:spcAft>
            </a:pPr>
            <a:r>
              <a:rPr lang="en-AU" sz="2200" dirty="0" smtClean="0">
                <a:latin typeface="Helvetica" pitchFamily="34" charset="0"/>
              </a:rPr>
              <a:t>What causes them?</a:t>
            </a:r>
          </a:p>
          <a:p>
            <a:pPr>
              <a:spcBef>
                <a:spcPts val="600"/>
              </a:spcBef>
              <a:spcAft>
                <a:spcPts val="1200"/>
              </a:spcAft>
            </a:pPr>
            <a:r>
              <a:rPr lang="en-AU" sz="2200" dirty="0" smtClean="0">
                <a:latin typeface="Helvetica" pitchFamily="34" charset="0"/>
              </a:rPr>
              <a:t>What risks are associated with these issues?</a:t>
            </a:r>
          </a:p>
          <a:p>
            <a:pPr>
              <a:spcBef>
                <a:spcPts val="600"/>
              </a:spcBef>
              <a:spcAft>
                <a:spcPts val="1200"/>
              </a:spcAft>
            </a:pPr>
            <a:r>
              <a:rPr lang="en-AU" sz="2200" dirty="0" smtClean="0">
                <a:latin typeface="Helvetica" pitchFamily="34" charset="0"/>
              </a:rPr>
              <a:t>How can you control or eliminate these risks?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7" name="Picture 6" descr="MP900411785[1].JPG"/>
          <p:cNvPicPr>
            <a:picLocks noChangeAspect="1"/>
          </p:cNvPicPr>
          <p:nvPr/>
        </p:nvPicPr>
        <p:blipFill>
          <a:blip r:embed="rId3" cstate="print"/>
          <a:stretch>
            <a:fillRect/>
          </a:stretch>
        </p:blipFill>
        <p:spPr>
          <a:xfrm>
            <a:off x="7215206" y="2928934"/>
            <a:ext cx="1374569" cy="2060848"/>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Steps when handling intoxicated patrons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t>W</a:t>
            </a:r>
            <a:r>
              <a:rPr lang="en-AU" sz="2200" dirty="0" smtClean="0">
                <a:latin typeface="Helvetica" pitchFamily="34" charset="0"/>
              </a:rPr>
              <a:t>hen handling intoxicated persons, there are a number of approaches that can be taken, depending on the individual situation and severity of the problem.</a:t>
            </a:r>
          </a:p>
          <a:p>
            <a:pPr>
              <a:spcBef>
                <a:spcPts val="600"/>
              </a:spcBef>
              <a:spcAft>
                <a:spcPts val="1200"/>
              </a:spcAft>
              <a:buNone/>
            </a:pPr>
            <a:r>
              <a:rPr lang="en-AU" sz="2200" dirty="0" smtClean="0">
                <a:latin typeface="Helvetica" pitchFamily="34" charset="0"/>
              </a:rPr>
              <a:t>Regardless of the action taken, it is important for staff to:</a:t>
            </a:r>
          </a:p>
          <a:p>
            <a:pPr>
              <a:spcBef>
                <a:spcPts val="600"/>
              </a:spcBef>
              <a:spcAft>
                <a:spcPts val="1200"/>
              </a:spcAft>
            </a:pPr>
            <a:r>
              <a:rPr lang="en-AU" sz="2200" dirty="0" smtClean="0">
                <a:latin typeface="Helvetica" pitchFamily="34" charset="0"/>
              </a:rPr>
              <a:t>Be professional  and respectful in their approach</a:t>
            </a:r>
          </a:p>
          <a:p>
            <a:pPr>
              <a:spcBef>
                <a:spcPts val="600"/>
              </a:spcBef>
              <a:spcAft>
                <a:spcPts val="1200"/>
              </a:spcAft>
            </a:pPr>
            <a:r>
              <a:rPr lang="en-AU" sz="2200" dirty="0" smtClean="0">
                <a:latin typeface="Helvetica" pitchFamily="34" charset="0"/>
              </a:rPr>
              <a:t>Conduct in a sensitive and discreet </a:t>
            </a:r>
            <a:r>
              <a:rPr lang="en-AU" sz="2200" dirty="0" smtClean="0">
                <a:latin typeface="Helvetica" pitchFamily="34" charset="0"/>
              </a:rPr>
              <a:t>manner.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6" name="Picture 5" descr="MP900442598[1].JPG"/>
          <p:cNvPicPr/>
          <p:nvPr/>
        </p:nvPicPr>
        <p:blipFill>
          <a:blip r:embed="rId3" cstate="print"/>
          <a:stretch>
            <a:fillRect/>
          </a:stretch>
        </p:blipFill>
        <p:spPr>
          <a:xfrm>
            <a:off x="3590925" y="4714884"/>
            <a:ext cx="1962150" cy="1314450"/>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Steps when handling intoxicated patrons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600"/>
              </a:spcAft>
              <a:buNone/>
            </a:pPr>
            <a:r>
              <a:rPr lang="en-AU" sz="2200" dirty="0" smtClean="0">
                <a:latin typeface="Helvetica" pitchFamily="34" charset="0"/>
              </a:rPr>
              <a:t>The following </a:t>
            </a:r>
            <a:r>
              <a:rPr lang="en-AU" sz="2200" b="1" dirty="0" smtClean="0">
                <a:latin typeface="Helvetica" pitchFamily="34" charset="0"/>
              </a:rPr>
              <a:t>T-A-K-E  C-A-R-E</a:t>
            </a:r>
            <a:r>
              <a:rPr lang="en-AU" sz="2200" dirty="0" smtClean="0">
                <a:latin typeface="Helvetica" pitchFamily="34" charset="0"/>
              </a:rPr>
              <a:t>  steps can help resolve matters involving intoxicated patrons.</a:t>
            </a:r>
          </a:p>
          <a:p>
            <a:pPr>
              <a:spcBef>
                <a:spcPts val="600"/>
              </a:spcBef>
              <a:spcAft>
                <a:spcPts val="600"/>
              </a:spcAft>
            </a:pPr>
            <a:r>
              <a:rPr lang="en-AU" sz="2200" b="1" dirty="0" smtClean="0">
                <a:latin typeface="Helvetica" pitchFamily="34" charset="0"/>
              </a:rPr>
              <a:t>T</a:t>
            </a:r>
            <a:r>
              <a:rPr lang="en-AU" sz="2200" dirty="0" smtClean="0">
                <a:latin typeface="Helvetica" pitchFamily="34" charset="0"/>
              </a:rPr>
              <a:t>ell early</a:t>
            </a:r>
          </a:p>
          <a:p>
            <a:pPr>
              <a:spcBef>
                <a:spcPts val="600"/>
              </a:spcBef>
              <a:spcAft>
                <a:spcPts val="600"/>
              </a:spcAft>
            </a:pPr>
            <a:r>
              <a:rPr lang="en-AU" sz="2200" b="1" dirty="0" smtClean="0">
                <a:latin typeface="Helvetica" pitchFamily="34" charset="0"/>
              </a:rPr>
              <a:t>A</a:t>
            </a:r>
            <a:r>
              <a:rPr lang="en-AU" sz="2200" dirty="0" smtClean="0">
                <a:latin typeface="Helvetica" pitchFamily="34" charset="0"/>
              </a:rPr>
              <a:t>void put-downs</a:t>
            </a:r>
          </a:p>
          <a:p>
            <a:pPr>
              <a:spcBef>
                <a:spcPts val="600"/>
              </a:spcBef>
              <a:spcAft>
                <a:spcPts val="600"/>
              </a:spcAft>
            </a:pPr>
            <a:r>
              <a:rPr lang="en-AU" sz="2200" b="1" dirty="0" smtClean="0">
                <a:latin typeface="Helvetica" pitchFamily="34" charset="0"/>
              </a:rPr>
              <a:t>K</a:t>
            </a:r>
            <a:r>
              <a:rPr lang="en-AU" sz="2200" dirty="0" smtClean="0">
                <a:latin typeface="Helvetica" pitchFamily="34" charset="0"/>
              </a:rPr>
              <a:t>eep calm</a:t>
            </a:r>
          </a:p>
          <a:p>
            <a:pPr>
              <a:spcBef>
                <a:spcPts val="600"/>
              </a:spcBef>
              <a:spcAft>
                <a:spcPts val="600"/>
              </a:spcAft>
            </a:pPr>
            <a:r>
              <a:rPr lang="en-AU" sz="2200" b="1" dirty="0" smtClean="0">
                <a:latin typeface="Helvetica" pitchFamily="34" charset="0"/>
              </a:rPr>
              <a:t>E</a:t>
            </a:r>
            <a:r>
              <a:rPr lang="en-AU" sz="2200" dirty="0" smtClean="0">
                <a:latin typeface="Helvetica" pitchFamily="34" charset="0"/>
              </a:rPr>
              <a:t>ver courteous</a:t>
            </a:r>
          </a:p>
          <a:p>
            <a:pPr>
              <a:spcBef>
                <a:spcPts val="600"/>
              </a:spcBef>
              <a:spcAft>
                <a:spcPts val="600"/>
              </a:spcAft>
            </a:pPr>
            <a:r>
              <a:rPr lang="en-AU" sz="2200" b="1" dirty="0" smtClean="0">
                <a:latin typeface="Helvetica" pitchFamily="34" charset="0"/>
              </a:rPr>
              <a:t>C</a:t>
            </a:r>
            <a:r>
              <a:rPr lang="en-AU" sz="2200" dirty="0" smtClean="0">
                <a:latin typeface="Helvetica" pitchFamily="34" charset="0"/>
              </a:rPr>
              <a:t>larify refusal</a:t>
            </a:r>
          </a:p>
          <a:p>
            <a:pPr>
              <a:spcBef>
                <a:spcPts val="600"/>
              </a:spcBef>
              <a:spcAft>
                <a:spcPts val="600"/>
              </a:spcAft>
            </a:pPr>
            <a:r>
              <a:rPr lang="en-AU" sz="2200" b="1" dirty="0" smtClean="0">
                <a:latin typeface="Helvetica" pitchFamily="34" charset="0"/>
              </a:rPr>
              <a:t>A</a:t>
            </a:r>
            <a:r>
              <a:rPr lang="en-AU" sz="2200" dirty="0" smtClean="0">
                <a:latin typeface="Helvetica" pitchFamily="34" charset="0"/>
              </a:rPr>
              <a:t>lternatives</a:t>
            </a:r>
          </a:p>
          <a:p>
            <a:pPr>
              <a:spcBef>
                <a:spcPts val="600"/>
              </a:spcBef>
              <a:spcAft>
                <a:spcPts val="600"/>
              </a:spcAft>
            </a:pPr>
            <a:r>
              <a:rPr lang="en-AU" sz="2200" b="1" dirty="0" smtClean="0">
                <a:latin typeface="Helvetica" pitchFamily="34" charset="0"/>
              </a:rPr>
              <a:t>R</a:t>
            </a:r>
            <a:r>
              <a:rPr lang="en-AU" sz="2200" dirty="0" smtClean="0">
                <a:latin typeface="Helvetica" pitchFamily="34" charset="0"/>
              </a:rPr>
              <a:t>eport</a:t>
            </a:r>
          </a:p>
          <a:p>
            <a:pPr>
              <a:spcBef>
                <a:spcPts val="600"/>
              </a:spcBef>
              <a:spcAft>
                <a:spcPts val="600"/>
              </a:spcAft>
            </a:pPr>
            <a:r>
              <a:rPr lang="en-AU" sz="2200" b="1" dirty="0" smtClean="0">
                <a:latin typeface="Helvetica" pitchFamily="34" charset="0"/>
              </a:rPr>
              <a:t>E</a:t>
            </a:r>
            <a:r>
              <a:rPr lang="en-AU" sz="2200" dirty="0" smtClean="0">
                <a:latin typeface="Helvetica" pitchFamily="34" charset="0"/>
              </a:rPr>
              <a:t>cho.</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7" name="Picture 6" descr="MP900442952[1].JPG"/>
          <p:cNvPicPr>
            <a:picLocks noChangeAspect="1"/>
          </p:cNvPicPr>
          <p:nvPr/>
        </p:nvPicPr>
        <p:blipFill>
          <a:blip r:embed="rId3" cstate="print"/>
          <a:stretch>
            <a:fillRect/>
          </a:stretch>
        </p:blipFill>
        <p:spPr>
          <a:xfrm>
            <a:off x="5929322" y="2500306"/>
            <a:ext cx="1716534" cy="2571768"/>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complaints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pPr>
            <a:r>
              <a:rPr lang="en-AU" sz="2200" dirty="0" smtClean="0">
                <a:latin typeface="Helvetica" pitchFamily="34" charset="0"/>
              </a:rPr>
              <a:t>There will always be complaints that will be brought to the attention of staff and </a:t>
            </a:r>
            <a:r>
              <a:rPr lang="en-AU" sz="2200" dirty="0" smtClean="0">
                <a:latin typeface="Helvetica" pitchFamily="34" charset="0"/>
              </a:rPr>
              <a:t>management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When alcohol is involved, the number and types of complaints may </a:t>
            </a:r>
            <a:r>
              <a:rPr lang="en-AU" sz="2200" dirty="0" smtClean="0">
                <a:latin typeface="Helvetica" pitchFamily="34" charset="0"/>
              </a:rPr>
              <a:t>vary</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Some may be logical whilst others unreasonable and resulting from the requests of people who are intoxicated or under the influence of alcohol.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complaints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Regardless of the complaint, key points to dealing with them include: </a:t>
            </a:r>
          </a:p>
          <a:p>
            <a:pPr lvl="0">
              <a:spcBef>
                <a:spcPts val="600"/>
              </a:spcBef>
              <a:spcAft>
                <a:spcPts val="1200"/>
              </a:spcAft>
            </a:pPr>
            <a:r>
              <a:rPr lang="en-AU" sz="2200" dirty="0" smtClean="0">
                <a:latin typeface="Helvetica" pitchFamily="34" charset="0"/>
              </a:rPr>
              <a:t>Listen carefully to the complaint, without interrupting </a:t>
            </a:r>
          </a:p>
          <a:p>
            <a:pPr lvl="0">
              <a:spcBef>
                <a:spcPts val="600"/>
              </a:spcBef>
              <a:spcAft>
                <a:spcPts val="1200"/>
              </a:spcAft>
            </a:pPr>
            <a:r>
              <a:rPr lang="en-AU" sz="2200" dirty="0" smtClean="0">
                <a:latin typeface="Helvetica" pitchFamily="34" charset="0"/>
              </a:rPr>
              <a:t>Show that you understand </a:t>
            </a:r>
          </a:p>
          <a:p>
            <a:pPr lvl="0">
              <a:spcBef>
                <a:spcPts val="600"/>
              </a:spcBef>
              <a:spcAft>
                <a:spcPts val="1200"/>
              </a:spcAft>
            </a:pPr>
            <a:r>
              <a:rPr lang="en-AU" sz="2200" dirty="0" smtClean="0">
                <a:latin typeface="Helvetica" pitchFamily="34" charset="0"/>
              </a:rPr>
              <a:t>Apologise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Seek a </a:t>
            </a:r>
            <a:r>
              <a:rPr lang="en-AU" sz="2200" dirty="0" smtClean="0">
                <a:latin typeface="Helvetica" pitchFamily="34" charset="0"/>
              </a:rPr>
              <a:t>solution.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7" name="Picture 6" descr="00443186.jpg"/>
          <p:cNvPicPr>
            <a:picLocks noChangeAspect="1"/>
          </p:cNvPicPr>
          <p:nvPr/>
        </p:nvPicPr>
        <p:blipFill>
          <a:blip r:embed="rId3" cstate="print"/>
          <a:stretch>
            <a:fillRect/>
          </a:stretch>
        </p:blipFill>
        <p:spPr>
          <a:xfrm>
            <a:off x="5500694" y="3286124"/>
            <a:ext cx="2636721" cy="1754708"/>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complaints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Handling intoxicated complaints</a:t>
            </a:r>
          </a:p>
          <a:p>
            <a:pPr>
              <a:spcBef>
                <a:spcPts val="600"/>
              </a:spcBef>
              <a:spcAft>
                <a:spcPts val="1200"/>
              </a:spcAft>
            </a:pPr>
            <a:r>
              <a:rPr lang="en-AU" sz="2200" dirty="0" smtClean="0">
                <a:latin typeface="Helvetica" pitchFamily="34" charset="0"/>
              </a:rPr>
              <a:t>It is important not to remain professional and treat every complaint with respect</a:t>
            </a:r>
          </a:p>
          <a:p>
            <a:pPr>
              <a:spcBef>
                <a:spcPts val="600"/>
              </a:spcBef>
              <a:spcAft>
                <a:spcPts val="1200"/>
              </a:spcAft>
            </a:pPr>
            <a:r>
              <a:rPr lang="en-AU" sz="2200" dirty="0" smtClean="0">
                <a:latin typeface="Helvetica" pitchFamily="34" charset="0"/>
              </a:rPr>
              <a:t>Remember, when people are angry, they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often </a:t>
            </a:r>
            <a:r>
              <a:rPr lang="en-AU" sz="2200" dirty="0" smtClean="0">
                <a:latin typeface="Helvetica" pitchFamily="34" charset="0"/>
              </a:rPr>
              <a:t>throw insults. </a:t>
            </a:r>
          </a:p>
          <a:p>
            <a:pPr>
              <a:spcBef>
                <a:spcPts val="600"/>
              </a:spcBef>
              <a:spcAft>
                <a:spcPts val="1200"/>
              </a:spcAft>
            </a:pPr>
            <a:r>
              <a:rPr lang="en-AU" sz="2200" dirty="0" smtClean="0">
                <a:latin typeface="Helvetica" pitchFamily="34" charset="0"/>
              </a:rPr>
              <a:t>Do not take insults personally or retaliate,                               you have to remain </a:t>
            </a:r>
            <a:r>
              <a:rPr lang="en-AU" sz="2200" dirty="0" smtClean="0">
                <a:latin typeface="Helvetica" pitchFamily="34" charset="0"/>
              </a:rPr>
              <a:t>professional</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Dealing with complaints requires you </a:t>
            </a:r>
            <a:r>
              <a:rPr lang="en-AU" sz="2200" dirty="0" smtClean="0">
                <a:latin typeface="Helvetica" pitchFamily="34" charset="0"/>
              </a:rPr>
              <a:t>to have </a:t>
            </a:r>
            <a:r>
              <a:rPr lang="en-AU" sz="2200" dirty="0" smtClean="0">
                <a:latin typeface="Helvetica" pitchFamily="34" charset="0"/>
              </a:rPr>
              <a:t>patience and to keep others </a:t>
            </a:r>
            <a:r>
              <a:rPr lang="en-AU" sz="2200" dirty="0" smtClean="0">
                <a:latin typeface="Helvetica" pitchFamily="34" charset="0"/>
              </a:rPr>
              <a:t>around you </a:t>
            </a:r>
            <a:r>
              <a:rPr lang="en-AU" sz="2200" dirty="0" smtClean="0">
                <a:latin typeface="Helvetica" pitchFamily="34" charset="0"/>
              </a:rPr>
              <a:t>calm.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6" name="Picture 5" descr="MP900443085[1].JPG"/>
          <p:cNvPicPr/>
          <p:nvPr/>
        </p:nvPicPr>
        <p:blipFill>
          <a:blip r:embed="rId3" cstate="print"/>
          <a:stretch>
            <a:fillRect/>
          </a:stretch>
        </p:blipFill>
        <p:spPr>
          <a:xfrm>
            <a:off x="6786578" y="2857496"/>
            <a:ext cx="1756792" cy="1281683"/>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potential problem situations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Large Single Sex Groups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Whether due to celebration or party, single sex groups often start drinking to excess, encourage a culture of drinking games and fast </a:t>
            </a:r>
            <a:r>
              <a:rPr lang="en-AU" sz="2200" dirty="0" smtClean="0">
                <a:latin typeface="Helvetica" pitchFamily="34" charset="0"/>
              </a:rPr>
              <a:t>consumption</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Due to the nature of large groups, their actions and noise level may impact on other customers as well.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7" name="Picture 6" descr="MP900430940[1].JPG"/>
          <p:cNvPicPr/>
          <p:nvPr/>
        </p:nvPicPr>
        <p:blipFill>
          <a:blip r:embed="rId3" cstate="print"/>
          <a:stretch>
            <a:fillRect/>
          </a:stretch>
        </p:blipFill>
        <p:spPr>
          <a:xfrm>
            <a:off x="3643306" y="4429132"/>
            <a:ext cx="2074540" cy="1645915"/>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potential problem situations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Large Single Sex Groups</a:t>
            </a:r>
          </a:p>
          <a:p>
            <a:pPr>
              <a:spcBef>
                <a:spcPts val="600"/>
              </a:spcBef>
              <a:spcAft>
                <a:spcPts val="1200"/>
              </a:spcAft>
              <a:buNone/>
            </a:pPr>
            <a:r>
              <a:rPr lang="en-AU" sz="2200" dirty="0" smtClean="0">
                <a:latin typeface="Helvetica" pitchFamily="34" charset="0"/>
              </a:rPr>
              <a:t>Appropriate techniques include:</a:t>
            </a:r>
          </a:p>
          <a:p>
            <a:pPr lvl="0">
              <a:spcBef>
                <a:spcPts val="600"/>
              </a:spcBef>
              <a:spcAft>
                <a:spcPts val="1200"/>
              </a:spcAft>
            </a:pPr>
            <a:r>
              <a:rPr lang="en-AU" sz="2200" dirty="0" smtClean="0">
                <a:latin typeface="Helvetica" pitchFamily="34" charset="0"/>
              </a:rPr>
              <a:t>Distribute house policy with confirmations of large bookings or private functions</a:t>
            </a:r>
          </a:p>
          <a:p>
            <a:pPr lvl="0">
              <a:spcBef>
                <a:spcPts val="600"/>
              </a:spcBef>
              <a:spcAft>
                <a:spcPts val="1200"/>
              </a:spcAft>
            </a:pPr>
            <a:r>
              <a:rPr lang="en-AU" sz="2200" dirty="0" smtClean="0">
                <a:latin typeface="Helvetica" pitchFamily="34" charset="0"/>
              </a:rPr>
              <a:t>Speak with them on arrival</a:t>
            </a:r>
          </a:p>
          <a:p>
            <a:pPr lvl="0">
              <a:spcBef>
                <a:spcPts val="600"/>
              </a:spcBef>
              <a:spcAft>
                <a:spcPts val="1200"/>
              </a:spcAft>
            </a:pPr>
            <a:r>
              <a:rPr lang="en-AU" sz="2200" dirty="0" smtClean="0">
                <a:latin typeface="Helvetica" pitchFamily="34" charset="0"/>
              </a:rPr>
              <a:t>Welcome them and thank them for                                      their patronage</a:t>
            </a:r>
          </a:p>
          <a:p>
            <a:pPr lvl="0">
              <a:spcBef>
                <a:spcPts val="600"/>
              </a:spcBef>
              <a:spcAft>
                <a:spcPts val="1200"/>
              </a:spcAft>
            </a:pPr>
            <a:r>
              <a:rPr lang="en-AU" sz="2200" dirty="0" smtClean="0">
                <a:latin typeface="Helvetica" pitchFamily="34" charset="0"/>
              </a:rPr>
              <a:t>Notify them of expected </a:t>
            </a:r>
            <a:r>
              <a:rPr lang="en-AU" sz="2200" dirty="0" smtClean="0">
                <a:latin typeface="Helvetica" pitchFamily="34" charset="0"/>
              </a:rPr>
              <a:t>behaviour.</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5" name="Picture 4" descr="j0316787.jpg"/>
          <p:cNvPicPr>
            <a:picLocks noChangeAspect="1"/>
          </p:cNvPicPr>
          <p:nvPr/>
        </p:nvPicPr>
        <p:blipFill>
          <a:blip r:embed="rId3" cstate="print"/>
          <a:stretch>
            <a:fillRect/>
          </a:stretch>
        </p:blipFill>
        <p:spPr>
          <a:xfrm>
            <a:off x="6215074" y="3429000"/>
            <a:ext cx="1827176" cy="1215072"/>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potential problem situations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Large Single Sex Groups</a:t>
            </a:r>
          </a:p>
          <a:p>
            <a:pPr>
              <a:spcBef>
                <a:spcPts val="600"/>
              </a:spcBef>
              <a:spcAft>
                <a:spcPts val="1200"/>
              </a:spcAft>
              <a:buNone/>
            </a:pPr>
            <a:r>
              <a:rPr lang="en-AU" sz="2200" dirty="0" smtClean="0">
                <a:latin typeface="Helvetica" pitchFamily="34" charset="0"/>
              </a:rPr>
              <a:t>Appropriate techniques include:</a:t>
            </a:r>
          </a:p>
          <a:p>
            <a:pPr lvl="0">
              <a:spcBef>
                <a:spcPts val="600"/>
              </a:spcBef>
              <a:spcAft>
                <a:spcPts val="1200"/>
              </a:spcAft>
            </a:pPr>
            <a:r>
              <a:rPr lang="en-AU" sz="2200" dirty="0" smtClean="0">
                <a:latin typeface="Helvetica" pitchFamily="34" charset="0"/>
              </a:rPr>
              <a:t>Speak with them in a friendly manner and don’t treat them as a problem, until they do become one</a:t>
            </a:r>
          </a:p>
          <a:p>
            <a:pPr lvl="0">
              <a:spcBef>
                <a:spcPts val="600"/>
              </a:spcBef>
              <a:spcAft>
                <a:spcPts val="1200"/>
              </a:spcAft>
            </a:pPr>
            <a:r>
              <a:rPr lang="en-AU" sz="2200" dirty="0" smtClean="0">
                <a:latin typeface="Helvetica" pitchFamily="34" charset="0"/>
              </a:rPr>
              <a:t> Build up a relationship early on so it’s easier to speak to them later</a:t>
            </a:r>
          </a:p>
          <a:p>
            <a:pPr lvl="0">
              <a:spcBef>
                <a:spcPts val="600"/>
              </a:spcBef>
              <a:spcAft>
                <a:spcPts val="1200"/>
              </a:spcAft>
            </a:pPr>
            <a:r>
              <a:rPr lang="en-AU" sz="2200" dirty="0" smtClean="0">
                <a:latin typeface="Helvetica" pitchFamily="34" charset="0"/>
              </a:rPr>
              <a:t> Set aside a separate area for them, </a:t>
            </a:r>
            <a:r>
              <a:rPr lang="en-AU" sz="2200" dirty="0" smtClean="0">
                <a:latin typeface="Helvetica" pitchFamily="34" charset="0"/>
              </a:rPr>
              <a:t>if possible</a:t>
            </a:r>
            <a:r>
              <a:rPr lang="en-AU" sz="2200" dirty="0" smtClean="0">
                <a:latin typeface="Helvetica" pitchFamily="34" charset="0"/>
              </a:rPr>
              <a:t>, to avoid upsetting other customers</a:t>
            </a:r>
          </a:p>
          <a:p>
            <a:pPr lvl="0">
              <a:spcBef>
                <a:spcPts val="600"/>
              </a:spcBef>
              <a:spcAft>
                <a:spcPts val="1200"/>
              </a:spcAft>
            </a:pPr>
            <a:r>
              <a:rPr lang="en-AU" sz="2200" dirty="0" smtClean="0">
                <a:latin typeface="Helvetica" pitchFamily="34" charset="0"/>
              </a:rPr>
              <a:t> Identify the leader and make him or </a:t>
            </a:r>
            <a:r>
              <a:rPr lang="en-AU" sz="2200" dirty="0" smtClean="0">
                <a:latin typeface="Helvetica" pitchFamily="34" charset="0"/>
              </a:rPr>
              <a:t>her responsible </a:t>
            </a:r>
            <a:r>
              <a:rPr lang="en-AU" sz="2200" dirty="0" smtClean="0">
                <a:latin typeface="Helvetica" pitchFamily="34" charset="0"/>
              </a:rPr>
              <a:t>for the group’s </a:t>
            </a:r>
            <a:r>
              <a:rPr lang="en-AU" sz="2200" dirty="0" smtClean="0">
                <a:latin typeface="Helvetica" pitchFamily="34" charset="0"/>
              </a:rPr>
              <a:t>behaviour.</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6" name="Picture 5" descr="MP900432807[1].JPG"/>
          <p:cNvPicPr>
            <a:picLocks noChangeAspect="1"/>
          </p:cNvPicPr>
          <p:nvPr/>
        </p:nvPicPr>
        <p:blipFill>
          <a:blip r:embed="rId3" cstate="print"/>
          <a:stretch>
            <a:fillRect/>
          </a:stretch>
        </p:blipFill>
        <p:spPr>
          <a:xfrm>
            <a:off x="6215074" y="1285860"/>
            <a:ext cx="1684442" cy="1280176"/>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potential problem situations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Large Single Sex Groups</a:t>
            </a:r>
          </a:p>
          <a:p>
            <a:pPr>
              <a:spcBef>
                <a:spcPts val="600"/>
              </a:spcBef>
              <a:spcAft>
                <a:spcPts val="1200"/>
              </a:spcAft>
              <a:buNone/>
            </a:pPr>
            <a:r>
              <a:rPr lang="en-AU" sz="2200" dirty="0" smtClean="0">
                <a:latin typeface="Helvetica" pitchFamily="34" charset="0"/>
              </a:rPr>
              <a:t>Appropriate techniques include:</a:t>
            </a:r>
          </a:p>
          <a:p>
            <a:pPr lvl="0">
              <a:spcBef>
                <a:spcPts val="600"/>
              </a:spcBef>
              <a:spcAft>
                <a:spcPts val="1200"/>
              </a:spcAft>
            </a:pPr>
            <a:r>
              <a:rPr lang="en-AU" sz="2200" dirty="0" smtClean="0">
                <a:latin typeface="Helvetica" pitchFamily="34" charset="0"/>
              </a:rPr>
              <a:t>Watch the amount they are drinking</a:t>
            </a:r>
          </a:p>
          <a:p>
            <a:pPr lvl="0">
              <a:spcBef>
                <a:spcPts val="600"/>
              </a:spcBef>
              <a:spcAft>
                <a:spcPts val="1200"/>
              </a:spcAft>
            </a:pPr>
            <a:r>
              <a:rPr lang="en-AU" sz="2200" dirty="0" smtClean="0">
                <a:latin typeface="Helvetica" pitchFamily="34" charset="0"/>
              </a:rPr>
              <a:t>Speak to individuals at the bar</a:t>
            </a:r>
          </a:p>
          <a:p>
            <a:pPr lvl="0">
              <a:spcBef>
                <a:spcPts val="600"/>
              </a:spcBef>
              <a:spcAft>
                <a:spcPts val="1200"/>
              </a:spcAft>
            </a:pPr>
            <a:r>
              <a:rPr lang="en-AU" sz="2200" dirty="0" smtClean="0">
                <a:latin typeface="Helvetica" pitchFamily="34" charset="0"/>
              </a:rPr>
              <a:t>Make it clear that, if one person causes trouble,                    they will all have to </a:t>
            </a:r>
            <a:r>
              <a:rPr lang="en-AU" sz="2200" dirty="0" smtClean="0">
                <a:latin typeface="Helvetica" pitchFamily="34" charset="0"/>
              </a:rPr>
              <a:t>leave.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6" name="Picture 5" descr="MP900442597[1].JPG"/>
          <p:cNvPicPr>
            <a:picLocks noChangeAspect="1"/>
          </p:cNvPicPr>
          <p:nvPr/>
        </p:nvPicPr>
        <p:blipFill>
          <a:blip r:embed="rId3" cstate="print"/>
          <a:stretch>
            <a:fillRect/>
          </a:stretch>
        </p:blipFill>
        <p:spPr>
          <a:xfrm>
            <a:off x="6516216" y="4653136"/>
            <a:ext cx="1961763" cy="1460939"/>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potential problem situations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Domestic argument</a:t>
            </a:r>
          </a:p>
          <a:p>
            <a:pPr lvl="0">
              <a:spcBef>
                <a:spcPts val="600"/>
              </a:spcBef>
              <a:spcAft>
                <a:spcPts val="1200"/>
              </a:spcAft>
            </a:pPr>
            <a:r>
              <a:rPr lang="en-AU" sz="2200" dirty="0" smtClean="0">
                <a:latin typeface="Helvetica" pitchFamily="34" charset="0"/>
              </a:rPr>
              <a:t>Visit the table, ask if all is ok </a:t>
            </a:r>
          </a:p>
          <a:p>
            <a:pPr lvl="0">
              <a:spcBef>
                <a:spcPts val="600"/>
              </a:spcBef>
              <a:spcAft>
                <a:spcPts val="1200"/>
              </a:spcAft>
            </a:pPr>
            <a:r>
              <a:rPr lang="en-AU" sz="2200" dirty="0" smtClean="0">
                <a:latin typeface="Helvetica" pitchFamily="34" charset="0"/>
              </a:rPr>
              <a:t>If it persists and or gets louder, you will need to ask them once again if they are ok </a:t>
            </a:r>
          </a:p>
          <a:p>
            <a:pPr lvl="0">
              <a:spcBef>
                <a:spcPts val="600"/>
              </a:spcBef>
              <a:spcAft>
                <a:spcPts val="1200"/>
              </a:spcAft>
            </a:pPr>
            <a:r>
              <a:rPr lang="en-AU" sz="2200" dirty="0" smtClean="0">
                <a:latin typeface="Helvetica" pitchFamily="34" charset="0"/>
              </a:rPr>
              <a:t>Suggest that this is not the place for their </a:t>
            </a:r>
            <a:r>
              <a:rPr lang="en-AU" sz="2200" dirty="0" smtClean="0">
                <a:latin typeface="Helvetica" pitchFamily="34" charset="0"/>
              </a:rPr>
              <a:t>argument.</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7" name="Picture 6" descr="MP900387516[1].JPG"/>
          <p:cNvPicPr/>
          <p:nvPr/>
        </p:nvPicPr>
        <p:blipFill>
          <a:blip r:embed="rId3" cstate="print"/>
          <a:stretch>
            <a:fillRect/>
          </a:stretch>
        </p:blipFill>
        <p:spPr>
          <a:xfrm>
            <a:off x="3521904" y="4214818"/>
            <a:ext cx="2100193" cy="1478657"/>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potential problem situations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Domestic argument</a:t>
            </a:r>
          </a:p>
          <a:p>
            <a:pPr lvl="0">
              <a:spcBef>
                <a:spcPts val="600"/>
              </a:spcBef>
              <a:spcAft>
                <a:spcPts val="1200"/>
              </a:spcAft>
            </a:pPr>
            <a:r>
              <a:rPr lang="en-AU" sz="2200" dirty="0" smtClean="0">
                <a:latin typeface="Helvetica" pitchFamily="34" charset="0"/>
              </a:rPr>
              <a:t>Let them know that, if they can’t put aside their issues, they will have to leave</a:t>
            </a:r>
          </a:p>
          <a:p>
            <a:pPr lvl="0">
              <a:spcBef>
                <a:spcPts val="600"/>
              </a:spcBef>
              <a:spcAft>
                <a:spcPts val="1200"/>
              </a:spcAft>
            </a:pPr>
            <a:r>
              <a:rPr lang="en-AU" sz="2200" dirty="0" smtClean="0">
                <a:latin typeface="Helvetica" pitchFamily="34" charset="0"/>
              </a:rPr>
              <a:t>Always remain impartial </a:t>
            </a:r>
          </a:p>
          <a:p>
            <a:pPr lvl="0">
              <a:spcBef>
                <a:spcPts val="600"/>
              </a:spcBef>
              <a:spcAft>
                <a:spcPts val="1200"/>
              </a:spcAft>
            </a:pPr>
            <a:r>
              <a:rPr lang="en-AU" sz="2200" dirty="0" smtClean="0">
                <a:latin typeface="Helvetica" pitchFamily="34" charset="0"/>
              </a:rPr>
              <a:t>Depersonalise </a:t>
            </a:r>
            <a:r>
              <a:rPr lang="en-AU" sz="2200" dirty="0" smtClean="0">
                <a:latin typeface="Helvetica" pitchFamily="34" charset="0"/>
              </a:rPr>
              <a:t>the situation by stating it is your job, it is house rules, and it is not </a:t>
            </a:r>
            <a:r>
              <a:rPr lang="en-AU" sz="2200" dirty="0" smtClean="0">
                <a:latin typeface="Helvetica" pitchFamily="34" charset="0"/>
              </a:rPr>
              <a:t>personal.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5" name="Picture 4" descr="MP900341466[1].JPG"/>
          <p:cNvPicPr>
            <a:picLocks noChangeAspect="1"/>
          </p:cNvPicPr>
          <p:nvPr/>
        </p:nvPicPr>
        <p:blipFill>
          <a:blip r:embed="rId3" cstate="print"/>
          <a:stretch>
            <a:fillRect/>
          </a:stretch>
        </p:blipFill>
        <p:spPr>
          <a:xfrm>
            <a:off x="3894045" y="4500570"/>
            <a:ext cx="1355910" cy="1643074"/>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Handling potential problem situations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Games or Sports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To help reduce potential problems:</a:t>
            </a:r>
          </a:p>
          <a:p>
            <a:pPr lvl="0">
              <a:spcBef>
                <a:spcPts val="600"/>
              </a:spcBef>
              <a:spcAft>
                <a:spcPts val="1200"/>
              </a:spcAft>
            </a:pPr>
            <a:r>
              <a:rPr lang="en-AU" sz="2200" dirty="0" smtClean="0">
                <a:latin typeface="Helvetica" pitchFamily="34" charset="0"/>
              </a:rPr>
              <a:t>Have a set of house rules for everyone to play by</a:t>
            </a:r>
          </a:p>
          <a:p>
            <a:pPr lvl="0">
              <a:spcBef>
                <a:spcPts val="600"/>
              </a:spcBef>
              <a:spcAft>
                <a:spcPts val="1200"/>
              </a:spcAft>
            </a:pPr>
            <a:r>
              <a:rPr lang="en-AU" sz="2200" dirty="0" smtClean="0">
                <a:latin typeface="Helvetica" pitchFamily="34" charset="0"/>
              </a:rPr>
              <a:t>Put a clear, fair system in place for how to book games and how to determine who plays next</a:t>
            </a:r>
          </a:p>
          <a:p>
            <a:pPr lvl="0">
              <a:spcBef>
                <a:spcPts val="600"/>
              </a:spcBef>
              <a:spcAft>
                <a:spcPts val="1200"/>
              </a:spcAft>
            </a:pPr>
            <a:r>
              <a:rPr lang="en-AU" sz="2200" dirty="0" smtClean="0">
                <a:latin typeface="Helvetica" pitchFamily="34" charset="0"/>
              </a:rPr>
              <a:t>Ensure the area is well staffed to spot any potential problems</a:t>
            </a:r>
          </a:p>
          <a:p>
            <a:pPr>
              <a:spcBef>
                <a:spcPts val="600"/>
              </a:spcBef>
              <a:spcAft>
                <a:spcPts val="1200"/>
              </a:spcAft>
            </a:pPr>
            <a:r>
              <a:rPr lang="en-AU" sz="2200" dirty="0" smtClean="0">
                <a:latin typeface="Helvetica" pitchFamily="34" charset="0"/>
              </a:rPr>
              <a:t>Put in place a deposit system so                               equipment is </a:t>
            </a:r>
            <a:r>
              <a:rPr lang="en-AU" sz="2200" dirty="0" smtClean="0">
                <a:latin typeface="Helvetica" pitchFamily="34" charset="0"/>
              </a:rPr>
              <a:t>returned.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6" name="Picture 5" descr="MP900405084[1].JPG"/>
          <p:cNvPicPr/>
          <p:nvPr/>
        </p:nvPicPr>
        <p:blipFill>
          <a:blip r:embed="rId3" cstate="print"/>
          <a:stretch>
            <a:fillRect/>
          </a:stretch>
        </p:blipFill>
        <p:spPr>
          <a:xfrm>
            <a:off x="6444208" y="4797152"/>
            <a:ext cx="2060823" cy="1373882"/>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Asking customers to leave premises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Whilst is it unreasonable to ask every patron who is showing even the smallest sign of intoxication to leave, it is essential that a person will be asked to leave who:</a:t>
            </a:r>
          </a:p>
          <a:p>
            <a:pPr lvl="0">
              <a:spcBef>
                <a:spcPts val="600"/>
              </a:spcBef>
              <a:spcAft>
                <a:spcPts val="1200"/>
              </a:spcAft>
            </a:pPr>
            <a:r>
              <a:rPr lang="en-AU" sz="2200" dirty="0" smtClean="0">
                <a:latin typeface="Helvetica" pitchFamily="34" charset="0"/>
              </a:rPr>
              <a:t>Is using or threatening violence</a:t>
            </a:r>
          </a:p>
          <a:p>
            <a:pPr lvl="0">
              <a:spcBef>
                <a:spcPts val="600"/>
              </a:spcBef>
              <a:spcAft>
                <a:spcPts val="1200"/>
              </a:spcAft>
            </a:pPr>
            <a:r>
              <a:rPr lang="en-AU" sz="2200" dirty="0" smtClean="0">
                <a:latin typeface="Helvetica" pitchFamily="34" charset="0"/>
              </a:rPr>
              <a:t>Is disturbing the enjoyment of other patrons</a:t>
            </a:r>
          </a:p>
          <a:p>
            <a:pPr lvl="0">
              <a:spcBef>
                <a:spcPts val="600"/>
              </a:spcBef>
              <a:spcAft>
                <a:spcPts val="1200"/>
              </a:spcAft>
            </a:pPr>
            <a:r>
              <a:rPr lang="en-AU" sz="2200" dirty="0" smtClean="0">
                <a:latin typeface="Helvetica" pitchFamily="34" charset="0"/>
              </a:rPr>
              <a:t>Is disorderly or not abiding by premises rules</a:t>
            </a:r>
          </a:p>
          <a:p>
            <a:pPr lvl="0">
              <a:spcBef>
                <a:spcPts val="600"/>
              </a:spcBef>
              <a:spcAft>
                <a:spcPts val="1200"/>
              </a:spcAft>
            </a:pPr>
            <a:r>
              <a:rPr lang="en-AU" sz="2200" dirty="0" smtClean="0">
                <a:latin typeface="Helvetica" pitchFamily="34" charset="0"/>
              </a:rPr>
              <a:t>Is breaking the law</a:t>
            </a:r>
          </a:p>
          <a:p>
            <a:pPr lvl="0">
              <a:spcBef>
                <a:spcPts val="600"/>
              </a:spcBef>
              <a:spcAft>
                <a:spcPts val="1200"/>
              </a:spcAft>
            </a:pPr>
            <a:r>
              <a:rPr lang="en-AU" sz="2200" dirty="0" smtClean="0">
                <a:latin typeface="Helvetica" pitchFamily="34" charset="0"/>
              </a:rPr>
              <a:t>Is using disgusting, profane or foul </a:t>
            </a:r>
            <a:r>
              <a:rPr lang="en-AU" sz="2200" dirty="0" smtClean="0">
                <a:latin typeface="Helvetica" pitchFamily="34" charset="0"/>
              </a:rPr>
              <a:t>language.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3074" name="Picture 2" descr="C:\Documents and Settings\danielc\Local Settings\Temporary Internet Files\Content.IE5\8E72DZVI\MC900078703[1].wmf"/>
          <p:cNvPicPr>
            <a:picLocks noChangeAspect="1" noChangeArrowheads="1"/>
          </p:cNvPicPr>
          <p:nvPr/>
        </p:nvPicPr>
        <p:blipFill>
          <a:blip r:embed="rId3" cstate="print"/>
          <a:srcRect/>
          <a:stretch>
            <a:fillRect/>
          </a:stretch>
        </p:blipFill>
        <p:spPr bwMode="auto">
          <a:xfrm>
            <a:off x="7215206" y="2928934"/>
            <a:ext cx="1183996" cy="2043361"/>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Asking customers to leave premises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Steps when asking someone to leave</a:t>
            </a:r>
          </a:p>
          <a:p>
            <a:pPr lvl="0">
              <a:spcBef>
                <a:spcPts val="600"/>
              </a:spcBef>
              <a:spcAft>
                <a:spcPts val="1200"/>
              </a:spcAft>
            </a:pPr>
            <a:r>
              <a:rPr lang="en-AU" sz="2200" dirty="0" smtClean="0">
                <a:latin typeface="Helvetica" pitchFamily="34" charset="0"/>
              </a:rPr>
              <a:t>Final warning</a:t>
            </a:r>
          </a:p>
          <a:p>
            <a:pPr lvl="0">
              <a:spcBef>
                <a:spcPts val="600"/>
              </a:spcBef>
              <a:spcAft>
                <a:spcPts val="1200"/>
              </a:spcAft>
            </a:pPr>
            <a:r>
              <a:rPr lang="en-AU" sz="2200" dirty="0" smtClean="0">
                <a:latin typeface="Helvetica" pitchFamily="34" charset="0"/>
              </a:rPr>
              <a:t>Notifying friends</a:t>
            </a:r>
          </a:p>
          <a:p>
            <a:pPr lvl="0">
              <a:spcBef>
                <a:spcPts val="600"/>
              </a:spcBef>
              <a:spcAft>
                <a:spcPts val="1200"/>
              </a:spcAft>
            </a:pPr>
            <a:r>
              <a:rPr lang="en-AU" sz="2200" dirty="0" smtClean="0">
                <a:latin typeface="Helvetica" pitchFamily="34" charset="0"/>
              </a:rPr>
              <a:t>Identify transportation</a:t>
            </a:r>
          </a:p>
          <a:p>
            <a:pPr lvl="0">
              <a:spcBef>
                <a:spcPts val="600"/>
              </a:spcBef>
              <a:spcAft>
                <a:spcPts val="1200"/>
              </a:spcAft>
            </a:pPr>
            <a:r>
              <a:rPr lang="en-AU" sz="2200" dirty="0" smtClean="0">
                <a:latin typeface="Helvetica" pitchFamily="34" charset="0"/>
              </a:rPr>
              <a:t>Arrange assistance</a:t>
            </a:r>
          </a:p>
          <a:p>
            <a:pPr lvl="0">
              <a:spcBef>
                <a:spcPts val="600"/>
              </a:spcBef>
              <a:spcAft>
                <a:spcPts val="1200"/>
              </a:spcAft>
            </a:pPr>
            <a:r>
              <a:rPr lang="en-AU" sz="2200" dirty="0" smtClean="0">
                <a:latin typeface="Helvetica" pitchFamily="34" charset="0"/>
              </a:rPr>
              <a:t>Explain why the person is </a:t>
            </a:r>
            <a:r>
              <a:rPr lang="en-AU" sz="2200" dirty="0" smtClean="0">
                <a:latin typeface="Helvetica" pitchFamily="34" charset="0"/>
              </a:rPr>
              <a:t>being asked </a:t>
            </a:r>
            <a:r>
              <a:rPr lang="en-AU" sz="2200" dirty="0" smtClean="0">
                <a:latin typeface="Helvetica" pitchFamily="34" charset="0"/>
              </a:rPr>
              <a:t>to </a:t>
            </a:r>
            <a:r>
              <a:rPr lang="en-AU" sz="2200" dirty="0" smtClean="0">
                <a:latin typeface="Helvetica" pitchFamily="34" charset="0"/>
              </a:rPr>
              <a:t>leave.</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6" name="Picture 5" descr="MP900386047[1].JPG"/>
          <p:cNvPicPr/>
          <p:nvPr/>
        </p:nvPicPr>
        <p:blipFill>
          <a:blip r:embed="rId3" cstate="print"/>
          <a:stretch>
            <a:fillRect/>
          </a:stretch>
        </p:blipFill>
        <p:spPr>
          <a:xfrm>
            <a:off x="5643570" y="2428868"/>
            <a:ext cx="2441054" cy="1580381"/>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Asking customers to leave premises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Steps when asking someone to leave</a:t>
            </a:r>
          </a:p>
          <a:p>
            <a:pPr lvl="0">
              <a:spcBef>
                <a:spcPts val="600"/>
              </a:spcBef>
              <a:spcAft>
                <a:spcPts val="1200"/>
              </a:spcAft>
            </a:pPr>
            <a:r>
              <a:rPr lang="en-AU" sz="2200" dirty="0" smtClean="0">
                <a:latin typeface="Helvetica" pitchFamily="34" charset="0"/>
              </a:rPr>
              <a:t>Explain transportation options</a:t>
            </a:r>
          </a:p>
          <a:p>
            <a:pPr lvl="0">
              <a:spcBef>
                <a:spcPts val="600"/>
              </a:spcBef>
              <a:spcAft>
                <a:spcPts val="1200"/>
              </a:spcAft>
            </a:pPr>
            <a:r>
              <a:rPr lang="en-AU" sz="2200" dirty="0" smtClean="0">
                <a:latin typeface="Helvetica" pitchFamily="34" charset="0"/>
              </a:rPr>
              <a:t>Follow the person to the door</a:t>
            </a:r>
          </a:p>
          <a:p>
            <a:pPr lvl="0">
              <a:spcBef>
                <a:spcPts val="600"/>
              </a:spcBef>
              <a:spcAft>
                <a:spcPts val="1200"/>
              </a:spcAft>
            </a:pPr>
            <a:r>
              <a:rPr lang="en-AU" sz="2200" dirty="0" smtClean="0">
                <a:latin typeface="Helvetica" pitchFamily="34" charset="0"/>
              </a:rPr>
              <a:t>Ensure the person is safely off the premises</a:t>
            </a:r>
          </a:p>
          <a:p>
            <a:pPr lvl="0">
              <a:spcBef>
                <a:spcPts val="600"/>
              </a:spcBef>
              <a:spcAft>
                <a:spcPts val="1200"/>
              </a:spcAft>
            </a:pPr>
            <a:r>
              <a:rPr lang="en-AU" sz="2200" dirty="0" smtClean="0">
                <a:latin typeface="Helvetica" pitchFamily="34" charset="0"/>
              </a:rPr>
              <a:t>Ensure they are looked </a:t>
            </a:r>
            <a:r>
              <a:rPr lang="en-AU" sz="2200" dirty="0" smtClean="0">
                <a:latin typeface="Helvetica" pitchFamily="34" charset="0"/>
              </a:rPr>
              <a:t>after.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5" name="Picture 4" descr="MP900049574[1].JPG"/>
          <p:cNvPicPr/>
          <p:nvPr/>
        </p:nvPicPr>
        <p:blipFill>
          <a:blip r:embed="rId3" cstate="print"/>
          <a:stretch>
            <a:fillRect/>
          </a:stretch>
        </p:blipFill>
        <p:spPr>
          <a:xfrm>
            <a:off x="3571868" y="4429132"/>
            <a:ext cx="2212255" cy="1542476"/>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marL="0"/>
            <a:r>
              <a:rPr lang="en-US" sz="3200" b="1" dirty="0" smtClean="0">
                <a:solidFill>
                  <a:srgbClr val="FF6600"/>
                </a:solidFill>
                <a:latin typeface="Helvetica" pitchFamily="34" charset="0"/>
              </a:rPr>
              <a:t>Asking customers to leave premises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Steps when asking someone to leave</a:t>
            </a:r>
          </a:p>
          <a:p>
            <a:pPr>
              <a:spcBef>
                <a:spcPts val="600"/>
              </a:spcBef>
              <a:spcAft>
                <a:spcPts val="1200"/>
              </a:spcAft>
            </a:pPr>
            <a:r>
              <a:rPr lang="en-AU" sz="2200" dirty="0" smtClean="0">
                <a:latin typeface="Helvetica" pitchFamily="34" charset="0"/>
              </a:rPr>
              <a:t>There will be times, when a more direct and forceful action is required</a:t>
            </a:r>
          </a:p>
          <a:p>
            <a:pPr>
              <a:spcBef>
                <a:spcPts val="600"/>
              </a:spcBef>
              <a:spcAft>
                <a:spcPts val="1200"/>
              </a:spcAft>
            </a:pPr>
            <a:r>
              <a:rPr lang="en-AU" sz="2200" dirty="0" smtClean="0">
                <a:latin typeface="Helvetica" pitchFamily="34" charset="0"/>
              </a:rPr>
              <a:t>The appropriate authorities must undertake this action, whether by police or </a:t>
            </a:r>
            <a:r>
              <a:rPr lang="en-AU" sz="2200" dirty="0" smtClean="0">
                <a:latin typeface="Helvetica" pitchFamily="34" charset="0"/>
              </a:rPr>
              <a:t>security.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6" name="Picture 5" descr="MP900184939[1].JPG"/>
          <p:cNvPicPr>
            <a:picLocks noChangeAspect="1"/>
          </p:cNvPicPr>
          <p:nvPr/>
        </p:nvPicPr>
        <p:blipFill>
          <a:blip r:embed="rId3" cstate="print"/>
          <a:stretch>
            <a:fillRect/>
          </a:stretch>
        </p:blipFill>
        <p:spPr>
          <a:xfrm>
            <a:off x="3854388" y="4071942"/>
            <a:ext cx="1360554" cy="2040831"/>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3:</a:t>
            </a:r>
          </a:p>
          <a:p>
            <a:pPr marL="0">
              <a:buNone/>
            </a:pPr>
            <a:r>
              <a:rPr lang="en-US" sz="4000" dirty="0" smtClean="0">
                <a:solidFill>
                  <a:srgbClr val="FF6600"/>
                </a:solidFill>
              </a:rPr>
              <a:t>Comply with legislation</a:t>
            </a:r>
            <a:endParaRPr lang="en-US" sz="4000" dirty="0" smtClean="0">
              <a:solidFill>
                <a:srgbClr val="FF6600"/>
              </a:solidFill>
              <a:latin typeface="Helvetica" pitchFamily="34" charset="0"/>
            </a:endParaRPr>
          </a:p>
          <a:p>
            <a:pPr marL="0">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4098" name="Picture 2" descr="C:\Documents and Settings\danielc\Local Settings\Temporary Internet Files\Content.IE5\XF6U4J0T\MC900056644[1].wmf"/>
          <p:cNvPicPr>
            <a:picLocks noChangeAspect="1" noChangeArrowheads="1"/>
          </p:cNvPicPr>
          <p:nvPr/>
        </p:nvPicPr>
        <p:blipFill>
          <a:blip r:embed="rId3" cstate="print"/>
          <a:srcRect/>
          <a:stretch>
            <a:fillRect/>
          </a:stretch>
        </p:blipFill>
        <p:spPr bwMode="auto">
          <a:xfrm>
            <a:off x="3643306" y="3500438"/>
            <a:ext cx="1804111" cy="1792224"/>
          </a:xfrm>
          <a:prstGeom prst="rect">
            <a:avLst/>
          </a:prstGeom>
          <a:noFill/>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Comply with legislation</a:t>
            </a: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Assess situations</a:t>
            </a:r>
          </a:p>
          <a:p>
            <a:pPr>
              <a:spcBef>
                <a:spcPts val="600"/>
              </a:spcBef>
              <a:spcAft>
                <a:spcPts val="1200"/>
              </a:spcAft>
            </a:pPr>
            <a:r>
              <a:rPr lang="en-AU" sz="2200" dirty="0" smtClean="0">
                <a:latin typeface="Helvetica" pitchFamily="34" charset="0"/>
              </a:rPr>
              <a:t>Deal with intoxicated persons appropriately</a:t>
            </a:r>
          </a:p>
          <a:p>
            <a:pPr>
              <a:spcBef>
                <a:spcPts val="600"/>
              </a:spcBef>
              <a:spcAft>
                <a:spcPts val="1200"/>
              </a:spcAft>
            </a:pPr>
            <a:r>
              <a:rPr lang="en-AU" sz="2200" dirty="0" smtClean="0">
                <a:latin typeface="Helvetica" pitchFamily="34" charset="0"/>
              </a:rPr>
              <a:t>Deal with underage drinkers</a:t>
            </a:r>
          </a:p>
          <a:p>
            <a:pPr>
              <a:spcBef>
                <a:spcPts val="600"/>
              </a:spcBef>
              <a:spcAft>
                <a:spcPts val="1200"/>
              </a:spcAft>
            </a:pPr>
            <a:r>
              <a:rPr lang="en-AU" sz="2200" dirty="0" smtClean="0">
                <a:latin typeface="Helvetica" pitchFamily="34" charset="0"/>
              </a:rPr>
              <a:t>Comply with legislative </a:t>
            </a:r>
            <a:r>
              <a:rPr lang="en-AU" sz="2200" dirty="0" smtClean="0">
                <a:latin typeface="Helvetica" pitchFamily="34" charset="0"/>
              </a:rPr>
              <a:t>requirements.</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7" name="Picture 6" descr="MP900422389[1].JPG"/>
          <p:cNvPicPr>
            <a:picLocks noChangeAspect="1"/>
          </p:cNvPicPr>
          <p:nvPr/>
        </p:nvPicPr>
        <p:blipFill>
          <a:blip r:embed="rId3" cstate="print"/>
          <a:stretch>
            <a:fillRect/>
          </a:stretch>
        </p:blipFill>
        <p:spPr>
          <a:xfrm>
            <a:off x="6786578" y="2285992"/>
            <a:ext cx="1371104" cy="2037751"/>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Comply with legislation</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As a manager or a server in an establishment that serves alcohol it is your responsibility that it is done in a manner that:</a:t>
            </a:r>
          </a:p>
          <a:p>
            <a:pPr>
              <a:spcBef>
                <a:spcPts val="600"/>
              </a:spcBef>
              <a:spcAft>
                <a:spcPts val="1200"/>
              </a:spcAft>
            </a:pPr>
            <a:r>
              <a:rPr lang="en-AU" sz="2200" dirty="0" smtClean="0">
                <a:latin typeface="Helvetica" pitchFamily="34" charset="0"/>
              </a:rPr>
              <a:t>Maintains the health and safety of all people concerned</a:t>
            </a:r>
          </a:p>
          <a:p>
            <a:pPr>
              <a:spcBef>
                <a:spcPts val="600"/>
              </a:spcBef>
              <a:spcAft>
                <a:spcPts val="1200"/>
              </a:spcAft>
            </a:pPr>
            <a:r>
              <a:rPr lang="en-AU" sz="2200" dirty="0" smtClean="0">
                <a:latin typeface="Helvetica" pitchFamily="34" charset="0"/>
              </a:rPr>
              <a:t>Is legal</a:t>
            </a:r>
          </a:p>
          <a:p>
            <a:pPr>
              <a:spcBef>
                <a:spcPts val="600"/>
              </a:spcBef>
              <a:spcAft>
                <a:spcPts val="1200"/>
              </a:spcAft>
            </a:pPr>
            <a:r>
              <a:rPr lang="en-AU" sz="2200" dirty="0" smtClean="0">
                <a:latin typeface="Helvetica" pitchFamily="34" charset="0"/>
              </a:rPr>
              <a:t>Promotes responsible service and                              consumption of </a:t>
            </a:r>
            <a:r>
              <a:rPr lang="en-AU" sz="2200" dirty="0" smtClean="0">
                <a:latin typeface="Helvetica" pitchFamily="34" charset="0"/>
              </a:rPr>
              <a:t>alcohol.</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7" name="Picture 6" descr="MP900422965[1].JPG"/>
          <p:cNvPicPr>
            <a:picLocks noChangeAspect="1"/>
          </p:cNvPicPr>
          <p:nvPr/>
        </p:nvPicPr>
        <p:blipFill>
          <a:blip r:embed="rId3" cstate="print"/>
          <a:stretch>
            <a:fillRect/>
          </a:stretch>
        </p:blipFill>
        <p:spPr>
          <a:xfrm>
            <a:off x="6572264" y="3643314"/>
            <a:ext cx="1636210" cy="1636210"/>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Legal considerations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There are a number of actions to ensure a safe and legal operation including:</a:t>
            </a:r>
          </a:p>
          <a:p>
            <a:pPr lvl="0">
              <a:spcBef>
                <a:spcPts val="600"/>
              </a:spcBef>
              <a:spcAft>
                <a:spcPts val="1200"/>
              </a:spcAft>
            </a:pPr>
            <a:r>
              <a:rPr lang="en-AU" sz="2200" dirty="0" smtClean="0">
                <a:latin typeface="Helvetica" pitchFamily="34" charset="0"/>
              </a:rPr>
              <a:t>Establish a house policy</a:t>
            </a:r>
          </a:p>
          <a:p>
            <a:pPr lvl="0">
              <a:spcBef>
                <a:spcPts val="600"/>
              </a:spcBef>
              <a:spcAft>
                <a:spcPts val="1200"/>
              </a:spcAft>
            </a:pPr>
            <a:r>
              <a:rPr lang="en-AU" sz="2200" dirty="0" smtClean="0">
                <a:latin typeface="Helvetica" pitchFamily="34" charset="0"/>
              </a:rPr>
              <a:t>Avoid promotions that encourage irresponsible consumption of alcohol</a:t>
            </a:r>
          </a:p>
          <a:p>
            <a:pPr lvl="0">
              <a:spcBef>
                <a:spcPts val="600"/>
              </a:spcBef>
              <a:spcAft>
                <a:spcPts val="1200"/>
              </a:spcAft>
            </a:pPr>
            <a:r>
              <a:rPr lang="en-AU" sz="2200" dirty="0" smtClean="0">
                <a:latin typeface="Helvetica" pitchFamily="34" charset="0"/>
              </a:rPr>
              <a:t>Train staff in responsible service of alcohol</a:t>
            </a:r>
          </a:p>
          <a:p>
            <a:pPr lvl="0">
              <a:spcBef>
                <a:spcPts val="600"/>
              </a:spcBef>
              <a:spcAft>
                <a:spcPts val="1200"/>
              </a:spcAft>
            </a:pPr>
            <a:r>
              <a:rPr lang="en-AU" sz="2200" dirty="0" smtClean="0">
                <a:latin typeface="Helvetica" pitchFamily="34" charset="0"/>
              </a:rPr>
              <a:t>Identify and address potential difficult situations</a:t>
            </a:r>
          </a:p>
          <a:p>
            <a:pPr lvl="0">
              <a:spcBef>
                <a:spcPts val="600"/>
              </a:spcBef>
              <a:spcAft>
                <a:spcPts val="1200"/>
              </a:spcAft>
            </a:pPr>
            <a:r>
              <a:rPr lang="en-AU" sz="2200" dirty="0" smtClean="0">
                <a:latin typeface="Helvetica" pitchFamily="34" charset="0"/>
              </a:rPr>
              <a:t>Create the right </a:t>
            </a:r>
            <a:r>
              <a:rPr lang="en-AU" sz="2200" dirty="0" smtClean="0">
                <a:latin typeface="Helvetica" pitchFamily="34" charset="0"/>
              </a:rPr>
              <a:t>atmosphere.</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6" name="Picture 5" descr="MP900443861[1].JPG"/>
          <p:cNvPicPr/>
          <p:nvPr/>
        </p:nvPicPr>
        <p:blipFill>
          <a:blip r:embed="rId3" cstate="print"/>
          <a:stretch>
            <a:fillRect/>
          </a:stretch>
        </p:blipFill>
        <p:spPr>
          <a:xfrm>
            <a:off x="7215206" y="2428868"/>
            <a:ext cx="1133016" cy="1695448"/>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Legal considerations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Tips to remember</a:t>
            </a:r>
          </a:p>
          <a:p>
            <a:pPr lvl="0">
              <a:spcBef>
                <a:spcPts val="600"/>
              </a:spcBef>
              <a:spcAft>
                <a:spcPts val="1200"/>
              </a:spcAft>
            </a:pPr>
            <a:r>
              <a:rPr lang="en-AU" sz="2200" dirty="0" smtClean="0">
                <a:latin typeface="Helvetica" pitchFamily="34" charset="0"/>
              </a:rPr>
              <a:t>Identify situations where problems may arise as early as possible</a:t>
            </a:r>
          </a:p>
          <a:p>
            <a:pPr lvl="0">
              <a:spcBef>
                <a:spcPts val="600"/>
              </a:spcBef>
              <a:spcAft>
                <a:spcPts val="1200"/>
              </a:spcAft>
            </a:pPr>
            <a:r>
              <a:rPr lang="en-AU" sz="2200" dirty="0" smtClean="0">
                <a:latin typeface="Helvetica" pitchFamily="34" charset="0"/>
              </a:rPr>
              <a:t>Try to involve the customer by providing options</a:t>
            </a:r>
          </a:p>
          <a:p>
            <a:pPr lvl="0">
              <a:spcBef>
                <a:spcPts val="600"/>
              </a:spcBef>
              <a:spcAft>
                <a:spcPts val="1200"/>
              </a:spcAft>
            </a:pPr>
            <a:r>
              <a:rPr lang="en-AU" sz="2200" dirty="0" smtClean="0">
                <a:latin typeface="Helvetica" pitchFamily="34" charset="0"/>
              </a:rPr>
              <a:t>Treat the customer professionally</a:t>
            </a:r>
          </a:p>
          <a:p>
            <a:pPr lvl="0">
              <a:spcBef>
                <a:spcPts val="600"/>
              </a:spcBef>
              <a:spcAft>
                <a:spcPts val="1200"/>
              </a:spcAft>
            </a:pPr>
            <a:r>
              <a:rPr lang="en-AU" sz="2200" dirty="0" smtClean="0">
                <a:latin typeface="Helvetica" pitchFamily="34" charset="0"/>
              </a:rPr>
              <a:t>Don’t touch the customer, where possible</a:t>
            </a:r>
          </a:p>
          <a:p>
            <a:pPr lvl="0">
              <a:spcBef>
                <a:spcPts val="600"/>
              </a:spcBef>
              <a:spcAft>
                <a:spcPts val="1200"/>
              </a:spcAft>
            </a:pPr>
            <a:r>
              <a:rPr lang="en-AU" sz="2200" dirty="0" smtClean="0">
                <a:latin typeface="Helvetica" pitchFamily="34" charset="0"/>
              </a:rPr>
              <a:t>Take action as early as possible</a:t>
            </a:r>
          </a:p>
          <a:p>
            <a:pPr>
              <a:spcBef>
                <a:spcPts val="600"/>
              </a:spcBef>
              <a:spcAft>
                <a:spcPts val="1200"/>
              </a:spcAft>
            </a:pPr>
            <a:r>
              <a:rPr lang="en-AU" sz="2200" dirty="0" smtClean="0">
                <a:latin typeface="Helvetica" pitchFamily="34" charset="0"/>
              </a:rPr>
              <a:t>Follow all house policies, rules and </a:t>
            </a:r>
            <a:r>
              <a:rPr lang="en-AU" sz="2200" dirty="0" smtClean="0">
                <a:latin typeface="Helvetica" pitchFamily="34" charset="0"/>
              </a:rPr>
              <a:t>regulations.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7" name="Picture 6" descr="MP900443206[1].JPG"/>
          <p:cNvPicPr>
            <a:picLocks noChangeAspect="1"/>
          </p:cNvPicPr>
          <p:nvPr/>
        </p:nvPicPr>
        <p:blipFill>
          <a:blip r:embed="rId3" cstate="print"/>
          <a:stretch>
            <a:fillRect/>
          </a:stretch>
        </p:blipFill>
        <p:spPr>
          <a:xfrm>
            <a:off x="7286644" y="2786058"/>
            <a:ext cx="1270478" cy="1903472"/>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Underage drinkers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It is human nature for people who are under the legal age of drinking in a specific country to want to consume alcohol due to:</a:t>
            </a:r>
          </a:p>
          <a:p>
            <a:pPr>
              <a:spcBef>
                <a:spcPts val="600"/>
              </a:spcBef>
              <a:spcAft>
                <a:spcPts val="1200"/>
              </a:spcAft>
            </a:pPr>
            <a:r>
              <a:rPr lang="en-AU" sz="2200" dirty="0" smtClean="0">
                <a:latin typeface="Helvetica" pitchFamily="34" charset="0"/>
              </a:rPr>
              <a:t>Peer group pressure </a:t>
            </a:r>
          </a:p>
          <a:p>
            <a:pPr>
              <a:spcBef>
                <a:spcPts val="600"/>
              </a:spcBef>
              <a:spcAft>
                <a:spcPts val="1200"/>
              </a:spcAft>
            </a:pPr>
            <a:r>
              <a:rPr lang="en-AU" sz="2200" dirty="0" smtClean="0">
                <a:latin typeface="Helvetica" pitchFamily="34" charset="0"/>
              </a:rPr>
              <a:t>The right to fit in</a:t>
            </a:r>
          </a:p>
          <a:p>
            <a:pPr>
              <a:spcBef>
                <a:spcPts val="600"/>
              </a:spcBef>
              <a:spcAft>
                <a:spcPts val="1200"/>
              </a:spcAft>
            </a:pPr>
            <a:r>
              <a:rPr lang="en-AU" sz="2200" dirty="0" smtClean="0">
                <a:latin typeface="Helvetica" pitchFamily="34" charset="0"/>
              </a:rPr>
              <a:t> The act of rebellion</a:t>
            </a:r>
          </a:p>
          <a:p>
            <a:pPr>
              <a:spcBef>
                <a:spcPts val="600"/>
              </a:spcBef>
              <a:spcAft>
                <a:spcPts val="1200"/>
              </a:spcAft>
            </a:pPr>
            <a:r>
              <a:rPr lang="en-AU" sz="2200" dirty="0" smtClean="0">
                <a:latin typeface="Helvetica" pitchFamily="34" charset="0"/>
              </a:rPr>
              <a:t>Simply wanting to act older than they </a:t>
            </a:r>
            <a:r>
              <a:rPr lang="en-AU" sz="2200" dirty="0" smtClean="0">
                <a:latin typeface="Helvetica" pitchFamily="34" charset="0"/>
              </a:rPr>
              <a:t>are.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8" name="Picture 7" descr="http://t1.gstatic.com/images?q=tbn:ANd9GcS2QKaKYZtontdeckVjSo-x0F8b1MRr-8C8oqmNz9RJxhO0coie8WcQuBo">
            <a:hlinkClick r:id="rId3"/>
          </p:cNvPr>
          <p:cNvPicPr/>
          <p:nvPr/>
        </p:nvPicPr>
        <p:blipFill>
          <a:blip r:embed="rId4" cstate="print"/>
          <a:srcRect/>
          <a:stretch>
            <a:fillRect/>
          </a:stretch>
        </p:blipFill>
        <p:spPr bwMode="auto">
          <a:xfrm>
            <a:off x="4857752" y="2928934"/>
            <a:ext cx="1189345" cy="123861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Underage drinkers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pPr>
            <a:r>
              <a:rPr lang="en-AU" sz="2200" dirty="0" smtClean="0">
                <a:latin typeface="Helvetica" pitchFamily="34" charset="0"/>
              </a:rPr>
              <a:t>Every establishment that serves alcohol, at some stage will need to deal with underage </a:t>
            </a:r>
            <a:r>
              <a:rPr lang="en-AU" sz="2200" dirty="0" smtClean="0">
                <a:latin typeface="Helvetica" pitchFamily="34" charset="0"/>
              </a:rPr>
              <a:t>drinkers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 person under the legal drinking age will be referred to as a ‘minor</a:t>
            </a:r>
            <a:r>
              <a:rPr lang="en-AU" sz="2200" dirty="0" smtClean="0">
                <a:latin typeface="Helvetica" pitchFamily="34" charset="0"/>
              </a:rPr>
              <a:t>’.</a:t>
            </a: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8" name="Picture 7" descr="http://t1.gstatic.com/images?q=tbn:ANd9GcQgluHfVwm3n01pAQOM7sW6r5R9FFza57JrsQOmyse2Zpeb2jIrtXyP3SU">
            <a:hlinkClick r:id="rId3"/>
          </p:cNvPr>
          <p:cNvPicPr/>
          <p:nvPr/>
        </p:nvPicPr>
        <p:blipFill>
          <a:blip r:embed="rId4" cstate="print"/>
          <a:srcRect/>
          <a:stretch>
            <a:fillRect/>
          </a:stretch>
        </p:blipFill>
        <p:spPr bwMode="auto">
          <a:xfrm>
            <a:off x="4000496" y="3357562"/>
            <a:ext cx="1073974" cy="120005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Underage drinkers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Reasons for having a designated drinking age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Every country will have a designated age in which people are allowed to legally drink </a:t>
            </a:r>
            <a:r>
              <a:rPr lang="en-AU" sz="2200" dirty="0" smtClean="0">
                <a:latin typeface="Helvetica" pitchFamily="34" charset="0"/>
              </a:rPr>
              <a:t>alcohol</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This is set because the consumption of alcohol by minors is very dangerous. </a:t>
            </a:r>
          </a:p>
          <a:p>
            <a:endParaRPr lang="en-AU" sz="2400" dirty="0" smtClean="0"/>
          </a:p>
          <a:p>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6" name="Picture 5" descr="http://t2.gstatic.com/images?q=tbn:ANd9GcRIdUkduSePeYKbsFuF0mwX5rCknvpF0xb5KySbgBXxNwAMJX2RXn2AxeBAQQ">
            <a:hlinkClick r:id="rId3"/>
          </p:cNvPr>
          <p:cNvPicPr/>
          <p:nvPr/>
        </p:nvPicPr>
        <p:blipFill>
          <a:blip r:embed="rId4" cstate="print"/>
          <a:srcRect/>
          <a:stretch>
            <a:fillRect/>
          </a:stretch>
        </p:blipFill>
        <p:spPr bwMode="auto">
          <a:xfrm>
            <a:off x="3750463" y="4000504"/>
            <a:ext cx="1643074" cy="164307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Underage drinkers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Reasons for having a designated drinking age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They lack the experience of drinking alcohol</a:t>
            </a:r>
          </a:p>
          <a:p>
            <a:pPr lvl="0">
              <a:spcBef>
                <a:spcPts val="600"/>
              </a:spcBef>
              <a:spcAft>
                <a:spcPts val="1200"/>
              </a:spcAft>
            </a:pPr>
            <a:r>
              <a:rPr lang="en-AU" sz="2200" dirty="0" smtClean="0">
                <a:latin typeface="Helvetica" pitchFamily="34" charset="0"/>
              </a:rPr>
              <a:t>They may not be mature enough to handle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themselves </a:t>
            </a:r>
            <a:r>
              <a:rPr lang="en-AU" sz="2200" dirty="0" smtClean="0">
                <a:latin typeface="Helvetica" pitchFamily="34" charset="0"/>
              </a:rPr>
              <a:t>in a drinking capacity</a:t>
            </a:r>
          </a:p>
          <a:p>
            <a:pPr lvl="0">
              <a:spcBef>
                <a:spcPts val="600"/>
              </a:spcBef>
              <a:spcAft>
                <a:spcPts val="1200"/>
              </a:spcAft>
            </a:pPr>
            <a:r>
              <a:rPr lang="en-AU" sz="2200" dirty="0" smtClean="0">
                <a:latin typeface="Helvetica" pitchFamily="34" charset="0"/>
              </a:rPr>
              <a:t>Brain does not fully develop until the age of 24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in </a:t>
            </a:r>
            <a:r>
              <a:rPr lang="en-AU" sz="2200" dirty="0" smtClean="0">
                <a:latin typeface="Helvetica" pitchFamily="34" charset="0"/>
              </a:rPr>
              <a:t>males and 22 in females</a:t>
            </a:r>
          </a:p>
          <a:p>
            <a:pPr lvl="0">
              <a:spcBef>
                <a:spcPts val="600"/>
              </a:spcBef>
              <a:spcAft>
                <a:spcPts val="1200"/>
              </a:spcAft>
            </a:pPr>
            <a:r>
              <a:rPr lang="en-AU" sz="2200" dirty="0" smtClean="0">
                <a:latin typeface="Helvetica" pitchFamily="34" charset="0"/>
              </a:rPr>
              <a:t>Therefore the effects of alcohol impacts brain development to a greater </a:t>
            </a:r>
            <a:r>
              <a:rPr lang="en-AU" sz="2200" dirty="0" smtClean="0">
                <a:latin typeface="Helvetica" pitchFamily="34" charset="0"/>
              </a:rPr>
              <a:t>extent.</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7" name="Picture 6" descr="MP900438746[1].JPG"/>
          <p:cNvPicPr>
            <a:picLocks noChangeAspect="1"/>
          </p:cNvPicPr>
          <p:nvPr/>
        </p:nvPicPr>
        <p:blipFill>
          <a:blip r:embed="rId3" cstate="print"/>
          <a:stretch>
            <a:fillRect/>
          </a:stretch>
        </p:blipFill>
        <p:spPr>
          <a:xfrm>
            <a:off x="7143768" y="2500306"/>
            <a:ext cx="1103851" cy="1471802"/>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Underage drinkers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Reasons for having a designated drinking age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Their internal organs haven’t fully developed, therefore the effects of alcohol are greater</a:t>
            </a:r>
          </a:p>
          <a:p>
            <a:pPr lvl="0">
              <a:spcBef>
                <a:spcPts val="600"/>
              </a:spcBef>
              <a:spcAft>
                <a:spcPts val="1200"/>
              </a:spcAft>
            </a:pPr>
            <a:r>
              <a:rPr lang="en-AU" sz="2200" dirty="0" smtClean="0">
                <a:latin typeface="Helvetica" pitchFamily="34" charset="0"/>
              </a:rPr>
              <a:t>Minors are more likely to binge drink, which is a major health risk</a:t>
            </a:r>
          </a:p>
          <a:p>
            <a:pPr lvl="0">
              <a:spcBef>
                <a:spcPts val="600"/>
              </a:spcBef>
              <a:spcAft>
                <a:spcPts val="1200"/>
              </a:spcAft>
            </a:pPr>
            <a:r>
              <a:rPr lang="en-AU" sz="2200" dirty="0" smtClean="0">
                <a:latin typeface="Helvetica" pitchFamily="34" charset="0"/>
              </a:rPr>
              <a:t>Minors are most likely to become dependent on alcohol and become heavy drinkers later in </a:t>
            </a:r>
            <a:r>
              <a:rPr lang="en-AU" sz="2200" dirty="0" smtClean="0">
                <a:latin typeface="Helvetica" pitchFamily="34" charset="0"/>
              </a:rPr>
              <a:t>life.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59394" name="Picture 2" descr="http://i241.photobucket.com/albums/ff162/fiddlekitten/beerfort.jpg"/>
          <p:cNvPicPr>
            <a:picLocks noChangeAspect="1" noChangeArrowheads="1"/>
          </p:cNvPicPr>
          <p:nvPr/>
        </p:nvPicPr>
        <p:blipFill>
          <a:blip r:embed="rId3" cstate="print"/>
          <a:srcRect/>
          <a:stretch>
            <a:fillRect/>
          </a:stretch>
        </p:blipFill>
        <p:spPr bwMode="auto">
          <a:xfrm>
            <a:off x="3598628" y="5000636"/>
            <a:ext cx="1946744" cy="1294656"/>
          </a:xfrm>
          <a:prstGeom prst="rect">
            <a:avLst/>
          </a:prstGeom>
          <a:noFill/>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Underage drinkers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Types of laws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The law will also state conditions in which alcohol can be served in relation to minors</a:t>
            </a:r>
          </a:p>
          <a:p>
            <a:pPr>
              <a:spcBef>
                <a:spcPts val="600"/>
              </a:spcBef>
              <a:spcAft>
                <a:spcPts val="1200"/>
              </a:spcAft>
            </a:pPr>
            <a:r>
              <a:rPr lang="en-AU" sz="2200" dirty="0" smtClean="0">
                <a:latin typeface="Helvetica" pitchFamily="34" charset="0"/>
              </a:rPr>
              <a:t>Each country will have their own laws in relation to the sale and consumption of alcohol in relation to </a:t>
            </a:r>
            <a:r>
              <a:rPr lang="en-AU" sz="2200" dirty="0" smtClean="0">
                <a:latin typeface="Helvetica" pitchFamily="34" charset="0"/>
              </a:rPr>
              <a:t>minors.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235522" name="Picture 2" descr="http://t2.gstatic.com/images?q=tbn:ANd9GcQh_bdRqDmv027Mo5GTZAvKi-mW5v32cR83yZui_aNIDUZuJcyfw5vxEx_q">
            <a:hlinkClick r:id="rId3"/>
          </p:cNvPr>
          <p:cNvPicPr>
            <a:picLocks noChangeAspect="1" noChangeArrowheads="1"/>
          </p:cNvPicPr>
          <p:nvPr/>
        </p:nvPicPr>
        <p:blipFill>
          <a:blip r:embed="rId4" cstate="print"/>
          <a:srcRect/>
          <a:stretch>
            <a:fillRect/>
          </a:stretch>
        </p:blipFill>
        <p:spPr bwMode="auto">
          <a:xfrm>
            <a:off x="3967365" y="4214818"/>
            <a:ext cx="1209271" cy="1511590"/>
          </a:xfrm>
          <a:prstGeom prst="rect">
            <a:avLst/>
          </a:prstGeom>
          <a:noFill/>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Underage drinkers</a:t>
            </a:r>
          </a:p>
        </p:txBody>
      </p:sp>
      <p:sp>
        <p:nvSpPr>
          <p:cNvPr id="3" name="Content Placeholder 2"/>
          <p:cNvSpPr>
            <a:spLocks noGrp="1"/>
          </p:cNvSpPr>
          <p:nvPr>
            <p:ph idx="1"/>
          </p:nvPr>
        </p:nvSpPr>
        <p:spPr>
          <a:xfrm>
            <a:off x="611560" y="1556792"/>
            <a:ext cx="7467600" cy="4896544"/>
          </a:xfrm>
        </p:spPr>
        <p:txBody>
          <a:bodyPr>
            <a:normAutofit/>
          </a:bodyPr>
          <a:lstStyle/>
          <a:p>
            <a:pPr lvl="0">
              <a:spcBef>
                <a:spcPts val="600"/>
              </a:spcBef>
              <a:spcAft>
                <a:spcPts val="1200"/>
              </a:spcAft>
              <a:buNone/>
            </a:pPr>
            <a:r>
              <a:rPr lang="en-AU" sz="2200" b="1" dirty="0" smtClean="0">
                <a:latin typeface="Helvetica" pitchFamily="34" charset="0"/>
              </a:rPr>
              <a:t>Legal considerations may include:</a:t>
            </a:r>
          </a:p>
          <a:p>
            <a:pPr lvl="0">
              <a:spcBef>
                <a:spcPts val="600"/>
              </a:spcBef>
              <a:spcAft>
                <a:spcPts val="1200"/>
              </a:spcAft>
            </a:pPr>
            <a:r>
              <a:rPr lang="en-AU" sz="2200" dirty="0" smtClean="0">
                <a:latin typeface="Helvetica" pitchFamily="34" charset="0"/>
              </a:rPr>
              <a:t>Alcohol cannot be sold to a person under the legal drinking age</a:t>
            </a:r>
          </a:p>
          <a:p>
            <a:pPr lvl="0">
              <a:spcBef>
                <a:spcPts val="600"/>
              </a:spcBef>
              <a:spcAft>
                <a:spcPts val="1200"/>
              </a:spcAft>
            </a:pPr>
            <a:r>
              <a:rPr lang="en-AU" sz="2200" dirty="0" smtClean="0">
                <a:latin typeface="Helvetica" pitchFamily="34" charset="0"/>
              </a:rPr>
              <a:t>Alcohol cannot be supplied or consumed by a person under the legal drinking age</a:t>
            </a:r>
          </a:p>
          <a:p>
            <a:pPr lvl="0">
              <a:spcBef>
                <a:spcPts val="600"/>
              </a:spcBef>
              <a:spcAft>
                <a:spcPts val="1200"/>
              </a:spcAft>
            </a:pPr>
            <a:r>
              <a:rPr lang="en-AU" sz="2200" dirty="0" smtClean="0">
                <a:latin typeface="Helvetica" pitchFamily="34" charset="0"/>
              </a:rPr>
              <a:t>Proof of age must be checked if a person                       looks under 25 years of </a:t>
            </a:r>
            <a:r>
              <a:rPr lang="en-AU" sz="2200" dirty="0" smtClean="0">
                <a:latin typeface="Helvetica" pitchFamily="34" charset="0"/>
              </a:rPr>
              <a:t>age.</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6" name="Picture 5" descr="Notice All Patrons Must Have Valid Photo ID Sign">
            <a:hlinkClick r:id="rId3"/>
          </p:cNvPr>
          <p:cNvPicPr/>
          <p:nvPr/>
        </p:nvPicPr>
        <p:blipFill>
          <a:blip r:embed="rId4" cstate="print"/>
          <a:srcRect/>
          <a:stretch>
            <a:fillRect/>
          </a:stretch>
        </p:blipFill>
        <p:spPr bwMode="auto">
          <a:xfrm>
            <a:off x="6643702" y="3786190"/>
            <a:ext cx="1688976" cy="121805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Underage drinkers</a:t>
            </a:r>
          </a:p>
        </p:txBody>
      </p:sp>
      <p:sp>
        <p:nvSpPr>
          <p:cNvPr id="3" name="Content Placeholder 2"/>
          <p:cNvSpPr>
            <a:spLocks noGrp="1"/>
          </p:cNvSpPr>
          <p:nvPr>
            <p:ph idx="1"/>
          </p:nvPr>
        </p:nvSpPr>
        <p:spPr>
          <a:xfrm>
            <a:off x="611560" y="1556792"/>
            <a:ext cx="7467600" cy="4896544"/>
          </a:xfrm>
        </p:spPr>
        <p:txBody>
          <a:bodyPr>
            <a:normAutofit/>
          </a:bodyPr>
          <a:lstStyle/>
          <a:p>
            <a:pPr lvl="0">
              <a:spcBef>
                <a:spcPts val="600"/>
              </a:spcBef>
              <a:spcAft>
                <a:spcPts val="1200"/>
              </a:spcAft>
              <a:buNone/>
            </a:pPr>
            <a:r>
              <a:rPr lang="en-AU" sz="2200" b="1" dirty="0" smtClean="0">
                <a:latin typeface="Helvetica" pitchFamily="34" charset="0"/>
              </a:rPr>
              <a:t>Legal considerations may include:</a:t>
            </a:r>
          </a:p>
          <a:p>
            <a:pPr marL="0" lvl="0">
              <a:spcBef>
                <a:spcPts val="600"/>
              </a:spcBef>
              <a:spcAft>
                <a:spcPts val="1200"/>
              </a:spcAft>
              <a:buNone/>
            </a:pPr>
            <a:r>
              <a:rPr lang="en-AU" sz="2200" dirty="0" smtClean="0">
                <a:latin typeface="Helvetica" pitchFamily="34" charset="0"/>
              </a:rPr>
              <a:t>Minors may be able to be on a premises that supplies alcohol if:</a:t>
            </a:r>
          </a:p>
          <a:p>
            <a:pPr>
              <a:spcBef>
                <a:spcPts val="600"/>
              </a:spcBef>
              <a:spcAft>
                <a:spcPts val="1200"/>
              </a:spcAft>
            </a:pPr>
            <a:r>
              <a:rPr lang="en-AU" sz="2200" dirty="0" smtClean="0">
                <a:latin typeface="Helvetica" pitchFamily="34" charset="0"/>
              </a:rPr>
              <a:t>They are in the company of a responsible adult</a:t>
            </a:r>
          </a:p>
          <a:p>
            <a:pPr>
              <a:spcBef>
                <a:spcPts val="600"/>
              </a:spcBef>
              <a:spcAft>
                <a:spcPts val="1200"/>
              </a:spcAft>
            </a:pPr>
            <a:r>
              <a:rPr lang="en-AU" sz="2200" dirty="0" smtClean="0">
                <a:latin typeface="Helvetica" pitchFamily="34" charset="0"/>
              </a:rPr>
              <a:t>Are eating a meal</a:t>
            </a:r>
          </a:p>
          <a:p>
            <a:pPr>
              <a:spcBef>
                <a:spcPts val="600"/>
              </a:spcBef>
              <a:spcAft>
                <a:spcPts val="1200"/>
              </a:spcAft>
            </a:pPr>
            <a:r>
              <a:rPr lang="en-AU" sz="2200" dirty="0" smtClean="0">
                <a:latin typeface="Helvetica" pitchFamily="34" charset="0"/>
              </a:rPr>
              <a:t>Work on the premises in duties that do                             not involve the sale of </a:t>
            </a:r>
            <a:r>
              <a:rPr lang="en-AU" sz="2200" dirty="0" smtClean="0">
                <a:latin typeface="Helvetica" pitchFamily="34" charset="0"/>
              </a:rPr>
              <a:t>alcohol.</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6" name="Picture 5" descr="MP900402555[1].JPG"/>
          <p:cNvPicPr>
            <a:picLocks noChangeAspect="1"/>
          </p:cNvPicPr>
          <p:nvPr/>
        </p:nvPicPr>
        <p:blipFill>
          <a:blip r:embed="rId3" cstate="print"/>
          <a:stretch>
            <a:fillRect/>
          </a:stretch>
        </p:blipFill>
        <p:spPr>
          <a:xfrm>
            <a:off x="6228184" y="4653136"/>
            <a:ext cx="2382937" cy="1588004"/>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Underage drinkers</a:t>
            </a:r>
          </a:p>
        </p:txBody>
      </p:sp>
      <p:sp>
        <p:nvSpPr>
          <p:cNvPr id="3" name="Content Placeholder 2"/>
          <p:cNvSpPr>
            <a:spLocks noGrp="1"/>
          </p:cNvSpPr>
          <p:nvPr>
            <p:ph idx="1"/>
          </p:nvPr>
        </p:nvSpPr>
        <p:spPr>
          <a:xfrm>
            <a:off x="611560" y="1556792"/>
            <a:ext cx="7467600" cy="4896544"/>
          </a:xfrm>
        </p:spPr>
        <p:txBody>
          <a:bodyPr>
            <a:normAutofit/>
          </a:bodyPr>
          <a:lstStyle/>
          <a:p>
            <a:pPr lvl="0">
              <a:spcBef>
                <a:spcPts val="600"/>
              </a:spcBef>
              <a:spcAft>
                <a:spcPts val="1200"/>
              </a:spcAft>
              <a:buNone/>
            </a:pPr>
            <a:r>
              <a:rPr lang="en-AU" sz="2200" dirty="0" smtClean="0">
                <a:latin typeface="Helvetica" pitchFamily="34" charset="0"/>
              </a:rPr>
              <a:t>Legal considerations may include:</a:t>
            </a:r>
          </a:p>
          <a:p>
            <a:pPr lvl="0">
              <a:spcBef>
                <a:spcPts val="600"/>
              </a:spcBef>
              <a:spcAft>
                <a:spcPts val="1200"/>
              </a:spcAft>
            </a:pPr>
            <a:r>
              <a:rPr lang="en-AU" sz="2200" dirty="0" smtClean="0">
                <a:latin typeface="Helvetica" pitchFamily="34" charset="0"/>
              </a:rPr>
              <a:t>Some venues may allow a minor to have an alcoholic drink if they are having a meal or with a spouse, parent or </a:t>
            </a:r>
            <a:r>
              <a:rPr lang="en-AU" sz="2200" dirty="0" smtClean="0">
                <a:latin typeface="Helvetica" pitchFamily="34" charset="0"/>
              </a:rPr>
              <a:t>guardian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Food containing alcohol may be consumed if below a certain percentage of the entire meal</a:t>
            </a:r>
          </a:p>
          <a:p>
            <a:pPr lvl="0">
              <a:spcBef>
                <a:spcPts val="600"/>
              </a:spcBef>
              <a:spcAft>
                <a:spcPts val="1200"/>
              </a:spcAft>
            </a:pPr>
            <a:r>
              <a:rPr lang="en-AU" sz="2200" dirty="0" smtClean="0">
                <a:latin typeface="Helvetica" pitchFamily="34" charset="0"/>
              </a:rPr>
              <a:t>Minors may not be allowed into areas where                            their primary product sold is alcohol                             including bars and night clubs.</a:t>
            </a:r>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6" name="Picture 5" descr="MP900431237[1].JPG"/>
          <p:cNvPicPr>
            <a:picLocks noChangeAspect="1"/>
          </p:cNvPicPr>
          <p:nvPr/>
        </p:nvPicPr>
        <p:blipFill>
          <a:blip r:embed="rId3" cstate="print"/>
          <a:stretch>
            <a:fillRect/>
          </a:stretch>
        </p:blipFill>
        <p:spPr>
          <a:xfrm>
            <a:off x="6858016" y="4000504"/>
            <a:ext cx="1785950" cy="1785950"/>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Strategies to prevent underage drinking</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Checking upon entry</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Many establishments may have staff located at the door to ensure minors are not granted access </a:t>
            </a:r>
          </a:p>
          <a:p>
            <a:pPr>
              <a:spcBef>
                <a:spcPts val="600"/>
              </a:spcBef>
              <a:spcAft>
                <a:spcPts val="1200"/>
              </a:spcAft>
            </a:pPr>
            <a:r>
              <a:rPr lang="en-AU" sz="2200" dirty="0" smtClean="0">
                <a:latin typeface="Helvetica" pitchFamily="34" charset="0"/>
              </a:rPr>
              <a:t>If there are no allocated staff, it should be the responsibility of staff to observe new arrivals</a:t>
            </a:r>
          </a:p>
          <a:p>
            <a:pPr>
              <a:spcBef>
                <a:spcPts val="600"/>
              </a:spcBef>
              <a:spcAft>
                <a:spcPts val="1200"/>
              </a:spcAft>
            </a:pPr>
            <a:r>
              <a:rPr lang="en-AU" sz="2200" dirty="0" smtClean="0">
                <a:latin typeface="Helvetica" pitchFamily="34" charset="0"/>
              </a:rPr>
              <a:t>This check is also helpful in identifying </a:t>
            </a:r>
            <a:r>
              <a:rPr lang="en-AU" sz="2200" dirty="0" smtClean="0">
                <a:latin typeface="Helvetica" pitchFamily="34" charset="0"/>
              </a:rPr>
              <a:t>intoxicated persons </a:t>
            </a:r>
            <a:r>
              <a:rPr lang="en-AU" sz="2200" dirty="0" smtClean="0">
                <a:latin typeface="Helvetica" pitchFamily="34" charset="0"/>
              </a:rPr>
              <a:t>entering the </a:t>
            </a:r>
            <a:r>
              <a:rPr lang="en-AU" sz="2200" dirty="0" smtClean="0">
                <a:latin typeface="Helvetica" pitchFamily="34" charset="0"/>
              </a:rPr>
              <a:t>venue.</a:t>
            </a:r>
            <a:endParaRPr lang="en-AU" sz="2200" dirty="0" smtClean="0">
              <a:latin typeface="Helvetica" pitchFamily="34" charset="0"/>
            </a:endParaRPr>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7" name="imgHvThumb" descr="view details"/>
          <p:cNvPicPr/>
          <p:nvPr/>
        </p:nvPicPr>
        <p:blipFill>
          <a:blip r:embed="rId3" cstate="print"/>
          <a:srcRect/>
          <a:stretch>
            <a:fillRect/>
          </a:stretch>
        </p:blipFill>
        <p:spPr bwMode="auto">
          <a:xfrm>
            <a:off x="3893339" y="4857760"/>
            <a:ext cx="1357322" cy="12971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Strategies to prevent underage drinking</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Requesting identification</a:t>
            </a:r>
          </a:p>
          <a:p>
            <a:pPr marL="0">
              <a:spcBef>
                <a:spcPts val="600"/>
              </a:spcBef>
              <a:spcAft>
                <a:spcPts val="1200"/>
              </a:spcAft>
              <a:buNone/>
            </a:pPr>
            <a:r>
              <a:rPr lang="en-AU" sz="2200" dirty="0" smtClean="0">
                <a:latin typeface="Helvetica" pitchFamily="34" charset="0"/>
              </a:rPr>
              <a:t>Whilst each country will have their own forms of approved identification, these may include:</a:t>
            </a:r>
          </a:p>
          <a:p>
            <a:pPr lvl="0">
              <a:spcBef>
                <a:spcPts val="600"/>
              </a:spcBef>
              <a:spcAft>
                <a:spcPts val="1200"/>
              </a:spcAft>
            </a:pPr>
            <a:r>
              <a:rPr lang="en-AU" sz="2200" dirty="0" smtClean="0">
                <a:latin typeface="Helvetica" pitchFamily="34" charset="0"/>
              </a:rPr>
              <a:t>Photographic Drivers Licence </a:t>
            </a:r>
          </a:p>
          <a:p>
            <a:pPr lvl="0">
              <a:spcBef>
                <a:spcPts val="600"/>
              </a:spcBef>
              <a:spcAft>
                <a:spcPts val="1200"/>
              </a:spcAft>
            </a:pPr>
            <a:r>
              <a:rPr lang="en-AU" sz="2200" dirty="0" smtClean="0">
                <a:latin typeface="Helvetica" pitchFamily="34" charset="0"/>
              </a:rPr>
              <a:t>Passport </a:t>
            </a:r>
          </a:p>
          <a:p>
            <a:pPr lvl="0">
              <a:spcBef>
                <a:spcPts val="600"/>
              </a:spcBef>
              <a:spcAft>
                <a:spcPts val="1200"/>
              </a:spcAft>
            </a:pPr>
            <a:r>
              <a:rPr lang="en-AU" sz="2200" dirty="0" smtClean="0">
                <a:latin typeface="Helvetica" pitchFamily="34" charset="0"/>
              </a:rPr>
              <a:t>Proof of age card</a:t>
            </a:r>
          </a:p>
          <a:p>
            <a:pPr lvl="0">
              <a:spcBef>
                <a:spcPts val="600"/>
              </a:spcBef>
              <a:spcAft>
                <a:spcPts val="1200"/>
              </a:spcAft>
            </a:pPr>
            <a:r>
              <a:rPr lang="en-AU" sz="2200" dirty="0" smtClean="0">
                <a:latin typeface="Helvetica" pitchFamily="34" charset="0"/>
              </a:rPr>
              <a:t>Identification </a:t>
            </a:r>
            <a:r>
              <a:rPr lang="en-AU" sz="2200" dirty="0" smtClean="0">
                <a:latin typeface="Helvetica" pitchFamily="34" charset="0"/>
              </a:rPr>
              <a:t>booklet.</a:t>
            </a:r>
            <a:endParaRPr lang="en-AU" sz="2200" dirty="0" smtClean="0">
              <a:latin typeface="Helvetica" pitchFamily="34" charset="0"/>
            </a:endParaRPr>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6" name="Picture 5" descr="MP900385410[1].JPG"/>
          <p:cNvPicPr/>
          <p:nvPr/>
        </p:nvPicPr>
        <p:blipFill>
          <a:blip r:embed="rId3" cstate="print"/>
          <a:stretch>
            <a:fillRect/>
          </a:stretch>
        </p:blipFill>
        <p:spPr>
          <a:xfrm>
            <a:off x="6572264" y="2857496"/>
            <a:ext cx="1276350" cy="1790700"/>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Strategies to prevent underage drinking</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Checking identification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Always check them in a well lit area</a:t>
            </a:r>
          </a:p>
          <a:p>
            <a:pPr lvl="0">
              <a:spcBef>
                <a:spcPts val="600"/>
              </a:spcBef>
              <a:spcAft>
                <a:spcPts val="1200"/>
              </a:spcAft>
            </a:pPr>
            <a:r>
              <a:rPr lang="en-AU" sz="2200" dirty="0" smtClean="0">
                <a:latin typeface="Helvetica" pitchFamily="34" charset="0"/>
              </a:rPr>
              <a:t>Take the time to examine the identification carefully</a:t>
            </a:r>
          </a:p>
          <a:p>
            <a:pPr lvl="0">
              <a:spcBef>
                <a:spcPts val="600"/>
              </a:spcBef>
              <a:spcAft>
                <a:spcPts val="1200"/>
              </a:spcAft>
            </a:pPr>
            <a:r>
              <a:rPr lang="en-AU" sz="2200" dirty="0" smtClean="0">
                <a:latin typeface="Helvetica" pitchFamily="34" charset="0"/>
              </a:rPr>
              <a:t>Look for any signs that may indicate the identification is not real including:</a:t>
            </a:r>
          </a:p>
          <a:p>
            <a:pPr lvl="1">
              <a:spcBef>
                <a:spcPts val="600"/>
              </a:spcBef>
              <a:spcAft>
                <a:spcPts val="1200"/>
              </a:spcAft>
            </a:pPr>
            <a:r>
              <a:rPr lang="en-AU" sz="2200" dirty="0" smtClean="0">
                <a:latin typeface="Helvetica" pitchFamily="34" charset="0"/>
              </a:rPr>
              <a:t>Alternations of pages</a:t>
            </a:r>
          </a:p>
          <a:p>
            <a:pPr lvl="1">
              <a:spcBef>
                <a:spcPts val="600"/>
              </a:spcBef>
              <a:spcAft>
                <a:spcPts val="1200"/>
              </a:spcAft>
            </a:pPr>
            <a:r>
              <a:rPr lang="en-AU" sz="2200" dirty="0" smtClean="0">
                <a:latin typeface="Helvetica" pitchFamily="34" charset="0"/>
              </a:rPr>
              <a:t>Changing of photos</a:t>
            </a:r>
          </a:p>
          <a:p>
            <a:pPr lvl="1">
              <a:spcBef>
                <a:spcPts val="600"/>
              </a:spcBef>
              <a:spcAft>
                <a:spcPts val="1200"/>
              </a:spcAft>
            </a:pPr>
            <a:r>
              <a:rPr lang="en-AU" sz="2200" dirty="0" smtClean="0">
                <a:latin typeface="Helvetica" pitchFamily="34" charset="0"/>
              </a:rPr>
              <a:t>Changing of </a:t>
            </a:r>
            <a:r>
              <a:rPr lang="en-AU" sz="2200" dirty="0" smtClean="0">
                <a:latin typeface="Helvetica" pitchFamily="34" charset="0"/>
              </a:rPr>
              <a:t>date.</a:t>
            </a:r>
            <a:endParaRPr lang="en-AU" sz="2200" dirty="0" smtClean="0">
              <a:latin typeface="Helvetica" pitchFamily="34" charset="0"/>
            </a:endParaRPr>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7" name="imgHvThumb" descr="Identification card with picture"/>
          <p:cNvPicPr/>
          <p:nvPr/>
        </p:nvPicPr>
        <p:blipFill>
          <a:blip r:embed="rId3" cstate="print"/>
          <a:srcRect/>
          <a:stretch>
            <a:fillRect/>
          </a:stretch>
        </p:blipFill>
        <p:spPr bwMode="auto">
          <a:xfrm>
            <a:off x="6215074" y="4000504"/>
            <a:ext cx="1343072" cy="118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Strategies to prevent underage drinking</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Checking identification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Ask for supporting identification is you are unsure of the authenticity of the identification</a:t>
            </a:r>
          </a:p>
          <a:p>
            <a:pPr lvl="0">
              <a:spcBef>
                <a:spcPts val="600"/>
              </a:spcBef>
              <a:spcAft>
                <a:spcPts val="1200"/>
              </a:spcAft>
            </a:pPr>
            <a:r>
              <a:rPr lang="en-AU" sz="2200" dirty="0" smtClean="0">
                <a:latin typeface="Helvetica" pitchFamily="34" charset="0"/>
              </a:rPr>
              <a:t>Get the person to sign a document to </a:t>
            </a:r>
            <a:r>
              <a:rPr lang="en-AU" sz="2200" dirty="0" smtClean="0">
                <a:latin typeface="Helvetica" pitchFamily="34" charset="0"/>
              </a:rPr>
              <a:t>compare signatures </a:t>
            </a:r>
            <a:r>
              <a:rPr lang="en-AU" sz="2200" dirty="0" smtClean="0">
                <a:latin typeface="Helvetica" pitchFamily="34" charset="0"/>
              </a:rPr>
              <a:t>or to state the document is accurate</a:t>
            </a:r>
          </a:p>
          <a:p>
            <a:pPr lvl="0">
              <a:spcBef>
                <a:spcPts val="600"/>
              </a:spcBef>
              <a:spcAft>
                <a:spcPts val="1200"/>
              </a:spcAft>
            </a:pPr>
            <a:r>
              <a:rPr lang="en-AU" sz="2200" dirty="0" smtClean="0">
                <a:latin typeface="Helvetica" pitchFamily="34" charset="0"/>
              </a:rPr>
              <a:t>Ask questions to test the authenticity                                              of information on the </a:t>
            </a:r>
            <a:r>
              <a:rPr lang="en-AU" sz="2200" dirty="0" smtClean="0">
                <a:latin typeface="Helvetica" pitchFamily="34" charset="0"/>
              </a:rPr>
              <a:t>identification.</a:t>
            </a:r>
            <a:endParaRPr lang="en-AU" sz="2200" dirty="0" smtClean="0">
              <a:latin typeface="Helvetica" pitchFamily="34" charset="0"/>
            </a:endParaRPr>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5122" name="Picture 2" descr="C:\Documents and Settings\danielc\Desktop\3747484029_college_bar_san_diego_check_id-71675319029_xlarge.jpeg"/>
          <p:cNvPicPr>
            <a:picLocks noChangeAspect="1" noChangeArrowheads="1"/>
          </p:cNvPicPr>
          <p:nvPr/>
        </p:nvPicPr>
        <p:blipFill>
          <a:blip r:embed="rId3" cstate="print">
            <a:grayscl/>
            <a:lum bright="10000"/>
          </a:blip>
          <a:srcRect/>
          <a:stretch>
            <a:fillRect/>
          </a:stretch>
        </p:blipFill>
        <p:spPr bwMode="auto">
          <a:xfrm>
            <a:off x="6072198" y="4143380"/>
            <a:ext cx="2271708" cy="1703781"/>
          </a:xfrm>
          <a:prstGeom prst="rect">
            <a:avLst/>
          </a:prstGeom>
          <a:noFill/>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Strategies to prevent underage drinking</a:t>
            </a:r>
          </a:p>
        </p:txBody>
      </p:sp>
      <p:sp>
        <p:nvSpPr>
          <p:cNvPr id="3" name="Content Placeholder 2"/>
          <p:cNvSpPr>
            <a:spLocks noGrp="1"/>
          </p:cNvSpPr>
          <p:nvPr>
            <p:ph idx="1"/>
          </p:nvPr>
        </p:nvSpPr>
        <p:spPr>
          <a:xfrm>
            <a:off x="611560" y="1556792"/>
            <a:ext cx="7818092" cy="4896544"/>
          </a:xfrm>
        </p:spPr>
        <p:txBody>
          <a:bodyPr>
            <a:normAutofit/>
          </a:bodyPr>
          <a:lstStyle/>
          <a:p>
            <a:pPr>
              <a:spcBef>
                <a:spcPts val="600"/>
              </a:spcBef>
              <a:spcAft>
                <a:spcPts val="1200"/>
              </a:spcAft>
              <a:buNone/>
            </a:pPr>
            <a:r>
              <a:rPr lang="en-AU" sz="2200" b="1" dirty="0" smtClean="0">
                <a:latin typeface="Helvetica" pitchFamily="34" charset="0"/>
              </a:rPr>
              <a:t>Handling fake identification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If you think that a person has given you a </a:t>
            </a:r>
            <a:r>
              <a:rPr lang="en-AU" sz="2200" dirty="0" smtClean="0">
                <a:latin typeface="Helvetica" pitchFamily="34" charset="0"/>
              </a:rPr>
              <a:t>fake identification,</a:t>
            </a:r>
            <a:br>
              <a:rPr lang="en-AU" sz="2200" dirty="0" smtClean="0">
                <a:latin typeface="Helvetica" pitchFamily="34" charset="0"/>
              </a:rPr>
            </a:br>
            <a:r>
              <a:rPr lang="en-AU" sz="2200" dirty="0" smtClean="0">
                <a:latin typeface="Helvetica" pitchFamily="34" charset="0"/>
              </a:rPr>
              <a:t>it </a:t>
            </a:r>
            <a:r>
              <a:rPr lang="en-AU" sz="2200" dirty="0" smtClean="0">
                <a:latin typeface="Helvetica" pitchFamily="34" charset="0"/>
              </a:rPr>
              <a:t>is good practice to:</a:t>
            </a:r>
          </a:p>
          <a:p>
            <a:pPr lvl="0">
              <a:spcBef>
                <a:spcPts val="600"/>
              </a:spcBef>
              <a:spcAft>
                <a:spcPts val="1200"/>
              </a:spcAft>
            </a:pPr>
            <a:r>
              <a:rPr lang="en-AU" sz="2200" dirty="0" smtClean="0">
                <a:latin typeface="Helvetica" pitchFamily="34" charset="0"/>
              </a:rPr>
              <a:t>Refuse the person entry</a:t>
            </a:r>
          </a:p>
          <a:p>
            <a:pPr lvl="0">
              <a:spcBef>
                <a:spcPts val="600"/>
              </a:spcBef>
              <a:spcAft>
                <a:spcPts val="1200"/>
              </a:spcAft>
            </a:pPr>
            <a:r>
              <a:rPr lang="en-AU" sz="2200" dirty="0" smtClean="0">
                <a:latin typeface="Helvetica" pitchFamily="34" charset="0"/>
              </a:rPr>
              <a:t>Keep the identification</a:t>
            </a:r>
          </a:p>
          <a:p>
            <a:pPr lvl="0">
              <a:spcBef>
                <a:spcPts val="600"/>
              </a:spcBef>
              <a:spcAft>
                <a:spcPts val="1200"/>
              </a:spcAft>
            </a:pPr>
            <a:r>
              <a:rPr lang="en-AU" sz="2200" dirty="0" smtClean="0">
                <a:latin typeface="Helvetica" pitchFamily="34" charset="0"/>
              </a:rPr>
              <a:t>Give the identification to the relevant </a:t>
            </a:r>
            <a:r>
              <a:rPr lang="en-AU" sz="2200" dirty="0" smtClean="0">
                <a:latin typeface="Helvetica" pitchFamily="34" charset="0"/>
              </a:rPr>
              <a:t>authorities.</a:t>
            </a:r>
            <a:endParaRPr lang="en-AU" sz="2200" dirty="0" smtClean="0">
              <a:latin typeface="Helvetica" pitchFamily="34" charset="0"/>
            </a:endParaRPr>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237570" name="Picture 2" descr="http://t2.gstatic.com/images?q=tbn:ANd9GcTRXFqM1gjC6QDuch2NWk1_7O5oD3dgC6sVzU6qLB3iaLCrnXwfh9L5mQ">
            <a:hlinkClick r:id="rId3"/>
          </p:cNvPr>
          <p:cNvPicPr>
            <a:picLocks noChangeAspect="1" noChangeArrowheads="1"/>
          </p:cNvPicPr>
          <p:nvPr/>
        </p:nvPicPr>
        <p:blipFill>
          <a:blip r:embed="rId4" cstate="print"/>
          <a:srcRect/>
          <a:stretch>
            <a:fillRect/>
          </a:stretch>
        </p:blipFill>
        <p:spPr bwMode="auto">
          <a:xfrm>
            <a:off x="7072330" y="2786058"/>
            <a:ext cx="1263223" cy="1313251"/>
          </a:xfrm>
          <a:prstGeom prst="rect">
            <a:avLst/>
          </a:prstGeom>
          <a:noFill/>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Strategies to prevent underage drinking</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Observe drinkers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In many establishments, minors are allowed into a wide variety of food and beverage outlets that serve both food and </a:t>
            </a:r>
            <a:r>
              <a:rPr lang="en-AU" sz="2200" dirty="0" smtClean="0">
                <a:latin typeface="Helvetica" pitchFamily="34" charset="0"/>
              </a:rPr>
              <a:t>beverage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Staff should observe people who are drinking </a:t>
            </a:r>
            <a:r>
              <a:rPr lang="en-AU" sz="2200" dirty="0" smtClean="0">
                <a:latin typeface="Helvetica" pitchFamily="34" charset="0"/>
              </a:rPr>
              <a:t>alcohol</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In some cases, adults may have purchased these drinks on their behalf.</a:t>
            </a:r>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Complying with laws</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dirty="0" smtClean="0">
                <a:latin typeface="Helvetica" pitchFamily="34" charset="0"/>
              </a:rPr>
              <a:t>All businesses that serve food and beverage will have a series of laws in which they must comply.</a:t>
            </a:r>
          </a:p>
          <a:p>
            <a:pPr marL="0">
              <a:spcBef>
                <a:spcPts val="600"/>
              </a:spcBef>
              <a:spcAft>
                <a:spcPts val="1200"/>
              </a:spcAft>
              <a:buNone/>
            </a:pPr>
            <a:r>
              <a:rPr lang="en-AU" sz="2200" dirty="0" smtClean="0">
                <a:latin typeface="Helvetica" pitchFamily="34" charset="0"/>
              </a:rPr>
              <a:t>Licensing law is the set of legal rules governing the sale of alcohol in a given jurisdiction. </a:t>
            </a:r>
          </a:p>
          <a:p>
            <a:pPr>
              <a:spcBef>
                <a:spcPts val="600"/>
              </a:spcBef>
              <a:spcAft>
                <a:spcPts val="1200"/>
              </a:spcAft>
              <a:buNone/>
            </a:pPr>
            <a:r>
              <a:rPr lang="en-AU" sz="2200" dirty="0" smtClean="0">
                <a:latin typeface="Helvetica" pitchFamily="34" charset="0"/>
              </a:rPr>
              <a:t>It usually defines who can:</a:t>
            </a:r>
          </a:p>
          <a:p>
            <a:pPr>
              <a:spcBef>
                <a:spcPts val="600"/>
              </a:spcBef>
              <a:spcAft>
                <a:spcPts val="1200"/>
              </a:spcAft>
            </a:pPr>
            <a:r>
              <a:rPr lang="en-AU" sz="2200" dirty="0" smtClean="0">
                <a:latin typeface="Helvetica" pitchFamily="34" charset="0"/>
              </a:rPr>
              <a:t>Sell or supply alcohol</a:t>
            </a:r>
          </a:p>
          <a:p>
            <a:pPr>
              <a:spcBef>
                <a:spcPts val="600"/>
              </a:spcBef>
              <a:spcAft>
                <a:spcPts val="1200"/>
              </a:spcAft>
            </a:pPr>
            <a:r>
              <a:rPr lang="en-AU" sz="2200" dirty="0" smtClean="0">
                <a:latin typeface="Helvetica" pitchFamily="34" charset="0"/>
              </a:rPr>
              <a:t>When, where and to </a:t>
            </a:r>
            <a:r>
              <a:rPr lang="en-AU" sz="2200" dirty="0" smtClean="0">
                <a:latin typeface="Helvetica" pitchFamily="34" charset="0"/>
              </a:rPr>
              <a:t>whom.</a:t>
            </a:r>
            <a:endParaRPr lang="en-AU" sz="2200" dirty="0" smtClean="0">
              <a:latin typeface="Helvetica" pitchFamily="34" charset="0"/>
            </a:endParaRPr>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6" name="Picture 5" descr="MP900409565[1].JPG"/>
          <p:cNvPicPr>
            <a:picLocks noChangeAspect="1"/>
          </p:cNvPicPr>
          <p:nvPr/>
        </p:nvPicPr>
        <p:blipFill>
          <a:blip r:embed="rId3" cstate="print"/>
          <a:stretch>
            <a:fillRect/>
          </a:stretch>
        </p:blipFill>
        <p:spPr>
          <a:xfrm>
            <a:off x="6715140" y="3214686"/>
            <a:ext cx="1140100" cy="1709315"/>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Complying with laws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pPr>
            <a:r>
              <a:rPr lang="en-AU" sz="2200" dirty="0" smtClean="0">
                <a:latin typeface="Helvetica" pitchFamily="34" charset="0"/>
              </a:rPr>
              <a:t>Generally the underlying purpose of licensing law is to act as a protection against any potential harm to public order or to public </a:t>
            </a:r>
            <a:r>
              <a:rPr lang="en-AU" sz="2200" dirty="0" smtClean="0">
                <a:latin typeface="Helvetica" pitchFamily="34" charset="0"/>
              </a:rPr>
              <a:t>health</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This is sometimes stated in the law.</a:t>
            </a:r>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7" name="Picture 6" descr="Open-License.jpg"/>
          <p:cNvPicPr>
            <a:picLocks noChangeAspect="1"/>
          </p:cNvPicPr>
          <p:nvPr/>
        </p:nvPicPr>
        <p:blipFill>
          <a:blip r:embed="rId3" cstate="print">
            <a:grayscl/>
          </a:blip>
          <a:stretch>
            <a:fillRect/>
          </a:stretch>
        </p:blipFill>
        <p:spPr>
          <a:xfrm>
            <a:off x="3341690" y="3714752"/>
            <a:ext cx="2460620" cy="2022629"/>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Types of laws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License to sell</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Most countries that have restrictions on who can buy alcohol, will also have restrictions on who can do the selling</a:t>
            </a:r>
          </a:p>
          <a:p>
            <a:pPr>
              <a:spcBef>
                <a:spcPts val="600"/>
              </a:spcBef>
              <a:spcAft>
                <a:spcPts val="1200"/>
              </a:spcAft>
            </a:pPr>
            <a:r>
              <a:rPr lang="en-AU" sz="2200" dirty="0" smtClean="0">
                <a:latin typeface="Helvetica" pitchFamily="34" charset="0"/>
              </a:rPr>
              <a:t>In order to sell alcohol, you may have to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obtain </a:t>
            </a:r>
            <a:r>
              <a:rPr lang="en-AU" sz="2200" dirty="0" smtClean="0">
                <a:latin typeface="Helvetica" pitchFamily="34" charset="0"/>
              </a:rPr>
              <a:t>a permit or license </a:t>
            </a:r>
          </a:p>
          <a:p>
            <a:pPr>
              <a:spcBef>
                <a:spcPts val="600"/>
              </a:spcBef>
              <a:spcAft>
                <a:spcPts val="1200"/>
              </a:spcAft>
            </a:pPr>
            <a:r>
              <a:rPr lang="en-AU" sz="2200" dirty="0" smtClean="0">
                <a:latin typeface="Helvetica" pitchFamily="34" charset="0"/>
              </a:rPr>
              <a:t>The license may simply permit you to sell                      alcohol in general or may have </a:t>
            </a:r>
            <a:r>
              <a:rPr lang="en-AU" sz="2200" dirty="0" smtClean="0">
                <a:latin typeface="Helvetica" pitchFamily="34" charset="0"/>
              </a:rPr>
              <a:t>stipulations.</a:t>
            </a:r>
            <a:endParaRPr lang="en-AU" sz="2200" dirty="0" smtClean="0">
              <a:latin typeface="Helvetica" pitchFamily="34" charset="0"/>
            </a:endParaRPr>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7" name="Picture 6" descr="MP900432803[1].JPG"/>
          <p:cNvPicPr>
            <a:picLocks noChangeAspect="1"/>
          </p:cNvPicPr>
          <p:nvPr/>
        </p:nvPicPr>
        <p:blipFill>
          <a:blip r:embed="rId3" cstate="print"/>
          <a:stretch>
            <a:fillRect/>
          </a:stretch>
        </p:blipFill>
        <p:spPr>
          <a:xfrm>
            <a:off x="6929454" y="3143248"/>
            <a:ext cx="1387867" cy="1892545"/>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Types of laws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License to sell</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Stipulations include:</a:t>
            </a:r>
          </a:p>
          <a:p>
            <a:pPr lvl="0">
              <a:spcBef>
                <a:spcPts val="600"/>
              </a:spcBef>
              <a:spcAft>
                <a:spcPts val="1200"/>
              </a:spcAft>
            </a:pPr>
            <a:r>
              <a:rPr lang="en-AU" sz="2200" dirty="0" smtClean="0">
                <a:latin typeface="Helvetica" pitchFamily="34" charset="0"/>
              </a:rPr>
              <a:t>In which areas of the establishment it may be sold</a:t>
            </a:r>
          </a:p>
          <a:p>
            <a:pPr lvl="0">
              <a:spcBef>
                <a:spcPts val="600"/>
              </a:spcBef>
              <a:spcAft>
                <a:spcPts val="1200"/>
              </a:spcAft>
            </a:pPr>
            <a:r>
              <a:rPr lang="en-AU" sz="2200" dirty="0" smtClean="0">
                <a:latin typeface="Helvetica" pitchFamily="34" charset="0"/>
              </a:rPr>
              <a:t>What may be sold</a:t>
            </a:r>
          </a:p>
          <a:p>
            <a:pPr lvl="0">
              <a:spcBef>
                <a:spcPts val="600"/>
              </a:spcBef>
              <a:spcAft>
                <a:spcPts val="1200"/>
              </a:spcAft>
            </a:pPr>
            <a:r>
              <a:rPr lang="en-AU" sz="2200" dirty="0" smtClean="0">
                <a:latin typeface="Helvetica" pitchFamily="34" charset="0"/>
              </a:rPr>
              <a:t>At what times sales can be made</a:t>
            </a:r>
          </a:p>
          <a:p>
            <a:pPr lvl="0">
              <a:spcBef>
                <a:spcPts val="600"/>
              </a:spcBef>
              <a:spcAft>
                <a:spcPts val="1200"/>
              </a:spcAft>
            </a:pPr>
            <a:r>
              <a:rPr lang="en-AU" sz="2200" dirty="0" smtClean="0">
                <a:latin typeface="Helvetica" pitchFamily="34" charset="0"/>
              </a:rPr>
              <a:t>If alcohol is allowed to be brought into </a:t>
            </a:r>
            <a:r>
              <a:rPr lang="en-AU" sz="2200" dirty="0" smtClean="0">
                <a:latin typeface="Helvetica" pitchFamily="34" charset="0"/>
              </a:rPr>
              <a:t>the </a:t>
            </a:r>
            <a:br>
              <a:rPr lang="en-AU" sz="2200" dirty="0" smtClean="0">
                <a:latin typeface="Helvetica" pitchFamily="34" charset="0"/>
              </a:rPr>
            </a:br>
            <a:r>
              <a:rPr lang="en-AU" sz="2200" dirty="0" smtClean="0">
                <a:latin typeface="Helvetica" pitchFamily="34" charset="0"/>
              </a:rPr>
              <a:t>venue </a:t>
            </a:r>
            <a:r>
              <a:rPr lang="en-AU" sz="2200" dirty="0" smtClean="0">
                <a:latin typeface="Helvetica" pitchFamily="34" charset="0"/>
              </a:rPr>
              <a:t>for </a:t>
            </a:r>
            <a:r>
              <a:rPr lang="en-AU" sz="2200" dirty="0" smtClean="0">
                <a:latin typeface="Helvetica" pitchFamily="34" charset="0"/>
              </a:rPr>
              <a:t>consumptions.</a:t>
            </a:r>
            <a:endParaRPr lang="en-AU" sz="2200" dirty="0" smtClean="0">
              <a:latin typeface="Helvetica" pitchFamily="34" charset="0"/>
            </a:endParaRPr>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7" name="Picture 6" descr="MP900400986[1].JPG"/>
          <p:cNvPicPr>
            <a:picLocks noChangeAspect="1"/>
          </p:cNvPicPr>
          <p:nvPr/>
        </p:nvPicPr>
        <p:blipFill>
          <a:blip r:embed="rId3" cstate="print"/>
          <a:stretch>
            <a:fillRect/>
          </a:stretch>
        </p:blipFill>
        <p:spPr>
          <a:xfrm>
            <a:off x="7000892" y="3286124"/>
            <a:ext cx="1273654" cy="1592457"/>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Types of laws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Establish policies and procedures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Establish house rules</a:t>
            </a:r>
          </a:p>
          <a:p>
            <a:pPr lvl="0">
              <a:spcBef>
                <a:spcPts val="600"/>
              </a:spcBef>
              <a:spcAft>
                <a:spcPts val="1200"/>
              </a:spcAft>
            </a:pPr>
            <a:r>
              <a:rPr lang="en-AU" sz="2200" dirty="0" smtClean="0">
                <a:latin typeface="Helvetica" pitchFamily="34" charset="0"/>
              </a:rPr>
              <a:t>Place appropriate signs in place</a:t>
            </a:r>
          </a:p>
          <a:p>
            <a:pPr lvl="0">
              <a:spcBef>
                <a:spcPts val="600"/>
              </a:spcBef>
              <a:spcAft>
                <a:spcPts val="1200"/>
              </a:spcAft>
            </a:pPr>
            <a:r>
              <a:rPr lang="en-AU" sz="2200" dirty="0" smtClean="0">
                <a:latin typeface="Helvetica" pitchFamily="34" charset="0"/>
              </a:rPr>
              <a:t>Ensure staff understand</a:t>
            </a:r>
          </a:p>
          <a:p>
            <a:pPr lvl="0">
              <a:spcBef>
                <a:spcPts val="600"/>
              </a:spcBef>
              <a:spcAft>
                <a:spcPts val="1200"/>
              </a:spcAft>
            </a:pPr>
            <a:r>
              <a:rPr lang="en-AU" sz="2200" dirty="0" smtClean="0">
                <a:latin typeface="Helvetica" pitchFamily="34" charset="0"/>
              </a:rPr>
              <a:t>Ensure compliance with policies                                          and </a:t>
            </a:r>
            <a:r>
              <a:rPr lang="en-AU" sz="2200" dirty="0" smtClean="0">
                <a:latin typeface="Helvetica" pitchFamily="34" charset="0"/>
              </a:rPr>
              <a:t>procedures.</a:t>
            </a:r>
            <a:endParaRPr lang="en-AU" sz="2200" dirty="0" smtClean="0">
              <a:latin typeface="Helvetica" pitchFamily="34" charset="0"/>
            </a:endParaRPr>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6146" name="Picture 2" descr="I:\Overseas Projects\PHOTOS\2012\compliance.jpeg"/>
          <p:cNvPicPr>
            <a:picLocks noChangeAspect="1" noChangeArrowheads="1"/>
          </p:cNvPicPr>
          <p:nvPr/>
        </p:nvPicPr>
        <p:blipFill>
          <a:blip r:embed="rId3" cstate="print"/>
          <a:srcRect/>
          <a:stretch>
            <a:fillRect/>
          </a:stretch>
        </p:blipFill>
        <p:spPr bwMode="auto">
          <a:xfrm>
            <a:off x="5929322" y="1928802"/>
            <a:ext cx="1962150" cy="2333625"/>
          </a:xfrm>
          <a:prstGeom prst="rect">
            <a:avLst/>
          </a:prstGeom>
          <a:noFill/>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Types of laws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Training of staff</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Management may need to ensure:</a:t>
            </a:r>
          </a:p>
          <a:p>
            <a:pPr lvl="0">
              <a:spcBef>
                <a:spcPts val="600"/>
              </a:spcBef>
              <a:spcAft>
                <a:spcPts val="1200"/>
              </a:spcAft>
            </a:pPr>
            <a:r>
              <a:rPr lang="en-AU" sz="2200" dirty="0" smtClean="0">
                <a:latin typeface="Helvetica" pitchFamily="34" charset="0"/>
              </a:rPr>
              <a:t>Correct types of staff – including security</a:t>
            </a:r>
          </a:p>
          <a:p>
            <a:pPr lvl="0">
              <a:spcBef>
                <a:spcPts val="600"/>
              </a:spcBef>
              <a:spcAft>
                <a:spcPts val="1200"/>
              </a:spcAft>
            </a:pPr>
            <a:r>
              <a:rPr lang="en-AU" sz="2200" dirty="0" smtClean="0">
                <a:latin typeface="Helvetica" pitchFamily="34" charset="0"/>
              </a:rPr>
              <a:t>Correct numbers of staff</a:t>
            </a:r>
          </a:p>
          <a:p>
            <a:pPr lvl="0">
              <a:spcBef>
                <a:spcPts val="600"/>
              </a:spcBef>
              <a:spcAft>
                <a:spcPts val="1200"/>
              </a:spcAft>
            </a:pPr>
            <a:r>
              <a:rPr lang="en-AU" sz="2200" dirty="0" smtClean="0">
                <a:latin typeface="Helvetica" pitchFamily="34" charset="0"/>
              </a:rPr>
              <a:t>Correct age of staff serving alcohol</a:t>
            </a:r>
          </a:p>
          <a:p>
            <a:pPr lvl="0">
              <a:spcBef>
                <a:spcPts val="600"/>
              </a:spcBef>
              <a:spcAft>
                <a:spcPts val="1200"/>
              </a:spcAft>
            </a:pPr>
            <a:r>
              <a:rPr lang="en-AU" sz="2200" dirty="0" smtClean="0">
                <a:latin typeface="Helvetica" pitchFamily="34" charset="0"/>
              </a:rPr>
              <a:t>Have technical knowledge and </a:t>
            </a:r>
            <a:r>
              <a:rPr lang="en-AU" sz="2200" dirty="0" smtClean="0">
                <a:latin typeface="Helvetica" pitchFamily="34" charset="0"/>
              </a:rPr>
              <a:t>skills.</a:t>
            </a:r>
            <a:endParaRPr lang="en-AU" sz="2200" dirty="0" smtClean="0">
              <a:latin typeface="Helvetica" pitchFamily="34" charset="0"/>
            </a:endParaRPr>
          </a:p>
          <a:p>
            <a:pPr lvl="0"/>
            <a:endParaRPr lang="en-AU" sz="2400" dirty="0" smtClean="0"/>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8" name="Picture 7" descr="Wine Tasting.jpg"/>
          <p:cNvPicPr/>
          <p:nvPr/>
        </p:nvPicPr>
        <p:blipFill>
          <a:blip r:embed="rId3" cstate="print"/>
          <a:stretch>
            <a:fillRect/>
          </a:stretch>
        </p:blipFill>
        <p:spPr>
          <a:xfrm>
            <a:off x="6286512" y="3357562"/>
            <a:ext cx="2030639" cy="1357322"/>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Types of laws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Training of staff</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Staff may be required to:</a:t>
            </a:r>
          </a:p>
          <a:p>
            <a:pPr lvl="0">
              <a:spcBef>
                <a:spcPts val="600"/>
              </a:spcBef>
              <a:spcAft>
                <a:spcPts val="1200"/>
              </a:spcAft>
            </a:pPr>
            <a:r>
              <a:rPr lang="en-AU" sz="2200" dirty="0" smtClean="0">
                <a:latin typeface="Helvetica" pitchFamily="34" charset="0"/>
              </a:rPr>
              <a:t>Undertake responsible service of alcohol courses</a:t>
            </a:r>
          </a:p>
          <a:p>
            <a:pPr lvl="0">
              <a:spcBef>
                <a:spcPts val="600"/>
              </a:spcBef>
              <a:spcAft>
                <a:spcPts val="1200"/>
              </a:spcAft>
            </a:pPr>
            <a:r>
              <a:rPr lang="en-AU" sz="2200" dirty="0" smtClean="0">
                <a:latin typeface="Helvetica" pitchFamily="34" charset="0"/>
              </a:rPr>
              <a:t>Gain certification in specific courses</a:t>
            </a:r>
          </a:p>
          <a:p>
            <a:pPr lvl="0">
              <a:spcBef>
                <a:spcPts val="600"/>
              </a:spcBef>
              <a:spcAft>
                <a:spcPts val="1200"/>
              </a:spcAft>
            </a:pPr>
            <a:r>
              <a:rPr lang="en-AU" sz="2200" dirty="0" smtClean="0">
                <a:latin typeface="Helvetica" pitchFamily="34" charset="0"/>
              </a:rPr>
              <a:t>Attend regular staff meetings to discuss RSA issues</a:t>
            </a:r>
          </a:p>
          <a:p>
            <a:pPr lvl="0">
              <a:spcBef>
                <a:spcPts val="600"/>
              </a:spcBef>
              <a:spcAft>
                <a:spcPts val="1200"/>
              </a:spcAft>
            </a:pPr>
            <a:r>
              <a:rPr lang="en-AU" sz="2200" dirty="0" smtClean="0">
                <a:latin typeface="Helvetica" pitchFamily="34" charset="0"/>
              </a:rPr>
              <a:t>Understand their responsibilities</a:t>
            </a:r>
          </a:p>
          <a:p>
            <a:pPr lvl="0">
              <a:spcBef>
                <a:spcPts val="600"/>
              </a:spcBef>
              <a:spcAft>
                <a:spcPts val="1200"/>
              </a:spcAft>
            </a:pPr>
            <a:r>
              <a:rPr lang="en-AU" sz="2200" dirty="0" smtClean="0">
                <a:latin typeface="Helvetica" pitchFamily="34" charset="0"/>
              </a:rPr>
              <a:t>Be properly trained and consistently                                       apply their training and knowledge                                              of RSA in the </a:t>
            </a:r>
            <a:r>
              <a:rPr lang="en-AU" sz="2200" dirty="0" smtClean="0">
                <a:latin typeface="Helvetica" pitchFamily="34" charset="0"/>
              </a:rPr>
              <a:t>workplace.</a:t>
            </a:r>
            <a:endParaRPr lang="en-AU" sz="2200" dirty="0" smtClean="0">
              <a:latin typeface="Helvetica" pitchFamily="34" charset="0"/>
            </a:endParaRPr>
          </a:p>
          <a:p>
            <a:pPr lvl="0"/>
            <a:endParaRPr lang="en-AU" sz="2400" dirty="0" smtClean="0"/>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6" name="Picture 5" descr="Bar 1.jpg"/>
          <p:cNvPicPr/>
          <p:nvPr/>
        </p:nvPicPr>
        <p:blipFill>
          <a:blip r:embed="rId3" cstate="print"/>
          <a:stretch>
            <a:fillRect/>
          </a:stretch>
        </p:blipFill>
        <p:spPr>
          <a:xfrm>
            <a:off x="5643570" y="1142984"/>
            <a:ext cx="1932593" cy="1259746"/>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Types of laws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Documentation of systems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 order to prove that you are complying with the laws, it is good practice to keep records to show what systems you have in place including: </a:t>
            </a:r>
          </a:p>
          <a:p>
            <a:pPr>
              <a:spcBef>
                <a:spcPts val="600"/>
              </a:spcBef>
              <a:spcAft>
                <a:spcPts val="1200"/>
              </a:spcAft>
            </a:pPr>
            <a:r>
              <a:rPr lang="en-AU" sz="2200" dirty="0" smtClean="0">
                <a:latin typeface="Helvetica" pitchFamily="34" charset="0"/>
              </a:rPr>
              <a:t>Training and Training Records </a:t>
            </a:r>
          </a:p>
          <a:p>
            <a:pPr>
              <a:spcBef>
                <a:spcPts val="600"/>
              </a:spcBef>
              <a:spcAft>
                <a:spcPts val="1200"/>
              </a:spcAft>
            </a:pPr>
            <a:r>
              <a:rPr lang="en-AU" sz="2200" dirty="0" smtClean="0">
                <a:latin typeface="Helvetica" pitchFamily="34" charset="0"/>
              </a:rPr>
              <a:t>Incident Diary </a:t>
            </a:r>
          </a:p>
          <a:p>
            <a:pPr>
              <a:spcBef>
                <a:spcPts val="600"/>
              </a:spcBef>
              <a:spcAft>
                <a:spcPts val="1200"/>
              </a:spcAft>
            </a:pPr>
            <a:r>
              <a:rPr lang="en-AU" sz="2200" dirty="0" smtClean="0">
                <a:latin typeface="Helvetica" pitchFamily="34" charset="0"/>
              </a:rPr>
              <a:t>Refusals </a:t>
            </a:r>
            <a:r>
              <a:rPr lang="en-AU" sz="2200" dirty="0" smtClean="0">
                <a:latin typeface="Helvetica" pitchFamily="34" charset="0"/>
              </a:rPr>
              <a:t>Book.</a:t>
            </a:r>
            <a:endParaRPr lang="en-AU" sz="2200" dirty="0" smtClean="0">
              <a:latin typeface="Helvetica" pitchFamily="34" charset="0"/>
            </a:endParaRPr>
          </a:p>
          <a:p>
            <a:endParaRPr lang="en-AU" sz="2400" dirty="0" smtClean="0"/>
          </a:p>
          <a:p>
            <a:pPr lvl="0"/>
            <a:endParaRPr lang="en-AU" sz="2400" dirty="0" smtClean="0"/>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7" name="Picture 6" descr="MP900422389[1].JPG"/>
          <p:cNvPicPr/>
          <p:nvPr/>
        </p:nvPicPr>
        <p:blipFill>
          <a:blip r:embed="rId3" cstate="print"/>
          <a:stretch>
            <a:fillRect/>
          </a:stretch>
        </p:blipFill>
        <p:spPr>
          <a:xfrm>
            <a:off x="6438178" y="3143248"/>
            <a:ext cx="1396147" cy="2071702"/>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Types of laws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Recording Incidents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You should record all incidents for a variety of reasons:</a:t>
            </a:r>
          </a:p>
          <a:p>
            <a:pPr lvl="0">
              <a:spcBef>
                <a:spcPts val="600"/>
              </a:spcBef>
              <a:spcAft>
                <a:spcPts val="1200"/>
              </a:spcAft>
            </a:pPr>
            <a:r>
              <a:rPr lang="en-AU" sz="2200" dirty="0" smtClean="0">
                <a:latin typeface="Helvetica" pitchFamily="34" charset="0"/>
              </a:rPr>
              <a:t>It can be used as a learning tool and can assist in communication between staff and management</a:t>
            </a:r>
          </a:p>
          <a:p>
            <a:pPr lvl="0">
              <a:spcBef>
                <a:spcPts val="600"/>
              </a:spcBef>
              <a:spcAft>
                <a:spcPts val="1200"/>
              </a:spcAft>
            </a:pPr>
            <a:r>
              <a:rPr lang="en-AU" sz="2200" dirty="0" smtClean="0">
                <a:latin typeface="Helvetica" pitchFamily="34" charset="0"/>
              </a:rPr>
              <a:t>It provides an accurate record for police,                      company or insurance purposes</a:t>
            </a:r>
          </a:p>
          <a:p>
            <a:pPr lvl="0">
              <a:spcBef>
                <a:spcPts val="600"/>
              </a:spcBef>
              <a:spcAft>
                <a:spcPts val="1200"/>
              </a:spcAft>
            </a:pPr>
            <a:r>
              <a:rPr lang="en-AU" sz="2200" dirty="0" smtClean="0">
                <a:latin typeface="Helvetica" pitchFamily="34" charset="0"/>
              </a:rPr>
              <a:t>It can help prevent similar incidents from                      happening </a:t>
            </a:r>
            <a:r>
              <a:rPr lang="en-AU" sz="2200" dirty="0" smtClean="0">
                <a:latin typeface="Helvetica" pitchFamily="34" charset="0"/>
              </a:rPr>
              <a:t>again.</a:t>
            </a:r>
            <a:endParaRPr lang="en-AU" sz="2200" dirty="0" smtClean="0">
              <a:latin typeface="Helvetica" pitchFamily="34" charset="0"/>
            </a:endParaRPr>
          </a:p>
          <a:p>
            <a:endParaRPr lang="en-AU" sz="2400" dirty="0" smtClean="0"/>
          </a:p>
          <a:p>
            <a:pPr lvl="0"/>
            <a:endParaRPr lang="en-AU" sz="2400" dirty="0" smtClean="0"/>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6" name="Picture 5" descr="MP900409469[1].JPG"/>
          <p:cNvPicPr>
            <a:picLocks noChangeAspect="1"/>
          </p:cNvPicPr>
          <p:nvPr/>
        </p:nvPicPr>
        <p:blipFill>
          <a:blip r:embed="rId3" cstate="print"/>
          <a:stretch>
            <a:fillRect/>
          </a:stretch>
        </p:blipFill>
        <p:spPr>
          <a:xfrm>
            <a:off x="6786578" y="3714752"/>
            <a:ext cx="1782966" cy="1189573"/>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200" b="1" dirty="0" smtClean="0">
                <a:solidFill>
                  <a:srgbClr val="FF6600"/>
                </a:solidFill>
                <a:latin typeface="Helvetica" pitchFamily="34" charset="0"/>
              </a:rPr>
              <a:t>Types of laws</a:t>
            </a:r>
          </a:p>
        </p:txBody>
      </p:sp>
      <p:sp>
        <p:nvSpPr>
          <p:cNvPr id="3" name="Content Placeholder 2"/>
          <p:cNvSpPr>
            <a:spLocks noGrp="1"/>
          </p:cNvSpPr>
          <p:nvPr>
            <p:ph idx="1"/>
          </p:nvPr>
        </p:nvSpPr>
        <p:spPr>
          <a:xfrm>
            <a:off x="611560" y="1556792"/>
            <a:ext cx="7467600" cy="4896544"/>
          </a:xfrm>
        </p:spPr>
        <p:txBody>
          <a:bodyPr>
            <a:normAutofit lnSpcReduction="10000"/>
          </a:bodyPr>
          <a:lstStyle/>
          <a:p>
            <a:pPr>
              <a:spcBef>
                <a:spcPts val="600"/>
              </a:spcBef>
              <a:spcAft>
                <a:spcPts val="1200"/>
              </a:spcAft>
              <a:buNone/>
            </a:pPr>
            <a:r>
              <a:rPr lang="en-AU" sz="2200" b="1" dirty="0" smtClean="0">
                <a:latin typeface="Helvetica" pitchFamily="34" charset="0"/>
              </a:rPr>
              <a:t>Recording Incidents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record should include the following:</a:t>
            </a:r>
          </a:p>
          <a:p>
            <a:pPr lvl="0">
              <a:spcBef>
                <a:spcPts val="600"/>
              </a:spcBef>
              <a:spcAft>
                <a:spcPts val="1200"/>
              </a:spcAft>
            </a:pPr>
            <a:r>
              <a:rPr lang="en-AU" sz="2200" dirty="0" smtClean="0">
                <a:latin typeface="Helvetica" pitchFamily="34" charset="0"/>
              </a:rPr>
              <a:t>Date</a:t>
            </a:r>
          </a:p>
          <a:p>
            <a:pPr lvl="0">
              <a:spcBef>
                <a:spcPts val="600"/>
              </a:spcBef>
              <a:spcAft>
                <a:spcPts val="1200"/>
              </a:spcAft>
            </a:pPr>
            <a:r>
              <a:rPr lang="en-AU" sz="2200" dirty="0" smtClean="0">
                <a:latin typeface="Helvetica" pitchFamily="34" charset="0"/>
              </a:rPr>
              <a:t>Time</a:t>
            </a:r>
          </a:p>
          <a:p>
            <a:pPr lvl="0">
              <a:spcBef>
                <a:spcPts val="600"/>
              </a:spcBef>
              <a:spcAft>
                <a:spcPts val="1200"/>
              </a:spcAft>
            </a:pPr>
            <a:r>
              <a:rPr lang="en-AU" sz="2200" dirty="0" smtClean="0">
                <a:latin typeface="Helvetica" pitchFamily="34" charset="0"/>
              </a:rPr>
              <a:t>What happened</a:t>
            </a:r>
          </a:p>
          <a:p>
            <a:pPr lvl="0">
              <a:spcBef>
                <a:spcPts val="600"/>
              </a:spcBef>
              <a:spcAft>
                <a:spcPts val="1200"/>
              </a:spcAft>
            </a:pPr>
            <a:r>
              <a:rPr lang="en-AU" sz="2200" dirty="0" smtClean="0">
                <a:latin typeface="Helvetica" pitchFamily="34" charset="0"/>
              </a:rPr>
              <a:t>Who was involved</a:t>
            </a:r>
          </a:p>
          <a:p>
            <a:pPr lvl="0">
              <a:spcBef>
                <a:spcPts val="600"/>
              </a:spcBef>
              <a:spcAft>
                <a:spcPts val="1200"/>
              </a:spcAft>
            </a:pPr>
            <a:r>
              <a:rPr lang="en-AU" sz="2200" dirty="0" smtClean="0">
                <a:latin typeface="Helvetica" pitchFamily="34" charset="0"/>
              </a:rPr>
              <a:t>How it was dealt with</a:t>
            </a:r>
          </a:p>
          <a:p>
            <a:pPr lvl="0">
              <a:spcBef>
                <a:spcPts val="600"/>
              </a:spcBef>
              <a:spcAft>
                <a:spcPts val="1200"/>
              </a:spcAft>
            </a:pPr>
            <a:r>
              <a:rPr lang="en-AU" sz="2200" dirty="0" smtClean="0">
                <a:latin typeface="Helvetica" pitchFamily="34" charset="0"/>
              </a:rPr>
              <a:t>Whether police were called</a:t>
            </a:r>
          </a:p>
          <a:p>
            <a:pPr>
              <a:spcBef>
                <a:spcPts val="600"/>
              </a:spcBef>
              <a:spcAft>
                <a:spcPts val="1200"/>
              </a:spcAft>
            </a:pPr>
            <a:r>
              <a:rPr lang="en-AU" sz="2200" dirty="0" smtClean="0">
                <a:latin typeface="Helvetica" pitchFamily="34" charset="0"/>
              </a:rPr>
              <a:t>Witness </a:t>
            </a:r>
            <a:r>
              <a:rPr lang="en-AU" sz="2200" dirty="0" smtClean="0">
                <a:latin typeface="Helvetica" pitchFamily="34" charset="0"/>
              </a:rPr>
              <a:t>information.</a:t>
            </a:r>
            <a:endParaRPr lang="en-AU" sz="2200" dirty="0" smtClean="0">
              <a:latin typeface="Helvetica" pitchFamily="34" charset="0"/>
            </a:endParaRPr>
          </a:p>
          <a:p>
            <a:pPr lvl="0"/>
            <a:endParaRPr lang="en-AU" sz="2400" dirty="0" smtClean="0"/>
          </a:p>
          <a:p>
            <a:pPr>
              <a:buNone/>
            </a:pPr>
            <a:endParaRPr lang="en-AU" sz="2400" dirty="0" smtClean="0"/>
          </a:p>
          <a:p>
            <a:pPr>
              <a:buNone/>
            </a:pPr>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7" name="Picture 6" descr="MP910220909[1].JPG"/>
          <p:cNvPicPr>
            <a:picLocks noChangeAspect="1"/>
          </p:cNvPicPr>
          <p:nvPr/>
        </p:nvPicPr>
        <p:blipFill>
          <a:blip r:embed="rId3" cstate="print"/>
          <a:stretch>
            <a:fillRect/>
          </a:stretch>
        </p:blipFill>
        <p:spPr>
          <a:xfrm>
            <a:off x="5857884" y="3000372"/>
            <a:ext cx="2062336" cy="2060848"/>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Finish:</a:t>
            </a:r>
          </a:p>
          <a:p>
            <a:pPr>
              <a:buNone/>
            </a:pPr>
            <a:r>
              <a:rPr lang="en-AU" sz="4000" dirty="0" smtClean="0">
                <a:solidFill>
                  <a:srgbClr val="FF6600"/>
                </a:solidFill>
              </a:rPr>
              <a:t>Thank you!</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5" name="Picture 4" descr="MP900430462[1].JPG"/>
          <p:cNvPicPr>
            <a:picLocks noChangeAspect="1"/>
          </p:cNvPicPr>
          <p:nvPr/>
        </p:nvPicPr>
        <p:blipFill>
          <a:blip r:embed="rId3" cstate="print"/>
          <a:stretch>
            <a:fillRect/>
          </a:stretch>
        </p:blipFill>
        <p:spPr>
          <a:xfrm>
            <a:off x="4929190" y="2071678"/>
            <a:ext cx="2990682" cy="2990682"/>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1761</TotalTime>
  <Words>8706</Words>
  <Application>Microsoft Office PowerPoint</Application>
  <PresentationFormat>On-screen Show (4:3)</PresentationFormat>
  <Paragraphs>1541</Paragraphs>
  <Slides>127</Slides>
  <Notes>127</Notes>
  <HiddenSlides>0</HiddenSlides>
  <MMClips>0</MMClips>
  <ScaleCrop>false</ScaleCrop>
  <HeadingPairs>
    <vt:vector size="4" baseType="variant">
      <vt:variant>
        <vt:lpstr>Theme</vt:lpstr>
      </vt:variant>
      <vt:variant>
        <vt:i4>1</vt:i4>
      </vt:variant>
      <vt:variant>
        <vt:lpstr>Slide Titles</vt:lpstr>
      </vt:variant>
      <vt:variant>
        <vt:i4>127</vt:i4>
      </vt:variant>
    </vt:vector>
  </HeadingPairs>
  <TitlesOfParts>
    <vt:vector size="128" baseType="lpstr">
      <vt:lpstr>ASEAN PPT Template 010611 MV</vt:lpstr>
      <vt:lpstr>Manage intoxicated  persons</vt:lpstr>
      <vt:lpstr>Subject Elements</vt:lpstr>
      <vt:lpstr>Assessment</vt:lpstr>
      <vt:lpstr>Slide 4</vt:lpstr>
      <vt:lpstr>Determine the level of intoxication</vt:lpstr>
      <vt:lpstr>Alcohol</vt:lpstr>
      <vt:lpstr>Alcohol</vt:lpstr>
      <vt:lpstr>Duty of care</vt:lpstr>
      <vt:lpstr>Duty of care</vt:lpstr>
      <vt:lpstr>Duty of care</vt:lpstr>
      <vt:lpstr>Responsible service of alcohol</vt:lpstr>
      <vt:lpstr>Responsible service of alcohol</vt:lpstr>
      <vt:lpstr>Responsible service of alcohol</vt:lpstr>
      <vt:lpstr>Responsible service of alcohol</vt:lpstr>
      <vt:lpstr>Responsible service of alcohol</vt:lpstr>
      <vt:lpstr>Alcohol</vt:lpstr>
      <vt:lpstr>Alcohol</vt:lpstr>
      <vt:lpstr>Alcohol</vt:lpstr>
      <vt:lpstr>Alcohol by volume</vt:lpstr>
      <vt:lpstr>Standard drink</vt:lpstr>
      <vt:lpstr>Standard drink</vt:lpstr>
      <vt:lpstr>Standard drink</vt:lpstr>
      <vt:lpstr>Standard drink</vt:lpstr>
      <vt:lpstr>Standard drink</vt:lpstr>
      <vt:lpstr>Determining ‘standard drink’</vt:lpstr>
      <vt:lpstr>Effects of alcohol</vt:lpstr>
      <vt:lpstr>Effects of alcohol</vt:lpstr>
      <vt:lpstr>Effects of alcohol</vt:lpstr>
      <vt:lpstr>Effects of alcohol</vt:lpstr>
      <vt:lpstr>Alcohol and the body</vt:lpstr>
      <vt:lpstr>Alcohol and the body</vt:lpstr>
      <vt:lpstr>Alcohol and the body</vt:lpstr>
      <vt:lpstr>Alcohol and the body</vt:lpstr>
      <vt:lpstr>Monitoring intoxication</vt:lpstr>
      <vt:lpstr>Monitoring intoxication</vt:lpstr>
      <vt:lpstr>Intoxication</vt:lpstr>
      <vt:lpstr>Intoxication</vt:lpstr>
      <vt:lpstr>Signs of intoxication</vt:lpstr>
      <vt:lpstr>Signs of intoxication</vt:lpstr>
      <vt:lpstr>Signs of intoxication</vt:lpstr>
      <vt:lpstr>Signs of intoxication</vt:lpstr>
      <vt:lpstr>Signs of intoxication</vt:lpstr>
      <vt:lpstr>Signs of intoxication</vt:lpstr>
      <vt:lpstr>Offering assistance</vt:lpstr>
      <vt:lpstr>Monitoring the environment</vt:lpstr>
      <vt:lpstr>Monitoring the environment</vt:lpstr>
      <vt:lpstr>Monitoring the environment</vt:lpstr>
      <vt:lpstr>Offering assistance</vt:lpstr>
      <vt:lpstr>Offering assistance</vt:lpstr>
      <vt:lpstr>Offering assistance</vt:lpstr>
      <vt:lpstr>Refer matters to appropriate people</vt:lpstr>
      <vt:lpstr>Refer matters to appropriate people</vt:lpstr>
      <vt:lpstr>Refer matters to internal staff</vt:lpstr>
      <vt:lpstr>Refer matters to internal staff</vt:lpstr>
      <vt:lpstr>Refer matters to external sources</vt:lpstr>
      <vt:lpstr>Refer matters to external sources</vt:lpstr>
      <vt:lpstr>Slide 57</vt:lpstr>
      <vt:lpstr>Apply appropriate procedures</vt:lpstr>
      <vt:lpstr>Establishing a safe venue and atmosphere</vt:lpstr>
      <vt:lpstr>Establishing a safe venue and atmosphere</vt:lpstr>
      <vt:lpstr>Drinking behaviour</vt:lpstr>
      <vt:lpstr>Drinking behaviour</vt:lpstr>
      <vt:lpstr>Drinking behaviour</vt:lpstr>
      <vt:lpstr>Creating the right environment</vt:lpstr>
      <vt:lpstr>Creating the right environment</vt:lpstr>
      <vt:lpstr>Creating the right environment</vt:lpstr>
      <vt:lpstr>Creating the right environment</vt:lpstr>
      <vt:lpstr>Creating the right environment</vt:lpstr>
      <vt:lpstr>Creating the right environment</vt:lpstr>
      <vt:lpstr>Assessing the situation</vt:lpstr>
      <vt:lpstr>Apply procedures</vt:lpstr>
      <vt:lpstr>House policy</vt:lpstr>
      <vt:lpstr>House policy</vt:lpstr>
      <vt:lpstr>House policy</vt:lpstr>
      <vt:lpstr>Signage</vt:lpstr>
      <vt:lpstr>Escalation Plan</vt:lpstr>
      <vt:lpstr>Identify and address current issues</vt:lpstr>
      <vt:lpstr>Identify and address current issues</vt:lpstr>
      <vt:lpstr>Identify and address current issues</vt:lpstr>
      <vt:lpstr>Identify and address current issues</vt:lpstr>
      <vt:lpstr>Steps when handling intoxicated patrons</vt:lpstr>
      <vt:lpstr>Steps when handling intoxicated patrons</vt:lpstr>
      <vt:lpstr>Handling complaints</vt:lpstr>
      <vt:lpstr>Handling complaints</vt:lpstr>
      <vt:lpstr>Handling complaints</vt:lpstr>
      <vt:lpstr>Handling potential problem situations</vt:lpstr>
      <vt:lpstr>Handling potential problem situations</vt:lpstr>
      <vt:lpstr>Handling potential problem situations</vt:lpstr>
      <vt:lpstr>Handling potential problem situations</vt:lpstr>
      <vt:lpstr>Handling potential problem situations</vt:lpstr>
      <vt:lpstr>Handling potential problem situations</vt:lpstr>
      <vt:lpstr>Handling potential problem situations</vt:lpstr>
      <vt:lpstr>Asking customers to leave premises</vt:lpstr>
      <vt:lpstr>Asking customers to leave premises</vt:lpstr>
      <vt:lpstr>Asking customers to leave premises</vt:lpstr>
      <vt:lpstr>Asking customers to leave premises</vt:lpstr>
      <vt:lpstr>Slide 97</vt:lpstr>
      <vt:lpstr>Comply with legislation</vt:lpstr>
      <vt:lpstr>Comply with legislation</vt:lpstr>
      <vt:lpstr>Legal considerations</vt:lpstr>
      <vt:lpstr>Legal considerations</vt:lpstr>
      <vt:lpstr>Underage drinkers</vt:lpstr>
      <vt:lpstr>Underage drinkers</vt:lpstr>
      <vt:lpstr>Underage drinkers</vt:lpstr>
      <vt:lpstr>Underage drinkers</vt:lpstr>
      <vt:lpstr>Underage drinkers</vt:lpstr>
      <vt:lpstr>Underage drinkers</vt:lpstr>
      <vt:lpstr>Underage drinkers</vt:lpstr>
      <vt:lpstr>Underage drinkers</vt:lpstr>
      <vt:lpstr>Underage drinkers</vt:lpstr>
      <vt:lpstr>Strategies to prevent underage drinking</vt:lpstr>
      <vt:lpstr>Strategies to prevent underage drinking</vt:lpstr>
      <vt:lpstr>Strategies to prevent underage drinking</vt:lpstr>
      <vt:lpstr>Strategies to prevent underage drinking</vt:lpstr>
      <vt:lpstr>Strategies to prevent underage drinking</vt:lpstr>
      <vt:lpstr>Strategies to prevent underage drinking</vt:lpstr>
      <vt:lpstr>Complying with laws</vt:lpstr>
      <vt:lpstr>Complying with laws</vt:lpstr>
      <vt:lpstr>Types of laws</vt:lpstr>
      <vt:lpstr>Types of laws</vt:lpstr>
      <vt:lpstr>Types of laws</vt:lpstr>
      <vt:lpstr>Types of laws</vt:lpstr>
      <vt:lpstr>Types of laws</vt:lpstr>
      <vt:lpstr>Types of laws</vt:lpstr>
      <vt:lpstr>Types of laws</vt:lpstr>
      <vt:lpstr>Types of laws</vt:lpstr>
      <vt:lpstr>Slide 127</vt:lpstr>
    </vt:vector>
  </TitlesOfParts>
  <Company>William Angliss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 intoxicated persons</dc:title>
  <dc:creator>Administrator</dc:creator>
  <cp:lastModifiedBy>Daniel James Chee</cp:lastModifiedBy>
  <cp:revision>154</cp:revision>
  <dcterms:created xsi:type="dcterms:W3CDTF">2012-02-06T01:18:06Z</dcterms:created>
  <dcterms:modified xsi:type="dcterms:W3CDTF">2012-05-07T02:21:12Z</dcterms:modified>
</cp:coreProperties>
</file>