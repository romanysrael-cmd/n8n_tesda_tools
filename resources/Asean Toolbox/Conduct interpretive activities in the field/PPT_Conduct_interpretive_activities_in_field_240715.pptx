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27"/>
  </p:notesMasterIdLst>
  <p:handoutMasterIdLst>
    <p:handoutMasterId r:id="rId228"/>
  </p:handoutMasterIdLst>
  <p:sldIdLst>
    <p:sldId id="256" r:id="rId2"/>
    <p:sldId id="296" r:id="rId3"/>
    <p:sldId id="297" r:id="rId4"/>
    <p:sldId id="298" r:id="rId5"/>
    <p:sldId id="257" r:id="rId6"/>
    <p:sldId id="310" r:id="rId7"/>
    <p:sldId id="311" r:id="rId8"/>
    <p:sldId id="312" r:id="rId9"/>
    <p:sldId id="313" r:id="rId10"/>
    <p:sldId id="314" r:id="rId11"/>
    <p:sldId id="315" r:id="rId12"/>
    <p:sldId id="316" r:id="rId13"/>
    <p:sldId id="317" r:id="rId14"/>
    <p:sldId id="318" r:id="rId15"/>
    <p:sldId id="319" r:id="rId16"/>
    <p:sldId id="320" r:id="rId17"/>
    <p:sldId id="361" r:id="rId18"/>
    <p:sldId id="362" r:id="rId19"/>
    <p:sldId id="363" r:id="rId20"/>
    <p:sldId id="364" r:id="rId21"/>
    <p:sldId id="365" r:id="rId22"/>
    <p:sldId id="366" r:id="rId23"/>
    <p:sldId id="367" r:id="rId24"/>
    <p:sldId id="368" r:id="rId25"/>
    <p:sldId id="369" r:id="rId26"/>
    <p:sldId id="370" r:id="rId27"/>
    <p:sldId id="371" r:id="rId28"/>
    <p:sldId id="372" r:id="rId29"/>
    <p:sldId id="307" r:id="rId30"/>
    <p:sldId id="381" r:id="rId31"/>
    <p:sldId id="382" r:id="rId32"/>
    <p:sldId id="383" r:id="rId33"/>
    <p:sldId id="384" r:id="rId34"/>
    <p:sldId id="385" r:id="rId35"/>
    <p:sldId id="386" r:id="rId36"/>
    <p:sldId id="387" r:id="rId37"/>
    <p:sldId id="378" r:id="rId38"/>
    <p:sldId id="388" r:id="rId39"/>
    <p:sldId id="389" r:id="rId40"/>
    <p:sldId id="390" r:id="rId41"/>
    <p:sldId id="391" r:id="rId42"/>
    <p:sldId id="392" r:id="rId43"/>
    <p:sldId id="393" r:id="rId44"/>
    <p:sldId id="394" r:id="rId45"/>
    <p:sldId id="395" r:id="rId46"/>
    <p:sldId id="396" r:id="rId47"/>
    <p:sldId id="380" r:id="rId48"/>
    <p:sldId id="409" r:id="rId49"/>
    <p:sldId id="410" r:id="rId50"/>
    <p:sldId id="411" r:id="rId51"/>
    <p:sldId id="412" r:id="rId52"/>
    <p:sldId id="397" r:id="rId53"/>
    <p:sldId id="413" r:id="rId54"/>
    <p:sldId id="414" r:id="rId55"/>
    <p:sldId id="415" r:id="rId56"/>
    <p:sldId id="416" r:id="rId57"/>
    <p:sldId id="417" r:id="rId58"/>
    <p:sldId id="418" r:id="rId59"/>
    <p:sldId id="419" r:id="rId60"/>
    <p:sldId id="398" r:id="rId61"/>
    <p:sldId id="420" r:id="rId62"/>
    <p:sldId id="421" r:id="rId63"/>
    <p:sldId id="422" r:id="rId64"/>
    <p:sldId id="423" r:id="rId65"/>
    <p:sldId id="424" r:id="rId66"/>
    <p:sldId id="425" r:id="rId67"/>
    <p:sldId id="427" r:id="rId68"/>
    <p:sldId id="428" r:id="rId69"/>
    <p:sldId id="432" r:id="rId70"/>
    <p:sldId id="433" r:id="rId71"/>
    <p:sldId id="434" r:id="rId72"/>
    <p:sldId id="435" r:id="rId73"/>
    <p:sldId id="399" r:id="rId74"/>
    <p:sldId id="429" r:id="rId75"/>
    <p:sldId id="430" r:id="rId76"/>
    <p:sldId id="400" r:id="rId77"/>
    <p:sldId id="436" r:id="rId78"/>
    <p:sldId id="437" r:id="rId79"/>
    <p:sldId id="438" r:id="rId80"/>
    <p:sldId id="401" r:id="rId81"/>
    <p:sldId id="439" r:id="rId82"/>
    <p:sldId id="440" r:id="rId83"/>
    <p:sldId id="441" r:id="rId84"/>
    <p:sldId id="402" r:id="rId85"/>
    <p:sldId id="442" r:id="rId86"/>
    <p:sldId id="443" r:id="rId87"/>
    <p:sldId id="445" r:id="rId88"/>
    <p:sldId id="446" r:id="rId89"/>
    <p:sldId id="447" r:id="rId90"/>
    <p:sldId id="448" r:id="rId91"/>
    <p:sldId id="449" r:id="rId92"/>
    <p:sldId id="450" r:id="rId93"/>
    <p:sldId id="451" r:id="rId94"/>
    <p:sldId id="452" r:id="rId95"/>
    <p:sldId id="403" r:id="rId96"/>
    <p:sldId id="453" r:id="rId97"/>
    <p:sldId id="454" r:id="rId98"/>
    <p:sldId id="405" r:id="rId99"/>
    <p:sldId id="455" r:id="rId100"/>
    <p:sldId id="456" r:id="rId101"/>
    <p:sldId id="457" r:id="rId102"/>
    <p:sldId id="458" r:id="rId103"/>
    <p:sldId id="459" r:id="rId104"/>
    <p:sldId id="460" r:id="rId105"/>
    <p:sldId id="482" r:id="rId106"/>
    <p:sldId id="483" r:id="rId107"/>
    <p:sldId id="484" r:id="rId108"/>
    <p:sldId id="485" r:id="rId109"/>
    <p:sldId id="486" r:id="rId110"/>
    <p:sldId id="487" r:id="rId111"/>
    <p:sldId id="488" r:id="rId112"/>
    <p:sldId id="489" r:id="rId113"/>
    <p:sldId id="406" r:id="rId114"/>
    <p:sldId id="498" r:id="rId115"/>
    <p:sldId id="499" r:id="rId116"/>
    <p:sldId id="500" r:id="rId117"/>
    <p:sldId id="501" r:id="rId118"/>
    <p:sldId id="502" r:id="rId119"/>
    <p:sldId id="503" r:id="rId120"/>
    <p:sldId id="510" r:id="rId121"/>
    <p:sldId id="504" r:id="rId122"/>
    <p:sldId id="505" r:id="rId123"/>
    <p:sldId id="511" r:id="rId124"/>
    <p:sldId id="407" r:id="rId125"/>
    <p:sldId id="512" r:id="rId126"/>
    <p:sldId id="513" r:id="rId127"/>
    <p:sldId id="514" r:id="rId128"/>
    <p:sldId id="515" r:id="rId129"/>
    <p:sldId id="516" r:id="rId130"/>
    <p:sldId id="490" r:id="rId131"/>
    <p:sldId id="517" r:id="rId132"/>
    <p:sldId id="518" r:id="rId133"/>
    <p:sldId id="527" r:id="rId134"/>
    <p:sldId id="528" r:id="rId135"/>
    <p:sldId id="519" r:id="rId136"/>
    <p:sldId id="520" r:id="rId137"/>
    <p:sldId id="521" r:id="rId138"/>
    <p:sldId id="491" r:id="rId139"/>
    <p:sldId id="529" r:id="rId140"/>
    <p:sldId id="530" r:id="rId141"/>
    <p:sldId id="531" r:id="rId142"/>
    <p:sldId id="532" r:id="rId143"/>
    <p:sldId id="492" r:id="rId144"/>
    <p:sldId id="533" r:id="rId145"/>
    <p:sldId id="534" r:id="rId146"/>
    <p:sldId id="535" r:id="rId147"/>
    <p:sldId id="536" r:id="rId148"/>
    <p:sldId id="537" r:id="rId149"/>
    <p:sldId id="538" r:id="rId150"/>
    <p:sldId id="546" r:id="rId151"/>
    <p:sldId id="539" r:id="rId152"/>
    <p:sldId id="540" r:id="rId153"/>
    <p:sldId id="541" r:id="rId154"/>
    <p:sldId id="547" r:id="rId155"/>
    <p:sldId id="542" r:id="rId156"/>
    <p:sldId id="543" r:id="rId157"/>
    <p:sldId id="544" r:id="rId158"/>
    <p:sldId id="548" r:id="rId159"/>
    <p:sldId id="493" r:id="rId160"/>
    <p:sldId id="549" r:id="rId161"/>
    <p:sldId id="550" r:id="rId162"/>
    <p:sldId id="551" r:id="rId163"/>
    <p:sldId id="552" r:id="rId164"/>
    <p:sldId id="555" r:id="rId165"/>
    <p:sldId id="556" r:id="rId166"/>
    <p:sldId id="494" r:id="rId167"/>
    <p:sldId id="557" r:id="rId168"/>
    <p:sldId id="558" r:id="rId169"/>
    <p:sldId id="559" r:id="rId170"/>
    <p:sldId id="495" r:id="rId171"/>
    <p:sldId id="560" r:id="rId172"/>
    <p:sldId id="586" r:id="rId173"/>
    <p:sldId id="561" r:id="rId174"/>
    <p:sldId id="562" r:id="rId175"/>
    <p:sldId id="587" r:id="rId176"/>
    <p:sldId id="588" r:id="rId177"/>
    <p:sldId id="589" r:id="rId178"/>
    <p:sldId id="590" r:id="rId179"/>
    <p:sldId id="591" r:id="rId180"/>
    <p:sldId id="563" r:id="rId181"/>
    <p:sldId id="564" r:id="rId182"/>
    <p:sldId id="565" r:id="rId183"/>
    <p:sldId id="496" r:id="rId184"/>
    <p:sldId id="592" r:id="rId185"/>
    <p:sldId id="593" r:id="rId186"/>
    <p:sldId id="594" r:id="rId187"/>
    <p:sldId id="595" r:id="rId188"/>
    <p:sldId id="596" r:id="rId189"/>
    <p:sldId id="597" r:id="rId190"/>
    <p:sldId id="598" r:id="rId191"/>
    <p:sldId id="599" r:id="rId192"/>
    <p:sldId id="600" r:id="rId193"/>
    <p:sldId id="601" r:id="rId194"/>
    <p:sldId id="329" r:id="rId195"/>
    <p:sldId id="330" r:id="rId196"/>
    <p:sldId id="331" r:id="rId197"/>
    <p:sldId id="332" r:id="rId198"/>
    <p:sldId id="333" r:id="rId199"/>
    <p:sldId id="334" r:id="rId200"/>
    <p:sldId id="335" r:id="rId201"/>
    <p:sldId id="336" r:id="rId202"/>
    <p:sldId id="337" r:id="rId203"/>
    <p:sldId id="338" r:id="rId204"/>
    <p:sldId id="339" r:id="rId205"/>
    <p:sldId id="340" r:id="rId206"/>
    <p:sldId id="341" r:id="rId207"/>
    <p:sldId id="342" r:id="rId208"/>
    <p:sldId id="343" r:id="rId209"/>
    <p:sldId id="344" r:id="rId210"/>
    <p:sldId id="345" r:id="rId211"/>
    <p:sldId id="346" r:id="rId212"/>
    <p:sldId id="347" r:id="rId213"/>
    <p:sldId id="348" r:id="rId214"/>
    <p:sldId id="349" r:id="rId215"/>
    <p:sldId id="350" r:id="rId216"/>
    <p:sldId id="351" r:id="rId217"/>
    <p:sldId id="352" r:id="rId218"/>
    <p:sldId id="353" r:id="rId219"/>
    <p:sldId id="354" r:id="rId220"/>
    <p:sldId id="355" r:id="rId221"/>
    <p:sldId id="356" r:id="rId222"/>
    <p:sldId id="357" r:id="rId223"/>
    <p:sldId id="358" r:id="rId224"/>
    <p:sldId id="359" r:id="rId225"/>
    <p:sldId id="360" r:id="rId22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142" autoAdjust="0"/>
    <p:restoredTop sz="40197" autoAdjust="0"/>
  </p:normalViewPr>
  <p:slideViewPr>
    <p:cSldViewPr>
      <p:cViewPr varScale="1">
        <p:scale>
          <a:sx n="37" d="100"/>
          <a:sy n="37" d="100"/>
        </p:scale>
        <p:origin x="2076"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27" Type="http://schemas.openxmlformats.org/officeDocument/2006/relationships/notesMaster" Target="notesMasters/notesMaster1.xml"/><Relationship Id="rId201" Type="http://schemas.openxmlformats.org/officeDocument/2006/relationships/slide" Target="slides/slide200.xml"/><Relationship Id="rId222" Type="http://schemas.openxmlformats.org/officeDocument/2006/relationships/slide" Target="slides/slide22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presProps" Target="presProps.xml"/><Relationship Id="rId19" Type="http://schemas.openxmlformats.org/officeDocument/2006/relationships/slide" Target="slides/slide18.xml"/><Relationship Id="rId224" Type="http://schemas.openxmlformats.org/officeDocument/2006/relationships/slide" Target="slides/slide223.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viewProps" Target="view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231" Type="http://schemas.openxmlformats.org/officeDocument/2006/relationships/theme" Target="theme/theme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7/11/2016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7/11/2016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nps.gov/idp/interp/101/foundationscurriculum.pdf%20pp%203%20-%204"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www.nps.gov/idp/interp/101/processmodel.pdf"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www.parks.ca.gov/pages/735/files/InterpPlanningWorkbookWEB2013.pdf"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3" Type="http://schemas.openxmlformats.org/officeDocument/2006/relationships/hyperlink" Target="http://www.nps.gov/idp/interp/103/103mod.pdf" TargetMode="External"/><Relationship Id="rId2" Type="http://schemas.openxmlformats.org/officeDocument/2006/relationships/slide" Target="../slides/slide104.xml"/><Relationship Id="rId1" Type="http://schemas.openxmlformats.org/officeDocument/2006/relationships/notesMaster" Target="../notesMasters/notesMaster1.xml"/><Relationship Id="rId5" Type="http://schemas.openxmlformats.org/officeDocument/2006/relationships/hyperlink" Target="http://www.nps.gov/idp/interp/220/220mod.pdf" TargetMode="External"/><Relationship Id="rId4" Type="http://schemas.openxmlformats.org/officeDocument/2006/relationships/hyperlink" Target="http://www.nps.gov/idp/interp/210/210mod.pdf" TargetMode="Externa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3" Type="http://schemas.openxmlformats.org/officeDocument/2006/relationships/hyperlink" Target="http://insight.typepad.co.uk/40_icebreakers_for_small_groups.pdf" TargetMode="External"/><Relationship Id="rId2" Type="http://schemas.openxmlformats.org/officeDocument/2006/relationships/slide" Target="../slides/slide114.xml"/><Relationship Id="rId1" Type="http://schemas.openxmlformats.org/officeDocument/2006/relationships/notesMaster" Target="../notesMasters/notesMaster1.xml"/><Relationship Id="rId4" Type="http://schemas.openxmlformats.org/officeDocument/2006/relationships/hyperlink" Target="http://training-games.com/pdf/40FreeIceBreakers.pdf" TargetMode="External"/></Relationships>
</file>

<file path=ppt/notesSlides/_rels/notesSlide115.xml.rels><?xml version="1.0" encoding="UTF-8" standalone="yes"?>
<Relationships xmlns="http://schemas.openxmlformats.org/package/2006/relationships"><Relationship Id="rId3" Type="http://schemas.openxmlformats.org/officeDocument/2006/relationships/hyperlink" Target="http://www.skillsyouneed.com/ips/rapport.html" TargetMode="External"/><Relationship Id="rId2" Type="http://schemas.openxmlformats.org/officeDocument/2006/relationships/slide" Target="../slides/slide115.xml"/><Relationship Id="rId1" Type="http://schemas.openxmlformats.org/officeDocument/2006/relationships/notesMaster" Target="../notesMasters/notesMaster1.xml"/><Relationship Id="rId5" Type="http://schemas.openxmlformats.org/officeDocument/2006/relationships/hyperlink" Target="http://www.mindtools.com/pages/article/building-rapport.htm" TargetMode="External"/><Relationship Id="rId4" Type="http://schemas.openxmlformats.org/officeDocument/2006/relationships/hyperlink" Target="http://www.wikihow.com/Build-Rapport" TargetMode="Externa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3" Type="http://schemas.openxmlformats.org/officeDocument/2006/relationships/hyperlink" Target="http://www.wikihow.com/Negotiate" TargetMode="External"/><Relationship Id="rId2" Type="http://schemas.openxmlformats.org/officeDocument/2006/relationships/slide" Target="../slides/slide118.xml"/><Relationship Id="rId1" Type="http://schemas.openxmlformats.org/officeDocument/2006/relationships/notesMaster" Target="../notesMasters/notesMaster1.xml"/><Relationship Id="rId4" Type="http://schemas.openxmlformats.org/officeDocument/2006/relationships/hyperlink" Target="http://www.brodow.com/Articles/NegotiatingTips.html" TargetMode="Externa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3" Type="http://schemas.openxmlformats.org/officeDocument/2006/relationships/hyperlink" Target="http://www.crnhq.org/pages.php?pID=10" TargetMode="External"/><Relationship Id="rId2" Type="http://schemas.openxmlformats.org/officeDocument/2006/relationships/slide" Target="../slides/slide121.xml"/><Relationship Id="rId1" Type="http://schemas.openxmlformats.org/officeDocument/2006/relationships/notesMaster" Target="../notesMasters/notesMaster1.xml"/><Relationship Id="rId4" Type="http://schemas.openxmlformats.org/officeDocument/2006/relationships/hyperlink" Target="http://www.mindtools.com/pages/article/newLDR_81.htm" TargetMode="Externa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3" Type="http://schemas.openxmlformats.org/officeDocument/2006/relationships/hyperlink" Target="http://www.phonak-communications.com/en/products/tour-guiding/" TargetMode="External"/><Relationship Id="rId2" Type="http://schemas.openxmlformats.org/officeDocument/2006/relationships/slide" Target="../slides/slide128.xml"/><Relationship Id="rId1" Type="http://schemas.openxmlformats.org/officeDocument/2006/relationships/notesMaster" Target="../notesMasters/notesMaster1.xml"/><Relationship Id="rId4" Type="http://schemas.openxmlformats.org/officeDocument/2006/relationships/hyperlink" Target="http://www.acoustiguide.com/group-guiding" TargetMode="Externa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1214918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four Elements, as listed on the slide explaining:</a:t>
            </a:r>
          </a:p>
          <a:p>
            <a:pPr marL="171450" indent="-171450">
              <a:buFont typeface="Arial" panose="020B0604020202020204" pitchFamily="34" charset="0"/>
              <a:buChar char="•"/>
            </a:pPr>
            <a:r>
              <a:rPr lang="en-AU" sz="1200" kern="1200" baseline="0" dirty="0" smtClean="0">
                <a:solidFill>
                  <a:schemeClr val="tx1"/>
                </a:solidFill>
                <a:ea typeface="+mn-ea"/>
                <a:cs typeface="+mn-cs"/>
              </a:rPr>
              <a:t>Each Element comprises a number of Performance Criteria which will be identified throughout the class and explained in detail</a:t>
            </a:r>
          </a:p>
          <a:p>
            <a:pPr marL="171450" indent="-171450">
              <a:buFont typeface="Arial" panose="020B0604020202020204" pitchFamily="34" charset="0"/>
              <a:buChar char="•"/>
            </a:pPr>
            <a:r>
              <a:rPr lang="en-AU" sz="1200" kern="1200" baseline="0" dirty="0" smtClean="0">
                <a:solidFill>
                  <a:schemeClr val="tx1"/>
                </a:solidFill>
                <a:ea typeface="+mn-ea"/>
                <a:cs typeface="+mn-cs"/>
              </a:rPr>
              <a:t>Trainees can obtain more detail from their Trainee Manual</a:t>
            </a:r>
          </a:p>
          <a:p>
            <a:pPr marL="171450" indent="-171450">
              <a:buFont typeface="Arial" panose="020B0604020202020204" pitchFamily="34" charset="0"/>
              <a:buChar char="•"/>
            </a:pPr>
            <a:r>
              <a:rPr lang="en-AU" sz="1200" kern="1200" baseline="0" dirty="0" smtClean="0">
                <a:solidFill>
                  <a:schemeClr val="tx1"/>
                </a:solidFill>
                <a:ea typeface="+mn-ea"/>
                <a:cs typeface="+mn-cs"/>
              </a:rPr>
              <a:t>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11881501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466785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baseline="0" dirty="0" smtClean="0"/>
              <a:t>What is an interpretive activity?</a:t>
            </a:r>
          </a:p>
          <a:p>
            <a:pPr marL="171450" indent="-171450">
              <a:buFont typeface="Arial" pitchFamily="34" charset="0"/>
              <a:buChar char="•"/>
            </a:pPr>
            <a:r>
              <a:rPr lang="en-US" baseline="0" dirty="0" smtClean="0"/>
              <a:t>Why is it necessary to prepare for them?</a:t>
            </a:r>
          </a:p>
          <a:p>
            <a:pPr marL="171450" indent="-171450">
              <a:buFont typeface="Arial" pitchFamily="34" charset="0"/>
              <a:buChar char="•"/>
            </a:pPr>
            <a:r>
              <a:rPr lang="en-US" baseline="0" dirty="0" smtClean="0"/>
              <a:t>Who is involved?</a:t>
            </a:r>
          </a:p>
          <a:p>
            <a:pPr marL="171450" indent="-171450">
              <a:buFont typeface="Arial" pitchFamily="34" charset="0"/>
              <a:buChar char="•"/>
            </a:pPr>
            <a:r>
              <a:rPr lang="en-US" baseline="0" dirty="0" smtClean="0"/>
              <a:t>What is involved in </a:t>
            </a:r>
            <a:r>
              <a:rPr lang="en-US" baseline="0" dirty="0" err="1" smtClean="0"/>
              <a:t>theoôī</a:t>
            </a:r>
            <a:r>
              <a:rPr lang="en-US" baseline="0" dirty="0" smtClean="0"/>
              <a:t> process?</a:t>
            </a:r>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87445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provides context stating:</a:t>
            </a:r>
          </a:p>
          <a:p>
            <a:pPr marL="171450" indent="-171450">
              <a:buFont typeface="Arial" pitchFamily="34" charset="0"/>
              <a:buChar char="•"/>
            </a:pPr>
            <a:r>
              <a:rPr lang="en-AU" sz="1200" kern="1200" dirty="0" smtClean="0">
                <a:solidFill>
                  <a:schemeClr val="tx1"/>
                </a:solidFill>
                <a:latin typeface="+mn-lt"/>
                <a:ea typeface="+mn-ea"/>
                <a:cs typeface="+mn-cs"/>
              </a:rPr>
              <a:t>This unit deals with skills and knowledge required to deliver interpretive activities to groups and individual on tour </a:t>
            </a:r>
          </a:p>
          <a:p>
            <a:pPr marL="171450" indent="-171450">
              <a:buFont typeface="Arial" pitchFamily="34" charset="0"/>
              <a:buChar char="•"/>
            </a:pPr>
            <a:r>
              <a:rPr lang="en-AU" sz="1200" kern="1200" dirty="0" smtClean="0">
                <a:solidFill>
                  <a:schemeClr val="tx1"/>
                </a:solidFill>
                <a:latin typeface="+mn-lt"/>
                <a:ea typeface="+mn-ea"/>
                <a:cs typeface="+mn-cs"/>
              </a:rPr>
              <a:t>It does not include the pre-tour research, planning and preparation required to precede the presentation of an interpretive activity in the field</a:t>
            </a:r>
          </a:p>
          <a:p>
            <a:pPr marL="171450" indent="-171450">
              <a:buFont typeface="Arial" pitchFamily="34" charset="0"/>
              <a:buChar char="•"/>
            </a:pPr>
            <a:r>
              <a:rPr lang="en-AU" sz="1200" kern="1200" dirty="0" smtClean="0">
                <a:solidFill>
                  <a:schemeClr val="tx1"/>
                </a:solidFill>
                <a:latin typeface="+mn-lt"/>
                <a:ea typeface="+mn-ea"/>
                <a:cs typeface="+mn-cs"/>
              </a:rPr>
              <a:t>These topics are addressed in the unit ‘Plan, develop and evaluate interpretive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183809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concept of interpretive guiding:</a:t>
            </a:r>
          </a:p>
          <a:p>
            <a:pPr marL="171450" indent="-171450">
              <a:buFont typeface="Arial" pitchFamily="34" charset="0"/>
              <a:buChar char="•"/>
            </a:pPr>
            <a:r>
              <a:rPr lang="en-AU" sz="1200" kern="1200" dirty="0" smtClean="0">
                <a:solidFill>
                  <a:schemeClr val="tx1"/>
                </a:solidFill>
                <a:latin typeface="+mn-lt"/>
                <a:ea typeface="+mn-ea"/>
                <a:cs typeface="+mn-cs"/>
              </a:rPr>
              <a:t>Interpretive guiding can be seen as the use of interpretive activities and presentation techniques by a Tour Guide when leading/presenting a tour </a:t>
            </a:r>
          </a:p>
          <a:p>
            <a:pPr marL="171450" indent="-171450">
              <a:buFont typeface="Arial" pitchFamily="34" charset="0"/>
              <a:buChar char="•"/>
            </a:pPr>
            <a:r>
              <a:rPr lang="en-AU" sz="1200" kern="1200" dirty="0" smtClean="0">
                <a:solidFill>
                  <a:schemeClr val="tx1"/>
                </a:solidFill>
                <a:latin typeface="+mn-lt"/>
                <a:ea typeface="+mn-ea"/>
                <a:cs typeface="+mn-cs"/>
              </a:rPr>
              <a:t>Their use makes a tour for participants a much more memorable experience</a:t>
            </a:r>
          </a:p>
          <a:p>
            <a:pPr marL="171450" indent="-171450">
              <a:buFont typeface="Arial" pitchFamily="34" charset="0"/>
              <a:buChar char="•"/>
            </a:pPr>
            <a:r>
              <a:rPr lang="en-AU" sz="1200" kern="1200" dirty="0" smtClean="0">
                <a:solidFill>
                  <a:schemeClr val="tx1"/>
                </a:solidFill>
                <a:latin typeface="+mn-lt"/>
                <a:ea typeface="+mn-ea"/>
                <a:cs typeface="+mn-cs"/>
              </a:rPr>
              <a:t>Interpretive guiding goes beyond the basic provision of information which is seen by many as their sole objective when conducting a tour</a:t>
            </a:r>
          </a:p>
          <a:p>
            <a:pPr marL="171450" indent="-171450">
              <a:buFont typeface="Arial" pitchFamily="34" charset="0"/>
              <a:buChar char="•"/>
            </a:pPr>
            <a:r>
              <a:rPr lang="en-AU" sz="1200" kern="1200" dirty="0" smtClean="0">
                <a:solidFill>
                  <a:schemeClr val="tx1"/>
                </a:solidFill>
                <a:latin typeface="+mn-lt"/>
                <a:ea typeface="+mn-ea"/>
                <a:cs typeface="+mn-cs"/>
              </a:rPr>
              <a:t>Interpretive guiding refers to the use of interpretive activities and techniques to interpret the topics/areas which are the focus of the tour or encountered along the way</a:t>
            </a:r>
          </a:p>
          <a:p>
            <a:pPr marL="171450" indent="-171450">
              <a:buFont typeface="Arial" pitchFamily="34" charset="0"/>
              <a:buChar char="•"/>
            </a:pPr>
            <a:r>
              <a:rPr lang="en-AU" sz="1200" kern="1200" dirty="0" smtClean="0">
                <a:solidFill>
                  <a:schemeClr val="tx1"/>
                </a:solidFill>
                <a:latin typeface="+mn-lt"/>
                <a:ea typeface="+mn-ea"/>
                <a:cs typeface="+mn-cs"/>
              </a:rPr>
              <a:t>In many ways interpretive guiding seeks to make people care about, and care for, topics and subjects which are the focus of interpretive activities.</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oversees research of and discussion on sites such as:</a:t>
            </a:r>
          </a:p>
          <a:p>
            <a:r>
              <a:rPr lang="en-AU" sz="1200" u="sng" kern="1200" dirty="0" smtClean="0">
                <a:solidFill>
                  <a:schemeClr val="tx1"/>
                </a:solidFill>
                <a:latin typeface="+mn-lt"/>
                <a:ea typeface="+mn-ea"/>
                <a:cs typeface="+mn-cs"/>
                <a:hlinkClick r:id="rId3"/>
              </a:rPr>
              <a:t>http://www.nps.gov/idp/interp/101/foundationscurriculum.pdf pp 3 - 4</a:t>
            </a:r>
            <a:r>
              <a:rPr lang="en-AU" sz="1200" kern="1200" dirty="0" smtClean="0">
                <a:solidFill>
                  <a:schemeClr val="tx1"/>
                </a:solidFill>
                <a:latin typeface="+mn-lt"/>
                <a:ea typeface="+mn-ea"/>
                <a:cs typeface="+mn-cs"/>
              </a:rPr>
              <a:t> - Foundations of Interpretation: curriculum, content, narrative NPS – Interpretive Development Program: Professional standards for learning and Performance’ (National Parks Service, US Department of the Interior)</a:t>
            </a:r>
          </a:p>
          <a:p>
            <a:r>
              <a:rPr lang="en-AU" sz="1200" u="sng" kern="1200" dirty="0" smtClean="0">
                <a:solidFill>
                  <a:schemeClr val="tx1"/>
                </a:solidFill>
                <a:latin typeface="+mn-lt"/>
                <a:ea typeface="+mn-ea"/>
                <a:cs typeface="+mn-cs"/>
                <a:hlinkClick r:id="rId4"/>
              </a:rPr>
              <a:t>http://www.nps.gov/idp/interp/101/processmodel.pdf</a:t>
            </a:r>
            <a:r>
              <a:rPr lang="en-AU" sz="1200" kern="1200" dirty="0" smtClean="0">
                <a:solidFill>
                  <a:schemeClr val="tx1"/>
                </a:solidFill>
                <a:latin typeface="+mn-lt"/>
                <a:ea typeface="+mn-ea"/>
                <a:cs typeface="+mn-cs"/>
              </a:rPr>
              <a:t> - The interpretive process model (National Parks Service, US Department of the Interior).</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668562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a:t>
            </a:r>
            <a:r>
              <a:rPr lang="en-AU" sz="1200" kern="1200" dirty="0" smtClean="0">
                <a:solidFill>
                  <a:schemeClr val="tx1"/>
                </a:solidFill>
                <a:latin typeface="+mn-lt"/>
                <a:ea typeface="+mn-ea"/>
                <a:cs typeface="+mn-cs"/>
              </a:rPr>
              <a:t>Understanding interpretive activity plans is the basis of implementing interpretive activity plans.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practice there is a need for Tour Guides to obtain answers to seven very important questions:</a:t>
            </a:r>
          </a:p>
          <a:p>
            <a:pPr marL="171450" lvl="0" indent="-171450">
              <a:buFont typeface="Arial" pitchFamily="34" charset="0"/>
              <a:buChar char="•"/>
            </a:pPr>
            <a:r>
              <a:rPr lang="en-AU" sz="1200" kern="1200" dirty="0" smtClean="0">
                <a:solidFill>
                  <a:schemeClr val="tx1"/>
                </a:solidFill>
                <a:latin typeface="+mn-lt"/>
                <a:ea typeface="+mn-ea"/>
                <a:cs typeface="+mn-cs"/>
              </a:rPr>
              <a:t>Why is the interpretive activity being conducted?</a:t>
            </a:r>
          </a:p>
          <a:p>
            <a:pPr marL="171450" lvl="0" indent="-171450">
              <a:buFont typeface="Arial" pitchFamily="34" charset="0"/>
              <a:buChar char="•"/>
            </a:pPr>
            <a:r>
              <a:rPr lang="en-AU" sz="1200" kern="1200" dirty="0" smtClean="0">
                <a:solidFill>
                  <a:schemeClr val="tx1"/>
                </a:solidFill>
                <a:latin typeface="+mn-lt"/>
                <a:ea typeface="+mn-ea"/>
                <a:cs typeface="+mn-cs"/>
              </a:rPr>
              <a:t>When is the interpretive activity to be presented?</a:t>
            </a:r>
          </a:p>
          <a:p>
            <a:pPr marL="171450" lvl="0" indent="-171450">
              <a:buFont typeface="Arial" pitchFamily="34" charset="0"/>
              <a:buChar char="•"/>
            </a:pPr>
            <a:r>
              <a:rPr lang="en-AU" sz="1200" kern="1200" dirty="0" smtClean="0">
                <a:solidFill>
                  <a:schemeClr val="tx1"/>
                </a:solidFill>
                <a:latin typeface="+mn-lt"/>
                <a:ea typeface="+mn-ea"/>
                <a:cs typeface="+mn-cs"/>
              </a:rPr>
              <a:t>Where is the interpretive activity to be conducted?</a:t>
            </a:r>
          </a:p>
          <a:p>
            <a:pPr marL="171450" lvl="0" indent="-171450">
              <a:buFont typeface="Arial" pitchFamily="34" charset="0"/>
              <a:buChar char="•"/>
            </a:pPr>
            <a:r>
              <a:rPr lang="en-AU" sz="1200" kern="1200" dirty="0" smtClean="0">
                <a:solidFill>
                  <a:schemeClr val="tx1"/>
                </a:solidFill>
                <a:latin typeface="+mn-lt"/>
                <a:ea typeface="+mn-ea"/>
                <a:cs typeface="+mn-cs"/>
              </a:rPr>
              <a:t>Who is involved in the activity?</a:t>
            </a:r>
          </a:p>
          <a:p>
            <a:pPr marL="171450" lvl="0" indent="-171450">
              <a:buFont typeface="Arial" pitchFamily="34" charset="0"/>
              <a:buChar char="•"/>
            </a:pPr>
            <a:r>
              <a:rPr lang="en-AU" sz="1200" kern="1200" dirty="0" smtClean="0">
                <a:solidFill>
                  <a:schemeClr val="tx1"/>
                </a:solidFill>
                <a:latin typeface="+mn-lt"/>
                <a:ea typeface="+mn-ea"/>
                <a:cs typeface="+mn-cs"/>
              </a:rPr>
              <a:t>How is the interpretive activity to be conducted/presented?</a:t>
            </a:r>
          </a:p>
          <a:p>
            <a:pPr marL="171450" lvl="0" indent="-171450">
              <a:buFont typeface="Arial" pitchFamily="34" charset="0"/>
              <a:buChar char="•"/>
            </a:pPr>
            <a:r>
              <a:rPr lang="en-AU" sz="1200" kern="1200" dirty="0" smtClean="0">
                <a:solidFill>
                  <a:schemeClr val="tx1"/>
                </a:solidFill>
                <a:latin typeface="+mn-lt"/>
                <a:ea typeface="+mn-ea"/>
                <a:cs typeface="+mn-cs"/>
              </a:rPr>
              <a:t>What resources are available to deliver the interpretive activity?</a:t>
            </a:r>
          </a:p>
          <a:p>
            <a:pPr marL="171450" lvl="0" indent="-171450">
              <a:buFont typeface="Arial" pitchFamily="34" charset="0"/>
              <a:buChar char="•"/>
            </a:pPr>
            <a:r>
              <a:rPr lang="en-AU" sz="1200" kern="1200" dirty="0" smtClean="0">
                <a:solidFill>
                  <a:schemeClr val="tx1"/>
                </a:solidFill>
                <a:latin typeface="+mn-lt"/>
                <a:ea typeface="+mn-ea"/>
                <a:cs typeface="+mn-cs"/>
              </a:rPr>
              <a:t>Have necessary permissions to conduct the activity been obtained?</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a range of </a:t>
            </a:r>
            <a:r>
              <a:rPr lang="en-AU" sz="1200" kern="1200" dirty="0" smtClean="0">
                <a:solidFill>
                  <a:schemeClr val="tx1"/>
                </a:solidFill>
                <a:latin typeface="+mn-lt"/>
                <a:ea typeface="+mn-ea"/>
                <a:cs typeface="+mn-cs"/>
              </a:rPr>
              <a:t>interpretive activity plans for different types of activities.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308177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addresses</a:t>
            </a:r>
          </a:p>
          <a:p>
            <a:pPr>
              <a:buFont typeface="Arial" pitchFamily="34" charset="0"/>
              <a:buNone/>
            </a:pPr>
            <a:r>
              <a:rPr lang="en-AU" sz="1200" b="1" kern="1200" dirty="0" smtClean="0">
                <a:solidFill>
                  <a:schemeClr val="tx1"/>
                </a:solidFill>
                <a:latin typeface="+mn-lt"/>
                <a:ea typeface="+mn-ea"/>
                <a:cs typeface="+mn-cs"/>
              </a:rPr>
              <a:t>Why is the interpretive activity being conducted?</a:t>
            </a:r>
          </a:p>
          <a:p>
            <a:pPr>
              <a:buFont typeface="Arial" pitchFamily="34" charset="0"/>
              <a:buNone/>
            </a:pPr>
            <a:r>
              <a:rPr lang="en-AU" sz="1200" b="0" kern="1200" noProof="0" dirty="0" smtClean="0">
                <a:solidFill>
                  <a:schemeClr val="tx1"/>
                </a:solidFill>
                <a:latin typeface="+mn-lt"/>
                <a:ea typeface="+mn-ea"/>
                <a:cs typeface="+mn-cs"/>
              </a:rPr>
              <a:t>Highlighting the individual </a:t>
            </a:r>
            <a:r>
              <a:rPr lang="en-AU" sz="1200" b="0" kern="1200" dirty="0" smtClean="0">
                <a:solidFill>
                  <a:schemeClr val="tx1"/>
                </a:solidFill>
                <a:latin typeface="+mn-lt"/>
                <a:ea typeface="+mn-ea"/>
                <a:cs typeface="+mn-cs"/>
              </a:rPr>
              <a:t>nature of tours and planning</a:t>
            </a:r>
            <a:r>
              <a:rPr lang="en-AU" sz="1200" b="0" kern="1200" noProof="0" dirty="0" smtClean="0">
                <a:solidFill>
                  <a:schemeClr val="tx1"/>
                </a:solidFill>
                <a:latin typeface="+mn-lt"/>
                <a:ea typeface="+mn-ea"/>
                <a:cs typeface="+mn-cs"/>
              </a:rPr>
              <a:t>:</a:t>
            </a:r>
          </a:p>
          <a:p>
            <a:pPr marL="171450" indent="-171450">
              <a:buFont typeface="Arial" pitchFamily="34" charset="0"/>
              <a:buChar char="•"/>
            </a:pPr>
            <a:r>
              <a:rPr lang="en-AU" sz="1200" kern="1200" dirty="0" smtClean="0">
                <a:solidFill>
                  <a:schemeClr val="tx1"/>
                </a:solidFill>
                <a:latin typeface="+mn-lt"/>
                <a:ea typeface="+mn-ea"/>
                <a:cs typeface="+mn-cs"/>
              </a:rPr>
              <a:t>When plans were prepared for interpretive activities they traditionally need to take into account a range of different considerations</a:t>
            </a:r>
          </a:p>
          <a:p>
            <a:pPr marL="171450" indent="-171450">
              <a:buFont typeface="Arial" pitchFamily="34" charset="0"/>
              <a:buChar char="•"/>
            </a:pPr>
            <a:r>
              <a:rPr lang="en-AU" sz="1200" kern="1200" dirty="0" smtClean="0">
                <a:solidFill>
                  <a:schemeClr val="tx1"/>
                </a:solidFill>
                <a:latin typeface="+mn-lt"/>
                <a:ea typeface="+mn-ea"/>
                <a:cs typeface="+mn-cs"/>
              </a:rPr>
              <a:t>The exact type/nature of considerations will:</a:t>
            </a:r>
          </a:p>
          <a:p>
            <a:pPr marL="628650" lvl="1" indent="-171450">
              <a:buFont typeface="Arial" pitchFamily="34" charset="0"/>
              <a:buChar char="•"/>
            </a:pPr>
            <a:r>
              <a:rPr lang="en-AU" sz="1200" kern="1200" dirty="0" smtClean="0">
                <a:solidFill>
                  <a:schemeClr val="tx1"/>
                </a:solidFill>
                <a:latin typeface="+mn-lt"/>
                <a:ea typeface="+mn-ea"/>
                <a:cs typeface="+mn-cs"/>
              </a:rPr>
              <a:t>Vary between tours – as the focus and advertised/required content for the tours require</a:t>
            </a:r>
          </a:p>
          <a:p>
            <a:pPr marL="628650" lvl="1" indent="-171450">
              <a:buFont typeface="Arial" pitchFamily="34" charset="0"/>
              <a:buChar char="•"/>
            </a:pPr>
            <a:r>
              <a:rPr lang="en-AU" sz="1200" kern="1200" dirty="0" smtClean="0">
                <a:solidFill>
                  <a:schemeClr val="tx1"/>
                </a:solidFill>
                <a:latin typeface="+mn-lt"/>
                <a:ea typeface="+mn-ea"/>
                <a:cs typeface="+mn-cs"/>
              </a:rPr>
              <a:t>Alter over time and/or as the year progresses – to accommodate seasonal influences and changes</a:t>
            </a:r>
          </a:p>
          <a:p>
            <a:pPr marL="628650" lvl="1" indent="-171450">
              <a:buFont typeface="Arial" pitchFamily="34" charset="0"/>
              <a:buChar char="•"/>
            </a:pPr>
            <a:r>
              <a:rPr lang="en-AU" sz="1200" kern="1200" dirty="0" smtClean="0">
                <a:solidFill>
                  <a:schemeClr val="tx1"/>
                </a:solidFill>
                <a:latin typeface="+mn-lt"/>
                <a:ea typeface="+mn-ea"/>
                <a:cs typeface="+mn-cs"/>
              </a:rPr>
              <a:t>Be different for different tour groups/customers – to reflect any identified special needs/requests.</a:t>
            </a:r>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7482723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AU" noProof="0" dirty="0" smtClean="0"/>
              <a:t>Trainer</a:t>
            </a:r>
            <a:r>
              <a:rPr lang="en-AU" baseline="0" noProof="0" dirty="0" smtClean="0"/>
              <a:t> continues to address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Why is the interpretive activity being conducted?</a:t>
            </a:r>
          </a:p>
          <a:p>
            <a:pPr>
              <a:buFont typeface="Arial" pitchFamily="34" charset="0"/>
              <a:buNone/>
            </a:pPr>
            <a:r>
              <a:rPr lang="en-AU" baseline="0" noProof="0" dirty="0" smtClean="0"/>
              <a:t>Talking about generic issues which need to be </a:t>
            </a:r>
            <a:r>
              <a:rPr lang="en-AU" sz="1200" kern="1200" dirty="0" smtClean="0">
                <a:solidFill>
                  <a:schemeClr val="tx1"/>
                </a:solidFill>
                <a:latin typeface="+mn-lt"/>
                <a:ea typeface="+mn-ea"/>
                <a:cs typeface="+mn-cs"/>
              </a:rPr>
              <a:t>understood in order to</a:t>
            </a:r>
            <a:r>
              <a:rPr lang="en-AU" baseline="0" noProof="0" dirty="0" smtClean="0"/>
              <a:t>:</a:t>
            </a:r>
          </a:p>
          <a:p>
            <a:pPr marL="171450" indent="-171450">
              <a:buFont typeface="Arial" pitchFamily="34" charset="0"/>
              <a:buChar char="•"/>
            </a:pPr>
            <a:r>
              <a:rPr lang="en-AU" sz="1200" kern="1200" dirty="0" smtClean="0">
                <a:solidFill>
                  <a:schemeClr val="tx1"/>
                </a:solidFill>
                <a:latin typeface="+mn-lt"/>
                <a:ea typeface="+mn-ea"/>
                <a:cs typeface="+mn-cs"/>
              </a:rPr>
              <a:t>Place the tour to be conducted into its true context – by putting the tour, inclusions and interpretive activities into perspective as this applies to the individual tour</a:t>
            </a:r>
          </a:p>
          <a:p>
            <a:pPr marL="628650" lvl="1" indent="-171450">
              <a:buFont typeface="Arial" pitchFamily="34" charset="0"/>
              <a:buChar char="•"/>
            </a:pPr>
            <a:r>
              <a:rPr lang="en-AU" sz="1200" kern="1200" dirty="0" smtClean="0">
                <a:solidFill>
                  <a:schemeClr val="tx1"/>
                </a:solidFill>
                <a:latin typeface="+mn-lt"/>
                <a:ea typeface="+mn-ea"/>
                <a:cs typeface="+mn-cs"/>
              </a:rPr>
              <a:t>A primary requirement here is to determine if the tour is:</a:t>
            </a:r>
          </a:p>
          <a:p>
            <a:pPr marL="1085850" lvl="2" indent="-171450">
              <a:buFont typeface="Arial" pitchFamily="34" charset="0"/>
              <a:buChar char="•"/>
            </a:pPr>
            <a:r>
              <a:rPr lang="en-US" sz="1200" kern="1200" dirty="0" smtClean="0">
                <a:solidFill>
                  <a:schemeClr val="tx1"/>
                </a:solidFill>
                <a:latin typeface="+mn-lt"/>
                <a:ea typeface="+mn-ea"/>
                <a:cs typeface="+mn-cs"/>
              </a:rPr>
              <a:t> A private/custom tour – see following slides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A standard/scheduled tour – see following slides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Optimise likelihood of meeting customer expectations – in relation to:</a:t>
            </a:r>
          </a:p>
          <a:p>
            <a:pPr marL="628650" lvl="1" indent="-171450">
              <a:buFont typeface="Arial" pitchFamily="34" charset="0"/>
              <a:buChar char="•"/>
            </a:pPr>
            <a:r>
              <a:rPr lang="en-US" sz="1200" kern="1200" dirty="0" smtClean="0">
                <a:solidFill>
                  <a:schemeClr val="tx1"/>
                </a:solidFill>
                <a:latin typeface="+mn-lt"/>
                <a:ea typeface="+mn-ea"/>
                <a:cs typeface="+mn-cs"/>
              </a:rPr>
              <a:t>Special requests made by customers in relation to the tour – some (but not all) Tour Operators will accommodate certain special requests if they are cost neutral and if they can be fitted in to the time constraints of the itinerary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Inclusions which have been promoted as being part of the tour – in advertisements for the tour as presented in the media, tour brochures and other promotional materials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Accommodate feedback received – from;</a:t>
            </a:r>
          </a:p>
          <a:p>
            <a:pPr marL="628650" lvl="1" indent="-171450">
              <a:buFont typeface="Arial" pitchFamily="34" charset="0"/>
              <a:buChar char="•"/>
            </a:pPr>
            <a:r>
              <a:rPr lang="en-US" sz="1200" kern="1200" dirty="0" smtClean="0">
                <a:solidFill>
                  <a:schemeClr val="tx1"/>
                </a:solidFill>
                <a:latin typeface="+mn-lt"/>
                <a:ea typeface="+mn-ea"/>
                <a:cs typeface="+mn-cs"/>
              </a:rPr>
              <a:t>Previous tour group members – on the basis of:</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Formal written feedback received </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Issues raised during the end-of-tour discussion which should be standard for every Tour Group to have with their tour group</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Staff who have conducted the interpretive activity on previous occasions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local/host community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Discharge legal obligations – as imposed by:</a:t>
            </a:r>
          </a:p>
          <a:p>
            <a:pPr marL="628650" lvl="1" indent="-171450">
              <a:buFont typeface="Arial" pitchFamily="34" charset="0"/>
              <a:buChar char="•"/>
            </a:pPr>
            <a:r>
              <a:rPr lang="en-US" sz="1200" kern="1200" dirty="0" smtClean="0">
                <a:solidFill>
                  <a:schemeClr val="tx1"/>
                </a:solidFill>
                <a:latin typeface="+mn-lt"/>
                <a:ea typeface="+mn-ea"/>
                <a:cs typeface="+mn-cs"/>
              </a:rPr>
              <a:t>Contracts for the tour which have been developed/entered into</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Legislation relating to false advertising</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Identify subjects which may be the focus of interpretive guiding/activities include:</a:t>
            </a:r>
          </a:p>
          <a:p>
            <a:pPr marL="628650" lvl="1" indent="-171450">
              <a:buFont typeface="Arial" pitchFamily="34" charset="0"/>
              <a:buChar char="•"/>
            </a:pPr>
            <a:r>
              <a:rPr lang="en-US" sz="1200" kern="1200" dirty="0" smtClean="0">
                <a:solidFill>
                  <a:schemeClr val="tx1"/>
                </a:solidFill>
                <a:latin typeface="+mn-lt"/>
                <a:ea typeface="+mn-ea"/>
                <a:cs typeface="+mn-cs"/>
              </a:rPr>
              <a:t>Flora and fauna</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Domestic and farm animals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History and heritage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Culture, arts and entertainment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Sport and recreation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general natural environment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built environment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Festivals, seasons and religious observances.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a range of sample itineraries for different tour types.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366917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describes/defines </a:t>
            </a:r>
          </a:p>
          <a:p>
            <a:r>
              <a:rPr lang="en-AU" sz="1200" b="1" kern="1200" dirty="0" smtClean="0">
                <a:solidFill>
                  <a:schemeClr val="tx1"/>
                </a:solidFill>
                <a:latin typeface="+mn-lt"/>
                <a:ea typeface="+mn-ea"/>
                <a:cs typeface="+mn-cs"/>
              </a:rPr>
              <a:t>Private/custom tours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Private/custom tours are tours which are:</a:t>
            </a:r>
          </a:p>
          <a:p>
            <a:pPr marL="171450" indent="-171450">
              <a:buFont typeface="Arial" pitchFamily="34" charset="0"/>
              <a:buChar char="•"/>
            </a:pPr>
            <a:r>
              <a:rPr lang="en-AU" sz="1200" kern="1200" dirty="0" smtClean="0">
                <a:solidFill>
                  <a:schemeClr val="tx1"/>
                </a:solidFill>
                <a:latin typeface="+mn-lt"/>
                <a:ea typeface="+mn-ea"/>
                <a:cs typeface="+mn-cs"/>
              </a:rPr>
              <a:t>Developed under contract with a client (individual or group)</a:t>
            </a:r>
          </a:p>
          <a:p>
            <a:pPr marL="171450" indent="-171450">
              <a:buFont typeface="Arial" pitchFamily="34" charset="0"/>
              <a:buChar char="•"/>
            </a:pPr>
            <a:r>
              <a:rPr lang="en-AU" sz="1200" kern="1200" dirty="0" smtClean="0">
                <a:solidFill>
                  <a:schemeClr val="tx1"/>
                </a:solidFill>
                <a:latin typeface="+mn-lt"/>
                <a:ea typeface="+mn-ea"/>
                <a:cs typeface="+mn-cs"/>
              </a:rPr>
              <a:t>Customised on a one-off basis – in terms of:</a:t>
            </a:r>
          </a:p>
          <a:p>
            <a:pPr marL="628650" lvl="1" indent="-171450">
              <a:buFont typeface="Arial" pitchFamily="34" charset="0"/>
              <a:buChar char="•"/>
            </a:pPr>
            <a:r>
              <a:rPr lang="en-AU" sz="1200" kern="1200" dirty="0" smtClean="0">
                <a:solidFill>
                  <a:schemeClr val="tx1"/>
                </a:solidFill>
                <a:latin typeface="+mn-lt"/>
                <a:ea typeface="+mn-ea"/>
                <a:cs typeface="+mn-cs"/>
              </a:rPr>
              <a:t>Focus</a:t>
            </a:r>
          </a:p>
          <a:p>
            <a:pPr marL="628650" lvl="1" indent="-171450">
              <a:buFont typeface="Arial" pitchFamily="34" charset="0"/>
              <a:buChar char="•"/>
            </a:pPr>
            <a:r>
              <a:rPr lang="en-AU" sz="1200" kern="1200" dirty="0" smtClean="0">
                <a:solidFill>
                  <a:schemeClr val="tx1"/>
                </a:solidFill>
                <a:latin typeface="+mn-lt"/>
                <a:ea typeface="+mn-ea"/>
                <a:cs typeface="+mn-cs"/>
              </a:rPr>
              <a:t>Interpretive activities</a:t>
            </a:r>
          </a:p>
          <a:p>
            <a:pPr marL="628650" lvl="1" indent="-171450">
              <a:buFont typeface="Arial" pitchFamily="34" charset="0"/>
              <a:buChar char="•"/>
            </a:pPr>
            <a:r>
              <a:rPr lang="en-AU" sz="1200" kern="1200" dirty="0" smtClean="0">
                <a:solidFill>
                  <a:schemeClr val="tx1"/>
                </a:solidFill>
                <a:latin typeface="+mn-lt"/>
                <a:ea typeface="+mn-ea"/>
                <a:cs typeface="+mn-cs"/>
              </a:rPr>
              <a:t>Commentary</a:t>
            </a:r>
          </a:p>
          <a:p>
            <a:pPr marL="628650" lvl="1" indent="-171450">
              <a:buFont typeface="Arial" pitchFamily="34" charset="0"/>
              <a:buChar char="•"/>
            </a:pPr>
            <a:r>
              <a:rPr lang="en-AU" sz="1200" kern="1200" dirty="0" smtClean="0">
                <a:solidFill>
                  <a:schemeClr val="tx1"/>
                </a:solidFill>
                <a:latin typeface="+mn-lt"/>
                <a:ea typeface="+mn-ea"/>
                <a:cs typeface="+mn-cs"/>
              </a:rPr>
              <a:t>Itinerary</a:t>
            </a:r>
          </a:p>
          <a:p>
            <a:pPr marL="628650" lvl="1" indent="-171450">
              <a:buFont typeface="Arial" pitchFamily="34" charset="0"/>
              <a:buChar char="•"/>
            </a:pPr>
            <a:r>
              <a:rPr lang="en-AU" sz="1200" kern="1200" dirty="0" smtClean="0">
                <a:solidFill>
                  <a:schemeClr val="tx1"/>
                </a:solidFill>
                <a:latin typeface="+mn-lt"/>
                <a:ea typeface="+mn-ea"/>
                <a:cs typeface="+mn-cs"/>
              </a:rPr>
              <a:t>Cost</a:t>
            </a:r>
          </a:p>
          <a:p>
            <a:pPr marL="628650" lvl="1" indent="-171450">
              <a:buFont typeface="Arial" pitchFamily="34" charset="0"/>
              <a:buChar char="•"/>
            </a:pPr>
            <a:r>
              <a:rPr lang="en-AU" sz="1200" kern="1200" dirty="0" smtClean="0">
                <a:solidFill>
                  <a:schemeClr val="tx1"/>
                </a:solidFill>
                <a:latin typeface="+mn-lt"/>
                <a:ea typeface="+mn-ea"/>
                <a:cs typeface="+mn-cs"/>
              </a:rPr>
              <a:t>Inclusions</a:t>
            </a:r>
          </a:p>
          <a:p>
            <a:pPr marL="171450" indent="-171450">
              <a:buFont typeface="Arial" pitchFamily="34" charset="0"/>
              <a:buChar char="•"/>
            </a:pPr>
            <a:r>
              <a:rPr lang="en-AU" sz="1200" kern="1200" dirty="0" smtClean="0">
                <a:solidFill>
                  <a:schemeClr val="tx1"/>
                </a:solidFill>
                <a:latin typeface="+mn-lt"/>
                <a:ea typeface="+mn-ea"/>
                <a:cs typeface="+mn-cs"/>
              </a:rPr>
              <a:t>Designed specifically and totally to meet the stated/identified needs of the individual client</a:t>
            </a:r>
          </a:p>
          <a:p>
            <a:pPr marL="171450" indent="-171450">
              <a:buFont typeface="Arial" pitchFamily="34" charset="0"/>
              <a:buChar char="•"/>
            </a:pPr>
            <a:r>
              <a:rPr lang="en-AU" sz="1200" kern="1200" dirty="0" smtClean="0">
                <a:solidFill>
                  <a:schemeClr val="tx1"/>
                </a:solidFill>
                <a:latin typeface="+mn-lt"/>
                <a:ea typeface="+mn-ea"/>
                <a:cs typeface="+mn-cs"/>
              </a:rPr>
              <a:t>Run at a time and date determined by the client</a:t>
            </a:r>
          </a:p>
          <a:p>
            <a:pPr marL="171450" indent="-171450">
              <a:buFont typeface="Arial" pitchFamily="34" charset="0"/>
              <a:buChar char="•"/>
            </a:pPr>
            <a:r>
              <a:rPr lang="en-AU" sz="1200" kern="1200" dirty="0" smtClean="0">
                <a:solidFill>
                  <a:schemeClr val="tx1"/>
                </a:solidFill>
                <a:latin typeface="+mn-lt"/>
                <a:ea typeface="+mn-ea"/>
                <a:cs typeface="+mn-cs"/>
              </a:rPr>
              <a:t>Planned and prepared/organised on a tour-by-tour basis.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967187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implementation</a:t>
            </a:r>
            <a:r>
              <a:rPr lang="en-AU" baseline="0" noProof="0" dirty="0" smtClean="0"/>
              <a:t> </a:t>
            </a:r>
            <a:r>
              <a:rPr lang="en-AU" sz="1200" kern="1200" dirty="0" smtClean="0">
                <a:solidFill>
                  <a:schemeClr val="tx1"/>
                </a:solidFill>
                <a:latin typeface="+mn-lt"/>
                <a:ea typeface="+mn-ea"/>
                <a:cs typeface="+mn-cs"/>
              </a:rPr>
              <a:t>requirements for private/custom tours:</a:t>
            </a:r>
          </a:p>
          <a:p>
            <a:pPr marL="171450" indent="-171450">
              <a:buFont typeface="Arial" pitchFamily="34" charset="0"/>
              <a:buChar char="•"/>
            </a:pPr>
            <a:r>
              <a:rPr lang="en-AU" sz="1200" kern="1200" dirty="0" smtClean="0">
                <a:solidFill>
                  <a:schemeClr val="tx1"/>
                </a:solidFill>
                <a:latin typeface="+mn-lt"/>
                <a:ea typeface="+mn-ea"/>
                <a:cs typeface="+mn-cs"/>
              </a:rPr>
              <a:t>May be </a:t>
            </a:r>
            <a:r>
              <a:rPr lang="en-AU" sz="1200" i="1" kern="1200" dirty="0" smtClean="0">
                <a:solidFill>
                  <a:schemeClr val="tx1"/>
                </a:solidFill>
                <a:latin typeface="+mn-lt"/>
                <a:ea typeface="+mn-ea"/>
                <a:cs typeface="+mn-cs"/>
              </a:rPr>
              <a:t>based on</a:t>
            </a:r>
            <a:r>
              <a:rPr lang="en-AU" sz="1200" kern="1200" dirty="0" smtClean="0">
                <a:solidFill>
                  <a:schemeClr val="tx1"/>
                </a:solidFill>
                <a:latin typeface="+mn-lt"/>
                <a:ea typeface="+mn-ea"/>
                <a:cs typeface="+mn-cs"/>
              </a:rPr>
              <a:t> implementation requirements for standard tours – planning of these tours may have been based around a standard tour for the purposes of efficiency or because scheduled tours cover/address much of the requirements for the private tour</a:t>
            </a:r>
          </a:p>
          <a:p>
            <a:pPr marL="171450" indent="-171450">
              <a:buFont typeface="Arial" pitchFamily="34" charset="0"/>
              <a:buChar char="•"/>
            </a:pPr>
            <a:r>
              <a:rPr lang="en-AU" sz="1200" kern="1200" dirty="0" smtClean="0">
                <a:solidFill>
                  <a:schemeClr val="tx1"/>
                </a:solidFill>
                <a:latin typeface="+mn-lt"/>
                <a:ea typeface="+mn-ea"/>
                <a:cs typeface="+mn-cs"/>
              </a:rPr>
              <a:t>Will often be unique in nature – given the one-off nature of these tours</a:t>
            </a:r>
          </a:p>
          <a:p>
            <a:pPr marL="171450" indent="-171450">
              <a:buFont typeface="Arial" pitchFamily="34" charset="0"/>
              <a:buChar char="•"/>
            </a:pPr>
            <a:r>
              <a:rPr lang="en-AU" sz="1200" kern="1200" dirty="0" smtClean="0">
                <a:solidFill>
                  <a:schemeClr val="tx1"/>
                </a:solidFill>
                <a:latin typeface="+mn-lt"/>
                <a:ea typeface="+mn-ea"/>
                <a:cs typeface="+mn-cs"/>
              </a:rPr>
              <a:t>Can often require contact with the client to:</a:t>
            </a:r>
          </a:p>
          <a:p>
            <a:pPr marL="628650" lvl="1" indent="-171450">
              <a:buFont typeface="Arial" pitchFamily="34" charset="0"/>
              <a:buChar char="•"/>
            </a:pPr>
            <a:r>
              <a:rPr lang="en-US" sz="1200" kern="1200" dirty="0" smtClean="0">
                <a:solidFill>
                  <a:schemeClr val="tx1"/>
                </a:solidFill>
                <a:latin typeface="+mn-lt"/>
                <a:ea typeface="+mn-ea"/>
                <a:cs typeface="+mn-cs"/>
              </a:rPr>
              <a:t>Confirm requirements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Clarify issues.</a:t>
            </a:r>
            <a:endParaRPr lang="en-AU" sz="1200" kern="1200" dirty="0" smtClean="0">
              <a:solidFill>
                <a:schemeClr val="tx1"/>
              </a:solidFill>
              <a:latin typeface="+mn-lt"/>
              <a:ea typeface="+mn-ea"/>
              <a:cs typeface="+mn-cs"/>
            </a:endParaRPr>
          </a:p>
          <a:p>
            <a:pPr>
              <a:buFont typeface="Arial" pitchFamily="34" charset="0"/>
              <a:buNone/>
            </a:pPr>
            <a:r>
              <a:rPr lang="en-AU" baseline="0"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2573083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describes/defines </a:t>
            </a:r>
          </a:p>
          <a:p>
            <a:r>
              <a:rPr lang="en-AU" sz="1200" b="1" kern="1200" dirty="0" smtClean="0">
                <a:solidFill>
                  <a:schemeClr val="tx1"/>
                </a:solidFill>
                <a:latin typeface="+mn-lt"/>
                <a:ea typeface="+mn-ea"/>
                <a:cs typeface="+mn-cs"/>
              </a:rPr>
              <a:t>Standard/scheduled tour</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standard/scheduled tour (also known as a ‘regular’ tour):</a:t>
            </a:r>
          </a:p>
          <a:p>
            <a:pPr marL="171450" indent="-171450">
              <a:buFont typeface="Arial" pitchFamily="34" charset="0"/>
              <a:buChar char="•"/>
            </a:pPr>
            <a:r>
              <a:rPr lang="en-AU" sz="1200" kern="1200" dirty="0" smtClean="0">
                <a:solidFill>
                  <a:schemeClr val="tx1"/>
                </a:solidFill>
                <a:latin typeface="+mn-lt"/>
                <a:ea typeface="+mn-ea"/>
                <a:cs typeface="+mn-cs"/>
              </a:rPr>
              <a:t>Is the normal tour advertised generally by the company</a:t>
            </a:r>
          </a:p>
          <a:p>
            <a:pPr marL="171450" indent="-171450">
              <a:buFont typeface="Arial" pitchFamily="34" charset="0"/>
              <a:buChar char="•"/>
            </a:pPr>
            <a:r>
              <a:rPr lang="en-AU" sz="1200" kern="1200" dirty="0" smtClean="0">
                <a:solidFill>
                  <a:schemeClr val="tx1"/>
                </a:solidFill>
                <a:latin typeface="+mn-lt"/>
                <a:ea typeface="+mn-ea"/>
                <a:cs typeface="+mn-cs"/>
              </a:rPr>
              <a:t>Is available to all/members of the public</a:t>
            </a:r>
          </a:p>
          <a:p>
            <a:pPr marL="171450" indent="-171450">
              <a:buFont typeface="Arial" pitchFamily="34" charset="0"/>
              <a:buChar char="•"/>
            </a:pPr>
            <a:r>
              <a:rPr lang="en-AU" sz="1200" kern="1200" dirty="0" smtClean="0">
                <a:solidFill>
                  <a:schemeClr val="tx1"/>
                </a:solidFill>
                <a:latin typeface="+mn-lt"/>
                <a:ea typeface="+mn-ea"/>
                <a:cs typeface="+mn-cs"/>
              </a:rPr>
              <a:t>Is the type of tour most people take</a:t>
            </a:r>
          </a:p>
          <a:p>
            <a:pPr marL="171450" indent="-171450">
              <a:buFont typeface="Arial" pitchFamily="34" charset="0"/>
              <a:buChar char="•"/>
            </a:pPr>
            <a:r>
              <a:rPr lang="en-AU" sz="1200" kern="1200" dirty="0" smtClean="0">
                <a:solidFill>
                  <a:schemeClr val="tx1"/>
                </a:solidFill>
                <a:latin typeface="+mn-lt"/>
                <a:ea typeface="+mn-ea"/>
                <a:cs typeface="+mn-cs"/>
              </a:rPr>
              <a:t>Operates using the same itinerary every time</a:t>
            </a:r>
          </a:p>
          <a:p>
            <a:pPr marL="171450" indent="-171450">
              <a:buFont typeface="Arial" pitchFamily="34" charset="0"/>
              <a:buChar char="•"/>
            </a:pPr>
            <a:r>
              <a:rPr lang="en-AU" sz="1200" kern="1200" dirty="0" smtClean="0">
                <a:solidFill>
                  <a:schemeClr val="tx1"/>
                </a:solidFill>
                <a:latin typeface="+mn-lt"/>
                <a:ea typeface="+mn-ea"/>
                <a:cs typeface="+mn-cs"/>
              </a:rPr>
              <a:t>Features the same interpretive activities, inclusions and scripted commentary every time</a:t>
            </a:r>
          </a:p>
          <a:p>
            <a:pPr marL="171450" indent="-171450">
              <a:buFont typeface="Arial" pitchFamily="34" charset="0"/>
              <a:buChar char="•"/>
            </a:pPr>
            <a:r>
              <a:rPr lang="en-AU" sz="1200" kern="1200" dirty="0" smtClean="0">
                <a:solidFill>
                  <a:schemeClr val="tx1"/>
                </a:solidFill>
                <a:latin typeface="+mn-lt"/>
                <a:ea typeface="+mn-ea"/>
                <a:cs typeface="+mn-cs"/>
              </a:rPr>
              <a:t>Is essentially the same tour for all tour group members, time-after-time – subject to seasonal changes and other foreseeable and unforeseeable factors.</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656005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implementation</a:t>
            </a:r>
            <a:r>
              <a:rPr lang="en-AU" baseline="0" noProof="0" dirty="0" smtClean="0"/>
              <a:t> </a:t>
            </a:r>
            <a:r>
              <a:rPr lang="en-AU" sz="1200" kern="1200" dirty="0" smtClean="0">
                <a:solidFill>
                  <a:schemeClr val="tx1"/>
                </a:solidFill>
                <a:latin typeface="+mn-lt"/>
                <a:ea typeface="+mn-ea"/>
                <a:cs typeface="+mn-cs"/>
              </a:rPr>
              <a:t>requirements for standard/scheduled tours:</a:t>
            </a:r>
          </a:p>
          <a:p>
            <a:pPr marL="171450" indent="-171450">
              <a:buFont typeface="Arial" pitchFamily="34" charset="0"/>
              <a:buChar char="•"/>
            </a:pPr>
            <a:r>
              <a:rPr lang="en-AU" sz="1200" kern="1200" dirty="0" smtClean="0">
                <a:solidFill>
                  <a:schemeClr val="tx1"/>
                </a:solidFill>
                <a:latin typeface="+mn-lt"/>
                <a:ea typeface="+mn-ea"/>
                <a:cs typeface="+mn-cs"/>
              </a:rPr>
              <a:t> Is standard – in terms of: </a:t>
            </a:r>
          </a:p>
          <a:p>
            <a:pPr marL="628650" lvl="1" indent="-171450">
              <a:buFont typeface="Arial" pitchFamily="34" charset="0"/>
              <a:buChar char="•"/>
            </a:pPr>
            <a:r>
              <a:rPr lang="en-US" sz="1200" kern="1200" dirty="0" smtClean="0">
                <a:solidFill>
                  <a:schemeClr val="tx1"/>
                </a:solidFill>
                <a:latin typeface="+mn-lt"/>
                <a:ea typeface="+mn-ea"/>
                <a:cs typeface="+mn-cs"/>
              </a:rPr>
              <a:t>Preparing required resources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Checking usual lists and documentation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Ensuring the same tour delivered </a:t>
            </a:r>
            <a:r>
              <a:rPr lang="en-US" sz="1200" i="1" kern="1200" dirty="0" smtClean="0">
                <a:solidFill>
                  <a:schemeClr val="tx1"/>
                </a:solidFill>
                <a:latin typeface="+mn-lt"/>
                <a:ea typeface="+mn-ea"/>
                <a:cs typeface="+mn-cs"/>
              </a:rPr>
              <a:t>previously</a:t>
            </a:r>
            <a:r>
              <a:rPr lang="en-US" sz="1200" kern="1200" dirty="0" smtClean="0">
                <a:solidFill>
                  <a:schemeClr val="tx1"/>
                </a:solidFill>
                <a:latin typeface="+mn-lt"/>
                <a:ea typeface="+mn-ea"/>
                <a:cs typeface="+mn-cs"/>
              </a:rPr>
              <a:t> is replicated </a:t>
            </a:r>
            <a:r>
              <a:rPr lang="en-US" sz="1200" i="1" kern="1200" dirty="0" smtClean="0">
                <a:solidFill>
                  <a:schemeClr val="tx1"/>
                </a:solidFill>
                <a:latin typeface="+mn-lt"/>
                <a:ea typeface="+mn-ea"/>
                <a:cs typeface="+mn-cs"/>
              </a:rPr>
              <a:t>this time</a:t>
            </a:r>
            <a:r>
              <a:rPr lang="en-US" sz="1200" kern="1200" dirty="0" smtClean="0">
                <a:solidFill>
                  <a:schemeClr val="tx1"/>
                </a:solidFill>
                <a:latin typeface="+mn-lt"/>
                <a:ea typeface="+mn-ea"/>
                <a:cs typeface="+mn-cs"/>
              </a:rPr>
              <a:t> to maintain quality and consistency of delivery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May require checking to determine if any special requests have been made – and/or are approved or are required by management</a:t>
            </a:r>
          </a:p>
          <a:p>
            <a:pPr marL="171450" indent="-171450">
              <a:buFont typeface="Arial" pitchFamily="34" charset="0"/>
              <a:buChar char="•"/>
            </a:pPr>
            <a:r>
              <a:rPr lang="en-AU" sz="1200" kern="1200" dirty="0" smtClean="0">
                <a:solidFill>
                  <a:schemeClr val="tx1"/>
                </a:solidFill>
                <a:latin typeface="+mn-lt"/>
                <a:ea typeface="+mn-ea"/>
                <a:cs typeface="+mn-cs"/>
              </a:rPr>
              <a:t>May require adjustment – to accommodate the changes (to route, commentary, inclusions, interpretive activities) brought about by seasonal factors.</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5898599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a:t>
            </a:r>
            <a:r>
              <a:rPr lang="en-AU" baseline="0" noProof="0" dirty="0" smtClean="0"/>
              <a:t> talks about theme/s and message/s observing before </a:t>
            </a:r>
            <a:r>
              <a:rPr lang="en-AU" sz="1200" kern="1200" dirty="0" smtClean="0">
                <a:solidFill>
                  <a:schemeClr val="tx1"/>
                </a:solidFill>
                <a:latin typeface="+mn-lt"/>
                <a:ea typeface="+mn-ea"/>
                <a:cs typeface="+mn-cs"/>
              </a:rPr>
              <a:t>starting a tour the Tour Guide needs to know about any identified, required or promised themes and messages that tour group members are expecting from the tour as this impacts significantly on how an interpretive activity will be presented.</a:t>
            </a:r>
          </a:p>
          <a:p>
            <a:pPr>
              <a:buFont typeface="Arial" pitchFamily="34" charset="0"/>
              <a:buNone/>
            </a:pPr>
            <a:endParaRPr lang="en-AU" baseline="0" noProof="0" dirty="0" smtClean="0"/>
          </a:p>
          <a:p>
            <a:r>
              <a:rPr lang="en-AU" baseline="0" noProof="0" dirty="0" smtClean="0"/>
              <a:t>Trainer notes important </a:t>
            </a:r>
            <a:r>
              <a:rPr lang="en-AU" sz="1200" kern="1200" dirty="0" smtClean="0">
                <a:solidFill>
                  <a:schemeClr val="tx1"/>
                </a:solidFill>
                <a:latin typeface="+mn-lt"/>
                <a:ea typeface="+mn-ea"/>
                <a:cs typeface="+mn-cs"/>
              </a:rPr>
              <a:t>points to note regarding ‘theme and message’ are:</a:t>
            </a:r>
          </a:p>
          <a:p>
            <a:pPr marL="171450" indent="-171450">
              <a:buFont typeface="Arial" pitchFamily="34" charset="0"/>
              <a:buChar char="•"/>
            </a:pPr>
            <a:r>
              <a:rPr lang="en-AU" sz="1200" kern="1200" dirty="0" smtClean="0">
                <a:solidFill>
                  <a:schemeClr val="tx1"/>
                </a:solidFill>
                <a:latin typeface="+mn-lt"/>
                <a:ea typeface="+mn-ea"/>
                <a:cs typeface="+mn-cs"/>
              </a:rPr>
              <a:t>The terms ‘message’ and ‘theme’ are often used interchangeably but do have separate meanings</a:t>
            </a:r>
          </a:p>
          <a:p>
            <a:pPr marL="171450" indent="-171450">
              <a:buFont typeface="Arial" pitchFamily="34" charset="0"/>
              <a:buChar char="•"/>
            </a:pPr>
            <a:r>
              <a:rPr lang="en-AU" sz="1200" kern="1200" dirty="0" smtClean="0">
                <a:solidFill>
                  <a:schemeClr val="tx1"/>
                </a:solidFill>
                <a:latin typeface="+mn-lt"/>
                <a:ea typeface="+mn-ea"/>
                <a:cs typeface="+mn-cs"/>
              </a:rPr>
              <a:t>A ‘message’ (sometimes more properly known as an ‘interpretive message’) is an uncomplicated stand-alone but important statement which makes sense on its own but nonetheless underpins and supports the theme for an activity – for example, ‘Modern civilisation can cause adverse impacts on local communities’</a:t>
            </a:r>
          </a:p>
          <a:p>
            <a:pPr marL="171450" indent="-171450">
              <a:buFont typeface="Arial" pitchFamily="34" charset="0"/>
              <a:buChar char="•"/>
            </a:pPr>
            <a:r>
              <a:rPr lang="en-AU" sz="1200" kern="1200" dirty="0" smtClean="0">
                <a:solidFill>
                  <a:schemeClr val="tx1"/>
                </a:solidFill>
                <a:latin typeface="+mn-lt"/>
                <a:ea typeface="+mn-ea"/>
                <a:cs typeface="+mn-cs"/>
              </a:rPr>
              <a:t>The ‘theme’ for the activity (or the tour) is often referred to as ‘the take home message’ for the visitors – the use of the word ‘message’ in this commonly used definition is partly responsible for the confusion that exists regarding distinction between the two terms</a:t>
            </a:r>
          </a:p>
          <a:p>
            <a:pPr marL="171450" indent="-171450">
              <a:buFont typeface="Arial" pitchFamily="34" charset="0"/>
              <a:buChar char="•"/>
            </a:pPr>
            <a:r>
              <a:rPr lang="en-AU" sz="1200" kern="1200" dirty="0" smtClean="0">
                <a:solidFill>
                  <a:schemeClr val="tx1"/>
                </a:solidFill>
                <a:latin typeface="+mn-lt"/>
                <a:ea typeface="+mn-ea"/>
                <a:cs typeface="+mn-cs"/>
              </a:rPr>
              <a:t>The take home message is one, big idea that the tour/activity wants people to leave with/thinking about.</a:t>
            </a:r>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989789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discussing message and theme:</a:t>
            </a:r>
          </a:p>
          <a:p>
            <a:pPr marL="171450" indent="-171450">
              <a:buFont typeface="Arial" pitchFamily="34" charset="0"/>
              <a:buChar char="•"/>
            </a:pPr>
            <a:r>
              <a:rPr lang="en-AU" sz="1200" kern="1200" dirty="0" smtClean="0">
                <a:solidFill>
                  <a:schemeClr val="tx1"/>
                </a:solidFill>
                <a:latin typeface="+mn-lt"/>
                <a:ea typeface="+mn-ea"/>
                <a:cs typeface="+mn-cs"/>
              </a:rPr>
              <a:t>There is no limit to the exact nature of the ‘messages and themes’ which may be developed</a:t>
            </a:r>
          </a:p>
          <a:p>
            <a:pPr marL="171450" indent="-171450">
              <a:buFont typeface="Arial" pitchFamily="34" charset="0"/>
              <a:buChar char="•"/>
            </a:pPr>
            <a:r>
              <a:rPr lang="en-AU" sz="1200" kern="1200" dirty="0" smtClean="0">
                <a:solidFill>
                  <a:schemeClr val="tx1"/>
                </a:solidFill>
                <a:latin typeface="+mn-lt"/>
                <a:ea typeface="+mn-ea"/>
                <a:cs typeface="+mn-cs"/>
              </a:rPr>
              <a:t>‘Messages and themes’ may be seen as the story-lines for activities</a:t>
            </a:r>
          </a:p>
          <a:p>
            <a:pPr marL="171450" indent="-171450">
              <a:buFont typeface="Arial" pitchFamily="34" charset="0"/>
              <a:buChar char="•"/>
            </a:pPr>
            <a:r>
              <a:rPr lang="en-AU" sz="1200" kern="1200" dirty="0" smtClean="0">
                <a:solidFill>
                  <a:schemeClr val="tx1"/>
                </a:solidFill>
                <a:latin typeface="+mn-lt"/>
                <a:ea typeface="+mn-ea"/>
                <a:cs typeface="+mn-cs"/>
              </a:rPr>
              <a:t>They flow from the ‘topic’, title or focus for the tour</a:t>
            </a:r>
          </a:p>
          <a:p>
            <a:pPr marL="171450" indent="-171450">
              <a:buFont typeface="Arial" pitchFamily="34" charset="0"/>
              <a:buChar char="•"/>
            </a:pPr>
            <a:r>
              <a:rPr lang="en-AU" sz="1200" kern="1200" dirty="0" smtClean="0">
                <a:solidFill>
                  <a:schemeClr val="tx1"/>
                </a:solidFill>
                <a:latin typeface="+mn-lt"/>
                <a:ea typeface="+mn-ea"/>
                <a:cs typeface="+mn-cs"/>
              </a:rPr>
              <a:t>There may be a single message or theme, or multiple story-lines, attached to/included as part of an interpretive activity.</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oversees research of and discussion on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http://www.parks.ca.gov/pages/735/files/InterpPlanningWorkbookWEB2013.pdf</a:t>
            </a:r>
            <a:r>
              <a:rPr lang="en-AU" sz="1200" kern="1200" dirty="0" smtClean="0">
                <a:solidFill>
                  <a:schemeClr val="tx1"/>
                </a:solidFill>
                <a:latin typeface="+mn-lt"/>
                <a:ea typeface="+mn-ea"/>
                <a:cs typeface="+mn-cs"/>
              </a:rPr>
              <a:t> - Interpretation Planning Workbook (California State Parks, 2013</a:t>
            </a:r>
          </a:p>
          <a:p>
            <a:pPr>
              <a:buFont typeface="Arial" pitchFamily="34" charset="0"/>
              <a:buNone/>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68786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When is the interpretive activity to be presented?</a:t>
            </a:r>
          </a:p>
          <a:p>
            <a:r>
              <a:rPr lang="en-AU" sz="1200" kern="1200" dirty="0" smtClean="0">
                <a:solidFill>
                  <a:schemeClr val="tx1"/>
                </a:solidFill>
                <a:latin typeface="+mn-lt"/>
                <a:ea typeface="+mn-ea"/>
                <a:cs typeface="+mn-cs"/>
              </a:rPr>
              <a:t>The Tour Guide must view the tour itinerary (both the operational and customer versions – to ensure they are in accordance with each other) in order to:</a:t>
            </a:r>
          </a:p>
          <a:p>
            <a:pPr marL="171450" indent="-171450">
              <a:buFont typeface="Arial" pitchFamily="34" charset="0"/>
              <a:buChar char="•"/>
            </a:pPr>
            <a:r>
              <a:rPr lang="en-AU" sz="1200" kern="1200" dirty="0" smtClean="0">
                <a:solidFill>
                  <a:schemeClr val="tx1"/>
                </a:solidFill>
                <a:latin typeface="+mn-lt"/>
                <a:ea typeface="+mn-ea"/>
                <a:cs typeface="+mn-cs"/>
              </a:rPr>
              <a:t>Get a general impression of the overall content of the tour – with reference to:</a:t>
            </a:r>
          </a:p>
          <a:p>
            <a:pPr marL="628650" lvl="1" indent="-171450">
              <a:buFont typeface="Arial" pitchFamily="34" charset="0"/>
              <a:buChar char="•"/>
            </a:pPr>
            <a:r>
              <a:rPr lang="en-US" sz="1200" kern="1200" dirty="0" smtClean="0">
                <a:solidFill>
                  <a:schemeClr val="tx1"/>
                </a:solidFill>
                <a:latin typeface="+mn-lt"/>
                <a:ea typeface="+mn-ea"/>
                <a:cs typeface="+mn-cs"/>
              </a:rPr>
              <a:t>Complexity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How inclusions and interpretive activities ‘flow’ and fit/integrate with each other given the context of the tour and the type of tour being conducted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Any other relevant issues generated by local conditions, traffic, weather or any other factors likely to impact timing-related issues – such as matters likely to:</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Slow travel times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Delay provision of services by other parties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Hinder activities of tour group members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Identify start time for the tour – the time the tour departs. It is important for all tours to start ‘on time’ so:</a:t>
            </a:r>
          </a:p>
          <a:p>
            <a:pPr marL="628650" lvl="1" indent="-171450">
              <a:buFont typeface="Arial" pitchFamily="34" charset="0"/>
              <a:buChar char="•"/>
            </a:pPr>
            <a:r>
              <a:rPr lang="en-US" sz="1200" kern="1200" dirty="0" smtClean="0">
                <a:solidFill>
                  <a:schemeClr val="tx1"/>
                </a:solidFill>
                <a:latin typeface="+mn-lt"/>
                <a:ea typeface="+mn-ea"/>
                <a:cs typeface="+mn-cs"/>
              </a:rPr>
              <a:t>The timing of all tour activities and inclusions can be adhered to</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Arrangements made with other/support third party providers (shops, carriers, entertainers, co-workers, catering) can be honoured – by having tour groups at a given location by a given time.</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4830053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discuss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When is the interpretive activity to be presented?</a:t>
            </a:r>
          </a:p>
          <a:p>
            <a:pPr marL="171450" indent="-171450">
              <a:buFont typeface="Arial" pitchFamily="34" charset="0"/>
              <a:buChar char="•"/>
            </a:pPr>
            <a:r>
              <a:rPr lang="en-AU" sz="1200" kern="1200" dirty="0" smtClean="0">
                <a:solidFill>
                  <a:schemeClr val="tx1"/>
                </a:solidFill>
                <a:latin typeface="+mn-lt"/>
                <a:ea typeface="+mn-ea"/>
                <a:cs typeface="+mn-cs"/>
              </a:rPr>
              <a:t>Identify finish time for the tour – the tour must return ‘on time’ because:</a:t>
            </a:r>
          </a:p>
          <a:p>
            <a:pPr marL="628650" lvl="1" indent="-171450">
              <a:buFont typeface="Arial" pitchFamily="34" charset="0"/>
              <a:buChar char="•"/>
            </a:pPr>
            <a:r>
              <a:rPr lang="en-US" sz="1200" kern="1200" dirty="0" smtClean="0">
                <a:solidFill>
                  <a:schemeClr val="tx1"/>
                </a:solidFill>
                <a:latin typeface="+mn-lt"/>
                <a:ea typeface="+mn-ea"/>
                <a:cs typeface="+mn-cs"/>
              </a:rPr>
              <a:t>There may be a need for the Tour Guide to take another tour at a scheduled/advertised time which is shortly after the return time of the first tour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Tour group members may be expecting to return at a set time and have made arrangements to do other things based on this knowledge/expectation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Failure to return ‘on time’ mat raise unacceptable labour cost issues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Determine timing requirements in relation to the overall tour – with specific attention paid to individual interpretive activities in terms of their:</a:t>
            </a:r>
          </a:p>
          <a:p>
            <a:pPr marL="628650" lvl="1" indent="-171450">
              <a:buFont typeface="Arial" pitchFamily="34" charset="0"/>
              <a:buChar char="•"/>
            </a:pPr>
            <a:r>
              <a:rPr lang="en-US" sz="1200" kern="1200" dirty="0" smtClean="0">
                <a:solidFill>
                  <a:schemeClr val="tx1"/>
                </a:solidFill>
                <a:latin typeface="+mn-lt"/>
                <a:ea typeface="+mn-ea"/>
                <a:cs typeface="+mn-cs"/>
              </a:rPr>
              <a:t>Sequence in the itinerary – that is, noting how many activities there are and which ones are first, second and so 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When each one is scheduled to start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When each activity is time-tabled to finish</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Alternates – that is, identification of possible alternate activities which are provided for (and have been trialled, tested and appropriately approved and resourced) in case the scheduled interpretive activity cannot be presented.</a:t>
            </a:r>
            <a:endParaRPr lang="en-AU" sz="1200" kern="1200" dirty="0" smtClean="0">
              <a:solidFill>
                <a:schemeClr val="tx1"/>
              </a:solidFill>
              <a:latin typeface="+mn-lt"/>
              <a:ea typeface="+mn-ea"/>
              <a:cs typeface="+mn-cs"/>
            </a:endParaRPr>
          </a:p>
          <a:p>
            <a:pPr marL="171450" indent="-171450">
              <a:buFont typeface="Arial" pitchFamily="34" charset="0"/>
              <a:buChar char="•"/>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4787543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a:t>
            </a:r>
            <a:r>
              <a:rPr lang="en-AU" baseline="0" noProof="0" dirty="0" smtClean="0"/>
              <a:t> discusses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Where is the interpretive activity to be conducted? </a:t>
            </a:r>
            <a:r>
              <a:rPr lang="en-AU" noProof="0" dirty="0" smtClean="0"/>
              <a:t>Common options are:</a:t>
            </a:r>
          </a:p>
          <a:p>
            <a:pPr marL="171450" indent="-171450">
              <a:buFont typeface="Arial" pitchFamily="34" charset="0"/>
              <a:buChar char="•"/>
            </a:pPr>
            <a:r>
              <a:rPr lang="en-AU" sz="1200" kern="1200" dirty="0" smtClean="0">
                <a:solidFill>
                  <a:schemeClr val="tx1"/>
                </a:solidFill>
                <a:latin typeface="+mn-lt"/>
                <a:ea typeface="+mn-ea"/>
                <a:cs typeface="+mn-cs"/>
              </a:rPr>
              <a:t>Within the Tour Operator building – such as in a purpose built room designed and fitted out to accommodate basic/standard ‘training’ type activities</a:t>
            </a:r>
          </a:p>
          <a:p>
            <a:pPr marL="628650" lvl="1" indent="-171450">
              <a:buFont typeface="Arial" pitchFamily="34" charset="0"/>
              <a:buChar char="•"/>
            </a:pPr>
            <a:r>
              <a:rPr lang="en-AU" sz="1200" kern="1200" dirty="0" smtClean="0">
                <a:solidFill>
                  <a:schemeClr val="tx1"/>
                </a:solidFill>
                <a:latin typeface="+mn-lt"/>
                <a:ea typeface="+mn-ea"/>
                <a:cs typeface="+mn-cs"/>
              </a:rPr>
              <a:t>This room traditionally has tables and chairs, room to move, communication technologies (such as slides, PowerPoint data projectors, DVD player and monitors/screens, microphones, sound systems)</a:t>
            </a:r>
          </a:p>
          <a:p>
            <a:pPr marL="628650" lvl="1" indent="-171450">
              <a:buFont typeface="Arial" pitchFamily="34" charset="0"/>
              <a:buChar char="•"/>
            </a:pPr>
            <a:r>
              <a:rPr lang="en-AU" sz="1200" kern="1200" dirty="0" smtClean="0">
                <a:solidFill>
                  <a:schemeClr val="tx1"/>
                </a:solidFill>
                <a:latin typeface="+mn-lt"/>
                <a:ea typeface="+mn-ea"/>
                <a:cs typeface="+mn-cs"/>
              </a:rPr>
              <a:t>This location may be used for: </a:t>
            </a:r>
          </a:p>
          <a:p>
            <a:pPr marL="1085850" lvl="2" indent="-171450">
              <a:buFont typeface="Arial" pitchFamily="34" charset="0"/>
              <a:buChar char="•"/>
            </a:pPr>
            <a:r>
              <a:rPr lang="en-US" sz="1200" kern="1200" dirty="0" smtClean="0">
                <a:solidFill>
                  <a:schemeClr val="tx1"/>
                </a:solidFill>
                <a:latin typeface="+mn-lt"/>
                <a:ea typeface="+mn-ea"/>
                <a:cs typeface="+mn-cs"/>
              </a:rPr>
              <a:t>Pre-tour briefings and distribution of standard tour-related handouts/materials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Activities designed to get tour group members to know each other</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Pre-tour interpretive activities such as workshops, demonstrations, interactive group activities, brainstorming, group discussion, lecture-type presentation, screening of films/DVDs and slides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On-site locations – where interpretive activities are conducted which may be:</a:t>
            </a:r>
          </a:p>
          <a:p>
            <a:pPr marL="628650" lvl="1" indent="-171450">
              <a:buFont typeface="Arial" pitchFamily="34" charset="0"/>
              <a:buChar char="•"/>
            </a:pPr>
            <a:r>
              <a:rPr lang="en-US" sz="1200" kern="1200" dirty="0" smtClean="0">
                <a:solidFill>
                  <a:schemeClr val="tx1"/>
                </a:solidFill>
                <a:latin typeface="+mn-lt"/>
                <a:ea typeface="+mn-ea"/>
                <a:cs typeface="+mn-cs"/>
              </a:rPr>
              <a:t>In designated outside locations – that is, in the ‘open air’ but at no particular site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At a particular natural site – such as a waterfall, valley, river, viewing point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Within a built structure at a destination – such as within a museum, at a theme park, in a room at a shop or an attraction, at a sports complex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 a local/host community – where arrangements and agreement have been made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On the tour group vehicle – the tour group vehicle is often used for discussions, story-telling, reading handouts, handling (sensory awareness of) materials, lectures, playing games, conducting quizzes, and delivery of scripted commentary. Use of the tour group vehicle as a location for some interpretive activities is common and:</a:t>
            </a:r>
          </a:p>
          <a:p>
            <a:pPr marL="628650" lvl="1" indent="-171450">
              <a:buFont typeface="Arial" pitchFamily="34" charset="0"/>
              <a:buChar char="•"/>
            </a:pPr>
            <a:r>
              <a:rPr lang="en-US" sz="1200" kern="1200" dirty="0" smtClean="0">
                <a:solidFill>
                  <a:schemeClr val="tx1"/>
                </a:solidFill>
                <a:latin typeface="+mn-lt"/>
                <a:ea typeface="+mn-ea"/>
                <a:cs typeface="+mn-cs"/>
              </a:rPr>
              <a:t>Means many vehicles are equipped with supporting technology to facilitate the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Provides activity for tour group members on what can be, otherwise, long and potentially boring travel times – to and from destinations.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7766172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knowing </a:t>
            </a:r>
            <a:r>
              <a:rPr lang="en-AU" sz="1200" kern="1200" dirty="0" smtClean="0">
                <a:solidFill>
                  <a:schemeClr val="tx1"/>
                </a:solidFill>
                <a:latin typeface="+mn-lt"/>
                <a:ea typeface="+mn-ea"/>
                <a:cs typeface="+mn-cs"/>
              </a:rPr>
              <a:t>the location of each interpretive activity is important because:</a:t>
            </a:r>
          </a:p>
          <a:p>
            <a:pPr marL="171450" indent="-171450">
              <a:buFont typeface="Arial" pitchFamily="34" charset="0"/>
              <a:buChar char="•"/>
            </a:pPr>
            <a:r>
              <a:rPr lang="en-AU" sz="1200" kern="1200" dirty="0" smtClean="0">
                <a:solidFill>
                  <a:schemeClr val="tx1"/>
                </a:solidFill>
                <a:latin typeface="+mn-lt"/>
                <a:ea typeface="+mn-ea"/>
                <a:cs typeface="+mn-cs"/>
              </a:rPr>
              <a:t>This knowledge helps provide a mental context for the Tour Guide – it helps the Guides get a feel for the tour and orient the tour locations in their mind</a:t>
            </a:r>
          </a:p>
          <a:p>
            <a:pPr marL="171450" indent="-171450">
              <a:buFont typeface="Arial" pitchFamily="34" charset="0"/>
              <a:buChar char="•"/>
            </a:pPr>
            <a:r>
              <a:rPr lang="en-AU" sz="1200" kern="1200" dirty="0" smtClean="0">
                <a:solidFill>
                  <a:schemeClr val="tx1"/>
                </a:solidFill>
                <a:latin typeface="+mn-lt"/>
                <a:ea typeface="+mn-ea"/>
                <a:cs typeface="+mn-cs"/>
              </a:rPr>
              <a:t>It generates mental impressions regarding travel times to destinations for the activities</a:t>
            </a:r>
          </a:p>
          <a:p>
            <a:pPr marL="171450" indent="-171450">
              <a:buFont typeface="Arial" pitchFamily="34" charset="0"/>
              <a:buChar char="•"/>
            </a:pPr>
            <a:r>
              <a:rPr lang="en-AU" sz="1200" kern="1200" dirty="0" smtClean="0">
                <a:solidFill>
                  <a:schemeClr val="tx1"/>
                </a:solidFill>
                <a:latin typeface="+mn-lt"/>
                <a:ea typeface="+mn-ea"/>
                <a:cs typeface="+mn-cs"/>
              </a:rPr>
              <a:t>Creates an </a:t>
            </a:r>
            <a:r>
              <a:rPr lang="en-AU" sz="1200" i="1" kern="1200" dirty="0" smtClean="0">
                <a:solidFill>
                  <a:schemeClr val="tx1"/>
                </a:solidFill>
                <a:latin typeface="+mn-lt"/>
                <a:ea typeface="+mn-ea"/>
                <a:cs typeface="+mn-cs"/>
              </a:rPr>
              <a:t>overall</a:t>
            </a:r>
            <a:r>
              <a:rPr lang="en-AU" sz="1200" kern="1200" dirty="0" smtClean="0">
                <a:solidFill>
                  <a:schemeClr val="tx1"/>
                </a:solidFill>
                <a:latin typeface="+mn-lt"/>
                <a:ea typeface="+mn-ea"/>
                <a:cs typeface="+mn-cs"/>
              </a:rPr>
              <a:t> impression of what is to be provided – through setting each activity into its individual location and setting.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799759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a:t>
            </a:r>
            <a:r>
              <a:rPr lang="en-AU" baseline="0" noProof="0" dirty="0" smtClean="0"/>
              <a:t> discusses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Who is involved in the activity?</a:t>
            </a:r>
          </a:p>
          <a:p>
            <a:r>
              <a:rPr lang="en-AU" sz="1200" kern="1200" dirty="0" smtClean="0">
                <a:solidFill>
                  <a:schemeClr val="tx1"/>
                </a:solidFill>
                <a:latin typeface="+mn-lt"/>
                <a:ea typeface="+mn-ea"/>
                <a:cs typeface="+mn-cs"/>
              </a:rPr>
              <a:t>Those who may be involved can include:</a:t>
            </a:r>
          </a:p>
          <a:p>
            <a:pPr marL="171450" indent="-171450">
              <a:buFont typeface="Arial" pitchFamily="34" charset="0"/>
              <a:buChar char="•"/>
            </a:pPr>
            <a:r>
              <a:rPr lang="en-AU" sz="1200" kern="1200" dirty="0" smtClean="0">
                <a:solidFill>
                  <a:schemeClr val="tx1"/>
                </a:solidFill>
                <a:latin typeface="+mn-lt"/>
                <a:ea typeface="+mn-ea"/>
                <a:cs typeface="+mn-cs"/>
              </a:rPr>
              <a:t>Others from within the Tour Operator’s business – such as:</a:t>
            </a:r>
          </a:p>
          <a:p>
            <a:pPr marL="628650" lvl="1" indent="-171450">
              <a:buFont typeface="Arial" pitchFamily="34" charset="0"/>
              <a:buChar char="•"/>
            </a:pPr>
            <a:r>
              <a:rPr lang="en-US" sz="1200" kern="1200" dirty="0" smtClean="0">
                <a:solidFill>
                  <a:schemeClr val="tx1"/>
                </a:solidFill>
                <a:latin typeface="+mn-lt"/>
                <a:ea typeface="+mn-ea"/>
                <a:cs typeface="+mn-cs"/>
              </a:rPr>
              <a:t>Other Tour Guides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General assistants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Topic/subject presenters or experts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Chefs/cooks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Vehicle drivers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Translators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Security staff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Safety officers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Members of local/host communities – who:</a:t>
            </a:r>
          </a:p>
          <a:p>
            <a:pPr marL="628650" lvl="1" indent="-171450">
              <a:buFont typeface="Arial" pitchFamily="34" charset="0"/>
              <a:buChar char="•"/>
            </a:pPr>
            <a:r>
              <a:rPr lang="en-US" sz="1200" kern="1200" dirty="0" smtClean="0">
                <a:solidFill>
                  <a:schemeClr val="tx1"/>
                </a:solidFill>
                <a:latin typeface="+mn-lt"/>
                <a:ea typeface="+mn-ea"/>
                <a:cs typeface="+mn-cs"/>
              </a:rPr>
              <a:t>Can be involved in tour guiding roles within their community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May lead/conduct certain interpretive activities such as dance, demonstrations, cooking, artwork, story-telling and song</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Specialist personnel from third party providers/organisations – who may provide on-site and/or on-tour:</a:t>
            </a:r>
          </a:p>
          <a:p>
            <a:pPr marL="628650" lvl="1" indent="-171450">
              <a:buFont typeface="Arial" pitchFamily="34" charset="0"/>
              <a:buChar char="•"/>
            </a:pPr>
            <a:r>
              <a:rPr lang="en-US" sz="1200" kern="1200" dirty="0" smtClean="0">
                <a:solidFill>
                  <a:schemeClr val="tx1"/>
                </a:solidFill>
                <a:latin typeface="+mn-lt"/>
                <a:ea typeface="+mn-ea"/>
                <a:cs typeface="+mn-cs"/>
              </a:rPr>
              <a:t>Translation and interpretation services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Safety and security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Directions and guidance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Catering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Supply and provisioning (food, fuel, goods and services).</a:t>
            </a:r>
            <a:endParaRPr lang="en-AU" sz="1200" kern="1200" dirty="0" smtClean="0">
              <a:solidFill>
                <a:schemeClr val="tx1"/>
              </a:solidFill>
              <a:latin typeface="+mn-lt"/>
              <a:ea typeface="+mn-ea"/>
              <a:cs typeface="+mn-cs"/>
            </a:endParaRPr>
          </a:p>
          <a:p>
            <a:pPr>
              <a:buFont typeface="Arial" pitchFamily="34" charset="0"/>
              <a:buChar char="•"/>
            </a:pPr>
            <a:endParaRPr lang="en-AU" baseline="0" noProof="0" dirty="0" smtClean="0"/>
          </a:p>
          <a:p>
            <a:pPr>
              <a:buFont typeface="Arial" pitchFamily="34" charset="0"/>
              <a:buNone/>
            </a:pPr>
            <a:r>
              <a:rPr lang="en-AU" b="1" noProof="0" dirty="0" smtClean="0"/>
              <a:t>Classroom Activity – Guest Speakers</a:t>
            </a:r>
          </a:p>
          <a:p>
            <a:pPr>
              <a:buFont typeface="Arial" pitchFamily="34" charset="0"/>
              <a:buNone/>
            </a:pPr>
            <a:r>
              <a:rPr lang="en-AU" b="0" noProof="0" dirty="0" smtClean="0"/>
              <a:t>Trainer arranges for several of the people identified above to attend and discuss/describe their role in relation to conducting/assisting with interpretive activities in the field.</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17698677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the </a:t>
            </a:r>
            <a:r>
              <a:rPr lang="en-AU" sz="1200" kern="1200" dirty="0" smtClean="0">
                <a:solidFill>
                  <a:schemeClr val="tx1"/>
                </a:solidFill>
                <a:latin typeface="+mn-lt"/>
                <a:ea typeface="+mn-ea"/>
                <a:cs typeface="+mn-cs"/>
              </a:rPr>
              <a:t>Tour Guide needs to know:</a:t>
            </a:r>
          </a:p>
          <a:p>
            <a:pPr marL="171450" indent="-171450">
              <a:buFont typeface="Arial" pitchFamily="34" charset="0"/>
              <a:buChar char="•"/>
            </a:pPr>
            <a:r>
              <a:rPr lang="en-AU" sz="1200" kern="1200" dirty="0" smtClean="0">
                <a:solidFill>
                  <a:schemeClr val="tx1"/>
                </a:solidFill>
                <a:latin typeface="+mn-lt"/>
                <a:ea typeface="+mn-ea"/>
                <a:cs typeface="+mn-cs"/>
              </a:rPr>
              <a:t>Exactly who and how many will be involved with them on the tour and as part of the tour crew</a:t>
            </a:r>
          </a:p>
          <a:p>
            <a:pPr marL="171450" indent="-171450">
              <a:buFont typeface="Arial" pitchFamily="34" charset="0"/>
              <a:buChar char="•"/>
            </a:pPr>
            <a:r>
              <a:rPr lang="en-AU" sz="1200" kern="1200" dirty="0" smtClean="0">
                <a:solidFill>
                  <a:schemeClr val="tx1"/>
                </a:solidFill>
                <a:latin typeface="+mn-lt"/>
                <a:ea typeface="+mn-ea"/>
                <a:cs typeface="+mn-cs"/>
              </a:rPr>
              <a:t>Roles and responsibilities allocated to each person</a:t>
            </a:r>
          </a:p>
          <a:p>
            <a:pPr marL="171450" indent="-171450">
              <a:buFont typeface="Arial" pitchFamily="34" charset="0"/>
              <a:buChar char="•"/>
            </a:pPr>
            <a:r>
              <a:rPr lang="en-AU" sz="1200" kern="1200" dirty="0" smtClean="0">
                <a:solidFill>
                  <a:schemeClr val="tx1"/>
                </a:solidFill>
                <a:latin typeface="+mn-lt"/>
                <a:ea typeface="+mn-ea"/>
                <a:cs typeface="+mn-cs"/>
              </a:rPr>
              <a:t>How their own role integrates with the services to be provided by ‘other personnel’ who are also part of the tour and the interpretive activities to be conducted.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2924378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How is the interpretive activity to be conducted/presented?</a:t>
            </a:r>
          </a:p>
          <a:p>
            <a:r>
              <a:rPr lang="en-AU" sz="1200" kern="1200" dirty="0" smtClean="0">
                <a:solidFill>
                  <a:schemeClr val="tx1"/>
                </a:solidFill>
                <a:latin typeface="+mn-lt"/>
                <a:ea typeface="+mn-ea"/>
                <a:cs typeface="+mn-cs"/>
              </a:rPr>
              <a:t>The plans for the scheduled interpretive activities will detail how each activity is to be conducted.</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Tour Guide will have to obtain instruction/direction from the pre-prepared plans in relation to:</a:t>
            </a:r>
          </a:p>
          <a:p>
            <a:pPr marL="171450" indent="-171450">
              <a:buFont typeface="Arial" pitchFamily="34" charset="0"/>
              <a:buChar char="•"/>
            </a:pPr>
            <a:r>
              <a:rPr lang="en-AU" sz="1200" kern="1200" dirty="0" smtClean="0">
                <a:solidFill>
                  <a:schemeClr val="tx1"/>
                </a:solidFill>
                <a:latin typeface="+mn-lt"/>
                <a:ea typeface="+mn-ea"/>
                <a:cs typeface="+mn-cs"/>
              </a:rPr>
              <a:t>Interpretive techniques to be used:</a:t>
            </a:r>
          </a:p>
          <a:p>
            <a:pPr marL="628650" lvl="1" indent="-171450">
              <a:buFont typeface="Arial" pitchFamily="34" charset="0"/>
              <a:buChar char="•"/>
            </a:pPr>
            <a:r>
              <a:rPr lang="en-AU" sz="1200" kern="1200" dirty="0" smtClean="0">
                <a:solidFill>
                  <a:schemeClr val="tx1"/>
                </a:solidFill>
                <a:latin typeface="+mn-lt"/>
                <a:ea typeface="+mn-ea"/>
                <a:cs typeface="+mn-cs"/>
              </a:rPr>
              <a:t>Role playing; Using different voice techniques; Story-telling; Playing of games; Conducting activities; Presenting demonstrations; Delivering participant interaction situations; Holding sensory awareness exercises; Using materials to enhance illustration and experiences; Utilising technology to assist with delivery; Identifying further links where interested participants can find more information if they want to – when the tour has concluded</a:t>
            </a:r>
          </a:p>
          <a:p>
            <a:pPr marL="171450" indent="-171450">
              <a:buFont typeface="Arial" pitchFamily="34" charset="0"/>
              <a:buChar char="•"/>
            </a:pPr>
            <a:r>
              <a:rPr lang="en-AU" sz="1200" kern="1200" dirty="0" smtClean="0">
                <a:solidFill>
                  <a:schemeClr val="tx1"/>
                </a:solidFill>
                <a:latin typeface="+mn-lt"/>
                <a:ea typeface="+mn-ea"/>
                <a:cs typeface="+mn-cs"/>
              </a:rPr>
              <a:t>Tour and activity communication – Tour Guides need to look at the plans to:</a:t>
            </a:r>
          </a:p>
          <a:p>
            <a:pPr marL="628650" lvl="1" indent="-171450">
              <a:buFont typeface="Arial" pitchFamily="34" charset="0"/>
              <a:buChar char="•"/>
            </a:pPr>
            <a:r>
              <a:rPr lang="en-AU" sz="1200" kern="1200" dirty="0" smtClean="0">
                <a:solidFill>
                  <a:schemeClr val="tx1"/>
                </a:solidFill>
                <a:latin typeface="+mn-lt"/>
                <a:ea typeface="+mn-ea"/>
                <a:cs typeface="+mn-cs"/>
              </a:rPr>
              <a:t>Identify the communication equipment/facilities available and/or required to help delivery of activity information</a:t>
            </a:r>
          </a:p>
          <a:p>
            <a:pPr marL="628650" lvl="1" indent="-171450">
              <a:buFont typeface="Arial" pitchFamily="34" charset="0"/>
              <a:buChar char="•"/>
            </a:pPr>
            <a:r>
              <a:rPr lang="en-AU" sz="1200" kern="1200" dirty="0" smtClean="0">
                <a:solidFill>
                  <a:schemeClr val="tx1"/>
                </a:solidFill>
                <a:latin typeface="+mn-lt"/>
                <a:ea typeface="+mn-ea"/>
                <a:cs typeface="+mn-cs"/>
              </a:rPr>
              <a:t>Determine communication devices to be taken/used by tour staff </a:t>
            </a:r>
          </a:p>
          <a:p>
            <a:pPr marL="628650" lvl="1" indent="-171450">
              <a:buFont typeface="Arial" pitchFamily="34" charset="0"/>
              <a:buChar char="•"/>
            </a:pPr>
            <a:r>
              <a:rPr lang="en-AU" sz="1200" kern="1200" dirty="0" smtClean="0">
                <a:solidFill>
                  <a:schemeClr val="tx1"/>
                </a:solidFill>
                <a:latin typeface="+mn-lt"/>
                <a:ea typeface="+mn-ea"/>
                <a:cs typeface="+mn-cs"/>
              </a:rPr>
              <a:t>Identify the commentary for the tour and each interpretive activity  </a:t>
            </a:r>
          </a:p>
          <a:p>
            <a:pPr marL="171450" indent="-171450">
              <a:buFont typeface="Arial" pitchFamily="34" charset="0"/>
              <a:buChar char="•"/>
            </a:pPr>
            <a:r>
              <a:rPr lang="en-AU" sz="1200" kern="1200" dirty="0" smtClean="0">
                <a:solidFill>
                  <a:schemeClr val="tx1"/>
                </a:solidFill>
                <a:latin typeface="+mn-lt"/>
                <a:ea typeface="+mn-ea"/>
                <a:cs typeface="+mn-cs"/>
              </a:rPr>
              <a:t>Safety and security issues – to discharge Duty of Care.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525727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highlights </a:t>
            </a:r>
            <a:r>
              <a:rPr lang="en-AU" sz="1200" kern="1200" dirty="0" smtClean="0">
                <a:solidFill>
                  <a:schemeClr val="tx1"/>
                </a:solidFill>
                <a:latin typeface="+mn-lt"/>
                <a:ea typeface="+mn-ea"/>
                <a:cs typeface="+mn-cs"/>
              </a:rPr>
              <a:t>for a Tour Guide this means they need to read the plans which have been prepared to:</a:t>
            </a:r>
          </a:p>
          <a:p>
            <a:pPr marL="171450" indent="-171450">
              <a:buFont typeface="Arial" pitchFamily="34" charset="0"/>
              <a:buChar char="•"/>
            </a:pPr>
            <a:r>
              <a:rPr lang="en-AU" sz="1200" kern="1200" dirty="0" smtClean="0">
                <a:solidFill>
                  <a:schemeClr val="tx1"/>
                </a:solidFill>
                <a:latin typeface="+mn-lt"/>
                <a:ea typeface="+mn-ea"/>
                <a:cs typeface="+mn-cs"/>
              </a:rPr>
              <a:t>Become familiar with the risk management plans developed for the tour and for each activity</a:t>
            </a:r>
          </a:p>
          <a:p>
            <a:pPr marL="171450" indent="-171450">
              <a:buFont typeface="Arial" pitchFamily="34" charset="0"/>
              <a:buChar char="•"/>
            </a:pPr>
            <a:r>
              <a:rPr lang="en-AU" sz="1200" kern="1200" dirty="0" smtClean="0">
                <a:solidFill>
                  <a:schemeClr val="tx1"/>
                </a:solidFill>
                <a:latin typeface="+mn-lt"/>
                <a:ea typeface="+mn-ea"/>
                <a:cs typeface="+mn-cs"/>
              </a:rPr>
              <a:t>Gain familiarity with and a thorough understanding of all applicable risk control measures which are required to be implemented</a:t>
            </a:r>
          </a:p>
          <a:p>
            <a:pPr marL="171450" indent="-171450">
              <a:buFont typeface="Arial" pitchFamily="34" charset="0"/>
              <a:buChar char="•"/>
            </a:pPr>
            <a:r>
              <a:rPr lang="en-AU" sz="1200" kern="1200" dirty="0" smtClean="0">
                <a:solidFill>
                  <a:schemeClr val="tx1"/>
                </a:solidFill>
                <a:latin typeface="+mn-lt"/>
                <a:ea typeface="+mn-ea"/>
                <a:cs typeface="+mn-cs"/>
              </a:rPr>
              <a:t>Ensure all resources necessary to support and implement the required risk controls are loaded onto the tour group vehicle/s or otherwise taken or available for the trip/activities</a:t>
            </a:r>
          </a:p>
          <a:p>
            <a:pPr marL="171450" indent="-171450">
              <a:buFont typeface="Arial" pitchFamily="34" charset="0"/>
              <a:buChar char="•"/>
            </a:pPr>
            <a:r>
              <a:rPr lang="en-AU" sz="1200" kern="1200" dirty="0" smtClean="0">
                <a:solidFill>
                  <a:schemeClr val="tx1"/>
                </a:solidFill>
                <a:latin typeface="+mn-lt"/>
                <a:ea typeface="+mn-ea"/>
                <a:cs typeface="+mn-cs"/>
              </a:rPr>
              <a:t>Check the equipment and/or tour arrangements provide sufficient security to safeguard the staff and people on the tour/participating in interpretive activities and protect all physical assets.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770402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a:t>
            </a:r>
            <a:r>
              <a:rPr lang="en-AU" baseline="0" noProof="0" dirty="0" smtClean="0"/>
              <a:t> discusses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What resources are available to deliver the interpretive activity?</a:t>
            </a:r>
          </a:p>
          <a:p>
            <a:pPr marL="171450" indent="-171450">
              <a:buFont typeface="Arial" pitchFamily="34" charset="0"/>
              <a:buChar char="•"/>
            </a:pPr>
            <a:r>
              <a:rPr lang="en-AU" sz="1200" kern="1200" dirty="0" smtClean="0">
                <a:solidFill>
                  <a:schemeClr val="tx1"/>
                </a:solidFill>
                <a:latin typeface="+mn-lt"/>
                <a:ea typeface="+mn-ea"/>
                <a:cs typeface="+mn-cs"/>
              </a:rPr>
              <a:t>Human resources – these are the people will are available to provide assistance/services to the tour and the activities. There will always be specification relating to:</a:t>
            </a:r>
          </a:p>
          <a:p>
            <a:pPr marL="628650" lvl="1" indent="-171450">
              <a:buFont typeface="Arial" pitchFamily="34" charset="0"/>
              <a:buChar char="•"/>
            </a:pPr>
            <a:r>
              <a:rPr lang="en-US" sz="1200" kern="1200" dirty="0" smtClean="0">
                <a:solidFill>
                  <a:schemeClr val="tx1"/>
                </a:solidFill>
                <a:latin typeface="+mn-lt"/>
                <a:ea typeface="+mn-ea"/>
                <a:cs typeface="+mn-cs"/>
              </a:rPr>
              <a:t>Staff numbers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Hours available to each staff member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Total staff wages for the tour including payments to external providers of services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Physical resources – this relates to the items, materials, products, goods and equipment allocated to each tour and activity</a:t>
            </a:r>
          </a:p>
          <a:p>
            <a:pPr marL="628650" lvl="1" indent="-171450">
              <a:buFont typeface="Arial" pitchFamily="34" charset="0"/>
              <a:buChar char="•"/>
            </a:pPr>
            <a:r>
              <a:rPr lang="en-AU" sz="1200" kern="1200" dirty="0" smtClean="0">
                <a:solidFill>
                  <a:schemeClr val="tx1"/>
                </a:solidFill>
                <a:latin typeface="+mn-lt"/>
                <a:ea typeface="+mn-ea"/>
                <a:cs typeface="+mn-cs"/>
              </a:rPr>
              <a:t>An analysis of requirements relating to physical resources will have been done as part of the planning process and this will have resulted in the development of ‘Loading Sheets’ for each tour and/or interpretive activity</a:t>
            </a:r>
          </a:p>
          <a:p>
            <a:pPr marL="628650" lvl="1" indent="-171450">
              <a:buFont typeface="Arial" pitchFamily="34" charset="0"/>
              <a:buChar char="•"/>
            </a:pPr>
            <a:r>
              <a:rPr lang="en-AU" sz="1200" kern="1200" dirty="0" smtClean="0">
                <a:solidFill>
                  <a:schemeClr val="tx1"/>
                </a:solidFill>
                <a:latin typeface="+mn-lt"/>
                <a:ea typeface="+mn-ea"/>
                <a:cs typeface="+mn-cs"/>
              </a:rPr>
              <a:t>The Loading Sheets specify by type and quantity all the resources which the Tour Guide must take on the tour</a:t>
            </a:r>
          </a:p>
          <a:p>
            <a:pPr marL="628650" lvl="1" indent="-171450">
              <a:buFont typeface="Arial" pitchFamily="34" charset="0"/>
              <a:buChar char="•"/>
            </a:pPr>
            <a:r>
              <a:rPr lang="en-AU" sz="1200" kern="1200" dirty="0" smtClean="0">
                <a:solidFill>
                  <a:schemeClr val="tx1"/>
                </a:solidFill>
                <a:latin typeface="+mn-lt"/>
                <a:ea typeface="+mn-ea"/>
                <a:cs typeface="+mn-cs"/>
              </a:rPr>
              <a:t>All the identified resources need to taken but no additional items can be taken unless management agrees</a:t>
            </a:r>
          </a:p>
          <a:p>
            <a:pPr marL="628650" lvl="1" indent="-171450">
              <a:buFont typeface="Arial" pitchFamily="34" charset="0"/>
              <a:buChar char="•"/>
            </a:pPr>
            <a:r>
              <a:rPr lang="en-AU" sz="1200" kern="1200" dirty="0" smtClean="0">
                <a:solidFill>
                  <a:schemeClr val="tx1"/>
                </a:solidFill>
                <a:latin typeface="+mn-lt"/>
                <a:ea typeface="+mn-ea"/>
                <a:cs typeface="+mn-cs"/>
              </a:rPr>
              <a:t>The Tour Guide may be responsible for:</a:t>
            </a:r>
          </a:p>
          <a:p>
            <a:pPr marL="1085850" lvl="2" indent="-171450">
              <a:buFont typeface="Arial" pitchFamily="34" charset="0"/>
              <a:buChar char="•"/>
            </a:pPr>
            <a:r>
              <a:rPr lang="en-US" sz="1200" kern="1200" dirty="0" smtClean="0">
                <a:solidFill>
                  <a:schemeClr val="tx1"/>
                </a:solidFill>
                <a:latin typeface="+mn-lt"/>
                <a:ea typeface="+mn-ea"/>
                <a:cs typeface="+mn-cs"/>
              </a:rPr>
              <a:t>Physically loading these items onto tour group vehicles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Checking others have correctly loaded the required supplies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Financial resources – the Tour Guide must:</a:t>
            </a:r>
          </a:p>
          <a:p>
            <a:pPr marL="628650" lvl="1" indent="-171450">
              <a:buFont typeface="Arial" pitchFamily="34" charset="0"/>
              <a:buChar char="•"/>
            </a:pPr>
            <a:r>
              <a:rPr lang="en-US" sz="1200" kern="1200" dirty="0" smtClean="0">
                <a:solidFill>
                  <a:schemeClr val="tx1"/>
                </a:solidFill>
                <a:latin typeface="+mn-lt"/>
                <a:ea typeface="+mn-ea"/>
                <a:cs typeface="+mn-cs"/>
              </a:rPr>
              <a:t>Determine the budgets applicable to the tour and (where applicable) to each interpretive activity – there is a non-negotiable requirement all tours and activities must be accomplished/delivered within the allocated budgets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Identify and obtain the cash they need to take with them when they depart – this money:</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May be in local or other currency</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Can be used to purchase items, equipment and services while on tour</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Is used to pay entry fees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May be used to pay members of local/host communities for their participation in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Identify and obtain non-cash payment requisites – such as: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Credit cards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Letters authorising purchase on behalf of the Tour Operator.</a:t>
            </a:r>
            <a:endParaRPr lang="en-AU" sz="1200" kern="1200" dirty="0" smtClean="0">
              <a:solidFill>
                <a:schemeClr val="tx1"/>
              </a:solidFill>
              <a:latin typeface="+mn-lt"/>
              <a:ea typeface="+mn-ea"/>
              <a:cs typeface="+mn-cs"/>
            </a:endParaRPr>
          </a:p>
          <a:p>
            <a:pPr lvl="1">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1176234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notes Tour Guide must identify </a:t>
            </a:r>
            <a:r>
              <a:rPr lang="en-AU" sz="1200" kern="1200" dirty="0" smtClean="0">
                <a:solidFill>
                  <a:schemeClr val="tx1"/>
                </a:solidFill>
                <a:latin typeface="+mn-lt"/>
                <a:ea typeface="+mn-ea"/>
                <a:cs typeface="+mn-cs"/>
              </a:rPr>
              <a:t>resources required and/or available to:</a:t>
            </a:r>
          </a:p>
          <a:p>
            <a:pPr marL="171450" indent="-171450">
              <a:buFont typeface="Arial" pitchFamily="34" charset="0"/>
              <a:buChar char="•"/>
            </a:pPr>
            <a:r>
              <a:rPr lang="en-AU" sz="1200" kern="1200" dirty="0" smtClean="0">
                <a:solidFill>
                  <a:schemeClr val="tx1"/>
                </a:solidFill>
                <a:latin typeface="+mn-lt"/>
                <a:ea typeface="+mn-ea"/>
                <a:cs typeface="+mn-cs"/>
              </a:rPr>
              <a:t>Allow cross-checking of what is required against what is available to support/enable it</a:t>
            </a:r>
          </a:p>
          <a:p>
            <a:pPr marL="171450" indent="-171450">
              <a:buFont typeface="Arial" pitchFamily="34" charset="0"/>
              <a:buChar char="•"/>
            </a:pPr>
            <a:r>
              <a:rPr lang="en-AU" sz="1200" kern="1200" dirty="0" smtClean="0">
                <a:solidFill>
                  <a:schemeClr val="tx1"/>
                </a:solidFill>
                <a:latin typeface="+mn-lt"/>
                <a:ea typeface="+mn-ea"/>
                <a:cs typeface="+mn-cs"/>
              </a:rPr>
              <a:t>Become aware of the financial parameters for the tour and each activity and thus be able to operate the tour and the activities within budget</a:t>
            </a:r>
          </a:p>
          <a:p>
            <a:pPr marL="171450" indent="-171450">
              <a:buFont typeface="Arial" pitchFamily="34" charset="0"/>
              <a:buChar char="•"/>
            </a:pPr>
            <a:r>
              <a:rPr lang="en-AU" sz="1200" kern="1200" dirty="0" smtClean="0">
                <a:solidFill>
                  <a:schemeClr val="tx1"/>
                </a:solidFill>
                <a:latin typeface="+mn-lt"/>
                <a:ea typeface="+mn-ea"/>
                <a:cs typeface="+mn-cs"/>
              </a:rPr>
              <a:t>Make sure all required resources have been loaded/stowed before the tour departs.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2412465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a:t>
            </a:r>
          </a:p>
          <a:p>
            <a:pPr>
              <a:buFont typeface="Arial" pitchFamily="34" charset="0"/>
              <a:buNone/>
            </a:pPr>
            <a:r>
              <a:rPr lang="en-AU" sz="1200" b="1" kern="1200" dirty="0" smtClean="0">
                <a:solidFill>
                  <a:schemeClr val="tx1"/>
                </a:solidFill>
                <a:latin typeface="+mn-lt"/>
                <a:ea typeface="+mn-ea"/>
                <a:cs typeface="+mn-cs"/>
              </a:rPr>
              <a:t>Have necessary permissions been obtained?</a:t>
            </a:r>
          </a:p>
          <a:p>
            <a:r>
              <a:rPr lang="en-AU" sz="1200" kern="1200" dirty="0" smtClean="0">
                <a:solidFill>
                  <a:schemeClr val="tx1"/>
                </a:solidFill>
                <a:latin typeface="+mn-lt"/>
                <a:ea typeface="+mn-ea"/>
                <a:cs typeface="+mn-cs"/>
              </a:rPr>
              <a:t>This may require:</a:t>
            </a:r>
          </a:p>
          <a:p>
            <a:pPr marL="171450" indent="-171450">
              <a:buFont typeface="Arial" pitchFamily="34" charset="0"/>
              <a:buChar char="•"/>
            </a:pPr>
            <a:r>
              <a:rPr lang="en-AU" sz="1200" kern="1200" dirty="0" smtClean="0">
                <a:solidFill>
                  <a:schemeClr val="tx1"/>
                </a:solidFill>
                <a:latin typeface="+mn-lt"/>
                <a:ea typeface="+mn-ea"/>
                <a:cs typeface="+mn-cs"/>
              </a:rPr>
              <a:t>Sighting written evidence management has authorised the tour and the activities t be implemented as described in the plans according to the resources identified/available – or obtaining face-to-face authorisation from management</a:t>
            </a:r>
          </a:p>
          <a:p>
            <a:pPr marL="171450" indent="-171450">
              <a:buFont typeface="Arial" pitchFamily="34" charset="0"/>
              <a:buChar char="•"/>
            </a:pPr>
            <a:r>
              <a:rPr lang="en-AU" sz="1200" kern="1200" dirty="0" smtClean="0">
                <a:solidFill>
                  <a:schemeClr val="tx1"/>
                </a:solidFill>
                <a:latin typeface="+mn-lt"/>
                <a:ea typeface="+mn-ea"/>
                <a:cs typeface="+mn-cs"/>
              </a:rPr>
              <a:t>Verifying permits have been obtained allowing entry to certain areas – where these are necessary</a:t>
            </a:r>
          </a:p>
          <a:p>
            <a:pPr marL="171450" indent="-171450">
              <a:buFont typeface="Arial" pitchFamily="34" charset="0"/>
              <a:buChar char="•"/>
            </a:pPr>
            <a:r>
              <a:rPr lang="en-AU" sz="1200" kern="1200" dirty="0" smtClean="0">
                <a:solidFill>
                  <a:schemeClr val="tx1"/>
                </a:solidFill>
                <a:latin typeface="+mn-lt"/>
                <a:ea typeface="+mn-ea"/>
                <a:cs typeface="+mn-cs"/>
              </a:rPr>
              <a:t>Making sure there is respect for indigenous people by checking to see local/host communities have agreed to (as appropriate):</a:t>
            </a:r>
          </a:p>
          <a:p>
            <a:pPr marL="628650" lvl="1" indent="-171450">
              <a:buFont typeface="Arial" pitchFamily="34" charset="0"/>
              <a:buChar char="•"/>
            </a:pPr>
            <a:r>
              <a:rPr lang="en-US" sz="1200" kern="1200" dirty="0" smtClean="0">
                <a:solidFill>
                  <a:schemeClr val="tx1"/>
                </a:solidFill>
                <a:latin typeface="+mn-lt"/>
                <a:ea typeface="+mn-ea"/>
                <a:cs typeface="+mn-cs"/>
              </a:rPr>
              <a:t>Allow tours onto their lands/into their communities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Participate in/conduct certain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Provide nominated goods and/or services to the tour</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Confirming the requirements of all applicable ‘other requirements’ have been/will be met – these considerations may relate to:</a:t>
            </a:r>
          </a:p>
          <a:p>
            <a:pPr marL="628650" lvl="1" indent="-171450">
              <a:buFont typeface="Arial" pitchFamily="34" charset="0"/>
              <a:buChar char="•"/>
            </a:pPr>
            <a:r>
              <a:rPr lang="en-US" sz="1200" kern="1200" dirty="0" smtClean="0">
                <a:solidFill>
                  <a:schemeClr val="tx1"/>
                </a:solidFill>
                <a:latin typeface="+mn-lt"/>
                <a:ea typeface="+mn-ea"/>
                <a:cs typeface="+mn-cs"/>
              </a:rPr>
              <a:t>Compliance with agreed Codes of Conduct with local/host communities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Alignment with Codes of Practice developed by industry bodies/associations to which the Tour Operator belongs/subscribes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Requirements imposed by the QA scheme used by the Operator. </a:t>
            </a:r>
            <a:endParaRPr lang="en-AU" sz="1200" kern="1200" dirty="0" smtClean="0">
              <a:solidFill>
                <a:schemeClr val="tx1"/>
              </a:solidFill>
              <a:latin typeface="+mn-lt"/>
              <a:ea typeface="+mn-ea"/>
              <a:cs typeface="+mn-cs"/>
            </a:endParaRPr>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1335091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a:t>
            </a:r>
            <a:r>
              <a:rPr lang="en-AU" sz="1200" kern="1200" dirty="0" smtClean="0">
                <a:solidFill>
                  <a:schemeClr val="tx1"/>
                </a:solidFill>
                <a:latin typeface="+mn-lt"/>
                <a:ea typeface="+mn-ea"/>
                <a:cs typeface="+mn-cs"/>
              </a:rPr>
              <a:t>standard ways in which a Tour Guide can become aware of the planning considerations for a tour are:</a:t>
            </a:r>
          </a:p>
          <a:p>
            <a:pPr marL="171450" indent="-171450">
              <a:buFont typeface="Arial" pitchFamily="34" charset="0"/>
              <a:buChar char="•"/>
            </a:pPr>
            <a:r>
              <a:rPr lang="en-AU" sz="1200" kern="1200" dirty="0" smtClean="0">
                <a:solidFill>
                  <a:schemeClr val="tx1"/>
                </a:solidFill>
                <a:latin typeface="+mn-lt"/>
                <a:ea typeface="+mn-ea"/>
                <a:cs typeface="+mn-cs"/>
              </a:rPr>
              <a:t>Read tour files – and any planning documentation generated as part of the planning process for the tour</a:t>
            </a:r>
          </a:p>
          <a:p>
            <a:pPr marL="171450" indent="-171450">
              <a:buFont typeface="Arial" pitchFamily="34" charset="0"/>
              <a:buChar char="•"/>
            </a:pPr>
            <a:r>
              <a:rPr lang="en-AU" sz="1200" kern="1200" dirty="0" smtClean="0">
                <a:solidFill>
                  <a:schemeClr val="tx1"/>
                </a:solidFill>
                <a:latin typeface="+mn-lt"/>
                <a:ea typeface="+mn-ea"/>
                <a:cs typeface="+mn-cs"/>
              </a:rPr>
              <a:t>Read the Tour Brief</a:t>
            </a:r>
          </a:p>
          <a:p>
            <a:pPr marL="171450" indent="-171450">
              <a:buFont typeface="Arial" pitchFamily="34" charset="0"/>
              <a:buChar char="•"/>
            </a:pPr>
            <a:r>
              <a:rPr lang="en-AU" sz="1200" kern="1200" dirty="0" smtClean="0">
                <a:solidFill>
                  <a:schemeClr val="tx1"/>
                </a:solidFill>
                <a:latin typeface="+mn-lt"/>
                <a:ea typeface="+mn-ea"/>
                <a:cs typeface="+mn-cs"/>
              </a:rPr>
              <a:t>Read advertisements relating to the tour</a:t>
            </a:r>
          </a:p>
          <a:p>
            <a:pPr marL="171450" indent="-171450">
              <a:buFont typeface="Arial" pitchFamily="34" charset="0"/>
              <a:buChar char="•"/>
            </a:pPr>
            <a:r>
              <a:rPr lang="en-AU" sz="1200" kern="1200" dirty="0" smtClean="0">
                <a:solidFill>
                  <a:schemeClr val="tx1"/>
                </a:solidFill>
                <a:latin typeface="+mn-lt"/>
                <a:ea typeface="+mn-ea"/>
                <a:cs typeface="+mn-cs"/>
              </a:rPr>
              <a:t>Speak to management.</a:t>
            </a:r>
          </a:p>
          <a:p>
            <a:pPr>
              <a:buFont typeface="Arial" pitchFamily="34" charset="0"/>
              <a:buNone/>
            </a:pPr>
            <a:endParaRPr lang="en-AU" noProof="0" dirty="0" smtClean="0"/>
          </a:p>
          <a:p>
            <a:pPr>
              <a:buFont typeface="Arial" pitchFamily="34" charset="0"/>
              <a:buNone/>
            </a:pPr>
            <a:r>
              <a:rPr lang="en-AU" b="1" noProof="0" dirty="0" smtClean="0"/>
              <a:t>Classroom Activity – Handouts </a:t>
            </a:r>
          </a:p>
          <a:p>
            <a:pPr>
              <a:buFont typeface="Arial" pitchFamily="34" charset="0"/>
              <a:buNone/>
            </a:pPr>
            <a:r>
              <a:rPr lang="en-AU" b="0" noProof="0" dirty="0" smtClean="0"/>
              <a:t>Trainer distributes and discusses samples of:</a:t>
            </a:r>
          </a:p>
          <a:p>
            <a:pPr marL="171450" indent="-171450">
              <a:buFont typeface="Arial" pitchFamily="34" charset="0"/>
              <a:buChar char="•"/>
            </a:pPr>
            <a:r>
              <a:rPr lang="en-AU" b="0" noProof="0" dirty="0" smtClean="0"/>
              <a:t>Tour files</a:t>
            </a:r>
          </a:p>
          <a:p>
            <a:pPr marL="171450" indent="-171450">
              <a:buFont typeface="Arial" pitchFamily="34" charset="0"/>
              <a:buChar char="•"/>
            </a:pPr>
            <a:r>
              <a:rPr lang="en-AU" b="0" noProof="0" dirty="0" smtClean="0"/>
              <a:t>Tour briefs</a:t>
            </a:r>
          </a:p>
          <a:p>
            <a:pPr marL="171450" indent="-171450">
              <a:buFont typeface="Arial" pitchFamily="34" charset="0"/>
              <a:buChar char="•"/>
            </a:pPr>
            <a:r>
              <a:rPr lang="en-AU" b="0" noProof="0" dirty="0" smtClean="0"/>
              <a:t>Tour advertisements.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14719790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explain </a:t>
            </a:r>
            <a:r>
              <a:rPr lang="en-AU" sz="1200" kern="1200" dirty="0" smtClean="0">
                <a:solidFill>
                  <a:schemeClr val="tx1"/>
                </a:solidFill>
                <a:latin typeface="+mn-lt"/>
                <a:ea typeface="+mn-ea"/>
                <a:cs typeface="+mn-cs"/>
              </a:rPr>
              <a:t>standard ways in which a Tour Guide can become aware of the planning considerations for a tour:</a:t>
            </a:r>
          </a:p>
          <a:p>
            <a:pPr marL="171450" indent="-171450">
              <a:buFont typeface="Arial" pitchFamily="34" charset="0"/>
              <a:buChar char="•"/>
            </a:pPr>
            <a:r>
              <a:rPr lang="en-AU" sz="1200" kern="1200" dirty="0" smtClean="0">
                <a:solidFill>
                  <a:schemeClr val="tx1"/>
                </a:solidFill>
                <a:latin typeface="+mn-lt"/>
                <a:ea typeface="+mn-ea"/>
                <a:cs typeface="+mn-cs"/>
              </a:rPr>
              <a:t>Talk to those who prepared/developed or created the tour</a:t>
            </a:r>
          </a:p>
          <a:p>
            <a:pPr marL="171450" indent="-171450">
              <a:buFont typeface="Arial" pitchFamily="34" charset="0"/>
              <a:buChar char="•"/>
            </a:pPr>
            <a:r>
              <a:rPr lang="en-AU" sz="1200" kern="1200" dirty="0" smtClean="0">
                <a:solidFill>
                  <a:schemeClr val="tx1"/>
                </a:solidFill>
                <a:latin typeface="+mn-lt"/>
                <a:ea typeface="+mn-ea"/>
                <a:cs typeface="+mn-cs"/>
              </a:rPr>
              <a:t>Talk to other Tour Guides who conduct the tours</a:t>
            </a:r>
          </a:p>
          <a:p>
            <a:pPr marL="171450" indent="-171450">
              <a:buFont typeface="Arial" pitchFamily="34" charset="0"/>
              <a:buChar char="•"/>
            </a:pPr>
            <a:r>
              <a:rPr lang="en-AU" sz="1200" kern="1200" dirty="0" smtClean="0">
                <a:solidFill>
                  <a:schemeClr val="tx1"/>
                </a:solidFill>
                <a:latin typeface="+mn-lt"/>
                <a:ea typeface="+mn-ea"/>
                <a:cs typeface="+mn-cs"/>
              </a:rPr>
              <a:t>Talk to the person/s within the organisations who negotiated the contract for each private/custom tour – to identify their specific requirements</a:t>
            </a:r>
          </a:p>
          <a:p>
            <a:pPr marL="171450" indent="-171450">
              <a:buFont typeface="Arial" pitchFamily="34" charset="0"/>
              <a:buChar char="•"/>
            </a:pPr>
            <a:r>
              <a:rPr lang="en-AU" sz="1200" kern="1200" dirty="0" smtClean="0">
                <a:solidFill>
                  <a:schemeClr val="tx1"/>
                </a:solidFill>
                <a:latin typeface="+mn-lt"/>
                <a:ea typeface="+mn-ea"/>
                <a:cs typeface="+mn-cs"/>
              </a:rPr>
              <a:t>Take standard/scheduled tour as a tour group member/paying customer – to gain an appreciation of what is required.</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7356727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AU" noProof="0" dirty="0" smtClean="0"/>
              <a:t>Trainer</a:t>
            </a:r>
            <a:r>
              <a:rPr lang="en-AU" baseline="0" noProof="0" dirty="0" smtClean="0"/>
              <a:t> notes </a:t>
            </a:r>
            <a:r>
              <a:rPr lang="en-AU" sz="1200" kern="1200" dirty="0" smtClean="0">
                <a:solidFill>
                  <a:schemeClr val="tx1"/>
                </a:solidFill>
                <a:latin typeface="+mn-lt"/>
                <a:ea typeface="+mn-ea"/>
                <a:cs typeface="+mn-cs"/>
              </a:rPr>
              <a:t>before implementing a planned interpretive activity there is a need for the Tour Guide to consider pre-planning needs highlighting these needs will vary between the different types of activities which are to be presented so with this in mind consideration of pre-planning needs may embrace:</a:t>
            </a:r>
          </a:p>
          <a:p>
            <a:pPr marL="171450" indent="-171450">
              <a:buFont typeface="Arial" pitchFamily="34" charset="0"/>
              <a:buChar char="•"/>
            </a:pPr>
            <a:r>
              <a:rPr lang="en-AU" sz="1200" kern="1200" dirty="0" smtClean="0">
                <a:solidFill>
                  <a:schemeClr val="tx1"/>
                </a:solidFill>
                <a:latin typeface="+mn-lt"/>
                <a:ea typeface="+mn-ea"/>
                <a:cs typeface="+mn-cs"/>
              </a:rPr>
              <a:t>Consideration of the timing – to ensure: </a:t>
            </a:r>
          </a:p>
          <a:p>
            <a:pPr marL="628650" lvl="1" indent="-171450">
              <a:buFont typeface="Arial" pitchFamily="34" charset="0"/>
              <a:buChar char="•"/>
            </a:pPr>
            <a:r>
              <a:rPr lang="en-AU" sz="1200" kern="1200" dirty="0" smtClean="0">
                <a:solidFill>
                  <a:schemeClr val="tx1"/>
                </a:solidFill>
                <a:latin typeface="+mn-lt"/>
                <a:ea typeface="+mn-ea"/>
                <a:cs typeface="+mn-cs"/>
              </a:rPr>
              <a:t>The activity is going to be delivered in accordance with the itinerary</a:t>
            </a:r>
          </a:p>
          <a:p>
            <a:pPr marL="628650" lvl="1" indent="-171450">
              <a:buFont typeface="Arial" pitchFamily="34" charset="0"/>
              <a:buChar char="•"/>
            </a:pPr>
            <a:r>
              <a:rPr lang="en-AU" sz="1200" kern="1200" dirty="0" smtClean="0">
                <a:solidFill>
                  <a:schemeClr val="tx1"/>
                </a:solidFill>
                <a:latin typeface="+mn-lt"/>
                <a:ea typeface="+mn-ea"/>
                <a:cs typeface="+mn-cs"/>
              </a:rPr>
              <a:t>Confirmation of the duration of the activity to be presented – which means determining the finish time for the activity</a:t>
            </a:r>
          </a:p>
          <a:p>
            <a:pPr marL="628650" lvl="1" indent="-171450">
              <a:buFont typeface="Arial" pitchFamily="34" charset="0"/>
              <a:buChar char="•"/>
            </a:pPr>
            <a:r>
              <a:rPr lang="en-AU" sz="1200" kern="1200" dirty="0" smtClean="0">
                <a:solidFill>
                  <a:schemeClr val="tx1"/>
                </a:solidFill>
                <a:latin typeface="+mn-lt"/>
                <a:ea typeface="+mn-ea"/>
                <a:cs typeface="+mn-cs"/>
              </a:rPr>
              <a:t>Other activities and inclusions for the tour can be delivered as advertised/promised</a:t>
            </a:r>
          </a:p>
          <a:p>
            <a:pPr marL="628650" lvl="1" indent="-171450">
              <a:buFont typeface="Arial" pitchFamily="34" charset="0"/>
              <a:buChar char="•"/>
            </a:pPr>
            <a:r>
              <a:rPr lang="en-AU" sz="1200" kern="1200" dirty="0" smtClean="0">
                <a:solidFill>
                  <a:schemeClr val="tx1"/>
                </a:solidFill>
                <a:latin typeface="+mn-lt"/>
                <a:ea typeface="+mn-ea"/>
                <a:cs typeface="+mn-cs"/>
              </a:rPr>
              <a:t>Variations to planned timing needs to be made to accommodate/respond to issues arising on tour</a:t>
            </a:r>
          </a:p>
          <a:p>
            <a:pPr marL="628650" lvl="1" indent="-171450">
              <a:buFont typeface="Arial" pitchFamily="34" charset="0"/>
              <a:buChar char="•"/>
            </a:pPr>
            <a:r>
              <a:rPr lang="en-AU" sz="1200" kern="1200" dirty="0" smtClean="0">
                <a:solidFill>
                  <a:schemeClr val="tx1"/>
                </a:solidFill>
                <a:latin typeface="+mn-lt"/>
                <a:ea typeface="+mn-ea"/>
                <a:cs typeface="+mn-cs"/>
              </a:rPr>
              <a:t>Local/host communities are ready to receive the tour group and/or begin their participation in/engagement with the interpretive activity</a:t>
            </a:r>
          </a:p>
          <a:p>
            <a:pPr marL="171450" indent="-171450">
              <a:buFont typeface="Arial" pitchFamily="34" charset="0"/>
              <a:buChar char="•"/>
            </a:pPr>
            <a:r>
              <a:rPr lang="en-AU" sz="1200" kern="1200" dirty="0" smtClean="0">
                <a:solidFill>
                  <a:schemeClr val="tx1"/>
                </a:solidFill>
                <a:latin typeface="+mn-lt"/>
                <a:ea typeface="+mn-ea"/>
                <a:cs typeface="+mn-cs"/>
              </a:rPr>
              <a:t>Consideration of the weather – to:</a:t>
            </a:r>
          </a:p>
          <a:p>
            <a:pPr marL="628650" lvl="1" indent="-171450">
              <a:buFont typeface="Arial" pitchFamily="34" charset="0"/>
              <a:buChar char="•"/>
            </a:pPr>
            <a:r>
              <a:rPr lang="en-AU" sz="1200" kern="1200" dirty="0" smtClean="0">
                <a:solidFill>
                  <a:schemeClr val="tx1"/>
                </a:solidFill>
                <a:latin typeface="+mn-lt"/>
                <a:ea typeface="+mn-ea"/>
                <a:cs typeface="+mn-cs"/>
              </a:rPr>
              <a:t>Make sure it is safe to conduct the activity given the weather conditions which exist at the time</a:t>
            </a:r>
          </a:p>
          <a:p>
            <a:pPr marL="628650" lvl="1" indent="-171450">
              <a:buFont typeface="Arial" pitchFamily="34" charset="0"/>
              <a:buChar char="•"/>
            </a:pPr>
            <a:r>
              <a:rPr lang="en-AU" sz="1200" kern="1200" dirty="0" smtClean="0">
                <a:solidFill>
                  <a:schemeClr val="tx1"/>
                </a:solidFill>
                <a:latin typeface="+mn-lt"/>
                <a:ea typeface="+mn-ea"/>
                <a:cs typeface="+mn-cs"/>
              </a:rPr>
              <a:t>Verify appropriate resources are available to suit the weather conditions which apply at the time</a:t>
            </a:r>
          </a:p>
          <a:p>
            <a:pPr marL="628650" lvl="1" indent="-171450">
              <a:buFont typeface="Arial" pitchFamily="34" charset="0"/>
              <a:buChar char="•"/>
            </a:pPr>
            <a:r>
              <a:rPr lang="en-AU" sz="1200" kern="1200" dirty="0" smtClean="0">
                <a:solidFill>
                  <a:schemeClr val="tx1"/>
                </a:solidFill>
                <a:latin typeface="+mn-lt"/>
                <a:ea typeface="+mn-ea"/>
                <a:cs typeface="+mn-cs"/>
              </a:rPr>
              <a:t>Decide if an alternative interpretive activity needs to be presented instead of the original, planned activity</a:t>
            </a:r>
          </a:p>
          <a:p>
            <a:pPr marL="628650" lvl="1" indent="-171450">
              <a:buFont typeface="Arial" pitchFamily="34" charset="0"/>
              <a:buChar char="•"/>
            </a:pPr>
            <a:r>
              <a:rPr lang="en-AU" sz="1200" kern="1200" dirty="0" smtClean="0">
                <a:solidFill>
                  <a:schemeClr val="tx1"/>
                </a:solidFill>
                <a:latin typeface="+mn-lt"/>
                <a:ea typeface="+mn-ea"/>
                <a:cs typeface="+mn-cs"/>
              </a:rPr>
              <a:t>Determine if the interpretive activity needs to be cancelled due to adverse weather conditions</a:t>
            </a:r>
          </a:p>
          <a:p>
            <a:pPr marL="171450" indent="-171450">
              <a:buFont typeface="Arial" pitchFamily="34" charset="0"/>
              <a:buChar char="•"/>
            </a:pPr>
            <a:r>
              <a:rPr lang="en-AU" sz="1200" kern="1200" dirty="0" smtClean="0">
                <a:solidFill>
                  <a:schemeClr val="tx1"/>
                </a:solidFill>
                <a:latin typeface="+mn-lt"/>
                <a:ea typeface="+mn-ea"/>
                <a:cs typeface="+mn-cs"/>
              </a:rPr>
              <a:t>Consideration of the physical resources – to verify:</a:t>
            </a:r>
          </a:p>
          <a:p>
            <a:pPr marL="628650" lvl="1" indent="-171450">
              <a:buFont typeface="Arial" pitchFamily="34" charset="0"/>
              <a:buChar char="•"/>
            </a:pPr>
            <a:r>
              <a:rPr lang="en-AU" sz="1200" kern="1200" dirty="0" smtClean="0">
                <a:solidFill>
                  <a:schemeClr val="tx1"/>
                </a:solidFill>
                <a:latin typeface="+mn-lt"/>
                <a:ea typeface="+mn-ea"/>
                <a:cs typeface="+mn-cs"/>
              </a:rPr>
              <a:t>Correct/required resources are available to allow the planned interpretive activity to be delivered</a:t>
            </a:r>
          </a:p>
          <a:p>
            <a:pPr marL="628650" lvl="1" indent="-171450">
              <a:buFont typeface="Arial" pitchFamily="34" charset="0"/>
              <a:buChar char="•"/>
            </a:pPr>
            <a:r>
              <a:rPr lang="en-AU" sz="1200" kern="1200" dirty="0" smtClean="0">
                <a:solidFill>
                  <a:schemeClr val="tx1"/>
                </a:solidFill>
                <a:latin typeface="+mn-lt"/>
                <a:ea typeface="+mn-ea"/>
                <a:cs typeface="+mn-cs"/>
              </a:rPr>
              <a:t>Sufficient resources are available and ready to use</a:t>
            </a:r>
          </a:p>
          <a:p>
            <a:pPr marL="628650" lvl="1" indent="-171450">
              <a:buFont typeface="Arial" pitchFamily="34" charset="0"/>
              <a:buChar char="•"/>
            </a:pPr>
            <a:r>
              <a:rPr lang="en-AU" sz="1200" kern="1200" dirty="0" smtClean="0">
                <a:solidFill>
                  <a:schemeClr val="tx1"/>
                </a:solidFill>
                <a:latin typeface="+mn-lt"/>
                <a:ea typeface="+mn-ea"/>
                <a:cs typeface="+mn-cs"/>
              </a:rPr>
              <a:t>The available resources are safe to use</a:t>
            </a:r>
          </a:p>
          <a:p>
            <a:pPr marL="628650" lvl="1" indent="-171450">
              <a:buFont typeface="Arial" pitchFamily="34" charset="0"/>
              <a:buChar char="•"/>
            </a:pPr>
            <a:r>
              <a:rPr lang="en-AU" sz="1200" kern="1200" dirty="0" smtClean="0">
                <a:solidFill>
                  <a:schemeClr val="tx1"/>
                </a:solidFill>
                <a:latin typeface="+mn-lt"/>
                <a:ea typeface="+mn-ea"/>
                <a:cs typeface="+mn-cs"/>
              </a:rPr>
              <a:t>Resources advertised as being available are ready to be used and/or distributed to tour group members</a:t>
            </a:r>
          </a:p>
          <a:p>
            <a:pPr marL="628650" lvl="1" indent="-171450">
              <a:buFont typeface="Arial" pitchFamily="34" charset="0"/>
              <a:buChar char="•"/>
            </a:pPr>
            <a:r>
              <a:rPr lang="en-AU" sz="1200" kern="1200" dirty="0" smtClean="0">
                <a:solidFill>
                  <a:schemeClr val="tx1"/>
                </a:solidFill>
                <a:latin typeface="+mn-lt"/>
                <a:ea typeface="+mn-ea"/>
                <a:cs typeface="+mn-cs"/>
              </a:rPr>
              <a:t>The security of resources to be used and those which are to be left on the tour vehicle</a:t>
            </a:r>
          </a:p>
          <a:p>
            <a:pPr marL="628650" lvl="1" indent="-171450">
              <a:buFont typeface="Arial" pitchFamily="34" charset="0"/>
              <a:buChar char="•"/>
            </a:pPr>
            <a:r>
              <a:rPr lang="en-AU" sz="1200" kern="1200" dirty="0" smtClean="0">
                <a:solidFill>
                  <a:schemeClr val="tx1"/>
                </a:solidFill>
                <a:latin typeface="+mn-lt"/>
                <a:ea typeface="+mn-ea"/>
                <a:cs typeface="+mn-cs"/>
              </a:rPr>
              <a:t>Equipment and items provided by third party providers are safe and suitable for the activity to be conducted.</a:t>
            </a:r>
          </a:p>
          <a:p>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26417777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a:t>
            </a:r>
            <a:r>
              <a:rPr lang="en-AU" baseline="0" noProof="0" dirty="0" smtClean="0"/>
              <a:t> continues discussing pre-planning needs with reference to:</a:t>
            </a:r>
          </a:p>
          <a:p>
            <a:pPr marL="171450" indent="-171450">
              <a:buFont typeface="Arial" pitchFamily="34" charset="0"/>
              <a:buChar char="•"/>
            </a:pPr>
            <a:r>
              <a:rPr lang="en-AU" sz="1200" kern="1200" dirty="0" smtClean="0">
                <a:solidFill>
                  <a:schemeClr val="tx1"/>
                </a:solidFill>
                <a:latin typeface="+mn-lt"/>
                <a:ea typeface="+mn-ea"/>
                <a:cs typeface="+mn-cs"/>
              </a:rPr>
              <a:t>Consideration of the personnel – to ensure:</a:t>
            </a:r>
          </a:p>
          <a:p>
            <a:pPr marL="628650" lvl="1" indent="-171450">
              <a:buFont typeface="Arial" pitchFamily="34" charset="0"/>
              <a:buChar char="•"/>
            </a:pPr>
            <a:r>
              <a:rPr lang="en-AU" sz="1200" kern="1200" dirty="0" smtClean="0">
                <a:solidFill>
                  <a:schemeClr val="tx1"/>
                </a:solidFill>
                <a:latin typeface="+mn-lt"/>
                <a:ea typeface="+mn-ea"/>
                <a:cs typeface="+mn-cs"/>
              </a:rPr>
              <a:t>All tour staff understand their role and responsibilities in relation to the interpretive activity</a:t>
            </a:r>
          </a:p>
          <a:p>
            <a:pPr marL="628650" lvl="1" indent="-171450">
              <a:buFont typeface="Arial" pitchFamily="34" charset="0"/>
              <a:buChar char="•"/>
            </a:pPr>
            <a:r>
              <a:rPr lang="en-AU" sz="1200" kern="1200" dirty="0" smtClean="0">
                <a:solidFill>
                  <a:schemeClr val="tx1"/>
                </a:solidFill>
                <a:latin typeface="+mn-lt"/>
                <a:ea typeface="+mn-ea"/>
                <a:cs typeface="+mn-cs"/>
              </a:rPr>
              <a:t>Staff are ready to start the activity</a:t>
            </a:r>
          </a:p>
          <a:p>
            <a:pPr marL="628650" lvl="1" indent="-171450">
              <a:buFont typeface="Arial" pitchFamily="34" charset="0"/>
              <a:buChar char="•"/>
            </a:pPr>
            <a:r>
              <a:rPr lang="en-AU" sz="1200" kern="1200" dirty="0" smtClean="0">
                <a:solidFill>
                  <a:schemeClr val="tx1"/>
                </a:solidFill>
                <a:latin typeface="+mn-lt"/>
                <a:ea typeface="+mn-ea"/>
                <a:cs typeface="+mn-cs"/>
              </a:rPr>
              <a:t>The Tour Guide or the person(s) who will lead/conduct or present the activity is ready to start</a:t>
            </a:r>
          </a:p>
          <a:p>
            <a:pPr marL="628650" lvl="1" indent="-171450">
              <a:buFont typeface="Arial" pitchFamily="34" charset="0"/>
              <a:buChar char="•"/>
            </a:pPr>
            <a:r>
              <a:rPr lang="en-AU" sz="1200" kern="1200" dirty="0" smtClean="0">
                <a:solidFill>
                  <a:schemeClr val="tx1"/>
                </a:solidFill>
                <a:latin typeface="+mn-lt"/>
                <a:ea typeface="+mn-ea"/>
                <a:cs typeface="+mn-cs"/>
              </a:rPr>
              <a:t>Members of the local/host community are ready to play their part</a:t>
            </a:r>
          </a:p>
          <a:p>
            <a:pPr marL="171450" indent="-171450">
              <a:buFont typeface="Arial" pitchFamily="34" charset="0"/>
              <a:buChar char="•"/>
            </a:pPr>
            <a:r>
              <a:rPr lang="en-AU" sz="1200" kern="1200" dirty="0" smtClean="0">
                <a:solidFill>
                  <a:schemeClr val="tx1"/>
                </a:solidFill>
                <a:latin typeface="+mn-lt"/>
                <a:ea typeface="+mn-ea"/>
                <a:cs typeface="+mn-cs"/>
              </a:rPr>
              <a:t>Consideration of the customers/tour group members – to: </a:t>
            </a:r>
          </a:p>
          <a:p>
            <a:pPr marL="628650" lvl="1" indent="-171450">
              <a:buFont typeface="Arial" pitchFamily="34" charset="0"/>
              <a:buChar char="•"/>
            </a:pPr>
            <a:r>
              <a:rPr lang="en-AU" sz="1200" kern="1200" dirty="0" smtClean="0">
                <a:solidFill>
                  <a:schemeClr val="tx1"/>
                </a:solidFill>
                <a:latin typeface="+mn-lt"/>
                <a:ea typeface="+mn-ea"/>
                <a:cs typeface="+mn-cs"/>
              </a:rPr>
              <a:t>Determine their readiness to engage with the interpretive activity</a:t>
            </a:r>
          </a:p>
          <a:p>
            <a:pPr marL="628650" lvl="1" indent="-171450">
              <a:buFont typeface="Arial" pitchFamily="34" charset="0"/>
              <a:buChar char="•"/>
            </a:pPr>
            <a:r>
              <a:rPr lang="en-AU" sz="1200" kern="1200" dirty="0" smtClean="0">
                <a:solidFill>
                  <a:schemeClr val="tx1"/>
                </a:solidFill>
                <a:latin typeface="+mn-lt"/>
                <a:ea typeface="+mn-ea"/>
                <a:cs typeface="+mn-cs"/>
              </a:rPr>
              <a:t>Calculate when and where relevant information about the activity will be communicated to/shared with them</a:t>
            </a:r>
          </a:p>
          <a:p>
            <a:pPr marL="628650" lvl="1" indent="-171450">
              <a:buFont typeface="Arial" pitchFamily="34" charset="0"/>
              <a:buChar char="•"/>
            </a:pPr>
            <a:r>
              <a:rPr lang="en-AU" sz="1200" kern="1200" dirty="0" smtClean="0">
                <a:solidFill>
                  <a:schemeClr val="tx1"/>
                </a:solidFill>
                <a:latin typeface="+mn-lt"/>
                <a:ea typeface="+mn-ea"/>
                <a:cs typeface="+mn-cs"/>
              </a:rPr>
              <a:t>Determine their physical, mental and/or attitudinal capacity or potential to safely engage with the activity</a:t>
            </a:r>
          </a:p>
          <a:p>
            <a:pPr marL="628650" lvl="1" indent="-171450">
              <a:buFont typeface="Arial" pitchFamily="34" charset="0"/>
              <a:buChar char="•"/>
            </a:pPr>
            <a:r>
              <a:rPr lang="en-AU" sz="1200" kern="1200" dirty="0" smtClean="0">
                <a:solidFill>
                  <a:schemeClr val="tx1"/>
                </a:solidFill>
                <a:latin typeface="+mn-lt"/>
                <a:ea typeface="+mn-ea"/>
                <a:cs typeface="+mn-cs"/>
              </a:rPr>
              <a:t>Identify any special requests or requirements which they have made regarding the activity and/or their engagement with it</a:t>
            </a:r>
          </a:p>
          <a:p>
            <a:pPr marL="171450" indent="-171450">
              <a:buFont typeface="Arial" pitchFamily="34" charset="0"/>
              <a:buChar char="•"/>
            </a:pPr>
            <a:r>
              <a:rPr lang="en-AU" sz="1200" kern="1200" dirty="0" smtClean="0">
                <a:solidFill>
                  <a:schemeClr val="tx1"/>
                </a:solidFill>
                <a:latin typeface="+mn-lt"/>
                <a:ea typeface="+mn-ea"/>
                <a:cs typeface="+mn-cs"/>
              </a:rPr>
              <a:t>Consideration of the physical environment – to: </a:t>
            </a:r>
          </a:p>
          <a:p>
            <a:pPr marL="628650" lvl="1" indent="-171450">
              <a:buFont typeface="Arial" pitchFamily="34" charset="0"/>
              <a:buChar char="•"/>
            </a:pPr>
            <a:r>
              <a:rPr lang="en-AU" sz="1200" kern="1200" dirty="0" smtClean="0">
                <a:solidFill>
                  <a:schemeClr val="tx1"/>
                </a:solidFill>
                <a:latin typeface="+mn-lt"/>
                <a:ea typeface="+mn-ea"/>
                <a:cs typeface="+mn-cs"/>
              </a:rPr>
              <a:t>Verify the location in which the interpretive activity is to be conducted</a:t>
            </a:r>
          </a:p>
          <a:p>
            <a:pPr marL="628650" lvl="1" indent="-171450">
              <a:buFont typeface="Arial" pitchFamily="34" charset="0"/>
              <a:buChar char="•"/>
            </a:pPr>
            <a:r>
              <a:rPr lang="en-AU" sz="1200" kern="1200" dirty="0" smtClean="0">
                <a:solidFill>
                  <a:schemeClr val="tx1"/>
                </a:solidFill>
                <a:latin typeface="+mn-lt"/>
                <a:ea typeface="+mn-ea"/>
                <a:cs typeface="+mn-cs"/>
              </a:rPr>
              <a:t>Check the safety and suitability of the location</a:t>
            </a:r>
          </a:p>
          <a:p>
            <a:pPr marL="628650" lvl="1" indent="-171450">
              <a:buFont typeface="Arial" pitchFamily="34" charset="0"/>
              <a:buChar char="•"/>
            </a:pPr>
            <a:r>
              <a:rPr lang="en-AU" sz="1200" kern="1200" dirty="0" smtClean="0">
                <a:solidFill>
                  <a:schemeClr val="tx1"/>
                </a:solidFill>
                <a:latin typeface="+mn-lt"/>
                <a:ea typeface="+mn-ea"/>
                <a:cs typeface="+mn-cs"/>
              </a:rPr>
              <a:t>Confirm the physical environment reflects the physical environment used when the risk management/planning for the activity was undertaken</a:t>
            </a:r>
          </a:p>
          <a:p>
            <a:pPr marL="628650" lvl="1" indent="-171450">
              <a:buFont typeface="Arial" pitchFamily="34" charset="0"/>
              <a:buChar char="•"/>
            </a:pPr>
            <a:r>
              <a:rPr lang="en-AU" sz="1200" kern="1200" dirty="0" smtClean="0">
                <a:solidFill>
                  <a:schemeClr val="tx1"/>
                </a:solidFill>
                <a:latin typeface="+mn-lt"/>
                <a:ea typeface="+mn-ea"/>
                <a:cs typeface="+mn-cs"/>
              </a:rPr>
              <a:t>Demonstrate respect for indigenous people and local communities</a:t>
            </a:r>
          </a:p>
          <a:p>
            <a:pPr marL="628650" lvl="1" indent="-171450">
              <a:buFont typeface="Arial" pitchFamily="34" charset="0"/>
              <a:buChar char="•"/>
            </a:pPr>
            <a:r>
              <a:rPr lang="en-AU" sz="1200" kern="1200" dirty="0" smtClean="0">
                <a:solidFill>
                  <a:schemeClr val="tx1"/>
                </a:solidFill>
                <a:latin typeface="+mn-lt"/>
                <a:ea typeface="+mn-ea"/>
                <a:cs typeface="+mn-cs"/>
              </a:rPr>
              <a:t>Take action to minimise the impact of the interpretive activity on the physical environment.</a:t>
            </a:r>
          </a:p>
          <a:p>
            <a:pPr>
              <a:buFont typeface="Arial" pitchFamily="34" charset="0"/>
              <a:buChar char="•"/>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Tour Guide to attend and:</a:t>
            </a:r>
          </a:p>
          <a:p>
            <a:pPr marL="171450" indent="-171450">
              <a:buFont typeface="Arial" pitchFamily="34" charset="0"/>
              <a:buChar char="•"/>
            </a:pPr>
            <a:r>
              <a:rPr lang="en-AU" b="0" noProof="0" dirty="0" smtClean="0"/>
              <a:t>Discuss pre-planning</a:t>
            </a:r>
            <a:r>
              <a:rPr lang="en-AU" b="0" baseline="0" noProof="0" dirty="0" smtClean="0"/>
              <a:t> needs they consider</a:t>
            </a:r>
          </a:p>
          <a:p>
            <a:pPr marL="171450" indent="-171450">
              <a:buFont typeface="Arial" pitchFamily="34" charset="0"/>
              <a:buChar char="•"/>
            </a:pPr>
            <a:r>
              <a:rPr lang="en-AU" b="0" baseline="0" noProof="0" dirty="0" smtClean="0"/>
              <a:t>Explain potential impact of same</a:t>
            </a:r>
          </a:p>
          <a:p>
            <a:pPr marL="171450" indent="-171450">
              <a:buFont typeface="Arial" pitchFamily="34" charset="0"/>
              <a:buChar char="•"/>
            </a:pPr>
            <a:r>
              <a:rPr lang="en-AU" b="0" noProof="0" dirty="0" smtClean="0"/>
              <a:t>Illustrate actions required.</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665315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a:t>
            </a:r>
            <a:r>
              <a:rPr lang="en-AU" sz="1200" kern="1200" dirty="0" smtClean="0">
                <a:solidFill>
                  <a:schemeClr val="tx1"/>
                </a:solidFill>
                <a:latin typeface="+mn-lt"/>
                <a:ea typeface="+mn-ea"/>
                <a:cs typeface="+mn-cs"/>
              </a:rPr>
              <a:t>Tour Guides need to consider ‘issues arising’ during the conduct of the tour when they schedule an interpretive activity observing examples of issues arising can be:</a:t>
            </a:r>
          </a:p>
          <a:p>
            <a:pPr marL="171450" indent="-171450">
              <a:buFont typeface="Arial" pitchFamily="34" charset="0"/>
              <a:buChar char="•"/>
            </a:pPr>
            <a:r>
              <a:rPr lang="en-AU" sz="1200" kern="1200" dirty="0" smtClean="0">
                <a:solidFill>
                  <a:schemeClr val="tx1"/>
                </a:solidFill>
                <a:latin typeface="+mn-lt"/>
                <a:ea typeface="+mn-ea"/>
                <a:cs typeface="+mn-cs"/>
              </a:rPr>
              <a:t>Previous interpretive activities running over time and leaving less time for the next activity</a:t>
            </a:r>
          </a:p>
          <a:p>
            <a:pPr marL="171450" indent="-171450">
              <a:buFont typeface="Arial" pitchFamily="34" charset="0"/>
              <a:buChar char="•"/>
            </a:pPr>
            <a:r>
              <a:rPr lang="en-AU" sz="1200" kern="1200" dirty="0" smtClean="0">
                <a:solidFill>
                  <a:schemeClr val="tx1"/>
                </a:solidFill>
                <a:latin typeface="+mn-lt"/>
                <a:ea typeface="+mn-ea"/>
                <a:cs typeface="+mn-cs"/>
              </a:rPr>
              <a:t>Previous interpretive activities running under time thus leaving more/extra time for the next activity </a:t>
            </a:r>
          </a:p>
          <a:p>
            <a:pPr marL="171450" indent="-171450">
              <a:buFont typeface="Arial" pitchFamily="34" charset="0"/>
              <a:buChar char="•"/>
            </a:pPr>
            <a:r>
              <a:rPr lang="en-AU" sz="1200" kern="1200" dirty="0" smtClean="0">
                <a:solidFill>
                  <a:schemeClr val="tx1"/>
                </a:solidFill>
                <a:latin typeface="+mn-lt"/>
                <a:ea typeface="+mn-ea"/>
                <a:cs typeface="+mn-cs"/>
              </a:rPr>
              <a:t>Need to cancel or in some way amend an interpretive activity because of safety, weather or other reasons</a:t>
            </a:r>
          </a:p>
          <a:p>
            <a:pPr marL="171450" indent="-171450">
              <a:buFont typeface="Arial" pitchFamily="34" charset="0"/>
              <a:buChar char="•"/>
            </a:pPr>
            <a:r>
              <a:rPr lang="en-AU" sz="1200" kern="1200" dirty="0" smtClean="0">
                <a:solidFill>
                  <a:schemeClr val="tx1"/>
                </a:solidFill>
                <a:latin typeface="+mn-lt"/>
                <a:ea typeface="+mn-ea"/>
                <a:cs typeface="+mn-cs"/>
              </a:rPr>
              <a:t>Requests/demands from tour group members for certain things to be done, changed or omitted from the itinerary.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3078766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with examples of possible issues arising:</a:t>
            </a:r>
          </a:p>
          <a:p>
            <a:pPr marL="171450" indent="-171450">
              <a:buFont typeface="Arial" pitchFamily="34" charset="0"/>
              <a:buChar char="•"/>
            </a:pPr>
            <a:r>
              <a:rPr lang="en-AU" sz="1200" kern="1200" dirty="0" smtClean="0">
                <a:solidFill>
                  <a:schemeClr val="tx1"/>
                </a:solidFill>
                <a:latin typeface="+mn-lt"/>
                <a:ea typeface="+mn-ea"/>
                <a:cs typeface="+mn-cs"/>
              </a:rPr>
              <a:t>Unacceptable behaviour and/or attitudes demonstrated by certain tour group members</a:t>
            </a:r>
          </a:p>
          <a:p>
            <a:pPr marL="171450" indent="-171450">
              <a:buFont typeface="Arial" pitchFamily="34" charset="0"/>
              <a:buChar char="•"/>
            </a:pPr>
            <a:r>
              <a:rPr lang="en-AU" sz="1200" kern="1200" dirty="0" smtClean="0">
                <a:solidFill>
                  <a:schemeClr val="tx1"/>
                </a:solidFill>
                <a:latin typeface="+mn-lt"/>
                <a:ea typeface="+mn-ea"/>
                <a:cs typeface="+mn-cs"/>
              </a:rPr>
              <a:t>Accidents and/or incidents which have occurred when the tour group participated in a previous interpretive activity</a:t>
            </a:r>
          </a:p>
          <a:p>
            <a:pPr marL="171450" indent="-171450">
              <a:buFont typeface="Arial" pitchFamily="34" charset="0"/>
              <a:buChar char="•"/>
            </a:pPr>
            <a:r>
              <a:rPr lang="en-AU" sz="1200" kern="1200" dirty="0" smtClean="0">
                <a:solidFill>
                  <a:schemeClr val="tx1"/>
                </a:solidFill>
                <a:latin typeface="+mn-lt"/>
                <a:ea typeface="+mn-ea"/>
                <a:cs typeface="+mn-cs"/>
              </a:rPr>
              <a:t>Vehicle breakdown and/or road closures which have caused delays to the itinerary</a:t>
            </a:r>
          </a:p>
          <a:p>
            <a:pPr marL="171450" indent="-171450">
              <a:buFont typeface="Arial" pitchFamily="34" charset="0"/>
              <a:buChar char="•"/>
            </a:pPr>
            <a:r>
              <a:rPr lang="en-AU" sz="1200" kern="1200" dirty="0" smtClean="0">
                <a:solidFill>
                  <a:schemeClr val="tx1"/>
                </a:solidFill>
                <a:latin typeface="+mn-lt"/>
                <a:ea typeface="+mn-ea"/>
                <a:cs typeface="+mn-cs"/>
              </a:rPr>
              <a:t>Sickness of tour group members or involvement of participants in an accident of some sort.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4939172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reasons </a:t>
            </a:r>
            <a:r>
              <a:rPr lang="en-AU" sz="1200" kern="1200" dirty="0" smtClean="0">
                <a:solidFill>
                  <a:schemeClr val="tx1"/>
                </a:solidFill>
                <a:latin typeface="+mn-lt"/>
                <a:ea typeface="+mn-ea"/>
                <a:cs typeface="+mn-cs"/>
              </a:rPr>
              <a:t>Tour Guides need to consider these issues to plan regarding possible actions/options:</a:t>
            </a:r>
          </a:p>
          <a:p>
            <a:pPr marL="171450" indent="-171450">
              <a:buFont typeface="Arial" pitchFamily="34" charset="0"/>
              <a:buChar char="•"/>
            </a:pPr>
            <a:r>
              <a:rPr lang="en-AU" sz="1200" kern="1200" dirty="0" smtClean="0">
                <a:solidFill>
                  <a:schemeClr val="tx1"/>
                </a:solidFill>
                <a:latin typeface="+mn-lt"/>
                <a:ea typeface="+mn-ea"/>
                <a:cs typeface="+mn-cs"/>
              </a:rPr>
              <a:t>To adjust timing of the activity to maintain the itinerary times/schedule</a:t>
            </a:r>
          </a:p>
          <a:p>
            <a:pPr marL="171450" indent="-171450">
              <a:buFont typeface="Arial" pitchFamily="34" charset="0"/>
              <a:buChar char="•"/>
            </a:pPr>
            <a:r>
              <a:rPr lang="en-AU" sz="1200" kern="1200" dirty="0" smtClean="0">
                <a:solidFill>
                  <a:schemeClr val="tx1"/>
                </a:solidFill>
                <a:latin typeface="+mn-lt"/>
                <a:ea typeface="+mn-ea"/>
                <a:cs typeface="+mn-cs"/>
              </a:rPr>
              <a:t>To adjust activities to accommodate the requests and/or competency level of tour group members</a:t>
            </a:r>
          </a:p>
          <a:p>
            <a:pPr marL="171450" indent="-171450">
              <a:buFont typeface="Arial" pitchFamily="34" charset="0"/>
              <a:buChar char="•"/>
            </a:pPr>
            <a:r>
              <a:rPr lang="en-AU" sz="1200" kern="1200" dirty="0" smtClean="0">
                <a:solidFill>
                  <a:schemeClr val="tx1"/>
                </a:solidFill>
                <a:latin typeface="+mn-lt"/>
                <a:ea typeface="+mn-ea"/>
                <a:cs typeface="+mn-cs"/>
              </a:rPr>
              <a:t>To notify other personnel regarding the issues arising and their impact/how they will impact the upcoming interpretive activity.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17189219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state reasons </a:t>
            </a:r>
            <a:r>
              <a:rPr lang="en-AU" sz="1200" kern="1200" dirty="0" smtClean="0">
                <a:solidFill>
                  <a:schemeClr val="tx1"/>
                </a:solidFill>
                <a:latin typeface="+mn-lt"/>
                <a:ea typeface="+mn-ea"/>
                <a:cs typeface="+mn-cs"/>
              </a:rPr>
              <a:t>Tour Guides need to consider these issues:</a:t>
            </a:r>
          </a:p>
          <a:p>
            <a:pPr marL="171450" indent="-171450">
              <a:buFont typeface="Arial" pitchFamily="34" charset="0"/>
              <a:buChar char="•"/>
            </a:pPr>
            <a:r>
              <a:rPr lang="en-AU" sz="1200" kern="1200" dirty="0" smtClean="0">
                <a:solidFill>
                  <a:schemeClr val="tx1"/>
                </a:solidFill>
                <a:latin typeface="+mn-lt"/>
                <a:ea typeface="+mn-ea"/>
                <a:cs typeface="+mn-cs"/>
              </a:rPr>
              <a:t>To integrate new learning/experiences into an activity because that learning/experience was unable to be delivered in a previous activity that was cancelled or cut short</a:t>
            </a:r>
          </a:p>
          <a:p>
            <a:pPr marL="171450" indent="-171450">
              <a:buFont typeface="Arial" pitchFamily="34" charset="0"/>
              <a:buChar char="•"/>
            </a:pPr>
            <a:r>
              <a:rPr lang="en-AU" sz="1200" kern="1200" dirty="0" smtClean="0">
                <a:solidFill>
                  <a:schemeClr val="tx1"/>
                </a:solidFill>
                <a:latin typeface="+mn-lt"/>
                <a:ea typeface="+mn-ea"/>
                <a:cs typeface="+mn-cs"/>
              </a:rPr>
              <a:t>To make sure respect for local/host communities is maintained – for example, where a decision may be made to cancel an activity/visit due to unacceptable behaviour/attitudes of a tour group</a:t>
            </a:r>
          </a:p>
          <a:p>
            <a:pPr marL="171450" indent="-171450">
              <a:buFont typeface="Arial" pitchFamily="34" charset="0"/>
              <a:buChar char="•"/>
            </a:pPr>
            <a:r>
              <a:rPr lang="en-AU" sz="1200" kern="1200" dirty="0" smtClean="0">
                <a:solidFill>
                  <a:schemeClr val="tx1"/>
                </a:solidFill>
                <a:latin typeface="+mn-lt"/>
                <a:ea typeface="+mn-ea"/>
                <a:cs typeface="+mn-cs"/>
              </a:rPr>
              <a:t>To optimise the safety of tour group members with reference to whatever issue is deemed to be potentially impacting them.</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22364284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adds </a:t>
            </a:r>
            <a:r>
              <a:rPr lang="en-AU" sz="1200" kern="1200" dirty="0" smtClean="0">
                <a:solidFill>
                  <a:schemeClr val="tx1"/>
                </a:solidFill>
                <a:latin typeface="+mn-lt"/>
                <a:ea typeface="+mn-ea"/>
                <a:cs typeface="+mn-cs"/>
              </a:rPr>
              <a:t>allied issues also need to be considered and these are deemed to be issues which impact on, or flow from, timing of the activity highlighting consideration in relation to scheduling therefore may need to address topics such as:</a:t>
            </a:r>
          </a:p>
          <a:p>
            <a:pPr marL="171450" indent="-171450">
              <a:buFont typeface="Arial" pitchFamily="34" charset="0"/>
              <a:buChar char="•"/>
            </a:pPr>
            <a:r>
              <a:rPr lang="en-AU" sz="1200" kern="1200" dirty="0" smtClean="0">
                <a:solidFill>
                  <a:schemeClr val="tx1"/>
                </a:solidFill>
                <a:latin typeface="+mn-lt"/>
                <a:ea typeface="+mn-ea"/>
                <a:cs typeface="+mn-cs"/>
              </a:rPr>
              <a:t>Keeping the tour on schedule according to the itinerary by (for example) making up time by reducing the duration of </a:t>
            </a:r>
            <a:r>
              <a:rPr lang="en-AU" sz="1200" i="1" kern="1200" dirty="0" smtClean="0">
                <a:solidFill>
                  <a:schemeClr val="tx1"/>
                </a:solidFill>
                <a:latin typeface="+mn-lt"/>
                <a:ea typeface="+mn-ea"/>
                <a:cs typeface="+mn-cs"/>
              </a:rPr>
              <a:t>this</a:t>
            </a:r>
            <a:r>
              <a:rPr lang="en-AU" sz="1200" kern="1200" dirty="0" smtClean="0">
                <a:solidFill>
                  <a:schemeClr val="tx1"/>
                </a:solidFill>
                <a:latin typeface="+mn-lt"/>
                <a:ea typeface="+mn-ea"/>
                <a:cs typeface="+mn-cs"/>
              </a:rPr>
              <a:t> activity – because the previous one ran over time</a:t>
            </a:r>
          </a:p>
          <a:p>
            <a:pPr marL="171450" indent="-171450">
              <a:buFont typeface="Arial" pitchFamily="34" charset="0"/>
              <a:buChar char="•"/>
            </a:pPr>
            <a:r>
              <a:rPr lang="en-AU" sz="1200" kern="1200" dirty="0" smtClean="0">
                <a:solidFill>
                  <a:schemeClr val="tx1"/>
                </a:solidFill>
                <a:latin typeface="+mn-lt"/>
                <a:ea typeface="+mn-ea"/>
                <a:cs typeface="+mn-cs"/>
              </a:rPr>
              <a:t>Ensuring budgetary constraints are always met – which means there is never a situation where a Tour Guide can do ‘whatever it takes’ to resolve or retrieve a situation </a:t>
            </a:r>
          </a:p>
          <a:p>
            <a:pPr marL="171450" indent="-171450">
              <a:buFont typeface="Arial" pitchFamily="34" charset="0"/>
              <a:buChar char="•"/>
            </a:pPr>
            <a:r>
              <a:rPr lang="en-AU" sz="1200" kern="1200" dirty="0" smtClean="0">
                <a:solidFill>
                  <a:schemeClr val="tx1"/>
                </a:solidFill>
                <a:latin typeface="+mn-lt"/>
                <a:ea typeface="+mn-ea"/>
                <a:cs typeface="+mn-cs"/>
              </a:rPr>
              <a:t>Cancelling a scheduled interpretive activity – on the basis of insufficient time or because of the fitness level and/or physical capacity of tour group members</a:t>
            </a:r>
          </a:p>
          <a:p>
            <a:pPr marL="171450" indent="-171450">
              <a:buFont typeface="Arial" pitchFamily="34" charset="0"/>
              <a:buChar char="•"/>
            </a:pPr>
            <a:r>
              <a:rPr lang="en-AU" sz="1200" kern="1200" dirty="0" smtClean="0">
                <a:solidFill>
                  <a:schemeClr val="tx1"/>
                </a:solidFill>
                <a:latin typeface="+mn-lt"/>
                <a:ea typeface="+mn-ea"/>
                <a:cs typeface="+mn-cs"/>
              </a:rPr>
              <a:t>Changing the commentary – so it addresses the changed circumstances and/or activities for the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4373049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with allied issues:</a:t>
            </a:r>
          </a:p>
          <a:p>
            <a:pPr marL="171450" indent="-171450">
              <a:buFont typeface="Arial" pitchFamily="34" charset="0"/>
              <a:buChar char="•"/>
            </a:pPr>
            <a:r>
              <a:rPr lang="en-AU" sz="1200" kern="1200" dirty="0" smtClean="0">
                <a:solidFill>
                  <a:schemeClr val="tx1"/>
                </a:solidFill>
                <a:latin typeface="+mn-lt"/>
                <a:ea typeface="+mn-ea"/>
                <a:cs typeface="+mn-cs"/>
              </a:rPr>
              <a:t>Checking to make sure a </a:t>
            </a:r>
            <a:r>
              <a:rPr lang="en-AU" sz="1200" i="1" kern="1200" dirty="0" smtClean="0">
                <a:solidFill>
                  <a:schemeClr val="tx1"/>
                </a:solidFill>
                <a:latin typeface="+mn-lt"/>
                <a:ea typeface="+mn-ea"/>
                <a:cs typeface="+mn-cs"/>
              </a:rPr>
              <a:t>delayed</a:t>
            </a:r>
            <a:r>
              <a:rPr lang="en-AU" sz="1200" kern="1200" dirty="0" smtClean="0">
                <a:solidFill>
                  <a:schemeClr val="tx1"/>
                </a:solidFill>
                <a:latin typeface="+mn-lt"/>
                <a:ea typeface="+mn-ea"/>
                <a:cs typeface="+mn-cs"/>
              </a:rPr>
              <a:t> interpretive activity can nonetheless still be presented safely – in terms of available light, weather and the physical condition (tiredness) of the tour group members</a:t>
            </a:r>
          </a:p>
          <a:p>
            <a:pPr marL="171450" indent="-171450">
              <a:buFont typeface="Arial" pitchFamily="34" charset="0"/>
              <a:buChar char="•"/>
            </a:pPr>
            <a:r>
              <a:rPr lang="en-AU" sz="1200" kern="1200" dirty="0" smtClean="0">
                <a:solidFill>
                  <a:schemeClr val="tx1"/>
                </a:solidFill>
                <a:latin typeface="+mn-lt"/>
                <a:ea typeface="+mn-ea"/>
                <a:cs typeface="+mn-cs"/>
              </a:rPr>
              <a:t>Communicating with stakeholders and/or third parties (communities, providers, carriers, destinations, caterers) – and advising the tour will be arriving earlier/later than expected/arranged</a:t>
            </a:r>
          </a:p>
          <a:p>
            <a:pPr marL="171450" indent="-171450">
              <a:buFont typeface="Arial" pitchFamily="34" charset="0"/>
              <a:buChar char="•"/>
            </a:pPr>
            <a:r>
              <a:rPr lang="en-AU" sz="1200" kern="1200" dirty="0" smtClean="0">
                <a:solidFill>
                  <a:schemeClr val="tx1"/>
                </a:solidFill>
                <a:latin typeface="+mn-lt"/>
                <a:ea typeface="+mn-ea"/>
                <a:cs typeface="+mn-cs"/>
              </a:rPr>
              <a:t>Reviewing and revising the itinerary while on tour – by adjusting inclusions and activities in order to finish the tour on time</a:t>
            </a:r>
          </a:p>
          <a:p>
            <a:pPr marL="171450" indent="-171450">
              <a:buFont typeface="Arial" pitchFamily="34" charset="0"/>
              <a:buChar char="•"/>
            </a:pPr>
            <a:r>
              <a:rPr lang="en-AU" sz="1200" kern="1200" dirty="0" smtClean="0">
                <a:solidFill>
                  <a:schemeClr val="tx1"/>
                </a:solidFill>
                <a:latin typeface="+mn-lt"/>
                <a:ea typeface="+mn-ea"/>
                <a:cs typeface="+mn-cs"/>
              </a:rPr>
              <a:t>Taking notes about the situation – so these may be used as the basis for feedback provided by the Tour Guide at the de-briefing session after the tour has finished.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26370802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a:t>
            </a:r>
            <a:r>
              <a:rPr lang="en-AU" sz="1200" kern="1200" dirty="0" smtClean="0">
                <a:solidFill>
                  <a:schemeClr val="tx1"/>
                </a:solidFill>
                <a:latin typeface="+mn-lt"/>
                <a:ea typeface="+mn-ea"/>
                <a:cs typeface="+mn-cs"/>
              </a:rPr>
              <a:t>plans prepared for the interpretive activity should be adhered to for the following reasons:</a:t>
            </a:r>
          </a:p>
          <a:p>
            <a:pPr marL="171450" indent="-171450">
              <a:buFont typeface="Arial" pitchFamily="34" charset="0"/>
              <a:buChar char="•"/>
            </a:pPr>
            <a:r>
              <a:rPr lang="en-AU" sz="1200" kern="1200" dirty="0" smtClean="0">
                <a:solidFill>
                  <a:schemeClr val="tx1"/>
                </a:solidFill>
                <a:latin typeface="+mn-lt"/>
                <a:ea typeface="+mn-ea"/>
                <a:cs typeface="+mn-cs"/>
              </a:rPr>
              <a:t>Following the plans decreases the time required for set up – because functional directions and an effective list of preparatory activities in sequence/order will be provided</a:t>
            </a:r>
          </a:p>
          <a:p>
            <a:pPr marL="171450" indent="-171450">
              <a:buFont typeface="Arial" pitchFamily="34" charset="0"/>
              <a:buChar char="•"/>
            </a:pPr>
            <a:r>
              <a:rPr lang="en-AU" sz="1200" kern="1200" dirty="0" smtClean="0">
                <a:solidFill>
                  <a:schemeClr val="tx1"/>
                </a:solidFill>
                <a:latin typeface="+mn-lt"/>
                <a:ea typeface="+mn-ea"/>
                <a:cs typeface="+mn-cs"/>
              </a:rPr>
              <a:t>They have been subjected to standard risk assessment protocols of risk identification, risk  evaluation and risk control – and are therefore safe to conduct only ‘as planned’</a:t>
            </a:r>
          </a:p>
          <a:p>
            <a:pPr marL="171450" indent="-171450">
              <a:buFont typeface="Arial" pitchFamily="34" charset="0"/>
              <a:buChar char="•"/>
            </a:pPr>
            <a:r>
              <a:rPr lang="en-AU" sz="1200" kern="1200" dirty="0" smtClean="0">
                <a:solidFill>
                  <a:schemeClr val="tx1"/>
                </a:solidFill>
                <a:latin typeface="+mn-lt"/>
                <a:ea typeface="+mn-ea"/>
                <a:cs typeface="+mn-cs"/>
              </a:rPr>
              <a:t>They will comply with budget constraints imposed by the Tour Operator – regarding labour, physical resources of other expenditure items</a:t>
            </a:r>
          </a:p>
          <a:p>
            <a:pPr marL="171450" indent="-171450">
              <a:buFont typeface="Arial" pitchFamily="34" charset="0"/>
              <a:buChar char="•"/>
            </a:pPr>
            <a:r>
              <a:rPr lang="en-AU" sz="1200" kern="1200" dirty="0" smtClean="0">
                <a:solidFill>
                  <a:schemeClr val="tx1"/>
                </a:solidFill>
                <a:latin typeface="+mn-lt"/>
                <a:ea typeface="+mn-ea"/>
                <a:cs typeface="+mn-cs"/>
              </a:rPr>
              <a:t>The plans may have been developed in collaboration/consultation with certain bodies/people who have insisted or required they be implemented ‘as stated.’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2523345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explaining reasons to stick to plans for activity set-ups:</a:t>
            </a:r>
          </a:p>
          <a:p>
            <a:pPr marL="171450" indent="-171450">
              <a:buFont typeface="Arial" pitchFamily="34" charset="0"/>
              <a:buChar char="•"/>
            </a:pPr>
            <a:r>
              <a:rPr lang="en-AU" sz="1200" kern="1200" dirty="0" smtClean="0">
                <a:solidFill>
                  <a:schemeClr val="tx1"/>
                </a:solidFill>
                <a:latin typeface="+mn-lt"/>
                <a:ea typeface="+mn-ea"/>
                <a:cs typeface="+mn-cs"/>
              </a:rPr>
              <a:t>Implementation according to the plan ensures compliance with all safety requirements – and Duty of Care obligations</a:t>
            </a:r>
          </a:p>
          <a:p>
            <a:pPr marL="171450" indent="-171450">
              <a:buFont typeface="Arial" pitchFamily="34" charset="0"/>
              <a:buChar char="•"/>
            </a:pPr>
            <a:r>
              <a:rPr lang="en-AU" sz="1200" kern="1200" dirty="0" smtClean="0">
                <a:solidFill>
                  <a:schemeClr val="tx1"/>
                </a:solidFill>
                <a:latin typeface="+mn-lt"/>
                <a:ea typeface="+mn-ea"/>
                <a:cs typeface="+mn-cs"/>
              </a:rPr>
              <a:t>They will have been created to allow ‘the right amount’ of time for each activity – based on its individual type on the basis of trialling, experience and feedback received</a:t>
            </a:r>
          </a:p>
          <a:p>
            <a:pPr marL="171450" indent="-171450">
              <a:buFont typeface="Arial" pitchFamily="34" charset="0"/>
              <a:buChar char="•"/>
            </a:pPr>
            <a:r>
              <a:rPr lang="en-AU" sz="1200" kern="1200" dirty="0" smtClean="0">
                <a:solidFill>
                  <a:schemeClr val="tx1"/>
                </a:solidFill>
                <a:latin typeface="+mn-lt"/>
                <a:ea typeface="+mn-ea"/>
                <a:cs typeface="+mn-cs"/>
              </a:rPr>
              <a:t>Implementation of an interpretive activity according to the plan will optimise the outcomes for the activity – and therefore increase satisfaction levels for tour group members, thereby increasing the potential for return and/or referral business.</a:t>
            </a:r>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37449339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a:t>
            </a:r>
            <a:r>
              <a:rPr lang="en-AU" sz="1200" kern="1200" dirty="0" smtClean="0">
                <a:solidFill>
                  <a:schemeClr val="tx1"/>
                </a:solidFill>
                <a:latin typeface="+mn-lt"/>
                <a:ea typeface="+mn-ea"/>
                <a:cs typeface="+mn-cs"/>
              </a:rPr>
              <a:t>setting up an interpretive activity can involve the following generic actions:</a:t>
            </a:r>
          </a:p>
          <a:p>
            <a:pPr marL="171450" indent="-171450">
              <a:buFont typeface="Arial" pitchFamily="34" charset="0"/>
              <a:buChar char="•"/>
            </a:pPr>
            <a:r>
              <a:rPr lang="en-AU" sz="1200" kern="1200" dirty="0" smtClean="0">
                <a:solidFill>
                  <a:schemeClr val="tx1"/>
                </a:solidFill>
                <a:latin typeface="+mn-lt"/>
                <a:ea typeface="+mn-ea"/>
                <a:cs typeface="+mn-cs"/>
              </a:rPr>
              <a:t>Obtaining resources – from:</a:t>
            </a:r>
          </a:p>
          <a:p>
            <a:pPr marL="628650" lvl="1" indent="-171450">
              <a:buFont typeface="Arial" pitchFamily="34" charset="0"/>
              <a:buChar char="•"/>
            </a:pPr>
            <a:r>
              <a:rPr lang="en-AU" sz="1200" kern="1200" dirty="0" smtClean="0">
                <a:solidFill>
                  <a:schemeClr val="tx1"/>
                </a:solidFill>
                <a:latin typeface="+mn-lt"/>
                <a:ea typeface="+mn-ea"/>
                <a:cs typeface="+mn-cs"/>
              </a:rPr>
              <a:t>Tour vehicles</a:t>
            </a:r>
          </a:p>
          <a:p>
            <a:pPr marL="628650" lvl="1" indent="-171450">
              <a:buFont typeface="Arial" pitchFamily="34" charset="0"/>
              <a:buChar char="•"/>
            </a:pPr>
            <a:r>
              <a:rPr lang="en-AU" sz="1200" kern="1200" dirty="0" smtClean="0">
                <a:solidFill>
                  <a:schemeClr val="tx1"/>
                </a:solidFill>
                <a:latin typeface="+mn-lt"/>
                <a:ea typeface="+mn-ea"/>
                <a:cs typeface="+mn-cs"/>
              </a:rPr>
              <a:t>Third party providers</a:t>
            </a:r>
          </a:p>
          <a:p>
            <a:pPr marL="171450" indent="-171450">
              <a:buFont typeface="Arial" pitchFamily="34" charset="0"/>
              <a:buChar char="•"/>
            </a:pPr>
            <a:r>
              <a:rPr lang="en-AU" sz="1200" kern="1200" dirty="0" smtClean="0">
                <a:solidFill>
                  <a:schemeClr val="tx1"/>
                </a:solidFill>
                <a:latin typeface="+mn-lt"/>
                <a:ea typeface="+mn-ea"/>
                <a:cs typeface="+mn-cs"/>
              </a:rPr>
              <a:t>Inspecting the condition of equipment/items – to: </a:t>
            </a:r>
          </a:p>
          <a:p>
            <a:pPr marL="628650" lvl="1" indent="-171450">
              <a:buFont typeface="Arial" pitchFamily="34" charset="0"/>
              <a:buChar char="•"/>
            </a:pPr>
            <a:r>
              <a:rPr lang="en-AU" sz="1200" kern="1200" dirty="0" smtClean="0">
                <a:solidFill>
                  <a:schemeClr val="tx1"/>
                </a:solidFill>
                <a:latin typeface="+mn-lt"/>
                <a:ea typeface="+mn-ea"/>
                <a:cs typeface="+mn-cs"/>
              </a:rPr>
              <a:t>Make sure they are safe</a:t>
            </a:r>
          </a:p>
          <a:p>
            <a:pPr marL="628650" lvl="1" indent="-171450">
              <a:buFont typeface="Arial" pitchFamily="34" charset="0"/>
              <a:buChar char="•"/>
            </a:pPr>
            <a:r>
              <a:rPr lang="en-AU" sz="1200" kern="1200" dirty="0" smtClean="0">
                <a:solidFill>
                  <a:schemeClr val="tx1"/>
                </a:solidFill>
                <a:latin typeface="+mn-lt"/>
                <a:ea typeface="+mn-ea"/>
                <a:cs typeface="+mn-cs"/>
              </a:rPr>
              <a:t>Clean and/or repair items as necessary</a:t>
            </a:r>
          </a:p>
          <a:p>
            <a:pPr marL="171450" indent="-171450">
              <a:buFont typeface="Arial" pitchFamily="34" charset="0"/>
              <a:buChar char="•"/>
            </a:pPr>
            <a:r>
              <a:rPr lang="en-AU" sz="1200" kern="1200" dirty="0" smtClean="0">
                <a:solidFill>
                  <a:schemeClr val="tx1"/>
                </a:solidFill>
                <a:latin typeface="+mn-lt"/>
                <a:ea typeface="+mn-ea"/>
                <a:cs typeface="+mn-cs"/>
              </a:rPr>
              <a:t>Obtaining handout materials, equipment and other physical resources – for: </a:t>
            </a:r>
          </a:p>
          <a:p>
            <a:pPr marL="628650" lvl="1" indent="-171450">
              <a:buFont typeface="Arial" pitchFamily="34" charset="0"/>
              <a:buChar char="•"/>
            </a:pPr>
            <a:r>
              <a:rPr lang="en-AU" sz="1200" kern="1200" dirty="0" smtClean="0">
                <a:solidFill>
                  <a:schemeClr val="tx1"/>
                </a:solidFill>
                <a:latin typeface="+mn-lt"/>
                <a:ea typeface="+mn-ea"/>
                <a:cs typeface="+mn-cs"/>
              </a:rPr>
              <a:t>Distribution to tour group members</a:t>
            </a:r>
          </a:p>
          <a:p>
            <a:pPr marL="628650" lvl="1" indent="-171450">
              <a:buFont typeface="Arial" pitchFamily="34" charset="0"/>
              <a:buChar char="•"/>
            </a:pPr>
            <a:r>
              <a:rPr lang="en-AU" sz="1200" kern="1200" dirty="0" smtClean="0">
                <a:solidFill>
                  <a:schemeClr val="tx1"/>
                </a:solidFill>
                <a:latin typeface="+mn-lt"/>
                <a:ea typeface="+mn-ea"/>
                <a:cs typeface="+mn-cs"/>
              </a:rPr>
              <a:t>Use within the activity</a:t>
            </a:r>
          </a:p>
          <a:p>
            <a:pPr marL="171450" indent="-171450">
              <a:buFont typeface="Arial" pitchFamily="34" charset="0"/>
              <a:buChar char="•"/>
            </a:pPr>
            <a:r>
              <a:rPr lang="en-AU" sz="1200" kern="1200" dirty="0" smtClean="0">
                <a:solidFill>
                  <a:schemeClr val="tx1"/>
                </a:solidFill>
                <a:latin typeface="+mn-lt"/>
                <a:ea typeface="+mn-ea"/>
                <a:cs typeface="+mn-cs"/>
              </a:rPr>
              <a:t>Checking the activity area – to: </a:t>
            </a:r>
          </a:p>
          <a:p>
            <a:pPr marL="628650" lvl="1" indent="-171450">
              <a:buFont typeface="Arial" pitchFamily="34" charset="0"/>
              <a:buChar char="•"/>
            </a:pPr>
            <a:r>
              <a:rPr lang="en-AU" sz="1200" kern="1200" dirty="0" smtClean="0">
                <a:solidFill>
                  <a:schemeClr val="tx1"/>
                </a:solidFill>
                <a:latin typeface="+mn-lt"/>
                <a:ea typeface="+mn-ea"/>
                <a:cs typeface="+mn-cs"/>
              </a:rPr>
              <a:t>Confirm safety issues</a:t>
            </a:r>
          </a:p>
          <a:p>
            <a:pPr marL="628650" lvl="1" indent="-171450">
              <a:buFont typeface="Arial" pitchFamily="34" charset="0"/>
              <a:buChar char="•"/>
            </a:pPr>
            <a:r>
              <a:rPr lang="en-AU" sz="1200" kern="1200" dirty="0" smtClean="0">
                <a:solidFill>
                  <a:schemeClr val="tx1"/>
                </a:solidFill>
                <a:latin typeface="+mn-lt"/>
                <a:ea typeface="+mn-ea"/>
                <a:cs typeface="+mn-cs"/>
              </a:rPr>
              <a:t>Determine appropriate availability of location/s</a:t>
            </a:r>
          </a:p>
          <a:p>
            <a:pPr marL="171450" indent="-171450">
              <a:buFont typeface="Arial" pitchFamily="34" charset="0"/>
              <a:buChar char="•"/>
            </a:pPr>
            <a:r>
              <a:rPr lang="en-AU" sz="1200" kern="1200" dirty="0" smtClean="0">
                <a:solidFill>
                  <a:schemeClr val="tx1"/>
                </a:solidFill>
                <a:latin typeface="+mn-lt"/>
                <a:ea typeface="+mn-ea"/>
                <a:cs typeface="+mn-cs"/>
              </a:rPr>
              <a:t>Holding a briefing – with:</a:t>
            </a:r>
          </a:p>
          <a:p>
            <a:pPr marL="628650" lvl="1" indent="-171450">
              <a:buFont typeface="Arial" pitchFamily="34" charset="0"/>
              <a:buChar char="•"/>
            </a:pPr>
            <a:r>
              <a:rPr lang="en-AU" sz="1200" kern="1200" dirty="0" smtClean="0">
                <a:solidFill>
                  <a:schemeClr val="tx1"/>
                </a:solidFill>
                <a:latin typeface="+mn-lt"/>
                <a:ea typeface="+mn-ea"/>
                <a:cs typeface="+mn-cs"/>
              </a:rPr>
              <a:t>Other Tour Guides and staff from the business</a:t>
            </a:r>
          </a:p>
          <a:p>
            <a:pPr marL="628650" lvl="1" indent="-171450">
              <a:buFont typeface="Arial" pitchFamily="34" charset="0"/>
              <a:buChar char="•"/>
            </a:pPr>
            <a:r>
              <a:rPr lang="en-AU" sz="1200" kern="1200" dirty="0" smtClean="0">
                <a:solidFill>
                  <a:schemeClr val="tx1"/>
                </a:solidFill>
                <a:latin typeface="+mn-lt"/>
                <a:ea typeface="+mn-ea"/>
                <a:cs typeface="+mn-cs"/>
              </a:rPr>
              <a:t>Others from outside the business who will be participating in the activity and/or delivering some aspect of the activity.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1442072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notes at </a:t>
            </a:r>
            <a:r>
              <a:rPr lang="en-AU" sz="1200" kern="1200" dirty="0" smtClean="0">
                <a:solidFill>
                  <a:schemeClr val="tx1"/>
                </a:solidFill>
                <a:latin typeface="+mn-lt"/>
                <a:ea typeface="+mn-ea"/>
                <a:cs typeface="+mn-cs"/>
              </a:rPr>
              <a:t>all times the Tour Guide must ensure there is respect shown for local communities explaining practical aspects of this requirement may include:</a:t>
            </a:r>
          </a:p>
          <a:p>
            <a:pPr marL="171450" indent="-171450">
              <a:buFont typeface="Arial" pitchFamily="34" charset="0"/>
              <a:buChar char="•"/>
            </a:pPr>
            <a:r>
              <a:rPr lang="en-AU" sz="1200" kern="1200" dirty="0" smtClean="0">
                <a:solidFill>
                  <a:schemeClr val="tx1"/>
                </a:solidFill>
                <a:latin typeface="+mn-lt"/>
                <a:ea typeface="+mn-ea"/>
                <a:cs typeface="+mn-cs"/>
              </a:rPr>
              <a:t>Meeting with local communities to develop Codes of Practice and other working agreements – in relation to tours and the conduct of interpretive activities</a:t>
            </a:r>
          </a:p>
          <a:p>
            <a:pPr marL="171450" indent="-171450">
              <a:buFont typeface="Arial" pitchFamily="34" charset="0"/>
              <a:buChar char="•"/>
            </a:pPr>
            <a:r>
              <a:rPr lang="en-AU" sz="1200" kern="1200" dirty="0" smtClean="0">
                <a:solidFill>
                  <a:schemeClr val="tx1"/>
                </a:solidFill>
                <a:latin typeface="+mn-lt"/>
                <a:ea typeface="+mn-ea"/>
                <a:cs typeface="+mn-cs"/>
              </a:rPr>
              <a:t>Developing Codes of Conduct – for tour group members who visit local/host communities</a:t>
            </a:r>
          </a:p>
          <a:p>
            <a:pPr marL="171450" indent="-171450">
              <a:buFont typeface="Arial" pitchFamily="34" charset="0"/>
              <a:buChar char="•"/>
            </a:pPr>
            <a:r>
              <a:rPr lang="en-AU" sz="1200" kern="1200" dirty="0" smtClean="0">
                <a:solidFill>
                  <a:schemeClr val="tx1"/>
                </a:solidFill>
                <a:latin typeface="+mn-lt"/>
                <a:ea typeface="+mn-ea"/>
                <a:cs typeface="+mn-cs"/>
              </a:rPr>
              <a:t>Notifying communities in advance – of dates and times of expected tours</a:t>
            </a:r>
          </a:p>
          <a:p>
            <a:pPr marL="171450" indent="-171450">
              <a:buFont typeface="Arial" pitchFamily="34" charset="0"/>
              <a:buChar char="•"/>
            </a:pPr>
            <a:r>
              <a:rPr lang="en-AU" sz="1200" kern="1200" dirty="0" smtClean="0">
                <a:solidFill>
                  <a:schemeClr val="tx1"/>
                </a:solidFill>
                <a:latin typeface="+mn-lt"/>
                <a:ea typeface="+mn-ea"/>
                <a:cs typeface="+mn-cs"/>
              </a:rPr>
              <a:t>Maintaining regular contact with local communities – to obtain their feedback in relation to their experiences with tours so necessary adjustments to Codes and agreements can be made</a:t>
            </a:r>
          </a:p>
          <a:p>
            <a:pPr marL="171450" indent="-171450">
              <a:buFont typeface="Arial" pitchFamily="34" charset="0"/>
              <a:buChar char="•"/>
            </a:pPr>
            <a:r>
              <a:rPr lang="en-AU" sz="1200" kern="1200" dirty="0" smtClean="0">
                <a:solidFill>
                  <a:schemeClr val="tx1"/>
                </a:solidFill>
                <a:latin typeface="+mn-lt"/>
                <a:ea typeface="+mn-ea"/>
                <a:cs typeface="+mn-cs"/>
              </a:rPr>
              <a:t>Providing economic opportunity for local/host communities – in terms of (for example) payment for work on tour-related jobs (guides, entertainers, demonstrators) the provision of retail opportunities (to sell goods and services to the tour group members) and/or the provision of food and beverages.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1738266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identify ways to demonstrate respect for local communities:</a:t>
            </a:r>
          </a:p>
          <a:p>
            <a:pPr marL="171450" indent="-171450">
              <a:buFont typeface="Arial" pitchFamily="34" charset="0"/>
              <a:buChar char="•"/>
            </a:pPr>
            <a:r>
              <a:rPr lang="en-AU" sz="1200" kern="1200" dirty="0" smtClean="0">
                <a:solidFill>
                  <a:schemeClr val="tx1"/>
                </a:solidFill>
                <a:latin typeface="+mn-lt"/>
                <a:ea typeface="+mn-ea"/>
                <a:cs typeface="+mn-cs"/>
              </a:rPr>
              <a:t>Advising the communities on the day (or the day before) the tour – so they receive a reminder of the tour and receive updated information about numbers, special requests and other relevant matters</a:t>
            </a:r>
          </a:p>
          <a:p>
            <a:pPr marL="171450" indent="-171450">
              <a:buFont typeface="Arial" pitchFamily="34" charset="0"/>
              <a:buChar char="•"/>
            </a:pPr>
            <a:r>
              <a:rPr lang="en-AU" sz="1200" kern="1200" dirty="0" smtClean="0">
                <a:solidFill>
                  <a:schemeClr val="tx1"/>
                </a:solidFill>
                <a:latin typeface="+mn-lt"/>
                <a:ea typeface="+mn-ea"/>
                <a:cs typeface="+mn-cs"/>
              </a:rPr>
              <a:t>Notifying tour group members of acceptable and unacceptable conduct – see later information</a:t>
            </a:r>
          </a:p>
          <a:p>
            <a:pPr marL="171450" indent="-171450">
              <a:buFont typeface="Arial" pitchFamily="34" charset="0"/>
              <a:buChar char="•"/>
            </a:pPr>
            <a:r>
              <a:rPr lang="en-AU" sz="1200" kern="1200" dirty="0" smtClean="0">
                <a:solidFill>
                  <a:schemeClr val="tx1"/>
                </a:solidFill>
                <a:latin typeface="+mn-lt"/>
                <a:ea typeface="+mn-ea"/>
                <a:cs typeface="+mn-cs"/>
              </a:rPr>
              <a:t>Asking permission to enter lands/communities – every time a tour or activity is conducted on their land or in their community</a:t>
            </a:r>
          </a:p>
          <a:p>
            <a:pPr marL="171450" indent="-171450">
              <a:buFont typeface="Arial" pitchFamily="34" charset="0"/>
              <a:buChar char="•"/>
            </a:pPr>
            <a:r>
              <a:rPr lang="en-AU" sz="1200" kern="1200" dirty="0" smtClean="0">
                <a:solidFill>
                  <a:schemeClr val="tx1"/>
                </a:solidFill>
                <a:latin typeface="+mn-lt"/>
                <a:ea typeface="+mn-ea"/>
                <a:cs typeface="+mn-cs"/>
              </a:rPr>
              <a:t>Observing the necessary cultural constraints – as required by different communities and cultures</a:t>
            </a:r>
          </a:p>
          <a:p>
            <a:pPr marL="171450" indent="-171450">
              <a:buFont typeface="Arial" pitchFamily="34" charset="0"/>
              <a:buChar char="•"/>
            </a:pPr>
            <a:r>
              <a:rPr lang="en-AU" sz="1200" kern="1200" dirty="0" smtClean="0">
                <a:solidFill>
                  <a:schemeClr val="tx1"/>
                </a:solidFill>
                <a:latin typeface="+mn-lt"/>
                <a:ea typeface="+mn-ea"/>
                <a:cs typeface="+mn-cs"/>
              </a:rPr>
              <a:t>Maintaining secrecy of items and information – as requested by the local/host community.</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a representative from a local community to attend and:</a:t>
            </a:r>
          </a:p>
          <a:p>
            <a:pPr marL="171450" indent="-171450">
              <a:buFont typeface="Arial" pitchFamily="34" charset="0"/>
              <a:buChar char="•"/>
            </a:pPr>
            <a:r>
              <a:rPr lang="en-AU" b="0" noProof="0" dirty="0" smtClean="0"/>
              <a:t>Discuss their requirements in relation to tours and interpretive activities</a:t>
            </a:r>
          </a:p>
          <a:p>
            <a:pPr marL="171450" indent="-171450">
              <a:buFont typeface="Arial" pitchFamily="34" charset="0"/>
              <a:buChar char="•"/>
            </a:pPr>
            <a:r>
              <a:rPr lang="en-AU" b="0" noProof="0" dirty="0" smtClean="0"/>
              <a:t>Provide sample Codes of Practice applicable to their community</a:t>
            </a:r>
          </a:p>
          <a:p>
            <a:pPr marL="171450" indent="-171450">
              <a:buFont typeface="Arial" pitchFamily="34" charset="0"/>
              <a:buChar char="•"/>
            </a:pPr>
            <a:r>
              <a:rPr lang="en-AU" b="0" noProof="0" dirty="0" smtClean="0"/>
              <a:t>Illustrate with reference to examples their experience with tour groups</a:t>
            </a:r>
          </a:p>
          <a:p>
            <a:pPr marL="171450" indent="-171450">
              <a:buFont typeface="Arial" pitchFamily="34" charset="0"/>
              <a:buChar char="•"/>
            </a:pPr>
            <a:r>
              <a:rPr lang="en-AU" b="0" noProof="0" dirty="0" smtClean="0"/>
              <a:t>Make recommendations for positive relationships between tour operators and local communities.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3644647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identify ways to demonstrate respect for local communities:</a:t>
            </a:r>
          </a:p>
          <a:p>
            <a:pPr marL="171450" indent="-171450">
              <a:buFont typeface="Arial" pitchFamily="34" charset="0"/>
              <a:buChar char="•"/>
            </a:pPr>
            <a:r>
              <a:rPr lang="en-AU" sz="1200" kern="1200" dirty="0" smtClean="0">
                <a:solidFill>
                  <a:schemeClr val="tx1"/>
                </a:solidFill>
                <a:latin typeface="+mn-lt"/>
                <a:ea typeface="+mn-ea"/>
                <a:cs typeface="+mn-cs"/>
              </a:rPr>
              <a:t>Involving the local/host community in decision making which impacts them – so decisions/activities are never imposed on them against their will</a:t>
            </a:r>
          </a:p>
          <a:p>
            <a:pPr marL="171450" indent="-171450">
              <a:buFont typeface="Arial" pitchFamily="34" charset="0"/>
              <a:buChar char="•"/>
            </a:pPr>
            <a:r>
              <a:rPr lang="en-AU" sz="1200" kern="1200" dirty="0" smtClean="0">
                <a:solidFill>
                  <a:schemeClr val="tx1"/>
                </a:solidFill>
                <a:latin typeface="+mn-lt"/>
                <a:ea typeface="+mn-ea"/>
                <a:cs typeface="+mn-cs"/>
              </a:rPr>
              <a:t>Parking only in designated areas – as prescribed by the communities</a:t>
            </a:r>
          </a:p>
          <a:p>
            <a:pPr marL="171450" indent="-171450">
              <a:buFont typeface="Arial" pitchFamily="34" charset="0"/>
              <a:buChar char="•"/>
            </a:pPr>
            <a:r>
              <a:rPr lang="en-AU" sz="1200" kern="1200" dirty="0" smtClean="0">
                <a:solidFill>
                  <a:schemeClr val="tx1"/>
                </a:solidFill>
                <a:latin typeface="+mn-lt"/>
                <a:ea typeface="+mn-ea"/>
                <a:cs typeface="+mn-cs"/>
              </a:rPr>
              <a:t>Staying on designated walking tracks and agreed pedestrian routes – as opposed to walking ‘anywhere and everywhere’</a:t>
            </a:r>
          </a:p>
          <a:p>
            <a:pPr marL="171450" indent="-171450">
              <a:buFont typeface="Arial" pitchFamily="34" charset="0"/>
              <a:buChar char="•"/>
            </a:pPr>
            <a:r>
              <a:rPr lang="en-AU" sz="1200" kern="1200" dirty="0" smtClean="0">
                <a:solidFill>
                  <a:schemeClr val="tx1"/>
                </a:solidFill>
                <a:latin typeface="+mn-lt"/>
                <a:ea typeface="+mn-ea"/>
                <a:cs typeface="+mn-cs"/>
              </a:rPr>
              <a:t>Prohibiting taking of photographs – of certain areas or of people.</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9198283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identify ways to demonstrate respect for local communities:</a:t>
            </a:r>
          </a:p>
          <a:p>
            <a:pPr marL="171450" indent="-171450">
              <a:buFont typeface="Arial" pitchFamily="34" charset="0"/>
              <a:buChar char="•"/>
            </a:pPr>
            <a:r>
              <a:rPr lang="en-AU" sz="1200" kern="1200" dirty="0" smtClean="0">
                <a:solidFill>
                  <a:schemeClr val="tx1"/>
                </a:solidFill>
                <a:latin typeface="+mn-lt"/>
                <a:ea typeface="+mn-ea"/>
                <a:cs typeface="+mn-cs"/>
              </a:rPr>
              <a:t>Banning use of limited/scarce local resources – such as water</a:t>
            </a:r>
          </a:p>
          <a:p>
            <a:pPr marL="171450" indent="-171450">
              <a:buFont typeface="Arial" pitchFamily="34" charset="0"/>
              <a:buChar char="•"/>
            </a:pPr>
            <a:r>
              <a:rPr lang="en-AU" sz="1200" kern="1200" dirty="0" smtClean="0">
                <a:solidFill>
                  <a:schemeClr val="tx1"/>
                </a:solidFill>
                <a:latin typeface="+mn-lt"/>
                <a:ea typeface="+mn-ea"/>
                <a:cs typeface="+mn-cs"/>
              </a:rPr>
              <a:t>Identifying and banning carriage of nominated items/products onto community lands/property – this ban may be on fast food, newspapers, bottles, disposable nappies/diapers</a:t>
            </a:r>
          </a:p>
          <a:p>
            <a:pPr marL="171450" indent="-171450">
              <a:buFont typeface="Arial" pitchFamily="34" charset="0"/>
              <a:buChar char="•"/>
            </a:pPr>
            <a:r>
              <a:rPr lang="en-AU" sz="1200" kern="1200" dirty="0" smtClean="0">
                <a:solidFill>
                  <a:schemeClr val="tx1"/>
                </a:solidFill>
                <a:latin typeface="+mn-lt"/>
                <a:ea typeface="+mn-ea"/>
                <a:cs typeface="+mn-cs"/>
              </a:rPr>
              <a:t>Cleaning up after using facilities – or a ban on using facilities</a:t>
            </a:r>
          </a:p>
          <a:p>
            <a:pPr marL="171450" indent="-171450">
              <a:buFont typeface="Arial" pitchFamily="34" charset="0"/>
              <a:buChar char="•"/>
            </a:pPr>
            <a:r>
              <a:rPr lang="en-AU" sz="1200" kern="1200" dirty="0" smtClean="0">
                <a:solidFill>
                  <a:schemeClr val="tx1"/>
                </a:solidFill>
                <a:latin typeface="+mn-lt"/>
                <a:ea typeface="+mn-ea"/>
                <a:cs typeface="+mn-cs"/>
              </a:rPr>
              <a:t>Modifying tours and interpretive activities – on the basis of feedback received from the local communities.</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0290145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advises </a:t>
            </a:r>
            <a:r>
              <a:rPr lang="en-AU" sz="1200" kern="1200" dirty="0" smtClean="0">
                <a:solidFill>
                  <a:schemeClr val="tx1"/>
                </a:solidFill>
                <a:latin typeface="+mn-lt"/>
                <a:ea typeface="+mn-ea"/>
                <a:cs typeface="+mn-cs"/>
              </a:rPr>
              <a:t>another important aspect of preparing to deliver an interpretive activity is the need to prepare group members for the activity stressing this can involve:</a:t>
            </a:r>
          </a:p>
          <a:p>
            <a:pPr marL="171450" indent="-171450">
              <a:buFont typeface="Arial" pitchFamily="34" charset="0"/>
              <a:buChar char="•"/>
            </a:pPr>
            <a:r>
              <a:rPr lang="en-AU" sz="1200" kern="1200" dirty="0" smtClean="0">
                <a:solidFill>
                  <a:schemeClr val="tx1"/>
                </a:solidFill>
                <a:latin typeface="+mn-lt"/>
                <a:ea typeface="+mn-ea"/>
                <a:cs typeface="+mn-cs"/>
              </a:rPr>
              <a:t>Making a verbal presentation – explaining the activity and detailing what tour group members:</a:t>
            </a:r>
          </a:p>
          <a:p>
            <a:pPr marL="628650" lvl="1" indent="-171450">
              <a:buFont typeface="Arial" pitchFamily="34" charset="0"/>
              <a:buChar char="•"/>
            </a:pPr>
            <a:r>
              <a:rPr lang="en-AU" sz="1200" kern="1200" dirty="0" smtClean="0">
                <a:solidFill>
                  <a:schemeClr val="tx1"/>
                </a:solidFill>
                <a:latin typeface="+mn-lt"/>
                <a:ea typeface="+mn-ea"/>
                <a:cs typeface="+mn-cs"/>
              </a:rPr>
              <a:t>Can expect</a:t>
            </a:r>
          </a:p>
          <a:p>
            <a:pPr marL="628650" lvl="1" indent="-171450">
              <a:buFont typeface="Arial" pitchFamily="34" charset="0"/>
              <a:buChar char="•"/>
            </a:pPr>
            <a:r>
              <a:rPr lang="en-AU" sz="1200" kern="1200" dirty="0" smtClean="0">
                <a:solidFill>
                  <a:schemeClr val="tx1"/>
                </a:solidFill>
                <a:latin typeface="+mn-lt"/>
                <a:ea typeface="+mn-ea"/>
                <a:cs typeface="+mn-cs"/>
              </a:rPr>
              <a:t>Will be expected to so</a:t>
            </a:r>
          </a:p>
          <a:p>
            <a:pPr marL="628650" lvl="1" indent="-171450">
              <a:buFont typeface="Arial" pitchFamily="34" charset="0"/>
              <a:buChar char="•"/>
            </a:pPr>
            <a:r>
              <a:rPr lang="en-AU" sz="1200" kern="1200" dirty="0" smtClean="0">
                <a:solidFill>
                  <a:schemeClr val="tx1"/>
                </a:solidFill>
                <a:latin typeface="+mn-lt"/>
                <a:ea typeface="+mn-ea"/>
                <a:cs typeface="+mn-cs"/>
              </a:rPr>
              <a:t>Might think about when engaging with the activity</a:t>
            </a:r>
          </a:p>
          <a:p>
            <a:pPr marL="171450" indent="-171450">
              <a:buFont typeface="Arial" pitchFamily="34" charset="0"/>
              <a:buChar char="•"/>
            </a:pPr>
            <a:r>
              <a:rPr lang="en-AU" sz="1200" kern="1200" dirty="0" smtClean="0">
                <a:solidFill>
                  <a:schemeClr val="tx1"/>
                </a:solidFill>
                <a:latin typeface="+mn-lt"/>
                <a:ea typeface="+mn-ea"/>
                <a:cs typeface="+mn-cs"/>
              </a:rPr>
              <a:t>Assessing individual capacity for individual members to participate in the activity – in terms of (as appropriate) their:</a:t>
            </a:r>
          </a:p>
          <a:p>
            <a:pPr marL="628650" lvl="1" indent="-171450">
              <a:buFont typeface="Arial" pitchFamily="34" charset="0"/>
              <a:buChar char="•"/>
            </a:pPr>
            <a:r>
              <a:rPr lang="en-US" sz="1200" kern="1200" dirty="0" smtClean="0">
                <a:solidFill>
                  <a:schemeClr val="tx1"/>
                </a:solidFill>
                <a:latin typeface="+mn-lt"/>
                <a:ea typeface="+mn-ea"/>
                <a:cs typeface="+mn-cs"/>
              </a:rPr>
              <a:t>Age</a:t>
            </a:r>
          </a:p>
          <a:p>
            <a:pPr marL="628650" lvl="1" indent="-171450">
              <a:buFont typeface="Arial" pitchFamily="34" charset="0"/>
              <a:buChar char="•"/>
            </a:pPr>
            <a:r>
              <a:rPr lang="en-US" sz="1200" kern="1200" dirty="0" smtClean="0">
                <a:solidFill>
                  <a:schemeClr val="tx1"/>
                </a:solidFill>
                <a:latin typeface="+mn-lt"/>
                <a:ea typeface="+mn-ea"/>
                <a:cs typeface="+mn-cs"/>
              </a:rPr>
              <a:t>Height and weight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Physical fitness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Previous experience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Stated unwillingness/reluctance to participate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Distributing materials, resources and/or equipment – which tour group members will/might:</a:t>
            </a:r>
          </a:p>
          <a:p>
            <a:pPr marL="628650" lvl="1" indent="-171450">
              <a:buFont typeface="Arial" pitchFamily="34" charset="0"/>
              <a:buChar char="•"/>
            </a:pPr>
            <a:r>
              <a:rPr lang="en-US" sz="1200" kern="1200" dirty="0" smtClean="0">
                <a:solidFill>
                  <a:schemeClr val="tx1"/>
                </a:solidFill>
                <a:latin typeface="+mn-lt"/>
                <a:ea typeface="+mn-ea"/>
                <a:cs typeface="+mn-cs"/>
              </a:rPr>
              <a:t>Read to gain background knowledge about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Use to engage in a practical way with the activity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Provide instructions, directions, tips, advice and suggestions to optimise engagement with and enjoyment from the activity.</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13871063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a:buFont typeface="Arial" pitchFamily="34" charset="0"/>
              <a:buNone/>
            </a:pPr>
            <a:r>
              <a:rPr lang="en-AU" noProof="0" dirty="0" smtClean="0"/>
              <a:t>Trainer</a:t>
            </a:r>
            <a:r>
              <a:rPr lang="en-AU" baseline="0" noProof="0" dirty="0" smtClean="0"/>
              <a:t> continues to identify ways to prepare tour members as part of </a:t>
            </a:r>
            <a:r>
              <a:rPr lang="en-AU" sz="1200" kern="1200" dirty="0" smtClean="0">
                <a:solidFill>
                  <a:schemeClr val="tx1"/>
                </a:solidFill>
                <a:latin typeface="+mn-lt"/>
                <a:ea typeface="+mn-ea"/>
                <a:cs typeface="+mn-cs"/>
              </a:rPr>
              <a:t>preparing to deliver an interpretive activity:</a:t>
            </a:r>
          </a:p>
          <a:p>
            <a:pPr marL="171450" indent="-171450">
              <a:buFont typeface="Arial" pitchFamily="34" charset="0"/>
              <a:buChar char="•"/>
            </a:pPr>
            <a:r>
              <a:rPr lang="en-AU" sz="1200" kern="1200" dirty="0" smtClean="0">
                <a:solidFill>
                  <a:schemeClr val="tx1"/>
                </a:solidFill>
                <a:latin typeface="+mn-lt"/>
                <a:ea typeface="+mn-ea"/>
                <a:cs typeface="+mn-cs"/>
              </a:rPr>
              <a:t>Demonstrating use of items required in relation to the activity – this may involve showing how to:</a:t>
            </a:r>
          </a:p>
          <a:p>
            <a:pPr marL="628650" lvl="1" indent="-171450">
              <a:buFont typeface="Arial" pitchFamily="34" charset="0"/>
              <a:buChar char="•"/>
            </a:pPr>
            <a:r>
              <a:rPr lang="en-US" sz="1200" kern="1200" dirty="0" smtClean="0">
                <a:solidFill>
                  <a:schemeClr val="tx1"/>
                </a:solidFill>
                <a:latin typeface="+mn-lt"/>
                <a:ea typeface="+mn-ea"/>
                <a:cs typeface="+mn-cs"/>
              </a:rPr>
              <a:t>Wear or use safety clothing and protective items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Use tools and/or sporting equipment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Achieve whatever may be the aim/objective for the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Notifying tour members of basic operational parameters – in terms of (as applicable):</a:t>
            </a:r>
          </a:p>
          <a:p>
            <a:pPr marL="628650" lvl="1" indent="-171450">
              <a:buFont typeface="Arial" pitchFamily="34" charset="0"/>
              <a:buChar char="•"/>
            </a:pPr>
            <a:r>
              <a:rPr lang="en-US" sz="1200" kern="1200" dirty="0" smtClean="0">
                <a:solidFill>
                  <a:schemeClr val="tx1"/>
                </a:solidFill>
                <a:latin typeface="+mn-lt"/>
                <a:ea typeface="+mn-ea"/>
                <a:cs typeface="+mn-cs"/>
              </a:rPr>
              <a:t>Start and finish times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Safety issues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Physical/geographical parameters relating to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‘Do’s’ and ‘Don’ts’ for the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Notifying tour group members of acceptable and unacceptable conduct – in terms of topics such as:</a:t>
            </a:r>
          </a:p>
          <a:p>
            <a:pPr marL="628650" lvl="1" indent="-171450">
              <a:buFont typeface="Arial" pitchFamily="34" charset="0"/>
              <a:buChar char="•"/>
            </a:pPr>
            <a:r>
              <a:rPr lang="en-AU" sz="1200" kern="1200" dirty="0" smtClean="0">
                <a:solidFill>
                  <a:schemeClr val="tx1"/>
                </a:solidFill>
                <a:latin typeface="+mn-lt"/>
                <a:ea typeface="+mn-ea"/>
                <a:cs typeface="+mn-cs"/>
              </a:rPr>
              <a:t>Language</a:t>
            </a:r>
          </a:p>
          <a:p>
            <a:pPr marL="628650" lvl="1" indent="-171450">
              <a:buFont typeface="Arial" pitchFamily="34" charset="0"/>
              <a:buChar char="•"/>
            </a:pPr>
            <a:r>
              <a:rPr lang="en-AU" sz="1200" kern="1200" dirty="0" smtClean="0">
                <a:solidFill>
                  <a:schemeClr val="tx1"/>
                </a:solidFill>
                <a:latin typeface="+mn-lt"/>
                <a:ea typeface="+mn-ea"/>
                <a:cs typeface="+mn-cs"/>
              </a:rPr>
              <a:t>Behaviour</a:t>
            </a:r>
          </a:p>
          <a:p>
            <a:pPr marL="628650" lvl="1" indent="-171450">
              <a:buFont typeface="Arial" pitchFamily="34" charset="0"/>
              <a:buChar char="•"/>
            </a:pPr>
            <a:r>
              <a:rPr lang="en-AU" sz="1200" kern="1200" dirty="0" smtClean="0">
                <a:solidFill>
                  <a:schemeClr val="tx1"/>
                </a:solidFill>
                <a:latin typeface="+mn-lt"/>
                <a:ea typeface="+mn-ea"/>
                <a:cs typeface="+mn-cs"/>
              </a:rPr>
              <a:t>Taking of photographs/videos</a:t>
            </a:r>
          </a:p>
          <a:p>
            <a:pPr marL="628650" lvl="1" indent="-171450">
              <a:buFont typeface="Arial" pitchFamily="34" charset="0"/>
              <a:buChar char="•"/>
            </a:pPr>
            <a:r>
              <a:rPr lang="en-AU" sz="1200" kern="1200" dirty="0" smtClean="0">
                <a:solidFill>
                  <a:schemeClr val="tx1"/>
                </a:solidFill>
                <a:latin typeface="+mn-lt"/>
                <a:ea typeface="+mn-ea"/>
                <a:cs typeface="+mn-cs"/>
              </a:rPr>
              <a:t>Engaging with community members</a:t>
            </a:r>
          </a:p>
          <a:p>
            <a:pPr marL="628650" lvl="1" indent="-171450">
              <a:buFont typeface="Arial" pitchFamily="34" charset="0"/>
              <a:buChar char="•"/>
            </a:pPr>
            <a:r>
              <a:rPr lang="en-AU" sz="1200" kern="1200" dirty="0" smtClean="0">
                <a:solidFill>
                  <a:schemeClr val="tx1"/>
                </a:solidFill>
                <a:latin typeface="+mn-lt"/>
                <a:ea typeface="+mn-ea"/>
                <a:cs typeface="+mn-cs"/>
              </a:rPr>
              <a:t>Cultural sensitivities particular to individual communities</a:t>
            </a:r>
          </a:p>
          <a:p>
            <a:pPr marL="171450" indent="-171450">
              <a:buFont typeface="Arial" pitchFamily="34" charset="0"/>
              <a:buChar char="•"/>
            </a:pPr>
            <a:r>
              <a:rPr lang="en-AU" sz="1200" kern="1200" dirty="0" smtClean="0">
                <a:solidFill>
                  <a:schemeClr val="tx1"/>
                </a:solidFill>
                <a:latin typeface="+mn-lt"/>
                <a:ea typeface="+mn-ea"/>
                <a:cs typeface="+mn-cs"/>
              </a:rPr>
              <a:t>Introducing other people who will be helping to deliver the presentation – such as:</a:t>
            </a:r>
          </a:p>
          <a:p>
            <a:pPr marL="628650" lvl="1" indent="-171450">
              <a:buFont typeface="Arial" pitchFamily="34" charset="0"/>
              <a:buChar char="•"/>
            </a:pPr>
            <a:r>
              <a:rPr lang="en-AU" sz="1200" kern="1200" dirty="0" smtClean="0">
                <a:solidFill>
                  <a:schemeClr val="tx1"/>
                </a:solidFill>
                <a:latin typeface="+mn-lt"/>
                <a:ea typeface="+mn-ea"/>
                <a:cs typeface="+mn-cs"/>
              </a:rPr>
              <a:t>Third party guides or interpreters</a:t>
            </a:r>
          </a:p>
          <a:p>
            <a:pPr marL="628650" lvl="1" indent="-171450">
              <a:buFont typeface="Arial" pitchFamily="34" charset="0"/>
              <a:buChar char="•"/>
            </a:pPr>
            <a:r>
              <a:rPr lang="en-AU" sz="1200" kern="1200" dirty="0" smtClean="0">
                <a:solidFill>
                  <a:schemeClr val="tx1"/>
                </a:solidFill>
                <a:latin typeface="+mn-lt"/>
                <a:ea typeface="+mn-ea"/>
                <a:cs typeface="+mn-cs"/>
              </a:rPr>
              <a:t>Members of the local/host communities</a:t>
            </a:r>
          </a:p>
          <a:p>
            <a:pPr marL="171450" indent="-171450">
              <a:buFont typeface="Arial" pitchFamily="34" charset="0"/>
              <a:buChar char="•"/>
            </a:pPr>
            <a:r>
              <a:rPr lang="en-AU" sz="1200" kern="1200" dirty="0" smtClean="0">
                <a:solidFill>
                  <a:schemeClr val="tx1"/>
                </a:solidFill>
                <a:latin typeface="+mn-lt"/>
                <a:ea typeface="+mn-ea"/>
                <a:cs typeface="+mn-cs"/>
              </a:rPr>
              <a:t>Encouraging tour group members to engage with the activity – by: </a:t>
            </a:r>
          </a:p>
          <a:p>
            <a:pPr marL="628650" lvl="1" indent="-171450">
              <a:buFont typeface="Arial" pitchFamily="34" charset="0"/>
              <a:buChar char="•"/>
            </a:pPr>
            <a:r>
              <a:rPr lang="en-AU" sz="1200" kern="1200" dirty="0" smtClean="0">
                <a:solidFill>
                  <a:schemeClr val="tx1"/>
                </a:solidFill>
                <a:latin typeface="+mn-lt"/>
                <a:ea typeface="+mn-ea"/>
                <a:cs typeface="+mn-cs"/>
              </a:rPr>
              <a:t>Motivating them through anecdotes and personal enthusiasm</a:t>
            </a:r>
          </a:p>
          <a:p>
            <a:pPr marL="628650" lvl="1" indent="-171450">
              <a:buFont typeface="Arial" pitchFamily="34" charset="0"/>
              <a:buChar char="•"/>
            </a:pPr>
            <a:r>
              <a:rPr lang="en-AU" sz="1200" kern="1200" dirty="0" smtClean="0">
                <a:solidFill>
                  <a:schemeClr val="tx1"/>
                </a:solidFill>
                <a:latin typeface="+mn-lt"/>
                <a:ea typeface="+mn-ea"/>
                <a:cs typeface="+mn-cs"/>
              </a:rPr>
              <a:t>Identifying the potential benefits and learning they may take from the activity</a:t>
            </a:r>
          </a:p>
          <a:p>
            <a:pPr marL="628650" lvl="1" indent="-171450">
              <a:buFont typeface="Arial" pitchFamily="34" charset="0"/>
              <a:buChar char="•"/>
            </a:pPr>
            <a:r>
              <a:rPr lang="en-AU" sz="1200" kern="1200" dirty="0" smtClean="0">
                <a:solidFill>
                  <a:schemeClr val="tx1"/>
                </a:solidFill>
                <a:latin typeface="+mn-lt"/>
                <a:ea typeface="+mn-ea"/>
                <a:cs typeface="+mn-cs"/>
              </a:rPr>
              <a:t>Offering ongoing help and support for them while they participate.</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an experienced Tour Guide to attend and:</a:t>
            </a:r>
          </a:p>
          <a:p>
            <a:pPr marL="171450" indent="-171450">
              <a:buFont typeface="Arial" pitchFamily="34" charset="0"/>
              <a:buChar char="•"/>
            </a:pPr>
            <a:r>
              <a:rPr lang="en-AU" b="0" noProof="0" dirty="0" smtClean="0"/>
              <a:t>Talk about their job and their role</a:t>
            </a:r>
          </a:p>
          <a:p>
            <a:pPr marL="171450" indent="-171450">
              <a:buFont typeface="Arial" pitchFamily="34" charset="0"/>
              <a:buChar char="•"/>
            </a:pPr>
            <a:r>
              <a:rPr lang="en-AU" b="0" noProof="0" dirty="0" smtClean="0"/>
              <a:t>Give advice on conducting interpretive activities in the field</a:t>
            </a:r>
          </a:p>
          <a:p>
            <a:pPr marL="171450" indent="-171450">
              <a:buFont typeface="Arial" pitchFamily="34" charset="0"/>
              <a:buChar char="•"/>
            </a:pPr>
            <a:r>
              <a:rPr lang="en-AU" b="0" noProof="0" dirty="0" smtClean="0"/>
              <a:t>Explain in detail the preparation/organisation they undertake prior to a tour/conducting an activity</a:t>
            </a:r>
          </a:p>
          <a:p>
            <a:pPr marL="171450" indent="-171450">
              <a:buFont typeface="Arial" pitchFamily="34" charset="0"/>
              <a:buChar char="•"/>
            </a:pPr>
            <a:r>
              <a:rPr lang="en-AU" b="0" noProof="0" dirty="0" smtClean="0"/>
              <a:t>Provide sample materials/handouts relevant to</a:t>
            </a:r>
            <a:r>
              <a:rPr lang="en-AU" b="0" baseline="0" noProof="0" dirty="0" smtClean="0"/>
              <a:t> their job.</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28773867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a:t>
            </a:r>
            <a:r>
              <a:rPr lang="en-AU" sz="1200" kern="1200" dirty="0" smtClean="0">
                <a:solidFill>
                  <a:schemeClr val="tx1"/>
                </a:solidFill>
                <a:latin typeface="+mn-lt"/>
                <a:ea typeface="+mn-ea"/>
                <a:cs typeface="+mn-cs"/>
              </a:rPr>
              <a:t>states in some cases there can be a need for the Tour Guide to keep the preparation for activities secret from tour group members highlighting this may need to be done to:</a:t>
            </a:r>
          </a:p>
          <a:p>
            <a:pPr marL="171450" indent="-171450">
              <a:buFont typeface="Arial" pitchFamily="34" charset="0"/>
              <a:buChar char="•"/>
            </a:pPr>
            <a:r>
              <a:rPr lang="en-AU" sz="1200" kern="1200" dirty="0" smtClean="0">
                <a:solidFill>
                  <a:schemeClr val="tx1"/>
                </a:solidFill>
                <a:latin typeface="+mn-lt"/>
                <a:ea typeface="+mn-ea"/>
                <a:cs typeface="+mn-cs"/>
              </a:rPr>
              <a:t>Align with directions provided in the plans for an interpretive activity – as part of the SOPs for the activity</a:t>
            </a:r>
          </a:p>
          <a:p>
            <a:pPr marL="171450" indent="-171450">
              <a:buFont typeface="Arial" pitchFamily="34" charset="0"/>
              <a:buChar char="•"/>
            </a:pPr>
            <a:r>
              <a:rPr lang="en-AU" sz="1200" kern="1200" dirty="0" smtClean="0">
                <a:solidFill>
                  <a:schemeClr val="tx1"/>
                </a:solidFill>
                <a:latin typeface="+mn-lt"/>
                <a:ea typeface="+mn-ea"/>
                <a:cs typeface="+mn-cs"/>
              </a:rPr>
              <a:t>Minimise noise which may adversely impact on enjoyment of tour group members – especially in relation to them sleeping or trying to concentrate on (for example) a DVD, the commentary, or another activity </a:t>
            </a:r>
          </a:p>
          <a:p>
            <a:pPr marL="171450" indent="-171450">
              <a:buFont typeface="Arial" pitchFamily="34" charset="0"/>
              <a:buChar char="•"/>
            </a:pPr>
            <a:r>
              <a:rPr lang="en-AU" sz="1200" kern="1200" dirty="0" smtClean="0">
                <a:solidFill>
                  <a:schemeClr val="tx1"/>
                </a:solidFill>
                <a:latin typeface="+mn-lt"/>
                <a:ea typeface="+mn-ea"/>
                <a:cs typeface="+mn-cs"/>
              </a:rPr>
              <a:t>Keep them unaware of exactly what is planned for them – so the interpretive activity can be revealed as a surprise to excite them</a:t>
            </a:r>
          </a:p>
          <a:p>
            <a:pPr marL="171450" indent="-171450">
              <a:buFont typeface="Arial" pitchFamily="34" charset="0"/>
              <a:buChar char="•"/>
            </a:pPr>
            <a:r>
              <a:rPr lang="en-AU" sz="1200" kern="1200" dirty="0" smtClean="0">
                <a:solidFill>
                  <a:schemeClr val="tx1"/>
                </a:solidFill>
                <a:latin typeface="+mn-lt"/>
                <a:ea typeface="+mn-ea"/>
                <a:cs typeface="+mn-cs"/>
              </a:rPr>
              <a:t>Protect confidentialities – regarding preparation activities and/or materials or sources used</a:t>
            </a:r>
          </a:p>
          <a:p>
            <a:pPr marL="171450" indent="-171450">
              <a:buFont typeface="Arial" pitchFamily="34" charset="0"/>
              <a:buChar char="•"/>
            </a:pPr>
            <a:r>
              <a:rPr lang="en-AU" sz="1200" kern="1200" dirty="0" smtClean="0">
                <a:solidFill>
                  <a:schemeClr val="tx1"/>
                </a:solidFill>
                <a:latin typeface="+mn-lt"/>
                <a:ea typeface="+mn-ea"/>
                <a:cs typeface="+mn-cs"/>
              </a:rPr>
              <a:t>Avoid interruptions and distractions caused by unwanted attention and interference from participants – as they look at the procedures and engage in conversation with the Tour Guide.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4948255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provides background detail </a:t>
            </a:r>
            <a:r>
              <a:rPr lang="en-AU" sz="1200" kern="1200" dirty="0" smtClean="0">
                <a:solidFill>
                  <a:schemeClr val="tx1"/>
                </a:solidFill>
                <a:latin typeface="+mn-lt"/>
                <a:ea typeface="+mn-ea"/>
                <a:cs typeface="+mn-cs"/>
              </a:rPr>
              <a:t>in relation to confirming operational details of interpretive activities with colleagues:</a:t>
            </a:r>
          </a:p>
          <a:p>
            <a:pPr marL="171450" indent="-171450">
              <a:buFont typeface="Arial" pitchFamily="34" charset="0"/>
              <a:buChar char="•"/>
            </a:pPr>
            <a:r>
              <a:rPr lang="en-AU" sz="1200" kern="1200" dirty="0" smtClean="0">
                <a:solidFill>
                  <a:schemeClr val="tx1"/>
                </a:solidFill>
                <a:latin typeface="+mn-lt"/>
                <a:ea typeface="+mn-ea"/>
                <a:cs typeface="+mn-cs"/>
              </a:rPr>
              <a:t>All colleagues must be present to have details confirmed – this means internal staff (staff directly employed by the Tour Operator) as well as external staff (those employed from third party providers and/or from local/host communities)</a:t>
            </a:r>
          </a:p>
          <a:p>
            <a:pPr marL="171450" indent="-171450">
              <a:buFont typeface="Arial" pitchFamily="34" charset="0"/>
              <a:buChar char="•"/>
            </a:pPr>
            <a:r>
              <a:rPr lang="en-AU" sz="1200" kern="1200" dirty="0" smtClean="0">
                <a:solidFill>
                  <a:schemeClr val="tx1"/>
                </a:solidFill>
                <a:latin typeface="+mn-lt"/>
                <a:ea typeface="+mn-ea"/>
                <a:cs typeface="+mn-cs"/>
              </a:rPr>
              <a:t>The confirmation needs to be scheduled – there should be a meeting or briefing scheduled for a certain time at a given location and this must be communicated sufficiently in advance to enable all required persons to attend </a:t>
            </a:r>
          </a:p>
          <a:p>
            <a:pPr marL="171450" indent="-171450">
              <a:buFont typeface="Arial" pitchFamily="34" charset="0"/>
              <a:buChar char="•"/>
            </a:pPr>
            <a:r>
              <a:rPr lang="en-AU" sz="1200" kern="1200" dirty="0" smtClean="0">
                <a:solidFill>
                  <a:schemeClr val="tx1"/>
                </a:solidFill>
                <a:latin typeface="+mn-lt"/>
                <a:ea typeface="+mn-ea"/>
                <a:cs typeface="+mn-cs"/>
              </a:rPr>
              <a:t>The plans prepared for the activity must be the basis of the confirmation – and all staff should have a hard copy of their own for reference purposes</a:t>
            </a:r>
          </a:p>
          <a:p>
            <a:pPr marL="628650" lvl="1" indent="-171450">
              <a:buFont typeface="Arial" pitchFamily="34" charset="0"/>
              <a:buChar char="•"/>
            </a:pPr>
            <a:r>
              <a:rPr lang="en-AU" sz="1200" kern="1200" dirty="0" smtClean="0">
                <a:solidFill>
                  <a:schemeClr val="tx1"/>
                </a:solidFill>
                <a:latin typeface="+mn-lt"/>
                <a:ea typeface="+mn-ea"/>
                <a:cs typeface="+mn-cs"/>
              </a:rPr>
              <a:t>Many staff will write notes on their personal copy to highlight tasks they need to focus on and/or pay special attention to</a:t>
            </a:r>
          </a:p>
          <a:p>
            <a:pPr marL="171450" indent="-171450">
              <a:buFont typeface="Arial" pitchFamily="34" charset="0"/>
              <a:buChar char="•"/>
            </a:pPr>
            <a:r>
              <a:rPr lang="en-AU" sz="1200" kern="1200" dirty="0" smtClean="0">
                <a:solidFill>
                  <a:schemeClr val="tx1"/>
                </a:solidFill>
                <a:latin typeface="+mn-lt"/>
                <a:ea typeface="+mn-ea"/>
                <a:cs typeface="+mn-cs"/>
              </a:rPr>
              <a:t>The meeting/briefing should take place in private – that is, it is traditionally not an event the tour group members have access to.</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5420546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give background to this stage:</a:t>
            </a:r>
          </a:p>
          <a:p>
            <a:pPr marL="171450" indent="-171450">
              <a:buFont typeface="Arial" pitchFamily="34" charset="0"/>
              <a:buChar char="•"/>
            </a:pPr>
            <a:r>
              <a:rPr lang="en-AU" sz="1200" kern="1200" dirty="0" smtClean="0">
                <a:solidFill>
                  <a:schemeClr val="tx1"/>
                </a:solidFill>
                <a:latin typeface="+mn-lt"/>
                <a:ea typeface="+mn-ea"/>
                <a:cs typeface="+mn-cs"/>
              </a:rPr>
              <a:t>All persons with roles to play should already have had exposure to the interpretive activity before this stage take places – that is, everyone involved should have been provided with required training and trialling of the activity to gain first-hands, hands-on experience</a:t>
            </a:r>
          </a:p>
          <a:p>
            <a:pPr marL="171450" indent="-171450">
              <a:buFont typeface="Arial" pitchFamily="34" charset="0"/>
              <a:buChar char="•"/>
            </a:pPr>
            <a:r>
              <a:rPr lang="en-AU" sz="1200" kern="1200" dirty="0" smtClean="0">
                <a:solidFill>
                  <a:schemeClr val="tx1"/>
                </a:solidFill>
                <a:latin typeface="+mn-lt"/>
                <a:ea typeface="+mn-ea"/>
                <a:cs typeface="+mn-cs"/>
              </a:rPr>
              <a:t>Discussion must be led by the Tour Guide or the person who has been delegated directed control of the individual interpretive activity – their primary role (subject to ‘Content’ below) is provide information, confirm arrangements and notify changes</a:t>
            </a:r>
          </a:p>
          <a:p>
            <a:pPr marL="171450" indent="-171450">
              <a:buFont typeface="Arial" pitchFamily="34" charset="0"/>
              <a:buChar char="•"/>
            </a:pPr>
            <a:r>
              <a:rPr lang="en-AU" sz="1200" kern="1200" dirty="0" smtClean="0">
                <a:solidFill>
                  <a:schemeClr val="tx1"/>
                </a:solidFill>
                <a:latin typeface="+mn-lt"/>
                <a:ea typeface="+mn-ea"/>
                <a:cs typeface="+mn-cs"/>
              </a:rPr>
              <a:t>The session must feature two-way communication – where colleagues are encouraged to ask questions to clarify issues and confirm matters about which they may have some concern or reservation.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26104402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indicates while </a:t>
            </a:r>
            <a:r>
              <a:rPr lang="en-AU" sz="1200" kern="1200" dirty="0" smtClean="0">
                <a:solidFill>
                  <a:schemeClr val="tx1"/>
                </a:solidFill>
                <a:latin typeface="+mn-lt"/>
                <a:ea typeface="+mn-ea"/>
                <a:cs typeface="+mn-cs"/>
              </a:rPr>
              <a:t>the nature of each briefing/information session prior to an interpretive activity will be unique (based as it will be on the delivery of a </a:t>
            </a:r>
            <a:r>
              <a:rPr lang="en-AU" sz="1200" i="1" kern="1200" dirty="0" smtClean="0">
                <a:solidFill>
                  <a:schemeClr val="tx1"/>
                </a:solidFill>
                <a:latin typeface="+mn-lt"/>
                <a:ea typeface="+mn-ea"/>
                <a:cs typeface="+mn-cs"/>
              </a:rPr>
              <a:t>particular</a:t>
            </a:r>
            <a:r>
              <a:rPr lang="en-AU" sz="1200" kern="1200" dirty="0" smtClean="0">
                <a:solidFill>
                  <a:schemeClr val="tx1"/>
                </a:solidFill>
                <a:latin typeface="+mn-lt"/>
                <a:ea typeface="+mn-ea"/>
                <a:cs typeface="+mn-cs"/>
              </a:rPr>
              <a:t> activity), there are nonetheless several common issues which will require coverage – these include:</a:t>
            </a:r>
          </a:p>
          <a:p>
            <a:pPr marL="171450" indent="-171450">
              <a:buFont typeface="Arial" pitchFamily="34" charset="0"/>
              <a:buChar char="•"/>
            </a:pPr>
            <a:r>
              <a:rPr lang="en-AU" sz="1200" kern="1200" dirty="0" smtClean="0">
                <a:solidFill>
                  <a:schemeClr val="tx1"/>
                </a:solidFill>
                <a:latin typeface="+mn-lt"/>
                <a:ea typeface="+mn-ea"/>
                <a:cs typeface="+mn-cs"/>
              </a:rPr>
              <a:t>Roll call – this is done to:</a:t>
            </a:r>
          </a:p>
          <a:p>
            <a:pPr marL="628650" lvl="1" indent="-171450">
              <a:buFont typeface="Arial" pitchFamily="34" charset="0"/>
              <a:buChar char="•"/>
            </a:pPr>
            <a:r>
              <a:rPr lang="en-AU" sz="1200" kern="1200" dirty="0" smtClean="0">
                <a:solidFill>
                  <a:schemeClr val="tx1"/>
                </a:solidFill>
                <a:latin typeface="+mn-lt"/>
                <a:ea typeface="+mn-ea"/>
                <a:cs typeface="+mn-cs"/>
              </a:rPr>
              <a:t>Ensure all required staff are present as required</a:t>
            </a:r>
          </a:p>
          <a:p>
            <a:pPr marL="628650" lvl="1" indent="-171450">
              <a:buFont typeface="Arial" pitchFamily="34" charset="0"/>
              <a:buChar char="•"/>
            </a:pPr>
            <a:r>
              <a:rPr lang="en-AU" sz="1200" kern="1200" dirty="0" smtClean="0">
                <a:solidFill>
                  <a:schemeClr val="tx1"/>
                </a:solidFill>
                <a:latin typeface="+mn-lt"/>
                <a:ea typeface="+mn-ea"/>
                <a:cs typeface="+mn-cs"/>
              </a:rPr>
              <a:t>Cross-check staff present against planned/expected names and numbers </a:t>
            </a:r>
          </a:p>
          <a:p>
            <a:pPr marL="628650" lvl="1" indent="-171450">
              <a:buFont typeface="Arial" pitchFamily="34" charset="0"/>
              <a:buChar char="•"/>
            </a:pPr>
            <a:r>
              <a:rPr lang="en-AU" sz="1200" kern="1200" dirty="0" smtClean="0">
                <a:solidFill>
                  <a:schemeClr val="tx1"/>
                </a:solidFill>
                <a:latin typeface="+mn-lt"/>
                <a:ea typeface="+mn-ea"/>
                <a:cs typeface="+mn-cs"/>
              </a:rPr>
              <a:t>Confirm role allocation for the activity</a:t>
            </a:r>
          </a:p>
          <a:p>
            <a:pPr marL="628650" lvl="1" indent="-171450">
              <a:buFont typeface="Arial" pitchFamily="34" charset="0"/>
              <a:buChar char="•"/>
            </a:pPr>
            <a:r>
              <a:rPr lang="en-AU" sz="1200" kern="1200" dirty="0" smtClean="0">
                <a:solidFill>
                  <a:schemeClr val="tx1"/>
                </a:solidFill>
                <a:latin typeface="+mn-lt"/>
                <a:ea typeface="+mn-ea"/>
                <a:cs typeface="+mn-cs"/>
              </a:rPr>
              <a:t>Allow Tour Guide to meet and appraise all workers</a:t>
            </a:r>
          </a:p>
          <a:p>
            <a:pPr marL="171450" indent="-171450">
              <a:buFont typeface="Arial" pitchFamily="34" charset="0"/>
              <a:buChar char="•"/>
            </a:pPr>
            <a:r>
              <a:rPr lang="en-AU" sz="1200" kern="1200" dirty="0" smtClean="0">
                <a:solidFill>
                  <a:schemeClr val="tx1"/>
                </a:solidFill>
                <a:latin typeface="+mn-lt"/>
                <a:ea typeface="+mn-ea"/>
                <a:cs typeface="+mn-cs"/>
              </a:rPr>
              <a:t>Provision of an overview of the activity – this involves:</a:t>
            </a:r>
          </a:p>
          <a:p>
            <a:pPr marL="628650" lvl="1" indent="-171450">
              <a:buFont typeface="Arial" pitchFamily="34" charset="0"/>
              <a:buChar char="•"/>
            </a:pPr>
            <a:r>
              <a:rPr lang="en-US" sz="1200" kern="1200" dirty="0" smtClean="0">
                <a:solidFill>
                  <a:schemeClr val="tx1"/>
                </a:solidFill>
                <a:latin typeface="+mn-lt"/>
                <a:ea typeface="+mn-ea"/>
                <a:cs typeface="+mn-cs"/>
              </a:rPr>
              <a:t>Making sure everyone has a copy of the plan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 read-through of the goals and objectives for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Description of relevant matters for the activity – which can include:</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Themes and messages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Special requests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Presence of VIPs on the tour</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Changes to be factored in – due to, for example, need to shorten or extend the activity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Focussing everyone’s mind on the up-coming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Confirmation the activity should proceed – according to risk management protocols – see later slides.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2205153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a:buFont typeface="Arial" pitchFamily="34" charset="0"/>
              <a:buNone/>
            </a:pPr>
            <a:r>
              <a:rPr lang="en-AU" noProof="0" dirty="0" smtClean="0"/>
              <a:t>Trainer</a:t>
            </a:r>
            <a:r>
              <a:rPr lang="en-AU" baseline="0" noProof="0" dirty="0" smtClean="0"/>
              <a:t> continues to provide examples of generic content/topics for this stage of the preparation process:</a:t>
            </a:r>
          </a:p>
          <a:p>
            <a:pPr marL="171450" indent="-171450">
              <a:buFont typeface="Arial" pitchFamily="34" charset="0"/>
              <a:buChar char="•"/>
            </a:pPr>
            <a:r>
              <a:rPr lang="en-AU" sz="1200" kern="1200" dirty="0" smtClean="0">
                <a:solidFill>
                  <a:schemeClr val="tx1"/>
                </a:solidFill>
                <a:latin typeface="+mn-lt"/>
                <a:ea typeface="+mn-ea"/>
                <a:cs typeface="+mn-cs"/>
              </a:rPr>
              <a:t>Discussion of duration for the activity – which may relate to:</a:t>
            </a:r>
          </a:p>
          <a:p>
            <a:pPr marL="628650" lvl="1" indent="-171450">
              <a:buFont typeface="Arial" pitchFamily="34" charset="0"/>
              <a:buChar char="•"/>
            </a:pPr>
            <a:r>
              <a:rPr lang="en-US" sz="1200" kern="1200" dirty="0" smtClean="0">
                <a:solidFill>
                  <a:schemeClr val="tx1"/>
                </a:solidFill>
                <a:latin typeface="+mn-lt"/>
                <a:ea typeface="+mn-ea"/>
                <a:cs typeface="+mn-cs"/>
              </a:rPr>
              <a:t>Confirmation of a scheduled starting time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Confirmation of a scheduled finishing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Verification with others that timing is appropriate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Notification of revision/s to scheduled starting and finishing times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Development and/or confirmation of arrangements to address issues arising – these may be regarding matters to do with:</a:t>
            </a:r>
          </a:p>
          <a:p>
            <a:pPr marL="628650" lvl="1" indent="-171450">
              <a:buFont typeface="Arial" pitchFamily="34" charset="0"/>
              <a:buChar char="•"/>
            </a:pPr>
            <a:r>
              <a:rPr lang="en-US" sz="1200" kern="1200" dirty="0" smtClean="0">
                <a:solidFill>
                  <a:schemeClr val="tx1"/>
                </a:solidFill>
                <a:latin typeface="+mn-lt"/>
                <a:ea typeface="+mn-ea"/>
                <a:cs typeface="+mn-cs"/>
              </a:rPr>
              <a:t>Modifications to the standard activity imposed as a result of changes to the location where the activity is to be conducted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Maintenance of safety and security where a legitimate need to change standard actions has emerged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Amendments deemed appropriate to alter the duration of the activity in order to maintain the overall itinerary/schedule for the tour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Required revisions to accommodate special requests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Changes brought about by the need to modify proceedings for certain budgetary reasons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Alterations deemed prudent based on feedback obtained from the tour group while on-tour – in order to better meet their expectations and optimise their level of satisfaction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Allocation of staff to required positions – this will generally be a matter of:</a:t>
            </a:r>
          </a:p>
          <a:p>
            <a:pPr marL="628650" lvl="1" indent="-171450">
              <a:buFont typeface="Arial" pitchFamily="34" charset="0"/>
              <a:buChar char="•"/>
            </a:pPr>
            <a:r>
              <a:rPr lang="en-US" sz="1200" kern="1200" dirty="0" smtClean="0">
                <a:solidFill>
                  <a:schemeClr val="tx1"/>
                </a:solidFill>
                <a:latin typeface="+mn-lt"/>
                <a:ea typeface="+mn-ea"/>
                <a:cs typeface="+mn-cs"/>
              </a:rPr>
              <a:t>Confirming the arrangements described in the plans and tested during the role playing/trialling for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Adjusting staff allocation based on special needs of individual tour group members which have materalised on-tour and/or been advised at the commencement of the tour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Checking staff allocated to certain positions can comprehensively recite their role while in those positions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Confirming with relevant personnel there are sufficient staff in position at each location to enable required activities to be undertaken as expected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Ensuring, where required by legislation or internal operational protocols, staff used at certain locations: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Hold necessary credentials/certification</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Have required experience.</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7897949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a:t>
            </a:r>
            <a:r>
              <a:rPr lang="en-AU" baseline="0" noProof="0" dirty="0" smtClean="0"/>
              <a:t> continues to provide examples of generic content/topics for this stage of the preparation process:</a:t>
            </a:r>
          </a:p>
          <a:p>
            <a:pPr marL="171450" indent="-171450">
              <a:buFont typeface="Arial" pitchFamily="34" charset="0"/>
              <a:buChar char="•"/>
            </a:pPr>
            <a:r>
              <a:rPr lang="en-AU" sz="1200" kern="1200" dirty="0" smtClean="0">
                <a:solidFill>
                  <a:schemeClr val="tx1"/>
                </a:solidFill>
                <a:latin typeface="+mn-lt"/>
                <a:ea typeface="+mn-ea"/>
                <a:cs typeface="+mn-cs"/>
              </a:rPr>
              <a:t>Verification of the presence of physical resources – including (as appropriate to the type of activity): </a:t>
            </a:r>
          </a:p>
          <a:p>
            <a:pPr marL="628650" lvl="1" indent="-171450">
              <a:buFont typeface="Arial" pitchFamily="34" charset="0"/>
              <a:buChar char="•"/>
            </a:pPr>
            <a:r>
              <a:rPr lang="en-US" sz="1200" kern="1200" dirty="0" smtClean="0">
                <a:solidFill>
                  <a:schemeClr val="tx1"/>
                </a:solidFill>
                <a:latin typeface="+mn-lt"/>
                <a:ea typeface="+mn-ea"/>
                <a:cs typeface="+mn-cs"/>
              </a:rPr>
              <a:t>Handouts and paper-based materials for distribution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Food and beverages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Basis requisites – such as note pads, pens, sun hats, umbrellas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Technology and devices for self-tours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Playing/sports equipment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Emergency equipment – see next section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Safety clothing and equipment, where necessary – see next section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Conduct of communication checks – to verify full operational status of equipment and devices to be used to:</a:t>
            </a:r>
          </a:p>
          <a:p>
            <a:pPr marL="628650" lvl="1" indent="-171450">
              <a:buFont typeface="Arial" pitchFamily="34" charset="0"/>
              <a:buChar char="•"/>
            </a:pPr>
            <a:r>
              <a:rPr lang="en-AU" sz="1200" kern="1200" dirty="0" smtClean="0">
                <a:solidFill>
                  <a:schemeClr val="tx1"/>
                </a:solidFill>
                <a:latin typeface="+mn-lt"/>
                <a:ea typeface="+mn-ea"/>
                <a:cs typeface="+mn-cs"/>
              </a:rPr>
              <a:t>Communicate between each other</a:t>
            </a:r>
          </a:p>
          <a:p>
            <a:pPr marL="628650" lvl="1" indent="-171450">
              <a:buFont typeface="Arial" pitchFamily="34" charset="0"/>
              <a:buChar char="•"/>
            </a:pPr>
            <a:r>
              <a:rPr lang="en-AU" sz="1200" kern="1200" dirty="0" smtClean="0">
                <a:solidFill>
                  <a:schemeClr val="tx1"/>
                </a:solidFill>
                <a:latin typeface="+mn-lt"/>
                <a:ea typeface="+mn-ea"/>
                <a:cs typeface="+mn-cs"/>
              </a:rPr>
              <a:t>Make contact with other/third party providers</a:t>
            </a:r>
          </a:p>
          <a:p>
            <a:pPr marL="628650" lvl="1" indent="-171450">
              <a:buFont typeface="Arial" pitchFamily="34" charset="0"/>
              <a:buChar char="•"/>
            </a:pPr>
            <a:r>
              <a:rPr lang="en-AU" sz="1200" kern="1200" dirty="0" smtClean="0">
                <a:solidFill>
                  <a:schemeClr val="tx1"/>
                </a:solidFill>
                <a:latin typeface="+mn-lt"/>
                <a:ea typeface="+mn-ea"/>
                <a:cs typeface="+mn-cs"/>
              </a:rPr>
              <a:t>Communicate with tour group members.</a:t>
            </a:r>
          </a:p>
          <a:p>
            <a:pPr lvl="1">
              <a:buFont typeface="Arial" pitchFamily="34" charset="0"/>
              <a:buChar char="•"/>
            </a:pPr>
            <a:endParaRPr lang="en-AU" sz="1200" kern="1200" baseline="0" noProof="0" dirty="0" smtClean="0">
              <a:solidFill>
                <a:schemeClr val="tx1"/>
              </a:solidFill>
              <a:latin typeface="+mn-lt"/>
              <a:ea typeface="+mn-ea"/>
              <a:cs typeface="+mn-cs"/>
            </a:endParaRPr>
          </a:p>
          <a:p>
            <a:pPr lvl="0">
              <a:buFont typeface="Arial" pitchFamily="34" charset="0"/>
              <a:buNone/>
            </a:pPr>
            <a:r>
              <a:rPr lang="en-AU" b="1" kern="1200" baseline="0" noProof="0" dirty="0" smtClean="0">
                <a:solidFill>
                  <a:schemeClr val="tx1"/>
                </a:solidFill>
                <a:latin typeface="+mn-lt"/>
                <a:ea typeface="+mn-ea"/>
                <a:cs typeface="+mn-cs"/>
              </a:rPr>
              <a:t>Classroom Activity – Excursion</a:t>
            </a:r>
          </a:p>
          <a:p>
            <a:pPr lvl="0">
              <a:buFont typeface="Arial" pitchFamily="34" charset="0"/>
              <a:buNone/>
            </a:pPr>
            <a:r>
              <a:rPr lang="en-AU" b="0" kern="1200" baseline="0" noProof="0" dirty="0" smtClean="0">
                <a:solidFill>
                  <a:schemeClr val="tx1"/>
                </a:solidFill>
                <a:latin typeface="+mn-lt"/>
                <a:ea typeface="+mn-ea"/>
                <a:cs typeface="+mn-cs"/>
              </a:rPr>
              <a:t>Trainer arranges for class to participate in a tour featuring interpretive activities so they can:</a:t>
            </a:r>
          </a:p>
          <a:p>
            <a:pPr marL="171450" lvl="0" indent="-171450">
              <a:buFont typeface="Arial" pitchFamily="34" charset="0"/>
              <a:buChar char="•"/>
            </a:pPr>
            <a:r>
              <a:rPr lang="en-AU" b="0" baseline="0" noProof="0" dirty="0" smtClean="0"/>
              <a:t>Gain first-hand experience of tours and activities</a:t>
            </a:r>
          </a:p>
          <a:p>
            <a:pPr marL="171450" lvl="0" indent="-171450">
              <a:buFont typeface="Arial" pitchFamily="34" charset="0"/>
              <a:buChar char="•"/>
            </a:pPr>
            <a:r>
              <a:rPr lang="en-AU" b="0" baseline="0" noProof="0" dirty="0" smtClean="0"/>
              <a:t>Observe occurrences and work of tour staff</a:t>
            </a:r>
          </a:p>
          <a:p>
            <a:pPr marL="171450" lvl="0" indent="-171450">
              <a:buFont typeface="Arial" pitchFamily="34" charset="0"/>
              <a:buChar char="•"/>
            </a:pPr>
            <a:r>
              <a:rPr lang="en-AU" b="0" baseline="0" noProof="0" dirty="0" smtClean="0"/>
              <a:t>Talk with tour staff</a:t>
            </a:r>
          </a:p>
          <a:p>
            <a:pPr marL="171450" lvl="0" indent="-171450">
              <a:buFont typeface="Arial" pitchFamily="34" charset="0"/>
              <a:buChar char="•"/>
            </a:pPr>
            <a:r>
              <a:rPr lang="en-AU" b="0" baseline="0" noProof="0" dirty="0" smtClean="0"/>
              <a:t>Obtain handout materials</a:t>
            </a:r>
          </a:p>
          <a:p>
            <a:pPr marL="171450" lvl="0" indent="-171450">
              <a:buFont typeface="Arial" pitchFamily="34" charset="0"/>
              <a:buChar char="•"/>
            </a:pPr>
            <a:r>
              <a:rPr lang="en-AU" b="0" baseline="0" noProof="0" dirty="0" smtClean="0"/>
              <a:t>Observe tour group members and their reactions to activities and interactions with tour staff.</a:t>
            </a:r>
          </a:p>
          <a:p>
            <a:pPr lvl="0">
              <a:buFont typeface="Arial" pitchFamily="34" charset="0"/>
              <a:buChar char="•"/>
            </a:pPr>
            <a:endParaRPr lang="en-AU"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9672159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provides context stating in </a:t>
            </a:r>
            <a:r>
              <a:rPr lang="en-AU" sz="1200" kern="1200" dirty="0" smtClean="0">
                <a:solidFill>
                  <a:schemeClr val="tx1"/>
                </a:solidFill>
                <a:latin typeface="+mn-lt"/>
                <a:ea typeface="+mn-ea"/>
                <a:cs typeface="+mn-cs"/>
              </a:rPr>
              <a:t>relation to safety issues associated with the conduct of interpretive activities:</a:t>
            </a:r>
          </a:p>
          <a:p>
            <a:pPr marL="171450" indent="-171450">
              <a:buFont typeface="Arial" pitchFamily="34" charset="0"/>
              <a:buChar char="•"/>
            </a:pPr>
            <a:r>
              <a:rPr lang="en-AU" sz="1200" kern="1200" dirty="0" smtClean="0">
                <a:solidFill>
                  <a:schemeClr val="tx1"/>
                </a:solidFill>
                <a:latin typeface="+mn-lt"/>
                <a:ea typeface="+mn-ea"/>
                <a:cs typeface="+mn-cs"/>
              </a:rPr>
              <a:t>Safety must always be a standing topic for all staff briefing sessions prior to interpretive activities – safety must always be addressed</a:t>
            </a:r>
          </a:p>
          <a:p>
            <a:pPr marL="628650" lvl="1" indent="-171450">
              <a:buFont typeface="Arial" pitchFamily="34" charset="0"/>
              <a:buChar char="•"/>
            </a:pPr>
            <a:r>
              <a:rPr lang="en-AU" sz="1200" kern="1200" dirty="0" smtClean="0">
                <a:solidFill>
                  <a:schemeClr val="tx1"/>
                </a:solidFill>
                <a:latin typeface="+mn-lt"/>
                <a:ea typeface="+mn-ea"/>
                <a:cs typeface="+mn-cs"/>
              </a:rPr>
              <a:t>It can never be assumed or ignored</a:t>
            </a:r>
          </a:p>
          <a:p>
            <a:pPr marL="171450" indent="-171450">
              <a:buFont typeface="Arial" pitchFamily="34" charset="0"/>
              <a:buChar char="•"/>
            </a:pPr>
            <a:r>
              <a:rPr lang="en-AU" sz="1200" kern="1200" dirty="0" smtClean="0">
                <a:solidFill>
                  <a:schemeClr val="tx1"/>
                </a:solidFill>
                <a:latin typeface="+mn-lt"/>
                <a:ea typeface="+mn-ea"/>
                <a:cs typeface="+mn-cs"/>
              </a:rPr>
              <a:t>Safety is paramount – Tour Guides must not do anything which compromises the safety of tour group members, members of the public or staff in any way. If there is a concern about safety, the activity must be:</a:t>
            </a:r>
          </a:p>
          <a:p>
            <a:pPr marL="628650" lvl="1" indent="-171450">
              <a:buFont typeface="Arial" pitchFamily="34" charset="0"/>
              <a:buChar char="•"/>
            </a:pPr>
            <a:r>
              <a:rPr lang="en-AU" sz="1200" kern="1200" dirty="0" smtClean="0">
                <a:solidFill>
                  <a:schemeClr val="tx1"/>
                </a:solidFill>
                <a:latin typeface="+mn-lt"/>
                <a:ea typeface="+mn-ea"/>
                <a:cs typeface="+mn-cs"/>
              </a:rPr>
              <a:t>Delayed until the issue can be effectively/safely resolved</a:t>
            </a:r>
          </a:p>
          <a:p>
            <a:pPr marL="628650" lvl="1" indent="-171450">
              <a:buFont typeface="Arial" pitchFamily="34" charset="0"/>
              <a:buChar char="•"/>
            </a:pPr>
            <a:r>
              <a:rPr lang="en-AU" sz="1200" kern="1200" dirty="0" smtClean="0">
                <a:solidFill>
                  <a:schemeClr val="tx1"/>
                </a:solidFill>
                <a:latin typeface="+mn-lt"/>
                <a:ea typeface="+mn-ea"/>
                <a:cs typeface="+mn-cs"/>
              </a:rPr>
              <a:t>Halted all together /not conducted at all</a:t>
            </a:r>
          </a:p>
          <a:p>
            <a:pPr marL="628650" lvl="1" indent="-171450">
              <a:buFont typeface="Arial" pitchFamily="34" charset="0"/>
              <a:buChar char="•"/>
            </a:pPr>
            <a:r>
              <a:rPr lang="en-AU" sz="1200" kern="1200" dirty="0" smtClean="0">
                <a:solidFill>
                  <a:schemeClr val="tx1"/>
                </a:solidFill>
                <a:latin typeface="+mn-lt"/>
                <a:ea typeface="+mn-ea"/>
                <a:cs typeface="+mn-cs"/>
              </a:rPr>
              <a:t>Replaced by another activity where safety can be guaranteed</a:t>
            </a:r>
          </a:p>
          <a:p>
            <a:pPr marL="171450" indent="-171450">
              <a:buFont typeface="Arial" pitchFamily="34" charset="0"/>
              <a:buChar char="•"/>
            </a:pPr>
            <a:r>
              <a:rPr lang="en-AU" sz="1200" kern="1200" dirty="0" smtClean="0">
                <a:solidFill>
                  <a:schemeClr val="tx1"/>
                </a:solidFill>
                <a:latin typeface="+mn-lt"/>
                <a:ea typeface="+mn-ea"/>
                <a:cs typeface="+mn-cs"/>
              </a:rPr>
              <a:t>The risk assessment conducted as part of the planning stage for the activity must form the basis for safety check – this will commonly require specific mention of </a:t>
            </a:r>
            <a:r>
              <a:rPr lang="en-AU" sz="1200" b="1" kern="1200" dirty="0" smtClean="0">
                <a:solidFill>
                  <a:schemeClr val="tx1"/>
                </a:solidFill>
                <a:latin typeface="+mn-lt"/>
                <a:ea typeface="+mn-ea"/>
                <a:cs typeface="+mn-cs"/>
              </a:rPr>
              <a:t>mandatory</a:t>
            </a:r>
            <a:r>
              <a:rPr lang="en-AU" sz="1200" kern="1200" dirty="0" smtClean="0">
                <a:solidFill>
                  <a:schemeClr val="tx1"/>
                </a:solidFill>
                <a:latin typeface="+mn-lt"/>
                <a:ea typeface="+mn-ea"/>
                <a:cs typeface="+mn-cs"/>
              </a:rPr>
              <a:t> check points identified as part of the risk management process (for example: rain, heat, wind, ground condition, tour group numbers, crowds), together with:</a:t>
            </a:r>
          </a:p>
          <a:p>
            <a:pPr marL="628650" lvl="1" indent="-171450">
              <a:buFont typeface="Arial" pitchFamily="34" charset="0"/>
              <a:buChar char="•"/>
            </a:pPr>
            <a:r>
              <a:rPr lang="en-US" sz="1200" kern="1200" dirty="0" smtClean="0">
                <a:solidFill>
                  <a:schemeClr val="tx1"/>
                </a:solidFill>
                <a:latin typeface="+mn-lt"/>
                <a:ea typeface="+mn-ea"/>
                <a:cs typeface="+mn-cs"/>
              </a:rPr>
              <a:t>A statement by the Tour Guide that each factor appears within acceptable parameters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 question asking colleagues to confirm or disagree with the above statement</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The point being the decision to proceed with safety with the activity must be a consensus decision and not one simply imposed by the Tour Guide – the decision to proceed must be verified/supported by other colleagues.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31415399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a:t>
            </a:r>
            <a:r>
              <a:rPr lang="en-AU" baseline="0" noProof="0" dirty="0" smtClean="0"/>
              <a:t> continues to give context for safety:</a:t>
            </a:r>
          </a:p>
          <a:p>
            <a:pPr marL="171450" indent="-171450">
              <a:buFont typeface="Arial" pitchFamily="34" charset="0"/>
              <a:buChar char="•"/>
            </a:pPr>
            <a:r>
              <a:rPr lang="en-AU" sz="1200" kern="1200" dirty="0" smtClean="0">
                <a:solidFill>
                  <a:schemeClr val="tx1"/>
                </a:solidFill>
                <a:latin typeface="+mn-lt"/>
                <a:ea typeface="+mn-ea"/>
                <a:cs typeface="+mn-cs"/>
              </a:rPr>
              <a:t>A designated Safety Officer is used for some interpretive activities – and they have </a:t>
            </a:r>
            <a:r>
              <a:rPr lang="en-AU" sz="1200" b="1" kern="1200" dirty="0" smtClean="0">
                <a:solidFill>
                  <a:schemeClr val="tx1"/>
                </a:solidFill>
                <a:latin typeface="+mn-lt"/>
                <a:ea typeface="+mn-ea"/>
                <a:cs typeface="+mn-cs"/>
              </a:rPr>
              <a:t>total control</a:t>
            </a:r>
            <a:r>
              <a:rPr lang="en-AU" sz="1200" kern="1200" dirty="0" smtClean="0">
                <a:solidFill>
                  <a:schemeClr val="tx1"/>
                </a:solidFill>
                <a:latin typeface="+mn-lt"/>
                <a:ea typeface="+mn-ea"/>
                <a:cs typeface="+mn-cs"/>
              </a:rPr>
              <a:t> over safety issues and decisions regarding safety</a:t>
            </a:r>
          </a:p>
          <a:p>
            <a:pPr marL="171450" indent="-171450">
              <a:buFont typeface="Arial" pitchFamily="34" charset="0"/>
              <a:buChar char="•"/>
            </a:pPr>
            <a:r>
              <a:rPr lang="en-AU" sz="1200" kern="1200" dirty="0" smtClean="0">
                <a:solidFill>
                  <a:schemeClr val="tx1"/>
                </a:solidFill>
                <a:latin typeface="+mn-lt"/>
                <a:ea typeface="+mn-ea"/>
                <a:cs typeface="+mn-cs"/>
              </a:rPr>
              <a:t>There are traditionally three standard elements which need to be considered in relation to safety for interpretive activities – these are:</a:t>
            </a:r>
          </a:p>
          <a:p>
            <a:pPr marL="628650" lvl="1" indent="-171450">
              <a:buFont typeface="Arial" pitchFamily="34" charset="0"/>
              <a:buChar char="•"/>
            </a:pPr>
            <a:r>
              <a:rPr lang="en-AU" sz="1200" kern="1200" dirty="0" smtClean="0">
                <a:solidFill>
                  <a:schemeClr val="tx1"/>
                </a:solidFill>
                <a:latin typeface="+mn-lt"/>
                <a:ea typeface="+mn-ea"/>
                <a:cs typeface="+mn-cs"/>
              </a:rPr>
              <a:t>Participants – this means there can be a need to make sure tour group members are safe to engage with the activity and do not put themselves or others at risk. For example:</a:t>
            </a:r>
          </a:p>
          <a:p>
            <a:pPr marL="1085850" lvl="2" indent="-171450">
              <a:buFont typeface="Arial" pitchFamily="34" charset="0"/>
              <a:buChar char="•"/>
            </a:pPr>
            <a:r>
              <a:rPr lang="en-AU" sz="1200" kern="1200" dirty="0" smtClean="0">
                <a:solidFill>
                  <a:schemeClr val="tx1"/>
                </a:solidFill>
                <a:latin typeface="+mn-lt"/>
                <a:ea typeface="+mn-ea"/>
                <a:cs typeface="+mn-cs"/>
              </a:rPr>
              <a:t>People who do not meet certain pre-notified (weight or height, general fitness) criteria may be prohibited</a:t>
            </a:r>
          </a:p>
          <a:p>
            <a:pPr marL="1085850" lvl="2" indent="-171450">
              <a:buFont typeface="Arial" pitchFamily="34" charset="0"/>
              <a:buChar char="•"/>
            </a:pPr>
            <a:r>
              <a:rPr lang="en-AU" sz="1200" kern="1200" dirty="0" smtClean="0">
                <a:solidFill>
                  <a:schemeClr val="tx1"/>
                </a:solidFill>
                <a:latin typeface="+mn-lt"/>
                <a:ea typeface="+mn-ea"/>
                <a:cs typeface="+mn-cs"/>
              </a:rPr>
              <a:t>Those who are too tired or intoxicated may be banned</a:t>
            </a:r>
          </a:p>
          <a:p>
            <a:pPr marL="628650" lvl="1" indent="-171450">
              <a:buFont typeface="Arial" pitchFamily="34" charset="0"/>
              <a:buChar char="•"/>
            </a:pPr>
            <a:r>
              <a:rPr lang="en-AU" sz="1200" kern="1200" dirty="0" smtClean="0">
                <a:solidFill>
                  <a:schemeClr val="tx1"/>
                </a:solidFill>
                <a:latin typeface="+mn-lt"/>
                <a:ea typeface="+mn-ea"/>
                <a:cs typeface="+mn-cs"/>
              </a:rPr>
              <a:t>Environment – highlights condition of environment may render an otherwise safe activity, unsafe. For example:</a:t>
            </a:r>
          </a:p>
          <a:p>
            <a:pPr marL="1085850" lvl="2" indent="-171450">
              <a:buFont typeface="Arial" pitchFamily="34" charset="0"/>
              <a:buChar char="•"/>
            </a:pPr>
            <a:r>
              <a:rPr lang="en-AU" sz="1200" kern="1200" dirty="0" smtClean="0">
                <a:solidFill>
                  <a:schemeClr val="tx1"/>
                </a:solidFill>
                <a:latin typeface="+mn-lt"/>
                <a:ea typeface="+mn-ea"/>
                <a:cs typeface="+mn-cs"/>
              </a:rPr>
              <a:t>High winds may mean conditions are unsafe</a:t>
            </a:r>
          </a:p>
          <a:p>
            <a:pPr marL="1085850" lvl="2" indent="-171450">
              <a:buFont typeface="Arial" pitchFamily="34" charset="0"/>
              <a:buChar char="•"/>
            </a:pPr>
            <a:r>
              <a:rPr lang="en-AU" sz="1200" kern="1200" dirty="0" smtClean="0">
                <a:solidFill>
                  <a:schemeClr val="tx1"/>
                </a:solidFill>
                <a:latin typeface="+mn-lt"/>
                <a:ea typeface="+mn-ea"/>
                <a:cs typeface="+mn-cs"/>
              </a:rPr>
              <a:t>Heavy rain in adjacent districts can cause the potential for floods</a:t>
            </a:r>
          </a:p>
          <a:p>
            <a:pPr marL="1085850" lvl="2" indent="-171450">
              <a:buFont typeface="Arial" pitchFamily="34" charset="0"/>
              <a:buChar char="•"/>
            </a:pPr>
            <a:r>
              <a:rPr lang="en-AU" sz="1200" kern="1200" dirty="0" smtClean="0">
                <a:solidFill>
                  <a:schemeClr val="tx1"/>
                </a:solidFill>
                <a:latin typeface="+mn-lt"/>
                <a:ea typeface="+mn-ea"/>
                <a:cs typeface="+mn-cs"/>
              </a:rPr>
              <a:t>Changes to the expected nature of the location/environment – this may mean (for example): </a:t>
            </a:r>
          </a:p>
          <a:p>
            <a:pPr marL="1085850" lvl="2" indent="-171450">
              <a:buFont typeface="Arial" pitchFamily="34" charset="0"/>
              <a:buChar char="•"/>
            </a:pPr>
            <a:r>
              <a:rPr lang="en-AU" sz="1200" kern="1200" dirty="0" smtClean="0">
                <a:solidFill>
                  <a:schemeClr val="tx1"/>
                </a:solidFill>
                <a:latin typeface="+mn-lt"/>
                <a:ea typeface="+mn-ea"/>
                <a:cs typeface="+mn-cs"/>
              </a:rPr>
              <a:t>Safety equipment normally available is no longer available</a:t>
            </a:r>
          </a:p>
          <a:p>
            <a:pPr marL="1085850" lvl="2" indent="-171450">
              <a:buFont typeface="Arial" pitchFamily="34" charset="0"/>
              <a:buChar char="•"/>
            </a:pPr>
            <a:r>
              <a:rPr lang="en-AU" sz="1200" kern="1200" dirty="0" smtClean="0">
                <a:solidFill>
                  <a:schemeClr val="tx1"/>
                </a:solidFill>
                <a:latin typeface="+mn-lt"/>
                <a:ea typeface="+mn-ea"/>
                <a:cs typeface="+mn-cs"/>
              </a:rPr>
              <a:t>A new risk not previously identified, assessed and controlled has emerged</a:t>
            </a:r>
          </a:p>
          <a:p>
            <a:pPr marL="628650" lvl="1" indent="-171450">
              <a:buFont typeface="Arial" pitchFamily="34" charset="0"/>
              <a:buChar char="•"/>
            </a:pPr>
            <a:r>
              <a:rPr lang="en-AU" sz="1200" kern="1200" dirty="0" smtClean="0">
                <a:solidFill>
                  <a:schemeClr val="tx1"/>
                </a:solidFill>
                <a:latin typeface="+mn-lt"/>
                <a:ea typeface="+mn-ea"/>
                <a:cs typeface="+mn-cs"/>
              </a:rPr>
              <a:t>Resources – this means there is a need to consider/ensure:</a:t>
            </a:r>
          </a:p>
          <a:p>
            <a:pPr marL="1085850" lvl="2" indent="-171450">
              <a:buFont typeface="Arial" pitchFamily="34" charset="0"/>
              <a:buChar char="•"/>
            </a:pPr>
            <a:r>
              <a:rPr lang="en-AU" sz="1200" kern="1200" dirty="0" smtClean="0">
                <a:solidFill>
                  <a:schemeClr val="tx1"/>
                </a:solidFill>
                <a:latin typeface="+mn-lt"/>
                <a:ea typeface="+mn-ea"/>
                <a:cs typeface="+mn-cs"/>
              </a:rPr>
              <a:t>Sufficient and suitable physical resources to maintain safety – see following slides</a:t>
            </a:r>
          </a:p>
          <a:p>
            <a:pPr marL="1085850" lvl="2" indent="-171450">
              <a:buFont typeface="Arial" pitchFamily="34" charset="0"/>
              <a:buChar char="•"/>
            </a:pPr>
            <a:r>
              <a:rPr lang="en-AU" sz="1200" kern="1200" dirty="0" smtClean="0">
                <a:solidFill>
                  <a:schemeClr val="tx1"/>
                </a:solidFill>
                <a:latin typeface="+mn-lt"/>
                <a:ea typeface="+mn-ea"/>
                <a:cs typeface="+mn-cs"/>
              </a:rPr>
              <a:t>Proper human resources to supervise and undertake necessary safety-related activities – see following slides</a:t>
            </a:r>
          </a:p>
          <a:p>
            <a:pPr marL="1085850" lvl="2" indent="-171450">
              <a:buFont typeface="Arial" pitchFamily="34" charset="0"/>
              <a:buChar char="•"/>
            </a:pPr>
            <a:r>
              <a:rPr lang="en-AU" sz="1200" kern="1200" dirty="0" smtClean="0">
                <a:solidFill>
                  <a:schemeClr val="tx1"/>
                </a:solidFill>
                <a:latin typeface="+mn-lt"/>
                <a:ea typeface="+mn-ea"/>
                <a:cs typeface="+mn-cs"/>
              </a:rPr>
              <a:t>Physical resources to respond in the event of an emergency – see following slides</a:t>
            </a:r>
          </a:p>
          <a:p>
            <a:pPr marL="171450" indent="-171450">
              <a:buFont typeface="Arial" pitchFamily="34" charset="0"/>
              <a:buChar char="•"/>
            </a:pPr>
            <a:r>
              <a:rPr lang="en-AU" sz="1200" kern="1200" dirty="0" smtClean="0">
                <a:solidFill>
                  <a:schemeClr val="tx1"/>
                </a:solidFill>
                <a:latin typeface="+mn-lt"/>
                <a:ea typeface="+mn-ea"/>
                <a:cs typeface="+mn-cs"/>
              </a:rPr>
              <a:t>The aim of all safety checks is to ensure ‘safe place’ is created instead of creating ‘safe person’ – this means:</a:t>
            </a:r>
          </a:p>
          <a:p>
            <a:pPr marL="628650" lvl="1" indent="-171450">
              <a:buFont typeface="Arial" pitchFamily="34" charset="0"/>
              <a:buChar char="•"/>
            </a:pPr>
            <a:r>
              <a:rPr lang="en-AU" sz="1200" kern="1200" dirty="0" smtClean="0">
                <a:solidFill>
                  <a:schemeClr val="tx1"/>
                </a:solidFill>
                <a:latin typeface="+mn-lt"/>
                <a:ea typeface="+mn-ea"/>
                <a:cs typeface="+mn-cs"/>
              </a:rPr>
              <a:t>Creating environment where safety of people is not dependent on them being safe/doing the safe or right thing</a:t>
            </a:r>
          </a:p>
          <a:p>
            <a:pPr marL="628650" lvl="1" indent="-171450">
              <a:buFont typeface="Arial" pitchFamily="34" charset="0"/>
              <a:buChar char="•"/>
            </a:pPr>
            <a:r>
              <a:rPr lang="en-AU" sz="1200" kern="1200" dirty="0" smtClean="0">
                <a:solidFill>
                  <a:schemeClr val="tx1"/>
                </a:solidFill>
                <a:latin typeface="+mn-lt"/>
                <a:ea typeface="+mn-ea"/>
                <a:cs typeface="+mn-cs"/>
              </a:rPr>
              <a:t>Ensuring that whatever participants do or fail to do, their safety is guaranteed by virtue of the safety protocols built into the place/location in which they are functioning.</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337447512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presents safety-</a:t>
            </a:r>
            <a:r>
              <a:rPr lang="en-AU" sz="1200" kern="1200" dirty="0" smtClean="0">
                <a:solidFill>
                  <a:schemeClr val="tx1"/>
                </a:solidFill>
                <a:latin typeface="+mn-lt"/>
                <a:ea typeface="+mn-ea"/>
                <a:cs typeface="+mn-cs"/>
              </a:rPr>
              <a:t>related checks need to ensure:</a:t>
            </a:r>
          </a:p>
          <a:p>
            <a:pPr marL="171450" indent="-171450">
              <a:buFont typeface="Arial" pitchFamily="34" charset="0"/>
              <a:buChar char="•"/>
            </a:pPr>
            <a:r>
              <a:rPr lang="en-AU" sz="1200" kern="1200" dirty="0" smtClean="0">
                <a:solidFill>
                  <a:schemeClr val="tx1"/>
                </a:solidFill>
                <a:latin typeface="+mn-lt"/>
                <a:ea typeface="+mn-ea"/>
                <a:cs typeface="+mn-cs"/>
              </a:rPr>
              <a:t>Emergency equipment identified as part of the risk management process for the activity is available as identified</a:t>
            </a:r>
          </a:p>
          <a:p>
            <a:pPr marL="171450" indent="-171450">
              <a:buFont typeface="Arial" pitchFamily="34" charset="0"/>
              <a:buChar char="•"/>
            </a:pPr>
            <a:r>
              <a:rPr lang="en-AU" sz="1200" kern="1200" dirty="0" smtClean="0">
                <a:solidFill>
                  <a:schemeClr val="tx1"/>
                </a:solidFill>
                <a:latin typeface="+mn-lt"/>
                <a:ea typeface="+mn-ea"/>
                <a:cs typeface="+mn-cs"/>
              </a:rPr>
              <a:t>Emergency Management Plans are available</a:t>
            </a:r>
          </a:p>
          <a:p>
            <a:pPr marL="171450" indent="-171450">
              <a:buFont typeface="Arial" pitchFamily="34" charset="0"/>
              <a:buChar char="•"/>
            </a:pPr>
            <a:r>
              <a:rPr lang="en-AU" sz="1200" kern="1200" dirty="0" smtClean="0">
                <a:solidFill>
                  <a:schemeClr val="tx1"/>
                </a:solidFill>
                <a:latin typeface="+mn-lt"/>
                <a:ea typeface="+mn-ea"/>
                <a:cs typeface="+mn-cs"/>
              </a:rPr>
              <a:t>Presence of nominated first-aid kits</a:t>
            </a:r>
          </a:p>
          <a:p>
            <a:pPr marL="171450" indent="-171450">
              <a:buFont typeface="Arial" pitchFamily="34" charset="0"/>
              <a:buChar char="•"/>
            </a:pPr>
            <a:r>
              <a:rPr lang="en-AU" sz="1200" kern="1200" dirty="0" smtClean="0">
                <a:solidFill>
                  <a:schemeClr val="tx1"/>
                </a:solidFill>
                <a:latin typeface="+mn-lt"/>
                <a:ea typeface="+mn-ea"/>
                <a:cs typeface="+mn-cs"/>
              </a:rPr>
              <a:t>Availability of or access to necessary retrieval, rescue and recovery equipment</a:t>
            </a:r>
          </a:p>
          <a:p>
            <a:pPr marL="171450" indent="-171450">
              <a:buFont typeface="Arial" pitchFamily="34" charset="0"/>
              <a:buChar char="•"/>
            </a:pPr>
            <a:r>
              <a:rPr lang="en-AU" sz="1200" kern="1200" dirty="0" smtClean="0">
                <a:solidFill>
                  <a:schemeClr val="tx1"/>
                </a:solidFill>
                <a:latin typeface="+mn-lt"/>
                <a:ea typeface="+mn-ea"/>
                <a:cs typeface="+mn-cs"/>
              </a:rPr>
              <a:t>Presence of communication equipment to raise alarm and/or summon additional assistance.</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In some cases the presence of designated fire-fighting equipment/resources may be seen as a necessary element of emergency equipment.</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Emergency</a:t>
            </a:r>
            <a:r>
              <a:rPr lang="en-AU" b="0" baseline="0" noProof="0" dirty="0" smtClean="0"/>
              <a:t> Management Plans for interpretive activities and/or tours.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20465673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advises </a:t>
            </a:r>
          </a:p>
          <a:p>
            <a:pPr marL="171450" indent="-171450">
              <a:buFont typeface="Arial" pitchFamily="34" charset="0"/>
              <a:buChar char="•"/>
            </a:pPr>
            <a:r>
              <a:rPr lang="en-AU" baseline="0" noProof="0" dirty="0" smtClean="0"/>
              <a:t>Safety </a:t>
            </a:r>
            <a:r>
              <a:rPr lang="en-AU" sz="1200" kern="1200" dirty="0" smtClean="0">
                <a:solidFill>
                  <a:schemeClr val="tx1"/>
                </a:solidFill>
                <a:latin typeface="+mn-lt"/>
                <a:ea typeface="+mn-ea"/>
                <a:cs typeface="+mn-cs"/>
              </a:rPr>
              <a:t>equipment is often known as PPE (personal protective equipment and clothing)</a:t>
            </a:r>
          </a:p>
          <a:p>
            <a:pPr marL="171450" indent="-171450">
              <a:buFont typeface="Arial" pitchFamily="34" charset="0"/>
              <a:buChar char="•"/>
            </a:pPr>
            <a:r>
              <a:rPr lang="en-AU" sz="1200" kern="1200" dirty="0" smtClean="0">
                <a:solidFill>
                  <a:schemeClr val="tx1"/>
                </a:solidFill>
                <a:latin typeface="+mn-lt"/>
                <a:ea typeface="+mn-ea"/>
                <a:cs typeface="+mn-cs"/>
              </a:rPr>
              <a:t>The intention of PPE is to prevent harm/injury</a:t>
            </a:r>
          </a:p>
          <a:p>
            <a:pPr marL="171450" indent="-171450">
              <a:buFont typeface="Arial" pitchFamily="34" charset="0"/>
              <a:buChar char="•"/>
            </a:pPr>
            <a:r>
              <a:rPr lang="en-AU" sz="1200" kern="1200" dirty="0" smtClean="0">
                <a:solidFill>
                  <a:schemeClr val="tx1"/>
                </a:solidFill>
                <a:latin typeface="+mn-lt"/>
                <a:ea typeface="+mn-ea"/>
                <a:cs typeface="+mn-cs"/>
              </a:rPr>
              <a:t>It is the responsibility of the Tour Guide/Tour Operator to:</a:t>
            </a:r>
          </a:p>
          <a:p>
            <a:pPr marL="628650" lvl="1" indent="-171450">
              <a:buFont typeface="Arial" pitchFamily="34" charset="0"/>
              <a:buChar char="•"/>
            </a:pPr>
            <a:r>
              <a:rPr lang="en-AU" sz="1200" kern="1200" dirty="0" smtClean="0">
                <a:solidFill>
                  <a:schemeClr val="tx1"/>
                </a:solidFill>
                <a:latin typeface="+mn-lt"/>
                <a:ea typeface="+mn-ea"/>
                <a:cs typeface="+mn-cs"/>
              </a:rPr>
              <a:t>Provide appropriate PPE for the group</a:t>
            </a:r>
          </a:p>
          <a:p>
            <a:pPr marL="628650" lvl="1" indent="-171450">
              <a:buFont typeface="Arial" pitchFamily="34" charset="0"/>
              <a:buChar char="•"/>
            </a:pPr>
            <a:r>
              <a:rPr lang="en-AU" sz="1200" kern="1200" dirty="0" smtClean="0">
                <a:solidFill>
                  <a:schemeClr val="tx1"/>
                </a:solidFill>
                <a:latin typeface="+mn-lt"/>
                <a:ea typeface="+mn-ea"/>
                <a:cs typeface="+mn-cs"/>
              </a:rPr>
              <a:t>Check all PPE to be used (whether belonging to the Tour Operator or to individual tour group members) prior to use</a:t>
            </a:r>
          </a:p>
          <a:p>
            <a:pPr marL="628650" lvl="1" indent="-171450">
              <a:buFont typeface="Arial" pitchFamily="34" charset="0"/>
              <a:buChar char="•"/>
            </a:pPr>
            <a:r>
              <a:rPr lang="en-AU" sz="1200" kern="1200" dirty="0" smtClean="0">
                <a:solidFill>
                  <a:schemeClr val="tx1"/>
                </a:solidFill>
                <a:latin typeface="+mn-lt"/>
                <a:ea typeface="+mn-ea"/>
                <a:cs typeface="+mn-cs"/>
              </a:rPr>
              <a:t>Ensure all participants use/wear PPE as required.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11626113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discuss PPE stating </a:t>
            </a:r>
            <a:r>
              <a:rPr lang="en-AU" sz="1200" kern="1200" dirty="0" smtClean="0">
                <a:solidFill>
                  <a:schemeClr val="tx1"/>
                </a:solidFill>
                <a:latin typeface="+mn-lt"/>
                <a:ea typeface="+mn-ea"/>
                <a:cs typeface="+mn-cs"/>
              </a:rPr>
              <a:t>it is required/provided for all tour group members (and staff) – in order to:</a:t>
            </a:r>
          </a:p>
          <a:p>
            <a:pPr marL="171450" indent="-171450">
              <a:buFont typeface="Arial" pitchFamily="34" charset="0"/>
              <a:buChar char="•"/>
            </a:pPr>
            <a:r>
              <a:rPr lang="en-AU" sz="1200" kern="1200" dirty="0" smtClean="0">
                <a:solidFill>
                  <a:schemeClr val="tx1"/>
                </a:solidFill>
                <a:latin typeface="+mn-lt"/>
                <a:ea typeface="+mn-ea"/>
                <a:cs typeface="+mn-cs"/>
              </a:rPr>
              <a:t>Enable them to participate in scheduled activities, sports, events, games and other inclusions</a:t>
            </a:r>
          </a:p>
          <a:p>
            <a:pPr marL="171450" indent="-171450">
              <a:buFont typeface="Arial" pitchFamily="34" charset="0"/>
              <a:buChar char="•"/>
            </a:pPr>
            <a:r>
              <a:rPr lang="en-AU" sz="1200" kern="1200" dirty="0" smtClean="0">
                <a:solidFill>
                  <a:schemeClr val="tx1"/>
                </a:solidFill>
                <a:latin typeface="+mn-lt"/>
                <a:ea typeface="+mn-ea"/>
                <a:cs typeface="+mn-cs"/>
              </a:rPr>
              <a:t>For example when conducting white water rafting or kayaking there would be a need to provide high-visibility life jackets/PFD, safety/white water helmets, knee and elbow pads, whistles, rescue ropes, rescue rope throw bags, neoprene booties, white water knives, padded gloves</a:t>
            </a:r>
          </a:p>
          <a:p>
            <a:pPr marL="171450" indent="-171450">
              <a:buFont typeface="Arial" pitchFamily="34" charset="0"/>
              <a:buChar char="•"/>
            </a:pPr>
            <a:r>
              <a:rPr lang="en-AU" sz="1200" kern="1200" dirty="0" smtClean="0">
                <a:solidFill>
                  <a:schemeClr val="tx1"/>
                </a:solidFill>
                <a:latin typeface="+mn-lt"/>
                <a:ea typeface="+mn-ea"/>
                <a:cs typeface="+mn-cs"/>
              </a:rPr>
              <a:t>Protect them from naturally occurring harm (including sunburn) when on-tour.</a:t>
            </a:r>
          </a:p>
          <a:p>
            <a:pPr>
              <a:buFont typeface="Arial" pitchFamily="34" charset="0"/>
              <a:buNone/>
            </a:pPr>
            <a:endParaRPr lang="en-AU" noProof="0" dirty="0" smtClean="0"/>
          </a:p>
          <a:p>
            <a:pPr>
              <a:buFont typeface="Arial" pitchFamily="34" charset="0"/>
              <a:buNone/>
            </a:pPr>
            <a:r>
              <a:rPr lang="en-AU" b="1" noProof="0" dirty="0" smtClean="0"/>
              <a:t>Classroom Activity – Excursion</a:t>
            </a:r>
          </a:p>
          <a:p>
            <a:pPr>
              <a:buFont typeface="Arial" pitchFamily="34" charset="0"/>
              <a:buNone/>
            </a:pPr>
            <a:r>
              <a:rPr lang="en-AU" b="0" noProof="0" dirty="0" smtClean="0"/>
              <a:t>Trainer arranges for students to visit a Tour Operator who conducts interpretive activities so students can:</a:t>
            </a:r>
          </a:p>
          <a:p>
            <a:pPr marL="171450" indent="-171450">
              <a:buFont typeface="Arial" pitchFamily="34" charset="0"/>
              <a:buChar char="•"/>
            </a:pPr>
            <a:r>
              <a:rPr lang="en-AU" b="0" noProof="0" dirty="0" smtClean="0"/>
              <a:t>View facilities</a:t>
            </a:r>
          </a:p>
          <a:p>
            <a:pPr marL="171450" indent="-171450">
              <a:buFont typeface="Arial" pitchFamily="34" charset="0"/>
              <a:buChar char="•"/>
            </a:pPr>
            <a:r>
              <a:rPr lang="en-AU" b="0" noProof="0" dirty="0" smtClean="0"/>
              <a:t>Talk to management and staff/Tour Guides</a:t>
            </a:r>
          </a:p>
          <a:p>
            <a:pPr marL="171450" indent="-171450">
              <a:buFont typeface="Arial" pitchFamily="34" charset="0"/>
              <a:buChar char="•"/>
            </a:pPr>
            <a:r>
              <a:rPr lang="en-AU" b="0" noProof="0" dirty="0" smtClean="0"/>
              <a:t>Observe departure of tours</a:t>
            </a:r>
          </a:p>
          <a:p>
            <a:pPr marL="171450" indent="-171450">
              <a:buFont typeface="Arial" pitchFamily="34" charset="0"/>
              <a:buChar char="•"/>
            </a:pPr>
            <a:r>
              <a:rPr lang="en-AU" b="0" noProof="0" dirty="0" smtClean="0"/>
              <a:t>Inspect PPE used by the organisation for the interpretive activities they conduct</a:t>
            </a:r>
          </a:p>
          <a:p>
            <a:pPr marL="171450" indent="-171450">
              <a:buFont typeface="Arial" pitchFamily="34" charset="0"/>
              <a:buChar char="•"/>
            </a:pPr>
            <a:r>
              <a:rPr lang="en-AU" b="0" noProof="0" dirty="0" smtClean="0"/>
              <a:t>Gain experience on what</a:t>
            </a:r>
            <a:r>
              <a:rPr lang="en-AU" b="0" baseline="0" noProof="0" dirty="0" smtClean="0"/>
              <a:t> items are used, when and why they are used and how to use them</a:t>
            </a:r>
          </a:p>
          <a:p>
            <a:pPr marL="171450" indent="-171450">
              <a:buFont typeface="Arial" pitchFamily="34" charset="0"/>
              <a:buChar char="•"/>
            </a:pPr>
            <a:r>
              <a:rPr lang="en-AU" b="0" baseline="0" noProof="0" dirty="0" smtClean="0"/>
              <a:t>Learn checks made on PPE to ensure it is safe to use and will fit/accommodate needs of tour group members.</a:t>
            </a:r>
            <a:endParaRPr lang="en-AU" b="0"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66073199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checks of PPE </a:t>
            </a:r>
            <a:r>
              <a:rPr lang="en-AU" sz="1200" kern="1200" dirty="0" smtClean="0">
                <a:solidFill>
                  <a:schemeClr val="tx1"/>
                </a:solidFill>
                <a:latin typeface="+mn-lt"/>
                <a:ea typeface="+mn-ea"/>
                <a:cs typeface="+mn-cs"/>
              </a:rPr>
              <a:t>must ensure:</a:t>
            </a:r>
          </a:p>
          <a:p>
            <a:pPr marL="171450" indent="-171450">
              <a:buFont typeface="Arial" pitchFamily="34" charset="0"/>
              <a:buChar char="•"/>
            </a:pPr>
            <a:r>
              <a:rPr lang="en-AU" sz="1200" kern="1200" dirty="0" smtClean="0">
                <a:solidFill>
                  <a:schemeClr val="tx1"/>
                </a:solidFill>
                <a:latin typeface="+mn-lt"/>
                <a:ea typeface="+mn-ea"/>
                <a:cs typeface="+mn-cs"/>
              </a:rPr>
              <a:t>Equipment is available in the sizes listed in the EMP</a:t>
            </a:r>
          </a:p>
          <a:p>
            <a:pPr marL="171450" indent="-171450">
              <a:buFont typeface="Arial" pitchFamily="34" charset="0"/>
              <a:buChar char="•"/>
            </a:pPr>
            <a:r>
              <a:rPr lang="en-AU" sz="1200" kern="1200" dirty="0" smtClean="0">
                <a:solidFill>
                  <a:schemeClr val="tx1"/>
                </a:solidFill>
                <a:latin typeface="+mn-lt"/>
                <a:ea typeface="+mn-ea"/>
                <a:cs typeface="+mn-cs"/>
              </a:rPr>
              <a:t>Items are available in the numbers specified</a:t>
            </a:r>
          </a:p>
          <a:p>
            <a:pPr marL="171450" indent="-171450">
              <a:buFont typeface="Arial" pitchFamily="34" charset="0"/>
              <a:buChar char="•"/>
            </a:pPr>
            <a:r>
              <a:rPr lang="en-AU" sz="1200" kern="1200" dirty="0" smtClean="0">
                <a:solidFill>
                  <a:schemeClr val="tx1"/>
                </a:solidFill>
                <a:latin typeface="+mn-lt"/>
                <a:ea typeface="+mn-ea"/>
                <a:cs typeface="+mn-cs"/>
              </a:rPr>
              <a:t>Gear is operating as required </a:t>
            </a:r>
          </a:p>
          <a:p>
            <a:pPr marL="171450" indent="-171450">
              <a:buFont typeface="Arial" pitchFamily="34" charset="0"/>
              <a:buChar char="•"/>
            </a:pPr>
            <a:r>
              <a:rPr lang="en-AU" sz="1200" kern="1200" dirty="0" smtClean="0">
                <a:solidFill>
                  <a:schemeClr val="tx1"/>
                </a:solidFill>
                <a:latin typeface="+mn-lt"/>
                <a:ea typeface="+mn-ea"/>
                <a:cs typeface="+mn-cs"/>
              </a:rPr>
              <a:t>Items are safe to use.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131076166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discusses </a:t>
            </a:r>
            <a:r>
              <a:rPr lang="en-AU" sz="1200" kern="1200" dirty="0" smtClean="0">
                <a:solidFill>
                  <a:schemeClr val="tx1"/>
                </a:solidFill>
                <a:latin typeface="+mn-lt"/>
                <a:ea typeface="+mn-ea"/>
                <a:cs typeface="+mn-cs"/>
              </a:rPr>
              <a:t>checks on human resources in relation to safety must be made to ensure:</a:t>
            </a:r>
          </a:p>
          <a:p>
            <a:pPr marL="171450" indent="-171450">
              <a:buFont typeface="Arial" pitchFamily="34" charset="0"/>
              <a:buChar char="•"/>
            </a:pPr>
            <a:r>
              <a:rPr lang="en-AU" sz="1200" kern="1200" dirty="0" smtClean="0">
                <a:solidFill>
                  <a:schemeClr val="tx1"/>
                </a:solidFill>
                <a:latin typeface="+mn-lt"/>
                <a:ea typeface="+mn-ea"/>
                <a:cs typeface="+mn-cs"/>
              </a:rPr>
              <a:t>Suitable staff to conduct safety briefings and demonstrations with participants – see following slides</a:t>
            </a:r>
          </a:p>
          <a:p>
            <a:pPr marL="171450" indent="-171450">
              <a:buFont typeface="Arial" pitchFamily="34" charset="0"/>
              <a:buChar char="•"/>
            </a:pPr>
            <a:r>
              <a:rPr lang="en-AU" sz="1200" kern="1200" dirty="0" smtClean="0">
                <a:solidFill>
                  <a:schemeClr val="tx1"/>
                </a:solidFill>
                <a:latin typeface="+mn-lt"/>
                <a:ea typeface="+mn-ea"/>
                <a:cs typeface="+mn-cs"/>
              </a:rPr>
              <a:t>Sufficient staff are present to enable effective supervision of activities</a:t>
            </a:r>
          </a:p>
          <a:p>
            <a:pPr marL="171450" indent="-171450">
              <a:buFont typeface="Arial" pitchFamily="34" charset="0"/>
              <a:buChar char="•"/>
            </a:pPr>
            <a:r>
              <a:rPr lang="en-AU" sz="1200" kern="1200" dirty="0" smtClean="0">
                <a:solidFill>
                  <a:schemeClr val="tx1"/>
                </a:solidFill>
                <a:latin typeface="+mn-lt"/>
                <a:ea typeface="+mn-ea"/>
                <a:cs typeface="+mn-cs"/>
              </a:rPr>
              <a:t>Appropriate staff are present to undertake rescue, retrieval or recovery if necessary</a:t>
            </a:r>
          </a:p>
          <a:p>
            <a:pPr marL="171450" indent="-171450">
              <a:buFont typeface="Arial" pitchFamily="34" charset="0"/>
              <a:buChar char="•"/>
            </a:pPr>
            <a:r>
              <a:rPr lang="en-AU" sz="1200" kern="1200" dirty="0" smtClean="0">
                <a:solidFill>
                  <a:schemeClr val="tx1"/>
                </a:solidFill>
                <a:latin typeface="+mn-lt"/>
                <a:ea typeface="+mn-ea"/>
                <a:cs typeface="+mn-cs"/>
              </a:rPr>
              <a:t>Qualified staff to deliver first-aid in the event an accident or incident occurs</a:t>
            </a:r>
          </a:p>
          <a:p>
            <a:pPr marL="171450" indent="-171450">
              <a:buFont typeface="Arial" pitchFamily="34" charset="0"/>
              <a:buChar char="•"/>
            </a:pPr>
            <a:r>
              <a:rPr lang="en-AU" sz="1200" kern="1200" dirty="0" smtClean="0">
                <a:solidFill>
                  <a:schemeClr val="tx1"/>
                </a:solidFill>
                <a:latin typeface="+mn-lt"/>
                <a:ea typeface="+mn-ea"/>
                <a:cs typeface="+mn-cs"/>
              </a:rPr>
              <a:t>Capable employees to implement all listed requirements of all relevant EMPs for the activity to be conducted.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0211690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a:t>
            </a:r>
            <a:r>
              <a:rPr lang="en-AU" sz="1200" kern="1200" dirty="0" smtClean="0">
                <a:solidFill>
                  <a:schemeClr val="tx1"/>
                </a:solidFill>
                <a:latin typeface="+mn-lt"/>
                <a:ea typeface="+mn-ea"/>
                <a:cs typeface="+mn-cs"/>
              </a:rPr>
              <a:t>as part of the check to ensure </a:t>
            </a:r>
            <a:r>
              <a:rPr lang="en-AU" sz="1200" i="1" kern="1200" dirty="0" smtClean="0">
                <a:solidFill>
                  <a:schemeClr val="tx1"/>
                </a:solidFill>
                <a:latin typeface="+mn-lt"/>
                <a:ea typeface="+mn-ea"/>
                <a:cs typeface="+mn-cs"/>
              </a:rPr>
              <a:t>safety</a:t>
            </a:r>
            <a:r>
              <a:rPr lang="en-AU" sz="1200" kern="1200" dirty="0" smtClean="0">
                <a:solidFill>
                  <a:schemeClr val="tx1"/>
                </a:solidFill>
                <a:latin typeface="+mn-lt"/>
                <a:ea typeface="+mn-ea"/>
                <a:cs typeface="+mn-cs"/>
              </a:rPr>
              <a:t> it is common for a </a:t>
            </a:r>
            <a:r>
              <a:rPr lang="en-AU" sz="1200" i="1" kern="1200" dirty="0" smtClean="0">
                <a:solidFill>
                  <a:schemeClr val="tx1"/>
                </a:solidFill>
                <a:latin typeface="+mn-lt"/>
                <a:ea typeface="+mn-ea"/>
                <a:cs typeface="+mn-cs"/>
              </a:rPr>
              <a:t>security</a:t>
            </a:r>
            <a:r>
              <a:rPr lang="en-AU" sz="1200" kern="1200" dirty="0" smtClean="0">
                <a:solidFill>
                  <a:schemeClr val="tx1"/>
                </a:solidFill>
                <a:latin typeface="+mn-lt"/>
                <a:ea typeface="+mn-ea"/>
                <a:cs typeface="+mn-cs"/>
              </a:rPr>
              <a:t> check to follow to ensure the security of:</a:t>
            </a:r>
          </a:p>
          <a:p>
            <a:pPr marL="171450" indent="-171450">
              <a:buFont typeface="Arial" pitchFamily="34" charset="0"/>
              <a:buChar char="•"/>
            </a:pPr>
            <a:r>
              <a:rPr lang="en-AU" sz="1200" kern="1200" dirty="0" smtClean="0">
                <a:solidFill>
                  <a:schemeClr val="tx1"/>
                </a:solidFill>
                <a:latin typeface="+mn-lt"/>
                <a:ea typeface="+mn-ea"/>
                <a:cs typeface="+mn-cs"/>
              </a:rPr>
              <a:t>Customer property and/or company assets during the activity to protect against accidental loss, theft or damage – this may require:</a:t>
            </a:r>
          </a:p>
          <a:p>
            <a:pPr marL="628650" lvl="1" indent="-171450">
              <a:buFont typeface="Arial" pitchFamily="34" charset="0"/>
              <a:buChar char="•"/>
            </a:pPr>
            <a:r>
              <a:rPr lang="en-US" sz="1200" kern="1200" dirty="0" smtClean="0">
                <a:solidFill>
                  <a:schemeClr val="tx1"/>
                </a:solidFill>
                <a:latin typeface="+mn-lt"/>
                <a:ea typeface="+mn-ea"/>
                <a:cs typeface="+mn-cs"/>
              </a:rPr>
              <a:t>Placing valuables into a designated locked cabinet/safe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Locking items on the tour vehicle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Use of security staff</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Removal of certain items from people while they are participating in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Activation of security systems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Local/host community – to protect them from:</a:t>
            </a:r>
          </a:p>
          <a:p>
            <a:pPr marL="628650" lvl="1" indent="-171450">
              <a:buFont typeface="Arial" pitchFamily="34" charset="0"/>
              <a:buChar char="•"/>
            </a:pPr>
            <a:r>
              <a:rPr lang="en-US" sz="1200" kern="1200" dirty="0" smtClean="0">
                <a:solidFill>
                  <a:schemeClr val="tx1"/>
                </a:solidFill>
                <a:latin typeface="+mn-lt"/>
                <a:ea typeface="+mn-ea"/>
                <a:cs typeface="+mn-cs"/>
              </a:rPr>
              <a:t>Identified threats – as identified by the host people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Unintentional intrusion into their private lives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Illegal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Unacceptable language and behaviour</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 environment – in terms of:</a:t>
            </a:r>
          </a:p>
          <a:p>
            <a:pPr marL="628650" lvl="1" indent="-171450">
              <a:buFont typeface="Arial" pitchFamily="34" charset="0"/>
              <a:buChar char="•"/>
            </a:pPr>
            <a:r>
              <a:rPr lang="en-US" sz="1200" kern="1200" dirty="0" smtClean="0">
                <a:solidFill>
                  <a:schemeClr val="tx1"/>
                </a:solidFill>
                <a:latin typeface="+mn-lt"/>
                <a:ea typeface="+mn-ea"/>
                <a:cs typeface="+mn-cs"/>
              </a:rPr>
              <a:t>Minimising impact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Avoiding foreseeable negative impact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Removing rubbish</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Minimising use of scarce local resources.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7489462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it </a:t>
            </a:r>
            <a:r>
              <a:rPr lang="en-AU" sz="1200" kern="1200" dirty="0" smtClean="0">
                <a:solidFill>
                  <a:schemeClr val="tx1"/>
                </a:solidFill>
                <a:latin typeface="+mn-lt"/>
                <a:ea typeface="+mn-ea"/>
                <a:cs typeface="+mn-cs"/>
              </a:rPr>
              <a:t>is always critical to maximise engagement by tour group members with every interpretive activity because:</a:t>
            </a:r>
          </a:p>
          <a:p>
            <a:pPr marL="171450" indent="-171450">
              <a:buFont typeface="Arial" pitchFamily="34" charset="0"/>
              <a:buChar char="•"/>
            </a:pPr>
            <a:r>
              <a:rPr lang="en-AU" sz="1200" kern="1200" dirty="0" smtClean="0">
                <a:solidFill>
                  <a:schemeClr val="tx1"/>
                </a:solidFill>
                <a:latin typeface="+mn-lt"/>
                <a:ea typeface="+mn-ea"/>
                <a:cs typeface="+mn-cs"/>
              </a:rPr>
              <a:t>This is why they have paid to be part of the tour – they will have chosen the tour (or the individual activity) because they have a definite interest in the interpretive activity which was advertised/promised</a:t>
            </a:r>
          </a:p>
          <a:p>
            <a:pPr marL="171450" indent="-171450">
              <a:buFont typeface="Arial" pitchFamily="34" charset="0"/>
              <a:buChar char="•"/>
            </a:pPr>
            <a:r>
              <a:rPr lang="en-AU" sz="1200" kern="1200" dirty="0" smtClean="0">
                <a:solidFill>
                  <a:schemeClr val="tx1"/>
                </a:solidFill>
                <a:latin typeface="+mn-lt"/>
                <a:ea typeface="+mn-ea"/>
                <a:cs typeface="+mn-cs"/>
              </a:rPr>
              <a:t>Higher levels of engagement mean higher levels of customer satisfaction which, in turn, leads to:</a:t>
            </a:r>
          </a:p>
          <a:p>
            <a:pPr marL="628650" lvl="1" indent="-171450">
              <a:buFont typeface="Arial" pitchFamily="34" charset="0"/>
              <a:buChar char="•"/>
            </a:pPr>
            <a:r>
              <a:rPr lang="en-AU" sz="1200" kern="1200" dirty="0" smtClean="0">
                <a:solidFill>
                  <a:schemeClr val="tx1"/>
                </a:solidFill>
                <a:latin typeface="+mn-lt"/>
                <a:ea typeface="+mn-ea"/>
                <a:cs typeface="+mn-cs"/>
              </a:rPr>
              <a:t>Increased rates of referral business – where those who have enjoyed their tour/the activity will tell others (their family, friends and colleagues) thereby referring them to the same tour/activity</a:t>
            </a:r>
          </a:p>
          <a:p>
            <a:pPr marL="628650" lvl="1" indent="-171450">
              <a:buFont typeface="Arial" pitchFamily="34" charset="0"/>
              <a:buChar char="•"/>
            </a:pPr>
            <a:r>
              <a:rPr lang="en-AU" sz="1200" kern="1200" dirty="0" smtClean="0">
                <a:solidFill>
                  <a:schemeClr val="tx1"/>
                </a:solidFill>
                <a:latin typeface="+mn-lt"/>
                <a:ea typeface="+mn-ea"/>
                <a:cs typeface="+mn-cs"/>
              </a:rPr>
              <a:t>Greater likelihood of return/repeat business – where previous tour group members will:</a:t>
            </a:r>
          </a:p>
          <a:p>
            <a:pPr marL="1085850" lvl="2" indent="-171450">
              <a:buFont typeface="Arial" pitchFamily="34" charset="0"/>
              <a:buChar char="•"/>
            </a:pPr>
            <a:r>
              <a:rPr lang="en-AU" sz="1200" kern="1200" dirty="0" smtClean="0">
                <a:solidFill>
                  <a:schemeClr val="tx1"/>
                </a:solidFill>
                <a:latin typeface="+mn-lt"/>
                <a:ea typeface="+mn-ea"/>
                <a:cs typeface="+mn-cs"/>
              </a:rPr>
              <a:t>Join another tour conducted by the Tour Operator because they were impressed with the first one </a:t>
            </a:r>
          </a:p>
          <a:p>
            <a:pPr marL="1085850" lvl="2" indent="-171450">
              <a:buFont typeface="Arial" pitchFamily="34" charset="0"/>
              <a:buChar char="•"/>
            </a:pPr>
            <a:r>
              <a:rPr lang="en-AU" sz="1200" kern="1200" dirty="0" smtClean="0">
                <a:solidFill>
                  <a:schemeClr val="tx1"/>
                </a:solidFill>
                <a:latin typeface="+mn-lt"/>
                <a:ea typeface="+mn-ea"/>
                <a:cs typeface="+mn-cs"/>
              </a:rPr>
              <a:t>Come back and re-take a tour/activity they previously did simply because it was so enjoyable.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7024905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suggests at </a:t>
            </a:r>
            <a:r>
              <a:rPr lang="en-AU" sz="1200" kern="1200" dirty="0" smtClean="0">
                <a:solidFill>
                  <a:schemeClr val="tx1"/>
                </a:solidFill>
                <a:latin typeface="+mn-lt"/>
                <a:ea typeface="+mn-ea"/>
                <a:cs typeface="+mn-cs"/>
              </a:rPr>
              <a:t>the preparation stage, providing for maximum engagement by participants may need to consider: </a:t>
            </a:r>
          </a:p>
          <a:p>
            <a:pPr marL="171450" indent="-171450">
              <a:buFont typeface="Arial" pitchFamily="34" charset="0"/>
              <a:buChar char="•"/>
            </a:pPr>
            <a:r>
              <a:rPr lang="en-AU" sz="1200" kern="1200" dirty="0" smtClean="0">
                <a:solidFill>
                  <a:schemeClr val="tx1"/>
                </a:solidFill>
                <a:latin typeface="+mn-lt"/>
                <a:ea typeface="+mn-ea"/>
                <a:cs typeface="+mn-cs"/>
              </a:rPr>
              <a:t>Unloading items from the tour vehicle – together with:</a:t>
            </a:r>
          </a:p>
          <a:p>
            <a:pPr marL="628650" lvl="1" indent="-171450">
              <a:buFont typeface="Arial" pitchFamily="34" charset="0"/>
              <a:buChar char="•"/>
            </a:pPr>
            <a:r>
              <a:rPr lang="en-US" sz="1200" kern="1200" dirty="0" smtClean="0">
                <a:solidFill>
                  <a:schemeClr val="tx1"/>
                </a:solidFill>
                <a:latin typeface="+mn-lt"/>
                <a:ea typeface="+mn-ea"/>
                <a:cs typeface="+mn-cs"/>
              </a:rPr>
              <a:t>Completing visual and other checks to confirm suitability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Counting and recording items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Obtaining identified resources from third party providers – as previously arranged:</a:t>
            </a:r>
          </a:p>
          <a:p>
            <a:pPr marL="628650" lvl="1" indent="-171450">
              <a:buFont typeface="Arial" pitchFamily="34" charset="0"/>
              <a:buChar char="•"/>
            </a:pPr>
            <a:r>
              <a:rPr lang="en-US" sz="1200" kern="1200" dirty="0" smtClean="0">
                <a:solidFill>
                  <a:schemeClr val="tx1"/>
                </a:solidFill>
                <a:latin typeface="+mn-lt"/>
                <a:ea typeface="+mn-ea"/>
                <a:cs typeface="+mn-cs"/>
              </a:rPr>
              <a:t>In accordance with purchase orders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To align with individual requirements – for example:</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Specific activity requirements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Agreements regarding economic opportunity for local community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Ensuring sufficient equipment – for all participants:</a:t>
            </a:r>
          </a:p>
          <a:p>
            <a:pPr marL="628650" lvl="1" indent="-171450">
              <a:buFont typeface="Arial" pitchFamily="34" charset="0"/>
              <a:buChar char="•"/>
            </a:pPr>
            <a:r>
              <a:rPr lang="en-US" sz="1200" kern="1200" dirty="0" smtClean="0">
                <a:solidFill>
                  <a:schemeClr val="tx1"/>
                </a:solidFill>
                <a:latin typeface="+mn-lt"/>
                <a:ea typeface="+mn-ea"/>
                <a:cs typeface="+mn-cs"/>
              </a:rPr>
              <a:t>In-keeping with the plan for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 accordance with their individual need and personal characteristics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To achieve objectives imposed by last-minute special requests.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2006736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suggesting ways to maximise engagement in the preparation phase:</a:t>
            </a:r>
          </a:p>
          <a:p>
            <a:pPr marL="171450" indent="-171450">
              <a:buFont typeface="Arial" pitchFamily="34" charset="0"/>
              <a:buChar char="•"/>
            </a:pPr>
            <a:r>
              <a:rPr lang="en-AU" sz="1200" kern="1200" dirty="0" smtClean="0">
                <a:solidFill>
                  <a:schemeClr val="tx1"/>
                </a:solidFill>
                <a:latin typeface="+mn-lt"/>
                <a:ea typeface="+mn-ea"/>
                <a:cs typeface="+mn-cs"/>
              </a:rPr>
              <a:t>Arranging for action to address missing/broken items – such as:</a:t>
            </a:r>
          </a:p>
          <a:p>
            <a:pPr marL="628650" lvl="1" indent="-171450">
              <a:buFont typeface="Arial" pitchFamily="34" charset="0"/>
              <a:buChar char="•"/>
            </a:pPr>
            <a:r>
              <a:rPr lang="en-US" sz="1200" kern="1200" dirty="0" smtClean="0">
                <a:solidFill>
                  <a:schemeClr val="tx1"/>
                </a:solidFill>
                <a:latin typeface="+mn-lt"/>
                <a:ea typeface="+mn-ea"/>
                <a:cs typeface="+mn-cs"/>
              </a:rPr>
              <a:t>Buying additional items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Borrowing items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Adjusting the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Positioning of items in the most appropriate position – which may require attention to:</a:t>
            </a:r>
          </a:p>
          <a:p>
            <a:pPr marL="628650" lvl="1" indent="-171450">
              <a:buFont typeface="Arial" pitchFamily="34" charset="0"/>
              <a:buChar char="•"/>
            </a:pPr>
            <a:r>
              <a:rPr lang="en-US" sz="1200" kern="1200" dirty="0" smtClean="0">
                <a:solidFill>
                  <a:schemeClr val="tx1"/>
                </a:solidFill>
                <a:latin typeface="+mn-lt"/>
                <a:ea typeface="+mn-ea"/>
                <a:cs typeface="+mn-cs"/>
              </a:rPr>
              <a:t>Initial distribution of items at the participant briefing/demonstration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Placement of items at different locations/stations along the way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Maintaining security of items until they are used/required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Planning for the positioning of customers – with reference to, as appropriate:</a:t>
            </a:r>
          </a:p>
          <a:p>
            <a:pPr marL="628650" lvl="1" indent="-171450">
              <a:buFont typeface="Arial" pitchFamily="34" charset="0"/>
              <a:buChar char="•"/>
            </a:pPr>
            <a:r>
              <a:rPr lang="en-US" sz="1200" kern="1200" dirty="0" smtClean="0">
                <a:solidFill>
                  <a:schemeClr val="tx1"/>
                </a:solidFill>
                <a:latin typeface="+mn-lt"/>
                <a:ea typeface="+mn-ea"/>
                <a:cs typeface="+mn-cs"/>
              </a:rPr>
              <a:t>Initial briefing/demonstration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Practice session/s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Key stages within the activity.</a:t>
            </a:r>
            <a:endParaRPr lang="en-AU" sz="1200" kern="1200" dirty="0" smtClean="0">
              <a:solidFill>
                <a:schemeClr val="tx1"/>
              </a:solidFill>
              <a:latin typeface="+mn-lt"/>
              <a:ea typeface="+mn-ea"/>
              <a:cs typeface="+mn-cs"/>
            </a:endParaRPr>
          </a:p>
          <a:p>
            <a:pPr marL="171450" indent="-171450">
              <a:buFont typeface="Arial" pitchFamily="34" charset="0"/>
              <a:buChar char="•"/>
            </a:pPr>
            <a:endParaRPr lang="en-AU" baseline="0" noProof="0" dirty="0" smtClean="0"/>
          </a:p>
          <a:p>
            <a:pPr marL="171450" indent="-171450">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7594798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5407971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6849423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402267570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4176684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129542823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involved in introducing an activity?</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is this an important aspect of delivering/conducting an interpretive activity?</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How might this be done?</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Who is likely to be involved?</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Where might this process occur?</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14740717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emphasises </a:t>
            </a:r>
            <a:r>
              <a:rPr lang="en-AU" sz="1200" kern="1200" dirty="0" smtClean="0">
                <a:solidFill>
                  <a:schemeClr val="tx1"/>
                </a:solidFill>
                <a:latin typeface="+mn-lt"/>
                <a:ea typeface="+mn-ea"/>
                <a:cs typeface="+mn-cs"/>
              </a:rPr>
              <a:t>making participants aware of all up-coming interpretive activities is essential in order to:</a:t>
            </a:r>
          </a:p>
          <a:p>
            <a:pPr marL="171450" indent="-171450">
              <a:buFont typeface="Arial" pitchFamily="34" charset="0"/>
              <a:buChar char="•"/>
            </a:pPr>
            <a:r>
              <a:rPr lang="en-AU" sz="1200" kern="1200" dirty="0" smtClean="0">
                <a:solidFill>
                  <a:schemeClr val="tx1"/>
                </a:solidFill>
                <a:latin typeface="+mn-lt"/>
                <a:ea typeface="+mn-ea"/>
                <a:cs typeface="+mn-cs"/>
              </a:rPr>
              <a:t>Meet expectations – they expect to be made aware of what is happening</a:t>
            </a:r>
          </a:p>
          <a:p>
            <a:pPr marL="171450" indent="-171450">
              <a:buFont typeface="Arial" pitchFamily="34" charset="0"/>
              <a:buChar char="•"/>
            </a:pPr>
            <a:r>
              <a:rPr lang="en-AU" sz="1200" kern="1200" dirty="0" smtClean="0">
                <a:solidFill>
                  <a:schemeClr val="tx1"/>
                </a:solidFill>
                <a:latin typeface="+mn-lt"/>
                <a:ea typeface="+mn-ea"/>
                <a:cs typeface="+mn-cs"/>
              </a:rPr>
              <a:t>Generate excitement and a sense of anticipation – which enhances enjoyment of the tour</a:t>
            </a:r>
          </a:p>
          <a:p>
            <a:pPr marL="171450" indent="-171450">
              <a:buFont typeface="Arial" pitchFamily="34" charset="0"/>
              <a:buChar char="•"/>
            </a:pPr>
            <a:r>
              <a:rPr lang="en-AU" sz="1200" kern="1200" dirty="0" smtClean="0">
                <a:solidFill>
                  <a:schemeClr val="tx1"/>
                </a:solidFill>
                <a:latin typeface="+mn-lt"/>
                <a:ea typeface="+mn-ea"/>
                <a:cs typeface="+mn-cs"/>
              </a:rPr>
              <a:t>Get people talking – about the imminent event.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220910636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explaining need to alert tour group members to up-coming activities – in order to:</a:t>
            </a:r>
          </a:p>
          <a:p>
            <a:pPr marL="171450" indent="-171450">
              <a:buFont typeface="Arial" pitchFamily="34" charset="0"/>
              <a:buChar char="•"/>
            </a:pPr>
            <a:r>
              <a:rPr lang="en-AU" sz="1200" kern="1200" dirty="0" smtClean="0">
                <a:solidFill>
                  <a:schemeClr val="tx1"/>
                </a:solidFill>
                <a:latin typeface="+mn-lt"/>
                <a:ea typeface="+mn-ea"/>
                <a:cs typeface="+mn-cs"/>
              </a:rPr>
              <a:t>Keep people informed – to let them know how the tour is progressing in terms of the itinerary they have been given</a:t>
            </a:r>
          </a:p>
          <a:p>
            <a:pPr marL="171450" indent="-171450">
              <a:buFont typeface="Arial" pitchFamily="34" charset="0"/>
              <a:buChar char="•"/>
            </a:pPr>
            <a:r>
              <a:rPr lang="en-AU" sz="1200" kern="1200" dirty="0" smtClean="0">
                <a:solidFill>
                  <a:schemeClr val="tx1"/>
                </a:solidFill>
                <a:latin typeface="+mn-lt"/>
                <a:ea typeface="+mn-ea"/>
                <a:cs typeface="+mn-cs"/>
              </a:rPr>
              <a:t>Allow individuals to prepare – on a personal basis, which may be:</a:t>
            </a:r>
          </a:p>
          <a:p>
            <a:pPr marL="628650" lvl="1" indent="-171450">
              <a:buFont typeface="Arial" pitchFamily="34" charset="0"/>
              <a:buChar char="•"/>
            </a:pPr>
            <a:r>
              <a:rPr lang="en-US" sz="1200" kern="1200" dirty="0" smtClean="0">
                <a:solidFill>
                  <a:schemeClr val="tx1"/>
                </a:solidFill>
                <a:latin typeface="+mn-lt"/>
                <a:ea typeface="+mn-ea"/>
                <a:cs typeface="+mn-cs"/>
              </a:rPr>
              <a:t>Getting ready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Making  a ‘comfort stop’</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Checking their camera</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Having something to eat and drink</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Changing clothes/footwear</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Give them an opportunity to:</a:t>
            </a:r>
          </a:p>
          <a:p>
            <a:pPr marL="628650" lvl="1" indent="-171450">
              <a:buFont typeface="Arial" pitchFamily="34" charset="0"/>
              <a:buChar char="•"/>
            </a:pPr>
            <a:r>
              <a:rPr lang="en-US" sz="1200" kern="1200" dirty="0" smtClean="0">
                <a:solidFill>
                  <a:schemeClr val="tx1"/>
                </a:solidFill>
                <a:latin typeface="+mn-lt"/>
                <a:ea typeface="+mn-ea"/>
                <a:cs typeface="+mn-cs"/>
              </a:rPr>
              <a:t>Ask questions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Lodge special requests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Read handout material.</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33342695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common</a:t>
            </a:r>
            <a:r>
              <a:rPr lang="en-AU" sz="1200" kern="1200" dirty="0" smtClean="0">
                <a:solidFill>
                  <a:schemeClr val="tx1"/>
                </a:solidFill>
                <a:latin typeface="+mn-lt"/>
                <a:ea typeface="+mn-ea"/>
                <a:cs typeface="+mn-cs"/>
              </a:rPr>
              <a:t> ways to alert tour group members to up-coming activities are:</a:t>
            </a:r>
          </a:p>
          <a:p>
            <a:pPr marL="171450" indent="-171450">
              <a:buFont typeface="Arial" pitchFamily="34" charset="0"/>
              <a:buChar char="•"/>
            </a:pPr>
            <a:r>
              <a:rPr lang="en-AU" sz="1200" kern="1200" dirty="0" smtClean="0">
                <a:solidFill>
                  <a:schemeClr val="tx1"/>
                </a:solidFill>
                <a:latin typeface="+mn-lt"/>
                <a:ea typeface="+mn-ea"/>
                <a:cs typeface="+mn-cs"/>
              </a:rPr>
              <a:t>Including them on the itinerary – and: </a:t>
            </a:r>
          </a:p>
          <a:p>
            <a:pPr marL="628650" lvl="1" indent="-171450">
              <a:buFont typeface="Arial" pitchFamily="34" charset="0"/>
              <a:buChar char="•"/>
            </a:pPr>
            <a:r>
              <a:rPr lang="en-AU" sz="1200" kern="1200" dirty="0" smtClean="0">
                <a:solidFill>
                  <a:schemeClr val="tx1"/>
                </a:solidFill>
                <a:latin typeface="+mn-lt"/>
                <a:ea typeface="+mn-ea"/>
                <a:cs typeface="+mn-cs"/>
              </a:rPr>
              <a:t>Making sure everyone receives a copy of the itinerary when they are issued with their ticket</a:t>
            </a:r>
          </a:p>
          <a:p>
            <a:pPr marL="628650" lvl="1" indent="-171450">
              <a:buFont typeface="Arial" pitchFamily="34" charset="0"/>
              <a:buChar char="•"/>
            </a:pPr>
            <a:r>
              <a:rPr lang="en-AU" sz="1200" kern="1200" dirty="0" smtClean="0">
                <a:solidFill>
                  <a:schemeClr val="tx1"/>
                </a:solidFill>
                <a:latin typeface="+mn-lt"/>
                <a:ea typeface="+mn-ea"/>
                <a:cs typeface="+mn-cs"/>
              </a:rPr>
              <a:t>Posting a copy of the </a:t>
            </a:r>
            <a:r>
              <a:rPr lang="en-US" sz="1200" kern="1200" dirty="0" smtClean="0">
                <a:solidFill>
                  <a:schemeClr val="tx1"/>
                </a:solidFill>
                <a:latin typeface="+mn-lt"/>
                <a:ea typeface="+mn-ea"/>
                <a:cs typeface="+mn-cs"/>
              </a:rPr>
              <a:t>itinerary in the camp or in the tour vehicle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Identifying the activities as part of the pre-tour briefing – which may be conducted:</a:t>
            </a:r>
          </a:p>
          <a:p>
            <a:pPr marL="628650" lvl="1" indent="-171450">
              <a:buFont typeface="Arial" pitchFamily="34" charset="0"/>
              <a:buChar char="•"/>
            </a:pPr>
            <a:r>
              <a:rPr lang="en-US" sz="1200" kern="1200" dirty="0" smtClean="0">
                <a:solidFill>
                  <a:schemeClr val="tx1"/>
                </a:solidFill>
                <a:latin typeface="+mn-lt"/>
                <a:ea typeface="+mn-ea"/>
                <a:cs typeface="+mn-cs"/>
              </a:rPr>
              <a:t>At a special event shortly before departure day (for extended tours)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On the day of departure before departing the Tour Operator’s business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Making verbal group-based announcements – which may be made:</a:t>
            </a:r>
          </a:p>
          <a:p>
            <a:pPr marL="628650" lvl="1" indent="-171450">
              <a:buFont typeface="Arial" pitchFamily="34" charset="0"/>
              <a:buChar char="•"/>
            </a:pPr>
            <a:r>
              <a:rPr lang="en-US" sz="1200" kern="1200" dirty="0" smtClean="0">
                <a:solidFill>
                  <a:schemeClr val="tx1"/>
                </a:solidFill>
                <a:latin typeface="+mn-lt"/>
                <a:ea typeface="+mn-ea"/>
                <a:cs typeface="+mn-cs"/>
              </a:rPr>
              <a:t>Along the way/route of a walking tour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At rest or meals stops/breaks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On the tour vehicle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At end-of-day sessions (for multiple day tours)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At briefing sessions at the start of each day (for multiple day tours).</a:t>
            </a:r>
          </a:p>
          <a:p>
            <a:pPr>
              <a:buFont typeface="Arial" pitchFamily="34" charset="0"/>
              <a:buChar char="•"/>
            </a:pPr>
            <a:endParaRPr lang="en-US" sz="1200" kern="1200" dirty="0" smtClean="0">
              <a:solidFill>
                <a:schemeClr val="tx1"/>
              </a:solidFill>
              <a:latin typeface="+mn-lt"/>
              <a:ea typeface="+mn-ea"/>
              <a:cs typeface="+mn-cs"/>
            </a:endParaRPr>
          </a:p>
          <a:p>
            <a:pPr>
              <a:buFont typeface="Arial" pitchFamily="34" charset="0"/>
              <a:buNone/>
            </a:pPr>
            <a:r>
              <a:rPr lang="en-US" sz="1200" b="1" kern="1200" dirty="0" smtClean="0">
                <a:solidFill>
                  <a:schemeClr val="tx1"/>
                </a:solidFill>
                <a:latin typeface="+mn-lt"/>
                <a:ea typeface="+mn-ea"/>
                <a:cs typeface="+mn-cs"/>
              </a:rPr>
              <a:t>Classroom Activity – Demonstration</a:t>
            </a:r>
          </a:p>
          <a:p>
            <a:pPr>
              <a:buFont typeface="Arial" pitchFamily="34" charset="0"/>
              <a:buNone/>
            </a:pPr>
            <a:r>
              <a:rPr lang="en-US" sz="1200" b="0" kern="1200" dirty="0" smtClean="0">
                <a:solidFill>
                  <a:schemeClr val="tx1"/>
                </a:solidFill>
                <a:latin typeface="+mn-lt"/>
                <a:ea typeface="+mn-ea"/>
                <a:cs typeface="+mn-cs"/>
              </a:rPr>
              <a:t>Trainer demonstrates how to alert tour group members to an up-coming interpretive activity.</a:t>
            </a: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189874225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a:t>
            </a:r>
            <a:r>
              <a:rPr lang="en-AU" baseline="0" noProof="0" dirty="0" smtClean="0"/>
              <a:t> continues to identify common</a:t>
            </a:r>
            <a:r>
              <a:rPr lang="en-AU" sz="1200" kern="1200" dirty="0" smtClean="0">
                <a:solidFill>
                  <a:schemeClr val="tx1"/>
                </a:solidFill>
                <a:latin typeface="+mn-lt"/>
                <a:ea typeface="+mn-ea"/>
                <a:cs typeface="+mn-cs"/>
              </a:rPr>
              <a:t> ways to alert tour group members to up-coming activities:</a:t>
            </a:r>
          </a:p>
          <a:p>
            <a:pPr marL="171450" indent="-171450">
              <a:buFont typeface="Arial" pitchFamily="34" charset="0"/>
              <a:buChar char="•"/>
            </a:pPr>
            <a:r>
              <a:rPr lang="en-AU" sz="1200" kern="1200" dirty="0" smtClean="0">
                <a:solidFill>
                  <a:schemeClr val="tx1"/>
                </a:solidFill>
                <a:latin typeface="+mn-lt"/>
                <a:ea typeface="+mn-ea"/>
                <a:cs typeface="+mn-cs"/>
              </a:rPr>
              <a:t>Advising of the details of the of the activity – which will involve:</a:t>
            </a:r>
          </a:p>
          <a:p>
            <a:pPr marL="628650" lvl="1" indent="-171450">
              <a:buFont typeface="Arial" pitchFamily="34" charset="0"/>
              <a:buChar char="•"/>
            </a:pPr>
            <a:r>
              <a:rPr lang="en-US" sz="1200" kern="1200" dirty="0" smtClean="0">
                <a:solidFill>
                  <a:schemeClr val="tx1"/>
                </a:solidFill>
                <a:latin typeface="+mn-lt"/>
                <a:ea typeface="+mn-ea"/>
                <a:cs typeface="+mn-cs"/>
              </a:rPr>
              <a:t>Describing the physical/geographic location of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Identifying about timing – start and finish times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Notifying of any necessary changes which have to be made – together with explanation of cause/reason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Encouraging engagement – which can include:</a:t>
            </a:r>
          </a:p>
          <a:p>
            <a:pPr marL="628650" lvl="1" indent="-171450">
              <a:buFont typeface="Arial" pitchFamily="34" charset="0"/>
              <a:buChar char="•"/>
            </a:pPr>
            <a:r>
              <a:rPr lang="en-US" sz="1200" kern="1200" dirty="0" smtClean="0">
                <a:solidFill>
                  <a:schemeClr val="tx1"/>
                </a:solidFill>
                <a:latin typeface="+mn-lt"/>
                <a:ea typeface="+mn-ea"/>
                <a:cs typeface="+mn-cs"/>
              </a:rPr>
              <a:t>Motivating people to attend or watch</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Highlighting the benefits of participation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Setting challenges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Stressing the unique nature of the activity/experience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Responding as appropriate – to: </a:t>
            </a:r>
          </a:p>
          <a:p>
            <a:pPr marL="628650" lvl="1" indent="-171450">
              <a:buFont typeface="Arial" pitchFamily="34" charset="0"/>
              <a:buChar char="•"/>
            </a:pPr>
            <a:r>
              <a:rPr lang="en-US" sz="1200" kern="1200" dirty="0" smtClean="0">
                <a:solidFill>
                  <a:schemeClr val="tx1"/>
                </a:solidFill>
                <a:latin typeface="+mn-lt"/>
                <a:ea typeface="+mn-ea"/>
                <a:cs typeface="+mn-cs"/>
              </a:rPr>
              <a:t>Questions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Concerns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Fears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Issues arising</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Speaking to people on an individual basis – to:</a:t>
            </a:r>
          </a:p>
          <a:p>
            <a:pPr marL="628650" lvl="1" indent="-171450">
              <a:buFont typeface="Arial" pitchFamily="34" charset="0"/>
              <a:buChar char="•"/>
            </a:pPr>
            <a:r>
              <a:rPr lang="en-US" sz="1200" kern="1200" dirty="0" smtClean="0">
                <a:solidFill>
                  <a:schemeClr val="tx1"/>
                </a:solidFill>
                <a:latin typeface="+mn-lt"/>
                <a:ea typeface="+mn-ea"/>
                <a:cs typeface="+mn-cs"/>
              </a:rPr>
              <a:t>Ensure all group members are aware of up-coming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Show interest in individuals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Optimise likelihood of responding positively to all concerns/matters raised.</a:t>
            </a:r>
            <a:endParaRPr lang="en-AU" sz="1200" kern="1200" dirty="0" smtClean="0">
              <a:solidFill>
                <a:schemeClr val="tx1"/>
              </a:solidFill>
              <a:latin typeface="+mn-lt"/>
              <a:ea typeface="+mn-ea"/>
              <a:cs typeface="+mn-cs"/>
            </a:endParaRPr>
          </a:p>
          <a:p>
            <a:pPr>
              <a:buFont typeface="Arial" pitchFamily="34" charset="0"/>
              <a:buNone/>
            </a:pPr>
            <a:endParaRPr lang="en-AU" sz="1200"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Classroom</a:t>
            </a:r>
            <a:r>
              <a:rPr lang="en-AU" sz="1200" b="1" kern="1200" baseline="0" noProof="0" dirty="0" smtClean="0">
                <a:solidFill>
                  <a:schemeClr val="tx1"/>
                </a:solidFill>
                <a:latin typeface="+mn-lt"/>
                <a:ea typeface="+mn-ea"/>
                <a:cs typeface="+mn-cs"/>
              </a:rPr>
              <a:t> Activity – Role Plays</a:t>
            </a:r>
          </a:p>
          <a:p>
            <a:pPr>
              <a:buFont typeface="Arial" pitchFamily="34" charset="0"/>
              <a:buNone/>
            </a:pPr>
            <a:r>
              <a:rPr lang="en-AU" sz="1200" b="0" kern="1200" baseline="0" noProof="0" dirty="0" smtClean="0">
                <a:solidFill>
                  <a:schemeClr val="tx1"/>
                </a:solidFill>
                <a:latin typeface="+mn-lt"/>
                <a:ea typeface="+mn-ea"/>
                <a:cs typeface="+mn-cs"/>
              </a:rPr>
              <a:t>Trainer arranges for students to demonstrate role of Tour Guide to alert tour group members about up-coming interpretive activities.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00346367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a:t>
            </a:r>
            <a:r>
              <a:rPr lang="en-AU" sz="1200" kern="1200" dirty="0" smtClean="0">
                <a:solidFill>
                  <a:schemeClr val="tx1"/>
                </a:solidFill>
                <a:latin typeface="+mn-lt"/>
                <a:ea typeface="+mn-ea"/>
                <a:cs typeface="+mn-cs"/>
              </a:rPr>
              <a:t>when welcoming tour group members to an interpretive activity the activities below are standard practices:</a:t>
            </a:r>
          </a:p>
          <a:p>
            <a:pPr marL="171450" indent="-171450">
              <a:buFont typeface="Arial" pitchFamily="34" charset="0"/>
              <a:buChar char="•"/>
            </a:pPr>
            <a:r>
              <a:rPr lang="en-AU" sz="1200" kern="1200" dirty="0" smtClean="0">
                <a:solidFill>
                  <a:schemeClr val="tx1"/>
                </a:solidFill>
                <a:latin typeface="+mn-lt"/>
                <a:ea typeface="+mn-ea"/>
                <a:cs typeface="+mn-cs"/>
              </a:rPr>
              <a:t>There is a welcome for </a:t>
            </a:r>
            <a:r>
              <a:rPr lang="en-AU" sz="1200" i="1" kern="1200" dirty="0" smtClean="0">
                <a:solidFill>
                  <a:schemeClr val="tx1"/>
                </a:solidFill>
                <a:latin typeface="+mn-lt"/>
                <a:ea typeface="+mn-ea"/>
                <a:cs typeface="+mn-cs"/>
              </a:rPr>
              <a:t>every</a:t>
            </a:r>
            <a:r>
              <a:rPr lang="en-AU" sz="1200" kern="1200" dirty="0" smtClean="0">
                <a:solidFill>
                  <a:schemeClr val="tx1"/>
                </a:solidFill>
                <a:latin typeface="+mn-lt"/>
                <a:ea typeface="+mn-ea"/>
                <a:cs typeface="+mn-cs"/>
              </a:rPr>
              <a:t> interpretive activity – where there are multiple activities each activity must be given its own welcome because:</a:t>
            </a:r>
          </a:p>
          <a:p>
            <a:pPr marL="628650" lvl="1" indent="-171450">
              <a:buFont typeface="Arial" pitchFamily="34" charset="0"/>
              <a:buChar char="•"/>
            </a:pPr>
            <a:r>
              <a:rPr lang="en-US" sz="1200" kern="1200" dirty="0" smtClean="0">
                <a:solidFill>
                  <a:schemeClr val="tx1"/>
                </a:solidFill>
                <a:latin typeface="+mn-lt"/>
                <a:ea typeface="+mn-ea"/>
                <a:cs typeface="+mn-cs"/>
              </a:rPr>
              <a:t>They are different/unique – no two (at least on the same tour) should be identical although they may be similar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They are each an important part of the total package bought by the customer and deserve their own introduction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There is a need to provide activity-specific detail and information in order to enhance and illustrate the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There must be an actual spoken welcome – which must:</a:t>
            </a:r>
          </a:p>
          <a:p>
            <a:pPr marL="628650" lvl="1" indent="-171450">
              <a:buFont typeface="Arial" pitchFamily="34" charset="0"/>
              <a:buChar char="•"/>
            </a:pPr>
            <a:r>
              <a:rPr lang="en-AU" sz="1200" kern="1200" dirty="0" smtClean="0">
                <a:solidFill>
                  <a:schemeClr val="tx1"/>
                </a:solidFill>
                <a:latin typeface="+mn-lt"/>
                <a:ea typeface="+mn-ea"/>
                <a:cs typeface="+mn-cs"/>
              </a:rPr>
              <a:t>Identify the location/the physical location of the activity</a:t>
            </a:r>
          </a:p>
          <a:p>
            <a:pPr marL="628650" lvl="1" indent="-171450">
              <a:buFont typeface="Arial" pitchFamily="34" charset="0"/>
              <a:buChar char="•"/>
            </a:pPr>
            <a:r>
              <a:rPr lang="en-AU" sz="1200" kern="1200" dirty="0" smtClean="0">
                <a:solidFill>
                  <a:schemeClr val="tx1"/>
                </a:solidFill>
                <a:latin typeface="+mn-lt"/>
                <a:ea typeface="+mn-ea"/>
                <a:cs typeface="+mn-cs"/>
              </a:rPr>
              <a:t>Identify the activity – by name and/or type and/or title</a:t>
            </a:r>
          </a:p>
          <a:p>
            <a:pPr marL="628650" lvl="1" indent="-171450">
              <a:buFont typeface="Arial" pitchFamily="34" charset="0"/>
              <a:buChar char="•"/>
            </a:pPr>
            <a:r>
              <a:rPr lang="en-AU" sz="1200" kern="1200" dirty="0" smtClean="0">
                <a:solidFill>
                  <a:schemeClr val="tx1"/>
                </a:solidFill>
                <a:latin typeface="+mn-lt"/>
                <a:ea typeface="+mn-ea"/>
                <a:cs typeface="+mn-cs"/>
              </a:rPr>
              <a:t>Demonstrate enthusiasm for what is about to be presented</a:t>
            </a:r>
          </a:p>
          <a:p>
            <a:pPr marL="628650" lvl="1" indent="-171450">
              <a:buFont typeface="Arial" pitchFamily="34" charset="0"/>
              <a:buChar char="•"/>
            </a:pPr>
            <a:r>
              <a:rPr lang="en-AU" sz="1200" kern="1200" dirty="0" smtClean="0">
                <a:solidFill>
                  <a:schemeClr val="tx1"/>
                </a:solidFill>
                <a:latin typeface="+mn-lt"/>
                <a:ea typeface="+mn-ea"/>
                <a:cs typeface="+mn-cs"/>
              </a:rPr>
              <a:t>Provide relevant background information to the activity</a:t>
            </a:r>
          </a:p>
          <a:p>
            <a:pPr marL="628650" lvl="1" indent="-171450">
              <a:buFont typeface="Arial" pitchFamily="34" charset="0"/>
              <a:buChar char="•"/>
            </a:pPr>
            <a:r>
              <a:rPr lang="en-AU" sz="1200" kern="1200" dirty="0" smtClean="0">
                <a:solidFill>
                  <a:schemeClr val="tx1"/>
                </a:solidFill>
                <a:latin typeface="+mn-lt"/>
                <a:ea typeface="+mn-ea"/>
                <a:cs typeface="+mn-cs"/>
              </a:rPr>
              <a:t>Give a suitable context for the activity</a:t>
            </a:r>
          </a:p>
          <a:p>
            <a:pPr marL="628650" lvl="1" indent="-171450">
              <a:buFont typeface="Arial" pitchFamily="34" charset="0"/>
              <a:buChar char="•"/>
            </a:pPr>
            <a:r>
              <a:rPr lang="en-AU" sz="1200" kern="1200" dirty="0" smtClean="0">
                <a:solidFill>
                  <a:schemeClr val="tx1"/>
                </a:solidFill>
                <a:latin typeface="+mn-lt"/>
                <a:ea typeface="+mn-ea"/>
                <a:cs typeface="+mn-cs"/>
              </a:rPr>
              <a:t>Link this activity to any previous activities which have similarity/relevance</a:t>
            </a:r>
          </a:p>
          <a:p>
            <a:pPr marL="171450" indent="-171450">
              <a:buFont typeface="Arial" pitchFamily="34" charset="0"/>
              <a:buChar char="•"/>
            </a:pPr>
            <a:r>
              <a:rPr lang="en-AU" sz="1200" kern="1200" dirty="0" smtClean="0">
                <a:solidFill>
                  <a:schemeClr val="tx1"/>
                </a:solidFill>
                <a:latin typeface="+mn-lt"/>
                <a:ea typeface="+mn-ea"/>
                <a:cs typeface="+mn-cs"/>
              </a:rPr>
              <a:t>The welcome should be relatively short – it needs to happen but:</a:t>
            </a:r>
          </a:p>
          <a:p>
            <a:pPr marL="628650" lvl="1" indent="-171450">
              <a:buFont typeface="Arial" pitchFamily="34" charset="0"/>
              <a:buChar char="•"/>
            </a:pPr>
            <a:r>
              <a:rPr lang="en-US" sz="1200" kern="1200" dirty="0" smtClean="0">
                <a:solidFill>
                  <a:schemeClr val="tx1"/>
                </a:solidFill>
                <a:latin typeface="+mn-lt"/>
                <a:ea typeface="+mn-ea"/>
                <a:cs typeface="+mn-cs"/>
              </a:rPr>
              <a:t>It must not dominate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It should not unnecessarily delay.</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Practice</a:t>
            </a:r>
          </a:p>
          <a:p>
            <a:pPr>
              <a:buFont typeface="Arial" pitchFamily="34" charset="0"/>
              <a:buNone/>
            </a:pPr>
            <a:r>
              <a:rPr lang="en-AU" b="0" noProof="0" dirty="0" smtClean="0"/>
              <a:t>Trainer demonstrates how to welcome tour group members to an interpretive activity and provides an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163764441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standard practices regarding The Welcome for an activity:</a:t>
            </a:r>
          </a:p>
          <a:p>
            <a:pPr marL="171450" indent="-171450">
              <a:buFont typeface="Arial" pitchFamily="34" charset="0"/>
              <a:buChar char="•"/>
            </a:pPr>
            <a:r>
              <a:rPr lang="en-AU" sz="1200" kern="1200" dirty="0" smtClean="0">
                <a:solidFill>
                  <a:schemeClr val="tx1"/>
                </a:solidFill>
                <a:latin typeface="+mn-lt"/>
                <a:ea typeface="+mn-ea"/>
                <a:cs typeface="+mn-cs"/>
              </a:rPr>
              <a:t>Provision of relevant materials appropriate to the site and/or activity – such as:</a:t>
            </a:r>
          </a:p>
          <a:p>
            <a:pPr marL="628650" lvl="1" indent="-171450">
              <a:buFont typeface="Arial" pitchFamily="34" charset="0"/>
              <a:buChar char="•"/>
            </a:pPr>
            <a:r>
              <a:rPr lang="en-AU" sz="1200" kern="1200" dirty="0" smtClean="0">
                <a:solidFill>
                  <a:schemeClr val="tx1"/>
                </a:solidFill>
                <a:latin typeface="+mn-lt"/>
                <a:ea typeface="+mn-ea"/>
                <a:cs typeface="+mn-cs"/>
              </a:rPr>
              <a:t>Notes and handouts; Information sheets and brochures; Maps; Samples; Snacks; Name tags</a:t>
            </a:r>
          </a:p>
          <a:p>
            <a:pPr marL="171450" indent="-171450">
              <a:buFont typeface="Arial" pitchFamily="34" charset="0"/>
              <a:buChar char="•"/>
            </a:pPr>
            <a:r>
              <a:rPr lang="en-AU" sz="1200" kern="1200" dirty="0" smtClean="0">
                <a:solidFill>
                  <a:schemeClr val="tx1"/>
                </a:solidFill>
                <a:latin typeface="+mn-lt"/>
                <a:ea typeface="+mn-ea"/>
                <a:cs typeface="+mn-cs"/>
              </a:rPr>
              <a:t>Presentation of site-specific Code of Conduct – with which all tour group members are expected to comply highlighting, describing and illustrating:</a:t>
            </a:r>
          </a:p>
          <a:p>
            <a:pPr marL="628650" lvl="1" indent="-171450">
              <a:buFont typeface="Arial" pitchFamily="34" charset="0"/>
              <a:buChar char="•"/>
            </a:pPr>
            <a:r>
              <a:rPr lang="en-AU" sz="1200" kern="1200" dirty="0" smtClean="0">
                <a:solidFill>
                  <a:schemeClr val="tx1"/>
                </a:solidFill>
                <a:latin typeface="+mn-lt"/>
                <a:ea typeface="+mn-ea"/>
                <a:cs typeface="+mn-cs"/>
              </a:rPr>
              <a:t>Acceptable and unacceptable behaviour</a:t>
            </a:r>
          </a:p>
          <a:p>
            <a:pPr marL="628650" lvl="1" indent="-171450">
              <a:buFont typeface="Arial" pitchFamily="34" charset="0"/>
              <a:buChar char="•"/>
            </a:pPr>
            <a:r>
              <a:rPr lang="en-AU" sz="1200" kern="1200" dirty="0" smtClean="0">
                <a:solidFill>
                  <a:schemeClr val="tx1"/>
                </a:solidFill>
                <a:latin typeface="+mn-lt"/>
                <a:ea typeface="+mn-ea"/>
                <a:cs typeface="+mn-cs"/>
              </a:rPr>
              <a:t>Acceptable and unacceptable language</a:t>
            </a:r>
          </a:p>
          <a:p>
            <a:pPr marL="628650" lvl="1" indent="-171450">
              <a:buFont typeface="Arial" pitchFamily="34" charset="0"/>
              <a:buChar char="•"/>
            </a:pPr>
            <a:r>
              <a:rPr lang="en-AU" sz="1200" kern="1200" dirty="0" smtClean="0">
                <a:solidFill>
                  <a:schemeClr val="tx1"/>
                </a:solidFill>
                <a:latin typeface="+mn-lt"/>
                <a:ea typeface="+mn-ea"/>
                <a:cs typeface="+mn-cs"/>
              </a:rPr>
              <a:t>Rationale for same</a:t>
            </a:r>
          </a:p>
          <a:p>
            <a:pPr marL="628650" lvl="1" indent="-171450">
              <a:buFont typeface="Arial" pitchFamily="34" charset="0"/>
              <a:buChar char="•"/>
            </a:pPr>
            <a:r>
              <a:rPr lang="en-AU" sz="1200" kern="1200" dirty="0" smtClean="0">
                <a:solidFill>
                  <a:schemeClr val="tx1"/>
                </a:solidFill>
                <a:latin typeface="+mn-lt"/>
                <a:ea typeface="+mn-ea"/>
                <a:cs typeface="+mn-cs"/>
              </a:rPr>
              <a:t>Consequences of failing to comply</a:t>
            </a:r>
          </a:p>
          <a:p>
            <a:pPr marL="171450" indent="-171450">
              <a:buFont typeface="Arial" pitchFamily="34" charset="0"/>
              <a:buChar char="•"/>
            </a:pPr>
            <a:r>
              <a:rPr lang="en-AU" sz="1200" kern="1200" dirty="0" smtClean="0">
                <a:solidFill>
                  <a:schemeClr val="tx1"/>
                </a:solidFill>
                <a:latin typeface="+mn-lt"/>
                <a:ea typeface="+mn-ea"/>
                <a:cs typeface="+mn-cs"/>
              </a:rPr>
              <a:t>Introducing other staff who will assist the Tour Guide – in terms of: </a:t>
            </a:r>
          </a:p>
          <a:p>
            <a:pPr marL="628650" lvl="1" indent="-171450">
              <a:buFont typeface="Arial" pitchFamily="34" charset="0"/>
              <a:buChar char="•"/>
            </a:pPr>
            <a:r>
              <a:rPr lang="en-AU" sz="1200" kern="1200" dirty="0" smtClean="0">
                <a:solidFill>
                  <a:schemeClr val="tx1"/>
                </a:solidFill>
                <a:latin typeface="+mn-lt"/>
                <a:ea typeface="+mn-ea"/>
                <a:cs typeface="+mn-cs"/>
              </a:rPr>
              <a:t>Providing advice to tour group members</a:t>
            </a:r>
          </a:p>
          <a:p>
            <a:pPr marL="628650" lvl="1" indent="-171450">
              <a:buFont typeface="Arial" pitchFamily="34" charset="0"/>
              <a:buChar char="•"/>
            </a:pPr>
            <a:r>
              <a:rPr lang="en-AU" sz="1200" kern="1200" dirty="0" smtClean="0">
                <a:solidFill>
                  <a:schemeClr val="tx1"/>
                </a:solidFill>
                <a:latin typeface="+mn-lt"/>
                <a:ea typeface="+mn-ea"/>
                <a:cs typeface="+mn-cs"/>
              </a:rPr>
              <a:t>Demonstrating requirements to participants</a:t>
            </a:r>
          </a:p>
          <a:p>
            <a:pPr marL="628650" lvl="1" indent="-171450">
              <a:buFont typeface="Arial" pitchFamily="34" charset="0"/>
              <a:buChar char="•"/>
            </a:pPr>
            <a:r>
              <a:rPr lang="en-AU" sz="1200" kern="1200" dirty="0" smtClean="0">
                <a:solidFill>
                  <a:schemeClr val="tx1"/>
                </a:solidFill>
                <a:latin typeface="+mn-lt"/>
                <a:ea typeface="+mn-ea"/>
                <a:cs typeface="+mn-cs"/>
              </a:rPr>
              <a:t>Supervising and controlling the overall activity or particular aspects of it</a:t>
            </a:r>
          </a:p>
          <a:p>
            <a:pPr marL="628650" lvl="1" indent="-171450">
              <a:buFont typeface="Arial" pitchFamily="34" charset="0"/>
              <a:buChar char="•"/>
            </a:pPr>
            <a:r>
              <a:rPr lang="en-AU" sz="1200" kern="1200" dirty="0" smtClean="0">
                <a:solidFill>
                  <a:schemeClr val="tx1"/>
                </a:solidFill>
                <a:latin typeface="+mn-lt"/>
                <a:ea typeface="+mn-ea"/>
                <a:cs typeface="+mn-cs"/>
              </a:rPr>
              <a:t>Specialist roles and responsibilities.</a:t>
            </a:r>
          </a:p>
          <a:p>
            <a:pPr>
              <a:buFont typeface="Arial" pitchFamily="34" charset="0"/>
              <a:buChar char="•"/>
            </a:pPr>
            <a:endParaRPr lang="en-AU" baseline="0" noProof="0" dirty="0" smtClean="0"/>
          </a:p>
          <a:p>
            <a:pPr>
              <a:buFont typeface="Arial" pitchFamily="34" charset="0"/>
              <a:buNone/>
            </a:pPr>
            <a:r>
              <a:rPr lang="en-AU" b="1" baseline="0" noProof="0" dirty="0" smtClean="0"/>
              <a:t>Classroom Activity – Handouts</a:t>
            </a:r>
          </a:p>
          <a:p>
            <a:pPr>
              <a:buFont typeface="Arial" pitchFamily="34" charset="0"/>
              <a:buNone/>
            </a:pPr>
            <a:r>
              <a:rPr lang="en-AU" b="0" baseline="0" noProof="0" dirty="0" smtClean="0"/>
              <a:t>Trainer distributes and discusses examples of materials which may be distributed to tour group members at the start of an interpretive activity.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40353094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some </a:t>
            </a:r>
            <a:r>
              <a:rPr lang="en-AU" sz="1200" kern="1200" dirty="0" smtClean="0">
                <a:solidFill>
                  <a:schemeClr val="tx1"/>
                </a:solidFill>
                <a:latin typeface="+mn-lt"/>
                <a:ea typeface="+mn-ea"/>
                <a:cs typeface="+mn-cs"/>
              </a:rPr>
              <a:t>tours and activities feature the use of recorded ‘welcomes’ and these:</a:t>
            </a:r>
          </a:p>
          <a:p>
            <a:pPr marL="171450" indent="-171450">
              <a:buFont typeface="Arial" pitchFamily="34" charset="0"/>
              <a:buChar char="•"/>
            </a:pPr>
            <a:r>
              <a:rPr lang="en-AU" sz="1200" kern="1200" dirty="0" smtClean="0">
                <a:solidFill>
                  <a:schemeClr val="tx1"/>
                </a:solidFill>
                <a:latin typeface="+mn-lt"/>
                <a:ea typeface="+mn-ea"/>
                <a:cs typeface="+mn-cs"/>
              </a:rPr>
              <a:t>Are standard video and/or audio welcomes shown at the start of nominated activities – to all tours/tour group members</a:t>
            </a:r>
          </a:p>
          <a:p>
            <a:pPr marL="171450" indent="-171450">
              <a:buFont typeface="Arial" pitchFamily="34" charset="0"/>
              <a:buChar char="•"/>
            </a:pPr>
            <a:r>
              <a:rPr lang="en-AU" sz="1200" kern="1200" dirty="0" smtClean="0">
                <a:solidFill>
                  <a:schemeClr val="tx1"/>
                </a:solidFill>
                <a:latin typeface="+mn-lt"/>
                <a:ea typeface="+mn-ea"/>
                <a:cs typeface="+mn-cs"/>
              </a:rPr>
              <a:t>May incorporate other aspects of the activity also – such as:</a:t>
            </a:r>
          </a:p>
          <a:p>
            <a:pPr marL="628650" lvl="1" indent="-171450">
              <a:buFont typeface="Arial" pitchFamily="34" charset="0"/>
              <a:buChar char="•"/>
            </a:pPr>
            <a:r>
              <a:rPr lang="en-US" sz="1200" kern="1200" dirty="0" smtClean="0">
                <a:solidFill>
                  <a:schemeClr val="tx1"/>
                </a:solidFill>
                <a:latin typeface="+mn-lt"/>
                <a:ea typeface="+mn-ea"/>
                <a:cs typeface="+mn-cs"/>
              </a:rPr>
              <a:t>Explanations of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Demonstrations of practice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Identified risk associated with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Safety issues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Will require tour group members to be assembled – so they can gain optimum information from them, either:</a:t>
            </a:r>
          </a:p>
          <a:p>
            <a:pPr marL="628650" lvl="1" indent="-171450">
              <a:buFont typeface="Arial" pitchFamily="34" charset="0"/>
              <a:buChar char="•"/>
            </a:pPr>
            <a:r>
              <a:rPr lang="en-US" sz="1200" kern="1200" dirty="0" smtClean="0">
                <a:solidFill>
                  <a:schemeClr val="tx1"/>
                </a:solidFill>
                <a:latin typeface="+mn-lt"/>
                <a:ea typeface="+mn-ea"/>
                <a:cs typeface="+mn-cs"/>
              </a:rPr>
              <a:t>On the tour vehicle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 a room</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Should be supplemented by a face-to-face ‘live’ session – which:</a:t>
            </a:r>
          </a:p>
          <a:p>
            <a:pPr marL="628650" lvl="1" indent="-171450">
              <a:buFont typeface="Arial" pitchFamily="34" charset="0"/>
              <a:buChar char="•"/>
            </a:pPr>
            <a:r>
              <a:rPr lang="en-AU" sz="1200" kern="1200" dirty="0" smtClean="0">
                <a:solidFill>
                  <a:schemeClr val="tx1"/>
                </a:solidFill>
                <a:latin typeface="+mn-lt"/>
                <a:ea typeface="+mn-ea"/>
                <a:cs typeface="+mn-cs"/>
              </a:rPr>
              <a:t>Allows additional information to be provided</a:t>
            </a:r>
          </a:p>
          <a:p>
            <a:pPr marL="628650" lvl="1" indent="-171450">
              <a:buFont typeface="Arial" pitchFamily="34" charset="0"/>
              <a:buChar char="•"/>
            </a:pPr>
            <a:r>
              <a:rPr lang="en-AU" sz="1200" kern="1200" dirty="0" smtClean="0">
                <a:solidFill>
                  <a:schemeClr val="tx1"/>
                </a:solidFill>
                <a:latin typeface="+mn-lt"/>
                <a:ea typeface="+mn-ea"/>
                <a:cs typeface="+mn-cs"/>
              </a:rPr>
              <a:t>Enables questions to be answered.</a:t>
            </a:r>
          </a:p>
          <a:p>
            <a:pPr>
              <a:buFont typeface="Arial" pitchFamily="34" charset="0"/>
              <a:buNone/>
            </a:pPr>
            <a:endParaRPr lang="en-AU" noProof="0" dirty="0" smtClean="0"/>
          </a:p>
          <a:p>
            <a:pPr>
              <a:buFont typeface="Arial" pitchFamily="34" charset="0"/>
              <a:buNone/>
            </a:pPr>
            <a:r>
              <a:rPr lang="en-AU" b="1" noProof="0" dirty="0" smtClean="0"/>
              <a:t>Classroom Activity – Demonstration</a:t>
            </a:r>
          </a:p>
          <a:p>
            <a:pPr>
              <a:buFont typeface="Arial" pitchFamily="34" charset="0"/>
              <a:buNone/>
            </a:pPr>
            <a:r>
              <a:rPr lang="en-AU" b="0" noProof="0" dirty="0" smtClean="0"/>
              <a:t>Trainer obtains sample recorded welcome for an interpretive activity from a local Tour Operator/venue and:</a:t>
            </a:r>
          </a:p>
          <a:p>
            <a:pPr marL="171450" indent="-171450">
              <a:buFont typeface="Arial" pitchFamily="34" charset="0"/>
              <a:buChar char="•"/>
            </a:pPr>
            <a:r>
              <a:rPr lang="en-AU" b="0" noProof="0" dirty="0" smtClean="0"/>
              <a:t>Plays it to the students</a:t>
            </a:r>
          </a:p>
          <a:p>
            <a:pPr marL="171450" indent="-171450">
              <a:buFont typeface="Arial" pitchFamily="34" charset="0"/>
              <a:buChar char="•"/>
            </a:pPr>
            <a:r>
              <a:rPr lang="en-AU" b="0" noProof="0" dirty="0" smtClean="0"/>
              <a:t>Describes its context and application</a:t>
            </a:r>
          </a:p>
          <a:p>
            <a:pPr marL="171450" indent="-171450">
              <a:buFont typeface="Arial" pitchFamily="34" charset="0"/>
              <a:buChar char="•"/>
            </a:pPr>
            <a:r>
              <a:rPr lang="en-AU" b="0" noProof="0" dirty="0" smtClean="0"/>
              <a:t>Facilitates discussion on its use/suitability.</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416162677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advises practicalities </a:t>
            </a:r>
            <a:r>
              <a:rPr lang="en-AU" sz="1200" kern="1200" dirty="0" smtClean="0">
                <a:solidFill>
                  <a:schemeClr val="tx1"/>
                </a:solidFill>
                <a:latin typeface="+mn-lt"/>
                <a:ea typeface="+mn-ea"/>
                <a:cs typeface="+mn-cs"/>
              </a:rPr>
              <a:t>in relation to explaining an interpretive activity are:</a:t>
            </a:r>
          </a:p>
          <a:p>
            <a:pPr marL="171450" indent="-171450">
              <a:buFont typeface="Arial" pitchFamily="34" charset="0"/>
              <a:buChar char="•"/>
            </a:pPr>
            <a:r>
              <a:rPr lang="en-AU" sz="1200" kern="1200" dirty="0" smtClean="0">
                <a:solidFill>
                  <a:schemeClr val="tx1"/>
                </a:solidFill>
                <a:latin typeface="+mn-lt"/>
                <a:ea typeface="+mn-ea"/>
                <a:cs typeface="+mn-cs"/>
              </a:rPr>
              <a:t>In many cases the presentation of this section is undertaken at the same time as ‘demonstrations’ for the activity – as described in later slides</a:t>
            </a:r>
          </a:p>
          <a:p>
            <a:pPr marL="171450" indent="-171450">
              <a:buFont typeface="Arial" pitchFamily="34" charset="0"/>
              <a:buChar char="•"/>
            </a:pPr>
            <a:r>
              <a:rPr lang="en-AU" sz="1200" kern="1200" dirty="0" smtClean="0">
                <a:solidFill>
                  <a:schemeClr val="tx1"/>
                </a:solidFill>
                <a:latin typeface="+mn-lt"/>
                <a:ea typeface="+mn-ea"/>
                <a:cs typeface="+mn-cs"/>
              </a:rPr>
              <a:t>In some cases the ‘Welcome’ (refer previous slides) also includes an explanation of the activity – as well as demonstration of necessary pre-requisites</a:t>
            </a:r>
          </a:p>
          <a:p>
            <a:pPr marL="171450" indent="-171450">
              <a:buFont typeface="Arial" pitchFamily="34" charset="0"/>
              <a:buChar char="•"/>
            </a:pPr>
            <a:r>
              <a:rPr lang="en-AU" sz="1200" kern="1200" dirty="0" smtClean="0">
                <a:solidFill>
                  <a:schemeClr val="tx1"/>
                </a:solidFill>
                <a:latin typeface="+mn-lt"/>
                <a:ea typeface="+mn-ea"/>
                <a:cs typeface="+mn-cs"/>
              </a:rPr>
              <a:t>Care must be taken to ensure correct positioning of tour group members and presentation staff – so:</a:t>
            </a:r>
          </a:p>
          <a:p>
            <a:pPr marL="628650" lvl="1" indent="-171450">
              <a:buFont typeface="Arial" pitchFamily="34" charset="0"/>
              <a:buChar char="•"/>
            </a:pPr>
            <a:r>
              <a:rPr lang="en-US" sz="1200" kern="1200" dirty="0" smtClean="0">
                <a:solidFill>
                  <a:schemeClr val="tx1"/>
                </a:solidFill>
                <a:latin typeface="+mn-lt"/>
                <a:ea typeface="+mn-ea"/>
                <a:cs typeface="+mn-cs"/>
              </a:rPr>
              <a:t>Everyone can hear what is said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All can see what is done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Amplification of explanations may be acceptable (or necessary) – where this:</a:t>
            </a:r>
          </a:p>
          <a:p>
            <a:pPr marL="628650" lvl="1" indent="-171450">
              <a:buFont typeface="Arial" pitchFamily="34" charset="0"/>
              <a:buChar char="•"/>
            </a:pPr>
            <a:r>
              <a:rPr lang="en-US" sz="1200" kern="1200" dirty="0" smtClean="0">
                <a:solidFill>
                  <a:schemeClr val="tx1"/>
                </a:solidFill>
                <a:latin typeface="+mn-lt"/>
                <a:ea typeface="+mn-ea"/>
                <a:cs typeface="+mn-cs"/>
              </a:rPr>
              <a:t>Does not negatively impact local amenity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Does not intrude on the enjoyment of others.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331060408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advise practicalities </a:t>
            </a:r>
            <a:r>
              <a:rPr lang="en-AU" sz="1200" kern="1200" dirty="0" smtClean="0">
                <a:solidFill>
                  <a:schemeClr val="tx1"/>
                </a:solidFill>
                <a:latin typeface="+mn-lt"/>
                <a:ea typeface="+mn-ea"/>
                <a:cs typeface="+mn-cs"/>
              </a:rPr>
              <a:t>in relation to explaining an interpretive activity:</a:t>
            </a:r>
          </a:p>
          <a:p>
            <a:pPr marL="171450" indent="-171450">
              <a:buFont typeface="Arial" pitchFamily="34" charset="0"/>
              <a:buChar char="•"/>
            </a:pPr>
            <a:r>
              <a:rPr lang="en-AU" sz="1200" kern="1200" dirty="0" smtClean="0">
                <a:solidFill>
                  <a:schemeClr val="tx1"/>
                </a:solidFill>
                <a:latin typeface="+mn-lt"/>
                <a:ea typeface="+mn-ea"/>
                <a:cs typeface="+mn-cs"/>
              </a:rPr>
              <a:t>Presentation must reflect the plans for the activity – in terms of: </a:t>
            </a:r>
          </a:p>
          <a:p>
            <a:pPr marL="628650" lvl="1" indent="-171450">
              <a:buFont typeface="Arial" pitchFamily="34" charset="0"/>
              <a:buChar char="•"/>
            </a:pPr>
            <a:r>
              <a:rPr lang="en-AU" sz="1200" kern="1200" dirty="0" smtClean="0">
                <a:solidFill>
                  <a:schemeClr val="tx1"/>
                </a:solidFill>
                <a:latin typeface="+mn-lt"/>
                <a:ea typeface="+mn-ea"/>
                <a:cs typeface="+mn-cs"/>
              </a:rPr>
              <a:t>What is said </a:t>
            </a:r>
          </a:p>
          <a:p>
            <a:pPr marL="628650" lvl="1" indent="-171450">
              <a:buFont typeface="Arial" pitchFamily="34" charset="0"/>
              <a:buChar char="•"/>
            </a:pPr>
            <a:r>
              <a:rPr lang="en-AU" sz="1200" kern="1200" dirty="0" smtClean="0">
                <a:solidFill>
                  <a:schemeClr val="tx1"/>
                </a:solidFill>
                <a:latin typeface="+mn-lt"/>
                <a:ea typeface="+mn-ea"/>
                <a:cs typeface="+mn-cs"/>
              </a:rPr>
              <a:t>Sequence of information</a:t>
            </a:r>
          </a:p>
          <a:p>
            <a:pPr marL="628650" lvl="1" indent="-171450">
              <a:buFont typeface="Arial" pitchFamily="34" charset="0"/>
              <a:buChar char="•"/>
            </a:pPr>
            <a:r>
              <a:rPr lang="en-AU" sz="1200" kern="1200" dirty="0" smtClean="0">
                <a:solidFill>
                  <a:schemeClr val="tx1"/>
                </a:solidFill>
                <a:latin typeface="+mn-lt"/>
                <a:ea typeface="+mn-ea"/>
                <a:cs typeface="+mn-cs"/>
              </a:rPr>
              <a:t>Individual roles and responsibilities of staff conducting the explanation</a:t>
            </a:r>
          </a:p>
          <a:p>
            <a:pPr marL="628650" lvl="1" indent="-171450">
              <a:buFont typeface="Arial" pitchFamily="34" charset="0"/>
              <a:buChar char="•"/>
            </a:pPr>
            <a:r>
              <a:rPr lang="en-AU" sz="1200" kern="1200" dirty="0" smtClean="0">
                <a:solidFill>
                  <a:schemeClr val="tx1"/>
                </a:solidFill>
                <a:latin typeface="+mn-lt"/>
                <a:ea typeface="+mn-ea"/>
                <a:cs typeface="+mn-cs"/>
              </a:rPr>
              <a:t>Training undertaken for this part of the activity</a:t>
            </a:r>
          </a:p>
          <a:p>
            <a:pPr marL="171450" indent="-171450">
              <a:buFont typeface="Arial" pitchFamily="34" charset="0"/>
              <a:buChar char="•"/>
            </a:pPr>
            <a:r>
              <a:rPr lang="en-AU" sz="1200" kern="1200" dirty="0" smtClean="0">
                <a:solidFill>
                  <a:schemeClr val="tx1"/>
                </a:solidFill>
                <a:latin typeface="+mn-lt"/>
                <a:ea typeface="+mn-ea"/>
                <a:cs typeface="+mn-cs"/>
              </a:rPr>
              <a:t>The explanation must be in accordance with previous information provided about the activity – as presented, for example: </a:t>
            </a:r>
          </a:p>
          <a:p>
            <a:pPr marL="628650" lvl="1" indent="-171450">
              <a:buFont typeface="Arial" pitchFamily="34" charset="0"/>
              <a:buChar char="•"/>
            </a:pPr>
            <a:r>
              <a:rPr lang="en-AU" sz="1200" kern="1200" dirty="0" smtClean="0">
                <a:solidFill>
                  <a:schemeClr val="tx1"/>
                </a:solidFill>
                <a:latin typeface="+mn-lt"/>
                <a:ea typeface="+mn-ea"/>
                <a:cs typeface="+mn-cs"/>
              </a:rPr>
              <a:t>In advertisements and promotions for the tour/activity</a:t>
            </a:r>
          </a:p>
          <a:p>
            <a:pPr marL="628650" lvl="1" indent="-171450">
              <a:buFont typeface="Arial" pitchFamily="34" charset="0"/>
              <a:buChar char="•"/>
            </a:pPr>
            <a:r>
              <a:rPr lang="en-AU" sz="1200" kern="1200" dirty="0" smtClean="0">
                <a:solidFill>
                  <a:schemeClr val="tx1"/>
                </a:solidFill>
                <a:latin typeface="+mn-lt"/>
                <a:ea typeface="+mn-ea"/>
                <a:cs typeface="+mn-cs"/>
              </a:rPr>
              <a:t>In contracts for the tour</a:t>
            </a:r>
          </a:p>
          <a:p>
            <a:pPr marL="628650" lvl="1" indent="-171450">
              <a:buFont typeface="Arial" pitchFamily="34" charset="0"/>
              <a:buChar char="•"/>
            </a:pPr>
            <a:r>
              <a:rPr lang="en-AU" sz="1200" kern="1200" dirty="0" smtClean="0">
                <a:solidFill>
                  <a:schemeClr val="tx1"/>
                </a:solidFill>
                <a:latin typeface="+mn-lt"/>
                <a:ea typeface="+mn-ea"/>
                <a:cs typeface="+mn-cs"/>
              </a:rPr>
              <a:t>On itineraries</a:t>
            </a:r>
          </a:p>
          <a:p>
            <a:pPr marL="628650" lvl="1" indent="-171450">
              <a:buFont typeface="Arial" pitchFamily="34" charset="0"/>
              <a:buChar char="•"/>
            </a:pPr>
            <a:r>
              <a:rPr lang="en-AU" sz="1200" kern="1200" dirty="0" smtClean="0">
                <a:solidFill>
                  <a:schemeClr val="tx1"/>
                </a:solidFill>
                <a:latin typeface="+mn-lt"/>
                <a:ea typeface="+mn-ea"/>
                <a:cs typeface="+mn-cs"/>
              </a:rPr>
              <a:t>At previous briefings/advisory sessions</a:t>
            </a:r>
          </a:p>
          <a:p>
            <a:pPr marL="628650" lvl="1" indent="-171450">
              <a:buFont typeface="Arial" pitchFamily="34" charset="0"/>
              <a:buChar char="•"/>
            </a:pPr>
            <a:r>
              <a:rPr lang="en-AU" sz="1200" kern="1200" dirty="0" smtClean="0">
                <a:solidFill>
                  <a:schemeClr val="tx1"/>
                </a:solidFill>
                <a:latin typeface="+mn-lt"/>
                <a:ea typeface="+mn-ea"/>
                <a:cs typeface="+mn-cs"/>
              </a:rPr>
              <a:t>During earlier discussions</a:t>
            </a:r>
          </a:p>
          <a:p>
            <a:pPr marL="171450" indent="-171450">
              <a:buFont typeface="Arial" pitchFamily="34" charset="0"/>
              <a:buChar char="•"/>
            </a:pPr>
            <a:r>
              <a:rPr lang="en-AU" sz="1200" kern="1200" dirty="0" smtClean="0">
                <a:solidFill>
                  <a:schemeClr val="tx1"/>
                </a:solidFill>
                <a:latin typeface="+mn-lt"/>
                <a:ea typeface="+mn-ea"/>
                <a:cs typeface="+mn-cs"/>
              </a:rPr>
              <a:t>Linkages should be made to previous activities – with reference to:</a:t>
            </a:r>
          </a:p>
          <a:p>
            <a:pPr marL="628650" lvl="1" indent="-171450">
              <a:buFont typeface="Arial" pitchFamily="34" charset="0"/>
              <a:buChar char="•"/>
            </a:pPr>
            <a:r>
              <a:rPr lang="en-US" sz="1200" kern="1200" dirty="0" smtClean="0">
                <a:solidFill>
                  <a:schemeClr val="tx1"/>
                </a:solidFill>
                <a:latin typeface="+mn-lt"/>
                <a:ea typeface="+mn-ea"/>
                <a:cs typeface="+mn-cs"/>
              </a:rPr>
              <a:t>Experiences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Lessons learned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New thoughts/perspectives gained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Explanations must always include training for the activity – with reference to:</a:t>
            </a:r>
          </a:p>
          <a:p>
            <a:pPr marL="628650" lvl="1" indent="-171450">
              <a:buFont typeface="Arial" pitchFamily="34" charset="0"/>
              <a:buChar char="•"/>
            </a:pPr>
            <a:r>
              <a:rPr lang="en-AU" sz="1200" kern="1200" dirty="0" smtClean="0">
                <a:solidFill>
                  <a:schemeClr val="tx1"/>
                </a:solidFill>
                <a:latin typeface="+mn-lt"/>
                <a:ea typeface="+mn-ea"/>
                <a:cs typeface="+mn-cs"/>
              </a:rPr>
              <a:t>Demonstrations – see following slides</a:t>
            </a:r>
          </a:p>
          <a:p>
            <a:pPr marL="628650" lvl="1" indent="-171450">
              <a:buFont typeface="Arial" pitchFamily="34" charset="0"/>
              <a:buChar char="•"/>
            </a:pPr>
            <a:r>
              <a:rPr lang="en-AU" sz="1200" kern="1200" dirty="0" smtClean="0">
                <a:solidFill>
                  <a:schemeClr val="tx1"/>
                </a:solidFill>
                <a:latin typeface="+mn-lt"/>
                <a:ea typeface="+mn-ea"/>
                <a:cs typeface="+mn-cs"/>
              </a:rPr>
              <a:t>Practice</a:t>
            </a:r>
          </a:p>
          <a:p>
            <a:pPr marL="628650" lvl="1" indent="-171450">
              <a:buFont typeface="Arial" pitchFamily="34" charset="0"/>
              <a:buChar char="•"/>
            </a:pPr>
            <a:r>
              <a:rPr lang="en-AU" sz="1200" kern="1200" dirty="0" smtClean="0">
                <a:solidFill>
                  <a:schemeClr val="tx1"/>
                </a:solidFill>
                <a:latin typeface="+mn-lt"/>
                <a:ea typeface="+mn-ea"/>
                <a:cs typeface="+mn-cs"/>
              </a:rPr>
              <a:t>Tips and advice for optimising mastery/competency</a:t>
            </a:r>
          </a:p>
          <a:p>
            <a:pPr marL="628650" lvl="1" indent="-171450">
              <a:buFont typeface="Arial" pitchFamily="34" charset="0"/>
              <a:buChar char="•"/>
            </a:pPr>
            <a:r>
              <a:rPr lang="en-AU" sz="1200" kern="1200" dirty="0" smtClean="0">
                <a:solidFill>
                  <a:schemeClr val="tx1"/>
                </a:solidFill>
                <a:latin typeface="+mn-lt"/>
                <a:ea typeface="+mn-ea"/>
                <a:cs typeface="+mn-cs"/>
              </a:rPr>
              <a:t>Rules of the game </a:t>
            </a:r>
          </a:p>
          <a:p>
            <a:pPr marL="628650" lvl="1" indent="-171450">
              <a:buFont typeface="Arial" pitchFamily="34" charset="0"/>
              <a:buChar char="•"/>
            </a:pPr>
            <a:r>
              <a:rPr lang="en-AU" sz="1200" kern="1200" dirty="0" smtClean="0">
                <a:solidFill>
                  <a:schemeClr val="tx1"/>
                </a:solidFill>
                <a:latin typeface="+mn-lt"/>
                <a:ea typeface="+mn-ea"/>
                <a:cs typeface="+mn-cs"/>
              </a:rPr>
              <a:t>Objectives of the activity.</a:t>
            </a:r>
          </a:p>
          <a:p>
            <a:pPr>
              <a:buFont typeface="Arial" pitchFamily="34" charset="0"/>
              <a:buChar cha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118384212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advise practicalities </a:t>
            </a:r>
            <a:r>
              <a:rPr lang="en-AU" sz="1200" kern="1200" dirty="0" smtClean="0">
                <a:solidFill>
                  <a:schemeClr val="tx1"/>
                </a:solidFill>
                <a:latin typeface="+mn-lt"/>
                <a:ea typeface="+mn-ea"/>
                <a:cs typeface="+mn-cs"/>
              </a:rPr>
              <a:t>in relation to explaining an interpretive activity:</a:t>
            </a:r>
          </a:p>
          <a:p>
            <a:pPr marL="171450" indent="-171450">
              <a:buFont typeface="Arial" pitchFamily="34" charset="0"/>
              <a:buChar char="•"/>
            </a:pPr>
            <a:r>
              <a:rPr lang="en-AU" sz="1200" kern="1200" dirty="0" smtClean="0">
                <a:solidFill>
                  <a:schemeClr val="tx1"/>
                </a:solidFill>
                <a:latin typeface="+mn-lt"/>
                <a:ea typeface="+mn-ea"/>
                <a:cs typeface="+mn-cs"/>
              </a:rPr>
              <a:t>Need to pay attention to the time spent on explanations – which means:</a:t>
            </a:r>
          </a:p>
          <a:p>
            <a:pPr marL="628650" lvl="1" indent="-171450">
              <a:buFont typeface="Arial" pitchFamily="34" charset="0"/>
              <a:buChar char="•"/>
            </a:pPr>
            <a:r>
              <a:rPr lang="en-US" sz="1200" kern="1200" dirty="0" smtClean="0">
                <a:solidFill>
                  <a:schemeClr val="tx1"/>
                </a:solidFill>
                <a:latin typeface="+mn-lt"/>
                <a:ea typeface="+mn-ea"/>
                <a:cs typeface="+mn-cs"/>
              </a:rPr>
              <a:t>There needs to be ‘sufficient’ explanation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explanation must never dominate or steal time from the actual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Explanations must never be padded out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There can be a need for repetition of explanations – with attention paid to perhaps:</a:t>
            </a:r>
          </a:p>
          <a:p>
            <a:pPr marL="628650" lvl="1" indent="-171450">
              <a:buFont typeface="Arial" pitchFamily="34" charset="0"/>
              <a:buChar char="•"/>
            </a:pPr>
            <a:r>
              <a:rPr lang="en-AU" sz="1200" kern="1200" dirty="0" smtClean="0">
                <a:solidFill>
                  <a:schemeClr val="tx1"/>
                </a:solidFill>
                <a:latin typeface="+mn-lt"/>
                <a:ea typeface="+mn-ea"/>
                <a:cs typeface="+mn-cs"/>
              </a:rPr>
              <a:t>Repeating what has been said</a:t>
            </a:r>
          </a:p>
          <a:p>
            <a:pPr marL="628650" lvl="1" indent="-171450">
              <a:buFont typeface="Arial" pitchFamily="34" charset="0"/>
              <a:buChar char="•"/>
            </a:pPr>
            <a:r>
              <a:rPr lang="en-AU" sz="1200" kern="1200" dirty="0" smtClean="0">
                <a:solidFill>
                  <a:schemeClr val="tx1"/>
                </a:solidFill>
                <a:latin typeface="+mn-lt"/>
                <a:ea typeface="+mn-ea"/>
                <a:cs typeface="+mn-cs"/>
              </a:rPr>
              <a:t>Paraphrasing – saying the same thing but using different words</a:t>
            </a:r>
          </a:p>
          <a:p>
            <a:pPr marL="171450" indent="-171450">
              <a:buFont typeface="Arial" pitchFamily="34" charset="0"/>
              <a:buChar char="•"/>
            </a:pPr>
            <a:r>
              <a:rPr lang="en-AU" sz="1200" kern="1200" dirty="0" smtClean="0">
                <a:solidFill>
                  <a:schemeClr val="tx1"/>
                </a:solidFill>
                <a:latin typeface="+mn-lt"/>
                <a:ea typeface="+mn-ea"/>
                <a:cs typeface="+mn-cs"/>
              </a:rPr>
              <a:t>Checking for understanding – through a combination of activities as described in section 2.5.</a:t>
            </a:r>
          </a:p>
          <a:p>
            <a:endParaRPr lang="en-AU" sz="1200" kern="1200" dirty="0" smtClean="0">
              <a:solidFill>
                <a:schemeClr val="tx1"/>
              </a:solidFill>
              <a:latin typeface="+mn-lt"/>
              <a:ea typeface="+mn-ea"/>
              <a:cs typeface="+mn-cs"/>
            </a:endParaRPr>
          </a:p>
          <a:p>
            <a:pPr>
              <a:buFont typeface="Arial" pitchFamily="34" charset="0"/>
              <a:buNone/>
            </a:pPr>
            <a:r>
              <a:rPr lang="en-US" sz="1200" b="1" kern="1200" dirty="0" smtClean="0">
                <a:solidFill>
                  <a:schemeClr val="tx1"/>
                </a:solidFill>
                <a:latin typeface="+mn-lt"/>
                <a:ea typeface="+mn-ea"/>
                <a:cs typeface="+mn-cs"/>
              </a:rPr>
              <a:t>Classroom Activity – Demonstration</a:t>
            </a:r>
          </a:p>
          <a:p>
            <a:pPr>
              <a:buFont typeface="Arial" pitchFamily="34" charset="0"/>
              <a:buNone/>
            </a:pPr>
            <a:r>
              <a:rPr lang="en-US" sz="1200" b="0" kern="1200" dirty="0" smtClean="0">
                <a:solidFill>
                  <a:schemeClr val="tx1"/>
                </a:solidFill>
                <a:latin typeface="+mn-lt"/>
                <a:ea typeface="+mn-ea"/>
                <a:cs typeface="+mn-cs"/>
              </a:rPr>
              <a:t>Trainer demonstrates how to explain an interpretive activity to tour group members.</a:t>
            </a:r>
            <a:endParaRPr lang="en-AU" sz="1200" b="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31624522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advise practicalities </a:t>
            </a:r>
            <a:r>
              <a:rPr lang="en-AU" sz="1200" kern="1200" dirty="0" smtClean="0">
                <a:solidFill>
                  <a:schemeClr val="tx1"/>
                </a:solidFill>
                <a:latin typeface="+mn-lt"/>
                <a:ea typeface="+mn-ea"/>
                <a:cs typeface="+mn-cs"/>
              </a:rPr>
              <a:t>in relation to explaining an interpretive activity:</a:t>
            </a:r>
          </a:p>
          <a:p>
            <a:pPr marL="171450" indent="-171450">
              <a:buFont typeface="Arial" pitchFamily="34" charset="0"/>
              <a:buChar char="•"/>
            </a:pPr>
            <a:r>
              <a:rPr lang="en-AU" sz="1200" kern="1200" dirty="0" smtClean="0">
                <a:solidFill>
                  <a:schemeClr val="tx1"/>
                </a:solidFill>
                <a:latin typeface="+mn-lt"/>
                <a:ea typeface="+mn-ea"/>
                <a:cs typeface="+mn-cs"/>
              </a:rPr>
              <a:t>Willingness to use other tour group members to help with explanations – where:</a:t>
            </a:r>
          </a:p>
          <a:p>
            <a:pPr marL="628650" lvl="1" indent="-171450">
              <a:buFont typeface="Arial" pitchFamily="34" charset="0"/>
              <a:buChar char="•"/>
            </a:pPr>
            <a:r>
              <a:rPr lang="en-US" sz="1200" kern="1200" dirty="0" smtClean="0">
                <a:solidFill>
                  <a:schemeClr val="tx1"/>
                </a:solidFill>
                <a:latin typeface="+mn-lt"/>
                <a:ea typeface="+mn-ea"/>
                <a:cs typeface="+mn-cs"/>
              </a:rPr>
              <a:t>This is appropriate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More experienced persons appear ready to assist less experienced ones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Highlighting risks associated with the activity – in terms of:</a:t>
            </a:r>
          </a:p>
          <a:p>
            <a:pPr marL="628650" lvl="1" indent="-171450">
              <a:buFont typeface="Arial" pitchFamily="34" charset="0"/>
              <a:buChar char="•"/>
            </a:pPr>
            <a:r>
              <a:rPr lang="en-US" sz="1200" kern="1200" dirty="0" smtClean="0">
                <a:solidFill>
                  <a:schemeClr val="tx1"/>
                </a:solidFill>
                <a:latin typeface="+mn-lt"/>
                <a:ea typeface="+mn-ea"/>
                <a:cs typeface="+mn-cs"/>
              </a:rPr>
              <a:t>Type and timing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Location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Management and control</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Potential impact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Action to take in the event of certain eventualities – such as:</a:t>
            </a:r>
          </a:p>
          <a:p>
            <a:pPr marL="628650" lvl="1" indent="-171450">
              <a:buFont typeface="Arial" pitchFamily="34" charset="0"/>
              <a:buChar char="•"/>
            </a:pPr>
            <a:r>
              <a:rPr lang="en-US" sz="1200" kern="1200" dirty="0" smtClean="0">
                <a:solidFill>
                  <a:schemeClr val="tx1"/>
                </a:solidFill>
                <a:latin typeface="+mn-lt"/>
                <a:ea typeface="+mn-ea"/>
                <a:cs typeface="+mn-cs"/>
              </a:rPr>
              <a:t>Difficulty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Danger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Incident and accident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Changed circumstances/weather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Becoming lost/separated from group.</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Classroom</a:t>
            </a:r>
            <a:r>
              <a:rPr lang="en-AU" sz="1200" b="1" kern="1200" baseline="0" noProof="0" dirty="0" smtClean="0">
                <a:solidFill>
                  <a:schemeClr val="tx1"/>
                </a:solidFill>
                <a:latin typeface="+mn-lt"/>
                <a:ea typeface="+mn-ea"/>
                <a:cs typeface="+mn-cs"/>
              </a:rPr>
              <a:t> Activity – Role Plays</a:t>
            </a:r>
          </a:p>
          <a:p>
            <a:pPr>
              <a:buFont typeface="Arial" pitchFamily="34" charset="0"/>
              <a:buNone/>
            </a:pPr>
            <a:r>
              <a:rPr lang="en-AU" sz="1200" b="0" kern="1200" baseline="0" noProof="0" dirty="0" smtClean="0">
                <a:solidFill>
                  <a:schemeClr val="tx1"/>
                </a:solidFill>
                <a:latin typeface="+mn-lt"/>
                <a:ea typeface="+mn-ea"/>
                <a:cs typeface="+mn-cs"/>
              </a:rPr>
              <a:t>Trainer arranges for students to demonstrate role of Tour Guide in explaining interpretive activities to tour group members.</a:t>
            </a:r>
            <a:endParaRPr lang="en-AU" b="0" noProof="0" dirty="0" smtClean="0"/>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530767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noProof="0" dirty="0" smtClean="0"/>
              <a:t>Trainer</a:t>
            </a:r>
            <a:r>
              <a:rPr lang="en-AU" baseline="0" noProof="0" dirty="0" smtClean="0"/>
              <a:t> observes demonstrating </a:t>
            </a:r>
            <a:r>
              <a:rPr lang="en-AU" sz="1200" kern="1200" dirty="0" smtClean="0">
                <a:solidFill>
                  <a:schemeClr val="tx1"/>
                </a:solidFill>
                <a:latin typeface="+mn-lt"/>
                <a:ea typeface="+mn-ea"/>
                <a:cs typeface="+mn-cs"/>
              </a:rPr>
              <a:t>necessary pre-requisites will/may involve:</a:t>
            </a:r>
          </a:p>
          <a:p>
            <a:pPr marL="171450" indent="-171450">
              <a:buFont typeface="Arial" pitchFamily="34" charset="0"/>
              <a:buChar char="•"/>
            </a:pPr>
            <a:r>
              <a:rPr lang="en-AU" sz="1200" kern="1200" dirty="0" smtClean="0">
                <a:solidFill>
                  <a:schemeClr val="tx1"/>
                </a:solidFill>
                <a:latin typeface="+mn-lt"/>
                <a:ea typeface="+mn-ea"/>
                <a:cs typeface="+mn-cs"/>
              </a:rPr>
              <a:t>Implementing approved plans for demonstration of the interpretive activity – according to:</a:t>
            </a:r>
          </a:p>
          <a:p>
            <a:pPr marL="628650" lvl="1" indent="-171450">
              <a:buFont typeface="Arial" pitchFamily="34" charset="0"/>
              <a:buChar char="•"/>
            </a:pPr>
            <a:r>
              <a:rPr lang="en-US" sz="1200" kern="1200" dirty="0" smtClean="0">
                <a:solidFill>
                  <a:schemeClr val="tx1"/>
                </a:solidFill>
                <a:latin typeface="+mn-lt"/>
                <a:ea typeface="+mn-ea"/>
                <a:cs typeface="+mn-cs"/>
              </a:rPr>
              <a:t>The individual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Site factors/constraints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Training, role plays and drills in this regard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Distributing equipment – such as:</a:t>
            </a:r>
          </a:p>
          <a:p>
            <a:pPr marL="628650" lvl="1" indent="-171450">
              <a:buFont typeface="Arial" pitchFamily="34" charset="0"/>
              <a:buChar char="•"/>
            </a:pPr>
            <a:r>
              <a:rPr lang="en-AU" sz="1200" kern="1200" dirty="0" smtClean="0">
                <a:solidFill>
                  <a:schemeClr val="tx1"/>
                </a:solidFill>
                <a:latin typeface="+mn-lt"/>
                <a:ea typeface="+mn-ea"/>
                <a:cs typeface="+mn-cs"/>
              </a:rPr>
              <a:t>Handing out items</a:t>
            </a:r>
          </a:p>
          <a:p>
            <a:pPr marL="628650" lvl="1" indent="-171450">
              <a:buFont typeface="Arial" pitchFamily="34" charset="0"/>
              <a:buChar char="•"/>
            </a:pPr>
            <a:r>
              <a:rPr lang="en-AU" sz="1200" kern="1200" dirty="0" smtClean="0">
                <a:solidFill>
                  <a:schemeClr val="tx1"/>
                </a:solidFill>
                <a:latin typeface="+mn-lt"/>
                <a:ea typeface="+mn-ea"/>
                <a:cs typeface="+mn-cs"/>
              </a:rPr>
              <a:t>Naming the items</a:t>
            </a:r>
          </a:p>
          <a:p>
            <a:pPr marL="628650" lvl="1" indent="-171450">
              <a:buFont typeface="Arial" pitchFamily="34" charset="0"/>
              <a:buChar char="•"/>
            </a:pPr>
            <a:r>
              <a:rPr lang="en-AU" sz="1200" kern="1200" dirty="0" smtClean="0">
                <a:solidFill>
                  <a:schemeClr val="tx1"/>
                </a:solidFill>
                <a:latin typeface="+mn-lt"/>
                <a:ea typeface="+mn-ea"/>
                <a:cs typeface="+mn-cs"/>
              </a:rPr>
              <a:t>Describing their use</a:t>
            </a:r>
          </a:p>
          <a:p>
            <a:pPr marL="171450" indent="-171450">
              <a:buFont typeface="Arial" pitchFamily="34" charset="0"/>
              <a:buChar char="•"/>
            </a:pPr>
            <a:r>
              <a:rPr lang="en-AU" sz="1200" kern="1200" dirty="0" smtClean="0">
                <a:solidFill>
                  <a:schemeClr val="tx1"/>
                </a:solidFill>
                <a:latin typeface="+mn-lt"/>
                <a:ea typeface="+mn-ea"/>
                <a:cs typeface="+mn-cs"/>
              </a:rPr>
              <a:t>Integrating explanations with demonstrations – so:</a:t>
            </a:r>
          </a:p>
          <a:p>
            <a:pPr marL="628650" lvl="1" indent="-171450">
              <a:buFont typeface="Arial" pitchFamily="34" charset="0"/>
              <a:buChar char="•"/>
            </a:pPr>
            <a:r>
              <a:rPr lang="en-US" sz="1200" kern="1200" dirty="0" smtClean="0">
                <a:solidFill>
                  <a:schemeClr val="tx1"/>
                </a:solidFill>
                <a:latin typeface="+mn-lt"/>
                <a:ea typeface="+mn-ea"/>
                <a:cs typeface="+mn-cs"/>
              </a:rPr>
              <a:t>Understanding is optimised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There is a seamless delivery of information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Safety is a constant thread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Using the tour team to conduct a simulated/model activity – to:</a:t>
            </a:r>
          </a:p>
          <a:p>
            <a:pPr marL="628650" lvl="1" indent="-171450">
              <a:buFont typeface="Arial" pitchFamily="34" charset="0"/>
              <a:buChar char="•"/>
            </a:pPr>
            <a:r>
              <a:rPr lang="en-AU" sz="1200" kern="1200" dirty="0" smtClean="0">
                <a:solidFill>
                  <a:schemeClr val="tx1"/>
                </a:solidFill>
                <a:latin typeface="+mn-lt"/>
                <a:ea typeface="+mn-ea"/>
                <a:cs typeface="+mn-cs"/>
              </a:rPr>
              <a:t>Show how to undertake the activity</a:t>
            </a:r>
          </a:p>
          <a:p>
            <a:pPr marL="628650" lvl="1" indent="-171450">
              <a:buFont typeface="Arial" pitchFamily="34" charset="0"/>
              <a:buChar char="•"/>
            </a:pPr>
            <a:r>
              <a:rPr lang="en-AU" sz="1200" kern="1200" dirty="0" smtClean="0">
                <a:solidFill>
                  <a:schemeClr val="tx1"/>
                </a:solidFill>
                <a:latin typeface="+mn-lt"/>
                <a:ea typeface="+mn-ea"/>
                <a:cs typeface="+mn-cs"/>
              </a:rPr>
              <a:t>Demonstrate tips and techniques</a:t>
            </a:r>
          </a:p>
          <a:p>
            <a:pPr marL="628650" lvl="1" indent="-171450">
              <a:buFont typeface="Arial" pitchFamily="34" charset="0"/>
              <a:buChar char="•"/>
            </a:pPr>
            <a:r>
              <a:rPr lang="en-AU" sz="1200" kern="1200" dirty="0" smtClean="0">
                <a:solidFill>
                  <a:schemeClr val="tx1"/>
                </a:solidFill>
                <a:latin typeface="+mn-lt"/>
                <a:ea typeface="+mn-ea"/>
                <a:cs typeface="+mn-cs"/>
              </a:rPr>
              <a:t>Highlight certain aspects of the activity (as appropriate to the individual nature of the activity) such as:</a:t>
            </a:r>
          </a:p>
          <a:p>
            <a:pPr marL="1085850" lvl="2" indent="-171450">
              <a:buFont typeface="Arial" pitchFamily="34" charset="0"/>
              <a:buChar char="•"/>
            </a:pPr>
            <a:r>
              <a:rPr lang="en-US" sz="1200" kern="1200" dirty="0" smtClean="0">
                <a:solidFill>
                  <a:schemeClr val="tx1"/>
                </a:solidFill>
                <a:latin typeface="+mn-lt"/>
                <a:ea typeface="+mn-ea"/>
                <a:cs typeface="+mn-cs"/>
              </a:rPr>
              <a:t>Teamwork </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Speed </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Skill levels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Observation of the environment/happenings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Interpretation of data, evidence or material</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Application of the rules </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Alignment with outcomes.</a:t>
            </a:r>
            <a:endParaRPr lang="en-AU" sz="1200" kern="1200" dirty="0" smtClean="0">
              <a:solidFill>
                <a:schemeClr val="tx1"/>
              </a:solidFill>
              <a:latin typeface="+mn-lt"/>
              <a:ea typeface="+mn-ea"/>
              <a:cs typeface="+mn-cs"/>
            </a:endParaRPr>
          </a:p>
          <a:p>
            <a:pPr lvl="1">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427819214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AU" noProof="0" dirty="0" smtClean="0"/>
              <a:t>Trainer</a:t>
            </a:r>
            <a:r>
              <a:rPr lang="en-AU" baseline="0" noProof="0" dirty="0" smtClean="0"/>
              <a:t> continues presenting information on demonstrating </a:t>
            </a:r>
            <a:r>
              <a:rPr lang="en-AU" sz="1200" kern="1200" dirty="0" smtClean="0">
                <a:solidFill>
                  <a:schemeClr val="tx1"/>
                </a:solidFill>
                <a:latin typeface="+mn-lt"/>
                <a:ea typeface="+mn-ea"/>
                <a:cs typeface="+mn-cs"/>
              </a:rPr>
              <a:t>necessary pre-requisites for an interpretive activity:</a:t>
            </a:r>
            <a:endParaRPr lang="en-AU" baseline="0" noProof="0" dirty="0" smtClean="0"/>
          </a:p>
          <a:p>
            <a:pPr marL="171450" indent="-171450">
              <a:buFont typeface="Arial" pitchFamily="34" charset="0"/>
              <a:buChar char="•"/>
            </a:pPr>
            <a:r>
              <a:rPr lang="en-AU" sz="1200" kern="1200" dirty="0" smtClean="0">
                <a:solidFill>
                  <a:schemeClr val="tx1"/>
                </a:solidFill>
                <a:latin typeface="+mn-lt"/>
                <a:ea typeface="+mn-ea"/>
                <a:cs typeface="+mn-cs"/>
              </a:rPr>
              <a:t>Focussing on the standard presentation technique for demonstrations – which includes:</a:t>
            </a:r>
          </a:p>
          <a:p>
            <a:pPr marL="628650" lvl="1" indent="-171450">
              <a:buFont typeface="Arial" pitchFamily="34" charset="0"/>
              <a:buChar char="•"/>
            </a:pPr>
            <a:r>
              <a:rPr lang="en-AU" sz="1200" kern="1200" dirty="0" smtClean="0">
                <a:solidFill>
                  <a:schemeClr val="tx1"/>
                </a:solidFill>
                <a:latin typeface="+mn-lt"/>
                <a:ea typeface="+mn-ea"/>
                <a:cs typeface="+mn-cs"/>
              </a:rPr>
              <a:t>Demonstrating at normal speed what needs to be done with no explanation whatsoever</a:t>
            </a:r>
          </a:p>
          <a:p>
            <a:pPr marL="628650" lvl="1" indent="-171450">
              <a:buFont typeface="Arial" pitchFamily="34" charset="0"/>
              <a:buChar char="•"/>
            </a:pPr>
            <a:r>
              <a:rPr lang="en-AU" sz="1200" kern="1200" dirty="0" smtClean="0">
                <a:solidFill>
                  <a:schemeClr val="tx1"/>
                </a:solidFill>
                <a:latin typeface="+mn-lt"/>
                <a:ea typeface="+mn-ea"/>
                <a:cs typeface="+mn-cs"/>
              </a:rPr>
              <a:t>Then demonstrating slowly/step-by-step with explanations at each stage – perhaps asking participants what the next step is and/or why the next stage needs to occur</a:t>
            </a:r>
          </a:p>
          <a:p>
            <a:pPr marL="628650" lvl="1" indent="-171450">
              <a:buFont typeface="Arial" pitchFamily="34" charset="0"/>
              <a:buChar char="•"/>
            </a:pPr>
            <a:r>
              <a:rPr lang="en-AU" sz="1200" kern="1200" dirty="0" smtClean="0">
                <a:solidFill>
                  <a:schemeClr val="tx1"/>
                </a:solidFill>
                <a:latin typeface="+mn-lt"/>
                <a:ea typeface="+mn-ea"/>
                <a:cs typeface="+mn-cs"/>
              </a:rPr>
              <a:t>Asking people to join in – and practice/demonstrate the activity along with/at the same time as the Tour Guide</a:t>
            </a:r>
          </a:p>
          <a:p>
            <a:pPr marL="628650" lvl="1" indent="-171450">
              <a:buFont typeface="Arial" pitchFamily="34" charset="0"/>
              <a:buChar char="•"/>
            </a:pPr>
            <a:r>
              <a:rPr lang="en-AU" sz="1200" kern="1200" dirty="0" smtClean="0">
                <a:solidFill>
                  <a:schemeClr val="tx1"/>
                </a:solidFill>
                <a:latin typeface="+mn-lt"/>
                <a:ea typeface="+mn-ea"/>
                <a:cs typeface="+mn-cs"/>
              </a:rPr>
              <a:t>Providing time for practice – with supervision and assistance in order to generate some level of competency</a:t>
            </a:r>
          </a:p>
          <a:p>
            <a:pPr marL="628650" lvl="1" indent="-171450">
              <a:buFont typeface="Arial" pitchFamily="34" charset="0"/>
              <a:buChar char="•"/>
            </a:pPr>
            <a:r>
              <a:rPr lang="en-AU" sz="1200" kern="1200" dirty="0" smtClean="0">
                <a:solidFill>
                  <a:schemeClr val="tx1"/>
                </a:solidFill>
                <a:latin typeface="+mn-lt"/>
                <a:ea typeface="+mn-ea"/>
                <a:cs typeface="+mn-cs"/>
              </a:rPr>
              <a:t>Building on known previous knowledge</a:t>
            </a:r>
          </a:p>
          <a:p>
            <a:pPr marL="171450" indent="-171450">
              <a:buFont typeface="Arial" pitchFamily="34" charset="0"/>
              <a:buChar char="•"/>
            </a:pPr>
            <a:r>
              <a:rPr lang="en-AU" sz="1200" kern="1200" dirty="0" smtClean="0">
                <a:solidFill>
                  <a:schemeClr val="tx1"/>
                </a:solidFill>
                <a:latin typeface="+mn-lt"/>
                <a:ea typeface="+mn-ea"/>
                <a:cs typeface="+mn-cs"/>
              </a:rPr>
              <a:t>Walking the activity ground (for certain activities only) – which means:</a:t>
            </a:r>
          </a:p>
          <a:p>
            <a:pPr marL="628650" lvl="1" indent="-171450">
              <a:buFont typeface="Arial" pitchFamily="34" charset="0"/>
              <a:buChar char="•"/>
            </a:pPr>
            <a:r>
              <a:rPr lang="en-US" sz="1200" kern="1200" dirty="0" smtClean="0">
                <a:solidFill>
                  <a:schemeClr val="tx1"/>
                </a:solidFill>
                <a:latin typeface="+mn-lt"/>
                <a:ea typeface="+mn-ea"/>
                <a:cs typeface="+mn-cs"/>
              </a:rPr>
              <a:t>Physically walking around the activity ground/site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Pointing to dangers/risks – and highlighting the actions/controls which are inherent to prevent accident or injury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Providing specific techniques which may be useful at different points of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Highlighting location of safety equipment, rescue gear and/or emergency equipment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Indicating where Safety Officers will be positioned – and how people can/should gain their attention/contact them</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Distributing activity-related items if required – together with:</a:t>
            </a:r>
          </a:p>
          <a:p>
            <a:pPr marL="628650" lvl="1" indent="-171450">
              <a:buFont typeface="Arial" pitchFamily="34" charset="0"/>
              <a:buChar char="•"/>
            </a:pPr>
            <a:r>
              <a:rPr lang="en-AU" sz="1200" kern="1200" dirty="0" smtClean="0">
                <a:solidFill>
                  <a:schemeClr val="tx1"/>
                </a:solidFill>
                <a:latin typeface="+mn-lt"/>
                <a:ea typeface="+mn-ea"/>
                <a:cs typeface="+mn-cs"/>
              </a:rPr>
              <a:t>Providing Instructions and/or directions</a:t>
            </a:r>
          </a:p>
          <a:p>
            <a:pPr marL="628650" lvl="1" indent="-171450">
              <a:buFont typeface="Arial" pitchFamily="34" charset="0"/>
              <a:buChar char="•"/>
            </a:pPr>
            <a:r>
              <a:rPr lang="en-AU" sz="1200" kern="1200" dirty="0" smtClean="0">
                <a:solidFill>
                  <a:schemeClr val="tx1"/>
                </a:solidFill>
                <a:latin typeface="+mn-lt"/>
                <a:ea typeface="+mn-ea"/>
                <a:cs typeface="+mn-cs"/>
              </a:rPr>
              <a:t>Explaining rules for games or activities</a:t>
            </a:r>
          </a:p>
          <a:p>
            <a:pPr marL="628650" lvl="1" indent="-171450">
              <a:buFont typeface="Arial" pitchFamily="34" charset="0"/>
              <a:buChar char="•"/>
            </a:pPr>
            <a:r>
              <a:rPr lang="en-AU" sz="1200" kern="1200" dirty="0" smtClean="0">
                <a:solidFill>
                  <a:schemeClr val="tx1"/>
                </a:solidFill>
                <a:latin typeface="+mn-lt"/>
                <a:ea typeface="+mn-ea"/>
                <a:cs typeface="+mn-cs"/>
              </a:rPr>
              <a:t>Linking use of items to objectives/intended outcomes.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62532903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information on demonstrating </a:t>
            </a:r>
            <a:r>
              <a:rPr lang="en-AU" sz="1200" kern="1200" dirty="0" smtClean="0">
                <a:solidFill>
                  <a:schemeClr val="tx1"/>
                </a:solidFill>
                <a:latin typeface="+mn-lt"/>
                <a:ea typeface="+mn-ea"/>
                <a:cs typeface="+mn-cs"/>
              </a:rPr>
              <a:t>necessary pre-requisites for an interpretive activity:</a:t>
            </a:r>
            <a:endParaRPr lang="en-AU" baseline="0" noProof="0" dirty="0" smtClean="0"/>
          </a:p>
          <a:p>
            <a:pPr marL="171450" indent="-171450">
              <a:buFont typeface="Arial" pitchFamily="34" charset="0"/>
              <a:buChar char="•"/>
            </a:pPr>
            <a:r>
              <a:rPr lang="en-AU" sz="1200" kern="1200" dirty="0" smtClean="0">
                <a:solidFill>
                  <a:schemeClr val="tx1"/>
                </a:solidFill>
                <a:latin typeface="+mn-lt"/>
                <a:ea typeface="+mn-ea"/>
                <a:cs typeface="+mn-cs"/>
              </a:rPr>
              <a:t>Distributing safety equipment, if required – including:</a:t>
            </a:r>
          </a:p>
          <a:p>
            <a:pPr marL="628650" lvl="1" indent="-171450">
              <a:buFont typeface="Arial" pitchFamily="34" charset="0"/>
              <a:buChar char="•"/>
            </a:pPr>
            <a:r>
              <a:rPr lang="en-US" sz="1200" kern="1200" dirty="0" smtClean="0">
                <a:solidFill>
                  <a:schemeClr val="tx1"/>
                </a:solidFill>
                <a:latin typeface="+mn-lt"/>
                <a:ea typeface="+mn-ea"/>
                <a:cs typeface="+mn-cs"/>
              </a:rPr>
              <a:t>Naming items – and important parts of same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Explaining and demonstrating use of same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Indicating why and when items are required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Highlighting location of items during the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Showing how to use equipment – which should cover:</a:t>
            </a:r>
          </a:p>
          <a:p>
            <a:pPr marL="628650" lvl="1" indent="-171450">
              <a:buFont typeface="Arial" pitchFamily="34" charset="0"/>
              <a:buChar char="•"/>
            </a:pPr>
            <a:r>
              <a:rPr lang="en-AU" sz="1200" kern="1200" dirty="0" smtClean="0">
                <a:solidFill>
                  <a:schemeClr val="tx1"/>
                </a:solidFill>
                <a:latin typeface="+mn-lt"/>
                <a:ea typeface="+mn-ea"/>
                <a:cs typeface="+mn-cs"/>
              </a:rPr>
              <a:t>Demonstrating how to use games equipment</a:t>
            </a:r>
          </a:p>
          <a:p>
            <a:pPr marL="628650" lvl="1" indent="-171450">
              <a:buFont typeface="Arial" pitchFamily="34" charset="0"/>
              <a:buChar char="•"/>
            </a:pPr>
            <a:r>
              <a:rPr lang="en-AU" sz="1200" kern="1200" dirty="0" smtClean="0">
                <a:solidFill>
                  <a:schemeClr val="tx1"/>
                </a:solidFill>
                <a:latin typeface="+mn-lt"/>
                <a:ea typeface="+mn-ea"/>
                <a:cs typeface="+mn-cs"/>
              </a:rPr>
              <a:t>Illustrating use of activity-specific items</a:t>
            </a:r>
          </a:p>
          <a:p>
            <a:pPr marL="628650" lvl="1" indent="-171450">
              <a:buFont typeface="Arial" pitchFamily="34" charset="0"/>
              <a:buChar char="•"/>
            </a:pPr>
            <a:r>
              <a:rPr lang="en-AU" sz="1200" kern="1200" dirty="0" smtClean="0">
                <a:solidFill>
                  <a:schemeClr val="tx1"/>
                </a:solidFill>
                <a:latin typeface="+mn-lt"/>
                <a:ea typeface="+mn-ea"/>
                <a:cs typeface="+mn-cs"/>
              </a:rPr>
              <a:t>Linking safety to use of equipment and items</a:t>
            </a:r>
          </a:p>
          <a:p>
            <a:pPr marL="171450" indent="-171450">
              <a:buFont typeface="Arial" pitchFamily="34" charset="0"/>
              <a:buChar char="•"/>
            </a:pPr>
            <a:r>
              <a:rPr lang="en-AU" sz="1200" kern="1200" dirty="0" smtClean="0">
                <a:solidFill>
                  <a:schemeClr val="tx1"/>
                </a:solidFill>
                <a:latin typeface="+mn-lt"/>
                <a:ea typeface="+mn-ea"/>
                <a:cs typeface="+mn-cs"/>
              </a:rPr>
              <a:t>Showing use of PPE – in terms of:</a:t>
            </a:r>
          </a:p>
          <a:p>
            <a:pPr marL="628650" lvl="1" indent="-171450">
              <a:buFont typeface="Arial" pitchFamily="34" charset="0"/>
              <a:buChar char="•"/>
            </a:pPr>
            <a:r>
              <a:rPr lang="en-AU" sz="1200" kern="1200" dirty="0" smtClean="0">
                <a:solidFill>
                  <a:schemeClr val="tx1"/>
                </a:solidFill>
                <a:latin typeface="+mn-lt"/>
                <a:ea typeface="+mn-ea"/>
                <a:cs typeface="+mn-cs"/>
              </a:rPr>
              <a:t>Demonstrating how to wear necessary safety clothing</a:t>
            </a:r>
          </a:p>
          <a:p>
            <a:pPr marL="628650" lvl="1" indent="-171450">
              <a:buFont typeface="Arial" pitchFamily="34" charset="0"/>
              <a:buChar char="•"/>
            </a:pPr>
            <a:r>
              <a:rPr lang="en-AU" sz="1200" kern="1200" dirty="0" smtClean="0">
                <a:solidFill>
                  <a:schemeClr val="tx1"/>
                </a:solidFill>
                <a:latin typeface="+mn-lt"/>
                <a:ea typeface="+mn-ea"/>
                <a:cs typeface="+mn-cs"/>
              </a:rPr>
              <a:t>Helping tour group participants put on/correctly wear protective clothing</a:t>
            </a:r>
          </a:p>
          <a:p>
            <a:pPr marL="628650" lvl="1" indent="-171450">
              <a:buFont typeface="Arial" pitchFamily="34" charset="0"/>
              <a:buChar char="•"/>
            </a:pPr>
            <a:r>
              <a:rPr lang="en-AU" sz="1200" kern="1200" dirty="0" smtClean="0">
                <a:solidFill>
                  <a:schemeClr val="tx1"/>
                </a:solidFill>
                <a:latin typeface="+mn-lt"/>
                <a:ea typeface="+mn-ea"/>
                <a:cs typeface="+mn-cs"/>
              </a:rPr>
              <a:t>Demonstrating how to use personal safety items</a:t>
            </a:r>
          </a:p>
          <a:p>
            <a:pPr marL="628650" lvl="1" indent="-171450">
              <a:buFont typeface="Arial" pitchFamily="34" charset="0"/>
              <a:buChar char="•"/>
            </a:pPr>
            <a:r>
              <a:rPr lang="en-AU" sz="1200" kern="1200" dirty="0" smtClean="0">
                <a:solidFill>
                  <a:schemeClr val="tx1"/>
                </a:solidFill>
                <a:latin typeface="+mn-lt"/>
                <a:ea typeface="+mn-ea"/>
                <a:cs typeface="+mn-cs"/>
              </a:rPr>
              <a:t>Helping individuals achieve basic competence in use of personal safety items.</a:t>
            </a:r>
          </a:p>
          <a:p>
            <a:pPr>
              <a:buFont typeface="Arial" pitchFamily="34" charset="0"/>
              <a:buNone/>
            </a:pPr>
            <a:endParaRPr lang="en-AU" noProof="0" dirty="0" smtClean="0"/>
          </a:p>
          <a:p>
            <a:pPr>
              <a:buFont typeface="Arial" pitchFamily="34" charset="0"/>
              <a:buNone/>
            </a:pPr>
            <a:r>
              <a:rPr lang="en-US" sz="1200" b="1" kern="1200" dirty="0" smtClean="0">
                <a:solidFill>
                  <a:schemeClr val="tx1"/>
                </a:solidFill>
                <a:latin typeface="+mn-lt"/>
                <a:ea typeface="+mn-ea"/>
                <a:cs typeface="+mn-cs"/>
              </a:rPr>
              <a:t>Classroom Activity – Demonstration</a:t>
            </a:r>
          </a:p>
          <a:p>
            <a:pPr>
              <a:buFont typeface="Arial" pitchFamily="34" charset="0"/>
              <a:buNone/>
            </a:pPr>
            <a:r>
              <a:rPr lang="en-US" sz="1200" b="0" kern="1200" dirty="0" smtClean="0">
                <a:solidFill>
                  <a:schemeClr val="tx1"/>
                </a:solidFill>
                <a:latin typeface="+mn-lt"/>
                <a:ea typeface="+mn-ea"/>
                <a:cs typeface="+mn-cs"/>
              </a:rPr>
              <a:t>Trainer demonstrates how to demonstrate necessary pre-requisites for an interpretive activity to tour group members.</a:t>
            </a:r>
            <a:endParaRPr lang="en-AU"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168696043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information on demonstrating </a:t>
            </a:r>
            <a:r>
              <a:rPr lang="en-AU" sz="1200" kern="1200" dirty="0" smtClean="0">
                <a:solidFill>
                  <a:schemeClr val="tx1"/>
                </a:solidFill>
                <a:latin typeface="+mn-lt"/>
                <a:ea typeface="+mn-ea"/>
                <a:cs typeface="+mn-cs"/>
              </a:rPr>
              <a:t>necessary pre-requisites for an interpretive activity:</a:t>
            </a:r>
            <a:endParaRPr lang="en-AU" baseline="0" noProof="0" dirty="0" smtClean="0"/>
          </a:p>
          <a:p>
            <a:pPr marL="171450" indent="-171450">
              <a:buFont typeface="Arial" pitchFamily="34" charset="0"/>
              <a:buChar char="•"/>
            </a:pPr>
            <a:r>
              <a:rPr lang="en-AU" sz="1200" kern="1200" dirty="0" smtClean="0">
                <a:solidFill>
                  <a:schemeClr val="tx1"/>
                </a:solidFill>
                <a:latin typeface="+mn-lt"/>
                <a:ea typeface="+mn-ea"/>
                <a:cs typeface="+mn-cs"/>
              </a:rPr>
              <a:t>Showing how to use emergency equipment – with attention paid to:</a:t>
            </a:r>
          </a:p>
          <a:p>
            <a:pPr marL="628650" lvl="1" indent="-171450">
              <a:buFont typeface="Arial" pitchFamily="34" charset="0"/>
              <a:buChar char="•"/>
            </a:pPr>
            <a:r>
              <a:rPr lang="en-US" sz="1200" kern="1200" dirty="0" smtClean="0">
                <a:solidFill>
                  <a:schemeClr val="tx1"/>
                </a:solidFill>
                <a:latin typeface="+mn-lt"/>
                <a:ea typeface="+mn-ea"/>
                <a:cs typeface="+mn-cs"/>
              </a:rPr>
              <a:t>Indication of triggers for implementing use of same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Explanation/illustration of role of customers and role/s of tour staff in the event of an emergency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Identification of available items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Specification of location of emergency equipment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Employing the services of ‘sufficient’ personnel – to:</a:t>
            </a:r>
          </a:p>
          <a:p>
            <a:pPr marL="628650" lvl="1" indent="-171450">
              <a:buFont typeface="Arial" pitchFamily="34" charset="0"/>
              <a:buChar char="•"/>
            </a:pPr>
            <a:r>
              <a:rPr lang="en-US" sz="1200" kern="1200" dirty="0" smtClean="0">
                <a:solidFill>
                  <a:schemeClr val="tx1"/>
                </a:solidFill>
                <a:latin typeface="+mn-lt"/>
                <a:ea typeface="+mn-ea"/>
                <a:cs typeface="+mn-cs"/>
              </a:rPr>
              <a:t>Speed up the process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Facilitate the process of demonstration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Give enough options for all customers to look at and learn from</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Allocating sufficient time for the demonstration/s – such that:</a:t>
            </a:r>
          </a:p>
          <a:p>
            <a:pPr marL="628650" lvl="1" indent="-171450">
              <a:buFont typeface="Arial" pitchFamily="34" charset="0"/>
              <a:buChar char="•"/>
            </a:pPr>
            <a:r>
              <a:rPr lang="en-US" sz="1200" kern="1200" dirty="0" smtClean="0">
                <a:solidFill>
                  <a:schemeClr val="tx1"/>
                </a:solidFill>
                <a:latin typeface="+mn-lt"/>
                <a:ea typeface="+mn-ea"/>
                <a:cs typeface="+mn-cs"/>
              </a:rPr>
              <a:t>Safety is optimised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activity is never unnecessarily delayed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Understanding of requirements is confirmed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Proportionality is maintained – that is: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It is more important safety is covered where identified risks exist than is the case where no genuine risks have been identified </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Serious things deserve serious treatment.</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sz="1200" b="1" kern="1200" noProof="0" dirty="0" smtClean="0">
                <a:solidFill>
                  <a:schemeClr val="tx1"/>
                </a:solidFill>
                <a:latin typeface="+mn-lt"/>
                <a:ea typeface="+mn-ea"/>
                <a:cs typeface="+mn-cs"/>
              </a:rPr>
              <a:t>Classroom</a:t>
            </a:r>
            <a:r>
              <a:rPr lang="en-AU" sz="1200" b="1" kern="1200" baseline="0" noProof="0" dirty="0" smtClean="0">
                <a:solidFill>
                  <a:schemeClr val="tx1"/>
                </a:solidFill>
                <a:latin typeface="+mn-lt"/>
                <a:ea typeface="+mn-ea"/>
                <a:cs typeface="+mn-cs"/>
              </a:rPr>
              <a:t> Activity – Role Plays</a:t>
            </a:r>
          </a:p>
          <a:p>
            <a:pPr>
              <a:buFont typeface="Arial" pitchFamily="34" charset="0"/>
              <a:buNone/>
            </a:pPr>
            <a:r>
              <a:rPr lang="en-AU" sz="1200" b="0" kern="1200" baseline="0" noProof="0" dirty="0" smtClean="0">
                <a:solidFill>
                  <a:schemeClr val="tx1"/>
                </a:solidFill>
                <a:latin typeface="+mn-lt"/>
                <a:ea typeface="+mn-ea"/>
                <a:cs typeface="+mn-cs"/>
              </a:rPr>
              <a:t>Trainer arranges for students to demonstrate role of Tour Guide in demonstrating necessary pre-requisites for interpretive activities to tour group members.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64806539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a:t>
            </a:r>
            <a:r>
              <a:rPr lang="en-AU" sz="1200" kern="1200" dirty="0" smtClean="0">
                <a:solidFill>
                  <a:schemeClr val="tx1"/>
                </a:solidFill>
                <a:latin typeface="+mn-lt"/>
                <a:ea typeface="+mn-ea"/>
                <a:cs typeface="+mn-cs"/>
              </a:rPr>
              <a:t>there are several important reasons to ensure tour group members understand explanations and demonstrations relating to an up-coming interpretive activity:</a:t>
            </a:r>
          </a:p>
          <a:p>
            <a:pPr marL="171450" indent="-171450">
              <a:buFont typeface="Arial" pitchFamily="34" charset="0"/>
              <a:buChar char="•"/>
            </a:pPr>
            <a:r>
              <a:rPr lang="en-AU" sz="1200" kern="1200" dirty="0" smtClean="0">
                <a:solidFill>
                  <a:schemeClr val="tx1"/>
                </a:solidFill>
                <a:latin typeface="+mn-lt"/>
                <a:ea typeface="+mn-ea"/>
                <a:cs typeface="+mn-cs"/>
              </a:rPr>
              <a:t>It helps demonstrate discharge of the common law Duty of Care – and thus helps protect staff and the business against legal action </a:t>
            </a:r>
          </a:p>
          <a:p>
            <a:pPr marL="171450" indent="-171450">
              <a:buFont typeface="Arial" pitchFamily="34" charset="0"/>
              <a:buChar char="•"/>
            </a:pPr>
            <a:r>
              <a:rPr lang="en-AU" sz="1200" kern="1200" dirty="0" smtClean="0">
                <a:solidFill>
                  <a:schemeClr val="tx1"/>
                </a:solidFill>
                <a:latin typeface="+mn-lt"/>
                <a:ea typeface="+mn-ea"/>
                <a:cs typeface="+mn-cs"/>
              </a:rPr>
              <a:t>It helps optimise safety for everyone – which must always be the primary consideration </a:t>
            </a:r>
            <a:r>
              <a:rPr lang="en-AU" sz="1200" i="1" kern="1200" dirty="0" smtClean="0">
                <a:solidFill>
                  <a:schemeClr val="tx1"/>
                </a:solidFill>
                <a:latin typeface="+mn-lt"/>
                <a:ea typeface="+mn-ea"/>
                <a:cs typeface="+mn-cs"/>
              </a:rPr>
              <a:t>regardless of all other factors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It generates increased involvement/engagement with the activity – and so optimises the twin potentials for increased levels of customer satisfaction and sense of achievement.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415241816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explaining reasons to </a:t>
            </a:r>
            <a:r>
              <a:rPr lang="en-AU" sz="1200" kern="1200" dirty="0" smtClean="0">
                <a:solidFill>
                  <a:schemeClr val="tx1"/>
                </a:solidFill>
                <a:latin typeface="+mn-lt"/>
                <a:ea typeface="+mn-ea"/>
                <a:cs typeface="+mn-cs"/>
              </a:rPr>
              <a:t>ensure tour group members understand explanations and demonstrations relating to an up-coming interpretive activity:</a:t>
            </a:r>
          </a:p>
          <a:p>
            <a:pPr marL="171450" indent="-171450">
              <a:buFont typeface="Arial" pitchFamily="34" charset="0"/>
              <a:buChar char="•"/>
            </a:pPr>
            <a:r>
              <a:rPr lang="en-AU" sz="1200" kern="1200" dirty="0" smtClean="0">
                <a:solidFill>
                  <a:schemeClr val="tx1"/>
                </a:solidFill>
                <a:latin typeface="+mn-lt"/>
                <a:ea typeface="+mn-ea"/>
                <a:cs typeface="+mn-cs"/>
              </a:rPr>
              <a:t>It allows an opportunity for people to ask questions – and further clarify issues or ambiguities</a:t>
            </a:r>
          </a:p>
          <a:p>
            <a:pPr marL="171450" indent="-171450">
              <a:buFont typeface="Arial" pitchFamily="34" charset="0"/>
              <a:buChar char="•"/>
            </a:pPr>
            <a:r>
              <a:rPr lang="en-AU" sz="1200" kern="1200" dirty="0" smtClean="0">
                <a:solidFill>
                  <a:schemeClr val="tx1"/>
                </a:solidFill>
                <a:latin typeface="+mn-lt"/>
                <a:ea typeface="+mn-ea"/>
                <a:cs typeface="+mn-cs"/>
              </a:rPr>
              <a:t>It provides (another) chance for users to gain familiarity with what is required – and increase their personal level of mastery/competence</a:t>
            </a:r>
          </a:p>
          <a:p>
            <a:pPr marL="171450" indent="-171450">
              <a:buFont typeface="Arial" pitchFamily="34" charset="0"/>
              <a:buChar char="•"/>
            </a:pPr>
            <a:r>
              <a:rPr lang="en-AU" sz="1200" kern="1200" dirty="0" smtClean="0">
                <a:solidFill>
                  <a:schemeClr val="tx1"/>
                </a:solidFill>
                <a:latin typeface="+mn-lt"/>
                <a:ea typeface="+mn-ea"/>
                <a:cs typeface="+mn-cs"/>
              </a:rPr>
              <a:t>It increases the likelihood participants/tour group members will learn from the experience – or achieve one or more of the identified objectives for the activity</a:t>
            </a:r>
          </a:p>
          <a:p>
            <a:pPr marL="171450" indent="-171450">
              <a:buFont typeface="Arial" pitchFamily="34" charset="0"/>
              <a:buChar char="•"/>
            </a:pPr>
            <a:r>
              <a:rPr lang="en-AU" sz="1200" kern="1200" dirty="0" smtClean="0">
                <a:solidFill>
                  <a:schemeClr val="tx1"/>
                </a:solidFill>
                <a:latin typeface="+mn-lt"/>
                <a:ea typeface="+mn-ea"/>
                <a:cs typeface="+mn-cs"/>
              </a:rPr>
              <a:t>It underlines the potential for accident and injury – and thereby focusses the mind and attention on the activity.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234832314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presents keys </a:t>
            </a:r>
            <a:r>
              <a:rPr lang="en-AU" sz="1200" kern="1200" dirty="0" smtClean="0">
                <a:solidFill>
                  <a:schemeClr val="tx1"/>
                </a:solidFill>
                <a:latin typeface="+mn-lt"/>
                <a:ea typeface="+mn-ea"/>
                <a:cs typeface="+mn-cs"/>
              </a:rPr>
              <a:t>to remember when confirming understanding are:</a:t>
            </a:r>
          </a:p>
          <a:p>
            <a:pPr marL="171450" indent="-171450">
              <a:buFont typeface="Arial" pitchFamily="34" charset="0"/>
              <a:buChar char="•"/>
            </a:pPr>
            <a:r>
              <a:rPr lang="en-AU" sz="1200" kern="1200" dirty="0" smtClean="0">
                <a:solidFill>
                  <a:schemeClr val="tx1"/>
                </a:solidFill>
                <a:latin typeface="+mn-lt"/>
                <a:ea typeface="+mn-ea"/>
                <a:cs typeface="+mn-cs"/>
              </a:rPr>
              <a:t>it is </a:t>
            </a:r>
            <a:r>
              <a:rPr lang="en-AU" sz="1200" b="1" kern="1200" dirty="0" smtClean="0">
                <a:solidFill>
                  <a:schemeClr val="tx1"/>
                </a:solidFill>
                <a:latin typeface="+mn-lt"/>
                <a:ea typeface="+mn-ea"/>
                <a:cs typeface="+mn-cs"/>
              </a:rPr>
              <a:t>never</a:t>
            </a:r>
            <a:r>
              <a:rPr lang="en-AU" sz="1200" kern="1200" dirty="0" smtClean="0">
                <a:solidFill>
                  <a:schemeClr val="tx1"/>
                </a:solidFill>
                <a:latin typeface="+mn-lt"/>
                <a:ea typeface="+mn-ea"/>
                <a:cs typeface="+mn-cs"/>
              </a:rPr>
              <a:t> sufficient to present information and/or demonstrations – and simply assume (or </a:t>
            </a:r>
            <a:r>
              <a:rPr lang="en-AU" sz="1200" i="1" kern="1200" dirty="0" smtClean="0">
                <a:solidFill>
                  <a:schemeClr val="tx1"/>
                </a:solidFill>
                <a:latin typeface="+mn-lt"/>
                <a:ea typeface="+mn-ea"/>
                <a:cs typeface="+mn-cs"/>
              </a:rPr>
              <a:t>hope</a:t>
            </a:r>
            <a:r>
              <a:rPr lang="en-AU" sz="1200" kern="1200" dirty="0" smtClean="0">
                <a:solidFill>
                  <a:schemeClr val="tx1"/>
                </a:solidFill>
                <a:latin typeface="+mn-lt"/>
                <a:ea typeface="+mn-ea"/>
                <a:cs typeface="+mn-cs"/>
              </a:rPr>
              <a:t>) tour group participants will automatically understand what is required</a:t>
            </a:r>
          </a:p>
          <a:p>
            <a:pPr marL="171450" indent="-171450">
              <a:buFont typeface="Arial" pitchFamily="34" charset="0"/>
              <a:buChar char="•"/>
            </a:pPr>
            <a:r>
              <a:rPr lang="en-AU" sz="1200" kern="1200" dirty="0" smtClean="0">
                <a:solidFill>
                  <a:schemeClr val="tx1"/>
                </a:solidFill>
                <a:latin typeface="+mn-lt"/>
                <a:ea typeface="+mn-ea"/>
                <a:cs typeface="+mn-cs"/>
              </a:rPr>
              <a:t>Use additional staff to assist in the process where there are significant numbers in the tour group – as this will speed up this part of the activity</a:t>
            </a:r>
          </a:p>
          <a:p>
            <a:pPr marL="171450" indent="-171450">
              <a:buFont typeface="Arial" pitchFamily="34" charset="0"/>
              <a:buChar char="•"/>
            </a:pPr>
            <a:r>
              <a:rPr lang="en-AU" sz="1200" kern="1200" dirty="0" smtClean="0">
                <a:solidFill>
                  <a:schemeClr val="tx1"/>
                </a:solidFill>
                <a:latin typeface="+mn-lt"/>
                <a:ea typeface="+mn-ea"/>
                <a:cs typeface="+mn-cs"/>
              </a:rPr>
              <a:t>The confirmations/checks prescribed in the plans for the activity must be the primary strategies used – supplemented by other options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dirty="0" smtClean="0">
                <a:latin typeface="Helvetica" pitchFamily="34" charset="0"/>
              </a:rPr>
              <a:t>There can sometimes be a need to obtain signatures on ‘Voluntary Assumption of Risk’ documents – to acknowledge the risks/danger and try to absolve Tour Operator from legal action in the event of accident or injury.</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Classroom Activity – Handouts </a:t>
            </a:r>
          </a:p>
          <a:p>
            <a:pPr>
              <a:buFont typeface="Arial" pitchFamily="34" charset="0"/>
              <a:buNone/>
            </a:pPr>
            <a:r>
              <a:rPr lang="en-AU" sz="1200" b="0" kern="1200" noProof="0" dirty="0" smtClean="0">
                <a:solidFill>
                  <a:schemeClr val="tx1"/>
                </a:solidFill>
                <a:latin typeface="+mn-lt"/>
                <a:ea typeface="+mn-ea"/>
                <a:cs typeface="+mn-cs"/>
              </a:rPr>
              <a:t>Trainer distributes and discusses sample </a:t>
            </a:r>
            <a:r>
              <a:rPr lang="en-AU" sz="1200" kern="1200" dirty="0" smtClean="0">
                <a:solidFill>
                  <a:schemeClr val="tx1"/>
                </a:solidFill>
                <a:latin typeface="+mn-lt"/>
                <a:ea typeface="+mn-ea"/>
                <a:cs typeface="+mn-cs"/>
              </a:rPr>
              <a:t>‘Voluntary Assumption of Risk’ forms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50320682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stresses it </a:t>
            </a:r>
            <a:r>
              <a:rPr lang="en-AU" sz="1200" kern="1200" dirty="0" smtClean="0">
                <a:solidFill>
                  <a:schemeClr val="tx1"/>
                </a:solidFill>
                <a:latin typeface="+mn-lt"/>
                <a:ea typeface="+mn-ea"/>
                <a:cs typeface="+mn-cs"/>
              </a:rPr>
              <a:t>is best to use a </a:t>
            </a:r>
            <a:r>
              <a:rPr lang="en-AU" sz="1200" i="1" kern="1200" dirty="0" smtClean="0">
                <a:solidFill>
                  <a:schemeClr val="tx1"/>
                </a:solidFill>
                <a:latin typeface="+mn-lt"/>
                <a:ea typeface="+mn-ea"/>
                <a:cs typeface="+mn-cs"/>
              </a:rPr>
              <a:t>combination</a:t>
            </a:r>
            <a:r>
              <a:rPr lang="en-AU" sz="1200" kern="1200" dirty="0" smtClean="0">
                <a:solidFill>
                  <a:schemeClr val="tx1"/>
                </a:solidFill>
                <a:latin typeface="+mn-lt"/>
                <a:ea typeface="+mn-ea"/>
                <a:cs typeface="+mn-cs"/>
              </a:rPr>
              <a:t> of techniques (rather than one, single approach) to confirm tour group member understanding of an activity noting options include:</a:t>
            </a:r>
          </a:p>
          <a:p>
            <a:pPr marL="171450" indent="-171450">
              <a:buFont typeface="Arial" pitchFamily="34" charset="0"/>
              <a:buChar char="•"/>
            </a:pPr>
            <a:r>
              <a:rPr lang="en-AU" sz="1200" kern="1200" dirty="0" smtClean="0">
                <a:solidFill>
                  <a:schemeClr val="tx1"/>
                </a:solidFill>
                <a:latin typeface="+mn-lt"/>
                <a:ea typeface="+mn-ea"/>
                <a:cs typeface="+mn-cs"/>
              </a:rPr>
              <a:t>Asking questions – to check knowledge and/or understanding</a:t>
            </a:r>
          </a:p>
          <a:p>
            <a:pPr marL="171450" indent="-171450">
              <a:buFont typeface="Arial" pitchFamily="34" charset="0"/>
              <a:buChar char="•"/>
            </a:pPr>
            <a:r>
              <a:rPr lang="en-AU" sz="1200" kern="1200" dirty="0" smtClean="0">
                <a:solidFill>
                  <a:schemeClr val="tx1"/>
                </a:solidFill>
                <a:latin typeface="+mn-lt"/>
                <a:ea typeface="+mn-ea"/>
                <a:cs typeface="+mn-cs"/>
              </a:rPr>
              <a:t>Administering a basic ‘test’ – which may be:</a:t>
            </a:r>
          </a:p>
          <a:p>
            <a:pPr marL="628650" lvl="1" indent="-171450">
              <a:buFont typeface="Arial" pitchFamily="34" charset="0"/>
              <a:buChar char="•"/>
            </a:pPr>
            <a:r>
              <a:rPr lang="en-US" sz="1200" kern="1200" dirty="0" smtClean="0">
                <a:solidFill>
                  <a:schemeClr val="tx1"/>
                </a:solidFill>
                <a:latin typeface="+mn-lt"/>
                <a:ea typeface="+mn-ea"/>
                <a:cs typeface="+mn-cs"/>
              </a:rPr>
              <a:t>A verbal informal assessment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 written test – usually brief in nature such as ‘True’ or ‘False’, or ‘Select the correct response’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 practical test – which can cover:</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Use of safety/emergency equipment</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Implementation of basic/standard procedures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Checking of individual customers – in terms of:</a:t>
            </a:r>
          </a:p>
          <a:p>
            <a:pPr marL="628650" lvl="1" indent="-171450">
              <a:buFont typeface="Arial" pitchFamily="34" charset="0"/>
              <a:buChar char="•"/>
            </a:pPr>
            <a:r>
              <a:rPr lang="en-US" sz="1200" kern="1200" dirty="0" smtClean="0">
                <a:solidFill>
                  <a:schemeClr val="tx1"/>
                </a:solidFill>
                <a:latin typeface="+mn-lt"/>
                <a:ea typeface="+mn-ea"/>
                <a:cs typeface="+mn-cs"/>
              </a:rPr>
              <a:t>Physically checking the items of equipment each person is going to use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Physically checking the fit and wearing of safety clothing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Asking people to move/function within their safety clothing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Posing individual tests/trials for people </a:t>
            </a:r>
          </a:p>
          <a:p>
            <a:pPr marL="628650" lvl="1" indent="-171450">
              <a:buFont typeface="Arial" pitchFamily="34" charset="0"/>
              <a:buChar char="•"/>
            </a:pPr>
            <a:r>
              <a:rPr lang="en-US" sz="1200" kern="1200" dirty="0" smtClean="0">
                <a:solidFill>
                  <a:schemeClr val="tx1"/>
                </a:solidFill>
                <a:latin typeface="+mn-lt"/>
                <a:ea typeface="+mn-ea"/>
                <a:cs typeface="+mn-cs"/>
              </a:rPr>
              <a:t>Eligibility criteria.</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381455759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identify options for confirming understanding:</a:t>
            </a:r>
          </a:p>
          <a:p>
            <a:pPr marL="171450" indent="-171450">
              <a:buFont typeface="Arial" pitchFamily="34" charset="0"/>
              <a:buChar char="•"/>
            </a:pPr>
            <a:r>
              <a:rPr lang="en-AU" sz="1200" kern="1200" dirty="0" smtClean="0">
                <a:solidFill>
                  <a:schemeClr val="tx1"/>
                </a:solidFill>
                <a:latin typeface="+mn-lt"/>
                <a:ea typeface="+mn-ea"/>
                <a:cs typeface="+mn-cs"/>
              </a:rPr>
              <a:t>Encouraging customers to ask questions – by:</a:t>
            </a:r>
          </a:p>
          <a:p>
            <a:pPr marL="628650" lvl="1" indent="-171450">
              <a:buFont typeface="Arial" pitchFamily="34" charset="0"/>
              <a:buChar char="•"/>
            </a:pPr>
            <a:r>
              <a:rPr lang="en-US" sz="1200" kern="1200" dirty="0" smtClean="0">
                <a:solidFill>
                  <a:schemeClr val="tx1"/>
                </a:solidFill>
                <a:latin typeface="+mn-lt"/>
                <a:ea typeface="+mn-ea"/>
                <a:cs typeface="+mn-cs"/>
              </a:rPr>
              <a:t>Asking for questions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Responding politely and positively to them</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Thanking those who ask them</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Providing additional guidance and explanation – as deemed necessary based on:</a:t>
            </a:r>
          </a:p>
          <a:p>
            <a:pPr marL="628650" lvl="1" indent="-171450">
              <a:buFont typeface="Arial" pitchFamily="34" charset="0"/>
              <a:buChar char="•"/>
            </a:pPr>
            <a:r>
              <a:rPr lang="en-US" sz="1200" kern="1200" dirty="0" smtClean="0">
                <a:solidFill>
                  <a:schemeClr val="tx1"/>
                </a:solidFill>
                <a:latin typeface="+mn-lt"/>
                <a:ea typeface="+mn-ea"/>
                <a:cs typeface="+mn-cs"/>
              </a:rPr>
              <a:t>The nature of the question asked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degree of confusion/misunderstanding which appears to be present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threat/danger posed by the person not knowing the relevant information – this highlights not all information is ‘critical’: some is simply ‘nice to know’</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Monitoring people actively </a:t>
            </a:r>
            <a:r>
              <a:rPr lang="en-US" sz="1200" kern="1200" dirty="0" smtClean="0">
                <a:solidFill>
                  <a:schemeClr val="tx1"/>
                </a:solidFill>
                <a:latin typeface="+mn-lt"/>
                <a:ea typeface="+mn-ea"/>
                <a:cs typeface="+mn-cs"/>
              </a:rPr>
              <a:t>to judge levels of understanding</a:t>
            </a:r>
            <a:r>
              <a:rPr lang="en-AU" sz="1200" kern="1200" dirty="0" smtClean="0">
                <a:solidFill>
                  <a:schemeClr val="tx1"/>
                </a:solidFill>
                <a:latin typeface="+mn-lt"/>
                <a:ea typeface="+mn-ea"/>
                <a:cs typeface="+mn-cs"/>
              </a:rPr>
              <a:t> – by:</a:t>
            </a:r>
          </a:p>
          <a:p>
            <a:pPr marL="628650" lvl="1" indent="-171450">
              <a:buFont typeface="Arial" pitchFamily="34" charset="0"/>
              <a:buChar char="•"/>
            </a:pPr>
            <a:r>
              <a:rPr lang="en-US" sz="1200" kern="1200" dirty="0" smtClean="0">
                <a:solidFill>
                  <a:schemeClr val="tx1"/>
                </a:solidFill>
                <a:latin typeface="+mn-lt"/>
                <a:ea typeface="+mn-ea"/>
                <a:cs typeface="+mn-cs"/>
              </a:rPr>
              <a:t>Reading their body language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Interpreting their facial expressions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Listening to what they say and how they say it. </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356163218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380702245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422352847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390876238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141994653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277469771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involved in conducting/presenting an interpretive activity?</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experience do you have in relation to this?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328653700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indicates </a:t>
            </a:r>
            <a:r>
              <a:rPr lang="en-AU" sz="1200" kern="1200" dirty="0" smtClean="0">
                <a:solidFill>
                  <a:schemeClr val="tx1"/>
                </a:solidFill>
                <a:latin typeface="+mn-lt"/>
                <a:ea typeface="+mn-ea"/>
                <a:cs typeface="+mn-cs"/>
              </a:rPr>
              <a:t>standard on-tour protocols regarding assembly of the tour group are:</a:t>
            </a:r>
          </a:p>
          <a:p>
            <a:pPr marL="171450" indent="-171450">
              <a:buFont typeface="Arial" pitchFamily="34" charset="0"/>
              <a:buChar char="•"/>
            </a:pPr>
            <a:r>
              <a:rPr lang="en-AU" sz="1200" kern="1200" dirty="0" smtClean="0">
                <a:solidFill>
                  <a:schemeClr val="tx1"/>
                </a:solidFill>
                <a:latin typeface="+mn-lt"/>
                <a:ea typeface="+mn-ea"/>
                <a:cs typeface="+mn-cs"/>
              </a:rPr>
              <a:t>Check personal requisites before convening the group – this means:</a:t>
            </a:r>
          </a:p>
          <a:p>
            <a:pPr marL="628650" lvl="1" indent="-171450">
              <a:buFont typeface="Arial" pitchFamily="34" charset="0"/>
              <a:buChar char="•"/>
            </a:pPr>
            <a:r>
              <a:rPr lang="en-US" sz="1200" kern="1200" dirty="0" smtClean="0">
                <a:solidFill>
                  <a:schemeClr val="tx1"/>
                </a:solidFill>
                <a:latin typeface="+mn-lt"/>
                <a:ea typeface="+mn-ea"/>
                <a:cs typeface="+mn-cs"/>
              </a:rPr>
              <a:t>Double-checking own items and equipment before starting the assembly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Verifying items and equipment of staff who are to participate before starting the assembly</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It is very unprofessional to assembly the group and then have to delay events while employees get ready</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This also does not engender faith/confidence in tour personnel</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Group assembly must flow from (if not actually </a:t>
            </a:r>
            <a:r>
              <a:rPr lang="en-AU" sz="1200" i="1" kern="1200" dirty="0" smtClean="0">
                <a:solidFill>
                  <a:schemeClr val="tx1"/>
                </a:solidFill>
                <a:latin typeface="+mn-lt"/>
                <a:ea typeface="+mn-ea"/>
                <a:cs typeface="+mn-cs"/>
              </a:rPr>
              <a:t>be part of</a:t>
            </a:r>
            <a:r>
              <a:rPr lang="en-AU" sz="1200" kern="1200" dirty="0" smtClean="0">
                <a:solidFill>
                  <a:schemeClr val="tx1"/>
                </a:solidFill>
                <a:latin typeface="+mn-lt"/>
                <a:ea typeface="+mn-ea"/>
                <a:cs typeface="+mn-cs"/>
              </a:rPr>
              <a:t>) the explanation and demonstration phase – it is incorrect to believe:</a:t>
            </a:r>
          </a:p>
          <a:p>
            <a:pPr marL="628650" lvl="1" indent="-171450">
              <a:buFont typeface="Arial" pitchFamily="34" charset="0"/>
              <a:buChar char="•"/>
            </a:pPr>
            <a:r>
              <a:rPr lang="en-US" sz="1200" kern="1200" dirty="0" smtClean="0">
                <a:solidFill>
                  <a:schemeClr val="tx1"/>
                </a:solidFill>
                <a:latin typeface="+mn-lt"/>
                <a:ea typeface="+mn-ea"/>
                <a:cs typeface="+mn-cs"/>
              </a:rPr>
              <a:t>These are separate and distinct ‘stages’ to the introduction and commencement process – rather they should be seen as blending into one seamless ‘pre-activity undertaking’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There are required timelines for any of the actions mentioned – some will be quite brief while others can be expected to take considerably longer. Strive to maintain the itinerary for the tour/activity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All the group should be assembled – where possible/appropriate or time-effective</a:t>
            </a:r>
          </a:p>
          <a:p>
            <a:pPr marL="628650" lvl="1" indent="-171450">
              <a:buFont typeface="Arial" pitchFamily="34" charset="0"/>
              <a:buChar char="•"/>
            </a:pPr>
            <a:r>
              <a:rPr lang="en-AU" sz="1200" kern="1200" dirty="0" smtClean="0">
                <a:solidFill>
                  <a:schemeClr val="tx1"/>
                </a:solidFill>
                <a:latin typeface="+mn-lt"/>
                <a:ea typeface="+mn-ea"/>
                <a:cs typeface="+mn-cs"/>
              </a:rPr>
              <a:t>Time can often </a:t>
            </a:r>
            <a:r>
              <a:rPr lang="en-AU" sz="1200" b="1" kern="1200" dirty="0" smtClean="0">
                <a:solidFill>
                  <a:schemeClr val="tx1"/>
                </a:solidFill>
                <a:latin typeface="+mn-lt"/>
                <a:ea typeface="+mn-ea"/>
                <a:cs typeface="+mn-cs"/>
              </a:rPr>
              <a:t>not</a:t>
            </a:r>
            <a:r>
              <a:rPr lang="en-AU" sz="1200" kern="1200" dirty="0" smtClean="0">
                <a:solidFill>
                  <a:schemeClr val="tx1"/>
                </a:solidFill>
                <a:latin typeface="+mn-lt"/>
                <a:ea typeface="+mn-ea"/>
                <a:cs typeface="+mn-cs"/>
              </a:rPr>
              <a:t> be spent ensuring absolutely everyone is present</a:t>
            </a:r>
          </a:p>
          <a:p>
            <a:pPr marL="628650" lvl="1" indent="-171450">
              <a:buFont typeface="Arial" pitchFamily="34" charset="0"/>
              <a:buChar char="•"/>
            </a:pPr>
            <a:r>
              <a:rPr lang="en-AU" sz="1200" kern="1200" dirty="0" smtClean="0">
                <a:solidFill>
                  <a:schemeClr val="tx1"/>
                </a:solidFill>
                <a:latin typeface="+mn-lt"/>
                <a:ea typeface="+mn-ea"/>
                <a:cs typeface="+mn-cs"/>
              </a:rPr>
              <a:t>There must always be a requirement for ‘the greatest good for the greatest number’ which may mean repeating introductory remarks to those who missed them.</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51505301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indicate </a:t>
            </a:r>
            <a:r>
              <a:rPr lang="en-AU" sz="1200" kern="1200" dirty="0" smtClean="0">
                <a:solidFill>
                  <a:schemeClr val="tx1"/>
                </a:solidFill>
                <a:latin typeface="+mn-lt"/>
                <a:ea typeface="+mn-ea"/>
                <a:cs typeface="+mn-cs"/>
              </a:rPr>
              <a:t>standard on-tour protocols regarding assembly of the tour group: </a:t>
            </a:r>
          </a:p>
          <a:p>
            <a:pPr marL="171450" indent="-171450">
              <a:buFont typeface="Arial" pitchFamily="34" charset="0"/>
              <a:buChar char="•"/>
            </a:pPr>
            <a:r>
              <a:rPr lang="en-AU" sz="1200" kern="1200" dirty="0" smtClean="0">
                <a:solidFill>
                  <a:schemeClr val="tx1"/>
                </a:solidFill>
                <a:latin typeface="+mn-lt"/>
                <a:ea typeface="+mn-ea"/>
                <a:cs typeface="+mn-cs"/>
              </a:rPr>
              <a:t>The assembly of the group should occur with some planning – which may be:</a:t>
            </a:r>
          </a:p>
          <a:p>
            <a:pPr marL="628650" lvl="1" indent="-171450">
              <a:buFont typeface="Arial" pitchFamily="34" charset="0"/>
              <a:buChar char="•"/>
            </a:pPr>
            <a:r>
              <a:rPr lang="en-AU" sz="1200" kern="1200" dirty="0" smtClean="0">
                <a:solidFill>
                  <a:schemeClr val="tx1"/>
                </a:solidFill>
                <a:latin typeface="+mn-lt"/>
                <a:ea typeface="+mn-ea"/>
                <a:cs typeface="+mn-cs"/>
              </a:rPr>
              <a:t>After all necessary explanations and demonstrations have been completed</a:t>
            </a:r>
          </a:p>
          <a:p>
            <a:pPr marL="628650" lvl="1" indent="-171450">
              <a:buFont typeface="Arial" pitchFamily="34" charset="0"/>
              <a:buChar char="•"/>
            </a:pPr>
            <a:r>
              <a:rPr lang="en-AU" sz="1200" kern="1200" dirty="0" smtClean="0">
                <a:solidFill>
                  <a:schemeClr val="tx1"/>
                </a:solidFill>
                <a:latin typeface="+mn-lt"/>
                <a:ea typeface="+mn-ea"/>
                <a:cs typeface="+mn-cs"/>
              </a:rPr>
              <a:t>Once all handouts/distributions have taken place</a:t>
            </a:r>
          </a:p>
          <a:p>
            <a:pPr marL="628650" lvl="1" indent="-171450">
              <a:buFont typeface="Arial" pitchFamily="34" charset="0"/>
              <a:buChar char="•"/>
            </a:pPr>
            <a:r>
              <a:rPr lang="en-AU" sz="1200" kern="1200" dirty="0" smtClean="0">
                <a:solidFill>
                  <a:schemeClr val="tx1"/>
                </a:solidFill>
                <a:latin typeface="+mn-lt"/>
                <a:ea typeface="+mn-ea"/>
                <a:cs typeface="+mn-cs"/>
              </a:rPr>
              <a:t>Following confirmation (as appropriate) that all tour group members understand what is required</a:t>
            </a:r>
          </a:p>
          <a:p>
            <a:pPr marL="628650" lvl="1" indent="-171450">
              <a:buFont typeface="Arial" pitchFamily="34" charset="0"/>
              <a:buChar char="•"/>
            </a:pPr>
            <a:r>
              <a:rPr lang="en-AU" sz="1200" kern="1200" dirty="0" smtClean="0">
                <a:solidFill>
                  <a:schemeClr val="tx1"/>
                </a:solidFill>
                <a:latin typeface="+mn-lt"/>
                <a:ea typeface="+mn-ea"/>
                <a:cs typeface="+mn-cs"/>
              </a:rPr>
              <a:t>At the same location and at the same time as explanations and demonstration are performed</a:t>
            </a:r>
          </a:p>
          <a:p>
            <a:pPr marL="171450" indent="-171450">
              <a:buFont typeface="Arial" pitchFamily="34" charset="0"/>
              <a:buChar char="•"/>
            </a:pPr>
            <a:r>
              <a:rPr lang="en-AU" sz="1200" kern="1200" dirty="0" smtClean="0">
                <a:solidFill>
                  <a:schemeClr val="tx1"/>
                </a:solidFill>
                <a:latin typeface="+mn-lt"/>
                <a:ea typeface="+mn-ea"/>
                <a:cs typeface="+mn-cs"/>
              </a:rPr>
              <a:t>Conduct the assembly at a logical point – this is/may be:</a:t>
            </a:r>
          </a:p>
          <a:p>
            <a:pPr marL="628650" lvl="1" indent="-171450">
              <a:buFont typeface="Arial" pitchFamily="34" charset="0"/>
              <a:buChar char="•"/>
            </a:pPr>
            <a:r>
              <a:rPr lang="en-AU" sz="1200" kern="1200" dirty="0" smtClean="0">
                <a:solidFill>
                  <a:schemeClr val="tx1"/>
                </a:solidFill>
                <a:latin typeface="+mn-lt"/>
                <a:ea typeface="+mn-ea"/>
                <a:cs typeface="+mn-cs"/>
              </a:rPr>
              <a:t>Dictated by common sense and experience</a:t>
            </a:r>
          </a:p>
          <a:p>
            <a:pPr marL="628650" lvl="1" indent="-171450">
              <a:buFont typeface="Arial" pitchFamily="34" charset="0"/>
              <a:buChar char="•"/>
            </a:pPr>
            <a:r>
              <a:rPr lang="en-AU" sz="1200" kern="1200" dirty="0" smtClean="0">
                <a:solidFill>
                  <a:schemeClr val="tx1"/>
                </a:solidFill>
                <a:latin typeface="+mn-lt"/>
                <a:ea typeface="+mn-ea"/>
                <a:cs typeface="+mn-cs"/>
              </a:rPr>
              <a:t>Stated in the plans for the activity</a:t>
            </a:r>
          </a:p>
          <a:p>
            <a:pPr marL="628650" lvl="1" indent="-171450">
              <a:buFont typeface="Arial" pitchFamily="34" charset="0"/>
              <a:buChar char="•"/>
            </a:pPr>
            <a:r>
              <a:rPr lang="en-AU" sz="1200" kern="1200" dirty="0" smtClean="0">
                <a:solidFill>
                  <a:schemeClr val="tx1"/>
                </a:solidFill>
                <a:latin typeface="+mn-lt"/>
                <a:ea typeface="+mn-ea"/>
                <a:cs typeface="+mn-cs"/>
              </a:rPr>
              <a:t>Governed by the size of the group</a:t>
            </a:r>
          </a:p>
          <a:p>
            <a:pPr marL="628650" lvl="1" indent="-171450">
              <a:buFont typeface="Arial" pitchFamily="34" charset="0"/>
              <a:buChar char="•"/>
            </a:pPr>
            <a:r>
              <a:rPr lang="en-AU" sz="1200" kern="1200" dirty="0" smtClean="0">
                <a:solidFill>
                  <a:schemeClr val="tx1"/>
                </a:solidFill>
                <a:latin typeface="+mn-lt"/>
                <a:ea typeface="+mn-ea"/>
                <a:cs typeface="+mn-cs"/>
              </a:rPr>
              <a:t>Determined by the weather and/or existing conditions</a:t>
            </a:r>
          </a:p>
          <a:p>
            <a:pPr marL="628650" lvl="1" indent="-171450">
              <a:buFont typeface="Arial" pitchFamily="34" charset="0"/>
              <a:buChar char="•"/>
            </a:pPr>
            <a:r>
              <a:rPr lang="en-AU" sz="1200" kern="1200" dirty="0" smtClean="0">
                <a:solidFill>
                  <a:schemeClr val="tx1"/>
                </a:solidFill>
                <a:latin typeface="+mn-lt"/>
                <a:ea typeface="+mn-ea"/>
                <a:cs typeface="+mn-cs"/>
              </a:rPr>
              <a:t>Influenced by safety concerns</a:t>
            </a:r>
          </a:p>
          <a:p>
            <a:pPr marL="628650" lvl="1" indent="-171450">
              <a:buFont typeface="Arial" pitchFamily="34" charset="0"/>
              <a:buChar char="•"/>
            </a:pPr>
            <a:r>
              <a:rPr lang="en-AU" sz="1200" kern="1200" dirty="0" smtClean="0">
                <a:solidFill>
                  <a:schemeClr val="tx1"/>
                </a:solidFill>
                <a:latin typeface="+mn-lt"/>
                <a:ea typeface="+mn-ea"/>
                <a:cs typeface="+mn-cs"/>
              </a:rPr>
              <a:t>Impacted by agreements/arrangements with the host/local community or the venue/operator where the activity is being conducted</a:t>
            </a:r>
          </a:p>
          <a:p>
            <a:pPr marL="171450" indent="-171450">
              <a:buFont typeface="Arial" pitchFamily="34" charset="0"/>
              <a:buChar char="•"/>
            </a:pPr>
            <a:r>
              <a:rPr lang="en-AU" sz="1200" kern="1200" dirty="0" smtClean="0">
                <a:solidFill>
                  <a:schemeClr val="tx1"/>
                </a:solidFill>
                <a:latin typeface="+mn-lt"/>
                <a:ea typeface="+mn-ea"/>
                <a:cs typeface="+mn-cs"/>
              </a:rPr>
              <a:t>Follow the standard lecture/training dictum when assembling the group – which is:</a:t>
            </a:r>
          </a:p>
          <a:p>
            <a:pPr marL="628650" lvl="1" indent="-171450">
              <a:buFont typeface="Arial" pitchFamily="34" charset="0"/>
              <a:buChar char="•"/>
            </a:pPr>
            <a:r>
              <a:rPr lang="en-AU" sz="1200" kern="1200" dirty="0" smtClean="0">
                <a:solidFill>
                  <a:schemeClr val="tx1"/>
                </a:solidFill>
                <a:latin typeface="+mn-lt"/>
                <a:ea typeface="+mn-ea"/>
                <a:cs typeface="+mn-cs"/>
              </a:rPr>
              <a:t>Tell them what they are going to be told – the Introduction</a:t>
            </a:r>
          </a:p>
          <a:p>
            <a:pPr marL="628650" lvl="1" indent="-171450">
              <a:buFont typeface="Arial" pitchFamily="34" charset="0"/>
              <a:buChar char="•"/>
            </a:pPr>
            <a:r>
              <a:rPr lang="en-AU" sz="1200" kern="1200" dirty="0" smtClean="0">
                <a:solidFill>
                  <a:schemeClr val="tx1"/>
                </a:solidFill>
                <a:latin typeface="+mn-lt"/>
                <a:ea typeface="+mn-ea"/>
                <a:cs typeface="+mn-cs"/>
              </a:rPr>
              <a:t>Tell them – The Body</a:t>
            </a:r>
          </a:p>
          <a:p>
            <a:pPr marL="628650" lvl="1" indent="-171450">
              <a:buFont typeface="Arial" pitchFamily="34" charset="0"/>
              <a:buChar char="•"/>
            </a:pPr>
            <a:r>
              <a:rPr lang="en-AU" sz="1200" kern="1200" dirty="0" smtClean="0">
                <a:solidFill>
                  <a:schemeClr val="tx1"/>
                </a:solidFill>
                <a:latin typeface="+mn-lt"/>
                <a:ea typeface="+mn-ea"/>
                <a:cs typeface="+mn-cs"/>
              </a:rPr>
              <a:t>Tell them what they have been told – repeat/recap things: the Conclusion.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87369665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indicate </a:t>
            </a:r>
            <a:r>
              <a:rPr lang="en-AU" sz="1200" kern="1200" dirty="0" smtClean="0">
                <a:solidFill>
                  <a:schemeClr val="tx1"/>
                </a:solidFill>
                <a:latin typeface="+mn-lt"/>
                <a:ea typeface="+mn-ea"/>
                <a:cs typeface="+mn-cs"/>
              </a:rPr>
              <a:t>standard on-tour protocols regarding assembly of the tour group: </a:t>
            </a:r>
          </a:p>
          <a:p>
            <a:pPr marL="171450" indent="-171450">
              <a:buFont typeface="Arial" pitchFamily="34" charset="0"/>
              <a:buChar char="•"/>
            </a:pPr>
            <a:r>
              <a:rPr lang="en-AU" sz="1200" kern="1200" dirty="0" smtClean="0">
                <a:solidFill>
                  <a:schemeClr val="tx1"/>
                </a:solidFill>
                <a:latin typeface="+mn-lt"/>
                <a:ea typeface="+mn-ea"/>
                <a:cs typeface="+mn-cs"/>
              </a:rPr>
              <a:t>Be assertive when directing the group to assemble – which means:</a:t>
            </a:r>
          </a:p>
          <a:p>
            <a:pPr marL="628650" lvl="1" indent="-171450">
              <a:buFont typeface="Arial" pitchFamily="34" charset="0"/>
              <a:buChar char="•"/>
            </a:pPr>
            <a:r>
              <a:rPr lang="en-AU" sz="1200" kern="1200" dirty="0" smtClean="0">
                <a:solidFill>
                  <a:schemeClr val="tx1"/>
                </a:solidFill>
                <a:latin typeface="+mn-lt"/>
                <a:ea typeface="+mn-ea"/>
                <a:cs typeface="+mn-cs"/>
              </a:rPr>
              <a:t>Not being </a:t>
            </a:r>
            <a:r>
              <a:rPr lang="en-AU" sz="1200" i="1" kern="1200" dirty="0" smtClean="0">
                <a:solidFill>
                  <a:schemeClr val="tx1"/>
                </a:solidFill>
                <a:latin typeface="+mn-lt"/>
                <a:ea typeface="+mn-ea"/>
                <a:cs typeface="+mn-cs"/>
              </a:rPr>
              <a:t>aggressive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Giving clear directions</a:t>
            </a:r>
          </a:p>
          <a:p>
            <a:pPr marL="628650" lvl="1" indent="-171450">
              <a:buFont typeface="Arial" pitchFamily="34" charset="0"/>
              <a:buChar char="•"/>
            </a:pPr>
            <a:r>
              <a:rPr lang="en-AU" sz="1200" kern="1200" dirty="0" smtClean="0">
                <a:solidFill>
                  <a:schemeClr val="tx1"/>
                </a:solidFill>
                <a:latin typeface="+mn-lt"/>
                <a:ea typeface="+mn-ea"/>
                <a:cs typeface="+mn-cs"/>
              </a:rPr>
              <a:t>Organising individuals/groups</a:t>
            </a:r>
          </a:p>
          <a:p>
            <a:pPr marL="628650" lvl="1" indent="-171450">
              <a:buFont typeface="Arial" pitchFamily="34" charset="0"/>
              <a:buChar char="•"/>
            </a:pPr>
            <a:r>
              <a:rPr lang="en-AU" sz="1200" kern="1200" dirty="0" smtClean="0">
                <a:solidFill>
                  <a:schemeClr val="tx1"/>
                </a:solidFill>
                <a:latin typeface="+mn-lt"/>
                <a:ea typeface="+mn-ea"/>
                <a:cs typeface="+mn-cs"/>
              </a:rPr>
              <a:t>Speaking loudly enough to be heard</a:t>
            </a:r>
          </a:p>
          <a:p>
            <a:pPr marL="171450" indent="-171450">
              <a:buFont typeface="Arial" pitchFamily="34" charset="0"/>
              <a:buChar char="•"/>
            </a:pPr>
            <a:r>
              <a:rPr lang="en-AU" sz="1200" kern="1200" dirty="0" smtClean="0">
                <a:solidFill>
                  <a:schemeClr val="tx1"/>
                </a:solidFill>
                <a:latin typeface="+mn-lt"/>
                <a:ea typeface="+mn-ea"/>
                <a:cs typeface="+mn-cs"/>
              </a:rPr>
              <a:t>Maintain and/or create atmosphere and anticipation – through:</a:t>
            </a:r>
          </a:p>
          <a:p>
            <a:pPr marL="628650" lvl="1" indent="-171450">
              <a:buFont typeface="Arial" pitchFamily="34" charset="0"/>
              <a:buChar char="•"/>
            </a:pPr>
            <a:r>
              <a:rPr lang="en-AU" sz="1200" kern="1200" dirty="0" smtClean="0">
                <a:solidFill>
                  <a:schemeClr val="tx1"/>
                </a:solidFill>
                <a:latin typeface="+mn-lt"/>
                <a:ea typeface="+mn-ea"/>
                <a:cs typeface="+mn-cs"/>
              </a:rPr>
              <a:t>Choice of words and phrases used</a:t>
            </a:r>
          </a:p>
          <a:p>
            <a:pPr marL="628650" lvl="1" indent="-171450">
              <a:buFont typeface="Arial" pitchFamily="34" charset="0"/>
              <a:buChar char="•"/>
            </a:pPr>
            <a:r>
              <a:rPr lang="en-AU" sz="1200" kern="1200" dirty="0" smtClean="0">
                <a:solidFill>
                  <a:schemeClr val="tx1"/>
                </a:solidFill>
                <a:latin typeface="+mn-lt"/>
                <a:ea typeface="+mn-ea"/>
                <a:cs typeface="+mn-cs"/>
              </a:rPr>
              <a:t>Personal orientation and/or enthusiasm</a:t>
            </a:r>
          </a:p>
          <a:p>
            <a:pPr marL="628650" lvl="1" indent="-171450">
              <a:buFont typeface="Arial" pitchFamily="34" charset="0"/>
              <a:buChar char="•"/>
            </a:pPr>
            <a:r>
              <a:rPr lang="en-AU" sz="1200" kern="1200" dirty="0" smtClean="0">
                <a:solidFill>
                  <a:schemeClr val="tx1"/>
                </a:solidFill>
                <a:latin typeface="+mn-lt"/>
                <a:ea typeface="+mn-ea"/>
                <a:cs typeface="+mn-cs"/>
              </a:rPr>
              <a:t>Encouraging (as appropriate):</a:t>
            </a:r>
          </a:p>
          <a:p>
            <a:pPr marL="1085850" lvl="2" indent="-171450">
              <a:buFont typeface="Arial" pitchFamily="34" charset="0"/>
              <a:buChar char="•"/>
            </a:pPr>
            <a:r>
              <a:rPr lang="en-AU" sz="1200" kern="1200" dirty="0" smtClean="0">
                <a:solidFill>
                  <a:schemeClr val="tx1"/>
                </a:solidFill>
                <a:latin typeface="+mn-lt"/>
                <a:ea typeface="+mn-ea"/>
                <a:cs typeface="+mn-cs"/>
              </a:rPr>
              <a:t>Competition between people</a:t>
            </a:r>
          </a:p>
          <a:p>
            <a:pPr marL="1085850" lvl="2" indent="-171450">
              <a:buFont typeface="Arial" pitchFamily="34" charset="0"/>
              <a:buChar char="•"/>
            </a:pPr>
            <a:r>
              <a:rPr lang="en-AU" sz="1200" kern="1200" dirty="0" smtClean="0">
                <a:solidFill>
                  <a:schemeClr val="tx1"/>
                </a:solidFill>
                <a:latin typeface="+mn-lt"/>
                <a:ea typeface="+mn-ea"/>
                <a:cs typeface="+mn-cs"/>
              </a:rPr>
              <a:t>Commitment</a:t>
            </a:r>
          </a:p>
          <a:p>
            <a:pPr marL="1085850" lvl="2" indent="-171450">
              <a:buFont typeface="Arial" pitchFamily="34" charset="0"/>
              <a:buChar char="•"/>
            </a:pPr>
            <a:r>
              <a:rPr lang="en-AU" sz="1200" kern="1200" dirty="0" smtClean="0">
                <a:solidFill>
                  <a:schemeClr val="tx1"/>
                </a:solidFill>
                <a:latin typeface="+mn-lt"/>
                <a:ea typeface="+mn-ea"/>
                <a:cs typeface="+mn-cs"/>
              </a:rPr>
              <a:t>Willingness to try/participate</a:t>
            </a:r>
          </a:p>
          <a:p>
            <a:pPr marL="171450" indent="-171450">
              <a:buFont typeface="Arial" pitchFamily="34" charset="0"/>
              <a:buChar char="•"/>
            </a:pPr>
            <a:r>
              <a:rPr lang="en-AU" sz="1200" kern="1200" dirty="0" smtClean="0">
                <a:solidFill>
                  <a:schemeClr val="tx1"/>
                </a:solidFill>
                <a:latin typeface="+mn-lt"/>
                <a:ea typeface="+mn-ea"/>
                <a:cs typeface="+mn-cs"/>
              </a:rPr>
              <a:t>Notify relevant others at this stage – there can be a need at this point to:</a:t>
            </a:r>
          </a:p>
          <a:p>
            <a:pPr marL="628650" lvl="1" indent="-171450">
              <a:buFont typeface="Arial" pitchFamily="34" charset="0"/>
              <a:buChar char="•"/>
            </a:pPr>
            <a:r>
              <a:rPr lang="en-AU" sz="1200" kern="1200" dirty="0" smtClean="0">
                <a:solidFill>
                  <a:schemeClr val="tx1"/>
                </a:solidFill>
                <a:latin typeface="+mn-lt"/>
                <a:ea typeface="+mn-ea"/>
                <a:cs typeface="+mn-cs"/>
              </a:rPr>
              <a:t>Update Head Office of progress</a:t>
            </a:r>
          </a:p>
          <a:p>
            <a:pPr marL="628650" lvl="1" indent="-171450">
              <a:buFont typeface="Arial" pitchFamily="34" charset="0"/>
              <a:buChar char="•"/>
            </a:pPr>
            <a:r>
              <a:rPr lang="en-AU" sz="1200" kern="1200" dirty="0" smtClean="0">
                <a:solidFill>
                  <a:schemeClr val="tx1"/>
                </a:solidFill>
                <a:latin typeface="+mn-lt"/>
                <a:ea typeface="+mn-ea"/>
                <a:cs typeface="+mn-cs"/>
              </a:rPr>
              <a:t>Inform the local/host community</a:t>
            </a:r>
          </a:p>
          <a:p>
            <a:pPr marL="628650" lvl="1" indent="-171450">
              <a:buFont typeface="Arial" pitchFamily="34" charset="0"/>
              <a:buChar char="•"/>
            </a:pPr>
            <a:r>
              <a:rPr lang="en-AU" sz="1200" kern="1200" dirty="0" smtClean="0">
                <a:solidFill>
                  <a:schemeClr val="tx1"/>
                </a:solidFill>
                <a:latin typeface="+mn-lt"/>
                <a:ea typeface="+mn-ea"/>
                <a:cs typeface="+mn-cs"/>
              </a:rPr>
              <a:t>Tell third party providers about timing.</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235647590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a:t>
            </a:r>
            <a:r>
              <a:rPr lang="en-AU" sz="1200" kern="1200" dirty="0" smtClean="0">
                <a:solidFill>
                  <a:schemeClr val="tx1"/>
                </a:solidFill>
                <a:latin typeface="+mn-lt"/>
                <a:ea typeface="+mn-ea"/>
                <a:cs typeface="+mn-cs"/>
              </a:rPr>
              <a:t>providing commentary and interpretive presentation techniques is very much an ‘individual’ consideration meaning it/they will:</a:t>
            </a:r>
          </a:p>
          <a:p>
            <a:pPr marL="171450" indent="-171450">
              <a:buFont typeface="Arial" pitchFamily="34" charset="0"/>
              <a:buChar char="•"/>
            </a:pPr>
            <a:r>
              <a:rPr lang="en-AU" sz="1200" kern="1200" dirty="0" smtClean="0">
                <a:solidFill>
                  <a:schemeClr val="tx1"/>
                </a:solidFill>
                <a:latin typeface="+mn-lt"/>
                <a:ea typeface="+mn-ea"/>
                <a:cs typeface="+mn-cs"/>
              </a:rPr>
              <a:t>Depend on the nature and context of each interpretive activity – an approach totally satisfactory for one activity will be totally inappropriate for another</a:t>
            </a:r>
          </a:p>
          <a:p>
            <a:pPr marL="171450" indent="-171450">
              <a:buFont typeface="Arial" pitchFamily="34" charset="0"/>
              <a:buChar char="•"/>
            </a:pPr>
            <a:r>
              <a:rPr lang="en-AU" sz="1200" kern="1200" dirty="0" smtClean="0">
                <a:solidFill>
                  <a:schemeClr val="tx1"/>
                </a:solidFill>
                <a:latin typeface="+mn-lt"/>
                <a:ea typeface="+mn-ea"/>
                <a:cs typeface="+mn-cs"/>
              </a:rPr>
              <a:t>Vary with the unique character and style of the individual Tour Guide – the approach that suits one Tour Guide will not suit another</a:t>
            </a:r>
          </a:p>
          <a:p>
            <a:pPr marL="171450" indent="-171450">
              <a:buFont typeface="Arial" pitchFamily="34" charset="0"/>
              <a:buChar char="•"/>
            </a:pPr>
            <a:r>
              <a:rPr lang="en-AU" sz="1200" kern="1200" dirty="0" smtClean="0">
                <a:solidFill>
                  <a:schemeClr val="tx1"/>
                </a:solidFill>
                <a:latin typeface="+mn-lt"/>
                <a:ea typeface="+mn-ea"/>
                <a:cs typeface="+mn-cs"/>
              </a:rPr>
              <a:t>Have to change based on the known needs, wants and preferences of the tour group members – and, commonly, their demographic profile</a:t>
            </a:r>
          </a:p>
          <a:p>
            <a:pPr marL="171450" indent="-171450">
              <a:buFont typeface="Arial" pitchFamily="34" charset="0"/>
              <a:buChar char="•"/>
            </a:pPr>
            <a:r>
              <a:rPr lang="en-AU" sz="1200" kern="1200" dirty="0" smtClean="0">
                <a:solidFill>
                  <a:schemeClr val="tx1"/>
                </a:solidFill>
                <a:latin typeface="+mn-lt"/>
                <a:ea typeface="+mn-ea"/>
                <a:cs typeface="+mn-cs"/>
              </a:rPr>
              <a:t>Need to reflect advertisements about the tour and/or activity – in order to meet customer expectations and avoid disappointment</a:t>
            </a:r>
          </a:p>
          <a:p>
            <a:pPr marL="171450" indent="-171450">
              <a:buFont typeface="Arial" pitchFamily="34" charset="0"/>
              <a:buChar char="•"/>
            </a:pPr>
            <a:r>
              <a:rPr lang="en-AU" sz="1200" kern="1200" dirty="0" smtClean="0">
                <a:solidFill>
                  <a:schemeClr val="tx1"/>
                </a:solidFill>
                <a:latin typeface="+mn-lt"/>
                <a:ea typeface="+mn-ea"/>
                <a:cs typeface="+mn-cs"/>
              </a:rPr>
              <a:t>Be necessarily relevant to the activity – and the theme, messages, objectives and context for the activity</a:t>
            </a:r>
          </a:p>
          <a:p>
            <a:pPr marL="171450" indent="-171450">
              <a:buFont typeface="Arial" pitchFamily="34" charset="0"/>
              <a:buChar char="•"/>
            </a:pPr>
            <a:r>
              <a:rPr lang="en-AU" sz="1200" kern="1200" dirty="0" smtClean="0">
                <a:solidFill>
                  <a:schemeClr val="tx1"/>
                </a:solidFill>
                <a:latin typeface="+mn-lt"/>
                <a:ea typeface="+mn-ea"/>
                <a:cs typeface="+mn-cs"/>
              </a:rPr>
              <a:t>Must be applied sensitively for each activity – this means their application must be for the benefit of the tour group members and not (just) for the benefit/pleasure of the Tour Guide or other tour staff.</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402002892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a:t>
            </a:r>
            <a:r>
              <a:rPr lang="en-AU" baseline="0" noProof="0" dirty="0" smtClean="0"/>
              <a:t> discusses provision of commentaries stating:</a:t>
            </a:r>
          </a:p>
          <a:p>
            <a:pPr marL="171450" indent="-171450">
              <a:buFont typeface="Arial" pitchFamily="34" charset="0"/>
              <a:buChar char="•"/>
            </a:pPr>
            <a:r>
              <a:rPr lang="en-AU" sz="1200" kern="1200" dirty="0" smtClean="0">
                <a:solidFill>
                  <a:schemeClr val="tx1"/>
                </a:solidFill>
                <a:latin typeface="+mn-lt"/>
                <a:ea typeface="+mn-ea"/>
                <a:cs typeface="+mn-cs"/>
              </a:rPr>
              <a:t>All tours will require some form of commentary</a:t>
            </a:r>
          </a:p>
          <a:p>
            <a:pPr marL="171450" indent="-171450">
              <a:buFont typeface="Arial" pitchFamily="34" charset="0"/>
              <a:buChar char="•"/>
            </a:pPr>
            <a:r>
              <a:rPr lang="en-AU" sz="1200" kern="1200" dirty="0" smtClean="0">
                <a:solidFill>
                  <a:schemeClr val="tx1"/>
                </a:solidFill>
                <a:latin typeface="+mn-lt"/>
                <a:ea typeface="+mn-ea"/>
                <a:cs typeface="+mn-cs"/>
              </a:rPr>
              <a:t>Not all interpretive activities will</a:t>
            </a:r>
          </a:p>
          <a:p>
            <a:pPr marL="171450" indent="-171450">
              <a:buFont typeface="Arial" pitchFamily="34" charset="0"/>
              <a:buChar char="•"/>
            </a:pPr>
            <a:r>
              <a:rPr lang="en-AU" sz="1200" kern="1200" dirty="0" smtClean="0">
                <a:solidFill>
                  <a:schemeClr val="tx1"/>
                </a:solidFill>
                <a:latin typeface="+mn-lt"/>
                <a:ea typeface="+mn-ea"/>
                <a:cs typeface="+mn-cs"/>
              </a:rPr>
              <a:t>Commentary may be described as:</a:t>
            </a:r>
          </a:p>
          <a:p>
            <a:pPr marL="628650" lvl="1" indent="-171450">
              <a:buFont typeface="Arial" pitchFamily="34" charset="0"/>
              <a:buChar char="•"/>
            </a:pPr>
            <a:r>
              <a:rPr lang="en-AU" sz="1200" kern="1200" dirty="0" smtClean="0">
                <a:solidFill>
                  <a:schemeClr val="tx1"/>
                </a:solidFill>
                <a:latin typeface="+mn-lt"/>
                <a:ea typeface="+mn-ea"/>
                <a:cs typeface="+mn-cs"/>
              </a:rPr>
              <a:t>Scripted</a:t>
            </a:r>
          </a:p>
          <a:p>
            <a:pPr marL="628650" lvl="1" indent="-171450">
              <a:buFont typeface="Arial" pitchFamily="34" charset="0"/>
              <a:buChar char="•"/>
            </a:pPr>
            <a:r>
              <a:rPr lang="en-AU" sz="1200" kern="1200" dirty="0" smtClean="0">
                <a:solidFill>
                  <a:schemeClr val="tx1"/>
                </a:solidFill>
                <a:latin typeface="+mn-lt"/>
                <a:ea typeface="+mn-ea"/>
                <a:cs typeface="+mn-cs"/>
              </a:rPr>
              <a:t>Unscripted</a:t>
            </a:r>
          </a:p>
          <a:p>
            <a:pPr marL="171450" indent="-171450">
              <a:buFont typeface="Arial" pitchFamily="34" charset="0"/>
              <a:buChar char="•"/>
            </a:pPr>
            <a:r>
              <a:rPr lang="en-AU" sz="1200" kern="1200" dirty="0" smtClean="0">
                <a:solidFill>
                  <a:schemeClr val="tx1"/>
                </a:solidFill>
                <a:latin typeface="+mn-lt"/>
                <a:ea typeface="+mn-ea"/>
                <a:cs typeface="+mn-cs"/>
              </a:rPr>
              <a:t>A </a:t>
            </a:r>
            <a:r>
              <a:rPr lang="en-AU" sz="1200" b="1" kern="1200" dirty="0" smtClean="0">
                <a:solidFill>
                  <a:schemeClr val="tx1"/>
                </a:solidFill>
                <a:latin typeface="+mn-lt"/>
                <a:ea typeface="+mn-ea"/>
                <a:cs typeface="+mn-cs"/>
              </a:rPr>
              <a:t>scripted commentary </a:t>
            </a:r>
            <a:r>
              <a:rPr lang="en-AU" sz="1200" kern="1200" dirty="0" smtClean="0">
                <a:solidFill>
                  <a:schemeClr val="tx1"/>
                </a:solidFill>
                <a:latin typeface="+mn-lt"/>
                <a:ea typeface="+mn-ea"/>
                <a:cs typeface="+mn-cs"/>
              </a:rPr>
              <a:t>is a prepared talk about identified topics of interest to a group of tour group members</a:t>
            </a:r>
          </a:p>
          <a:p>
            <a:pPr marL="628650" lvl="1" indent="-171450">
              <a:buFont typeface="Arial" pitchFamily="34" charset="0"/>
              <a:buChar char="•"/>
            </a:pPr>
            <a:r>
              <a:rPr lang="en-AU" sz="1200" kern="1200" dirty="0" smtClean="0">
                <a:solidFill>
                  <a:schemeClr val="tx1"/>
                </a:solidFill>
                <a:latin typeface="+mn-lt"/>
                <a:ea typeface="+mn-ea"/>
                <a:cs typeface="+mn-cs"/>
              </a:rPr>
              <a:t>The scripted commentary may be prepared by the Tour Operator and provided for use by the Tour Guide, or there may be a need for every Tour Guide to develop their own scripted commentary for each group they lead and for every interpretive activity they conduct</a:t>
            </a:r>
          </a:p>
          <a:p>
            <a:pPr marL="628650" lvl="1" indent="-171450">
              <a:buFont typeface="Arial" pitchFamily="34" charset="0"/>
              <a:buChar char="•"/>
            </a:pPr>
            <a:r>
              <a:rPr lang="en-AU" sz="1200" kern="1200" dirty="0" smtClean="0">
                <a:solidFill>
                  <a:schemeClr val="tx1"/>
                </a:solidFill>
                <a:latin typeface="+mn-lt"/>
                <a:ea typeface="+mn-ea"/>
                <a:cs typeface="+mn-cs"/>
              </a:rPr>
              <a:t>A scripted commentary should be thought of as a </a:t>
            </a:r>
            <a:r>
              <a:rPr lang="en-AU" sz="1200" b="1" i="1" kern="1200" dirty="0" smtClean="0">
                <a:solidFill>
                  <a:schemeClr val="tx1"/>
                </a:solidFill>
                <a:latin typeface="+mn-lt"/>
                <a:ea typeface="+mn-ea"/>
                <a:cs typeface="+mn-cs"/>
              </a:rPr>
              <a:t>guide</a:t>
            </a:r>
            <a:r>
              <a:rPr lang="en-AU" sz="1200" kern="1200" dirty="0" smtClean="0">
                <a:solidFill>
                  <a:schemeClr val="tx1"/>
                </a:solidFill>
                <a:latin typeface="+mn-lt"/>
                <a:ea typeface="+mn-ea"/>
                <a:cs typeface="+mn-cs"/>
              </a:rPr>
              <a:t> about what needs to be said rather than a </a:t>
            </a:r>
            <a:r>
              <a:rPr lang="en-AU" sz="1200" i="1" kern="1200" dirty="0" smtClean="0">
                <a:solidFill>
                  <a:schemeClr val="tx1"/>
                </a:solidFill>
                <a:latin typeface="+mn-lt"/>
                <a:ea typeface="+mn-ea"/>
                <a:cs typeface="+mn-cs"/>
              </a:rPr>
              <a:t>complete list</a:t>
            </a:r>
            <a:r>
              <a:rPr lang="en-AU" sz="1200" kern="1200" dirty="0" smtClean="0">
                <a:solidFill>
                  <a:schemeClr val="tx1"/>
                </a:solidFill>
                <a:latin typeface="+mn-lt"/>
                <a:ea typeface="+mn-ea"/>
                <a:cs typeface="+mn-cs"/>
              </a:rPr>
              <a:t> of everything that needs to be said during an activity</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In many cases, experienced Tour Guides will memorise the scripted commentary for regular/scheduled tours and interpretive activities</a:t>
            </a:r>
          </a:p>
          <a:p>
            <a:pPr marL="171450" indent="-171450">
              <a:buFont typeface="Arial" pitchFamily="34" charset="0"/>
              <a:buChar char="•"/>
            </a:pPr>
            <a:r>
              <a:rPr lang="en-AU" sz="1200" b="1" kern="1200" dirty="0" smtClean="0">
                <a:solidFill>
                  <a:schemeClr val="tx1"/>
                </a:solidFill>
                <a:latin typeface="+mn-lt"/>
                <a:ea typeface="+mn-ea"/>
                <a:cs typeface="+mn-cs"/>
              </a:rPr>
              <a:t>Unscripted commentary </a:t>
            </a:r>
            <a:r>
              <a:rPr lang="en-AU" sz="1200" kern="1200" dirty="0" smtClean="0">
                <a:solidFill>
                  <a:schemeClr val="tx1"/>
                </a:solidFill>
                <a:latin typeface="+mn-lt"/>
                <a:ea typeface="+mn-ea"/>
                <a:cs typeface="+mn-cs"/>
              </a:rPr>
              <a:t>refers to the situation where information is provided to the tour group throughout the activity but reference is not made to a script when doing so</a:t>
            </a:r>
          </a:p>
          <a:p>
            <a:pPr marL="628650" marR="0" lvl="2"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There will always be a need to provide some </a:t>
            </a:r>
            <a:r>
              <a:rPr lang="en-AU" sz="1200" i="1" kern="1200" dirty="0" smtClean="0">
                <a:solidFill>
                  <a:schemeClr val="tx1"/>
                </a:solidFill>
                <a:latin typeface="+mn-lt"/>
                <a:ea typeface="+mn-ea"/>
                <a:cs typeface="+mn-cs"/>
              </a:rPr>
              <a:t>unscripted</a:t>
            </a:r>
            <a:r>
              <a:rPr lang="en-AU" sz="1200" kern="1200" dirty="0" smtClean="0">
                <a:solidFill>
                  <a:schemeClr val="tx1"/>
                </a:solidFill>
                <a:latin typeface="+mn-lt"/>
                <a:ea typeface="+mn-ea"/>
                <a:cs typeface="+mn-cs"/>
              </a:rPr>
              <a:t> commentary to supplement whatever scripted commentary is prepared.</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scripted commentaries for interpretive activities. </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77425256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presents basic </a:t>
            </a:r>
            <a:r>
              <a:rPr lang="en-AU" sz="1200" kern="1200" dirty="0" smtClean="0">
                <a:solidFill>
                  <a:schemeClr val="tx1"/>
                </a:solidFill>
                <a:latin typeface="+mn-lt"/>
                <a:ea typeface="+mn-ea"/>
                <a:cs typeface="+mn-cs"/>
              </a:rPr>
              <a:t>communication strategies which can/should be used to deliver commentaries:</a:t>
            </a:r>
          </a:p>
          <a:p>
            <a:pPr marL="171450" indent="-171450">
              <a:buFont typeface="Arial" pitchFamily="34" charset="0"/>
              <a:buChar char="•"/>
            </a:pPr>
            <a:r>
              <a:rPr lang="en-AU" sz="1200" kern="1200" dirty="0" smtClean="0">
                <a:solidFill>
                  <a:schemeClr val="tx1"/>
                </a:solidFill>
                <a:latin typeface="+mn-lt"/>
                <a:ea typeface="+mn-ea"/>
                <a:cs typeface="+mn-cs"/>
              </a:rPr>
              <a:t>Ensuring visibility to all tour group members – it is preferable if all people participating in the activity can also read/see the lips of the Tour Guide when they are speaking but at a minimum they should at least be able to </a:t>
            </a:r>
            <a:r>
              <a:rPr lang="en-AU" sz="1200" i="1" kern="1200" dirty="0" smtClean="0">
                <a:solidFill>
                  <a:schemeClr val="tx1"/>
                </a:solidFill>
                <a:latin typeface="+mn-lt"/>
                <a:ea typeface="+mn-ea"/>
                <a:cs typeface="+mn-cs"/>
              </a:rPr>
              <a:t>see</a:t>
            </a:r>
            <a:r>
              <a:rPr lang="en-AU" sz="1200" kern="1200" dirty="0" smtClean="0">
                <a:solidFill>
                  <a:schemeClr val="tx1"/>
                </a:solidFill>
                <a:latin typeface="+mn-lt"/>
                <a:ea typeface="+mn-ea"/>
                <a:cs typeface="+mn-cs"/>
              </a:rPr>
              <a:t> the person speaking to some extent</a:t>
            </a:r>
          </a:p>
          <a:p>
            <a:pPr marL="171450" indent="-171450">
              <a:buFont typeface="Arial" pitchFamily="34" charset="0"/>
              <a:buChar char="•"/>
            </a:pPr>
            <a:r>
              <a:rPr lang="en-AU" sz="1200" kern="1200" dirty="0" smtClean="0">
                <a:solidFill>
                  <a:schemeClr val="tx1"/>
                </a:solidFill>
                <a:latin typeface="+mn-lt"/>
                <a:ea typeface="+mn-ea"/>
                <a:cs typeface="+mn-cs"/>
              </a:rPr>
              <a:t>Facing the group – to the greatest extent possible</a:t>
            </a:r>
          </a:p>
          <a:p>
            <a:pPr marL="171450" indent="-171450">
              <a:buFont typeface="Arial" pitchFamily="34" charset="0"/>
              <a:buChar char="•"/>
            </a:pPr>
            <a:r>
              <a:rPr lang="en-AU" sz="1200" kern="1200" dirty="0" smtClean="0">
                <a:solidFill>
                  <a:schemeClr val="tx1"/>
                </a:solidFill>
                <a:latin typeface="+mn-lt"/>
                <a:ea typeface="+mn-ea"/>
                <a:cs typeface="+mn-cs"/>
              </a:rPr>
              <a:t>Speaking loudly enough for everyone to hear – or using technology/amplification to help project the voice</a:t>
            </a:r>
          </a:p>
          <a:p>
            <a:pPr marL="171450" indent="-171450">
              <a:buFont typeface="Arial" pitchFamily="34" charset="0"/>
              <a:buChar char="•"/>
            </a:pPr>
            <a:r>
              <a:rPr lang="en-AU" sz="1200" kern="1200" dirty="0" smtClean="0">
                <a:solidFill>
                  <a:schemeClr val="tx1"/>
                </a:solidFill>
                <a:latin typeface="+mn-lt"/>
                <a:ea typeface="+mn-ea"/>
                <a:cs typeface="+mn-cs"/>
              </a:rPr>
              <a:t>Remaining enthusiastic and appropriate to the nature and content of the activity – and appropriate to the nature/profile of the tour group members: some groups/topics require a sombre approach and others a lively and engaging demeanour.</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an experienced Tour Guide to attend and:</a:t>
            </a:r>
          </a:p>
          <a:p>
            <a:pPr marL="171450" indent="-171450">
              <a:buFont typeface="Arial" pitchFamily="34" charset="0"/>
              <a:buChar char="•"/>
            </a:pPr>
            <a:r>
              <a:rPr lang="en-AU" b="0" noProof="0" dirty="0" smtClean="0"/>
              <a:t>Describe preparation for delivering commentaries</a:t>
            </a:r>
          </a:p>
          <a:p>
            <a:pPr marL="171450" indent="-171450">
              <a:buFont typeface="Arial" pitchFamily="34" charset="0"/>
              <a:buChar char="•"/>
            </a:pPr>
            <a:r>
              <a:rPr lang="en-AU" b="0" noProof="0" dirty="0" smtClean="0"/>
              <a:t>Provide sample scripted commentaries</a:t>
            </a:r>
          </a:p>
          <a:p>
            <a:pPr marL="171450" indent="-171450">
              <a:buFont typeface="Arial" pitchFamily="34" charset="0"/>
              <a:buChar char="•"/>
            </a:pPr>
            <a:r>
              <a:rPr lang="en-AU" b="0" noProof="0" dirty="0" smtClean="0"/>
              <a:t>Demonstrate delivery of commentaries.</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296635450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present basic </a:t>
            </a:r>
            <a:r>
              <a:rPr lang="en-AU" sz="1200" kern="1200" dirty="0" smtClean="0">
                <a:solidFill>
                  <a:schemeClr val="tx1"/>
                </a:solidFill>
                <a:latin typeface="+mn-lt"/>
                <a:ea typeface="+mn-ea"/>
                <a:cs typeface="+mn-cs"/>
              </a:rPr>
              <a:t>communication strategies which can/should be used to deliver commentaries:</a:t>
            </a:r>
          </a:p>
          <a:p>
            <a:pPr marL="171450" indent="-171450">
              <a:buFont typeface="Arial" pitchFamily="34" charset="0"/>
              <a:buChar char="•"/>
            </a:pPr>
            <a:r>
              <a:rPr lang="en-AU" sz="1200" kern="1200" dirty="0" smtClean="0">
                <a:solidFill>
                  <a:schemeClr val="tx1"/>
                </a:solidFill>
                <a:latin typeface="+mn-lt"/>
                <a:ea typeface="+mn-ea"/>
                <a:cs typeface="+mn-cs"/>
              </a:rPr>
              <a:t>Beginning the verbal commentary sufficiently in advance of a scheduled event – so participants have time to focus on whatever is the focus of the commentary</a:t>
            </a:r>
          </a:p>
          <a:p>
            <a:pPr marL="628650" lvl="1" indent="-171450">
              <a:buFont typeface="Arial" pitchFamily="34" charset="0"/>
              <a:buChar char="•"/>
            </a:pPr>
            <a:r>
              <a:rPr lang="en-AU" sz="1200" kern="1200" dirty="0" smtClean="0">
                <a:solidFill>
                  <a:schemeClr val="tx1"/>
                </a:solidFill>
                <a:latin typeface="+mn-lt"/>
                <a:ea typeface="+mn-ea"/>
                <a:cs typeface="+mn-cs"/>
              </a:rPr>
              <a:t>Alternatively a decision may be taken to arrive at a stop/location, and </a:t>
            </a:r>
            <a:r>
              <a:rPr lang="en-AU" sz="1200" i="1" kern="1200" dirty="0" smtClean="0">
                <a:solidFill>
                  <a:schemeClr val="tx1"/>
                </a:solidFill>
                <a:latin typeface="+mn-lt"/>
                <a:ea typeface="+mn-ea"/>
                <a:cs typeface="+mn-cs"/>
              </a:rPr>
              <a:t>then</a:t>
            </a:r>
            <a:r>
              <a:rPr lang="en-AU" sz="1200" kern="1200" dirty="0" smtClean="0">
                <a:solidFill>
                  <a:schemeClr val="tx1"/>
                </a:solidFill>
                <a:latin typeface="+mn-lt"/>
                <a:ea typeface="+mn-ea"/>
                <a:cs typeface="+mn-cs"/>
              </a:rPr>
              <a:t> deliver all the commentary at this point – timing constraints will often dictate which option needs to be used, as will the mood/response of the tour group</a:t>
            </a:r>
          </a:p>
          <a:p>
            <a:pPr marL="171450" indent="-171450">
              <a:buFont typeface="Arial" pitchFamily="34" charset="0"/>
              <a:buChar char="•"/>
            </a:pPr>
            <a:r>
              <a:rPr lang="en-AU" sz="1200" kern="1200" dirty="0" smtClean="0">
                <a:solidFill>
                  <a:schemeClr val="tx1"/>
                </a:solidFill>
                <a:latin typeface="+mn-lt"/>
                <a:ea typeface="+mn-ea"/>
                <a:cs typeface="+mn-cs"/>
              </a:rPr>
              <a:t>Focussing attention on entire group – the commentary must be directed at, and embrace, all the tour group members Never fall for the common traps of:</a:t>
            </a:r>
          </a:p>
          <a:p>
            <a:pPr marL="628650" lvl="1" indent="-171450">
              <a:buFont typeface="Arial" pitchFamily="34" charset="0"/>
              <a:buChar char="•"/>
            </a:pPr>
            <a:r>
              <a:rPr lang="en-US" sz="1200" kern="1200" dirty="0" smtClean="0">
                <a:solidFill>
                  <a:schemeClr val="tx1"/>
                </a:solidFill>
                <a:latin typeface="+mn-lt"/>
                <a:ea typeface="+mn-ea"/>
                <a:cs typeface="+mn-cs"/>
              </a:rPr>
              <a:t>Talking only to those who are closest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Directing commentary at those in the immediate line-of-sight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Commentating only to one or two ‘special’ group members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Focussing on a certain person, age group, nationality or gender.</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2885343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presents basic </a:t>
            </a:r>
            <a:r>
              <a:rPr lang="en-AU" sz="1200" kern="1200" dirty="0" smtClean="0">
                <a:solidFill>
                  <a:schemeClr val="tx1"/>
                </a:solidFill>
                <a:latin typeface="+mn-lt"/>
                <a:ea typeface="+mn-ea"/>
                <a:cs typeface="+mn-cs"/>
              </a:rPr>
              <a:t>communication strategies which can/should be used to deliver commentaries:</a:t>
            </a:r>
          </a:p>
          <a:p>
            <a:pPr marL="171450" indent="-171450">
              <a:buFont typeface="Arial" pitchFamily="34" charset="0"/>
              <a:buChar char="•"/>
            </a:pPr>
            <a:r>
              <a:rPr lang="en-AU" sz="1200" kern="1200" dirty="0" smtClean="0">
                <a:solidFill>
                  <a:schemeClr val="tx1"/>
                </a:solidFill>
                <a:latin typeface="+mn-lt"/>
                <a:ea typeface="+mn-ea"/>
                <a:cs typeface="+mn-cs"/>
              </a:rPr>
              <a:t>Communicating at level that will be understood by the audience considering their age, education, language, culture and special needs – this frequently means:</a:t>
            </a:r>
          </a:p>
          <a:p>
            <a:pPr marL="628650" lvl="1" indent="-171450">
              <a:buFont typeface="Arial" pitchFamily="34" charset="0"/>
              <a:buChar char="•"/>
            </a:pPr>
            <a:r>
              <a:rPr lang="en-US" sz="1200" kern="1200" dirty="0" smtClean="0">
                <a:solidFill>
                  <a:schemeClr val="tx1"/>
                </a:solidFill>
                <a:latin typeface="+mn-lt"/>
                <a:ea typeface="+mn-ea"/>
                <a:cs typeface="+mn-cs"/>
              </a:rPr>
              <a:t>Keeping things simple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Using hand gestures to accompany verbal communication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Using appropriate words, terms and phrases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Highlighting points identified as being of interest to the group</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Seeking feedback from the group throughout the commentary:</a:t>
            </a:r>
          </a:p>
          <a:p>
            <a:pPr marL="628650" lvl="1" indent="-171450">
              <a:buFont typeface="Arial" pitchFamily="34" charset="0"/>
              <a:buChar char="•"/>
            </a:pPr>
            <a:r>
              <a:rPr lang="en-US" sz="1200" kern="1200" dirty="0" smtClean="0">
                <a:solidFill>
                  <a:schemeClr val="tx1"/>
                </a:solidFill>
                <a:latin typeface="+mn-lt"/>
                <a:ea typeface="+mn-ea"/>
                <a:cs typeface="+mn-cs"/>
              </a:rPr>
              <a:t>Can they hear/see?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Anything else they want to know?</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Do they want a break/rest?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Encouraging questions – and responding to demonstrate questions really are encouraged and appreciated</a:t>
            </a:r>
          </a:p>
          <a:p>
            <a:pPr marL="171450" indent="-171450">
              <a:buFont typeface="Arial" pitchFamily="34" charset="0"/>
              <a:buChar char="•"/>
            </a:pPr>
            <a:r>
              <a:rPr lang="en-AU" sz="1200" kern="1200" dirty="0" smtClean="0">
                <a:solidFill>
                  <a:schemeClr val="tx1"/>
                </a:solidFill>
                <a:latin typeface="+mn-lt"/>
                <a:ea typeface="+mn-ea"/>
                <a:cs typeface="+mn-cs"/>
              </a:rPr>
              <a:t>Making the commentary a ‘unique’ event – avoid allowing commentaries to:</a:t>
            </a:r>
          </a:p>
          <a:p>
            <a:pPr marL="628650" lvl="1" indent="-171450">
              <a:buFont typeface="Arial" pitchFamily="34" charset="0"/>
              <a:buChar char="•"/>
            </a:pPr>
            <a:r>
              <a:rPr lang="en-US" sz="1200" kern="1200" dirty="0" smtClean="0">
                <a:solidFill>
                  <a:schemeClr val="tx1"/>
                </a:solidFill>
                <a:latin typeface="+mn-lt"/>
                <a:ea typeface="+mn-ea"/>
                <a:cs typeface="+mn-cs"/>
              </a:rPr>
              <a:t>Become boring and lifeless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Sounding rote and mechanised/robotic</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Adding comments which include new information and target the interests of the group.</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72636584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presents basic </a:t>
            </a:r>
            <a:r>
              <a:rPr lang="en-AU" sz="1200" kern="1200" dirty="0" smtClean="0">
                <a:solidFill>
                  <a:schemeClr val="tx1"/>
                </a:solidFill>
                <a:latin typeface="+mn-lt"/>
                <a:ea typeface="+mn-ea"/>
                <a:cs typeface="+mn-cs"/>
              </a:rPr>
              <a:t>communication strategies which can/should be used to deliver commentaries:</a:t>
            </a:r>
          </a:p>
          <a:p>
            <a:pPr marL="171450" indent="-171450">
              <a:buFont typeface="Arial" pitchFamily="34" charset="0"/>
              <a:buChar char="•"/>
            </a:pPr>
            <a:r>
              <a:rPr lang="en-AU" sz="1200" kern="1200" dirty="0" smtClean="0">
                <a:solidFill>
                  <a:schemeClr val="tx1"/>
                </a:solidFill>
                <a:latin typeface="+mn-lt"/>
                <a:ea typeface="+mn-ea"/>
                <a:cs typeface="+mn-cs"/>
              </a:rPr>
              <a:t>Knowing when to be quiet – many people who deliver commentaries seem to think their job is to talk ‘all the time’ and this is definitely not the case/requirement. It is important to keep quiet to allow participants to:</a:t>
            </a:r>
          </a:p>
          <a:p>
            <a:pPr marL="628650" lvl="1" indent="-171450">
              <a:buFont typeface="Arial" pitchFamily="34" charset="0"/>
              <a:buChar char="•"/>
            </a:pPr>
            <a:r>
              <a:rPr lang="en-US" sz="1200" kern="1200" dirty="0" smtClean="0">
                <a:solidFill>
                  <a:schemeClr val="tx1"/>
                </a:solidFill>
                <a:latin typeface="+mn-lt"/>
                <a:ea typeface="+mn-ea"/>
                <a:cs typeface="+mn-cs"/>
              </a:rPr>
              <a:t>Have a break from being talked at/to</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Experience the activity/tour in relative peace and quiet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Enjoy the experience on their own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Think</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Adjusting the commentary as required – to accommodate:</a:t>
            </a:r>
          </a:p>
          <a:p>
            <a:pPr marL="628650" lvl="1" indent="-171450">
              <a:buFont typeface="Arial" pitchFamily="34" charset="0"/>
              <a:buChar char="•"/>
            </a:pPr>
            <a:r>
              <a:rPr lang="en-US" sz="1200" kern="1200" dirty="0" smtClean="0">
                <a:solidFill>
                  <a:schemeClr val="tx1"/>
                </a:solidFill>
                <a:latin typeface="+mn-lt"/>
                <a:ea typeface="+mn-ea"/>
                <a:cs typeface="+mn-cs"/>
              </a:rPr>
              <a:t>Identified interest of the group</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Emerging events.</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Classroom</a:t>
            </a:r>
            <a:r>
              <a:rPr lang="en-AU" sz="1200" b="1" kern="1200" baseline="0" dirty="0" smtClean="0">
                <a:solidFill>
                  <a:schemeClr val="tx1"/>
                </a:solidFill>
                <a:latin typeface="+mn-lt"/>
                <a:ea typeface="+mn-ea"/>
                <a:cs typeface="+mn-cs"/>
              </a:rPr>
              <a:t> Activity – Role Plays</a:t>
            </a:r>
          </a:p>
          <a:p>
            <a:pPr>
              <a:buFont typeface="Arial" pitchFamily="34" charset="0"/>
              <a:buNone/>
            </a:pPr>
            <a:r>
              <a:rPr lang="en-AU" sz="1200" b="0" kern="1200" baseline="0" dirty="0" smtClean="0">
                <a:solidFill>
                  <a:schemeClr val="tx1"/>
                </a:solidFill>
                <a:latin typeface="+mn-lt"/>
                <a:ea typeface="+mn-ea"/>
                <a:cs typeface="+mn-cs"/>
              </a:rPr>
              <a:t>Trainer presents students with model scripted commentaries for certain interpretive activities and gives them opportunity to practice presenting them to nominated types of tour groups.</a:t>
            </a:r>
            <a:endParaRPr lang="en-AU" sz="1200" b="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416265735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a:t>
            </a:r>
            <a:r>
              <a:rPr lang="en-AU" baseline="0" noProof="0" dirty="0" smtClean="0"/>
              <a:t> discusses using/application of interpretive presentation techniques</a:t>
            </a:r>
          </a:p>
          <a:p>
            <a:r>
              <a:rPr lang="en-AU" sz="1200" b="1" kern="1200" dirty="0" smtClean="0">
                <a:solidFill>
                  <a:schemeClr val="tx1"/>
                </a:solidFill>
                <a:latin typeface="+mn-lt"/>
                <a:ea typeface="+mn-ea"/>
                <a:cs typeface="+mn-cs"/>
              </a:rPr>
              <a:t>Role playing</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Role playing </a:t>
            </a:r>
          </a:p>
          <a:p>
            <a:pPr marL="171450" indent="-171450">
              <a:buFont typeface="Arial" pitchFamily="34" charset="0"/>
              <a:buChar char="•"/>
            </a:pPr>
            <a:r>
              <a:rPr lang="en-AU" sz="1200" kern="1200" dirty="0" smtClean="0">
                <a:solidFill>
                  <a:schemeClr val="tx1"/>
                </a:solidFill>
                <a:latin typeface="+mn-lt"/>
                <a:ea typeface="+mn-ea"/>
                <a:cs typeface="+mn-cs"/>
              </a:rPr>
              <a:t>Involves prescribed situations where tour group members or tour staff act out nominated roles and scenarios – in order to:</a:t>
            </a:r>
          </a:p>
          <a:p>
            <a:pPr marL="628650" lvl="1" indent="-171450">
              <a:buFont typeface="Arial" pitchFamily="34" charset="0"/>
              <a:buChar char="•"/>
            </a:pPr>
            <a:r>
              <a:rPr lang="en-AU" sz="1200" kern="1200" dirty="0" smtClean="0">
                <a:solidFill>
                  <a:schemeClr val="tx1"/>
                </a:solidFill>
                <a:latin typeface="+mn-lt"/>
                <a:ea typeface="+mn-ea"/>
                <a:cs typeface="+mn-cs"/>
              </a:rPr>
              <a:t>Give or gain a sense of engagement and reality to various topics</a:t>
            </a:r>
          </a:p>
          <a:p>
            <a:pPr marL="628650" lvl="1" indent="-171450">
              <a:buFont typeface="Arial" pitchFamily="34" charset="0"/>
              <a:buChar char="•"/>
            </a:pPr>
            <a:r>
              <a:rPr lang="en-AU" sz="1200" kern="1200" dirty="0" smtClean="0">
                <a:solidFill>
                  <a:schemeClr val="tx1"/>
                </a:solidFill>
                <a:latin typeface="+mn-lt"/>
                <a:ea typeface="+mn-ea"/>
                <a:cs typeface="+mn-cs"/>
              </a:rPr>
              <a:t>Experience a set of circumstances</a:t>
            </a:r>
          </a:p>
          <a:p>
            <a:pPr marL="628650" lvl="1" indent="-171450">
              <a:buFont typeface="Arial" pitchFamily="34" charset="0"/>
              <a:buChar char="•"/>
            </a:pPr>
            <a:r>
              <a:rPr lang="en-AU" sz="1200" kern="1200" dirty="0" smtClean="0">
                <a:solidFill>
                  <a:schemeClr val="tx1"/>
                </a:solidFill>
                <a:latin typeface="+mn-lt"/>
                <a:ea typeface="+mn-ea"/>
                <a:cs typeface="+mn-cs"/>
              </a:rPr>
              <a:t>Practice responses to a hypothetical situation</a:t>
            </a:r>
          </a:p>
          <a:p>
            <a:pPr marL="171450" indent="-171450">
              <a:buFont typeface="Arial" pitchFamily="34" charset="0"/>
              <a:buChar char="•"/>
            </a:pPr>
            <a:r>
              <a:rPr lang="en-AU" sz="1200" kern="1200" dirty="0" smtClean="0">
                <a:solidFill>
                  <a:schemeClr val="tx1"/>
                </a:solidFill>
                <a:latin typeface="+mn-lt"/>
                <a:ea typeface="+mn-ea"/>
                <a:cs typeface="+mn-cs"/>
              </a:rPr>
              <a:t>Commonly a de-briefing sessions with discussion/s and informed input from the Tour Guide follows these activities</a:t>
            </a:r>
          </a:p>
          <a:p>
            <a:pPr marL="171450" indent="-171450">
              <a:buFont typeface="Arial" pitchFamily="34" charset="0"/>
              <a:buChar char="•"/>
            </a:pPr>
            <a:r>
              <a:rPr lang="en-AU" sz="1200" kern="1200" dirty="0" smtClean="0">
                <a:solidFill>
                  <a:schemeClr val="tx1"/>
                </a:solidFill>
                <a:latin typeface="+mn-lt"/>
                <a:ea typeface="+mn-ea"/>
                <a:cs typeface="+mn-cs"/>
              </a:rPr>
              <a:t>The role plays may be filmed for inclusion in a video/DVD provided to customers at the end of the tour.</a:t>
            </a:r>
          </a:p>
          <a:p>
            <a:pPr marL="171450" indent="-171450">
              <a:buFont typeface="Arial" pitchFamily="34" charset="0"/>
              <a:buChar char="•"/>
            </a:pPr>
            <a:endParaRPr lang="en-AU" noProof="0" dirty="0" smtClean="0"/>
          </a:p>
          <a:p>
            <a:pPr>
              <a:buFont typeface="Arial" pitchFamily="34" charset="0"/>
              <a:buNone/>
            </a:pPr>
            <a:r>
              <a:rPr lang="en-AU" b="1" noProof="0" dirty="0" smtClean="0"/>
              <a:t>Classroom Activity (1)</a:t>
            </a:r>
            <a:r>
              <a:rPr lang="en-AU" b="1" baseline="0" noProof="0" dirty="0" smtClean="0"/>
              <a:t> </a:t>
            </a:r>
            <a:r>
              <a:rPr lang="en-AU" b="1" noProof="0" dirty="0" smtClean="0"/>
              <a:t>– Internet Research</a:t>
            </a:r>
          </a:p>
          <a:p>
            <a:pPr>
              <a:buFont typeface="Arial" pitchFamily="34" charset="0"/>
              <a:buNone/>
            </a:pPr>
            <a:r>
              <a:rPr lang="en-AU" b="0" noProof="0" dirty="0" smtClean="0"/>
              <a:t>Trainer oversees research of and discussion on sites such as:</a:t>
            </a:r>
          </a:p>
          <a:p>
            <a:r>
              <a:rPr lang="en-AU" sz="1200" b="0" u="sng" kern="1200" dirty="0" smtClean="0">
                <a:solidFill>
                  <a:schemeClr val="tx1"/>
                </a:solidFill>
                <a:latin typeface="+mn-lt"/>
                <a:ea typeface="+mn-ea"/>
                <a:cs typeface="+mn-cs"/>
                <a:hlinkClick r:id="rId3"/>
              </a:rPr>
              <a:t>http://www.nps.gov/idp/interp/103/103mod.pdf</a:t>
            </a:r>
            <a:r>
              <a:rPr lang="en-AU" sz="1200" b="0" kern="1200" dirty="0" smtClean="0">
                <a:solidFill>
                  <a:schemeClr val="tx1"/>
                </a:solidFill>
                <a:latin typeface="+mn-lt"/>
                <a:ea typeface="+mn-ea"/>
                <a:cs typeface="+mn-cs"/>
              </a:rPr>
              <a:t> - Preparing and presenting and interpretive talk (National Parks Service: US Department of the Interior)</a:t>
            </a:r>
            <a:endParaRPr lang="en-AU" sz="1200" b="1" kern="1200" dirty="0" smtClean="0">
              <a:solidFill>
                <a:schemeClr val="tx1"/>
              </a:solidFill>
              <a:latin typeface="+mn-lt"/>
              <a:ea typeface="+mn-ea"/>
              <a:cs typeface="+mn-cs"/>
            </a:endParaRPr>
          </a:p>
          <a:p>
            <a:r>
              <a:rPr lang="en-AU" sz="1200" b="0" u="sng" kern="1200" dirty="0" smtClean="0">
                <a:solidFill>
                  <a:schemeClr val="tx1"/>
                </a:solidFill>
                <a:latin typeface="+mn-lt"/>
                <a:ea typeface="+mn-ea"/>
                <a:cs typeface="+mn-cs"/>
                <a:hlinkClick r:id="rId4"/>
              </a:rPr>
              <a:t>http://www.nps.gov/idp/interp/210/210mod.pdf</a:t>
            </a:r>
            <a:r>
              <a:rPr lang="en-AU" sz="1200" b="0" kern="1200" dirty="0" smtClean="0">
                <a:solidFill>
                  <a:schemeClr val="tx1"/>
                </a:solidFill>
                <a:latin typeface="+mn-lt"/>
                <a:ea typeface="+mn-ea"/>
                <a:cs typeface="+mn-cs"/>
              </a:rPr>
              <a:t> - Prepare and present an effective conducted activity (National Parks Service: US Department of the Interior)</a:t>
            </a:r>
            <a:endParaRPr lang="en-AU" sz="1200" b="1" kern="1200" dirty="0" smtClean="0">
              <a:solidFill>
                <a:schemeClr val="tx1"/>
              </a:solidFill>
              <a:latin typeface="+mn-lt"/>
              <a:ea typeface="+mn-ea"/>
              <a:cs typeface="+mn-cs"/>
            </a:endParaRPr>
          </a:p>
          <a:p>
            <a:r>
              <a:rPr lang="en-AU" sz="1200" b="0" u="sng" kern="1200" dirty="0" smtClean="0">
                <a:solidFill>
                  <a:schemeClr val="tx1"/>
                </a:solidFill>
                <a:latin typeface="+mn-lt"/>
                <a:ea typeface="+mn-ea"/>
                <a:cs typeface="+mn-cs"/>
                <a:hlinkClick r:id="rId5"/>
              </a:rPr>
              <a:t>http://www.nps.gov/idp/interp/220/220mod.pdf</a:t>
            </a:r>
            <a:r>
              <a:rPr lang="en-AU" sz="1200" b="0" kern="1200" dirty="0" smtClean="0">
                <a:solidFill>
                  <a:schemeClr val="tx1"/>
                </a:solidFill>
                <a:latin typeface="+mn-lt"/>
                <a:ea typeface="+mn-ea"/>
                <a:cs typeface="+mn-cs"/>
              </a:rPr>
              <a:t> - Prepare and present an interpretive demonstration or other illustrated program (National Parks Service: US Department of the Interior).</a:t>
            </a:r>
            <a:endParaRPr lang="en-AU" sz="1200" b="1" kern="1200" dirty="0" smtClean="0">
              <a:solidFill>
                <a:schemeClr val="tx1"/>
              </a:solidFill>
              <a:latin typeface="+mn-lt"/>
              <a:ea typeface="+mn-ea"/>
              <a:cs typeface="+mn-cs"/>
            </a:endParaRPr>
          </a:p>
          <a:p>
            <a:pPr>
              <a:buFont typeface="Arial" pitchFamily="34" charset="0"/>
              <a:buNone/>
            </a:pPr>
            <a:endParaRPr lang="en-AU" b="1" noProof="0" dirty="0" smtClean="0"/>
          </a:p>
          <a:p>
            <a:pPr>
              <a:buFont typeface="Arial" pitchFamily="34" charset="0"/>
              <a:buNone/>
            </a:pPr>
            <a:r>
              <a:rPr lang="en-AU" b="1" noProof="0" dirty="0" smtClean="0"/>
              <a:t>Classroom Activity (2)</a:t>
            </a:r>
            <a:r>
              <a:rPr lang="en-AU" b="1" baseline="0" noProof="0" dirty="0" smtClean="0"/>
              <a:t> </a:t>
            </a:r>
            <a:r>
              <a:rPr lang="en-AU" b="1" noProof="0" dirty="0" smtClean="0"/>
              <a:t>– Demonstration and Practical</a:t>
            </a:r>
          </a:p>
          <a:p>
            <a:pPr>
              <a:buFont typeface="Arial" pitchFamily="34" charset="0"/>
              <a:buNone/>
            </a:pPr>
            <a:r>
              <a:rPr lang="en-AU" b="0" noProof="0" dirty="0" smtClean="0"/>
              <a:t>Trainer demonstrates the interpretive presentation technique identified on the slide (or arranges for an experienced Tour Guide to do so) and then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340155307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using/application of interpretive presentation techniques</a:t>
            </a:r>
          </a:p>
          <a:p>
            <a:r>
              <a:rPr lang="en-AU" sz="1200" b="1" kern="1200" dirty="0" smtClean="0">
                <a:solidFill>
                  <a:schemeClr val="tx1"/>
                </a:solidFill>
                <a:latin typeface="+mn-lt"/>
                <a:ea typeface="+mn-ea"/>
                <a:cs typeface="+mn-cs"/>
              </a:rPr>
              <a:t>Voice techniques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Different voice techniques:</a:t>
            </a:r>
          </a:p>
          <a:p>
            <a:pPr marL="171450" indent="-171450">
              <a:buFont typeface="Arial" pitchFamily="34" charset="0"/>
              <a:buChar char="•"/>
            </a:pPr>
            <a:r>
              <a:rPr lang="en-AU" sz="1200" kern="1200" dirty="0" smtClean="0">
                <a:solidFill>
                  <a:schemeClr val="tx1"/>
                </a:solidFill>
                <a:latin typeface="+mn-lt"/>
                <a:ea typeface="+mn-ea"/>
                <a:cs typeface="+mn-cs"/>
              </a:rPr>
              <a:t>Will add interest to the tour and to a commentary</a:t>
            </a:r>
          </a:p>
          <a:p>
            <a:pPr marL="171450" indent="-171450">
              <a:buFont typeface="Arial" pitchFamily="34" charset="0"/>
              <a:buChar char="•"/>
            </a:pPr>
            <a:r>
              <a:rPr lang="en-AU" sz="1200" kern="1200" dirty="0" smtClean="0">
                <a:solidFill>
                  <a:schemeClr val="tx1"/>
                </a:solidFill>
                <a:latin typeface="+mn-lt"/>
                <a:ea typeface="+mn-ea"/>
                <a:cs typeface="+mn-cs"/>
              </a:rPr>
              <a:t>They include:</a:t>
            </a:r>
          </a:p>
          <a:p>
            <a:pPr marL="628650" lvl="1" indent="-171450">
              <a:buFont typeface="Arial" pitchFamily="34" charset="0"/>
              <a:buChar char="•"/>
            </a:pPr>
            <a:r>
              <a:rPr lang="en-AU" sz="1200" kern="1200" dirty="0" smtClean="0">
                <a:solidFill>
                  <a:schemeClr val="tx1"/>
                </a:solidFill>
                <a:latin typeface="+mn-lt"/>
                <a:ea typeface="+mn-ea"/>
                <a:cs typeface="+mn-cs"/>
              </a:rPr>
              <a:t>Speaking faster or slower</a:t>
            </a:r>
          </a:p>
          <a:p>
            <a:pPr marL="628650" lvl="1" indent="-171450">
              <a:buFont typeface="Arial" pitchFamily="34" charset="0"/>
              <a:buChar char="•"/>
            </a:pPr>
            <a:r>
              <a:rPr lang="en-AU" sz="1200" kern="1200" dirty="0" smtClean="0">
                <a:solidFill>
                  <a:schemeClr val="tx1"/>
                </a:solidFill>
                <a:latin typeface="+mn-lt"/>
                <a:ea typeface="+mn-ea"/>
                <a:cs typeface="+mn-cs"/>
              </a:rPr>
              <a:t>Pausing/stopping and allowing silence/a pause in the commentary</a:t>
            </a:r>
          </a:p>
          <a:p>
            <a:pPr marL="628650" lvl="1" indent="-171450">
              <a:buFont typeface="Arial" pitchFamily="34" charset="0"/>
              <a:buChar char="•"/>
            </a:pPr>
            <a:r>
              <a:rPr lang="en-AU" sz="1200" kern="1200" dirty="0" smtClean="0">
                <a:solidFill>
                  <a:schemeClr val="tx1"/>
                </a:solidFill>
                <a:latin typeface="+mn-lt"/>
                <a:ea typeface="+mn-ea"/>
                <a:cs typeface="+mn-cs"/>
              </a:rPr>
              <a:t>Speaking louder/shouting or speaking more quietly/whispering</a:t>
            </a:r>
          </a:p>
          <a:p>
            <a:pPr marL="171450" indent="-171450">
              <a:buFont typeface="Arial" pitchFamily="34" charset="0"/>
              <a:buChar char="•"/>
            </a:pPr>
            <a:r>
              <a:rPr lang="en-AU" sz="1200" kern="1200" dirty="0" smtClean="0">
                <a:solidFill>
                  <a:schemeClr val="tx1"/>
                </a:solidFill>
                <a:latin typeface="+mn-lt"/>
                <a:ea typeface="+mn-ea"/>
                <a:cs typeface="+mn-cs"/>
              </a:rPr>
              <a:t>Voice techniques can also include:</a:t>
            </a:r>
          </a:p>
          <a:p>
            <a:pPr marL="628650" lvl="1" indent="-171450">
              <a:buFont typeface="Arial" pitchFamily="34" charset="0"/>
              <a:buChar char="•"/>
            </a:pPr>
            <a:r>
              <a:rPr lang="en-AU" sz="1200" kern="1200" dirty="0" smtClean="0">
                <a:solidFill>
                  <a:schemeClr val="tx1"/>
                </a:solidFill>
                <a:latin typeface="+mn-lt"/>
                <a:ea typeface="+mn-ea"/>
                <a:cs typeface="+mn-cs"/>
              </a:rPr>
              <a:t>Putting a Tour Guide ’in character’ when discussing a certain person/individual</a:t>
            </a:r>
          </a:p>
          <a:p>
            <a:pPr marL="628650" lvl="1" indent="-171450">
              <a:buFont typeface="Arial" pitchFamily="34" charset="0"/>
              <a:buChar char="•"/>
            </a:pPr>
            <a:r>
              <a:rPr lang="en-AU" sz="1200" kern="1200" dirty="0" smtClean="0">
                <a:solidFill>
                  <a:schemeClr val="tx1"/>
                </a:solidFill>
                <a:latin typeface="+mn-lt"/>
                <a:ea typeface="+mn-ea"/>
                <a:cs typeface="+mn-cs"/>
              </a:rPr>
              <a:t>Using local names, terms and pronunciations </a:t>
            </a:r>
          </a:p>
          <a:p>
            <a:pPr marL="628650" lvl="1" indent="-171450">
              <a:buFont typeface="Arial" pitchFamily="34" charset="0"/>
              <a:buChar char="•"/>
            </a:pPr>
            <a:r>
              <a:rPr lang="en-AU" sz="1200" kern="1200" dirty="0" smtClean="0">
                <a:solidFill>
                  <a:schemeClr val="tx1"/>
                </a:solidFill>
                <a:latin typeface="+mn-lt"/>
                <a:ea typeface="+mn-ea"/>
                <a:cs typeface="+mn-cs"/>
              </a:rPr>
              <a:t>Using local dialects and accents.</a:t>
            </a:r>
          </a:p>
          <a:p>
            <a:pPr>
              <a:buFont typeface="Arial" pitchFamily="34" charset="0"/>
              <a:buChar char="•"/>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the interpretive presentation technique identified on the slide (or arranges for an experienced Tour Guide to do so) and then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98763361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using/application of interpretive presentation techniques</a:t>
            </a:r>
          </a:p>
          <a:p>
            <a:r>
              <a:rPr lang="en-AU" sz="1200" b="1" kern="1200" dirty="0" smtClean="0">
                <a:solidFill>
                  <a:schemeClr val="tx1"/>
                </a:solidFill>
                <a:latin typeface="+mn-lt"/>
                <a:ea typeface="+mn-ea"/>
                <a:cs typeface="+mn-cs"/>
              </a:rPr>
              <a:t>Story-telling</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Story-telling:</a:t>
            </a:r>
          </a:p>
          <a:p>
            <a:pPr marL="171450" indent="-171450">
              <a:buFont typeface="Arial" pitchFamily="34" charset="0"/>
              <a:buChar char="•"/>
            </a:pPr>
            <a:r>
              <a:rPr lang="en-AU" sz="1200" kern="1200" dirty="0" smtClean="0">
                <a:solidFill>
                  <a:schemeClr val="tx1"/>
                </a:solidFill>
                <a:latin typeface="+mn-lt"/>
                <a:ea typeface="+mn-ea"/>
                <a:cs typeface="+mn-cs"/>
              </a:rPr>
              <a:t>Can be used to:</a:t>
            </a:r>
          </a:p>
          <a:p>
            <a:pPr marL="628650" lvl="1" indent="-171450">
              <a:buFont typeface="Arial" pitchFamily="34" charset="0"/>
              <a:buChar char="•"/>
            </a:pPr>
            <a:r>
              <a:rPr lang="en-AU" sz="1200" kern="1200" dirty="0" smtClean="0">
                <a:solidFill>
                  <a:schemeClr val="tx1"/>
                </a:solidFill>
                <a:latin typeface="+mn-lt"/>
                <a:ea typeface="+mn-ea"/>
                <a:cs typeface="+mn-cs"/>
              </a:rPr>
              <a:t>Illustrate a point or make a point</a:t>
            </a:r>
          </a:p>
          <a:p>
            <a:pPr marL="628650" lvl="1" indent="-171450">
              <a:buFont typeface="Arial" pitchFamily="34" charset="0"/>
              <a:buChar char="•"/>
            </a:pPr>
            <a:r>
              <a:rPr lang="en-AU" sz="1200" kern="1200" dirty="0" smtClean="0">
                <a:solidFill>
                  <a:schemeClr val="tx1"/>
                </a:solidFill>
                <a:latin typeface="+mn-lt"/>
                <a:ea typeface="+mn-ea"/>
                <a:cs typeface="+mn-cs"/>
              </a:rPr>
              <a:t>Contribute personal anecdotes</a:t>
            </a:r>
          </a:p>
          <a:p>
            <a:pPr marL="628650" lvl="1" indent="-171450">
              <a:buFont typeface="Arial" pitchFamily="34" charset="0"/>
              <a:buChar char="•"/>
            </a:pPr>
            <a:r>
              <a:rPr lang="en-AU" sz="1200" kern="1200" dirty="0" smtClean="0">
                <a:solidFill>
                  <a:schemeClr val="tx1"/>
                </a:solidFill>
                <a:latin typeface="+mn-lt"/>
                <a:ea typeface="+mn-ea"/>
                <a:cs typeface="+mn-cs"/>
              </a:rPr>
              <a:t>Pass on a myth or legend</a:t>
            </a:r>
          </a:p>
          <a:p>
            <a:pPr marL="628650" lvl="1" indent="-171450">
              <a:buFont typeface="Arial" pitchFamily="34" charset="0"/>
              <a:buChar char="•"/>
            </a:pPr>
            <a:r>
              <a:rPr lang="en-AU" sz="1200" kern="1200" dirty="0" smtClean="0">
                <a:solidFill>
                  <a:schemeClr val="tx1"/>
                </a:solidFill>
                <a:latin typeface="+mn-lt"/>
                <a:ea typeface="+mn-ea"/>
                <a:cs typeface="+mn-cs"/>
              </a:rPr>
              <a:t>Add interest and diversity. </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the interpretive presentation technique identified on the slide (or arranges for an experienced Tour Guide to do so) and then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23807864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using/application of interpretive presentation techniques</a:t>
            </a:r>
          </a:p>
          <a:p>
            <a:r>
              <a:rPr lang="en-AU" sz="1200" b="1" kern="1200" dirty="0" smtClean="0">
                <a:solidFill>
                  <a:schemeClr val="tx1"/>
                </a:solidFill>
                <a:latin typeface="+mn-lt"/>
                <a:ea typeface="+mn-ea"/>
                <a:cs typeface="+mn-cs"/>
              </a:rPr>
              <a:t>Games and activities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Games (which can include playing sport/s):</a:t>
            </a:r>
          </a:p>
          <a:p>
            <a:pPr marL="171450" indent="-171450">
              <a:buFont typeface="Arial" pitchFamily="34" charset="0"/>
              <a:buChar char="•"/>
            </a:pPr>
            <a:r>
              <a:rPr lang="en-AU" sz="1200" kern="1200" dirty="0" smtClean="0">
                <a:solidFill>
                  <a:schemeClr val="tx1"/>
                </a:solidFill>
                <a:latin typeface="+mn-lt"/>
                <a:ea typeface="+mn-ea"/>
                <a:cs typeface="+mn-cs"/>
              </a:rPr>
              <a:t>Feature tour group member participation and as a result of their engagement they:</a:t>
            </a:r>
          </a:p>
          <a:p>
            <a:pPr marL="628650" lvl="1" indent="-171450">
              <a:buFont typeface="Arial" pitchFamily="34" charset="0"/>
              <a:buChar char="•"/>
            </a:pPr>
            <a:r>
              <a:rPr lang="en-AU" sz="1200" kern="1200" dirty="0" smtClean="0">
                <a:solidFill>
                  <a:schemeClr val="tx1"/>
                </a:solidFill>
                <a:latin typeface="+mn-lt"/>
                <a:ea typeface="+mn-ea"/>
                <a:cs typeface="+mn-cs"/>
              </a:rPr>
              <a:t>Have fun</a:t>
            </a:r>
          </a:p>
          <a:p>
            <a:pPr marL="628650" lvl="1" indent="-171450">
              <a:buFont typeface="Arial" pitchFamily="34" charset="0"/>
              <a:buChar char="•"/>
            </a:pPr>
            <a:r>
              <a:rPr lang="en-AU" sz="1200" kern="1200" dirty="0" smtClean="0">
                <a:solidFill>
                  <a:schemeClr val="tx1"/>
                </a:solidFill>
                <a:latin typeface="+mn-lt"/>
                <a:ea typeface="+mn-ea"/>
                <a:cs typeface="+mn-cs"/>
              </a:rPr>
              <a:t>Learn something </a:t>
            </a:r>
          </a:p>
          <a:p>
            <a:pPr marL="628650" lvl="1" indent="-171450">
              <a:buFont typeface="Arial" pitchFamily="34" charset="0"/>
              <a:buChar char="•"/>
            </a:pPr>
            <a:r>
              <a:rPr lang="en-AU" sz="1200" kern="1200" dirty="0" smtClean="0">
                <a:solidFill>
                  <a:schemeClr val="tx1"/>
                </a:solidFill>
                <a:latin typeface="+mn-lt"/>
                <a:ea typeface="+mn-ea"/>
                <a:cs typeface="+mn-cs"/>
              </a:rPr>
              <a:t>Experience something new.</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the interpretive presentation technique identified on the slide (or arranges for an experienced Tour Guide to do so) and then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282447074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using/application of interpretive presentation techniques</a:t>
            </a:r>
          </a:p>
          <a:p>
            <a:r>
              <a:rPr lang="en-AU" sz="1200" b="1" kern="1200" dirty="0" smtClean="0">
                <a:solidFill>
                  <a:schemeClr val="tx1"/>
                </a:solidFill>
                <a:latin typeface="+mn-lt"/>
                <a:ea typeface="+mn-ea"/>
                <a:cs typeface="+mn-cs"/>
              </a:rPr>
              <a:t>Demonstrations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These are popular interpretive activities. They may:</a:t>
            </a:r>
          </a:p>
          <a:p>
            <a:pPr marL="171450" indent="-171450">
              <a:buFont typeface="Arial" pitchFamily="34" charset="0"/>
              <a:buChar char="•"/>
            </a:pPr>
            <a:r>
              <a:rPr lang="en-AU" sz="1200" kern="1200" dirty="0" smtClean="0">
                <a:solidFill>
                  <a:schemeClr val="tx1"/>
                </a:solidFill>
                <a:latin typeface="+mn-lt"/>
                <a:ea typeface="+mn-ea"/>
                <a:cs typeface="+mn-cs"/>
              </a:rPr>
              <a:t>Be straight-forward demonstrations – where a skill is demonstrated to the group, and the group do not participate apart from observing</a:t>
            </a:r>
          </a:p>
          <a:p>
            <a:pPr marL="171450" indent="-171450">
              <a:buFont typeface="Arial" pitchFamily="34" charset="0"/>
              <a:buChar char="•"/>
            </a:pPr>
            <a:r>
              <a:rPr lang="en-AU" sz="1200" kern="1200" dirty="0" smtClean="0">
                <a:solidFill>
                  <a:schemeClr val="tx1"/>
                </a:solidFill>
                <a:latin typeface="+mn-lt"/>
                <a:ea typeface="+mn-ea"/>
                <a:cs typeface="+mn-cs"/>
              </a:rPr>
              <a:t>Feature group action – where the tour group practices the skills being demonstrated</a:t>
            </a:r>
          </a:p>
          <a:p>
            <a:pPr marL="171450" indent="-171450">
              <a:buFont typeface="Arial" pitchFamily="34" charset="0"/>
              <a:buChar char="•"/>
            </a:pPr>
            <a:r>
              <a:rPr lang="en-AU" sz="1200" kern="1200" dirty="0" smtClean="0">
                <a:solidFill>
                  <a:schemeClr val="tx1"/>
                </a:solidFill>
                <a:latin typeface="+mn-lt"/>
                <a:ea typeface="+mn-ea"/>
                <a:cs typeface="+mn-cs"/>
              </a:rPr>
              <a:t>Include descriptions/commentary as part of the demonstration</a:t>
            </a:r>
          </a:p>
          <a:p>
            <a:pPr marL="171450" indent="-171450">
              <a:buFont typeface="Arial" pitchFamily="34" charset="0"/>
              <a:buChar char="•"/>
            </a:pPr>
            <a:r>
              <a:rPr lang="en-AU" sz="1200" kern="1200" dirty="0" smtClean="0">
                <a:solidFill>
                  <a:schemeClr val="tx1"/>
                </a:solidFill>
                <a:latin typeface="+mn-lt"/>
                <a:ea typeface="+mn-ea"/>
                <a:cs typeface="+mn-cs"/>
              </a:rPr>
              <a:t>Precede an activity where tour group members have to perform a skill.</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the interpretive presentation technique identified on the slide (or arranges for an experienced Tour Guide to do so) and then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163233726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using/application of interpretive presentation techniques</a:t>
            </a:r>
          </a:p>
          <a:p>
            <a:r>
              <a:rPr lang="en-AU" sz="1200" b="1" kern="1200" dirty="0" smtClean="0">
                <a:solidFill>
                  <a:schemeClr val="tx1"/>
                </a:solidFill>
                <a:latin typeface="+mn-lt"/>
                <a:ea typeface="+mn-ea"/>
                <a:cs typeface="+mn-cs"/>
              </a:rPr>
              <a:t>Participant interaction</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Participant interaction:</a:t>
            </a:r>
          </a:p>
          <a:p>
            <a:pPr marL="171450" indent="-171450">
              <a:buFont typeface="Arial" pitchFamily="34" charset="0"/>
              <a:buChar char="•"/>
            </a:pPr>
            <a:r>
              <a:rPr lang="en-AU" sz="1200" kern="1200" dirty="0" smtClean="0">
                <a:solidFill>
                  <a:schemeClr val="tx1"/>
                </a:solidFill>
                <a:latin typeface="+mn-lt"/>
                <a:ea typeface="+mn-ea"/>
                <a:cs typeface="+mn-cs"/>
              </a:rPr>
              <a:t>Features activities where members of the tour group:</a:t>
            </a:r>
          </a:p>
          <a:p>
            <a:pPr marL="628650" lvl="1" indent="-171450">
              <a:buFont typeface="Arial" pitchFamily="34" charset="0"/>
              <a:buChar char="•"/>
            </a:pPr>
            <a:r>
              <a:rPr lang="en-AU" sz="1200" kern="1200" dirty="0" smtClean="0">
                <a:solidFill>
                  <a:schemeClr val="tx1"/>
                </a:solidFill>
                <a:latin typeface="+mn-lt"/>
                <a:ea typeface="+mn-ea"/>
                <a:cs typeface="+mn-cs"/>
              </a:rPr>
              <a:t>Interact with each other</a:t>
            </a:r>
          </a:p>
          <a:p>
            <a:pPr marL="628650" lvl="1" indent="-171450">
              <a:buFont typeface="Arial" pitchFamily="34" charset="0"/>
              <a:buChar char="•"/>
            </a:pPr>
            <a:r>
              <a:rPr lang="en-AU" sz="1200" kern="1200" dirty="0" smtClean="0">
                <a:solidFill>
                  <a:schemeClr val="tx1"/>
                </a:solidFill>
                <a:latin typeface="+mn-lt"/>
                <a:ea typeface="+mn-ea"/>
                <a:cs typeface="+mn-cs"/>
              </a:rPr>
              <a:t>Interact with members of a community</a:t>
            </a:r>
          </a:p>
          <a:p>
            <a:pPr marL="628650" lvl="1" indent="-171450">
              <a:buFont typeface="Arial" pitchFamily="34" charset="0"/>
              <a:buChar char="•"/>
            </a:pPr>
            <a:r>
              <a:rPr lang="en-AU" sz="1200" kern="1200" dirty="0" smtClean="0">
                <a:solidFill>
                  <a:schemeClr val="tx1"/>
                </a:solidFill>
                <a:latin typeface="+mn-lt"/>
                <a:ea typeface="+mn-ea"/>
                <a:cs typeface="+mn-cs"/>
              </a:rPr>
              <a:t>Interact with the environment, situation or location</a:t>
            </a:r>
          </a:p>
          <a:p>
            <a:pPr marL="171450" indent="-171450">
              <a:buFont typeface="Arial" pitchFamily="34" charset="0"/>
              <a:buChar char="•"/>
            </a:pPr>
            <a:r>
              <a:rPr lang="en-AU" sz="1200" kern="1200" dirty="0" smtClean="0">
                <a:solidFill>
                  <a:schemeClr val="tx1"/>
                </a:solidFill>
                <a:latin typeface="+mn-lt"/>
                <a:ea typeface="+mn-ea"/>
                <a:cs typeface="+mn-cs"/>
              </a:rPr>
              <a:t>A de-briefing and discussion session usually follows the activities so participants can compare experiences and share experiences</a:t>
            </a:r>
          </a:p>
          <a:p>
            <a:pPr marL="171450" indent="-171450">
              <a:buFont typeface="Arial" pitchFamily="34" charset="0"/>
              <a:buChar char="•"/>
            </a:pPr>
            <a:r>
              <a:rPr lang="en-AU" sz="1200" kern="1200" dirty="0" smtClean="0">
                <a:solidFill>
                  <a:schemeClr val="tx1"/>
                </a:solidFill>
                <a:latin typeface="+mn-lt"/>
                <a:ea typeface="+mn-ea"/>
                <a:cs typeface="+mn-cs"/>
              </a:rPr>
              <a:t>This activity may also be filmed/taped or photographed for inclusion in an end-of-tour DVD/video or set of photos. </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the interpretive presentation technique identified on the slide (or arranges for an experienced Tour Guide to do so) and then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429357774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using/application of interpretive presentation techniques</a:t>
            </a:r>
          </a:p>
          <a:p>
            <a:r>
              <a:rPr lang="en-AU" sz="1200" b="1" kern="1200" dirty="0" smtClean="0">
                <a:solidFill>
                  <a:schemeClr val="tx1"/>
                </a:solidFill>
                <a:latin typeface="+mn-lt"/>
                <a:ea typeface="+mn-ea"/>
                <a:cs typeface="+mn-cs"/>
              </a:rPr>
              <a:t>Sensory awareness exercises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These are exercises where people are able to (for example):</a:t>
            </a:r>
          </a:p>
          <a:p>
            <a:pPr marL="628650" lvl="1" indent="-171450">
              <a:buFont typeface="Arial" pitchFamily="34" charset="0"/>
              <a:buChar char="•"/>
            </a:pPr>
            <a:r>
              <a:rPr lang="en-AU" sz="1200" kern="1200" dirty="0" smtClean="0">
                <a:solidFill>
                  <a:schemeClr val="tx1"/>
                </a:solidFill>
                <a:latin typeface="+mn-lt"/>
                <a:ea typeface="+mn-ea"/>
                <a:cs typeface="+mn-cs"/>
              </a:rPr>
              <a:t>Smell ‘the roses’ or the coffee, or other items relevant to the theme of the tour</a:t>
            </a:r>
          </a:p>
          <a:p>
            <a:pPr marL="628650" lvl="1" indent="-171450">
              <a:buFont typeface="Arial" pitchFamily="34" charset="0"/>
              <a:buChar char="•"/>
            </a:pPr>
            <a:r>
              <a:rPr lang="en-AU" sz="1200" kern="1200" dirty="0" smtClean="0">
                <a:solidFill>
                  <a:schemeClr val="tx1"/>
                </a:solidFill>
                <a:latin typeface="+mn-lt"/>
                <a:ea typeface="+mn-ea"/>
                <a:cs typeface="+mn-cs"/>
              </a:rPr>
              <a:t>Taste food and beverages</a:t>
            </a:r>
          </a:p>
          <a:p>
            <a:pPr marL="628650" lvl="1" indent="-171450">
              <a:buFont typeface="Arial" pitchFamily="34" charset="0"/>
              <a:buChar char="•"/>
            </a:pPr>
            <a:r>
              <a:rPr lang="en-AU" sz="1200" kern="1200" dirty="0" smtClean="0">
                <a:solidFill>
                  <a:schemeClr val="tx1"/>
                </a:solidFill>
                <a:latin typeface="+mn-lt"/>
                <a:ea typeface="+mn-ea"/>
                <a:cs typeface="+mn-cs"/>
              </a:rPr>
              <a:t>Feel textures, temperatures and weights</a:t>
            </a:r>
          </a:p>
          <a:p>
            <a:pPr marL="171450" lvl="0" indent="-171450">
              <a:buFont typeface="Arial" pitchFamily="34" charset="0"/>
              <a:buChar char="•"/>
            </a:pPr>
            <a:r>
              <a:rPr lang="en-AU" sz="1200" kern="1200" dirty="0" smtClean="0">
                <a:solidFill>
                  <a:schemeClr val="tx1"/>
                </a:solidFill>
                <a:latin typeface="+mn-lt"/>
                <a:ea typeface="+mn-ea"/>
                <a:cs typeface="+mn-cs"/>
              </a:rPr>
              <a:t>Discussions, analysis and personal comparisons and thoughts may accompany the experience or participants may be encouraged to experience the exercise in solitude and reflect on their own orientations.</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the interpretive presentation technique identified on the slide (or arranges for an experienced Tour Guide to do so) and then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186371765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using/application of interpretive presentation techniques</a:t>
            </a:r>
          </a:p>
          <a:p>
            <a:r>
              <a:rPr lang="en-AU" sz="1200" b="1" kern="1200" dirty="0" smtClean="0">
                <a:solidFill>
                  <a:schemeClr val="tx1"/>
                </a:solidFill>
                <a:latin typeface="+mn-lt"/>
                <a:ea typeface="+mn-ea"/>
                <a:cs typeface="+mn-cs"/>
              </a:rPr>
              <a:t>Use of materials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use of materials:</a:t>
            </a:r>
          </a:p>
          <a:p>
            <a:pPr marL="171450" indent="-171450">
              <a:buFont typeface="Arial" pitchFamily="34" charset="0"/>
              <a:buChar char="•"/>
            </a:pPr>
            <a:r>
              <a:rPr lang="en-AU" sz="1200" kern="1200" dirty="0" smtClean="0">
                <a:solidFill>
                  <a:schemeClr val="tx1"/>
                </a:solidFill>
                <a:latin typeface="+mn-lt"/>
                <a:ea typeface="+mn-ea"/>
                <a:cs typeface="+mn-cs"/>
              </a:rPr>
              <a:t>Is a commonly applied interpretive activity to enhance illustration and experiences</a:t>
            </a:r>
          </a:p>
          <a:p>
            <a:pPr marL="171450" indent="-171450">
              <a:buFont typeface="Arial" pitchFamily="34" charset="0"/>
              <a:buChar char="•"/>
            </a:pPr>
            <a:r>
              <a:rPr lang="en-AU" sz="1200" kern="1200" dirty="0" smtClean="0">
                <a:solidFill>
                  <a:schemeClr val="tx1"/>
                </a:solidFill>
                <a:latin typeface="+mn-lt"/>
                <a:ea typeface="+mn-ea"/>
                <a:cs typeface="+mn-cs"/>
              </a:rPr>
              <a:t>Materials may feature the use of:</a:t>
            </a:r>
          </a:p>
          <a:p>
            <a:pPr marL="628650" lvl="1" indent="-171450">
              <a:buFont typeface="Arial" pitchFamily="34" charset="0"/>
              <a:buChar char="•"/>
            </a:pPr>
            <a:r>
              <a:rPr lang="en-AU" sz="1200" kern="1200" dirty="0" smtClean="0">
                <a:solidFill>
                  <a:schemeClr val="tx1"/>
                </a:solidFill>
                <a:latin typeface="+mn-lt"/>
                <a:ea typeface="+mn-ea"/>
                <a:cs typeface="+mn-cs"/>
              </a:rPr>
              <a:t>Local product/s</a:t>
            </a:r>
          </a:p>
          <a:p>
            <a:pPr marL="628650" lvl="1" indent="-171450">
              <a:buFont typeface="Arial" pitchFamily="34" charset="0"/>
              <a:buChar char="•"/>
            </a:pPr>
            <a:r>
              <a:rPr lang="en-AU" sz="1200" kern="1200" dirty="0" smtClean="0">
                <a:solidFill>
                  <a:schemeClr val="tx1"/>
                </a:solidFill>
                <a:latin typeface="+mn-lt"/>
                <a:ea typeface="+mn-ea"/>
                <a:cs typeface="+mn-cs"/>
              </a:rPr>
              <a:t>Visual aids </a:t>
            </a:r>
          </a:p>
          <a:p>
            <a:pPr marL="628650" lvl="1" indent="-171450">
              <a:buFont typeface="Arial" pitchFamily="34" charset="0"/>
              <a:buChar char="•"/>
            </a:pPr>
            <a:r>
              <a:rPr lang="en-AU" sz="1200" kern="1200" dirty="0" smtClean="0">
                <a:solidFill>
                  <a:schemeClr val="tx1"/>
                </a:solidFill>
                <a:latin typeface="+mn-lt"/>
                <a:ea typeface="+mn-ea"/>
                <a:cs typeface="+mn-cs"/>
              </a:rPr>
              <a:t>Support materials </a:t>
            </a:r>
          </a:p>
          <a:p>
            <a:pPr marL="628650" lvl="1" indent="-171450">
              <a:buFont typeface="Arial" pitchFamily="34" charset="0"/>
              <a:buChar char="•"/>
            </a:pPr>
            <a:r>
              <a:rPr lang="en-AU" sz="1200" kern="1200" dirty="0" smtClean="0">
                <a:solidFill>
                  <a:schemeClr val="tx1"/>
                </a:solidFill>
                <a:latin typeface="+mn-lt"/>
                <a:ea typeface="+mn-ea"/>
                <a:cs typeface="+mn-cs"/>
              </a:rPr>
              <a:t>Props/prop kits.</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the interpretive presentation technique identified on the slide (or arranges for an experienced Tour Guide to do so) and then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405773622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discusses using/application of interpretive presentation techniques</a:t>
            </a:r>
          </a:p>
          <a:p>
            <a:r>
              <a:rPr lang="en-AU" sz="1200" b="1" kern="1200" dirty="0" smtClean="0">
                <a:solidFill>
                  <a:schemeClr val="tx1"/>
                </a:solidFill>
                <a:latin typeface="+mn-lt"/>
                <a:ea typeface="+mn-ea"/>
                <a:cs typeface="+mn-cs"/>
              </a:rPr>
              <a:t>Use of technologies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Use of technology to assist with delivery:</a:t>
            </a:r>
          </a:p>
          <a:p>
            <a:pPr marL="171450" indent="-171450">
              <a:buFont typeface="Arial" pitchFamily="34" charset="0"/>
              <a:buChar char="•"/>
            </a:pPr>
            <a:r>
              <a:rPr lang="en-AU" sz="1200" kern="1200" dirty="0" smtClean="0">
                <a:solidFill>
                  <a:schemeClr val="tx1"/>
                </a:solidFill>
                <a:latin typeface="+mn-lt"/>
                <a:ea typeface="+mn-ea"/>
                <a:cs typeface="+mn-cs"/>
              </a:rPr>
              <a:t>Is increasingly common in all tour types and with nearly all tour activities</a:t>
            </a:r>
          </a:p>
          <a:p>
            <a:pPr marL="171450" indent="-171450">
              <a:buFont typeface="Arial" pitchFamily="34" charset="0"/>
              <a:buChar char="•"/>
            </a:pPr>
            <a:r>
              <a:rPr lang="en-AU" sz="1200" kern="1200" dirty="0" smtClean="0">
                <a:solidFill>
                  <a:schemeClr val="tx1"/>
                </a:solidFill>
                <a:latin typeface="+mn-lt"/>
                <a:ea typeface="+mn-ea"/>
                <a:cs typeface="+mn-cs"/>
              </a:rPr>
              <a:t>It may require/include:</a:t>
            </a:r>
          </a:p>
          <a:p>
            <a:pPr marL="628650" lvl="1" indent="-171450">
              <a:buFont typeface="Arial" pitchFamily="34" charset="0"/>
              <a:buChar char="•"/>
            </a:pPr>
            <a:r>
              <a:rPr lang="en-AU" sz="1200" kern="1200" dirty="0" smtClean="0">
                <a:solidFill>
                  <a:schemeClr val="tx1"/>
                </a:solidFill>
                <a:latin typeface="+mn-lt"/>
                <a:ea typeface="+mn-ea"/>
                <a:cs typeface="+mn-cs"/>
              </a:rPr>
              <a:t>Audio-visual equipment </a:t>
            </a:r>
          </a:p>
          <a:p>
            <a:pPr marL="628650" lvl="1" indent="-171450">
              <a:buFont typeface="Arial" pitchFamily="34" charset="0"/>
              <a:buChar char="•"/>
            </a:pPr>
            <a:r>
              <a:rPr lang="en-AU" sz="1200" kern="1200" dirty="0" smtClean="0">
                <a:solidFill>
                  <a:schemeClr val="tx1"/>
                </a:solidFill>
                <a:latin typeface="+mn-lt"/>
                <a:ea typeface="+mn-ea"/>
                <a:cs typeface="+mn-cs"/>
              </a:rPr>
              <a:t>Sound and lighting technologies</a:t>
            </a:r>
          </a:p>
          <a:p>
            <a:pPr marL="628650" lvl="1" indent="-171450">
              <a:buFont typeface="Arial" pitchFamily="34" charset="0"/>
              <a:buChar char="•"/>
            </a:pPr>
            <a:r>
              <a:rPr lang="en-AU" sz="1200" kern="1200" dirty="0" smtClean="0">
                <a:solidFill>
                  <a:schemeClr val="tx1"/>
                </a:solidFill>
                <a:latin typeface="+mn-lt"/>
                <a:ea typeface="+mn-ea"/>
                <a:cs typeface="+mn-cs"/>
              </a:rPr>
              <a:t>Systems and equipment designed to optimise safety and/or comfort.</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the interpretive presentation technique identified on the slide (or arranges for an experienced Tour Guide to do so) and then provides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66246310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informs ways </a:t>
            </a:r>
            <a:r>
              <a:rPr lang="en-AU" sz="1200" kern="1200" dirty="0" smtClean="0">
                <a:solidFill>
                  <a:schemeClr val="tx1"/>
                </a:solidFill>
                <a:latin typeface="+mn-lt"/>
                <a:ea typeface="+mn-ea"/>
                <a:cs typeface="+mn-cs"/>
              </a:rPr>
              <a:t>to optimise the interpretive activity experience for individuals can be:</a:t>
            </a:r>
          </a:p>
          <a:p>
            <a:pPr marL="171450" indent="-171450">
              <a:buFont typeface="Arial" pitchFamily="34" charset="0"/>
              <a:buChar char="•"/>
            </a:pPr>
            <a:r>
              <a:rPr lang="en-AU" sz="1200" kern="1200" dirty="0" smtClean="0">
                <a:solidFill>
                  <a:schemeClr val="tx1"/>
                </a:solidFill>
                <a:latin typeface="+mn-lt"/>
                <a:ea typeface="+mn-ea"/>
                <a:cs typeface="+mn-cs"/>
              </a:rPr>
              <a:t>Using humour when talking with people – most tours or activities contain an element of fun and the use of appropriate humour at appropriate times can set the scene for fun and actually impart fun and enjoyment as part of the experience</a:t>
            </a:r>
          </a:p>
          <a:p>
            <a:pPr marL="171450" indent="-171450">
              <a:buFont typeface="Arial" pitchFamily="34" charset="0"/>
              <a:buChar char="•"/>
            </a:pPr>
            <a:r>
              <a:rPr lang="en-AU" sz="1200" kern="1200" dirty="0" smtClean="0">
                <a:solidFill>
                  <a:schemeClr val="tx1"/>
                </a:solidFill>
                <a:latin typeface="+mn-lt"/>
                <a:ea typeface="+mn-ea"/>
                <a:cs typeface="+mn-cs"/>
              </a:rPr>
              <a:t>Checking on people’s welfare – by:</a:t>
            </a:r>
          </a:p>
          <a:p>
            <a:pPr marL="628650" lvl="1" indent="-171450">
              <a:buFont typeface="Arial" pitchFamily="34" charset="0"/>
              <a:buChar char="•"/>
            </a:pPr>
            <a:r>
              <a:rPr lang="en-US" sz="1200" kern="1200" dirty="0" smtClean="0">
                <a:solidFill>
                  <a:schemeClr val="tx1"/>
                </a:solidFill>
                <a:latin typeface="+mn-lt"/>
                <a:ea typeface="+mn-ea"/>
                <a:cs typeface="+mn-cs"/>
              </a:rPr>
              <a:t>Asking if they need anything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Verifying they are OK and prepared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Helping them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Applying suitable interpersonal and communication skills at every opportunity/exchange – such as:</a:t>
            </a:r>
          </a:p>
          <a:p>
            <a:pPr marL="628650" lvl="1" indent="-171450">
              <a:buFont typeface="Arial" pitchFamily="34" charset="0"/>
              <a:buChar char="•"/>
            </a:pPr>
            <a:r>
              <a:rPr lang="en-US" sz="1200" kern="1200" dirty="0" smtClean="0">
                <a:solidFill>
                  <a:schemeClr val="tx1"/>
                </a:solidFill>
                <a:latin typeface="+mn-lt"/>
                <a:ea typeface="+mn-ea"/>
                <a:cs typeface="+mn-cs"/>
              </a:rPr>
              <a:t>Smiling and using eye contact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Demonstrating interest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Responding to questions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Clarifying information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Involving members of the group in what is happening – this can include:</a:t>
            </a:r>
          </a:p>
          <a:p>
            <a:pPr marL="628650" lvl="1" indent="-171450">
              <a:buFont typeface="Arial" pitchFamily="34" charset="0"/>
              <a:buChar char="•"/>
            </a:pPr>
            <a:r>
              <a:rPr lang="en-US" sz="1200" kern="1200" dirty="0" smtClean="0">
                <a:solidFill>
                  <a:schemeClr val="tx1"/>
                </a:solidFill>
                <a:latin typeface="+mn-lt"/>
                <a:ea typeface="+mn-ea"/>
                <a:cs typeface="+mn-cs"/>
              </a:rPr>
              <a:t>Telling them what is about to happen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Providing them with advice of some sort to enable them to move forward with their learning, experience or whatever is the focus of the activity.</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170574298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a:t>
            </a:r>
            <a:r>
              <a:rPr lang="en-AU" baseline="0" noProof="0" dirty="0" smtClean="0"/>
              <a:t> discusses building a good rapport stating:</a:t>
            </a:r>
          </a:p>
          <a:p>
            <a:pPr marL="171450" indent="-171450">
              <a:buFont typeface="Arial" pitchFamily="34" charset="0"/>
              <a:buChar char="•"/>
            </a:pPr>
            <a:r>
              <a:rPr lang="en-AU" sz="1200" kern="1200" dirty="0" smtClean="0">
                <a:solidFill>
                  <a:schemeClr val="tx1"/>
                </a:solidFill>
                <a:latin typeface="+mn-lt"/>
                <a:ea typeface="+mn-ea"/>
                <a:cs typeface="+mn-cs"/>
              </a:rPr>
              <a:t>Good rapport-building costs nothing but does require some effort</a:t>
            </a:r>
          </a:p>
          <a:p>
            <a:pPr marL="171450" indent="-171450">
              <a:buFont typeface="Arial" pitchFamily="34" charset="0"/>
              <a:buChar char="•"/>
            </a:pPr>
            <a:r>
              <a:rPr lang="en-AU" sz="1200" kern="1200" dirty="0" smtClean="0">
                <a:solidFill>
                  <a:schemeClr val="tx1"/>
                </a:solidFill>
                <a:latin typeface="+mn-lt"/>
                <a:ea typeface="+mn-ea"/>
                <a:cs typeface="+mn-cs"/>
              </a:rPr>
              <a:t>It is necessary to enhance visitor experience of their tour/activity.</a:t>
            </a:r>
          </a:p>
          <a:p>
            <a:pPr>
              <a:buFont typeface="Arial" pitchFamily="34" charset="0"/>
              <a:buNone/>
            </a:pPr>
            <a:endParaRPr lang="en-AU" noProof="0" dirty="0" smtClean="0"/>
          </a:p>
          <a:p>
            <a:r>
              <a:rPr lang="en-AU" noProof="0" dirty="0" smtClean="0"/>
              <a:t>Trainer presents </a:t>
            </a:r>
            <a:r>
              <a:rPr lang="en-AU" sz="1200" kern="1200" dirty="0" smtClean="0">
                <a:solidFill>
                  <a:schemeClr val="tx1"/>
                </a:solidFill>
                <a:latin typeface="+mn-lt"/>
                <a:ea typeface="+mn-ea"/>
                <a:cs typeface="+mn-cs"/>
              </a:rPr>
              <a:t>techniques to build rapport with participants may include:</a:t>
            </a:r>
          </a:p>
          <a:p>
            <a:pPr marL="171450" indent="-171450">
              <a:buFont typeface="Arial" pitchFamily="34" charset="0"/>
              <a:buChar char="•"/>
            </a:pPr>
            <a:r>
              <a:rPr lang="en-AU" sz="1200" kern="1200" dirty="0" smtClean="0">
                <a:solidFill>
                  <a:schemeClr val="tx1"/>
                </a:solidFill>
                <a:latin typeface="+mn-lt"/>
                <a:ea typeface="+mn-ea"/>
                <a:cs typeface="+mn-cs"/>
              </a:rPr>
              <a:t>Extending/building on conversations when people were initially greeted– such as:</a:t>
            </a:r>
          </a:p>
          <a:p>
            <a:pPr marL="628650" lvl="1" indent="-171450">
              <a:buFont typeface="Arial" pitchFamily="34" charset="0"/>
              <a:buChar char="•"/>
            </a:pPr>
            <a:r>
              <a:rPr lang="en-US" sz="1200" kern="1200" dirty="0" smtClean="0">
                <a:solidFill>
                  <a:schemeClr val="tx1"/>
                </a:solidFill>
                <a:latin typeface="+mn-lt"/>
                <a:ea typeface="+mn-ea"/>
                <a:cs typeface="+mn-cs"/>
              </a:rPr>
              <a:t>Remembering and using the person’s name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Mentioning something talked about as part of the previous contact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Checking to ensure something they queries earlier has been resolved to their satisfaction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Asking participants questions – about topics such as:</a:t>
            </a:r>
          </a:p>
          <a:p>
            <a:pPr marL="628650" lvl="1" indent="-171450">
              <a:buFont typeface="Arial" pitchFamily="34" charset="0"/>
              <a:buChar char="•"/>
            </a:pPr>
            <a:r>
              <a:rPr lang="en-US" sz="1200" kern="1200" dirty="0" smtClean="0">
                <a:solidFill>
                  <a:schemeClr val="tx1"/>
                </a:solidFill>
                <a:latin typeface="+mn-lt"/>
                <a:ea typeface="+mn-ea"/>
                <a:cs typeface="+mn-cs"/>
              </a:rPr>
              <a:t>Their country of origin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Personal interests and specific interests for this tour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Their reasons for being on tour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Their previous experiences and tours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Using icebreakers – these are quick exercises which can be used to ‘break the ice’ and introduce tour group members to each other at the start of a tour or activity. They are really only suitable where:</a:t>
            </a:r>
          </a:p>
          <a:p>
            <a:pPr marL="628650" lvl="1" indent="-171450">
              <a:buFont typeface="Arial" pitchFamily="34" charset="0"/>
              <a:buChar char="•"/>
            </a:pPr>
            <a:r>
              <a:rPr lang="en-US" sz="1200" kern="1200" dirty="0" smtClean="0">
                <a:solidFill>
                  <a:schemeClr val="tx1"/>
                </a:solidFill>
                <a:latin typeface="+mn-lt"/>
                <a:ea typeface="+mn-ea"/>
                <a:cs typeface="+mn-cs"/>
              </a:rPr>
              <a:t>The participants do not already know each other – if the group members already know each other then ice-breakers are often not appreciated and many resent having to participate in them</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There is sufficient time to conduct them – they can be quite time consuming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 suitable, comfortable location exists to do them – standing in the heat is not a good location.</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oversees research of and discussion on sites such as:</a:t>
            </a:r>
          </a:p>
          <a:p>
            <a:pPr>
              <a:buFont typeface="Arial" pitchFamily="34" charset="0"/>
              <a:buNone/>
            </a:pPr>
            <a:r>
              <a:rPr lang="en-AU" sz="1200" u="sng" kern="1200" dirty="0" smtClean="0">
                <a:solidFill>
                  <a:schemeClr val="tx1"/>
                </a:solidFill>
                <a:latin typeface="+mn-lt"/>
                <a:ea typeface="+mn-ea"/>
                <a:cs typeface="+mn-cs"/>
                <a:hlinkClick r:id="rId3"/>
              </a:rPr>
              <a:t>http://insight.typepad.co.uk/40_icebreakers_for_small_groups.pdf</a:t>
            </a:r>
            <a:r>
              <a:rPr lang="en-AU" sz="1200" u="sng" kern="1200" dirty="0" smtClean="0">
                <a:solidFill>
                  <a:schemeClr val="tx1"/>
                </a:solidFill>
                <a:latin typeface="+mn-lt"/>
                <a:ea typeface="+mn-ea"/>
                <a:cs typeface="+mn-cs"/>
              </a:rPr>
              <a:t> and </a:t>
            </a:r>
            <a:r>
              <a:rPr lang="en-AU" sz="1200" u="sng" kern="1200" dirty="0" smtClean="0">
                <a:solidFill>
                  <a:schemeClr val="tx1"/>
                </a:solidFill>
                <a:latin typeface="+mn-lt"/>
                <a:ea typeface="+mn-ea"/>
                <a:cs typeface="+mn-cs"/>
                <a:hlinkClick r:id="rId4"/>
              </a:rPr>
              <a:t>http://training-games.com/pdf/40FreeIceBreakers.pdf</a:t>
            </a:r>
            <a:r>
              <a:rPr lang="en-AU" sz="1200" u="sng" kern="1200" dirty="0" smtClean="0">
                <a:solidFill>
                  <a:schemeClr val="tx1"/>
                </a:solidFill>
                <a:latin typeface="+mn-lt"/>
                <a:ea typeface="+mn-ea"/>
                <a:cs typeface="+mn-cs"/>
              </a:rPr>
              <a:t> for examples</a:t>
            </a:r>
            <a:r>
              <a:rPr lang="en-AU" sz="1200" kern="1200" dirty="0" smtClean="0">
                <a:solidFill>
                  <a:schemeClr val="tx1"/>
                </a:solidFill>
                <a:latin typeface="+mn-lt"/>
                <a:ea typeface="+mn-ea"/>
                <a:cs typeface="+mn-cs"/>
              </a:rPr>
              <a: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126618962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present </a:t>
            </a:r>
            <a:r>
              <a:rPr lang="en-AU" sz="1200" kern="1200" dirty="0" smtClean="0">
                <a:solidFill>
                  <a:schemeClr val="tx1"/>
                </a:solidFill>
                <a:latin typeface="+mn-lt"/>
                <a:ea typeface="+mn-ea"/>
                <a:cs typeface="+mn-cs"/>
              </a:rPr>
              <a:t>techniques to build rapport with participants:</a:t>
            </a:r>
          </a:p>
          <a:p>
            <a:pPr marL="171450" indent="-171450">
              <a:buFont typeface="Arial" pitchFamily="34" charset="0"/>
              <a:buChar char="•"/>
            </a:pPr>
            <a:r>
              <a:rPr lang="en-AU" sz="1200" kern="1200" dirty="0" smtClean="0">
                <a:solidFill>
                  <a:schemeClr val="tx1"/>
                </a:solidFill>
                <a:latin typeface="+mn-lt"/>
                <a:ea typeface="+mn-ea"/>
                <a:cs typeface="+mn-cs"/>
              </a:rPr>
              <a:t>Using anecdotes when interacting with participants – these are short stories relevant to the tour and/or the activity and are used as they add interest and provide insight into the experience</a:t>
            </a:r>
          </a:p>
          <a:p>
            <a:pPr marL="171450" indent="-171450">
              <a:buFont typeface="Arial" pitchFamily="34" charset="0"/>
              <a:buChar char="•"/>
            </a:pPr>
            <a:r>
              <a:rPr lang="en-AU" sz="1200" kern="1200" dirty="0" smtClean="0">
                <a:solidFill>
                  <a:schemeClr val="tx1"/>
                </a:solidFill>
                <a:latin typeface="+mn-lt"/>
                <a:ea typeface="+mn-ea"/>
                <a:cs typeface="+mn-cs"/>
              </a:rPr>
              <a:t>Sharing with individuals – in terms of:</a:t>
            </a:r>
          </a:p>
          <a:p>
            <a:pPr marL="628650" lvl="1" indent="-171450">
              <a:buFont typeface="Arial" pitchFamily="34" charset="0"/>
              <a:buChar char="•"/>
            </a:pPr>
            <a:r>
              <a:rPr lang="en-US" sz="1200" kern="1200" dirty="0" smtClean="0">
                <a:solidFill>
                  <a:schemeClr val="tx1"/>
                </a:solidFill>
                <a:latin typeface="+mn-lt"/>
                <a:ea typeface="+mn-ea"/>
                <a:cs typeface="+mn-cs"/>
              </a:rPr>
              <a:t>Their findings within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Their thoughts and feelings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Conclusions they have come to</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Revised thinking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Experiences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Applying suitable non-verbal communication techniques – such as:</a:t>
            </a:r>
          </a:p>
          <a:p>
            <a:pPr marL="628650" lvl="1" indent="-171450">
              <a:buFont typeface="Arial" pitchFamily="34" charset="0"/>
              <a:buChar char="•"/>
            </a:pPr>
            <a:r>
              <a:rPr lang="en-US" sz="1200" kern="1200" dirty="0" smtClean="0">
                <a:solidFill>
                  <a:schemeClr val="tx1"/>
                </a:solidFill>
                <a:latin typeface="+mn-lt"/>
                <a:ea typeface="+mn-ea"/>
                <a:cs typeface="+mn-cs"/>
              </a:rPr>
              <a:t>Using similar body language and signals to those being used by individuals in the group</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Focussing on being open, approachable, friendly, relaxed and inclusive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Realising the need for non-verbal language to align with/support verbal language to avoid confusion about the message being sent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Using appropriate voice tone and pacing.</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oversees research of and discussion on sites such as: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http://www.skillsyouneed.com/ips/rapport.html</a:t>
            </a:r>
            <a:r>
              <a:rPr lang="en-AU" sz="1200" kern="1200" dirty="0" smtClean="0">
                <a:solidFill>
                  <a:schemeClr val="tx1"/>
                </a:solidFill>
                <a:latin typeface="+mn-lt"/>
                <a:ea typeface="+mn-ea"/>
                <a:cs typeface="+mn-cs"/>
              </a:rPr>
              <a:t> - Building rapport</a:t>
            </a:r>
          </a:p>
          <a:p>
            <a:r>
              <a:rPr lang="en-AU" sz="1200" u="sng" kern="1200" dirty="0" smtClean="0">
                <a:solidFill>
                  <a:schemeClr val="tx1"/>
                </a:solidFill>
                <a:latin typeface="+mn-lt"/>
                <a:ea typeface="+mn-ea"/>
                <a:cs typeface="+mn-cs"/>
                <a:hlinkClick r:id="rId4"/>
              </a:rPr>
              <a:t>http://www.wikihow.com/Build-Rapport</a:t>
            </a:r>
            <a:r>
              <a:rPr lang="en-AU" sz="1200" kern="1200" dirty="0" smtClean="0">
                <a:solidFill>
                  <a:schemeClr val="tx1"/>
                </a:solidFill>
                <a:latin typeface="+mn-lt"/>
                <a:ea typeface="+mn-ea"/>
                <a:cs typeface="+mn-cs"/>
              </a:rPr>
              <a:t> - How to build rapport</a:t>
            </a:r>
          </a:p>
          <a:p>
            <a:r>
              <a:rPr lang="en-AU" sz="1200" u="sng" kern="1200" dirty="0" smtClean="0">
                <a:solidFill>
                  <a:schemeClr val="tx1"/>
                </a:solidFill>
                <a:latin typeface="+mn-lt"/>
                <a:ea typeface="+mn-ea"/>
                <a:cs typeface="+mn-cs"/>
                <a:hlinkClick r:id="rId5"/>
              </a:rPr>
              <a:t>http://www.mindtools.com/pages/article/building-rapport.htm</a:t>
            </a:r>
            <a:r>
              <a:rPr lang="en-AU" sz="1200" kern="1200" dirty="0" smtClean="0">
                <a:solidFill>
                  <a:schemeClr val="tx1"/>
                </a:solidFill>
                <a:latin typeface="+mn-lt"/>
                <a:ea typeface="+mn-ea"/>
                <a:cs typeface="+mn-cs"/>
              </a:rPr>
              <a:t> - Building rapport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402672986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present </a:t>
            </a:r>
            <a:r>
              <a:rPr lang="en-AU" sz="1200" kern="1200" dirty="0" smtClean="0">
                <a:solidFill>
                  <a:schemeClr val="tx1"/>
                </a:solidFill>
                <a:latin typeface="+mn-lt"/>
                <a:ea typeface="+mn-ea"/>
                <a:cs typeface="+mn-cs"/>
              </a:rPr>
              <a:t>techniques to build rapport with participants:</a:t>
            </a:r>
          </a:p>
          <a:p>
            <a:pPr marL="171450" indent="-171450">
              <a:buFont typeface="Arial" pitchFamily="34" charset="0"/>
              <a:buChar char="•"/>
            </a:pPr>
            <a:r>
              <a:rPr lang="en-AU" sz="1200" kern="1200" dirty="0" smtClean="0">
                <a:solidFill>
                  <a:schemeClr val="tx1"/>
                </a:solidFill>
                <a:latin typeface="+mn-lt"/>
                <a:ea typeface="+mn-ea"/>
                <a:cs typeface="+mn-cs"/>
              </a:rPr>
              <a:t>Avoiding judgements – about:</a:t>
            </a:r>
          </a:p>
          <a:p>
            <a:pPr marL="628650" lvl="1" indent="-171450">
              <a:buFont typeface="Arial" pitchFamily="34" charset="0"/>
              <a:buChar char="•"/>
            </a:pPr>
            <a:r>
              <a:rPr lang="en-US" sz="1200" kern="1200" dirty="0" smtClean="0">
                <a:solidFill>
                  <a:schemeClr val="tx1"/>
                </a:solidFill>
                <a:latin typeface="+mn-lt"/>
                <a:ea typeface="+mn-ea"/>
                <a:cs typeface="+mn-cs"/>
              </a:rPr>
              <a:t>People and their experiences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Choices made by individuals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Thoughts and conclusions that tour group members come to as a result of the interpretive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Embracing diversity – in terms of:</a:t>
            </a:r>
          </a:p>
          <a:p>
            <a:pPr marL="628650" lvl="1" indent="-171450">
              <a:buFont typeface="Arial" pitchFamily="34" charset="0"/>
              <a:buChar char="•"/>
            </a:pPr>
            <a:r>
              <a:rPr lang="en-US" sz="1200" kern="1200" dirty="0" smtClean="0">
                <a:solidFill>
                  <a:schemeClr val="tx1"/>
                </a:solidFill>
                <a:latin typeface="+mn-lt"/>
                <a:ea typeface="+mn-ea"/>
                <a:cs typeface="+mn-cs"/>
              </a:rPr>
              <a:t>Seeing beyond the ‘obvious’ indicators of tour group members – such as their age, gender, dress, race and/or disability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Avoiding pre-judging and stereo-typing people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Giving (warranted) compliments – in relation to:</a:t>
            </a:r>
          </a:p>
          <a:p>
            <a:pPr marL="628650" lvl="1" indent="-171450">
              <a:buFont typeface="Arial" pitchFamily="34" charset="0"/>
              <a:buChar char="•"/>
            </a:pPr>
            <a:r>
              <a:rPr lang="en-US" sz="1200" kern="1200" dirty="0" smtClean="0">
                <a:solidFill>
                  <a:schemeClr val="tx1"/>
                </a:solidFill>
                <a:latin typeface="+mn-lt"/>
                <a:ea typeface="+mn-ea"/>
                <a:cs typeface="+mn-cs"/>
              </a:rPr>
              <a:t>Comments made by tour group members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Actions taken by individuals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Thoughts and ideas held or contributed to the group.</a:t>
            </a:r>
            <a:endParaRPr lang="en-AU" sz="1200" kern="120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Demonstration and Practice</a:t>
            </a:r>
          </a:p>
          <a:p>
            <a:pPr>
              <a:buFont typeface="Arial" pitchFamily="34" charset="0"/>
              <a:buNone/>
            </a:pPr>
            <a:r>
              <a:rPr lang="en-AU" b="0" noProof="0" dirty="0" smtClean="0"/>
              <a:t>Trainer demonstrates how to build rapport with tour group members and provides an opportunity for students to do the same.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355168694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introduces ‘negotiation’ saying </a:t>
            </a:r>
            <a:r>
              <a:rPr lang="en-AU" sz="1200" kern="1200" dirty="0" smtClean="0">
                <a:solidFill>
                  <a:schemeClr val="tx1"/>
                </a:solidFill>
                <a:latin typeface="+mn-lt"/>
                <a:ea typeface="+mn-ea"/>
                <a:cs typeface="+mn-cs"/>
              </a:rPr>
              <a:t>there can be a need to negotiate a decision regarding some aspect of an activity with the tour group where, for example:</a:t>
            </a:r>
          </a:p>
          <a:p>
            <a:pPr marL="171450" indent="-171450">
              <a:buFont typeface="Arial" pitchFamily="34" charset="0"/>
              <a:buChar char="•"/>
            </a:pPr>
            <a:r>
              <a:rPr lang="en-AU" sz="1200" kern="1200" dirty="0" smtClean="0">
                <a:solidFill>
                  <a:schemeClr val="tx1"/>
                </a:solidFill>
                <a:latin typeface="+mn-lt"/>
                <a:ea typeface="+mn-ea"/>
                <a:cs typeface="+mn-cs"/>
              </a:rPr>
              <a:t>There are several options available to choose from</a:t>
            </a:r>
          </a:p>
          <a:p>
            <a:pPr marL="171450" indent="-171450">
              <a:buFont typeface="Arial" pitchFamily="34" charset="0"/>
              <a:buChar char="•"/>
            </a:pPr>
            <a:r>
              <a:rPr lang="en-AU" sz="1200" kern="1200" dirty="0" smtClean="0">
                <a:solidFill>
                  <a:schemeClr val="tx1"/>
                </a:solidFill>
                <a:latin typeface="+mn-lt"/>
                <a:ea typeface="+mn-ea"/>
                <a:cs typeface="+mn-cs"/>
              </a:rPr>
              <a:t>Things are not going according to plan and remedial action needs to be taken</a:t>
            </a:r>
          </a:p>
          <a:p>
            <a:pPr marL="171450" indent="-171450">
              <a:buFont typeface="Arial" pitchFamily="34" charset="0"/>
              <a:buChar char="•"/>
            </a:pPr>
            <a:r>
              <a:rPr lang="en-AU" sz="1200" kern="1200" dirty="0" smtClean="0">
                <a:solidFill>
                  <a:schemeClr val="tx1"/>
                </a:solidFill>
                <a:latin typeface="+mn-lt"/>
                <a:ea typeface="+mn-ea"/>
                <a:cs typeface="+mn-cs"/>
              </a:rPr>
              <a:t>Members of the group want to do something other than what is planned</a:t>
            </a:r>
          </a:p>
          <a:p>
            <a:pPr marL="171450" indent="-171450">
              <a:buFont typeface="Arial" pitchFamily="34" charset="0"/>
              <a:buChar char="•"/>
            </a:pPr>
            <a:r>
              <a:rPr lang="en-AU" sz="1200" kern="1200" dirty="0" smtClean="0">
                <a:solidFill>
                  <a:schemeClr val="tx1"/>
                </a:solidFill>
                <a:latin typeface="+mn-lt"/>
                <a:ea typeface="+mn-ea"/>
                <a:cs typeface="+mn-cs"/>
              </a:rPr>
              <a:t>Unexpected circumstances arise.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350935756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presents keys to negotiation:</a:t>
            </a:r>
          </a:p>
          <a:p>
            <a:pPr marL="171450" indent="-171450">
              <a:buFont typeface="Arial" pitchFamily="34" charset="0"/>
              <a:buChar char="•"/>
            </a:pPr>
            <a:r>
              <a:rPr lang="en-AU" sz="1200" kern="1200" dirty="0" smtClean="0">
                <a:solidFill>
                  <a:schemeClr val="tx1"/>
                </a:solidFill>
                <a:latin typeface="+mn-lt"/>
                <a:ea typeface="+mn-ea"/>
                <a:cs typeface="+mn-cs"/>
              </a:rPr>
              <a:t>Strive for a win-win outcome – a negotiation is not about coercing or forcing the tour group/people into a pre-determined decision</a:t>
            </a:r>
          </a:p>
          <a:p>
            <a:pPr marL="171450" indent="-171450">
              <a:buFont typeface="Arial" pitchFamily="34" charset="0"/>
              <a:buChar char="•"/>
            </a:pPr>
            <a:r>
              <a:rPr lang="en-AU" sz="1200" kern="1200" dirty="0" smtClean="0">
                <a:solidFill>
                  <a:schemeClr val="tx1"/>
                </a:solidFill>
                <a:latin typeface="+mn-lt"/>
                <a:ea typeface="+mn-ea"/>
                <a:cs typeface="+mn-cs"/>
              </a:rPr>
              <a:t>Be prepared to give – not just take</a:t>
            </a:r>
          </a:p>
          <a:p>
            <a:pPr marL="171450" indent="-171450">
              <a:buFont typeface="Arial" pitchFamily="34" charset="0"/>
              <a:buChar char="•"/>
            </a:pPr>
            <a:r>
              <a:rPr lang="en-AU" sz="1200" kern="1200" dirty="0" smtClean="0">
                <a:solidFill>
                  <a:schemeClr val="tx1"/>
                </a:solidFill>
                <a:latin typeface="+mn-lt"/>
                <a:ea typeface="+mn-ea"/>
                <a:cs typeface="+mn-cs"/>
              </a:rPr>
              <a:t>Plan in advance – to develop a strategy and suitable tactics</a:t>
            </a:r>
          </a:p>
          <a:p>
            <a:pPr marL="171450" indent="-171450">
              <a:buFont typeface="Arial" pitchFamily="34" charset="0"/>
              <a:buChar char="•"/>
            </a:pPr>
            <a:r>
              <a:rPr lang="en-AU" sz="1200" kern="1200" dirty="0" smtClean="0">
                <a:solidFill>
                  <a:schemeClr val="tx1"/>
                </a:solidFill>
                <a:latin typeface="+mn-lt"/>
                <a:ea typeface="+mn-ea"/>
                <a:cs typeface="+mn-cs"/>
              </a:rPr>
              <a:t>Know what is </a:t>
            </a:r>
            <a:r>
              <a:rPr lang="en-AU" sz="1200" b="1" kern="1200" dirty="0" smtClean="0">
                <a:solidFill>
                  <a:schemeClr val="tx1"/>
                </a:solidFill>
                <a:latin typeface="+mn-lt"/>
                <a:ea typeface="+mn-ea"/>
                <a:cs typeface="+mn-cs"/>
              </a:rPr>
              <a:t>not</a:t>
            </a:r>
            <a:r>
              <a:rPr lang="en-AU" sz="1200" kern="1200" dirty="0" smtClean="0">
                <a:solidFill>
                  <a:schemeClr val="tx1"/>
                </a:solidFill>
                <a:latin typeface="+mn-lt"/>
                <a:ea typeface="+mn-ea"/>
                <a:cs typeface="+mn-cs"/>
              </a:rPr>
              <a:t> negotiable – and ensure key elements of the activity are always delivered and safety is never compromised.</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oversees research of and discussion on sites such as:</a:t>
            </a:r>
          </a:p>
          <a:p>
            <a:r>
              <a:rPr lang="en-AU" sz="1200" u="sng" kern="1200" dirty="0" smtClean="0">
                <a:solidFill>
                  <a:schemeClr val="tx1"/>
                </a:solidFill>
                <a:latin typeface="+mn-lt"/>
                <a:ea typeface="+mn-ea"/>
                <a:cs typeface="+mn-cs"/>
                <a:hlinkClick r:id="rId3"/>
              </a:rPr>
              <a:t>http://www.wikihow.com/Negotiate</a:t>
            </a:r>
            <a:r>
              <a:rPr lang="en-AU" sz="1200" kern="1200" dirty="0" smtClean="0">
                <a:solidFill>
                  <a:schemeClr val="tx1"/>
                </a:solidFill>
                <a:latin typeface="+mn-lt"/>
                <a:ea typeface="+mn-ea"/>
                <a:cs typeface="+mn-cs"/>
              </a:rPr>
              <a:t> - How to negotiate</a:t>
            </a:r>
          </a:p>
          <a:p>
            <a:r>
              <a:rPr lang="en-AU" sz="1200" u="sng" kern="1200" dirty="0" smtClean="0">
                <a:solidFill>
                  <a:schemeClr val="tx1"/>
                </a:solidFill>
                <a:latin typeface="+mn-lt"/>
                <a:ea typeface="+mn-ea"/>
                <a:cs typeface="+mn-cs"/>
                <a:hlinkClick r:id="rId4"/>
              </a:rPr>
              <a:t>http://www.brodow.com/Articles/NegotiatingTips.html</a:t>
            </a:r>
            <a:r>
              <a:rPr lang="en-AU" sz="1200" kern="1200" dirty="0" smtClean="0">
                <a:solidFill>
                  <a:schemeClr val="tx1"/>
                </a:solidFill>
                <a:latin typeface="+mn-lt"/>
                <a:ea typeface="+mn-ea"/>
                <a:cs typeface="+mn-cs"/>
              </a:rPr>
              <a:t> - Ten tips for negotiating.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358507039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present keys to negotiation:</a:t>
            </a:r>
          </a:p>
          <a:p>
            <a:pPr marL="171450" indent="-171450">
              <a:buFont typeface="Arial" pitchFamily="34" charset="0"/>
              <a:buChar char="•"/>
            </a:pPr>
            <a:r>
              <a:rPr lang="en-AU" sz="1200" kern="1200" dirty="0" smtClean="0">
                <a:solidFill>
                  <a:schemeClr val="tx1"/>
                </a:solidFill>
                <a:latin typeface="+mn-lt"/>
                <a:ea typeface="+mn-ea"/>
                <a:cs typeface="+mn-cs"/>
              </a:rPr>
              <a:t>Be inclusive – involve everyone, exclude no-one</a:t>
            </a:r>
          </a:p>
          <a:p>
            <a:pPr marL="171450" indent="-171450">
              <a:buFont typeface="Arial" pitchFamily="34" charset="0"/>
              <a:buChar char="•"/>
            </a:pPr>
            <a:r>
              <a:rPr lang="en-AU" sz="1200" kern="1200" dirty="0" smtClean="0">
                <a:solidFill>
                  <a:schemeClr val="tx1"/>
                </a:solidFill>
                <a:latin typeface="+mn-lt"/>
                <a:ea typeface="+mn-ea"/>
                <a:cs typeface="+mn-cs"/>
              </a:rPr>
              <a:t>Communicate well – think before speaking and speak clearly </a:t>
            </a:r>
          </a:p>
          <a:p>
            <a:pPr marL="171450" indent="-171450">
              <a:buFont typeface="Arial" pitchFamily="34" charset="0"/>
              <a:buChar char="•"/>
            </a:pPr>
            <a:r>
              <a:rPr lang="en-AU" sz="1200" kern="1200" dirty="0" smtClean="0">
                <a:solidFill>
                  <a:schemeClr val="tx1"/>
                </a:solidFill>
                <a:latin typeface="+mn-lt"/>
                <a:ea typeface="+mn-ea"/>
                <a:cs typeface="+mn-cs"/>
              </a:rPr>
              <a:t>Explain the situation requiring negotiation – never assume everyone knows what needs to be resolved</a:t>
            </a:r>
          </a:p>
          <a:p>
            <a:pPr marL="171450" indent="-171450">
              <a:buFont typeface="Arial" pitchFamily="34" charset="0"/>
              <a:buChar char="•"/>
            </a:pPr>
            <a:r>
              <a:rPr lang="en-AU" sz="1200" kern="1200" dirty="0" smtClean="0">
                <a:solidFill>
                  <a:schemeClr val="tx1"/>
                </a:solidFill>
                <a:latin typeface="+mn-lt"/>
                <a:ea typeface="+mn-ea"/>
                <a:cs typeface="+mn-cs"/>
              </a:rPr>
              <a:t>Give reasons for (possible) action – rather than ultimatums.</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321867267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present keys to negotiation:</a:t>
            </a:r>
          </a:p>
          <a:p>
            <a:pPr marL="171450" indent="-171450">
              <a:buFont typeface="Arial" pitchFamily="34" charset="0"/>
              <a:buChar char="•"/>
            </a:pPr>
            <a:r>
              <a:rPr lang="en-AU" sz="1200" kern="1200" dirty="0" smtClean="0">
                <a:solidFill>
                  <a:schemeClr val="tx1"/>
                </a:solidFill>
                <a:latin typeface="+mn-lt"/>
                <a:ea typeface="+mn-ea"/>
                <a:cs typeface="+mn-cs"/>
              </a:rPr>
              <a:t>Be prepared to suggest a solution – for others to consider if they are unable to identify their own solution</a:t>
            </a:r>
          </a:p>
          <a:p>
            <a:pPr marL="171450" indent="-171450">
              <a:buFont typeface="Arial" pitchFamily="34" charset="0"/>
              <a:buChar char="•"/>
            </a:pPr>
            <a:r>
              <a:rPr lang="en-AU" sz="1200" kern="1200" dirty="0" smtClean="0">
                <a:solidFill>
                  <a:schemeClr val="tx1"/>
                </a:solidFill>
                <a:latin typeface="+mn-lt"/>
                <a:ea typeface="+mn-ea"/>
                <a:cs typeface="+mn-cs"/>
              </a:rPr>
              <a:t>Encourage people – to participate in the process</a:t>
            </a:r>
          </a:p>
          <a:p>
            <a:pPr marL="171450" indent="-171450">
              <a:buFont typeface="Arial" pitchFamily="34" charset="0"/>
              <a:buChar char="•"/>
            </a:pPr>
            <a:r>
              <a:rPr lang="en-AU" sz="1200" kern="1200" dirty="0" smtClean="0">
                <a:solidFill>
                  <a:schemeClr val="tx1"/>
                </a:solidFill>
                <a:latin typeface="+mn-lt"/>
                <a:ea typeface="+mn-ea"/>
                <a:cs typeface="+mn-cs"/>
              </a:rPr>
              <a:t>Thank people – for making contributions</a:t>
            </a:r>
          </a:p>
          <a:p>
            <a:pPr marL="171450" indent="-171450">
              <a:buFont typeface="Arial" pitchFamily="34" charset="0"/>
              <a:buChar char="•"/>
            </a:pPr>
            <a:r>
              <a:rPr lang="en-AU" sz="1200" kern="1200" dirty="0" smtClean="0">
                <a:solidFill>
                  <a:schemeClr val="tx1"/>
                </a:solidFill>
                <a:latin typeface="+mn-lt"/>
                <a:ea typeface="+mn-ea"/>
                <a:cs typeface="+mn-cs"/>
              </a:rPr>
              <a:t>Confirm the agreed outcome – to verify the detail and make sure regarding the decisions that has been made</a:t>
            </a:r>
          </a:p>
          <a:p>
            <a:pPr marL="171450" indent="-171450">
              <a:buFont typeface="Arial" pitchFamily="34" charset="0"/>
              <a:buChar char="•"/>
            </a:pPr>
            <a:r>
              <a:rPr lang="en-AU" sz="1200" kern="1200" dirty="0" smtClean="0">
                <a:solidFill>
                  <a:schemeClr val="tx1"/>
                </a:solidFill>
                <a:latin typeface="+mn-lt"/>
                <a:ea typeface="+mn-ea"/>
                <a:cs typeface="+mn-cs"/>
              </a:rPr>
              <a:t>Implement the negotiated decision as agreed – promptly and without variation from the agreement.</a:t>
            </a:r>
          </a:p>
          <a:p>
            <a:pPr>
              <a:buFont typeface="Arial" pitchFamily="34" charset="0"/>
              <a:buNone/>
            </a:pPr>
            <a:endParaRPr lang="en-AU" baseline="0" noProof="0" dirty="0" smtClean="0"/>
          </a:p>
          <a:p>
            <a:pPr>
              <a:buFont typeface="Arial" pitchFamily="34" charset="0"/>
              <a:buNone/>
            </a:pPr>
            <a:r>
              <a:rPr lang="en-AU" b="1" noProof="0" dirty="0" smtClean="0"/>
              <a:t>Classroom Activity – Demonstration and Practice</a:t>
            </a:r>
          </a:p>
          <a:p>
            <a:pPr>
              <a:buFont typeface="Arial" pitchFamily="34" charset="0"/>
              <a:buNone/>
            </a:pPr>
            <a:r>
              <a:rPr lang="en-AU" b="0" noProof="0" dirty="0" smtClean="0"/>
              <a:t>Trainer demonstrates how to negotiate with tour group members and provides an opportunity for students to do the same.</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273460568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presents tips on handling conflict:</a:t>
            </a:r>
          </a:p>
          <a:p>
            <a:pPr marL="171450" indent="-171450">
              <a:buFont typeface="Arial" pitchFamily="34" charset="0"/>
              <a:buChar char="•"/>
            </a:pPr>
            <a:r>
              <a:rPr lang="en-AU" sz="1200" kern="1200" dirty="0" smtClean="0">
                <a:solidFill>
                  <a:schemeClr val="tx1"/>
                </a:solidFill>
                <a:latin typeface="+mn-lt"/>
                <a:ea typeface="+mn-ea"/>
                <a:cs typeface="+mn-cs"/>
              </a:rPr>
              <a:t>Realise no problem will ever resolve itself – problems require action to fix/address them</a:t>
            </a:r>
          </a:p>
          <a:p>
            <a:pPr marL="171450" indent="-171450">
              <a:buFont typeface="Arial" pitchFamily="34" charset="0"/>
              <a:buChar char="•"/>
            </a:pPr>
            <a:r>
              <a:rPr lang="en-AU" sz="1200" kern="1200" dirty="0" smtClean="0">
                <a:solidFill>
                  <a:schemeClr val="tx1"/>
                </a:solidFill>
                <a:latin typeface="+mn-lt"/>
                <a:ea typeface="+mn-ea"/>
                <a:cs typeface="+mn-cs"/>
              </a:rPr>
              <a:t>Take responsibility for taking action – it is part of the job of the Tour Guide and the tour staff to do so</a:t>
            </a:r>
          </a:p>
          <a:p>
            <a:pPr marL="171450" indent="-171450">
              <a:buFont typeface="Arial" pitchFamily="34" charset="0"/>
              <a:buChar char="•"/>
            </a:pPr>
            <a:r>
              <a:rPr lang="en-AU" sz="1200" kern="1200" dirty="0" smtClean="0">
                <a:solidFill>
                  <a:schemeClr val="tx1"/>
                </a:solidFill>
                <a:latin typeface="+mn-lt"/>
                <a:ea typeface="+mn-ea"/>
                <a:cs typeface="+mn-cs"/>
              </a:rPr>
              <a:t>All identified issues must be addressed – it is an option to ignore a problem</a:t>
            </a:r>
          </a:p>
          <a:p>
            <a:pPr marL="171450" indent="-171450">
              <a:buFont typeface="Arial" pitchFamily="34" charset="0"/>
              <a:buChar char="•"/>
            </a:pPr>
            <a:r>
              <a:rPr lang="en-AU" sz="1200" kern="1200" dirty="0" smtClean="0">
                <a:solidFill>
                  <a:schemeClr val="tx1"/>
                </a:solidFill>
                <a:latin typeface="+mn-lt"/>
                <a:ea typeface="+mn-ea"/>
                <a:cs typeface="+mn-cs"/>
              </a:rPr>
              <a:t>If appropriate/possible, look for ‘safety angle’ on which to focus the conversation to be had with those creating/causing a problem or issue</a:t>
            </a:r>
          </a:p>
          <a:p>
            <a:pPr marL="628650" lvl="1" indent="-171450">
              <a:buFont typeface="Arial" pitchFamily="34" charset="0"/>
              <a:buChar char="•"/>
            </a:pPr>
            <a:r>
              <a:rPr lang="en-AU" sz="1200" kern="1200" dirty="0" smtClean="0">
                <a:solidFill>
                  <a:schemeClr val="tx1"/>
                </a:solidFill>
                <a:latin typeface="+mn-lt"/>
                <a:ea typeface="+mn-ea"/>
                <a:cs typeface="+mn-cs"/>
              </a:rPr>
              <a:t>People are more likely to listen and comply if it can be demonstrated they need to alter what they are doing because it is unsafe or poses a risk to others. </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oversees research of and discussion on sites such as:</a:t>
            </a:r>
          </a:p>
          <a:p>
            <a:r>
              <a:rPr lang="en-AU" sz="1200" u="sng" kern="1200" dirty="0" smtClean="0">
                <a:solidFill>
                  <a:schemeClr val="tx1"/>
                </a:solidFill>
                <a:latin typeface="+mn-lt"/>
                <a:ea typeface="+mn-ea"/>
                <a:cs typeface="+mn-cs"/>
                <a:hlinkClick r:id="rId3"/>
              </a:rPr>
              <a:t>http://www.crnhq.org/pages.php?pID=10</a:t>
            </a:r>
            <a:r>
              <a:rPr lang="en-AU" sz="1200" kern="1200" dirty="0" smtClean="0">
                <a:solidFill>
                  <a:schemeClr val="tx1"/>
                </a:solidFill>
                <a:latin typeface="+mn-lt"/>
                <a:ea typeface="+mn-ea"/>
                <a:cs typeface="+mn-cs"/>
              </a:rPr>
              <a:t> – Conflict resolution skills</a:t>
            </a:r>
          </a:p>
          <a:p>
            <a:r>
              <a:rPr lang="en-AU" sz="1200" u="sng" kern="1200" dirty="0" smtClean="0">
                <a:solidFill>
                  <a:schemeClr val="tx1"/>
                </a:solidFill>
                <a:latin typeface="+mn-lt"/>
                <a:ea typeface="+mn-ea"/>
                <a:cs typeface="+mn-cs"/>
                <a:hlinkClick r:id="rId4"/>
              </a:rPr>
              <a:t>http://www.mindtools.com/pages/article/newLDR_81.htm</a:t>
            </a:r>
            <a:r>
              <a:rPr lang="en-AU" sz="1200" kern="1200" dirty="0" smtClean="0">
                <a:solidFill>
                  <a:schemeClr val="tx1"/>
                </a:solidFill>
                <a:latin typeface="+mn-lt"/>
                <a:ea typeface="+mn-ea"/>
                <a:cs typeface="+mn-cs"/>
              </a:rPr>
              <a:t> - Resolving conflict rationally and effectively.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3406860295"/>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present tips on handling conflict:</a:t>
            </a:r>
          </a:p>
          <a:p>
            <a:pPr marL="171450" indent="-171450">
              <a:buFont typeface="Arial" pitchFamily="34" charset="0"/>
              <a:buChar char="•"/>
            </a:pPr>
            <a:r>
              <a:rPr lang="en-AU" sz="1200" kern="1200" dirty="0" smtClean="0">
                <a:solidFill>
                  <a:schemeClr val="tx1"/>
                </a:solidFill>
                <a:latin typeface="+mn-lt"/>
                <a:ea typeface="+mn-ea"/>
                <a:cs typeface="+mn-cs"/>
              </a:rPr>
              <a:t>Treat people with respect – talk politely with them allow them their dignity</a:t>
            </a:r>
          </a:p>
          <a:p>
            <a:pPr marL="171450" indent="-171450">
              <a:buFont typeface="Arial" pitchFamily="34" charset="0"/>
              <a:buChar char="•"/>
            </a:pPr>
            <a:r>
              <a:rPr lang="en-AU" sz="1200" kern="1200" dirty="0" smtClean="0">
                <a:solidFill>
                  <a:schemeClr val="tx1"/>
                </a:solidFill>
                <a:latin typeface="+mn-lt"/>
                <a:ea typeface="+mn-ea"/>
                <a:cs typeface="+mn-cs"/>
              </a:rPr>
              <a:t>Aim to make the other person feel special, not to feel victimised</a:t>
            </a:r>
          </a:p>
          <a:p>
            <a:pPr marL="171450" indent="-171450">
              <a:buFont typeface="Arial" pitchFamily="34" charset="0"/>
              <a:buChar char="•"/>
            </a:pPr>
            <a:r>
              <a:rPr lang="en-AU" sz="1200" kern="1200" dirty="0" smtClean="0">
                <a:solidFill>
                  <a:schemeClr val="tx1"/>
                </a:solidFill>
                <a:latin typeface="+mn-lt"/>
                <a:ea typeface="+mn-ea"/>
                <a:cs typeface="+mn-cs"/>
              </a:rPr>
              <a:t>Talk with people who need to be spoken to away from others in order to respect their right not to be embarrassed or challenged in front of others</a:t>
            </a:r>
          </a:p>
          <a:p>
            <a:pPr marL="171450" indent="-171450">
              <a:buFont typeface="Arial" pitchFamily="34" charset="0"/>
              <a:buChar char="•"/>
            </a:pPr>
            <a:r>
              <a:rPr lang="en-AU" sz="1200" kern="1200" dirty="0" smtClean="0">
                <a:solidFill>
                  <a:schemeClr val="tx1"/>
                </a:solidFill>
                <a:latin typeface="+mn-lt"/>
                <a:ea typeface="+mn-ea"/>
                <a:cs typeface="+mn-cs"/>
              </a:rPr>
              <a:t>Try to stay calm – when a need to intervene and say something to a participant arises</a:t>
            </a:r>
          </a:p>
          <a:p>
            <a:pPr marL="171450" indent="-171450">
              <a:buFont typeface="Arial" pitchFamily="34" charset="0"/>
              <a:buChar char="•"/>
            </a:pPr>
            <a:r>
              <a:rPr lang="en-AU" sz="1200" kern="1200" dirty="0" smtClean="0">
                <a:solidFill>
                  <a:schemeClr val="tx1"/>
                </a:solidFill>
                <a:latin typeface="+mn-lt"/>
                <a:ea typeface="+mn-ea"/>
                <a:cs typeface="+mn-cs"/>
              </a:rPr>
              <a:t>Aim to ‘act’ but do not ‘over-react’</a:t>
            </a:r>
          </a:p>
          <a:p>
            <a:pPr marL="171450" indent="-171450">
              <a:buFont typeface="Arial" pitchFamily="34" charset="0"/>
              <a:buChar char="•"/>
            </a:pPr>
            <a:r>
              <a:rPr lang="en-AU" sz="1200" kern="1200" dirty="0" smtClean="0">
                <a:solidFill>
                  <a:schemeClr val="tx1"/>
                </a:solidFill>
                <a:latin typeface="+mn-lt"/>
                <a:ea typeface="+mn-ea"/>
                <a:cs typeface="+mn-cs"/>
              </a:rPr>
              <a:t>Avoid using a loud voice – try to speak so the conversation is private, and so those being spoken to do not feel as if they are being reprimanded in front of the rest of the group and being made to look silly or ‘small’.</a:t>
            </a:r>
          </a:p>
          <a:p>
            <a:pPr>
              <a:buFont typeface="Arial" pitchFamily="34" charset="0"/>
              <a:buNone/>
            </a:pPr>
            <a:endParaRPr lang="en-AU" baseline="0" noProof="0" dirty="0" smtClean="0"/>
          </a:p>
          <a:p>
            <a:pPr>
              <a:buFont typeface="Arial" pitchFamily="34" charset="0"/>
              <a:buNone/>
            </a:pPr>
            <a:r>
              <a:rPr lang="en-AU" b="1" baseline="0" noProof="0" dirty="0" smtClean="0"/>
              <a:t>Classroom Activity – Guest Speaker</a:t>
            </a:r>
          </a:p>
          <a:p>
            <a:pPr>
              <a:buFont typeface="Arial" pitchFamily="34" charset="0"/>
              <a:buNone/>
            </a:pPr>
            <a:r>
              <a:rPr lang="en-AU" b="0" baseline="0" noProof="0" dirty="0" smtClean="0"/>
              <a:t>Trainer arranges for experienced Tour Guide to attend and:</a:t>
            </a:r>
          </a:p>
          <a:p>
            <a:pPr marL="171450" indent="-171450">
              <a:buFont typeface="Arial" pitchFamily="34" charset="0"/>
              <a:buChar char="•"/>
            </a:pPr>
            <a:r>
              <a:rPr lang="en-AU" b="0" baseline="0" noProof="0" dirty="0" smtClean="0"/>
              <a:t>Discuss rapport building with tour groups</a:t>
            </a:r>
          </a:p>
          <a:p>
            <a:pPr marL="171450" indent="-171450">
              <a:buFont typeface="Arial" pitchFamily="34" charset="0"/>
              <a:buChar char="•"/>
            </a:pPr>
            <a:r>
              <a:rPr lang="en-AU" b="0" baseline="0" noProof="0" dirty="0" smtClean="0"/>
              <a:t>Describe negotiation skills to use with tour groups</a:t>
            </a:r>
          </a:p>
          <a:p>
            <a:pPr marL="171450" indent="-171450">
              <a:buFont typeface="Arial" pitchFamily="34" charset="0"/>
              <a:buChar char="•"/>
            </a:pPr>
            <a:r>
              <a:rPr lang="en-AU" b="0" baseline="0" noProof="0" dirty="0" smtClean="0"/>
              <a:t>Discuss conflict resolution techniques</a:t>
            </a:r>
          </a:p>
          <a:p>
            <a:pPr marL="171450" indent="-171450">
              <a:buFont typeface="Arial" pitchFamily="34" charset="0"/>
              <a:buChar char="•"/>
            </a:pPr>
            <a:r>
              <a:rPr lang="en-AU" b="0" baseline="0" noProof="0" dirty="0" smtClean="0"/>
              <a:t>Demonstrate use of all the above.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407793331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present tips on handling conflict:</a:t>
            </a:r>
          </a:p>
          <a:p>
            <a:pPr marL="171450" indent="-171450">
              <a:buFont typeface="Arial" pitchFamily="34" charset="0"/>
              <a:buChar char="•"/>
            </a:pPr>
            <a:r>
              <a:rPr lang="en-AU" sz="1200" kern="1200" dirty="0" smtClean="0">
                <a:solidFill>
                  <a:schemeClr val="tx1"/>
                </a:solidFill>
                <a:latin typeface="+mn-lt"/>
                <a:ea typeface="+mn-ea"/>
                <a:cs typeface="+mn-cs"/>
              </a:rPr>
              <a:t>Phrase what is said so it is not a personal ‘attack’ on the other person – for example, instead of saying “You must not do that”, re-phrase the statement to “We prefer such action does not take place while here/on tour/in this location”</a:t>
            </a:r>
          </a:p>
          <a:p>
            <a:pPr marL="628650" lvl="1" indent="-171450">
              <a:buFont typeface="Arial" pitchFamily="34" charset="0"/>
              <a:buChar char="•"/>
            </a:pPr>
            <a:r>
              <a:rPr lang="en-AU" sz="1200" kern="1200" dirty="0" smtClean="0">
                <a:solidFill>
                  <a:schemeClr val="tx1"/>
                </a:solidFill>
                <a:latin typeface="+mn-lt"/>
                <a:ea typeface="+mn-ea"/>
                <a:cs typeface="+mn-cs"/>
              </a:rPr>
              <a:t>Try phrasing statements asking people to modify their behaviour as ‘requests’ rather than ‘commands’</a:t>
            </a:r>
          </a:p>
          <a:p>
            <a:pPr marL="171450" indent="-171450">
              <a:buFont typeface="Arial" pitchFamily="34" charset="0"/>
              <a:buChar char="•"/>
            </a:pPr>
            <a:r>
              <a:rPr lang="en-AU" sz="1200" kern="1200" dirty="0" smtClean="0">
                <a:solidFill>
                  <a:schemeClr val="tx1"/>
                </a:solidFill>
                <a:latin typeface="+mn-lt"/>
                <a:ea typeface="+mn-ea"/>
                <a:cs typeface="+mn-cs"/>
              </a:rPr>
              <a:t>Give reasons why the request is being made</a:t>
            </a:r>
          </a:p>
          <a:p>
            <a:pPr marL="628650" lvl="1" indent="-171450">
              <a:buFont typeface="Arial" pitchFamily="34" charset="0"/>
              <a:buChar char="•"/>
            </a:pPr>
            <a:r>
              <a:rPr lang="en-AU" sz="1200" kern="1200" dirty="0" smtClean="0">
                <a:solidFill>
                  <a:schemeClr val="tx1"/>
                </a:solidFill>
                <a:latin typeface="+mn-lt"/>
                <a:ea typeface="+mn-ea"/>
                <a:cs typeface="+mn-cs"/>
              </a:rPr>
              <a:t>There is big difference between ‘Stop doing that’ and “Could I please ask you not to do that because it scares the animals?”</a:t>
            </a:r>
          </a:p>
          <a:p>
            <a:pPr marL="171450" indent="-171450">
              <a:buFont typeface="Arial" pitchFamily="34" charset="0"/>
              <a:buChar char="•"/>
            </a:pPr>
            <a:r>
              <a:rPr lang="en-AU" sz="1200" kern="1200" dirty="0" smtClean="0">
                <a:solidFill>
                  <a:schemeClr val="tx1"/>
                </a:solidFill>
                <a:latin typeface="+mn-lt"/>
                <a:ea typeface="+mn-ea"/>
                <a:cs typeface="+mn-cs"/>
              </a:rPr>
              <a:t>Look through the eyes of the tour group member and try to see things from their perspective</a:t>
            </a:r>
          </a:p>
          <a:p>
            <a:pPr marL="628650" lvl="1" indent="-171450">
              <a:buFont typeface="Arial" pitchFamily="34" charset="0"/>
              <a:buChar char="•"/>
            </a:pPr>
            <a:r>
              <a:rPr lang="en-AU" sz="1200" kern="1200" dirty="0" smtClean="0">
                <a:solidFill>
                  <a:schemeClr val="tx1"/>
                </a:solidFill>
                <a:latin typeface="+mn-lt"/>
                <a:ea typeface="+mn-ea"/>
                <a:cs typeface="+mn-cs"/>
              </a:rPr>
              <a:t>For example, consider saying “I can see you are tired and I know we have walked quite a long way and it is hot, but I need you to know it is not acceptable for the safety of others for you to wander off on your own to have a rest”.</a:t>
            </a:r>
          </a:p>
          <a:p>
            <a:pPr>
              <a:buFont typeface="Arial" pitchFamily="34" charset="0"/>
              <a:buNone/>
            </a:pPr>
            <a:endParaRPr lang="en-AU" baseline="0" noProof="0" dirty="0" smtClean="0"/>
          </a:p>
          <a:p>
            <a:pPr>
              <a:buFont typeface="Arial" pitchFamily="34" charset="0"/>
              <a:buNone/>
            </a:pPr>
            <a:r>
              <a:rPr lang="en-AU" b="1" noProof="0" dirty="0" smtClean="0"/>
              <a:t>Classroom Activity – Demonstration and Practice</a:t>
            </a:r>
          </a:p>
          <a:p>
            <a:pPr>
              <a:buFont typeface="Arial" pitchFamily="34" charset="0"/>
              <a:buNone/>
            </a:pPr>
            <a:r>
              <a:rPr lang="en-AU" b="0" noProof="0" dirty="0" smtClean="0"/>
              <a:t>Trainer demonstrates how resolve conflict with tour group members and provides an opportunity for students to do the same.</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76864210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notes </a:t>
            </a:r>
            <a:r>
              <a:rPr lang="en-AU" sz="1200" kern="1200" dirty="0" smtClean="0">
                <a:solidFill>
                  <a:schemeClr val="tx1"/>
                </a:solidFill>
                <a:latin typeface="+mn-lt"/>
                <a:ea typeface="+mn-ea"/>
                <a:cs typeface="+mn-cs"/>
              </a:rPr>
              <a:t>the following are important considerations regarding aids and materials to be used in an interpretive activity:</a:t>
            </a:r>
          </a:p>
          <a:p>
            <a:pPr marL="171450" indent="-171450">
              <a:buFont typeface="Arial" pitchFamily="34" charset="0"/>
              <a:buChar char="•"/>
            </a:pPr>
            <a:r>
              <a:rPr lang="en-AU" sz="1200" kern="1200" dirty="0" smtClean="0">
                <a:solidFill>
                  <a:schemeClr val="tx1"/>
                </a:solidFill>
                <a:latin typeface="+mn-lt"/>
                <a:ea typeface="+mn-ea"/>
                <a:cs typeface="+mn-cs"/>
              </a:rPr>
              <a:t>All aids and materials to be used for an interpretive activity need to have been prepared and packed as part of the planning and preparation process for a tour – it is ‘too late’ to do this on-tour/at the activity site because there is just too much else to do</a:t>
            </a:r>
          </a:p>
          <a:p>
            <a:pPr marL="171450" indent="-171450">
              <a:buFont typeface="Arial" pitchFamily="34" charset="0"/>
              <a:buChar char="•"/>
            </a:pPr>
            <a:r>
              <a:rPr lang="en-AU" sz="1200" kern="1200" dirty="0" smtClean="0">
                <a:solidFill>
                  <a:schemeClr val="tx1"/>
                </a:solidFill>
                <a:latin typeface="+mn-lt"/>
                <a:ea typeface="+mn-ea"/>
                <a:cs typeface="+mn-cs"/>
              </a:rPr>
              <a:t>Aids and materials must be appropriate to the individual nature of the activity – and:</a:t>
            </a:r>
          </a:p>
          <a:p>
            <a:pPr marL="628650" lvl="1" indent="-171450">
              <a:buFont typeface="Arial" pitchFamily="34" charset="0"/>
              <a:buChar char="•"/>
            </a:pPr>
            <a:r>
              <a:rPr lang="en-US" sz="1200" kern="1200" dirty="0" smtClean="0">
                <a:solidFill>
                  <a:schemeClr val="tx1"/>
                </a:solidFill>
                <a:latin typeface="+mn-lt"/>
                <a:ea typeface="+mn-ea"/>
                <a:cs typeface="+mn-cs"/>
              </a:rPr>
              <a:t>Allow the identified objectives to be attained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Reflect required/requested information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Revised regularly to ensure they match changed conditions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Items must be sufficient in number – so every tour group member receives ‘their own’ copy of hard copy materials</a:t>
            </a:r>
          </a:p>
          <a:p>
            <a:pPr marL="171450" indent="-171450">
              <a:buFont typeface="Arial" pitchFamily="34" charset="0"/>
              <a:buChar char="•"/>
            </a:pPr>
            <a:r>
              <a:rPr lang="en-AU" sz="1200" kern="1200" dirty="0" smtClean="0">
                <a:solidFill>
                  <a:schemeClr val="tx1"/>
                </a:solidFill>
                <a:latin typeface="+mn-lt"/>
                <a:ea typeface="+mn-ea"/>
                <a:cs typeface="+mn-cs"/>
              </a:rPr>
              <a:t>Items must be ‘user-friendly’ – this can mean they (may) need to be:</a:t>
            </a:r>
          </a:p>
          <a:p>
            <a:pPr marL="628650" lvl="1" indent="-171450">
              <a:buFont typeface="Arial" pitchFamily="34" charset="0"/>
              <a:buChar char="•"/>
            </a:pPr>
            <a:r>
              <a:rPr lang="en-US" sz="1200" kern="1200" dirty="0" smtClean="0">
                <a:solidFill>
                  <a:schemeClr val="tx1"/>
                </a:solidFill>
                <a:latin typeface="+mn-lt"/>
                <a:ea typeface="+mn-ea"/>
                <a:cs typeface="+mn-cs"/>
              </a:rPr>
              <a:t>Written/presented in a language which can be understood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Clear and unambiguous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Easy to carry/handle.</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114856905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gives examples of aids and materials </a:t>
            </a:r>
            <a:r>
              <a:rPr lang="en-AU" sz="1200" kern="1200" dirty="0" smtClean="0">
                <a:solidFill>
                  <a:schemeClr val="tx1"/>
                </a:solidFill>
                <a:latin typeface="+mn-lt"/>
                <a:ea typeface="+mn-ea"/>
                <a:cs typeface="+mn-cs"/>
              </a:rPr>
              <a:t>commonly used:</a:t>
            </a:r>
          </a:p>
          <a:p>
            <a:pPr marL="171450" indent="-171450">
              <a:buFont typeface="Arial" pitchFamily="34" charset="0"/>
              <a:buChar char="•"/>
            </a:pPr>
            <a:r>
              <a:rPr lang="en-AU" sz="1200" kern="1200" dirty="0" smtClean="0">
                <a:solidFill>
                  <a:schemeClr val="tx1"/>
                </a:solidFill>
                <a:latin typeface="+mn-lt"/>
                <a:ea typeface="+mn-ea"/>
                <a:cs typeface="+mn-cs"/>
              </a:rPr>
              <a:t>Hard copy items which will vary depending on the type of activity – such as:</a:t>
            </a:r>
          </a:p>
          <a:p>
            <a:pPr marL="628650" lvl="1" indent="-171450">
              <a:buFont typeface="Arial" pitchFamily="34" charset="0"/>
              <a:buChar char="•"/>
            </a:pPr>
            <a:r>
              <a:rPr lang="en-AU" sz="1200" kern="1200" dirty="0" smtClean="0">
                <a:solidFill>
                  <a:schemeClr val="tx1"/>
                </a:solidFill>
                <a:latin typeface="+mn-lt"/>
                <a:ea typeface="+mn-ea"/>
                <a:cs typeface="+mn-cs"/>
              </a:rPr>
              <a:t>Safety tips</a:t>
            </a:r>
          </a:p>
          <a:p>
            <a:pPr marL="628650" lvl="1" indent="-171450">
              <a:buFont typeface="Arial" pitchFamily="34" charset="0"/>
              <a:buChar char="•"/>
            </a:pPr>
            <a:r>
              <a:rPr lang="en-AU" sz="1200" kern="1200" dirty="0" smtClean="0">
                <a:solidFill>
                  <a:schemeClr val="tx1"/>
                </a:solidFill>
                <a:latin typeface="+mn-lt"/>
                <a:ea typeface="+mn-ea"/>
                <a:cs typeface="+mn-cs"/>
              </a:rPr>
              <a:t>Information handouts</a:t>
            </a:r>
          </a:p>
          <a:p>
            <a:pPr marL="628650" lvl="1" indent="-171450">
              <a:buFont typeface="Arial" pitchFamily="34" charset="0"/>
              <a:buChar char="•"/>
            </a:pPr>
            <a:r>
              <a:rPr lang="en-AU" sz="1200" kern="1200" dirty="0" smtClean="0">
                <a:solidFill>
                  <a:schemeClr val="tx1"/>
                </a:solidFill>
                <a:latin typeface="+mn-lt"/>
                <a:ea typeface="+mn-ea"/>
                <a:cs typeface="+mn-cs"/>
              </a:rPr>
              <a:t>Rules of the game</a:t>
            </a:r>
          </a:p>
          <a:p>
            <a:pPr marL="628650" lvl="1" indent="-171450">
              <a:buFont typeface="Arial" pitchFamily="34" charset="0"/>
              <a:buChar char="•"/>
            </a:pPr>
            <a:r>
              <a:rPr lang="en-AU" sz="1200" kern="1200" dirty="0" smtClean="0">
                <a:solidFill>
                  <a:schemeClr val="tx1"/>
                </a:solidFill>
                <a:latin typeface="+mn-lt"/>
                <a:ea typeface="+mn-ea"/>
                <a:cs typeface="+mn-cs"/>
              </a:rPr>
              <a:t>Permanent (‘take home’) copy of the scripted commentary provided by the Tour Guide</a:t>
            </a:r>
          </a:p>
          <a:p>
            <a:pPr marL="628650" lvl="1" indent="-171450">
              <a:buFont typeface="Arial" pitchFamily="34" charset="0"/>
              <a:buChar char="•"/>
            </a:pPr>
            <a:r>
              <a:rPr lang="en-AU" sz="1200" kern="1200" dirty="0" smtClean="0">
                <a:solidFill>
                  <a:schemeClr val="tx1"/>
                </a:solidFill>
                <a:latin typeface="+mn-lt"/>
                <a:ea typeface="+mn-ea"/>
                <a:cs typeface="+mn-cs"/>
              </a:rPr>
              <a:t>Maps</a:t>
            </a:r>
          </a:p>
          <a:p>
            <a:pPr marL="628650" lvl="1" indent="-171450">
              <a:buFont typeface="Arial" pitchFamily="34" charset="0"/>
              <a:buChar char="•"/>
            </a:pPr>
            <a:r>
              <a:rPr lang="en-AU" sz="1200" kern="1200" dirty="0" smtClean="0">
                <a:solidFill>
                  <a:schemeClr val="tx1"/>
                </a:solidFill>
                <a:latin typeface="+mn-lt"/>
                <a:ea typeface="+mn-ea"/>
                <a:cs typeface="+mn-cs"/>
              </a:rPr>
              <a:t>Diagrams</a:t>
            </a:r>
          </a:p>
          <a:p>
            <a:pPr marL="628650" lvl="1" indent="-171450">
              <a:buFont typeface="Arial" pitchFamily="34" charset="0"/>
              <a:buChar char="•"/>
            </a:pPr>
            <a:r>
              <a:rPr lang="en-AU" sz="1200" kern="1200" dirty="0" smtClean="0">
                <a:solidFill>
                  <a:schemeClr val="tx1"/>
                </a:solidFill>
                <a:latin typeface="+mn-lt"/>
                <a:ea typeface="+mn-ea"/>
                <a:cs typeface="+mn-cs"/>
              </a:rPr>
              <a:t>Photographs</a:t>
            </a:r>
          </a:p>
          <a:p>
            <a:pPr marL="628650" lvl="1" indent="-171450">
              <a:buFont typeface="Arial" pitchFamily="34" charset="0"/>
              <a:buChar char="•"/>
            </a:pPr>
            <a:r>
              <a:rPr lang="en-AU" sz="1200" kern="1200" dirty="0" smtClean="0">
                <a:solidFill>
                  <a:schemeClr val="tx1"/>
                </a:solidFill>
                <a:latin typeface="+mn-lt"/>
                <a:ea typeface="+mn-ea"/>
                <a:cs typeface="+mn-cs"/>
              </a:rPr>
              <a:t>Sight cards</a:t>
            </a:r>
          </a:p>
          <a:p>
            <a:pPr marL="628650" lvl="1" indent="-171450">
              <a:buFont typeface="Arial" pitchFamily="34" charset="0"/>
              <a:buChar char="•"/>
            </a:pPr>
            <a:r>
              <a:rPr lang="en-AU" sz="1200" kern="1200" dirty="0" smtClean="0">
                <a:solidFill>
                  <a:schemeClr val="tx1"/>
                </a:solidFill>
                <a:latin typeface="+mn-lt"/>
                <a:ea typeface="+mn-ea"/>
                <a:cs typeface="+mn-cs"/>
              </a:rPr>
              <a:t>Activity sheets</a:t>
            </a:r>
          </a:p>
          <a:p>
            <a:pPr marL="628650" lvl="1" indent="-171450">
              <a:buFont typeface="Arial" pitchFamily="34" charset="0"/>
              <a:buChar char="•"/>
            </a:pPr>
            <a:r>
              <a:rPr lang="en-AU" sz="1200" kern="1200" dirty="0" smtClean="0">
                <a:solidFill>
                  <a:schemeClr val="tx1"/>
                </a:solidFill>
                <a:latin typeface="+mn-lt"/>
                <a:ea typeface="+mn-ea"/>
                <a:cs typeface="+mn-cs"/>
              </a:rPr>
              <a:t>Exercise sheets</a:t>
            </a:r>
          </a:p>
          <a:p>
            <a:pPr marL="628650" lvl="1" indent="-171450">
              <a:buFont typeface="Arial" pitchFamily="34" charset="0"/>
              <a:buChar char="•"/>
            </a:pPr>
            <a:r>
              <a:rPr lang="en-AU" sz="1200" kern="1200" dirty="0" smtClean="0">
                <a:solidFill>
                  <a:schemeClr val="tx1"/>
                </a:solidFill>
                <a:latin typeface="+mn-lt"/>
                <a:ea typeface="+mn-ea"/>
                <a:cs typeface="+mn-cs"/>
              </a:rPr>
              <a:t>Question sheets</a:t>
            </a:r>
          </a:p>
          <a:p>
            <a:pPr marL="628650" lvl="1" indent="-171450">
              <a:buFont typeface="Arial" pitchFamily="34" charset="0"/>
              <a:buChar char="•"/>
            </a:pPr>
            <a:r>
              <a:rPr lang="en-AU" sz="1200" kern="1200" dirty="0" smtClean="0">
                <a:solidFill>
                  <a:schemeClr val="tx1"/>
                </a:solidFill>
                <a:latin typeface="+mn-lt"/>
                <a:ea typeface="+mn-ea"/>
                <a:cs typeface="+mn-cs"/>
              </a:rPr>
              <a:t>Score cards,</a:t>
            </a:r>
          </a:p>
          <a:p>
            <a:pPr>
              <a:buFont typeface="Arial" pitchFamily="34" charset="0"/>
              <a:buNone/>
            </a:pPr>
            <a:endParaRPr lang="en-AU" noProof="0" dirty="0" smtClean="0"/>
          </a:p>
          <a:p>
            <a:pPr>
              <a:buFont typeface="Arial" pitchFamily="34" charset="0"/>
              <a:buNone/>
            </a:pPr>
            <a:r>
              <a:rPr lang="en-AU" b="1" noProof="0" dirty="0" smtClean="0"/>
              <a:t>Classroom Activity</a:t>
            </a:r>
            <a:r>
              <a:rPr lang="en-AU" b="1" baseline="0" noProof="0" dirty="0" smtClean="0"/>
              <a:t> – Exercise</a:t>
            </a:r>
          </a:p>
          <a:p>
            <a:pPr>
              <a:buFont typeface="Arial" pitchFamily="34" charset="0"/>
              <a:buNone/>
            </a:pPr>
            <a:r>
              <a:rPr lang="en-AU" b="0" baseline="0" noProof="0" dirty="0" smtClean="0"/>
              <a:t>Trainer asks students to develop hard copy materials to support presentation of an identified interpretive activity,</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361500765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give examples of aids and materials </a:t>
            </a:r>
            <a:r>
              <a:rPr lang="en-AU" sz="1200" kern="1200" dirty="0" smtClean="0">
                <a:solidFill>
                  <a:schemeClr val="tx1"/>
                </a:solidFill>
                <a:latin typeface="+mn-lt"/>
                <a:ea typeface="+mn-ea"/>
                <a:cs typeface="+mn-cs"/>
              </a:rPr>
              <a:t>commonly used:</a:t>
            </a:r>
          </a:p>
          <a:p>
            <a:pPr marL="171450" indent="-171450">
              <a:buFont typeface="Arial" pitchFamily="34" charset="0"/>
              <a:buChar char="•"/>
            </a:pPr>
            <a:r>
              <a:rPr lang="en-AU" sz="1200" kern="1200" dirty="0" smtClean="0">
                <a:solidFill>
                  <a:schemeClr val="tx1"/>
                </a:solidFill>
                <a:latin typeface="+mn-lt"/>
                <a:ea typeface="+mn-ea"/>
                <a:cs typeface="+mn-cs"/>
              </a:rPr>
              <a:t>Activity-related physical resources (not including safety/PPE) – which may include:</a:t>
            </a:r>
          </a:p>
          <a:p>
            <a:pPr marL="628650" lvl="1" indent="-171450">
              <a:buFont typeface="Arial" pitchFamily="34" charset="0"/>
              <a:buChar char="•"/>
            </a:pPr>
            <a:r>
              <a:rPr lang="en-AU" sz="1200" kern="1200" dirty="0" smtClean="0">
                <a:solidFill>
                  <a:schemeClr val="tx1"/>
                </a:solidFill>
                <a:latin typeface="+mn-lt"/>
                <a:ea typeface="+mn-ea"/>
                <a:cs typeface="+mn-cs"/>
              </a:rPr>
              <a:t>Sports gear</a:t>
            </a:r>
          </a:p>
          <a:p>
            <a:pPr marL="628650" lvl="1" indent="-171450">
              <a:buFont typeface="Arial" pitchFamily="34" charset="0"/>
              <a:buChar char="•"/>
            </a:pPr>
            <a:r>
              <a:rPr lang="en-AU" sz="1200" kern="1200" dirty="0" smtClean="0">
                <a:solidFill>
                  <a:schemeClr val="tx1"/>
                </a:solidFill>
                <a:latin typeface="+mn-lt"/>
                <a:ea typeface="+mn-ea"/>
                <a:cs typeface="+mn-cs"/>
              </a:rPr>
              <a:t>Props</a:t>
            </a:r>
          </a:p>
          <a:p>
            <a:pPr marL="628650" lvl="1" indent="-171450">
              <a:buFont typeface="Arial" pitchFamily="34" charset="0"/>
              <a:buChar char="•"/>
            </a:pPr>
            <a:r>
              <a:rPr lang="en-AU" sz="1200" kern="1200" dirty="0" smtClean="0">
                <a:solidFill>
                  <a:schemeClr val="tx1"/>
                </a:solidFill>
                <a:latin typeface="+mn-lt"/>
                <a:ea typeface="+mn-ea"/>
                <a:cs typeface="+mn-cs"/>
              </a:rPr>
              <a:t>Costumes</a:t>
            </a:r>
          </a:p>
          <a:p>
            <a:pPr marL="628650" lvl="1" indent="-171450">
              <a:buFont typeface="Arial" pitchFamily="34" charset="0"/>
              <a:buChar char="•"/>
            </a:pPr>
            <a:r>
              <a:rPr lang="en-AU" sz="1200" kern="1200" dirty="0" smtClean="0">
                <a:solidFill>
                  <a:schemeClr val="tx1"/>
                </a:solidFill>
                <a:latin typeface="+mn-lt"/>
                <a:ea typeface="+mn-ea"/>
                <a:cs typeface="+mn-cs"/>
              </a:rPr>
              <a:t>Equipment and items specific to the individual nature and need of particular activities – for example:</a:t>
            </a:r>
          </a:p>
          <a:p>
            <a:pPr marL="1085850" lvl="2" indent="-171450">
              <a:buFont typeface="Arial" pitchFamily="34" charset="0"/>
              <a:buChar char="•"/>
            </a:pPr>
            <a:r>
              <a:rPr lang="en-AU" sz="1200" kern="1200" dirty="0" smtClean="0">
                <a:solidFill>
                  <a:schemeClr val="tx1"/>
                </a:solidFill>
                <a:latin typeface="+mn-lt"/>
                <a:ea typeface="+mn-ea"/>
                <a:cs typeface="+mn-cs"/>
              </a:rPr>
              <a:t>Pens; Note books; Binoculars; Nets</a:t>
            </a:r>
          </a:p>
          <a:p>
            <a:pPr marL="628650" lvl="1" indent="-171450">
              <a:buFont typeface="Arial" pitchFamily="34" charset="0"/>
              <a:buChar char="•"/>
            </a:pPr>
            <a:r>
              <a:rPr lang="en-AU" sz="1200" kern="1200" dirty="0" smtClean="0">
                <a:solidFill>
                  <a:schemeClr val="tx1"/>
                </a:solidFill>
                <a:latin typeface="+mn-lt"/>
                <a:ea typeface="+mn-ea"/>
                <a:cs typeface="+mn-cs"/>
              </a:rPr>
              <a:t>Special needs gear – to optimise engagement who have medical issues, disabilities or other individual needs</a:t>
            </a:r>
          </a:p>
          <a:p>
            <a:pPr marL="628650" lvl="1" indent="-171450">
              <a:buFont typeface="Arial" pitchFamily="34" charset="0"/>
              <a:buChar char="•"/>
            </a:pPr>
            <a:r>
              <a:rPr lang="en-AU" sz="1200" kern="1200" dirty="0" smtClean="0">
                <a:solidFill>
                  <a:schemeClr val="tx1"/>
                </a:solidFill>
                <a:latin typeface="+mn-lt"/>
                <a:ea typeface="+mn-ea"/>
                <a:cs typeface="+mn-cs"/>
              </a:rPr>
              <a:t>Natural resources – as appropriate,</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the use of a range of physical resources which might be used for an interpretive activity.</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159749224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give examples of aids and materials </a:t>
            </a:r>
            <a:r>
              <a:rPr lang="en-AU" sz="1200" kern="1200" dirty="0" smtClean="0">
                <a:solidFill>
                  <a:schemeClr val="tx1"/>
                </a:solidFill>
                <a:latin typeface="+mn-lt"/>
                <a:ea typeface="+mn-ea"/>
                <a:cs typeface="+mn-cs"/>
              </a:rPr>
              <a:t>commonly used:</a:t>
            </a:r>
          </a:p>
          <a:p>
            <a:pPr marL="171450" indent="-171450">
              <a:buFont typeface="Arial" pitchFamily="34" charset="0"/>
              <a:buChar char="•"/>
            </a:pPr>
            <a:r>
              <a:rPr lang="en-AU" sz="1200" kern="1200" dirty="0" smtClean="0">
                <a:solidFill>
                  <a:schemeClr val="tx1"/>
                </a:solidFill>
                <a:latin typeface="+mn-lt"/>
                <a:ea typeface="+mn-ea"/>
                <a:cs typeface="+mn-cs"/>
              </a:rPr>
              <a:t>Human resources – in the form of:</a:t>
            </a:r>
          </a:p>
          <a:p>
            <a:pPr marL="628650" lvl="1" indent="-171450">
              <a:buFont typeface="Arial" pitchFamily="34" charset="0"/>
              <a:buChar char="•"/>
            </a:pPr>
            <a:r>
              <a:rPr lang="en-AU" sz="1200" kern="1200" dirty="0" smtClean="0">
                <a:solidFill>
                  <a:schemeClr val="tx1"/>
                </a:solidFill>
                <a:latin typeface="+mn-lt"/>
                <a:ea typeface="+mn-ea"/>
                <a:cs typeface="+mn-cs"/>
              </a:rPr>
              <a:t>Sufficient observers – to monitor activities and intervene when safety is threatened</a:t>
            </a:r>
          </a:p>
          <a:p>
            <a:pPr marL="628650" lvl="1" indent="-171450">
              <a:buFont typeface="Arial" pitchFamily="34" charset="0"/>
              <a:buChar char="•"/>
            </a:pPr>
            <a:r>
              <a:rPr lang="en-AU" sz="1200" kern="1200" dirty="0" smtClean="0">
                <a:solidFill>
                  <a:schemeClr val="tx1"/>
                </a:solidFill>
                <a:latin typeface="+mn-lt"/>
                <a:ea typeface="+mn-ea"/>
                <a:cs typeface="+mn-cs"/>
              </a:rPr>
              <a:t>Performers and actors </a:t>
            </a:r>
          </a:p>
          <a:p>
            <a:pPr marL="628650" lvl="1" indent="-171450">
              <a:buFont typeface="Arial" pitchFamily="34" charset="0"/>
              <a:buChar char="•"/>
            </a:pPr>
            <a:r>
              <a:rPr lang="en-AU" sz="1200" kern="1200" dirty="0" smtClean="0">
                <a:solidFill>
                  <a:schemeClr val="tx1"/>
                </a:solidFill>
                <a:latin typeface="+mn-lt"/>
                <a:ea typeface="+mn-ea"/>
                <a:cs typeface="+mn-cs"/>
              </a:rPr>
              <a:t>Players, teams and troupes</a:t>
            </a:r>
          </a:p>
          <a:p>
            <a:pPr marL="628650" lvl="1" indent="-171450">
              <a:buFont typeface="Arial" pitchFamily="34" charset="0"/>
              <a:buChar char="•"/>
            </a:pPr>
            <a:r>
              <a:rPr lang="en-AU" sz="1200" kern="1200" dirty="0" smtClean="0">
                <a:solidFill>
                  <a:schemeClr val="tx1"/>
                </a:solidFill>
                <a:latin typeface="+mn-lt"/>
                <a:ea typeface="+mn-ea"/>
                <a:cs typeface="+mn-cs"/>
              </a:rPr>
              <a:t>Presenters and demonstrators</a:t>
            </a:r>
          </a:p>
          <a:p>
            <a:pPr marL="628650" lvl="1" indent="-171450">
              <a:buFont typeface="Arial" pitchFamily="34" charset="0"/>
              <a:buChar char="•"/>
            </a:pPr>
            <a:r>
              <a:rPr lang="en-AU" sz="1200" kern="1200" dirty="0" smtClean="0">
                <a:solidFill>
                  <a:schemeClr val="tx1"/>
                </a:solidFill>
                <a:latin typeface="+mn-lt"/>
                <a:ea typeface="+mn-ea"/>
                <a:cs typeface="+mn-cs"/>
              </a:rPr>
              <a:t>Guest speakers</a:t>
            </a:r>
          </a:p>
          <a:p>
            <a:pPr marL="628650" lvl="1" indent="-171450">
              <a:buFont typeface="Arial" pitchFamily="34" charset="0"/>
              <a:buChar char="•"/>
            </a:pPr>
            <a:r>
              <a:rPr lang="en-AU" sz="1200" kern="1200" dirty="0" smtClean="0">
                <a:solidFill>
                  <a:schemeClr val="tx1"/>
                </a:solidFill>
                <a:latin typeface="+mn-lt"/>
                <a:ea typeface="+mn-ea"/>
                <a:cs typeface="+mn-cs"/>
              </a:rPr>
              <a:t>Aides/assistants</a:t>
            </a:r>
          </a:p>
          <a:p>
            <a:pPr marL="628650" lvl="1" indent="-171450">
              <a:buFont typeface="Arial" pitchFamily="34" charset="0"/>
              <a:buChar char="•"/>
            </a:pPr>
            <a:r>
              <a:rPr lang="en-AU" sz="1200" kern="1200" dirty="0" smtClean="0">
                <a:solidFill>
                  <a:schemeClr val="tx1"/>
                </a:solidFill>
                <a:latin typeface="+mn-lt"/>
                <a:ea typeface="+mn-ea"/>
                <a:cs typeface="+mn-cs"/>
              </a:rPr>
              <a:t>Involvement of local/special interest organisations and groups,</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Classroom Activity – Guest Speaker</a:t>
            </a:r>
          </a:p>
          <a:p>
            <a:r>
              <a:rPr lang="en-AU" sz="1200" b="0" kern="1200" dirty="0" smtClean="0">
                <a:solidFill>
                  <a:schemeClr val="tx1"/>
                </a:solidFill>
                <a:latin typeface="+mn-lt"/>
                <a:ea typeface="+mn-ea"/>
                <a:cs typeface="+mn-cs"/>
              </a:rPr>
              <a:t>Trainer arranges for Tour Guide to attend and:</a:t>
            </a:r>
          </a:p>
          <a:p>
            <a:pPr marL="171450" indent="-171450">
              <a:buFont typeface="Arial" pitchFamily="34" charset="0"/>
              <a:buChar char="•"/>
            </a:pPr>
            <a:r>
              <a:rPr lang="en-AU" sz="1200" b="0" kern="1200" dirty="0" smtClean="0">
                <a:solidFill>
                  <a:schemeClr val="tx1"/>
                </a:solidFill>
                <a:latin typeface="+mn-lt"/>
                <a:ea typeface="+mn-ea"/>
                <a:cs typeface="+mn-cs"/>
              </a:rPr>
              <a:t>Discuss preparation and use of aids and materials to support interpretive activities</a:t>
            </a:r>
          </a:p>
          <a:p>
            <a:pPr marL="171450" indent="-171450">
              <a:buFont typeface="Arial" pitchFamily="34" charset="0"/>
              <a:buChar char="•"/>
            </a:pPr>
            <a:r>
              <a:rPr lang="en-AU" sz="1200" b="0" kern="1200" dirty="0" smtClean="0">
                <a:solidFill>
                  <a:schemeClr val="tx1"/>
                </a:solidFill>
                <a:latin typeface="+mn-lt"/>
                <a:ea typeface="+mn-ea"/>
                <a:cs typeface="+mn-cs"/>
              </a:rPr>
              <a:t>Provide examples of same</a:t>
            </a:r>
          </a:p>
          <a:p>
            <a:pPr marL="171450" indent="-171450">
              <a:buFont typeface="Arial" pitchFamily="34" charset="0"/>
              <a:buChar char="•"/>
            </a:pPr>
            <a:r>
              <a:rPr lang="en-AU" sz="1200" b="0" kern="1200" dirty="0" smtClean="0">
                <a:solidFill>
                  <a:schemeClr val="tx1"/>
                </a:solidFill>
                <a:latin typeface="+mn-lt"/>
                <a:ea typeface="+mn-ea"/>
                <a:cs typeface="+mn-cs"/>
              </a:rPr>
              <a:t>Demonstrate use of same as part of presentation of an activity.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82630319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discusses </a:t>
            </a:r>
            <a:r>
              <a:rPr lang="en-AU" sz="1200" kern="1200" dirty="0" smtClean="0">
                <a:solidFill>
                  <a:schemeClr val="tx1"/>
                </a:solidFill>
                <a:latin typeface="+mn-lt"/>
                <a:ea typeface="+mn-ea"/>
                <a:cs typeface="+mn-cs"/>
              </a:rPr>
              <a:t>equipment and technology stating:</a:t>
            </a:r>
          </a:p>
          <a:p>
            <a:pPr marL="171450" indent="-171450">
              <a:buFont typeface="Arial" pitchFamily="34" charset="0"/>
              <a:buChar char="•"/>
            </a:pPr>
            <a:r>
              <a:rPr lang="en-AU" sz="1200" kern="1200" dirty="0" smtClean="0">
                <a:solidFill>
                  <a:schemeClr val="tx1"/>
                </a:solidFill>
                <a:latin typeface="+mn-lt"/>
                <a:ea typeface="+mn-ea"/>
                <a:cs typeface="+mn-cs"/>
              </a:rPr>
              <a:t>It may be required to present and/or conduct an activity</a:t>
            </a:r>
          </a:p>
          <a:p>
            <a:pPr marL="171450" indent="-171450">
              <a:buFont typeface="Arial" pitchFamily="34" charset="0"/>
              <a:buChar char="•"/>
            </a:pPr>
            <a:r>
              <a:rPr lang="en-AU" sz="1200" kern="1200" dirty="0" smtClean="0">
                <a:solidFill>
                  <a:schemeClr val="tx1"/>
                </a:solidFill>
                <a:latin typeface="+mn-lt"/>
                <a:ea typeface="+mn-ea"/>
                <a:cs typeface="+mn-cs"/>
              </a:rPr>
              <a:t>These items may:</a:t>
            </a:r>
          </a:p>
          <a:p>
            <a:pPr marL="628650" lvl="1" indent="-171450">
              <a:buFont typeface="Arial" pitchFamily="34" charset="0"/>
              <a:buChar char="•"/>
            </a:pPr>
            <a:r>
              <a:rPr lang="en-AU" sz="1200" kern="1200" dirty="0" smtClean="0">
                <a:solidFill>
                  <a:schemeClr val="tx1"/>
                </a:solidFill>
                <a:latin typeface="+mn-lt"/>
                <a:ea typeface="+mn-ea"/>
                <a:cs typeface="+mn-cs"/>
              </a:rPr>
              <a:t>Be available at the activity site by prior arrangement/supplied as a matter of course by the destination</a:t>
            </a:r>
          </a:p>
          <a:p>
            <a:pPr marL="628650" lvl="1" indent="-171450">
              <a:buFont typeface="Arial" pitchFamily="34" charset="0"/>
              <a:buChar char="•"/>
            </a:pPr>
            <a:r>
              <a:rPr lang="en-AU" sz="1200" kern="1200" dirty="0" smtClean="0">
                <a:solidFill>
                  <a:schemeClr val="tx1"/>
                </a:solidFill>
                <a:latin typeface="+mn-lt"/>
                <a:ea typeface="+mn-ea"/>
                <a:cs typeface="+mn-cs"/>
              </a:rPr>
              <a:t>Need to be taken to the activity site/venue by the Tour Guide.</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oversees research of and discussion on sites such as:</a:t>
            </a:r>
          </a:p>
          <a:p>
            <a:r>
              <a:rPr lang="en-AU" sz="1200" u="sng" kern="1200" dirty="0" smtClean="0">
                <a:solidFill>
                  <a:schemeClr val="tx1"/>
                </a:solidFill>
                <a:latin typeface="+mn-lt"/>
                <a:ea typeface="+mn-ea"/>
                <a:cs typeface="+mn-cs"/>
                <a:hlinkClick r:id="rId3"/>
              </a:rPr>
              <a:t>http://www.phonak-communications.com/en/products/tour-guiding/</a:t>
            </a:r>
            <a:r>
              <a:rPr lang="en-AU" sz="1200" kern="1200" dirty="0" smtClean="0">
                <a:solidFill>
                  <a:schemeClr val="tx1"/>
                </a:solidFill>
                <a:latin typeface="+mn-lt"/>
                <a:ea typeface="+mn-ea"/>
                <a:cs typeface="+mn-cs"/>
              </a:rPr>
              <a:t> - Phonak tour guiding</a:t>
            </a:r>
          </a:p>
          <a:p>
            <a:r>
              <a:rPr lang="en-AU" sz="1200" u="sng" kern="1200" dirty="0" smtClean="0">
                <a:solidFill>
                  <a:schemeClr val="tx1"/>
                </a:solidFill>
                <a:latin typeface="+mn-lt"/>
                <a:ea typeface="+mn-ea"/>
                <a:cs typeface="+mn-cs"/>
                <a:hlinkClick r:id="rId4"/>
              </a:rPr>
              <a:t>http://www.acoustiguide.com/group-guiding</a:t>
            </a:r>
            <a:r>
              <a:rPr lang="en-AU" sz="1200" kern="1200" dirty="0" smtClean="0">
                <a:solidFill>
                  <a:schemeClr val="tx1"/>
                </a:solidFill>
                <a:latin typeface="+mn-lt"/>
                <a:ea typeface="+mn-ea"/>
                <a:cs typeface="+mn-cs"/>
              </a:rPr>
              <a:t> - Acoustiguide group guiding.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75727505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advises equipment </a:t>
            </a:r>
            <a:r>
              <a:rPr lang="en-AU" sz="1200" kern="1200" dirty="0" smtClean="0">
                <a:solidFill>
                  <a:schemeClr val="tx1"/>
                </a:solidFill>
                <a:latin typeface="+mn-lt"/>
                <a:ea typeface="+mn-ea"/>
                <a:cs typeface="+mn-cs"/>
              </a:rPr>
              <a:t>and technology often includes:</a:t>
            </a:r>
          </a:p>
          <a:p>
            <a:pPr marL="171450" indent="-171450">
              <a:buFont typeface="Arial" pitchFamily="34" charset="0"/>
              <a:buChar char="•"/>
            </a:pPr>
            <a:r>
              <a:rPr lang="en-AU" sz="1200" kern="1200" dirty="0" smtClean="0">
                <a:solidFill>
                  <a:schemeClr val="tx1"/>
                </a:solidFill>
                <a:latin typeface="+mn-lt"/>
                <a:ea typeface="+mn-ea"/>
                <a:cs typeface="+mn-cs"/>
              </a:rPr>
              <a:t>PA systems and microphones </a:t>
            </a:r>
          </a:p>
          <a:p>
            <a:pPr marL="171450" indent="-171450">
              <a:buFont typeface="Arial" pitchFamily="34" charset="0"/>
              <a:buChar char="•"/>
            </a:pPr>
            <a:r>
              <a:rPr lang="en-AU" sz="1200" kern="1200" dirty="0" smtClean="0">
                <a:solidFill>
                  <a:schemeClr val="tx1"/>
                </a:solidFill>
                <a:latin typeface="+mn-lt"/>
                <a:ea typeface="+mn-ea"/>
                <a:cs typeface="+mn-cs"/>
              </a:rPr>
              <a:t>Megaphones </a:t>
            </a:r>
          </a:p>
          <a:p>
            <a:pPr marL="171450" indent="-171450">
              <a:buFont typeface="Arial" pitchFamily="34" charset="0"/>
              <a:buChar char="•"/>
            </a:pPr>
            <a:r>
              <a:rPr lang="en-AU" sz="1200" kern="1200" dirty="0" smtClean="0">
                <a:solidFill>
                  <a:schemeClr val="tx1"/>
                </a:solidFill>
                <a:latin typeface="+mn-lt"/>
                <a:ea typeface="+mn-ea"/>
                <a:cs typeface="+mn-cs"/>
              </a:rPr>
              <a:t>Overhead projectors </a:t>
            </a:r>
          </a:p>
          <a:p>
            <a:pPr marL="171450" indent="-171450">
              <a:buFont typeface="Arial" pitchFamily="34" charset="0"/>
              <a:buChar char="•"/>
            </a:pPr>
            <a:r>
              <a:rPr lang="en-AU" sz="1200" kern="1200" dirty="0" smtClean="0">
                <a:solidFill>
                  <a:schemeClr val="tx1"/>
                </a:solidFill>
                <a:latin typeface="+mn-lt"/>
                <a:ea typeface="+mn-ea"/>
                <a:cs typeface="+mn-cs"/>
              </a:rPr>
              <a:t>Data projectors </a:t>
            </a:r>
          </a:p>
          <a:p>
            <a:pPr marL="171450" indent="-171450">
              <a:buFont typeface="Arial" pitchFamily="34" charset="0"/>
              <a:buChar char="•"/>
            </a:pPr>
            <a:r>
              <a:rPr lang="en-AU" sz="1200" kern="1200" dirty="0" smtClean="0">
                <a:solidFill>
                  <a:schemeClr val="tx1"/>
                </a:solidFill>
                <a:latin typeface="+mn-lt"/>
                <a:ea typeface="+mn-ea"/>
                <a:cs typeface="+mn-cs"/>
              </a:rPr>
              <a:t>Slides and transparencies </a:t>
            </a:r>
          </a:p>
          <a:p>
            <a:pPr marL="171450" indent="-171450">
              <a:buFont typeface="Arial" pitchFamily="34" charset="0"/>
              <a:buChar char="•"/>
            </a:pPr>
            <a:r>
              <a:rPr lang="en-AU" sz="1200" kern="1200" dirty="0" smtClean="0">
                <a:solidFill>
                  <a:schemeClr val="tx1"/>
                </a:solidFill>
                <a:latin typeface="+mn-lt"/>
                <a:ea typeface="+mn-ea"/>
                <a:cs typeface="+mn-cs"/>
              </a:rPr>
              <a:t>Sound and lighting technologies</a:t>
            </a:r>
          </a:p>
          <a:p>
            <a:pPr marL="171450" indent="-171450">
              <a:buFont typeface="Arial" pitchFamily="34" charset="0"/>
              <a:buChar char="•"/>
            </a:pPr>
            <a:r>
              <a:rPr lang="en-AU" sz="1200" kern="1200" dirty="0" smtClean="0">
                <a:solidFill>
                  <a:schemeClr val="tx1"/>
                </a:solidFill>
                <a:latin typeface="+mn-lt"/>
                <a:ea typeface="+mn-ea"/>
                <a:cs typeface="+mn-cs"/>
              </a:rPr>
              <a:t>Laser pointers</a:t>
            </a:r>
          </a:p>
          <a:p>
            <a:pPr marL="171450" indent="-171450">
              <a:buFont typeface="Arial" pitchFamily="34" charset="0"/>
              <a:buChar char="•"/>
            </a:pPr>
            <a:r>
              <a:rPr lang="en-AU" sz="1200" kern="1200" dirty="0" smtClean="0">
                <a:solidFill>
                  <a:schemeClr val="tx1"/>
                </a:solidFill>
                <a:latin typeface="+mn-lt"/>
                <a:ea typeface="+mn-ea"/>
                <a:cs typeface="+mn-cs"/>
              </a:rPr>
              <a:t>Personal electronic devices.</a:t>
            </a:r>
          </a:p>
          <a:p>
            <a:pPr>
              <a:buFont typeface="Arial" pitchFamily="34" charset="0"/>
              <a:buNone/>
            </a:pPr>
            <a:endParaRPr lang="en-AU" noProof="0" dirty="0" smtClean="0"/>
          </a:p>
          <a:p>
            <a:pPr>
              <a:buFont typeface="Arial" pitchFamily="34" charset="0"/>
              <a:buNone/>
            </a:pPr>
            <a:r>
              <a:rPr lang="en-AU" b="1" noProof="0" dirty="0" smtClean="0"/>
              <a:t>Classroom</a:t>
            </a:r>
            <a:r>
              <a:rPr lang="en-AU" b="1" baseline="0" noProof="0" dirty="0" smtClean="0"/>
              <a:t> Activity – demonstration and Practice</a:t>
            </a:r>
          </a:p>
          <a:p>
            <a:pPr>
              <a:buFont typeface="Arial" pitchFamily="34" charset="0"/>
              <a:buNone/>
            </a:pPr>
            <a:r>
              <a:rPr lang="en-AU" b="0" baseline="0" noProof="0" dirty="0" smtClean="0"/>
              <a:t>Trainer demonstrates use of a range of equipment and technology for presenting interpretive activities as identified on the slide and provides opportunity for students to practice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45429155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a:t>
            </a:r>
            <a:r>
              <a:rPr lang="en-AU" sz="1200" kern="1200" dirty="0" smtClean="0">
                <a:solidFill>
                  <a:schemeClr val="tx1"/>
                </a:solidFill>
                <a:latin typeface="+mn-lt"/>
                <a:ea typeface="+mn-ea"/>
                <a:cs typeface="+mn-cs"/>
              </a:rPr>
              <a:t>where appropriate the Tour Guide should encourage individuals in the tour group/audience to participate in the activity but this must be done with sensitivity and it is important to be sensitive in this regard because:</a:t>
            </a:r>
          </a:p>
          <a:p>
            <a:pPr marL="171450" indent="-171450">
              <a:buFont typeface="Arial" pitchFamily="34" charset="0"/>
              <a:buChar char="•"/>
            </a:pPr>
            <a:r>
              <a:rPr lang="en-AU" sz="1200" kern="1200" dirty="0" smtClean="0">
                <a:solidFill>
                  <a:schemeClr val="tx1"/>
                </a:solidFill>
                <a:latin typeface="+mn-lt"/>
                <a:ea typeface="+mn-ea"/>
                <a:cs typeface="+mn-cs"/>
              </a:rPr>
              <a:t>Some people simply do not want to participate in every activity – they may be:</a:t>
            </a:r>
          </a:p>
          <a:p>
            <a:pPr marL="628650" lvl="1" indent="-171450">
              <a:buFont typeface="Arial" pitchFamily="34" charset="0"/>
              <a:buChar char="•"/>
            </a:pPr>
            <a:r>
              <a:rPr lang="en-US" sz="1200" kern="1200" dirty="0" smtClean="0">
                <a:solidFill>
                  <a:schemeClr val="tx1"/>
                </a:solidFill>
                <a:latin typeface="+mn-lt"/>
                <a:ea typeface="+mn-ea"/>
                <a:cs typeface="+mn-cs"/>
              </a:rPr>
              <a:t>Happy to observe and watch what others do</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Seeking to simply experience the moment on their own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Shy and/or self-conscious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Confined by traditional thinking</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Some people are unable to participate in every activity – due to:</a:t>
            </a:r>
          </a:p>
          <a:p>
            <a:pPr marL="628650" lvl="1" indent="-171450">
              <a:buFont typeface="Arial" pitchFamily="34" charset="0"/>
              <a:buChar char="•"/>
            </a:pPr>
            <a:r>
              <a:rPr lang="en-US" sz="1200" kern="1200" dirty="0" smtClean="0">
                <a:solidFill>
                  <a:schemeClr val="tx1"/>
                </a:solidFill>
                <a:latin typeface="+mn-lt"/>
                <a:ea typeface="+mn-ea"/>
                <a:cs typeface="+mn-cs"/>
              </a:rPr>
              <a:t>Tiredness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Lack of physical capacity/ability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Health/medical reasons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Need to care for/look after other.</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302513167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a:t>
            </a:r>
            <a:r>
              <a:rPr lang="en-AU" sz="1200" kern="1200" dirty="0" smtClean="0">
                <a:solidFill>
                  <a:schemeClr val="tx1"/>
                </a:solidFill>
                <a:latin typeface="+mn-lt"/>
                <a:ea typeface="+mn-ea"/>
                <a:cs typeface="+mn-cs"/>
              </a:rPr>
              <a:t>encouraging active engagement of tour group members with activities can be achieved by:</a:t>
            </a:r>
          </a:p>
          <a:p>
            <a:pPr marL="171450" indent="-171450">
              <a:buFont typeface="Arial" pitchFamily="34" charset="0"/>
              <a:buChar char="•"/>
            </a:pPr>
            <a:r>
              <a:rPr lang="en-AU" sz="1200" kern="1200" dirty="0" smtClean="0">
                <a:solidFill>
                  <a:schemeClr val="tx1"/>
                </a:solidFill>
                <a:latin typeface="+mn-lt"/>
                <a:ea typeface="+mn-ea"/>
                <a:cs typeface="+mn-cs"/>
              </a:rPr>
              <a:t>Being personally enthusiastic about the activity – with reference to:</a:t>
            </a:r>
          </a:p>
          <a:p>
            <a:pPr marL="628650" lvl="1" indent="-171450">
              <a:buFont typeface="Arial" pitchFamily="34" charset="0"/>
              <a:buChar char="•"/>
            </a:pPr>
            <a:r>
              <a:rPr lang="en-US" sz="1200" kern="1200" dirty="0" smtClean="0">
                <a:solidFill>
                  <a:schemeClr val="tx1"/>
                </a:solidFill>
                <a:latin typeface="+mn-lt"/>
                <a:ea typeface="+mn-ea"/>
                <a:cs typeface="+mn-cs"/>
              </a:rPr>
              <a:t>Personal energy levels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Actions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Body language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Verbally motivating people – through actions such as:</a:t>
            </a:r>
          </a:p>
          <a:p>
            <a:pPr marL="628650" lvl="1" indent="-171450">
              <a:buFont typeface="Arial" pitchFamily="34" charset="0"/>
              <a:buChar char="•"/>
            </a:pPr>
            <a:r>
              <a:rPr lang="en-US" sz="1200" kern="1200" dirty="0" smtClean="0">
                <a:solidFill>
                  <a:schemeClr val="tx1"/>
                </a:solidFill>
                <a:latin typeface="+mn-lt"/>
                <a:ea typeface="+mn-ea"/>
                <a:cs typeface="+mn-cs"/>
              </a:rPr>
              <a:t>Providing clear and detailed information and instructions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Giving tips about how to optimise the performance of the tour group members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Providing additional demonstration of what is required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Highlighting the benefits of the activity and the gains which can flow from engagement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Speaking from personal experience about feelings regarding involvement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Drawing comparisons with other activities and/or situations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Circulating throughout the group – and:</a:t>
            </a:r>
          </a:p>
          <a:p>
            <a:pPr marL="628650" lvl="1" indent="-171450">
              <a:buFont typeface="Arial" pitchFamily="34" charset="0"/>
              <a:buChar char="•"/>
            </a:pPr>
            <a:r>
              <a:rPr lang="en-US" sz="1200" kern="1200" dirty="0" smtClean="0">
                <a:solidFill>
                  <a:schemeClr val="tx1"/>
                </a:solidFill>
                <a:latin typeface="+mn-lt"/>
                <a:ea typeface="+mn-ea"/>
                <a:cs typeface="+mn-cs"/>
              </a:rPr>
              <a:t>Demonstrating personal passion for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Adding extra information or advice according to specific context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Offering comment based on identified need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Asking people about their progress and experience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Setting achievable/realistic targets/challenges for individuals or groups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Being understanding when people do </a:t>
            </a:r>
            <a:r>
              <a:rPr lang="en-US" sz="1200" b="1" kern="1200" dirty="0" smtClean="0">
                <a:solidFill>
                  <a:schemeClr val="tx1"/>
                </a:solidFill>
                <a:latin typeface="+mn-lt"/>
                <a:ea typeface="+mn-ea"/>
                <a:cs typeface="+mn-cs"/>
              </a:rPr>
              <a:t>not</a:t>
            </a:r>
            <a:r>
              <a:rPr lang="en-US" sz="1200" kern="1200" dirty="0" smtClean="0">
                <a:solidFill>
                  <a:schemeClr val="tx1"/>
                </a:solidFill>
                <a:latin typeface="+mn-lt"/>
                <a:ea typeface="+mn-ea"/>
                <a:cs typeface="+mn-cs"/>
              </a:rPr>
              <a:t> want to engage/participate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Sharing frustrations and disappointments.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293674157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present ways to encourage participation:</a:t>
            </a:r>
          </a:p>
          <a:p>
            <a:pPr marL="171450" indent="-171450">
              <a:buFont typeface="Arial" pitchFamily="34" charset="0"/>
              <a:buChar char="•"/>
            </a:pPr>
            <a:r>
              <a:rPr lang="en-AU" sz="1200" kern="1200" dirty="0" smtClean="0">
                <a:solidFill>
                  <a:schemeClr val="tx1"/>
                </a:solidFill>
                <a:latin typeface="+mn-lt"/>
                <a:ea typeface="+mn-ea"/>
                <a:cs typeface="+mn-cs"/>
              </a:rPr>
              <a:t>Tailoring provision of additional/ongoing information to the identified needs of the group – while the </a:t>
            </a:r>
            <a:r>
              <a:rPr lang="en-AU" sz="1200" i="1" kern="1200" dirty="0" smtClean="0">
                <a:solidFill>
                  <a:schemeClr val="tx1"/>
                </a:solidFill>
                <a:latin typeface="+mn-lt"/>
                <a:ea typeface="+mn-ea"/>
                <a:cs typeface="+mn-cs"/>
              </a:rPr>
              <a:t>scripted</a:t>
            </a:r>
            <a:r>
              <a:rPr lang="en-AU" sz="1200" kern="1200" dirty="0" smtClean="0">
                <a:solidFill>
                  <a:schemeClr val="tx1"/>
                </a:solidFill>
                <a:latin typeface="+mn-lt"/>
                <a:ea typeface="+mn-ea"/>
                <a:cs typeface="+mn-cs"/>
              </a:rPr>
              <a:t> commentary will/should have done this, it is also essential to do this with ‘issues arising’ throughout the activity such as:</a:t>
            </a:r>
          </a:p>
          <a:p>
            <a:pPr marL="628650" lvl="1" indent="-171450">
              <a:buFont typeface="Arial" pitchFamily="34" charset="0"/>
              <a:buChar char="•"/>
            </a:pPr>
            <a:r>
              <a:rPr lang="en-US" sz="1200" kern="1200" dirty="0" smtClean="0">
                <a:solidFill>
                  <a:schemeClr val="tx1"/>
                </a:solidFill>
                <a:latin typeface="+mn-lt"/>
                <a:ea typeface="+mn-ea"/>
                <a:cs typeface="+mn-cs"/>
              </a:rPr>
              <a:t>In response to questions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When unexpected events and sights arise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Using a prop kit – to add action, excitement, interest and flavour</a:t>
            </a:r>
          </a:p>
          <a:p>
            <a:pPr marL="628650" lvl="1" indent="-171450">
              <a:buFont typeface="Arial" pitchFamily="34" charset="0"/>
              <a:buChar char="•"/>
            </a:pPr>
            <a:r>
              <a:rPr lang="en-AU" sz="1200" kern="1200" dirty="0" smtClean="0">
                <a:solidFill>
                  <a:schemeClr val="tx1"/>
                </a:solidFill>
                <a:latin typeface="+mn-lt"/>
                <a:ea typeface="+mn-ea"/>
                <a:cs typeface="+mn-cs"/>
              </a:rPr>
              <a:t>Always consider including props which can be given to, and used by, tour group participants as a way of involving and including them – see previous notes</a:t>
            </a:r>
          </a:p>
          <a:p>
            <a:pPr marL="171450" indent="-171450">
              <a:buFont typeface="Arial" pitchFamily="34" charset="0"/>
              <a:buChar char="•"/>
            </a:pPr>
            <a:r>
              <a:rPr lang="en-AU" sz="1200" kern="1200" dirty="0" smtClean="0">
                <a:solidFill>
                  <a:schemeClr val="tx1"/>
                </a:solidFill>
                <a:latin typeface="+mn-lt"/>
                <a:ea typeface="+mn-ea"/>
                <a:cs typeface="+mn-cs"/>
              </a:rPr>
              <a:t>Using variety of approaches – this means ‘mixing it up when communicating through the use of:</a:t>
            </a:r>
          </a:p>
          <a:p>
            <a:pPr marL="628650" lvl="1" indent="-171450">
              <a:buFont typeface="Arial" pitchFamily="34" charset="0"/>
              <a:buChar char="•"/>
            </a:pPr>
            <a:r>
              <a:rPr lang="en-US" sz="1200" kern="1200" dirty="0" smtClean="0">
                <a:solidFill>
                  <a:schemeClr val="tx1"/>
                </a:solidFill>
                <a:latin typeface="+mn-lt"/>
                <a:ea typeface="+mn-ea"/>
                <a:cs typeface="+mn-cs"/>
              </a:rPr>
              <a:t>Humour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Statistics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Questions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Personal anecdotes and experiences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Highlighting unexpected occurrences – and including them in interactions with the group or individuals. </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3727492268"/>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present ways to encourage participation:</a:t>
            </a:r>
          </a:p>
          <a:p>
            <a:pPr marL="171450" indent="-171450">
              <a:buFont typeface="Arial" pitchFamily="34" charset="0"/>
              <a:buChar char="•"/>
            </a:pPr>
            <a:r>
              <a:rPr lang="en-AU" sz="1200" kern="1200" dirty="0" smtClean="0">
                <a:solidFill>
                  <a:schemeClr val="tx1"/>
                </a:solidFill>
                <a:latin typeface="+mn-lt"/>
                <a:ea typeface="+mn-ea"/>
                <a:cs typeface="+mn-cs"/>
              </a:rPr>
              <a:t>Highlighting unexpected occurrences – and including them in interactions with the group or individuals </a:t>
            </a:r>
          </a:p>
          <a:p>
            <a:pPr marL="171450" indent="-171450">
              <a:buFont typeface="Arial" pitchFamily="34" charset="0"/>
              <a:buChar char="•"/>
            </a:pPr>
            <a:r>
              <a:rPr lang="en-AU" sz="1200" kern="1200" dirty="0" smtClean="0">
                <a:solidFill>
                  <a:schemeClr val="tx1"/>
                </a:solidFill>
                <a:latin typeface="+mn-lt"/>
                <a:ea typeface="+mn-ea"/>
                <a:cs typeface="+mn-cs"/>
              </a:rPr>
              <a:t>Interacting with </a:t>
            </a:r>
            <a:r>
              <a:rPr lang="en-AU" sz="1200" b="1" kern="1200" dirty="0" smtClean="0">
                <a:solidFill>
                  <a:schemeClr val="tx1"/>
                </a:solidFill>
                <a:latin typeface="+mn-lt"/>
                <a:ea typeface="+mn-ea"/>
                <a:cs typeface="+mn-cs"/>
              </a:rPr>
              <a:t>all</a:t>
            </a:r>
            <a:r>
              <a:rPr lang="en-AU" sz="1200" kern="1200" dirty="0" smtClean="0">
                <a:solidFill>
                  <a:schemeClr val="tx1"/>
                </a:solidFill>
                <a:latin typeface="+mn-lt"/>
                <a:ea typeface="+mn-ea"/>
                <a:cs typeface="+mn-cs"/>
              </a:rPr>
              <a:t> tour group members on an </a:t>
            </a:r>
            <a:r>
              <a:rPr lang="en-AU" sz="1200" b="1" kern="1200" dirty="0" smtClean="0">
                <a:solidFill>
                  <a:schemeClr val="tx1"/>
                </a:solidFill>
                <a:latin typeface="+mn-lt"/>
                <a:ea typeface="+mn-ea"/>
                <a:cs typeface="+mn-cs"/>
              </a:rPr>
              <a:t>ongoing</a:t>
            </a:r>
            <a:r>
              <a:rPr lang="en-AU" sz="1200" kern="1200" dirty="0" smtClean="0">
                <a:solidFill>
                  <a:schemeClr val="tx1"/>
                </a:solidFill>
                <a:latin typeface="+mn-lt"/>
                <a:ea typeface="+mn-ea"/>
                <a:cs typeface="+mn-cs"/>
              </a:rPr>
              <a:t> basis – through personal exchanges and shared experiences and feelings</a:t>
            </a:r>
          </a:p>
          <a:p>
            <a:pPr marL="628650" lvl="1" indent="-171450">
              <a:buFont typeface="Arial" pitchFamily="34" charset="0"/>
              <a:buChar char="•"/>
            </a:pPr>
            <a:r>
              <a:rPr lang="en-AU" sz="1200" kern="1200" dirty="0" smtClean="0">
                <a:solidFill>
                  <a:schemeClr val="tx1"/>
                </a:solidFill>
                <a:latin typeface="+mn-lt"/>
                <a:ea typeface="+mn-ea"/>
                <a:cs typeface="+mn-cs"/>
              </a:rPr>
              <a:t>Many complaints about a Tour Guide relate to their failure to mix with people, talk to/with them, and/or to demonstrate engagement with them</a:t>
            </a:r>
          </a:p>
          <a:p>
            <a:pPr marL="171450" indent="-171450">
              <a:buFont typeface="Arial" pitchFamily="34" charset="0"/>
              <a:buChar char="•"/>
            </a:pPr>
            <a:r>
              <a:rPr lang="en-AU" sz="1200" kern="1200" dirty="0" smtClean="0">
                <a:solidFill>
                  <a:schemeClr val="tx1"/>
                </a:solidFill>
                <a:latin typeface="+mn-lt"/>
                <a:ea typeface="+mn-ea"/>
                <a:cs typeface="+mn-cs"/>
              </a:rPr>
              <a:t>Improvising commentary – by incorporating topics of current interest to the group as identified through interaction with them during the activity and/or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675266444"/>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present ways to encourage participation:</a:t>
            </a:r>
          </a:p>
          <a:p>
            <a:pPr marL="171450" indent="-171450">
              <a:buFont typeface="Arial" pitchFamily="34" charset="0"/>
              <a:buChar char="•"/>
            </a:pPr>
            <a:r>
              <a:rPr lang="en-AU" sz="1200" kern="1200" dirty="0" smtClean="0">
                <a:solidFill>
                  <a:schemeClr val="tx1"/>
                </a:solidFill>
                <a:latin typeface="+mn-lt"/>
                <a:ea typeface="+mn-ea"/>
                <a:cs typeface="+mn-cs"/>
              </a:rPr>
              <a:t>Striving to deliver excellent service at all times regardless of the problems or situations which present themselves – this involves:</a:t>
            </a:r>
          </a:p>
          <a:p>
            <a:pPr marL="628650" lvl="1" indent="-171450">
              <a:buFont typeface="Arial" pitchFamily="34" charset="0"/>
              <a:buChar char="•"/>
            </a:pPr>
            <a:r>
              <a:rPr lang="en-US" sz="1200" kern="1200" dirty="0" smtClean="0">
                <a:solidFill>
                  <a:schemeClr val="tx1"/>
                </a:solidFill>
                <a:latin typeface="+mn-lt"/>
                <a:ea typeface="+mn-ea"/>
                <a:cs typeface="+mn-cs"/>
              </a:rPr>
              <a:t>Turning negative circumstances into positive demonstrations of good service, wherever possible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i="1" kern="1200" dirty="0" smtClean="0">
                <a:solidFill>
                  <a:schemeClr val="tx1"/>
                </a:solidFill>
                <a:latin typeface="+mn-lt"/>
                <a:ea typeface="+mn-ea"/>
                <a:cs typeface="+mn-cs"/>
              </a:rPr>
              <a:t>Asking</a:t>
            </a:r>
            <a:r>
              <a:rPr lang="en-US" sz="1200" kern="1200" dirty="0" smtClean="0">
                <a:solidFill>
                  <a:schemeClr val="tx1"/>
                </a:solidFill>
                <a:latin typeface="+mn-lt"/>
                <a:ea typeface="+mn-ea"/>
                <a:cs typeface="+mn-cs"/>
              </a:rPr>
              <a:t> people to do things, rather than </a:t>
            </a:r>
            <a:r>
              <a:rPr lang="en-US" sz="1200" i="1" kern="1200" dirty="0" smtClean="0">
                <a:solidFill>
                  <a:schemeClr val="tx1"/>
                </a:solidFill>
                <a:latin typeface="+mn-lt"/>
                <a:ea typeface="+mn-ea"/>
                <a:cs typeface="+mn-cs"/>
              </a:rPr>
              <a:t>telling</a:t>
            </a:r>
            <a:r>
              <a:rPr lang="en-US" sz="1200" kern="1200" dirty="0" smtClean="0">
                <a:solidFill>
                  <a:schemeClr val="tx1"/>
                </a:solidFill>
                <a:latin typeface="+mn-lt"/>
                <a:ea typeface="+mn-ea"/>
                <a:cs typeface="+mn-cs"/>
              </a:rPr>
              <a:t> them</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Smiling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Treating tour group members as individuals and not as a ‘herd’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Responding to requests where possible – and explaining why not when requests cannot be met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Being polite and courteous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Keeping promises made about the tour and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Providing relevant, accurate, timely and informative commentary and comments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Keeping tour group members informed about the need to change planned/schedules activities – explaining the reasons why and (where possible) substituting a suitable alternative</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Demonstrating interest in tour group members – and their past, current and future experiences, such as:</a:t>
            </a:r>
          </a:p>
          <a:p>
            <a:pPr marL="628650" lvl="1" indent="-171450">
              <a:buFont typeface="Arial" pitchFamily="34" charset="0"/>
              <a:buChar char="•"/>
            </a:pPr>
            <a:r>
              <a:rPr lang="en-US" sz="1200" kern="1200" dirty="0" smtClean="0">
                <a:solidFill>
                  <a:schemeClr val="tx1"/>
                </a:solidFill>
                <a:latin typeface="+mn-lt"/>
                <a:ea typeface="+mn-ea"/>
                <a:cs typeface="+mn-cs"/>
              </a:rPr>
              <a:t>Where they have been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Where they are going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What they will be doing tomorrow/next week.</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216181338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discusses Tour Guide need to generate confidence </a:t>
            </a:r>
            <a:r>
              <a:rPr lang="en-AU" sz="1200" kern="1200" dirty="0" smtClean="0">
                <a:solidFill>
                  <a:schemeClr val="tx1"/>
                </a:solidFill>
                <a:latin typeface="+mn-lt"/>
                <a:ea typeface="+mn-ea"/>
                <a:cs typeface="+mn-cs"/>
              </a:rPr>
              <a:t>in tour group members in relation to interpretive activities noting this may be required in order to:</a:t>
            </a:r>
          </a:p>
          <a:p>
            <a:pPr marL="171450" indent="-171450">
              <a:buFont typeface="Arial" pitchFamily="34" charset="0"/>
              <a:buChar char="•"/>
            </a:pPr>
            <a:r>
              <a:rPr lang="en-AU" sz="1200" kern="1200" dirty="0" smtClean="0">
                <a:solidFill>
                  <a:schemeClr val="tx1"/>
                </a:solidFill>
                <a:latin typeface="+mn-lt"/>
                <a:ea typeface="+mn-ea"/>
                <a:cs typeface="+mn-cs"/>
              </a:rPr>
              <a:t>Optimise engagement with activities</a:t>
            </a:r>
          </a:p>
          <a:p>
            <a:pPr marL="171450" indent="-171450">
              <a:buFont typeface="Arial" pitchFamily="34" charset="0"/>
              <a:buChar char="•"/>
            </a:pPr>
            <a:r>
              <a:rPr lang="en-AU" sz="1200" kern="1200" dirty="0" smtClean="0">
                <a:solidFill>
                  <a:schemeClr val="tx1"/>
                </a:solidFill>
                <a:latin typeface="+mn-lt"/>
                <a:ea typeface="+mn-ea"/>
                <a:cs typeface="+mn-cs"/>
              </a:rPr>
              <a:t>Enable people to get the most from their experience</a:t>
            </a:r>
          </a:p>
          <a:p>
            <a:pPr marL="171450" indent="-171450">
              <a:buFont typeface="Arial" pitchFamily="34" charset="0"/>
              <a:buChar char="•"/>
            </a:pPr>
            <a:r>
              <a:rPr lang="en-AU" sz="1200" kern="1200" dirty="0" smtClean="0">
                <a:solidFill>
                  <a:schemeClr val="tx1"/>
                </a:solidFill>
                <a:latin typeface="+mn-lt"/>
                <a:ea typeface="+mn-ea"/>
                <a:cs typeface="+mn-cs"/>
              </a:rPr>
              <a:t>Demonstrate Tour Guide interest in individual tour group members and a willingness to help them</a:t>
            </a:r>
          </a:p>
          <a:p>
            <a:pPr marL="171450" indent="-171450">
              <a:buFont typeface="Arial" pitchFamily="34" charset="0"/>
              <a:buChar char="•"/>
            </a:pPr>
            <a:r>
              <a:rPr lang="en-AU" sz="1200" kern="1200" dirty="0" smtClean="0">
                <a:solidFill>
                  <a:schemeClr val="tx1"/>
                </a:solidFill>
                <a:latin typeface="+mn-lt"/>
                <a:ea typeface="+mn-ea"/>
                <a:cs typeface="+mn-cs"/>
              </a:rPr>
              <a:t>Reassure people about the safety of activities</a:t>
            </a:r>
          </a:p>
          <a:p>
            <a:pPr marL="171450" indent="-171450">
              <a:buFont typeface="Arial" pitchFamily="34" charset="0"/>
              <a:buChar char="•"/>
            </a:pPr>
            <a:r>
              <a:rPr lang="en-AU" sz="1200" kern="1200" dirty="0" smtClean="0">
                <a:solidFill>
                  <a:schemeClr val="tx1"/>
                </a:solidFill>
                <a:latin typeface="+mn-lt"/>
                <a:ea typeface="+mn-ea"/>
                <a:cs typeface="+mn-cs"/>
              </a:rPr>
              <a:t>Help customers believe they can do whatever is required.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4099886158"/>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observes </a:t>
            </a:r>
            <a:r>
              <a:rPr lang="en-AU" sz="1200" kern="1200" dirty="0" smtClean="0">
                <a:solidFill>
                  <a:schemeClr val="tx1"/>
                </a:solidFill>
                <a:latin typeface="+mn-lt"/>
                <a:ea typeface="+mn-ea"/>
                <a:cs typeface="+mn-cs"/>
              </a:rPr>
              <a:t>confidence may be generated by:</a:t>
            </a:r>
          </a:p>
          <a:p>
            <a:pPr marL="171450" indent="-171450">
              <a:buFont typeface="Arial" pitchFamily="34" charset="0"/>
              <a:buChar char="•"/>
            </a:pPr>
            <a:r>
              <a:rPr lang="en-AU" sz="1200" kern="1200" dirty="0" smtClean="0">
                <a:solidFill>
                  <a:schemeClr val="tx1"/>
                </a:solidFill>
                <a:latin typeface="+mn-lt"/>
                <a:ea typeface="+mn-ea"/>
                <a:cs typeface="+mn-cs"/>
              </a:rPr>
              <a:t>Talking about the activity and giving examples of:</a:t>
            </a:r>
          </a:p>
          <a:p>
            <a:pPr marL="628650" lvl="1" indent="-171450">
              <a:buFont typeface="Arial" pitchFamily="34" charset="0"/>
              <a:buChar char="•"/>
            </a:pPr>
            <a:r>
              <a:rPr lang="en-US" sz="1200" kern="1200" dirty="0" smtClean="0">
                <a:solidFill>
                  <a:schemeClr val="tx1"/>
                </a:solidFill>
                <a:latin typeface="+mn-lt"/>
                <a:ea typeface="+mn-ea"/>
                <a:cs typeface="+mn-cs"/>
              </a:rPr>
              <a:t>What is required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What can be expected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Demonstrating what to do</a:t>
            </a:r>
          </a:p>
          <a:p>
            <a:pPr marL="171450" indent="-171450">
              <a:buFont typeface="Arial" pitchFamily="34" charset="0"/>
              <a:buChar char="•"/>
            </a:pPr>
            <a:r>
              <a:rPr lang="en-AU" sz="1200" kern="1200" dirty="0" smtClean="0">
                <a:solidFill>
                  <a:schemeClr val="tx1"/>
                </a:solidFill>
                <a:latin typeface="+mn-lt"/>
                <a:ea typeface="+mn-ea"/>
                <a:cs typeface="+mn-cs"/>
              </a:rPr>
              <a:t>Providing personal/one-on-one assistance</a:t>
            </a:r>
          </a:p>
          <a:p>
            <a:pPr marL="171450" indent="-171450">
              <a:buFont typeface="Arial" pitchFamily="34" charset="0"/>
              <a:buChar char="•"/>
            </a:pPr>
            <a:r>
              <a:rPr lang="en-AU" sz="1200" kern="1200" dirty="0" smtClean="0">
                <a:solidFill>
                  <a:schemeClr val="tx1"/>
                </a:solidFill>
                <a:latin typeface="+mn-lt"/>
                <a:ea typeface="+mn-ea"/>
                <a:cs typeface="+mn-cs"/>
              </a:rPr>
              <a:t>Screening an instructional DVD.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63371412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provide ways to generate tour group member confidence in their ability:</a:t>
            </a:r>
          </a:p>
          <a:p>
            <a:pPr marL="171450" indent="-171450">
              <a:buFont typeface="Arial" pitchFamily="34" charset="0"/>
              <a:buChar char="•"/>
            </a:pPr>
            <a:r>
              <a:rPr lang="en-AU" sz="1200" kern="1200" dirty="0" smtClean="0">
                <a:solidFill>
                  <a:schemeClr val="tx1"/>
                </a:solidFill>
                <a:latin typeface="+mn-lt"/>
                <a:ea typeface="+mn-ea"/>
                <a:cs typeface="+mn-cs"/>
              </a:rPr>
              <a:t>Initiating interaction on a graduated basis – so the intensity of engagement increases as the skill/confidence of the individual grows</a:t>
            </a:r>
          </a:p>
          <a:p>
            <a:pPr marL="171450" indent="-171450">
              <a:buFont typeface="Arial" pitchFamily="34" charset="0"/>
              <a:buChar char="•"/>
            </a:pPr>
            <a:r>
              <a:rPr lang="en-AU" sz="1200" kern="1200" dirty="0" smtClean="0">
                <a:solidFill>
                  <a:schemeClr val="tx1"/>
                </a:solidFill>
                <a:latin typeface="+mn-lt"/>
                <a:ea typeface="+mn-ea"/>
                <a:cs typeface="+mn-cs"/>
              </a:rPr>
              <a:t>Congratulating individuals on effort as well as achievement</a:t>
            </a:r>
          </a:p>
          <a:p>
            <a:pPr marL="171450" indent="-171450">
              <a:buFont typeface="Arial" pitchFamily="34" charset="0"/>
              <a:buChar char="•"/>
            </a:pPr>
            <a:r>
              <a:rPr lang="en-AU" sz="1200" kern="1200" dirty="0" smtClean="0">
                <a:solidFill>
                  <a:schemeClr val="tx1"/>
                </a:solidFill>
                <a:latin typeface="+mn-lt"/>
                <a:ea typeface="+mn-ea"/>
                <a:cs typeface="+mn-cs"/>
              </a:rPr>
              <a:t>Encouraging people to continue trying.</a:t>
            </a:r>
          </a:p>
          <a:p>
            <a:pPr>
              <a:buFont typeface="Arial" pitchFamily="34" charset="0"/>
              <a:buNone/>
            </a:pPr>
            <a:endParaRPr lang="en-AU" baseline="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3587516290"/>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presents tips for </a:t>
            </a:r>
            <a:r>
              <a:rPr lang="en-AU" sz="1200" kern="1200" dirty="0" smtClean="0">
                <a:solidFill>
                  <a:schemeClr val="tx1"/>
                </a:solidFill>
                <a:latin typeface="+mn-lt"/>
                <a:ea typeface="+mn-ea"/>
                <a:cs typeface="+mn-cs"/>
              </a:rPr>
              <a:t>answering questions asked as part of an activity include:</a:t>
            </a:r>
          </a:p>
          <a:p>
            <a:pPr marL="171450" indent="-171450">
              <a:buFont typeface="Arial" pitchFamily="34" charset="0"/>
              <a:buChar char="•"/>
            </a:pPr>
            <a:r>
              <a:rPr lang="en-AU" sz="1200" kern="1200" dirty="0" smtClean="0">
                <a:solidFill>
                  <a:schemeClr val="tx1"/>
                </a:solidFill>
                <a:latin typeface="+mn-lt"/>
                <a:ea typeface="+mn-ea"/>
                <a:cs typeface="+mn-cs"/>
              </a:rPr>
              <a:t>Thank the person for the question – this encourages others to ask questions as it shows questions are actually welcomed</a:t>
            </a:r>
          </a:p>
          <a:p>
            <a:pPr marL="171450" indent="-171450">
              <a:buFont typeface="Arial" pitchFamily="34" charset="0"/>
              <a:buChar char="•"/>
            </a:pPr>
            <a:r>
              <a:rPr lang="en-AU" sz="1200" kern="1200" dirty="0" smtClean="0">
                <a:solidFill>
                  <a:schemeClr val="tx1"/>
                </a:solidFill>
                <a:latin typeface="+mn-lt"/>
                <a:ea typeface="+mn-ea"/>
                <a:cs typeface="+mn-cs"/>
              </a:rPr>
              <a:t>Mention the person’s name when thanking them – many participants wear name tags which can be used to identify who they are</a:t>
            </a:r>
          </a:p>
          <a:p>
            <a:pPr marL="628650" lvl="1" indent="-171450">
              <a:buFont typeface="Arial" pitchFamily="34" charset="0"/>
              <a:buChar char="•"/>
            </a:pPr>
            <a:r>
              <a:rPr lang="en-AU" sz="1200" kern="1200" dirty="0" smtClean="0">
                <a:solidFill>
                  <a:schemeClr val="tx1"/>
                </a:solidFill>
                <a:latin typeface="+mn-lt"/>
                <a:ea typeface="+mn-ea"/>
                <a:cs typeface="+mn-cs"/>
              </a:rPr>
              <a:t>This personalises the answer </a:t>
            </a:r>
            <a:r>
              <a:rPr lang="en-AU" sz="1200" i="1" kern="1200" dirty="0" smtClean="0">
                <a:solidFill>
                  <a:schemeClr val="tx1"/>
                </a:solidFill>
                <a:latin typeface="+mn-lt"/>
                <a:ea typeface="+mn-ea"/>
                <a:cs typeface="+mn-cs"/>
              </a:rPr>
              <a:t>and</a:t>
            </a:r>
            <a:r>
              <a:rPr lang="en-AU" sz="1200" kern="1200" dirty="0" smtClean="0">
                <a:solidFill>
                  <a:schemeClr val="tx1"/>
                </a:solidFill>
                <a:latin typeface="+mn-lt"/>
                <a:ea typeface="+mn-ea"/>
                <a:cs typeface="+mn-cs"/>
              </a:rPr>
              <a:t> people love to hear the sound of their own name </a:t>
            </a:r>
          </a:p>
          <a:p>
            <a:pPr marL="171450" indent="-171450">
              <a:buFont typeface="Arial" pitchFamily="34" charset="0"/>
              <a:buChar char="•"/>
            </a:pPr>
            <a:r>
              <a:rPr lang="en-AU" sz="1200" kern="1200" dirty="0" smtClean="0">
                <a:solidFill>
                  <a:schemeClr val="tx1"/>
                </a:solidFill>
                <a:latin typeface="+mn-lt"/>
                <a:ea typeface="+mn-ea"/>
                <a:cs typeface="+mn-cs"/>
              </a:rPr>
              <a:t>Smile when responding – if appropriate – this is another way of showing providing answers to questions is not an imposition.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205281352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present tips for </a:t>
            </a:r>
            <a:r>
              <a:rPr lang="en-AU" sz="1200" kern="1200" dirty="0" smtClean="0">
                <a:solidFill>
                  <a:schemeClr val="tx1"/>
                </a:solidFill>
                <a:latin typeface="+mn-lt"/>
                <a:ea typeface="+mn-ea"/>
                <a:cs typeface="+mn-cs"/>
              </a:rPr>
              <a:t>answering questions asked as part of an activity:</a:t>
            </a:r>
          </a:p>
          <a:p>
            <a:pPr marL="171450" indent="-171450">
              <a:buFont typeface="Arial" pitchFamily="34" charset="0"/>
              <a:buChar char="•"/>
            </a:pPr>
            <a:r>
              <a:rPr lang="en-AU" sz="1200" kern="1200" dirty="0" smtClean="0">
                <a:solidFill>
                  <a:schemeClr val="tx1"/>
                </a:solidFill>
                <a:latin typeface="+mn-lt"/>
                <a:ea typeface="+mn-ea"/>
                <a:cs typeface="+mn-cs"/>
              </a:rPr>
              <a:t>Use polite and respectful language – when replying, including the use of humour, where appropriate</a:t>
            </a:r>
          </a:p>
          <a:p>
            <a:pPr marL="171450" indent="-171450">
              <a:buFont typeface="Arial" pitchFamily="34" charset="0"/>
              <a:buChar char="•"/>
            </a:pPr>
            <a:r>
              <a:rPr lang="en-AU" sz="1200" kern="1200" dirty="0" smtClean="0">
                <a:solidFill>
                  <a:schemeClr val="tx1"/>
                </a:solidFill>
                <a:latin typeface="+mn-lt"/>
                <a:ea typeface="+mn-ea"/>
                <a:cs typeface="+mn-cs"/>
              </a:rPr>
              <a:t>Provide a direct answer to the question which was asked – this means:</a:t>
            </a:r>
          </a:p>
          <a:p>
            <a:pPr marL="628650" lvl="1" indent="-171450">
              <a:buFont typeface="Arial" pitchFamily="34" charset="0"/>
              <a:buChar char="•"/>
            </a:pPr>
            <a:r>
              <a:rPr lang="en-US" sz="1200" kern="1200" dirty="0" smtClean="0">
                <a:solidFill>
                  <a:schemeClr val="tx1"/>
                </a:solidFill>
                <a:latin typeface="+mn-lt"/>
                <a:ea typeface="+mn-ea"/>
                <a:cs typeface="+mn-cs"/>
              </a:rPr>
              <a:t>Giving a full, detailed, comprehensive and honest answer as relevant to the question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Not avoiding the question or re-directing or re-framing it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Being prepared to say “I’m sorry but I don’t know the answer to that question.” See below for more on this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Never fabricating answers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Ensure personal opinion in an answer is specifically identified as such – and not offered as fact</a:t>
            </a:r>
          </a:p>
          <a:p>
            <a:pPr marL="628650" lvl="1" indent="-171450">
              <a:buFont typeface="Arial" pitchFamily="34" charset="0"/>
              <a:buChar char="•"/>
            </a:pPr>
            <a:r>
              <a:rPr lang="en-AU" sz="1200" kern="1200" dirty="0" smtClean="0">
                <a:solidFill>
                  <a:schemeClr val="tx1"/>
                </a:solidFill>
                <a:latin typeface="+mn-lt"/>
                <a:ea typeface="+mn-ea"/>
                <a:cs typeface="+mn-cs"/>
              </a:rPr>
              <a:t>There is room when replying to some questions for the Tour Guide to offer personal opinions as part of certain answers (for example, questions asked regarding where to eat, the name of a good hotel, recommendations for other tours to take, identification of places to avoid) but it is important to make sure the customers know which part of the response it is.</a:t>
            </a:r>
          </a:p>
          <a:p>
            <a:pPr>
              <a:buFont typeface="Arial" pitchFamily="34" charset="0"/>
              <a:buChar cha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257822072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present tips for </a:t>
            </a:r>
            <a:r>
              <a:rPr lang="en-AU" sz="1200" kern="1200" dirty="0" smtClean="0">
                <a:solidFill>
                  <a:schemeClr val="tx1"/>
                </a:solidFill>
                <a:latin typeface="+mn-lt"/>
                <a:ea typeface="+mn-ea"/>
                <a:cs typeface="+mn-cs"/>
              </a:rPr>
              <a:t>answering questions asked as part of an activity:</a:t>
            </a:r>
          </a:p>
          <a:p>
            <a:pPr marL="171450" indent="-171450">
              <a:buFont typeface="Arial" pitchFamily="34" charset="0"/>
              <a:buChar char="•"/>
            </a:pPr>
            <a:r>
              <a:rPr lang="en-AU" sz="1200" kern="1200" dirty="0" smtClean="0">
                <a:solidFill>
                  <a:schemeClr val="tx1"/>
                </a:solidFill>
                <a:latin typeface="+mn-lt"/>
                <a:ea typeface="+mn-ea"/>
                <a:cs typeface="+mn-cs"/>
              </a:rPr>
              <a:t>Present the answers to the most appropriate ‘target’ – in some cases:</a:t>
            </a:r>
          </a:p>
          <a:p>
            <a:pPr marL="628650" lvl="1" indent="-171450">
              <a:buFont typeface="Arial" pitchFamily="34" charset="0"/>
              <a:buChar char="•"/>
            </a:pPr>
            <a:r>
              <a:rPr lang="en-US" sz="1200" kern="1200" dirty="0" smtClean="0">
                <a:solidFill>
                  <a:schemeClr val="tx1"/>
                </a:solidFill>
                <a:latin typeface="+mn-lt"/>
                <a:ea typeface="+mn-ea"/>
                <a:cs typeface="+mn-cs"/>
              </a:rPr>
              <a:t>The answer is best given just to the person who asked the question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It is better to include the rest of the group in the response which is provided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Respond promptly – taking care:</a:t>
            </a:r>
          </a:p>
          <a:p>
            <a:pPr marL="628650" lvl="1" indent="-171450">
              <a:buFont typeface="Arial" pitchFamily="34" charset="0"/>
              <a:buChar char="•"/>
            </a:pPr>
            <a:r>
              <a:rPr lang="en-US" sz="1200" kern="1200" dirty="0" smtClean="0">
                <a:solidFill>
                  <a:schemeClr val="tx1"/>
                </a:solidFill>
                <a:latin typeface="+mn-lt"/>
                <a:ea typeface="+mn-ea"/>
                <a:cs typeface="+mn-cs"/>
              </a:rPr>
              <a:t>Never to rush the response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Not to appear curt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To not give the impression there are better things to be done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Check the response has answered the question to satisfaction of the person who asked it – this can involve:</a:t>
            </a:r>
          </a:p>
          <a:p>
            <a:pPr marL="628650" lvl="1" indent="-171450">
              <a:buFont typeface="Arial" pitchFamily="34" charset="0"/>
              <a:buChar char="•"/>
            </a:pPr>
            <a:r>
              <a:rPr lang="en-US" sz="1200" kern="1200" dirty="0" smtClean="0">
                <a:solidFill>
                  <a:schemeClr val="tx1"/>
                </a:solidFill>
                <a:latin typeface="+mn-lt"/>
                <a:ea typeface="+mn-ea"/>
                <a:cs typeface="+mn-cs"/>
              </a:rPr>
              <a:t>Encouraging another question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Enquiring if clarification is needed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Asking if illustration of a point is required.</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Demonstration and Practice</a:t>
            </a:r>
          </a:p>
          <a:p>
            <a:pPr>
              <a:buFont typeface="Arial" pitchFamily="34" charset="0"/>
              <a:buNone/>
            </a:pPr>
            <a:r>
              <a:rPr lang="en-AU" b="0" noProof="0" dirty="0" smtClean="0"/>
              <a:t>Trainer demonstrates how respond to questions asked by tour group members in relation to an interpretive activity and provides an opportunity for students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157337912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strategy for responding to questions where the Tour Guide does not know the answer</a:t>
            </a:r>
            <a:r>
              <a:rPr lang="en-AU" sz="1200" kern="1200" dirty="0" smtClean="0">
                <a:solidFill>
                  <a:schemeClr val="tx1"/>
                </a:solidFill>
                <a:latin typeface="+mn-lt"/>
                <a:ea typeface="+mn-ea"/>
                <a:cs typeface="+mn-cs"/>
              </a:rPr>
              <a:t>:</a:t>
            </a:r>
          </a:p>
          <a:p>
            <a:pPr marL="171450" indent="-171450">
              <a:buFont typeface="Arial" pitchFamily="34" charset="0"/>
              <a:buChar char="•"/>
            </a:pPr>
            <a:r>
              <a:rPr lang="en-AU" sz="1200" kern="1200" dirty="0" smtClean="0">
                <a:solidFill>
                  <a:schemeClr val="tx1"/>
                </a:solidFill>
                <a:latin typeface="+mn-lt"/>
                <a:ea typeface="+mn-ea"/>
                <a:cs typeface="+mn-cs"/>
              </a:rPr>
              <a:t>Apologise for not knowing – this is a standard ‘customer service’ response and needs to be done</a:t>
            </a:r>
          </a:p>
          <a:p>
            <a:pPr marL="628650" lvl="1" indent="-171450">
              <a:buFont typeface="Arial" pitchFamily="34" charset="0"/>
              <a:buChar char="•"/>
            </a:pPr>
            <a:r>
              <a:rPr lang="en-AU" sz="1200" kern="1200" dirty="0" smtClean="0">
                <a:solidFill>
                  <a:schemeClr val="tx1"/>
                </a:solidFill>
                <a:latin typeface="+mn-lt"/>
                <a:ea typeface="+mn-ea"/>
                <a:cs typeface="+mn-cs"/>
              </a:rPr>
              <a:t>The apology needs to be genuine and accompanied by appropriate supporting body language/facial expressions</a:t>
            </a:r>
          </a:p>
          <a:p>
            <a:pPr marL="171450" indent="-171450">
              <a:buFont typeface="Arial" pitchFamily="34" charset="0"/>
              <a:buChar char="•"/>
            </a:pPr>
            <a:r>
              <a:rPr lang="en-AU" sz="1200" kern="1200" dirty="0" smtClean="0">
                <a:solidFill>
                  <a:schemeClr val="tx1"/>
                </a:solidFill>
                <a:latin typeface="+mn-lt"/>
                <a:ea typeface="+mn-ea"/>
                <a:cs typeface="+mn-cs"/>
              </a:rPr>
              <a:t>Maintain positive relations with the person/group – it is important:</a:t>
            </a:r>
          </a:p>
          <a:p>
            <a:pPr marL="628650" lvl="1" indent="-171450">
              <a:buFont typeface="Arial" pitchFamily="34" charset="0"/>
              <a:buChar char="•"/>
            </a:pPr>
            <a:r>
              <a:rPr lang="en-US" sz="1200" kern="1200" dirty="0" smtClean="0">
                <a:solidFill>
                  <a:schemeClr val="tx1"/>
                </a:solidFill>
                <a:latin typeface="+mn-lt"/>
                <a:ea typeface="+mn-ea"/>
                <a:cs typeface="+mn-cs"/>
              </a:rPr>
              <a:t>Not to show annoyance at not knowing the answer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Not to be personally embarrassed about the lack of knowledge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Not to give the person who asked the question the impression they should ask no more questions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Give information on an </a:t>
            </a:r>
            <a:r>
              <a:rPr lang="en-AU" sz="1200" i="1" kern="1200" dirty="0" smtClean="0">
                <a:solidFill>
                  <a:schemeClr val="tx1"/>
                </a:solidFill>
                <a:latin typeface="+mn-lt"/>
                <a:ea typeface="+mn-ea"/>
                <a:cs typeface="+mn-cs"/>
              </a:rPr>
              <a:t>associated</a:t>
            </a:r>
            <a:r>
              <a:rPr lang="en-AU" sz="1200" kern="1200" dirty="0" smtClean="0">
                <a:solidFill>
                  <a:schemeClr val="tx1"/>
                </a:solidFill>
                <a:latin typeface="+mn-lt"/>
                <a:ea typeface="+mn-ea"/>
                <a:cs typeface="+mn-cs"/>
              </a:rPr>
              <a:t> topic – which:</a:t>
            </a:r>
          </a:p>
          <a:p>
            <a:pPr marL="628650" lvl="1" indent="-171450">
              <a:buFont typeface="Arial" pitchFamily="34" charset="0"/>
              <a:buChar char="•"/>
            </a:pPr>
            <a:r>
              <a:rPr lang="en-US" sz="1200" kern="1200" dirty="0" smtClean="0">
                <a:solidFill>
                  <a:schemeClr val="tx1"/>
                </a:solidFill>
                <a:latin typeface="+mn-lt"/>
                <a:ea typeface="+mn-ea"/>
                <a:cs typeface="+mn-cs"/>
              </a:rPr>
              <a:t>May give some generally broad detail in relation to the actual question asked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At least shows a willingness to respond even though the real answer is not known.</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168861911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explain strategy for responding to questions where the Tour Guide does not know the answer</a:t>
            </a:r>
            <a:r>
              <a:rPr lang="en-AU" sz="1200" kern="1200" dirty="0" smtClean="0">
                <a:solidFill>
                  <a:schemeClr val="tx1"/>
                </a:solidFill>
                <a:latin typeface="+mn-lt"/>
                <a:ea typeface="+mn-ea"/>
                <a:cs typeface="+mn-cs"/>
              </a:rPr>
              <a:t>:</a:t>
            </a:r>
          </a:p>
          <a:p>
            <a:pPr marL="171450" indent="-171450">
              <a:buFont typeface="Arial" pitchFamily="34" charset="0"/>
              <a:buChar char="•"/>
            </a:pPr>
            <a:r>
              <a:rPr lang="en-AU" sz="1200" kern="1200" dirty="0" smtClean="0">
                <a:solidFill>
                  <a:schemeClr val="tx1"/>
                </a:solidFill>
                <a:latin typeface="+mn-lt"/>
                <a:ea typeface="+mn-ea"/>
                <a:cs typeface="+mn-cs"/>
              </a:rPr>
              <a:t>Refer the question to the rest of the group – to see if anyone else participating in the activity has an answer to the question</a:t>
            </a:r>
          </a:p>
          <a:p>
            <a:pPr marL="171450" indent="-171450">
              <a:buFont typeface="Arial" pitchFamily="34" charset="0"/>
              <a:buChar char="•"/>
            </a:pPr>
            <a:r>
              <a:rPr lang="en-AU" sz="1200" kern="1200" dirty="0" smtClean="0">
                <a:solidFill>
                  <a:schemeClr val="tx1"/>
                </a:solidFill>
                <a:latin typeface="+mn-lt"/>
                <a:ea typeface="+mn-ea"/>
                <a:cs typeface="+mn-cs"/>
              </a:rPr>
              <a:t>Refer customers to sources that may provide the relevant information at the conclusion of the activity or tour – this may be:</a:t>
            </a:r>
          </a:p>
          <a:p>
            <a:pPr marL="628650" lvl="1" indent="-171450">
              <a:buFont typeface="Arial" pitchFamily="34" charset="0"/>
              <a:buChar char="•"/>
            </a:pPr>
            <a:r>
              <a:rPr lang="en-US" sz="1200" kern="1200" dirty="0" smtClean="0">
                <a:solidFill>
                  <a:schemeClr val="tx1"/>
                </a:solidFill>
                <a:latin typeface="+mn-lt"/>
                <a:ea typeface="+mn-ea"/>
                <a:cs typeface="+mn-cs"/>
              </a:rPr>
              <a:t>Brochures, posters, handouts which are available at the point of disembarkation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 website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 Visitor Information Centre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 business, organisation or government agency/authority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Make arrangements to research the question – at the conclusion of the activity or tour and:</a:t>
            </a:r>
          </a:p>
          <a:p>
            <a:pPr marL="628650" lvl="1" indent="-171450">
              <a:buFont typeface="Arial" pitchFamily="34" charset="0"/>
              <a:buChar char="•"/>
            </a:pPr>
            <a:r>
              <a:rPr lang="en-US" sz="1200" kern="1200" dirty="0" smtClean="0">
                <a:solidFill>
                  <a:schemeClr val="tx1"/>
                </a:solidFill>
                <a:latin typeface="+mn-lt"/>
                <a:ea typeface="+mn-ea"/>
                <a:cs typeface="+mn-cs"/>
              </a:rPr>
              <a:t>Pass on the answer face-to-face at the point of disembarkation, if the person is willing to wait a few minutes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Send a reply via email to the person if they are able to provide an address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Give an SMS reply if they provide a number.</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a:buFont typeface="Arial" pitchFamily="34" charset="0"/>
              <a:buNone/>
            </a:pPr>
            <a:r>
              <a:rPr lang="en-AU" b="1" noProof="0" dirty="0" smtClean="0"/>
              <a:t>Classroom Activity – Demonstration and Practice</a:t>
            </a:r>
          </a:p>
          <a:p>
            <a:pPr>
              <a:buFont typeface="Arial" pitchFamily="34" charset="0"/>
              <a:buNone/>
            </a:pPr>
            <a:r>
              <a:rPr lang="en-AU" b="0" noProof="0" dirty="0" smtClean="0"/>
              <a:t>Trainer demonstrates how respond to questions asked by tour group members where the Tour Guide does not know the answer and provides an opportunity for students to do the same.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123444081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reminds </a:t>
            </a:r>
            <a:r>
              <a:rPr lang="en-AU" sz="1200" kern="1200" dirty="0" smtClean="0">
                <a:solidFill>
                  <a:schemeClr val="tx1"/>
                </a:solidFill>
                <a:latin typeface="+mn-lt"/>
                <a:ea typeface="+mn-ea"/>
                <a:cs typeface="+mn-cs"/>
              </a:rPr>
              <a:t>in some circumstances there can be a need to follow strict protocols make tour group members aware of requirements which apply to an upcoming activity and these protocols (often referred to as a Code of Conduct/Practice) often have to be observed when:</a:t>
            </a:r>
          </a:p>
          <a:p>
            <a:pPr marL="171450" indent="-171450">
              <a:buFont typeface="Arial" pitchFamily="34" charset="0"/>
              <a:buChar char="•"/>
            </a:pPr>
            <a:r>
              <a:rPr lang="en-AU" sz="1200" kern="1200" dirty="0" smtClean="0">
                <a:solidFill>
                  <a:schemeClr val="tx1"/>
                </a:solidFill>
                <a:latin typeface="+mn-lt"/>
                <a:ea typeface="+mn-ea"/>
                <a:cs typeface="+mn-cs"/>
              </a:rPr>
              <a:t>About to enter a local/host community or area</a:t>
            </a:r>
          </a:p>
          <a:p>
            <a:pPr marL="171450" indent="-171450">
              <a:buFont typeface="Arial" pitchFamily="34" charset="0"/>
              <a:buChar char="•"/>
            </a:pPr>
            <a:r>
              <a:rPr lang="en-AU" sz="1200" kern="1200" dirty="0" smtClean="0">
                <a:solidFill>
                  <a:schemeClr val="tx1"/>
                </a:solidFill>
                <a:latin typeface="+mn-lt"/>
                <a:ea typeface="+mn-ea"/>
                <a:cs typeface="+mn-cs"/>
              </a:rPr>
              <a:t>The Tour Operator belongs to a body/association who requires the Code to be communicated to customers and followed while ‘on site’</a:t>
            </a:r>
          </a:p>
          <a:p>
            <a:pPr marL="171450" indent="-171450">
              <a:buFont typeface="Arial" pitchFamily="34" charset="0"/>
              <a:buChar char="•"/>
            </a:pPr>
            <a:r>
              <a:rPr lang="en-AU" sz="1200" kern="1200" dirty="0" smtClean="0">
                <a:solidFill>
                  <a:schemeClr val="tx1"/>
                </a:solidFill>
                <a:latin typeface="+mn-lt"/>
                <a:ea typeface="+mn-ea"/>
                <a:cs typeface="+mn-cs"/>
              </a:rPr>
              <a:t>Such agreements have been negotiated with the people from an area/the lands to be visited.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2998460463"/>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indicates </a:t>
            </a:r>
            <a:r>
              <a:rPr lang="en-AU" sz="1200" kern="1200" dirty="0" smtClean="0">
                <a:solidFill>
                  <a:schemeClr val="tx1"/>
                </a:solidFill>
                <a:latin typeface="+mn-lt"/>
                <a:ea typeface="+mn-ea"/>
                <a:cs typeface="+mn-cs"/>
              </a:rPr>
              <a:t>notification about the requirements of the Code will commonly take the following forms:</a:t>
            </a:r>
          </a:p>
          <a:p>
            <a:pPr marL="171450" indent="-171450">
              <a:buFont typeface="Arial" pitchFamily="34" charset="0"/>
              <a:buChar char="•"/>
            </a:pPr>
            <a:r>
              <a:rPr lang="en-AU" sz="1200" kern="1200" dirty="0" smtClean="0">
                <a:solidFill>
                  <a:schemeClr val="tx1"/>
                </a:solidFill>
                <a:latin typeface="+mn-lt"/>
                <a:ea typeface="+mn-ea"/>
                <a:cs typeface="+mn-cs"/>
              </a:rPr>
              <a:t>Inclusion of a hard copy of the Code in materials handed out to tour group members either:</a:t>
            </a:r>
          </a:p>
          <a:p>
            <a:pPr marL="628650" lvl="1" indent="-171450">
              <a:buFont typeface="Arial" pitchFamily="34" charset="0"/>
              <a:buChar char="•"/>
            </a:pPr>
            <a:r>
              <a:rPr lang="en-US" sz="1200" kern="1200" dirty="0" smtClean="0">
                <a:solidFill>
                  <a:schemeClr val="tx1"/>
                </a:solidFill>
                <a:latin typeface="+mn-lt"/>
                <a:ea typeface="+mn-ea"/>
                <a:cs typeface="+mn-cs"/>
              </a:rPr>
              <a:t>When they buy/receive their tickets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As part of a pre-tour briefing</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Verbal communication to customers – which may occur:</a:t>
            </a:r>
          </a:p>
          <a:p>
            <a:pPr marL="628650" lvl="1" indent="-171450">
              <a:buFont typeface="Arial" pitchFamily="34" charset="0"/>
              <a:buChar char="•"/>
            </a:pPr>
            <a:r>
              <a:rPr lang="en-US" sz="1200" kern="1200" dirty="0" smtClean="0">
                <a:solidFill>
                  <a:schemeClr val="tx1"/>
                </a:solidFill>
                <a:latin typeface="+mn-lt"/>
                <a:ea typeface="+mn-ea"/>
                <a:cs typeface="+mn-cs"/>
              </a:rPr>
              <a:t>On the tour vehicle as the destination for the activity approaches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As part of a formal pre-activity briefing.</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373751452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instructs </a:t>
            </a:r>
            <a:r>
              <a:rPr lang="en-AU" sz="1200" kern="1200" dirty="0" smtClean="0">
                <a:solidFill>
                  <a:schemeClr val="tx1"/>
                </a:solidFill>
                <a:latin typeface="+mn-lt"/>
                <a:ea typeface="+mn-ea"/>
                <a:cs typeface="+mn-cs"/>
              </a:rPr>
              <a:t>general considerations relating to Codes include:</a:t>
            </a:r>
          </a:p>
          <a:p>
            <a:pPr marL="171450" indent="-171450">
              <a:buFont typeface="Arial" pitchFamily="34" charset="0"/>
              <a:buChar char="•"/>
            </a:pPr>
            <a:r>
              <a:rPr lang="en-AU" sz="1200" kern="1200" dirty="0" smtClean="0">
                <a:solidFill>
                  <a:schemeClr val="tx1"/>
                </a:solidFill>
                <a:latin typeface="+mn-lt"/>
                <a:ea typeface="+mn-ea"/>
                <a:cs typeface="+mn-cs"/>
              </a:rPr>
              <a:t>Determination of ‘unacceptable’ behaviour of tour groups and individual participants – as relevant to each site/community</a:t>
            </a:r>
          </a:p>
          <a:p>
            <a:pPr marL="171450" indent="-171450">
              <a:buFont typeface="Arial" pitchFamily="34" charset="0"/>
              <a:buChar char="•"/>
            </a:pPr>
            <a:r>
              <a:rPr lang="en-AU" sz="1200" kern="1200" dirty="0" smtClean="0">
                <a:solidFill>
                  <a:schemeClr val="tx1"/>
                </a:solidFill>
                <a:latin typeface="+mn-lt"/>
                <a:ea typeface="+mn-ea"/>
                <a:cs typeface="+mn-cs"/>
              </a:rPr>
              <a:t>Requirement for all tour groups to be briefed by Tour Guides before entering the community – highlighting what is deemed to be ‘acceptable behaviour’ in accordance with a prepared script developed in consultation with the local community</a:t>
            </a:r>
          </a:p>
          <a:p>
            <a:pPr marL="171450" indent="-171450">
              <a:buFont typeface="Arial" pitchFamily="34" charset="0"/>
              <a:buChar char="•"/>
            </a:pPr>
            <a:r>
              <a:rPr lang="en-AU" sz="1200" kern="1200" dirty="0" smtClean="0">
                <a:solidFill>
                  <a:schemeClr val="tx1"/>
                </a:solidFill>
                <a:latin typeface="+mn-lt"/>
                <a:ea typeface="+mn-ea"/>
                <a:cs typeface="+mn-cs"/>
              </a:rPr>
              <a:t>Need for Tour Guides to intervene where necessary – and bring unacceptable behaviour by tour group members back in-line with what is required</a:t>
            </a:r>
          </a:p>
          <a:p>
            <a:pPr marL="171450" indent="-171450">
              <a:buFont typeface="Arial" pitchFamily="34" charset="0"/>
              <a:buChar char="•"/>
            </a:pPr>
            <a:r>
              <a:rPr lang="en-AU" sz="1200" kern="1200" dirty="0" smtClean="0">
                <a:solidFill>
                  <a:schemeClr val="tx1"/>
                </a:solidFill>
                <a:latin typeface="+mn-lt"/>
                <a:ea typeface="+mn-ea"/>
                <a:cs typeface="+mn-cs"/>
              </a:rPr>
              <a:t>Need for adherence to all agreed/negotiated arrangements – at all times by all groups</a:t>
            </a:r>
          </a:p>
          <a:p>
            <a:pPr marL="171450" indent="-171450">
              <a:buFont typeface="Arial" pitchFamily="34" charset="0"/>
              <a:buChar char="•"/>
            </a:pPr>
            <a:r>
              <a:rPr lang="en-AU" sz="1200" kern="1200" dirty="0" smtClean="0">
                <a:solidFill>
                  <a:schemeClr val="tx1"/>
                </a:solidFill>
                <a:latin typeface="+mn-lt"/>
                <a:ea typeface="+mn-ea"/>
                <a:cs typeface="+mn-cs"/>
              </a:rPr>
              <a:t>Consequences which apply for non-compliance.</a:t>
            </a:r>
          </a:p>
          <a:p>
            <a:pPr>
              <a:buFont typeface="Arial" pitchFamily="34" charset="0"/>
              <a:buNone/>
            </a:pPr>
            <a:r>
              <a:rPr lang="en-AU" baseline="0"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3508529460"/>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gives specific examples of topics covered in Codes:</a:t>
            </a:r>
          </a:p>
          <a:p>
            <a:pPr marL="171450" indent="-171450">
              <a:buFont typeface="Arial" pitchFamily="34" charset="0"/>
              <a:buChar char="•"/>
            </a:pPr>
            <a:r>
              <a:rPr lang="en-AU" sz="1200" kern="1200" dirty="0" smtClean="0">
                <a:solidFill>
                  <a:schemeClr val="tx1"/>
                </a:solidFill>
                <a:latin typeface="+mn-lt"/>
                <a:ea typeface="+mn-ea"/>
                <a:cs typeface="+mn-cs"/>
              </a:rPr>
              <a:t>Parking only in designated areas</a:t>
            </a:r>
          </a:p>
          <a:p>
            <a:pPr marL="171450" indent="-171450">
              <a:buFont typeface="Arial" pitchFamily="34" charset="0"/>
              <a:buChar char="•"/>
            </a:pPr>
            <a:r>
              <a:rPr lang="en-AU" sz="1200" kern="1200" dirty="0" smtClean="0">
                <a:solidFill>
                  <a:schemeClr val="tx1"/>
                </a:solidFill>
                <a:latin typeface="+mn-lt"/>
                <a:ea typeface="+mn-ea"/>
                <a:cs typeface="+mn-cs"/>
              </a:rPr>
              <a:t>Staying on designated walking tracks and agreed pedestrian routes</a:t>
            </a:r>
          </a:p>
          <a:p>
            <a:pPr marL="171450" indent="-171450">
              <a:buFont typeface="Arial" pitchFamily="34" charset="0"/>
              <a:buChar char="•"/>
            </a:pPr>
            <a:r>
              <a:rPr lang="en-AU" sz="1200" kern="1200" dirty="0" smtClean="0">
                <a:solidFill>
                  <a:schemeClr val="tx1"/>
                </a:solidFill>
                <a:latin typeface="+mn-lt"/>
                <a:ea typeface="+mn-ea"/>
                <a:cs typeface="+mn-cs"/>
              </a:rPr>
              <a:t>Prohibiting taking of photographs – of certain areas or of people</a:t>
            </a:r>
          </a:p>
          <a:p>
            <a:pPr marL="171450" indent="-171450">
              <a:buFont typeface="Arial" pitchFamily="34" charset="0"/>
              <a:buChar char="•"/>
            </a:pPr>
            <a:r>
              <a:rPr lang="en-AU" sz="1200" kern="1200" dirty="0" smtClean="0">
                <a:solidFill>
                  <a:schemeClr val="tx1"/>
                </a:solidFill>
                <a:latin typeface="+mn-lt"/>
                <a:ea typeface="+mn-ea"/>
                <a:cs typeface="+mn-cs"/>
              </a:rPr>
              <a:t>Banning use of limited/scarce local resources – such as water</a:t>
            </a:r>
          </a:p>
          <a:p>
            <a:pPr marL="171450" indent="-171450">
              <a:buFont typeface="Arial" pitchFamily="34" charset="0"/>
              <a:buChar char="•"/>
            </a:pPr>
            <a:r>
              <a:rPr lang="en-AU" sz="1200" kern="1200" dirty="0" smtClean="0">
                <a:solidFill>
                  <a:schemeClr val="tx1"/>
                </a:solidFill>
                <a:latin typeface="+mn-lt"/>
                <a:ea typeface="+mn-ea"/>
                <a:cs typeface="+mn-cs"/>
              </a:rPr>
              <a:t>Identifying and banning carriage of nominated items/products onto community lands/property (such as fast food, newspapers, bottles)</a:t>
            </a:r>
          </a:p>
          <a:p>
            <a:pPr marL="171450" indent="-171450">
              <a:buFont typeface="Arial" pitchFamily="34" charset="0"/>
              <a:buChar char="•"/>
            </a:pPr>
            <a:r>
              <a:rPr lang="en-AU" sz="1200" kern="1200" dirty="0" smtClean="0">
                <a:solidFill>
                  <a:schemeClr val="tx1"/>
                </a:solidFill>
                <a:latin typeface="+mn-lt"/>
                <a:ea typeface="+mn-ea"/>
                <a:cs typeface="+mn-cs"/>
              </a:rPr>
              <a:t>Cleaning up after using facilities – or a ban on using facilities.</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examples of Codes of Practice/Conduct required of tour groups in certain areas/communities.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1469627394"/>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advises </a:t>
            </a:r>
            <a:r>
              <a:rPr lang="en-AU" sz="1200" kern="1200" dirty="0" smtClean="0">
                <a:solidFill>
                  <a:schemeClr val="tx1"/>
                </a:solidFill>
                <a:latin typeface="+mn-lt"/>
                <a:ea typeface="+mn-ea"/>
                <a:cs typeface="+mn-cs"/>
              </a:rPr>
              <a:t>Environmental issues (and hence </a:t>
            </a:r>
            <a:r>
              <a:rPr lang="en-AU" sz="1200" i="1" kern="1200" dirty="0" smtClean="0">
                <a:solidFill>
                  <a:schemeClr val="tx1"/>
                </a:solidFill>
                <a:latin typeface="+mn-lt"/>
                <a:ea typeface="+mn-ea"/>
                <a:cs typeface="+mn-cs"/>
              </a:rPr>
              <a:t>sensitivities</a:t>
            </a:r>
            <a:r>
              <a:rPr lang="en-AU" sz="1200" kern="1200" dirty="0" smtClean="0">
                <a:solidFill>
                  <a:schemeClr val="tx1"/>
                </a:solidFill>
                <a:latin typeface="+mn-lt"/>
                <a:ea typeface="+mn-ea"/>
                <a:cs typeface="+mn-cs"/>
              </a:rPr>
              <a:t>) may be related to:</a:t>
            </a:r>
          </a:p>
          <a:p>
            <a:pPr marL="171450" indent="-171450">
              <a:buFont typeface="Arial" pitchFamily="34" charset="0"/>
              <a:buChar char="•"/>
            </a:pPr>
            <a:r>
              <a:rPr lang="en-AU" sz="1200" kern="1200" dirty="0" smtClean="0">
                <a:solidFill>
                  <a:schemeClr val="tx1"/>
                </a:solidFill>
                <a:latin typeface="+mn-lt"/>
                <a:ea typeface="+mn-ea"/>
                <a:cs typeface="+mn-cs"/>
              </a:rPr>
              <a:t>Minimising impact on the environment</a:t>
            </a:r>
          </a:p>
          <a:p>
            <a:pPr marL="171450" indent="-171450">
              <a:buFont typeface="Arial" pitchFamily="34" charset="0"/>
              <a:buChar char="•"/>
            </a:pPr>
            <a:r>
              <a:rPr lang="en-AU" sz="1200" kern="1200" dirty="0" smtClean="0">
                <a:solidFill>
                  <a:schemeClr val="tx1"/>
                </a:solidFill>
                <a:latin typeface="+mn-lt"/>
                <a:ea typeface="+mn-ea"/>
                <a:cs typeface="+mn-cs"/>
              </a:rPr>
              <a:t>Redressing previous adverse impact on the environment - rehabilitation.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For the purposes of this section ‘the environment’ must be seen in its broadest context to embrace the widest range of topics relating to:</a:t>
            </a:r>
          </a:p>
          <a:p>
            <a:pPr marL="171450" indent="-171450">
              <a:buFont typeface="Arial" pitchFamily="34" charset="0"/>
              <a:buChar char="•"/>
            </a:pPr>
            <a:r>
              <a:rPr lang="en-AU" sz="1200" kern="1200" dirty="0" smtClean="0">
                <a:solidFill>
                  <a:schemeClr val="tx1"/>
                </a:solidFill>
                <a:latin typeface="+mn-lt"/>
                <a:ea typeface="+mn-ea"/>
                <a:cs typeface="+mn-cs"/>
              </a:rPr>
              <a:t>Land</a:t>
            </a:r>
          </a:p>
          <a:p>
            <a:pPr marL="171450" indent="-171450">
              <a:buFont typeface="Arial" pitchFamily="34" charset="0"/>
              <a:buChar char="•"/>
            </a:pPr>
            <a:r>
              <a:rPr lang="en-AU" sz="1200" kern="1200" dirty="0" smtClean="0">
                <a:solidFill>
                  <a:schemeClr val="tx1"/>
                </a:solidFill>
                <a:latin typeface="+mn-lt"/>
                <a:ea typeface="+mn-ea"/>
                <a:cs typeface="+mn-cs"/>
              </a:rPr>
              <a:t>Flora</a:t>
            </a:r>
          </a:p>
          <a:p>
            <a:pPr marL="171450" indent="-171450">
              <a:buFont typeface="Arial" pitchFamily="34" charset="0"/>
              <a:buChar char="•"/>
            </a:pPr>
            <a:r>
              <a:rPr lang="en-AU" sz="1200" kern="1200" dirty="0" smtClean="0">
                <a:solidFill>
                  <a:schemeClr val="tx1"/>
                </a:solidFill>
                <a:latin typeface="+mn-lt"/>
                <a:ea typeface="+mn-ea"/>
                <a:cs typeface="+mn-cs"/>
              </a:rPr>
              <a:t>Fauna</a:t>
            </a:r>
          </a:p>
          <a:p>
            <a:pPr marL="171450" indent="-171450">
              <a:buFont typeface="Arial" pitchFamily="34" charset="0"/>
              <a:buChar char="•"/>
            </a:pPr>
            <a:r>
              <a:rPr lang="en-AU" sz="1200" kern="1200" dirty="0" smtClean="0">
                <a:solidFill>
                  <a:schemeClr val="tx1"/>
                </a:solidFill>
                <a:latin typeface="+mn-lt"/>
                <a:ea typeface="+mn-ea"/>
                <a:cs typeface="+mn-cs"/>
              </a:rPr>
              <a:t>Natural resources – conservation of water and air</a:t>
            </a:r>
          </a:p>
          <a:p>
            <a:pPr marL="171450" indent="-171450">
              <a:buFont typeface="Arial" pitchFamily="34" charset="0"/>
              <a:buChar char="•"/>
            </a:pPr>
            <a:r>
              <a:rPr lang="en-AU" sz="1200" kern="1200" dirty="0" smtClean="0">
                <a:solidFill>
                  <a:schemeClr val="tx1"/>
                </a:solidFill>
                <a:latin typeface="+mn-lt"/>
                <a:ea typeface="+mn-ea"/>
                <a:cs typeface="+mn-cs"/>
              </a:rPr>
              <a:t>Pollution – including soil, water, air and noise pollution.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1971593776"/>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indicates respect </a:t>
            </a:r>
            <a:r>
              <a:rPr lang="en-AU" sz="1200" kern="1200" dirty="0" smtClean="0">
                <a:solidFill>
                  <a:schemeClr val="tx1"/>
                </a:solidFill>
                <a:latin typeface="+mn-lt"/>
                <a:ea typeface="+mn-ea"/>
                <a:cs typeface="+mn-cs"/>
              </a:rPr>
              <a:t>for environmental sensitivities may be demonstrated through actions such as:</a:t>
            </a:r>
          </a:p>
          <a:p>
            <a:pPr marL="171450" indent="-171450">
              <a:buFont typeface="Arial" pitchFamily="34" charset="0"/>
              <a:buChar char="•"/>
            </a:pPr>
            <a:r>
              <a:rPr lang="en-AU" sz="1200" kern="1200" dirty="0" smtClean="0">
                <a:solidFill>
                  <a:schemeClr val="tx1"/>
                </a:solidFill>
                <a:latin typeface="+mn-lt"/>
                <a:ea typeface="+mn-ea"/>
                <a:cs typeface="+mn-cs"/>
              </a:rPr>
              <a:t>Not using local resources</a:t>
            </a:r>
          </a:p>
          <a:p>
            <a:pPr marL="171450" indent="-171450">
              <a:buFont typeface="Arial" pitchFamily="34" charset="0"/>
              <a:buChar char="•"/>
            </a:pPr>
            <a:r>
              <a:rPr lang="en-AU" sz="1200" kern="1200" dirty="0" smtClean="0">
                <a:solidFill>
                  <a:schemeClr val="tx1"/>
                </a:solidFill>
                <a:latin typeface="+mn-lt"/>
                <a:ea typeface="+mn-ea"/>
                <a:cs typeface="+mn-cs"/>
              </a:rPr>
              <a:t>Limiting/restricting/rationing use of local resources</a:t>
            </a:r>
          </a:p>
          <a:p>
            <a:pPr marL="171450" indent="-171450">
              <a:buFont typeface="Arial" pitchFamily="34" charset="0"/>
              <a:buChar char="•"/>
            </a:pPr>
            <a:r>
              <a:rPr lang="en-AU" sz="1200" kern="1200" dirty="0" smtClean="0">
                <a:solidFill>
                  <a:schemeClr val="tx1"/>
                </a:solidFill>
                <a:latin typeface="+mn-lt"/>
                <a:ea typeface="+mn-ea"/>
                <a:cs typeface="+mn-cs"/>
              </a:rPr>
              <a:t>Removing all rubbish created by the group/activity</a:t>
            </a:r>
          </a:p>
          <a:p>
            <a:pPr marL="171450" indent="-171450">
              <a:buFont typeface="Arial" pitchFamily="34" charset="0"/>
              <a:buChar char="•"/>
            </a:pPr>
            <a:r>
              <a:rPr lang="en-AU" sz="1200" kern="1200" dirty="0" smtClean="0">
                <a:solidFill>
                  <a:schemeClr val="tx1"/>
                </a:solidFill>
                <a:latin typeface="+mn-lt"/>
                <a:ea typeface="+mn-ea"/>
                <a:cs typeface="+mn-cs"/>
              </a:rPr>
              <a:t>Staying on designated tracks, paths, areas</a:t>
            </a:r>
          </a:p>
          <a:p>
            <a:pPr marL="171450" indent="-171450">
              <a:buFont typeface="Arial" pitchFamily="34" charset="0"/>
              <a:buChar char="•"/>
            </a:pPr>
            <a:r>
              <a:rPr lang="en-AU" sz="1200" kern="1200" dirty="0" smtClean="0">
                <a:solidFill>
                  <a:schemeClr val="tx1"/>
                </a:solidFill>
                <a:latin typeface="+mn-lt"/>
                <a:ea typeface="+mn-ea"/>
                <a:cs typeface="+mn-cs"/>
              </a:rPr>
              <a:t>Not picking the flowers.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1124694677"/>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ways to demonstrate respect for environmental issues:</a:t>
            </a:r>
          </a:p>
          <a:p>
            <a:pPr marL="171450" indent="-171450">
              <a:buFont typeface="Arial" pitchFamily="34" charset="0"/>
              <a:buChar char="•"/>
            </a:pPr>
            <a:r>
              <a:rPr lang="en-AU" sz="1200" kern="1200" dirty="0" smtClean="0">
                <a:solidFill>
                  <a:schemeClr val="tx1"/>
                </a:solidFill>
                <a:latin typeface="+mn-lt"/>
                <a:ea typeface="+mn-ea"/>
                <a:cs typeface="+mn-cs"/>
              </a:rPr>
              <a:t>Staying a set distance from wildlife</a:t>
            </a:r>
          </a:p>
          <a:p>
            <a:pPr marL="171450" indent="-171450">
              <a:buFont typeface="Arial" pitchFamily="34" charset="0"/>
              <a:buChar char="•"/>
            </a:pPr>
            <a:r>
              <a:rPr lang="en-AU" sz="1200" kern="1200" dirty="0" smtClean="0">
                <a:solidFill>
                  <a:schemeClr val="tx1"/>
                </a:solidFill>
                <a:latin typeface="+mn-lt"/>
                <a:ea typeface="+mn-ea"/>
                <a:cs typeface="+mn-cs"/>
              </a:rPr>
              <a:t>Using only specifically identified and agreed areas for activities</a:t>
            </a:r>
          </a:p>
          <a:p>
            <a:pPr marL="171450" indent="-171450">
              <a:buFont typeface="Arial" pitchFamily="34" charset="0"/>
              <a:buChar char="•"/>
            </a:pPr>
            <a:r>
              <a:rPr lang="en-AU" sz="1200" kern="1200" dirty="0" smtClean="0">
                <a:solidFill>
                  <a:schemeClr val="tx1"/>
                </a:solidFill>
                <a:latin typeface="+mn-lt"/>
                <a:ea typeface="+mn-ea"/>
                <a:cs typeface="+mn-cs"/>
              </a:rPr>
              <a:t>Limiting number of visits to the area</a:t>
            </a:r>
          </a:p>
          <a:p>
            <a:pPr marL="171450" indent="-171450">
              <a:buFont typeface="Arial" pitchFamily="34" charset="0"/>
              <a:buChar char="•"/>
            </a:pPr>
            <a:r>
              <a:rPr lang="en-AU" sz="1200" kern="1200" dirty="0" smtClean="0">
                <a:solidFill>
                  <a:schemeClr val="tx1"/>
                </a:solidFill>
                <a:latin typeface="+mn-lt"/>
                <a:ea typeface="+mn-ea"/>
                <a:cs typeface="+mn-cs"/>
              </a:rPr>
              <a:t>Restricting number of tour group members and duration of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4267936557"/>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ways to demonstrate respect for environmental issues:</a:t>
            </a:r>
          </a:p>
          <a:p>
            <a:pPr marL="171450" indent="-171450">
              <a:buFont typeface="Arial" pitchFamily="34" charset="0"/>
              <a:buChar char="•"/>
            </a:pPr>
            <a:r>
              <a:rPr lang="en-AU" sz="1200" kern="1200" dirty="0" smtClean="0">
                <a:solidFill>
                  <a:schemeClr val="tx1"/>
                </a:solidFill>
                <a:latin typeface="+mn-lt"/>
                <a:ea typeface="+mn-ea"/>
                <a:cs typeface="+mn-cs"/>
              </a:rPr>
              <a:t>Banning carriage of nominated items (known to cause damage/pollution) into the area</a:t>
            </a:r>
          </a:p>
          <a:p>
            <a:pPr marL="171450" indent="-171450">
              <a:buFont typeface="Arial" pitchFamily="34" charset="0"/>
              <a:buChar char="•"/>
            </a:pPr>
            <a:r>
              <a:rPr lang="en-AU" sz="1200" kern="1200" dirty="0" smtClean="0">
                <a:solidFill>
                  <a:schemeClr val="tx1"/>
                </a:solidFill>
                <a:latin typeface="+mn-lt"/>
                <a:ea typeface="+mn-ea"/>
                <a:cs typeface="+mn-cs"/>
              </a:rPr>
              <a:t>Confining interpretive activities only to approved actions which have been agreed to by local/host communities</a:t>
            </a:r>
          </a:p>
          <a:p>
            <a:pPr marL="171450" indent="-171450">
              <a:buFont typeface="Arial" pitchFamily="34" charset="0"/>
              <a:buChar char="•"/>
            </a:pPr>
            <a:r>
              <a:rPr lang="en-AU" sz="1200" kern="1200" dirty="0" smtClean="0">
                <a:solidFill>
                  <a:schemeClr val="tx1"/>
                </a:solidFill>
                <a:latin typeface="+mn-lt"/>
                <a:ea typeface="+mn-ea"/>
                <a:cs typeface="+mn-cs"/>
              </a:rPr>
              <a:t>Helping local communities in whatever way they require in order to rehabilitate and/or conserve their environment – as agreed through consultation and negotiation.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397935783"/>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advises for </a:t>
            </a:r>
            <a:r>
              <a:rPr lang="en-AU" sz="1200" kern="1200" dirty="0" smtClean="0">
                <a:solidFill>
                  <a:schemeClr val="tx1"/>
                </a:solidFill>
                <a:latin typeface="+mn-lt"/>
                <a:ea typeface="+mn-ea"/>
                <a:cs typeface="+mn-cs"/>
              </a:rPr>
              <a:t>the purposes of this section, cultural issues (and hence </a:t>
            </a:r>
            <a:r>
              <a:rPr lang="en-AU" sz="1200" i="1" kern="1200" dirty="0" smtClean="0">
                <a:solidFill>
                  <a:schemeClr val="tx1"/>
                </a:solidFill>
                <a:latin typeface="+mn-lt"/>
                <a:ea typeface="+mn-ea"/>
                <a:cs typeface="+mn-cs"/>
              </a:rPr>
              <a:t>sensitivities</a:t>
            </a:r>
            <a:r>
              <a:rPr lang="en-AU" sz="1200" kern="1200" dirty="0" smtClean="0">
                <a:solidFill>
                  <a:schemeClr val="tx1"/>
                </a:solidFill>
                <a:latin typeface="+mn-lt"/>
                <a:ea typeface="+mn-ea"/>
                <a:cs typeface="+mn-cs"/>
              </a:rPr>
              <a:t>) may be related to:</a:t>
            </a:r>
          </a:p>
          <a:p>
            <a:pPr marL="171450" indent="-171450">
              <a:buFont typeface="Arial" pitchFamily="34" charset="0"/>
              <a:buChar char="•"/>
            </a:pPr>
            <a:r>
              <a:rPr lang="en-AU" sz="1200" kern="1200" dirty="0" smtClean="0">
                <a:solidFill>
                  <a:schemeClr val="tx1"/>
                </a:solidFill>
                <a:latin typeface="+mn-lt"/>
                <a:ea typeface="+mn-ea"/>
                <a:cs typeface="+mn-cs"/>
              </a:rPr>
              <a:t>Religion</a:t>
            </a:r>
          </a:p>
          <a:p>
            <a:pPr marL="171450" indent="-171450">
              <a:buFont typeface="Arial" pitchFamily="34" charset="0"/>
              <a:buChar char="•"/>
            </a:pPr>
            <a:r>
              <a:rPr lang="en-AU" sz="1200" kern="1200" dirty="0" smtClean="0">
                <a:solidFill>
                  <a:schemeClr val="tx1"/>
                </a:solidFill>
                <a:latin typeface="+mn-lt"/>
                <a:ea typeface="+mn-ea"/>
                <a:cs typeface="+mn-cs"/>
              </a:rPr>
              <a:t>Race</a:t>
            </a:r>
          </a:p>
          <a:p>
            <a:pPr marL="171450" indent="-171450">
              <a:buFont typeface="Arial" pitchFamily="34" charset="0"/>
              <a:buChar char="•"/>
            </a:pPr>
            <a:r>
              <a:rPr lang="en-AU" sz="1200" kern="1200" dirty="0" smtClean="0">
                <a:solidFill>
                  <a:schemeClr val="tx1"/>
                </a:solidFill>
                <a:latin typeface="+mn-lt"/>
                <a:ea typeface="+mn-ea"/>
                <a:cs typeface="+mn-cs"/>
              </a:rPr>
              <a:t>Language and symbols</a:t>
            </a:r>
          </a:p>
          <a:p>
            <a:pPr marL="171450" indent="-171450">
              <a:buFont typeface="Arial" pitchFamily="34" charset="0"/>
              <a:buChar char="•"/>
            </a:pPr>
            <a:r>
              <a:rPr lang="en-AU" sz="1200" kern="1200" dirty="0" smtClean="0">
                <a:solidFill>
                  <a:schemeClr val="tx1"/>
                </a:solidFill>
                <a:latin typeface="+mn-lt"/>
                <a:ea typeface="+mn-ea"/>
                <a:cs typeface="+mn-cs"/>
              </a:rPr>
              <a:t>Norms, beliefs and assumptions.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214518318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indicates respect </a:t>
            </a:r>
            <a:r>
              <a:rPr lang="en-AU" sz="1200" kern="1200" dirty="0" smtClean="0">
                <a:solidFill>
                  <a:schemeClr val="tx1"/>
                </a:solidFill>
                <a:latin typeface="+mn-lt"/>
                <a:ea typeface="+mn-ea"/>
                <a:cs typeface="+mn-cs"/>
              </a:rPr>
              <a:t>for cultural sensitivities may be demonstrated through actions such as:</a:t>
            </a:r>
          </a:p>
          <a:p>
            <a:pPr marL="171450" indent="-171450">
              <a:buFont typeface="Arial" pitchFamily="34" charset="0"/>
              <a:buChar char="•"/>
            </a:pPr>
            <a:r>
              <a:rPr lang="en-AU" sz="1200" kern="1200" dirty="0" smtClean="0">
                <a:solidFill>
                  <a:schemeClr val="tx1"/>
                </a:solidFill>
                <a:latin typeface="+mn-lt"/>
                <a:ea typeface="+mn-ea"/>
                <a:cs typeface="+mn-cs"/>
              </a:rPr>
              <a:t>Attending/participating in ‘cultural awareness’ training as part of standard Tour Guide training</a:t>
            </a:r>
          </a:p>
          <a:p>
            <a:pPr marL="171450" indent="-171450">
              <a:buFont typeface="Arial" pitchFamily="34" charset="0"/>
              <a:buChar char="•"/>
            </a:pPr>
            <a:r>
              <a:rPr lang="en-AU" sz="1200" kern="1200" dirty="0" smtClean="0">
                <a:solidFill>
                  <a:schemeClr val="tx1"/>
                </a:solidFill>
                <a:latin typeface="+mn-lt"/>
                <a:ea typeface="+mn-ea"/>
                <a:cs typeface="+mn-cs"/>
              </a:rPr>
              <a:t>Learning about the meaning of a range of non-verbal communications relevant to the culture/s of people who are regular tour participants – to avoid giving unintentional offence</a:t>
            </a:r>
          </a:p>
          <a:p>
            <a:pPr marL="171450" indent="-171450">
              <a:buFont typeface="Arial" pitchFamily="34" charset="0"/>
              <a:buChar char="•"/>
            </a:pPr>
            <a:r>
              <a:rPr lang="en-AU" sz="1200" kern="1200" dirty="0" smtClean="0">
                <a:solidFill>
                  <a:schemeClr val="tx1"/>
                </a:solidFill>
                <a:latin typeface="+mn-lt"/>
                <a:ea typeface="+mn-ea"/>
                <a:cs typeface="+mn-cs"/>
              </a:rPr>
              <a:t>Speaking in language that can be understood by tour group members</a:t>
            </a:r>
          </a:p>
          <a:p>
            <a:pPr marL="171450" indent="-171450">
              <a:buFont typeface="Arial" pitchFamily="34" charset="0"/>
              <a:buChar char="•"/>
            </a:pPr>
            <a:r>
              <a:rPr lang="en-AU" sz="1200" kern="1200" dirty="0" smtClean="0">
                <a:solidFill>
                  <a:schemeClr val="tx1"/>
                </a:solidFill>
                <a:latin typeface="+mn-lt"/>
                <a:ea typeface="+mn-ea"/>
                <a:cs typeface="+mn-cs"/>
              </a:rPr>
              <a:t>Providing written material in different languages</a:t>
            </a:r>
          </a:p>
          <a:p>
            <a:pPr marL="171450" indent="-171450">
              <a:buFont typeface="Arial" pitchFamily="34" charset="0"/>
              <a:buChar char="•"/>
            </a:pPr>
            <a:r>
              <a:rPr lang="en-AU" sz="1200" kern="1200" dirty="0" smtClean="0">
                <a:solidFill>
                  <a:schemeClr val="tx1"/>
                </a:solidFill>
                <a:latin typeface="+mn-lt"/>
                <a:ea typeface="+mn-ea"/>
                <a:cs typeface="+mn-cs"/>
              </a:rPr>
              <a:t>Not pre-judging/stereo-typing people based on their obvious cultural indicators.</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1800483525"/>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ways to demonstrate respect for cultural issues:</a:t>
            </a:r>
          </a:p>
          <a:p>
            <a:pPr marL="171450" indent="-171450">
              <a:buFont typeface="Arial" pitchFamily="34" charset="0"/>
              <a:buChar char="•"/>
            </a:pPr>
            <a:r>
              <a:rPr lang="en-AU" sz="1200" kern="1200" dirty="0" smtClean="0">
                <a:solidFill>
                  <a:schemeClr val="tx1"/>
                </a:solidFill>
                <a:latin typeface="+mn-lt"/>
                <a:ea typeface="+mn-ea"/>
                <a:cs typeface="+mn-cs"/>
              </a:rPr>
              <a:t>Avoiding comments and jokes which are related to specific cultures</a:t>
            </a:r>
          </a:p>
          <a:p>
            <a:pPr marL="171450" indent="-171450">
              <a:buFont typeface="Arial" pitchFamily="34" charset="0"/>
              <a:buChar char="•"/>
            </a:pPr>
            <a:r>
              <a:rPr lang="en-AU" sz="1200" kern="1200" dirty="0" smtClean="0">
                <a:solidFill>
                  <a:schemeClr val="tx1"/>
                </a:solidFill>
                <a:latin typeface="+mn-lt"/>
                <a:ea typeface="+mn-ea"/>
                <a:cs typeface="+mn-cs"/>
              </a:rPr>
              <a:t>Checking to ensure symbols, examples and activities used as part of an activity are culturally appropriate</a:t>
            </a:r>
          </a:p>
          <a:p>
            <a:pPr marL="171450" indent="-171450">
              <a:buFont typeface="Arial" pitchFamily="34" charset="0"/>
              <a:buChar char="•"/>
            </a:pPr>
            <a:r>
              <a:rPr lang="en-AU" sz="1200" kern="1200" dirty="0" smtClean="0">
                <a:solidFill>
                  <a:schemeClr val="tx1"/>
                </a:solidFill>
                <a:latin typeface="+mn-lt"/>
                <a:ea typeface="+mn-ea"/>
                <a:cs typeface="+mn-cs"/>
              </a:rPr>
              <a:t>Refraining from comments which can be interpreted as being culturally-based</a:t>
            </a:r>
          </a:p>
          <a:p>
            <a:pPr marL="171450" indent="-171450">
              <a:buFont typeface="Arial" pitchFamily="34" charset="0"/>
              <a:buChar char="•"/>
            </a:pPr>
            <a:r>
              <a:rPr lang="en-AU" sz="1200" kern="1200" dirty="0" smtClean="0">
                <a:solidFill>
                  <a:schemeClr val="tx1"/>
                </a:solidFill>
                <a:latin typeface="+mn-lt"/>
                <a:ea typeface="+mn-ea"/>
                <a:cs typeface="+mn-cs"/>
              </a:rPr>
              <a:t>Embracing/including all tour group members in conversation, provision of assistance, interaction and other activities</a:t>
            </a:r>
          </a:p>
          <a:p>
            <a:pPr marL="171450" indent="-171450">
              <a:buFont typeface="Arial" pitchFamily="34" charset="0"/>
              <a:buChar char="•"/>
            </a:pPr>
            <a:r>
              <a:rPr lang="en-AU" sz="1200" kern="1200" dirty="0" smtClean="0">
                <a:solidFill>
                  <a:schemeClr val="tx1"/>
                </a:solidFill>
                <a:latin typeface="+mn-lt"/>
                <a:ea typeface="+mn-ea"/>
                <a:cs typeface="+mn-cs"/>
              </a:rPr>
              <a:t>Not joining in when/if customers engage in culturally inappropriate behaviour or language.</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1775246617"/>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ways to demonstrate respect for cultural issues:</a:t>
            </a:r>
          </a:p>
          <a:p>
            <a:pPr marL="171450" indent="-171450">
              <a:buFont typeface="Arial" pitchFamily="34" charset="0"/>
              <a:buChar char="•"/>
            </a:pPr>
            <a:r>
              <a:rPr lang="en-AU" sz="1200" kern="1200" dirty="0" smtClean="0">
                <a:solidFill>
                  <a:schemeClr val="tx1"/>
                </a:solidFill>
                <a:latin typeface="+mn-lt"/>
                <a:ea typeface="+mn-ea"/>
                <a:cs typeface="+mn-cs"/>
              </a:rPr>
              <a:t>Intervening when a tour group member says or does something which is culturally insensitive</a:t>
            </a:r>
          </a:p>
          <a:p>
            <a:pPr marL="171450" indent="-171450">
              <a:buFont typeface="Arial" pitchFamily="34" charset="0"/>
              <a:buChar char="•"/>
            </a:pPr>
            <a:r>
              <a:rPr lang="en-AU" sz="1200" kern="1200" dirty="0" smtClean="0">
                <a:solidFill>
                  <a:schemeClr val="tx1"/>
                </a:solidFill>
                <a:latin typeface="+mn-lt"/>
                <a:ea typeface="+mn-ea"/>
                <a:cs typeface="+mn-cs"/>
              </a:rPr>
              <a:t>Acknowledging differences and embracing diversity</a:t>
            </a:r>
          </a:p>
          <a:p>
            <a:pPr marL="171450" indent="-171450">
              <a:buFont typeface="Arial" pitchFamily="34" charset="0"/>
              <a:buChar char="•"/>
            </a:pPr>
            <a:r>
              <a:rPr lang="en-AU" sz="1200" kern="1200" dirty="0" smtClean="0">
                <a:solidFill>
                  <a:schemeClr val="tx1"/>
                </a:solidFill>
                <a:latin typeface="+mn-lt"/>
                <a:ea typeface="+mn-ea"/>
                <a:cs typeface="+mn-cs"/>
              </a:rPr>
              <a:t>Offering all tour group members the same opportunity to engage with activities</a:t>
            </a:r>
          </a:p>
          <a:p>
            <a:pPr marL="171450" indent="-171450">
              <a:buFont typeface="Arial" pitchFamily="34" charset="0"/>
              <a:buChar char="•"/>
            </a:pPr>
            <a:r>
              <a:rPr lang="en-AU" sz="1200" kern="1200" dirty="0" smtClean="0">
                <a:solidFill>
                  <a:schemeClr val="tx1"/>
                </a:solidFill>
                <a:latin typeface="+mn-lt"/>
                <a:ea typeface="+mn-ea"/>
                <a:cs typeface="+mn-cs"/>
              </a:rPr>
              <a:t>Avoiding any form of </a:t>
            </a:r>
            <a:r>
              <a:rPr lang="en-AU" sz="1200" i="1" kern="1200" dirty="0" smtClean="0">
                <a:solidFill>
                  <a:schemeClr val="tx1"/>
                </a:solidFill>
                <a:latin typeface="+mn-lt"/>
                <a:ea typeface="+mn-ea"/>
                <a:cs typeface="+mn-cs"/>
              </a:rPr>
              <a:t>negative</a:t>
            </a:r>
            <a:r>
              <a:rPr lang="en-AU" sz="1200" kern="1200" dirty="0" smtClean="0">
                <a:solidFill>
                  <a:schemeClr val="tx1"/>
                </a:solidFill>
                <a:latin typeface="+mn-lt"/>
                <a:ea typeface="+mn-ea"/>
                <a:cs typeface="+mn-cs"/>
              </a:rPr>
              <a:t> discriminatory behaviour or language</a:t>
            </a:r>
          </a:p>
          <a:p>
            <a:pPr marL="171450" indent="-171450">
              <a:buFont typeface="Arial" pitchFamily="34" charset="0"/>
              <a:buChar char="•"/>
            </a:pPr>
            <a:r>
              <a:rPr lang="en-AU" sz="1200" kern="1200" dirty="0" smtClean="0">
                <a:solidFill>
                  <a:schemeClr val="tx1"/>
                </a:solidFill>
                <a:latin typeface="+mn-lt"/>
                <a:ea typeface="+mn-ea"/>
                <a:cs typeface="+mn-cs"/>
              </a:rPr>
              <a:t>Being patient and understanding.</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1871136648"/>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advises for </a:t>
            </a:r>
            <a:r>
              <a:rPr lang="en-AU" sz="1200" kern="1200" dirty="0" smtClean="0">
                <a:solidFill>
                  <a:schemeClr val="tx1"/>
                </a:solidFill>
                <a:latin typeface="+mn-lt"/>
                <a:ea typeface="+mn-ea"/>
                <a:cs typeface="+mn-cs"/>
              </a:rPr>
              <a:t>the purposes of this section, social issues (and hence </a:t>
            </a:r>
            <a:r>
              <a:rPr lang="en-AU" sz="1200" i="1" kern="1200" dirty="0" smtClean="0">
                <a:solidFill>
                  <a:schemeClr val="tx1"/>
                </a:solidFill>
                <a:latin typeface="+mn-lt"/>
                <a:ea typeface="+mn-ea"/>
                <a:cs typeface="+mn-cs"/>
              </a:rPr>
              <a:t>sensitivities</a:t>
            </a:r>
            <a:r>
              <a:rPr lang="en-AU" sz="1200" kern="1200" dirty="0" smtClean="0">
                <a:solidFill>
                  <a:schemeClr val="tx1"/>
                </a:solidFill>
                <a:latin typeface="+mn-lt"/>
                <a:ea typeface="+mn-ea"/>
                <a:cs typeface="+mn-cs"/>
              </a:rPr>
              <a:t>) may be related to:</a:t>
            </a:r>
          </a:p>
          <a:p>
            <a:pPr marL="171450" indent="-171450">
              <a:buFont typeface="Arial" pitchFamily="34" charset="0"/>
              <a:buChar char="•"/>
            </a:pPr>
            <a:r>
              <a:rPr lang="en-AU" sz="1200" kern="1200" dirty="0" smtClean="0">
                <a:solidFill>
                  <a:schemeClr val="tx1"/>
                </a:solidFill>
                <a:latin typeface="+mn-lt"/>
                <a:ea typeface="+mn-ea"/>
                <a:cs typeface="+mn-cs"/>
              </a:rPr>
              <a:t>Personal values and norms</a:t>
            </a:r>
          </a:p>
          <a:p>
            <a:pPr marL="171450" indent="-171450">
              <a:buFont typeface="Arial" pitchFamily="34" charset="0"/>
              <a:buChar char="•"/>
            </a:pPr>
            <a:r>
              <a:rPr lang="en-AU" sz="1200" kern="1200" dirty="0" smtClean="0">
                <a:solidFill>
                  <a:schemeClr val="tx1"/>
                </a:solidFill>
                <a:latin typeface="+mn-lt"/>
                <a:ea typeface="+mn-ea"/>
                <a:cs typeface="+mn-cs"/>
              </a:rPr>
              <a:t>Family units</a:t>
            </a:r>
          </a:p>
          <a:p>
            <a:pPr marL="171450" indent="-171450">
              <a:buFont typeface="Arial" pitchFamily="34" charset="0"/>
              <a:buChar char="•"/>
            </a:pPr>
            <a:r>
              <a:rPr lang="en-AU" sz="1200" kern="1200" dirty="0" smtClean="0">
                <a:solidFill>
                  <a:schemeClr val="tx1"/>
                </a:solidFill>
                <a:latin typeface="+mn-lt"/>
                <a:ea typeface="+mn-ea"/>
                <a:cs typeface="+mn-cs"/>
              </a:rPr>
              <a:t>Individual circumstances</a:t>
            </a:r>
          </a:p>
          <a:p>
            <a:pPr marL="171450" indent="-171450">
              <a:buFont typeface="Arial" pitchFamily="34" charset="0"/>
              <a:buChar char="•"/>
            </a:pPr>
            <a:r>
              <a:rPr lang="en-AU" sz="1200" kern="1200" dirty="0" smtClean="0">
                <a:solidFill>
                  <a:schemeClr val="tx1"/>
                </a:solidFill>
                <a:latin typeface="+mn-lt"/>
                <a:ea typeface="+mn-ea"/>
                <a:cs typeface="+mn-cs"/>
              </a:rPr>
              <a:t>Age </a:t>
            </a:r>
          </a:p>
          <a:p>
            <a:pPr marL="171450" indent="-171450">
              <a:buFont typeface="Arial" pitchFamily="34" charset="0"/>
              <a:buChar char="•"/>
            </a:pPr>
            <a:r>
              <a:rPr lang="en-AU" sz="1200" kern="1200" dirty="0" smtClean="0">
                <a:solidFill>
                  <a:schemeClr val="tx1"/>
                </a:solidFill>
                <a:latin typeface="+mn-lt"/>
                <a:ea typeface="+mn-ea"/>
                <a:cs typeface="+mn-cs"/>
              </a:rPr>
              <a:t>Gender and sexual identity</a:t>
            </a:r>
          </a:p>
          <a:p>
            <a:pPr marL="171450" indent="-171450">
              <a:buFont typeface="Arial" pitchFamily="34" charset="0"/>
              <a:buChar char="•"/>
            </a:pPr>
            <a:r>
              <a:rPr lang="en-AU" sz="1200" kern="1200" dirty="0" smtClean="0">
                <a:solidFill>
                  <a:schemeClr val="tx1"/>
                </a:solidFill>
                <a:latin typeface="+mn-lt"/>
                <a:ea typeface="+mn-ea"/>
                <a:cs typeface="+mn-cs"/>
              </a:rPr>
              <a:t>Disability.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2025160432"/>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indicates respect </a:t>
            </a:r>
            <a:r>
              <a:rPr lang="en-AU" sz="1200" kern="1200" dirty="0" smtClean="0">
                <a:solidFill>
                  <a:schemeClr val="tx1"/>
                </a:solidFill>
                <a:latin typeface="+mn-lt"/>
                <a:ea typeface="+mn-ea"/>
                <a:cs typeface="+mn-cs"/>
              </a:rPr>
              <a:t>for social sensitivities may be demonstrated through actions such as:</a:t>
            </a:r>
          </a:p>
          <a:p>
            <a:pPr marL="171450" indent="-171450">
              <a:buFont typeface="Arial" pitchFamily="34" charset="0"/>
              <a:buChar char="•"/>
            </a:pPr>
            <a:r>
              <a:rPr lang="en-AU" sz="1200" kern="1200" dirty="0" smtClean="0">
                <a:solidFill>
                  <a:schemeClr val="tx1"/>
                </a:solidFill>
                <a:latin typeface="+mn-lt"/>
                <a:ea typeface="+mn-ea"/>
                <a:cs typeface="+mn-cs"/>
              </a:rPr>
              <a:t>Acknowledging personal rights and freedoms</a:t>
            </a:r>
          </a:p>
          <a:p>
            <a:pPr marL="171450" indent="-171450">
              <a:buFont typeface="Arial" pitchFamily="34" charset="0"/>
              <a:buChar char="•"/>
            </a:pPr>
            <a:r>
              <a:rPr lang="en-AU" sz="1200" kern="1200" dirty="0" smtClean="0">
                <a:solidFill>
                  <a:schemeClr val="tx1"/>
                </a:solidFill>
                <a:latin typeface="+mn-lt"/>
                <a:ea typeface="+mn-ea"/>
                <a:cs typeface="+mn-cs"/>
              </a:rPr>
              <a:t>Not judging people by their actions</a:t>
            </a:r>
          </a:p>
          <a:p>
            <a:pPr marL="171450" indent="-171450">
              <a:buFont typeface="Arial" pitchFamily="34" charset="0"/>
              <a:buChar char="•"/>
            </a:pPr>
            <a:r>
              <a:rPr lang="en-AU" sz="1200" kern="1200" dirty="0" smtClean="0">
                <a:solidFill>
                  <a:schemeClr val="tx1"/>
                </a:solidFill>
                <a:latin typeface="+mn-lt"/>
                <a:ea typeface="+mn-ea"/>
                <a:cs typeface="+mn-cs"/>
              </a:rPr>
              <a:t>Supporting and helping individuals who are experiencing personal difficulties and hardship when on-tour and/or as they participate in an activity</a:t>
            </a:r>
          </a:p>
          <a:p>
            <a:pPr marL="171450" indent="-171450">
              <a:buFont typeface="Arial" pitchFamily="34" charset="0"/>
              <a:buChar char="•"/>
            </a:pPr>
            <a:r>
              <a:rPr lang="en-AU" sz="1200" kern="1200" dirty="0" smtClean="0">
                <a:solidFill>
                  <a:schemeClr val="tx1"/>
                </a:solidFill>
                <a:latin typeface="+mn-lt"/>
                <a:ea typeface="+mn-ea"/>
                <a:cs typeface="+mn-cs"/>
              </a:rPr>
              <a:t>Using inclusive language.</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269516996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ways to demonstrate respect for social issues:</a:t>
            </a:r>
          </a:p>
          <a:p>
            <a:pPr marL="171450" indent="-171450">
              <a:buFont typeface="Arial" pitchFamily="34" charset="0"/>
              <a:buChar char="•"/>
            </a:pPr>
            <a:r>
              <a:rPr lang="en-AU" sz="1200" kern="1200" dirty="0" smtClean="0">
                <a:solidFill>
                  <a:schemeClr val="tx1"/>
                </a:solidFill>
                <a:latin typeface="+mn-lt"/>
                <a:ea typeface="+mn-ea"/>
                <a:cs typeface="+mn-cs"/>
              </a:rPr>
              <a:t>Not making inflammatory remarks/comments when an individual’s social issue/s cause delay or disruption to other tour group members</a:t>
            </a:r>
          </a:p>
          <a:p>
            <a:pPr marL="171450" indent="-171450">
              <a:buFont typeface="Arial" pitchFamily="34" charset="0"/>
              <a:buChar char="•"/>
            </a:pPr>
            <a:r>
              <a:rPr lang="en-AU" sz="1200" kern="1200" dirty="0" smtClean="0">
                <a:solidFill>
                  <a:schemeClr val="tx1"/>
                </a:solidFill>
                <a:latin typeface="+mn-lt"/>
                <a:ea typeface="+mn-ea"/>
                <a:cs typeface="+mn-cs"/>
              </a:rPr>
              <a:t>Appreciating individual differences</a:t>
            </a:r>
          </a:p>
          <a:p>
            <a:pPr marL="171450" indent="-171450">
              <a:buFont typeface="Arial" pitchFamily="34" charset="0"/>
              <a:buChar char="•"/>
            </a:pPr>
            <a:r>
              <a:rPr lang="en-AU" sz="1200" kern="1200" dirty="0" smtClean="0">
                <a:solidFill>
                  <a:schemeClr val="tx1"/>
                </a:solidFill>
                <a:latin typeface="+mn-lt"/>
                <a:ea typeface="+mn-ea"/>
                <a:cs typeface="+mn-cs"/>
              </a:rPr>
              <a:t>Intervening when a tour group member says or does something which is insensitive to a person’s social circumstance/s.</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3132955706"/>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presenting ways to demonstrate respect for social issues:</a:t>
            </a:r>
          </a:p>
          <a:p>
            <a:pPr marL="171450" indent="-171450">
              <a:buFont typeface="Arial" pitchFamily="34" charset="0"/>
              <a:buChar char="•"/>
            </a:pPr>
            <a:r>
              <a:rPr lang="en-AU" sz="1200" kern="1200" dirty="0" smtClean="0">
                <a:solidFill>
                  <a:schemeClr val="tx1"/>
                </a:solidFill>
                <a:latin typeface="+mn-lt"/>
                <a:ea typeface="+mn-ea"/>
                <a:cs typeface="+mn-cs"/>
              </a:rPr>
              <a:t>Refraining from making personal comment about a person’s social circumstances, choices or arrangements</a:t>
            </a:r>
          </a:p>
          <a:p>
            <a:pPr marL="171450" indent="-171450">
              <a:buFont typeface="Arial" pitchFamily="34" charset="0"/>
              <a:buChar char="•"/>
            </a:pPr>
            <a:r>
              <a:rPr lang="en-AU" sz="1200" kern="1200" dirty="0" smtClean="0">
                <a:solidFill>
                  <a:schemeClr val="tx1"/>
                </a:solidFill>
                <a:latin typeface="+mn-lt"/>
                <a:ea typeface="+mn-ea"/>
                <a:cs typeface="+mn-cs"/>
              </a:rPr>
              <a:t>Treating everyone equally </a:t>
            </a:r>
            <a:r>
              <a:rPr lang="en-AU" sz="1200" b="1" kern="1200" dirty="0" smtClean="0">
                <a:solidFill>
                  <a:schemeClr val="tx1"/>
                </a:solidFill>
                <a:latin typeface="+mn-lt"/>
                <a:ea typeface="+mn-ea"/>
                <a:cs typeface="+mn-cs"/>
              </a:rPr>
              <a:t>but</a:t>
            </a:r>
            <a:r>
              <a:rPr lang="en-AU" sz="1200" kern="1200" dirty="0" smtClean="0">
                <a:solidFill>
                  <a:schemeClr val="tx1"/>
                </a:solidFill>
                <a:latin typeface="+mn-lt"/>
                <a:ea typeface="+mn-ea"/>
                <a:cs typeface="+mn-cs"/>
              </a:rPr>
              <a:t> being ready to provide extra attention/assistance to those who are challenged or disenfranchised by virtue of social factors</a:t>
            </a:r>
          </a:p>
          <a:p>
            <a:pPr marL="171450" indent="-171450">
              <a:buFont typeface="Arial" pitchFamily="34" charset="0"/>
              <a:buChar char="•"/>
            </a:pPr>
            <a:r>
              <a:rPr lang="en-AU" sz="1200" kern="1200" dirty="0" smtClean="0">
                <a:solidFill>
                  <a:schemeClr val="tx1"/>
                </a:solidFill>
                <a:latin typeface="+mn-lt"/>
                <a:ea typeface="+mn-ea"/>
                <a:cs typeface="+mn-cs"/>
              </a:rPr>
              <a:t>Catering for disabilities as required/notified in advance</a:t>
            </a:r>
          </a:p>
          <a:p>
            <a:pPr marL="171450" indent="-171450">
              <a:buFont typeface="Arial" pitchFamily="34" charset="0"/>
              <a:buChar char="•"/>
            </a:pPr>
            <a:r>
              <a:rPr lang="en-AU" sz="1200" kern="1200" dirty="0" smtClean="0">
                <a:solidFill>
                  <a:schemeClr val="tx1"/>
                </a:solidFill>
                <a:latin typeface="+mn-lt"/>
                <a:ea typeface="+mn-ea"/>
                <a:cs typeface="+mn-cs"/>
              </a:rPr>
              <a:t>Showing understanding/empathy for people’s thoughts and feelings.</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2217438804"/>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highlights </a:t>
            </a:r>
            <a:r>
              <a:rPr lang="en-AU" sz="1200" kern="1200" dirty="0" smtClean="0">
                <a:solidFill>
                  <a:schemeClr val="tx1"/>
                </a:solidFill>
                <a:latin typeface="+mn-lt"/>
                <a:ea typeface="+mn-ea"/>
                <a:cs typeface="+mn-cs"/>
              </a:rPr>
              <a:t>there is an ongoing need to monitor the activity and adjust it to suit emerging requirements in order to:</a:t>
            </a:r>
          </a:p>
          <a:p>
            <a:pPr marL="171450" indent="-171450">
              <a:buFont typeface="Arial" pitchFamily="34" charset="0"/>
              <a:buChar char="•"/>
            </a:pPr>
            <a:r>
              <a:rPr lang="en-AU" sz="1200" kern="1200" dirty="0" smtClean="0">
                <a:solidFill>
                  <a:schemeClr val="tx1"/>
                </a:solidFill>
                <a:latin typeface="+mn-lt"/>
                <a:ea typeface="+mn-ea"/>
                <a:cs typeface="+mn-cs"/>
              </a:rPr>
              <a:t>Optimise customer enjoyment and engagement</a:t>
            </a:r>
          </a:p>
          <a:p>
            <a:pPr marL="171450" indent="-171450">
              <a:buFont typeface="Arial" pitchFamily="34" charset="0"/>
              <a:buChar char="•"/>
            </a:pPr>
            <a:r>
              <a:rPr lang="en-AU" sz="1200" kern="1200" dirty="0" smtClean="0">
                <a:solidFill>
                  <a:schemeClr val="tx1"/>
                </a:solidFill>
                <a:latin typeface="+mn-lt"/>
                <a:ea typeface="+mn-ea"/>
                <a:cs typeface="+mn-cs"/>
              </a:rPr>
              <a:t>Accommodate and respond to general issues arising for the group</a:t>
            </a:r>
          </a:p>
          <a:p>
            <a:pPr marL="171450" indent="-171450">
              <a:buFont typeface="Arial" pitchFamily="34" charset="0"/>
              <a:buChar char="•"/>
            </a:pPr>
            <a:r>
              <a:rPr lang="en-AU" sz="1200" kern="1200" dirty="0" smtClean="0">
                <a:solidFill>
                  <a:schemeClr val="tx1"/>
                </a:solidFill>
                <a:latin typeface="+mn-lt"/>
                <a:ea typeface="+mn-ea"/>
                <a:cs typeface="+mn-cs"/>
              </a:rPr>
              <a:t>Keep the activity on schedule and the tour running according to the itinerary</a:t>
            </a:r>
          </a:p>
          <a:p>
            <a:pPr marL="171450" indent="-171450">
              <a:buFont typeface="Arial" pitchFamily="34" charset="0"/>
              <a:buChar char="•"/>
            </a:pPr>
            <a:r>
              <a:rPr lang="en-AU" sz="1200" kern="1200" dirty="0" smtClean="0">
                <a:solidFill>
                  <a:schemeClr val="tx1"/>
                </a:solidFill>
                <a:latin typeface="+mn-lt"/>
                <a:ea typeface="+mn-ea"/>
                <a:cs typeface="+mn-cs"/>
              </a:rPr>
              <a:t>Cater for individual needs, wants and preferences as they are identified</a:t>
            </a:r>
          </a:p>
          <a:p>
            <a:pPr marL="171450" indent="-171450">
              <a:buFont typeface="Arial" pitchFamily="34" charset="0"/>
              <a:buChar char="•"/>
            </a:pPr>
            <a:r>
              <a:rPr lang="en-AU" sz="1200" kern="1200" dirty="0" smtClean="0">
                <a:solidFill>
                  <a:schemeClr val="tx1"/>
                </a:solidFill>
                <a:latin typeface="+mn-lt"/>
                <a:ea typeface="+mn-ea"/>
                <a:cs typeface="+mn-cs"/>
              </a:rPr>
              <a:t>Demonstrate customer-focus and a genuine service ethic.</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3303570737"/>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each tour/activity is unique mentioning:</a:t>
            </a:r>
          </a:p>
          <a:p>
            <a:pPr marL="171450" indent="-171450">
              <a:buFont typeface="Arial" pitchFamily="34" charset="0"/>
              <a:buChar char="•"/>
            </a:pPr>
            <a:r>
              <a:rPr lang="en-AU" sz="1200" kern="1200" dirty="0" smtClean="0">
                <a:solidFill>
                  <a:schemeClr val="tx1"/>
                </a:solidFill>
                <a:latin typeface="+mn-lt"/>
                <a:ea typeface="+mn-ea"/>
                <a:cs typeface="+mn-cs"/>
              </a:rPr>
              <a:t>The actions required to effectively adjust presentations for each interpretive activity will vary with each tour and activity </a:t>
            </a:r>
          </a:p>
          <a:p>
            <a:pPr marL="171450" indent="-171450">
              <a:buFont typeface="Arial" pitchFamily="34" charset="0"/>
              <a:buChar char="•"/>
            </a:pPr>
            <a:r>
              <a:rPr lang="en-AU" sz="1200" kern="1200" dirty="0" smtClean="0">
                <a:solidFill>
                  <a:schemeClr val="tx1"/>
                </a:solidFill>
                <a:latin typeface="+mn-lt"/>
                <a:ea typeface="+mn-ea"/>
                <a:cs typeface="+mn-cs"/>
              </a:rPr>
              <a:t>It is important to remember every activity is a unique event even where the title/name of the activity is the same. No two interpretive activities are really ever the same because of the dynamic mix of:</a:t>
            </a:r>
          </a:p>
          <a:p>
            <a:pPr marL="628650" lvl="1" indent="-171450">
              <a:buFont typeface="Arial" pitchFamily="34" charset="0"/>
              <a:buChar char="•"/>
            </a:pPr>
            <a:r>
              <a:rPr lang="en-AU" sz="1200" kern="1200" dirty="0" smtClean="0">
                <a:solidFill>
                  <a:schemeClr val="tx1"/>
                </a:solidFill>
                <a:latin typeface="+mn-lt"/>
                <a:ea typeface="+mn-ea"/>
                <a:cs typeface="+mn-cs"/>
              </a:rPr>
              <a:t>Tour group members – by age, gender, background, experience, expectations and number</a:t>
            </a:r>
          </a:p>
          <a:p>
            <a:pPr marL="628650" lvl="1" indent="-171450">
              <a:buFont typeface="Arial" pitchFamily="34" charset="0"/>
              <a:buChar char="•"/>
            </a:pPr>
            <a:r>
              <a:rPr lang="en-AU" sz="1200" kern="1200" dirty="0" smtClean="0">
                <a:solidFill>
                  <a:schemeClr val="tx1"/>
                </a:solidFill>
                <a:latin typeface="+mn-lt"/>
                <a:ea typeface="+mn-ea"/>
                <a:cs typeface="+mn-cs"/>
              </a:rPr>
              <a:t>Activity type – and the whether or not the activity is essentially:</a:t>
            </a:r>
          </a:p>
          <a:p>
            <a:pPr marL="1085850" lvl="2" indent="-171450">
              <a:buFont typeface="Arial" pitchFamily="34" charset="0"/>
              <a:buChar char="•"/>
            </a:pPr>
            <a:r>
              <a:rPr lang="en-AU" sz="1200" kern="1200" dirty="0" smtClean="0">
                <a:solidFill>
                  <a:schemeClr val="tx1"/>
                </a:solidFill>
                <a:latin typeface="+mn-lt"/>
                <a:ea typeface="+mn-ea"/>
                <a:cs typeface="+mn-cs"/>
              </a:rPr>
              <a:t>Passive or active</a:t>
            </a:r>
          </a:p>
          <a:p>
            <a:pPr marL="1085850" lvl="2" indent="-171450">
              <a:buFont typeface="Arial" pitchFamily="34" charset="0"/>
              <a:buChar char="•"/>
            </a:pPr>
            <a:r>
              <a:rPr lang="en-AU" sz="1200" kern="1200" dirty="0" smtClean="0">
                <a:solidFill>
                  <a:schemeClr val="tx1"/>
                </a:solidFill>
                <a:latin typeface="+mn-lt"/>
                <a:ea typeface="+mn-ea"/>
                <a:cs typeface="+mn-cs"/>
              </a:rPr>
              <a:t>Observational or participatory</a:t>
            </a:r>
          </a:p>
          <a:p>
            <a:pPr marL="1085850" lvl="2" indent="-171450">
              <a:buFont typeface="Arial" pitchFamily="34" charset="0"/>
              <a:buChar char="•"/>
            </a:pPr>
            <a:r>
              <a:rPr lang="en-AU" sz="1200" kern="1200" dirty="0" smtClean="0">
                <a:solidFill>
                  <a:schemeClr val="tx1"/>
                </a:solidFill>
                <a:latin typeface="+mn-lt"/>
                <a:ea typeface="+mn-ea"/>
                <a:cs typeface="+mn-cs"/>
              </a:rPr>
              <a:t>Group-based or individual</a:t>
            </a:r>
          </a:p>
          <a:p>
            <a:pPr marL="628650" lvl="1" indent="-171450">
              <a:buFont typeface="Arial" pitchFamily="34" charset="0"/>
              <a:buChar char="•"/>
            </a:pPr>
            <a:r>
              <a:rPr lang="en-AU" sz="1200" kern="1200" dirty="0" smtClean="0">
                <a:solidFill>
                  <a:schemeClr val="tx1"/>
                </a:solidFill>
                <a:latin typeface="+mn-lt"/>
                <a:ea typeface="+mn-ea"/>
                <a:cs typeface="+mn-cs"/>
              </a:rPr>
              <a:t>Location – in terms of the changes which can occur as a result of crowds, weather, seasons and equipment/resources factors.</a:t>
            </a:r>
          </a:p>
          <a:p>
            <a:pPr lvl="1">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1828942000"/>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advises </a:t>
            </a:r>
            <a:r>
              <a:rPr lang="en-AU" sz="1200" kern="1200" dirty="0" smtClean="0">
                <a:solidFill>
                  <a:schemeClr val="tx1"/>
                </a:solidFill>
                <a:latin typeface="+mn-lt"/>
                <a:ea typeface="+mn-ea"/>
                <a:cs typeface="+mn-cs"/>
              </a:rPr>
              <a:t>adjustments to presentation will need to be made on-the-spot by the Tour Guide based on:</a:t>
            </a:r>
          </a:p>
          <a:p>
            <a:pPr marL="171450" indent="-171450">
              <a:buFont typeface="Arial" pitchFamily="34" charset="0"/>
              <a:buChar char="•"/>
            </a:pPr>
            <a:r>
              <a:rPr lang="en-AU" sz="1200" kern="1200" dirty="0" smtClean="0">
                <a:solidFill>
                  <a:schemeClr val="tx1"/>
                </a:solidFill>
                <a:latin typeface="+mn-lt"/>
                <a:ea typeface="+mn-ea"/>
                <a:cs typeface="+mn-cs"/>
              </a:rPr>
              <a:t>Feedback from the group </a:t>
            </a:r>
          </a:p>
          <a:p>
            <a:pPr marL="171450" indent="-171450">
              <a:buFont typeface="Arial" pitchFamily="34" charset="0"/>
              <a:buChar char="•"/>
            </a:pPr>
            <a:r>
              <a:rPr lang="en-AU" sz="1200" kern="1200" dirty="0" smtClean="0">
                <a:solidFill>
                  <a:schemeClr val="tx1"/>
                </a:solidFill>
                <a:latin typeface="+mn-lt"/>
                <a:ea typeface="+mn-ea"/>
                <a:cs typeface="+mn-cs"/>
              </a:rPr>
              <a:t>Local factors </a:t>
            </a:r>
          </a:p>
          <a:p>
            <a:pPr marL="171450" indent="-171450">
              <a:buFont typeface="Arial" pitchFamily="34" charset="0"/>
              <a:buChar char="•"/>
            </a:pPr>
            <a:r>
              <a:rPr lang="en-AU" sz="1200" kern="1200" dirty="0" smtClean="0">
                <a:solidFill>
                  <a:schemeClr val="tx1"/>
                </a:solidFill>
                <a:latin typeface="+mn-lt"/>
                <a:ea typeface="+mn-ea"/>
                <a:cs typeface="+mn-cs"/>
              </a:rPr>
              <a:t>Personal experience</a:t>
            </a:r>
          </a:p>
          <a:p>
            <a:pPr marL="171450" indent="-171450">
              <a:buFont typeface="Arial" pitchFamily="34" charset="0"/>
              <a:buChar char="•"/>
            </a:pPr>
            <a:r>
              <a:rPr lang="en-AU" sz="1200" kern="1200" dirty="0" smtClean="0">
                <a:solidFill>
                  <a:schemeClr val="tx1"/>
                </a:solidFill>
                <a:latin typeface="+mn-lt"/>
                <a:ea typeface="+mn-ea"/>
                <a:cs typeface="+mn-cs"/>
              </a:rPr>
              <a:t>Common sense</a:t>
            </a:r>
          </a:p>
          <a:p>
            <a:pPr marL="171450" indent="-171450">
              <a:buFont typeface="Arial" pitchFamily="34" charset="0"/>
              <a:buChar char="•"/>
            </a:pPr>
            <a:r>
              <a:rPr lang="en-AU" sz="1200" kern="1200" dirty="0" smtClean="0">
                <a:solidFill>
                  <a:schemeClr val="tx1"/>
                </a:solidFill>
                <a:latin typeface="+mn-lt"/>
                <a:ea typeface="+mn-ea"/>
                <a:cs typeface="+mn-cs"/>
              </a:rPr>
              <a:t>Knowledge gained about the tour group members</a:t>
            </a:r>
          </a:p>
          <a:p>
            <a:pPr marL="171450" indent="-171450">
              <a:buFont typeface="Arial" pitchFamily="34" charset="0"/>
              <a:buChar char="•"/>
            </a:pPr>
            <a:r>
              <a:rPr lang="en-AU" sz="1200" kern="1200" dirty="0" smtClean="0">
                <a:solidFill>
                  <a:schemeClr val="tx1"/>
                </a:solidFill>
                <a:latin typeface="+mn-lt"/>
                <a:ea typeface="+mn-ea"/>
                <a:cs typeface="+mn-cs"/>
              </a:rPr>
              <a:t>Knowledge held about the tour/activity to-date and the remaining inclusions and activities on the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3445707010"/>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suggests options for </a:t>
            </a:r>
            <a:r>
              <a:rPr lang="en-AU" sz="1200" kern="1200" dirty="0" smtClean="0">
                <a:solidFill>
                  <a:schemeClr val="tx1"/>
                </a:solidFill>
                <a:latin typeface="+mn-lt"/>
                <a:ea typeface="+mn-ea"/>
                <a:cs typeface="+mn-cs"/>
              </a:rPr>
              <a:t>adjusting presentation may require:</a:t>
            </a:r>
          </a:p>
          <a:p>
            <a:pPr marL="171450" indent="-171450">
              <a:buFont typeface="Arial" pitchFamily="34" charset="0"/>
              <a:buChar char="•"/>
            </a:pPr>
            <a:r>
              <a:rPr lang="en-AU" sz="1200" kern="1200" dirty="0" smtClean="0">
                <a:solidFill>
                  <a:schemeClr val="tx1"/>
                </a:solidFill>
                <a:latin typeface="+mn-lt"/>
                <a:ea typeface="+mn-ea"/>
                <a:cs typeface="+mn-cs"/>
              </a:rPr>
              <a:t>Changing the basic tenor of an activity – which may mean:</a:t>
            </a:r>
          </a:p>
          <a:p>
            <a:pPr marL="628650" lvl="1" indent="-171450">
              <a:buFont typeface="Arial" pitchFamily="34" charset="0"/>
              <a:buChar char="•"/>
            </a:pPr>
            <a:r>
              <a:rPr lang="en-US" sz="1200" kern="1200" dirty="0" smtClean="0">
                <a:solidFill>
                  <a:schemeClr val="tx1"/>
                </a:solidFill>
                <a:latin typeface="+mn-lt"/>
                <a:ea typeface="+mn-ea"/>
                <a:cs typeface="+mn-cs"/>
              </a:rPr>
              <a:t>Switching from an active to a passive orientation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Allowing the tour group to determine their approach to the activity rather than insisting the plans for the activity are followed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Altering the pacing of the presentation – by (for example)</a:t>
            </a:r>
          </a:p>
          <a:p>
            <a:pPr marL="628650" lvl="1" indent="-171450">
              <a:buFont typeface="Arial" pitchFamily="34" charset="0"/>
              <a:buChar char="•"/>
            </a:pPr>
            <a:r>
              <a:rPr lang="en-US" sz="1200" kern="1200" dirty="0" smtClean="0">
                <a:solidFill>
                  <a:schemeClr val="tx1"/>
                </a:solidFill>
                <a:latin typeface="+mn-lt"/>
                <a:ea typeface="+mn-ea"/>
                <a:cs typeface="+mn-cs"/>
              </a:rPr>
              <a:t>Speeding up or slowing down commentary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Adding more information or omitting ‘nice to know’ information and presenting only the ‘need to know’ detail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Changing the scope of the activity itself – by:</a:t>
            </a:r>
          </a:p>
          <a:p>
            <a:pPr marL="628650" lvl="1" indent="-171450">
              <a:buFont typeface="Arial" pitchFamily="34" charset="0"/>
              <a:buChar char="•"/>
            </a:pPr>
            <a:r>
              <a:rPr lang="en-US" sz="1200" kern="1200" dirty="0" smtClean="0">
                <a:solidFill>
                  <a:schemeClr val="tx1"/>
                </a:solidFill>
                <a:latin typeface="+mn-lt"/>
                <a:ea typeface="+mn-ea"/>
                <a:cs typeface="+mn-cs"/>
              </a:rPr>
              <a:t>Adding new or different elements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Reducing objectives and/or dimensions of the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Adjusting the duration of the activity – which may take the form of:</a:t>
            </a:r>
          </a:p>
          <a:p>
            <a:pPr marL="628650" lvl="1" indent="-171450">
              <a:buFont typeface="Arial" pitchFamily="34" charset="0"/>
              <a:buChar char="•"/>
            </a:pPr>
            <a:r>
              <a:rPr lang="en-US" sz="1200" kern="1200" dirty="0" smtClean="0">
                <a:solidFill>
                  <a:schemeClr val="tx1"/>
                </a:solidFill>
                <a:latin typeface="+mn-lt"/>
                <a:ea typeface="+mn-ea"/>
                <a:cs typeface="+mn-cs"/>
              </a:rPr>
              <a:t>Making the activity longer or shorter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Breaking the overall activity up into smaller, discreet sections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Introducing breaks/rests periods into the activity.</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2420150827"/>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suggest options for </a:t>
            </a:r>
            <a:r>
              <a:rPr lang="en-AU" sz="1200" kern="1200" dirty="0" smtClean="0">
                <a:solidFill>
                  <a:schemeClr val="tx1"/>
                </a:solidFill>
                <a:latin typeface="+mn-lt"/>
                <a:ea typeface="+mn-ea"/>
                <a:cs typeface="+mn-cs"/>
              </a:rPr>
              <a:t>adjusting presentation:</a:t>
            </a:r>
          </a:p>
          <a:p>
            <a:pPr marL="171450" indent="-171450">
              <a:buFont typeface="Arial" pitchFamily="34" charset="0"/>
              <a:buChar char="•"/>
            </a:pPr>
            <a:r>
              <a:rPr lang="en-AU" sz="1200" kern="1200" dirty="0" smtClean="0">
                <a:solidFill>
                  <a:schemeClr val="tx1"/>
                </a:solidFill>
                <a:latin typeface="+mn-lt"/>
                <a:ea typeface="+mn-ea"/>
                <a:cs typeface="+mn-cs"/>
              </a:rPr>
              <a:t>Addressing the degree of engagement/participation of the tour group with the activity – which will commonly require either:</a:t>
            </a:r>
          </a:p>
          <a:p>
            <a:pPr marL="628650" lvl="1" indent="-171450">
              <a:buFont typeface="Arial" pitchFamily="34" charset="0"/>
              <a:buChar char="•"/>
            </a:pPr>
            <a:r>
              <a:rPr lang="en-US" sz="1200" kern="1200" dirty="0" smtClean="0">
                <a:solidFill>
                  <a:schemeClr val="tx1"/>
                </a:solidFill>
                <a:latin typeface="+mn-lt"/>
                <a:ea typeface="+mn-ea"/>
                <a:cs typeface="+mn-cs"/>
              </a:rPr>
              <a:t>The tour group members to do more or less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tour group members to do something different – such as something more active or less active/challenging/hands-on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Tour Guide and/or tour staff members to do more or less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Taking action in relation to the administration of the activity – which may require changes in relation to:</a:t>
            </a:r>
          </a:p>
          <a:p>
            <a:pPr marL="628650" lvl="1" indent="-171450">
              <a:buFont typeface="Arial" pitchFamily="34" charset="0"/>
              <a:buChar char="•"/>
            </a:pPr>
            <a:r>
              <a:rPr lang="en-US" sz="1200" kern="1200" dirty="0" smtClean="0">
                <a:solidFill>
                  <a:schemeClr val="tx1"/>
                </a:solidFill>
                <a:latin typeface="+mn-lt"/>
                <a:ea typeface="+mn-ea"/>
                <a:cs typeface="+mn-cs"/>
              </a:rPr>
              <a:t>Monitoring of the group</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Supervision of the activity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Provision of further advice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Feedback given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Moving the location of the activity – to:</a:t>
            </a:r>
          </a:p>
          <a:p>
            <a:pPr marL="628650" lvl="1" indent="-171450">
              <a:buFont typeface="Arial" pitchFamily="34" charset="0"/>
              <a:buChar char="•"/>
            </a:pPr>
            <a:r>
              <a:rPr lang="en-US" sz="1200" kern="1200" dirty="0" smtClean="0">
                <a:solidFill>
                  <a:schemeClr val="tx1"/>
                </a:solidFill>
                <a:latin typeface="+mn-lt"/>
                <a:ea typeface="+mn-ea"/>
                <a:cs typeface="+mn-cs"/>
              </a:rPr>
              <a:t>A better area given the nature of issues arising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 safer site.</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p14="http://schemas.microsoft.com/office/powerpoint/2010/main" val="675660398"/>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suggest options for </a:t>
            </a:r>
            <a:r>
              <a:rPr lang="en-AU" sz="1200" kern="1200" dirty="0" smtClean="0">
                <a:solidFill>
                  <a:schemeClr val="tx1"/>
                </a:solidFill>
                <a:latin typeface="+mn-lt"/>
                <a:ea typeface="+mn-ea"/>
                <a:cs typeface="+mn-cs"/>
              </a:rPr>
              <a:t>adjusting presentation:</a:t>
            </a:r>
          </a:p>
          <a:p>
            <a:pPr marL="171450" indent="-171450">
              <a:buFont typeface="Arial" pitchFamily="34" charset="0"/>
              <a:buChar char="•"/>
            </a:pPr>
            <a:r>
              <a:rPr lang="en-AU" sz="1200" kern="1200" dirty="0" smtClean="0">
                <a:solidFill>
                  <a:schemeClr val="tx1"/>
                </a:solidFill>
                <a:latin typeface="+mn-lt"/>
                <a:ea typeface="+mn-ea"/>
                <a:cs typeface="+mn-cs"/>
              </a:rPr>
              <a:t>Responding to initial assessment of participant physical ability – and conducting a subsequent re-assessment based on their </a:t>
            </a:r>
            <a:r>
              <a:rPr lang="en-AU" sz="1200" i="1" kern="1200" dirty="0" smtClean="0">
                <a:solidFill>
                  <a:schemeClr val="tx1"/>
                </a:solidFill>
                <a:latin typeface="+mn-lt"/>
                <a:ea typeface="+mn-ea"/>
                <a:cs typeface="+mn-cs"/>
              </a:rPr>
              <a:t>demonstrated</a:t>
            </a:r>
            <a:r>
              <a:rPr lang="en-AU" sz="1200" kern="1200" dirty="0" smtClean="0">
                <a:solidFill>
                  <a:schemeClr val="tx1"/>
                </a:solidFill>
                <a:latin typeface="+mn-lt"/>
                <a:ea typeface="+mn-ea"/>
                <a:cs typeface="+mn-cs"/>
              </a:rPr>
              <a:t> capacity</a:t>
            </a:r>
          </a:p>
          <a:p>
            <a:pPr marL="171450" indent="-171450">
              <a:buFont typeface="Arial" pitchFamily="34" charset="0"/>
              <a:buChar char="•"/>
            </a:pPr>
            <a:r>
              <a:rPr lang="en-AU" sz="1200" kern="1200" dirty="0" smtClean="0">
                <a:solidFill>
                  <a:schemeClr val="tx1"/>
                </a:solidFill>
                <a:latin typeface="+mn-lt"/>
                <a:ea typeface="+mn-ea"/>
                <a:cs typeface="+mn-cs"/>
              </a:rPr>
              <a:t>Responding to changing environmental and other factors – including those related to:</a:t>
            </a:r>
          </a:p>
          <a:p>
            <a:pPr marL="628650" lvl="1" indent="-171450">
              <a:buFont typeface="Arial" pitchFamily="34" charset="0"/>
              <a:buChar char="•"/>
            </a:pPr>
            <a:r>
              <a:rPr lang="en-US" sz="1200" kern="1200" dirty="0" smtClean="0">
                <a:solidFill>
                  <a:schemeClr val="tx1"/>
                </a:solidFill>
                <a:latin typeface="+mn-lt"/>
                <a:ea typeface="+mn-ea"/>
                <a:cs typeface="+mn-cs"/>
              </a:rPr>
              <a:t>Safety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Weather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Environment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Abandoning the planned activity and initiating a substitute/alternative activity – where the original interpretive activity appears to be unacceptable and inappropriate to the group.</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p14="http://schemas.microsoft.com/office/powerpoint/2010/main" val="361228889"/>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continues to suggest options for </a:t>
            </a:r>
            <a:r>
              <a:rPr lang="en-AU" sz="1200" kern="1200" dirty="0" smtClean="0">
                <a:solidFill>
                  <a:schemeClr val="tx1"/>
                </a:solidFill>
                <a:latin typeface="+mn-lt"/>
                <a:ea typeface="+mn-ea"/>
                <a:cs typeface="+mn-cs"/>
              </a:rPr>
              <a:t>adjusting presentation:</a:t>
            </a:r>
          </a:p>
          <a:p>
            <a:pPr marL="171450" indent="-171450">
              <a:buFont typeface="Arial" pitchFamily="34" charset="0"/>
              <a:buChar char="•"/>
            </a:pPr>
            <a:r>
              <a:rPr lang="en-AU" sz="1200" kern="1200" dirty="0" smtClean="0">
                <a:solidFill>
                  <a:schemeClr val="tx1"/>
                </a:solidFill>
                <a:latin typeface="+mn-lt"/>
                <a:ea typeface="+mn-ea"/>
                <a:cs typeface="+mn-cs"/>
              </a:rPr>
              <a:t>Allocating more and/or different resources, gear and equipment – to address resourcing issues which have occurred </a:t>
            </a:r>
          </a:p>
          <a:p>
            <a:pPr marL="171450" indent="-171450">
              <a:buFont typeface="Arial" pitchFamily="34" charset="0"/>
              <a:buChar char="•"/>
            </a:pPr>
            <a:r>
              <a:rPr lang="en-AU" sz="1200" kern="1200" dirty="0" smtClean="0">
                <a:solidFill>
                  <a:schemeClr val="tx1"/>
                </a:solidFill>
                <a:latin typeface="+mn-lt"/>
                <a:ea typeface="+mn-ea"/>
                <a:cs typeface="+mn-cs"/>
              </a:rPr>
              <a:t>Being prepared to amend the itinerary for the tour in consultation with the group – where the presentation of </a:t>
            </a:r>
            <a:r>
              <a:rPr lang="en-AU" sz="1200" i="1" kern="1200" dirty="0" smtClean="0">
                <a:solidFill>
                  <a:schemeClr val="tx1"/>
                </a:solidFill>
                <a:latin typeface="+mn-lt"/>
                <a:ea typeface="+mn-ea"/>
                <a:cs typeface="+mn-cs"/>
              </a:rPr>
              <a:t>this</a:t>
            </a:r>
            <a:r>
              <a:rPr lang="en-AU" sz="1200" kern="1200" dirty="0" smtClean="0">
                <a:solidFill>
                  <a:schemeClr val="tx1"/>
                </a:solidFill>
                <a:latin typeface="+mn-lt"/>
                <a:ea typeface="+mn-ea"/>
                <a:cs typeface="+mn-cs"/>
              </a:rPr>
              <a:t> activity appears to warrant such a response</a:t>
            </a:r>
          </a:p>
          <a:p>
            <a:pPr marL="171450" indent="-171450">
              <a:buFont typeface="Arial" pitchFamily="34" charset="0"/>
              <a:buChar char="•"/>
            </a:pPr>
            <a:r>
              <a:rPr lang="en-AU" sz="1200" kern="1200" dirty="0" smtClean="0">
                <a:solidFill>
                  <a:schemeClr val="tx1"/>
                </a:solidFill>
                <a:latin typeface="+mn-lt"/>
                <a:ea typeface="+mn-ea"/>
                <a:cs typeface="+mn-cs"/>
              </a:rPr>
              <a:t>Altering the level of communication and interaction with individuals and/or groups – to:</a:t>
            </a:r>
          </a:p>
          <a:p>
            <a:pPr marL="628650" lvl="1" indent="-171450">
              <a:buFont typeface="Arial" pitchFamily="34" charset="0"/>
              <a:buChar char="•"/>
            </a:pPr>
            <a:r>
              <a:rPr lang="en-US" sz="1200" kern="1200" dirty="0" smtClean="0">
                <a:solidFill>
                  <a:schemeClr val="tx1"/>
                </a:solidFill>
                <a:latin typeface="+mn-lt"/>
                <a:ea typeface="+mn-ea"/>
                <a:cs typeface="+mn-cs"/>
              </a:rPr>
              <a:t>Make people feel more included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Address signs of distress, fatigue or other negative signals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Enhance the connection between Tour Guide and the individual.</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lvl="0">
              <a:buFont typeface="Arial" pitchFamily="34" charset="0"/>
              <a:buNone/>
            </a:pPr>
            <a:r>
              <a:rPr lang="en-AU" b="1" kern="1200" baseline="0" noProof="0" dirty="0" smtClean="0">
                <a:solidFill>
                  <a:schemeClr val="tx1"/>
                </a:solidFill>
                <a:latin typeface="+mn-lt"/>
                <a:ea typeface="+mn-ea"/>
                <a:cs typeface="+mn-cs"/>
              </a:rPr>
              <a:t>Classroom Activity – Excursion</a:t>
            </a:r>
          </a:p>
          <a:p>
            <a:pPr lvl="0">
              <a:buFont typeface="Arial" pitchFamily="34" charset="0"/>
              <a:buNone/>
            </a:pPr>
            <a:r>
              <a:rPr lang="en-AU" b="0" kern="1200" baseline="0" noProof="0" dirty="0" smtClean="0">
                <a:solidFill>
                  <a:schemeClr val="tx1"/>
                </a:solidFill>
                <a:latin typeface="+mn-lt"/>
                <a:ea typeface="+mn-ea"/>
                <a:cs typeface="+mn-cs"/>
              </a:rPr>
              <a:t>Trainer arranges for class to participate in a (</a:t>
            </a:r>
            <a:r>
              <a:rPr lang="en-AU" b="1" kern="1200" baseline="0" noProof="0" dirty="0" smtClean="0">
                <a:solidFill>
                  <a:schemeClr val="tx1"/>
                </a:solidFill>
                <a:latin typeface="+mn-lt"/>
                <a:ea typeface="+mn-ea"/>
                <a:cs typeface="+mn-cs"/>
              </a:rPr>
              <a:t>different to earlier</a:t>
            </a:r>
            <a:r>
              <a:rPr lang="en-AU" b="0" kern="1200" baseline="0" noProof="0" dirty="0" smtClean="0">
                <a:solidFill>
                  <a:schemeClr val="tx1"/>
                </a:solidFill>
                <a:latin typeface="+mn-lt"/>
                <a:ea typeface="+mn-ea"/>
                <a:cs typeface="+mn-cs"/>
              </a:rPr>
              <a:t>) tour featuring (</a:t>
            </a:r>
            <a:r>
              <a:rPr lang="en-AU" b="1" kern="1200" baseline="0" noProof="0" dirty="0" smtClean="0">
                <a:solidFill>
                  <a:schemeClr val="tx1"/>
                </a:solidFill>
                <a:latin typeface="+mn-lt"/>
                <a:ea typeface="+mn-ea"/>
                <a:cs typeface="+mn-cs"/>
              </a:rPr>
              <a:t>different</a:t>
            </a:r>
            <a:r>
              <a:rPr lang="en-AU" b="0" kern="1200" baseline="0" noProof="0" dirty="0" smtClean="0">
                <a:solidFill>
                  <a:schemeClr val="tx1"/>
                </a:solidFill>
                <a:latin typeface="+mn-lt"/>
                <a:ea typeface="+mn-ea"/>
                <a:cs typeface="+mn-cs"/>
              </a:rPr>
              <a:t>) interpretive activities so they can:</a:t>
            </a:r>
          </a:p>
          <a:p>
            <a:pPr marL="171450" lvl="0" indent="-171450">
              <a:buFont typeface="Arial" pitchFamily="34" charset="0"/>
              <a:buChar char="•"/>
            </a:pPr>
            <a:r>
              <a:rPr lang="en-AU" b="0" baseline="0" noProof="0" dirty="0" smtClean="0"/>
              <a:t>Gain first-hand experience of tours and activities</a:t>
            </a:r>
          </a:p>
          <a:p>
            <a:pPr marL="171450" lvl="0" indent="-171450">
              <a:buFont typeface="Arial" pitchFamily="34" charset="0"/>
              <a:buChar char="•"/>
            </a:pPr>
            <a:r>
              <a:rPr lang="en-AU" b="0" baseline="0" noProof="0" dirty="0" smtClean="0"/>
              <a:t>Observe occurrences and work of tour staff</a:t>
            </a:r>
          </a:p>
          <a:p>
            <a:pPr marL="171450" lvl="0" indent="-171450">
              <a:buFont typeface="Arial" pitchFamily="34" charset="0"/>
              <a:buChar char="•"/>
            </a:pPr>
            <a:r>
              <a:rPr lang="en-AU" b="0" baseline="0" noProof="0" dirty="0" smtClean="0"/>
              <a:t>Talk with tour staff</a:t>
            </a:r>
          </a:p>
          <a:p>
            <a:pPr marL="171450" lvl="0" indent="-171450">
              <a:buFont typeface="Arial" pitchFamily="34" charset="0"/>
              <a:buChar char="•"/>
            </a:pPr>
            <a:r>
              <a:rPr lang="en-AU" b="0" baseline="0" noProof="0" dirty="0" smtClean="0"/>
              <a:t>Obtain handout materials</a:t>
            </a:r>
          </a:p>
          <a:p>
            <a:pPr marL="171450" lvl="0" indent="-171450">
              <a:buFont typeface="Arial" pitchFamily="34" charset="0"/>
              <a:buChar char="•"/>
            </a:pPr>
            <a:r>
              <a:rPr lang="en-AU" b="0" baseline="0" noProof="0" dirty="0" smtClean="0"/>
              <a:t>Observe tour group members and their reactions to activities and interactions with tour staff.</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extLst>
      <p:ext uri="{BB962C8B-B14F-4D97-AF65-F5344CB8AC3E}">
        <p14:creationId xmlns:p14="http://schemas.microsoft.com/office/powerpoint/2010/main" val="235635460"/>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AU" noProof="0" dirty="0" smtClean="0"/>
              <a:t>Trainer</a:t>
            </a:r>
            <a:r>
              <a:rPr lang="en-AU" baseline="0" noProof="0" dirty="0" smtClean="0"/>
              <a:t> identifies colleagues as possibly including:</a:t>
            </a:r>
          </a:p>
          <a:p>
            <a:pPr marL="171450" indent="-171450">
              <a:buFont typeface="Arial" pitchFamily="34" charset="0"/>
              <a:buChar char="•"/>
            </a:pPr>
            <a:r>
              <a:rPr lang="en-AU" sz="1200" kern="1200" dirty="0" smtClean="0">
                <a:solidFill>
                  <a:schemeClr val="tx1"/>
                </a:solidFill>
                <a:latin typeface="+mn-lt"/>
                <a:ea typeface="+mn-ea"/>
                <a:cs typeface="+mn-cs"/>
              </a:rPr>
              <a:t>Host communities – including:</a:t>
            </a:r>
          </a:p>
          <a:p>
            <a:pPr marL="628650" lvl="1" indent="-171450">
              <a:buFont typeface="Arial" pitchFamily="34" charset="0"/>
              <a:buChar char="•"/>
            </a:pPr>
            <a:r>
              <a:rPr lang="en-US" sz="1200" kern="1200" dirty="0" smtClean="0">
                <a:solidFill>
                  <a:schemeClr val="tx1"/>
                </a:solidFill>
                <a:latin typeface="+mn-lt"/>
                <a:ea typeface="+mn-ea"/>
                <a:cs typeface="+mn-cs"/>
              </a:rPr>
              <a:t>Acknowledged community leaders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Designated elders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Nominated spokespeople or representatives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Vehicles operated by third party carriers in these communities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Tour operator employees who are also part of the tour group – such as:</a:t>
            </a:r>
          </a:p>
          <a:p>
            <a:pPr marL="628650" lvl="1" indent="-171450">
              <a:buFont typeface="Arial" pitchFamily="34" charset="0"/>
              <a:buChar char="•"/>
            </a:pPr>
            <a:r>
              <a:rPr lang="en-US" sz="1200" kern="1200" dirty="0" smtClean="0">
                <a:solidFill>
                  <a:schemeClr val="tx1"/>
                </a:solidFill>
                <a:latin typeface="+mn-lt"/>
                <a:ea typeface="+mn-ea"/>
                <a:cs typeface="+mn-cs"/>
              </a:rPr>
              <a:t>Tour managers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Drivers of coaches and other vehicles owner and operated by the Tour Operator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Employees responsible for loading vehicles and conducting pre-departure checks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Security and/or safety staff</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Aides and assistants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Cooks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Third party providers, joint venture partner and agencies – in terms of:</a:t>
            </a:r>
          </a:p>
          <a:p>
            <a:pPr marL="628650" lvl="1" indent="-171450">
              <a:buFont typeface="Arial" pitchFamily="34" charset="0"/>
              <a:buChar char="•"/>
            </a:pPr>
            <a:r>
              <a:rPr lang="en-US" sz="1200" kern="1200" dirty="0" smtClean="0">
                <a:solidFill>
                  <a:schemeClr val="tx1"/>
                </a:solidFill>
                <a:latin typeface="+mn-lt"/>
                <a:ea typeface="+mn-ea"/>
                <a:cs typeface="+mn-cs"/>
              </a:rPr>
              <a:t>Drivers they use/provide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People provided to ‘meet and greet’ tour group members and to provide other services at and within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Caterers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Animal handlers .</a:t>
            </a:r>
            <a:endParaRPr lang="en-AU" sz="1200" kern="1200" dirty="0" smtClean="0">
              <a:solidFill>
                <a:schemeClr val="tx1"/>
              </a:solidFill>
              <a:latin typeface="+mn-lt"/>
              <a:ea typeface="+mn-ea"/>
              <a:cs typeface="+mn-cs"/>
            </a:endParaRPr>
          </a:p>
          <a:p>
            <a:pPr>
              <a:buFont typeface="Arial" pitchFamily="34" charset="0"/>
              <a:buChar char="•"/>
            </a:pPr>
            <a:endParaRPr lang="en-AU" baseline="0" noProof="0" dirty="0" smtClean="0"/>
          </a:p>
          <a:p>
            <a:pPr>
              <a:buFont typeface="Arial" pitchFamily="34" charset="0"/>
              <a:buNone/>
            </a:pPr>
            <a:r>
              <a:rPr lang="en-AU" b="1" noProof="0" dirty="0" smtClean="0"/>
              <a:t>Classroom Activity – Guest Speaker/s</a:t>
            </a:r>
          </a:p>
          <a:p>
            <a:pPr>
              <a:buFont typeface="Arial" pitchFamily="34" charset="0"/>
              <a:buNone/>
            </a:pPr>
            <a:r>
              <a:rPr lang="en-AU" b="0" noProof="0" dirty="0" smtClean="0"/>
              <a:t>Trainer arranges for selection of people from those mentioned on the slide to attend and:</a:t>
            </a:r>
          </a:p>
          <a:p>
            <a:pPr marL="171450" indent="-171450">
              <a:buFont typeface="Arial" pitchFamily="34" charset="0"/>
              <a:buChar char="•"/>
            </a:pPr>
            <a:r>
              <a:rPr lang="en-AU" b="0" noProof="0" dirty="0" smtClean="0"/>
              <a:t>Discuss their roles in interpretive activities</a:t>
            </a:r>
          </a:p>
          <a:p>
            <a:pPr marL="171450" indent="-171450">
              <a:buFont typeface="Arial" pitchFamily="34" charset="0"/>
              <a:buChar char="•"/>
            </a:pPr>
            <a:r>
              <a:rPr lang="en-AU" b="0" noProof="0" dirty="0" smtClean="0"/>
              <a:t>Illustrate the need for communication throughout interpretive activities</a:t>
            </a:r>
          </a:p>
          <a:p>
            <a:pPr marL="171450" indent="-171450">
              <a:buFont typeface="Arial" pitchFamily="34" charset="0"/>
              <a:buChar char="•"/>
            </a:pPr>
            <a:r>
              <a:rPr lang="en-AU" b="0" noProof="0" dirty="0" smtClean="0"/>
              <a:t>Explain how the liaison occurs.</a:t>
            </a: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extLst>
      <p:ext uri="{BB962C8B-B14F-4D97-AF65-F5344CB8AC3E}">
        <p14:creationId xmlns:p14="http://schemas.microsoft.com/office/powerpoint/2010/main" val="2625065210"/>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a:t>
            </a:r>
            <a:r>
              <a:rPr lang="en-AU" baseline="0" noProof="0" dirty="0" smtClean="0"/>
              <a:t> continues to identify colleagues as possibly including:</a:t>
            </a:r>
          </a:p>
          <a:p>
            <a:pPr marL="171450" indent="-171450">
              <a:buFont typeface="Arial" pitchFamily="34" charset="0"/>
              <a:buChar char="•"/>
            </a:pPr>
            <a:r>
              <a:rPr lang="en-AU" sz="1200" kern="1200" dirty="0" smtClean="0">
                <a:solidFill>
                  <a:schemeClr val="tx1"/>
                </a:solidFill>
                <a:latin typeface="+mn-lt"/>
                <a:ea typeface="+mn-ea"/>
                <a:cs typeface="+mn-cs"/>
              </a:rPr>
              <a:t>Local and independent guides – who may be have a role to play in:</a:t>
            </a:r>
          </a:p>
          <a:p>
            <a:pPr marL="628650" lvl="1" indent="-171450">
              <a:buFont typeface="Arial" pitchFamily="34" charset="0"/>
              <a:buChar char="•"/>
            </a:pPr>
            <a:r>
              <a:rPr lang="en-US" sz="1200" kern="1200" dirty="0" smtClean="0">
                <a:solidFill>
                  <a:schemeClr val="tx1"/>
                </a:solidFill>
                <a:latin typeface="+mn-lt"/>
                <a:ea typeface="+mn-ea"/>
                <a:cs typeface="+mn-cs"/>
              </a:rPr>
              <a:t>Leading part of the tour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Conducting an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Designated/arranged persons (‘Contacts’) at destinations, suppliers and venues – including:</a:t>
            </a:r>
          </a:p>
          <a:p>
            <a:pPr marL="628650" lvl="1" indent="-171450">
              <a:buFont typeface="Arial" pitchFamily="34" charset="0"/>
              <a:buChar char="•"/>
            </a:pPr>
            <a:r>
              <a:rPr lang="en-US" sz="1200" kern="1200" dirty="0" smtClean="0">
                <a:solidFill>
                  <a:schemeClr val="tx1"/>
                </a:solidFill>
                <a:latin typeface="+mn-lt"/>
                <a:ea typeface="+mn-ea"/>
                <a:cs typeface="+mn-cs"/>
              </a:rPr>
              <a:t>Hotels and restaurants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Attractions and sites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Retail shops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Land owners and land managers – for areas which:</a:t>
            </a:r>
          </a:p>
          <a:p>
            <a:pPr marL="628650" lvl="1" indent="-171450">
              <a:buFont typeface="Arial" pitchFamily="34" charset="0"/>
              <a:buChar char="•"/>
            </a:pPr>
            <a:r>
              <a:rPr lang="en-US" sz="1200" kern="1200" dirty="0" smtClean="0">
                <a:solidFill>
                  <a:schemeClr val="tx1"/>
                </a:solidFill>
                <a:latin typeface="+mn-lt"/>
                <a:ea typeface="+mn-ea"/>
                <a:cs typeface="+mn-cs"/>
              </a:rPr>
              <a:t>May be protected by legislation or regulation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May be subject to special listing and access requirements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Require payment of access/user fees on arrival</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Representatives of statutory authorities – who may need to be advised of:</a:t>
            </a:r>
          </a:p>
          <a:p>
            <a:pPr marL="628650" lvl="1" indent="-171450">
              <a:buFont typeface="Arial" pitchFamily="34" charset="0"/>
              <a:buChar char="•"/>
            </a:pPr>
            <a:r>
              <a:rPr lang="en-US" sz="1200" kern="1200" dirty="0" smtClean="0">
                <a:solidFill>
                  <a:schemeClr val="tx1"/>
                </a:solidFill>
                <a:latin typeface="+mn-lt"/>
                <a:ea typeface="+mn-ea"/>
                <a:cs typeface="+mn-cs"/>
              </a:rPr>
              <a:t>Plans and intentions – for tours and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Projected usage of areas/sites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Numbers of visitors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Other detail as applicable to the individual agency/authority.</a:t>
            </a:r>
            <a:endParaRPr lang="en-AU" sz="1200" kern="1200" dirty="0" smtClean="0">
              <a:solidFill>
                <a:schemeClr val="tx1"/>
              </a:solidFill>
              <a:latin typeface="+mn-lt"/>
              <a:ea typeface="+mn-ea"/>
              <a:cs typeface="+mn-cs"/>
            </a:endParaRPr>
          </a:p>
          <a:p>
            <a:pPr>
              <a:buFont typeface="Arial" pitchFamily="34" charset="0"/>
              <a:buNone/>
            </a:pPr>
            <a:endParaRPr lang="en-AU" baseline="0" noProof="0" dirty="0" smtClean="0"/>
          </a:p>
          <a:p>
            <a:pPr>
              <a:buFont typeface="Arial" pitchFamily="34" charset="0"/>
              <a:buNone/>
            </a:pPr>
            <a:r>
              <a:rPr lang="en-AU" b="1" noProof="0" dirty="0" smtClean="0"/>
              <a:t>Classroom Activity – Guest Speaker/s</a:t>
            </a:r>
          </a:p>
          <a:p>
            <a:pPr>
              <a:buFont typeface="Arial" pitchFamily="34" charset="0"/>
              <a:buNone/>
            </a:pPr>
            <a:r>
              <a:rPr lang="en-AU" b="0" noProof="0" dirty="0" smtClean="0"/>
              <a:t>Trainer arranges for selection of people from those mentioned on the slide to attend and:</a:t>
            </a:r>
          </a:p>
          <a:p>
            <a:pPr marL="171450" indent="-171450">
              <a:buFont typeface="Arial" pitchFamily="34" charset="0"/>
              <a:buChar char="•"/>
            </a:pPr>
            <a:r>
              <a:rPr lang="en-AU" b="0" noProof="0" dirty="0" smtClean="0"/>
              <a:t>Discuss their roles in interpretive activities</a:t>
            </a:r>
          </a:p>
          <a:p>
            <a:pPr marL="171450" indent="-171450">
              <a:buFont typeface="Arial" pitchFamily="34" charset="0"/>
              <a:buChar char="•"/>
            </a:pPr>
            <a:r>
              <a:rPr lang="en-AU" b="0" noProof="0" dirty="0" smtClean="0"/>
              <a:t>Illustrate the need for communication throughout interpretive activities</a:t>
            </a:r>
          </a:p>
          <a:p>
            <a:pPr marL="171450" indent="-171450">
              <a:buFont typeface="Arial" pitchFamily="34" charset="0"/>
              <a:buChar char="•"/>
            </a:pPr>
            <a:r>
              <a:rPr lang="en-AU" b="0" noProof="0" dirty="0" smtClean="0"/>
              <a:t>Explain how the liaison occurs.</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extLst>
      <p:ext uri="{BB962C8B-B14F-4D97-AF65-F5344CB8AC3E}">
        <p14:creationId xmlns:p14="http://schemas.microsoft.com/office/powerpoint/2010/main" val="381614994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illustrates the nature of liaison activities with others:</a:t>
            </a:r>
          </a:p>
          <a:p>
            <a:pPr marL="171450" indent="-171450">
              <a:buFont typeface="Arial" pitchFamily="34" charset="0"/>
              <a:buChar char="•"/>
            </a:pPr>
            <a:r>
              <a:rPr lang="en-AU" sz="1200" kern="1200" dirty="0" smtClean="0">
                <a:solidFill>
                  <a:schemeClr val="tx1"/>
                </a:solidFill>
                <a:latin typeface="+mn-lt"/>
                <a:ea typeface="+mn-ea"/>
                <a:cs typeface="+mn-cs"/>
              </a:rPr>
              <a:t>Responding to requests from people/colleagues for assistance – these can come from destinations, carriers and suppliers in cases where (for example):</a:t>
            </a:r>
          </a:p>
          <a:p>
            <a:pPr marL="628650" lvl="1" indent="-171450">
              <a:buFont typeface="Arial" pitchFamily="34" charset="0"/>
              <a:buChar char="•"/>
            </a:pPr>
            <a:r>
              <a:rPr lang="en-US" sz="1200" kern="1200" dirty="0" smtClean="0">
                <a:solidFill>
                  <a:schemeClr val="tx1"/>
                </a:solidFill>
                <a:latin typeface="+mn-lt"/>
                <a:ea typeface="+mn-ea"/>
                <a:cs typeface="+mn-cs"/>
              </a:rPr>
              <a:t>They notify they are unable to provide normal services as previously arranged/expected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They advise scheduled activities cannot be delivered at planned times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The expected/organised meals and/or some other service cannot be supplied as arranged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Asking them for assistance – as dictated by a wide number of potential reasons such as:</a:t>
            </a:r>
          </a:p>
          <a:p>
            <a:pPr marL="628650" lvl="1" indent="-171450">
              <a:buFont typeface="Arial" pitchFamily="34" charset="0"/>
              <a:buChar char="•"/>
            </a:pPr>
            <a:r>
              <a:rPr lang="en-US" sz="1200" kern="1200" dirty="0" smtClean="0">
                <a:solidFill>
                  <a:schemeClr val="tx1"/>
                </a:solidFill>
                <a:latin typeface="+mn-lt"/>
                <a:ea typeface="+mn-ea"/>
                <a:cs typeface="+mn-cs"/>
              </a:rPr>
              <a:t>Seeking to accommodate special needs customers who have been identified as the activity begins/progresses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Requesting changes to normal arrangements – to accommodate issues arising as the activity proceeds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Responding to specific requests made by tour group members while participating in the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Communicating with individuals and properties – in order to:</a:t>
            </a:r>
          </a:p>
          <a:p>
            <a:pPr marL="628650" lvl="1" indent="-171450">
              <a:buFont typeface="Arial" pitchFamily="34" charset="0"/>
              <a:buChar char="•"/>
            </a:pPr>
            <a:r>
              <a:rPr lang="en-US" sz="1200" kern="1200" dirty="0" smtClean="0">
                <a:solidFill>
                  <a:schemeClr val="tx1"/>
                </a:solidFill>
                <a:latin typeface="+mn-lt"/>
                <a:ea typeface="+mn-ea"/>
                <a:cs typeface="+mn-cs"/>
              </a:rPr>
              <a:t>Make operational decisions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Alter planned arrangements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Advise of changes and issues impacting the activity, the tour and the itinerary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Keep people appraised of tour progress and where the tour ‘currently’ is and its expected arrival at other locations and activities.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extLst>
      <p:ext uri="{BB962C8B-B14F-4D97-AF65-F5344CB8AC3E}">
        <p14:creationId xmlns:p14="http://schemas.microsoft.com/office/powerpoint/2010/main" val="1748672317"/>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illustrate the nature of liaison activities with others:</a:t>
            </a:r>
          </a:p>
          <a:p>
            <a:pPr marL="171450" indent="-171450">
              <a:buFont typeface="Arial" pitchFamily="34" charset="0"/>
              <a:buChar char="•"/>
            </a:pPr>
            <a:r>
              <a:rPr lang="en-AU" sz="1200" kern="1200" dirty="0" smtClean="0">
                <a:solidFill>
                  <a:schemeClr val="tx1"/>
                </a:solidFill>
                <a:latin typeface="+mn-lt"/>
                <a:ea typeface="+mn-ea"/>
                <a:cs typeface="+mn-cs"/>
              </a:rPr>
              <a:t>Providing support for the work of others – such as:</a:t>
            </a:r>
          </a:p>
          <a:p>
            <a:pPr marL="628650" lvl="1" indent="-171450">
              <a:buFont typeface="Arial" pitchFamily="34" charset="0"/>
              <a:buChar char="•"/>
            </a:pPr>
            <a:r>
              <a:rPr lang="en-US" sz="1200" kern="1200" dirty="0" smtClean="0">
                <a:solidFill>
                  <a:schemeClr val="tx1"/>
                </a:solidFill>
                <a:latin typeface="+mn-lt"/>
                <a:ea typeface="+mn-ea"/>
                <a:cs typeface="+mn-cs"/>
              </a:rPr>
              <a:t>Supplying information and facts as required by others in relation to the tour and operational details of individual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Passing on feedback received from tour group members about the activity and the tour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Assisting others complete their work as it relates to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Integrating other/new requested work-related activities into standard interpretive activity protocols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Anticipating requests from colleagues – and:</a:t>
            </a:r>
          </a:p>
          <a:p>
            <a:pPr marL="628650" lvl="1" indent="-171450">
              <a:buFont typeface="Arial" pitchFamily="34" charset="0"/>
              <a:buChar char="•"/>
            </a:pPr>
            <a:r>
              <a:rPr lang="en-US" sz="1200" kern="1200" dirty="0" smtClean="0">
                <a:solidFill>
                  <a:schemeClr val="tx1"/>
                </a:solidFill>
                <a:latin typeface="+mn-lt"/>
                <a:ea typeface="+mn-ea"/>
                <a:cs typeface="+mn-cs"/>
              </a:rPr>
              <a:t>Responding positively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Responding proactively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Striving to achieve a mutually beneficial outcome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Communicating with venues, sites, destinations and providers – and:</a:t>
            </a:r>
          </a:p>
          <a:p>
            <a:pPr marL="628650" lvl="1" indent="-171450">
              <a:buFont typeface="Arial" pitchFamily="34" charset="0"/>
              <a:buChar char="•"/>
            </a:pPr>
            <a:r>
              <a:rPr lang="en-US" sz="1200" kern="1200" dirty="0" smtClean="0">
                <a:solidFill>
                  <a:schemeClr val="tx1"/>
                </a:solidFill>
                <a:latin typeface="+mn-lt"/>
                <a:ea typeface="+mn-ea"/>
                <a:cs typeface="+mn-cs"/>
              </a:rPr>
              <a:t>Confirming forward bookings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Advising sites and operators of expected arrival time, group numbers, special requests and timing constraints that may apply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Making arrangements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Negotiating changes to standard arrangements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Making payment for services and products rendered according to previously agreed arrangements, or as required – to:</a:t>
            </a:r>
          </a:p>
          <a:p>
            <a:pPr marL="628650" lvl="1" indent="-171450">
              <a:buFont typeface="Arial" pitchFamily="34" charset="0"/>
              <a:buChar char="•"/>
            </a:pPr>
            <a:r>
              <a:rPr lang="en-US" sz="1200" kern="1200" dirty="0" smtClean="0">
                <a:solidFill>
                  <a:schemeClr val="tx1"/>
                </a:solidFill>
                <a:latin typeface="+mn-lt"/>
                <a:ea typeface="+mn-ea"/>
                <a:cs typeface="+mn-cs"/>
              </a:rPr>
              <a:t>Suppliers/providers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Communities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Carriers. </a:t>
            </a:r>
            <a:endParaRPr lang="en-AU" sz="1200" kern="1200" dirty="0" smtClean="0">
              <a:solidFill>
                <a:schemeClr val="tx1"/>
              </a:solidFill>
              <a:latin typeface="+mn-lt"/>
              <a:ea typeface="+mn-ea"/>
              <a:cs typeface="+mn-cs"/>
            </a:endParaRPr>
          </a:p>
          <a:p>
            <a:pPr>
              <a:buFont typeface="Arial" pitchFamily="34" charset="0"/>
              <a:buChar char="•"/>
            </a:pPr>
            <a:endParaRPr lang="en-AU" baseline="0" noProof="0" dirty="0" smtClean="0"/>
          </a:p>
          <a:p>
            <a:pPr>
              <a:buFont typeface="Arial" pitchFamily="34" charset="0"/>
              <a:buChar char="•"/>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extLst>
      <p:ext uri="{BB962C8B-B14F-4D97-AF65-F5344CB8AC3E}">
        <p14:creationId xmlns:p14="http://schemas.microsoft.com/office/powerpoint/2010/main" val="3443629394"/>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a:t>
            </a:r>
            <a:r>
              <a:rPr lang="en-AU" sz="1200" kern="1200" dirty="0" smtClean="0">
                <a:solidFill>
                  <a:schemeClr val="tx1"/>
                </a:solidFill>
                <a:latin typeface="+mn-lt"/>
                <a:ea typeface="+mn-ea"/>
                <a:cs typeface="+mn-cs"/>
              </a:rPr>
              <a:t>states the nature of unexpected events and emergencies can vary with different tours and various activity types but may include:</a:t>
            </a:r>
          </a:p>
          <a:p>
            <a:pPr marL="171450" indent="-171450">
              <a:buFont typeface="Arial" pitchFamily="34" charset="0"/>
              <a:buChar char="•"/>
            </a:pPr>
            <a:r>
              <a:rPr lang="en-AU" sz="1200" kern="1200" dirty="0" smtClean="0">
                <a:solidFill>
                  <a:schemeClr val="tx1"/>
                </a:solidFill>
                <a:latin typeface="+mn-lt"/>
                <a:ea typeface="+mn-ea"/>
                <a:cs typeface="+mn-cs"/>
              </a:rPr>
              <a:t>Systems failure – including significant technical and equipment failure</a:t>
            </a:r>
          </a:p>
          <a:p>
            <a:pPr marL="171450" indent="-171450">
              <a:buFont typeface="Arial" pitchFamily="34" charset="0"/>
              <a:buChar char="•"/>
            </a:pPr>
            <a:r>
              <a:rPr lang="en-AU" sz="1200" kern="1200" dirty="0" smtClean="0">
                <a:solidFill>
                  <a:schemeClr val="tx1"/>
                </a:solidFill>
                <a:latin typeface="+mn-lt"/>
                <a:ea typeface="+mn-ea"/>
                <a:cs typeface="+mn-cs"/>
              </a:rPr>
              <a:t>Incidents relating to tour vehicle – such as:</a:t>
            </a:r>
          </a:p>
          <a:p>
            <a:pPr marL="628650" lvl="1" indent="-171450">
              <a:buFont typeface="Arial" pitchFamily="34" charset="0"/>
              <a:buChar char="•"/>
            </a:pPr>
            <a:r>
              <a:rPr lang="en-AU" sz="1200" kern="1200" dirty="0" smtClean="0">
                <a:solidFill>
                  <a:schemeClr val="tx1"/>
                </a:solidFill>
                <a:latin typeface="+mn-lt"/>
                <a:ea typeface="+mn-ea"/>
                <a:cs typeface="+mn-cs"/>
              </a:rPr>
              <a:t>Vehicle breakdown</a:t>
            </a:r>
          </a:p>
          <a:p>
            <a:pPr marL="628650" lvl="1" indent="-171450">
              <a:buFont typeface="Arial" pitchFamily="34" charset="0"/>
              <a:buChar char="•"/>
            </a:pPr>
            <a:r>
              <a:rPr lang="en-AU" sz="1200" kern="1200" dirty="0" smtClean="0">
                <a:solidFill>
                  <a:schemeClr val="tx1"/>
                </a:solidFill>
                <a:latin typeface="+mn-lt"/>
                <a:ea typeface="+mn-ea"/>
                <a:cs typeface="+mn-cs"/>
              </a:rPr>
              <a:t>Vehicle accidents</a:t>
            </a:r>
          </a:p>
          <a:p>
            <a:pPr marL="171450" indent="-171450">
              <a:buFont typeface="Arial" pitchFamily="34" charset="0"/>
              <a:buChar char="•"/>
            </a:pPr>
            <a:r>
              <a:rPr lang="en-AU" sz="1200" kern="1200" dirty="0" smtClean="0">
                <a:solidFill>
                  <a:schemeClr val="tx1"/>
                </a:solidFill>
                <a:latin typeface="+mn-lt"/>
                <a:ea typeface="+mn-ea"/>
                <a:cs typeface="+mn-cs"/>
              </a:rPr>
              <a:t>Situations involving tour group members – which may result in:</a:t>
            </a:r>
          </a:p>
          <a:p>
            <a:pPr marL="628650" lvl="1" indent="-171450">
              <a:buFont typeface="Arial" pitchFamily="34" charset="0"/>
              <a:buChar char="•"/>
            </a:pPr>
            <a:r>
              <a:rPr lang="en-AU" sz="1200" kern="1200" dirty="0" smtClean="0">
                <a:solidFill>
                  <a:schemeClr val="tx1"/>
                </a:solidFill>
                <a:latin typeface="+mn-lt"/>
                <a:ea typeface="+mn-ea"/>
                <a:cs typeface="+mn-cs"/>
              </a:rPr>
              <a:t>Injury </a:t>
            </a:r>
          </a:p>
          <a:p>
            <a:pPr marL="628650" lvl="1" indent="-171450">
              <a:buFont typeface="Arial" pitchFamily="34" charset="0"/>
              <a:buChar char="•"/>
            </a:pPr>
            <a:r>
              <a:rPr lang="en-AU" sz="1200" kern="1200" dirty="0" smtClean="0">
                <a:solidFill>
                  <a:schemeClr val="tx1"/>
                </a:solidFill>
                <a:latin typeface="+mn-lt"/>
                <a:ea typeface="+mn-ea"/>
                <a:cs typeface="+mn-cs"/>
              </a:rPr>
              <a:t>Accident </a:t>
            </a:r>
          </a:p>
          <a:p>
            <a:pPr marL="628650" lvl="1" indent="-171450">
              <a:buFont typeface="Arial" pitchFamily="34" charset="0"/>
              <a:buChar char="•"/>
            </a:pPr>
            <a:r>
              <a:rPr lang="en-AU" sz="1200" kern="1200" dirty="0" smtClean="0">
                <a:solidFill>
                  <a:schemeClr val="tx1"/>
                </a:solidFill>
                <a:latin typeface="+mn-lt"/>
                <a:ea typeface="+mn-ea"/>
                <a:cs typeface="+mn-cs"/>
              </a:rPr>
              <a:t>Death.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extLst>
      <p:ext uri="{BB962C8B-B14F-4D97-AF65-F5344CB8AC3E}">
        <p14:creationId xmlns:p14="http://schemas.microsoft.com/office/powerpoint/2010/main" val="887010057"/>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give factors which may cause unexpected events:</a:t>
            </a:r>
          </a:p>
          <a:p>
            <a:pPr marL="171450" indent="-171450">
              <a:buFont typeface="Arial" pitchFamily="34" charset="0"/>
              <a:buChar char="•"/>
            </a:pPr>
            <a:r>
              <a:rPr lang="en-AU" sz="1200" kern="1200" dirty="0" smtClean="0">
                <a:solidFill>
                  <a:schemeClr val="tx1"/>
                </a:solidFill>
                <a:latin typeface="+mn-lt"/>
                <a:ea typeface="+mn-ea"/>
                <a:cs typeface="+mn-cs"/>
              </a:rPr>
              <a:t>Inappropriate customer behaviour – which is:</a:t>
            </a:r>
          </a:p>
          <a:p>
            <a:pPr marL="628650" lvl="1" indent="-171450">
              <a:buFont typeface="Arial" pitchFamily="34" charset="0"/>
              <a:buChar char="•"/>
            </a:pPr>
            <a:r>
              <a:rPr lang="en-AU" sz="1200" kern="1200" dirty="0" smtClean="0">
                <a:solidFill>
                  <a:schemeClr val="tx1"/>
                </a:solidFill>
                <a:latin typeface="+mn-lt"/>
                <a:ea typeface="+mn-ea"/>
                <a:cs typeface="+mn-cs"/>
              </a:rPr>
              <a:t>Impacting the enjoyment of the tour by other tour group members</a:t>
            </a:r>
          </a:p>
          <a:p>
            <a:pPr marL="628650" lvl="1" indent="-171450">
              <a:buFont typeface="Arial" pitchFamily="34" charset="0"/>
              <a:buChar char="•"/>
            </a:pPr>
            <a:r>
              <a:rPr lang="en-AU" sz="1200" kern="1200" dirty="0" smtClean="0">
                <a:solidFill>
                  <a:schemeClr val="tx1"/>
                </a:solidFill>
                <a:latin typeface="+mn-lt"/>
                <a:ea typeface="+mn-ea"/>
                <a:cs typeface="+mn-cs"/>
              </a:rPr>
              <a:t>Contravening expected codes of conduct</a:t>
            </a:r>
          </a:p>
          <a:p>
            <a:pPr marL="171450" indent="-171450">
              <a:buFont typeface="Arial" pitchFamily="34" charset="0"/>
              <a:buChar char="•"/>
            </a:pPr>
            <a:r>
              <a:rPr lang="en-AU" sz="1200" kern="1200" dirty="0" smtClean="0">
                <a:solidFill>
                  <a:schemeClr val="tx1"/>
                </a:solidFill>
                <a:latin typeface="+mn-lt"/>
                <a:ea typeface="+mn-ea"/>
                <a:cs typeface="+mn-cs"/>
              </a:rPr>
              <a:t>Adverse weather conditions – including: </a:t>
            </a:r>
          </a:p>
          <a:p>
            <a:pPr marL="628650" lvl="1" indent="-171450">
              <a:buFont typeface="Arial" pitchFamily="34" charset="0"/>
              <a:buChar char="•"/>
            </a:pPr>
            <a:r>
              <a:rPr lang="en-AU" sz="1200" kern="1200" dirty="0" smtClean="0">
                <a:solidFill>
                  <a:schemeClr val="tx1"/>
                </a:solidFill>
                <a:latin typeface="+mn-lt"/>
                <a:ea typeface="+mn-ea"/>
                <a:cs typeface="+mn-cs"/>
              </a:rPr>
              <a:t>Unsafe or inappropriate local conditions</a:t>
            </a:r>
          </a:p>
          <a:p>
            <a:pPr marL="628650" lvl="1" indent="-171450">
              <a:buFont typeface="Arial" pitchFamily="34" charset="0"/>
              <a:buChar char="•"/>
            </a:pPr>
            <a:r>
              <a:rPr lang="en-AU" sz="1200" kern="1200" dirty="0" smtClean="0">
                <a:solidFill>
                  <a:schemeClr val="tx1"/>
                </a:solidFill>
                <a:latin typeface="+mn-lt"/>
                <a:ea typeface="+mn-ea"/>
                <a:cs typeface="+mn-cs"/>
              </a:rPr>
              <a:t>The impact locally (potentially and/or actually) of adverse weather conditions in a near-by or associated area – such as localised flooding caused by heavy rain in a near-by catchment area</a:t>
            </a:r>
          </a:p>
          <a:p>
            <a:pPr marL="171450" indent="-171450">
              <a:buFont typeface="Arial" pitchFamily="34" charset="0"/>
              <a:buChar char="•"/>
            </a:pPr>
            <a:r>
              <a:rPr lang="en-AU" sz="1200" kern="1200" dirty="0" smtClean="0">
                <a:solidFill>
                  <a:schemeClr val="tx1"/>
                </a:solidFill>
                <a:latin typeface="+mn-lt"/>
                <a:ea typeface="+mn-ea"/>
                <a:cs typeface="+mn-cs"/>
              </a:rPr>
              <a:t>Unpredictable animal behaviour – such as:</a:t>
            </a:r>
          </a:p>
          <a:p>
            <a:pPr marL="628650" lvl="1" indent="-171450">
              <a:buFont typeface="Arial" pitchFamily="34" charset="0"/>
              <a:buChar char="•"/>
            </a:pPr>
            <a:r>
              <a:rPr lang="en-US" sz="1200" kern="1200" dirty="0" smtClean="0">
                <a:solidFill>
                  <a:schemeClr val="tx1"/>
                </a:solidFill>
                <a:latin typeface="+mn-lt"/>
                <a:ea typeface="+mn-ea"/>
                <a:cs typeface="+mn-cs"/>
              </a:rPr>
              <a:t>Presence of wild animals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Creatures which are normally placid but are proving to be uncontrollable.</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extLst>
      <p:ext uri="{BB962C8B-B14F-4D97-AF65-F5344CB8AC3E}">
        <p14:creationId xmlns:p14="http://schemas.microsoft.com/office/powerpoint/2010/main" val="640410926"/>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to give factors which may cause unexpected events:</a:t>
            </a:r>
          </a:p>
          <a:p>
            <a:pPr marL="171450" indent="-171450">
              <a:buFont typeface="Arial" pitchFamily="34" charset="0"/>
              <a:buChar char="•"/>
            </a:pPr>
            <a:r>
              <a:rPr lang="en-AU" sz="1200" kern="1200" dirty="0" smtClean="0">
                <a:solidFill>
                  <a:schemeClr val="tx1"/>
                </a:solidFill>
                <a:latin typeface="+mn-lt"/>
                <a:ea typeface="+mn-ea"/>
                <a:cs typeface="+mn-cs"/>
              </a:rPr>
              <a:t>Problems with sites, venues and/or destinations – such as:</a:t>
            </a:r>
          </a:p>
          <a:p>
            <a:pPr marL="628650" lvl="1" indent="-171450">
              <a:buFont typeface="Arial" pitchFamily="34" charset="0"/>
              <a:buChar char="•"/>
            </a:pPr>
            <a:r>
              <a:rPr lang="en-US" sz="1200" kern="1200" dirty="0" smtClean="0">
                <a:solidFill>
                  <a:schemeClr val="tx1"/>
                </a:solidFill>
                <a:latin typeface="+mn-lt"/>
                <a:ea typeface="+mn-ea"/>
                <a:cs typeface="+mn-cs"/>
              </a:rPr>
              <a:t>Impassable roads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Unexpected closures of sites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Unannounced restricted access to traditional areas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Permits and permissions for areas which were previously granted being revoked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Unanticipated composition of tour group – that is, the tour group:</a:t>
            </a:r>
          </a:p>
          <a:p>
            <a:pPr marL="628650" lvl="1" indent="-171450">
              <a:buFont typeface="Arial" pitchFamily="34" charset="0"/>
              <a:buChar char="•"/>
            </a:pPr>
            <a:r>
              <a:rPr lang="en-US" sz="1200" kern="1200" dirty="0" smtClean="0">
                <a:solidFill>
                  <a:schemeClr val="tx1"/>
                </a:solidFill>
                <a:latin typeface="+mn-lt"/>
                <a:ea typeface="+mn-ea"/>
                <a:cs typeface="+mn-cs"/>
              </a:rPr>
              <a:t>Is too large or small</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Comprises people with unexpected demographic characteristics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Delays caused by tour group members – such as:</a:t>
            </a:r>
          </a:p>
          <a:p>
            <a:pPr marL="628650" lvl="1" indent="-171450">
              <a:buFont typeface="Arial" pitchFamily="34" charset="0"/>
              <a:buChar char="•"/>
            </a:pPr>
            <a:r>
              <a:rPr lang="en-US" sz="1200" kern="1200" dirty="0" smtClean="0">
                <a:solidFill>
                  <a:schemeClr val="tx1"/>
                </a:solidFill>
                <a:latin typeface="+mn-lt"/>
                <a:ea typeface="+mn-ea"/>
                <a:cs typeface="+mn-cs"/>
              </a:rPr>
              <a:t>Delays in terms of tour group members returning to a muster point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Delays caused by participants re-boarding the tour vehicle.</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extLst>
      <p:ext uri="{BB962C8B-B14F-4D97-AF65-F5344CB8AC3E}">
        <p14:creationId xmlns:p14="http://schemas.microsoft.com/office/powerpoint/2010/main" val="2594899786"/>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introduced contingency planning/plans stating:</a:t>
            </a:r>
          </a:p>
          <a:p>
            <a:pPr marL="171450" indent="-171450">
              <a:buFont typeface="Arial" pitchFamily="34" charset="0"/>
              <a:buChar char="•"/>
            </a:pPr>
            <a:r>
              <a:rPr lang="en-AU" sz="1200" kern="1200" dirty="0" smtClean="0">
                <a:solidFill>
                  <a:schemeClr val="tx1"/>
                </a:solidFill>
                <a:latin typeface="+mn-lt"/>
                <a:ea typeface="+mn-ea"/>
                <a:cs typeface="+mn-cs"/>
              </a:rPr>
              <a:t>Unexpected events and emergencies should be planned for, as far as practicable, so that contingency plans or emergency plans can be put into effect when required</a:t>
            </a:r>
          </a:p>
          <a:p>
            <a:pPr marL="171450" indent="-171450">
              <a:buFont typeface="Arial" pitchFamily="34" charset="0"/>
              <a:buChar char="•"/>
            </a:pPr>
            <a:r>
              <a:rPr lang="en-AU" sz="1200" kern="1200" dirty="0" smtClean="0">
                <a:solidFill>
                  <a:schemeClr val="tx1"/>
                </a:solidFill>
                <a:latin typeface="+mn-lt"/>
                <a:ea typeface="+mn-ea"/>
                <a:cs typeface="+mn-cs"/>
              </a:rPr>
              <a:t>It is SOP for tours to have three types/levels of plans created for them:</a:t>
            </a:r>
          </a:p>
          <a:p>
            <a:pPr marL="628650" lvl="1" indent="-171450">
              <a:buFont typeface="Arial" pitchFamily="34" charset="0"/>
              <a:buChar char="•"/>
            </a:pPr>
            <a:r>
              <a:rPr lang="en-AU" sz="1200" kern="1200" dirty="0" smtClean="0">
                <a:solidFill>
                  <a:schemeClr val="tx1"/>
                </a:solidFill>
                <a:latin typeface="+mn-lt"/>
                <a:ea typeface="+mn-ea"/>
                <a:cs typeface="+mn-cs"/>
              </a:rPr>
              <a:t>Operational plans – these are the standard plans to be implemented/followed if everything goes according to plan</a:t>
            </a:r>
          </a:p>
          <a:p>
            <a:pPr marL="628650" lvl="1" indent="-171450">
              <a:buFont typeface="Arial" pitchFamily="34" charset="0"/>
              <a:buChar char="•"/>
            </a:pPr>
            <a:r>
              <a:rPr lang="en-AU" sz="1200" kern="1200" dirty="0" smtClean="0">
                <a:solidFill>
                  <a:schemeClr val="tx1"/>
                </a:solidFill>
                <a:latin typeface="+mn-lt"/>
                <a:ea typeface="+mn-ea"/>
                <a:cs typeface="+mn-cs"/>
              </a:rPr>
              <a:t>Emergency plans – to be followed if there is an accident or another prescribed emergency impacts the tour/activity</a:t>
            </a:r>
          </a:p>
          <a:p>
            <a:pPr marL="628650" lvl="1" indent="-171450">
              <a:buFont typeface="Arial" pitchFamily="34" charset="0"/>
              <a:buChar char="•"/>
            </a:pPr>
            <a:r>
              <a:rPr lang="en-AU" sz="1200" kern="1200" dirty="0" smtClean="0">
                <a:solidFill>
                  <a:schemeClr val="tx1"/>
                </a:solidFill>
                <a:latin typeface="+mn-lt"/>
                <a:ea typeface="+mn-ea"/>
                <a:cs typeface="+mn-cs"/>
              </a:rPr>
              <a:t>Contingency plans – see following slides.</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examples of Operational and Emergency (Management) plans.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extLst>
      <p:ext uri="{BB962C8B-B14F-4D97-AF65-F5344CB8AC3E}">
        <p14:creationId xmlns:p14="http://schemas.microsoft.com/office/powerpoint/2010/main" val="2884771208"/>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explains for </a:t>
            </a:r>
            <a:r>
              <a:rPr lang="en-AU" sz="1200" kern="1200" dirty="0" smtClean="0">
                <a:solidFill>
                  <a:schemeClr val="tx1"/>
                </a:solidFill>
                <a:latin typeface="+mn-lt"/>
                <a:ea typeface="+mn-ea"/>
                <a:cs typeface="+mn-cs"/>
              </a:rPr>
              <a:t>plans to be effective several pre-requisites exist:</a:t>
            </a:r>
          </a:p>
          <a:p>
            <a:pPr marL="171450" indent="-171450">
              <a:buFont typeface="Arial" pitchFamily="34" charset="0"/>
              <a:buChar char="•"/>
            </a:pPr>
            <a:r>
              <a:rPr lang="en-AU" sz="1200" kern="1200" dirty="0" smtClean="0">
                <a:solidFill>
                  <a:schemeClr val="tx1"/>
                </a:solidFill>
                <a:latin typeface="+mn-lt"/>
                <a:ea typeface="+mn-ea"/>
                <a:cs typeface="+mn-cs"/>
              </a:rPr>
              <a:t>They need to be properly and adequately resourced</a:t>
            </a:r>
          </a:p>
          <a:p>
            <a:pPr marL="171450" indent="-171450">
              <a:buFont typeface="Arial" pitchFamily="34" charset="0"/>
              <a:buChar char="•"/>
            </a:pPr>
            <a:r>
              <a:rPr lang="en-AU" sz="1200" kern="1200" dirty="0" smtClean="0">
                <a:solidFill>
                  <a:schemeClr val="tx1"/>
                </a:solidFill>
                <a:latin typeface="+mn-lt"/>
                <a:ea typeface="+mn-ea"/>
                <a:cs typeface="+mn-cs"/>
              </a:rPr>
              <a:t>They need to trialled and tested</a:t>
            </a:r>
          </a:p>
          <a:p>
            <a:pPr marL="171450" indent="-171450">
              <a:buFont typeface="Arial" pitchFamily="34" charset="0"/>
              <a:buChar char="•"/>
            </a:pPr>
            <a:r>
              <a:rPr lang="en-AU" sz="1200" kern="1200" dirty="0" smtClean="0">
                <a:solidFill>
                  <a:schemeClr val="tx1"/>
                </a:solidFill>
                <a:latin typeface="+mn-lt"/>
                <a:ea typeface="+mn-ea"/>
                <a:cs typeface="+mn-cs"/>
              </a:rPr>
              <a:t>The trials/tests needs to be reviewed and the plans revised, as/if necessary</a:t>
            </a:r>
          </a:p>
          <a:p>
            <a:pPr marL="171450" indent="-171450">
              <a:buFont typeface="Arial" pitchFamily="34" charset="0"/>
              <a:buChar char="•"/>
            </a:pPr>
            <a:r>
              <a:rPr lang="en-AU" sz="1200" kern="1200" dirty="0" smtClean="0">
                <a:solidFill>
                  <a:schemeClr val="tx1"/>
                </a:solidFill>
                <a:latin typeface="+mn-lt"/>
                <a:ea typeface="+mn-ea"/>
                <a:cs typeface="+mn-cs"/>
              </a:rPr>
              <a:t>They need to be communicated to staff</a:t>
            </a:r>
          </a:p>
          <a:p>
            <a:pPr marL="171450" indent="-171450">
              <a:buFont typeface="Arial" pitchFamily="34" charset="0"/>
              <a:buChar char="•"/>
            </a:pPr>
            <a:r>
              <a:rPr lang="en-AU" sz="1200" kern="1200" dirty="0" smtClean="0">
                <a:solidFill>
                  <a:schemeClr val="tx1"/>
                </a:solidFill>
                <a:latin typeface="+mn-lt"/>
                <a:ea typeface="+mn-ea"/>
                <a:cs typeface="+mn-cs"/>
              </a:rPr>
              <a:t>Demonstrations, practice and/or drills must underpin actual implementation</a:t>
            </a:r>
          </a:p>
          <a:p>
            <a:pPr marL="171450" indent="-171450">
              <a:buFont typeface="Arial" pitchFamily="34" charset="0"/>
              <a:buChar char="•"/>
            </a:pPr>
            <a:r>
              <a:rPr lang="en-AU" sz="1200" kern="1200" dirty="0" smtClean="0">
                <a:solidFill>
                  <a:schemeClr val="tx1"/>
                </a:solidFill>
                <a:latin typeface="+mn-lt"/>
                <a:ea typeface="+mn-ea"/>
                <a:cs typeface="+mn-cs"/>
              </a:rPr>
              <a:t>They need to be reviewed and updated as tours and requirements/relevant issues alter.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extLst>
      <p:ext uri="{BB962C8B-B14F-4D97-AF65-F5344CB8AC3E}">
        <p14:creationId xmlns:p14="http://schemas.microsoft.com/office/powerpoint/2010/main" val="600654836"/>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a:t>
            </a:r>
            <a:r>
              <a:rPr lang="en-AU" sz="1200" kern="1200" dirty="0" smtClean="0">
                <a:solidFill>
                  <a:schemeClr val="tx1"/>
                </a:solidFill>
                <a:latin typeface="+mn-lt"/>
                <a:ea typeface="+mn-ea"/>
                <a:cs typeface="+mn-cs"/>
              </a:rPr>
              <a:t>all plans are prepared in advance/before the tour/excursion departs and provided for tour staff in an Operations Package/Folder that contains copies of all relevant plans for individual tours/excursions.</a:t>
            </a:r>
          </a:p>
          <a:p>
            <a:r>
              <a:rPr lang="en-AU" sz="1200" kern="1200" dirty="0" smtClean="0">
                <a:solidFill>
                  <a:schemeClr val="tx1"/>
                </a:solidFill>
                <a:latin typeface="+mn-lt"/>
                <a:ea typeface="+mn-ea"/>
                <a:cs typeface="+mn-cs"/>
              </a:rPr>
              <a:t>All plans are usually also available in soft copy form via various electronic options such as Iphones, pads or tablets.</a:t>
            </a:r>
          </a:p>
          <a:p>
            <a:pPr>
              <a:buFont typeface="Arial" pitchFamily="34" charset="0"/>
              <a:buNone/>
            </a:pPr>
            <a:endParaRPr lang="en-AU" noProof="0" dirty="0" smtClean="0"/>
          </a:p>
          <a:p>
            <a:pPr>
              <a:buFont typeface="Arial" pitchFamily="34" charset="0"/>
              <a:buNone/>
            </a:pPr>
            <a:r>
              <a:rPr lang="en-AU" b="1" noProof="0" dirty="0" smtClean="0"/>
              <a:t>Classroom Activity – Handout</a:t>
            </a:r>
          </a:p>
          <a:p>
            <a:pPr>
              <a:buFont typeface="Arial" pitchFamily="34" charset="0"/>
              <a:buNone/>
            </a:pPr>
            <a:r>
              <a:rPr lang="en-AU" b="0" noProof="0" dirty="0" smtClean="0"/>
              <a:t>Trainer distributes and discusses sample </a:t>
            </a:r>
            <a:r>
              <a:rPr lang="en-AU" sz="1200" kern="1200" dirty="0" smtClean="0">
                <a:solidFill>
                  <a:schemeClr val="tx1"/>
                </a:solidFill>
                <a:latin typeface="+mn-lt"/>
                <a:ea typeface="+mn-ea"/>
                <a:cs typeface="+mn-cs"/>
              </a:rPr>
              <a:t>Operations Package/Folder.</a:t>
            </a:r>
            <a:endParaRPr lang="en-AU" b="1"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extLst>
      <p:ext uri="{BB962C8B-B14F-4D97-AF65-F5344CB8AC3E}">
        <p14:creationId xmlns:p14="http://schemas.microsoft.com/office/powerpoint/2010/main" val="3886915414"/>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latin typeface="+mn-lt"/>
                <a:ea typeface="+mn-ea"/>
                <a:cs typeface="+mn-cs"/>
              </a:rPr>
              <a:t>Contingency plans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Contingency plans are:</a:t>
            </a:r>
          </a:p>
          <a:p>
            <a:pPr marL="171450" indent="-171450">
              <a:buFont typeface="Arial" pitchFamily="34" charset="0"/>
              <a:buChar char="•"/>
            </a:pPr>
            <a:r>
              <a:rPr lang="en-AU" sz="1200" kern="1200" dirty="0" smtClean="0">
                <a:solidFill>
                  <a:schemeClr val="tx1"/>
                </a:solidFill>
                <a:latin typeface="+mn-lt"/>
                <a:ea typeface="+mn-ea"/>
                <a:cs typeface="+mn-cs"/>
              </a:rPr>
              <a:t>Plans prepared for tour staff to follow in case certain predictable, foreseeable or likely events actually materialise</a:t>
            </a:r>
          </a:p>
          <a:p>
            <a:pPr marL="171450" indent="-171450">
              <a:buFont typeface="Arial" pitchFamily="34" charset="0"/>
              <a:buChar char="•"/>
            </a:pPr>
            <a:r>
              <a:rPr lang="en-AU" sz="1200" kern="1200" dirty="0" smtClean="0">
                <a:solidFill>
                  <a:schemeClr val="tx1"/>
                </a:solidFill>
                <a:latin typeface="+mn-lt"/>
                <a:ea typeface="+mn-ea"/>
                <a:cs typeface="+mn-cs"/>
              </a:rPr>
              <a:t>They are Plan B – they detail what will be done when Plan A (what should </a:t>
            </a:r>
            <a:r>
              <a:rPr lang="en-AU" sz="1200" i="1" kern="1200" dirty="0" smtClean="0">
                <a:solidFill>
                  <a:schemeClr val="tx1"/>
                </a:solidFill>
                <a:latin typeface="+mn-lt"/>
                <a:ea typeface="+mn-ea"/>
                <a:cs typeface="+mn-cs"/>
              </a:rPr>
              <a:t>normally</a:t>
            </a:r>
            <a:r>
              <a:rPr lang="en-AU" sz="1200" kern="1200" dirty="0" smtClean="0">
                <a:solidFill>
                  <a:schemeClr val="tx1"/>
                </a:solidFill>
                <a:latin typeface="+mn-lt"/>
                <a:ea typeface="+mn-ea"/>
                <a:cs typeface="+mn-cs"/>
              </a:rPr>
              <a:t> occur as planned/as usual) cannot happen/take place</a:t>
            </a:r>
          </a:p>
          <a:p>
            <a:pPr marL="171450" indent="-171450">
              <a:buFont typeface="Arial" pitchFamily="34" charset="0"/>
              <a:buChar char="•"/>
            </a:pPr>
            <a:r>
              <a:rPr lang="en-AU" sz="1200" kern="1200" dirty="0" smtClean="0">
                <a:solidFill>
                  <a:schemeClr val="tx1"/>
                </a:solidFill>
                <a:latin typeface="+mn-lt"/>
                <a:ea typeface="+mn-ea"/>
                <a:cs typeface="+mn-cs"/>
              </a:rPr>
              <a:t>These events are not ‘emergencies’ (that is, they do not put life or property in danger) but they have the potential to cause disruption to the tour/excursion and cause disappointment to customers.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extLst>
      <p:ext uri="{BB962C8B-B14F-4D97-AF65-F5344CB8AC3E}">
        <p14:creationId xmlns:p14="http://schemas.microsoft.com/office/powerpoint/2010/main" val="1999793618"/>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need for contingency plans – to:</a:t>
            </a:r>
          </a:p>
          <a:p>
            <a:pPr marL="171450" indent="-171450">
              <a:buFont typeface="Arial" pitchFamily="34" charset="0"/>
              <a:buChar char="•"/>
            </a:pPr>
            <a:r>
              <a:rPr lang="en-AU" sz="1200" kern="1200" dirty="0" smtClean="0">
                <a:solidFill>
                  <a:schemeClr val="tx1"/>
                </a:solidFill>
                <a:latin typeface="+mn-lt"/>
                <a:ea typeface="+mn-ea"/>
                <a:cs typeface="+mn-cs"/>
              </a:rPr>
              <a:t>Ensure tours/activities operate smoothly event when there are difficulties/problems</a:t>
            </a:r>
          </a:p>
          <a:p>
            <a:pPr marL="171450" indent="-171450">
              <a:buFont typeface="Arial" pitchFamily="34" charset="0"/>
              <a:buChar char="•"/>
            </a:pPr>
            <a:r>
              <a:rPr lang="en-AU" sz="1200" kern="1200" dirty="0" smtClean="0">
                <a:solidFill>
                  <a:schemeClr val="tx1"/>
                </a:solidFill>
                <a:latin typeface="+mn-lt"/>
                <a:ea typeface="+mn-ea"/>
                <a:cs typeface="+mn-cs"/>
              </a:rPr>
              <a:t>Control costs, timing and activities where there is a need to deviate from standard operational plans</a:t>
            </a:r>
          </a:p>
          <a:p>
            <a:pPr marL="171450" indent="-171450">
              <a:buFont typeface="Arial" pitchFamily="34" charset="0"/>
              <a:buChar char="•"/>
            </a:pPr>
            <a:r>
              <a:rPr lang="en-AU" sz="1200" kern="1200" dirty="0" smtClean="0">
                <a:solidFill>
                  <a:schemeClr val="tx1"/>
                </a:solidFill>
                <a:latin typeface="+mn-lt"/>
                <a:ea typeface="+mn-ea"/>
                <a:cs typeface="+mn-cs"/>
              </a:rPr>
              <a:t>Optimise potential of tours/activities to meet customer expectations even where unexpected situation occur</a:t>
            </a:r>
          </a:p>
          <a:p>
            <a:pPr marL="171450" indent="-171450">
              <a:buFont typeface="Arial" pitchFamily="34" charset="0"/>
              <a:buChar char="•"/>
            </a:pPr>
            <a:r>
              <a:rPr lang="en-AU" sz="1200" kern="1200" dirty="0" smtClean="0">
                <a:solidFill>
                  <a:schemeClr val="tx1"/>
                </a:solidFill>
                <a:latin typeface="+mn-lt"/>
                <a:ea typeface="+mn-ea"/>
                <a:cs typeface="+mn-cs"/>
              </a:rPr>
              <a:t>Give direction to Tour staff when things go wrong or do not go as planned/expected</a:t>
            </a:r>
          </a:p>
          <a:p>
            <a:pPr marL="171450" indent="-171450">
              <a:buFont typeface="Arial" pitchFamily="34" charset="0"/>
              <a:buChar char="•"/>
            </a:pPr>
            <a:r>
              <a:rPr lang="en-AU" sz="1200" kern="1200" dirty="0" smtClean="0">
                <a:solidFill>
                  <a:schemeClr val="tx1"/>
                </a:solidFill>
                <a:latin typeface="+mn-lt"/>
                <a:ea typeface="+mn-ea"/>
                <a:cs typeface="+mn-cs"/>
              </a:rPr>
              <a:t>Comply with legislation and legal obligations regarding delivering a tour that complies with advertisements.</a:t>
            </a:r>
          </a:p>
          <a:p>
            <a:pPr>
              <a:buFont typeface="Arial" pitchFamily="34" charset="0"/>
              <a:buNone/>
            </a:pPr>
            <a:r>
              <a:rPr lang="en-AU"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extLst>
      <p:ext uri="{BB962C8B-B14F-4D97-AF65-F5344CB8AC3E}">
        <p14:creationId xmlns:p14="http://schemas.microsoft.com/office/powerpoint/2010/main" val="4091197416"/>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noProof="0" dirty="0" smtClean="0"/>
              <a:t>Trainer states individual </a:t>
            </a:r>
            <a:r>
              <a:rPr lang="en-AU" sz="1200" kern="1200" dirty="0" smtClean="0">
                <a:solidFill>
                  <a:schemeClr val="tx1"/>
                </a:solidFill>
                <a:latin typeface="+mn-lt"/>
                <a:ea typeface="+mn-ea"/>
                <a:cs typeface="+mn-cs"/>
              </a:rPr>
              <a:t>Tour Operators will determine the specific contents of their own contingency plans for interpretive activities but generically speaking they will contain:</a:t>
            </a:r>
          </a:p>
          <a:p>
            <a:pPr marL="171450" indent="-171450">
              <a:buFont typeface="Arial" pitchFamily="34" charset="0"/>
              <a:buChar char="•"/>
            </a:pPr>
            <a:r>
              <a:rPr lang="en-AU" sz="1200" kern="1200" dirty="0" smtClean="0">
                <a:solidFill>
                  <a:schemeClr val="tx1"/>
                </a:solidFill>
                <a:latin typeface="+mn-lt"/>
                <a:ea typeface="+mn-ea"/>
                <a:cs typeface="+mn-cs"/>
              </a:rPr>
              <a:t>Name/title of the activity – so there is clarity about the focus of the plan/the particular interpretive activity to which the plan applies</a:t>
            </a:r>
          </a:p>
          <a:p>
            <a:pPr marL="171450" indent="-171450">
              <a:buFont typeface="Arial" pitchFamily="34" charset="0"/>
              <a:buChar char="•"/>
            </a:pPr>
            <a:r>
              <a:rPr lang="en-AU" sz="1200" kern="1200" dirty="0" smtClean="0">
                <a:solidFill>
                  <a:schemeClr val="tx1"/>
                </a:solidFill>
                <a:latin typeface="+mn-lt"/>
                <a:ea typeface="+mn-ea"/>
                <a:cs typeface="+mn-cs"/>
              </a:rPr>
              <a:t>Name of the Tour to which the plan applies – this is the name of any/every tour that includes the activity</a:t>
            </a:r>
          </a:p>
          <a:p>
            <a:pPr marL="171450" indent="-171450">
              <a:buFont typeface="Arial" pitchFamily="34" charset="0"/>
              <a:buChar char="•"/>
            </a:pPr>
            <a:r>
              <a:rPr lang="en-AU" sz="1200" kern="1200" dirty="0" smtClean="0">
                <a:solidFill>
                  <a:schemeClr val="tx1"/>
                </a:solidFill>
                <a:latin typeface="+mn-lt"/>
                <a:ea typeface="+mn-ea"/>
                <a:cs typeface="+mn-cs"/>
              </a:rPr>
              <a:t>Relevant dates – including:</a:t>
            </a:r>
          </a:p>
          <a:p>
            <a:pPr marL="628650" lvl="1" indent="-171450">
              <a:buFont typeface="Arial" pitchFamily="34" charset="0"/>
              <a:buChar char="•"/>
            </a:pPr>
            <a:r>
              <a:rPr lang="en-US" sz="1200" kern="1200" dirty="0" smtClean="0">
                <a:solidFill>
                  <a:schemeClr val="tx1"/>
                </a:solidFill>
                <a:latin typeface="+mn-lt"/>
                <a:ea typeface="+mn-ea"/>
                <a:cs typeface="+mn-cs"/>
              </a:rPr>
              <a:t>Dates plan was developed and approved for use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Review date for plan</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Trigger points for implementation – these points will vary between activities but each listed trigger point will:</a:t>
            </a:r>
          </a:p>
          <a:p>
            <a:pPr marL="628650" lvl="1" indent="-171450">
              <a:buFont typeface="Arial" pitchFamily="34" charset="0"/>
              <a:buChar char="•"/>
            </a:pPr>
            <a:r>
              <a:rPr lang="en-US" sz="1200" kern="1200" dirty="0" smtClean="0">
                <a:solidFill>
                  <a:schemeClr val="tx1"/>
                </a:solidFill>
                <a:latin typeface="+mn-lt"/>
                <a:ea typeface="+mn-ea"/>
                <a:cs typeface="+mn-cs"/>
              </a:rPr>
              <a:t>Describe </a:t>
            </a:r>
            <a:r>
              <a:rPr lang="en-US" sz="1200" i="1" kern="1200" dirty="0" smtClean="0">
                <a:solidFill>
                  <a:schemeClr val="tx1"/>
                </a:solidFill>
                <a:latin typeface="+mn-lt"/>
                <a:ea typeface="+mn-ea"/>
                <a:cs typeface="+mn-cs"/>
              </a:rPr>
              <a:t>general context</a:t>
            </a:r>
            <a:r>
              <a:rPr lang="en-US" sz="1200" kern="1200" dirty="0" smtClean="0">
                <a:solidFill>
                  <a:schemeClr val="tx1"/>
                </a:solidFill>
                <a:latin typeface="+mn-lt"/>
                <a:ea typeface="+mn-ea"/>
                <a:cs typeface="+mn-cs"/>
              </a:rPr>
              <a:t> for activation of the plan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Illustrate with reference to specific examples of scenarios, situations and circumstances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Indicate when and why:</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Alternate activities should be substituted</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Planned/scheduled activities need to be abandoned and no replacement activity provided in its place</a:t>
            </a:r>
            <a:endParaRPr lang="en-AU" sz="1200" kern="1200" dirty="0" smtClean="0">
              <a:solidFill>
                <a:schemeClr val="tx1"/>
              </a:solidFill>
              <a:latin typeface="+mn-lt"/>
              <a:ea typeface="+mn-ea"/>
              <a:cs typeface="+mn-cs"/>
            </a:endParaRPr>
          </a:p>
          <a:p>
            <a:pPr marL="1543050" lvl="3" indent="-171450">
              <a:buFont typeface="Arial" pitchFamily="34" charset="0"/>
              <a:buChar char="•"/>
            </a:pPr>
            <a:r>
              <a:rPr lang="en-US" sz="1200" kern="1200" dirty="0" smtClean="0">
                <a:solidFill>
                  <a:schemeClr val="tx1"/>
                </a:solidFill>
                <a:latin typeface="+mn-lt"/>
                <a:ea typeface="+mn-ea"/>
                <a:cs typeface="+mn-cs"/>
              </a:rPr>
              <a:t>The Terms and Conditions which tour participants agree to when they buy a tour/ticket usually contains a statement allowing Tour Operators to substitute activities, cancel activities or in other ways amend/alter the advertised itinerary.</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Handout</a:t>
            </a:r>
          </a:p>
          <a:p>
            <a:pPr>
              <a:buFont typeface="Arial" pitchFamily="34" charset="0"/>
              <a:buNone/>
            </a:pPr>
            <a:r>
              <a:rPr lang="en-AU" b="0" noProof="0" dirty="0" smtClean="0"/>
              <a:t>Trainer distributes and discusses example of tour ‘Terms and Conditions’ highlighting statements regarding rights of Operator to substitute/cancel activities.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extLst>
      <p:ext uri="{BB962C8B-B14F-4D97-AF65-F5344CB8AC3E}">
        <p14:creationId xmlns:p14="http://schemas.microsoft.com/office/powerpoint/2010/main" val="413394241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continues presenting contents of Contingency plans</a:t>
            </a:r>
            <a:r>
              <a:rPr lang="en-AU" baseline="0" noProof="0" dirty="0" smtClean="0"/>
              <a:t> for </a:t>
            </a:r>
            <a:r>
              <a:rPr lang="en-AU" sz="1200" kern="1200" dirty="0" smtClean="0">
                <a:solidFill>
                  <a:schemeClr val="tx1"/>
                </a:solidFill>
                <a:latin typeface="+mn-lt"/>
                <a:ea typeface="+mn-ea"/>
                <a:cs typeface="+mn-cs"/>
              </a:rPr>
              <a:t>interpretive activities:</a:t>
            </a:r>
          </a:p>
          <a:p>
            <a:pPr marL="171450" indent="-171450">
              <a:buFont typeface="Arial" pitchFamily="34" charset="0"/>
              <a:buChar char="•"/>
            </a:pPr>
            <a:r>
              <a:rPr lang="en-AU" sz="1200" kern="1200" dirty="0" smtClean="0">
                <a:solidFill>
                  <a:schemeClr val="tx1"/>
                </a:solidFill>
                <a:latin typeface="+mn-lt"/>
                <a:ea typeface="+mn-ea"/>
                <a:cs typeface="+mn-cs"/>
              </a:rPr>
              <a:t>Action to be taken – which will cover:</a:t>
            </a:r>
          </a:p>
          <a:p>
            <a:pPr marL="628650" lvl="1" indent="-171450">
              <a:buFont typeface="Arial" pitchFamily="34" charset="0"/>
              <a:buChar char="•"/>
            </a:pPr>
            <a:r>
              <a:rPr lang="en-US" sz="1200" kern="1200" dirty="0" smtClean="0">
                <a:solidFill>
                  <a:schemeClr val="tx1"/>
                </a:solidFill>
                <a:latin typeface="+mn-lt"/>
                <a:ea typeface="+mn-ea"/>
                <a:cs typeface="+mn-cs"/>
              </a:rPr>
              <a:t>Alterations to announcements, demonstrations/briefings and advice to participants to be made</a:t>
            </a:r>
          </a:p>
          <a:p>
            <a:pPr marL="628650" lvl="1" indent="-171450">
              <a:buFont typeface="Arial" pitchFamily="34" charset="0"/>
              <a:buChar char="•"/>
            </a:pPr>
            <a:r>
              <a:rPr lang="en-US" sz="1200" kern="1200" dirty="0" smtClean="0">
                <a:solidFill>
                  <a:schemeClr val="tx1"/>
                </a:solidFill>
                <a:latin typeface="+mn-lt"/>
                <a:ea typeface="+mn-ea"/>
                <a:cs typeface="+mn-cs"/>
              </a:rPr>
              <a:t>Changes which may be required to the activity itself – in terms of :</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Scope; Duration; Engagement/participation; Resource allocations; Monitoring and supervision of the activity</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Location of activity </a:t>
            </a:r>
          </a:p>
          <a:p>
            <a:pPr marL="628650" lvl="1" indent="-171450">
              <a:buFont typeface="Arial" pitchFamily="34" charset="0"/>
              <a:buChar char="•"/>
            </a:pPr>
            <a:r>
              <a:rPr lang="en-US" sz="1200" kern="1200" dirty="0" smtClean="0">
                <a:solidFill>
                  <a:schemeClr val="tx1"/>
                </a:solidFill>
                <a:latin typeface="+mn-lt"/>
                <a:ea typeface="+mn-ea"/>
                <a:cs typeface="+mn-cs"/>
              </a:rPr>
              <a:t>Presentation of detailed operational plans for alternate/substitute interpretive activities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Required notifications – these may relate to:</a:t>
            </a:r>
          </a:p>
          <a:p>
            <a:pPr marL="628650" lvl="1" indent="-171450">
              <a:buFont typeface="Arial" pitchFamily="34" charset="0"/>
              <a:buChar char="•"/>
            </a:pPr>
            <a:r>
              <a:rPr lang="en-US" sz="1200" kern="1200" dirty="0" smtClean="0">
                <a:solidFill>
                  <a:schemeClr val="tx1"/>
                </a:solidFill>
                <a:latin typeface="+mn-lt"/>
                <a:ea typeface="+mn-ea"/>
                <a:cs typeface="+mn-cs"/>
              </a:rPr>
              <a:t>Notifying management/Head Office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Advising other tours/Tour Guides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Communicating with local communities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Liaising with third party providers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Prompts/lists of other factors which may potentially need to be considered as a consequence – these may include:</a:t>
            </a:r>
          </a:p>
          <a:p>
            <a:pPr marL="628650" lvl="1" indent="-171450">
              <a:buFont typeface="Arial" pitchFamily="34" charset="0"/>
              <a:buChar char="•"/>
            </a:pPr>
            <a:r>
              <a:rPr lang="en-US" sz="1200" kern="1200" dirty="0" smtClean="0">
                <a:solidFill>
                  <a:schemeClr val="tx1"/>
                </a:solidFill>
                <a:latin typeface="+mn-lt"/>
                <a:ea typeface="+mn-ea"/>
                <a:cs typeface="+mn-cs"/>
              </a:rPr>
              <a:t>Adjustments to other interpretive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Variations to the itinerary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Acquisition of extra supplies/resources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Need to complete specified internal report at the end of the tour to explain/address the issue.   </a:t>
            </a:r>
            <a:endParaRPr lang="en-AU" sz="1200" kern="1200" dirty="0" smtClean="0">
              <a:solidFill>
                <a:schemeClr val="tx1"/>
              </a:solidFill>
              <a:latin typeface="+mn-lt"/>
              <a:ea typeface="+mn-ea"/>
              <a:cs typeface="+mn-cs"/>
            </a:endParaRPr>
          </a:p>
          <a:p>
            <a:pPr>
              <a:buFont typeface="Arial" pitchFamily="34" charset="0"/>
              <a:buNone/>
            </a:pPr>
            <a:endParaRPr lang="en-AU" sz="1200" kern="1200" noProof="0" dirty="0" smtClean="0">
              <a:solidFill>
                <a:schemeClr val="tx1"/>
              </a:solidFill>
              <a:latin typeface="+mn-lt"/>
              <a:ea typeface="+mn-ea"/>
              <a:cs typeface="+mn-cs"/>
            </a:endParaRPr>
          </a:p>
          <a:p>
            <a:pPr>
              <a:buFont typeface="Arial" pitchFamily="34" charset="0"/>
              <a:buNone/>
            </a:pPr>
            <a:r>
              <a:rPr lang="en-AU" b="1" noProof="0" dirty="0" smtClean="0"/>
              <a:t>Classroom Activity – Handout</a:t>
            </a:r>
          </a:p>
          <a:p>
            <a:pPr>
              <a:buFont typeface="Arial" pitchFamily="34" charset="0"/>
              <a:buNone/>
            </a:pPr>
            <a:r>
              <a:rPr lang="en-AU" b="0" noProof="0" dirty="0" smtClean="0"/>
              <a:t>Trainer distributes and discusses example of Contingency plans for interpretive activities. </a:t>
            </a:r>
            <a:endParaRPr lang="en-AU" sz="1200" kern="1200" noProof="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extLst>
      <p:ext uri="{BB962C8B-B14F-4D97-AF65-F5344CB8AC3E}">
        <p14:creationId xmlns:p14="http://schemas.microsoft.com/office/powerpoint/2010/main" val="2019122679"/>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discusses dealing with events and emergencies stating </a:t>
            </a:r>
            <a:r>
              <a:rPr lang="en-AU" sz="1200" kern="1200" dirty="0" smtClean="0">
                <a:solidFill>
                  <a:schemeClr val="tx1"/>
                </a:solidFill>
                <a:latin typeface="+mn-lt"/>
                <a:ea typeface="+mn-ea"/>
                <a:cs typeface="+mn-cs"/>
              </a:rPr>
              <a:t>in practice the </a:t>
            </a:r>
            <a:r>
              <a:rPr lang="en-AU" sz="1200" i="1" kern="1200" dirty="0" smtClean="0">
                <a:solidFill>
                  <a:schemeClr val="tx1"/>
                </a:solidFill>
                <a:latin typeface="+mn-lt"/>
                <a:ea typeface="+mn-ea"/>
                <a:cs typeface="+mn-cs"/>
              </a:rPr>
              <a:t>detail</a:t>
            </a:r>
            <a:r>
              <a:rPr lang="en-AU" sz="1200" kern="1200" dirty="0" smtClean="0">
                <a:solidFill>
                  <a:schemeClr val="tx1"/>
                </a:solidFill>
                <a:latin typeface="+mn-lt"/>
                <a:ea typeface="+mn-ea"/>
                <a:cs typeface="+mn-cs"/>
              </a:rPr>
              <a:t> of handling events and emergencies will be contained in the plans, but generically the requirements may include:</a:t>
            </a:r>
          </a:p>
          <a:p>
            <a:pPr marL="171450" indent="-171450">
              <a:buFont typeface="Arial" pitchFamily="34" charset="0"/>
              <a:buChar char="•"/>
            </a:pPr>
            <a:r>
              <a:rPr lang="en-AU" sz="1200" kern="1200" dirty="0" smtClean="0">
                <a:solidFill>
                  <a:schemeClr val="tx1"/>
                </a:solidFill>
                <a:latin typeface="+mn-lt"/>
                <a:ea typeface="+mn-ea"/>
                <a:cs typeface="+mn-cs"/>
              </a:rPr>
              <a:t>Implementing contingency and/or emergency plans – as developed for each individual tour or activity</a:t>
            </a:r>
          </a:p>
          <a:p>
            <a:pPr marL="171450" indent="-171450">
              <a:buFont typeface="Arial" pitchFamily="34" charset="0"/>
              <a:buChar char="•"/>
            </a:pPr>
            <a:r>
              <a:rPr lang="en-AU" sz="1200" kern="1200" dirty="0" smtClean="0">
                <a:solidFill>
                  <a:schemeClr val="tx1"/>
                </a:solidFill>
                <a:latin typeface="+mn-lt"/>
                <a:ea typeface="+mn-ea"/>
                <a:cs typeface="+mn-cs"/>
              </a:rPr>
              <a:t>Notifying authorities and/or emergency services – by phone or radio to obtain assistance</a:t>
            </a:r>
          </a:p>
          <a:p>
            <a:pPr marL="628650" lvl="1" indent="-171450">
              <a:buFont typeface="Arial" pitchFamily="34" charset="0"/>
              <a:buChar char="•"/>
            </a:pPr>
            <a:r>
              <a:rPr lang="en-AU" sz="1200" kern="1200" dirty="0" smtClean="0">
                <a:solidFill>
                  <a:schemeClr val="tx1"/>
                </a:solidFill>
                <a:latin typeface="+mn-lt"/>
                <a:ea typeface="+mn-ea"/>
                <a:cs typeface="+mn-cs"/>
              </a:rPr>
              <a:t>The Operations Package/Folder for the tour will contain these plans and/or they may be available electronically</a:t>
            </a:r>
          </a:p>
          <a:p>
            <a:pPr marL="171450" indent="-171450">
              <a:buFont typeface="Arial" pitchFamily="34" charset="0"/>
              <a:buChar char="•"/>
            </a:pPr>
            <a:r>
              <a:rPr lang="en-AU" sz="1200" kern="1200" dirty="0" smtClean="0">
                <a:solidFill>
                  <a:schemeClr val="tx1"/>
                </a:solidFill>
                <a:latin typeface="+mn-lt"/>
                <a:ea typeface="+mn-ea"/>
                <a:cs typeface="+mn-cs"/>
              </a:rPr>
              <a:t>Maintaining communication with tour group members – to:</a:t>
            </a:r>
          </a:p>
          <a:p>
            <a:pPr marL="628650" lvl="1" indent="-171450">
              <a:buFont typeface="Arial" pitchFamily="34" charset="0"/>
              <a:buChar char="•"/>
            </a:pPr>
            <a:r>
              <a:rPr lang="en-AU" sz="1200" kern="1200" dirty="0" smtClean="0">
                <a:solidFill>
                  <a:schemeClr val="tx1"/>
                </a:solidFill>
                <a:latin typeface="+mn-lt"/>
                <a:ea typeface="+mn-ea"/>
                <a:cs typeface="+mn-cs"/>
              </a:rPr>
              <a:t>Advise them of action they need to take to remain safe</a:t>
            </a:r>
          </a:p>
          <a:p>
            <a:pPr marL="628650" lvl="1" indent="-171450">
              <a:buFont typeface="Arial" pitchFamily="34" charset="0"/>
              <a:buChar char="•"/>
            </a:pPr>
            <a:r>
              <a:rPr lang="en-AU" sz="1200" kern="1200" dirty="0" smtClean="0">
                <a:solidFill>
                  <a:schemeClr val="tx1"/>
                </a:solidFill>
                <a:latin typeface="+mn-lt"/>
                <a:ea typeface="+mn-ea"/>
                <a:cs typeface="+mn-cs"/>
              </a:rPr>
              <a:t>Reassure them and keep them calm</a:t>
            </a:r>
          </a:p>
          <a:p>
            <a:pPr marL="628650" lvl="1" indent="-171450">
              <a:buFont typeface="Arial" pitchFamily="34" charset="0"/>
              <a:buChar char="•"/>
            </a:pPr>
            <a:r>
              <a:rPr lang="en-AU" sz="1200" kern="1200" dirty="0" smtClean="0">
                <a:solidFill>
                  <a:schemeClr val="tx1"/>
                </a:solidFill>
                <a:latin typeface="+mn-lt"/>
                <a:ea typeface="+mn-ea"/>
                <a:cs typeface="+mn-cs"/>
              </a:rPr>
              <a:t>Notify them of action to be taken by the tour in response to the unexpected event.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extLst>
      <p:ext uri="{BB962C8B-B14F-4D97-AF65-F5344CB8AC3E}">
        <p14:creationId xmlns:p14="http://schemas.microsoft.com/office/powerpoint/2010/main" val="802561353"/>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giving generic requirements for handling events and emergencies:</a:t>
            </a:r>
          </a:p>
          <a:p>
            <a:pPr marL="171450" indent="-171450">
              <a:buFont typeface="Arial" pitchFamily="34" charset="0"/>
              <a:buChar char="•"/>
            </a:pPr>
            <a:r>
              <a:rPr lang="en-AU" sz="1200" kern="1200" dirty="0" smtClean="0">
                <a:solidFill>
                  <a:schemeClr val="tx1"/>
                </a:solidFill>
                <a:latin typeface="+mn-lt"/>
                <a:ea typeface="+mn-ea"/>
                <a:cs typeface="+mn-cs"/>
              </a:rPr>
              <a:t>Prioritising action to be taken – this ALWAYS means optimising the safety of customers and placing the safety of people above the protection/security of property and assets</a:t>
            </a:r>
          </a:p>
          <a:p>
            <a:pPr marL="171450" indent="-171450">
              <a:buFont typeface="Arial" pitchFamily="34" charset="0"/>
              <a:buChar char="•"/>
            </a:pPr>
            <a:r>
              <a:rPr lang="en-AU" sz="1200" kern="1200" dirty="0" smtClean="0">
                <a:solidFill>
                  <a:schemeClr val="tx1"/>
                </a:solidFill>
                <a:latin typeface="+mn-lt"/>
                <a:ea typeface="+mn-ea"/>
                <a:cs typeface="+mn-cs"/>
              </a:rPr>
              <a:t>Taking charge of the situation – by:</a:t>
            </a:r>
          </a:p>
          <a:p>
            <a:pPr marL="628650" lvl="1" indent="-171450">
              <a:buFont typeface="Arial" pitchFamily="34" charset="0"/>
              <a:buChar char="•"/>
            </a:pPr>
            <a:r>
              <a:rPr lang="en-AU" sz="1200" kern="1200" dirty="0" smtClean="0">
                <a:solidFill>
                  <a:schemeClr val="tx1"/>
                </a:solidFill>
                <a:latin typeface="+mn-lt"/>
                <a:ea typeface="+mn-ea"/>
                <a:cs typeface="+mn-cs"/>
              </a:rPr>
              <a:t>Assuming authority </a:t>
            </a:r>
          </a:p>
          <a:p>
            <a:pPr marL="628650" lvl="1" indent="-171450">
              <a:buFont typeface="Arial" pitchFamily="34" charset="0"/>
              <a:buChar char="•"/>
            </a:pPr>
            <a:r>
              <a:rPr lang="en-AU" sz="1200" kern="1200" dirty="0" smtClean="0">
                <a:solidFill>
                  <a:schemeClr val="tx1"/>
                </a:solidFill>
                <a:latin typeface="+mn-lt"/>
                <a:ea typeface="+mn-ea"/>
                <a:cs typeface="+mn-cs"/>
              </a:rPr>
              <a:t>Taking charge </a:t>
            </a:r>
          </a:p>
          <a:p>
            <a:pPr marL="628650" lvl="1" indent="-171450">
              <a:buFont typeface="Arial" pitchFamily="34" charset="0"/>
              <a:buChar char="•"/>
            </a:pPr>
            <a:r>
              <a:rPr lang="en-AU" sz="1200" kern="1200" dirty="0" smtClean="0">
                <a:solidFill>
                  <a:schemeClr val="tx1"/>
                </a:solidFill>
                <a:latin typeface="+mn-lt"/>
                <a:ea typeface="+mn-ea"/>
                <a:cs typeface="+mn-cs"/>
              </a:rPr>
              <a:t>Issuing directives to those on-tour/in the tour group</a:t>
            </a:r>
          </a:p>
          <a:p>
            <a:pPr marL="171450" indent="-171450">
              <a:buFont typeface="Arial" pitchFamily="34" charset="0"/>
              <a:buChar char="•"/>
            </a:pPr>
            <a:r>
              <a:rPr lang="en-AU" sz="1200" kern="1200" dirty="0" smtClean="0">
                <a:solidFill>
                  <a:schemeClr val="tx1"/>
                </a:solidFill>
                <a:latin typeface="+mn-lt"/>
                <a:ea typeface="+mn-ea"/>
                <a:cs typeface="+mn-cs"/>
              </a:rPr>
              <a:t>Being proactive – in terms of:</a:t>
            </a:r>
          </a:p>
          <a:p>
            <a:pPr marL="628650" lvl="1" indent="-171450">
              <a:buFont typeface="Arial" pitchFamily="34" charset="0"/>
              <a:buChar char="•"/>
            </a:pPr>
            <a:r>
              <a:rPr lang="en-AU" sz="1200" kern="1200" dirty="0" smtClean="0">
                <a:solidFill>
                  <a:schemeClr val="tx1"/>
                </a:solidFill>
                <a:latin typeface="+mn-lt"/>
                <a:ea typeface="+mn-ea"/>
                <a:cs typeface="+mn-cs"/>
              </a:rPr>
              <a:t>Responding in an appropriate and timely manner</a:t>
            </a:r>
          </a:p>
          <a:p>
            <a:pPr marL="628650" lvl="1" indent="-171450">
              <a:buFont typeface="Arial" pitchFamily="34" charset="0"/>
              <a:buChar char="•"/>
            </a:pPr>
            <a:r>
              <a:rPr lang="en-AU" sz="1200" kern="1200" dirty="0" smtClean="0">
                <a:solidFill>
                  <a:schemeClr val="tx1"/>
                </a:solidFill>
                <a:latin typeface="+mn-lt"/>
                <a:ea typeface="+mn-ea"/>
                <a:cs typeface="+mn-cs"/>
              </a:rPr>
              <a:t>Taking action to minimise the adverse impact of the unexpected event on the conduct, and customer enjoyment of, the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extLst>
      <p:ext uri="{BB962C8B-B14F-4D97-AF65-F5344CB8AC3E}">
        <p14:creationId xmlns:p14="http://schemas.microsoft.com/office/powerpoint/2010/main" val="1526116239"/>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giving generic requirements for handling events and emergencies:</a:t>
            </a:r>
          </a:p>
          <a:p>
            <a:pPr marL="171450" indent="-171450">
              <a:buFont typeface="Arial" pitchFamily="34" charset="0"/>
              <a:buChar char="•"/>
            </a:pPr>
            <a:r>
              <a:rPr lang="en-AU" sz="1200" kern="1200" dirty="0" smtClean="0">
                <a:solidFill>
                  <a:schemeClr val="tx1"/>
                </a:solidFill>
                <a:latin typeface="+mn-lt"/>
                <a:ea typeface="+mn-ea"/>
                <a:cs typeface="+mn-cs"/>
              </a:rPr>
              <a:t>Apologising for the event – this is standard practice even where the cause of the situation is not the fault of:</a:t>
            </a:r>
          </a:p>
          <a:p>
            <a:pPr marL="628650" lvl="1" indent="-171450">
              <a:buFont typeface="Arial" pitchFamily="34" charset="0"/>
              <a:buChar char="•"/>
            </a:pPr>
            <a:r>
              <a:rPr lang="en-AU" sz="1200" kern="1200" dirty="0" smtClean="0">
                <a:solidFill>
                  <a:schemeClr val="tx1"/>
                </a:solidFill>
                <a:latin typeface="+mn-lt"/>
                <a:ea typeface="+mn-ea"/>
                <a:cs typeface="+mn-cs"/>
              </a:rPr>
              <a:t>The tour </a:t>
            </a:r>
          </a:p>
          <a:p>
            <a:pPr marL="628650" lvl="1" indent="-171450">
              <a:buFont typeface="Arial" pitchFamily="34" charset="0"/>
              <a:buChar char="•"/>
            </a:pPr>
            <a:r>
              <a:rPr lang="en-AU" sz="1200" kern="1200" dirty="0" smtClean="0">
                <a:solidFill>
                  <a:schemeClr val="tx1"/>
                </a:solidFill>
                <a:latin typeface="+mn-lt"/>
                <a:ea typeface="+mn-ea"/>
                <a:cs typeface="+mn-cs"/>
              </a:rPr>
              <a:t>The Tour Guide </a:t>
            </a:r>
          </a:p>
          <a:p>
            <a:pPr marL="628650" lvl="1" indent="-171450">
              <a:buFont typeface="Arial" pitchFamily="34" charset="0"/>
              <a:buChar char="•"/>
            </a:pPr>
            <a:r>
              <a:rPr lang="en-AU" sz="1200" kern="1200" dirty="0" smtClean="0">
                <a:solidFill>
                  <a:schemeClr val="tx1"/>
                </a:solidFill>
                <a:latin typeface="+mn-lt"/>
                <a:ea typeface="+mn-ea"/>
                <a:cs typeface="+mn-cs"/>
              </a:rPr>
              <a:t>The Tour Operator</a:t>
            </a:r>
          </a:p>
          <a:p>
            <a:pPr marL="171450" indent="-171450">
              <a:buFont typeface="Arial" pitchFamily="34" charset="0"/>
              <a:buChar char="•"/>
            </a:pPr>
            <a:r>
              <a:rPr lang="en-AU" sz="1200" kern="1200" dirty="0" smtClean="0">
                <a:solidFill>
                  <a:schemeClr val="tx1"/>
                </a:solidFill>
                <a:latin typeface="+mn-lt"/>
                <a:ea typeface="+mn-ea"/>
                <a:cs typeface="+mn-cs"/>
              </a:rPr>
              <a:t>Adhering to host enterprise policies and procedures – with regard to:</a:t>
            </a:r>
          </a:p>
          <a:p>
            <a:pPr marL="628650" lvl="1" indent="-171450">
              <a:buFont typeface="Arial" pitchFamily="34" charset="0"/>
              <a:buChar char="•"/>
            </a:pPr>
            <a:r>
              <a:rPr lang="en-AU" sz="1200" kern="1200" dirty="0" smtClean="0">
                <a:solidFill>
                  <a:schemeClr val="tx1"/>
                </a:solidFill>
                <a:latin typeface="+mn-lt"/>
                <a:ea typeface="+mn-ea"/>
                <a:cs typeface="+mn-cs"/>
              </a:rPr>
              <a:t>Never admitting liability on behalf of the Tour Operator in relation to any event or incident</a:t>
            </a:r>
          </a:p>
          <a:p>
            <a:pPr marL="628650" lvl="1" indent="-171450">
              <a:buFont typeface="Arial" pitchFamily="34" charset="0"/>
              <a:buChar char="•"/>
            </a:pPr>
            <a:r>
              <a:rPr lang="en-AU" sz="1200" kern="1200" dirty="0" smtClean="0">
                <a:solidFill>
                  <a:schemeClr val="tx1"/>
                </a:solidFill>
                <a:latin typeface="+mn-lt"/>
                <a:ea typeface="+mn-ea"/>
                <a:cs typeface="+mn-cs"/>
              </a:rPr>
              <a:t>Not promising any form of recompense to those who have bought tickets/are on the tour</a:t>
            </a:r>
          </a:p>
          <a:p>
            <a:pPr marL="628650" lvl="1" indent="-171450">
              <a:buFont typeface="Arial" pitchFamily="34" charset="0"/>
              <a:buChar char="•"/>
            </a:pPr>
            <a:r>
              <a:rPr lang="en-AU" sz="1200" kern="1200" dirty="0" smtClean="0">
                <a:solidFill>
                  <a:schemeClr val="tx1"/>
                </a:solidFill>
                <a:latin typeface="+mn-lt"/>
                <a:ea typeface="+mn-ea"/>
                <a:cs typeface="+mn-cs"/>
              </a:rPr>
              <a:t>Referring customers to management, head office or to duty supervisor – on arrival of the tour back at the departure point, where applicable</a:t>
            </a:r>
          </a:p>
          <a:p>
            <a:pPr marL="628650" lvl="1" indent="-171450">
              <a:buFont typeface="Arial" pitchFamily="34" charset="0"/>
              <a:buChar char="•"/>
            </a:pPr>
            <a:r>
              <a:rPr lang="en-AU" sz="1200" kern="1200" dirty="0" smtClean="0">
                <a:solidFill>
                  <a:schemeClr val="tx1"/>
                </a:solidFill>
                <a:latin typeface="+mn-lt"/>
                <a:ea typeface="+mn-ea"/>
                <a:cs typeface="+mn-cs"/>
              </a:rPr>
              <a:t>Re-stating relevant statements in the Terms and Conditions of the tour – in relation to issues such as:</a:t>
            </a:r>
          </a:p>
          <a:p>
            <a:pPr marL="1085850" lvl="2" indent="-171450">
              <a:buFont typeface="Arial" pitchFamily="34" charset="0"/>
              <a:buChar char="•"/>
            </a:pPr>
            <a:r>
              <a:rPr lang="en-AU" sz="1200" kern="1200" dirty="0" smtClean="0">
                <a:solidFill>
                  <a:schemeClr val="tx1"/>
                </a:solidFill>
                <a:latin typeface="+mn-lt"/>
                <a:ea typeface="+mn-ea"/>
                <a:cs typeface="+mn-cs"/>
              </a:rPr>
              <a:t>‘The Tour Operator reserves the right to substitute destinations, attractions, activities and inclusions as required’</a:t>
            </a:r>
          </a:p>
          <a:p>
            <a:pPr marL="1085850" lvl="2" indent="-171450">
              <a:buFont typeface="Arial" pitchFamily="34" charset="0"/>
              <a:buChar char="•"/>
            </a:pPr>
            <a:r>
              <a:rPr lang="en-AU" sz="1200" kern="1200" dirty="0" smtClean="0">
                <a:solidFill>
                  <a:schemeClr val="tx1"/>
                </a:solidFill>
                <a:latin typeface="+mn-lt"/>
                <a:ea typeface="+mn-ea"/>
                <a:cs typeface="+mn-cs"/>
              </a:rPr>
              <a:t>‘Where there is a need to alter the advertised itinerary the Tour Operator will make every effort to replace the amended inclusion with an event/activity of similar type and value-for-money’.</a:t>
            </a:r>
          </a:p>
          <a:p>
            <a:pPr>
              <a:buFont typeface="Arial" pitchFamily="34" charset="0"/>
              <a:buNone/>
            </a:pPr>
            <a:endParaRPr lang="en-AU"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extLst>
      <p:ext uri="{BB962C8B-B14F-4D97-AF65-F5344CB8AC3E}">
        <p14:creationId xmlns:p14="http://schemas.microsoft.com/office/powerpoint/2010/main" val="2104310422"/>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there </a:t>
            </a:r>
            <a:r>
              <a:rPr lang="en-AU" sz="1200" kern="1200" dirty="0" smtClean="0">
                <a:solidFill>
                  <a:schemeClr val="tx1"/>
                </a:solidFill>
                <a:latin typeface="+mn-lt"/>
                <a:ea typeface="+mn-ea"/>
                <a:cs typeface="+mn-cs"/>
              </a:rPr>
              <a:t>is a need for a proper end to an activity because:</a:t>
            </a:r>
          </a:p>
          <a:p>
            <a:pPr marL="171450" indent="-171450">
              <a:buFont typeface="Arial" pitchFamily="34" charset="0"/>
              <a:buChar char="•"/>
            </a:pPr>
            <a:r>
              <a:rPr lang="en-AU" sz="1200" kern="1200" dirty="0" smtClean="0">
                <a:solidFill>
                  <a:schemeClr val="tx1"/>
                </a:solidFill>
                <a:latin typeface="+mn-lt"/>
                <a:ea typeface="+mn-ea"/>
                <a:cs typeface="+mn-cs"/>
              </a:rPr>
              <a:t>The end of the activity is as important as the start of the activity</a:t>
            </a:r>
          </a:p>
          <a:p>
            <a:pPr marL="171450" indent="-171450">
              <a:buFont typeface="Arial" pitchFamily="34" charset="0"/>
              <a:buChar char="•"/>
            </a:pPr>
            <a:r>
              <a:rPr lang="en-AU" sz="1200" kern="1200" dirty="0" smtClean="0">
                <a:solidFill>
                  <a:schemeClr val="tx1"/>
                </a:solidFill>
                <a:latin typeface="+mn-lt"/>
                <a:ea typeface="+mn-ea"/>
                <a:cs typeface="+mn-cs"/>
              </a:rPr>
              <a:t>The end of the activity is often the last thing the participant remembers – especially if it is not a positive conclusion</a:t>
            </a:r>
          </a:p>
          <a:p>
            <a:pPr marL="171450" indent="-171450">
              <a:buFont typeface="Arial" pitchFamily="34" charset="0"/>
              <a:buChar char="•"/>
            </a:pPr>
            <a:r>
              <a:rPr lang="en-AU" sz="1200" kern="1200" dirty="0" smtClean="0">
                <a:solidFill>
                  <a:schemeClr val="tx1"/>
                </a:solidFill>
                <a:latin typeface="+mn-lt"/>
                <a:ea typeface="+mn-ea"/>
                <a:cs typeface="+mn-cs"/>
              </a:rPr>
              <a:t>Participants pay for the entire experience – not just the beginning and the ‘middle.’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extLst>
      <p:ext uri="{BB962C8B-B14F-4D97-AF65-F5344CB8AC3E}">
        <p14:creationId xmlns:p14="http://schemas.microsoft.com/office/powerpoint/2010/main" val="2193396394"/>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giving reasons every activity needs a proper end:</a:t>
            </a:r>
          </a:p>
          <a:p>
            <a:pPr marL="171450" indent="-171450">
              <a:buFont typeface="Arial" pitchFamily="34" charset="0"/>
              <a:buChar char="•"/>
            </a:pPr>
            <a:r>
              <a:rPr lang="en-AU" sz="1200" kern="1200" dirty="0" smtClean="0">
                <a:solidFill>
                  <a:schemeClr val="tx1"/>
                </a:solidFill>
                <a:latin typeface="+mn-lt"/>
                <a:ea typeface="+mn-ea"/>
                <a:cs typeface="+mn-cs"/>
              </a:rPr>
              <a:t>It shows professionalism and demonstrates planning and organisation</a:t>
            </a:r>
          </a:p>
          <a:p>
            <a:pPr marL="171450" indent="-171450">
              <a:buFont typeface="Arial" pitchFamily="34" charset="0"/>
              <a:buChar char="•"/>
            </a:pPr>
            <a:r>
              <a:rPr lang="en-AU" sz="1200" kern="1200" dirty="0" smtClean="0">
                <a:solidFill>
                  <a:schemeClr val="tx1"/>
                </a:solidFill>
                <a:latin typeface="+mn-lt"/>
                <a:ea typeface="+mn-ea"/>
                <a:cs typeface="+mn-cs"/>
              </a:rPr>
              <a:t>It allows people to ‘finish up’ – whatever that might mean for them</a:t>
            </a:r>
          </a:p>
          <a:p>
            <a:pPr marL="171450" indent="-171450">
              <a:buFont typeface="Arial" pitchFamily="34" charset="0"/>
              <a:buChar char="•"/>
            </a:pPr>
            <a:r>
              <a:rPr lang="en-AU" sz="1200" kern="1200" dirty="0" smtClean="0">
                <a:solidFill>
                  <a:schemeClr val="tx1"/>
                </a:solidFill>
                <a:latin typeface="+mn-lt"/>
                <a:ea typeface="+mn-ea"/>
                <a:cs typeface="+mn-cs"/>
              </a:rPr>
              <a:t>The activity needs to finish ‘on time’ – so that:</a:t>
            </a:r>
          </a:p>
          <a:p>
            <a:pPr marL="628650" lvl="1" indent="-171450">
              <a:buFont typeface="Arial" pitchFamily="34" charset="0"/>
              <a:buChar char="•"/>
            </a:pPr>
            <a:r>
              <a:rPr lang="en-AU" sz="1200" kern="1200" dirty="0" smtClean="0">
                <a:solidFill>
                  <a:schemeClr val="tx1"/>
                </a:solidFill>
                <a:latin typeface="+mn-lt"/>
                <a:ea typeface="+mn-ea"/>
                <a:cs typeface="+mn-cs"/>
              </a:rPr>
              <a:t>The itinerary can be maintained</a:t>
            </a:r>
          </a:p>
          <a:p>
            <a:pPr marL="628650" lvl="1" indent="-171450">
              <a:buFont typeface="Arial" pitchFamily="34" charset="0"/>
              <a:buChar char="•"/>
            </a:pPr>
            <a:r>
              <a:rPr lang="en-AU" sz="1200" kern="1200" dirty="0" smtClean="0">
                <a:solidFill>
                  <a:schemeClr val="tx1"/>
                </a:solidFill>
                <a:latin typeface="+mn-lt"/>
                <a:ea typeface="+mn-ea"/>
                <a:cs typeface="+mn-cs"/>
              </a:rPr>
              <a:t>Other activities booked for the same site/venue can take place.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extLst>
      <p:ext uri="{BB962C8B-B14F-4D97-AF65-F5344CB8AC3E}">
        <p14:creationId xmlns:p14="http://schemas.microsoft.com/office/powerpoint/2010/main" val="2802004054"/>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identifies generic </a:t>
            </a:r>
            <a:r>
              <a:rPr lang="en-AU" sz="1200" kern="1200" dirty="0" smtClean="0">
                <a:solidFill>
                  <a:schemeClr val="tx1"/>
                </a:solidFill>
                <a:latin typeface="+mn-lt"/>
                <a:ea typeface="+mn-ea"/>
                <a:cs typeface="+mn-cs"/>
              </a:rPr>
              <a:t>practice to deliver an effective and successful completion of an activity will focus on:</a:t>
            </a:r>
          </a:p>
          <a:p>
            <a:pPr marL="171450" indent="-171450">
              <a:buFont typeface="Arial" pitchFamily="34" charset="0"/>
              <a:buChar char="•"/>
            </a:pPr>
            <a:r>
              <a:rPr lang="en-AU" sz="1200" kern="1200" dirty="0" smtClean="0">
                <a:solidFill>
                  <a:schemeClr val="tx1"/>
                </a:solidFill>
                <a:latin typeface="+mn-lt"/>
                <a:ea typeface="+mn-ea"/>
                <a:cs typeface="+mn-cs"/>
              </a:rPr>
              <a:t>Need to plan the closure/completion</a:t>
            </a:r>
          </a:p>
          <a:p>
            <a:pPr marL="171450" indent="-171450">
              <a:buFont typeface="Arial" pitchFamily="34" charset="0"/>
              <a:buChar char="•"/>
            </a:pPr>
            <a:r>
              <a:rPr lang="en-AU" sz="1200" kern="1200" dirty="0" smtClean="0">
                <a:solidFill>
                  <a:schemeClr val="tx1"/>
                </a:solidFill>
                <a:latin typeface="+mn-lt"/>
                <a:ea typeface="+mn-ea"/>
                <a:cs typeface="+mn-cs"/>
              </a:rPr>
              <a:t>Need to prepare for the end of the activity</a:t>
            </a:r>
          </a:p>
          <a:p>
            <a:pPr marL="171450" indent="-171450">
              <a:buFont typeface="Arial" pitchFamily="34" charset="0"/>
              <a:buChar char="•"/>
            </a:pPr>
            <a:r>
              <a:rPr lang="en-AU" sz="1200" kern="1200" dirty="0" smtClean="0">
                <a:solidFill>
                  <a:schemeClr val="tx1"/>
                </a:solidFill>
                <a:latin typeface="+mn-lt"/>
                <a:ea typeface="+mn-ea"/>
                <a:cs typeface="+mn-cs"/>
              </a:rPr>
              <a:t>Need to communicate – with: </a:t>
            </a:r>
          </a:p>
          <a:p>
            <a:pPr marL="628650" lvl="1" indent="-171450">
              <a:buFont typeface="Arial" pitchFamily="34" charset="0"/>
              <a:buChar char="•"/>
            </a:pPr>
            <a:r>
              <a:rPr lang="en-AU" sz="1200" kern="1200" dirty="0" smtClean="0">
                <a:solidFill>
                  <a:schemeClr val="tx1"/>
                </a:solidFill>
                <a:latin typeface="+mn-lt"/>
                <a:ea typeface="+mn-ea"/>
                <a:cs typeface="+mn-cs"/>
              </a:rPr>
              <a:t>Staff who are assisting</a:t>
            </a:r>
          </a:p>
          <a:p>
            <a:pPr marL="628650" lvl="1" indent="-171450">
              <a:buFont typeface="Arial" pitchFamily="34" charset="0"/>
              <a:buChar char="•"/>
            </a:pPr>
            <a:r>
              <a:rPr lang="en-AU" sz="1200" kern="1200" dirty="0" smtClean="0">
                <a:solidFill>
                  <a:schemeClr val="tx1"/>
                </a:solidFill>
                <a:latin typeface="+mn-lt"/>
                <a:ea typeface="+mn-ea"/>
                <a:cs typeface="+mn-cs"/>
              </a:rPr>
              <a:t>Stakeholders</a:t>
            </a:r>
          </a:p>
          <a:p>
            <a:pPr marL="628650" lvl="1" indent="-171450">
              <a:buFont typeface="Arial" pitchFamily="34" charset="0"/>
              <a:buChar char="•"/>
            </a:pPr>
            <a:r>
              <a:rPr lang="en-AU" sz="1200" kern="1200" dirty="0" smtClean="0">
                <a:solidFill>
                  <a:schemeClr val="tx1"/>
                </a:solidFill>
                <a:latin typeface="+mn-lt"/>
                <a:ea typeface="+mn-ea"/>
                <a:cs typeface="+mn-cs"/>
              </a:rPr>
              <a:t>Tour group members/participants.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extLst>
      <p:ext uri="{BB962C8B-B14F-4D97-AF65-F5344CB8AC3E}">
        <p14:creationId xmlns:p14="http://schemas.microsoft.com/office/powerpoint/2010/main" val="120944725"/>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presents standard </a:t>
            </a:r>
            <a:r>
              <a:rPr lang="en-AU" sz="1200" kern="1200" dirty="0" smtClean="0">
                <a:solidFill>
                  <a:schemeClr val="tx1"/>
                </a:solidFill>
                <a:latin typeface="+mn-lt"/>
                <a:ea typeface="+mn-ea"/>
                <a:cs typeface="+mn-cs"/>
              </a:rPr>
              <a:t>protocols for ending an activity: </a:t>
            </a:r>
          </a:p>
          <a:p>
            <a:pPr marL="171450" indent="-171450">
              <a:buFont typeface="Arial" pitchFamily="34" charset="0"/>
              <a:buChar char="•"/>
            </a:pPr>
            <a:r>
              <a:rPr lang="en-AU" sz="1200" kern="1200" dirty="0" smtClean="0">
                <a:solidFill>
                  <a:schemeClr val="tx1"/>
                </a:solidFill>
                <a:latin typeface="+mn-lt"/>
                <a:ea typeface="+mn-ea"/>
                <a:cs typeface="+mn-cs"/>
              </a:rPr>
              <a:t>Remaining positive and ‘up beat’ – and not allowing personal energy/enthusiasm drop off towards the end of the activity</a:t>
            </a:r>
          </a:p>
          <a:p>
            <a:pPr marL="171450" indent="-171450">
              <a:buFont typeface="Arial" pitchFamily="34" charset="0"/>
              <a:buChar char="•"/>
            </a:pPr>
            <a:r>
              <a:rPr lang="en-AU" sz="1200" kern="1200" dirty="0" smtClean="0">
                <a:solidFill>
                  <a:schemeClr val="tx1"/>
                </a:solidFill>
                <a:latin typeface="+mn-lt"/>
                <a:ea typeface="+mn-ea"/>
                <a:cs typeface="+mn-cs"/>
              </a:rPr>
              <a:t>Communicating with other tour staff and those working as part of the activity – in relation to:</a:t>
            </a:r>
          </a:p>
          <a:p>
            <a:pPr marL="628650" lvl="1" indent="-171450">
              <a:buFont typeface="Arial" pitchFamily="34" charset="0"/>
              <a:buChar char="•"/>
            </a:pPr>
            <a:r>
              <a:rPr lang="en-AU" sz="1200" kern="1200" dirty="0" smtClean="0">
                <a:solidFill>
                  <a:schemeClr val="tx1"/>
                </a:solidFill>
                <a:latin typeface="+mn-lt"/>
                <a:ea typeface="+mn-ea"/>
                <a:cs typeface="+mn-cs"/>
              </a:rPr>
              <a:t>Advising the activity will conclude in X minutes</a:t>
            </a:r>
          </a:p>
          <a:p>
            <a:pPr marL="628650" lvl="1" indent="-171450">
              <a:buFont typeface="Arial" pitchFamily="34" charset="0"/>
              <a:buChar char="•"/>
            </a:pPr>
            <a:r>
              <a:rPr lang="en-AU" sz="1200" kern="1200" dirty="0" smtClean="0">
                <a:solidFill>
                  <a:schemeClr val="tx1"/>
                </a:solidFill>
                <a:latin typeface="+mn-lt"/>
                <a:ea typeface="+mn-ea"/>
                <a:cs typeface="+mn-cs"/>
              </a:rPr>
              <a:t>Seeking confirmation from them it is appropriate to complete/finish up the activity</a:t>
            </a:r>
          </a:p>
          <a:p>
            <a:pPr marL="628650" lvl="1" indent="-171450">
              <a:buFont typeface="Arial" pitchFamily="34" charset="0"/>
              <a:buChar char="•"/>
            </a:pPr>
            <a:r>
              <a:rPr lang="en-AU" sz="1200" kern="1200" dirty="0" smtClean="0">
                <a:solidFill>
                  <a:schemeClr val="tx1"/>
                </a:solidFill>
                <a:latin typeface="+mn-lt"/>
                <a:ea typeface="+mn-ea"/>
                <a:cs typeface="+mn-cs"/>
              </a:rPr>
              <a:t>They should commence ‘close down’ actions as relevant to the individual activity</a:t>
            </a:r>
          </a:p>
          <a:p>
            <a:pPr marL="171450" indent="-171450">
              <a:buFont typeface="Arial" pitchFamily="34" charset="0"/>
              <a:buChar char="•"/>
            </a:pPr>
            <a:r>
              <a:rPr lang="en-AU" sz="1200" kern="1200" dirty="0" smtClean="0">
                <a:solidFill>
                  <a:schemeClr val="tx1"/>
                </a:solidFill>
                <a:latin typeface="+mn-lt"/>
                <a:ea typeface="+mn-ea"/>
                <a:cs typeface="+mn-cs"/>
              </a:rPr>
              <a:t>Forewarning customers in relation to the closure/end of the activity – which may be accomplished through:</a:t>
            </a:r>
          </a:p>
          <a:p>
            <a:pPr marL="628650" lvl="1" indent="-171450">
              <a:buFont typeface="Arial" pitchFamily="34" charset="0"/>
              <a:buChar char="•"/>
            </a:pPr>
            <a:r>
              <a:rPr lang="en-AU" sz="1200" kern="1200" dirty="0" smtClean="0">
                <a:solidFill>
                  <a:schemeClr val="tx1"/>
                </a:solidFill>
                <a:latin typeface="+mn-lt"/>
                <a:ea typeface="+mn-ea"/>
                <a:cs typeface="+mn-cs"/>
              </a:rPr>
              <a:t>Making a public announcement – using as appropriate:</a:t>
            </a:r>
          </a:p>
          <a:p>
            <a:pPr marL="1085850" lvl="2" indent="-171450">
              <a:buFont typeface="Arial" pitchFamily="34" charset="0"/>
              <a:buChar char="•"/>
            </a:pPr>
            <a:r>
              <a:rPr lang="en-AU" sz="1200" kern="1200" dirty="0" smtClean="0">
                <a:solidFill>
                  <a:schemeClr val="tx1"/>
                </a:solidFill>
                <a:latin typeface="+mn-lt"/>
                <a:ea typeface="+mn-ea"/>
                <a:cs typeface="+mn-cs"/>
              </a:rPr>
              <a:t>PA system</a:t>
            </a:r>
          </a:p>
          <a:p>
            <a:pPr marL="1085850" lvl="2" indent="-171450">
              <a:buFont typeface="Arial" pitchFamily="34" charset="0"/>
              <a:buChar char="•"/>
            </a:pPr>
            <a:r>
              <a:rPr lang="en-AU" sz="1200" kern="1200" dirty="0" smtClean="0">
                <a:solidFill>
                  <a:schemeClr val="tx1"/>
                </a:solidFill>
                <a:latin typeface="+mn-lt"/>
                <a:ea typeface="+mn-ea"/>
                <a:cs typeface="+mn-cs"/>
              </a:rPr>
              <a:t>Megaphone</a:t>
            </a:r>
          </a:p>
          <a:p>
            <a:pPr marL="1085850" lvl="2" indent="-171450">
              <a:buFont typeface="Arial" pitchFamily="34" charset="0"/>
              <a:buChar char="•"/>
            </a:pPr>
            <a:r>
              <a:rPr lang="en-AU" sz="1200" kern="1200" dirty="0" smtClean="0">
                <a:solidFill>
                  <a:schemeClr val="tx1"/>
                </a:solidFill>
                <a:latin typeface="+mn-lt"/>
                <a:ea typeface="+mn-ea"/>
                <a:cs typeface="+mn-cs"/>
              </a:rPr>
              <a:t>Loud voice</a:t>
            </a:r>
          </a:p>
          <a:p>
            <a:pPr marL="628650" lvl="1" indent="-171450">
              <a:buFont typeface="Arial" pitchFamily="34" charset="0"/>
              <a:buChar char="•"/>
            </a:pPr>
            <a:r>
              <a:rPr lang="en-AU" sz="1200" kern="1200" dirty="0" smtClean="0">
                <a:solidFill>
                  <a:schemeClr val="tx1"/>
                </a:solidFill>
                <a:latin typeface="+mn-lt"/>
                <a:ea typeface="+mn-ea"/>
                <a:cs typeface="+mn-cs"/>
              </a:rPr>
              <a:t>Speaking to tour group members – quietly and individually or in small groups</a:t>
            </a:r>
          </a:p>
          <a:p>
            <a:pPr marL="628650" lvl="1" indent="-171450">
              <a:buFont typeface="Arial" pitchFamily="34" charset="0"/>
              <a:buChar char="•"/>
            </a:pPr>
            <a:r>
              <a:rPr lang="en-AU" sz="1200" kern="1200" dirty="0" smtClean="0">
                <a:solidFill>
                  <a:schemeClr val="tx1"/>
                </a:solidFill>
                <a:latin typeface="+mn-lt"/>
                <a:ea typeface="+mn-ea"/>
                <a:cs typeface="+mn-cs"/>
              </a:rPr>
              <a:t>Ringing a bell or some other visual or audible warning.</a:t>
            </a:r>
          </a:p>
          <a:p>
            <a:pPr lvl="0">
              <a:buFont typeface="Arial" pitchFamily="34" charset="0"/>
              <a:buNone/>
            </a:pPr>
            <a:endParaRPr lang="en-AU" sz="1200" kern="1200" dirty="0" smtClean="0">
              <a:solidFill>
                <a:schemeClr val="tx1"/>
              </a:solidFill>
              <a:latin typeface="+mn-lt"/>
              <a:ea typeface="+mn-ea"/>
              <a:cs typeface="+mn-cs"/>
            </a:endParaRPr>
          </a:p>
          <a:p>
            <a:pPr lvl="0">
              <a:buFont typeface="Arial" pitchFamily="34" charset="0"/>
              <a:buNone/>
            </a:pPr>
            <a:r>
              <a:rPr lang="en-AU" sz="1200" b="1" kern="1200" dirty="0" smtClean="0">
                <a:solidFill>
                  <a:schemeClr val="tx1"/>
                </a:solidFill>
                <a:latin typeface="+mn-lt"/>
                <a:ea typeface="+mn-ea"/>
                <a:cs typeface="+mn-cs"/>
              </a:rPr>
              <a:t>Classroom Activity – Demonstration and Practice</a:t>
            </a:r>
          </a:p>
          <a:p>
            <a:pPr lvl="0">
              <a:buFont typeface="Arial" pitchFamily="34" charset="0"/>
              <a:buNone/>
            </a:pPr>
            <a:r>
              <a:rPr lang="en-AU" sz="1200" b="0" kern="1200" dirty="0" smtClean="0">
                <a:solidFill>
                  <a:schemeClr val="tx1"/>
                </a:solidFill>
                <a:latin typeface="+mn-lt"/>
                <a:ea typeface="+mn-ea"/>
                <a:cs typeface="+mn-cs"/>
              </a:rPr>
              <a:t>Trainer demonstrates practices for completing an interpretive activity as identified on the slide and provides opportunity for students</a:t>
            </a:r>
            <a:r>
              <a:rPr lang="en-AU" sz="1200" b="0" kern="1200" baseline="0" dirty="0" smtClean="0">
                <a:solidFill>
                  <a:schemeClr val="tx1"/>
                </a:solidFill>
                <a:latin typeface="+mn-lt"/>
                <a:ea typeface="+mn-ea"/>
                <a:cs typeface="+mn-cs"/>
              </a:rPr>
              <a:t> to do the same.</a:t>
            </a: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extLst>
      <p:ext uri="{BB962C8B-B14F-4D97-AF65-F5344CB8AC3E}">
        <p14:creationId xmlns:p14="http://schemas.microsoft.com/office/powerpoint/2010/main" val="3271895899"/>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a:t>
            </a:r>
            <a:r>
              <a:rPr lang="en-AU" baseline="0" noProof="0" dirty="0" smtClean="0"/>
              <a:t> continues to present standard </a:t>
            </a:r>
            <a:r>
              <a:rPr lang="en-AU" sz="1200" kern="1200" dirty="0" smtClean="0">
                <a:solidFill>
                  <a:schemeClr val="tx1"/>
                </a:solidFill>
                <a:latin typeface="+mn-lt"/>
                <a:ea typeface="+mn-ea"/>
                <a:cs typeface="+mn-cs"/>
              </a:rPr>
              <a:t>protocols for ending an activity: </a:t>
            </a:r>
          </a:p>
          <a:p>
            <a:pPr marL="171450" indent="-171450">
              <a:buFont typeface="Arial" pitchFamily="34" charset="0"/>
              <a:buChar char="•"/>
            </a:pPr>
            <a:r>
              <a:rPr lang="en-AU" sz="1200" kern="1200" dirty="0" smtClean="0">
                <a:solidFill>
                  <a:schemeClr val="tx1"/>
                </a:solidFill>
                <a:latin typeface="+mn-lt"/>
                <a:ea typeface="+mn-ea"/>
                <a:cs typeface="+mn-cs"/>
              </a:rPr>
              <a:t>Providing a staged-completion – that is, for example:</a:t>
            </a:r>
          </a:p>
          <a:p>
            <a:pPr marL="628650" lvl="1" indent="-171450">
              <a:buFont typeface="Arial" pitchFamily="34" charset="0"/>
              <a:buChar char="•"/>
            </a:pPr>
            <a:r>
              <a:rPr lang="en-US" sz="1200" kern="1200" dirty="0" smtClean="0">
                <a:solidFill>
                  <a:schemeClr val="tx1"/>
                </a:solidFill>
                <a:latin typeface="+mn-lt"/>
                <a:ea typeface="+mn-ea"/>
                <a:cs typeface="+mn-cs"/>
              </a:rPr>
              <a:t>Stage 1: Advise of completion in 15 minutes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Stage 2: Advise of completion in 10 minutes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Stage 3: Advise of completion in 5 minutes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Stage 4: Advise activity is complete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Initiating closing activities – which will depend on the nature of the activity but may include:</a:t>
            </a:r>
          </a:p>
          <a:p>
            <a:pPr marL="628650" lvl="1" indent="-171450">
              <a:buFont typeface="Arial" pitchFamily="34" charset="0"/>
              <a:buChar char="•"/>
            </a:pPr>
            <a:r>
              <a:rPr lang="en-US" sz="1200" kern="1200" dirty="0" smtClean="0">
                <a:solidFill>
                  <a:schemeClr val="tx1"/>
                </a:solidFill>
                <a:latin typeface="+mn-lt"/>
                <a:ea typeface="+mn-ea"/>
                <a:cs typeface="+mn-cs"/>
              </a:rPr>
              <a:t>Dimming lights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Turning down sound/volume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Turning off equipment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Collecting items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Closing entry points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Sharing feelings of the group/individuals – such as:</a:t>
            </a:r>
          </a:p>
          <a:p>
            <a:pPr marL="628650" lvl="1" indent="-171450">
              <a:buFont typeface="Arial" pitchFamily="34" charset="0"/>
              <a:buChar char="•"/>
            </a:pPr>
            <a:r>
              <a:rPr lang="en-US" sz="1200" kern="1200" dirty="0" smtClean="0">
                <a:solidFill>
                  <a:schemeClr val="tx1"/>
                </a:solidFill>
                <a:latin typeface="+mn-lt"/>
                <a:ea typeface="+mn-ea"/>
                <a:cs typeface="+mn-cs"/>
              </a:rPr>
              <a:t>Amazement time has already passed and it is time to finish</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Disappointment at having to leave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Enjoyment of the experience they have gained.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extLst>
      <p:ext uri="{BB962C8B-B14F-4D97-AF65-F5344CB8AC3E}">
        <p14:creationId xmlns:p14="http://schemas.microsoft.com/office/powerpoint/2010/main" val="372984242"/>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after </a:t>
            </a:r>
            <a:r>
              <a:rPr lang="en-AU" sz="1200" kern="1200" dirty="0" smtClean="0">
                <a:solidFill>
                  <a:schemeClr val="tx1"/>
                </a:solidFill>
                <a:latin typeface="+mn-lt"/>
                <a:ea typeface="+mn-ea"/>
                <a:cs typeface="+mn-cs"/>
              </a:rPr>
              <a:t>activities have been completed there can be a need to:</a:t>
            </a:r>
          </a:p>
          <a:p>
            <a:pPr marL="171450" indent="-171450">
              <a:buFont typeface="Arial" pitchFamily="34" charset="0"/>
              <a:buChar char="•"/>
            </a:pPr>
            <a:r>
              <a:rPr lang="en-AU" sz="1200" kern="1200" dirty="0" smtClean="0">
                <a:solidFill>
                  <a:schemeClr val="tx1"/>
                </a:solidFill>
                <a:latin typeface="+mn-lt"/>
                <a:ea typeface="+mn-ea"/>
                <a:cs typeface="+mn-cs"/>
              </a:rPr>
              <a:t>Count participant numbers/tour group members – to make sure no-one is missing/lost</a:t>
            </a:r>
          </a:p>
          <a:p>
            <a:pPr marL="171450" indent="-171450">
              <a:buFont typeface="Arial" pitchFamily="34" charset="0"/>
              <a:buChar char="•"/>
            </a:pPr>
            <a:r>
              <a:rPr lang="en-AU" sz="1200" kern="1200" dirty="0" smtClean="0">
                <a:solidFill>
                  <a:schemeClr val="tx1"/>
                </a:solidFill>
                <a:latin typeface="+mn-lt"/>
                <a:ea typeface="+mn-ea"/>
                <a:cs typeface="+mn-cs"/>
              </a:rPr>
              <a:t>Retrieve equipment and items that were distributed to customers – at the start of the activity and/or throughout it</a:t>
            </a:r>
          </a:p>
          <a:p>
            <a:pPr marL="171450" indent="-171450">
              <a:buFont typeface="Arial" pitchFamily="34" charset="0"/>
              <a:buChar char="•"/>
            </a:pPr>
            <a:r>
              <a:rPr lang="en-AU" sz="1200" kern="1200" dirty="0" smtClean="0">
                <a:solidFill>
                  <a:schemeClr val="tx1"/>
                </a:solidFill>
                <a:latin typeface="+mn-lt"/>
                <a:ea typeface="+mn-ea"/>
                <a:cs typeface="+mn-cs"/>
              </a:rPr>
              <a:t>Prepare equipment and items ready for the next activity/group – which may include:</a:t>
            </a:r>
          </a:p>
          <a:p>
            <a:pPr marL="628650" lvl="1" indent="-171450">
              <a:buFont typeface="Arial" pitchFamily="34" charset="0"/>
              <a:buChar char="•"/>
            </a:pPr>
            <a:r>
              <a:rPr lang="en-US" sz="1200" kern="1200" dirty="0" smtClean="0">
                <a:solidFill>
                  <a:schemeClr val="tx1"/>
                </a:solidFill>
                <a:latin typeface="+mn-lt"/>
                <a:ea typeface="+mn-ea"/>
                <a:cs typeface="+mn-cs"/>
              </a:rPr>
              <a:t>Inspection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Maintenance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Cleaning.</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188</a:t>
            </a:fld>
            <a:endParaRPr lang="en-US" dirty="0"/>
          </a:p>
        </p:txBody>
      </p:sp>
    </p:spTree>
    <p:extLst>
      <p:ext uri="{BB962C8B-B14F-4D97-AF65-F5344CB8AC3E}">
        <p14:creationId xmlns:p14="http://schemas.microsoft.com/office/powerpoint/2010/main" val="1819246222"/>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possible post-completion activities:</a:t>
            </a:r>
          </a:p>
          <a:p>
            <a:pPr marL="171450" indent="-171450">
              <a:buFont typeface="Arial" pitchFamily="34" charset="0"/>
              <a:buChar char="•"/>
            </a:pPr>
            <a:r>
              <a:rPr lang="en-AU" sz="1200" kern="1200" dirty="0" smtClean="0">
                <a:solidFill>
                  <a:schemeClr val="tx1"/>
                </a:solidFill>
                <a:latin typeface="+mn-lt"/>
                <a:ea typeface="+mn-ea"/>
                <a:cs typeface="+mn-cs"/>
              </a:rPr>
              <a:t>Remove damaged or malfunctioning equipment from service – and:</a:t>
            </a:r>
          </a:p>
          <a:p>
            <a:pPr marL="628650" lvl="1" indent="-171450">
              <a:buFont typeface="Arial" pitchFamily="34" charset="0"/>
              <a:buChar char="•"/>
            </a:pPr>
            <a:r>
              <a:rPr lang="en-US" sz="1200" kern="1200" dirty="0" smtClean="0">
                <a:solidFill>
                  <a:schemeClr val="tx1"/>
                </a:solidFill>
                <a:latin typeface="+mn-lt"/>
                <a:ea typeface="+mn-ea"/>
                <a:cs typeface="+mn-cs"/>
              </a:rPr>
              <a:t>Tag as ‘Out of Service’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Arrange for replacements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Complete necessary paperwork – which may relate to:</a:t>
            </a:r>
          </a:p>
          <a:p>
            <a:pPr marL="628650" lvl="1" indent="-171450">
              <a:buFont typeface="Arial" pitchFamily="34" charset="0"/>
              <a:buChar char="•"/>
            </a:pPr>
            <a:r>
              <a:rPr lang="en-US" sz="1200" kern="1200" dirty="0" smtClean="0">
                <a:solidFill>
                  <a:schemeClr val="tx1"/>
                </a:solidFill>
                <a:latin typeface="+mn-lt"/>
                <a:ea typeface="+mn-ea"/>
                <a:cs typeface="+mn-cs"/>
              </a:rPr>
              <a:t>Timing/direction of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Group/participant numbers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Staffing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Resources used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De-brief the group – to:</a:t>
            </a:r>
          </a:p>
          <a:p>
            <a:pPr marL="628650" lvl="1" indent="-171450">
              <a:buFont typeface="Arial" pitchFamily="34" charset="0"/>
              <a:buChar char="•"/>
            </a:pPr>
            <a:r>
              <a:rPr lang="en-US" sz="1200" kern="1200" dirty="0" smtClean="0">
                <a:solidFill>
                  <a:schemeClr val="tx1"/>
                </a:solidFill>
                <a:latin typeface="+mn-lt"/>
                <a:ea typeface="+mn-ea"/>
                <a:cs typeface="+mn-cs"/>
              </a:rPr>
              <a:t>Share experiences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Identify lessons learned by the customers as a result of their engagement with the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Gather feedback about the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Advise group of future arrangements – which may address:</a:t>
            </a:r>
          </a:p>
          <a:p>
            <a:pPr marL="628650" lvl="1" indent="-171450">
              <a:buFont typeface="Arial" pitchFamily="34" charset="0"/>
              <a:buChar char="•"/>
            </a:pPr>
            <a:r>
              <a:rPr lang="en-US" sz="1200" kern="1200" dirty="0" smtClean="0">
                <a:solidFill>
                  <a:schemeClr val="tx1"/>
                </a:solidFill>
                <a:latin typeface="+mn-lt"/>
                <a:ea typeface="+mn-ea"/>
                <a:cs typeface="+mn-cs"/>
              </a:rPr>
              <a:t>Timing, location and nature of next interpretive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Return travel</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Changes to the itinerary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Meals. </a:t>
            </a: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189</a:t>
            </a:fld>
            <a:endParaRPr lang="en-US" dirty="0"/>
          </a:p>
        </p:txBody>
      </p:sp>
    </p:spTree>
    <p:extLst>
      <p:ext uri="{BB962C8B-B14F-4D97-AF65-F5344CB8AC3E}">
        <p14:creationId xmlns:p14="http://schemas.microsoft.com/office/powerpoint/2010/main" val="1377192612"/>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190</a:t>
            </a:fld>
            <a:endParaRPr lang="en-US" dirty="0"/>
          </a:p>
        </p:txBody>
      </p:sp>
    </p:spTree>
    <p:extLst>
      <p:ext uri="{BB962C8B-B14F-4D97-AF65-F5344CB8AC3E}">
        <p14:creationId xmlns:p14="http://schemas.microsoft.com/office/powerpoint/2010/main" val="910361450"/>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191</a:t>
            </a:fld>
            <a:endParaRPr lang="en-US" dirty="0"/>
          </a:p>
        </p:txBody>
      </p:sp>
    </p:spTree>
    <p:extLst>
      <p:ext uri="{BB962C8B-B14F-4D97-AF65-F5344CB8AC3E}">
        <p14:creationId xmlns:p14="http://schemas.microsoft.com/office/powerpoint/2010/main" val="2364093678"/>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192</a:t>
            </a:fld>
            <a:endParaRPr lang="en-US" dirty="0"/>
          </a:p>
        </p:txBody>
      </p:sp>
    </p:spTree>
    <p:extLst>
      <p:ext uri="{BB962C8B-B14F-4D97-AF65-F5344CB8AC3E}">
        <p14:creationId xmlns:p14="http://schemas.microsoft.com/office/powerpoint/2010/main" val="937885908"/>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193</a:t>
            </a:fld>
            <a:endParaRPr lang="en-US" dirty="0"/>
          </a:p>
        </p:txBody>
      </p:sp>
    </p:spTree>
    <p:extLst>
      <p:ext uri="{BB962C8B-B14F-4D97-AF65-F5344CB8AC3E}">
        <p14:creationId xmlns:p14="http://schemas.microsoft.com/office/powerpoint/2010/main" val="1926932194"/>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evaluation?</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should it be concluded on interpretive activities?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would be involved?</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Who might be involved? </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194</a:t>
            </a:fld>
            <a:endParaRPr lang="en-US" dirty="0"/>
          </a:p>
        </p:txBody>
      </p:sp>
    </p:spTree>
    <p:extLst>
      <p:ext uri="{BB962C8B-B14F-4D97-AF65-F5344CB8AC3E}">
        <p14:creationId xmlns:p14="http://schemas.microsoft.com/office/powerpoint/2010/main" val="1339219033"/>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concept of Evaluations:</a:t>
            </a:r>
          </a:p>
          <a:p>
            <a:pPr marL="171450" indent="-171450">
              <a:buFont typeface="Arial" pitchFamily="34" charset="0"/>
              <a:buChar char="•"/>
            </a:pPr>
            <a:r>
              <a:rPr lang="en-AU" sz="1200" kern="1200" dirty="0" smtClean="0">
                <a:solidFill>
                  <a:schemeClr val="tx1"/>
                </a:solidFill>
                <a:latin typeface="+mn-lt"/>
                <a:ea typeface="+mn-ea"/>
                <a:cs typeface="+mn-cs"/>
              </a:rPr>
              <a:t>‘Evaluations’ are reviews of what has taken place</a:t>
            </a:r>
          </a:p>
          <a:p>
            <a:pPr marL="171450" indent="-171450">
              <a:buFont typeface="Arial" pitchFamily="34" charset="0"/>
              <a:buChar char="•"/>
            </a:pPr>
            <a:r>
              <a:rPr lang="en-AU" sz="1200" kern="1200" dirty="0" smtClean="0">
                <a:solidFill>
                  <a:schemeClr val="tx1"/>
                </a:solidFill>
                <a:latin typeface="+mn-lt"/>
                <a:ea typeface="+mn-ea"/>
                <a:cs typeface="+mn-cs"/>
              </a:rPr>
              <a:t>They rely on research and evidence gathered as a result of the research</a:t>
            </a:r>
          </a:p>
          <a:p>
            <a:pPr marL="171450" indent="-171450">
              <a:buFont typeface="Arial" pitchFamily="34" charset="0"/>
              <a:buChar char="•"/>
            </a:pPr>
            <a:r>
              <a:rPr lang="en-AU" sz="1200" kern="1200" dirty="0" smtClean="0">
                <a:solidFill>
                  <a:schemeClr val="tx1"/>
                </a:solidFill>
                <a:latin typeface="+mn-lt"/>
                <a:ea typeface="+mn-ea"/>
                <a:cs typeface="+mn-cs"/>
              </a:rPr>
              <a:t>Current thinking/management ‘Best Practice’ in this regard is to seek ‘360˚ feedback’ – which means seeking feedback from everywhere/all stakeholders (all points of the compass), as opposed to only gathering information from a single source or a limited set of sources.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195</a:t>
            </a:fld>
            <a:endParaRPr lang="en-US" dirty="0"/>
          </a:p>
        </p:txBody>
      </p:sp>
    </p:spTree>
    <p:extLst>
      <p:ext uri="{BB962C8B-B14F-4D97-AF65-F5344CB8AC3E}">
        <p14:creationId xmlns:p14="http://schemas.microsoft.com/office/powerpoint/2010/main" val="2011413033"/>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offers </a:t>
            </a:r>
            <a:r>
              <a:rPr lang="en-AU" sz="1200" kern="1200" dirty="0" smtClean="0">
                <a:solidFill>
                  <a:schemeClr val="tx1"/>
                </a:solidFill>
                <a:latin typeface="+mn-lt"/>
                <a:ea typeface="+mn-ea"/>
                <a:cs typeface="+mn-cs"/>
              </a:rPr>
              <a:t>Interpretive activities need to be evaluated to:</a:t>
            </a:r>
          </a:p>
          <a:p>
            <a:pPr marL="171450" indent="-171450">
              <a:buFont typeface="Arial" pitchFamily="34" charset="0"/>
              <a:buChar char="•"/>
            </a:pPr>
            <a:r>
              <a:rPr lang="en-AU" sz="1200" kern="1200" dirty="0" smtClean="0">
                <a:solidFill>
                  <a:schemeClr val="tx1"/>
                </a:solidFill>
                <a:latin typeface="+mn-lt"/>
                <a:ea typeface="+mn-ea"/>
                <a:cs typeface="+mn-cs"/>
              </a:rPr>
              <a:t>Determine if the activities are effective – that is, if they are achieving their desired outcomes</a:t>
            </a:r>
          </a:p>
          <a:p>
            <a:pPr marL="171450" indent="-171450">
              <a:buFont typeface="Arial" pitchFamily="34" charset="0"/>
              <a:buChar char="•"/>
            </a:pPr>
            <a:r>
              <a:rPr lang="en-AU" sz="1200" kern="1200" dirty="0" smtClean="0">
                <a:solidFill>
                  <a:schemeClr val="tx1"/>
                </a:solidFill>
                <a:latin typeface="+mn-lt"/>
                <a:ea typeface="+mn-ea"/>
                <a:cs typeface="+mn-cs"/>
              </a:rPr>
              <a:t>Assess whether or not the activities remain relevant – to the tour, to other stakeholders and tour objectives</a:t>
            </a:r>
          </a:p>
          <a:p>
            <a:pPr marL="171450" indent="-171450">
              <a:buFont typeface="Arial" pitchFamily="34" charset="0"/>
              <a:buChar char="•"/>
            </a:pPr>
            <a:r>
              <a:rPr lang="en-AU" sz="1200" kern="1200" dirty="0" smtClean="0">
                <a:solidFill>
                  <a:schemeClr val="tx1"/>
                </a:solidFill>
                <a:latin typeface="+mn-lt"/>
                <a:ea typeface="+mn-ea"/>
                <a:cs typeface="+mn-cs"/>
              </a:rPr>
              <a:t>Identify satisfaction levels of tour group members – who have experienced/engaged with the activities</a:t>
            </a:r>
          </a:p>
          <a:p>
            <a:pPr marL="171450" indent="-171450">
              <a:buFont typeface="Arial" pitchFamily="34" charset="0"/>
              <a:buChar char="•"/>
            </a:pPr>
            <a:r>
              <a:rPr lang="en-AU" sz="1200" kern="1200" dirty="0" smtClean="0">
                <a:solidFill>
                  <a:schemeClr val="tx1"/>
                </a:solidFill>
                <a:latin typeface="+mn-lt"/>
                <a:ea typeface="+mn-ea"/>
                <a:cs typeface="+mn-cs"/>
              </a:rPr>
              <a:t>Work out the extent to which the activities ‘as delivered’ in reality match:</a:t>
            </a:r>
          </a:p>
          <a:p>
            <a:pPr marL="628650" lvl="1" indent="-171450">
              <a:buFont typeface="Arial" pitchFamily="34" charset="0"/>
              <a:buChar char="•"/>
            </a:pPr>
            <a:r>
              <a:rPr lang="en-US" sz="1200" kern="1200" dirty="0" smtClean="0">
                <a:solidFill>
                  <a:schemeClr val="tx1"/>
                </a:solidFill>
                <a:latin typeface="+mn-lt"/>
                <a:ea typeface="+mn-ea"/>
                <a:cs typeface="+mn-cs"/>
              </a:rPr>
              <a:t>Advertisements and claims made about the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Expectations tour group members have about the activities.</a:t>
            </a:r>
            <a:endParaRPr lang="en-AU"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196</a:t>
            </a:fld>
            <a:endParaRPr lang="en-US" dirty="0"/>
          </a:p>
        </p:txBody>
      </p:sp>
    </p:spTree>
    <p:extLst>
      <p:ext uri="{BB962C8B-B14F-4D97-AF65-F5344CB8AC3E}">
        <p14:creationId xmlns:p14="http://schemas.microsoft.com/office/powerpoint/2010/main" val="2145974280"/>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reasons to evaluate activities:</a:t>
            </a:r>
          </a:p>
          <a:p>
            <a:pPr marL="171450" indent="-171450">
              <a:buFont typeface="Arial" pitchFamily="34" charset="0"/>
              <a:buChar char="•"/>
            </a:pPr>
            <a:r>
              <a:rPr lang="en-AU" sz="1200" kern="1200" dirty="0" smtClean="0">
                <a:solidFill>
                  <a:schemeClr val="tx1"/>
                </a:solidFill>
                <a:latin typeface="+mn-lt"/>
                <a:ea typeface="+mn-ea"/>
                <a:cs typeface="+mn-cs"/>
              </a:rPr>
              <a:t>Calculate the cost of conducting the activities – to compare this against projections for cost</a:t>
            </a:r>
          </a:p>
          <a:p>
            <a:pPr marL="171450" indent="-171450">
              <a:buFont typeface="Arial" pitchFamily="34" charset="0"/>
              <a:buChar char="•"/>
            </a:pPr>
            <a:r>
              <a:rPr lang="en-AU" sz="1200" kern="1200" dirty="0" smtClean="0">
                <a:solidFill>
                  <a:schemeClr val="tx1"/>
                </a:solidFill>
                <a:latin typeface="+mn-lt"/>
                <a:ea typeface="+mn-ea"/>
                <a:cs typeface="+mn-cs"/>
              </a:rPr>
              <a:t>Meet quality assurance obligations – as imposed under various QA schemes the Tour Operator might subscribe to/use</a:t>
            </a:r>
          </a:p>
          <a:p>
            <a:pPr marL="171450" indent="-171450">
              <a:buFont typeface="Arial" pitchFamily="34" charset="0"/>
              <a:buChar char="•"/>
            </a:pPr>
            <a:r>
              <a:rPr lang="en-AU" sz="1200" kern="1200" dirty="0" smtClean="0">
                <a:solidFill>
                  <a:schemeClr val="tx1"/>
                </a:solidFill>
                <a:latin typeface="+mn-lt"/>
                <a:ea typeface="+mn-ea"/>
                <a:cs typeface="+mn-cs"/>
              </a:rPr>
              <a:t>Provide current and actual data to management – to help with decision-making regarding the operation of tours and inclusion of activities</a:t>
            </a:r>
          </a:p>
          <a:p>
            <a:pPr marL="171450" indent="-171450">
              <a:buFont typeface="Arial" pitchFamily="34" charset="0"/>
              <a:buChar char="•"/>
            </a:pPr>
            <a:r>
              <a:rPr lang="en-AU" sz="1200" kern="1200" dirty="0" smtClean="0">
                <a:solidFill>
                  <a:schemeClr val="tx1"/>
                </a:solidFill>
                <a:latin typeface="+mn-lt"/>
                <a:ea typeface="+mn-ea"/>
                <a:cs typeface="+mn-cs"/>
              </a:rPr>
              <a:t>Confirm all management protocols remain valid and effective – in terms of (for example) controls, supervision, staffing, safety, ethical operations.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197</a:t>
            </a:fld>
            <a:endParaRPr lang="en-US" dirty="0"/>
          </a:p>
        </p:txBody>
      </p:sp>
    </p:spTree>
    <p:extLst>
      <p:ext uri="{BB962C8B-B14F-4D97-AF65-F5344CB8AC3E}">
        <p14:creationId xmlns:p14="http://schemas.microsoft.com/office/powerpoint/2010/main" val="1408249297"/>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two basic</a:t>
            </a:r>
            <a:r>
              <a:rPr lang="en-AU" baseline="0" noProof="0" dirty="0" smtClean="0"/>
              <a:t> options for evaluations exist:</a:t>
            </a:r>
          </a:p>
          <a:p>
            <a:r>
              <a:rPr lang="en-AU" sz="1200" b="1" kern="1200" dirty="0" smtClean="0">
                <a:solidFill>
                  <a:schemeClr val="tx1"/>
                </a:solidFill>
                <a:latin typeface="+mn-lt"/>
                <a:ea typeface="+mn-ea"/>
                <a:cs typeface="+mn-cs"/>
              </a:rPr>
              <a:t>Option 1 </a:t>
            </a:r>
          </a:p>
          <a:p>
            <a:pPr marL="171450" indent="-171450">
              <a:buFont typeface="Arial" pitchFamily="34" charset="0"/>
              <a:buChar char="•"/>
            </a:pPr>
            <a:r>
              <a:rPr lang="en-AU" sz="1200" kern="1200" dirty="0" smtClean="0">
                <a:solidFill>
                  <a:schemeClr val="tx1"/>
                </a:solidFill>
                <a:latin typeface="+mn-lt"/>
                <a:ea typeface="+mn-ea"/>
                <a:cs typeface="+mn-cs"/>
              </a:rPr>
              <a:t>All activities are evaluated every (say) 12 months</a:t>
            </a:r>
          </a:p>
          <a:p>
            <a:pPr marL="171450" indent="-171450">
              <a:buFont typeface="Arial" pitchFamily="34" charset="0"/>
              <a:buChar char="•"/>
            </a:pPr>
            <a:r>
              <a:rPr lang="en-AU" sz="1200" kern="1200" dirty="0" smtClean="0">
                <a:solidFill>
                  <a:schemeClr val="tx1"/>
                </a:solidFill>
                <a:latin typeface="+mn-lt"/>
                <a:ea typeface="+mn-ea"/>
                <a:cs typeface="+mn-cs"/>
              </a:rPr>
              <a:t>This is the best/most effective evaluation option but is time consuming, costs more and (some argue) moves the focus away from delivery to less relevant matters.</a:t>
            </a:r>
          </a:p>
          <a:p>
            <a:r>
              <a:rPr lang="en-AU" sz="1200" b="1" kern="1200" dirty="0" smtClean="0">
                <a:solidFill>
                  <a:schemeClr val="tx1"/>
                </a:solidFill>
                <a:latin typeface="+mn-lt"/>
                <a:ea typeface="+mn-ea"/>
                <a:cs typeface="+mn-cs"/>
              </a:rPr>
              <a:t>Option 2 </a:t>
            </a:r>
          </a:p>
          <a:p>
            <a:pPr marL="171450" indent="-171450">
              <a:buFont typeface="Arial" pitchFamily="34" charset="0"/>
              <a:buChar char="•"/>
            </a:pPr>
            <a:r>
              <a:rPr lang="en-AU" sz="1200" kern="1200" dirty="0" smtClean="0">
                <a:solidFill>
                  <a:schemeClr val="tx1"/>
                </a:solidFill>
                <a:latin typeface="+mn-lt"/>
                <a:ea typeface="+mn-ea"/>
                <a:cs typeface="+mn-cs"/>
              </a:rPr>
              <a:t>Certain/nominated activities are evaluated on a regular basis (say every 3 months) and at the end of a lengthier period (say 2 years) all activities will have been evaluated</a:t>
            </a:r>
          </a:p>
          <a:p>
            <a:pPr marL="171450" indent="-171450">
              <a:buFont typeface="Arial" pitchFamily="34" charset="0"/>
              <a:buChar char="•"/>
            </a:pPr>
            <a:r>
              <a:rPr lang="en-AU" sz="1200" kern="1200" dirty="0" smtClean="0">
                <a:solidFill>
                  <a:schemeClr val="tx1"/>
                </a:solidFill>
                <a:latin typeface="+mn-lt"/>
                <a:ea typeface="+mn-ea"/>
                <a:cs typeface="+mn-cs"/>
              </a:rPr>
              <a:t>This spreads the workload out over a longer period yet may still provide feedback and information needed to make operational decisions.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Tour Guide to attend and:</a:t>
            </a:r>
          </a:p>
          <a:p>
            <a:pPr marL="171450" indent="-171450">
              <a:buFont typeface="Arial" pitchFamily="34" charset="0"/>
              <a:buChar char="•"/>
            </a:pPr>
            <a:r>
              <a:rPr lang="en-AU" b="0" noProof="0" dirty="0" smtClean="0"/>
              <a:t>Discuss their role in evaluations</a:t>
            </a:r>
          </a:p>
          <a:p>
            <a:pPr marL="171450" indent="-171450">
              <a:buFont typeface="Arial" pitchFamily="34" charset="0"/>
              <a:buChar char="•"/>
            </a:pPr>
            <a:r>
              <a:rPr lang="en-AU" b="0" noProof="0" dirty="0" smtClean="0"/>
              <a:t>Identify techniques and practices used</a:t>
            </a:r>
          </a:p>
          <a:p>
            <a:pPr marL="171450" indent="-171450">
              <a:buFont typeface="Arial" pitchFamily="34" charset="0"/>
              <a:buChar char="•"/>
            </a:pPr>
            <a:r>
              <a:rPr lang="en-AU" b="0" noProof="0" dirty="0" smtClean="0"/>
              <a:t>Explaining timing</a:t>
            </a:r>
          </a:p>
          <a:p>
            <a:pPr marL="171450" indent="-171450">
              <a:buFont typeface="Arial" pitchFamily="34" charset="0"/>
              <a:buChar char="•"/>
            </a:pPr>
            <a:r>
              <a:rPr lang="en-AU" b="0" noProof="0" dirty="0" smtClean="0"/>
              <a:t>Describe those involved</a:t>
            </a:r>
          </a:p>
          <a:p>
            <a:pPr marL="171450" indent="-171450">
              <a:buFont typeface="Arial" pitchFamily="34" charset="0"/>
              <a:buChar char="•"/>
            </a:pPr>
            <a:r>
              <a:rPr lang="en-AU" b="0" noProof="0" dirty="0" smtClean="0"/>
              <a:t>Give examples of outcomes/findings and action taken as a result</a:t>
            </a:r>
            <a:r>
              <a:rPr lang="en-AU" b="0" noProof="0" dirty="0"/>
              <a:t>.</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198</a:t>
            </a:fld>
            <a:endParaRPr lang="en-US" dirty="0"/>
          </a:p>
        </p:txBody>
      </p:sp>
    </p:spTree>
    <p:extLst>
      <p:ext uri="{BB962C8B-B14F-4D97-AF65-F5344CB8AC3E}">
        <p14:creationId xmlns:p14="http://schemas.microsoft.com/office/powerpoint/2010/main" val="2270200596"/>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discusses ‘scheduled system observing the </a:t>
            </a:r>
            <a:r>
              <a:rPr lang="en-AU" sz="1200" kern="1200" dirty="0" smtClean="0">
                <a:solidFill>
                  <a:schemeClr val="tx1"/>
                </a:solidFill>
                <a:latin typeface="+mn-lt"/>
                <a:ea typeface="+mn-ea"/>
                <a:cs typeface="+mn-cs"/>
              </a:rPr>
              <a:t>keys in such a system are:</a:t>
            </a:r>
          </a:p>
          <a:p>
            <a:pPr marL="171450" indent="-171450">
              <a:buFont typeface="Arial" pitchFamily="34" charset="0"/>
              <a:buChar char="•"/>
            </a:pPr>
            <a:r>
              <a:rPr lang="en-AU" sz="1200" kern="1200" dirty="0" smtClean="0">
                <a:solidFill>
                  <a:schemeClr val="tx1"/>
                </a:solidFill>
                <a:latin typeface="+mn-lt"/>
                <a:ea typeface="+mn-ea"/>
                <a:cs typeface="+mn-cs"/>
              </a:rPr>
              <a:t>The evaluation must be planned and prepared for</a:t>
            </a:r>
          </a:p>
          <a:p>
            <a:pPr marL="628650" lvl="1" indent="-171450">
              <a:buFont typeface="Arial" pitchFamily="34" charset="0"/>
              <a:buChar char="•"/>
            </a:pPr>
            <a:r>
              <a:rPr lang="en-AU" sz="1200" kern="1200" dirty="0" smtClean="0">
                <a:solidFill>
                  <a:schemeClr val="tx1"/>
                </a:solidFill>
                <a:latin typeface="+mn-lt"/>
                <a:ea typeface="+mn-ea"/>
                <a:cs typeface="+mn-cs"/>
              </a:rPr>
              <a:t>This means the evaluation cannot be left to chance or undertaken on an </a:t>
            </a:r>
            <a:r>
              <a:rPr lang="en-AU" sz="1200" i="1" kern="1200" dirty="0" smtClean="0">
                <a:solidFill>
                  <a:schemeClr val="tx1"/>
                </a:solidFill>
                <a:latin typeface="+mn-lt"/>
                <a:ea typeface="+mn-ea"/>
                <a:cs typeface="+mn-cs"/>
              </a:rPr>
              <a:t>ad hoc</a:t>
            </a:r>
            <a:r>
              <a:rPr lang="en-AU" sz="1200" kern="1200" dirty="0" smtClean="0">
                <a:solidFill>
                  <a:schemeClr val="tx1"/>
                </a:solidFill>
                <a:latin typeface="+mn-lt"/>
                <a:ea typeface="+mn-ea"/>
                <a:cs typeface="+mn-cs"/>
              </a:rPr>
              <a:t> or random basis</a:t>
            </a:r>
          </a:p>
          <a:p>
            <a:pPr marL="171450" indent="-171450">
              <a:buFont typeface="Arial" pitchFamily="34" charset="0"/>
              <a:buChar char="•"/>
            </a:pPr>
            <a:r>
              <a:rPr lang="en-AU" sz="1200" kern="1200" dirty="0" smtClean="0">
                <a:solidFill>
                  <a:schemeClr val="tx1"/>
                </a:solidFill>
                <a:latin typeface="+mn-lt"/>
                <a:ea typeface="+mn-ea"/>
                <a:cs typeface="+mn-cs"/>
              </a:rPr>
              <a:t>A formal written plan/schedule needs to be produced – as opposed to generating a mental idea of action</a:t>
            </a:r>
          </a:p>
          <a:p>
            <a:pPr marL="628650" lvl="1" indent="-171450">
              <a:buFont typeface="Arial" pitchFamily="34" charset="0"/>
              <a:buChar char="•"/>
            </a:pPr>
            <a:r>
              <a:rPr lang="en-AU" sz="1200" kern="1200" dirty="0" smtClean="0">
                <a:solidFill>
                  <a:schemeClr val="tx1"/>
                </a:solidFill>
                <a:latin typeface="+mn-lt"/>
                <a:ea typeface="+mn-ea"/>
                <a:cs typeface="+mn-cs"/>
              </a:rPr>
              <a:t>A written plan allows information to be shared and supports common understanding</a:t>
            </a:r>
          </a:p>
          <a:p>
            <a:pPr marL="171450" indent="-171450">
              <a:buFont typeface="Arial" pitchFamily="34" charset="0"/>
              <a:buChar char="•"/>
            </a:pPr>
            <a:r>
              <a:rPr lang="en-AU" sz="1200" kern="1200" dirty="0" smtClean="0">
                <a:solidFill>
                  <a:schemeClr val="tx1"/>
                </a:solidFill>
                <a:latin typeface="+mn-lt"/>
                <a:ea typeface="+mn-ea"/>
                <a:cs typeface="+mn-cs"/>
              </a:rPr>
              <a:t>Decisions need to be made about:</a:t>
            </a:r>
          </a:p>
          <a:p>
            <a:pPr marL="628650" lvl="1" indent="-171450">
              <a:buFont typeface="Arial" pitchFamily="34" charset="0"/>
              <a:buChar char="•"/>
            </a:pPr>
            <a:r>
              <a:rPr lang="en-US" sz="1200" kern="1200" dirty="0" smtClean="0">
                <a:solidFill>
                  <a:schemeClr val="tx1"/>
                </a:solidFill>
                <a:latin typeface="+mn-lt"/>
                <a:ea typeface="+mn-ea"/>
                <a:cs typeface="+mn-cs"/>
              </a:rPr>
              <a:t>The interpretive activities to be evaluated – by name/title and tour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When to evaluate – dates times such as ‘end of season’, ‘end of February’ or ‘every 6 months’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Who will conduct/be part of the evaluation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What aspects of activities to evaluate – such as:</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Cost; Duration; Learning achieved by participants; Timing; Satisfaction levels; Impact on the environment; Safety; Stages/milestones for each evaluation for each activity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Those involved in conducting the evaluation need to be trained in and informed about the evaluation – so data generated as a result of the evaluation process is:</a:t>
            </a:r>
          </a:p>
          <a:p>
            <a:pPr marL="628650" lvl="1" indent="-171450">
              <a:buFont typeface="Arial" pitchFamily="34" charset="0"/>
              <a:buChar char="•"/>
            </a:pPr>
            <a:r>
              <a:rPr lang="en-AU" sz="1200" kern="1200" dirty="0" smtClean="0">
                <a:solidFill>
                  <a:schemeClr val="tx1"/>
                </a:solidFill>
                <a:latin typeface="+mn-lt"/>
                <a:ea typeface="+mn-ea"/>
                <a:cs typeface="+mn-cs"/>
              </a:rPr>
              <a:t>Objective – this means there is no bias or subjective input from Tour Guides about the activities</a:t>
            </a:r>
          </a:p>
          <a:p>
            <a:pPr marL="628650" lvl="1" indent="-171450">
              <a:buFont typeface="Arial" pitchFamily="34" charset="0"/>
              <a:buChar char="•"/>
            </a:pPr>
            <a:r>
              <a:rPr lang="en-AU" sz="1200" kern="1200" dirty="0" smtClean="0">
                <a:solidFill>
                  <a:schemeClr val="tx1"/>
                </a:solidFill>
                <a:latin typeface="+mn-lt"/>
                <a:ea typeface="+mn-ea"/>
                <a:cs typeface="+mn-cs"/>
              </a:rPr>
              <a:t>Sufficient – there must be ‘enough’ information gathered to enable reliable decisions to be made</a:t>
            </a:r>
          </a:p>
          <a:p>
            <a:pPr marL="628650" lvl="1" indent="-171450">
              <a:buFont typeface="Arial" pitchFamily="34" charset="0"/>
              <a:buChar char="•"/>
            </a:pPr>
            <a:r>
              <a:rPr lang="en-AU" sz="1200" kern="1200" dirty="0" smtClean="0">
                <a:solidFill>
                  <a:schemeClr val="tx1"/>
                </a:solidFill>
                <a:latin typeface="+mn-lt"/>
                <a:ea typeface="+mn-ea"/>
                <a:cs typeface="+mn-cs"/>
              </a:rPr>
              <a:t>Valid – the information gathered as part of the evaluation process must:</a:t>
            </a:r>
          </a:p>
          <a:p>
            <a:pPr marL="1085850" lvl="2" indent="-171450">
              <a:buFont typeface="Arial" pitchFamily="34" charset="0"/>
              <a:buChar char="•"/>
            </a:pPr>
            <a:r>
              <a:rPr lang="en-US" sz="1200" kern="1200" dirty="0" smtClean="0">
                <a:solidFill>
                  <a:schemeClr val="tx1"/>
                </a:solidFill>
                <a:latin typeface="+mn-lt"/>
                <a:ea typeface="+mn-ea"/>
                <a:cs typeface="+mn-cs"/>
              </a:rPr>
              <a:t>Come from those who are legitimately entitled to make input</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Relate specifically to the focus of the evaluation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Standardised – in terms of methodology of data generation and gathering so it is reliable and (if needed) can be replicated.</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199</a:t>
            </a:fld>
            <a:endParaRPr lang="en-US" dirty="0"/>
          </a:p>
        </p:txBody>
      </p:sp>
    </p:spTree>
    <p:extLst>
      <p:ext uri="{BB962C8B-B14F-4D97-AF65-F5344CB8AC3E}">
        <p14:creationId xmlns:p14="http://schemas.microsoft.com/office/powerpoint/2010/main" val="1592717779"/>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lists additional activities in establishing the scheduled evaluation system:</a:t>
            </a:r>
          </a:p>
          <a:p>
            <a:pPr marL="171450" indent="-171450">
              <a:buFont typeface="Arial" pitchFamily="34" charset="0"/>
              <a:buChar char="•"/>
            </a:pPr>
            <a:r>
              <a:rPr lang="en-AU" sz="1200" kern="1200" dirty="0" smtClean="0">
                <a:solidFill>
                  <a:schemeClr val="tx1"/>
                </a:solidFill>
                <a:latin typeface="+mn-lt"/>
                <a:ea typeface="+mn-ea"/>
                <a:cs typeface="+mn-cs"/>
              </a:rPr>
              <a:t>Identifying personnel to be involved in the process with common participants being:</a:t>
            </a:r>
          </a:p>
          <a:p>
            <a:pPr marL="628650" lvl="1" indent="-171450">
              <a:buFont typeface="Arial" pitchFamily="34" charset="0"/>
              <a:buChar char="•"/>
            </a:pPr>
            <a:r>
              <a:rPr lang="en-AU" sz="1200" kern="1200" dirty="0" smtClean="0">
                <a:solidFill>
                  <a:schemeClr val="tx1"/>
                </a:solidFill>
                <a:latin typeface="+mn-lt"/>
                <a:ea typeface="+mn-ea"/>
                <a:cs typeface="+mn-cs"/>
              </a:rPr>
              <a:t>Tour Operator staff/colleagues Members of local communities in which activities are presented</a:t>
            </a:r>
          </a:p>
          <a:p>
            <a:pPr marL="628650" lvl="1" indent="-171450">
              <a:buFont typeface="Arial" pitchFamily="34" charset="0"/>
              <a:buChar char="•"/>
            </a:pPr>
            <a:r>
              <a:rPr lang="en-AU" sz="1200" kern="1200" dirty="0" smtClean="0">
                <a:solidFill>
                  <a:schemeClr val="tx1"/>
                </a:solidFill>
                <a:latin typeface="+mn-lt"/>
                <a:ea typeface="+mn-ea"/>
                <a:cs typeface="+mn-cs"/>
              </a:rPr>
              <a:t>Any external communities/stakeholders who should/need to be involved</a:t>
            </a:r>
          </a:p>
          <a:p>
            <a:pPr marL="628650" lvl="1" indent="-171450">
              <a:buFont typeface="Arial" pitchFamily="34" charset="0"/>
              <a:buChar char="•"/>
            </a:pPr>
            <a:r>
              <a:rPr lang="en-AU" sz="1200" kern="1200" dirty="0" smtClean="0">
                <a:solidFill>
                  <a:schemeClr val="tx1"/>
                </a:solidFill>
                <a:latin typeface="+mn-lt"/>
                <a:ea typeface="+mn-ea"/>
                <a:cs typeface="+mn-cs"/>
              </a:rPr>
              <a:t>Tour group participants who engage with the activities</a:t>
            </a:r>
          </a:p>
          <a:p>
            <a:pPr marL="171450" indent="-171450">
              <a:buFont typeface="Arial" pitchFamily="34" charset="0"/>
              <a:buChar char="•"/>
            </a:pPr>
            <a:r>
              <a:rPr lang="en-AU" sz="1200" kern="1200" dirty="0" smtClean="0">
                <a:solidFill>
                  <a:schemeClr val="tx1"/>
                </a:solidFill>
                <a:latin typeface="+mn-lt"/>
                <a:ea typeface="+mn-ea"/>
                <a:cs typeface="+mn-cs"/>
              </a:rPr>
              <a:t>Allocating specific responsibilities in relation to the evaluation</a:t>
            </a:r>
          </a:p>
          <a:p>
            <a:pPr marL="171450" indent="-171450">
              <a:buFont typeface="Arial" pitchFamily="34" charset="0"/>
              <a:buChar char="•"/>
            </a:pPr>
            <a:r>
              <a:rPr lang="en-AU" sz="1200" kern="1200" dirty="0" smtClean="0">
                <a:solidFill>
                  <a:schemeClr val="tx1"/>
                </a:solidFill>
                <a:latin typeface="+mn-lt"/>
                <a:ea typeface="+mn-ea"/>
                <a:cs typeface="+mn-cs"/>
              </a:rPr>
              <a:t>Setting dates for formal evaluations – regardless of whether Option 1 or Option 2 is used there is always a need to set dates for evaluations</a:t>
            </a:r>
          </a:p>
          <a:p>
            <a:pPr marL="628650" lvl="1" indent="-171450">
              <a:buFont typeface="Arial" pitchFamily="34" charset="0"/>
              <a:buChar char="•"/>
            </a:pPr>
            <a:r>
              <a:rPr lang="en-AU" sz="1200" kern="1200" dirty="0" smtClean="0">
                <a:solidFill>
                  <a:schemeClr val="tx1"/>
                </a:solidFill>
                <a:latin typeface="+mn-lt"/>
                <a:ea typeface="+mn-ea"/>
                <a:cs typeface="+mn-cs"/>
              </a:rPr>
              <a:t>The performance criteria which apply (also known as KPIs) also need to be developed at this point</a:t>
            </a:r>
          </a:p>
          <a:p>
            <a:pPr marL="628650" lvl="1" indent="-171450">
              <a:buFont typeface="Arial" pitchFamily="34" charset="0"/>
              <a:buChar char="•"/>
            </a:pPr>
            <a:r>
              <a:rPr lang="en-AU" sz="1200" kern="1200" dirty="0" smtClean="0">
                <a:solidFill>
                  <a:schemeClr val="tx1"/>
                </a:solidFill>
                <a:latin typeface="+mn-lt"/>
                <a:ea typeface="+mn-ea"/>
                <a:cs typeface="+mn-cs"/>
              </a:rPr>
              <a:t>In addition, milestones dates need to be set for individual activity – in terms of:</a:t>
            </a:r>
          </a:p>
          <a:p>
            <a:pPr marL="1085850" lvl="2" indent="-171450">
              <a:buFont typeface="Arial" pitchFamily="34" charset="0"/>
              <a:buChar char="•"/>
            </a:pPr>
            <a:r>
              <a:rPr lang="en-US" sz="1200" kern="1200" dirty="0" smtClean="0">
                <a:solidFill>
                  <a:schemeClr val="tx1"/>
                </a:solidFill>
                <a:latin typeface="+mn-lt"/>
                <a:ea typeface="+mn-ea"/>
                <a:cs typeface="+mn-cs"/>
              </a:rPr>
              <a:t>Dates when data gathering must start for an activity – and the date by which it must be completed</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Dates when data analysis must start and finish</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Dates when final results, findings and outcomes are generated</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Dates when decisions are made about the need (or not) for revisions to existing interpretive activities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Creating documentation to support the evaluations – this can include a need to prepare:</a:t>
            </a:r>
          </a:p>
          <a:p>
            <a:pPr marL="628650" lvl="1" indent="-171450">
              <a:buFont typeface="Arial" pitchFamily="34" charset="0"/>
              <a:buChar char="•"/>
            </a:pPr>
            <a:r>
              <a:rPr lang="en-US" sz="1200" kern="1200" dirty="0" smtClean="0">
                <a:solidFill>
                  <a:schemeClr val="tx1"/>
                </a:solidFill>
                <a:latin typeface="+mn-lt"/>
                <a:ea typeface="+mn-ea"/>
                <a:cs typeface="+mn-cs"/>
              </a:rPr>
              <a:t>Training material for staff</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General information sheets – for distribution to stakeholders about the evaluation, the process, its objectives and other relevant information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Feedback sheets for distribution to group tour members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Questionnaires – for use in interview sessions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Reports for staff/Tour Guides to complete.</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200</a:t>
            </a:fld>
            <a:endParaRPr lang="en-US" dirty="0"/>
          </a:p>
        </p:txBody>
      </p:sp>
    </p:spTree>
    <p:extLst>
      <p:ext uri="{BB962C8B-B14F-4D97-AF65-F5344CB8AC3E}">
        <p14:creationId xmlns:p14="http://schemas.microsoft.com/office/powerpoint/2010/main" val="2497497572"/>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list additional activities in establishing the scheduled evaluation system:</a:t>
            </a:r>
          </a:p>
          <a:p>
            <a:pPr marL="171450" indent="-171450">
              <a:buFont typeface="Arial" pitchFamily="34" charset="0"/>
              <a:buChar char="•"/>
            </a:pPr>
            <a:r>
              <a:rPr lang="en-AU" sz="1200" kern="1200" dirty="0" smtClean="0">
                <a:solidFill>
                  <a:schemeClr val="tx1"/>
                </a:solidFill>
                <a:latin typeface="+mn-lt"/>
                <a:ea typeface="+mn-ea"/>
                <a:cs typeface="+mn-cs"/>
              </a:rPr>
              <a:t>Establishing internal facilities to support the evaluation – such as:</a:t>
            </a:r>
          </a:p>
          <a:p>
            <a:pPr marL="628650" lvl="1" indent="-171450">
              <a:buFont typeface="Arial" pitchFamily="34" charset="0"/>
              <a:buChar char="•"/>
            </a:pPr>
            <a:r>
              <a:rPr lang="en-US" sz="1200" kern="1200" dirty="0" smtClean="0">
                <a:solidFill>
                  <a:schemeClr val="tx1"/>
                </a:solidFill>
                <a:latin typeface="+mn-lt"/>
                <a:ea typeface="+mn-ea"/>
                <a:cs typeface="+mn-cs"/>
              </a:rPr>
              <a:t>Databases for recording information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Infrastructure to enable telephone, mail, fax or e-mail comments/input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Establishing a complaint handling process – for handling complaints about the interpretive activity</a:t>
            </a:r>
          </a:p>
          <a:p>
            <a:pPr marL="171450" indent="-171450">
              <a:buFont typeface="Arial" pitchFamily="34" charset="0"/>
              <a:buChar char="•"/>
            </a:pPr>
            <a:r>
              <a:rPr lang="en-AU" sz="1200" kern="1200" dirty="0" smtClean="0">
                <a:solidFill>
                  <a:schemeClr val="tx1"/>
                </a:solidFill>
                <a:latin typeface="+mn-lt"/>
                <a:ea typeface="+mn-ea"/>
                <a:cs typeface="+mn-cs"/>
              </a:rPr>
              <a:t>Integrating the evaluation activities – with other operational imperatives of the business so service delivery is not compromised/adversely impacted</a:t>
            </a:r>
          </a:p>
          <a:p>
            <a:pPr marL="171450" indent="-171450">
              <a:buFont typeface="Arial" pitchFamily="34" charset="0"/>
              <a:buChar char="•"/>
            </a:pPr>
            <a:r>
              <a:rPr lang="en-AU" sz="1200" kern="1200" dirty="0" smtClean="0">
                <a:solidFill>
                  <a:schemeClr val="tx1"/>
                </a:solidFill>
                <a:latin typeface="+mn-lt"/>
                <a:ea typeface="+mn-ea"/>
                <a:cs typeface="+mn-cs"/>
              </a:rPr>
              <a:t>Allocating required resources to enable the evaluation to occur – in terms of:</a:t>
            </a:r>
          </a:p>
          <a:p>
            <a:pPr marL="628650" lvl="1" indent="-171450">
              <a:buFont typeface="Arial" pitchFamily="34" charset="0"/>
              <a:buChar char="•"/>
            </a:pPr>
            <a:r>
              <a:rPr lang="en-US" sz="1200" kern="1200" dirty="0" smtClean="0">
                <a:solidFill>
                  <a:schemeClr val="tx1"/>
                </a:solidFill>
                <a:latin typeface="+mn-lt"/>
                <a:ea typeface="+mn-ea"/>
                <a:cs typeface="+mn-cs"/>
              </a:rPr>
              <a:t>Staff/time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Funds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Internal information and data from associates, partners, agencies involved.</a:t>
            </a:r>
            <a:endParaRPr lang="en-AU" sz="1200" kern="1200" dirty="0" smtClean="0">
              <a:solidFill>
                <a:schemeClr val="tx1"/>
              </a:solidFill>
              <a:latin typeface="+mn-lt"/>
              <a:ea typeface="+mn-ea"/>
              <a:cs typeface="+mn-cs"/>
            </a:endParaRP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201</a:t>
            </a:fld>
            <a:endParaRPr lang="en-US" dirty="0"/>
          </a:p>
        </p:txBody>
      </p:sp>
    </p:spTree>
    <p:extLst>
      <p:ext uri="{BB962C8B-B14F-4D97-AF65-F5344CB8AC3E}">
        <p14:creationId xmlns:p14="http://schemas.microsoft.com/office/powerpoint/2010/main" val="395718647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activities in implementing scheduled system of evaluation (‘Make the plan, work the plan’):</a:t>
            </a:r>
          </a:p>
          <a:p>
            <a:pPr marL="171450" indent="-171450">
              <a:buFont typeface="Arial" pitchFamily="34" charset="0"/>
              <a:buChar char="•"/>
            </a:pPr>
            <a:r>
              <a:rPr lang="en-AU" sz="1200" kern="1200" dirty="0" smtClean="0">
                <a:solidFill>
                  <a:schemeClr val="tx1"/>
                </a:solidFill>
                <a:latin typeface="+mn-lt"/>
                <a:ea typeface="+mn-ea"/>
                <a:cs typeface="+mn-cs"/>
              </a:rPr>
              <a:t>Holding meetings – with groups/stakeholders</a:t>
            </a:r>
          </a:p>
          <a:p>
            <a:pPr marL="171450" indent="-171450">
              <a:buFont typeface="Arial" pitchFamily="34" charset="0"/>
              <a:buChar char="•"/>
            </a:pPr>
            <a:r>
              <a:rPr lang="en-AU" sz="1200" kern="1200" dirty="0" smtClean="0">
                <a:solidFill>
                  <a:schemeClr val="tx1"/>
                </a:solidFill>
                <a:latin typeface="+mn-lt"/>
                <a:ea typeface="+mn-ea"/>
                <a:cs typeface="+mn-cs"/>
              </a:rPr>
              <a:t>Reviewing customer feedback obtained ‘over time’ – as part of the standard and ongoing feedback process the Tour Operator would/should normally engage in at the conclusion of every tour</a:t>
            </a:r>
          </a:p>
          <a:p>
            <a:pPr marL="171450" indent="-171450">
              <a:buFont typeface="Arial" pitchFamily="34" charset="0"/>
              <a:buChar char="•"/>
            </a:pPr>
            <a:r>
              <a:rPr lang="en-AU" sz="1200" kern="1200" dirty="0" smtClean="0">
                <a:solidFill>
                  <a:schemeClr val="tx1"/>
                </a:solidFill>
                <a:latin typeface="+mn-lt"/>
                <a:ea typeface="+mn-ea"/>
                <a:cs typeface="+mn-cs"/>
              </a:rPr>
              <a:t>Distributing feedback forms – to those from whom feedback is required</a:t>
            </a:r>
          </a:p>
          <a:p>
            <a:pPr marL="171450" indent="-171450">
              <a:buFont typeface="Arial" pitchFamily="34" charset="0"/>
              <a:buChar char="•"/>
            </a:pPr>
            <a:r>
              <a:rPr lang="en-AU" sz="1200" kern="1200" dirty="0" smtClean="0">
                <a:solidFill>
                  <a:schemeClr val="tx1"/>
                </a:solidFill>
                <a:latin typeface="+mn-lt"/>
                <a:ea typeface="+mn-ea"/>
                <a:cs typeface="+mn-cs"/>
              </a:rPr>
              <a:t>Encouraging feedback – and </a:t>
            </a:r>
            <a:r>
              <a:rPr lang="en-AU" sz="1200" i="1" kern="1200" dirty="0" smtClean="0">
                <a:solidFill>
                  <a:schemeClr val="tx1"/>
                </a:solidFill>
                <a:latin typeface="+mn-lt"/>
                <a:ea typeface="+mn-ea"/>
                <a:cs typeface="+mn-cs"/>
              </a:rPr>
              <a:t>asking</a:t>
            </a:r>
            <a:r>
              <a:rPr lang="en-AU" sz="1200" kern="1200" dirty="0" smtClean="0">
                <a:solidFill>
                  <a:schemeClr val="tx1"/>
                </a:solidFill>
                <a:latin typeface="+mn-lt"/>
                <a:ea typeface="+mn-ea"/>
                <a:cs typeface="+mn-cs"/>
              </a:rPr>
              <a:t> people to comment/provide input</a:t>
            </a:r>
          </a:p>
          <a:p>
            <a:pPr marL="171450" indent="-171450">
              <a:buFont typeface="Arial" pitchFamily="34" charset="0"/>
              <a:buChar char="•"/>
            </a:pPr>
            <a:r>
              <a:rPr lang="en-AU" sz="1200" kern="1200" dirty="0" smtClean="0">
                <a:solidFill>
                  <a:schemeClr val="tx1"/>
                </a:solidFill>
                <a:latin typeface="+mn-lt"/>
                <a:ea typeface="+mn-ea"/>
                <a:cs typeface="+mn-cs"/>
              </a:rPr>
              <a:t>Interviewing stakeholders face-to-face – individually or in groups using formal questionnaires.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202</a:t>
            </a:fld>
            <a:endParaRPr lang="en-US" dirty="0"/>
          </a:p>
        </p:txBody>
      </p:sp>
    </p:spTree>
    <p:extLst>
      <p:ext uri="{BB962C8B-B14F-4D97-AF65-F5344CB8AC3E}">
        <p14:creationId xmlns:p14="http://schemas.microsoft.com/office/powerpoint/2010/main" val="3575717479"/>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activities in implementing scheduled system of evaluation:</a:t>
            </a:r>
          </a:p>
          <a:p>
            <a:pPr marL="171450" indent="-171450">
              <a:buFont typeface="Arial" pitchFamily="34" charset="0"/>
              <a:buChar char="•"/>
            </a:pPr>
            <a:r>
              <a:rPr lang="en-AU" sz="1200" kern="1200" dirty="0" smtClean="0">
                <a:solidFill>
                  <a:schemeClr val="tx1"/>
                </a:solidFill>
                <a:latin typeface="+mn-lt"/>
                <a:ea typeface="+mn-ea"/>
                <a:cs typeface="+mn-cs"/>
              </a:rPr>
              <a:t>Gathering together sales data/revenue and expenditure/cost figures</a:t>
            </a:r>
          </a:p>
          <a:p>
            <a:pPr marL="171450" indent="-171450">
              <a:buFont typeface="Arial" pitchFamily="34" charset="0"/>
              <a:buChar char="•"/>
            </a:pPr>
            <a:r>
              <a:rPr lang="en-AU" sz="1200" kern="1200" dirty="0" smtClean="0">
                <a:solidFill>
                  <a:schemeClr val="tx1"/>
                </a:solidFill>
                <a:latin typeface="+mn-lt"/>
                <a:ea typeface="+mn-ea"/>
                <a:cs typeface="+mn-cs"/>
              </a:rPr>
              <a:t>Observing implementation/conduct of activities in order to capture/record required data</a:t>
            </a:r>
          </a:p>
          <a:p>
            <a:pPr marL="171450" indent="-171450">
              <a:buFont typeface="Arial" pitchFamily="34" charset="0"/>
              <a:buChar char="•"/>
            </a:pPr>
            <a:r>
              <a:rPr lang="en-AU" sz="1200" kern="1200" dirty="0" smtClean="0">
                <a:solidFill>
                  <a:schemeClr val="tx1"/>
                </a:solidFill>
                <a:latin typeface="+mn-lt"/>
                <a:ea typeface="+mn-ea"/>
                <a:cs typeface="+mn-cs"/>
              </a:rPr>
              <a:t>Entering data into the system for analysis</a:t>
            </a:r>
          </a:p>
          <a:p>
            <a:pPr marL="171450" indent="-171450">
              <a:buFont typeface="Arial" pitchFamily="34" charset="0"/>
              <a:buChar char="•"/>
            </a:pPr>
            <a:r>
              <a:rPr lang="en-AU" sz="1200" kern="1200" dirty="0" smtClean="0">
                <a:solidFill>
                  <a:schemeClr val="tx1"/>
                </a:solidFill>
                <a:latin typeface="+mn-lt"/>
                <a:ea typeface="+mn-ea"/>
                <a:cs typeface="+mn-cs"/>
              </a:rPr>
              <a:t>Determining whether or not more data needs to be obtained and/or if current data requires clarification</a:t>
            </a:r>
          </a:p>
          <a:p>
            <a:pPr marL="171450" indent="-171450">
              <a:buFont typeface="Arial" pitchFamily="34" charset="0"/>
              <a:buChar char="•"/>
            </a:pPr>
            <a:r>
              <a:rPr lang="en-AU" sz="1200" kern="1200" dirty="0" smtClean="0">
                <a:solidFill>
                  <a:schemeClr val="tx1"/>
                </a:solidFill>
                <a:latin typeface="+mn-lt"/>
                <a:ea typeface="+mn-ea"/>
                <a:cs typeface="+mn-cs"/>
              </a:rPr>
              <a:t>Assessing and analysing the information against the objectives set for the review process – and making recommendations and/or drawing conclusions from the process based on evidence gained </a:t>
            </a:r>
          </a:p>
          <a:p>
            <a:pPr marL="171450" indent="-171450">
              <a:buFont typeface="Arial" pitchFamily="34" charset="0"/>
              <a:buChar char="•"/>
            </a:pPr>
            <a:r>
              <a:rPr lang="en-AU" sz="1200" kern="1200" dirty="0" smtClean="0">
                <a:solidFill>
                  <a:schemeClr val="tx1"/>
                </a:solidFill>
                <a:latin typeface="+mn-lt"/>
                <a:ea typeface="+mn-ea"/>
                <a:cs typeface="+mn-cs"/>
              </a:rPr>
              <a:t>Reporting on the process – to management and identified stakeholders.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203</a:t>
            </a:fld>
            <a:endParaRPr lang="en-US" dirty="0"/>
          </a:p>
        </p:txBody>
      </p:sp>
    </p:spTree>
    <p:extLst>
      <p:ext uri="{BB962C8B-B14F-4D97-AF65-F5344CB8AC3E}">
        <p14:creationId xmlns:p14="http://schemas.microsoft.com/office/powerpoint/2010/main" val="365517556"/>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states a</a:t>
            </a:r>
            <a:r>
              <a:rPr lang="en-AU" sz="1200" kern="1200" dirty="0" smtClean="0">
                <a:solidFill>
                  <a:schemeClr val="tx1"/>
                </a:solidFill>
                <a:latin typeface="+mn-lt"/>
                <a:ea typeface="+mn-ea"/>
                <a:cs typeface="+mn-cs"/>
              </a:rPr>
              <a:t> de-briefing is a meeting with people/colleagues after an event (a tour or activity) has taken place and is undertaken to obtain feedback on:</a:t>
            </a:r>
          </a:p>
          <a:p>
            <a:pPr marL="171450" indent="-171450">
              <a:buFont typeface="Arial" pitchFamily="34" charset="0"/>
              <a:buChar char="•"/>
            </a:pPr>
            <a:r>
              <a:rPr lang="en-AU" sz="1200" kern="1200" dirty="0" smtClean="0">
                <a:solidFill>
                  <a:schemeClr val="tx1"/>
                </a:solidFill>
                <a:latin typeface="+mn-lt"/>
                <a:ea typeface="+mn-ea"/>
                <a:cs typeface="+mn-cs"/>
              </a:rPr>
              <a:t>What happened</a:t>
            </a:r>
          </a:p>
          <a:p>
            <a:pPr marL="171450" indent="-171450">
              <a:buFont typeface="Arial" pitchFamily="34" charset="0"/>
              <a:buChar char="•"/>
            </a:pPr>
            <a:r>
              <a:rPr lang="en-AU" sz="1200" kern="1200" dirty="0" smtClean="0">
                <a:solidFill>
                  <a:schemeClr val="tx1"/>
                </a:solidFill>
                <a:latin typeface="+mn-lt"/>
                <a:ea typeface="+mn-ea"/>
                <a:cs typeface="+mn-cs"/>
              </a:rPr>
              <a:t>What could be improved</a:t>
            </a:r>
          </a:p>
          <a:p>
            <a:pPr marL="171450" indent="-171450">
              <a:buFont typeface="Arial" pitchFamily="34" charset="0"/>
              <a:buChar char="•"/>
            </a:pPr>
            <a:r>
              <a:rPr lang="en-AU" sz="1200" kern="1200" dirty="0" smtClean="0">
                <a:solidFill>
                  <a:schemeClr val="tx1"/>
                </a:solidFill>
                <a:latin typeface="+mn-lt"/>
                <a:ea typeface="+mn-ea"/>
                <a:cs typeface="+mn-cs"/>
              </a:rPr>
              <a:t>Problems occurring with the activity or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204</a:t>
            </a:fld>
            <a:endParaRPr lang="en-US" dirty="0"/>
          </a:p>
        </p:txBody>
      </p:sp>
    </p:spTree>
    <p:extLst>
      <p:ext uri="{BB962C8B-B14F-4D97-AF65-F5344CB8AC3E}">
        <p14:creationId xmlns:p14="http://schemas.microsoft.com/office/powerpoint/2010/main" val="1718457360"/>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indicates de</a:t>
            </a:r>
            <a:r>
              <a:rPr lang="en-AU" sz="1200" kern="1200" dirty="0" smtClean="0">
                <a:solidFill>
                  <a:schemeClr val="tx1"/>
                </a:solidFill>
                <a:latin typeface="+mn-lt"/>
                <a:ea typeface="+mn-ea"/>
                <a:cs typeface="+mn-cs"/>
              </a:rPr>
              <a:t>-briefings may occur:</a:t>
            </a:r>
          </a:p>
          <a:p>
            <a:pPr marL="171450" indent="-171450">
              <a:buFont typeface="Arial" pitchFamily="34" charset="0"/>
              <a:buChar char="•"/>
            </a:pPr>
            <a:r>
              <a:rPr lang="en-AU" sz="1200" kern="1200" dirty="0" smtClean="0">
                <a:solidFill>
                  <a:schemeClr val="tx1"/>
                </a:solidFill>
                <a:latin typeface="+mn-lt"/>
                <a:ea typeface="+mn-ea"/>
                <a:cs typeface="+mn-cs"/>
              </a:rPr>
              <a:t>After every tour or activity – as a standard operating procedure to be completed before the tour/activity has been completely finalised</a:t>
            </a:r>
          </a:p>
          <a:p>
            <a:pPr marL="171450" indent="-171450">
              <a:buFont typeface="Arial" pitchFamily="34" charset="0"/>
              <a:buChar char="•"/>
            </a:pPr>
            <a:r>
              <a:rPr lang="en-AU" sz="1200" kern="1200" dirty="0" smtClean="0">
                <a:solidFill>
                  <a:schemeClr val="tx1"/>
                </a:solidFill>
                <a:latin typeface="+mn-lt"/>
                <a:ea typeface="+mn-ea"/>
                <a:cs typeface="+mn-cs"/>
              </a:rPr>
              <a:t>After every X tours/activities – such as ‘after every 10 tours/activities’</a:t>
            </a:r>
          </a:p>
          <a:p>
            <a:pPr marL="171450" indent="-171450">
              <a:buFont typeface="Arial" pitchFamily="34" charset="0"/>
              <a:buChar char="•"/>
            </a:pPr>
            <a:r>
              <a:rPr lang="en-AU" sz="1200" kern="1200" dirty="0" smtClean="0">
                <a:solidFill>
                  <a:schemeClr val="tx1"/>
                </a:solidFill>
                <a:latin typeface="+mn-lt"/>
                <a:ea typeface="+mn-ea"/>
                <a:cs typeface="+mn-cs"/>
              </a:rPr>
              <a:t>At designated times – such as ‘at the end of every week’ or ‘every 3 months’ or on pre-determined dates</a:t>
            </a:r>
          </a:p>
          <a:p>
            <a:pPr marL="171450" indent="-171450">
              <a:buFont typeface="Arial" pitchFamily="34" charset="0"/>
              <a:buChar char="•"/>
            </a:pPr>
            <a:r>
              <a:rPr lang="en-AU" sz="1200" kern="1200" dirty="0" smtClean="0">
                <a:solidFill>
                  <a:schemeClr val="tx1"/>
                </a:solidFill>
                <a:latin typeface="+mn-lt"/>
                <a:ea typeface="+mn-ea"/>
                <a:cs typeface="+mn-cs"/>
              </a:rPr>
              <a:t>One-on-one – where a Supervisor talks individually with staff members</a:t>
            </a:r>
          </a:p>
          <a:p>
            <a:pPr marL="171450" indent="-171450">
              <a:buFont typeface="Arial" pitchFamily="34" charset="0"/>
              <a:buChar char="•"/>
            </a:pPr>
            <a:r>
              <a:rPr lang="en-AU" sz="1200" kern="1200" dirty="0" smtClean="0">
                <a:solidFill>
                  <a:schemeClr val="tx1"/>
                </a:solidFill>
                <a:latin typeface="+mn-lt"/>
                <a:ea typeface="+mn-ea"/>
                <a:cs typeface="+mn-cs"/>
              </a:rPr>
              <a:t>In a group environment – where all Tour Guides meet together:</a:t>
            </a:r>
          </a:p>
          <a:p>
            <a:pPr marL="628650" lvl="1" indent="-171450">
              <a:buFont typeface="Arial" pitchFamily="34" charset="0"/>
              <a:buChar char="•"/>
            </a:pPr>
            <a:r>
              <a:rPr lang="en-AU" sz="1200" kern="1200" dirty="0" smtClean="0">
                <a:solidFill>
                  <a:schemeClr val="tx1"/>
                </a:solidFill>
                <a:latin typeface="+mn-lt"/>
                <a:ea typeface="+mn-ea"/>
                <a:cs typeface="+mn-cs"/>
              </a:rPr>
              <a:t>Specifically for the purpose of providing feedback on tours/activities</a:t>
            </a:r>
          </a:p>
          <a:p>
            <a:pPr marL="628650" lvl="1" indent="-171450">
              <a:buFont typeface="Arial" pitchFamily="34" charset="0"/>
              <a:buChar char="•"/>
            </a:pPr>
            <a:r>
              <a:rPr lang="en-AU" sz="1200" kern="1200" dirty="0" smtClean="0">
                <a:solidFill>
                  <a:schemeClr val="tx1"/>
                </a:solidFill>
                <a:latin typeface="+mn-lt"/>
                <a:ea typeface="+mn-ea"/>
                <a:cs typeface="+mn-cs"/>
              </a:rPr>
              <a:t>For another reason (training, departmental meeting).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205</a:t>
            </a:fld>
            <a:endParaRPr lang="en-US" dirty="0"/>
          </a:p>
        </p:txBody>
      </p:sp>
    </p:spTree>
    <p:extLst>
      <p:ext uri="{BB962C8B-B14F-4D97-AF65-F5344CB8AC3E}">
        <p14:creationId xmlns:p14="http://schemas.microsoft.com/office/powerpoint/2010/main" val="2318336700"/>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highlights de</a:t>
            </a:r>
            <a:r>
              <a:rPr lang="en-AU" sz="1200" kern="1200" dirty="0" smtClean="0">
                <a:solidFill>
                  <a:schemeClr val="tx1"/>
                </a:solidFill>
                <a:latin typeface="+mn-lt"/>
                <a:ea typeface="+mn-ea"/>
                <a:cs typeface="+mn-cs"/>
              </a:rPr>
              <a:t>-briefings may be supported by:</a:t>
            </a:r>
          </a:p>
          <a:p>
            <a:pPr marL="171450" indent="-171450">
              <a:buFont typeface="Arial" pitchFamily="34" charset="0"/>
              <a:buChar char="•"/>
            </a:pPr>
            <a:r>
              <a:rPr lang="en-AU" sz="1200" kern="1200" dirty="0" smtClean="0">
                <a:solidFill>
                  <a:schemeClr val="tx1"/>
                </a:solidFill>
                <a:latin typeface="+mn-lt"/>
                <a:ea typeface="+mn-ea"/>
                <a:cs typeface="+mn-cs"/>
              </a:rPr>
              <a:t>Paper-based or electronic ‘End-of-Tour/Activity reports’ – that staff are required to complete as a mandatory element of their role</a:t>
            </a:r>
          </a:p>
          <a:p>
            <a:pPr marL="171450" indent="-171450">
              <a:buFont typeface="Arial" pitchFamily="34" charset="0"/>
              <a:buChar char="•"/>
            </a:pPr>
            <a:r>
              <a:rPr lang="en-AU" sz="1200" kern="1200" dirty="0" smtClean="0">
                <a:solidFill>
                  <a:schemeClr val="tx1"/>
                </a:solidFill>
                <a:latin typeface="+mn-lt"/>
                <a:ea typeface="+mn-ea"/>
                <a:cs typeface="+mn-cs"/>
              </a:rPr>
              <a:t>Formal meetings with management – when employees believe an issue warrants such a meeting</a:t>
            </a:r>
          </a:p>
          <a:p>
            <a:pPr marL="171450" indent="-171450">
              <a:buFont typeface="Arial" pitchFamily="34" charset="0"/>
              <a:buChar char="•"/>
            </a:pPr>
            <a:r>
              <a:rPr lang="en-AU" sz="1200" kern="1200" dirty="0" smtClean="0">
                <a:solidFill>
                  <a:schemeClr val="tx1"/>
                </a:solidFill>
                <a:latin typeface="+mn-lt"/>
                <a:ea typeface="+mn-ea"/>
                <a:cs typeface="+mn-cs"/>
              </a:rPr>
              <a:t>Comments from ‘relevant others’ – such as feedback from customers, input from third parties and/or contributions from stakeholders. </a:t>
            </a:r>
          </a:p>
          <a:p>
            <a:pPr>
              <a:buFont typeface="Arial" pitchFamily="34" charset="0"/>
              <a:buNone/>
            </a:pPr>
            <a:endParaRPr lang="en-AU" noProof="0" dirty="0" smtClean="0"/>
          </a:p>
          <a:p>
            <a:pPr>
              <a:buFont typeface="Arial" pitchFamily="34" charset="0"/>
              <a:buNone/>
            </a:pPr>
            <a:r>
              <a:rPr lang="en-AU" b="1" noProof="0" dirty="0" smtClean="0"/>
              <a:t>Classroom Activity – Handout</a:t>
            </a:r>
          </a:p>
          <a:p>
            <a:pPr>
              <a:buFont typeface="Arial" pitchFamily="34" charset="0"/>
              <a:buNone/>
            </a:pPr>
            <a:r>
              <a:rPr lang="en-AU" b="0" noProof="0" dirty="0" smtClean="0"/>
              <a:t>Trainer distributes and discusses sample staff feedback forms/reports.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206</a:t>
            </a:fld>
            <a:endParaRPr lang="en-US" dirty="0"/>
          </a:p>
        </p:txBody>
      </p:sp>
    </p:spTree>
    <p:extLst>
      <p:ext uri="{BB962C8B-B14F-4D97-AF65-F5344CB8AC3E}">
        <p14:creationId xmlns:p14="http://schemas.microsoft.com/office/powerpoint/2010/main" val="4064166769"/>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identifies </a:t>
            </a:r>
            <a:r>
              <a:rPr lang="en-AU" sz="1200" kern="1200" dirty="0" smtClean="0">
                <a:solidFill>
                  <a:schemeClr val="tx1"/>
                </a:solidFill>
                <a:latin typeface="+mn-lt"/>
                <a:ea typeface="+mn-ea"/>
                <a:cs typeface="+mn-cs"/>
              </a:rPr>
              <a:t>colleagues who may be involved in the de-briefing might include:</a:t>
            </a:r>
          </a:p>
          <a:p>
            <a:pPr marL="171450" indent="-171450">
              <a:buFont typeface="Arial" pitchFamily="34" charset="0"/>
              <a:buChar char="•"/>
            </a:pPr>
            <a:r>
              <a:rPr lang="en-AU" sz="1200" kern="1200" dirty="0" smtClean="0">
                <a:solidFill>
                  <a:schemeClr val="tx1"/>
                </a:solidFill>
                <a:latin typeface="+mn-lt"/>
                <a:ea typeface="+mn-ea"/>
                <a:cs typeface="+mn-cs"/>
              </a:rPr>
              <a:t>Tour Guides who present the tours and/or activities</a:t>
            </a:r>
          </a:p>
          <a:p>
            <a:pPr marL="171450" indent="-171450">
              <a:buFont typeface="Arial" pitchFamily="34" charset="0"/>
              <a:buChar char="•"/>
            </a:pPr>
            <a:r>
              <a:rPr lang="en-AU" sz="1200" kern="1200" dirty="0" smtClean="0">
                <a:solidFill>
                  <a:schemeClr val="tx1"/>
                </a:solidFill>
                <a:latin typeface="+mn-lt"/>
                <a:ea typeface="+mn-ea"/>
                <a:cs typeface="+mn-cs"/>
              </a:rPr>
              <a:t>Drivers who assist with the tours/activities</a:t>
            </a:r>
          </a:p>
          <a:p>
            <a:pPr marL="171450" indent="-171450">
              <a:buFont typeface="Arial" pitchFamily="34" charset="0"/>
              <a:buChar char="•"/>
            </a:pPr>
            <a:r>
              <a:rPr lang="en-AU" sz="1200" kern="1200" dirty="0" smtClean="0">
                <a:solidFill>
                  <a:schemeClr val="tx1"/>
                </a:solidFill>
                <a:latin typeface="+mn-lt"/>
                <a:ea typeface="+mn-ea"/>
                <a:cs typeface="+mn-cs"/>
              </a:rPr>
              <a:t>Internal sales staff – who sell tickets/tours/activities</a:t>
            </a:r>
          </a:p>
          <a:p>
            <a:pPr marL="171450" indent="-171450">
              <a:buFont typeface="Arial" pitchFamily="34" charset="0"/>
              <a:buChar char="•"/>
            </a:pPr>
            <a:r>
              <a:rPr lang="en-AU" sz="1200" kern="1200" dirty="0" smtClean="0">
                <a:solidFill>
                  <a:schemeClr val="tx1"/>
                </a:solidFill>
                <a:latin typeface="+mn-lt"/>
                <a:ea typeface="+mn-ea"/>
                <a:cs typeface="+mn-cs"/>
              </a:rPr>
              <a:t>Agents and partners who assist in selling the tours/activities</a:t>
            </a:r>
          </a:p>
          <a:p>
            <a:pPr marL="171450" indent="-171450">
              <a:buFont typeface="Arial" pitchFamily="34" charset="0"/>
              <a:buChar char="•"/>
            </a:pPr>
            <a:r>
              <a:rPr lang="en-AU" sz="1200" kern="1200" dirty="0" smtClean="0">
                <a:solidFill>
                  <a:schemeClr val="tx1"/>
                </a:solidFill>
                <a:latin typeface="+mn-lt"/>
                <a:ea typeface="+mn-ea"/>
                <a:cs typeface="+mn-cs"/>
              </a:rPr>
              <a:t>Presenters, performers and others used in the interpretive activities.</a:t>
            </a:r>
          </a:p>
          <a:p>
            <a:pPr>
              <a:buFont typeface="Arial" pitchFamily="34" charset="0"/>
              <a:buNone/>
            </a:pPr>
            <a:endParaRPr lang="en-AU" noProof="0" dirty="0" smtClean="0"/>
          </a:p>
          <a:p>
            <a:pPr>
              <a:buFont typeface="Arial" pitchFamily="34" charset="0"/>
              <a:buNone/>
            </a:pPr>
            <a:r>
              <a:rPr lang="en-AU" b="1" noProof="0" dirty="0" smtClean="0"/>
              <a:t>Classroom Activity – Guest Speakers</a:t>
            </a:r>
          </a:p>
          <a:p>
            <a:pPr>
              <a:buFont typeface="Arial" pitchFamily="34" charset="0"/>
              <a:buNone/>
            </a:pPr>
            <a:r>
              <a:rPr lang="en-AU" b="0" noProof="0" dirty="0" smtClean="0"/>
              <a:t>Trainer arranges for a range of colleagues</a:t>
            </a:r>
            <a:r>
              <a:rPr lang="en-AU" b="0" baseline="0" noProof="0" dirty="0" smtClean="0"/>
              <a:t> identified on slide to attend and:</a:t>
            </a:r>
          </a:p>
          <a:p>
            <a:pPr marL="171450" indent="-171450">
              <a:buFont typeface="Arial" pitchFamily="34" charset="0"/>
              <a:buChar char="•"/>
            </a:pPr>
            <a:r>
              <a:rPr lang="en-AU" b="0" noProof="0" dirty="0" smtClean="0"/>
              <a:t>Discuss importance of de-briefings</a:t>
            </a:r>
          </a:p>
          <a:p>
            <a:pPr marL="171450" indent="-171450">
              <a:buFont typeface="Arial" pitchFamily="34" charset="0"/>
              <a:buChar char="•"/>
            </a:pPr>
            <a:r>
              <a:rPr lang="en-AU" b="0" noProof="0" dirty="0" smtClean="0"/>
              <a:t>Explain their roles in de-briefings</a:t>
            </a:r>
          </a:p>
          <a:p>
            <a:pPr marL="171450" indent="-171450">
              <a:buFont typeface="Arial" pitchFamily="34" charset="0"/>
              <a:buChar char="•"/>
            </a:pPr>
            <a:r>
              <a:rPr lang="en-AU" b="0" noProof="0" dirty="0" smtClean="0"/>
              <a:t>Identify examples of issues which are raised and resolved</a:t>
            </a:r>
          </a:p>
          <a:p>
            <a:pPr marL="171450" indent="-171450">
              <a:buFont typeface="Arial" pitchFamily="34" charset="0"/>
              <a:buChar char="•"/>
            </a:pPr>
            <a:r>
              <a:rPr lang="en-AU" b="0" noProof="0" dirty="0" smtClean="0"/>
              <a:t>Describes when, where and how they take place.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207</a:t>
            </a:fld>
            <a:endParaRPr lang="en-US" dirty="0"/>
          </a:p>
        </p:txBody>
      </p:sp>
    </p:spTree>
    <p:extLst>
      <p:ext uri="{BB962C8B-B14F-4D97-AF65-F5344CB8AC3E}">
        <p14:creationId xmlns:p14="http://schemas.microsoft.com/office/powerpoint/2010/main" val="174607034"/>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a:t>
            </a:r>
            <a:r>
              <a:rPr lang="en-AU" baseline="0" noProof="0" dirty="0" smtClean="0"/>
              <a:t> describes de</a:t>
            </a:r>
            <a:r>
              <a:rPr lang="en-AU" sz="1200" kern="1200" dirty="0" smtClean="0">
                <a:solidFill>
                  <a:schemeClr val="tx1"/>
                </a:solidFill>
                <a:latin typeface="+mn-lt"/>
                <a:ea typeface="+mn-ea"/>
                <a:cs typeface="+mn-cs"/>
              </a:rPr>
              <a:t>-briefing activities may include:</a:t>
            </a:r>
          </a:p>
          <a:p>
            <a:pPr marL="171450" indent="-171450">
              <a:buFont typeface="Arial" pitchFamily="34" charset="0"/>
              <a:buChar char="•"/>
            </a:pPr>
            <a:r>
              <a:rPr lang="en-AU" sz="1200" kern="1200" dirty="0" smtClean="0">
                <a:solidFill>
                  <a:schemeClr val="tx1"/>
                </a:solidFill>
                <a:latin typeface="+mn-lt"/>
                <a:ea typeface="+mn-ea"/>
                <a:cs typeface="+mn-cs"/>
              </a:rPr>
              <a:t>Soliciting verbal feedback – through:</a:t>
            </a:r>
          </a:p>
          <a:p>
            <a:pPr marL="628650" lvl="1" indent="-171450">
              <a:buFont typeface="Arial" pitchFamily="34" charset="0"/>
              <a:buChar char="•"/>
            </a:pPr>
            <a:r>
              <a:rPr lang="en-US" sz="1200" kern="1200" dirty="0" smtClean="0">
                <a:solidFill>
                  <a:schemeClr val="tx1"/>
                </a:solidFill>
                <a:latin typeface="+mn-lt"/>
                <a:ea typeface="+mn-ea"/>
                <a:cs typeface="+mn-cs"/>
              </a:rPr>
              <a:t>Talking to colleagues when they return after a tour/activity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Raising de-briefing/feedback as a standing item at staff meetings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Obtaining written feedback from colleagues – by: </a:t>
            </a:r>
          </a:p>
          <a:p>
            <a:pPr marL="628650" lvl="1" indent="-171450">
              <a:buFont typeface="Arial" pitchFamily="34" charset="0"/>
              <a:buChar char="•"/>
            </a:pPr>
            <a:r>
              <a:rPr lang="en-US" sz="1200" kern="1200" dirty="0" smtClean="0">
                <a:solidFill>
                  <a:schemeClr val="tx1"/>
                </a:solidFill>
                <a:latin typeface="+mn-lt"/>
                <a:ea typeface="+mn-ea"/>
                <a:cs typeface="+mn-cs"/>
              </a:rPr>
              <a:t>Making it mandatory for staff to complete and forward designated forms/reports within given timeframes (after a tour/activity has been conducted)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Providing an electronic lodgement/reporting option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Providing a variety of </a:t>
            </a:r>
            <a:r>
              <a:rPr lang="en-US" sz="1200" i="1" kern="1200" dirty="0" smtClean="0">
                <a:solidFill>
                  <a:schemeClr val="tx1"/>
                </a:solidFill>
                <a:latin typeface="+mn-lt"/>
                <a:ea typeface="+mn-ea"/>
                <a:cs typeface="+mn-cs"/>
              </a:rPr>
              <a:t>pro forma</a:t>
            </a:r>
            <a:r>
              <a:rPr lang="en-US" sz="1200" kern="1200" dirty="0" smtClean="0">
                <a:solidFill>
                  <a:schemeClr val="tx1"/>
                </a:solidFill>
                <a:latin typeface="+mn-lt"/>
                <a:ea typeface="+mn-ea"/>
                <a:cs typeface="+mn-cs"/>
              </a:rPr>
              <a:t> reports/forms for certain circumstances where staff simply have to supply details/answers to listed questions/prompts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Analysing written reports – in order to:</a:t>
            </a:r>
          </a:p>
          <a:p>
            <a:pPr marL="628650" lvl="1" indent="-171450">
              <a:buFont typeface="Arial" pitchFamily="34" charset="0"/>
              <a:buChar char="•"/>
            </a:pPr>
            <a:r>
              <a:rPr lang="en-US" sz="1200" kern="1200" dirty="0" smtClean="0">
                <a:solidFill>
                  <a:schemeClr val="tx1"/>
                </a:solidFill>
                <a:latin typeface="+mn-lt"/>
                <a:ea typeface="+mn-ea"/>
                <a:cs typeface="+mn-cs"/>
              </a:rPr>
              <a:t>Identify issues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Determine causal factors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Decide action to take in response, if necessary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Resolve issues, if required.</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208</a:t>
            </a:fld>
            <a:endParaRPr lang="en-US" dirty="0"/>
          </a:p>
        </p:txBody>
      </p:sp>
    </p:spTree>
    <p:extLst>
      <p:ext uri="{BB962C8B-B14F-4D97-AF65-F5344CB8AC3E}">
        <p14:creationId xmlns:p14="http://schemas.microsoft.com/office/powerpoint/2010/main" val="310826758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continues explaining activities in de-briefings:</a:t>
            </a:r>
          </a:p>
          <a:p>
            <a:pPr marL="171450" indent="-171450">
              <a:buFont typeface="Arial" pitchFamily="34" charset="0"/>
              <a:buChar char="•"/>
            </a:pPr>
            <a:r>
              <a:rPr lang="en-AU" sz="1200" kern="1200" dirty="0" smtClean="0">
                <a:solidFill>
                  <a:schemeClr val="tx1"/>
                </a:solidFill>
                <a:latin typeface="+mn-lt"/>
                <a:ea typeface="+mn-ea"/>
                <a:cs typeface="+mn-cs"/>
              </a:rPr>
              <a:t>Evaluating staff perceptions – about nominated topics such as:</a:t>
            </a:r>
          </a:p>
          <a:p>
            <a:pPr marL="628650" lvl="1" indent="-171450">
              <a:buFont typeface="Arial" pitchFamily="34" charset="0"/>
              <a:buChar char="•"/>
            </a:pPr>
            <a:r>
              <a:rPr lang="en-US" sz="1200" kern="1200" dirty="0" smtClean="0">
                <a:solidFill>
                  <a:schemeClr val="tx1"/>
                </a:solidFill>
                <a:latin typeface="+mn-lt"/>
                <a:ea typeface="+mn-ea"/>
                <a:cs typeface="+mn-cs"/>
              </a:rPr>
              <a:t>Levels of customer satisfaction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Input by third parties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Suitability of resourcing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Feelings regarding the need for change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Considering complaints received, or overheard, from customers – with a view to:</a:t>
            </a:r>
          </a:p>
          <a:p>
            <a:pPr marL="628650" lvl="1" indent="-171450">
              <a:buFont typeface="Arial" pitchFamily="34" charset="0"/>
              <a:buChar char="•"/>
            </a:pPr>
            <a:r>
              <a:rPr lang="en-US" sz="1200" kern="1200" dirty="0" smtClean="0">
                <a:solidFill>
                  <a:schemeClr val="tx1"/>
                </a:solidFill>
                <a:latin typeface="+mn-lt"/>
                <a:ea typeface="+mn-ea"/>
                <a:cs typeface="+mn-cs"/>
              </a:rPr>
              <a:t>Determining legitimacy of issues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Taking appropriate action in response – which may include:</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Letter or phone call of apology</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Refunding ticket price</a:t>
            </a:r>
            <a:endParaRPr lang="en-AU" sz="1200" kern="1200" dirty="0" smtClean="0">
              <a:solidFill>
                <a:schemeClr val="tx1"/>
              </a:solidFill>
              <a:latin typeface="+mn-lt"/>
              <a:ea typeface="+mn-ea"/>
              <a:cs typeface="+mn-cs"/>
            </a:endParaRPr>
          </a:p>
          <a:p>
            <a:pPr marL="1085850" lvl="2" indent="-171450">
              <a:buFont typeface="Arial" pitchFamily="34" charset="0"/>
              <a:buChar char="•"/>
            </a:pPr>
            <a:r>
              <a:rPr lang="en-US" sz="1200" kern="1200" dirty="0" smtClean="0">
                <a:solidFill>
                  <a:schemeClr val="tx1"/>
                </a:solidFill>
                <a:latin typeface="+mn-lt"/>
                <a:ea typeface="+mn-ea"/>
                <a:cs typeface="+mn-cs"/>
              </a:rPr>
              <a:t>Providing complimentary ticket/merchandise or discounted offer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Learning lessons to improve delivery and prevent recurrence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Advising staff of upcoming activities and tours – regarding:</a:t>
            </a:r>
          </a:p>
          <a:p>
            <a:pPr marL="628650" lvl="1" indent="-171450">
              <a:buFont typeface="Arial" pitchFamily="34" charset="0"/>
              <a:buChar char="•"/>
            </a:pPr>
            <a:r>
              <a:rPr lang="en-US" sz="1200" kern="1200" dirty="0" smtClean="0">
                <a:solidFill>
                  <a:schemeClr val="tx1"/>
                </a:solidFill>
                <a:latin typeface="+mn-lt"/>
                <a:ea typeface="+mn-ea"/>
                <a:cs typeface="+mn-cs"/>
              </a:rPr>
              <a:t>Special requests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Changes to schedules</a:t>
            </a:r>
          </a:p>
          <a:p>
            <a:pPr marL="628650" lvl="1" indent="-171450">
              <a:buFont typeface="Arial" pitchFamily="34" charset="0"/>
              <a:buChar char="•"/>
            </a:pPr>
            <a:r>
              <a:rPr lang="en-US" sz="1200" kern="1200" dirty="0" smtClean="0">
                <a:solidFill>
                  <a:schemeClr val="tx1"/>
                </a:solidFill>
                <a:latin typeface="+mn-lt"/>
                <a:ea typeface="+mn-ea"/>
                <a:cs typeface="+mn-cs"/>
              </a:rPr>
              <a:t>Staffing arrangements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New Private/Custom tours which have been booked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Thanking staff – for their input and on-tour efforts/work.</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209</a:t>
            </a:fld>
            <a:endParaRPr lang="en-US" dirty="0"/>
          </a:p>
        </p:txBody>
      </p:sp>
    </p:spTree>
    <p:extLst>
      <p:ext uri="{BB962C8B-B14F-4D97-AF65-F5344CB8AC3E}">
        <p14:creationId xmlns:p14="http://schemas.microsoft.com/office/powerpoint/2010/main" val="4211451158"/>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AU" noProof="0" dirty="0" smtClean="0"/>
              <a:t>Trainer discusses methods and timing regarding customer feedback observing </a:t>
            </a:r>
            <a:r>
              <a:rPr lang="en-AU" sz="1200" kern="1200" dirty="0" smtClean="0">
                <a:solidFill>
                  <a:schemeClr val="tx1"/>
                </a:solidFill>
                <a:latin typeface="+mn-lt"/>
                <a:ea typeface="+mn-ea"/>
                <a:cs typeface="+mn-cs"/>
              </a:rPr>
              <a:t>it can be obtained in several ways, including:</a:t>
            </a:r>
          </a:p>
          <a:p>
            <a:pPr marL="171450" indent="-171450">
              <a:buFont typeface="Arial" pitchFamily="34" charset="0"/>
              <a:buChar char="•"/>
            </a:pPr>
            <a:r>
              <a:rPr lang="en-AU" sz="1200" kern="1200" dirty="0" smtClean="0">
                <a:solidFill>
                  <a:schemeClr val="tx1"/>
                </a:solidFill>
                <a:latin typeface="+mn-lt"/>
                <a:ea typeface="+mn-ea"/>
                <a:cs typeface="+mn-cs"/>
              </a:rPr>
              <a:t>Making personal observations of customers by tour staff – in terms of:</a:t>
            </a:r>
          </a:p>
          <a:p>
            <a:pPr marL="628650" lvl="1" indent="-171450">
              <a:buFont typeface="Arial" pitchFamily="34" charset="0"/>
              <a:buChar char="•"/>
            </a:pPr>
            <a:r>
              <a:rPr lang="en-AU" sz="1200" kern="1200" dirty="0" smtClean="0">
                <a:solidFill>
                  <a:schemeClr val="tx1"/>
                </a:solidFill>
                <a:latin typeface="+mn-lt"/>
                <a:ea typeface="+mn-ea"/>
                <a:cs typeface="+mn-cs"/>
              </a:rPr>
              <a:t>Noting the body language of people – and watching their reactions:</a:t>
            </a:r>
          </a:p>
          <a:p>
            <a:pPr marL="1085850" lvl="2" indent="-171450">
              <a:buFont typeface="Arial" pitchFamily="34" charset="0"/>
              <a:buChar char="•"/>
            </a:pPr>
            <a:r>
              <a:rPr lang="en-AU" sz="1200" kern="1200" dirty="0" smtClean="0">
                <a:solidFill>
                  <a:schemeClr val="tx1"/>
                </a:solidFill>
                <a:latin typeface="+mn-lt"/>
                <a:ea typeface="+mn-ea"/>
                <a:cs typeface="+mn-cs"/>
              </a:rPr>
              <a:t>At various locations and activities </a:t>
            </a:r>
          </a:p>
          <a:p>
            <a:pPr marL="1085850" lvl="2" indent="-171450">
              <a:buFont typeface="Arial" pitchFamily="34" charset="0"/>
              <a:buChar char="•"/>
            </a:pPr>
            <a:r>
              <a:rPr lang="en-AU" sz="1200" kern="1200" dirty="0" smtClean="0">
                <a:solidFill>
                  <a:schemeClr val="tx1"/>
                </a:solidFill>
                <a:latin typeface="+mn-lt"/>
                <a:ea typeface="+mn-ea"/>
                <a:cs typeface="+mn-cs"/>
              </a:rPr>
              <a:t>When they arrive at certain destinations to being activities/tours</a:t>
            </a:r>
          </a:p>
          <a:p>
            <a:pPr marL="1085850" lvl="2" indent="-171450">
              <a:buFont typeface="Arial" pitchFamily="34" charset="0"/>
              <a:buChar char="•"/>
            </a:pPr>
            <a:r>
              <a:rPr lang="en-AU" sz="1200" kern="1200" dirty="0" smtClean="0">
                <a:solidFill>
                  <a:schemeClr val="tx1"/>
                </a:solidFill>
                <a:latin typeface="+mn-lt"/>
                <a:ea typeface="+mn-ea"/>
                <a:cs typeface="+mn-cs"/>
              </a:rPr>
              <a:t>When/as they engage with nominated interpretive activities</a:t>
            </a:r>
          </a:p>
          <a:p>
            <a:pPr marL="628650" lvl="1" indent="-171450">
              <a:buFont typeface="Arial" pitchFamily="34" charset="0"/>
              <a:buChar char="•"/>
            </a:pPr>
            <a:r>
              <a:rPr lang="en-AU" sz="1200" kern="1200" dirty="0" smtClean="0">
                <a:solidFill>
                  <a:schemeClr val="tx1"/>
                </a:solidFill>
                <a:latin typeface="+mn-lt"/>
                <a:ea typeface="+mn-ea"/>
                <a:cs typeface="+mn-cs"/>
              </a:rPr>
              <a:t>Listening to what tour group members say::</a:t>
            </a:r>
          </a:p>
          <a:p>
            <a:pPr marL="1085850" lvl="2" indent="-171450">
              <a:buFont typeface="Arial" pitchFamily="34" charset="0"/>
              <a:buChar char="•"/>
            </a:pPr>
            <a:r>
              <a:rPr lang="en-AU" sz="1200" kern="1200" dirty="0" smtClean="0">
                <a:solidFill>
                  <a:schemeClr val="tx1"/>
                </a:solidFill>
                <a:latin typeface="+mn-lt"/>
                <a:ea typeface="+mn-ea"/>
                <a:cs typeface="+mn-cs"/>
              </a:rPr>
              <a:t>As they take part in an activity </a:t>
            </a:r>
          </a:p>
          <a:p>
            <a:pPr marL="1085850" lvl="2" indent="-171450">
              <a:buFont typeface="Arial" pitchFamily="34" charset="0"/>
              <a:buChar char="•"/>
            </a:pPr>
            <a:r>
              <a:rPr lang="en-AU" sz="1200" kern="1200" dirty="0" smtClean="0">
                <a:solidFill>
                  <a:schemeClr val="tx1"/>
                </a:solidFill>
                <a:latin typeface="+mn-lt"/>
                <a:ea typeface="+mn-ea"/>
                <a:cs typeface="+mn-cs"/>
              </a:rPr>
              <a:t>When they get back on board the tour vehicle after an activity</a:t>
            </a:r>
          </a:p>
          <a:p>
            <a:pPr marL="1085850" lvl="2" indent="-171450">
              <a:buFont typeface="Arial" pitchFamily="34" charset="0"/>
              <a:buChar char="•"/>
            </a:pPr>
            <a:r>
              <a:rPr lang="en-AU" sz="1200" kern="1200" dirty="0" smtClean="0">
                <a:solidFill>
                  <a:schemeClr val="tx1"/>
                </a:solidFill>
                <a:latin typeface="+mn-lt"/>
                <a:ea typeface="+mn-ea"/>
                <a:cs typeface="+mn-cs"/>
              </a:rPr>
              <a:t>When they return after the tour has finished</a:t>
            </a:r>
          </a:p>
          <a:p>
            <a:pPr marL="171450" indent="-171450">
              <a:buFont typeface="Arial" pitchFamily="34" charset="0"/>
              <a:buChar char="•"/>
            </a:pPr>
            <a:r>
              <a:rPr lang="en-AU" sz="1200" kern="1200" dirty="0" smtClean="0">
                <a:solidFill>
                  <a:schemeClr val="tx1"/>
                </a:solidFill>
                <a:latin typeface="+mn-lt"/>
                <a:ea typeface="+mn-ea"/>
                <a:cs typeface="+mn-cs"/>
              </a:rPr>
              <a:t>Soliciting written feedback provided by tour group members – in terms of:</a:t>
            </a:r>
          </a:p>
          <a:p>
            <a:pPr marL="628650" lvl="1" indent="-171450">
              <a:buFont typeface="Arial" pitchFamily="34" charset="0"/>
              <a:buChar char="•"/>
            </a:pPr>
            <a:r>
              <a:rPr lang="en-AU" sz="1200" kern="1200" dirty="0" smtClean="0">
                <a:solidFill>
                  <a:schemeClr val="tx1"/>
                </a:solidFill>
                <a:latin typeface="+mn-lt"/>
                <a:ea typeface="+mn-ea"/>
                <a:cs typeface="+mn-cs"/>
              </a:rPr>
              <a:t>Written Comments cards/feedback forms – as they leave the tour/Tour Operator’s business at the end of a tour</a:t>
            </a:r>
          </a:p>
          <a:p>
            <a:pPr marL="628650" lvl="1" indent="-171450">
              <a:buFont typeface="Arial" pitchFamily="34" charset="0"/>
              <a:buChar char="•"/>
            </a:pPr>
            <a:r>
              <a:rPr lang="en-AU" sz="1200" kern="1200" dirty="0" smtClean="0">
                <a:solidFill>
                  <a:schemeClr val="tx1"/>
                </a:solidFill>
                <a:latin typeface="+mn-lt"/>
                <a:ea typeface="+mn-ea"/>
                <a:cs typeface="+mn-cs"/>
              </a:rPr>
              <a:t>Online feedback received – which is available any time for people to use</a:t>
            </a:r>
          </a:p>
          <a:p>
            <a:pPr marL="628650" lvl="1" indent="-171450">
              <a:buFont typeface="Arial" pitchFamily="34" charset="0"/>
              <a:buChar char="•"/>
            </a:pPr>
            <a:r>
              <a:rPr lang="en-AU" sz="1200" kern="1200" dirty="0" smtClean="0">
                <a:solidFill>
                  <a:schemeClr val="tx1"/>
                </a:solidFill>
                <a:latin typeface="+mn-lt"/>
                <a:ea typeface="+mn-ea"/>
                <a:cs typeface="+mn-cs"/>
              </a:rPr>
              <a:t>Letters of complaints and/or compliments received</a:t>
            </a:r>
          </a:p>
          <a:p>
            <a:pPr marL="171450" indent="-171450">
              <a:buFont typeface="Arial" pitchFamily="34" charset="0"/>
              <a:buChar char="•"/>
            </a:pPr>
            <a:r>
              <a:rPr lang="en-AU" sz="1200" kern="1200" dirty="0" smtClean="0">
                <a:solidFill>
                  <a:schemeClr val="tx1"/>
                </a:solidFill>
                <a:latin typeface="+mn-lt"/>
                <a:ea typeface="+mn-ea"/>
                <a:cs typeface="+mn-cs"/>
              </a:rPr>
              <a:t>Using other market research techniques – such as:</a:t>
            </a:r>
          </a:p>
          <a:p>
            <a:pPr marL="628650" lvl="1" indent="-171450">
              <a:buFont typeface="Arial" pitchFamily="34" charset="0"/>
              <a:buChar char="•"/>
            </a:pPr>
            <a:r>
              <a:rPr lang="en-US" sz="1200" kern="1200" dirty="0" smtClean="0">
                <a:solidFill>
                  <a:schemeClr val="tx1"/>
                </a:solidFill>
                <a:latin typeface="+mn-lt"/>
                <a:ea typeface="+mn-ea"/>
                <a:cs typeface="+mn-cs"/>
              </a:rPr>
              <a:t>Surveys and/or Response Sheets – such as Customer Satisfaction surveys conducted at the end of tours/activities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Targeted questionnaires – about activities and tours usually undertaken on a less frequent basis (say every 6 – 12 months)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Focus groups – undertaken an a scheduled/regular basis with a cohort of participants whose characteristics mirror those of target markets/tour and activity users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Analysing comments made by and input received from third party providers, co-chair operators and/or joint-venture partners – on the basis of:</a:t>
            </a:r>
          </a:p>
          <a:p>
            <a:pPr marL="628650" lvl="1" indent="-171450">
              <a:buFont typeface="Arial" pitchFamily="34" charset="0"/>
              <a:buChar char="•"/>
            </a:pPr>
            <a:r>
              <a:rPr lang="en-US" sz="1200" kern="1200" dirty="0" smtClean="0">
                <a:solidFill>
                  <a:schemeClr val="tx1"/>
                </a:solidFill>
                <a:latin typeface="+mn-lt"/>
                <a:ea typeface="+mn-ea"/>
                <a:cs typeface="+mn-cs"/>
              </a:rPr>
              <a:t>Formal feedback made to them by customers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Feedback initiatives they have implemented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Overheard comments.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210</a:t>
            </a:fld>
            <a:endParaRPr lang="en-US" dirty="0"/>
          </a:p>
        </p:txBody>
      </p:sp>
    </p:spTree>
    <p:extLst>
      <p:ext uri="{BB962C8B-B14F-4D97-AF65-F5344CB8AC3E}">
        <p14:creationId xmlns:p14="http://schemas.microsoft.com/office/powerpoint/2010/main" val="1937886817"/>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noProof="0" dirty="0" smtClean="0"/>
              <a:t>Trainer offers </a:t>
            </a:r>
            <a:r>
              <a:rPr lang="en-AU" sz="1200" kern="1200" dirty="0" smtClean="0">
                <a:solidFill>
                  <a:schemeClr val="tx1"/>
                </a:solidFill>
                <a:latin typeface="+mn-lt"/>
                <a:ea typeface="+mn-ea"/>
                <a:cs typeface="+mn-cs"/>
              </a:rPr>
              <a:t>important factors in relation to feedback from customers are: </a:t>
            </a:r>
          </a:p>
          <a:p>
            <a:pPr marL="171450" indent="-171450">
              <a:buFont typeface="Arial" pitchFamily="34" charset="0"/>
              <a:buChar char="•"/>
            </a:pPr>
            <a:r>
              <a:rPr lang="en-AU" sz="1200" kern="1200" dirty="0" smtClean="0">
                <a:solidFill>
                  <a:schemeClr val="tx1"/>
                </a:solidFill>
                <a:latin typeface="+mn-lt"/>
                <a:ea typeface="+mn-ea"/>
                <a:cs typeface="+mn-cs"/>
              </a:rPr>
              <a:t>It must be asked for – there is a need to be proactive and (for example):</a:t>
            </a:r>
          </a:p>
          <a:p>
            <a:pPr marL="628650" lvl="1" indent="-171450">
              <a:buFont typeface="Arial" pitchFamily="34" charset="0"/>
              <a:buChar char="•"/>
            </a:pPr>
            <a:r>
              <a:rPr lang="en-US" sz="1200" kern="1200" dirty="0" smtClean="0">
                <a:solidFill>
                  <a:schemeClr val="tx1"/>
                </a:solidFill>
                <a:latin typeface="+mn-lt"/>
                <a:ea typeface="+mn-ea"/>
                <a:cs typeface="+mn-cs"/>
              </a:rPr>
              <a:t>Ask customers to complete Customer Comment/Feedback cards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Move around customers asking for their completed cards/forms’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Clearly indicate on tickets, receipts, advertising information the online and telephone options available</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Inform partners and relevant stakeholders their contributions in this respect are expected</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The feedback process must be formalised – in terms of:</a:t>
            </a:r>
          </a:p>
          <a:p>
            <a:pPr marL="628650" lvl="1" indent="-171450">
              <a:buFont typeface="Arial" pitchFamily="34" charset="0"/>
              <a:buChar char="•"/>
            </a:pPr>
            <a:r>
              <a:rPr lang="en-US" sz="1200" kern="1200" dirty="0" smtClean="0">
                <a:solidFill>
                  <a:schemeClr val="tx1"/>
                </a:solidFill>
                <a:latin typeface="+mn-lt"/>
                <a:ea typeface="+mn-ea"/>
                <a:cs typeface="+mn-cs"/>
              </a:rPr>
              <a:t>Being entrenched as part of SOP for the business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Having appropriate resources allocated to it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Conducting underpinning staff training</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Being conducted on a regular/scheduled or ongoing basis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Contributions received must be:</a:t>
            </a:r>
          </a:p>
          <a:p>
            <a:pPr marL="628650" lvl="1" indent="-171450">
              <a:buFont typeface="Arial" pitchFamily="34" charset="0"/>
              <a:buChar char="•"/>
            </a:pPr>
            <a:r>
              <a:rPr lang="en-US" sz="1200" kern="1200" dirty="0" smtClean="0">
                <a:solidFill>
                  <a:schemeClr val="tx1"/>
                </a:solidFill>
                <a:latin typeface="+mn-lt"/>
                <a:ea typeface="+mn-ea"/>
                <a:cs typeface="+mn-cs"/>
              </a:rPr>
              <a:t>Acknowledged – so people know their input is valued and has been received </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Recorded – for later evaluation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Investigated – where necessary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Analysed – to identify trends rather than one-off comments (unless they are significant/important)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Obvious requests/suggestions for change must not be ignored – the information provided via customer feedback is highly valuable customer data and no Tour Operator can afford to dismiss it lightly</a:t>
            </a:r>
          </a:p>
          <a:p>
            <a:pPr marL="171450" indent="-171450">
              <a:buFont typeface="Arial" pitchFamily="34" charset="0"/>
              <a:buChar char="•"/>
            </a:pPr>
            <a:r>
              <a:rPr lang="en-AU" sz="1200" kern="1200" dirty="0" smtClean="0">
                <a:solidFill>
                  <a:schemeClr val="tx1"/>
                </a:solidFill>
                <a:latin typeface="+mn-lt"/>
                <a:ea typeface="+mn-ea"/>
                <a:cs typeface="+mn-cs"/>
              </a:rPr>
              <a:t>Changes made to interpretive activities and tours on the basis of feedback received from customers must be communicated to them – so they:</a:t>
            </a:r>
          </a:p>
          <a:p>
            <a:pPr marL="628650" lvl="1" indent="-171450">
              <a:buFont typeface="Arial" pitchFamily="34" charset="0"/>
              <a:buChar char="•"/>
            </a:pPr>
            <a:r>
              <a:rPr lang="en-US" sz="1200" kern="1200" dirty="0" smtClean="0">
                <a:solidFill>
                  <a:schemeClr val="tx1"/>
                </a:solidFill>
                <a:latin typeface="+mn-lt"/>
                <a:ea typeface="+mn-ea"/>
                <a:cs typeface="+mn-cs"/>
              </a:rPr>
              <a:t>See demonstrated evidence of the customer-focussed nature of the organisation</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Can see how their comments have impacted operations.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211</a:t>
            </a:fld>
            <a:endParaRPr lang="en-US" dirty="0"/>
          </a:p>
        </p:txBody>
      </p:sp>
    </p:spTree>
    <p:extLst>
      <p:ext uri="{BB962C8B-B14F-4D97-AF65-F5344CB8AC3E}">
        <p14:creationId xmlns:p14="http://schemas.microsoft.com/office/powerpoint/2010/main" val="1013509238"/>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discusses/recaps performance criteria stating:</a:t>
            </a:r>
          </a:p>
          <a:p>
            <a:pPr marL="171450" indent="-171450">
              <a:buFont typeface="Arial" pitchFamily="34" charset="0"/>
              <a:buChar char="•"/>
            </a:pPr>
            <a:r>
              <a:rPr lang="en-AU" sz="1200" kern="1200" dirty="0" smtClean="0">
                <a:solidFill>
                  <a:schemeClr val="tx1"/>
                </a:solidFill>
                <a:latin typeface="+mn-lt"/>
                <a:ea typeface="+mn-ea"/>
                <a:cs typeface="+mn-cs"/>
              </a:rPr>
              <a:t>In relation to interpretive activities, ‘performance criteria’ refer to the range of indicators selected by Tour Operators to help them determine the extent to which individual interpretive activities which were conducted achieved the objective/s set for them during the planning phase. They are:</a:t>
            </a:r>
          </a:p>
          <a:p>
            <a:pPr marL="628650" lvl="1" indent="-171450">
              <a:buFont typeface="Arial" pitchFamily="34" charset="0"/>
              <a:buChar char="•"/>
            </a:pPr>
            <a:r>
              <a:rPr lang="en-AU" sz="1200" kern="1200" dirty="0" smtClean="0">
                <a:solidFill>
                  <a:schemeClr val="tx1"/>
                </a:solidFill>
                <a:latin typeface="+mn-lt"/>
                <a:ea typeface="+mn-ea"/>
                <a:cs typeface="+mn-cs"/>
              </a:rPr>
              <a:t>Standards (criteria) against which performance is judged</a:t>
            </a:r>
          </a:p>
          <a:p>
            <a:pPr marL="628650" lvl="1" indent="-171450">
              <a:buFont typeface="Arial" pitchFamily="34" charset="0"/>
              <a:buChar char="•"/>
            </a:pPr>
            <a:r>
              <a:rPr lang="en-AU" sz="1200" kern="1200" dirty="0" smtClean="0">
                <a:solidFill>
                  <a:schemeClr val="tx1"/>
                </a:solidFill>
                <a:latin typeface="+mn-lt"/>
                <a:ea typeface="+mn-ea"/>
                <a:cs typeface="+mn-cs"/>
              </a:rPr>
              <a:t>Sub-sets of individual objectives</a:t>
            </a:r>
          </a:p>
          <a:p>
            <a:pPr marL="171450" indent="-171450">
              <a:buFont typeface="Arial" pitchFamily="34" charset="0"/>
              <a:buChar char="•"/>
            </a:pPr>
            <a:r>
              <a:rPr lang="en-AU" sz="1200" kern="1200" dirty="0" smtClean="0">
                <a:solidFill>
                  <a:schemeClr val="tx1"/>
                </a:solidFill>
                <a:latin typeface="+mn-lt"/>
                <a:ea typeface="+mn-ea"/>
                <a:cs typeface="+mn-cs"/>
              </a:rPr>
              <a:t>They can also be known as KPIs or ‘evaluation criteria’</a:t>
            </a:r>
          </a:p>
          <a:p>
            <a:pPr marL="171450" indent="-171450">
              <a:buFont typeface="Arial" pitchFamily="34" charset="0"/>
              <a:buChar char="•"/>
            </a:pPr>
            <a:r>
              <a:rPr lang="en-AU" sz="1200" kern="1200" dirty="0" smtClean="0">
                <a:solidFill>
                  <a:schemeClr val="tx1"/>
                </a:solidFill>
                <a:latin typeface="+mn-lt"/>
                <a:ea typeface="+mn-ea"/>
                <a:cs typeface="+mn-cs"/>
              </a:rPr>
              <a:t>There is no limit to what performance criteria can be used in an evaluation but they should have been clearly identified/described during the planning stage so staff/stakeholders know </a:t>
            </a:r>
            <a:r>
              <a:rPr lang="en-AU" sz="1200" i="1" kern="1200" dirty="0" smtClean="0">
                <a:solidFill>
                  <a:schemeClr val="tx1"/>
                </a:solidFill>
                <a:latin typeface="+mn-lt"/>
                <a:ea typeface="+mn-ea"/>
                <a:cs typeface="+mn-cs"/>
              </a:rPr>
              <a:t>in advance</a:t>
            </a:r>
            <a:r>
              <a:rPr lang="en-AU" sz="1200" kern="1200" dirty="0" smtClean="0">
                <a:solidFill>
                  <a:schemeClr val="tx1"/>
                </a:solidFill>
                <a:latin typeface="+mn-lt"/>
                <a:ea typeface="+mn-ea"/>
                <a:cs typeface="+mn-cs"/>
              </a:rPr>
              <a:t> how activities will be evaluated</a:t>
            </a:r>
          </a:p>
          <a:p>
            <a:pPr marL="171450" indent="-171450">
              <a:buFont typeface="Arial" pitchFamily="34" charset="0"/>
              <a:buChar char="•"/>
            </a:pPr>
            <a:r>
              <a:rPr lang="en-AU" sz="1200" kern="1200" dirty="0" smtClean="0">
                <a:solidFill>
                  <a:schemeClr val="tx1"/>
                </a:solidFill>
                <a:latin typeface="+mn-lt"/>
                <a:ea typeface="+mn-ea"/>
                <a:cs typeface="+mn-cs"/>
              </a:rPr>
              <a:t>The one performance criteria can be used to help evaluate multiple objectives and interpretive activities.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212</a:t>
            </a:fld>
            <a:endParaRPr lang="en-US" dirty="0"/>
          </a:p>
        </p:txBody>
      </p:sp>
    </p:spTree>
    <p:extLst>
      <p:ext uri="{BB962C8B-B14F-4D97-AF65-F5344CB8AC3E}">
        <p14:creationId xmlns:p14="http://schemas.microsoft.com/office/powerpoint/2010/main" val="1968416446"/>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noProof="0" dirty="0" smtClean="0"/>
              <a:t>Trainer indicates </a:t>
            </a:r>
            <a:r>
              <a:rPr lang="en-AU" sz="1200" kern="1200" dirty="0" smtClean="0">
                <a:solidFill>
                  <a:schemeClr val="tx1"/>
                </a:solidFill>
                <a:latin typeface="+mn-lt"/>
                <a:ea typeface="+mn-ea"/>
                <a:cs typeface="+mn-cs"/>
              </a:rPr>
              <a:t>performance criteria will always differ between interpretive activities and may relate to (for example):</a:t>
            </a:r>
          </a:p>
          <a:p>
            <a:pPr marL="171450" indent="-171450">
              <a:buFont typeface="Arial" pitchFamily="34" charset="0"/>
              <a:buChar char="•"/>
            </a:pPr>
            <a:r>
              <a:rPr lang="en-AU" sz="1200" kern="1200" dirty="0" smtClean="0">
                <a:solidFill>
                  <a:schemeClr val="tx1"/>
                </a:solidFill>
                <a:latin typeface="+mn-lt"/>
                <a:ea typeface="+mn-ea"/>
                <a:cs typeface="+mn-cs"/>
              </a:rPr>
              <a:t>Describing the physical, cost-related and physical/geographic parameters within which interpretive activities are required to occur/take place</a:t>
            </a:r>
          </a:p>
          <a:p>
            <a:pPr marL="171450" indent="-171450">
              <a:buFont typeface="Arial" pitchFamily="34" charset="0"/>
              <a:buChar char="•"/>
            </a:pPr>
            <a:r>
              <a:rPr lang="en-AU" sz="1200" kern="1200" dirty="0" smtClean="0">
                <a:solidFill>
                  <a:schemeClr val="tx1"/>
                </a:solidFill>
                <a:latin typeface="+mn-lt"/>
                <a:ea typeface="+mn-ea"/>
                <a:cs typeface="+mn-cs"/>
              </a:rPr>
              <a:t>Expressing the required/anticipated level of satisfaction tour group members will experience from the activity  </a:t>
            </a:r>
          </a:p>
          <a:p>
            <a:pPr marL="171450" indent="-171450">
              <a:buFont typeface="Arial" pitchFamily="34" charset="0"/>
              <a:buChar char="•"/>
            </a:pPr>
            <a:r>
              <a:rPr lang="en-AU" sz="1200" kern="1200" dirty="0" smtClean="0">
                <a:solidFill>
                  <a:schemeClr val="tx1"/>
                </a:solidFill>
                <a:latin typeface="+mn-lt"/>
                <a:ea typeface="+mn-ea"/>
                <a:cs typeface="+mn-cs"/>
              </a:rPr>
              <a:t>Describing and quantifying the impact of activities on the environment, sustainability, local communities or other identified factors – such as infrastructure, business activity within local businesses</a:t>
            </a:r>
          </a:p>
          <a:p>
            <a:pPr marL="171450" indent="-171450">
              <a:buFont typeface="Arial" pitchFamily="34" charset="0"/>
              <a:buChar char="•"/>
            </a:pPr>
            <a:r>
              <a:rPr lang="en-AU" sz="1200" kern="1200" dirty="0" smtClean="0">
                <a:solidFill>
                  <a:schemeClr val="tx1"/>
                </a:solidFill>
                <a:latin typeface="+mn-lt"/>
                <a:ea typeface="+mn-ea"/>
                <a:cs typeface="+mn-cs"/>
              </a:rPr>
              <a:t>Matching conduct/presentation of interpretive activities against advertisements and claims made – about what the activities will deliver</a:t>
            </a:r>
          </a:p>
          <a:p>
            <a:pPr marL="171450" indent="-171450">
              <a:buFont typeface="Arial" pitchFamily="34" charset="0"/>
              <a:buChar char="•"/>
            </a:pPr>
            <a:r>
              <a:rPr lang="en-AU" sz="1200" kern="1200" dirty="0" smtClean="0">
                <a:solidFill>
                  <a:schemeClr val="tx1"/>
                </a:solidFill>
                <a:latin typeface="+mn-lt"/>
                <a:ea typeface="+mn-ea"/>
                <a:cs typeface="+mn-cs"/>
              </a:rPr>
              <a:t>Alignment between obligations the Tour Operator is under – in relation to requirements imposed by:</a:t>
            </a:r>
          </a:p>
          <a:p>
            <a:pPr marL="628650" lvl="1" indent="-171450">
              <a:buFont typeface="Arial" pitchFamily="34" charset="0"/>
              <a:buChar char="•"/>
            </a:pPr>
            <a:r>
              <a:rPr lang="en-US" sz="1200" kern="1200" dirty="0" smtClean="0">
                <a:solidFill>
                  <a:schemeClr val="tx1"/>
                </a:solidFill>
                <a:latin typeface="+mn-lt"/>
                <a:ea typeface="+mn-ea"/>
                <a:cs typeface="+mn-cs"/>
              </a:rPr>
              <a:t>Legislation; Codes; Agreements and compacts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Involving local communities and nominated groups or individuals – in the planning and implementation of activities</a:t>
            </a:r>
          </a:p>
          <a:p>
            <a:pPr marL="171450" indent="-171450">
              <a:buFont typeface="Arial" pitchFamily="34" charset="0"/>
              <a:buChar char="•"/>
            </a:pPr>
            <a:r>
              <a:rPr lang="en-AU" sz="1200" kern="1200" dirty="0" smtClean="0">
                <a:solidFill>
                  <a:schemeClr val="tx1"/>
                </a:solidFill>
                <a:latin typeface="+mn-lt"/>
                <a:ea typeface="+mn-ea"/>
                <a:cs typeface="+mn-cs"/>
              </a:rPr>
              <a:t>Protecting nominated aspects of host communities – in terms of:</a:t>
            </a:r>
          </a:p>
          <a:p>
            <a:pPr marL="628650" lvl="1" indent="-171450">
              <a:buFont typeface="Arial" pitchFamily="34" charset="0"/>
              <a:buChar char="•"/>
            </a:pPr>
            <a:r>
              <a:rPr lang="en-US" sz="1200" kern="1200" dirty="0" smtClean="0">
                <a:solidFill>
                  <a:schemeClr val="tx1"/>
                </a:solidFill>
                <a:latin typeface="+mn-lt"/>
                <a:ea typeface="+mn-ea"/>
                <a:cs typeface="+mn-cs"/>
              </a:rPr>
              <a:t>Observing restricted areas; Honouring agreements to keep identified information secret; Ensuring safety and security of the population; Providing required notifications and advice to visitors.</a:t>
            </a:r>
            <a:endParaRPr lang="en-AU" sz="1200" kern="1200" dirty="0" smtClean="0">
              <a:solidFill>
                <a:schemeClr val="tx1"/>
              </a:solidFill>
              <a:latin typeface="+mn-lt"/>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Tour Guide or Manager of Tour Operator business to attend and:</a:t>
            </a:r>
          </a:p>
          <a:p>
            <a:pPr marL="171450" indent="-171450">
              <a:buFont typeface="Arial" pitchFamily="34" charset="0"/>
              <a:buChar char="•"/>
            </a:pPr>
            <a:r>
              <a:rPr lang="en-AU" b="0" noProof="0" dirty="0" smtClean="0"/>
              <a:t>Discuss</a:t>
            </a:r>
            <a:r>
              <a:rPr lang="en-AU" b="0" baseline="0" noProof="0" dirty="0" smtClean="0"/>
              <a:t> setting of performance criteria</a:t>
            </a:r>
          </a:p>
          <a:p>
            <a:pPr marL="171450" indent="-171450">
              <a:buFont typeface="Arial" pitchFamily="34" charset="0"/>
              <a:buChar char="•"/>
            </a:pPr>
            <a:r>
              <a:rPr lang="en-AU" b="0" baseline="0" noProof="0" dirty="0" smtClean="0"/>
              <a:t>Explain why they are established</a:t>
            </a:r>
          </a:p>
          <a:p>
            <a:pPr marL="171450" indent="-171450">
              <a:buFont typeface="Arial" pitchFamily="34" charset="0"/>
              <a:buChar char="•"/>
            </a:pPr>
            <a:r>
              <a:rPr lang="en-AU" b="0" baseline="0" noProof="0" dirty="0" smtClean="0"/>
              <a:t>Describe the evaluation process</a:t>
            </a:r>
          </a:p>
          <a:p>
            <a:pPr marL="171450" indent="-171450">
              <a:buFont typeface="Arial" pitchFamily="34" charset="0"/>
              <a:buChar char="•"/>
            </a:pPr>
            <a:r>
              <a:rPr lang="en-AU" b="0" baseline="0" noProof="0" dirty="0" smtClean="0"/>
              <a:t>Identify findings/action taken as a result of the evaluations.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213</a:t>
            </a:fld>
            <a:endParaRPr lang="en-US" dirty="0"/>
          </a:p>
        </p:txBody>
      </p:sp>
    </p:spTree>
    <p:extLst>
      <p:ext uri="{BB962C8B-B14F-4D97-AF65-F5344CB8AC3E}">
        <p14:creationId xmlns:p14="http://schemas.microsoft.com/office/powerpoint/2010/main" val="4051128488"/>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the </a:t>
            </a:r>
            <a:r>
              <a:rPr lang="en-AU" sz="1200" kern="1200" dirty="0" smtClean="0">
                <a:solidFill>
                  <a:schemeClr val="tx1"/>
                </a:solidFill>
                <a:latin typeface="+mn-lt"/>
                <a:ea typeface="+mn-ea"/>
                <a:cs typeface="+mn-cs"/>
              </a:rPr>
              <a:t>keys to this evaluation are:</a:t>
            </a:r>
          </a:p>
          <a:p>
            <a:pPr marL="171450" indent="-171450">
              <a:buFont typeface="Arial" pitchFamily="34" charset="0"/>
              <a:buChar char="•"/>
            </a:pPr>
            <a:r>
              <a:rPr lang="en-AU" sz="1200" kern="1200" dirty="0" smtClean="0">
                <a:solidFill>
                  <a:schemeClr val="tx1"/>
                </a:solidFill>
                <a:latin typeface="+mn-lt"/>
                <a:ea typeface="+mn-ea"/>
                <a:cs typeface="+mn-cs"/>
              </a:rPr>
              <a:t>The stated performance criteria as stated in the plans are the standards which must be used – it is always possible/permissible to add extra performance criteria but at a minimum those developed during the planning phase need to be implemented</a:t>
            </a:r>
          </a:p>
          <a:p>
            <a:pPr marL="171450" indent="-171450">
              <a:buFont typeface="Arial" pitchFamily="34" charset="0"/>
              <a:buChar char="•"/>
            </a:pPr>
            <a:r>
              <a:rPr lang="en-AU" sz="1200" kern="1200" dirty="0" smtClean="0">
                <a:solidFill>
                  <a:schemeClr val="tx1"/>
                </a:solidFill>
                <a:latin typeface="+mn-lt"/>
                <a:ea typeface="+mn-ea"/>
                <a:cs typeface="+mn-cs"/>
              </a:rPr>
              <a:t>Actual evidence, proof or data must be used in the evaluation – as opposed to relying on hunches or ‘beliefs’. In practice/reality:</a:t>
            </a:r>
          </a:p>
          <a:p>
            <a:pPr marL="628650" lvl="1" indent="-171450">
              <a:buFont typeface="Arial" pitchFamily="34" charset="0"/>
              <a:buChar char="•"/>
            </a:pPr>
            <a:r>
              <a:rPr lang="en-AU" sz="1200" kern="1200" dirty="0" smtClean="0">
                <a:solidFill>
                  <a:schemeClr val="tx1"/>
                </a:solidFill>
                <a:latin typeface="+mn-lt"/>
                <a:ea typeface="+mn-ea"/>
                <a:cs typeface="+mn-cs"/>
              </a:rPr>
              <a:t>The information used for evaluation purposes may not always be objective data, but it should nonetheless be data as distinct from pure guesswork or a total lack of data</a:t>
            </a:r>
          </a:p>
          <a:p>
            <a:pPr marL="628650" lvl="1" indent="-171450">
              <a:buFont typeface="Arial" pitchFamily="34" charset="0"/>
              <a:buChar char="•"/>
            </a:pPr>
            <a:r>
              <a:rPr lang="en-AU" sz="1200" kern="1200" dirty="0" smtClean="0">
                <a:solidFill>
                  <a:schemeClr val="tx1"/>
                </a:solidFill>
                <a:latin typeface="+mn-lt"/>
                <a:ea typeface="+mn-ea"/>
                <a:cs typeface="+mn-cs"/>
              </a:rPr>
              <a:t>There is often a need to undertake special activities/work to generate the required data for this purpose as (for example) standard Customer Comments/feedback do not always/usually address these criteria</a:t>
            </a:r>
          </a:p>
          <a:p>
            <a:pPr marL="171450" indent="-171450">
              <a:buFont typeface="Arial" pitchFamily="34" charset="0"/>
              <a:buChar char="•"/>
            </a:pPr>
            <a:r>
              <a:rPr lang="en-AU" sz="1200" kern="1200" dirty="0" smtClean="0">
                <a:solidFill>
                  <a:schemeClr val="tx1"/>
                </a:solidFill>
                <a:latin typeface="+mn-lt"/>
                <a:ea typeface="+mn-ea"/>
                <a:cs typeface="+mn-cs"/>
              </a:rPr>
              <a:t>Statistical analysis is at the heart of the process – this means:</a:t>
            </a:r>
          </a:p>
          <a:p>
            <a:pPr marL="628650" lvl="1" indent="-171450">
              <a:buFont typeface="Arial" pitchFamily="34" charset="0"/>
              <a:buChar char="•"/>
            </a:pPr>
            <a:r>
              <a:rPr lang="en-US" sz="1200" kern="1200" dirty="0" smtClean="0">
                <a:solidFill>
                  <a:schemeClr val="tx1"/>
                </a:solidFill>
                <a:latin typeface="+mn-lt"/>
                <a:ea typeface="+mn-ea"/>
                <a:cs typeface="+mn-cs"/>
              </a:rPr>
              <a:t>Evidence needs to be quantified or presented in statistical form</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Analysis will need to be presented in some arithmetic format – such as in the form of percentage/s or ratio/s.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214</a:t>
            </a:fld>
            <a:endParaRPr lang="en-US" dirty="0"/>
          </a:p>
        </p:txBody>
      </p:sp>
    </p:spTree>
    <p:extLst>
      <p:ext uri="{BB962C8B-B14F-4D97-AF65-F5344CB8AC3E}">
        <p14:creationId xmlns:p14="http://schemas.microsoft.com/office/powerpoint/2010/main" val="376837220"/>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presenting keys to this evaluation:</a:t>
            </a:r>
          </a:p>
          <a:p>
            <a:pPr marL="171450" indent="-171450">
              <a:buFont typeface="Arial" pitchFamily="34" charset="0"/>
              <a:buChar char="•"/>
            </a:pPr>
            <a:r>
              <a:rPr lang="en-AU" sz="1200" kern="1200" dirty="0" smtClean="0">
                <a:solidFill>
                  <a:schemeClr val="tx1"/>
                </a:solidFill>
                <a:latin typeface="+mn-lt"/>
                <a:ea typeface="+mn-ea"/>
                <a:cs typeface="+mn-cs"/>
              </a:rPr>
              <a:t>The evaluation itself is a simple process of comparing the projected/required/expected figure for each performance criteria as stated in the relevant plan with the findings of the actual data </a:t>
            </a:r>
          </a:p>
          <a:p>
            <a:pPr marL="171450" indent="-171450">
              <a:buFont typeface="Arial" pitchFamily="34" charset="0"/>
              <a:buChar char="•"/>
            </a:pPr>
            <a:r>
              <a:rPr lang="en-AU" sz="1200" kern="1200" dirty="0" smtClean="0">
                <a:solidFill>
                  <a:schemeClr val="tx1"/>
                </a:solidFill>
                <a:latin typeface="+mn-lt"/>
                <a:ea typeface="+mn-ea"/>
                <a:cs typeface="+mn-cs"/>
              </a:rPr>
              <a:t>The process should result in the generation of findings – which may be/lead to:</a:t>
            </a:r>
          </a:p>
          <a:p>
            <a:pPr marL="628650" lvl="1" indent="-171450">
              <a:buFont typeface="Arial" pitchFamily="34" charset="0"/>
              <a:buChar char="•"/>
            </a:pPr>
            <a:r>
              <a:rPr lang="en-AU" sz="1200" kern="1200" dirty="0" smtClean="0">
                <a:solidFill>
                  <a:schemeClr val="tx1"/>
                </a:solidFill>
                <a:latin typeface="+mn-lt"/>
                <a:ea typeface="+mn-ea"/>
                <a:cs typeface="+mn-cs"/>
              </a:rPr>
              <a:t>Expressed in terms of outcomes</a:t>
            </a:r>
          </a:p>
          <a:p>
            <a:pPr marL="628650" lvl="1" indent="-171450">
              <a:buFont typeface="Arial" pitchFamily="34" charset="0"/>
              <a:buChar char="•"/>
            </a:pPr>
            <a:r>
              <a:rPr lang="en-AU" sz="1200" kern="1200" dirty="0" smtClean="0">
                <a:solidFill>
                  <a:schemeClr val="tx1"/>
                </a:solidFill>
                <a:latin typeface="+mn-lt"/>
                <a:ea typeface="+mn-ea"/>
                <a:cs typeface="+mn-cs"/>
              </a:rPr>
              <a:t>Written recommendations or suggestions</a:t>
            </a:r>
          </a:p>
          <a:p>
            <a:pPr marL="171450" indent="-171450">
              <a:buFont typeface="Arial" pitchFamily="34" charset="0"/>
              <a:buChar char="•"/>
            </a:pPr>
            <a:r>
              <a:rPr lang="en-AU" sz="1200" kern="1200" dirty="0" smtClean="0">
                <a:solidFill>
                  <a:schemeClr val="tx1"/>
                </a:solidFill>
                <a:latin typeface="+mn-lt"/>
                <a:ea typeface="+mn-ea"/>
                <a:cs typeface="+mn-cs"/>
              </a:rPr>
              <a:t>The performance criteria used for evaluation need to be reviewed and revised where necessary at every evaluation – to:</a:t>
            </a:r>
          </a:p>
          <a:p>
            <a:pPr marL="628650" lvl="1" indent="-171450">
              <a:buFont typeface="Arial" pitchFamily="34" charset="0"/>
              <a:buChar char="•"/>
            </a:pPr>
            <a:r>
              <a:rPr lang="en-US" sz="1200" kern="1200" dirty="0" smtClean="0">
                <a:solidFill>
                  <a:schemeClr val="tx1"/>
                </a:solidFill>
                <a:latin typeface="+mn-lt"/>
                <a:ea typeface="+mn-ea"/>
                <a:cs typeface="+mn-cs"/>
              </a:rPr>
              <a:t>Ensure they remain relevant to changing conditions, activities, contexts, objectives and target markets/audiences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Fine-tune them so they can be better used to analyse and evaluate performance.</a:t>
            </a:r>
          </a:p>
          <a:p>
            <a:pPr>
              <a:buFont typeface="Arial" pitchFamily="34" charset="0"/>
              <a:buNone/>
            </a:pPr>
            <a:endParaRPr lang="en-AU" noProof="0" dirty="0" smtClean="0"/>
          </a:p>
          <a:p>
            <a:pPr>
              <a:buFont typeface="Arial" pitchFamily="34" charset="0"/>
              <a:buNone/>
            </a:pPr>
            <a:r>
              <a:rPr lang="en-AU" b="1" noProof="0" dirty="0" smtClean="0"/>
              <a:t>Classroom Activity – Excursion</a:t>
            </a:r>
          </a:p>
          <a:p>
            <a:pPr>
              <a:buFont typeface="Arial" pitchFamily="34" charset="0"/>
              <a:buNone/>
            </a:pPr>
            <a:r>
              <a:rPr lang="en-AU" b="0" noProof="0" dirty="0" smtClean="0"/>
              <a:t>Trainer arranges to visit local Tour Operator and for students</a:t>
            </a:r>
            <a:r>
              <a:rPr lang="en-AU" b="0" baseline="0" noProof="0" dirty="0" smtClean="0"/>
              <a:t> to:</a:t>
            </a:r>
          </a:p>
          <a:p>
            <a:pPr marL="171450" indent="-171450">
              <a:buFont typeface="Arial" pitchFamily="34" charset="0"/>
              <a:buChar char="•"/>
            </a:pPr>
            <a:r>
              <a:rPr lang="en-AU" b="0" baseline="0" noProof="0" dirty="0" smtClean="0"/>
              <a:t>Talk to tour staff and management about evaluations and de-briefings</a:t>
            </a:r>
          </a:p>
          <a:p>
            <a:pPr marL="171450" indent="-171450">
              <a:buFont typeface="Arial" pitchFamily="34" charset="0"/>
              <a:buChar char="•"/>
            </a:pPr>
            <a:r>
              <a:rPr lang="en-AU" b="0" baseline="0" noProof="0" dirty="0" smtClean="0"/>
              <a:t>Attend a staff de-briefing session</a:t>
            </a:r>
          </a:p>
          <a:p>
            <a:pPr marL="171450" indent="-171450">
              <a:buFont typeface="Arial" pitchFamily="34" charset="0"/>
              <a:buChar char="•"/>
            </a:pPr>
            <a:r>
              <a:rPr lang="en-AU" b="0" baseline="0" noProof="0" dirty="0" smtClean="0"/>
              <a:t>Observe tour staff obtaining feedback from customers</a:t>
            </a:r>
          </a:p>
          <a:p>
            <a:pPr marL="171450" indent="-171450">
              <a:buFont typeface="Arial" pitchFamily="34" charset="0"/>
              <a:buChar char="•"/>
            </a:pPr>
            <a:r>
              <a:rPr lang="en-AU" b="0" baseline="0" noProof="0" dirty="0" smtClean="0"/>
              <a:t>Obtain samples of relevant forms and reports.</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215</a:t>
            </a:fld>
            <a:endParaRPr lang="en-US" dirty="0"/>
          </a:p>
        </p:txBody>
      </p:sp>
    </p:spTree>
    <p:extLst>
      <p:ext uri="{BB962C8B-B14F-4D97-AF65-F5344CB8AC3E}">
        <p14:creationId xmlns:p14="http://schemas.microsoft.com/office/powerpoint/2010/main" val="3978940955"/>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observes:</a:t>
            </a:r>
          </a:p>
          <a:p>
            <a:pPr marL="171450" indent="-171450">
              <a:buFont typeface="Arial" pitchFamily="34" charset="0"/>
              <a:buChar char="•"/>
            </a:pPr>
            <a:r>
              <a:rPr lang="en-AU" sz="1200" kern="1200" dirty="0" smtClean="0">
                <a:solidFill>
                  <a:schemeClr val="tx1"/>
                </a:solidFill>
                <a:latin typeface="+mn-lt"/>
                <a:ea typeface="+mn-ea"/>
                <a:cs typeface="+mn-cs"/>
              </a:rPr>
              <a:t>It is important changes to be made to tours/activities are based on evidence/proof as revealed by the evaluation</a:t>
            </a:r>
          </a:p>
          <a:p>
            <a:pPr marL="171450" indent="-171450">
              <a:buFont typeface="Arial" pitchFamily="34" charset="0"/>
              <a:buChar char="•"/>
            </a:pPr>
            <a:r>
              <a:rPr lang="en-AU" sz="1200" kern="1200" dirty="0" smtClean="0">
                <a:solidFill>
                  <a:schemeClr val="tx1"/>
                </a:solidFill>
                <a:latin typeface="+mn-lt"/>
                <a:ea typeface="+mn-ea"/>
                <a:cs typeface="+mn-cs"/>
              </a:rPr>
              <a:t>In some cases there can be a need to discuss proposed changes with host communities to obtain their approval prior to making implementing the revisions.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There can be a need for the following once evaluation of interpretive activities and tours has been finalised:</a:t>
            </a:r>
          </a:p>
          <a:p>
            <a:pPr marL="171450" indent="-171450">
              <a:buFont typeface="Arial" pitchFamily="34" charset="0"/>
              <a:buChar char="•"/>
            </a:pPr>
            <a:r>
              <a:rPr lang="en-AU" sz="1200" kern="1200" dirty="0" smtClean="0">
                <a:solidFill>
                  <a:schemeClr val="tx1"/>
                </a:solidFill>
                <a:latin typeface="+mn-lt"/>
                <a:ea typeface="+mn-ea"/>
                <a:cs typeface="+mn-cs"/>
              </a:rPr>
              <a:t>Undertaking new or additional risk management protocols – to ensure all proposed changes have has their risks identified and effectively controlled</a:t>
            </a:r>
          </a:p>
          <a:p>
            <a:pPr marL="171450" lvl="0" indent="-171450">
              <a:buFont typeface="Arial" pitchFamily="34" charset="0"/>
              <a:buChar char="•"/>
            </a:pPr>
            <a:r>
              <a:rPr lang="en-AU" sz="1200" kern="1200" dirty="0" smtClean="0">
                <a:solidFill>
                  <a:schemeClr val="tx1"/>
                </a:solidFill>
                <a:latin typeface="+mn-lt"/>
                <a:ea typeface="+mn-ea"/>
                <a:cs typeface="+mn-cs"/>
              </a:rPr>
              <a:t>Altering plans – in terms of:</a:t>
            </a:r>
          </a:p>
          <a:p>
            <a:pPr marL="628650" lvl="1" indent="-171450">
              <a:buFont typeface="Arial" pitchFamily="34" charset="0"/>
              <a:buChar char="•"/>
            </a:pPr>
            <a:r>
              <a:rPr lang="en-US" sz="1200" kern="1200" dirty="0" smtClean="0">
                <a:solidFill>
                  <a:schemeClr val="tx1"/>
                </a:solidFill>
                <a:latin typeface="+mn-lt"/>
                <a:ea typeface="+mn-ea"/>
                <a:cs typeface="+mn-cs"/>
              </a:rPr>
              <a:t>Operational plans – to enable achievement of new/revised operational imperatives, requirements, objectives and performance criteria</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Contingency plans – generated to provide alternative activities/options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Emergency plans – where the new/revised activity has introduced an issue which needs to be addressed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Acquiring extra or different resources – to enable the activities to:</a:t>
            </a:r>
          </a:p>
          <a:p>
            <a:pPr marL="628650" lvl="1" indent="-171450">
              <a:buFont typeface="Arial" pitchFamily="34" charset="0"/>
              <a:buChar char="•"/>
            </a:pPr>
            <a:r>
              <a:rPr lang="en-US" sz="1200" kern="1200" dirty="0" smtClean="0">
                <a:solidFill>
                  <a:schemeClr val="tx1"/>
                </a:solidFill>
                <a:latin typeface="+mn-lt"/>
                <a:ea typeface="+mn-ea"/>
                <a:cs typeface="+mn-cs"/>
              </a:rPr>
              <a:t>Be conducted as intended</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Cater for revised numbers participating in each activity</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Provide items/equipment demanded by previous customers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Feature more modern/upgraded or ‘better’ resources.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216</a:t>
            </a:fld>
            <a:endParaRPr lang="en-US" dirty="0"/>
          </a:p>
        </p:txBody>
      </p:sp>
    </p:spTree>
    <p:extLst>
      <p:ext uri="{BB962C8B-B14F-4D97-AF65-F5344CB8AC3E}">
        <p14:creationId xmlns:p14="http://schemas.microsoft.com/office/powerpoint/2010/main" val="3891261089"/>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possible changes which may need to be made:</a:t>
            </a:r>
          </a:p>
          <a:p>
            <a:pPr marL="171450" indent="-171450">
              <a:buFont typeface="Arial" pitchFamily="34" charset="0"/>
              <a:buChar char="•"/>
            </a:pPr>
            <a:r>
              <a:rPr lang="en-AU" sz="1200" kern="1200" dirty="0" smtClean="0">
                <a:solidFill>
                  <a:schemeClr val="tx1"/>
                </a:solidFill>
                <a:latin typeface="+mn-lt"/>
                <a:ea typeface="+mn-ea"/>
                <a:cs typeface="+mn-cs"/>
              </a:rPr>
              <a:t>Acquiring extra information – to:</a:t>
            </a:r>
          </a:p>
          <a:p>
            <a:pPr marL="628650" lvl="1" indent="-171450">
              <a:buFont typeface="Arial" pitchFamily="34" charset="0"/>
              <a:buChar char="•"/>
            </a:pPr>
            <a:r>
              <a:rPr lang="en-US" sz="1200" kern="1200" dirty="0" smtClean="0">
                <a:solidFill>
                  <a:schemeClr val="tx1"/>
                </a:solidFill>
                <a:latin typeface="+mn-lt"/>
                <a:ea typeface="+mn-ea"/>
                <a:cs typeface="+mn-cs"/>
              </a:rPr>
              <a:t>Meet requirements new/revised inclusions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Cater for new/re-defined audiences or groups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Address deficiencies identified by customer feedback</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Preparing revised or new activities – to: </a:t>
            </a:r>
          </a:p>
          <a:p>
            <a:pPr marL="628650" lvl="1" indent="-171450">
              <a:buFont typeface="Arial" pitchFamily="34" charset="0"/>
              <a:buChar char="•"/>
            </a:pPr>
            <a:r>
              <a:rPr lang="en-US" sz="1200" kern="1200" dirty="0" smtClean="0">
                <a:solidFill>
                  <a:schemeClr val="tx1"/>
                </a:solidFill>
                <a:latin typeface="+mn-lt"/>
                <a:ea typeface="+mn-ea"/>
                <a:cs typeface="+mn-cs"/>
              </a:rPr>
              <a:t>Accommodate newly identified requests/demands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Respond to valid criticism of previous offerings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Match the needs, wants and preferences of new/emerging markets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Generating revised or new commentaries – to:</a:t>
            </a:r>
          </a:p>
          <a:p>
            <a:pPr marL="628650" lvl="1" indent="-171450">
              <a:buFont typeface="Arial" pitchFamily="34" charset="0"/>
              <a:buChar char="•"/>
            </a:pPr>
            <a:r>
              <a:rPr lang="en-US" sz="1200" kern="1200" dirty="0" smtClean="0">
                <a:solidFill>
                  <a:schemeClr val="tx1"/>
                </a:solidFill>
                <a:latin typeface="+mn-lt"/>
                <a:ea typeface="+mn-ea"/>
                <a:cs typeface="+mn-cs"/>
              </a:rPr>
              <a:t>Provide information appropriate to new/revised inclusions, routes, content, objectives,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Reflect changes to the itinerary, travel routes and times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Incorporate specifics of new/revised activities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Changing the promotional activities for the tour – in terms of:</a:t>
            </a:r>
          </a:p>
          <a:p>
            <a:pPr marL="628650" lvl="1" indent="-171450">
              <a:buFont typeface="Arial" pitchFamily="34" charset="0"/>
              <a:buChar char="•"/>
            </a:pPr>
            <a:r>
              <a:rPr lang="en-US" sz="1200" kern="1200" dirty="0" smtClean="0">
                <a:solidFill>
                  <a:schemeClr val="tx1"/>
                </a:solidFill>
                <a:latin typeface="+mn-lt"/>
                <a:ea typeface="+mn-ea"/>
                <a:cs typeface="+mn-cs"/>
              </a:rPr>
              <a:t>Printed materials and signage/posters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Online content</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Media campaigns.</a:t>
            </a:r>
            <a:endParaRPr lang="en-AU" sz="1200" kern="1200" dirty="0" smtClean="0">
              <a:solidFill>
                <a:schemeClr val="tx1"/>
              </a:solidFill>
              <a:latin typeface="+mn-lt"/>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217</a:t>
            </a:fld>
            <a:endParaRPr lang="en-US" dirty="0"/>
          </a:p>
        </p:txBody>
      </p:sp>
    </p:spTree>
    <p:extLst>
      <p:ext uri="{BB962C8B-B14F-4D97-AF65-F5344CB8AC3E}">
        <p14:creationId xmlns:p14="http://schemas.microsoft.com/office/powerpoint/2010/main" val="4262754755"/>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possible changes which may need to be made:</a:t>
            </a:r>
          </a:p>
          <a:p>
            <a:pPr marL="171450" indent="-171450">
              <a:buFont typeface="Arial" pitchFamily="34" charset="0"/>
              <a:buChar char="•"/>
            </a:pPr>
            <a:r>
              <a:rPr lang="en-AU" sz="1200" kern="1200" dirty="0" smtClean="0">
                <a:solidFill>
                  <a:schemeClr val="tx1"/>
                </a:solidFill>
                <a:latin typeface="+mn-lt"/>
                <a:ea typeface="+mn-ea"/>
                <a:cs typeface="+mn-cs"/>
              </a:rPr>
              <a:t>Amending staffing for the tour – which may require:</a:t>
            </a:r>
          </a:p>
          <a:p>
            <a:pPr marL="628650" lvl="1" indent="-171450">
              <a:buFont typeface="Arial" pitchFamily="34" charset="0"/>
              <a:buChar char="•"/>
            </a:pPr>
            <a:r>
              <a:rPr lang="en-US" sz="1200" kern="1200" dirty="0" smtClean="0">
                <a:solidFill>
                  <a:schemeClr val="tx1"/>
                </a:solidFill>
                <a:latin typeface="+mn-lt"/>
                <a:ea typeface="+mn-ea"/>
                <a:cs typeface="+mn-cs"/>
              </a:rPr>
              <a:t>More or less staff</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More or less hours for existing staff</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Different staff with different experience, expertise and skills sets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Changing parameters relating to tour customers – which could mean:</a:t>
            </a:r>
          </a:p>
          <a:p>
            <a:pPr marL="628650" lvl="1" indent="-171450">
              <a:buFont typeface="Arial" pitchFamily="34" charset="0"/>
              <a:buChar char="•"/>
            </a:pPr>
            <a:r>
              <a:rPr lang="en-US" sz="1200" kern="1200" dirty="0" smtClean="0">
                <a:solidFill>
                  <a:schemeClr val="tx1"/>
                </a:solidFill>
                <a:latin typeface="+mn-lt"/>
                <a:ea typeface="+mn-ea"/>
                <a:cs typeface="+mn-cs"/>
              </a:rPr>
              <a:t>Increasing or decreasing group size/numbers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Imposing or easing restrictions or limitations on participants – regarding (for example) age, fitness, mobility, disability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Changing the itinerary for the tour – which may require:</a:t>
            </a:r>
          </a:p>
          <a:p>
            <a:pPr marL="628650" lvl="1" indent="-171450">
              <a:buFont typeface="Arial" pitchFamily="34" charset="0"/>
              <a:buChar char="•"/>
            </a:pPr>
            <a:r>
              <a:rPr lang="en-US" sz="1200" kern="1200" dirty="0" smtClean="0">
                <a:solidFill>
                  <a:schemeClr val="tx1"/>
                </a:solidFill>
                <a:latin typeface="+mn-lt"/>
                <a:ea typeface="+mn-ea"/>
                <a:cs typeface="+mn-cs"/>
              </a:rPr>
              <a:t>Including new activities or removing previous activities</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Altering the sequencing and/or location of activities in the tour</a:t>
            </a:r>
            <a:endParaRPr lang="en-AU" sz="1200" kern="1200" dirty="0" smtClean="0">
              <a:solidFill>
                <a:schemeClr val="tx1"/>
              </a:solidFill>
              <a:latin typeface="+mn-lt"/>
              <a:ea typeface="+mn-ea"/>
              <a:cs typeface="+mn-cs"/>
            </a:endParaRPr>
          </a:p>
          <a:p>
            <a:pPr marL="628650" lvl="1" indent="-171450">
              <a:buFont typeface="Arial" pitchFamily="34" charset="0"/>
              <a:buChar char="•"/>
            </a:pPr>
            <a:r>
              <a:rPr lang="en-US" sz="1200" kern="1200" dirty="0" smtClean="0">
                <a:solidFill>
                  <a:schemeClr val="tx1"/>
                </a:solidFill>
                <a:latin typeface="+mn-lt"/>
                <a:ea typeface="+mn-ea"/>
                <a:cs typeface="+mn-cs"/>
              </a:rPr>
              <a:t>Modifying duration of activities.</a:t>
            </a:r>
            <a:endParaRPr lang="en-AU" sz="1200" kern="1200" dirty="0" smtClean="0">
              <a:solidFill>
                <a:schemeClr val="tx1"/>
              </a:solidFill>
              <a:latin typeface="+mn-lt"/>
              <a:ea typeface="+mn-ea"/>
              <a:cs typeface="+mn-cs"/>
            </a:endParaRP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218</a:t>
            </a:fld>
            <a:endParaRPr lang="en-US" dirty="0"/>
          </a:p>
        </p:txBody>
      </p:sp>
    </p:spTree>
    <p:extLst>
      <p:ext uri="{BB962C8B-B14F-4D97-AF65-F5344CB8AC3E}">
        <p14:creationId xmlns:p14="http://schemas.microsoft.com/office/powerpoint/2010/main" val="4251190123"/>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indicates once changes have been approved for implementation they must be/need to be communicated to others such as:</a:t>
            </a:r>
          </a:p>
          <a:p>
            <a:pPr marL="171450" indent="-171450">
              <a:buFont typeface="Arial" pitchFamily="34" charset="0"/>
              <a:buChar char="•"/>
            </a:pPr>
            <a:r>
              <a:rPr lang="en-AU" sz="1200" kern="1200" dirty="0" smtClean="0">
                <a:solidFill>
                  <a:schemeClr val="tx1"/>
                </a:solidFill>
                <a:latin typeface="+mn-lt"/>
                <a:ea typeface="+mn-ea"/>
                <a:cs typeface="+mn-cs"/>
              </a:rPr>
              <a:t>Internal trainers</a:t>
            </a:r>
          </a:p>
          <a:p>
            <a:pPr marL="171450" indent="-171450">
              <a:buFont typeface="Arial" pitchFamily="34" charset="0"/>
              <a:buChar char="•"/>
            </a:pPr>
            <a:r>
              <a:rPr lang="en-AU" sz="1200" kern="1200" dirty="0" smtClean="0">
                <a:solidFill>
                  <a:schemeClr val="tx1"/>
                </a:solidFill>
                <a:latin typeface="+mn-lt"/>
                <a:ea typeface="+mn-ea"/>
                <a:cs typeface="+mn-cs"/>
              </a:rPr>
              <a:t>Host communities</a:t>
            </a:r>
          </a:p>
          <a:p>
            <a:pPr marL="171450" indent="-171450">
              <a:buFont typeface="Arial" pitchFamily="34" charset="0"/>
              <a:buChar char="•"/>
            </a:pPr>
            <a:r>
              <a:rPr lang="en-AU" sz="1200" kern="1200" dirty="0" smtClean="0">
                <a:solidFill>
                  <a:schemeClr val="tx1"/>
                </a:solidFill>
                <a:latin typeface="+mn-lt"/>
                <a:ea typeface="+mn-ea"/>
                <a:cs typeface="+mn-cs"/>
              </a:rPr>
              <a:t>Tour staff</a:t>
            </a:r>
          </a:p>
          <a:p>
            <a:pPr marL="171450" indent="-171450">
              <a:buFont typeface="Arial" pitchFamily="34" charset="0"/>
              <a:buChar char="•"/>
            </a:pPr>
            <a:r>
              <a:rPr lang="en-AU" sz="1200" kern="1200" dirty="0" smtClean="0">
                <a:solidFill>
                  <a:schemeClr val="tx1"/>
                </a:solidFill>
                <a:latin typeface="+mn-lt"/>
                <a:ea typeface="+mn-ea"/>
                <a:cs typeface="+mn-cs"/>
              </a:rPr>
              <a:t>Third party providers</a:t>
            </a:r>
          </a:p>
          <a:p>
            <a:pPr marL="171450" indent="-171450">
              <a:buFont typeface="Arial" pitchFamily="34" charset="0"/>
              <a:buChar char="•"/>
            </a:pPr>
            <a:r>
              <a:rPr lang="en-AU" sz="1200" kern="1200" dirty="0" smtClean="0">
                <a:solidFill>
                  <a:schemeClr val="tx1"/>
                </a:solidFill>
                <a:latin typeface="+mn-lt"/>
                <a:ea typeface="+mn-ea"/>
                <a:cs typeface="+mn-cs"/>
              </a:rPr>
              <a:t>Any other stakeholder potentially impacted by the changes made</a:t>
            </a:r>
          </a:p>
          <a:p>
            <a:pPr marL="171450" indent="-171450">
              <a:buFont typeface="Arial" pitchFamily="34" charset="0"/>
              <a:buChar char="•"/>
            </a:pPr>
            <a:r>
              <a:rPr lang="en-AU" sz="1200" kern="1200" dirty="0" smtClean="0">
                <a:solidFill>
                  <a:schemeClr val="tx1"/>
                </a:solidFill>
                <a:latin typeface="+mn-lt"/>
                <a:ea typeface="+mn-ea"/>
                <a:cs typeface="+mn-cs"/>
              </a:rPr>
              <a:t>Sales staff within the business</a:t>
            </a:r>
          </a:p>
          <a:p>
            <a:pPr marL="171450" indent="-171450">
              <a:buFont typeface="Arial" pitchFamily="34" charset="0"/>
              <a:buChar char="•"/>
            </a:pPr>
            <a:r>
              <a:rPr lang="en-AU" sz="1200" kern="1200" dirty="0" smtClean="0">
                <a:solidFill>
                  <a:schemeClr val="tx1"/>
                </a:solidFill>
                <a:latin typeface="+mn-lt"/>
                <a:ea typeface="+mn-ea"/>
                <a:cs typeface="+mn-cs"/>
              </a:rPr>
              <a:t>Agents and partners</a:t>
            </a:r>
          </a:p>
          <a:p>
            <a:pPr marL="171450" indent="-171450">
              <a:buFont typeface="Arial" pitchFamily="34" charset="0"/>
              <a:buChar char="•"/>
            </a:pPr>
            <a:r>
              <a:rPr lang="en-AU" sz="1200" kern="1200" dirty="0" smtClean="0">
                <a:solidFill>
                  <a:schemeClr val="tx1"/>
                </a:solidFill>
                <a:latin typeface="+mn-lt"/>
                <a:ea typeface="+mn-ea"/>
                <a:cs typeface="+mn-cs"/>
              </a:rPr>
              <a:t>The media.</a:t>
            </a:r>
          </a:p>
          <a:p>
            <a:pPr>
              <a:buFont typeface="Arial" pitchFamily="34" charset="0"/>
              <a:buChar char="•"/>
            </a:pPr>
            <a:endParaRPr lang="en-AU" sz="1200" kern="1200" noProof="0" dirty="0" smtClean="0">
              <a:solidFill>
                <a:schemeClr val="tx1"/>
              </a:solidFill>
              <a:latin typeface="+mn-lt"/>
              <a:ea typeface="+mn-ea"/>
              <a:cs typeface="+mn-cs"/>
            </a:endParaRPr>
          </a:p>
          <a:p>
            <a:pPr>
              <a:buFont typeface="Arial" pitchFamily="34" charset="0"/>
              <a:buNone/>
            </a:pPr>
            <a:r>
              <a:rPr lang="en-AU" sz="1200" b="1" kern="1200" noProof="0" dirty="0" smtClean="0">
                <a:solidFill>
                  <a:schemeClr val="tx1"/>
                </a:solidFill>
                <a:latin typeface="+mn-lt"/>
                <a:ea typeface="+mn-ea"/>
                <a:cs typeface="+mn-cs"/>
              </a:rPr>
              <a:t>Classroom Activity – General Discussion</a:t>
            </a:r>
          </a:p>
          <a:p>
            <a:pPr>
              <a:buFont typeface="Arial" pitchFamily="34" charset="0"/>
              <a:buNone/>
            </a:pPr>
            <a:r>
              <a:rPr lang="en-AU" sz="1200" b="0" kern="1200" noProof="0" dirty="0" smtClean="0">
                <a:solidFill>
                  <a:schemeClr val="tx1"/>
                </a:solidFill>
                <a:latin typeface="+mn-lt"/>
                <a:ea typeface="+mn-ea"/>
                <a:cs typeface="+mn-cs"/>
              </a:rPr>
              <a:t>Trainer leads discussion on </a:t>
            </a:r>
            <a:r>
              <a:rPr lang="en-AU" sz="1200" b="0" i="1" kern="1200" noProof="0" dirty="0" smtClean="0">
                <a:solidFill>
                  <a:schemeClr val="tx1"/>
                </a:solidFill>
                <a:latin typeface="+mn-lt"/>
                <a:ea typeface="+mn-ea"/>
                <a:cs typeface="+mn-cs"/>
              </a:rPr>
              <a:t>why </a:t>
            </a:r>
            <a:r>
              <a:rPr lang="en-AU" sz="1200" b="0" kern="1200" noProof="0" dirty="0" smtClean="0">
                <a:solidFill>
                  <a:schemeClr val="tx1"/>
                </a:solidFill>
                <a:latin typeface="+mn-lt"/>
                <a:ea typeface="+mn-ea"/>
                <a:cs typeface="+mn-cs"/>
              </a:rPr>
              <a:t>revisions need to be communicated to those listed on the slide and </a:t>
            </a:r>
            <a:r>
              <a:rPr lang="en-AU" sz="1200" b="0" i="1" kern="1200" noProof="0" dirty="0" smtClean="0">
                <a:solidFill>
                  <a:schemeClr val="tx1"/>
                </a:solidFill>
                <a:latin typeface="+mn-lt"/>
                <a:ea typeface="+mn-ea"/>
                <a:cs typeface="+mn-cs"/>
              </a:rPr>
              <a:t>how </a:t>
            </a:r>
            <a:r>
              <a:rPr lang="en-AU" sz="1200" b="0" kern="1200" noProof="0" dirty="0" smtClean="0">
                <a:solidFill>
                  <a:schemeClr val="tx1"/>
                </a:solidFill>
                <a:latin typeface="+mn-lt"/>
                <a:ea typeface="+mn-ea"/>
                <a:cs typeface="+mn-cs"/>
              </a:rPr>
              <a:t>they might be communicated.</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219</a:t>
            </a:fld>
            <a:endParaRPr lang="en-US" dirty="0"/>
          </a:p>
        </p:txBody>
      </p:sp>
    </p:spTree>
    <p:extLst>
      <p:ext uri="{BB962C8B-B14F-4D97-AF65-F5344CB8AC3E}">
        <p14:creationId xmlns:p14="http://schemas.microsoft.com/office/powerpoint/2010/main" val="3141515583"/>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220</a:t>
            </a:fld>
            <a:endParaRPr lang="en-US" dirty="0"/>
          </a:p>
        </p:txBody>
      </p:sp>
    </p:spTree>
    <p:extLst>
      <p:ext uri="{BB962C8B-B14F-4D97-AF65-F5344CB8AC3E}">
        <p14:creationId xmlns:p14="http://schemas.microsoft.com/office/powerpoint/2010/main" val="2275608374"/>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221</a:t>
            </a:fld>
            <a:endParaRPr lang="en-US" dirty="0"/>
          </a:p>
        </p:txBody>
      </p:sp>
    </p:spTree>
    <p:extLst>
      <p:ext uri="{BB962C8B-B14F-4D97-AF65-F5344CB8AC3E}">
        <p14:creationId xmlns:p14="http://schemas.microsoft.com/office/powerpoint/2010/main" val="2520234528"/>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222</a:t>
            </a:fld>
            <a:endParaRPr lang="en-US" dirty="0"/>
          </a:p>
        </p:txBody>
      </p:sp>
    </p:spTree>
    <p:extLst>
      <p:ext uri="{BB962C8B-B14F-4D97-AF65-F5344CB8AC3E}">
        <p14:creationId xmlns:p14="http://schemas.microsoft.com/office/powerpoint/2010/main" val="2423028123"/>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223</a:t>
            </a:fld>
            <a:endParaRPr lang="en-US" dirty="0"/>
          </a:p>
        </p:txBody>
      </p:sp>
    </p:spTree>
    <p:extLst>
      <p:ext uri="{BB962C8B-B14F-4D97-AF65-F5344CB8AC3E}">
        <p14:creationId xmlns:p14="http://schemas.microsoft.com/office/powerpoint/2010/main" val="2480733102"/>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224</a:t>
            </a:fld>
            <a:endParaRPr lang="en-US" dirty="0"/>
          </a:p>
        </p:txBody>
      </p:sp>
    </p:spTree>
    <p:extLst>
      <p:ext uri="{BB962C8B-B14F-4D97-AF65-F5344CB8AC3E}">
        <p14:creationId xmlns:p14="http://schemas.microsoft.com/office/powerpoint/2010/main" val="1611874715"/>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225</a:t>
            </a:fld>
            <a:endParaRPr lang="en-US" dirty="0"/>
          </a:p>
        </p:txBody>
      </p:sp>
    </p:spTree>
    <p:extLst>
      <p:ext uri="{BB962C8B-B14F-4D97-AF65-F5344CB8AC3E}">
        <p14:creationId xmlns:p14="http://schemas.microsoft.com/office/powerpoint/2010/main" val="81411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7/11/2016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400" b="1">
                <a:solidFill>
                  <a:srgbClr val="FF6600"/>
                </a:solidFill>
                <a:latin typeface="Helvetica" panose="020B0604020202020204" pitchFamily="34" charset="0"/>
                <a:cs typeface="Helvetica" panose="020B0604020202020204" pitchFamily="34" charset="0"/>
              </a:defRPr>
            </a:lvl1pPr>
          </a:lstStyle>
          <a:p>
            <a:r>
              <a:rPr kumimoji="0" lang="en-US" dirty="0" smtClean="0"/>
              <a:t>Click to edit Master title style</a:t>
            </a:r>
            <a:endParaRPr kumimoji="0" lang="en-US" dirty="0"/>
          </a:p>
        </p:txBody>
      </p:sp>
      <p:sp>
        <p:nvSpPr>
          <p:cNvPr id="3" name="Content Placeholder 2"/>
          <p:cNvSpPr>
            <a:spLocks noGrp="1"/>
          </p:cNvSpPr>
          <p:nvPr>
            <p:ph idx="1"/>
          </p:nvPr>
        </p:nvSpPr>
        <p:spPr>
          <a:xfrm>
            <a:off x="457200" y="1988840"/>
            <a:ext cx="4474840" cy="4137323"/>
          </a:xfrm>
        </p:spPr>
        <p:txBody>
          <a:bodyPr/>
          <a:lstStyle>
            <a:lvl1pPr>
              <a:defRPr sz="2000">
                <a:latin typeface="Helvetica" panose="020B0604020202020204" pitchFamily="34" charset="0"/>
                <a:cs typeface="Helvetica" panose="020B0604020202020204" pitchFamily="34" charset="0"/>
              </a:defRPr>
            </a:lvl1pPr>
            <a:lvl2pPr>
              <a:defRPr sz="1800">
                <a:latin typeface="Helvetica" panose="020B0604020202020204" pitchFamily="34" charset="0"/>
                <a:cs typeface="Helvetica" panose="020B0604020202020204" pitchFamily="34" charset="0"/>
              </a:defRPr>
            </a:lvl2pPr>
            <a:lvl3pPr>
              <a:defRPr sz="1600">
                <a:latin typeface="Helvetica" panose="020B0604020202020204" pitchFamily="34" charset="0"/>
                <a:cs typeface="Helvetica" panose="020B0604020202020204" pitchFamily="34" charset="0"/>
              </a:defRPr>
            </a:lvl3pPr>
            <a:lvl4pPr>
              <a:defRPr sz="1400">
                <a:latin typeface="Helvetica" panose="020B0604020202020204" pitchFamily="34" charset="0"/>
                <a:cs typeface="Helvetica" panose="020B0604020202020204" pitchFamily="34" charset="0"/>
              </a:defRPr>
            </a:lvl4pPr>
            <a:lvl5pPr>
              <a:defRPr sz="1400">
                <a:latin typeface="Helvetica" panose="020B0604020202020204" pitchFamily="34" charset="0"/>
                <a:cs typeface="Helvetica" panose="020B0604020202020204"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fld id="{0646F223-D3A2-44F5-8051-829B2F23C0D4}" type="datetime1">
              <a:rPr lang="en-US" smtClean="0"/>
              <a:pPr/>
              <a:t>7/11/2016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7/11/2016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7/11/2016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7/11/2016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7/11/2016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7/11/2016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7/11/2016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176.jpeg"/><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179.jpeg"/><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image" Target="../media/image180.jpeg"/><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181.jpeg"/><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182.jpeg"/><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183.jpeg"/><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184.jpeg"/><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185.jpeg"/><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image" Target="../media/image186.jpeg"/><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3" Type="http://schemas.openxmlformats.org/officeDocument/2006/relationships/image" Target="../media/image187.jpeg"/><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188.jpeg"/><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fontScale="90000"/>
          </a:bodyPr>
          <a:lstStyle/>
          <a:p>
            <a:r>
              <a:rPr lang="en-AU" sz="4000" dirty="0">
                <a:ln w="5000" cmpd="sng">
                  <a:noFill/>
                  <a:prstDash val="solid"/>
                </a:ln>
                <a:solidFill>
                  <a:srgbClr val="FF6600"/>
                </a:solidFill>
                <a:latin typeface="Helvetica" pitchFamily="34" charset="0"/>
              </a:rPr>
              <a:t>Conduct interpretive activities in the field</a:t>
            </a:r>
          </a:p>
        </p:txBody>
      </p:sp>
      <p:sp>
        <p:nvSpPr>
          <p:cNvPr id="3" name="Subtitle 2"/>
          <p:cNvSpPr>
            <a:spLocks noGrp="1"/>
          </p:cNvSpPr>
          <p:nvPr>
            <p:ph type="subTitle" idx="1"/>
          </p:nvPr>
        </p:nvSpPr>
        <p:spPr>
          <a:xfrm>
            <a:off x="5868144" y="2059138"/>
            <a:ext cx="2541268" cy="289742"/>
          </a:xfrm>
        </p:spPr>
        <p:txBody>
          <a:bodyPr>
            <a:normAutofit lnSpcReduction="10000"/>
          </a:bodyPr>
          <a:lstStyle/>
          <a:p>
            <a:r>
              <a:rPr lang="en-AU" b="1" dirty="0">
                <a:latin typeface="Helvetica" pitchFamily="34" charset="0"/>
              </a:rPr>
              <a:t>D2.TTG.CL3.03</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785786" y="2000240"/>
            <a:ext cx="5566702" cy="4207470"/>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Conduct interpretive activities in the field</a:t>
            </a:r>
            <a:endParaRPr lang="en-US" dirty="0"/>
          </a:p>
        </p:txBody>
      </p:sp>
      <p:sp>
        <p:nvSpPr>
          <p:cNvPr id="3" name="Content Placeholder 2"/>
          <p:cNvSpPr>
            <a:spLocks noGrp="1"/>
          </p:cNvSpPr>
          <p:nvPr>
            <p:ph idx="1"/>
          </p:nvPr>
        </p:nvSpPr>
        <p:spPr/>
        <p:txBody>
          <a:bodyPr/>
          <a:lstStyle/>
          <a:p>
            <a:pPr marL="36576" indent="0">
              <a:buNone/>
            </a:pPr>
            <a:r>
              <a:rPr lang="en-US" dirty="0" smtClean="0"/>
              <a:t>This Unit comprises four Elements:</a:t>
            </a:r>
          </a:p>
          <a:p>
            <a:pPr marL="36576" indent="0">
              <a:buNone/>
            </a:pPr>
            <a:r>
              <a:rPr lang="en-US" dirty="0" smtClean="0"/>
              <a:t>1. Make on-tour preparations</a:t>
            </a:r>
          </a:p>
          <a:p>
            <a:pPr marL="36576" indent="0">
              <a:buNone/>
            </a:pPr>
            <a:r>
              <a:rPr lang="en-US" dirty="0" smtClean="0"/>
              <a:t>2. Introduce the interpretive activity</a:t>
            </a:r>
          </a:p>
          <a:p>
            <a:pPr marL="36576" indent="0">
              <a:buNone/>
            </a:pPr>
            <a:r>
              <a:rPr lang="en-US" dirty="0" smtClean="0"/>
              <a:t>3. Conduct the interpretive activity</a:t>
            </a:r>
          </a:p>
          <a:p>
            <a:pPr marL="36576" indent="0">
              <a:buNone/>
            </a:pPr>
            <a:r>
              <a:rPr lang="en-US" dirty="0" smtClean="0"/>
              <a:t>4. Review the interpretive activity</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988840"/>
            <a:ext cx="1890000" cy="252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752528" cy="4093915"/>
          </a:xfrm>
        </p:spPr>
        <p:txBody>
          <a:bodyPr>
            <a:normAutofit fontScale="92500" lnSpcReduction="10000"/>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00B050"/>
              </a:buClr>
            </a:pPr>
            <a:r>
              <a:rPr lang="en-US" sz="2200" dirty="0" smtClean="0"/>
              <a:t>Oral questions</a:t>
            </a:r>
          </a:p>
          <a:p>
            <a:pPr marL="360000" indent="-360000">
              <a:spcBef>
                <a:spcPts val="600"/>
              </a:spcBef>
              <a:spcAft>
                <a:spcPts val="1200"/>
              </a:spcAft>
              <a:buClr>
                <a:srgbClr val="00B050"/>
              </a:buClr>
            </a:pPr>
            <a:r>
              <a:rPr lang="en-US" sz="2200" dirty="0" smtClean="0"/>
              <a:t>Written questions</a:t>
            </a:r>
          </a:p>
          <a:p>
            <a:pPr marL="360000" indent="-360000">
              <a:spcBef>
                <a:spcPts val="600"/>
              </a:spcBef>
              <a:spcAft>
                <a:spcPts val="1200"/>
              </a:spcAft>
              <a:buClr>
                <a:srgbClr val="00B050"/>
              </a:buClr>
            </a:pPr>
            <a:r>
              <a:rPr lang="en-US" sz="2200" dirty="0" smtClean="0"/>
              <a:t>Work projects</a:t>
            </a:r>
          </a:p>
          <a:p>
            <a:pPr marL="360000" indent="-360000">
              <a:spcBef>
                <a:spcPts val="600"/>
              </a:spcBef>
              <a:spcAft>
                <a:spcPts val="1200"/>
              </a:spcAft>
              <a:buClr>
                <a:srgbClr val="00B050"/>
              </a:buClr>
            </a:pPr>
            <a:r>
              <a:rPr lang="en-US" sz="2200" dirty="0" smtClean="0"/>
              <a:t>Workplace observation of practical skills</a:t>
            </a:r>
          </a:p>
          <a:p>
            <a:pPr marL="360000" indent="-360000">
              <a:spcBef>
                <a:spcPts val="600"/>
              </a:spcBef>
              <a:spcAft>
                <a:spcPts val="1200"/>
              </a:spcAft>
              <a:buClr>
                <a:srgbClr val="00B050"/>
              </a:buClr>
            </a:pPr>
            <a:r>
              <a:rPr lang="en-US" sz="2200" dirty="0" smtClean="0"/>
              <a:t>Practical exercises</a:t>
            </a:r>
          </a:p>
          <a:p>
            <a:pPr marL="360000" indent="-360000">
              <a:spcBef>
                <a:spcPts val="600"/>
              </a:spcBef>
              <a:spcAft>
                <a:spcPts val="1200"/>
              </a:spcAft>
              <a:buClr>
                <a:srgbClr val="00B050"/>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577921" y="1968816"/>
            <a:ext cx="2560320" cy="170444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1 – Make on-tour preparations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Performance Criteria for this Element are:</a:t>
            </a:r>
          </a:p>
          <a:p>
            <a:r>
              <a:rPr lang="en-AU" dirty="0" smtClean="0"/>
              <a:t>Implement interpretive activity plans</a:t>
            </a:r>
            <a:endParaRPr lang="en-US" dirty="0" smtClean="0"/>
          </a:p>
          <a:p>
            <a:r>
              <a:rPr lang="en-AU" dirty="0" smtClean="0"/>
              <a:t>Schedule the interpretive activity</a:t>
            </a:r>
          </a:p>
          <a:p>
            <a:r>
              <a:rPr lang="en-AU" dirty="0" smtClean="0"/>
              <a:t>Prepare on-tour requirements to support the interpretive activity</a:t>
            </a:r>
          </a:p>
          <a:p>
            <a:r>
              <a:rPr lang="en-AU" dirty="0" smtClean="0"/>
              <a:t>Confirm operational details with colleagues</a:t>
            </a:r>
          </a:p>
          <a:p>
            <a:r>
              <a:rPr lang="en-AU" dirty="0" smtClean="0"/>
              <a:t>Ensure safety issues have been addressed</a:t>
            </a:r>
          </a:p>
          <a:p>
            <a:r>
              <a:rPr lang="en-AU" dirty="0" smtClean="0"/>
              <a:t>Provide for maximum engagement by customers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73400" y="1988840"/>
            <a:ext cx="2880000" cy="2160000"/>
          </a:xfrm>
          <a:prstGeom prst="rect">
            <a:avLst/>
          </a:prstGeom>
          <a:ln>
            <a:noFill/>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Context:</a:t>
            </a:r>
          </a:p>
          <a:p>
            <a:r>
              <a:rPr lang="en-AU" dirty="0" smtClean="0"/>
              <a:t>Unit deals with skills and knowledge required to deliver interpretive activities to groups and individual on tour</a:t>
            </a:r>
          </a:p>
          <a:p>
            <a:r>
              <a:rPr lang="en-AU" dirty="0" smtClean="0"/>
              <a:t>Does not include the pre-tour research, planning and preparation required to precede the presentation of an interpretive activity in the field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33463"/>
          <a:stretch/>
        </p:blipFill>
        <p:spPr>
          <a:xfrm>
            <a:off x="5148064" y="2071652"/>
            <a:ext cx="2448272" cy="24542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a:xfrm>
            <a:off x="457200" y="1988839"/>
            <a:ext cx="4834880" cy="4608513"/>
          </a:xfrm>
        </p:spPr>
        <p:txBody>
          <a:bodyPr>
            <a:normAutofit lnSpcReduction="10000"/>
          </a:bodyPr>
          <a:lstStyle/>
          <a:p>
            <a:pPr marL="36576" indent="0">
              <a:buNone/>
            </a:pPr>
            <a:r>
              <a:rPr lang="en-US" dirty="0" smtClean="0"/>
              <a:t>Concept of interpretive guiding:</a:t>
            </a:r>
          </a:p>
          <a:p>
            <a:r>
              <a:rPr lang="en-AU" dirty="0" smtClean="0"/>
              <a:t>Use of interpretive activities and presentation techniques by a Tour Guide when leading/presenting a tour</a:t>
            </a:r>
          </a:p>
          <a:p>
            <a:r>
              <a:rPr lang="en-AU" dirty="0" smtClean="0"/>
              <a:t>Makes a much more memorable experience</a:t>
            </a:r>
          </a:p>
          <a:p>
            <a:r>
              <a:rPr lang="en-AU" dirty="0" smtClean="0"/>
              <a:t>Goes beyond the basic provision of information </a:t>
            </a:r>
          </a:p>
          <a:p>
            <a:r>
              <a:rPr lang="en-AU" dirty="0" smtClean="0"/>
              <a:t>Refers to use of interpretive activities and techniques to interpret topics/areas</a:t>
            </a:r>
          </a:p>
          <a:p>
            <a:r>
              <a:rPr lang="en-AU" dirty="0" smtClean="0"/>
              <a:t>Seeks to make people care about/for topics and subjects which are the focus of interpretive activities</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2001292"/>
            <a:ext cx="2861320" cy="19027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normAutofit fontScale="92500" lnSpcReduction="20000"/>
          </a:bodyPr>
          <a:lstStyle/>
          <a:p>
            <a:pPr marL="36576" indent="0">
              <a:buNone/>
            </a:pPr>
            <a:r>
              <a:rPr lang="en-US" dirty="0" smtClean="0"/>
              <a:t>Seven questions to address:</a:t>
            </a:r>
          </a:p>
          <a:p>
            <a:r>
              <a:rPr lang="en-AU" dirty="0" smtClean="0"/>
              <a:t>Why is the interpretive activity being conducted?</a:t>
            </a:r>
          </a:p>
          <a:p>
            <a:r>
              <a:rPr lang="en-AU" dirty="0" smtClean="0"/>
              <a:t>When is the interpretive activity to be presented?</a:t>
            </a:r>
          </a:p>
          <a:p>
            <a:r>
              <a:rPr lang="en-AU" dirty="0" smtClean="0"/>
              <a:t>Where is the interpretive activity to be conducted?</a:t>
            </a:r>
          </a:p>
          <a:p>
            <a:r>
              <a:rPr lang="en-AU" dirty="0" smtClean="0"/>
              <a:t>Who is involved in the activity?</a:t>
            </a:r>
          </a:p>
          <a:p>
            <a:r>
              <a:rPr lang="en-AU" dirty="0" smtClean="0"/>
              <a:t>How is the interpretive activity to be conducted/presented?</a:t>
            </a:r>
          </a:p>
          <a:p>
            <a:r>
              <a:rPr lang="en-AU" dirty="0" smtClean="0"/>
              <a:t>What resources are available to deliver the interpretive activity?</a:t>
            </a:r>
          </a:p>
          <a:p>
            <a:r>
              <a:rPr lang="en-AU" dirty="0" smtClean="0"/>
              <a:t>Have necessary permissions to conduct the activity been obtained?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21965" y="1988840"/>
            <a:ext cx="2831435" cy="18829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normAutofit/>
          </a:bodyPr>
          <a:lstStyle/>
          <a:p>
            <a:r>
              <a:rPr lang="en-US" dirty="0" smtClean="0"/>
              <a:t>Why is the activity being conducted?</a:t>
            </a:r>
          </a:p>
          <a:p>
            <a:r>
              <a:rPr lang="en-US" dirty="0" smtClean="0"/>
              <a:t>Plans need to accommodate a range of factors</a:t>
            </a:r>
          </a:p>
          <a:p>
            <a:r>
              <a:rPr lang="en-US" dirty="0" smtClean="0"/>
              <a:t>Exact nature of plans will:</a:t>
            </a:r>
          </a:p>
          <a:p>
            <a:pPr lvl="1"/>
            <a:r>
              <a:rPr lang="en-US" dirty="0" smtClean="0"/>
              <a:t>Vary between tours</a:t>
            </a:r>
          </a:p>
          <a:p>
            <a:pPr lvl="1"/>
            <a:r>
              <a:rPr lang="en-US" dirty="0" smtClean="0"/>
              <a:t>Alter over time/with seasons</a:t>
            </a:r>
          </a:p>
          <a:p>
            <a:pPr lvl="1"/>
            <a:r>
              <a:rPr lang="en-US" dirty="0" smtClean="0"/>
              <a:t>Differ to reflect special needs/requests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39"/>
            <a:ext cx="2160240" cy="32387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normAutofit/>
          </a:bodyPr>
          <a:lstStyle/>
          <a:p>
            <a:pPr marL="36576" indent="0">
              <a:buNone/>
            </a:pPr>
            <a:r>
              <a:rPr lang="en-AU" dirty="0" smtClean="0"/>
              <a:t>Need to understand why tour is being conducted to:</a:t>
            </a:r>
            <a:endParaRPr lang="en-US" dirty="0" smtClean="0"/>
          </a:p>
          <a:p>
            <a:r>
              <a:rPr lang="en-AU" dirty="0" smtClean="0"/>
              <a:t>Place the tour into its true context</a:t>
            </a:r>
          </a:p>
          <a:p>
            <a:r>
              <a:rPr lang="en-AU" dirty="0" smtClean="0"/>
              <a:t>Optimise likelihood of meeting customer expectations</a:t>
            </a:r>
          </a:p>
          <a:p>
            <a:r>
              <a:rPr lang="en-AU" dirty="0" smtClean="0"/>
              <a:t>Accommodate feedback received</a:t>
            </a:r>
          </a:p>
          <a:p>
            <a:r>
              <a:rPr lang="en-AU" dirty="0" smtClean="0"/>
              <a:t>Discharge legal obligations</a:t>
            </a:r>
          </a:p>
          <a:p>
            <a:r>
              <a:rPr lang="en-AU" dirty="0" smtClean="0"/>
              <a:t>Identify subjects which may be the focus of interpretive guiding/activities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03586" y="1988840"/>
            <a:ext cx="1915413" cy="28803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lstStyle/>
          <a:p>
            <a:pPr marL="36576" indent="0">
              <a:buNone/>
            </a:pPr>
            <a:r>
              <a:rPr lang="en-US" dirty="0" smtClean="0"/>
              <a:t>Private/custom tours:</a:t>
            </a:r>
          </a:p>
          <a:p>
            <a:r>
              <a:rPr lang="en-AU" dirty="0" smtClean="0"/>
              <a:t>Developed under contract with a client </a:t>
            </a:r>
          </a:p>
          <a:p>
            <a:r>
              <a:rPr lang="en-AU" dirty="0" smtClean="0"/>
              <a:t>Customised on a one-off basis</a:t>
            </a:r>
          </a:p>
          <a:p>
            <a:r>
              <a:rPr lang="en-AU" dirty="0" smtClean="0"/>
              <a:t>Designed to meet particular need</a:t>
            </a:r>
            <a:endParaRPr lang="en-US" dirty="0" smtClean="0"/>
          </a:p>
          <a:p>
            <a:r>
              <a:rPr lang="en-US" dirty="0" smtClean="0"/>
              <a:t>Run when required by client</a:t>
            </a:r>
          </a:p>
          <a:p>
            <a:r>
              <a:rPr lang="en-US" dirty="0" smtClean="0"/>
              <a:t>Planned on a tour-by-tour basis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988840"/>
            <a:ext cx="2279904" cy="304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lstStyle/>
          <a:p>
            <a:pPr marL="36576" indent="0">
              <a:buNone/>
            </a:pPr>
            <a:r>
              <a:rPr lang="en-US" dirty="0" smtClean="0"/>
              <a:t>Implementation requirements for private/custom tours:</a:t>
            </a:r>
          </a:p>
          <a:p>
            <a:r>
              <a:rPr lang="en-AU" dirty="0" smtClean="0"/>
              <a:t>May be based on implementation requirements for standard tours</a:t>
            </a:r>
            <a:endParaRPr lang="en-US" dirty="0" smtClean="0"/>
          </a:p>
          <a:p>
            <a:r>
              <a:rPr lang="en-US" dirty="0" smtClean="0"/>
              <a:t>Often unique in nature</a:t>
            </a:r>
          </a:p>
          <a:p>
            <a:r>
              <a:rPr lang="en-US" dirty="0" smtClean="0"/>
              <a:t>Requires contact/communication with client</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1984648"/>
            <a:ext cx="2356104" cy="304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Standard/scheduled tour:</a:t>
            </a:r>
          </a:p>
          <a:p>
            <a:r>
              <a:rPr lang="en-US" dirty="0" smtClean="0"/>
              <a:t>Is the normal/regular tour advertised by the business</a:t>
            </a:r>
          </a:p>
          <a:p>
            <a:r>
              <a:rPr lang="en-US" dirty="0" smtClean="0"/>
              <a:t>Available to everyone</a:t>
            </a:r>
          </a:p>
          <a:p>
            <a:r>
              <a:rPr lang="en-US" dirty="0" smtClean="0"/>
              <a:t>Taken by most people</a:t>
            </a:r>
          </a:p>
          <a:p>
            <a:r>
              <a:rPr lang="en-US" dirty="0" smtClean="0"/>
              <a:t>Same itinerary every time</a:t>
            </a:r>
          </a:p>
          <a:p>
            <a:r>
              <a:rPr lang="en-US" dirty="0" smtClean="0"/>
              <a:t>Same interpretive activities every time</a:t>
            </a:r>
          </a:p>
          <a:p>
            <a:r>
              <a:rPr lang="en-US" dirty="0" smtClean="0"/>
              <a:t>Same thing time-after-time</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8120" y="1988840"/>
            <a:ext cx="3048000" cy="20330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Implementation requirements for standard/scheduled tours:</a:t>
            </a:r>
          </a:p>
          <a:p>
            <a:r>
              <a:rPr lang="en-US" dirty="0" smtClean="0"/>
              <a:t>Features standard preparation and planning</a:t>
            </a:r>
          </a:p>
          <a:p>
            <a:r>
              <a:rPr lang="en-US" dirty="0" smtClean="0"/>
              <a:t>May require checks to determine if special requests have been made</a:t>
            </a:r>
          </a:p>
          <a:p>
            <a:r>
              <a:rPr lang="en-US" dirty="0" smtClean="0"/>
              <a:t>May require adjustment/s to accommodate need to change normal route, commentary, inclusions and/or activities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3000" y="2001664"/>
            <a:ext cx="2971800" cy="304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‘Theme/s and message/s’:</a:t>
            </a:r>
          </a:p>
          <a:p>
            <a:r>
              <a:rPr lang="en-US" dirty="0" smtClean="0"/>
              <a:t>Two terms used interchangeable but are different</a:t>
            </a:r>
          </a:p>
          <a:p>
            <a:r>
              <a:rPr lang="en-AU" dirty="0" smtClean="0"/>
              <a:t>‘Message’ is an uncomplicated stand-alone statement which makes sense on its own but underpins and supports the theme for an activity</a:t>
            </a:r>
            <a:endParaRPr lang="en-US" dirty="0" smtClean="0"/>
          </a:p>
          <a:p>
            <a:r>
              <a:rPr lang="en-AU" dirty="0" smtClean="0"/>
              <a:t>‘Theme’ is often referred to as ‘the take home message’ for the visitors</a:t>
            </a:r>
          </a:p>
          <a:p>
            <a:pPr marL="36576" indent="0">
              <a:buNone/>
            </a:pPr>
            <a:r>
              <a:rPr lang="en-AU" sz="1400" dirty="0" smtClean="0"/>
              <a:t>(Continued)</a:t>
            </a:r>
            <a:endParaRPr lang="en-US" sz="1400"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436096" y="1988840"/>
            <a:ext cx="2129760" cy="306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lstStyle/>
          <a:p>
            <a:r>
              <a:rPr lang="en-US" dirty="0" smtClean="0"/>
              <a:t>No limit on nature of messages and themes</a:t>
            </a:r>
          </a:p>
          <a:p>
            <a:r>
              <a:rPr lang="en-US" dirty="0" smtClean="0"/>
              <a:t>They are the story-lines for activities</a:t>
            </a:r>
          </a:p>
          <a:p>
            <a:r>
              <a:rPr lang="en-US" dirty="0" smtClean="0"/>
              <a:t>They flow from the name/title of the tour</a:t>
            </a:r>
          </a:p>
          <a:p>
            <a:r>
              <a:rPr lang="en-US" dirty="0" smtClean="0"/>
              <a:t>Can be one or multiple</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92080" y="2132856"/>
            <a:ext cx="2211182" cy="306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lstStyle/>
          <a:p>
            <a:pPr marL="36576" indent="0">
              <a:buNone/>
            </a:pPr>
            <a:r>
              <a:rPr lang="en-US" dirty="0" smtClean="0"/>
              <a:t>When is the interpretive activity to be presented?</a:t>
            </a:r>
          </a:p>
          <a:p>
            <a:r>
              <a:rPr lang="en-US" dirty="0" smtClean="0"/>
              <a:t>Tour Guide needs to view itinerary to determine this in order to:</a:t>
            </a:r>
          </a:p>
          <a:p>
            <a:pPr lvl="1"/>
            <a:r>
              <a:rPr lang="en-US" dirty="0" smtClean="0"/>
              <a:t>Get a context for the tour</a:t>
            </a:r>
          </a:p>
          <a:p>
            <a:pPr lvl="1"/>
            <a:r>
              <a:rPr lang="en-US" dirty="0" smtClean="0"/>
              <a:t>Identify start time</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604136" y="1988840"/>
            <a:ext cx="2200596" cy="306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lstStyle/>
          <a:p>
            <a:r>
              <a:rPr lang="en-US" dirty="0" smtClean="0"/>
              <a:t>Identify finish time</a:t>
            </a:r>
          </a:p>
          <a:p>
            <a:r>
              <a:rPr lang="en-US" dirty="0" smtClean="0"/>
              <a:t>Determine sequencing and other timing-related issues and imperatives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844824"/>
            <a:ext cx="1993371" cy="306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lstStyle/>
          <a:p>
            <a:pPr marL="36576" indent="0">
              <a:buNone/>
            </a:pPr>
            <a:r>
              <a:rPr lang="en-US" dirty="0" smtClean="0"/>
              <a:t>Where is the interpretive activity to be conducted?</a:t>
            </a:r>
          </a:p>
          <a:p>
            <a:r>
              <a:rPr lang="en-US" dirty="0" smtClean="0"/>
              <a:t>Common options:</a:t>
            </a:r>
          </a:p>
          <a:p>
            <a:pPr lvl="1"/>
            <a:r>
              <a:rPr lang="en-US" dirty="0" smtClean="0"/>
              <a:t>In the Tour Operator building</a:t>
            </a:r>
          </a:p>
          <a:p>
            <a:pPr lvl="1"/>
            <a:r>
              <a:rPr lang="en-US" dirty="0" smtClean="0"/>
              <a:t>On-site</a:t>
            </a:r>
          </a:p>
          <a:p>
            <a:pPr lvl="1"/>
            <a:r>
              <a:rPr lang="en-US" dirty="0" smtClean="0"/>
              <a:t>On a tour vehicle</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16016" y="1844824"/>
            <a:ext cx="2612475" cy="306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lstStyle/>
          <a:p>
            <a:pPr marL="36576" indent="0">
              <a:buNone/>
            </a:pPr>
            <a:r>
              <a:rPr lang="en-US" dirty="0" smtClean="0"/>
              <a:t>Knowing the location is important because:</a:t>
            </a:r>
          </a:p>
          <a:p>
            <a:r>
              <a:rPr lang="en-US" dirty="0" smtClean="0"/>
              <a:t>It helps prepare mentally</a:t>
            </a:r>
          </a:p>
          <a:p>
            <a:r>
              <a:rPr lang="en-US" dirty="0" smtClean="0"/>
              <a:t>Provides an understanding of travel times</a:t>
            </a:r>
          </a:p>
          <a:p>
            <a:r>
              <a:rPr lang="en-US" dirty="0" smtClean="0"/>
              <a:t>Creates a basis for what is required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39"/>
            <a:ext cx="3077344" cy="216337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lstStyle/>
          <a:p>
            <a:pPr marL="36576" indent="0">
              <a:buNone/>
            </a:pPr>
            <a:r>
              <a:rPr lang="en-US" dirty="0" smtClean="0"/>
              <a:t>Who is involved in the activity?</a:t>
            </a:r>
          </a:p>
          <a:p>
            <a:r>
              <a:rPr lang="en-US" dirty="0" smtClean="0"/>
              <a:t>Options/personnel may include:</a:t>
            </a:r>
          </a:p>
          <a:p>
            <a:pPr lvl="1"/>
            <a:r>
              <a:rPr lang="en-US" dirty="0" smtClean="0"/>
              <a:t>Staff from the Tour Operator</a:t>
            </a:r>
          </a:p>
          <a:p>
            <a:pPr lvl="1"/>
            <a:r>
              <a:rPr lang="en-US" dirty="0" smtClean="0"/>
              <a:t>Members of local communities</a:t>
            </a:r>
          </a:p>
          <a:p>
            <a:pPr lvl="1"/>
            <a:r>
              <a:rPr lang="en-US" dirty="0" smtClean="0"/>
              <a:t>Specialists from third party providers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988840"/>
            <a:ext cx="2040000" cy="306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lstStyle/>
          <a:p>
            <a:pPr marL="36576" indent="0">
              <a:buNone/>
            </a:pPr>
            <a:r>
              <a:rPr lang="en-US" dirty="0" smtClean="0"/>
              <a:t>Tour Guide needs to know:</a:t>
            </a:r>
          </a:p>
          <a:p>
            <a:r>
              <a:rPr lang="en-US" dirty="0" smtClean="0"/>
              <a:t>Who and how many personnel are to be used</a:t>
            </a:r>
          </a:p>
          <a:p>
            <a:r>
              <a:rPr lang="en-US" dirty="0" smtClean="0"/>
              <a:t>Roles and responsibilities</a:t>
            </a:r>
          </a:p>
          <a:p>
            <a:r>
              <a:rPr lang="en-US" dirty="0" smtClean="0"/>
              <a:t>How their job integrates with other services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44008" y="1772816"/>
            <a:ext cx="4064871" cy="324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lstStyle/>
          <a:p>
            <a:pPr marL="36576" indent="0">
              <a:buNone/>
            </a:pPr>
            <a:r>
              <a:rPr lang="en-US" dirty="0" smtClean="0"/>
              <a:t>How is the activity to be conducted?</a:t>
            </a:r>
          </a:p>
          <a:p>
            <a:r>
              <a:rPr lang="en-US" dirty="0" smtClean="0"/>
              <a:t>Plans will detail:</a:t>
            </a:r>
          </a:p>
          <a:p>
            <a:pPr lvl="1"/>
            <a:r>
              <a:rPr lang="en-US" dirty="0" smtClean="0"/>
              <a:t>Interpretive techniques to be used</a:t>
            </a:r>
          </a:p>
          <a:p>
            <a:pPr lvl="1"/>
            <a:r>
              <a:rPr lang="en-US" dirty="0" smtClean="0"/>
              <a:t>Tour and activity communication</a:t>
            </a:r>
          </a:p>
          <a:p>
            <a:pPr lvl="1"/>
            <a:r>
              <a:rPr lang="en-US" dirty="0" smtClean="0"/>
              <a:t>Safety and security</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415913" cy="3240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Tour Guides must:</a:t>
            </a:r>
          </a:p>
          <a:p>
            <a:r>
              <a:rPr lang="en-US" dirty="0" smtClean="0"/>
              <a:t>Become familiar with risk management plans for the activity</a:t>
            </a:r>
          </a:p>
          <a:p>
            <a:r>
              <a:rPr lang="en-US" dirty="0" smtClean="0"/>
              <a:t>Learn all applicable risk control measures to be applied</a:t>
            </a:r>
          </a:p>
          <a:p>
            <a:r>
              <a:rPr lang="en-US" dirty="0" smtClean="0"/>
              <a:t>Ensure necessary resources are loaded</a:t>
            </a:r>
          </a:p>
          <a:p>
            <a:r>
              <a:rPr lang="en-US" dirty="0" smtClean="0"/>
              <a:t>Check facilities and arrangements to ensure security</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628800"/>
            <a:ext cx="2598893" cy="3240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lstStyle/>
          <a:p>
            <a:pPr marL="36576" indent="0">
              <a:buNone/>
            </a:pPr>
            <a:r>
              <a:rPr lang="en-US" dirty="0" smtClean="0"/>
              <a:t>What resources are available to deliver the activity?</a:t>
            </a:r>
          </a:p>
          <a:p>
            <a:r>
              <a:rPr lang="en-US" dirty="0" smtClean="0"/>
              <a:t>Resources will relate to:</a:t>
            </a:r>
          </a:p>
          <a:p>
            <a:pPr lvl="1"/>
            <a:r>
              <a:rPr lang="en-US" dirty="0" smtClean="0"/>
              <a:t>Human resources</a:t>
            </a:r>
          </a:p>
          <a:p>
            <a:pPr lvl="1"/>
            <a:r>
              <a:rPr lang="en-US" dirty="0" smtClean="0"/>
              <a:t>Physical resources</a:t>
            </a:r>
          </a:p>
          <a:p>
            <a:pPr lvl="1"/>
            <a:r>
              <a:rPr lang="en-US" dirty="0" smtClean="0"/>
              <a:t>Financial resources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2276872"/>
            <a:ext cx="2340900" cy="324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Tour Guides need to know ‘available/required resources’ to:</a:t>
            </a:r>
          </a:p>
          <a:p>
            <a:r>
              <a:rPr lang="en-US" dirty="0" smtClean="0"/>
              <a:t>Cross-check requirements against supply</a:t>
            </a:r>
          </a:p>
          <a:p>
            <a:r>
              <a:rPr lang="en-US" dirty="0" smtClean="0"/>
              <a:t>Determine financial parameters/budget</a:t>
            </a:r>
          </a:p>
          <a:p>
            <a:r>
              <a:rPr lang="en-US" dirty="0" smtClean="0"/>
              <a:t>Ensure all required resources are prepared and loaded for the tour/activity</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652120" y="1772816"/>
            <a:ext cx="2283525" cy="3240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interpretive activity plans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Have necessary permissions been obtained?</a:t>
            </a:r>
          </a:p>
          <a:p>
            <a:r>
              <a:rPr lang="en-US" dirty="0" smtClean="0"/>
              <a:t>This may require:</a:t>
            </a:r>
          </a:p>
          <a:p>
            <a:pPr lvl="1"/>
            <a:r>
              <a:rPr lang="en-US" dirty="0" smtClean="0"/>
              <a:t>Sighting written evidence of management </a:t>
            </a:r>
            <a:r>
              <a:rPr lang="en-US" dirty="0" err="1" smtClean="0"/>
              <a:t>authorisation</a:t>
            </a:r>
            <a:endParaRPr lang="en-US" dirty="0" smtClean="0"/>
          </a:p>
          <a:p>
            <a:pPr lvl="1"/>
            <a:r>
              <a:rPr lang="en-US" dirty="0" smtClean="0"/>
              <a:t>Verifying required permits have been issued</a:t>
            </a:r>
          </a:p>
          <a:p>
            <a:pPr lvl="1"/>
            <a:r>
              <a:rPr lang="en-US" dirty="0" smtClean="0"/>
              <a:t>Ensuring agreement from local communities</a:t>
            </a:r>
          </a:p>
          <a:p>
            <a:pPr lvl="1"/>
            <a:r>
              <a:rPr lang="en-US" dirty="0" smtClean="0"/>
              <a:t>Confirming compliance with all other requirements under applicable legislation, Codes or arrangements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26</a:t>
            </a:fld>
            <a:endParaRPr lang="en-US" dirty="0"/>
          </a:p>
        </p:txBody>
      </p:sp>
      <p:pic>
        <p:nvPicPr>
          <p:cNvPr id="9" name="Picture 8"/>
          <p:cNvPicPr>
            <a:picLocks noChangeAspect="1"/>
          </p:cNvPicPr>
          <p:nvPr/>
        </p:nvPicPr>
        <p:blipFill rotWithShape="1">
          <a:blip r:embed="rId3" cstate="print">
            <a:extLst>
              <a:ext uri="{28A0092B-C50C-407E-A947-70E740481C1C}">
                <a14:useLocalDpi xmlns:a14="http://schemas.microsoft.com/office/drawing/2010/main" val="0"/>
              </a:ext>
            </a:extLst>
          </a:blip>
          <a:srcRect l="33463" r="14563"/>
          <a:stretch/>
        </p:blipFill>
        <p:spPr>
          <a:xfrm>
            <a:off x="5930652" y="2012054"/>
            <a:ext cx="1584176" cy="203301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Implement interpretive activity plans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Ways Tour Guides can learn about planning considerations for a tour/activity are:</a:t>
            </a:r>
          </a:p>
          <a:p>
            <a:r>
              <a:rPr lang="en-US" dirty="0" smtClean="0"/>
              <a:t>Read tour files</a:t>
            </a:r>
          </a:p>
          <a:p>
            <a:r>
              <a:rPr lang="en-US" dirty="0" smtClean="0"/>
              <a:t>Read tour </a:t>
            </a:r>
            <a:r>
              <a:rPr lang="en-US" dirty="0"/>
              <a:t>b</a:t>
            </a:r>
            <a:r>
              <a:rPr lang="en-US" dirty="0" smtClean="0"/>
              <a:t>rief</a:t>
            </a:r>
          </a:p>
          <a:p>
            <a:r>
              <a:rPr lang="en-US" dirty="0" smtClean="0"/>
              <a:t>Read tour advertisements</a:t>
            </a:r>
          </a:p>
          <a:p>
            <a:r>
              <a:rPr lang="en-US" dirty="0" smtClean="0"/>
              <a:t>Speak to management</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580161" y="1988840"/>
            <a:ext cx="2094876" cy="3060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Implement interpretive activity plans</a:t>
            </a:r>
            <a:endParaRPr lang="en-US" dirty="0"/>
          </a:p>
        </p:txBody>
      </p:sp>
      <p:sp>
        <p:nvSpPr>
          <p:cNvPr id="3" name="Content Placeholder 2"/>
          <p:cNvSpPr>
            <a:spLocks noGrp="1"/>
          </p:cNvSpPr>
          <p:nvPr>
            <p:ph idx="1"/>
          </p:nvPr>
        </p:nvSpPr>
        <p:spPr/>
        <p:txBody>
          <a:bodyPr/>
          <a:lstStyle/>
          <a:p>
            <a:r>
              <a:rPr lang="en-US" dirty="0" smtClean="0"/>
              <a:t>Talk to those who developed the tour</a:t>
            </a:r>
          </a:p>
          <a:p>
            <a:r>
              <a:rPr lang="en-US" dirty="0" smtClean="0"/>
              <a:t>Talk to Tour Guides who have conducted them</a:t>
            </a:r>
          </a:p>
          <a:p>
            <a:r>
              <a:rPr lang="en-US" dirty="0" smtClean="0"/>
              <a:t>Talk with staff who negotiated private/custom tours</a:t>
            </a:r>
          </a:p>
          <a:p>
            <a:r>
              <a:rPr lang="en-US" dirty="0" smtClean="0"/>
              <a:t>Take a tour as a ‘paying customer’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38626" y="1988840"/>
            <a:ext cx="2914774" cy="1943976"/>
          </a:xfrm>
          <a:prstGeom prst="rect">
            <a:avLst/>
          </a:prstGeom>
          <a:ln>
            <a:noFill/>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Schedule the interpretive activity</a:t>
            </a:r>
            <a:endParaRPr lang="en-US" dirty="0"/>
          </a:p>
        </p:txBody>
      </p:sp>
      <p:sp>
        <p:nvSpPr>
          <p:cNvPr id="3" name="Content Placeholder 2"/>
          <p:cNvSpPr>
            <a:spLocks noGrp="1"/>
          </p:cNvSpPr>
          <p:nvPr>
            <p:ph idx="1"/>
          </p:nvPr>
        </p:nvSpPr>
        <p:spPr/>
        <p:txBody>
          <a:bodyPr/>
          <a:lstStyle/>
          <a:p>
            <a:pPr marL="36576" indent="0">
              <a:buNone/>
            </a:pPr>
            <a:r>
              <a:rPr lang="en-US" dirty="0" smtClean="0"/>
              <a:t>Pre-planning needs to be considered can include:</a:t>
            </a:r>
          </a:p>
          <a:p>
            <a:r>
              <a:rPr lang="en-US" dirty="0" smtClean="0"/>
              <a:t>Consideration of timing</a:t>
            </a:r>
          </a:p>
          <a:p>
            <a:r>
              <a:rPr lang="en-US" dirty="0" smtClean="0"/>
              <a:t>Consideration of weather</a:t>
            </a:r>
          </a:p>
          <a:p>
            <a:r>
              <a:rPr lang="en-US" dirty="0" smtClean="0"/>
              <a:t>Consideration of physical resources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97100"/>
            <a:ext cx="2861320" cy="189991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Schedule the interpretive activity</a:t>
            </a:r>
            <a:endParaRPr lang="en-US" dirty="0"/>
          </a:p>
        </p:txBody>
      </p:sp>
      <p:sp>
        <p:nvSpPr>
          <p:cNvPr id="3" name="Content Placeholder 2"/>
          <p:cNvSpPr>
            <a:spLocks noGrp="1"/>
          </p:cNvSpPr>
          <p:nvPr>
            <p:ph idx="1"/>
          </p:nvPr>
        </p:nvSpPr>
        <p:spPr/>
        <p:txBody>
          <a:bodyPr/>
          <a:lstStyle/>
          <a:p>
            <a:r>
              <a:rPr lang="en-US" dirty="0" smtClean="0"/>
              <a:t>Consideration of personnel</a:t>
            </a:r>
          </a:p>
          <a:p>
            <a:r>
              <a:rPr lang="en-US" dirty="0" smtClean="0"/>
              <a:t>Consideration of tour group members</a:t>
            </a:r>
          </a:p>
          <a:p>
            <a:r>
              <a:rPr lang="en-US" dirty="0" smtClean="0"/>
              <a:t>Consideration of physical environment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2005608"/>
            <a:ext cx="2029968" cy="304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Schedule the interpretive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Possible ‘issues arising’ also need to be considered – for example:</a:t>
            </a:r>
          </a:p>
          <a:p>
            <a:r>
              <a:rPr lang="en-AU" dirty="0" smtClean="0"/>
              <a:t>Previous interpretive activities running over time</a:t>
            </a:r>
            <a:endParaRPr lang="en-US" dirty="0" smtClean="0"/>
          </a:p>
          <a:p>
            <a:r>
              <a:rPr lang="en-AU" dirty="0" smtClean="0"/>
              <a:t>Previous interpretive activities running under time</a:t>
            </a:r>
          </a:p>
          <a:p>
            <a:r>
              <a:rPr lang="en-AU" dirty="0" smtClean="0"/>
              <a:t>Need to cancel or in some way amend an interpretive activity</a:t>
            </a:r>
          </a:p>
          <a:p>
            <a:r>
              <a:rPr lang="en-AU" dirty="0" smtClean="0"/>
              <a:t>Requests/demands from tour group members</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31</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6788" r="14701"/>
          <a:stretch/>
        </p:blipFill>
        <p:spPr>
          <a:xfrm>
            <a:off x="5148064" y="1988840"/>
            <a:ext cx="2546260" cy="288032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Schedule the interpretive activity</a:t>
            </a:r>
            <a:endParaRPr lang="en-US" dirty="0"/>
          </a:p>
        </p:txBody>
      </p:sp>
      <p:sp>
        <p:nvSpPr>
          <p:cNvPr id="3" name="Content Placeholder 2"/>
          <p:cNvSpPr>
            <a:spLocks noGrp="1"/>
          </p:cNvSpPr>
          <p:nvPr>
            <p:ph idx="1"/>
          </p:nvPr>
        </p:nvSpPr>
        <p:spPr/>
        <p:txBody>
          <a:bodyPr/>
          <a:lstStyle/>
          <a:p>
            <a:r>
              <a:rPr lang="en-US" dirty="0" smtClean="0"/>
              <a:t>Unacceptable tour group </a:t>
            </a:r>
            <a:r>
              <a:rPr lang="en-US" dirty="0" err="1" smtClean="0"/>
              <a:t>behaviour</a:t>
            </a:r>
            <a:endParaRPr lang="en-US" dirty="0" smtClean="0"/>
          </a:p>
          <a:p>
            <a:r>
              <a:rPr lang="en-US" dirty="0" smtClean="0"/>
              <a:t>Accidents/incidents</a:t>
            </a:r>
          </a:p>
          <a:p>
            <a:r>
              <a:rPr lang="en-US" dirty="0" smtClean="0"/>
              <a:t>Vehicle breakdown or road closure</a:t>
            </a:r>
          </a:p>
          <a:p>
            <a:r>
              <a:rPr lang="en-US" dirty="0" smtClean="0"/>
              <a:t>Sickness/illness in the group</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10316"/>
            <a:ext cx="3048000" cy="203301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Schedule the interpretive activity</a:t>
            </a:r>
            <a:endParaRPr lang="en-US" dirty="0"/>
          </a:p>
        </p:txBody>
      </p:sp>
      <p:sp>
        <p:nvSpPr>
          <p:cNvPr id="3" name="Content Placeholder 2"/>
          <p:cNvSpPr>
            <a:spLocks noGrp="1"/>
          </p:cNvSpPr>
          <p:nvPr>
            <p:ph idx="1"/>
          </p:nvPr>
        </p:nvSpPr>
        <p:spPr/>
        <p:txBody>
          <a:bodyPr/>
          <a:lstStyle/>
          <a:p>
            <a:pPr marL="36576" indent="0">
              <a:buNone/>
            </a:pPr>
            <a:r>
              <a:rPr lang="en-US" dirty="0" smtClean="0"/>
              <a:t>Tour Guides need to consider possible issues arising to allow planning/consideration of options to:</a:t>
            </a:r>
          </a:p>
          <a:p>
            <a:r>
              <a:rPr lang="en-US" dirty="0" smtClean="0"/>
              <a:t>Adjust timing if necessary</a:t>
            </a:r>
          </a:p>
          <a:p>
            <a:r>
              <a:rPr lang="en-US" dirty="0" smtClean="0"/>
              <a:t>Adjust activities</a:t>
            </a:r>
          </a:p>
          <a:p>
            <a:r>
              <a:rPr lang="en-US" dirty="0" smtClean="0"/>
              <a:t>Notify relevant others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2007546"/>
            <a:ext cx="2789312" cy="186047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Schedule the interpretive activity</a:t>
            </a:r>
            <a:endParaRPr lang="en-US" dirty="0"/>
          </a:p>
        </p:txBody>
      </p:sp>
      <p:sp>
        <p:nvSpPr>
          <p:cNvPr id="3" name="Content Placeholder 2"/>
          <p:cNvSpPr>
            <a:spLocks noGrp="1"/>
          </p:cNvSpPr>
          <p:nvPr>
            <p:ph idx="1"/>
          </p:nvPr>
        </p:nvSpPr>
        <p:spPr/>
        <p:txBody>
          <a:bodyPr/>
          <a:lstStyle/>
          <a:p>
            <a:r>
              <a:rPr lang="en-AU" dirty="0" smtClean="0"/>
              <a:t>Integrate new learning/experiences into an activity</a:t>
            </a:r>
            <a:endParaRPr lang="en-US" dirty="0" smtClean="0"/>
          </a:p>
          <a:p>
            <a:r>
              <a:rPr lang="en-US" dirty="0" smtClean="0"/>
              <a:t>Maintain respect for local communities</a:t>
            </a:r>
          </a:p>
          <a:p>
            <a:r>
              <a:rPr lang="en-US" dirty="0" err="1" smtClean="0"/>
              <a:t>Optimise</a:t>
            </a:r>
            <a:r>
              <a:rPr lang="en-US" dirty="0" smtClean="0"/>
              <a:t> safety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34</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33463"/>
          <a:stretch/>
        </p:blipFill>
        <p:spPr>
          <a:xfrm>
            <a:off x="5148064" y="2071652"/>
            <a:ext cx="2448272" cy="245426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Schedule the interpretive activity</a:t>
            </a:r>
            <a:endParaRPr lang="en-US" dirty="0"/>
          </a:p>
        </p:txBody>
      </p:sp>
      <p:sp>
        <p:nvSpPr>
          <p:cNvPr id="3" name="Content Placeholder 2"/>
          <p:cNvSpPr>
            <a:spLocks noGrp="1"/>
          </p:cNvSpPr>
          <p:nvPr>
            <p:ph idx="1"/>
          </p:nvPr>
        </p:nvSpPr>
        <p:spPr/>
        <p:txBody>
          <a:bodyPr/>
          <a:lstStyle/>
          <a:p>
            <a:pPr marL="36576" indent="0">
              <a:buNone/>
            </a:pPr>
            <a:r>
              <a:rPr lang="en-US" dirty="0" smtClean="0"/>
              <a:t>May also be a need to consider:</a:t>
            </a:r>
          </a:p>
          <a:p>
            <a:r>
              <a:rPr lang="en-US" dirty="0" smtClean="0"/>
              <a:t>Keeping tour on schedule</a:t>
            </a:r>
          </a:p>
          <a:p>
            <a:r>
              <a:rPr lang="en-US" dirty="0" smtClean="0"/>
              <a:t>Meeting budget</a:t>
            </a:r>
          </a:p>
          <a:p>
            <a:r>
              <a:rPr lang="en-US" dirty="0" smtClean="0"/>
              <a:t>Cancelling an activity</a:t>
            </a:r>
          </a:p>
          <a:p>
            <a:r>
              <a:rPr lang="en-US" dirty="0" smtClean="0"/>
              <a:t>Changing the commentary</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21316" y="1988840"/>
            <a:ext cx="2832084" cy="1889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Schedule the interpretive activity</a:t>
            </a:r>
            <a:endParaRPr lang="en-US" dirty="0"/>
          </a:p>
        </p:txBody>
      </p:sp>
      <p:sp>
        <p:nvSpPr>
          <p:cNvPr id="3" name="Content Placeholder 2"/>
          <p:cNvSpPr>
            <a:spLocks noGrp="1"/>
          </p:cNvSpPr>
          <p:nvPr>
            <p:ph idx="1"/>
          </p:nvPr>
        </p:nvSpPr>
        <p:spPr/>
        <p:txBody>
          <a:bodyPr>
            <a:normAutofit/>
          </a:bodyPr>
          <a:lstStyle/>
          <a:p>
            <a:r>
              <a:rPr lang="en-US" dirty="0" smtClean="0"/>
              <a:t>Checking delayed activities can still be safely presented</a:t>
            </a:r>
          </a:p>
          <a:p>
            <a:r>
              <a:rPr lang="en-US" dirty="0" smtClean="0"/>
              <a:t>Communicating with other stakeholders and updating them</a:t>
            </a:r>
          </a:p>
          <a:p>
            <a:r>
              <a:rPr lang="en-US" dirty="0" smtClean="0"/>
              <a:t>Reviewing/revising the itinerary while on-tour</a:t>
            </a:r>
          </a:p>
          <a:p>
            <a:r>
              <a:rPr lang="en-US" dirty="0" smtClean="0"/>
              <a:t>Making notes for later reference/referral</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988840"/>
            <a:ext cx="2279904" cy="304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on-tour requirements to support the interpretive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Plans for set-up of activities must be followed because:</a:t>
            </a:r>
          </a:p>
          <a:p>
            <a:r>
              <a:rPr lang="en-US" dirty="0" smtClean="0"/>
              <a:t>They save time</a:t>
            </a:r>
          </a:p>
          <a:p>
            <a:r>
              <a:rPr lang="en-US" dirty="0" smtClean="0"/>
              <a:t>They have been risk assessed</a:t>
            </a:r>
          </a:p>
          <a:p>
            <a:r>
              <a:rPr lang="en-US" dirty="0" smtClean="0"/>
              <a:t>They meet budget parameters</a:t>
            </a:r>
          </a:p>
          <a:p>
            <a:r>
              <a:rPr lang="en-US" dirty="0" smtClean="0"/>
              <a:t>They align with requirements of relevant stakeholders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1984648"/>
            <a:ext cx="2356104" cy="304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on-tour requirements to support the interpretive activity</a:t>
            </a:r>
            <a:endParaRPr lang="en-US" dirty="0"/>
          </a:p>
        </p:txBody>
      </p:sp>
      <p:sp>
        <p:nvSpPr>
          <p:cNvPr id="3" name="Content Placeholder 2"/>
          <p:cNvSpPr>
            <a:spLocks noGrp="1"/>
          </p:cNvSpPr>
          <p:nvPr>
            <p:ph idx="1"/>
          </p:nvPr>
        </p:nvSpPr>
        <p:spPr/>
        <p:txBody>
          <a:bodyPr/>
          <a:lstStyle/>
          <a:p>
            <a:r>
              <a:rPr lang="en-US" dirty="0" smtClean="0"/>
              <a:t>They will </a:t>
            </a:r>
            <a:r>
              <a:rPr lang="en-US" dirty="0" err="1" smtClean="0"/>
              <a:t>optimise</a:t>
            </a:r>
            <a:r>
              <a:rPr lang="en-US" dirty="0" smtClean="0"/>
              <a:t> safety</a:t>
            </a:r>
          </a:p>
          <a:p>
            <a:r>
              <a:rPr lang="en-US" dirty="0" smtClean="0"/>
              <a:t>They will allocate correct time for each aspect of the set-up</a:t>
            </a:r>
          </a:p>
          <a:p>
            <a:r>
              <a:rPr lang="en-US" dirty="0" smtClean="0"/>
              <a:t>They will </a:t>
            </a:r>
            <a:r>
              <a:rPr lang="en-US" dirty="0" err="1" smtClean="0"/>
              <a:t>maximise</a:t>
            </a:r>
            <a:r>
              <a:rPr lang="en-US" dirty="0" smtClean="0"/>
              <a:t> likelihood of identified objectives for the activity being achieved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580161" y="1988840"/>
            <a:ext cx="2094876" cy="3060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on-tour requirements to support the interpretive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Actions in setting-up an activity can involve:</a:t>
            </a:r>
          </a:p>
          <a:p>
            <a:r>
              <a:rPr lang="en-US" dirty="0" smtClean="0"/>
              <a:t>Obtaining resources</a:t>
            </a:r>
          </a:p>
          <a:p>
            <a:r>
              <a:rPr lang="en-US" dirty="0" smtClean="0"/>
              <a:t>Inspecting equipment/items</a:t>
            </a:r>
          </a:p>
          <a:p>
            <a:r>
              <a:rPr lang="en-US" dirty="0" smtClean="0"/>
              <a:t>Obtaining support handouts, materials and other resources</a:t>
            </a:r>
          </a:p>
          <a:p>
            <a:r>
              <a:rPr lang="en-US" dirty="0" smtClean="0"/>
              <a:t>Checking the activity area</a:t>
            </a:r>
          </a:p>
          <a:p>
            <a:r>
              <a:rPr lang="en-US" dirty="0" smtClean="0"/>
              <a:t>Holding a briefing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39</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1988840"/>
            <a:ext cx="2295000" cy="3060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on-tour requirements to support the interpretive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Respect for local communities must be shown:</a:t>
            </a:r>
          </a:p>
          <a:p>
            <a:r>
              <a:rPr lang="en-US" dirty="0" smtClean="0"/>
              <a:t>Meeting with the communities and their representatives</a:t>
            </a:r>
          </a:p>
          <a:p>
            <a:r>
              <a:rPr lang="en-US" dirty="0" smtClean="0"/>
              <a:t>Developing Codes of Conduct</a:t>
            </a:r>
          </a:p>
          <a:p>
            <a:r>
              <a:rPr lang="en-US" dirty="0" smtClean="0"/>
              <a:t>Notifying communities in advance</a:t>
            </a:r>
          </a:p>
          <a:p>
            <a:r>
              <a:rPr lang="en-US" dirty="0" smtClean="0"/>
              <a:t>Maintaining regular contact with them</a:t>
            </a:r>
          </a:p>
          <a:p>
            <a:r>
              <a:rPr lang="en-US" dirty="0" smtClean="0"/>
              <a:t>Providing them with economic opportunities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10316"/>
            <a:ext cx="3048000" cy="203301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on-tour requirements to support the interpretive activity</a:t>
            </a:r>
            <a:endParaRPr lang="en-US" dirty="0"/>
          </a:p>
        </p:txBody>
      </p:sp>
      <p:sp>
        <p:nvSpPr>
          <p:cNvPr id="3" name="Content Placeholder 2"/>
          <p:cNvSpPr>
            <a:spLocks noGrp="1"/>
          </p:cNvSpPr>
          <p:nvPr>
            <p:ph idx="1"/>
          </p:nvPr>
        </p:nvSpPr>
        <p:spPr/>
        <p:txBody>
          <a:bodyPr>
            <a:normAutofit/>
          </a:bodyPr>
          <a:lstStyle/>
          <a:p>
            <a:r>
              <a:rPr lang="en-US" dirty="0" smtClean="0"/>
              <a:t>Providing tour advice ‘on the day’ of the tour/activity</a:t>
            </a:r>
          </a:p>
          <a:p>
            <a:r>
              <a:rPr lang="en-US" dirty="0" smtClean="0"/>
              <a:t>Notifying tour group of required </a:t>
            </a:r>
            <a:r>
              <a:rPr lang="en-US" dirty="0" err="1" smtClean="0"/>
              <a:t>behaviour</a:t>
            </a:r>
            <a:r>
              <a:rPr lang="en-US" dirty="0" smtClean="0"/>
              <a:t>/Codes</a:t>
            </a:r>
          </a:p>
          <a:p>
            <a:r>
              <a:rPr lang="en-US" dirty="0" smtClean="0"/>
              <a:t>Asking permission to enter locations/lands</a:t>
            </a:r>
          </a:p>
          <a:p>
            <a:r>
              <a:rPr lang="en-US" dirty="0" smtClean="0"/>
              <a:t>Observing applicable cultural restraints</a:t>
            </a:r>
          </a:p>
          <a:p>
            <a:r>
              <a:rPr lang="en-US" dirty="0" smtClean="0"/>
              <a:t>Maintaining secrecy of items as required by host communities</a:t>
            </a:r>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6883" y="2060848"/>
            <a:ext cx="3048000" cy="209397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on-tour requirements to support the interpretive activity</a:t>
            </a:r>
            <a:endParaRPr lang="en-US" dirty="0"/>
          </a:p>
        </p:txBody>
      </p:sp>
      <p:sp>
        <p:nvSpPr>
          <p:cNvPr id="3" name="Content Placeholder 2"/>
          <p:cNvSpPr>
            <a:spLocks noGrp="1"/>
          </p:cNvSpPr>
          <p:nvPr>
            <p:ph idx="1"/>
          </p:nvPr>
        </p:nvSpPr>
        <p:spPr/>
        <p:txBody>
          <a:bodyPr>
            <a:normAutofit/>
          </a:bodyPr>
          <a:lstStyle/>
          <a:p>
            <a:r>
              <a:rPr lang="en-US" dirty="0" smtClean="0"/>
              <a:t>Involving local community in decision making</a:t>
            </a:r>
          </a:p>
          <a:p>
            <a:r>
              <a:rPr lang="en-US" dirty="0" smtClean="0"/>
              <a:t>Parking tour vehicles only in designated areas</a:t>
            </a:r>
          </a:p>
          <a:p>
            <a:r>
              <a:rPr lang="en-US" dirty="0" smtClean="0"/>
              <a:t>Staying on identified walking tracks</a:t>
            </a:r>
          </a:p>
          <a:p>
            <a:r>
              <a:rPr lang="en-US" dirty="0" smtClean="0"/>
              <a:t>Prohibiting taking of photographs (if applicable)</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1988840"/>
            <a:ext cx="2033016" cy="304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on-tour requirements to support the interpretive activity</a:t>
            </a:r>
            <a:endParaRPr lang="en-US" dirty="0"/>
          </a:p>
        </p:txBody>
      </p:sp>
      <p:sp>
        <p:nvSpPr>
          <p:cNvPr id="3" name="Content Placeholder 2"/>
          <p:cNvSpPr>
            <a:spLocks noGrp="1"/>
          </p:cNvSpPr>
          <p:nvPr>
            <p:ph idx="1"/>
          </p:nvPr>
        </p:nvSpPr>
        <p:spPr/>
        <p:txBody>
          <a:bodyPr>
            <a:normAutofit/>
          </a:bodyPr>
          <a:lstStyle/>
          <a:p>
            <a:r>
              <a:rPr lang="en-US" dirty="0" smtClean="0"/>
              <a:t>Banning use of scarce/limited resources</a:t>
            </a:r>
          </a:p>
          <a:p>
            <a:r>
              <a:rPr lang="en-US" dirty="0" smtClean="0"/>
              <a:t>Prohibiting carriage of nominated items into the communities</a:t>
            </a:r>
          </a:p>
          <a:p>
            <a:r>
              <a:rPr lang="en-US" dirty="0" smtClean="0"/>
              <a:t>Cleaning up after each visit/activity/tour</a:t>
            </a:r>
          </a:p>
          <a:p>
            <a:r>
              <a:rPr lang="en-US" dirty="0" smtClean="0"/>
              <a:t>Modifying tours and activities on the basis of feedback from the community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43</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368296"/>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on-tour requirements to support the interpretive activity</a:t>
            </a:r>
            <a:endParaRPr lang="en-US" dirty="0"/>
          </a:p>
        </p:txBody>
      </p:sp>
      <p:sp>
        <p:nvSpPr>
          <p:cNvPr id="3" name="Content Placeholder 2"/>
          <p:cNvSpPr>
            <a:spLocks noGrp="1"/>
          </p:cNvSpPr>
          <p:nvPr>
            <p:ph idx="1"/>
          </p:nvPr>
        </p:nvSpPr>
        <p:spPr/>
        <p:txBody>
          <a:bodyPr/>
          <a:lstStyle/>
          <a:p>
            <a:pPr marL="36576" indent="0">
              <a:buNone/>
            </a:pPr>
            <a:r>
              <a:rPr lang="en-US" dirty="0" smtClean="0"/>
              <a:t>Preparing tour group for the activity can require:</a:t>
            </a:r>
          </a:p>
          <a:p>
            <a:r>
              <a:rPr lang="en-US" dirty="0" smtClean="0"/>
              <a:t>Making a verbal presentation</a:t>
            </a:r>
          </a:p>
          <a:p>
            <a:r>
              <a:rPr lang="en-US" dirty="0" smtClean="0"/>
              <a:t>Assessing customer capacity to participate</a:t>
            </a:r>
          </a:p>
          <a:p>
            <a:r>
              <a:rPr lang="en-US" dirty="0" smtClean="0"/>
              <a:t>Distributing items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3301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on-tour requirements to support the interpretive activity</a:t>
            </a:r>
            <a:endParaRPr lang="en-US" dirty="0"/>
          </a:p>
        </p:txBody>
      </p:sp>
      <p:sp>
        <p:nvSpPr>
          <p:cNvPr id="3" name="Content Placeholder 2"/>
          <p:cNvSpPr>
            <a:spLocks noGrp="1"/>
          </p:cNvSpPr>
          <p:nvPr>
            <p:ph idx="1"/>
          </p:nvPr>
        </p:nvSpPr>
        <p:spPr/>
        <p:txBody>
          <a:bodyPr>
            <a:normAutofit/>
          </a:bodyPr>
          <a:lstStyle/>
          <a:p>
            <a:r>
              <a:rPr lang="en-US" dirty="0" smtClean="0"/>
              <a:t>Demonstrating use of items</a:t>
            </a:r>
          </a:p>
          <a:p>
            <a:r>
              <a:rPr lang="en-US" dirty="0" smtClean="0"/>
              <a:t>Advising of basic operational parameters for the activity</a:t>
            </a:r>
          </a:p>
          <a:p>
            <a:r>
              <a:rPr lang="en-US" dirty="0" smtClean="0"/>
              <a:t>Notifying tour group of acceptable/unacceptable </a:t>
            </a:r>
            <a:r>
              <a:rPr lang="en-US" dirty="0" err="1" smtClean="0"/>
              <a:t>behaviour</a:t>
            </a:r>
            <a:endParaRPr lang="en-US" dirty="0" smtClean="0"/>
          </a:p>
          <a:p>
            <a:r>
              <a:rPr lang="en-US" dirty="0" smtClean="0"/>
              <a:t>Introducing others who will assist during/as part of the activity</a:t>
            </a:r>
          </a:p>
          <a:p>
            <a:r>
              <a:rPr lang="en-US" dirty="0" smtClean="0"/>
              <a:t>Encouraging engagement with the activity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36096" y="1962060"/>
            <a:ext cx="2033016" cy="304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on-tour requirements to support the interpretive activity</a:t>
            </a:r>
            <a:endParaRPr lang="en-US" dirty="0"/>
          </a:p>
        </p:txBody>
      </p:sp>
      <p:sp>
        <p:nvSpPr>
          <p:cNvPr id="3" name="Content Placeholder 2"/>
          <p:cNvSpPr>
            <a:spLocks noGrp="1"/>
          </p:cNvSpPr>
          <p:nvPr>
            <p:ph idx="1"/>
          </p:nvPr>
        </p:nvSpPr>
        <p:spPr/>
        <p:txBody>
          <a:bodyPr>
            <a:normAutofit fontScale="92500" lnSpcReduction="10000"/>
          </a:bodyPr>
          <a:lstStyle/>
          <a:p>
            <a:pPr marL="36576" indent="0">
              <a:buNone/>
            </a:pPr>
            <a:r>
              <a:rPr lang="en-US" dirty="0" smtClean="0"/>
              <a:t>There can be a need to keep preparation activities for an activity ‘secret’ from tour group members in order to:</a:t>
            </a:r>
          </a:p>
          <a:p>
            <a:r>
              <a:rPr lang="en-US" dirty="0" smtClean="0"/>
              <a:t>Align with requirements/directions in the plans</a:t>
            </a:r>
          </a:p>
          <a:p>
            <a:r>
              <a:rPr lang="en-US" dirty="0" err="1" smtClean="0"/>
              <a:t>Minimise</a:t>
            </a:r>
            <a:r>
              <a:rPr lang="en-US" dirty="0" smtClean="0"/>
              <a:t> unwanted/intrusive noise and distraction</a:t>
            </a:r>
          </a:p>
          <a:p>
            <a:r>
              <a:rPr lang="en-US" dirty="0" smtClean="0"/>
              <a:t>Keep people unaware of what is about to happen</a:t>
            </a:r>
          </a:p>
          <a:p>
            <a:r>
              <a:rPr lang="en-US" dirty="0" smtClean="0"/>
              <a:t>Protect certain confidential and private aspects of the activity</a:t>
            </a:r>
          </a:p>
          <a:p>
            <a:r>
              <a:rPr lang="en-US" dirty="0" smtClean="0"/>
              <a:t>Avoid unwanted interruptions from tour group members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33016"/>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Confirm operational details with colleagues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Background to this step:</a:t>
            </a:r>
          </a:p>
          <a:p>
            <a:r>
              <a:rPr lang="en-US" dirty="0" smtClean="0"/>
              <a:t>All colleagues scheduled to be part of the activity must be present</a:t>
            </a:r>
          </a:p>
          <a:p>
            <a:r>
              <a:rPr lang="en-US" dirty="0" smtClean="0"/>
              <a:t>The meeting must be scheduled</a:t>
            </a:r>
          </a:p>
          <a:p>
            <a:r>
              <a:rPr lang="en-US" dirty="0" smtClean="0"/>
              <a:t>Plans for the activity must be the basis of the briefing</a:t>
            </a:r>
          </a:p>
          <a:p>
            <a:r>
              <a:rPr lang="en-US" dirty="0" smtClean="0"/>
              <a:t>Meeting should occur in private without tour group members listening</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8587" y="2024485"/>
            <a:ext cx="3048000" cy="203301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Confirm operational details with colleagues</a:t>
            </a:r>
            <a:endParaRPr lang="en-US" dirty="0"/>
          </a:p>
        </p:txBody>
      </p:sp>
      <p:sp>
        <p:nvSpPr>
          <p:cNvPr id="3" name="Content Placeholder 2"/>
          <p:cNvSpPr>
            <a:spLocks noGrp="1"/>
          </p:cNvSpPr>
          <p:nvPr>
            <p:ph idx="1"/>
          </p:nvPr>
        </p:nvSpPr>
        <p:spPr/>
        <p:txBody>
          <a:bodyPr/>
          <a:lstStyle/>
          <a:p>
            <a:r>
              <a:rPr lang="en-US" dirty="0" smtClean="0"/>
              <a:t>All those involved should have had previous/relevant exposure to/contact with the activity</a:t>
            </a:r>
          </a:p>
          <a:p>
            <a:r>
              <a:rPr lang="en-US" dirty="0" smtClean="0"/>
              <a:t>Tour Guide leads the discussion</a:t>
            </a:r>
          </a:p>
          <a:p>
            <a:r>
              <a:rPr lang="en-US" dirty="0" smtClean="0"/>
              <a:t>There must be two-way communication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3911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Confirm operational details with colleagues</a:t>
            </a:r>
            <a:endParaRPr lang="en-US" dirty="0"/>
          </a:p>
        </p:txBody>
      </p:sp>
      <p:sp>
        <p:nvSpPr>
          <p:cNvPr id="3" name="Content Placeholder 2"/>
          <p:cNvSpPr>
            <a:spLocks noGrp="1"/>
          </p:cNvSpPr>
          <p:nvPr>
            <p:ph idx="1"/>
          </p:nvPr>
        </p:nvSpPr>
        <p:spPr/>
        <p:txBody>
          <a:bodyPr/>
          <a:lstStyle/>
          <a:p>
            <a:pPr marL="36576" indent="0">
              <a:buNone/>
            </a:pPr>
            <a:r>
              <a:rPr lang="en-US" dirty="0" smtClean="0"/>
              <a:t>Generic contents/topics for this meeting:</a:t>
            </a:r>
          </a:p>
          <a:p>
            <a:r>
              <a:rPr lang="en-US" dirty="0" smtClean="0"/>
              <a:t>Roll call</a:t>
            </a:r>
          </a:p>
          <a:p>
            <a:r>
              <a:rPr lang="en-US" dirty="0" smtClean="0"/>
              <a:t>Overview of the activity</a:t>
            </a:r>
          </a:p>
          <a:p>
            <a:r>
              <a:rPr lang="en-US" dirty="0" smtClean="0"/>
              <a:t>Confirmation activity can/should proceed</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90070" y="1991172"/>
            <a:ext cx="3048000" cy="209702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Confirm operational details with colleagues</a:t>
            </a:r>
            <a:endParaRPr lang="en-US" dirty="0"/>
          </a:p>
        </p:txBody>
      </p:sp>
      <p:sp>
        <p:nvSpPr>
          <p:cNvPr id="3" name="Content Placeholder 2"/>
          <p:cNvSpPr>
            <a:spLocks noGrp="1"/>
          </p:cNvSpPr>
          <p:nvPr>
            <p:ph idx="1"/>
          </p:nvPr>
        </p:nvSpPr>
        <p:spPr/>
        <p:txBody>
          <a:bodyPr/>
          <a:lstStyle/>
          <a:p>
            <a:r>
              <a:rPr lang="en-US" dirty="0" smtClean="0"/>
              <a:t>Discussion of duration</a:t>
            </a:r>
          </a:p>
          <a:p>
            <a:r>
              <a:rPr lang="en-US" dirty="0" smtClean="0"/>
              <a:t>Development of strategies/confirmation of plans to deal with issues arising</a:t>
            </a:r>
          </a:p>
          <a:p>
            <a:r>
              <a:rPr lang="en-US" dirty="0" smtClean="0"/>
              <a:t>Allocation of staff to roles/responsibilities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3366" y="2012846"/>
            <a:ext cx="3048000" cy="203911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Confirm operational details with colleagues</a:t>
            </a:r>
            <a:endParaRPr lang="en-US" dirty="0"/>
          </a:p>
        </p:txBody>
      </p:sp>
      <p:sp>
        <p:nvSpPr>
          <p:cNvPr id="3" name="Content Placeholder 2"/>
          <p:cNvSpPr>
            <a:spLocks noGrp="1"/>
          </p:cNvSpPr>
          <p:nvPr>
            <p:ph idx="1"/>
          </p:nvPr>
        </p:nvSpPr>
        <p:spPr/>
        <p:txBody>
          <a:bodyPr/>
          <a:lstStyle/>
          <a:p>
            <a:r>
              <a:rPr lang="en-US" dirty="0" smtClean="0"/>
              <a:t>Verification of presence of physical resources to enable the activity</a:t>
            </a:r>
          </a:p>
          <a:p>
            <a:r>
              <a:rPr lang="en-US" dirty="0" smtClean="0"/>
              <a:t>Conduct of communication checks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1988840"/>
            <a:ext cx="2115312" cy="304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Ensure safety issues have been addressed</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Context:</a:t>
            </a:r>
          </a:p>
          <a:p>
            <a:r>
              <a:rPr lang="en-US" dirty="0" smtClean="0"/>
              <a:t>Safety must be a standing topic at all briefing sessions</a:t>
            </a:r>
          </a:p>
          <a:p>
            <a:r>
              <a:rPr lang="en-US" dirty="0" smtClean="0"/>
              <a:t>Safety is paramount and can never be compromised, assumed or ignored</a:t>
            </a:r>
          </a:p>
          <a:p>
            <a:r>
              <a:rPr lang="en-US" dirty="0" smtClean="0"/>
              <a:t>Formal risk assessment for each activity must form the basis of safety</a:t>
            </a:r>
          </a:p>
          <a:p>
            <a:r>
              <a:rPr lang="en-US" dirty="0" smtClean="0"/>
              <a:t>Staff should be asked to confirm/query safety for the activity to be conducted</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8104" y="2021458"/>
            <a:ext cx="2039112" cy="304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Ensure safety issues have been addressed</a:t>
            </a:r>
            <a:endParaRPr lang="en-US" dirty="0"/>
          </a:p>
        </p:txBody>
      </p:sp>
      <p:sp>
        <p:nvSpPr>
          <p:cNvPr id="3" name="Content Placeholder 2"/>
          <p:cNvSpPr>
            <a:spLocks noGrp="1"/>
          </p:cNvSpPr>
          <p:nvPr>
            <p:ph idx="1"/>
          </p:nvPr>
        </p:nvSpPr>
        <p:spPr/>
        <p:txBody>
          <a:bodyPr>
            <a:normAutofit/>
          </a:bodyPr>
          <a:lstStyle/>
          <a:p>
            <a:r>
              <a:rPr lang="en-US" dirty="0" smtClean="0"/>
              <a:t>Some activities have a Safety Officer who has total control over safety</a:t>
            </a:r>
          </a:p>
          <a:p>
            <a:r>
              <a:rPr lang="en-US" dirty="0" smtClean="0"/>
              <a:t>Always a need to consider Participants, Environment and Resources</a:t>
            </a:r>
          </a:p>
          <a:p>
            <a:r>
              <a:rPr lang="en-US" dirty="0" smtClean="0"/>
              <a:t>The aim must always be to create ‘safe place’ as opposed to ‘safe person’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68833" y="1988078"/>
            <a:ext cx="3048000" cy="2039112"/>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Ensure safety issues have been addressed</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Safety-related checks need to ensure:</a:t>
            </a:r>
          </a:p>
          <a:p>
            <a:r>
              <a:rPr lang="en-US" dirty="0" smtClean="0"/>
              <a:t>Emergency equipment identified in risk control protocols is available</a:t>
            </a:r>
          </a:p>
          <a:p>
            <a:r>
              <a:rPr lang="en-US" dirty="0" smtClean="0"/>
              <a:t>Emergency management plans are available</a:t>
            </a:r>
          </a:p>
          <a:p>
            <a:r>
              <a:rPr lang="en-US" dirty="0" smtClean="0"/>
              <a:t>First aid kits are available</a:t>
            </a:r>
          </a:p>
          <a:p>
            <a:r>
              <a:rPr lang="en-US" dirty="0" smtClean="0"/>
              <a:t>Access to retrieval, rescue and/or recovery gear</a:t>
            </a:r>
          </a:p>
          <a:p>
            <a:r>
              <a:rPr lang="en-US" dirty="0" smtClean="0"/>
              <a:t>Presence of effective communication equipment to raise alarm and/or summon assistance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1957747"/>
            <a:ext cx="2933328" cy="1955552"/>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Ensure safety issues have been addressed</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Safety equipment:</a:t>
            </a:r>
          </a:p>
          <a:p>
            <a:r>
              <a:rPr lang="en-US" dirty="0" smtClean="0"/>
              <a:t>Known as PPE</a:t>
            </a:r>
          </a:p>
          <a:p>
            <a:r>
              <a:rPr lang="en-US" dirty="0" smtClean="0"/>
              <a:t>Used to prevent harm/injury</a:t>
            </a:r>
          </a:p>
          <a:p>
            <a:r>
              <a:rPr lang="en-US" dirty="0" smtClean="0"/>
              <a:t>Is the responsibility of the Tour Guide to:</a:t>
            </a:r>
          </a:p>
          <a:p>
            <a:r>
              <a:rPr lang="en-US" dirty="0" smtClean="0"/>
              <a:t>Provide PPE for the group</a:t>
            </a:r>
          </a:p>
          <a:p>
            <a:r>
              <a:rPr lang="en-US" dirty="0" smtClean="0"/>
              <a:t>Check items before distribution/use</a:t>
            </a:r>
          </a:p>
          <a:p>
            <a:r>
              <a:rPr lang="en-US" dirty="0" smtClean="0"/>
              <a:t>Ensure tour group members use/wear PPE as required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01105" y="1988840"/>
            <a:ext cx="3132348" cy="2088232"/>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Ensure safety issues have been addressed</a:t>
            </a:r>
            <a:endParaRPr lang="en-US" dirty="0"/>
          </a:p>
        </p:txBody>
      </p:sp>
      <p:sp>
        <p:nvSpPr>
          <p:cNvPr id="3" name="Content Placeholder 2"/>
          <p:cNvSpPr>
            <a:spLocks noGrp="1"/>
          </p:cNvSpPr>
          <p:nvPr>
            <p:ph idx="1"/>
          </p:nvPr>
        </p:nvSpPr>
        <p:spPr/>
        <p:txBody>
          <a:bodyPr/>
          <a:lstStyle/>
          <a:p>
            <a:pPr marL="36576" indent="0">
              <a:buNone/>
            </a:pPr>
            <a:r>
              <a:rPr lang="en-US" dirty="0" smtClean="0"/>
              <a:t>PPE:</a:t>
            </a:r>
          </a:p>
          <a:p>
            <a:r>
              <a:rPr lang="en-US" dirty="0" smtClean="0"/>
              <a:t>Is required for all customers and staff</a:t>
            </a:r>
          </a:p>
          <a:p>
            <a:r>
              <a:rPr lang="en-US" dirty="0" smtClean="0"/>
              <a:t>Must be appropriate to the activity</a:t>
            </a:r>
          </a:p>
          <a:p>
            <a:r>
              <a:rPr lang="en-US" dirty="0" smtClean="0"/>
              <a:t>Must address other risk identified as part of the general tour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3" y="1988839"/>
            <a:ext cx="2933328" cy="1942823"/>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Ensure safety issues have been addressed</a:t>
            </a:r>
            <a:endParaRPr lang="en-US" dirty="0"/>
          </a:p>
        </p:txBody>
      </p:sp>
      <p:sp>
        <p:nvSpPr>
          <p:cNvPr id="3" name="Content Placeholder 2"/>
          <p:cNvSpPr>
            <a:spLocks noGrp="1"/>
          </p:cNvSpPr>
          <p:nvPr>
            <p:ph idx="1"/>
          </p:nvPr>
        </p:nvSpPr>
        <p:spPr/>
        <p:txBody>
          <a:bodyPr/>
          <a:lstStyle/>
          <a:p>
            <a:pPr marL="36576" indent="0">
              <a:buNone/>
            </a:pPr>
            <a:r>
              <a:rPr lang="en-US" dirty="0" smtClean="0"/>
              <a:t>Checks of PPE must ensure:</a:t>
            </a:r>
          </a:p>
          <a:p>
            <a:r>
              <a:rPr lang="en-US" dirty="0" smtClean="0"/>
              <a:t>Items align with EMP and/or risk control protocols</a:t>
            </a:r>
          </a:p>
          <a:p>
            <a:r>
              <a:rPr lang="en-US" dirty="0" smtClean="0"/>
              <a:t>Items are available in required numbers and sizes</a:t>
            </a:r>
          </a:p>
          <a:p>
            <a:r>
              <a:rPr lang="en-US" dirty="0" smtClean="0"/>
              <a:t>Gear operates/functions as intended</a:t>
            </a:r>
          </a:p>
          <a:p>
            <a:r>
              <a:rPr lang="en-US" dirty="0" smtClean="0"/>
              <a:t>Items are safe to use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1998490"/>
            <a:ext cx="2933328" cy="2213164"/>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Ensure safety issues have been addressed</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Checks on human resources in relation to safety must ensure:</a:t>
            </a:r>
          </a:p>
          <a:p>
            <a:r>
              <a:rPr lang="en-US" dirty="0" smtClean="0"/>
              <a:t>Staff are suitable for allocated roles</a:t>
            </a:r>
          </a:p>
          <a:p>
            <a:r>
              <a:rPr lang="en-US" dirty="0" smtClean="0"/>
              <a:t>Sufficient staff are available</a:t>
            </a:r>
          </a:p>
          <a:p>
            <a:r>
              <a:rPr lang="en-US" dirty="0" smtClean="0"/>
              <a:t>Rescue/recovery staff are available (where required)</a:t>
            </a:r>
          </a:p>
          <a:p>
            <a:r>
              <a:rPr lang="en-US" dirty="0" smtClean="0"/>
              <a:t>Qualified first-aid staff are present</a:t>
            </a:r>
          </a:p>
          <a:p>
            <a:r>
              <a:rPr lang="en-US" dirty="0" smtClean="0"/>
              <a:t>All safety elements of risk management plans and EMPs can be handled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79" y="1988840"/>
            <a:ext cx="2331815" cy="2664296"/>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Ensure safety issues have been addressed</a:t>
            </a:r>
            <a:endParaRPr lang="en-US" dirty="0"/>
          </a:p>
        </p:txBody>
      </p:sp>
      <p:sp>
        <p:nvSpPr>
          <p:cNvPr id="3" name="Content Placeholder 2"/>
          <p:cNvSpPr>
            <a:spLocks noGrp="1"/>
          </p:cNvSpPr>
          <p:nvPr>
            <p:ph idx="1"/>
          </p:nvPr>
        </p:nvSpPr>
        <p:spPr/>
        <p:txBody>
          <a:bodyPr/>
          <a:lstStyle/>
          <a:p>
            <a:pPr marL="36576" indent="0">
              <a:buNone/>
            </a:pPr>
            <a:r>
              <a:rPr lang="en-US" dirty="0" smtClean="0"/>
              <a:t>‘Security’ checks often accompany safety checks to ensure security of:</a:t>
            </a:r>
          </a:p>
          <a:p>
            <a:r>
              <a:rPr lang="en-US" dirty="0" smtClean="0"/>
              <a:t>Property of tour group members</a:t>
            </a:r>
          </a:p>
          <a:p>
            <a:r>
              <a:rPr lang="en-US" dirty="0" smtClean="0"/>
              <a:t>Assets/property of the Tour Operator</a:t>
            </a:r>
          </a:p>
          <a:p>
            <a:r>
              <a:rPr lang="en-US" dirty="0" smtClean="0"/>
              <a:t>Local/host community</a:t>
            </a:r>
          </a:p>
          <a:p>
            <a:r>
              <a:rPr lang="en-US" dirty="0" smtClean="0"/>
              <a:t>The environment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59</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195432" y="1994944"/>
            <a:ext cx="3883728" cy="2880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Provide for maximum engagement by customers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It is always necessary to </a:t>
            </a:r>
            <a:r>
              <a:rPr lang="en-US" dirty="0" err="1" smtClean="0"/>
              <a:t>maximise</a:t>
            </a:r>
            <a:r>
              <a:rPr lang="en-US" dirty="0" smtClean="0"/>
              <a:t> engagement of tour group with an activity because:</a:t>
            </a:r>
          </a:p>
          <a:p>
            <a:r>
              <a:rPr lang="en-US" dirty="0" smtClean="0"/>
              <a:t>This is why they have joined the tour and paid their money</a:t>
            </a:r>
          </a:p>
          <a:p>
            <a:r>
              <a:rPr lang="en-US" dirty="0" smtClean="0"/>
              <a:t>Higher levels of engagement mean higher levels of satisfaction – which leads to increased repeat and referral business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0977" y="2007721"/>
            <a:ext cx="3048000" cy="2033016"/>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Provide for maximum engagement by customers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Providing for maximum engagement of tour group members at the preparation stage can involve:</a:t>
            </a:r>
          </a:p>
          <a:p>
            <a:r>
              <a:rPr lang="en-US" dirty="0" smtClean="0"/>
              <a:t>Unloading items from the tour vehicle/s</a:t>
            </a:r>
          </a:p>
          <a:p>
            <a:r>
              <a:rPr lang="en-US" dirty="0" smtClean="0"/>
              <a:t>Obtaining required resources from third party providers</a:t>
            </a:r>
          </a:p>
          <a:p>
            <a:r>
              <a:rPr lang="en-US" dirty="0" smtClean="0"/>
              <a:t>Ensuring sufficient equipment</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96976"/>
            <a:ext cx="2861320" cy="19085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Provide for maximum engagement by customers</a:t>
            </a:r>
            <a:endParaRPr lang="en-US" dirty="0"/>
          </a:p>
        </p:txBody>
      </p:sp>
      <p:sp>
        <p:nvSpPr>
          <p:cNvPr id="3" name="Content Placeholder 2"/>
          <p:cNvSpPr>
            <a:spLocks noGrp="1"/>
          </p:cNvSpPr>
          <p:nvPr>
            <p:ph idx="1"/>
          </p:nvPr>
        </p:nvSpPr>
        <p:spPr/>
        <p:txBody>
          <a:bodyPr/>
          <a:lstStyle/>
          <a:p>
            <a:r>
              <a:rPr lang="en-US" dirty="0" smtClean="0"/>
              <a:t>Taking action to address issues/missing items</a:t>
            </a:r>
          </a:p>
          <a:p>
            <a:r>
              <a:rPr lang="en-US" dirty="0" smtClean="0"/>
              <a:t>Locating items/resources in required positions</a:t>
            </a:r>
          </a:p>
          <a:p>
            <a:r>
              <a:rPr lang="en-US" dirty="0" smtClean="0"/>
              <a:t>Planning the positioning of tour group members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62</a:t>
            </a:fld>
            <a:endParaRPr lang="en-US" dirty="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t="14175"/>
          <a:stretch/>
        </p:blipFill>
        <p:spPr>
          <a:xfrm>
            <a:off x="5292080" y="1988840"/>
            <a:ext cx="2033016" cy="261595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1</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When making on-tour preparations:</a:t>
            </a:r>
          </a:p>
          <a:p>
            <a:r>
              <a:rPr lang="en-AU" dirty="0" smtClean="0"/>
              <a:t>Obtain and read the activity plans</a:t>
            </a:r>
          </a:p>
          <a:p>
            <a:r>
              <a:rPr lang="en-AU" dirty="0" smtClean="0"/>
              <a:t>Clarify details about the group and the activity</a:t>
            </a:r>
          </a:p>
          <a:p>
            <a:r>
              <a:rPr lang="en-AU" dirty="0" smtClean="0"/>
              <a:t>Realise the success of the activity hinges on effective planning and preparation</a:t>
            </a:r>
          </a:p>
          <a:p>
            <a:r>
              <a:rPr lang="en-AU" dirty="0" smtClean="0"/>
              <a:t>Match planning and preparation to the identified needs of the group</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63</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988840"/>
            <a:ext cx="2330042" cy="3240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1</a:t>
            </a:r>
            <a:endParaRPr lang="en-US" dirty="0"/>
          </a:p>
        </p:txBody>
      </p:sp>
      <p:sp>
        <p:nvSpPr>
          <p:cNvPr id="3" name="Content Placeholder 2"/>
          <p:cNvSpPr>
            <a:spLocks noGrp="1"/>
          </p:cNvSpPr>
          <p:nvPr>
            <p:ph idx="1"/>
          </p:nvPr>
        </p:nvSpPr>
        <p:spPr/>
        <p:txBody>
          <a:bodyPr>
            <a:normAutofit/>
          </a:bodyPr>
          <a:lstStyle/>
          <a:p>
            <a:r>
              <a:rPr lang="en-AU" dirty="0" smtClean="0"/>
              <a:t>Focus on the message/s, the theme/s and the objectives</a:t>
            </a:r>
          </a:p>
          <a:p>
            <a:r>
              <a:rPr lang="en-AU" dirty="0" smtClean="0"/>
              <a:t>Acknowledge the activity is part of a wider, total package</a:t>
            </a:r>
          </a:p>
          <a:p>
            <a:r>
              <a:rPr lang="en-AU" dirty="0" smtClean="0"/>
              <a:t>Determine the time and location for the activity</a:t>
            </a:r>
          </a:p>
          <a:p>
            <a:r>
              <a:rPr lang="en-AU" dirty="0" smtClean="0"/>
              <a:t>Identify those who will assist in conducting/delivering the activity</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64</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2348880"/>
            <a:ext cx="2110629" cy="3240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1</a:t>
            </a:r>
            <a:endParaRPr lang="en-US" dirty="0"/>
          </a:p>
        </p:txBody>
      </p:sp>
      <p:sp>
        <p:nvSpPr>
          <p:cNvPr id="3" name="Content Placeholder 2"/>
          <p:cNvSpPr>
            <a:spLocks noGrp="1"/>
          </p:cNvSpPr>
          <p:nvPr>
            <p:ph idx="1"/>
          </p:nvPr>
        </p:nvSpPr>
        <p:spPr/>
        <p:txBody>
          <a:bodyPr>
            <a:normAutofit/>
          </a:bodyPr>
          <a:lstStyle/>
          <a:p>
            <a:r>
              <a:rPr lang="en-AU" dirty="0" smtClean="0"/>
              <a:t>Stay within budget</a:t>
            </a:r>
          </a:p>
          <a:p>
            <a:r>
              <a:rPr lang="en-AU" dirty="0" smtClean="0"/>
              <a:t>Choose an appropriate presentation technique</a:t>
            </a:r>
          </a:p>
          <a:p>
            <a:r>
              <a:rPr lang="en-AU" dirty="0" smtClean="0"/>
              <a:t>Organise all necessary resources</a:t>
            </a:r>
          </a:p>
          <a:p>
            <a:r>
              <a:rPr lang="en-AU" dirty="0" smtClean="0"/>
              <a:t>Schedule the activity in accordance with all applicable agreements and arrangements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65</a:t>
            </a:fld>
            <a:endParaRPr lang="en-US" dirty="0"/>
          </a:p>
        </p:txBody>
      </p:sp>
      <p:pic>
        <p:nvPicPr>
          <p:cNvPr id="9" name="Picture 8"/>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76056" y="2276872"/>
            <a:ext cx="2233563" cy="3240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1</a:t>
            </a:r>
            <a:endParaRPr lang="en-US" dirty="0"/>
          </a:p>
        </p:txBody>
      </p:sp>
      <p:sp>
        <p:nvSpPr>
          <p:cNvPr id="3" name="Content Placeholder 2"/>
          <p:cNvSpPr>
            <a:spLocks noGrp="1"/>
          </p:cNvSpPr>
          <p:nvPr>
            <p:ph idx="1"/>
          </p:nvPr>
        </p:nvSpPr>
        <p:spPr/>
        <p:txBody>
          <a:bodyPr>
            <a:normAutofit/>
          </a:bodyPr>
          <a:lstStyle/>
          <a:p>
            <a:r>
              <a:rPr lang="en-AU" dirty="0" smtClean="0"/>
              <a:t>Set up for the activity in accordance with plans for the activity</a:t>
            </a:r>
          </a:p>
          <a:p>
            <a:r>
              <a:rPr lang="en-AU" dirty="0" smtClean="0"/>
              <a:t>Respect local communities</a:t>
            </a:r>
          </a:p>
          <a:p>
            <a:r>
              <a:rPr lang="en-AU" dirty="0" smtClean="0"/>
              <a:t>Prepare all required resources to reflect identified requirements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66</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20072" y="2415797"/>
            <a:ext cx="1973133" cy="3240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1</a:t>
            </a:r>
            <a:endParaRPr lang="en-US" dirty="0"/>
          </a:p>
        </p:txBody>
      </p:sp>
      <p:sp>
        <p:nvSpPr>
          <p:cNvPr id="3" name="Content Placeholder 2"/>
          <p:cNvSpPr>
            <a:spLocks noGrp="1"/>
          </p:cNvSpPr>
          <p:nvPr>
            <p:ph idx="1"/>
          </p:nvPr>
        </p:nvSpPr>
        <p:spPr/>
        <p:txBody>
          <a:bodyPr>
            <a:normAutofit/>
          </a:bodyPr>
          <a:lstStyle/>
          <a:p>
            <a:r>
              <a:rPr lang="en-AU" dirty="0" smtClean="0"/>
              <a:t>Liaise with others to confirm their roles and responsibilities</a:t>
            </a:r>
          </a:p>
          <a:p>
            <a:r>
              <a:rPr lang="en-AU" dirty="0" smtClean="0"/>
              <a:t>Make safety a prime consideration for every activity</a:t>
            </a:r>
          </a:p>
          <a:p>
            <a:r>
              <a:rPr lang="en-AU" dirty="0" smtClean="0"/>
              <a:t>Optimise customer engagement with the activity to increase enjoyment and satisfaction</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67</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55976" y="1700808"/>
            <a:ext cx="2243270" cy="28800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2 – Introduce the interpretive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Performance Criteria for this Element are:</a:t>
            </a:r>
          </a:p>
          <a:p>
            <a:r>
              <a:rPr lang="en-AU" dirty="0" smtClean="0"/>
              <a:t>Alert people to the up-coming interpretive activity</a:t>
            </a:r>
            <a:endParaRPr lang="en-US" dirty="0" smtClean="0"/>
          </a:p>
          <a:p>
            <a:r>
              <a:rPr lang="en-AU" dirty="0" smtClean="0"/>
              <a:t>Welcome customers to the interpretive activity</a:t>
            </a:r>
          </a:p>
          <a:p>
            <a:r>
              <a:rPr lang="en-AU" dirty="0" smtClean="0"/>
              <a:t>Explain the interpretive activity</a:t>
            </a:r>
          </a:p>
          <a:p>
            <a:r>
              <a:rPr lang="en-AU" dirty="0" smtClean="0"/>
              <a:t>Demonstrate necessary pre-requisites for the activity</a:t>
            </a:r>
          </a:p>
          <a:p>
            <a:r>
              <a:rPr lang="en-AU" dirty="0" smtClean="0"/>
              <a:t>Confirm customer understanding regarding the up-coming activity</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68</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03612" y="2204864"/>
            <a:ext cx="3342147" cy="2663936"/>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Alert people to the up-coming interpretive activity</a:t>
            </a:r>
            <a:endParaRPr lang="en-US" dirty="0"/>
          </a:p>
        </p:txBody>
      </p:sp>
      <p:sp>
        <p:nvSpPr>
          <p:cNvPr id="3" name="Content Placeholder 2"/>
          <p:cNvSpPr>
            <a:spLocks noGrp="1"/>
          </p:cNvSpPr>
          <p:nvPr>
            <p:ph idx="1"/>
          </p:nvPr>
        </p:nvSpPr>
        <p:spPr/>
        <p:txBody>
          <a:bodyPr/>
          <a:lstStyle/>
          <a:p>
            <a:pPr marL="36576" indent="0">
              <a:buNone/>
            </a:pPr>
            <a:r>
              <a:rPr lang="en-US" dirty="0" smtClean="0"/>
              <a:t>It is essential to alert tour group members about up-coming activities in order to:</a:t>
            </a:r>
          </a:p>
          <a:p>
            <a:r>
              <a:rPr lang="en-US" dirty="0" smtClean="0"/>
              <a:t>Meet their expectations</a:t>
            </a:r>
          </a:p>
          <a:p>
            <a:r>
              <a:rPr lang="en-US" dirty="0" smtClean="0"/>
              <a:t>Generate excitement and anticipation</a:t>
            </a:r>
          </a:p>
          <a:p>
            <a:r>
              <a:rPr lang="en-US" dirty="0" smtClean="0"/>
              <a:t>Get people talking</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33016"/>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Alert people to the up-coming interpretive activity</a:t>
            </a:r>
            <a:endParaRPr lang="en-US" dirty="0"/>
          </a:p>
        </p:txBody>
      </p:sp>
      <p:sp>
        <p:nvSpPr>
          <p:cNvPr id="3" name="Content Placeholder 2"/>
          <p:cNvSpPr>
            <a:spLocks noGrp="1"/>
          </p:cNvSpPr>
          <p:nvPr>
            <p:ph idx="1"/>
          </p:nvPr>
        </p:nvSpPr>
        <p:spPr/>
        <p:txBody>
          <a:bodyPr/>
          <a:lstStyle/>
          <a:p>
            <a:r>
              <a:rPr lang="en-US" dirty="0" smtClean="0"/>
              <a:t>Keep people informed about what is happening</a:t>
            </a:r>
          </a:p>
          <a:p>
            <a:r>
              <a:rPr lang="en-US" dirty="0" smtClean="0"/>
              <a:t>Allow individuals to prepare personally</a:t>
            </a:r>
          </a:p>
          <a:p>
            <a:r>
              <a:rPr lang="en-US" dirty="0" smtClean="0"/>
              <a:t>Give a chance for questions to be asked and/or special requests to be made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6484"/>
            <a:ext cx="3048000" cy="2322576"/>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Alert people to the up-coming interpretive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Common ways to alert tour group members to an up-coming activity:</a:t>
            </a:r>
          </a:p>
          <a:p>
            <a:r>
              <a:rPr lang="en-US" dirty="0" smtClean="0"/>
              <a:t>Including activities on the itinerary</a:t>
            </a:r>
          </a:p>
          <a:p>
            <a:r>
              <a:rPr lang="en-US" dirty="0" smtClean="0"/>
              <a:t>Identifying activities as part of pre-tour briefing</a:t>
            </a:r>
          </a:p>
          <a:p>
            <a:r>
              <a:rPr lang="en-US" dirty="0" smtClean="0"/>
              <a:t>Making verbal activity-specific announcements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71</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415913" cy="3240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Alert people to the up-coming interpretive activity</a:t>
            </a:r>
            <a:endParaRPr lang="en-US" dirty="0"/>
          </a:p>
        </p:txBody>
      </p:sp>
      <p:sp>
        <p:nvSpPr>
          <p:cNvPr id="3" name="Content Placeholder 2"/>
          <p:cNvSpPr>
            <a:spLocks noGrp="1"/>
          </p:cNvSpPr>
          <p:nvPr>
            <p:ph idx="1"/>
          </p:nvPr>
        </p:nvSpPr>
        <p:spPr/>
        <p:txBody>
          <a:bodyPr>
            <a:normAutofit/>
          </a:bodyPr>
          <a:lstStyle/>
          <a:p>
            <a:r>
              <a:rPr lang="en-US" dirty="0" smtClean="0"/>
              <a:t>Advising of basic details regarding the activity</a:t>
            </a:r>
          </a:p>
          <a:p>
            <a:r>
              <a:rPr lang="en-US" dirty="0" smtClean="0"/>
              <a:t>Encouraging engagement</a:t>
            </a:r>
          </a:p>
          <a:p>
            <a:r>
              <a:rPr lang="en-US" dirty="0" smtClean="0"/>
              <a:t>Responding to questions and concerns</a:t>
            </a:r>
          </a:p>
          <a:p>
            <a:r>
              <a:rPr lang="en-US" dirty="0" smtClean="0"/>
              <a:t>Speaking to/following up with individuals on a one-to-one basis, if required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72</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628800"/>
            <a:ext cx="2598893" cy="3240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Welcome customers to the interpretive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Standard requirements/protocols for ‘The Welcome’ for an activity are:</a:t>
            </a:r>
          </a:p>
          <a:p>
            <a:r>
              <a:rPr lang="en-US" dirty="0" smtClean="0"/>
              <a:t>Every activity should feature a formal/prepared ‘Welcome’</a:t>
            </a:r>
          </a:p>
          <a:p>
            <a:r>
              <a:rPr lang="en-US" dirty="0" smtClean="0"/>
              <a:t>It must be a spoken/verbal welcome identifying the activity, creating anticipation and providing relevant context</a:t>
            </a:r>
          </a:p>
          <a:p>
            <a:r>
              <a:rPr lang="en-US" dirty="0" smtClean="0"/>
              <a:t>They should be relatively brief</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73</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2276872"/>
            <a:ext cx="2340900" cy="32400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Welcome customers to the interpretive activity</a:t>
            </a:r>
            <a:endParaRPr lang="en-US" dirty="0"/>
          </a:p>
        </p:txBody>
      </p:sp>
      <p:sp>
        <p:nvSpPr>
          <p:cNvPr id="3" name="Content Placeholder 2"/>
          <p:cNvSpPr>
            <a:spLocks noGrp="1"/>
          </p:cNvSpPr>
          <p:nvPr>
            <p:ph idx="1"/>
          </p:nvPr>
        </p:nvSpPr>
        <p:spPr/>
        <p:txBody>
          <a:bodyPr/>
          <a:lstStyle/>
          <a:p>
            <a:r>
              <a:rPr lang="en-US" dirty="0" smtClean="0"/>
              <a:t>Relevant materials are distributed</a:t>
            </a:r>
          </a:p>
          <a:p>
            <a:r>
              <a:rPr lang="en-US" dirty="0" smtClean="0"/>
              <a:t>Codes of Conduct are explained</a:t>
            </a:r>
          </a:p>
          <a:p>
            <a:r>
              <a:rPr lang="en-US" dirty="0" smtClean="0"/>
              <a:t>Staff are introduced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74</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96104" y="1988840"/>
            <a:ext cx="3228696" cy="251992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Welcome customers to the interpretive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Some activities use ‘recorded’ welcomes – these:</a:t>
            </a:r>
          </a:p>
          <a:p>
            <a:r>
              <a:rPr lang="en-US" dirty="0" smtClean="0"/>
              <a:t>Remain the same for all tours for all groups</a:t>
            </a:r>
          </a:p>
          <a:p>
            <a:r>
              <a:rPr lang="en-US" dirty="0" smtClean="0"/>
              <a:t>May be audio and/or video</a:t>
            </a:r>
          </a:p>
          <a:p>
            <a:r>
              <a:rPr lang="en-US" dirty="0" smtClean="0"/>
              <a:t>Can incorporate explanations, demonstrations and safety</a:t>
            </a:r>
          </a:p>
          <a:p>
            <a:r>
              <a:rPr lang="en-US" dirty="0" smtClean="0"/>
              <a:t>Require the group to be assembled to listen/see the recording</a:t>
            </a:r>
          </a:p>
          <a:p>
            <a:r>
              <a:rPr lang="en-US" dirty="0" smtClean="0"/>
              <a:t>Should be supplemented by a ‘live’ face-to-face session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861320" cy="189513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Explain the interpretive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Practicalities of explaining an interpretive activity:</a:t>
            </a:r>
          </a:p>
          <a:p>
            <a:r>
              <a:rPr lang="en-US" dirty="0" smtClean="0"/>
              <a:t>Often done when demonstrating the activity</a:t>
            </a:r>
          </a:p>
          <a:p>
            <a:r>
              <a:rPr lang="en-US" dirty="0" smtClean="0"/>
              <a:t>Can be part of ‘The Welcome’</a:t>
            </a:r>
          </a:p>
          <a:p>
            <a:r>
              <a:rPr lang="en-US" dirty="0" smtClean="0"/>
              <a:t>Tour group need to be suitably assembled</a:t>
            </a:r>
          </a:p>
          <a:p>
            <a:r>
              <a:rPr lang="en-US" dirty="0" smtClean="0"/>
              <a:t>Amplification (megaphone or PA) may be suitable/required</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63166" y="2020535"/>
            <a:ext cx="3190233" cy="2127885"/>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Explain the interpretive activity</a:t>
            </a:r>
            <a:endParaRPr lang="en-US" dirty="0"/>
          </a:p>
        </p:txBody>
      </p:sp>
      <p:sp>
        <p:nvSpPr>
          <p:cNvPr id="3" name="Content Placeholder 2"/>
          <p:cNvSpPr>
            <a:spLocks noGrp="1"/>
          </p:cNvSpPr>
          <p:nvPr>
            <p:ph idx="1"/>
          </p:nvPr>
        </p:nvSpPr>
        <p:spPr/>
        <p:txBody>
          <a:bodyPr>
            <a:normAutofit/>
          </a:bodyPr>
          <a:lstStyle/>
          <a:p>
            <a:r>
              <a:rPr lang="en-US" dirty="0" smtClean="0"/>
              <a:t>Presentation must reflect plans/planning</a:t>
            </a:r>
          </a:p>
          <a:p>
            <a:r>
              <a:rPr lang="en-US" dirty="0" smtClean="0"/>
              <a:t>Explanations must align with/support previous information provided</a:t>
            </a:r>
          </a:p>
          <a:p>
            <a:r>
              <a:rPr lang="en-US" dirty="0" smtClean="0"/>
              <a:t>Linkages should be made to previous activities</a:t>
            </a:r>
          </a:p>
          <a:p>
            <a:r>
              <a:rPr lang="en-US" dirty="0" smtClean="0"/>
              <a:t>Must cover relevant practical training (where required)</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77</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1988840"/>
            <a:ext cx="2283496" cy="3240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Explain the interpretive activity</a:t>
            </a:r>
            <a:endParaRPr lang="en-US" dirty="0"/>
          </a:p>
        </p:txBody>
      </p:sp>
      <p:sp>
        <p:nvSpPr>
          <p:cNvPr id="3" name="Content Placeholder 2"/>
          <p:cNvSpPr>
            <a:spLocks noGrp="1"/>
          </p:cNvSpPr>
          <p:nvPr>
            <p:ph idx="1"/>
          </p:nvPr>
        </p:nvSpPr>
        <p:spPr/>
        <p:txBody>
          <a:bodyPr>
            <a:normAutofit/>
          </a:bodyPr>
          <a:lstStyle/>
          <a:p>
            <a:r>
              <a:rPr lang="en-US" dirty="0" smtClean="0"/>
              <a:t>Needs to ‘long enough’ but not ‘too long’</a:t>
            </a:r>
          </a:p>
          <a:p>
            <a:r>
              <a:rPr lang="en-US" dirty="0" smtClean="0"/>
              <a:t>May require repetition/s and/or paraphrasing of what has been presented</a:t>
            </a:r>
          </a:p>
          <a:p>
            <a:r>
              <a:rPr lang="en-US" dirty="0" smtClean="0"/>
              <a:t>There is a need to check understanding of what has been explained/presented</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78</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916832"/>
            <a:ext cx="2422080" cy="32400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Explain the interpretive activity</a:t>
            </a:r>
            <a:endParaRPr lang="en-US" dirty="0"/>
          </a:p>
        </p:txBody>
      </p:sp>
      <p:sp>
        <p:nvSpPr>
          <p:cNvPr id="3" name="Content Placeholder 2"/>
          <p:cNvSpPr>
            <a:spLocks noGrp="1"/>
          </p:cNvSpPr>
          <p:nvPr>
            <p:ph idx="1"/>
          </p:nvPr>
        </p:nvSpPr>
        <p:spPr/>
        <p:txBody>
          <a:bodyPr/>
          <a:lstStyle/>
          <a:p>
            <a:r>
              <a:rPr lang="en-US" dirty="0" smtClean="0"/>
              <a:t>May require/benefit from involvement of others in the presentation</a:t>
            </a:r>
          </a:p>
          <a:p>
            <a:r>
              <a:rPr lang="en-US" dirty="0" smtClean="0"/>
              <a:t>Includes need to identify associated risks</a:t>
            </a:r>
          </a:p>
          <a:p>
            <a:r>
              <a:rPr lang="en-US" dirty="0" smtClean="0"/>
              <a:t>Must address action to take in the event of incident, accident or emergency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1988840"/>
            <a:ext cx="2933328" cy="1955552"/>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Demonstrate necessary pre-requisites for the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Demonstrating necessary pre-requisites may involve/require:</a:t>
            </a:r>
          </a:p>
          <a:p>
            <a:r>
              <a:rPr lang="en-US" dirty="0" smtClean="0"/>
              <a:t>Implementing approved plans</a:t>
            </a:r>
          </a:p>
          <a:p>
            <a:r>
              <a:rPr lang="en-US" dirty="0" smtClean="0"/>
              <a:t>Distributing equipment</a:t>
            </a:r>
          </a:p>
          <a:p>
            <a:r>
              <a:rPr lang="en-US" dirty="0" smtClean="0"/>
              <a:t>Integrating explanations with demonstrations</a:t>
            </a:r>
          </a:p>
          <a:p>
            <a:r>
              <a:rPr lang="en-US" dirty="0" smtClean="0"/>
              <a:t>Using tour team/staff to conduct a model/simulated activity</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2022797"/>
            <a:ext cx="2861320" cy="1907547"/>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Demonstrate necessary pre-requisites for the activity</a:t>
            </a:r>
            <a:endParaRPr lang="en-US" dirty="0"/>
          </a:p>
        </p:txBody>
      </p:sp>
      <p:sp>
        <p:nvSpPr>
          <p:cNvPr id="3" name="Content Placeholder 2"/>
          <p:cNvSpPr>
            <a:spLocks noGrp="1"/>
          </p:cNvSpPr>
          <p:nvPr>
            <p:ph idx="1"/>
          </p:nvPr>
        </p:nvSpPr>
        <p:spPr/>
        <p:txBody>
          <a:bodyPr/>
          <a:lstStyle/>
          <a:p>
            <a:r>
              <a:rPr lang="en-US" dirty="0" smtClean="0"/>
              <a:t>Using standard practice for demonstrations</a:t>
            </a:r>
          </a:p>
          <a:p>
            <a:r>
              <a:rPr lang="en-US" dirty="0" smtClean="0"/>
              <a:t>Walking the activity ground</a:t>
            </a:r>
          </a:p>
          <a:p>
            <a:r>
              <a:rPr lang="en-US" dirty="0" smtClean="0"/>
              <a:t>Distributing activity-specific items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8335" y="2022500"/>
            <a:ext cx="2885525" cy="1924645"/>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Demonstrate necessary pre-requisites for the activity</a:t>
            </a:r>
            <a:endParaRPr lang="en-US" dirty="0"/>
          </a:p>
        </p:txBody>
      </p:sp>
      <p:sp>
        <p:nvSpPr>
          <p:cNvPr id="3" name="Content Placeholder 2"/>
          <p:cNvSpPr>
            <a:spLocks noGrp="1"/>
          </p:cNvSpPr>
          <p:nvPr>
            <p:ph idx="1"/>
          </p:nvPr>
        </p:nvSpPr>
        <p:spPr/>
        <p:txBody>
          <a:bodyPr/>
          <a:lstStyle/>
          <a:p>
            <a:r>
              <a:rPr lang="en-US" dirty="0" smtClean="0"/>
              <a:t>Distributing safety equipment</a:t>
            </a:r>
          </a:p>
          <a:p>
            <a:r>
              <a:rPr lang="en-US" dirty="0" smtClean="0"/>
              <a:t>Showing how to use equipment</a:t>
            </a:r>
          </a:p>
          <a:p>
            <a:r>
              <a:rPr lang="en-US" dirty="0" smtClean="0"/>
              <a:t>Showing use of PPE</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82</a:t>
            </a:fld>
            <a:endParaRPr lang="en-US" dirty="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l="33463" t="35768" b="14420"/>
          <a:stretch/>
        </p:blipFill>
        <p:spPr>
          <a:xfrm>
            <a:off x="4589147" y="1990000"/>
            <a:ext cx="3619193" cy="1799039"/>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Demonstrate necessary pre-requisites for the activity</a:t>
            </a:r>
            <a:endParaRPr lang="en-US" dirty="0"/>
          </a:p>
        </p:txBody>
      </p:sp>
      <p:sp>
        <p:nvSpPr>
          <p:cNvPr id="3" name="Content Placeholder 2"/>
          <p:cNvSpPr>
            <a:spLocks noGrp="1"/>
          </p:cNvSpPr>
          <p:nvPr>
            <p:ph idx="1"/>
          </p:nvPr>
        </p:nvSpPr>
        <p:spPr/>
        <p:txBody>
          <a:bodyPr/>
          <a:lstStyle/>
          <a:p>
            <a:r>
              <a:rPr lang="en-US" dirty="0" smtClean="0"/>
              <a:t>Showing how to use emergency equipment</a:t>
            </a:r>
          </a:p>
          <a:p>
            <a:r>
              <a:rPr lang="en-US" dirty="0" smtClean="0"/>
              <a:t>Employing use of ‘sufficient’ personnel to assist</a:t>
            </a:r>
          </a:p>
          <a:p>
            <a:r>
              <a:rPr lang="en-US" dirty="0" smtClean="0"/>
              <a:t>Allocating ‘sufficient’ time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07721"/>
            <a:ext cx="3048000" cy="2033016"/>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Confirm customer understanding regarding the up-coming activity</a:t>
            </a:r>
            <a:endParaRPr lang="en-US" dirty="0"/>
          </a:p>
        </p:txBody>
      </p:sp>
      <p:sp>
        <p:nvSpPr>
          <p:cNvPr id="3" name="Content Placeholder 2"/>
          <p:cNvSpPr>
            <a:spLocks noGrp="1"/>
          </p:cNvSpPr>
          <p:nvPr>
            <p:ph idx="1"/>
          </p:nvPr>
        </p:nvSpPr>
        <p:spPr/>
        <p:txBody>
          <a:bodyPr/>
          <a:lstStyle/>
          <a:p>
            <a:pPr marL="36576" indent="0">
              <a:buNone/>
            </a:pPr>
            <a:r>
              <a:rPr lang="en-US" dirty="0" smtClean="0"/>
              <a:t>Reasons to confirm understanding:</a:t>
            </a:r>
          </a:p>
          <a:p>
            <a:r>
              <a:rPr lang="en-US" dirty="0" smtClean="0"/>
              <a:t>Helps to discharge Duty of Care obligations</a:t>
            </a:r>
          </a:p>
          <a:p>
            <a:r>
              <a:rPr lang="en-US" dirty="0" smtClean="0"/>
              <a:t>Helps </a:t>
            </a:r>
            <a:r>
              <a:rPr lang="en-US" dirty="0" err="1" smtClean="0"/>
              <a:t>optimise</a:t>
            </a:r>
            <a:r>
              <a:rPr lang="en-US" dirty="0" smtClean="0"/>
              <a:t> safety</a:t>
            </a:r>
          </a:p>
          <a:p>
            <a:r>
              <a:rPr lang="en-US" dirty="0" smtClean="0"/>
              <a:t>Helps to generate engagement with the activity</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Confirm customer understanding regarding the up-coming activity</a:t>
            </a:r>
            <a:endParaRPr lang="en-US" dirty="0"/>
          </a:p>
        </p:txBody>
      </p:sp>
      <p:sp>
        <p:nvSpPr>
          <p:cNvPr id="3" name="Content Placeholder 2"/>
          <p:cNvSpPr>
            <a:spLocks noGrp="1"/>
          </p:cNvSpPr>
          <p:nvPr>
            <p:ph idx="1"/>
          </p:nvPr>
        </p:nvSpPr>
        <p:spPr/>
        <p:txBody>
          <a:bodyPr>
            <a:normAutofit/>
          </a:bodyPr>
          <a:lstStyle/>
          <a:p>
            <a:r>
              <a:rPr lang="en-US" dirty="0" smtClean="0"/>
              <a:t>Provides (another) opportunity for people to ask questions</a:t>
            </a:r>
          </a:p>
          <a:p>
            <a:r>
              <a:rPr lang="en-US" dirty="0" smtClean="0"/>
              <a:t>Provides (another) chance for people to become familiar with what is required</a:t>
            </a:r>
          </a:p>
          <a:p>
            <a:r>
              <a:rPr lang="en-US" dirty="0" smtClean="0"/>
              <a:t>Increases likelihood of learning</a:t>
            </a:r>
          </a:p>
          <a:p>
            <a:r>
              <a:rPr lang="en-US" dirty="0" smtClean="0"/>
              <a:t>Underlines potential for accident/injury thereby </a:t>
            </a:r>
            <a:r>
              <a:rPr lang="en-US" dirty="0" err="1" smtClean="0"/>
              <a:t>focussing</a:t>
            </a:r>
            <a:r>
              <a:rPr lang="en-US" dirty="0" smtClean="0"/>
              <a:t> people’s minds on the activity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7924" y="2001416"/>
            <a:ext cx="2896344" cy="2172258"/>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Confirm customer understanding regarding the up-coming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Keys when confirming understanding are:</a:t>
            </a:r>
          </a:p>
          <a:p>
            <a:r>
              <a:rPr lang="en-US" dirty="0" smtClean="0"/>
              <a:t>Never safe/sufficient to assume everyone understands what is presented</a:t>
            </a:r>
          </a:p>
          <a:p>
            <a:r>
              <a:rPr lang="en-US" dirty="0" smtClean="0"/>
              <a:t>Extra staff should be used where there are large tour numbers</a:t>
            </a:r>
          </a:p>
          <a:p>
            <a:r>
              <a:rPr lang="en-US" dirty="0" smtClean="0"/>
              <a:t>Strategies contained in approved plans must be the strategies used</a:t>
            </a:r>
          </a:p>
          <a:p>
            <a:r>
              <a:rPr lang="en-US" dirty="0" smtClean="0"/>
              <a:t>There may be a need to obtain signatures on ‘Voluntary Assumption of Risk’ forms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86</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487" t="10101" r="487" b="399"/>
          <a:stretch/>
        </p:blipFill>
        <p:spPr>
          <a:xfrm>
            <a:off x="4644008" y="2005236"/>
            <a:ext cx="2141511" cy="28800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Confirm customer understanding regarding the up-coming activity</a:t>
            </a:r>
            <a:endParaRPr lang="en-US" dirty="0"/>
          </a:p>
        </p:txBody>
      </p:sp>
      <p:sp>
        <p:nvSpPr>
          <p:cNvPr id="3" name="Content Placeholder 2"/>
          <p:cNvSpPr>
            <a:spLocks noGrp="1"/>
          </p:cNvSpPr>
          <p:nvPr>
            <p:ph idx="1"/>
          </p:nvPr>
        </p:nvSpPr>
        <p:spPr/>
        <p:txBody>
          <a:bodyPr/>
          <a:lstStyle/>
          <a:p>
            <a:pPr marL="36576" indent="0">
              <a:buNone/>
            </a:pPr>
            <a:r>
              <a:rPr lang="en-US" dirty="0" smtClean="0"/>
              <a:t>Options for confirming understanding:</a:t>
            </a:r>
          </a:p>
          <a:p>
            <a:r>
              <a:rPr lang="en-US" dirty="0" smtClean="0"/>
              <a:t>Asking questions</a:t>
            </a:r>
          </a:p>
          <a:p>
            <a:r>
              <a:rPr lang="en-US" dirty="0" smtClean="0"/>
              <a:t>Administering some form of ‘test’</a:t>
            </a:r>
          </a:p>
          <a:p>
            <a:r>
              <a:rPr lang="en-US" dirty="0" smtClean="0"/>
              <a:t>Checking individual people</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87</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3707904" y="1916832"/>
            <a:ext cx="3725518" cy="34560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Confirm customer understanding regarding the up-coming activity</a:t>
            </a:r>
            <a:endParaRPr lang="en-US" dirty="0"/>
          </a:p>
        </p:txBody>
      </p:sp>
      <p:sp>
        <p:nvSpPr>
          <p:cNvPr id="3" name="Content Placeholder 2"/>
          <p:cNvSpPr>
            <a:spLocks noGrp="1"/>
          </p:cNvSpPr>
          <p:nvPr>
            <p:ph idx="1"/>
          </p:nvPr>
        </p:nvSpPr>
        <p:spPr/>
        <p:txBody>
          <a:bodyPr/>
          <a:lstStyle/>
          <a:p>
            <a:r>
              <a:rPr lang="en-US" dirty="0" smtClean="0"/>
              <a:t>Encouraging the group to ask questions/seek clarification or more detail</a:t>
            </a:r>
          </a:p>
          <a:p>
            <a:r>
              <a:rPr lang="en-US" dirty="0" smtClean="0"/>
              <a:t>Providing additional guidance and explanation</a:t>
            </a:r>
          </a:p>
          <a:p>
            <a:r>
              <a:rPr lang="en-US" dirty="0" smtClean="0"/>
              <a:t>Monitoring the verbal and body language of individuals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88</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47637" r="7476"/>
          <a:stretch/>
        </p:blipFill>
        <p:spPr>
          <a:xfrm>
            <a:off x="5436096" y="2010420"/>
            <a:ext cx="1938144" cy="28800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2</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When introducing the interpretive activity:</a:t>
            </a:r>
          </a:p>
          <a:p>
            <a:r>
              <a:rPr lang="en-AU" dirty="0" smtClean="0"/>
              <a:t>Advise tour group members of upcoming activities</a:t>
            </a:r>
          </a:p>
          <a:p>
            <a:r>
              <a:rPr lang="en-AU" dirty="0" smtClean="0"/>
              <a:t>Distribute information and materials about the activity</a:t>
            </a:r>
          </a:p>
          <a:p>
            <a:r>
              <a:rPr lang="en-AU" dirty="0" smtClean="0"/>
              <a:t>Create excitement and expectation</a:t>
            </a:r>
          </a:p>
          <a:p>
            <a:r>
              <a:rPr lang="en-AU" dirty="0" smtClean="0"/>
              <a:t>Encourage questions about the activity</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89</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47637" r="7476"/>
          <a:stretch/>
        </p:blipFill>
        <p:spPr>
          <a:xfrm>
            <a:off x="5436096" y="2010420"/>
            <a:ext cx="1938144" cy="2880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2</a:t>
            </a:r>
            <a:endParaRPr lang="en-US" dirty="0"/>
          </a:p>
        </p:txBody>
      </p:sp>
      <p:sp>
        <p:nvSpPr>
          <p:cNvPr id="3" name="Content Placeholder 2"/>
          <p:cNvSpPr>
            <a:spLocks noGrp="1"/>
          </p:cNvSpPr>
          <p:nvPr>
            <p:ph idx="1"/>
          </p:nvPr>
        </p:nvSpPr>
        <p:spPr/>
        <p:txBody>
          <a:bodyPr>
            <a:normAutofit/>
          </a:bodyPr>
          <a:lstStyle/>
          <a:p>
            <a:r>
              <a:rPr lang="en-AU" dirty="0" smtClean="0"/>
              <a:t>Prepare a formal welcome to the activity</a:t>
            </a:r>
          </a:p>
          <a:p>
            <a:r>
              <a:rPr lang="en-AU" dirty="0" smtClean="0"/>
              <a:t>Explain relevant details, context and objectives</a:t>
            </a:r>
          </a:p>
          <a:p>
            <a:r>
              <a:rPr lang="en-AU" dirty="0" smtClean="0"/>
              <a:t>Demonstrate requirements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90</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4581" t="7476"/>
          <a:stretch/>
        </p:blipFill>
        <p:spPr>
          <a:xfrm>
            <a:off x="5220072" y="1993528"/>
            <a:ext cx="1773446" cy="28800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2</a:t>
            </a:r>
            <a:endParaRPr lang="en-US" dirty="0"/>
          </a:p>
        </p:txBody>
      </p:sp>
      <p:sp>
        <p:nvSpPr>
          <p:cNvPr id="3" name="Content Placeholder 2"/>
          <p:cNvSpPr>
            <a:spLocks noGrp="1"/>
          </p:cNvSpPr>
          <p:nvPr>
            <p:ph idx="1"/>
          </p:nvPr>
        </p:nvSpPr>
        <p:spPr/>
        <p:txBody>
          <a:bodyPr>
            <a:normAutofit/>
          </a:bodyPr>
          <a:lstStyle/>
          <a:p>
            <a:r>
              <a:rPr lang="en-AU" dirty="0" smtClean="0"/>
              <a:t>Provide an opportunity for tour group members to practice, where necessary</a:t>
            </a:r>
          </a:p>
          <a:p>
            <a:r>
              <a:rPr lang="en-AU" dirty="0" smtClean="0"/>
              <a:t>Check physical capability of participants</a:t>
            </a:r>
          </a:p>
          <a:p>
            <a:r>
              <a:rPr lang="en-AU" dirty="0" smtClean="0"/>
              <a:t>Emphasise safety</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36096" y="2023187"/>
            <a:ext cx="2033016" cy="304800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2</a:t>
            </a:r>
            <a:endParaRPr lang="en-US" dirty="0"/>
          </a:p>
        </p:txBody>
      </p:sp>
      <p:sp>
        <p:nvSpPr>
          <p:cNvPr id="3" name="Content Placeholder 2"/>
          <p:cNvSpPr>
            <a:spLocks noGrp="1"/>
          </p:cNvSpPr>
          <p:nvPr>
            <p:ph idx="1"/>
          </p:nvPr>
        </p:nvSpPr>
        <p:spPr/>
        <p:txBody>
          <a:bodyPr/>
          <a:lstStyle/>
          <a:p>
            <a:r>
              <a:rPr lang="en-AU" dirty="0" smtClean="0"/>
              <a:t>Distribute and demonstrate use of PPE</a:t>
            </a:r>
          </a:p>
          <a:p>
            <a:r>
              <a:rPr lang="en-AU" dirty="0" smtClean="0"/>
              <a:t>Address emergency protocols</a:t>
            </a:r>
          </a:p>
          <a:p>
            <a:r>
              <a:rPr lang="en-AU" dirty="0" smtClean="0"/>
              <a:t>Verify participants understand what is required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033016" cy="30480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3 – Conduct the interpretive activity</a:t>
            </a:r>
            <a:endParaRPr lang="en-US" dirty="0"/>
          </a:p>
        </p:txBody>
      </p:sp>
      <p:sp>
        <p:nvSpPr>
          <p:cNvPr id="3" name="Content Placeholder 2"/>
          <p:cNvSpPr>
            <a:spLocks noGrp="1"/>
          </p:cNvSpPr>
          <p:nvPr>
            <p:ph idx="1"/>
          </p:nvPr>
        </p:nvSpPr>
        <p:spPr>
          <a:xfrm>
            <a:off x="457200" y="1988840"/>
            <a:ext cx="4834880" cy="4137323"/>
          </a:xfrm>
        </p:spPr>
        <p:txBody>
          <a:bodyPr>
            <a:normAutofit/>
          </a:bodyPr>
          <a:lstStyle/>
          <a:p>
            <a:pPr marL="36576" indent="0">
              <a:buNone/>
            </a:pPr>
            <a:r>
              <a:rPr lang="en-US" dirty="0" smtClean="0"/>
              <a:t>Performance Criteria for this Element are:</a:t>
            </a:r>
          </a:p>
          <a:p>
            <a:r>
              <a:rPr lang="en-AU" dirty="0" smtClean="0"/>
              <a:t>Assemble tour group as required</a:t>
            </a:r>
            <a:endParaRPr lang="en-US" dirty="0" smtClean="0"/>
          </a:p>
          <a:p>
            <a:r>
              <a:rPr lang="en-AU" dirty="0" smtClean="0"/>
              <a:t>Provide commentary and interpretive presentation techniques</a:t>
            </a:r>
            <a:endParaRPr lang="en-US" dirty="0" smtClean="0"/>
          </a:p>
          <a:p>
            <a:r>
              <a:rPr lang="en-AU" dirty="0" smtClean="0"/>
              <a:t>Apply appropriate interpersonal skills</a:t>
            </a:r>
            <a:endParaRPr lang="en-US" dirty="0" smtClean="0"/>
          </a:p>
          <a:p>
            <a:r>
              <a:rPr lang="en-AU" dirty="0" smtClean="0"/>
              <a:t>Use prepared aids and materials and equipment to support presentation</a:t>
            </a:r>
            <a:endParaRPr lang="en-US" dirty="0" smtClean="0"/>
          </a:p>
          <a:p>
            <a:r>
              <a:rPr lang="en-AU" dirty="0" smtClean="0"/>
              <a:t>Encourage audience participation, where appropriate</a:t>
            </a:r>
            <a:endParaRPr lang="en-US" dirty="0" smtClean="0"/>
          </a:p>
          <a:p>
            <a:pPr marL="36576" indent="0">
              <a:buNone/>
            </a:pPr>
            <a:r>
              <a:rPr lang="en-US" sz="15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9826" y="2132856"/>
            <a:ext cx="2863574" cy="1910004"/>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3 – Conduct the interpretive activity</a:t>
            </a:r>
            <a:endParaRPr lang="en-US" dirty="0"/>
          </a:p>
        </p:txBody>
      </p:sp>
      <p:sp>
        <p:nvSpPr>
          <p:cNvPr id="3" name="Content Placeholder 2"/>
          <p:cNvSpPr>
            <a:spLocks noGrp="1"/>
          </p:cNvSpPr>
          <p:nvPr>
            <p:ph idx="1"/>
          </p:nvPr>
        </p:nvSpPr>
        <p:spPr/>
        <p:txBody>
          <a:bodyPr>
            <a:normAutofit/>
          </a:bodyPr>
          <a:lstStyle/>
          <a:p>
            <a:r>
              <a:rPr lang="en-AU" dirty="0" smtClean="0"/>
              <a:t>Respond to questions</a:t>
            </a:r>
            <a:endParaRPr lang="en-US" dirty="0" smtClean="0"/>
          </a:p>
          <a:p>
            <a:r>
              <a:rPr lang="en-AU" dirty="0" smtClean="0"/>
              <a:t>Respect environmental, cultural and social sensitivities</a:t>
            </a:r>
            <a:endParaRPr lang="en-US" dirty="0" smtClean="0"/>
          </a:p>
          <a:p>
            <a:r>
              <a:rPr lang="en-AU" dirty="0" smtClean="0"/>
              <a:t>Adjust presentation to suit emerging requirements </a:t>
            </a:r>
            <a:endParaRPr lang="en-US" dirty="0" smtClean="0"/>
          </a:p>
          <a:p>
            <a:r>
              <a:rPr lang="en-AU" dirty="0" smtClean="0"/>
              <a:t>Liaise with colleagues throughout the activity</a:t>
            </a:r>
          </a:p>
          <a:p>
            <a:r>
              <a:rPr lang="en-AU" dirty="0" smtClean="0"/>
              <a:t>Deal with unexpected events</a:t>
            </a:r>
            <a:endParaRPr lang="en-US" dirty="0" smtClean="0"/>
          </a:p>
          <a:p>
            <a:r>
              <a:rPr lang="en-AU" dirty="0" smtClean="0"/>
              <a:t>Complete the activity</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94</a:t>
            </a:fld>
            <a:endParaRPr lang="en-US" dirty="0"/>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93257" y="2024485"/>
            <a:ext cx="3048000" cy="2033016"/>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Assemble tour group as required</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Standard protocols regarding assembly of tour group:</a:t>
            </a:r>
          </a:p>
          <a:p>
            <a:r>
              <a:rPr lang="en-AU" dirty="0" smtClean="0"/>
              <a:t>Check personal requisites before convening the group</a:t>
            </a:r>
            <a:endParaRPr lang="en-US" dirty="0" smtClean="0"/>
          </a:p>
          <a:p>
            <a:r>
              <a:rPr lang="en-AU" dirty="0" smtClean="0"/>
              <a:t>Group assembly must flow from (if not actually be part of) the explanation and demonstration phase</a:t>
            </a:r>
            <a:endParaRPr lang="en-US" dirty="0" smtClean="0"/>
          </a:p>
          <a:p>
            <a:r>
              <a:rPr lang="en-AU" dirty="0" smtClean="0"/>
              <a:t>All the group should be assembled</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9946" y="1988840"/>
            <a:ext cx="3048000" cy="202692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Assemble tour group as required</a:t>
            </a:r>
            <a:endParaRPr lang="en-US" dirty="0"/>
          </a:p>
        </p:txBody>
      </p:sp>
      <p:sp>
        <p:nvSpPr>
          <p:cNvPr id="3" name="Content Placeholder 2"/>
          <p:cNvSpPr>
            <a:spLocks noGrp="1"/>
          </p:cNvSpPr>
          <p:nvPr>
            <p:ph idx="1"/>
          </p:nvPr>
        </p:nvSpPr>
        <p:spPr/>
        <p:txBody>
          <a:bodyPr>
            <a:normAutofit/>
          </a:bodyPr>
          <a:lstStyle/>
          <a:p>
            <a:r>
              <a:rPr lang="en-AU" dirty="0" smtClean="0"/>
              <a:t>Proper planning and preparation should precede the assembly</a:t>
            </a:r>
          </a:p>
          <a:p>
            <a:r>
              <a:rPr lang="en-US" dirty="0" smtClean="0"/>
              <a:t>A logical location/assemble must be selected</a:t>
            </a:r>
          </a:p>
          <a:p>
            <a:r>
              <a:rPr lang="en-US" dirty="0" smtClean="0"/>
              <a:t>Tell them what you’re going to tell them, Tell them and then Tell them what you’ve told them</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8104" y="1988839"/>
            <a:ext cx="2160240" cy="2793895"/>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Assemble tour group as required</a:t>
            </a:r>
            <a:endParaRPr lang="en-US" dirty="0"/>
          </a:p>
        </p:txBody>
      </p:sp>
      <p:sp>
        <p:nvSpPr>
          <p:cNvPr id="3" name="Content Placeholder 2"/>
          <p:cNvSpPr>
            <a:spLocks noGrp="1"/>
          </p:cNvSpPr>
          <p:nvPr>
            <p:ph idx="1"/>
          </p:nvPr>
        </p:nvSpPr>
        <p:spPr/>
        <p:txBody>
          <a:bodyPr/>
          <a:lstStyle/>
          <a:p>
            <a:r>
              <a:rPr lang="en-US" dirty="0" smtClean="0"/>
              <a:t>Be assertive when convening the assembly</a:t>
            </a:r>
          </a:p>
          <a:p>
            <a:r>
              <a:rPr lang="en-US" dirty="0" smtClean="0"/>
              <a:t>Create and maintain anticipation</a:t>
            </a:r>
          </a:p>
          <a:p>
            <a:r>
              <a:rPr lang="en-US" dirty="0" smtClean="0"/>
              <a:t>Notify all relevant others the assembly is about to start/is occurring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4512" y="1844823"/>
            <a:ext cx="3010288" cy="2273771"/>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normAutofit fontScale="92500" lnSpcReduction="10000"/>
          </a:bodyPr>
          <a:lstStyle/>
          <a:p>
            <a:pPr marL="36576" indent="0">
              <a:buNone/>
            </a:pPr>
            <a:r>
              <a:rPr lang="en-US" dirty="0" smtClean="0"/>
              <a:t>Providing commentary and using interpretive presentation techniques is activity-dependent – meaning it/they will:</a:t>
            </a:r>
          </a:p>
          <a:p>
            <a:r>
              <a:rPr lang="en-US" dirty="0" smtClean="0"/>
              <a:t>Depend on the nature/type of activity</a:t>
            </a:r>
          </a:p>
          <a:p>
            <a:r>
              <a:rPr lang="en-US" dirty="0" smtClean="0"/>
              <a:t>Vary between Tour Guides and their personal style</a:t>
            </a:r>
          </a:p>
          <a:p>
            <a:r>
              <a:rPr lang="en-US" dirty="0" smtClean="0"/>
              <a:t>Change based on identified needs of the group</a:t>
            </a:r>
          </a:p>
          <a:p>
            <a:r>
              <a:rPr lang="en-US" dirty="0" smtClean="0"/>
              <a:t>Need to reflect adverts about the tour/activity</a:t>
            </a:r>
          </a:p>
          <a:p>
            <a:r>
              <a:rPr lang="en-US" dirty="0" smtClean="0"/>
              <a:t>Be relevant to the activity</a:t>
            </a:r>
          </a:p>
          <a:p>
            <a:r>
              <a:rPr lang="en-US" dirty="0" smtClean="0"/>
              <a:t>Be chosen to benefit the group</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61126"/>
            <a:ext cx="2596874" cy="2908034"/>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normAutofit fontScale="92500" lnSpcReduction="10000"/>
          </a:bodyPr>
          <a:lstStyle/>
          <a:p>
            <a:pPr marL="36576" indent="0">
              <a:buNone/>
            </a:pPr>
            <a:r>
              <a:rPr lang="en-US" dirty="0" smtClean="0"/>
              <a:t>Commentaries:</a:t>
            </a:r>
          </a:p>
          <a:p>
            <a:r>
              <a:rPr lang="en-US" dirty="0" smtClean="0"/>
              <a:t>All tours have them but not all activities have them</a:t>
            </a:r>
          </a:p>
          <a:p>
            <a:r>
              <a:rPr lang="en-US" dirty="0" smtClean="0"/>
              <a:t>Commentaries may be ‘scripted’ or ‘unscripted’</a:t>
            </a:r>
          </a:p>
          <a:p>
            <a:r>
              <a:rPr lang="en-US" dirty="0" smtClean="0"/>
              <a:t>A scripted commentary is pre-prepared and usually approved by management</a:t>
            </a:r>
          </a:p>
          <a:p>
            <a:r>
              <a:rPr lang="en-US" dirty="0" smtClean="0"/>
              <a:t>Tour Guides traditionally </a:t>
            </a:r>
            <a:r>
              <a:rPr lang="en-US" dirty="0" err="1" smtClean="0"/>
              <a:t>memorise</a:t>
            </a:r>
            <a:r>
              <a:rPr lang="en-US" dirty="0" smtClean="0"/>
              <a:t> their scripted commentaries</a:t>
            </a:r>
          </a:p>
          <a:p>
            <a:r>
              <a:rPr lang="en-US" dirty="0" smtClean="0"/>
              <a:t>Unscripted commentary normally needs to be added to the scripted commentary for every activity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99</a:t>
            </a:fld>
            <a:endParaRPr lang="en-US" dirty="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t="20601"/>
          <a:stretch/>
        </p:blipFill>
        <p:spPr>
          <a:xfrm>
            <a:off x="5004048" y="1988839"/>
            <a:ext cx="3149352" cy="2500573"/>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Basic communication strategies to deliver commentaries:</a:t>
            </a:r>
          </a:p>
          <a:p>
            <a:r>
              <a:rPr lang="en-US" dirty="0" smtClean="0"/>
              <a:t>Ensure visibility to tour group members</a:t>
            </a:r>
          </a:p>
          <a:p>
            <a:r>
              <a:rPr lang="en-US" dirty="0" smtClean="0"/>
              <a:t>Face the group</a:t>
            </a:r>
          </a:p>
          <a:p>
            <a:r>
              <a:rPr lang="en-US" dirty="0" smtClean="0"/>
              <a:t>Speak loud enough to be heard</a:t>
            </a:r>
          </a:p>
          <a:p>
            <a:r>
              <a:rPr lang="en-US" dirty="0" smtClean="0"/>
              <a:t>Remain enthusiastic</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2376264" cy="2865846"/>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lstStyle/>
          <a:p>
            <a:r>
              <a:rPr lang="en-US" dirty="0" smtClean="0"/>
              <a:t>Begin sufficiently ‘in advance’ of the activity/event OR deliver on-site?</a:t>
            </a:r>
          </a:p>
          <a:p>
            <a:r>
              <a:rPr lang="en-US" dirty="0" smtClean="0"/>
              <a:t>Focus on all the group</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844824"/>
            <a:ext cx="2250360" cy="25200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lstStyle/>
          <a:p>
            <a:r>
              <a:rPr lang="en-US" dirty="0" smtClean="0"/>
              <a:t>Speak at a level suitable for the audience</a:t>
            </a:r>
          </a:p>
          <a:p>
            <a:r>
              <a:rPr lang="en-US" dirty="0" smtClean="0"/>
              <a:t>Seek feedback throughout</a:t>
            </a:r>
          </a:p>
          <a:p>
            <a:r>
              <a:rPr lang="en-US" dirty="0" smtClean="0"/>
              <a:t>Encourage questions</a:t>
            </a:r>
          </a:p>
          <a:p>
            <a:r>
              <a:rPr lang="en-US" dirty="0" smtClean="0"/>
              <a:t>Make the commentary a ‘unique event’</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41968" y="1844824"/>
            <a:ext cx="3311432" cy="2520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lstStyle/>
          <a:p>
            <a:r>
              <a:rPr lang="en-US" dirty="0" smtClean="0"/>
              <a:t>Know when to be quiet</a:t>
            </a:r>
          </a:p>
          <a:p>
            <a:r>
              <a:rPr lang="en-US" dirty="0" smtClean="0"/>
              <a:t>Adjust commentary as required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844824"/>
            <a:ext cx="1995280" cy="252000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Role plays:</a:t>
            </a:r>
          </a:p>
          <a:p>
            <a:r>
              <a:rPr lang="en-US" dirty="0" smtClean="0"/>
              <a:t>Tour staff and/or tour group members act out designated roles</a:t>
            </a:r>
          </a:p>
          <a:p>
            <a:r>
              <a:rPr lang="en-US" dirty="0" smtClean="0"/>
              <a:t>Used to gain insight and personal experience</a:t>
            </a:r>
          </a:p>
          <a:p>
            <a:r>
              <a:rPr lang="en-US" dirty="0" smtClean="0"/>
              <a:t>Allows people to practice responses to situations</a:t>
            </a:r>
          </a:p>
          <a:p>
            <a:r>
              <a:rPr lang="en-US" dirty="0" smtClean="0"/>
              <a:t>Usually followed by a de-briefing</a:t>
            </a:r>
          </a:p>
          <a:p>
            <a:r>
              <a:rPr lang="en-US" dirty="0" smtClean="0"/>
              <a:t>May be taped for later review or to be given as a memento of the activity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1844824"/>
            <a:ext cx="2376264" cy="3168352"/>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Voice techniques:</a:t>
            </a:r>
          </a:p>
          <a:p>
            <a:r>
              <a:rPr lang="en-US" dirty="0" smtClean="0"/>
              <a:t>Add interest, reality and </a:t>
            </a:r>
            <a:r>
              <a:rPr lang="en-US" dirty="0" err="1" smtClean="0"/>
              <a:t>flavour</a:t>
            </a:r>
            <a:endParaRPr lang="en-US" dirty="0" smtClean="0"/>
          </a:p>
          <a:p>
            <a:r>
              <a:rPr lang="en-US" dirty="0" smtClean="0"/>
              <a:t>May include talking faster/slower, louder/softer or pausing</a:t>
            </a:r>
          </a:p>
          <a:p>
            <a:r>
              <a:rPr lang="en-US" dirty="0" smtClean="0"/>
              <a:t>Can put a Tour Guide ‘into character’</a:t>
            </a:r>
          </a:p>
          <a:p>
            <a:r>
              <a:rPr lang="en-US" dirty="0" smtClean="0"/>
              <a:t>Allows use of local names, terms and pronunciations</a:t>
            </a:r>
          </a:p>
          <a:p>
            <a:r>
              <a:rPr lang="en-US" dirty="0" smtClean="0"/>
              <a:t>Demonstrates local accents and dialects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2376264" cy="3140732"/>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lstStyle/>
          <a:p>
            <a:pPr marL="36576" indent="0">
              <a:buNone/>
            </a:pPr>
            <a:r>
              <a:rPr lang="en-US" dirty="0" smtClean="0"/>
              <a:t>Story-telling – can be used to:</a:t>
            </a:r>
          </a:p>
          <a:p>
            <a:r>
              <a:rPr lang="en-US" dirty="0" smtClean="0"/>
              <a:t>Illustrate or make a point</a:t>
            </a:r>
          </a:p>
          <a:p>
            <a:r>
              <a:rPr lang="en-US" dirty="0" smtClean="0"/>
              <a:t>Contribute personal anecdotes</a:t>
            </a:r>
          </a:p>
          <a:p>
            <a:r>
              <a:rPr lang="en-US" dirty="0" smtClean="0"/>
              <a:t>Pass on myths and legends</a:t>
            </a:r>
          </a:p>
          <a:p>
            <a:r>
              <a:rPr lang="en-US" dirty="0" smtClean="0"/>
              <a:t>Add interest and diversity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2001677"/>
            <a:ext cx="2282880" cy="288000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lstStyle/>
          <a:p>
            <a:pPr marL="36576" indent="0">
              <a:buNone/>
            </a:pPr>
            <a:r>
              <a:rPr lang="en-US" dirty="0" smtClean="0"/>
              <a:t>Games, activities and sports:</a:t>
            </a:r>
          </a:p>
          <a:p>
            <a:r>
              <a:rPr lang="en-US" dirty="0" smtClean="0"/>
              <a:t>Played by tour staff and/or with or between tour group members</a:t>
            </a:r>
          </a:p>
          <a:p>
            <a:r>
              <a:rPr lang="en-US" dirty="0" smtClean="0"/>
              <a:t>Provide fun and action</a:t>
            </a:r>
          </a:p>
          <a:p>
            <a:r>
              <a:rPr lang="en-US" dirty="0" smtClean="0"/>
              <a:t>Give first-hand learning experiences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107</a:t>
            </a:fld>
            <a:endParaRPr lang="en-US"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16832"/>
            <a:ext cx="2073600" cy="288000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Demonstrations:</a:t>
            </a:r>
          </a:p>
          <a:p>
            <a:r>
              <a:rPr lang="en-US" dirty="0" smtClean="0"/>
              <a:t>Are very popular activities</a:t>
            </a:r>
          </a:p>
          <a:p>
            <a:r>
              <a:rPr lang="en-US" dirty="0" smtClean="0"/>
              <a:t>May be observed by group who learn by watching</a:t>
            </a:r>
          </a:p>
          <a:p>
            <a:r>
              <a:rPr lang="en-US" dirty="0" smtClean="0"/>
              <a:t>Can be complex involving participation in the demonstration by tour group members</a:t>
            </a:r>
          </a:p>
          <a:p>
            <a:r>
              <a:rPr lang="en-US" dirty="0" smtClean="0"/>
              <a:t>Will require commentary to explain</a:t>
            </a:r>
          </a:p>
          <a:p>
            <a:r>
              <a:rPr lang="en-US" dirty="0" smtClean="0"/>
              <a:t>Should always precede any activity where tour group is asked to perform a skill</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108</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16016" y="2204864"/>
            <a:ext cx="3048000" cy="2039112"/>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Participant interaction - may:</a:t>
            </a:r>
          </a:p>
          <a:p>
            <a:r>
              <a:rPr lang="en-US" dirty="0" smtClean="0"/>
              <a:t>Require group to interact with each other</a:t>
            </a:r>
          </a:p>
          <a:p>
            <a:r>
              <a:rPr lang="en-US" dirty="0" smtClean="0"/>
              <a:t>Require interaction with a host community</a:t>
            </a:r>
          </a:p>
          <a:p>
            <a:r>
              <a:rPr lang="en-US" dirty="0" smtClean="0"/>
              <a:t>Require interaction with the environment or a situation</a:t>
            </a:r>
          </a:p>
          <a:p>
            <a:r>
              <a:rPr lang="en-US" dirty="0" smtClean="0"/>
              <a:t>Be followed by a de-briefing session</a:t>
            </a:r>
          </a:p>
          <a:p>
            <a:r>
              <a:rPr lang="en-US" dirty="0" smtClean="0"/>
              <a:t>May be taped for later use/distribution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30581"/>
            <a:ext cx="3048000" cy="202692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lstStyle/>
          <a:p>
            <a:pPr marL="36576" indent="0">
              <a:buNone/>
            </a:pPr>
            <a:r>
              <a:rPr lang="en-US" dirty="0" smtClean="0"/>
              <a:t>Sensory awareness exercises:</a:t>
            </a:r>
          </a:p>
          <a:p>
            <a:r>
              <a:rPr lang="en-US" dirty="0" smtClean="0"/>
              <a:t>May involve smelling items/food</a:t>
            </a:r>
          </a:p>
          <a:p>
            <a:r>
              <a:rPr lang="en-US" dirty="0" smtClean="0"/>
              <a:t>May involve taste testing</a:t>
            </a:r>
          </a:p>
          <a:p>
            <a:r>
              <a:rPr lang="en-US" dirty="0" smtClean="0"/>
              <a:t>May include feeling items/weights</a:t>
            </a:r>
          </a:p>
          <a:p>
            <a:r>
              <a:rPr lang="en-US" dirty="0" smtClean="0"/>
              <a:t>Commonly features discussion and sharing of personal thoughts and/or comparison with other opinions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97246"/>
            <a:ext cx="3048000" cy="2429256"/>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Use of materials:</a:t>
            </a:r>
          </a:p>
          <a:p>
            <a:r>
              <a:rPr lang="en-US" dirty="0" smtClean="0"/>
              <a:t>Used to enhance illustration and experiences</a:t>
            </a:r>
          </a:p>
          <a:p>
            <a:r>
              <a:rPr lang="en-US" dirty="0" smtClean="0"/>
              <a:t>May feature use of:</a:t>
            </a:r>
          </a:p>
          <a:p>
            <a:pPr lvl="1"/>
            <a:r>
              <a:rPr lang="en-US" dirty="0" smtClean="0"/>
              <a:t>Local product/s</a:t>
            </a:r>
          </a:p>
          <a:p>
            <a:pPr lvl="1"/>
            <a:r>
              <a:rPr lang="en-US" dirty="0" smtClean="0"/>
              <a:t>Visual aids</a:t>
            </a:r>
          </a:p>
          <a:p>
            <a:pPr lvl="1"/>
            <a:r>
              <a:rPr lang="en-US" dirty="0" smtClean="0"/>
              <a:t>Support materials</a:t>
            </a:r>
          </a:p>
          <a:p>
            <a:pPr lvl="1"/>
            <a:r>
              <a:rPr lang="en-US" dirty="0" smtClean="0"/>
              <a:t>Prop kits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427984" y="1844824"/>
            <a:ext cx="2383474" cy="30600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Provide commentary and interpretive presentation techniques</a:t>
            </a:r>
            <a:endParaRPr lang="en-US" dirty="0"/>
          </a:p>
        </p:txBody>
      </p:sp>
      <p:sp>
        <p:nvSpPr>
          <p:cNvPr id="3" name="Content Placeholder 2"/>
          <p:cNvSpPr>
            <a:spLocks noGrp="1"/>
          </p:cNvSpPr>
          <p:nvPr>
            <p:ph idx="1"/>
          </p:nvPr>
        </p:nvSpPr>
        <p:spPr/>
        <p:txBody>
          <a:bodyPr/>
          <a:lstStyle/>
          <a:p>
            <a:pPr marL="36576" indent="0">
              <a:buNone/>
            </a:pPr>
            <a:r>
              <a:rPr lang="en-US" dirty="0" smtClean="0"/>
              <a:t>Use of technology:</a:t>
            </a:r>
          </a:p>
          <a:p>
            <a:r>
              <a:rPr lang="en-US" dirty="0" smtClean="0"/>
              <a:t>Involved in most activities to some extent</a:t>
            </a:r>
          </a:p>
          <a:p>
            <a:r>
              <a:rPr lang="en-US" dirty="0" smtClean="0"/>
              <a:t>May involve use of:</a:t>
            </a:r>
          </a:p>
          <a:p>
            <a:pPr lvl="1"/>
            <a:r>
              <a:rPr lang="en-US" dirty="0" smtClean="0"/>
              <a:t>Audio-visual equipment</a:t>
            </a:r>
          </a:p>
          <a:p>
            <a:pPr lvl="1"/>
            <a:r>
              <a:rPr lang="en-US" dirty="0" smtClean="0"/>
              <a:t>Sound and lighting technologies</a:t>
            </a:r>
          </a:p>
          <a:p>
            <a:pPr lvl="1"/>
            <a:r>
              <a:rPr lang="en-US" dirty="0" smtClean="0"/>
              <a:t>A range of systems and technologies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580161" y="1988840"/>
            <a:ext cx="2094876" cy="30600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Apply appropriate interpersonal skills</a:t>
            </a:r>
            <a:endParaRPr lang="en-US" dirty="0"/>
          </a:p>
        </p:txBody>
      </p:sp>
      <p:sp>
        <p:nvSpPr>
          <p:cNvPr id="3" name="Content Placeholder 2"/>
          <p:cNvSpPr>
            <a:spLocks noGrp="1"/>
          </p:cNvSpPr>
          <p:nvPr>
            <p:ph idx="1"/>
          </p:nvPr>
        </p:nvSpPr>
        <p:spPr/>
        <p:txBody>
          <a:bodyPr>
            <a:normAutofit/>
          </a:bodyPr>
          <a:lstStyle/>
          <a:p>
            <a:pPr marL="36576" indent="0">
              <a:buNone/>
            </a:pPr>
            <a:r>
              <a:rPr lang="en-AU" dirty="0" smtClean="0"/>
              <a:t>Ways to optimise the interpretive activity experience for individuals</a:t>
            </a:r>
            <a:r>
              <a:rPr lang="en-US" dirty="0" smtClean="0"/>
              <a:t>:</a:t>
            </a:r>
          </a:p>
          <a:p>
            <a:r>
              <a:rPr lang="en-AU" dirty="0" smtClean="0"/>
              <a:t>Using humour when talking with people  (at appropriate times)</a:t>
            </a:r>
            <a:endParaRPr lang="en-US" dirty="0" smtClean="0"/>
          </a:p>
          <a:p>
            <a:r>
              <a:rPr lang="en-US" dirty="0" smtClean="0"/>
              <a:t>Checking on people’s welfare</a:t>
            </a:r>
          </a:p>
          <a:p>
            <a:r>
              <a:rPr lang="en-AU" dirty="0" smtClean="0"/>
              <a:t>Applying suitable interpersonal and communication skills at every opportunity/exchange</a:t>
            </a:r>
          </a:p>
          <a:p>
            <a:r>
              <a:rPr lang="en-AU" dirty="0" smtClean="0"/>
              <a:t>Involving members of the group in what is happening</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0456"/>
            <a:ext cx="1680000" cy="25200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Apply appropriate interpersonal skills</a:t>
            </a:r>
            <a:endParaRPr lang="en-US" dirty="0"/>
          </a:p>
        </p:txBody>
      </p:sp>
      <p:sp>
        <p:nvSpPr>
          <p:cNvPr id="3" name="Content Placeholder 2"/>
          <p:cNvSpPr>
            <a:spLocks noGrp="1"/>
          </p:cNvSpPr>
          <p:nvPr>
            <p:ph idx="1"/>
          </p:nvPr>
        </p:nvSpPr>
        <p:spPr/>
        <p:txBody>
          <a:bodyPr/>
          <a:lstStyle/>
          <a:p>
            <a:pPr marL="36576" indent="0">
              <a:buNone/>
            </a:pPr>
            <a:r>
              <a:rPr lang="en-AU" dirty="0" smtClean="0"/>
              <a:t>Techniques to build rapport with participants</a:t>
            </a:r>
            <a:r>
              <a:rPr lang="en-US" dirty="0" smtClean="0"/>
              <a:t>:</a:t>
            </a:r>
          </a:p>
          <a:p>
            <a:r>
              <a:rPr lang="en-AU" dirty="0" smtClean="0"/>
              <a:t>Extending/building on conversations when people were initially greeted</a:t>
            </a:r>
          </a:p>
          <a:p>
            <a:r>
              <a:rPr lang="en-AU" dirty="0" smtClean="0"/>
              <a:t>Asking participants questions</a:t>
            </a:r>
          </a:p>
          <a:p>
            <a:r>
              <a:rPr lang="en-AU" dirty="0" smtClean="0"/>
              <a:t>Using icebreakers </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114</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1772816"/>
            <a:ext cx="1890000" cy="25200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Apply appropriate interpersonal skills</a:t>
            </a:r>
            <a:endParaRPr lang="en-US" dirty="0"/>
          </a:p>
        </p:txBody>
      </p:sp>
      <p:sp>
        <p:nvSpPr>
          <p:cNvPr id="3" name="Content Placeholder 2"/>
          <p:cNvSpPr>
            <a:spLocks noGrp="1"/>
          </p:cNvSpPr>
          <p:nvPr>
            <p:ph idx="1"/>
          </p:nvPr>
        </p:nvSpPr>
        <p:spPr/>
        <p:txBody>
          <a:bodyPr/>
          <a:lstStyle/>
          <a:p>
            <a:r>
              <a:rPr lang="en-AU" dirty="0" smtClean="0"/>
              <a:t>Using anecdotes when interacting with participants </a:t>
            </a:r>
          </a:p>
          <a:p>
            <a:r>
              <a:rPr lang="en-AU" dirty="0" smtClean="0"/>
              <a:t>Sharing with individuals </a:t>
            </a:r>
          </a:p>
          <a:p>
            <a:r>
              <a:rPr lang="en-AU" dirty="0" smtClean="0"/>
              <a:t>Applying suitable non-verbal communication techniques </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115</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88024" y="1988840"/>
            <a:ext cx="2151450" cy="252000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Apply appropriate interpersonal skills</a:t>
            </a:r>
            <a:endParaRPr lang="en-US" dirty="0"/>
          </a:p>
        </p:txBody>
      </p:sp>
      <p:sp>
        <p:nvSpPr>
          <p:cNvPr id="3" name="Content Placeholder 2"/>
          <p:cNvSpPr>
            <a:spLocks noGrp="1"/>
          </p:cNvSpPr>
          <p:nvPr>
            <p:ph idx="1"/>
          </p:nvPr>
        </p:nvSpPr>
        <p:spPr/>
        <p:txBody>
          <a:bodyPr/>
          <a:lstStyle/>
          <a:p>
            <a:r>
              <a:rPr lang="en-US" dirty="0" smtClean="0"/>
              <a:t>Avoiding judgements about people and their opinions</a:t>
            </a:r>
          </a:p>
          <a:p>
            <a:r>
              <a:rPr lang="en-US" dirty="0" smtClean="0"/>
              <a:t>Embracing the diversity of all tour group members</a:t>
            </a:r>
          </a:p>
          <a:p>
            <a:r>
              <a:rPr lang="en-US" dirty="0" smtClean="0"/>
              <a:t>Giving compliments (where they are genuinely warranted)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1844824"/>
            <a:ext cx="1776052" cy="252000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Apply appropriate interpersonal skills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AU" dirty="0" smtClean="0"/>
              <a:t>There can be a need to negotiate a decision regarding some aspect of an activity with the tour group where</a:t>
            </a:r>
            <a:r>
              <a:rPr lang="en-US" dirty="0" smtClean="0"/>
              <a:t>:</a:t>
            </a:r>
          </a:p>
          <a:p>
            <a:r>
              <a:rPr lang="en-AU" dirty="0" smtClean="0"/>
              <a:t>There are several options (regarding the tour and/or the activity) to choose from</a:t>
            </a:r>
          </a:p>
          <a:p>
            <a:r>
              <a:rPr lang="en-AU" dirty="0" smtClean="0"/>
              <a:t>Things are not going according to plan and action needs to be taken in response</a:t>
            </a:r>
          </a:p>
          <a:p>
            <a:r>
              <a:rPr lang="en-AU" dirty="0" smtClean="0"/>
              <a:t>Members of the group want to do something other than what is planned</a:t>
            </a:r>
            <a:endParaRPr lang="en-US" dirty="0" smtClean="0"/>
          </a:p>
          <a:p>
            <a:r>
              <a:rPr lang="en-AU" dirty="0" smtClean="0"/>
              <a:t>Unexpected circumstances arise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2376264" cy="3233929"/>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Apply appropriate interpersonal skills</a:t>
            </a:r>
            <a:endParaRPr lang="en-US" dirty="0"/>
          </a:p>
        </p:txBody>
      </p:sp>
      <p:sp>
        <p:nvSpPr>
          <p:cNvPr id="3" name="Content Placeholder 2"/>
          <p:cNvSpPr>
            <a:spLocks noGrp="1"/>
          </p:cNvSpPr>
          <p:nvPr>
            <p:ph idx="1"/>
          </p:nvPr>
        </p:nvSpPr>
        <p:spPr/>
        <p:txBody>
          <a:bodyPr/>
          <a:lstStyle/>
          <a:p>
            <a:pPr marL="36576" indent="0">
              <a:buNone/>
            </a:pPr>
            <a:r>
              <a:rPr lang="en-US" dirty="0" smtClean="0"/>
              <a:t>Keys to negotiation:</a:t>
            </a:r>
          </a:p>
          <a:p>
            <a:r>
              <a:rPr lang="en-AU" dirty="0" smtClean="0"/>
              <a:t>Strive for a win-win outcome </a:t>
            </a:r>
          </a:p>
          <a:p>
            <a:r>
              <a:rPr lang="en-AU" dirty="0" smtClean="0"/>
              <a:t>Be prepared to give/compromise</a:t>
            </a:r>
          </a:p>
          <a:p>
            <a:r>
              <a:rPr lang="en-AU" dirty="0" smtClean="0"/>
              <a:t>Plan in advance – what to say, when, where and how</a:t>
            </a:r>
          </a:p>
          <a:p>
            <a:r>
              <a:rPr lang="en-AU" dirty="0" smtClean="0"/>
              <a:t>Know what is not negotiable</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160" y="1999855"/>
            <a:ext cx="2141240" cy="321186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Apply appropriate interpersonal skills</a:t>
            </a:r>
            <a:endParaRPr lang="en-US" dirty="0"/>
          </a:p>
        </p:txBody>
      </p:sp>
      <p:sp>
        <p:nvSpPr>
          <p:cNvPr id="3" name="Content Placeholder 2"/>
          <p:cNvSpPr>
            <a:spLocks noGrp="1"/>
          </p:cNvSpPr>
          <p:nvPr>
            <p:ph idx="1"/>
          </p:nvPr>
        </p:nvSpPr>
        <p:spPr/>
        <p:txBody>
          <a:bodyPr>
            <a:normAutofit/>
          </a:bodyPr>
          <a:lstStyle/>
          <a:p>
            <a:r>
              <a:rPr lang="en-US" dirty="0" smtClean="0"/>
              <a:t>Be inclusive</a:t>
            </a:r>
          </a:p>
          <a:p>
            <a:r>
              <a:rPr lang="en-US" dirty="0" smtClean="0"/>
              <a:t>Communicate well</a:t>
            </a:r>
          </a:p>
          <a:p>
            <a:r>
              <a:rPr lang="en-US" dirty="0" smtClean="0"/>
              <a:t>Explain the situation – the reasons for it and potential consequences/outcomes</a:t>
            </a:r>
          </a:p>
          <a:p>
            <a:r>
              <a:rPr lang="en-US" dirty="0" smtClean="0"/>
              <a:t>Give reasons for possible action which might be taken</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119</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2060848"/>
            <a:ext cx="2808312" cy="2808312"/>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Apply appropriate interpersonal skills</a:t>
            </a:r>
            <a:endParaRPr lang="en-US" dirty="0"/>
          </a:p>
        </p:txBody>
      </p:sp>
      <p:sp>
        <p:nvSpPr>
          <p:cNvPr id="3" name="Content Placeholder 2"/>
          <p:cNvSpPr>
            <a:spLocks noGrp="1"/>
          </p:cNvSpPr>
          <p:nvPr>
            <p:ph idx="1"/>
          </p:nvPr>
        </p:nvSpPr>
        <p:spPr/>
        <p:txBody>
          <a:bodyPr>
            <a:normAutofit/>
          </a:bodyPr>
          <a:lstStyle/>
          <a:p>
            <a:r>
              <a:rPr lang="en-AU" dirty="0" smtClean="0"/>
              <a:t>Be prepared to suggest a solution </a:t>
            </a:r>
          </a:p>
          <a:p>
            <a:r>
              <a:rPr lang="en-AU" dirty="0" smtClean="0"/>
              <a:t>Encourage people to participate in discussions</a:t>
            </a:r>
          </a:p>
          <a:p>
            <a:r>
              <a:rPr lang="en-AU" dirty="0" smtClean="0"/>
              <a:t>Thank people for contributing to the negotiation process</a:t>
            </a:r>
          </a:p>
          <a:p>
            <a:r>
              <a:rPr lang="en-AU" dirty="0" smtClean="0"/>
              <a:t>Confirm the agreed outcome</a:t>
            </a:r>
            <a:endParaRPr lang="en-US" dirty="0" smtClean="0"/>
          </a:p>
          <a:p>
            <a:r>
              <a:rPr lang="en-AU" dirty="0" smtClean="0"/>
              <a:t>Implement the negotiated decision as agreed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2204864"/>
            <a:ext cx="2785269" cy="2304256"/>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Apply appropriate interpersonal skills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Tips of handling conflict:</a:t>
            </a:r>
          </a:p>
          <a:p>
            <a:r>
              <a:rPr lang="en-AU" dirty="0" smtClean="0"/>
              <a:t>Realise no problem will ever resolve itself</a:t>
            </a:r>
            <a:endParaRPr lang="en-US" dirty="0" smtClean="0"/>
          </a:p>
          <a:p>
            <a:r>
              <a:rPr lang="en-AU" dirty="0" smtClean="0"/>
              <a:t>Take responsibility for taking action </a:t>
            </a:r>
          </a:p>
          <a:p>
            <a:r>
              <a:rPr lang="en-AU" dirty="0" smtClean="0"/>
              <a:t>All identified issues must be addressed</a:t>
            </a:r>
          </a:p>
          <a:p>
            <a:r>
              <a:rPr lang="en-AU" dirty="0" smtClean="0"/>
              <a:t>If appropriate/possible, look for ‘safety angle’ on which to focus the conversation</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6031" y="1988840"/>
            <a:ext cx="2877390" cy="1919219"/>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Apply appropriate interpersonal skills</a:t>
            </a:r>
            <a:endParaRPr lang="en-US" dirty="0"/>
          </a:p>
        </p:txBody>
      </p:sp>
      <p:sp>
        <p:nvSpPr>
          <p:cNvPr id="3" name="Content Placeholder 2"/>
          <p:cNvSpPr>
            <a:spLocks noGrp="1"/>
          </p:cNvSpPr>
          <p:nvPr>
            <p:ph idx="1"/>
          </p:nvPr>
        </p:nvSpPr>
        <p:spPr/>
        <p:txBody>
          <a:bodyPr>
            <a:normAutofit/>
          </a:bodyPr>
          <a:lstStyle/>
          <a:p>
            <a:r>
              <a:rPr lang="en-AU" dirty="0" smtClean="0"/>
              <a:t>Treat people with respect </a:t>
            </a:r>
          </a:p>
          <a:p>
            <a:r>
              <a:rPr lang="en-AU" dirty="0" smtClean="0"/>
              <a:t>Aim to make the other person feel special</a:t>
            </a:r>
          </a:p>
          <a:p>
            <a:r>
              <a:rPr lang="en-AU" dirty="0" smtClean="0"/>
              <a:t>Talk with people who need to be spoken to ‘in private’</a:t>
            </a:r>
          </a:p>
          <a:p>
            <a:r>
              <a:rPr lang="en-AU" dirty="0" smtClean="0"/>
              <a:t>Try to stay calm</a:t>
            </a:r>
          </a:p>
          <a:p>
            <a:r>
              <a:rPr lang="en-AU" dirty="0" smtClean="0"/>
              <a:t>Aim to ‘act’ but do not ‘over-react’</a:t>
            </a:r>
          </a:p>
          <a:p>
            <a:r>
              <a:rPr lang="en-AU" dirty="0" smtClean="0"/>
              <a:t>Avoid using a loud voice</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9826" y="2132856"/>
            <a:ext cx="2863574" cy="1910004"/>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Apply appropriate interpersonal skills</a:t>
            </a:r>
            <a:endParaRPr lang="en-US" dirty="0"/>
          </a:p>
        </p:txBody>
      </p:sp>
      <p:sp>
        <p:nvSpPr>
          <p:cNvPr id="3" name="Content Placeholder 2"/>
          <p:cNvSpPr>
            <a:spLocks noGrp="1"/>
          </p:cNvSpPr>
          <p:nvPr>
            <p:ph idx="1"/>
          </p:nvPr>
        </p:nvSpPr>
        <p:spPr/>
        <p:txBody>
          <a:bodyPr/>
          <a:lstStyle/>
          <a:p>
            <a:r>
              <a:rPr lang="en-AU" dirty="0" smtClean="0"/>
              <a:t>Phrase what is said so it is not a personal ‘attack’ on the other person</a:t>
            </a:r>
          </a:p>
          <a:p>
            <a:r>
              <a:rPr lang="en-AU" dirty="0" smtClean="0"/>
              <a:t>Give reasons why the request is being made</a:t>
            </a:r>
          </a:p>
          <a:p>
            <a:r>
              <a:rPr lang="en-AU" dirty="0" smtClean="0"/>
              <a:t>Look through the eyes of the tour group member and try to see things from their perspective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992" y="2060308"/>
            <a:ext cx="3048000" cy="2033016"/>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Use prepared aids and materials and equipment to support presentation</a:t>
            </a:r>
            <a:endParaRPr lang="en-US" dirty="0"/>
          </a:p>
        </p:txBody>
      </p:sp>
      <p:sp>
        <p:nvSpPr>
          <p:cNvPr id="3" name="Content Placeholder 2"/>
          <p:cNvSpPr>
            <a:spLocks noGrp="1"/>
          </p:cNvSpPr>
          <p:nvPr>
            <p:ph idx="1"/>
          </p:nvPr>
        </p:nvSpPr>
        <p:spPr/>
        <p:txBody>
          <a:bodyPr>
            <a:normAutofit/>
          </a:bodyPr>
          <a:lstStyle/>
          <a:p>
            <a:pPr marL="36576" indent="0">
              <a:buNone/>
            </a:pPr>
            <a:r>
              <a:rPr lang="en-AU" dirty="0" smtClean="0"/>
              <a:t>Important considerations regarding aids and materials to be used in an interpretive activity</a:t>
            </a:r>
            <a:r>
              <a:rPr lang="en-US" dirty="0" smtClean="0"/>
              <a:t>:</a:t>
            </a:r>
          </a:p>
          <a:p>
            <a:r>
              <a:rPr lang="en-AU" dirty="0" smtClean="0"/>
              <a:t>All aids and materials to be used need to be prepared and packed as part of planning and preparation</a:t>
            </a:r>
            <a:endParaRPr lang="en-US" dirty="0" smtClean="0"/>
          </a:p>
          <a:p>
            <a:r>
              <a:rPr lang="en-AU" dirty="0" smtClean="0"/>
              <a:t>Aids and materials must be appropriate to the individual nature of the activity</a:t>
            </a:r>
          </a:p>
          <a:p>
            <a:r>
              <a:rPr lang="en-AU" dirty="0" smtClean="0"/>
              <a:t>Items must be sufficient in number</a:t>
            </a:r>
          </a:p>
          <a:p>
            <a:r>
              <a:rPr lang="en-AU" dirty="0" smtClean="0"/>
              <a:t>Items must be ‘user-friendly’</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124</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16016" y="1988840"/>
            <a:ext cx="2790329" cy="3935584"/>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Use prepared aids and materials and equipment to support presentation</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Examples of aids and materials:</a:t>
            </a:r>
          </a:p>
          <a:p>
            <a:r>
              <a:rPr lang="en-US" dirty="0" smtClean="0"/>
              <a:t>Hard copy items:</a:t>
            </a:r>
          </a:p>
          <a:p>
            <a:pPr lvl="1"/>
            <a:r>
              <a:rPr lang="en-US" dirty="0" smtClean="0"/>
              <a:t>Safety tips and information handouts</a:t>
            </a:r>
          </a:p>
          <a:p>
            <a:pPr lvl="1"/>
            <a:r>
              <a:rPr lang="en-US" dirty="0" smtClean="0"/>
              <a:t>Game rules, sports rules and score cards</a:t>
            </a:r>
          </a:p>
          <a:p>
            <a:pPr lvl="1"/>
            <a:r>
              <a:rPr lang="en-US" dirty="0" smtClean="0"/>
              <a:t>Copies of the commentary</a:t>
            </a:r>
          </a:p>
          <a:p>
            <a:pPr lvl="1"/>
            <a:r>
              <a:rPr lang="en-US" dirty="0" smtClean="0"/>
              <a:t>Maps, diagrams and photographs</a:t>
            </a:r>
          </a:p>
          <a:p>
            <a:pPr lvl="1"/>
            <a:r>
              <a:rPr lang="en-US" dirty="0" smtClean="0"/>
              <a:t>Sight cards, activity sheets and exercise sheets</a:t>
            </a:r>
          </a:p>
          <a:p>
            <a:pPr lvl="1"/>
            <a:r>
              <a:rPr lang="en-US" dirty="0" smtClean="0"/>
              <a:t>Question sheets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125</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44007" y="2204864"/>
            <a:ext cx="3562615" cy="2376264"/>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Use prepared aids and materials and equipment to support presentation</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Activity-related physical resources:</a:t>
            </a:r>
          </a:p>
          <a:p>
            <a:r>
              <a:rPr lang="en-US" dirty="0" smtClean="0"/>
              <a:t>Sports gear</a:t>
            </a:r>
          </a:p>
          <a:p>
            <a:r>
              <a:rPr lang="en-US" dirty="0" smtClean="0"/>
              <a:t>Props</a:t>
            </a:r>
          </a:p>
          <a:p>
            <a:r>
              <a:rPr lang="en-US" dirty="0" smtClean="0"/>
              <a:t>Costumes</a:t>
            </a:r>
          </a:p>
          <a:p>
            <a:r>
              <a:rPr lang="en-US" dirty="0" smtClean="0"/>
              <a:t>Activity-specific items</a:t>
            </a:r>
          </a:p>
          <a:p>
            <a:r>
              <a:rPr lang="en-US" dirty="0" smtClean="0"/>
              <a:t>Special needs gear</a:t>
            </a:r>
          </a:p>
          <a:p>
            <a:r>
              <a:rPr lang="en-US" dirty="0" smtClean="0"/>
              <a:t>Natural resources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08213"/>
            <a:ext cx="3048000" cy="2033016"/>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Use prepared aids and materials and equipment to support presentation</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Human resources:</a:t>
            </a:r>
          </a:p>
          <a:p>
            <a:r>
              <a:rPr lang="en-US" dirty="0" smtClean="0"/>
              <a:t>Observers</a:t>
            </a:r>
          </a:p>
          <a:p>
            <a:r>
              <a:rPr lang="en-US" dirty="0" smtClean="0"/>
              <a:t>Performers and actors</a:t>
            </a:r>
          </a:p>
          <a:p>
            <a:r>
              <a:rPr lang="en-US" dirty="0" smtClean="0"/>
              <a:t>Players, teams and troupes</a:t>
            </a:r>
          </a:p>
          <a:p>
            <a:r>
              <a:rPr lang="en-US" dirty="0" smtClean="0"/>
              <a:t>Presenters and demonstrators</a:t>
            </a:r>
          </a:p>
          <a:p>
            <a:r>
              <a:rPr lang="en-US" dirty="0" smtClean="0"/>
              <a:t>Guest speakers</a:t>
            </a:r>
          </a:p>
          <a:p>
            <a:r>
              <a:rPr lang="en-US" dirty="0" smtClean="0"/>
              <a:t>Aides and assistants</a:t>
            </a:r>
          </a:p>
          <a:p>
            <a:r>
              <a:rPr lang="en-US" dirty="0" smtClean="0"/>
              <a:t>Local/special interest groups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4008" y="1988840"/>
            <a:ext cx="3509392" cy="2333746"/>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Use prepared aids and materials and equipment to support presentation</a:t>
            </a:r>
            <a:endParaRPr lang="en-US" dirty="0"/>
          </a:p>
        </p:txBody>
      </p:sp>
      <p:sp>
        <p:nvSpPr>
          <p:cNvPr id="3" name="Content Placeholder 2"/>
          <p:cNvSpPr>
            <a:spLocks noGrp="1"/>
          </p:cNvSpPr>
          <p:nvPr>
            <p:ph idx="1"/>
          </p:nvPr>
        </p:nvSpPr>
        <p:spPr/>
        <p:txBody>
          <a:bodyPr/>
          <a:lstStyle/>
          <a:p>
            <a:pPr marL="36576" indent="0">
              <a:buNone/>
            </a:pPr>
            <a:r>
              <a:rPr lang="en-US" dirty="0" smtClean="0"/>
              <a:t>Equipment and technology:</a:t>
            </a:r>
          </a:p>
          <a:p>
            <a:r>
              <a:rPr lang="en-US" dirty="0" smtClean="0"/>
              <a:t>May be required to present an activity</a:t>
            </a:r>
          </a:p>
          <a:p>
            <a:r>
              <a:rPr lang="en-US" dirty="0" smtClean="0"/>
              <a:t>May be available at site/provided by the destination</a:t>
            </a:r>
          </a:p>
          <a:p>
            <a:r>
              <a:rPr lang="en-US" dirty="0" smtClean="0"/>
              <a:t>May need to be loaded as part of standard resources required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128</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93251" y="2042906"/>
            <a:ext cx="3481556" cy="2322198"/>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Use prepared aids and materials and equipment to support presentation</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Equipment and technology may include:</a:t>
            </a:r>
          </a:p>
          <a:p>
            <a:r>
              <a:rPr lang="en-US" dirty="0" smtClean="0"/>
              <a:t>PA systems and microphones</a:t>
            </a:r>
          </a:p>
          <a:p>
            <a:r>
              <a:rPr lang="en-US" dirty="0" smtClean="0"/>
              <a:t>Megaphones</a:t>
            </a:r>
          </a:p>
          <a:p>
            <a:r>
              <a:rPr lang="en-US" dirty="0" smtClean="0"/>
              <a:t>Overhead projectors and data projectors</a:t>
            </a:r>
          </a:p>
          <a:p>
            <a:r>
              <a:rPr lang="en-US" dirty="0" smtClean="0"/>
              <a:t>Slides and transparencies</a:t>
            </a:r>
          </a:p>
          <a:p>
            <a:r>
              <a:rPr lang="en-US" dirty="0" smtClean="0"/>
              <a:t>Sound and lighting technologies</a:t>
            </a:r>
          </a:p>
          <a:p>
            <a:r>
              <a:rPr lang="en-US" dirty="0" smtClean="0"/>
              <a:t>Laser pointers</a:t>
            </a:r>
          </a:p>
          <a:p>
            <a:r>
              <a:rPr lang="en-US" dirty="0" smtClean="0"/>
              <a:t>Personal electronic devices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129</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72000" y="2276872"/>
            <a:ext cx="3581400" cy="2388794"/>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Encourage audience participation, where appropriate</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Tour Guides should encourage participation by tour group members but this must be done with sensitivity because:</a:t>
            </a:r>
          </a:p>
          <a:p>
            <a:r>
              <a:rPr lang="en-AU" dirty="0" smtClean="0"/>
              <a:t>Some people simply do not want to participate in every activity</a:t>
            </a:r>
          </a:p>
          <a:p>
            <a:r>
              <a:rPr lang="en-AU" dirty="0" smtClean="0"/>
              <a:t>Some people are unable to participate in every activity</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130</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499992" y="1988591"/>
            <a:ext cx="2376264" cy="3562615"/>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Encourage audience participation, where appropriate</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Ways to encourage participation/engagement with activities:</a:t>
            </a:r>
          </a:p>
          <a:p>
            <a:r>
              <a:rPr lang="en-AU" dirty="0" smtClean="0"/>
              <a:t>Being personally enthusiastic about the activity </a:t>
            </a:r>
          </a:p>
          <a:p>
            <a:r>
              <a:rPr lang="en-AU" dirty="0" smtClean="0"/>
              <a:t>Verbally motivating people </a:t>
            </a:r>
          </a:p>
          <a:p>
            <a:r>
              <a:rPr lang="en-AU" dirty="0" smtClean="0"/>
              <a:t>Circulating throughout the group </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131</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4581" t="7476"/>
          <a:stretch/>
        </p:blipFill>
        <p:spPr>
          <a:xfrm>
            <a:off x="5220072" y="1993528"/>
            <a:ext cx="1773446" cy="28800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Encourage audience participation, where appropriate</a:t>
            </a:r>
            <a:endParaRPr lang="en-US" dirty="0"/>
          </a:p>
        </p:txBody>
      </p:sp>
      <p:sp>
        <p:nvSpPr>
          <p:cNvPr id="3" name="Content Placeholder 2"/>
          <p:cNvSpPr>
            <a:spLocks noGrp="1"/>
          </p:cNvSpPr>
          <p:nvPr>
            <p:ph idx="1"/>
          </p:nvPr>
        </p:nvSpPr>
        <p:spPr/>
        <p:txBody>
          <a:bodyPr/>
          <a:lstStyle/>
          <a:p>
            <a:r>
              <a:rPr lang="en-AU" dirty="0" smtClean="0"/>
              <a:t>Tailoring provision of additional/ongoing information to the identified needs of the group </a:t>
            </a:r>
          </a:p>
          <a:p>
            <a:r>
              <a:rPr lang="en-AU" dirty="0" smtClean="0"/>
              <a:t>Using a prop kit </a:t>
            </a:r>
          </a:p>
          <a:p>
            <a:r>
              <a:rPr lang="en-AU" dirty="0" smtClean="0"/>
              <a:t>Using variety of approaches </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132</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47637" r="7476"/>
          <a:stretch/>
        </p:blipFill>
        <p:spPr>
          <a:xfrm>
            <a:off x="5436096" y="2010420"/>
            <a:ext cx="1938144" cy="2880000"/>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Encourage audience participation, where appropriate</a:t>
            </a:r>
            <a:endParaRPr lang="en-US" dirty="0"/>
          </a:p>
        </p:txBody>
      </p:sp>
      <p:sp>
        <p:nvSpPr>
          <p:cNvPr id="3" name="Content Placeholder 2"/>
          <p:cNvSpPr>
            <a:spLocks noGrp="1"/>
          </p:cNvSpPr>
          <p:nvPr>
            <p:ph idx="1"/>
          </p:nvPr>
        </p:nvSpPr>
        <p:spPr/>
        <p:txBody>
          <a:bodyPr/>
          <a:lstStyle/>
          <a:p>
            <a:r>
              <a:rPr lang="en-AU" dirty="0" smtClean="0"/>
              <a:t>Highlighting unexpected occurrences </a:t>
            </a:r>
          </a:p>
          <a:p>
            <a:r>
              <a:rPr lang="en-AU" dirty="0" smtClean="0"/>
              <a:t>Interacting with all tour group members on an ongoing basis </a:t>
            </a:r>
          </a:p>
          <a:p>
            <a:r>
              <a:rPr lang="en-AU" dirty="0" smtClean="0"/>
              <a:t>Improvising commentary </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133</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487" t="10101" r="487" b="399"/>
          <a:stretch/>
        </p:blipFill>
        <p:spPr>
          <a:xfrm>
            <a:off x="4644008" y="2005236"/>
            <a:ext cx="2141511" cy="288000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Encourage audience participation, where appropriate</a:t>
            </a:r>
            <a:endParaRPr lang="en-US" dirty="0"/>
          </a:p>
        </p:txBody>
      </p:sp>
      <p:sp>
        <p:nvSpPr>
          <p:cNvPr id="3" name="Content Placeholder 2"/>
          <p:cNvSpPr>
            <a:spLocks noGrp="1"/>
          </p:cNvSpPr>
          <p:nvPr>
            <p:ph idx="1"/>
          </p:nvPr>
        </p:nvSpPr>
        <p:spPr/>
        <p:txBody>
          <a:bodyPr/>
          <a:lstStyle/>
          <a:p>
            <a:r>
              <a:rPr lang="en-AU" dirty="0" smtClean="0"/>
              <a:t>Striving to deliver excellent service at all times regardless of the problems or situations which present themselves </a:t>
            </a:r>
          </a:p>
          <a:p>
            <a:r>
              <a:rPr lang="en-AU" dirty="0" smtClean="0"/>
              <a:t>Demonstrating interest in tour group members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21316" y="2022748"/>
            <a:ext cx="2832084" cy="1889000"/>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Encourage audience participation, where appropriate</a:t>
            </a:r>
            <a:endParaRPr lang="en-US" dirty="0"/>
          </a:p>
        </p:txBody>
      </p:sp>
      <p:sp>
        <p:nvSpPr>
          <p:cNvPr id="3" name="Content Placeholder 2"/>
          <p:cNvSpPr>
            <a:spLocks noGrp="1"/>
          </p:cNvSpPr>
          <p:nvPr>
            <p:ph idx="1"/>
          </p:nvPr>
        </p:nvSpPr>
        <p:spPr/>
        <p:txBody>
          <a:bodyPr>
            <a:normAutofit fontScale="92500" lnSpcReduction="10000"/>
          </a:bodyPr>
          <a:lstStyle/>
          <a:p>
            <a:pPr marL="36576" indent="0">
              <a:buNone/>
            </a:pPr>
            <a:r>
              <a:rPr lang="en-US" dirty="0" smtClean="0"/>
              <a:t>Tour Guides may need to generate confidence in abilities of tour group members to:</a:t>
            </a:r>
          </a:p>
          <a:p>
            <a:r>
              <a:rPr lang="en-AU" dirty="0" smtClean="0"/>
              <a:t>Optimise engagement with activities</a:t>
            </a:r>
          </a:p>
          <a:p>
            <a:r>
              <a:rPr lang="en-AU" dirty="0" smtClean="0"/>
              <a:t>Enable people to get the most from their experience</a:t>
            </a:r>
          </a:p>
          <a:p>
            <a:r>
              <a:rPr lang="en-AU" dirty="0" smtClean="0"/>
              <a:t>Demonstrate Tour Guide interest in individual tour group members and a willingness to help them</a:t>
            </a:r>
          </a:p>
          <a:p>
            <a:r>
              <a:rPr lang="en-AU" dirty="0" smtClean="0"/>
              <a:t>Reassure people about the safety of activities</a:t>
            </a:r>
          </a:p>
          <a:p>
            <a:r>
              <a:rPr lang="en-AU" dirty="0" smtClean="0"/>
              <a:t>Help customers believe they can do whatever is required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0712" y="2005856"/>
            <a:ext cx="2852688" cy="1902743"/>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Encourage audience participation, where appropriate</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Ways to generate tour group member confidence in their abilities include:</a:t>
            </a:r>
          </a:p>
          <a:p>
            <a:r>
              <a:rPr lang="en-AU" dirty="0" smtClean="0"/>
              <a:t>Talking about the activity </a:t>
            </a:r>
          </a:p>
          <a:p>
            <a:r>
              <a:rPr lang="en-AU" dirty="0" smtClean="0"/>
              <a:t>Demonstrating what to do</a:t>
            </a:r>
          </a:p>
          <a:p>
            <a:r>
              <a:rPr lang="en-AU" dirty="0" smtClean="0"/>
              <a:t>Providing personal/one-on-one assistance</a:t>
            </a:r>
          </a:p>
          <a:p>
            <a:r>
              <a:rPr lang="en-AU" dirty="0" smtClean="0"/>
              <a:t>Screening an instructional DVD</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5531" y="2005608"/>
            <a:ext cx="2847869" cy="1890985"/>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Encourage audience participation, where appropriate</a:t>
            </a:r>
            <a:endParaRPr lang="en-US" dirty="0"/>
          </a:p>
        </p:txBody>
      </p:sp>
      <p:sp>
        <p:nvSpPr>
          <p:cNvPr id="3" name="Content Placeholder 2"/>
          <p:cNvSpPr>
            <a:spLocks noGrp="1"/>
          </p:cNvSpPr>
          <p:nvPr>
            <p:ph idx="1"/>
          </p:nvPr>
        </p:nvSpPr>
        <p:spPr/>
        <p:txBody>
          <a:bodyPr/>
          <a:lstStyle/>
          <a:p>
            <a:r>
              <a:rPr lang="en-AU" dirty="0" smtClean="0"/>
              <a:t>Initiating interaction on a graduated basis </a:t>
            </a:r>
          </a:p>
          <a:p>
            <a:r>
              <a:rPr lang="en-AU" dirty="0" smtClean="0"/>
              <a:t>Congratulating individuals on effort as well as achievement</a:t>
            </a:r>
          </a:p>
          <a:p>
            <a:r>
              <a:rPr lang="en-AU" dirty="0" smtClean="0"/>
              <a:t>Encouraging people to continue trying</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160240" cy="3243604"/>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Respond to questions</a:t>
            </a:r>
            <a:endParaRPr lang="en-US" dirty="0"/>
          </a:p>
        </p:txBody>
      </p:sp>
      <p:sp>
        <p:nvSpPr>
          <p:cNvPr id="3" name="Content Placeholder 2"/>
          <p:cNvSpPr>
            <a:spLocks noGrp="1"/>
          </p:cNvSpPr>
          <p:nvPr>
            <p:ph idx="1"/>
          </p:nvPr>
        </p:nvSpPr>
        <p:spPr/>
        <p:txBody>
          <a:bodyPr/>
          <a:lstStyle/>
          <a:p>
            <a:pPr marL="36576" indent="0">
              <a:buNone/>
            </a:pPr>
            <a:r>
              <a:rPr lang="en-US" dirty="0" smtClean="0"/>
              <a:t>Tips for answering questions:</a:t>
            </a:r>
          </a:p>
          <a:p>
            <a:r>
              <a:rPr lang="en-AU" dirty="0" smtClean="0"/>
              <a:t>Thank the person for the question</a:t>
            </a:r>
            <a:endParaRPr lang="en-US" dirty="0" smtClean="0"/>
          </a:p>
          <a:p>
            <a:r>
              <a:rPr lang="en-AU" dirty="0" smtClean="0"/>
              <a:t>Mention the person’s name when thanking them</a:t>
            </a:r>
            <a:endParaRPr lang="en-US" dirty="0" smtClean="0"/>
          </a:p>
          <a:p>
            <a:r>
              <a:rPr lang="en-AU" dirty="0" smtClean="0"/>
              <a:t>Smile when responding – if appropriate</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138</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44008" y="1977216"/>
            <a:ext cx="3280792" cy="2188288"/>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Respond to questions</a:t>
            </a:r>
            <a:endParaRPr lang="en-US" dirty="0"/>
          </a:p>
        </p:txBody>
      </p:sp>
      <p:sp>
        <p:nvSpPr>
          <p:cNvPr id="3" name="Content Placeholder 2"/>
          <p:cNvSpPr>
            <a:spLocks noGrp="1"/>
          </p:cNvSpPr>
          <p:nvPr>
            <p:ph idx="1"/>
          </p:nvPr>
        </p:nvSpPr>
        <p:spPr/>
        <p:txBody>
          <a:bodyPr/>
          <a:lstStyle/>
          <a:p>
            <a:r>
              <a:rPr lang="en-AU" dirty="0" smtClean="0"/>
              <a:t>Use polite and respectful language </a:t>
            </a:r>
            <a:endParaRPr lang="en-US" dirty="0" smtClean="0"/>
          </a:p>
          <a:p>
            <a:r>
              <a:rPr lang="en-AU" dirty="0" smtClean="0"/>
              <a:t>Provide a direct answer to the question which was asked</a:t>
            </a:r>
          </a:p>
          <a:p>
            <a:r>
              <a:rPr lang="en-AU" dirty="0" smtClean="0"/>
              <a:t>Ensure personal opinion in an answer is specifically identified as such</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139</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499992" y="1806121"/>
            <a:ext cx="3424808" cy="2284347"/>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Respond to questions</a:t>
            </a:r>
            <a:endParaRPr lang="en-US" dirty="0"/>
          </a:p>
        </p:txBody>
      </p:sp>
      <p:sp>
        <p:nvSpPr>
          <p:cNvPr id="3" name="Content Placeholder 2"/>
          <p:cNvSpPr>
            <a:spLocks noGrp="1"/>
          </p:cNvSpPr>
          <p:nvPr>
            <p:ph idx="1"/>
          </p:nvPr>
        </p:nvSpPr>
        <p:spPr/>
        <p:txBody>
          <a:bodyPr/>
          <a:lstStyle/>
          <a:p>
            <a:r>
              <a:rPr lang="en-AU" dirty="0" smtClean="0"/>
              <a:t>Present the answers to the most appropriate ‘target’</a:t>
            </a:r>
          </a:p>
          <a:p>
            <a:r>
              <a:rPr lang="en-AU" dirty="0" smtClean="0"/>
              <a:t>Respond promptly</a:t>
            </a:r>
          </a:p>
          <a:p>
            <a:r>
              <a:rPr lang="en-AU" dirty="0" smtClean="0"/>
              <a:t>Check the response has answered the question to satisfaction of the person who asked it</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988840"/>
            <a:ext cx="3048000" cy="2033016"/>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Respond to questions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Where the answer to a question is not known:</a:t>
            </a:r>
          </a:p>
          <a:p>
            <a:r>
              <a:rPr lang="en-AU" dirty="0" smtClean="0"/>
              <a:t>Apologise for not knowing </a:t>
            </a:r>
          </a:p>
          <a:p>
            <a:r>
              <a:rPr lang="en-AU" dirty="0" smtClean="0"/>
              <a:t>Maintain positive relations with the person/group</a:t>
            </a:r>
          </a:p>
          <a:p>
            <a:r>
              <a:rPr lang="en-AU" dirty="0" smtClean="0"/>
              <a:t>Give information on an associated topic </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141</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72000" y="1988840"/>
            <a:ext cx="3479832" cy="2321048"/>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Respond to questions</a:t>
            </a:r>
            <a:endParaRPr lang="en-US" dirty="0"/>
          </a:p>
        </p:txBody>
      </p:sp>
      <p:sp>
        <p:nvSpPr>
          <p:cNvPr id="3" name="Content Placeholder 2"/>
          <p:cNvSpPr>
            <a:spLocks noGrp="1"/>
          </p:cNvSpPr>
          <p:nvPr>
            <p:ph idx="1"/>
          </p:nvPr>
        </p:nvSpPr>
        <p:spPr/>
        <p:txBody>
          <a:bodyPr/>
          <a:lstStyle/>
          <a:p>
            <a:r>
              <a:rPr lang="en-AU" dirty="0" smtClean="0"/>
              <a:t>Refer the question to the rest of the group </a:t>
            </a:r>
          </a:p>
          <a:p>
            <a:r>
              <a:rPr lang="en-AU" dirty="0" smtClean="0"/>
              <a:t>Refer customers to sources that may provide relevant information at the conclusion of the activity or tour</a:t>
            </a:r>
          </a:p>
          <a:p>
            <a:r>
              <a:rPr lang="en-AU" dirty="0" smtClean="0"/>
              <a:t>Make arrangements to research the question and pass answer on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142</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32040" y="1988182"/>
            <a:ext cx="3779516" cy="2520937"/>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Can be a need to follow strict protocols/Codes when:</a:t>
            </a:r>
          </a:p>
          <a:p>
            <a:r>
              <a:rPr lang="en-AU" dirty="0" smtClean="0"/>
              <a:t>About to enter a local/host community or area</a:t>
            </a:r>
            <a:endParaRPr lang="en-US" dirty="0" smtClean="0"/>
          </a:p>
          <a:p>
            <a:r>
              <a:rPr lang="en-AU" dirty="0" smtClean="0"/>
              <a:t>Tour Operator belongs to a body/association requiring Code to be communicated and followed while ‘on site’</a:t>
            </a:r>
            <a:endParaRPr lang="en-US" dirty="0" smtClean="0"/>
          </a:p>
          <a:p>
            <a:r>
              <a:rPr lang="en-AU" dirty="0" smtClean="0"/>
              <a:t>Such agreements have been negotiated with  local community</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2011069"/>
            <a:ext cx="2088232" cy="3130783"/>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lstStyle/>
          <a:p>
            <a:pPr marL="36576" indent="0">
              <a:buNone/>
            </a:pPr>
            <a:r>
              <a:rPr lang="en-US" dirty="0" smtClean="0"/>
              <a:t>Notification in this regard may occur:</a:t>
            </a:r>
          </a:p>
          <a:p>
            <a:r>
              <a:rPr lang="en-US" dirty="0" smtClean="0"/>
              <a:t>In hard copy form/handouts to tour group members</a:t>
            </a:r>
          </a:p>
          <a:p>
            <a:r>
              <a:rPr lang="en-US" dirty="0" smtClean="0"/>
              <a:t>Verbal communication on the tour vehicle or at the activity site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144</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72000" y="1772816"/>
            <a:ext cx="2950464" cy="3048000"/>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General consideration in Codes:</a:t>
            </a:r>
          </a:p>
          <a:p>
            <a:r>
              <a:rPr lang="en-AU" dirty="0" smtClean="0"/>
              <a:t>Determination of ‘unacceptable’ behaviour </a:t>
            </a:r>
          </a:p>
          <a:p>
            <a:r>
              <a:rPr lang="en-AU" dirty="0" smtClean="0"/>
              <a:t>Requirement for all tour groups to be briefed </a:t>
            </a:r>
          </a:p>
          <a:p>
            <a:r>
              <a:rPr lang="en-AU" dirty="0" smtClean="0"/>
              <a:t>Need for Tour Guides to intervene where necessary </a:t>
            </a:r>
          </a:p>
          <a:p>
            <a:r>
              <a:rPr lang="en-AU" dirty="0" smtClean="0"/>
              <a:t>Need for adherence to all agreed/negotiated arrangements </a:t>
            </a:r>
          </a:p>
          <a:p>
            <a:r>
              <a:rPr lang="en-AU" dirty="0" smtClean="0"/>
              <a:t>Consequences for non-compliance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145</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190999" y="2204864"/>
            <a:ext cx="3644849" cy="2952328"/>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Topics covered by Codes may relate to:</a:t>
            </a:r>
          </a:p>
          <a:p>
            <a:r>
              <a:rPr lang="en-AU" dirty="0" smtClean="0"/>
              <a:t>Parking only in designated areas</a:t>
            </a:r>
          </a:p>
          <a:p>
            <a:r>
              <a:rPr lang="en-AU" dirty="0" smtClean="0"/>
              <a:t>Staying on designated walking tracks</a:t>
            </a:r>
          </a:p>
          <a:p>
            <a:r>
              <a:rPr lang="en-AU" dirty="0" smtClean="0"/>
              <a:t>Prohibiting taking of photographs</a:t>
            </a:r>
          </a:p>
          <a:p>
            <a:r>
              <a:rPr lang="en-AU" dirty="0" smtClean="0"/>
              <a:t>Banning use of limited/scarce local resources</a:t>
            </a:r>
          </a:p>
          <a:p>
            <a:r>
              <a:rPr lang="en-AU" dirty="0" smtClean="0"/>
              <a:t>Identifying and banning carriage of nominated items/products onto community lands/property</a:t>
            </a:r>
            <a:endParaRPr lang="en-US" dirty="0" smtClean="0"/>
          </a:p>
          <a:p>
            <a:r>
              <a:rPr lang="en-AU" dirty="0" smtClean="0"/>
              <a:t>Cleaning up after using facilities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146</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16016" y="1798423"/>
            <a:ext cx="2592288" cy="3886489"/>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lstStyle/>
          <a:p>
            <a:pPr marL="36576" indent="0">
              <a:buNone/>
            </a:pPr>
            <a:r>
              <a:rPr lang="en-US" dirty="0" smtClean="0"/>
              <a:t>Environmental issues and sensitivities may be related to:</a:t>
            </a:r>
          </a:p>
          <a:p>
            <a:r>
              <a:rPr lang="en-US" dirty="0" err="1" smtClean="0"/>
              <a:t>Minimising</a:t>
            </a:r>
            <a:r>
              <a:rPr lang="en-US" dirty="0" smtClean="0"/>
              <a:t> impact on the environment</a:t>
            </a:r>
          </a:p>
          <a:p>
            <a:r>
              <a:rPr lang="en-US" dirty="0" smtClean="0"/>
              <a:t>Rehabilitation</a:t>
            </a:r>
          </a:p>
          <a:p>
            <a:r>
              <a:rPr lang="en-US" dirty="0" smtClean="0"/>
              <a:t>Land, flora, fauna, natural resources, pollution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956233"/>
            <a:ext cx="3581400" cy="2360143"/>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Ways to demonstrate respect for the environment:</a:t>
            </a:r>
          </a:p>
          <a:p>
            <a:r>
              <a:rPr lang="en-AU" dirty="0" smtClean="0"/>
              <a:t>Not using local resources</a:t>
            </a:r>
          </a:p>
          <a:p>
            <a:r>
              <a:rPr lang="en-AU" dirty="0" smtClean="0"/>
              <a:t>Limiting/restricting/rationing use of local resources</a:t>
            </a:r>
          </a:p>
          <a:p>
            <a:r>
              <a:rPr lang="en-AU" dirty="0" smtClean="0"/>
              <a:t>Removing all rubbish created by the group/activity</a:t>
            </a:r>
          </a:p>
          <a:p>
            <a:r>
              <a:rPr lang="en-AU" dirty="0" smtClean="0"/>
              <a:t>Staying on designated tracks, paths, areas</a:t>
            </a:r>
          </a:p>
          <a:p>
            <a:r>
              <a:rPr lang="en-AU" dirty="0" smtClean="0"/>
              <a:t>Not picking the flowers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7349" y="1988840"/>
            <a:ext cx="3048000" cy="2368296"/>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lstStyle/>
          <a:p>
            <a:r>
              <a:rPr lang="en-AU" dirty="0" smtClean="0"/>
              <a:t>Staying a set distance from wildlife</a:t>
            </a:r>
          </a:p>
          <a:p>
            <a:r>
              <a:rPr lang="en-AU" dirty="0" smtClean="0"/>
              <a:t>Using only specifically identified and agreed areas for activities</a:t>
            </a:r>
          </a:p>
          <a:p>
            <a:r>
              <a:rPr lang="en-AU" dirty="0" smtClean="0"/>
              <a:t>Limiting number of visits to the area</a:t>
            </a:r>
          </a:p>
          <a:p>
            <a:r>
              <a:rPr lang="en-AU" dirty="0" smtClean="0"/>
              <a:t>Restricting number of tour group members and duration of activities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889126" cy="1927047"/>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normAutofit/>
          </a:bodyPr>
          <a:lstStyle/>
          <a:p>
            <a:r>
              <a:rPr lang="en-AU" dirty="0" smtClean="0"/>
              <a:t>Banning carriage of nominated items (known to cause damage/pollution) into the area</a:t>
            </a:r>
          </a:p>
          <a:p>
            <a:r>
              <a:rPr lang="en-AU" dirty="0" smtClean="0"/>
              <a:t>Confining interpretive activities only to approved actions which have been agreed to by local/host communities</a:t>
            </a:r>
          </a:p>
          <a:p>
            <a:r>
              <a:rPr lang="en-AU" dirty="0" smtClean="0"/>
              <a:t>Helping local communities in whatever way they require in order to rehabilitate and/or conserve their environment</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2017613"/>
            <a:ext cx="2861320" cy="1907547"/>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lstStyle/>
          <a:p>
            <a:pPr marL="36576" indent="0">
              <a:buNone/>
            </a:pPr>
            <a:r>
              <a:rPr lang="en-US" dirty="0" smtClean="0"/>
              <a:t>Cultural issues and sensitivities may relate to:</a:t>
            </a:r>
          </a:p>
          <a:p>
            <a:r>
              <a:rPr lang="en-US" dirty="0" smtClean="0"/>
              <a:t>Religion</a:t>
            </a:r>
          </a:p>
          <a:p>
            <a:r>
              <a:rPr lang="en-US" dirty="0" smtClean="0"/>
              <a:t>Race</a:t>
            </a:r>
          </a:p>
          <a:p>
            <a:r>
              <a:rPr lang="en-US" dirty="0" smtClean="0"/>
              <a:t>Language and symbols</a:t>
            </a:r>
          </a:p>
          <a:p>
            <a:r>
              <a:rPr lang="en-US" dirty="0" smtClean="0"/>
              <a:t>Norms, beliefs and assumptions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151</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32040" y="1988840"/>
            <a:ext cx="2954086" cy="2160000"/>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a:xfrm>
            <a:off x="457200" y="1988840"/>
            <a:ext cx="4906888" cy="4137323"/>
          </a:xfrm>
        </p:spPr>
        <p:txBody>
          <a:bodyPr>
            <a:normAutofit fontScale="92500" lnSpcReduction="10000"/>
          </a:bodyPr>
          <a:lstStyle/>
          <a:p>
            <a:pPr marL="36576" indent="0">
              <a:buNone/>
            </a:pPr>
            <a:r>
              <a:rPr lang="en-US" dirty="0" smtClean="0"/>
              <a:t>Ways to demonstrate respect for cultural issues:</a:t>
            </a:r>
          </a:p>
          <a:p>
            <a:r>
              <a:rPr lang="en-AU" dirty="0" smtClean="0"/>
              <a:t>Participating in ‘cultural awareness’ training</a:t>
            </a:r>
          </a:p>
          <a:p>
            <a:r>
              <a:rPr lang="en-AU" dirty="0" smtClean="0"/>
              <a:t>Learning about non-verbal communications relevant to the culture/s of people who are regular tour participants</a:t>
            </a:r>
          </a:p>
          <a:p>
            <a:r>
              <a:rPr lang="en-AU" dirty="0" smtClean="0"/>
              <a:t>Speaking in languages native to tour group members</a:t>
            </a:r>
          </a:p>
          <a:p>
            <a:r>
              <a:rPr lang="en-AU" dirty="0" smtClean="0"/>
              <a:t>Providing written material in different languages</a:t>
            </a:r>
          </a:p>
          <a:p>
            <a:r>
              <a:rPr lang="en-AU" dirty="0" smtClean="0"/>
              <a:t>Not pre-judging/stereo-typing people</a:t>
            </a:r>
            <a:endParaRPr lang="en-US" dirty="0" smtClean="0"/>
          </a:p>
          <a:p>
            <a:pPr marL="36576" indent="0">
              <a:buNone/>
            </a:pPr>
            <a:r>
              <a:rPr lang="en-US" sz="15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152</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60032" y="1844824"/>
            <a:ext cx="2558577" cy="3607864"/>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normAutofit/>
          </a:bodyPr>
          <a:lstStyle/>
          <a:p>
            <a:r>
              <a:rPr lang="en-US" dirty="0" smtClean="0"/>
              <a:t>Avoiding race/culture-specific jokes</a:t>
            </a:r>
          </a:p>
          <a:p>
            <a:r>
              <a:rPr lang="en-US" dirty="0" smtClean="0"/>
              <a:t>Checking symbols, signs, examples and activities used are not offensive</a:t>
            </a:r>
          </a:p>
          <a:p>
            <a:r>
              <a:rPr lang="en-US" dirty="0" smtClean="0"/>
              <a:t>Refraining from culturally-based comments</a:t>
            </a:r>
          </a:p>
          <a:p>
            <a:r>
              <a:rPr lang="en-US" dirty="0" smtClean="0"/>
              <a:t>Demonstrating inclusivity</a:t>
            </a:r>
          </a:p>
          <a:p>
            <a:r>
              <a:rPr lang="en-US" dirty="0" smtClean="0"/>
              <a:t>Not joining in with culturally inappropriate behavior or language</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153</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16016" y="1992926"/>
            <a:ext cx="2520280" cy="3504575"/>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lstStyle/>
          <a:p>
            <a:r>
              <a:rPr lang="en-US" dirty="0" smtClean="0"/>
              <a:t>Intervening when a need to do so arises</a:t>
            </a:r>
          </a:p>
          <a:p>
            <a:r>
              <a:rPr lang="en-US" dirty="0" smtClean="0"/>
              <a:t>Acknowledging differences</a:t>
            </a:r>
          </a:p>
          <a:p>
            <a:r>
              <a:rPr lang="en-US" dirty="0" smtClean="0"/>
              <a:t>Avoiding discriminatory language</a:t>
            </a:r>
          </a:p>
          <a:p>
            <a:r>
              <a:rPr lang="en-US" dirty="0" smtClean="0"/>
              <a:t>Being patient and understanding with people from different backgrounds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154</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32040" y="1844824"/>
            <a:ext cx="2410240" cy="288000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Social issues and sensitivities may relate to:</a:t>
            </a:r>
          </a:p>
          <a:p>
            <a:r>
              <a:rPr lang="en-AU" dirty="0" smtClean="0"/>
              <a:t>Personal values and norms</a:t>
            </a:r>
          </a:p>
          <a:p>
            <a:r>
              <a:rPr lang="en-AU" dirty="0" smtClean="0"/>
              <a:t>Family units</a:t>
            </a:r>
          </a:p>
          <a:p>
            <a:r>
              <a:rPr lang="en-AU" dirty="0" smtClean="0"/>
              <a:t>Individual circumstances</a:t>
            </a:r>
          </a:p>
          <a:p>
            <a:r>
              <a:rPr lang="en-AU" dirty="0" smtClean="0"/>
              <a:t>Age</a:t>
            </a:r>
          </a:p>
          <a:p>
            <a:r>
              <a:rPr lang="en-AU" dirty="0" smtClean="0"/>
              <a:t>Gender and sexual identity</a:t>
            </a:r>
          </a:p>
          <a:p>
            <a:r>
              <a:rPr lang="en-AU" dirty="0" smtClean="0"/>
              <a:t>Disability</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155</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00321" y="1974820"/>
            <a:ext cx="1968929" cy="2880000"/>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Ways to demonstrate respect for social issues:</a:t>
            </a:r>
          </a:p>
          <a:p>
            <a:r>
              <a:rPr lang="en-AU" dirty="0" smtClean="0"/>
              <a:t>Acknowledging personal rights and freedoms</a:t>
            </a:r>
          </a:p>
          <a:p>
            <a:r>
              <a:rPr lang="en-AU" dirty="0" smtClean="0"/>
              <a:t>Not judging people by their actions</a:t>
            </a:r>
          </a:p>
          <a:p>
            <a:r>
              <a:rPr lang="en-AU" dirty="0" smtClean="0"/>
              <a:t>Supporting and helping individuals who are experiencing personal difficulties and hardship</a:t>
            </a:r>
          </a:p>
          <a:p>
            <a:r>
              <a:rPr lang="en-AU" dirty="0" smtClean="0"/>
              <a:t>Using inclusive language</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156</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32040" y="1988840"/>
            <a:ext cx="2904298" cy="3312048"/>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normAutofit/>
          </a:bodyPr>
          <a:lstStyle/>
          <a:p>
            <a:r>
              <a:rPr lang="en-AU" dirty="0" smtClean="0"/>
              <a:t>Not making inflammatory remarks/comments when an individual’s social issue/s cause delay or disruption to other tour group members</a:t>
            </a:r>
          </a:p>
          <a:p>
            <a:r>
              <a:rPr lang="en-AU" dirty="0" smtClean="0"/>
              <a:t>Appreciating individual differences</a:t>
            </a:r>
          </a:p>
          <a:p>
            <a:r>
              <a:rPr lang="en-AU" dirty="0" smtClean="0"/>
              <a:t>Intervening when a tour group member says or does something which is insensitive</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1988840"/>
            <a:ext cx="2033016" cy="3048000"/>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Respect environmental, cultural and social sensitivities</a:t>
            </a:r>
            <a:endParaRPr lang="en-US" dirty="0"/>
          </a:p>
        </p:txBody>
      </p:sp>
      <p:sp>
        <p:nvSpPr>
          <p:cNvPr id="3" name="Content Placeholder 2"/>
          <p:cNvSpPr>
            <a:spLocks noGrp="1"/>
          </p:cNvSpPr>
          <p:nvPr>
            <p:ph idx="1"/>
          </p:nvPr>
        </p:nvSpPr>
        <p:spPr/>
        <p:txBody>
          <a:bodyPr>
            <a:normAutofit/>
          </a:bodyPr>
          <a:lstStyle/>
          <a:p>
            <a:r>
              <a:rPr lang="en-AU" dirty="0" smtClean="0"/>
              <a:t>Not making personal comment about a person’s social circumstances, choices or arrangements</a:t>
            </a:r>
          </a:p>
          <a:p>
            <a:r>
              <a:rPr lang="en-AU" dirty="0" smtClean="0"/>
              <a:t>Treating everyone equally but providing extra assistance to those who are challenged or disenfranchised by virtue of social factors</a:t>
            </a:r>
          </a:p>
          <a:p>
            <a:r>
              <a:rPr lang="en-AU" dirty="0" smtClean="0"/>
              <a:t>Catering for disabilities</a:t>
            </a:r>
          </a:p>
          <a:p>
            <a:r>
              <a:rPr lang="en-AU" dirty="0" smtClean="0"/>
              <a:t>Showing understanding/empathy for people’s thoughts and feelings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8257" y="2024485"/>
            <a:ext cx="3048000" cy="2033016"/>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Adjust presentation to suit emerging requirements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Reasons to monitor and adjust presentations:</a:t>
            </a:r>
          </a:p>
          <a:p>
            <a:r>
              <a:rPr lang="en-AU" dirty="0" smtClean="0"/>
              <a:t>Optimise customer enjoyment and engagement</a:t>
            </a:r>
          </a:p>
          <a:p>
            <a:r>
              <a:rPr lang="en-AU" dirty="0" smtClean="0"/>
              <a:t>Accommodate and respond to issues arising</a:t>
            </a:r>
          </a:p>
          <a:p>
            <a:r>
              <a:rPr lang="en-AU" dirty="0" smtClean="0"/>
              <a:t>Keep the activity on schedule</a:t>
            </a:r>
          </a:p>
          <a:p>
            <a:r>
              <a:rPr lang="en-AU" dirty="0" smtClean="0"/>
              <a:t>Cater for individual needs</a:t>
            </a:r>
          </a:p>
          <a:p>
            <a:r>
              <a:rPr lang="en-AU" dirty="0" smtClean="0"/>
              <a:t>Demonstrate customer-focus and service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30581"/>
            <a:ext cx="3048000" cy="2026920"/>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Adjust presentation to suit emerging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All activities are unique due to the dynamic mix of:</a:t>
            </a:r>
          </a:p>
          <a:p>
            <a:r>
              <a:rPr lang="en-US" dirty="0" smtClean="0"/>
              <a:t>Tour group members</a:t>
            </a:r>
          </a:p>
          <a:p>
            <a:r>
              <a:rPr lang="en-US" dirty="0" smtClean="0"/>
              <a:t>Activity type</a:t>
            </a:r>
          </a:p>
          <a:p>
            <a:r>
              <a:rPr lang="en-US" dirty="0" smtClean="0"/>
              <a:t>Location</a:t>
            </a:r>
          </a:p>
          <a:p>
            <a:r>
              <a:rPr lang="en-US" dirty="0" smtClean="0"/>
              <a:t>Conditions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988839"/>
            <a:ext cx="3221360" cy="2148647"/>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Adjust presentation to suit emerging requirements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Decision to make adjustments should be based on:</a:t>
            </a:r>
          </a:p>
          <a:p>
            <a:r>
              <a:rPr lang="en-AU" dirty="0" smtClean="0"/>
              <a:t>Feedback from the group </a:t>
            </a:r>
          </a:p>
          <a:p>
            <a:r>
              <a:rPr lang="en-AU" dirty="0" smtClean="0"/>
              <a:t>Local factors </a:t>
            </a:r>
          </a:p>
          <a:p>
            <a:r>
              <a:rPr lang="en-AU" dirty="0" smtClean="0"/>
              <a:t>Personal experience</a:t>
            </a:r>
          </a:p>
          <a:p>
            <a:r>
              <a:rPr lang="en-AU" dirty="0" smtClean="0"/>
              <a:t>Common sense</a:t>
            </a:r>
          </a:p>
          <a:p>
            <a:r>
              <a:rPr lang="en-AU" dirty="0" smtClean="0"/>
              <a:t>Knowledge gained about the tour group members</a:t>
            </a:r>
          </a:p>
          <a:p>
            <a:r>
              <a:rPr lang="en-AU" dirty="0" smtClean="0"/>
              <a:t>Knowledge held about the tour/activity to-date and the remaining inclusions and activities on the tour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161</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44008" y="2132856"/>
            <a:ext cx="2353176" cy="3528000"/>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Adjust presentation to suit emerging requirements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Options for adjusting presentation:</a:t>
            </a:r>
          </a:p>
          <a:p>
            <a:r>
              <a:rPr lang="en-AU" dirty="0" smtClean="0"/>
              <a:t>Changing the basic tenor of an activity</a:t>
            </a:r>
          </a:p>
          <a:p>
            <a:r>
              <a:rPr lang="en-AU" dirty="0" smtClean="0"/>
              <a:t>Altering the pacing of the presentation</a:t>
            </a:r>
          </a:p>
          <a:p>
            <a:r>
              <a:rPr lang="en-AU" dirty="0" smtClean="0"/>
              <a:t>Changing the scope of the activity itself</a:t>
            </a:r>
          </a:p>
          <a:p>
            <a:r>
              <a:rPr lang="en-AU" dirty="0" smtClean="0"/>
              <a:t>Adjusting the duration of the activity</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2744" y="1987231"/>
            <a:ext cx="3048000" cy="2322576"/>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Adjust presentation to suit emerging requirements</a:t>
            </a:r>
            <a:endParaRPr lang="en-US" dirty="0"/>
          </a:p>
        </p:txBody>
      </p:sp>
      <p:sp>
        <p:nvSpPr>
          <p:cNvPr id="3" name="Content Placeholder 2"/>
          <p:cNvSpPr>
            <a:spLocks noGrp="1"/>
          </p:cNvSpPr>
          <p:nvPr>
            <p:ph idx="1"/>
          </p:nvPr>
        </p:nvSpPr>
        <p:spPr/>
        <p:txBody>
          <a:bodyPr/>
          <a:lstStyle/>
          <a:p>
            <a:r>
              <a:rPr lang="en-AU" dirty="0" smtClean="0"/>
              <a:t>Addressing the degree of engagement/participation of the tour group with the activity </a:t>
            </a:r>
          </a:p>
          <a:p>
            <a:r>
              <a:rPr lang="en-AU" dirty="0" smtClean="0"/>
              <a:t>Taking action in relation to the administration of the activity </a:t>
            </a:r>
          </a:p>
          <a:p>
            <a:r>
              <a:rPr lang="en-AU" dirty="0" smtClean="0"/>
              <a:t>Moving the location of the activity </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0884" y="1988840"/>
            <a:ext cx="3048000" cy="2033016"/>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Adjust presentation to suit emerging requirements</a:t>
            </a:r>
            <a:endParaRPr lang="en-US" dirty="0"/>
          </a:p>
        </p:txBody>
      </p:sp>
      <p:sp>
        <p:nvSpPr>
          <p:cNvPr id="3" name="Content Placeholder 2"/>
          <p:cNvSpPr>
            <a:spLocks noGrp="1"/>
          </p:cNvSpPr>
          <p:nvPr>
            <p:ph idx="1"/>
          </p:nvPr>
        </p:nvSpPr>
        <p:spPr/>
        <p:txBody>
          <a:bodyPr>
            <a:normAutofit/>
          </a:bodyPr>
          <a:lstStyle/>
          <a:p>
            <a:r>
              <a:rPr lang="en-AU" dirty="0" smtClean="0"/>
              <a:t>Responding to initial assessment of participant physical ability </a:t>
            </a:r>
          </a:p>
          <a:p>
            <a:r>
              <a:rPr lang="en-AU" dirty="0" smtClean="0"/>
              <a:t>Responding to changing environmental and other factors </a:t>
            </a:r>
          </a:p>
          <a:p>
            <a:r>
              <a:rPr lang="en-AU" dirty="0" smtClean="0"/>
              <a:t>Abandoning the planned activity and initiating a substitute/alternative activity </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0533" y="2018688"/>
            <a:ext cx="3242867" cy="2160000"/>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Adjust presentation to suit emerging requirements</a:t>
            </a:r>
            <a:endParaRPr lang="en-US" dirty="0"/>
          </a:p>
        </p:txBody>
      </p:sp>
      <p:sp>
        <p:nvSpPr>
          <p:cNvPr id="3" name="Content Placeholder 2"/>
          <p:cNvSpPr>
            <a:spLocks noGrp="1"/>
          </p:cNvSpPr>
          <p:nvPr>
            <p:ph idx="1"/>
          </p:nvPr>
        </p:nvSpPr>
        <p:spPr/>
        <p:txBody>
          <a:bodyPr>
            <a:normAutofit/>
          </a:bodyPr>
          <a:lstStyle/>
          <a:p>
            <a:r>
              <a:rPr lang="en-AU" dirty="0" smtClean="0"/>
              <a:t>Allocating more and/or different resources, gear and equipment </a:t>
            </a:r>
          </a:p>
          <a:p>
            <a:r>
              <a:rPr lang="en-AU" dirty="0" smtClean="0"/>
              <a:t>Being prepared to amend the itinerary for the tour in consultation with the group </a:t>
            </a:r>
          </a:p>
          <a:p>
            <a:r>
              <a:rPr lang="en-AU" dirty="0" smtClean="0"/>
              <a:t>Altering the level of communication and interaction with individuals and/or groups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1865" y="2024781"/>
            <a:ext cx="3048000" cy="2033016"/>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Liaise with colleagues throughout the activity</a:t>
            </a:r>
            <a:endParaRPr lang="en-US" dirty="0"/>
          </a:p>
        </p:txBody>
      </p:sp>
      <p:sp>
        <p:nvSpPr>
          <p:cNvPr id="3" name="Content Placeholder 2"/>
          <p:cNvSpPr>
            <a:spLocks noGrp="1"/>
          </p:cNvSpPr>
          <p:nvPr>
            <p:ph idx="1"/>
          </p:nvPr>
        </p:nvSpPr>
        <p:spPr/>
        <p:txBody>
          <a:bodyPr/>
          <a:lstStyle/>
          <a:p>
            <a:pPr marL="36576" indent="0">
              <a:buNone/>
            </a:pPr>
            <a:r>
              <a:rPr lang="en-US" dirty="0" smtClean="0"/>
              <a:t>Colleagues may include people/personnel from:</a:t>
            </a:r>
          </a:p>
          <a:p>
            <a:r>
              <a:rPr lang="en-US" dirty="0" smtClean="0"/>
              <a:t>Local/host communities</a:t>
            </a:r>
          </a:p>
          <a:p>
            <a:r>
              <a:rPr lang="en-US" dirty="0" smtClean="0"/>
              <a:t>Tour Operator</a:t>
            </a:r>
          </a:p>
          <a:p>
            <a:r>
              <a:rPr lang="en-US" dirty="0" smtClean="0"/>
              <a:t>Third party providers/suppliers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166</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72000" y="1722385"/>
            <a:ext cx="2232248" cy="3346699"/>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Liaise with colleagues throughout the activity</a:t>
            </a:r>
            <a:endParaRPr lang="en-US" dirty="0"/>
          </a:p>
        </p:txBody>
      </p:sp>
      <p:sp>
        <p:nvSpPr>
          <p:cNvPr id="3" name="Content Placeholder 2"/>
          <p:cNvSpPr>
            <a:spLocks noGrp="1"/>
          </p:cNvSpPr>
          <p:nvPr>
            <p:ph idx="1"/>
          </p:nvPr>
        </p:nvSpPr>
        <p:spPr/>
        <p:txBody>
          <a:bodyPr/>
          <a:lstStyle/>
          <a:p>
            <a:r>
              <a:rPr lang="en-US" dirty="0" smtClean="0"/>
              <a:t>Local guides</a:t>
            </a:r>
          </a:p>
          <a:p>
            <a:r>
              <a:rPr lang="en-US" dirty="0" smtClean="0"/>
              <a:t>‘Contacts’</a:t>
            </a:r>
          </a:p>
          <a:p>
            <a:r>
              <a:rPr lang="en-US" dirty="0" smtClean="0"/>
              <a:t>Land owners/managers</a:t>
            </a:r>
          </a:p>
          <a:p>
            <a:r>
              <a:rPr lang="en-US" dirty="0" smtClean="0"/>
              <a:t>Representatives from government authorities/agencies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1853184"/>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Liaise with colleagues throughout the activity</a:t>
            </a:r>
            <a:endParaRPr lang="en-US" dirty="0"/>
          </a:p>
        </p:txBody>
      </p:sp>
      <p:sp>
        <p:nvSpPr>
          <p:cNvPr id="3" name="Content Placeholder 2"/>
          <p:cNvSpPr>
            <a:spLocks noGrp="1"/>
          </p:cNvSpPr>
          <p:nvPr>
            <p:ph idx="1"/>
          </p:nvPr>
        </p:nvSpPr>
        <p:spPr/>
        <p:txBody>
          <a:bodyPr/>
          <a:lstStyle/>
          <a:p>
            <a:pPr marL="36576" indent="0">
              <a:buNone/>
            </a:pPr>
            <a:r>
              <a:rPr lang="en-US" dirty="0" smtClean="0"/>
              <a:t>Examples of liaison activities:</a:t>
            </a:r>
          </a:p>
          <a:p>
            <a:r>
              <a:rPr lang="en-AU" dirty="0" smtClean="0"/>
              <a:t>Responding to requests from people/colleagues for assistance</a:t>
            </a:r>
          </a:p>
          <a:p>
            <a:r>
              <a:rPr lang="en-AU" dirty="0" smtClean="0"/>
              <a:t>Asking for assistance </a:t>
            </a:r>
          </a:p>
          <a:p>
            <a:r>
              <a:rPr lang="en-AU" dirty="0" smtClean="0"/>
              <a:t>Communicating with individuals and properties </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1844824"/>
            <a:ext cx="2033016" cy="3048000"/>
          </a:xfrm>
          <a:prstGeom prst="rect">
            <a:avLst/>
          </a:prstGeo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Liaise with colleagues throughout the activity</a:t>
            </a:r>
            <a:endParaRPr lang="en-US" dirty="0"/>
          </a:p>
        </p:txBody>
      </p:sp>
      <p:sp>
        <p:nvSpPr>
          <p:cNvPr id="3" name="Content Placeholder 2"/>
          <p:cNvSpPr>
            <a:spLocks noGrp="1"/>
          </p:cNvSpPr>
          <p:nvPr>
            <p:ph idx="1"/>
          </p:nvPr>
        </p:nvSpPr>
        <p:spPr/>
        <p:txBody>
          <a:bodyPr/>
          <a:lstStyle/>
          <a:p>
            <a:r>
              <a:rPr lang="en-AU" dirty="0" smtClean="0"/>
              <a:t>Providing support for the work of others</a:t>
            </a:r>
          </a:p>
          <a:p>
            <a:r>
              <a:rPr lang="en-AU" dirty="0" smtClean="0"/>
              <a:t>Anticipating requests from colleagues </a:t>
            </a:r>
          </a:p>
          <a:p>
            <a:r>
              <a:rPr lang="en-AU" dirty="0" smtClean="0"/>
              <a:t>Communicating with venues, sites, destinations and providers</a:t>
            </a:r>
          </a:p>
          <a:p>
            <a:r>
              <a:rPr lang="en-AU" dirty="0" smtClean="0"/>
              <a:t>Making payment for services and products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98417" y="1844824"/>
            <a:ext cx="2950464" cy="3048000"/>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lstStyle/>
          <a:p>
            <a:pPr marL="36576" indent="0">
              <a:buNone/>
            </a:pPr>
            <a:r>
              <a:rPr lang="en-US" dirty="0" smtClean="0"/>
              <a:t>Causes of unexpected events may be:</a:t>
            </a:r>
          </a:p>
          <a:p>
            <a:r>
              <a:rPr lang="en-US" dirty="0" smtClean="0"/>
              <a:t>Systems failure/s</a:t>
            </a:r>
          </a:p>
          <a:p>
            <a:r>
              <a:rPr lang="en-US" dirty="0" smtClean="0"/>
              <a:t>Tour vehicle problems</a:t>
            </a:r>
          </a:p>
          <a:p>
            <a:r>
              <a:rPr lang="en-US" dirty="0" smtClean="0"/>
              <a:t>Accident, injury or death of tour member</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170</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2700"/>
            <a:ext cx="3048000" cy="2057400"/>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lstStyle/>
          <a:p>
            <a:r>
              <a:rPr lang="en-US" dirty="0" smtClean="0"/>
              <a:t>Inappropriate </a:t>
            </a:r>
            <a:r>
              <a:rPr lang="en-US" dirty="0" err="1" smtClean="0"/>
              <a:t>behaviour</a:t>
            </a:r>
            <a:endParaRPr lang="en-US" dirty="0" smtClean="0"/>
          </a:p>
          <a:p>
            <a:r>
              <a:rPr lang="en-US" dirty="0" smtClean="0"/>
              <a:t>Adverse weather</a:t>
            </a:r>
          </a:p>
          <a:p>
            <a:r>
              <a:rPr lang="en-US" dirty="0" smtClean="0"/>
              <a:t>Unpredictable animal </a:t>
            </a:r>
            <a:r>
              <a:rPr lang="en-US" dirty="0" err="1" smtClean="0"/>
              <a:t>behaviour</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6382" y="2033503"/>
            <a:ext cx="3048000" cy="2026920"/>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lstStyle/>
          <a:p>
            <a:r>
              <a:rPr lang="en-US" dirty="0" smtClean="0"/>
              <a:t>Problems with sites</a:t>
            </a:r>
          </a:p>
          <a:p>
            <a:r>
              <a:rPr lang="en-US" dirty="0" smtClean="0"/>
              <a:t>Unanticipated/problematic composition of tour group</a:t>
            </a:r>
          </a:p>
          <a:p>
            <a:r>
              <a:rPr lang="en-US" dirty="0" smtClean="0"/>
              <a:t>Delays caused by tour group members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5415" y="1985327"/>
            <a:ext cx="3048000" cy="2151888"/>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It should be standard practice to:</a:t>
            </a:r>
          </a:p>
          <a:p>
            <a:r>
              <a:rPr lang="en-US" dirty="0" smtClean="0"/>
              <a:t>Try to predict ‘unexpected events’ and emergencies</a:t>
            </a:r>
          </a:p>
          <a:p>
            <a:r>
              <a:rPr lang="en-US" dirty="0" smtClean="0"/>
              <a:t>Plan for what is identified</a:t>
            </a:r>
          </a:p>
          <a:p>
            <a:r>
              <a:rPr lang="en-US" dirty="0" smtClean="0"/>
              <a:t>Create:</a:t>
            </a:r>
          </a:p>
          <a:p>
            <a:r>
              <a:rPr lang="en-US" dirty="0" smtClean="0"/>
              <a:t>Operational plans</a:t>
            </a:r>
          </a:p>
          <a:p>
            <a:r>
              <a:rPr lang="en-US" dirty="0" smtClean="0"/>
              <a:t>Emergency Management plans</a:t>
            </a:r>
          </a:p>
          <a:p>
            <a:r>
              <a:rPr lang="en-US" dirty="0" smtClean="0"/>
              <a:t>Contingency plans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173</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38188"/>
          <a:stretch/>
        </p:blipFill>
        <p:spPr>
          <a:xfrm>
            <a:off x="4427984" y="1958139"/>
            <a:ext cx="2808312" cy="3034916"/>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Pre-requisites for effective plans:</a:t>
            </a:r>
          </a:p>
          <a:p>
            <a:r>
              <a:rPr lang="en-US" dirty="0" smtClean="0"/>
              <a:t>Adequate resources</a:t>
            </a:r>
          </a:p>
          <a:p>
            <a:r>
              <a:rPr lang="en-US" dirty="0" err="1" smtClean="0"/>
              <a:t>Trialling</a:t>
            </a:r>
            <a:r>
              <a:rPr lang="en-US" dirty="0" smtClean="0"/>
              <a:t> and testing</a:t>
            </a:r>
          </a:p>
          <a:p>
            <a:r>
              <a:rPr lang="en-US" dirty="0" smtClean="0"/>
              <a:t>Review and revision</a:t>
            </a:r>
          </a:p>
          <a:p>
            <a:r>
              <a:rPr lang="en-US" dirty="0" smtClean="0"/>
              <a:t>Must be communicated</a:t>
            </a:r>
          </a:p>
          <a:p>
            <a:r>
              <a:rPr lang="en-US" dirty="0" smtClean="0"/>
              <a:t>Practice/drills must underpin implementation</a:t>
            </a:r>
          </a:p>
          <a:p>
            <a:r>
              <a:rPr lang="en-US" dirty="0" smtClean="0"/>
              <a:t>Post-activity review/up-dates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174</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32525"/>
          <a:stretch/>
        </p:blipFill>
        <p:spPr>
          <a:xfrm>
            <a:off x="5148064" y="1998314"/>
            <a:ext cx="2776736" cy="2744819"/>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lstStyle/>
          <a:p>
            <a:pPr marL="36576" indent="0">
              <a:buNone/>
            </a:pPr>
            <a:r>
              <a:rPr lang="en-US" dirty="0" smtClean="0"/>
              <a:t>Provision of plans to tour staff:</a:t>
            </a:r>
          </a:p>
          <a:p>
            <a:r>
              <a:rPr lang="en-US" dirty="0" smtClean="0"/>
              <a:t>Plans may be provided by the Tour Operator in an ‘Operations Package/Folder </a:t>
            </a:r>
          </a:p>
          <a:p>
            <a:pPr marL="36576" indent="0">
              <a:buNone/>
            </a:pPr>
            <a:r>
              <a:rPr lang="en-US" b="1" dirty="0" smtClean="0"/>
              <a:t>or</a:t>
            </a:r>
          </a:p>
          <a:p>
            <a:r>
              <a:rPr lang="en-US" dirty="0" smtClean="0"/>
              <a:t>Plans may be available via electronic devices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175</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r="38188"/>
          <a:stretch/>
        </p:blipFill>
        <p:spPr>
          <a:xfrm>
            <a:off x="4499992" y="1844824"/>
            <a:ext cx="2448272" cy="2645824"/>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Contingency plans:</a:t>
            </a:r>
          </a:p>
          <a:p>
            <a:r>
              <a:rPr lang="en-US" dirty="0" smtClean="0"/>
              <a:t>Are Plan B</a:t>
            </a:r>
          </a:p>
          <a:p>
            <a:r>
              <a:rPr lang="en-US" dirty="0" smtClean="0"/>
              <a:t>They detail what to do if normal events/activities cannot be implemented or followed</a:t>
            </a:r>
          </a:p>
          <a:p>
            <a:r>
              <a:rPr lang="en-US" dirty="0" smtClean="0"/>
              <a:t>They deal with issues that are not emergencies but have the potential to disrupt the tour</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8335" y="2022500"/>
            <a:ext cx="2885525" cy="1924645"/>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Contingency plans are prepared to:</a:t>
            </a:r>
          </a:p>
          <a:p>
            <a:r>
              <a:rPr lang="en-US" dirty="0" smtClean="0"/>
              <a:t>Ensure smooth operation even if there are problems</a:t>
            </a:r>
          </a:p>
          <a:p>
            <a:r>
              <a:rPr lang="en-US" dirty="0" smtClean="0"/>
              <a:t>Control costs, timing and activities</a:t>
            </a:r>
          </a:p>
          <a:p>
            <a:r>
              <a:rPr lang="en-US" dirty="0" err="1" smtClean="0"/>
              <a:t>Optimise</a:t>
            </a:r>
            <a:r>
              <a:rPr lang="en-US" dirty="0" smtClean="0"/>
              <a:t> chance of meeting expectations</a:t>
            </a:r>
          </a:p>
          <a:p>
            <a:r>
              <a:rPr lang="en-US" dirty="0" smtClean="0"/>
              <a:t>Provide direction to staff about what to do</a:t>
            </a:r>
          </a:p>
          <a:p>
            <a:r>
              <a:rPr lang="en-US" dirty="0" smtClean="0"/>
              <a:t>Comply with obligations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2022797"/>
            <a:ext cx="2861320" cy="1907547"/>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lstStyle/>
          <a:p>
            <a:pPr marL="36576" indent="0">
              <a:buNone/>
            </a:pPr>
            <a:r>
              <a:rPr lang="en-US" dirty="0" smtClean="0"/>
              <a:t>Contents of Contingency plans for interpretive activities:</a:t>
            </a:r>
          </a:p>
          <a:p>
            <a:r>
              <a:rPr lang="en-US" dirty="0" smtClean="0"/>
              <a:t>Name of activity</a:t>
            </a:r>
          </a:p>
          <a:p>
            <a:r>
              <a:rPr lang="en-US" dirty="0" smtClean="0"/>
              <a:t>Name of tour</a:t>
            </a:r>
          </a:p>
          <a:p>
            <a:r>
              <a:rPr lang="en-US" dirty="0" smtClean="0"/>
              <a:t>Relevant dates</a:t>
            </a:r>
          </a:p>
          <a:p>
            <a:r>
              <a:rPr lang="en-US" dirty="0" smtClean="0"/>
              <a:t>Trigger points for implementation</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1988840"/>
            <a:ext cx="2933328" cy="1955552"/>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lstStyle/>
          <a:p>
            <a:r>
              <a:rPr lang="en-US" dirty="0" smtClean="0"/>
              <a:t>Lists/sets of action to take</a:t>
            </a:r>
          </a:p>
          <a:p>
            <a:r>
              <a:rPr lang="en-US" dirty="0" smtClean="0"/>
              <a:t>Required notifications</a:t>
            </a:r>
          </a:p>
          <a:p>
            <a:r>
              <a:rPr lang="en-US" dirty="0" smtClean="0"/>
              <a:t>Prompts for other considerations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179</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916832"/>
            <a:ext cx="2422080" cy="3240000"/>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General requirements for dealing with unexpected events:</a:t>
            </a:r>
          </a:p>
          <a:p>
            <a:r>
              <a:rPr lang="en-US" dirty="0" smtClean="0"/>
              <a:t>Implementing pre-prepared plans</a:t>
            </a:r>
          </a:p>
          <a:p>
            <a:r>
              <a:rPr lang="en-US" dirty="0" smtClean="0"/>
              <a:t>Notifying authorities/emergency services</a:t>
            </a:r>
          </a:p>
          <a:p>
            <a:r>
              <a:rPr lang="en-US" dirty="0" smtClean="0"/>
              <a:t>Maintaining communication with the tour group</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180</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t="14175"/>
          <a:stretch/>
        </p:blipFill>
        <p:spPr>
          <a:xfrm>
            <a:off x="5292080" y="1988840"/>
            <a:ext cx="2033016" cy="2615952"/>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lstStyle/>
          <a:p>
            <a:r>
              <a:rPr lang="en-US" dirty="0" err="1" smtClean="0"/>
              <a:t>Prioritising</a:t>
            </a:r>
            <a:r>
              <a:rPr lang="en-US" dirty="0" smtClean="0"/>
              <a:t> action to be taken</a:t>
            </a:r>
          </a:p>
          <a:p>
            <a:r>
              <a:rPr lang="en-US" dirty="0" smtClean="0"/>
              <a:t>Taking charge/control</a:t>
            </a:r>
          </a:p>
          <a:p>
            <a:r>
              <a:rPr lang="en-US" dirty="0" smtClean="0"/>
              <a:t>Being proactive</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96976"/>
            <a:ext cx="2861320" cy="1908500"/>
          </a:xfrm>
          <a:prstGeom prst="rect">
            <a:avLst/>
          </a:prstGeom>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Deal with unexpected events</a:t>
            </a:r>
            <a:endParaRPr lang="en-US" dirty="0"/>
          </a:p>
        </p:txBody>
      </p:sp>
      <p:sp>
        <p:nvSpPr>
          <p:cNvPr id="3" name="Content Placeholder 2"/>
          <p:cNvSpPr>
            <a:spLocks noGrp="1"/>
          </p:cNvSpPr>
          <p:nvPr>
            <p:ph idx="1"/>
          </p:nvPr>
        </p:nvSpPr>
        <p:spPr/>
        <p:txBody>
          <a:bodyPr/>
          <a:lstStyle/>
          <a:p>
            <a:r>
              <a:rPr lang="en-US" dirty="0" err="1" smtClean="0"/>
              <a:t>Apologising</a:t>
            </a:r>
            <a:endParaRPr lang="en-US" dirty="0" smtClean="0"/>
          </a:p>
          <a:p>
            <a:r>
              <a:rPr lang="en-US" dirty="0" smtClean="0"/>
              <a:t>Adhering to Tour Operator policies and procedures relevant to the situation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182</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1988840"/>
            <a:ext cx="2283496" cy="3240000"/>
          </a:xfrm>
          <a:prstGeom prst="rect">
            <a:avLst/>
          </a:prstGeom>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the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Every activity needs a proper ‘end’ because:</a:t>
            </a:r>
          </a:p>
          <a:p>
            <a:r>
              <a:rPr lang="en-AU" dirty="0" smtClean="0"/>
              <a:t>The end of the activity is as important as the start</a:t>
            </a:r>
          </a:p>
          <a:p>
            <a:r>
              <a:rPr lang="en-AU" dirty="0" smtClean="0"/>
              <a:t>The end of the activity is often the last thing the participant remembers</a:t>
            </a:r>
          </a:p>
          <a:p>
            <a:r>
              <a:rPr lang="en-AU" dirty="0" smtClean="0"/>
              <a:t>Participants pay for the entire experience</a:t>
            </a:r>
            <a:endParaRPr lang="en-US"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183</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96104" y="1988840"/>
            <a:ext cx="3228696" cy="2519920"/>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the activity</a:t>
            </a:r>
            <a:endParaRPr lang="en-US" dirty="0"/>
          </a:p>
        </p:txBody>
      </p:sp>
      <p:sp>
        <p:nvSpPr>
          <p:cNvPr id="3" name="Content Placeholder 2"/>
          <p:cNvSpPr>
            <a:spLocks noGrp="1"/>
          </p:cNvSpPr>
          <p:nvPr>
            <p:ph idx="1"/>
          </p:nvPr>
        </p:nvSpPr>
        <p:spPr/>
        <p:txBody>
          <a:bodyPr/>
          <a:lstStyle/>
          <a:p>
            <a:r>
              <a:rPr lang="en-AU" dirty="0" smtClean="0"/>
              <a:t>It shows professionalism and demonstrates planning and organisation</a:t>
            </a:r>
          </a:p>
          <a:p>
            <a:r>
              <a:rPr lang="en-AU" dirty="0" smtClean="0"/>
              <a:t>It allows people to ‘finish up’</a:t>
            </a:r>
          </a:p>
          <a:p>
            <a:r>
              <a:rPr lang="en-AU" dirty="0" smtClean="0"/>
              <a:t>The activity needs to finish ‘on time’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184</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916832"/>
            <a:ext cx="2422080" cy="3240000"/>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the activity</a:t>
            </a:r>
            <a:endParaRPr lang="en-US" dirty="0"/>
          </a:p>
        </p:txBody>
      </p:sp>
      <p:sp>
        <p:nvSpPr>
          <p:cNvPr id="3" name="Content Placeholder 2"/>
          <p:cNvSpPr>
            <a:spLocks noGrp="1"/>
          </p:cNvSpPr>
          <p:nvPr>
            <p:ph idx="1"/>
          </p:nvPr>
        </p:nvSpPr>
        <p:spPr/>
        <p:txBody>
          <a:bodyPr/>
          <a:lstStyle/>
          <a:p>
            <a:pPr marL="36576" indent="0">
              <a:buNone/>
            </a:pPr>
            <a:r>
              <a:rPr lang="en-US" dirty="0" smtClean="0"/>
              <a:t>Generic practice for completing an activity will focus on:</a:t>
            </a:r>
          </a:p>
          <a:p>
            <a:r>
              <a:rPr lang="en-US" dirty="0" smtClean="0"/>
              <a:t>Need to plan the end</a:t>
            </a:r>
          </a:p>
          <a:p>
            <a:r>
              <a:rPr lang="en-US" dirty="0" smtClean="0"/>
              <a:t>Need to prepare for the end</a:t>
            </a:r>
          </a:p>
          <a:p>
            <a:r>
              <a:rPr lang="en-US" dirty="0" smtClean="0"/>
              <a:t>Need to communicate with others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185</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499991" y="1988768"/>
            <a:ext cx="3562723" cy="2376336"/>
          </a:xfrm>
          <a:prstGeom prst="rect">
            <a:avLst/>
          </a:prstGeom>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the activity</a:t>
            </a:r>
            <a:endParaRPr lang="en-US" dirty="0"/>
          </a:p>
        </p:txBody>
      </p:sp>
      <p:sp>
        <p:nvSpPr>
          <p:cNvPr id="3" name="Content Placeholder 2"/>
          <p:cNvSpPr>
            <a:spLocks noGrp="1"/>
          </p:cNvSpPr>
          <p:nvPr>
            <p:ph idx="1"/>
          </p:nvPr>
        </p:nvSpPr>
        <p:spPr/>
        <p:txBody>
          <a:bodyPr/>
          <a:lstStyle/>
          <a:p>
            <a:pPr marL="36576" indent="0">
              <a:buNone/>
            </a:pPr>
            <a:r>
              <a:rPr lang="en-US" dirty="0" smtClean="0"/>
              <a:t>SOPs for completing/closing an activity:</a:t>
            </a:r>
          </a:p>
          <a:p>
            <a:r>
              <a:rPr lang="en-US" dirty="0" smtClean="0"/>
              <a:t>Remaining positive and up-beat</a:t>
            </a:r>
          </a:p>
          <a:p>
            <a:r>
              <a:rPr lang="en-US" dirty="0" smtClean="0"/>
              <a:t>Communicating with other staff</a:t>
            </a:r>
          </a:p>
          <a:p>
            <a:r>
              <a:rPr lang="en-US" dirty="0" smtClean="0"/>
              <a:t>Forewarning tour group members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186</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282" r="5320"/>
          <a:stretch/>
        </p:blipFill>
        <p:spPr>
          <a:xfrm>
            <a:off x="5714628" y="2020370"/>
            <a:ext cx="1944216" cy="3048000"/>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the activity</a:t>
            </a:r>
            <a:endParaRPr lang="en-US" dirty="0"/>
          </a:p>
        </p:txBody>
      </p:sp>
      <p:sp>
        <p:nvSpPr>
          <p:cNvPr id="3" name="Content Placeholder 2"/>
          <p:cNvSpPr>
            <a:spLocks noGrp="1"/>
          </p:cNvSpPr>
          <p:nvPr>
            <p:ph idx="1"/>
          </p:nvPr>
        </p:nvSpPr>
        <p:spPr/>
        <p:txBody>
          <a:bodyPr/>
          <a:lstStyle/>
          <a:p>
            <a:r>
              <a:rPr lang="en-US" dirty="0" smtClean="0"/>
              <a:t>Providing a staged closure/finish</a:t>
            </a:r>
          </a:p>
          <a:p>
            <a:r>
              <a:rPr lang="en-US" dirty="0" smtClean="0"/>
              <a:t>Initiating closing activities</a:t>
            </a:r>
          </a:p>
          <a:p>
            <a:r>
              <a:rPr lang="en-US" dirty="0" smtClean="0"/>
              <a:t>Sharing feelings/thoughts of tour group members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187</a:t>
            </a:fld>
            <a:endParaRPr lang="en-US"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7095"/>
          <a:stretch/>
        </p:blipFill>
        <p:spPr>
          <a:xfrm>
            <a:off x="5292080" y="2024484"/>
            <a:ext cx="2886968" cy="2322683"/>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the activity</a:t>
            </a:r>
            <a:endParaRPr lang="en-US" dirty="0"/>
          </a:p>
        </p:txBody>
      </p:sp>
      <p:sp>
        <p:nvSpPr>
          <p:cNvPr id="3" name="Content Placeholder 2"/>
          <p:cNvSpPr>
            <a:spLocks noGrp="1"/>
          </p:cNvSpPr>
          <p:nvPr>
            <p:ph idx="1"/>
          </p:nvPr>
        </p:nvSpPr>
        <p:spPr/>
        <p:txBody>
          <a:bodyPr/>
          <a:lstStyle/>
          <a:p>
            <a:pPr marL="36576" indent="0">
              <a:buNone/>
            </a:pPr>
            <a:r>
              <a:rPr lang="en-US" dirty="0" smtClean="0"/>
              <a:t>Post-completion activities may be required – such as:</a:t>
            </a:r>
          </a:p>
          <a:p>
            <a:r>
              <a:rPr lang="en-US" dirty="0" smtClean="0"/>
              <a:t>Counting participants</a:t>
            </a:r>
          </a:p>
          <a:p>
            <a:r>
              <a:rPr lang="en-US" dirty="0" smtClean="0"/>
              <a:t>Retrieving items</a:t>
            </a:r>
          </a:p>
          <a:p>
            <a:r>
              <a:rPr lang="en-US" dirty="0" smtClean="0"/>
              <a:t>Preparing for next group/activity</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9458" y="1988840"/>
            <a:ext cx="3048000" cy="2033016"/>
          </a:xfrm>
          <a:prstGeom prst="rect">
            <a:avLst/>
          </a:prstGeom>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Complete the activity</a:t>
            </a:r>
            <a:endParaRPr lang="en-US" dirty="0"/>
          </a:p>
        </p:txBody>
      </p:sp>
      <p:sp>
        <p:nvSpPr>
          <p:cNvPr id="3" name="Content Placeholder 2"/>
          <p:cNvSpPr>
            <a:spLocks noGrp="1"/>
          </p:cNvSpPr>
          <p:nvPr>
            <p:ph idx="1"/>
          </p:nvPr>
        </p:nvSpPr>
        <p:spPr/>
        <p:txBody>
          <a:bodyPr/>
          <a:lstStyle/>
          <a:p>
            <a:r>
              <a:rPr lang="en-US" dirty="0" smtClean="0"/>
              <a:t>Removing damaged/unsafe equipment</a:t>
            </a:r>
          </a:p>
          <a:p>
            <a:r>
              <a:rPr lang="en-US" dirty="0" smtClean="0"/>
              <a:t>Completing necessary paperwork</a:t>
            </a:r>
          </a:p>
          <a:p>
            <a:r>
              <a:rPr lang="en-US" dirty="0" smtClean="0"/>
              <a:t>De-briefing with the group</a:t>
            </a:r>
          </a:p>
          <a:p>
            <a:r>
              <a:rPr lang="en-US" dirty="0" smtClean="0"/>
              <a:t>Advising group of next/future arrangements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35408"/>
            <a:ext cx="3048000" cy="2026920"/>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When conducting the interpretive activity:</a:t>
            </a:r>
          </a:p>
          <a:p>
            <a:r>
              <a:rPr lang="en-AU" dirty="0" smtClean="0"/>
              <a:t>Assemble the group</a:t>
            </a:r>
          </a:p>
          <a:p>
            <a:r>
              <a:rPr lang="en-AU" dirty="0" smtClean="0"/>
              <a:t>Check readiness and safety issues</a:t>
            </a:r>
          </a:p>
          <a:p>
            <a:r>
              <a:rPr lang="en-AU" dirty="0" smtClean="0"/>
              <a:t>Recap basic requirements</a:t>
            </a:r>
          </a:p>
          <a:p>
            <a:r>
              <a:rPr lang="en-AU" dirty="0" smtClean="0"/>
              <a:t>Encourage questions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190</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988840"/>
            <a:ext cx="2330042" cy="3240000"/>
          </a:xfrm>
          <a:prstGeom prst="rect">
            <a:avLst/>
          </a:prstGeom>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normAutofit/>
          </a:bodyPr>
          <a:lstStyle/>
          <a:p>
            <a:r>
              <a:rPr lang="en-AU" dirty="0" smtClean="0"/>
              <a:t>Provide scripted and unscripted commentary</a:t>
            </a:r>
          </a:p>
          <a:p>
            <a:r>
              <a:rPr lang="en-AU" dirty="0" smtClean="0"/>
              <a:t>Follow the plan for the activity</a:t>
            </a:r>
          </a:p>
          <a:p>
            <a:r>
              <a:rPr lang="en-AU" dirty="0" smtClean="0"/>
              <a:t>Interact with customers using appropriate interpersonal and communication skills</a:t>
            </a:r>
          </a:p>
          <a:p>
            <a:r>
              <a:rPr lang="en-AU" dirty="0" smtClean="0"/>
              <a:t>Use a range of materials, resources and props to assist with presentation</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191</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988840"/>
            <a:ext cx="2330042" cy="3240000"/>
          </a:xfrm>
          <a:prstGeom prst="rect">
            <a:avLst/>
          </a:prstGeo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normAutofit/>
          </a:bodyPr>
          <a:lstStyle/>
          <a:p>
            <a:r>
              <a:rPr lang="en-AU" dirty="0" smtClean="0"/>
              <a:t>Involve and engage the customers</a:t>
            </a:r>
          </a:p>
          <a:p>
            <a:r>
              <a:rPr lang="en-AU" dirty="0" smtClean="0"/>
              <a:t>Responding positively to questions</a:t>
            </a:r>
          </a:p>
          <a:p>
            <a:r>
              <a:rPr lang="en-AU" dirty="0" smtClean="0"/>
              <a:t>Be sensitive to environmental, cultural and social needs of people</a:t>
            </a:r>
          </a:p>
          <a:p>
            <a:r>
              <a:rPr lang="en-AU" dirty="0" smtClean="0"/>
              <a:t>Respect the local communities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192</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2348880"/>
            <a:ext cx="2110629" cy="3240000"/>
          </a:xfrm>
          <a:prstGeom prst="rect">
            <a:avLst/>
          </a:prstGeom>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normAutofit/>
          </a:bodyPr>
          <a:lstStyle/>
          <a:p>
            <a:r>
              <a:rPr lang="en-AU" dirty="0" smtClean="0"/>
              <a:t>Modify the delivery/presentation as required to optimise satisfaction levels and maintain schedule</a:t>
            </a:r>
          </a:p>
          <a:p>
            <a:r>
              <a:rPr lang="en-AU" dirty="0" smtClean="0"/>
              <a:t>Liaise with colleagues as required throughout the activity</a:t>
            </a:r>
          </a:p>
          <a:p>
            <a:r>
              <a:rPr lang="en-AU" dirty="0" smtClean="0"/>
              <a:t>Use common sense and relevant plans to deal with unexpected events and issues arising</a:t>
            </a:r>
          </a:p>
          <a:p>
            <a:r>
              <a:rPr lang="en-AU" dirty="0" smtClean="0"/>
              <a:t>Bring the activity to an organised conclusion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193</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76056" y="2276872"/>
            <a:ext cx="2233563" cy="3240000"/>
          </a:xfrm>
          <a:prstGeom prst="rect">
            <a:avLst/>
          </a:prstGeo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4 – Review the interpretive activity</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Performance Criteria for this Element are:</a:t>
            </a:r>
          </a:p>
          <a:p>
            <a:r>
              <a:rPr lang="en-AU" dirty="0" smtClean="0"/>
              <a:t>De-brief with colleagues</a:t>
            </a:r>
          </a:p>
          <a:p>
            <a:r>
              <a:rPr lang="en-AU" dirty="0" smtClean="0"/>
              <a:t>Seek feedback from customers</a:t>
            </a:r>
          </a:p>
          <a:p>
            <a:r>
              <a:rPr lang="en-AU" dirty="0" smtClean="0"/>
              <a:t>Evaluate actual presentation of the interpretive activity against target performance criteria for the activity</a:t>
            </a:r>
          </a:p>
          <a:p>
            <a:r>
              <a:rPr lang="en-AU" dirty="0" smtClean="0"/>
              <a:t>Revise operations on the basis of the review data</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194</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20072" y="2415797"/>
            <a:ext cx="1973133" cy="3240000"/>
          </a:xfrm>
          <a:prstGeom prst="rect">
            <a:avLst/>
          </a:prstGeom>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De-brief with colleagues</a:t>
            </a:r>
            <a:endParaRPr lang="en-US" dirty="0"/>
          </a:p>
        </p:txBody>
      </p:sp>
      <p:sp>
        <p:nvSpPr>
          <p:cNvPr id="3" name="Content Placeholder 2"/>
          <p:cNvSpPr>
            <a:spLocks noGrp="1"/>
          </p:cNvSpPr>
          <p:nvPr>
            <p:ph idx="1"/>
          </p:nvPr>
        </p:nvSpPr>
        <p:spPr/>
        <p:txBody>
          <a:bodyPr/>
          <a:lstStyle/>
          <a:p>
            <a:pPr marL="36576" indent="0">
              <a:buNone/>
            </a:pPr>
            <a:r>
              <a:rPr lang="en-US" dirty="0" smtClean="0"/>
              <a:t>Evaluations:</a:t>
            </a:r>
          </a:p>
          <a:p>
            <a:r>
              <a:rPr lang="en-US" dirty="0" smtClean="0"/>
              <a:t>Are reviews of what has happened</a:t>
            </a:r>
          </a:p>
          <a:p>
            <a:r>
              <a:rPr lang="en-US" dirty="0" smtClean="0"/>
              <a:t>They rely of research and evidence gathered</a:t>
            </a:r>
          </a:p>
          <a:p>
            <a:r>
              <a:rPr lang="en-US" dirty="0" smtClean="0"/>
              <a:t>Current thinking is for ‘360˚ feedback’ to be central to research/data generated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195</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55976" y="1700808"/>
            <a:ext cx="2243270" cy="2880000"/>
          </a:xfrm>
          <a:prstGeom prst="rect">
            <a:avLst/>
          </a:prstGeom>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De-brief with colleagues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Reasons to evaluate interpretive activities – to:</a:t>
            </a:r>
          </a:p>
          <a:p>
            <a:r>
              <a:rPr lang="en-US" dirty="0" smtClean="0"/>
              <a:t>Determine their effectiveness</a:t>
            </a:r>
          </a:p>
          <a:p>
            <a:r>
              <a:rPr lang="en-US" dirty="0" smtClean="0"/>
              <a:t>Assess relevancy</a:t>
            </a:r>
          </a:p>
          <a:p>
            <a:r>
              <a:rPr lang="en-US" dirty="0" smtClean="0"/>
              <a:t>Identify customer satisfaction levels</a:t>
            </a:r>
          </a:p>
          <a:p>
            <a:r>
              <a:rPr lang="en-US" dirty="0" smtClean="0"/>
              <a:t>Determine ‘actual’ delivery meets advertisements and expectations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196</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03612" y="2204864"/>
            <a:ext cx="3342147" cy="2663936"/>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De-brief with colleagues</a:t>
            </a:r>
            <a:endParaRPr lang="en-US" dirty="0"/>
          </a:p>
        </p:txBody>
      </p:sp>
      <p:sp>
        <p:nvSpPr>
          <p:cNvPr id="3" name="Content Placeholder 2"/>
          <p:cNvSpPr>
            <a:spLocks noGrp="1"/>
          </p:cNvSpPr>
          <p:nvPr>
            <p:ph idx="1"/>
          </p:nvPr>
        </p:nvSpPr>
        <p:spPr/>
        <p:txBody>
          <a:bodyPr/>
          <a:lstStyle/>
          <a:p>
            <a:r>
              <a:rPr lang="en-US" dirty="0" smtClean="0"/>
              <a:t>Calculate costs</a:t>
            </a:r>
          </a:p>
          <a:p>
            <a:r>
              <a:rPr lang="en-US" dirty="0" smtClean="0"/>
              <a:t>Meet QA obligations</a:t>
            </a:r>
          </a:p>
          <a:p>
            <a:r>
              <a:rPr lang="en-US" dirty="0" smtClean="0"/>
              <a:t>Provide useable data to management</a:t>
            </a:r>
          </a:p>
          <a:p>
            <a:r>
              <a:rPr lang="en-US" dirty="0" smtClean="0"/>
              <a:t>Confirm viability of protocols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9023" y="1958139"/>
            <a:ext cx="3048000" cy="2033016"/>
          </a:xfrm>
          <a:prstGeom prst="rect">
            <a:avLst/>
          </a:prstGeom>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De-brief with colleagues</a:t>
            </a:r>
            <a:endParaRPr lang="en-US" dirty="0"/>
          </a:p>
        </p:txBody>
      </p:sp>
      <p:sp>
        <p:nvSpPr>
          <p:cNvPr id="3" name="Content Placeholder 2"/>
          <p:cNvSpPr>
            <a:spLocks noGrp="1"/>
          </p:cNvSpPr>
          <p:nvPr>
            <p:ph idx="1"/>
          </p:nvPr>
        </p:nvSpPr>
        <p:spPr/>
        <p:txBody>
          <a:bodyPr/>
          <a:lstStyle/>
          <a:p>
            <a:pPr marL="36576" indent="0">
              <a:buNone/>
            </a:pPr>
            <a:r>
              <a:rPr lang="en-US" dirty="0" smtClean="0"/>
              <a:t>There are two basic options:</a:t>
            </a:r>
          </a:p>
          <a:p>
            <a:r>
              <a:rPr lang="en-US" dirty="0" smtClean="0"/>
              <a:t>Option 1 = evaluate every X period/every X months</a:t>
            </a:r>
          </a:p>
          <a:p>
            <a:r>
              <a:rPr lang="en-US" dirty="0" smtClean="0"/>
              <a:t>Option 2 = evaluate every activity on a cyclical basis so all activities have been evaluated at the end of a longer period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8104" y="1988840"/>
            <a:ext cx="2033016" cy="3048000"/>
          </a:xfrm>
          <a:prstGeom prst="rect">
            <a:avLst/>
          </a:prstGeom>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De-brief with colleagues</a:t>
            </a:r>
            <a:endParaRPr lang="en-US" dirty="0"/>
          </a:p>
        </p:txBody>
      </p:sp>
      <p:sp>
        <p:nvSpPr>
          <p:cNvPr id="3" name="Content Placeholder 2"/>
          <p:cNvSpPr>
            <a:spLocks noGrp="1"/>
          </p:cNvSpPr>
          <p:nvPr>
            <p:ph idx="1"/>
          </p:nvPr>
        </p:nvSpPr>
        <p:spPr/>
        <p:txBody>
          <a:bodyPr/>
          <a:lstStyle/>
          <a:p>
            <a:pPr marL="36576" indent="0">
              <a:buNone/>
            </a:pPr>
            <a:r>
              <a:rPr lang="en-US" dirty="0" smtClean="0"/>
              <a:t>Keys to a ‘scheduled system’:</a:t>
            </a:r>
          </a:p>
          <a:p>
            <a:r>
              <a:rPr lang="en-US" dirty="0" smtClean="0"/>
              <a:t>Must be planned and prepared for</a:t>
            </a:r>
          </a:p>
          <a:p>
            <a:r>
              <a:rPr lang="en-US" dirty="0" smtClean="0"/>
              <a:t>Must be in writing</a:t>
            </a:r>
          </a:p>
          <a:p>
            <a:r>
              <a:rPr lang="en-US" dirty="0" smtClean="0"/>
              <a:t>Decisions must be made about what, how and when</a:t>
            </a:r>
          </a:p>
          <a:p>
            <a:r>
              <a:rPr lang="en-US" dirty="0" smtClean="0"/>
              <a:t>Staff training is vital</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9136"/>
            <a:ext cx="2033016" cy="3048000"/>
          </a:xfrm>
          <a:prstGeom prst="rect">
            <a:avLst/>
          </a:prstGeom>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De-brief with colleagues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Activities in establishing scheduled evaluation system:</a:t>
            </a:r>
          </a:p>
          <a:p>
            <a:r>
              <a:rPr lang="en-AU" dirty="0" smtClean="0"/>
              <a:t>Identifying personnel to be involved in the process</a:t>
            </a:r>
            <a:endParaRPr lang="en-US" dirty="0" smtClean="0"/>
          </a:p>
          <a:p>
            <a:r>
              <a:rPr lang="en-AU" dirty="0" smtClean="0"/>
              <a:t>Allocating responsibilities</a:t>
            </a:r>
            <a:endParaRPr lang="en-US" dirty="0" smtClean="0"/>
          </a:p>
          <a:p>
            <a:r>
              <a:rPr lang="en-US" dirty="0" smtClean="0"/>
              <a:t>Setting dates</a:t>
            </a:r>
          </a:p>
          <a:p>
            <a:r>
              <a:rPr lang="en-US" dirty="0" smtClean="0"/>
              <a:t>Creating supporting documentation</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200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2024485"/>
            <a:ext cx="3048000" cy="2033016"/>
          </a:xfrm>
          <a:prstGeom prst="rect">
            <a:avLst/>
          </a:prstGeom>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De-brief with colleagues</a:t>
            </a:r>
            <a:endParaRPr lang="en-US" dirty="0"/>
          </a:p>
        </p:txBody>
      </p:sp>
      <p:sp>
        <p:nvSpPr>
          <p:cNvPr id="3" name="Content Placeholder 2"/>
          <p:cNvSpPr>
            <a:spLocks noGrp="1"/>
          </p:cNvSpPr>
          <p:nvPr>
            <p:ph idx="1"/>
          </p:nvPr>
        </p:nvSpPr>
        <p:spPr/>
        <p:txBody>
          <a:bodyPr/>
          <a:lstStyle/>
          <a:p>
            <a:r>
              <a:rPr lang="en-AU" dirty="0" smtClean="0"/>
              <a:t>Establishing internal support facilities</a:t>
            </a:r>
            <a:endParaRPr lang="en-US" dirty="0" smtClean="0"/>
          </a:p>
          <a:p>
            <a:r>
              <a:rPr lang="en-AU" dirty="0" smtClean="0"/>
              <a:t>Establishing a complaint handling process</a:t>
            </a:r>
          </a:p>
          <a:p>
            <a:r>
              <a:rPr lang="en-AU" dirty="0" smtClean="0"/>
              <a:t>Integrating evaluation activities</a:t>
            </a:r>
          </a:p>
          <a:p>
            <a:r>
              <a:rPr lang="en-AU" dirty="0" smtClean="0"/>
              <a:t>Allocating required resources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201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63037" y="1988840"/>
            <a:ext cx="3048000" cy="2033016"/>
          </a:xfrm>
          <a:prstGeom prst="rect">
            <a:avLst/>
          </a:prstGeom>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De-brief with colleagues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Implementation activities:</a:t>
            </a:r>
          </a:p>
          <a:p>
            <a:r>
              <a:rPr lang="en-US" dirty="0" smtClean="0"/>
              <a:t>Holding meetings with stakeholders</a:t>
            </a:r>
          </a:p>
          <a:p>
            <a:r>
              <a:rPr lang="en-US" dirty="0" smtClean="0"/>
              <a:t>Reviewing customer feedback received</a:t>
            </a:r>
          </a:p>
          <a:p>
            <a:r>
              <a:rPr lang="en-US" dirty="0" smtClean="0"/>
              <a:t>Distributing feedback forms</a:t>
            </a:r>
          </a:p>
          <a:p>
            <a:r>
              <a:rPr lang="en-US" dirty="0" smtClean="0"/>
              <a:t>Encouraging feedback</a:t>
            </a:r>
          </a:p>
          <a:p>
            <a:r>
              <a:rPr lang="en-US" dirty="0" smtClean="0"/>
              <a:t>Interviewing stakeholders and customers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202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2044810"/>
            <a:ext cx="3048000" cy="2033016"/>
          </a:xfrm>
          <a:prstGeom prst="rect">
            <a:avLst/>
          </a:prstGeom>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De-brief with colleagues</a:t>
            </a:r>
            <a:endParaRPr lang="en-US" dirty="0"/>
          </a:p>
        </p:txBody>
      </p:sp>
      <p:sp>
        <p:nvSpPr>
          <p:cNvPr id="3" name="Content Placeholder 2"/>
          <p:cNvSpPr>
            <a:spLocks noGrp="1"/>
          </p:cNvSpPr>
          <p:nvPr>
            <p:ph idx="1"/>
          </p:nvPr>
        </p:nvSpPr>
        <p:spPr/>
        <p:txBody>
          <a:bodyPr>
            <a:normAutofit/>
          </a:bodyPr>
          <a:lstStyle/>
          <a:p>
            <a:r>
              <a:rPr lang="en-US" dirty="0" smtClean="0"/>
              <a:t>Gathering together relevant internal data</a:t>
            </a:r>
          </a:p>
          <a:p>
            <a:r>
              <a:rPr lang="en-US" dirty="0" smtClean="0"/>
              <a:t>Observing/monitoring implementation of activities</a:t>
            </a:r>
          </a:p>
          <a:p>
            <a:r>
              <a:rPr lang="en-US" dirty="0" smtClean="0"/>
              <a:t>Entering data into databases</a:t>
            </a:r>
          </a:p>
          <a:p>
            <a:r>
              <a:rPr lang="en-US" dirty="0" smtClean="0"/>
              <a:t>Determining if more/different data is needed</a:t>
            </a:r>
          </a:p>
          <a:p>
            <a:r>
              <a:rPr lang="en-US" dirty="0" smtClean="0"/>
              <a:t>Assessing/</a:t>
            </a:r>
            <a:r>
              <a:rPr lang="en-US" dirty="0" err="1" smtClean="0"/>
              <a:t>analysing</a:t>
            </a:r>
            <a:r>
              <a:rPr lang="en-US" dirty="0" smtClean="0"/>
              <a:t> the data</a:t>
            </a:r>
          </a:p>
          <a:p>
            <a:r>
              <a:rPr lang="en-US" dirty="0" smtClean="0"/>
              <a:t>Developing findings</a:t>
            </a:r>
          </a:p>
          <a:p>
            <a:r>
              <a:rPr lang="en-US" dirty="0" smtClean="0"/>
              <a:t>Reporting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203</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52581"/>
            <a:ext cx="3048000" cy="2026920"/>
          </a:xfrm>
          <a:prstGeom prst="rect">
            <a:avLst/>
          </a:prstGeom>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De-brief with colleagues</a:t>
            </a:r>
            <a:endParaRPr lang="en-US" dirty="0"/>
          </a:p>
        </p:txBody>
      </p:sp>
      <p:sp>
        <p:nvSpPr>
          <p:cNvPr id="3" name="Content Placeholder 2"/>
          <p:cNvSpPr>
            <a:spLocks noGrp="1"/>
          </p:cNvSpPr>
          <p:nvPr>
            <p:ph idx="1"/>
          </p:nvPr>
        </p:nvSpPr>
        <p:spPr/>
        <p:txBody>
          <a:bodyPr/>
          <a:lstStyle/>
          <a:p>
            <a:pPr marL="36576" indent="0">
              <a:buNone/>
            </a:pPr>
            <a:r>
              <a:rPr lang="en-US" dirty="0" smtClean="0"/>
              <a:t>De-briefing occurs after an event and is undertaken to capture feedback on:</a:t>
            </a:r>
          </a:p>
          <a:p>
            <a:r>
              <a:rPr lang="en-US" dirty="0" smtClean="0"/>
              <a:t>What happened</a:t>
            </a:r>
          </a:p>
          <a:p>
            <a:r>
              <a:rPr lang="en-US" dirty="0" smtClean="0"/>
              <a:t>What could be improved</a:t>
            </a:r>
          </a:p>
          <a:p>
            <a:r>
              <a:rPr lang="en-US" dirty="0" smtClean="0"/>
              <a:t>Problems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204</a:t>
            </a:fld>
            <a:endParaRPr lang="en-US"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5370" y="2024441"/>
            <a:ext cx="3048000" cy="2026920"/>
          </a:xfrm>
          <a:prstGeom prst="rect">
            <a:avLst/>
          </a:prstGeom>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De-brief with colleagues</a:t>
            </a:r>
            <a:endParaRPr lang="en-US" dirty="0"/>
          </a:p>
        </p:txBody>
      </p:sp>
      <p:sp>
        <p:nvSpPr>
          <p:cNvPr id="3" name="Content Placeholder 2"/>
          <p:cNvSpPr>
            <a:spLocks noGrp="1"/>
          </p:cNvSpPr>
          <p:nvPr>
            <p:ph idx="1"/>
          </p:nvPr>
        </p:nvSpPr>
        <p:spPr/>
        <p:txBody>
          <a:bodyPr/>
          <a:lstStyle/>
          <a:p>
            <a:pPr marL="36576" indent="0">
              <a:buNone/>
            </a:pPr>
            <a:r>
              <a:rPr lang="en-US" dirty="0" smtClean="0"/>
              <a:t>De-briefings may occur:</a:t>
            </a:r>
          </a:p>
          <a:p>
            <a:r>
              <a:rPr lang="en-US" dirty="0" smtClean="0"/>
              <a:t>After every tour/activity</a:t>
            </a:r>
          </a:p>
          <a:p>
            <a:r>
              <a:rPr lang="en-US" dirty="0" smtClean="0"/>
              <a:t>After every X tours/activities</a:t>
            </a:r>
          </a:p>
          <a:p>
            <a:r>
              <a:rPr lang="en-US" dirty="0" smtClean="0"/>
              <a:t>At designated times</a:t>
            </a:r>
          </a:p>
          <a:p>
            <a:r>
              <a:rPr lang="en-US" dirty="0" smtClean="0"/>
              <a:t>One-on-one</a:t>
            </a:r>
          </a:p>
          <a:p>
            <a:r>
              <a:rPr lang="en-US" dirty="0" smtClean="0"/>
              <a:t>In a group setting/team meeting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205</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72685"/>
            <a:ext cx="2026920" cy="3048000"/>
          </a:xfrm>
          <a:prstGeom prst="rect">
            <a:avLst/>
          </a:prstGeom>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De-brief with colleagues</a:t>
            </a:r>
            <a:endParaRPr lang="en-US" dirty="0"/>
          </a:p>
        </p:txBody>
      </p:sp>
      <p:sp>
        <p:nvSpPr>
          <p:cNvPr id="3" name="Content Placeholder 2"/>
          <p:cNvSpPr>
            <a:spLocks noGrp="1"/>
          </p:cNvSpPr>
          <p:nvPr>
            <p:ph idx="1"/>
          </p:nvPr>
        </p:nvSpPr>
        <p:spPr/>
        <p:txBody>
          <a:bodyPr/>
          <a:lstStyle/>
          <a:p>
            <a:pPr marL="36576" indent="0">
              <a:buNone/>
            </a:pPr>
            <a:r>
              <a:rPr lang="en-US" dirty="0" smtClean="0"/>
              <a:t>De-briefings may be supported by:</a:t>
            </a:r>
          </a:p>
          <a:p>
            <a:r>
              <a:rPr lang="en-US" dirty="0" smtClean="0"/>
              <a:t>Paper-based or electronic reports</a:t>
            </a:r>
          </a:p>
          <a:p>
            <a:r>
              <a:rPr lang="en-US" dirty="0" smtClean="0"/>
              <a:t>Formal meetings</a:t>
            </a:r>
          </a:p>
          <a:p>
            <a:r>
              <a:rPr lang="en-US" dirty="0" smtClean="0"/>
              <a:t>Input from relevant others/third party partners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206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26920"/>
          </a:xfrm>
          <a:prstGeom prst="rect">
            <a:avLst/>
          </a:prstGeom>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De-brief with colleagues</a:t>
            </a:r>
            <a:endParaRPr lang="en-US" dirty="0"/>
          </a:p>
        </p:txBody>
      </p:sp>
      <p:sp>
        <p:nvSpPr>
          <p:cNvPr id="3" name="Content Placeholder 2"/>
          <p:cNvSpPr>
            <a:spLocks noGrp="1"/>
          </p:cNvSpPr>
          <p:nvPr>
            <p:ph idx="1"/>
          </p:nvPr>
        </p:nvSpPr>
        <p:spPr/>
        <p:txBody>
          <a:bodyPr/>
          <a:lstStyle/>
          <a:p>
            <a:pPr marL="36576" indent="0">
              <a:buNone/>
            </a:pPr>
            <a:r>
              <a:rPr lang="en-US" dirty="0" smtClean="0"/>
              <a:t>Colleagues who may be involved in de-briefings:</a:t>
            </a:r>
          </a:p>
          <a:p>
            <a:r>
              <a:rPr lang="en-US" dirty="0" smtClean="0"/>
              <a:t>Tour Guides</a:t>
            </a:r>
          </a:p>
          <a:p>
            <a:r>
              <a:rPr lang="en-US" dirty="0" smtClean="0"/>
              <a:t>Drivers</a:t>
            </a:r>
          </a:p>
          <a:p>
            <a:r>
              <a:rPr lang="en-US" dirty="0" smtClean="0"/>
              <a:t>Internal sales/counter/ticketing staff</a:t>
            </a:r>
          </a:p>
          <a:p>
            <a:r>
              <a:rPr lang="en-US" dirty="0" smtClean="0"/>
              <a:t>Agents and partners</a:t>
            </a:r>
          </a:p>
          <a:p>
            <a:r>
              <a:rPr lang="en-US" dirty="0" smtClean="0"/>
              <a:t>Presenters and performers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207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276872"/>
            <a:ext cx="3048000" cy="2039112"/>
          </a:xfrm>
          <a:prstGeom prst="rect">
            <a:avLst/>
          </a:prstGeom>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De-brief with colleagues</a:t>
            </a:r>
            <a:endParaRPr lang="en-US" dirty="0"/>
          </a:p>
        </p:txBody>
      </p:sp>
      <p:sp>
        <p:nvSpPr>
          <p:cNvPr id="3" name="Content Placeholder 2"/>
          <p:cNvSpPr>
            <a:spLocks noGrp="1"/>
          </p:cNvSpPr>
          <p:nvPr>
            <p:ph idx="1"/>
          </p:nvPr>
        </p:nvSpPr>
        <p:spPr/>
        <p:txBody>
          <a:bodyPr/>
          <a:lstStyle/>
          <a:p>
            <a:pPr marL="36576" indent="0">
              <a:buNone/>
            </a:pPr>
            <a:r>
              <a:rPr lang="en-US" dirty="0" smtClean="0"/>
              <a:t>Activities in de-briefings might include:</a:t>
            </a:r>
          </a:p>
          <a:p>
            <a:r>
              <a:rPr lang="en-US" dirty="0" smtClean="0"/>
              <a:t>Soliciting verbal feedback</a:t>
            </a:r>
          </a:p>
          <a:p>
            <a:r>
              <a:rPr lang="en-US" dirty="0" smtClean="0"/>
              <a:t>Obtaining written feedback</a:t>
            </a:r>
          </a:p>
          <a:p>
            <a:r>
              <a:rPr lang="en-US" dirty="0" err="1" smtClean="0"/>
              <a:t>Analysing</a:t>
            </a:r>
            <a:r>
              <a:rPr lang="en-US" dirty="0" smtClean="0"/>
              <a:t> written reports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208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16016" y="2024485"/>
            <a:ext cx="3048000" cy="2033016"/>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De-brief with colleagues</a:t>
            </a:r>
            <a:endParaRPr lang="en-US" dirty="0"/>
          </a:p>
        </p:txBody>
      </p:sp>
      <p:sp>
        <p:nvSpPr>
          <p:cNvPr id="3" name="Content Placeholder 2"/>
          <p:cNvSpPr>
            <a:spLocks noGrp="1"/>
          </p:cNvSpPr>
          <p:nvPr>
            <p:ph idx="1"/>
          </p:nvPr>
        </p:nvSpPr>
        <p:spPr/>
        <p:txBody>
          <a:bodyPr/>
          <a:lstStyle/>
          <a:p>
            <a:r>
              <a:rPr lang="en-US" dirty="0" smtClean="0"/>
              <a:t>Evaluating staff perceptions</a:t>
            </a:r>
          </a:p>
          <a:p>
            <a:r>
              <a:rPr lang="en-US" dirty="0" smtClean="0"/>
              <a:t>Considering known complaints</a:t>
            </a:r>
          </a:p>
          <a:p>
            <a:r>
              <a:rPr lang="en-US" dirty="0" smtClean="0"/>
              <a:t>Advising of upcoming tours/activities</a:t>
            </a:r>
          </a:p>
          <a:p>
            <a:r>
              <a:rPr lang="en-US" dirty="0" smtClean="0"/>
              <a:t>Thanking staff</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209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988840"/>
            <a:ext cx="2033016" cy="3048000"/>
          </a:xfrm>
          <a:prstGeom prst="rect">
            <a:avLst/>
          </a:prstGeom>
        </p:spPr>
      </p:pic>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Seek feedback from customers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Methods and timing of customer feedback:</a:t>
            </a:r>
          </a:p>
          <a:p>
            <a:r>
              <a:rPr lang="en-US" dirty="0" smtClean="0"/>
              <a:t>Making personal observations on-tour/during and after activities</a:t>
            </a:r>
          </a:p>
          <a:p>
            <a:r>
              <a:rPr lang="en-US" dirty="0" smtClean="0"/>
              <a:t>Seeking written feedback when activities have finished/as tours return to point of departure</a:t>
            </a:r>
          </a:p>
          <a:p>
            <a:r>
              <a:rPr lang="en-US" dirty="0" smtClean="0"/>
              <a:t>Using market research techniques on an ongoing basis</a:t>
            </a:r>
          </a:p>
          <a:p>
            <a:r>
              <a:rPr lang="en-US" dirty="0" smtClean="0"/>
              <a:t>Seeking and </a:t>
            </a:r>
            <a:r>
              <a:rPr lang="en-US" dirty="0" err="1" smtClean="0"/>
              <a:t>analysing</a:t>
            </a:r>
            <a:r>
              <a:rPr lang="en-US" dirty="0" smtClean="0"/>
              <a:t> input fro partners/agents on an ongoing basis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210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2348880"/>
            <a:ext cx="2103120" cy="3048000"/>
          </a:xfrm>
          <a:prstGeom prst="rect">
            <a:avLst/>
          </a:prstGeom>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Seek feedback from customers</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Keys in effective customer feedback:</a:t>
            </a:r>
          </a:p>
          <a:p>
            <a:r>
              <a:rPr lang="en-US" dirty="0" smtClean="0"/>
              <a:t>Feedback must be asked for</a:t>
            </a:r>
          </a:p>
          <a:p>
            <a:r>
              <a:rPr lang="en-US" dirty="0" smtClean="0"/>
              <a:t>The feedback process MUST be </a:t>
            </a:r>
            <a:r>
              <a:rPr lang="en-US" dirty="0" err="1" smtClean="0"/>
              <a:t>formalised</a:t>
            </a:r>
            <a:endParaRPr lang="en-US" dirty="0" smtClean="0"/>
          </a:p>
          <a:p>
            <a:r>
              <a:rPr lang="en-US" dirty="0" smtClean="0"/>
              <a:t>Input must be acknowledged, recorded, investigated and </a:t>
            </a:r>
            <a:r>
              <a:rPr lang="en-US" dirty="0" err="1" smtClean="0"/>
              <a:t>analysed</a:t>
            </a:r>
            <a:endParaRPr lang="en-US" dirty="0" smtClean="0"/>
          </a:p>
          <a:p>
            <a:r>
              <a:rPr lang="en-US" dirty="0" smtClean="0"/>
              <a:t>It must never be ignored</a:t>
            </a:r>
          </a:p>
          <a:p>
            <a:r>
              <a:rPr lang="en-US" dirty="0" smtClean="0"/>
              <a:t>Action taken in response must be communicated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211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2017275"/>
            <a:ext cx="2313432" cy="3048000"/>
          </a:xfrm>
          <a:prstGeom prst="rect">
            <a:avLst/>
          </a:prstGeom>
        </p:spPr>
      </p:pic>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Evaluate presentation of interpretive activity against target performance criteria</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Performance criteria:</a:t>
            </a:r>
          </a:p>
          <a:p>
            <a:r>
              <a:rPr lang="en-US" dirty="0" smtClean="0"/>
              <a:t>Established during planning phase</a:t>
            </a:r>
          </a:p>
          <a:p>
            <a:r>
              <a:rPr lang="en-US" dirty="0" smtClean="0"/>
              <a:t>May be single or multiple</a:t>
            </a:r>
          </a:p>
          <a:p>
            <a:r>
              <a:rPr lang="en-US" dirty="0" smtClean="0"/>
              <a:t>They are standards to be achieved/sub-sets of primary objectives</a:t>
            </a:r>
          </a:p>
          <a:p>
            <a:r>
              <a:rPr lang="en-US" dirty="0" smtClean="0"/>
              <a:t>Also known as KPIs or ‘evaluation criteria’</a:t>
            </a:r>
          </a:p>
          <a:p>
            <a:r>
              <a:rPr lang="en-US" dirty="0" smtClean="0"/>
              <a:t>The same criteria may be used to evaluate multiple/different criteria</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212</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2204864"/>
            <a:ext cx="2133600" cy="3048000"/>
          </a:xfrm>
          <a:prstGeom prst="rect">
            <a:avLst/>
          </a:prstGeom>
        </p:spPr>
      </p:pic>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Evaluate presentation of interpretive activity against target performance criteria</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Performance criteria may relate to:</a:t>
            </a:r>
          </a:p>
          <a:p>
            <a:r>
              <a:rPr lang="en-US" dirty="0" smtClean="0"/>
              <a:t>Operational parameters</a:t>
            </a:r>
          </a:p>
          <a:p>
            <a:r>
              <a:rPr lang="en-US" dirty="0" smtClean="0"/>
              <a:t>Customer satisfaction levels</a:t>
            </a:r>
          </a:p>
          <a:p>
            <a:r>
              <a:rPr lang="en-US" dirty="0" smtClean="0"/>
              <a:t>Environmental/sustainability issues</a:t>
            </a:r>
          </a:p>
          <a:p>
            <a:r>
              <a:rPr lang="en-US" dirty="0" smtClean="0"/>
              <a:t>Alignment of delivery with advertisements</a:t>
            </a:r>
          </a:p>
          <a:p>
            <a:r>
              <a:rPr lang="en-US" dirty="0" smtClean="0"/>
              <a:t>Compliance with obligations</a:t>
            </a:r>
          </a:p>
          <a:p>
            <a:r>
              <a:rPr lang="en-US" dirty="0" smtClean="0"/>
              <a:t>Involvement of local communities</a:t>
            </a:r>
          </a:p>
          <a:p>
            <a:r>
              <a:rPr lang="en-US" dirty="0" smtClean="0"/>
              <a:t>Protection of local/host communities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213</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72000" y="1954932"/>
            <a:ext cx="4491645" cy="3346276"/>
          </a:xfrm>
          <a:prstGeom prst="rect">
            <a:avLst/>
          </a:prstGeom>
        </p:spPr>
      </p:pic>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Evaluate presentation of interpretive activity against target performance criteria</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Keys to effective evaluation of performance criteria:</a:t>
            </a:r>
          </a:p>
          <a:p>
            <a:r>
              <a:rPr lang="en-US" dirty="0" smtClean="0"/>
              <a:t>The performance criteria as stated in the plans must be the basis for comparisons</a:t>
            </a:r>
          </a:p>
          <a:p>
            <a:r>
              <a:rPr lang="en-US" dirty="0" smtClean="0"/>
              <a:t>Actual evidence/proof must be used to make judgements</a:t>
            </a:r>
          </a:p>
          <a:p>
            <a:r>
              <a:rPr lang="en-US" dirty="0" smtClean="0"/>
              <a:t>Statistical analysis of proof/data must determine the end results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214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00091" y="1988840"/>
            <a:ext cx="2157984" cy="3048000"/>
          </a:xfrm>
          <a:prstGeom prst="rect">
            <a:avLst/>
          </a:prstGeom>
        </p:spPr>
      </p:pic>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Evaluate presentation of interpretive activity against target performance criteria</a:t>
            </a:r>
            <a:endParaRPr lang="en-US" dirty="0"/>
          </a:p>
        </p:txBody>
      </p:sp>
      <p:sp>
        <p:nvSpPr>
          <p:cNvPr id="3" name="Content Placeholder 2"/>
          <p:cNvSpPr>
            <a:spLocks noGrp="1"/>
          </p:cNvSpPr>
          <p:nvPr>
            <p:ph idx="1"/>
          </p:nvPr>
        </p:nvSpPr>
        <p:spPr/>
        <p:txBody>
          <a:bodyPr>
            <a:normAutofit/>
          </a:bodyPr>
          <a:lstStyle/>
          <a:p>
            <a:r>
              <a:rPr lang="en-US" dirty="0" smtClean="0"/>
              <a:t>Practical implementation simply requires comparing evidence against projections/targets</a:t>
            </a:r>
          </a:p>
          <a:p>
            <a:r>
              <a:rPr lang="en-US" dirty="0" smtClean="0"/>
              <a:t>Findings/outcomes must result from the evaluation process </a:t>
            </a:r>
          </a:p>
          <a:p>
            <a:r>
              <a:rPr lang="en-US" dirty="0" smtClean="0"/>
              <a:t>The performance criteria used must be subject to evaluation to make sure they remain relevant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215</a:t>
            </a:fld>
            <a:endParaRPr lang="en-US" dirty="0"/>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5987"/>
          <a:stretch/>
        </p:blipFill>
        <p:spPr>
          <a:xfrm>
            <a:off x="4840691" y="1988840"/>
            <a:ext cx="3084109" cy="2808312"/>
          </a:xfrm>
          <a:prstGeom prst="rect">
            <a:avLst/>
          </a:prstGeom>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Revise operations on the basis of the review data</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Examples of possible revisions which may need to be made:</a:t>
            </a:r>
          </a:p>
          <a:p>
            <a:r>
              <a:rPr lang="en-US" dirty="0" smtClean="0"/>
              <a:t>Undertaking new risk management due to nature of changes</a:t>
            </a:r>
          </a:p>
          <a:p>
            <a:r>
              <a:rPr lang="en-US" dirty="0" smtClean="0"/>
              <a:t>Altering all types of tour/activity plans</a:t>
            </a:r>
          </a:p>
          <a:p>
            <a:r>
              <a:rPr lang="en-US" dirty="0" smtClean="0"/>
              <a:t>Acquiring new, more or different resources to support changes required</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216</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988840"/>
            <a:ext cx="2313432" cy="3048000"/>
          </a:xfrm>
          <a:prstGeom prst="rect">
            <a:avLst/>
          </a:prstGeom>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Revise operations on the basis of the review data</a:t>
            </a:r>
            <a:endParaRPr lang="en-US" dirty="0"/>
          </a:p>
        </p:txBody>
      </p:sp>
      <p:sp>
        <p:nvSpPr>
          <p:cNvPr id="3" name="Content Placeholder 2"/>
          <p:cNvSpPr>
            <a:spLocks noGrp="1"/>
          </p:cNvSpPr>
          <p:nvPr>
            <p:ph idx="1"/>
          </p:nvPr>
        </p:nvSpPr>
        <p:spPr/>
        <p:txBody>
          <a:bodyPr/>
          <a:lstStyle/>
          <a:p>
            <a:r>
              <a:rPr lang="en-US" dirty="0" smtClean="0"/>
              <a:t>Acquiring extra/new/different information</a:t>
            </a:r>
          </a:p>
          <a:p>
            <a:r>
              <a:rPr lang="en-US" dirty="0" smtClean="0"/>
              <a:t>Preparing new/different activities</a:t>
            </a:r>
          </a:p>
          <a:p>
            <a:r>
              <a:rPr lang="en-US" dirty="0" smtClean="0"/>
              <a:t>Scripting new/revised commentaries</a:t>
            </a:r>
          </a:p>
          <a:p>
            <a:r>
              <a:rPr lang="en-US" dirty="0" smtClean="0"/>
              <a:t>Changing promotional activities and advertisements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217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024" y="1978169"/>
            <a:ext cx="2499360" cy="3048000"/>
          </a:xfrm>
          <a:prstGeom prst="rect">
            <a:avLst/>
          </a:prstGeom>
        </p:spPr>
      </p:pic>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Revise operations on the basis of the review data</a:t>
            </a:r>
            <a:endParaRPr lang="en-US" dirty="0"/>
          </a:p>
        </p:txBody>
      </p:sp>
      <p:sp>
        <p:nvSpPr>
          <p:cNvPr id="3" name="Content Placeholder 2"/>
          <p:cNvSpPr>
            <a:spLocks noGrp="1"/>
          </p:cNvSpPr>
          <p:nvPr>
            <p:ph idx="1"/>
          </p:nvPr>
        </p:nvSpPr>
        <p:spPr/>
        <p:txBody>
          <a:bodyPr/>
          <a:lstStyle/>
          <a:p>
            <a:r>
              <a:rPr lang="en-US" dirty="0" smtClean="0"/>
              <a:t>Amending staffing arrangements</a:t>
            </a:r>
          </a:p>
          <a:p>
            <a:r>
              <a:rPr lang="en-US" dirty="0" smtClean="0"/>
              <a:t>Changing customer-related criteria/requirements</a:t>
            </a:r>
          </a:p>
          <a:p>
            <a:r>
              <a:rPr lang="en-US" dirty="0" smtClean="0"/>
              <a:t>Revising itinerary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218</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49443" y="1988840"/>
            <a:ext cx="2185416" cy="3048000"/>
          </a:xfrm>
          <a:prstGeom prst="rect">
            <a:avLst/>
          </a:prstGeom>
        </p:spPr>
      </p:pic>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Revise operations on the basis of the review data</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Approved revisions must be communicated (as necessary) to:</a:t>
            </a:r>
          </a:p>
          <a:p>
            <a:r>
              <a:rPr lang="en-US" dirty="0" smtClean="0"/>
              <a:t>Trainers</a:t>
            </a:r>
          </a:p>
          <a:p>
            <a:r>
              <a:rPr lang="en-US" dirty="0" smtClean="0"/>
              <a:t>Host/local communities</a:t>
            </a:r>
          </a:p>
          <a:p>
            <a:r>
              <a:rPr lang="en-US" dirty="0" smtClean="0"/>
              <a:t>Tour staff</a:t>
            </a:r>
          </a:p>
          <a:p>
            <a:r>
              <a:rPr lang="en-US" dirty="0" smtClean="0"/>
              <a:t>Third parties/agents/partners</a:t>
            </a:r>
          </a:p>
          <a:p>
            <a:r>
              <a:rPr lang="en-US" dirty="0" smtClean="0"/>
              <a:t>Sales staff within the business</a:t>
            </a:r>
          </a:p>
          <a:p>
            <a:r>
              <a:rPr lang="en-US" dirty="0" smtClean="0"/>
              <a:t>Media</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219</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16016" y="2276872"/>
            <a:ext cx="3048000" cy="2404872"/>
          </a:xfrm>
          <a:prstGeom prst="rect">
            <a:avLst/>
          </a:prstGeom>
        </p:spPr>
      </p:pic>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When evaluating the interpretive activity:</a:t>
            </a:r>
          </a:p>
          <a:p>
            <a:pPr lvl="0"/>
            <a:r>
              <a:rPr lang="en-AU" dirty="0" smtClean="0"/>
              <a:t>Understand the need/s to evaluate</a:t>
            </a:r>
          </a:p>
          <a:p>
            <a:r>
              <a:rPr lang="en-AU" dirty="0" smtClean="0"/>
              <a:t>Establish a scheduled system of evaluations</a:t>
            </a:r>
          </a:p>
          <a:p>
            <a:r>
              <a:rPr lang="en-AU" dirty="0" smtClean="0"/>
              <a:t>Develop detailed plans for evaluations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220</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96512" y="1988840"/>
            <a:ext cx="2103120" cy="3048000"/>
          </a:xfrm>
          <a:prstGeom prst="rect">
            <a:avLst/>
          </a:prstGeom>
        </p:spPr>
      </p:pic>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normAutofit/>
          </a:bodyPr>
          <a:lstStyle/>
          <a:p>
            <a:r>
              <a:rPr lang="en-AU" dirty="0" smtClean="0"/>
              <a:t>Communicate evaluation arrangements and support with necessary training</a:t>
            </a:r>
          </a:p>
          <a:p>
            <a:r>
              <a:rPr lang="en-AU" dirty="0" smtClean="0"/>
              <a:t>Implement the evaluation plan</a:t>
            </a:r>
          </a:p>
          <a:p>
            <a:r>
              <a:rPr lang="en-AU" dirty="0" smtClean="0"/>
              <a:t>Involve staff and other relevant stakeholders</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221</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4008" y="1844824"/>
            <a:ext cx="2261616" cy="3048000"/>
          </a:xfrm>
          <a:prstGeom prst="rect">
            <a:avLst/>
          </a:prstGeom>
        </p:spPr>
      </p:pic>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normAutofit/>
          </a:bodyPr>
          <a:lstStyle/>
          <a:p>
            <a:r>
              <a:rPr lang="en-AU" dirty="0" smtClean="0"/>
              <a:t>Ensure customer feedback is a prime source of information on which evaluations are based</a:t>
            </a:r>
          </a:p>
          <a:p>
            <a:r>
              <a:rPr lang="en-AU" dirty="0" smtClean="0"/>
              <a:t>Obtain feedback through a variety of options/methods</a:t>
            </a:r>
          </a:p>
          <a:p>
            <a:r>
              <a:rPr lang="en-AU" dirty="0" smtClean="0"/>
              <a:t>Actively seek out feedback</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222</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415913" cy="3240000"/>
          </a:xfrm>
          <a:prstGeom prst="rect">
            <a:avLst/>
          </a:prstGeom>
        </p:spPr>
      </p:pic>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normAutofit/>
          </a:bodyPr>
          <a:lstStyle/>
          <a:p>
            <a:r>
              <a:rPr lang="en-AU" dirty="0" smtClean="0"/>
              <a:t>Make acquisition of customer feedback a regular/ongoing practice</a:t>
            </a:r>
          </a:p>
          <a:p>
            <a:r>
              <a:rPr lang="en-AU" dirty="0" smtClean="0"/>
              <a:t>Record all feedback generated/received</a:t>
            </a:r>
          </a:p>
          <a:p>
            <a:r>
              <a:rPr lang="en-AU" dirty="0" smtClean="0"/>
              <a:t>Evaluate activities against pre-determined objectives and criteria</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223</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628800"/>
            <a:ext cx="2598893" cy="3240000"/>
          </a:xfrm>
          <a:prstGeom prst="rect">
            <a:avLst/>
          </a:prstGeom>
        </p:spPr>
      </p:pic>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normAutofit/>
          </a:bodyPr>
          <a:lstStyle/>
          <a:p>
            <a:r>
              <a:rPr lang="en-AU" dirty="0" smtClean="0"/>
              <a:t>Use actual data/evidence as the basis for evaluations</a:t>
            </a:r>
          </a:p>
          <a:p>
            <a:r>
              <a:rPr lang="en-AU" dirty="0" smtClean="0"/>
              <a:t>Never ignore customer feedback</a:t>
            </a:r>
          </a:p>
          <a:p>
            <a:r>
              <a:rPr lang="en-AU" dirty="0" smtClean="0"/>
              <a:t>Thank customers and acknowledge their feedback</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224</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2276872"/>
            <a:ext cx="2340900" cy="3240000"/>
          </a:xfrm>
          <a:prstGeom prst="rect">
            <a:avLst/>
          </a:prstGeom>
        </p:spPr>
      </p:pic>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Summary – Element 3</a:t>
            </a:r>
            <a:endParaRPr lang="en-US" dirty="0"/>
          </a:p>
        </p:txBody>
      </p:sp>
      <p:sp>
        <p:nvSpPr>
          <p:cNvPr id="3" name="Content Placeholder 2"/>
          <p:cNvSpPr>
            <a:spLocks noGrp="1"/>
          </p:cNvSpPr>
          <p:nvPr>
            <p:ph idx="1"/>
          </p:nvPr>
        </p:nvSpPr>
        <p:spPr/>
        <p:txBody>
          <a:bodyPr/>
          <a:lstStyle/>
          <a:p>
            <a:r>
              <a:rPr lang="en-AU" dirty="0" smtClean="0"/>
              <a:t>Revise activities and tours on the basis of the findings of evaluations</a:t>
            </a:r>
          </a:p>
          <a:p>
            <a:r>
              <a:rPr lang="en-AU" dirty="0" smtClean="0"/>
              <a:t>Communicate revisions made</a:t>
            </a:r>
          </a:p>
          <a:p>
            <a:r>
              <a:rPr lang="en-AU" dirty="0" smtClean="0"/>
              <a:t>Provide resources and support for changes made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225</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652120" y="1772816"/>
            <a:ext cx="2283525" cy="3240000"/>
          </a:xfrm>
          <a:prstGeom prst="rect">
            <a:avLst/>
          </a:prstGeom>
        </p:spPr>
      </p:pic>
    </p:spTree>
  </p:cSld>
  <p:clrMapOvr>
    <a:masterClrMapping/>
  </p:clrMapOvr>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2863</TotalTime>
  <Words>34668</Words>
  <Application>Microsoft Office PowerPoint</Application>
  <PresentationFormat>On-screen Show (4:3)</PresentationFormat>
  <Paragraphs>4067</Paragraphs>
  <Slides>225</Slides>
  <Notes>225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225</vt:i4>
      </vt:variant>
    </vt:vector>
  </HeadingPairs>
  <TitlesOfParts>
    <vt:vector size="231" baseType="lpstr">
      <vt:lpstr>Arial</vt:lpstr>
      <vt:lpstr>Calibri</vt:lpstr>
      <vt:lpstr>Franklin Gothic Book</vt:lpstr>
      <vt:lpstr>Helvetica</vt:lpstr>
      <vt:lpstr>Wingdings 2</vt:lpstr>
      <vt:lpstr>PPT_Tour_operation_templates_130214</vt:lpstr>
      <vt:lpstr>Conduct interpretive activities in the field</vt:lpstr>
      <vt:lpstr>Conduct interpretive activities in the field</vt:lpstr>
      <vt:lpstr>Assessment</vt:lpstr>
      <vt:lpstr>Element 1 – Make on-tour preparations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Implement interpretive activity plans</vt:lpstr>
      <vt:lpstr>Schedule the interpretive activity</vt:lpstr>
      <vt:lpstr>Schedule the interpretive activity</vt:lpstr>
      <vt:lpstr>Schedule the interpretive activity</vt:lpstr>
      <vt:lpstr>Schedule the interpretive activity</vt:lpstr>
      <vt:lpstr>Schedule the interpretive activity</vt:lpstr>
      <vt:lpstr>Schedule the interpretive activity</vt:lpstr>
      <vt:lpstr>Schedule the interpretive activity</vt:lpstr>
      <vt:lpstr>Schedule the interpretive activity</vt:lpstr>
      <vt:lpstr>Prepare on-tour requirements to support the interpretive activity</vt:lpstr>
      <vt:lpstr>Prepare on-tour requirements to support the interpretive activity</vt:lpstr>
      <vt:lpstr>Prepare on-tour requirements to support the interpretive activity</vt:lpstr>
      <vt:lpstr>Prepare on-tour requirements to support the interpretive activity</vt:lpstr>
      <vt:lpstr>Prepare on-tour requirements to support the interpretive activity</vt:lpstr>
      <vt:lpstr>Prepare on-tour requirements to support the interpretive activity</vt:lpstr>
      <vt:lpstr>Prepare on-tour requirements to support the interpretive activity</vt:lpstr>
      <vt:lpstr>Prepare on-tour requirements to support the interpretive activity</vt:lpstr>
      <vt:lpstr>Prepare on-tour requirements to support the interpretive activity</vt:lpstr>
      <vt:lpstr>Prepare on-tour requirements to support the interpretive activity</vt:lpstr>
      <vt:lpstr>Confirm operational details with colleagues</vt:lpstr>
      <vt:lpstr>Confirm operational details with colleagues</vt:lpstr>
      <vt:lpstr>Confirm operational details with colleagues</vt:lpstr>
      <vt:lpstr>Confirm operational details with colleagues</vt:lpstr>
      <vt:lpstr>Confirm operational details with colleagues</vt:lpstr>
      <vt:lpstr>Ensure safety issues have been addressed</vt:lpstr>
      <vt:lpstr>Ensure safety issues have been addressed</vt:lpstr>
      <vt:lpstr>Ensure safety issues have been addressed</vt:lpstr>
      <vt:lpstr>Ensure safety issues have been addressed</vt:lpstr>
      <vt:lpstr>Ensure safety issues have been addressed</vt:lpstr>
      <vt:lpstr>Ensure safety issues have been addressed</vt:lpstr>
      <vt:lpstr>Ensure safety issues have been addressed</vt:lpstr>
      <vt:lpstr>Ensure safety issues have been addressed</vt:lpstr>
      <vt:lpstr>Provide for maximum engagement by customers</vt:lpstr>
      <vt:lpstr>Provide for maximum engagement by customers</vt:lpstr>
      <vt:lpstr>Provide for maximum engagement by customers</vt:lpstr>
      <vt:lpstr>Summary – Element 1</vt:lpstr>
      <vt:lpstr>Summary – Element 1</vt:lpstr>
      <vt:lpstr>Summary – Element 1</vt:lpstr>
      <vt:lpstr>Summary – Element 1</vt:lpstr>
      <vt:lpstr>Summary – Element 1</vt:lpstr>
      <vt:lpstr>Element 2 – Introduce the interpretive activity</vt:lpstr>
      <vt:lpstr>Alert people to the up-coming interpretive activity</vt:lpstr>
      <vt:lpstr>Alert people to the up-coming interpretive activity</vt:lpstr>
      <vt:lpstr>Alert people to the up-coming interpretive activity</vt:lpstr>
      <vt:lpstr>Alert people to the up-coming interpretive activity</vt:lpstr>
      <vt:lpstr>Welcome customers to the interpretive activity</vt:lpstr>
      <vt:lpstr>Welcome customers to the interpretive activity</vt:lpstr>
      <vt:lpstr>Welcome customers to the interpretive activity</vt:lpstr>
      <vt:lpstr>Explain the interpretive activity</vt:lpstr>
      <vt:lpstr>Explain the interpretive activity</vt:lpstr>
      <vt:lpstr>Explain the interpretive activity</vt:lpstr>
      <vt:lpstr>Explain the interpretive activity</vt:lpstr>
      <vt:lpstr>Demonstrate necessary pre-requisites for the activity</vt:lpstr>
      <vt:lpstr>Demonstrate necessary pre-requisites for the activity</vt:lpstr>
      <vt:lpstr>Demonstrate necessary pre-requisites for the activity</vt:lpstr>
      <vt:lpstr>Demonstrate necessary pre-requisites for the activity</vt:lpstr>
      <vt:lpstr>Confirm customer understanding regarding the up-coming activity</vt:lpstr>
      <vt:lpstr>Confirm customer understanding regarding the up-coming activity</vt:lpstr>
      <vt:lpstr>Confirm customer understanding regarding the up-coming activity</vt:lpstr>
      <vt:lpstr>Confirm customer understanding regarding the up-coming activity</vt:lpstr>
      <vt:lpstr>Confirm customer understanding regarding the up-coming activity</vt:lpstr>
      <vt:lpstr>Summary – Element 2</vt:lpstr>
      <vt:lpstr>Summary – Element 2</vt:lpstr>
      <vt:lpstr>Summary – Element 2</vt:lpstr>
      <vt:lpstr>Summary – Element 2</vt:lpstr>
      <vt:lpstr>Element 3 – Conduct the interpretive activity</vt:lpstr>
      <vt:lpstr>Element 3 – Conduct the interpretive activity</vt:lpstr>
      <vt:lpstr>Assemble tour group as required</vt:lpstr>
      <vt:lpstr>Assemble tour group as required</vt:lpstr>
      <vt:lpstr>Assemble tour group as required</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Provide commentary and interpretive presentation techniques</vt:lpstr>
      <vt:lpstr>Apply appropriate interpersonal skills</vt:lpstr>
      <vt:lpstr>Apply appropriate interpersonal skills</vt:lpstr>
      <vt:lpstr>Apply appropriate interpersonal skills</vt:lpstr>
      <vt:lpstr>Apply appropriate interpersonal skills</vt:lpstr>
      <vt:lpstr>Apply appropriate interpersonal skills</vt:lpstr>
      <vt:lpstr>Apply appropriate interpersonal skills</vt:lpstr>
      <vt:lpstr>Apply appropriate interpersonal skills</vt:lpstr>
      <vt:lpstr>Apply appropriate interpersonal skills</vt:lpstr>
      <vt:lpstr>Apply appropriate interpersonal skills</vt:lpstr>
      <vt:lpstr>Apply appropriate interpersonal skills</vt:lpstr>
      <vt:lpstr>Apply appropriate interpersonal skills</vt:lpstr>
      <vt:lpstr>Use prepared aids and materials and equipment to support presentation</vt:lpstr>
      <vt:lpstr>Use prepared aids and materials and equipment to support presentation</vt:lpstr>
      <vt:lpstr>Use prepared aids and materials and equipment to support presentation</vt:lpstr>
      <vt:lpstr>Use prepared aids and materials and equipment to support presentation</vt:lpstr>
      <vt:lpstr>Use prepared aids and materials and equipment to support presentation</vt:lpstr>
      <vt:lpstr>Use prepared aids and materials and equipment to support presentation</vt:lpstr>
      <vt:lpstr>Encourage audience participation, where appropriate</vt:lpstr>
      <vt:lpstr>Encourage audience participation, where appropriate</vt:lpstr>
      <vt:lpstr>Encourage audience participation, where appropriate</vt:lpstr>
      <vt:lpstr>Encourage audience participation, where appropriate</vt:lpstr>
      <vt:lpstr>Encourage audience participation, where appropriate</vt:lpstr>
      <vt:lpstr>Encourage audience participation, where appropriate</vt:lpstr>
      <vt:lpstr>Encourage audience participation, where appropriate</vt:lpstr>
      <vt:lpstr>Encourage audience participation, where appropriate</vt:lpstr>
      <vt:lpstr>Respond to questions</vt:lpstr>
      <vt:lpstr>Respond to questions</vt:lpstr>
      <vt:lpstr>Respond to questions</vt:lpstr>
      <vt:lpstr>Respond to questions</vt:lpstr>
      <vt:lpstr>Respond to questions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Respect environmental, cultural and social sensitivities</vt:lpstr>
      <vt:lpstr>Adjust presentation to suit emerging requirements</vt:lpstr>
      <vt:lpstr>Adjust presentation to suit emerging requirements</vt:lpstr>
      <vt:lpstr>Adjust presentation to suit emerging requirements</vt:lpstr>
      <vt:lpstr>Adjust presentation to suit emerging requirements</vt:lpstr>
      <vt:lpstr>Adjust presentation to suit emerging requirements</vt:lpstr>
      <vt:lpstr>Adjust presentation to suit emerging requirements</vt:lpstr>
      <vt:lpstr>Adjust presentation to suit emerging requirements</vt:lpstr>
      <vt:lpstr>Liaise with colleagues throughout the activity</vt:lpstr>
      <vt:lpstr>Liaise with colleagues throughout the activity</vt:lpstr>
      <vt:lpstr>Liaise with colleagues throughout the activity</vt:lpstr>
      <vt:lpstr>Liaise with colleagues throughout the activity</vt:lpstr>
      <vt:lpstr>Deal with unexpected events</vt:lpstr>
      <vt:lpstr>Deal with unexpected events</vt:lpstr>
      <vt:lpstr>Deal with unexpected events</vt:lpstr>
      <vt:lpstr>Deal with unexpected events</vt:lpstr>
      <vt:lpstr>Deal with unexpected events</vt:lpstr>
      <vt:lpstr>Deal with unexpected events</vt:lpstr>
      <vt:lpstr>Deal with unexpected events</vt:lpstr>
      <vt:lpstr>Deal with unexpected events</vt:lpstr>
      <vt:lpstr>Deal with unexpected events</vt:lpstr>
      <vt:lpstr>Deal with unexpected events</vt:lpstr>
      <vt:lpstr>Deal with unexpected events</vt:lpstr>
      <vt:lpstr>Deal with unexpected events</vt:lpstr>
      <vt:lpstr>Deal with unexpected events</vt:lpstr>
      <vt:lpstr>Complete the activity</vt:lpstr>
      <vt:lpstr>Complete the activity</vt:lpstr>
      <vt:lpstr>Complete the activity</vt:lpstr>
      <vt:lpstr>Complete the activity</vt:lpstr>
      <vt:lpstr>Complete the activity</vt:lpstr>
      <vt:lpstr>Complete the activity</vt:lpstr>
      <vt:lpstr>Complete the activity</vt:lpstr>
      <vt:lpstr>Summary – Element 3</vt:lpstr>
      <vt:lpstr>Summary – Element 3</vt:lpstr>
      <vt:lpstr>Summary – Element 3</vt:lpstr>
      <vt:lpstr>Summary – Element 3</vt:lpstr>
      <vt:lpstr>Element 4 – Review the interpretive activity</vt:lpstr>
      <vt:lpstr>De-brief with colleagues</vt:lpstr>
      <vt:lpstr>De-brief with colleagues</vt:lpstr>
      <vt:lpstr>De-brief with colleagues</vt:lpstr>
      <vt:lpstr>De-brief with colleagues</vt:lpstr>
      <vt:lpstr>De-brief with colleagues</vt:lpstr>
      <vt:lpstr>De-brief with colleagues</vt:lpstr>
      <vt:lpstr>De-brief with colleagues</vt:lpstr>
      <vt:lpstr>De-brief with colleagues</vt:lpstr>
      <vt:lpstr>De-brief with colleagues</vt:lpstr>
      <vt:lpstr>De-brief with colleagues</vt:lpstr>
      <vt:lpstr>De-brief with colleagues</vt:lpstr>
      <vt:lpstr>De-brief with colleagues</vt:lpstr>
      <vt:lpstr>De-brief with colleagues</vt:lpstr>
      <vt:lpstr>De-brief with colleagues</vt:lpstr>
      <vt:lpstr>De-brief with colleagues</vt:lpstr>
      <vt:lpstr>Seek feedback from customers</vt:lpstr>
      <vt:lpstr>Seek feedback from customers</vt:lpstr>
      <vt:lpstr>Evaluate presentation of interpretive activity against target performance criteria</vt:lpstr>
      <vt:lpstr>Evaluate presentation of interpretive activity against target performance criteria</vt:lpstr>
      <vt:lpstr>Evaluate presentation of interpretive activity against target performance criteria</vt:lpstr>
      <vt:lpstr>Evaluate presentation of interpretive activity against target performance criteria</vt:lpstr>
      <vt:lpstr>Revise operations on the basis of the review data</vt:lpstr>
      <vt:lpstr>Revise operations on the basis of the review data</vt:lpstr>
      <vt:lpstr>Revise operations on the basis of the review data</vt:lpstr>
      <vt:lpstr>Revise operations on the basis of the review data</vt:lpstr>
      <vt:lpstr>Summary – Element 3</vt:lpstr>
      <vt:lpstr>Summary – Element 3</vt:lpstr>
      <vt:lpstr>Summary – Element 3</vt:lpstr>
      <vt:lpstr>Summary – Element 3</vt:lpstr>
      <vt:lpstr>Summary – Element 3</vt:lpstr>
      <vt:lpstr>Summary – Element 3</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Conduct interpretive activities in the field</dc:title>
  <dc:creator>Daniel James Chee</dc:creator>
  <cp:lastModifiedBy>Carla Angelica Co</cp:lastModifiedBy>
  <cp:revision>123</cp:revision>
  <dcterms:created xsi:type="dcterms:W3CDTF">2014-05-16T00:42:42Z</dcterms:created>
  <dcterms:modified xsi:type="dcterms:W3CDTF">2016-07-11T08:45:37Z</dcterms:modified>
</cp:coreProperties>
</file>