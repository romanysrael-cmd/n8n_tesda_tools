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70"/>
  </p:notesMasterIdLst>
  <p:handoutMasterIdLst>
    <p:handoutMasterId r:id="rId171"/>
  </p:handoutMasterIdLst>
  <p:sldIdLst>
    <p:sldId id="256" r:id="rId2"/>
    <p:sldId id="268" r:id="rId3"/>
    <p:sldId id="269" r:id="rId4"/>
    <p:sldId id="270" r:id="rId5"/>
    <p:sldId id="271" r:id="rId6"/>
    <p:sldId id="257" r:id="rId7"/>
    <p:sldId id="272" r:id="rId8"/>
    <p:sldId id="273" r:id="rId9"/>
    <p:sldId id="308" r:id="rId10"/>
    <p:sldId id="309" r:id="rId11"/>
    <p:sldId id="274" r:id="rId12"/>
    <p:sldId id="277" r:id="rId13"/>
    <p:sldId id="278" r:id="rId14"/>
    <p:sldId id="279" r:id="rId15"/>
    <p:sldId id="280" r:id="rId16"/>
    <p:sldId id="281" r:id="rId17"/>
    <p:sldId id="282" r:id="rId18"/>
    <p:sldId id="283" r:id="rId19"/>
    <p:sldId id="284" r:id="rId20"/>
    <p:sldId id="285" r:id="rId21"/>
    <p:sldId id="286" r:id="rId22"/>
    <p:sldId id="287" r:id="rId23"/>
    <p:sldId id="289" r:id="rId24"/>
    <p:sldId id="290" r:id="rId25"/>
    <p:sldId id="291" r:id="rId26"/>
    <p:sldId id="292" r:id="rId27"/>
    <p:sldId id="293" r:id="rId28"/>
    <p:sldId id="294" r:id="rId29"/>
    <p:sldId id="295" r:id="rId30"/>
    <p:sldId id="296" r:id="rId31"/>
    <p:sldId id="310" r:id="rId32"/>
    <p:sldId id="311" r:id="rId33"/>
    <p:sldId id="312" r:id="rId34"/>
    <p:sldId id="260" r:id="rId35"/>
    <p:sldId id="313" r:id="rId36"/>
    <p:sldId id="314" r:id="rId37"/>
    <p:sldId id="315" r:id="rId38"/>
    <p:sldId id="316" r:id="rId39"/>
    <p:sldId id="317" r:id="rId40"/>
    <p:sldId id="320" r:id="rId41"/>
    <p:sldId id="322" r:id="rId42"/>
    <p:sldId id="323" r:id="rId43"/>
    <p:sldId id="324" r:id="rId44"/>
    <p:sldId id="325" r:id="rId45"/>
    <p:sldId id="326" r:id="rId46"/>
    <p:sldId id="335" r:id="rId47"/>
    <p:sldId id="336" r:id="rId48"/>
    <p:sldId id="261" r:id="rId49"/>
    <p:sldId id="337" r:id="rId50"/>
    <p:sldId id="338" r:id="rId51"/>
    <p:sldId id="339" r:id="rId52"/>
    <p:sldId id="340" r:id="rId53"/>
    <p:sldId id="341" r:id="rId54"/>
    <p:sldId id="342" r:id="rId55"/>
    <p:sldId id="343" r:id="rId56"/>
    <p:sldId id="344" r:id="rId57"/>
    <p:sldId id="345" r:id="rId58"/>
    <p:sldId id="346" r:id="rId59"/>
    <p:sldId id="347" r:id="rId60"/>
    <p:sldId id="348" r:id="rId61"/>
    <p:sldId id="349" r:id="rId62"/>
    <p:sldId id="263" r:id="rId63"/>
    <p:sldId id="350" r:id="rId64"/>
    <p:sldId id="351" r:id="rId65"/>
    <p:sldId id="352" r:id="rId66"/>
    <p:sldId id="353" r:id="rId67"/>
    <p:sldId id="354" r:id="rId68"/>
    <p:sldId id="367" r:id="rId69"/>
    <p:sldId id="355" r:id="rId70"/>
    <p:sldId id="366" r:id="rId71"/>
    <p:sldId id="356" r:id="rId72"/>
    <p:sldId id="357" r:id="rId73"/>
    <p:sldId id="365" r:id="rId74"/>
    <p:sldId id="358" r:id="rId75"/>
    <p:sldId id="359" r:id="rId76"/>
    <p:sldId id="264" r:id="rId77"/>
    <p:sldId id="368" r:id="rId78"/>
    <p:sldId id="369" r:id="rId79"/>
    <p:sldId id="370" r:id="rId80"/>
    <p:sldId id="371" r:id="rId81"/>
    <p:sldId id="372" r:id="rId82"/>
    <p:sldId id="373" r:id="rId83"/>
    <p:sldId id="374" r:id="rId84"/>
    <p:sldId id="375" r:id="rId85"/>
    <p:sldId id="376" r:id="rId86"/>
    <p:sldId id="377" r:id="rId87"/>
    <p:sldId id="378" r:id="rId88"/>
    <p:sldId id="379" r:id="rId89"/>
    <p:sldId id="380" r:id="rId90"/>
    <p:sldId id="381" r:id="rId91"/>
    <p:sldId id="385" r:id="rId92"/>
    <p:sldId id="265" r:id="rId93"/>
    <p:sldId id="386" r:id="rId94"/>
    <p:sldId id="387" r:id="rId95"/>
    <p:sldId id="388" r:id="rId96"/>
    <p:sldId id="389" r:id="rId97"/>
    <p:sldId id="390" r:id="rId98"/>
    <p:sldId id="391" r:id="rId99"/>
    <p:sldId id="392" r:id="rId100"/>
    <p:sldId id="393" r:id="rId101"/>
    <p:sldId id="394" r:id="rId102"/>
    <p:sldId id="409" r:id="rId103"/>
    <p:sldId id="395" r:id="rId104"/>
    <p:sldId id="396" r:id="rId105"/>
    <p:sldId id="397" r:id="rId106"/>
    <p:sldId id="398" r:id="rId107"/>
    <p:sldId id="399" r:id="rId108"/>
    <p:sldId id="400" r:id="rId109"/>
    <p:sldId id="401" r:id="rId110"/>
    <p:sldId id="403" r:id="rId111"/>
    <p:sldId id="404" r:id="rId112"/>
    <p:sldId id="266" r:id="rId113"/>
    <p:sldId id="410" r:id="rId114"/>
    <p:sldId id="411" r:id="rId115"/>
    <p:sldId id="412" r:id="rId116"/>
    <p:sldId id="413" r:id="rId117"/>
    <p:sldId id="414" r:id="rId118"/>
    <p:sldId id="415" r:id="rId119"/>
    <p:sldId id="416" r:id="rId120"/>
    <p:sldId id="417" r:id="rId121"/>
    <p:sldId id="418" r:id="rId122"/>
    <p:sldId id="419" r:id="rId123"/>
    <p:sldId id="420" r:id="rId124"/>
    <p:sldId id="422" r:id="rId125"/>
    <p:sldId id="421" r:id="rId126"/>
    <p:sldId id="423" r:id="rId127"/>
    <p:sldId id="267" r:id="rId128"/>
    <p:sldId id="424" r:id="rId129"/>
    <p:sldId id="425" r:id="rId130"/>
    <p:sldId id="426" r:id="rId131"/>
    <p:sldId id="427" r:id="rId132"/>
    <p:sldId id="428" r:id="rId133"/>
    <p:sldId id="429" r:id="rId134"/>
    <p:sldId id="430" r:id="rId135"/>
    <p:sldId id="451" r:id="rId136"/>
    <p:sldId id="452" r:id="rId137"/>
    <p:sldId id="382" r:id="rId138"/>
    <p:sldId id="453" r:id="rId139"/>
    <p:sldId id="454" r:id="rId140"/>
    <p:sldId id="455" r:id="rId141"/>
    <p:sldId id="456" r:id="rId142"/>
    <p:sldId id="469" r:id="rId143"/>
    <p:sldId id="470" r:id="rId144"/>
    <p:sldId id="471" r:id="rId145"/>
    <p:sldId id="472" r:id="rId146"/>
    <p:sldId id="473" r:id="rId147"/>
    <p:sldId id="457" r:id="rId148"/>
    <p:sldId id="383" r:id="rId149"/>
    <p:sldId id="474" r:id="rId150"/>
    <p:sldId id="475" r:id="rId151"/>
    <p:sldId id="476" r:id="rId152"/>
    <p:sldId id="477" r:id="rId153"/>
    <p:sldId id="478" r:id="rId154"/>
    <p:sldId id="479" r:id="rId155"/>
    <p:sldId id="480" r:id="rId156"/>
    <p:sldId id="384" r:id="rId157"/>
    <p:sldId id="493" r:id="rId158"/>
    <p:sldId id="481" r:id="rId159"/>
    <p:sldId id="482" r:id="rId160"/>
    <p:sldId id="483" r:id="rId161"/>
    <p:sldId id="484" r:id="rId162"/>
    <p:sldId id="485" r:id="rId163"/>
    <p:sldId id="486" r:id="rId164"/>
    <p:sldId id="446" r:id="rId165"/>
    <p:sldId id="447" r:id="rId166"/>
    <p:sldId id="448" r:id="rId167"/>
    <p:sldId id="449" r:id="rId168"/>
    <p:sldId id="450" r:id="rId169"/>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90253" autoAdjust="0"/>
  </p:normalViewPr>
  <p:slideViewPr>
    <p:cSldViewPr>
      <p:cViewPr varScale="1">
        <p:scale>
          <a:sx n="83" d="100"/>
          <a:sy n="83" d="100"/>
        </p:scale>
        <p:origin x="144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100" d="100"/>
          <a:sy n="100" d="100"/>
        </p:scale>
        <p:origin x="-3780" y="84"/>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tableStyles" Target="tableStyles.xml"/><Relationship Id="rId170"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handoutMaster" Target="handoutMasters/handout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7/4/2016</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7/4/2016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www.google.com.au/url?sa=t&amp;rct=j&amp;q=&amp;esrc=s&amp;source=web&amp;cd=2&amp;ved=0CCUQFjAB&amp;url=http://apirnet.ilo.org/resources/asean-guidelines-on-good-industrial-relations-practices/at_download/file1&amp;ei=PRGVVJS-JYaD8gX6w4GABg&amp;usg=AFQjCNEuAH0VlBcwqvpiKC2JuR7T8VoeAg&amp;bvm=bv.82001339,d.dGc"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www.keysian.com/operational-management/2012/1/2/sample-standard-terms-and-conditions-of-employment.html"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www.austrade.gov.au/Invest/Doing-business-in-Australia/Investor-Guide/Running-a-business/Employing-people-in-Australia/Australian-employment-conditions" TargetMode="Externa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www.eoc.sa.gov.au/eo-you/workers/work/dress-codes-workplace"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www.humanrightscommission.vic.gov.au/index.php/workers-rights/workplace-terms-a-conditions"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www.dfat.gov.au/dept/DFAT-Enterprise-Agreement-2011-14.pdf" TargetMode="Externa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www.plus40.com.au/site/uploaded/EmpContract.pdf"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advertiser.seek.com.au/Advertisers/resources/eg_letter_offer.ascx"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www.austlii.edu.au/au/legis/nsw/consol_act/ira1996242/s6.html"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www.austlii.edu.au/au/legis/nsw/consol_act/ira1996242/s7.html" TargetMode="External"/><Relationship Id="rId2" Type="http://schemas.openxmlformats.org/officeDocument/2006/relationships/slide" Target="../slides/slide31.xml"/><Relationship Id="rId1" Type="http://schemas.openxmlformats.org/officeDocument/2006/relationships/notesMaster" Target="../notesMasters/notesMaster1.xml"/><Relationship Id="rId5" Type="http://schemas.openxmlformats.org/officeDocument/2006/relationships/hyperlink" Target="http://www.austlii.edu.au/au/legis/nsw/consol_act/ira1996242/s76.html" TargetMode="External"/><Relationship Id="rId4" Type="http://schemas.openxmlformats.org/officeDocument/2006/relationships/hyperlink" Target="http://www.austlii.edu.au/au/legis/nsw/consol_act/ira1996242/s5.html" TargetMode="Externa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www.austlii.edu.au/au/legis/nsw/consol_act/ira1996242/s7.html" TargetMode="External"/><Relationship Id="rId2" Type="http://schemas.openxmlformats.org/officeDocument/2006/relationships/slide" Target="../slides/slide32.xml"/><Relationship Id="rId1" Type="http://schemas.openxmlformats.org/officeDocument/2006/relationships/notesMaster" Target="../notesMasters/notesMaster1.xml"/><Relationship Id="rId4" Type="http://schemas.openxmlformats.org/officeDocument/2006/relationships/hyperlink" Target="http://www.austlii.edu.au/au/legis/nsw/consol_act/ira1996242/s5.html" TargetMode="Externa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elearning.nokomis.in/uploaddocuments/Industrial%20Relations.%20&amp;%20Labour%20laws/Chp%207%20Industrial%20Unrest%20Causes%20and%20Cures/PPT/Chapter%2007.pdf" TargetMode="External"/><Relationship Id="rId2" Type="http://schemas.openxmlformats.org/officeDocument/2006/relationships/slide" Target="../slides/slide39.xml"/><Relationship Id="rId1" Type="http://schemas.openxmlformats.org/officeDocument/2006/relationships/notesMaster" Target="../notesMasters/notesMaster1.xml"/><Relationship Id="rId4" Type="http://schemas.openxmlformats.org/officeDocument/2006/relationships/hyperlink" Target="https://docs.google.com/presentation/d/1PNkPP9JhteVbTgz8ClfhqNtzA_FgTCIsPEontMB9LbE/edit?pli=1" TargetMode="Externa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mallbusiness.chron.com/causes-conflict-industrial-relations-59203.html" TargetMode="External"/><Relationship Id="rId2" Type="http://schemas.openxmlformats.org/officeDocument/2006/relationships/slide" Target="../slides/slide40.xml"/><Relationship Id="rId1" Type="http://schemas.openxmlformats.org/officeDocument/2006/relationships/notesMaster" Target="../notesMasters/notesMaster1.xml"/><Relationship Id="rId5" Type="http://schemas.openxmlformats.org/officeDocument/2006/relationships/hyperlink" Target="http://www.yourarticlelibrary.com/employee-management/5-causes-of-poor-employer-employee-relations/27997/" TargetMode="External"/><Relationship Id="rId4" Type="http://schemas.openxmlformats.org/officeDocument/2006/relationships/hyperlink" Target="http://www.whatishumanresource.com/causes--Effects-of-poor-industrial-relations" TargetMode="Externa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www.airc.gov.au/familyprovisions/acci/Att%20E_Vic_Retail_Log_of_Claims.pdf" TargetMode="External"/><Relationship Id="rId2" Type="http://schemas.openxmlformats.org/officeDocument/2006/relationships/slide" Target="../slides/slide41.xml"/><Relationship Id="rId1" Type="http://schemas.openxmlformats.org/officeDocument/2006/relationships/notesMaster" Target="../notesMasters/notesMaster1.xml"/><Relationship Id="rId4" Type="http://schemas.openxmlformats.org/officeDocument/2006/relationships/hyperlink" Target="http://rphrm.curtin.edu.au/2000/issue1/asean.html" TargetMode="Externa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www.ilo.org/wcmsp5/groups/public/---asia/---ro-bangkok/documents/publication/wcms_140728.pdf"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www.scmp.com/business/companies/article/1537317/how-cope-labour-unrest-turbulent-region" TargetMode="External"/><Relationship Id="rId2" Type="http://schemas.openxmlformats.org/officeDocument/2006/relationships/slide" Target="../slides/slide44.xml"/><Relationship Id="rId1" Type="http://schemas.openxmlformats.org/officeDocument/2006/relationships/notesMaster" Target="../notesMasters/notesMaster1.xml"/><Relationship Id="rId5" Type="http://schemas.openxmlformats.org/officeDocument/2006/relationships/hyperlink" Target="http://www.bollettinoadapt.it/old/files/document/18096AMANTE.pdf" TargetMode="External"/><Relationship Id="rId4" Type="http://schemas.openxmlformats.org/officeDocument/2006/relationships/hyperlink" Target="http://www.aseanhrmech.org/downloads/singapore-Industrial_Relations_Act.pdf" TargetMode="Externa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archive.org/details/industrialunrest014882mbp" TargetMode="External"/><Relationship Id="rId2" Type="http://schemas.openxmlformats.org/officeDocument/2006/relationships/slide" Target="../slides/slide45.xml"/><Relationship Id="rId1" Type="http://schemas.openxmlformats.org/officeDocument/2006/relationships/notesMaster" Target="../notesMasters/notesMaster1.xml"/><Relationship Id="rId4" Type="http://schemas.openxmlformats.org/officeDocument/2006/relationships/hyperlink" Target="http://www.hrpulse.co.za/legal/industrial-relations/230610-how-can-we-stop-the-current-labour-unrest" TargetMode="Externa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www.modernghana.com/news/42643/1/consultation-arbitration-is-solution-to-labour-unr.html" TargetMode="External"/><Relationship Id="rId2" Type="http://schemas.openxmlformats.org/officeDocument/2006/relationships/slide" Target="../slides/slide46.xml"/><Relationship Id="rId1" Type="http://schemas.openxmlformats.org/officeDocument/2006/relationships/notesMaster" Target="../notesMasters/notesMaster1.xml"/><Relationship Id="rId4" Type="http://schemas.openxmlformats.org/officeDocument/2006/relationships/hyperlink" Target="http://www.businessdailyafrica.com/Opinion-and-Analysis/Find-lasting-solution-to-rampant-labour-unrest-/-/539548/1288976/-/qdmb9lz/-/index.html" TargetMode="Externa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3" Type="http://schemas.openxmlformats.org/officeDocument/2006/relationships/hyperlink" Target="http://www.google.com.au/url?sa=t&amp;rct=j&amp;q=&amp;esrc=s&amp;source=web&amp;cd=6&amp;ved=0CDsQFjAF&amp;url=http://www.fairwork.gov.au/ArticleDocuments/711/Consultation-and-cooperation-in-the-workplace-best-practice-guide.pdf.aspx&amp;ei=xpWgVKHBHsSvmAXpsoCQDg&amp;usg=AFQjCNH-tNONfgQm_NqF1uQzUqrF_Kv6VQ&amp;bvm=bv.82001339,d.dGY" TargetMode="External"/><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3" Type="http://schemas.openxmlformats.org/officeDocument/2006/relationships/hyperlink" Target="http://www.fairwork.gov.au/about-us/policies-and-guides/best-practice-guides/consultation-and-cooperation-in-the-workplace" TargetMode="External"/><Relationship Id="rId2" Type="http://schemas.openxmlformats.org/officeDocument/2006/relationships/slide" Target="../slides/slide89.xml"/><Relationship Id="rId1" Type="http://schemas.openxmlformats.org/officeDocument/2006/relationships/notesMaster" Target="../notesMasters/notesMaster1.xml"/><Relationship Id="rId5" Type="http://schemas.openxmlformats.org/officeDocument/2006/relationships/hyperlink" Target="http://www.corrs.com.au/publications/corrs-in-brief/consultation-with-employees-why-what-and-when/" TargetMode="External"/><Relationship Id="rId4" Type="http://schemas.openxmlformats.org/officeDocument/2006/relationships/hyperlink" Target="http://smallbiztrends.com/2013/11/ways-to-communicate-effectively-in-the-workplace.html" TargetMode="External"/></Relationships>
</file>

<file path=ppt/notesSlides/_rels/notesSlide90.xml.rels><?xml version="1.0" encoding="UTF-8" standalone="yes"?>
<Relationships xmlns="http://schemas.openxmlformats.org/package/2006/relationships"><Relationship Id="rId3" Type="http://schemas.openxmlformats.org/officeDocument/2006/relationships/hyperlink" Target="http://www.industrialrelations.nsw.gov.au/oirwww/Employment_info/Managing_employees/Workplace_policies_and_procedures.page" TargetMode="External"/><Relationship Id="rId2" Type="http://schemas.openxmlformats.org/officeDocument/2006/relationships/slide" Target="../slides/slide90.xml"/><Relationship Id="rId1" Type="http://schemas.openxmlformats.org/officeDocument/2006/relationships/notesMaster" Target="../notesMasters/notesMaster1.xml"/><Relationship Id="rId5" Type="http://schemas.openxmlformats.org/officeDocument/2006/relationships/hyperlink" Target="http://www.decd.sa.gov.au/docs/documents/1/ConsultationRequirement-1.pdf" TargetMode="External"/><Relationship Id="rId4" Type="http://schemas.openxmlformats.org/officeDocument/2006/relationships/hyperlink" Target="http://www.workcover.nsw.gov.au/newlegislation2012/Asafeworkplace/consultation/Pages/default.aspx" TargetMode="External"/></Relationships>
</file>

<file path=ppt/notesSlides/_rels/notesSlide91.xml.rels><?xml version="1.0" encoding="UTF-8" standalone="yes"?>
<Relationships xmlns="http://schemas.openxmlformats.org/package/2006/relationships"><Relationship Id="rId3" Type="http://schemas.openxmlformats.org/officeDocument/2006/relationships/hyperlink" Target="http://www.workplace-communication.com/four-types-communication.html" TargetMode="External"/><Relationship Id="rId2" Type="http://schemas.openxmlformats.org/officeDocument/2006/relationships/slide" Target="../slides/slide91.xml"/><Relationship Id="rId1" Type="http://schemas.openxmlformats.org/officeDocument/2006/relationships/notesMaster" Target="../notesMasters/notesMaster1.xml"/><Relationship Id="rId5" Type="http://schemas.openxmlformats.org/officeDocument/2006/relationships/hyperlink" Target="http://www.practical-management-skills.com/effective-workplace-communication.html" TargetMode="External"/><Relationship Id="rId4" Type="http://schemas.openxmlformats.org/officeDocument/2006/relationships/hyperlink" Target="http://www.slideshare.net/sklip/7-workplace-communication" TargetMode="Externa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3" Type="http://schemas.openxmlformats.org/officeDocument/2006/relationships/hyperlink" Target="http://www.businessballs.com/inductiontrainingchecklist.htm" TargetMode="External"/><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3" Type="http://schemas.openxmlformats.org/officeDocument/2006/relationships/hyperlink" Target="https://www.dlsweb.rmit.edu.au/toolbox/leadership/toolbox/op/op_c11.html" TargetMode="External"/><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3" Type="http://schemas.openxmlformats.org/officeDocument/2006/relationships/hyperlink" Target="http://www.steptwo.com.au/papers/cmb_induction/" TargetMode="External"/><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3" Type="http://schemas.openxmlformats.org/officeDocument/2006/relationships/hyperlink" Target="http://cit.edu.au/partnerships/industry_connection/2011_december/making_workplaces_ready_for_workplace_learning" TargetMode="External"/><Relationship Id="rId2" Type="http://schemas.openxmlformats.org/officeDocument/2006/relationships/slide" Target="../slides/slide106.xml"/><Relationship Id="rId1" Type="http://schemas.openxmlformats.org/officeDocument/2006/relationships/notesMaster" Target="../notesMasters/notesMaster1.xml"/><Relationship Id="rId4" Type="http://schemas.openxmlformats.org/officeDocument/2006/relationships/hyperlink" Target="http://www.insideindianabusiness.com/contributors.asp?id=923" TargetMode="Externa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3" Type="http://schemas.openxmlformats.org/officeDocument/2006/relationships/hyperlink" Target="http://trainingtoday.blr.com/employee-training-resources/How-to-Choose-the-Most-Effective-Training-Techniques" TargetMode="External"/><Relationship Id="rId2" Type="http://schemas.openxmlformats.org/officeDocument/2006/relationships/slide" Target="../slides/slide108.xml"/><Relationship Id="rId1" Type="http://schemas.openxmlformats.org/officeDocument/2006/relationships/notesMaster" Target="../notesMasters/notesMaster1.xml"/><Relationship Id="rId5" Type="http://schemas.openxmlformats.org/officeDocument/2006/relationships/hyperlink" Target="http://www.referenceforbusiness.com/management/Tr-Z/Training-Delivery-Methods.html" TargetMode="External"/><Relationship Id="rId4" Type="http://schemas.openxmlformats.org/officeDocument/2006/relationships/hyperlink" Target="http://tribehr.com/blog/workplace-training-and-education-effective-methods-for-training-adults" TargetMode="Externa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3" Type="http://schemas.openxmlformats.org/officeDocument/2006/relationships/hyperlink" Target="http://www.skillsrecognition.net.au/understanding-competency-based-training" TargetMode="External"/><Relationship Id="rId2" Type="http://schemas.openxmlformats.org/officeDocument/2006/relationships/slide" Target="../slides/slide111.xml"/><Relationship Id="rId1" Type="http://schemas.openxmlformats.org/officeDocument/2006/relationships/notesMaster" Target="../notesMasters/notesMaster1.xml"/><Relationship Id="rId4" Type="http://schemas.openxmlformats.org/officeDocument/2006/relationships/hyperlink" Target="http://www.batchelor.edu.au/biite/wp-content/uploads/2012/06/CBT-Overview.pdf" TargetMode="Externa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3" Type="http://schemas.openxmlformats.org/officeDocument/2006/relationships/hyperlink" Target="http://fortune.com/2012/08/23/management-by-walking-around-6-tips-to-make-it-work/" TargetMode="External"/><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3" Type="http://schemas.openxmlformats.org/officeDocument/2006/relationships/hyperlink" Target="http://www.industrialrelations.nsw.gov.au/oirwww/Employment_info/Recruitment_and_termination/Disputes_in_the_workplace.page" TargetMode="External"/><Relationship Id="rId2" Type="http://schemas.openxmlformats.org/officeDocument/2006/relationships/slide" Target="../slides/slide115.xml"/><Relationship Id="rId1" Type="http://schemas.openxmlformats.org/officeDocument/2006/relationships/notesMaster" Target="../notesMasters/notesMaster1.xml"/><Relationship Id="rId4" Type="http://schemas.openxmlformats.org/officeDocument/2006/relationships/hyperlink" Target="http://www.wiseworkplace.com.au/knowledge-hub/investigation-practice/tips-grievance-handling" TargetMode="Externa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3" Type="http://schemas.openxmlformats.org/officeDocument/2006/relationships/hyperlink" Target="http://www.hru.uts.edu.au/docs/manual/6_13.pdf" TargetMode="External"/><Relationship Id="rId2" Type="http://schemas.openxmlformats.org/officeDocument/2006/relationships/slide" Target="../slides/slide117.xml"/><Relationship Id="rId1" Type="http://schemas.openxmlformats.org/officeDocument/2006/relationships/notesMaster" Target="../notesMasters/notesMaster1.xml"/><Relationship Id="rId4" Type="http://schemas.openxmlformats.org/officeDocument/2006/relationships/hyperlink" Target="http://www.jcu.edu.au/policy/hr/procedures/JCU_134924.html" TargetMode="Externa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3" Type="http://schemas.openxmlformats.org/officeDocument/2006/relationships/hyperlink" Target="http://www.industrialrelations.nsw.gov.au/biz_res/oirwww/pdfs/workplace_pp.pdf" TargetMode="External"/><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3" Type="http://schemas.openxmlformats.org/officeDocument/2006/relationships/hyperlink" Target="http://www.fairwork.gov.au/about-us/policies-and-guides/best-practice-guides/effective-dispute-resolution" TargetMode="External"/><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3" Type="http://schemas.openxmlformats.org/officeDocument/2006/relationships/hyperlink" Target="http://www.ilo.org/wcmsp5/groups/public/---asia/---ro-bangkok/documents/publication/wcms_185838.pdf" TargetMode="External"/><Relationship Id="rId2" Type="http://schemas.openxmlformats.org/officeDocument/2006/relationships/slide" Target="../slides/slide146.xml"/><Relationship Id="rId1" Type="http://schemas.openxmlformats.org/officeDocument/2006/relationships/notesMaster" Target="../notesMasters/notesMaster1.xml"/><Relationship Id="rId4" Type="http://schemas.openxmlformats.org/officeDocument/2006/relationships/hyperlink" Target="https://www.fwc.gov.au/resolving-issues-disputes-and-dismissals/workplace-issues-disputes/resolving-issues-at-the-workplace" TargetMode="External"/></Relationships>
</file>

<file path=ppt/notesSlides/_rels/notesSlide147.xml.rels><?xml version="1.0" encoding="UTF-8" standalone="yes"?>
<Relationships xmlns="http://schemas.openxmlformats.org/package/2006/relationships"><Relationship Id="rId3" Type="http://schemas.openxmlformats.org/officeDocument/2006/relationships/hyperlink" Target="https://www.fwc.gov.au/resolving-issues-disputes-and-dismissals/resolve-issue-or-dispute" TargetMode="External"/><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students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3214320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two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808107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356520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pPr>
              <a:buFont typeface="Arial" pitchFamily="34" charset="0"/>
              <a:buNone/>
            </a:pPr>
            <a:endParaRPr lang="en-US"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612514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a:buFont typeface="Arial" pitchFamily="34" charset="0"/>
              <a:buChar char="•"/>
            </a:pPr>
            <a:r>
              <a:rPr lang="en-US" baseline="0" dirty="0" smtClean="0"/>
              <a:t>What is meant by ‘workplace relations’?</a:t>
            </a:r>
          </a:p>
          <a:p>
            <a:pPr>
              <a:buFont typeface="Arial" pitchFamily="34" charset="0"/>
              <a:buChar char="•"/>
            </a:pPr>
            <a:r>
              <a:rPr lang="en-US" baseline="0" dirty="0" smtClean="0"/>
              <a:t>What do you think are important/central aspects of workplace relations?</a:t>
            </a:r>
          </a:p>
          <a:p>
            <a:pPr>
              <a:buFont typeface="Arial" pitchFamily="34" charset="0"/>
              <a:buChar char="•"/>
            </a:pPr>
            <a:r>
              <a:rPr lang="en-US" baseline="0" dirty="0" smtClean="0"/>
              <a:t>Who manages and maintains workplace relations?</a:t>
            </a:r>
          </a:p>
          <a:p>
            <a:pPr>
              <a:buFont typeface="Arial" pitchFamily="34" charset="0"/>
              <a:buChar char="•"/>
            </a:pPr>
            <a:r>
              <a:rPr lang="en-US" baseline="0" dirty="0" smtClean="0"/>
              <a:t>Why is proper management of workplace relations important?</a:t>
            </a:r>
          </a:p>
          <a:p>
            <a:pPr>
              <a:buFont typeface="Arial" pitchFamily="34" charset="0"/>
              <a:buChar char="•"/>
            </a:pPr>
            <a:r>
              <a:rPr lang="en-US" baseline="0" dirty="0" smtClean="0"/>
              <a:t>What are ‘Terms of Employment’?</a:t>
            </a:r>
          </a:p>
          <a:p>
            <a:pPr>
              <a:buFont typeface="Arial" pitchFamily="34" charset="0"/>
              <a:buChar char="•"/>
            </a:pPr>
            <a:r>
              <a:rPr lang="en-US" baseline="0" dirty="0" smtClean="0"/>
              <a:t>What are your experiences of workplace relations and how they were managed?</a:t>
            </a:r>
          </a:p>
          <a:p>
            <a:pPr>
              <a:buFont typeface="Arial" pitchFamily="34" charset="0"/>
              <a:buChar char="•"/>
            </a:pPr>
            <a:endParaRPr lang="en-US"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4216945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gives context for the unit </a:t>
            </a:r>
            <a:r>
              <a:rPr lang="en-AU" sz="1200" kern="1200" dirty="0" smtClean="0">
                <a:solidFill>
                  <a:schemeClr val="tx1"/>
                </a:solidFill>
                <a:latin typeface="+mn-lt"/>
                <a:ea typeface="+mn-ea"/>
                <a:cs typeface="+mn-cs"/>
              </a:rPr>
              <a:t>highlighting it:</a:t>
            </a:r>
          </a:p>
          <a:p>
            <a:pPr>
              <a:buFont typeface="Arial" pitchFamily="34" charset="0"/>
              <a:buChar char="•"/>
            </a:pPr>
            <a:r>
              <a:rPr lang="en-AU" sz="1200" kern="1200" dirty="0" smtClean="0">
                <a:solidFill>
                  <a:schemeClr val="tx1"/>
                </a:solidFill>
                <a:latin typeface="+mn-lt"/>
                <a:ea typeface="+mn-ea"/>
                <a:cs typeface="+mn-cs"/>
              </a:rPr>
              <a:t>Deals with the skills and knowledge required to manage and maintain workplace relations in a range of settings within the in the hotel industries workplace context.</a:t>
            </a:r>
          </a:p>
          <a:p>
            <a:pPr>
              <a:buFont typeface="Arial" pitchFamily="34" charset="0"/>
              <a:buChar char="•"/>
            </a:pPr>
            <a:r>
              <a:rPr lang="en-AU" sz="1200" kern="1200" dirty="0" smtClean="0">
                <a:solidFill>
                  <a:schemeClr val="tx1"/>
                </a:solidFill>
                <a:latin typeface="+mn-lt"/>
                <a:ea typeface="+mn-ea"/>
                <a:cs typeface="+mn-cs"/>
              </a:rPr>
              <a:t>Is intended for management-level employees and workplace supervisors</a:t>
            </a:r>
          </a:p>
          <a:p>
            <a:pPr>
              <a:buFont typeface="Arial" pitchFamily="34" charset="0"/>
              <a:buChar char="•"/>
            </a:pPr>
            <a:r>
              <a:rPr lang="en-AU" sz="1200" kern="1200" dirty="0" smtClean="0">
                <a:solidFill>
                  <a:schemeClr val="tx1"/>
                </a:solidFill>
                <a:latin typeface="+mn-lt"/>
                <a:ea typeface="+mn-ea"/>
                <a:cs typeface="+mn-cs"/>
              </a:rPr>
              <a:t>Must accommodate:</a:t>
            </a:r>
          </a:p>
          <a:p>
            <a:pPr lvl="1">
              <a:buFont typeface="Arial" pitchFamily="34" charset="0"/>
              <a:buChar char="•"/>
            </a:pPr>
            <a:r>
              <a:rPr lang="en-AU" sz="1200" kern="1200" dirty="0" smtClean="0">
                <a:solidFill>
                  <a:schemeClr val="tx1"/>
                </a:solidFill>
                <a:latin typeface="+mn-lt"/>
                <a:ea typeface="+mn-ea"/>
                <a:cs typeface="+mn-cs"/>
              </a:rPr>
              <a:t>The legislation and local laws which apply to individual countries and specific industries</a:t>
            </a:r>
          </a:p>
          <a:p>
            <a:pPr lvl="1">
              <a:buFont typeface="Arial" pitchFamily="34" charset="0"/>
              <a:buChar char="•"/>
            </a:pPr>
            <a:r>
              <a:rPr lang="en-AU" sz="1200" kern="1200" dirty="0" smtClean="0">
                <a:solidFill>
                  <a:schemeClr val="tx1"/>
                </a:solidFill>
                <a:latin typeface="+mn-lt"/>
                <a:ea typeface="+mn-ea"/>
                <a:cs typeface="+mn-cs"/>
              </a:rPr>
              <a:t>The requirements which apply to different employers as they have established and operate their own protocols relating to workplace relations.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7858553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advises </a:t>
            </a:r>
            <a:r>
              <a:rPr lang="en-AU" sz="1200" kern="1200" dirty="0" smtClean="0">
                <a:solidFill>
                  <a:schemeClr val="tx1"/>
                </a:solidFill>
                <a:latin typeface="+mn-lt"/>
                <a:ea typeface="+mn-ea"/>
                <a:cs typeface="+mn-cs"/>
              </a:rPr>
              <a:t>ASEAN Ministers of Labour have adopted a set of nine ‘Guidelines on Good Industrial Relations Practice’ explaining these cover/address:</a:t>
            </a:r>
          </a:p>
          <a:p>
            <a:pPr lvl="0"/>
            <a:r>
              <a:rPr lang="en-AU" sz="1200" b="1" kern="1200" dirty="0" smtClean="0">
                <a:solidFill>
                  <a:schemeClr val="tx1"/>
                </a:solidFill>
                <a:latin typeface="+mn-lt"/>
                <a:ea typeface="+mn-ea"/>
                <a:cs typeface="+mn-cs"/>
              </a:rPr>
              <a:t>(1) Legal framework</a:t>
            </a:r>
          </a:p>
          <a:p>
            <a:r>
              <a:rPr lang="en-AU" sz="1200" kern="1200" dirty="0" smtClean="0">
                <a:solidFill>
                  <a:schemeClr val="tx1"/>
                </a:solidFill>
                <a:latin typeface="+mn-lt"/>
                <a:ea typeface="+mn-ea"/>
                <a:cs typeface="+mn-cs"/>
              </a:rPr>
              <a:t>This identifies the need for a sound legal framework to underpin and provide the basis for IR practice.</a:t>
            </a:r>
          </a:p>
          <a:p>
            <a:r>
              <a:rPr lang="en-AU" sz="1200" kern="1200" dirty="0" smtClean="0">
                <a:solidFill>
                  <a:schemeClr val="tx1"/>
                </a:solidFill>
                <a:latin typeface="+mn-lt"/>
                <a:ea typeface="+mn-ea"/>
                <a:cs typeface="+mn-cs"/>
              </a:rPr>
              <a:t>The framework “...needs to take into account national economic and social conditions and in particular guarantee and protect the basic rights and requirements of employers to manage their business and to grow and that of the workers to just working conditions, stable employment, minimum standards, a safe and healthy working environment and to express their views as well as participate in decision-making that have significant implications for themselves or their workplace.”</a:t>
            </a:r>
          </a:p>
          <a:p>
            <a:r>
              <a:rPr lang="en-AU" sz="1200" kern="1200" dirty="0" smtClean="0">
                <a:solidFill>
                  <a:schemeClr val="tx1"/>
                </a:solidFill>
                <a:latin typeface="+mn-lt"/>
                <a:ea typeface="+mn-ea"/>
                <a:cs typeface="+mn-cs"/>
              </a:rPr>
              <a:t>It is a requirement labour laws are “... clear, reasonable, practical and effectively and evenly implemented.”</a:t>
            </a:r>
          </a:p>
          <a:p>
            <a:pPr lvl="0"/>
            <a:endParaRPr lang="en-AU" sz="1200" kern="1200" dirty="0" smtClean="0">
              <a:solidFill>
                <a:schemeClr val="tx1"/>
              </a:solidFill>
              <a:latin typeface="+mn-lt"/>
              <a:ea typeface="+mn-ea"/>
              <a:cs typeface="+mn-cs"/>
            </a:endParaRPr>
          </a:p>
          <a:p>
            <a:pPr lvl="0"/>
            <a:r>
              <a:rPr lang="en-AU" sz="1200" b="1" kern="1200" dirty="0" smtClean="0">
                <a:solidFill>
                  <a:schemeClr val="tx1"/>
                </a:solidFill>
                <a:latin typeface="+mn-lt"/>
                <a:ea typeface="+mn-ea"/>
                <a:cs typeface="+mn-cs"/>
              </a:rPr>
              <a:t>(2) Fundamental rights of employers and workers</a:t>
            </a:r>
          </a:p>
          <a:p>
            <a:r>
              <a:rPr lang="en-AU" sz="1200" kern="1200" dirty="0" smtClean="0">
                <a:solidFill>
                  <a:schemeClr val="tx1"/>
                </a:solidFill>
                <a:latin typeface="+mn-lt"/>
                <a:ea typeface="+mn-ea"/>
                <a:cs typeface="+mn-cs"/>
              </a:rPr>
              <a:t>This gives employers and employees the right to organise and represent themselves.</a:t>
            </a:r>
          </a:p>
          <a:p>
            <a:r>
              <a:rPr lang="en-AU" sz="1200" kern="1200" dirty="0" smtClean="0">
                <a:solidFill>
                  <a:schemeClr val="tx1"/>
                </a:solidFill>
                <a:latin typeface="+mn-lt"/>
                <a:ea typeface="+mn-ea"/>
                <a:cs typeface="+mn-cs"/>
              </a:rPr>
              <a:t>Inherent in this are rights in relation to Freedom of association and Collective bargaining subject to Member State conventions.</a:t>
            </a:r>
          </a:p>
          <a:p>
            <a:r>
              <a:rPr lang="en-AU" sz="1200" kern="1200" dirty="0" smtClean="0">
                <a:solidFill>
                  <a:schemeClr val="tx1"/>
                </a:solidFill>
                <a:latin typeface="+mn-lt"/>
                <a:ea typeface="+mn-ea"/>
                <a:cs typeface="+mn-cs"/>
              </a:rPr>
              <a:t>“This basic human right goes together with freedom of expression and is the basis of democratic representation and governance. Collective bargaining is a process through which employers and trade unions discuss and negotiate their relations particularly the terms and conditions of work with a view of reaching mutually acceptable collective agreements. In their absence of union representation, workers and employers should consult one another to manage labour disputes according to the terms and conditions set out by the laws and/or regulations of individual countries. This should include an adequate grievance handling mechanism to facilitate the amicable resolution of disputes.”</a:t>
            </a:r>
          </a:p>
          <a:p>
            <a:pPr>
              <a:buFont typeface="Arial" pitchFamily="34" charset="0"/>
              <a:buNone/>
            </a:pPr>
            <a:r>
              <a:rPr lang="en-AU" sz="1200" kern="1200" dirty="0" smtClean="0">
                <a:solidFill>
                  <a:schemeClr val="tx1"/>
                </a:solidFill>
                <a:latin typeface="+mn-lt"/>
                <a:ea typeface="+mn-ea"/>
                <a:cs typeface="+mn-cs"/>
              </a:rPr>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6549001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and explaining the </a:t>
            </a:r>
            <a:r>
              <a:rPr lang="en-AU" sz="1200" kern="1200" dirty="0" smtClean="0">
                <a:solidFill>
                  <a:schemeClr val="tx1"/>
                </a:solidFill>
                <a:latin typeface="+mn-lt"/>
                <a:ea typeface="+mn-ea"/>
                <a:cs typeface="+mn-cs"/>
              </a:rPr>
              <a:t>set of nine ‘Guidelines on Good Industrial Relations Practice’  adopted by the ASEAN Ministers of Labour: </a:t>
            </a:r>
          </a:p>
          <a:p>
            <a:pPr lvl="0"/>
            <a:r>
              <a:rPr lang="en-AU" sz="1200" b="1" kern="1200" dirty="0" smtClean="0">
                <a:solidFill>
                  <a:schemeClr val="tx1"/>
                </a:solidFill>
                <a:latin typeface="+mn-lt"/>
                <a:ea typeface="+mn-ea"/>
                <a:cs typeface="+mn-cs"/>
              </a:rPr>
              <a:t>(3) Bipartite cooperation and collaboration</a:t>
            </a:r>
          </a:p>
          <a:p>
            <a:r>
              <a:rPr lang="en-AU" sz="1200" kern="1200" dirty="0" smtClean="0">
                <a:solidFill>
                  <a:schemeClr val="tx1"/>
                </a:solidFill>
                <a:latin typeface="+mn-lt"/>
                <a:ea typeface="+mn-ea"/>
                <a:cs typeface="+mn-cs"/>
              </a:rPr>
              <a:t>This highlights the need for good relations between employers and employees with reference to issues such as “...Harmonious, productive and stable industrial relations.”</a:t>
            </a:r>
          </a:p>
          <a:p>
            <a:r>
              <a:rPr lang="en-AU" sz="1200" kern="1200" dirty="0" smtClean="0">
                <a:solidFill>
                  <a:schemeClr val="tx1"/>
                </a:solidFill>
                <a:latin typeface="+mn-lt"/>
                <a:ea typeface="+mn-ea"/>
                <a:cs typeface="+mn-cs"/>
              </a:rPr>
              <a:t>“At the shop-floor level, various subjects of common interests to labour and management are discussed in bipartite mechanisms including productivity improvement, gain-sharing, recruitment and dismissal, safety and health and grievance handling. The strengthening and development of effective bipartite collaboration and cooperation including the negotiation skills of workers and employers are important requirements of good industrial relations.”</a:t>
            </a:r>
          </a:p>
          <a:p>
            <a:pPr lvl="0"/>
            <a:endParaRPr lang="en-AU" sz="1200" kern="1200" dirty="0" smtClean="0">
              <a:solidFill>
                <a:schemeClr val="tx1"/>
              </a:solidFill>
              <a:latin typeface="+mn-lt"/>
              <a:ea typeface="+mn-ea"/>
              <a:cs typeface="+mn-cs"/>
            </a:endParaRPr>
          </a:p>
          <a:p>
            <a:pPr lvl="0"/>
            <a:r>
              <a:rPr lang="en-AU" sz="1200" b="1" kern="1200" dirty="0" smtClean="0">
                <a:solidFill>
                  <a:schemeClr val="tx1"/>
                </a:solidFill>
                <a:latin typeface="+mn-lt"/>
                <a:ea typeface="+mn-ea"/>
                <a:cs typeface="+mn-cs"/>
              </a:rPr>
              <a:t>(4) Building mutual trust and respect</a:t>
            </a:r>
          </a:p>
          <a:p>
            <a:r>
              <a:rPr lang="en-AU" sz="1200" kern="1200" dirty="0" smtClean="0">
                <a:solidFill>
                  <a:schemeClr val="tx1"/>
                </a:solidFill>
                <a:latin typeface="+mn-lt"/>
                <a:ea typeface="+mn-ea"/>
                <a:cs typeface="+mn-cs"/>
              </a:rPr>
              <a:t>This avoids the negative sentiment which can occur in workplace relations.</a:t>
            </a:r>
          </a:p>
          <a:p>
            <a:r>
              <a:rPr lang="en-AU" sz="1200" kern="1200" dirty="0" smtClean="0">
                <a:solidFill>
                  <a:schemeClr val="tx1"/>
                </a:solidFill>
                <a:latin typeface="+mn-lt"/>
                <a:ea typeface="+mn-ea"/>
                <a:cs typeface="+mn-cs"/>
              </a:rPr>
              <a:t>“Mutual trust and respect are essential and must be fostered to pave the way for frank and productive discussion and exchange of views and genuine consensus between labor and management on the strategic direction and response to common challenges and issues.”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1550279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a:t>
            </a:r>
            <a:r>
              <a:rPr lang="en-AU" baseline="0" noProof="0" dirty="0" smtClean="0"/>
              <a:t> continues presenting and explaining the </a:t>
            </a:r>
            <a:r>
              <a:rPr lang="en-AU" sz="1200" kern="1200" dirty="0" smtClean="0">
                <a:solidFill>
                  <a:schemeClr val="tx1"/>
                </a:solidFill>
                <a:latin typeface="+mn-lt"/>
                <a:ea typeface="+mn-ea"/>
                <a:cs typeface="+mn-cs"/>
              </a:rPr>
              <a:t>set of nine ‘Guidelines on Good Industrial Relations Practice’  adopted by the ASEAN Ministers of Labour: </a:t>
            </a:r>
          </a:p>
          <a:p>
            <a:pPr lvl="0"/>
            <a:r>
              <a:rPr lang="en-AU" sz="1200" b="1" kern="1200" dirty="0" smtClean="0">
                <a:solidFill>
                  <a:schemeClr val="tx1"/>
                </a:solidFill>
                <a:latin typeface="+mn-lt"/>
                <a:ea typeface="+mn-ea"/>
                <a:cs typeface="+mn-cs"/>
              </a:rPr>
              <a:t>(5) Mutuality of purpose and benefits</a:t>
            </a:r>
          </a:p>
          <a:p>
            <a:r>
              <a:rPr lang="en-AU" sz="1200" kern="1200" dirty="0" smtClean="0">
                <a:solidFill>
                  <a:schemeClr val="tx1"/>
                </a:solidFill>
                <a:latin typeface="+mn-lt"/>
                <a:ea typeface="+mn-ea"/>
                <a:cs typeface="+mn-cs"/>
              </a:rPr>
              <a:t>There needs to be shared purposes, goals, objectives and vision with the intention of developing win-win outcomes.</a:t>
            </a:r>
          </a:p>
          <a:p>
            <a:r>
              <a:rPr lang="en-AU" sz="1200" kern="1200" dirty="0" smtClean="0">
                <a:solidFill>
                  <a:schemeClr val="tx1"/>
                </a:solidFill>
                <a:latin typeface="+mn-lt"/>
                <a:ea typeface="+mn-ea"/>
                <a:cs typeface="+mn-cs"/>
              </a:rPr>
              <a:t>“The needs and expectations of all stakeholders should be taken into account and the resulting benefits be clearly seen and understood by employers and workers. Government, employers and workers have an important role to play and responsibility to discharge to bring about sustainable economic and social progress. They need to commit to work together, as a shared responsibility, to reach consensus on various workplace, economic and social issues including competitiveness, productivity and employment stability.”</a:t>
            </a:r>
          </a:p>
          <a:p>
            <a:pPr lvl="0"/>
            <a:endParaRPr lang="en-AU" sz="1200" kern="1200" dirty="0" smtClean="0">
              <a:solidFill>
                <a:schemeClr val="tx1"/>
              </a:solidFill>
              <a:latin typeface="+mn-lt"/>
              <a:ea typeface="+mn-ea"/>
              <a:cs typeface="+mn-cs"/>
            </a:endParaRPr>
          </a:p>
          <a:p>
            <a:pPr lvl="0"/>
            <a:r>
              <a:rPr lang="en-AU" sz="1200" b="1" kern="1200" dirty="0" smtClean="0">
                <a:solidFill>
                  <a:schemeClr val="tx1"/>
                </a:solidFill>
                <a:latin typeface="+mn-lt"/>
                <a:ea typeface="+mn-ea"/>
                <a:cs typeface="+mn-cs"/>
              </a:rPr>
              <a:t>(6) Dignity at work and highlighting best practices</a:t>
            </a:r>
          </a:p>
          <a:p>
            <a:r>
              <a:rPr lang="en-AU" sz="1200" kern="1200" dirty="0" smtClean="0">
                <a:solidFill>
                  <a:schemeClr val="tx1"/>
                </a:solidFill>
                <a:latin typeface="+mn-lt"/>
                <a:ea typeface="+mn-ea"/>
                <a:cs typeface="+mn-cs"/>
              </a:rPr>
              <a:t>This emphasises the role of labour as a service provided by human beings/people and highlights it is not a ‘commodity’.</a:t>
            </a:r>
          </a:p>
          <a:p>
            <a:r>
              <a:rPr lang="en-AU" sz="1200" kern="1200" dirty="0" smtClean="0">
                <a:solidFill>
                  <a:schemeClr val="tx1"/>
                </a:solidFill>
                <a:latin typeface="+mn-lt"/>
                <a:ea typeface="+mn-ea"/>
                <a:cs typeface="+mn-cs"/>
              </a:rPr>
              <a:t>“Work ought to be a source of dignity and fulfilment and not of exploitation and frustration. Successful and best practices or procedures employed by workers and employers can be identified, catalogued, reported and widely disseminated for the purpose of replication. This includes the publication of case studies that provide in-depth analysis of important joint action of labour and management on various aspects of the employment relationship.”</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pPr>
              <a:buFont typeface="Arial" pitchFamily="34" charset="0"/>
              <a:buNone/>
            </a:pPr>
            <a:r>
              <a:rPr lang="en-AU" sz="1200" u="sng" kern="1200" dirty="0" smtClean="0">
                <a:solidFill>
                  <a:schemeClr val="tx1"/>
                </a:solidFill>
                <a:latin typeface="+mn-lt"/>
                <a:ea typeface="+mn-ea"/>
                <a:cs typeface="+mn-cs"/>
                <a:hlinkClick r:id="rId3"/>
              </a:rPr>
              <a:t>http://www.google.com.au/url?sa=t&amp;rct=j&amp;q=&amp;esrc=s&amp;source=web&amp;cd=2&amp;ved=0CCUQFjAB&amp;url=http%3A%2F%2Fapirnet.ilo.org%2Fresources%2Fasean-guidelines-on-good-industrial-relations-practices%2Fat_download%2Ffile1&amp;ei=PRGVVJS-JYaD8gX6w4GABg&amp;usg=AFQjCNEuAH0VlBcwqvpiKC2JuR7T8VoeAg&amp;bvm=bv.82001339,d.dGc</a:t>
            </a:r>
            <a:r>
              <a:rPr lang="en-AU" sz="1200" kern="1200" dirty="0" smtClean="0">
                <a:solidFill>
                  <a:schemeClr val="tx1"/>
                </a:solidFill>
                <a:latin typeface="+mn-lt"/>
                <a:ea typeface="+mn-ea"/>
                <a:cs typeface="+mn-cs"/>
              </a:rPr>
              <a:t> - ASEAN Guidelines on Good Industrial Relations Practices</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3280995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AU" noProof="0" dirty="0" smtClean="0"/>
              <a:t>Trainer</a:t>
            </a:r>
            <a:r>
              <a:rPr lang="en-AU" baseline="0" noProof="0" dirty="0" smtClean="0"/>
              <a:t> continues presenting and explaining the </a:t>
            </a:r>
            <a:r>
              <a:rPr lang="en-AU" sz="1200" kern="1200" dirty="0" smtClean="0">
                <a:solidFill>
                  <a:schemeClr val="tx1"/>
                </a:solidFill>
                <a:latin typeface="+mn-lt"/>
                <a:ea typeface="+mn-ea"/>
                <a:cs typeface="+mn-cs"/>
              </a:rPr>
              <a:t>set of nine ‘Guidelines on Good Industrial Relations Practice’  adopted by the ASEAN Ministers of Labour: </a:t>
            </a:r>
          </a:p>
          <a:p>
            <a:pPr lvl="0"/>
            <a:r>
              <a:rPr lang="en-AU" sz="1200" b="1" kern="1200" dirty="0" smtClean="0">
                <a:solidFill>
                  <a:schemeClr val="tx1"/>
                </a:solidFill>
                <a:latin typeface="+mn-lt"/>
                <a:ea typeface="+mn-ea"/>
                <a:cs typeface="+mn-cs"/>
              </a:rPr>
              <a:t>(7) Good faith behaviour</a:t>
            </a:r>
          </a:p>
          <a:p>
            <a:r>
              <a:rPr lang="en-AU" sz="1200" kern="1200" dirty="0" smtClean="0">
                <a:solidFill>
                  <a:schemeClr val="tx1"/>
                </a:solidFill>
                <a:latin typeface="+mn-lt"/>
                <a:ea typeface="+mn-ea"/>
                <a:cs typeface="+mn-cs"/>
              </a:rPr>
              <a:t>This Guideline stresses the importance of honesty, integrity and openness in all IR matters.</a:t>
            </a:r>
          </a:p>
          <a:p>
            <a:r>
              <a:rPr lang="en-AU" sz="1200" kern="1200" dirty="0" smtClean="0">
                <a:solidFill>
                  <a:schemeClr val="tx1"/>
                </a:solidFill>
                <a:latin typeface="+mn-lt"/>
                <a:ea typeface="+mn-ea"/>
                <a:cs typeface="+mn-cs"/>
              </a:rPr>
              <a:t>“Every effort must be made to reach an agreement through genuine and constructive negotiations. Unjustified delays in negotiations should be avoided and agreed terms of employment must be performed by every worker and employer in good faith. Industrial relations particularly negotiations must be conducted professionally and competently and the parties should work together to resolve issues fairly and expeditiously.”</a:t>
            </a:r>
          </a:p>
          <a:p>
            <a:pPr lvl="0"/>
            <a:endParaRPr lang="en-AU" sz="1200" kern="1200" dirty="0" smtClean="0">
              <a:solidFill>
                <a:schemeClr val="tx1"/>
              </a:solidFill>
              <a:latin typeface="+mn-lt"/>
              <a:ea typeface="+mn-ea"/>
              <a:cs typeface="+mn-cs"/>
            </a:endParaRPr>
          </a:p>
          <a:p>
            <a:pPr lvl="0"/>
            <a:r>
              <a:rPr lang="en-AU" sz="1200" b="1" kern="1200" dirty="0" smtClean="0">
                <a:solidFill>
                  <a:schemeClr val="tx1"/>
                </a:solidFill>
                <a:latin typeface="+mn-lt"/>
                <a:ea typeface="+mn-ea"/>
                <a:cs typeface="+mn-cs"/>
              </a:rPr>
              <a:t>(8) Effective labour dispute settlement</a:t>
            </a:r>
          </a:p>
          <a:p>
            <a:r>
              <a:rPr lang="en-AU" sz="1200" kern="1200" dirty="0" smtClean="0">
                <a:solidFill>
                  <a:schemeClr val="tx1"/>
                </a:solidFill>
                <a:latin typeface="+mn-lt"/>
                <a:ea typeface="+mn-ea"/>
                <a:cs typeface="+mn-cs"/>
              </a:rPr>
              <a:t>This speaks to the requirements for dispute resolution and the need for fair and effective protocols to be developed and used.</a:t>
            </a:r>
          </a:p>
          <a:p>
            <a:r>
              <a:rPr lang="en-AU" sz="1200" kern="1200" dirty="0" smtClean="0">
                <a:solidFill>
                  <a:schemeClr val="tx1"/>
                </a:solidFill>
                <a:latin typeface="+mn-lt"/>
                <a:ea typeface="+mn-ea"/>
                <a:cs typeface="+mn-cs"/>
              </a:rPr>
              <a:t>“It shall be ensured that during a labour dispute settlement process, the employers have to fulfil the workers’ rights properly. Such processes and machineries also cover the minimization and prevention of conflicts such as by providing relationship development, training programs in problem-solving techniques to resolve problems on an ongoing basis, and assisting parties to navigate the process of change and jointly agree on a strategy to create or take advantage of new opportunities.”</a:t>
            </a:r>
          </a:p>
          <a:p>
            <a:pPr lvl="0"/>
            <a:endParaRPr lang="en-AU" sz="1200" kern="1200" dirty="0" smtClean="0">
              <a:solidFill>
                <a:schemeClr val="tx1"/>
              </a:solidFill>
              <a:latin typeface="+mn-lt"/>
              <a:ea typeface="+mn-ea"/>
              <a:cs typeface="+mn-cs"/>
            </a:endParaRPr>
          </a:p>
          <a:p>
            <a:pPr lvl="0"/>
            <a:r>
              <a:rPr lang="en-AU" sz="1200" b="1" kern="1200" dirty="0" smtClean="0">
                <a:solidFill>
                  <a:schemeClr val="tx1"/>
                </a:solidFill>
                <a:latin typeface="+mn-lt"/>
                <a:ea typeface="+mn-ea"/>
                <a:cs typeface="+mn-cs"/>
              </a:rPr>
              <a:t>(9) Tripartite partnership and social dialogue</a:t>
            </a:r>
          </a:p>
          <a:p>
            <a:r>
              <a:rPr lang="en-AU" sz="1200" kern="1200" dirty="0" smtClean="0">
                <a:solidFill>
                  <a:schemeClr val="tx1"/>
                </a:solidFill>
                <a:latin typeface="+mn-lt"/>
                <a:ea typeface="+mn-ea"/>
                <a:cs typeface="+mn-cs"/>
              </a:rPr>
              <a:t>This underscores the need for government, employers and workers to combine/unite to optimise work, social and economic outcomes.</a:t>
            </a:r>
          </a:p>
          <a:p>
            <a:r>
              <a:rPr lang="en-AU" sz="1200" kern="1200" dirty="0" smtClean="0">
                <a:solidFill>
                  <a:schemeClr val="tx1"/>
                </a:solidFill>
                <a:latin typeface="+mn-lt"/>
                <a:ea typeface="+mn-ea"/>
                <a:cs typeface="+mn-cs"/>
              </a:rPr>
              <a:t>“A more structured framework can provide the necessary platform to tackle problems and work together more effectively to overcome even the most complex challenges and issues. Fair terms of employment, decent working conditions and economic and social development are best achieved with the broad-based efforts, collaboration and consent of workers, employers and government. It is therefore imperative to strengthen tripartism and social dialogue and the role of governments, employers’ and workers organizations specially their capacity to engage in and promote labour management cooperation and tripartite partnership.”</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525731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introduces </a:t>
            </a:r>
            <a:r>
              <a:rPr lang="en-AU" sz="1200" kern="1200" dirty="0" smtClean="0">
                <a:solidFill>
                  <a:schemeClr val="tx1"/>
                </a:solidFill>
                <a:latin typeface="+mn-lt"/>
                <a:ea typeface="+mn-ea"/>
                <a:cs typeface="+mn-cs"/>
              </a:rPr>
              <a:t>‘Conditions of employment’ stating they:</a:t>
            </a:r>
          </a:p>
          <a:p>
            <a:pPr>
              <a:buFont typeface="Arial" pitchFamily="34" charset="0"/>
              <a:buChar char="•"/>
            </a:pPr>
            <a:r>
              <a:rPr lang="en-AU" sz="1200" kern="1200" dirty="0" smtClean="0">
                <a:solidFill>
                  <a:schemeClr val="tx1"/>
                </a:solidFill>
                <a:latin typeface="+mn-lt"/>
                <a:ea typeface="+mn-ea"/>
                <a:cs typeface="+mn-cs"/>
              </a:rPr>
              <a:t>Are the terms and conditions under which a person is employed.</a:t>
            </a:r>
          </a:p>
          <a:p>
            <a:pPr>
              <a:buFont typeface="Arial" pitchFamily="34" charset="0"/>
              <a:buChar char="•"/>
            </a:pPr>
            <a:r>
              <a:rPr lang="en-AU" sz="1200" kern="1200" dirty="0" smtClean="0">
                <a:solidFill>
                  <a:schemeClr val="tx1"/>
                </a:solidFill>
                <a:latin typeface="+mn-lt"/>
                <a:ea typeface="+mn-ea"/>
                <a:cs typeface="+mn-cs"/>
              </a:rPr>
              <a:t>Represent the agreed </a:t>
            </a:r>
            <a:r>
              <a:rPr lang="en-AU" sz="1200" i="1" kern="1200" dirty="0" smtClean="0">
                <a:solidFill>
                  <a:schemeClr val="tx1"/>
                </a:solidFill>
                <a:latin typeface="+mn-lt"/>
                <a:ea typeface="+mn-ea"/>
                <a:cs typeface="+mn-cs"/>
              </a:rPr>
              <a:t>minimum</a:t>
            </a:r>
            <a:r>
              <a:rPr lang="en-AU" sz="1200" kern="1200" dirty="0" smtClean="0">
                <a:solidFill>
                  <a:schemeClr val="tx1"/>
                </a:solidFill>
                <a:latin typeface="+mn-lt"/>
                <a:ea typeface="+mn-ea"/>
                <a:cs typeface="+mn-cs"/>
              </a:rPr>
              <a:t> arrangements under which the employment relationship takes place</a:t>
            </a:r>
          </a:p>
          <a:p>
            <a:pPr>
              <a:buFont typeface="Arial" pitchFamily="34" charset="0"/>
              <a:buChar char="•"/>
            </a:pPr>
            <a:r>
              <a:rPr lang="en-AU" sz="1200" kern="1200" dirty="0" smtClean="0">
                <a:solidFill>
                  <a:schemeClr val="tx1"/>
                </a:solidFill>
                <a:latin typeface="+mn-lt"/>
                <a:ea typeface="+mn-ea"/>
                <a:cs typeface="+mn-cs"/>
              </a:rPr>
              <a:t>Must be adhered to by employers and employees</a:t>
            </a:r>
          </a:p>
          <a:p>
            <a:pPr>
              <a:buFont typeface="Arial" pitchFamily="34" charset="0"/>
              <a:buChar char="•"/>
            </a:pPr>
            <a:r>
              <a:rPr lang="en-AU" sz="1200" kern="1200" dirty="0" smtClean="0">
                <a:solidFill>
                  <a:schemeClr val="tx1"/>
                </a:solidFill>
                <a:latin typeface="+mn-lt"/>
                <a:ea typeface="+mn-ea"/>
                <a:cs typeface="+mn-cs"/>
              </a:rPr>
              <a:t>Form the basis of the employment contract for an individual.</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1298973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discussing </a:t>
            </a:r>
            <a:r>
              <a:rPr lang="en-AU" sz="1200" kern="1200" dirty="0" smtClean="0">
                <a:solidFill>
                  <a:schemeClr val="tx1"/>
                </a:solidFill>
                <a:latin typeface="+mn-lt"/>
                <a:ea typeface="+mn-ea"/>
                <a:cs typeface="+mn-cs"/>
              </a:rPr>
              <a:t>‘Conditions of employment’ noting they may be:</a:t>
            </a:r>
          </a:p>
          <a:p>
            <a:pPr>
              <a:buFont typeface="Arial" pitchFamily="34" charset="0"/>
              <a:buChar char="•"/>
            </a:pPr>
            <a:r>
              <a:rPr lang="en-AU" sz="1200" kern="1200" dirty="0" smtClean="0">
                <a:solidFill>
                  <a:schemeClr val="tx1"/>
                </a:solidFill>
                <a:latin typeface="+mn-lt"/>
                <a:ea typeface="+mn-ea"/>
                <a:cs typeface="+mn-cs"/>
              </a:rPr>
              <a:t>Prescribed by legislation</a:t>
            </a:r>
          </a:p>
          <a:p>
            <a:pPr>
              <a:buFont typeface="Arial" pitchFamily="34" charset="0"/>
              <a:buChar char="•"/>
            </a:pPr>
            <a:r>
              <a:rPr lang="en-AU" sz="1200" kern="1200" dirty="0" smtClean="0">
                <a:solidFill>
                  <a:schemeClr val="tx1"/>
                </a:solidFill>
                <a:latin typeface="+mn-lt"/>
                <a:ea typeface="+mn-ea"/>
                <a:cs typeface="+mn-cs"/>
              </a:rPr>
              <a:t>Contained in a standard contract</a:t>
            </a:r>
          </a:p>
          <a:p>
            <a:pPr>
              <a:buFont typeface="Arial" pitchFamily="34" charset="0"/>
              <a:buChar char="•"/>
            </a:pPr>
            <a:r>
              <a:rPr lang="en-AU" sz="1200" kern="1200" dirty="0" smtClean="0">
                <a:solidFill>
                  <a:schemeClr val="tx1"/>
                </a:solidFill>
                <a:latin typeface="+mn-lt"/>
                <a:ea typeface="+mn-ea"/>
                <a:cs typeface="+mn-cs"/>
              </a:rPr>
              <a:t>Negotiated with an employer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451244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a:t>
            </a:r>
            <a:r>
              <a:rPr lang="en-AU" baseline="0" noProof="0" dirty="0" smtClean="0"/>
              <a:t> observes </a:t>
            </a:r>
            <a:r>
              <a:rPr lang="en-AU" sz="1200" kern="1200" dirty="0" smtClean="0">
                <a:solidFill>
                  <a:schemeClr val="tx1"/>
                </a:solidFill>
                <a:latin typeface="+mn-lt"/>
                <a:ea typeface="+mn-ea"/>
                <a:cs typeface="+mn-cs"/>
              </a:rPr>
              <a:t>Contents of ‘Conditions of employment’ can relate to a very wide range of topics including:</a:t>
            </a:r>
          </a:p>
          <a:p>
            <a:r>
              <a:rPr lang="en-AU" sz="1200" b="1" kern="1200" dirty="0" smtClean="0">
                <a:solidFill>
                  <a:schemeClr val="tx1"/>
                </a:solidFill>
                <a:latin typeface="+mn-lt"/>
                <a:ea typeface="+mn-ea"/>
                <a:cs typeface="+mn-cs"/>
              </a:rPr>
              <a:t>Probationary period</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a:t>
            </a:r>
          </a:p>
          <a:p>
            <a:pPr>
              <a:buFont typeface="Arial" pitchFamily="34" charset="0"/>
              <a:buChar char="•"/>
            </a:pPr>
            <a:r>
              <a:rPr lang="en-AU" sz="1200" kern="1200" dirty="0" smtClean="0">
                <a:solidFill>
                  <a:schemeClr val="tx1"/>
                </a:solidFill>
                <a:latin typeface="+mn-lt"/>
                <a:ea typeface="+mn-ea"/>
                <a:cs typeface="+mn-cs"/>
              </a:rPr>
              <a:t>Relates to a period when the employee starts working for the organisation</a:t>
            </a:r>
          </a:p>
          <a:p>
            <a:pPr>
              <a:buFont typeface="Arial" pitchFamily="34" charset="0"/>
              <a:buChar char="•"/>
            </a:pPr>
            <a:r>
              <a:rPr lang="en-AU" sz="1200" kern="1200" dirty="0" smtClean="0">
                <a:solidFill>
                  <a:schemeClr val="tx1"/>
                </a:solidFill>
                <a:latin typeface="+mn-lt"/>
                <a:ea typeface="+mn-ea"/>
                <a:cs typeface="+mn-cs"/>
              </a:rPr>
              <a:t>Is a trial period</a:t>
            </a:r>
          </a:p>
          <a:p>
            <a:pPr>
              <a:buFont typeface="Arial" pitchFamily="34" charset="0"/>
              <a:buChar char="•"/>
            </a:pPr>
            <a:r>
              <a:rPr lang="en-AU" sz="1200" kern="1200" dirty="0" smtClean="0">
                <a:solidFill>
                  <a:schemeClr val="tx1"/>
                </a:solidFill>
                <a:latin typeface="+mn-lt"/>
                <a:ea typeface="+mn-ea"/>
                <a:cs typeface="+mn-cs"/>
              </a:rPr>
              <a:t>Gives the employer time to determine if the new employee is suitable for the position</a:t>
            </a:r>
          </a:p>
          <a:p>
            <a:pPr>
              <a:buFont typeface="Arial" pitchFamily="34" charset="0"/>
              <a:buChar char="•"/>
            </a:pPr>
            <a:r>
              <a:rPr lang="en-AU" sz="1200" kern="1200" dirty="0" smtClean="0">
                <a:solidFill>
                  <a:schemeClr val="tx1"/>
                </a:solidFill>
                <a:latin typeface="+mn-lt"/>
                <a:ea typeface="+mn-ea"/>
                <a:cs typeface="+mn-cs"/>
              </a:rPr>
              <a:t>Usually last for three months</a:t>
            </a:r>
          </a:p>
          <a:p>
            <a:pPr>
              <a:buFont typeface="Arial" pitchFamily="34" charset="0"/>
              <a:buChar char="•"/>
            </a:pPr>
            <a:r>
              <a:rPr lang="en-AU" sz="1200" kern="1200" dirty="0" smtClean="0">
                <a:solidFill>
                  <a:schemeClr val="tx1"/>
                </a:solidFill>
                <a:latin typeface="+mn-lt"/>
                <a:ea typeface="+mn-ea"/>
                <a:cs typeface="+mn-cs"/>
              </a:rPr>
              <a:t>Allows the employer to dismiss/terminate the employment of the staff member for non-performance within the stated probationary without any further obligations</a:t>
            </a:r>
          </a:p>
          <a:p>
            <a:pPr>
              <a:buFont typeface="Arial" pitchFamily="34" charset="0"/>
              <a:buChar char="•"/>
            </a:pPr>
            <a:r>
              <a:rPr lang="en-AU" sz="1200" kern="1200" dirty="0" smtClean="0">
                <a:solidFill>
                  <a:schemeClr val="tx1"/>
                </a:solidFill>
                <a:latin typeface="+mn-lt"/>
                <a:ea typeface="+mn-ea"/>
                <a:cs typeface="+mn-cs"/>
              </a:rPr>
              <a:t>Gives the employee an opportunity to leave the employer. </a:t>
            </a:r>
          </a:p>
          <a:p>
            <a:pPr>
              <a:buFont typeface="Arial" pitchFamily="34" charset="0"/>
              <a:buChar char="•"/>
            </a:pPr>
            <a:r>
              <a:rPr lang="en-AU" sz="1200" kern="1200" dirty="0" smtClean="0">
                <a:solidFill>
                  <a:schemeClr val="tx1"/>
                </a:solidFill>
                <a:latin typeface="+mn-lt"/>
                <a:ea typeface="+mn-ea"/>
                <a:cs typeface="+mn-cs"/>
              </a:rPr>
              <a:t>Some enterprises do not have probationary periods, and some have periods longer than three months.</a:t>
            </a:r>
          </a:p>
          <a:p>
            <a:r>
              <a:rPr lang="en-AU" sz="1200" b="1" kern="1200" dirty="0" smtClean="0">
                <a:solidFill>
                  <a:schemeClr val="tx1"/>
                </a:solidFill>
                <a:latin typeface="+mn-lt"/>
                <a:ea typeface="+mn-ea"/>
                <a:cs typeface="+mn-cs"/>
              </a:rPr>
              <a:t>Wages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section will address:</a:t>
            </a:r>
          </a:p>
          <a:p>
            <a:pPr>
              <a:buFont typeface="Arial" pitchFamily="34" charset="0"/>
              <a:buChar char="•"/>
            </a:pPr>
            <a:r>
              <a:rPr lang="en-AU" sz="1200" kern="1200" dirty="0" smtClean="0">
                <a:solidFill>
                  <a:schemeClr val="tx1"/>
                </a:solidFill>
                <a:latin typeface="+mn-lt"/>
                <a:ea typeface="+mn-ea"/>
                <a:cs typeface="+mn-cs"/>
              </a:rPr>
              <a:t>Work classification – such as differentiations between:</a:t>
            </a:r>
          </a:p>
          <a:p>
            <a:pPr lvl="1">
              <a:buFont typeface="Arial" pitchFamily="34" charset="0"/>
              <a:buChar char="•"/>
            </a:pPr>
            <a:r>
              <a:rPr lang="en-AU" sz="1200" kern="1200" dirty="0" smtClean="0">
                <a:solidFill>
                  <a:schemeClr val="tx1"/>
                </a:solidFill>
                <a:latin typeface="+mn-lt"/>
                <a:ea typeface="+mn-ea"/>
                <a:cs typeface="+mn-cs"/>
              </a:rPr>
              <a:t>Casual employees</a:t>
            </a:r>
          </a:p>
          <a:p>
            <a:pPr lvl="1">
              <a:buFont typeface="Arial" pitchFamily="34" charset="0"/>
              <a:buChar char="•"/>
            </a:pPr>
            <a:r>
              <a:rPr lang="en-AU" sz="1200" kern="1200" dirty="0" smtClean="0">
                <a:solidFill>
                  <a:schemeClr val="tx1"/>
                </a:solidFill>
                <a:latin typeface="+mn-lt"/>
                <a:ea typeface="+mn-ea"/>
                <a:cs typeface="+mn-cs"/>
              </a:rPr>
              <a:t>Part-time employees</a:t>
            </a:r>
          </a:p>
          <a:p>
            <a:pPr lvl="1">
              <a:buFont typeface="Arial" pitchFamily="34" charset="0"/>
              <a:buChar char="•"/>
            </a:pPr>
            <a:r>
              <a:rPr lang="en-AU" sz="1200" kern="1200" dirty="0" smtClean="0">
                <a:solidFill>
                  <a:schemeClr val="tx1"/>
                </a:solidFill>
                <a:latin typeface="+mn-lt"/>
                <a:ea typeface="+mn-ea"/>
                <a:cs typeface="+mn-cs"/>
              </a:rPr>
              <a:t>Full-time employees</a:t>
            </a:r>
          </a:p>
          <a:p>
            <a:pPr>
              <a:buFont typeface="Arial" pitchFamily="34" charset="0"/>
              <a:buChar char="•"/>
            </a:pPr>
            <a:r>
              <a:rPr lang="en-AU" sz="1200" kern="1200" dirty="0" smtClean="0">
                <a:solidFill>
                  <a:schemeClr val="tx1"/>
                </a:solidFill>
                <a:latin typeface="+mn-lt"/>
                <a:ea typeface="+mn-ea"/>
                <a:cs typeface="+mn-cs"/>
              </a:rPr>
              <a:t>Standard rates of pay – for the above classifications</a:t>
            </a:r>
          </a:p>
          <a:p>
            <a:pPr>
              <a:buFont typeface="Arial" pitchFamily="34" charset="0"/>
              <a:buChar char="•"/>
            </a:pPr>
            <a:r>
              <a:rPr lang="en-AU" sz="1200" kern="1200" dirty="0" smtClean="0">
                <a:solidFill>
                  <a:schemeClr val="tx1"/>
                </a:solidFill>
                <a:latin typeface="+mn-lt"/>
                <a:ea typeface="+mn-ea"/>
                <a:cs typeface="+mn-cs"/>
              </a:rPr>
              <a:t>Penalties rates – which may be applicable for: </a:t>
            </a:r>
          </a:p>
          <a:p>
            <a:pPr lvl="1">
              <a:buFont typeface="Arial" pitchFamily="34" charset="0"/>
              <a:buChar char="•"/>
            </a:pPr>
            <a:r>
              <a:rPr lang="en-AU" sz="1200" kern="1200" dirty="0" smtClean="0">
                <a:solidFill>
                  <a:schemeClr val="tx1"/>
                </a:solidFill>
                <a:latin typeface="+mn-lt"/>
                <a:ea typeface="+mn-ea"/>
                <a:cs typeface="+mn-cs"/>
              </a:rPr>
              <a:t>Weekend work </a:t>
            </a:r>
          </a:p>
          <a:p>
            <a:pPr lvl="1">
              <a:buFont typeface="Arial" pitchFamily="34" charset="0"/>
              <a:buChar char="•"/>
            </a:pPr>
            <a:r>
              <a:rPr lang="en-AU" sz="1200" kern="1200" dirty="0" smtClean="0">
                <a:solidFill>
                  <a:schemeClr val="tx1"/>
                </a:solidFill>
                <a:latin typeface="+mn-lt"/>
                <a:ea typeface="+mn-ea"/>
                <a:cs typeface="+mn-cs"/>
              </a:rPr>
              <a:t>Late night work </a:t>
            </a:r>
          </a:p>
          <a:p>
            <a:pPr lvl="1">
              <a:buFont typeface="Arial" pitchFamily="34" charset="0"/>
              <a:buChar char="•"/>
            </a:pPr>
            <a:r>
              <a:rPr lang="en-AU" sz="1200" kern="1200" dirty="0" smtClean="0">
                <a:solidFill>
                  <a:schemeClr val="tx1"/>
                </a:solidFill>
                <a:latin typeface="+mn-lt"/>
                <a:ea typeface="+mn-ea"/>
                <a:cs typeface="+mn-cs"/>
              </a:rPr>
              <a:t>Early  morning work/starts </a:t>
            </a:r>
          </a:p>
          <a:p>
            <a:pPr lvl="1">
              <a:buFont typeface="Arial" pitchFamily="34" charset="0"/>
              <a:buChar char="•"/>
            </a:pPr>
            <a:r>
              <a:rPr lang="en-AU" sz="1200" kern="1200" dirty="0" smtClean="0">
                <a:solidFill>
                  <a:schemeClr val="tx1"/>
                </a:solidFill>
                <a:latin typeface="+mn-lt"/>
                <a:ea typeface="+mn-ea"/>
                <a:cs typeface="+mn-cs"/>
              </a:rPr>
              <a:t>Working on Public Holidays</a:t>
            </a:r>
          </a:p>
          <a:p>
            <a:pPr lvl="1">
              <a:buFont typeface="Arial" pitchFamily="34" charset="0"/>
              <a:buChar char="•"/>
            </a:pPr>
            <a:r>
              <a:rPr lang="en-AU" sz="1200" kern="1200" dirty="0" smtClean="0">
                <a:solidFill>
                  <a:schemeClr val="tx1"/>
                </a:solidFill>
                <a:latin typeface="+mn-lt"/>
                <a:ea typeface="+mn-ea"/>
                <a:cs typeface="+mn-cs"/>
              </a:rPr>
              <a:t>Overtime – working outside/beyond rostered hours or designated ‘spread of hours’</a:t>
            </a:r>
          </a:p>
          <a:p>
            <a:pPr lvl="1">
              <a:buFont typeface="Arial" pitchFamily="34" charset="0"/>
              <a:buChar char="•"/>
            </a:pPr>
            <a:r>
              <a:rPr lang="en-AU" sz="1200" kern="1200" dirty="0" smtClean="0">
                <a:solidFill>
                  <a:schemeClr val="tx1"/>
                </a:solidFill>
                <a:latin typeface="+mn-lt"/>
                <a:ea typeface="+mn-ea"/>
                <a:cs typeface="+mn-cs"/>
              </a:rPr>
              <a:t>Allowances – which may be paid (for example):</a:t>
            </a:r>
          </a:p>
          <a:p>
            <a:pPr lvl="1">
              <a:buFont typeface="Arial" pitchFamily="34" charset="0"/>
              <a:buChar char="•"/>
            </a:pPr>
            <a:r>
              <a:rPr lang="en-AU" sz="1200" kern="1200" dirty="0" smtClean="0">
                <a:solidFill>
                  <a:schemeClr val="tx1"/>
                </a:solidFill>
                <a:latin typeface="+mn-lt"/>
                <a:ea typeface="+mn-ea"/>
                <a:cs typeface="+mn-cs"/>
              </a:rPr>
              <a:t>If the person holds extra/nominated qualifications/certificates</a:t>
            </a:r>
          </a:p>
          <a:p>
            <a:pPr lvl="1">
              <a:buFont typeface="Arial" pitchFamily="34" charset="0"/>
              <a:buChar char="•"/>
            </a:pPr>
            <a:r>
              <a:rPr lang="en-AU" sz="1200" kern="1200" dirty="0" smtClean="0">
                <a:solidFill>
                  <a:schemeClr val="tx1"/>
                </a:solidFill>
                <a:latin typeface="+mn-lt"/>
                <a:ea typeface="+mn-ea"/>
                <a:cs typeface="+mn-cs"/>
              </a:rPr>
              <a:t>Uses their own tools of the trade</a:t>
            </a:r>
          </a:p>
          <a:p>
            <a:pPr lvl="1">
              <a:buFont typeface="Arial" pitchFamily="34" charset="0"/>
              <a:buChar char="•"/>
            </a:pPr>
            <a:r>
              <a:rPr lang="en-AU" sz="1200" kern="1200" dirty="0" smtClean="0">
                <a:solidFill>
                  <a:schemeClr val="tx1"/>
                </a:solidFill>
                <a:latin typeface="+mn-lt"/>
                <a:ea typeface="+mn-ea"/>
                <a:cs typeface="+mn-cs"/>
              </a:rPr>
              <a:t>For clothes/uniform purchase, cleaning and maintenance/repair</a:t>
            </a:r>
          </a:p>
          <a:p>
            <a:pPr lvl="1">
              <a:buFont typeface="Arial" pitchFamily="34" charset="0"/>
              <a:buChar char="•"/>
            </a:pPr>
            <a:r>
              <a:rPr lang="en-AU" sz="1200" kern="1200" dirty="0" smtClean="0">
                <a:solidFill>
                  <a:schemeClr val="tx1"/>
                </a:solidFill>
                <a:latin typeface="+mn-lt"/>
                <a:ea typeface="+mn-ea"/>
                <a:cs typeface="+mn-cs"/>
              </a:rPr>
              <a:t>For being ‘on call’ when off duty</a:t>
            </a:r>
          </a:p>
          <a:p>
            <a:pPr>
              <a:buFont typeface="Arial" pitchFamily="34" charset="0"/>
              <a:buChar char="•"/>
            </a:pPr>
            <a:r>
              <a:rPr lang="en-AU" sz="1200" kern="1200" dirty="0" smtClean="0">
                <a:solidFill>
                  <a:schemeClr val="tx1"/>
                </a:solidFill>
                <a:latin typeface="+mn-lt"/>
                <a:ea typeface="+mn-ea"/>
                <a:cs typeface="+mn-cs"/>
              </a:rPr>
              <a:t>How wages will be paid – such as:</a:t>
            </a:r>
          </a:p>
          <a:p>
            <a:pPr lvl="1">
              <a:buFont typeface="Arial" pitchFamily="34" charset="0"/>
              <a:buChar char="•"/>
            </a:pPr>
            <a:r>
              <a:rPr lang="en-AU" sz="1200" kern="1200" dirty="0" smtClean="0">
                <a:solidFill>
                  <a:schemeClr val="tx1"/>
                </a:solidFill>
                <a:latin typeface="+mn-lt"/>
                <a:ea typeface="+mn-ea"/>
                <a:cs typeface="+mn-cs"/>
              </a:rPr>
              <a:t>In cash; By cheque; By direct deposit into an account; </a:t>
            </a:r>
          </a:p>
          <a:p>
            <a:pPr lvl="0">
              <a:buFont typeface="Arial" pitchFamily="34" charset="0"/>
              <a:buChar char="•"/>
            </a:pPr>
            <a:r>
              <a:rPr lang="en-AU" sz="1200" kern="1200" dirty="0" smtClean="0">
                <a:solidFill>
                  <a:schemeClr val="tx1"/>
                </a:solidFill>
                <a:latin typeface="+mn-lt"/>
                <a:ea typeface="+mn-ea"/>
                <a:cs typeface="+mn-cs"/>
              </a:rPr>
              <a:t>When wages will be paid – which may be (for example):</a:t>
            </a:r>
          </a:p>
          <a:p>
            <a:pPr lvl="1">
              <a:buFont typeface="Arial" pitchFamily="34" charset="0"/>
              <a:buChar char="•"/>
            </a:pPr>
            <a:r>
              <a:rPr lang="en-AU" sz="1200" kern="1200" dirty="0" smtClean="0">
                <a:solidFill>
                  <a:schemeClr val="tx1"/>
                </a:solidFill>
                <a:latin typeface="+mn-lt"/>
                <a:ea typeface="+mn-ea"/>
                <a:cs typeface="+mn-cs"/>
              </a:rPr>
              <a:t>Weekly; Fortnightly; Monthly</a:t>
            </a:r>
          </a:p>
          <a:p>
            <a:pPr>
              <a:buFont typeface="Arial" pitchFamily="34" charset="0"/>
              <a:buChar char="•"/>
            </a:pPr>
            <a:r>
              <a:rPr lang="en-AU" sz="1200" kern="1200" dirty="0" smtClean="0">
                <a:solidFill>
                  <a:schemeClr val="tx1"/>
                </a:solidFill>
                <a:latin typeface="+mn-lt"/>
                <a:ea typeface="+mn-ea"/>
                <a:cs typeface="+mn-cs"/>
              </a:rPr>
              <a:t>Deductions from wages – in terms of (for example):</a:t>
            </a:r>
          </a:p>
          <a:p>
            <a:pPr lvl="1">
              <a:buFont typeface="Arial" pitchFamily="34" charset="0"/>
              <a:buChar char="•"/>
            </a:pPr>
            <a:r>
              <a:rPr lang="en-AU" sz="1200" kern="1200" dirty="0" smtClean="0">
                <a:solidFill>
                  <a:schemeClr val="tx1"/>
                </a:solidFill>
                <a:latin typeface="+mn-lt"/>
                <a:ea typeface="+mn-ea"/>
                <a:cs typeface="+mn-cs"/>
              </a:rPr>
              <a:t>Taxation; Legislated other deductions; Payment for board and lodging; Payment for meals.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sample ‘Conditions of Employment’ relevant to industry/sector for students.</a:t>
            </a:r>
            <a:endParaRPr lang="en-AU" sz="1200" b="1"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32892786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a:t>
            </a:r>
            <a:r>
              <a:rPr lang="en-AU" baseline="0" noProof="0" dirty="0" smtClean="0"/>
              <a:t> continues presenting/discussing </a:t>
            </a:r>
            <a:r>
              <a:rPr lang="en-AU" sz="1200" kern="1200" dirty="0" smtClean="0">
                <a:solidFill>
                  <a:schemeClr val="tx1"/>
                </a:solidFill>
                <a:latin typeface="+mn-lt"/>
                <a:ea typeface="+mn-ea"/>
                <a:cs typeface="+mn-cs"/>
              </a:rPr>
              <a:t>‘Conditions of employment’ including:</a:t>
            </a:r>
          </a:p>
          <a:p>
            <a:r>
              <a:rPr lang="en-AU" sz="1200" b="1" kern="1200" dirty="0" smtClean="0">
                <a:solidFill>
                  <a:schemeClr val="tx1"/>
                </a:solidFill>
                <a:latin typeface="+mn-lt"/>
                <a:ea typeface="+mn-ea"/>
                <a:cs typeface="+mn-cs"/>
              </a:rPr>
              <a:t>Health and safety</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important section may address need for employee to:</a:t>
            </a:r>
          </a:p>
          <a:p>
            <a:pPr>
              <a:buFont typeface="Arial" pitchFamily="34" charset="0"/>
              <a:buChar char="•"/>
            </a:pPr>
            <a:r>
              <a:rPr lang="en-AU" sz="1200" kern="1200" dirty="0" smtClean="0">
                <a:solidFill>
                  <a:schemeClr val="tx1"/>
                </a:solidFill>
                <a:latin typeface="+mn-lt"/>
                <a:ea typeface="+mn-ea"/>
                <a:cs typeface="+mn-cs"/>
              </a:rPr>
              <a:t>Conform with local OHS </a:t>
            </a:r>
            <a:r>
              <a:rPr lang="en-AU" sz="1200" i="1" kern="1200" dirty="0" smtClean="0">
                <a:solidFill>
                  <a:schemeClr val="tx1"/>
                </a:solidFill>
                <a:latin typeface="+mn-lt"/>
                <a:ea typeface="+mn-ea"/>
                <a:cs typeface="+mn-cs"/>
              </a:rPr>
              <a:t>legislated</a:t>
            </a:r>
            <a:r>
              <a:rPr lang="en-AU" sz="1200" kern="1200" dirty="0" smtClean="0">
                <a:solidFill>
                  <a:schemeClr val="tx1"/>
                </a:solidFill>
                <a:latin typeface="+mn-lt"/>
                <a:ea typeface="+mn-ea"/>
                <a:cs typeface="+mn-cs"/>
              </a:rPr>
              <a:t> requirements</a:t>
            </a:r>
          </a:p>
          <a:p>
            <a:pPr>
              <a:buFont typeface="Arial" pitchFamily="34" charset="0"/>
              <a:buChar char="•"/>
            </a:pPr>
            <a:r>
              <a:rPr lang="en-AU" sz="1200" kern="1200" dirty="0" smtClean="0">
                <a:solidFill>
                  <a:schemeClr val="tx1"/>
                </a:solidFill>
                <a:latin typeface="+mn-lt"/>
                <a:ea typeface="+mn-ea"/>
                <a:cs typeface="+mn-cs"/>
              </a:rPr>
              <a:t>Comply with designated </a:t>
            </a:r>
            <a:r>
              <a:rPr lang="en-AU" sz="1200" i="1" kern="1200" dirty="0" smtClean="0">
                <a:solidFill>
                  <a:schemeClr val="tx1"/>
                </a:solidFill>
                <a:latin typeface="+mn-lt"/>
                <a:ea typeface="+mn-ea"/>
                <a:cs typeface="+mn-cs"/>
              </a:rPr>
              <a:t>internal</a:t>
            </a:r>
            <a:r>
              <a:rPr lang="en-AU" sz="1200" kern="1200" dirty="0" smtClean="0">
                <a:solidFill>
                  <a:schemeClr val="tx1"/>
                </a:solidFill>
                <a:latin typeface="+mn-lt"/>
                <a:ea typeface="+mn-ea"/>
                <a:cs typeface="+mn-cs"/>
              </a:rPr>
              <a:t> OHS protocols</a:t>
            </a:r>
          </a:p>
          <a:p>
            <a:pPr>
              <a:buFont typeface="Arial" pitchFamily="34" charset="0"/>
              <a:buChar char="•"/>
            </a:pPr>
            <a:r>
              <a:rPr lang="en-AU" sz="1200" kern="1200" dirty="0" smtClean="0">
                <a:solidFill>
                  <a:schemeClr val="tx1"/>
                </a:solidFill>
                <a:latin typeface="+mn-lt"/>
                <a:ea typeface="+mn-ea"/>
                <a:cs typeface="+mn-cs"/>
              </a:rPr>
              <a:t>Hold and provide evidence of a nominated OHS qualification/certification.</a:t>
            </a:r>
          </a:p>
          <a:p>
            <a:r>
              <a:rPr lang="en-AU" sz="1200" b="1" kern="1200" dirty="0" smtClean="0">
                <a:solidFill>
                  <a:schemeClr val="tx1"/>
                </a:solidFill>
                <a:latin typeface="+mn-lt"/>
                <a:ea typeface="+mn-ea"/>
                <a:cs typeface="+mn-cs"/>
              </a:rPr>
              <a:t>Conditions under which the work takes place</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specifies detail in relation to items such as:</a:t>
            </a:r>
          </a:p>
          <a:p>
            <a:pPr>
              <a:buFont typeface="Arial" pitchFamily="34" charset="0"/>
              <a:buChar char="•"/>
            </a:pPr>
            <a:r>
              <a:rPr lang="en-AU" sz="1200" kern="1200" dirty="0" smtClean="0">
                <a:solidFill>
                  <a:schemeClr val="tx1"/>
                </a:solidFill>
                <a:latin typeface="+mn-lt"/>
                <a:ea typeface="+mn-ea"/>
                <a:cs typeface="+mn-cs"/>
              </a:rPr>
              <a:t>When staff are entitled to rest breaks </a:t>
            </a:r>
          </a:p>
          <a:p>
            <a:pPr>
              <a:buFont typeface="Arial" pitchFamily="34" charset="0"/>
              <a:buChar char="•"/>
            </a:pPr>
            <a:r>
              <a:rPr lang="en-AU" sz="1200" kern="1200" dirty="0" smtClean="0">
                <a:solidFill>
                  <a:schemeClr val="tx1"/>
                </a:solidFill>
                <a:latin typeface="+mn-lt"/>
                <a:ea typeface="+mn-ea"/>
                <a:cs typeface="+mn-cs"/>
              </a:rPr>
              <a:t>When employees can take meal breaks</a:t>
            </a:r>
          </a:p>
          <a:p>
            <a:pPr>
              <a:buFont typeface="Arial" pitchFamily="34" charset="0"/>
              <a:buChar char="•"/>
            </a:pPr>
            <a:r>
              <a:rPr lang="en-AU" sz="1200" kern="1200" dirty="0" smtClean="0">
                <a:solidFill>
                  <a:schemeClr val="tx1"/>
                </a:solidFill>
                <a:latin typeface="+mn-lt"/>
                <a:ea typeface="+mn-ea"/>
                <a:cs typeface="+mn-cs"/>
              </a:rPr>
              <a:t>Length of designated breaks </a:t>
            </a:r>
          </a:p>
          <a:p>
            <a:pPr>
              <a:buFont typeface="Arial" pitchFamily="34" charset="0"/>
              <a:buChar char="•"/>
            </a:pPr>
            <a:r>
              <a:rPr lang="en-AU" sz="1200" kern="1200" dirty="0" smtClean="0">
                <a:solidFill>
                  <a:schemeClr val="tx1"/>
                </a:solidFill>
                <a:latin typeface="+mn-lt"/>
                <a:ea typeface="+mn-ea"/>
                <a:cs typeface="+mn-cs"/>
              </a:rPr>
              <a:t>Length of the working day – and maximum hours worked per week </a:t>
            </a:r>
          </a:p>
          <a:p>
            <a:pPr>
              <a:buFont typeface="Arial" pitchFamily="34" charset="0"/>
              <a:buChar char="•"/>
            </a:pPr>
            <a:r>
              <a:rPr lang="en-AU" sz="1200" kern="1200" dirty="0" smtClean="0">
                <a:solidFill>
                  <a:schemeClr val="tx1"/>
                </a:solidFill>
                <a:latin typeface="+mn-lt"/>
                <a:ea typeface="+mn-ea"/>
                <a:cs typeface="+mn-cs"/>
              </a:rPr>
              <a:t>Entitlements to the various types of leave provided for under the relevant employment instrument/agreement which has been signed – this may identify and describe:</a:t>
            </a:r>
          </a:p>
          <a:p>
            <a:pPr lvl="1">
              <a:buFont typeface="Arial" pitchFamily="34" charset="0"/>
              <a:buChar char="•"/>
            </a:pPr>
            <a:r>
              <a:rPr lang="en-AU" sz="1200" kern="1200" dirty="0" smtClean="0">
                <a:solidFill>
                  <a:schemeClr val="tx1"/>
                </a:solidFill>
                <a:latin typeface="+mn-lt"/>
                <a:ea typeface="+mn-ea"/>
                <a:cs typeface="+mn-cs"/>
              </a:rPr>
              <a:t>Conditions under which leave may be taken and/or payment for such leave will be made</a:t>
            </a:r>
          </a:p>
          <a:p>
            <a:pPr lvl="1">
              <a:buFont typeface="Arial" pitchFamily="34" charset="0"/>
              <a:buChar char="•"/>
            </a:pPr>
            <a:r>
              <a:rPr lang="en-AU" sz="1200" kern="1200" dirty="0" smtClean="0">
                <a:solidFill>
                  <a:schemeClr val="tx1"/>
                </a:solidFill>
                <a:latin typeface="+mn-lt"/>
                <a:ea typeface="+mn-ea"/>
                <a:cs typeface="+mn-cs"/>
              </a:rPr>
              <a:t>Number of hours provided for each type of leave</a:t>
            </a:r>
          </a:p>
          <a:p>
            <a:pPr lvl="1">
              <a:buFont typeface="Arial" pitchFamily="34" charset="0"/>
              <a:buChar char="•"/>
            </a:pPr>
            <a:r>
              <a:rPr lang="en-AU" sz="1200" kern="1200" dirty="0" smtClean="0">
                <a:solidFill>
                  <a:schemeClr val="tx1"/>
                </a:solidFill>
                <a:latin typeface="+mn-lt"/>
                <a:ea typeface="+mn-ea"/>
                <a:cs typeface="+mn-cs"/>
              </a:rPr>
              <a:t>When the employee becomes entitled to each classification of leave</a:t>
            </a:r>
          </a:p>
          <a:p>
            <a:pPr lvl="1">
              <a:buFont typeface="Arial" pitchFamily="34" charset="0"/>
              <a:buChar char="•"/>
            </a:pPr>
            <a:r>
              <a:rPr lang="en-AU" sz="1200" kern="1200" dirty="0" smtClean="0">
                <a:solidFill>
                  <a:schemeClr val="tx1"/>
                </a:solidFill>
                <a:latin typeface="+mn-lt"/>
                <a:ea typeface="+mn-ea"/>
                <a:cs typeface="+mn-cs"/>
              </a:rPr>
              <a:t>Evidence required by the employer to authenticate the leave being applied for</a:t>
            </a:r>
          </a:p>
          <a:p>
            <a:pPr lvl="1">
              <a:buFont typeface="Arial" pitchFamily="34" charset="0"/>
              <a:buChar char="•"/>
            </a:pPr>
            <a:r>
              <a:rPr lang="en-AU" sz="1200" kern="1200" dirty="0" smtClean="0">
                <a:solidFill>
                  <a:schemeClr val="tx1"/>
                </a:solidFill>
                <a:latin typeface="+mn-lt"/>
                <a:ea typeface="+mn-ea"/>
                <a:cs typeface="+mn-cs"/>
              </a:rPr>
              <a:t>Need for application for certain types of leave to be made in advance to give the employer the chance to arrange for replacement staff.</a:t>
            </a:r>
          </a:p>
          <a:p>
            <a:pPr>
              <a:buFont typeface="Arial" pitchFamily="34" charset="0"/>
              <a:buChar char="•"/>
            </a:pPr>
            <a:r>
              <a:rPr lang="en-AU" sz="1200" kern="1200" dirty="0" smtClean="0">
                <a:solidFill>
                  <a:schemeClr val="tx1"/>
                </a:solidFill>
                <a:latin typeface="+mn-lt"/>
                <a:ea typeface="+mn-ea"/>
                <a:cs typeface="+mn-cs"/>
              </a:rPr>
              <a:t>Types of leave which may be provided for can include:</a:t>
            </a:r>
          </a:p>
          <a:p>
            <a:pPr lvl="1">
              <a:buFont typeface="Arial" pitchFamily="34" charset="0"/>
              <a:buChar char="•"/>
            </a:pPr>
            <a:r>
              <a:rPr lang="en-AU" sz="1200" kern="1200" dirty="0" smtClean="0">
                <a:solidFill>
                  <a:schemeClr val="tx1"/>
                </a:solidFill>
                <a:latin typeface="+mn-lt"/>
                <a:ea typeface="+mn-ea"/>
                <a:cs typeface="+mn-cs"/>
              </a:rPr>
              <a:t>Sick leave; Annual leave; Long service leave; Maternity/paternity leave; Jury duty; Carer’s leave; </a:t>
            </a:r>
            <a:r>
              <a:rPr lang="en-AU" sz="1200" i="1" kern="1200" dirty="0" smtClean="0">
                <a:solidFill>
                  <a:schemeClr val="tx1"/>
                </a:solidFill>
                <a:latin typeface="+mn-lt"/>
                <a:ea typeface="+mn-ea"/>
                <a:cs typeface="+mn-cs"/>
              </a:rPr>
              <a:t>Force majeure</a:t>
            </a:r>
            <a:r>
              <a:rPr lang="en-AU" sz="1200" kern="1200" dirty="0" smtClean="0">
                <a:solidFill>
                  <a:schemeClr val="tx1"/>
                </a:solidFill>
                <a:latin typeface="+mn-lt"/>
                <a:ea typeface="+mn-ea"/>
                <a:cs typeface="+mn-cs"/>
              </a:rPr>
              <a:t> leave – to respond to a family crisis; Compassionate leave; Study leave.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on sites such as:</a:t>
            </a:r>
          </a:p>
          <a:p>
            <a:r>
              <a:rPr lang="en-AU" sz="1200" u="sng" kern="1200" dirty="0" smtClean="0">
                <a:solidFill>
                  <a:schemeClr val="tx1"/>
                </a:solidFill>
                <a:latin typeface="+mn-lt"/>
                <a:ea typeface="+mn-ea"/>
                <a:cs typeface="+mn-cs"/>
                <a:hlinkClick r:id="rId3"/>
              </a:rPr>
              <a:t>http://www.keysian.com/operational-management/2012/1/2/sample-standard-terms-and-conditions-of-employment.html</a:t>
            </a:r>
            <a:r>
              <a:rPr lang="en-AU" sz="1200" kern="1200" dirty="0" smtClean="0">
                <a:solidFill>
                  <a:schemeClr val="tx1"/>
                </a:solidFill>
                <a:latin typeface="+mn-lt"/>
                <a:ea typeface="+mn-ea"/>
                <a:cs typeface="+mn-cs"/>
              </a:rPr>
              <a:t> - Sample standard terms and conditions of employment</a:t>
            </a:r>
          </a:p>
          <a:p>
            <a:r>
              <a:rPr lang="en-AU" sz="1200" u="sng" kern="1200" dirty="0" smtClean="0">
                <a:solidFill>
                  <a:schemeClr val="tx1"/>
                </a:solidFill>
                <a:latin typeface="+mn-lt"/>
                <a:ea typeface="+mn-ea"/>
                <a:cs typeface="+mn-cs"/>
                <a:hlinkClick r:id="rId4"/>
              </a:rPr>
              <a:t>http://www.austrade.gov.au/Invest/Doing-business-in-Australia/Investor-Guide/Running-a-business/Employing-people-in-Australia/Australian-employment-conditions</a:t>
            </a:r>
            <a:r>
              <a:rPr lang="en-AU" sz="1200" kern="1200" dirty="0" smtClean="0">
                <a:solidFill>
                  <a:schemeClr val="tx1"/>
                </a:solidFill>
                <a:latin typeface="+mn-lt"/>
                <a:ea typeface="+mn-ea"/>
                <a:cs typeface="+mn-cs"/>
              </a:rPr>
              <a:t> - Australian employment conditions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42268147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a:t>
            </a:r>
            <a:r>
              <a:rPr lang="en-AU" baseline="0" noProof="0" dirty="0" smtClean="0"/>
              <a:t> continues presenting/discussing </a:t>
            </a:r>
            <a:r>
              <a:rPr lang="en-AU" sz="1200" kern="1200" dirty="0" smtClean="0">
                <a:solidFill>
                  <a:schemeClr val="tx1"/>
                </a:solidFill>
                <a:latin typeface="+mn-lt"/>
                <a:ea typeface="+mn-ea"/>
                <a:cs typeface="+mn-cs"/>
              </a:rPr>
              <a:t>‘Conditions of employment’ including:</a:t>
            </a:r>
          </a:p>
          <a:p>
            <a:r>
              <a:rPr lang="en-AU" sz="1200" b="1" kern="1200" dirty="0" smtClean="0">
                <a:solidFill>
                  <a:schemeClr val="tx1"/>
                </a:solidFill>
                <a:latin typeface="+mn-lt"/>
                <a:ea typeface="+mn-ea"/>
                <a:cs typeface="+mn-cs"/>
              </a:rPr>
              <a:t>Dress standards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Employers have a right to set requirements regarding dress standards.</a:t>
            </a:r>
          </a:p>
          <a:p>
            <a:r>
              <a:rPr lang="en-AU" sz="1200" kern="1200" dirty="0" smtClean="0">
                <a:solidFill>
                  <a:schemeClr val="tx1"/>
                </a:solidFill>
                <a:latin typeface="+mn-lt"/>
                <a:ea typeface="+mn-ea"/>
                <a:cs typeface="+mn-cs"/>
              </a:rPr>
              <a:t>This is often a contentious aspect of employment agreements.</a:t>
            </a:r>
          </a:p>
          <a:p>
            <a:r>
              <a:rPr lang="en-AU" sz="1200" kern="1200" dirty="0" smtClean="0">
                <a:solidFill>
                  <a:schemeClr val="tx1"/>
                </a:solidFill>
                <a:latin typeface="+mn-lt"/>
                <a:ea typeface="+mn-ea"/>
                <a:cs typeface="+mn-cs"/>
              </a:rPr>
              <a:t>Requirements in this regard need to be ‘reasonable’ and appropriate to the job being done and the industry where the work occurs.</a:t>
            </a:r>
          </a:p>
          <a:p>
            <a:r>
              <a:rPr lang="en-AU" sz="1200" kern="1200" dirty="0" smtClean="0">
                <a:solidFill>
                  <a:schemeClr val="tx1"/>
                </a:solidFill>
                <a:latin typeface="+mn-lt"/>
                <a:ea typeface="+mn-ea"/>
                <a:cs typeface="+mn-cs"/>
              </a:rPr>
              <a:t>Mention is usually made of issues to do with:</a:t>
            </a:r>
          </a:p>
          <a:p>
            <a:pPr>
              <a:buFont typeface="Arial" pitchFamily="34" charset="0"/>
              <a:buChar char="•"/>
            </a:pPr>
            <a:r>
              <a:rPr lang="en-AU" sz="1200" kern="1200" dirty="0" smtClean="0">
                <a:solidFill>
                  <a:schemeClr val="tx1"/>
                </a:solidFill>
                <a:latin typeface="+mn-lt"/>
                <a:ea typeface="+mn-ea"/>
                <a:cs typeface="+mn-cs"/>
              </a:rPr>
              <a:t>Wearing of designated uniforms</a:t>
            </a:r>
          </a:p>
          <a:p>
            <a:pPr>
              <a:buFont typeface="Arial" pitchFamily="34" charset="0"/>
              <a:buChar char="•"/>
            </a:pPr>
            <a:r>
              <a:rPr lang="en-AU" sz="1200" kern="1200" dirty="0" smtClean="0">
                <a:solidFill>
                  <a:schemeClr val="tx1"/>
                </a:solidFill>
                <a:latin typeface="+mn-lt"/>
                <a:ea typeface="+mn-ea"/>
                <a:cs typeface="+mn-cs"/>
              </a:rPr>
              <a:t>Make-up</a:t>
            </a:r>
          </a:p>
          <a:p>
            <a:pPr>
              <a:buFont typeface="Arial" pitchFamily="34" charset="0"/>
              <a:buChar char="•"/>
            </a:pPr>
            <a:r>
              <a:rPr lang="en-AU" sz="1200" kern="1200" dirty="0" smtClean="0">
                <a:solidFill>
                  <a:schemeClr val="tx1"/>
                </a:solidFill>
                <a:latin typeface="+mn-lt"/>
                <a:ea typeface="+mn-ea"/>
                <a:cs typeface="+mn-cs"/>
              </a:rPr>
              <a:t>Personal presentation</a:t>
            </a:r>
          </a:p>
          <a:p>
            <a:pPr>
              <a:buFont typeface="Arial" pitchFamily="34" charset="0"/>
              <a:buChar char="•"/>
            </a:pPr>
            <a:r>
              <a:rPr lang="en-AU" sz="1200" kern="1200" dirty="0" smtClean="0">
                <a:solidFill>
                  <a:schemeClr val="tx1"/>
                </a:solidFill>
                <a:latin typeface="+mn-lt"/>
                <a:ea typeface="+mn-ea"/>
                <a:cs typeface="+mn-cs"/>
              </a:rPr>
              <a:t>Sensitivity to and/or accommodation of cultural requirements in this regard.</a:t>
            </a:r>
          </a:p>
          <a:p>
            <a:r>
              <a:rPr lang="en-AU" sz="1200" b="1" kern="1200" dirty="0" smtClean="0">
                <a:solidFill>
                  <a:schemeClr val="tx1"/>
                </a:solidFill>
                <a:latin typeface="+mn-lt"/>
                <a:ea typeface="+mn-ea"/>
                <a:cs typeface="+mn-cs"/>
              </a:rPr>
              <a:t>Flexible working arrangements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Not all employers/agreements include this topic.</a:t>
            </a:r>
          </a:p>
          <a:p>
            <a:pPr lvl="1"/>
            <a:r>
              <a:rPr lang="en-AU" sz="1200" kern="1200" dirty="0" smtClean="0">
                <a:solidFill>
                  <a:schemeClr val="tx1"/>
                </a:solidFill>
                <a:latin typeface="+mn-lt"/>
                <a:ea typeface="+mn-ea"/>
                <a:cs typeface="+mn-cs"/>
              </a:rPr>
              <a:t>It can relate to (for example):</a:t>
            </a:r>
          </a:p>
          <a:p>
            <a:pPr lvl="1"/>
            <a:r>
              <a:rPr lang="en-AU" sz="1200" kern="1200" dirty="0" smtClean="0">
                <a:solidFill>
                  <a:schemeClr val="tx1"/>
                </a:solidFill>
                <a:latin typeface="+mn-lt"/>
                <a:ea typeface="+mn-ea"/>
                <a:cs typeface="+mn-cs"/>
              </a:rPr>
              <a:t>Requirement or choice to take overtime worked as TOIL instead of payment</a:t>
            </a:r>
          </a:p>
          <a:p>
            <a:pPr lvl="1"/>
            <a:r>
              <a:rPr lang="en-AU" sz="1200" kern="1200" dirty="0" smtClean="0">
                <a:solidFill>
                  <a:schemeClr val="tx1"/>
                </a:solidFill>
                <a:latin typeface="+mn-lt"/>
                <a:ea typeface="+mn-ea"/>
                <a:cs typeface="+mn-cs"/>
              </a:rPr>
              <a:t>Opportunity to work flexi-time</a:t>
            </a:r>
          </a:p>
          <a:p>
            <a:pPr lvl="1"/>
            <a:r>
              <a:rPr lang="en-AU" sz="1200" kern="1200" dirty="0" smtClean="0">
                <a:solidFill>
                  <a:schemeClr val="tx1"/>
                </a:solidFill>
                <a:latin typeface="+mn-lt"/>
                <a:ea typeface="+mn-ea"/>
                <a:cs typeface="+mn-cs"/>
              </a:rPr>
              <a:t>Potential for tele-commuting.</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pPr>
              <a:buFont typeface="Arial" pitchFamily="34" charset="0"/>
              <a:buNone/>
            </a:pPr>
            <a:r>
              <a:rPr lang="en-AU" sz="1200" u="sng" kern="1200" dirty="0" smtClean="0">
                <a:solidFill>
                  <a:schemeClr val="tx1"/>
                </a:solidFill>
                <a:latin typeface="+mn-lt"/>
                <a:ea typeface="+mn-ea"/>
                <a:cs typeface="+mn-cs"/>
                <a:hlinkClick r:id="rId3"/>
              </a:rPr>
              <a:t>http://www.eoc.sa.gov.au/eo-you/workers/work/dress-codes-workplace</a:t>
            </a:r>
            <a:r>
              <a:rPr lang="en-AU" sz="1200" kern="1200" dirty="0" smtClean="0">
                <a:solidFill>
                  <a:schemeClr val="tx1"/>
                </a:solidFill>
                <a:latin typeface="+mn-lt"/>
                <a:ea typeface="+mn-ea"/>
                <a:cs typeface="+mn-cs"/>
              </a:rPr>
              <a:t> - Dress codes in the workplace</a:t>
            </a: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4428117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a:t>
            </a:r>
            <a:r>
              <a:rPr lang="en-AU" baseline="0" noProof="0" dirty="0" smtClean="0"/>
              <a:t> continues presenting/discussing </a:t>
            </a:r>
            <a:r>
              <a:rPr lang="en-AU" sz="1200" kern="1200" dirty="0" smtClean="0">
                <a:solidFill>
                  <a:schemeClr val="tx1"/>
                </a:solidFill>
                <a:latin typeface="+mn-lt"/>
                <a:ea typeface="+mn-ea"/>
                <a:cs typeface="+mn-cs"/>
              </a:rPr>
              <a:t>‘Conditions of employment’ including:</a:t>
            </a:r>
          </a:p>
          <a:p>
            <a:r>
              <a:rPr lang="en-AU" sz="1200" b="1" kern="1200" dirty="0" smtClean="0">
                <a:solidFill>
                  <a:schemeClr val="tx1"/>
                </a:solidFill>
                <a:latin typeface="+mn-lt"/>
                <a:ea typeface="+mn-ea"/>
                <a:cs typeface="+mn-cs"/>
              </a:rPr>
              <a:t>Access to training/PD</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will/may address:</a:t>
            </a:r>
          </a:p>
          <a:p>
            <a:pPr>
              <a:buFont typeface="Arial" pitchFamily="34" charset="0"/>
              <a:buChar char="•"/>
            </a:pPr>
            <a:r>
              <a:rPr lang="en-AU" sz="1200" kern="1200" dirty="0" smtClean="0">
                <a:solidFill>
                  <a:schemeClr val="tx1"/>
                </a:solidFill>
                <a:latin typeface="+mn-lt"/>
                <a:ea typeface="+mn-ea"/>
                <a:cs typeface="+mn-cs"/>
              </a:rPr>
              <a:t>Mandatory training required for the employee by the organisation – which may be delivered internally or externally</a:t>
            </a:r>
          </a:p>
          <a:p>
            <a:pPr>
              <a:buFont typeface="Arial" pitchFamily="34" charset="0"/>
              <a:buChar char="•"/>
            </a:pPr>
            <a:r>
              <a:rPr lang="en-AU" sz="1200" kern="1200" dirty="0" smtClean="0">
                <a:solidFill>
                  <a:schemeClr val="tx1"/>
                </a:solidFill>
                <a:latin typeface="+mn-lt"/>
                <a:ea typeface="+mn-ea"/>
                <a:cs typeface="+mn-cs"/>
              </a:rPr>
              <a:t>Training/courses offered by the employer</a:t>
            </a:r>
          </a:p>
          <a:p>
            <a:pPr>
              <a:buFont typeface="Arial" pitchFamily="34" charset="0"/>
              <a:buChar char="•"/>
            </a:pPr>
            <a:r>
              <a:rPr lang="en-AU" sz="1200" kern="1200" dirty="0" smtClean="0">
                <a:solidFill>
                  <a:schemeClr val="tx1"/>
                </a:solidFill>
                <a:latin typeface="+mn-lt"/>
                <a:ea typeface="+mn-ea"/>
                <a:cs typeface="+mn-cs"/>
              </a:rPr>
              <a:t>Payment/s available to assist/reimburse staff for training-related expenses</a:t>
            </a:r>
          </a:p>
          <a:p>
            <a:pPr>
              <a:buFont typeface="Arial" pitchFamily="34" charset="0"/>
              <a:buChar char="•"/>
            </a:pPr>
            <a:r>
              <a:rPr lang="en-AU" sz="1200" kern="1200" dirty="0" smtClean="0">
                <a:solidFill>
                  <a:schemeClr val="tx1"/>
                </a:solidFill>
                <a:latin typeface="+mn-lt"/>
                <a:ea typeface="+mn-ea"/>
                <a:cs typeface="+mn-cs"/>
              </a:rPr>
              <a:t>Need for nominated qualifications/certificates to be obtained by a given date</a:t>
            </a:r>
          </a:p>
          <a:p>
            <a:pPr>
              <a:buFont typeface="Arial" pitchFamily="34" charset="0"/>
              <a:buChar char="•"/>
            </a:pPr>
            <a:r>
              <a:rPr lang="en-AU" sz="1200" kern="1200" dirty="0" smtClean="0">
                <a:solidFill>
                  <a:schemeClr val="tx1"/>
                </a:solidFill>
                <a:latin typeface="+mn-lt"/>
                <a:ea typeface="+mn-ea"/>
                <a:cs typeface="+mn-cs"/>
              </a:rPr>
              <a:t>Eligibility criteria.</a:t>
            </a:r>
          </a:p>
          <a:p>
            <a:r>
              <a:rPr lang="en-AU" sz="1200" b="1" kern="1200" dirty="0" smtClean="0">
                <a:solidFill>
                  <a:schemeClr val="tx1"/>
                </a:solidFill>
                <a:latin typeface="+mn-lt"/>
                <a:ea typeface="+mn-ea"/>
                <a:cs typeface="+mn-cs"/>
              </a:rPr>
              <a:t>Termination</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will cover:</a:t>
            </a:r>
          </a:p>
          <a:p>
            <a:pPr>
              <a:buFont typeface="Arial" pitchFamily="34" charset="0"/>
              <a:buChar char="•"/>
            </a:pPr>
            <a:r>
              <a:rPr lang="en-AU" sz="1200" kern="1200" dirty="0" smtClean="0">
                <a:solidFill>
                  <a:schemeClr val="tx1"/>
                </a:solidFill>
                <a:latin typeface="+mn-lt"/>
                <a:ea typeface="+mn-ea"/>
                <a:cs typeface="+mn-cs"/>
              </a:rPr>
              <a:t>Definition/description of circumstances under which employees may have their employment terminated by the employer</a:t>
            </a:r>
          </a:p>
          <a:p>
            <a:pPr>
              <a:buFont typeface="Arial" pitchFamily="34" charset="0"/>
              <a:buChar char="•"/>
            </a:pPr>
            <a:r>
              <a:rPr lang="en-AU" sz="1200" kern="1200" dirty="0" smtClean="0">
                <a:solidFill>
                  <a:schemeClr val="tx1"/>
                </a:solidFill>
                <a:latin typeface="+mn-lt"/>
                <a:ea typeface="+mn-ea"/>
                <a:cs typeface="+mn-cs"/>
              </a:rPr>
              <a:t>Specification of payments to be made when a staff member is terminated </a:t>
            </a:r>
          </a:p>
          <a:p>
            <a:pPr>
              <a:buFont typeface="Arial" pitchFamily="34" charset="0"/>
              <a:buChar char="•"/>
            </a:pPr>
            <a:r>
              <a:rPr lang="en-AU" sz="1200" kern="1200" dirty="0" smtClean="0">
                <a:solidFill>
                  <a:schemeClr val="tx1"/>
                </a:solidFill>
                <a:latin typeface="+mn-lt"/>
                <a:ea typeface="+mn-ea"/>
                <a:cs typeface="+mn-cs"/>
              </a:rPr>
              <a:t>Description of how termination payments are to be calculated and paid</a:t>
            </a:r>
          </a:p>
          <a:p>
            <a:pPr>
              <a:buFont typeface="Arial" pitchFamily="34" charset="0"/>
              <a:buChar char="•"/>
            </a:pPr>
            <a:r>
              <a:rPr lang="en-AU" sz="1200" kern="1200" dirty="0" smtClean="0">
                <a:solidFill>
                  <a:schemeClr val="tx1"/>
                </a:solidFill>
                <a:latin typeface="+mn-lt"/>
                <a:ea typeface="+mn-ea"/>
                <a:cs typeface="+mn-cs"/>
              </a:rPr>
              <a:t>Penalties to be applied to the employee if they leave without giving required notice to their employer</a:t>
            </a:r>
          </a:p>
          <a:p>
            <a:pPr>
              <a:buFont typeface="Arial" pitchFamily="34" charset="0"/>
              <a:buChar char="•"/>
            </a:pPr>
            <a:r>
              <a:rPr lang="en-AU" sz="1200" kern="1200" dirty="0" smtClean="0">
                <a:solidFill>
                  <a:schemeClr val="tx1"/>
                </a:solidFill>
                <a:latin typeface="+mn-lt"/>
                <a:ea typeface="+mn-ea"/>
                <a:cs typeface="+mn-cs"/>
              </a:rPr>
              <a:t>References and/or Statements of Employment which will be provided (or not) by the employer.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Classroom Activity – Guest Speaker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dirty="0" smtClean="0">
                <a:solidFill>
                  <a:schemeClr val="tx1"/>
                </a:solidFill>
                <a:latin typeface="+mn-lt"/>
                <a:ea typeface="+mn-ea"/>
                <a:cs typeface="+mn-cs"/>
              </a:rPr>
              <a:t>Trainer arranges for suitable manager/business owner or HR person to attend and: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Discuss importance of managing and maintaining workplace relations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Provide sample documentation/employment instruments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Explain Conditions of Employment relevant to their business/industry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4088434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a:t>
            </a:r>
            <a:r>
              <a:rPr lang="en-AU" baseline="0" noProof="0" dirty="0" smtClean="0"/>
              <a:t> continues presenting/discussing </a:t>
            </a:r>
            <a:r>
              <a:rPr lang="en-AU" sz="1200" kern="1200" dirty="0" smtClean="0">
                <a:solidFill>
                  <a:schemeClr val="tx1"/>
                </a:solidFill>
                <a:latin typeface="+mn-lt"/>
                <a:ea typeface="+mn-ea"/>
                <a:cs typeface="+mn-cs"/>
              </a:rPr>
              <a:t>‘Conditions of employment’ including:</a:t>
            </a:r>
          </a:p>
          <a:p>
            <a:r>
              <a:rPr lang="en-AU" sz="1200" b="1" kern="1200" dirty="0" smtClean="0">
                <a:solidFill>
                  <a:schemeClr val="tx1"/>
                </a:solidFill>
                <a:latin typeface="+mn-lt"/>
                <a:ea typeface="+mn-ea"/>
                <a:cs typeface="+mn-cs"/>
              </a:rPr>
              <a:t>Need for confidentiality</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will specify the employee is not to:</a:t>
            </a:r>
          </a:p>
          <a:p>
            <a:pPr>
              <a:buFont typeface="Arial" pitchFamily="34" charset="0"/>
              <a:buChar char="•"/>
            </a:pPr>
            <a:r>
              <a:rPr lang="en-AU" sz="1200" kern="1200" dirty="0" smtClean="0">
                <a:solidFill>
                  <a:schemeClr val="tx1"/>
                </a:solidFill>
                <a:latin typeface="+mn-lt"/>
                <a:ea typeface="+mn-ea"/>
                <a:cs typeface="+mn-cs"/>
              </a:rPr>
              <a:t>Reveal ‘trade secrets’ to anyone</a:t>
            </a:r>
          </a:p>
          <a:p>
            <a:pPr>
              <a:buFont typeface="Arial" pitchFamily="34" charset="0"/>
              <a:buChar char="•"/>
            </a:pPr>
            <a:r>
              <a:rPr lang="en-AU" sz="1200" kern="1200" dirty="0" smtClean="0">
                <a:solidFill>
                  <a:schemeClr val="tx1"/>
                </a:solidFill>
                <a:latin typeface="+mn-lt"/>
                <a:ea typeface="+mn-ea"/>
                <a:cs typeface="+mn-cs"/>
              </a:rPr>
              <a:t>Disclose business information to anyone else</a:t>
            </a:r>
          </a:p>
          <a:p>
            <a:pPr>
              <a:buFont typeface="Arial" pitchFamily="34" charset="0"/>
              <a:buChar char="•"/>
            </a:pPr>
            <a:r>
              <a:rPr lang="en-AU" sz="1200" kern="1200" dirty="0" smtClean="0">
                <a:solidFill>
                  <a:schemeClr val="tx1"/>
                </a:solidFill>
                <a:latin typeface="+mn-lt"/>
                <a:ea typeface="+mn-ea"/>
                <a:cs typeface="+mn-cs"/>
              </a:rPr>
              <a:t>Disclose customer information/details to members of the public</a:t>
            </a:r>
          </a:p>
          <a:p>
            <a:pPr>
              <a:buFont typeface="Arial" pitchFamily="34" charset="0"/>
              <a:buChar char="•"/>
            </a:pPr>
            <a:r>
              <a:rPr lang="en-AU" sz="1200" kern="1200" dirty="0" smtClean="0">
                <a:solidFill>
                  <a:schemeClr val="tx1"/>
                </a:solidFill>
                <a:latin typeface="+mn-lt"/>
                <a:ea typeface="+mn-ea"/>
                <a:cs typeface="+mn-cs"/>
              </a:rPr>
              <a:t>Use internal organisational information for personal gain.</a:t>
            </a:r>
          </a:p>
          <a:p>
            <a:r>
              <a:rPr lang="en-AU" sz="1200" b="1" kern="1200" dirty="0" smtClean="0">
                <a:solidFill>
                  <a:schemeClr val="tx1"/>
                </a:solidFill>
                <a:latin typeface="+mn-lt"/>
                <a:ea typeface="+mn-ea"/>
                <a:cs typeface="+mn-cs"/>
              </a:rPr>
              <a:t>Restrictions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There can be a list of restrictions limiting what the employee may/may not do.</a:t>
            </a:r>
          </a:p>
          <a:p>
            <a:r>
              <a:rPr lang="en-AU" sz="1200" kern="1200" dirty="0" smtClean="0">
                <a:solidFill>
                  <a:schemeClr val="tx1"/>
                </a:solidFill>
                <a:latin typeface="+mn-lt"/>
                <a:ea typeface="+mn-ea"/>
                <a:cs typeface="+mn-cs"/>
              </a:rPr>
              <a:t>For example these may relate to:</a:t>
            </a:r>
          </a:p>
          <a:p>
            <a:pPr>
              <a:buFont typeface="Arial" pitchFamily="34" charset="0"/>
              <a:buChar char="•"/>
            </a:pPr>
            <a:r>
              <a:rPr lang="en-AU" sz="1200" kern="1200" dirty="0" smtClean="0">
                <a:solidFill>
                  <a:schemeClr val="tx1"/>
                </a:solidFill>
                <a:latin typeface="+mn-lt"/>
                <a:ea typeface="+mn-ea"/>
                <a:cs typeface="+mn-cs"/>
              </a:rPr>
              <a:t>Prohibiting the use of company resources for private use</a:t>
            </a:r>
          </a:p>
          <a:p>
            <a:pPr>
              <a:buFont typeface="Arial" pitchFamily="34" charset="0"/>
              <a:buChar char="•"/>
            </a:pPr>
            <a:r>
              <a:rPr lang="en-AU" sz="1200" kern="1200" dirty="0" smtClean="0">
                <a:solidFill>
                  <a:schemeClr val="tx1"/>
                </a:solidFill>
                <a:latin typeface="+mn-lt"/>
                <a:ea typeface="+mn-ea"/>
                <a:cs typeface="+mn-cs"/>
              </a:rPr>
              <a:t>Banning the taking/making of person telephone calls during working hours</a:t>
            </a:r>
          </a:p>
          <a:p>
            <a:pPr>
              <a:buFont typeface="Arial" pitchFamily="34" charset="0"/>
              <a:buChar char="•"/>
            </a:pPr>
            <a:r>
              <a:rPr lang="en-AU" sz="1200" kern="1200" dirty="0" smtClean="0">
                <a:solidFill>
                  <a:schemeClr val="tx1"/>
                </a:solidFill>
                <a:latin typeface="+mn-lt"/>
                <a:ea typeface="+mn-ea"/>
                <a:cs typeface="+mn-cs"/>
              </a:rPr>
              <a:t>Requiring employees to leave the business when they have completed their rostered working hours/shift</a:t>
            </a:r>
          </a:p>
          <a:p>
            <a:pPr>
              <a:buFont typeface="Arial" pitchFamily="34" charset="0"/>
              <a:buChar char="•"/>
            </a:pPr>
            <a:r>
              <a:rPr lang="en-AU" sz="1200" kern="1200" dirty="0" smtClean="0">
                <a:solidFill>
                  <a:schemeClr val="tx1"/>
                </a:solidFill>
                <a:latin typeface="+mn-lt"/>
                <a:ea typeface="+mn-ea"/>
                <a:cs typeface="+mn-cs"/>
              </a:rPr>
              <a:t>Forbidding staff to engage in ‘other employment’ while employed by the employer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on sites such as:</a:t>
            </a:r>
          </a:p>
          <a:p>
            <a:r>
              <a:rPr lang="en-AU" sz="1200" u="sng" kern="1200" dirty="0" smtClean="0">
                <a:solidFill>
                  <a:schemeClr val="tx1"/>
                </a:solidFill>
                <a:latin typeface="+mn-lt"/>
                <a:ea typeface="+mn-ea"/>
                <a:cs typeface="+mn-cs"/>
                <a:hlinkClick r:id="rId3"/>
              </a:rPr>
              <a:t>http://www.humanrightscommission.vic.gov.au/index.php/workers-rights/workplace-terms-a-conditions</a:t>
            </a:r>
            <a:r>
              <a:rPr lang="en-AU" sz="1200" kern="1200" dirty="0" smtClean="0">
                <a:solidFill>
                  <a:schemeClr val="tx1"/>
                </a:solidFill>
                <a:latin typeface="+mn-lt"/>
                <a:ea typeface="+mn-ea"/>
                <a:cs typeface="+mn-cs"/>
              </a:rPr>
              <a:t> - Workplace terms and conditions for employees</a:t>
            </a:r>
          </a:p>
          <a:p>
            <a:r>
              <a:rPr lang="en-AU" sz="1200" u="sng" kern="1200" dirty="0" smtClean="0">
                <a:solidFill>
                  <a:schemeClr val="tx1"/>
                </a:solidFill>
                <a:latin typeface="+mn-lt"/>
                <a:ea typeface="+mn-ea"/>
                <a:cs typeface="+mn-cs"/>
                <a:hlinkClick r:id="rId4"/>
              </a:rPr>
              <a:t>http://www.dfat.gov.au/dept/DFAT-Enterprise-Agreement-2011-14.pdf</a:t>
            </a:r>
            <a:r>
              <a:rPr lang="en-AU" sz="1200" kern="1200" dirty="0" smtClean="0">
                <a:solidFill>
                  <a:schemeClr val="tx1"/>
                </a:solidFill>
                <a:latin typeface="+mn-lt"/>
                <a:ea typeface="+mn-ea"/>
                <a:cs typeface="+mn-cs"/>
              </a:rPr>
              <a:t> - Department of Foreign Affairs and Trade: Enterprise agreement</a:t>
            </a: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38190128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discusses Letters of Offer stating:</a:t>
            </a:r>
          </a:p>
          <a:p>
            <a:pPr>
              <a:buFont typeface="Arial" pitchFamily="34" charset="0"/>
              <a:buChar char="•"/>
            </a:pPr>
            <a:r>
              <a:rPr lang="en-AU" sz="1200" kern="1200" dirty="0" smtClean="0">
                <a:solidFill>
                  <a:schemeClr val="tx1"/>
                </a:solidFill>
                <a:latin typeface="+mn-lt"/>
                <a:ea typeface="+mn-ea"/>
                <a:cs typeface="+mn-cs"/>
              </a:rPr>
              <a:t>The contents of the ‘Conditions of Employment’ and/or the work contract are often contained within a formal ‘Letter of Offer’ sent by the organisation to the person who has been selected for a job.</a:t>
            </a:r>
          </a:p>
          <a:p>
            <a:pPr>
              <a:buFont typeface="Arial" pitchFamily="34" charset="0"/>
              <a:buChar char="•"/>
            </a:pPr>
            <a:r>
              <a:rPr lang="en-AU" sz="1200" kern="1200" dirty="0" smtClean="0">
                <a:solidFill>
                  <a:schemeClr val="tx1"/>
                </a:solidFill>
                <a:latin typeface="+mn-lt"/>
                <a:ea typeface="+mn-ea"/>
                <a:cs typeface="+mn-cs"/>
              </a:rPr>
              <a:t>They are required to sign the contract within a given time – usually seven days – and return it to the employer as evidence:</a:t>
            </a:r>
          </a:p>
          <a:p>
            <a:pPr>
              <a:buFont typeface="Arial" pitchFamily="34" charset="0"/>
              <a:buChar char="•"/>
            </a:pPr>
            <a:r>
              <a:rPr lang="en-AU" sz="1200" kern="1200" dirty="0" smtClean="0">
                <a:solidFill>
                  <a:schemeClr val="tx1"/>
                </a:solidFill>
                <a:latin typeface="+mn-lt"/>
                <a:ea typeface="+mn-ea"/>
                <a:cs typeface="+mn-cs"/>
              </a:rPr>
              <a:t>They have accepted the position</a:t>
            </a:r>
          </a:p>
          <a:p>
            <a:pPr>
              <a:buFont typeface="Arial" pitchFamily="34" charset="0"/>
              <a:buChar char="•"/>
            </a:pPr>
            <a:r>
              <a:rPr lang="en-AU" sz="1200" kern="1200" dirty="0" smtClean="0">
                <a:solidFill>
                  <a:schemeClr val="tx1"/>
                </a:solidFill>
                <a:latin typeface="+mn-lt"/>
                <a:ea typeface="+mn-ea"/>
                <a:cs typeface="+mn-cs"/>
              </a:rPr>
              <a:t>They have read the contract of employment</a:t>
            </a:r>
          </a:p>
          <a:p>
            <a:pPr>
              <a:buFont typeface="Arial" pitchFamily="34" charset="0"/>
              <a:buChar char="•"/>
            </a:pPr>
            <a:r>
              <a:rPr lang="en-AU" sz="1200" kern="1200" dirty="0" smtClean="0">
                <a:solidFill>
                  <a:schemeClr val="tx1"/>
                </a:solidFill>
                <a:latin typeface="+mn-lt"/>
                <a:ea typeface="+mn-ea"/>
                <a:cs typeface="+mn-cs"/>
              </a:rPr>
              <a:t>They agree to be bound and abide by the terms contained in the agreement.</a:t>
            </a:r>
          </a:p>
          <a:p>
            <a:pPr>
              <a:buFont typeface="Arial" pitchFamily="34" charset="0"/>
              <a:buNone/>
            </a:pPr>
            <a:endParaRPr lang="en-AU" noProof="0" dirty="0" smtClean="0"/>
          </a:p>
          <a:p>
            <a:pPr>
              <a:buFont typeface="Arial" pitchFamily="34" charset="0"/>
              <a:buNone/>
            </a:pPr>
            <a:r>
              <a:rPr lang="en-AU" b="1" noProof="0" dirty="0" smtClean="0"/>
              <a:t>Classroom Activity 1 – Handouts</a:t>
            </a:r>
          </a:p>
          <a:p>
            <a:pPr>
              <a:buFont typeface="Arial" pitchFamily="34" charset="0"/>
              <a:buNone/>
            </a:pPr>
            <a:r>
              <a:rPr lang="en-AU" b="0" noProof="0" dirty="0" smtClean="0"/>
              <a:t>Trainer distributes and discusses sample Letters of Offer.</a:t>
            </a:r>
          </a:p>
          <a:p>
            <a:pPr>
              <a:buFont typeface="Arial" pitchFamily="34" charset="0"/>
              <a:buNone/>
            </a:pPr>
            <a:endParaRPr lang="en-AU" noProof="0" dirty="0" smtClean="0"/>
          </a:p>
          <a:p>
            <a:pPr>
              <a:buFont typeface="Arial" pitchFamily="34" charset="0"/>
              <a:buNone/>
            </a:pPr>
            <a:r>
              <a:rPr lang="en-AU" b="1" noProof="0" dirty="0" smtClean="0"/>
              <a:t>Classroom Activity 2 – Internet Research</a:t>
            </a:r>
          </a:p>
          <a:p>
            <a:pPr>
              <a:buFont typeface="Arial" pitchFamily="34" charset="0"/>
              <a:buNone/>
            </a:pPr>
            <a:r>
              <a:rPr lang="en-AU" b="0" noProof="0" dirty="0" smtClean="0"/>
              <a:t>Trainer facilitates online research and subsequent discussion about:</a:t>
            </a:r>
          </a:p>
          <a:p>
            <a:r>
              <a:rPr lang="en-AU" sz="1200" u="sng" kern="1200" dirty="0" smtClean="0">
                <a:solidFill>
                  <a:schemeClr val="tx1"/>
                </a:solidFill>
                <a:latin typeface="+mn-lt"/>
                <a:ea typeface="+mn-ea"/>
                <a:cs typeface="+mn-cs"/>
                <a:hlinkClick r:id="rId3"/>
              </a:rPr>
              <a:t>http://www.plus40.com.au/site/uploaded/EmpContract.pdf</a:t>
            </a:r>
            <a:r>
              <a:rPr lang="en-AU" sz="1200" kern="1200" dirty="0" smtClean="0">
                <a:solidFill>
                  <a:schemeClr val="tx1"/>
                </a:solidFill>
                <a:latin typeface="+mn-lt"/>
                <a:ea typeface="+mn-ea"/>
                <a:cs typeface="+mn-cs"/>
              </a:rPr>
              <a:t> - Sample employment contract</a:t>
            </a:r>
          </a:p>
          <a:p>
            <a:r>
              <a:rPr lang="en-AU" sz="1200" u="sng" kern="1200" dirty="0" smtClean="0">
                <a:solidFill>
                  <a:schemeClr val="tx1"/>
                </a:solidFill>
                <a:latin typeface="+mn-lt"/>
                <a:ea typeface="+mn-ea"/>
                <a:cs typeface="+mn-cs"/>
                <a:hlinkClick r:id="rId4"/>
              </a:rPr>
              <a:t>https://advertiser.seek.com.au/Advertisers/resources/eg_letter_offer.ascx</a:t>
            </a:r>
            <a:r>
              <a:rPr lang="en-AU" sz="1200" kern="1200" dirty="0" smtClean="0">
                <a:solidFill>
                  <a:schemeClr val="tx1"/>
                </a:solidFill>
                <a:latin typeface="+mn-lt"/>
                <a:ea typeface="+mn-ea"/>
                <a:cs typeface="+mn-cs"/>
              </a:rPr>
              <a:t> - Example letter of offer and employment contract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7156086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presents information on Employee Files stating </a:t>
            </a:r>
            <a:r>
              <a:rPr lang="en-AU" sz="1200" kern="1200" dirty="0" smtClean="0">
                <a:solidFill>
                  <a:schemeClr val="tx1"/>
                </a:solidFill>
                <a:latin typeface="+mn-lt"/>
                <a:ea typeface="+mn-ea"/>
                <a:cs typeface="+mn-cs"/>
              </a:rPr>
              <a:t>organisations commonly establish an ‘Employee File’ for every employee in their workforce and this is usually a paper-based file which may contain/record:</a:t>
            </a:r>
          </a:p>
          <a:p>
            <a:pPr>
              <a:buFont typeface="Arial" pitchFamily="34" charset="0"/>
              <a:buChar char="•"/>
            </a:pPr>
            <a:r>
              <a:rPr lang="en-AU" sz="1200" kern="1200" dirty="0" smtClean="0">
                <a:solidFill>
                  <a:schemeClr val="tx1"/>
                </a:solidFill>
                <a:latin typeface="+mn-lt"/>
                <a:ea typeface="+mn-ea"/>
                <a:cs typeface="+mn-cs"/>
              </a:rPr>
              <a:t>Copy of the Job Statement (see following slides) for the role performed by the staff member</a:t>
            </a:r>
          </a:p>
          <a:p>
            <a:pPr>
              <a:buFont typeface="Arial" pitchFamily="34" charset="0"/>
              <a:buChar char="•"/>
            </a:pPr>
            <a:r>
              <a:rPr lang="en-AU" sz="1200" kern="1200" dirty="0" smtClean="0">
                <a:solidFill>
                  <a:schemeClr val="tx1"/>
                </a:solidFill>
                <a:latin typeface="+mn-lt"/>
                <a:ea typeface="+mn-ea"/>
                <a:cs typeface="+mn-cs"/>
              </a:rPr>
              <a:t>Copy of the job vacancy advertisement placed for the job</a:t>
            </a:r>
          </a:p>
          <a:p>
            <a:pPr>
              <a:buFont typeface="Arial" pitchFamily="34" charset="0"/>
              <a:buChar char="•"/>
            </a:pPr>
            <a:r>
              <a:rPr lang="en-AU" sz="1200" kern="1200" dirty="0" smtClean="0">
                <a:solidFill>
                  <a:schemeClr val="tx1"/>
                </a:solidFill>
                <a:latin typeface="+mn-lt"/>
                <a:ea typeface="+mn-ea"/>
                <a:cs typeface="+mn-cs"/>
              </a:rPr>
              <a:t>Copy of application for the position – in terms of:</a:t>
            </a:r>
          </a:p>
          <a:p>
            <a:pPr lvl="1">
              <a:buFont typeface="Arial" pitchFamily="34" charset="0"/>
              <a:buChar char="•"/>
            </a:pPr>
            <a:r>
              <a:rPr lang="en-AU" sz="1200" kern="1200" dirty="0" smtClean="0">
                <a:solidFill>
                  <a:schemeClr val="tx1"/>
                </a:solidFill>
                <a:latin typeface="+mn-lt"/>
                <a:ea typeface="+mn-ea"/>
                <a:cs typeface="+mn-cs"/>
              </a:rPr>
              <a:t>Their Covering Letter</a:t>
            </a:r>
          </a:p>
          <a:p>
            <a:pPr lvl="1">
              <a:buFont typeface="Arial" pitchFamily="34" charset="0"/>
              <a:buChar char="•"/>
            </a:pPr>
            <a:r>
              <a:rPr lang="en-AU" sz="1200" kern="1200" dirty="0" smtClean="0">
                <a:solidFill>
                  <a:schemeClr val="tx1"/>
                </a:solidFill>
                <a:latin typeface="+mn-lt"/>
                <a:ea typeface="+mn-ea"/>
                <a:cs typeface="+mn-cs"/>
              </a:rPr>
              <a:t>Their CV</a:t>
            </a:r>
          </a:p>
          <a:p>
            <a:pPr lvl="1">
              <a:buFont typeface="Arial" pitchFamily="34" charset="0"/>
              <a:buChar char="•"/>
            </a:pPr>
            <a:r>
              <a:rPr lang="en-AU" sz="1200" kern="1200" dirty="0" smtClean="0">
                <a:solidFill>
                  <a:schemeClr val="tx1"/>
                </a:solidFill>
                <a:latin typeface="+mn-lt"/>
                <a:ea typeface="+mn-ea"/>
                <a:cs typeface="+mn-cs"/>
              </a:rPr>
              <a:t>References provided</a:t>
            </a:r>
          </a:p>
          <a:p>
            <a:pPr lvl="1">
              <a:buFont typeface="Arial" pitchFamily="34" charset="0"/>
              <a:buChar char="•"/>
            </a:pPr>
            <a:r>
              <a:rPr lang="en-AU" sz="1200" kern="1200" dirty="0" smtClean="0">
                <a:solidFill>
                  <a:schemeClr val="tx1"/>
                </a:solidFill>
                <a:latin typeface="+mn-lt"/>
                <a:ea typeface="+mn-ea"/>
                <a:cs typeface="+mn-cs"/>
              </a:rPr>
              <a:t>Copies of qualifications </a:t>
            </a:r>
          </a:p>
          <a:p>
            <a:pPr>
              <a:buFont typeface="Arial" pitchFamily="34" charset="0"/>
              <a:buChar char="•"/>
            </a:pPr>
            <a:r>
              <a:rPr lang="en-AU" sz="1200" kern="1200" dirty="0" smtClean="0">
                <a:solidFill>
                  <a:schemeClr val="tx1"/>
                </a:solidFill>
                <a:latin typeface="+mn-lt"/>
                <a:ea typeface="+mn-ea"/>
                <a:cs typeface="+mn-cs"/>
              </a:rPr>
              <a:t>Details of the interview conducted with the individual – with reference to (for example):</a:t>
            </a:r>
          </a:p>
          <a:p>
            <a:pPr lvl="1">
              <a:buFont typeface="Arial" pitchFamily="34" charset="0"/>
              <a:buChar char="•"/>
            </a:pPr>
            <a:r>
              <a:rPr lang="en-AU" sz="1200" kern="1200" dirty="0" smtClean="0">
                <a:solidFill>
                  <a:schemeClr val="tx1"/>
                </a:solidFill>
                <a:latin typeface="+mn-lt"/>
                <a:ea typeface="+mn-ea"/>
                <a:cs typeface="+mn-cs"/>
              </a:rPr>
              <a:t>Interviewer notes taken at the time</a:t>
            </a:r>
          </a:p>
          <a:p>
            <a:pPr lvl="1">
              <a:buFont typeface="Arial" pitchFamily="34" charset="0"/>
              <a:buChar char="•"/>
            </a:pPr>
            <a:r>
              <a:rPr lang="en-AU" sz="1200" kern="1200" dirty="0" smtClean="0">
                <a:solidFill>
                  <a:schemeClr val="tx1"/>
                </a:solidFill>
                <a:latin typeface="+mn-lt"/>
                <a:ea typeface="+mn-ea"/>
                <a:cs typeface="+mn-cs"/>
              </a:rPr>
              <a:t>Scores achieved by the applicant in relation to the KSC for the job as determined by those who conducted the interview</a:t>
            </a: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sample Personnel Files.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4161920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information on contents of Employee Files:</a:t>
            </a:r>
          </a:p>
          <a:p>
            <a:pPr>
              <a:buFont typeface="Arial" pitchFamily="34" charset="0"/>
              <a:buChar char="•"/>
            </a:pPr>
            <a:r>
              <a:rPr lang="en-AU" sz="1200" kern="1200" dirty="0" smtClean="0">
                <a:solidFill>
                  <a:schemeClr val="tx1"/>
                </a:solidFill>
                <a:latin typeface="+mn-lt"/>
                <a:ea typeface="+mn-ea"/>
                <a:cs typeface="+mn-cs"/>
              </a:rPr>
              <a:t>Signed copy of the Letter of Offer/Employment Contract</a:t>
            </a:r>
          </a:p>
          <a:p>
            <a:pPr>
              <a:buFont typeface="Arial" pitchFamily="34" charset="0"/>
              <a:buChar char="•"/>
            </a:pPr>
            <a:r>
              <a:rPr lang="en-AU" sz="1200" kern="1200" dirty="0" smtClean="0">
                <a:solidFill>
                  <a:schemeClr val="tx1"/>
                </a:solidFill>
                <a:latin typeface="+mn-lt"/>
                <a:ea typeface="+mn-ea"/>
                <a:cs typeface="+mn-cs"/>
              </a:rPr>
              <a:t>Ongoing performance management details</a:t>
            </a:r>
          </a:p>
          <a:p>
            <a:pPr>
              <a:buFont typeface="Arial" pitchFamily="34" charset="0"/>
              <a:buChar char="•"/>
            </a:pPr>
            <a:r>
              <a:rPr lang="en-AU" sz="1200" kern="1200" dirty="0" smtClean="0">
                <a:solidFill>
                  <a:schemeClr val="tx1"/>
                </a:solidFill>
                <a:latin typeface="+mn-lt"/>
                <a:ea typeface="+mn-ea"/>
                <a:cs typeface="+mn-cs"/>
              </a:rPr>
              <a:t>Details of any internal training or PD undertaken</a:t>
            </a:r>
          </a:p>
          <a:p>
            <a:pPr>
              <a:buFont typeface="Arial" pitchFamily="34" charset="0"/>
              <a:buChar char="•"/>
            </a:pPr>
            <a:r>
              <a:rPr lang="en-AU" sz="1200" kern="1200" dirty="0" smtClean="0">
                <a:solidFill>
                  <a:schemeClr val="tx1"/>
                </a:solidFill>
                <a:latin typeface="+mn-lt"/>
                <a:ea typeface="+mn-ea"/>
                <a:cs typeface="+mn-cs"/>
              </a:rPr>
              <a:t>Details of further external qualifications obtained after initial employment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4541362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information on contents of Employee Files:</a:t>
            </a:r>
          </a:p>
          <a:p>
            <a:pPr>
              <a:buFont typeface="Arial" pitchFamily="34" charset="0"/>
              <a:buChar char="•"/>
            </a:pPr>
            <a:r>
              <a:rPr lang="en-AU" sz="1200" kern="1200" dirty="0" smtClean="0">
                <a:solidFill>
                  <a:schemeClr val="tx1"/>
                </a:solidFill>
                <a:latin typeface="+mn-lt"/>
                <a:ea typeface="+mn-ea"/>
                <a:cs typeface="+mn-cs"/>
              </a:rPr>
              <a:t>Details of any disciplinary action taken in relation to the staff member – such as:</a:t>
            </a:r>
          </a:p>
          <a:p>
            <a:pPr lvl="1">
              <a:buFont typeface="Arial" pitchFamily="34" charset="0"/>
              <a:buChar char="•"/>
            </a:pPr>
            <a:r>
              <a:rPr lang="en-AU" sz="1200" kern="1200" dirty="0" smtClean="0">
                <a:solidFill>
                  <a:schemeClr val="tx1"/>
                </a:solidFill>
                <a:latin typeface="+mn-lt"/>
                <a:ea typeface="+mn-ea"/>
                <a:cs typeface="+mn-cs"/>
              </a:rPr>
              <a:t>Counselling sessions</a:t>
            </a:r>
          </a:p>
          <a:p>
            <a:pPr lvl="1">
              <a:buFont typeface="Arial" pitchFamily="34" charset="0"/>
              <a:buChar char="•"/>
            </a:pPr>
            <a:r>
              <a:rPr lang="en-AU" sz="1200" kern="1200" dirty="0" smtClean="0">
                <a:solidFill>
                  <a:schemeClr val="tx1"/>
                </a:solidFill>
                <a:latin typeface="+mn-lt"/>
                <a:ea typeface="+mn-ea"/>
                <a:cs typeface="+mn-cs"/>
              </a:rPr>
              <a:t>Verbal warnings</a:t>
            </a:r>
          </a:p>
          <a:p>
            <a:pPr lvl="1">
              <a:buFont typeface="Arial" pitchFamily="34" charset="0"/>
              <a:buChar char="•"/>
            </a:pPr>
            <a:r>
              <a:rPr lang="en-AU" sz="1200" kern="1200" dirty="0" smtClean="0">
                <a:solidFill>
                  <a:schemeClr val="tx1"/>
                </a:solidFill>
                <a:latin typeface="+mn-lt"/>
                <a:ea typeface="+mn-ea"/>
                <a:cs typeface="+mn-cs"/>
              </a:rPr>
              <a:t>Written warnings</a:t>
            </a:r>
          </a:p>
          <a:p>
            <a:pPr>
              <a:buFont typeface="Arial" pitchFamily="34" charset="0"/>
              <a:buChar char="•"/>
            </a:pPr>
            <a:r>
              <a:rPr lang="en-AU" sz="1200" kern="1200" dirty="0" smtClean="0">
                <a:solidFill>
                  <a:schemeClr val="tx1"/>
                </a:solidFill>
                <a:latin typeface="+mn-lt"/>
                <a:ea typeface="+mn-ea"/>
                <a:cs typeface="+mn-cs"/>
              </a:rPr>
              <a:t>Details of extra responsibilities given to the person</a:t>
            </a:r>
          </a:p>
          <a:p>
            <a:pPr>
              <a:buFont typeface="Arial" pitchFamily="34" charset="0"/>
              <a:buChar char="•"/>
            </a:pPr>
            <a:r>
              <a:rPr lang="en-AU" sz="1200" kern="1200" dirty="0" smtClean="0">
                <a:solidFill>
                  <a:schemeClr val="tx1"/>
                </a:solidFill>
                <a:latin typeface="+mn-lt"/>
                <a:ea typeface="+mn-ea"/>
                <a:cs typeface="+mn-cs"/>
              </a:rPr>
              <a:t>Details of promotions earned. </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2860479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notes </a:t>
            </a:r>
            <a:r>
              <a:rPr lang="en-AU" sz="1200" kern="1200" dirty="0" smtClean="0">
                <a:solidFill>
                  <a:schemeClr val="tx1"/>
                </a:solidFill>
                <a:latin typeface="+mn-lt"/>
                <a:ea typeface="+mn-ea"/>
                <a:cs typeface="+mn-cs"/>
              </a:rPr>
              <a:t>some organisations prepare a Job Statement for every position within the business explaining the Job Statement is a document combining:</a:t>
            </a:r>
          </a:p>
          <a:p>
            <a:pPr>
              <a:buFont typeface="Arial" pitchFamily="34" charset="0"/>
              <a:buChar char="•"/>
            </a:pPr>
            <a:r>
              <a:rPr lang="en-AU" sz="1200" kern="1200" dirty="0" smtClean="0">
                <a:solidFill>
                  <a:schemeClr val="tx1"/>
                </a:solidFill>
                <a:latin typeface="+mn-lt"/>
                <a:ea typeface="+mn-ea"/>
                <a:cs typeface="+mn-cs"/>
              </a:rPr>
              <a:t>The Job Description – see</a:t>
            </a:r>
            <a:r>
              <a:rPr lang="en-AU" sz="1200" kern="1200" baseline="0" dirty="0" smtClean="0">
                <a:solidFill>
                  <a:schemeClr val="tx1"/>
                </a:solidFill>
                <a:latin typeface="+mn-lt"/>
                <a:ea typeface="+mn-ea"/>
                <a:cs typeface="+mn-cs"/>
              </a:rPr>
              <a:t> later slides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The Job Specification – see</a:t>
            </a:r>
            <a:r>
              <a:rPr lang="en-AU" sz="1200" kern="1200" baseline="0" dirty="0" smtClean="0">
                <a:solidFill>
                  <a:schemeClr val="tx1"/>
                </a:solidFill>
                <a:latin typeface="+mn-lt"/>
                <a:ea typeface="+mn-ea"/>
                <a:cs typeface="+mn-cs"/>
              </a:rPr>
              <a:t> later slides</a:t>
            </a:r>
            <a:r>
              <a:rPr lang="en-AU" sz="1200" kern="1200" dirty="0" smtClean="0">
                <a:solidFill>
                  <a:schemeClr val="tx1"/>
                </a:solidFill>
                <a:latin typeface="+mn-lt"/>
                <a:ea typeface="+mn-ea"/>
                <a:cs typeface="+mn-cs"/>
              </a:rPr>
              <a:t>.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18031020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notes:</a:t>
            </a:r>
          </a:p>
          <a:p>
            <a:pPr>
              <a:buFont typeface="Arial" pitchFamily="34" charset="0"/>
              <a:buChar char="•"/>
            </a:pPr>
            <a:r>
              <a:rPr lang="en-AU" sz="1200" kern="1200" dirty="0" smtClean="0">
                <a:solidFill>
                  <a:schemeClr val="tx1"/>
                </a:solidFill>
                <a:latin typeface="+mn-lt"/>
                <a:ea typeface="+mn-ea"/>
                <a:cs typeface="+mn-cs"/>
              </a:rPr>
              <a:t>The Job Description may be referred to as the ‘Position Description’ (or PD) </a:t>
            </a:r>
          </a:p>
          <a:p>
            <a:pPr>
              <a:buFont typeface="Arial" pitchFamily="34" charset="0"/>
              <a:buChar char="•"/>
            </a:pPr>
            <a:r>
              <a:rPr lang="en-AU" sz="1200" kern="1200" dirty="0" smtClean="0">
                <a:solidFill>
                  <a:schemeClr val="tx1"/>
                </a:solidFill>
                <a:latin typeface="+mn-lt"/>
                <a:ea typeface="+mn-ea"/>
                <a:cs typeface="+mn-cs"/>
              </a:rPr>
              <a:t>The Job Specification is also known as the Person Specification</a:t>
            </a:r>
          </a:p>
          <a:p>
            <a:pPr>
              <a:buFont typeface="Arial" pitchFamily="34" charset="0"/>
              <a:buChar char="•"/>
            </a:pPr>
            <a:r>
              <a:rPr lang="en-AU" sz="1200" kern="1200" dirty="0" smtClean="0">
                <a:solidFill>
                  <a:schemeClr val="tx1"/>
                </a:solidFill>
                <a:latin typeface="+mn-lt"/>
                <a:ea typeface="+mn-ea"/>
                <a:cs typeface="+mn-cs"/>
              </a:rPr>
              <a:t>Not all enterprises have a Job Statement even though they may have both a Job Description and Job Specification</a:t>
            </a:r>
          </a:p>
          <a:p>
            <a:pPr>
              <a:buFont typeface="Arial" pitchFamily="34" charset="0"/>
              <a:buChar char="•"/>
            </a:pPr>
            <a:r>
              <a:rPr lang="en-AU" sz="1200" kern="1200" dirty="0" smtClean="0">
                <a:solidFill>
                  <a:schemeClr val="tx1"/>
                </a:solidFill>
                <a:latin typeface="+mn-lt"/>
                <a:ea typeface="+mn-ea"/>
                <a:cs typeface="+mn-cs"/>
              </a:rPr>
              <a:t>Job Description and Job Statements may exist for some positions but not others</a:t>
            </a:r>
          </a:p>
          <a:p>
            <a:pPr>
              <a:buFont typeface="Arial" pitchFamily="34" charset="0"/>
              <a:buChar char="•"/>
            </a:pPr>
            <a:r>
              <a:rPr lang="en-AU" sz="1200" kern="1200" dirty="0" smtClean="0">
                <a:solidFill>
                  <a:schemeClr val="tx1"/>
                </a:solidFill>
                <a:latin typeface="+mn-lt"/>
                <a:ea typeface="+mn-ea"/>
                <a:cs typeface="+mn-cs"/>
              </a:rPr>
              <a:t>These documents need to be updated regularly in order for them to remain relevant and useful for the purposes of recruiting and selection staff.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6594299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observes J</a:t>
            </a:r>
            <a:r>
              <a:rPr lang="en-AU" sz="1200" kern="1200" dirty="0" smtClean="0">
                <a:solidFill>
                  <a:schemeClr val="tx1"/>
                </a:solidFill>
                <a:latin typeface="+mn-lt"/>
                <a:ea typeface="+mn-ea"/>
                <a:cs typeface="+mn-cs"/>
              </a:rPr>
              <a:t>ob Description may contain: </a:t>
            </a:r>
          </a:p>
          <a:p>
            <a:pPr>
              <a:buFont typeface="Arial" pitchFamily="34" charset="0"/>
              <a:buChar char="•"/>
            </a:pPr>
            <a:r>
              <a:rPr lang="en-AU" sz="1200" kern="1200" dirty="0" smtClean="0">
                <a:solidFill>
                  <a:schemeClr val="tx1"/>
                </a:solidFill>
                <a:latin typeface="+mn-lt"/>
                <a:ea typeface="+mn-ea"/>
                <a:cs typeface="+mn-cs"/>
              </a:rPr>
              <a:t>Title of the job to ensure everyone knows the exact job/position to which the description applies </a:t>
            </a:r>
          </a:p>
          <a:p>
            <a:pPr>
              <a:buFont typeface="Arial" pitchFamily="34" charset="0"/>
              <a:buChar char="•"/>
            </a:pPr>
            <a:r>
              <a:rPr lang="en-AU" sz="1200" kern="1200" dirty="0" smtClean="0">
                <a:solidFill>
                  <a:schemeClr val="tx1"/>
                </a:solidFill>
                <a:latin typeface="+mn-lt"/>
                <a:ea typeface="+mn-ea"/>
                <a:cs typeface="+mn-cs"/>
              </a:rPr>
              <a:t>Location of the job – this is a description of the department where the job is located. In some businesses this may also include the actual address of the job (where the establishment has multiple sites/outlets). </a:t>
            </a:r>
          </a:p>
          <a:p>
            <a:pPr lvl="1">
              <a:buFont typeface="Arial" pitchFamily="34" charset="0"/>
              <a:buChar char="•"/>
            </a:pPr>
            <a:r>
              <a:rPr lang="en-AU" sz="1200" kern="1200" dirty="0" smtClean="0">
                <a:solidFill>
                  <a:schemeClr val="tx1"/>
                </a:solidFill>
                <a:latin typeface="+mn-lt"/>
                <a:ea typeface="+mn-ea"/>
                <a:cs typeface="+mn-cs"/>
              </a:rPr>
              <a:t>There may be an added indication as to whether the position is front-of-house or back-of-house </a:t>
            </a:r>
          </a:p>
          <a:p>
            <a:pPr>
              <a:buFont typeface="Arial" pitchFamily="34" charset="0"/>
              <a:buChar char="•"/>
            </a:pPr>
            <a:r>
              <a:rPr lang="en-AU" sz="1200" kern="1200" dirty="0" smtClean="0">
                <a:solidFill>
                  <a:schemeClr val="tx1"/>
                </a:solidFill>
                <a:latin typeface="+mn-lt"/>
                <a:ea typeface="+mn-ea"/>
                <a:cs typeface="+mn-cs"/>
              </a:rPr>
              <a:t>Job responsibilities – this lists responsibilities which attach to the job within the context of the workplace, but which may not apply to a similar job at another workplace. Examples may include: </a:t>
            </a:r>
          </a:p>
          <a:p>
            <a:pPr lvl="1">
              <a:buFont typeface="Arial" pitchFamily="34" charset="0"/>
              <a:buChar char="•"/>
            </a:pPr>
            <a:r>
              <a:rPr lang="en-AU" sz="1200" kern="1200" dirty="0" smtClean="0">
                <a:solidFill>
                  <a:schemeClr val="tx1"/>
                </a:solidFill>
                <a:latin typeface="+mn-lt"/>
                <a:ea typeface="+mn-ea"/>
                <a:cs typeface="+mn-cs"/>
              </a:rPr>
              <a:t>Occupational health and safety responsibilities </a:t>
            </a:r>
          </a:p>
          <a:p>
            <a:pPr lvl="1">
              <a:buFont typeface="Arial" pitchFamily="34" charset="0"/>
              <a:buChar char="•"/>
            </a:pPr>
            <a:r>
              <a:rPr lang="en-AU" sz="1200" kern="1200" dirty="0" smtClean="0">
                <a:solidFill>
                  <a:schemeClr val="tx1"/>
                </a:solidFill>
                <a:latin typeface="+mn-lt"/>
                <a:ea typeface="+mn-ea"/>
                <a:cs typeface="+mn-cs"/>
              </a:rPr>
              <a:t>Supervision of others </a:t>
            </a:r>
          </a:p>
          <a:p>
            <a:pPr lvl="1">
              <a:buFont typeface="Arial" pitchFamily="34" charset="0"/>
              <a:buChar char="•"/>
            </a:pPr>
            <a:r>
              <a:rPr lang="en-AU" sz="1200" kern="1200" dirty="0" smtClean="0">
                <a:solidFill>
                  <a:schemeClr val="tx1"/>
                </a:solidFill>
                <a:latin typeface="+mn-lt"/>
                <a:ea typeface="+mn-ea"/>
                <a:cs typeface="+mn-cs"/>
              </a:rPr>
              <a:t>Performing banking duties </a:t>
            </a:r>
          </a:p>
          <a:p>
            <a:pPr lvl="1">
              <a:buFont typeface="Arial" pitchFamily="34" charset="0"/>
              <a:buChar char="•"/>
            </a:pPr>
            <a:r>
              <a:rPr lang="en-AU" sz="1200" kern="1200" dirty="0" smtClean="0">
                <a:solidFill>
                  <a:schemeClr val="tx1"/>
                </a:solidFill>
                <a:latin typeface="+mn-lt"/>
                <a:ea typeface="+mn-ea"/>
                <a:cs typeface="+mn-cs"/>
              </a:rPr>
              <a:t>Being responsible for ordering stock </a:t>
            </a:r>
          </a:p>
          <a:p>
            <a:pPr lvl="1">
              <a:buFont typeface="Arial" pitchFamily="34" charset="0"/>
              <a:buChar char="•"/>
            </a:pPr>
            <a:r>
              <a:rPr lang="en-AU" sz="1200" kern="1200" dirty="0" smtClean="0">
                <a:solidFill>
                  <a:schemeClr val="tx1"/>
                </a:solidFill>
                <a:latin typeface="+mn-lt"/>
                <a:ea typeface="+mn-ea"/>
                <a:cs typeface="+mn-cs"/>
              </a:rPr>
              <a:t>Balancing registers at the end of trade </a:t>
            </a: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sample Job</a:t>
            </a:r>
            <a:r>
              <a:rPr lang="en-AU" b="0" baseline="0" noProof="0" dirty="0" smtClean="0"/>
              <a:t> Descriptions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386049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a:t>
            </a:r>
            <a:r>
              <a:rPr lang="en-AU" baseline="0" noProof="0" dirty="0" smtClean="0"/>
              <a:t> continues presenting contents of </a:t>
            </a:r>
            <a:r>
              <a:rPr lang="en-AU" b="0" noProof="0" dirty="0" smtClean="0"/>
              <a:t>Job Descriptions:</a:t>
            </a:r>
          </a:p>
          <a:p>
            <a:pPr>
              <a:buFont typeface="Arial" pitchFamily="34" charset="0"/>
              <a:buChar char="•"/>
            </a:pPr>
            <a:r>
              <a:rPr lang="en-AU" sz="1200" kern="1200" dirty="0" smtClean="0">
                <a:solidFill>
                  <a:schemeClr val="tx1"/>
                </a:solidFill>
                <a:latin typeface="+mn-lt"/>
                <a:ea typeface="+mn-ea"/>
                <a:cs typeface="+mn-cs"/>
              </a:rPr>
              <a:t>Day to day tasks/duties of the job – this is what the uninformed person might think comprises all there is to know about the job. It is a description of all work this position needs to do. Examples (depending on position) may include: </a:t>
            </a:r>
          </a:p>
          <a:p>
            <a:pPr lvl="1">
              <a:buFont typeface="Arial" pitchFamily="34" charset="0"/>
              <a:buChar char="•"/>
            </a:pPr>
            <a:r>
              <a:rPr lang="en-AU" sz="1200" kern="1200" dirty="0" smtClean="0">
                <a:solidFill>
                  <a:schemeClr val="tx1"/>
                </a:solidFill>
                <a:latin typeface="+mn-lt"/>
                <a:ea typeface="+mn-ea"/>
                <a:cs typeface="+mn-cs"/>
              </a:rPr>
              <a:t>Customer service </a:t>
            </a:r>
          </a:p>
          <a:p>
            <a:pPr lvl="1">
              <a:buFont typeface="Arial" pitchFamily="34" charset="0"/>
              <a:buChar char="•"/>
            </a:pPr>
            <a:r>
              <a:rPr lang="en-AU" sz="1200" kern="1200" dirty="0" smtClean="0">
                <a:solidFill>
                  <a:schemeClr val="tx1"/>
                </a:solidFill>
                <a:latin typeface="+mn-lt"/>
                <a:ea typeface="+mn-ea"/>
                <a:cs typeface="+mn-cs"/>
              </a:rPr>
              <a:t>Selling </a:t>
            </a:r>
          </a:p>
          <a:p>
            <a:pPr lvl="1">
              <a:buFont typeface="Arial" pitchFamily="34" charset="0"/>
              <a:buChar char="•"/>
            </a:pPr>
            <a:r>
              <a:rPr lang="en-AU" sz="1200" kern="1200" dirty="0" smtClean="0">
                <a:solidFill>
                  <a:schemeClr val="tx1"/>
                </a:solidFill>
                <a:latin typeface="+mn-lt"/>
                <a:ea typeface="+mn-ea"/>
                <a:cs typeface="+mn-cs"/>
              </a:rPr>
              <a:t>Cash register operation </a:t>
            </a:r>
          </a:p>
          <a:p>
            <a:pPr lvl="1">
              <a:buFont typeface="Arial" pitchFamily="34" charset="0"/>
              <a:buChar char="•"/>
            </a:pPr>
            <a:r>
              <a:rPr lang="en-AU" sz="1200" kern="1200" dirty="0" smtClean="0">
                <a:solidFill>
                  <a:schemeClr val="tx1"/>
                </a:solidFill>
                <a:latin typeface="+mn-lt"/>
                <a:ea typeface="+mn-ea"/>
                <a:cs typeface="+mn-cs"/>
              </a:rPr>
              <a:t>Stocktaking </a:t>
            </a:r>
          </a:p>
          <a:p>
            <a:pPr>
              <a:buFont typeface="Arial" pitchFamily="34" charset="0"/>
              <a:buChar char="•"/>
            </a:pPr>
            <a:r>
              <a:rPr lang="en-AU" sz="1200" kern="1200" dirty="0" smtClean="0">
                <a:solidFill>
                  <a:schemeClr val="tx1"/>
                </a:solidFill>
                <a:latin typeface="+mn-lt"/>
                <a:ea typeface="+mn-ea"/>
                <a:cs typeface="+mn-cs"/>
              </a:rPr>
              <a:t>Job title of the person the position reports to. </a:t>
            </a:r>
          </a:p>
          <a:p>
            <a:pPr lvl="1">
              <a:buFont typeface="Arial" pitchFamily="34" charset="0"/>
              <a:buChar char="•"/>
            </a:pPr>
            <a:r>
              <a:rPr lang="en-AU" sz="1200" kern="1200" dirty="0" smtClean="0">
                <a:solidFill>
                  <a:schemeClr val="tx1"/>
                </a:solidFill>
                <a:latin typeface="+mn-lt"/>
                <a:ea typeface="+mn-ea"/>
                <a:cs typeface="+mn-cs"/>
              </a:rPr>
              <a:t>This indicates who the position will be responsible to. It may be the site/business manager, a department, or some other position as appropriate. This person should have had significant input into job analysis and subsequent construction of the Job Specification and Job Description </a:t>
            </a:r>
          </a:p>
          <a:p>
            <a:pPr>
              <a:buFont typeface="Arial" pitchFamily="34" charset="0"/>
              <a:buChar char="•"/>
            </a:pPr>
            <a:r>
              <a:rPr lang="en-AU" sz="1200" kern="1200" dirty="0" smtClean="0">
                <a:solidFill>
                  <a:schemeClr val="tx1"/>
                </a:solidFill>
                <a:latin typeface="+mn-lt"/>
                <a:ea typeface="+mn-ea"/>
                <a:cs typeface="+mn-cs"/>
              </a:rPr>
              <a:t>Number of people supervised – if the position is responsible to oversee the work of others, this section indicates the supervisory extent of the position </a:t>
            </a:r>
          </a:p>
          <a:p>
            <a:pPr>
              <a:buFont typeface="Arial" pitchFamily="34" charset="0"/>
              <a:buChar char="•"/>
            </a:pPr>
            <a:r>
              <a:rPr lang="en-AU" sz="1200" kern="1200" dirty="0" smtClean="0">
                <a:solidFill>
                  <a:schemeClr val="tx1"/>
                </a:solidFill>
                <a:latin typeface="+mn-lt"/>
                <a:ea typeface="+mn-ea"/>
                <a:cs typeface="+mn-cs"/>
              </a:rPr>
              <a:t>Working conditions – in some job descriptions it has been found to be beneficial to note the working conditions the successful applicant is expected to work under. It is very important to be honest in this description to avoid hiding negative aspects of the job from potential job applicants. </a:t>
            </a:r>
          </a:p>
          <a:p>
            <a:pPr lvl="1">
              <a:buFont typeface="Arial" pitchFamily="34" charset="0"/>
              <a:buChar char="•"/>
            </a:pPr>
            <a:r>
              <a:rPr lang="en-AU" sz="1200" kern="1200" dirty="0" smtClean="0">
                <a:solidFill>
                  <a:schemeClr val="tx1"/>
                </a:solidFill>
                <a:latin typeface="+mn-lt"/>
                <a:ea typeface="+mn-ea"/>
                <a:cs typeface="+mn-cs"/>
              </a:rPr>
              <a:t>Things such as the fact the work is performed in an office, in a very busy location, requires people to be on their feet all day and/or to work in a noisy environment, may be listed. </a:t>
            </a:r>
          </a:p>
          <a:p>
            <a:pPr>
              <a:buFont typeface="Arial" pitchFamily="34" charset="0"/>
              <a:buNone/>
            </a:pPr>
            <a:endParaRPr lang="en-AU" baseline="0"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asks students to prepare a Job Description for nominated</a:t>
            </a:r>
            <a:r>
              <a:rPr lang="en-AU" b="0" baseline="0" noProof="0" dirty="0" smtClean="0"/>
              <a:t> positions.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6052483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a:t>
            </a:r>
            <a:r>
              <a:rPr lang="en-AU" baseline="0" noProof="0" dirty="0" smtClean="0"/>
              <a:t> continues presenting contents of </a:t>
            </a:r>
            <a:r>
              <a:rPr lang="en-AU" b="0" noProof="0" dirty="0" smtClean="0"/>
              <a:t>Job Descriptions:</a:t>
            </a:r>
          </a:p>
          <a:p>
            <a:pPr>
              <a:buFont typeface="Arial" pitchFamily="34" charset="0"/>
              <a:buChar char="•"/>
            </a:pPr>
            <a:r>
              <a:rPr lang="en-AU" sz="1200" kern="1200" dirty="0" smtClean="0">
                <a:solidFill>
                  <a:schemeClr val="tx1"/>
                </a:solidFill>
                <a:latin typeface="+mn-lt"/>
                <a:ea typeface="+mn-ea"/>
                <a:cs typeface="+mn-cs"/>
              </a:rPr>
              <a:t>Workplace hazards – this identifies any potentially dangerous equipment, working conditions, working environment, or work practices relating to the job </a:t>
            </a:r>
          </a:p>
          <a:p>
            <a:pPr>
              <a:buFont typeface="Arial" pitchFamily="34" charset="0"/>
              <a:buChar char="•"/>
            </a:pPr>
            <a:r>
              <a:rPr lang="en-AU" sz="1200" kern="1200" dirty="0" smtClean="0">
                <a:solidFill>
                  <a:schemeClr val="tx1"/>
                </a:solidFill>
                <a:latin typeface="+mn-lt"/>
                <a:ea typeface="+mn-ea"/>
                <a:cs typeface="+mn-cs"/>
              </a:rPr>
              <a:t>Special work procedures to be followed – this relates to the individual enterprise setting out unique work practices the organisation has deemed necessary but which other workplaces may not have. This may address work practices and protocols developed by the business designed to accommodate: </a:t>
            </a:r>
          </a:p>
          <a:p>
            <a:pPr lvl="1">
              <a:buFont typeface="Arial" pitchFamily="34" charset="0"/>
              <a:buChar char="•"/>
            </a:pPr>
            <a:r>
              <a:rPr lang="en-AU" sz="1200" kern="1200" dirty="0" smtClean="0">
                <a:solidFill>
                  <a:schemeClr val="tx1"/>
                </a:solidFill>
                <a:latin typeface="+mn-lt"/>
                <a:ea typeface="+mn-ea"/>
                <a:cs typeface="+mn-cs"/>
              </a:rPr>
              <a:t>Individual workplace layout </a:t>
            </a:r>
          </a:p>
          <a:p>
            <a:pPr lvl="1">
              <a:buFont typeface="Arial" pitchFamily="34" charset="0"/>
              <a:buChar char="•"/>
            </a:pPr>
            <a:r>
              <a:rPr lang="en-AU" sz="1200" kern="1200" dirty="0" smtClean="0">
                <a:solidFill>
                  <a:schemeClr val="tx1"/>
                </a:solidFill>
                <a:latin typeface="+mn-lt"/>
                <a:ea typeface="+mn-ea"/>
                <a:cs typeface="+mn-cs"/>
              </a:rPr>
              <a:t>Product standards and/or service levels</a:t>
            </a:r>
          </a:p>
          <a:p>
            <a:pPr lvl="1">
              <a:buFont typeface="Arial" pitchFamily="34" charset="0"/>
              <a:buChar char="•"/>
            </a:pPr>
            <a:r>
              <a:rPr lang="en-AU" sz="1200" kern="1200" dirty="0" smtClean="0">
                <a:solidFill>
                  <a:schemeClr val="tx1"/>
                </a:solidFill>
                <a:latin typeface="+mn-lt"/>
                <a:ea typeface="+mn-ea"/>
                <a:cs typeface="+mn-cs"/>
              </a:rPr>
              <a:t>Certain equipment, systems or  technology used </a:t>
            </a:r>
          </a:p>
          <a:p>
            <a:pPr lvl="1">
              <a:buFont typeface="Arial" pitchFamily="34" charset="0"/>
              <a:buChar char="•"/>
            </a:pPr>
            <a:r>
              <a:rPr lang="en-AU" sz="1200" kern="1200" dirty="0" smtClean="0">
                <a:solidFill>
                  <a:schemeClr val="tx1"/>
                </a:solidFill>
                <a:latin typeface="+mn-lt"/>
                <a:ea typeface="+mn-ea"/>
                <a:cs typeface="+mn-cs"/>
              </a:rPr>
              <a:t>Integration of one job or procedure with another in the workplace </a:t>
            </a:r>
          </a:p>
          <a:p>
            <a:pPr>
              <a:buFont typeface="Arial" pitchFamily="34" charset="0"/>
              <a:buChar char="•"/>
            </a:pPr>
            <a:r>
              <a:rPr lang="en-AU" sz="1200" kern="1200" dirty="0" smtClean="0">
                <a:solidFill>
                  <a:schemeClr val="tx1"/>
                </a:solidFill>
                <a:latin typeface="+mn-lt"/>
                <a:ea typeface="+mn-ea"/>
                <a:cs typeface="+mn-cs"/>
              </a:rPr>
              <a:t>Equipment used – this varies and can involve specifying a certain make/model of equipment with which the new worker will need to be familiar in order to avoid the need for training them in its use. </a:t>
            </a:r>
          </a:p>
          <a:p>
            <a:pPr>
              <a:buFont typeface="Arial" pitchFamily="34" charset="0"/>
              <a:buChar char="•"/>
            </a:pPr>
            <a:r>
              <a:rPr lang="en-AU" sz="1200" kern="1200" dirty="0" smtClean="0">
                <a:solidFill>
                  <a:schemeClr val="tx1"/>
                </a:solidFill>
                <a:latin typeface="+mn-lt"/>
                <a:ea typeface="+mn-ea"/>
                <a:cs typeface="+mn-cs"/>
              </a:rPr>
              <a:t>Output standards required – this will not apply to all jobs, but where it does matter it specifies requirements in terms of quality and quantity standards relating to their workplace performance. </a:t>
            </a:r>
          </a:p>
          <a:p>
            <a:pPr lvl="1">
              <a:buFont typeface="Arial" pitchFamily="34" charset="0"/>
              <a:buChar char="•"/>
            </a:pPr>
            <a:r>
              <a:rPr lang="en-AU" sz="1200" kern="1200" dirty="0" smtClean="0">
                <a:solidFill>
                  <a:schemeClr val="tx1"/>
                </a:solidFill>
                <a:latin typeface="+mn-lt"/>
                <a:ea typeface="+mn-ea"/>
                <a:cs typeface="+mn-cs"/>
              </a:rPr>
              <a:t>This also informs potential staff members of what will be expected of them and lets them know in advance how their performance will be assessed. </a:t>
            </a:r>
          </a:p>
          <a:p>
            <a:pPr>
              <a:buFont typeface="Arial" pitchFamily="34" charset="0"/>
              <a:buChar char="•"/>
            </a:pPr>
            <a:r>
              <a:rPr lang="en-AU" sz="1200" kern="1200" dirty="0" smtClean="0">
                <a:solidFill>
                  <a:schemeClr val="tx1"/>
                </a:solidFill>
                <a:latin typeface="+mn-lt"/>
                <a:ea typeface="+mn-ea"/>
                <a:cs typeface="+mn-cs"/>
              </a:rPr>
              <a:t>Type of work measurement methods used – this may not be so much a concern of small businesses but critical where pay rises are linked to productivity.</a:t>
            </a:r>
          </a:p>
          <a:p>
            <a:pPr lvl="1">
              <a:buFont typeface="Arial" pitchFamily="34" charset="0"/>
              <a:buChar char="•"/>
            </a:pPr>
            <a:r>
              <a:rPr lang="en-AU" sz="1200" kern="1200" dirty="0" smtClean="0">
                <a:solidFill>
                  <a:schemeClr val="tx1"/>
                </a:solidFill>
                <a:latin typeface="+mn-lt"/>
                <a:ea typeface="+mn-ea"/>
                <a:cs typeface="+mn-cs"/>
              </a:rPr>
              <a:t>This needs to be included so it is clear exactly how productivity will be judged when it comes time to assess worker issues such as individual contribution to overall performance and determine associated matters such as pay rises, promotions, extra hours, further responsibilities and training. </a:t>
            </a:r>
          </a:p>
          <a:p>
            <a:pPr>
              <a:buFont typeface="Arial" pitchFamily="34" charset="0"/>
              <a:buNone/>
            </a:pPr>
            <a:endParaRPr lang="en-AU" b="1"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In other words the job description contains all the information a person needs to know about the job itself.</a:t>
            </a:r>
          </a:p>
          <a:p>
            <a:pPr>
              <a:buFont typeface="Arial" pitchFamily="34" charset="0"/>
              <a:buNone/>
            </a:pPr>
            <a:endParaRPr lang="en-AU" b="1"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458865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observes in relation to J</a:t>
            </a:r>
            <a:r>
              <a:rPr lang="en-AU" sz="1200" kern="1200" dirty="0" smtClean="0">
                <a:solidFill>
                  <a:schemeClr val="tx1"/>
                </a:solidFill>
                <a:latin typeface="+mn-lt"/>
                <a:ea typeface="+mn-ea"/>
                <a:cs typeface="+mn-cs"/>
              </a:rPr>
              <a:t>ob Specification:</a:t>
            </a:r>
          </a:p>
          <a:p>
            <a:pPr>
              <a:buFont typeface="Arial" pitchFamily="34" charset="0"/>
              <a:buChar char="•"/>
            </a:pPr>
            <a:r>
              <a:rPr lang="en-AU" sz="1200" kern="1200" dirty="0" smtClean="0">
                <a:solidFill>
                  <a:schemeClr val="tx1"/>
                </a:solidFill>
                <a:latin typeface="+mn-lt"/>
                <a:ea typeface="+mn-ea"/>
                <a:cs typeface="+mn-cs"/>
              </a:rPr>
              <a:t>The job analysis will have helped to describe the type of person best suited to the job under consideration. </a:t>
            </a:r>
          </a:p>
          <a:p>
            <a:pPr>
              <a:buFont typeface="Arial" pitchFamily="34" charset="0"/>
              <a:buChar char="•"/>
            </a:pPr>
            <a:r>
              <a:rPr lang="en-AU" sz="1200" kern="1200" dirty="0" smtClean="0">
                <a:solidFill>
                  <a:schemeClr val="tx1"/>
                </a:solidFill>
                <a:latin typeface="+mn-lt"/>
                <a:ea typeface="+mn-ea"/>
                <a:cs typeface="+mn-cs"/>
              </a:rPr>
              <a:t>This addresses the </a:t>
            </a:r>
            <a:r>
              <a:rPr lang="en-AU" sz="1200" b="1" kern="1200" dirty="0" smtClean="0">
                <a:solidFill>
                  <a:schemeClr val="tx1"/>
                </a:solidFill>
                <a:latin typeface="+mn-lt"/>
                <a:ea typeface="+mn-ea"/>
                <a:cs typeface="+mn-cs"/>
              </a:rPr>
              <a:t>human qualities</a:t>
            </a:r>
            <a:r>
              <a:rPr lang="en-AU" sz="1200" kern="1200" dirty="0" smtClean="0">
                <a:solidFill>
                  <a:schemeClr val="tx1"/>
                </a:solidFill>
                <a:latin typeface="+mn-lt"/>
                <a:ea typeface="+mn-ea"/>
                <a:cs typeface="+mn-cs"/>
              </a:rPr>
              <a:t> the best person for the job would possess. This explains why some businesses refer to these as ‘Person Specifications’.</a:t>
            </a:r>
          </a:p>
          <a:p>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2976122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observes J</a:t>
            </a:r>
            <a:r>
              <a:rPr lang="en-AU" sz="1200" kern="1200" dirty="0" smtClean="0">
                <a:solidFill>
                  <a:schemeClr val="tx1"/>
                </a:solidFill>
                <a:latin typeface="+mn-lt"/>
                <a:ea typeface="+mn-ea"/>
                <a:cs typeface="+mn-cs"/>
              </a:rPr>
              <a:t>ob Specification may contain: </a:t>
            </a:r>
          </a:p>
          <a:p>
            <a:pPr>
              <a:buFont typeface="Arial" pitchFamily="34" charset="0"/>
              <a:buChar char="•"/>
            </a:pPr>
            <a:r>
              <a:rPr lang="en-AU" sz="1200" kern="1200" dirty="0" smtClean="0">
                <a:solidFill>
                  <a:schemeClr val="tx1"/>
                </a:solidFill>
                <a:latin typeface="+mn-lt"/>
                <a:ea typeface="+mn-ea"/>
                <a:cs typeface="+mn-cs"/>
              </a:rPr>
              <a:t>Title of the job – to ensure everyone can identify the job being talked about </a:t>
            </a:r>
          </a:p>
          <a:p>
            <a:pPr>
              <a:buFont typeface="Arial" pitchFamily="34" charset="0"/>
              <a:buChar char="•"/>
            </a:pPr>
            <a:r>
              <a:rPr lang="en-AU" sz="1200" kern="1200" dirty="0" smtClean="0">
                <a:solidFill>
                  <a:schemeClr val="tx1"/>
                </a:solidFill>
                <a:latin typeface="+mn-lt"/>
                <a:ea typeface="+mn-ea"/>
                <a:cs typeface="+mn-cs"/>
              </a:rPr>
              <a:t>Minimum level of education – what level of secondary, or tertiary schooling is required, if there is such a requirement? What level of literacy and/or numeracy does the position demand? </a:t>
            </a:r>
          </a:p>
          <a:p>
            <a:pPr>
              <a:buFont typeface="Arial" pitchFamily="34" charset="0"/>
              <a:buChar char="•"/>
            </a:pPr>
            <a:r>
              <a:rPr lang="en-AU" sz="1200" kern="1200" dirty="0" smtClean="0">
                <a:solidFill>
                  <a:schemeClr val="tx1"/>
                </a:solidFill>
                <a:latin typeface="+mn-lt"/>
                <a:ea typeface="+mn-ea"/>
                <a:cs typeface="+mn-cs"/>
              </a:rPr>
              <a:t>Any specialised education/training – is there a need for a special Certificate, or certain trade qualifications? </a:t>
            </a:r>
          </a:p>
          <a:p>
            <a:pPr>
              <a:buFont typeface="Arial" pitchFamily="34" charset="0"/>
              <a:buChar char="•"/>
            </a:pPr>
            <a:r>
              <a:rPr lang="en-AU" sz="1200" kern="1200" dirty="0" smtClean="0">
                <a:solidFill>
                  <a:schemeClr val="tx1"/>
                </a:solidFill>
                <a:latin typeface="+mn-lt"/>
                <a:ea typeface="+mn-ea"/>
                <a:cs typeface="+mn-cs"/>
              </a:rPr>
              <a:t>Work experience – is actual, practical work experience necessary? If so, where should this experience have been gained and how much of it should there be? Should the person have had a set amount of experience in a certain business, department, trade or establishment type? Must they be familiar with certain things, certain pieces of equipment, or particular brands of machines? </a:t>
            </a:r>
          </a:p>
          <a:p>
            <a:endParaRPr lang="en-AU" sz="1200" kern="1200" dirty="0" smtClean="0">
              <a:solidFill>
                <a:schemeClr val="tx1"/>
              </a:solidFill>
              <a:latin typeface="+mn-lt"/>
              <a:ea typeface="+mn-ea"/>
              <a:cs typeface="+mn-cs"/>
            </a:endParaRPr>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sample Job</a:t>
            </a:r>
            <a:r>
              <a:rPr lang="en-AU" b="0" baseline="0" noProof="0" dirty="0" smtClean="0"/>
              <a:t> Specifications.</a:t>
            </a:r>
            <a:endParaRPr lang="en-AU" b="0" noProof="0" dirty="0" smtClean="0"/>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18361390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contents of </a:t>
            </a:r>
            <a:r>
              <a:rPr lang="en-AU" b="0" noProof="0" dirty="0" smtClean="0"/>
              <a:t>Job Specifications:</a:t>
            </a:r>
          </a:p>
          <a:p>
            <a:pPr>
              <a:buFont typeface="Arial" pitchFamily="34" charset="0"/>
              <a:buChar char="•"/>
            </a:pPr>
            <a:r>
              <a:rPr lang="en-AU" sz="1200" kern="1200" dirty="0" smtClean="0">
                <a:solidFill>
                  <a:schemeClr val="tx1"/>
                </a:solidFill>
                <a:latin typeface="+mn-lt"/>
                <a:ea typeface="+mn-ea"/>
                <a:cs typeface="+mn-cs"/>
              </a:rPr>
              <a:t>Personal attributes – is it important they have, for example, attention to detail? Must they be ‘self-starters’? Must they be able to work unsupervised? Be reliable? Be prepared to work shift work? </a:t>
            </a:r>
          </a:p>
          <a:p>
            <a:pPr>
              <a:buFont typeface="Arial" pitchFamily="34" charset="0"/>
              <a:buChar char="•"/>
            </a:pPr>
            <a:r>
              <a:rPr lang="en-AU" sz="1200" kern="1200" dirty="0" smtClean="0">
                <a:solidFill>
                  <a:schemeClr val="tx1"/>
                </a:solidFill>
                <a:latin typeface="+mn-lt"/>
                <a:ea typeface="+mn-ea"/>
                <a:cs typeface="+mn-cs"/>
              </a:rPr>
              <a:t>Physical effort required – what degree of fitness or strength is needed? Is there heavy lifting? Will they have to spend much time on their feet? </a:t>
            </a:r>
          </a:p>
          <a:p>
            <a:pPr>
              <a:buFont typeface="Arial" pitchFamily="34" charset="0"/>
              <a:buChar char="•"/>
            </a:pPr>
            <a:r>
              <a:rPr lang="en-AU" sz="1200" kern="1200" dirty="0" smtClean="0">
                <a:solidFill>
                  <a:schemeClr val="tx1"/>
                </a:solidFill>
                <a:latin typeface="+mn-lt"/>
                <a:ea typeface="+mn-ea"/>
                <a:cs typeface="+mn-cs"/>
              </a:rPr>
              <a:t>Interpersonal skills. The industry relies heavily on individuals who are ‘people persons’: does this job call for a significant amount of this ability? </a:t>
            </a:r>
          </a:p>
          <a:p>
            <a:pPr>
              <a:buFont typeface="Arial" pitchFamily="34" charset="0"/>
              <a:buNone/>
            </a:pPr>
            <a:endParaRPr lang="en-AU" b="0"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asks students to prepare a Job Specification for nominated</a:t>
            </a:r>
            <a:r>
              <a:rPr lang="en-AU" b="0" baseline="0" noProof="0" dirty="0" smtClean="0"/>
              <a:t> positions.</a:t>
            </a:r>
            <a:endParaRPr lang="en-AU" noProof="0" dirty="0" smtClean="0"/>
          </a:p>
          <a:p>
            <a:pPr>
              <a:buFont typeface="Arial" pitchFamily="34" charset="0"/>
              <a:buNone/>
            </a:pP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18339192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introduces concept of industrial matters presenting:</a:t>
            </a:r>
          </a:p>
          <a:p>
            <a:pPr>
              <a:buFont typeface="Arial" pitchFamily="34" charset="0"/>
              <a:buChar char="•"/>
            </a:pPr>
            <a:r>
              <a:rPr lang="en-AU" sz="1200" kern="1200" dirty="0" smtClean="0">
                <a:solidFill>
                  <a:schemeClr val="tx1"/>
                </a:solidFill>
                <a:latin typeface="+mn-lt"/>
                <a:ea typeface="+mn-ea"/>
                <a:cs typeface="+mn-cs"/>
              </a:rPr>
              <a:t>‘Industrial matters’ is a generic term.</a:t>
            </a:r>
          </a:p>
          <a:p>
            <a:pPr>
              <a:buFont typeface="Arial" pitchFamily="34" charset="0"/>
              <a:buChar char="•"/>
            </a:pPr>
            <a:r>
              <a:rPr lang="en-AU" sz="1200" kern="1200" dirty="0" smtClean="0">
                <a:solidFill>
                  <a:schemeClr val="tx1"/>
                </a:solidFill>
                <a:latin typeface="+mn-lt"/>
                <a:ea typeface="+mn-ea"/>
                <a:cs typeface="+mn-cs"/>
              </a:rPr>
              <a:t>Exact definitions and interpretations can be expected between countries.</a:t>
            </a:r>
          </a:p>
          <a:p>
            <a:pPr>
              <a:buFont typeface="Arial" pitchFamily="34" charset="0"/>
              <a:buChar char="•"/>
            </a:pPr>
            <a:r>
              <a:rPr lang="en-AU" sz="1200" kern="1200" dirty="0" smtClean="0">
                <a:solidFill>
                  <a:schemeClr val="tx1"/>
                </a:solidFill>
                <a:latin typeface="+mn-lt"/>
                <a:ea typeface="+mn-ea"/>
                <a:cs typeface="+mn-cs"/>
              </a:rPr>
              <a:t>It is important to consult local legislation to determine exactly what applies in individual countries.</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pPr>
              <a:buFont typeface="Arial" pitchFamily="34" charset="0"/>
              <a:buNone/>
            </a:pPr>
            <a:r>
              <a:rPr lang="en-AU" sz="1200" u="sng" kern="1200" dirty="0" smtClean="0">
                <a:solidFill>
                  <a:schemeClr val="tx1"/>
                </a:solidFill>
                <a:latin typeface="+mn-lt"/>
                <a:ea typeface="+mn-ea"/>
                <a:cs typeface="+mn-cs"/>
                <a:hlinkClick r:id="rId3"/>
              </a:rPr>
              <a:t>http://www.austlii.edu.au/au/legis/nsw/consol_act/ira1996242/s6.html</a:t>
            </a:r>
            <a:r>
              <a:rPr lang="en-AU" sz="1200" kern="1200" dirty="0" smtClean="0">
                <a:solidFill>
                  <a:schemeClr val="tx1"/>
                </a:solidFill>
                <a:latin typeface="+mn-lt"/>
                <a:ea typeface="+mn-ea"/>
                <a:cs typeface="+mn-cs"/>
              </a:rPr>
              <a:t>, NSW Consolidated Acts, Industrial Relations Act: Definition of industrial matters.</a:t>
            </a:r>
          </a:p>
          <a:p>
            <a:pPr>
              <a:buFont typeface="Arial" pitchFamily="34" charset="0"/>
              <a:buChar char="•"/>
            </a:pPr>
            <a:r>
              <a:rPr lang="en-AU" sz="1200" b="0" kern="1200" noProof="0" dirty="0" smtClean="0">
                <a:solidFill>
                  <a:schemeClr val="tx1"/>
                </a:solidFill>
                <a:latin typeface="+mn-lt"/>
                <a:ea typeface="+mn-ea"/>
                <a:cs typeface="+mn-cs"/>
              </a:rPr>
              <a:t>Emphasis should be placed on ‘definition’ and ‘examples’ of industrial matters.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109556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observes ‘industrial matters’ may cover:</a:t>
            </a:r>
          </a:p>
          <a:p>
            <a:r>
              <a:rPr lang="en-AU" sz="1200" kern="1200" dirty="0" smtClean="0">
                <a:solidFill>
                  <a:schemeClr val="tx1"/>
                </a:solidFill>
                <a:latin typeface="+mn-lt"/>
                <a:ea typeface="+mn-ea"/>
                <a:cs typeface="+mn-cs"/>
              </a:rPr>
              <a:t>(a) the employment of persons in any </a:t>
            </a:r>
            <a:r>
              <a:rPr lang="en-AU" sz="1200" kern="1200" dirty="0" smtClean="0">
                <a:solidFill>
                  <a:schemeClr val="tx1"/>
                </a:solidFill>
                <a:latin typeface="+mn-lt"/>
                <a:ea typeface="+mn-ea"/>
                <a:cs typeface="+mn-cs"/>
                <a:hlinkClick r:id="rId3"/>
              </a:rPr>
              <a:t>industry</a:t>
            </a:r>
            <a:r>
              <a:rPr lang="en-AU" sz="1200" kern="1200" dirty="0" smtClean="0">
                <a:solidFill>
                  <a:schemeClr val="tx1"/>
                </a:solidFill>
                <a:latin typeface="+mn-lt"/>
                <a:ea typeface="+mn-ea"/>
                <a:cs typeface="+mn-cs"/>
              </a:rPr>
              <a:t> (including the employment of minors, trainees, apprentices and other classes of </a:t>
            </a:r>
            <a:r>
              <a:rPr lang="en-AU" sz="1200" u="none" strike="noStrike" kern="1200" dirty="0" smtClean="0">
                <a:solidFill>
                  <a:schemeClr val="tx1"/>
                </a:solidFill>
                <a:latin typeface="+mn-lt"/>
                <a:ea typeface="+mn-ea"/>
                <a:cs typeface="+mn-cs"/>
                <a:hlinkClick r:id="rId4"/>
              </a:rPr>
              <a:t>employees</a:t>
            </a:r>
            <a:r>
              <a:rPr lang="en-AU" sz="1200" kern="1200" dirty="0" smtClean="0">
                <a:solidFill>
                  <a:schemeClr val="tx1"/>
                </a:solidFill>
                <a:latin typeface="+mn-lt"/>
                <a:ea typeface="+mn-ea"/>
                <a:cs typeface="+mn-cs"/>
              </a:rPr>
              <a:t>), </a:t>
            </a:r>
          </a:p>
          <a:p>
            <a:r>
              <a:rPr lang="en-AU" sz="1200" kern="1200" dirty="0" smtClean="0">
                <a:solidFill>
                  <a:schemeClr val="tx1"/>
                </a:solidFill>
                <a:latin typeface="+mn-lt"/>
                <a:ea typeface="+mn-ea"/>
                <a:cs typeface="+mn-cs"/>
              </a:rPr>
              <a:t>(b) the remuneration (including rates of pay, rates for piece-work and allowances) for </a:t>
            </a:r>
            <a:r>
              <a:rPr lang="en-AU" sz="1200" u="none" strike="noStrike" kern="1200" dirty="0" smtClean="0">
                <a:solidFill>
                  <a:schemeClr val="tx1"/>
                </a:solidFill>
                <a:latin typeface="+mn-lt"/>
                <a:ea typeface="+mn-ea"/>
                <a:cs typeface="+mn-cs"/>
                <a:hlinkClick r:id="rId4"/>
              </a:rPr>
              <a:t>employees</a:t>
            </a:r>
            <a:r>
              <a:rPr lang="en-AU" sz="1200" kern="1200" dirty="0" smtClean="0">
                <a:solidFill>
                  <a:schemeClr val="tx1"/>
                </a:solidFill>
                <a:latin typeface="+mn-lt"/>
                <a:ea typeface="+mn-ea"/>
                <a:cs typeface="+mn-cs"/>
              </a:rPr>
              <a:t> in any </a:t>
            </a:r>
            <a:r>
              <a:rPr lang="en-AU" sz="1200" u="none" strike="noStrike" kern="1200" dirty="0" smtClean="0">
                <a:solidFill>
                  <a:schemeClr val="tx1"/>
                </a:solidFill>
                <a:latin typeface="+mn-lt"/>
                <a:ea typeface="+mn-ea"/>
                <a:cs typeface="+mn-cs"/>
                <a:hlinkClick r:id="rId3"/>
              </a:rPr>
              <a:t>industry</a:t>
            </a:r>
            <a:r>
              <a:rPr lang="en-AU" sz="1200" kern="1200" dirty="0" smtClean="0">
                <a:solidFill>
                  <a:schemeClr val="tx1"/>
                </a:solidFill>
                <a:latin typeface="+mn-lt"/>
                <a:ea typeface="+mn-ea"/>
                <a:cs typeface="+mn-cs"/>
              </a:rPr>
              <a:t>, </a:t>
            </a:r>
          </a:p>
          <a:p>
            <a:r>
              <a:rPr lang="en-AU" sz="1200" kern="1200" dirty="0" smtClean="0">
                <a:solidFill>
                  <a:schemeClr val="tx1"/>
                </a:solidFill>
                <a:latin typeface="+mn-lt"/>
                <a:ea typeface="+mn-ea"/>
                <a:cs typeface="+mn-cs"/>
              </a:rPr>
              <a:t>(c) the conditions of employment in any </a:t>
            </a:r>
            <a:r>
              <a:rPr lang="en-AU" sz="1200" u="none" strike="noStrike" kern="1200" dirty="0" smtClean="0">
                <a:solidFill>
                  <a:schemeClr val="tx1"/>
                </a:solidFill>
                <a:latin typeface="+mn-lt"/>
                <a:ea typeface="+mn-ea"/>
                <a:cs typeface="+mn-cs"/>
                <a:hlinkClick r:id="rId3"/>
              </a:rPr>
              <a:t>industry</a:t>
            </a:r>
            <a:r>
              <a:rPr lang="en-AU" sz="1200" kern="1200" dirty="0" smtClean="0">
                <a:solidFill>
                  <a:schemeClr val="tx1"/>
                </a:solidFill>
                <a:latin typeface="+mn-lt"/>
                <a:ea typeface="+mn-ea"/>
                <a:cs typeface="+mn-cs"/>
              </a:rPr>
              <a:t> (including hours of employment, qualifications of </a:t>
            </a:r>
            <a:r>
              <a:rPr lang="en-AU" sz="1200" u="none" strike="noStrike" kern="1200" dirty="0" smtClean="0">
                <a:solidFill>
                  <a:schemeClr val="tx1"/>
                </a:solidFill>
                <a:latin typeface="+mn-lt"/>
                <a:ea typeface="+mn-ea"/>
                <a:cs typeface="+mn-cs"/>
                <a:hlinkClick r:id="rId4"/>
              </a:rPr>
              <a:t>employees</a:t>
            </a:r>
            <a:r>
              <a:rPr lang="en-AU" sz="1200" kern="1200" dirty="0" smtClean="0">
                <a:solidFill>
                  <a:schemeClr val="tx1"/>
                </a:solidFill>
                <a:latin typeface="+mn-lt"/>
                <a:ea typeface="+mn-ea"/>
                <a:cs typeface="+mn-cs"/>
              </a:rPr>
              <a:t>, manner of work and quantity of work to be done), </a:t>
            </a:r>
          </a:p>
          <a:p>
            <a:r>
              <a:rPr lang="en-AU" sz="1200" kern="1200" dirty="0" smtClean="0">
                <a:solidFill>
                  <a:schemeClr val="tx1"/>
                </a:solidFill>
                <a:latin typeface="+mn-lt"/>
                <a:ea typeface="+mn-ea"/>
                <a:cs typeface="+mn-cs"/>
              </a:rPr>
              <a:t>(d) part-time or casual employment (including </a:t>
            </a:r>
            <a:r>
              <a:rPr lang="en-AU" sz="1200" u="none" strike="noStrike" kern="1200" dirty="0" smtClean="0">
                <a:solidFill>
                  <a:schemeClr val="tx1"/>
                </a:solidFill>
                <a:latin typeface="+mn-lt"/>
                <a:ea typeface="+mn-ea"/>
                <a:cs typeface="+mn-cs"/>
                <a:hlinkClick r:id="rId5"/>
              </a:rPr>
              <a:t>part-time work agreements</a:t>
            </a:r>
            <a:r>
              <a:rPr lang="en-AU" sz="1200" kern="1200" dirty="0" smtClean="0">
                <a:solidFill>
                  <a:schemeClr val="tx1"/>
                </a:solidFill>
                <a:latin typeface="+mn-lt"/>
                <a:ea typeface="+mn-ea"/>
                <a:cs typeface="+mn-cs"/>
              </a:rPr>
              <a:t>), </a:t>
            </a:r>
          </a:p>
          <a:p>
            <a:r>
              <a:rPr lang="en-AU" sz="1200" kern="1200" dirty="0" smtClean="0">
                <a:solidFill>
                  <a:schemeClr val="tx1"/>
                </a:solidFill>
                <a:latin typeface="+mn-lt"/>
                <a:ea typeface="+mn-ea"/>
                <a:cs typeface="+mn-cs"/>
              </a:rPr>
              <a:t>(e) the termination of employment of (or the refusal to employ) any person or class of persons in any </a:t>
            </a:r>
            <a:r>
              <a:rPr lang="en-AU" sz="1200" u="none" strike="noStrike" kern="1200" dirty="0" smtClean="0">
                <a:solidFill>
                  <a:schemeClr val="tx1"/>
                </a:solidFill>
                <a:latin typeface="+mn-lt"/>
                <a:ea typeface="+mn-ea"/>
                <a:cs typeface="+mn-cs"/>
                <a:hlinkClick r:id="rId3"/>
              </a:rPr>
              <a:t>industry</a:t>
            </a:r>
            <a:r>
              <a:rPr lang="en-AU" sz="1200" kern="1200" dirty="0" smtClean="0">
                <a:solidFill>
                  <a:schemeClr val="tx1"/>
                </a:solidFill>
                <a:latin typeface="+mn-lt"/>
                <a:ea typeface="+mn-ea"/>
                <a:cs typeface="+mn-cs"/>
              </a:rPr>
              <a:t>, </a:t>
            </a:r>
          </a:p>
          <a:p>
            <a:pPr>
              <a:buFont typeface="Arial" pitchFamily="34" charset="0"/>
              <a:buNone/>
            </a:pPr>
            <a:endParaRPr lang="en-AU" baseline="0"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 host country legislation as it relates to ‘industrial matters’.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27465794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what ‘industrial matters’ may cover:</a:t>
            </a:r>
          </a:p>
          <a:p>
            <a:r>
              <a:rPr lang="en-AU" sz="1200" kern="1200" dirty="0" smtClean="0">
                <a:solidFill>
                  <a:schemeClr val="tx1"/>
                </a:solidFill>
                <a:latin typeface="+mn-lt"/>
                <a:ea typeface="+mn-ea"/>
                <a:cs typeface="+mn-cs"/>
              </a:rPr>
              <a:t>(f) discrimination in employment in any </a:t>
            </a:r>
            <a:r>
              <a:rPr lang="en-AU" sz="1200" u="none" strike="noStrike" kern="1200" dirty="0" smtClean="0">
                <a:solidFill>
                  <a:schemeClr val="tx1"/>
                </a:solidFill>
                <a:latin typeface="+mn-lt"/>
                <a:ea typeface="+mn-ea"/>
                <a:cs typeface="+mn-cs"/>
                <a:hlinkClick r:id="rId3"/>
              </a:rPr>
              <a:t>industry</a:t>
            </a:r>
            <a:r>
              <a:rPr lang="en-AU" sz="1200" kern="1200" dirty="0" smtClean="0">
                <a:solidFill>
                  <a:schemeClr val="tx1"/>
                </a:solidFill>
                <a:latin typeface="+mn-lt"/>
                <a:ea typeface="+mn-ea"/>
                <a:cs typeface="+mn-cs"/>
              </a:rPr>
              <a:t> (including in remuneration or other conditions of employment) on a ground to which the Anti-Discrimination [legislation] applies, </a:t>
            </a:r>
          </a:p>
          <a:p>
            <a:r>
              <a:rPr lang="en-AU" sz="1200" kern="1200" dirty="0" smtClean="0">
                <a:solidFill>
                  <a:schemeClr val="tx1"/>
                </a:solidFill>
                <a:latin typeface="+mn-lt"/>
                <a:ea typeface="+mn-ea"/>
                <a:cs typeface="+mn-cs"/>
              </a:rPr>
              <a:t>(g) procedures for the resolution of industrial disputes, </a:t>
            </a:r>
          </a:p>
          <a:p>
            <a:r>
              <a:rPr lang="en-AU" sz="1200" kern="1200" dirty="0" smtClean="0">
                <a:solidFill>
                  <a:schemeClr val="tx1"/>
                </a:solidFill>
                <a:latin typeface="+mn-lt"/>
                <a:ea typeface="+mn-ea"/>
                <a:cs typeface="+mn-cs"/>
              </a:rPr>
              <a:t>(h) the established customs in any </a:t>
            </a:r>
            <a:r>
              <a:rPr lang="en-AU" sz="1200" u="none" strike="noStrike" kern="1200" dirty="0" smtClean="0">
                <a:solidFill>
                  <a:schemeClr val="tx1"/>
                </a:solidFill>
                <a:latin typeface="+mn-lt"/>
                <a:ea typeface="+mn-ea"/>
                <a:cs typeface="+mn-cs"/>
                <a:hlinkClick r:id="rId3"/>
              </a:rPr>
              <a:t>industry</a:t>
            </a:r>
            <a:r>
              <a:rPr lang="en-AU" sz="1200" kern="1200" dirty="0" smtClean="0">
                <a:solidFill>
                  <a:schemeClr val="tx1"/>
                </a:solidFill>
                <a:latin typeface="+mn-lt"/>
                <a:ea typeface="+mn-ea"/>
                <a:cs typeface="+mn-cs"/>
              </a:rPr>
              <a:t>, </a:t>
            </a:r>
          </a:p>
          <a:p>
            <a:r>
              <a:rPr lang="en-AU" sz="1200" kern="1200" dirty="0" smtClean="0">
                <a:solidFill>
                  <a:schemeClr val="tx1"/>
                </a:solidFill>
                <a:latin typeface="+mn-lt"/>
                <a:ea typeface="+mn-ea"/>
                <a:cs typeface="+mn-cs"/>
              </a:rPr>
              <a:t>(i) the authorised remittance by employers of membership fees of industrial organisations of </a:t>
            </a:r>
            <a:r>
              <a:rPr lang="en-AU" sz="1200" u="none" strike="noStrike" kern="1200" dirty="0" smtClean="0">
                <a:solidFill>
                  <a:schemeClr val="tx1"/>
                </a:solidFill>
                <a:latin typeface="+mn-lt"/>
                <a:ea typeface="+mn-ea"/>
                <a:cs typeface="+mn-cs"/>
                <a:hlinkClick r:id="rId4"/>
              </a:rPr>
              <a:t>employees</a:t>
            </a:r>
            <a:r>
              <a:rPr lang="en-AU" sz="1200" kern="1200" dirty="0" smtClean="0">
                <a:solidFill>
                  <a:schemeClr val="tx1"/>
                </a:solidFill>
                <a:latin typeface="+mn-lt"/>
                <a:ea typeface="+mn-ea"/>
                <a:cs typeface="+mn-cs"/>
              </a:rPr>
              <a:t>, </a:t>
            </a:r>
          </a:p>
          <a:p>
            <a:r>
              <a:rPr lang="en-AU" sz="1200" kern="1200" dirty="0" smtClean="0">
                <a:solidFill>
                  <a:schemeClr val="tx1"/>
                </a:solidFill>
                <a:latin typeface="+mn-lt"/>
                <a:ea typeface="+mn-ea"/>
                <a:cs typeface="+mn-cs"/>
              </a:rPr>
              <a:t>(j) the surveillance of </a:t>
            </a:r>
            <a:r>
              <a:rPr lang="en-AU" sz="1200" u="none" strike="noStrike" kern="1200" dirty="0" smtClean="0">
                <a:solidFill>
                  <a:schemeClr val="tx1"/>
                </a:solidFill>
                <a:latin typeface="+mn-lt"/>
                <a:ea typeface="+mn-ea"/>
                <a:cs typeface="+mn-cs"/>
                <a:hlinkClick r:id="rId4"/>
              </a:rPr>
              <a:t>employees</a:t>
            </a:r>
            <a:r>
              <a:rPr lang="en-AU" sz="1200" kern="1200" dirty="0" smtClean="0">
                <a:solidFill>
                  <a:schemeClr val="tx1"/>
                </a:solidFill>
                <a:latin typeface="+mn-lt"/>
                <a:ea typeface="+mn-ea"/>
                <a:cs typeface="+mn-cs"/>
              </a:rPr>
              <a:t> in the workplace, </a:t>
            </a:r>
          </a:p>
          <a:p>
            <a:r>
              <a:rPr lang="en-AU" sz="1200" kern="1200" dirty="0" smtClean="0">
                <a:solidFill>
                  <a:schemeClr val="tx1"/>
                </a:solidFill>
                <a:latin typeface="+mn-lt"/>
                <a:ea typeface="+mn-ea"/>
                <a:cs typeface="+mn-cs"/>
              </a:rPr>
              <a:t>(k) the mode, terms and conditions under which work is given out, whether directly or indirectly, to be performed by outworkers in the clothing trades.</a:t>
            </a:r>
          </a:p>
          <a:p>
            <a:endParaRPr lang="en-AU" sz="1200" kern="1200" noProof="0" dirty="0" smtClean="0">
              <a:solidFill>
                <a:schemeClr val="tx1"/>
              </a:solidFill>
              <a:latin typeface="+mn-lt"/>
              <a:ea typeface="+mn-ea"/>
              <a:cs typeface="+mn-cs"/>
            </a:endParaRPr>
          </a:p>
          <a:p>
            <a:r>
              <a:rPr lang="en-AU" sz="1200" b="1" kern="1200" noProof="0" dirty="0" smtClean="0">
                <a:solidFill>
                  <a:schemeClr val="tx1"/>
                </a:solidFill>
                <a:latin typeface="+mn-lt"/>
                <a:ea typeface="+mn-ea"/>
                <a:cs typeface="+mn-cs"/>
              </a:rPr>
              <a:t>Classroom Activity – Guest Speaker</a:t>
            </a:r>
          </a:p>
          <a:p>
            <a:r>
              <a:rPr lang="en-AU" b="0" noProof="0" dirty="0" smtClean="0"/>
              <a:t>Trainer arranges for representative/Inspector/Officer</a:t>
            </a:r>
            <a:r>
              <a:rPr lang="en-AU" b="0" baseline="0" noProof="0" dirty="0" smtClean="0"/>
              <a:t> from government agency/authority to attend and:</a:t>
            </a:r>
          </a:p>
          <a:p>
            <a:pPr>
              <a:buFont typeface="Arial" pitchFamily="34" charset="0"/>
              <a:buChar char="•"/>
            </a:pPr>
            <a:r>
              <a:rPr lang="en-AU" b="0" baseline="0" noProof="0" dirty="0" smtClean="0"/>
              <a:t>Discuss industrial matters and workplace relations</a:t>
            </a:r>
          </a:p>
          <a:p>
            <a:pPr>
              <a:buFont typeface="Arial" pitchFamily="34" charset="0"/>
              <a:buChar char="•"/>
            </a:pPr>
            <a:r>
              <a:rPr lang="en-AU" b="0" baseline="0" noProof="0" dirty="0" smtClean="0"/>
              <a:t>Present sample legislation and copies of obligations and/or Codes which need to be complied with</a:t>
            </a:r>
          </a:p>
          <a:p>
            <a:pPr>
              <a:buFont typeface="Arial" pitchFamily="34" charset="0"/>
              <a:buChar char="•"/>
            </a:pPr>
            <a:r>
              <a:rPr lang="en-AU" b="0" baseline="0" noProof="0" dirty="0" smtClean="0"/>
              <a:t>Provide advice on compliance</a:t>
            </a:r>
          </a:p>
          <a:p>
            <a:pPr>
              <a:buFont typeface="Arial" pitchFamily="34" charset="0"/>
              <a:buChar char="•"/>
            </a:pPr>
            <a:r>
              <a:rPr lang="en-AU" b="0" baseline="0" noProof="0" dirty="0" smtClean="0"/>
              <a:t>Indicate assistance available to employers/organisations.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8883772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AU" noProof="0" dirty="0" smtClean="0"/>
              <a:t>Trainer</a:t>
            </a:r>
            <a:r>
              <a:rPr lang="en-AU" baseline="0" noProof="0" dirty="0" smtClean="0"/>
              <a:t> talks about ‘sources of information’ for managers in relation to </a:t>
            </a:r>
            <a:r>
              <a:rPr lang="en-AU" sz="1200" kern="1200" dirty="0" smtClean="0">
                <a:solidFill>
                  <a:schemeClr val="tx1"/>
                </a:solidFill>
                <a:latin typeface="+mn-lt"/>
                <a:ea typeface="+mn-ea"/>
                <a:cs typeface="+mn-cs"/>
              </a:rPr>
              <a:t>employment and industrial relations matters stating options include:</a:t>
            </a:r>
          </a:p>
          <a:p>
            <a:pPr>
              <a:buFont typeface="Arial" pitchFamily="34" charset="0"/>
              <a:buChar char="•"/>
            </a:pPr>
            <a:r>
              <a:rPr lang="en-AU" sz="1200" kern="1200" dirty="0" smtClean="0">
                <a:solidFill>
                  <a:schemeClr val="tx1"/>
                </a:solidFill>
                <a:latin typeface="+mn-lt"/>
                <a:ea typeface="+mn-ea"/>
                <a:cs typeface="+mn-cs"/>
              </a:rPr>
              <a:t>Speaking to the HR department in the workplace – who should have:</a:t>
            </a:r>
          </a:p>
          <a:p>
            <a:pPr lvl="1">
              <a:buFont typeface="Arial" pitchFamily="34" charset="0"/>
              <a:buChar char="•"/>
            </a:pPr>
            <a:r>
              <a:rPr lang="en-AU" sz="1200" kern="1200" dirty="0" smtClean="0">
                <a:solidFill>
                  <a:schemeClr val="tx1"/>
                </a:solidFill>
                <a:latin typeface="+mn-lt"/>
                <a:ea typeface="+mn-ea"/>
                <a:cs typeface="+mn-cs"/>
              </a:rPr>
              <a:t>Copies of relevant legislation</a:t>
            </a:r>
          </a:p>
          <a:p>
            <a:pPr lvl="1">
              <a:buFont typeface="Arial" pitchFamily="34" charset="0"/>
              <a:buChar char="•"/>
            </a:pPr>
            <a:r>
              <a:rPr lang="en-AU" sz="1200" kern="1200" dirty="0" smtClean="0">
                <a:solidFill>
                  <a:schemeClr val="tx1"/>
                </a:solidFill>
                <a:latin typeface="+mn-lt"/>
                <a:ea typeface="+mn-ea"/>
                <a:cs typeface="+mn-cs"/>
              </a:rPr>
              <a:t>Copies of employment contracts/employment instruments</a:t>
            </a:r>
          </a:p>
          <a:p>
            <a:pPr lvl="1">
              <a:buFont typeface="Arial" pitchFamily="34" charset="0"/>
              <a:buChar char="•"/>
            </a:pPr>
            <a:r>
              <a:rPr lang="en-AU" sz="1200" kern="1200" dirty="0" smtClean="0">
                <a:solidFill>
                  <a:schemeClr val="tx1"/>
                </a:solidFill>
                <a:latin typeface="+mn-lt"/>
                <a:ea typeface="+mn-ea"/>
                <a:cs typeface="+mn-cs"/>
              </a:rPr>
              <a:t>Sample employment files</a:t>
            </a:r>
          </a:p>
          <a:p>
            <a:pPr lvl="1">
              <a:buFont typeface="Arial" pitchFamily="34" charset="0"/>
              <a:buChar char="•"/>
            </a:pPr>
            <a:r>
              <a:rPr lang="en-AU" sz="1200" kern="1200" dirty="0" smtClean="0">
                <a:solidFill>
                  <a:schemeClr val="tx1"/>
                </a:solidFill>
                <a:latin typeface="+mn-lt"/>
                <a:ea typeface="+mn-ea"/>
                <a:cs typeface="+mn-cs"/>
              </a:rPr>
              <a:t>Sample Letters of Offer</a:t>
            </a:r>
          </a:p>
          <a:p>
            <a:pPr lvl="1">
              <a:buFont typeface="Arial" pitchFamily="34" charset="0"/>
              <a:buChar char="•"/>
            </a:pPr>
            <a:r>
              <a:rPr lang="en-AU" sz="1200" kern="1200" dirty="0" smtClean="0">
                <a:solidFill>
                  <a:schemeClr val="tx1"/>
                </a:solidFill>
                <a:latin typeface="+mn-lt"/>
                <a:ea typeface="+mn-ea"/>
                <a:cs typeface="+mn-cs"/>
              </a:rPr>
              <a:t>Copies of Job Description and Job Specifications</a:t>
            </a:r>
          </a:p>
          <a:p>
            <a:pPr lvl="1">
              <a:buFont typeface="Arial" pitchFamily="34" charset="0"/>
              <a:buChar char="•"/>
            </a:pPr>
            <a:r>
              <a:rPr lang="en-AU" sz="1200" kern="1200" dirty="0" smtClean="0">
                <a:solidFill>
                  <a:schemeClr val="tx1"/>
                </a:solidFill>
                <a:latin typeface="+mn-lt"/>
                <a:ea typeface="+mn-ea"/>
                <a:cs typeface="+mn-cs"/>
              </a:rPr>
              <a:t>Sample job vacancy advertisements and KSC</a:t>
            </a:r>
          </a:p>
          <a:p>
            <a:pPr>
              <a:buFont typeface="Arial" pitchFamily="34" charset="0"/>
              <a:buChar char="•"/>
            </a:pPr>
            <a:r>
              <a:rPr lang="en-AU" sz="1200" kern="1200" dirty="0" smtClean="0">
                <a:solidFill>
                  <a:schemeClr val="tx1"/>
                </a:solidFill>
                <a:latin typeface="+mn-lt"/>
                <a:ea typeface="+mn-ea"/>
                <a:cs typeface="+mn-cs"/>
              </a:rPr>
              <a:t>Reading and becoming familiar with all documents – in order to:</a:t>
            </a:r>
          </a:p>
          <a:p>
            <a:pPr lvl="1">
              <a:buFont typeface="Arial" pitchFamily="34" charset="0"/>
              <a:buChar char="•"/>
            </a:pPr>
            <a:r>
              <a:rPr lang="en-AU" sz="1200" kern="1200" dirty="0" smtClean="0">
                <a:solidFill>
                  <a:schemeClr val="tx1"/>
                </a:solidFill>
                <a:latin typeface="+mn-lt"/>
                <a:ea typeface="+mn-ea"/>
                <a:cs typeface="+mn-cs"/>
              </a:rPr>
              <a:t>Understand requirements and clarify issues and ambiguities</a:t>
            </a:r>
          </a:p>
          <a:p>
            <a:pPr lvl="1">
              <a:buFont typeface="Arial" pitchFamily="34" charset="0"/>
              <a:buChar char="•"/>
            </a:pPr>
            <a:r>
              <a:rPr lang="en-AU" sz="1200" kern="1200" dirty="0" smtClean="0">
                <a:solidFill>
                  <a:schemeClr val="tx1"/>
                </a:solidFill>
                <a:latin typeface="+mn-lt"/>
                <a:ea typeface="+mn-ea"/>
                <a:cs typeface="+mn-cs"/>
              </a:rPr>
              <a:t>Be able to communicate requirements to others/staff</a:t>
            </a:r>
          </a:p>
          <a:p>
            <a:pPr lvl="1">
              <a:buFont typeface="Arial" pitchFamily="34" charset="0"/>
              <a:buChar char="•"/>
            </a:pPr>
            <a:r>
              <a:rPr lang="en-AU" sz="1200" kern="1200" dirty="0" smtClean="0">
                <a:solidFill>
                  <a:schemeClr val="tx1"/>
                </a:solidFill>
                <a:latin typeface="+mn-lt"/>
                <a:ea typeface="+mn-ea"/>
                <a:cs typeface="+mn-cs"/>
              </a:rPr>
              <a:t>Ensure staff management and handling of workplace relations complies with all promised and mandated requirements</a:t>
            </a:r>
          </a:p>
          <a:p>
            <a:pPr>
              <a:buFont typeface="Arial" pitchFamily="34" charset="0"/>
              <a:buChar char="•"/>
            </a:pPr>
            <a:r>
              <a:rPr lang="en-AU" sz="1200" kern="1200" dirty="0" smtClean="0">
                <a:solidFill>
                  <a:schemeClr val="tx1"/>
                </a:solidFill>
                <a:latin typeface="+mn-lt"/>
                <a:ea typeface="+mn-ea"/>
                <a:cs typeface="+mn-cs"/>
              </a:rPr>
              <a:t>Talking to senior and more experience managers and supervisors – to:</a:t>
            </a:r>
          </a:p>
          <a:p>
            <a:pPr lvl="1">
              <a:buFont typeface="Arial" pitchFamily="34" charset="0"/>
              <a:buChar char="•"/>
            </a:pPr>
            <a:r>
              <a:rPr lang="en-AU" sz="1200" kern="1200" dirty="0" smtClean="0">
                <a:solidFill>
                  <a:schemeClr val="tx1"/>
                </a:solidFill>
                <a:latin typeface="+mn-lt"/>
                <a:ea typeface="+mn-ea"/>
                <a:cs typeface="+mn-cs"/>
              </a:rPr>
              <a:t>Learn from their experience</a:t>
            </a:r>
          </a:p>
          <a:p>
            <a:pPr lvl="1">
              <a:buFont typeface="Arial" pitchFamily="34" charset="0"/>
              <a:buChar char="•"/>
            </a:pPr>
            <a:r>
              <a:rPr lang="en-AU" sz="1200" kern="1200" dirty="0" smtClean="0">
                <a:solidFill>
                  <a:schemeClr val="tx1"/>
                </a:solidFill>
                <a:latin typeface="+mn-lt"/>
                <a:ea typeface="+mn-ea"/>
                <a:cs typeface="+mn-cs"/>
              </a:rPr>
              <a:t>Obtain their perspective on how required obligations translate into reality in the workplace</a:t>
            </a:r>
          </a:p>
          <a:p>
            <a:pPr lvl="1">
              <a:buFont typeface="Arial" pitchFamily="34" charset="0"/>
              <a:buChar char="•"/>
            </a:pPr>
            <a:r>
              <a:rPr lang="en-AU" sz="1200" kern="1200" dirty="0" smtClean="0">
                <a:solidFill>
                  <a:schemeClr val="tx1"/>
                </a:solidFill>
                <a:latin typeface="+mn-lt"/>
                <a:ea typeface="+mn-ea"/>
                <a:cs typeface="+mn-cs"/>
              </a:rPr>
              <a:t>Determine what they do to identify IR requirements</a:t>
            </a:r>
          </a:p>
          <a:p>
            <a:pPr lvl="1">
              <a:buFont typeface="Arial" pitchFamily="34" charset="0"/>
              <a:buChar char="•"/>
            </a:pPr>
            <a:r>
              <a:rPr lang="en-AU" sz="1200" kern="1200" dirty="0" smtClean="0">
                <a:solidFill>
                  <a:schemeClr val="tx1"/>
                </a:solidFill>
                <a:latin typeface="+mn-lt"/>
                <a:ea typeface="+mn-ea"/>
                <a:cs typeface="+mn-cs"/>
              </a:rPr>
              <a:t>Gain tips and advice in relation to passing on IR information to employees</a:t>
            </a:r>
          </a:p>
          <a:p>
            <a:pPr>
              <a:buFont typeface="Arial" pitchFamily="34" charset="0"/>
              <a:buChar char="•"/>
            </a:pPr>
            <a:r>
              <a:rPr lang="en-AU" sz="1200" kern="1200" dirty="0" smtClean="0">
                <a:solidFill>
                  <a:schemeClr val="tx1"/>
                </a:solidFill>
                <a:latin typeface="+mn-lt"/>
                <a:ea typeface="+mn-ea"/>
                <a:cs typeface="+mn-cs"/>
              </a:rPr>
              <a:t>Speaking to key industry stakeholders (government agencies [employment and IR], unions, peak industry bodies, employer groups) to:</a:t>
            </a:r>
          </a:p>
          <a:p>
            <a:pPr lvl="1">
              <a:buFont typeface="Arial" pitchFamily="34" charset="0"/>
              <a:buChar char="•"/>
            </a:pPr>
            <a:r>
              <a:rPr lang="en-AU" sz="1200" kern="1200" dirty="0" smtClean="0">
                <a:solidFill>
                  <a:schemeClr val="tx1"/>
                </a:solidFill>
                <a:latin typeface="+mn-lt"/>
                <a:ea typeface="+mn-ea"/>
                <a:cs typeface="+mn-cs"/>
              </a:rPr>
              <a:t>Obtain copies of relevant requirements</a:t>
            </a:r>
          </a:p>
          <a:p>
            <a:pPr lvl="1">
              <a:buFont typeface="Arial" pitchFamily="34" charset="0"/>
              <a:buChar char="•"/>
            </a:pPr>
            <a:r>
              <a:rPr lang="en-AU" sz="1200" kern="1200" dirty="0" smtClean="0">
                <a:solidFill>
                  <a:schemeClr val="tx1"/>
                </a:solidFill>
                <a:latin typeface="+mn-lt"/>
                <a:ea typeface="+mn-ea"/>
                <a:cs typeface="+mn-cs"/>
              </a:rPr>
              <a:t>Identify sources they recommend for determining </a:t>
            </a:r>
            <a:r>
              <a:rPr lang="en-AU" sz="1200" i="1" kern="1200" dirty="0" smtClean="0">
                <a:solidFill>
                  <a:schemeClr val="tx1"/>
                </a:solidFill>
                <a:latin typeface="+mn-lt"/>
                <a:ea typeface="+mn-ea"/>
                <a:cs typeface="+mn-cs"/>
              </a:rPr>
              <a:t>current</a:t>
            </a:r>
            <a:r>
              <a:rPr lang="en-AU" sz="1200" kern="1200" dirty="0" smtClean="0">
                <a:solidFill>
                  <a:schemeClr val="tx1"/>
                </a:solidFill>
                <a:latin typeface="+mn-lt"/>
                <a:ea typeface="+mn-ea"/>
                <a:cs typeface="+mn-cs"/>
              </a:rPr>
              <a:t> requirements and ascertaining changes as/when they occur in the future.</a:t>
            </a:r>
          </a:p>
          <a:p>
            <a:pPr>
              <a:buFont typeface="Arial" pitchFamily="34" charset="0"/>
              <a:buNone/>
            </a:pPr>
            <a:endParaRPr lang="en-AU" sz="1200" kern="1200" noProof="0" dirty="0" smtClean="0">
              <a:solidFill>
                <a:schemeClr val="tx1"/>
              </a:solidFill>
              <a:latin typeface="+mn-lt"/>
              <a:ea typeface="+mn-ea"/>
              <a:cs typeface="+mn-cs"/>
            </a:endParaRPr>
          </a:p>
          <a:p>
            <a:pPr>
              <a:buFont typeface="Arial" pitchFamily="34" charset="0"/>
              <a:buNone/>
            </a:pPr>
            <a:r>
              <a:rPr lang="en-AU" sz="1200" b="1" kern="1200" noProof="0" dirty="0" smtClean="0">
                <a:solidFill>
                  <a:schemeClr val="tx1"/>
                </a:solidFill>
                <a:latin typeface="+mn-lt"/>
                <a:ea typeface="+mn-ea"/>
                <a:cs typeface="+mn-cs"/>
              </a:rPr>
              <a:t>Classroom Activity – Guest Speaker</a:t>
            </a:r>
          </a:p>
          <a:p>
            <a:pPr>
              <a:buFont typeface="Arial" pitchFamily="34" charset="0"/>
              <a:buNone/>
            </a:pPr>
            <a:r>
              <a:rPr lang="en-AU" sz="1200" b="0" kern="1200" noProof="0" dirty="0" smtClean="0">
                <a:solidFill>
                  <a:schemeClr val="tx1"/>
                </a:solidFill>
                <a:latin typeface="+mn-lt"/>
                <a:ea typeface="+mn-ea"/>
                <a:cs typeface="+mn-cs"/>
              </a:rPr>
              <a:t>Trainer arranges for suitable HR person to attend and:</a:t>
            </a:r>
          </a:p>
          <a:p>
            <a:pPr>
              <a:buFont typeface="Arial" pitchFamily="34" charset="0"/>
              <a:buChar char="•"/>
            </a:pPr>
            <a:r>
              <a:rPr lang="en-AU" sz="1200" b="0" kern="1200" noProof="0" dirty="0" smtClean="0">
                <a:solidFill>
                  <a:schemeClr val="tx1"/>
                </a:solidFill>
                <a:latin typeface="+mn-lt"/>
                <a:ea typeface="+mn-ea"/>
                <a:cs typeface="+mn-cs"/>
              </a:rPr>
              <a:t>Provide samples of documentation identified</a:t>
            </a:r>
          </a:p>
          <a:p>
            <a:pPr>
              <a:buFont typeface="Arial" pitchFamily="34" charset="0"/>
              <a:buChar char="•"/>
            </a:pPr>
            <a:r>
              <a:rPr lang="en-AU" sz="1200" b="0" kern="1200" noProof="0" dirty="0" smtClean="0">
                <a:solidFill>
                  <a:schemeClr val="tx1"/>
                </a:solidFill>
                <a:latin typeface="+mn-lt"/>
                <a:ea typeface="+mn-ea"/>
                <a:cs typeface="+mn-cs"/>
              </a:rPr>
              <a:t>Discuss their role in terms of managing and maintaining workplace relations</a:t>
            </a:r>
          </a:p>
          <a:p>
            <a:pPr>
              <a:buFont typeface="Arial" pitchFamily="34" charset="0"/>
              <a:buChar char="•"/>
            </a:pPr>
            <a:r>
              <a:rPr lang="en-AU" sz="1200" b="0" kern="1200" noProof="0" dirty="0" smtClean="0">
                <a:solidFill>
                  <a:schemeClr val="tx1"/>
                </a:solidFill>
                <a:latin typeface="+mn-lt"/>
                <a:ea typeface="+mn-ea"/>
                <a:cs typeface="+mn-cs"/>
              </a:rPr>
              <a:t>Advise on action to take to optimise healthy/compliant workplace relations.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2608224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‘industrial unrest’ stating:</a:t>
            </a:r>
          </a:p>
          <a:p>
            <a:pPr>
              <a:buFont typeface="Arial" pitchFamily="34" charset="0"/>
              <a:buChar char="•"/>
            </a:pPr>
            <a:r>
              <a:rPr lang="en-AU" sz="1200" kern="1200" dirty="0" smtClean="0">
                <a:solidFill>
                  <a:schemeClr val="tx1"/>
                </a:solidFill>
                <a:latin typeface="+mn-lt"/>
                <a:ea typeface="+mn-ea"/>
                <a:cs typeface="+mn-cs"/>
              </a:rPr>
              <a:t>‘Industrial unrest’ is a generic term.</a:t>
            </a:r>
          </a:p>
          <a:p>
            <a:pPr>
              <a:buFont typeface="Arial" pitchFamily="34" charset="0"/>
              <a:buChar char="•"/>
            </a:pPr>
            <a:r>
              <a:rPr lang="en-AU" sz="1200" kern="1200" dirty="0" smtClean="0">
                <a:solidFill>
                  <a:schemeClr val="tx1"/>
                </a:solidFill>
                <a:latin typeface="+mn-lt"/>
                <a:ea typeface="+mn-ea"/>
                <a:cs typeface="+mn-cs"/>
              </a:rPr>
              <a:t>It is also known as:</a:t>
            </a:r>
          </a:p>
          <a:p>
            <a:pPr lvl="1">
              <a:buFont typeface="Arial" pitchFamily="34" charset="0"/>
              <a:buChar char="•"/>
            </a:pPr>
            <a:r>
              <a:rPr lang="en-AU" sz="1200" kern="1200" dirty="0" smtClean="0">
                <a:solidFill>
                  <a:schemeClr val="tx1"/>
                </a:solidFill>
                <a:latin typeface="+mn-lt"/>
                <a:ea typeface="+mn-ea"/>
                <a:cs typeface="+mn-cs"/>
              </a:rPr>
              <a:t>Labour unrest</a:t>
            </a:r>
          </a:p>
          <a:p>
            <a:pPr lvl="1">
              <a:buFont typeface="Arial" pitchFamily="34" charset="0"/>
              <a:buChar char="•"/>
            </a:pPr>
            <a:r>
              <a:rPr lang="en-AU" sz="1200" kern="1200" dirty="0" smtClean="0">
                <a:solidFill>
                  <a:schemeClr val="tx1"/>
                </a:solidFill>
                <a:latin typeface="+mn-lt"/>
                <a:ea typeface="+mn-ea"/>
                <a:cs typeface="+mn-cs"/>
              </a:rPr>
              <a:t>Industrial conflict.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10299783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industrial </a:t>
            </a:r>
            <a:r>
              <a:rPr lang="en-AU" sz="1200" kern="1200" dirty="0" smtClean="0">
                <a:solidFill>
                  <a:schemeClr val="tx1"/>
                </a:solidFill>
                <a:latin typeface="+mn-lt"/>
                <a:ea typeface="+mn-ea"/>
                <a:cs typeface="+mn-cs"/>
              </a:rPr>
              <a:t>unrest may be seen as:</a:t>
            </a:r>
          </a:p>
          <a:p>
            <a:pPr>
              <a:buFont typeface="Arial" pitchFamily="34" charset="0"/>
              <a:buChar char="•"/>
            </a:pPr>
            <a:r>
              <a:rPr lang="en-AU" sz="1200" kern="1200" dirty="0" smtClean="0">
                <a:solidFill>
                  <a:schemeClr val="tx1"/>
                </a:solidFill>
                <a:latin typeface="+mn-lt"/>
                <a:ea typeface="+mn-ea"/>
                <a:cs typeface="+mn-cs"/>
              </a:rPr>
              <a:t>Situations where employees are dissatisfied with what is happening in the workplace as a result of some conflict or tension between management and the workers</a:t>
            </a:r>
          </a:p>
          <a:p>
            <a:pPr>
              <a:buFont typeface="Arial" pitchFamily="34" charset="0"/>
              <a:buChar char="•"/>
            </a:pPr>
            <a:r>
              <a:rPr lang="en-AU" sz="1200" kern="1200" dirty="0" smtClean="0">
                <a:solidFill>
                  <a:schemeClr val="tx1"/>
                </a:solidFill>
                <a:latin typeface="+mn-lt"/>
                <a:ea typeface="+mn-ea"/>
                <a:cs typeface="+mn-cs"/>
              </a:rPr>
              <a:t>Instances where there is a dispute between employees and management</a:t>
            </a:r>
          </a:p>
          <a:p>
            <a:pPr>
              <a:buFont typeface="Arial" pitchFamily="34" charset="0"/>
              <a:buChar char="•"/>
            </a:pPr>
            <a:r>
              <a:rPr lang="en-AU" sz="1200" kern="1200" dirty="0" smtClean="0">
                <a:solidFill>
                  <a:schemeClr val="tx1"/>
                </a:solidFill>
                <a:latin typeface="+mn-lt"/>
                <a:ea typeface="+mn-ea"/>
                <a:cs typeface="+mn-cs"/>
              </a:rPr>
              <a:t>The result of a situation where staff are unhappy with existing or proposed working conditions in their workplace</a:t>
            </a:r>
          </a:p>
          <a:p>
            <a:pPr>
              <a:buFont typeface="Arial" pitchFamily="34" charset="0"/>
              <a:buChar char="•"/>
            </a:pPr>
            <a:r>
              <a:rPr lang="en-AU" sz="1200" kern="1200" dirty="0" smtClean="0">
                <a:solidFill>
                  <a:schemeClr val="tx1"/>
                </a:solidFill>
                <a:latin typeface="+mn-lt"/>
                <a:ea typeface="+mn-ea"/>
                <a:cs typeface="+mn-cs"/>
              </a:rPr>
              <a:t>Action taken by employees (see later slides ‘Action taken by employees’) in response to their dissatisfaction with what is happening in the workplace</a:t>
            </a:r>
          </a:p>
          <a:p>
            <a:pPr>
              <a:buFont typeface="Arial" pitchFamily="34" charset="0"/>
              <a:buChar char="•"/>
            </a:pPr>
            <a:r>
              <a:rPr lang="en-AU" sz="1200" kern="1200" dirty="0" smtClean="0">
                <a:solidFill>
                  <a:schemeClr val="tx1"/>
                </a:solidFill>
                <a:latin typeface="+mn-lt"/>
                <a:ea typeface="+mn-ea"/>
                <a:cs typeface="+mn-cs"/>
              </a:rPr>
              <a:t>Impacting just one individual worker – or a </a:t>
            </a:r>
            <a:r>
              <a:rPr lang="en-AU" sz="1200" i="1" kern="1200" dirty="0" smtClean="0">
                <a:solidFill>
                  <a:schemeClr val="tx1"/>
                </a:solidFill>
                <a:latin typeface="+mn-lt"/>
                <a:ea typeface="+mn-ea"/>
                <a:cs typeface="+mn-cs"/>
              </a:rPr>
              <a:t>group</a:t>
            </a:r>
            <a:r>
              <a:rPr lang="en-AU" sz="1200" kern="1200" dirty="0" smtClean="0">
                <a:solidFill>
                  <a:schemeClr val="tx1"/>
                </a:solidFill>
                <a:latin typeface="+mn-lt"/>
                <a:ea typeface="+mn-ea"/>
                <a:cs typeface="+mn-cs"/>
              </a:rPr>
              <a:t> of employees, or the </a:t>
            </a:r>
            <a:r>
              <a:rPr lang="en-AU" sz="1200" i="1" kern="1200" dirty="0" smtClean="0">
                <a:solidFill>
                  <a:schemeClr val="tx1"/>
                </a:solidFill>
                <a:latin typeface="+mn-lt"/>
                <a:ea typeface="+mn-ea"/>
                <a:cs typeface="+mn-cs"/>
              </a:rPr>
              <a:t>entire workforce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Usually caused by issues relating to remuneration or working conditions.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25303404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when </a:t>
            </a:r>
            <a:r>
              <a:rPr lang="en-AU" sz="1200" kern="1200" dirty="0" smtClean="0">
                <a:solidFill>
                  <a:schemeClr val="tx1"/>
                </a:solidFill>
                <a:latin typeface="+mn-lt"/>
                <a:ea typeface="+mn-ea"/>
                <a:cs typeface="+mn-cs"/>
              </a:rPr>
              <a:t>industrial unrest exists within a business staff usually engage in some form of ‘industrial action’ which may include:</a:t>
            </a:r>
          </a:p>
          <a:p>
            <a:pPr>
              <a:buFont typeface="Arial" pitchFamily="34" charset="0"/>
              <a:buChar char="•"/>
            </a:pPr>
            <a:r>
              <a:rPr lang="en-AU" sz="1200" kern="1200" dirty="0" smtClean="0">
                <a:solidFill>
                  <a:schemeClr val="tx1"/>
                </a:solidFill>
                <a:latin typeface="+mn-lt"/>
                <a:ea typeface="+mn-ea"/>
                <a:cs typeface="+mn-cs"/>
              </a:rPr>
              <a:t>Strikes – where staff refuse to work at all. Strikes may be:</a:t>
            </a:r>
          </a:p>
          <a:p>
            <a:pPr lvl="1">
              <a:buFont typeface="Arial" pitchFamily="34" charset="0"/>
              <a:buChar char="•"/>
            </a:pPr>
            <a:r>
              <a:rPr lang="en-AU" sz="1200" kern="1200" dirty="0" smtClean="0">
                <a:solidFill>
                  <a:schemeClr val="tx1"/>
                </a:solidFill>
                <a:latin typeface="+mn-lt"/>
                <a:ea typeface="+mn-ea"/>
                <a:cs typeface="+mn-cs"/>
              </a:rPr>
              <a:t>Short-term – such as two hours, half-a-day or a full day</a:t>
            </a:r>
          </a:p>
          <a:p>
            <a:pPr lvl="1">
              <a:buFont typeface="Arial" pitchFamily="34" charset="0"/>
              <a:buChar char="•"/>
            </a:pPr>
            <a:r>
              <a:rPr lang="en-AU" sz="1200" kern="1200" dirty="0" smtClean="0">
                <a:solidFill>
                  <a:schemeClr val="tx1"/>
                </a:solidFill>
                <a:latin typeface="+mn-lt"/>
                <a:ea typeface="+mn-ea"/>
                <a:cs typeface="+mn-cs"/>
              </a:rPr>
              <a:t>Longer term – including multiple days/weeks and rolling strikes (where strikes occur on random days/at random times on an ongoing basis)</a:t>
            </a:r>
          </a:p>
          <a:p>
            <a:pPr>
              <a:buFont typeface="Arial" pitchFamily="34" charset="0"/>
              <a:buChar char="•"/>
            </a:pPr>
            <a:r>
              <a:rPr lang="en-AU" sz="1200" kern="1200" dirty="0" smtClean="0">
                <a:solidFill>
                  <a:schemeClr val="tx1"/>
                </a:solidFill>
                <a:latin typeface="+mn-lt"/>
                <a:ea typeface="+mn-ea"/>
                <a:cs typeface="+mn-cs"/>
              </a:rPr>
              <a:t>‘Go slows’ – where staff work slower than they normally do resulting in potentially:</a:t>
            </a:r>
          </a:p>
          <a:p>
            <a:pPr lvl="1">
              <a:buFont typeface="Arial" pitchFamily="34" charset="0"/>
              <a:buChar char="•"/>
            </a:pPr>
            <a:r>
              <a:rPr lang="en-AU" sz="1200" kern="1200" dirty="0" smtClean="0">
                <a:solidFill>
                  <a:schemeClr val="tx1"/>
                </a:solidFill>
                <a:latin typeface="+mn-lt"/>
                <a:ea typeface="+mn-ea"/>
                <a:cs typeface="+mn-cs"/>
              </a:rPr>
              <a:t>Less work being accomplished</a:t>
            </a:r>
          </a:p>
          <a:p>
            <a:pPr lvl="1">
              <a:buFont typeface="Arial" pitchFamily="34" charset="0"/>
              <a:buChar char="•"/>
            </a:pPr>
            <a:r>
              <a:rPr lang="en-AU" sz="1200" kern="1200" dirty="0" smtClean="0">
                <a:solidFill>
                  <a:schemeClr val="tx1"/>
                </a:solidFill>
                <a:latin typeface="+mn-lt"/>
                <a:ea typeface="+mn-ea"/>
                <a:cs typeface="+mn-cs"/>
              </a:rPr>
              <a:t>Increased waiting times for customers</a:t>
            </a:r>
          </a:p>
          <a:p>
            <a:pPr lvl="1">
              <a:buFont typeface="Arial" pitchFamily="34" charset="0"/>
              <a:buChar char="•"/>
            </a:pPr>
            <a:r>
              <a:rPr lang="en-AU" sz="1200" kern="1200" dirty="0" smtClean="0">
                <a:solidFill>
                  <a:schemeClr val="tx1"/>
                </a:solidFill>
                <a:latin typeface="+mn-lt"/>
                <a:ea typeface="+mn-ea"/>
                <a:cs typeface="+mn-cs"/>
              </a:rPr>
              <a:t>More staff needing to be employed to achieve the same amount of work</a:t>
            </a:r>
          </a:p>
          <a:p>
            <a:pPr>
              <a:buFont typeface="Arial" pitchFamily="34" charset="0"/>
              <a:buChar char="•"/>
            </a:pPr>
            <a:r>
              <a:rPr lang="en-AU" sz="1200" kern="1200" dirty="0" smtClean="0">
                <a:solidFill>
                  <a:schemeClr val="tx1"/>
                </a:solidFill>
                <a:latin typeface="+mn-lt"/>
                <a:ea typeface="+mn-ea"/>
                <a:cs typeface="+mn-cs"/>
              </a:rPr>
              <a:t>‘Work to rule’ action – where staff:</a:t>
            </a:r>
          </a:p>
          <a:p>
            <a:pPr lvl="1">
              <a:buFont typeface="Arial" pitchFamily="34" charset="0"/>
              <a:buChar char="•"/>
            </a:pPr>
            <a:r>
              <a:rPr lang="en-AU" sz="1200" kern="1200" dirty="0" smtClean="0">
                <a:solidFill>
                  <a:schemeClr val="tx1"/>
                </a:solidFill>
                <a:latin typeface="+mn-lt"/>
                <a:ea typeface="+mn-ea"/>
                <a:cs typeface="+mn-cs"/>
              </a:rPr>
              <a:t>Only perform duties specified in their individual Job Descriptions/PDs</a:t>
            </a:r>
          </a:p>
          <a:p>
            <a:pPr lvl="1">
              <a:buFont typeface="Arial" pitchFamily="34" charset="0"/>
              <a:buChar char="•"/>
            </a:pPr>
            <a:r>
              <a:rPr lang="en-AU" sz="1200" kern="1200" dirty="0" smtClean="0">
                <a:solidFill>
                  <a:schemeClr val="tx1"/>
                </a:solidFill>
                <a:latin typeface="+mn-lt"/>
                <a:ea typeface="+mn-ea"/>
                <a:cs typeface="+mn-cs"/>
              </a:rPr>
              <a:t>Refuse to do any work over and above what is prescribed for their position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40452395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buFont typeface="Arial" pitchFamily="34" charset="0"/>
              <a:buNone/>
            </a:pPr>
            <a:r>
              <a:rPr lang="en-AU" noProof="0" dirty="0" smtClean="0"/>
              <a:t>Trainer continues presenting</a:t>
            </a:r>
            <a:r>
              <a:rPr lang="en-AU" baseline="0" noProof="0" dirty="0" smtClean="0"/>
              <a:t> examples of industrial action:</a:t>
            </a:r>
          </a:p>
          <a:p>
            <a:pPr>
              <a:buFont typeface="Arial" pitchFamily="34" charset="0"/>
              <a:buChar char="•"/>
            </a:pPr>
            <a:r>
              <a:rPr lang="en-AU" sz="1200" kern="1200" dirty="0" smtClean="0">
                <a:solidFill>
                  <a:schemeClr val="tx1"/>
                </a:solidFill>
                <a:latin typeface="+mn-lt"/>
                <a:ea typeface="+mn-ea"/>
                <a:cs typeface="+mn-cs"/>
              </a:rPr>
              <a:t>Lack of communication – in terms of:</a:t>
            </a:r>
          </a:p>
          <a:p>
            <a:pPr lvl="1">
              <a:buFont typeface="Arial" pitchFamily="34" charset="0"/>
              <a:buChar char="•"/>
            </a:pPr>
            <a:r>
              <a:rPr lang="en-AU" sz="1200" kern="1200" dirty="0" smtClean="0">
                <a:solidFill>
                  <a:schemeClr val="tx1"/>
                </a:solidFill>
                <a:latin typeface="+mn-lt"/>
                <a:ea typeface="+mn-ea"/>
                <a:cs typeface="+mn-cs"/>
              </a:rPr>
              <a:t>Staff not passing on necessary information to management</a:t>
            </a:r>
          </a:p>
          <a:p>
            <a:pPr lvl="1">
              <a:buFont typeface="Arial" pitchFamily="34" charset="0"/>
              <a:buChar char="•"/>
            </a:pPr>
            <a:r>
              <a:rPr lang="en-AU" sz="1200" kern="1200" dirty="0" smtClean="0">
                <a:solidFill>
                  <a:schemeClr val="tx1"/>
                </a:solidFill>
                <a:latin typeface="+mn-lt"/>
                <a:ea typeface="+mn-ea"/>
                <a:cs typeface="+mn-cs"/>
              </a:rPr>
              <a:t>Workers deliberately not sharing vital information with each other</a:t>
            </a:r>
          </a:p>
          <a:p>
            <a:pPr lvl="1">
              <a:buFont typeface="Arial" pitchFamily="34" charset="0"/>
              <a:buChar char="•"/>
            </a:pPr>
            <a:r>
              <a:rPr lang="en-AU" sz="1200" kern="1200" dirty="0" smtClean="0">
                <a:solidFill>
                  <a:schemeClr val="tx1"/>
                </a:solidFill>
                <a:latin typeface="+mn-lt"/>
                <a:ea typeface="+mn-ea"/>
                <a:cs typeface="+mn-cs"/>
              </a:rPr>
              <a:t>Employees not giving customers information over-and-above what they actually ask for</a:t>
            </a:r>
          </a:p>
          <a:p>
            <a:pPr lvl="1">
              <a:buFont typeface="Arial" pitchFamily="34" charset="0"/>
              <a:buChar char="•"/>
            </a:pPr>
            <a:r>
              <a:rPr lang="en-AU" sz="1200" kern="1200" dirty="0" smtClean="0">
                <a:solidFill>
                  <a:schemeClr val="tx1"/>
                </a:solidFill>
                <a:latin typeface="+mn-lt"/>
                <a:ea typeface="+mn-ea"/>
                <a:cs typeface="+mn-cs"/>
              </a:rPr>
              <a:t>Refusal of employees to attend regular/scheduled staff meetings and/or briefings</a:t>
            </a:r>
          </a:p>
          <a:p>
            <a:pPr>
              <a:buFont typeface="Arial" pitchFamily="34" charset="0"/>
              <a:buChar char="•"/>
            </a:pPr>
            <a:r>
              <a:rPr lang="en-AU" sz="1200" kern="1200" dirty="0" smtClean="0">
                <a:solidFill>
                  <a:schemeClr val="tx1"/>
                </a:solidFill>
                <a:latin typeface="+mn-lt"/>
                <a:ea typeface="+mn-ea"/>
                <a:cs typeface="+mn-cs"/>
              </a:rPr>
              <a:t>Passive non-compliance – such as:</a:t>
            </a:r>
          </a:p>
          <a:p>
            <a:pPr lvl="1">
              <a:buFont typeface="Arial" pitchFamily="34" charset="0"/>
              <a:buChar char="•"/>
            </a:pPr>
            <a:r>
              <a:rPr lang="en-AU" sz="1200" kern="1200" dirty="0" smtClean="0">
                <a:solidFill>
                  <a:schemeClr val="tx1"/>
                </a:solidFill>
                <a:latin typeface="+mn-lt"/>
                <a:ea typeface="+mn-ea"/>
                <a:cs typeface="+mn-cs"/>
              </a:rPr>
              <a:t>Complying with strict interpretations of organisational requirements and SOPs – meaning employees do not use common sense to determine what </a:t>
            </a:r>
            <a:r>
              <a:rPr lang="en-AU" sz="1200" i="1" kern="1200" dirty="0" smtClean="0">
                <a:solidFill>
                  <a:schemeClr val="tx1"/>
                </a:solidFill>
                <a:latin typeface="+mn-lt"/>
                <a:ea typeface="+mn-ea"/>
                <a:cs typeface="+mn-cs"/>
              </a:rPr>
              <a:t>should</a:t>
            </a:r>
            <a:r>
              <a:rPr lang="en-AU" sz="1200" kern="1200" dirty="0" smtClean="0">
                <a:solidFill>
                  <a:schemeClr val="tx1"/>
                </a:solidFill>
                <a:latin typeface="+mn-lt"/>
                <a:ea typeface="+mn-ea"/>
                <a:cs typeface="+mn-cs"/>
              </a:rPr>
              <a:t> be done or what </a:t>
            </a:r>
            <a:r>
              <a:rPr lang="en-AU" sz="1200" i="1" kern="1200" dirty="0" smtClean="0">
                <a:solidFill>
                  <a:schemeClr val="tx1"/>
                </a:solidFill>
                <a:latin typeface="+mn-lt"/>
                <a:ea typeface="+mn-ea"/>
                <a:cs typeface="+mn-cs"/>
              </a:rPr>
              <a:t>extra</a:t>
            </a:r>
            <a:r>
              <a:rPr lang="en-AU" sz="1200" kern="1200" dirty="0" smtClean="0">
                <a:solidFill>
                  <a:schemeClr val="tx1"/>
                </a:solidFill>
                <a:latin typeface="+mn-lt"/>
                <a:ea typeface="+mn-ea"/>
                <a:cs typeface="+mn-cs"/>
              </a:rPr>
              <a:t> actions need to be taken</a:t>
            </a:r>
          </a:p>
          <a:p>
            <a:pPr lvl="1">
              <a:buFont typeface="Arial" pitchFamily="34" charset="0"/>
              <a:buChar char="•"/>
            </a:pPr>
            <a:r>
              <a:rPr lang="en-AU" sz="1200" kern="1200" dirty="0" smtClean="0">
                <a:solidFill>
                  <a:schemeClr val="tx1"/>
                </a:solidFill>
                <a:latin typeface="+mn-lt"/>
                <a:ea typeface="+mn-ea"/>
                <a:cs typeface="+mn-cs"/>
              </a:rPr>
              <a:t>Failing to notify management of issues staff can foresee – so appropriate action can be taken by the organisation to avoid or minimise the impact of the threat/problem</a:t>
            </a:r>
          </a:p>
          <a:p>
            <a:pPr lvl="1">
              <a:buFont typeface="Arial" pitchFamily="34" charset="0"/>
              <a:buChar char="•"/>
            </a:pPr>
            <a:r>
              <a:rPr lang="en-AU" sz="1200" kern="1200" dirty="0" smtClean="0">
                <a:solidFill>
                  <a:schemeClr val="tx1"/>
                </a:solidFill>
                <a:latin typeface="+mn-lt"/>
                <a:ea typeface="+mn-ea"/>
                <a:cs typeface="+mn-cs"/>
              </a:rPr>
              <a:t>General lack of cooperation – such as:</a:t>
            </a:r>
          </a:p>
          <a:p>
            <a:pPr lvl="2">
              <a:buFont typeface="Arial" pitchFamily="34" charset="0"/>
              <a:buChar char="•"/>
            </a:pPr>
            <a:r>
              <a:rPr lang="en-AU" sz="1200" kern="1200" dirty="0" smtClean="0">
                <a:solidFill>
                  <a:schemeClr val="tx1"/>
                </a:solidFill>
                <a:latin typeface="+mn-lt"/>
                <a:ea typeface="+mn-ea"/>
                <a:cs typeface="+mn-cs"/>
              </a:rPr>
              <a:t>Not helping when they usually would</a:t>
            </a:r>
          </a:p>
          <a:p>
            <a:pPr lvl="2">
              <a:buFont typeface="Arial" pitchFamily="34" charset="0"/>
              <a:buChar char="•"/>
            </a:pPr>
            <a:r>
              <a:rPr lang="en-AU" sz="1200" kern="1200" dirty="0" smtClean="0">
                <a:solidFill>
                  <a:schemeClr val="tx1"/>
                </a:solidFill>
                <a:latin typeface="+mn-lt"/>
                <a:ea typeface="+mn-ea"/>
                <a:cs typeface="+mn-cs"/>
              </a:rPr>
              <a:t>Not providing input to a workplace initiative</a:t>
            </a:r>
          </a:p>
          <a:p>
            <a:pPr lvl="2">
              <a:buFont typeface="Arial" pitchFamily="34" charset="0"/>
              <a:buChar char="•"/>
            </a:pPr>
            <a:r>
              <a:rPr lang="en-AU" sz="1200" kern="1200" dirty="0" smtClean="0">
                <a:solidFill>
                  <a:schemeClr val="tx1"/>
                </a:solidFill>
                <a:latin typeface="+mn-lt"/>
                <a:ea typeface="+mn-ea"/>
                <a:cs typeface="+mn-cs"/>
              </a:rPr>
              <a:t>Not providing feedback on workplace activities </a:t>
            </a:r>
          </a:p>
          <a:p>
            <a:pPr>
              <a:buFont typeface="Arial" pitchFamily="34" charset="0"/>
              <a:buChar char="•"/>
            </a:pPr>
            <a:r>
              <a:rPr lang="en-AU" sz="1200" kern="1200" dirty="0" smtClean="0">
                <a:solidFill>
                  <a:schemeClr val="tx1"/>
                </a:solidFill>
                <a:latin typeface="+mn-lt"/>
                <a:ea typeface="+mn-ea"/>
                <a:cs typeface="+mn-cs"/>
              </a:rPr>
              <a:t>Intentional sabotage – where certain employees engage in deliberate acts such as:</a:t>
            </a:r>
          </a:p>
          <a:p>
            <a:pPr lvl="1">
              <a:buFont typeface="Arial" pitchFamily="34" charset="0"/>
              <a:buChar char="•"/>
            </a:pPr>
            <a:r>
              <a:rPr lang="en-AU" sz="1200" kern="1200" dirty="0" smtClean="0">
                <a:solidFill>
                  <a:schemeClr val="tx1"/>
                </a:solidFill>
                <a:latin typeface="+mn-lt"/>
                <a:ea typeface="+mn-ea"/>
                <a:cs typeface="+mn-cs"/>
              </a:rPr>
              <a:t>Damaging property or physical resources</a:t>
            </a:r>
          </a:p>
          <a:p>
            <a:pPr lvl="1">
              <a:buFont typeface="Arial" pitchFamily="34" charset="0"/>
              <a:buChar char="•"/>
            </a:pPr>
            <a:r>
              <a:rPr lang="en-AU" sz="1200" kern="1200" dirty="0" smtClean="0">
                <a:solidFill>
                  <a:schemeClr val="tx1"/>
                </a:solidFill>
                <a:latin typeface="+mn-lt"/>
                <a:ea typeface="+mn-ea"/>
                <a:cs typeface="+mn-cs"/>
              </a:rPr>
              <a:t>Deleting electronic data</a:t>
            </a:r>
          </a:p>
          <a:p>
            <a:pPr lvl="1">
              <a:buFont typeface="Arial" pitchFamily="34" charset="0"/>
              <a:buChar char="•"/>
            </a:pPr>
            <a:r>
              <a:rPr lang="en-AU" sz="1200" kern="1200" dirty="0" smtClean="0">
                <a:solidFill>
                  <a:schemeClr val="tx1"/>
                </a:solidFill>
                <a:latin typeface="+mn-lt"/>
                <a:ea typeface="+mn-ea"/>
                <a:cs typeface="+mn-cs"/>
              </a:rPr>
              <a:t>Stealing – money and/or product/s</a:t>
            </a:r>
          </a:p>
          <a:p>
            <a:pPr lvl="1">
              <a:buFont typeface="Arial" pitchFamily="34" charset="0"/>
              <a:buChar char="•"/>
            </a:pPr>
            <a:r>
              <a:rPr lang="en-AU" sz="1200" kern="1200" dirty="0" smtClean="0">
                <a:solidFill>
                  <a:schemeClr val="tx1"/>
                </a:solidFill>
                <a:latin typeface="+mn-lt"/>
                <a:ea typeface="+mn-ea"/>
                <a:cs typeface="+mn-cs"/>
              </a:rPr>
              <a:t>Producing unsaleable products which cannot be used/sold and have to be discarded</a:t>
            </a:r>
          </a:p>
          <a:p>
            <a:pPr lvl="1">
              <a:buFont typeface="Arial" pitchFamily="34" charset="0"/>
              <a:buChar char="•"/>
            </a:pPr>
            <a:r>
              <a:rPr lang="en-AU" sz="1200" kern="1200" dirty="0" smtClean="0">
                <a:solidFill>
                  <a:schemeClr val="tx1"/>
                </a:solidFill>
                <a:latin typeface="+mn-lt"/>
                <a:ea typeface="+mn-ea"/>
                <a:cs typeface="+mn-cs"/>
              </a:rPr>
              <a:t>Engaging in acts to cause expense to the company – such as leaving lights on, leaving taps running, using ‘too much’ product, giving away items to customers</a:t>
            </a:r>
          </a:p>
          <a:p>
            <a:pPr>
              <a:buFont typeface="Arial" pitchFamily="34" charset="0"/>
              <a:buChar char="•"/>
            </a:pPr>
            <a:r>
              <a:rPr lang="en-AU" sz="1200" kern="1200" dirty="0" smtClean="0">
                <a:solidFill>
                  <a:schemeClr val="tx1"/>
                </a:solidFill>
                <a:latin typeface="+mn-lt"/>
                <a:ea typeface="+mn-ea"/>
                <a:cs typeface="+mn-cs"/>
              </a:rPr>
              <a:t>Active non-compliance – where all/most staff:</a:t>
            </a:r>
          </a:p>
          <a:p>
            <a:pPr lvl="1">
              <a:buFont typeface="Arial" pitchFamily="34" charset="0"/>
              <a:buChar char="•"/>
            </a:pPr>
            <a:r>
              <a:rPr lang="en-AU" sz="1200" kern="1200" dirty="0" smtClean="0">
                <a:solidFill>
                  <a:schemeClr val="tx1"/>
                </a:solidFill>
                <a:latin typeface="+mn-lt"/>
                <a:ea typeface="+mn-ea"/>
                <a:cs typeface="+mn-cs"/>
              </a:rPr>
              <a:t>Refuse to comply with a range of standard workplace protocols</a:t>
            </a:r>
          </a:p>
          <a:p>
            <a:pPr lvl="1">
              <a:buFont typeface="Arial" pitchFamily="34" charset="0"/>
              <a:buChar char="•"/>
            </a:pPr>
            <a:r>
              <a:rPr lang="en-AU" sz="1200" kern="1200" dirty="0" smtClean="0">
                <a:solidFill>
                  <a:schemeClr val="tx1"/>
                </a:solidFill>
                <a:latin typeface="+mn-lt"/>
                <a:ea typeface="+mn-ea"/>
                <a:cs typeface="+mn-cs"/>
              </a:rPr>
              <a:t>Ban work on certain aspects of the business undertaken by the organisation</a:t>
            </a:r>
          </a:p>
          <a:p>
            <a:pPr>
              <a:buFont typeface="Arial" pitchFamily="34" charset="0"/>
              <a:buChar char="•"/>
            </a:pPr>
            <a:r>
              <a:rPr lang="en-AU" sz="1200" kern="1200" dirty="0" smtClean="0">
                <a:solidFill>
                  <a:schemeClr val="tx1"/>
                </a:solidFill>
                <a:latin typeface="+mn-lt"/>
                <a:ea typeface="+mn-ea"/>
                <a:cs typeface="+mn-cs"/>
              </a:rPr>
              <a:t>Picketing of the organisation – where staff might:</a:t>
            </a:r>
          </a:p>
          <a:p>
            <a:pPr lvl="1">
              <a:buFont typeface="Arial" pitchFamily="34" charset="0"/>
              <a:buChar char="•"/>
            </a:pPr>
            <a:r>
              <a:rPr lang="en-AU" sz="1200" kern="1200" dirty="0" smtClean="0">
                <a:solidFill>
                  <a:schemeClr val="tx1"/>
                </a:solidFill>
                <a:latin typeface="+mn-lt"/>
                <a:ea typeface="+mn-ea"/>
                <a:cs typeface="+mn-cs"/>
              </a:rPr>
              <a:t>Hold protests outside the business</a:t>
            </a:r>
          </a:p>
          <a:p>
            <a:pPr lvl="1">
              <a:buFont typeface="Arial" pitchFamily="34" charset="0"/>
              <a:buChar char="•"/>
            </a:pPr>
            <a:r>
              <a:rPr lang="en-AU" sz="1200" kern="1200" dirty="0" smtClean="0">
                <a:solidFill>
                  <a:schemeClr val="tx1"/>
                </a:solidFill>
                <a:latin typeface="+mn-lt"/>
                <a:ea typeface="+mn-ea"/>
                <a:cs typeface="+mn-cs"/>
              </a:rPr>
              <a:t>Hold up posters highlighting their complaints and/or demands.</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union representative to attend and:</a:t>
            </a:r>
          </a:p>
          <a:p>
            <a:pPr>
              <a:buFont typeface="Arial" pitchFamily="34" charset="0"/>
              <a:buChar char="•"/>
            </a:pPr>
            <a:r>
              <a:rPr lang="en-AU" b="0" noProof="0" dirty="0" smtClean="0"/>
              <a:t>Present their orientation to</a:t>
            </a:r>
            <a:r>
              <a:rPr lang="en-AU" b="0" baseline="0" noProof="0" dirty="0" smtClean="0"/>
              <a:t> managing and maintaining positive/effective workplace relations</a:t>
            </a:r>
          </a:p>
          <a:p>
            <a:pPr>
              <a:buFont typeface="Arial" pitchFamily="34" charset="0"/>
              <a:buChar char="•"/>
            </a:pPr>
            <a:r>
              <a:rPr lang="en-AU" b="0" baseline="0" noProof="0" dirty="0" smtClean="0"/>
              <a:t>Provide advice on achieving harmonious workplace relations</a:t>
            </a:r>
          </a:p>
          <a:p>
            <a:pPr>
              <a:buFont typeface="Arial" pitchFamily="34" charset="0"/>
              <a:buChar char="•"/>
            </a:pPr>
            <a:r>
              <a:rPr lang="en-AU" b="0" baseline="0" noProof="0" dirty="0" smtClean="0"/>
              <a:t>Identify role of the union in relation to workplace relations, industrial matters and industrial unrest.</a:t>
            </a:r>
            <a:endParaRPr lang="en-AU" b="0" noProof="0" dirty="0" smtClean="0"/>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4258613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identifies there are five generic causes/reasons for </a:t>
            </a:r>
            <a:r>
              <a:rPr lang="en-AU" sz="1200" kern="1200" dirty="0" smtClean="0">
                <a:solidFill>
                  <a:schemeClr val="tx1"/>
                </a:solidFill>
                <a:latin typeface="+mn-lt"/>
                <a:ea typeface="+mn-ea"/>
                <a:cs typeface="+mn-cs"/>
              </a:rPr>
              <a:t>industrial unrest:</a:t>
            </a:r>
          </a:p>
          <a:p>
            <a:pPr>
              <a:buFont typeface="Arial" pitchFamily="34" charset="0"/>
              <a:buChar char="•"/>
            </a:pPr>
            <a:r>
              <a:rPr lang="en-AU" sz="1200" kern="1200" dirty="0" smtClean="0">
                <a:solidFill>
                  <a:schemeClr val="tx1"/>
                </a:solidFill>
                <a:latin typeface="+mn-lt"/>
                <a:ea typeface="+mn-ea"/>
                <a:cs typeface="+mn-cs"/>
              </a:rPr>
              <a:t>Social reasons/causes – such as:</a:t>
            </a:r>
          </a:p>
          <a:p>
            <a:pPr lvl="1">
              <a:buFont typeface="Arial" pitchFamily="34" charset="0"/>
              <a:buChar char="•"/>
            </a:pPr>
            <a:r>
              <a:rPr lang="en-AU" sz="1200" kern="1200" dirty="0" smtClean="0">
                <a:solidFill>
                  <a:schemeClr val="tx1"/>
                </a:solidFill>
                <a:latin typeface="+mn-lt"/>
                <a:ea typeface="+mn-ea"/>
                <a:cs typeface="+mn-cs"/>
              </a:rPr>
              <a:t>A lack of pride in the work being done and in the company that employees work for</a:t>
            </a:r>
          </a:p>
          <a:p>
            <a:pPr lvl="1">
              <a:buFont typeface="Arial" pitchFamily="34" charset="0"/>
              <a:buChar char="•"/>
            </a:pPr>
            <a:r>
              <a:rPr lang="en-AU" sz="1200" kern="1200" dirty="0" smtClean="0">
                <a:solidFill>
                  <a:schemeClr val="tx1"/>
                </a:solidFill>
                <a:latin typeface="+mn-lt"/>
                <a:ea typeface="+mn-ea"/>
                <a:cs typeface="+mn-cs"/>
              </a:rPr>
              <a:t>Refusal of a worker to continue working for an organisation with questionable ethical standards</a:t>
            </a:r>
          </a:p>
          <a:p>
            <a:pPr lvl="1">
              <a:buFont typeface="Arial" pitchFamily="34" charset="0"/>
              <a:buChar char="•"/>
            </a:pPr>
            <a:r>
              <a:rPr lang="en-AU" sz="1200" kern="1200" dirty="0" smtClean="0">
                <a:solidFill>
                  <a:schemeClr val="tx1"/>
                </a:solidFill>
                <a:latin typeface="+mn-lt"/>
                <a:ea typeface="+mn-ea"/>
                <a:cs typeface="+mn-cs"/>
              </a:rPr>
              <a:t>Lack of job satisfaction and absence of a challenging and stimulating working environment</a:t>
            </a:r>
          </a:p>
          <a:p>
            <a:pPr>
              <a:buFont typeface="Arial" pitchFamily="34" charset="0"/>
              <a:buChar char="•"/>
            </a:pPr>
            <a:r>
              <a:rPr lang="en-AU" sz="1200" kern="1200" dirty="0" smtClean="0">
                <a:solidFill>
                  <a:schemeClr val="tx1"/>
                </a:solidFill>
                <a:latin typeface="+mn-lt"/>
                <a:ea typeface="+mn-ea"/>
                <a:cs typeface="+mn-cs"/>
              </a:rPr>
              <a:t>Economic reasons/causes – such as:</a:t>
            </a:r>
          </a:p>
          <a:p>
            <a:pPr lvl="1">
              <a:buFont typeface="Arial" pitchFamily="34" charset="0"/>
              <a:buChar char="•"/>
            </a:pPr>
            <a:r>
              <a:rPr lang="en-AU" sz="1200" kern="1200" dirty="0" smtClean="0">
                <a:solidFill>
                  <a:schemeClr val="tx1"/>
                </a:solidFill>
                <a:latin typeface="+mn-lt"/>
                <a:ea typeface="+mn-ea"/>
                <a:cs typeface="+mn-cs"/>
              </a:rPr>
              <a:t>Poor rates of pay</a:t>
            </a:r>
          </a:p>
          <a:p>
            <a:pPr lvl="1">
              <a:buFont typeface="Arial" pitchFamily="34" charset="0"/>
              <a:buChar char="•"/>
            </a:pPr>
            <a:r>
              <a:rPr lang="en-AU" sz="1200" kern="1200" dirty="0" smtClean="0">
                <a:solidFill>
                  <a:schemeClr val="tx1"/>
                </a:solidFill>
                <a:latin typeface="+mn-lt"/>
                <a:ea typeface="+mn-ea"/>
                <a:cs typeface="+mn-cs"/>
              </a:rPr>
              <a:t>Insufficient fringe benefits/perks of the job</a:t>
            </a:r>
          </a:p>
          <a:p>
            <a:pPr lvl="1">
              <a:buFont typeface="Arial" pitchFamily="34" charset="0"/>
              <a:buChar char="•"/>
            </a:pPr>
            <a:r>
              <a:rPr lang="en-AU" sz="1200" kern="1200" dirty="0" smtClean="0">
                <a:solidFill>
                  <a:schemeClr val="tx1"/>
                </a:solidFill>
                <a:latin typeface="+mn-lt"/>
                <a:ea typeface="+mn-ea"/>
                <a:cs typeface="+mn-cs"/>
              </a:rPr>
              <a:t>No potential for promotion/increased earning capacity</a:t>
            </a:r>
          </a:p>
          <a:p>
            <a:pPr>
              <a:buFont typeface="Arial" pitchFamily="34" charset="0"/>
              <a:buChar char="•"/>
            </a:pPr>
            <a:r>
              <a:rPr lang="en-AU" sz="1200" kern="1200" dirty="0" smtClean="0">
                <a:solidFill>
                  <a:schemeClr val="tx1"/>
                </a:solidFill>
                <a:latin typeface="+mn-lt"/>
                <a:ea typeface="+mn-ea"/>
                <a:cs typeface="+mn-cs"/>
              </a:rPr>
              <a:t>Political reasons/causes – such as:</a:t>
            </a:r>
          </a:p>
          <a:p>
            <a:pPr lvl="1">
              <a:buFont typeface="Arial" pitchFamily="34" charset="0"/>
              <a:buChar char="•"/>
            </a:pPr>
            <a:r>
              <a:rPr lang="en-AU" sz="1200" kern="1200" dirty="0" smtClean="0">
                <a:solidFill>
                  <a:schemeClr val="tx1"/>
                </a:solidFill>
                <a:latin typeface="+mn-lt"/>
                <a:ea typeface="+mn-ea"/>
                <a:cs typeface="+mn-cs"/>
              </a:rPr>
              <a:t>Influence exerted by unions on its members to take industrial action</a:t>
            </a:r>
          </a:p>
          <a:p>
            <a:pPr lvl="1">
              <a:buFont typeface="Arial" pitchFamily="34" charset="0"/>
              <a:buChar char="•"/>
            </a:pPr>
            <a:r>
              <a:rPr lang="en-AU" sz="1200" kern="1200" dirty="0" smtClean="0">
                <a:solidFill>
                  <a:schemeClr val="tx1"/>
                </a:solidFill>
                <a:latin typeface="+mn-lt"/>
                <a:ea typeface="+mn-ea"/>
                <a:cs typeface="+mn-cs"/>
              </a:rPr>
              <a:t>Government initiatives which attack worker conditions, increase tax or add a new mandatory deduction from wages</a:t>
            </a:r>
          </a:p>
          <a:p>
            <a:pPr>
              <a:buFont typeface="Arial" pitchFamily="34" charset="0"/>
              <a:buChar char="•"/>
            </a:pPr>
            <a:r>
              <a:rPr lang="en-AU" sz="1200" kern="1200" dirty="0" smtClean="0">
                <a:solidFill>
                  <a:schemeClr val="tx1"/>
                </a:solidFill>
                <a:latin typeface="+mn-lt"/>
                <a:ea typeface="+mn-ea"/>
                <a:cs typeface="+mn-cs"/>
              </a:rPr>
              <a:t>Organisational reasons/causes – such as:</a:t>
            </a:r>
          </a:p>
          <a:p>
            <a:pPr lvl="1">
              <a:buFont typeface="Arial" pitchFamily="34" charset="0"/>
              <a:buChar char="•"/>
            </a:pPr>
            <a:r>
              <a:rPr lang="en-AU" sz="1200" kern="1200" dirty="0" smtClean="0">
                <a:solidFill>
                  <a:schemeClr val="tx1"/>
                </a:solidFill>
                <a:latin typeface="+mn-lt"/>
                <a:ea typeface="+mn-ea"/>
                <a:cs typeface="+mn-cs"/>
              </a:rPr>
              <a:t>Lack of money in the organisation to provide sufficient, appropriate, safe and/or up-to-date equipment and facilities</a:t>
            </a:r>
          </a:p>
          <a:p>
            <a:pPr lvl="1">
              <a:buFont typeface="Arial" pitchFamily="34" charset="0"/>
              <a:buChar char="•"/>
            </a:pPr>
            <a:r>
              <a:rPr lang="en-AU" sz="1200" kern="1200" dirty="0" smtClean="0">
                <a:solidFill>
                  <a:schemeClr val="tx1"/>
                </a:solidFill>
                <a:latin typeface="+mn-lt"/>
                <a:ea typeface="+mn-ea"/>
                <a:cs typeface="+mn-cs"/>
              </a:rPr>
              <a:t>Poor layout of the workplace and equipment in it</a:t>
            </a:r>
          </a:p>
          <a:p>
            <a:pPr lvl="1">
              <a:buFont typeface="Arial" pitchFamily="34" charset="0"/>
              <a:buChar char="•"/>
            </a:pPr>
            <a:r>
              <a:rPr lang="en-AU" sz="1200" kern="1200" dirty="0" smtClean="0">
                <a:solidFill>
                  <a:schemeClr val="tx1"/>
                </a:solidFill>
                <a:latin typeface="+mn-lt"/>
                <a:ea typeface="+mn-ea"/>
                <a:cs typeface="+mn-cs"/>
              </a:rPr>
              <a:t>Bad/unsatisfactory or unappealing policies and/or operational procedures</a:t>
            </a:r>
          </a:p>
          <a:p>
            <a:pPr>
              <a:buFont typeface="Arial" pitchFamily="34" charset="0"/>
              <a:buChar char="•"/>
            </a:pPr>
            <a:r>
              <a:rPr lang="en-AU" sz="1200" kern="1200" dirty="0" smtClean="0">
                <a:solidFill>
                  <a:schemeClr val="tx1"/>
                </a:solidFill>
                <a:latin typeface="+mn-lt"/>
                <a:ea typeface="+mn-ea"/>
                <a:cs typeface="+mn-cs"/>
              </a:rPr>
              <a:t>Psychological reasons/causes – such as:</a:t>
            </a:r>
          </a:p>
          <a:p>
            <a:pPr lvl="1">
              <a:buFont typeface="Arial" pitchFamily="34" charset="0"/>
              <a:buChar char="•"/>
            </a:pPr>
            <a:r>
              <a:rPr lang="en-AU" sz="1200" kern="1200" dirty="0" smtClean="0">
                <a:solidFill>
                  <a:schemeClr val="tx1"/>
                </a:solidFill>
                <a:latin typeface="+mn-lt"/>
                <a:ea typeface="+mn-ea"/>
                <a:cs typeface="+mn-cs"/>
              </a:rPr>
              <a:t>No recognition of effort, performance or contribution made to what the organisation produces/achieves</a:t>
            </a:r>
          </a:p>
          <a:p>
            <a:pPr lvl="1">
              <a:buFont typeface="Arial" pitchFamily="34" charset="0"/>
              <a:buChar char="•"/>
            </a:pPr>
            <a:r>
              <a:rPr lang="en-AU" sz="1200" kern="1200" dirty="0" smtClean="0">
                <a:solidFill>
                  <a:schemeClr val="tx1"/>
                </a:solidFill>
                <a:latin typeface="+mn-lt"/>
                <a:ea typeface="+mn-ea"/>
                <a:cs typeface="+mn-cs"/>
              </a:rPr>
              <a:t>An organisational culture which is at odds with the values of the individual employee</a:t>
            </a:r>
          </a:p>
          <a:p>
            <a:pPr lvl="1">
              <a:buFont typeface="Arial" pitchFamily="34" charset="0"/>
              <a:buChar char="•"/>
            </a:pPr>
            <a:r>
              <a:rPr lang="en-AU" sz="1200" kern="1200" dirty="0" smtClean="0">
                <a:solidFill>
                  <a:schemeClr val="tx1"/>
                </a:solidFill>
                <a:latin typeface="+mn-lt"/>
                <a:ea typeface="+mn-ea"/>
                <a:cs typeface="+mn-cs"/>
              </a:rPr>
              <a:t>Lack of job security and the ever-present fear of job loss or a reduction in hours.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1212735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a range of possible specific causes for industrial unrest:</a:t>
            </a:r>
          </a:p>
          <a:p>
            <a:pPr>
              <a:buFont typeface="Arial" pitchFamily="34" charset="0"/>
              <a:buChar char="•"/>
            </a:pPr>
            <a:r>
              <a:rPr lang="en-AU" sz="1200" kern="1200" dirty="0" smtClean="0">
                <a:solidFill>
                  <a:schemeClr val="tx1"/>
                </a:solidFill>
                <a:latin typeface="+mn-lt"/>
                <a:ea typeface="+mn-ea"/>
                <a:cs typeface="+mn-cs"/>
              </a:rPr>
              <a:t>Changed working conditions – such as (for example):</a:t>
            </a:r>
          </a:p>
          <a:p>
            <a:pPr lvl="1">
              <a:buFont typeface="Arial" pitchFamily="34" charset="0"/>
              <a:buChar char="•"/>
            </a:pPr>
            <a:r>
              <a:rPr lang="en-AU" sz="1200" kern="1200" dirty="0" smtClean="0">
                <a:solidFill>
                  <a:schemeClr val="tx1"/>
                </a:solidFill>
                <a:latin typeface="+mn-lt"/>
                <a:ea typeface="+mn-ea"/>
                <a:cs typeface="+mn-cs"/>
              </a:rPr>
              <a:t>New systems or equipment being introduced to the workplace which employees do not understand or they fear will adversely impact their job in some way (perhaps in terms of reduced hours, or the need to learn something new)</a:t>
            </a:r>
          </a:p>
          <a:p>
            <a:pPr lvl="1">
              <a:buFont typeface="Arial" pitchFamily="34" charset="0"/>
              <a:buChar char="•"/>
            </a:pPr>
            <a:r>
              <a:rPr lang="en-AU" sz="1200" kern="1200" dirty="0" smtClean="0">
                <a:solidFill>
                  <a:schemeClr val="tx1"/>
                </a:solidFill>
                <a:latin typeface="+mn-lt"/>
                <a:ea typeface="+mn-ea"/>
                <a:cs typeface="+mn-cs"/>
              </a:rPr>
              <a:t>Revisions to normal protocols – in terms of company policies and SOPs which employees believe cause unacceptable disruption to them or otherwise negatively impact their working life or family/social life</a:t>
            </a:r>
          </a:p>
          <a:p>
            <a:pPr lvl="1">
              <a:buFont typeface="Arial" pitchFamily="34" charset="0"/>
              <a:buChar char="•"/>
            </a:pPr>
            <a:r>
              <a:rPr lang="en-AU" sz="1200" kern="1200" dirty="0" smtClean="0">
                <a:solidFill>
                  <a:schemeClr val="tx1"/>
                </a:solidFill>
                <a:latin typeface="+mn-lt"/>
                <a:ea typeface="+mn-ea"/>
                <a:cs typeface="+mn-cs"/>
              </a:rPr>
              <a:t>Safety issues – where employees believe they are put at risk by new systems, technology, equipment or protocols</a:t>
            </a:r>
          </a:p>
          <a:p>
            <a:pPr lvl="1">
              <a:buFont typeface="Arial" pitchFamily="34" charset="0"/>
              <a:buChar char="•"/>
            </a:pPr>
            <a:r>
              <a:rPr lang="en-AU" sz="1200" kern="1200" dirty="0" smtClean="0">
                <a:solidFill>
                  <a:schemeClr val="tx1"/>
                </a:solidFill>
                <a:latin typeface="+mn-lt"/>
                <a:ea typeface="+mn-ea"/>
                <a:cs typeface="+mn-cs"/>
              </a:rPr>
              <a:t>Revisions to anything which staff have been entitled to previously but which is now being reduced or removed – such as (for example):</a:t>
            </a:r>
          </a:p>
          <a:p>
            <a:pPr lvl="2">
              <a:buFont typeface="Arial" pitchFamily="34" charset="0"/>
              <a:buChar char="•"/>
            </a:pPr>
            <a:r>
              <a:rPr lang="en-AU" sz="1200" kern="1200" dirty="0" smtClean="0">
                <a:solidFill>
                  <a:schemeClr val="tx1"/>
                </a:solidFill>
                <a:latin typeface="+mn-lt"/>
                <a:ea typeface="+mn-ea"/>
                <a:cs typeface="+mn-cs"/>
              </a:rPr>
              <a:t>Removing car parking spaces for staff</a:t>
            </a:r>
          </a:p>
          <a:p>
            <a:pPr lvl="2">
              <a:buFont typeface="Arial" pitchFamily="34" charset="0"/>
              <a:buChar char="•"/>
            </a:pPr>
            <a:r>
              <a:rPr lang="en-AU" sz="1200" kern="1200" dirty="0" smtClean="0">
                <a:solidFill>
                  <a:schemeClr val="tx1"/>
                </a:solidFill>
                <a:latin typeface="+mn-lt"/>
                <a:ea typeface="+mn-ea"/>
                <a:cs typeface="+mn-cs"/>
              </a:rPr>
              <a:t>Reducing tea and coffee provided for employees</a:t>
            </a:r>
          </a:p>
          <a:p>
            <a:pPr lvl="2">
              <a:buFont typeface="Arial" pitchFamily="34" charset="0"/>
              <a:buChar char="•"/>
            </a:pPr>
            <a:r>
              <a:rPr lang="en-AU" sz="1200" kern="1200" dirty="0" smtClean="0">
                <a:solidFill>
                  <a:schemeClr val="tx1"/>
                </a:solidFill>
                <a:latin typeface="+mn-lt"/>
                <a:ea typeface="+mn-ea"/>
                <a:cs typeface="+mn-cs"/>
              </a:rPr>
              <a:t>Altering of leave entitlements and other remuneration-related topics by management which results in some detriment to employees</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on sites such as:</a:t>
            </a:r>
          </a:p>
          <a:p>
            <a:r>
              <a:rPr lang="en-AU" sz="1200" u="sng" kern="1200" dirty="0" smtClean="0">
                <a:solidFill>
                  <a:schemeClr val="tx1"/>
                </a:solidFill>
                <a:latin typeface="+mn-lt"/>
                <a:ea typeface="+mn-ea"/>
                <a:cs typeface="+mn-cs"/>
                <a:hlinkClick r:id="rId3"/>
              </a:rPr>
              <a:t>http://elearning.nokomis.in/uploaddocuments/Industrial%20Relations.%20&amp;%20Labour%20laws/Chp%207%20Industrial%20Unrest%20Causes%20and%20Cures/PPT/Chapter%2007.pdf</a:t>
            </a:r>
            <a:r>
              <a:rPr lang="en-AU" sz="1200" kern="1200" dirty="0" smtClean="0">
                <a:solidFill>
                  <a:schemeClr val="tx1"/>
                </a:solidFill>
                <a:latin typeface="+mn-lt"/>
                <a:ea typeface="+mn-ea"/>
                <a:cs typeface="+mn-cs"/>
              </a:rPr>
              <a:t> – Industrial unrest: causes and cures</a:t>
            </a:r>
          </a:p>
          <a:p>
            <a:r>
              <a:rPr lang="en-AU" sz="1200" u="sng" kern="1200" dirty="0" smtClean="0">
                <a:solidFill>
                  <a:schemeClr val="tx1"/>
                </a:solidFill>
                <a:latin typeface="+mn-lt"/>
                <a:ea typeface="+mn-ea"/>
                <a:cs typeface="+mn-cs"/>
                <a:hlinkClick r:id="rId4"/>
              </a:rPr>
              <a:t>https://docs.google.com/presentation/d/1PNkPP9JhteVbTgz8ClfhqNtzA_FgTCIsPEontMB9LbE/edit?pli=1#slide=id.p17</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33377826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buFont typeface="Arial" pitchFamily="34" charset="0"/>
              <a:buNone/>
            </a:pPr>
            <a:r>
              <a:rPr lang="en-AU" noProof="0" dirty="0" smtClean="0"/>
              <a:t>Trainer continues identifying a range of possible specific causes for industrial unrest:</a:t>
            </a:r>
          </a:p>
          <a:p>
            <a:pPr>
              <a:buFont typeface="Arial" pitchFamily="34" charset="0"/>
              <a:buChar char="•"/>
            </a:pPr>
            <a:r>
              <a:rPr lang="en-AU" sz="1200" kern="1200" dirty="0" smtClean="0">
                <a:solidFill>
                  <a:schemeClr val="tx1"/>
                </a:solidFill>
                <a:latin typeface="+mn-lt"/>
                <a:ea typeface="+mn-ea"/>
                <a:cs typeface="+mn-cs"/>
              </a:rPr>
              <a:t>Wage demands – where staff:</a:t>
            </a:r>
          </a:p>
          <a:p>
            <a:pPr lvl="1">
              <a:buFont typeface="Arial" pitchFamily="34" charset="0"/>
              <a:buChar char="•"/>
            </a:pPr>
            <a:r>
              <a:rPr lang="en-AU" sz="1200" kern="1200" dirty="0" smtClean="0">
                <a:solidFill>
                  <a:schemeClr val="tx1"/>
                </a:solidFill>
                <a:latin typeface="+mn-lt"/>
                <a:ea typeface="+mn-ea"/>
                <a:cs typeface="+mn-cs"/>
              </a:rPr>
              <a:t>Want more money for the work they do – due to cost of living expenses, or as a result of inflationary pressures</a:t>
            </a:r>
          </a:p>
          <a:p>
            <a:pPr lvl="1">
              <a:buFont typeface="Arial" pitchFamily="34" charset="0"/>
              <a:buChar char="•"/>
            </a:pPr>
            <a:r>
              <a:rPr lang="en-AU" sz="1200" kern="1200" dirty="0" smtClean="0">
                <a:solidFill>
                  <a:schemeClr val="tx1"/>
                </a:solidFill>
                <a:latin typeface="+mn-lt"/>
                <a:ea typeface="+mn-ea"/>
                <a:cs typeface="+mn-cs"/>
              </a:rPr>
              <a:t>Want more money because they are being asked to do more/different work</a:t>
            </a:r>
          </a:p>
          <a:p>
            <a:pPr lvl="1">
              <a:buFont typeface="Arial" pitchFamily="34" charset="0"/>
              <a:buChar char="•"/>
            </a:pPr>
            <a:r>
              <a:rPr lang="en-AU" sz="1200" kern="1200" dirty="0" smtClean="0">
                <a:solidFill>
                  <a:schemeClr val="tx1"/>
                </a:solidFill>
                <a:latin typeface="+mn-lt"/>
                <a:ea typeface="+mn-ea"/>
                <a:cs typeface="+mn-cs"/>
              </a:rPr>
              <a:t>Want to negotiate better remuneration as their existing work contracts or agreements near their expiration date</a:t>
            </a:r>
          </a:p>
          <a:p>
            <a:pPr lvl="1">
              <a:buFont typeface="Arial" pitchFamily="34" charset="0"/>
              <a:buChar char="•"/>
            </a:pPr>
            <a:r>
              <a:rPr lang="en-AU" sz="1200" kern="1200" dirty="0" smtClean="0">
                <a:solidFill>
                  <a:schemeClr val="tx1"/>
                </a:solidFill>
                <a:latin typeface="+mn-lt"/>
                <a:ea typeface="+mn-ea"/>
                <a:cs typeface="+mn-cs"/>
              </a:rPr>
              <a:t>Believe they deserve more money because they are more experienced, better qualified or more valuable to their employer</a:t>
            </a:r>
          </a:p>
          <a:p>
            <a:pPr lvl="1">
              <a:buFont typeface="Arial" pitchFamily="34" charset="0"/>
              <a:buChar char="•"/>
            </a:pPr>
            <a:r>
              <a:rPr lang="en-AU" sz="1200" kern="1200" dirty="0" smtClean="0">
                <a:solidFill>
                  <a:schemeClr val="tx1"/>
                </a:solidFill>
                <a:latin typeface="+mn-lt"/>
                <a:ea typeface="+mn-ea"/>
                <a:cs typeface="+mn-cs"/>
              </a:rPr>
              <a:t>Identify employees in another (similar) business are receiving more money than they are receiving</a:t>
            </a:r>
          </a:p>
          <a:p>
            <a:pPr>
              <a:buFont typeface="Arial" pitchFamily="34" charset="0"/>
              <a:buChar char="•"/>
            </a:pPr>
            <a:r>
              <a:rPr lang="en-AU" sz="1200" kern="1200" dirty="0" smtClean="0">
                <a:solidFill>
                  <a:schemeClr val="tx1"/>
                </a:solidFill>
                <a:latin typeface="+mn-lt"/>
                <a:ea typeface="+mn-ea"/>
                <a:cs typeface="+mn-cs"/>
              </a:rPr>
              <a:t>Political reasons – where organised/unionised labour workforces elect to take industrial action in order to:</a:t>
            </a:r>
          </a:p>
          <a:p>
            <a:pPr lvl="1">
              <a:buFont typeface="Arial" pitchFamily="34" charset="0"/>
              <a:buChar char="•"/>
            </a:pPr>
            <a:r>
              <a:rPr lang="en-AU" sz="1200" kern="1200" dirty="0" smtClean="0">
                <a:solidFill>
                  <a:schemeClr val="tx1"/>
                </a:solidFill>
                <a:latin typeface="+mn-lt"/>
                <a:ea typeface="+mn-ea"/>
                <a:cs typeface="+mn-cs"/>
              </a:rPr>
              <a:t>Reinforce a political point they wish to make</a:t>
            </a:r>
          </a:p>
          <a:p>
            <a:pPr lvl="1">
              <a:buFont typeface="Arial" pitchFamily="34" charset="0"/>
              <a:buChar char="•"/>
            </a:pPr>
            <a:r>
              <a:rPr lang="en-AU" sz="1200" kern="1200" dirty="0" smtClean="0">
                <a:solidFill>
                  <a:schemeClr val="tx1"/>
                </a:solidFill>
                <a:latin typeface="+mn-lt"/>
                <a:ea typeface="+mn-ea"/>
                <a:cs typeface="+mn-cs"/>
              </a:rPr>
              <a:t>Cause embarrassment to the government</a:t>
            </a:r>
          </a:p>
          <a:p>
            <a:pPr lvl="1">
              <a:buFont typeface="Arial" pitchFamily="34" charset="0"/>
              <a:buChar char="•"/>
            </a:pPr>
            <a:r>
              <a:rPr lang="en-AU" sz="1200" kern="1200" dirty="0" smtClean="0">
                <a:solidFill>
                  <a:schemeClr val="tx1"/>
                </a:solidFill>
                <a:latin typeface="+mn-lt"/>
                <a:ea typeface="+mn-ea"/>
                <a:cs typeface="+mn-cs"/>
              </a:rPr>
              <a:t>Disrupt the operation and reputation of a business or country</a:t>
            </a:r>
          </a:p>
          <a:p>
            <a:pPr lvl="1">
              <a:buFont typeface="Arial" pitchFamily="34" charset="0"/>
              <a:buChar char="•"/>
            </a:pPr>
            <a:r>
              <a:rPr lang="en-AU" sz="1200" kern="1200" dirty="0" smtClean="0">
                <a:solidFill>
                  <a:schemeClr val="tx1"/>
                </a:solidFill>
                <a:latin typeface="+mn-lt"/>
                <a:ea typeface="+mn-ea"/>
                <a:cs typeface="+mn-cs"/>
              </a:rPr>
              <a:t>Respond to a political decision taken by the government</a:t>
            </a:r>
          </a:p>
          <a:p>
            <a:pPr>
              <a:buFont typeface="Arial" pitchFamily="34" charset="0"/>
              <a:buChar char="•"/>
            </a:pPr>
            <a:r>
              <a:rPr lang="en-AU" noProof="0" dirty="0" smtClean="0"/>
              <a:t> </a:t>
            </a:r>
            <a:r>
              <a:rPr lang="en-AU" sz="1200" kern="1200" dirty="0" smtClean="0">
                <a:solidFill>
                  <a:schemeClr val="tx1"/>
                </a:solidFill>
                <a:latin typeface="+mn-lt"/>
                <a:ea typeface="+mn-ea"/>
                <a:cs typeface="+mn-cs"/>
              </a:rPr>
              <a:t>Management who lock employees out of a workplace – as a result of:</a:t>
            </a:r>
          </a:p>
          <a:p>
            <a:pPr lvl="1">
              <a:buFont typeface="Arial" pitchFamily="34" charset="0"/>
              <a:buChar char="•"/>
            </a:pPr>
            <a:r>
              <a:rPr lang="en-AU" sz="1200" kern="1200" dirty="0" smtClean="0">
                <a:solidFill>
                  <a:schemeClr val="tx1"/>
                </a:solidFill>
                <a:latin typeface="+mn-lt"/>
                <a:ea typeface="+mn-ea"/>
                <a:cs typeface="+mn-cs"/>
              </a:rPr>
              <a:t>Industrial action actually taken by staff</a:t>
            </a:r>
          </a:p>
          <a:p>
            <a:pPr lvl="1">
              <a:buFont typeface="Arial" pitchFamily="34" charset="0"/>
              <a:buChar char="•"/>
            </a:pPr>
            <a:r>
              <a:rPr lang="en-AU" sz="1200" kern="1200" dirty="0" smtClean="0">
                <a:solidFill>
                  <a:schemeClr val="tx1"/>
                </a:solidFill>
                <a:latin typeface="+mn-lt"/>
                <a:ea typeface="+mn-ea"/>
                <a:cs typeface="+mn-cs"/>
              </a:rPr>
              <a:t>Threats made by staff in relation to proposed industrial action</a:t>
            </a:r>
          </a:p>
          <a:p>
            <a:pPr>
              <a:buFont typeface="Arial" pitchFamily="34" charset="0"/>
              <a:buChar char="•"/>
            </a:pPr>
            <a:r>
              <a:rPr lang="en-AU" sz="1200" kern="1200" dirty="0" smtClean="0">
                <a:solidFill>
                  <a:schemeClr val="tx1"/>
                </a:solidFill>
                <a:latin typeface="+mn-lt"/>
                <a:ea typeface="+mn-ea"/>
                <a:cs typeface="+mn-cs"/>
              </a:rPr>
              <a:t>Action taken by management which is deemed unacceptable and/or unfair by employees – such as:</a:t>
            </a:r>
          </a:p>
          <a:p>
            <a:pPr lvl="1">
              <a:buFont typeface="Arial" pitchFamily="34" charset="0"/>
              <a:buChar char="•"/>
            </a:pPr>
            <a:r>
              <a:rPr lang="en-AU" sz="1200" kern="1200" dirty="0" smtClean="0">
                <a:solidFill>
                  <a:schemeClr val="tx1"/>
                </a:solidFill>
                <a:latin typeface="+mn-lt"/>
                <a:ea typeface="+mn-ea"/>
                <a:cs typeface="+mn-cs"/>
              </a:rPr>
              <a:t>Their unfair dismissal of a staff member</a:t>
            </a:r>
          </a:p>
          <a:p>
            <a:pPr lvl="1">
              <a:buFont typeface="Arial" pitchFamily="34" charset="0"/>
              <a:buChar char="•"/>
            </a:pPr>
            <a:r>
              <a:rPr lang="en-AU" sz="1200" kern="1200" dirty="0" smtClean="0">
                <a:solidFill>
                  <a:schemeClr val="tx1"/>
                </a:solidFill>
                <a:latin typeface="+mn-lt"/>
                <a:ea typeface="+mn-ea"/>
                <a:cs typeface="+mn-cs"/>
              </a:rPr>
              <a:t>Threatening employees with disciplinary action or dismissal</a:t>
            </a:r>
          </a:p>
          <a:p>
            <a:pPr lvl="1">
              <a:buFont typeface="Arial" pitchFamily="34" charset="0"/>
              <a:buChar char="•"/>
            </a:pPr>
            <a:r>
              <a:rPr lang="en-AU" sz="1200" kern="1200" dirty="0" smtClean="0">
                <a:solidFill>
                  <a:schemeClr val="tx1"/>
                </a:solidFill>
                <a:latin typeface="+mn-lt"/>
                <a:ea typeface="+mn-ea"/>
                <a:cs typeface="+mn-cs"/>
              </a:rPr>
              <a:t>Anticipated/proposed staff lay-offs.</a:t>
            </a:r>
            <a:r>
              <a:rPr lang="en-AU" noProof="0" dirty="0" smtClean="0"/>
              <a:t> </a:t>
            </a:r>
          </a:p>
          <a:p>
            <a:pPr>
              <a:buFont typeface="Arial" pitchFamily="34" charset="0"/>
              <a:buNone/>
            </a:pPr>
            <a:endParaRPr lang="en-AU" noProof="0" dirty="0" smtClean="0"/>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on sites such as:</a:t>
            </a:r>
          </a:p>
          <a:p>
            <a:r>
              <a:rPr lang="en-AU" sz="1200" u="sng" kern="1200" dirty="0" smtClean="0">
                <a:solidFill>
                  <a:schemeClr val="tx1"/>
                </a:solidFill>
                <a:latin typeface="+mn-lt"/>
                <a:ea typeface="+mn-ea"/>
                <a:cs typeface="+mn-cs"/>
                <a:hlinkClick r:id="rId3"/>
              </a:rPr>
              <a:t>http://smallbusiness.chron.com/causes-conflict-industrial-relations-59203.html</a:t>
            </a:r>
            <a:r>
              <a:rPr lang="en-AU" sz="1200" kern="1200" dirty="0" smtClean="0">
                <a:solidFill>
                  <a:schemeClr val="tx1"/>
                </a:solidFill>
                <a:latin typeface="+mn-lt"/>
                <a:ea typeface="+mn-ea"/>
                <a:cs typeface="+mn-cs"/>
              </a:rPr>
              <a:t> - What are the causes of conflict in industrial relations?</a:t>
            </a:r>
          </a:p>
          <a:p>
            <a:r>
              <a:rPr lang="en-AU" sz="1200" u="sng" kern="1200" dirty="0" smtClean="0">
                <a:solidFill>
                  <a:schemeClr val="tx1"/>
                </a:solidFill>
                <a:latin typeface="+mn-lt"/>
                <a:ea typeface="+mn-ea"/>
                <a:cs typeface="+mn-cs"/>
                <a:hlinkClick r:id="rId4"/>
              </a:rPr>
              <a:t>http://www.whatishumanresource.com/causes--Effects-of-poor-industrial-relations</a:t>
            </a:r>
            <a:r>
              <a:rPr lang="en-AU" sz="1200" kern="1200" dirty="0" smtClean="0">
                <a:solidFill>
                  <a:schemeClr val="tx1"/>
                </a:solidFill>
                <a:latin typeface="+mn-lt"/>
                <a:ea typeface="+mn-ea"/>
                <a:cs typeface="+mn-cs"/>
              </a:rPr>
              <a:t> - Causes and effects of poor industrial relations</a:t>
            </a:r>
          </a:p>
          <a:p>
            <a:pPr marL="0" marR="0" indent="0" algn="l" defTabSz="914400" rtl="0" eaLnBrk="1" fontAlgn="auto" latinLnBrk="0" hangingPunct="1">
              <a:lnSpc>
                <a:spcPct val="100000"/>
              </a:lnSpc>
              <a:spcBef>
                <a:spcPts val="0"/>
              </a:spcBef>
              <a:spcAft>
                <a:spcPts val="0"/>
              </a:spcAft>
              <a:buClrTx/>
              <a:buSzTx/>
              <a:buFontTx/>
              <a:buNone/>
              <a:tabLst/>
              <a:defRPr/>
            </a:pPr>
            <a:r>
              <a:rPr lang="en-AU" sz="1200" u="sng" kern="1200" dirty="0" smtClean="0">
                <a:solidFill>
                  <a:schemeClr val="tx1"/>
                </a:solidFill>
                <a:latin typeface="+mn-lt"/>
                <a:ea typeface="+mn-ea"/>
                <a:cs typeface="+mn-cs"/>
                <a:hlinkClick r:id="rId5"/>
              </a:rPr>
              <a:t>http://www.yourarticlelibrary.com/employee-management/5-causes-of-poor-employer-employee-relations/27997/</a:t>
            </a:r>
            <a:r>
              <a:rPr lang="en-AU" sz="1200" kern="1200" dirty="0" smtClean="0">
                <a:solidFill>
                  <a:schemeClr val="tx1"/>
                </a:solidFill>
                <a:latin typeface="+mn-lt"/>
                <a:ea typeface="+mn-ea"/>
                <a:cs typeface="+mn-cs"/>
              </a:rPr>
              <a:t> - 5 causes of poor employer-employee relations</a:t>
            </a:r>
            <a:endParaRPr lang="en-AU" noProof="0" dirty="0" smtClean="0"/>
          </a:p>
          <a:p>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36210828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suggest management </a:t>
            </a:r>
            <a:r>
              <a:rPr lang="en-AU" sz="1200" kern="1200" dirty="0" smtClean="0">
                <a:solidFill>
                  <a:schemeClr val="tx1"/>
                </a:solidFill>
                <a:latin typeface="+mn-lt"/>
                <a:ea typeface="+mn-ea"/>
                <a:cs typeface="+mn-cs"/>
              </a:rPr>
              <a:t>and supervisors can or will become aware of industrial unrest through a range of possible ways:</a:t>
            </a:r>
          </a:p>
          <a:p>
            <a:pPr>
              <a:buFont typeface="Arial" pitchFamily="34" charset="0"/>
              <a:buChar char="•"/>
            </a:pPr>
            <a:r>
              <a:rPr lang="en-AU" sz="1200" kern="1200" dirty="0" smtClean="0">
                <a:solidFill>
                  <a:schemeClr val="tx1"/>
                </a:solidFill>
                <a:latin typeface="+mn-lt"/>
                <a:ea typeface="+mn-ea"/>
                <a:cs typeface="+mn-cs"/>
              </a:rPr>
              <a:t>Convening staff meetings – and listening to what employees say and what their issues, problems, complaints and concerns are</a:t>
            </a:r>
          </a:p>
          <a:p>
            <a:pPr>
              <a:buFont typeface="Arial" pitchFamily="34" charset="0"/>
              <a:buChar char="•"/>
            </a:pPr>
            <a:r>
              <a:rPr lang="en-AU" sz="1200" kern="1200" dirty="0" smtClean="0">
                <a:solidFill>
                  <a:schemeClr val="tx1"/>
                </a:solidFill>
                <a:latin typeface="+mn-lt"/>
                <a:ea typeface="+mn-ea"/>
                <a:cs typeface="+mn-cs"/>
              </a:rPr>
              <a:t>Attending staff meetings (as distinct to </a:t>
            </a:r>
            <a:r>
              <a:rPr lang="en-AU" sz="1200" i="1" kern="1200" dirty="0" smtClean="0">
                <a:solidFill>
                  <a:schemeClr val="tx1"/>
                </a:solidFill>
                <a:latin typeface="+mn-lt"/>
                <a:ea typeface="+mn-ea"/>
                <a:cs typeface="+mn-cs"/>
              </a:rPr>
              <a:t>convening</a:t>
            </a:r>
            <a:r>
              <a:rPr lang="en-AU" sz="1200" kern="1200" dirty="0" smtClean="0">
                <a:solidFill>
                  <a:schemeClr val="tx1"/>
                </a:solidFill>
                <a:latin typeface="+mn-lt"/>
                <a:ea typeface="+mn-ea"/>
                <a:cs typeface="+mn-cs"/>
              </a:rPr>
              <a:t> them) – and again listening to what is being talked about as issues and concerns</a:t>
            </a:r>
          </a:p>
          <a:p>
            <a:pPr>
              <a:buFont typeface="Arial" pitchFamily="34" charset="0"/>
              <a:buChar char="•"/>
            </a:pPr>
            <a:r>
              <a:rPr lang="en-AU" sz="1200" kern="1200" dirty="0" smtClean="0">
                <a:solidFill>
                  <a:schemeClr val="tx1"/>
                </a:solidFill>
                <a:latin typeface="+mn-lt"/>
                <a:ea typeface="+mn-ea"/>
                <a:cs typeface="+mn-cs"/>
              </a:rPr>
              <a:t>Being directly informed verbally or through written communication (such as a ‘Log of claims’) – by: </a:t>
            </a:r>
          </a:p>
          <a:p>
            <a:pPr lvl="1">
              <a:buFont typeface="Arial" pitchFamily="34" charset="0"/>
              <a:buChar char="•"/>
            </a:pPr>
            <a:r>
              <a:rPr lang="en-AU" sz="1200" kern="1200" dirty="0" smtClean="0">
                <a:solidFill>
                  <a:schemeClr val="tx1"/>
                </a:solidFill>
                <a:latin typeface="+mn-lt"/>
                <a:ea typeface="+mn-ea"/>
                <a:cs typeface="+mn-cs"/>
              </a:rPr>
              <a:t>An individual staff member</a:t>
            </a:r>
          </a:p>
          <a:p>
            <a:pPr lvl="1">
              <a:buFont typeface="Arial" pitchFamily="34" charset="0"/>
              <a:buChar char="•"/>
            </a:pPr>
            <a:r>
              <a:rPr lang="en-AU" sz="1200" kern="1200" dirty="0" smtClean="0">
                <a:solidFill>
                  <a:schemeClr val="tx1"/>
                </a:solidFill>
                <a:latin typeface="+mn-lt"/>
                <a:ea typeface="+mn-ea"/>
                <a:cs typeface="+mn-cs"/>
              </a:rPr>
              <a:t>A group of employers</a:t>
            </a:r>
          </a:p>
          <a:p>
            <a:pPr lvl="1">
              <a:buFont typeface="Arial" pitchFamily="34" charset="0"/>
              <a:buChar char="•"/>
            </a:pPr>
            <a:r>
              <a:rPr lang="en-AU" sz="1200" kern="1200" dirty="0" smtClean="0">
                <a:solidFill>
                  <a:schemeClr val="tx1"/>
                </a:solidFill>
                <a:latin typeface="+mn-lt"/>
                <a:ea typeface="+mn-ea"/>
                <a:cs typeface="+mn-cs"/>
              </a:rPr>
              <a:t>The union representative for the workplace or a discreet group of workers within the organisation</a:t>
            </a:r>
          </a:p>
          <a:p>
            <a:pPr lvl="1">
              <a:buFont typeface="Arial" pitchFamily="34" charset="0"/>
              <a:buChar char="•"/>
            </a:pPr>
            <a:r>
              <a:rPr lang="en-AU" sz="1200" kern="1200" dirty="0" smtClean="0">
                <a:solidFill>
                  <a:schemeClr val="tx1"/>
                </a:solidFill>
                <a:latin typeface="+mn-lt"/>
                <a:ea typeface="+mn-ea"/>
                <a:cs typeface="+mn-cs"/>
              </a:rPr>
              <a:t>A representative from union Head Office working on behalf of their members</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on sites such as:</a:t>
            </a:r>
          </a:p>
          <a:p>
            <a:r>
              <a:rPr lang="en-AU" sz="1200" u="sng" kern="1200" dirty="0" smtClean="0">
                <a:solidFill>
                  <a:schemeClr val="tx1"/>
                </a:solidFill>
                <a:latin typeface="+mn-lt"/>
                <a:ea typeface="+mn-ea"/>
                <a:cs typeface="+mn-cs"/>
                <a:hlinkClick r:id="rId3"/>
              </a:rPr>
              <a:t>http://www.airc.gov.au/familyprovisions/acci/Att%20E_Vic_Retail_Log_of_Claims.pdf</a:t>
            </a:r>
            <a:r>
              <a:rPr lang="en-AU" sz="1200" kern="1200" dirty="0" smtClean="0">
                <a:solidFill>
                  <a:schemeClr val="tx1"/>
                </a:solidFill>
                <a:latin typeface="+mn-lt"/>
                <a:ea typeface="+mn-ea"/>
                <a:cs typeface="+mn-cs"/>
              </a:rPr>
              <a:t> – Log of Claims</a:t>
            </a:r>
          </a:p>
          <a:p>
            <a:r>
              <a:rPr lang="en-AU" sz="1200" u="sng" kern="1200" dirty="0" smtClean="0">
                <a:solidFill>
                  <a:schemeClr val="tx1"/>
                </a:solidFill>
                <a:latin typeface="+mn-lt"/>
                <a:ea typeface="+mn-ea"/>
                <a:cs typeface="+mn-cs"/>
                <a:hlinkClick r:id="rId4"/>
              </a:rPr>
              <a:t>http://rphrm.curtin.edu.au/2000/issue1/asean.html</a:t>
            </a:r>
            <a:r>
              <a:rPr lang="en-AU" sz="1200" kern="1200" dirty="0" smtClean="0">
                <a:solidFill>
                  <a:schemeClr val="tx1"/>
                </a:solidFill>
                <a:latin typeface="+mn-lt"/>
                <a:ea typeface="+mn-ea"/>
                <a:cs typeface="+mn-cs"/>
              </a:rPr>
              <a:t> - Stateness and changing contours of industrial relations in ASEAN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7623921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 continues providing options for identifying </a:t>
            </a:r>
            <a:r>
              <a:rPr lang="en-AU" sz="1200" kern="1200" dirty="0" smtClean="0">
                <a:solidFill>
                  <a:schemeClr val="tx1"/>
                </a:solidFill>
                <a:latin typeface="+mn-lt"/>
                <a:ea typeface="+mn-ea"/>
                <a:cs typeface="+mn-cs"/>
              </a:rPr>
              <a:t>industrial unrest:</a:t>
            </a:r>
          </a:p>
          <a:p>
            <a:pPr>
              <a:buFont typeface="Arial" pitchFamily="34" charset="0"/>
              <a:buChar char="•"/>
            </a:pPr>
            <a:r>
              <a:rPr lang="en-AU" sz="1200" kern="1200" dirty="0" smtClean="0">
                <a:solidFill>
                  <a:schemeClr val="tx1"/>
                </a:solidFill>
                <a:latin typeface="+mn-lt"/>
                <a:ea typeface="+mn-ea"/>
                <a:cs typeface="+mn-cs"/>
              </a:rPr>
              <a:t>Being informed by a third party there is a problem – which can occur:</a:t>
            </a:r>
          </a:p>
          <a:p>
            <a:pPr lvl="1">
              <a:buFont typeface="Arial" pitchFamily="34" charset="0"/>
              <a:buChar char="•"/>
            </a:pPr>
            <a:r>
              <a:rPr lang="en-AU" sz="1200" kern="1200" dirty="0" smtClean="0">
                <a:solidFill>
                  <a:schemeClr val="tx1"/>
                </a:solidFill>
                <a:latin typeface="+mn-lt"/>
                <a:ea typeface="+mn-ea"/>
                <a:cs typeface="+mn-cs"/>
              </a:rPr>
              <a:t>When a concerned, well-meaning staff share concerns about an issue impacting one/several of their co-workers</a:t>
            </a:r>
          </a:p>
          <a:p>
            <a:pPr lvl="1">
              <a:buFont typeface="Arial" pitchFamily="34" charset="0"/>
              <a:buChar char="•"/>
            </a:pPr>
            <a:r>
              <a:rPr lang="en-AU" sz="1200" kern="1200" dirty="0" smtClean="0">
                <a:solidFill>
                  <a:schemeClr val="tx1"/>
                </a:solidFill>
                <a:latin typeface="+mn-lt"/>
                <a:ea typeface="+mn-ea"/>
                <a:cs typeface="+mn-cs"/>
              </a:rPr>
              <a:t>As a result of feedback from a customer – or in the form of a complaint</a:t>
            </a:r>
          </a:p>
          <a:p>
            <a:pPr>
              <a:buFont typeface="Arial" pitchFamily="34" charset="0"/>
              <a:buChar char="•"/>
            </a:pPr>
            <a:r>
              <a:rPr lang="en-AU" sz="1200" kern="1200" dirty="0" smtClean="0">
                <a:solidFill>
                  <a:schemeClr val="tx1"/>
                </a:solidFill>
                <a:latin typeface="+mn-lt"/>
                <a:ea typeface="+mn-ea"/>
                <a:cs typeface="+mn-cs"/>
              </a:rPr>
              <a:t>Personal observation  – referred to as ‘management by walking around’ and involves:</a:t>
            </a:r>
          </a:p>
          <a:p>
            <a:pPr lvl="1">
              <a:buFont typeface="Arial" pitchFamily="34" charset="0"/>
              <a:buChar char="•"/>
            </a:pPr>
            <a:r>
              <a:rPr lang="en-AU" sz="1200" kern="1200" dirty="0" smtClean="0">
                <a:solidFill>
                  <a:schemeClr val="tx1"/>
                </a:solidFill>
                <a:latin typeface="+mn-lt"/>
                <a:ea typeface="+mn-ea"/>
                <a:cs typeface="+mn-cs"/>
              </a:rPr>
              <a:t>Talking to staff as they work and:</a:t>
            </a:r>
          </a:p>
          <a:p>
            <a:pPr lvl="2">
              <a:buFont typeface="Arial" pitchFamily="34" charset="0"/>
              <a:buChar char="•"/>
            </a:pPr>
            <a:r>
              <a:rPr lang="en-AU" sz="1200" kern="1200" dirty="0" smtClean="0">
                <a:solidFill>
                  <a:schemeClr val="tx1"/>
                </a:solidFill>
                <a:latin typeface="+mn-lt"/>
                <a:ea typeface="+mn-ea"/>
                <a:cs typeface="+mn-cs"/>
              </a:rPr>
              <a:t>Listening to what they have to say</a:t>
            </a:r>
          </a:p>
          <a:p>
            <a:pPr lvl="2">
              <a:buFont typeface="Arial" pitchFamily="34" charset="0"/>
              <a:buChar char="•"/>
            </a:pPr>
            <a:r>
              <a:rPr lang="en-AU" sz="1200" kern="1200" dirty="0" smtClean="0">
                <a:solidFill>
                  <a:schemeClr val="tx1"/>
                </a:solidFill>
                <a:latin typeface="+mn-lt"/>
                <a:ea typeface="+mn-ea"/>
                <a:cs typeface="+mn-cs"/>
              </a:rPr>
              <a:t>Interpreting their body language</a:t>
            </a:r>
          </a:p>
          <a:p>
            <a:pPr lvl="1">
              <a:buFont typeface="Arial" pitchFamily="34" charset="0"/>
              <a:buChar char="•"/>
            </a:pPr>
            <a:r>
              <a:rPr lang="en-AU" sz="1200" kern="1200" dirty="0" smtClean="0">
                <a:solidFill>
                  <a:schemeClr val="tx1"/>
                </a:solidFill>
                <a:latin typeface="+mn-lt"/>
                <a:ea typeface="+mn-ea"/>
                <a:cs typeface="+mn-cs"/>
              </a:rPr>
              <a:t>Watching staff performance of tasks – to:</a:t>
            </a:r>
          </a:p>
          <a:p>
            <a:pPr lvl="2">
              <a:buFont typeface="Arial" pitchFamily="34" charset="0"/>
              <a:buChar char="•"/>
            </a:pPr>
            <a:r>
              <a:rPr lang="en-AU" sz="1200" kern="1200" dirty="0" smtClean="0">
                <a:solidFill>
                  <a:schemeClr val="tx1"/>
                </a:solidFill>
                <a:latin typeface="+mn-lt"/>
                <a:ea typeface="+mn-ea"/>
                <a:cs typeface="+mn-cs"/>
              </a:rPr>
              <a:t>Ascertain the level of enthusiasm</a:t>
            </a:r>
          </a:p>
          <a:p>
            <a:pPr lvl="2">
              <a:buFont typeface="Arial" pitchFamily="34" charset="0"/>
              <a:buChar char="•"/>
            </a:pPr>
            <a:r>
              <a:rPr lang="en-AU" sz="1200" kern="1200" dirty="0" smtClean="0">
                <a:solidFill>
                  <a:schemeClr val="tx1"/>
                </a:solidFill>
                <a:latin typeface="+mn-lt"/>
                <a:ea typeface="+mn-ea"/>
                <a:cs typeface="+mn-cs"/>
              </a:rPr>
              <a:t>Determine compliance with what is required</a:t>
            </a:r>
          </a:p>
          <a:p>
            <a:pPr lvl="1">
              <a:buFont typeface="Arial" pitchFamily="34" charset="0"/>
              <a:buChar char="•"/>
            </a:pPr>
            <a:r>
              <a:rPr lang="en-AU" sz="1200" kern="1200" dirty="0" smtClean="0">
                <a:solidFill>
                  <a:schemeClr val="tx1"/>
                </a:solidFill>
                <a:latin typeface="+mn-lt"/>
                <a:ea typeface="+mn-ea"/>
                <a:cs typeface="+mn-cs"/>
              </a:rPr>
              <a:t>Examining/checking workplace conditions and facilities – in order to:</a:t>
            </a:r>
          </a:p>
          <a:p>
            <a:pPr lvl="2">
              <a:buFont typeface="Arial" pitchFamily="34" charset="0"/>
              <a:buChar char="•"/>
            </a:pPr>
            <a:r>
              <a:rPr lang="en-AU" sz="1200" kern="1200" dirty="0" smtClean="0">
                <a:solidFill>
                  <a:schemeClr val="tx1"/>
                </a:solidFill>
                <a:latin typeface="+mn-lt"/>
                <a:ea typeface="+mn-ea"/>
                <a:cs typeface="+mn-cs"/>
              </a:rPr>
              <a:t>Check safety and suitability issues</a:t>
            </a:r>
          </a:p>
          <a:p>
            <a:pPr lvl="2">
              <a:buFont typeface="Arial" pitchFamily="34" charset="0"/>
              <a:buChar char="•"/>
            </a:pPr>
            <a:r>
              <a:rPr lang="en-AU" sz="1200" kern="1200" dirty="0" smtClean="0">
                <a:solidFill>
                  <a:schemeClr val="tx1"/>
                </a:solidFill>
                <a:latin typeface="+mn-lt"/>
                <a:ea typeface="+mn-ea"/>
                <a:cs typeface="+mn-cs"/>
              </a:rPr>
              <a:t>Determine whether or not expected/promised working conditions are actually being provided</a:t>
            </a:r>
          </a:p>
          <a:p>
            <a:pPr>
              <a:buFont typeface="Arial" pitchFamily="34" charset="0"/>
              <a:buChar char="•"/>
            </a:pPr>
            <a:r>
              <a:rPr lang="en-AU" sz="1200" kern="1200" dirty="0" smtClean="0">
                <a:solidFill>
                  <a:schemeClr val="tx1"/>
                </a:solidFill>
                <a:latin typeface="+mn-lt"/>
                <a:ea typeface="+mn-ea"/>
                <a:cs typeface="+mn-cs"/>
              </a:rPr>
              <a:t>Realising normal activities of workplace have been interrupted – as a direct result of action taken by employees, such as:</a:t>
            </a:r>
          </a:p>
          <a:p>
            <a:pPr lvl="1">
              <a:buFont typeface="Arial" pitchFamily="34" charset="0"/>
              <a:buChar char="•"/>
            </a:pPr>
            <a:r>
              <a:rPr lang="en-AU" sz="1200" kern="1200" dirty="0" smtClean="0">
                <a:solidFill>
                  <a:schemeClr val="tx1"/>
                </a:solidFill>
                <a:latin typeface="+mn-lt"/>
                <a:ea typeface="+mn-ea"/>
                <a:cs typeface="+mn-cs"/>
              </a:rPr>
              <a:t>Bans on working overtime</a:t>
            </a:r>
          </a:p>
          <a:p>
            <a:pPr lvl="1">
              <a:buFont typeface="Arial" pitchFamily="34" charset="0"/>
              <a:buChar char="•"/>
            </a:pPr>
            <a:r>
              <a:rPr lang="en-AU" sz="1200" kern="1200" dirty="0" smtClean="0">
                <a:solidFill>
                  <a:schemeClr val="tx1"/>
                </a:solidFill>
                <a:latin typeface="+mn-lt"/>
                <a:ea typeface="+mn-ea"/>
                <a:cs typeface="+mn-cs"/>
              </a:rPr>
              <a:t>Work-to-rule</a:t>
            </a:r>
          </a:p>
          <a:p>
            <a:pPr lvl="1">
              <a:buFont typeface="Arial" pitchFamily="34" charset="0"/>
              <a:buChar char="•"/>
            </a:pPr>
            <a:r>
              <a:rPr lang="en-AU" sz="1200" kern="1200" dirty="0" smtClean="0">
                <a:solidFill>
                  <a:schemeClr val="tx1"/>
                </a:solidFill>
                <a:latin typeface="+mn-lt"/>
                <a:ea typeface="+mn-ea"/>
                <a:cs typeface="+mn-cs"/>
              </a:rPr>
              <a:t>Go-slows</a:t>
            </a:r>
          </a:p>
          <a:p>
            <a:pPr lvl="1">
              <a:buFont typeface="Arial" pitchFamily="34" charset="0"/>
              <a:buChar char="•"/>
            </a:pPr>
            <a:r>
              <a:rPr lang="en-AU" sz="1200" kern="1200" dirty="0" smtClean="0">
                <a:solidFill>
                  <a:schemeClr val="tx1"/>
                </a:solidFill>
                <a:latin typeface="+mn-lt"/>
                <a:ea typeface="+mn-ea"/>
                <a:cs typeface="+mn-cs"/>
              </a:rPr>
              <a:t>Non-compliance</a:t>
            </a:r>
          </a:p>
          <a:p>
            <a:pPr lvl="1">
              <a:buFont typeface="Arial" pitchFamily="34" charset="0"/>
              <a:buChar char="•"/>
            </a:pPr>
            <a:r>
              <a:rPr lang="en-AU" sz="1200" kern="1200" dirty="0" smtClean="0">
                <a:solidFill>
                  <a:schemeClr val="tx1"/>
                </a:solidFill>
                <a:latin typeface="+mn-lt"/>
                <a:ea typeface="+mn-ea"/>
                <a:cs typeface="+mn-cs"/>
              </a:rPr>
              <a:t>Lack of usual cooperation.</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on sites such 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http://www.ilo.org/wcmsp5/groups/public/---asia/---ro-bangkok/documents/publication/wcms_140728.pdf</a:t>
            </a:r>
            <a:r>
              <a:rPr lang="en-AU" sz="1200" kern="1200" dirty="0" smtClean="0">
                <a:solidFill>
                  <a:schemeClr val="tx1"/>
                </a:solidFill>
                <a:latin typeface="+mn-lt"/>
                <a:ea typeface="+mn-ea"/>
                <a:cs typeface="+mn-cs"/>
              </a:rPr>
              <a:t> - Report of the second regional seminar on IR in ASEAN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40914834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keys in responding to industrial unrest:</a:t>
            </a:r>
          </a:p>
          <a:p>
            <a:pPr>
              <a:buFont typeface="Arial" pitchFamily="34" charset="0"/>
              <a:buChar char="•"/>
            </a:pPr>
            <a:r>
              <a:rPr lang="en-AU" sz="1200" kern="1200" dirty="0" smtClean="0">
                <a:solidFill>
                  <a:schemeClr val="tx1"/>
                </a:solidFill>
                <a:latin typeface="+mn-lt"/>
                <a:ea typeface="+mn-ea"/>
                <a:cs typeface="+mn-cs"/>
              </a:rPr>
              <a:t>Respond promptly to all identified issues – and not allow matters to drag on or continue unresolved</a:t>
            </a:r>
          </a:p>
          <a:p>
            <a:pPr>
              <a:buFont typeface="Arial" pitchFamily="34" charset="0"/>
              <a:buChar char="•"/>
            </a:pPr>
            <a:r>
              <a:rPr lang="en-AU" sz="1200" kern="1200" dirty="0" smtClean="0">
                <a:solidFill>
                  <a:schemeClr val="tx1"/>
                </a:solidFill>
                <a:latin typeface="+mn-lt"/>
                <a:ea typeface="+mn-ea"/>
                <a:cs typeface="+mn-cs"/>
              </a:rPr>
              <a:t>Involve the workers – in addressing or resolving the situation</a:t>
            </a:r>
          </a:p>
          <a:p>
            <a:pPr>
              <a:buFont typeface="Arial" pitchFamily="34" charset="0"/>
              <a:buChar char="•"/>
            </a:pPr>
            <a:r>
              <a:rPr lang="en-AU" sz="1200" kern="1200" dirty="0" smtClean="0">
                <a:solidFill>
                  <a:schemeClr val="tx1"/>
                </a:solidFill>
                <a:latin typeface="+mn-lt"/>
                <a:ea typeface="+mn-ea"/>
                <a:cs typeface="+mn-cs"/>
              </a:rPr>
              <a:t>Ensure the cause of the problem/issue is addressed – and time is not wasted targeting symptoms of the issue</a:t>
            </a:r>
          </a:p>
          <a:p>
            <a:pPr>
              <a:buFont typeface="Arial" pitchFamily="34" charset="0"/>
              <a:buChar char="•"/>
            </a:pPr>
            <a:r>
              <a:rPr lang="en-AU" sz="1200" kern="1200" dirty="0" smtClean="0">
                <a:solidFill>
                  <a:schemeClr val="tx1"/>
                </a:solidFill>
                <a:latin typeface="+mn-lt"/>
                <a:ea typeface="+mn-ea"/>
                <a:cs typeface="+mn-cs"/>
              </a:rPr>
              <a:t>Negotiate an agreed solution that allows (where/if possible) a win-win outcome for employer and employees – </a:t>
            </a:r>
            <a:r>
              <a:rPr lang="en-AU" sz="1200" b="1" kern="1200" dirty="0" smtClean="0">
                <a:solidFill>
                  <a:schemeClr val="tx1"/>
                </a:solidFill>
                <a:latin typeface="+mn-lt"/>
                <a:ea typeface="+mn-ea"/>
                <a:cs typeface="+mn-cs"/>
              </a:rPr>
              <a:t>rather than </a:t>
            </a:r>
            <a:r>
              <a:rPr lang="en-AU" sz="1200" kern="1200" dirty="0" smtClean="0">
                <a:solidFill>
                  <a:schemeClr val="tx1"/>
                </a:solidFill>
                <a:latin typeface="+mn-lt"/>
                <a:ea typeface="+mn-ea"/>
                <a:cs typeface="+mn-cs"/>
              </a:rPr>
              <a:t>a solution which:</a:t>
            </a:r>
          </a:p>
          <a:p>
            <a:pPr lvl="1">
              <a:buFont typeface="Arial" pitchFamily="34" charset="0"/>
              <a:buChar char="•"/>
            </a:pPr>
            <a:r>
              <a:rPr lang="en-AU" sz="1200" kern="1200" dirty="0" smtClean="0">
                <a:solidFill>
                  <a:schemeClr val="tx1"/>
                </a:solidFill>
                <a:latin typeface="+mn-lt"/>
                <a:ea typeface="+mn-ea"/>
                <a:cs typeface="+mn-cs"/>
              </a:rPr>
              <a:t>Costs jobs</a:t>
            </a:r>
          </a:p>
          <a:p>
            <a:pPr lvl="1">
              <a:buFont typeface="Arial" pitchFamily="34" charset="0"/>
              <a:buChar char="•"/>
            </a:pPr>
            <a:r>
              <a:rPr lang="en-AU" sz="1200" kern="1200" dirty="0" smtClean="0">
                <a:solidFill>
                  <a:schemeClr val="tx1"/>
                </a:solidFill>
                <a:latin typeface="+mn-lt"/>
                <a:ea typeface="+mn-ea"/>
                <a:cs typeface="+mn-cs"/>
              </a:rPr>
              <a:t>Reduces staff working hours</a:t>
            </a:r>
          </a:p>
          <a:p>
            <a:pPr lvl="1">
              <a:buFont typeface="Arial" pitchFamily="34" charset="0"/>
              <a:buChar char="•"/>
            </a:pPr>
            <a:r>
              <a:rPr lang="en-AU" sz="1200" kern="1200" dirty="0" smtClean="0">
                <a:solidFill>
                  <a:schemeClr val="tx1"/>
                </a:solidFill>
                <a:latin typeface="+mn-lt"/>
                <a:ea typeface="+mn-ea"/>
                <a:cs typeface="+mn-cs"/>
              </a:rPr>
              <a:t>Imposes unacceptable cost burdens on the organisation – as a result of needing to spend more (or ‘too much’) on wages, resources or other demands.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10906597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 presents options for action in response to industrial unrest:</a:t>
            </a:r>
          </a:p>
          <a:p>
            <a:pPr>
              <a:buFont typeface="Arial" pitchFamily="34" charset="0"/>
              <a:buChar char="•"/>
            </a:pPr>
            <a:r>
              <a:rPr lang="en-AU" sz="1200" kern="1200" dirty="0" smtClean="0">
                <a:solidFill>
                  <a:schemeClr val="tx1"/>
                </a:solidFill>
                <a:latin typeface="+mn-lt"/>
                <a:ea typeface="+mn-ea"/>
                <a:cs typeface="+mn-cs"/>
              </a:rPr>
              <a:t>Meeting with staff – to discuss the situation and generate a workable solution acceptable to all parties</a:t>
            </a:r>
          </a:p>
          <a:p>
            <a:pPr lvl="1">
              <a:buFont typeface="Arial" pitchFamily="34" charset="0"/>
              <a:buChar char="•"/>
            </a:pPr>
            <a:r>
              <a:rPr lang="en-AU" sz="1200" kern="1200" dirty="0" smtClean="0">
                <a:solidFill>
                  <a:schemeClr val="tx1"/>
                </a:solidFill>
                <a:latin typeface="+mn-lt"/>
                <a:ea typeface="+mn-ea"/>
                <a:cs typeface="+mn-cs"/>
              </a:rPr>
              <a:t>This is proactive and it:</a:t>
            </a:r>
          </a:p>
          <a:p>
            <a:pPr lvl="2">
              <a:buFont typeface="Arial" pitchFamily="34" charset="0"/>
              <a:buChar char="•"/>
            </a:pPr>
            <a:r>
              <a:rPr lang="en-AU" sz="1200" kern="1200" dirty="0" smtClean="0">
                <a:solidFill>
                  <a:schemeClr val="tx1"/>
                </a:solidFill>
                <a:latin typeface="+mn-lt"/>
                <a:ea typeface="+mn-ea"/>
                <a:cs typeface="+mn-cs"/>
              </a:rPr>
              <a:t>Demonstrates management interest in and engagement with the issue</a:t>
            </a:r>
          </a:p>
          <a:p>
            <a:pPr lvl="2">
              <a:buFont typeface="Arial" pitchFamily="34" charset="0"/>
              <a:buChar char="•"/>
            </a:pPr>
            <a:r>
              <a:rPr lang="en-AU" sz="1200" kern="1200" dirty="0" smtClean="0">
                <a:solidFill>
                  <a:schemeClr val="tx1"/>
                </a:solidFill>
                <a:latin typeface="+mn-lt"/>
                <a:ea typeface="+mn-ea"/>
                <a:cs typeface="+mn-cs"/>
              </a:rPr>
              <a:t>Shows a desire to resolve/address the issue</a:t>
            </a:r>
          </a:p>
          <a:p>
            <a:pPr lvl="2">
              <a:buFont typeface="Arial" pitchFamily="34" charset="0"/>
              <a:buChar char="•"/>
            </a:pPr>
            <a:r>
              <a:rPr lang="en-AU" sz="1200" kern="1200" dirty="0" smtClean="0">
                <a:solidFill>
                  <a:schemeClr val="tx1"/>
                </a:solidFill>
                <a:latin typeface="+mn-lt"/>
                <a:ea typeface="+mn-ea"/>
                <a:cs typeface="+mn-cs"/>
              </a:rPr>
              <a:t>Allows management to listen to what the workers have to say and receive first-hand input about the issue/s</a:t>
            </a:r>
          </a:p>
          <a:p>
            <a:pPr lvl="2">
              <a:buFont typeface="Arial" pitchFamily="34" charset="0"/>
              <a:buChar char="•"/>
            </a:pPr>
            <a:r>
              <a:rPr lang="en-AU" sz="1200" kern="1200" dirty="0" smtClean="0">
                <a:solidFill>
                  <a:schemeClr val="tx1"/>
                </a:solidFill>
                <a:latin typeface="+mn-lt"/>
                <a:ea typeface="+mn-ea"/>
                <a:cs typeface="+mn-cs"/>
              </a:rPr>
              <a:t>Provides an opportunity for management to:</a:t>
            </a:r>
          </a:p>
          <a:p>
            <a:pPr lvl="3">
              <a:buFont typeface="Arial" pitchFamily="34" charset="0"/>
              <a:buChar char="•"/>
            </a:pPr>
            <a:r>
              <a:rPr lang="en-AU" sz="1200" kern="1200" dirty="0" smtClean="0">
                <a:solidFill>
                  <a:schemeClr val="tx1"/>
                </a:solidFill>
                <a:latin typeface="+mn-lt"/>
                <a:ea typeface="+mn-ea"/>
                <a:cs typeface="+mn-cs"/>
              </a:rPr>
              <a:t>Present </a:t>
            </a:r>
            <a:r>
              <a:rPr lang="en-AU" sz="1200" i="1" kern="1200" dirty="0" smtClean="0">
                <a:solidFill>
                  <a:schemeClr val="tx1"/>
                </a:solidFill>
                <a:latin typeface="+mn-lt"/>
                <a:ea typeface="+mn-ea"/>
                <a:cs typeface="+mn-cs"/>
              </a:rPr>
              <a:t>their</a:t>
            </a:r>
            <a:r>
              <a:rPr lang="en-AU" sz="1200" kern="1200" dirty="0" smtClean="0">
                <a:solidFill>
                  <a:schemeClr val="tx1"/>
                </a:solidFill>
                <a:latin typeface="+mn-lt"/>
                <a:ea typeface="+mn-ea"/>
                <a:cs typeface="+mn-cs"/>
              </a:rPr>
              <a:t> side of the story </a:t>
            </a:r>
          </a:p>
          <a:p>
            <a:pPr lvl="3">
              <a:buFont typeface="Arial" pitchFamily="34" charset="0"/>
              <a:buChar char="•"/>
            </a:pPr>
            <a:r>
              <a:rPr lang="en-AU" sz="1200" kern="1200" dirty="0" smtClean="0">
                <a:solidFill>
                  <a:schemeClr val="tx1"/>
                </a:solidFill>
                <a:latin typeface="+mn-lt"/>
                <a:ea typeface="+mn-ea"/>
                <a:cs typeface="+mn-cs"/>
              </a:rPr>
              <a:t>Describe what they see as the limitations which apply to the situation from their perspective </a:t>
            </a:r>
          </a:p>
          <a:p>
            <a:pPr lvl="3">
              <a:buFont typeface="Arial" pitchFamily="34" charset="0"/>
              <a:buChar char="•"/>
            </a:pPr>
            <a:r>
              <a:rPr lang="en-AU" sz="1200" kern="1200" dirty="0" smtClean="0">
                <a:solidFill>
                  <a:schemeClr val="tx1"/>
                </a:solidFill>
                <a:latin typeface="+mn-lt"/>
                <a:ea typeface="+mn-ea"/>
                <a:cs typeface="+mn-cs"/>
              </a:rPr>
              <a:t>Indicate the pressures which are being applied by stakeholders </a:t>
            </a:r>
          </a:p>
          <a:p>
            <a:pPr lvl="0">
              <a:buFont typeface="Arial" pitchFamily="34" charset="0"/>
              <a:buChar char="•"/>
            </a:pPr>
            <a:r>
              <a:rPr lang="en-AU" sz="1200" kern="1200" dirty="0" smtClean="0">
                <a:solidFill>
                  <a:schemeClr val="tx1"/>
                </a:solidFill>
                <a:latin typeface="+mn-lt"/>
                <a:ea typeface="+mn-ea"/>
                <a:cs typeface="+mn-cs"/>
              </a:rPr>
              <a:t>Investigating presented issues – which may require/involve:</a:t>
            </a:r>
          </a:p>
          <a:p>
            <a:pPr lvl="1">
              <a:buFont typeface="Arial" pitchFamily="34" charset="0"/>
              <a:buChar char="•"/>
            </a:pPr>
            <a:r>
              <a:rPr lang="en-AU" sz="1200" kern="1200" dirty="0" smtClean="0">
                <a:solidFill>
                  <a:schemeClr val="tx1"/>
                </a:solidFill>
                <a:latin typeface="+mn-lt"/>
                <a:ea typeface="+mn-ea"/>
                <a:cs typeface="+mn-cs"/>
              </a:rPr>
              <a:t>Workplace inspections – often in company with employees or their representatives</a:t>
            </a:r>
          </a:p>
          <a:p>
            <a:pPr lvl="1">
              <a:buFont typeface="Arial" pitchFamily="34" charset="0"/>
              <a:buChar char="•"/>
            </a:pPr>
            <a:r>
              <a:rPr lang="en-AU" sz="1200" kern="1200" dirty="0" smtClean="0">
                <a:solidFill>
                  <a:schemeClr val="tx1"/>
                </a:solidFill>
                <a:latin typeface="+mn-lt"/>
                <a:ea typeface="+mn-ea"/>
                <a:cs typeface="+mn-cs"/>
              </a:rPr>
              <a:t>Monitoring and collecting fact-based data about the matter under dispute or consideration</a:t>
            </a:r>
          </a:p>
          <a:p>
            <a:pPr lvl="1">
              <a:buFont typeface="Arial" pitchFamily="34" charset="0"/>
              <a:buChar char="•"/>
            </a:pPr>
            <a:r>
              <a:rPr lang="en-AU" sz="1200" kern="1200" dirty="0" smtClean="0">
                <a:solidFill>
                  <a:schemeClr val="tx1"/>
                </a:solidFill>
                <a:latin typeface="+mn-lt"/>
                <a:ea typeface="+mn-ea"/>
                <a:cs typeface="+mn-cs"/>
              </a:rPr>
              <a:t>Gathering information from external sources relevant to the topic</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on sites such as:</a:t>
            </a:r>
          </a:p>
          <a:p>
            <a:r>
              <a:rPr lang="en-AU" sz="1200" u="sng" kern="1200" dirty="0" smtClean="0">
                <a:solidFill>
                  <a:schemeClr val="tx1"/>
                </a:solidFill>
                <a:latin typeface="+mn-lt"/>
                <a:ea typeface="+mn-ea"/>
                <a:cs typeface="+mn-cs"/>
                <a:hlinkClick r:id="rId3"/>
              </a:rPr>
              <a:t>http://www.scmp.com/business/companies/article/1537317/how-cope-labour-unrest-turbulent-region</a:t>
            </a:r>
            <a:r>
              <a:rPr lang="en-AU" sz="1200" kern="1200" dirty="0" smtClean="0">
                <a:solidFill>
                  <a:schemeClr val="tx1"/>
                </a:solidFill>
                <a:latin typeface="+mn-lt"/>
                <a:ea typeface="+mn-ea"/>
                <a:cs typeface="+mn-cs"/>
              </a:rPr>
              <a:t> - How to cope with labour unrest in a turbulent region</a:t>
            </a:r>
          </a:p>
          <a:p>
            <a:r>
              <a:rPr lang="en-AU" sz="1200" u="sng" kern="1200" dirty="0" smtClean="0">
                <a:solidFill>
                  <a:schemeClr val="tx1"/>
                </a:solidFill>
                <a:latin typeface="+mn-lt"/>
                <a:ea typeface="+mn-ea"/>
                <a:cs typeface="+mn-cs"/>
                <a:hlinkClick r:id="rId4"/>
              </a:rPr>
              <a:t>http://www.aseanhrmech.org/downloads/singapore-Industrial_Relations_Act.pdf</a:t>
            </a:r>
            <a:r>
              <a:rPr lang="en-AU" sz="1200" kern="1200" dirty="0" smtClean="0">
                <a:solidFill>
                  <a:schemeClr val="tx1"/>
                </a:solidFill>
                <a:latin typeface="+mn-lt"/>
                <a:ea typeface="+mn-ea"/>
                <a:cs typeface="+mn-cs"/>
              </a:rPr>
              <a:t> - Singapore Industrial Relations Act</a:t>
            </a:r>
          </a:p>
          <a:p>
            <a:r>
              <a:rPr lang="en-AU" sz="1200" u="sng" kern="1200" dirty="0" smtClean="0">
                <a:solidFill>
                  <a:schemeClr val="tx1"/>
                </a:solidFill>
                <a:latin typeface="+mn-lt"/>
                <a:ea typeface="+mn-ea"/>
                <a:cs typeface="+mn-cs"/>
                <a:hlinkClick r:id="rId5"/>
              </a:rPr>
              <a:t>http://www.bollettinoadapt.it/old/files/document/18096AMANTE.pdf</a:t>
            </a:r>
            <a:r>
              <a:rPr lang="en-AU" sz="1200" kern="1200" dirty="0" smtClean="0">
                <a:solidFill>
                  <a:schemeClr val="tx1"/>
                </a:solidFill>
                <a:latin typeface="+mn-lt"/>
                <a:ea typeface="+mn-ea"/>
                <a:cs typeface="+mn-cs"/>
              </a:rPr>
              <a:t> - ASEAN Industrial Relations: Is a regional framework possible?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7198280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presents options for action in response to industrial unrest:</a:t>
            </a:r>
          </a:p>
          <a:p>
            <a:pPr>
              <a:buFont typeface="Arial" pitchFamily="34" charset="0"/>
              <a:buChar char="•"/>
            </a:pPr>
            <a:r>
              <a:rPr lang="en-AU" sz="1200" kern="1200" dirty="0" smtClean="0">
                <a:solidFill>
                  <a:schemeClr val="tx1"/>
                </a:solidFill>
                <a:latin typeface="+mn-lt"/>
                <a:ea typeface="+mn-ea"/>
                <a:cs typeface="+mn-cs"/>
              </a:rPr>
              <a:t>Writing reports regarding research undertaken, findings, and suggestions for action  – and: </a:t>
            </a:r>
          </a:p>
          <a:p>
            <a:pPr lvl="1">
              <a:buFont typeface="Arial" pitchFamily="34" charset="0"/>
              <a:buChar char="•"/>
            </a:pPr>
            <a:r>
              <a:rPr lang="en-AU" sz="1200" kern="1200" dirty="0" smtClean="0">
                <a:solidFill>
                  <a:schemeClr val="tx1"/>
                </a:solidFill>
                <a:latin typeface="+mn-lt"/>
                <a:ea typeface="+mn-ea"/>
                <a:cs typeface="+mn-cs"/>
              </a:rPr>
              <a:t>Presenting these to staff – for their consideration and/or approval for implementation</a:t>
            </a:r>
          </a:p>
          <a:p>
            <a:pPr lvl="1">
              <a:buFont typeface="Arial" pitchFamily="34" charset="0"/>
              <a:buChar char="•"/>
            </a:pPr>
            <a:r>
              <a:rPr lang="en-AU" sz="1200" kern="1200" dirty="0" smtClean="0">
                <a:solidFill>
                  <a:schemeClr val="tx1"/>
                </a:solidFill>
                <a:latin typeface="+mn-lt"/>
                <a:ea typeface="+mn-ea"/>
                <a:cs typeface="+mn-cs"/>
              </a:rPr>
              <a:t>Making recommendations to colleagues and senior management</a:t>
            </a:r>
          </a:p>
          <a:p>
            <a:pPr>
              <a:buFont typeface="Arial" pitchFamily="34" charset="0"/>
              <a:buChar char="•"/>
            </a:pPr>
            <a:r>
              <a:rPr lang="en-AU" sz="1200" kern="1200" dirty="0" smtClean="0">
                <a:solidFill>
                  <a:schemeClr val="tx1"/>
                </a:solidFill>
                <a:latin typeface="+mn-lt"/>
                <a:ea typeface="+mn-ea"/>
                <a:cs typeface="+mn-cs"/>
              </a:rPr>
              <a:t>Involving specialist assistance – which may relate to:</a:t>
            </a:r>
          </a:p>
          <a:p>
            <a:pPr lvl="1">
              <a:buFont typeface="Arial" pitchFamily="34" charset="0"/>
              <a:buChar char="•"/>
            </a:pPr>
            <a:r>
              <a:rPr lang="en-AU" sz="1200" kern="1200" dirty="0" smtClean="0">
                <a:solidFill>
                  <a:schemeClr val="tx1"/>
                </a:solidFill>
                <a:latin typeface="+mn-lt"/>
                <a:ea typeface="+mn-ea"/>
                <a:cs typeface="+mn-cs"/>
              </a:rPr>
              <a:t>Obtaining input from technical experts – where the matter relates to technology, equipment, systems or other practical workplace operations</a:t>
            </a:r>
          </a:p>
          <a:p>
            <a:pPr lvl="1">
              <a:buFont typeface="Arial" pitchFamily="34" charset="0"/>
              <a:buChar char="•"/>
            </a:pPr>
            <a:r>
              <a:rPr lang="en-AU" sz="1200" kern="1200" dirty="0" smtClean="0">
                <a:solidFill>
                  <a:schemeClr val="tx1"/>
                </a:solidFill>
                <a:latin typeface="+mn-lt"/>
                <a:ea typeface="+mn-ea"/>
                <a:cs typeface="+mn-cs"/>
              </a:rPr>
              <a:t>Asking for help from government agencies – who may be able to provide guidelines for action, legislated obligations and anecdotal experiences of other employers and industrial unrest situations</a:t>
            </a:r>
          </a:p>
          <a:p>
            <a:pPr lvl="1">
              <a:buFont typeface="Arial" pitchFamily="34" charset="0"/>
              <a:buChar char="•"/>
            </a:pPr>
            <a:r>
              <a:rPr lang="en-AU" sz="1200" kern="1200" dirty="0" smtClean="0">
                <a:solidFill>
                  <a:schemeClr val="tx1"/>
                </a:solidFill>
                <a:latin typeface="+mn-lt"/>
                <a:ea typeface="+mn-ea"/>
                <a:cs typeface="+mn-cs"/>
              </a:rPr>
              <a:t>Requesting assistance from the relevant union – who may be able to suggest effective and workable options/solutions for common problems</a:t>
            </a:r>
          </a:p>
          <a:p>
            <a:pPr lvl="1">
              <a:buFont typeface="Arial" pitchFamily="34" charset="0"/>
              <a:buChar char="•"/>
            </a:pPr>
            <a:r>
              <a:rPr lang="en-AU" sz="1200" kern="1200" dirty="0" smtClean="0">
                <a:solidFill>
                  <a:schemeClr val="tx1"/>
                </a:solidFill>
                <a:latin typeface="+mn-lt"/>
                <a:ea typeface="+mn-ea"/>
                <a:cs typeface="+mn-cs"/>
              </a:rPr>
              <a:t>Conciliation-mediation – where an external person/body tries to help </a:t>
            </a:r>
            <a:r>
              <a:rPr lang="en-AU" sz="1200" i="1" kern="1200" dirty="0" smtClean="0">
                <a:solidFill>
                  <a:schemeClr val="tx1"/>
                </a:solidFill>
                <a:latin typeface="+mn-lt"/>
                <a:ea typeface="+mn-ea"/>
                <a:cs typeface="+mn-cs"/>
              </a:rPr>
              <a:t>negotiate</a:t>
            </a:r>
            <a:r>
              <a:rPr lang="en-AU" sz="1200" kern="1200" dirty="0" smtClean="0">
                <a:solidFill>
                  <a:schemeClr val="tx1"/>
                </a:solidFill>
                <a:latin typeface="+mn-lt"/>
                <a:ea typeface="+mn-ea"/>
                <a:cs typeface="+mn-cs"/>
              </a:rPr>
              <a:t> a solution to the issue which is acceptable to both parties</a:t>
            </a:r>
          </a:p>
          <a:p>
            <a:pPr lvl="1">
              <a:buFont typeface="Arial" pitchFamily="34" charset="0"/>
              <a:buChar char="•"/>
            </a:pPr>
            <a:r>
              <a:rPr lang="en-AU" sz="1200" kern="1200" dirty="0" smtClean="0">
                <a:solidFill>
                  <a:schemeClr val="tx1"/>
                </a:solidFill>
                <a:latin typeface="+mn-lt"/>
                <a:ea typeface="+mn-ea"/>
                <a:cs typeface="+mn-cs"/>
              </a:rPr>
              <a:t>Arbitration –  where an external person/body listens to both parties (employers and employees) and then makes a decisions which the parties have agreed they will accept regardless of what it is</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on sites such as:</a:t>
            </a:r>
          </a:p>
          <a:p>
            <a:r>
              <a:rPr lang="en-AU" sz="1200" u="sng" kern="1200" dirty="0" smtClean="0">
                <a:solidFill>
                  <a:schemeClr val="tx1"/>
                </a:solidFill>
                <a:latin typeface="+mn-lt"/>
                <a:ea typeface="+mn-ea"/>
                <a:cs typeface="+mn-cs"/>
                <a:hlinkClick r:id="rId3"/>
              </a:rPr>
              <a:t>https://archive.org/details/industrialunrest014882mbp</a:t>
            </a:r>
            <a:r>
              <a:rPr lang="en-AU" sz="1200" kern="1200" dirty="0" smtClean="0">
                <a:solidFill>
                  <a:schemeClr val="tx1"/>
                </a:solidFill>
                <a:latin typeface="+mn-lt"/>
                <a:ea typeface="+mn-ea"/>
                <a:cs typeface="+mn-cs"/>
              </a:rPr>
              <a:t> - Industrial unrest; a practical solution</a:t>
            </a:r>
          </a:p>
          <a:p>
            <a:r>
              <a:rPr lang="en-AU" sz="1200" u="sng" kern="1200" dirty="0" smtClean="0">
                <a:solidFill>
                  <a:schemeClr val="tx1"/>
                </a:solidFill>
                <a:latin typeface="+mn-lt"/>
                <a:ea typeface="+mn-ea"/>
                <a:cs typeface="+mn-cs"/>
                <a:hlinkClick r:id="rId4"/>
              </a:rPr>
              <a:t>http://www.hrpulse.co.za/legal/industrial-relations/230610-how-can-we-stop-the-current-labour-unrest</a:t>
            </a:r>
            <a:r>
              <a:rPr lang="en-AU" sz="1200" kern="1200" dirty="0" smtClean="0">
                <a:solidFill>
                  <a:schemeClr val="tx1"/>
                </a:solidFill>
                <a:latin typeface="+mn-lt"/>
                <a:ea typeface="+mn-ea"/>
                <a:cs typeface="+mn-cs"/>
              </a:rPr>
              <a:t> - How can we stop the current labour unrest?</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3655260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options for action in response to industrial unrest:</a:t>
            </a:r>
          </a:p>
          <a:p>
            <a:pPr>
              <a:buFont typeface="Arial" pitchFamily="34" charset="0"/>
              <a:buChar char="•"/>
            </a:pPr>
            <a:r>
              <a:rPr lang="en-AU" sz="1200" kern="1200" dirty="0" smtClean="0">
                <a:solidFill>
                  <a:schemeClr val="tx1"/>
                </a:solidFill>
                <a:latin typeface="+mn-lt"/>
                <a:ea typeface="+mn-ea"/>
                <a:cs typeface="+mn-cs"/>
              </a:rPr>
              <a:t>Talking to staff involved – to:</a:t>
            </a:r>
          </a:p>
          <a:p>
            <a:pPr lvl="1">
              <a:buFont typeface="Arial" pitchFamily="34" charset="0"/>
              <a:buChar char="•"/>
            </a:pPr>
            <a:r>
              <a:rPr lang="en-AU" sz="1200" kern="1200" dirty="0" smtClean="0">
                <a:solidFill>
                  <a:schemeClr val="tx1"/>
                </a:solidFill>
                <a:latin typeface="+mn-lt"/>
                <a:ea typeface="+mn-ea"/>
                <a:cs typeface="+mn-cs"/>
              </a:rPr>
              <a:t>Explain the stance and position of the organisation on the issue</a:t>
            </a:r>
          </a:p>
          <a:p>
            <a:pPr lvl="1">
              <a:buFont typeface="Arial" pitchFamily="34" charset="0"/>
              <a:buChar char="•"/>
            </a:pPr>
            <a:r>
              <a:rPr lang="en-AU" sz="1200" kern="1200" dirty="0" smtClean="0">
                <a:solidFill>
                  <a:schemeClr val="tx1"/>
                </a:solidFill>
                <a:latin typeface="+mn-lt"/>
                <a:ea typeface="+mn-ea"/>
                <a:cs typeface="+mn-cs"/>
              </a:rPr>
              <a:t>Provide reasons/rationale for action taken and proposed</a:t>
            </a:r>
          </a:p>
          <a:p>
            <a:pPr lvl="1">
              <a:buFont typeface="Arial" pitchFamily="34" charset="0"/>
              <a:buChar char="•"/>
            </a:pPr>
            <a:r>
              <a:rPr lang="en-AU" sz="1200" kern="1200" dirty="0" smtClean="0">
                <a:solidFill>
                  <a:schemeClr val="tx1"/>
                </a:solidFill>
                <a:latin typeface="+mn-lt"/>
                <a:ea typeface="+mn-ea"/>
                <a:cs typeface="+mn-cs"/>
              </a:rPr>
              <a:t>Advise and counsel them</a:t>
            </a:r>
          </a:p>
          <a:p>
            <a:pPr lvl="1">
              <a:buFont typeface="Arial" pitchFamily="34" charset="0"/>
              <a:buChar char="•"/>
            </a:pPr>
            <a:r>
              <a:rPr lang="en-AU" sz="1200" kern="1200" dirty="0" smtClean="0">
                <a:solidFill>
                  <a:schemeClr val="tx1"/>
                </a:solidFill>
                <a:latin typeface="+mn-lt"/>
                <a:ea typeface="+mn-ea"/>
                <a:cs typeface="+mn-cs"/>
              </a:rPr>
              <a:t>Provide them with extra information to give them material from which to generate their own, balanced, objective and fact-based opinion</a:t>
            </a:r>
          </a:p>
          <a:p>
            <a:pPr>
              <a:buFont typeface="Arial" pitchFamily="34" charset="0"/>
              <a:buChar char="•"/>
            </a:pPr>
            <a:r>
              <a:rPr lang="en-AU" sz="1200" kern="1200" dirty="0" smtClean="0">
                <a:solidFill>
                  <a:schemeClr val="tx1"/>
                </a:solidFill>
                <a:latin typeface="+mn-lt"/>
                <a:ea typeface="+mn-ea"/>
                <a:cs typeface="+mn-cs"/>
              </a:rPr>
              <a:t>Involving staff on an ongoing basis – in terms of (for example):</a:t>
            </a:r>
          </a:p>
          <a:p>
            <a:pPr lvl="1">
              <a:buFont typeface="Arial" pitchFamily="34" charset="0"/>
              <a:buChar char="•"/>
            </a:pPr>
            <a:r>
              <a:rPr lang="en-AU" sz="1200" kern="1200" dirty="0" smtClean="0">
                <a:solidFill>
                  <a:schemeClr val="tx1"/>
                </a:solidFill>
                <a:latin typeface="+mn-lt"/>
                <a:ea typeface="+mn-ea"/>
                <a:cs typeface="+mn-cs"/>
              </a:rPr>
              <a:t>Including them when workplace decisions are made and asking for their contributions as part of the decision making process</a:t>
            </a:r>
          </a:p>
          <a:p>
            <a:pPr lvl="1">
              <a:buFont typeface="Arial" pitchFamily="34" charset="0"/>
              <a:buChar char="•"/>
            </a:pPr>
            <a:r>
              <a:rPr lang="en-AU" sz="1200" kern="1200" dirty="0" smtClean="0">
                <a:solidFill>
                  <a:schemeClr val="tx1"/>
                </a:solidFill>
                <a:latin typeface="+mn-lt"/>
                <a:ea typeface="+mn-ea"/>
                <a:cs typeface="+mn-cs"/>
              </a:rPr>
              <a:t>Adding staff representatives to management teams and including them at management-level meetings</a:t>
            </a:r>
          </a:p>
          <a:p>
            <a:pPr lvl="1">
              <a:buFont typeface="Arial" pitchFamily="34" charset="0"/>
              <a:buChar char="•"/>
            </a:pPr>
            <a:r>
              <a:rPr lang="en-AU" sz="1200" kern="1200" dirty="0" smtClean="0">
                <a:solidFill>
                  <a:schemeClr val="tx1"/>
                </a:solidFill>
                <a:latin typeface="+mn-lt"/>
                <a:ea typeface="+mn-ea"/>
                <a:cs typeface="+mn-cs"/>
              </a:rPr>
              <a:t>Capturing their input when workplace reviews, evaluations and initiatives are being planned and are taking place</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on sites such as:</a:t>
            </a:r>
          </a:p>
          <a:p>
            <a:r>
              <a:rPr lang="en-AU" sz="1200" u="sng" kern="1200" dirty="0" smtClean="0">
                <a:solidFill>
                  <a:schemeClr val="tx1"/>
                </a:solidFill>
                <a:latin typeface="+mn-lt"/>
                <a:ea typeface="+mn-ea"/>
                <a:cs typeface="+mn-cs"/>
                <a:hlinkClick r:id="rId3"/>
              </a:rPr>
              <a:t>http://www.modernghana.com/news/42643/1/consultation-arbitration-is-solution-to-labour-unr.html</a:t>
            </a:r>
            <a:r>
              <a:rPr lang="en-AU" sz="1200" kern="1200" dirty="0" smtClean="0">
                <a:solidFill>
                  <a:schemeClr val="tx1"/>
                </a:solidFill>
                <a:latin typeface="+mn-lt"/>
                <a:ea typeface="+mn-ea"/>
                <a:cs typeface="+mn-cs"/>
              </a:rPr>
              <a:t> - Consultation and arbitration is solution to labour unrest</a:t>
            </a:r>
          </a:p>
          <a:p>
            <a:r>
              <a:rPr lang="en-AU" sz="1200" u="sng" kern="1200" dirty="0" smtClean="0">
                <a:solidFill>
                  <a:schemeClr val="tx1"/>
                </a:solidFill>
                <a:latin typeface="+mn-lt"/>
                <a:ea typeface="+mn-ea"/>
                <a:cs typeface="+mn-cs"/>
                <a:hlinkClick r:id="rId4"/>
              </a:rPr>
              <a:t>http://www.businessdailyafrica.com/Opinion-and-Analysis/Find-lasting-solution-to-rampant-labour-unrest-/-/539548/1288976/-/qdmb9lz/-/index.html</a:t>
            </a:r>
            <a:r>
              <a:rPr lang="en-AU" sz="1200" kern="1200" dirty="0" smtClean="0">
                <a:solidFill>
                  <a:schemeClr val="tx1"/>
                </a:solidFill>
                <a:latin typeface="+mn-lt"/>
                <a:ea typeface="+mn-ea"/>
                <a:cs typeface="+mn-cs"/>
              </a:rPr>
              <a:t> - Finding lasting solution to rampant labour unrest</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24593686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a:buFont typeface="Arial" pitchFamily="34" charset="0"/>
              <a:buNone/>
            </a:pPr>
            <a:r>
              <a:rPr lang="en-AU" noProof="0" dirty="0" smtClean="0"/>
              <a:t>Trainer presents options for action in response to industrial unrest:</a:t>
            </a:r>
          </a:p>
          <a:p>
            <a:pPr>
              <a:buFont typeface="Arial" pitchFamily="34" charset="0"/>
              <a:buChar char="•"/>
            </a:pPr>
            <a:r>
              <a:rPr lang="en-AU" sz="1200" kern="1200" dirty="0" smtClean="0">
                <a:solidFill>
                  <a:schemeClr val="tx1"/>
                </a:solidFill>
                <a:latin typeface="+mn-lt"/>
                <a:ea typeface="+mn-ea"/>
                <a:cs typeface="+mn-cs"/>
              </a:rPr>
              <a:t>Acceding to demands/requests made by employees where these are reasonable, legitimate or valid – in many cases, as a result of this response, there can be/is a need to:</a:t>
            </a:r>
          </a:p>
          <a:p>
            <a:pPr lvl="1">
              <a:buFont typeface="Arial" pitchFamily="34" charset="0"/>
              <a:buChar char="•"/>
            </a:pPr>
            <a:r>
              <a:rPr lang="en-AU" sz="1200" kern="1200" dirty="0" smtClean="0">
                <a:solidFill>
                  <a:schemeClr val="tx1"/>
                </a:solidFill>
                <a:latin typeface="+mn-lt"/>
                <a:ea typeface="+mn-ea"/>
                <a:cs typeface="+mn-cs"/>
              </a:rPr>
              <a:t>Pass on costs incurred in doing this to customers via price rises for products/services provided</a:t>
            </a:r>
          </a:p>
          <a:p>
            <a:pPr lvl="1">
              <a:buFont typeface="Arial" pitchFamily="34" charset="0"/>
              <a:buChar char="•"/>
            </a:pPr>
            <a:r>
              <a:rPr lang="en-AU" sz="1200" kern="1200" dirty="0" smtClean="0">
                <a:solidFill>
                  <a:schemeClr val="tx1"/>
                </a:solidFill>
                <a:latin typeface="+mn-lt"/>
                <a:ea typeface="+mn-ea"/>
                <a:cs typeface="+mn-cs"/>
              </a:rPr>
              <a:t>Re-structure the workforce – which may entail:</a:t>
            </a:r>
          </a:p>
          <a:p>
            <a:pPr lvl="2">
              <a:buFont typeface="Arial" pitchFamily="34" charset="0"/>
              <a:buChar char="•"/>
            </a:pPr>
            <a:r>
              <a:rPr lang="en-AU" sz="1200" kern="1200" dirty="0" smtClean="0">
                <a:solidFill>
                  <a:schemeClr val="tx1"/>
                </a:solidFill>
                <a:latin typeface="+mn-lt"/>
                <a:ea typeface="+mn-ea"/>
                <a:cs typeface="+mn-cs"/>
              </a:rPr>
              <a:t>Job losses – to save money needed to pay increased wage costs of other staff</a:t>
            </a:r>
          </a:p>
          <a:p>
            <a:pPr lvl="2">
              <a:buFont typeface="Arial" pitchFamily="34" charset="0"/>
              <a:buChar char="•"/>
            </a:pPr>
            <a:r>
              <a:rPr lang="en-AU" sz="1200" kern="1200" dirty="0" smtClean="0">
                <a:solidFill>
                  <a:schemeClr val="tx1"/>
                </a:solidFill>
                <a:latin typeface="+mn-lt"/>
                <a:ea typeface="+mn-ea"/>
                <a:cs typeface="+mn-cs"/>
              </a:rPr>
              <a:t>Hiring more staff – to address situations where staff were over-worked</a:t>
            </a:r>
          </a:p>
          <a:p>
            <a:pPr lvl="2">
              <a:buFont typeface="Arial" pitchFamily="34" charset="0"/>
              <a:buChar char="•"/>
            </a:pPr>
            <a:r>
              <a:rPr lang="en-AU" sz="1200" kern="1200" dirty="0" smtClean="0">
                <a:solidFill>
                  <a:schemeClr val="tx1"/>
                </a:solidFill>
                <a:latin typeface="+mn-lt"/>
                <a:ea typeface="+mn-ea"/>
                <a:cs typeface="+mn-cs"/>
              </a:rPr>
              <a:t>Roster revisions – to, perhaps, reduce staff hours to off-set wage increases</a:t>
            </a:r>
          </a:p>
          <a:p>
            <a:pPr lvl="2">
              <a:buFont typeface="Arial" pitchFamily="34" charset="0"/>
              <a:buChar char="•"/>
            </a:pPr>
            <a:r>
              <a:rPr lang="en-AU" sz="1200" kern="1200" dirty="0" smtClean="0">
                <a:solidFill>
                  <a:schemeClr val="tx1"/>
                </a:solidFill>
                <a:latin typeface="+mn-lt"/>
                <a:ea typeface="+mn-ea"/>
                <a:cs typeface="+mn-cs"/>
              </a:rPr>
              <a:t>Multi-skilling of employees – so the one person can do more than job</a:t>
            </a:r>
          </a:p>
          <a:p>
            <a:pPr lvl="2">
              <a:buFont typeface="Arial" pitchFamily="34" charset="0"/>
              <a:buChar char="•"/>
            </a:pPr>
            <a:r>
              <a:rPr lang="en-AU" sz="1200" kern="1200" dirty="0" smtClean="0">
                <a:solidFill>
                  <a:schemeClr val="tx1"/>
                </a:solidFill>
                <a:latin typeface="+mn-lt"/>
                <a:ea typeface="+mn-ea"/>
                <a:cs typeface="+mn-cs"/>
              </a:rPr>
              <a:t>Combining two roles into one – to reduce the number of paid positions</a:t>
            </a:r>
          </a:p>
          <a:p>
            <a:pPr lvl="2">
              <a:buFont typeface="Arial" pitchFamily="34" charset="0"/>
              <a:buChar char="•"/>
            </a:pPr>
            <a:r>
              <a:rPr lang="en-AU" sz="1200" kern="1200" dirty="0" smtClean="0">
                <a:solidFill>
                  <a:schemeClr val="tx1"/>
                </a:solidFill>
                <a:latin typeface="+mn-lt"/>
                <a:ea typeface="+mn-ea"/>
                <a:cs typeface="+mn-cs"/>
              </a:rPr>
              <a:t>Out-sourcing work previously done within the organisation – to save labour costs</a:t>
            </a:r>
          </a:p>
          <a:p>
            <a:pPr lvl="1">
              <a:buFont typeface="Arial" pitchFamily="34" charset="0"/>
              <a:buChar char="•"/>
            </a:pPr>
            <a:r>
              <a:rPr lang="en-AU" sz="1200" kern="1200" dirty="0" smtClean="0">
                <a:solidFill>
                  <a:schemeClr val="tx1"/>
                </a:solidFill>
                <a:latin typeface="+mn-lt"/>
                <a:ea typeface="+mn-ea"/>
                <a:cs typeface="+mn-cs"/>
              </a:rPr>
              <a:t>Ensure staff increase productivity (as agreed during negotiations) – to off-set the cost of increased labour costs</a:t>
            </a:r>
          </a:p>
          <a:p>
            <a:pPr>
              <a:buFont typeface="Arial" pitchFamily="34" charset="0"/>
              <a:buChar char="•"/>
            </a:pPr>
            <a:r>
              <a:rPr lang="en-AU" sz="1200" kern="1200" dirty="0" smtClean="0">
                <a:solidFill>
                  <a:schemeClr val="tx1"/>
                </a:solidFill>
                <a:latin typeface="+mn-lt"/>
                <a:ea typeface="+mn-ea"/>
                <a:cs typeface="+mn-cs"/>
              </a:rPr>
              <a:t>Locking staff out of the workplace – and refusing to re-open the business until:</a:t>
            </a:r>
          </a:p>
          <a:p>
            <a:pPr lvl="1">
              <a:buFont typeface="Arial" pitchFamily="34" charset="0"/>
              <a:buChar char="•"/>
            </a:pPr>
            <a:r>
              <a:rPr lang="en-AU" sz="1200" kern="1200" dirty="0" smtClean="0">
                <a:solidFill>
                  <a:schemeClr val="tx1"/>
                </a:solidFill>
                <a:latin typeface="+mn-lt"/>
                <a:ea typeface="+mn-ea"/>
                <a:cs typeface="+mn-cs"/>
              </a:rPr>
              <a:t>Staff stop their industrial action</a:t>
            </a:r>
          </a:p>
          <a:p>
            <a:pPr lvl="1">
              <a:buFont typeface="Arial" pitchFamily="34" charset="0"/>
              <a:buChar char="•"/>
            </a:pPr>
            <a:r>
              <a:rPr lang="en-AU" sz="1200" kern="1200" dirty="0" smtClean="0">
                <a:solidFill>
                  <a:schemeClr val="tx1"/>
                </a:solidFill>
                <a:latin typeface="+mn-lt"/>
                <a:ea typeface="+mn-ea"/>
                <a:cs typeface="+mn-cs"/>
              </a:rPr>
              <a:t>Agree to the proposed resolution being offered by the employer.</a:t>
            </a:r>
          </a:p>
          <a:p>
            <a:pPr lvl="2">
              <a:buFont typeface="Arial" pitchFamily="34" charset="0"/>
              <a:buChar char="•"/>
            </a:pPr>
            <a:r>
              <a:rPr lang="en-AU" sz="1200" kern="1200" dirty="0" smtClean="0">
                <a:solidFill>
                  <a:schemeClr val="tx1"/>
                </a:solidFill>
                <a:latin typeface="+mn-lt"/>
                <a:ea typeface="+mn-ea"/>
                <a:cs typeface="+mn-cs"/>
              </a:rPr>
              <a:t>In practice, this action is a ‘last resort’ option and only to be considered when other possible solutions/attempts at a resolution have been tried and have failed.</a:t>
            </a:r>
          </a:p>
          <a:p>
            <a:pPr>
              <a:buFont typeface="Arial" pitchFamily="34" charset="0"/>
              <a:buChar char="•"/>
            </a:pPr>
            <a:r>
              <a:rPr lang="en-AU" sz="1200" kern="1200" dirty="0" smtClean="0">
                <a:solidFill>
                  <a:schemeClr val="tx1"/>
                </a:solidFill>
                <a:latin typeface="+mn-lt"/>
                <a:ea typeface="+mn-ea"/>
                <a:cs typeface="+mn-cs"/>
              </a:rPr>
              <a:t>Dismissing non-compliant staff – in accordance with:</a:t>
            </a:r>
          </a:p>
          <a:p>
            <a:pPr lvl="1">
              <a:buFont typeface="Arial" pitchFamily="34" charset="0"/>
              <a:buChar char="•"/>
            </a:pPr>
            <a:r>
              <a:rPr lang="en-AU" sz="1200" kern="1200" dirty="0" smtClean="0">
                <a:solidFill>
                  <a:schemeClr val="tx1"/>
                </a:solidFill>
                <a:latin typeface="+mn-lt"/>
                <a:ea typeface="+mn-ea"/>
                <a:cs typeface="+mn-cs"/>
              </a:rPr>
              <a:t>Local laws – which commonly provide for employees to obey all legal instructions/directions given by their employer, or be subject to immediate dismissal</a:t>
            </a:r>
          </a:p>
          <a:p>
            <a:pPr lvl="1">
              <a:buFont typeface="Arial" pitchFamily="34" charset="0"/>
              <a:buChar char="•"/>
            </a:pPr>
            <a:r>
              <a:rPr lang="en-AU" sz="1200" kern="1200" dirty="0" smtClean="0">
                <a:solidFill>
                  <a:schemeClr val="tx1"/>
                </a:solidFill>
                <a:latin typeface="+mn-lt"/>
                <a:ea typeface="+mn-ea"/>
                <a:cs typeface="+mn-cs"/>
              </a:rPr>
              <a:t>Relevant employment instruments/agreements – which have been signed by staff and usually contain a statement indicating the employer has the right to dismiss employees if they fail to perform as required/obey a lawful direction.</a:t>
            </a:r>
          </a:p>
          <a:p>
            <a:pPr lvl="2">
              <a:buFont typeface="Arial" pitchFamily="34" charset="0"/>
              <a:buChar char="•"/>
            </a:pPr>
            <a:r>
              <a:rPr lang="en-AU" sz="1200" kern="1200" dirty="0" smtClean="0">
                <a:solidFill>
                  <a:schemeClr val="tx1"/>
                </a:solidFill>
                <a:latin typeface="+mn-lt"/>
                <a:ea typeface="+mn-ea"/>
                <a:cs typeface="+mn-cs"/>
              </a:rPr>
              <a:t>This option should be seen as </a:t>
            </a:r>
            <a:r>
              <a:rPr lang="en-AU" sz="1200" i="1" kern="1200" dirty="0" smtClean="0">
                <a:solidFill>
                  <a:schemeClr val="tx1"/>
                </a:solidFill>
                <a:latin typeface="+mn-lt"/>
                <a:ea typeface="+mn-ea"/>
                <a:cs typeface="+mn-cs"/>
              </a:rPr>
              <a:t>the</a:t>
            </a:r>
            <a:r>
              <a:rPr lang="en-AU" sz="1200" kern="1200" dirty="0" smtClean="0">
                <a:solidFill>
                  <a:schemeClr val="tx1"/>
                </a:solidFill>
                <a:latin typeface="+mn-lt"/>
                <a:ea typeface="+mn-ea"/>
                <a:cs typeface="+mn-cs"/>
              </a:rPr>
              <a:t> ‘last resort’ response to be used only where other efforts to resolve the issue have failed. It must be remembered this approach will:</a:t>
            </a:r>
          </a:p>
          <a:p>
            <a:pPr lvl="3">
              <a:buFont typeface="Arial" pitchFamily="34" charset="0"/>
              <a:buChar char="•"/>
            </a:pPr>
            <a:r>
              <a:rPr lang="en-AU" sz="1200" kern="1200" dirty="0" smtClean="0">
                <a:solidFill>
                  <a:schemeClr val="tx1"/>
                </a:solidFill>
                <a:latin typeface="+mn-lt"/>
                <a:ea typeface="+mn-ea"/>
                <a:cs typeface="+mn-cs"/>
              </a:rPr>
              <a:t>Generate much negative sentiment towards the business</a:t>
            </a:r>
          </a:p>
          <a:p>
            <a:pPr lvl="3">
              <a:buFont typeface="Arial" pitchFamily="34" charset="0"/>
              <a:buChar char="•"/>
            </a:pPr>
            <a:r>
              <a:rPr lang="en-AU" sz="1200" kern="1200" dirty="0" smtClean="0">
                <a:solidFill>
                  <a:schemeClr val="tx1"/>
                </a:solidFill>
                <a:latin typeface="+mn-lt"/>
                <a:ea typeface="+mn-ea"/>
                <a:cs typeface="+mn-cs"/>
              </a:rPr>
              <a:t>Involve the organisation in extra expense – associated with staff recruitment, selection and training as well as time/cost/reduced productivity and service levels involved in getting new staff ‘up to speed’.</a:t>
            </a:r>
          </a:p>
          <a:p>
            <a:pPr lvl="1">
              <a:buFont typeface="Arial" pitchFamily="34" charset="0"/>
              <a:buChar cha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5971667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provides context stating it is important to realise:</a:t>
            </a:r>
          </a:p>
          <a:p>
            <a:pPr>
              <a:buFont typeface="Arial" pitchFamily="34" charset="0"/>
              <a:buChar char="•"/>
            </a:pPr>
            <a:r>
              <a:rPr lang="en-AU" sz="1200" kern="1200" dirty="0" smtClean="0">
                <a:solidFill>
                  <a:schemeClr val="tx1"/>
                </a:solidFill>
                <a:latin typeface="+mn-lt"/>
                <a:ea typeface="+mn-ea"/>
                <a:cs typeface="+mn-cs"/>
              </a:rPr>
              <a:t>Factors from outside the organisation refer to causes which are external to the business – as distinct from those which are caused by factors within the business.</a:t>
            </a:r>
          </a:p>
          <a:p>
            <a:pPr lvl="1">
              <a:buFont typeface="Arial" pitchFamily="34" charset="0"/>
              <a:buChar char="•"/>
            </a:pPr>
            <a:r>
              <a:rPr lang="en-AU" sz="1200" kern="1200" dirty="0" smtClean="0">
                <a:solidFill>
                  <a:schemeClr val="tx1"/>
                </a:solidFill>
                <a:latin typeface="+mn-lt"/>
                <a:ea typeface="+mn-ea"/>
                <a:cs typeface="+mn-cs"/>
              </a:rPr>
              <a:t>They are factors which occur/exist in the wider marketplace of staff employment, and in terms of national and international labour relations.</a:t>
            </a:r>
          </a:p>
          <a:p>
            <a:pPr>
              <a:buFont typeface="Arial" pitchFamily="34" charset="0"/>
              <a:buChar char="•"/>
            </a:pPr>
            <a:r>
              <a:rPr lang="en-AU" sz="1200" kern="1200" dirty="0" smtClean="0">
                <a:solidFill>
                  <a:schemeClr val="tx1"/>
                </a:solidFill>
                <a:latin typeface="+mn-lt"/>
                <a:ea typeface="+mn-ea"/>
                <a:cs typeface="+mn-cs"/>
              </a:rPr>
              <a:t>External factors may be those which exist </a:t>
            </a:r>
            <a:r>
              <a:rPr lang="en-AU" sz="1200" i="1" kern="1200" dirty="0" smtClean="0">
                <a:solidFill>
                  <a:schemeClr val="tx1"/>
                </a:solidFill>
                <a:latin typeface="+mn-lt"/>
                <a:ea typeface="+mn-ea"/>
                <a:cs typeface="+mn-cs"/>
              </a:rPr>
              <a:t>at a range of locations</a:t>
            </a:r>
            <a:r>
              <a:rPr lang="en-AU" sz="1200" kern="1200" dirty="0" smtClean="0">
                <a:solidFill>
                  <a:schemeClr val="tx1"/>
                </a:solidFill>
                <a:latin typeface="+mn-lt"/>
                <a:ea typeface="+mn-ea"/>
                <a:cs typeface="+mn-cs"/>
              </a:rPr>
              <a:t> outside the organisation – such as:</a:t>
            </a:r>
          </a:p>
          <a:p>
            <a:pPr lvl="1">
              <a:buFont typeface="Arial" pitchFamily="34" charset="0"/>
              <a:buChar char="•"/>
            </a:pPr>
            <a:r>
              <a:rPr lang="en-AU" sz="1200" kern="1200" dirty="0" smtClean="0">
                <a:solidFill>
                  <a:schemeClr val="tx1"/>
                </a:solidFill>
                <a:latin typeface="+mn-lt"/>
                <a:ea typeface="+mn-ea"/>
                <a:cs typeface="+mn-cs"/>
              </a:rPr>
              <a:t>The business next door or over-the-road</a:t>
            </a:r>
          </a:p>
          <a:p>
            <a:pPr lvl="1">
              <a:buFont typeface="Arial" pitchFamily="34" charset="0"/>
              <a:buChar char="•"/>
            </a:pPr>
            <a:r>
              <a:rPr lang="en-AU" sz="1200" kern="1200" dirty="0" smtClean="0">
                <a:solidFill>
                  <a:schemeClr val="tx1"/>
                </a:solidFill>
                <a:latin typeface="+mn-lt"/>
                <a:ea typeface="+mn-ea"/>
                <a:cs typeface="+mn-cs"/>
              </a:rPr>
              <a:t>An enterprise on the other side of town</a:t>
            </a:r>
          </a:p>
          <a:p>
            <a:pPr lvl="1">
              <a:buFont typeface="Arial" pitchFamily="34" charset="0"/>
              <a:buChar char="•"/>
            </a:pPr>
            <a:r>
              <a:rPr lang="en-AU" sz="1200" kern="1200" dirty="0" smtClean="0">
                <a:solidFill>
                  <a:schemeClr val="tx1"/>
                </a:solidFill>
                <a:latin typeface="+mn-lt"/>
                <a:ea typeface="+mn-ea"/>
                <a:cs typeface="+mn-cs"/>
              </a:rPr>
              <a:t>An organisation in the capital city</a:t>
            </a:r>
          </a:p>
          <a:p>
            <a:pPr lvl="1">
              <a:buFont typeface="Arial" pitchFamily="34" charset="0"/>
              <a:buChar char="•"/>
            </a:pPr>
            <a:r>
              <a:rPr lang="en-AU" sz="1200" kern="1200" dirty="0" smtClean="0">
                <a:solidFill>
                  <a:schemeClr val="tx1"/>
                </a:solidFill>
                <a:latin typeface="+mn-lt"/>
                <a:ea typeface="+mn-ea"/>
                <a:cs typeface="+mn-cs"/>
              </a:rPr>
              <a:t>The same type of business operated by a different parent company</a:t>
            </a:r>
          </a:p>
          <a:p>
            <a:pPr lvl="1">
              <a:buFont typeface="Arial" pitchFamily="34" charset="0"/>
              <a:buChar char="•"/>
            </a:pPr>
            <a:r>
              <a:rPr lang="en-AU" sz="1200" kern="1200" dirty="0" smtClean="0">
                <a:solidFill>
                  <a:schemeClr val="tx1"/>
                </a:solidFill>
                <a:latin typeface="+mn-lt"/>
                <a:ea typeface="+mn-ea"/>
                <a:cs typeface="+mn-cs"/>
              </a:rPr>
              <a:t>An agency in a neighbouring country</a:t>
            </a:r>
          </a:p>
          <a:p>
            <a:pPr lvl="1">
              <a:buFont typeface="Arial" pitchFamily="34" charset="0"/>
              <a:buChar char="•"/>
            </a:pPr>
            <a:r>
              <a:rPr lang="en-AU" sz="1200" kern="1200" dirty="0" smtClean="0">
                <a:solidFill>
                  <a:schemeClr val="tx1"/>
                </a:solidFill>
                <a:latin typeface="+mn-lt"/>
                <a:ea typeface="+mn-ea"/>
                <a:cs typeface="+mn-cs"/>
              </a:rPr>
              <a:t>An operation in an overseas enterprise</a:t>
            </a:r>
          </a:p>
          <a:p>
            <a:pPr>
              <a:buFont typeface="Arial" pitchFamily="34" charset="0"/>
              <a:buChar char="•"/>
            </a:pPr>
            <a:r>
              <a:rPr lang="en-AU" sz="1200" kern="1200" dirty="0" smtClean="0">
                <a:solidFill>
                  <a:schemeClr val="tx1"/>
                </a:solidFill>
                <a:latin typeface="+mn-lt"/>
                <a:ea typeface="+mn-ea"/>
                <a:cs typeface="+mn-cs"/>
              </a:rPr>
              <a:t>An organisation can be impacted in this regard by:</a:t>
            </a:r>
          </a:p>
          <a:p>
            <a:pPr lvl="1">
              <a:buFont typeface="Arial" pitchFamily="34" charset="0"/>
              <a:buChar char="•"/>
            </a:pPr>
            <a:r>
              <a:rPr lang="en-AU" sz="1200" kern="1200" dirty="0" smtClean="0">
                <a:solidFill>
                  <a:schemeClr val="tx1"/>
                </a:solidFill>
                <a:latin typeface="+mn-lt"/>
                <a:ea typeface="+mn-ea"/>
                <a:cs typeface="+mn-cs"/>
              </a:rPr>
              <a:t>Changes in legislated requirements – as countries alter/amend their IR laws</a:t>
            </a:r>
          </a:p>
          <a:p>
            <a:pPr lvl="1">
              <a:buFont typeface="Arial" pitchFamily="34" charset="0"/>
              <a:buChar char="•"/>
            </a:pPr>
            <a:r>
              <a:rPr lang="en-AU" sz="1200" kern="1200" dirty="0" smtClean="0">
                <a:solidFill>
                  <a:schemeClr val="tx1"/>
                </a:solidFill>
                <a:latin typeface="+mn-lt"/>
                <a:ea typeface="+mn-ea"/>
                <a:cs typeface="+mn-cs"/>
              </a:rPr>
              <a:t>New clauses contained in new/revised employment contracts developed by other employers – as they offer more attractive employment packages to recruit and secure required staff</a:t>
            </a:r>
          </a:p>
          <a:p>
            <a:pPr>
              <a:buFont typeface="Arial" pitchFamily="34" charset="0"/>
              <a:buChar char="•"/>
            </a:pPr>
            <a:r>
              <a:rPr lang="en-AU" sz="1200" kern="1200" dirty="0" smtClean="0">
                <a:solidFill>
                  <a:schemeClr val="tx1"/>
                </a:solidFill>
                <a:latin typeface="+mn-lt"/>
                <a:ea typeface="+mn-ea"/>
                <a:cs typeface="+mn-cs"/>
              </a:rPr>
              <a:t>Decisions about increased benefits (in terms of higher wages and/or better working conditions) made at </a:t>
            </a:r>
            <a:r>
              <a:rPr lang="en-AU" sz="1200" i="1" kern="1200" dirty="0" smtClean="0">
                <a:solidFill>
                  <a:schemeClr val="tx1"/>
                </a:solidFill>
                <a:latin typeface="+mn-lt"/>
                <a:ea typeface="+mn-ea"/>
                <a:cs typeface="+mn-cs"/>
              </a:rPr>
              <a:t>other similar businesses</a:t>
            </a:r>
            <a:r>
              <a:rPr lang="en-AU" sz="1200" kern="1200" dirty="0" smtClean="0">
                <a:solidFill>
                  <a:schemeClr val="tx1"/>
                </a:solidFill>
                <a:latin typeface="+mn-lt"/>
                <a:ea typeface="+mn-ea"/>
                <a:cs typeface="+mn-cs"/>
              </a:rPr>
              <a:t> are likely to impact what is going on in all other like organisations – as employees and/or unions seek parity. For example:</a:t>
            </a:r>
          </a:p>
          <a:p>
            <a:pPr lvl="1">
              <a:buFont typeface="Arial" pitchFamily="34" charset="0"/>
              <a:buChar char="•"/>
            </a:pPr>
            <a:r>
              <a:rPr lang="en-AU" sz="1200" kern="1200" dirty="0" smtClean="0">
                <a:solidFill>
                  <a:schemeClr val="tx1"/>
                </a:solidFill>
                <a:latin typeface="+mn-lt"/>
                <a:ea typeface="+mn-ea"/>
                <a:cs typeface="+mn-cs"/>
              </a:rPr>
              <a:t>A wage rise at another business will often form the basis of a claim/demand for more money in this organisation</a:t>
            </a:r>
          </a:p>
          <a:p>
            <a:pPr lvl="1">
              <a:buFont typeface="Arial" pitchFamily="34" charset="0"/>
              <a:buChar char="•"/>
            </a:pPr>
            <a:r>
              <a:rPr lang="en-AU" sz="1200" kern="1200" dirty="0" smtClean="0">
                <a:solidFill>
                  <a:schemeClr val="tx1"/>
                </a:solidFill>
                <a:latin typeface="+mn-lt"/>
                <a:ea typeface="+mn-ea"/>
                <a:cs typeface="+mn-cs"/>
              </a:rPr>
              <a:t>Introduction of better working conditions at another business/agency regularly become the focus of a claim for similar conditions to also be introduced elsewhere in other businesses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39871021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provide context stating it is important to realise:</a:t>
            </a:r>
          </a:p>
          <a:p>
            <a:pPr>
              <a:buFont typeface="Arial" pitchFamily="34" charset="0"/>
              <a:buChar char="•"/>
            </a:pPr>
            <a:r>
              <a:rPr lang="en-AU" sz="1200" kern="1200" dirty="0" smtClean="0">
                <a:solidFill>
                  <a:schemeClr val="tx1"/>
                </a:solidFill>
                <a:latin typeface="+mn-lt"/>
                <a:ea typeface="+mn-ea"/>
                <a:cs typeface="+mn-cs"/>
              </a:rPr>
              <a:t>The general economic state of the country and its neighbours and trading partners will influence and help create the total environment for industrial relations and workplace negotiations – in that:</a:t>
            </a:r>
          </a:p>
          <a:p>
            <a:pPr lvl="1">
              <a:buFont typeface="Arial" pitchFamily="34" charset="0"/>
              <a:buChar char="•"/>
            </a:pPr>
            <a:r>
              <a:rPr lang="en-AU" sz="1200" kern="1200" dirty="0" smtClean="0">
                <a:solidFill>
                  <a:schemeClr val="tx1"/>
                </a:solidFill>
                <a:latin typeface="+mn-lt"/>
                <a:ea typeface="+mn-ea"/>
                <a:cs typeface="+mn-cs"/>
              </a:rPr>
              <a:t>A buoyant domestic economy will tend to create an atmosphere where workers want more</a:t>
            </a:r>
          </a:p>
          <a:p>
            <a:pPr lvl="1">
              <a:buFont typeface="Arial" pitchFamily="34" charset="0"/>
              <a:buChar char="•"/>
            </a:pPr>
            <a:r>
              <a:rPr lang="en-AU" sz="1200" kern="1200" dirty="0" smtClean="0">
                <a:solidFill>
                  <a:schemeClr val="tx1"/>
                </a:solidFill>
                <a:latin typeface="+mn-lt"/>
                <a:ea typeface="+mn-ea"/>
                <a:cs typeface="+mn-cs"/>
              </a:rPr>
              <a:t>Poor economic conditions in feeder countries and/or the domestic economy tend to put claims for increased pay or better working conditions on hold</a:t>
            </a:r>
          </a:p>
          <a:p>
            <a:pPr lvl="1">
              <a:buFont typeface="Arial" pitchFamily="34" charset="0"/>
              <a:buChar char="•"/>
            </a:pPr>
            <a:r>
              <a:rPr lang="en-AU" sz="1200" kern="1200" dirty="0" smtClean="0">
                <a:solidFill>
                  <a:schemeClr val="tx1"/>
                </a:solidFill>
                <a:latin typeface="+mn-lt"/>
                <a:ea typeface="+mn-ea"/>
                <a:cs typeface="+mn-cs"/>
              </a:rPr>
              <a:t>Steep inflation levels will fuel pushes for higher wages so staff can keep pace with cost-of-living increases</a:t>
            </a:r>
          </a:p>
          <a:p>
            <a:pPr lvl="1">
              <a:buFont typeface="Arial" pitchFamily="34" charset="0"/>
              <a:buChar char="•"/>
            </a:pPr>
            <a:r>
              <a:rPr lang="en-AU" sz="1200" kern="1200" dirty="0" smtClean="0">
                <a:solidFill>
                  <a:schemeClr val="tx1"/>
                </a:solidFill>
                <a:latin typeface="+mn-lt"/>
                <a:ea typeface="+mn-ea"/>
                <a:cs typeface="+mn-cs"/>
              </a:rPr>
              <a:t>Employees appreciate stringent economic conditions will impact the ability of the organisation to pay for ‘other’ things such as labour-related demands</a:t>
            </a:r>
          </a:p>
          <a:p>
            <a:pPr>
              <a:buFont typeface="Arial" pitchFamily="34" charset="0"/>
              <a:buChar char="•"/>
            </a:pPr>
            <a:r>
              <a:rPr lang="en-AU" sz="1200" kern="1200" dirty="0" smtClean="0">
                <a:solidFill>
                  <a:schemeClr val="tx1"/>
                </a:solidFill>
                <a:latin typeface="+mn-lt"/>
                <a:ea typeface="+mn-ea"/>
                <a:cs typeface="+mn-cs"/>
              </a:rPr>
              <a:t>Findings of research into events/occurrences at other workplaces may give rise to a range of demands for those findings to also be applied at other similar workplaces in order to (for example):</a:t>
            </a:r>
          </a:p>
          <a:p>
            <a:pPr lvl="1">
              <a:buFont typeface="Arial" pitchFamily="34" charset="0"/>
              <a:buChar char="•"/>
            </a:pPr>
            <a:r>
              <a:rPr lang="en-AU" sz="1200" kern="1200" dirty="0" smtClean="0">
                <a:solidFill>
                  <a:schemeClr val="tx1"/>
                </a:solidFill>
                <a:latin typeface="+mn-lt"/>
                <a:ea typeface="+mn-ea"/>
                <a:cs typeface="+mn-cs"/>
              </a:rPr>
              <a:t>Enhance safety</a:t>
            </a:r>
          </a:p>
          <a:p>
            <a:pPr lvl="1">
              <a:buFont typeface="Arial" pitchFamily="34" charset="0"/>
              <a:buChar char="•"/>
            </a:pPr>
            <a:r>
              <a:rPr lang="en-AU" sz="1200" kern="1200" dirty="0" smtClean="0">
                <a:solidFill>
                  <a:schemeClr val="tx1"/>
                </a:solidFill>
                <a:latin typeface="+mn-lt"/>
                <a:ea typeface="+mn-ea"/>
                <a:cs typeface="+mn-cs"/>
              </a:rPr>
              <a:t>Maintain parity</a:t>
            </a:r>
          </a:p>
          <a:p>
            <a:pPr lvl="1">
              <a:buFont typeface="Arial" pitchFamily="34" charset="0"/>
              <a:buChar char="•"/>
            </a:pPr>
            <a:r>
              <a:rPr lang="en-AU" sz="1200" kern="1200" dirty="0" smtClean="0">
                <a:solidFill>
                  <a:schemeClr val="tx1"/>
                </a:solidFill>
                <a:latin typeface="+mn-lt"/>
                <a:ea typeface="+mn-ea"/>
                <a:cs typeface="+mn-cs"/>
              </a:rPr>
              <a:t>Improve service delivery</a:t>
            </a:r>
          </a:p>
          <a:p>
            <a:pPr>
              <a:buFont typeface="Arial" pitchFamily="34" charset="0"/>
              <a:buChar char="•"/>
            </a:pPr>
            <a:r>
              <a:rPr lang="en-AU" sz="1200" kern="1200" dirty="0" smtClean="0">
                <a:solidFill>
                  <a:schemeClr val="tx1"/>
                </a:solidFill>
                <a:latin typeface="+mn-lt"/>
                <a:ea typeface="+mn-ea"/>
                <a:cs typeface="+mn-cs"/>
              </a:rPr>
              <a:t>Knowledge gained by staff who visit other businesses and other countries and learn about </a:t>
            </a:r>
            <a:r>
              <a:rPr lang="en-AU" sz="1200" i="1" kern="1200" dirty="0" smtClean="0">
                <a:solidFill>
                  <a:schemeClr val="tx1"/>
                </a:solidFill>
                <a:latin typeface="+mn-lt"/>
                <a:ea typeface="+mn-ea"/>
                <a:cs typeface="+mn-cs"/>
              </a:rPr>
              <a:t>their</a:t>
            </a:r>
            <a:r>
              <a:rPr lang="en-AU" sz="1200" kern="1200" dirty="0" smtClean="0">
                <a:solidFill>
                  <a:schemeClr val="tx1"/>
                </a:solidFill>
                <a:latin typeface="+mn-lt"/>
                <a:ea typeface="+mn-ea"/>
                <a:cs typeface="+mn-cs"/>
              </a:rPr>
              <a:t> labour-employment arrangements will sometimes be the catalyst for triggering demands for their employer to match those wages/conditions (or at least, increase or improve existing arrangements)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21733339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provide context stating it is important to realise:</a:t>
            </a:r>
          </a:p>
          <a:p>
            <a:pPr>
              <a:buFont typeface="Arial" pitchFamily="34" charset="0"/>
              <a:buChar char="•"/>
            </a:pPr>
            <a:r>
              <a:rPr lang="en-AU" sz="1200" kern="1200" dirty="0" smtClean="0">
                <a:solidFill>
                  <a:schemeClr val="tx1"/>
                </a:solidFill>
                <a:latin typeface="+mn-lt"/>
                <a:ea typeface="+mn-ea"/>
                <a:cs typeface="+mn-cs"/>
              </a:rPr>
              <a:t>There is a general link between:</a:t>
            </a:r>
          </a:p>
          <a:p>
            <a:pPr lvl="1">
              <a:buFont typeface="Arial" pitchFamily="34" charset="0"/>
              <a:buChar char="•"/>
            </a:pPr>
            <a:r>
              <a:rPr lang="en-AU" sz="1200" kern="1200" dirty="0" smtClean="0">
                <a:solidFill>
                  <a:schemeClr val="tx1"/>
                </a:solidFill>
                <a:latin typeface="+mn-lt"/>
                <a:ea typeface="+mn-ea"/>
                <a:cs typeface="+mn-cs"/>
              </a:rPr>
              <a:t>Relevant and current qualifications held by staff and the wages they are offered and/or they want</a:t>
            </a:r>
          </a:p>
          <a:p>
            <a:pPr lvl="1">
              <a:buFont typeface="Arial" pitchFamily="34" charset="0"/>
              <a:buChar char="•"/>
            </a:pPr>
            <a:r>
              <a:rPr lang="en-AU" sz="1200" kern="1200" dirty="0" smtClean="0">
                <a:solidFill>
                  <a:schemeClr val="tx1"/>
                </a:solidFill>
                <a:latin typeface="+mn-lt"/>
                <a:ea typeface="+mn-ea"/>
                <a:cs typeface="+mn-cs"/>
              </a:rPr>
              <a:t>The type and amount of experience a person has and the remuneration they are offered and/or they want</a:t>
            </a:r>
          </a:p>
          <a:p>
            <a:pPr lvl="1">
              <a:buFont typeface="Arial" pitchFamily="34" charset="0"/>
              <a:buChar char="•"/>
            </a:pPr>
            <a:r>
              <a:rPr lang="en-AU" sz="1200" kern="1200" dirty="0" smtClean="0">
                <a:solidFill>
                  <a:schemeClr val="tx1"/>
                </a:solidFill>
                <a:latin typeface="+mn-lt"/>
                <a:ea typeface="+mn-ea"/>
                <a:cs typeface="+mn-cs"/>
              </a:rPr>
              <a:t>Supply and demand – for example:</a:t>
            </a:r>
          </a:p>
          <a:p>
            <a:pPr lvl="2">
              <a:buFont typeface="Arial" pitchFamily="34" charset="0"/>
              <a:buChar char="•"/>
            </a:pPr>
            <a:r>
              <a:rPr lang="en-AU" sz="1200" kern="1200" dirty="0" smtClean="0">
                <a:solidFill>
                  <a:schemeClr val="tx1"/>
                </a:solidFill>
                <a:latin typeface="+mn-lt"/>
                <a:ea typeface="+mn-ea"/>
                <a:cs typeface="+mn-cs"/>
              </a:rPr>
              <a:t>A lack of suitably qualified and experienced staff will invariably mean they can demand higher wages and/or the organisation is prepared to offer/pay higher wages</a:t>
            </a:r>
          </a:p>
          <a:p>
            <a:pPr lvl="2">
              <a:buFont typeface="Arial" pitchFamily="34" charset="0"/>
              <a:buChar char="•"/>
            </a:pPr>
            <a:r>
              <a:rPr lang="en-AU" sz="1200" kern="1200" dirty="0" smtClean="0">
                <a:solidFill>
                  <a:schemeClr val="tx1"/>
                </a:solidFill>
                <a:latin typeface="+mn-lt"/>
                <a:ea typeface="+mn-ea"/>
                <a:cs typeface="+mn-cs"/>
              </a:rPr>
              <a:t>An over-supply of staff will have create a downward pressure on wages</a:t>
            </a:r>
          </a:p>
          <a:p>
            <a:pPr lvl="1">
              <a:buFont typeface="Arial" pitchFamily="34" charset="0"/>
              <a:buChar char="•"/>
            </a:pPr>
            <a:r>
              <a:rPr lang="en-AU" sz="1200" kern="1200" dirty="0" smtClean="0">
                <a:solidFill>
                  <a:schemeClr val="tx1"/>
                </a:solidFill>
                <a:latin typeface="+mn-lt"/>
                <a:ea typeface="+mn-ea"/>
                <a:cs typeface="+mn-cs"/>
              </a:rPr>
              <a:t>Wages and conditions which apply in other businesses and industries and the wages and conditions offered by the organisation – so there is no significant disparity between remuneration ‘across the board’</a:t>
            </a:r>
          </a:p>
          <a:p>
            <a:pPr>
              <a:buFont typeface="Arial" pitchFamily="34" charset="0"/>
              <a:buChar char="•"/>
            </a:pPr>
            <a:r>
              <a:rPr lang="en-AU" sz="1200" kern="1200" dirty="0" smtClean="0">
                <a:solidFill>
                  <a:schemeClr val="tx1"/>
                </a:solidFill>
                <a:latin typeface="+mn-lt"/>
                <a:ea typeface="+mn-ea"/>
                <a:cs typeface="+mn-cs"/>
              </a:rPr>
              <a:t>Payment of higher wages will not (generally) of themself enable an employer to provide poor/low standard or unsafe working conditions – legislation always prescribes minimum working conditions which must be observed</a:t>
            </a:r>
          </a:p>
          <a:p>
            <a:pPr>
              <a:buFont typeface="Arial" pitchFamily="34" charset="0"/>
              <a:buChar char="•"/>
            </a:pPr>
            <a:r>
              <a:rPr lang="en-AU" sz="1200" kern="1200" dirty="0" smtClean="0">
                <a:solidFill>
                  <a:schemeClr val="tx1"/>
                </a:solidFill>
                <a:latin typeface="+mn-lt"/>
                <a:ea typeface="+mn-ea"/>
                <a:cs typeface="+mn-cs"/>
              </a:rPr>
              <a:t>Provision of high levels of working conditions will not allow the employers to offer/pay lower wages to staff– legislation always prescribes minimum wages/pay rates which must be provided.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8874122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strategies for identifying external factors causing industrial unrest:</a:t>
            </a:r>
          </a:p>
          <a:p>
            <a:pPr>
              <a:buFont typeface="Arial" pitchFamily="34" charset="0"/>
              <a:buChar char="•"/>
            </a:pPr>
            <a:r>
              <a:rPr lang="en-AU" sz="1200" kern="1200" dirty="0" smtClean="0">
                <a:solidFill>
                  <a:schemeClr val="tx1"/>
                </a:solidFill>
                <a:latin typeface="+mn-lt"/>
                <a:ea typeface="+mn-ea"/>
                <a:cs typeface="+mn-cs"/>
              </a:rPr>
              <a:t>Read and/or listen to and watch the local media – in order to:</a:t>
            </a:r>
          </a:p>
          <a:p>
            <a:pPr lvl="1">
              <a:buFont typeface="Arial" pitchFamily="34" charset="0"/>
              <a:buChar char="•"/>
            </a:pPr>
            <a:r>
              <a:rPr lang="en-AU" sz="1200" kern="1200" dirty="0" smtClean="0">
                <a:solidFill>
                  <a:schemeClr val="tx1"/>
                </a:solidFill>
                <a:latin typeface="+mn-lt"/>
                <a:ea typeface="+mn-ea"/>
                <a:cs typeface="+mn-cs"/>
              </a:rPr>
              <a:t>Gain insight to local conditions </a:t>
            </a:r>
          </a:p>
          <a:p>
            <a:pPr lvl="1">
              <a:buFont typeface="Arial" pitchFamily="34" charset="0"/>
              <a:buChar char="•"/>
            </a:pPr>
            <a:r>
              <a:rPr lang="en-AU" sz="1200" kern="1200" dirty="0" smtClean="0">
                <a:solidFill>
                  <a:schemeClr val="tx1"/>
                </a:solidFill>
                <a:latin typeface="+mn-lt"/>
                <a:ea typeface="+mn-ea"/>
                <a:cs typeface="+mn-cs"/>
              </a:rPr>
              <a:t>Learn about events and what is occurring locally</a:t>
            </a:r>
          </a:p>
          <a:p>
            <a:pPr lvl="1">
              <a:buFont typeface="Arial" pitchFamily="34" charset="0"/>
              <a:buChar char="•"/>
            </a:pPr>
            <a:r>
              <a:rPr lang="en-AU" sz="1200" kern="1200" dirty="0" smtClean="0">
                <a:solidFill>
                  <a:schemeClr val="tx1"/>
                </a:solidFill>
                <a:latin typeface="+mn-lt"/>
                <a:ea typeface="+mn-ea"/>
                <a:cs typeface="+mn-cs"/>
              </a:rPr>
              <a:t>Gather general information about the immediate external marketplace</a:t>
            </a:r>
          </a:p>
          <a:p>
            <a:pPr lvl="1">
              <a:buFont typeface="Arial" pitchFamily="34" charset="0"/>
              <a:buChar char="•"/>
            </a:pPr>
            <a:r>
              <a:rPr lang="en-AU" sz="1200" kern="1200" dirty="0" smtClean="0">
                <a:solidFill>
                  <a:schemeClr val="tx1"/>
                </a:solidFill>
                <a:latin typeface="+mn-lt"/>
                <a:ea typeface="+mn-ea"/>
                <a:cs typeface="+mn-cs"/>
              </a:rPr>
              <a:t>Learn from public statements/media releases made by unions and government agencies </a:t>
            </a:r>
          </a:p>
          <a:p>
            <a:pPr>
              <a:buFont typeface="Arial" pitchFamily="34" charset="0"/>
              <a:buChar char="•"/>
            </a:pPr>
            <a:r>
              <a:rPr lang="en-AU" sz="1200" kern="1200" dirty="0" smtClean="0">
                <a:solidFill>
                  <a:schemeClr val="tx1"/>
                </a:solidFill>
                <a:latin typeface="+mn-lt"/>
                <a:ea typeface="+mn-ea"/>
                <a:cs typeface="+mn-cs"/>
              </a:rPr>
              <a:t>Join and participate in meetings/activities conducted by local bodies – such as:</a:t>
            </a:r>
          </a:p>
          <a:p>
            <a:pPr lvl="1">
              <a:buFont typeface="Arial" pitchFamily="34" charset="0"/>
              <a:buChar char="•"/>
            </a:pPr>
            <a:r>
              <a:rPr lang="en-AU" sz="1200" kern="1200" dirty="0" smtClean="0">
                <a:solidFill>
                  <a:schemeClr val="tx1"/>
                </a:solidFill>
                <a:latin typeface="+mn-lt"/>
                <a:ea typeface="+mn-ea"/>
                <a:cs typeface="+mn-cs"/>
              </a:rPr>
              <a:t>Relevant industry associations and industry peak bodies</a:t>
            </a:r>
          </a:p>
          <a:p>
            <a:pPr lvl="1">
              <a:buFont typeface="Arial" pitchFamily="34" charset="0"/>
              <a:buChar char="•"/>
            </a:pPr>
            <a:r>
              <a:rPr lang="en-AU" sz="1200" kern="1200" dirty="0" smtClean="0">
                <a:solidFill>
                  <a:schemeClr val="tx1"/>
                </a:solidFill>
                <a:latin typeface="+mn-lt"/>
                <a:ea typeface="+mn-ea"/>
                <a:cs typeface="+mn-cs"/>
              </a:rPr>
              <a:t>Councils </a:t>
            </a:r>
          </a:p>
          <a:p>
            <a:pPr lvl="1">
              <a:buFont typeface="Arial" pitchFamily="34" charset="0"/>
              <a:buChar char="•"/>
            </a:pPr>
            <a:r>
              <a:rPr lang="en-AU" sz="1200" kern="1200" dirty="0" smtClean="0">
                <a:solidFill>
                  <a:schemeClr val="tx1"/>
                </a:solidFill>
                <a:latin typeface="+mn-lt"/>
                <a:ea typeface="+mn-ea"/>
                <a:cs typeface="+mn-cs"/>
              </a:rPr>
              <a:t>Government agencies</a:t>
            </a:r>
          </a:p>
          <a:p>
            <a:pPr>
              <a:buFont typeface="Arial" pitchFamily="34" charset="0"/>
              <a:buChar char="•"/>
            </a:pPr>
            <a:r>
              <a:rPr lang="en-AU" sz="1200" kern="1200" dirty="0" smtClean="0">
                <a:solidFill>
                  <a:schemeClr val="tx1"/>
                </a:solidFill>
                <a:latin typeface="+mn-lt"/>
                <a:ea typeface="+mn-ea"/>
                <a:cs typeface="+mn-cs"/>
              </a:rPr>
              <a:t>Attend industry conferences and seminars – which often have topics, sessions and keynote speakers on industrial relations and employment-related matters</a:t>
            </a:r>
          </a:p>
          <a:p>
            <a:pPr>
              <a:buFont typeface="Arial" pitchFamily="34" charset="0"/>
              <a:buChar char="•"/>
            </a:pPr>
            <a:r>
              <a:rPr lang="en-AU" sz="1200" kern="1200" dirty="0" smtClean="0">
                <a:solidFill>
                  <a:schemeClr val="tx1"/>
                </a:solidFill>
                <a:latin typeface="+mn-lt"/>
                <a:ea typeface="+mn-ea"/>
                <a:cs typeface="+mn-cs"/>
              </a:rPr>
              <a:t>Obtain and read reports on IR and employment-related data – as researched and published by:</a:t>
            </a:r>
          </a:p>
          <a:p>
            <a:pPr lvl="1">
              <a:buFont typeface="Arial" pitchFamily="34" charset="0"/>
              <a:buChar char="•"/>
            </a:pPr>
            <a:r>
              <a:rPr lang="en-AU" sz="1200" kern="1200" dirty="0" smtClean="0">
                <a:solidFill>
                  <a:schemeClr val="tx1"/>
                </a:solidFill>
                <a:latin typeface="+mn-lt"/>
                <a:ea typeface="+mn-ea"/>
                <a:cs typeface="+mn-cs"/>
              </a:rPr>
              <a:t>Government agencies and authorities</a:t>
            </a:r>
          </a:p>
          <a:p>
            <a:pPr lvl="1">
              <a:buFont typeface="Arial" pitchFamily="34" charset="0"/>
              <a:buChar char="•"/>
            </a:pPr>
            <a:r>
              <a:rPr lang="en-AU" sz="1200" kern="1200" dirty="0" smtClean="0">
                <a:solidFill>
                  <a:schemeClr val="tx1"/>
                </a:solidFill>
                <a:latin typeface="+mn-lt"/>
                <a:ea typeface="+mn-ea"/>
                <a:cs typeface="+mn-cs"/>
              </a:rPr>
              <a:t>Industry bodies</a:t>
            </a:r>
          </a:p>
          <a:p>
            <a:pPr lvl="1">
              <a:buFont typeface="Arial" pitchFamily="34" charset="0"/>
              <a:buChar char="•"/>
            </a:pPr>
            <a:r>
              <a:rPr lang="en-AU" sz="1200" kern="1200" dirty="0" smtClean="0">
                <a:solidFill>
                  <a:schemeClr val="tx1"/>
                </a:solidFill>
                <a:latin typeface="+mn-lt"/>
                <a:ea typeface="+mn-ea"/>
                <a:cs typeface="+mn-cs"/>
              </a:rPr>
              <a:t>Recruitment and staffing agencies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357873820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strategies for identifying external factors causing industrial unrest:</a:t>
            </a:r>
          </a:p>
          <a:p>
            <a:pPr>
              <a:buFont typeface="Arial" pitchFamily="34" charset="0"/>
              <a:buChar char="•"/>
            </a:pPr>
            <a:r>
              <a:rPr lang="en-AU" sz="1200" kern="1200" dirty="0" smtClean="0">
                <a:solidFill>
                  <a:schemeClr val="tx1"/>
                </a:solidFill>
                <a:latin typeface="+mn-lt"/>
                <a:ea typeface="+mn-ea"/>
                <a:cs typeface="+mn-cs"/>
              </a:rPr>
              <a:t>Network with other people – using a targeted group of contacts who have been identified and selected based on their potential and ability to:</a:t>
            </a:r>
          </a:p>
          <a:p>
            <a:pPr lvl="1">
              <a:buFont typeface="Arial" pitchFamily="34" charset="0"/>
              <a:buChar char="•"/>
            </a:pPr>
            <a:r>
              <a:rPr lang="en-AU" sz="1200" kern="1200" dirty="0" smtClean="0">
                <a:solidFill>
                  <a:schemeClr val="tx1"/>
                </a:solidFill>
                <a:latin typeface="+mn-lt"/>
                <a:ea typeface="+mn-ea"/>
                <a:cs typeface="+mn-cs"/>
              </a:rPr>
              <a:t>Provide advice based on previous industry experience</a:t>
            </a:r>
          </a:p>
          <a:p>
            <a:pPr lvl="1">
              <a:buFont typeface="Arial" pitchFamily="34" charset="0"/>
              <a:buChar char="•"/>
            </a:pPr>
            <a:r>
              <a:rPr lang="en-AU" sz="1200" kern="1200" dirty="0" smtClean="0">
                <a:solidFill>
                  <a:schemeClr val="tx1"/>
                </a:solidFill>
                <a:latin typeface="+mn-lt"/>
                <a:ea typeface="+mn-ea"/>
                <a:cs typeface="+mn-cs"/>
              </a:rPr>
              <a:t>Give information formed through ongoing involvement with IR and employment-related matters</a:t>
            </a:r>
          </a:p>
          <a:p>
            <a:pPr lvl="1">
              <a:buFont typeface="Arial" pitchFamily="34" charset="0"/>
              <a:buChar char="•"/>
            </a:pPr>
            <a:r>
              <a:rPr lang="en-AU" sz="1200" kern="1200" dirty="0" smtClean="0">
                <a:solidFill>
                  <a:schemeClr val="tx1"/>
                </a:solidFill>
                <a:latin typeface="+mn-lt"/>
                <a:ea typeface="+mn-ea"/>
                <a:cs typeface="+mn-cs"/>
              </a:rPr>
              <a:t>Advise on the best people to speak to regarding identified topics</a:t>
            </a:r>
          </a:p>
          <a:p>
            <a:pPr>
              <a:buFont typeface="Arial" pitchFamily="34" charset="0"/>
              <a:buChar char="•"/>
            </a:pPr>
            <a:r>
              <a:rPr lang="en-AU" sz="1200" kern="1200" dirty="0" smtClean="0">
                <a:solidFill>
                  <a:schemeClr val="tx1"/>
                </a:solidFill>
                <a:latin typeface="+mn-lt"/>
                <a:ea typeface="+mn-ea"/>
                <a:cs typeface="+mn-cs"/>
              </a:rPr>
              <a:t>Enter into a mentoring arrangement with a notable and experienced business owner/manager who has worked in a relevant sector or business – in order to:</a:t>
            </a:r>
          </a:p>
          <a:p>
            <a:pPr lvl="1">
              <a:buFont typeface="Arial" pitchFamily="34" charset="0"/>
              <a:buChar char="•"/>
            </a:pPr>
            <a:r>
              <a:rPr lang="en-AU" sz="1200" kern="1200" dirty="0" smtClean="0">
                <a:solidFill>
                  <a:schemeClr val="tx1"/>
                </a:solidFill>
                <a:latin typeface="+mn-lt"/>
                <a:ea typeface="+mn-ea"/>
                <a:cs typeface="+mn-cs"/>
              </a:rPr>
              <a:t>Learn from them and benefit from their experience</a:t>
            </a:r>
          </a:p>
          <a:p>
            <a:pPr lvl="1">
              <a:buFont typeface="Arial" pitchFamily="34" charset="0"/>
              <a:buChar char="•"/>
            </a:pPr>
            <a:r>
              <a:rPr lang="en-AU" sz="1200" kern="1200" dirty="0" smtClean="0">
                <a:solidFill>
                  <a:schemeClr val="tx1"/>
                </a:solidFill>
                <a:latin typeface="+mn-lt"/>
                <a:ea typeface="+mn-ea"/>
                <a:cs typeface="+mn-cs"/>
              </a:rPr>
              <a:t>Use them as a sounding board for ideas, fears, concerns, proposed initiatives and intended courses of action</a:t>
            </a:r>
          </a:p>
          <a:p>
            <a:pPr>
              <a:buFont typeface="Arial" pitchFamily="34" charset="0"/>
              <a:buChar char="•"/>
            </a:pPr>
            <a:r>
              <a:rPr lang="en-AU" sz="1200" kern="1200" dirty="0" smtClean="0">
                <a:solidFill>
                  <a:schemeClr val="tx1"/>
                </a:solidFill>
                <a:latin typeface="+mn-lt"/>
                <a:ea typeface="+mn-ea"/>
                <a:cs typeface="+mn-cs"/>
              </a:rPr>
              <a:t>Identify, ‘bookmark’ and visit and read selected websites – such as (for example):</a:t>
            </a:r>
          </a:p>
          <a:p>
            <a:pPr lvl="1">
              <a:buFont typeface="Arial" pitchFamily="34" charset="0"/>
              <a:buChar char="•"/>
            </a:pPr>
            <a:r>
              <a:rPr lang="en-AU" sz="1200" kern="1200" dirty="0" smtClean="0">
                <a:solidFill>
                  <a:schemeClr val="tx1"/>
                </a:solidFill>
                <a:latin typeface="+mn-lt"/>
                <a:ea typeface="+mn-ea"/>
                <a:cs typeface="+mn-cs"/>
              </a:rPr>
              <a:t>Government agencies</a:t>
            </a:r>
          </a:p>
          <a:p>
            <a:pPr lvl="1">
              <a:buFont typeface="Arial" pitchFamily="34" charset="0"/>
              <a:buChar char="•"/>
            </a:pPr>
            <a:r>
              <a:rPr lang="en-AU" sz="1200" kern="1200" dirty="0" smtClean="0">
                <a:solidFill>
                  <a:schemeClr val="tx1"/>
                </a:solidFill>
                <a:latin typeface="+mn-lt"/>
                <a:ea typeface="+mn-ea"/>
                <a:cs typeface="+mn-cs"/>
              </a:rPr>
              <a:t>Tourism bodies</a:t>
            </a:r>
          </a:p>
          <a:p>
            <a:pPr lvl="1">
              <a:buFont typeface="Arial" pitchFamily="34" charset="0"/>
              <a:buChar char="•"/>
            </a:pPr>
            <a:r>
              <a:rPr lang="en-AU" sz="1200" kern="1200" dirty="0" smtClean="0">
                <a:solidFill>
                  <a:schemeClr val="tx1"/>
                </a:solidFill>
                <a:latin typeface="+mn-lt"/>
                <a:ea typeface="+mn-ea"/>
                <a:cs typeface="+mn-cs"/>
              </a:rPr>
              <a:t>Industry reports and statistics</a:t>
            </a:r>
          </a:p>
          <a:p>
            <a:pPr lvl="1">
              <a:buFont typeface="Arial" pitchFamily="34" charset="0"/>
              <a:buChar char="•"/>
            </a:pPr>
            <a:r>
              <a:rPr lang="en-AU" sz="1200" kern="1200" dirty="0" smtClean="0">
                <a:solidFill>
                  <a:schemeClr val="tx1"/>
                </a:solidFill>
                <a:latin typeface="+mn-lt"/>
                <a:ea typeface="+mn-ea"/>
                <a:cs typeface="+mn-cs"/>
              </a:rPr>
              <a:t>Employer and employee representative bodies</a:t>
            </a:r>
          </a:p>
          <a:p>
            <a:pPr>
              <a:buFont typeface="Arial" pitchFamily="34" charset="0"/>
              <a:buChar cha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365410354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strategies for identifying external factors causing industrial unrest:</a:t>
            </a:r>
          </a:p>
          <a:p>
            <a:pPr>
              <a:buFont typeface="Arial" pitchFamily="34" charset="0"/>
              <a:buChar char="•"/>
            </a:pPr>
            <a:r>
              <a:rPr lang="en-AU" sz="1200" kern="1200" dirty="0" smtClean="0">
                <a:solidFill>
                  <a:schemeClr val="tx1"/>
                </a:solidFill>
                <a:latin typeface="+mn-lt"/>
                <a:ea typeface="+mn-ea"/>
                <a:cs typeface="+mn-cs"/>
              </a:rPr>
              <a:t>Subscribe to receive hard copy or online information – such as:</a:t>
            </a:r>
          </a:p>
          <a:p>
            <a:pPr lvl="1">
              <a:buFont typeface="Arial" pitchFamily="34" charset="0"/>
              <a:buChar char="•"/>
            </a:pPr>
            <a:r>
              <a:rPr lang="en-AU" sz="1200" kern="1200" dirty="0" smtClean="0">
                <a:solidFill>
                  <a:schemeClr val="tx1"/>
                </a:solidFill>
                <a:latin typeface="+mn-lt"/>
                <a:ea typeface="+mn-ea"/>
                <a:cs typeface="+mn-cs"/>
              </a:rPr>
              <a:t>Newsletters from relevant bodies</a:t>
            </a:r>
          </a:p>
          <a:p>
            <a:pPr lvl="1">
              <a:buFont typeface="Arial" pitchFamily="34" charset="0"/>
              <a:buChar char="•"/>
            </a:pPr>
            <a:r>
              <a:rPr lang="en-AU" sz="1200" kern="1200" dirty="0" smtClean="0">
                <a:solidFill>
                  <a:schemeClr val="tx1"/>
                </a:solidFill>
                <a:latin typeface="+mn-lt"/>
                <a:ea typeface="+mn-ea"/>
                <a:cs typeface="+mn-cs"/>
              </a:rPr>
              <a:t>Alerts from targeted bodies</a:t>
            </a:r>
          </a:p>
          <a:p>
            <a:pPr lvl="1">
              <a:buFont typeface="Arial" pitchFamily="34" charset="0"/>
              <a:buChar char="•"/>
            </a:pPr>
            <a:r>
              <a:rPr lang="en-AU" sz="1200" kern="1200" dirty="0" smtClean="0">
                <a:solidFill>
                  <a:schemeClr val="tx1"/>
                </a:solidFill>
                <a:latin typeface="+mn-lt"/>
                <a:ea typeface="+mn-ea"/>
                <a:cs typeface="+mn-cs"/>
              </a:rPr>
              <a:t>Regular reports from important/influential organisations relevant to the business – some of these are available free-of-charge and some operate on a paid/fee-for-service basis</a:t>
            </a:r>
          </a:p>
          <a:p>
            <a:pPr>
              <a:buFont typeface="Arial" pitchFamily="34" charset="0"/>
              <a:buChar char="•"/>
            </a:pPr>
            <a:r>
              <a:rPr lang="en-AU" sz="1200" kern="1200" dirty="0" smtClean="0">
                <a:solidFill>
                  <a:schemeClr val="tx1"/>
                </a:solidFill>
                <a:latin typeface="+mn-lt"/>
                <a:ea typeface="+mn-ea"/>
                <a:cs typeface="+mn-cs"/>
              </a:rPr>
              <a:t>Talk to relevant people within the business about their thoughts on external issues – these people may include:</a:t>
            </a:r>
          </a:p>
          <a:p>
            <a:pPr lvl="1">
              <a:buFont typeface="Arial" pitchFamily="34" charset="0"/>
              <a:buChar char="•"/>
            </a:pPr>
            <a:r>
              <a:rPr lang="en-AU" sz="1200" kern="1200" dirty="0" smtClean="0">
                <a:solidFill>
                  <a:schemeClr val="tx1"/>
                </a:solidFill>
                <a:latin typeface="+mn-lt"/>
                <a:ea typeface="+mn-ea"/>
                <a:cs typeface="+mn-cs"/>
              </a:rPr>
              <a:t>The owner/manager</a:t>
            </a:r>
          </a:p>
          <a:p>
            <a:pPr lvl="1">
              <a:buFont typeface="Arial" pitchFamily="34" charset="0"/>
              <a:buChar char="•"/>
            </a:pPr>
            <a:r>
              <a:rPr lang="en-AU" sz="1200" kern="1200" dirty="0" smtClean="0">
                <a:solidFill>
                  <a:schemeClr val="tx1"/>
                </a:solidFill>
                <a:latin typeface="+mn-lt"/>
                <a:ea typeface="+mn-ea"/>
                <a:cs typeface="+mn-cs"/>
              </a:rPr>
              <a:t>Other supervisors</a:t>
            </a:r>
          </a:p>
          <a:p>
            <a:pPr lvl="1">
              <a:buFont typeface="Arial" pitchFamily="34" charset="0"/>
              <a:buChar char="•"/>
            </a:pPr>
            <a:r>
              <a:rPr lang="en-AU" sz="1200" kern="1200" dirty="0" smtClean="0">
                <a:solidFill>
                  <a:schemeClr val="tx1"/>
                </a:solidFill>
                <a:latin typeface="+mn-lt"/>
                <a:ea typeface="+mn-ea"/>
                <a:cs typeface="+mn-cs"/>
              </a:rPr>
              <a:t>Staff who are known to have regular contact and dealings with other businesses outside the organisation – for example, businesses such as:</a:t>
            </a:r>
          </a:p>
          <a:p>
            <a:pPr lvl="2">
              <a:buFont typeface="Arial" pitchFamily="34" charset="0"/>
              <a:buChar char="•"/>
            </a:pPr>
            <a:r>
              <a:rPr lang="en-AU" sz="1200" kern="1200" dirty="0" smtClean="0">
                <a:solidFill>
                  <a:schemeClr val="tx1"/>
                </a:solidFill>
                <a:latin typeface="+mn-lt"/>
                <a:ea typeface="+mn-ea"/>
                <a:cs typeface="+mn-cs"/>
              </a:rPr>
              <a:t>Joint venture partners</a:t>
            </a:r>
          </a:p>
          <a:p>
            <a:pPr lvl="2">
              <a:buFont typeface="Arial" pitchFamily="34" charset="0"/>
              <a:buChar char="•"/>
            </a:pPr>
            <a:r>
              <a:rPr lang="en-AU" sz="1200" kern="1200" dirty="0" smtClean="0">
                <a:solidFill>
                  <a:schemeClr val="tx1"/>
                </a:solidFill>
                <a:latin typeface="+mn-lt"/>
                <a:ea typeface="+mn-ea"/>
                <a:cs typeface="+mn-cs"/>
              </a:rPr>
              <a:t>Other agencies and sub-branches</a:t>
            </a:r>
          </a:p>
          <a:p>
            <a:pPr lvl="2">
              <a:buFont typeface="Arial" pitchFamily="34" charset="0"/>
              <a:buChar char="•"/>
            </a:pPr>
            <a:r>
              <a:rPr lang="en-AU" sz="1200" kern="1200" dirty="0" smtClean="0">
                <a:solidFill>
                  <a:schemeClr val="tx1"/>
                </a:solidFill>
                <a:latin typeface="+mn-lt"/>
                <a:ea typeface="+mn-ea"/>
                <a:cs typeface="+mn-cs"/>
              </a:rPr>
              <a:t>Carriers and third party providers</a:t>
            </a:r>
          </a:p>
          <a:p>
            <a:pPr lvl="1">
              <a:buFont typeface="Arial" pitchFamily="34" charset="0"/>
              <a:buChar char="•"/>
            </a:pPr>
            <a:r>
              <a:rPr lang="en-AU" sz="1200" kern="1200" dirty="0" smtClean="0">
                <a:solidFill>
                  <a:schemeClr val="tx1"/>
                </a:solidFill>
                <a:latin typeface="+mn-lt"/>
                <a:ea typeface="+mn-ea"/>
                <a:cs typeface="+mn-cs"/>
              </a:rPr>
              <a:t>Representatives from suppliers who call in on the business – and who also visit other businesses/workplaces – they are excellent sources of information about what is going on elsewhere in the industry.</a:t>
            </a:r>
          </a:p>
          <a:p>
            <a:pPr>
              <a:buFont typeface="Arial" pitchFamily="34" charset="0"/>
              <a:buChar char="•"/>
            </a:pPr>
            <a:r>
              <a:rPr lang="en-AU" sz="1200" kern="1200" dirty="0" smtClean="0">
                <a:solidFill>
                  <a:schemeClr val="tx1"/>
                </a:solidFill>
                <a:latin typeface="+mn-lt"/>
                <a:ea typeface="+mn-ea"/>
                <a:cs typeface="+mn-cs"/>
              </a:rPr>
              <a:t>Review and evaluate all ‘Strategic Analyses’ (also known as SWOT Analyses) conducted on the business – these provide a strategic analysis of:</a:t>
            </a:r>
          </a:p>
          <a:p>
            <a:pPr lvl="1">
              <a:buFont typeface="Arial" pitchFamily="34" charset="0"/>
              <a:buChar char="•"/>
            </a:pPr>
            <a:r>
              <a:rPr lang="en-AU" sz="1200" kern="1200" dirty="0" smtClean="0">
                <a:solidFill>
                  <a:schemeClr val="tx1"/>
                </a:solidFill>
                <a:latin typeface="+mn-lt"/>
                <a:ea typeface="+mn-ea"/>
                <a:cs typeface="+mn-cs"/>
              </a:rPr>
              <a:t>The internal strengths and weaknesses of the business</a:t>
            </a:r>
          </a:p>
          <a:p>
            <a:pPr lvl="1">
              <a:buFont typeface="Arial" pitchFamily="34" charset="0"/>
              <a:buChar char="•"/>
            </a:pPr>
            <a:r>
              <a:rPr lang="en-AU" sz="1200" kern="1200" dirty="0" smtClean="0">
                <a:solidFill>
                  <a:schemeClr val="tx1"/>
                </a:solidFill>
                <a:latin typeface="+mn-lt"/>
                <a:ea typeface="+mn-ea"/>
                <a:cs typeface="+mn-cs"/>
              </a:rPr>
              <a:t>The </a:t>
            </a:r>
            <a:r>
              <a:rPr lang="en-AU" sz="1200" i="1" kern="1200" dirty="0" smtClean="0">
                <a:solidFill>
                  <a:schemeClr val="tx1"/>
                </a:solidFill>
                <a:latin typeface="+mn-lt"/>
                <a:ea typeface="+mn-ea"/>
                <a:cs typeface="+mn-cs"/>
              </a:rPr>
              <a:t>external</a:t>
            </a:r>
            <a:r>
              <a:rPr lang="en-AU" sz="1200" kern="1200" dirty="0" smtClean="0">
                <a:solidFill>
                  <a:schemeClr val="tx1"/>
                </a:solidFill>
                <a:latin typeface="+mn-lt"/>
                <a:ea typeface="+mn-ea"/>
                <a:cs typeface="+mn-cs"/>
              </a:rPr>
              <a:t> opportunities and threats facing the organisation.</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273223875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taking action in response to identified external issues noting there are three basic options available:</a:t>
            </a:r>
          </a:p>
          <a:p>
            <a:pPr>
              <a:buFont typeface="Arial" pitchFamily="34" charset="0"/>
              <a:buChar char="•"/>
            </a:pPr>
            <a:r>
              <a:rPr lang="en-AU" sz="1200" kern="1200" dirty="0" smtClean="0">
                <a:solidFill>
                  <a:schemeClr val="tx1"/>
                </a:solidFill>
                <a:latin typeface="+mn-lt"/>
                <a:ea typeface="+mn-ea"/>
                <a:cs typeface="+mn-cs"/>
              </a:rPr>
              <a:t>Do nothing</a:t>
            </a:r>
          </a:p>
          <a:p>
            <a:pPr>
              <a:buFont typeface="Arial" pitchFamily="34" charset="0"/>
              <a:buChar char="•"/>
            </a:pPr>
            <a:r>
              <a:rPr lang="en-AU" sz="1200" kern="1200" dirty="0" smtClean="0">
                <a:solidFill>
                  <a:schemeClr val="tx1"/>
                </a:solidFill>
                <a:latin typeface="+mn-lt"/>
                <a:ea typeface="+mn-ea"/>
                <a:cs typeface="+mn-cs"/>
              </a:rPr>
              <a:t>Plan and prepare for action</a:t>
            </a:r>
          </a:p>
          <a:p>
            <a:pPr>
              <a:buFont typeface="Arial" pitchFamily="34" charset="0"/>
              <a:buChar char="•"/>
            </a:pPr>
            <a:r>
              <a:rPr lang="en-AU" sz="1200" kern="1200" dirty="0" smtClean="0">
                <a:solidFill>
                  <a:schemeClr val="tx1"/>
                </a:solidFill>
                <a:latin typeface="+mn-lt"/>
                <a:ea typeface="+mn-ea"/>
                <a:cs typeface="+mn-cs"/>
              </a:rPr>
              <a:t>Take immediate action.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38474651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‘Doing nothing’ option:</a:t>
            </a:r>
          </a:p>
          <a:p>
            <a:r>
              <a:rPr lang="en-AU" sz="1200" b="1" kern="1200" dirty="0" smtClean="0">
                <a:solidFill>
                  <a:schemeClr val="tx1"/>
                </a:solidFill>
                <a:latin typeface="+mn-lt"/>
                <a:ea typeface="+mn-ea"/>
                <a:cs typeface="+mn-cs"/>
              </a:rPr>
              <a:t>Doing nothing</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Taking no action in response to an external issue with the potential to cause industrial unrest can be a valid response provided it is a </a:t>
            </a:r>
            <a:r>
              <a:rPr lang="en-AU" sz="1200" i="1" kern="1200" dirty="0" smtClean="0">
                <a:solidFill>
                  <a:schemeClr val="tx1"/>
                </a:solidFill>
                <a:latin typeface="+mn-lt"/>
                <a:ea typeface="+mn-ea"/>
                <a:cs typeface="+mn-cs"/>
              </a:rPr>
              <a:t>considered response</a:t>
            </a:r>
            <a:r>
              <a:rPr lang="en-AU" sz="1200" kern="1200" dirty="0" smtClean="0">
                <a:solidFill>
                  <a:schemeClr val="tx1"/>
                </a:solidFill>
                <a:latin typeface="+mn-lt"/>
                <a:ea typeface="+mn-ea"/>
                <a:cs typeface="+mn-cs"/>
              </a:rPr>
              <a:t> to do nothing.</a:t>
            </a:r>
          </a:p>
          <a:p>
            <a:r>
              <a:rPr lang="en-AU" sz="1200" kern="1200" dirty="0" smtClean="0">
                <a:solidFill>
                  <a:schemeClr val="tx1"/>
                </a:solidFill>
                <a:latin typeface="+mn-lt"/>
                <a:ea typeface="+mn-ea"/>
                <a:cs typeface="+mn-cs"/>
              </a:rPr>
              <a:t>It can be viable action in situations such as where:</a:t>
            </a:r>
          </a:p>
          <a:p>
            <a:pPr lvl="1">
              <a:buFont typeface="Arial" pitchFamily="34" charset="0"/>
              <a:buChar char="•"/>
            </a:pPr>
            <a:r>
              <a:rPr lang="en-AU" sz="1200" kern="1200" dirty="0" smtClean="0">
                <a:solidFill>
                  <a:schemeClr val="tx1"/>
                </a:solidFill>
                <a:latin typeface="+mn-lt"/>
                <a:ea typeface="+mn-ea"/>
                <a:cs typeface="+mn-cs"/>
              </a:rPr>
              <a:t>The matter is considered to be relatively trivial or inconsequential – in terms of ‘likelihood’ (of the matter becoming a genuine issue) and the ‘outcome’ (when this does occur)</a:t>
            </a:r>
          </a:p>
          <a:p>
            <a:pPr lvl="1">
              <a:buFont typeface="Arial" pitchFamily="34" charset="0"/>
              <a:buChar char="•"/>
            </a:pPr>
            <a:r>
              <a:rPr lang="en-AU" sz="1200" kern="1200" dirty="0" smtClean="0">
                <a:solidFill>
                  <a:schemeClr val="tx1"/>
                </a:solidFill>
                <a:latin typeface="+mn-lt"/>
                <a:ea typeface="+mn-ea"/>
                <a:cs typeface="+mn-cs"/>
              </a:rPr>
              <a:t>The cost of addressing the matter far exceeds the benefits which would flow from doing so – that is, it is cheaper to do nothing</a:t>
            </a:r>
          </a:p>
          <a:p>
            <a:pPr lvl="1">
              <a:buFont typeface="Arial" pitchFamily="34" charset="0"/>
              <a:buChar char="•"/>
            </a:pPr>
            <a:r>
              <a:rPr lang="en-AU" sz="1200" kern="1200" dirty="0" smtClean="0">
                <a:solidFill>
                  <a:schemeClr val="tx1"/>
                </a:solidFill>
                <a:latin typeface="+mn-lt"/>
                <a:ea typeface="+mn-ea"/>
                <a:cs typeface="+mn-cs"/>
              </a:rPr>
              <a:t>There is no legal imperative/compulsion to act</a:t>
            </a:r>
          </a:p>
          <a:p>
            <a:pPr lvl="1">
              <a:buFont typeface="Arial" pitchFamily="34" charset="0"/>
              <a:buChar char="•"/>
            </a:pPr>
            <a:r>
              <a:rPr lang="en-AU" sz="1200" kern="1200" dirty="0" smtClean="0">
                <a:solidFill>
                  <a:schemeClr val="tx1"/>
                </a:solidFill>
                <a:latin typeface="+mn-lt"/>
                <a:ea typeface="+mn-ea"/>
                <a:cs typeface="+mn-cs"/>
              </a:rPr>
              <a:t>The current situation/workplace is acceptable and working well as it is</a:t>
            </a:r>
          </a:p>
          <a:p>
            <a:pPr lvl="1">
              <a:buFont typeface="Arial" pitchFamily="34" charset="0"/>
              <a:buChar char="•"/>
            </a:pPr>
            <a:r>
              <a:rPr lang="en-AU" sz="1200" kern="1200" dirty="0" smtClean="0">
                <a:solidFill>
                  <a:schemeClr val="tx1"/>
                </a:solidFill>
                <a:latin typeface="+mn-lt"/>
                <a:ea typeface="+mn-ea"/>
                <a:cs typeface="+mn-cs"/>
              </a:rPr>
              <a:t>The anticipated timing of any </a:t>
            </a:r>
            <a:r>
              <a:rPr lang="en-AU" sz="1200" i="1" kern="1200" dirty="0" smtClean="0">
                <a:solidFill>
                  <a:schemeClr val="tx1"/>
                </a:solidFill>
                <a:latin typeface="+mn-lt"/>
                <a:ea typeface="+mn-ea"/>
                <a:cs typeface="+mn-cs"/>
              </a:rPr>
              <a:t>local impact</a:t>
            </a:r>
            <a:r>
              <a:rPr lang="en-AU" sz="1200" kern="1200" dirty="0" smtClean="0">
                <a:solidFill>
                  <a:schemeClr val="tx1"/>
                </a:solidFill>
                <a:latin typeface="+mn-lt"/>
                <a:ea typeface="+mn-ea"/>
                <a:cs typeface="+mn-cs"/>
              </a:rPr>
              <a:t> of the issue is seen to be quite some time/years away.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31895547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‘Planning and preparing for action’</a:t>
            </a:r>
          </a:p>
          <a:p>
            <a:r>
              <a:rPr lang="en-AU" sz="1200" kern="1200" dirty="0" smtClean="0">
                <a:solidFill>
                  <a:schemeClr val="tx1"/>
                </a:solidFill>
                <a:latin typeface="+mn-lt"/>
                <a:ea typeface="+mn-ea"/>
                <a:cs typeface="+mn-cs"/>
              </a:rPr>
              <a:t> </a:t>
            </a:r>
            <a:r>
              <a:rPr lang="en-AU" sz="1200" b="1" kern="1200" dirty="0" smtClean="0">
                <a:solidFill>
                  <a:schemeClr val="tx1"/>
                </a:solidFill>
                <a:latin typeface="+mn-lt"/>
                <a:ea typeface="+mn-ea"/>
                <a:cs typeface="+mn-cs"/>
              </a:rPr>
              <a:t>Planning and preparing for action</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Where an external issue is judged to impact in the short-to-mid term future on the business there can be a need to engage in some planning and preparation. This may involve:</a:t>
            </a:r>
          </a:p>
          <a:p>
            <a:pPr>
              <a:buFont typeface="Arial" pitchFamily="34" charset="0"/>
              <a:buChar char="•"/>
            </a:pPr>
            <a:r>
              <a:rPr lang="en-AU" sz="1200" kern="1200" dirty="0" smtClean="0">
                <a:solidFill>
                  <a:schemeClr val="tx1"/>
                </a:solidFill>
                <a:latin typeface="+mn-lt"/>
                <a:ea typeface="+mn-ea"/>
                <a:cs typeface="+mn-cs"/>
              </a:rPr>
              <a:t>Undertaking standard risk management protocols – of:</a:t>
            </a:r>
          </a:p>
          <a:p>
            <a:pPr lvl="1">
              <a:buFont typeface="Arial" pitchFamily="34" charset="0"/>
              <a:buChar char="•"/>
            </a:pPr>
            <a:r>
              <a:rPr lang="en-AU" sz="1200" kern="1200" dirty="0" smtClean="0">
                <a:solidFill>
                  <a:schemeClr val="tx1"/>
                </a:solidFill>
                <a:latin typeface="+mn-lt"/>
                <a:ea typeface="+mn-ea"/>
                <a:cs typeface="+mn-cs"/>
              </a:rPr>
              <a:t>Risk identification</a:t>
            </a:r>
          </a:p>
          <a:p>
            <a:pPr lvl="1">
              <a:buFont typeface="Arial" pitchFamily="34" charset="0"/>
              <a:buChar char="•"/>
            </a:pPr>
            <a:r>
              <a:rPr lang="en-AU" sz="1200" kern="1200" dirty="0" smtClean="0">
                <a:solidFill>
                  <a:schemeClr val="tx1"/>
                </a:solidFill>
                <a:latin typeface="+mn-lt"/>
                <a:ea typeface="+mn-ea"/>
                <a:cs typeface="+mn-cs"/>
              </a:rPr>
              <a:t>Risk analysis/evaluation</a:t>
            </a:r>
          </a:p>
          <a:p>
            <a:pPr lvl="1">
              <a:buFont typeface="Arial" pitchFamily="34" charset="0"/>
              <a:buChar char="•"/>
            </a:pPr>
            <a:r>
              <a:rPr lang="en-AU" sz="1200" kern="1200" dirty="0" smtClean="0">
                <a:solidFill>
                  <a:schemeClr val="tx1"/>
                </a:solidFill>
                <a:latin typeface="+mn-lt"/>
                <a:ea typeface="+mn-ea"/>
                <a:cs typeface="+mn-cs"/>
              </a:rPr>
              <a:t>Risk management/controls</a:t>
            </a:r>
          </a:p>
          <a:p>
            <a:pPr>
              <a:buFont typeface="Arial" pitchFamily="34" charset="0"/>
              <a:buChar char="•"/>
            </a:pPr>
            <a:r>
              <a:rPr lang="en-AU" sz="1200" kern="1200" dirty="0" smtClean="0">
                <a:solidFill>
                  <a:schemeClr val="tx1"/>
                </a:solidFill>
                <a:latin typeface="+mn-lt"/>
                <a:ea typeface="+mn-ea"/>
                <a:cs typeface="+mn-cs"/>
              </a:rPr>
              <a:t>Determining how the issue will impact the business – in terms of:</a:t>
            </a:r>
          </a:p>
          <a:p>
            <a:pPr lvl="1">
              <a:buFont typeface="Arial" pitchFamily="34" charset="0"/>
              <a:buChar char="•"/>
            </a:pPr>
            <a:r>
              <a:rPr lang="en-AU" sz="1200" kern="1200" dirty="0" smtClean="0">
                <a:solidFill>
                  <a:schemeClr val="tx1"/>
                </a:solidFill>
                <a:latin typeface="+mn-lt"/>
                <a:ea typeface="+mn-ea"/>
                <a:cs typeface="+mn-cs"/>
              </a:rPr>
              <a:t>General industrial and employee relations</a:t>
            </a:r>
          </a:p>
          <a:p>
            <a:pPr lvl="1">
              <a:buFont typeface="Arial" pitchFamily="34" charset="0"/>
              <a:buChar char="•"/>
            </a:pPr>
            <a:r>
              <a:rPr lang="en-AU" sz="1200" kern="1200" dirty="0" smtClean="0">
                <a:solidFill>
                  <a:schemeClr val="tx1"/>
                </a:solidFill>
                <a:latin typeface="+mn-lt"/>
                <a:ea typeface="+mn-ea"/>
                <a:cs typeface="+mn-cs"/>
              </a:rPr>
              <a:t>Specifics – with regard to remuneration, working conditions, other matters</a:t>
            </a:r>
          </a:p>
          <a:p>
            <a:pPr lvl="1">
              <a:buFont typeface="Arial" pitchFamily="34" charset="0"/>
              <a:buChar char="•"/>
            </a:pPr>
            <a:r>
              <a:rPr lang="en-AU" sz="1200" kern="1200" dirty="0" smtClean="0">
                <a:solidFill>
                  <a:schemeClr val="tx1"/>
                </a:solidFill>
                <a:latin typeface="+mn-lt"/>
                <a:ea typeface="+mn-ea"/>
                <a:cs typeface="+mn-cs"/>
              </a:rPr>
              <a:t>Staff recruitment – in terms of the pool of potential and suitable employees available to the organisation </a:t>
            </a:r>
          </a:p>
          <a:p>
            <a:pPr>
              <a:buFont typeface="Arial" pitchFamily="34" charset="0"/>
              <a:buChar char="•"/>
            </a:pPr>
            <a:r>
              <a:rPr lang="en-AU" sz="1200" kern="1200" dirty="0" smtClean="0">
                <a:solidFill>
                  <a:schemeClr val="tx1"/>
                </a:solidFill>
                <a:latin typeface="+mn-lt"/>
                <a:ea typeface="+mn-ea"/>
                <a:cs typeface="+mn-cs"/>
              </a:rPr>
              <a:t>Looking at how other organisations have responded – with attention paid to:</a:t>
            </a:r>
          </a:p>
          <a:p>
            <a:pPr lvl="1">
              <a:buFont typeface="Arial" pitchFamily="34" charset="0"/>
              <a:buChar char="•"/>
            </a:pPr>
            <a:r>
              <a:rPr lang="en-AU" sz="1200" kern="1200" dirty="0" smtClean="0">
                <a:solidFill>
                  <a:schemeClr val="tx1"/>
                </a:solidFill>
                <a:latin typeface="+mn-lt"/>
                <a:ea typeface="+mn-ea"/>
                <a:cs typeface="+mn-cs"/>
              </a:rPr>
              <a:t>What they did</a:t>
            </a:r>
          </a:p>
          <a:p>
            <a:pPr lvl="1">
              <a:buFont typeface="Arial" pitchFamily="34" charset="0"/>
              <a:buChar char="•"/>
            </a:pPr>
            <a:r>
              <a:rPr lang="en-AU" sz="1200" kern="1200" dirty="0" smtClean="0">
                <a:solidFill>
                  <a:schemeClr val="tx1"/>
                </a:solidFill>
                <a:latin typeface="+mn-lt"/>
                <a:ea typeface="+mn-ea"/>
                <a:cs typeface="+mn-cs"/>
              </a:rPr>
              <a:t>How they did it</a:t>
            </a:r>
          </a:p>
          <a:p>
            <a:pPr lvl="1">
              <a:buFont typeface="Arial" pitchFamily="34" charset="0"/>
              <a:buChar char="•"/>
            </a:pPr>
            <a:r>
              <a:rPr lang="en-AU" sz="1200" kern="1200" dirty="0" smtClean="0">
                <a:solidFill>
                  <a:schemeClr val="tx1"/>
                </a:solidFill>
                <a:latin typeface="+mn-lt"/>
                <a:ea typeface="+mn-ea"/>
                <a:cs typeface="+mn-cs"/>
              </a:rPr>
              <a:t>The effectives/outcomes of their responses</a:t>
            </a:r>
          </a:p>
          <a:p>
            <a:pPr>
              <a:buFont typeface="Arial" pitchFamily="34" charset="0"/>
              <a:buChar char="•"/>
            </a:pPr>
            <a:r>
              <a:rPr lang="en-AU" sz="1200" kern="1200" dirty="0" smtClean="0">
                <a:solidFill>
                  <a:schemeClr val="tx1"/>
                </a:solidFill>
                <a:latin typeface="+mn-lt"/>
                <a:ea typeface="+mn-ea"/>
                <a:cs typeface="+mn-cs"/>
              </a:rPr>
              <a:t>Working out when the issues will impact – so that:</a:t>
            </a:r>
          </a:p>
          <a:p>
            <a:pPr lvl="1">
              <a:buFont typeface="Arial" pitchFamily="34" charset="0"/>
              <a:buChar char="•"/>
            </a:pPr>
            <a:r>
              <a:rPr lang="en-AU" sz="1200" kern="1200" dirty="0" smtClean="0">
                <a:solidFill>
                  <a:schemeClr val="tx1"/>
                </a:solidFill>
                <a:latin typeface="+mn-lt"/>
                <a:ea typeface="+mn-ea"/>
                <a:cs typeface="+mn-cs"/>
              </a:rPr>
              <a:t>Necessary protocols can be developed to support/underpin them – such as policies and SOPs</a:t>
            </a:r>
          </a:p>
          <a:p>
            <a:pPr lvl="1">
              <a:buFont typeface="Arial" pitchFamily="34" charset="0"/>
              <a:buChar char="•"/>
            </a:pPr>
            <a:r>
              <a:rPr lang="en-AU" sz="1200" kern="1200" dirty="0" smtClean="0">
                <a:solidFill>
                  <a:schemeClr val="tx1"/>
                </a:solidFill>
                <a:latin typeface="+mn-lt"/>
                <a:ea typeface="+mn-ea"/>
                <a:cs typeface="+mn-cs"/>
              </a:rPr>
              <a:t>Time-tables for implementation and introduction of responses can be scheduled – including training provision and necessary transition phases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198034922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‘Planning and preparing for action’:</a:t>
            </a:r>
          </a:p>
          <a:p>
            <a:pPr>
              <a:buFont typeface="Arial" pitchFamily="34" charset="0"/>
              <a:buChar char="•"/>
            </a:pPr>
            <a:r>
              <a:rPr lang="en-AU" sz="1200" kern="1200" dirty="0" smtClean="0">
                <a:solidFill>
                  <a:schemeClr val="tx1"/>
                </a:solidFill>
                <a:latin typeface="+mn-lt"/>
                <a:ea typeface="+mn-ea"/>
                <a:cs typeface="+mn-cs"/>
              </a:rPr>
              <a:t>Integrating new/revised protocols into existing other arrangements – in terms of (for example):</a:t>
            </a:r>
          </a:p>
          <a:p>
            <a:pPr lvl="1">
              <a:buFont typeface="Arial" pitchFamily="34" charset="0"/>
              <a:buChar char="•"/>
            </a:pPr>
            <a:r>
              <a:rPr lang="en-AU" sz="1200" kern="1200" dirty="0" smtClean="0">
                <a:solidFill>
                  <a:schemeClr val="tx1"/>
                </a:solidFill>
                <a:latin typeface="+mn-lt"/>
                <a:ea typeface="+mn-ea"/>
                <a:cs typeface="+mn-cs"/>
              </a:rPr>
              <a:t>Revising Staff Handbooks and Induction and Orientation programs</a:t>
            </a:r>
          </a:p>
          <a:p>
            <a:pPr lvl="1">
              <a:buFont typeface="Arial" pitchFamily="34" charset="0"/>
              <a:buChar char="•"/>
            </a:pPr>
            <a:r>
              <a:rPr lang="en-AU" sz="1200" kern="1200" dirty="0" smtClean="0">
                <a:solidFill>
                  <a:schemeClr val="tx1"/>
                </a:solidFill>
                <a:latin typeface="+mn-lt"/>
                <a:ea typeface="+mn-ea"/>
                <a:cs typeface="+mn-cs"/>
              </a:rPr>
              <a:t>Updating internal staff training</a:t>
            </a:r>
          </a:p>
          <a:p>
            <a:pPr lvl="1">
              <a:buFont typeface="Arial" pitchFamily="34" charset="0"/>
              <a:buChar char="•"/>
            </a:pPr>
            <a:r>
              <a:rPr lang="en-AU" sz="1200" kern="1200" dirty="0" smtClean="0">
                <a:solidFill>
                  <a:schemeClr val="tx1"/>
                </a:solidFill>
                <a:latin typeface="+mn-lt"/>
                <a:ea typeface="+mn-ea"/>
                <a:cs typeface="+mn-cs"/>
              </a:rPr>
              <a:t>Aligning revised/new approaches with other workplace activities which have </a:t>
            </a:r>
            <a:r>
              <a:rPr lang="en-AU" sz="1200" i="1" kern="1200" dirty="0" smtClean="0">
                <a:solidFill>
                  <a:schemeClr val="tx1"/>
                </a:solidFill>
                <a:latin typeface="+mn-lt"/>
                <a:ea typeface="+mn-ea"/>
                <a:cs typeface="+mn-cs"/>
              </a:rPr>
              <a:t>not</a:t>
            </a:r>
            <a:r>
              <a:rPr lang="en-AU" sz="1200" kern="1200" dirty="0" smtClean="0">
                <a:solidFill>
                  <a:schemeClr val="tx1"/>
                </a:solidFill>
                <a:latin typeface="+mn-lt"/>
                <a:ea typeface="+mn-ea"/>
                <a:cs typeface="+mn-cs"/>
              </a:rPr>
              <a:t> changed</a:t>
            </a:r>
          </a:p>
          <a:p>
            <a:pPr>
              <a:buFont typeface="Arial" pitchFamily="34" charset="0"/>
              <a:buChar char="•"/>
            </a:pPr>
            <a:r>
              <a:rPr lang="en-AU" sz="1200" kern="1200" dirty="0" smtClean="0">
                <a:solidFill>
                  <a:schemeClr val="tx1"/>
                </a:solidFill>
                <a:latin typeface="+mn-lt"/>
                <a:ea typeface="+mn-ea"/>
                <a:cs typeface="+mn-cs"/>
              </a:rPr>
              <a:t>Arranging resources for what is required – in terms of:</a:t>
            </a:r>
          </a:p>
          <a:p>
            <a:pPr lvl="1">
              <a:buFont typeface="Arial" pitchFamily="34" charset="0"/>
              <a:buChar char="•"/>
            </a:pPr>
            <a:r>
              <a:rPr lang="en-AU" sz="1200" kern="1200" dirty="0" smtClean="0">
                <a:solidFill>
                  <a:schemeClr val="tx1"/>
                </a:solidFill>
                <a:latin typeface="+mn-lt"/>
                <a:ea typeface="+mn-ea"/>
                <a:cs typeface="+mn-cs"/>
              </a:rPr>
              <a:t>Human Resources – staff may need to be hired, fired or trained/re-trained</a:t>
            </a:r>
          </a:p>
          <a:p>
            <a:pPr lvl="1">
              <a:buFont typeface="Arial" pitchFamily="34" charset="0"/>
              <a:buChar char="•"/>
            </a:pPr>
            <a:r>
              <a:rPr lang="en-AU" sz="1200" kern="1200" dirty="0" smtClean="0">
                <a:solidFill>
                  <a:schemeClr val="tx1"/>
                </a:solidFill>
                <a:latin typeface="+mn-lt"/>
                <a:ea typeface="+mn-ea"/>
                <a:cs typeface="+mn-cs"/>
              </a:rPr>
              <a:t>Physical resources – new/extra may have to be acquired</a:t>
            </a:r>
          </a:p>
          <a:p>
            <a:pPr lvl="1">
              <a:buFont typeface="Arial" pitchFamily="34" charset="0"/>
              <a:buChar char="•"/>
            </a:pPr>
            <a:r>
              <a:rPr lang="en-AU" sz="1200" kern="1200" dirty="0" smtClean="0">
                <a:solidFill>
                  <a:schemeClr val="tx1"/>
                </a:solidFill>
                <a:latin typeface="+mn-lt"/>
                <a:ea typeface="+mn-ea"/>
                <a:cs typeface="+mn-cs"/>
              </a:rPr>
              <a:t>Financial resources – to pat=y for whatever is needed</a:t>
            </a:r>
          </a:p>
          <a:p>
            <a:pPr>
              <a:buFont typeface="Arial" pitchFamily="34" charset="0"/>
              <a:buChar char="•"/>
            </a:pPr>
            <a:r>
              <a:rPr lang="en-AU" sz="1200" kern="1200" dirty="0" smtClean="0">
                <a:solidFill>
                  <a:schemeClr val="tx1"/>
                </a:solidFill>
                <a:latin typeface="+mn-lt"/>
                <a:ea typeface="+mn-ea"/>
                <a:cs typeface="+mn-cs"/>
              </a:rPr>
              <a:t>Reviewing and revising business-related plans – such as:</a:t>
            </a:r>
          </a:p>
          <a:p>
            <a:pPr lvl="1">
              <a:buFont typeface="Arial" pitchFamily="34" charset="0"/>
              <a:buChar char="•"/>
            </a:pPr>
            <a:r>
              <a:rPr lang="en-AU" sz="1200" kern="1200" dirty="0" smtClean="0">
                <a:solidFill>
                  <a:schemeClr val="tx1"/>
                </a:solidFill>
                <a:latin typeface="+mn-lt"/>
                <a:ea typeface="+mn-ea"/>
                <a:cs typeface="+mn-cs"/>
              </a:rPr>
              <a:t>Various income and expenditure budgets with a special focus on the labour budget</a:t>
            </a:r>
          </a:p>
          <a:p>
            <a:pPr lvl="1">
              <a:buFont typeface="Arial" pitchFamily="34" charset="0"/>
              <a:buChar char="•"/>
            </a:pPr>
            <a:r>
              <a:rPr lang="en-AU" sz="1200" kern="1200" dirty="0" smtClean="0">
                <a:solidFill>
                  <a:schemeClr val="tx1"/>
                </a:solidFill>
                <a:latin typeface="+mn-lt"/>
                <a:ea typeface="+mn-ea"/>
                <a:cs typeface="+mn-cs"/>
              </a:rPr>
              <a:t>Day-to-day operational plans for departments or business sections</a:t>
            </a:r>
          </a:p>
          <a:p>
            <a:pPr lvl="1">
              <a:buFont typeface="Arial" pitchFamily="34" charset="0"/>
              <a:buChar char="•"/>
            </a:pPr>
            <a:r>
              <a:rPr lang="en-AU" sz="1200" kern="1200" dirty="0" smtClean="0">
                <a:solidFill>
                  <a:schemeClr val="tx1"/>
                </a:solidFill>
                <a:latin typeface="+mn-lt"/>
                <a:ea typeface="+mn-ea"/>
                <a:cs typeface="+mn-cs"/>
              </a:rPr>
              <a:t>Short-term tactical plans for departments</a:t>
            </a:r>
          </a:p>
          <a:p>
            <a:pPr lvl="1">
              <a:buFont typeface="Arial" pitchFamily="34" charset="0"/>
              <a:buChar char="•"/>
            </a:pPr>
            <a:r>
              <a:rPr lang="en-AU" sz="1200" kern="1200" dirty="0" smtClean="0">
                <a:solidFill>
                  <a:schemeClr val="tx1"/>
                </a:solidFill>
                <a:latin typeface="+mn-lt"/>
                <a:ea typeface="+mn-ea"/>
                <a:cs typeface="+mn-cs"/>
              </a:rPr>
              <a:t>Longer-term strategic plans for the organisation</a:t>
            </a:r>
          </a:p>
          <a:p>
            <a:pPr lvl="1">
              <a:buFont typeface="Arial" pitchFamily="34" charset="0"/>
              <a:buChar char="•"/>
            </a:pPr>
            <a:r>
              <a:rPr lang="en-AU" sz="1200" kern="1200" dirty="0" smtClean="0">
                <a:solidFill>
                  <a:schemeClr val="tx1"/>
                </a:solidFill>
                <a:latin typeface="+mn-lt"/>
                <a:ea typeface="+mn-ea"/>
                <a:cs typeface="+mn-cs"/>
              </a:rPr>
              <a:t>Contingency plans.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190612489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‘Taking immediate action’</a:t>
            </a:r>
          </a:p>
          <a:p>
            <a:r>
              <a:rPr lang="en-AU" sz="1200" b="1" kern="1200" dirty="0" smtClean="0">
                <a:solidFill>
                  <a:schemeClr val="tx1"/>
                </a:solidFill>
                <a:latin typeface="+mn-lt"/>
                <a:ea typeface="+mn-ea"/>
                <a:cs typeface="+mn-cs"/>
              </a:rPr>
              <a:t>Taking immediate action</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Where the issue is deemed to be of special importance there is a need to take immediate action. ‘Special importance’ covers situations such as:</a:t>
            </a:r>
          </a:p>
          <a:p>
            <a:pPr>
              <a:buFont typeface="Arial" pitchFamily="34" charset="0"/>
              <a:buChar char="•"/>
            </a:pPr>
            <a:r>
              <a:rPr lang="en-AU" sz="1200" kern="1200" dirty="0" smtClean="0">
                <a:solidFill>
                  <a:schemeClr val="tx1"/>
                </a:solidFill>
                <a:latin typeface="+mn-lt"/>
                <a:ea typeface="+mn-ea"/>
                <a:cs typeface="+mn-cs"/>
              </a:rPr>
              <a:t>Mandatory requirements imposed by legislation</a:t>
            </a:r>
          </a:p>
          <a:p>
            <a:pPr>
              <a:buFont typeface="Arial" pitchFamily="34" charset="0"/>
              <a:buChar char="•"/>
            </a:pPr>
            <a:r>
              <a:rPr lang="en-AU" sz="1200" kern="1200" dirty="0" smtClean="0">
                <a:solidFill>
                  <a:schemeClr val="tx1"/>
                </a:solidFill>
                <a:latin typeface="+mn-lt"/>
                <a:ea typeface="+mn-ea"/>
                <a:cs typeface="+mn-cs"/>
              </a:rPr>
              <a:t>Strategic imperatives necessary to maintain business viability</a:t>
            </a:r>
          </a:p>
          <a:p>
            <a:pPr>
              <a:buFont typeface="Arial" pitchFamily="34" charset="0"/>
              <a:buChar char="•"/>
            </a:pPr>
            <a:r>
              <a:rPr lang="en-AU" sz="1200" kern="1200" dirty="0" smtClean="0">
                <a:solidFill>
                  <a:schemeClr val="tx1"/>
                </a:solidFill>
                <a:latin typeface="+mn-lt"/>
                <a:ea typeface="+mn-ea"/>
                <a:cs typeface="+mn-cs"/>
              </a:rPr>
              <a:t>Issues which MUST be addressed in order to:</a:t>
            </a:r>
          </a:p>
          <a:p>
            <a:pPr lvl="1">
              <a:buFont typeface="Arial" pitchFamily="34" charset="0"/>
              <a:buChar char="•"/>
            </a:pPr>
            <a:r>
              <a:rPr lang="en-AU" sz="1200" kern="1200" dirty="0" smtClean="0">
                <a:solidFill>
                  <a:schemeClr val="tx1"/>
                </a:solidFill>
                <a:latin typeface="+mn-lt"/>
                <a:ea typeface="+mn-ea"/>
                <a:cs typeface="+mn-cs"/>
              </a:rPr>
              <a:t>Maintain  or improve the position of the business in the marketplace</a:t>
            </a:r>
          </a:p>
          <a:p>
            <a:pPr lvl="1">
              <a:buFont typeface="Arial" pitchFamily="34" charset="0"/>
              <a:buChar char="•"/>
            </a:pPr>
            <a:r>
              <a:rPr lang="en-AU" sz="1200" kern="1200" dirty="0" smtClean="0">
                <a:solidFill>
                  <a:schemeClr val="tx1"/>
                </a:solidFill>
                <a:latin typeface="+mn-lt"/>
                <a:ea typeface="+mn-ea"/>
                <a:cs typeface="+mn-cs"/>
              </a:rPr>
              <a:t>Retain or attract necessary staff</a:t>
            </a:r>
          </a:p>
          <a:p>
            <a:pPr lvl="1">
              <a:buFont typeface="Arial" pitchFamily="34" charset="0"/>
              <a:buChar char="•"/>
            </a:pPr>
            <a:r>
              <a:rPr lang="en-AU" sz="1200" kern="1200" dirty="0" smtClean="0">
                <a:solidFill>
                  <a:schemeClr val="tx1"/>
                </a:solidFill>
                <a:latin typeface="+mn-lt"/>
                <a:ea typeface="+mn-ea"/>
                <a:cs typeface="+mn-cs"/>
              </a:rPr>
              <a:t>Optimise the potential to attain stated goals, targets and objectives for the business.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280949224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states taking immediate </a:t>
            </a:r>
            <a:r>
              <a:rPr lang="en-AU" sz="1200" kern="1200" dirty="0" smtClean="0">
                <a:solidFill>
                  <a:schemeClr val="tx1"/>
                </a:solidFill>
                <a:latin typeface="+mn-lt"/>
                <a:ea typeface="+mn-ea"/>
                <a:cs typeface="+mn-cs"/>
              </a:rPr>
              <a:t>action is essentially a condensed version of the activities involved in the ‘Planning and Preparing for action’ approach with keys being:</a:t>
            </a:r>
          </a:p>
          <a:p>
            <a:pPr>
              <a:buFont typeface="Arial" pitchFamily="34" charset="0"/>
              <a:buChar char="•"/>
            </a:pPr>
            <a:r>
              <a:rPr lang="en-AU" sz="1200" kern="1200" dirty="0" smtClean="0">
                <a:solidFill>
                  <a:schemeClr val="tx1"/>
                </a:solidFill>
                <a:latin typeface="+mn-lt"/>
                <a:ea typeface="+mn-ea"/>
                <a:cs typeface="+mn-cs"/>
              </a:rPr>
              <a:t>Involve and consult with staff – to advise them of events and gain their input into decision making/action plans</a:t>
            </a:r>
          </a:p>
          <a:p>
            <a:pPr>
              <a:buFont typeface="Arial" pitchFamily="34" charset="0"/>
              <a:buChar char="•"/>
            </a:pPr>
            <a:r>
              <a:rPr lang="en-AU" sz="1200" kern="1200" dirty="0" smtClean="0">
                <a:solidFill>
                  <a:schemeClr val="tx1"/>
                </a:solidFill>
                <a:latin typeface="+mn-lt"/>
                <a:ea typeface="+mn-ea"/>
                <a:cs typeface="+mn-cs"/>
              </a:rPr>
              <a:t>Explain rationale for action – with reference to employees and the business </a:t>
            </a:r>
          </a:p>
          <a:p>
            <a:pPr>
              <a:buFont typeface="Arial" pitchFamily="34" charset="0"/>
              <a:buChar char="•"/>
            </a:pPr>
            <a:r>
              <a:rPr lang="en-AU" sz="1200" kern="1200" dirty="0" smtClean="0">
                <a:solidFill>
                  <a:schemeClr val="tx1"/>
                </a:solidFill>
                <a:latin typeface="+mn-lt"/>
                <a:ea typeface="+mn-ea"/>
                <a:cs typeface="+mn-cs"/>
              </a:rPr>
              <a:t>Stress urgency of the situation – and the need to take immediate action</a:t>
            </a:r>
          </a:p>
          <a:p>
            <a:pPr>
              <a:buFont typeface="Arial" pitchFamily="34" charset="0"/>
              <a:buChar char="•"/>
            </a:pPr>
            <a:r>
              <a:rPr lang="en-AU" sz="1200" kern="1200" dirty="0" smtClean="0">
                <a:solidFill>
                  <a:schemeClr val="tx1"/>
                </a:solidFill>
                <a:latin typeface="+mn-lt"/>
                <a:ea typeface="+mn-ea"/>
                <a:cs typeface="+mn-cs"/>
              </a:rPr>
              <a:t>Highlight potential of failing to act – loss of jobs and decreased job security</a:t>
            </a:r>
          </a:p>
          <a:p>
            <a:pPr>
              <a:buFont typeface="Arial" pitchFamily="34" charset="0"/>
              <a:buChar char="•"/>
            </a:pPr>
            <a:r>
              <a:rPr lang="en-AU" sz="1200" kern="1200" dirty="0" smtClean="0">
                <a:solidFill>
                  <a:schemeClr val="tx1"/>
                </a:solidFill>
                <a:latin typeface="+mn-lt"/>
                <a:ea typeface="+mn-ea"/>
                <a:cs typeface="+mn-cs"/>
              </a:rPr>
              <a:t>Explain implementation and transitional arrangements – so staff can see the process has been planned and considered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250610612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present keys to Taking immediate action’</a:t>
            </a:r>
            <a:r>
              <a:rPr lang="en-AU" sz="1200" kern="1200" dirty="0" smtClean="0">
                <a:solidFill>
                  <a:schemeClr val="tx1"/>
                </a:solidFill>
                <a:latin typeface="+mn-lt"/>
                <a:ea typeface="+mn-ea"/>
                <a:cs typeface="+mn-cs"/>
              </a:rPr>
              <a:t>:</a:t>
            </a:r>
          </a:p>
          <a:p>
            <a:pPr>
              <a:buFont typeface="Arial" pitchFamily="34" charset="0"/>
              <a:buChar char="•"/>
            </a:pPr>
            <a:r>
              <a:rPr lang="en-AU" sz="1200" kern="1200" dirty="0" smtClean="0">
                <a:solidFill>
                  <a:schemeClr val="tx1"/>
                </a:solidFill>
                <a:latin typeface="+mn-lt"/>
                <a:ea typeface="+mn-ea"/>
                <a:cs typeface="+mn-cs"/>
              </a:rPr>
              <a:t>Indicate additional, different and/or revised arrangements are likely to be implemented – as time progresses and the situation distils/becomes clearer </a:t>
            </a:r>
          </a:p>
          <a:p>
            <a:pPr>
              <a:buFont typeface="Arial" pitchFamily="34" charset="0"/>
              <a:buChar char="•"/>
            </a:pPr>
            <a:r>
              <a:rPr lang="en-AU" sz="1200" kern="1200" dirty="0" smtClean="0">
                <a:solidFill>
                  <a:schemeClr val="tx1"/>
                </a:solidFill>
                <a:latin typeface="+mn-lt"/>
                <a:ea typeface="+mn-ea"/>
                <a:cs typeface="+mn-cs"/>
              </a:rPr>
              <a:t>Stress the support provided for staff – so they have access to necessary advice, information and resources</a:t>
            </a:r>
          </a:p>
          <a:p>
            <a:pPr>
              <a:buFont typeface="Arial" pitchFamily="34" charset="0"/>
              <a:buChar char="•"/>
            </a:pPr>
            <a:r>
              <a:rPr lang="en-AU" sz="1200" kern="1200" dirty="0" smtClean="0">
                <a:solidFill>
                  <a:schemeClr val="tx1"/>
                </a:solidFill>
                <a:latin typeface="+mn-lt"/>
                <a:ea typeface="+mn-ea"/>
                <a:cs typeface="+mn-cs"/>
              </a:rPr>
              <a:t>Focus on the benefits being provided to employees – as applicable in terms of wages and working conditions plus any of the issues related to the five generic categories identified in the previous section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162696191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present keys to Taking immediate action’</a:t>
            </a:r>
            <a:r>
              <a:rPr lang="en-AU" sz="1200" kern="1200" dirty="0" smtClean="0">
                <a:solidFill>
                  <a:schemeClr val="tx1"/>
                </a:solidFill>
                <a:latin typeface="+mn-lt"/>
                <a:ea typeface="+mn-ea"/>
                <a:cs typeface="+mn-cs"/>
              </a:rPr>
              <a:t>:</a:t>
            </a:r>
          </a:p>
          <a:p>
            <a:pPr>
              <a:buFont typeface="Arial" pitchFamily="34" charset="0"/>
              <a:buChar char="•"/>
            </a:pPr>
            <a:r>
              <a:rPr lang="en-AU" sz="1200" kern="1200" dirty="0" smtClean="0">
                <a:solidFill>
                  <a:schemeClr val="tx1"/>
                </a:solidFill>
                <a:latin typeface="+mn-lt"/>
                <a:ea typeface="+mn-ea"/>
                <a:cs typeface="+mn-cs"/>
              </a:rPr>
              <a:t>Indicate how short-term changes will flow on to become SOPs for the business – so staff can see the permanent nature of action taken</a:t>
            </a:r>
          </a:p>
          <a:p>
            <a:pPr>
              <a:buFont typeface="Arial" pitchFamily="34" charset="0"/>
              <a:buChar char="•"/>
            </a:pPr>
            <a:r>
              <a:rPr lang="en-AU" sz="1200" kern="1200" dirty="0" smtClean="0">
                <a:solidFill>
                  <a:schemeClr val="tx1"/>
                </a:solidFill>
                <a:latin typeface="+mn-lt"/>
                <a:ea typeface="+mn-ea"/>
                <a:cs typeface="+mn-cs"/>
              </a:rPr>
              <a:t>Provide a feedback loop – so employees can give their comments on the change/s</a:t>
            </a:r>
          </a:p>
          <a:p>
            <a:pPr>
              <a:buFont typeface="Arial" pitchFamily="34" charset="0"/>
              <a:buChar char="•"/>
            </a:pPr>
            <a:r>
              <a:rPr lang="en-AU" sz="1200" kern="1200" dirty="0" smtClean="0">
                <a:solidFill>
                  <a:schemeClr val="tx1"/>
                </a:solidFill>
                <a:latin typeface="+mn-lt"/>
                <a:ea typeface="+mn-ea"/>
                <a:cs typeface="+mn-cs"/>
              </a:rPr>
              <a:t>Note standard management practices for the issue – in terms of (for example):</a:t>
            </a:r>
          </a:p>
          <a:p>
            <a:pPr lvl="1">
              <a:buFont typeface="Arial" pitchFamily="34" charset="0"/>
              <a:buChar char="•"/>
            </a:pPr>
            <a:r>
              <a:rPr lang="en-AU" sz="1200" kern="1200" dirty="0" smtClean="0">
                <a:solidFill>
                  <a:schemeClr val="tx1"/>
                </a:solidFill>
                <a:latin typeface="+mn-lt"/>
                <a:ea typeface="+mn-ea"/>
                <a:cs typeface="+mn-cs"/>
              </a:rPr>
              <a:t>Gradual/staged implementation</a:t>
            </a:r>
          </a:p>
          <a:p>
            <a:pPr lvl="1">
              <a:buFont typeface="Arial" pitchFamily="34" charset="0"/>
              <a:buChar char="•"/>
            </a:pPr>
            <a:r>
              <a:rPr lang="en-AU" sz="1200" kern="1200" dirty="0" smtClean="0">
                <a:solidFill>
                  <a:schemeClr val="tx1"/>
                </a:solidFill>
                <a:latin typeface="+mn-lt"/>
                <a:ea typeface="+mn-ea"/>
                <a:cs typeface="+mn-cs"/>
              </a:rPr>
              <a:t>Monitoring procedures</a:t>
            </a:r>
          </a:p>
          <a:p>
            <a:pPr lvl="1">
              <a:buFont typeface="Arial" pitchFamily="34" charset="0"/>
              <a:buChar char="•"/>
            </a:pPr>
            <a:r>
              <a:rPr lang="en-AU" sz="1200" kern="1200" dirty="0" smtClean="0">
                <a:solidFill>
                  <a:schemeClr val="tx1"/>
                </a:solidFill>
                <a:latin typeface="+mn-lt"/>
                <a:ea typeface="+mn-ea"/>
                <a:cs typeface="+mn-cs"/>
              </a:rPr>
              <a:t>Review and evaluation</a:t>
            </a:r>
          </a:p>
          <a:p>
            <a:pPr lvl="1">
              <a:buFont typeface="Arial" pitchFamily="34" charset="0"/>
              <a:buChar char="•"/>
            </a:pPr>
            <a:r>
              <a:rPr lang="en-AU" sz="1200" kern="1200" dirty="0" smtClean="0">
                <a:solidFill>
                  <a:schemeClr val="tx1"/>
                </a:solidFill>
                <a:latin typeface="+mn-lt"/>
                <a:ea typeface="+mn-ea"/>
                <a:cs typeface="+mn-cs"/>
              </a:rPr>
              <a:t>Revision of protocols where needed – on the basis of feedback and evaluation</a:t>
            </a:r>
          </a:p>
          <a:p>
            <a:pPr lvl="1">
              <a:buFont typeface="Arial" pitchFamily="34" charset="0"/>
              <a:buChar char="•"/>
            </a:pPr>
            <a:r>
              <a:rPr lang="en-AU" sz="1200" kern="1200" dirty="0" smtClean="0">
                <a:solidFill>
                  <a:schemeClr val="tx1"/>
                </a:solidFill>
                <a:latin typeface="+mn-lt"/>
                <a:ea typeface="+mn-ea"/>
                <a:cs typeface="+mn-cs"/>
              </a:rPr>
              <a:t>Benchmarking of practices</a:t>
            </a:r>
          </a:p>
          <a:p>
            <a:pPr lvl="1">
              <a:buFont typeface="Arial" pitchFamily="34" charset="0"/>
              <a:buChar char="•"/>
            </a:pPr>
            <a:r>
              <a:rPr lang="en-AU" sz="1200" kern="1200" dirty="0" smtClean="0">
                <a:solidFill>
                  <a:schemeClr val="tx1"/>
                </a:solidFill>
                <a:latin typeface="+mn-lt"/>
                <a:ea typeface="+mn-ea"/>
                <a:cs typeface="+mn-cs"/>
              </a:rPr>
              <a:t>Reward and recognition for effort and compliant staff.</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39381776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it </a:t>
            </a:r>
            <a:r>
              <a:rPr lang="en-AU" sz="1200" kern="1200" dirty="0" smtClean="0">
                <a:solidFill>
                  <a:schemeClr val="tx1"/>
                </a:solidFill>
                <a:latin typeface="+mn-lt"/>
                <a:ea typeface="+mn-ea"/>
                <a:cs typeface="+mn-cs"/>
              </a:rPr>
              <a:t>is extremely important to ensure this step is followed and adhered to for the following reasons:</a:t>
            </a:r>
          </a:p>
          <a:p>
            <a:pPr>
              <a:buFont typeface="Arial" pitchFamily="34" charset="0"/>
              <a:buChar char="•"/>
            </a:pPr>
            <a:r>
              <a:rPr lang="en-AU" sz="1200" kern="1200" dirty="0" smtClean="0">
                <a:solidFill>
                  <a:schemeClr val="tx1"/>
                </a:solidFill>
                <a:latin typeface="+mn-lt"/>
                <a:ea typeface="+mn-ea"/>
                <a:cs typeface="+mn-cs"/>
              </a:rPr>
              <a:t>Staff usually know what to expect in terms of their pay and conditions – so they will:</a:t>
            </a:r>
          </a:p>
          <a:p>
            <a:pPr lvl="1">
              <a:buFont typeface="Arial" pitchFamily="34" charset="0"/>
              <a:buChar char="•"/>
            </a:pPr>
            <a:r>
              <a:rPr lang="en-AU" sz="1200" kern="1200" dirty="0" smtClean="0">
                <a:solidFill>
                  <a:schemeClr val="tx1"/>
                </a:solidFill>
                <a:latin typeface="+mn-lt"/>
                <a:ea typeface="+mn-ea"/>
                <a:cs typeface="+mn-cs"/>
              </a:rPr>
              <a:t>Check their wages to make sure they are paid in accordance with what they have been told they are entitled to</a:t>
            </a:r>
          </a:p>
          <a:p>
            <a:pPr lvl="1">
              <a:buFont typeface="Arial" pitchFamily="34" charset="0"/>
              <a:buChar char="•"/>
            </a:pPr>
            <a:r>
              <a:rPr lang="en-AU" sz="1200" kern="1200" dirty="0" smtClean="0">
                <a:solidFill>
                  <a:schemeClr val="tx1"/>
                </a:solidFill>
                <a:latin typeface="+mn-lt"/>
                <a:ea typeface="+mn-ea"/>
                <a:cs typeface="+mn-cs"/>
              </a:rPr>
              <a:t>Review their work environment to check the conditions they are actually working under reflect what they have been told to expect</a:t>
            </a:r>
          </a:p>
          <a:p>
            <a:pPr lvl="1">
              <a:buFont typeface="Arial" pitchFamily="34" charset="0"/>
              <a:buChar char="•"/>
            </a:pPr>
            <a:r>
              <a:rPr lang="en-AU" sz="1200" kern="1200" dirty="0" smtClean="0">
                <a:solidFill>
                  <a:schemeClr val="tx1"/>
                </a:solidFill>
                <a:latin typeface="+mn-lt"/>
                <a:ea typeface="+mn-ea"/>
                <a:cs typeface="+mn-cs"/>
              </a:rPr>
              <a:t>Talk to other staff to see what they are receiving/getting paid</a:t>
            </a:r>
          </a:p>
          <a:p>
            <a:pPr>
              <a:buFont typeface="Arial" pitchFamily="34" charset="0"/>
              <a:buChar char="•"/>
            </a:pPr>
            <a:r>
              <a:rPr lang="en-AU" sz="1200" kern="1200" dirty="0" smtClean="0">
                <a:solidFill>
                  <a:schemeClr val="tx1"/>
                </a:solidFill>
                <a:latin typeface="+mn-lt"/>
                <a:ea typeface="+mn-ea"/>
                <a:cs typeface="+mn-cs"/>
              </a:rPr>
              <a:t>Most staff work because they want to earn the money they have been told at interview they will receive – this means, in the majority of cases, the money in their pay packet is essentially the sole reason they work ... so their wages need to 100% reflect what they were told in order to justify their ongoing effort to turn up and work</a:t>
            </a:r>
          </a:p>
          <a:p>
            <a:pPr>
              <a:buFont typeface="Arial" pitchFamily="34" charset="0"/>
              <a:buChar char="•"/>
            </a:pPr>
            <a:r>
              <a:rPr lang="en-AU" sz="1200" kern="1200" dirty="0" smtClean="0">
                <a:solidFill>
                  <a:schemeClr val="tx1"/>
                </a:solidFill>
                <a:latin typeface="+mn-lt"/>
                <a:ea typeface="+mn-ea"/>
                <a:cs typeface="+mn-cs"/>
              </a:rPr>
              <a:t>It is a legal requirement the stated, agreed or negotiated conditions of employment are complied with – they are not ‘suggestions’ or options: they are mandatory</a:t>
            </a:r>
          </a:p>
          <a:p>
            <a:pPr>
              <a:buFont typeface="Arial" pitchFamily="34" charset="0"/>
              <a:buChar char="•"/>
            </a:pPr>
            <a:r>
              <a:rPr lang="en-AU" sz="1200" kern="1200" dirty="0" smtClean="0">
                <a:solidFill>
                  <a:schemeClr val="tx1"/>
                </a:solidFill>
                <a:latin typeface="+mn-lt"/>
                <a:ea typeface="+mn-ea"/>
                <a:cs typeface="+mn-cs"/>
              </a:rPr>
              <a:t>It is one way management can demonstrate </a:t>
            </a:r>
            <a:r>
              <a:rPr lang="en-AU" sz="1200" i="1" kern="1200" dirty="0" smtClean="0">
                <a:solidFill>
                  <a:schemeClr val="tx1"/>
                </a:solidFill>
                <a:latin typeface="+mn-lt"/>
                <a:ea typeface="+mn-ea"/>
                <a:cs typeface="+mn-cs"/>
              </a:rPr>
              <a:t>in a tangible form</a:t>
            </a:r>
            <a:r>
              <a:rPr lang="en-AU" sz="1200" kern="1200" dirty="0" smtClean="0">
                <a:solidFill>
                  <a:schemeClr val="tx1"/>
                </a:solidFill>
                <a:latin typeface="+mn-lt"/>
                <a:ea typeface="+mn-ea"/>
                <a:cs typeface="+mn-cs"/>
              </a:rPr>
              <a:t> they value their employees – by keeping their promises made to them when they were hired for the job</a:t>
            </a:r>
          </a:p>
          <a:p>
            <a:pPr>
              <a:buFont typeface="Arial" pitchFamily="34" charset="0"/>
              <a:buChar char="•"/>
            </a:pPr>
            <a:r>
              <a:rPr lang="en-AU" sz="1200" kern="1200" dirty="0" smtClean="0">
                <a:solidFill>
                  <a:schemeClr val="tx1"/>
                </a:solidFill>
                <a:latin typeface="+mn-lt"/>
                <a:ea typeface="+mn-ea"/>
                <a:cs typeface="+mn-cs"/>
              </a:rPr>
              <a:t>In order to avoid the many negative outcomes which can result from failing to comply – see ‘Possible outcomes of failing to apply these requirements’ (later slides).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24901948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highlights relevant </a:t>
            </a:r>
            <a:r>
              <a:rPr lang="en-AU" sz="1200" kern="1200" dirty="0" smtClean="0">
                <a:solidFill>
                  <a:schemeClr val="tx1"/>
                </a:solidFill>
                <a:latin typeface="+mn-lt"/>
                <a:ea typeface="+mn-ea"/>
                <a:cs typeface="+mn-cs"/>
              </a:rPr>
              <a:t>conditions of employment will vary depending on:</a:t>
            </a:r>
          </a:p>
          <a:p>
            <a:pPr>
              <a:buFont typeface="Arial" pitchFamily="34" charset="0"/>
              <a:buChar char="•"/>
            </a:pPr>
            <a:r>
              <a:rPr lang="en-AU" sz="1200" kern="1200" dirty="0" smtClean="0">
                <a:solidFill>
                  <a:schemeClr val="tx1"/>
                </a:solidFill>
                <a:latin typeface="+mn-lt"/>
                <a:ea typeface="+mn-ea"/>
                <a:cs typeface="+mn-cs"/>
              </a:rPr>
              <a:t>The individual workplace</a:t>
            </a:r>
          </a:p>
          <a:p>
            <a:pPr>
              <a:buFont typeface="Arial" pitchFamily="34" charset="0"/>
              <a:buChar char="•"/>
            </a:pPr>
            <a:r>
              <a:rPr lang="en-AU" sz="1200" kern="1200" dirty="0" smtClean="0">
                <a:solidFill>
                  <a:schemeClr val="tx1"/>
                </a:solidFill>
                <a:latin typeface="+mn-lt"/>
                <a:ea typeface="+mn-ea"/>
                <a:cs typeface="+mn-cs"/>
              </a:rPr>
              <a:t>The type/s of employment instruments/agreements under which staff are engaged.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134019991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standard </a:t>
            </a:r>
            <a:r>
              <a:rPr lang="en-AU" sz="1200" kern="1200" dirty="0" smtClean="0">
                <a:solidFill>
                  <a:schemeClr val="tx1"/>
                </a:solidFill>
                <a:latin typeface="+mn-lt"/>
                <a:ea typeface="+mn-ea"/>
                <a:cs typeface="+mn-cs"/>
              </a:rPr>
              <a:t>ways of determining relevant conditions of employment may include:</a:t>
            </a:r>
          </a:p>
          <a:p>
            <a:pPr>
              <a:buFont typeface="Arial" pitchFamily="34" charset="0"/>
              <a:buChar char="•"/>
            </a:pPr>
            <a:r>
              <a:rPr lang="en-AU" sz="1200" kern="1200" dirty="0" smtClean="0">
                <a:solidFill>
                  <a:schemeClr val="tx1"/>
                </a:solidFill>
                <a:latin typeface="+mn-lt"/>
                <a:ea typeface="+mn-ea"/>
                <a:cs typeface="+mn-cs"/>
              </a:rPr>
              <a:t>Reading the individual work contracts/conditions of employment</a:t>
            </a:r>
          </a:p>
          <a:p>
            <a:pPr>
              <a:buFont typeface="Arial" pitchFamily="34" charset="0"/>
              <a:buChar char="•"/>
            </a:pPr>
            <a:r>
              <a:rPr lang="en-AU" sz="1200" kern="1200" dirty="0" smtClean="0">
                <a:solidFill>
                  <a:schemeClr val="tx1"/>
                </a:solidFill>
                <a:latin typeface="+mn-lt"/>
                <a:ea typeface="+mn-ea"/>
                <a:cs typeface="+mn-cs"/>
              </a:rPr>
              <a:t>Reading relevant Awards</a:t>
            </a:r>
          </a:p>
          <a:p>
            <a:pPr>
              <a:buFont typeface="Arial" pitchFamily="34" charset="0"/>
              <a:buChar char="•"/>
            </a:pPr>
            <a:r>
              <a:rPr lang="en-AU" sz="1200" kern="1200" dirty="0" smtClean="0">
                <a:solidFill>
                  <a:schemeClr val="tx1"/>
                </a:solidFill>
                <a:latin typeface="+mn-lt"/>
                <a:ea typeface="+mn-ea"/>
                <a:cs typeface="+mn-cs"/>
              </a:rPr>
              <a:t>Speaking to administration staff in the HR department and/or the Payroll section</a:t>
            </a:r>
          </a:p>
          <a:p>
            <a:pPr>
              <a:buFont typeface="Arial" pitchFamily="34" charset="0"/>
              <a:buChar char="•"/>
            </a:pPr>
            <a:r>
              <a:rPr lang="en-AU" sz="1200" kern="1200" dirty="0" smtClean="0">
                <a:solidFill>
                  <a:schemeClr val="tx1"/>
                </a:solidFill>
                <a:latin typeface="+mn-lt"/>
                <a:ea typeface="+mn-ea"/>
                <a:cs typeface="+mn-cs"/>
              </a:rPr>
              <a:t>Talking to the manager, owner and/or other supervisors</a:t>
            </a:r>
          </a:p>
          <a:p>
            <a:pPr>
              <a:buFont typeface="Arial" pitchFamily="34" charset="0"/>
              <a:buChar char="•"/>
            </a:pPr>
            <a:r>
              <a:rPr lang="en-AU" sz="1200" kern="1200" dirty="0" smtClean="0">
                <a:solidFill>
                  <a:schemeClr val="tx1"/>
                </a:solidFill>
                <a:latin typeface="+mn-lt"/>
                <a:ea typeface="+mn-ea"/>
                <a:cs typeface="+mn-cs"/>
              </a:rPr>
              <a:t>Asking the union that has responsibility for the employees in the organisation</a:t>
            </a:r>
          </a:p>
          <a:p>
            <a:pPr>
              <a:buFont typeface="Arial" pitchFamily="34" charset="0"/>
              <a:buChar char="•"/>
            </a:pPr>
            <a:r>
              <a:rPr lang="en-AU" sz="1200" kern="1200" dirty="0" smtClean="0">
                <a:solidFill>
                  <a:schemeClr val="tx1"/>
                </a:solidFill>
                <a:latin typeface="+mn-lt"/>
                <a:ea typeface="+mn-ea"/>
                <a:cs typeface="+mn-cs"/>
              </a:rPr>
              <a:t>Contacting the government agency with responsibility for Employment, Manpower or similar.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25682846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noProof="0" dirty="0" smtClean="0"/>
              <a:t>Trainer informs of key</a:t>
            </a:r>
            <a:r>
              <a:rPr lang="en-AU" sz="1200" kern="1200" dirty="0" smtClean="0">
                <a:solidFill>
                  <a:schemeClr val="tx1"/>
                </a:solidFill>
                <a:latin typeface="+mn-lt"/>
                <a:ea typeface="+mn-ea"/>
                <a:cs typeface="+mn-cs"/>
              </a:rPr>
              <a:t> generic actions to make sure all requirements are being adhered to include:</a:t>
            </a:r>
          </a:p>
          <a:p>
            <a:pPr>
              <a:buFont typeface="Arial" pitchFamily="34" charset="0"/>
              <a:buChar char="•"/>
            </a:pPr>
            <a:r>
              <a:rPr lang="en-AU" sz="1200" kern="1200" dirty="0" smtClean="0">
                <a:solidFill>
                  <a:schemeClr val="tx1"/>
                </a:solidFill>
                <a:latin typeface="+mn-lt"/>
                <a:ea typeface="+mn-ea"/>
                <a:cs typeface="+mn-cs"/>
              </a:rPr>
              <a:t>Be 100% certain of all Awards and agreements which apply to all staff being employed – so there is full and comprehensive knowledge of the obligations which must be complied with</a:t>
            </a:r>
          </a:p>
          <a:p>
            <a:pPr>
              <a:buFont typeface="Arial" pitchFamily="34" charset="0"/>
              <a:buChar char="•"/>
            </a:pPr>
            <a:r>
              <a:rPr lang="en-AU" sz="1200" kern="1200" dirty="0" smtClean="0">
                <a:solidFill>
                  <a:schemeClr val="tx1"/>
                </a:solidFill>
                <a:latin typeface="+mn-lt"/>
                <a:ea typeface="+mn-ea"/>
                <a:cs typeface="+mn-cs"/>
              </a:rPr>
              <a:t>Monitor documentation – such as:</a:t>
            </a:r>
          </a:p>
          <a:p>
            <a:pPr lvl="1">
              <a:buFont typeface="Arial" pitchFamily="34" charset="0"/>
              <a:buChar char="•"/>
            </a:pPr>
            <a:r>
              <a:rPr lang="en-AU" sz="1200" kern="1200" dirty="0" smtClean="0">
                <a:solidFill>
                  <a:schemeClr val="tx1"/>
                </a:solidFill>
                <a:latin typeface="+mn-lt"/>
                <a:ea typeface="+mn-ea"/>
                <a:cs typeface="+mn-cs"/>
              </a:rPr>
              <a:t>Rosters </a:t>
            </a:r>
          </a:p>
          <a:p>
            <a:pPr lvl="1">
              <a:buFont typeface="Arial" pitchFamily="34" charset="0"/>
              <a:buChar char="•"/>
            </a:pPr>
            <a:r>
              <a:rPr lang="en-AU" sz="1200" kern="1200" dirty="0" smtClean="0">
                <a:solidFill>
                  <a:schemeClr val="tx1"/>
                </a:solidFill>
                <a:latin typeface="+mn-lt"/>
                <a:ea typeface="+mn-ea"/>
                <a:cs typeface="+mn-cs"/>
              </a:rPr>
              <a:t>Time sheets </a:t>
            </a:r>
          </a:p>
          <a:p>
            <a:pPr lvl="1">
              <a:buFont typeface="Arial" pitchFamily="34" charset="0"/>
              <a:buChar char="•"/>
            </a:pPr>
            <a:r>
              <a:rPr lang="en-AU" sz="1200" kern="1200" dirty="0" smtClean="0">
                <a:solidFill>
                  <a:schemeClr val="tx1"/>
                </a:solidFill>
                <a:latin typeface="+mn-lt"/>
                <a:ea typeface="+mn-ea"/>
                <a:cs typeface="+mn-cs"/>
              </a:rPr>
              <a:t>Staff pay advices</a:t>
            </a:r>
          </a:p>
          <a:p>
            <a:pPr>
              <a:buFont typeface="Arial" pitchFamily="34" charset="0"/>
              <a:buChar char="•"/>
            </a:pPr>
            <a:r>
              <a:rPr lang="en-AU" sz="1200" kern="1200" dirty="0" smtClean="0">
                <a:solidFill>
                  <a:schemeClr val="tx1"/>
                </a:solidFill>
                <a:latin typeface="+mn-lt"/>
                <a:ea typeface="+mn-ea"/>
                <a:cs typeface="+mn-cs"/>
              </a:rPr>
              <a:t>Check and observe workplace practice – to:</a:t>
            </a:r>
          </a:p>
          <a:p>
            <a:pPr lvl="1">
              <a:buFont typeface="Arial" pitchFamily="34" charset="0"/>
              <a:buChar char="•"/>
            </a:pPr>
            <a:r>
              <a:rPr lang="en-AU" sz="1200" kern="1200" dirty="0" smtClean="0">
                <a:solidFill>
                  <a:schemeClr val="tx1"/>
                </a:solidFill>
                <a:latin typeface="+mn-lt"/>
                <a:ea typeface="+mn-ea"/>
                <a:cs typeface="+mn-cs"/>
              </a:rPr>
              <a:t>Verify rostered hours are being adhered to</a:t>
            </a:r>
          </a:p>
          <a:p>
            <a:pPr lvl="1">
              <a:buFont typeface="Arial" pitchFamily="34" charset="0"/>
              <a:buChar char="•"/>
            </a:pPr>
            <a:r>
              <a:rPr lang="en-AU" sz="1200" kern="1200" dirty="0" smtClean="0">
                <a:solidFill>
                  <a:schemeClr val="tx1"/>
                </a:solidFill>
                <a:latin typeface="+mn-lt"/>
                <a:ea typeface="+mn-ea"/>
                <a:cs typeface="+mn-cs"/>
              </a:rPr>
              <a:t>Make personal comparisons about the level of compliance </a:t>
            </a:r>
            <a:r>
              <a:rPr lang="en-AU" sz="1200" i="1" kern="1200" dirty="0" smtClean="0">
                <a:solidFill>
                  <a:schemeClr val="tx1"/>
                </a:solidFill>
                <a:latin typeface="+mn-lt"/>
                <a:ea typeface="+mn-ea"/>
                <a:cs typeface="+mn-cs"/>
              </a:rPr>
              <a:t>actually</a:t>
            </a:r>
            <a:r>
              <a:rPr lang="en-AU" sz="1200" kern="1200" dirty="0" smtClean="0">
                <a:solidFill>
                  <a:schemeClr val="tx1"/>
                </a:solidFill>
                <a:latin typeface="+mn-lt"/>
                <a:ea typeface="+mn-ea"/>
                <a:cs typeface="+mn-cs"/>
              </a:rPr>
              <a:t> being achieved with what is known </a:t>
            </a:r>
            <a:r>
              <a:rPr lang="en-AU" sz="1200" i="1" kern="1200" dirty="0" smtClean="0">
                <a:solidFill>
                  <a:schemeClr val="tx1"/>
                </a:solidFill>
                <a:latin typeface="+mn-lt"/>
                <a:ea typeface="+mn-ea"/>
                <a:cs typeface="+mn-cs"/>
              </a:rPr>
              <a:t>should</a:t>
            </a:r>
            <a:r>
              <a:rPr lang="en-AU" sz="1200" kern="1200" dirty="0" smtClean="0">
                <a:solidFill>
                  <a:schemeClr val="tx1"/>
                </a:solidFill>
                <a:latin typeface="+mn-lt"/>
                <a:ea typeface="+mn-ea"/>
                <a:cs typeface="+mn-cs"/>
              </a:rPr>
              <a:t> be occurring</a:t>
            </a:r>
          </a:p>
          <a:p>
            <a:pPr lvl="1">
              <a:buFont typeface="Arial" pitchFamily="34" charset="0"/>
              <a:buChar char="•"/>
            </a:pPr>
            <a:r>
              <a:rPr lang="en-AU" sz="1200" kern="1200" dirty="0" smtClean="0">
                <a:solidFill>
                  <a:schemeClr val="tx1"/>
                </a:solidFill>
                <a:latin typeface="+mn-lt"/>
                <a:ea typeface="+mn-ea"/>
                <a:cs typeface="+mn-cs"/>
              </a:rPr>
              <a:t>Take immediate action to redress identified instances of non-compliance </a:t>
            </a:r>
          </a:p>
          <a:p>
            <a:pPr lvl="1">
              <a:buFont typeface="Arial" pitchFamily="34" charset="0"/>
              <a:buChar char="•"/>
            </a:pPr>
            <a:r>
              <a:rPr lang="en-AU" sz="1200" kern="1200" dirty="0" smtClean="0">
                <a:solidFill>
                  <a:schemeClr val="tx1"/>
                </a:solidFill>
                <a:latin typeface="+mn-lt"/>
                <a:ea typeface="+mn-ea"/>
                <a:cs typeface="+mn-cs"/>
              </a:rPr>
              <a:t>Show staff that management is interested in honouring its employment-related promises</a:t>
            </a:r>
          </a:p>
          <a:p>
            <a:pPr lvl="1">
              <a:buFont typeface="Arial" pitchFamily="34" charset="0"/>
              <a:buChar char="•"/>
            </a:pPr>
            <a:r>
              <a:rPr lang="en-AU" sz="1200" kern="1200" dirty="0" smtClean="0">
                <a:solidFill>
                  <a:schemeClr val="tx1"/>
                </a:solidFill>
                <a:latin typeface="+mn-lt"/>
                <a:ea typeface="+mn-ea"/>
                <a:cs typeface="+mn-cs"/>
              </a:rPr>
              <a:t>Encourage staff to raise incorrect/inappropriate working conditions/conditions of employment </a:t>
            </a:r>
            <a:r>
              <a:rPr lang="en-AU" sz="1200" i="1" kern="1200" dirty="0" smtClean="0">
                <a:solidFill>
                  <a:schemeClr val="tx1"/>
                </a:solidFill>
                <a:latin typeface="+mn-lt"/>
                <a:ea typeface="+mn-ea"/>
                <a:cs typeface="+mn-cs"/>
              </a:rPr>
              <a:t>on-the-spot</a:t>
            </a:r>
            <a:r>
              <a:rPr lang="en-AU" sz="1200" kern="1200" dirty="0" smtClean="0">
                <a:solidFill>
                  <a:schemeClr val="tx1"/>
                </a:solidFill>
                <a:latin typeface="+mn-lt"/>
                <a:ea typeface="+mn-ea"/>
                <a:cs typeface="+mn-cs"/>
              </a:rPr>
              <a:t> – as opposed to allowing an unsatisfactory situation to drag on.</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Government agency/authority</a:t>
            </a:r>
            <a:r>
              <a:rPr lang="en-AU" b="0" baseline="0" noProof="0" dirty="0" smtClean="0"/>
              <a:t> to attend and:</a:t>
            </a:r>
          </a:p>
          <a:p>
            <a:pPr>
              <a:buFont typeface="Arial" pitchFamily="34" charset="0"/>
              <a:buChar char="•"/>
            </a:pPr>
            <a:r>
              <a:rPr lang="en-AU" b="0" baseline="0" noProof="0" dirty="0" smtClean="0"/>
              <a:t>Highlight compliance requirements</a:t>
            </a:r>
          </a:p>
          <a:p>
            <a:pPr>
              <a:buFont typeface="Arial" pitchFamily="34" charset="0"/>
              <a:buChar char="•"/>
            </a:pPr>
            <a:r>
              <a:rPr lang="en-AU" b="0" baseline="0" noProof="0" dirty="0" smtClean="0"/>
              <a:t>Identify and provide resources available to assist</a:t>
            </a:r>
          </a:p>
          <a:p>
            <a:pPr>
              <a:buFont typeface="Arial" pitchFamily="34" charset="0"/>
              <a:buChar char="•"/>
            </a:pPr>
            <a:r>
              <a:rPr lang="en-AU" b="0" baseline="0" noProof="0" dirty="0" smtClean="0"/>
              <a:t>Describe penalties which apply for non-compliance</a:t>
            </a:r>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243804407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examples of four key checks </a:t>
            </a:r>
            <a:r>
              <a:rPr lang="en-AU" sz="1200" kern="1200" dirty="0" smtClean="0">
                <a:solidFill>
                  <a:schemeClr val="tx1"/>
                </a:solidFill>
                <a:latin typeface="+mn-lt"/>
                <a:ea typeface="+mn-ea"/>
                <a:cs typeface="+mn-cs"/>
              </a:rPr>
              <a:t>which will be effective in optimising compliance in specific areas: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latin typeface="+mn-lt"/>
                <a:ea typeface="+mn-ea"/>
                <a:cs typeface="+mn-cs"/>
              </a:rPr>
              <a:t>Checking necessary protocols are in place – see following slides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latin typeface="+mn-lt"/>
                <a:ea typeface="+mn-ea"/>
                <a:cs typeface="+mn-cs"/>
              </a:rPr>
              <a:t>Checking correct payment of wages – see following slides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latin typeface="+mn-lt"/>
                <a:ea typeface="+mn-ea"/>
                <a:cs typeface="+mn-cs"/>
              </a:rPr>
              <a:t>Checking working hours – see following slides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latin typeface="+mn-lt"/>
                <a:ea typeface="+mn-ea"/>
                <a:cs typeface="+mn-cs"/>
              </a:rPr>
              <a:t>Checking personnel records – see following slides.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112513669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key checks</a:t>
            </a:r>
          </a:p>
          <a:p>
            <a:r>
              <a:rPr lang="en-AU" sz="1200" b="1" i="1" kern="1200" dirty="0" smtClean="0">
                <a:solidFill>
                  <a:schemeClr val="tx1"/>
                </a:solidFill>
                <a:latin typeface="+mn-lt"/>
                <a:ea typeface="+mn-ea"/>
                <a:cs typeface="+mn-cs"/>
              </a:rPr>
              <a:t>Checking necessary protocols are in place</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requirement involves:</a:t>
            </a:r>
          </a:p>
          <a:p>
            <a:pPr>
              <a:buFont typeface="Arial" pitchFamily="34" charset="0"/>
              <a:buChar char="•"/>
            </a:pPr>
            <a:r>
              <a:rPr lang="en-AU" sz="1200" kern="1200" dirty="0" smtClean="0">
                <a:solidFill>
                  <a:schemeClr val="tx1"/>
                </a:solidFill>
                <a:latin typeface="+mn-lt"/>
                <a:ea typeface="+mn-ea"/>
                <a:cs typeface="+mn-cs"/>
              </a:rPr>
              <a:t>Making sure the necessary employment instruments have been drawn up – and are correctly worded to reflect agreements and legislated obligations</a:t>
            </a:r>
          </a:p>
          <a:p>
            <a:pPr>
              <a:buFont typeface="Arial" pitchFamily="34" charset="0"/>
              <a:buChar char="•"/>
            </a:pPr>
            <a:r>
              <a:rPr lang="en-AU" sz="1200" kern="1200" dirty="0" smtClean="0">
                <a:solidFill>
                  <a:schemeClr val="tx1"/>
                </a:solidFill>
                <a:latin typeface="+mn-lt"/>
                <a:ea typeface="+mn-ea"/>
                <a:cs typeface="+mn-cs"/>
              </a:rPr>
              <a:t>Verifying appropriate notification procedures have been established and are being implemented – in terms of:</a:t>
            </a:r>
          </a:p>
          <a:p>
            <a:pPr lvl="1">
              <a:buFont typeface="Arial" pitchFamily="34" charset="0"/>
              <a:buChar char="•"/>
            </a:pPr>
            <a:r>
              <a:rPr lang="en-AU" sz="1200" kern="1200" dirty="0" smtClean="0">
                <a:solidFill>
                  <a:schemeClr val="tx1"/>
                </a:solidFill>
                <a:latin typeface="+mn-lt"/>
                <a:ea typeface="+mn-ea"/>
                <a:cs typeface="+mn-cs"/>
              </a:rPr>
              <a:t>Notification of relevant details at Interview</a:t>
            </a:r>
          </a:p>
          <a:p>
            <a:pPr lvl="1">
              <a:buFont typeface="Arial" pitchFamily="34" charset="0"/>
              <a:buChar char="•"/>
            </a:pPr>
            <a:r>
              <a:rPr lang="en-AU" sz="1200" kern="1200" dirty="0" smtClean="0">
                <a:solidFill>
                  <a:schemeClr val="tx1"/>
                </a:solidFill>
                <a:latin typeface="+mn-lt"/>
                <a:ea typeface="+mn-ea"/>
                <a:cs typeface="+mn-cs"/>
              </a:rPr>
              <a:t>Additional information at Induction and Orientation</a:t>
            </a:r>
          </a:p>
          <a:p>
            <a:pPr lvl="1">
              <a:buFont typeface="Arial" pitchFamily="34" charset="0"/>
              <a:buChar char="•"/>
            </a:pPr>
            <a:r>
              <a:rPr lang="en-AU" sz="1200" kern="1200" dirty="0" smtClean="0">
                <a:solidFill>
                  <a:schemeClr val="tx1"/>
                </a:solidFill>
                <a:latin typeface="+mn-lt"/>
                <a:ea typeface="+mn-ea"/>
                <a:cs typeface="+mn-cs"/>
              </a:rPr>
              <a:t>Supplementary training – in-house via the training department or within individual operational departments</a:t>
            </a:r>
          </a:p>
          <a:p>
            <a:pPr>
              <a:buFont typeface="Arial" pitchFamily="34" charset="0"/>
              <a:buChar char="•"/>
            </a:pPr>
            <a:r>
              <a:rPr lang="en-AU" sz="1200" kern="1200" dirty="0" smtClean="0">
                <a:solidFill>
                  <a:schemeClr val="tx1"/>
                </a:solidFill>
                <a:latin typeface="+mn-lt"/>
                <a:ea typeface="+mn-ea"/>
                <a:cs typeface="+mn-cs"/>
              </a:rPr>
              <a:t>Ensuring written documentation exists and is revised regularly – with regard to:</a:t>
            </a:r>
          </a:p>
          <a:p>
            <a:pPr lvl="1">
              <a:buFont typeface="Arial" pitchFamily="34" charset="0"/>
              <a:buChar char="•"/>
            </a:pPr>
            <a:r>
              <a:rPr lang="en-AU" sz="1200" kern="1200" dirty="0" smtClean="0">
                <a:solidFill>
                  <a:schemeClr val="tx1"/>
                </a:solidFill>
                <a:latin typeface="+mn-lt"/>
                <a:ea typeface="+mn-ea"/>
                <a:cs typeface="+mn-cs"/>
              </a:rPr>
              <a:t>Applicable policies and procedures/SOPs</a:t>
            </a:r>
          </a:p>
          <a:p>
            <a:pPr lvl="1">
              <a:buFont typeface="Arial" pitchFamily="34" charset="0"/>
              <a:buChar char="•"/>
            </a:pPr>
            <a:r>
              <a:rPr lang="en-AU" sz="1200" kern="1200" dirty="0" smtClean="0">
                <a:solidFill>
                  <a:schemeClr val="tx1"/>
                </a:solidFill>
                <a:latin typeface="+mn-lt"/>
                <a:ea typeface="+mn-ea"/>
                <a:cs typeface="+mn-cs"/>
              </a:rPr>
              <a:t>Grievance and dispute resolution procedures relating to:</a:t>
            </a:r>
          </a:p>
          <a:p>
            <a:pPr lvl="2">
              <a:buFont typeface="Arial" pitchFamily="34" charset="0"/>
              <a:buChar char="•"/>
            </a:pPr>
            <a:r>
              <a:rPr lang="en-AU" sz="1200" kern="1200" dirty="0" smtClean="0">
                <a:solidFill>
                  <a:schemeClr val="tx1"/>
                </a:solidFill>
                <a:latin typeface="+mn-lt"/>
                <a:ea typeface="+mn-ea"/>
                <a:cs typeface="+mn-cs"/>
              </a:rPr>
              <a:t>Non-compliance by employer and employee with work instruments</a:t>
            </a:r>
          </a:p>
          <a:p>
            <a:pPr lvl="2">
              <a:buFont typeface="Arial" pitchFamily="34" charset="0"/>
              <a:buChar char="•"/>
            </a:pPr>
            <a:r>
              <a:rPr lang="en-AU" sz="1200" kern="1200" dirty="0" smtClean="0">
                <a:solidFill>
                  <a:schemeClr val="tx1"/>
                </a:solidFill>
                <a:latin typeface="+mn-lt"/>
                <a:ea typeface="+mn-ea"/>
                <a:cs typeface="+mn-cs"/>
              </a:rPr>
              <a:t>Investigation into issues</a:t>
            </a:r>
          </a:p>
          <a:p>
            <a:pPr lvl="2">
              <a:buFont typeface="Arial" pitchFamily="34" charset="0"/>
              <a:buChar char="•"/>
            </a:pPr>
            <a:r>
              <a:rPr lang="en-AU" sz="1200" kern="1200" dirty="0" smtClean="0">
                <a:solidFill>
                  <a:schemeClr val="tx1"/>
                </a:solidFill>
                <a:latin typeface="+mn-lt"/>
                <a:ea typeface="+mn-ea"/>
                <a:cs typeface="+mn-cs"/>
              </a:rPr>
              <a:t>Preventing recurrence of problems</a:t>
            </a:r>
          </a:p>
          <a:p>
            <a:pPr lvl="2">
              <a:buFont typeface="Arial" pitchFamily="34" charset="0"/>
              <a:buChar char="•"/>
            </a:pPr>
            <a:r>
              <a:rPr lang="en-AU" sz="1200" kern="1200" dirty="0" smtClean="0">
                <a:solidFill>
                  <a:schemeClr val="tx1"/>
                </a:solidFill>
                <a:latin typeface="+mn-lt"/>
                <a:ea typeface="+mn-ea"/>
                <a:cs typeface="+mn-cs"/>
              </a:rPr>
              <a:t>Avoidance of foreseeable issues.</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workplace employee </a:t>
            </a:r>
            <a:r>
              <a:rPr lang="en-AU" b="0" baseline="0" noProof="0" dirty="0" smtClean="0"/>
              <a:t>to attend and:</a:t>
            </a:r>
          </a:p>
          <a:p>
            <a:pPr>
              <a:buFont typeface="Arial" pitchFamily="34" charset="0"/>
              <a:buChar char="•"/>
            </a:pPr>
            <a:r>
              <a:rPr lang="en-AU" b="0" baseline="0" noProof="0" dirty="0" smtClean="0"/>
              <a:t>Discuss their conditions of employment</a:t>
            </a:r>
          </a:p>
          <a:p>
            <a:pPr>
              <a:buFont typeface="Arial" pitchFamily="34" charset="0"/>
              <a:buChar char="•"/>
            </a:pPr>
            <a:r>
              <a:rPr lang="en-AU" b="0" baseline="0" noProof="0" dirty="0" smtClean="0"/>
              <a:t>Explain their expectations in relation to receiving promised/mandated entitlements</a:t>
            </a:r>
          </a:p>
          <a:p>
            <a:pPr>
              <a:buFont typeface="Arial" pitchFamily="34" charset="0"/>
              <a:buChar char="•"/>
            </a:pPr>
            <a:r>
              <a:rPr lang="en-AU" b="0" baseline="0" noProof="0" dirty="0" smtClean="0"/>
              <a:t>Discuss their response if entitlements are not provided.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286810306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discuss key checks</a:t>
            </a:r>
          </a:p>
          <a:p>
            <a:r>
              <a:rPr lang="en-AU" sz="1200" b="1" i="1" kern="1200" dirty="0" smtClean="0">
                <a:solidFill>
                  <a:schemeClr val="tx1"/>
                </a:solidFill>
                <a:latin typeface="+mn-lt"/>
                <a:ea typeface="+mn-ea"/>
                <a:cs typeface="+mn-cs"/>
              </a:rPr>
              <a:t>Checking correct payment of wages</a:t>
            </a:r>
          </a:p>
          <a:p>
            <a:r>
              <a:rPr lang="en-AU" sz="1200" kern="1200" dirty="0" smtClean="0">
                <a:solidFill>
                  <a:schemeClr val="tx1"/>
                </a:solidFill>
                <a:latin typeface="+mn-lt"/>
                <a:ea typeface="+mn-ea"/>
                <a:cs typeface="+mn-cs"/>
              </a:rPr>
              <a:t>This is done to make sure:</a:t>
            </a:r>
          </a:p>
          <a:p>
            <a:pPr>
              <a:buFont typeface="Arial" pitchFamily="34" charset="0"/>
              <a:buChar char="•"/>
            </a:pPr>
            <a:r>
              <a:rPr lang="en-AU" sz="1200" kern="1200" dirty="0" smtClean="0">
                <a:solidFill>
                  <a:schemeClr val="tx1"/>
                </a:solidFill>
                <a:latin typeface="+mn-lt"/>
                <a:ea typeface="+mn-ea"/>
                <a:cs typeface="+mn-cs"/>
              </a:rPr>
              <a:t>Employees are receiving the correct wages to which they are entitled</a:t>
            </a:r>
          </a:p>
          <a:p>
            <a:pPr>
              <a:buFont typeface="Arial" pitchFamily="34" charset="0"/>
              <a:buChar char="•"/>
            </a:pPr>
            <a:r>
              <a:rPr lang="en-AU" sz="1200" kern="1200" dirty="0" smtClean="0">
                <a:solidFill>
                  <a:schemeClr val="tx1"/>
                </a:solidFill>
                <a:latin typeface="+mn-lt"/>
                <a:ea typeface="+mn-ea"/>
                <a:cs typeface="+mn-cs"/>
              </a:rPr>
              <a:t>The organisation is not paying staff money to which they are not entitled.</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422361081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discuss key checks</a:t>
            </a:r>
          </a:p>
          <a:p>
            <a:r>
              <a:rPr lang="en-AU" sz="1200" b="1" i="1" kern="1200" dirty="0" smtClean="0">
                <a:solidFill>
                  <a:schemeClr val="tx1"/>
                </a:solidFill>
                <a:latin typeface="+mn-lt"/>
                <a:ea typeface="+mn-ea"/>
                <a:cs typeface="+mn-cs"/>
              </a:rPr>
              <a:t>Checking correct payment of wages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Managers/supervisors could/should:</a:t>
            </a:r>
          </a:p>
          <a:p>
            <a:pPr>
              <a:buFont typeface="Arial" pitchFamily="34" charset="0"/>
              <a:buChar char="•"/>
            </a:pPr>
            <a:r>
              <a:rPr lang="en-AU" sz="1200" kern="1200" dirty="0" smtClean="0">
                <a:solidFill>
                  <a:schemeClr val="tx1"/>
                </a:solidFill>
                <a:latin typeface="+mn-lt"/>
                <a:ea typeface="+mn-ea"/>
                <a:cs typeface="+mn-cs"/>
              </a:rPr>
              <a:t>Select one or two staff members who have just completed a rostered period of work – such as a week or a fortnight</a:t>
            </a:r>
          </a:p>
          <a:p>
            <a:pPr>
              <a:buFont typeface="Arial" pitchFamily="34" charset="0"/>
              <a:buChar char="•"/>
            </a:pPr>
            <a:r>
              <a:rPr lang="en-AU" sz="1200" kern="1200" dirty="0" smtClean="0">
                <a:solidFill>
                  <a:schemeClr val="tx1"/>
                </a:solidFill>
                <a:latin typeface="+mn-lt"/>
                <a:ea typeface="+mn-ea"/>
                <a:cs typeface="+mn-cs"/>
              </a:rPr>
              <a:t>Use roster to determine hours staff were required to work taking into account hours which attracted penalty rates:</a:t>
            </a:r>
          </a:p>
          <a:p>
            <a:pPr lvl="1">
              <a:buFont typeface="Arial" pitchFamily="34" charset="0"/>
              <a:buChar char="•"/>
            </a:pPr>
            <a:r>
              <a:rPr lang="en-AU" sz="1200" kern="1200" dirty="0" smtClean="0">
                <a:solidFill>
                  <a:schemeClr val="tx1"/>
                </a:solidFill>
                <a:latin typeface="+mn-lt"/>
                <a:ea typeface="+mn-ea"/>
                <a:cs typeface="+mn-cs"/>
              </a:rPr>
              <a:t>Early starts and/or late finishes </a:t>
            </a:r>
          </a:p>
          <a:p>
            <a:pPr lvl="1">
              <a:buFont typeface="Arial" pitchFamily="34" charset="0"/>
              <a:buChar char="•"/>
            </a:pPr>
            <a:r>
              <a:rPr lang="en-AU" sz="1200" kern="1200" dirty="0" smtClean="0">
                <a:solidFill>
                  <a:schemeClr val="tx1"/>
                </a:solidFill>
                <a:latin typeface="+mn-lt"/>
                <a:ea typeface="+mn-ea"/>
                <a:cs typeface="+mn-cs"/>
              </a:rPr>
              <a:t>Weekend work or work performed on Public Holidays</a:t>
            </a:r>
          </a:p>
          <a:p>
            <a:pPr>
              <a:buFont typeface="Arial" pitchFamily="34" charset="0"/>
              <a:buChar char="•"/>
            </a:pPr>
            <a:r>
              <a:rPr lang="en-AU" sz="1200" kern="1200" dirty="0" smtClean="0">
                <a:solidFill>
                  <a:schemeClr val="tx1"/>
                </a:solidFill>
                <a:latin typeface="+mn-lt"/>
                <a:ea typeface="+mn-ea"/>
                <a:cs typeface="+mn-cs"/>
              </a:rPr>
              <a:t>Compare these calculated hours against the timesheet the employee filled in and signed – to determine the accuracy of the hours claimed against the hours actually worked, and the hours rostered to work</a:t>
            </a:r>
          </a:p>
          <a:p>
            <a:pPr>
              <a:buFont typeface="Arial" pitchFamily="34" charset="0"/>
              <a:buChar char="•"/>
            </a:pPr>
            <a:r>
              <a:rPr lang="en-AU" sz="1200" kern="1200" dirty="0" smtClean="0">
                <a:solidFill>
                  <a:schemeClr val="tx1"/>
                </a:solidFill>
                <a:latin typeface="+mn-lt"/>
                <a:ea typeface="+mn-ea"/>
                <a:cs typeface="+mn-cs"/>
              </a:rPr>
              <a:t>Use pay rates contained in Award/agreement to calculate wages for period – factoring in:</a:t>
            </a:r>
          </a:p>
          <a:p>
            <a:pPr lvl="1">
              <a:buFont typeface="Arial" pitchFamily="34" charset="0"/>
              <a:buChar char="•"/>
            </a:pPr>
            <a:r>
              <a:rPr lang="en-AU" sz="1200" kern="1200" dirty="0" smtClean="0">
                <a:solidFill>
                  <a:schemeClr val="tx1"/>
                </a:solidFill>
                <a:latin typeface="+mn-lt"/>
                <a:ea typeface="+mn-ea"/>
                <a:cs typeface="+mn-cs"/>
              </a:rPr>
              <a:t>All legitimate allowances –for example:</a:t>
            </a:r>
          </a:p>
          <a:p>
            <a:pPr lvl="2">
              <a:buFont typeface="Arial" pitchFamily="34" charset="0"/>
              <a:buChar char="•"/>
            </a:pPr>
            <a:r>
              <a:rPr lang="en-AU" sz="1200" kern="1200" dirty="0" smtClean="0">
                <a:solidFill>
                  <a:schemeClr val="tx1"/>
                </a:solidFill>
                <a:latin typeface="+mn-lt"/>
                <a:ea typeface="+mn-ea"/>
                <a:cs typeface="+mn-cs"/>
              </a:rPr>
              <a:t>Higher duties performed</a:t>
            </a:r>
          </a:p>
          <a:p>
            <a:pPr lvl="2">
              <a:buFont typeface="Arial" pitchFamily="34" charset="0"/>
              <a:buChar char="•"/>
            </a:pPr>
            <a:r>
              <a:rPr lang="en-AU" sz="1200" kern="1200" dirty="0" smtClean="0">
                <a:solidFill>
                  <a:schemeClr val="tx1"/>
                </a:solidFill>
                <a:latin typeface="+mn-lt"/>
                <a:ea typeface="+mn-ea"/>
                <a:cs typeface="+mn-cs"/>
              </a:rPr>
              <a:t>Certification held</a:t>
            </a:r>
          </a:p>
          <a:p>
            <a:pPr lvl="2">
              <a:buFont typeface="Arial" pitchFamily="34" charset="0"/>
              <a:buChar char="•"/>
            </a:pPr>
            <a:r>
              <a:rPr lang="en-AU" sz="1200" kern="1200" dirty="0" smtClean="0">
                <a:solidFill>
                  <a:schemeClr val="tx1"/>
                </a:solidFill>
                <a:latin typeface="+mn-lt"/>
                <a:ea typeface="+mn-ea"/>
                <a:cs typeface="+mn-cs"/>
              </a:rPr>
              <a:t>Use of own tools/equipment</a:t>
            </a:r>
          </a:p>
          <a:p>
            <a:pPr lvl="1">
              <a:buFont typeface="Arial" pitchFamily="34" charset="0"/>
              <a:buChar char="•"/>
            </a:pPr>
            <a:r>
              <a:rPr lang="en-AU" sz="1200" kern="1200" dirty="0" smtClean="0">
                <a:solidFill>
                  <a:schemeClr val="tx1"/>
                </a:solidFill>
                <a:latin typeface="+mn-lt"/>
                <a:ea typeface="+mn-ea"/>
                <a:cs typeface="+mn-cs"/>
              </a:rPr>
              <a:t>All allowable penalties – see previous, plus things such as:</a:t>
            </a:r>
          </a:p>
          <a:p>
            <a:pPr lvl="2">
              <a:buFont typeface="Arial" pitchFamily="34" charset="0"/>
              <a:buChar char="•"/>
            </a:pPr>
            <a:r>
              <a:rPr lang="en-AU" sz="1200" kern="1200" dirty="0" smtClean="0">
                <a:solidFill>
                  <a:schemeClr val="tx1"/>
                </a:solidFill>
                <a:latin typeface="+mn-lt"/>
                <a:ea typeface="+mn-ea"/>
                <a:cs typeface="+mn-cs"/>
              </a:rPr>
              <a:t>Working beyond scheduled break times</a:t>
            </a:r>
          </a:p>
          <a:p>
            <a:pPr lvl="2">
              <a:buFont typeface="Arial" pitchFamily="34" charset="0"/>
              <a:buChar char="•"/>
            </a:pPr>
            <a:r>
              <a:rPr lang="en-AU" sz="1200" kern="1200" dirty="0" smtClean="0">
                <a:solidFill>
                  <a:schemeClr val="tx1"/>
                </a:solidFill>
                <a:latin typeface="+mn-lt"/>
                <a:ea typeface="+mn-ea"/>
                <a:cs typeface="+mn-cs"/>
              </a:rPr>
              <a:t>Insufficient rest periods between shifts</a:t>
            </a:r>
          </a:p>
          <a:p>
            <a:pPr>
              <a:buFont typeface="Arial" pitchFamily="34" charset="0"/>
              <a:buChar char="•"/>
            </a:pPr>
            <a:r>
              <a:rPr lang="en-AU" sz="1200" kern="1200" dirty="0" smtClean="0">
                <a:solidFill>
                  <a:schemeClr val="tx1"/>
                </a:solidFill>
                <a:latin typeface="+mn-lt"/>
                <a:ea typeface="+mn-ea"/>
                <a:cs typeface="+mn-cs"/>
              </a:rPr>
              <a:t>Compare this figure against the figure calculated by the HR department/Payroll section – to check the wages being paid actually match the wages which should be paid </a:t>
            </a:r>
          </a:p>
          <a:p>
            <a:pPr>
              <a:buFont typeface="Arial" pitchFamily="34" charset="0"/>
              <a:buChar char="•"/>
            </a:pPr>
            <a:r>
              <a:rPr lang="en-AU" sz="1200" kern="1200" dirty="0" smtClean="0">
                <a:solidFill>
                  <a:schemeClr val="tx1"/>
                </a:solidFill>
                <a:latin typeface="+mn-lt"/>
                <a:ea typeface="+mn-ea"/>
                <a:cs typeface="+mn-cs"/>
              </a:rPr>
              <a:t>Take corrective immediately to address any identified problem – this may mean:</a:t>
            </a:r>
          </a:p>
          <a:p>
            <a:pPr lvl="1">
              <a:buFont typeface="Arial" pitchFamily="34" charset="0"/>
              <a:buChar char="•"/>
            </a:pPr>
            <a:r>
              <a:rPr lang="en-AU" sz="1200" kern="1200" dirty="0" smtClean="0">
                <a:solidFill>
                  <a:schemeClr val="tx1"/>
                </a:solidFill>
                <a:latin typeface="+mn-lt"/>
                <a:ea typeface="+mn-ea"/>
                <a:cs typeface="+mn-cs"/>
              </a:rPr>
              <a:t>Advising staff – in matters such as:</a:t>
            </a:r>
          </a:p>
          <a:p>
            <a:pPr lvl="2">
              <a:buFont typeface="Arial" pitchFamily="34" charset="0"/>
              <a:buChar char="•"/>
            </a:pPr>
            <a:r>
              <a:rPr lang="en-AU" sz="1200" kern="1200" dirty="0" smtClean="0">
                <a:solidFill>
                  <a:schemeClr val="tx1"/>
                </a:solidFill>
                <a:latin typeface="+mn-lt"/>
                <a:ea typeface="+mn-ea"/>
                <a:cs typeface="+mn-cs"/>
              </a:rPr>
              <a:t>Correct completion of time sheets</a:t>
            </a:r>
          </a:p>
          <a:p>
            <a:pPr lvl="2">
              <a:buFont typeface="Arial" pitchFamily="34" charset="0"/>
              <a:buChar char="•"/>
            </a:pPr>
            <a:r>
              <a:rPr lang="en-AU" sz="1200" kern="1200" dirty="0" smtClean="0">
                <a:solidFill>
                  <a:schemeClr val="tx1"/>
                </a:solidFill>
                <a:latin typeface="+mn-lt"/>
                <a:ea typeface="+mn-ea"/>
                <a:cs typeface="+mn-cs"/>
              </a:rPr>
              <a:t>Adhering to/only claiming hours rostered to work and not claiming hours not listed on roster</a:t>
            </a:r>
          </a:p>
          <a:p>
            <a:pPr lvl="2">
              <a:buFont typeface="Arial" pitchFamily="34" charset="0"/>
              <a:buChar char="•"/>
            </a:pPr>
            <a:r>
              <a:rPr lang="en-AU" sz="1200" kern="1200" dirty="0" smtClean="0">
                <a:solidFill>
                  <a:schemeClr val="tx1"/>
                </a:solidFill>
                <a:latin typeface="+mn-lt"/>
                <a:ea typeface="+mn-ea"/>
                <a:cs typeface="+mn-cs"/>
              </a:rPr>
              <a:t>Taking breaks when scheduled</a:t>
            </a:r>
          </a:p>
          <a:p>
            <a:pPr lvl="1">
              <a:buFont typeface="Arial" pitchFamily="34" charset="0"/>
              <a:buChar char="•"/>
            </a:pPr>
            <a:r>
              <a:rPr lang="en-AU" sz="1200" kern="1200" dirty="0" smtClean="0">
                <a:solidFill>
                  <a:schemeClr val="tx1"/>
                </a:solidFill>
                <a:latin typeface="+mn-lt"/>
                <a:ea typeface="+mn-ea"/>
                <a:cs typeface="+mn-cs"/>
              </a:rPr>
              <a:t>Revising rostering strategies – to:</a:t>
            </a:r>
          </a:p>
          <a:p>
            <a:pPr lvl="2">
              <a:buFont typeface="Arial" pitchFamily="34" charset="0"/>
              <a:buChar char="•"/>
            </a:pPr>
            <a:r>
              <a:rPr lang="en-AU" sz="1200" kern="1200" dirty="0" smtClean="0">
                <a:solidFill>
                  <a:schemeClr val="tx1"/>
                </a:solidFill>
                <a:latin typeface="+mn-lt"/>
                <a:ea typeface="+mn-ea"/>
                <a:cs typeface="+mn-cs"/>
              </a:rPr>
              <a:t>Comply with requirements</a:t>
            </a:r>
          </a:p>
          <a:p>
            <a:pPr lvl="2">
              <a:buFont typeface="Arial" pitchFamily="34" charset="0"/>
              <a:buChar char="•"/>
            </a:pPr>
            <a:r>
              <a:rPr lang="en-AU" sz="1200" kern="1200" dirty="0" smtClean="0">
                <a:solidFill>
                  <a:schemeClr val="tx1"/>
                </a:solidFill>
                <a:latin typeface="+mn-lt"/>
                <a:ea typeface="+mn-ea"/>
                <a:cs typeface="+mn-cs"/>
              </a:rPr>
              <a:t>Be more cost effective</a:t>
            </a:r>
          </a:p>
          <a:p>
            <a:pPr lvl="1">
              <a:buFont typeface="Arial" pitchFamily="34" charset="0"/>
              <a:buChar char="•"/>
            </a:pPr>
            <a:r>
              <a:rPr lang="en-AU" sz="1200" kern="1200" dirty="0" smtClean="0">
                <a:solidFill>
                  <a:schemeClr val="tx1"/>
                </a:solidFill>
                <a:latin typeface="+mn-lt"/>
                <a:ea typeface="+mn-ea"/>
                <a:cs typeface="+mn-cs"/>
              </a:rPr>
              <a:t>Notifying HR/payroll – about, as appropriate:</a:t>
            </a:r>
          </a:p>
          <a:p>
            <a:pPr lvl="2">
              <a:buFont typeface="Arial" pitchFamily="34" charset="0"/>
              <a:buChar char="•"/>
            </a:pPr>
            <a:r>
              <a:rPr lang="en-AU" sz="1200" kern="1200" dirty="0" smtClean="0">
                <a:solidFill>
                  <a:schemeClr val="tx1"/>
                </a:solidFill>
                <a:latin typeface="+mn-lt"/>
                <a:ea typeface="+mn-ea"/>
                <a:cs typeface="+mn-cs"/>
              </a:rPr>
              <a:t>Need to change pay rates for staff to reflect what should be paid – where incorrect rates are being paid</a:t>
            </a:r>
          </a:p>
          <a:p>
            <a:pPr lvl="2">
              <a:buFont typeface="Arial" pitchFamily="34" charset="0"/>
              <a:buChar char="•"/>
            </a:pPr>
            <a:r>
              <a:rPr lang="en-AU" sz="1200" kern="1200" dirty="0" smtClean="0">
                <a:solidFill>
                  <a:schemeClr val="tx1"/>
                </a:solidFill>
                <a:latin typeface="+mn-lt"/>
                <a:ea typeface="+mn-ea"/>
                <a:cs typeface="+mn-cs"/>
              </a:rPr>
              <a:t>Need to include/ remove payment/s of penalties/allowances from staff – as necessary.</a:t>
            </a:r>
          </a:p>
          <a:p>
            <a:pPr>
              <a:buFont typeface="Arial" pitchFamily="34" charset="0"/>
              <a:buNone/>
            </a:pPr>
            <a:endParaRPr lang="en-AU" noProof="0" dirty="0" smtClean="0"/>
          </a:p>
          <a:p>
            <a:pPr>
              <a:buFont typeface="Arial" pitchFamily="34" charset="0"/>
              <a:buNone/>
            </a:pPr>
            <a:r>
              <a:rPr lang="en-AU" b="1" noProof="0" dirty="0" smtClean="0"/>
              <a:t>Classroom Activity – Exercise</a:t>
            </a:r>
          </a:p>
          <a:p>
            <a:pPr>
              <a:buFont typeface="Arial" pitchFamily="34" charset="0"/>
              <a:buNone/>
            </a:pPr>
            <a:r>
              <a:rPr lang="en-AU" b="0" noProof="0" dirty="0" smtClean="0"/>
              <a:t>Trainer provides pay rates and roster information to enable students to calculate wages (as described on slide) for nominated employees.</a:t>
            </a:r>
          </a:p>
          <a:p>
            <a:pPr>
              <a:buFont typeface="Arial" pitchFamily="34" charset="0"/>
              <a:buChar char="•"/>
            </a:pP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288381485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discuss key checks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i="1" kern="1200" dirty="0" smtClean="0">
                <a:solidFill>
                  <a:schemeClr val="tx1"/>
                </a:solidFill>
                <a:latin typeface="+mn-lt"/>
                <a:ea typeface="+mn-ea"/>
                <a:cs typeface="+mn-cs"/>
              </a:rPr>
              <a:t>Checking working hours</a:t>
            </a:r>
          </a:p>
          <a:p>
            <a:r>
              <a:rPr lang="en-AU" sz="1200" kern="1200" dirty="0" smtClean="0">
                <a:solidFill>
                  <a:schemeClr val="tx1"/>
                </a:solidFill>
                <a:latin typeface="+mn-lt"/>
                <a:ea typeface="+mn-ea"/>
                <a:cs typeface="+mn-cs"/>
              </a:rPr>
              <a:t>This is done to make sure:</a:t>
            </a:r>
          </a:p>
          <a:p>
            <a:pPr>
              <a:buFont typeface="Arial" pitchFamily="34" charset="0"/>
              <a:buChar char="•"/>
            </a:pPr>
            <a:r>
              <a:rPr lang="en-AU" sz="1200" kern="1200" dirty="0" smtClean="0">
                <a:solidFill>
                  <a:schemeClr val="tx1"/>
                </a:solidFill>
                <a:latin typeface="+mn-lt"/>
                <a:ea typeface="+mn-ea"/>
                <a:cs typeface="+mn-cs"/>
              </a:rPr>
              <a:t>Employees are working hours in accordance with the Award/work agreement under which they were employed</a:t>
            </a:r>
          </a:p>
          <a:p>
            <a:pPr>
              <a:buFont typeface="Arial" pitchFamily="34" charset="0"/>
              <a:buChar char="•"/>
            </a:pPr>
            <a:r>
              <a:rPr lang="en-AU" sz="1200" kern="1200" dirty="0" smtClean="0">
                <a:solidFill>
                  <a:schemeClr val="tx1"/>
                </a:solidFill>
                <a:latin typeface="+mn-lt"/>
                <a:ea typeface="+mn-ea"/>
                <a:cs typeface="+mn-cs"/>
              </a:rPr>
              <a:t>The organisation does not incur additional/avoidable labour costs</a:t>
            </a:r>
          </a:p>
          <a:p>
            <a:pPr>
              <a:buFont typeface="Arial" pitchFamily="34" charset="0"/>
              <a:buChar char="•"/>
            </a:pPr>
            <a:r>
              <a:rPr lang="en-AU" sz="1200" kern="1200" dirty="0" smtClean="0">
                <a:solidFill>
                  <a:schemeClr val="tx1"/>
                </a:solidFill>
                <a:latin typeface="+mn-lt"/>
                <a:ea typeface="+mn-ea"/>
                <a:cs typeface="+mn-cs"/>
              </a:rPr>
              <a:t>The person drawing up the staff roster is doing so in accordance with relevant Awards/work agreements.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74206890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discuss key checks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i="1" kern="1200" dirty="0" smtClean="0">
                <a:solidFill>
                  <a:schemeClr val="tx1"/>
                </a:solidFill>
                <a:latin typeface="+mn-lt"/>
                <a:ea typeface="+mn-ea"/>
                <a:cs typeface="+mn-cs"/>
              </a:rPr>
              <a:t>Checking working hours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Managers/supervisors could/should:</a:t>
            </a:r>
          </a:p>
          <a:p>
            <a:pPr>
              <a:buFont typeface="Arial" pitchFamily="34" charset="0"/>
              <a:buChar char="•"/>
            </a:pPr>
            <a:r>
              <a:rPr lang="en-AU" sz="1200" kern="1200" dirty="0" smtClean="0">
                <a:solidFill>
                  <a:schemeClr val="tx1"/>
                </a:solidFill>
                <a:latin typeface="+mn-lt"/>
                <a:ea typeface="+mn-ea"/>
                <a:cs typeface="+mn-cs"/>
              </a:rPr>
              <a:t>Select several staff who have just completed a week or fortnight’s work</a:t>
            </a:r>
          </a:p>
          <a:p>
            <a:pPr>
              <a:buFont typeface="Arial" pitchFamily="34" charset="0"/>
              <a:buChar char="•"/>
            </a:pPr>
            <a:r>
              <a:rPr lang="en-AU" sz="1200" kern="1200" dirty="0" smtClean="0">
                <a:solidFill>
                  <a:schemeClr val="tx1"/>
                </a:solidFill>
                <a:latin typeface="+mn-lt"/>
                <a:ea typeface="+mn-ea"/>
                <a:cs typeface="+mn-cs"/>
              </a:rPr>
              <a:t>Look at the rosters for these employees – to determine:</a:t>
            </a:r>
          </a:p>
          <a:p>
            <a:pPr lvl="1">
              <a:buFont typeface="Arial" pitchFamily="34" charset="0"/>
              <a:buChar char="•"/>
            </a:pPr>
            <a:r>
              <a:rPr lang="en-AU" sz="1200" kern="1200" dirty="0" smtClean="0">
                <a:solidFill>
                  <a:schemeClr val="tx1"/>
                </a:solidFill>
                <a:latin typeface="+mn-lt"/>
                <a:ea typeface="+mn-ea"/>
                <a:cs typeface="+mn-cs"/>
              </a:rPr>
              <a:t>When they started work</a:t>
            </a:r>
          </a:p>
          <a:p>
            <a:pPr lvl="1">
              <a:buFont typeface="Arial" pitchFamily="34" charset="0"/>
              <a:buChar char="•"/>
            </a:pPr>
            <a:r>
              <a:rPr lang="en-AU" sz="1200" kern="1200" dirty="0" smtClean="0">
                <a:solidFill>
                  <a:schemeClr val="tx1"/>
                </a:solidFill>
                <a:latin typeface="+mn-lt"/>
                <a:ea typeface="+mn-ea"/>
                <a:cs typeface="+mn-cs"/>
              </a:rPr>
              <a:t>When breaks were taken</a:t>
            </a:r>
          </a:p>
          <a:p>
            <a:pPr lvl="1">
              <a:buFont typeface="Arial" pitchFamily="34" charset="0"/>
              <a:buChar char="•"/>
            </a:pPr>
            <a:r>
              <a:rPr lang="en-AU" sz="1200" kern="1200" dirty="0" smtClean="0">
                <a:solidFill>
                  <a:schemeClr val="tx1"/>
                </a:solidFill>
                <a:latin typeface="+mn-lt"/>
                <a:ea typeface="+mn-ea"/>
                <a:cs typeface="+mn-cs"/>
              </a:rPr>
              <a:t>When they finished work</a:t>
            </a:r>
          </a:p>
          <a:p>
            <a:pPr>
              <a:buFont typeface="Arial" pitchFamily="34" charset="0"/>
              <a:buChar char="•"/>
            </a:pPr>
            <a:r>
              <a:rPr lang="en-AU" sz="1200" kern="1200" dirty="0" smtClean="0">
                <a:solidFill>
                  <a:schemeClr val="tx1"/>
                </a:solidFill>
                <a:latin typeface="+mn-lt"/>
                <a:ea typeface="+mn-ea"/>
                <a:cs typeface="+mn-cs"/>
              </a:rPr>
              <a:t>Compare the identified times with the requirements of the applicable Awards/work agreements – to verify compliance with requirements, or identify problems in relation to:</a:t>
            </a:r>
          </a:p>
          <a:p>
            <a:pPr lvl="1">
              <a:buFont typeface="Arial" pitchFamily="34" charset="0"/>
              <a:buChar char="•"/>
            </a:pPr>
            <a:r>
              <a:rPr lang="en-AU" sz="1200" kern="1200" dirty="0" smtClean="0">
                <a:solidFill>
                  <a:schemeClr val="tx1"/>
                </a:solidFill>
                <a:latin typeface="+mn-lt"/>
                <a:ea typeface="+mn-ea"/>
                <a:cs typeface="+mn-cs"/>
              </a:rPr>
              <a:t>When rest breaks were taken</a:t>
            </a:r>
          </a:p>
          <a:p>
            <a:pPr lvl="1">
              <a:buFont typeface="Arial" pitchFamily="34" charset="0"/>
              <a:buChar char="•"/>
            </a:pPr>
            <a:r>
              <a:rPr lang="en-AU" sz="1200" kern="1200" dirty="0" smtClean="0">
                <a:solidFill>
                  <a:schemeClr val="tx1"/>
                </a:solidFill>
                <a:latin typeface="+mn-lt"/>
                <a:ea typeface="+mn-ea"/>
                <a:cs typeface="+mn-cs"/>
              </a:rPr>
              <a:t>When meal breaks were taken</a:t>
            </a:r>
          </a:p>
          <a:p>
            <a:pPr lvl="1">
              <a:buFont typeface="Arial" pitchFamily="34" charset="0"/>
              <a:buChar char="•"/>
            </a:pPr>
            <a:r>
              <a:rPr lang="en-AU" sz="1200" kern="1200" dirty="0" smtClean="0">
                <a:solidFill>
                  <a:schemeClr val="tx1"/>
                </a:solidFill>
                <a:latin typeface="+mn-lt"/>
                <a:ea typeface="+mn-ea"/>
                <a:cs typeface="+mn-cs"/>
              </a:rPr>
              <a:t>Duration of these breaks</a:t>
            </a:r>
          </a:p>
          <a:p>
            <a:pPr lvl="1">
              <a:buFont typeface="Arial" pitchFamily="34" charset="0"/>
              <a:buChar char="•"/>
            </a:pPr>
            <a:r>
              <a:rPr lang="en-AU" sz="1200" kern="1200" dirty="0" smtClean="0">
                <a:solidFill>
                  <a:schemeClr val="tx1"/>
                </a:solidFill>
                <a:latin typeface="+mn-lt"/>
                <a:ea typeface="+mn-ea"/>
                <a:cs typeface="+mn-cs"/>
              </a:rPr>
              <a:t>Hours worked within designated spread of hours</a:t>
            </a:r>
          </a:p>
          <a:p>
            <a:pPr lvl="1">
              <a:buFont typeface="Arial" pitchFamily="34" charset="0"/>
              <a:buChar char="•"/>
            </a:pPr>
            <a:r>
              <a:rPr lang="en-AU" sz="1200" kern="1200" dirty="0" smtClean="0">
                <a:solidFill>
                  <a:schemeClr val="tx1"/>
                </a:solidFill>
                <a:latin typeface="+mn-lt"/>
                <a:ea typeface="+mn-ea"/>
                <a:cs typeface="+mn-cs"/>
              </a:rPr>
              <a:t>Break between shifts</a:t>
            </a:r>
          </a:p>
          <a:p>
            <a:pPr>
              <a:buFont typeface="Arial" pitchFamily="34" charset="0"/>
              <a:buChar char="•"/>
            </a:pPr>
            <a:r>
              <a:rPr lang="en-AU" sz="1200" kern="1200" dirty="0" smtClean="0">
                <a:solidFill>
                  <a:schemeClr val="tx1"/>
                </a:solidFill>
                <a:latin typeface="+mn-lt"/>
                <a:ea typeface="+mn-ea"/>
                <a:cs typeface="+mn-cs"/>
              </a:rPr>
              <a:t>Take remedial action as required – which could require:</a:t>
            </a:r>
          </a:p>
          <a:p>
            <a:pPr lvl="1">
              <a:buFont typeface="Arial" pitchFamily="34" charset="0"/>
              <a:buChar char="•"/>
            </a:pPr>
            <a:r>
              <a:rPr lang="en-AU" sz="1200" kern="1200" dirty="0" smtClean="0">
                <a:solidFill>
                  <a:schemeClr val="tx1"/>
                </a:solidFill>
                <a:latin typeface="+mn-lt"/>
                <a:ea typeface="+mn-ea"/>
                <a:cs typeface="+mn-cs"/>
              </a:rPr>
              <a:t>Adjusting payments to staff to reflect actual hours worked rather than rostered hours</a:t>
            </a:r>
          </a:p>
          <a:p>
            <a:pPr lvl="1">
              <a:buFont typeface="Arial" pitchFamily="34" charset="0"/>
              <a:buChar char="•"/>
            </a:pPr>
            <a:r>
              <a:rPr lang="en-AU" sz="1200" kern="1200" dirty="0" smtClean="0">
                <a:solidFill>
                  <a:schemeClr val="tx1"/>
                </a:solidFill>
                <a:latin typeface="+mn-lt"/>
                <a:ea typeface="+mn-ea"/>
                <a:cs typeface="+mn-cs"/>
              </a:rPr>
              <a:t>Stressing to supervisors that staff must take breaks at rostered times</a:t>
            </a:r>
          </a:p>
          <a:p>
            <a:pPr lvl="1">
              <a:buFont typeface="Arial" pitchFamily="34" charset="0"/>
              <a:buChar char="•"/>
            </a:pPr>
            <a:r>
              <a:rPr lang="en-AU" sz="1200" kern="1200" dirty="0" smtClean="0">
                <a:solidFill>
                  <a:schemeClr val="tx1"/>
                </a:solidFill>
                <a:latin typeface="+mn-lt"/>
                <a:ea typeface="+mn-ea"/>
                <a:cs typeface="+mn-cs"/>
              </a:rPr>
              <a:t>Re-training person who draws up the rosters</a:t>
            </a:r>
          </a:p>
          <a:p>
            <a:pPr lvl="1">
              <a:buFont typeface="Arial" pitchFamily="34" charset="0"/>
              <a:buChar char="•"/>
            </a:pPr>
            <a:r>
              <a:rPr lang="en-AU" sz="1200" kern="1200" dirty="0" smtClean="0">
                <a:solidFill>
                  <a:schemeClr val="tx1"/>
                </a:solidFill>
                <a:latin typeface="+mn-lt"/>
                <a:ea typeface="+mn-ea"/>
                <a:cs typeface="+mn-cs"/>
              </a:rPr>
              <a:t>Revising rosters</a:t>
            </a:r>
          </a:p>
          <a:p>
            <a:pPr lvl="1">
              <a:buFont typeface="Arial" pitchFamily="34" charset="0"/>
              <a:buChar char="•"/>
            </a:pPr>
            <a:r>
              <a:rPr lang="en-AU" sz="1200" kern="1200" dirty="0" smtClean="0">
                <a:solidFill>
                  <a:schemeClr val="tx1"/>
                </a:solidFill>
                <a:latin typeface="+mn-lt"/>
                <a:ea typeface="+mn-ea"/>
                <a:cs typeface="+mn-cs"/>
              </a:rPr>
              <a:t>Employing more staff.</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Union representative to attend and:</a:t>
            </a:r>
          </a:p>
          <a:p>
            <a:pPr>
              <a:buFont typeface="Arial" pitchFamily="34" charset="0"/>
              <a:buChar char="•"/>
            </a:pPr>
            <a:r>
              <a:rPr lang="en-AU" b="0" noProof="0" dirty="0" smtClean="0"/>
              <a:t>Discuss what they see as levels of compliance</a:t>
            </a:r>
          </a:p>
          <a:p>
            <a:pPr>
              <a:buFont typeface="Arial" pitchFamily="34" charset="0"/>
              <a:buChar char="•"/>
            </a:pPr>
            <a:r>
              <a:rPr lang="en-AU" b="0" noProof="0" dirty="0" smtClean="0"/>
              <a:t>Explain their role</a:t>
            </a:r>
            <a:r>
              <a:rPr lang="en-AU" b="0" baseline="0" noProof="0" dirty="0" smtClean="0"/>
              <a:t> in addressing instances of non-compliance</a:t>
            </a:r>
          </a:p>
          <a:p>
            <a:pPr>
              <a:buFont typeface="Arial" pitchFamily="34" charset="0"/>
              <a:buChar char="•"/>
            </a:pPr>
            <a:r>
              <a:rPr lang="en-AU" b="0" baseline="0" noProof="0" dirty="0" smtClean="0"/>
              <a:t>Identify action available to employees where there is failure to comply with requirements.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83332074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discuss key checks</a:t>
            </a:r>
          </a:p>
          <a:p>
            <a:r>
              <a:rPr lang="en-AU" sz="1200" b="1" i="1" kern="1200" dirty="0" smtClean="0">
                <a:solidFill>
                  <a:schemeClr val="tx1"/>
                </a:solidFill>
                <a:latin typeface="+mn-lt"/>
                <a:ea typeface="+mn-ea"/>
                <a:cs typeface="+mn-cs"/>
              </a:rPr>
              <a:t>Checking personnel records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is done to:</a:t>
            </a:r>
          </a:p>
          <a:p>
            <a:pPr>
              <a:buFont typeface="Arial" pitchFamily="34" charset="0"/>
              <a:buChar char="•"/>
            </a:pPr>
            <a:r>
              <a:rPr lang="en-AU" sz="1200" kern="1200" dirty="0" smtClean="0">
                <a:solidFill>
                  <a:schemeClr val="tx1"/>
                </a:solidFill>
                <a:latin typeface="+mn-lt"/>
                <a:ea typeface="+mn-ea"/>
                <a:cs typeface="+mn-cs"/>
              </a:rPr>
              <a:t>Ensure accurate and up-to-date records are being maintained</a:t>
            </a:r>
          </a:p>
          <a:p>
            <a:pPr>
              <a:buFont typeface="Arial" pitchFamily="34" charset="0"/>
              <a:buChar char="•"/>
            </a:pPr>
            <a:r>
              <a:rPr lang="en-AU" sz="1200" kern="1200" dirty="0" smtClean="0">
                <a:solidFill>
                  <a:schemeClr val="tx1"/>
                </a:solidFill>
                <a:latin typeface="+mn-lt"/>
                <a:ea typeface="+mn-ea"/>
                <a:cs typeface="+mn-cs"/>
              </a:rPr>
              <a:t>Make sure staff are being allowed and/or paid for all leave and other entitlements they are eligible for</a:t>
            </a:r>
          </a:p>
          <a:p>
            <a:pPr>
              <a:buFont typeface="Arial" pitchFamily="34" charset="0"/>
              <a:buChar char="•"/>
            </a:pPr>
            <a:r>
              <a:rPr lang="en-AU" sz="1200" kern="1200" dirty="0" smtClean="0">
                <a:solidFill>
                  <a:schemeClr val="tx1"/>
                </a:solidFill>
                <a:latin typeface="+mn-lt"/>
                <a:ea typeface="+mn-ea"/>
                <a:cs typeface="+mn-cs"/>
              </a:rPr>
              <a:t>Verify the business is not paying workers for leave and entitlements to which they are not entitled/eligible.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359574969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discuss key checks</a:t>
            </a:r>
          </a:p>
          <a:p>
            <a:r>
              <a:rPr lang="en-AU" sz="1200" b="1" i="1" kern="1200" dirty="0" smtClean="0">
                <a:solidFill>
                  <a:schemeClr val="tx1"/>
                </a:solidFill>
                <a:latin typeface="+mn-lt"/>
                <a:ea typeface="+mn-ea"/>
                <a:cs typeface="+mn-cs"/>
              </a:rPr>
              <a:t>Checking personnel records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Managers/supervisors could/should:</a:t>
            </a:r>
          </a:p>
          <a:p>
            <a:pPr>
              <a:buFont typeface="Arial" pitchFamily="34" charset="0"/>
              <a:buChar char="•"/>
            </a:pPr>
            <a:r>
              <a:rPr lang="en-AU" sz="1200" kern="1200" dirty="0" smtClean="0">
                <a:solidFill>
                  <a:schemeClr val="tx1"/>
                </a:solidFill>
                <a:latin typeface="+mn-lt"/>
                <a:ea typeface="+mn-ea"/>
                <a:cs typeface="+mn-cs"/>
              </a:rPr>
              <a:t>Select several staff who are working for the organisation</a:t>
            </a:r>
          </a:p>
          <a:p>
            <a:pPr>
              <a:buFont typeface="Arial" pitchFamily="34" charset="0"/>
              <a:buChar char="•"/>
            </a:pPr>
            <a:r>
              <a:rPr lang="en-AU" sz="1200" kern="1200" dirty="0" smtClean="0">
                <a:solidFill>
                  <a:schemeClr val="tx1"/>
                </a:solidFill>
                <a:latin typeface="+mn-lt"/>
                <a:ea typeface="+mn-ea"/>
                <a:cs typeface="+mn-cs"/>
              </a:rPr>
              <a:t>Pick their personnel files/records from HR/Payroll department</a:t>
            </a:r>
          </a:p>
          <a:p>
            <a:pPr>
              <a:buFont typeface="Arial" pitchFamily="34" charset="0"/>
              <a:buChar char="•"/>
            </a:pPr>
            <a:r>
              <a:rPr lang="en-AU" sz="1200" kern="1200" dirty="0" smtClean="0">
                <a:solidFill>
                  <a:schemeClr val="tx1"/>
                </a:solidFill>
                <a:latin typeface="+mn-lt"/>
                <a:ea typeface="+mn-ea"/>
                <a:cs typeface="+mn-cs"/>
              </a:rPr>
              <a:t>Analyse each file/record to:</a:t>
            </a:r>
          </a:p>
          <a:p>
            <a:pPr lvl="1">
              <a:buFont typeface="Arial" pitchFamily="34" charset="0"/>
              <a:buChar char="•"/>
            </a:pPr>
            <a:r>
              <a:rPr lang="en-AU" sz="1200" kern="1200" dirty="0" smtClean="0">
                <a:solidFill>
                  <a:schemeClr val="tx1"/>
                </a:solidFill>
                <a:latin typeface="+mn-lt"/>
                <a:ea typeface="+mn-ea"/>
                <a:cs typeface="+mn-cs"/>
              </a:rPr>
              <a:t>Ensure adequate recording of their employment status – in terms of:</a:t>
            </a:r>
          </a:p>
          <a:p>
            <a:pPr lvl="2">
              <a:buFont typeface="Arial" pitchFamily="34" charset="0"/>
              <a:buChar char="•"/>
            </a:pPr>
            <a:r>
              <a:rPr lang="en-AU" sz="1200" kern="1200" dirty="0" smtClean="0">
                <a:solidFill>
                  <a:schemeClr val="tx1"/>
                </a:solidFill>
                <a:latin typeface="+mn-lt"/>
                <a:ea typeface="+mn-ea"/>
                <a:cs typeface="+mn-cs"/>
              </a:rPr>
              <a:t>Start date</a:t>
            </a:r>
          </a:p>
          <a:p>
            <a:pPr lvl="2">
              <a:buFont typeface="Arial" pitchFamily="34" charset="0"/>
              <a:buChar char="•"/>
            </a:pPr>
            <a:r>
              <a:rPr lang="en-AU" sz="1200" kern="1200" dirty="0" smtClean="0">
                <a:solidFill>
                  <a:schemeClr val="tx1"/>
                </a:solidFill>
                <a:latin typeface="+mn-lt"/>
                <a:ea typeface="+mn-ea"/>
                <a:cs typeface="+mn-cs"/>
              </a:rPr>
              <a:t>Current pay rate including applicable penalty rates (overtime and other rates)</a:t>
            </a:r>
          </a:p>
          <a:p>
            <a:pPr lvl="2">
              <a:buFont typeface="Arial" pitchFamily="34" charset="0"/>
              <a:buChar char="•"/>
            </a:pPr>
            <a:r>
              <a:rPr lang="en-AU" sz="1200" kern="1200" dirty="0" smtClean="0">
                <a:solidFill>
                  <a:schemeClr val="tx1"/>
                </a:solidFill>
                <a:latin typeface="+mn-lt"/>
                <a:ea typeface="+mn-ea"/>
                <a:cs typeface="+mn-cs"/>
              </a:rPr>
              <a:t>Classification – Casual, P/T, F/T</a:t>
            </a:r>
          </a:p>
          <a:p>
            <a:pPr lvl="2">
              <a:buFont typeface="Arial" pitchFamily="34" charset="0"/>
              <a:buChar char="•"/>
            </a:pPr>
            <a:r>
              <a:rPr lang="en-AU" sz="1200" kern="1200" dirty="0" smtClean="0">
                <a:solidFill>
                  <a:schemeClr val="tx1"/>
                </a:solidFill>
                <a:latin typeface="+mn-lt"/>
                <a:ea typeface="+mn-ea"/>
                <a:cs typeface="+mn-cs"/>
              </a:rPr>
              <a:t>Position </a:t>
            </a:r>
          </a:p>
          <a:p>
            <a:pPr lvl="2">
              <a:buFont typeface="Arial" pitchFamily="34" charset="0"/>
              <a:buChar char="•"/>
            </a:pPr>
            <a:r>
              <a:rPr lang="en-AU" sz="1200" kern="1200" dirty="0" smtClean="0">
                <a:solidFill>
                  <a:schemeClr val="tx1"/>
                </a:solidFill>
                <a:latin typeface="+mn-lt"/>
                <a:ea typeface="+mn-ea"/>
                <a:cs typeface="+mn-cs"/>
              </a:rPr>
              <a:t>Training undertaken</a:t>
            </a:r>
          </a:p>
          <a:p>
            <a:pPr lvl="2">
              <a:buFont typeface="Arial" pitchFamily="34" charset="0"/>
              <a:buChar char="•"/>
            </a:pPr>
            <a:r>
              <a:rPr lang="en-AU" sz="1200" kern="1200" dirty="0" smtClean="0">
                <a:solidFill>
                  <a:schemeClr val="tx1"/>
                </a:solidFill>
                <a:latin typeface="+mn-lt"/>
                <a:ea typeface="+mn-ea"/>
                <a:cs typeface="+mn-cs"/>
              </a:rPr>
              <a:t>Qualifications held</a:t>
            </a:r>
          </a:p>
          <a:p>
            <a:pPr lvl="1">
              <a:buFont typeface="Arial" pitchFamily="34" charset="0"/>
              <a:buChar char="•"/>
            </a:pPr>
            <a:r>
              <a:rPr lang="en-AU" sz="1200" kern="1200" dirty="0" smtClean="0">
                <a:solidFill>
                  <a:schemeClr val="tx1"/>
                </a:solidFill>
                <a:latin typeface="+mn-lt"/>
                <a:ea typeface="+mn-ea"/>
                <a:cs typeface="+mn-cs"/>
              </a:rPr>
              <a:t>Check there is proper and accurate recording of leave – with regard to:</a:t>
            </a:r>
          </a:p>
          <a:p>
            <a:pPr lvl="2">
              <a:buFont typeface="Arial" pitchFamily="34" charset="0"/>
              <a:buChar char="•"/>
            </a:pPr>
            <a:r>
              <a:rPr lang="en-AU" sz="1200" kern="1200" dirty="0" smtClean="0">
                <a:solidFill>
                  <a:schemeClr val="tx1"/>
                </a:solidFill>
                <a:latin typeface="+mn-lt"/>
                <a:ea typeface="+mn-ea"/>
                <a:cs typeface="+mn-cs"/>
              </a:rPr>
              <a:t>Date/s eligibility for all types of leave begins – most types of leave require staff to be employed for a given period before they become eligible for leave</a:t>
            </a:r>
          </a:p>
          <a:p>
            <a:pPr lvl="2">
              <a:buFont typeface="Arial" pitchFamily="34" charset="0"/>
              <a:buChar char="•"/>
            </a:pPr>
            <a:r>
              <a:rPr lang="en-AU" sz="1200" kern="1200" dirty="0" smtClean="0">
                <a:solidFill>
                  <a:schemeClr val="tx1"/>
                </a:solidFill>
                <a:latin typeface="+mn-lt"/>
                <a:ea typeface="+mn-ea"/>
                <a:cs typeface="+mn-cs"/>
              </a:rPr>
              <a:t>Dates of leave taken and the type of leave taken – identifying the days/hours taken</a:t>
            </a:r>
          </a:p>
          <a:p>
            <a:pPr lvl="2">
              <a:buFont typeface="Arial" pitchFamily="34" charset="0"/>
              <a:buChar char="•"/>
            </a:pPr>
            <a:r>
              <a:rPr lang="en-AU" sz="1200" kern="1200" dirty="0" smtClean="0">
                <a:solidFill>
                  <a:schemeClr val="tx1"/>
                </a:solidFill>
                <a:latin typeface="+mn-lt"/>
                <a:ea typeface="+mn-ea"/>
                <a:cs typeface="+mn-cs"/>
              </a:rPr>
              <a:t>Proof that required evidence had been supplied by staff to support/verify leave taken</a:t>
            </a:r>
          </a:p>
          <a:p>
            <a:pPr lvl="2">
              <a:buFont typeface="Arial" pitchFamily="34" charset="0"/>
              <a:buChar char="•"/>
            </a:pPr>
            <a:r>
              <a:rPr lang="en-AU" sz="1200" kern="1200" dirty="0" smtClean="0">
                <a:solidFill>
                  <a:schemeClr val="tx1"/>
                </a:solidFill>
                <a:latin typeface="+mn-lt"/>
                <a:ea typeface="+mn-ea"/>
                <a:cs typeface="+mn-cs"/>
              </a:rPr>
              <a:t>Leave remaining for each employee – by type of leave, for example detailing exactly how much sick leave is still available, how much annual leave is still outstanding and so on for each leave type</a:t>
            </a:r>
          </a:p>
          <a:p>
            <a:pPr lvl="2">
              <a:buFont typeface="Arial" pitchFamily="34" charset="0"/>
              <a:buChar char="•"/>
            </a:pPr>
            <a:r>
              <a:rPr lang="en-AU" sz="1200" kern="1200" dirty="0" smtClean="0">
                <a:solidFill>
                  <a:schemeClr val="tx1"/>
                </a:solidFill>
                <a:latin typeface="+mn-lt"/>
                <a:ea typeface="+mn-ea"/>
                <a:cs typeface="+mn-cs"/>
              </a:rPr>
              <a:t>Proof employees are completing required documentation to apply for leave and record leave they have taken</a:t>
            </a:r>
          </a:p>
          <a:p>
            <a:pPr lvl="1">
              <a:buFont typeface="Arial" pitchFamily="34" charset="0"/>
              <a:buChar char="•"/>
            </a:pPr>
            <a:r>
              <a:rPr lang="en-AU" sz="1200" kern="1200" dirty="0" smtClean="0">
                <a:solidFill>
                  <a:schemeClr val="tx1"/>
                </a:solidFill>
                <a:latin typeface="+mn-lt"/>
                <a:ea typeface="+mn-ea"/>
                <a:cs typeface="+mn-cs"/>
              </a:rPr>
              <a:t>Cross-check payment of leave and other entitlements – in terms of::</a:t>
            </a:r>
          </a:p>
          <a:p>
            <a:pPr lvl="2">
              <a:buFont typeface="Arial" pitchFamily="34" charset="0"/>
              <a:buChar char="•"/>
            </a:pPr>
            <a:r>
              <a:rPr lang="en-AU" sz="1200" kern="1200" dirty="0" smtClean="0">
                <a:solidFill>
                  <a:schemeClr val="tx1"/>
                </a:solidFill>
                <a:latin typeface="+mn-lt"/>
                <a:ea typeface="+mn-ea"/>
                <a:cs typeface="+mn-cs"/>
              </a:rPr>
              <a:t>Correct number of hours are being paid</a:t>
            </a:r>
          </a:p>
          <a:p>
            <a:pPr lvl="2">
              <a:buFont typeface="Arial" pitchFamily="34" charset="0"/>
              <a:buChar char="•"/>
            </a:pPr>
            <a:r>
              <a:rPr lang="en-AU" sz="1200" kern="1200" dirty="0" smtClean="0">
                <a:solidFill>
                  <a:schemeClr val="tx1"/>
                </a:solidFill>
                <a:latin typeface="+mn-lt"/>
                <a:ea typeface="+mn-ea"/>
                <a:cs typeface="+mn-cs"/>
              </a:rPr>
              <a:t>Correct rate of pay per hour is paid</a:t>
            </a:r>
          </a:p>
          <a:p>
            <a:pPr lvl="2">
              <a:buFont typeface="Arial" pitchFamily="34" charset="0"/>
              <a:buChar char="•"/>
            </a:pPr>
            <a:r>
              <a:rPr lang="en-AU" sz="1200" kern="1200" dirty="0" smtClean="0">
                <a:solidFill>
                  <a:schemeClr val="tx1"/>
                </a:solidFill>
                <a:latin typeface="+mn-lt"/>
                <a:ea typeface="+mn-ea"/>
                <a:cs typeface="+mn-cs"/>
              </a:rPr>
              <a:t>Scheduled/promised pay rises are being processed as and when due – and not being ‘forgotten’ or otherwise withheld</a:t>
            </a:r>
          </a:p>
          <a:p>
            <a:pPr lvl="2">
              <a:buFont typeface="Arial" pitchFamily="34" charset="0"/>
              <a:buChar char="•"/>
            </a:pPr>
            <a:r>
              <a:rPr lang="en-AU" sz="1200" kern="1200" dirty="0" smtClean="0">
                <a:solidFill>
                  <a:schemeClr val="tx1"/>
                </a:solidFill>
                <a:latin typeface="+mn-lt"/>
                <a:ea typeface="+mn-ea"/>
                <a:cs typeface="+mn-cs"/>
              </a:rPr>
              <a:t>Superannuation and other agreed entitlements are being paid at the agreed rate</a:t>
            </a:r>
          </a:p>
          <a:p>
            <a:pPr lvl="2">
              <a:buFont typeface="Arial" pitchFamily="34" charset="0"/>
              <a:buChar char="•"/>
            </a:pPr>
            <a:r>
              <a:rPr lang="en-AU" sz="1200" kern="1200" dirty="0" smtClean="0">
                <a:solidFill>
                  <a:schemeClr val="tx1"/>
                </a:solidFill>
                <a:latin typeface="+mn-lt"/>
                <a:ea typeface="+mn-ea"/>
                <a:cs typeface="+mn-cs"/>
              </a:rPr>
              <a:t>Accurate deductions are being taken from the gross payment.</a:t>
            </a:r>
          </a:p>
          <a:p>
            <a:pPr marL="914400" marR="0" lvl="2"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64119458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potential </a:t>
            </a:r>
            <a:r>
              <a:rPr lang="en-AU" sz="1200" kern="1200" dirty="0" smtClean="0">
                <a:solidFill>
                  <a:schemeClr val="tx1"/>
                </a:solidFill>
                <a:latin typeface="+mn-lt"/>
                <a:ea typeface="+mn-ea"/>
                <a:cs typeface="+mn-cs"/>
              </a:rPr>
              <a:t>outcomes of failing to apply industrial agreement requirements:</a:t>
            </a:r>
          </a:p>
          <a:p>
            <a:pPr>
              <a:buFont typeface="Arial" pitchFamily="34" charset="0"/>
              <a:buChar char="•"/>
            </a:pPr>
            <a:r>
              <a:rPr lang="en-AU" sz="1200" kern="1200" dirty="0" smtClean="0">
                <a:solidFill>
                  <a:schemeClr val="tx1"/>
                </a:solidFill>
                <a:latin typeface="+mn-lt"/>
                <a:ea typeface="+mn-ea"/>
                <a:cs typeface="+mn-cs"/>
              </a:rPr>
              <a:t>Dissatisfied staff – who:</a:t>
            </a:r>
          </a:p>
          <a:p>
            <a:pPr lvl="1">
              <a:buFont typeface="Arial" pitchFamily="34" charset="0"/>
              <a:buChar char="•"/>
            </a:pPr>
            <a:r>
              <a:rPr lang="en-AU" sz="1200" kern="1200" dirty="0" smtClean="0">
                <a:solidFill>
                  <a:schemeClr val="tx1"/>
                </a:solidFill>
                <a:latin typeface="+mn-lt"/>
                <a:ea typeface="+mn-ea"/>
                <a:cs typeface="+mn-cs"/>
              </a:rPr>
              <a:t>Are not committed to the organisation</a:t>
            </a:r>
          </a:p>
          <a:p>
            <a:pPr lvl="1">
              <a:buFont typeface="Arial" pitchFamily="34" charset="0"/>
              <a:buChar char="•"/>
            </a:pPr>
            <a:r>
              <a:rPr lang="en-AU" sz="1200" kern="1200" dirty="0" smtClean="0">
                <a:solidFill>
                  <a:schemeClr val="tx1"/>
                </a:solidFill>
                <a:latin typeface="+mn-lt"/>
                <a:ea typeface="+mn-ea"/>
                <a:cs typeface="+mn-cs"/>
              </a:rPr>
              <a:t>Will not perform to their best</a:t>
            </a:r>
          </a:p>
          <a:p>
            <a:pPr lvl="1">
              <a:buFont typeface="Arial" pitchFamily="34" charset="0"/>
              <a:buChar char="•"/>
            </a:pPr>
            <a:r>
              <a:rPr lang="en-AU" sz="1200" kern="1200" dirty="0" smtClean="0">
                <a:solidFill>
                  <a:schemeClr val="tx1"/>
                </a:solidFill>
                <a:latin typeface="+mn-lt"/>
                <a:ea typeface="+mn-ea"/>
                <a:cs typeface="+mn-cs"/>
              </a:rPr>
              <a:t>Start looking for employment else where</a:t>
            </a:r>
          </a:p>
          <a:p>
            <a:pPr>
              <a:buFont typeface="Arial" pitchFamily="34" charset="0"/>
              <a:buChar char="•"/>
            </a:pPr>
            <a:r>
              <a:rPr lang="en-AU" sz="1200" kern="1200" dirty="0" smtClean="0">
                <a:solidFill>
                  <a:schemeClr val="tx1"/>
                </a:solidFill>
                <a:latin typeface="+mn-lt"/>
                <a:ea typeface="+mn-ea"/>
                <a:cs typeface="+mn-cs"/>
              </a:rPr>
              <a:t>Distrust among staff – in relation to:</a:t>
            </a:r>
          </a:p>
          <a:p>
            <a:pPr lvl="1">
              <a:buFont typeface="Arial" pitchFamily="34" charset="0"/>
              <a:buChar char="•"/>
            </a:pPr>
            <a:r>
              <a:rPr lang="en-AU" sz="1200" kern="1200" dirty="0" smtClean="0">
                <a:solidFill>
                  <a:schemeClr val="tx1"/>
                </a:solidFill>
                <a:latin typeface="+mn-lt"/>
                <a:ea typeface="+mn-ea"/>
                <a:cs typeface="+mn-cs"/>
              </a:rPr>
              <a:t>All levels of management</a:t>
            </a:r>
          </a:p>
          <a:p>
            <a:pPr lvl="1">
              <a:buFont typeface="Arial" pitchFamily="34" charset="0"/>
              <a:buChar char="•"/>
            </a:pPr>
            <a:r>
              <a:rPr lang="en-AU" sz="1200" kern="1200" dirty="0" smtClean="0">
                <a:solidFill>
                  <a:schemeClr val="tx1"/>
                </a:solidFill>
                <a:latin typeface="+mn-lt"/>
                <a:ea typeface="+mn-ea"/>
                <a:cs typeface="+mn-cs"/>
              </a:rPr>
              <a:t>Future promises and statements made by managers</a:t>
            </a:r>
          </a:p>
          <a:p>
            <a:pPr>
              <a:buFont typeface="Arial" pitchFamily="34" charset="0"/>
              <a:buChar char="•"/>
            </a:pPr>
            <a:r>
              <a:rPr lang="en-AU" sz="1200" kern="1200" dirty="0" smtClean="0">
                <a:solidFill>
                  <a:schemeClr val="tx1"/>
                </a:solidFill>
                <a:latin typeface="+mn-lt"/>
                <a:ea typeface="+mn-ea"/>
                <a:cs typeface="+mn-cs"/>
              </a:rPr>
              <a:t>Bad/negative media coverage/PR – when the story leaks to the media</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198483161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potential </a:t>
            </a:r>
            <a:r>
              <a:rPr lang="en-AU" sz="1200" kern="1200" dirty="0" smtClean="0">
                <a:solidFill>
                  <a:schemeClr val="tx1"/>
                </a:solidFill>
                <a:latin typeface="+mn-lt"/>
                <a:ea typeface="+mn-ea"/>
                <a:cs typeface="+mn-cs"/>
              </a:rPr>
              <a:t>outcomes of failing to apply industrial agreement requirements:</a:t>
            </a:r>
          </a:p>
          <a:p>
            <a:pPr>
              <a:buFont typeface="Arial" pitchFamily="34" charset="0"/>
              <a:buChar char="•"/>
            </a:pPr>
            <a:r>
              <a:rPr lang="en-AU" sz="1200" kern="1200" dirty="0" smtClean="0">
                <a:solidFill>
                  <a:schemeClr val="tx1"/>
                </a:solidFill>
                <a:latin typeface="+mn-lt"/>
                <a:ea typeface="+mn-ea"/>
                <a:cs typeface="+mn-cs"/>
              </a:rPr>
              <a:t>Intervention by unions – on behalf of their members to, as necessary:</a:t>
            </a:r>
          </a:p>
          <a:p>
            <a:pPr lvl="1">
              <a:buFont typeface="Arial" pitchFamily="34" charset="0"/>
              <a:buChar char="•"/>
            </a:pPr>
            <a:r>
              <a:rPr lang="en-AU" sz="1200" kern="1200" dirty="0" smtClean="0">
                <a:solidFill>
                  <a:schemeClr val="tx1"/>
                </a:solidFill>
                <a:latin typeface="+mn-lt"/>
                <a:ea typeface="+mn-ea"/>
                <a:cs typeface="+mn-cs"/>
              </a:rPr>
              <a:t>Recover money owed</a:t>
            </a:r>
          </a:p>
          <a:p>
            <a:pPr lvl="1">
              <a:buFont typeface="Arial" pitchFamily="34" charset="0"/>
              <a:buChar char="•"/>
            </a:pPr>
            <a:r>
              <a:rPr lang="en-AU" sz="1200" kern="1200" dirty="0" smtClean="0">
                <a:solidFill>
                  <a:schemeClr val="tx1"/>
                </a:solidFill>
                <a:latin typeface="+mn-lt"/>
                <a:ea typeface="+mn-ea"/>
                <a:cs typeface="+mn-cs"/>
              </a:rPr>
              <a:t>Force compliance with agreed arrangements.</a:t>
            </a:r>
          </a:p>
          <a:p>
            <a:pPr lvl="2">
              <a:buFont typeface="Arial" pitchFamily="34" charset="0"/>
              <a:buChar char="•"/>
            </a:pPr>
            <a:r>
              <a:rPr lang="en-AU" sz="1200" kern="1200" dirty="0" smtClean="0">
                <a:solidFill>
                  <a:schemeClr val="tx1"/>
                </a:solidFill>
                <a:latin typeface="+mn-lt"/>
                <a:ea typeface="+mn-ea"/>
                <a:cs typeface="+mn-cs"/>
              </a:rPr>
              <a:t>Dealing with these people is time consuming and an avoidable interruption to other work.</a:t>
            </a:r>
          </a:p>
          <a:p>
            <a:pPr>
              <a:buFont typeface="Arial" pitchFamily="34" charset="0"/>
              <a:buChar char="•"/>
            </a:pPr>
            <a:r>
              <a:rPr lang="en-AU" sz="1200" kern="1200" dirty="0" smtClean="0">
                <a:solidFill>
                  <a:schemeClr val="tx1"/>
                </a:solidFill>
                <a:latin typeface="+mn-lt"/>
                <a:ea typeface="+mn-ea"/>
                <a:cs typeface="+mn-cs"/>
              </a:rPr>
              <a:t>Penalties/fines applied by government agencies – which may be levied for (for example):</a:t>
            </a:r>
          </a:p>
          <a:p>
            <a:pPr lvl="1">
              <a:buFont typeface="Arial" pitchFamily="34" charset="0"/>
              <a:buChar char="•"/>
            </a:pPr>
            <a:r>
              <a:rPr lang="en-AU" sz="1200" kern="1200" dirty="0" smtClean="0">
                <a:solidFill>
                  <a:schemeClr val="tx1"/>
                </a:solidFill>
                <a:latin typeface="+mn-lt"/>
                <a:ea typeface="+mn-ea"/>
                <a:cs typeface="+mn-cs"/>
              </a:rPr>
              <a:t>Failure to comply with legislation</a:t>
            </a:r>
          </a:p>
          <a:p>
            <a:pPr lvl="1">
              <a:buFont typeface="Arial" pitchFamily="34" charset="0"/>
              <a:buChar char="•"/>
            </a:pPr>
            <a:r>
              <a:rPr lang="en-AU" sz="1200" kern="1200" dirty="0" smtClean="0">
                <a:solidFill>
                  <a:schemeClr val="tx1"/>
                </a:solidFill>
                <a:latin typeface="+mn-lt"/>
                <a:ea typeface="+mn-ea"/>
                <a:cs typeface="+mn-cs"/>
              </a:rPr>
              <a:t>Fraudulent activities.</a:t>
            </a:r>
          </a:p>
          <a:p>
            <a:pPr lvl="2">
              <a:buFont typeface="Arial" pitchFamily="34" charset="0"/>
              <a:buChar char="•"/>
            </a:pPr>
            <a:r>
              <a:rPr lang="en-AU" sz="1200" kern="1200" dirty="0" smtClean="0">
                <a:solidFill>
                  <a:schemeClr val="tx1"/>
                </a:solidFill>
                <a:latin typeface="+mn-lt"/>
                <a:ea typeface="+mn-ea"/>
                <a:cs typeface="+mn-cs"/>
              </a:rPr>
              <a:t>Attention from these authorities is best avoided as once they are involved they have a tendency to want to inspect and check </a:t>
            </a:r>
            <a:r>
              <a:rPr lang="en-AU" sz="1200" b="1" i="1" kern="1200" dirty="0" smtClean="0">
                <a:solidFill>
                  <a:schemeClr val="tx1"/>
                </a:solidFill>
                <a:latin typeface="+mn-lt"/>
                <a:ea typeface="+mn-ea"/>
                <a:cs typeface="+mn-cs"/>
              </a:rPr>
              <a:t>all</a:t>
            </a:r>
            <a:r>
              <a:rPr lang="en-AU" sz="1200" kern="1200" dirty="0" smtClean="0">
                <a:solidFill>
                  <a:schemeClr val="tx1"/>
                </a:solidFill>
                <a:latin typeface="+mn-lt"/>
                <a:ea typeface="+mn-ea"/>
                <a:cs typeface="+mn-cs"/>
              </a:rPr>
              <a:t> work records, not just the one where there has been a query.</a:t>
            </a:r>
          </a:p>
          <a:p>
            <a:pPr>
              <a:buFont typeface="Arial" pitchFamily="34" charset="0"/>
              <a:buChar char="•"/>
            </a:pPr>
            <a:r>
              <a:rPr lang="en-AU" sz="1200" kern="1200" dirty="0" smtClean="0">
                <a:solidFill>
                  <a:schemeClr val="tx1"/>
                </a:solidFill>
                <a:latin typeface="+mn-lt"/>
                <a:ea typeface="+mn-ea"/>
                <a:cs typeface="+mn-cs"/>
              </a:rPr>
              <a:t>Possible civil action – for Breach of Contract, where the contract is the ‘Contract of Employment’ between employer and employee.</a:t>
            </a:r>
          </a:p>
          <a:p>
            <a:pPr>
              <a:buFont typeface="Arial" pitchFamily="34" charset="0"/>
              <a:buChar cha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358804425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observes the </a:t>
            </a:r>
            <a:r>
              <a:rPr lang="en-AU" sz="1200" kern="1200" dirty="0" smtClean="0">
                <a:solidFill>
                  <a:schemeClr val="tx1"/>
                </a:solidFill>
                <a:latin typeface="+mn-lt"/>
                <a:ea typeface="+mn-ea"/>
                <a:cs typeface="+mn-cs"/>
              </a:rPr>
              <a:t>two words ‘consulting’ and ‘communicating’ (or ‘consultation’ and ‘communication’) are often used interchangeably explaining in many cases this is acceptable but they are essentially different terms meaning quite different things and highlighting Consultation refers to:</a:t>
            </a:r>
          </a:p>
          <a:p>
            <a:pPr>
              <a:buFont typeface="Arial" pitchFamily="34" charset="0"/>
              <a:buChar char="•"/>
            </a:pPr>
            <a:r>
              <a:rPr lang="en-AU" sz="1200" kern="1200" dirty="0" smtClean="0">
                <a:solidFill>
                  <a:schemeClr val="tx1"/>
                </a:solidFill>
                <a:latin typeface="+mn-lt"/>
                <a:ea typeface="+mn-ea"/>
                <a:cs typeface="+mn-cs"/>
              </a:rPr>
              <a:t>Meeting with people – to discuss issues and show respect for their knowledge and ability to make valid contributions</a:t>
            </a:r>
          </a:p>
          <a:p>
            <a:pPr>
              <a:buFont typeface="Arial" pitchFamily="34" charset="0"/>
              <a:buChar char="•"/>
            </a:pPr>
            <a:r>
              <a:rPr lang="en-AU" sz="1200" kern="1200" dirty="0" smtClean="0">
                <a:solidFill>
                  <a:schemeClr val="tx1"/>
                </a:solidFill>
                <a:latin typeface="+mn-lt"/>
                <a:ea typeface="+mn-ea"/>
                <a:cs typeface="+mn-cs"/>
              </a:rPr>
              <a:t>Bringing parties together – to listen to information and develop solutions to problems</a:t>
            </a:r>
          </a:p>
          <a:p>
            <a:pPr>
              <a:buFont typeface="Arial" pitchFamily="34" charset="0"/>
              <a:buChar char="•"/>
            </a:pPr>
            <a:r>
              <a:rPr lang="en-AU" sz="1200" kern="1200" dirty="0" smtClean="0">
                <a:solidFill>
                  <a:schemeClr val="tx1"/>
                </a:solidFill>
                <a:latin typeface="+mn-lt"/>
                <a:ea typeface="+mn-ea"/>
                <a:cs typeface="+mn-cs"/>
              </a:rPr>
              <a:t>Asking people for their input – in order a working and acceptable/win-win outcome is generated </a:t>
            </a:r>
          </a:p>
          <a:p>
            <a:pPr>
              <a:buFont typeface="Arial" pitchFamily="34" charset="0"/>
              <a:buChar char="•"/>
            </a:pPr>
            <a:r>
              <a:rPr lang="en-AU" sz="1200" kern="1200" dirty="0" smtClean="0">
                <a:solidFill>
                  <a:schemeClr val="tx1"/>
                </a:solidFill>
                <a:latin typeface="+mn-lt"/>
                <a:ea typeface="+mn-ea"/>
                <a:cs typeface="+mn-cs"/>
              </a:rPr>
              <a:t>Exchanging information – to use as the basis for resolving a situation or developing a course of action which is suitable/acceptable.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54570467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defines Communicating explaining </a:t>
            </a:r>
            <a:r>
              <a:rPr lang="en-AU" sz="1200" kern="1200" dirty="0" smtClean="0">
                <a:solidFill>
                  <a:schemeClr val="tx1"/>
                </a:solidFill>
                <a:latin typeface="+mn-lt"/>
                <a:ea typeface="+mn-ea"/>
                <a:cs typeface="+mn-cs"/>
              </a:rPr>
              <a:t>Communication refers to:</a:t>
            </a:r>
          </a:p>
          <a:p>
            <a:pPr>
              <a:buFont typeface="Arial" pitchFamily="34" charset="0"/>
              <a:buChar char="•"/>
            </a:pPr>
            <a:r>
              <a:rPr lang="en-AU" sz="1200" kern="1200" dirty="0" smtClean="0">
                <a:solidFill>
                  <a:schemeClr val="tx1"/>
                </a:solidFill>
                <a:latin typeface="+mn-lt"/>
                <a:ea typeface="+mn-ea"/>
                <a:cs typeface="+mn-cs"/>
              </a:rPr>
              <a:t>Telling people what has been decided – based on the consultation which has taken place</a:t>
            </a:r>
          </a:p>
          <a:p>
            <a:pPr>
              <a:buFont typeface="Arial" pitchFamily="34" charset="0"/>
              <a:buChar char="•"/>
            </a:pPr>
            <a:r>
              <a:rPr lang="en-AU" sz="1200" kern="1200" dirty="0" smtClean="0">
                <a:solidFill>
                  <a:schemeClr val="tx1"/>
                </a:solidFill>
                <a:latin typeface="+mn-lt"/>
                <a:ea typeface="+mn-ea"/>
                <a:cs typeface="+mn-cs"/>
              </a:rPr>
              <a:t>Informing people of implementation arrangements/policies and procedures – which have been established</a:t>
            </a:r>
          </a:p>
          <a:p>
            <a:pPr>
              <a:buFont typeface="Arial" pitchFamily="34" charset="0"/>
              <a:buChar char="•"/>
            </a:pPr>
            <a:r>
              <a:rPr lang="en-AU" sz="1200" kern="1200" dirty="0" smtClean="0">
                <a:solidFill>
                  <a:schemeClr val="tx1"/>
                </a:solidFill>
                <a:latin typeface="+mn-lt"/>
                <a:ea typeface="+mn-ea"/>
                <a:cs typeface="+mn-cs"/>
              </a:rPr>
              <a:t>Giving verbal advice/information – to support and explain decisions and give surety about decisions which have been made</a:t>
            </a:r>
          </a:p>
          <a:p>
            <a:pPr>
              <a:buFont typeface="Arial" pitchFamily="34" charset="0"/>
              <a:buChar char="•"/>
            </a:pPr>
            <a:r>
              <a:rPr lang="en-AU" sz="1200" kern="1200" dirty="0" smtClean="0">
                <a:solidFill>
                  <a:schemeClr val="tx1"/>
                </a:solidFill>
                <a:latin typeface="+mn-lt"/>
                <a:ea typeface="+mn-ea"/>
                <a:cs typeface="+mn-cs"/>
              </a:rPr>
              <a:t>Distributing hard and/or soft copy information – so there is easily accessible detail available for staff to refer to in order to assist them with implementation of decisions which have been made</a:t>
            </a:r>
          </a:p>
          <a:p>
            <a:pPr>
              <a:buFont typeface="Arial" pitchFamily="34" charset="0"/>
              <a:buChar char="•"/>
            </a:pPr>
            <a:r>
              <a:rPr lang="en-AU" sz="1200" kern="1200" dirty="0" smtClean="0">
                <a:solidFill>
                  <a:schemeClr val="tx1"/>
                </a:solidFill>
                <a:latin typeface="+mn-lt"/>
                <a:ea typeface="+mn-ea"/>
                <a:cs typeface="+mn-cs"/>
              </a:rPr>
              <a:t>Sharing information – to use as the basis for </a:t>
            </a:r>
            <a:r>
              <a:rPr lang="en-AU" sz="1200" i="1" kern="1200" dirty="0" smtClean="0">
                <a:solidFill>
                  <a:schemeClr val="tx1"/>
                </a:solidFill>
                <a:latin typeface="+mn-lt"/>
                <a:ea typeface="+mn-ea"/>
                <a:cs typeface="+mn-cs"/>
              </a:rPr>
              <a:t>action</a:t>
            </a:r>
            <a:r>
              <a:rPr lang="en-AU" sz="1200" kern="1200" dirty="0" smtClean="0">
                <a:solidFill>
                  <a:schemeClr val="tx1"/>
                </a:solidFill>
                <a:latin typeface="+mn-lt"/>
                <a:ea typeface="+mn-ea"/>
                <a:cs typeface="+mn-cs"/>
              </a:rPr>
              <a:t> (as opposed to information for the purposes of </a:t>
            </a:r>
            <a:r>
              <a:rPr lang="en-AU" sz="1200" i="1" kern="1200" dirty="0" smtClean="0">
                <a:solidFill>
                  <a:schemeClr val="tx1"/>
                </a:solidFill>
                <a:latin typeface="+mn-lt"/>
                <a:ea typeface="+mn-ea"/>
                <a:cs typeface="+mn-cs"/>
              </a:rPr>
              <a:t>decision making</a:t>
            </a:r>
            <a:r>
              <a:rPr lang="en-AU" sz="1200" kern="1200" dirty="0" smtClean="0">
                <a:solidFill>
                  <a:schemeClr val="tx1"/>
                </a:solidFill>
                <a:latin typeface="+mn-lt"/>
                <a:ea typeface="+mn-ea"/>
                <a:cs typeface="+mn-cs"/>
              </a:rPr>
              <a:t>).</a:t>
            </a:r>
          </a:p>
          <a:p>
            <a:pPr>
              <a:buFont typeface="Arial" pitchFamily="34" charset="0"/>
              <a:buNone/>
            </a:pPr>
            <a:endParaRPr lang="en-AU" noProof="0" dirty="0" smtClean="0"/>
          </a:p>
          <a:p>
            <a:pPr>
              <a:buFont typeface="Arial" pitchFamily="34" charset="0"/>
              <a:buNone/>
            </a:pPr>
            <a:r>
              <a:rPr lang="en-AU" b="1" noProof="0" dirty="0" smtClean="0"/>
              <a:t>Classroom Activity – Discussion</a:t>
            </a:r>
          </a:p>
          <a:p>
            <a:pPr>
              <a:buFont typeface="Arial" pitchFamily="34" charset="0"/>
              <a:buNone/>
            </a:pPr>
            <a:r>
              <a:rPr lang="en-AU" b="0" noProof="0" dirty="0" smtClean="0"/>
              <a:t>Trainer leads conversation asking questions such as:</a:t>
            </a:r>
          </a:p>
          <a:p>
            <a:pPr>
              <a:buFont typeface="Arial" pitchFamily="34" charset="0"/>
              <a:buChar char="•"/>
            </a:pPr>
            <a:r>
              <a:rPr lang="en-AU" b="0" noProof="0" dirty="0" smtClean="0"/>
              <a:t>What is the real difference between communicating with staff and consulting with them?</a:t>
            </a:r>
          </a:p>
          <a:p>
            <a:pPr>
              <a:buFont typeface="Arial" pitchFamily="34" charset="0"/>
              <a:buChar char="•"/>
            </a:pPr>
            <a:r>
              <a:rPr lang="en-AU" b="0" noProof="0" dirty="0" smtClean="0"/>
              <a:t>How might these difference be used? In what contexts/for what reasons/in what settings?</a:t>
            </a:r>
          </a:p>
          <a:p>
            <a:pPr>
              <a:buFont typeface="Arial" pitchFamily="34" charset="0"/>
              <a:buChar char="•"/>
            </a:pPr>
            <a:r>
              <a:rPr lang="en-AU" b="0" noProof="0" dirty="0" smtClean="0"/>
              <a:t>When</a:t>
            </a:r>
            <a:r>
              <a:rPr lang="en-AU" b="0" baseline="0" noProof="0" dirty="0" smtClean="0"/>
              <a:t> might there be a need to ‘consult’ and when might there be a need to ‘communicate’?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105633429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two-way communication observing in </a:t>
            </a:r>
            <a:r>
              <a:rPr lang="en-AU" sz="1200" kern="1200" dirty="0" smtClean="0">
                <a:solidFill>
                  <a:schemeClr val="tx1"/>
                </a:solidFill>
                <a:latin typeface="+mn-lt"/>
                <a:ea typeface="+mn-ea"/>
                <a:cs typeface="+mn-cs"/>
              </a:rPr>
              <a:t>terms of workplace relations it means:</a:t>
            </a:r>
          </a:p>
          <a:p>
            <a:pPr>
              <a:buFont typeface="Arial" pitchFamily="34" charset="0"/>
              <a:buChar char="•"/>
            </a:pPr>
            <a:r>
              <a:rPr lang="en-AU" sz="1200" kern="1200" dirty="0" smtClean="0">
                <a:solidFill>
                  <a:schemeClr val="tx1"/>
                </a:solidFill>
                <a:latin typeface="+mn-lt"/>
                <a:ea typeface="+mn-ea"/>
                <a:cs typeface="+mn-cs"/>
              </a:rPr>
              <a:t>Communication from management to workers</a:t>
            </a:r>
          </a:p>
          <a:p>
            <a:pPr>
              <a:buFont typeface="Arial" pitchFamily="34" charset="0"/>
              <a:buChar char="•"/>
            </a:pPr>
            <a:r>
              <a:rPr lang="en-AU" sz="1200" kern="1200" dirty="0" smtClean="0">
                <a:solidFill>
                  <a:schemeClr val="tx1"/>
                </a:solidFill>
                <a:latin typeface="+mn-lt"/>
                <a:ea typeface="+mn-ea"/>
                <a:cs typeface="+mn-cs"/>
              </a:rPr>
              <a:t>Communication from workers to management.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352276510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discussing two-way communication stating:</a:t>
            </a:r>
          </a:p>
          <a:p>
            <a:pPr>
              <a:buFont typeface="Arial" pitchFamily="34" charset="0"/>
              <a:buChar char="•"/>
            </a:pPr>
            <a:r>
              <a:rPr lang="en-AU" sz="1200" kern="1200" dirty="0" smtClean="0">
                <a:solidFill>
                  <a:schemeClr val="tx1"/>
                </a:solidFill>
                <a:latin typeface="+mn-lt"/>
                <a:ea typeface="+mn-ea"/>
                <a:cs typeface="+mn-cs"/>
              </a:rPr>
              <a:t>Two-way communication represents current and accepted management theory in workplace relations where employees are encouraged to participate in the operation of a business and contribute their knowledge and expertise to assist management in their running of the business.</a:t>
            </a:r>
          </a:p>
          <a:p>
            <a:pPr>
              <a:buFont typeface="Arial" pitchFamily="34" charset="0"/>
              <a:buChar char="•"/>
            </a:pPr>
            <a:r>
              <a:rPr lang="en-AU" sz="1200" kern="1200" dirty="0" smtClean="0">
                <a:solidFill>
                  <a:schemeClr val="tx1"/>
                </a:solidFill>
                <a:latin typeface="+mn-lt"/>
                <a:ea typeface="+mn-ea"/>
                <a:cs typeface="+mn-cs"/>
              </a:rPr>
              <a:t>Two-way communication is distinctly different to traditional one-way communication where:</a:t>
            </a:r>
          </a:p>
          <a:p>
            <a:pPr lvl="1">
              <a:buFont typeface="Arial" pitchFamily="34" charset="0"/>
              <a:buChar char="•"/>
            </a:pPr>
            <a:r>
              <a:rPr lang="en-AU" sz="1200" kern="1200" dirty="0" smtClean="0">
                <a:solidFill>
                  <a:schemeClr val="tx1"/>
                </a:solidFill>
                <a:latin typeface="+mn-lt"/>
                <a:ea typeface="+mn-ea"/>
                <a:cs typeface="+mn-cs"/>
              </a:rPr>
              <a:t>Management tells staff what has been decided without any input from the workers and without any explanation for decisions made</a:t>
            </a:r>
          </a:p>
          <a:p>
            <a:pPr lvl="1">
              <a:buFont typeface="Arial" pitchFamily="34" charset="0"/>
              <a:buChar char="•"/>
            </a:pPr>
            <a:r>
              <a:rPr lang="en-AU" sz="1200" kern="1200" dirty="0" smtClean="0">
                <a:solidFill>
                  <a:schemeClr val="tx1"/>
                </a:solidFill>
                <a:latin typeface="+mn-lt"/>
                <a:ea typeface="+mn-ea"/>
                <a:cs typeface="+mn-cs"/>
              </a:rPr>
              <a:t>Workers have no opportunity to provide comment/feedback on the communication given to them by management.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104241871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noProof="0" dirty="0" smtClean="0"/>
              <a:t>Trainer continues discussing two-way communication stating it:</a:t>
            </a:r>
          </a:p>
          <a:p>
            <a:pPr>
              <a:buFont typeface="Arial" pitchFamily="34" charset="0"/>
              <a:buChar char="•"/>
            </a:pPr>
            <a:r>
              <a:rPr lang="en-AU" sz="1200" kern="1200" dirty="0" smtClean="0">
                <a:solidFill>
                  <a:schemeClr val="tx1"/>
                </a:solidFill>
                <a:latin typeface="+mn-lt"/>
                <a:ea typeface="+mn-ea"/>
                <a:cs typeface="+mn-cs"/>
              </a:rPr>
              <a:t>Is based on consultation – which underpins workplace cooperation and demonstrates respect for others and values their input</a:t>
            </a:r>
          </a:p>
          <a:p>
            <a:pPr>
              <a:buFont typeface="Arial" pitchFamily="34" charset="0"/>
              <a:buChar char="•"/>
            </a:pPr>
            <a:r>
              <a:rPr lang="en-AU" sz="1200" kern="1200" dirty="0" smtClean="0">
                <a:solidFill>
                  <a:schemeClr val="tx1"/>
                </a:solidFill>
                <a:latin typeface="+mn-lt"/>
                <a:ea typeface="+mn-ea"/>
                <a:cs typeface="+mn-cs"/>
              </a:rPr>
              <a:t>Is more effective than one-way communication in most business contexts where the knowledge of staff is central to all operational decisions</a:t>
            </a:r>
          </a:p>
          <a:p>
            <a:pPr>
              <a:buFont typeface="Arial" pitchFamily="34" charset="0"/>
              <a:buChar char="•"/>
            </a:pPr>
            <a:r>
              <a:rPr lang="en-AU" sz="1200" kern="1200" dirty="0" smtClean="0">
                <a:solidFill>
                  <a:schemeClr val="tx1"/>
                </a:solidFill>
                <a:latin typeface="+mn-lt"/>
                <a:ea typeface="+mn-ea"/>
                <a:cs typeface="+mn-cs"/>
              </a:rPr>
              <a:t>Is ‘inclusive’ in nature – meaning it includes and involves workers in decisions and actions taken.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276513308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background to ‘</a:t>
            </a:r>
            <a:r>
              <a:rPr lang="en-AU" sz="1200" kern="1200" dirty="0" smtClean="0">
                <a:solidFill>
                  <a:schemeClr val="tx1"/>
                </a:solidFill>
                <a:latin typeface="+mn-lt"/>
                <a:ea typeface="+mn-ea"/>
                <a:cs typeface="+mn-cs"/>
              </a:rPr>
              <a:t>Consulting to manage and maintain workplace relations’ highlighting it involves:</a:t>
            </a:r>
          </a:p>
          <a:p>
            <a:pPr>
              <a:buFont typeface="Arial" pitchFamily="34" charset="0"/>
              <a:buChar char="•"/>
            </a:pPr>
            <a:r>
              <a:rPr lang="en-AU" sz="1200" kern="1200" dirty="0" smtClean="0">
                <a:solidFill>
                  <a:schemeClr val="tx1"/>
                </a:solidFill>
                <a:latin typeface="+mn-lt"/>
                <a:ea typeface="+mn-ea"/>
                <a:cs typeface="+mn-cs"/>
              </a:rPr>
              <a:t>Having a </a:t>
            </a:r>
            <a:r>
              <a:rPr lang="en-AU" sz="1200" b="1" kern="1200" dirty="0" smtClean="0">
                <a:solidFill>
                  <a:schemeClr val="tx1"/>
                </a:solidFill>
                <a:latin typeface="+mn-lt"/>
                <a:ea typeface="+mn-ea"/>
                <a:cs typeface="+mn-cs"/>
              </a:rPr>
              <a:t>genuine</a:t>
            </a:r>
            <a:r>
              <a:rPr lang="en-AU" sz="1200" kern="1200" dirty="0" smtClean="0">
                <a:solidFill>
                  <a:schemeClr val="tx1"/>
                </a:solidFill>
                <a:latin typeface="+mn-lt"/>
                <a:ea typeface="+mn-ea"/>
                <a:cs typeface="+mn-cs"/>
              </a:rPr>
              <a:t> desire to consult – this is vital because:</a:t>
            </a:r>
          </a:p>
          <a:p>
            <a:pPr lvl="1">
              <a:buFont typeface="Arial" pitchFamily="34" charset="0"/>
              <a:buChar char="•"/>
            </a:pPr>
            <a:r>
              <a:rPr lang="en-AU" sz="1200" kern="1200" dirty="0" smtClean="0">
                <a:solidFill>
                  <a:schemeClr val="tx1"/>
                </a:solidFill>
                <a:latin typeface="+mn-lt"/>
                <a:ea typeface="+mn-ea"/>
                <a:cs typeface="+mn-cs"/>
              </a:rPr>
              <a:t>Without this, nothing will occur</a:t>
            </a:r>
          </a:p>
          <a:p>
            <a:pPr lvl="1">
              <a:buFont typeface="Arial" pitchFamily="34" charset="0"/>
              <a:buChar char="•"/>
            </a:pPr>
            <a:r>
              <a:rPr lang="en-AU" sz="1200" kern="1200" dirty="0" smtClean="0">
                <a:solidFill>
                  <a:schemeClr val="tx1"/>
                </a:solidFill>
                <a:latin typeface="+mn-lt"/>
                <a:ea typeface="+mn-ea"/>
                <a:cs typeface="+mn-cs"/>
              </a:rPr>
              <a:t>With it, all obstacles can be overcome</a:t>
            </a:r>
          </a:p>
          <a:p>
            <a:pPr>
              <a:buFont typeface="Arial" pitchFamily="34" charset="0"/>
              <a:buChar char="•"/>
            </a:pPr>
            <a:r>
              <a:rPr lang="en-AU" sz="1200" kern="1200" dirty="0" smtClean="0">
                <a:solidFill>
                  <a:schemeClr val="tx1"/>
                </a:solidFill>
                <a:latin typeface="+mn-lt"/>
                <a:ea typeface="+mn-ea"/>
                <a:cs typeface="+mn-cs"/>
              </a:rPr>
              <a:t>Preparing a plan – to consult and communicate</a:t>
            </a:r>
          </a:p>
          <a:p>
            <a:pPr>
              <a:buFont typeface="Arial" pitchFamily="34" charset="0"/>
              <a:buChar char="•"/>
            </a:pPr>
            <a:r>
              <a:rPr lang="en-AU" sz="1200" kern="1200" dirty="0" smtClean="0">
                <a:solidFill>
                  <a:schemeClr val="tx1"/>
                </a:solidFill>
                <a:latin typeface="+mn-lt"/>
                <a:ea typeface="+mn-ea"/>
                <a:cs typeface="+mn-cs"/>
              </a:rPr>
              <a:t>Using a range of strategies – as opposed to relying on just one, single approach</a:t>
            </a:r>
          </a:p>
          <a:p>
            <a:pPr>
              <a:buFont typeface="Arial" pitchFamily="34" charset="0"/>
              <a:buChar char="•"/>
            </a:pPr>
            <a:r>
              <a:rPr lang="en-AU" sz="1200" kern="1200" dirty="0" smtClean="0">
                <a:solidFill>
                  <a:schemeClr val="tx1"/>
                </a:solidFill>
                <a:latin typeface="+mn-lt"/>
                <a:ea typeface="+mn-ea"/>
                <a:cs typeface="+mn-cs"/>
              </a:rPr>
              <a:t>Accommodating those from diverse backgrounds – so communication occurs in a language they can understand and engage with</a:t>
            </a:r>
          </a:p>
          <a:p>
            <a:pPr>
              <a:buFont typeface="Arial" pitchFamily="34" charset="0"/>
              <a:buChar char="•"/>
            </a:pPr>
            <a:r>
              <a:rPr lang="en-AU" sz="1200" kern="1200" dirty="0" smtClean="0">
                <a:solidFill>
                  <a:schemeClr val="tx1"/>
                </a:solidFill>
                <a:latin typeface="+mn-lt"/>
                <a:ea typeface="+mn-ea"/>
                <a:cs typeface="+mn-cs"/>
              </a:rPr>
              <a:t>Providing necessary training to staff and/or their representatives – so they can develop appropriate/suitable/necessary skills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429389740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continues looking at pre-requisites to background to ‘</a:t>
            </a:r>
            <a:r>
              <a:rPr lang="en-AU" sz="1200" kern="1200" dirty="0" smtClean="0">
                <a:solidFill>
                  <a:schemeClr val="tx1"/>
                </a:solidFill>
                <a:latin typeface="+mn-lt"/>
                <a:ea typeface="+mn-ea"/>
                <a:cs typeface="+mn-cs"/>
              </a:rPr>
              <a:t>Consulting to manage and maintain workplace relations’:</a:t>
            </a:r>
          </a:p>
          <a:p>
            <a:pPr>
              <a:buFont typeface="Arial" pitchFamily="34" charset="0"/>
              <a:buChar char="•"/>
            </a:pPr>
            <a:r>
              <a:rPr lang="en-AU" sz="1200" kern="1200" dirty="0" smtClean="0">
                <a:solidFill>
                  <a:schemeClr val="tx1"/>
                </a:solidFill>
                <a:latin typeface="+mn-lt"/>
                <a:ea typeface="+mn-ea"/>
                <a:cs typeface="+mn-cs"/>
              </a:rPr>
              <a:t>Meetings between management and staff – or </a:t>
            </a:r>
            <a:r>
              <a:rPr lang="en-AU" sz="1200" i="1" kern="1200" dirty="0" smtClean="0">
                <a:solidFill>
                  <a:schemeClr val="tx1"/>
                </a:solidFill>
                <a:latin typeface="+mn-lt"/>
                <a:ea typeface="+mn-ea"/>
                <a:cs typeface="+mn-cs"/>
              </a:rPr>
              <a:t>representatives</a:t>
            </a:r>
            <a:r>
              <a:rPr lang="en-AU" sz="1200" kern="1200" dirty="0" smtClean="0">
                <a:solidFill>
                  <a:schemeClr val="tx1"/>
                </a:solidFill>
                <a:latin typeface="+mn-lt"/>
                <a:ea typeface="+mn-ea"/>
                <a:cs typeface="+mn-cs"/>
              </a:rPr>
              <a:t> from management and </a:t>
            </a:r>
            <a:r>
              <a:rPr lang="en-AU" sz="1200" i="1" kern="1200" dirty="0" smtClean="0">
                <a:solidFill>
                  <a:schemeClr val="tx1"/>
                </a:solidFill>
                <a:latin typeface="+mn-lt"/>
                <a:ea typeface="+mn-ea"/>
                <a:cs typeface="+mn-cs"/>
              </a:rPr>
              <a:t>representatives</a:t>
            </a:r>
            <a:r>
              <a:rPr lang="en-AU" sz="1200" kern="1200" dirty="0" smtClean="0">
                <a:solidFill>
                  <a:schemeClr val="tx1"/>
                </a:solidFill>
                <a:latin typeface="+mn-lt"/>
                <a:ea typeface="+mn-ea"/>
                <a:cs typeface="+mn-cs"/>
              </a:rPr>
              <a:t> of staff</a:t>
            </a:r>
          </a:p>
          <a:p>
            <a:pPr>
              <a:buFont typeface="Arial" pitchFamily="34" charset="0"/>
              <a:buChar char="•"/>
            </a:pPr>
            <a:r>
              <a:rPr lang="en-AU" sz="1200" kern="1200" dirty="0" smtClean="0">
                <a:solidFill>
                  <a:schemeClr val="tx1"/>
                </a:solidFill>
                <a:latin typeface="+mn-lt"/>
                <a:ea typeface="+mn-ea"/>
                <a:cs typeface="+mn-cs"/>
              </a:rPr>
              <a:t>Recording what occurs and what is discussed – for future reference</a:t>
            </a:r>
          </a:p>
          <a:p>
            <a:pPr>
              <a:buFont typeface="Arial" pitchFamily="34" charset="0"/>
              <a:buChar char="•"/>
            </a:pPr>
            <a:r>
              <a:rPr lang="en-AU" sz="1200" kern="1200" dirty="0" smtClean="0">
                <a:solidFill>
                  <a:schemeClr val="tx1"/>
                </a:solidFill>
                <a:latin typeface="+mn-lt"/>
                <a:ea typeface="+mn-ea"/>
                <a:cs typeface="+mn-cs"/>
              </a:rPr>
              <a:t>Identifying the issues which require mandatory consultation – which may include (for example):</a:t>
            </a:r>
          </a:p>
          <a:p>
            <a:pPr lvl="1">
              <a:buFont typeface="Arial" pitchFamily="34" charset="0"/>
              <a:buChar char="•"/>
            </a:pPr>
            <a:r>
              <a:rPr lang="en-AU" sz="1200" kern="1200" dirty="0" smtClean="0">
                <a:solidFill>
                  <a:schemeClr val="tx1"/>
                </a:solidFill>
                <a:latin typeface="+mn-lt"/>
                <a:ea typeface="+mn-ea"/>
                <a:cs typeface="+mn-cs"/>
              </a:rPr>
              <a:t>OHS issues</a:t>
            </a:r>
          </a:p>
          <a:p>
            <a:pPr lvl="1">
              <a:buFont typeface="Arial" pitchFamily="34" charset="0"/>
              <a:buChar char="•"/>
            </a:pPr>
            <a:r>
              <a:rPr lang="en-AU" sz="1200" kern="1200" dirty="0" smtClean="0">
                <a:solidFill>
                  <a:schemeClr val="tx1"/>
                </a:solidFill>
                <a:latin typeface="+mn-lt"/>
                <a:ea typeface="+mn-ea"/>
                <a:cs typeface="+mn-cs"/>
              </a:rPr>
              <a:t>Significant workplace change – especially for issues such as:</a:t>
            </a:r>
          </a:p>
          <a:p>
            <a:pPr lvl="2">
              <a:buFont typeface="Arial" pitchFamily="34" charset="0"/>
              <a:buChar char="•"/>
            </a:pPr>
            <a:r>
              <a:rPr lang="en-AU" sz="1200" kern="1200" dirty="0" smtClean="0">
                <a:solidFill>
                  <a:schemeClr val="tx1"/>
                </a:solidFill>
                <a:latin typeface="+mn-lt"/>
                <a:ea typeface="+mn-ea"/>
                <a:cs typeface="+mn-cs"/>
              </a:rPr>
              <a:t>Instances where large numbers of terminations/redundancies are being considered</a:t>
            </a:r>
          </a:p>
          <a:p>
            <a:pPr lvl="2">
              <a:buFont typeface="Arial" pitchFamily="34" charset="0"/>
              <a:buChar char="•"/>
            </a:pPr>
            <a:r>
              <a:rPr lang="en-AU" sz="1200" kern="1200" dirty="0" smtClean="0">
                <a:solidFill>
                  <a:schemeClr val="tx1"/>
                </a:solidFill>
                <a:latin typeface="+mn-lt"/>
                <a:ea typeface="+mn-ea"/>
                <a:cs typeface="+mn-cs"/>
              </a:rPr>
              <a:t>Applications have been made for flexible work arrangements</a:t>
            </a:r>
          </a:p>
          <a:p>
            <a:pPr lvl="2">
              <a:buFont typeface="Arial" pitchFamily="34" charset="0"/>
              <a:buChar char="•"/>
            </a:pPr>
            <a:r>
              <a:rPr lang="en-AU" sz="1200" kern="1200" dirty="0" smtClean="0">
                <a:solidFill>
                  <a:schemeClr val="tx1"/>
                </a:solidFill>
                <a:latin typeface="+mn-lt"/>
                <a:ea typeface="+mn-ea"/>
                <a:cs typeface="+mn-cs"/>
              </a:rPr>
              <a:t>Disciplinary action against a staff member</a:t>
            </a:r>
          </a:p>
          <a:p>
            <a:pPr lvl="2">
              <a:buFont typeface="Arial" pitchFamily="34" charset="0"/>
              <a:buChar char="•"/>
            </a:pPr>
            <a:r>
              <a:rPr lang="en-AU" sz="1200" kern="1200" dirty="0" smtClean="0">
                <a:solidFill>
                  <a:schemeClr val="tx1"/>
                </a:solidFill>
                <a:latin typeface="+mn-lt"/>
                <a:ea typeface="+mn-ea"/>
                <a:cs typeface="+mn-cs"/>
              </a:rPr>
              <a:t>Working conditions</a:t>
            </a:r>
          </a:p>
          <a:p>
            <a:pPr lvl="2">
              <a:buFont typeface="Arial" pitchFamily="34" charset="0"/>
              <a:buChar char="•"/>
            </a:pPr>
            <a:r>
              <a:rPr lang="en-AU" sz="1200" kern="1200" dirty="0" smtClean="0">
                <a:solidFill>
                  <a:schemeClr val="tx1"/>
                </a:solidFill>
                <a:latin typeface="+mn-lt"/>
                <a:ea typeface="+mn-ea"/>
                <a:cs typeface="+mn-cs"/>
              </a:rPr>
              <a:t>Policies and procedures</a:t>
            </a:r>
          </a:p>
          <a:p>
            <a:pPr lvl="1">
              <a:buFont typeface="Arial" pitchFamily="34" charset="0"/>
              <a:buChar char="•"/>
            </a:pPr>
            <a:r>
              <a:rPr lang="en-AU" sz="1200" kern="1200" dirty="0" smtClean="0">
                <a:solidFill>
                  <a:schemeClr val="tx1"/>
                </a:solidFill>
                <a:latin typeface="+mn-lt"/>
                <a:ea typeface="+mn-ea"/>
                <a:cs typeface="+mn-cs"/>
              </a:rPr>
              <a:t>Where employees raise and issue and request consultation – to help resolve the matter.</a:t>
            </a:r>
          </a:p>
          <a:p>
            <a:pPr lvl="1">
              <a:buFont typeface="Arial" pitchFamily="34" charset="0"/>
              <a:buChar char="•"/>
            </a:pPr>
            <a:r>
              <a:rPr lang="en-AU" sz="1200" kern="1200" dirty="0" smtClean="0">
                <a:solidFill>
                  <a:schemeClr val="tx1"/>
                </a:solidFill>
                <a:latin typeface="+mn-lt"/>
                <a:ea typeface="+mn-ea"/>
                <a:cs typeface="+mn-cs"/>
              </a:rPr>
              <a:t>Legislated topics where consultation is compulsory.</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Officer from government employment/manpower-related authority to attend and:</a:t>
            </a:r>
          </a:p>
          <a:p>
            <a:pPr>
              <a:buFont typeface="Arial" pitchFamily="34" charset="0"/>
              <a:buChar char="•"/>
            </a:pPr>
            <a:r>
              <a:rPr lang="en-AU" b="0" noProof="0" dirty="0" smtClean="0"/>
              <a:t>Discuss role and need for workplace consultation</a:t>
            </a:r>
          </a:p>
          <a:p>
            <a:pPr>
              <a:buFont typeface="Arial" pitchFamily="34" charset="0"/>
              <a:buChar char="•"/>
            </a:pPr>
            <a:r>
              <a:rPr lang="en-AU" b="0" noProof="0" dirty="0" smtClean="0"/>
              <a:t>Provide tips, advice and strategies for facilitating workplace consultation </a:t>
            </a:r>
          </a:p>
          <a:p>
            <a:pPr>
              <a:buFont typeface="Arial" pitchFamily="34" charset="0"/>
              <a:buChar char="•"/>
            </a:pPr>
            <a:r>
              <a:rPr lang="en-AU" b="0" noProof="0" dirty="0" smtClean="0"/>
              <a:t>Identify all applicable instances where there is a legislated need for workplace consultation</a:t>
            </a:r>
          </a:p>
          <a:p>
            <a:pPr>
              <a:buFont typeface="Arial" pitchFamily="34" charset="0"/>
              <a:buChar char="•"/>
            </a:pPr>
            <a:r>
              <a:rPr lang="en-AU" b="0" noProof="0" dirty="0" smtClean="0"/>
              <a:t>Indicate potential penalties and negative outcomes of failing to consult.</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191573664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practical strategies for workplace consultation highlighting:</a:t>
            </a:r>
          </a:p>
          <a:p>
            <a:pPr>
              <a:buFont typeface="Arial" pitchFamily="34" charset="0"/>
              <a:buChar char="•"/>
            </a:pPr>
            <a:r>
              <a:rPr lang="en-AU" sz="1200" kern="1200" dirty="0" smtClean="0">
                <a:solidFill>
                  <a:schemeClr val="tx1"/>
                </a:solidFill>
                <a:latin typeface="+mn-lt"/>
                <a:ea typeface="+mn-ea"/>
                <a:cs typeface="+mn-cs"/>
              </a:rPr>
              <a:t>Practical strategies for implementing useful workplace consultation are essentially simple – that is, they are not complex or technical,</a:t>
            </a:r>
          </a:p>
          <a:p>
            <a:pPr>
              <a:buFont typeface="Arial" pitchFamily="34" charset="0"/>
              <a:buChar char="•"/>
            </a:pPr>
            <a:r>
              <a:rPr lang="en-AU" sz="1200" kern="1200" dirty="0" smtClean="0">
                <a:solidFill>
                  <a:schemeClr val="tx1"/>
                </a:solidFill>
                <a:latin typeface="+mn-lt"/>
                <a:ea typeface="+mn-ea"/>
                <a:cs typeface="+mn-cs"/>
              </a:rPr>
              <a:t>They require:</a:t>
            </a:r>
          </a:p>
          <a:p>
            <a:pPr lvl="1">
              <a:buFont typeface="Arial" pitchFamily="34" charset="0"/>
              <a:buChar char="•"/>
            </a:pPr>
            <a:r>
              <a:rPr lang="en-AU" sz="1200" kern="1200" dirty="0" smtClean="0">
                <a:solidFill>
                  <a:schemeClr val="tx1"/>
                </a:solidFill>
                <a:latin typeface="+mn-lt"/>
                <a:ea typeface="+mn-ea"/>
                <a:cs typeface="+mn-cs"/>
              </a:rPr>
              <a:t>Time</a:t>
            </a:r>
          </a:p>
          <a:p>
            <a:pPr lvl="1">
              <a:buFont typeface="Arial" pitchFamily="34" charset="0"/>
              <a:buChar char="•"/>
            </a:pPr>
            <a:r>
              <a:rPr lang="en-AU" sz="1200" kern="1200" dirty="0" smtClean="0">
                <a:solidFill>
                  <a:schemeClr val="tx1"/>
                </a:solidFill>
                <a:latin typeface="+mn-lt"/>
                <a:ea typeface="+mn-ea"/>
                <a:cs typeface="+mn-cs"/>
              </a:rPr>
              <a:t>Commitment</a:t>
            </a:r>
          </a:p>
          <a:p>
            <a:pPr lvl="1">
              <a:buFont typeface="Arial" pitchFamily="34" charset="0"/>
              <a:buChar char="•"/>
            </a:pPr>
            <a:r>
              <a:rPr lang="en-AU" sz="1200" kern="1200" dirty="0" smtClean="0">
                <a:solidFill>
                  <a:schemeClr val="tx1"/>
                </a:solidFill>
                <a:latin typeface="+mn-lt"/>
                <a:ea typeface="+mn-ea"/>
                <a:cs typeface="+mn-cs"/>
              </a:rPr>
              <a:t>Some basic resources.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330951921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three practical strategies/options for implementing workplace consultation: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latin typeface="+mn-lt"/>
                <a:ea typeface="+mn-ea"/>
                <a:cs typeface="+mn-cs"/>
              </a:rPr>
              <a:t>Holding regular meetings – see following slides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latin typeface="+mn-lt"/>
                <a:ea typeface="+mn-ea"/>
                <a:cs typeface="+mn-cs"/>
              </a:rPr>
              <a:t>Using various communication techniques – see following slides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latin typeface="+mn-lt"/>
                <a:ea typeface="+mn-ea"/>
                <a:cs typeface="+mn-cs"/>
              </a:rPr>
              <a:t>Implementing practical management techniques – see following slides.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276230528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‘Holding regular meetings’ observing these meetings:</a:t>
            </a:r>
          </a:p>
          <a:p>
            <a:pPr>
              <a:buFont typeface="Arial" pitchFamily="34" charset="0"/>
              <a:buChar char="•"/>
            </a:pPr>
            <a:r>
              <a:rPr lang="en-AU" sz="1200" kern="1200" dirty="0" smtClean="0">
                <a:solidFill>
                  <a:schemeClr val="tx1"/>
                </a:solidFill>
                <a:latin typeface="+mn-lt"/>
                <a:ea typeface="+mn-ea"/>
                <a:cs typeface="+mn-cs"/>
              </a:rPr>
              <a:t>Occur between management and staff:</a:t>
            </a:r>
          </a:p>
          <a:p>
            <a:pPr lvl="1"/>
            <a:r>
              <a:rPr lang="en-AU" sz="1200" kern="1200" dirty="0" smtClean="0">
                <a:solidFill>
                  <a:schemeClr val="tx1"/>
                </a:solidFill>
                <a:latin typeface="+mn-lt"/>
                <a:ea typeface="+mn-ea"/>
                <a:cs typeface="+mn-cs"/>
              </a:rPr>
              <a:t>May be held between management and ‘all staff’ </a:t>
            </a:r>
          </a:p>
          <a:p>
            <a:pPr lvl="1"/>
            <a:r>
              <a:rPr lang="en-AU" sz="1200" kern="1200" dirty="0" smtClean="0">
                <a:solidFill>
                  <a:schemeClr val="tx1"/>
                </a:solidFill>
                <a:latin typeface="+mn-lt"/>
                <a:ea typeface="+mn-ea"/>
                <a:cs typeface="+mn-cs"/>
              </a:rPr>
              <a:t>May take place between management reps and staff reps</a:t>
            </a:r>
          </a:p>
          <a:p>
            <a:pPr>
              <a:buFont typeface="Arial" pitchFamily="34" charset="0"/>
              <a:buChar char="•"/>
            </a:pPr>
            <a:r>
              <a:rPr lang="en-AU" sz="1200" kern="1200" dirty="0" smtClean="0">
                <a:solidFill>
                  <a:schemeClr val="tx1"/>
                </a:solidFill>
                <a:latin typeface="+mn-lt"/>
                <a:ea typeface="+mn-ea"/>
                <a:cs typeface="+mn-cs"/>
              </a:rPr>
              <a:t>Can be of various forms/types and titles – such as:</a:t>
            </a:r>
          </a:p>
          <a:p>
            <a:pPr lvl="1">
              <a:buFont typeface="Arial" pitchFamily="34" charset="0"/>
              <a:buChar char="•"/>
            </a:pPr>
            <a:r>
              <a:rPr lang="en-AU" sz="1200" kern="1200" dirty="0" smtClean="0">
                <a:solidFill>
                  <a:schemeClr val="tx1"/>
                </a:solidFill>
                <a:latin typeface="+mn-lt"/>
                <a:ea typeface="+mn-ea"/>
                <a:cs typeface="+mn-cs"/>
              </a:rPr>
              <a:t>All staff meetings</a:t>
            </a:r>
          </a:p>
          <a:p>
            <a:pPr lvl="1">
              <a:buFont typeface="Arial" pitchFamily="34" charset="0"/>
              <a:buChar char="•"/>
            </a:pPr>
            <a:r>
              <a:rPr lang="en-AU" sz="1200" kern="1200" dirty="0" smtClean="0">
                <a:solidFill>
                  <a:schemeClr val="tx1"/>
                </a:solidFill>
                <a:latin typeface="+mn-lt"/>
                <a:ea typeface="+mn-ea"/>
                <a:cs typeface="+mn-cs"/>
              </a:rPr>
              <a:t>Team meetings</a:t>
            </a:r>
          </a:p>
          <a:p>
            <a:pPr lvl="1">
              <a:buFont typeface="Arial" pitchFamily="34" charset="0"/>
              <a:buChar char="•"/>
            </a:pPr>
            <a:r>
              <a:rPr lang="en-AU" sz="1200" kern="1200" dirty="0" smtClean="0">
                <a:solidFill>
                  <a:schemeClr val="tx1"/>
                </a:solidFill>
                <a:latin typeface="+mn-lt"/>
                <a:ea typeface="+mn-ea"/>
                <a:cs typeface="+mn-cs"/>
              </a:rPr>
              <a:t>Department meetings</a:t>
            </a:r>
          </a:p>
          <a:p>
            <a:pPr lvl="1">
              <a:buFont typeface="Arial" pitchFamily="34" charset="0"/>
              <a:buChar char="•"/>
            </a:pPr>
            <a:r>
              <a:rPr lang="en-AU" sz="1200" kern="1200" dirty="0" smtClean="0">
                <a:solidFill>
                  <a:schemeClr val="tx1"/>
                </a:solidFill>
                <a:latin typeface="+mn-lt"/>
                <a:ea typeface="+mn-ea"/>
                <a:cs typeface="+mn-cs"/>
              </a:rPr>
              <a:t>Toolbox meetings</a:t>
            </a:r>
          </a:p>
          <a:p>
            <a:pPr lvl="1">
              <a:buFont typeface="Arial" pitchFamily="34" charset="0"/>
              <a:buChar char="•"/>
            </a:pPr>
            <a:r>
              <a:rPr lang="en-AU" sz="1200" kern="1200" dirty="0" smtClean="0">
                <a:solidFill>
                  <a:schemeClr val="tx1"/>
                </a:solidFill>
                <a:latin typeface="+mn-lt"/>
                <a:ea typeface="+mn-ea"/>
                <a:cs typeface="+mn-cs"/>
              </a:rPr>
              <a:t>Staff briefings</a:t>
            </a:r>
          </a:p>
          <a:p>
            <a:pPr lvl="1">
              <a:buFont typeface="Arial" pitchFamily="34" charset="0"/>
              <a:buChar char="•"/>
            </a:pPr>
            <a:r>
              <a:rPr lang="en-AU" sz="1200" kern="1200" dirty="0" smtClean="0">
                <a:solidFill>
                  <a:schemeClr val="tx1"/>
                </a:solidFill>
                <a:latin typeface="+mn-lt"/>
                <a:ea typeface="+mn-ea"/>
                <a:cs typeface="+mn-cs"/>
              </a:rPr>
              <a:t>Special meetings</a:t>
            </a:r>
          </a:p>
          <a:p>
            <a:pPr>
              <a:buFont typeface="Arial" pitchFamily="34" charset="0"/>
              <a:buChar char="•"/>
            </a:pPr>
            <a:r>
              <a:rPr lang="en-AU" sz="1200" kern="1200" dirty="0" smtClean="0">
                <a:solidFill>
                  <a:schemeClr val="tx1"/>
                </a:solidFill>
                <a:latin typeface="+mn-lt"/>
                <a:ea typeface="+mn-ea"/>
                <a:cs typeface="+mn-cs"/>
              </a:rPr>
              <a:t>Must be scheduled at regular times</a:t>
            </a:r>
          </a:p>
          <a:p>
            <a:pPr>
              <a:buFont typeface="Arial" pitchFamily="34" charset="0"/>
              <a:buChar char="•"/>
            </a:pPr>
            <a:r>
              <a:rPr lang="en-AU" sz="1200" kern="1200" dirty="0" smtClean="0">
                <a:solidFill>
                  <a:schemeClr val="tx1"/>
                </a:solidFill>
                <a:latin typeface="+mn-lt"/>
                <a:ea typeface="+mn-ea"/>
                <a:cs typeface="+mn-cs"/>
              </a:rPr>
              <a:t>Should be held in the same location to encourage attendance</a:t>
            </a:r>
          </a:p>
          <a:p>
            <a:pPr>
              <a:buFont typeface="Arial" pitchFamily="34" charset="0"/>
              <a:buChar char="•"/>
            </a:pPr>
            <a:r>
              <a:rPr lang="en-AU" sz="1200" kern="1200" dirty="0" smtClean="0">
                <a:solidFill>
                  <a:schemeClr val="tx1"/>
                </a:solidFill>
                <a:latin typeface="+mn-lt"/>
                <a:ea typeface="+mn-ea"/>
                <a:cs typeface="+mn-cs"/>
              </a:rPr>
              <a:t>Need to be held in a ‘neutral’ location – so they are seen as inclusive: they must not (for example) be held in the Manager’s office or the Board Room as this holds inequitable management influence on proceedings</a:t>
            </a:r>
          </a:p>
          <a:p>
            <a:pPr>
              <a:buFont typeface="Arial" pitchFamily="34" charset="0"/>
              <a:buChar char="•"/>
            </a:pPr>
            <a:r>
              <a:rPr lang="en-AU" sz="1200" kern="1200" dirty="0" smtClean="0">
                <a:solidFill>
                  <a:schemeClr val="tx1"/>
                </a:solidFill>
                <a:latin typeface="+mn-lt"/>
                <a:ea typeface="+mn-ea"/>
                <a:cs typeface="+mn-cs"/>
              </a:rPr>
              <a:t>Need to be recorded/have minutes taken</a:t>
            </a:r>
          </a:p>
          <a:p>
            <a:pPr>
              <a:buFont typeface="Arial" pitchFamily="34" charset="0"/>
              <a:buChar char="•"/>
            </a:pPr>
            <a:r>
              <a:rPr lang="en-AU" sz="1200" kern="1200" dirty="0" smtClean="0">
                <a:solidFill>
                  <a:schemeClr val="tx1"/>
                </a:solidFill>
                <a:latin typeface="+mn-lt"/>
                <a:ea typeface="+mn-ea"/>
                <a:cs typeface="+mn-cs"/>
              </a:rPr>
              <a:t>Should have their content/written record (‘minutes’) released to ‘everyone’ for their information so they know what took place. </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185505673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‘Using various communication techniques’ observing this can involve:</a:t>
            </a:r>
          </a:p>
          <a:p>
            <a:pPr>
              <a:buFont typeface="Arial" pitchFamily="34" charset="0"/>
              <a:buChar char="•"/>
            </a:pPr>
            <a:r>
              <a:rPr lang="en-AU" sz="1200" kern="1200" dirty="0" smtClean="0">
                <a:solidFill>
                  <a:schemeClr val="tx1"/>
                </a:solidFill>
                <a:latin typeface="+mn-lt"/>
                <a:ea typeface="+mn-ea"/>
                <a:cs typeface="+mn-cs"/>
              </a:rPr>
              <a:t>Distributing hard copy materials – for staff to read so they have information relevant to the topic on which to make valid contributions and to help them understand the issue</a:t>
            </a:r>
          </a:p>
          <a:p>
            <a:pPr>
              <a:buFont typeface="Arial" pitchFamily="34" charset="0"/>
              <a:buChar char="•"/>
            </a:pPr>
            <a:r>
              <a:rPr lang="en-AU" sz="1200" kern="1200" dirty="0" smtClean="0">
                <a:solidFill>
                  <a:schemeClr val="tx1"/>
                </a:solidFill>
                <a:latin typeface="+mn-lt"/>
                <a:ea typeface="+mn-ea"/>
                <a:cs typeface="+mn-cs"/>
              </a:rPr>
              <a:t>Using emails – to provide information as an alternative to hard copy distribution of material</a:t>
            </a:r>
          </a:p>
          <a:p>
            <a:pPr>
              <a:buFont typeface="Arial" pitchFamily="34" charset="0"/>
              <a:buChar char="•"/>
            </a:pPr>
            <a:r>
              <a:rPr lang="en-AU" sz="1200" kern="1200" dirty="0" smtClean="0">
                <a:solidFill>
                  <a:schemeClr val="tx1"/>
                </a:solidFill>
                <a:latin typeface="+mn-lt"/>
                <a:ea typeface="+mn-ea"/>
                <a:cs typeface="+mn-cs"/>
              </a:rPr>
              <a:t>Lodging information on the intranet of the organisation – so employees can access and download or print it</a:t>
            </a:r>
          </a:p>
          <a:p>
            <a:pPr>
              <a:buFont typeface="Arial" pitchFamily="34" charset="0"/>
              <a:buChar char="•"/>
            </a:pPr>
            <a:r>
              <a:rPr lang="en-AU" sz="1200" kern="1200" dirty="0" smtClean="0">
                <a:solidFill>
                  <a:schemeClr val="tx1"/>
                </a:solidFill>
                <a:latin typeface="+mn-lt"/>
                <a:ea typeface="+mn-ea"/>
                <a:cs typeface="+mn-cs"/>
              </a:rPr>
              <a:t>Including necessary information in regular internal staff newsletters – as another way of providing detail for staff to use as the basis for their thinking and contributions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111883450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‘Implementing practical management techniques’ explaining these include:</a:t>
            </a:r>
          </a:p>
          <a:p>
            <a:pPr>
              <a:buFont typeface="Arial" pitchFamily="34" charset="0"/>
              <a:buChar char="•"/>
            </a:pPr>
            <a:r>
              <a:rPr lang="en-AU" sz="1200" kern="1200" dirty="0" smtClean="0">
                <a:solidFill>
                  <a:schemeClr val="tx1"/>
                </a:solidFill>
                <a:latin typeface="+mn-lt"/>
                <a:ea typeface="+mn-ea"/>
                <a:cs typeface="+mn-cs"/>
              </a:rPr>
              <a:t>Having an open door policy – which allows/encourages staff to contact managers/supervisors ‘at any time’</a:t>
            </a:r>
          </a:p>
          <a:p>
            <a:pPr>
              <a:buFont typeface="Arial" pitchFamily="34" charset="0"/>
              <a:buChar char="•"/>
            </a:pPr>
            <a:r>
              <a:rPr lang="en-AU" sz="1200" kern="1200" dirty="0" smtClean="0">
                <a:solidFill>
                  <a:schemeClr val="tx1"/>
                </a:solidFill>
                <a:latin typeface="+mn-lt"/>
                <a:ea typeface="+mn-ea"/>
                <a:cs typeface="+mn-cs"/>
              </a:rPr>
              <a:t>Being seen in the workplace – so employees have an opportunity to approach and talk about issues</a:t>
            </a:r>
          </a:p>
          <a:p>
            <a:pPr>
              <a:buFont typeface="Arial" pitchFamily="34" charset="0"/>
              <a:buChar char="•"/>
            </a:pPr>
            <a:r>
              <a:rPr lang="en-AU" sz="1200" kern="1200" dirty="0" smtClean="0">
                <a:solidFill>
                  <a:schemeClr val="tx1"/>
                </a:solidFill>
                <a:latin typeface="+mn-lt"/>
                <a:ea typeface="+mn-ea"/>
                <a:cs typeface="+mn-cs"/>
              </a:rPr>
              <a:t>Maintaining privacy and confidentialities – about who raised what issues, and about who said what if this is necessary</a:t>
            </a:r>
          </a:p>
          <a:p>
            <a:pPr>
              <a:buFont typeface="Arial" pitchFamily="34" charset="0"/>
              <a:buChar char="•"/>
            </a:pPr>
            <a:r>
              <a:rPr lang="en-AU" sz="1200" kern="1200" dirty="0" smtClean="0">
                <a:solidFill>
                  <a:schemeClr val="tx1"/>
                </a:solidFill>
                <a:latin typeface="+mn-lt"/>
                <a:ea typeface="+mn-ea"/>
                <a:cs typeface="+mn-cs"/>
              </a:rPr>
              <a:t>Acknowledging the contributions of employees – where appropriate so credit is given where it is due</a:t>
            </a:r>
          </a:p>
          <a:p>
            <a:pPr>
              <a:buFont typeface="Arial" pitchFamily="34" charset="0"/>
              <a:buChar char="•"/>
            </a:pPr>
            <a:r>
              <a:rPr lang="en-AU" sz="1200" kern="1200" dirty="0" smtClean="0">
                <a:solidFill>
                  <a:schemeClr val="tx1"/>
                </a:solidFill>
                <a:latin typeface="+mn-lt"/>
                <a:ea typeface="+mn-ea"/>
                <a:cs typeface="+mn-cs"/>
              </a:rPr>
              <a:t>Asking for input – when talking to individuals, groups, teams or departments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5355460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‘Implementing practical management techniques’ explaining these include:</a:t>
            </a:r>
          </a:p>
          <a:p>
            <a:pPr>
              <a:buFont typeface="Arial" pitchFamily="34" charset="0"/>
              <a:buChar char="•"/>
            </a:pPr>
            <a:r>
              <a:rPr lang="en-AU" sz="1200" kern="1200" dirty="0" smtClean="0">
                <a:solidFill>
                  <a:schemeClr val="tx1"/>
                </a:solidFill>
                <a:latin typeface="+mn-lt"/>
                <a:ea typeface="+mn-ea"/>
                <a:cs typeface="+mn-cs"/>
              </a:rPr>
              <a:t>Making sure current topics/issues are listed as agenda items – for all staff meetings so that there is optimum opportunity for employees to contribute</a:t>
            </a:r>
          </a:p>
          <a:p>
            <a:pPr>
              <a:buFont typeface="Arial" pitchFamily="34" charset="0"/>
              <a:buChar char="•"/>
            </a:pPr>
            <a:r>
              <a:rPr lang="en-AU" sz="1200" kern="1200" dirty="0" smtClean="0">
                <a:solidFill>
                  <a:schemeClr val="tx1"/>
                </a:solidFill>
                <a:latin typeface="+mn-lt"/>
                <a:ea typeface="+mn-ea"/>
                <a:cs typeface="+mn-cs"/>
              </a:rPr>
              <a:t>Installing a Suggestion Box in the Staff Room – so staff have the option of making an anonymous contribution if this is what they prefer</a:t>
            </a:r>
          </a:p>
          <a:p>
            <a:pPr>
              <a:buFont typeface="Arial" pitchFamily="34" charset="0"/>
              <a:buChar char="•"/>
            </a:pPr>
            <a:r>
              <a:rPr lang="en-AU" sz="1200" kern="1200" dirty="0" smtClean="0">
                <a:solidFill>
                  <a:schemeClr val="tx1"/>
                </a:solidFill>
                <a:latin typeface="+mn-lt"/>
                <a:ea typeface="+mn-ea"/>
                <a:cs typeface="+mn-cs"/>
              </a:rPr>
              <a:t>Thanking people for communicating – so they are encouraged/motivated to continue to do so</a:t>
            </a:r>
          </a:p>
          <a:p>
            <a:pPr>
              <a:buFont typeface="Arial" pitchFamily="34" charset="0"/>
              <a:buChar char="•"/>
            </a:pPr>
            <a:r>
              <a:rPr lang="en-AU" sz="1200" kern="1200" dirty="0" smtClean="0">
                <a:solidFill>
                  <a:schemeClr val="tx1"/>
                </a:solidFill>
                <a:latin typeface="+mn-lt"/>
                <a:ea typeface="+mn-ea"/>
                <a:cs typeface="+mn-cs"/>
              </a:rPr>
              <a:t>Rewarding exceptional contributions – which result in some significant saving, progress, benefit or other positive outcome for the business.</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pPr>
              <a:buFont typeface="Arial" pitchFamily="34" charset="0"/>
              <a:buNone/>
            </a:pPr>
            <a:r>
              <a:rPr lang="en-AU" sz="1200" kern="1200" dirty="0" smtClean="0">
                <a:solidFill>
                  <a:schemeClr val="tx1"/>
                </a:solidFill>
                <a:latin typeface="+mn-lt"/>
                <a:ea typeface="+mn-ea"/>
                <a:cs typeface="+mn-cs"/>
              </a:rPr>
              <a:t>Australian Government ‘Fair Work Ombudsman’ (</a:t>
            </a:r>
            <a:r>
              <a:rPr lang="en-AU" sz="1200" u="sng" kern="1200" dirty="0" smtClean="0">
                <a:solidFill>
                  <a:schemeClr val="tx1"/>
                </a:solidFill>
                <a:latin typeface="+mn-lt"/>
                <a:ea typeface="+mn-ea"/>
                <a:cs typeface="+mn-cs"/>
                <a:hlinkClick r:id="rId3"/>
              </a:rPr>
              <a:t>http://www.google.com.au/url?sa=t&amp;rct=j&amp;q=&amp;esrc=s&amp;source=web&amp;cd=6&amp;ved=0CDsQFjAF&amp;url=http%3A%2F%2Fwww.fairwork.gov.au%2FArticleDocuments%2F711%2FConsultation-and-cooperation-in-the-workplace-best-practice-guide.pdf.aspx&amp;ei=xpWgVKHBHsSvmAXpsoCQDg&amp;usg=AFQjCNH-tNONfgQm_NqF1uQzUqrF_Kv6VQ&amp;bvm=bv.82001339,d.dGY</a:t>
            </a:r>
            <a:r>
              <a:rPr lang="en-AU" sz="1200" kern="1200" dirty="0" smtClean="0">
                <a:solidFill>
                  <a:schemeClr val="tx1"/>
                </a:solidFill>
                <a:latin typeface="+mn-lt"/>
                <a:ea typeface="+mn-ea"/>
                <a:cs typeface="+mn-cs"/>
              </a:rPr>
              <a:t>) to read their ‘Best Practice Guide: Consultation and cooperation in the workplace’</a:t>
            </a: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157810730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noProof="0" dirty="0" smtClean="0"/>
              <a:t>Trainer </a:t>
            </a:r>
            <a:r>
              <a:rPr lang="en-AU" sz="1200" kern="1200" dirty="0" smtClean="0">
                <a:solidFill>
                  <a:schemeClr val="tx1"/>
                </a:solidFill>
                <a:latin typeface="+mn-lt"/>
                <a:ea typeface="+mn-ea"/>
                <a:cs typeface="+mn-cs"/>
              </a:rPr>
              <a:t>explains effective two-way communication in the workplace can be facilitated by using some of the options suggested:</a:t>
            </a:r>
          </a:p>
          <a:p>
            <a:pPr>
              <a:buFont typeface="Arial" pitchFamily="34" charset="0"/>
              <a:buChar char="•"/>
            </a:pPr>
            <a:r>
              <a:rPr lang="en-AU" sz="1200" kern="1200" dirty="0" smtClean="0">
                <a:solidFill>
                  <a:schemeClr val="tx1"/>
                </a:solidFill>
                <a:latin typeface="+mn-lt"/>
                <a:ea typeface="+mn-ea"/>
                <a:cs typeface="+mn-cs"/>
              </a:rPr>
              <a:t>Including time for staff to communicate – that is, making sure they have paid time (during working hours) to engage in the communication process.</a:t>
            </a:r>
          </a:p>
          <a:p>
            <a:pPr lvl="1">
              <a:buFont typeface="Arial" pitchFamily="34" charset="0"/>
              <a:buChar char="•"/>
            </a:pPr>
            <a:r>
              <a:rPr lang="en-AU" sz="1200" kern="1200" dirty="0" smtClean="0">
                <a:solidFill>
                  <a:schemeClr val="tx1"/>
                </a:solidFill>
                <a:latin typeface="+mn-lt"/>
                <a:ea typeface="+mn-ea"/>
                <a:cs typeface="+mn-cs"/>
              </a:rPr>
              <a:t>Workers should not be expected to use their own time for workplace relations communication because experience has shown this tends to significantly reduce their participation.</a:t>
            </a:r>
          </a:p>
          <a:p>
            <a:pPr>
              <a:buFont typeface="Arial" pitchFamily="34" charset="0"/>
              <a:buChar char="•"/>
            </a:pPr>
            <a:r>
              <a:rPr lang="en-AU" sz="1200" kern="1200" dirty="0" smtClean="0">
                <a:solidFill>
                  <a:schemeClr val="tx1"/>
                </a:solidFill>
                <a:latin typeface="+mn-lt"/>
                <a:ea typeface="+mn-ea"/>
                <a:cs typeface="+mn-cs"/>
              </a:rPr>
              <a:t>Providing </a:t>
            </a:r>
            <a:r>
              <a:rPr lang="en-AU" sz="1200" i="1" kern="1200" dirty="0" smtClean="0">
                <a:solidFill>
                  <a:schemeClr val="tx1"/>
                </a:solidFill>
                <a:latin typeface="+mn-lt"/>
                <a:ea typeface="+mn-ea"/>
                <a:cs typeface="+mn-cs"/>
              </a:rPr>
              <a:t>pro forma</a:t>
            </a:r>
            <a:r>
              <a:rPr lang="en-AU" sz="1200" kern="1200" dirty="0" smtClean="0">
                <a:solidFill>
                  <a:schemeClr val="tx1"/>
                </a:solidFill>
                <a:latin typeface="+mn-lt"/>
                <a:ea typeface="+mn-ea"/>
                <a:cs typeface="+mn-cs"/>
              </a:rPr>
              <a:t> documentation – such as forms and reports to help staff lodge or write communications</a:t>
            </a:r>
          </a:p>
          <a:p>
            <a:pPr>
              <a:buFont typeface="Arial" pitchFamily="34" charset="0"/>
              <a:buChar char="•"/>
            </a:pPr>
            <a:r>
              <a:rPr lang="en-AU" sz="1200" kern="1200" dirty="0" smtClean="0">
                <a:solidFill>
                  <a:schemeClr val="tx1"/>
                </a:solidFill>
                <a:latin typeface="+mn-lt"/>
                <a:ea typeface="+mn-ea"/>
                <a:cs typeface="+mn-cs"/>
              </a:rPr>
              <a:t>Advising staff of channels of communication/s available within the organisation for them to use – and providing advice on how to use those channels</a:t>
            </a:r>
          </a:p>
          <a:p>
            <a:pPr>
              <a:buFont typeface="Arial" pitchFamily="34" charset="0"/>
              <a:buChar char="•"/>
            </a:pPr>
            <a:r>
              <a:rPr lang="en-AU" sz="1200" kern="1200" dirty="0" smtClean="0">
                <a:solidFill>
                  <a:schemeClr val="tx1"/>
                </a:solidFill>
                <a:latin typeface="+mn-lt"/>
                <a:ea typeface="+mn-ea"/>
                <a:cs typeface="+mn-cs"/>
              </a:rPr>
              <a:t>Developing and producing written communication policies and procedures – to guide and (perhaps) prescribe requirements (or options/suggestions) for communication in the workplace with reference (for example) names of individuals who can assist, names of documentation that exists and details of meetings, locations, scheduling and so forth</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r>
              <a:rPr lang="en-AU" sz="1200" u="sng" kern="1200" dirty="0" smtClean="0">
                <a:solidFill>
                  <a:schemeClr val="tx1"/>
                </a:solidFill>
                <a:latin typeface="+mn-lt"/>
                <a:ea typeface="+mn-ea"/>
                <a:cs typeface="+mn-cs"/>
                <a:hlinkClick r:id="rId3"/>
              </a:rPr>
              <a:t>http://www.fairwork.gov.au/about-us/policies-and-guides/best-practice-guides/consultation-and-cooperation-in-the-workplace#why-best-practice</a:t>
            </a:r>
            <a:r>
              <a:rPr lang="en-AU" sz="1200" kern="1200" dirty="0" smtClean="0">
                <a:solidFill>
                  <a:schemeClr val="tx1"/>
                </a:solidFill>
                <a:latin typeface="+mn-lt"/>
                <a:ea typeface="+mn-ea"/>
                <a:cs typeface="+mn-cs"/>
              </a:rPr>
              <a:t> – Consultation and cooperation in the workplace</a:t>
            </a:r>
          </a:p>
          <a:p>
            <a:r>
              <a:rPr lang="en-AU" sz="1200" u="sng" kern="1200" dirty="0" smtClean="0">
                <a:solidFill>
                  <a:schemeClr val="tx1"/>
                </a:solidFill>
                <a:latin typeface="+mn-lt"/>
                <a:ea typeface="+mn-ea"/>
                <a:cs typeface="+mn-cs"/>
                <a:hlinkClick r:id="rId4"/>
              </a:rPr>
              <a:t>http://smallbiztrends.com/2013/11/ways-to-communicate-effectively-in-the-workplace.html</a:t>
            </a:r>
            <a:r>
              <a:rPr lang="en-AU" sz="1200" kern="1200" dirty="0" smtClean="0">
                <a:solidFill>
                  <a:schemeClr val="tx1"/>
                </a:solidFill>
                <a:latin typeface="+mn-lt"/>
                <a:ea typeface="+mn-ea"/>
                <a:cs typeface="+mn-cs"/>
              </a:rPr>
              <a:t> - 20 ways to communicate effectively with your team</a:t>
            </a:r>
          </a:p>
          <a:p>
            <a:r>
              <a:rPr lang="en-AU" sz="1200" u="sng" kern="1200" dirty="0" smtClean="0">
                <a:solidFill>
                  <a:schemeClr val="tx1"/>
                </a:solidFill>
                <a:latin typeface="+mn-lt"/>
                <a:ea typeface="+mn-ea"/>
                <a:cs typeface="+mn-cs"/>
                <a:hlinkClick r:id="rId5"/>
              </a:rPr>
              <a:t>http://www.corrs.com.au/publications/corrs-in-brief/consultation-with-employees-why-what-and-when/</a:t>
            </a:r>
            <a:r>
              <a:rPr lang="en-AU" sz="1200" kern="1200" dirty="0" smtClean="0">
                <a:solidFill>
                  <a:schemeClr val="tx1"/>
                </a:solidFill>
                <a:latin typeface="+mn-lt"/>
                <a:ea typeface="+mn-ea"/>
                <a:cs typeface="+mn-cs"/>
              </a:rPr>
              <a:t> - Consultation with employees: why, what and when?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61672607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AU" noProof="0" dirty="0" smtClean="0"/>
              <a:t>Trainer continues giving options for facilitating two-way communication:</a:t>
            </a:r>
          </a:p>
          <a:p>
            <a:pPr>
              <a:buFont typeface="Arial" pitchFamily="34" charset="0"/>
              <a:buChar char="•"/>
            </a:pPr>
            <a:r>
              <a:rPr lang="en-AU" sz="1200" kern="1200" dirty="0" smtClean="0">
                <a:solidFill>
                  <a:schemeClr val="tx1"/>
                </a:solidFill>
                <a:latin typeface="+mn-lt"/>
                <a:ea typeface="+mn-ea"/>
                <a:cs typeface="+mn-cs"/>
              </a:rPr>
              <a:t>Using appropriate language – so communications can be understood. This can mean:</a:t>
            </a:r>
          </a:p>
          <a:p>
            <a:pPr lvl="1">
              <a:buFont typeface="Arial" pitchFamily="34" charset="0"/>
              <a:buChar char="•"/>
            </a:pPr>
            <a:r>
              <a:rPr lang="en-AU" sz="1200" kern="1200" dirty="0" smtClean="0">
                <a:solidFill>
                  <a:schemeClr val="tx1"/>
                </a:solidFill>
                <a:latin typeface="+mn-lt"/>
                <a:ea typeface="+mn-ea"/>
                <a:cs typeface="+mn-cs"/>
              </a:rPr>
              <a:t>Providing the same information in multiple languages</a:t>
            </a:r>
          </a:p>
          <a:p>
            <a:pPr lvl="1">
              <a:buFont typeface="Arial" pitchFamily="34" charset="0"/>
              <a:buChar char="•"/>
            </a:pPr>
            <a:r>
              <a:rPr lang="en-AU" sz="1200" kern="1200" dirty="0" smtClean="0">
                <a:solidFill>
                  <a:schemeClr val="tx1"/>
                </a:solidFill>
                <a:latin typeface="+mn-lt"/>
                <a:ea typeface="+mn-ea"/>
                <a:cs typeface="+mn-cs"/>
              </a:rPr>
              <a:t>Using photographs and graphics</a:t>
            </a:r>
          </a:p>
          <a:p>
            <a:pPr lvl="1">
              <a:buFont typeface="Arial" pitchFamily="34" charset="0"/>
              <a:buChar char="•"/>
            </a:pPr>
            <a:r>
              <a:rPr lang="en-AU" sz="1200" kern="1200" dirty="0" smtClean="0">
                <a:solidFill>
                  <a:schemeClr val="tx1"/>
                </a:solidFill>
                <a:latin typeface="+mn-lt"/>
                <a:ea typeface="+mn-ea"/>
                <a:cs typeface="+mn-cs"/>
              </a:rPr>
              <a:t>Not using complex language</a:t>
            </a:r>
          </a:p>
          <a:p>
            <a:pPr>
              <a:buFont typeface="Arial" pitchFamily="34" charset="0"/>
              <a:buChar char="•"/>
            </a:pPr>
            <a:r>
              <a:rPr lang="en-AU" sz="1200" kern="1200" dirty="0" smtClean="0">
                <a:solidFill>
                  <a:schemeClr val="tx1"/>
                </a:solidFill>
                <a:latin typeface="+mn-lt"/>
                <a:ea typeface="+mn-ea"/>
                <a:cs typeface="+mn-cs"/>
              </a:rPr>
              <a:t>Providing training for staff in relation to communication – which can require attention to a range of issues such as:</a:t>
            </a:r>
          </a:p>
          <a:p>
            <a:pPr lvl="1">
              <a:buFont typeface="Arial" pitchFamily="34" charset="0"/>
              <a:buChar char="•"/>
            </a:pPr>
            <a:r>
              <a:rPr lang="en-AU" sz="1200" kern="1200" dirty="0" smtClean="0">
                <a:solidFill>
                  <a:schemeClr val="tx1"/>
                </a:solidFill>
                <a:latin typeface="+mn-lt"/>
                <a:ea typeface="+mn-ea"/>
                <a:cs typeface="+mn-cs"/>
              </a:rPr>
              <a:t>Language issues</a:t>
            </a:r>
          </a:p>
          <a:p>
            <a:pPr lvl="1">
              <a:buFont typeface="Arial" pitchFamily="34" charset="0"/>
              <a:buChar char="•"/>
            </a:pPr>
            <a:r>
              <a:rPr lang="en-AU" sz="1200" kern="1200" dirty="0" smtClean="0">
                <a:solidFill>
                  <a:schemeClr val="tx1"/>
                </a:solidFill>
                <a:latin typeface="+mn-lt"/>
                <a:ea typeface="+mn-ea"/>
                <a:cs typeface="+mn-cs"/>
              </a:rPr>
              <a:t>Reading and writing skills</a:t>
            </a:r>
          </a:p>
          <a:p>
            <a:pPr lvl="1">
              <a:buFont typeface="Arial" pitchFamily="34" charset="0"/>
              <a:buChar char="•"/>
            </a:pPr>
            <a:r>
              <a:rPr lang="en-AU" sz="1200" kern="1200" dirty="0" smtClean="0">
                <a:solidFill>
                  <a:schemeClr val="tx1"/>
                </a:solidFill>
                <a:latin typeface="+mn-lt"/>
                <a:ea typeface="+mn-ea"/>
                <a:cs typeface="+mn-cs"/>
              </a:rPr>
              <a:t>Numeracy skills</a:t>
            </a:r>
          </a:p>
          <a:p>
            <a:pPr lvl="1">
              <a:buFont typeface="Arial" pitchFamily="34" charset="0"/>
              <a:buChar char="•"/>
            </a:pPr>
            <a:r>
              <a:rPr lang="en-AU" sz="1200" kern="1200" dirty="0" smtClean="0">
                <a:solidFill>
                  <a:schemeClr val="tx1"/>
                </a:solidFill>
                <a:latin typeface="+mn-lt"/>
                <a:ea typeface="+mn-ea"/>
                <a:cs typeface="+mn-cs"/>
              </a:rPr>
              <a:t>Verbal skills</a:t>
            </a:r>
          </a:p>
          <a:p>
            <a:pPr lvl="1">
              <a:buFont typeface="Arial" pitchFamily="34" charset="0"/>
              <a:buChar char="•"/>
            </a:pPr>
            <a:r>
              <a:rPr lang="en-AU" sz="1200" kern="1200" dirty="0" smtClean="0">
                <a:solidFill>
                  <a:schemeClr val="tx1"/>
                </a:solidFill>
                <a:latin typeface="+mn-lt"/>
                <a:ea typeface="+mn-ea"/>
                <a:cs typeface="+mn-cs"/>
              </a:rPr>
              <a:t>Using computers/technology/emails</a:t>
            </a:r>
          </a:p>
          <a:p>
            <a:pPr lvl="1">
              <a:buFont typeface="Arial" pitchFamily="34" charset="0"/>
              <a:buChar char="•"/>
            </a:pPr>
            <a:r>
              <a:rPr lang="en-AU" sz="1200" kern="1200" dirty="0" smtClean="0">
                <a:solidFill>
                  <a:schemeClr val="tx1"/>
                </a:solidFill>
                <a:latin typeface="+mn-lt"/>
                <a:ea typeface="+mn-ea"/>
                <a:cs typeface="+mn-cs"/>
              </a:rPr>
              <a:t>Techniques for presenting ideas and making points.</a:t>
            </a:r>
          </a:p>
          <a:p>
            <a:pPr>
              <a:buFont typeface="Arial" pitchFamily="34" charset="0"/>
              <a:buChar char="•"/>
            </a:pPr>
            <a:r>
              <a:rPr lang="en-AU" sz="1200" kern="1200" dirty="0" smtClean="0">
                <a:solidFill>
                  <a:schemeClr val="tx1"/>
                </a:solidFill>
                <a:latin typeface="+mn-lt"/>
                <a:ea typeface="+mn-ea"/>
                <a:cs typeface="+mn-cs"/>
              </a:rPr>
              <a:t>Making formal presentations to staff – for special topics/issues in which management uses (for example) PowerPoint slides, overheads, handouts, guest speakers and/or other instructional methods to disseminate important information.</a:t>
            </a:r>
          </a:p>
          <a:p>
            <a:pPr lvl="1">
              <a:buFont typeface="Arial" pitchFamily="34" charset="0"/>
              <a:buChar char="•"/>
            </a:pPr>
            <a:r>
              <a:rPr lang="en-AU" sz="1200" kern="1200" dirty="0" smtClean="0">
                <a:solidFill>
                  <a:schemeClr val="tx1"/>
                </a:solidFill>
                <a:latin typeface="+mn-lt"/>
                <a:ea typeface="+mn-ea"/>
                <a:cs typeface="+mn-cs"/>
              </a:rPr>
              <a:t>To make sure all staff can receive the information, there is often a need to conduct multiple presentations at different times/on different days.</a:t>
            </a:r>
          </a:p>
          <a:p>
            <a:pPr lvl="1">
              <a:buFont typeface="Arial" pitchFamily="34" charset="0"/>
              <a:buChar char="•"/>
            </a:pPr>
            <a:r>
              <a:rPr lang="en-AU" sz="1200" kern="1200" dirty="0" smtClean="0">
                <a:solidFill>
                  <a:schemeClr val="tx1"/>
                </a:solidFill>
                <a:latin typeface="+mn-lt"/>
                <a:ea typeface="+mn-ea"/>
                <a:cs typeface="+mn-cs"/>
              </a:rPr>
              <a:t>These presentations must always include a Q&amp;A session. </a:t>
            </a:r>
          </a:p>
          <a:p>
            <a:pPr>
              <a:buFont typeface="Arial" pitchFamily="34" charset="0"/>
              <a:buChar char="•"/>
            </a:pPr>
            <a:r>
              <a:rPr lang="en-AU" sz="1200" kern="1200" dirty="0" smtClean="0">
                <a:solidFill>
                  <a:schemeClr val="tx1"/>
                </a:solidFill>
                <a:latin typeface="+mn-lt"/>
                <a:ea typeface="+mn-ea"/>
                <a:cs typeface="+mn-cs"/>
              </a:rPr>
              <a:t>Posting messages on the Staff Noticeboard in the Staff Room – and including on these messages directions where staff can obtain more detail (such as on the intranet or by attending a meeting or via discussion with a designated person)</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r>
              <a:rPr lang="en-AU" sz="1200" u="sng" kern="1200" dirty="0" smtClean="0">
                <a:solidFill>
                  <a:schemeClr val="tx1"/>
                </a:solidFill>
                <a:latin typeface="+mn-lt"/>
                <a:ea typeface="+mn-ea"/>
                <a:cs typeface="+mn-cs"/>
                <a:hlinkClick r:id="rId3"/>
              </a:rPr>
              <a:t>http://www.industrialrelations.nsw.gov.au/oirwww/Employment_info/Managing_employees/Workplace_policies_and_procedures.page</a:t>
            </a:r>
            <a:r>
              <a:rPr lang="en-AU" sz="1200" kern="1200" dirty="0" smtClean="0">
                <a:solidFill>
                  <a:schemeClr val="tx1"/>
                </a:solidFill>
                <a:latin typeface="+mn-lt"/>
                <a:ea typeface="+mn-ea"/>
                <a:cs typeface="+mn-cs"/>
              </a:rPr>
              <a:t> - Workplace policies and procedures</a:t>
            </a:r>
          </a:p>
          <a:p>
            <a:r>
              <a:rPr lang="en-AU" sz="1200" u="sng" kern="1200" dirty="0" smtClean="0">
                <a:solidFill>
                  <a:schemeClr val="tx1"/>
                </a:solidFill>
                <a:latin typeface="+mn-lt"/>
                <a:ea typeface="+mn-ea"/>
                <a:cs typeface="+mn-cs"/>
                <a:hlinkClick r:id="rId4"/>
              </a:rPr>
              <a:t>http://www.workcover.nsw.gov.au/newlegislation2012/Asafeworkplace/consultation/Pages/default.aspx</a:t>
            </a:r>
            <a:r>
              <a:rPr lang="en-AU" sz="1200" kern="1200" dirty="0" smtClean="0">
                <a:solidFill>
                  <a:schemeClr val="tx1"/>
                </a:solidFill>
                <a:latin typeface="+mn-lt"/>
                <a:ea typeface="+mn-ea"/>
                <a:cs typeface="+mn-cs"/>
              </a:rPr>
              <a:t> - Consultation</a:t>
            </a:r>
          </a:p>
          <a:p>
            <a:r>
              <a:rPr lang="en-AU" sz="1200" u="sng" kern="1200" dirty="0" smtClean="0">
                <a:solidFill>
                  <a:schemeClr val="tx1"/>
                </a:solidFill>
                <a:latin typeface="+mn-lt"/>
                <a:ea typeface="+mn-ea"/>
                <a:cs typeface="+mn-cs"/>
                <a:hlinkClick r:id="rId5"/>
              </a:rPr>
              <a:t>http://www.decd.sa.gov.au/docs/documents/1/ConsultationRequirement-1.pdf</a:t>
            </a:r>
            <a:r>
              <a:rPr lang="en-AU" sz="1200" kern="1200" dirty="0" smtClean="0">
                <a:solidFill>
                  <a:schemeClr val="tx1"/>
                </a:solidFill>
                <a:latin typeface="+mn-lt"/>
                <a:ea typeface="+mn-ea"/>
                <a:cs typeface="+mn-cs"/>
              </a:rPr>
              <a:t> - Consultation requirements for managing workplace change policy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300769544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continues giving options for facilitating two-way communication:</a:t>
            </a:r>
          </a:p>
          <a:p>
            <a:pPr>
              <a:buFont typeface="Arial" pitchFamily="34" charset="0"/>
              <a:buChar char="•"/>
            </a:pPr>
            <a:r>
              <a:rPr lang="en-AU" sz="1200" kern="1200" dirty="0" smtClean="0">
                <a:solidFill>
                  <a:schemeClr val="tx1"/>
                </a:solidFill>
                <a:latin typeface="+mn-lt"/>
                <a:ea typeface="+mn-ea"/>
                <a:cs typeface="+mn-cs"/>
              </a:rPr>
              <a:t>Using social media – where applicable and where this option has been deemed to be viable and acceptable it can be tactical to use social media to provide some communication to staff. Again, reference is usually included to enable individuals to gain more information from a more ‘traditional’ source.</a:t>
            </a:r>
          </a:p>
          <a:p>
            <a:pPr>
              <a:buFont typeface="Arial" pitchFamily="34" charset="0"/>
              <a:buChar char="•"/>
            </a:pPr>
            <a:r>
              <a:rPr lang="en-AU" sz="1200" kern="1200" dirty="0" smtClean="0">
                <a:solidFill>
                  <a:schemeClr val="tx1"/>
                </a:solidFill>
                <a:latin typeface="+mn-lt"/>
                <a:ea typeface="+mn-ea"/>
                <a:cs typeface="+mn-cs"/>
              </a:rPr>
              <a:t>Identifying and using/tapping into the workplace ‘grapevine’ – so the casual/information talk within the organisation can be captured and so it can be used to disseminate information </a:t>
            </a:r>
          </a:p>
          <a:p>
            <a:pPr>
              <a:buFont typeface="Arial" pitchFamily="34" charset="0"/>
              <a:buChar char="•"/>
            </a:pPr>
            <a:r>
              <a:rPr lang="en-AU" sz="1200" kern="1200" dirty="0" smtClean="0">
                <a:solidFill>
                  <a:schemeClr val="tx1"/>
                </a:solidFill>
                <a:latin typeface="+mn-lt"/>
                <a:ea typeface="+mn-ea"/>
                <a:cs typeface="+mn-cs"/>
              </a:rPr>
              <a:t>Establishing a workplace ‘Communication Book’ – this is a ‘book’ situated near timesheets/the time clock which staff are expected to read when they sign on/clock on for work. Management can use this to disseminate information and it also provides a tool for staff to reply/respond</a:t>
            </a:r>
          </a:p>
          <a:p>
            <a:pPr>
              <a:buFont typeface="Arial" pitchFamily="34" charset="0"/>
              <a:buChar char="•"/>
            </a:pPr>
            <a:r>
              <a:rPr lang="en-AU" sz="1200" kern="1200" dirty="0" smtClean="0">
                <a:solidFill>
                  <a:schemeClr val="tx1"/>
                </a:solidFill>
                <a:latin typeface="+mn-lt"/>
                <a:ea typeface="+mn-ea"/>
                <a:cs typeface="+mn-cs"/>
              </a:rPr>
              <a:t>Establishing a system of staff representatives – so employees can use someone else to communicate their ideas, thoughts, concerns, criticisms and issues to management: this always results on more honest input and feedback as workers are not scared/concerned about making their contributions. </a:t>
            </a:r>
          </a:p>
          <a:p>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r>
              <a:rPr lang="en-AU" sz="1200" u="sng" kern="1200" dirty="0" smtClean="0">
                <a:solidFill>
                  <a:schemeClr val="tx1"/>
                </a:solidFill>
                <a:latin typeface="+mn-lt"/>
                <a:ea typeface="+mn-ea"/>
                <a:cs typeface="+mn-cs"/>
                <a:hlinkClick r:id="rId3"/>
              </a:rPr>
              <a:t>http://www.workplace-communication.com/four-types-communication.html</a:t>
            </a:r>
            <a:r>
              <a:rPr lang="en-AU" sz="1200" kern="1200" dirty="0" smtClean="0">
                <a:solidFill>
                  <a:schemeClr val="tx1"/>
                </a:solidFill>
                <a:latin typeface="+mn-lt"/>
                <a:ea typeface="+mn-ea"/>
                <a:cs typeface="+mn-cs"/>
              </a:rPr>
              <a:t> - Four types of communication in the workplace to increase efficiency and productivity</a:t>
            </a:r>
          </a:p>
          <a:p>
            <a:r>
              <a:rPr lang="en-AU" sz="1200" u="sng" kern="1200" dirty="0" smtClean="0">
                <a:solidFill>
                  <a:schemeClr val="tx1"/>
                </a:solidFill>
                <a:latin typeface="+mn-lt"/>
                <a:ea typeface="+mn-ea"/>
                <a:cs typeface="+mn-cs"/>
                <a:hlinkClick r:id="rId4"/>
              </a:rPr>
              <a:t>http://www.slideshare.net/sklip/7-workplace-communication</a:t>
            </a:r>
            <a:r>
              <a:rPr lang="en-AU" sz="1200" kern="1200" dirty="0" smtClean="0">
                <a:solidFill>
                  <a:schemeClr val="tx1"/>
                </a:solidFill>
                <a:latin typeface="+mn-lt"/>
                <a:ea typeface="+mn-ea"/>
                <a:cs typeface="+mn-cs"/>
              </a:rPr>
              <a:t> - Workplace communication</a:t>
            </a:r>
          </a:p>
          <a:p>
            <a:r>
              <a:rPr lang="en-AU" sz="1200" u="sng" kern="1200" dirty="0" smtClean="0">
                <a:solidFill>
                  <a:schemeClr val="tx1"/>
                </a:solidFill>
                <a:latin typeface="+mn-lt"/>
                <a:ea typeface="+mn-ea"/>
                <a:cs typeface="+mn-cs"/>
                <a:hlinkClick r:id="rId5"/>
              </a:rPr>
              <a:t>http://www.practical-management-skills.com/effective-workplace-communication.html</a:t>
            </a:r>
            <a:r>
              <a:rPr lang="en-AU" sz="1200" kern="1200" dirty="0" smtClean="0">
                <a:solidFill>
                  <a:schemeClr val="tx1"/>
                </a:solidFill>
                <a:latin typeface="+mn-lt"/>
                <a:ea typeface="+mn-ea"/>
                <a:cs typeface="+mn-cs"/>
              </a:rPr>
              <a:t> - 12 steps to effective workplace communication</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219266217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background information to Inductions and Orientations stating:</a:t>
            </a:r>
          </a:p>
          <a:p>
            <a:pPr>
              <a:buFont typeface="Arial" pitchFamily="34" charset="0"/>
              <a:buChar char="•"/>
            </a:pPr>
            <a:r>
              <a:rPr lang="en-AU" sz="1200" kern="1200" dirty="0" smtClean="0">
                <a:solidFill>
                  <a:schemeClr val="tx1"/>
                </a:solidFill>
                <a:latin typeface="+mn-lt"/>
                <a:ea typeface="+mn-ea"/>
                <a:cs typeface="+mn-cs"/>
              </a:rPr>
              <a:t>They should be mandatory for all new employees joining an organisation and/or being re-located/promoted to a new position</a:t>
            </a:r>
          </a:p>
          <a:p>
            <a:pPr>
              <a:buFont typeface="Arial" pitchFamily="34" charset="0"/>
              <a:buChar char="•"/>
            </a:pPr>
            <a:r>
              <a:rPr lang="en-AU" sz="1200" kern="1200" dirty="0" smtClean="0">
                <a:solidFill>
                  <a:schemeClr val="tx1"/>
                </a:solidFill>
                <a:latin typeface="+mn-lt"/>
                <a:ea typeface="+mn-ea"/>
                <a:cs typeface="+mn-cs"/>
              </a:rPr>
              <a:t>They must be conducted early – commonly on the first day/days</a:t>
            </a:r>
          </a:p>
          <a:p>
            <a:pPr>
              <a:buFont typeface="Arial" pitchFamily="34" charset="0"/>
              <a:buChar char="•"/>
            </a:pPr>
            <a:r>
              <a:rPr lang="en-AU" sz="1200" kern="1200" dirty="0" smtClean="0">
                <a:solidFill>
                  <a:schemeClr val="tx1"/>
                </a:solidFill>
                <a:latin typeface="+mn-lt"/>
                <a:ea typeface="+mn-ea"/>
                <a:cs typeface="+mn-cs"/>
              </a:rPr>
              <a:t>Some businesses have Inductions which run for several days – and some are conducted in an hour or so</a:t>
            </a:r>
          </a:p>
          <a:p>
            <a:pPr>
              <a:buFont typeface="Arial" pitchFamily="34" charset="0"/>
              <a:buChar char="•"/>
            </a:pPr>
            <a:r>
              <a:rPr lang="en-AU" sz="1200" kern="1200" dirty="0" smtClean="0">
                <a:solidFill>
                  <a:schemeClr val="tx1"/>
                </a:solidFill>
                <a:latin typeface="+mn-lt"/>
                <a:ea typeface="+mn-ea"/>
                <a:cs typeface="+mn-cs"/>
              </a:rPr>
              <a:t>They must be planned and organised in advance – they will not simply happen of their own accord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151095563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provide background information to Inductions and Orientations stating:</a:t>
            </a:r>
          </a:p>
          <a:p>
            <a:pPr>
              <a:buFont typeface="Arial" pitchFamily="34" charset="0"/>
              <a:buChar char="•"/>
            </a:pPr>
            <a:r>
              <a:rPr lang="en-AU" sz="1200" kern="1200" dirty="0" smtClean="0">
                <a:solidFill>
                  <a:schemeClr val="tx1"/>
                </a:solidFill>
                <a:latin typeface="+mn-lt"/>
                <a:ea typeface="+mn-ea"/>
                <a:cs typeface="+mn-cs"/>
              </a:rPr>
              <a:t>They provide the basis for developing all employees who join the organisation – as they:</a:t>
            </a:r>
          </a:p>
          <a:p>
            <a:pPr lvl="1">
              <a:buFont typeface="Arial" pitchFamily="34" charset="0"/>
              <a:buChar char="•"/>
            </a:pPr>
            <a:r>
              <a:rPr lang="en-AU" sz="1200" kern="1200" dirty="0" smtClean="0">
                <a:solidFill>
                  <a:schemeClr val="tx1"/>
                </a:solidFill>
                <a:latin typeface="+mn-lt"/>
                <a:ea typeface="+mn-ea"/>
                <a:cs typeface="+mn-cs"/>
              </a:rPr>
              <a:t>Demonstrate the professionalism of the business from the start</a:t>
            </a:r>
          </a:p>
          <a:p>
            <a:pPr lvl="1">
              <a:buFont typeface="Arial" pitchFamily="34" charset="0"/>
              <a:buChar char="•"/>
            </a:pPr>
            <a:r>
              <a:rPr lang="en-AU" sz="1200" kern="1200" dirty="0" smtClean="0">
                <a:solidFill>
                  <a:schemeClr val="tx1"/>
                </a:solidFill>
                <a:latin typeface="+mn-lt"/>
                <a:ea typeface="+mn-ea"/>
                <a:cs typeface="+mn-cs"/>
              </a:rPr>
              <a:t>Inform the new staff member about the company</a:t>
            </a:r>
          </a:p>
          <a:p>
            <a:pPr lvl="1">
              <a:buFont typeface="Arial" pitchFamily="34" charset="0"/>
              <a:buChar char="•"/>
            </a:pPr>
            <a:r>
              <a:rPr lang="en-AU" sz="1200" kern="1200" dirty="0" smtClean="0">
                <a:solidFill>
                  <a:schemeClr val="tx1"/>
                </a:solidFill>
                <a:latin typeface="+mn-lt"/>
                <a:ea typeface="+mn-ea"/>
                <a:cs typeface="+mn-cs"/>
              </a:rPr>
              <a:t>Impart necessary/important knowledge</a:t>
            </a:r>
          </a:p>
          <a:p>
            <a:pPr lvl="1">
              <a:buFont typeface="Arial" pitchFamily="34" charset="0"/>
              <a:buChar char="•"/>
            </a:pPr>
            <a:r>
              <a:rPr lang="en-AU" sz="1200" kern="1200" dirty="0" smtClean="0">
                <a:solidFill>
                  <a:schemeClr val="tx1"/>
                </a:solidFill>
                <a:latin typeface="+mn-lt"/>
                <a:ea typeface="+mn-ea"/>
                <a:cs typeface="+mn-cs"/>
              </a:rPr>
              <a:t>Prove the enterprise has formal and structured procedures for dealing with all workplace situations</a:t>
            </a:r>
          </a:p>
          <a:p>
            <a:pPr>
              <a:buFont typeface="Arial" pitchFamily="34" charset="0"/>
              <a:buChar char="•"/>
            </a:pPr>
            <a:r>
              <a:rPr lang="en-AU" sz="1200" kern="1200" dirty="0" smtClean="0">
                <a:solidFill>
                  <a:schemeClr val="tx1"/>
                </a:solidFill>
                <a:latin typeface="+mn-lt"/>
                <a:ea typeface="+mn-ea"/>
                <a:cs typeface="+mn-cs"/>
              </a:rPr>
              <a:t>They should be conducted (or at least commenced) by someone the new employee has already met (for example, at the interview) – to give the new person a friendly/known face to relate to</a:t>
            </a:r>
          </a:p>
          <a:p>
            <a:pPr>
              <a:buFont typeface="Arial" pitchFamily="34" charset="0"/>
              <a:buChar char="•"/>
            </a:pPr>
            <a:r>
              <a:rPr lang="en-AU" sz="1200" kern="1200" dirty="0" smtClean="0">
                <a:solidFill>
                  <a:schemeClr val="tx1"/>
                </a:solidFill>
                <a:latin typeface="+mn-lt"/>
                <a:ea typeface="+mn-ea"/>
                <a:cs typeface="+mn-cs"/>
              </a:rPr>
              <a:t>They are effective if divided into two separate sections:</a:t>
            </a:r>
          </a:p>
          <a:p>
            <a:pPr lvl="1">
              <a:buFont typeface="Arial" pitchFamily="34" charset="0"/>
              <a:buChar char="•"/>
            </a:pPr>
            <a:r>
              <a:rPr lang="en-AU" sz="1200" kern="1200" dirty="0" smtClean="0">
                <a:solidFill>
                  <a:schemeClr val="tx1"/>
                </a:solidFill>
                <a:latin typeface="+mn-lt"/>
                <a:ea typeface="+mn-ea"/>
                <a:cs typeface="+mn-cs"/>
              </a:rPr>
              <a:t>General section – providing generic information (see following slides)</a:t>
            </a:r>
          </a:p>
          <a:p>
            <a:pPr lvl="1">
              <a:buFont typeface="Arial" pitchFamily="34" charset="0"/>
              <a:buChar char="•"/>
            </a:pPr>
            <a:r>
              <a:rPr lang="en-AU" sz="1200" kern="1200" dirty="0" smtClean="0">
                <a:solidFill>
                  <a:schemeClr val="tx1"/>
                </a:solidFill>
                <a:latin typeface="+mn-lt"/>
                <a:ea typeface="+mn-ea"/>
                <a:cs typeface="+mn-cs"/>
              </a:rPr>
              <a:t>Department/role-specific (see following slides).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214541938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‘General section’ of Induction and Orientation noting:</a:t>
            </a:r>
          </a:p>
          <a:p>
            <a:pPr>
              <a:buFont typeface="Arial" pitchFamily="34" charset="0"/>
              <a:buChar char="•"/>
            </a:pPr>
            <a:r>
              <a:rPr lang="en-AU" sz="1200" kern="1200" dirty="0" smtClean="0">
                <a:solidFill>
                  <a:schemeClr val="tx1"/>
                </a:solidFill>
                <a:latin typeface="+mn-lt"/>
                <a:ea typeface="+mn-ea"/>
                <a:cs typeface="+mn-cs"/>
              </a:rPr>
              <a:t>This is the first part of many effective Inductions and is the information which is common to all new employees who join the business.</a:t>
            </a:r>
          </a:p>
          <a:p>
            <a:pPr>
              <a:buFont typeface="Arial" pitchFamily="34" charset="0"/>
              <a:buChar char="•"/>
            </a:pPr>
            <a:r>
              <a:rPr lang="en-AU" sz="1200" kern="1200" dirty="0" smtClean="0">
                <a:solidFill>
                  <a:schemeClr val="tx1"/>
                </a:solidFill>
                <a:latin typeface="+mn-lt"/>
                <a:ea typeface="+mn-ea"/>
                <a:cs typeface="+mn-cs"/>
              </a:rPr>
              <a:t>The same ‘general section’ is provided to all new staff regardless of who they are, where they will work or the role they will work in.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165815388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presents contents of ‘General section:</a:t>
            </a:r>
          </a:p>
          <a:p>
            <a:pPr>
              <a:buFont typeface="Arial" pitchFamily="34" charset="0"/>
              <a:buChar char="•"/>
            </a:pPr>
            <a:r>
              <a:rPr lang="en-AU" sz="1200" kern="1200" dirty="0" smtClean="0">
                <a:solidFill>
                  <a:schemeClr val="tx1"/>
                </a:solidFill>
                <a:latin typeface="+mn-lt"/>
                <a:ea typeface="+mn-ea"/>
                <a:cs typeface="+mn-cs"/>
              </a:rPr>
              <a:t>Completion of necessary paperwork covering internal and legislative requirements, such as: </a:t>
            </a:r>
          </a:p>
          <a:p>
            <a:pPr lvl="1">
              <a:buFont typeface="Arial" pitchFamily="34" charset="0"/>
              <a:buChar char="•"/>
            </a:pPr>
            <a:r>
              <a:rPr lang="en-AU" sz="1200" kern="1200" dirty="0" smtClean="0">
                <a:solidFill>
                  <a:schemeClr val="tx1"/>
                </a:solidFill>
                <a:latin typeface="+mn-lt"/>
                <a:ea typeface="+mn-ea"/>
                <a:cs typeface="+mn-cs"/>
              </a:rPr>
              <a:t>Offer of employment letter – if not already signed/completed </a:t>
            </a:r>
          </a:p>
          <a:p>
            <a:pPr lvl="1">
              <a:buFont typeface="Arial" pitchFamily="34" charset="0"/>
              <a:buChar char="•"/>
            </a:pPr>
            <a:r>
              <a:rPr lang="en-AU" sz="1200" kern="1200" dirty="0" smtClean="0">
                <a:solidFill>
                  <a:schemeClr val="tx1"/>
                </a:solidFill>
                <a:latin typeface="+mn-lt"/>
                <a:ea typeface="+mn-ea"/>
                <a:cs typeface="+mn-cs"/>
              </a:rPr>
              <a:t>Staff uniform form </a:t>
            </a:r>
          </a:p>
          <a:p>
            <a:pPr lvl="1">
              <a:buFont typeface="Arial" pitchFamily="34" charset="0"/>
              <a:buChar char="•"/>
            </a:pPr>
            <a:r>
              <a:rPr lang="en-AU" sz="1200" kern="1200" dirty="0" smtClean="0">
                <a:solidFill>
                  <a:schemeClr val="tx1"/>
                </a:solidFill>
                <a:latin typeface="+mn-lt"/>
                <a:ea typeface="+mn-ea"/>
                <a:cs typeface="+mn-cs"/>
              </a:rPr>
              <a:t>Personal details form including identification of ‘next of kin’ </a:t>
            </a:r>
          </a:p>
          <a:p>
            <a:pPr lvl="1">
              <a:buFont typeface="Arial" pitchFamily="34" charset="0"/>
              <a:buChar char="•"/>
            </a:pPr>
            <a:r>
              <a:rPr lang="en-AU" sz="1200" kern="1200" dirty="0" smtClean="0">
                <a:solidFill>
                  <a:schemeClr val="tx1"/>
                </a:solidFill>
                <a:latin typeface="+mn-lt"/>
                <a:ea typeface="+mn-ea"/>
                <a:cs typeface="+mn-cs"/>
              </a:rPr>
              <a:t>Bank account details form for payment of wages into the bank </a:t>
            </a:r>
          </a:p>
          <a:p>
            <a:pPr lvl="1">
              <a:buFont typeface="Arial" pitchFamily="34" charset="0"/>
              <a:buChar char="•"/>
            </a:pPr>
            <a:r>
              <a:rPr lang="en-AU" sz="1200" kern="1200" dirty="0" smtClean="0">
                <a:solidFill>
                  <a:schemeClr val="tx1"/>
                </a:solidFill>
                <a:latin typeface="+mn-lt"/>
                <a:ea typeface="+mn-ea"/>
                <a:cs typeface="+mn-cs"/>
              </a:rPr>
              <a:t>Personal taxation form </a:t>
            </a:r>
          </a:p>
          <a:p>
            <a:pPr lvl="1">
              <a:buFont typeface="Arial" pitchFamily="34" charset="0"/>
              <a:buChar char="•"/>
            </a:pPr>
            <a:r>
              <a:rPr lang="en-AU" sz="1200" kern="1200" dirty="0" smtClean="0">
                <a:solidFill>
                  <a:schemeClr val="tx1"/>
                </a:solidFill>
                <a:latin typeface="+mn-lt"/>
                <a:ea typeface="+mn-ea"/>
                <a:cs typeface="+mn-cs"/>
              </a:rPr>
              <a:t>Superannuation application form </a:t>
            </a:r>
          </a:p>
          <a:p>
            <a:pPr>
              <a:buFont typeface="Arial" pitchFamily="34" charset="0"/>
              <a:buChar char="•"/>
            </a:pPr>
            <a:r>
              <a:rPr lang="en-AU" sz="1200" kern="1200" dirty="0" smtClean="0">
                <a:solidFill>
                  <a:schemeClr val="tx1"/>
                </a:solidFill>
                <a:latin typeface="+mn-lt"/>
                <a:ea typeface="+mn-ea"/>
                <a:cs typeface="+mn-cs"/>
              </a:rPr>
              <a:t>Provision of 'Need to Know' information – which may relate to:</a:t>
            </a:r>
          </a:p>
          <a:p>
            <a:pPr lvl="1">
              <a:buFont typeface="Arial" pitchFamily="34" charset="0"/>
              <a:buChar char="•"/>
            </a:pPr>
            <a:r>
              <a:rPr lang="en-AU" sz="1200" kern="1200" dirty="0" smtClean="0">
                <a:solidFill>
                  <a:schemeClr val="tx1"/>
                </a:solidFill>
                <a:latin typeface="+mn-lt"/>
                <a:ea typeface="+mn-ea"/>
                <a:cs typeface="+mn-cs"/>
              </a:rPr>
              <a:t>Names of key staff </a:t>
            </a:r>
          </a:p>
          <a:p>
            <a:pPr lvl="1">
              <a:buFont typeface="Arial" pitchFamily="34" charset="0"/>
              <a:buChar char="•"/>
            </a:pPr>
            <a:r>
              <a:rPr lang="en-AU" sz="1200" kern="1200" dirty="0" smtClean="0">
                <a:solidFill>
                  <a:schemeClr val="tx1"/>
                </a:solidFill>
                <a:latin typeface="+mn-lt"/>
                <a:ea typeface="+mn-ea"/>
                <a:cs typeface="+mn-cs"/>
              </a:rPr>
              <a:t>Location of toilets and change room </a:t>
            </a:r>
          </a:p>
          <a:p>
            <a:pPr lvl="1">
              <a:buFont typeface="Arial" pitchFamily="34" charset="0"/>
              <a:buChar char="•"/>
            </a:pPr>
            <a:r>
              <a:rPr lang="en-AU" sz="1200" kern="1200" dirty="0" smtClean="0">
                <a:solidFill>
                  <a:schemeClr val="tx1"/>
                </a:solidFill>
                <a:latin typeface="+mn-lt"/>
                <a:ea typeface="+mn-ea"/>
                <a:cs typeface="+mn-cs"/>
              </a:rPr>
              <a:t>Where staff can park their cars – and where they are </a:t>
            </a:r>
            <a:r>
              <a:rPr lang="en-AU" sz="1200" b="1" kern="1200" dirty="0" smtClean="0">
                <a:solidFill>
                  <a:schemeClr val="tx1"/>
                </a:solidFill>
                <a:latin typeface="+mn-lt"/>
                <a:ea typeface="+mn-ea"/>
                <a:cs typeface="+mn-cs"/>
              </a:rPr>
              <a:t>not</a:t>
            </a:r>
            <a:r>
              <a:rPr lang="en-AU" sz="1200" kern="1200" dirty="0" smtClean="0">
                <a:solidFill>
                  <a:schemeClr val="tx1"/>
                </a:solidFill>
                <a:latin typeface="+mn-lt"/>
                <a:ea typeface="+mn-ea"/>
                <a:cs typeface="+mn-cs"/>
              </a:rPr>
              <a:t> allowed to park), how to sign in at the beginning of work, where company policies and procedures are located</a:t>
            </a:r>
          </a:p>
          <a:p>
            <a:pPr lvl="1">
              <a:buFont typeface="Arial" pitchFamily="34" charset="0"/>
              <a:buChar char="•"/>
            </a:pPr>
            <a:r>
              <a:rPr lang="en-AU" sz="1200" kern="1200" dirty="0" smtClean="0">
                <a:solidFill>
                  <a:schemeClr val="tx1"/>
                </a:solidFill>
                <a:latin typeface="+mn-lt"/>
                <a:ea typeface="+mn-ea"/>
                <a:cs typeface="+mn-cs"/>
              </a:rPr>
              <a:t>Personal presentation requirements </a:t>
            </a:r>
          </a:p>
          <a:p>
            <a:pPr lvl="1">
              <a:buFont typeface="Arial" pitchFamily="34" charset="0"/>
              <a:buChar char="•"/>
            </a:pPr>
            <a:r>
              <a:rPr lang="en-AU" sz="1200" kern="1200" dirty="0" smtClean="0">
                <a:solidFill>
                  <a:schemeClr val="tx1"/>
                </a:solidFill>
                <a:latin typeface="+mn-lt"/>
                <a:ea typeface="+mn-ea"/>
                <a:cs typeface="+mn-cs"/>
              </a:rPr>
              <a:t>How to access the workplace intranet </a:t>
            </a:r>
          </a:p>
          <a:p>
            <a:pPr lvl="1">
              <a:buFont typeface="Arial" pitchFamily="34" charset="0"/>
              <a:buChar char="•"/>
            </a:pPr>
            <a:r>
              <a:rPr lang="en-AU" sz="1200" kern="1200" dirty="0" smtClean="0">
                <a:solidFill>
                  <a:schemeClr val="tx1"/>
                </a:solidFill>
                <a:latin typeface="+mn-lt"/>
                <a:ea typeface="+mn-ea"/>
                <a:cs typeface="+mn-cs"/>
              </a:rPr>
              <a:t>Distribution and explanation of copies of organisational policies and procedures </a:t>
            </a:r>
          </a:p>
          <a:p>
            <a:pPr lvl="1">
              <a:buFont typeface="Arial" pitchFamily="34" charset="0"/>
              <a:buChar char="•"/>
            </a:pPr>
            <a:r>
              <a:rPr lang="en-AU" sz="1200" kern="1200" dirty="0" smtClean="0">
                <a:solidFill>
                  <a:schemeClr val="tx1"/>
                </a:solidFill>
                <a:latin typeface="+mn-lt"/>
                <a:ea typeface="+mn-ea"/>
                <a:cs typeface="+mn-cs"/>
              </a:rPr>
              <a:t>Hand out of staff employee manual</a:t>
            </a:r>
          </a:p>
          <a:p>
            <a:pPr lvl="1">
              <a:buFont typeface="Arial" pitchFamily="34" charset="0"/>
              <a:buChar char="•"/>
            </a:pPr>
            <a:r>
              <a:rPr lang="en-AU" sz="1200" kern="1200" dirty="0" smtClean="0">
                <a:solidFill>
                  <a:schemeClr val="tx1"/>
                </a:solidFill>
                <a:latin typeface="+mn-lt"/>
                <a:ea typeface="+mn-ea"/>
                <a:cs typeface="+mn-cs"/>
              </a:rPr>
              <a:t>Company rules relating to a range of issues such as:</a:t>
            </a:r>
          </a:p>
          <a:p>
            <a:pPr lvl="1">
              <a:buFont typeface="Arial" pitchFamily="34" charset="0"/>
              <a:buChar char="•"/>
            </a:pPr>
            <a:r>
              <a:rPr lang="en-AU" sz="1200" kern="1200" dirty="0" smtClean="0">
                <a:solidFill>
                  <a:schemeClr val="tx1"/>
                </a:solidFill>
                <a:latin typeface="+mn-lt"/>
                <a:ea typeface="+mn-ea"/>
                <a:cs typeface="+mn-cs"/>
              </a:rPr>
              <a:t>Smoking</a:t>
            </a:r>
          </a:p>
          <a:p>
            <a:pPr lvl="1">
              <a:buFont typeface="Arial" pitchFamily="34" charset="0"/>
              <a:buChar char="•"/>
            </a:pPr>
            <a:r>
              <a:rPr lang="en-AU" sz="1200" kern="1200" dirty="0" smtClean="0">
                <a:solidFill>
                  <a:schemeClr val="tx1"/>
                </a:solidFill>
                <a:latin typeface="+mn-lt"/>
                <a:ea typeface="+mn-ea"/>
                <a:cs typeface="+mn-cs"/>
              </a:rPr>
              <a:t>Using company resources/property for personal use/gain</a:t>
            </a: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documentation identi9fied on the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178637428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contents of ‘General section:</a:t>
            </a:r>
          </a:p>
          <a:p>
            <a:pPr>
              <a:buFont typeface="Arial" pitchFamily="34" charset="0"/>
              <a:buChar char="•"/>
            </a:pPr>
            <a:r>
              <a:rPr lang="en-AU" sz="1200" kern="1200" dirty="0" smtClean="0">
                <a:solidFill>
                  <a:schemeClr val="tx1"/>
                </a:solidFill>
                <a:latin typeface="+mn-lt"/>
                <a:ea typeface="+mn-ea"/>
                <a:cs typeface="+mn-cs"/>
              </a:rPr>
              <a:t>Tour of the workplace – including:</a:t>
            </a:r>
          </a:p>
          <a:p>
            <a:pPr lvl="1">
              <a:buFont typeface="Arial" pitchFamily="34" charset="0"/>
              <a:buChar char="•"/>
            </a:pPr>
            <a:r>
              <a:rPr lang="en-AU" sz="1200" kern="1200" dirty="0" smtClean="0">
                <a:solidFill>
                  <a:schemeClr val="tx1"/>
                </a:solidFill>
                <a:latin typeface="+mn-lt"/>
                <a:ea typeface="+mn-ea"/>
                <a:cs typeface="+mn-cs"/>
              </a:rPr>
              <a:t>Meeting and being introduced to other workers</a:t>
            </a:r>
          </a:p>
          <a:p>
            <a:pPr lvl="1">
              <a:buFont typeface="Arial" pitchFamily="34" charset="0"/>
              <a:buChar char="•"/>
            </a:pPr>
            <a:r>
              <a:rPr lang="en-AU" sz="1200" kern="1200" dirty="0" smtClean="0">
                <a:solidFill>
                  <a:schemeClr val="tx1"/>
                </a:solidFill>
                <a:latin typeface="+mn-lt"/>
                <a:ea typeface="+mn-ea"/>
                <a:cs typeface="+mn-cs"/>
              </a:rPr>
              <a:t>Meeting management personnel</a:t>
            </a:r>
          </a:p>
          <a:p>
            <a:pPr lvl="1">
              <a:buFont typeface="Arial" pitchFamily="34" charset="0"/>
              <a:buChar char="•"/>
            </a:pPr>
            <a:r>
              <a:rPr lang="en-AU" sz="1200" kern="1200" dirty="0" smtClean="0">
                <a:solidFill>
                  <a:schemeClr val="tx1"/>
                </a:solidFill>
                <a:latin typeface="+mn-lt"/>
                <a:ea typeface="+mn-ea"/>
                <a:cs typeface="+mn-cs"/>
              </a:rPr>
              <a:t>Visiting all areas of the business</a:t>
            </a:r>
          </a:p>
          <a:p>
            <a:pPr>
              <a:buFont typeface="Arial" pitchFamily="34" charset="0"/>
              <a:buChar char="•"/>
            </a:pPr>
            <a:r>
              <a:rPr lang="en-AU" sz="1200" kern="1200" dirty="0" smtClean="0">
                <a:solidFill>
                  <a:schemeClr val="tx1"/>
                </a:solidFill>
                <a:latin typeface="+mn-lt"/>
                <a:ea typeface="+mn-ea"/>
                <a:cs typeface="+mn-cs"/>
              </a:rPr>
              <a:t>Allocation of organisation-specific items – which may include:</a:t>
            </a:r>
          </a:p>
          <a:p>
            <a:pPr lvl="1">
              <a:buFont typeface="Arial" pitchFamily="34" charset="0"/>
              <a:buChar char="•"/>
            </a:pPr>
            <a:r>
              <a:rPr lang="en-AU" sz="1200" kern="1200" dirty="0" smtClean="0">
                <a:solidFill>
                  <a:schemeClr val="tx1"/>
                </a:solidFill>
                <a:latin typeface="+mn-lt"/>
                <a:ea typeface="+mn-ea"/>
                <a:cs typeface="+mn-cs"/>
              </a:rPr>
              <a:t>Uniform; Name badges; Keys; Phone</a:t>
            </a:r>
          </a:p>
          <a:p>
            <a:pPr>
              <a:buFont typeface="Arial" pitchFamily="34" charset="0"/>
              <a:buChar char="•"/>
            </a:pPr>
            <a:r>
              <a:rPr lang="en-AU" sz="1200" kern="1200" dirty="0" smtClean="0">
                <a:solidFill>
                  <a:schemeClr val="tx1"/>
                </a:solidFill>
                <a:latin typeface="+mn-lt"/>
                <a:ea typeface="+mn-ea"/>
                <a:cs typeface="+mn-cs"/>
              </a:rPr>
              <a:t>Basic safety requirements – as they apply to:</a:t>
            </a:r>
          </a:p>
          <a:p>
            <a:pPr lvl="1">
              <a:buFont typeface="Arial" pitchFamily="34" charset="0"/>
              <a:buChar char="•"/>
            </a:pPr>
            <a:r>
              <a:rPr lang="en-AU" sz="1200" kern="1200" dirty="0" smtClean="0">
                <a:solidFill>
                  <a:schemeClr val="tx1"/>
                </a:solidFill>
                <a:latin typeface="+mn-lt"/>
                <a:ea typeface="+mn-ea"/>
                <a:cs typeface="+mn-cs"/>
              </a:rPr>
              <a:t>The business and its layout, operation, working procedures</a:t>
            </a:r>
          </a:p>
          <a:p>
            <a:pPr lvl="1">
              <a:buFont typeface="Arial" pitchFamily="34" charset="0"/>
              <a:buChar char="•"/>
            </a:pPr>
            <a:r>
              <a:rPr lang="en-AU" sz="1200" kern="1200" dirty="0" smtClean="0">
                <a:solidFill>
                  <a:schemeClr val="tx1"/>
                </a:solidFill>
                <a:latin typeface="+mn-lt"/>
                <a:ea typeface="+mn-ea"/>
                <a:cs typeface="+mn-cs"/>
              </a:rPr>
              <a:t>Alarms – such as fire alarms: what they sound like and when and why they activate</a:t>
            </a:r>
          </a:p>
          <a:p>
            <a:pPr lvl="1">
              <a:buFont typeface="Arial" pitchFamily="34" charset="0"/>
              <a:buChar char="•"/>
            </a:pPr>
            <a:r>
              <a:rPr lang="en-AU" sz="1200" kern="1200" dirty="0" smtClean="0">
                <a:solidFill>
                  <a:schemeClr val="tx1"/>
                </a:solidFill>
                <a:latin typeface="+mn-lt"/>
                <a:ea typeface="+mn-ea"/>
                <a:cs typeface="+mn-cs"/>
              </a:rPr>
              <a:t>Location of first aid kits, fire extinguishers, accident registers</a:t>
            </a:r>
          </a:p>
          <a:p>
            <a:pPr lvl="1">
              <a:buFont typeface="Arial" pitchFamily="34" charset="0"/>
              <a:buChar char="•"/>
            </a:pPr>
            <a:r>
              <a:rPr lang="en-AU" sz="1200" kern="1200" dirty="0" smtClean="0">
                <a:solidFill>
                  <a:schemeClr val="tx1"/>
                </a:solidFill>
                <a:latin typeface="+mn-lt"/>
                <a:ea typeface="+mn-ea"/>
                <a:cs typeface="+mn-cs"/>
              </a:rPr>
              <a:t>Evacuation procedures and routes</a:t>
            </a:r>
          </a:p>
          <a:p>
            <a:pPr lvl="1">
              <a:buFont typeface="Arial" pitchFamily="34" charset="0"/>
              <a:buChar char="•"/>
            </a:pPr>
            <a:r>
              <a:rPr lang="en-AU" sz="1200" kern="1200" dirty="0" smtClean="0">
                <a:solidFill>
                  <a:schemeClr val="tx1"/>
                </a:solidFill>
                <a:latin typeface="+mn-lt"/>
                <a:ea typeface="+mn-ea"/>
                <a:cs typeface="+mn-cs"/>
              </a:rPr>
              <a:t>Emergency Management plans which have been prepared for the business</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relevant manager to attend and:</a:t>
            </a:r>
          </a:p>
          <a:p>
            <a:pPr>
              <a:buFont typeface="Arial" pitchFamily="34" charset="0"/>
              <a:buChar char="•"/>
            </a:pPr>
            <a:r>
              <a:rPr lang="en-AU" b="0" noProof="0" dirty="0" smtClean="0"/>
              <a:t>Discuss their Induction and Orientation programme</a:t>
            </a:r>
          </a:p>
          <a:p>
            <a:pPr>
              <a:buFont typeface="Arial" pitchFamily="34" charset="0"/>
              <a:buChar char="•"/>
            </a:pPr>
            <a:r>
              <a:rPr lang="en-AU" b="0" noProof="0" dirty="0" smtClean="0"/>
              <a:t>Explain how and when they present it to new staff</a:t>
            </a:r>
          </a:p>
          <a:p>
            <a:pPr>
              <a:buFont typeface="Arial" pitchFamily="34" charset="0"/>
              <a:buChar char="•"/>
            </a:pPr>
            <a:r>
              <a:rPr lang="en-AU" b="0" noProof="0" dirty="0" smtClean="0"/>
              <a:t>Give advice on provision of information to new employees.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143573559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contents of ‘General section:</a:t>
            </a:r>
          </a:p>
          <a:p>
            <a:pPr>
              <a:buFont typeface="Arial" pitchFamily="34" charset="0"/>
              <a:buChar char="•"/>
            </a:pPr>
            <a:r>
              <a:rPr lang="en-AU" sz="1200" kern="1200" dirty="0" smtClean="0">
                <a:solidFill>
                  <a:schemeClr val="tx1"/>
                </a:solidFill>
                <a:latin typeface="+mn-lt"/>
                <a:ea typeface="+mn-ea"/>
                <a:cs typeface="+mn-cs"/>
              </a:rPr>
              <a:t>General information about the organisation – such as:</a:t>
            </a:r>
          </a:p>
          <a:p>
            <a:pPr lvl="1">
              <a:buFont typeface="Arial" pitchFamily="34" charset="0"/>
              <a:buChar char="•"/>
            </a:pPr>
            <a:r>
              <a:rPr lang="en-AU" sz="1200" kern="1200" dirty="0" smtClean="0">
                <a:solidFill>
                  <a:schemeClr val="tx1"/>
                </a:solidFill>
                <a:latin typeface="+mn-lt"/>
                <a:ea typeface="+mn-ea"/>
                <a:cs typeface="+mn-cs"/>
              </a:rPr>
              <a:t>Physical size of the business</a:t>
            </a:r>
          </a:p>
          <a:p>
            <a:pPr lvl="1">
              <a:buFont typeface="Arial" pitchFamily="34" charset="0"/>
              <a:buChar char="•"/>
            </a:pPr>
            <a:r>
              <a:rPr lang="en-AU" sz="1200" kern="1200" dirty="0" smtClean="0">
                <a:solidFill>
                  <a:schemeClr val="tx1"/>
                </a:solidFill>
                <a:latin typeface="+mn-lt"/>
                <a:ea typeface="+mn-ea"/>
                <a:cs typeface="+mn-cs"/>
              </a:rPr>
              <a:t>Locations of agencies and branches/sub-branches</a:t>
            </a:r>
          </a:p>
          <a:p>
            <a:pPr lvl="1">
              <a:buFont typeface="Arial" pitchFamily="34" charset="0"/>
              <a:buChar char="•"/>
            </a:pPr>
            <a:r>
              <a:rPr lang="en-AU" sz="1200" kern="1200" dirty="0" smtClean="0">
                <a:solidFill>
                  <a:schemeClr val="tx1"/>
                </a:solidFill>
                <a:latin typeface="+mn-lt"/>
                <a:ea typeface="+mn-ea"/>
                <a:cs typeface="+mn-cs"/>
              </a:rPr>
              <a:t>Description of the products and services the organisation provides</a:t>
            </a:r>
          </a:p>
          <a:p>
            <a:pPr lvl="1">
              <a:buFont typeface="Arial" pitchFamily="34" charset="0"/>
              <a:buChar char="•"/>
            </a:pPr>
            <a:r>
              <a:rPr lang="en-AU" sz="1200" kern="1200" dirty="0" smtClean="0">
                <a:solidFill>
                  <a:schemeClr val="tx1"/>
                </a:solidFill>
                <a:latin typeface="+mn-lt"/>
                <a:ea typeface="+mn-ea"/>
                <a:cs typeface="+mn-cs"/>
              </a:rPr>
              <a:t>Turnover of the business in monetary terms and/or number of tickets or tours sold in the past 12 months</a:t>
            </a:r>
          </a:p>
          <a:p>
            <a:pPr lvl="1">
              <a:buFont typeface="Arial" pitchFamily="34" charset="0"/>
              <a:buChar char="•"/>
            </a:pPr>
            <a:r>
              <a:rPr lang="en-AU" sz="1200" kern="1200" dirty="0" smtClean="0">
                <a:solidFill>
                  <a:schemeClr val="tx1"/>
                </a:solidFill>
                <a:latin typeface="+mn-lt"/>
                <a:ea typeface="+mn-ea"/>
                <a:cs typeface="+mn-cs"/>
              </a:rPr>
              <a:t>Sections of the Strategic Plans and Business Plan for the organisation for the next 12 months – to give an idea of the direction the company wants to take</a:t>
            </a:r>
          </a:p>
          <a:p>
            <a:pPr lvl="1">
              <a:buFont typeface="Arial" pitchFamily="34" charset="0"/>
              <a:buChar char="•"/>
            </a:pPr>
            <a:r>
              <a:rPr lang="en-AU" sz="1200" kern="1200" dirty="0" smtClean="0">
                <a:solidFill>
                  <a:schemeClr val="tx1"/>
                </a:solidFill>
                <a:latin typeface="+mn-lt"/>
                <a:ea typeface="+mn-ea"/>
                <a:cs typeface="+mn-cs"/>
              </a:rPr>
              <a:t>Name of owners and their industry (and other relevant) experience</a:t>
            </a:r>
          </a:p>
          <a:p>
            <a:pPr lvl="1">
              <a:buFont typeface="Arial" pitchFamily="34" charset="0"/>
              <a:buChar char="•"/>
            </a:pPr>
            <a:r>
              <a:rPr lang="en-AU" sz="1200" kern="1200" dirty="0" smtClean="0">
                <a:solidFill>
                  <a:schemeClr val="tx1"/>
                </a:solidFill>
                <a:latin typeface="+mn-lt"/>
                <a:ea typeface="+mn-ea"/>
                <a:cs typeface="+mn-cs"/>
              </a:rPr>
              <a:t>Awards the business has won recently (say, in the past five years)</a:t>
            </a:r>
          </a:p>
          <a:p>
            <a:pPr lvl="1">
              <a:buFont typeface="Arial" pitchFamily="34" charset="0"/>
              <a:buChar char="•"/>
            </a:pPr>
            <a:r>
              <a:rPr lang="en-AU" sz="1200" kern="1200" dirty="0" smtClean="0">
                <a:solidFill>
                  <a:schemeClr val="tx1"/>
                </a:solidFill>
                <a:latin typeface="+mn-lt"/>
                <a:ea typeface="+mn-ea"/>
                <a:cs typeface="+mn-cs"/>
              </a:rPr>
              <a:t>Names of industry bodies to which the organisation belongs</a:t>
            </a:r>
          </a:p>
          <a:p>
            <a:pPr lvl="1">
              <a:buFont typeface="Arial" pitchFamily="34" charset="0"/>
              <a:buChar char="•"/>
            </a:pPr>
            <a:r>
              <a:rPr lang="en-AU" sz="1200" kern="1200" dirty="0" smtClean="0">
                <a:solidFill>
                  <a:schemeClr val="tx1"/>
                </a:solidFill>
                <a:latin typeface="+mn-lt"/>
                <a:ea typeface="+mn-ea"/>
                <a:cs typeface="+mn-cs"/>
              </a:rPr>
              <a:t>Names and copies of Codes of Practice/Conduct the business subscribes – and which staff must comply with.</a:t>
            </a:r>
          </a:p>
          <a:p>
            <a:pPr>
              <a:buFont typeface="Arial" pitchFamily="34" charset="0"/>
              <a:buChar char="•"/>
            </a:pPr>
            <a:r>
              <a:rPr lang="en-AU" sz="1200" kern="1200" dirty="0" smtClean="0">
                <a:solidFill>
                  <a:schemeClr val="tx1"/>
                </a:solidFill>
                <a:latin typeface="+mn-lt"/>
                <a:ea typeface="+mn-ea"/>
                <a:cs typeface="+mn-cs"/>
              </a:rPr>
              <a:t>Details of the culture of the organisation – which can cover:</a:t>
            </a:r>
          </a:p>
          <a:p>
            <a:pPr lvl="1">
              <a:buFont typeface="Arial" pitchFamily="34" charset="0"/>
              <a:buChar char="•"/>
            </a:pPr>
            <a:r>
              <a:rPr lang="en-AU" sz="1200" kern="1200" dirty="0" smtClean="0">
                <a:solidFill>
                  <a:schemeClr val="tx1"/>
                </a:solidFill>
                <a:latin typeface="+mn-lt"/>
                <a:ea typeface="+mn-ea"/>
                <a:cs typeface="+mn-cs"/>
              </a:rPr>
              <a:t>Consideration and discussion of the Mission Statement of the business </a:t>
            </a:r>
          </a:p>
          <a:p>
            <a:pPr lvl="1">
              <a:buFont typeface="Arial" pitchFamily="34" charset="0"/>
              <a:buChar char="•"/>
            </a:pPr>
            <a:r>
              <a:rPr lang="en-AU" sz="1200" kern="1200" dirty="0" smtClean="0">
                <a:solidFill>
                  <a:schemeClr val="tx1"/>
                </a:solidFill>
                <a:latin typeface="+mn-lt"/>
                <a:ea typeface="+mn-ea"/>
                <a:cs typeface="+mn-cs"/>
              </a:rPr>
              <a:t>Explanation of the Vision Statement </a:t>
            </a:r>
          </a:p>
          <a:p>
            <a:pPr lvl="1">
              <a:buFont typeface="Arial" pitchFamily="34" charset="0"/>
              <a:buChar char="•"/>
            </a:pPr>
            <a:r>
              <a:rPr lang="en-AU" sz="1200" kern="1200" dirty="0" smtClean="0">
                <a:solidFill>
                  <a:schemeClr val="tx1"/>
                </a:solidFill>
                <a:latin typeface="+mn-lt"/>
                <a:ea typeface="+mn-ea"/>
                <a:cs typeface="+mn-cs"/>
              </a:rPr>
              <a:t>Explanation of company Values </a:t>
            </a:r>
          </a:p>
          <a:p>
            <a:pPr lvl="1">
              <a:buFont typeface="Arial" pitchFamily="34" charset="0"/>
              <a:buChar char="•"/>
            </a:pPr>
            <a:r>
              <a:rPr lang="en-AU" sz="1200" kern="1200" dirty="0" smtClean="0">
                <a:solidFill>
                  <a:schemeClr val="tx1"/>
                </a:solidFill>
                <a:latin typeface="+mn-lt"/>
                <a:ea typeface="+mn-ea"/>
                <a:cs typeface="+mn-cs"/>
              </a:rPr>
              <a:t>Description of the work ethic of the business. </a:t>
            </a:r>
          </a:p>
          <a:p>
            <a:pPr>
              <a:buFont typeface="Arial" pitchFamily="34" charset="0"/>
              <a:buNone/>
            </a:pPr>
            <a:endParaRPr lang="en-AU" noProof="0" dirty="0" smtClean="0"/>
          </a:p>
          <a:p>
            <a:pPr>
              <a:buFont typeface="Arial" pitchFamily="34" charset="0"/>
              <a:buNone/>
            </a:pPr>
            <a:r>
              <a:rPr lang="en-AU" b="1" noProof="0" dirty="0" smtClean="0"/>
              <a:t>Classroom Activity – Individual Exercise</a:t>
            </a:r>
          </a:p>
          <a:p>
            <a:pPr>
              <a:buFont typeface="Arial" pitchFamily="34" charset="0"/>
              <a:buNone/>
            </a:pPr>
            <a:r>
              <a:rPr lang="en-AU" b="0" noProof="0" dirty="0" smtClean="0"/>
              <a:t>Trainer asks students to prepare a Generic section for an Induction and Orientation programme for a given business/organisation of their choice.</a:t>
            </a:r>
          </a:p>
          <a:p>
            <a:pPr>
              <a:buFont typeface="Arial" pitchFamily="34" charset="0"/>
              <a:buNone/>
            </a:pPr>
            <a:endParaRPr lang="en-AU" b="1" noProof="0" dirty="0" smtClean="0"/>
          </a:p>
          <a:p>
            <a:pPr>
              <a:buFont typeface="Arial" pitchFamily="34" charset="0"/>
              <a:buNone/>
            </a:pPr>
            <a:endParaRPr lang="en-AU" b="1"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209349244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role-specific section of the Induction and Orientation programme stating:</a:t>
            </a:r>
          </a:p>
          <a:p>
            <a:pPr>
              <a:buFont typeface="Arial" pitchFamily="34" charset="0"/>
              <a:buChar char="•"/>
            </a:pPr>
            <a:r>
              <a:rPr lang="en-AU" sz="1200" kern="1200" dirty="0" smtClean="0">
                <a:solidFill>
                  <a:schemeClr val="tx1"/>
                </a:solidFill>
                <a:latin typeface="+mn-lt"/>
                <a:ea typeface="+mn-ea"/>
                <a:cs typeface="+mn-cs"/>
              </a:rPr>
              <a:t>The second section of the Induction and Orientation program is ‘individualised’.</a:t>
            </a:r>
          </a:p>
          <a:p>
            <a:pPr>
              <a:buFont typeface="Arial" pitchFamily="34" charset="0"/>
              <a:buChar char="•"/>
            </a:pPr>
            <a:r>
              <a:rPr lang="en-AU" sz="1200" kern="1200" dirty="0" smtClean="0">
                <a:solidFill>
                  <a:schemeClr val="tx1"/>
                </a:solidFill>
                <a:latin typeface="+mn-lt"/>
                <a:ea typeface="+mn-ea"/>
                <a:cs typeface="+mn-cs"/>
              </a:rPr>
              <a:t>This means while each one may be </a:t>
            </a:r>
            <a:r>
              <a:rPr lang="en-AU" sz="1200" i="1" kern="1200" dirty="0" smtClean="0">
                <a:solidFill>
                  <a:schemeClr val="tx1"/>
                </a:solidFill>
                <a:latin typeface="+mn-lt"/>
                <a:ea typeface="+mn-ea"/>
                <a:cs typeface="+mn-cs"/>
              </a:rPr>
              <a:t>similar</a:t>
            </a:r>
            <a:r>
              <a:rPr lang="en-AU" sz="1200" kern="1200" dirty="0" smtClean="0">
                <a:solidFill>
                  <a:schemeClr val="tx1"/>
                </a:solidFill>
                <a:latin typeface="+mn-lt"/>
                <a:ea typeface="+mn-ea"/>
                <a:cs typeface="+mn-cs"/>
              </a:rPr>
              <a:t>, they need to be created for each individual person according to the job/role they are going to do.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59993665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presents contents of role-specific section of the Induction and Orientation programme:</a:t>
            </a:r>
          </a:p>
          <a:p>
            <a:pPr>
              <a:buFont typeface="Arial" pitchFamily="34" charset="0"/>
              <a:buChar char="•"/>
            </a:pPr>
            <a:r>
              <a:rPr lang="en-AU" sz="1200" kern="1200" dirty="0" smtClean="0">
                <a:solidFill>
                  <a:schemeClr val="tx1"/>
                </a:solidFill>
                <a:latin typeface="+mn-lt"/>
                <a:ea typeface="+mn-ea"/>
                <a:cs typeface="+mn-cs"/>
              </a:rPr>
              <a:t>Meeting the Department Head/Manager/Supervisor – if they have not already been met or they are not the one who conducted the ‘General section’ of the Induction and Orientation, to:</a:t>
            </a:r>
          </a:p>
          <a:p>
            <a:pPr lvl="1">
              <a:buFont typeface="Arial" pitchFamily="34" charset="0"/>
              <a:buChar char="•"/>
            </a:pPr>
            <a:r>
              <a:rPr lang="en-AU" sz="1200" kern="1200" dirty="0" smtClean="0">
                <a:solidFill>
                  <a:schemeClr val="tx1"/>
                </a:solidFill>
                <a:latin typeface="+mn-lt"/>
                <a:ea typeface="+mn-ea"/>
                <a:cs typeface="+mn-cs"/>
              </a:rPr>
              <a:t>Obtain their contact details – cell telephone number, office location, internal extension/ telephone number</a:t>
            </a:r>
          </a:p>
          <a:p>
            <a:pPr lvl="1">
              <a:buFont typeface="Arial" pitchFamily="34" charset="0"/>
              <a:buChar char="•"/>
            </a:pPr>
            <a:r>
              <a:rPr lang="en-AU" sz="1200" kern="1200" dirty="0" smtClean="0">
                <a:solidFill>
                  <a:schemeClr val="tx1"/>
                </a:solidFill>
                <a:latin typeface="+mn-lt"/>
                <a:ea typeface="+mn-ea"/>
                <a:cs typeface="+mn-cs"/>
              </a:rPr>
              <a:t>Be given a verbal overview of the role of the department/section and how it fits within the overall operation of the business – with emphasis on colleagues they will need to receive information from, and those they will need to provide information to</a:t>
            </a:r>
          </a:p>
          <a:p>
            <a:pPr>
              <a:buFont typeface="Arial" pitchFamily="34" charset="0"/>
              <a:buChar char="•"/>
            </a:pPr>
            <a:r>
              <a:rPr lang="en-AU" sz="1200" kern="1200" dirty="0" smtClean="0">
                <a:solidFill>
                  <a:schemeClr val="tx1"/>
                </a:solidFill>
                <a:latin typeface="+mn-lt"/>
                <a:ea typeface="+mn-ea"/>
                <a:cs typeface="+mn-cs"/>
              </a:rPr>
              <a:t>Detailed departmental tour – to: </a:t>
            </a:r>
          </a:p>
          <a:p>
            <a:pPr lvl="1">
              <a:buFont typeface="Arial" pitchFamily="34" charset="0"/>
              <a:buChar char="•"/>
            </a:pPr>
            <a:r>
              <a:rPr lang="en-AU" sz="1200" kern="1200" dirty="0" smtClean="0">
                <a:solidFill>
                  <a:schemeClr val="tx1"/>
                </a:solidFill>
                <a:latin typeface="+mn-lt"/>
                <a:ea typeface="+mn-ea"/>
                <a:cs typeface="+mn-cs"/>
              </a:rPr>
              <a:t>Identify where resources are located</a:t>
            </a:r>
          </a:p>
          <a:p>
            <a:pPr lvl="1">
              <a:buFont typeface="Arial" pitchFamily="34" charset="0"/>
              <a:buChar char="•"/>
            </a:pPr>
            <a:r>
              <a:rPr lang="en-AU" sz="1200" kern="1200" dirty="0" smtClean="0">
                <a:solidFill>
                  <a:schemeClr val="tx1"/>
                </a:solidFill>
                <a:latin typeface="+mn-lt"/>
                <a:ea typeface="+mn-ea"/>
                <a:cs typeface="+mn-cs"/>
              </a:rPr>
              <a:t>Meet co-workers</a:t>
            </a:r>
          </a:p>
          <a:p>
            <a:pPr lvl="1">
              <a:buFont typeface="Arial" pitchFamily="34" charset="0"/>
              <a:buChar char="•"/>
            </a:pPr>
            <a:r>
              <a:rPr lang="en-AU" sz="1200" kern="1200" dirty="0" smtClean="0">
                <a:solidFill>
                  <a:schemeClr val="tx1"/>
                </a:solidFill>
                <a:latin typeface="+mn-lt"/>
                <a:ea typeface="+mn-ea"/>
                <a:cs typeface="+mn-cs"/>
              </a:rPr>
              <a:t>Understand the location of items, equipment and facilities</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relevant </a:t>
            </a:r>
            <a:r>
              <a:rPr lang="en-AU" b="1" noProof="0" dirty="0" smtClean="0"/>
              <a:t>department manager/supervisor </a:t>
            </a:r>
            <a:r>
              <a:rPr lang="en-AU" b="0" noProof="0" dirty="0" smtClean="0"/>
              <a:t>to attend and:</a:t>
            </a:r>
          </a:p>
          <a:p>
            <a:pPr>
              <a:buFont typeface="Arial" pitchFamily="34" charset="0"/>
              <a:buChar char="•"/>
            </a:pPr>
            <a:r>
              <a:rPr lang="en-AU" b="0" noProof="0" dirty="0" smtClean="0"/>
              <a:t>Discuss the </a:t>
            </a:r>
            <a:r>
              <a:rPr lang="en-AU" b="1" noProof="0" dirty="0" smtClean="0"/>
              <a:t>departmental section </a:t>
            </a:r>
            <a:r>
              <a:rPr lang="en-AU" b="0" noProof="0" dirty="0" smtClean="0"/>
              <a:t>of their Induction and Orientation programme</a:t>
            </a:r>
          </a:p>
          <a:p>
            <a:pPr>
              <a:buFont typeface="Arial" pitchFamily="34" charset="0"/>
              <a:buChar char="•"/>
            </a:pPr>
            <a:r>
              <a:rPr lang="en-AU" b="0" noProof="0" dirty="0" smtClean="0"/>
              <a:t>Explain how and when they present it to new staff</a:t>
            </a:r>
          </a:p>
          <a:p>
            <a:pPr>
              <a:buFont typeface="Arial" pitchFamily="34" charset="0"/>
              <a:buChar char="•"/>
            </a:pPr>
            <a:r>
              <a:rPr lang="en-AU" b="0" noProof="0" dirty="0" smtClean="0"/>
              <a:t>Give advice on provision of information to new employees.</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195327087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present contents of role-specific section of the Induction and Orientation programme:</a:t>
            </a:r>
          </a:p>
          <a:p>
            <a:pPr>
              <a:buFont typeface="Arial" pitchFamily="34" charset="0"/>
              <a:buChar char="•"/>
            </a:pPr>
            <a:r>
              <a:rPr lang="en-AU" sz="1200" kern="1200" dirty="0" smtClean="0">
                <a:solidFill>
                  <a:schemeClr val="tx1"/>
                </a:solidFill>
                <a:latin typeface="+mn-lt"/>
                <a:ea typeface="+mn-ea"/>
                <a:cs typeface="+mn-cs"/>
              </a:rPr>
              <a:t>Presentation of job/position description – with: </a:t>
            </a:r>
          </a:p>
          <a:p>
            <a:pPr lvl="1">
              <a:buFont typeface="Arial" pitchFamily="34" charset="0"/>
              <a:buChar char="•"/>
            </a:pPr>
            <a:r>
              <a:rPr lang="en-AU" sz="1200" kern="1200" dirty="0" smtClean="0">
                <a:solidFill>
                  <a:schemeClr val="tx1"/>
                </a:solidFill>
                <a:latin typeface="+mn-lt"/>
                <a:ea typeface="+mn-ea"/>
                <a:cs typeface="+mn-cs"/>
              </a:rPr>
              <a:t>Explanation of roles and responsibilities</a:t>
            </a:r>
          </a:p>
          <a:p>
            <a:pPr lvl="1">
              <a:buFont typeface="Arial" pitchFamily="34" charset="0"/>
              <a:buChar char="•"/>
            </a:pPr>
            <a:r>
              <a:rPr lang="en-AU" sz="1200" kern="1200" dirty="0" smtClean="0">
                <a:solidFill>
                  <a:schemeClr val="tx1"/>
                </a:solidFill>
                <a:latin typeface="+mn-lt"/>
                <a:ea typeface="+mn-ea"/>
                <a:cs typeface="+mn-cs"/>
              </a:rPr>
              <a:t>Discussion about organisational, departmental and management expectations</a:t>
            </a:r>
          </a:p>
          <a:p>
            <a:pPr lvl="1">
              <a:buFont typeface="Arial" pitchFamily="34" charset="0"/>
              <a:buChar char="•"/>
            </a:pPr>
            <a:r>
              <a:rPr lang="en-AU" sz="1200" kern="1200" dirty="0" smtClean="0">
                <a:solidFill>
                  <a:schemeClr val="tx1"/>
                </a:solidFill>
                <a:latin typeface="+mn-lt"/>
                <a:ea typeface="+mn-ea"/>
                <a:cs typeface="+mn-cs"/>
              </a:rPr>
              <a:t>Identification of channels of communication </a:t>
            </a:r>
          </a:p>
          <a:p>
            <a:pPr lvl="1">
              <a:buFont typeface="Arial" pitchFamily="34" charset="0"/>
              <a:buChar char="•"/>
            </a:pPr>
            <a:r>
              <a:rPr lang="en-AU" sz="1200" kern="1200" dirty="0" smtClean="0">
                <a:solidFill>
                  <a:schemeClr val="tx1"/>
                </a:solidFill>
                <a:latin typeface="+mn-lt"/>
                <a:ea typeface="+mn-ea"/>
                <a:cs typeface="+mn-cs"/>
              </a:rPr>
              <a:t>Specification of individual scope of authority and/or discretionary power – if applicable</a:t>
            </a:r>
          </a:p>
          <a:p>
            <a:pPr lvl="1">
              <a:buFont typeface="Arial" pitchFamily="34" charset="0"/>
              <a:buChar char="•"/>
            </a:pPr>
            <a:r>
              <a:rPr lang="en-AU" sz="1200" kern="1200" dirty="0" smtClean="0">
                <a:solidFill>
                  <a:schemeClr val="tx1"/>
                </a:solidFill>
                <a:latin typeface="+mn-lt"/>
                <a:ea typeface="+mn-ea"/>
                <a:cs typeface="+mn-cs"/>
              </a:rPr>
              <a:t>Presentation and explanation of roster and related information – such as:</a:t>
            </a:r>
          </a:p>
          <a:p>
            <a:pPr lvl="2">
              <a:buFont typeface="Arial" pitchFamily="34" charset="0"/>
              <a:buChar char="•"/>
            </a:pPr>
            <a:r>
              <a:rPr lang="en-AU" sz="1200" kern="1200" dirty="0" smtClean="0">
                <a:solidFill>
                  <a:schemeClr val="tx1"/>
                </a:solidFill>
                <a:latin typeface="+mn-lt"/>
                <a:ea typeface="+mn-ea"/>
                <a:cs typeface="+mn-cs"/>
              </a:rPr>
              <a:t>Signing/clocking ‘on’ and ‘off’ </a:t>
            </a:r>
          </a:p>
          <a:p>
            <a:pPr lvl="2">
              <a:buFont typeface="Arial" pitchFamily="34" charset="0"/>
              <a:buChar char="•"/>
            </a:pPr>
            <a:r>
              <a:rPr lang="en-AU" sz="1200" kern="1200" dirty="0" smtClean="0">
                <a:solidFill>
                  <a:schemeClr val="tx1"/>
                </a:solidFill>
                <a:latin typeface="+mn-lt"/>
                <a:ea typeface="+mn-ea"/>
                <a:cs typeface="+mn-cs"/>
              </a:rPr>
              <a:t>How to apply for time off </a:t>
            </a:r>
          </a:p>
          <a:p>
            <a:pPr lvl="2">
              <a:buFont typeface="Arial" pitchFamily="34" charset="0"/>
              <a:buChar char="•"/>
            </a:pPr>
            <a:r>
              <a:rPr lang="en-AU" sz="1200" kern="1200" dirty="0" smtClean="0">
                <a:solidFill>
                  <a:schemeClr val="tx1"/>
                </a:solidFill>
                <a:latin typeface="+mn-lt"/>
                <a:ea typeface="+mn-ea"/>
                <a:cs typeface="+mn-cs"/>
              </a:rPr>
              <a:t>Requirements for notification if sick and unable to attend when rostered for work</a:t>
            </a:r>
          </a:p>
          <a:p>
            <a:pPr lvl="2">
              <a:buFont typeface="Arial" pitchFamily="34" charset="0"/>
              <a:buChar char="•"/>
            </a:pPr>
            <a:r>
              <a:rPr lang="en-AU" sz="1200" kern="1200" dirty="0" smtClean="0">
                <a:solidFill>
                  <a:schemeClr val="tx1"/>
                </a:solidFill>
                <a:latin typeface="+mn-lt"/>
                <a:ea typeface="+mn-ea"/>
                <a:cs typeface="+mn-cs"/>
              </a:rPr>
              <a:t>TOIL arrangements – if applicable</a:t>
            </a:r>
          </a:p>
          <a:p>
            <a:pPr>
              <a:buFont typeface="Arial" pitchFamily="34" charset="0"/>
              <a:buChar char="•"/>
            </a:pPr>
            <a:r>
              <a:rPr lang="en-AU" sz="1200" kern="1200" dirty="0" smtClean="0">
                <a:solidFill>
                  <a:schemeClr val="tx1"/>
                </a:solidFill>
                <a:latin typeface="+mn-lt"/>
                <a:ea typeface="+mn-ea"/>
                <a:cs typeface="+mn-cs"/>
              </a:rPr>
              <a:t>Distribution of a list containing organisation-based or industry-based terminology – this may be checklist to explain:</a:t>
            </a:r>
          </a:p>
          <a:p>
            <a:pPr lvl="1">
              <a:buFont typeface="Arial" pitchFamily="34" charset="0"/>
              <a:buChar char="•"/>
            </a:pPr>
            <a:r>
              <a:rPr lang="en-AU" sz="1200" kern="1200" dirty="0" smtClean="0">
                <a:solidFill>
                  <a:schemeClr val="tx1"/>
                </a:solidFill>
                <a:latin typeface="+mn-lt"/>
                <a:ea typeface="+mn-ea"/>
                <a:cs typeface="+mn-cs"/>
              </a:rPr>
              <a:t>Acronyms </a:t>
            </a:r>
          </a:p>
          <a:p>
            <a:pPr lvl="1">
              <a:buFont typeface="Arial" pitchFamily="34" charset="0"/>
              <a:buChar char="•"/>
            </a:pPr>
            <a:r>
              <a:rPr lang="en-AU" sz="1200" kern="1200" dirty="0" smtClean="0">
                <a:solidFill>
                  <a:schemeClr val="tx1"/>
                </a:solidFill>
                <a:latin typeface="+mn-lt"/>
                <a:ea typeface="+mn-ea"/>
                <a:cs typeface="+mn-cs"/>
              </a:rPr>
              <a:t>Accepted abbreviations </a:t>
            </a:r>
          </a:p>
          <a:p>
            <a:pPr>
              <a:buFont typeface="Arial" pitchFamily="34" charset="0"/>
              <a:buChar char="•"/>
            </a:pPr>
            <a:r>
              <a:rPr lang="en-AU" sz="1200" kern="1200" dirty="0" smtClean="0">
                <a:solidFill>
                  <a:schemeClr val="tx1"/>
                </a:solidFill>
                <a:latin typeface="+mn-lt"/>
                <a:ea typeface="+mn-ea"/>
                <a:cs typeface="+mn-cs"/>
              </a:rPr>
              <a:t>Presentation of additional information about the organisation – such as:</a:t>
            </a:r>
          </a:p>
          <a:p>
            <a:pPr lvl="1">
              <a:buFont typeface="Arial" pitchFamily="34" charset="0"/>
              <a:buChar char="•"/>
            </a:pPr>
            <a:r>
              <a:rPr lang="en-AU" sz="1200" kern="1200" dirty="0" smtClean="0">
                <a:solidFill>
                  <a:schemeClr val="tx1"/>
                </a:solidFill>
                <a:latin typeface="+mn-lt"/>
                <a:ea typeface="+mn-ea"/>
                <a:cs typeface="+mn-cs"/>
              </a:rPr>
              <a:t>Methods of payment accepted</a:t>
            </a:r>
          </a:p>
          <a:p>
            <a:pPr lvl="1">
              <a:buFont typeface="Arial" pitchFamily="34" charset="0"/>
              <a:buChar char="•"/>
            </a:pPr>
            <a:r>
              <a:rPr lang="en-AU" sz="1200" kern="1200" dirty="0" smtClean="0">
                <a:solidFill>
                  <a:schemeClr val="tx1"/>
                </a:solidFill>
                <a:latin typeface="+mn-lt"/>
                <a:ea typeface="+mn-ea"/>
                <a:cs typeface="+mn-cs"/>
              </a:rPr>
              <a:t>Action to take if there is a problem/dispute – with staff or with customers</a:t>
            </a:r>
          </a:p>
          <a:p>
            <a:pPr lvl="1">
              <a:buFont typeface="Arial" pitchFamily="34" charset="0"/>
              <a:buChar char="•"/>
            </a:pPr>
            <a:r>
              <a:rPr lang="en-AU" sz="1200" kern="1200" dirty="0" smtClean="0">
                <a:solidFill>
                  <a:schemeClr val="tx1"/>
                </a:solidFill>
                <a:latin typeface="+mn-lt"/>
                <a:ea typeface="+mn-ea"/>
                <a:cs typeface="+mn-cs"/>
              </a:rPr>
              <a:t>Details of departmental/team meetings</a:t>
            </a:r>
          </a:p>
          <a:p>
            <a:pPr lvl="1">
              <a:buFont typeface="Arial" pitchFamily="34" charset="0"/>
              <a:buChar char="•"/>
            </a:pPr>
            <a:r>
              <a:rPr lang="en-AU" sz="1200" kern="1200" dirty="0" smtClean="0">
                <a:solidFill>
                  <a:schemeClr val="tx1"/>
                </a:solidFill>
                <a:latin typeface="+mn-lt"/>
                <a:ea typeface="+mn-ea"/>
                <a:cs typeface="+mn-cs"/>
              </a:rPr>
              <a:t>Terms of Trade of the business</a:t>
            </a:r>
          </a:p>
          <a:p>
            <a:pPr lvl="1">
              <a:buFont typeface="Arial" pitchFamily="34" charset="0"/>
              <a:buChar char="•"/>
            </a:pPr>
            <a:r>
              <a:rPr lang="en-AU" sz="1200" kern="1200" dirty="0" smtClean="0">
                <a:solidFill>
                  <a:schemeClr val="tx1"/>
                </a:solidFill>
                <a:latin typeface="+mn-lt"/>
                <a:ea typeface="+mn-ea"/>
                <a:cs typeface="+mn-cs"/>
              </a:rPr>
              <a:t>Hours and/or days of operation</a:t>
            </a:r>
          </a:p>
          <a:p>
            <a:pPr lvl="1">
              <a:buFont typeface="Arial" pitchFamily="34" charset="0"/>
              <a:buChar char="•"/>
            </a:pPr>
            <a:r>
              <a:rPr lang="en-AU" sz="1200" kern="1200" dirty="0" smtClean="0">
                <a:solidFill>
                  <a:schemeClr val="tx1"/>
                </a:solidFill>
                <a:latin typeface="+mn-lt"/>
                <a:ea typeface="+mn-ea"/>
                <a:cs typeface="+mn-cs"/>
              </a:rPr>
              <a:t>Internal security protocols to protect people, data and the business in general</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http://www.businessballs.com/inductiontrainingchecklist.htm</a:t>
            </a:r>
            <a:r>
              <a:rPr lang="en-AU" sz="1200" kern="1200" dirty="0" smtClean="0">
                <a:solidFill>
                  <a:schemeClr val="tx1"/>
                </a:solidFill>
                <a:latin typeface="+mn-lt"/>
                <a:ea typeface="+mn-ea"/>
                <a:cs typeface="+mn-cs"/>
              </a:rPr>
              <a:t> - Induction training and induction checklist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258181995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present contents of role-specific section of the Induction and Orientation programme:</a:t>
            </a:r>
          </a:p>
          <a:p>
            <a:pPr>
              <a:buFont typeface="Arial" pitchFamily="34" charset="0"/>
              <a:buChar char="•"/>
            </a:pPr>
            <a:r>
              <a:rPr lang="en-AU" sz="1200" kern="1200" dirty="0" smtClean="0">
                <a:solidFill>
                  <a:schemeClr val="tx1"/>
                </a:solidFill>
                <a:latin typeface="+mn-lt"/>
                <a:ea typeface="+mn-ea"/>
                <a:cs typeface="+mn-cs"/>
              </a:rPr>
              <a:t>Explanation of the Probationary Period – so there is clear understanding of:</a:t>
            </a:r>
          </a:p>
          <a:p>
            <a:pPr lvl="1">
              <a:buFont typeface="Arial" pitchFamily="34" charset="0"/>
              <a:buChar char="•"/>
            </a:pPr>
            <a:r>
              <a:rPr lang="en-AU" sz="1200" kern="1200" dirty="0" smtClean="0">
                <a:solidFill>
                  <a:schemeClr val="tx1"/>
                </a:solidFill>
                <a:latin typeface="+mn-lt"/>
                <a:ea typeface="+mn-ea"/>
                <a:cs typeface="+mn-cs"/>
              </a:rPr>
              <a:t>What it is</a:t>
            </a:r>
          </a:p>
          <a:p>
            <a:pPr lvl="1">
              <a:buFont typeface="Arial" pitchFamily="34" charset="0"/>
              <a:buChar char="•"/>
            </a:pPr>
            <a:r>
              <a:rPr lang="en-AU" sz="1200" kern="1200" dirty="0" smtClean="0">
                <a:solidFill>
                  <a:schemeClr val="tx1"/>
                </a:solidFill>
                <a:latin typeface="+mn-lt"/>
                <a:ea typeface="+mn-ea"/>
                <a:cs typeface="+mn-cs"/>
              </a:rPr>
              <a:t>When it finishes</a:t>
            </a:r>
          </a:p>
          <a:p>
            <a:pPr lvl="1">
              <a:buFont typeface="Arial" pitchFamily="34" charset="0"/>
              <a:buChar char="•"/>
            </a:pPr>
            <a:r>
              <a:rPr lang="en-AU" sz="1200" kern="1200" dirty="0" smtClean="0">
                <a:solidFill>
                  <a:schemeClr val="tx1"/>
                </a:solidFill>
                <a:latin typeface="+mn-lt"/>
                <a:ea typeface="+mn-ea"/>
                <a:cs typeface="+mn-cs"/>
              </a:rPr>
              <a:t>Employer’s rights during the Probationary Period</a:t>
            </a:r>
          </a:p>
          <a:p>
            <a:pPr lvl="1">
              <a:buFont typeface="Arial" pitchFamily="34" charset="0"/>
              <a:buChar char="•"/>
            </a:pPr>
            <a:r>
              <a:rPr lang="en-AU" sz="1200" kern="1200" dirty="0" smtClean="0">
                <a:solidFill>
                  <a:schemeClr val="tx1"/>
                </a:solidFill>
                <a:latin typeface="+mn-lt"/>
                <a:ea typeface="+mn-ea"/>
                <a:cs typeface="+mn-cs"/>
              </a:rPr>
              <a:t>Explanation of internal training required and/or available – see following slides</a:t>
            </a:r>
          </a:p>
          <a:p>
            <a:pPr>
              <a:buFont typeface="Arial" pitchFamily="34" charset="0"/>
              <a:buChar char="•"/>
            </a:pPr>
            <a:r>
              <a:rPr lang="en-AU" sz="1200" kern="1200" dirty="0" smtClean="0">
                <a:solidFill>
                  <a:schemeClr val="tx1"/>
                </a:solidFill>
                <a:latin typeface="+mn-lt"/>
                <a:ea typeface="+mn-ea"/>
                <a:cs typeface="+mn-cs"/>
              </a:rPr>
              <a:t>Explanation of company benefits which may be available – such as:</a:t>
            </a:r>
          </a:p>
          <a:p>
            <a:pPr lvl="1">
              <a:buFont typeface="Arial" pitchFamily="34" charset="0"/>
              <a:buChar char="•"/>
            </a:pPr>
            <a:r>
              <a:rPr lang="en-AU" sz="1200" kern="1200" dirty="0" smtClean="0">
                <a:solidFill>
                  <a:schemeClr val="tx1"/>
                </a:solidFill>
                <a:latin typeface="+mn-lt"/>
                <a:ea typeface="+mn-ea"/>
                <a:cs typeface="+mn-cs"/>
              </a:rPr>
              <a:t>Staff discounts on certain purchases</a:t>
            </a:r>
          </a:p>
          <a:p>
            <a:pPr lvl="1">
              <a:buFont typeface="Arial" pitchFamily="34" charset="0"/>
              <a:buChar char="•"/>
            </a:pPr>
            <a:r>
              <a:rPr lang="en-AU" sz="1200" kern="1200" dirty="0" smtClean="0">
                <a:solidFill>
                  <a:schemeClr val="tx1"/>
                </a:solidFill>
                <a:latin typeface="+mn-lt"/>
                <a:ea typeface="+mn-ea"/>
                <a:cs typeface="+mn-cs"/>
              </a:rPr>
              <a:t>Free items (food, drinks, accommodation, tickets, tours, trips, travel, merchandise) available for staff only</a:t>
            </a:r>
          </a:p>
          <a:p>
            <a:pPr lvl="1">
              <a:buFont typeface="Arial" pitchFamily="34" charset="0"/>
              <a:buChar char="•"/>
            </a:pPr>
            <a:r>
              <a:rPr lang="en-AU" sz="1200" kern="1200" dirty="0" smtClean="0">
                <a:solidFill>
                  <a:schemeClr val="tx1"/>
                </a:solidFill>
                <a:latin typeface="+mn-lt"/>
                <a:ea typeface="+mn-ea"/>
                <a:cs typeface="+mn-cs"/>
              </a:rPr>
              <a:t>Internal awards – for example ‘Employee of the Week/Month’, ‘Salesperson of the Year’</a:t>
            </a:r>
          </a:p>
          <a:p>
            <a:pPr lvl="1">
              <a:buFont typeface="Arial" pitchFamily="34" charset="0"/>
              <a:buChar char="•"/>
            </a:pPr>
            <a:r>
              <a:rPr lang="en-AU" sz="1200" kern="1200" dirty="0" smtClean="0">
                <a:solidFill>
                  <a:schemeClr val="tx1"/>
                </a:solidFill>
                <a:latin typeface="+mn-lt"/>
                <a:ea typeface="+mn-ea"/>
                <a:cs typeface="+mn-cs"/>
              </a:rPr>
              <a:t>Cell phone </a:t>
            </a:r>
          </a:p>
          <a:p>
            <a:pPr lvl="1">
              <a:buFont typeface="Arial" pitchFamily="34" charset="0"/>
              <a:buChar char="•"/>
            </a:pPr>
            <a:r>
              <a:rPr lang="en-AU" sz="1200" kern="1200" dirty="0" smtClean="0">
                <a:solidFill>
                  <a:schemeClr val="tx1"/>
                </a:solidFill>
                <a:latin typeface="+mn-lt"/>
                <a:ea typeface="+mn-ea"/>
                <a:cs typeface="+mn-cs"/>
              </a:rPr>
              <a:t>Organisation and legislated benefits together with when they apply – such as benefits in relation to health care, superannuation, retirement benefits, long service leave, sick leave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https://www.dlsweb.rmit.edu.au/toolbox/leadership/toolbox/op/op_c11.html</a:t>
            </a:r>
            <a:r>
              <a:rPr lang="en-AU" sz="1200" kern="1200" dirty="0" smtClean="0">
                <a:solidFill>
                  <a:schemeClr val="tx1"/>
                </a:solidFill>
                <a:latin typeface="+mn-lt"/>
                <a:ea typeface="+mn-ea"/>
                <a:cs typeface="+mn-cs"/>
              </a:rPr>
              <a:t> - The induction process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46088591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present contents of role-specific section of the Induction and Orientation programme:</a:t>
            </a:r>
          </a:p>
          <a:p>
            <a:pPr>
              <a:buFont typeface="Arial" pitchFamily="34" charset="0"/>
              <a:buChar char="•"/>
            </a:pPr>
            <a:r>
              <a:rPr lang="en-AU" sz="1200" kern="1200" dirty="0" smtClean="0">
                <a:solidFill>
                  <a:schemeClr val="tx1"/>
                </a:solidFill>
                <a:latin typeface="+mn-lt"/>
                <a:ea typeface="+mn-ea"/>
                <a:cs typeface="+mn-cs"/>
              </a:rPr>
              <a:t>Explanation of internal staff appraisal system in use by the business – and details of:</a:t>
            </a:r>
          </a:p>
          <a:p>
            <a:pPr lvl="1">
              <a:buFont typeface="Arial" pitchFamily="34" charset="0"/>
              <a:buChar char="•"/>
            </a:pPr>
            <a:r>
              <a:rPr lang="en-AU" sz="1200" kern="1200" dirty="0" smtClean="0">
                <a:solidFill>
                  <a:schemeClr val="tx1"/>
                </a:solidFill>
                <a:latin typeface="+mn-lt"/>
                <a:ea typeface="+mn-ea"/>
                <a:cs typeface="+mn-cs"/>
              </a:rPr>
              <a:t>How it operates</a:t>
            </a:r>
          </a:p>
          <a:p>
            <a:pPr lvl="1">
              <a:buFont typeface="Arial" pitchFamily="34" charset="0"/>
              <a:buChar char="•"/>
            </a:pPr>
            <a:r>
              <a:rPr lang="en-AU" sz="1200" kern="1200" dirty="0" smtClean="0">
                <a:solidFill>
                  <a:schemeClr val="tx1"/>
                </a:solidFill>
                <a:latin typeface="+mn-lt"/>
                <a:ea typeface="+mn-ea"/>
                <a:cs typeface="+mn-cs"/>
              </a:rPr>
              <a:t>KPIs which will be relevant to the individual</a:t>
            </a:r>
          </a:p>
          <a:p>
            <a:pPr lvl="1">
              <a:buFont typeface="Arial" pitchFamily="34" charset="0"/>
              <a:buChar char="•"/>
            </a:pPr>
            <a:r>
              <a:rPr lang="en-AU" sz="1200" kern="1200" dirty="0" smtClean="0">
                <a:solidFill>
                  <a:schemeClr val="tx1"/>
                </a:solidFill>
                <a:latin typeface="+mn-lt"/>
                <a:ea typeface="+mn-ea"/>
                <a:cs typeface="+mn-cs"/>
              </a:rPr>
              <a:t>Benefits flowing from it</a:t>
            </a:r>
          </a:p>
          <a:p>
            <a:pPr lvl="1">
              <a:buFont typeface="Arial" pitchFamily="34" charset="0"/>
              <a:buChar char="•"/>
            </a:pPr>
            <a:r>
              <a:rPr lang="en-AU" sz="1200" kern="1200" dirty="0" smtClean="0">
                <a:solidFill>
                  <a:schemeClr val="tx1"/>
                </a:solidFill>
                <a:latin typeface="+mn-lt"/>
                <a:ea typeface="+mn-ea"/>
                <a:cs typeface="+mn-cs"/>
              </a:rPr>
              <a:t>Who conducts it</a:t>
            </a:r>
          </a:p>
          <a:p>
            <a:pPr lvl="1">
              <a:buFont typeface="Arial" pitchFamily="34" charset="0"/>
              <a:buChar char="•"/>
            </a:pPr>
            <a:r>
              <a:rPr lang="en-AU" sz="1200" kern="1200" dirty="0" smtClean="0">
                <a:solidFill>
                  <a:schemeClr val="tx1"/>
                </a:solidFill>
                <a:latin typeface="+mn-lt"/>
                <a:ea typeface="+mn-ea"/>
                <a:cs typeface="+mn-cs"/>
              </a:rPr>
              <a:t>When it will be applied to the new employee</a:t>
            </a:r>
          </a:p>
          <a:p>
            <a:pPr>
              <a:buFont typeface="Arial" pitchFamily="34" charset="0"/>
              <a:buChar char="•"/>
            </a:pPr>
            <a:r>
              <a:rPr lang="en-AU" sz="1200" kern="1200" dirty="0" smtClean="0">
                <a:solidFill>
                  <a:schemeClr val="tx1"/>
                </a:solidFill>
                <a:latin typeface="+mn-lt"/>
                <a:ea typeface="+mn-ea"/>
                <a:cs typeface="+mn-cs"/>
              </a:rPr>
              <a:t>Allocation of role-specific items – as required:</a:t>
            </a:r>
          </a:p>
          <a:p>
            <a:pPr lvl="1">
              <a:buFont typeface="Arial" pitchFamily="34" charset="0"/>
              <a:buChar char="•"/>
            </a:pPr>
            <a:r>
              <a:rPr lang="en-AU" sz="1200" kern="1200" dirty="0" smtClean="0">
                <a:solidFill>
                  <a:schemeClr val="tx1"/>
                </a:solidFill>
                <a:latin typeface="+mn-lt"/>
                <a:ea typeface="+mn-ea"/>
                <a:cs typeface="+mn-cs"/>
              </a:rPr>
              <a:t>Work station</a:t>
            </a:r>
          </a:p>
          <a:p>
            <a:pPr lvl="1">
              <a:buFont typeface="Arial" pitchFamily="34" charset="0"/>
              <a:buChar char="•"/>
            </a:pPr>
            <a:r>
              <a:rPr lang="en-AU" sz="1200" kern="1200" dirty="0" smtClean="0">
                <a:solidFill>
                  <a:schemeClr val="tx1"/>
                </a:solidFill>
                <a:latin typeface="+mn-lt"/>
                <a:ea typeface="+mn-ea"/>
                <a:cs typeface="+mn-cs"/>
              </a:rPr>
              <a:t>Locker</a:t>
            </a:r>
          </a:p>
          <a:p>
            <a:pPr lvl="1">
              <a:buFont typeface="Arial" pitchFamily="34" charset="0"/>
              <a:buChar char="•"/>
            </a:pPr>
            <a:r>
              <a:rPr lang="en-AU" sz="1200" kern="1200" dirty="0" smtClean="0">
                <a:solidFill>
                  <a:schemeClr val="tx1"/>
                </a:solidFill>
                <a:latin typeface="+mn-lt"/>
                <a:ea typeface="+mn-ea"/>
                <a:cs typeface="+mn-cs"/>
              </a:rPr>
              <a:t>Personal equipment necessary for the allocated role.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http://www.steptwo.com.au/papers/cmb_induction/</a:t>
            </a:r>
            <a:r>
              <a:rPr lang="en-AU" sz="1200" kern="1200" dirty="0" smtClean="0">
                <a:solidFill>
                  <a:schemeClr val="tx1"/>
                </a:solidFill>
                <a:latin typeface="+mn-lt"/>
                <a:ea typeface="+mn-ea"/>
                <a:cs typeface="+mn-cs"/>
              </a:rPr>
              <a:t> - The importance of staff induction.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365392233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pre</a:t>
            </a:r>
            <a:r>
              <a:rPr lang="en-AU" sz="1200" b="0" kern="1200" dirty="0" smtClean="0">
                <a:solidFill>
                  <a:schemeClr val="tx1"/>
                </a:solidFill>
                <a:latin typeface="+mn-lt"/>
                <a:ea typeface="+mn-ea"/>
                <a:cs typeface="+mn-cs"/>
              </a:rPr>
              <a:t>-requisite information about workplace training explaining it </a:t>
            </a:r>
            <a:r>
              <a:rPr lang="en-AU" sz="1200" kern="1200" dirty="0" smtClean="0">
                <a:solidFill>
                  <a:schemeClr val="tx1"/>
                </a:solidFill>
                <a:latin typeface="+mn-lt"/>
                <a:ea typeface="+mn-ea"/>
                <a:cs typeface="+mn-cs"/>
              </a:rPr>
              <a:t>is important to understand the following in relation to workplace training:</a:t>
            </a:r>
          </a:p>
          <a:p>
            <a:pPr>
              <a:buFont typeface="Arial" pitchFamily="34" charset="0"/>
              <a:buChar char="•"/>
            </a:pPr>
            <a:r>
              <a:rPr lang="en-AU" sz="1200" kern="1200" dirty="0" smtClean="0">
                <a:solidFill>
                  <a:schemeClr val="tx1"/>
                </a:solidFill>
                <a:latin typeface="+mn-lt"/>
                <a:ea typeface="+mn-ea"/>
                <a:cs typeface="+mn-cs"/>
              </a:rPr>
              <a:t>Nearly every employer requires new staff to complete some form of initial mandatory training – as a way of showing them the basics of the job they have been employed to do</a:t>
            </a:r>
          </a:p>
          <a:p>
            <a:pPr>
              <a:buFont typeface="Arial" pitchFamily="34" charset="0"/>
              <a:buChar char="•"/>
            </a:pPr>
            <a:r>
              <a:rPr lang="en-AU" sz="1200" kern="1200" dirty="0" smtClean="0">
                <a:solidFill>
                  <a:schemeClr val="tx1"/>
                </a:solidFill>
                <a:latin typeface="+mn-lt"/>
                <a:ea typeface="+mn-ea"/>
                <a:cs typeface="+mn-cs"/>
              </a:rPr>
              <a:t>Some employers allow time and/or monetary allowances for staff to participate in study/training – and some do not</a:t>
            </a:r>
          </a:p>
          <a:p>
            <a:pPr>
              <a:buFont typeface="Arial" pitchFamily="34" charset="0"/>
              <a:buChar char="•"/>
            </a:pPr>
            <a:r>
              <a:rPr lang="en-AU" sz="1200" kern="1200" dirty="0" smtClean="0">
                <a:solidFill>
                  <a:schemeClr val="tx1"/>
                </a:solidFill>
                <a:latin typeface="+mn-lt"/>
                <a:ea typeface="+mn-ea"/>
                <a:cs typeface="+mn-cs"/>
              </a:rPr>
              <a:t>Some organisations believe it is best to hire trained staff (that is, employees with required qualifications and appropriate experience) – and other organisations believe it is best to engage people with no training and no experience and train them how they want to be trained</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297165568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pre-requisite information about training:</a:t>
            </a:r>
          </a:p>
          <a:p>
            <a:pPr>
              <a:buFont typeface="Arial" pitchFamily="34" charset="0"/>
              <a:buChar char="•"/>
            </a:pPr>
            <a:r>
              <a:rPr lang="en-AU" sz="1200" kern="1200" dirty="0" smtClean="0">
                <a:solidFill>
                  <a:schemeClr val="tx1"/>
                </a:solidFill>
                <a:latin typeface="+mn-lt"/>
                <a:ea typeface="+mn-ea"/>
                <a:cs typeface="+mn-cs"/>
              </a:rPr>
              <a:t>Many workplaces create a training plan for each employee – to show how their training is laid out and what they will be expected to achieve </a:t>
            </a:r>
          </a:p>
          <a:p>
            <a:pPr>
              <a:buFont typeface="Arial" pitchFamily="34" charset="0"/>
              <a:buChar char="•"/>
            </a:pPr>
            <a:r>
              <a:rPr lang="en-AU" sz="1200" kern="1200" dirty="0" smtClean="0">
                <a:solidFill>
                  <a:schemeClr val="tx1"/>
                </a:solidFill>
                <a:latin typeface="+mn-lt"/>
                <a:ea typeface="+mn-ea"/>
                <a:cs typeface="+mn-cs"/>
              </a:rPr>
              <a:t>It is useful to show employees the link between training/certification and promotion/career path(s) within the business – because this acts as a powerful motivator and incentive</a:t>
            </a:r>
          </a:p>
          <a:p>
            <a:pPr>
              <a:buFont typeface="Arial" pitchFamily="34" charset="0"/>
              <a:buChar char="•"/>
            </a:pPr>
            <a:r>
              <a:rPr lang="en-AU" sz="1200" kern="1200" dirty="0" smtClean="0">
                <a:solidFill>
                  <a:schemeClr val="tx1"/>
                </a:solidFill>
                <a:latin typeface="+mn-lt"/>
                <a:ea typeface="+mn-ea"/>
                <a:cs typeface="+mn-cs"/>
              </a:rPr>
              <a:t>Training should be given the time and consideration it deserves – in terms of the need for it to be:</a:t>
            </a:r>
          </a:p>
          <a:p>
            <a:pPr lvl="1">
              <a:buFont typeface="Arial" pitchFamily="34" charset="0"/>
              <a:buChar char="•"/>
            </a:pPr>
            <a:r>
              <a:rPr lang="en-AU" sz="1200" kern="1200" dirty="0" smtClean="0">
                <a:solidFill>
                  <a:schemeClr val="tx1"/>
                </a:solidFill>
                <a:latin typeface="+mn-lt"/>
                <a:ea typeface="+mn-ea"/>
                <a:cs typeface="+mn-cs"/>
              </a:rPr>
              <a:t>Planned and structured</a:t>
            </a:r>
          </a:p>
          <a:p>
            <a:pPr lvl="1">
              <a:buFont typeface="Arial" pitchFamily="34" charset="0"/>
              <a:buChar char="•"/>
            </a:pPr>
            <a:r>
              <a:rPr lang="en-AU" sz="1200" kern="1200" dirty="0" smtClean="0">
                <a:solidFill>
                  <a:schemeClr val="tx1"/>
                </a:solidFill>
                <a:latin typeface="+mn-lt"/>
                <a:ea typeface="+mn-ea"/>
                <a:cs typeface="+mn-cs"/>
              </a:rPr>
              <a:t>Formalised and documented</a:t>
            </a:r>
          </a:p>
          <a:p>
            <a:pPr lvl="1">
              <a:buFont typeface="Arial" pitchFamily="34" charset="0"/>
              <a:buChar char="•"/>
            </a:pPr>
            <a:r>
              <a:rPr lang="en-AU" sz="1200" kern="1200" dirty="0" smtClean="0">
                <a:solidFill>
                  <a:schemeClr val="tx1"/>
                </a:solidFill>
                <a:latin typeface="+mn-lt"/>
                <a:ea typeface="+mn-ea"/>
                <a:cs typeface="+mn-cs"/>
              </a:rPr>
              <a:t>Properly and suitable resourced</a:t>
            </a:r>
          </a:p>
          <a:p>
            <a:pPr lvl="1">
              <a:buFont typeface="Arial" pitchFamily="34" charset="0"/>
              <a:buChar char="•"/>
            </a:pPr>
            <a:r>
              <a:rPr lang="en-AU" sz="1200" kern="1200" dirty="0" smtClean="0">
                <a:solidFill>
                  <a:schemeClr val="tx1"/>
                </a:solidFill>
                <a:latin typeface="+mn-lt"/>
                <a:ea typeface="+mn-ea"/>
                <a:cs typeface="+mn-cs"/>
              </a:rPr>
              <a:t>Recognised and valued by management</a:t>
            </a:r>
          </a:p>
          <a:p>
            <a:pPr lvl="1">
              <a:buFont typeface="Arial" pitchFamily="34" charset="0"/>
              <a:buChar char="•"/>
            </a:pPr>
            <a:r>
              <a:rPr lang="en-AU" sz="1200" kern="1200" dirty="0" smtClean="0">
                <a:solidFill>
                  <a:schemeClr val="tx1"/>
                </a:solidFill>
                <a:latin typeface="+mn-lt"/>
                <a:ea typeface="+mn-ea"/>
                <a:cs typeface="+mn-cs"/>
              </a:rPr>
              <a:t>Available to all</a:t>
            </a:r>
          </a:p>
          <a:p>
            <a:pPr lvl="1">
              <a:buFont typeface="Arial" pitchFamily="34" charset="0"/>
              <a:buChar char="•"/>
            </a:pPr>
            <a:r>
              <a:rPr lang="en-AU" sz="1200" kern="1200" dirty="0" smtClean="0">
                <a:solidFill>
                  <a:schemeClr val="tx1"/>
                </a:solidFill>
                <a:latin typeface="+mn-lt"/>
                <a:ea typeface="+mn-ea"/>
                <a:cs typeface="+mn-cs"/>
              </a:rPr>
              <a:t>Regularly reviewed and revised as needed to ensure it remains current and relevant to workplace need.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9857625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organisations provide training to staff for a variety of reasons including:</a:t>
            </a:r>
          </a:p>
          <a:p>
            <a:pPr>
              <a:buFont typeface="Arial" pitchFamily="34" charset="0"/>
              <a:buChar char="•"/>
            </a:pPr>
            <a:r>
              <a:rPr lang="en-AU" sz="1200" kern="1200" dirty="0" smtClean="0">
                <a:solidFill>
                  <a:schemeClr val="tx1"/>
                </a:solidFill>
                <a:latin typeface="+mn-lt"/>
                <a:ea typeface="+mn-ea"/>
                <a:cs typeface="+mn-cs"/>
              </a:rPr>
              <a:t>To ensure employees are aware of basic requirements for the role they perform – in terms of issues such as work safety, service standards, job tasks, work method/s, equipment operation, implementation of SOPs and all other work-related pre-requisites and functional imperatives</a:t>
            </a:r>
          </a:p>
          <a:p>
            <a:pPr>
              <a:buFont typeface="Arial" pitchFamily="34" charset="0"/>
              <a:buChar char="•"/>
            </a:pPr>
            <a:r>
              <a:rPr lang="en-AU" sz="1200" kern="1200" dirty="0" smtClean="0">
                <a:solidFill>
                  <a:schemeClr val="tx1"/>
                </a:solidFill>
                <a:latin typeface="+mn-lt"/>
                <a:ea typeface="+mn-ea"/>
                <a:cs typeface="+mn-cs"/>
              </a:rPr>
              <a:t>To create a competent and knowledgeable workforce – that can perform the required tasks and deliver the required service/s and knows </a:t>
            </a:r>
            <a:r>
              <a:rPr lang="en-AU" sz="1200" i="1" kern="1200" dirty="0" smtClean="0">
                <a:solidFill>
                  <a:schemeClr val="tx1"/>
                </a:solidFill>
                <a:latin typeface="+mn-lt"/>
                <a:ea typeface="+mn-ea"/>
                <a:cs typeface="+mn-cs"/>
              </a:rPr>
              <a:t>why</a:t>
            </a:r>
            <a:r>
              <a:rPr lang="en-AU" sz="1200" kern="1200" dirty="0" smtClean="0">
                <a:solidFill>
                  <a:schemeClr val="tx1"/>
                </a:solidFill>
                <a:latin typeface="+mn-lt"/>
                <a:ea typeface="+mn-ea"/>
                <a:cs typeface="+mn-cs"/>
              </a:rPr>
              <a:t> they are doing what they are doing</a:t>
            </a:r>
          </a:p>
          <a:p>
            <a:pPr>
              <a:buFont typeface="Arial" pitchFamily="34" charset="0"/>
              <a:buChar char="•"/>
            </a:pPr>
            <a:r>
              <a:rPr lang="en-AU" sz="1200" kern="1200" dirty="0" smtClean="0">
                <a:solidFill>
                  <a:schemeClr val="tx1"/>
                </a:solidFill>
                <a:latin typeface="+mn-lt"/>
                <a:ea typeface="+mn-ea"/>
                <a:cs typeface="+mn-cs"/>
              </a:rPr>
              <a:t>To develop a multi-skilled pool of employees – who can be used in more than one role/position throughout the business, if required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106791732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giving reasons organisations provide training:</a:t>
            </a:r>
          </a:p>
          <a:p>
            <a:pPr>
              <a:buFont typeface="Arial" pitchFamily="34" charset="0"/>
              <a:buChar char="•"/>
            </a:pPr>
            <a:r>
              <a:rPr lang="en-AU" sz="1200" kern="1200" dirty="0" smtClean="0">
                <a:solidFill>
                  <a:schemeClr val="tx1"/>
                </a:solidFill>
                <a:latin typeface="+mn-lt"/>
                <a:ea typeface="+mn-ea"/>
                <a:cs typeface="+mn-cs"/>
              </a:rPr>
              <a:t>To satisfy the need for personal growth – by providing up-skilling and cross-skilling opportunities</a:t>
            </a:r>
          </a:p>
          <a:p>
            <a:pPr>
              <a:buFont typeface="Arial" pitchFamily="34" charset="0"/>
              <a:buChar char="•"/>
            </a:pPr>
            <a:r>
              <a:rPr lang="en-AU" sz="1200" kern="1200" dirty="0" smtClean="0">
                <a:solidFill>
                  <a:schemeClr val="tx1"/>
                </a:solidFill>
                <a:latin typeface="+mn-lt"/>
                <a:ea typeface="+mn-ea"/>
                <a:cs typeface="+mn-cs"/>
              </a:rPr>
              <a:t>To ensure workers can work within the ever-changing business environment – by showing them how to use new technology, systems, equipment and information</a:t>
            </a:r>
          </a:p>
          <a:p>
            <a:pPr>
              <a:buFont typeface="Arial" pitchFamily="34" charset="0"/>
              <a:buChar char="•"/>
            </a:pPr>
            <a:r>
              <a:rPr lang="en-AU" sz="1200" kern="1200" dirty="0" smtClean="0">
                <a:solidFill>
                  <a:schemeClr val="tx1"/>
                </a:solidFill>
                <a:latin typeface="+mn-lt"/>
                <a:ea typeface="+mn-ea"/>
                <a:cs typeface="+mn-cs"/>
              </a:rPr>
              <a:t>To comply with host country legislation – there can be a requirement for organisations to provide mandatory training (or certification) for those engaged in nominated work.</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r>
              <a:rPr lang="en-AU" sz="1200" u="sng" kern="1200" dirty="0" smtClean="0">
                <a:solidFill>
                  <a:schemeClr val="tx1"/>
                </a:solidFill>
                <a:latin typeface="+mn-lt"/>
                <a:ea typeface="+mn-ea"/>
                <a:cs typeface="+mn-cs"/>
                <a:hlinkClick r:id="rId3"/>
              </a:rPr>
              <a:t>http://cit.edu.au/partnerships/industry_connection/2011_december/making_workplaces_ready_for_workplace_learning</a:t>
            </a:r>
            <a:r>
              <a:rPr lang="en-AU" sz="1200" kern="1200" dirty="0" smtClean="0">
                <a:solidFill>
                  <a:schemeClr val="tx1"/>
                </a:solidFill>
                <a:latin typeface="+mn-lt"/>
                <a:ea typeface="+mn-ea"/>
                <a:cs typeface="+mn-cs"/>
              </a:rPr>
              <a:t> - What makes workplaces ready for learning?</a:t>
            </a:r>
          </a:p>
          <a:p>
            <a:r>
              <a:rPr lang="en-AU" sz="1200" u="sng" kern="1200" dirty="0" smtClean="0">
                <a:solidFill>
                  <a:schemeClr val="tx1"/>
                </a:solidFill>
                <a:latin typeface="+mn-lt"/>
                <a:ea typeface="+mn-ea"/>
                <a:cs typeface="+mn-cs"/>
                <a:hlinkClick r:id="rId4"/>
              </a:rPr>
              <a:t>http://www.insideindianabusiness.com/contributors.asp?id=923</a:t>
            </a:r>
            <a:r>
              <a:rPr lang="en-AU" sz="1200" kern="1200" dirty="0" smtClean="0">
                <a:solidFill>
                  <a:schemeClr val="tx1"/>
                </a:solidFill>
                <a:latin typeface="+mn-lt"/>
                <a:ea typeface="+mn-ea"/>
                <a:cs typeface="+mn-cs"/>
              </a:rPr>
              <a:t> – The importance of workplace training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271418077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and explains standard workplace training options include:</a:t>
            </a:r>
          </a:p>
          <a:p>
            <a:r>
              <a:rPr lang="en-AU" sz="1200" b="1" kern="1200" dirty="0" smtClean="0">
                <a:solidFill>
                  <a:schemeClr val="tx1"/>
                </a:solidFill>
                <a:latin typeface="+mn-lt"/>
                <a:ea typeface="+mn-ea"/>
                <a:cs typeface="+mn-cs"/>
              </a:rPr>
              <a:t>On-the-job training </a:t>
            </a:r>
          </a:p>
          <a:p>
            <a:pPr>
              <a:buFont typeface="Arial" pitchFamily="34" charset="0"/>
              <a:buChar char="•"/>
            </a:pPr>
            <a:r>
              <a:rPr lang="en-AU" sz="1200" kern="1200" dirty="0" smtClean="0">
                <a:solidFill>
                  <a:schemeClr val="tx1"/>
                </a:solidFill>
                <a:latin typeface="+mn-lt"/>
                <a:ea typeface="+mn-ea"/>
                <a:cs typeface="+mn-cs"/>
              </a:rPr>
              <a:t>This occurs where workers are shown what to do while they undertake the job they are being paid to do.</a:t>
            </a:r>
          </a:p>
          <a:p>
            <a:pPr>
              <a:buFont typeface="Arial" pitchFamily="34" charset="0"/>
              <a:buChar char="•"/>
            </a:pPr>
            <a:r>
              <a:rPr lang="en-AU" sz="1200" kern="1200" dirty="0" smtClean="0">
                <a:solidFill>
                  <a:schemeClr val="tx1"/>
                </a:solidFill>
                <a:latin typeface="+mn-lt"/>
                <a:ea typeface="+mn-ea"/>
                <a:cs typeface="+mn-cs"/>
              </a:rPr>
              <a:t>This is often an informal and unstructured approach to training.</a:t>
            </a:r>
          </a:p>
          <a:p>
            <a:pPr>
              <a:buFont typeface="Arial" pitchFamily="34" charset="0"/>
              <a:buChar char="•"/>
            </a:pPr>
            <a:r>
              <a:rPr lang="en-AU" sz="1200" kern="1200" dirty="0" smtClean="0">
                <a:solidFill>
                  <a:schemeClr val="tx1"/>
                </a:solidFill>
                <a:latin typeface="+mn-lt"/>
                <a:ea typeface="+mn-ea"/>
                <a:cs typeface="+mn-cs"/>
              </a:rPr>
              <a:t>It can be effective and inexpensive but there is no guarantee all necessary skill and/or information has been communicated, or that required standards/criteria have been met.</a:t>
            </a:r>
          </a:p>
          <a:p>
            <a:pPr>
              <a:buFont typeface="Arial" pitchFamily="34" charset="0"/>
              <a:buChar char="•"/>
            </a:pPr>
            <a:r>
              <a:rPr lang="en-AU" sz="1200" kern="1200" dirty="0" smtClean="0">
                <a:solidFill>
                  <a:schemeClr val="tx1"/>
                </a:solidFill>
                <a:latin typeface="+mn-lt"/>
                <a:ea typeface="+mn-ea"/>
                <a:cs typeface="+mn-cs"/>
              </a:rPr>
              <a:t>On-the-job training may embrace:</a:t>
            </a:r>
          </a:p>
          <a:p>
            <a:pPr lvl="1">
              <a:buFont typeface="Arial" pitchFamily="34" charset="0"/>
              <a:buChar char="•"/>
            </a:pPr>
            <a:r>
              <a:rPr lang="en-AU" sz="1200" kern="1200" dirty="0" smtClean="0">
                <a:solidFill>
                  <a:schemeClr val="tx1"/>
                </a:solidFill>
                <a:latin typeface="+mn-lt"/>
                <a:ea typeface="+mn-ea"/>
                <a:cs typeface="+mn-cs"/>
              </a:rPr>
              <a:t>Being paired with a more experienced staff member (not a qualified Trainer)  who shows them what to do</a:t>
            </a:r>
          </a:p>
          <a:p>
            <a:pPr lvl="1">
              <a:buFont typeface="Arial" pitchFamily="34" charset="0"/>
              <a:buChar char="•"/>
            </a:pPr>
            <a:r>
              <a:rPr lang="en-AU" sz="1200" kern="1200" dirty="0" smtClean="0">
                <a:solidFill>
                  <a:schemeClr val="tx1"/>
                </a:solidFill>
                <a:latin typeface="+mn-lt"/>
                <a:ea typeface="+mn-ea"/>
                <a:cs typeface="+mn-cs"/>
              </a:rPr>
              <a:t>Observational learning – where the new person watches and listens to a more experienced staff member and learned from what they observe</a:t>
            </a:r>
          </a:p>
          <a:p>
            <a:pPr lvl="1">
              <a:buFont typeface="Arial" pitchFamily="34" charset="0"/>
              <a:buChar char="•"/>
            </a:pPr>
            <a:r>
              <a:rPr lang="en-AU" sz="1200" kern="1200" dirty="0" smtClean="0">
                <a:solidFill>
                  <a:schemeClr val="tx1"/>
                </a:solidFill>
                <a:latin typeface="+mn-lt"/>
                <a:ea typeface="+mn-ea"/>
                <a:cs typeface="+mn-cs"/>
              </a:rPr>
              <a:t>Workplace coaching – see more in the unit ‘Coach others in job skills’</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suitable workplace trainer to attend and:</a:t>
            </a:r>
          </a:p>
          <a:p>
            <a:pPr>
              <a:buFont typeface="Arial" pitchFamily="34" charset="0"/>
              <a:buChar char="•"/>
            </a:pPr>
            <a:r>
              <a:rPr lang="en-AU" b="0" noProof="0" dirty="0" smtClean="0"/>
              <a:t>Present options used for delivery of workplace training</a:t>
            </a:r>
          </a:p>
          <a:p>
            <a:pPr>
              <a:buFont typeface="Arial" pitchFamily="34" charset="0"/>
              <a:buChar char="•"/>
            </a:pPr>
            <a:r>
              <a:rPr lang="en-AU" b="0" noProof="0" dirty="0" smtClean="0"/>
              <a:t>Discuss use of training plans</a:t>
            </a:r>
          </a:p>
          <a:p>
            <a:pPr>
              <a:buFont typeface="Arial" pitchFamily="34" charset="0"/>
              <a:buChar char="•"/>
            </a:pPr>
            <a:r>
              <a:rPr lang="en-AU" b="0" noProof="0" dirty="0" smtClean="0"/>
              <a:t>Explain external training options available</a:t>
            </a:r>
          </a:p>
          <a:p>
            <a:pPr>
              <a:buFont typeface="Arial" pitchFamily="34" charset="0"/>
              <a:buChar char="•"/>
            </a:pPr>
            <a:r>
              <a:rPr lang="en-AU" b="0" noProof="0" dirty="0" smtClean="0"/>
              <a:t>Highlight benefits of workplace training.</a:t>
            </a:r>
          </a:p>
          <a:p>
            <a:pPr>
              <a:buFont typeface="Arial" pitchFamily="34" charset="0"/>
              <a:buChar char="•"/>
            </a:pP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56294196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and explain standard workplace training options:</a:t>
            </a:r>
          </a:p>
          <a:p>
            <a:pPr>
              <a:buFont typeface="Arial" pitchFamily="34" charset="0"/>
              <a:buNone/>
            </a:pPr>
            <a:r>
              <a:rPr lang="en-AU" sz="1200" b="1" kern="1200" dirty="0" smtClean="0">
                <a:solidFill>
                  <a:schemeClr val="tx1"/>
                </a:solidFill>
                <a:latin typeface="+mn-lt"/>
                <a:ea typeface="+mn-ea"/>
                <a:cs typeface="+mn-cs"/>
              </a:rPr>
              <a:t>Off-the-job training </a:t>
            </a:r>
          </a:p>
          <a:p>
            <a:pPr>
              <a:buFont typeface="Arial" pitchFamily="34" charset="0"/>
              <a:buChar char="•"/>
            </a:pPr>
            <a:r>
              <a:rPr lang="en-AU" sz="1200" kern="1200" dirty="0" smtClean="0">
                <a:solidFill>
                  <a:schemeClr val="tx1"/>
                </a:solidFill>
                <a:latin typeface="+mn-lt"/>
                <a:ea typeface="+mn-ea"/>
                <a:cs typeface="+mn-cs"/>
              </a:rPr>
              <a:t>Two interpretations/definitions exist for this option:</a:t>
            </a:r>
          </a:p>
          <a:p>
            <a:pPr lvl="1">
              <a:buFont typeface="Arial" pitchFamily="34" charset="0"/>
              <a:buChar char="•"/>
            </a:pPr>
            <a:r>
              <a:rPr lang="en-AU" sz="1200" kern="1200" dirty="0" smtClean="0">
                <a:solidFill>
                  <a:schemeClr val="tx1"/>
                </a:solidFill>
                <a:latin typeface="+mn-lt"/>
                <a:ea typeface="+mn-ea"/>
                <a:cs typeface="+mn-cs"/>
              </a:rPr>
              <a:t>Training where the learner/new employee goes to a school/institute to complete formal course or to complete some required training</a:t>
            </a:r>
          </a:p>
          <a:p>
            <a:pPr lvl="1">
              <a:buFont typeface="Arial" pitchFamily="34" charset="0"/>
              <a:buChar char="•"/>
            </a:pPr>
            <a:r>
              <a:rPr lang="en-AU" sz="1200" kern="1200" dirty="0" smtClean="0">
                <a:solidFill>
                  <a:schemeClr val="tx1"/>
                </a:solidFill>
                <a:latin typeface="+mn-lt"/>
                <a:ea typeface="+mn-ea"/>
                <a:cs typeface="+mn-cs"/>
              </a:rPr>
              <a:t>Training where the learner is removed from their workplace/work station and is trained within the organisation in a formal training environment/training room using a qualified Trainer and following a structured and formalized series of training and assessment sessions</a:t>
            </a:r>
          </a:p>
          <a:p>
            <a:pPr>
              <a:buFont typeface="Arial" pitchFamily="34" charset="0"/>
              <a:buNone/>
            </a:pPr>
            <a:r>
              <a:rPr lang="en-AU" sz="1200" b="1" kern="1200" dirty="0" smtClean="0">
                <a:solidFill>
                  <a:schemeClr val="tx1"/>
                </a:solidFill>
                <a:latin typeface="+mn-lt"/>
                <a:ea typeface="+mn-ea"/>
                <a:cs typeface="+mn-cs"/>
              </a:rPr>
              <a:t>E-learning </a:t>
            </a:r>
          </a:p>
          <a:p>
            <a:pPr>
              <a:buFont typeface="Arial" pitchFamily="34" charset="0"/>
              <a:buChar char="•"/>
            </a:pPr>
            <a:r>
              <a:rPr lang="en-AU" sz="1200" kern="1200" dirty="0" smtClean="0">
                <a:solidFill>
                  <a:schemeClr val="tx1"/>
                </a:solidFill>
                <a:latin typeface="+mn-lt"/>
                <a:ea typeface="+mn-ea"/>
                <a:cs typeface="+mn-cs"/>
              </a:rPr>
              <a:t>Where the learner uses a variety of electronic learning options and technology (internet, intranet, CBI, TEL, Moodle) to assist with their training.</a:t>
            </a:r>
          </a:p>
          <a:p>
            <a:pPr>
              <a:buFont typeface="Arial" pitchFamily="34" charset="0"/>
              <a:buChar char="•"/>
            </a:pPr>
            <a:r>
              <a:rPr lang="en-AU" sz="1200" kern="1200" dirty="0" smtClean="0">
                <a:solidFill>
                  <a:schemeClr val="tx1"/>
                </a:solidFill>
                <a:latin typeface="+mn-lt"/>
                <a:ea typeface="+mn-ea"/>
                <a:cs typeface="+mn-cs"/>
              </a:rPr>
              <a:t>E-learning can be/is combined with on-the-job and off-the-job training options and provides increased flexibility with (often) higher levels of learner engagement with content/subject material.</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r>
              <a:rPr lang="en-AU" sz="1200" u="sng" kern="1200" dirty="0" smtClean="0">
                <a:solidFill>
                  <a:schemeClr val="tx1"/>
                </a:solidFill>
                <a:latin typeface="+mn-lt"/>
                <a:ea typeface="+mn-ea"/>
                <a:cs typeface="+mn-cs"/>
                <a:hlinkClick r:id="rId3"/>
              </a:rPr>
              <a:t>http://trainingtoday.blr.com/employee-training-resources/How-to-Choose-the-Most-Effective-Training-Techniques</a:t>
            </a:r>
            <a:r>
              <a:rPr lang="en-AU" sz="1200" kern="1200" dirty="0" smtClean="0">
                <a:solidFill>
                  <a:schemeClr val="tx1"/>
                </a:solidFill>
                <a:latin typeface="+mn-lt"/>
                <a:ea typeface="+mn-ea"/>
                <a:cs typeface="+mn-cs"/>
              </a:rPr>
              <a:t> - The most effective training techniques</a:t>
            </a:r>
          </a:p>
          <a:p>
            <a:r>
              <a:rPr lang="en-AU" sz="1200" u="sng" kern="1200" dirty="0" smtClean="0">
                <a:solidFill>
                  <a:schemeClr val="tx1"/>
                </a:solidFill>
                <a:latin typeface="+mn-lt"/>
                <a:ea typeface="+mn-ea"/>
                <a:cs typeface="+mn-cs"/>
                <a:hlinkClick r:id="rId4"/>
              </a:rPr>
              <a:t>http://tribehr.com/blog/workplace-training-and-education-effective-methods-for-training-adults</a:t>
            </a:r>
            <a:r>
              <a:rPr lang="en-AU" sz="1200" kern="1200" dirty="0" smtClean="0">
                <a:solidFill>
                  <a:schemeClr val="tx1"/>
                </a:solidFill>
                <a:latin typeface="+mn-lt"/>
                <a:ea typeface="+mn-ea"/>
                <a:cs typeface="+mn-cs"/>
              </a:rPr>
              <a:t> - Workplace training and education: effective methods for training adults</a:t>
            </a:r>
          </a:p>
          <a:p>
            <a:r>
              <a:rPr lang="en-AU" sz="1200" u="sng" kern="1200" dirty="0" smtClean="0">
                <a:solidFill>
                  <a:schemeClr val="tx1"/>
                </a:solidFill>
                <a:latin typeface="+mn-lt"/>
                <a:ea typeface="+mn-ea"/>
                <a:cs typeface="+mn-cs"/>
                <a:hlinkClick r:id="rId5"/>
              </a:rPr>
              <a:t>http://www.referenceforbusiness.com/management/Tr-Z/Training-Delivery-Methods.html</a:t>
            </a:r>
            <a:r>
              <a:rPr lang="en-AU" sz="1200" kern="1200" dirty="0" smtClean="0">
                <a:solidFill>
                  <a:schemeClr val="tx1"/>
                </a:solidFill>
                <a:latin typeface="+mn-lt"/>
                <a:ea typeface="+mn-ea"/>
                <a:cs typeface="+mn-cs"/>
              </a:rPr>
              <a:t> - Training delivery methods.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312253824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concept of workplace competence observing:</a:t>
            </a:r>
          </a:p>
          <a:p>
            <a:pPr>
              <a:buFont typeface="Arial" pitchFamily="34" charset="0"/>
              <a:buChar char="•"/>
            </a:pPr>
            <a:r>
              <a:rPr lang="en-AU" sz="1200" kern="1200" dirty="0" smtClean="0">
                <a:solidFill>
                  <a:schemeClr val="tx1"/>
                </a:solidFill>
                <a:latin typeface="+mn-lt"/>
                <a:ea typeface="+mn-ea"/>
                <a:cs typeface="+mn-cs"/>
              </a:rPr>
              <a:t>A competent workforce is one which can perform the tasks required to the standards required.</a:t>
            </a:r>
          </a:p>
          <a:p>
            <a:pPr>
              <a:buFont typeface="Arial" pitchFamily="34" charset="0"/>
              <a:buChar char="•"/>
            </a:pPr>
            <a:r>
              <a:rPr lang="en-AU" sz="1200" kern="1200" dirty="0" smtClean="0">
                <a:solidFill>
                  <a:schemeClr val="tx1"/>
                </a:solidFill>
                <a:latin typeface="+mn-lt"/>
                <a:ea typeface="+mn-ea"/>
                <a:cs typeface="+mn-cs"/>
              </a:rPr>
              <a:t>Most organisations (and these ASEAN training units) use the CBT approach to training meaning a competency standard (or ‘benchmark’ level) is set and deemed as being the necessary level/standard a person needs to achieve in order to proficiently perform a specific task.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370588751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competency standards stating the standard/level:</a:t>
            </a:r>
          </a:p>
          <a:p>
            <a:pPr>
              <a:buFont typeface="Arial" pitchFamily="34" charset="0"/>
              <a:buChar char="•"/>
            </a:pPr>
            <a:r>
              <a:rPr lang="en-AU" sz="1200" kern="1200" dirty="0" smtClean="0">
                <a:solidFill>
                  <a:schemeClr val="tx1"/>
                </a:solidFill>
                <a:latin typeface="+mn-lt"/>
                <a:ea typeface="+mn-ea"/>
                <a:cs typeface="+mn-cs"/>
              </a:rPr>
              <a:t>Can be set by the organisation itself, the industry, or a government – as appropriate to the nature of the competency/work being performed</a:t>
            </a:r>
          </a:p>
          <a:p>
            <a:pPr>
              <a:buFont typeface="Arial" pitchFamily="34" charset="0"/>
              <a:buChar char="•"/>
            </a:pPr>
            <a:r>
              <a:rPr lang="en-AU" sz="1200" kern="1200" dirty="0" smtClean="0">
                <a:solidFill>
                  <a:schemeClr val="tx1"/>
                </a:solidFill>
                <a:latin typeface="+mn-lt"/>
                <a:ea typeface="+mn-ea"/>
                <a:cs typeface="+mn-cs"/>
              </a:rPr>
              <a:t>May vary between different departments within the same organisation – to allow for differences in rates charged for similar services delivered/provided to customers</a:t>
            </a:r>
          </a:p>
          <a:p>
            <a:pPr>
              <a:buFont typeface="Arial" pitchFamily="34" charset="0"/>
              <a:buChar char="•"/>
            </a:pPr>
            <a:r>
              <a:rPr lang="en-AU" sz="1200" kern="1200" dirty="0" smtClean="0">
                <a:solidFill>
                  <a:schemeClr val="tx1"/>
                </a:solidFill>
                <a:latin typeface="+mn-lt"/>
                <a:ea typeface="+mn-ea"/>
                <a:cs typeface="+mn-cs"/>
              </a:rPr>
              <a:t>May differ between different sites/outlets/offices of the same business – to accommodate the varying service peculiarities or requirements of different marketplaces/customers</a:t>
            </a:r>
          </a:p>
          <a:p>
            <a:pPr>
              <a:buFont typeface="Arial" pitchFamily="34" charset="0"/>
              <a:buChar char="•"/>
            </a:pPr>
            <a:r>
              <a:rPr lang="en-AU" sz="1200" kern="1200" dirty="0" smtClean="0">
                <a:solidFill>
                  <a:schemeClr val="tx1"/>
                </a:solidFill>
                <a:latin typeface="+mn-lt"/>
                <a:ea typeface="+mn-ea"/>
                <a:cs typeface="+mn-cs"/>
              </a:rPr>
              <a:t>Involves three primary elements – of skill, knowledge and attitude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329255381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competency standards stating the standard/level:</a:t>
            </a:r>
          </a:p>
          <a:p>
            <a:pPr lvl="0">
              <a:buFont typeface="Arial" pitchFamily="34" charset="0"/>
              <a:buChar char="•"/>
            </a:pPr>
            <a:r>
              <a:rPr lang="en-AU" sz="1200" kern="1200" dirty="0" smtClean="0">
                <a:solidFill>
                  <a:schemeClr val="tx1"/>
                </a:solidFill>
                <a:latin typeface="+mn-lt"/>
                <a:ea typeface="+mn-ea"/>
                <a:cs typeface="+mn-cs"/>
              </a:rPr>
              <a:t>Is not time-dependent – competency is not linked to a set number of hours spent in training: the key to success is the ability to demonstrate competency</a:t>
            </a:r>
          </a:p>
          <a:p>
            <a:pPr lvl="0">
              <a:buFont typeface="Arial" pitchFamily="34" charset="0"/>
              <a:buChar char="•"/>
            </a:pPr>
            <a:r>
              <a:rPr lang="en-AU" sz="1200" kern="1200" dirty="0" smtClean="0">
                <a:solidFill>
                  <a:schemeClr val="tx1"/>
                </a:solidFill>
                <a:latin typeface="+mn-lt"/>
                <a:ea typeface="+mn-ea"/>
                <a:cs typeface="+mn-cs"/>
              </a:rPr>
              <a:t>Allows workers to gain their competency through a variety of means/ways – including previous work experience and skills gained through life experience and any form of other (formal or informal) training they may have undertaken.</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Once the learner demonstrates (using CBA) they can perform to this level on multiple occasions they are deemed to be ‘competent’.</a:t>
            </a:r>
          </a:p>
          <a:p>
            <a:pPr>
              <a:buFont typeface="Arial" pitchFamily="34" charset="0"/>
              <a:buChar char="•"/>
            </a:pPr>
            <a:r>
              <a:rPr lang="en-AU" sz="1200" kern="1200" dirty="0" smtClean="0">
                <a:solidFill>
                  <a:schemeClr val="tx1"/>
                </a:solidFill>
                <a:latin typeface="+mn-lt"/>
                <a:ea typeface="+mn-ea"/>
                <a:cs typeface="+mn-cs"/>
              </a:rPr>
              <a:t>CBT/CBA does not use the terms ‘Pass’ or ‘Fail’, instead using ‘Competent’ and ‘Not Yet Competent’.</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r>
              <a:rPr lang="en-AU" sz="1200" u="sng" kern="1200" dirty="0" smtClean="0">
                <a:solidFill>
                  <a:schemeClr val="tx1"/>
                </a:solidFill>
                <a:latin typeface="+mn-lt"/>
                <a:ea typeface="+mn-ea"/>
                <a:cs typeface="+mn-cs"/>
                <a:hlinkClick r:id="rId3"/>
              </a:rPr>
              <a:t>http://www.skillsrecognition.net.au/understanding-competency-based-training</a:t>
            </a:r>
            <a:r>
              <a:rPr lang="en-AU" sz="1200" kern="1200" dirty="0" smtClean="0">
                <a:solidFill>
                  <a:schemeClr val="tx1"/>
                </a:solidFill>
                <a:latin typeface="+mn-lt"/>
                <a:ea typeface="+mn-ea"/>
                <a:cs typeface="+mn-cs"/>
              </a:rPr>
              <a:t> - Understanding competency based training</a:t>
            </a:r>
          </a:p>
          <a:p>
            <a:r>
              <a:rPr lang="en-AU" sz="1200" u="sng" kern="1200" dirty="0" smtClean="0">
                <a:solidFill>
                  <a:schemeClr val="tx1"/>
                </a:solidFill>
                <a:latin typeface="+mn-lt"/>
                <a:ea typeface="+mn-ea"/>
                <a:cs typeface="+mn-cs"/>
                <a:hlinkClick r:id="rId4"/>
              </a:rPr>
              <a:t>http://www.batchelor.edu.au/biite/wp-content/uploads/2012/06/CBT-Overview.pdf</a:t>
            </a:r>
            <a:r>
              <a:rPr lang="en-AU" sz="1200" kern="1200" dirty="0" smtClean="0">
                <a:solidFill>
                  <a:schemeClr val="tx1"/>
                </a:solidFill>
                <a:latin typeface="+mn-lt"/>
                <a:ea typeface="+mn-ea"/>
                <a:cs typeface="+mn-cs"/>
              </a:rPr>
              <a:t> - CBT: Introduction and definitions.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22509533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in this </a:t>
            </a:r>
            <a:r>
              <a:rPr lang="en-AU" sz="1200" kern="1200" dirty="0" smtClean="0">
                <a:solidFill>
                  <a:schemeClr val="tx1"/>
                </a:solidFill>
                <a:latin typeface="+mn-lt"/>
                <a:ea typeface="+mn-ea"/>
                <a:cs typeface="+mn-cs"/>
              </a:rPr>
              <a:t>context a grievance can be seen as:</a:t>
            </a:r>
          </a:p>
          <a:p>
            <a:pPr>
              <a:buFont typeface="Arial" pitchFamily="34" charset="0"/>
              <a:buChar char="•"/>
            </a:pPr>
            <a:r>
              <a:rPr lang="en-AU" sz="1200" kern="1200" dirty="0" smtClean="0">
                <a:solidFill>
                  <a:schemeClr val="tx1"/>
                </a:solidFill>
                <a:latin typeface="+mn-lt"/>
                <a:ea typeface="+mn-ea"/>
                <a:cs typeface="+mn-cs"/>
              </a:rPr>
              <a:t>Any sort of work-based problem or issue</a:t>
            </a:r>
          </a:p>
          <a:p>
            <a:pPr>
              <a:buFont typeface="Arial" pitchFamily="34" charset="0"/>
              <a:buChar char="•"/>
            </a:pPr>
            <a:r>
              <a:rPr lang="en-AU" sz="1200" kern="1200" dirty="0" smtClean="0">
                <a:solidFill>
                  <a:schemeClr val="tx1"/>
                </a:solidFill>
                <a:latin typeface="+mn-lt"/>
                <a:ea typeface="+mn-ea"/>
                <a:cs typeface="+mn-cs"/>
              </a:rPr>
              <a:t>A work-related complaint or conflict</a:t>
            </a:r>
          </a:p>
          <a:p>
            <a:pPr>
              <a:buFont typeface="Arial" pitchFamily="34" charset="0"/>
              <a:buChar char="•"/>
            </a:pPr>
            <a:r>
              <a:rPr lang="en-AU" sz="1200" kern="1200" dirty="0" smtClean="0">
                <a:solidFill>
                  <a:schemeClr val="tx1"/>
                </a:solidFill>
                <a:latin typeface="+mn-lt"/>
                <a:ea typeface="+mn-ea"/>
                <a:cs typeface="+mn-cs"/>
              </a:rPr>
              <a:t>Something between staff and management/management and staff</a:t>
            </a:r>
          </a:p>
          <a:p>
            <a:pPr>
              <a:buFont typeface="Arial" pitchFamily="34" charset="0"/>
              <a:buChar char="•"/>
            </a:pPr>
            <a:r>
              <a:rPr lang="en-AU" sz="1200" kern="1200" dirty="0" smtClean="0">
                <a:solidFill>
                  <a:schemeClr val="tx1"/>
                </a:solidFill>
                <a:latin typeface="+mn-lt"/>
                <a:ea typeface="+mn-ea"/>
                <a:cs typeface="+mn-cs"/>
              </a:rPr>
              <a:t>Something between staff/work colleagues.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139815987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depending </a:t>
            </a:r>
            <a:r>
              <a:rPr lang="en-AU" sz="1200" kern="1200" dirty="0" smtClean="0">
                <a:solidFill>
                  <a:schemeClr val="tx1"/>
                </a:solidFill>
                <a:latin typeface="+mn-lt"/>
                <a:ea typeface="+mn-ea"/>
                <a:cs typeface="+mn-cs"/>
              </a:rPr>
              <a:t>on the issue, stakeholders who may be involved in identifying and resolving a workplace grievance could include:</a:t>
            </a:r>
          </a:p>
          <a:p>
            <a:pPr>
              <a:buFont typeface="Arial" pitchFamily="34" charset="0"/>
              <a:buChar char="•"/>
            </a:pPr>
            <a:r>
              <a:rPr lang="en-AU" sz="1200" kern="1200" dirty="0" smtClean="0">
                <a:solidFill>
                  <a:schemeClr val="tx1"/>
                </a:solidFill>
                <a:latin typeface="+mn-lt"/>
                <a:ea typeface="+mn-ea"/>
                <a:cs typeface="+mn-cs"/>
              </a:rPr>
              <a:t>Staff</a:t>
            </a:r>
          </a:p>
          <a:p>
            <a:pPr>
              <a:buFont typeface="Arial" pitchFamily="34" charset="0"/>
              <a:buChar char="•"/>
            </a:pPr>
            <a:r>
              <a:rPr lang="en-AU" sz="1200" kern="1200" dirty="0" smtClean="0">
                <a:solidFill>
                  <a:schemeClr val="tx1"/>
                </a:solidFill>
                <a:latin typeface="+mn-lt"/>
                <a:ea typeface="+mn-ea"/>
                <a:cs typeface="+mn-cs"/>
              </a:rPr>
              <a:t>Unions</a:t>
            </a:r>
          </a:p>
          <a:p>
            <a:pPr>
              <a:buFont typeface="Arial" pitchFamily="34" charset="0"/>
              <a:buChar char="•"/>
            </a:pPr>
            <a:r>
              <a:rPr lang="en-AU" sz="1200" kern="1200" dirty="0" smtClean="0">
                <a:solidFill>
                  <a:schemeClr val="tx1"/>
                </a:solidFill>
                <a:latin typeface="+mn-lt"/>
                <a:ea typeface="+mn-ea"/>
                <a:cs typeface="+mn-cs"/>
              </a:rPr>
              <a:t>Employer groups</a:t>
            </a:r>
          </a:p>
          <a:p>
            <a:pPr>
              <a:buFont typeface="Arial" pitchFamily="34" charset="0"/>
              <a:buChar char="•"/>
            </a:pPr>
            <a:r>
              <a:rPr lang="en-AU" sz="1200" kern="1200" dirty="0" smtClean="0">
                <a:solidFill>
                  <a:schemeClr val="tx1"/>
                </a:solidFill>
                <a:latin typeface="+mn-lt"/>
                <a:ea typeface="+mn-ea"/>
                <a:cs typeface="+mn-cs"/>
              </a:rPr>
              <a:t>Boards of management – or other management personnel or representatives</a:t>
            </a:r>
          </a:p>
          <a:p>
            <a:pPr>
              <a:buFont typeface="Arial" pitchFamily="34" charset="0"/>
              <a:buChar char="•"/>
            </a:pPr>
            <a:r>
              <a:rPr lang="en-AU" sz="1200" kern="1200" dirty="0" smtClean="0">
                <a:solidFill>
                  <a:schemeClr val="tx1"/>
                </a:solidFill>
                <a:latin typeface="+mn-lt"/>
                <a:ea typeface="+mn-ea"/>
                <a:cs typeface="+mn-cs"/>
              </a:rPr>
              <a:t>Government.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224652537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consultation </a:t>
            </a:r>
            <a:r>
              <a:rPr lang="en-AU" sz="1200" kern="1200" dirty="0" smtClean="0">
                <a:solidFill>
                  <a:schemeClr val="tx1"/>
                </a:solidFill>
                <a:latin typeface="+mn-lt"/>
                <a:ea typeface="+mn-ea"/>
                <a:cs typeface="+mn-cs"/>
              </a:rPr>
              <a:t>can be used in the identification of workplace grievances in the following ways:</a:t>
            </a:r>
          </a:p>
          <a:p>
            <a:pPr>
              <a:buFont typeface="Arial" pitchFamily="34" charset="0"/>
              <a:buChar char="•"/>
            </a:pPr>
            <a:r>
              <a:rPr lang="en-AU" sz="1200" kern="1200" dirty="0" smtClean="0">
                <a:solidFill>
                  <a:schemeClr val="tx1"/>
                </a:solidFill>
                <a:latin typeface="+mn-lt"/>
                <a:ea typeface="+mn-ea"/>
                <a:cs typeface="+mn-cs"/>
              </a:rPr>
              <a:t>Providing formal, written procedures – so there is a basis for action and a clear understanding of options available and the protocols to be followed</a:t>
            </a:r>
          </a:p>
          <a:p>
            <a:pPr>
              <a:buFont typeface="Arial" pitchFamily="34" charset="0"/>
              <a:buChar char="•"/>
            </a:pPr>
            <a:r>
              <a:rPr lang="en-AU" sz="1200" kern="1200" dirty="0" smtClean="0">
                <a:solidFill>
                  <a:schemeClr val="tx1"/>
                </a:solidFill>
                <a:latin typeface="+mn-lt"/>
                <a:ea typeface="+mn-ea"/>
                <a:cs typeface="+mn-cs"/>
              </a:rPr>
              <a:t>Making sure all staff know there is a process for grievance </a:t>
            </a:r>
            <a:r>
              <a:rPr lang="en-AU" sz="1200" i="1" kern="1200" dirty="0" smtClean="0">
                <a:solidFill>
                  <a:schemeClr val="tx1"/>
                </a:solidFill>
                <a:latin typeface="+mn-lt"/>
                <a:ea typeface="+mn-ea"/>
                <a:cs typeface="+mn-cs"/>
              </a:rPr>
              <a:t>identification</a:t>
            </a:r>
            <a:r>
              <a:rPr lang="en-AU" sz="1200" kern="1200" dirty="0" smtClean="0">
                <a:solidFill>
                  <a:schemeClr val="tx1"/>
                </a:solidFill>
                <a:latin typeface="+mn-lt"/>
                <a:ea typeface="+mn-ea"/>
                <a:cs typeface="+mn-cs"/>
              </a:rPr>
              <a:t> – and not just a process for grievance </a:t>
            </a:r>
            <a:r>
              <a:rPr lang="en-AU" sz="1200" i="1" kern="1200" dirty="0" smtClean="0">
                <a:solidFill>
                  <a:schemeClr val="tx1"/>
                </a:solidFill>
                <a:latin typeface="+mn-lt"/>
                <a:ea typeface="+mn-ea"/>
                <a:cs typeface="+mn-cs"/>
              </a:rPr>
              <a:t>resolution</a:t>
            </a:r>
            <a:r>
              <a:rPr lang="en-AU" sz="1200" kern="1200" dirty="0" smtClean="0">
                <a:solidFill>
                  <a:schemeClr val="tx1"/>
                </a:solidFill>
                <a:latin typeface="+mn-lt"/>
                <a:ea typeface="+mn-ea"/>
                <a:cs typeface="+mn-cs"/>
              </a:rPr>
              <a:t>.</a:t>
            </a:r>
          </a:p>
          <a:p>
            <a:pPr lvl="1">
              <a:buFont typeface="Arial" pitchFamily="34" charset="0"/>
              <a:buChar char="•"/>
            </a:pPr>
            <a:r>
              <a:rPr lang="en-AU" sz="1200" kern="1200" dirty="0" smtClean="0">
                <a:solidFill>
                  <a:schemeClr val="tx1"/>
                </a:solidFill>
                <a:latin typeface="+mn-lt"/>
                <a:ea typeface="+mn-ea"/>
                <a:cs typeface="+mn-cs"/>
              </a:rPr>
              <a:t>Early/prompt identification often stops small problems becoming big ones, and always facilitates the resolution process.</a:t>
            </a:r>
          </a:p>
          <a:p>
            <a:pPr>
              <a:buFont typeface="Arial" pitchFamily="34" charset="0"/>
              <a:buChar char="•"/>
            </a:pPr>
            <a:r>
              <a:rPr lang="en-AU" sz="1200" kern="1200" dirty="0" smtClean="0">
                <a:solidFill>
                  <a:schemeClr val="tx1"/>
                </a:solidFill>
                <a:latin typeface="+mn-lt"/>
                <a:ea typeface="+mn-ea"/>
                <a:cs typeface="+mn-cs"/>
              </a:rPr>
              <a:t>Being alert to the warning signs of troubles – through paying attention to:</a:t>
            </a:r>
          </a:p>
          <a:p>
            <a:pPr lvl="1">
              <a:buFont typeface="Arial" pitchFamily="34" charset="0"/>
              <a:buChar char="•"/>
            </a:pPr>
            <a:r>
              <a:rPr lang="en-AU" sz="1200" kern="1200" dirty="0" smtClean="0">
                <a:solidFill>
                  <a:schemeClr val="tx1"/>
                </a:solidFill>
                <a:latin typeface="+mn-lt"/>
                <a:ea typeface="+mn-ea"/>
                <a:cs typeface="+mn-cs"/>
              </a:rPr>
              <a:t>Body language of employees</a:t>
            </a:r>
          </a:p>
          <a:p>
            <a:pPr lvl="1">
              <a:buFont typeface="Arial" pitchFamily="34" charset="0"/>
              <a:buChar char="•"/>
            </a:pPr>
            <a:r>
              <a:rPr lang="en-AU" sz="1200" kern="1200" dirty="0" smtClean="0">
                <a:solidFill>
                  <a:schemeClr val="tx1"/>
                </a:solidFill>
                <a:latin typeface="+mn-lt"/>
                <a:ea typeface="+mn-ea"/>
                <a:cs typeface="+mn-cs"/>
              </a:rPr>
              <a:t>What is being said, how it is being said and what is </a:t>
            </a:r>
            <a:r>
              <a:rPr lang="en-AU" sz="1200" i="1" kern="1200" dirty="0" smtClean="0">
                <a:solidFill>
                  <a:schemeClr val="tx1"/>
                </a:solidFill>
                <a:latin typeface="+mn-lt"/>
                <a:ea typeface="+mn-ea"/>
                <a:cs typeface="+mn-cs"/>
              </a:rPr>
              <a:t>not</a:t>
            </a:r>
            <a:r>
              <a:rPr lang="en-AU" sz="1200" kern="1200" dirty="0" smtClean="0">
                <a:solidFill>
                  <a:schemeClr val="tx1"/>
                </a:solidFill>
                <a:latin typeface="+mn-lt"/>
                <a:ea typeface="+mn-ea"/>
                <a:cs typeface="+mn-cs"/>
              </a:rPr>
              <a:t> being said</a:t>
            </a:r>
          </a:p>
          <a:p>
            <a:pPr lvl="1">
              <a:buFont typeface="Arial" pitchFamily="34" charset="0"/>
              <a:buChar char="•"/>
            </a:pPr>
            <a:r>
              <a:rPr lang="en-AU" sz="1200" kern="1200" dirty="0" smtClean="0">
                <a:solidFill>
                  <a:schemeClr val="tx1"/>
                </a:solidFill>
                <a:latin typeface="+mn-lt"/>
                <a:ea typeface="+mn-ea"/>
                <a:cs typeface="+mn-cs"/>
              </a:rPr>
              <a:t>General ‘feeling’ in the workplace</a:t>
            </a:r>
          </a:p>
          <a:p>
            <a:pPr>
              <a:buFont typeface="Arial" pitchFamily="34" charset="0"/>
              <a:buChar char="•"/>
            </a:pPr>
            <a:r>
              <a:rPr lang="en-AU" sz="1200" kern="1200" dirty="0" smtClean="0">
                <a:solidFill>
                  <a:schemeClr val="tx1"/>
                </a:solidFill>
                <a:latin typeface="+mn-lt"/>
                <a:ea typeface="+mn-ea"/>
                <a:cs typeface="+mn-cs"/>
              </a:rPr>
              <a:t>Talking with staff while in the workplace – as part of ‘management by walking around’ </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pPr>
              <a:buFont typeface="Arial" pitchFamily="34" charset="0"/>
              <a:buNone/>
            </a:pPr>
            <a:r>
              <a:rPr lang="en-AU" sz="1200" u="sng" kern="1200" dirty="0" smtClean="0">
                <a:solidFill>
                  <a:schemeClr val="tx1"/>
                </a:solidFill>
                <a:latin typeface="+mn-lt"/>
                <a:ea typeface="+mn-ea"/>
                <a:cs typeface="+mn-cs"/>
                <a:hlinkClick r:id="rId3"/>
              </a:rPr>
              <a:t>http://fortune.com/2012/08/23/management-by-walking-around-6-tips-to-make-it-work/</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267611015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ways consultation can be used to identify workplace grievances:</a:t>
            </a:r>
          </a:p>
          <a:p>
            <a:pPr>
              <a:buFont typeface="Arial" pitchFamily="34" charset="0"/>
              <a:buChar char="•"/>
            </a:pPr>
            <a:r>
              <a:rPr lang="en-AU" sz="1200" kern="1200" dirty="0" smtClean="0">
                <a:solidFill>
                  <a:schemeClr val="tx1"/>
                </a:solidFill>
                <a:latin typeface="+mn-lt"/>
                <a:ea typeface="+mn-ea"/>
                <a:cs typeface="+mn-cs"/>
              </a:rPr>
              <a:t>Encouraging staff to communicate issues at the first opportunity – and not promoting a culture of ‘put up and shut up’</a:t>
            </a:r>
          </a:p>
          <a:p>
            <a:pPr>
              <a:buFont typeface="Arial" pitchFamily="34" charset="0"/>
              <a:buChar char="•"/>
            </a:pPr>
            <a:r>
              <a:rPr lang="en-AU" sz="1200" kern="1200" dirty="0" smtClean="0">
                <a:solidFill>
                  <a:schemeClr val="tx1"/>
                </a:solidFill>
                <a:latin typeface="+mn-lt"/>
                <a:ea typeface="+mn-ea"/>
                <a:cs typeface="+mn-cs"/>
              </a:rPr>
              <a:t>Establishing designated </a:t>
            </a:r>
            <a:r>
              <a:rPr lang="en-AU" sz="1200" i="1" kern="1200" dirty="0" smtClean="0">
                <a:solidFill>
                  <a:schemeClr val="tx1"/>
                </a:solidFill>
                <a:latin typeface="+mn-lt"/>
                <a:ea typeface="+mn-ea"/>
                <a:cs typeface="+mn-cs"/>
              </a:rPr>
              <a:t>employees</a:t>
            </a:r>
            <a:r>
              <a:rPr lang="en-AU" sz="1200" kern="1200" dirty="0" smtClean="0">
                <a:solidFill>
                  <a:schemeClr val="tx1"/>
                </a:solidFill>
                <a:latin typeface="+mn-lt"/>
                <a:ea typeface="+mn-ea"/>
                <a:cs typeface="+mn-cs"/>
              </a:rPr>
              <a:t> as workplace contacts for staff to speak to if they have a grievance to discuss/report – because workers are more likely to talk with a fellow worker than a member of management</a:t>
            </a:r>
          </a:p>
          <a:p>
            <a:pPr>
              <a:buFont typeface="Arial" pitchFamily="34" charset="0"/>
              <a:buChar char="•"/>
            </a:pPr>
            <a:r>
              <a:rPr lang="en-AU" sz="1200" kern="1200" dirty="0" smtClean="0">
                <a:solidFill>
                  <a:schemeClr val="tx1"/>
                </a:solidFill>
                <a:latin typeface="+mn-lt"/>
                <a:ea typeface="+mn-ea"/>
                <a:cs typeface="+mn-cs"/>
              </a:rPr>
              <a:t>Providing an opportunity for employees to raise grievances at any time staff are together with management – such as at staff briefings and de-briefings, staff meetings, OHS meetings, and any other work-based assembly</a:t>
            </a:r>
          </a:p>
          <a:p>
            <a:pPr>
              <a:buFont typeface="Arial" pitchFamily="34" charset="0"/>
              <a:buChar char="•"/>
            </a:pPr>
            <a:r>
              <a:rPr lang="en-AU" sz="1200" kern="1200" dirty="0" smtClean="0">
                <a:solidFill>
                  <a:schemeClr val="tx1"/>
                </a:solidFill>
                <a:latin typeface="+mn-lt"/>
                <a:ea typeface="+mn-ea"/>
                <a:cs typeface="+mn-cs"/>
              </a:rPr>
              <a:t>Creating a ‘grievance committee’ which meets during paid working hours – with responsibility for: </a:t>
            </a:r>
          </a:p>
          <a:p>
            <a:pPr lvl="1">
              <a:buFont typeface="Arial" pitchFamily="34" charset="0"/>
              <a:buChar char="•"/>
            </a:pPr>
            <a:r>
              <a:rPr lang="en-AU" sz="1200" kern="1200" dirty="0" smtClean="0">
                <a:solidFill>
                  <a:schemeClr val="tx1"/>
                </a:solidFill>
                <a:latin typeface="+mn-lt"/>
                <a:ea typeface="+mn-ea"/>
                <a:cs typeface="+mn-cs"/>
              </a:rPr>
              <a:t>Holding regular meetings to identify workplace issues</a:t>
            </a:r>
          </a:p>
          <a:p>
            <a:pPr lvl="1">
              <a:buFont typeface="Arial" pitchFamily="34" charset="0"/>
              <a:buChar char="•"/>
            </a:pPr>
            <a:r>
              <a:rPr lang="en-AU" sz="1200" kern="1200" dirty="0" smtClean="0">
                <a:solidFill>
                  <a:schemeClr val="tx1"/>
                </a:solidFill>
                <a:latin typeface="+mn-lt"/>
                <a:ea typeface="+mn-ea"/>
                <a:cs typeface="+mn-cs"/>
              </a:rPr>
              <a:t>Formalising the grievance identification process</a:t>
            </a:r>
          </a:p>
          <a:p>
            <a:pPr lvl="1">
              <a:buFont typeface="Arial" pitchFamily="34" charset="0"/>
              <a:buChar char="•"/>
            </a:pPr>
            <a:r>
              <a:rPr lang="en-AU" sz="1200" kern="1200" dirty="0" smtClean="0">
                <a:solidFill>
                  <a:schemeClr val="tx1"/>
                </a:solidFill>
                <a:latin typeface="+mn-lt"/>
                <a:ea typeface="+mn-ea"/>
                <a:cs typeface="+mn-cs"/>
              </a:rPr>
              <a:t>Strategically reviewing work practices</a:t>
            </a:r>
          </a:p>
          <a:p>
            <a:pPr lvl="1">
              <a:buFont typeface="Arial" pitchFamily="34" charset="0"/>
              <a:buChar char="•"/>
            </a:pPr>
            <a:r>
              <a:rPr lang="en-AU" sz="1200" kern="1200" dirty="0" smtClean="0">
                <a:solidFill>
                  <a:schemeClr val="tx1"/>
                </a:solidFill>
                <a:latin typeface="+mn-lt"/>
                <a:ea typeface="+mn-ea"/>
                <a:cs typeface="+mn-cs"/>
              </a:rPr>
              <a:t>Preventing the escalation of minor issues into major problems</a:t>
            </a:r>
          </a:p>
          <a:p>
            <a:pPr>
              <a:buFont typeface="Arial" pitchFamily="34" charset="0"/>
              <a:buChar char="•"/>
            </a:pPr>
            <a:r>
              <a:rPr lang="en-AU" sz="1200" kern="1200" dirty="0" smtClean="0">
                <a:solidFill>
                  <a:schemeClr val="tx1"/>
                </a:solidFill>
                <a:latin typeface="+mn-lt"/>
                <a:ea typeface="+mn-ea"/>
                <a:cs typeface="+mn-cs"/>
              </a:rPr>
              <a:t>Preparing standard forms – to assist staff record and report issues/complaints which are of concern to them</a:t>
            </a:r>
          </a:p>
          <a:p>
            <a:pPr>
              <a:buFont typeface="Arial" pitchFamily="34" charset="0"/>
              <a:buChar char="•"/>
            </a:pPr>
            <a:r>
              <a:rPr lang="en-AU" sz="1200" kern="1200" dirty="0" smtClean="0">
                <a:solidFill>
                  <a:schemeClr val="tx1"/>
                </a:solidFill>
                <a:latin typeface="+mn-lt"/>
                <a:ea typeface="+mn-ea"/>
                <a:cs typeface="+mn-cs"/>
              </a:rPr>
              <a:t>Ensuring all staff committees are charged with the responsibility of identifying grievances as part of their standard charter – so attention is paid to the widest range of potential issues across the spread of the organisation.</a:t>
            </a:r>
          </a:p>
          <a:p>
            <a:pPr>
              <a:buFont typeface="Arial" pitchFamily="34" charset="0"/>
              <a:buNone/>
            </a:pPr>
            <a:endParaRPr lang="en-AU" noProof="0" dirty="0" smtClean="0"/>
          </a:p>
          <a:p>
            <a:pPr>
              <a:buFont typeface="Arial" pitchFamily="34" charset="0"/>
              <a:buNone/>
            </a:pPr>
            <a:r>
              <a:rPr lang="en-AU" b="1" noProof="0" dirty="0" smtClean="0"/>
              <a:t>Classroom Activity (1) – Guest</a:t>
            </a:r>
            <a:r>
              <a:rPr lang="en-AU" b="1" baseline="0" noProof="0" dirty="0" smtClean="0"/>
              <a:t> Speaker</a:t>
            </a:r>
          </a:p>
          <a:p>
            <a:pPr>
              <a:buFont typeface="Arial" pitchFamily="34" charset="0"/>
              <a:buNone/>
            </a:pPr>
            <a:r>
              <a:rPr lang="en-AU" b="0" baseline="0" noProof="0" dirty="0" smtClean="0"/>
              <a:t>Trainer arranges for manager/supervisor to attend and:</a:t>
            </a:r>
          </a:p>
          <a:p>
            <a:pPr>
              <a:buFont typeface="Arial" pitchFamily="34" charset="0"/>
              <a:buChar char="•"/>
            </a:pPr>
            <a:r>
              <a:rPr lang="en-AU" b="0" baseline="0" noProof="0" dirty="0" smtClean="0"/>
              <a:t>Discuss workplace grievance identification</a:t>
            </a:r>
          </a:p>
          <a:p>
            <a:pPr>
              <a:buFont typeface="Arial" pitchFamily="34" charset="0"/>
              <a:buChar char="•"/>
            </a:pPr>
            <a:r>
              <a:rPr lang="en-AU" b="0" baseline="0" noProof="0" dirty="0" smtClean="0"/>
              <a:t>Describe practices for resolving workplace grievances</a:t>
            </a:r>
          </a:p>
          <a:p>
            <a:pPr>
              <a:buFont typeface="Arial" pitchFamily="34" charset="0"/>
              <a:buChar char="•"/>
            </a:pPr>
            <a:r>
              <a:rPr lang="en-AU" b="0" baseline="0" noProof="0" dirty="0" smtClean="0"/>
              <a:t>Provide copies of relevant documentation.</a:t>
            </a:r>
          </a:p>
          <a:p>
            <a:pPr>
              <a:buFont typeface="Arial" pitchFamily="34" charset="0"/>
              <a:buNone/>
            </a:pPr>
            <a:endParaRPr lang="en-AU" b="0" baseline="0" noProof="0" dirty="0" smtClean="0"/>
          </a:p>
          <a:p>
            <a:pPr>
              <a:buFont typeface="Arial" pitchFamily="34" charset="0"/>
              <a:buNone/>
            </a:pPr>
            <a:r>
              <a:rPr lang="en-AU" b="1" noProof="0" dirty="0" smtClean="0"/>
              <a:t>Classroom Activity (2) – Internet Research</a:t>
            </a:r>
          </a:p>
          <a:p>
            <a:pPr>
              <a:buFont typeface="Arial" pitchFamily="34" charset="0"/>
              <a:buNone/>
            </a:pPr>
            <a:r>
              <a:rPr lang="en-AU" b="0" noProof="0" dirty="0" smtClean="0"/>
              <a:t>Trainer facilitates online research and subsequent discussion about:</a:t>
            </a:r>
          </a:p>
          <a:p>
            <a:r>
              <a:rPr lang="en-AU" sz="1200" u="sng" kern="1200" dirty="0" smtClean="0">
                <a:solidFill>
                  <a:schemeClr val="tx1"/>
                </a:solidFill>
                <a:latin typeface="+mn-lt"/>
                <a:ea typeface="+mn-ea"/>
                <a:cs typeface="+mn-cs"/>
                <a:hlinkClick r:id="rId3"/>
              </a:rPr>
              <a:t>http://www.industrialrelations.nsw.gov.au/oirwww/Employment_info/Recruitment_and_termination/Disputes_in_the_workplace.page</a:t>
            </a:r>
            <a:r>
              <a:rPr lang="en-AU" sz="1200" kern="1200" dirty="0" smtClean="0">
                <a:solidFill>
                  <a:schemeClr val="tx1"/>
                </a:solidFill>
                <a:latin typeface="+mn-lt"/>
                <a:ea typeface="+mn-ea"/>
                <a:cs typeface="+mn-cs"/>
              </a:rPr>
              <a:t> - Disputes in the workplace</a:t>
            </a:r>
          </a:p>
          <a:p>
            <a:r>
              <a:rPr lang="en-AU" sz="1200" u="sng" kern="1200" dirty="0" smtClean="0">
                <a:solidFill>
                  <a:schemeClr val="tx1"/>
                </a:solidFill>
                <a:latin typeface="+mn-lt"/>
                <a:ea typeface="+mn-ea"/>
                <a:cs typeface="+mn-cs"/>
                <a:hlinkClick r:id="rId4"/>
              </a:rPr>
              <a:t>http://www.wiseworkplace.com.au/knowledge-hub/investigation-practice/tips-grievance-handling</a:t>
            </a:r>
            <a:r>
              <a:rPr lang="en-AU" sz="1200" kern="1200" dirty="0" smtClean="0">
                <a:solidFill>
                  <a:schemeClr val="tx1"/>
                </a:solidFill>
                <a:latin typeface="+mn-lt"/>
                <a:ea typeface="+mn-ea"/>
                <a:cs typeface="+mn-cs"/>
              </a:rPr>
              <a:t> - Top ten tips on grievance handling</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411724882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consultation </a:t>
            </a:r>
            <a:r>
              <a:rPr lang="en-AU" sz="1200" kern="1200" dirty="0" smtClean="0">
                <a:solidFill>
                  <a:schemeClr val="tx1"/>
                </a:solidFill>
                <a:latin typeface="+mn-lt"/>
                <a:ea typeface="+mn-ea"/>
                <a:cs typeface="+mn-cs"/>
              </a:rPr>
              <a:t>can be used in the resolution of workplace grievances in the following ways:</a:t>
            </a:r>
          </a:p>
          <a:p>
            <a:pPr>
              <a:buFont typeface="Arial" pitchFamily="34" charset="0"/>
              <a:buChar char="•"/>
            </a:pPr>
            <a:r>
              <a:rPr lang="en-AU" sz="1200" kern="1200" dirty="0" smtClean="0">
                <a:solidFill>
                  <a:schemeClr val="tx1"/>
                </a:solidFill>
                <a:latin typeface="+mn-lt"/>
                <a:ea typeface="+mn-ea"/>
                <a:cs typeface="+mn-cs"/>
              </a:rPr>
              <a:t>Generating formal, written ‘grievance resolution’ procedures – with input from staff and agreed to by them</a:t>
            </a:r>
          </a:p>
          <a:p>
            <a:pPr>
              <a:buFont typeface="Arial" pitchFamily="34" charset="0"/>
              <a:buChar char="•"/>
            </a:pPr>
            <a:r>
              <a:rPr lang="en-AU" sz="1200" kern="1200" dirty="0" smtClean="0">
                <a:solidFill>
                  <a:schemeClr val="tx1"/>
                </a:solidFill>
                <a:latin typeface="+mn-lt"/>
                <a:ea typeface="+mn-ea"/>
                <a:cs typeface="+mn-cs"/>
              </a:rPr>
              <a:t>Making sure all staff are aware of what the ‘grievance resolution’ procedures are – and how they operate</a:t>
            </a:r>
          </a:p>
          <a:p>
            <a:pPr>
              <a:buFont typeface="Arial" pitchFamily="34" charset="0"/>
              <a:buChar char="•"/>
            </a:pPr>
            <a:r>
              <a:rPr lang="en-AU" sz="1200" kern="1200" dirty="0" smtClean="0">
                <a:solidFill>
                  <a:schemeClr val="tx1"/>
                </a:solidFill>
                <a:latin typeface="+mn-lt"/>
                <a:ea typeface="+mn-ea"/>
                <a:cs typeface="+mn-cs"/>
              </a:rPr>
              <a:t>Applying the ‘grievance resolution’ procedures equitably – to all issues and personnel without fear or favour</a:t>
            </a:r>
          </a:p>
          <a:p>
            <a:endParaRPr lang="en-AU" sz="1200" kern="1200" dirty="0" smtClean="0">
              <a:solidFill>
                <a:schemeClr val="tx1"/>
              </a:solidFill>
              <a:latin typeface="+mn-lt"/>
              <a:ea typeface="+mn-ea"/>
              <a:cs typeface="+mn-cs"/>
            </a:endParaRPr>
          </a:p>
          <a:p>
            <a:pPr>
              <a:buFont typeface="Arial" pitchFamily="34" charset="0"/>
              <a:buNone/>
            </a:pPr>
            <a:r>
              <a:rPr lang="en-AU" b="1" noProof="0" dirty="0" smtClean="0"/>
              <a:t>Classroom Activity (1) – Guest</a:t>
            </a:r>
            <a:r>
              <a:rPr lang="en-AU" b="1" baseline="0" noProof="0" dirty="0" smtClean="0"/>
              <a:t> Speaker</a:t>
            </a:r>
          </a:p>
          <a:p>
            <a:pPr>
              <a:buFont typeface="Arial" pitchFamily="34" charset="0"/>
              <a:buNone/>
            </a:pPr>
            <a:r>
              <a:rPr lang="en-AU" b="0" baseline="0" noProof="0" dirty="0" smtClean="0"/>
              <a:t>Trainer arranges for industry worker/employee to attend and:</a:t>
            </a:r>
          </a:p>
          <a:p>
            <a:pPr>
              <a:buFont typeface="Arial" pitchFamily="34" charset="0"/>
              <a:buChar char="•"/>
            </a:pPr>
            <a:r>
              <a:rPr lang="en-AU" b="0" baseline="0" noProof="0" dirty="0" smtClean="0"/>
              <a:t>Discuss workplace grievance identification and resolution procedures as they experience them</a:t>
            </a:r>
          </a:p>
          <a:p>
            <a:pPr>
              <a:buFont typeface="Arial" pitchFamily="34" charset="0"/>
              <a:buChar char="•"/>
            </a:pPr>
            <a:r>
              <a:rPr lang="en-AU" b="0" baseline="0" noProof="0" dirty="0" smtClean="0"/>
              <a:t>Give their opinion/advice of effective workplace grievance identification and resolution procedures </a:t>
            </a:r>
          </a:p>
          <a:p>
            <a:pPr>
              <a:buFont typeface="Arial" pitchFamily="34" charset="0"/>
              <a:buChar char="•"/>
            </a:pPr>
            <a:r>
              <a:rPr lang="en-AU" b="0" baseline="0" noProof="0" dirty="0" smtClean="0"/>
              <a:t>Provide copies of relevant documentation.</a:t>
            </a:r>
          </a:p>
          <a:p>
            <a:endParaRPr lang="en-AU" sz="1200" kern="1200" dirty="0" smtClean="0">
              <a:solidFill>
                <a:schemeClr val="tx1"/>
              </a:solidFill>
              <a:latin typeface="+mn-lt"/>
              <a:ea typeface="+mn-ea"/>
              <a:cs typeface="+mn-cs"/>
            </a:endParaRPr>
          </a:p>
          <a:p>
            <a:pPr>
              <a:buFont typeface="Arial" pitchFamily="34" charset="0"/>
              <a:buNone/>
            </a:pPr>
            <a:r>
              <a:rPr lang="en-AU" b="1" noProof="0" dirty="0" smtClean="0"/>
              <a:t>Classroom Activity (2) – Guest</a:t>
            </a:r>
            <a:r>
              <a:rPr lang="en-AU" b="1" baseline="0" noProof="0" dirty="0" smtClean="0"/>
              <a:t> Speaker</a:t>
            </a:r>
          </a:p>
          <a:p>
            <a:pPr>
              <a:buFont typeface="Arial" pitchFamily="34" charset="0"/>
              <a:buNone/>
            </a:pPr>
            <a:r>
              <a:rPr lang="en-AU" b="0" baseline="0" noProof="0" dirty="0" smtClean="0"/>
              <a:t>Trainer arranges for Officer form employment/manpower authority to attend and:</a:t>
            </a:r>
          </a:p>
          <a:p>
            <a:pPr>
              <a:buFont typeface="Arial" pitchFamily="34" charset="0"/>
              <a:buChar char="•"/>
            </a:pPr>
            <a:r>
              <a:rPr lang="en-AU" b="0" baseline="0" noProof="0" dirty="0" smtClean="0"/>
              <a:t>Provide suggested/mandated workplace grievance identification and resolution procedures </a:t>
            </a:r>
          </a:p>
          <a:p>
            <a:pPr>
              <a:buFont typeface="Arial" pitchFamily="34" charset="0"/>
              <a:buChar char="•"/>
            </a:pPr>
            <a:r>
              <a:rPr lang="en-AU" b="0" baseline="0" noProof="0" dirty="0" smtClean="0"/>
              <a:t>Discuss implementation and operation of workplace grievance identification and resolution procedures as they are provided under legislation</a:t>
            </a:r>
          </a:p>
          <a:p>
            <a:pPr>
              <a:buFont typeface="Arial" pitchFamily="34" charset="0"/>
              <a:buChar char="•"/>
            </a:pPr>
            <a:r>
              <a:rPr lang="en-AU" sz="1200" b="0" kern="1200" baseline="0" noProof="0" dirty="0" smtClean="0">
                <a:solidFill>
                  <a:schemeClr val="tx1"/>
                </a:solidFill>
                <a:latin typeface="+mn-lt"/>
                <a:ea typeface="+mn-ea"/>
                <a:cs typeface="+mn-cs"/>
              </a:rPr>
              <a:t>Identify penalties for failing to comply.</a:t>
            </a: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193075471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explain consultation </a:t>
            </a:r>
            <a:r>
              <a:rPr lang="en-AU" sz="1200" kern="1200" dirty="0" smtClean="0">
                <a:solidFill>
                  <a:schemeClr val="tx1"/>
                </a:solidFill>
                <a:latin typeface="+mn-lt"/>
                <a:ea typeface="+mn-ea"/>
                <a:cs typeface="+mn-cs"/>
              </a:rPr>
              <a:t>can be used in the resolution of workplace grievances in the following ways:</a:t>
            </a:r>
          </a:p>
          <a:p>
            <a:pPr>
              <a:buFont typeface="Arial" pitchFamily="34" charset="0"/>
              <a:buChar char="•"/>
            </a:pPr>
            <a:r>
              <a:rPr lang="en-AU" noProof="0" dirty="0" smtClean="0"/>
              <a:t> </a:t>
            </a:r>
            <a:r>
              <a:rPr lang="en-AU" sz="1200" kern="1200" dirty="0" smtClean="0">
                <a:solidFill>
                  <a:schemeClr val="tx1"/>
                </a:solidFill>
                <a:latin typeface="+mn-lt"/>
                <a:ea typeface="+mn-ea"/>
                <a:cs typeface="+mn-cs"/>
              </a:rPr>
              <a:t>Using a ‘grievance resolution’ committee/body – comprising a blend of management and staff representatives to determine/resolve issues. This committee/body should:</a:t>
            </a:r>
          </a:p>
          <a:p>
            <a:pPr lvl="1">
              <a:buFont typeface="Arial" pitchFamily="34" charset="0"/>
              <a:buChar char="•"/>
            </a:pPr>
            <a:r>
              <a:rPr lang="en-AU" sz="1200" kern="1200" dirty="0" smtClean="0">
                <a:solidFill>
                  <a:schemeClr val="tx1"/>
                </a:solidFill>
                <a:latin typeface="+mn-lt"/>
                <a:ea typeface="+mn-ea"/>
                <a:cs typeface="+mn-cs"/>
              </a:rPr>
              <a:t>Involve relevant stakeholders</a:t>
            </a:r>
          </a:p>
          <a:p>
            <a:pPr lvl="1">
              <a:buFont typeface="Arial" pitchFamily="34" charset="0"/>
              <a:buChar char="•"/>
            </a:pPr>
            <a:r>
              <a:rPr lang="en-AU" sz="1200" kern="1200" dirty="0" smtClean="0">
                <a:solidFill>
                  <a:schemeClr val="tx1"/>
                </a:solidFill>
                <a:latin typeface="+mn-lt"/>
                <a:ea typeface="+mn-ea"/>
                <a:cs typeface="+mn-cs"/>
              </a:rPr>
              <a:t>Seek </a:t>
            </a:r>
            <a:r>
              <a:rPr lang="en-AU" sz="1200" i="1" kern="1200" dirty="0" smtClean="0">
                <a:solidFill>
                  <a:schemeClr val="tx1"/>
                </a:solidFill>
                <a:latin typeface="+mn-lt"/>
                <a:ea typeface="+mn-ea"/>
                <a:cs typeface="+mn-cs"/>
              </a:rPr>
              <a:t>evidence</a:t>
            </a:r>
            <a:r>
              <a:rPr lang="en-AU" sz="1200" kern="1200" dirty="0" smtClean="0">
                <a:solidFill>
                  <a:schemeClr val="tx1"/>
                </a:solidFill>
                <a:latin typeface="+mn-lt"/>
                <a:ea typeface="+mn-ea"/>
                <a:cs typeface="+mn-cs"/>
              </a:rPr>
              <a:t> to use as the basis for decision making</a:t>
            </a:r>
          </a:p>
          <a:p>
            <a:pPr lvl="1">
              <a:buFont typeface="Arial" pitchFamily="34" charset="0"/>
              <a:buChar char="•"/>
            </a:pPr>
            <a:r>
              <a:rPr lang="en-AU" sz="1200" kern="1200" dirty="0" smtClean="0">
                <a:solidFill>
                  <a:schemeClr val="tx1"/>
                </a:solidFill>
                <a:latin typeface="+mn-lt"/>
                <a:ea typeface="+mn-ea"/>
                <a:cs typeface="+mn-cs"/>
              </a:rPr>
              <a:t>Work promptly</a:t>
            </a:r>
          </a:p>
          <a:p>
            <a:pPr lvl="1">
              <a:buFont typeface="Arial" pitchFamily="34" charset="0"/>
              <a:buChar char="•"/>
            </a:pPr>
            <a:r>
              <a:rPr lang="en-AU" sz="1200" kern="1200" dirty="0" smtClean="0">
                <a:solidFill>
                  <a:schemeClr val="tx1"/>
                </a:solidFill>
                <a:latin typeface="+mn-lt"/>
                <a:ea typeface="+mn-ea"/>
                <a:cs typeface="+mn-cs"/>
              </a:rPr>
              <a:t>Be accountable and honest </a:t>
            </a:r>
          </a:p>
          <a:p>
            <a:pPr lvl="1">
              <a:buFont typeface="Arial" pitchFamily="34" charset="0"/>
              <a:buChar char="•"/>
            </a:pPr>
            <a:r>
              <a:rPr lang="en-AU" sz="1200" kern="1200" dirty="0" smtClean="0">
                <a:solidFill>
                  <a:schemeClr val="tx1"/>
                </a:solidFill>
                <a:latin typeface="+mn-lt"/>
                <a:ea typeface="+mn-ea"/>
                <a:cs typeface="+mn-cs"/>
              </a:rPr>
              <a:t>Strive for openness and equity</a:t>
            </a:r>
          </a:p>
          <a:p>
            <a:pPr lvl="1">
              <a:buFont typeface="Arial" pitchFamily="34" charset="0"/>
              <a:buChar char="•"/>
            </a:pPr>
            <a:r>
              <a:rPr lang="en-AU" sz="1200" kern="1200" dirty="0" smtClean="0">
                <a:solidFill>
                  <a:schemeClr val="tx1"/>
                </a:solidFill>
                <a:latin typeface="+mn-lt"/>
                <a:ea typeface="+mn-ea"/>
                <a:cs typeface="+mn-cs"/>
              </a:rPr>
              <a:t>Record decisions and action taken</a:t>
            </a:r>
          </a:p>
          <a:p>
            <a:pPr lvl="1">
              <a:buFont typeface="Arial" pitchFamily="34" charset="0"/>
              <a:buChar char="•"/>
            </a:pPr>
            <a:r>
              <a:rPr lang="en-AU" sz="1200" kern="1200" dirty="0" smtClean="0">
                <a:solidFill>
                  <a:schemeClr val="tx1"/>
                </a:solidFill>
                <a:latin typeface="+mn-lt"/>
                <a:ea typeface="+mn-ea"/>
                <a:cs typeface="+mn-cs"/>
              </a:rPr>
              <a:t>Comply with all legislated requirements</a:t>
            </a:r>
          </a:p>
          <a:p>
            <a:pPr>
              <a:buFont typeface="Arial" pitchFamily="34" charset="0"/>
              <a:buChar char="•"/>
            </a:pPr>
            <a:r>
              <a:rPr lang="en-AU" sz="1200" kern="1200" dirty="0" smtClean="0">
                <a:solidFill>
                  <a:schemeClr val="tx1"/>
                </a:solidFill>
                <a:latin typeface="+mn-lt"/>
                <a:ea typeface="+mn-ea"/>
                <a:cs typeface="+mn-cs"/>
              </a:rPr>
              <a:t>Sharing outcomes and decisions with other/all staff – to facilitate learning and understanding relevant to the issue</a:t>
            </a:r>
          </a:p>
          <a:p>
            <a:pPr>
              <a:buFont typeface="Arial" pitchFamily="34" charset="0"/>
              <a:buChar char="•"/>
            </a:pPr>
            <a:r>
              <a:rPr lang="en-AU" sz="1200" kern="1200" dirty="0" smtClean="0">
                <a:solidFill>
                  <a:schemeClr val="tx1"/>
                </a:solidFill>
                <a:latin typeface="+mn-lt"/>
                <a:ea typeface="+mn-ea"/>
                <a:cs typeface="+mn-cs"/>
              </a:rPr>
              <a:t>Integrating lessons learned into standard operations – in terms of (for example) new/revised protocols, and inclusion of content into on-site training</a:t>
            </a:r>
          </a:p>
          <a:p>
            <a:pPr>
              <a:buFont typeface="Arial" pitchFamily="34" charset="0"/>
              <a:buChar char="•"/>
            </a:pPr>
            <a:r>
              <a:rPr lang="en-AU" sz="1200" kern="1200" dirty="0" smtClean="0">
                <a:solidFill>
                  <a:schemeClr val="tx1"/>
                </a:solidFill>
                <a:latin typeface="+mn-lt"/>
                <a:ea typeface="+mn-ea"/>
                <a:cs typeface="+mn-cs"/>
              </a:rPr>
              <a:t>Following up with relevant parties – after resolution has occurred to determine if additional/alternative action is required.</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r>
              <a:rPr lang="en-AU" sz="1200" u="sng" kern="1200" dirty="0" smtClean="0">
                <a:solidFill>
                  <a:schemeClr val="tx1"/>
                </a:solidFill>
                <a:latin typeface="+mn-lt"/>
                <a:ea typeface="+mn-ea"/>
                <a:cs typeface="+mn-cs"/>
                <a:hlinkClick r:id="rId3"/>
              </a:rPr>
              <a:t>http://www.hru.uts.edu.au/docs/manual/6_13.pdf</a:t>
            </a:r>
            <a:r>
              <a:rPr lang="en-AU" sz="1200" kern="1200" dirty="0" smtClean="0">
                <a:solidFill>
                  <a:schemeClr val="tx1"/>
                </a:solidFill>
                <a:latin typeface="+mn-lt"/>
                <a:ea typeface="+mn-ea"/>
                <a:cs typeface="+mn-cs"/>
              </a:rPr>
              <a:t> - Handling staff grievances: guidelines for supervisors</a:t>
            </a:r>
          </a:p>
          <a:p>
            <a:r>
              <a:rPr lang="en-AU" sz="1200" u="sng" kern="1200" dirty="0" smtClean="0">
                <a:solidFill>
                  <a:schemeClr val="tx1"/>
                </a:solidFill>
                <a:latin typeface="+mn-lt"/>
                <a:ea typeface="+mn-ea"/>
                <a:cs typeface="+mn-cs"/>
                <a:hlinkClick r:id="rId4"/>
              </a:rPr>
              <a:t>http://www.jcu.edu.au/policy/hr/procedures/JCU_134924.html</a:t>
            </a:r>
            <a:r>
              <a:rPr lang="en-AU" sz="1200" kern="1200" dirty="0" smtClean="0">
                <a:solidFill>
                  <a:schemeClr val="tx1"/>
                </a:solidFill>
                <a:latin typeface="+mn-lt"/>
                <a:ea typeface="+mn-ea"/>
                <a:cs typeface="+mn-cs"/>
              </a:rPr>
              <a:t> - Resolving workplace grievances and complaints procedure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5416915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consultation </a:t>
            </a:r>
            <a:r>
              <a:rPr lang="en-AU" sz="1200" kern="1200" dirty="0" smtClean="0">
                <a:solidFill>
                  <a:schemeClr val="tx1"/>
                </a:solidFill>
                <a:latin typeface="+mn-lt"/>
                <a:ea typeface="+mn-ea"/>
                <a:cs typeface="+mn-cs"/>
              </a:rPr>
              <a:t>regarding the introduction of new work practices could involve the use of:</a:t>
            </a:r>
          </a:p>
          <a:p>
            <a:pPr>
              <a:buFont typeface="Arial" pitchFamily="34" charset="0"/>
              <a:buChar char="•"/>
            </a:pPr>
            <a:r>
              <a:rPr lang="en-AU" sz="1200" kern="1200" dirty="0" smtClean="0">
                <a:solidFill>
                  <a:schemeClr val="tx1"/>
                </a:solidFill>
                <a:latin typeface="+mn-lt"/>
                <a:ea typeface="+mn-ea"/>
                <a:cs typeface="+mn-cs"/>
              </a:rPr>
              <a:t>Staff briefings – to advise of practices which need to be implemented at short-notice</a:t>
            </a:r>
          </a:p>
          <a:p>
            <a:pPr>
              <a:buFont typeface="Arial" pitchFamily="34" charset="0"/>
              <a:buChar char="•"/>
            </a:pPr>
            <a:r>
              <a:rPr lang="en-AU" sz="1200" kern="1200" dirty="0" smtClean="0">
                <a:solidFill>
                  <a:schemeClr val="tx1"/>
                </a:solidFill>
                <a:latin typeface="+mn-lt"/>
                <a:ea typeface="+mn-ea"/>
                <a:cs typeface="+mn-cs"/>
              </a:rPr>
              <a:t>Staff training sessions – to enable integration of new procedures with other existing protocols</a:t>
            </a:r>
          </a:p>
          <a:p>
            <a:pPr>
              <a:buFont typeface="Arial" pitchFamily="34" charset="0"/>
              <a:buChar char="•"/>
            </a:pPr>
            <a:r>
              <a:rPr lang="en-AU" sz="1200" kern="1200" dirty="0" smtClean="0">
                <a:solidFill>
                  <a:schemeClr val="tx1"/>
                </a:solidFill>
                <a:latin typeface="+mn-lt"/>
                <a:ea typeface="+mn-ea"/>
                <a:cs typeface="+mn-cs"/>
              </a:rPr>
              <a:t>Staff meetings – to advise staff in a more detailed manner of:</a:t>
            </a:r>
          </a:p>
          <a:p>
            <a:pPr lvl="1">
              <a:buFont typeface="Arial" pitchFamily="34" charset="0"/>
              <a:buChar char="•"/>
            </a:pPr>
            <a:r>
              <a:rPr lang="en-AU" sz="1200" kern="1200" dirty="0" smtClean="0">
                <a:solidFill>
                  <a:schemeClr val="tx1"/>
                </a:solidFill>
                <a:latin typeface="+mn-lt"/>
                <a:ea typeface="+mn-ea"/>
                <a:cs typeface="+mn-cs"/>
              </a:rPr>
              <a:t>Rationale for and benefits of new work practices</a:t>
            </a:r>
          </a:p>
          <a:p>
            <a:pPr lvl="1">
              <a:buFont typeface="Arial" pitchFamily="34" charset="0"/>
              <a:buChar char="•"/>
            </a:pPr>
            <a:r>
              <a:rPr lang="en-AU" sz="1200" kern="1200" dirty="0" smtClean="0">
                <a:solidFill>
                  <a:schemeClr val="tx1"/>
                </a:solidFill>
                <a:latin typeface="+mn-lt"/>
                <a:ea typeface="+mn-ea"/>
                <a:cs typeface="+mn-cs"/>
              </a:rPr>
              <a:t>Transitional arrangements for implementation including proposed schedule</a:t>
            </a:r>
          </a:p>
          <a:p>
            <a:pPr lvl="1">
              <a:buFont typeface="Arial" pitchFamily="34" charset="0"/>
              <a:buChar char="•"/>
            </a:pPr>
            <a:r>
              <a:rPr lang="en-AU" sz="1200" kern="1200" dirty="0" smtClean="0">
                <a:solidFill>
                  <a:schemeClr val="tx1"/>
                </a:solidFill>
                <a:latin typeface="+mn-lt"/>
                <a:ea typeface="+mn-ea"/>
                <a:cs typeface="+mn-cs"/>
              </a:rPr>
              <a:t>Support available to underpin the initiatives</a:t>
            </a:r>
          </a:p>
          <a:p>
            <a:pPr lvl="1">
              <a:buFont typeface="Arial" pitchFamily="34" charset="0"/>
              <a:buChar char="•"/>
            </a:pPr>
            <a:r>
              <a:rPr lang="en-AU" sz="1200" kern="1200" dirty="0" smtClean="0">
                <a:solidFill>
                  <a:schemeClr val="tx1"/>
                </a:solidFill>
                <a:latin typeface="+mn-lt"/>
                <a:ea typeface="+mn-ea"/>
                <a:cs typeface="+mn-cs"/>
              </a:rPr>
              <a:t>Monitoring and evaluation protocols to be used</a:t>
            </a:r>
          </a:p>
          <a:p>
            <a:pPr>
              <a:buFont typeface="Arial" pitchFamily="34" charset="0"/>
              <a:buChar char="•"/>
            </a:pPr>
            <a:r>
              <a:rPr lang="en-AU" sz="1200" kern="1200" dirty="0" smtClean="0">
                <a:solidFill>
                  <a:schemeClr val="tx1"/>
                </a:solidFill>
                <a:latin typeface="+mn-lt"/>
                <a:ea typeface="+mn-ea"/>
                <a:cs typeface="+mn-cs"/>
              </a:rPr>
              <a:t>Staff de-briefing sessions – to discuss implementation, problems encountered, need for refinement of protocols and other matters deemed relevant by those implementing the new work practices</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212023170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to explain consultation </a:t>
            </a:r>
            <a:r>
              <a:rPr lang="en-AU" sz="1200" kern="1200" dirty="0" smtClean="0">
                <a:solidFill>
                  <a:schemeClr val="tx1"/>
                </a:solidFill>
                <a:latin typeface="+mn-lt"/>
                <a:ea typeface="+mn-ea"/>
                <a:cs typeface="+mn-cs"/>
              </a:rPr>
              <a:t>regarding the introduction of new work practices could involve the use of:</a:t>
            </a:r>
          </a:p>
          <a:p>
            <a:pPr>
              <a:buFont typeface="Arial" pitchFamily="34" charset="0"/>
              <a:buChar char="•"/>
            </a:pPr>
            <a:r>
              <a:rPr lang="en-AU" sz="1200" kern="1200" dirty="0" smtClean="0">
                <a:solidFill>
                  <a:schemeClr val="tx1"/>
                </a:solidFill>
                <a:latin typeface="+mn-lt"/>
                <a:ea typeface="+mn-ea"/>
                <a:cs typeface="+mn-cs"/>
              </a:rPr>
              <a:t>An ‘Open door policy’ by management – refer previous reference</a:t>
            </a:r>
          </a:p>
          <a:p>
            <a:pPr>
              <a:buFont typeface="Arial" pitchFamily="34" charset="0"/>
              <a:buChar char="•"/>
            </a:pPr>
            <a:r>
              <a:rPr lang="en-AU" sz="1200" kern="1200" dirty="0" smtClean="0">
                <a:solidFill>
                  <a:schemeClr val="tx1"/>
                </a:solidFill>
                <a:latin typeface="+mn-lt"/>
                <a:ea typeface="+mn-ea"/>
                <a:cs typeface="+mn-cs"/>
              </a:rPr>
              <a:t>Meetings specially convened with staff to discuss the new work practices – where the sole topic of discussion/feedback is the new work initiative</a:t>
            </a:r>
          </a:p>
          <a:p>
            <a:pPr>
              <a:buFont typeface="Arial" pitchFamily="34" charset="0"/>
              <a:buChar char="•"/>
            </a:pPr>
            <a:r>
              <a:rPr lang="en-AU" sz="1200" kern="1200" dirty="0" smtClean="0">
                <a:solidFill>
                  <a:schemeClr val="tx1"/>
                </a:solidFill>
                <a:latin typeface="+mn-lt"/>
                <a:ea typeface="+mn-ea"/>
                <a:cs typeface="+mn-cs"/>
              </a:rPr>
              <a:t>Management meetings –where an agenda item is created to allow discussion on the initiative</a:t>
            </a:r>
          </a:p>
          <a:p>
            <a:pPr>
              <a:buFont typeface="Arial" pitchFamily="34" charset="0"/>
              <a:buChar char="•"/>
            </a:pPr>
            <a:r>
              <a:rPr lang="en-AU" sz="1200" kern="1200" dirty="0" smtClean="0">
                <a:solidFill>
                  <a:schemeClr val="tx1"/>
                </a:solidFill>
                <a:latin typeface="+mn-lt"/>
                <a:ea typeface="+mn-ea"/>
                <a:cs typeface="+mn-cs"/>
              </a:rPr>
              <a:t>Formal presentations – </a:t>
            </a:r>
            <a:r>
              <a:rPr lang="en-AU" sz="1200" b="1" i="1" kern="1200" dirty="0" smtClean="0">
                <a:solidFill>
                  <a:schemeClr val="tx1"/>
                </a:solidFill>
                <a:latin typeface="+mn-lt"/>
                <a:ea typeface="+mn-ea"/>
                <a:cs typeface="+mn-cs"/>
              </a:rPr>
              <a:t>by</a:t>
            </a:r>
            <a:r>
              <a:rPr lang="en-AU" sz="1200" kern="1200" dirty="0" smtClean="0">
                <a:solidFill>
                  <a:schemeClr val="tx1"/>
                </a:solidFill>
                <a:latin typeface="+mn-lt"/>
                <a:ea typeface="+mn-ea"/>
                <a:cs typeface="+mn-cs"/>
              </a:rPr>
              <a:t> staff and/or management </a:t>
            </a:r>
            <a:r>
              <a:rPr lang="en-AU" sz="1200" b="1" i="1" kern="1200" dirty="0" smtClean="0">
                <a:solidFill>
                  <a:schemeClr val="tx1"/>
                </a:solidFill>
                <a:latin typeface="+mn-lt"/>
                <a:ea typeface="+mn-ea"/>
                <a:cs typeface="+mn-cs"/>
              </a:rPr>
              <a:t>to</a:t>
            </a:r>
            <a:r>
              <a:rPr lang="en-AU" sz="1200" kern="1200" dirty="0" smtClean="0">
                <a:solidFill>
                  <a:schemeClr val="tx1"/>
                </a:solidFill>
                <a:latin typeface="+mn-lt"/>
                <a:ea typeface="+mn-ea"/>
                <a:cs typeface="+mn-cs"/>
              </a:rPr>
              <a:t> staff and/or management on implementation and results</a:t>
            </a:r>
          </a:p>
          <a:p>
            <a:pPr>
              <a:buFont typeface="Arial" pitchFamily="34" charset="0"/>
              <a:buChar char="•"/>
            </a:pPr>
            <a:r>
              <a:rPr lang="en-AU" sz="1200" kern="1200" dirty="0" smtClean="0">
                <a:solidFill>
                  <a:schemeClr val="tx1"/>
                </a:solidFill>
                <a:latin typeface="+mn-lt"/>
                <a:ea typeface="+mn-ea"/>
                <a:cs typeface="+mn-cs"/>
              </a:rPr>
              <a:t>Visits by external stakeholders – to allow them to view implementation and observe the improvements brought about by the changes.</a:t>
            </a:r>
          </a:p>
          <a:p>
            <a:pPr>
              <a:buFont typeface="Arial" pitchFamily="34" charset="0"/>
              <a:buChar cha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123356660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186957332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16326190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88969096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69903446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403972588"/>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2879382438"/>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is meant by ‘formal industrial procedures’?</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mandatory/legislated industrial procedures exist/need to be complied with? </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consultation exists in the workplace in relation to industrial relations?</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external specialist assistance is available to managers/organisations in relation to industrial relations?</a:t>
            </a: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112247701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kern="1200" dirty="0" smtClean="0">
                <a:solidFill>
                  <a:schemeClr val="tx1"/>
                </a:solidFill>
                <a:latin typeface="+mn-lt"/>
                <a:ea typeface="+mn-ea"/>
                <a:cs typeface="+mn-cs"/>
              </a:rPr>
              <a:t>those who may be involved in the development process may include:</a:t>
            </a:r>
          </a:p>
          <a:p>
            <a:pPr>
              <a:buFont typeface="Arial" pitchFamily="34" charset="0"/>
              <a:buChar char="•"/>
            </a:pPr>
            <a:r>
              <a:rPr lang="en-AU" sz="1200" kern="1200" dirty="0" smtClean="0">
                <a:solidFill>
                  <a:schemeClr val="tx1"/>
                </a:solidFill>
                <a:latin typeface="+mn-lt"/>
                <a:ea typeface="+mn-ea"/>
                <a:cs typeface="+mn-cs"/>
              </a:rPr>
              <a:t>Employees from within the workplace – as a body, or their representatives.</a:t>
            </a:r>
          </a:p>
          <a:p>
            <a:pPr>
              <a:buFont typeface="Arial" pitchFamily="34" charset="0"/>
              <a:buChar char="•"/>
            </a:pPr>
            <a:r>
              <a:rPr lang="en-AU" sz="1200" kern="1200" dirty="0" smtClean="0">
                <a:solidFill>
                  <a:schemeClr val="tx1"/>
                </a:solidFill>
                <a:latin typeface="+mn-lt"/>
                <a:ea typeface="+mn-ea"/>
                <a:cs typeface="+mn-cs"/>
              </a:rPr>
              <a:t>Employee bodies – or union representatives</a:t>
            </a:r>
          </a:p>
          <a:p>
            <a:pPr>
              <a:buFont typeface="Arial" pitchFamily="34" charset="0"/>
              <a:buChar char="•"/>
            </a:pPr>
            <a:r>
              <a:rPr lang="en-AU" sz="1200" kern="1200" dirty="0" smtClean="0">
                <a:solidFill>
                  <a:schemeClr val="tx1"/>
                </a:solidFill>
                <a:latin typeface="+mn-lt"/>
                <a:ea typeface="+mn-ea"/>
                <a:cs typeface="+mn-cs"/>
              </a:rPr>
              <a:t>Senior management of the organisation – or business owners, members of the Boards and/or line managers</a:t>
            </a:r>
          </a:p>
          <a:p>
            <a:pPr>
              <a:buFont typeface="Arial" pitchFamily="34" charset="0"/>
              <a:buChar char="•"/>
            </a:pPr>
            <a:r>
              <a:rPr lang="en-AU" sz="1200" kern="1200" dirty="0" smtClean="0">
                <a:solidFill>
                  <a:schemeClr val="tx1"/>
                </a:solidFill>
                <a:latin typeface="+mn-lt"/>
                <a:ea typeface="+mn-ea"/>
                <a:cs typeface="+mn-cs"/>
              </a:rPr>
              <a:t>HR managers</a:t>
            </a:r>
          </a:p>
          <a:p>
            <a:pPr>
              <a:buFont typeface="Arial" pitchFamily="34" charset="0"/>
              <a:buChar char="•"/>
            </a:pPr>
            <a:r>
              <a:rPr lang="en-AU" sz="1200" kern="1200" dirty="0" smtClean="0">
                <a:solidFill>
                  <a:schemeClr val="tx1"/>
                </a:solidFill>
                <a:latin typeface="+mn-lt"/>
                <a:ea typeface="+mn-ea"/>
                <a:cs typeface="+mn-cs"/>
              </a:rPr>
              <a:t>External professionals – with IR and HR expertise relevant to the topic/s being discussed/developed including employment/IR lawyers and consultants</a:t>
            </a:r>
          </a:p>
          <a:p>
            <a:pPr>
              <a:buFont typeface="Arial" pitchFamily="34" charset="0"/>
              <a:buChar char="•"/>
            </a:pPr>
            <a:r>
              <a:rPr lang="en-AU" sz="1200" kern="1200" dirty="0" smtClean="0">
                <a:solidFill>
                  <a:schemeClr val="tx1"/>
                </a:solidFill>
                <a:latin typeface="+mn-lt"/>
                <a:ea typeface="+mn-ea"/>
                <a:cs typeface="+mn-cs"/>
              </a:rPr>
              <a:t>Government agencies and authorities – with specialist expertise and responsibility for areas being addressed.</a:t>
            </a:r>
          </a:p>
          <a:p>
            <a:pPr>
              <a:buFont typeface="Arial" pitchFamily="34" charset="0"/>
              <a:buNone/>
            </a:pPr>
            <a:endParaRPr lang="en-AU" noProof="0" dirty="0" smtClean="0"/>
          </a:p>
          <a:p>
            <a:pPr>
              <a:buFont typeface="Arial" pitchFamily="34" charset="0"/>
              <a:buNone/>
            </a:pPr>
            <a:r>
              <a:rPr lang="en-AU" b="1" noProof="0" dirty="0" smtClean="0"/>
              <a:t>Classroom Activity – Guest Speakers </a:t>
            </a:r>
          </a:p>
          <a:p>
            <a:pPr>
              <a:buFont typeface="Arial" pitchFamily="34" charset="0"/>
              <a:buNone/>
            </a:pPr>
            <a:r>
              <a:rPr lang="en-AU" b="0" noProof="0" dirty="0" smtClean="0"/>
              <a:t>Trainer arranges for a selection of people identified on the slide to attend and discuss their role in the development of formal industrial relations procedures.</a:t>
            </a:r>
            <a:r>
              <a:rPr lang="en-AU" b="1" noProof="0" dirty="0" smtClean="0"/>
              <a:t> </a:t>
            </a: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3737543078"/>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lists actions </a:t>
            </a:r>
            <a:r>
              <a:rPr lang="en-AU" sz="1200" kern="1200" dirty="0" smtClean="0">
                <a:solidFill>
                  <a:schemeClr val="tx1"/>
                </a:solidFill>
                <a:latin typeface="+mn-lt"/>
                <a:ea typeface="+mn-ea"/>
                <a:cs typeface="+mn-cs"/>
              </a:rPr>
              <a:t>which are commonly associated with developing effective industrial relations procedures are:</a:t>
            </a:r>
          </a:p>
          <a:p>
            <a:pPr>
              <a:buFont typeface="Arial" pitchFamily="34" charset="0"/>
              <a:buChar char="•"/>
            </a:pPr>
            <a:r>
              <a:rPr lang="en-AU" sz="1200" kern="1200" dirty="0" smtClean="0">
                <a:solidFill>
                  <a:schemeClr val="tx1"/>
                </a:solidFill>
                <a:latin typeface="+mn-lt"/>
                <a:ea typeface="+mn-ea"/>
                <a:cs typeface="+mn-cs"/>
              </a:rPr>
              <a:t>Commitment by management to develop IR procedures – in alignment with standard inclusive practices such as:</a:t>
            </a:r>
          </a:p>
          <a:p>
            <a:pPr lvl="1">
              <a:buFont typeface="Arial" pitchFamily="34" charset="0"/>
              <a:buChar char="•"/>
            </a:pPr>
            <a:r>
              <a:rPr lang="en-AU" sz="1200" kern="1200" dirty="0" smtClean="0">
                <a:solidFill>
                  <a:schemeClr val="tx1"/>
                </a:solidFill>
                <a:latin typeface="+mn-lt"/>
                <a:ea typeface="+mn-ea"/>
                <a:cs typeface="+mn-cs"/>
              </a:rPr>
              <a:t>Notifying workers of intention to develop IR procedures</a:t>
            </a:r>
          </a:p>
          <a:p>
            <a:pPr lvl="1">
              <a:buFont typeface="Arial" pitchFamily="34" charset="0"/>
              <a:buChar char="•"/>
            </a:pPr>
            <a:r>
              <a:rPr lang="en-AU" sz="1200" kern="1200" dirty="0" smtClean="0">
                <a:solidFill>
                  <a:schemeClr val="tx1"/>
                </a:solidFill>
                <a:latin typeface="+mn-lt"/>
                <a:ea typeface="+mn-ea"/>
                <a:cs typeface="+mn-cs"/>
              </a:rPr>
              <a:t>Encouraging workers to participate in with the process</a:t>
            </a:r>
          </a:p>
          <a:p>
            <a:pPr lvl="1">
              <a:buFont typeface="Arial" pitchFamily="34" charset="0"/>
              <a:buChar char="•"/>
            </a:pPr>
            <a:r>
              <a:rPr lang="en-AU" sz="1200" kern="1200" dirty="0" smtClean="0">
                <a:solidFill>
                  <a:schemeClr val="tx1"/>
                </a:solidFill>
                <a:latin typeface="+mn-lt"/>
                <a:ea typeface="+mn-ea"/>
                <a:cs typeface="+mn-cs"/>
              </a:rPr>
              <a:t>Providing resources for staff to actively engage</a:t>
            </a:r>
          </a:p>
          <a:p>
            <a:pPr lvl="1">
              <a:buFont typeface="Arial" pitchFamily="34" charset="0"/>
              <a:buChar char="•"/>
            </a:pPr>
            <a:r>
              <a:rPr lang="en-AU" sz="1200" kern="1200" dirty="0" smtClean="0">
                <a:solidFill>
                  <a:schemeClr val="tx1"/>
                </a:solidFill>
                <a:latin typeface="+mn-lt"/>
                <a:ea typeface="+mn-ea"/>
                <a:cs typeface="+mn-cs"/>
              </a:rPr>
              <a:t>Giving staff sufficient notice to prepare and attend meetings</a:t>
            </a:r>
          </a:p>
          <a:p>
            <a:pPr>
              <a:buFont typeface="Arial" pitchFamily="34" charset="0"/>
              <a:buChar char="•"/>
            </a:pPr>
            <a:r>
              <a:rPr lang="en-AU" sz="1200" kern="1200" dirty="0" smtClean="0">
                <a:solidFill>
                  <a:schemeClr val="tx1"/>
                </a:solidFill>
                <a:latin typeface="+mn-lt"/>
                <a:ea typeface="+mn-ea"/>
                <a:cs typeface="+mn-cs"/>
              </a:rPr>
              <a:t>Prepare a plan for the process – which should:</a:t>
            </a:r>
          </a:p>
          <a:p>
            <a:pPr lvl="1">
              <a:buFont typeface="Arial" pitchFamily="34" charset="0"/>
              <a:buChar char="•"/>
            </a:pPr>
            <a:r>
              <a:rPr lang="en-AU" sz="1200" kern="1200" dirty="0" smtClean="0">
                <a:solidFill>
                  <a:schemeClr val="tx1"/>
                </a:solidFill>
                <a:latin typeface="+mn-lt"/>
                <a:ea typeface="+mn-ea"/>
                <a:cs typeface="+mn-cs"/>
              </a:rPr>
              <a:t>Be developed in consultation with staff</a:t>
            </a:r>
          </a:p>
          <a:p>
            <a:pPr lvl="1">
              <a:buFont typeface="Arial" pitchFamily="34" charset="0"/>
              <a:buChar char="•"/>
            </a:pPr>
            <a:r>
              <a:rPr lang="en-AU" sz="1200" kern="1200" dirty="0" smtClean="0">
                <a:solidFill>
                  <a:schemeClr val="tx1"/>
                </a:solidFill>
                <a:latin typeface="+mn-lt"/>
                <a:ea typeface="+mn-ea"/>
                <a:cs typeface="+mn-cs"/>
              </a:rPr>
              <a:t>Be shared with staff and contain a communication strategy</a:t>
            </a:r>
          </a:p>
          <a:p>
            <a:pPr lvl="1">
              <a:buFont typeface="Arial" pitchFamily="34" charset="0"/>
              <a:buChar char="•"/>
            </a:pPr>
            <a:r>
              <a:rPr lang="en-AU" sz="1200" kern="1200" dirty="0" smtClean="0">
                <a:solidFill>
                  <a:schemeClr val="tx1"/>
                </a:solidFill>
                <a:latin typeface="+mn-lt"/>
                <a:ea typeface="+mn-ea"/>
                <a:cs typeface="+mn-cs"/>
              </a:rPr>
              <a:t>Contain timelines for action</a:t>
            </a:r>
          </a:p>
          <a:p>
            <a:pPr lvl="1">
              <a:buFont typeface="Arial" pitchFamily="34" charset="0"/>
              <a:buChar char="•"/>
            </a:pPr>
            <a:r>
              <a:rPr lang="en-AU" sz="1200" kern="1200" dirty="0" smtClean="0">
                <a:solidFill>
                  <a:schemeClr val="tx1"/>
                </a:solidFill>
                <a:latin typeface="+mn-lt"/>
                <a:ea typeface="+mn-ea"/>
                <a:cs typeface="+mn-cs"/>
              </a:rPr>
              <a:t>Identify resources available</a:t>
            </a:r>
          </a:p>
          <a:p>
            <a:pPr lvl="1">
              <a:buFont typeface="Arial" pitchFamily="34" charset="0"/>
              <a:buChar char="•"/>
            </a:pPr>
            <a:r>
              <a:rPr lang="en-AU" sz="1200" kern="1200" dirty="0" smtClean="0">
                <a:solidFill>
                  <a:schemeClr val="tx1"/>
                </a:solidFill>
                <a:latin typeface="+mn-lt"/>
                <a:ea typeface="+mn-ea"/>
                <a:cs typeface="+mn-cs"/>
              </a:rPr>
              <a:t>Schedule implementation activities</a:t>
            </a:r>
          </a:p>
          <a:p>
            <a:pPr>
              <a:buFont typeface="Arial" pitchFamily="34" charset="0"/>
              <a:buChar char="•"/>
            </a:pPr>
            <a:r>
              <a:rPr lang="en-AU" sz="1200" kern="1200" dirty="0" smtClean="0">
                <a:solidFill>
                  <a:schemeClr val="tx1"/>
                </a:solidFill>
                <a:latin typeface="+mn-lt"/>
                <a:ea typeface="+mn-ea"/>
                <a:cs typeface="+mn-cs"/>
              </a:rPr>
              <a:t>Review and research of relevant existing documentation – such as:</a:t>
            </a:r>
          </a:p>
          <a:p>
            <a:pPr lvl="1">
              <a:buFont typeface="Arial" pitchFamily="34" charset="0"/>
              <a:buChar char="•"/>
            </a:pPr>
            <a:r>
              <a:rPr lang="en-AU" sz="1200" kern="1200" dirty="0" smtClean="0">
                <a:solidFill>
                  <a:schemeClr val="tx1"/>
                </a:solidFill>
                <a:latin typeface="+mn-lt"/>
                <a:ea typeface="+mn-ea"/>
                <a:cs typeface="+mn-cs"/>
              </a:rPr>
              <a:t>Analysis of examples of IR procedures being used by other businesses – or suggested for use by government agencies or industry bodies</a:t>
            </a:r>
          </a:p>
          <a:p>
            <a:pPr lvl="1">
              <a:buFont typeface="Arial" pitchFamily="34" charset="0"/>
              <a:buChar char="•"/>
            </a:pPr>
            <a:r>
              <a:rPr lang="en-AU" sz="1200" kern="1200" dirty="0" smtClean="0">
                <a:solidFill>
                  <a:schemeClr val="tx1"/>
                </a:solidFill>
                <a:latin typeface="+mn-lt"/>
                <a:ea typeface="+mn-ea"/>
                <a:cs typeface="+mn-cs"/>
              </a:rPr>
              <a:t>Reading of legislation – to determine and ensure compliance with mandatory requirements in this regard</a:t>
            </a:r>
          </a:p>
          <a:p>
            <a:pPr lvl="1">
              <a:buFont typeface="Arial" pitchFamily="34" charset="0"/>
              <a:buChar char="•"/>
            </a:pPr>
            <a:r>
              <a:rPr lang="en-AU" sz="1200" kern="1200" dirty="0" smtClean="0">
                <a:solidFill>
                  <a:schemeClr val="tx1"/>
                </a:solidFill>
                <a:latin typeface="+mn-lt"/>
                <a:ea typeface="+mn-ea"/>
                <a:cs typeface="+mn-cs"/>
              </a:rPr>
              <a:t>Any documentation specified by the host country industrial relations systems </a:t>
            </a:r>
          </a:p>
          <a:p>
            <a:pPr lvl="1">
              <a:buFont typeface="Arial" pitchFamily="34" charset="0"/>
              <a:buChar char="•"/>
            </a:pPr>
            <a:r>
              <a:rPr lang="en-AU" sz="1200" kern="1200" dirty="0" smtClean="0">
                <a:solidFill>
                  <a:schemeClr val="tx1"/>
                </a:solidFill>
                <a:latin typeface="+mn-lt"/>
                <a:ea typeface="+mn-ea"/>
                <a:cs typeface="+mn-cs"/>
              </a:rPr>
              <a:t>Perusal of award and enterprise agreements, and relevant industrial instruments</a:t>
            </a:r>
          </a:p>
          <a:p>
            <a:pPr lvl="1">
              <a:buFont typeface="Arial" pitchFamily="34" charset="0"/>
              <a:buChar char="•"/>
            </a:pPr>
            <a:r>
              <a:rPr lang="en-AU" sz="1200" kern="1200" dirty="0" smtClean="0">
                <a:solidFill>
                  <a:schemeClr val="tx1"/>
                </a:solidFill>
                <a:latin typeface="+mn-lt"/>
                <a:ea typeface="+mn-ea"/>
                <a:cs typeface="+mn-cs"/>
              </a:rPr>
              <a:t>Identification of obligations under any Codes of Practice/Conduct used or subscribed to by the organisation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860670883"/>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listing activities in developing formal IR processes:</a:t>
            </a:r>
          </a:p>
          <a:p>
            <a:pPr>
              <a:buFont typeface="Arial" pitchFamily="34" charset="0"/>
              <a:buChar char="•"/>
            </a:pPr>
            <a:r>
              <a:rPr lang="en-AU" sz="1200" kern="1200" dirty="0" smtClean="0">
                <a:solidFill>
                  <a:schemeClr val="tx1"/>
                </a:solidFill>
                <a:latin typeface="+mn-lt"/>
                <a:ea typeface="+mn-ea"/>
                <a:cs typeface="+mn-cs"/>
              </a:rPr>
              <a:t>Conduct of regular staff meetings during paid working hours – in order to:</a:t>
            </a:r>
          </a:p>
          <a:p>
            <a:pPr lvl="1">
              <a:buFont typeface="Arial" pitchFamily="34" charset="0"/>
              <a:buChar char="•"/>
            </a:pPr>
            <a:r>
              <a:rPr lang="en-AU" sz="1200" kern="1200" dirty="0" smtClean="0">
                <a:solidFill>
                  <a:schemeClr val="tx1"/>
                </a:solidFill>
                <a:latin typeface="+mn-lt"/>
                <a:ea typeface="+mn-ea"/>
                <a:cs typeface="+mn-cs"/>
              </a:rPr>
              <a:t>Seek input from workers to draft procedures</a:t>
            </a:r>
          </a:p>
          <a:p>
            <a:pPr lvl="1">
              <a:buFont typeface="Arial" pitchFamily="34" charset="0"/>
              <a:buChar char="•"/>
            </a:pPr>
            <a:r>
              <a:rPr lang="en-AU" sz="1200" kern="1200" dirty="0" smtClean="0">
                <a:solidFill>
                  <a:schemeClr val="tx1"/>
                </a:solidFill>
                <a:latin typeface="+mn-lt"/>
                <a:ea typeface="+mn-ea"/>
                <a:cs typeface="+mn-cs"/>
              </a:rPr>
              <a:t>Circulate draft procedures for responses from workers</a:t>
            </a:r>
          </a:p>
          <a:p>
            <a:pPr lvl="1">
              <a:buFont typeface="Arial" pitchFamily="34" charset="0"/>
              <a:buChar char="•"/>
            </a:pPr>
            <a:r>
              <a:rPr lang="en-AU" sz="1200" kern="1200" dirty="0" smtClean="0">
                <a:solidFill>
                  <a:schemeClr val="tx1"/>
                </a:solidFill>
                <a:latin typeface="+mn-lt"/>
                <a:ea typeface="+mn-ea"/>
                <a:cs typeface="+mn-cs"/>
              </a:rPr>
              <a:t>Review and revise draft procedures on the basis of legitimate feedback received</a:t>
            </a:r>
          </a:p>
          <a:p>
            <a:pPr lvl="1">
              <a:buFont typeface="Arial" pitchFamily="34" charset="0"/>
              <a:buChar char="•"/>
            </a:pPr>
            <a:r>
              <a:rPr lang="en-AU" sz="1200" kern="1200" dirty="0" smtClean="0">
                <a:solidFill>
                  <a:schemeClr val="tx1"/>
                </a:solidFill>
                <a:latin typeface="+mn-lt"/>
                <a:ea typeface="+mn-ea"/>
                <a:cs typeface="+mn-cs"/>
              </a:rPr>
              <a:t>Seek agreement from staff on final/revised procedures</a:t>
            </a:r>
          </a:p>
          <a:p>
            <a:pPr>
              <a:buFont typeface="Arial" pitchFamily="34" charset="0"/>
              <a:buChar char="•"/>
            </a:pPr>
            <a:r>
              <a:rPr lang="en-AU" sz="1200" kern="1200" dirty="0" smtClean="0">
                <a:solidFill>
                  <a:schemeClr val="tx1"/>
                </a:solidFill>
                <a:latin typeface="+mn-lt"/>
                <a:ea typeface="+mn-ea"/>
                <a:cs typeface="+mn-cs"/>
              </a:rPr>
              <a:t>Preparation of formal written policies and procedures – to reflect and support the agreed procedures. These formal written policies and procedures to:</a:t>
            </a:r>
          </a:p>
          <a:p>
            <a:pPr lvl="1">
              <a:buFont typeface="Arial" pitchFamily="34" charset="0"/>
              <a:buChar char="•"/>
            </a:pPr>
            <a:r>
              <a:rPr lang="en-AU" sz="1200" kern="1200" dirty="0" smtClean="0">
                <a:solidFill>
                  <a:schemeClr val="tx1"/>
                </a:solidFill>
                <a:latin typeface="+mn-lt"/>
                <a:ea typeface="+mn-ea"/>
                <a:cs typeface="+mn-cs"/>
              </a:rPr>
              <a:t>Be reviewed and approved by government authorities, union representatives, employee bodies and senior management/the Board</a:t>
            </a:r>
          </a:p>
          <a:p>
            <a:pPr lvl="1">
              <a:buFont typeface="Arial" pitchFamily="34" charset="0"/>
              <a:buChar char="•"/>
            </a:pPr>
            <a:r>
              <a:rPr lang="en-AU" sz="1200" kern="1200" dirty="0" smtClean="0">
                <a:solidFill>
                  <a:schemeClr val="tx1"/>
                </a:solidFill>
                <a:latin typeface="+mn-lt"/>
                <a:ea typeface="+mn-ea"/>
                <a:cs typeface="+mn-cs"/>
              </a:rPr>
              <a:t>Be integrated with other workplace protocols</a:t>
            </a:r>
          </a:p>
          <a:p>
            <a:pPr lvl="1">
              <a:buFont typeface="Arial" pitchFamily="34" charset="0"/>
              <a:buChar char="•"/>
            </a:pPr>
            <a:r>
              <a:rPr lang="en-AU" sz="1200" kern="1200" dirty="0" smtClean="0">
                <a:solidFill>
                  <a:schemeClr val="tx1"/>
                </a:solidFill>
                <a:latin typeface="+mn-lt"/>
                <a:ea typeface="+mn-ea"/>
                <a:cs typeface="+mn-cs"/>
              </a:rPr>
              <a:t>Be included as part of standard organisational Induction and Orientation and training</a:t>
            </a:r>
          </a:p>
          <a:p>
            <a:pPr lvl="1">
              <a:buFont typeface="Arial" pitchFamily="34" charset="0"/>
              <a:buChar char="•"/>
            </a:pPr>
            <a:r>
              <a:rPr lang="en-AU" sz="1200" kern="1200" dirty="0" smtClean="0">
                <a:solidFill>
                  <a:schemeClr val="tx1"/>
                </a:solidFill>
                <a:latin typeface="+mn-lt"/>
                <a:ea typeface="+mn-ea"/>
                <a:cs typeface="+mn-cs"/>
              </a:rPr>
              <a:t>Be made available readily to all staff through (for example) workplace posters, Staff Handbook, office intranet, inclusion in standard ‘Policies and procedures manual’</a:t>
            </a:r>
          </a:p>
          <a:p>
            <a:pPr lvl="1">
              <a:buFont typeface="Arial" pitchFamily="34" charset="0"/>
              <a:buChar char="•"/>
            </a:pPr>
            <a:r>
              <a:rPr lang="en-AU" sz="1200" kern="1200" dirty="0" smtClean="0">
                <a:solidFill>
                  <a:schemeClr val="tx1"/>
                </a:solidFill>
                <a:latin typeface="+mn-lt"/>
                <a:ea typeface="+mn-ea"/>
                <a:cs typeface="+mn-cs"/>
              </a:rPr>
              <a:t>Be reviewed on a regular basis, at least annually.</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pPr>
              <a:buFont typeface="Arial" pitchFamily="34" charset="0"/>
              <a:buNone/>
            </a:pPr>
            <a:r>
              <a:rPr lang="en-AU" sz="1200" u="sng" kern="1200" dirty="0" smtClean="0">
                <a:solidFill>
                  <a:schemeClr val="tx1"/>
                </a:solidFill>
                <a:latin typeface="+mn-lt"/>
                <a:ea typeface="+mn-ea"/>
                <a:cs typeface="+mn-cs"/>
                <a:hlinkClick r:id="rId3"/>
              </a:rPr>
              <a:t>http://www.industrialrelations.nsw.gov.au/biz_res/oirwww/pdfs/workplace_pp.pdf</a:t>
            </a:r>
            <a:r>
              <a:rPr lang="en-AU" sz="1200" kern="1200" dirty="0" smtClean="0">
                <a:solidFill>
                  <a:schemeClr val="tx1"/>
                </a:solidFill>
                <a:latin typeface="+mn-lt"/>
                <a:ea typeface="+mn-ea"/>
                <a:cs typeface="+mn-cs"/>
              </a:rPr>
              <a:t> - Employment essentials: workplace policies and procedures</a:t>
            </a: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141348540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range of topics for which formal IR procedures may be developed:</a:t>
            </a:r>
          </a:p>
          <a:p>
            <a:pPr>
              <a:buFont typeface="Arial" pitchFamily="34" charset="0"/>
              <a:buChar char="•"/>
            </a:pPr>
            <a:r>
              <a:rPr lang="en-AU" sz="1200" kern="1200" dirty="0" smtClean="0">
                <a:solidFill>
                  <a:schemeClr val="tx1"/>
                </a:solidFill>
                <a:latin typeface="+mn-lt"/>
                <a:ea typeface="+mn-ea"/>
                <a:cs typeface="+mn-cs"/>
              </a:rPr>
              <a:t>Grievance procedures – where employees have an issue they want to bring to management’s attention for their consideration</a:t>
            </a:r>
          </a:p>
          <a:p>
            <a:pPr>
              <a:buFont typeface="Arial" pitchFamily="34" charset="0"/>
              <a:buChar char="•"/>
            </a:pPr>
            <a:r>
              <a:rPr lang="en-AU" sz="1200" kern="1200" dirty="0" smtClean="0">
                <a:solidFill>
                  <a:schemeClr val="tx1"/>
                </a:solidFill>
                <a:latin typeface="+mn-lt"/>
                <a:ea typeface="+mn-ea"/>
                <a:cs typeface="+mn-cs"/>
              </a:rPr>
              <a:t>Dispute resolution – where an issue has become the focus of a dispute and requires attention in order to resolve the situation</a:t>
            </a:r>
          </a:p>
          <a:p>
            <a:pPr>
              <a:buFont typeface="Arial" pitchFamily="34" charset="0"/>
              <a:buChar char="•"/>
            </a:pPr>
            <a:r>
              <a:rPr lang="en-AU" sz="1200" kern="1200" dirty="0" smtClean="0">
                <a:solidFill>
                  <a:schemeClr val="tx1"/>
                </a:solidFill>
                <a:latin typeface="+mn-lt"/>
                <a:ea typeface="+mn-ea"/>
                <a:cs typeface="+mn-cs"/>
              </a:rPr>
              <a:t>Termination of employment – where an employee is to be terminated and action needs to ensure the worker receives all the benefits they are entitled to under the circumstances</a:t>
            </a:r>
          </a:p>
          <a:p>
            <a:pPr>
              <a:buFont typeface="Arial" pitchFamily="34" charset="0"/>
              <a:buChar char="•"/>
            </a:pPr>
            <a:r>
              <a:rPr lang="en-AU" sz="1200" kern="1200" dirty="0" smtClean="0">
                <a:solidFill>
                  <a:schemeClr val="tx1"/>
                </a:solidFill>
                <a:latin typeface="+mn-lt"/>
                <a:ea typeface="+mn-ea"/>
                <a:cs typeface="+mn-cs"/>
              </a:rPr>
              <a:t>Workplace change – where the organisation seeks to introduce change to the workplace (in terms of systems, protocols, layout, productivity, KPIs or any one of a vast list of potential matters) and there is a need to (for example) obtain input from staff to the change, plan and schedule the introduction of change and provide necessary support to enable the change and underpin a smooth transition</a:t>
            </a:r>
          </a:p>
          <a:p>
            <a:pPr>
              <a:buFont typeface="Arial" pitchFamily="34" charset="0"/>
              <a:buChar char="•"/>
            </a:pPr>
            <a:r>
              <a:rPr lang="en-AU" sz="1200" kern="1200" dirty="0" smtClean="0">
                <a:solidFill>
                  <a:schemeClr val="tx1"/>
                </a:solidFill>
                <a:latin typeface="+mn-lt"/>
                <a:ea typeface="+mn-ea"/>
                <a:cs typeface="+mn-cs"/>
              </a:rPr>
              <a:t>Enterprise agreements and workplace bargaining – where employer and employees (or their representatives) negotiate terms and conditions of employment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107786016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range of topics for which formal IR procedures may be developed:</a:t>
            </a:r>
          </a:p>
          <a:p>
            <a:pPr>
              <a:buFont typeface="Arial" pitchFamily="34" charset="0"/>
              <a:buChar char="•"/>
            </a:pPr>
            <a:r>
              <a:rPr lang="en-AU" sz="1200" kern="1200" dirty="0" smtClean="0">
                <a:solidFill>
                  <a:schemeClr val="tx1"/>
                </a:solidFill>
                <a:latin typeface="+mn-lt"/>
                <a:ea typeface="+mn-ea"/>
                <a:cs typeface="+mn-cs"/>
              </a:rPr>
              <a:t>OHS – where management and workers consult and cooperate to provide a safe workplace</a:t>
            </a:r>
          </a:p>
          <a:p>
            <a:pPr>
              <a:buFont typeface="Arial" pitchFamily="34" charset="0"/>
              <a:buChar char="•"/>
            </a:pPr>
            <a:r>
              <a:rPr lang="en-AU" sz="1200" kern="1200" dirty="0" smtClean="0">
                <a:solidFill>
                  <a:schemeClr val="tx1"/>
                </a:solidFill>
                <a:latin typeface="+mn-lt"/>
                <a:ea typeface="+mn-ea"/>
                <a:cs typeface="+mn-cs"/>
              </a:rPr>
              <a:t>Equal opportunity employment – where the rights of workers to gain employment, promotion and training based on their merits are protected</a:t>
            </a:r>
          </a:p>
          <a:p>
            <a:pPr>
              <a:buFont typeface="Arial" pitchFamily="34" charset="0"/>
              <a:buChar char="•"/>
            </a:pPr>
            <a:r>
              <a:rPr lang="en-AU" sz="1200" kern="1200" dirty="0" smtClean="0">
                <a:solidFill>
                  <a:schemeClr val="tx1"/>
                </a:solidFill>
                <a:latin typeface="+mn-lt"/>
                <a:ea typeface="+mn-ea"/>
                <a:cs typeface="+mn-cs"/>
              </a:rPr>
              <a:t>Anti-discrimination – where employees are protected against workplace harassment and bullying</a:t>
            </a:r>
          </a:p>
          <a:p>
            <a:pPr>
              <a:buFont typeface="Arial" pitchFamily="34" charset="0"/>
              <a:buChar char="•"/>
            </a:pPr>
            <a:r>
              <a:rPr lang="en-AU" sz="1200" kern="1200" dirty="0" smtClean="0">
                <a:solidFill>
                  <a:schemeClr val="tx1"/>
                </a:solidFill>
                <a:latin typeface="+mn-lt"/>
                <a:ea typeface="+mn-ea"/>
                <a:cs typeface="+mn-cs"/>
              </a:rPr>
              <a:t>Mediation, Conciliation and Arbitration – where issues which are unable to be satisfactorily resolved internally are made subject to external resolution</a:t>
            </a:r>
          </a:p>
          <a:p>
            <a:pPr>
              <a:buFont typeface="Arial" pitchFamily="34" charset="0"/>
              <a:buChar char="•"/>
            </a:pPr>
            <a:r>
              <a:rPr lang="en-AU" sz="1200" kern="1200" dirty="0" smtClean="0">
                <a:solidFill>
                  <a:schemeClr val="tx1"/>
                </a:solidFill>
                <a:latin typeface="+mn-lt"/>
                <a:ea typeface="+mn-ea"/>
                <a:cs typeface="+mn-cs"/>
              </a:rPr>
              <a:t>Performance appraisals and Productivity – where the workplace performance of staff is evaluated to determine requirements for assistance and/or links to increased remuneration.</a:t>
            </a: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mandatory IR procedures which have been provided under</a:t>
            </a:r>
            <a:r>
              <a:rPr lang="en-AU" b="0" baseline="0" noProof="0" dirty="0" smtClean="0"/>
              <a:t> legislation of host country.</a:t>
            </a: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182163224"/>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keys in</a:t>
            </a:r>
            <a:r>
              <a:rPr lang="en-AU" baseline="0" noProof="0" dirty="0" smtClean="0"/>
              <a:t> the development process:</a:t>
            </a:r>
          </a:p>
          <a:p>
            <a:pPr>
              <a:buFont typeface="Arial" pitchFamily="34" charset="0"/>
              <a:buChar char="•"/>
            </a:pPr>
            <a:r>
              <a:rPr lang="en-AU" sz="1200" kern="1200" dirty="0" smtClean="0">
                <a:solidFill>
                  <a:schemeClr val="tx1"/>
                </a:solidFill>
                <a:latin typeface="+mn-lt"/>
                <a:ea typeface="+mn-ea"/>
                <a:cs typeface="+mn-cs"/>
              </a:rPr>
              <a:t>The ‘Guidelines on Good Industrial Relations Practice’ adopted by the ASEAN Ministers of Labour should provide the context – refer previous slides/notes</a:t>
            </a:r>
          </a:p>
          <a:p>
            <a:pPr>
              <a:buFont typeface="Arial" pitchFamily="34" charset="0"/>
              <a:buChar char="•"/>
            </a:pPr>
            <a:r>
              <a:rPr lang="en-AU" sz="1200" kern="1200" dirty="0" smtClean="0">
                <a:solidFill>
                  <a:schemeClr val="tx1"/>
                </a:solidFill>
                <a:latin typeface="+mn-lt"/>
                <a:ea typeface="+mn-ea"/>
                <a:cs typeface="+mn-cs"/>
              </a:rPr>
              <a:t>The final procedures developed for implementation must be workable – they must be able to be implemented</a:t>
            </a:r>
          </a:p>
          <a:p>
            <a:pPr>
              <a:buFont typeface="Arial" pitchFamily="34" charset="0"/>
              <a:buChar char="•"/>
            </a:pPr>
            <a:r>
              <a:rPr lang="en-AU" sz="1200" kern="1200" dirty="0" smtClean="0">
                <a:solidFill>
                  <a:schemeClr val="tx1"/>
                </a:solidFill>
                <a:latin typeface="+mn-lt"/>
                <a:ea typeface="+mn-ea"/>
                <a:cs typeface="+mn-cs"/>
              </a:rPr>
              <a:t>All legislated requirements must be complied with – to avoid penalties and discharge mandatory obligations</a:t>
            </a:r>
          </a:p>
          <a:p>
            <a:pPr>
              <a:buFont typeface="Arial" pitchFamily="34" charset="0"/>
              <a:buChar char="•"/>
            </a:pPr>
            <a:r>
              <a:rPr lang="en-AU" sz="1200" kern="1200" dirty="0" smtClean="0">
                <a:solidFill>
                  <a:schemeClr val="tx1"/>
                </a:solidFill>
                <a:latin typeface="+mn-lt"/>
                <a:ea typeface="+mn-ea"/>
                <a:cs typeface="+mn-cs"/>
              </a:rPr>
              <a:t>All stakeholders are updated regarding the development process – and matters which have been resolved/decided, those presenting problems and new issues arising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4055322467"/>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keys in</a:t>
            </a:r>
            <a:r>
              <a:rPr lang="en-AU" baseline="0" noProof="0" dirty="0" smtClean="0"/>
              <a:t> the development process:</a:t>
            </a:r>
          </a:p>
          <a:p>
            <a:pPr>
              <a:buFont typeface="Arial" pitchFamily="34" charset="0"/>
              <a:buChar char="•"/>
            </a:pPr>
            <a:r>
              <a:rPr lang="en-AU" sz="1200" kern="1200" dirty="0" smtClean="0">
                <a:solidFill>
                  <a:schemeClr val="tx1"/>
                </a:solidFill>
                <a:latin typeface="+mn-lt"/>
                <a:ea typeface="+mn-ea"/>
                <a:cs typeface="+mn-cs"/>
              </a:rPr>
              <a:t>Final protocols must address the issues deemed important by the workforce – and not just what is important to management</a:t>
            </a:r>
          </a:p>
          <a:p>
            <a:pPr>
              <a:buFont typeface="Arial" pitchFamily="34" charset="0"/>
              <a:buChar char="•"/>
            </a:pPr>
            <a:r>
              <a:rPr lang="en-AU" sz="1200" kern="1200" dirty="0" smtClean="0">
                <a:solidFill>
                  <a:schemeClr val="tx1"/>
                </a:solidFill>
                <a:latin typeface="+mn-lt"/>
                <a:ea typeface="+mn-ea"/>
                <a:cs typeface="+mn-cs"/>
              </a:rPr>
              <a:t>Final decisions taken about what is included (or excluded) from the IR procedures should be decided with reference to common sense, objectivity, inclusivity and the individual nature of each site-specific workplace</a:t>
            </a:r>
          </a:p>
          <a:p>
            <a:pPr>
              <a:buFont typeface="Arial" pitchFamily="34" charset="0"/>
              <a:buChar char="•"/>
            </a:pPr>
            <a:r>
              <a:rPr lang="en-AU" sz="1200" kern="1200" dirty="0" smtClean="0">
                <a:solidFill>
                  <a:schemeClr val="tx1"/>
                </a:solidFill>
                <a:latin typeface="+mn-lt"/>
                <a:ea typeface="+mn-ea"/>
                <a:cs typeface="+mn-cs"/>
              </a:rPr>
              <a:t>All IR procedures must reflect and support/enable relevant employment instruments to operate – it is essential there is no conflict between the IR procedures and the content of the employment instruments</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1274596018"/>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identify keys in</a:t>
            </a:r>
            <a:r>
              <a:rPr lang="en-AU" baseline="0" noProof="0" dirty="0" smtClean="0"/>
              <a:t> the development process:</a:t>
            </a:r>
          </a:p>
          <a:p>
            <a:pPr>
              <a:buFont typeface="Arial" pitchFamily="34" charset="0"/>
              <a:buChar char="•"/>
            </a:pPr>
            <a:r>
              <a:rPr lang="en-AU" sz="1200" kern="1200" dirty="0" smtClean="0">
                <a:solidFill>
                  <a:schemeClr val="tx1"/>
                </a:solidFill>
                <a:latin typeface="+mn-lt"/>
                <a:ea typeface="+mn-ea"/>
                <a:cs typeface="+mn-cs"/>
              </a:rPr>
              <a:t>Openness and honesty are fundamental to the process of development – there can be no truly fair and equitable outcome where this is missing</a:t>
            </a:r>
          </a:p>
          <a:p>
            <a:pPr>
              <a:buFont typeface="Arial" pitchFamily="34" charset="0"/>
              <a:buChar char="•"/>
            </a:pPr>
            <a:r>
              <a:rPr lang="en-AU" sz="1200" i="1" kern="1200" dirty="0" smtClean="0">
                <a:solidFill>
                  <a:schemeClr val="tx1"/>
                </a:solidFill>
                <a:latin typeface="+mn-lt"/>
                <a:ea typeface="+mn-ea"/>
                <a:cs typeface="+mn-cs"/>
              </a:rPr>
              <a:t>Implementation</a:t>
            </a:r>
            <a:r>
              <a:rPr lang="en-AU" sz="1200" kern="1200" dirty="0" smtClean="0">
                <a:solidFill>
                  <a:schemeClr val="tx1"/>
                </a:solidFill>
                <a:latin typeface="+mn-lt"/>
                <a:ea typeface="+mn-ea"/>
                <a:cs typeface="+mn-cs"/>
              </a:rPr>
              <a:t> of the procedures must follow from their </a:t>
            </a:r>
            <a:r>
              <a:rPr lang="en-AU" sz="1200" i="1" kern="1200" dirty="0" smtClean="0">
                <a:solidFill>
                  <a:schemeClr val="tx1"/>
                </a:solidFill>
                <a:latin typeface="+mn-lt"/>
                <a:ea typeface="+mn-ea"/>
                <a:cs typeface="+mn-cs"/>
              </a:rPr>
              <a:t>development</a:t>
            </a:r>
            <a:r>
              <a:rPr lang="en-AU" sz="1200" kern="1200" dirty="0" smtClean="0">
                <a:solidFill>
                  <a:schemeClr val="tx1"/>
                </a:solidFill>
                <a:latin typeface="+mn-lt"/>
                <a:ea typeface="+mn-ea"/>
                <a:cs typeface="+mn-cs"/>
              </a:rPr>
              <a:t> – the IR procedures must not be ignored</a:t>
            </a:r>
          </a:p>
          <a:p>
            <a:pPr>
              <a:buFont typeface="Arial" pitchFamily="34" charset="0"/>
              <a:buChar char="•"/>
            </a:pPr>
            <a:r>
              <a:rPr lang="en-AU" sz="1200" kern="1200" dirty="0" smtClean="0">
                <a:solidFill>
                  <a:schemeClr val="tx1"/>
                </a:solidFill>
                <a:latin typeface="+mn-lt"/>
                <a:ea typeface="+mn-ea"/>
                <a:cs typeface="+mn-cs"/>
              </a:rPr>
              <a:t>There must be an awareness of the dynamic nature of the workplace – such that procedures to address new requirements can arise, and the need to refine existing protocols is ever-present in order to maintain their applicability and relevance</a:t>
            </a:r>
          </a:p>
          <a:p>
            <a:pPr>
              <a:buFont typeface="Arial" pitchFamily="34" charset="0"/>
              <a:buChar char="•"/>
            </a:pPr>
            <a:r>
              <a:rPr lang="en-AU" sz="1200" kern="1200" dirty="0" smtClean="0">
                <a:solidFill>
                  <a:schemeClr val="tx1"/>
                </a:solidFill>
                <a:latin typeface="+mn-lt"/>
                <a:ea typeface="+mn-ea"/>
                <a:cs typeface="+mn-cs"/>
              </a:rPr>
              <a:t>Outcomes are communicated and promoted – so all staff (and managers and supervisors) are aware of what they are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41695271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identify keys in</a:t>
            </a:r>
            <a:r>
              <a:rPr lang="en-AU" baseline="0" noProof="0" dirty="0" smtClean="0"/>
              <a:t> the development process:</a:t>
            </a:r>
          </a:p>
          <a:p>
            <a:pPr>
              <a:buFont typeface="Arial" pitchFamily="34" charset="0"/>
              <a:buChar char="•"/>
            </a:pPr>
            <a:r>
              <a:rPr lang="en-AU" sz="1200" kern="1200" dirty="0" smtClean="0">
                <a:solidFill>
                  <a:schemeClr val="tx1"/>
                </a:solidFill>
                <a:latin typeface="+mn-lt"/>
                <a:ea typeface="+mn-ea"/>
                <a:cs typeface="+mn-cs"/>
              </a:rPr>
              <a:t>Monitoring activities to capture evidence – to serve as the basis of evaluating the effectiveness of the IR procedures should be developed as part of the process of developing the actual IR protocols</a:t>
            </a:r>
          </a:p>
          <a:p>
            <a:pPr>
              <a:buFont typeface="Arial" pitchFamily="34" charset="0"/>
              <a:buChar char="•"/>
            </a:pPr>
            <a:r>
              <a:rPr lang="en-AU" sz="1200" kern="1200" dirty="0" smtClean="0">
                <a:solidFill>
                  <a:schemeClr val="tx1"/>
                </a:solidFill>
                <a:latin typeface="+mn-lt"/>
                <a:ea typeface="+mn-ea"/>
                <a:cs typeface="+mn-cs"/>
              </a:rPr>
              <a:t>Identification of potential issues and their subsequent </a:t>
            </a:r>
            <a:r>
              <a:rPr lang="en-AU" sz="1200" i="1" kern="1200" dirty="0" smtClean="0">
                <a:solidFill>
                  <a:schemeClr val="tx1"/>
                </a:solidFill>
                <a:latin typeface="+mn-lt"/>
                <a:ea typeface="+mn-ea"/>
                <a:cs typeface="+mn-cs"/>
              </a:rPr>
              <a:t>prevention</a:t>
            </a:r>
            <a:r>
              <a:rPr lang="en-AU" sz="1200" kern="1200" dirty="0" smtClean="0">
                <a:solidFill>
                  <a:schemeClr val="tx1"/>
                </a:solidFill>
                <a:latin typeface="+mn-lt"/>
                <a:ea typeface="+mn-ea"/>
                <a:cs typeface="+mn-cs"/>
              </a:rPr>
              <a:t> or </a:t>
            </a:r>
            <a:r>
              <a:rPr lang="en-AU" sz="1200" i="1" kern="1200" dirty="0" smtClean="0">
                <a:solidFill>
                  <a:schemeClr val="tx1"/>
                </a:solidFill>
                <a:latin typeface="+mn-lt"/>
                <a:ea typeface="+mn-ea"/>
                <a:cs typeface="+mn-cs"/>
              </a:rPr>
              <a:t>avoidance</a:t>
            </a:r>
            <a:r>
              <a:rPr lang="en-AU" sz="1200" kern="1200" dirty="0" smtClean="0">
                <a:solidFill>
                  <a:schemeClr val="tx1"/>
                </a:solidFill>
                <a:latin typeface="+mn-lt"/>
                <a:ea typeface="+mn-ea"/>
                <a:cs typeface="+mn-cs"/>
              </a:rPr>
              <a:t> should be the focus of all IR procedures – as opposed to allowing problems to occur and then applying protocols to </a:t>
            </a:r>
            <a:r>
              <a:rPr lang="en-AU" sz="1200" i="1" kern="1200" dirty="0" smtClean="0">
                <a:solidFill>
                  <a:schemeClr val="tx1"/>
                </a:solidFill>
                <a:latin typeface="+mn-lt"/>
                <a:ea typeface="+mn-ea"/>
                <a:cs typeface="+mn-cs"/>
              </a:rPr>
              <a:t>resolve</a:t>
            </a:r>
            <a:r>
              <a:rPr lang="en-AU" sz="1200" kern="1200" dirty="0" smtClean="0">
                <a:solidFill>
                  <a:schemeClr val="tx1"/>
                </a:solidFill>
                <a:latin typeface="+mn-lt"/>
                <a:ea typeface="+mn-ea"/>
                <a:cs typeface="+mn-cs"/>
              </a:rPr>
              <a:t> them</a:t>
            </a:r>
          </a:p>
          <a:p>
            <a:pPr>
              <a:buFont typeface="Arial" pitchFamily="34" charset="0"/>
              <a:buChar char="•"/>
            </a:pPr>
            <a:r>
              <a:rPr lang="en-AU" sz="1200" kern="1200" dirty="0" smtClean="0">
                <a:solidFill>
                  <a:schemeClr val="tx1"/>
                </a:solidFill>
                <a:latin typeface="+mn-lt"/>
                <a:ea typeface="+mn-ea"/>
                <a:cs typeface="+mn-cs"/>
              </a:rPr>
              <a:t>Files should be maintained of all stages of the process – so there are records for future reference to assist with interpretation of intention and/or decisions about action to be taken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2743649462"/>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identify keys in</a:t>
            </a:r>
            <a:r>
              <a:rPr lang="en-AU" baseline="0" noProof="0" dirty="0" smtClean="0"/>
              <a:t> the development process:</a:t>
            </a:r>
          </a:p>
          <a:p>
            <a:pPr>
              <a:buFont typeface="Arial" pitchFamily="34" charset="0"/>
              <a:buChar char="•"/>
            </a:pPr>
            <a:r>
              <a:rPr lang="en-AU" sz="1200" kern="1200" dirty="0" smtClean="0">
                <a:solidFill>
                  <a:schemeClr val="tx1"/>
                </a:solidFill>
                <a:latin typeface="+mn-lt"/>
                <a:ea typeface="+mn-ea"/>
                <a:cs typeface="+mn-cs"/>
              </a:rPr>
              <a:t>Clarity of purpose and unambiguous statements of intent and action are vital – there must be no doubt regarding what is intended, when it applies, and who it applies to</a:t>
            </a:r>
          </a:p>
          <a:p>
            <a:pPr>
              <a:buFont typeface="Arial" pitchFamily="34" charset="0"/>
              <a:buChar char="•"/>
            </a:pPr>
            <a:r>
              <a:rPr lang="en-AU" sz="1200" kern="1200" dirty="0" smtClean="0">
                <a:solidFill>
                  <a:schemeClr val="tx1"/>
                </a:solidFill>
                <a:latin typeface="+mn-lt"/>
                <a:ea typeface="+mn-ea"/>
                <a:cs typeface="+mn-cs"/>
              </a:rPr>
              <a:t>Employees always have the right to be represented – by a person of their choosing when they are engaged in any form of IR procedure.</a:t>
            </a:r>
          </a:p>
          <a:p>
            <a:pPr>
              <a:buFont typeface="Arial" pitchFamily="34" charset="0"/>
              <a:buChar char="•"/>
            </a:pPr>
            <a:r>
              <a:rPr lang="en-AU" sz="1200" kern="1200" dirty="0" smtClean="0">
                <a:solidFill>
                  <a:schemeClr val="tx1"/>
                </a:solidFill>
                <a:latin typeface="+mn-lt"/>
                <a:ea typeface="+mn-ea"/>
                <a:cs typeface="+mn-cs"/>
              </a:rPr>
              <a:t>Nothing in any IR procedure is allowable which enables, authorises, encourages or permits the use of coercion and/or victimisation of staff – as way of handling a workplace relations issue.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2713610973"/>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takes time to re-cap relevant information in earlier</a:t>
            </a:r>
            <a:r>
              <a:rPr lang="en-AU" baseline="0" noProof="0" dirty="0" smtClean="0"/>
              <a:t> sides with reference to:</a:t>
            </a:r>
          </a:p>
          <a:p>
            <a:pPr>
              <a:buFont typeface="Arial" pitchFamily="34" charset="0"/>
              <a:buChar char="•"/>
            </a:pPr>
            <a:r>
              <a:rPr lang="en-AU" sz="1200" kern="1200" dirty="0" smtClean="0">
                <a:solidFill>
                  <a:schemeClr val="tx1"/>
                </a:solidFill>
                <a:latin typeface="+mn-lt"/>
                <a:ea typeface="+mn-ea"/>
                <a:cs typeface="+mn-cs"/>
              </a:rPr>
              <a:t>The ASEAN Ministers of Labour agreed (‘Guidelines on Good Industrial Relations Practice’):</a:t>
            </a:r>
          </a:p>
          <a:p>
            <a:pPr lvl="1">
              <a:buFont typeface="Arial" pitchFamily="34" charset="0"/>
              <a:buChar char="•"/>
            </a:pPr>
            <a:r>
              <a:rPr lang="en-AU" sz="1200" kern="1200" dirty="0" smtClean="0">
                <a:solidFill>
                  <a:schemeClr val="tx1"/>
                </a:solidFill>
                <a:latin typeface="+mn-lt"/>
                <a:ea typeface="+mn-ea"/>
                <a:cs typeface="+mn-cs"/>
              </a:rPr>
              <a:t> ‘ ... union representation, workers and employers should consult one another to manage labour disputes according to the terms and conditions set out by the laws and/or regulations of individual countries. This should include an adequate grievance handling mechanism to facilitate the amicable resolution of disputes’</a:t>
            </a:r>
          </a:p>
          <a:p>
            <a:pPr lvl="1">
              <a:buFont typeface="Arial" pitchFamily="34" charset="0"/>
              <a:buChar char="•"/>
            </a:pPr>
            <a:r>
              <a:rPr lang="en-AU" sz="1200" kern="1200" dirty="0" smtClean="0">
                <a:solidFill>
                  <a:schemeClr val="tx1"/>
                </a:solidFill>
                <a:latin typeface="+mn-lt"/>
                <a:ea typeface="+mn-ea"/>
                <a:cs typeface="+mn-cs"/>
              </a:rPr>
              <a:t>‘At the shop-floor level, various subjects of common interests to labour and management are discussed in bipartite mechanisms including productivity improvement, gain-sharing, recruitment and dismissal, safety and health and grievance handling.’</a:t>
            </a:r>
          </a:p>
          <a:p>
            <a:pPr lvl="1">
              <a:buFont typeface="Arial" pitchFamily="34" charset="0"/>
              <a:buChar char="•"/>
            </a:pPr>
            <a:r>
              <a:rPr lang="en-AU" sz="1200" kern="1200" dirty="0" smtClean="0">
                <a:solidFill>
                  <a:schemeClr val="tx1"/>
                </a:solidFill>
                <a:latin typeface="+mn-lt"/>
                <a:ea typeface="+mn-ea"/>
                <a:cs typeface="+mn-cs"/>
              </a:rPr>
              <a:t>‘It shall be ensured that during a labour dispute settlement process, the employers have to fulfil the workers’ rights properly. Such processes and machineries also cover the minimization and prevention of conflicts such as by providing relationship development, training programs in problem-solving techniques to resolve problems on an ongoing basis, and assisting parties to navigate the process of change and jointly agree on a strategy to create or take advantage of new opportunities’.</a:t>
            </a:r>
          </a:p>
          <a:p>
            <a:pPr>
              <a:buFont typeface="Arial" pitchFamily="34" charset="0"/>
              <a:buChar char="•"/>
            </a:pPr>
            <a:r>
              <a:rPr lang="en-AU" sz="1200" kern="1200" dirty="0" smtClean="0">
                <a:solidFill>
                  <a:schemeClr val="tx1"/>
                </a:solidFill>
                <a:latin typeface="+mn-lt"/>
                <a:ea typeface="+mn-ea"/>
                <a:cs typeface="+mn-cs"/>
              </a:rPr>
              <a:t>Procedures presented for ‘Identifying grievances’</a:t>
            </a:r>
          </a:p>
          <a:p>
            <a:pPr>
              <a:buFont typeface="Arial" pitchFamily="34" charset="0"/>
              <a:buChar char="•"/>
            </a:pPr>
            <a:r>
              <a:rPr lang="en-AU" sz="1200" kern="1200" dirty="0" smtClean="0">
                <a:solidFill>
                  <a:schemeClr val="tx1"/>
                </a:solidFill>
                <a:latin typeface="+mn-lt"/>
                <a:ea typeface="+mn-ea"/>
                <a:cs typeface="+mn-cs"/>
              </a:rPr>
              <a:t>Procedures listed for ‘Resolving grievances’.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38066944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for </a:t>
            </a:r>
            <a:r>
              <a:rPr lang="en-AU" sz="1200" kern="1200" dirty="0" smtClean="0">
                <a:solidFill>
                  <a:schemeClr val="tx1"/>
                </a:solidFill>
                <a:latin typeface="+mn-lt"/>
                <a:ea typeface="+mn-ea"/>
                <a:cs typeface="+mn-cs"/>
              </a:rPr>
              <a:t>agreed procedures to be effective it is imperative the following keys apply:</a:t>
            </a:r>
          </a:p>
          <a:p>
            <a:pPr>
              <a:buFont typeface="Arial" pitchFamily="34" charset="0"/>
              <a:buChar char="•"/>
            </a:pPr>
            <a:r>
              <a:rPr lang="en-AU" sz="1200" kern="1200" dirty="0" smtClean="0">
                <a:solidFill>
                  <a:schemeClr val="tx1"/>
                </a:solidFill>
                <a:latin typeface="+mn-lt"/>
                <a:ea typeface="+mn-ea"/>
                <a:cs typeface="+mn-cs"/>
              </a:rPr>
              <a:t>All personnel must be aware of the protocols that exist – employees and managers</a:t>
            </a:r>
          </a:p>
          <a:p>
            <a:pPr>
              <a:buFont typeface="Arial" pitchFamily="34" charset="0"/>
              <a:buChar char="•"/>
            </a:pPr>
            <a:r>
              <a:rPr lang="en-AU" sz="1200" kern="1200" dirty="0" smtClean="0">
                <a:solidFill>
                  <a:schemeClr val="tx1"/>
                </a:solidFill>
                <a:latin typeface="+mn-lt"/>
                <a:ea typeface="+mn-ea"/>
                <a:cs typeface="+mn-cs"/>
              </a:rPr>
              <a:t>Internal training must educate the workforce in the application and operation of all agreed procedures</a:t>
            </a:r>
          </a:p>
          <a:p>
            <a:pPr>
              <a:buFont typeface="Arial" pitchFamily="34" charset="0"/>
              <a:buChar char="•"/>
            </a:pPr>
            <a:r>
              <a:rPr lang="en-AU" sz="1200" kern="1200" dirty="0" smtClean="0">
                <a:solidFill>
                  <a:schemeClr val="tx1"/>
                </a:solidFill>
                <a:latin typeface="+mn-lt"/>
                <a:ea typeface="+mn-ea"/>
                <a:cs typeface="+mn-cs"/>
              </a:rPr>
              <a:t>There must be easy and unfettered access to copies of all protocols – for all of the workforce</a:t>
            </a:r>
          </a:p>
          <a:p>
            <a:pPr>
              <a:buFont typeface="Arial" pitchFamily="34" charset="0"/>
              <a:buChar char="•"/>
            </a:pPr>
            <a:r>
              <a:rPr lang="en-AU" sz="1200" kern="1200" dirty="0" smtClean="0">
                <a:solidFill>
                  <a:schemeClr val="tx1"/>
                </a:solidFill>
                <a:latin typeface="+mn-lt"/>
                <a:ea typeface="+mn-ea"/>
                <a:cs typeface="+mn-cs"/>
              </a:rPr>
              <a:t>Employees must be comfortable raising an issue safe in the knowledge they will not be victimised or harassed as a result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48006338"/>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keys to effective procedures:</a:t>
            </a:r>
          </a:p>
          <a:p>
            <a:pPr>
              <a:buFont typeface="Arial" pitchFamily="34" charset="0"/>
              <a:buChar char="•"/>
            </a:pPr>
            <a:r>
              <a:rPr lang="en-AU" sz="1200" kern="1200" dirty="0" smtClean="0">
                <a:solidFill>
                  <a:schemeClr val="tx1"/>
                </a:solidFill>
                <a:latin typeface="+mn-lt"/>
                <a:ea typeface="+mn-ea"/>
                <a:cs typeface="+mn-cs"/>
              </a:rPr>
              <a:t>All agreed policies and procedures must be adhered to – without exception, fear or favour</a:t>
            </a:r>
          </a:p>
          <a:p>
            <a:pPr>
              <a:buFont typeface="Arial" pitchFamily="34" charset="0"/>
              <a:buChar char="•"/>
            </a:pPr>
            <a:r>
              <a:rPr lang="en-AU" sz="1200" kern="1200" dirty="0" smtClean="0">
                <a:solidFill>
                  <a:schemeClr val="tx1"/>
                </a:solidFill>
                <a:latin typeface="+mn-lt"/>
                <a:ea typeface="+mn-ea"/>
                <a:cs typeface="+mn-cs"/>
              </a:rPr>
              <a:t>Employees must be free to have their interests represented by a nominated third party</a:t>
            </a:r>
          </a:p>
          <a:p>
            <a:pPr>
              <a:buFont typeface="Arial" pitchFamily="34" charset="0"/>
              <a:buChar char="•"/>
            </a:pPr>
            <a:r>
              <a:rPr lang="en-AU" sz="1200" kern="1200" dirty="0" smtClean="0">
                <a:solidFill>
                  <a:schemeClr val="tx1"/>
                </a:solidFill>
                <a:latin typeface="+mn-lt"/>
                <a:ea typeface="+mn-ea"/>
                <a:cs typeface="+mn-cs"/>
              </a:rPr>
              <a:t>All agreed protocols (policies and procedures) must be subject to regular review</a:t>
            </a:r>
          </a:p>
          <a:p>
            <a:pPr>
              <a:buFont typeface="Arial" pitchFamily="34" charset="0"/>
              <a:buChar char="•"/>
            </a:pPr>
            <a:r>
              <a:rPr lang="en-AU" sz="1200" kern="1200" dirty="0" smtClean="0">
                <a:solidFill>
                  <a:schemeClr val="tx1"/>
                </a:solidFill>
                <a:latin typeface="+mn-lt"/>
                <a:ea typeface="+mn-ea"/>
                <a:cs typeface="+mn-cs"/>
              </a:rPr>
              <a:t>Agreed protocols must be revised where an identified legitimate reason to do exists.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3550205052"/>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information about dispute resolution procedures:</a:t>
            </a:r>
          </a:p>
          <a:p>
            <a:r>
              <a:rPr lang="en-AU" sz="1200" b="1" kern="1200" dirty="0" smtClean="0">
                <a:solidFill>
                  <a:schemeClr val="tx1"/>
                </a:solidFill>
                <a:latin typeface="+mn-lt"/>
                <a:ea typeface="+mn-ea"/>
                <a:cs typeface="+mn-cs"/>
              </a:rPr>
              <a:t>“Why work at best practice?</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Effective dispute resolution can help employers to maintain good relationships with their employees by dealing with workplace issues at an early stage. Employees will likely be more cooperative and productive if they know that their grievances will be taken seriously by the employer and there is the opportunity for an independent party to assist in resolving the dispute if it cannot be resolved at the workplace.</a:t>
            </a:r>
          </a:p>
          <a:p>
            <a:r>
              <a:rPr lang="en-AU" sz="1200" kern="1200" dirty="0" smtClean="0">
                <a:solidFill>
                  <a:schemeClr val="tx1"/>
                </a:solidFill>
                <a:latin typeface="+mn-lt"/>
                <a:ea typeface="+mn-ea"/>
                <a:cs typeface="+mn-cs"/>
              </a:rPr>
              <a:t>A good dispute resolution process with a focus on effective resolution at the workplace level may help to avoid the costs of resolving a claim externally; for instance, via arbitration ... or through litigation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3232636802"/>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information about dispute resolution procedures:</a:t>
            </a:r>
          </a:p>
          <a:p>
            <a:r>
              <a:rPr lang="en-AU" sz="1200" b="1" kern="1200" dirty="0" smtClean="0">
                <a:solidFill>
                  <a:schemeClr val="tx1"/>
                </a:solidFill>
                <a:latin typeface="+mn-lt"/>
                <a:ea typeface="+mn-ea"/>
                <a:cs typeface="+mn-cs"/>
              </a:rPr>
              <a:t>“What is dispute resolution?</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Dispute resolution refers to the processes by which disputes are brought to an end. This can occur through:</a:t>
            </a:r>
          </a:p>
          <a:p>
            <a:pPr>
              <a:buFont typeface="Arial" pitchFamily="34" charset="0"/>
              <a:buChar char="•"/>
            </a:pPr>
            <a:r>
              <a:rPr lang="en-AU" sz="1200" kern="1200" dirty="0" smtClean="0">
                <a:solidFill>
                  <a:schemeClr val="tx1"/>
                </a:solidFill>
                <a:latin typeface="+mn-lt"/>
                <a:ea typeface="+mn-ea"/>
                <a:cs typeface="+mn-cs"/>
              </a:rPr>
              <a:t>a negotiated outcome, where the parties concerned sort out things themselves</a:t>
            </a:r>
          </a:p>
          <a:p>
            <a:pPr>
              <a:buFont typeface="Arial" pitchFamily="34" charset="0"/>
              <a:buChar char="•"/>
            </a:pPr>
            <a:r>
              <a:rPr lang="en-AU" sz="1200" kern="1200" dirty="0" smtClean="0">
                <a:solidFill>
                  <a:schemeClr val="tx1"/>
                </a:solidFill>
                <a:latin typeface="+mn-lt"/>
                <a:ea typeface="+mn-ea"/>
                <a:cs typeface="+mn-cs"/>
              </a:rPr>
              <a:t>a mediated outcome, where the parties use the services of an independent mediator to help them arrive at their own agreement, or</a:t>
            </a:r>
          </a:p>
          <a:p>
            <a:pPr>
              <a:buFont typeface="Arial" pitchFamily="34" charset="0"/>
              <a:buChar char="•"/>
            </a:pPr>
            <a:r>
              <a:rPr lang="en-AU" sz="1200" kern="1200" dirty="0" smtClean="0">
                <a:solidFill>
                  <a:schemeClr val="tx1"/>
                </a:solidFill>
                <a:latin typeface="+mn-lt"/>
                <a:ea typeface="+mn-ea"/>
                <a:cs typeface="+mn-cs"/>
              </a:rPr>
              <a:t>an arbitrated or adjudicated outcome, where an independent arbitrator or court determines how the dispute is to be resolved and makes a binding decision or order to this effect.”</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1905543315"/>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information about dispute resolution procedures:</a:t>
            </a:r>
          </a:p>
          <a:p>
            <a:r>
              <a:rPr lang="en-AU" sz="1200" b="1" kern="1200" dirty="0" smtClean="0">
                <a:solidFill>
                  <a:schemeClr val="tx1"/>
                </a:solidFill>
                <a:latin typeface="+mn-lt"/>
                <a:ea typeface="+mn-ea"/>
                <a:cs typeface="+mn-cs"/>
              </a:rPr>
              <a:t>“What are the features of a good dispute resolution process?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 best practice dispute resolution process should:</a:t>
            </a:r>
          </a:p>
          <a:p>
            <a:pPr>
              <a:buFont typeface="Arial" pitchFamily="34" charset="0"/>
              <a:buChar char="•"/>
            </a:pPr>
            <a:r>
              <a:rPr lang="en-AU" sz="1200" kern="1200" dirty="0" smtClean="0">
                <a:solidFill>
                  <a:schemeClr val="tx1"/>
                </a:solidFill>
                <a:latin typeface="+mn-lt"/>
                <a:ea typeface="+mn-ea"/>
                <a:cs typeface="+mn-cs"/>
              </a:rPr>
              <a:t>be simple</a:t>
            </a:r>
          </a:p>
          <a:p>
            <a:pPr>
              <a:buFont typeface="Arial" pitchFamily="34" charset="0"/>
              <a:buChar char="•"/>
            </a:pPr>
            <a:r>
              <a:rPr lang="en-AU" sz="1200" kern="1200" dirty="0" smtClean="0">
                <a:solidFill>
                  <a:schemeClr val="tx1"/>
                </a:solidFill>
                <a:latin typeface="+mn-lt"/>
                <a:ea typeface="+mn-ea"/>
                <a:cs typeface="+mn-cs"/>
              </a:rPr>
              <a:t>allow appropriate stages so that matters can, wherever possible, be resolved at the workplace</a:t>
            </a:r>
          </a:p>
          <a:p>
            <a:pPr>
              <a:buFont typeface="Arial" pitchFamily="34" charset="0"/>
              <a:buChar char="•"/>
            </a:pPr>
            <a:r>
              <a:rPr lang="en-AU" sz="1200" kern="1200" dirty="0" smtClean="0">
                <a:solidFill>
                  <a:schemeClr val="tx1"/>
                </a:solidFill>
                <a:latin typeface="+mn-lt"/>
                <a:ea typeface="+mn-ea"/>
                <a:cs typeface="+mn-cs"/>
              </a:rPr>
              <a:t>encourage parties to agree on a process that suits them if the dispute reaches [the stage external authorities need to become involved]</a:t>
            </a:r>
          </a:p>
          <a:p>
            <a:pPr>
              <a:buFont typeface="Arial" pitchFamily="34" charset="0"/>
              <a:buChar char="•"/>
            </a:pPr>
            <a:r>
              <a:rPr lang="en-AU" sz="1200" kern="1200" dirty="0" smtClean="0">
                <a:solidFill>
                  <a:schemeClr val="tx1"/>
                </a:solidFill>
                <a:latin typeface="+mn-lt"/>
                <a:ea typeface="+mn-ea"/>
                <a:cs typeface="+mn-cs"/>
              </a:rPr>
              <a:t>provide [external authorities] with the necessary discretion and power to ensure settlement of the dispute if the dispute remains unresolved after the early stages of the dispute resolution procedure have been attempted.</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2337340777"/>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information about dispute resolution procedures:</a:t>
            </a:r>
          </a:p>
          <a:p>
            <a:r>
              <a:rPr lang="en-AU" sz="1200" kern="1200" dirty="0" smtClean="0">
                <a:solidFill>
                  <a:schemeClr val="tx1"/>
                </a:solidFill>
                <a:latin typeface="+mn-lt"/>
                <a:ea typeface="+mn-ea"/>
                <a:cs typeface="+mn-cs"/>
              </a:rPr>
              <a:t>Best practice dispute resolution outcomes should be:</a:t>
            </a:r>
          </a:p>
          <a:p>
            <a:pPr>
              <a:buFont typeface="Arial" pitchFamily="34" charset="0"/>
              <a:buChar char="•"/>
            </a:pPr>
            <a:r>
              <a:rPr lang="en-AU" sz="1200" kern="1200" dirty="0" smtClean="0">
                <a:solidFill>
                  <a:schemeClr val="tx1"/>
                </a:solidFill>
                <a:latin typeface="+mn-lt"/>
                <a:ea typeface="+mn-ea"/>
                <a:cs typeface="+mn-cs"/>
              </a:rPr>
              <a:t>quick - the issues should be resolved quickly rather than allowing them to escalate through inaction</a:t>
            </a:r>
          </a:p>
          <a:p>
            <a:pPr>
              <a:buFont typeface="Arial" pitchFamily="34" charset="0"/>
              <a:buChar char="•"/>
            </a:pPr>
            <a:r>
              <a:rPr lang="en-AU" sz="1200" kern="1200" dirty="0" smtClean="0">
                <a:solidFill>
                  <a:schemeClr val="tx1"/>
                </a:solidFill>
                <a:latin typeface="+mn-lt"/>
                <a:ea typeface="+mn-ea"/>
                <a:cs typeface="+mn-cs"/>
              </a:rPr>
              <a:t>fair - all relevant parties should be consulted so that all sides of the story are taken into account</a:t>
            </a:r>
          </a:p>
          <a:p>
            <a:pPr>
              <a:buFont typeface="Arial" pitchFamily="34" charset="0"/>
              <a:buChar char="•"/>
            </a:pPr>
            <a:r>
              <a:rPr lang="en-AU" sz="1200" kern="1200" dirty="0" smtClean="0">
                <a:solidFill>
                  <a:schemeClr val="tx1"/>
                </a:solidFill>
                <a:latin typeface="+mn-lt"/>
                <a:ea typeface="+mn-ea"/>
                <a:cs typeface="+mn-cs"/>
              </a:rPr>
              <a:t>handled sensitively - disputes should, where possible and appropriate, be resolved in a confidential context in order to minimise impact on employees not affected by the dispute</a:t>
            </a:r>
          </a:p>
          <a:p>
            <a:pPr>
              <a:buFont typeface="Arial" pitchFamily="34" charset="0"/>
              <a:buChar char="•"/>
            </a:pPr>
            <a:r>
              <a:rPr lang="en-AU" sz="1200" kern="1200" dirty="0" smtClean="0">
                <a:solidFill>
                  <a:schemeClr val="tx1"/>
                </a:solidFill>
                <a:latin typeface="+mn-lt"/>
                <a:ea typeface="+mn-ea"/>
                <a:cs typeface="+mn-cs"/>
              </a:rPr>
              <a:t>transparent - the procedure should be made known to every employee.</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pPr>
              <a:buFont typeface="Arial" pitchFamily="34" charset="0"/>
              <a:buNone/>
            </a:pPr>
            <a:r>
              <a:rPr lang="en-AU" sz="1200" u="sng" kern="1200" dirty="0" smtClean="0">
                <a:solidFill>
                  <a:schemeClr val="tx1"/>
                </a:solidFill>
                <a:latin typeface="+mn-lt"/>
                <a:ea typeface="+mn-ea"/>
                <a:cs typeface="+mn-cs"/>
                <a:hlinkClick r:id="rId3"/>
              </a:rPr>
              <a:t>http://www.fairwork.gov.au/about-us/policies-and-guides/best-practice-guides/effective-dispute-resolution</a:t>
            </a: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1313818313"/>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information about dispute resolution procedures:</a:t>
            </a:r>
          </a:p>
          <a:p>
            <a:r>
              <a:rPr lang="en-AU" sz="1200" b="1" kern="1200" dirty="0" smtClean="0">
                <a:solidFill>
                  <a:schemeClr val="tx1"/>
                </a:solidFill>
                <a:latin typeface="+mn-lt"/>
                <a:ea typeface="+mn-ea"/>
                <a:cs typeface="+mn-cs"/>
              </a:rPr>
              <a:t>“The typical process explained</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First employee(s) and/or any employee representative meet(s) with the employee's direct supervisor to discuss a problem.</a:t>
            </a:r>
          </a:p>
          <a:p>
            <a:r>
              <a:rPr lang="en-AU" sz="1200" kern="1200" dirty="0" smtClean="0">
                <a:solidFill>
                  <a:schemeClr val="tx1"/>
                </a:solidFill>
                <a:latin typeface="+mn-lt"/>
                <a:ea typeface="+mn-ea"/>
                <a:cs typeface="+mn-cs"/>
              </a:rPr>
              <a:t>The supervisor listens carefully to the employee(s) (and/or their representative) and together they try to resolve the dispute. If the supervisor and employee are unable to resolve the dispute or it is not appropriate that the supervisor deal with it, the matter should be referred to senior management.</a:t>
            </a:r>
          </a:p>
          <a:p>
            <a:r>
              <a:rPr lang="en-AU" sz="1200" i="1" kern="1200" dirty="0" smtClean="0">
                <a:solidFill>
                  <a:schemeClr val="tx1"/>
                </a:solidFill>
                <a:latin typeface="+mn-lt"/>
                <a:ea typeface="+mn-ea"/>
                <a:cs typeface="+mn-cs"/>
              </a:rPr>
              <a:t>(See next; or </a:t>
            </a:r>
            <a:r>
              <a:rPr lang="en-AU" sz="1200" b="1" kern="1200" dirty="0" smtClean="0">
                <a:solidFill>
                  <a:schemeClr val="tx1"/>
                </a:solidFill>
                <a:latin typeface="+mn-lt"/>
                <a:ea typeface="+mn-ea"/>
                <a:cs typeface="+mn-cs"/>
              </a:rPr>
              <a:t>Resolution</a:t>
            </a:r>
            <a:r>
              <a:rPr lang="en-AU" sz="1200" i="1" kern="1200" dirty="0" smtClean="0">
                <a:solidFill>
                  <a:schemeClr val="tx1"/>
                </a:solidFill>
                <a:latin typeface="+mn-lt"/>
                <a:ea typeface="+mn-ea"/>
                <a:cs typeface="+mn-cs"/>
              </a:rPr>
              <a:t>)</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Senior management listens to the employee's concerns and either resolves the dispute or refers the matter to more senior management.</a:t>
            </a:r>
          </a:p>
          <a:p>
            <a:r>
              <a:rPr lang="en-AU" sz="1200" i="1" kern="1200" dirty="0" smtClean="0">
                <a:solidFill>
                  <a:schemeClr val="tx1"/>
                </a:solidFill>
                <a:latin typeface="+mn-lt"/>
                <a:ea typeface="+mn-ea"/>
                <a:cs typeface="+mn-cs"/>
              </a:rPr>
              <a:t>(See next; or </a:t>
            </a:r>
            <a:r>
              <a:rPr lang="en-AU" sz="1200" b="1" kern="1200" dirty="0" smtClean="0">
                <a:solidFill>
                  <a:schemeClr val="tx1"/>
                </a:solidFill>
                <a:latin typeface="+mn-lt"/>
                <a:ea typeface="+mn-ea"/>
                <a:cs typeface="+mn-cs"/>
              </a:rPr>
              <a:t>Resolution</a:t>
            </a:r>
            <a:r>
              <a:rPr lang="en-AU" sz="1200" i="1" kern="1200" dirty="0" smtClean="0">
                <a:solidFill>
                  <a:schemeClr val="tx1"/>
                </a:solidFill>
                <a:latin typeface="+mn-lt"/>
                <a:ea typeface="+mn-ea"/>
                <a:cs typeface="+mn-cs"/>
              </a:rPr>
              <a:t>)</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More senior/national officers listen to the employee (and/or their representative) and attempt to resolve the dispute. It is either resolved or referred to an independent body.</a:t>
            </a:r>
          </a:p>
          <a:p>
            <a:r>
              <a:rPr lang="en-AU" sz="1200" i="1" kern="1200" dirty="0" smtClean="0">
                <a:solidFill>
                  <a:schemeClr val="tx1"/>
                </a:solidFill>
                <a:latin typeface="+mn-lt"/>
                <a:ea typeface="+mn-ea"/>
                <a:cs typeface="+mn-cs"/>
              </a:rPr>
              <a:t>(See next; or </a:t>
            </a:r>
            <a:r>
              <a:rPr lang="en-AU" sz="1200" b="1" kern="1200" dirty="0" smtClean="0">
                <a:solidFill>
                  <a:schemeClr val="tx1"/>
                </a:solidFill>
                <a:latin typeface="+mn-lt"/>
                <a:ea typeface="+mn-ea"/>
                <a:cs typeface="+mn-cs"/>
              </a:rPr>
              <a:t>Resolution</a:t>
            </a:r>
            <a:r>
              <a:rPr lang="en-AU" sz="1200" i="1" kern="1200" dirty="0" smtClean="0">
                <a:solidFill>
                  <a:schemeClr val="tx1"/>
                </a:solidFill>
                <a:latin typeface="+mn-lt"/>
                <a:ea typeface="+mn-ea"/>
                <a:cs typeface="+mn-cs"/>
              </a:rPr>
              <a:t>)</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An independent conciliator or mediator assists to resolve the dispute.</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2393625043"/>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information about dispute resolution procedures:</a:t>
            </a:r>
          </a:p>
          <a:p>
            <a:r>
              <a:rPr lang="en-AU" sz="1200" b="1" kern="1200" dirty="0" smtClean="0">
                <a:solidFill>
                  <a:schemeClr val="tx1"/>
                </a:solidFill>
                <a:latin typeface="+mn-lt"/>
                <a:ea typeface="+mn-ea"/>
                <a:cs typeface="+mn-cs"/>
              </a:rPr>
              <a:t>“Can independent persons help with a dispute?</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Where a term in an award, an enterprise agreement or a contract of employment or other written agreement refers a dispute to an independent person:</a:t>
            </a:r>
          </a:p>
          <a:p>
            <a:pPr>
              <a:buFont typeface="Arial" pitchFamily="34" charset="0"/>
              <a:buChar char="•"/>
            </a:pPr>
            <a:r>
              <a:rPr lang="en-AU" sz="1200" kern="1200" dirty="0" smtClean="0">
                <a:solidFill>
                  <a:schemeClr val="tx1"/>
                </a:solidFill>
                <a:latin typeface="+mn-lt"/>
                <a:ea typeface="+mn-ea"/>
                <a:cs typeface="+mn-cs"/>
              </a:rPr>
              <a:t>the person may, where agreed to by the parties, deal with the dispute via arbitration and make a binding decision about the dispute</a:t>
            </a:r>
          </a:p>
          <a:p>
            <a:pPr>
              <a:buFont typeface="Arial" pitchFamily="34" charset="0"/>
              <a:buChar char="•"/>
            </a:pPr>
            <a:r>
              <a:rPr lang="en-AU" sz="1200" kern="1200" dirty="0" smtClean="0">
                <a:solidFill>
                  <a:schemeClr val="tx1"/>
                </a:solidFill>
                <a:latin typeface="+mn-lt"/>
                <a:ea typeface="+mn-ea"/>
                <a:cs typeface="+mn-cs"/>
              </a:rPr>
              <a:t>the person must not deal with a dispute if it is about whether an employer had reasonable business grounds to refuse a request by an employee for flexible working arrangements or for an extension of unpaid parental leave beyond 12 months unless provided for in a contract of employment, enterprise agreement or some other kind of written agreement that allows them to deal with the dispute</a:t>
            </a:r>
          </a:p>
          <a:p>
            <a:pPr>
              <a:buFont typeface="Arial" pitchFamily="34" charset="0"/>
              <a:buChar char="•"/>
            </a:pPr>
            <a:r>
              <a:rPr lang="en-AU" sz="1200" kern="1200" dirty="0" smtClean="0">
                <a:solidFill>
                  <a:schemeClr val="tx1"/>
                </a:solidFill>
                <a:latin typeface="+mn-lt"/>
                <a:ea typeface="+mn-ea"/>
                <a:cs typeface="+mn-cs"/>
              </a:rPr>
              <a:t>generally, an independent third party can only assist the parties to resolve their dispute in accordance with the powers that are expressly conferred by the relevant clause of the award, agreement, or other written agreement.</a:t>
            </a:r>
          </a:p>
          <a:p>
            <a:pPr>
              <a:buFont typeface="Arial" pitchFamily="34" charset="0"/>
              <a:buNone/>
            </a:pPr>
            <a:endParaRPr lang="en-AU" noProof="0" dirty="0" smtClean="0"/>
          </a:p>
          <a:p>
            <a:pPr>
              <a:buFont typeface="Arial" pitchFamily="34" charset="0"/>
              <a:buNone/>
            </a:pPr>
            <a:r>
              <a:rPr lang="en-AU" b="1" noProof="0" dirty="0" smtClean="0"/>
              <a:t>Classroom Activity – Guest Speakers</a:t>
            </a:r>
          </a:p>
          <a:p>
            <a:pPr>
              <a:buFont typeface="Arial" pitchFamily="34" charset="0"/>
              <a:buNone/>
            </a:pPr>
            <a:r>
              <a:rPr lang="en-AU" b="0" noProof="0" dirty="0" smtClean="0"/>
              <a:t>Trainer arranges for manager, union representative and government official to attend to discuss their role/s in relation to dispute resolution in the workplace.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p14="http://schemas.microsoft.com/office/powerpoint/2010/main" val="989069455"/>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information about dispute resolution procedures:</a:t>
            </a:r>
          </a:p>
          <a:p>
            <a:r>
              <a:rPr lang="en-AU" sz="1200" b="1" i="1" kern="1200" dirty="0" smtClean="0">
                <a:solidFill>
                  <a:schemeClr val="tx1"/>
                </a:solidFill>
                <a:latin typeface="+mn-lt"/>
                <a:ea typeface="+mn-ea"/>
                <a:cs typeface="+mn-cs"/>
              </a:rPr>
              <a:t>Employers working at best practice will:</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ensure they have a simple, quick, fair, confidential and transparent dispute resolution procedure in place, whether it be included as part of a modern award, enterprise agreement, company policy, employment contract, or other industrial instrument</a:t>
            </a:r>
          </a:p>
          <a:p>
            <a:pPr>
              <a:buFont typeface="Arial" pitchFamily="34" charset="0"/>
              <a:buChar char="•"/>
            </a:pPr>
            <a:r>
              <a:rPr lang="en-AU" sz="1200" kern="1200" dirty="0" smtClean="0">
                <a:solidFill>
                  <a:schemeClr val="tx1"/>
                </a:solidFill>
                <a:latin typeface="+mn-lt"/>
                <a:ea typeface="+mn-ea"/>
                <a:cs typeface="+mn-cs"/>
              </a:rPr>
              <a:t>ensure employees are made aware of the applicable dispute resolution procedures.</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r>
              <a:rPr lang="en-AU" sz="1200" u="sng" kern="1200" dirty="0" smtClean="0">
                <a:solidFill>
                  <a:schemeClr val="tx1"/>
                </a:solidFill>
                <a:latin typeface="+mn-lt"/>
                <a:ea typeface="+mn-ea"/>
                <a:cs typeface="+mn-cs"/>
                <a:hlinkClick r:id="rId3"/>
              </a:rPr>
              <a:t>http://www.ilo.org/wcmsp5/groups/public/---asia/---ro-bangkok/documents/publication/wcms_185838.pdf</a:t>
            </a:r>
            <a:r>
              <a:rPr lang="en-AU" sz="1200" kern="1200" dirty="0" smtClean="0">
                <a:solidFill>
                  <a:schemeClr val="tx1"/>
                </a:solidFill>
                <a:latin typeface="+mn-lt"/>
                <a:ea typeface="+mn-ea"/>
                <a:cs typeface="+mn-cs"/>
              </a:rPr>
              <a:t> - Building better industrial relations in an integrating ASEAN</a:t>
            </a:r>
          </a:p>
          <a:p>
            <a:r>
              <a:rPr lang="en-AU" sz="1200" u="sng" kern="1200" dirty="0" smtClean="0">
                <a:solidFill>
                  <a:schemeClr val="tx1"/>
                </a:solidFill>
                <a:latin typeface="+mn-lt"/>
                <a:ea typeface="+mn-ea"/>
                <a:cs typeface="+mn-cs"/>
                <a:hlinkClick r:id="rId4"/>
              </a:rPr>
              <a:t>https://www.fwc.gov.au/resolving-issues-disputes-and-dismissals/workplace-issues-disputes/resolving-issues-at-the-workplace</a:t>
            </a:r>
            <a:r>
              <a:rPr lang="en-AU" sz="1200" kern="1200" dirty="0" smtClean="0">
                <a:solidFill>
                  <a:schemeClr val="tx1"/>
                </a:solidFill>
                <a:latin typeface="+mn-lt"/>
                <a:ea typeface="+mn-ea"/>
                <a:cs typeface="+mn-cs"/>
              </a:rPr>
              <a:t> - Resolving issues at the workplace</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p14="http://schemas.microsoft.com/office/powerpoint/2010/main" val="818589728"/>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information about dispute resolution procedures:</a:t>
            </a:r>
          </a:p>
          <a:p>
            <a:r>
              <a:rPr lang="en-AU" sz="1200" b="1" i="1" kern="1200" dirty="0" smtClean="0">
                <a:solidFill>
                  <a:schemeClr val="tx1"/>
                </a:solidFill>
                <a:latin typeface="+mn-lt"/>
                <a:ea typeface="+mn-ea"/>
                <a:cs typeface="+mn-cs"/>
              </a:rPr>
              <a:t>Where a dispute has arisen:</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work towards solving the problem and maintaining healthy working relationships</a:t>
            </a:r>
          </a:p>
          <a:p>
            <a:pPr>
              <a:buFont typeface="Arial" pitchFamily="34" charset="0"/>
              <a:buChar char="•"/>
            </a:pPr>
            <a:r>
              <a:rPr lang="en-AU" sz="1200" kern="1200" dirty="0" smtClean="0">
                <a:solidFill>
                  <a:schemeClr val="tx1"/>
                </a:solidFill>
                <a:latin typeface="+mn-lt"/>
                <a:ea typeface="+mn-ea"/>
                <a:cs typeface="+mn-cs"/>
              </a:rPr>
              <a:t>determine which dispute resolution procedure applies</a:t>
            </a:r>
          </a:p>
          <a:p>
            <a:pPr>
              <a:buFont typeface="Arial" pitchFamily="34" charset="0"/>
              <a:buChar char="•"/>
            </a:pPr>
            <a:r>
              <a:rPr lang="en-AU" sz="1200" kern="1200" dirty="0" smtClean="0">
                <a:solidFill>
                  <a:schemeClr val="tx1"/>
                </a:solidFill>
                <a:latin typeface="+mn-lt"/>
                <a:ea typeface="+mn-ea"/>
                <a:cs typeface="+mn-cs"/>
              </a:rPr>
              <a:t>comply with the correct procedure quickly and fairly</a:t>
            </a:r>
          </a:p>
          <a:p>
            <a:pPr>
              <a:buFont typeface="Arial" pitchFamily="34" charset="0"/>
              <a:buChar char="•"/>
            </a:pPr>
            <a:r>
              <a:rPr lang="en-AU" sz="1200" kern="1200" dirty="0" smtClean="0">
                <a:solidFill>
                  <a:schemeClr val="tx1"/>
                </a:solidFill>
                <a:latin typeface="+mn-lt"/>
                <a:ea typeface="+mn-ea"/>
                <a:cs typeface="+mn-cs"/>
              </a:rPr>
              <a:t>use best efforts to resolve the dispute at the workplace</a:t>
            </a:r>
          </a:p>
          <a:p>
            <a:pPr>
              <a:buFont typeface="Arial" pitchFamily="34" charset="0"/>
              <a:buChar char="•"/>
            </a:pPr>
            <a:r>
              <a:rPr lang="en-AU" sz="1200" kern="1200" dirty="0" smtClean="0">
                <a:solidFill>
                  <a:schemeClr val="tx1"/>
                </a:solidFill>
                <a:latin typeface="+mn-lt"/>
                <a:ea typeface="+mn-ea"/>
                <a:cs typeface="+mn-cs"/>
              </a:rPr>
              <a:t>where this is not possible, refer the dispute to an independent mediator or arbitrator such as [local employment authority] with the power to deal with the dispute.”</a:t>
            </a:r>
          </a:p>
          <a:p>
            <a:pPr>
              <a:buFont typeface="Arial" pitchFamily="34" charset="0"/>
              <a:buNone/>
            </a:pPr>
            <a:endParaRPr lang="en-AU" b="1"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facilitates online research and subsequent discussion about:</a:t>
            </a:r>
          </a:p>
          <a:p>
            <a:pPr>
              <a:buFont typeface="Arial" pitchFamily="34" charset="0"/>
              <a:buNone/>
            </a:pPr>
            <a:r>
              <a:rPr lang="en-AU" sz="1200" u="sng" kern="1200" dirty="0" smtClean="0">
                <a:solidFill>
                  <a:schemeClr val="tx1"/>
                </a:solidFill>
                <a:latin typeface="+mn-lt"/>
                <a:ea typeface="+mn-ea"/>
                <a:cs typeface="+mn-cs"/>
                <a:hlinkClick r:id="rId3"/>
              </a:rPr>
              <a:t>https://www.fwc.gov.au/resolving-issues-disputes-and-dismissals/resolve-issue-or-dispute</a:t>
            </a:r>
            <a:r>
              <a:rPr lang="en-AU" sz="1200" kern="1200" dirty="0" smtClean="0">
                <a:solidFill>
                  <a:schemeClr val="tx1"/>
                </a:solidFill>
                <a:latin typeface="+mn-lt"/>
                <a:ea typeface="+mn-ea"/>
                <a:cs typeface="+mn-cs"/>
              </a:rPr>
              <a:t> - Resolving issues, disputes and dismissals</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p14="http://schemas.microsoft.com/office/powerpoint/2010/main" val="2085027436"/>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states monitoring </a:t>
            </a:r>
            <a:r>
              <a:rPr lang="en-AU" sz="1200" kern="1200" dirty="0" smtClean="0">
                <a:solidFill>
                  <a:schemeClr val="tx1"/>
                </a:solidFill>
                <a:latin typeface="+mn-lt"/>
                <a:ea typeface="+mn-ea"/>
                <a:cs typeface="+mn-cs"/>
              </a:rPr>
              <a:t>of agreed procedures must ensure:</a:t>
            </a:r>
          </a:p>
          <a:p>
            <a:pPr>
              <a:buFont typeface="Arial" pitchFamily="34" charset="0"/>
              <a:buChar char="•"/>
            </a:pPr>
            <a:r>
              <a:rPr lang="en-AU" sz="1200" kern="1200" dirty="0" smtClean="0">
                <a:solidFill>
                  <a:schemeClr val="tx1"/>
                </a:solidFill>
                <a:latin typeface="+mn-lt"/>
                <a:ea typeface="+mn-ea"/>
                <a:cs typeface="+mn-cs"/>
              </a:rPr>
              <a:t>Standard monitoring practices are designed and developed to meet the individual needs of each suite of IR agreed procedures generated by the organisation – these practices may include:</a:t>
            </a:r>
          </a:p>
          <a:p>
            <a:pPr lvl="1">
              <a:buFont typeface="Arial" pitchFamily="34" charset="0"/>
              <a:buChar char="•"/>
            </a:pPr>
            <a:r>
              <a:rPr lang="en-AU" sz="1200" kern="1200" dirty="0" smtClean="0">
                <a:solidFill>
                  <a:schemeClr val="tx1"/>
                </a:solidFill>
                <a:latin typeface="+mn-lt"/>
                <a:ea typeface="+mn-ea"/>
                <a:cs typeface="+mn-cs"/>
              </a:rPr>
              <a:t>Use of observers</a:t>
            </a:r>
          </a:p>
          <a:p>
            <a:pPr lvl="1">
              <a:buFont typeface="Arial" pitchFamily="34" charset="0"/>
              <a:buChar char="•"/>
            </a:pPr>
            <a:r>
              <a:rPr lang="en-AU" sz="1200" kern="1200" dirty="0" smtClean="0">
                <a:solidFill>
                  <a:schemeClr val="tx1"/>
                </a:solidFill>
                <a:latin typeface="+mn-lt"/>
                <a:ea typeface="+mn-ea"/>
                <a:cs typeface="+mn-cs"/>
              </a:rPr>
              <a:t>Recording of meetings</a:t>
            </a:r>
          </a:p>
          <a:p>
            <a:pPr lvl="1">
              <a:buFont typeface="Arial" pitchFamily="34" charset="0"/>
              <a:buChar char="•"/>
            </a:pPr>
            <a:r>
              <a:rPr lang="en-AU" sz="1200" kern="1200" dirty="0" smtClean="0">
                <a:solidFill>
                  <a:schemeClr val="tx1"/>
                </a:solidFill>
                <a:latin typeface="+mn-lt"/>
                <a:ea typeface="+mn-ea"/>
                <a:cs typeface="+mn-cs"/>
              </a:rPr>
              <a:t>Pre-meeting briefings – to ensure participants are certain/aware of relevant protocols to be applied</a:t>
            </a:r>
          </a:p>
          <a:p>
            <a:pPr lvl="1">
              <a:buFont typeface="Arial" pitchFamily="34" charset="0"/>
              <a:buChar char="•"/>
            </a:pPr>
            <a:r>
              <a:rPr lang="en-AU" sz="1200" kern="1200" dirty="0" smtClean="0">
                <a:solidFill>
                  <a:schemeClr val="tx1"/>
                </a:solidFill>
                <a:latin typeface="+mn-lt"/>
                <a:ea typeface="+mn-ea"/>
                <a:cs typeface="+mn-cs"/>
              </a:rPr>
              <a:t>Use of 360⁰ feedback</a:t>
            </a:r>
          </a:p>
          <a:p>
            <a:pPr>
              <a:buFont typeface="Arial" pitchFamily="34" charset="0"/>
              <a:buChar char="•"/>
            </a:pPr>
            <a:r>
              <a:rPr lang="en-AU" sz="1200" kern="1200" dirty="0" smtClean="0">
                <a:solidFill>
                  <a:schemeClr val="tx1"/>
                </a:solidFill>
                <a:latin typeface="+mn-lt"/>
                <a:ea typeface="+mn-ea"/>
                <a:cs typeface="+mn-cs"/>
              </a:rPr>
              <a:t>Inclusion of staff in the development of monitoring procedures – to ensure their considerations are addressed as part of the overall process</a:t>
            </a:r>
          </a:p>
          <a:p>
            <a:pPr>
              <a:buFont typeface="Arial" pitchFamily="34" charset="0"/>
              <a:buChar char="•"/>
            </a:pPr>
            <a:r>
              <a:rPr lang="en-AU" sz="1200" kern="1200" dirty="0" smtClean="0">
                <a:solidFill>
                  <a:schemeClr val="tx1"/>
                </a:solidFill>
                <a:latin typeface="+mn-lt"/>
                <a:ea typeface="+mn-ea"/>
                <a:cs typeface="+mn-cs"/>
              </a:rPr>
              <a:t>Development of draft monitoring protocols – which are distributed to all stakeholders for comment and then are reviewed and revised on the basis of feedback and comment received</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p14="http://schemas.microsoft.com/office/powerpoint/2010/main" val="4244241692"/>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give guidelines for monitoring of agreed procedures:</a:t>
            </a:r>
          </a:p>
          <a:p>
            <a:pPr>
              <a:buFont typeface="Arial" pitchFamily="34" charset="0"/>
              <a:buChar char="•"/>
            </a:pPr>
            <a:r>
              <a:rPr lang="en-AU" sz="1200" kern="1200" dirty="0" smtClean="0">
                <a:solidFill>
                  <a:schemeClr val="tx1"/>
                </a:solidFill>
                <a:latin typeface="+mn-lt"/>
                <a:ea typeface="+mn-ea"/>
                <a:cs typeface="+mn-cs"/>
              </a:rPr>
              <a:t>Monitoring protocols are included within and as part of agreed relevant industrial relations procedures – so there is a definite and deliberate link between implementing and monitoring these procedures</a:t>
            </a:r>
          </a:p>
          <a:p>
            <a:pPr>
              <a:buFont typeface="Arial" pitchFamily="34" charset="0"/>
              <a:buChar char="•"/>
            </a:pPr>
            <a:r>
              <a:rPr lang="en-AU" sz="1200" kern="1200" dirty="0" smtClean="0">
                <a:solidFill>
                  <a:schemeClr val="tx1"/>
                </a:solidFill>
                <a:latin typeface="+mn-lt"/>
                <a:ea typeface="+mn-ea"/>
                <a:cs typeface="+mn-cs"/>
              </a:rPr>
              <a:t>Trials and tests are conducted of monitoring protocols – to:</a:t>
            </a:r>
          </a:p>
          <a:p>
            <a:pPr lvl="1">
              <a:buFont typeface="Arial" pitchFamily="34" charset="0"/>
              <a:buChar char="•"/>
            </a:pPr>
            <a:r>
              <a:rPr lang="en-AU" sz="1200" kern="1200" dirty="0" smtClean="0">
                <a:solidFill>
                  <a:schemeClr val="tx1"/>
                </a:solidFill>
                <a:latin typeface="+mn-lt"/>
                <a:ea typeface="+mn-ea"/>
                <a:cs typeface="+mn-cs"/>
              </a:rPr>
              <a:t>Prove their suitability and evidence-gathering capacity</a:t>
            </a:r>
          </a:p>
          <a:p>
            <a:pPr lvl="1">
              <a:buFont typeface="Arial" pitchFamily="34" charset="0"/>
              <a:buChar char="•"/>
            </a:pPr>
            <a:r>
              <a:rPr lang="en-AU" sz="1200" kern="1200" dirty="0" smtClean="0">
                <a:solidFill>
                  <a:schemeClr val="tx1"/>
                </a:solidFill>
                <a:latin typeface="+mn-lt"/>
                <a:ea typeface="+mn-ea"/>
                <a:cs typeface="+mn-cs"/>
              </a:rPr>
              <a:t>Give personnel experience in their implementation</a:t>
            </a:r>
          </a:p>
          <a:p>
            <a:pPr lvl="1">
              <a:buFont typeface="Arial" pitchFamily="34" charset="0"/>
              <a:buChar char="•"/>
            </a:pPr>
            <a:r>
              <a:rPr lang="en-AU" sz="1200" kern="1200" dirty="0" smtClean="0">
                <a:solidFill>
                  <a:schemeClr val="tx1"/>
                </a:solidFill>
                <a:latin typeface="+mn-lt"/>
                <a:ea typeface="+mn-ea"/>
                <a:cs typeface="+mn-cs"/>
              </a:rPr>
              <a:t>Provide a further possible basis for the revision/fine-tuning of protocols</a:t>
            </a:r>
          </a:p>
          <a:p>
            <a:pPr>
              <a:buFont typeface="Arial" pitchFamily="34" charset="0"/>
              <a:buChar char="•"/>
            </a:pPr>
            <a:r>
              <a:rPr lang="en-AU" sz="1200" kern="1200" dirty="0" smtClean="0">
                <a:solidFill>
                  <a:schemeClr val="tx1"/>
                </a:solidFill>
                <a:latin typeface="+mn-lt"/>
                <a:ea typeface="+mn-ea"/>
                <a:cs typeface="+mn-cs"/>
              </a:rPr>
              <a:t>Monitoring activities are employed every time the procedures are utilised – without exception</a:t>
            </a:r>
          </a:p>
          <a:p>
            <a:pPr>
              <a:buFont typeface="Arial" pitchFamily="34" charset="0"/>
              <a:buChar char="•"/>
            </a:pPr>
            <a:r>
              <a:rPr lang="en-AU" sz="1200" kern="1200" dirty="0" smtClean="0">
                <a:solidFill>
                  <a:schemeClr val="tx1"/>
                </a:solidFill>
                <a:latin typeface="+mn-lt"/>
                <a:ea typeface="+mn-ea"/>
                <a:cs typeface="+mn-cs"/>
              </a:rPr>
              <a:t>Emphasis on objectivity – in the monitoring procedures used and in capturing evidence/feedback as part of the monitoring process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p14="http://schemas.microsoft.com/office/powerpoint/2010/main" val="2469500516"/>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give guidelines for monitoring of agreed procedures:</a:t>
            </a:r>
          </a:p>
          <a:p>
            <a:pPr>
              <a:buFont typeface="Arial" pitchFamily="34" charset="0"/>
              <a:buChar char="•"/>
            </a:pPr>
            <a:r>
              <a:rPr lang="en-AU" sz="1200" kern="1200" dirty="0" smtClean="0">
                <a:solidFill>
                  <a:schemeClr val="tx1"/>
                </a:solidFill>
                <a:latin typeface="+mn-lt"/>
                <a:ea typeface="+mn-ea"/>
                <a:cs typeface="+mn-cs"/>
              </a:rPr>
              <a:t>Involvement of employees in the monitoring process – to demonstrate transparency and honesty in implementation of procedures</a:t>
            </a:r>
          </a:p>
          <a:p>
            <a:pPr>
              <a:buFont typeface="Arial" pitchFamily="34" charset="0"/>
              <a:buChar char="•"/>
            </a:pPr>
            <a:r>
              <a:rPr lang="en-AU" sz="1200" kern="1200" dirty="0" smtClean="0">
                <a:solidFill>
                  <a:schemeClr val="tx1"/>
                </a:solidFill>
                <a:latin typeface="+mn-lt"/>
                <a:ea typeface="+mn-ea"/>
                <a:cs typeface="+mn-cs"/>
              </a:rPr>
              <a:t>Overview of the implementation of procedures – to ensure required protocols are adhered to</a:t>
            </a:r>
          </a:p>
          <a:p>
            <a:pPr>
              <a:buFont typeface="Arial" pitchFamily="34" charset="0"/>
              <a:buChar char="•"/>
            </a:pPr>
            <a:r>
              <a:rPr lang="en-AU" sz="1200" kern="1200" dirty="0" smtClean="0">
                <a:solidFill>
                  <a:schemeClr val="tx1"/>
                </a:solidFill>
                <a:latin typeface="+mn-lt"/>
                <a:ea typeface="+mn-ea"/>
                <a:cs typeface="+mn-cs"/>
              </a:rPr>
              <a:t>Sufficiency of data/information gained as a result of monitoring activities – to allow informed and valid decisions to be made on the basis of the data/evidence captured</a:t>
            </a:r>
          </a:p>
          <a:p>
            <a:pPr>
              <a:buFont typeface="Arial" pitchFamily="34" charset="0"/>
              <a:buChar char="•"/>
            </a:pPr>
            <a:r>
              <a:rPr lang="en-AU" sz="1200" kern="1200" dirty="0" smtClean="0">
                <a:solidFill>
                  <a:schemeClr val="tx1"/>
                </a:solidFill>
                <a:latin typeface="+mn-lt"/>
                <a:ea typeface="+mn-ea"/>
                <a:cs typeface="+mn-cs"/>
              </a:rPr>
              <a:t>Analysis and evaluation of application of procedures – to determine deficiencies and/or need for revision/adjustments</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p14="http://schemas.microsoft.com/office/powerpoint/2010/main" val="3063102047"/>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give guidelines for monitoring of agreed procedures:</a:t>
            </a:r>
          </a:p>
          <a:p>
            <a:pPr>
              <a:buFont typeface="Arial" pitchFamily="34" charset="0"/>
              <a:buChar char="•"/>
            </a:pPr>
            <a:r>
              <a:rPr lang="en-AU" sz="1200" kern="1200" dirty="0" smtClean="0">
                <a:solidFill>
                  <a:schemeClr val="tx1"/>
                </a:solidFill>
                <a:latin typeface="+mn-lt"/>
                <a:ea typeface="+mn-ea"/>
                <a:cs typeface="+mn-cs"/>
              </a:rPr>
              <a:t>Documentation of evidence gathered as part of the monitoring process – so it can serve as a basis for later reference. </a:t>
            </a:r>
          </a:p>
          <a:p>
            <a:pPr>
              <a:buFont typeface="Arial" pitchFamily="34" charset="0"/>
              <a:buChar char="•"/>
            </a:pPr>
            <a:r>
              <a:rPr lang="en-AU" sz="1200" kern="1200" dirty="0" smtClean="0">
                <a:solidFill>
                  <a:schemeClr val="tx1"/>
                </a:solidFill>
                <a:latin typeface="+mn-lt"/>
                <a:ea typeface="+mn-ea"/>
                <a:cs typeface="+mn-cs"/>
              </a:rPr>
              <a:t>Compliance with any mandatory obligations imposed by host country legislation – so the organisation discharges responsibilities imposed by local IR requirements</a:t>
            </a:r>
          </a:p>
          <a:p>
            <a:pPr>
              <a:buFont typeface="Arial" pitchFamily="34" charset="0"/>
              <a:buChar char="•"/>
            </a:pPr>
            <a:r>
              <a:rPr lang="en-AU" sz="1200" kern="1200" dirty="0" smtClean="0">
                <a:solidFill>
                  <a:schemeClr val="tx1"/>
                </a:solidFill>
                <a:latin typeface="+mn-lt"/>
                <a:ea typeface="+mn-ea"/>
                <a:cs typeface="+mn-cs"/>
              </a:rPr>
              <a:t>Application of monitoring activities does not interfere with or influence ‘natural justice’ and the intended operation of the agreed procedures – that is to say, the monitoring protocols must serve implementation of the agreed procedures and not dictate or determine its implementation</a:t>
            </a:r>
          </a:p>
          <a:p>
            <a:pPr>
              <a:buFont typeface="Arial" pitchFamily="34" charset="0"/>
              <a:buChar char="•"/>
            </a:pPr>
            <a:r>
              <a:rPr lang="en-AU" sz="1200" kern="1200" dirty="0" smtClean="0">
                <a:solidFill>
                  <a:schemeClr val="tx1"/>
                </a:solidFill>
                <a:latin typeface="+mn-lt"/>
                <a:ea typeface="+mn-ea"/>
                <a:cs typeface="+mn-cs"/>
              </a:rPr>
              <a:t>Results of monitoring procedures must be released to employees as standard practice (subject to suppression of privacy and confidentiality imperatives) – to demonstrate full disclosure, accountability and transparency.</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extLst>
      <p:ext uri="{BB962C8B-B14F-4D97-AF65-F5344CB8AC3E}">
        <p14:creationId xmlns:p14="http://schemas.microsoft.com/office/powerpoint/2010/main" val="246420233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discusses revisions to </a:t>
            </a:r>
            <a:r>
              <a:rPr lang="en-AU" sz="1200" kern="1200" dirty="0" smtClean="0">
                <a:solidFill>
                  <a:schemeClr val="tx1"/>
                </a:solidFill>
                <a:latin typeface="+mn-lt"/>
                <a:ea typeface="+mn-ea"/>
                <a:cs typeface="+mn-cs"/>
              </a:rPr>
              <a:t>agreed procedures highlighting adjustments comprise three fundamental options:</a:t>
            </a:r>
          </a:p>
          <a:p>
            <a:pPr>
              <a:buFont typeface="Arial" pitchFamily="34" charset="0"/>
              <a:buChar char="•"/>
            </a:pPr>
            <a:r>
              <a:rPr lang="en-AU" sz="1200" kern="1200" dirty="0" smtClean="0">
                <a:solidFill>
                  <a:schemeClr val="tx1"/>
                </a:solidFill>
                <a:latin typeface="+mn-lt"/>
                <a:ea typeface="+mn-ea"/>
                <a:cs typeface="+mn-cs"/>
              </a:rPr>
              <a:t>Revisions to existing protocols – where small changes are made to current protocols to improve or update their effectiveness and relevance</a:t>
            </a:r>
          </a:p>
          <a:p>
            <a:pPr>
              <a:buFont typeface="Arial" pitchFamily="34" charset="0"/>
              <a:buChar char="•"/>
            </a:pPr>
            <a:r>
              <a:rPr lang="en-AU" sz="1200" kern="1200" dirty="0" smtClean="0">
                <a:solidFill>
                  <a:schemeClr val="tx1"/>
                </a:solidFill>
                <a:latin typeface="+mn-lt"/>
                <a:ea typeface="+mn-ea"/>
                <a:cs typeface="+mn-cs"/>
              </a:rPr>
              <a:t>Deletion of existing protocols – which may be required when a topic is removed from workplace IR concerns as a result of legislated changes and/or changes to employment instruments</a:t>
            </a:r>
          </a:p>
          <a:p>
            <a:pPr>
              <a:buFont typeface="Arial" pitchFamily="34" charset="0"/>
              <a:buChar char="•"/>
            </a:pPr>
            <a:r>
              <a:rPr lang="en-AU" sz="1200" kern="1200" dirty="0" smtClean="0">
                <a:solidFill>
                  <a:schemeClr val="tx1"/>
                </a:solidFill>
                <a:latin typeface="+mn-lt"/>
                <a:ea typeface="+mn-ea"/>
                <a:cs typeface="+mn-cs"/>
              </a:rPr>
              <a:t>Creation of new protocols – to support new issues raised by legislation, work instruments or workplace concerns.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extLst>
      <p:ext uri="{BB962C8B-B14F-4D97-AF65-F5344CB8AC3E}">
        <p14:creationId xmlns:p14="http://schemas.microsoft.com/office/powerpoint/2010/main" val="60335613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states it </a:t>
            </a:r>
            <a:r>
              <a:rPr lang="en-AU" sz="1200" kern="1200" dirty="0" smtClean="0">
                <a:solidFill>
                  <a:schemeClr val="tx1"/>
                </a:solidFill>
                <a:latin typeface="+mn-lt"/>
                <a:ea typeface="+mn-ea"/>
                <a:cs typeface="+mn-cs"/>
              </a:rPr>
              <a:t>is also important to understand:</a:t>
            </a:r>
          </a:p>
          <a:p>
            <a:pPr>
              <a:buFont typeface="Arial" pitchFamily="34" charset="0"/>
              <a:buChar char="•"/>
            </a:pPr>
            <a:r>
              <a:rPr lang="en-AU" sz="1200" kern="1200" dirty="0" smtClean="0">
                <a:solidFill>
                  <a:schemeClr val="tx1"/>
                </a:solidFill>
                <a:latin typeface="+mn-lt"/>
                <a:ea typeface="+mn-ea"/>
                <a:cs typeface="+mn-cs"/>
              </a:rPr>
              <a:t>Organisations should strive to create and/or adjust/amend their own ‘agreed procedures’ – while in many cases the relevant government authorities may have standard protocols which can be used by businesses who elect not to develop their own procedures</a:t>
            </a:r>
          </a:p>
          <a:p>
            <a:pPr>
              <a:buFont typeface="Arial" pitchFamily="34" charset="0"/>
              <a:buChar char="•"/>
            </a:pPr>
            <a:r>
              <a:rPr lang="en-AU" sz="1200" kern="1200" dirty="0" smtClean="0">
                <a:solidFill>
                  <a:schemeClr val="tx1"/>
                </a:solidFill>
                <a:latin typeface="+mn-lt"/>
                <a:ea typeface="+mn-ea"/>
                <a:cs typeface="+mn-cs"/>
              </a:rPr>
              <a:t>External government authorities have the power to require organisations to change their ‘agreed procedures’ if they deem this to be necessary – by issuing relevant ‘orders’ to do so</a:t>
            </a:r>
          </a:p>
          <a:p>
            <a:pPr>
              <a:buFont typeface="Arial" pitchFamily="34" charset="0"/>
              <a:buChar char="•"/>
            </a:pPr>
            <a:r>
              <a:rPr lang="en-AU" sz="1200" kern="1200" dirty="0" smtClean="0">
                <a:solidFill>
                  <a:schemeClr val="tx1"/>
                </a:solidFill>
                <a:latin typeface="+mn-lt"/>
                <a:ea typeface="+mn-ea"/>
                <a:cs typeface="+mn-cs"/>
              </a:rPr>
              <a:t>Fines and/or other penalties can be imposed by authorities where organisations fail to establish and/or implement suitable ‘agreed procedures’.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extLst>
      <p:ext uri="{BB962C8B-B14F-4D97-AF65-F5344CB8AC3E}">
        <p14:creationId xmlns:p14="http://schemas.microsoft.com/office/powerpoint/2010/main" val="2664573668"/>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presents standard requirements in relation to </a:t>
            </a:r>
            <a:r>
              <a:rPr lang="en-AU" sz="1200" kern="1200" dirty="0" smtClean="0">
                <a:solidFill>
                  <a:schemeClr val="tx1"/>
                </a:solidFill>
                <a:latin typeface="+mn-lt"/>
                <a:ea typeface="+mn-ea"/>
                <a:cs typeface="+mn-cs"/>
              </a:rPr>
              <a:t>making adjustments to agreed industrial relations procedures:</a:t>
            </a:r>
          </a:p>
          <a:p>
            <a:pPr>
              <a:buFont typeface="Arial" pitchFamily="34" charset="0"/>
              <a:buChar char="•"/>
            </a:pPr>
            <a:r>
              <a:rPr lang="en-AU" sz="1200" kern="1200" dirty="0" smtClean="0">
                <a:solidFill>
                  <a:schemeClr val="tx1"/>
                </a:solidFill>
                <a:latin typeface="+mn-lt"/>
                <a:ea typeface="+mn-ea"/>
                <a:cs typeface="+mn-cs"/>
              </a:rPr>
              <a:t>All agreed procedures must be subject to regular and scheduled review – this schedule must be contained within the relevant protocols</a:t>
            </a:r>
          </a:p>
          <a:p>
            <a:pPr>
              <a:buFont typeface="Arial" pitchFamily="34" charset="0"/>
              <a:buChar char="•"/>
            </a:pPr>
            <a:r>
              <a:rPr lang="en-AU" sz="1200" kern="1200" dirty="0" smtClean="0">
                <a:solidFill>
                  <a:schemeClr val="tx1"/>
                </a:solidFill>
                <a:latin typeface="+mn-lt"/>
                <a:ea typeface="+mn-ea"/>
                <a:cs typeface="+mn-cs"/>
              </a:rPr>
              <a:t>Timing considerations for review need to accommodate four standard requirements – that is, reviews should occur:</a:t>
            </a:r>
          </a:p>
          <a:p>
            <a:pPr lvl="1">
              <a:buFont typeface="Arial" pitchFamily="34" charset="0"/>
              <a:buChar char="•"/>
            </a:pPr>
            <a:r>
              <a:rPr lang="en-AU" sz="1200" kern="1200" dirty="0" smtClean="0">
                <a:solidFill>
                  <a:schemeClr val="tx1"/>
                </a:solidFill>
                <a:latin typeface="+mn-lt"/>
                <a:ea typeface="+mn-ea"/>
                <a:cs typeface="+mn-cs"/>
              </a:rPr>
              <a:t>At scheduled times – annually is a useful standard even where there has been no need to use the agreed procedures/monitoring activities</a:t>
            </a:r>
          </a:p>
          <a:p>
            <a:pPr lvl="1">
              <a:buFont typeface="Arial" pitchFamily="34" charset="0"/>
              <a:buChar char="•"/>
            </a:pPr>
            <a:r>
              <a:rPr lang="en-AU" sz="1200" kern="1200" dirty="0" smtClean="0">
                <a:solidFill>
                  <a:schemeClr val="tx1"/>
                </a:solidFill>
                <a:latin typeface="+mn-lt"/>
                <a:ea typeface="+mn-ea"/>
                <a:cs typeface="+mn-cs"/>
              </a:rPr>
              <a:t>After every implementation of agreed procedures/monitoring activities</a:t>
            </a:r>
          </a:p>
          <a:p>
            <a:pPr lvl="1">
              <a:buFont typeface="Arial" pitchFamily="34" charset="0"/>
              <a:buChar char="•"/>
            </a:pPr>
            <a:r>
              <a:rPr lang="en-AU" sz="1200" kern="1200" dirty="0" smtClean="0">
                <a:solidFill>
                  <a:schemeClr val="tx1"/>
                </a:solidFill>
                <a:latin typeface="+mn-lt"/>
                <a:ea typeface="+mn-ea"/>
                <a:cs typeface="+mn-cs"/>
              </a:rPr>
              <a:t>Whenever there is alteration to legislation which impacts existing agreed procedures/monitoring activities</a:t>
            </a:r>
          </a:p>
          <a:p>
            <a:pPr lvl="1">
              <a:buFont typeface="Arial" pitchFamily="34" charset="0"/>
              <a:buChar char="•"/>
            </a:pPr>
            <a:r>
              <a:rPr lang="en-AU" sz="1200" kern="1200" dirty="0" smtClean="0">
                <a:solidFill>
                  <a:schemeClr val="tx1"/>
                </a:solidFill>
                <a:latin typeface="+mn-lt"/>
                <a:ea typeface="+mn-ea"/>
                <a:cs typeface="+mn-cs"/>
              </a:rPr>
              <a:t>Following amendments to employment instruments which necessitate changes to agreed procedures/monitoring activities</a:t>
            </a:r>
          </a:p>
          <a:p>
            <a:pPr>
              <a:buFont typeface="Arial" pitchFamily="34" charset="0"/>
              <a:buChar char="•"/>
            </a:pPr>
            <a:r>
              <a:rPr lang="en-AU" sz="1200" kern="1200" dirty="0" smtClean="0">
                <a:solidFill>
                  <a:schemeClr val="tx1"/>
                </a:solidFill>
                <a:latin typeface="+mn-lt"/>
                <a:ea typeface="+mn-ea"/>
                <a:cs typeface="+mn-cs"/>
              </a:rPr>
              <a:t>All revisions must be preceded by a review – to enable relevant evidence/information to be captured and/or assembled to serve as the basis for decision making</a:t>
            </a:r>
          </a:p>
          <a:p>
            <a:pPr>
              <a:buFont typeface="Arial" pitchFamily="34" charset="0"/>
              <a:buChar char="•"/>
            </a:pPr>
            <a:r>
              <a:rPr lang="en-AU" sz="1200" kern="1200" dirty="0" smtClean="0">
                <a:solidFill>
                  <a:schemeClr val="tx1"/>
                </a:solidFill>
                <a:latin typeface="+mn-lt"/>
                <a:ea typeface="+mn-ea"/>
                <a:cs typeface="+mn-cs"/>
              </a:rPr>
              <a:t>All decisions to amend exist arrangements must be fact-based – and be founded on objective evidence as opposed to supposition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extLst>
      <p:ext uri="{BB962C8B-B14F-4D97-AF65-F5344CB8AC3E}">
        <p14:creationId xmlns:p14="http://schemas.microsoft.com/office/powerpoint/2010/main" val="3561605570"/>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present standard requirements in relation to </a:t>
            </a:r>
            <a:r>
              <a:rPr lang="en-AU" sz="1200" kern="1200" dirty="0" smtClean="0">
                <a:solidFill>
                  <a:schemeClr val="tx1"/>
                </a:solidFill>
                <a:latin typeface="+mn-lt"/>
                <a:ea typeface="+mn-ea"/>
                <a:cs typeface="+mn-cs"/>
              </a:rPr>
              <a:t>making adjustments to agreed industrial relations procedures:</a:t>
            </a:r>
          </a:p>
          <a:p>
            <a:pPr>
              <a:buFont typeface="Arial" pitchFamily="34" charset="0"/>
              <a:buChar char="•"/>
            </a:pPr>
            <a:r>
              <a:rPr lang="en-AU" sz="1200" kern="1200" dirty="0" smtClean="0">
                <a:solidFill>
                  <a:schemeClr val="tx1"/>
                </a:solidFill>
                <a:latin typeface="+mn-lt"/>
                <a:ea typeface="+mn-ea"/>
                <a:cs typeface="+mn-cs"/>
              </a:rPr>
              <a:t>Staff (or their nominated representatives) must be an integral part of the review and/or revision process – to demonstrate inclusivity, transparency and accountability</a:t>
            </a:r>
          </a:p>
          <a:p>
            <a:pPr>
              <a:buFont typeface="Arial" pitchFamily="34" charset="0"/>
              <a:buChar char="•"/>
            </a:pPr>
            <a:r>
              <a:rPr lang="en-AU" sz="1200" kern="1200" dirty="0" smtClean="0">
                <a:solidFill>
                  <a:schemeClr val="tx1"/>
                </a:solidFill>
                <a:latin typeface="+mn-lt"/>
                <a:ea typeface="+mn-ea"/>
                <a:cs typeface="+mn-cs"/>
              </a:rPr>
              <a:t>All protocols followed for the development of the original procedures must be adhered to when undertaking revisions/amendments – that is, there is a need to:</a:t>
            </a:r>
          </a:p>
          <a:p>
            <a:pPr lvl="1">
              <a:buFont typeface="Arial" pitchFamily="34" charset="0"/>
              <a:buChar char="•"/>
            </a:pPr>
            <a:r>
              <a:rPr lang="en-AU" sz="1200" kern="1200" dirty="0" smtClean="0">
                <a:solidFill>
                  <a:schemeClr val="tx1"/>
                </a:solidFill>
                <a:latin typeface="+mn-lt"/>
                <a:ea typeface="+mn-ea"/>
                <a:cs typeface="+mn-cs"/>
              </a:rPr>
              <a:t>Develop a draft </a:t>
            </a:r>
          </a:p>
          <a:p>
            <a:pPr lvl="1">
              <a:buFont typeface="Arial" pitchFamily="34" charset="0"/>
              <a:buChar char="•"/>
            </a:pPr>
            <a:r>
              <a:rPr lang="en-AU" sz="1200" kern="1200" dirty="0" smtClean="0">
                <a:solidFill>
                  <a:schemeClr val="tx1"/>
                </a:solidFill>
                <a:latin typeface="+mn-lt"/>
                <a:ea typeface="+mn-ea"/>
                <a:cs typeface="+mn-cs"/>
              </a:rPr>
              <a:t>Circulate the draft for comment/feedback</a:t>
            </a:r>
          </a:p>
          <a:p>
            <a:pPr lvl="1">
              <a:buFont typeface="Arial" pitchFamily="34" charset="0"/>
              <a:buChar char="•"/>
            </a:pPr>
            <a:r>
              <a:rPr lang="en-AU" sz="1200" kern="1200" dirty="0" smtClean="0">
                <a:solidFill>
                  <a:schemeClr val="tx1"/>
                </a:solidFill>
                <a:latin typeface="+mn-lt"/>
                <a:ea typeface="+mn-ea"/>
                <a:cs typeface="+mn-cs"/>
              </a:rPr>
              <a:t>Revise draft as/if required</a:t>
            </a:r>
          </a:p>
          <a:p>
            <a:pPr lvl="1">
              <a:buFont typeface="Arial" pitchFamily="34" charset="0"/>
              <a:buChar char="•"/>
            </a:pPr>
            <a:r>
              <a:rPr lang="en-AU" sz="1200" kern="1200" dirty="0" smtClean="0">
                <a:solidFill>
                  <a:schemeClr val="tx1"/>
                </a:solidFill>
                <a:latin typeface="+mn-lt"/>
                <a:ea typeface="+mn-ea"/>
                <a:cs typeface="+mn-cs"/>
              </a:rPr>
              <a:t>Obtain agreement/approval for revised draft/s</a:t>
            </a:r>
          </a:p>
          <a:p>
            <a:pPr>
              <a:buFont typeface="Arial" pitchFamily="34" charset="0"/>
              <a:buChar char="•"/>
            </a:pPr>
            <a:r>
              <a:rPr lang="en-AU" sz="1200" kern="1200" dirty="0" smtClean="0">
                <a:solidFill>
                  <a:schemeClr val="tx1"/>
                </a:solidFill>
                <a:latin typeface="+mn-lt"/>
                <a:ea typeface="+mn-ea"/>
                <a:cs typeface="+mn-cs"/>
              </a:rPr>
              <a:t>All amendments need to be communicated to all stakeholders – which may require:</a:t>
            </a:r>
          </a:p>
          <a:p>
            <a:pPr lvl="1">
              <a:buFont typeface="Arial" pitchFamily="34" charset="0"/>
              <a:buChar char="•"/>
            </a:pPr>
            <a:r>
              <a:rPr lang="en-AU" sz="1200" kern="1200" dirty="0" smtClean="0">
                <a:solidFill>
                  <a:schemeClr val="tx1"/>
                </a:solidFill>
                <a:latin typeface="+mn-lt"/>
                <a:ea typeface="+mn-ea"/>
                <a:cs typeface="+mn-cs"/>
              </a:rPr>
              <a:t>Integration of revised protocols into Staff Handbooks, policies and procedures</a:t>
            </a:r>
          </a:p>
          <a:p>
            <a:pPr lvl="1">
              <a:buFont typeface="Arial" pitchFamily="34" charset="0"/>
              <a:buChar char="•"/>
            </a:pPr>
            <a:r>
              <a:rPr lang="en-AU" sz="1200" kern="1200" dirty="0" smtClean="0">
                <a:solidFill>
                  <a:schemeClr val="tx1"/>
                </a:solidFill>
                <a:latin typeface="+mn-lt"/>
                <a:ea typeface="+mn-ea"/>
                <a:cs typeface="+mn-cs"/>
              </a:rPr>
              <a:t>Inclusion of amendments into internal training</a:t>
            </a:r>
          </a:p>
          <a:p>
            <a:pPr>
              <a:buFont typeface="Arial" pitchFamily="34" charset="0"/>
              <a:buChar char="•"/>
            </a:pPr>
            <a:r>
              <a:rPr lang="en-AU" sz="1200" kern="1200" dirty="0" smtClean="0">
                <a:solidFill>
                  <a:schemeClr val="tx1"/>
                </a:solidFill>
                <a:latin typeface="+mn-lt"/>
                <a:ea typeface="+mn-ea"/>
                <a:cs typeface="+mn-cs"/>
              </a:rPr>
              <a:t>Changes to protocols need to be ‘version controlled’ – so there is clear detail regarding:</a:t>
            </a:r>
          </a:p>
          <a:p>
            <a:pPr lvl="1">
              <a:buFont typeface="Arial" pitchFamily="34" charset="0"/>
              <a:buChar char="•"/>
            </a:pPr>
            <a:r>
              <a:rPr lang="en-AU" sz="1200" kern="1200" dirty="0" smtClean="0">
                <a:solidFill>
                  <a:schemeClr val="tx1"/>
                </a:solidFill>
                <a:latin typeface="+mn-lt"/>
                <a:ea typeface="+mn-ea"/>
                <a:cs typeface="+mn-cs"/>
              </a:rPr>
              <a:t>Date protocols were reviewed</a:t>
            </a:r>
          </a:p>
          <a:p>
            <a:pPr lvl="1">
              <a:buFont typeface="Arial" pitchFamily="34" charset="0"/>
              <a:buChar char="•"/>
            </a:pPr>
            <a:r>
              <a:rPr lang="en-AU" sz="1200" kern="1200" dirty="0" smtClean="0">
                <a:solidFill>
                  <a:schemeClr val="tx1"/>
                </a:solidFill>
                <a:latin typeface="+mn-lt"/>
                <a:ea typeface="+mn-ea"/>
                <a:cs typeface="+mn-cs"/>
              </a:rPr>
              <a:t>Brief overview of changes made</a:t>
            </a:r>
          </a:p>
          <a:p>
            <a:pPr lvl="1">
              <a:buFont typeface="Arial" pitchFamily="34" charset="0"/>
              <a:buChar char="•"/>
            </a:pPr>
            <a:r>
              <a:rPr lang="en-AU" sz="1200" kern="1200" dirty="0" smtClean="0">
                <a:solidFill>
                  <a:schemeClr val="tx1"/>
                </a:solidFill>
                <a:latin typeface="+mn-lt"/>
                <a:ea typeface="+mn-ea"/>
                <a:cs typeface="+mn-cs"/>
              </a:rPr>
              <a:t>Date of next scheduled/annual review.</a:t>
            </a:r>
          </a:p>
          <a:p>
            <a:pPr>
              <a:buFont typeface="Arial" pitchFamily="34" charset="0"/>
              <a:buChar cha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extLst>
      <p:ext uri="{BB962C8B-B14F-4D97-AF65-F5344CB8AC3E}">
        <p14:creationId xmlns:p14="http://schemas.microsoft.com/office/powerpoint/2010/main" val="3043089348"/>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basic information on external assistance stating:</a:t>
            </a:r>
          </a:p>
          <a:p>
            <a:pPr>
              <a:buFont typeface="Arial" pitchFamily="34" charset="0"/>
              <a:buChar char="•"/>
            </a:pPr>
            <a:r>
              <a:rPr lang="en-AU" sz="1200" kern="1200" dirty="0" smtClean="0">
                <a:solidFill>
                  <a:schemeClr val="tx1"/>
                </a:solidFill>
                <a:latin typeface="+mn-lt"/>
                <a:ea typeface="+mn-ea"/>
                <a:cs typeface="+mn-cs"/>
              </a:rPr>
              <a:t>While most organisations traditionally have a range of experienced HR personnel on their staff it is to be expected even the largest organisations will need to use the services of </a:t>
            </a:r>
            <a:r>
              <a:rPr lang="en-AU" sz="1200" i="1" kern="1200" dirty="0" smtClean="0">
                <a:solidFill>
                  <a:schemeClr val="tx1"/>
                </a:solidFill>
                <a:latin typeface="+mn-lt"/>
                <a:ea typeface="+mn-ea"/>
                <a:cs typeface="+mn-cs"/>
              </a:rPr>
              <a:t>external</a:t>
            </a:r>
            <a:r>
              <a:rPr lang="en-AU" sz="1200" kern="1200" dirty="0" smtClean="0">
                <a:solidFill>
                  <a:schemeClr val="tx1"/>
                </a:solidFill>
                <a:latin typeface="+mn-lt"/>
                <a:ea typeface="+mn-ea"/>
                <a:cs typeface="+mn-cs"/>
              </a:rPr>
              <a:t> specialists to assist with a range of IR issues from time-to-time</a:t>
            </a:r>
          </a:p>
          <a:p>
            <a:pPr>
              <a:buFont typeface="Arial" pitchFamily="34" charset="0"/>
              <a:buChar char="•"/>
            </a:pPr>
            <a:r>
              <a:rPr lang="en-AU" sz="1200" kern="1200" dirty="0" smtClean="0">
                <a:solidFill>
                  <a:schemeClr val="tx1"/>
                </a:solidFill>
                <a:latin typeface="+mn-lt"/>
                <a:ea typeface="+mn-ea"/>
                <a:cs typeface="+mn-cs"/>
              </a:rPr>
              <a:t>These specialists may generally be classified as:</a:t>
            </a:r>
          </a:p>
          <a:p>
            <a:pPr lvl="1">
              <a:buFont typeface="Arial" pitchFamily="34" charset="0"/>
              <a:buChar char="•"/>
            </a:pPr>
            <a:r>
              <a:rPr lang="en-AU" sz="1200" kern="1200" dirty="0" smtClean="0">
                <a:solidFill>
                  <a:schemeClr val="tx1"/>
                </a:solidFill>
                <a:latin typeface="+mn-lt"/>
                <a:ea typeface="+mn-ea"/>
                <a:cs typeface="+mn-cs"/>
              </a:rPr>
              <a:t>Private enterprise operators </a:t>
            </a:r>
          </a:p>
          <a:p>
            <a:pPr lvl="1">
              <a:buFont typeface="Arial" pitchFamily="34" charset="0"/>
              <a:buChar char="•"/>
            </a:pPr>
            <a:r>
              <a:rPr lang="en-AU" sz="1200" kern="1200" dirty="0" smtClean="0">
                <a:solidFill>
                  <a:schemeClr val="tx1"/>
                </a:solidFill>
                <a:latin typeface="+mn-lt"/>
                <a:ea typeface="+mn-ea"/>
                <a:cs typeface="+mn-cs"/>
              </a:rPr>
              <a:t>Government agencies and authorities.</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extLst>
      <p:ext uri="{BB962C8B-B14F-4D97-AF65-F5344CB8AC3E}">
        <p14:creationId xmlns:p14="http://schemas.microsoft.com/office/powerpoint/2010/main" val="863814093"/>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information about</a:t>
            </a:r>
          </a:p>
          <a:p>
            <a:r>
              <a:rPr lang="en-AU" sz="1200" b="1" i="1" kern="1200" dirty="0" smtClean="0">
                <a:solidFill>
                  <a:schemeClr val="tx1"/>
                </a:solidFill>
                <a:latin typeface="+mn-lt"/>
                <a:ea typeface="+mn-ea"/>
                <a:cs typeface="+mn-cs"/>
              </a:rPr>
              <a:t>Private enterprise operators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These are individuals and businesses who operate on a fee-for-service basis meaning the organisation pays them for the work they perform.</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Fees are usually calculated:</a:t>
            </a:r>
          </a:p>
          <a:p>
            <a:pPr>
              <a:buFont typeface="Arial" pitchFamily="34" charset="0"/>
              <a:buChar char="•"/>
            </a:pPr>
            <a:r>
              <a:rPr lang="en-AU" sz="1200" kern="1200" dirty="0" smtClean="0">
                <a:solidFill>
                  <a:schemeClr val="tx1"/>
                </a:solidFill>
                <a:latin typeface="+mn-lt"/>
                <a:ea typeface="+mn-ea"/>
                <a:cs typeface="+mn-cs"/>
              </a:rPr>
              <a:t>On a project basis</a:t>
            </a:r>
          </a:p>
          <a:p>
            <a:pPr>
              <a:buFont typeface="Arial" pitchFamily="34" charset="0"/>
              <a:buChar char="•"/>
            </a:pPr>
            <a:r>
              <a:rPr lang="en-AU" sz="1200" kern="1200" dirty="0" smtClean="0">
                <a:solidFill>
                  <a:schemeClr val="tx1"/>
                </a:solidFill>
                <a:latin typeface="+mn-lt"/>
                <a:ea typeface="+mn-ea"/>
                <a:cs typeface="+mn-cs"/>
              </a:rPr>
              <a:t>On an hourly basis.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Some businesses may engage specialists on a ‘retainer’ basis meaning the specialist individual/business will undertake certain nominated tasks on an ongoing basis for a set fee paid to them (say) every month, regardless of whether or not they actually do any work.</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extLst>
      <p:ext uri="{BB962C8B-B14F-4D97-AF65-F5344CB8AC3E}">
        <p14:creationId xmlns:p14="http://schemas.microsoft.com/office/powerpoint/2010/main" val="3266657792"/>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information on private enterprise operators stating </a:t>
            </a:r>
            <a:r>
              <a:rPr lang="en-AU" sz="1200" kern="1200" dirty="0" smtClean="0">
                <a:solidFill>
                  <a:schemeClr val="tx1"/>
                </a:solidFill>
                <a:latin typeface="+mn-lt"/>
                <a:ea typeface="+mn-ea"/>
                <a:cs typeface="+mn-cs"/>
              </a:rPr>
              <a:t>Specialists may provide services relating to:</a:t>
            </a:r>
          </a:p>
          <a:p>
            <a:pPr>
              <a:buFont typeface="Arial" pitchFamily="34" charset="0"/>
              <a:buChar char="•"/>
            </a:pPr>
            <a:r>
              <a:rPr lang="en-AU" sz="1200" kern="1200" dirty="0" smtClean="0">
                <a:solidFill>
                  <a:schemeClr val="tx1"/>
                </a:solidFill>
                <a:latin typeface="+mn-lt"/>
                <a:ea typeface="+mn-ea"/>
                <a:cs typeface="+mn-cs"/>
              </a:rPr>
              <a:t>Industrial relations consulting – in relation to areas such as:</a:t>
            </a:r>
          </a:p>
          <a:p>
            <a:pPr lvl="1">
              <a:buFont typeface="Arial" pitchFamily="34" charset="0"/>
              <a:buChar char="•"/>
            </a:pPr>
            <a:r>
              <a:rPr lang="en-AU" sz="1200" kern="1200" dirty="0" smtClean="0">
                <a:solidFill>
                  <a:schemeClr val="tx1"/>
                </a:solidFill>
                <a:latin typeface="+mn-lt"/>
                <a:ea typeface="+mn-ea"/>
                <a:cs typeface="+mn-cs"/>
              </a:rPr>
              <a:t>Managing workplace relations</a:t>
            </a:r>
          </a:p>
          <a:p>
            <a:pPr lvl="1">
              <a:buFont typeface="Arial" pitchFamily="34" charset="0"/>
              <a:buChar char="•"/>
            </a:pPr>
            <a:r>
              <a:rPr lang="en-AU" sz="1200" kern="1200" dirty="0" smtClean="0">
                <a:solidFill>
                  <a:schemeClr val="tx1"/>
                </a:solidFill>
                <a:latin typeface="+mn-lt"/>
                <a:ea typeface="+mn-ea"/>
                <a:cs typeface="+mn-cs"/>
              </a:rPr>
              <a:t>Developing and maintaining Human Resources</a:t>
            </a:r>
          </a:p>
          <a:p>
            <a:pPr lvl="1">
              <a:buFont typeface="Arial" pitchFamily="34" charset="0"/>
              <a:buChar char="•"/>
            </a:pPr>
            <a:r>
              <a:rPr lang="en-AU" sz="1200" kern="1200" dirty="0" smtClean="0">
                <a:solidFill>
                  <a:schemeClr val="tx1"/>
                </a:solidFill>
                <a:latin typeface="+mn-lt"/>
                <a:ea typeface="+mn-ea"/>
                <a:cs typeface="+mn-cs"/>
              </a:rPr>
              <a:t>Negotiating workplace instruments</a:t>
            </a:r>
          </a:p>
          <a:p>
            <a:pPr lvl="1">
              <a:buFont typeface="Arial" pitchFamily="34" charset="0"/>
              <a:buChar char="•"/>
            </a:pPr>
            <a:r>
              <a:rPr lang="en-AU" sz="1200" kern="1200" dirty="0" smtClean="0">
                <a:solidFill>
                  <a:schemeClr val="tx1"/>
                </a:solidFill>
                <a:latin typeface="+mn-lt"/>
                <a:ea typeface="+mn-ea"/>
                <a:cs typeface="+mn-cs"/>
              </a:rPr>
              <a:t>Providing conciliation, mediation and arbitration services</a:t>
            </a:r>
          </a:p>
          <a:p>
            <a:pPr lvl="1">
              <a:buFont typeface="Arial" pitchFamily="34" charset="0"/>
              <a:buChar char="•"/>
            </a:pPr>
            <a:r>
              <a:rPr lang="en-AU" sz="1200" kern="1200" dirty="0" smtClean="0">
                <a:solidFill>
                  <a:schemeClr val="tx1"/>
                </a:solidFill>
                <a:latin typeface="+mn-lt"/>
                <a:ea typeface="+mn-ea"/>
                <a:cs typeface="+mn-cs"/>
              </a:rPr>
              <a:t>Establishing relevant work-based groups/teams to facilitate optimum workplace industrial relations</a:t>
            </a:r>
          </a:p>
          <a:p>
            <a:pPr>
              <a:buFont typeface="Arial" pitchFamily="34" charset="0"/>
              <a:buChar char="•"/>
            </a:pPr>
            <a:r>
              <a:rPr lang="en-AU" sz="1200" kern="1200" dirty="0" smtClean="0">
                <a:solidFill>
                  <a:schemeClr val="tx1"/>
                </a:solidFill>
                <a:latin typeface="+mn-lt"/>
                <a:ea typeface="+mn-ea"/>
                <a:cs typeface="+mn-cs"/>
              </a:rPr>
              <a:t>Training – with reference to:</a:t>
            </a:r>
          </a:p>
          <a:p>
            <a:pPr lvl="1">
              <a:buFont typeface="Arial" pitchFamily="34" charset="0"/>
              <a:buChar char="•"/>
            </a:pPr>
            <a:r>
              <a:rPr lang="en-AU" sz="1200" kern="1200" dirty="0" smtClean="0">
                <a:solidFill>
                  <a:schemeClr val="tx1"/>
                </a:solidFill>
                <a:latin typeface="+mn-lt"/>
                <a:ea typeface="+mn-ea"/>
                <a:cs typeface="+mn-cs"/>
              </a:rPr>
              <a:t>Developing management expertise in workplace industrial relations</a:t>
            </a:r>
          </a:p>
          <a:p>
            <a:pPr lvl="1">
              <a:buFont typeface="Arial" pitchFamily="34" charset="0"/>
              <a:buChar char="•"/>
            </a:pPr>
            <a:r>
              <a:rPr lang="en-AU" sz="1200" kern="1200" dirty="0" smtClean="0">
                <a:solidFill>
                  <a:schemeClr val="tx1"/>
                </a:solidFill>
                <a:latin typeface="+mn-lt"/>
                <a:ea typeface="+mn-ea"/>
                <a:cs typeface="+mn-cs"/>
              </a:rPr>
              <a:t>Informing workers of their IR rights and obligations</a:t>
            </a:r>
          </a:p>
          <a:p>
            <a:pPr lvl="1">
              <a:buFont typeface="Arial" pitchFamily="34" charset="0"/>
              <a:buChar char="•"/>
            </a:pPr>
            <a:r>
              <a:rPr lang="en-AU" sz="1200" kern="1200" dirty="0" smtClean="0">
                <a:solidFill>
                  <a:schemeClr val="tx1"/>
                </a:solidFill>
                <a:latin typeface="+mn-lt"/>
                <a:ea typeface="+mn-ea"/>
                <a:cs typeface="+mn-cs"/>
              </a:rPr>
              <a:t>Providing general awareness training</a:t>
            </a:r>
          </a:p>
          <a:p>
            <a:pPr lvl="1">
              <a:buFont typeface="Arial" pitchFamily="34" charset="0"/>
              <a:buChar char="•"/>
            </a:pPr>
            <a:r>
              <a:rPr lang="en-AU" sz="1200" kern="1200" dirty="0" smtClean="0">
                <a:solidFill>
                  <a:schemeClr val="tx1"/>
                </a:solidFill>
                <a:latin typeface="+mn-lt"/>
                <a:ea typeface="+mn-ea"/>
                <a:cs typeface="+mn-cs"/>
              </a:rPr>
              <a:t>Conducting relevant training in terms of practical work-based role plays and/or case studies </a:t>
            </a:r>
          </a:p>
          <a:p>
            <a:pPr lvl="1">
              <a:buFont typeface="Arial" pitchFamily="34" charset="0"/>
              <a:buChar char="•"/>
            </a:pPr>
            <a:r>
              <a:rPr lang="en-AU" sz="1200" kern="1200" dirty="0" smtClean="0">
                <a:solidFill>
                  <a:schemeClr val="tx1"/>
                </a:solidFill>
                <a:latin typeface="+mn-lt"/>
                <a:ea typeface="+mn-ea"/>
                <a:cs typeface="+mn-cs"/>
              </a:rPr>
              <a:t>Preparing stakeholders to optimise their contribution to and participation in a consultative and collaborative workplace </a:t>
            </a:r>
          </a:p>
          <a:p>
            <a:pPr>
              <a:buFont typeface="Arial" pitchFamily="34" charset="0"/>
              <a:buChar char="•"/>
            </a:pPr>
            <a:r>
              <a:rPr lang="en-AU" sz="1200" kern="1200" dirty="0" smtClean="0">
                <a:solidFill>
                  <a:schemeClr val="tx1"/>
                </a:solidFill>
                <a:latin typeface="+mn-lt"/>
                <a:ea typeface="+mn-ea"/>
                <a:cs typeface="+mn-cs"/>
              </a:rPr>
              <a:t>Resource development – to assist with all activities inherent in:</a:t>
            </a:r>
          </a:p>
          <a:p>
            <a:pPr lvl="1">
              <a:buFont typeface="Arial" pitchFamily="34" charset="0"/>
              <a:buChar char="•"/>
            </a:pPr>
            <a:r>
              <a:rPr lang="en-AU" sz="1200" kern="1200" dirty="0" smtClean="0">
                <a:solidFill>
                  <a:schemeClr val="tx1"/>
                </a:solidFill>
                <a:latin typeface="+mn-lt"/>
                <a:ea typeface="+mn-ea"/>
                <a:cs typeface="+mn-cs"/>
              </a:rPr>
              <a:t>Developing suitable policies</a:t>
            </a:r>
          </a:p>
          <a:p>
            <a:pPr lvl="1">
              <a:buFont typeface="Arial" pitchFamily="34" charset="0"/>
              <a:buChar char="•"/>
            </a:pPr>
            <a:r>
              <a:rPr lang="en-AU" sz="1200" kern="1200" dirty="0" smtClean="0">
                <a:solidFill>
                  <a:schemeClr val="tx1"/>
                </a:solidFill>
                <a:latin typeface="+mn-lt"/>
                <a:ea typeface="+mn-ea"/>
                <a:cs typeface="+mn-cs"/>
              </a:rPr>
              <a:t>Writing SOPs and agreed procedures to support/enable implementation of policies</a:t>
            </a:r>
          </a:p>
          <a:p>
            <a:pPr lvl="1">
              <a:buFont typeface="Arial" pitchFamily="34" charset="0"/>
              <a:buChar char="•"/>
            </a:pPr>
            <a:r>
              <a:rPr lang="en-AU" sz="1200" kern="1200" dirty="0" smtClean="0">
                <a:solidFill>
                  <a:schemeClr val="tx1"/>
                </a:solidFill>
                <a:latin typeface="+mn-lt"/>
                <a:ea typeface="+mn-ea"/>
                <a:cs typeface="+mn-cs"/>
              </a:rPr>
              <a:t>Drafting legal employment instruments</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manager to attend and:</a:t>
            </a:r>
          </a:p>
          <a:p>
            <a:pPr>
              <a:buFont typeface="Arial" pitchFamily="34" charset="0"/>
              <a:buChar char="•"/>
            </a:pPr>
            <a:r>
              <a:rPr lang="en-AU" b="0" noProof="0" dirty="0" smtClean="0"/>
              <a:t>Discuss how and when and why they have used external experts to assist with IR</a:t>
            </a:r>
            <a:r>
              <a:rPr lang="en-AU" b="0" baseline="0" noProof="0" dirty="0" smtClean="0"/>
              <a:t> matters</a:t>
            </a:r>
          </a:p>
          <a:p>
            <a:pPr>
              <a:buFont typeface="Arial" pitchFamily="34" charset="0"/>
              <a:buChar char="•"/>
            </a:pPr>
            <a:r>
              <a:rPr lang="en-AU" b="0" baseline="0" noProof="0" dirty="0" smtClean="0"/>
              <a:t>Advise on costs involved in use of these people</a:t>
            </a:r>
          </a:p>
          <a:p>
            <a:pPr>
              <a:buFont typeface="Arial" pitchFamily="34" charset="0"/>
              <a:buChar char="•"/>
            </a:pPr>
            <a:r>
              <a:rPr lang="en-AU" b="0" baseline="0" noProof="0" dirty="0" smtClean="0"/>
              <a:t>Describe what the experts provided/did</a:t>
            </a:r>
          </a:p>
          <a:p>
            <a:pPr>
              <a:buFont typeface="Arial" pitchFamily="34" charset="0"/>
              <a:buChar char="•"/>
            </a:pPr>
            <a:r>
              <a:rPr lang="en-AU" b="0" baseline="0" noProof="0" dirty="0" smtClean="0"/>
              <a:t>Provide advice on using IR experts.</a:t>
            </a:r>
          </a:p>
          <a:p>
            <a:pPr>
              <a:buFont typeface="Arial" pitchFamily="34" charset="0"/>
              <a:buChar char="•"/>
            </a:pPr>
            <a:endParaRPr lang="en-AU" b="0" baseline="0" noProof="0" dirty="0" smtClean="0"/>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extLst>
      <p:ext uri="{BB962C8B-B14F-4D97-AF65-F5344CB8AC3E}">
        <p14:creationId xmlns:p14="http://schemas.microsoft.com/office/powerpoint/2010/main" val="3784973445"/>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 continues identifying services external services IR specialists can provide:</a:t>
            </a:r>
          </a:p>
          <a:p>
            <a:pPr>
              <a:buFont typeface="Arial" pitchFamily="34" charset="0"/>
              <a:buChar char="•"/>
            </a:pPr>
            <a:r>
              <a:rPr lang="en-AU" sz="1200" kern="1200" dirty="0" smtClean="0">
                <a:solidFill>
                  <a:schemeClr val="tx1"/>
                </a:solidFill>
                <a:latin typeface="+mn-lt"/>
                <a:ea typeface="+mn-ea"/>
                <a:cs typeface="+mn-cs"/>
              </a:rPr>
              <a:t>Legal advice – in terms of:</a:t>
            </a:r>
          </a:p>
          <a:p>
            <a:pPr lvl="1">
              <a:buFont typeface="Arial" pitchFamily="34" charset="0"/>
              <a:buChar char="•"/>
            </a:pPr>
            <a:r>
              <a:rPr lang="en-AU" sz="1200" kern="1200" dirty="0" smtClean="0">
                <a:solidFill>
                  <a:schemeClr val="tx1"/>
                </a:solidFill>
                <a:latin typeface="+mn-lt"/>
                <a:ea typeface="+mn-ea"/>
                <a:cs typeface="+mn-cs"/>
              </a:rPr>
              <a:t>Mandatory obligations</a:t>
            </a:r>
          </a:p>
          <a:p>
            <a:pPr lvl="1">
              <a:buFont typeface="Arial" pitchFamily="34" charset="0"/>
              <a:buChar char="•"/>
            </a:pPr>
            <a:r>
              <a:rPr lang="en-AU" sz="1200" kern="1200" dirty="0" smtClean="0">
                <a:solidFill>
                  <a:schemeClr val="tx1"/>
                </a:solidFill>
                <a:latin typeface="+mn-lt"/>
                <a:ea typeface="+mn-ea"/>
                <a:cs typeface="+mn-cs"/>
              </a:rPr>
              <a:t>Compliance</a:t>
            </a:r>
          </a:p>
          <a:p>
            <a:pPr lvl="1">
              <a:buFont typeface="Arial" pitchFamily="34" charset="0"/>
              <a:buChar char="•"/>
            </a:pPr>
            <a:r>
              <a:rPr lang="en-AU" sz="1200" kern="1200" dirty="0" smtClean="0">
                <a:solidFill>
                  <a:schemeClr val="tx1"/>
                </a:solidFill>
                <a:latin typeface="+mn-lt"/>
                <a:ea typeface="+mn-ea"/>
                <a:cs typeface="+mn-cs"/>
              </a:rPr>
              <a:t>Plans for negotiation of industrial matters</a:t>
            </a:r>
          </a:p>
          <a:p>
            <a:pPr lvl="1">
              <a:buFont typeface="Arial" pitchFamily="34" charset="0"/>
              <a:buChar char="•"/>
            </a:pPr>
            <a:r>
              <a:rPr lang="en-AU" sz="1200" kern="1200" dirty="0" smtClean="0">
                <a:solidFill>
                  <a:schemeClr val="tx1"/>
                </a:solidFill>
                <a:latin typeface="+mn-lt"/>
                <a:ea typeface="+mn-ea"/>
                <a:cs typeface="+mn-cs"/>
              </a:rPr>
              <a:t>Penalties</a:t>
            </a:r>
          </a:p>
          <a:p>
            <a:pPr lvl="1">
              <a:buFont typeface="Arial" pitchFamily="34" charset="0"/>
              <a:buChar char="•"/>
            </a:pPr>
            <a:r>
              <a:rPr lang="en-AU" sz="1200" kern="1200" dirty="0" smtClean="0">
                <a:solidFill>
                  <a:schemeClr val="tx1"/>
                </a:solidFill>
                <a:latin typeface="+mn-lt"/>
                <a:ea typeface="+mn-ea"/>
                <a:cs typeface="+mn-cs"/>
              </a:rPr>
              <a:t>Options available to the organisation to respond to workplace issues</a:t>
            </a:r>
          </a:p>
          <a:p>
            <a:pPr>
              <a:buFont typeface="Arial" pitchFamily="34" charset="0"/>
              <a:buChar char="•"/>
            </a:pPr>
            <a:r>
              <a:rPr lang="en-AU" sz="1200" kern="1200" dirty="0" smtClean="0">
                <a:solidFill>
                  <a:schemeClr val="tx1"/>
                </a:solidFill>
                <a:latin typeface="+mn-lt"/>
                <a:ea typeface="+mn-ea"/>
                <a:cs typeface="+mn-cs"/>
              </a:rPr>
              <a:t>Legal services – which may relate to:</a:t>
            </a:r>
          </a:p>
          <a:p>
            <a:pPr lvl="1">
              <a:buFont typeface="Arial" pitchFamily="34" charset="0"/>
              <a:buChar char="•"/>
            </a:pPr>
            <a:r>
              <a:rPr lang="en-AU" sz="1200" kern="1200" dirty="0" smtClean="0">
                <a:solidFill>
                  <a:schemeClr val="tx1"/>
                </a:solidFill>
                <a:latin typeface="+mn-lt"/>
                <a:ea typeface="+mn-ea"/>
                <a:cs typeface="+mn-cs"/>
              </a:rPr>
              <a:t>Making presentations to bodies, representatives or authorities</a:t>
            </a:r>
          </a:p>
          <a:p>
            <a:pPr lvl="1">
              <a:buFont typeface="Arial" pitchFamily="34" charset="0"/>
              <a:buChar char="•"/>
            </a:pPr>
            <a:r>
              <a:rPr lang="en-AU" sz="1200" kern="1200" dirty="0" smtClean="0">
                <a:solidFill>
                  <a:schemeClr val="tx1"/>
                </a:solidFill>
                <a:latin typeface="+mn-lt"/>
                <a:ea typeface="+mn-ea"/>
                <a:cs typeface="+mn-cs"/>
              </a:rPr>
              <a:t>Lodging applications and/or employment instruments</a:t>
            </a:r>
          </a:p>
          <a:p>
            <a:pPr lvl="1">
              <a:buFont typeface="Arial" pitchFamily="34" charset="0"/>
              <a:buChar char="•"/>
            </a:pPr>
            <a:r>
              <a:rPr lang="en-AU" sz="1200" kern="1200" dirty="0" smtClean="0">
                <a:solidFill>
                  <a:schemeClr val="tx1"/>
                </a:solidFill>
                <a:latin typeface="+mn-lt"/>
                <a:ea typeface="+mn-ea"/>
                <a:cs typeface="+mn-cs"/>
              </a:rPr>
              <a:t>Registering agreed procedures with relevant agencies and/or other bodies</a:t>
            </a:r>
          </a:p>
          <a:p>
            <a:pPr lvl="1">
              <a:buFont typeface="Arial" pitchFamily="34" charset="0"/>
              <a:buChar char="•"/>
            </a:pPr>
            <a:r>
              <a:rPr lang="en-AU" sz="1200" kern="1200" dirty="0" smtClean="0">
                <a:solidFill>
                  <a:schemeClr val="tx1"/>
                </a:solidFill>
                <a:latin typeface="+mn-lt"/>
                <a:ea typeface="+mn-ea"/>
                <a:cs typeface="+mn-cs"/>
              </a:rPr>
              <a:t>Advocating on behalf of the organisation</a:t>
            </a:r>
          </a:p>
          <a:p>
            <a:pPr>
              <a:buFont typeface="Arial" pitchFamily="34" charset="0"/>
              <a:buChar char="•"/>
            </a:pPr>
            <a:r>
              <a:rPr lang="en-AU" sz="1200" kern="1200" dirty="0" smtClean="0">
                <a:solidFill>
                  <a:schemeClr val="tx1"/>
                </a:solidFill>
                <a:latin typeface="+mn-lt"/>
                <a:ea typeface="+mn-ea"/>
                <a:cs typeface="+mn-cs"/>
              </a:rPr>
              <a:t>Record keeping – in relation to:</a:t>
            </a:r>
          </a:p>
          <a:p>
            <a:pPr lvl="1">
              <a:buFont typeface="Arial" pitchFamily="34" charset="0"/>
              <a:buChar char="•"/>
            </a:pPr>
            <a:r>
              <a:rPr lang="en-AU" sz="1200" kern="1200" dirty="0" smtClean="0">
                <a:solidFill>
                  <a:schemeClr val="tx1"/>
                </a:solidFill>
                <a:latin typeface="+mn-lt"/>
                <a:ea typeface="+mn-ea"/>
                <a:cs typeface="+mn-cs"/>
              </a:rPr>
              <a:t>Personnel files</a:t>
            </a:r>
          </a:p>
          <a:p>
            <a:pPr lvl="1">
              <a:buFont typeface="Arial" pitchFamily="34" charset="0"/>
              <a:buChar char="•"/>
            </a:pPr>
            <a:r>
              <a:rPr lang="en-AU" sz="1200" kern="1200" dirty="0" smtClean="0">
                <a:solidFill>
                  <a:schemeClr val="tx1"/>
                </a:solidFill>
                <a:latin typeface="+mn-lt"/>
                <a:ea typeface="+mn-ea"/>
                <a:cs typeface="+mn-cs"/>
              </a:rPr>
              <a:t>Wages, taxation and superannuation</a:t>
            </a:r>
          </a:p>
          <a:p>
            <a:pPr lvl="1">
              <a:buFont typeface="Arial" pitchFamily="34" charset="0"/>
              <a:buChar char="•"/>
            </a:pPr>
            <a:r>
              <a:rPr lang="en-AU" sz="1200" kern="1200" dirty="0" smtClean="0">
                <a:solidFill>
                  <a:schemeClr val="tx1"/>
                </a:solidFill>
                <a:latin typeface="+mn-lt"/>
                <a:ea typeface="+mn-ea"/>
                <a:cs typeface="+mn-cs"/>
              </a:rPr>
              <a:t>Training</a:t>
            </a:r>
          </a:p>
          <a:p>
            <a:pPr lvl="1">
              <a:buFont typeface="Arial" pitchFamily="34" charset="0"/>
              <a:buChar char="•"/>
            </a:pPr>
            <a:r>
              <a:rPr lang="en-AU" sz="1200" kern="1200" dirty="0" smtClean="0">
                <a:solidFill>
                  <a:schemeClr val="tx1"/>
                </a:solidFill>
                <a:latin typeface="+mn-lt"/>
                <a:ea typeface="+mn-ea"/>
                <a:cs typeface="+mn-cs"/>
              </a:rPr>
              <a:t>Leave</a:t>
            </a:r>
          </a:p>
          <a:p>
            <a:pPr lvl="1">
              <a:buFont typeface="Arial" pitchFamily="34" charset="0"/>
              <a:buChar char="•"/>
            </a:pPr>
            <a:r>
              <a:rPr lang="en-AU" sz="1200" kern="1200" dirty="0" smtClean="0">
                <a:solidFill>
                  <a:schemeClr val="tx1"/>
                </a:solidFill>
                <a:latin typeface="+mn-lt"/>
                <a:ea typeface="+mn-ea"/>
                <a:cs typeface="+mn-cs"/>
              </a:rPr>
              <a:t>Promotion</a:t>
            </a:r>
          </a:p>
          <a:p>
            <a:pPr>
              <a:buFont typeface="Arial" pitchFamily="34" charset="0"/>
              <a:buChar char="•"/>
            </a:pPr>
            <a:r>
              <a:rPr lang="en-AU" sz="1200" kern="1200" dirty="0" smtClean="0">
                <a:solidFill>
                  <a:schemeClr val="tx1"/>
                </a:solidFill>
                <a:latin typeface="+mn-lt"/>
                <a:ea typeface="+mn-ea"/>
                <a:cs typeface="+mn-cs"/>
              </a:rPr>
              <a:t>Ongoing employment-related services – such as:</a:t>
            </a:r>
          </a:p>
          <a:p>
            <a:pPr lvl="1">
              <a:buFont typeface="Arial" pitchFamily="34" charset="0"/>
              <a:buChar char="•"/>
            </a:pPr>
            <a:r>
              <a:rPr lang="en-AU" sz="1200" kern="1200" dirty="0" smtClean="0">
                <a:solidFill>
                  <a:schemeClr val="tx1"/>
                </a:solidFill>
                <a:latin typeface="+mn-lt"/>
                <a:ea typeface="+mn-ea"/>
                <a:cs typeface="+mn-cs"/>
              </a:rPr>
              <a:t>Recruitment and staff selection</a:t>
            </a:r>
          </a:p>
          <a:p>
            <a:pPr lvl="1">
              <a:buFont typeface="Arial" pitchFamily="34" charset="0"/>
              <a:buChar char="•"/>
            </a:pPr>
            <a:r>
              <a:rPr lang="en-AU" sz="1200" kern="1200" dirty="0" smtClean="0">
                <a:solidFill>
                  <a:schemeClr val="tx1"/>
                </a:solidFill>
                <a:latin typeface="+mn-lt"/>
                <a:ea typeface="+mn-ea"/>
                <a:cs typeface="+mn-cs"/>
              </a:rPr>
              <a:t>Staff discipline and termination</a:t>
            </a:r>
          </a:p>
          <a:p>
            <a:pPr lvl="1">
              <a:buFont typeface="Arial" pitchFamily="34" charset="0"/>
              <a:buChar char="•"/>
            </a:pPr>
            <a:r>
              <a:rPr lang="en-AU" sz="1200" kern="1200" dirty="0" smtClean="0">
                <a:solidFill>
                  <a:schemeClr val="tx1"/>
                </a:solidFill>
                <a:latin typeface="+mn-lt"/>
                <a:ea typeface="+mn-ea"/>
                <a:cs typeface="+mn-cs"/>
              </a:rPr>
              <a:t>Staff performance and appraisal</a:t>
            </a:r>
          </a:p>
          <a:p>
            <a:pPr lvl="1">
              <a:buFont typeface="Arial" pitchFamily="34" charset="0"/>
              <a:buChar char="•"/>
            </a:pPr>
            <a:r>
              <a:rPr lang="en-AU" sz="1200" kern="1200" dirty="0" smtClean="0">
                <a:solidFill>
                  <a:schemeClr val="tx1"/>
                </a:solidFill>
                <a:latin typeface="+mn-lt"/>
                <a:ea typeface="+mn-ea"/>
                <a:cs typeface="+mn-cs"/>
              </a:rPr>
              <a:t>Dealing with unions and other groups/representative bodies.</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selection of IR professionals</a:t>
            </a:r>
            <a:r>
              <a:rPr lang="en-AU" b="0" baseline="0" noProof="0" dirty="0" smtClean="0"/>
              <a:t> to attend and:</a:t>
            </a:r>
          </a:p>
          <a:p>
            <a:pPr>
              <a:buFont typeface="Arial" pitchFamily="34" charset="0"/>
              <a:buChar char="•"/>
            </a:pPr>
            <a:r>
              <a:rPr lang="en-AU" b="0" noProof="0" dirty="0" smtClean="0"/>
              <a:t>Identify and explain the services they provide</a:t>
            </a:r>
          </a:p>
          <a:p>
            <a:pPr>
              <a:buFont typeface="Arial" pitchFamily="34" charset="0"/>
              <a:buChar char="•"/>
            </a:pPr>
            <a:r>
              <a:rPr lang="en-AU" b="0" noProof="0" dirty="0" smtClean="0"/>
              <a:t>Describe when, why and how these services might be needed</a:t>
            </a:r>
          </a:p>
          <a:p>
            <a:pPr>
              <a:buFont typeface="Arial" pitchFamily="34" charset="0"/>
              <a:buChar char="•"/>
            </a:pPr>
            <a:r>
              <a:rPr lang="en-AU" b="0" noProof="0" dirty="0" smtClean="0"/>
              <a:t>Identify costs of their services.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extLst>
      <p:ext uri="{BB962C8B-B14F-4D97-AF65-F5344CB8AC3E}">
        <p14:creationId xmlns:p14="http://schemas.microsoft.com/office/powerpoint/2010/main" val="4039589463"/>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businesses </a:t>
            </a:r>
            <a:r>
              <a:rPr lang="en-AU" sz="1200" kern="1200" dirty="0" smtClean="0">
                <a:solidFill>
                  <a:schemeClr val="tx1"/>
                </a:solidFill>
                <a:latin typeface="+mn-lt"/>
                <a:ea typeface="+mn-ea"/>
                <a:cs typeface="+mn-cs"/>
              </a:rPr>
              <a:t>seeking to engage the services of external IR specialists should:</a:t>
            </a:r>
          </a:p>
          <a:p>
            <a:pPr>
              <a:buFont typeface="Arial" pitchFamily="34" charset="0"/>
              <a:buChar char="•"/>
            </a:pPr>
            <a:r>
              <a:rPr lang="en-AU" sz="1200" kern="1200" dirty="0" smtClean="0">
                <a:solidFill>
                  <a:schemeClr val="tx1"/>
                </a:solidFill>
                <a:latin typeface="+mn-lt"/>
                <a:ea typeface="+mn-ea"/>
                <a:cs typeface="+mn-cs"/>
              </a:rPr>
              <a:t>Contact their local peak industry body – for names of people/businesses together with their contact details</a:t>
            </a:r>
          </a:p>
          <a:p>
            <a:pPr>
              <a:buFont typeface="Arial" pitchFamily="34" charset="0"/>
              <a:buChar char="•"/>
            </a:pPr>
            <a:r>
              <a:rPr lang="en-AU" sz="1200" kern="1200" dirty="0" smtClean="0">
                <a:solidFill>
                  <a:schemeClr val="tx1"/>
                </a:solidFill>
                <a:latin typeface="+mn-lt"/>
                <a:ea typeface="+mn-ea"/>
                <a:cs typeface="+mn-cs"/>
              </a:rPr>
              <a:t>Speak to people within their professional network of contacts – to identify businesses/personnel used by other businesses and obtain recommendations from known industry contacts</a:t>
            </a:r>
          </a:p>
          <a:p>
            <a:pPr>
              <a:buFont typeface="Arial" pitchFamily="34" charset="0"/>
              <a:buChar char="•"/>
            </a:pPr>
            <a:r>
              <a:rPr lang="en-AU" sz="1200" kern="1200" dirty="0" smtClean="0">
                <a:solidFill>
                  <a:schemeClr val="tx1"/>
                </a:solidFill>
                <a:latin typeface="+mn-lt"/>
                <a:ea typeface="+mn-ea"/>
                <a:cs typeface="+mn-cs"/>
              </a:rPr>
              <a:t>Strive to engage only the services of ‘suitable’ individuals/businesses – which means aiming only to:</a:t>
            </a:r>
          </a:p>
          <a:p>
            <a:pPr lvl="1">
              <a:buFont typeface="Arial" pitchFamily="34" charset="0"/>
              <a:buChar char="•"/>
            </a:pPr>
            <a:r>
              <a:rPr lang="en-AU" sz="1200" kern="1200" dirty="0" smtClean="0">
                <a:solidFill>
                  <a:schemeClr val="tx1"/>
                </a:solidFill>
                <a:latin typeface="+mn-lt"/>
                <a:ea typeface="+mn-ea"/>
                <a:cs typeface="+mn-cs"/>
              </a:rPr>
              <a:t>Employ those with previous experience in the areas where assistance is being sought</a:t>
            </a:r>
          </a:p>
          <a:p>
            <a:pPr lvl="1">
              <a:buFont typeface="Arial" pitchFamily="34" charset="0"/>
              <a:buChar char="•"/>
            </a:pPr>
            <a:r>
              <a:rPr lang="en-AU" sz="1200" kern="1200" dirty="0" smtClean="0">
                <a:solidFill>
                  <a:schemeClr val="tx1"/>
                </a:solidFill>
                <a:latin typeface="+mn-lt"/>
                <a:ea typeface="+mn-ea"/>
                <a:cs typeface="+mn-cs"/>
              </a:rPr>
              <a:t>Hire businesses with experience working within the host country where the organisation is operating</a:t>
            </a:r>
          </a:p>
          <a:p>
            <a:pPr>
              <a:buFont typeface="Arial" pitchFamily="34" charset="0"/>
              <a:buChar char="•"/>
            </a:pPr>
            <a:r>
              <a:rPr lang="en-AU" sz="1200" kern="1200" dirty="0" smtClean="0">
                <a:solidFill>
                  <a:schemeClr val="tx1"/>
                </a:solidFill>
                <a:latin typeface="+mn-lt"/>
                <a:ea typeface="+mn-ea"/>
                <a:cs typeface="+mn-cs"/>
              </a:rPr>
              <a:t>Conduct a web search – to determine:</a:t>
            </a:r>
          </a:p>
          <a:p>
            <a:pPr lvl="1">
              <a:buFont typeface="Arial" pitchFamily="34" charset="0"/>
              <a:buChar char="•"/>
            </a:pPr>
            <a:r>
              <a:rPr lang="en-AU" sz="1200" kern="1200" dirty="0" smtClean="0">
                <a:solidFill>
                  <a:schemeClr val="tx1"/>
                </a:solidFill>
                <a:latin typeface="+mn-lt"/>
                <a:ea typeface="+mn-ea"/>
                <a:cs typeface="+mn-cs"/>
              </a:rPr>
              <a:t>The services provided by potential businesses</a:t>
            </a:r>
          </a:p>
          <a:p>
            <a:pPr lvl="1">
              <a:buFont typeface="Arial" pitchFamily="34" charset="0"/>
              <a:buChar char="•"/>
            </a:pPr>
            <a:r>
              <a:rPr lang="en-AU" sz="1200" kern="1200" dirty="0" smtClean="0">
                <a:solidFill>
                  <a:schemeClr val="tx1"/>
                </a:solidFill>
                <a:latin typeface="+mn-lt"/>
                <a:ea typeface="+mn-ea"/>
                <a:cs typeface="+mn-cs"/>
              </a:rPr>
              <a:t>Experience and expertise of organisations</a:t>
            </a:r>
          </a:p>
          <a:p>
            <a:pPr>
              <a:buFont typeface="Arial" pitchFamily="34" charset="0"/>
              <a:buChar char="•"/>
            </a:pPr>
            <a:r>
              <a:rPr lang="en-AU" sz="1200" kern="1200" dirty="0" smtClean="0">
                <a:solidFill>
                  <a:schemeClr val="tx1"/>
                </a:solidFill>
                <a:latin typeface="+mn-lt"/>
                <a:ea typeface="+mn-ea"/>
                <a:cs typeface="+mn-cs"/>
              </a:rPr>
              <a:t>Obtain a written quotation/estimation for work to be done – so there is a better understanding of costs and time involved.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If a business/private individual fails to perform their work competently, professionally and legally, the organisation can usually take action against them to recover losses and/or sue for damages.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extLst>
      <p:ext uri="{BB962C8B-B14F-4D97-AF65-F5344CB8AC3E}">
        <p14:creationId xmlns:p14="http://schemas.microsoft.com/office/powerpoint/2010/main" val="1475129267"/>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information about</a:t>
            </a:r>
          </a:p>
          <a:p>
            <a:r>
              <a:rPr lang="en-AU" sz="1200" b="1" i="1" kern="1200" dirty="0" smtClean="0">
                <a:solidFill>
                  <a:schemeClr val="tx1"/>
                </a:solidFill>
                <a:latin typeface="+mn-lt"/>
                <a:ea typeface="+mn-ea"/>
                <a:cs typeface="+mn-cs"/>
              </a:rPr>
              <a:t>Government agencies and authorities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Government agencies and authorities are often statutory bodies (bodies created under statute/legislation) formed by governments to oversee and administer the implementation of government policies in areas such as employment, training, and workplace safety.</a:t>
            </a:r>
          </a:p>
          <a:p>
            <a:r>
              <a:rPr lang="en-AU" sz="1200" kern="1200" dirty="0" smtClean="0">
                <a:solidFill>
                  <a:schemeClr val="tx1"/>
                </a:solidFill>
                <a:latin typeface="+mn-lt"/>
                <a:ea typeface="+mn-ea"/>
                <a:cs typeface="+mn-cs"/>
              </a:rPr>
              <a:t>The majority of their advice is provided free-of-charge (being paid for out of normal taxation revenue and/or from industry levies).</a:t>
            </a:r>
          </a:p>
          <a:p>
            <a:r>
              <a:rPr lang="en-AU" sz="1200" kern="1200" dirty="0" smtClean="0">
                <a:solidFill>
                  <a:schemeClr val="tx1"/>
                </a:solidFill>
                <a:latin typeface="+mn-lt"/>
                <a:ea typeface="+mn-ea"/>
                <a:cs typeface="+mn-cs"/>
              </a:rPr>
              <a:t>In some/limited cases they also will offer fee-for-service advice.</a:t>
            </a:r>
          </a:p>
          <a:p>
            <a:pPr>
              <a:buFont typeface="Arial" pitchFamily="34" charset="0"/>
              <a:buNone/>
            </a:pPr>
            <a:endParaRPr lang="en-AU" b="0"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Officer from local agency/authority to attend and:</a:t>
            </a:r>
          </a:p>
          <a:p>
            <a:pPr>
              <a:buFont typeface="Arial" pitchFamily="34" charset="0"/>
              <a:buChar char="•"/>
            </a:pPr>
            <a:r>
              <a:rPr lang="en-AU" b="0" noProof="0" dirty="0" smtClean="0"/>
              <a:t>Describe services they provide</a:t>
            </a:r>
          </a:p>
          <a:p>
            <a:pPr>
              <a:buFont typeface="Arial" pitchFamily="34" charset="0"/>
              <a:buChar char="•"/>
            </a:pPr>
            <a:r>
              <a:rPr lang="en-AU" b="0" noProof="0" dirty="0" smtClean="0"/>
              <a:t>Provide sample hard copy materials.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extLst>
      <p:ext uri="{BB962C8B-B14F-4D97-AF65-F5344CB8AC3E}">
        <p14:creationId xmlns:p14="http://schemas.microsoft.com/office/powerpoint/2010/main" val="1037576630"/>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services which may be provided by government agencies;</a:t>
            </a:r>
          </a:p>
          <a:p>
            <a:pPr>
              <a:buFont typeface="Arial" pitchFamily="34" charset="0"/>
              <a:buChar char="•"/>
            </a:pPr>
            <a:r>
              <a:rPr lang="en-AU" sz="1200" kern="1200" dirty="0" smtClean="0">
                <a:solidFill>
                  <a:schemeClr val="tx1"/>
                </a:solidFill>
                <a:latin typeface="+mn-lt"/>
                <a:ea typeface="+mn-ea"/>
                <a:cs typeface="+mn-cs"/>
              </a:rPr>
              <a:t>Hard copy information – such as:</a:t>
            </a:r>
          </a:p>
          <a:p>
            <a:pPr lvl="1">
              <a:buFont typeface="Arial" pitchFamily="34" charset="0"/>
              <a:buChar char="•"/>
            </a:pPr>
            <a:r>
              <a:rPr lang="en-AU" sz="1200" kern="1200" dirty="0" smtClean="0">
                <a:solidFill>
                  <a:schemeClr val="tx1"/>
                </a:solidFill>
                <a:latin typeface="+mn-lt"/>
                <a:ea typeface="+mn-ea"/>
                <a:cs typeface="+mn-cs"/>
              </a:rPr>
              <a:t>Copies of legislation and regulations</a:t>
            </a:r>
          </a:p>
          <a:p>
            <a:pPr lvl="1">
              <a:buFont typeface="Arial" pitchFamily="34" charset="0"/>
              <a:buChar char="•"/>
            </a:pPr>
            <a:r>
              <a:rPr lang="en-AU" sz="1200" kern="1200" dirty="0" smtClean="0">
                <a:solidFill>
                  <a:schemeClr val="tx1"/>
                </a:solidFill>
                <a:latin typeface="+mn-lt"/>
                <a:ea typeface="+mn-ea"/>
                <a:cs typeface="+mn-cs"/>
              </a:rPr>
              <a:t>Handouts including Alerts and Advice Sheets</a:t>
            </a:r>
          </a:p>
          <a:p>
            <a:pPr lvl="1">
              <a:buFont typeface="Arial" pitchFamily="34" charset="0"/>
              <a:buChar char="•"/>
            </a:pPr>
            <a:r>
              <a:rPr lang="en-AU" sz="1200" kern="1200" dirty="0" smtClean="0">
                <a:solidFill>
                  <a:schemeClr val="tx1"/>
                </a:solidFill>
                <a:latin typeface="+mn-lt"/>
                <a:ea typeface="+mn-ea"/>
                <a:cs typeface="+mn-cs"/>
              </a:rPr>
              <a:t>Sample/recommended Codes of Practice</a:t>
            </a:r>
          </a:p>
          <a:p>
            <a:pPr lvl="1">
              <a:buFont typeface="Arial" pitchFamily="34" charset="0"/>
              <a:buChar char="•"/>
            </a:pPr>
            <a:r>
              <a:rPr lang="en-AU" sz="1200" kern="1200" dirty="0" smtClean="0">
                <a:solidFill>
                  <a:schemeClr val="tx1"/>
                </a:solidFill>
                <a:latin typeface="+mn-lt"/>
                <a:ea typeface="+mn-ea"/>
                <a:cs typeface="+mn-cs"/>
              </a:rPr>
              <a:t>Sample employment instruments</a:t>
            </a:r>
          </a:p>
          <a:p>
            <a:pPr lvl="1">
              <a:buFont typeface="Arial" pitchFamily="34" charset="0"/>
              <a:buChar char="•"/>
            </a:pPr>
            <a:r>
              <a:rPr lang="en-AU" sz="1200" kern="1200" dirty="0" smtClean="0">
                <a:solidFill>
                  <a:schemeClr val="tx1"/>
                </a:solidFill>
                <a:latin typeface="+mn-lt"/>
                <a:ea typeface="+mn-ea"/>
                <a:cs typeface="+mn-cs"/>
              </a:rPr>
              <a:t>Samples of approved ‘agreed procedures’</a:t>
            </a:r>
          </a:p>
          <a:p>
            <a:pPr>
              <a:buFont typeface="Arial" pitchFamily="34" charset="0"/>
              <a:buChar char="•"/>
            </a:pPr>
            <a:r>
              <a:rPr lang="en-AU" sz="1200" kern="1200" dirty="0" smtClean="0">
                <a:solidFill>
                  <a:schemeClr val="tx1"/>
                </a:solidFill>
                <a:latin typeface="+mn-lt"/>
                <a:ea typeface="+mn-ea"/>
                <a:cs typeface="+mn-cs"/>
              </a:rPr>
              <a:t>Verbal advice – from officers and Inspectors, with reference to matters such as:</a:t>
            </a:r>
          </a:p>
          <a:p>
            <a:pPr lvl="1">
              <a:buFont typeface="Arial" pitchFamily="34" charset="0"/>
              <a:buChar char="•"/>
            </a:pPr>
            <a:r>
              <a:rPr lang="en-AU" sz="1200" kern="1200" dirty="0" smtClean="0">
                <a:solidFill>
                  <a:schemeClr val="tx1"/>
                </a:solidFill>
                <a:latin typeface="+mn-lt"/>
                <a:ea typeface="+mn-ea"/>
                <a:cs typeface="+mn-cs"/>
              </a:rPr>
              <a:t>Interpretation of legislation and terminology</a:t>
            </a:r>
          </a:p>
          <a:p>
            <a:pPr lvl="1">
              <a:buFont typeface="Arial" pitchFamily="34" charset="0"/>
              <a:buChar char="•"/>
            </a:pPr>
            <a:r>
              <a:rPr lang="en-AU" sz="1200" kern="1200" dirty="0" smtClean="0">
                <a:solidFill>
                  <a:schemeClr val="tx1"/>
                </a:solidFill>
                <a:latin typeface="+mn-lt"/>
                <a:ea typeface="+mn-ea"/>
                <a:cs typeface="+mn-cs"/>
              </a:rPr>
              <a:t>Anecdotal information together with historic and workplace-specific context</a:t>
            </a:r>
          </a:p>
          <a:p>
            <a:pPr lvl="1">
              <a:buFont typeface="Arial" pitchFamily="34" charset="0"/>
              <a:buChar char="•"/>
            </a:pPr>
            <a:r>
              <a:rPr lang="en-AU" sz="1200" kern="1200" dirty="0" smtClean="0">
                <a:solidFill>
                  <a:schemeClr val="tx1"/>
                </a:solidFill>
                <a:latin typeface="+mn-lt"/>
                <a:ea typeface="+mn-ea"/>
                <a:cs typeface="+mn-cs"/>
              </a:rPr>
              <a:t>Suggestions for action</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extLst>
      <p:ext uri="{BB962C8B-B14F-4D97-AF65-F5344CB8AC3E}">
        <p14:creationId xmlns:p14="http://schemas.microsoft.com/office/powerpoint/2010/main" val="62751358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services which may be provided by government agencies;</a:t>
            </a:r>
          </a:p>
          <a:p>
            <a:pPr>
              <a:buFont typeface="Arial" pitchFamily="34" charset="0"/>
              <a:buChar char="•"/>
            </a:pPr>
            <a:r>
              <a:rPr lang="en-AU" sz="1200" kern="1200" dirty="0" smtClean="0">
                <a:solidFill>
                  <a:schemeClr val="tx1"/>
                </a:solidFill>
                <a:latin typeface="+mn-lt"/>
                <a:ea typeface="+mn-ea"/>
                <a:cs typeface="+mn-cs"/>
              </a:rPr>
              <a:t>Workplace-specific visits – for the purposes of:</a:t>
            </a:r>
          </a:p>
          <a:p>
            <a:pPr lvl="1">
              <a:buFont typeface="Arial" pitchFamily="34" charset="0"/>
              <a:buChar char="•"/>
            </a:pPr>
            <a:r>
              <a:rPr lang="en-AU" sz="1200" kern="1200" dirty="0" smtClean="0">
                <a:solidFill>
                  <a:schemeClr val="tx1"/>
                </a:solidFill>
                <a:latin typeface="+mn-lt"/>
                <a:ea typeface="+mn-ea"/>
                <a:cs typeface="+mn-cs"/>
              </a:rPr>
              <a:t>Conducting inspections</a:t>
            </a:r>
          </a:p>
          <a:p>
            <a:pPr lvl="1">
              <a:buFont typeface="Arial" pitchFamily="34" charset="0"/>
              <a:buChar char="•"/>
            </a:pPr>
            <a:r>
              <a:rPr lang="en-AU" sz="1200" kern="1200" dirty="0" smtClean="0">
                <a:solidFill>
                  <a:schemeClr val="tx1"/>
                </a:solidFill>
                <a:latin typeface="+mn-lt"/>
                <a:ea typeface="+mn-ea"/>
                <a:cs typeface="+mn-cs"/>
              </a:rPr>
              <a:t>Examining documentation</a:t>
            </a:r>
          </a:p>
          <a:p>
            <a:pPr lvl="1">
              <a:buFont typeface="Arial" pitchFamily="34" charset="0"/>
              <a:buChar char="•"/>
            </a:pPr>
            <a:r>
              <a:rPr lang="en-AU" sz="1200" kern="1200" dirty="0" smtClean="0">
                <a:solidFill>
                  <a:schemeClr val="tx1"/>
                </a:solidFill>
                <a:latin typeface="+mn-lt"/>
                <a:ea typeface="+mn-ea"/>
                <a:cs typeface="+mn-cs"/>
              </a:rPr>
              <a:t>Providing training</a:t>
            </a:r>
          </a:p>
          <a:p>
            <a:pPr>
              <a:buFont typeface="Arial" pitchFamily="34" charset="0"/>
              <a:buChar char="•"/>
            </a:pPr>
            <a:r>
              <a:rPr lang="en-AU" sz="1200" kern="1200" dirty="0" smtClean="0">
                <a:solidFill>
                  <a:schemeClr val="tx1"/>
                </a:solidFill>
                <a:latin typeface="+mn-lt"/>
                <a:ea typeface="+mn-ea"/>
                <a:cs typeface="+mn-cs"/>
              </a:rPr>
              <a:t>Online references – which will address topics identified above plus:</a:t>
            </a:r>
          </a:p>
          <a:p>
            <a:pPr lvl="1">
              <a:buFont typeface="Arial" pitchFamily="34" charset="0"/>
              <a:buChar char="•"/>
            </a:pPr>
            <a:r>
              <a:rPr lang="en-AU" sz="1200" kern="1200" dirty="0" smtClean="0">
                <a:solidFill>
                  <a:schemeClr val="tx1"/>
                </a:solidFill>
                <a:latin typeface="+mn-lt"/>
                <a:ea typeface="+mn-ea"/>
                <a:cs typeface="+mn-cs"/>
              </a:rPr>
              <a:t>Links to other relevant sites </a:t>
            </a:r>
          </a:p>
          <a:p>
            <a:pPr lvl="1">
              <a:buFont typeface="Arial" pitchFamily="34" charset="0"/>
              <a:buChar char="•"/>
            </a:pPr>
            <a:r>
              <a:rPr lang="en-AU" sz="1200" kern="1200" dirty="0" smtClean="0">
                <a:solidFill>
                  <a:schemeClr val="tx1"/>
                </a:solidFill>
                <a:latin typeface="+mn-lt"/>
                <a:ea typeface="+mn-ea"/>
                <a:cs typeface="+mn-cs"/>
              </a:rPr>
              <a:t>Reports and statistics</a:t>
            </a:r>
          </a:p>
          <a:p>
            <a:pPr lvl="1">
              <a:buFont typeface="Arial" pitchFamily="34" charset="0"/>
              <a:buChar char="•"/>
            </a:pPr>
            <a:r>
              <a:rPr lang="en-AU" sz="1200" kern="1200" dirty="0" smtClean="0">
                <a:solidFill>
                  <a:schemeClr val="tx1"/>
                </a:solidFill>
                <a:latin typeface="+mn-lt"/>
                <a:ea typeface="+mn-ea"/>
                <a:cs typeface="+mn-cs"/>
              </a:rPr>
              <a:t>Industry initiatives – current and proposed</a:t>
            </a:r>
          </a:p>
          <a:p>
            <a:pPr lvl="1">
              <a:buFont typeface="Arial" pitchFamily="34" charset="0"/>
              <a:buChar char="•"/>
            </a:pPr>
            <a:r>
              <a:rPr lang="en-AU" sz="1200" kern="1200" dirty="0" smtClean="0">
                <a:solidFill>
                  <a:schemeClr val="tx1"/>
                </a:solidFill>
                <a:latin typeface="+mn-lt"/>
                <a:ea typeface="+mn-ea"/>
                <a:cs typeface="+mn-cs"/>
              </a:rPr>
              <a:t>Support and funding available to assist businesses with implementation and compliance</a:t>
            </a:r>
          </a:p>
          <a:p>
            <a:pPr lvl="1">
              <a:buFont typeface="Arial" pitchFamily="34" charset="0"/>
              <a:buChar char="•"/>
            </a:pPr>
            <a:r>
              <a:rPr lang="en-AU" sz="1200" kern="1200" dirty="0" smtClean="0">
                <a:solidFill>
                  <a:schemeClr val="tx1"/>
                </a:solidFill>
                <a:latin typeface="+mn-lt"/>
                <a:ea typeface="+mn-ea"/>
                <a:cs typeface="+mn-cs"/>
              </a:rPr>
              <a:t>Online access to a variety of mandatory reporting requirements as well as application and/or payment protocols</a:t>
            </a:r>
          </a:p>
          <a:p>
            <a:pPr lvl="1">
              <a:buFont typeface="Arial" pitchFamily="34" charset="0"/>
              <a:buChar char="•"/>
            </a:pPr>
            <a:r>
              <a:rPr lang="en-AU" sz="1200" kern="1200" dirty="0" smtClean="0">
                <a:solidFill>
                  <a:schemeClr val="tx1"/>
                </a:solidFill>
                <a:latin typeface="+mn-lt"/>
                <a:ea typeface="+mn-ea"/>
                <a:cs typeface="+mn-cs"/>
              </a:rPr>
              <a:t>General and specific enquiries.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It should be noted most government agencies/authorities </a:t>
            </a:r>
            <a:r>
              <a:rPr lang="en-AU" sz="1200" b="1" kern="1200" dirty="0" smtClean="0">
                <a:solidFill>
                  <a:schemeClr val="tx1"/>
                </a:solidFill>
                <a:latin typeface="+mn-lt"/>
                <a:ea typeface="+mn-ea"/>
                <a:cs typeface="+mn-cs"/>
              </a:rPr>
              <a:t>cannot have legal action taken against them</a:t>
            </a:r>
            <a:r>
              <a:rPr lang="en-AU" sz="1200" kern="1200" dirty="0" smtClean="0">
                <a:solidFill>
                  <a:schemeClr val="tx1"/>
                </a:solidFill>
                <a:latin typeface="+mn-lt"/>
                <a:ea typeface="+mn-ea"/>
                <a:cs typeface="+mn-cs"/>
              </a:rPr>
              <a:t> if they provide advice which proves to be incorrect and/or which causes damage or loss to the organisation.</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extLst>
      <p:ext uri="{BB962C8B-B14F-4D97-AF65-F5344CB8AC3E}">
        <p14:creationId xmlns:p14="http://schemas.microsoft.com/office/powerpoint/2010/main" val="1982033130"/>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extLst>
      <p:ext uri="{BB962C8B-B14F-4D97-AF65-F5344CB8AC3E}">
        <p14:creationId xmlns:p14="http://schemas.microsoft.com/office/powerpoint/2010/main" val="473367726"/>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extLst>
      <p:ext uri="{BB962C8B-B14F-4D97-AF65-F5344CB8AC3E}">
        <p14:creationId xmlns:p14="http://schemas.microsoft.com/office/powerpoint/2010/main" val="3968007643"/>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extLst>
      <p:ext uri="{BB962C8B-B14F-4D97-AF65-F5344CB8AC3E}">
        <p14:creationId xmlns:p14="http://schemas.microsoft.com/office/powerpoint/2010/main" val="2536297056"/>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extLst>
      <p:ext uri="{BB962C8B-B14F-4D97-AF65-F5344CB8AC3E}">
        <p14:creationId xmlns:p14="http://schemas.microsoft.com/office/powerpoint/2010/main" val="3027750377"/>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extLst>
      <p:ext uri="{BB962C8B-B14F-4D97-AF65-F5344CB8AC3E}">
        <p14:creationId xmlns:p14="http://schemas.microsoft.com/office/powerpoint/2010/main" val="2623602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7/4/2016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7/4/2016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7/4/2016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7/4/2016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7/4/2016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7/4/2016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99.jp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0.jp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1.jp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05.jp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99.jp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9592" y="332656"/>
            <a:ext cx="7488160" cy="936104"/>
          </a:xfrm>
        </p:spPr>
        <p:txBody>
          <a:bodyPr>
            <a:normAutofit fontScale="90000"/>
          </a:bodyPr>
          <a:lstStyle/>
          <a:p>
            <a:r>
              <a:rPr lang="en-AU" sz="4000" dirty="0" smtClean="0">
                <a:ln w="5000" cmpd="sng">
                  <a:noFill/>
                  <a:prstDash val="solid"/>
                </a:ln>
                <a:solidFill>
                  <a:srgbClr val="FF6600"/>
                </a:solidFill>
                <a:latin typeface="Helvetica" pitchFamily="34" charset="0"/>
              </a:rPr>
              <a:t>Manage and maintain workplace relations</a:t>
            </a:r>
            <a:endParaRPr lang="en-AU" sz="4000" dirty="0">
              <a:ln w="5000" cmpd="sng">
                <a:noFill/>
                <a:prstDash val="solid"/>
              </a:ln>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662584" y="1556792"/>
            <a:ext cx="5493592" cy="4104456"/>
            <a:chOff x="0" y="0"/>
            <a:chExt cx="7585544" cy="6098650"/>
          </a:xfrm>
        </p:grpSpPr>
        <p:pic>
          <p:nvPicPr>
            <p:cNvPr id="22" name="Picture 21"/>
            <p:cNvPicPr>
              <a:picLocks noChangeAspect="1"/>
            </p:cNvPicPr>
            <p:nvPr/>
          </p:nvPicPr>
          <p:blipFill rotWithShape="1">
            <a:blip r:embed="rId3" cstate="print">
              <a:extLst>
                <a:ext uri="{28A0092B-C50C-407E-A947-70E740481C1C}">
                  <a14:useLocalDpi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6" cstate="print">
              <a:extLst>
                <a:ext uri="{28A0092B-C50C-407E-A947-70E740481C1C}">
                  <a14:useLocalDpi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
        <p:nvSpPr>
          <p:cNvPr id="3" name="Subtitle 2"/>
          <p:cNvSpPr>
            <a:spLocks noGrp="1"/>
          </p:cNvSpPr>
          <p:nvPr>
            <p:ph type="subTitle" idx="1"/>
          </p:nvPr>
        </p:nvSpPr>
        <p:spPr>
          <a:xfrm>
            <a:off x="5796136" y="1466185"/>
            <a:ext cx="2541268" cy="1102005"/>
          </a:xfrm>
        </p:spPr>
        <p:txBody>
          <a:bodyPr>
            <a:noAutofit/>
          </a:bodyPr>
          <a:lstStyle/>
          <a:p>
            <a:r>
              <a:rPr lang="en-AU" b="1" dirty="0" smtClean="0">
                <a:latin typeface="Helvetica" pitchFamily="34" charset="0"/>
              </a:rPr>
              <a:t>D1.HML.CL10.17</a:t>
            </a:r>
          </a:p>
          <a:p>
            <a:r>
              <a:rPr lang="en-AU" b="1" dirty="0" smtClean="0">
                <a:latin typeface="Helvetica" pitchFamily="34" charset="0"/>
              </a:rPr>
              <a:t>D1.HRM.Cl9.15</a:t>
            </a:r>
          </a:p>
          <a:p>
            <a:r>
              <a:rPr lang="en-AU" b="1" dirty="0" smtClean="0">
                <a:latin typeface="Helvetica" pitchFamily="34" charset="0"/>
              </a:rPr>
              <a:t>D2.TRM.Cl9.14</a:t>
            </a:r>
            <a:endParaRPr lang="en-AU" b="1" dirty="0">
              <a:latin typeface="Helvetica"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Manage and maintain workplace relations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0" indent="0">
              <a:spcBef>
                <a:spcPts val="600"/>
              </a:spcBef>
              <a:spcAft>
                <a:spcPts val="1200"/>
              </a:spcAft>
              <a:buNone/>
            </a:pPr>
            <a:r>
              <a:rPr lang="en-US" sz="2200" b="1" dirty="0" smtClean="0">
                <a:latin typeface="Helvetica" pitchFamily="34" charset="0"/>
              </a:rPr>
              <a:t>This Unit comprises two Elements: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grpSp>
        <p:nvGrpSpPr>
          <p:cNvPr id="8" name="Group 7"/>
          <p:cNvGrpSpPr/>
          <p:nvPr/>
        </p:nvGrpSpPr>
        <p:grpSpPr>
          <a:xfrm>
            <a:off x="-2268760" y="2070463"/>
            <a:ext cx="9727487" cy="3883511"/>
            <a:chOff x="-2491191" y="3070840"/>
            <a:chExt cx="9727487" cy="3883511"/>
          </a:xfrm>
        </p:grpSpPr>
        <p:sp>
          <p:nvSpPr>
            <p:cNvPr id="9" name="Block Arc 8"/>
            <p:cNvSpPr/>
            <p:nvPr/>
          </p:nvSpPr>
          <p:spPr>
            <a:xfrm>
              <a:off x="-2491191" y="3070840"/>
              <a:ext cx="3883511" cy="3883511"/>
            </a:xfrm>
            <a:prstGeom prst="blockArc">
              <a:avLst>
                <a:gd name="adj1" fmla="val 18900000"/>
                <a:gd name="adj2" fmla="val 2700000"/>
                <a:gd name="adj3" fmla="val 556"/>
              </a:avLst>
            </a:prstGeom>
          </p:spPr>
          <p:style>
            <a:lnRef idx="2">
              <a:schemeClr val="dk2">
                <a:shade val="60000"/>
                <a:hueOff val="0"/>
                <a:satOff val="0"/>
                <a:lumOff val="0"/>
                <a:alphaOff val="0"/>
              </a:schemeClr>
            </a:lnRef>
            <a:fillRef idx="0">
              <a:schemeClr val="dk2">
                <a:hueOff val="0"/>
                <a:satOff val="0"/>
                <a:lumOff val="0"/>
                <a:alphaOff val="0"/>
              </a:schemeClr>
            </a:fillRef>
            <a:effectRef idx="0">
              <a:schemeClr val="dk2">
                <a:hueOff val="0"/>
                <a:satOff val="0"/>
                <a:lumOff val="0"/>
                <a:alphaOff val="0"/>
              </a:schemeClr>
            </a:effectRef>
            <a:fontRef idx="minor">
              <a:schemeClr val="tx1">
                <a:hueOff val="0"/>
                <a:satOff val="0"/>
                <a:lumOff val="0"/>
                <a:alphaOff val="0"/>
              </a:schemeClr>
            </a:fontRef>
          </p:style>
        </p:sp>
        <p:sp>
          <p:nvSpPr>
            <p:cNvPr id="10" name="Freeform 9"/>
            <p:cNvSpPr/>
            <p:nvPr/>
          </p:nvSpPr>
          <p:spPr>
            <a:xfrm>
              <a:off x="1250400" y="4012219"/>
              <a:ext cx="5985896" cy="765748"/>
            </a:xfrm>
            <a:custGeom>
              <a:avLst/>
              <a:gdLst>
                <a:gd name="connsiteX0" fmla="*/ 0 w 3462037"/>
                <a:gd name="connsiteY0" fmla="*/ 0 h 765748"/>
                <a:gd name="connsiteX1" fmla="*/ 3462037 w 3462037"/>
                <a:gd name="connsiteY1" fmla="*/ 0 h 765748"/>
                <a:gd name="connsiteX2" fmla="*/ 3462037 w 3462037"/>
                <a:gd name="connsiteY2" fmla="*/ 765748 h 765748"/>
                <a:gd name="connsiteX3" fmla="*/ 0 w 3462037"/>
                <a:gd name="connsiteY3" fmla="*/ 765748 h 765748"/>
                <a:gd name="connsiteX4" fmla="*/ 0 w 3462037"/>
                <a:gd name="connsiteY4" fmla="*/ 0 h 765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2037" h="765748">
                  <a:moveTo>
                    <a:pt x="0" y="0"/>
                  </a:moveTo>
                  <a:lnTo>
                    <a:pt x="3462037" y="0"/>
                  </a:lnTo>
                  <a:lnTo>
                    <a:pt x="3462037" y="765748"/>
                  </a:lnTo>
                  <a:lnTo>
                    <a:pt x="0" y="765748"/>
                  </a:lnTo>
                  <a:lnTo>
                    <a:pt x="0"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53401" tIns="55880" rIns="55880" bIns="55880" numCol="1" spcCol="1270" anchor="ctr" anchorCtr="0">
              <a:noAutofit/>
            </a:bodyPr>
            <a:lstStyle/>
            <a:p>
              <a:pPr lvl="0" algn="l" defTabSz="977900">
                <a:lnSpc>
                  <a:spcPct val="90000"/>
                </a:lnSpc>
                <a:spcBef>
                  <a:spcPct val="0"/>
                </a:spcBef>
                <a:spcAft>
                  <a:spcPct val="35000"/>
                </a:spcAft>
              </a:pPr>
              <a:r>
                <a:rPr lang="en-AU" sz="2200" kern="1200" dirty="0" smtClean="0">
                  <a:latin typeface="Helvetica" pitchFamily="34" charset="0"/>
                </a:rPr>
                <a:t>Build a positive industrial relations climate</a:t>
              </a:r>
              <a:endParaRPr lang="en-AU" sz="2200" kern="1200" dirty="0"/>
            </a:p>
          </p:txBody>
        </p:sp>
        <p:sp>
          <p:nvSpPr>
            <p:cNvPr id="11" name="Oval 10"/>
            <p:cNvSpPr/>
            <p:nvPr/>
          </p:nvSpPr>
          <p:spPr>
            <a:xfrm>
              <a:off x="759154" y="3880604"/>
              <a:ext cx="1028977" cy="1028977"/>
            </a:xfrm>
            <a:prstGeom prst="ellipse">
              <a:avLst/>
            </a:prstGeom>
          </p:spPr>
          <p:style>
            <a:lnRef idx="2">
              <a:schemeClr val="dk2">
                <a:hueOff val="0"/>
                <a:satOff val="0"/>
                <a:lumOff val="0"/>
                <a:alphaOff val="0"/>
              </a:schemeClr>
            </a:lnRef>
            <a:fillRef idx="1">
              <a:schemeClr val="lt2">
                <a:hueOff val="0"/>
                <a:satOff val="0"/>
                <a:lumOff val="0"/>
                <a:alphaOff val="0"/>
              </a:schemeClr>
            </a:fillRef>
            <a:effectRef idx="0">
              <a:schemeClr val="lt2">
                <a:hueOff val="0"/>
                <a:satOff val="0"/>
                <a:lumOff val="0"/>
                <a:alphaOff val="0"/>
              </a:schemeClr>
            </a:effectRef>
            <a:fontRef idx="minor">
              <a:schemeClr val="dk1">
                <a:hueOff val="0"/>
                <a:satOff val="0"/>
                <a:lumOff val="0"/>
                <a:alphaOff val="0"/>
              </a:schemeClr>
            </a:fontRef>
          </p:style>
        </p:sp>
        <p:sp>
          <p:nvSpPr>
            <p:cNvPr id="12" name="Freeform 11"/>
            <p:cNvSpPr/>
            <p:nvPr/>
          </p:nvSpPr>
          <p:spPr>
            <a:xfrm>
              <a:off x="1253978" y="5247222"/>
              <a:ext cx="5982318" cy="765748"/>
            </a:xfrm>
            <a:custGeom>
              <a:avLst/>
              <a:gdLst>
                <a:gd name="connsiteX0" fmla="*/ 0 w 3462037"/>
                <a:gd name="connsiteY0" fmla="*/ 0 h 765748"/>
                <a:gd name="connsiteX1" fmla="*/ 3462037 w 3462037"/>
                <a:gd name="connsiteY1" fmla="*/ 0 h 765748"/>
                <a:gd name="connsiteX2" fmla="*/ 3462037 w 3462037"/>
                <a:gd name="connsiteY2" fmla="*/ 765748 h 765748"/>
                <a:gd name="connsiteX3" fmla="*/ 0 w 3462037"/>
                <a:gd name="connsiteY3" fmla="*/ 765748 h 765748"/>
                <a:gd name="connsiteX4" fmla="*/ 0 w 3462037"/>
                <a:gd name="connsiteY4" fmla="*/ 0 h 765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2037" h="765748">
                  <a:moveTo>
                    <a:pt x="0" y="0"/>
                  </a:moveTo>
                  <a:lnTo>
                    <a:pt x="3462037" y="0"/>
                  </a:lnTo>
                  <a:lnTo>
                    <a:pt x="3462037" y="765748"/>
                  </a:lnTo>
                  <a:lnTo>
                    <a:pt x="0" y="765748"/>
                  </a:lnTo>
                  <a:lnTo>
                    <a:pt x="0"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53401" tIns="55880" rIns="55880" bIns="55880" numCol="1" spcCol="1270" anchor="ctr" anchorCtr="0">
              <a:noAutofit/>
            </a:bodyPr>
            <a:lstStyle/>
            <a:p>
              <a:pPr lvl="0" algn="l" defTabSz="977900">
                <a:lnSpc>
                  <a:spcPct val="90000"/>
                </a:lnSpc>
                <a:spcBef>
                  <a:spcPct val="0"/>
                </a:spcBef>
                <a:spcAft>
                  <a:spcPct val="35000"/>
                </a:spcAft>
              </a:pPr>
              <a:r>
                <a:rPr lang="en-AU" sz="2200" kern="1200" dirty="0" smtClean="0">
                  <a:latin typeface="Helvetica" pitchFamily="34" charset="0"/>
                </a:rPr>
                <a:t>Implement formal industrial procedures</a:t>
              </a:r>
              <a:endParaRPr lang="en-AU" sz="2200" kern="1200" dirty="0"/>
            </a:p>
          </p:txBody>
        </p:sp>
        <p:sp>
          <p:nvSpPr>
            <p:cNvPr id="13" name="Oval 12"/>
            <p:cNvSpPr/>
            <p:nvPr/>
          </p:nvSpPr>
          <p:spPr>
            <a:xfrm>
              <a:off x="759154" y="5115607"/>
              <a:ext cx="1028977" cy="1028977"/>
            </a:xfrm>
            <a:prstGeom prst="ellipse">
              <a:avLst/>
            </a:prstGeom>
          </p:spPr>
          <p:style>
            <a:lnRef idx="2">
              <a:schemeClr val="dk2">
                <a:hueOff val="0"/>
                <a:satOff val="0"/>
                <a:lumOff val="0"/>
                <a:alphaOff val="0"/>
              </a:schemeClr>
            </a:lnRef>
            <a:fillRef idx="1">
              <a:schemeClr val="lt2">
                <a:hueOff val="0"/>
                <a:satOff val="0"/>
                <a:lumOff val="0"/>
                <a:alphaOff val="0"/>
              </a:schemeClr>
            </a:fillRef>
            <a:effectRef idx="0">
              <a:schemeClr val="lt2">
                <a:hueOff val="0"/>
                <a:satOff val="0"/>
                <a:lumOff val="0"/>
                <a:alphaOff val="0"/>
              </a:schemeClr>
            </a:effectRef>
            <a:fontRef idx="minor">
              <a:schemeClr val="dk1">
                <a:hueOff val="0"/>
                <a:satOff val="0"/>
                <a:lumOff val="0"/>
                <a:alphaOff val="0"/>
              </a:schemeClr>
            </a:fontRef>
          </p:style>
        </p:sp>
      </p:grpSp>
      <p:sp>
        <p:nvSpPr>
          <p:cNvPr id="6" name="TextBox 5"/>
          <p:cNvSpPr txBox="1"/>
          <p:nvPr/>
        </p:nvSpPr>
        <p:spPr>
          <a:xfrm>
            <a:off x="1137713" y="3179271"/>
            <a:ext cx="720080" cy="430887"/>
          </a:xfrm>
          <a:prstGeom prst="rect">
            <a:avLst/>
          </a:prstGeom>
          <a:noFill/>
        </p:spPr>
        <p:txBody>
          <a:bodyPr wrap="square" rtlCol="0">
            <a:spAutoFit/>
          </a:bodyPr>
          <a:lstStyle/>
          <a:p>
            <a:pPr algn="ctr"/>
            <a:r>
              <a:rPr lang="en-AU" sz="2200" dirty="0">
                <a:latin typeface="Helvetica" pitchFamily="34" charset="0"/>
              </a:rPr>
              <a:t>1</a:t>
            </a:r>
          </a:p>
        </p:txBody>
      </p:sp>
      <p:sp>
        <p:nvSpPr>
          <p:cNvPr id="7" name="TextBox 6"/>
          <p:cNvSpPr txBox="1"/>
          <p:nvPr/>
        </p:nvSpPr>
        <p:spPr>
          <a:xfrm>
            <a:off x="1137713" y="4414275"/>
            <a:ext cx="720080" cy="430887"/>
          </a:xfrm>
          <a:prstGeom prst="rect">
            <a:avLst/>
          </a:prstGeom>
          <a:noFill/>
        </p:spPr>
        <p:txBody>
          <a:bodyPr wrap="square" rtlCol="0">
            <a:spAutoFit/>
          </a:bodyPr>
          <a:lstStyle/>
          <a:p>
            <a:pPr algn="ctr"/>
            <a:r>
              <a:rPr lang="en-AU" sz="2200" dirty="0" smtClean="0">
                <a:latin typeface="Helvetica" pitchFamily="34" charset="0"/>
              </a:rPr>
              <a:t>2</a:t>
            </a:r>
            <a:endParaRPr lang="en-AU" sz="2200" dirty="0">
              <a:latin typeface="Helvetica"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95325"/>
            <a:ext cx="7467600" cy="4525963"/>
          </a:xfrm>
        </p:spPr>
        <p:txBody>
          <a:bodyPr>
            <a:normAutofit/>
          </a:bodyPr>
          <a:lstStyle/>
          <a:p>
            <a:pPr marL="0" indent="0">
              <a:spcBef>
                <a:spcPts val="600"/>
              </a:spcBef>
              <a:spcAft>
                <a:spcPts val="1200"/>
              </a:spcAft>
              <a:buNone/>
            </a:pPr>
            <a:r>
              <a:rPr lang="en-US" sz="2200" dirty="0" smtClean="0"/>
              <a:t>Assessment for this unit may include:</a:t>
            </a:r>
          </a:p>
          <a:p>
            <a:pPr marL="360000" indent="-360000">
              <a:spcBef>
                <a:spcPts val="600"/>
              </a:spcBef>
              <a:spcAft>
                <a:spcPts val="1200"/>
              </a:spcAft>
              <a:buClr>
                <a:srgbClr val="7FD13B"/>
              </a:buClr>
            </a:pPr>
            <a:r>
              <a:rPr lang="en-US" sz="2200" dirty="0" smtClean="0"/>
              <a:t>Oral questions</a:t>
            </a:r>
          </a:p>
          <a:p>
            <a:pPr marL="360000" indent="-360000">
              <a:spcBef>
                <a:spcPts val="600"/>
              </a:spcBef>
              <a:spcAft>
                <a:spcPts val="1200"/>
              </a:spcAft>
              <a:buClr>
                <a:srgbClr val="7FD13B"/>
              </a:buClr>
            </a:pPr>
            <a:r>
              <a:rPr lang="en-US" sz="2200" dirty="0" smtClean="0"/>
              <a:t>Written questions</a:t>
            </a:r>
          </a:p>
          <a:p>
            <a:pPr marL="360000" indent="-360000">
              <a:spcBef>
                <a:spcPts val="600"/>
              </a:spcBef>
              <a:spcAft>
                <a:spcPts val="1200"/>
              </a:spcAft>
              <a:buClr>
                <a:srgbClr val="7FD13B"/>
              </a:buClr>
            </a:pPr>
            <a:r>
              <a:rPr lang="en-US" sz="2200" dirty="0" smtClean="0"/>
              <a:t>Work projects</a:t>
            </a:r>
          </a:p>
          <a:p>
            <a:pPr marL="360000" indent="-360000">
              <a:spcBef>
                <a:spcPts val="600"/>
              </a:spcBef>
              <a:spcAft>
                <a:spcPts val="1200"/>
              </a:spcAft>
              <a:buClr>
                <a:srgbClr val="7FD13B"/>
              </a:buClr>
            </a:pPr>
            <a:r>
              <a:rPr lang="en-US" sz="2200" dirty="0" smtClean="0"/>
              <a:t>Workplace observation of practical skills</a:t>
            </a:r>
          </a:p>
          <a:p>
            <a:pPr marL="360000" indent="-360000">
              <a:spcBef>
                <a:spcPts val="600"/>
              </a:spcBef>
              <a:spcAft>
                <a:spcPts val="1200"/>
              </a:spcAft>
              <a:buClr>
                <a:srgbClr val="7FD13B"/>
              </a:buClr>
            </a:pPr>
            <a:r>
              <a:rPr lang="en-US" sz="2200" dirty="0" smtClean="0"/>
              <a:t>Practical exercises</a:t>
            </a:r>
          </a:p>
          <a:p>
            <a:pPr marL="360000" indent="-360000">
              <a:spcBef>
                <a:spcPts val="600"/>
              </a:spcBef>
              <a:spcAft>
                <a:spcPts val="1200"/>
              </a:spcAft>
              <a:buClr>
                <a:srgbClr val="7FD13B"/>
              </a:buClr>
            </a:pPr>
            <a:r>
              <a:rPr lang="en-US" sz="2200" dirty="0" smtClean="0"/>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6084168" y="4365104"/>
            <a:ext cx="2560320" cy="1704442"/>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1 – </a:t>
            </a:r>
            <a:r>
              <a:rPr lang="en-AU" sz="3400" b="1" dirty="0" smtClean="0">
                <a:solidFill>
                  <a:srgbClr val="FF6600"/>
                </a:solidFill>
                <a:latin typeface="Helvetica" pitchFamily="34" charset="0"/>
              </a:rPr>
              <a:t>Build a positive industrial relations climate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08512"/>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AU" sz="2200" dirty="0" smtClean="0">
                <a:latin typeface="Helvetica" pitchFamily="34" charset="0"/>
              </a:rPr>
              <a:t>Provide employees with accurate and impartial information on industrial matters likely to affect them</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Identify workplace changes or issues which may cause industrial unrest promptly and take appropriate action</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Identify potential causes of industrial unrest </a:t>
            </a:r>
            <a:br>
              <a:rPr lang="en-AU" sz="2200" dirty="0" smtClean="0">
                <a:latin typeface="Helvetica" pitchFamily="34" charset="0"/>
              </a:rPr>
            </a:br>
            <a:r>
              <a:rPr lang="en-AU" sz="2200" dirty="0" smtClean="0">
                <a:latin typeface="Helvetica" pitchFamily="34" charset="0"/>
              </a:rPr>
              <a:t>in external environments promptly and </a:t>
            </a:r>
            <a:br>
              <a:rPr lang="en-AU" sz="2200" dirty="0" smtClean="0">
                <a:latin typeface="Helvetica" pitchFamily="34" charset="0"/>
              </a:rPr>
            </a:br>
            <a:r>
              <a:rPr lang="en-AU" sz="2200" dirty="0" smtClean="0">
                <a:latin typeface="Helvetica" pitchFamily="34" charset="0"/>
              </a:rPr>
              <a:t>take appropriate action</a:t>
            </a: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95421" y="3933056"/>
            <a:ext cx="1668230" cy="1367949"/>
          </a:xfrm>
          <a:prstGeom prst="ellipse">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1 – </a:t>
            </a:r>
            <a:r>
              <a:rPr lang="en-AU" sz="3400" b="1" dirty="0" smtClean="0">
                <a:solidFill>
                  <a:srgbClr val="FF6600"/>
                </a:solidFill>
                <a:latin typeface="Helvetica" pitchFamily="34" charset="0"/>
              </a:rPr>
              <a:t>Build a positive industrial relations climate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Apply conditions of employment in accordance with relevant legislation and industrial awards/agreements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Implement mechanisms for consulting with staff and facilitating two-way communication</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Ensure induction and training initiatives are used effectively to develop a competent workforce</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Utilise consultation processes for the </a:t>
            </a:r>
            <a:br>
              <a:rPr lang="en-AU" sz="2200" dirty="0" smtClean="0">
                <a:latin typeface="Helvetica" pitchFamily="34" charset="0"/>
              </a:rPr>
            </a:br>
            <a:r>
              <a:rPr lang="en-AU" sz="2200" dirty="0" smtClean="0">
                <a:latin typeface="Helvetica" pitchFamily="34" charset="0"/>
              </a:rPr>
              <a:t>identification and resolution of grievances </a:t>
            </a:r>
            <a:br>
              <a:rPr lang="en-AU" sz="2200" dirty="0" smtClean="0">
                <a:latin typeface="Helvetica" pitchFamily="34" charset="0"/>
              </a:rPr>
            </a:br>
            <a:r>
              <a:rPr lang="en-AU" sz="2200" dirty="0" smtClean="0">
                <a:latin typeface="Helvetica" pitchFamily="34" charset="0"/>
              </a:rPr>
              <a:t>and the implementation of new work practices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95421" y="3933056"/>
            <a:ext cx="1668230" cy="1367949"/>
          </a:xfrm>
          <a:prstGeom prst="ellipse">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Context for the unit:</a:t>
            </a:r>
          </a:p>
          <a:p>
            <a:pPr marL="360000" indent="-360000">
              <a:spcBef>
                <a:spcPts val="600"/>
              </a:spcBef>
              <a:spcAft>
                <a:spcPts val="1200"/>
              </a:spcAft>
            </a:pPr>
            <a:r>
              <a:rPr lang="en-AU" sz="2200" dirty="0" smtClean="0">
                <a:latin typeface="Helvetica" pitchFamily="34" charset="0"/>
              </a:rPr>
              <a:t>Deals with the skills and knowledge required to manage and maintain workplace relations in a range of settings</a:t>
            </a:r>
          </a:p>
          <a:p>
            <a:pPr marL="360000" indent="-360000">
              <a:spcBef>
                <a:spcPts val="600"/>
              </a:spcBef>
              <a:spcAft>
                <a:spcPts val="1200"/>
              </a:spcAft>
            </a:pPr>
            <a:r>
              <a:rPr lang="en-AU" sz="2200" dirty="0" smtClean="0">
                <a:latin typeface="Helvetica" pitchFamily="34" charset="0"/>
              </a:rPr>
              <a:t>Is intended for management-level employees</a:t>
            </a:r>
          </a:p>
          <a:p>
            <a:pPr marL="360000" indent="-360000">
              <a:spcBef>
                <a:spcPts val="600"/>
              </a:spcBef>
              <a:spcAft>
                <a:spcPts val="1200"/>
              </a:spcAft>
            </a:pPr>
            <a:r>
              <a:rPr lang="en-AU" sz="2200" dirty="0" smtClean="0">
                <a:latin typeface="Helvetica" pitchFamily="34" charset="0"/>
              </a:rPr>
              <a:t>Must accommodate:</a:t>
            </a:r>
          </a:p>
          <a:p>
            <a:pPr marL="702900" indent="-342900">
              <a:spcBef>
                <a:spcPts val="600"/>
              </a:spcBef>
              <a:spcAft>
                <a:spcPts val="1200"/>
              </a:spcAft>
              <a:buClr>
                <a:srgbClr val="7FD13B"/>
              </a:buClr>
              <a:buSzPct val="100000"/>
              <a:buFont typeface="Arial" pitchFamily="34" charset="0"/>
              <a:buChar char="•"/>
            </a:pPr>
            <a:r>
              <a:rPr lang="en-AU" sz="2200" dirty="0" smtClean="0">
                <a:latin typeface="Helvetica" pitchFamily="34" charset="0"/>
              </a:rPr>
              <a:t>Host country legislation</a:t>
            </a:r>
          </a:p>
          <a:p>
            <a:pPr marL="702900" indent="-342900">
              <a:spcBef>
                <a:spcPts val="600"/>
              </a:spcBef>
              <a:spcAft>
                <a:spcPts val="1200"/>
              </a:spcAft>
              <a:buClr>
                <a:srgbClr val="7FD13B"/>
              </a:buClr>
              <a:buSzPct val="100000"/>
              <a:buFont typeface="Arial" pitchFamily="34" charset="0"/>
              <a:buChar char="•"/>
            </a:pPr>
            <a:r>
              <a:rPr lang="en-AU" sz="2200" dirty="0" smtClean="0">
                <a:latin typeface="Helvetica" pitchFamily="34" charset="0"/>
              </a:rPr>
              <a:t>Individual organisational protocols</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3861048"/>
            <a:ext cx="2411760" cy="160784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The </a:t>
            </a:r>
            <a:r>
              <a:rPr lang="en-AU" sz="2200" dirty="0" smtClean="0">
                <a:latin typeface="Helvetica" pitchFamily="34" charset="0"/>
              </a:rPr>
              <a:t>ASEAN Ministers of Labour have adopted a set of nine ‘Guidelines on Good Industrial Relations Practice’ addressing</a:t>
            </a:r>
            <a:r>
              <a:rPr lang="en-US" sz="2200" dirty="0" smtClean="0">
                <a:latin typeface="Helvetica" pitchFamily="34" charset="0"/>
              </a:rPr>
              <a:t>:</a:t>
            </a:r>
          </a:p>
          <a:p>
            <a:pPr marL="714375" indent="-714375">
              <a:spcBef>
                <a:spcPts val="600"/>
              </a:spcBef>
              <a:spcAft>
                <a:spcPts val="1200"/>
              </a:spcAft>
              <a:buNone/>
            </a:pPr>
            <a:r>
              <a:rPr lang="en-US" sz="2200" dirty="0" smtClean="0">
                <a:latin typeface="Helvetica" pitchFamily="34" charset="0"/>
              </a:rPr>
              <a:t>(1)	Legal framework</a:t>
            </a:r>
          </a:p>
          <a:p>
            <a:pPr marL="714375" indent="-714375">
              <a:spcBef>
                <a:spcPts val="600"/>
              </a:spcBef>
              <a:spcAft>
                <a:spcPts val="1200"/>
              </a:spcAft>
              <a:buNone/>
            </a:pPr>
            <a:r>
              <a:rPr lang="en-US" sz="2200" dirty="0" smtClean="0">
                <a:latin typeface="Helvetica" pitchFamily="34" charset="0"/>
              </a:rPr>
              <a:t>(2)	</a:t>
            </a:r>
            <a:r>
              <a:rPr lang="en-AU" sz="2200" dirty="0" smtClean="0">
                <a:latin typeface="Helvetica" pitchFamily="34" charset="0"/>
              </a:rPr>
              <a:t>Fundamental rights of employers and workers</a:t>
            </a:r>
          </a:p>
          <a:p>
            <a:pPr marL="0" indent="0">
              <a:spcBef>
                <a:spcPts val="600"/>
              </a:spcBef>
              <a:spcAft>
                <a:spcPts val="1200"/>
              </a:spcAft>
              <a:buNone/>
            </a:pPr>
            <a:endParaRPr lang="en-AU" sz="2200" dirty="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4149080"/>
            <a:ext cx="2327920" cy="1548067"/>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60848"/>
            <a:ext cx="7467600" cy="4021907"/>
          </a:xfrm>
        </p:spPr>
        <p:txBody>
          <a:bodyPr>
            <a:normAutofit/>
          </a:bodyPr>
          <a:lstStyle/>
          <a:p>
            <a:pPr marL="714375" indent="-714375">
              <a:spcBef>
                <a:spcPts val="600"/>
              </a:spcBef>
              <a:spcAft>
                <a:spcPts val="1200"/>
              </a:spcAft>
              <a:buNone/>
            </a:pPr>
            <a:r>
              <a:rPr lang="en-US" sz="2200" dirty="0" smtClean="0">
                <a:latin typeface="Helvetica" pitchFamily="34" charset="0"/>
              </a:rPr>
              <a:t>(3)	</a:t>
            </a:r>
            <a:r>
              <a:rPr lang="en-AU" sz="2200" dirty="0" smtClean="0">
                <a:latin typeface="Helvetica" pitchFamily="34" charset="0"/>
              </a:rPr>
              <a:t>Bipartite cooperation and collaboration</a:t>
            </a:r>
          </a:p>
          <a:p>
            <a:pPr marL="714375" indent="-714375">
              <a:spcBef>
                <a:spcPts val="600"/>
              </a:spcBef>
              <a:spcAft>
                <a:spcPts val="1200"/>
              </a:spcAft>
              <a:buNone/>
            </a:pPr>
            <a:r>
              <a:rPr lang="en-US" sz="2200" dirty="0" smtClean="0">
                <a:latin typeface="Helvetica" pitchFamily="34" charset="0"/>
              </a:rPr>
              <a:t>(4)	</a:t>
            </a:r>
            <a:r>
              <a:rPr lang="en-AU" sz="2200" dirty="0" smtClean="0">
                <a:latin typeface="Helvetica" pitchFamily="34" charset="0"/>
              </a:rPr>
              <a:t>Building mutual trust and respect</a:t>
            </a:r>
          </a:p>
          <a:p>
            <a:pPr marL="714375" indent="-714375">
              <a:spcBef>
                <a:spcPts val="600"/>
              </a:spcBef>
              <a:spcAft>
                <a:spcPts val="1200"/>
              </a:spcAft>
              <a:buNone/>
            </a:pPr>
            <a:endParaRPr lang="en-US" sz="2200" dirty="0" smtClean="0">
              <a:latin typeface="Helvetica" pitchFamily="34" charset="0"/>
            </a:endParaRPr>
          </a:p>
          <a:p>
            <a:pPr marL="714375" indent="-714375">
              <a:spcBef>
                <a:spcPts val="600"/>
              </a:spcBef>
              <a:spcAft>
                <a:spcPts val="1200"/>
              </a:spcAft>
              <a:buNone/>
            </a:pPr>
            <a:endParaRPr lang="en-US" sz="2200" dirty="0" smtClean="0">
              <a:latin typeface="Helvetica" pitchFamily="34" charset="0"/>
            </a:endParaRPr>
          </a:p>
          <a:p>
            <a:pPr marL="714375" indent="-714375">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7759" y="2903984"/>
            <a:ext cx="2327920" cy="2146342"/>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16832"/>
            <a:ext cx="7467600" cy="4165923"/>
          </a:xfrm>
        </p:spPr>
        <p:txBody>
          <a:bodyPr>
            <a:normAutofit/>
          </a:bodyPr>
          <a:lstStyle/>
          <a:p>
            <a:pPr marL="714375" indent="-714375">
              <a:spcBef>
                <a:spcPts val="600"/>
              </a:spcBef>
              <a:spcAft>
                <a:spcPts val="1200"/>
              </a:spcAft>
              <a:buNone/>
            </a:pPr>
            <a:r>
              <a:rPr lang="en-US" sz="2200" dirty="0" smtClean="0">
                <a:latin typeface="Helvetica" pitchFamily="34" charset="0"/>
              </a:rPr>
              <a:t>(5)	</a:t>
            </a:r>
            <a:r>
              <a:rPr lang="en-AU" sz="2200" dirty="0" smtClean="0">
                <a:latin typeface="Helvetica" pitchFamily="34" charset="0"/>
              </a:rPr>
              <a:t>Mutuality of purpose and benefits</a:t>
            </a:r>
            <a:endParaRPr lang="en-US" sz="2200" dirty="0" smtClean="0">
              <a:latin typeface="Helvetica" pitchFamily="34" charset="0"/>
            </a:endParaRPr>
          </a:p>
          <a:p>
            <a:pPr marL="714375" indent="-714375">
              <a:spcBef>
                <a:spcPts val="600"/>
              </a:spcBef>
              <a:spcAft>
                <a:spcPts val="1200"/>
              </a:spcAft>
              <a:buNone/>
            </a:pPr>
            <a:r>
              <a:rPr lang="en-US" sz="2200" dirty="0" smtClean="0">
                <a:latin typeface="Helvetica" pitchFamily="34" charset="0"/>
              </a:rPr>
              <a:t>(6)	</a:t>
            </a:r>
            <a:r>
              <a:rPr lang="en-AU" sz="2200" dirty="0" smtClean="0">
                <a:latin typeface="Helvetica" pitchFamily="34" charset="0"/>
              </a:rPr>
              <a:t>Dignity at work and highlighting best practices</a:t>
            </a:r>
          </a:p>
          <a:p>
            <a:pPr marL="714375" indent="-714375">
              <a:spcBef>
                <a:spcPts val="600"/>
              </a:spcBef>
              <a:spcAft>
                <a:spcPts val="1200"/>
              </a:spcAft>
              <a:buNone/>
            </a:pPr>
            <a:endParaRPr lang="en-US" sz="2200" dirty="0" smtClean="0">
              <a:latin typeface="Helvetica" pitchFamily="34" charset="0"/>
            </a:endParaRPr>
          </a:p>
          <a:p>
            <a:pPr marL="714375" indent="-714375">
              <a:spcBef>
                <a:spcPts val="600"/>
              </a:spcBef>
              <a:spcAft>
                <a:spcPts val="1200"/>
              </a:spcAft>
              <a:buNone/>
            </a:pPr>
            <a:endParaRPr lang="en-US" sz="2200" dirty="0">
              <a:latin typeface="Helvetica" pitchFamily="34" charset="0"/>
            </a:endParaRPr>
          </a:p>
          <a:p>
            <a:pPr marL="714375" indent="-714375">
              <a:spcBef>
                <a:spcPts val="600"/>
              </a:spcBef>
              <a:spcAft>
                <a:spcPts val="1200"/>
              </a:spcAft>
              <a:buNone/>
            </a:pPr>
            <a:endParaRPr lang="en-US" sz="2200" dirty="0" smtClean="0">
              <a:latin typeface="Helvetica" pitchFamily="34" charset="0"/>
            </a:endParaRPr>
          </a:p>
          <a:p>
            <a:pPr marL="714375" indent="-714375">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37785" y="3501008"/>
            <a:ext cx="2039888" cy="2039888"/>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7467600" cy="4093915"/>
          </a:xfrm>
        </p:spPr>
        <p:txBody>
          <a:bodyPr>
            <a:normAutofit/>
          </a:bodyPr>
          <a:lstStyle/>
          <a:p>
            <a:pPr marL="714375" indent="-714375">
              <a:spcBef>
                <a:spcPts val="600"/>
              </a:spcBef>
              <a:spcAft>
                <a:spcPts val="1200"/>
              </a:spcAft>
              <a:buNone/>
            </a:pPr>
            <a:r>
              <a:rPr lang="en-US" sz="2200" dirty="0" smtClean="0">
                <a:latin typeface="Helvetica" pitchFamily="34" charset="0"/>
              </a:rPr>
              <a:t>(7)	</a:t>
            </a:r>
            <a:r>
              <a:rPr lang="en-AU" sz="2200" dirty="0" smtClean="0">
                <a:latin typeface="Helvetica" pitchFamily="34" charset="0"/>
              </a:rPr>
              <a:t>Good faith behaviour</a:t>
            </a:r>
          </a:p>
          <a:p>
            <a:pPr marL="714375" indent="-714375">
              <a:spcBef>
                <a:spcPts val="600"/>
              </a:spcBef>
              <a:spcAft>
                <a:spcPts val="1200"/>
              </a:spcAft>
              <a:buNone/>
            </a:pPr>
            <a:r>
              <a:rPr lang="en-US" sz="2200" dirty="0" smtClean="0">
                <a:latin typeface="Helvetica" pitchFamily="34" charset="0"/>
              </a:rPr>
              <a:t>(8)	</a:t>
            </a:r>
            <a:r>
              <a:rPr lang="en-AU" sz="2200" dirty="0" smtClean="0">
                <a:latin typeface="Helvetica" pitchFamily="34" charset="0"/>
              </a:rPr>
              <a:t>Effective labour dispute settlement</a:t>
            </a:r>
          </a:p>
          <a:p>
            <a:pPr marL="714375" indent="-714375">
              <a:spcBef>
                <a:spcPts val="600"/>
              </a:spcBef>
              <a:spcAft>
                <a:spcPts val="1200"/>
              </a:spcAft>
              <a:buNone/>
            </a:pPr>
            <a:r>
              <a:rPr lang="en-US" sz="2200" dirty="0" smtClean="0">
                <a:latin typeface="Helvetica" pitchFamily="34" charset="0"/>
              </a:rPr>
              <a:t>(9)	</a:t>
            </a:r>
            <a:r>
              <a:rPr lang="en-AU" sz="2200" dirty="0" smtClean="0">
                <a:latin typeface="Helvetica" pitchFamily="34" charset="0"/>
              </a:rPr>
              <a:t>Tripartite partnership and social dialogue</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27784" y="4005064"/>
            <a:ext cx="2112235" cy="1584176"/>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indent="0">
              <a:spcBef>
                <a:spcPts val="600"/>
              </a:spcBef>
              <a:spcAft>
                <a:spcPts val="1200"/>
              </a:spcAft>
              <a:buNone/>
            </a:pPr>
            <a:r>
              <a:rPr lang="en-US" sz="2200" dirty="0" smtClean="0">
                <a:latin typeface="Helvetica" pitchFamily="34" charset="0"/>
              </a:rPr>
              <a:t>‘Conditions of Employment’:</a:t>
            </a:r>
          </a:p>
          <a:p>
            <a:pPr marL="360000" indent="-360000">
              <a:spcBef>
                <a:spcPts val="600"/>
              </a:spcBef>
              <a:spcAft>
                <a:spcPts val="1200"/>
              </a:spcAft>
            </a:pPr>
            <a:r>
              <a:rPr lang="en-US" sz="2200" dirty="0" smtClean="0">
                <a:latin typeface="Helvetica" pitchFamily="34" charset="0"/>
              </a:rPr>
              <a:t>Are the terms/conditions under which a person is employed</a:t>
            </a:r>
          </a:p>
          <a:p>
            <a:pPr marL="360000" indent="-360000">
              <a:spcBef>
                <a:spcPts val="600"/>
              </a:spcBef>
              <a:spcAft>
                <a:spcPts val="1200"/>
              </a:spcAft>
            </a:pPr>
            <a:r>
              <a:rPr lang="en-US" sz="2200" dirty="0" smtClean="0">
                <a:latin typeface="Helvetica" pitchFamily="34" charset="0"/>
              </a:rPr>
              <a:t>Represent minimum arrangements to be observed (employers may provide more, but not less)</a:t>
            </a:r>
          </a:p>
          <a:p>
            <a:pPr marL="360000" indent="-360000">
              <a:spcBef>
                <a:spcPts val="600"/>
              </a:spcBef>
              <a:spcAft>
                <a:spcPts val="1200"/>
              </a:spcAft>
            </a:pPr>
            <a:r>
              <a:rPr lang="en-US" sz="2200" dirty="0" smtClean="0">
                <a:latin typeface="Helvetica" pitchFamily="34" charset="0"/>
              </a:rPr>
              <a:t>Must be adhered to by employers – they are not optional</a:t>
            </a:r>
          </a:p>
          <a:p>
            <a:pPr marL="360000" indent="-360000">
              <a:spcBef>
                <a:spcPts val="600"/>
              </a:spcBef>
              <a:spcAft>
                <a:spcPts val="1200"/>
              </a:spcAft>
            </a:pPr>
            <a:r>
              <a:rPr lang="en-US" sz="2200" dirty="0" smtClean="0">
                <a:latin typeface="Helvetica" pitchFamily="34" charset="0"/>
              </a:rPr>
              <a:t>Form the basis of the employment </a:t>
            </a:r>
            <a:br>
              <a:rPr lang="en-US" sz="2200" dirty="0" smtClean="0">
                <a:latin typeface="Helvetica" pitchFamily="34" charset="0"/>
              </a:rPr>
            </a:br>
            <a:r>
              <a:rPr lang="en-US" sz="2200" dirty="0" smtClean="0">
                <a:latin typeface="Helvetica" pitchFamily="34" charset="0"/>
              </a:rPr>
              <a:t>contract between workers and </a:t>
            </a:r>
            <a:br>
              <a:rPr lang="en-US" sz="2200" dirty="0" smtClean="0">
                <a:latin typeface="Helvetica" pitchFamily="34" charset="0"/>
              </a:rPr>
            </a:br>
            <a:r>
              <a:rPr lang="en-US" sz="2200" dirty="0" smtClean="0">
                <a:latin typeface="Helvetica" pitchFamily="34" charset="0"/>
              </a:rPr>
              <a:t>their employer</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0152" y="4509119"/>
            <a:ext cx="2471936" cy="1648781"/>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US" sz="2200" dirty="0" smtClean="0">
                <a:latin typeface="Helvetica" pitchFamily="34" charset="0"/>
              </a:rPr>
              <a:t>‘Conditions of Employment’ may be:</a:t>
            </a:r>
          </a:p>
          <a:p>
            <a:pPr marL="360000" indent="-360000">
              <a:spcBef>
                <a:spcPts val="600"/>
              </a:spcBef>
              <a:spcAft>
                <a:spcPts val="1200"/>
              </a:spcAft>
            </a:pPr>
            <a:r>
              <a:rPr lang="en-US" sz="2200" dirty="0" smtClean="0">
                <a:latin typeface="Helvetica" pitchFamily="34" charset="0"/>
              </a:rPr>
              <a:t>Prescribed by legislation</a:t>
            </a:r>
          </a:p>
          <a:p>
            <a:pPr marL="360000" indent="-360000">
              <a:spcBef>
                <a:spcPts val="600"/>
              </a:spcBef>
              <a:spcAft>
                <a:spcPts val="1200"/>
              </a:spcAft>
            </a:pPr>
            <a:r>
              <a:rPr lang="en-US" sz="2200" dirty="0" smtClean="0">
                <a:latin typeface="Helvetica" pitchFamily="34" charset="0"/>
              </a:rPr>
              <a:t>Contained in a standard employment contract</a:t>
            </a:r>
          </a:p>
          <a:p>
            <a:pPr marL="360000" indent="-360000">
              <a:spcBef>
                <a:spcPts val="600"/>
              </a:spcBef>
              <a:spcAft>
                <a:spcPts val="1200"/>
              </a:spcAft>
            </a:pPr>
            <a:r>
              <a:rPr lang="en-US" sz="2200" dirty="0" smtClean="0">
                <a:latin typeface="Helvetica" pitchFamily="34" charset="0"/>
              </a:rPr>
              <a:t>Negotiated between employer and employee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6136" y="4221088"/>
            <a:ext cx="2617575" cy="1745923"/>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US" sz="2200" dirty="0" smtClean="0">
                <a:latin typeface="Helvetica" pitchFamily="34" charset="0"/>
              </a:rPr>
              <a:t>‘Conditions of Employment’ may include/relate to:</a:t>
            </a:r>
          </a:p>
          <a:p>
            <a:pPr marL="360000" indent="-360000">
              <a:spcBef>
                <a:spcPts val="600"/>
              </a:spcBef>
              <a:spcAft>
                <a:spcPts val="1200"/>
              </a:spcAft>
            </a:pPr>
            <a:r>
              <a:rPr lang="en-US" sz="2200" dirty="0" smtClean="0">
                <a:latin typeface="Helvetica" pitchFamily="34" charset="0"/>
              </a:rPr>
              <a:t>Probationary period</a:t>
            </a:r>
          </a:p>
          <a:p>
            <a:pPr marL="360000" indent="-360000">
              <a:spcBef>
                <a:spcPts val="600"/>
              </a:spcBef>
              <a:spcAft>
                <a:spcPts val="1200"/>
              </a:spcAft>
            </a:pPr>
            <a:r>
              <a:rPr lang="en-US" sz="2200" dirty="0" smtClean="0">
                <a:latin typeface="Helvetica" pitchFamily="34" charset="0"/>
              </a:rPr>
              <a:t>Wages/payments (‘remuneration’)</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4077072"/>
            <a:ext cx="2399928" cy="1600752"/>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360000" indent="-360000">
              <a:spcBef>
                <a:spcPts val="600"/>
              </a:spcBef>
              <a:spcAft>
                <a:spcPts val="1200"/>
              </a:spcAft>
            </a:pPr>
            <a:r>
              <a:rPr lang="en-US" sz="2200" dirty="0" smtClean="0">
                <a:latin typeface="Helvetica" pitchFamily="34" charset="0"/>
              </a:rPr>
              <a:t>Health and safety</a:t>
            </a:r>
          </a:p>
          <a:p>
            <a:pPr marL="360000" indent="-360000">
              <a:spcBef>
                <a:spcPts val="600"/>
              </a:spcBef>
              <a:spcAft>
                <a:spcPts val="1200"/>
              </a:spcAft>
            </a:pPr>
            <a:r>
              <a:rPr lang="en-US" sz="2200" dirty="0" smtClean="0">
                <a:latin typeface="Helvetica" pitchFamily="34" charset="0"/>
              </a:rPr>
              <a:t>Conditions under which work takes place</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2996952"/>
            <a:ext cx="3048000" cy="199644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7467600" cy="4093915"/>
          </a:xfrm>
        </p:spPr>
        <p:txBody>
          <a:bodyPr>
            <a:normAutofit/>
          </a:bodyPr>
          <a:lstStyle/>
          <a:p>
            <a:pPr marL="360000" indent="-360000">
              <a:spcBef>
                <a:spcPts val="600"/>
              </a:spcBef>
              <a:spcAft>
                <a:spcPts val="1200"/>
              </a:spcAft>
            </a:pPr>
            <a:r>
              <a:rPr lang="en-US" sz="2200" dirty="0" smtClean="0">
                <a:latin typeface="Helvetica" pitchFamily="34" charset="0"/>
              </a:rPr>
              <a:t>Dress standards</a:t>
            </a:r>
          </a:p>
          <a:p>
            <a:pPr marL="360000" indent="-360000">
              <a:spcBef>
                <a:spcPts val="600"/>
              </a:spcBef>
              <a:spcAft>
                <a:spcPts val="1200"/>
              </a:spcAft>
            </a:pPr>
            <a:r>
              <a:rPr lang="en-US" sz="2200" dirty="0" smtClean="0">
                <a:latin typeface="Helvetica" pitchFamily="34" charset="0"/>
              </a:rPr>
              <a:t>Flexible working arrangements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3" y="1772816"/>
            <a:ext cx="3001455" cy="3212976"/>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360000" indent="-360000">
              <a:spcBef>
                <a:spcPts val="600"/>
              </a:spcBef>
              <a:spcAft>
                <a:spcPts val="1200"/>
              </a:spcAft>
            </a:pPr>
            <a:r>
              <a:rPr lang="en-US" sz="2200" dirty="0" smtClean="0">
                <a:latin typeface="Helvetica" pitchFamily="34" charset="0"/>
              </a:rPr>
              <a:t>Access to training/PD</a:t>
            </a:r>
          </a:p>
          <a:p>
            <a:pPr marL="360000" indent="-360000">
              <a:spcBef>
                <a:spcPts val="600"/>
              </a:spcBef>
              <a:spcAft>
                <a:spcPts val="1200"/>
              </a:spcAft>
            </a:pPr>
            <a:r>
              <a:rPr lang="en-US" sz="2200" dirty="0" smtClean="0">
                <a:latin typeface="Helvetica" pitchFamily="34" charset="0"/>
              </a:rPr>
              <a:t>Termination</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6176" y="3669459"/>
            <a:ext cx="2286000" cy="170688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360000" indent="-360000">
              <a:spcBef>
                <a:spcPts val="600"/>
              </a:spcBef>
              <a:spcAft>
                <a:spcPts val="1200"/>
              </a:spcAft>
            </a:pPr>
            <a:r>
              <a:rPr lang="en-US" sz="2200" dirty="0" smtClean="0">
                <a:latin typeface="Helvetica" pitchFamily="34" charset="0"/>
              </a:rPr>
              <a:t>Need for confidentiality</a:t>
            </a:r>
          </a:p>
          <a:p>
            <a:pPr marL="360000" indent="-360000">
              <a:spcBef>
                <a:spcPts val="600"/>
              </a:spcBef>
              <a:spcAft>
                <a:spcPts val="1200"/>
              </a:spcAft>
            </a:pPr>
            <a:r>
              <a:rPr lang="en-US" sz="2200" dirty="0" smtClean="0">
                <a:latin typeface="Helvetica" pitchFamily="34" charset="0"/>
              </a:rPr>
              <a:t>Restrictions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3645024"/>
            <a:ext cx="2687960" cy="1787493"/>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0207" y="4149080"/>
            <a:ext cx="3059832" cy="1965907"/>
          </a:xfrm>
          <a:prstGeom prst="rect">
            <a:avLst/>
          </a:prstGeom>
        </p:spPr>
      </p:pic>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08512"/>
          </a:xfrm>
        </p:spPr>
        <p:txBody>
          <a:bodyPr>
            <a:normAutofit/>
          </a:bodyPr>
          <a:lstStyle/>
          <a:p>
            <a:pPr marL="0" indent="0">
              <a:spcBef>
                <a:spcPts val="600"/>
              </a:spcBef>
              <a:spcAft>
                <a:spcPts val="1200"/>
              </a:spcAft>
              <a:buNone/>
            </a:pPr>
            <a:r>
              <a:rPr lang="en-US" sz="2200" dirty="0" smtClean="0">
                <a:latin typeface="Helvetica" pitchFamily="34" charset="0"/>
              </a:rPr>
              <a:t>‘Letters of Offer’:</a:t>
            </a:r>
          </a:p>
          <a:p>
            <a:pPr marL="360000" indent="-360000">
              <a:spcBef>
                <a:spcPts val="600"/>
              </a:spcBef>
              <a:spcAft>
                <a:spcPts val="1200"/>
              </a:spcAft>
            </a:pPr>
            <a:r>
              <a:rPr lang="en-US" sz="2200" dirty="0" smtClean="0">
                <a:latin typeface="Helvetica" pitchFamily="34" charset="0"/>
              </a:rPr>
              <a:t>Contain ‘Conditions of Employment’</a:t>
            </a:r>
          </a:p>
          <a:p>
            <a:pPr marL="360000" indent="-360000">
              <a:spcBef>
                <a:spcPts val="600"/>
              </a:spcBef>
              <a:spcAft>
                <a:spcPts val="1200"/>
              </a:spcAft>
            </a:pPr>
            <a:r>
              <a:rPr lang="en-US" sz="2200" dirty="0" smtClean="0">
                <a:latin typeface="Helvetica" pitchFamily="34" charset="0"/>
              </a:rPr>
              <a:t>Sent to successful job applicants</a:t>
            </a:r>
          </a:p>
          <a:p>
            <a:pPr marL="360000" indent="-360000">
              <a:spcBef>
                <a:spcPts val="600"/>
              </a:spcBef>
              <a:spcAft>
                <a:spcPts val="1200"/>
              </a:spcAft>
            </a:pPr>
            <a:r>
              <a:rPr lang="en-US" sz="2200" dirty="0" smtClean="0">
                <a:latin typeface="Helvetica" pitchFamily="34" charset="0"/>
              </a:rPr>
              <a:t>Need to be signed to indicate applicant accepts the job offer and the Conditions of Employment offered by the employer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680520"/>
          </a:xfrm>
        </p:spPr>
        <p:txBody>
          <a:bodyPr>
            <a:normAutofit/>
          </a:bodyPr>
          <a:lstStyle/>
          <a:p>
            <a:pPr marL="0" indent="0">
              <a:spcBef>
                <a:spcPts val="600"/>
              </a:spcBef>
              <a:spcAft>
                <a:spcPts val="1200"/>
              </a:spcAft>
              <a:buNone/>
            </a:pPr>
            <a:r>
              <a:rPr lang="en-US" sz="2200" dirty="0" smtClean="0">
                <a:latin typeface="Helvetica" pitchFamily="34" charset="0"/>
              </a:rPr>
              <a:t>‘Personnel Files’ are established for every employee and may contain:</a:t>
            </a:r>
          </a:p>
          <a:p>
            <a:pPr marL="360000" indent="-360000">
              <a:spcBef>
                <a:spcPts val="600"/>
              </a:spcBef>
              <a:spcAft>
                <a:spcPts val="1200"/>
              </a:spcAft>
            </a:pPr>
            <a:r>
              <a:rPr lang="en-US" sz="2200" dirty="0" smtClean="0">
                <a:latin typeface="Helvetica" pitchFamily="34" charset="0"/>
              </a:rPr>
              <a:t>Copy of Job Statement</a:t>
            </a:r>
          </a:p>
          <a:p>
            <a:pPr marL="360000" indent="-360000">
              <a:spcBef>
                <a:spcPts val="600"/>
              </a:spcBef>
              <a:spcAft>
                <a:spcPts val="1200"/>
              </a:spcAft>
            </a:pPr>
            <a:r>
              <a:rPr lang="en-US" sz="2200" dirty="0" smtClean="0">
                <a:latin typeface="Helvetica" pitchFamily="34" charset="0"/>
              </a:rPr>
              <a:t>Copy of job vacancy advertisement</a:t>
            </a:r>
          </a:p>
          <a:p>
            <a:pPr marL="360000" indent="-360000">
              <a:spcBef>
                <a:spcPts val="600"/>
              </a:spcBef>
              <a:spcAft>
                <a:spcPts val="1200"/>
              </a:spcAft>
            </a:pPr>
            <a:r>
              <a:rPr lang="en-US" sz="2200" dirty="0" smtClean="0">
                <a:latin typeface="Helvetica" pitchFamily="34" charset="0"/>
              </a:rPr>
              <a:t>Copy of staff member’s application for </a:t>
            </a:r>
            <a:br>
              <a:rPr lang="en-US" sz="2200" dirty="0" smtClean="0">
                <a:latin typeface="Helvetica" pitchFamily="34" charset="0"/>
              </a:rPr>
            </a:br>
            <a:r>
              <a:rPr lang="en-US" sz="2200" dirty="0" smtClean="0">
                <a:latin typeface="Helvetica" pitchFamily="34" charset="0"/>
              </a:rPr>
              <a:t>the position</a:t>
            </a:r>
          </a:p>
          <a:p>
            <a:pPr marL="360000" indent="-360000">
              <a:spcBef>
                <a:spcPts val="600"/>
              </a:spcBef>
              <a:spcAft>
                <a:spcPts val="1200"/>
              </a:spcAft>
            </a:pPr>
            <a:r>
              <a:rPr lang="en-US" sz="2200" dirty="0" smtClean="0">
                <a:latin typeface="Helvetica" pitchFamily="34" charset="0"/>
              </a:rPr>
              <a:t>Details of selection interview conducted</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6216" y="2996952"/>
            <a:ext cx="1805947" cy="270892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AU" sz="2200" dirty="0" smtClean="0">
                <a:latin typeface="Helvetica" pitchFamily="34" charset="0"/>
              </a:rPr>
              <a:t>Signed copy of Letter of Offer</a:t>
            </a:r>
          </a:p>
          <a:p>
            <a:pPr marL="360000" indent="-360000">
              <a:spcBef>
                <a:spcPts val="600"/>
              </a:spcBef>
              <a:spcAft>
                <a:spcPts val="1200"/>
              </a:spcAft>
            </a:pPr>
            <a:r>
              <a:rPr lang="en-AU" sz="2200" dirty="0" smtClean="0">
                <a:latin typeface="Helvetica" pitchFamily="34" charset="0"/>
              </a:rPr>
              <a:t>Ongoing ‘performance management/appraisal’ details</a:t>
            </a:r>
          </a:p>
          <a:p>
            <a:pPr marL="360000" indent="-360000">
              <a:spcBef>
                <a:spcPts val="600"/>
              </a:spcBef>
              <a:spcAft>
                <a:spcPts val="1200"/>
              </a:spcAft>
            </a:pPr>
            <a:r>
              <a:rPr lang="en-AU" sz="2200" dirty="0" smtClean="0">
                <a:latin typeface="Helvetica" pitchFamily="34" charset="0"/>
              </a:rPr>
              <a:t>Details of training/PD undertaken and results of same</a:t>
            </a:r>
          </a:p>
          <a:p>
            <a:pPr marL="360000" indent="-360000">
              <a:spcBef>
                <a:spcPts val="600"/>
              </a:spcBef>
              <a:spcAft>
                <a:spcPts val="1200"/>
              </a:spcAft>
            </a:pPr>
            <a:r>
              <a:rPr lang="en-AU" sz="2200" dirty="0" smtClean="0">
                <a:latin typeface="Helvetica" pitchFamily="34" charset="0"/>
              </a:rPr>
              <a:t>Details of qualifications, certificates or </a:t>
            </a:r>
            <a:br>
              <a:rPr lang="en-AU" sz="2200" dirty="0" smtClean="0">
                <a:latin typeface="Helvetica" pitchFamily="34" charset="0"/>
              </a:rPr>
            </a:br>
            <a:r>
              <a:rPr lang="en-AU" sz="2200" dirty="0" smtClean="0">
                <a:latin typeface="Helvetica" pitchFamily="34" charset="0"/>
              </a:rPr>
              <a:t>licences obtained after initial employment</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r>
              <a:rPr lang="en-AU" sz="2200" i="1" dirty="0" smtClean="0">
                <a:latin typeface="Helvetica" pitchFamily="34" charset="0"/>
              </a:rPr>
              <a:t>(Continued)</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r="8784"/>
          <a:stretch/>
        </p:blipFill>
        <p:spPr>
          <a:xfrm>
            <a:off x="6312498" y="3429000"/>
            <a:ext cx="2147934" cy="2636912"/>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16832"/>
            <a:ext cx="7467600" cy="4165923"/>
          </a:xfrm>
        </p:spPr>
        <p:txBody>
          <a:bodyPr>
            <a:normAutofit/>
          </a:bodyPr>
          <a:lstStyle/>
          <a:p>
            <a:pPr marL="360000" indent="-360000">
              <a:spcBef>
                <a:spcPts val="600"/>
              </a:spcBef>
              <a:spcAft>
                <a:spcPts val="1200"/>
              </a:spcAft>
            </a:pPr>
            <a:r>
              <a:rPr lang="en-US" sz="2200" dirty="0" smtClean="0">
                <a:latin typeface="Helvetica" pitchFamily="34" charset="0"/>
              </a:rPr>
              <a:t>Details of any disciplinary action taken in relation to the individual</a:t>
            </a:r>
          </a:p>
          <a:p>
            <a:pPr marL="360000" indent="-360000">
              <a:spcBef>
                <a:spcPts val="600"/>
              </a:spcBef>
              <a:spcAft>
                <a:spcPts val="1200"/>
              </a:spcAft>
            </a:pPr>
            <a:r>
              <a:rPr lang="en-US" sz="2200" dirty="0" smtClean="0">
                <a:latin typeface="Helvetica" pitchFamily="34" charset="0"/>
              </a:rPr>
              <a:t>Details of ‘extra responsibilities’ given to </a:t>
            </a:r>
            <a:br>
              <a:rPr lang="en-US" sz="2200" dirty="0" smtClean="0">
                <a:latin typeface="Helvetica" pitchFamily="34" charset="0"/>
              </a:rPr>
            </a:br>
            <a:r>
              <a:rPr lang="en-US" sz="2200" dirty="0" smtClean="0">
                <a:latin typeface="Helvetica" pitchFamily="34" charset="0"/>
              </a:rPr>
              <a:t>the person together with report on their </a:t>
            </a:r>
            <a:br>
              <a:rPr lang="en-US" sz="2200" dirty="0" smtClean="0">
                <a:latin typeface="Helvetica" pitchFamily="34" charset="0"/>
              </a:rPr>
            </a:br>
            <a:r>
              <a:rPr lang="en-US" sz="2200" dirty="0" smtClean="0">
                <a:latin typeface="Helvetica" pitchFamily="34" charset="0"/>
              </a:rPr>
              <a:t>performance in this capacity</a:t>
            </a:r>
          </a:p>
          <a:p>
            <a:pPr marL="360000" indent="-360000">
              <a:spcBef>
                <a:spcPts val="600"/>
              </a:spcBef>
              <a:spcAft>
                <a:spcPts val="1200"/>
              </a:spcAft>
            </a:pPr>
            <a:r>
              <a:rPr lang="en-US" sz="2200" dirty="0" smtClean="0">
                <a:latin typeface="Helvetica" pitchFamily="34" charset="0"/>
              </a:rPr>
              <a:t>Details of promotions earned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6216" y="2996952"/>
            <a:ext cx="1898382" cy="2852936"/>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US" sz="2200" dirty="0" smtClean="0">
                <a:latin typeface="Helvetica" pitchFamily="34" charset="0"/>
              </a:rPr>
              <a:t>Many organisations produce a ‘Job Statement’ for positions within the business – this is a document combining:</a:t>
            </a:r>
          </a:p>
          <a:p>
            <a:pPr marL="360000" indent="-360000">
              <a:spcBef>
                <a:spcPts val="600"/>
              </a:spcBef>
              <a:spcAft>
                <a:spcPts val="1200"/>
              </a:spcAft>
            </a:pPr>
            <a:r>
              <a:rPr lang="en-US" sz="2200" dirty="0" smtClean="0">
                <a:latin typeface="Helvetica" pitchFamily="34" charset="0"/>
              </a:rPr>
              <a:t>The Job Description</a:t>
            </a:r>
          </a:p>
          <a:p>
            <a:pPr marL="360000" indent="-360000">
              <a:spcBef>
                <a:spcPts val="600"/>
              </a:spcBef>
              <a:spcAft>
                <a:spcPts val="1200"/>
              </a:spcAft>
            </a:pPr>
            <a:r>
              <a:rPr lang="en-US" sz="2200" dirty="0" smtClean="0">
                <a:latin typeface="Helvetica" pitchFamily="34" charset="0"/>
              </a:rPr>
              <a:t>The Job Statement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200" y="2852936"/>
            <a:ext cx="2034779" cy="2575077"/>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632848" cy="4824536"/>
          </a:xfrm>
        </p:spPr>
        <p:txBody>
          <a:bodyPr>
            <a:normAutofit lnSpcReduction="10000"/>
          </a:bodyPr>
          <a:lstStyle/>
          <a:p>
            <a:pPr marL="0" indent="0">
              <a:spcBef>
                <a:spcPts val="600"/>
              </a:spcBef>
              <a:spcAft>
                <a:spcPts val="1200"/>
              </a:spcAft>
              <a:buNone/>
            </a:pPr>
            <a:r>
              <a:rPr lang="en-US" sz="2200" dirty="0" smtClean="0">
                <a:latin typeface="Helvetica" pitchFamily="34" charset="0"/>
              </a:rPr>
              <a:t>Note:</a:t>
            </a:r>
          </a:p>
          <a:p>
            <a:pPr marL="360000" indent="-360000">
              <a:spcBef>
                <a:spcPts val="600"/>
              </a:spcBef>
              <a:spcAft>
                <a:spcPts val="1200"/>
              </a:spcAft>
            </a:pPr>
            <a:r>
              <a:rPr lang="en-US" sz="2200" dirty="0" smtClean="0">
                <a:latin typeface="Helvetica" pitchFamily="34" charset="0"/>
              </a:rPr>
              <a:t>Job Description also known as ‘Position Description’ or PD</a:t>
            </a:r>
          </a:p>
          <a:p>
            <a:pPr marL="360000" indent="-360000">
              <a:spcBef>
                <a:spcPts val="600"/>
              </a:spcBef>
              <a:spcAft>
                <a:spcPts val="1200"/>
              </a:spcAft>
            </a:pPr>
            <a:r>
              <a:rPr lang="en-US" sz="2200" dirty="0" smtClean="0">
                <a:latin typeface="Helvetica" pitchFamily="34" charset="0"/>
              </a:rPr>
              <a:t>Job Specification also known as ‘Person Specification’</a:t>
            </a:r>
          </a:p>
          <a:p>
            <a:pPr marL="360000" indent="-360000">
              <a:spcBef>
                <a:spcPts val="600"/>
              </a:spcBef>
              <a:spcAft>
                <a:spcPts val="1200"/>
              </a:spcAft>
            </a:pPr>
            <a:r>
              <a:rPr lang="en-US" sz="2200" dirty="0" smtClean="0">
                <a:latin typeface="Helvetica" pitchFamily="34" charset="0"/>
              </a:rPr>
              <a:t>Not all businesses have ‘Job Statements’ even though they may have separate Job Descriptions and Job Statements</a:t>
            </a:r>
          </a:p>
          <a:p>
            <a:pPr marL="360000" indent="-360000">
              <a:spcBef>
                <a:spcPts val="600"/>
              </a:spcBef>
              <a:spcAft>
                <a:spcPts val="1200"/>
              </a:spcAft>
            </a:pPr>
            <a:r>
              <a:rPr lang="en-US" sz="2200" dirty="0" smtClean="0">
                <a:latin typeface="Helvetica" pitchFamily="34" charset="0"/>
              </a:rPr>
              <a:t>Documents may exist for some positions but not for others</a:t>
            </a:r>
          </a:p>
          <a:p>
            <a:pPr marL="360000" indent="-360000">
              <a:spcBef>
                <a:spcPts val="600"/>
              </a:spcBef>
              <a:spcAft>
                <a:spcPts val="1200"/>
              </a:spcAft>
            </a:pPr>
            <a:r>
              <a:rPr lang="en-US" sz="2200" dirty="0" smtClean="0">
                <a:latin typeface="Helvetica" pitchFamily="34" charset="0"/>
              </a:rPr>
              <a:t>Job documentation must be revised regularly to maintain its currency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US" sz="2200" dirty="0" smtClean="0">
                <a:latin typeface="Helvetica" pitchFamily="34" charset="0"/>
              </a:rPr>
              <a:t>Job Description may contain:</a:t>
            </a:r>
          </a:p>
          <a:p>
            <a:pPr marL="360000" indent="-360000">
              <a:spcBef>
                <a:spcPts val="600"/>
              </a:spcBef>
              <a:spcAft>
                <a:spcPts val="1200"/>
              </a:spcAft>
            </a:pPr>
            <a:r>
              <a:rPr lang="en-US" sz="2200" dirty="0" smtClean="0">
                <a:latin typeface="Helvetica" pitchFamily="34" charset="0"/>
              </a:rPr>
              <a:t>Title of the job/role/position</a:t>
            </a:r>
          </a:p>
          <a:p>
            <a:pPr marL="360000" indent="-360000">
              <a:spcBef>
                <a:spcPts val="600"/>
              </a:spcBef>
              <a:spcAft>
                <a:spcPts val="1200"/>
              </a:spcAft>
            </a:pPr>
            <a:r>
              <a:rPr lang="en-US" sz="2200" dirty="0" smtClean="0">
                <a:latin typeface="Helvetica" pitchFamily="34" charset="0"/>
              </a:rPr>
              <a:t>Location of the job</a:t>
            </a:r>
          </a:p>
          <a:p>
            <a:pPr marL="360000" indent="-360000">
              <a:spcBef>
                <a:spcPts val="600"/>
              </a:spcBef>
              <a:spcAft>
                <a:spcPts val="1200"/>
              </a:spcAft>
            </a:pPr>
            <a:r>
              <a:rPr lang="en-US" sz="2200" dirty="0" smtClean="0">
                <a:latin typeface="Helvetica" pitchFamily="34" charset="0"/>
              </a:rPr>
              <a:t>Job responsibilities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99851" y="3356992"/>
            <a:ext cx="2039345" cy="2255912"/>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752528"/>
          </a:xfrm>
        </p:spPr>
        <p:txBody>
          <a:bodyPr>
            <a:normAutofit/>
          </a:bodyPr>
          <a:lstStyle/>
          <a:p>
            <a:pPr marL="360000" indent="-360000">
              <a:spcBef>
                <a:spcPts val="600"/>
              </a:spcBef>
              <a:spcAft>
                <a:spcPts val="1200"/>
              </a:spcAft>
            </a:pPr>
            <a:r>
              <a:rPr lang="en-US" sz="2200" dirty="0" smtClean="0">
                <a:latin typeface="Helvetica" pitchFamily="34" charset="0"/>
              </a:rPr>
              <a:t>Day-to-day tasks/duties of the job</a:t>
            </a:r>
          </a:p>
          <a:p>
            <a:pPr marL="360000" indent="-360000">
              <a:spcBef>
                <a:spcPts val="600"/>
              </a:spcBef>
              <a:spcAft>
                <a:spcPts val="1200"/>
              </a:spcAft>
            </a:pPr>
            <a:r>
              <a:rPr lang="en-US" sz="2200" dirty="0" smtClean="0">
                <a:latin typeface="Helvetica" pitchFamily="34" charset="0"/>
              </a:rPr>
              <a:t>Job title the position reports to</a:t>
            </a:r>
          </a:p>
          <a:p>
            <a:pPr marL="360000" indent="-360000">
              <a:spcBef>
                <a:spcPts val="600"/>
              </a:spcBef>
              <a:spcAft>
                <a:spcPts val="1200"/>
              </a:spcAft>
            </a:pPr>
            <a:r>
              <a:rPr lang="en-US" sz="2200" dirty="0" smtClean="0">
                <a:latin typeface="Helvetica" pitchFamily="34" charset="0"/>
              </a:rPr>
              <a:t>Number of people supervised (if applicable)</a:t>
            </a:r>
          </a:p>
          <a:p>
            <a:pPr marL="360000" indent="-360000">
              <a:spcBef>
                <a:spcPts val="600"/>
              </a:spcBef>
              <a:spcAft>
                <a:spcPts val="1200"/>
              </a:spcAft>
            </a:pPr>
            <a:r>
              <a:rPr lang="en-US" sz="2200" dirty="0" smtClean="0">
                <a:latin typeface="Helvetica" pitchFamily="34" charset="0"/>
              </a:rPr>
              <a:t>Working conditions </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99792" y="3861048"/>
            <a:ext cx="3048000" cy="1228344"/>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360000" indent="-360000">
              <a:spcBef>
                <a:spcPts val="600"/>
              </a:spcBef>
              <a:spcAft>
                <a:spcPts val="1200"/>
              </a:spcAft>
            </a:pPr>
            <a:r>
              <a:rPr lang="en-US" sz="2200" dirty="0" smtClean="0">
                <a:latin typeface="Helvetica" pitchFamily="34" charset="0"/>
              </a:rPr>
              <a:t>Workplace hazards</a:t>
            </a:r>
          </a:p>
          <a:p>
            <a:pPr marL="360000" indent="-360000">
              <a:spcBef>
                <a:spcPts val="600"/>
              </a:spcBef>
              <a:spcAft>
                <a:spcPts val="1200"/>
              </a:spcAft>
            </a:pPr>
            <a:r>
              <a:rPr lang="en-US" sz="2200" dirty="0" smtClean="0">
                <a:latin typeface="Helvetica" pitchFamily="34" charset="0"/>
              </a:rPr>
              <a:t>Special work procedures to be followed in the job</a:t>
            </a:r>
          </a:p>
          <a:p>
            <a:pPr marL="360000" indent="-360000">
              <a:spcBef>
                <a:spcPts val="600"/>
              </a:spcBef>
              <a:spcAft>
                <a:spcPts val="1200"/>
              </a:spcAft>
            </a:pPr>
            <a:r>
              <a:rPr lang="en-US" sz="2200" dirty="0" smtClean="0">
                <a:latin typeface="Helvetica" pitchFamily="34" charset="0"/>
              </a:rPr>
              <a:t>Equipment which is used</a:t>
            </a:r>
          </a:p>
          <a:p>
            <a:pPr marL="360000" indent="-360000">
              <a:spcBef>
                <a:spcPts val="600"/>
              </a:spcBef>
              <a:spcAft>
                <a:spcPts val="1200"/>
              </a:spcAft>
            </a:pPr>
            <a:r>
              <a:rPr lang="en-US" sz="2200" dirty="0" smtClean="0">
                <a:latin typeface="Helvetica" pitchFamily="34" charset="0"/>
              </a:rPr>
              <a:t>Output standards required</a:t>
            </a:r>
          </a:p>
          <a:p>
            <a:pPr marL="360000" indent="-360000">
              <a:spcBef>
                <a:spcPts val="600"/>
              </a:spcBef>
              <a:spcAft>
                <a:spcPts val="1200"/>
              </a:spcAft>
            </a:pPr>
            <a:r>
              <a:rPr lang="en-US" sz="2200" dirty="0" smtClean="0">
                <a:latin typeface="Helvetica" pitchFamily="34" charset="0"/>
              </a:rPr>
              <a:t>Type of work measurement/s used to </a:t>
            </a:r>
            <a:br>
              <a:rPr lang="en-US" sz="2200" dirty="0" smtClean="0">
                <a:latin typeface="Helvetica" pitchFamily="34" charset="0"/>
              </a:rPr>
            </a:br>
            <a:r>
              <a:rPr lang="en-US" sz="2200" dirty="0" smtClean="0">
                <a:latin typeface="Helvetica" pitchFamily="34" charset="0"/>
              </a:rPr>
              <a:t>assess performance of individual in </a:t>
            </a:r>
            <a:br>
              <a:rPr lang="en-US" sz="2200" dirty="0" smtClean="0">
                <a:latin typeface="Helvetica" pitchFamily="34" charset="0"/>
              </a:rPr>
            </a:br>
            <a:r>
              <a:rPr lang="en-US" sz="2200" dirty="0" smtClean="0">
                <a:latin typeface="Helvetica" pitchFamily="34" charset="0"/>
              </a:rPr>
              <a:t>the job</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4168" y="2996952"/>
            <a:ext cx="2039888" cy="2039888"/>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792"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US" sz="2200" dirty="0" smtClean="0">
                <a:latin typeface="Helvetica" pitchFamily="34" charset="0"/>
              </a:rPr>
              <a:t>Job Specifications:</a:t>
            </a:r>
          </a:p>
          <a:p>
            <a:pPr marL="360000" indent="-360000">
              <a:spcBef>
                <a:spcPts val="600"/>
              </a:spcBef>
              <a:spcAft>
                <a:spcPts val="1200"/>
              </a:spcAft>
            </a:pPr>
            <a:r>
              <a:rPr lang="en-US" sz="2200" dirty="0" smtClean="0">
                <a:latin typeface="Helvetica" pitchFamily="34" charset="0"/>
              </a:rPr>
              <a:t>Will be formulated based on analysis </a:t>
            </a:r>
            <a:br>
              <a:rPr lang="en-US" sz="2200" dirty="0" smtClean="0">
                <a:latin typeface="Helvetica" pitchFamily="34" charset="0"/>
              </a:rPr>
            </a:br>
            <a:r>
              <a:rPr lang="en-US" sz="2200" dirty="0" smtClean="0">
                <a:latin typeface="Helvetica" pitchFamily="34" charset="0"/>
              </a:rPr>
              <a:t>of the individual job/position to </a:t>
            </a:r>
            <a:br>
              <a:rPr lang="en-US" sz="2200" dirty="0" smtClean="0">
                <a:latin typeface="Helvetica" pitchFamily="34" charset="0"/>
              </a:rPr>
            </a:br>
            <a:r>
              <a:rPr lang="en-US" sz="2200" dirty="0" smtClean="0">
                <a:latin typeface="Helvetica" pitchFamily="34" charset="0"/>
              </a:rPr>
              <a:t>determine type of person required </a:t>
            </a:r>
            <a:br>
              <a:rPr lang="en-US" sz="2200" dirty="0" smtClean="0">
                <a:latin typeface="Helvetica" pitchFamily="34" charset="0"/>
              </a:rPr>
            </a:br>
            <a:r>
              <a:rPr lang="en-US" sz="2200" dirty="0" smtClean="0">
                <a:latin typeface="Helvetica" pitchFamily="34" charset="0"/>
              </a:rPr>
              <a:t>for the job</a:t>
            </a:r>
          </a:p>
          <a:p>
            <a:pPr marL="360000" indent="-360000">
              <a:spcBef>
                <a:spcPts val="600"/>
              </a:spcBef>
              <a:spcAft>
                <a:spcPts val="1200"/>
              </a:spcAft>
            </a:pPr>
            <a:r>
              <a:rPr lang="en-US" sz="2200" dirty="0" smtClean="0">
                <a:latin typeface="Helvetica" pitchFamily="34" charset="0"/>
              </a:rPr>
              <a:t>Address ‘human qualities’ required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2420888"/>
            <a:ext cx="2373256" cy="2514042"/>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0784"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Job Specification may contain:</a:t>
            </a:r>
          </a:p>
          <a:p>
            <a:pPr marL="360000" indent="-360000">
              <a:spcBef>
                <a:spcPts val="600"/>
              </a:spcBef>
              <a:spcAft>
                <a:spcPts val="1200"/>
              </a:spcAft>
            </a:pPr>
            <a:r>
              <a:rPr lang="en-US" sz="2200" dirty="0" smtClean="0">
                <a:latin typeface="Helvetica" pitchFamily="34" charset="0"/>
              </a:rPr>
              <a:t>Title of the job</a:t>
            </a:r>
          </a:p>
          <a:p>
            <a:pPr marL="360000" indent="-360000">
              <a:spcBef>
                <a:spcPts val="600"/>
              </a:spcBef>
              <a:spcAft>
                <a:spcPts val="1200"/>
              </a:spcAft>
            </a:pPr>
            <a:r>
              <a:rPr lang="en-US" sz="2200" dirty="0" smtClean="0">
                <a:latin typeface="Helvetica" pitchFamily="34" charset="0"/>
              </a:rPr>
              <a:t>Minimum level of education required</a:t>
            </a:r>
          </a:p>
          <a:p>
            <a:pPr marL="360000" indent="-360000">
              <a:spcBef>
                <a:spcPts val="600"/>
              </a:spcBef>
              <a:spcAft>
                <a:spcPts val="1200"/>
              </a:spcAft>
            </a:pPr>
            <a:r>
              <a:rPr lang="en-US" sz="2200" dirty="0" smtClean="0">
                <a:latin typeface="Helvetica" pitchFamily="34" charset="0"/>
              </a:rPr>
              <a:t>Specialised training, certification, </a:t>
            </a:r>
            <a:br>
              <a:rPr lang="en-US" sz="2200" dirty="0" smtClean="0">
                <a:latin typeface="Helvetica" pitchFamily="34" charset="0"/>
              </a:rPr>
            </a:br>
            <a:r>
              <a:rPr lang="en-US" sz="2200" dirty="0" smtClean="0">
                <a:latin typeface="Helvetica" pitchFamily="34" charset="0"/>
              </a:rPr>
              <a:t>qualifications or licences required</a:t>
            </a:r>
          </a:p>
          <a:p>
            <a:pPr marL="360000" indent="-360000">
              <a:spcBef>
                <a:spcPts val="600"/>
              </a:spcBef>
              <a:spcAft>
                <a:spcPts val="1200"/>
              </a:spcAft>
            </a:pPr>
            <a:r>
              <a:rPr lang="en-US" sz="2200" dirty="0" smtClean="0">
                <a:latin typeface="Helvetica" pitchFamily="34" charset="0"/>
              </a:rPr>
              <a:t>Work experience necessary</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66048" y="1970314"/>
            <a:ext cx="2033016" cy="3048000"/>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792"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Personal attributes for the job</a:t>
            </a:r>
          </a:p>
          <a:p>
            <a:pPr marL="360000" indent="-360000">
              <a:spcBef>
                <a:spcPts val="600"/>
              </a:spcBef>
              <a:spcAft>
                <a:spcPts val="1200"/>
              </a:spcAft>
            </a:pPr>
            <a:r>
              <a:rPr lang="en-US" sz="2200" dirty="0" smtClean="0">
                <a:latin typeface="Helvetica" pitchFamily="34" charset="0"/>
              </a:rPr>
              <a:t>Physical effort required to perform the job</a:t>
            </a:r>
          </a:p>
          <a:p>
            <a:pPr marL="360000" indent="-360000">
              <a:spcBef>
                <a:spcPts val="600"/>
              </a:spcBef>
              <a:spcAft>
                <a:spcPts val="1200"/>
              </a:spcAft>
            </a:pPr>
            <a:r>
              <a:rPr lang="en-US" sz="2200" dirty="0" smtClean="0">
                <a:latin typeface="Helvetica" pitchFamily="34" charset="0"/>
              </a:rPr>
              <a:t>Interpersonal skills necessary to undertake the role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36574" y="3645024"/>
            <a:ext cx="2687960" cy="2212191"/>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0784"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‘Industrial matters’:</a:t>
            </a:r>
          </a:p>
          <a:p>
            <a:pPr marL="360000" indent="-360000">
              <a:spcBef>
                <a:spcPts val="600"/>
              </a:spcBef>
              <a:spcAft>
                <a:spcPts val="1200"/>
              </a:spcAft>
            </a:pPr>
            <a:r>
              <a:rPr lang="en-US" sz="2200" dirty="0" smtClean="0">
                <a:latin typeface="Helvetica" pitchFamily="34" charset="0"/>
              </a:rPr>
              <a:t>A generic term</a:t>
            </a:r>
          </a:p>
          <a:p>
            <a:pPr marL="360000" indent="-360000">
              <a:spcBef>
                <a:spcPts val="600"/>
              </a:spcBef>
              <a:spcAft>
                <a:spcPts val="1200"/>
              </a:spcAft>
            </a:pPr>
            <a:r>
              <a:rPr lang="en-US" sz="2200" dirty="0" smtClean="0">
                <a:latin typeface="Helvetica" pitchFamily="34" charset="0"/>
              </a:rPr>
              <a:t>Exact definition vary between countries</a:t>
            </a:r>
          </a:p>
          <a:p>
            <a:pPr marL="360000" indent="-360000">
              <a:spcBef>
                <a:spcPts val="600"/>
              </a:spcBef>
              <a:spcAft>
                <a:spcPts val="1200"/>
              </a:spcAft>
            </a:pPr>
            <a:r>
              <a:rPr lang="en-US" sz="2200" dirty="0" smtClean="0">
                <a:latin typeface="Helvetica" pitchFamily="34" charset="0"/>
              </a:rPr>
              <a:t>Must be considered with reference to </a:t>
            </a:r>
            <a:br>
              <a:rPr lang="en-US" sz="2200" dirty="0" smtClean="0">
                <a:latin typeface="Helvetica" pitchFamily="34" charset="0"/>
              </a:rPr>
            </a:br>
            <a:r>
              <a:rPr lang="en-US" sz="2200" dirty="0" smtClean="0">
                <a:latin typeface="Helvetica" pitchFamily="34" charset="0"/>
              </a:rPr>
              <a:t>legislation in the host country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65090" y="2636912"/>
            <a:ext cx="1697054" cy="232792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792"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‘Industrial matters’ may relate to:</a:t>
            </a:r>
          </a:p>
          <a:p>
            <a:pPr marL="360000" indent="-360000">
              <a:spcBef>
                <a:spcPts val="600"/>
              </a:spcBef>
              <a:spcAft>
                <a:spcPts val="1200"/>
              </a:spcAft>
            </a:pPr>
            <a:r>
              <a:rPr lang="en-US" sz="2200" dirty="0" smtClean="0">
                <a:latin typeface="Helvetica" pitchFamily="34" charset="0"/>
              </a:rPr>
              <a:t>Employment</a:t>
            </a:r>
          </a:p>
          <a:p>
            <a:pPr marL="360000" indent="-360000">
              <a:spcBef>
                <a:spcPts val="600"/>
              </a:spcBef>
              <a:spcAft>
                <a:spcPts val="1200"/>
              </a:spcAft>
            </a:pPr>
            <a:r>
              <a:rPr lang="en-US" sz="2200" dirty="0" smtClean="0">
                <a:latin typeface="Helvetica" pitchFamily="34" charset="0"/>
              </a:rPr>
              <a:t>Remuneration</a:t>
            </a:r>
          </a:p>
          <a:p>
            <a:pPr marL="360000" indent="-360000">
              <a:spcBef>
                <a:spcPts val="600"/>
              </a:spcBef>
              <a:spcAft>
                <a:spcPts val="1200"/>
              </a:spcAft>
            </a:pPr>
            <a:r>
              <a:rPr lang="en-US" sz="2200" dirty="0" smtClean="0">
                <a:latin typeface="Helvetica" pitchFamily="34" charset="0"/>
              </a:rPr>
              <a:t>Conditions of employment</a:t>
            </a:r>
          </a:p>
          <a:p>
            <a:pPr marL="360000" indent="-360000">
              <a:spcBef>
                <a:spcPts val="600"/>
              </a:spcBef>
              <a:spcAft>
                <a:spcPts val="1200"/>
              </a:spcAft>
            </a:pPr>
            <a:r>
              <a:rPr lang="en-US" sz="2200" dirty="0" smtClean="0">
                <a:latin typeface="Helvetica" pitchFamily="34" charset="0"/>
              </a:rPr>
              <a:t>Part-time/casual employment</a:t>
            </a:r>
          </a:p>
          <a:p>
            <a:pPr marL="360000" indent="-360000">
              <a:spcBef>
                <a:spcPts val="600"/>
              </a:spcBef>
              <a:spcAft>
                <a:spcPts val="1200"/>
              </a:spcAft>
            </a:pPr>
            <a:r>
              <a:rPr lang="en-US" sz="2200" dirty="0" smtClean="0">
                <a:latin typeface="Helvetica" pitchFamily="34" charset="0"/>
              </a:rPr>
              <a:t>Termination of employment</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6136" y="3861048"/>
            <a:ext cx="2615952" cy="174484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85728"/>
            <a:ext cx="772852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Discrimination/anti-discrimination</a:t>
            </a:r>
          </a:p>
          <a:p>
            <a:pPr marL="360000" indent="-360000">
              <a:spcBef>
                <a:spcPts val="600"/>
              </a:spcBef>
              <a:spcAft>
                <a:spcPts val="1200"/>
              </a:spcAft>
            </a:pPr>
            <a:r>
              <a:rPr lang="en-US" sz="2200" dirty="0" smtClean="0">
                <a:latin typeface="Helvetica" pitchFamily="34" charset="0"/>
              </a:rPr>
              <a:t>Resolution of industrial disputes</a:t>
            </a:r>
          </a:p>
          <a:p>
            <a:pPr marL="360000" indent="-360000">
              <a:spcBef>
                <a:spcPts val="600"/>
              </a:spcBef>
              <a:spcAft>
                <a:spcPts val="1200"/>
              </a:spcAft>
            </a:pPr>
            <a:r>
              <a:rPr lang="en-US" sz="2200" dirty="0" smtClean="0">
                <a:latin typeface="Helvetica" pitchFamily="34" charset="0"/>
              </a:rPr>
              <a:t>Established industry customs</a:t>
            </a:r>
          </a:p>
          <a:p>
            <a:pPr marL="360000" indent="-360000">
              <a:spcBef>
                <a:spcPts val="600"/>
              </a:spcBef>
              <a:spcAft>
                <a:spcPts val="1200"/>
              </a:spcAft>
            </a:pPr>
            <a:r>
              <a:rPr lang="en-US" sz="2200" dirty="0" smtClean="0">
                <a:latin typeface="Helvetica" pitchFamily="34" charset="0"/>
              </a:rPr>
              <a:t>Remittance of fees by employers to industrial organisations on behalf of workers</a:t>
            </a:r>
          </a:p>
          <a:p>
            <a:pPr marL="360000" indent="-360000">
              <a:spcBef>
                <a:spcPts val="600"/>
              </a:spcBef>
              <a:spcAft>
                <a:spcPts val="1200"/>
              </a:spcAft>
            </a:pPr>
            <a:r>
              <a:rPr lang="en-US" sz="2200" dirty="0" smtClean="0">
                <a:latin typeface="Helvetica" pitchFamily="34" charset="0"/>
              </a:rPr>
              <a:t>Workplace surveillance of workers</a:t>
            </a:r>
          </a:p>
          <a:p>
            <a:pPr marL="360000" indent="-360000">
              <a:spcBef>
                <a:spcPts val="600"/>
              </a:spcBef>
              <a:spcAft>
                <a:spcPts val="1200"/>
              </a:spcAft>
            </a:pPr>
            <a:r>
              <a:rPr lang="en-US" sz="2200" dirty="0" smtClean="0">
                <a:latin typeface="Helvetica" pitchFamily="34" charset="0"/>
              </a:rPr>
              <a:t>Outsourcing of work (in certain </a:t>
            </a:r>
            <a:br>
              <a:rPr lang="en-US" sz="2200" dirty="0" smtClean="0">
                <a:latin typeface="Helvetica" pitchFamily="34" charset="0"/>
              </a:rPr>
            </a:br>
            <a:r>
              <a:rPr lang="en-US" sz="2200" dirty="0" smtClean="0">
                <a:latin typeface="Helvetica" pitchFamily="34" charset="0"/>
              </a:rPr>
              <a:t>industries)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4168" y="3966323"/>
            <a:ext cx="2255912" cy="2127325"/>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792" y="285728"/>
            <a:ext cx="7467600" cy="1143000"/>
          </a:xfrm>
        </p:spPr>
        <p:txBody>
          <a:bodyPr>
            <a:normAutofit fontScale="90000"/>
          </a:bodyPr>
          <a:lstStyle/>
          <a:p>
            <a:r>
              <a:rPr lang="en-AU" sz="3400" b="1" dirty="0" smtClean="0">
                <a:solidFill>
                  <a:srgbClr val="FF6600"/>
                </a:solidFill>
                <a:latin typeface="Helvetica" pitchFamily="34" charset="0"/>
              </a:rPr>
              <a:t>Provide employees with information on industrial matters likely to affect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Sources of information on employment and industrial relations matters:</a:t>
            </a:r>
          </a:p>
          <a:p>
            <a:pPr marL="360000" indent="-360000">
              <a:spcBef>
                <a:spcPts val="600"/>
              </a:spcBef>
              <a:spcAft>
                <a:spcPts val="1200"/>
              </a:spcAft>
            </a:pPr>
            <a:r>
              <a:rPr lang="en-US" sz="2200" dirty="0" smtClean="0">
                <a:latin typeface="Helvetica" pitchFamily="34" charset="0"/>
              </a:rPr>
              <a:t>Talking to HR department/manager</a:t>
            </a:r>
          </a:p>
          <a:p>
            <a:pPr marL="360000" indent="-360000">
              <a:spcBef>
                <a:spcPts val="600"/>
              </a:spcBef>
              <a:spcAft>
                <a:spcPts val="1200"/>
              </a:spcAft>
            </a:pPr>
            <a:r>
              <a:rPr lang="en-US" sz="2200" dirty="0" smtClean="0">
                <a:latin typeface="Helvetica" pitchFamily="34" charset="0"/>
              </a:rPr>
              <a:t>Reading and understanding relevant documentation</a:t>
            </a:r>
          </a:p>
          <a:p>
            <a:pPr marL="360000" indent="-360000">
              <a:spcBef>
                <a:spcPts val="600"/>
              </a:spcBef>
              <a:spcAft>
                <a:spcPts val="1200"/>
              </a:spcAft>
            </a:pPr>
            <a:r>
              <a:rPr lang="en-US" sz="2200" dirty="0" smtClean="0">
                <a:latin typeface="Helvetica" pitchFamily="34" charset="0"/>
              </a:rPr>
              <a:t>Talking to senior/experienced managers/supervisors</a:t>
            </a:r>
          </a:p>
          <a:p>
            <a:pPr marL="360000" indent="-360000">
              <a:spcBef>
                <a:spcPts val="600"/>
              </a:spcBef>
              <a:spcAft>
                <a:spcPts val="1200"/>
              </a:spcAft>
            </a:pPr>
            <a:r>
              <a:rPr lang="en-US" sz="2200" dirty="0" smtClean="0">
                <a:latin typeface="Helvetica" pitchFamily="34" charset="0"/>
              </a:rPr>
              <a:t>Speaking with key industry </a:t>
            </a:r>
            <a:br>
              <a:rPr lang="en-US" sz="2200" dirty="0" smtClean="0">
                <a:latin typeface="Helvetica" pitchFamily="34" charset="0"/>
              </a:rPr>
            </a:br>
            <a:r>
              <a:rPr lang="en-US" sz="2200" dirty="0" smtClean="0">
                <a:latin typeface="Helvetica" pitchFamily="34" charset="0"/>
              </a:rPr>
              <a:t>stakeholders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4437112"/>
            <a:ext cx="2471936" cy="1656197"/>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85728"/>
            <a:ext cx="7467600" cy="1143000"/>
          </a:xfrm>
        </p:spPr>
        <p:txBody>
          <a:bodyPr>
            <a:normAutofit fontScale="90000"/>
          </a:bodyPr>
          <a:lstStyle/>
          <a:p>
            <a:r>
              <a:rPr lang="en-AU" sz="3400" b="1" dirty="0" smtClean="0">
                <a:solidFill>
                  <a:srgbClr val="FF6600"/>
                </a:solidFill>
                <a:latin typeface="Helvetica" pitchFamily="34" charset="0"/>
              </a:rPr>
              <a:t>Identify workplace issues which may cause industrial unrest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60848"/>
            <a:ext cx="7467600" cy="4392488"/>
          </a:xfrm>
        </p:spPr>
        <p:txBody>
          <a:bodyPr>
            <a:normAutofit/>
          </a:bodyPr>
          <a:lstStyle/>
          <a:p>
            <a:pPr marL="0" indent="0">
              <a:spcBef>
                <a:spcPts val="600"/>
              </a:spcBef>
              <a:spcAft>
                <a:spcPts val="1200"/>
              </a:spcAft>
              <a:buNone/>
            </a:pPr>
            <a:r>
              <a:rPr lang="en-US" sz="2200" dirty="0" smtClean="0">
                <a:latin typeface="Helvetica" pitchFamily="34" charset="0"/>
              </a:rPr>
              <a:t>‘Industrial unrest’:</a:t>
            </a:r>
          </a:p>
          <a:p>
            <a:pPr marL="360000" indent="-360000">
              <a:spcBef>
                <a:spcPts val="600"/>
              </a:spcBef>
              <a:spcAft>
                <a:spcPts val="1200"/>
              </a:spcAft>
            </a:pPr>
            <a:r>
              <a:rPr lang="en-US" sz="2200" dirty="0" smtClean="0">
                <a:latin typeface="Helvetica" pitchFamily="34" charset="0"/>
              </a:rPr>
              <a:t>Is a generic term</a:t>
            </a:r>
          </a:p>
          <a:p>
            <a:pPr marL="360000" indent="-360000">
              <a:spcBef>
                <a:spcPts val="600"/>
              </a:spcBef>
              <a:spcAft>
                <a:spcPts val="1200"/>
              </a:spcAft>
            </a:pPr>
            <a:r>
              <a:rPr lang="en-US" sz="2200" dirty="0" smtClean="0">
                <a:latin typeface="Helvetica" pitchFamily="34" charset="0"/>
              </a:rPr>
              <a:t>Also known as: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Labour unrest</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Industrial conflict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0152" y="3284984"/>
            <a:ext cx="2471936" cy="2286541"/>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85728"/>
            <a:ext cx="7467600" cy="1143000"/>
          </a:xfrm>
        </p:spPr>
        <p:txBody>
          <a:bodyPr>
            <a:normAutofit fontScale="90000"/>
          </a:bodyPr>
          <a:lstStyle/>
          <a:p>
            <a:r>
              <a:rPr lang="en-AU" sz="3400" b="1" dirty="0" smtClean="0">
                <a:solidFill>
                  <a:srgbClr val="FF6600"/>
                </a:solidFill>
                <a:latin typeface="Helvetica" pitchFamily="34" charset="0"/>
              </a:rPr>
              <a:t>Identify workplace issues which may cause industrial unrest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00034" y="1556792"/>
            <a:ext cx="7786742" cy="4525963"/>
          </a:xfrm>
        </p:spPr>
        <p:txBody>
          <a:bodyPr>
            <a:normAutofit/>
          </a:bodyPr>
          <a:lstStyle/>
          <a:p>
            <a:pPr marL="0" indent="0">
              <a:spcBef>
                <a:spcPts val="600"/>
              </a:spcBef>
              <a:spcAft>
                <a:spcPts val="1200"/>
              </a:spcAft>
              <a:buNone/>
            </a:pPr>
            <a:r>
              <a:rPr lang="en-US" sz="2200" dirty="0" smtClean="0">
                <a:latin typeface="Helvetica" pitchFamily="34" charset="0"/>
              </a:rPr>
              <a:t>Industrial unrest may be seen as:</a:t>
            </a:r>
          </a:p>
          <a:p>
            <a:pPr marL="360000" indent="-360000">
              <a:spcBef>
                <a:spcPts val="600"/>
              </a:spcBef>
              <a:spcAft>
                <a:spcPts val="1200"/>
              </a:spcAft>
            </a:pPr>
            <a:r>
              <a:rPr lang="en-US" sz="2200" dirty="0" smtClean="0">
                <a:latin typeface="Helvetica" pitchFamily="34" charset="0"/>
              </a:rPr>
              <a:t>Worker dissatisfaction with workplace and/or management</a:t>
            </a:r>
          </a:p>
          <a:p>
            <a:pPr marL="360000" indent="-360000">
              <a:spcBef>
                <a:spcPts val="600"/>
              </a:spcBef>
              <a:spcAft>
                <a:spcPts val="1200"/>
              </a:spcAft>
            </a:pPr>
            <a:r>
              <a:rPr lang="en-US" sz="2200" dirty="0" smtClean="0">
                <a:latin typeface="Helvetica" pitchFamily="34" charset="0"/>
              </a:rPr>
              <a:t>Disputes between workers and management</a:t>
            </a:r>
          </a:p>
          <a:p>
            <a:pPr marL="360000" indent="-360000">
              <a:spcBef>
                <a:spcPts val="600"/>
              </a:spcBef>
              <a:spcAft>
                <a:spcPts val="1200"/>
              </a:spcAft>
            </a:pPr>
            <a:r>
              <a:rPr lang="en-US" sz="2200" dirty="0" smtClean="0">
                <a:latin typeface="Helvetica" pitchFamily="34" charset="0"/>
              </a:rPr>
              <a:t>Worker unhappiness with working conditions</a:t>
            </a:r>
          </a:p>
          <a:p>
            <a:pPr marL="360000" indent="-360000">
              <a:spcBef>
                <a:spcPts val="600"/>
              </a:spcBef>
              <a:spcAft>
                <a:spcPts val="1200"/>
              </a:spcAft>
            </a:pPr>
            <a:r>
              <a:rPr lang="en-US" sz="2200" dirty="0" smtClean="0">
                <a:latin typeface="Helvetica" pitchFamily="34" charset="0"/>
              </a:rPr>
              <a:t>Action taken by management in response to worker complaints/issues raised</a:t>
            </a:r>
          </a:p>
          <a:p>
            <a:pPr marL="360000" indent="-360000">
              <a:spcBef>
                <a:spcPts val="600"/>
              </a:spcBef>
              <a:spcAft>
                <a:spcPts val="1200"/>
              </a:spcAft>
            </a:pPr>
            <a:r>
              <a:rPr lang="en-US" sz="2200" dirty="0" smtClean="0">
                <a:latin typeface="Helvetica" pitchFamily="34" charset="0"/>
              </a:rPr>
              <a:t>Impacting only one worker or multiple/all employees</a:t>
            </a:r>
          </a:p>
          <a:p>
            <a:pPr marL="360000" indent="-360000">
              <a:spcBef>
                <a:spcPts val="600"/>
              </a:spcBef>
              <a:spcAft>
                <a:spcPts val="1200"/>
              </a:spcAft>
            </a:pPr>
            <a:r>
              <a:rPr lang="en-US" sz="2200" dirty="0" smtClean="0">
                <a:latin typeface="Helvetica" pitchFamily="34" charset="0"/>
              </a:rPr>
              <a:t>Usually relating to ‘pay or conditions’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85728"/>
            <a:ext cx="7467600" cy="1143000"/>
          </a:xfrm>
        </p:spPr>
        <p:txBody>
          <a:bodyPr>
            <a:normAutofit fontScale="90000"/>
          </a:bodyPr>
          <a:lstStyle/>
          <a:p>
            <a:r>
              <a:rPr lang="en-AU" sz="3400" b="1" dirty="0" smtClean="0">
                <a:solidFill>
                  <a:srgbClr val="FF6600"/>
                </a:solidFill>
                <a:latin typeface="Helvetica" pitchFamily="34" charset="0"/>
              </a:rPr>
              <a:t>Identify workplace issues which may cause industrial unrest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0" indent="0">
              <a:spcBef>
                <a:spcPts val="600"/>
              </a:spcBef>
              <a:spcAft>
                <a:spcPts val="1200"/>
              </a:spcAft>
              <a:buNone/>
            </a:pPr>
            <a:r>
              <a:rPr lang="en-US" sz="2200" dirty="0" smtClean="0">
                <a:latin typeface="Helvetica" pitchFamily="34" charset="0"/>
              </a:rPr>
              <a:t>Industrial action staff may take can include:</a:t>
            </a:r>
          </a:p>
          <a:p>
            <a:pPr marL="360000" indent="-360000">
              <a:spcBef>
                <a:spcPts val="600"/>
              </a:spcBef>
              <a:spcAft>
                <a:spcPts val="1200"/>
              </a:spcAft>
            </a:pPr>
            <a:r>
              <a:rPr lang="en-US" sz="2200" dirty="0" smtClean="0">
                <a:latin typeface="Helvetica" pitchFamily="34" charset="0"/>
              </a:rPr>
              <a:t>Strikes</a:t>
            </a:r>
          </a:p>
          <a:p>
            <a:pPr marL="360000" indent="-360000">
              <a:spcBef>
                <a:spcPts val="600"/>
              </a:spcBef>
              <a:spcAft>
                <a:spcPts val="1200"/>
              </a:spcAft>
            </a:pPr>
            <a:r>
              <a:rPr lang="en-US" sz="2200" dirty="0" smtClean="0">
                <a:latin typeface="Helvetica" pitchFamily="34" charset="0"/>
              </a:rPr>
              <a:t>Go-slows</a:t>
            </a:r>
          </a:p>
          <a:p>
            <a:pPr marL="360000" indent="-360000">
              <a:spcBef>
                <a:spcPts val="600"/>
              </a:spcBef>
              <a:spcAft>
                <a:spcPts val="1200"/>
              </a:spcAft>
            </a:pPr>
            <a:r>
              <a:rPr lang="en-US" sz="2200" dirty="0" smtClean="0">
                <a:latin typeface="Helvetica" pitchFamily="34" charset="0"/>
              </a:rPr>
              <a:t>Work-to-rule</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6136" y="3861048"/>
            <a:ext cx="2615952" cy="1752688"/>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85728"/>
            <a:ext cx="7467600" cy="1143000"/>
          </a:xfrm>
        </p:spPr>
        <p:txBody>
          <a:bodyPr>
            <a:normAutofit fontScale="90000"/>
          </a:bodyPr>
          <a:lstStyle/>
          <a:p>
            <a:r>
              <a:rPr lang="en-AU" sz="3400" b="1" dirty="0" smtClean="0">
                <a:solidFill>
                  <a:srgbClr val="FF6600"/>
                </a:solidFill>
                <a:latin typeface="Helvetica" pitchFamily="34" charset="0"/>
              </a:rPr>
              <a:t>Identify workplace issues which may cause industrial unrest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360000" indent="-360000">
              <a:spcBef>
                <a:spcPts val="600"/>
              </a:spcBef>
              <a:spcAft>
                <a:spcPts val="1200"/>
              </a:spcAft>
            </a:pPr>
            <a:r>
              <a:rPr lang="en-US" sz="2200" dirty="0" smtClean="0">
                <a:latin typeface="Helvetica" pitchFamily="34" charset="0"/>
              </a:rPr>
              <a:t>Lack of communication</a:t>
            </a:r>
          </a:p>
          <a:p>
            <a:pPr marL="360000" indent="-360000">
              <a:spcBef>
                <a:spcPts val="600"/>
              </a:spcBef>
              <a:spcAft>
                <a:spcPts val="1200"/>
              </a:spcAft>
            </a:pPr>
            <a:r>
              <a:rPr lang="en-US" sz="2200" dirty="0" smtClean="0">
                <a:latin typeface="Helvetica" pitchFamily="34" charset="0"/>
              </a:rPr>
              <a:t>Passive non-compliance</a:t>
            </a:r>
          </a:p>
          <a:p>
            <a:pPr marL="360000" indent="-360000">
              <a:spcBef>
                <a:spcPts val="600"/>
              </a:spcBef>
              <a:spcAft>
                <a:spcPts val="1200"/>
              </a:spcAft>
            </a:pPr>
            <a:r>
              <a:rPr lang="en-US" sz="2200" dirty="0" smtClean="0">
                <a:latin typeface="Helvetica" pitchFamily="34" charset="0"/>
              </a:rPr>
              <a:t>Intentional sabotage</a:t>
            </a:r>
          </a:p>
          <a:p>
            <a:pPr marL="360000" indent="-360000">
              <a:spcBef>
                <a:spcPts val="600"/>
              </a:spcBef>
              <a:spcAft>
                <a:spcPts val="1200"/>
              </a:spcAft>
            </a:pPr>
            <a:r>
              <a:rPr lang="en-US" sz="2200" dirty="0" smtClean="0">
                <a:latin typeface="Helvetica" pitchFamily="34" charset="0"/>
              </a:rPr>
              <a:t>Active non-compliance</a:t>
            </a:r>
          </a:p>
          <a:p>
            <a:pPr marL="360000" indent="-360000">
              <a:spcBef>
                <a:spcPts val="600"/>
              </a:spcBef>
              <a:spcAft>
                <a:spcPts val="1200"/>
              </a:spcAft>
            </a:pPr>
            <a:r>
              <a:rPr lang="en-US" sz="2200" dirty="0" smtClean="0">
                <a:latin typeface="Helvetica" pitchFamily="34" charset="0"/>
              </a:rPr>
              <a:t>Picketing of the business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4048" y="2060848"/>
            <a:ext cx="2399928" cy="2371129"/>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85728"/>
            <a:ext cx="7467600" cy="1143000"/>
          </a:xfrm>
        </p:spPr>
        <p:txBody>
          <a:bodyPr>
            <a:normAutofit fontScale="90000"/>
          </a:bodyPr>
          <a:lstStyle/>
          <a:p>
            <a:r>
              <a:rPr lang="en-AU" sz="3400" b="1" dirty="0" smtClean="0">
                <a:solidFill>
                  <a:srgbClr val="FF6600"/>
                </a:solidFill>
                <a:latin typeface="Helvetica" pitchFamily="34" charset="0"/>
              </a:rPr>
              <a:t>Identify workplace issues which may cause industrial unrest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There are five </a:t>
            </a:r>
            <a:r>
              <a:rPr lang="en-US" sz="2200" i="1" dirty="0" smtClean="0">
                <a:latin typeface="Helvetica" pitchFamily="34" charset="0"/>
              </a:rPr>
              <a:t>generic </a:t>
            </a:r>
            <a:r>
              <a:rPr lang="en-US" sz="2200" dirty="0" smtClean="0">
                <a:latin typeface="Helvetica" pitchFamily="34" charset="0"/>
              </a:rPr>
              <a:t>reasons for </a:t>
            </a:r>
            <a:r>
              <a:rPr lang="en-US" sz="2200" b="1" dirty="0" smtClean="0">
                <a:latin typeface="Helvetica" pitchFamily="34" charset="0"/>
              </a:rPr>
              <a:t>all </a:t>
            </a:r>
            <a:r>
              <a:rPr lang="en-US" sz="2200" dirty="0" smtClean="0">
                <a:latin typeface="Helvetica" pitchFamily="34" charset="0"/>
              </a:rPr>
              <a:t>industrial unrest:</a:t>
            </a:r>
          </a:p>
          <a:p>
            <a:pPr marL="360000" indent="-360000">
              <a:spcBef>
                <a:spcPts val="600"/>
              </a:spcBef>
              <a:spcAft>
                <a:spcPts val="1200"/>
              </a:spcAft>
            </a:pPr>
            <a:r>
              <a:rPr lang="en-US" sz="2200" dirty="0" smtClean="0">
                <a:latin typeface="Helvetica" pitchFamily="34" charset="0"/>
              </a:rPr>
              <a:t>Social reasons/causes</a:t>
            </a:r>
          </a:p>
          <a:p>
            <a:pPr marL="360000" indent="-360000">
              <a:spcBef>
                <a:spcPts val="600"/>
              </a:spcBef>
              <a:spcAft>
                <a:spcPts val="1200"/>
              </a:spcAft>
            </a:pPr>
            <a:r>
              <a:rPr lang="en-US" sz="2200" dirty="0" smtClean="0">
                <a:latin typeface="Helvetica" pitchFamily="34" charset="0"/>
              </a:rPr>
              <a:t>Economic reasons/causes</a:t>
            </a:r>
          </a:p>
          <a:p>
            <a:pPr marL="360000" indent="-360000">
              <a:spcBef>
                <a:spcPts val="600"/>
              </a:spcBef>
              <a:spcAft>
                <a:spcPts val="1200"/>
              </a:spcAft>
            </a:pPr>
            <a:r>
              <a:rPr lang="en-US" sz="2200" dirty="0" smtClean="0">
                <a:latin typeface="Helvetica" pitchFamily="34" charset="0"/>
              </a:rPr>
              <a:t>Political reasons/causes</a:t>
            </a:r>
          </a:p>
          <a:p>
            <a:pPr marL="360000" indent="-360000">
              <a:spcBef>
                <a:spcPts val="600"/>
              </a:spcBef>
              <a:spcAft>
                <a:spcPts val="1200"/>
              </a:spcAft>
            </a:pPr>
            <a:r>
              <a:rPr lang="en-US" sz="2200" dirty="0" smtClean="0">
                <a:latin typeface="Helvetica" pitchFamily="34" charset="0"/>
              </a:rPr>
              <a:t>Organisational reasons/causes</a:t>
            </a:r>
          </a:p>
          <a:p>
            <a:pPr marL="360000" indent="-360000">
              <a:spcBef>
                <a:spcPts val="600"/>
              </a:spcBef>
              <a:spcAft>
                <a:spcPts val="1200"/>
              </a:spcAft>
            </a:pPr>
            <a:r>
              <a:rPr lang="en-US" sz="2200" dirty="0" smtClean="0">
                <a:latin typeface="Helvetica" pitchFamily="34" charset="0"/>
              </a:rPr>
              <a:t>Psychological reasons/causes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24128" y="2852936"/>
            <a:ext cx="2543944" cy="2162352"/>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85728"/>
            <a:ext cx="7467600" cy="1143000"/>
          </a:xfrm>
        </p:spPr>
        <p:txBody>
          <a:bodyPr>
            <a:normAutofit fontScale="90000"/>
          </a:bodyPr>
          <a:lstStyle/>
          <a:p>
            <a:r>
              <a:rPr lang="en-AU" sz="3400" b="1" dirty="0" smtClean="0">
                <a:solidFill>
                  <a:srgbClr val="FF6600"/>
                </a:solidFill>
                <a:latin typeface="Helvetica" pitchFamily="34" charset="0"/>
              </a:rPr>
              <a:t>Identify workplace issues which may cause industrial unrest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824536"/>
          </a:xfrm>
        </p:spPr>
        <p:txBody>
          <a:bodyPr>
            <a:normAutofit/>
          </a:bodyPr>
          <a:lstStyle/>
          <a:p>
            <a:pPr marL="0" indent="0">
              <a:spcBef>
                <a:spcPts val="600"/>
              </a:spcBef>
              <a:spcAft>
                <a:spcPts val="1200"/>
              </a:spcAft>
              <a:buNone/>
            </a:pPr>
            <a:r>
              <a:rPr lang="en-US" sz="2200" dirty="0" smtClean="0">
                <a:latin typeface="Helvetica" pitchFamily="34" charset="0"/>
              </a:rPr>
              <a:t>Specific possible causes of industrial unrest may include:</a:t>
            </a:r>
          </a:p>
          <a:p>
            <a:pPr marL="360000" indent="-360000">
              <a:spcBef>
                <a:spcPts val="600"/>
              </a:spcBef>
              <a:spcAft>
                <a:spcPts val="1200"/>
              </a:spcAft>
            </a:pPr>
            <a:r>
              <a:rPr lang="en-US" sz="2200" dirty="0" smtClean="0">
                <a:latin typeface="Helvetica" pitchFamily="34" charset="0"/>
              </a:rPr>
              <a:t>Changed working conditions: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Introduction of new equipment and/or systems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Revisions to normal protocols/SOPs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Safety issues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Removal of previous entitlements</a:t>
            </a:r>
          </a:p>
          <a:p>
            <a:pPr marL="720000" indent="-360000">
              <a:spcBef>
                <a:spcPts val="600"/>
              </a:spcBef>
              <a:spcAft>
                <a:spcPts val="1200"/>
              </a:spcAft>
              <a:buClr>
                <a:srgbClr val="7FD13B"/>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4077072"/>
            <a:ext cx="2471936" cy="1648781"/>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85728"/>
            <a:ext cx="7467600" cy="1143000"/>
          </a:xfrm>
        </p:spPr>
        <p:txBody>
          <a:bodyPr>
            <a:normAutofit fontScale="90000"/>
          </a:bodyPr>
          <a:lstStyle/>
          <a:p>
            <a:r>
              <a:rPr lang="en-AU" sz="3400" b="1" dirty="0" smtClean="0">
                <a:solidFill>
                  <a:srgbClr val="FF6600"/>
                </a:solidFill>
                <a:latin typeface="Helvetica" pitchFamily="34" charset="0"/>
              </a:rPr>
              <a:t>Identify workplace issues which may cause industrial unrest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Wage demands</a:t>
            </a:r>
          </a:p>
          <a:p>
            <a:pPr marL="360000" indent="-360000">
              <a:spcBef>
                <a:spcPts val="600"/>
              </a:spcBef>
              <a:spcAft>
                <a:spcPts val="1200"/>
              </a:spcAft>
            </a:pPr>
            <a:r>
              <a:rPr lang="en-US" sz="2200" dirty="0" smtClean="0">
                <a:latin typeface="Helvetica" pitchFamily="34" charset="0"/>
              </a:rPr>
              <a:t>Political reasons</a:t>
            </a:r>
          </a:p>
          <a:p>
            <a:pPr marL="360000" indent="-360000">
              <a:spcBef>
                <a:spcPts val="600"/>
              </a:spcBef>
              <a:spcAft>
                <a:spcPts val="1200"/>
              </a:spcAft>
            </a:pPr>
            <a:r>
              <a:rPr lang="en-US" sz="2200" dirty="0">
                <a:latin typeface="Helvetica" pitchFamily="34" charset="0"/>
              </a:rPr>
              <a:t>Management ‘lock-outs’ </a:t>
            </a:r>
          </a:p>
          <a:p>
            <a:pPr marL="360000" indent="-360000">
              <a:spcBef>
                <a:spcPts val="600"/>
              </a:spcBef>
              <a:spcAft>
                <a:spcPts val="1200"/>
              </a:spcAft>
            </a:pPr>
            <a:r>
              <a:rPr lang="en-US" sz="2200" dirty="0">
                <a:latin typeface="Helvetica" pitchFamily="34" charset="0"/>
              </a:rPr>
              <a:t>Worker dissatisfaction with management </a:t>
            </a:r>
            <a:r>
              <a:rPr lang="en-US" sz="2200" dirty="0" smtClean="0">
                <a:latin typeface="Helvetica" pitchFamily="34" charset="0"/>
              </a:rPr>
              <a:t/>
            </a:r>
            <a:br>
              <a:rPr lang="en-US" sz="2200" dirty="0" smtClean="0">
                <a:latin typeface="Helvetica" pitchFamily="34" charset="0"/>
              </a:rPr>
            </a:br>
            <a:r>
              <a:rPr lang="en-US" sz="2200" dirty="0" smtClean="0">
                <a:latin typeface="Helvetica" pitchFamily="34" charset="0"/>
              </a:rPr>
              <a:t>action </a:t>
            </a:r>
            <a:r>
              <a:rPr lang="en-US" sz="2200" dirty="0">
                <a:latin typeface="Helvetica" pitchFamily="34" charset="0"/>
              </a:rPr>
              <a:t>deemed </a:t>
            </a:r>
            <a:r>
              <a:rPr lang="en-US" sz="2200" dirty="0" smtClean="0">
                <a:latin typeface="Helvetica" pitchFamily="34" charset="0"/>
              </a:rPr>
              <a:t>unfair/unacceptable</a:t>
            </a:r>
            <a:endParaRPr lang="en-US" sz="2200" dirty="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2492896"/>
            <a:ext cx="1895872" cy="1895872"/>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85728"/>
            <a:ext cx="7467600" cy="1143000"/>
          </a:xfrm>
        </p:spPr>
        <p:txBody>
          <a:bodyPr>
            <a:normAutofit fontScale="90000"/>
          </a:bodyPr>
          <a:lstStyle/>
          <a:p>
            <a:r>
              <a:rPr lang="en-AU" sz="3400" b="1" dirty="0" smtClean="0">
                <a:solidFill>
                  <a:srgbClr val="FF6600"/>
                </a:solidFill>
                <a:latin typeface="Helvetica" pitchFamily="34" charset="0"/>
              </a:rPr>
              <a:t>Identify workplace issues which may cause industrial unrest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968552"/>
          </a:xfrm>
        </p:spPr>
        <p:txBody>
          <a:bodyPr>
            <a:normAutofit/>
          </a:bodyPr>
          <a:lstStyle/>
          <a:p>
            <a:pPr marL="0" indent="0">
              <a:spcBef>
                <a:spcPts val="600"/>
              </a:spcBef>
              <a:spcAft>
                <a:spcPts val="1200"/>
              </a:spcAft>
              <a:buNone/>
            </a:pPr>
            <a:r>
              <a:rPr lang="en-US" sz="2200" dirty="0" smtClean="0">
                <a:latin typeface="Helvetica" pitchFamily="34" charset="0"/>
              </a:rPr>
              <a:t>Ways to identify possible/emerging industrial unrest:</a:t>
            </a:r>
          </a:p>
          <a:p>
            <a:pPr marL="360000" indent="-360000">
              <a:spcBef>
                <a:spcPts val="600"/>
              </a:spcBef>
              <a:spcAft>
                <a:spcPts val="1200"/>
              </a:spcAft>
            </a:pPr>
            <a:r>
              <a:rPr lang="en-US" sz="2200" dirty="0" smtClean="0">
                <a:latin typeface="Helvetica" pitchFamily="34" charset="0"/>
              </a:rPr>
              <a:t>Convening staff meetings</a:t>
            </a:r>
          </a:p>
          <a:p>
            <a:pPr marL="360000" indent="-360000">
              <a:spcBef>
                <a:spcPts val="600"/>
              </a:spcBef>
              <a:spcAft>
                <a:spcPts val="1200"/>
              </a:spcAft>
            </a:pPr>
            <a:r>
              <a:rPr lang="en-US" sz="2200" i="1" dirty="0" smtClean="0">
                <a:latin typeface="Helvetica" pitchFamily="34" charset="0"/>
              </a:rPr>
              <a:t>Attending </a:t>
            </a:r>
            <a:r>
              <a:rPr lang="en-US" sz="2200" dirty="0" smtClean="0">
                <a:latin typeface="Helvetica" pitchFamily="34" charset="0"/>
              </a:rPr>
              <a:t>staff meetings</a:t>
            </a:r>
          </a:p>
          <a:p>
            <a:pPr marL="360000" indent="-360000">
              <a:spcBef>
                <a:spcPts val="600"/>
              </a:spcBef>
              <a:spcAft>
                <a:spcPts val="1200"/>
              </a:spcAft>
            </a:pPr>
            <a:r>
              <a:rPr lang="en-US" sz="2200" dirty="0" smtClean="0">
                <a:latin typeface="Helvetica" pitchFamily="34" charset="0"/>
              </a:rPr>
              <a:t>Being informed as a result of direct communication (such as being presented with a ‘Log of Claims’)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i="1"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03439" y="4293095"/>
            <a:ext cx="2687960" cy="1792869"/>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85728"/>
            <a:ext cx="7467600" cy="1143000"/>
          </a:xfrm>
        </p:spPr>
        <p:txBody>
          <a:bodyPr>
            <a:normAutofit fontScale="90000"/>
          </a:bodyPr>
          <a:lstStyle/>
          <a:p>
            <a:r>
              <a:rPr lang="en-AU" sz="3400" b="1" dirty="0" smtClean="0">
                <a:solidFill>
                  <a:srgbClr val="FF6600"/>
                </a:solidFill>
                <a:latin typeface="Helvetica" pitchFamily="34" charset="0"/>
              </a:rPr>
              <a:t>Identify workplace issues which may cause industrial unrest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US" sz="2200" dirty="0" smtClean="0">
                <a:latin typeface="Helvetica" pitchFamily="34" charset="0"/>
              </a:rPr>
              <a:t>Being informed of a problem by a third party</a:t>
            </a:r>
          </a:p>
          <a:p>
            <a:pPr marL="360000" indent="-360000">
              <a:spcBef>
                <a:spcPts val="600"/>
              </a:spcBef>
              <a:spcAft>
                <a:spcPts val="1200"/>
              </a:spcAft>
            </a:pPr>
            <a:r>
              <a:rPr lang="en-US" sz="2200" dirty="0" smtClean="0">
                <a:latin typeface="Helvetica" pitchFamily="34" charset="0"/>
              </a:rPr>
              <a:t>Undertaking personal observation of the workplace</a:t>
            </a:r>
          </a:p>
          <a:p>
            <a:pPr marL="360000" indent="-360000">
              <a:spcBef>
                <a:spcPts val="600"/>
              </a:spcBef>
              <a:spcAft>
                <a:spcPts val="1200"/>
              </a:spcAft>
            </a:pPr>
            <a:r>
              <a:rPr lang="en-US" sz="2200" dirty="0" smtClean="0">
                <a:latin typeface="Helvetica" pitchFamily="34" charset="0"/>
              </a:rPr>
              <a:t>Realising ‘normal’ work activities have changed/been interrupted in some way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39752" y="3717032"/>
            <a:ext cx="3048000" cy="2081784"/>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85728"/>
            <a:ext cx="7467600" cy="1143000"/>
          </a:xfrm>
        </p:spPr>
        <p:txBody>
          <a:bodyPr>
            <a:normAutofit fontScale="90000"/>
          </a:bodyPr>
          <a:lstStyle/>
          <a:p>
            <a:r>
              <a:rPr lang="en-AU" sz="3400" b="1" dirty="0" smtClean="0">
                <a:solidFill>
                  <a:srgbClr val="FF6600"/>
                </a:solidFill>
                <a:latin typeface="Helvetica" pitchFamily="34" charset="0"/>
              </a:rPr>
              <a:t>Identify workplace issues which may cause industrial unrest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Keys when responding to industrial unrest:</a:t>
            </a:r>
          </a:p>
          <a:p>
            <a:pPr marL="360000" indent="-360000">
              <a:spcBef>
                <a:spcPts val="600"/>
              </a:spcBef>
              <a:spcAft>
                <a:spcPts val="1200"/>
              </a:spcAft>
            </a:pPr>
            <a:r>
              <a:rPr lang="en-US" sz="2200" dirty="0" smtClean="0">
                <a:latin typeface="Helvetica" pitchFamily="34" charset="0"/>
              </a:rPr>
              <a:t>Act promptly</a:t>
            </a:r>
          </a:p>
          <a:p>
            <a:pPr marL="360000" indent="-360000">
              <a:spcBef>
                <a:spcPts val="600"/>
              </a:spcBef>
              <a:spcAft>
                <a:spcPts val="1200"/>
              </a:spcAft>
            </a:pPr>
            <a:r>
              <a:rPr lang="en-US" sz="2200" dirty="0" smtClean="0">
                <a:latin typeface="Helvetica" pitchFamily="34" charset="0"/>
              </a:rPr>
              <a:t>Involve employees</a:t>
            </a:r>
          </a:p>
          <a:p>
            <a:pPr marL="360000" indent="-360000">
              <a:spcBef>
                <a:spcPts val="600"/>
              </a:spcBef>
              <a:spcAft>
                <a:spcPts val="1200"/>
              </a:spcAft>
            </a:pPr>
            <a:r>
              <a:rPr lang="en-US" sz="2200" dirty="0" smtClean="0">
                <a:latin typeface="Helvetica" pitchFamily="34" charset="0"/>
              </a:rPr>
              <a:t>Address the root cause of the issue</a:t>
            </a:r>
          </a:p>
          <a:p>
            <a:pPr marL="360000" indent="-360000">
              <a:spcBef>
                <a:spcPts val="600"/>
              </a:spcBef>
              <a:spcAft>
                <a:spcPts val="1200"/>
              </a:spcAft>
            </a:pPr>
            <a:r>
              <a:rPr lang="en-US" sz="2200" dirty="0" smtClean="0">
                <a:latin typeface="Helvetica" pitchFamily="34" charset="0"/>
              </a:rPr>
              <a:t>Negotiate a win-win outcome</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4077072"/>
            <a:ext cx="2495600" cy="1664565"/>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85728"/>
            <a:ext cx="7467600" cy="1143000"/>
          </a:xfrm>
        </p:spPr>
        <p:txBody>
          <a:bodyPr>
            <a:normAutofit fontScale="90000"/>
          </a:bodyPr>
          <a:lstStyle/>
          <a:p>
            <a:r>
              <a:rPr lang="en-AU" sz="3400" b="1" dirty="0" smtClean="0">
                <a:solidFill>
                  <a:srgbClr val="FF6600"/>
                </a:solidFill>
                <a:latin typeface="Helvetica" pitchFamily="34" charset="0"/>
              </a:rPr>
              <a:t>Identify workplace issues which may cause industrial unrest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US" sz="2200" dirty="0" smtClean="0">
                <a:latin typeface="Helvetica" pitchFamily="34" charset="0"/>
              </a:rPr>
              <a:t>Options in response to industrial unrest may include:</a:t>
            </a:r>
          </a:p>
          <a:p>
            <a:pPr marL="360000" indent="-360000">
              <a:spcBef>
                <a:spcPts val="600"/>
              </a:spcBef>
              <a:spcAft>
                <a:spcPts val="1200"/>
              </a:spcAft>
            </a:pPr>
            <a:r>
              <a:rPr lang="en-US" sz="2200" dirty="0" smtClean="0">
                <a:latin typeface="Helvetica" pitchFamily="34" charset="0"/>
              </a:rPr>
              <a:t>Meeting with staff to discuss issues and generate solutions</a:t>
            </a:r>
          </a:p>
          <a:p>
            <a:pPr marL="360000" indent="-360000">
              <a:spcBef>
                <a:spcPts val="600"/>
              </a:spcBef>
              <a:spcAft>
                <a:spcPts val="1200"/>
              </a:spcAft>
            </a:pPr>
            <a:r>
              <a:rPr lang="en-US" sz="2200" dirty="0" smtClean="0">
                <a:latin typeface="Helvetica" pitchFamily="34" charset="0"/>
              </a:rPr>
              <a:t>Investigating issues presented by employees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4100668"/>
            <a:ext cx="2555776" cy="1703851"/>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85728"/>
            <a:ext cx="7467600" cy="1143000"/>
          </a:xfrm>
        </p:spPr>
        <p:txBody>
          <a:bodyPr>
            <a:normAutofit fontScale="90000"/>
          </a:bodyPr>
          <a:lstStyle/>
          <a:p>
            <a:r>
              <a:rPr lang="en-AU" sz="3400" b="1" dirty="0" smtClean="0">
                <a:solidFill>
                  <a:srgbClr val="FF6600"/>
                </a:solidFill>
                <a:latin typeface="Helvetica" pitchFamily="34" charset="0"/>
              </a:rPr>
              <a:t>Identify workplace issues which may cause industrial unrest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680520"/>
          </a:xfrm>
        </p:spPr>
        <p:txBody>
          <a:bodyPr>
            <a:normAutofit/>
          </a:bodyPr>
          <a:lstStyle/>
          <a:p>
            <a:pPr marL="360000" indent="-360000">
              <a:spcBef>
                <a:spcPts val="600"/>
              </a:spcBef>
              <a:spcAft>
                <a:spcPts val="1200"/>
              </a:spcAft>
            </a:pPr>
            <a:r>
              <a:rPr lang="en-US" sz="2200" dirty="0" smtClean="0">
                <a:latin typeface="Helvetica" pitchFamily="34" charset="0"/>
              </a:rPr>
              <a:t>Writing and presenting reports with suggestions for action</a:t>
            </a:r>
          </a:p>
          <a:p>
            <a:pPr marL="360000" indent="-360000">
              <a:spcBef>
                <a:spcPts val="600"/>
              </a:spcBef>
              <a:spcAft>
                <a:spcPts val="1200"/>
              </a:spcAft>
            </a:pPr>
            <a:r>
              <a:rPr lang="en-US" sz="2200" dirty="0" smtClean="0">
                <a:latin typeface="Helvetica" pitchFamily="34" charset="0"/>
              </a:rPr>
              <a:t>Seeking and using external assistance from relevant HR/industrial relations professionals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176" y="4077072"/>
            <a:ext cx="2195736" cy="1646802"/>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85728"/>
            <a:ext cx="7467600" cy="1143000"/>
          </a:xfrm>
        </p:spPr>
        <p:txBody>
          <a:bodyPr>
            <a:normAutofit fontScale="90000"/>
          </a:bodyPr>
          <a:lstStyle/>
          <a:p>
            <a:r>
              <a:rPr lang="en-AU" sz="3400" b="1" dirty="0" smtClean="0">
                <a:solidFill>
                  <a:srgbClr val="FF6600"/>
                </a:solidFill>
                <a:latin typeface="Helvetica" pitchFamily="34" charset="0"/>
              </a:rPr>
              <a:t>Identify workplace issues which may cause industrial unrest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US" sz="2200" dirty="0" smtClean="0">
                <a:latin typeface="Helvetica" pitchFamily="34" charset="0"/>
              </a:rPr>
              <a:t>Talking to individual employees and/or small groups of staff (as distinct to talking/meeting with </a:t>
            </a:r>
            <a:r>
              <a:rPr lang="en-US" sz="2200" i="1" dirty="0" smtClean="0">
                <a:latin typeface="Helvetica" pitchFamily="34" charset="0"/>
              </a:rPr>
              <a:t>all </a:t>
            </a:r>
            <a:r>
              <a:rPr lang="en-US" sz="2200" dirty="0" smtClean="0">
                <a:latin typeface="Helvetica" pitchFamily="34" charset="0"/>
              </a:rPr>
              <a:t>staff)</a:t>
            </a:r>
          </a:p>
          <a:p>
            <a:pPr marL="360000" indent="-360000">
              <a:spcBef>
                <a:spcPts val="600"/>
              </a:spcBef>
              <a:spcAft>
                <a:spcPts val="1200"/>
              </a:spcAft>
            </a:pPr>
            <a:r>
              <a:rPr lang="en-US" sz="2200" dirty="0" smtClean="0">
                <a:latin typeface="Helvetica" pitchFamily="34" charset="0"/>
              </a:rPr>
              <a:t>Involving staff in all industrial relations matters on an ongoing and consultative basis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0152" y="3140968"/>
            <a:ext cx="2094967" cy="1808524"/>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85728"/>
            <a:ext cx="7467600" cy="1143000"/>
          </a:xfrm>
        </p:spPr>
        <p:txBody>
          <a:bodyPr>
            <a:normAutofit fontScale="90000"/>
          </a:bodyPr>
          <a:lstStyle/>
          <a:p>
            <a:r>
              <a:rPr lang="en-AU" sz="3400" b="1" dirty="0" smtClean="0">
                <a:solidFill>
                  <a:srgbClr val="FF6600"/>
                </a:solidFill>
                <a:latin typeface="Helvetica" pitchFamily="34" charset="0"/>
              </a:rPr>
              <a:t>Identify workplace issues which may cause industrial unrest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752528"/>
          </a:xfrm>
        </p:spPr>
        <p:txBody>
          <a:bodyPr>
            <a:normAutofit/>
          </a:bodyPr>
          <a:lstStyle/>
          <a:p>
            <a:pPr marL="360000" indent="-360000">
              <a:spcBef>
                <a:spcPts val="600"/>
              </a:spcBef>
              <a:spcAft>
                <a:spcPts val="1200"/>
              </a:spcAft>
            </a:pPr>
            <a:r>
              <a:rPr lang="en-US" sz="2200" dirty="0" smtClean="0">
                <a:latin typeface="Helvetica" pitchFamily="34" charset="0"/>
              </a:rPr>
              <a:t>Meeting the demands made by staff where these are deemed legitimate and reasonable – even where this can cause increased expenditure and/or subsequent job losses or reduction/alteration to service delivery</a:t>
            </a:r>
          </a:p>
          <a:p>
            <a:pPr marL="360000" indent="-360000">
              <a:spcBef>
                <a:spcPts val="600"/>
              </a:spcBef>
              <a:spcAft>
                <a:spcPts val="1200"/>
              </a:spcAft>
            </a:pPr>
            <a:r>
              <a:rPr lang="en-US" sz="2200" dirty="0" smtClean="0">
                <a:latin typeface="Helvetica" pitchFamily="34" charset="0"/>
              </a:rPr>
              <a:t>Locking staff out of the workplace – a ‘last resort’ option</a:t>
            </a:r>
          </a:p>
          <a:p>
            <a:pPr marL="360000" indent="-360000">
              <a:spcBef>
                <a:spcPts val="600"/>
              </a:spcBef>
              <a:spcAft>
                <a:spcPts val="1200"/>
              </a:spcAft>
            </a:pPr>
            <a:r>
              <a:rPr lang="en-US" sz="2200" dirty="0" smtClean="0">
                <a:latin typeface="Helvetica" pitchFamily="34" charset="0"/>
              </a:rPr>
              <a:t>Dismissing non-compliant employees – another ‘last resort’ option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3808" y="4437112"/>
            <a:ext cx="2101248" cy="1782708"/>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causes of industrial unrest in external environments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marL="0" indent="0">
              <a:spcBef>
                <a:spcPts val="600"/>
              </a:spcBef>
              <a:spcAft>
                <a:spcPts val="1200"/>
              </a:spcAft>
              <a:buNone/>
            </a:pPr>
            <a:r>
              <a:rPr lang="en-US" sz="2200" dirty="0" smtClean="0">
                <a:latin typeface="Helvetica" pitchFamily="34" charset="0"/>
              </a:rPr>
              <a:t>It is important to understand:</a:t>
            </a:r>
          </a:p>
          <a:p>
            <a:pPr marL="360000" indent="-360000">
              <a:spcBef>
                <a:spcPts val="600"/>
              </a:spcBef>
              <a:spcAft>
                <a:spcPts val="1200"/>
              </a:spcAft>
            </a:pPr>
            <a:r>
              <a:rPr lang="en-US" sz="2200" dirty="0" smtClean="0">
                <a:latin typeface="Helvetica" pitchFamily="34" charset="0"/>
              </a:rPr>
              <a:t>‘External’ environments are those outside the organisation</a:t>
            </a:r>
          </a:p>
          <a:p>
            <a:pPr marL="360000" indent="-360000">
              <a:spcBef>
                <a:spcPts val="600"/>
              </a:spcBef>
              <a:spcAft>
                <a:spcPts val="1200"/>
              </a:spcAft>
            </a:pPr>
            <a:r>
              <a:rPr lang="en-US" sz="2200" dirty="0" smtClean="0">
                <a:latin typeface="Helvetica" pitchFamily="34" charset="0"/>
              </a:rPr>
              <a:t>External factors may exist/arise across a wide range of locations</a:t>
            </a:r>
          </a:p>
          <a:p>
            <a:pPr marL="360000" indent="-360000">
              <a:spcBef>
                <a:spcPts val="600"/>
              </a:spcBef>
              <a:spcAft>
                <a:spcPts val="1200"/>
              </a:spcAft>
            </a:pPr>
            <a:r>
              <a:rPr lang="en-US" sz="2200" dirty="0" smtClean="0">
                <a:latin typeface="Helvetica" pitchFamily="34" charset="0"/>
              </a:rPr>
              <a:t>Legislation and mandatory changes to employment instruments are common external factors</a:t>
            </a:r>
          </a:p>
          <a:p>
            <a:pPr marL="360000" indent="-360000">
              <a:spcBef>
                <a:spcPts val="600"/>
              </a:spcBef>
              <a:spcAft>
                <a:spcPts val="1200"/>
              </a:spcAft>
            </a:pPr>
            <a:r>
              <a:rPr lang="en-US" sz="2200" dirty="0" smtClean="0">
                <a:latin typeface="Helvetica" pitchFamily="34" charset="0"/>
              </a:rPr>
              <a:t>Industrial relations decisions taken at </a:t>
            </a:r>
            <a:r>
              <a:rPr lang="en-US" sz="2200" b="1" i="1" dirty="0" smtClean="0">
                <a:latin typeface="Helvetica" pitchFamily="34" charset="0"/>
              </a:rPr>
              <a:t>other </a:t>
            </a:r>
            <a:r>
              <a:rPr lang="en-US" sz="2200" dirty="0" smtClean="0">
                <a:latin typeface="Helvetica" pitchFamily="34" charset="0"/>
              </a:rPr>
              <a:t>businesses can cause industrial unrest at similar organisations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8333" y="3284984"/>
            <a:ext cx="1699394" cy="1694497"/>
          </a:xfrm>
          <a:prstGeom prst="ellipse">
            <a:avLst/>
          </a:prstGeom>
        </p:spPr>
      </p:pic>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causes of industrial unrest in external environments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24536"/>
          </a:xfrm>
        </p:spPr>
        <p:txBody>
          <a:bodyPr>
            <a:normAutofit/>
          </a:bodyPr>
          <a:lstStyle/>
          <a:p>
            <a:pPr marL="360000" indent="-360000">
              <a:spcBef>
                <a:spcPts val="600"/>
              </a:spcBef>
              <a:spcAft>
                <a:spcPts val="1200"/>
              </a:spcAft>
            </a:pPr>
            <a:r>
              <a:rPr lang="en-US" sz="2200" dirty="0" smtClean="0">
                <a:latin typeface="Helvetica" pitchFamily="34" charset="0"/>
              </a:rPr>
              <a:t>The general economic state of the country and other countries are a factor</a:t>
            </a:r>
          </a:p>
          <a:p>
            <a:pPr marL="360000" indent="-360000">
              <a:spcBef>
                <a:spcPts val="600"/>
              </a:spcBef>
              <a:spcAft>
                <a:spcPts val="1200"/>
              </a:spcAft>
            </a:pPr>
            <a:r>
              <a:rPr lang="en-US" sz="2200" dirty="0" smtClean="0">
                <a:latin typeface="Helvetica" pitchFamily="34" charset="0"/>
              </a:rPr>
              <a:t>Findings of research into industries and/or industrial issues can generate pressure for action</a:t>
            </a:r>
          </a:p>
          <a:p>
            <a:pPr marL="360000" indent="-360000">
              <a:spcBef>
                <a:spcPts val="600"/>
              </a:spcBef>
              <a:spcAft>
                <a:spcPts val="1200"/>
              </a:spcAft>
            </a:pPr>
            <a:r>
              <a:rPr lang="en-US" sz="2200" dirty="0" smtClean="0">
                <a:latin typeface="Helvetica" pitchFamily="34" charset="0"/>
              </a:rPr>
              <a:t>What staff see happening at other businesses </a:t>
            </a:r>
            <a:br>
              <a:rPr lang="en-US" sz="2200" dirty="0" smtClean="0">
                <a:latin typeface="Helvetica" pitchFamily="34" charset="0"/>
              </a:rPr>
            </a:br>
            <a:r>
              <a:rPr lang="en-US" sz="2200" dirty="0" smtClean="0">
                <a:latin typeface="Helvetica" pitchFamily="34" charset="0"/>
              </a:rPr>
              <a:t>will often be a catalyst for industrial unrest </a:t>
            </a:r>
            <a:br>
              <a:rPr lang="en-US" sz="2200" dirty="0" smtClean="0">
                <a:latin typeface="Helvetica" pitchFamily="34" charset="0"/>
              </a:rPr>
            </a:br>
            <a:r>
              <a:rPr lang="en-US" sz="2200" dirty="0" smtClean="0">
                <a:latin typeface="Helvetica" pitchFamily="34" charset="0"/>
              </a:rPr>
              <a:t>elsewhere/at similar other businesses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causes of industrial unrest in external environments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360000" indent="-360000">
              <a:spcBef>
                <a:spcPts val="600"/>
              </a:spcBef>
              <a:spcAft>
                <a:spcPts val="1200"/>
              </a:spcAft>
            </a:pPr>
            <a:r>
              <a:rPr lang="en-US" sz="2200" dirty="0" smtClean="0">
                <a:latin typeface="Helvetica" pitchFamily="34" charset="0"/>
              </a:rPr>
              <a:t>There is generally a link between:</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Qualifications held and wages paid or demanded</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Experience and remuneration</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Supply and demand (of human resources)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Conditions of employment offered elsewhere</a:t>
            </a:r>
          </a:p>
          <a:p>
            <a:pPr marL="360000" indent="-360000">
              <a:spcBef>
                <a:spcPts val="600"/>
              </a:spcBef>
              <a:spcAft>
                <a:spcPts val="1200"/>
              </a:spcAft>
            </a:pPr>
            <a:r>
              <a:rPr lang="en-US" sz="2200" dirty="0" smtClean="0">
                <a:latin typeface="Helvetica" pitchFamily="34" charset="0"/>
              </a:rPr>
              <a:t>Payment of higher wages does not allow provision of lower or unsafe working conditions</a:t>
            </a:r>
          </a:p>
          <a:p>
            <a:pPr marL="360000" indent="-360000">
              <a:spcBef>
                <a:spcPts val="600"/>
              </a:spcBef>
              <a:spcAft>
                <a:spcPts val="1200"/>
              </a:spcAft>
            </a:pPr>
            <a:r>
              <a:rPr lang="en-US" sz="2200" dirty="0" smtClean="0">
                <a:latin typeface="Helvetica" pitchFamily="34" charset="0"/>
              </a:rPr>
              <a:t>Provision of high-quality working conditions cannot allow payment of lower wages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causes of industrial unrest in external environments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752528"/>
          </a:xfrm>
        </p:spPr>
        <p:txBody>
          <a:bodyPr>
            <a:normAutofit/>
          </a:bodyPr>
          <a:lstStyle/>
          <a:p>
            <a:pPr marL="0" indent="0">
              <a:spcBef>
                <a:spcPts val="600"/>
              </a:spcBef>
              <a:spcAft>
                <a:spcPts val="1200"/>
              </a:spcAft>
              <a:buNone/>
            </a:pPr>
            <a:r>
              <a:rPr lang="en-US" sz="2200" dirty="0" smtClean="0">
                <a:latin typeface="Helvetica" pitchFamily="34" charset="0"/>
              </a:rPr>
              <a:t>Strategies to identify external causes of industrial should be a mix of the following:</a:t>
            </a:r>
          </a:p>
          <a:p>
            <a:pPr marL="360000" indent="-360000">
              <a:spcBef>
                <a:spcPts val="600"/>
              </a:spcBef>
              <a:spcAft>
                <a:spcPts val="1200"/>
              </a:spcAft>
            </a:pPr>
            <a:r>
              <a:rPr lang="en-US" sz="2200" dirty="0" smtClean="0">
                <a:latin typeface="Helvetica" pitchFamily="34" charset="0"/>
              </a:rPr>
              <a:t>Monitor local media</a:t>
            </a:r>
          </a:p>
          <a:p>
            <a:pPr marL="360000" indent="-360000">
              <a:spcBef>
                <a:spcPts val="600"/>
              </a:spcBef>
              <a:spcAft>
                <a:spcPts val="1200"/>
              </a:spcAft>
            </a:pPr>
            <a:r>
              <a:rPr lang="en-US" sz="2200" dirty="0" smtClean="0">
                <a:latin typeface="Helvetica" pitchFamily="34" charset="0"/>
              </a:rPr>
              <a:t>Attend local industry-based meetings with stakeholders</a:t>
            </a:r>
          </a:p>
          <a:p>
            <a:pPr marL="360000" indent="-360000">
              <a:spcBef>
                <a:spcPts val="600"/>
              </a:spcBef>
              <a:spcAft>
                <a:spcPts val="1200"/>
              </a:spcAft>
            </a:pPr>
            <a:r>
              <a:rPr lang="en-US" sz="2200" dirty="0" smtClean="0">
                <a:latin typeface="Helvetica" pitchFamily="34" charset="0"/>
              </a:rPr>
              <a:t>Attend industry conferences and seminars</a:t>
            </a:r>
          </a:p>
          <a:p>
            <a:pPr marL="360000" indent="-360000">
              <a:spcBef>
                <a:spcPts val="600"/>
              </a:spcBef>
              <a:spcAft>
                <a:spcPts val="1200"/>
              </a:spcAft>
            </a:pPr>
            <a:r>
              <a:rPr lang="en-US" sz="2200" dirty="0" smtClean="0">
                <a:latin typeface="Helvetica" pitchFamily="34" charset="0"/>
              </a:rPr>
              <a:t>Read IR reports and </a:t>
            </a:r>
            <a:br>
              <a:rPr lang="en-US" sz="2200" dirty="0" smtClean="0">
                <a:latin typeface="Helvetica" pitchFamily="34" charset="0"/>
              </a:rPr>
            </a:br>
            <a:r>
              <a:rPr lang="en-US" sz="2200" dirty="0" smtClean="0">
                <a:latin typeface="Helvetica" pitchFamily="34" charset="0"/>
              </a:rPr>
              <a:t>employment-related data</a:t>
            </a:r>
          </a:p>
          <a:p>
            <a:pPr marL="360000" indent="-360000">
              <a:spcBef>
                <a:spcPts val="600"/>
              </a:spcBef>
              <a:spcAft>
                <a:spcPts val="1200"/>
              </a:spcAft>
            </a:pPr>
            <a:endParaRPr lang="en-US" sz="2200" i="1"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4329607"/>
            <a:ext cx="2168332" cy="1440160"/>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causes of industrial unrest in external environments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US" sz="2200" dirty="0" smtClean="0">
                <a:latin typeface="Helvetica" pitchFamily="34" charset="0"/>
              </a:rPr>
              <a:t>Network with industry contacts</a:t>
            </a:r>
          </a:p>
          <a:p>
            <a:pPr marL="360000" indent="-360000">
              <a:spcBef>
                <a:spcPts val="600"/>
              </a:spcBef>
              <a:spcAft>
                <a:spcPts val="1200"/>
              </a:spcAft>
            </a:pPr>
            <a:r>
              <a:rPr lang="en-US" sz="2200" dirty="0" smtClean="0">
                <a:latin typeface="Helvetica" pitchFamily="34" charset="0"/>
              </a:rPr>
              <a:t>Enter into a mentoring arrangement with an experienced manager/person</a:t>
            </a:r>
          </a:p>
          <a:p>
            <a:pPr marL="360000" indent="-360000">
              <a:spcBef>
                <a:spcPts val="600"/>
              </a:spcBef>
              <a:spcAft>
                <a:spcPts val="1200"/>
              </a:spcAft>
            </a:pPr>
            <a:r>
              <a:rPr lang="en-US" sz="2200" dirty="0" smtClean="0">
                <a:latin typeface="Helvetica" pitchFamily="34" charset="0"/>
              </a:rPr>
              <a:t>Bookmark and visit relevant websites on a regular basis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4168" y="4149080"/>
            <a:ext cx="2255912" cy="1504693"/>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causes of industrial unrest in external environments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US" sz="2200" dirty="0" smtClean="0">
                <a:latin typeface="Helvetica" pitchFamily="34" charset="0"/>
              </a:rPr>
              <a:t>Subscribe and/or register to receive information, updates and newsletters</a:t>
            </a:r>
          </a:p>
          <a:p>
            <a:pPr marL="360000" indent="-360000">
              <a:spcBef>
                <a:spcPts val="600"/>
              </a:spcBef>
              <a:spcAft>
                <a:spcPts val="1200"/>
              </a:spcAft>
            </a:pPr>
            <a:r>
              <a:rPr lang="en-US" sz="2200" dirty="0" smtClean="0">
                <a:latin typeface="Helvetica" pitchFamily="34" charset="0"/>
              </a:rPr>
              <a:t>Talk to others (management-level and staff: in and outside the organisation) about issues and their thoughts</a:t>
            </a:r>
          </a:p>
          <a:p>
            <a:pPr marL="360000" indent="-360000">
              <a:spcBef>
                <a:spcPts val="600"/>
              </a:spcBef>
              <a:spcAft>
                <a:spcPts val="1200"/>
              </a:spcAft>
            </a:pPr>
            <a:r>
              <a:rPr lang="en-US" sz="2200" dirty="0" smtClean="0">
                <a:latin typeface="Helvetica" pitchFamily="34" charset="0"/>
              </a:rPr>
              <a:t>Review and evaluate SWOT </a:t>
            </a:r>
            <a:br>
              <a:rPr lang="en-US" sz="2200" dirty="0" smtClean="0">
                <a:latin typeface="Helvetica" pitchFamily="34" charset="0"/>
              </a:rPr>
            </a:br>
            <a:r>
              <a:rPr lang="en-US" sz="2200" dirty="0" smtClean="0">
                <a:latin typeface="Helvetica" pitchFamily="34" charset="0"/>
              </a:rPr>
              <a:t>Analyses of the business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6136" y="4130554"/>
            <a:ext cx="2627784" cy="1751703"/>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causes of industrial unrest in external environments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824536"/>
          </a:xfrm>
        </p:spPr>
        <p:txBody>
          <a:bodyPr>
            <a:normAutofit/>
          </a:bodyPr>
          <a:lstStyle/>
          <a:p>
            <a:pPr marL="0" indent="0">
              <a:spcBef>
                <a:spcPts val="600"/>
              </a:spcBef>
              <a:spcAft>
                <a:spcPts val="1200"/>
              </a:spcAft>
              <a:buNone/>
            </a:pPr>
            <a:r>
              <a:rPr lang="en-US" sz="2200" dirty="0" smtClean="0">
                <a:latin typeface="Helvetica" pitchFamily="34" charset="0"/>
              </a:rPr>
              <a:t>Three basic options for responding to external issues which may cause industrial unrest are:</a:t>
            </a:r>
          </a:p>
          <a:p>
            <a:pPr marL="360000" indent="-360000">
              <a:spcBef>
                <a:spcPts val="600"/>
              </a:spcBef>
              <a:spcAft>
                <a:spcPts val="1200"/>
              </a:spcAft>
            </a:pPr>
            <a:r>
              <a:rPr lang="en-US" sz="2200" dirty="0" smtClean="0">
                <a:latin typeface="Helvetica" pitchFamily="34" charset="0"/>
              </a:rPr>
              <a:t>Do nothing</a:t>
            </a:r>
          </a:p>
          <a:p>
            <a:pPr marL="360000" indent="-360000">
              <a:spcBef>
                <a:spcPts val="600"/>
              </a:spcBef>
              <a:spcAft>
                <a:spcPts val="1200"/>
              </a:spcAft>
            </a:pPr>
            <a:r>
              <a:rPr lang="en-US" sz="2200" dirty="0" smtClean="0">
                <a:latin typeface="Helvetica" pitchFamily="34" charset="0"/>
              </a:rPr>
              <a:t>Plan and prepare for action</a:t>
            </a:r>
          </a:p>
          <a:p>
            <a:pPr marL="360000" indent="-360000">
              <a:spcBef>
                <a:spcPts val="600"/>
              </a:spcBef>
              <a:spcAft>
                <a:spcPts val="1200"/>
              </a:spcAft>
            </a:pPr>
            <a:r>
              <a:rPr lang="en-US" sz="2200" dirty="0" smtClean="0">
                <a:latin typeface="Helvetica" pitchFamily="34" charset="0"/>
              </a:rPr>
              <a:t>Take immediate action</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6136" y="3861048"/>
            <a:ext cx="2555776" cy="1683218"/>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causes of industrial unrest in external environments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896544"/>
          </a:xfrm>
        </p:spPr>
        <p:txBody>
          <a:bodyPr>
            <a:normAutofit lnSpcReduction="10000"/>
          </a:bodyPr>
          <a:lstStyle/>
          <a:p>
            <a:pPr marL="0" indent="0">
              <a:spcBef>
                <a:spcPts val="600"/>
              </a:spcBef>
              <a:spcAft>
                <a:spcPts val="1200"/>
              </a:spcAft>
              <a:buNone/>
            </a:pPr>
            <a:r>
              <a:rPr lang="en-US" sz="2200" dirty="0" smtClean="0">
                <a:latin typeface="Helvetica" pitchFamily="34" charset="0"/>
              </a:rPr>
              <a:t>‘Doing nothing’ can be a valid response if it is a considered response, factoring in:</a:t>
            </a:r>
          </a:p>
          <a:p>
            <a:pPr marL="360000" indent="-360000">
              <a:spcBef>
                <a:spcPts val="600"/>
              </a:spcBef>
              <a:spcAft>
                <a:spcPts val="1200"/>
              </a:spcAft>
            </a:pPr>
            <a:r>
              <a:rPr lang="en-US" sz="2200" dirty="0" smtClean="0">
                <a:latin typeface="Helvetica" pitchFamily="34" charset="0"/>
              </a:rPr>
              <a:t>Potential of issue to actually impact staff/the organisation</a:t>
            </a:r>
          </a:p>
          <a:p>
            <a:pPr marL="360000" indent="-360000">
              <a:spcBef>
                <a:spcPts val="600"/>
              </a:spcBef>
              <a:spcAft>
                <a:spcPts val="1200"/>
              </a:spcAft>
            </a:pPr>
            <a:r>
              <a:rPr lang="en-US" sz="2200" dirty="0" smtClean="0">
                <a:latin typeface="Helvetica" pitchFamily="34" charset="0"/>
              </a:rPr>
              <a:t>Cost involved</a:t>
            </a:r>
          </a:p>
          <a:p>
            <a:pPr marL="360000" indent="-360000">
              <a:spcBef>
                <a:spcPts val="600"/>
              </a:spcBef>
              <a:spcAft>
                <a:spcPts val="1200"/>
              </a:spcAft>
            </a:pPr>
            <a:r>
              <a:rPr lang="en-US" sz="2200" dirty="0" smtClean="0">
                <a:latin typeface="Helvetica" pitchFamily="34" charset="0"/>
              </a:rPr>
              <a:t>Legal imperatives involved</a:t>
            </a:r>
          </a:p>
          <a:p>
            <a:pPr marL="360000" indent="-360000">
              <a:spcBef>
                <a:spcPts val="600"/>
              </a:spcBef>
              <a:spcAft>
                <a:spcPts val="1200"/>
              </a:spcAft>
            </a:pPr>
            <a:r>
              <a:rPr lang="en-US" sz="2200" dirty="0" smtClean="0">
                <a:latin typeface="Helvetica" pitchFamily="34" charset="0"/>
              </a:rPr>
              <a:t>Current state of workplace industrial relations</a:t>
            </a:r>
          </a:p>
          <a:p>
            <a:pPr marL="360000" indent="-360000">
              <a:spcBef>
                <a:spcPts val="600"/>
              </a:spcBef>
              <a:spcAft>
                <a:spcPts val="1200"/>
              </a:spcAft>
            </a:pPr>
            <a:r>
              <a:rPr lang="en-US" sz="2200" dirty="0" smtClean="0">
                <a:latin typeface="Helvetica" pitchFamily="34" charset="0"/>
              </a:rPr>
              <a:t>Timing issues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60032" y="2853466"/>
            <a:ext cx="1722206" cy="1463875"/>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causes of industrial unrest in external environments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752528"/>
          </a:xfrm>
        </p:spPr>
        <p:txBody>
          <a:bodyPr>
            <a:normAutofit/>
          </a:bodyPr>
          <a:lstStyle/>
          <a:p>
            <a:pPr marL="0" indent="0">
              <a:spcBef>
                <a:spcPts val="600"/>
              </a:spcBef>
              <a:spcAft>
                <a:spcPts val="1200"/>
              </a:spcAft>
              <a:buNone/>
            </a:pPr>
            <a:r>
              <a:rPr lang="en-US" sz="2200" dirty="0" smtClean="0">
                <a:latin typeface="Helvetica" pitchFamily="34" charset="0"/>
              </a:rPr>
              <a:t>‘Planning and preparing for action’ may require:</a:t>
            </a:r>
          </a:p>
          <a:p>
            <a:pPr marL="360000" indent="-360000">
              <a:spcBef>
                <a:spcPts val="600"/>
              </a:spcBef>
              <a:spcAft>
                <a:spcPts val="1200"/>
              </a:spcAft>
            </a:pPr>
            <a:r>
              <a:rPr lang="en-US" sz="2200" dirty="0" smtClean="0">
                <a:latin typeface="Helvetica" pitchFamily="34" charset="0"/>
              </a:rPr>
              <a:t>Undertaking standard risk management protocols</a:t>
            </a:r>
          </a:p>
          <a:p>
            <a:pPr marL="360000" indent="-360000">
              <a:spcBef>
                <a:spcPts val="600"/>
              </a:spcBef>
              <a:spcAft>
                <a:spcPts val="1200"/>
              </a:spcAft>
            </a:pPr>
            <a:r>
              <a:rPr lang="en-US" sz="2200" dirty="0" smtClean="0">
                <a:latin typeface="Helvetica" pitchFamily="34" charset="0"/>
              </a:rPr>
              <a:t>Determining impact of the issue on the organisation</a:t>
            </a:r>
          </a:p>
          <a:p>
            <a:pPr marL="360000" indent="-360000">
              <a:spcBef>
                <a:spcPts val="600"/>
              </a:spcBef>
              <a:spcAft>
                <a:spcPts val="1200"/>
              </a:spcAft>
            </a:pPr>
            <a:r>
              <a:rPr lang="en-US" sz="2200" dirty="0" smtClean="0">
                <a:latin typeface="Helvetica" pitchFamily="34" charset="0"/>
              </a:rPr>
              <a:t>Evaluating how other organisations have responded</a:t>
            </a:r>
          </a:p>
          <a:p>
            <a:pPr marL="360000" indent="-360000">
              <a:spcBef>
                <a:spcPts val="600"/>
              </a:spcBef>
              <a:spcAft>
                <a:spcPts val="1200"/>
              </a:spcAft>
            </a:pPr>
            <a:r>
              <a:rPr lang="en-US" sz="2200" dirty="0" smtClean="0">
                <a:latin typeface="Helvetica" pitchFamily="34" charset="0"/>
              </a:rPr>
              <a:t>Working out </a:t>
            </a:r>
            <a:r>
              <a:rPr lang="en-US" sz="2200" i="1" dirty="0" smtClean="0">
                <a:latin typeface="Helvetica" pitchFamily="34" charset="0"/>
              </a:rPr>
              <a:t>when </a:t>
            </a:r>
            <a:r>
              <a:rPr lang="en-US" sz="2200" dirty="0" smtClean="0">
                <a:latin typeface="Helvetica" pitchFamily="34" charset="0"/>
              </a:rPr>
              <a:t>issues will impact</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t="11552"/>
          <a:stretch/>
        </p:blipFill>
        <p:spPr>
          <a:xfrm>
            <a:off x="6156176" y="4077072"/>
            <a:ext cx="2183904" cy="1674715"/>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causes of industrial unrest in external environments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Integrating new/revised protocols into SOPs</a:t>
            </a:r>
          </a:p>
          <a:p>
            <a:pPr marL="360000" indent="-360000">
              <a:spcBef>
                <a:spcPts val="600"/>
              </a:spcBef>
              <a:spcAft>
                <a:spcPts val="1200"/>
              </a:spcAft>
            </a:pPr>
            <a:r>
              <a:rPr lang="en-US" sz="2200" dirty="0" smtClean="0">
                <a:latin typeface="Helvetica" pitchFamily="34" charset="0"/>
              </a:rPr>
              <a:t>Arranging for all necessary supporting resources to be available</a:t>
            </a:r>
          </a:p>
          <a:p>
            <a:pPr marL="360000" indent="-360000">
              <a:spcBef>
                <a:spcPts val="600"/>
              </a:spcBef>
              <a:spcAft>
                <a:spcPts val="1200"/>
              </a:spcAft>
            </a:pPr>
            <a:r>
              <a:rPr lang="en-US" sz="2200" dirty="0" smtClean="0">
                <a:latin typeface="Helvetica" pitchFamily="34" charset="0"/>
              </a:rPr>
              <a:t>Reviewing and revising business plans and budgets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15816" y="4005064"/>
            <a:ext cx="2687960" cy="1792869"/>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causes of industrial unrest in external environments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24536"/>
          </a:xfrm>
        </p:spPr>
        <p:txBody>
          <a:bodyPr>
            <a:normAutofit/>
          </a:bodyPr>
          <a:lstStyle/>
          <a:p>
            <a:pPr marL="0" indent="0">
              <a:spcBef>
                <a:spcPts val="600"/>
              </a:spcBef>
              <a:spcAft>
                <a:spcPts val="1200"/>
              </a:spcAft>
              <a:buNone/>
            </a:pPr>
            <a:r>
              <a:rPr lang="en-AU" sz="2200" dirty="0" smtClean="0">
                <a:latin typeface="Helvetica" pitchFamily="34" charset="0"/>
              </a:rPr>
              <a:t>Taking immediate action is required where issues are of special importance – in situations (such as) where:</a:t>
            </a:r>
          </a:p>
          <a:p>
            <a:pPr marL="360000" indent="-360000">
              <a:spcBef>
                <a:spcPts val="600"/>
              </a:spcBef>
              <a:spcAft>
                <a:spcPts val="1200"/>
              </a:spcAft>
            </a:pPr>
            <a:r>
              <a:rPr lang="en-AU" sz="2200" dirty="0" smtClean="0">
                <a:latin typeface="Helvetica" pitchFamily="34" charset="0"/>
              </a:rPr>
              <a:t>Legislation imposes immediate need for change</a:t>
            </a:r>
          </a:p>
          <a:p>
            <a:pPr marL="360000" indent="-360000">
              <a:spcBef>
                <a:spcPts val="600"/>
              </a:spcBef>
              <a:spcAft>
                <a:spcPts val="1200"/>
              </a:spcAft>
            </a:pPr>
            <a:r>
              <a:rPr lang="en-AU" sz="2200" dirty="0" smtClean="0">
                <a:latin typeface="Helvetica" pitchFamily="34" charset="0"/>
              </a:rPr>
              <a:t>There is need to act to maintain viability of the business</a:t>
            </a:r>
          </a:p>
          <a:p>
            <a:pPr marL="360000" indent="-360000">
              <a:spcBef>
                <a:spcPts val="600"/>
              </a:spcBef>
              <a:spcAft>
                <a:spcPts val="1200"/>
              </a:spcAft>
            </a:pPr>
            <a:r>
              <a:rPr lang="en-AU" sz="2200" dirty="0" smtClean="0">
                <a:latin typeface="Helvetica" pitchFamily="34" charset="0"/>
              </a:rPr>
              <a:t>There is a requirement to maintain/improve position of the business</a:t>
            </a:r>
          </a:p>
          <a:p>
            <a:pPr marL="360000" indent="-360000">
              <a:spcBef>
                <a:spcPts val="600"/>
              </a:spcBef>
              <a:spcAft>
                <a:spcPts val="1200"/>
              </a:spcAft>
            </a:pPr>
            <a:r>
              <a:rPr lang="en-AU" sz="2200" dirty="0" smtClean="0">
                <a:latin typeface="Helvetica" pitchFamily="34" charset="0"/>
              </a:rPr>
              <a:t>Staff recruitment or retention is at risk</a:t>
            </a:r>
          </a:p>
          <a:p>
            <a:pPr marL="360000" indent="-360000">
              <a:spcBef>
                <a:spcPts val="600"/>
              </a:spcBef>
              <a:spcAft>
                <a:spcPts val="1200"/>
              </a:spcAft>
            </a:pPr>
            <a:r>
              <a:rPr lang="en-AU" sz="2200" dirty="0" smtClean="0">
                <a:latin typeface="Helvetica" pitchFamily="34" charset="0"/>
              </a:rPr>
              <a:t>Goals/targets of the business are potentially jeopardised</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causes of industrial unrest in external environments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896544"/>
          </a:xfrm>
        </p:spPr>
        <p:txBody>
          <a:bodyPr>
            <a:normAutofit/>
          </a:bodyPr>
          <a:lstStyle/>
          <a:p>
            <a:pPr marL="0" indent="0">
              <a:spcBef>
                <a:spcPts val="600"/>
              </a:spcBef>
              <a:spcAft>
                <a:spcPts val="1200"/>
              </a:spcAft>
              <a:buNone/>
            </a:pPr>
            <a:r>
              <a:rPr lang="en-US" sz="2200" dirty="0" smtClean="0">
                <a:latin typeface="Helvetica" pitchFamily="34" charset="0"/>
              </a:rPr>
              <a:t>Keys to taking immediate action:</a:t>
            </a:r>
          </a:p>
          <a:p>
            <a:pPr marL="360000" indent="-360000">
              <a:spcBef>
                <a:spcPts val="600"/>
              </a:spcBef>
              <a:spcAft>
                <a:spcPts val="1200"/>
              </a:spcAft>
            </a:pPr>
            <a:r>
              <a:rPr lang="en-US" sz="2200" dirty="0" smtClean="0">
                <a:latin typeface="Helvetica" pitchFamily="34" charset="0"/>
              </a:rPr>
              <a:t>Involving and consulting with staff</a:t>
            </a:r>
          </a:p>
          <a:p>
            <a:pPr marL="360000" indent="-360000">
              <a:spcBef>
                <a:spcPts val="600"/>
              </a:spcBef>
              <a:spcAft>
                <a:spcPts val="1200"/>
              </a:spcAft>
            </a:pPr>
            <a:r>
              <a:rPr lang="en-US" sz="2200" dirty="0" smtClean="0">
                <a:latin typeface="Helvetica" pitchFamily="34" charset="0"/>
              </a:rPr>
              <a:t>Explaining rationale for action required</a:t>
            </a:r>
          </a:p>
          <a:p>
            <a:pPr marL="360000" indent="-360000">
              <a:spcBef>
                <a:spcPts val="600"/>
              </a:spcBef>
              <a:spcAft>
                <a:spcPts val="1200"/>
              </a:spcAft>
            </a:pPr>
            <a:r>
              <a:rPr lang="en-US" sz="2200" dirty="0" smtClean="0">
                <a:latin typeface="Helvetica" pitchFamily="34" charset="0"/>
              </a:rPr>
              <a:t>Stressing urgency of the situation</a:t>
            </a:r>
          </a:p>
          <a:p>
            <a:pPr marL="360000" indent="-360000">
              <a:spcBef>
                <a:spcPts val="600"/>
              </a:spcBef>
              <a:spcAft>
                <a:spcPts val="1200"/>
              </a:spcAft>
            </a:pPr>
            <a:r>
              <a:rPr lang="en-US" sz="2200" dirty="0" smtClean="0">
                <a:latin typeface="Helvetica" pitchFamily="34" charset="0"/>
              </a:rPr>
              <a:t>Highlighting potential of </a:t>
            </a:r>
            <a:r>
              <a:rPr lang="en-US" sz="2200" b="1" dirty="0" smtClean="0">
                <a:latin typeface="Helvetica" pitchFamily="34" charset="0"/>
              </a:rPr>
              <a:t>not </a:t>
            </a:r>
            <a:r>
              <a:rPr lang="en-US" sz="2200" dirty="0" smtClean="0">
                <a:latin typeface="Helvetica" pitchFamily="34" charset="0"/>
              </a:rPr>
              <a:t>taking action</a:t>
            </a:r>
          </a:p>
          <a:p>
            <a:pPr marL="360000" indent="-360000">
              <a:spcBef>
                <a:spcPts val="600"/>
              </a:spcBef>
              <a:spcAft>
                <a:spcPts val="1200"/>
              </a:spcAft>
            </a:pPr>
            <a:r>
              <a:rPr lang="en-US" sz="2200" dirty="0" smtClean="0">
                <a:latin typeface="Helvetica" pitchFamily="34" charset="0"/>
              </a:rPr>
              <a:t>Explaining implementation and </a:t>
            </a:r>
            <a:br>
              <a:rPr lang="en-US" sz="2200" dirty="0" smtClean="0">
                <a:latin typeface="Helvetica" pitchFamily="34" charset="0"/>
              </a:rPr>
            </a:br>
            <a:r>
              <a:rPr lang="en-US" sz="2200" dirty="0" smtClean="0">
                <a:latin typeface="Helvetica" pitchFamily="34" charset="0"/>
              </a:rPr>
              <a:t>transitional arrangements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4167" y="4371088"/>
            <a:ext cx="2307771" cy="1730828"/>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causes of industrial unrest in external environments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80520"/>
          </a:xfrm>
        </p:spPr>
        <p:txBody>
          <a:bodyPr>
            <a:normAutofit/>
          </a:bodyPr>
          <a:lstStyle/>
          <a:p>
            <a:pPr marL="360000" indent="-360000">
              <a:spcBef>
                <a:spcPts val="600"/>
              </a:spcBef>
              <a:spcAft>
                <a:spcPts val="1200"/>
              </a:spcAft>
            </a:pPr>
            <a:r>
              <a:rPr lang="en-US" sz="2200" dirty="0" smtClean="0">
                <a:latin typeface="Helvetica" pitchFamily="34" charset="0"/>
              </a:rPr>
              <a:t>Indicating/describing possible additional, revised or revised operating procedures stressing the dynamic nature of the situation</a:t>
            </a:r>
          </a:p>
          <a:p>
            <a:pPr marL="360000" indent="-360000">
              <a:spcBef>
                <a:spcPts val="600"/>
              </a:spcBef>
              <a:spcAft>
                <a:spcPts val="1200"/>
              </a:spcAft>
            </a:pPr>
            <a:r>
              <a:rPr lang="en-US" sz="2200" dirty="0" smtClean="0">
                <a:latin typeface="Helvetica" pitchFamily="34" charset="0"/>
              </a:rPr>
              <a:t>Emphasising support the organisation is </a:t>
            </a:r>
            <a:br>
              <a:rPr lang="en-US" sz="2200" dirty="0" smtClean="0">
                <a:latin typeface="Helvetica" pitchFamily="34" charset="0"/>
              </a:rPr>
            </a:br>
            <a:r>
              <a:rPr lang="en-US" sz="2200" dirty="0" smtClean="0">
                <a:latin typeface="Helvetica" pitchFamily="34" charset="0"/>
              </a:rPr>
              <a:t>providing for staff</a:t>
            </a:r>
          </a:p>
          <a:p>
            <a:pPr marL="360000" indent="-360000">
              <a:spcBef>
                <a:spcPts val="600"/>
              </a:spcBef>
              <a:spcAft>
                <a:spcPts val="1200"/>
              </a:spcAft>
            </a:pPr>
            <a:r>
              <a:rPr lang="en-US" sz="2200" dirty="0" smtClean="0">
                <a:latin typeface="Helvetica" pitchFamily="34" charset="0"/>
              </a:rPr>
              <a:t>Focusing on the benefits flowing </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0" indent="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88224" y="2926262"/>
            <a:ext cx="1805947" cy="2708920"/>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Identify causes of industrial unrest in external environments and take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752528"/>
          </a:xfrm>
        </p:spPr>
        <p:txBody>
          <a:bodyPr>
            <a:normAutofit/>
          </a:bodyPr>
          <a:lstStyle/>
          <a:p>
            <a:pPr marL="360000" indent="-360000">
              <a:spcBef>
                <a:spcPts val="600"/>
              </a:spcBef>
              <a:spcAft>
                <a:spcPts val="1200"/>
              </a:spcAft>
            </a:pPr>
            <a:r>
              <a:rPr lang="en-US" sz="2200" dirty="0" smtClean="0">
                <a:latin typeface="Helvetica" pitchFamily="34" charset="0"/>
              </a:rPr>
              <a:t>Indicating how short-term arrangements will transition into SOPs</a:t>
            </a:r>
          </a:p>
          <a:p>
            <a:pPr marL="360000" indent="-360000">
              <a:spcBef>
                <a:spcPts val="600"/>
              </a:spcBef>
              <a:spcAft>
                <a:spcPts val="1200"/>
              </a:spcAft>
            </a:pPr>
            <a:r>
              <a:rPr lang="en-US" sz="2200" dirty="0" smtClean="0">
                <a:latin typeface="Helvetica" pitchFamily="34" charset="0"/>
              </a:rPr>
              <a:t>Providing staff with a feedback loop for their input to (provisional) arrangements</a:t>
            </a:r>
          </a:p>
          <a:p>
            <a:pPr marL="360000" indent="-360000">
              <a:spcBef>
                <a:spcPts val="600"/>
              </a:spcBef>
              <a:spcAft>
                <a:spcPts val="1200"/>
              </a:spcAft>
            </a:pPr>
            <a:r>
              <a:rPr lang="en-US" sz="2200" dirty="0" smtClean="0">
                <a:latin typeface="Helvetica" pitchFamily="34" charset="0"/>
              </a:rPr>
              <a:t>Noting standard management practices </a:t>
            </a:r>
            <a:br>
              <a:rPr lang="en-US" sz="2200" dirty="0" smtClean="0">
                <a:latin typeface="Helvetica" pitchFamily="34" charset="0"/>
              </a:rPr>
            </a:br>
            <a:r>
              <a:rPr lang="en-US" sz="2200" dirty="0" smtClean="0">
                <a:latin typeface="Helvetica" pitchFamily="34" charset="0"/>
              </a:rPr>
              <a:t>which will apply to the </a:t>
            </a:r>
            <a:br>
              <a:rPr lang="en-US" sz="2200" dirty="0" smtClean="0">
                <a:latin typeface="Helvetica" pitchFamily="34" charset="0"/>
              </a:rPr>
            </a:br>
            <a:r>
              <a:rPr lang="en-US" sz="2200" dirty="0" smtClean="0">
                <a:latin typeface="Helvetica" pitchFamily="34" charset="0"/>
              </a:rPr>
              <a:t>situation/initiative/changed </a:t>
            </a:r>
            <a:br>
              <a:rPr lang="en-US" sz="2200" dirty="0" smtClean="0">
                <a:latin typeface="Helvetica" pitchFamily="34" charset="0"/>
              </a:rPr>
            </a:br>
            <a:r>
              <a:rPr lang="en-US" sz="2200" dirty="0" smtClean="0">
                <a:latin typeface="Helvetica" pitchFamily="34" charset="0"/>
              </a:rPr>
              <a:t>circumstances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200" y="3861048"/>
            <a:ext cx="2045747" cy="1910728"/>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Apply conditions of employment in accordance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Importance of this step/stage:</a:t>
            </a:r>
          </a:p>
          <a:p>
            <a:pPr marL="360000" indent="-360000">
              <a:spcBef>
                <a:spcPts val="600"/>
              </a:spcBef>
              <a:spcAft>
                <a:spcPts val="1200"/>
              </a:spcAft>
            </a:pPr>
            <a:r>
              <a:rPr lang="en-US" sz="2200" dirty="0" smtClean="0">
                <a:latin typeface="Helvetica" pitchFamily="34" charset="0"/>
              </a:rPr>
              <a:t>Staff usually know what they are entitled to and will check to make sure they get what they have been promised</a:t>
            </a:r>
          </a:p>
          <a:p>
            <a:pPr marL="360000" indent="-360000">
              <a:spcBef>
                <a:spcPts val="600"/>
              </a:spcBef>
              <a:spcAft>
                <a:spcPts val="1200"/>
              </a:spcAft>
            </a:pPr>
            <a:r>
              <a:rPr lang="en-US" sz="2200" dirty="0" smtClean="0">
                <a:latin typeface="Helvetica" pitchFamily="34" charset="0"/>
              </a:rPr>
              <a:t>The pay packet is the main reason employees work</a:t>
            </a:r>
          </a:p>
          <a:p>
            <a:pPr marL="360000" indent="-360000">
              <a:spcBef>
                <a:spcPts val="600"/>
              </a:spcBef>
              <a:spcAft>
                <a:spcPts val="1200"/>
              </a:spcAft>
            </a:pPr>
            <a:r>
              <a:rPr lang="en-US" sz="2200" dirty="0" smtClean="0">
                <a:latin typeface="Helvetica" pitchFamily="34" charset="0"/>
              </a:rPr>
              <a:t>It is a legal requirement</a:t>
            </a:r>
          </a:p>
          <a:p>
            <a:pPr marL="360000" indent="-360000">
              <a:spcBef>
                <a:spcPts val="600"/>
              </a:spcBef>
              <a:spcAft>
                <a:spcPts val="1200"/>
              </a:spcAft>
            </a:pPr>
            <a:r>
              <a:rPr lang="en-US" sz="2200" dirty="0" smtClean="0">
                <a:latin typeface="Helvetica" pitchFamily="34" charset="0"/>
              </a:rPr>
              <a:t>Compliance demonstrates value of/respect for workers</a:t>
            </a:r>
          </a:p>
          <a:p>
            <a:pPr marL="360000" indent="-360000">
              <a:spcBef>
                <a:spcPts val="600"/>
              </a:spcBef>
              <a:spcAft>
                <a:spcPts val="1200"/>
              </a:spcAft>
            </a:pPr>
            <a:r>
              <a:rPr lang="en-US" sz="2200" dirty="0" smtClean="0">
                <a:latin typeface="Helvetica" pitchFamily="34" charset="0"/>
              </a:rPr>
              <a:t>It avoids all the negative sentiments associated with not complying</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Apply conditions of employment in accordance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Relevant ‘Conditions of Employment’ will vary depending on:</a:t>
            </a:r>
          </a:p>
          <a:p>
            <a:pPr marL="360000" indent="-360000">
              <a:spcBef>
                <a:spcPts val="600"/>
              </a:spcBef>
              <a:spcAft>
                <a:spcPts val="1200"/>
              </a:spcAft>
            </a:pPr>
            <a:r>
              <a:rPr lang="en-US" sz="2200" dirty="0" smtClean="0">
                <a:latin typeface="Helvetica" pitchFamily="34" charset="0"/>
              </a:rPr>
              <a:t>Individual workplace/employer</a:t>
            </a:r>
          </a:p>
          <a:p>
            <a:pPr marL="360000" indent="-360000">
              <a:spcBef>
                <a:spcPts val="600"/>
              </a:spcBef>
              <a:spcAft>
                <a:spcPts val="1200"/>
              </a:spcAft>
            </a:pPr>
            <a:r>
              <a:rPr lang="en-US" sz="2200" dirty="0" smtClean="0">
                <a:latin typeface="Helvetica" pitchFamily="34" charset="0"/>
              </a:rPr>
              <a:t>Type of employment instrument/work agreement under which employees are engaged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176" y="4077072"/>
            <a:ext cx="2232248" cy="1488909"/>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Apply conditions of employment in accordance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indent="0">
              <a:spcBef>
                <a:spcPts val="600"/>
              </a:spcBef>
              <a:spcAft>
                <a:spcPts val="1200"/>
              </a:spcAft>
              <a:buNone/>
            </a:pPr>
            <a:r>
              <a:rPr lang="en-US" sz="2200" dirty="0" smtClean="0">
                <a:latin typeface="Helvetica" pitchFamily="34" charset="0"/>
              </a:rPr>
              <a:t>Ways to determine applicable ‘Conditions of Employment’:</a:t>
            </a:r>
          </a:p>
          <a:p>
            <a:pPr marL="360000" indent="-360000">
              <a:spcBef>
                <a:spcPts val="600"/>
              </a:spcBef>
              <a:spcAft>
                <a:spcPts val="1200"/>
              </a:spcAft>
            </a:pPr>
            <a:r>
              <a:rPr lang="en-AU" sz="2200" dirty="0" smtClean="0">
                <a:latin typeface="Helvetica" pitchFamily="34" charset="0"/>
              </a:rPr>
              <a:t>Reading individual work contracts/conditions of employment</a:t>
            </a:r>
          </a:p>
          <a:p>
            <a:pPr marL="360000" indent="-360000">
              <a:spcBef>
                <a:spcPts val="600"/>
              </a:spcBef>
              <a:spcAft>
                <a:spcPts val="1200"/>
              </a:spcAft>
            </a:pPr>
            <a:r>
              <a:rPr lang="en-AU" sz="2200" dirty="0" smtClean="0">
                <a:latin typeface="Helvetica" pitchFamily="34" charset="0"/>
              </a:rPr>
              <a:t>Reading relevant Awards</a:t>
            </a:r>
          </a:p>
          <a:p>
            <a:pPr marL="360000" indent="-360000">
              <a:spcBef>
                <a:spcPts val="600"/>
              </a:spcBef>
              <a:spcAft>
                <a:spcPts val="1200"/>
              </a:spcAft>
            </a:pPr>
            <a:r>
              <a:rPr lang="en-AU" sz="2200" dirty="0" smtClean="0">
                <a:latin typeface="Helvetica" pitchFamily="34" charset="0"/>
              </a:rPr>
              <a:t>Speaking to HR department and/or Payroll section</a:t>
            </a:r>
          </a:p>
          <a:p>
            <a:pPr marL="360000" indent="-360000">
              <a:spcBef>
                <a:spcPts val="600"/>
              </a:spcBef>
              <a:spcAft>
                <a:spcPts val="1200"/>
              </a:spcAft>
            </a:pPr>
            <a:r>
              <a:rPr lang="en-AU" sz="2200" dirty="0" smtClean="0">
                <a:latin typeface="Helvetica" pitchFamily="34" charset="0"/>
              </a:rPr>
              <a:t>Talking to manager, owner and/or other supervisors</a:t>
            </a:r>
          </a:p>
          <a:p>
            <a:pPr marL="360000" indent="-360000">
              <a:spcBef>
                <a:spcPts val="600"/>
              </a:spcBef>
              <a:spcAft>
                <a:spcPts val="1200"/>
              </a:spcAft>
            </a:pPr>
            <a:r>
              <a:rPr lang="en-AU" sz="2200" dirty="0" smtClean="0">
                <a:latin typeface="Helvetica" pitchFamily="34" charset="0"/>
              </a:rPr>
              <a:t>Asking the union with responsibility for employees </a:t>
            </a:r>
          </a:p>
          <a:p>
            <a:pPr marL="360000" indent="-360000">
              <a:spcBef>
                <a:spcPts val="600"/>
              </a:spcBef>
              <a:spcAft>
                <a:spcPts val="1200"/>
              </a:spcAft>
            </a:pPr>
            <a:r>
              <a:rPr lang="en-AU" sz="2200" dirty="0" smtClean="0">
                <a:latin typeface="Helvetica" pitchFamily="34" charset="0"/>
              </a:rPr>
              <a:t>Contacting government agency with responsibility for Employment, Manpower or similar</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Apply conditions of employment in accordance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Key generic action to ensure compliance:</a:t>
            </a:r>
          </a:p>
          <a:p>
            <a:pPr marL="360000" indent="-360000">
              <a:spcBef>
                <a:spcPts val="600"/>
              </a:spcBef>
              <a:spcAft>
                <a:spcPts val="1200"/>
              </a:spcAft>
            </a:pPr>
            <a:r>
              <a:rPr lang="en-US" sz="2200" dirty="0" smtClean="0">
                <a:latin typeface="Helvetica" pitchFamily="34" charset="0"/>
              </a:rPr>
              <a:t>Be certain of all Award and agreement arrangements</a:t>
            </a:r>
          </a:p>
          <a:p>
            <a:pPr marL="360000" indent="-360000">
              <a:spcBef>
                <a:spcPts val="600"/>
              </a:spcBef>
              <a:spcAft>
                <a:spcPts val="1200"/>
              </a:spcAft>
            </a:pPr>
            <a:r>
              <a:rPr lang="en-US" sz="2200" dirty="0" smtClean="0">
                <a:latin typeface="Helvetica" pitchFamily="34" charset="0"/>
              </a:rPr>
              <a:t>Monitor relevant documentation</a:t>
            </a:r>
          </a:p>
          <a:p>
            <a:pPr marL="360000" indent="-360000">
              <a:spcBef>
                <a:spcPts val="600"/>
              </a:spcBef>
              <a:spcAft>
                <a:spcPts val="1200"/>
              </a:spcAft>
            </a:pPr>
            <a:r>
              <a:rPr lang="en-US" sz="2200" dirty="0" smtClean="0">
                <a:latin typeface="Helvetica" pitchFamily="34" charset="0"/>
              </a:rPr>
              <a:t>Check and observe workplace practice</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49618" y="3142557"/>
            <a:ext cx="2370836" cy="2446683"/>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Apply conditions of employment in accordance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US" sz="2200" dirty="0" smtClean="0">
                <a:latin typeface="Helvetica" pitchFamily="34" charset="0"/>
              </a:rPr>
              <a:t>Key checks to optimise compliance with requirements:</a:t>
            </a:r>
          </a:p>
          <a:p>
            <a:pPr marL="360000" indent="-360000">
              <a:spcBef>
                <a:spcPts val="600"/>
              </a:spcBef>
              <a:spcAft>
                <a:spcPts val="1200"/>
              </a:spcAft>
            </a:pPr>
            <a:r>
              <a:rPr lang="en-AU" sz="2200" dirty="0" smtClean="0">
                <a:latin typeface="Helvetica" pitchFamily="34" charset="0"/>
              </a:rPr>
              <a:t>Checking necessary protocols are in place</a:t>
            </a:r>
          </a:p>
          <a:p>
            <a:pPr marL="360000" indent="-360000">
              <a:spcBef>
                <a:spcPts val="600"/>
              </a:spcBef>
              <a:spcAft>
                <a:spcPts val="1200"/>
              </a:spcAft>
            </a:pPr>
            <a:r>
              <a:rPr lang="en-AU" sz="2200" dirty="0" smtClean="0">
                <a:latin typeface="Helvetica" pitchFamily="34" charset="0"/>
              </a:rPr>
              <a:t>Checking correct payment of wages</a:t>
            </a:r>
          </a:p>
          <a:p>
            <a:pPr marL="360000" indent="-360000">
              <a:spcBef>
                <a:spcPts val="600"/>
              </a:spcBef>
              <a:spcAft>
                <a:spcPts val="1200"/>
              </a:spcAft>
            </a:pPr>
            <a:r>
              <a:rPr lang="en-AU" sz="2200" dirty="0" smtClean="0">
                <a:latin typeface="Helvetica" pitchFamily="34" charset="0"/>
              </a:rPr>
              <a:t>Checking working hours</a:t>
            </a:r>
          </a:p>
          <a:p>
            <a:pPr marL="360000" indent="-360000">
              <a:spcBef>
                <a:spcPts val="600"/>
              </a:spcBef>
              <a:spcAft>
                <a:spcPts val="1200"/>
              </a:spcAft>
            </a:pPr>
            <a:r>
              <a:rPr lang="en-AU" sz="2200" dirty="0" smtClean="0">
                <a:latin typeface="Helvetica" pitchFamily="34" charset="0"/>
              </a:rPr>
              <a:t>Checking personnel records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49618" y="3142557"/>
            <a:ext cx="2370836" cy="2446683"/>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Apply conditions of employment in accordance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AU" sz="2200" dirty="0" smtClean="0">
                <a:latin typeface="Helvetica" pitchFamily="34" charset="0"/>
              </a:rPr>
              <a:t>Checking necessary protocols are in place, involves</a:t>
            </a:r>
            <a:r>
              <a:rPr lang="en-US" sz="2200" dirty="0" smtClean="0">
                <a:latin typeface="Helvetica" pitchFamily="34" charset="0"/>
              </a:rPr>
              <a:t>:</a:t>
            </a:r>
          </a:p>
          <a:p>
            <a:pPr marL="360000" indent="-360000">
              <a:spcBef>
                <a:spcPts val="600"/>
              </a:spcBef>
              <a:spcAft>
                <a:spcPts val="1200"/>
              </a:spcAft>
            </a:pPr>
            <a:r>
              <a:rPr lang="en-AU" sz="2200" dirty="0" smtClean="0">
                <a:latin typeface="Helvetica" pitchFamily="34" charset="0"/>
              </a:rPr>
              <a:t>Making sure necessary employment instruments have been drawn up and correctly worded</a:t>
            </a:r>
          </a:p>
          <a:p>
            <a:pPr marL="360000" indent="-360000">
              <a:spcBef>
                <a:spcPts val="600"/>
              </a:spcBef>
              <a:spcAft>
                <a:spcPts val="1200"/>
              </a:spcAft>
            </a:pPr>
            <a:r>
              <a:rPr lang="en-AU" sz="2200" dirty="0" smtClean="0">
                <a:latin typeface="Helvetica" pitchFamily="34" charset="0"/>
              </a:rPr>
              <a:t>Verifying appropriate notification procedures have been established and are being implemented</a:t>
            </a:r>
          </a:p>
          <a:p>
            <a:pPr marL="360000" indent="-360000">
              <a:spcBef>
                <a:spcPts val="600"/>
              </a:spcBef>
              <a:spcAft>
                <a:spcPts val="1200"/>
              </a:spcAft>
            </a:pPr>
            <a:r>
              <a:rPr lang="en-AU" sz="2200" dirty="0" smtClean="0">
                <a:latin typeface="Helvetica" pitchFamily="34" charset="0"/>
              </a:rPr>
              <a:t>Ensuring written documentation exists </a:t>
            </a:r>
            <a:br>
              <a:rPr lang="en-AU" sz="2200" dirty="0" smtClean="0">
                <a:latin typeface="Helvetica" pitchFamily="34" charset="0"/>
              </a:rPr>
            </a:br>
            <a:r>
              <a:rPr lang="en-AU" sz="2200" dirty="0" smtClean="0">
                <a:latin typeface="Helvetica" pitchFamily="34" charset="0"/>
              </a:rPr>
              <a:t>and is revised regularly</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04520" y="3717032"/>
            <a:ext cx="2183904" cy="2183904"/>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Apply conditions of employment in accordance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Checking correct payment of wages is done to:</a:t>
            </a:r>
          </a:p>
          <a:p>
            <a:pPr marL="360000" indent="-360000">
              <a:spcBef>
                <a:spcPts val="600"/>
              </a:spcBef>
              <a:spcAft>
                <a:spcPts val="1200"/>
              </a:spcAft>
            </a:pPr>
            <a:r>
              <a:rPr lang="en-US" sz="2200" dirty="0" smtClean="0">
                <a:latin typeface="Helvetica" pitchFamily="34" charset="0"/>
              </a:rPr>
              <a:t>Make sure employees are receiving all remuneration they are entitled to/have been told they will receive</a:t>
            </a:r>
          </a:p>
          <a:p>
            <a:pPr marL="360000" indent="-360000">
              <a:spcBef>
                <a:spcPts val="600"/>
              </a:spcBef>
              <a:spcAft>
                <a:spcPts val="1200"/>
              </a:spcAft>
            </a:pPr>
            <a:r>
              <a:rPr lang="en-US" sz="2200" dirty="0" smtClean="0">
                <a:latin typeface="Helvetica" pitchFamily="34" charset="0"/>
              </a:rPr>
              <a:t>Ensure organisation is </a:t>
            </a:r>
            <a:r>
              <a:rPr lang="en-US" sz="2200" b="1" dirty="0" smtClean="0">
                <a:latin typeface="Helvetica" pitchFamily="34" charset="0"/>
              </a:rPr>
              <a:t>not paying </a:t>
            </a:r>
            <a:r>
              <a:rPr lang="en-US" sz="2200" dirty="0" smtClean="0">
                <a:latin typeface="Helvetica" pitchFamily="34" charset="0"/>
              </a:rPr>
              <a:t>wages it is not obliged to pay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4005064"/>
            <a:ext cx="2508210" cy="1672976"/>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Apply conditions of employment in accordance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fontScale="92500"/>
          </a:bodyPr>
          <a:lstStyle/>
          <a:p>
            <a:pPr marL="0" indent="0">
              <a:spcBef>
                <a:spcPts val="600"/>
              </a:spcBef>
              <a:spcAft>
                <a:spcPts val="1200"/>
              </a:spcAft>
              <a:buNone/>
            </a:pPr>
            <a:r>
              <a:rPr lang="en-AU" sz="2200" dirty="0" smtClean="0">
                <a:latin typeface="Helvetica" pitchFamily="34" charset="0"/>
              </a:rPr>
              <a:t>Checking correct payment of wages</a:t>
            </a:r>
            <a:r>
              <a:rPr lang="en-US" sz="2200" dirty="0" smtClean="0">
                <a:latin typeface="Helvetica" pitchFamily="34" charset="0"/>
              </a:rPr>
              <a:t>:</a:t>
            </a:r>
          </a:p>
          <a:p>
            <a:pPr marL="360000" indent="-360000">
              <a:spcBef>
                <a:spcPts val="600"/>
              </a:spcBef>
              <a:spcAft>
                <a:spcPts val="1200"/>
              </a:spcAft>
            </a:pPr>
            <a:r>
              <a:rPr lang="en-AU" sz="2200" dirty="0" smtClean="0">
                <a:latin typeface="Helvetica" pitchFamily="34" charset="0"/>
              </a:rPr>
              <a:t>Select one or two staff members who have just completed a rostered period of work</a:t>
            </a:r>
          </a:p>
          <a:p>
            <a:pPr marL="360000" indent="-360000">
              <a:spcBef>
                <a:spcPts val="600"/>
              </a:spcBef>
              <a:spcAft>
                <a:spcPts val="1200"/>
              </a:spcAft>
            </a:pPr>
            <a:r>
              <a:rPr lang="en-AU" sz="2200" dirty="0" smtClean="0">
                <a:latin typeface="Helvetica" pitchFamily="34" charset="0"/>
              </a:rPr>
              <a:t>Use roster to determine hours they were required to work</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Compare hours claimed against rostered hours </a:t>
            </a:r>
          </a:p>
          <a:p>
            <a:pPr marL="360000" indent="-360000">
              <a:spcBef>
                <a:spcPts val="600"/>
              </a:spcBef>
              <a:spcAft>
                <a:spcPts val="1200"/>
              </a:spcAft>
            </a:pPr>
            <a:r>
              <a:rPr lang="en-US" sz="2200" dirty="0" smtClean="0">
                <a:latin typeface="Helvetica" pitchFamily="34" charset="0"/>
              </a:rPr>
              <a:t>Use appropriate pay rates to calculate payment for the period</a:t>
            </a:r>
          </a:p>
          <a:p>
            <a:pPr marL="360000" indent="-360000">
              <a:spcBef>
                <a:spcPts val="600"/>
              </a:spcBef>
              <a:spcAft>
                <a:spcPts val="1200"/>
              </a:spcAft>
            </a:pPr>
            <a:r>
              <a:rPr lang="en-US" sz="2200" dirty="0" smtClean="0">
                <a:latin typeface="Helvetica" pitchFamily="34" charset="0"/>
              </a:rPr>
              <a:t>Compare this figure to wages calculated by Payroll</a:t>
            </a:r>
          </a:p>
          <a:p>
            <a:pPr marL="360000" indent="-360000">
              <a:spcBef>
                <a:spcPts val="600"/>
              </a:spcBef>
              <a:spcAft>
                <a:spcPts val="1200"/>
              </a:spcAft>
            </a:pPr>
            <a:r>
              <a:rPr lang="en-US" sz="2200" dirty="0" smtClean="0">
                <a:latin typeface="Helvetica" pitchFamily="34" charset="0"/>
              </a:rPr>
              <a:t>Take action as required to address discrepancies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Apply conditions of employment in accordance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US" sz="2200" dirty="0" smtClean="0">
                <a:latin typeface="Helvetica" pitchFamily="34" charset="0"/>
              </a:rPr>
              <a:t>Checking working hours is done to ensure:</a:t>
            </a:r>
          </a:p>
          <a:p>
            <a:pPr marL="360000" indent="-360000">
              <a:spcBef>
                <a:spcPts val="600"/>
              </a:spcBef>
              <a:spcAft>
                <a:spcPts val="1200"/>
              </a:spcAft>
            </a:pPr>
            <a:r>
              <a:rPr lang="en-US" sz="2200" dirty="0" smtClean="0">
                <a:latin typeface="Helvetica" pitchFamily="34" charset="0"/>
              </a:rPr>
              <a:t>Staff are (only) working under the conditions they were told would apply</a:t>
            </a:r>
          </a:p>
          <a:p>
            <a:pPr marL="360000" indent="-360000">
              <a:spcBef>
                <a:spcPts val="600"/>
              </a:spcBef>
              <a:spcAft>
                <a:spcPts val="1200"/>
              </a:spcAft>
            </a:pPr>
            <a:r>
              <a:rPr lang="en-US" sz="2200" dirty="0" smtClean="0">
                <a:latin typeface="Helvetica" pitchFamily="34" charset="0"/>
              </a:rPr>
              <a:t>The organisation is not paying avoidable penalty rates</a:t>
            </a:r>
          </a:p>
          <a:p>
            <a:pPr marL="360000" indent="-360000">
              <a:spcBef>
                <a:spcPts val="600"/>
              </a:spcBef>
              <a:spcAft>
                <a:spcPts val="1200"/>
              </a:spcAft>
            </a:pPr>
            <a:r>
              <a:rPr lang="en-US" sz="2200" dirty="0" smtClean="0">
                <a:latin typeface="Helvetica" pitchFamily="34" charset="0"/>
              </a:rPr>
              <a:t>Rosters are created in accordance with relevant Conditions of Employment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176" y="4365104"/>
            <a:ext cx="2186120" cy="1450126"/>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Apply conditions of employment in accordance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Checking working hours, involves:</a:t>
            </a:r>
          </a:p>
          <a:p>
            <a:pPr marL="360000" indent="-360000">
              <a:spcBef>
                <a:spcPts val="600"/>
              </a:spcBef>
              <a:spcAft>
                <a:spcPts val="1200"/>
              </a:spcAft>
            </a:pPr>
            <a:r>
              <a:rPr lang="en-US" sz="2200" dirty="0" smtClean="0">
                <a:latin typeface="Helvetica" pitchFamily="34" charset="0"/>
              </a:rPr>
              <a:t>Selecting several staff who have completed a roster</a:t>
            </a:r>
          </a:p>
          <a:p>
            <a:pPr marL="360000" indent="-360000">
              <a:spcBef>
                <a:spcPts val="600"/>
              </a:spcBef>
              <a:spcAft>
                <a:spcPts val="1200"/>
              </a:spcAft>
            </a:pPr>
            <a:r>
              <a:rPr lang="en-US" sz="2200" dirty="0" smtClean="0">
                <a:latin typeface="Helvetica" pitchFamily="34" charset="0"/>
              </a:rPr>
              <a:t>Determining start and finish times and breaks from roster for all these employees</a:t>
            </a:r>
          </a:p>
          <a:p>
            <a:pPr marL="360000" indent="-360000">
              <a:spcBef>
                <a:spcPts val="600"/>
              </a:spcBef>
              <a:spcAft>
                <a:spcPts val="1200"/>
              </a:spcAft>
            </a:pPr>
            <a:r>
              <a:rPr lang="en-US" sz="2200" dirty="0" smtClean="0">
                <a:latin typeface="Helvetica" pitchFamily="34" charset="0"/>
              </a:rPr>
              <a:t>Comparing identified times with requirements of work instruments/agreements to ensure alignment of roster/s with requirements of work agreements</a:t>
            </a:r>
          </a:p>
          <a:p>
            <a:pPr marL="360000" indent="-360000">
              <a:spcBef>
                <a:spcPts val="600"/>
              </a:spcBef>
              <a:spcAft>
                <a:spcPts val="1200"/>
              </a:spcAft>
            </a:pPr>
            <a:r>
              <a:rPr lang="en-US" sz="2200" dirty="0" smtClean="0">
                <a:latin typeface="Helvetica" pitchFamily="34" charset="0"/>
              </a:rPr>
              <a:t>Initiate remedial action as required on the basis of the above exercise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Apply conditions of employment in accordance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US" sz="2200" dirty="0" smtClean="0">
                <a:latin typeface="Helvetica" pitchFamily="34" charset="0"/>
              </a:rPr>
              <a:t>Checking personnel records is done to:</a:t>
            </a:r>
          </a:p>
          <a:p>
            <a:pPr marL="360000" indent="-360000">
              <a:spcBef>
                <a:spcPts val="600"/>
              </a:spcBef>
              <a:spcAft>
                <a:spcPts val="1200"/>
              </a:spcAft>
            </a:pPr>
            <a:r>
              <a:rPr lang="en-US" sz="2200" dirty="0" smtClean="0">
                <a:latin typeface="Helvetica" pitchFamily="34" charset="0"/>
              </a:rPr>
              <a:t>Ensure accurate and up-to-date records are maintained</a:t>
            </a:r>
          </a:p>
          <a:p>
            <a:pPr marL="360000" indent="-360000">
              <a:spcBef>
                <a:spcPts val="600"/>
              </a:spcBef>
              <a:spcAft>
                <a:spcPts val="1200"/>
              </a:spcAft>
            </a:pPr>
            <a:r>
              <a:rPr lang="en-US" sz="2200" dirty="0" smtClean="0">
                <a:latin typeface="Helvetica" pitchFamily="34" charset="0"/>
              </a:rPr>
              <a:t>Make sure staff receive all leave entitlements</a:t>
            </a:r>
          </a:p>
          <a:p>
            <a:pPr marL="360000" indent="-360000">
              <a:spcBef>
                <a:spcPts val="600"/>
              </a:spcBef>
              <a:spcAft>
                <a:spcPts val="1200"/>
              </a:spcAft>
            </a:pPr>
            <a:r>
              <a:rPr lang="en-US" sz="2200" dirty="0" smtClean="0">
                <a:latin typeface="Helvetica" pitchFamily="34" charset="0"/>
              </a:rPr>
              <a:t>Verify business is not paying for things </a:t>
            </a:r>
            <a:br>
              <a:rPr lang="en-US" sz="2200" dirty="0" smtClean="0">
                <a:latin typeface="Helvetica" pitchFamily="34" charset="0"/>
              </a:rPr>
            </a:br>
            <a:r>
              <a:rPr lang="en-US" sz="2200" dirty="0" smtClean="0">
                <a:latin typeface="Helvetica" pitchFamily="34" charset="0"/>
              </a:rPr>
              <a:t>staff are </a:t>
            </a:r>
            <a:r>
              <a:rPr lang="en-US" sz="2200" b="1" dirty="0" smtClean="0">
                <a:latin typeface="Helvetica" pitchFamily="34" charset="0"/>
              </a:rPr>
              <a:t>not </a:t>
            </a:r>
            <a:r>
              <a:rPr lang="en-US" sz="2200" dirty="0" smtClean="0">
                <a:latin typeface="Helvetica" pitchFamily="34" charset="0"/>
              </a:rPr>
              <a:t>entitled to</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75627" y="3284984"/>
            <a:ext cx="1784805" cy="2687960"/>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Apply conditions of employment in accordance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89530" cy="4896544"/>
          </a:xfrm>
        </p:spPr>
        <p:txBody>
          <a:bodyPr>
            <a:normAutofit/>
          </a:bodyPr>
          <a:lstStyle/>
          <a:p>
            <a:pPr marL="0" indent="0">
              <a:spcBef>
                <a:spcPts val="600"/>
              </a:spcBef>
              <a:spcAft>
                <a:spcPts val="1200"/>
              </a:spcAft>
              <a:buNone/>
            </a:pPr>
            <a:r>
              <a:rPr lang="en-US" sz="2200" dirty="0" smtClean="0">
                <a:latin typeface="Helvetica" pitchFamily="34" charset="0"/>
              </a:rPr>
              <a:t>Cross-checking personnel files, involves:</a:t>
            </a:r>
          </a:p>
          <a:p>
            <a:pPr marL="360000" indent="-360000">
              <a:spcBef>
                <a:spcPts val="600"/>
              </a:spcBef>
              <a:spcAft>
                <a:spcPts val="1200"/>
              </a:spcAft>
            </a:pPr>
            <a:r>
              <a:rPr lang="en-US" sz="2200" dirty="0" smtClean="0">
                <a:latin typeface="Helvetica" pitchFamily="34" charset="0"/>
              </a:rPr>
              <a:t>Choosing several staff member names’</a:t>
            </a:r>
          </a:p>
          <a:p>
            <a:pPr marL="360000" indent="-360000">
              <a:spcBef>
                <a:spcPts val="600"/>
              </a:spcBef>
              <a:spcAft>
                <a:spcPts val="1200"/>
              </a:spcAft>
            </a:pPr>
            <a:r>
              <a:rPr lang="en-US" sz="2200" dirty="0" smtClean="0">
                <a:latin typeface="Helvetica" pitchFamily="34" charset="0"/>
              </a:rPr>
              <a:t>Picking up their files from admin/HR department</a:t>
            </a:r>
          </a:p>
          <a:p>
            <a:pPr marL="360000" indent="-360000">
              <a:spcBef>
                <a:spcPts val="600"/>
              </a:spcBef>
              <a:spcAft>
                <a:spcPts val="1200"/>
              </a:spcAft>
            </a:pPr>
            <a:r>
              <a:rPr lang="en-US" sz="2200" dirty="0" smtClean="0">
                <a:latin typeface="Helvetica" pitchFamily="34" charset="0"/>
              </a:rPr>
              <a:t>Analysing each file – in terms of:</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Verifying employment status, classification  and pay rate</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Checking recording of leave available and leave taken</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Verifying payment of entitlements matched against eligibility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Apply conditions of employment in accordance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AU" sz="2200" dirty="0" smtClean="0">
                <a:latin typeface="Helvetica" pitchFamily="34" charset="0"/>
              </a:rPr>
              <a:t>Possible outcomes of failing to apply requirements:</a:t>
            </a:r>
          </a:p>
          <a:p>
            <a:pPr marL="360000" indent="-360000">
              <a:spcBef>
                <a:spcPts val="600"/>
              </a:spcBef>
              <a:spcAft>
                <a:spcPts val="1200"/>
              </a:spcAft>
            </a:pPr>
            <a:r>
              <a:rPr lang="en-AU" sz="2200" dirty="0" smtClean="0">
                <a:latin typeface="Helvetica" pitchFamily="34" charset="0"/>
              </a:rPr>
              <a:t>Dissatisfied staff</a:t>
            </a:r>
          </a:p>
          <a:p>
            <a:pPr marL="360000" indent="-360000">
              <a:spcBef>
                <a:spcPts val="600"/>
              </a:spcBef>
              <a:spcAft>
                <a:spcPts val="1200"/>
              </a:spcAft>
            </a:pPr>
            <a:r>
              <a:rPr lang="en-AU" sz="2200" dirty="0" smtClean="0">
                <a:latin typeface="Helvetica" pitchFamily="34" charset="0"/>
              </a:rPr>
              <a:t>Distrust among staff</a:t>
            </a:r>
          </a:p>
          <a:p>
            <a:pPr marL="360000" indent="-360000">
              <a:spcBef>
                <a:spcPts val="600"/>
              </a:spcBef>
              <a:spcAft>
                <a:spcPts val="1200"/>
              </a:spcAft>
            </a:pPr>
            <a:r>
              <a:rPr lang="en-AU" sz="2200" dirty="0" smtClean="0">
                <a:latin typeface="Helvetica" pitchFamily="34" charset="0"/>
              </a:rPr>
              <a:t>Bad media coverage/public sentiment towards the organisation</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r>
              <a:rPr lang="en-AU" sz="2200" i="1" dirty="0" smtClean="0">
                <a:latin typeface="Helvetica" pitchFamily="34" charset="0"/>
              </a:rPr>
              <a:t>(Continued)</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4480" y="4149080"/>
            <a:ext cx="2543944" cy="1696811"/>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Apply conditions of employment in accordance with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US" sz="2200" dirty="0" smtClean="0">
                <a:latin typeface="Helvetica" pitchFamily="34" charset="0"/>
              </a:rPr>
              <a:t>Union intervention</a:t>
            </a:r>
          </a:p>
          <a:p>
            <a:pPr marL="360000" indent="-360000">
              <a:spcBef>
                <a:spcPts val="600"/>
              </a:spcBef>
              <a:spcAft>
                <a:spcPts val="1200"/>
              </a:spcAft>
            </a:pPr>
            <a:r>
              <a:rPr lang="en-US" sz="2200" dirty="0" smtClean="0">
                <a:latin typeface="Helvetica" pitchFamily="34" charset="0"/>
              </a:rPr>
              <a:t>Penalties/fines from authorities</a:t>
            </a:r>
          </a:p>
          <a:p>
            <a:pPr marL="360000" indent="-360000">
              <a:spcBef>
                <a:spcPts val="600"/>
              </a:spcBef>
              <a:spcAft>
                <a:spcPts val="1200"/>
              </a:spcAft>
            </a:pPr>
            <a:r>
              <a:rPr lang="en-US" sz="2200" dirty="0" smtClean="0">
                <a:latin typeface="Helvetica" pitchFamily="34" charset="0"/>
              </a:rPr>
              <a:t>Civil action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19" y="2348069"/>
            <a:ext cx="2533477" cy="2683768"/>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consulting with staff and facilitating two-way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‘Consulting’ and ‘Communicating’ are other used interchangeably but they mean different things.</a:t>
            </a:r>
          </a:p>
          <a:p>
            <a:pPr marL="0" indent="0">
              <a:spcBef>
                <a:spcPts val="600"/>
              </a:spcBef>
              <a:spcAft>
                <a:spcPts val="1200"/>
              </a:spcAft>
              <a:buNone/>
            </a:pPr>
            <a:r>
              <a:rPr lang="en-US" sz="2200" dirty="0" smtClean="0">
                <a:latin typeface="Helvetica" pitchFamily="34" charset="0"/>
              </a:rPr>
              <a:t>Consulting refers to:</a:t>
            </a:r>
          </a:p>
          <a:p>
            <a:pPr marL="360000" indent="-360000">
              <a:spcBef>
                <a:spcPts val="600"/>
              </a:spcBef>
              <a:spcAft>
                <a:spcPts val="1200"/>
              </a:spcAft>
            </a:pPr>
            <a:r>
              <a:rPr lang="en-AU" sz="2200" dirty="0" smtClean="0">
                <a:latin typeface="Helvetica" pitchFamily="34" charset="0"/>
              </a:rPr>
              <a:t>Meeting with people</a:t>
            </a:r>
          </a:p>
          <a:p>
            <a:pPr marL="360000" indent="-360000">
              <a:spcBef>
                <a:spcPts val="600"/>
              </a:spcBef>
              <a:spcAft>
                <a:spcPts val="1200"/>
              </a:spcAft>
            </a:pPr>
            <a:r>
              <a:rPr lang="en-AU" sz="2200" dirty="0" smtClean="0">
                <a:latin typeface="Helvetica" pitchFamily="34" charset="0"/>
              </a:rPr>
              <a:t>Bringing parties together</a:t>
            </a:r>
          </a:p>
          <a:p>
            <a:pPr marL="360000" indent="-360000">
              <a:spcBef>
                <a:spcPts val="600"/>
              </a:spcBef>
              <a:spcAft>
                <a:spcPts val="1200"/>
              </a:spcAft>
            </a:pPr>
            <a:r>
              <a:rPr lang="en-AU" sz="2200" dirty="0" smtClean="0">
                <a:latin typeface="Helvetica" pitchFamily="34" charset="0"/>
              </a:rPr>
              <a:t>Asking people for their input</a:t>
            </a:r>
          </a:p>
          <a:p>
            <a:pPr marL="360000" indent="-360000">
              <a:spcBef>
                <a:spcPts val="600"/>
              </a:spcBef>
              <a:spcAft>
                <a:spcPts val="1200"/>
              </a:spcAft>
            </a:pPr>
            <a:r>
              <a:rPr lang="en-AU" sz="2200" dirty="0" smtClean="0">
                <a:latin typeface="Helvetica" pitchFamily="34" charset="0"/>
              </a:rPr>
              <a:t>Exchanging information</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3021073"/>
            <a:ext cx="2687960" cy="1792869"/>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consulting with staff and facilitating two-way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752528"/>
          </a:xfrm>
        </p:spPr>
        <p:txBody>
          <a:bodyPr>
            <a:normAutofit/>
          </a:bodyPr>
          <a:lstStyle/>
          <a:p>
            <a:pPr marL="0" indent="0">
              <a:spcBef>
                <a:spcPts val="600"/>
              </a:spcBef>
              <a:spcAft>
                <a:spcPts val="1200"/>
              </a:spcAft>
              <a:buNone/>
            </a:pPr>
            <a:r>
              <a:rPr lang="en-US" sz="2200" dirty="0" smtClean="0">
                <a:latin typeface="Helvetica" pitchFamily="34" charset="0"/>
              </a:rPr>
              <a:t>Communicating refers to:</a:t>
            </a:r>
          </a:p>
          <a:p>
            <a:pPr marL="360000" indent="-360000">
              <a:spcBef>
                <a:spcPts val="600"/>
              </a:spcBef>
              <a:spcAft>
                <a:spcPts val="1200"/>
              </a:spcAft>
            </a:pPr>
            <a:r>
              <a:rPr lang="en-AU" sz="2200" dirty="0" smtClean="0">
                <a:latin typeface="Helvetica" pitchFamily="34" charset="0"/>
              </a:rPr>
              <a:t>Telling people what has been decided</a:t>
            </a:r>
          </a:p>
          <a:p>
            <a:pPr marL="360000" indent="-360000">
              <a:spcBef>
                <a:spcPts val="600"/>
              </a:spcBef>
              <a:spcAft>
                <a:spcPts val="1200"/>
              </a:spcAft>
            </a:pPr>
            <a:r>
              <a:rPr lang="en-AU" sz="2200" dirty="0" smtClean="0">
                <a:latin typeface="Helvetica" pitchFamily="34" charset="0"/>
              </a:rPr>
              <a:t>Informing people of implementation arrangements/policies and procedures</a:t>
            </a:r>
          </a:p>
          <a:p>
            <a:pPr marL="360000" indent="-360000">
              <a:spcBef>
                <a:spcPts val="600"/>
              </a:spcBef>
              <a:spcAft>
                <a:spcPts val="1200"/>
              </a:spcAft>
            </a:pPr>
            <a:r>
              <a:rPr lang="en-AU" sz="2200" dirty="0" smtClean="0">
                <a:latin typeface="Helvetica" pitchFamily="34" charset="0"/>
              </a:rPr>
              <a:t>Giving verbal advice/information</a:t>
            </a:r>
          </a:p>
          <a:p>
            <a:pPr marL="360000" indent="-360000">
              <a:spcBef>
                <a:spcPts val="600"/>
              </a:spcBef>
              <a:spcAft>
                <a:spcPts val="1200"/>
              </a:spcAft>
            </a:pPr>
            <a:r>
              <a:rPr lang="en-AU" sz="2200" dirty="0" smtClean="0">
                <a:latin typeface="Helvetica" pitchFamily="34" charset="0"/>
              </a:rPr>
              <a:t>Distributing hard and/or soft copy information</a:t>
            </a:r>
          </a:p>
          <a:p>
            <a:pPr marL="360000" indent="-360000">
              <a:spcBef>
                <a:spcPts val="600"/>
              </a:spcBef>
              <a:spcAft>
                <a:spcPts val="1200"/>
              </a:spcAft>
            </a:pPr>
            <a:r>
              <a:rPr lang="en-AU" sz="2200" dirty="0" smtClean="0">
                <a:latin typeface="Helvetica" pitchFamily="34" charset="0"/>
              </a:rPr>
              <a:t>Sharing information</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4168" y="1533128"/>
            <a:ext cx="1907029" cy="2615952"/>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consulting with staff and facilitating two-way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0" indent="0">
              <a:spcBef>
                <a:spcPts val="600"/>
              </a:spcBef>
              <a:spcAft>
                <a:spcPts val="1200"/>
              </a:spcAft>
              <a:buNone/>
            </a:pPr>
            <a:r>
              <a:rPr lang="en-US" sz="2200" dirty="0" smtClean="0">
                <a:latin typeface="Helvetica" pitchFamily="34" charset="0"/>
              </a:rPr>
              <a:t>‘Two-way communication’ in a workplace refers to:</a:t>
            </a:r>
          </a:p>
          <a:p>
            <a:pPr marL="360000" indent="-360000">
              <a:spcBef>
                <a:spcPts val="600"/>
              </a:spcBef>
              <a:spcAft>
                <a:spcPts val="1200"/>
              </a:spcAft>
            </a:pPr>
            <a:r>
              <a:rPr lang="en-AU" sz="2200" dirty="0" smtClean="0">
                <a:latin typeface="Helvetica" pitchFamily="34" charset="0"/>
              </a:rPr>
              <a:t>Communication from management to workers</a:t>
            </a:r>
          </a:p>
          <a:p>
            <a:pPr marL="360000" indent="-360000">
              <a:spcBef>
                <a:spcPts val="600"/>
              </a:spcBef>
              <a:spcAft>
                <a:spcPts val="1200"/>
              </a:spcAft>
            </a:pPr>
            <a:r>
              <a:rPr lang="en-AU" sz="2200" dirty="0" smtClean="0">
                <a:latin typeface="Helvetica" pitchFamily="34" charset="0"/>
              </a:rPr>
              <a:t>Communication from workers to management</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28934" y="3645024"/>
            <a:ext cx="3048000" cy="2081784"/>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consulting with staff and facilitating two-way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Two-way communication:</a:t>
            </a:r>
          </a:p>
          <a:p>
            <a:pPr marL="360000" indent="-360000">
              <a:spcBef>
                <a:spcPts val="600"/>
              </a:spcBef>
              <a:spcAft>
                <a:spcPts val="1200"/>
              </a:spcAft>
            </a:pPr>
            <a:r>
              <a:rPr lang="en-US" sz="2200" dirty="0" smtClean="0">
                <a:latin typeface="Helvetica" pitchFamily="34" charset="0"/>
              </a:rPr>
              <a:t>Represents current and accepted management theory</a:t>
            </a:r>
          </a:p>
          <a:p>
            <a:pPr marL="360000" indent="-360000">
              <a:spcBef>
                <a:spcPts val="600"/>
              </a:spcBef>
              <a:spcAft>
                <a:spcPts val="1200"/>
              </a:spcAft>
            </a:pPr>
            <a:r>
              <a:rPr lang="en-US" sz="2200" dirty="0" smtClean="0">
                <a:latin typeface="Helvetica" pitchFamily="34" charset="0"/>
              </a:rPr>
              <a:t>Allows workers to make input to managerial issues and operational decisions</a:t>
            </a:r>
          </a:p>
          <a:p>
            <a:pPr marL="360000" indent="-360000">
              <a:spcBef>
                <a:spcPts val="600"/>
              </a:spcBef>
              <a:spcAft>
                <a:spcPts val="1200"/>
              </a:spcAft>
            </a:pPr>
            <a:r>
              <a:rPr lang="en-US" sz="2200" dirty="0" smtClean="0">
                <a:latin typeface="Helvetica" pitchFamily="34" charset="0"/>
              </a:rPr>
              <a:t>Is significantly different to traditionally one-way communication</a:t>
            </a:r>
          </a:p>
          <a:p>
            <a:pPr marL="360000" indent="-360000">
              <a:spcBef>
                <a:spcPts val="600"/>
              </a:spcBef>
              <a:spcAft>
                <a:spcPts val="1200"/>
              </a:spcAft>
            </a:pPr>
            <a:r>
              <a:rPr lang="en-US" sz="2200" dirty="0" smtClean="0">
                <a:latin typeface="Helvetica" pitchFamily="34" charset="0"/>
              </a:rPr>
              <a:t>Provides opportunities for ‘explanation’ </a:t>
            </a:r>
            <a:br>
              <a:rPr lang="en-US" sz="2200" dirty="0" smtClean="0">
                <a:latin typeface="Helvetica" pitchFamily="34" charset="0"/>
              </a:rPr>
            </a:br>
            <a:r>
              <a:rPr lang="en-US" sz="2200" dirty="0" smtClean="0">
                <a:latin typeface="Helvetica" pitchFamily="34" charset="0"/>
              </a:rPr>
              <a:t>and a ‘feedback’ loop</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0152" y="4176210"/>
            <a:ext cx="2471634" cy="1648579"/>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consulting with staff and facilitating two-way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0" indent="0">
              <a:spcBef>
                <a:spcPts val="600"/>
              </a:spcBef>
              <a:spcAft>
                <a:spcPts val="1200"/>
              </a:spcAft>
              <a:buNone/>
            </a:pPr>
            <a:r>
              <a:rPr lang="en-US" sz="2200" dirty="0" smtClean="0">
                <a:latin typeface="Helvetica" pitchFamily="34" charset="0"/>
              </a:rPr>
              <a:t>Two-way communication is:</a:t>
            </a:r>
          </a:p>
          <a:p>
            <a:pPr marL="360000" indent="-360000">
              <a:spcBef>
                <a:spcPts val="600"/>
              </a:spcBef>
              <a:spcAft>
                <a:spcPts val="1200"/>
              </a:spcAft>
            </a:pPr>
            <a:r>
              <a:rPr lang="en-US" sz="2200" dirty="0" smtClean="0">
                <a:latin typeface="Helvetica" pitchFamily="34" charset="0"/>
              </a:rPr>
              <a:t>Based on consultation</a:t>
            </a:r>
          </a:p>
          <a:p>
            <a:pPr marL="360000" indent="-360000">
              <a:spcBef>
                <a:spcPts val="600"/>
              </a:spcBef>
              <a:spcAft>
                <a:spcPts val="1200"/>
              </a:spcAft>
            </a:pPr>
            <a:r>
              <a:rPr lang="en-US" sz="2200" dirty="0" smtClean="0">
                <a:latin typeface="Helvetica" pitchFamily="34" charset="0"/>
              </a:rPr>
              <a:t>More effective than one-way communication</a:t>
            </a:r>
          </a:p>
          <a:p>
            <a:pPr marL="360000" indent="-360000">
              <a:spcBef>
                <a:spcPts val="600"/>
              </a:spcBef>
              <a:spcAft>
                <a:spcPts val="1200"/>
              </a:spcAft>
            </a:pPr>
            <a:r>
              <a:rPr lang="en-US" sz="2200" dirty="0" smtClean="0">
                <a:latin typeface="Helvetica" pitchFamily="34" charset="0"/>
              </a:rPr>
              <a:t>Inclusive in nature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5999" y="3933056"/>
            <a:ext cx="2311451" cy="1902324"/>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consulting with staff and facilitating two-way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12568"/>
          </a:xfrm>
        </p:spPr>
        <p:txBody>
          <a:bodyPr>
            <a:normAutofit/>
          </a:bodyPr>
          <a:lstStyle/>
          <a:p>
            <a:pPr marL="0" indent="0">
              <a:spcBef>
                <a:spcPts val="600"/>
              </a:spcBef>
              <a:spcAft>
                <a:spcPts val="1200"/>
              </a:spcAft>
              <a:buNone/>
            </a:pPr>
            <a:r>
              <a:rPr lang="en-US" sz="2200" dirty="0" smtClean="0">
                <a:latin typeface="Helvetica" pitchFamily="34" charset="0"/>
              </a:rPr>
              <a:t>Pre-requisites for using ‘Consulting’ to help manage and maintain workplace relations:</a:t>
            </a:r>
          </a:p>
          <a:p>
            <a:pPr marL="360000" indent="-360000">
              <a:spcBef>
                <a:spcPts val="600"/>
              </a:spcBef>
              <a:spcAft>
                <a:spcPts val="1200"/>
              </a:spcAft>
            </a:pPr>
            <a:r>
              <a:rPr lang="en-US" sz="2200" dirty="0" smtClean="0">
                <a:latin typeface="Helvetica" pitchFamily="34" charset="0"/>
              </a:rPr>
              <a:t>Genuine desire to do so</a:t>
            </a:r>
          </a:p>
          <a:p>
            <a:pPr marL="360000" indent="-360000">
              <a:spcBef>
                <a:spcPts val="600"/>
              </a:spcBef>
              <a:spcAft>
                <a:spcPts val="1200"/>
              </a:spcAft>
            </a:pPr>
            <a:r>
              <a:rPr lang="en-US" sz="2200" dirty="0" smtClean="0">
                <a:latin typeface="Helvetica" pitchFamily="34" charset="0"/>
              </a:rPr>
              <a:t>Preparation of a plan on how to do it/what to do</a:t>
            </a:r>
          </a:p>
          <a:p>
            <a:pPr marL="360000" indent="-360000">
              <a:spcBef>
                <a:spcPts val="600"/>
              </a:spcBef>
              <a:spcAft>
                <a:spcPts val="1200"/>
              </a:spcAft>
            </a:pPr>
            <a:r>
              <a:rPr lang="en-US" sz="2200" dirty="0" smtClean="0">
                <a:latin typeface="Helvetica" pitchFamily="34" charset="0"/>
              </a:rPr>
              <a:t>Use of a range of different strategies</a:t>
            </a:r>
          </a:p>
          <a:p>
            <a:pPr marL="360000" indent="-360000">
              <a:spcBef>
                <a:spcPts val="600"/>
              </a:spcBef>
              <a:spcAft>
                <a:spcPts val="1200"/>
              </a:spcAft>
            </a:pPr>
            <a:r>
              <a:rPr lang="en-US" sz="2200" dirty="0" smtClean="0">
                <a:latin typeface="Helvetica" pitchFamily="34" charset="0"/>
              </a:rPr>
              <a:t>Accommodation of those from diverse backgrounds</a:t>
            </a:r>
          </a:p>
          <a:p>
            <a:pPr marL="360000" indent="-360000">
              <a:spcBef>
                <a:spcPts val="600"/>
              </a:spcBef>
              <a:spcAft>
                <a:spcPts val="1200"/>
              </a:spcAft>
            </a:pPr>
            <a:r>
              <a:rPr lang="en-US" sz="2200" dirty="0" smtClean="0">
                <a:latin typeface="Helvetica" pitchFamily="34" charset="0"/>
              </a:rPr>
              <a:t>Provision of training to develop necessary skills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consulting with staff and facilitating two-way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360000" indent="-360000">
              <a:spcBef>
                <a:spcPts val="600"/>
              </a:spcBef>
              <a:spcAft>
                <a:spcPts val="1200"/>
              </a:spcAft>
            </a:pPr>
            <a:r>
              <a:rPr lang="en-US" sz="2200" dirty="0" smtClean="0">
                <a:latin typeface="Helvetica" pitchFamily="34" charset="0"/>
              </a:rPr>
              <a:t>Organisation and conduct of meetings between management and employees</a:t>
            </a:r>
          </a:p>
          <a:p>
            <a:pPr marL="360000" indent="-360000">
              <a:spcBef>
                <a:spcPts val="600"/>
              </a:spcBef>
              <a:spcAft>
                <a:spcPts val="1200"/>
              </a:spcAft>
            </a:pPr>
            <a:r>
              <a:rPr lang="en-US" sz="2200" dirty="0" smtClean="0">
                <a:latin typeface="Helvetica" pitchFamily="34" charset="0"/>
              </a:rPr>
              <a:t>Recording details of meetings, discussions, issues, decisions and action taken</a:t>
            </a:r>
          </a:p>
          <a:p>
            <a:pPr marL="360000" indent="-360000">
              <a:spcBef>
                <a:spcPts val="600"/>
              </a:spcBef>
              <a:spcAft>
                <a:spcPts val="1200"/>
              </a:spcAft>
            </a:pPr>
            <a:r>
              <a:rPr lang="en-US" sz="2200" dirty="0" smtClean="0">
                <a:latin typeface="Helvetica" pitchFamily="34" charset="0"/>
              </a:rPr>
              <a:t>Identification of all issues and situations where there is a mandated/legislated requirement </a:t>
            </a:r>
            <a:br>
              <a:rPr lang="en-US" sz="2200" dirty="0" smtClean="0">
                <a:latin typeface="Helvetica" pitchFamily="34" charset="0"/>
              </a:rPr>
            </a:br>
            <a:r>
              <a:rPr lang="en-US" sz="2200" dirty="0" smtClean="0">
                <a:latin typeface="Helvetica" pitchFamily="34" charset="0"/>
              </a:rPr>
              <a:t>for ‘consultation’ to occur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15439" y="4221088"/>
            <a:ext cx="2572985" cy="1715323"/>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consulting with staff and facilitating two-way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680520"/>
          </a:xfrm>
        </p:spPr>
        <p:txBody>
          <a:bodyPr>
            <a:normAutofit/>
          </a:bodyPr>
          <a:lstStyle/>
          <a:p>
            <a:pPr marL="0" indent="0">
              <a:spcBef>
                <a:spcPts val="600"/>
              </a:spcBef>
              <a:spcAft>
                <a:spcPts val="1200"/>
              </a:spcAft>
              <a:buNone/>
            </a:pPr>
            <a:r>
              <a:rPr lang="en-US" sz="2200" dirty="0" smtClean="0">
                <a:latin typeface="Helvetica" pitchFamily="34" charset="0"/>
              </a:rPr>
              <a:t>Practical strategies for implementing workplace consultation:</a:t>
            </a:r>
          </a:p>
          <a:p>
            <a:pPr marL="360000" indent="-360000">
              <a:spcBef>
                <a:spcPts val="600"/>
              </a:spcBef>
              <a:spcAft>
                <a:spcPts val="1200"/>
              </a:spcAft>
            </a:pPr>
            <a:r>
              <a:rPr lang="en-US" sz="2200" dirty="0" smtClean="0">
                <a:latin typeface="Helvetica" pitchFamily="34" charset="0"/>
              </a:rPr>
              <a:t>Are essential straight-forward and simple – they are not complex</a:t>
            </a:r>
          </a:p>
          <a:p>
            <a:pPr marL="360000" indent="-360000">
              <a:spcBef>
                <a:spcPts val="600"/>
              </a:spcBef>
              <a:spcAft>
                <a:spcPts val="1200"/>
              </a:spcAft>
            </a:pPr>
            <a:r>
              <a:rPr lang="en-US" sz="2200" dirty="0" smtClean="0">
                <a:latin typeface="Helvetica" pitchFamily="34" charset="0"/>
              </a:rPr>
              <a:t>Require: </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Time – for workers to attend during paid hours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Commitment – by management to the principle</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Provision of basic resources – to support the concept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consulting with staff and facilitating two-way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0" indent="0">
              <a:spcBef>
                <a:spcPts val="600"/>
              </a:spcBef>
              <a:spcAft>
                <a:spcPts val="1200"/>
              </a:spcAft>
              <a:buNone/>
            </a:pPr>
            <a:r>
              <a:rPr lang="en-US" sz="2200" dirty="0" smtClean="0">
                <a:latin typeface="Helvetica" pitchFamily="34" charset="0"/>
              </a:rPr>
              <a:t>Three practical options for workplace consultation:</a:t>
            </a:r>
          </a:p>
          <a:p>
            <a:pPr marL="360000" indent="-360000">
              <a:spcBef>
                <a:spcPts val="600"/>
              </a:spcBef>
              <a:spcAft>
                <a:spcPts val="1200"/>
              </a:spcAft>
            </a:pPr>
            <a:r>
              <a:rPr lang="en-AU" sz="2200" dirty="0" smtClean="0">
                <a:latin typeface="Helvetica" pitchFamily="34" charset="0"/>
              </a:rPr>
              <a:t>Holding regular meetings </a:t>
            </a:r>
          </a:p>
          <a:p>
            <a:pPr marL="360000" indent="-360000">
              <a:spcBef>
                <a:spcPts val="600"/>
              </a:spcBef>
              <a:spcAft>
                <a:spcPts val="1200"/>
              </a:spcAft>
            </a:pPr>
            <a:r>
              <a:rPr lang="en-AU" sz="2200" dirty="0" smtClean="0">
                <a:latin typeface="Helvetica" pitchFamily="34" charset="0"/>
              </a:rPr>
              <a:t>Using various communication techniques</a:t>
            </a:r>
          </a:p>
          <a:p>
            <a:pPr marL="360000" indent="-360000">
              <a:spcBef>
                <a:spcPts val="600"/>
              </a:spcBef>
              <a:spcAft>
                <a:spcPts val="1200"/>
              </a:spcAft>
            </a:pPr>
            <a:r>
              <a:rPr lang="en-AU" sz="2200" dirty="0" smtClean="0">
                <a:latin typeface="Helvetica" pitchFamily="34" charset="0"/>
              </a:rPr>
              <a:t>Implementing practical management techniques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176" y="4149080"/>
            <a:ext cx="2195735" cy="1646801"/>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consulting with staff and facilitating two-way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680520"/>
          </a:xfrm>
        </p:spPr>
        <p:txBody>
          <a:bodyPr>
            <a:normAutofit/>
          </a:bodyPr>
          <a:lstStyle/>
          <a:p>
            <a:pPr marL="0" indent="0">
              <a:spcBef>
                <a:spcPts val="600"/>
              </a:spcBef>
              <a:spcAft>
                <a:spcPts val="1200"/>
              </a:spcAft>
              <a:buNone/>
            </a:pPr>
            <a:r>
              <a:rPr lang="en-US" sz="2200" dirty="0" smtClean="0">
                <a:latin typeface="Helvetica" pitchFamily="34" charset="0"/>
              </a:rPr>
              <a:t>‘Holding regular meetings’ – these meetings:</a:t>
            </a:r>
          </a:p>
          <a:p>
            <a:pPr marL="360000" indent="-360000">
              <a:spcBef>
                <a:spcPts val="600"/>
              </a:spcBef>
              <a:spcAft>
                <a:spcPts val="1200"/>
              </a:spcAft>
            </a:pPr>
            <a:r>
              <a:rPr lang="en-US" sz="2200" dirty="0" smtClean="0">
                <a:latin typeface="Helvetica" pitchFamily="34" charset="0"/>
              </a:rPr>
              <a:t>Occur between management and staff</a:t>
            </a:r>
          </a:p>
          <a:p>
            <a:pPr marL="360000" indent="-360000">
              <a:spcBef>
                <a:spcPts val="600"/>
              </a:spcBef>
              <a:spcAft>
                <a:spcPts val="1200"/>
              </a:spcAft>
            </a:pPr>
            <a:r>
              <a:rPr lang="en-US" sz="2200" dirty="0" smtClean="0">
                <a:latin typeface="Helvetica" pitchFamily="34" charset="0"/>
              </a:rPr>
              <a:t>Can take a wide variety of forms/types</a:t>
            </a:r>
          </a:p>
          <a:p>
            <a:pPr marL="360000" indent="-360000">
              <a:spcBef>
                <a:spcPts val="600"/>
              </a:spcBef>
              <a:spcAft>
                <a:spcPts val="1200"/>
              </a:spcAft>
            </a:pPr>
            <a:r>
              <a:rPr lang="en-US" sz="2200" dirty="0" smtClean="0">
                <a:latin typeface="Helvetica" pitchFamily="34" charset="0"/>
              </a:rPr>
              <a:t>Must be scheduled at regular times</a:t>
            </a:r>
          </a:p>
          <a:p>
            <a:pPr marL="360000" indent="-360000">
              <a:spcBef>
                <a:spcPts val="600"/>
              </a:spcBef>
              <a:spcAft>
                <a:spcPts val="1200"/>
              </a:spcAft>
            </a:pPr>
            <a:r>
              <a:rPr lang="en-US" sz="2200" dirty="0" smtClean="0">
                <a:latin typeface="Helvetica" pitchFamily="34" charset="0"/>
              </a:rPr>
              <a:t>Should be held in the same ‘neutral’ location every time</a:t>
            </a:r>
          </a:p>
          <a:p>
            <a:pPr marL="360000" indent="-360000">
              <a:spcBef>
                <a:spcPts val="600"/>
              </a:spcBef>
              <a:spcAft>
                <a:spcPts val="1200"/>
              </a:spcAft>
            </a:pPr>
            <a:r>
              <a:rPr lang="en-US" sz="2200" dirty="0" smtClean="0">
                <a:latin typeface="Helvetica" pitchFamily="34" charset="0"/>
              </a:rPr>
              <a:t>Must be recorded</a:t>
            </a:r>
          </a:p>
          <a:p>
            <a:pPr marL="360000" indent="-360000">
              <a:spcBef>
                <a:spcPts val="600"/>
              </a:spcBef>
              <a:spcAft>
                <a:spcPts val="1200"/>
              </a:spcAft>
            </a:pPr>
            <a:r>
              <a:rPr lang="en-US" sz="2200" dirty="0" smtClean="0">
                <a:latin typeface="Helvetica" pitchFamily="34" charset="0"/>
              </a:rPr>
              <a:t>Must have ‘minutes’ distributed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consulting with staff and facilitating two-way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AU" sz="2200" dirty="0" smtClean="0">
                <a:latin typeface="Helvetica" pitchFamily="34" charset="0"/>
              </a:rPr>
              <a:t>‘Using various communication techniques’ can involve</a:t>
            </a:r>
            <a:r>
              <a:rPr lang="en-US" sz="2200" dirty="0" smtClean="0">
                <a:latin typeface="Helvetica" pitchFamily="34" charset="0"/>
              </a:rPr>
              <a:t>:</a:t>
            </a:r>
          </a:p>
          <a:p>
            <a:pPr marL="360000" indent="-360000">
              <a:spcBef>
                <a:spcPts val="600"/>
              </a:spcBef>
              <a:spcAft>
                <a:spcPts val="1200"/>
              </a:spcAft>
            </a:pPr>
            <a:r>
              <a:rPr lang="en-AU" sz="2200" dirty="0" smtClean="0">
                <a:latin typeface="Helvetica" pitchFamily="34" charset="0"/>
              </a:rPr>
              <a:t>Distributing hard copy materials</a:t>
            </a:r>
          </a:p>
          <a:p>
            <a:pPr marL="360000" indent="-360000">
              <a:spcBef>
                <a:spcPts val="600"/>
              </a:spcBef>
              <a:spcAft>
                <a:spcPts val="1200"/>
              </a:spcAft>
            </a:pPr>
            <a:r>
              <a:rPr lang="en-AU" sz="2200" dirty="0" smtClean="0">
                <a:latin typeface="Helvetica" pitchFamily="34" charset="0"/>
              </a:rPr>
              <a:t>Using emails</a:t>
            </a:r>
          </a:p>
          <a:p>
            <a:pPr marL="360000" indent="-360000">
              <a:spcBef>
                <a:spcPts val="600"/>
              </a:spcBef>
              <a:spcAft>
                <a:spcPts val="1200"/>
              </a:spcAft>
            </a:pPr>
            <a:r>
              <a:rPr lang="en-AU" sz="2200" dirty="0" smtClean="0">
                <a:latin typeface="Helvetica" pitchFamily="34" charset="0"/>
              </a:rPr>
              <a:t>Lodging material on organisational intranet</a:t>
            </a:r>
          </a:p>
          <a:p>
            <a:pPr marL="360000" indent="-360000">
              <a:spcBef>
                <a:spcPts val="600"/>
              </a:spcBef>
              <a:spcAft>
                <a:spcPts val="1200"/>
              </a:spcAft>
            </a:pPr>
            <a:r>
              <a:rPr lang="en-AU" sz="2200" dirty="0" smtClean="0">
                <a:latin typeface="Helvetica" pitchFamily="34" charset="0"/>
              </a:rPr>
              <a:t>Including material in staff newsletters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88224" y="3501008"/>
            <a:ext cx="1548384" cy="1557528"/>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consulting with staff and facilitating two-way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24536"/>
          </a:xfrm>
        </p:spPr>
        <p:txBody>
          <a:bodyPr>
            <a:normAutofit lnSpcReduction="10000"/>
          </a:bodyPr>
          <a:lstStyle/>
          <a:p>
            <a:pPr marL="0" indent="0">
              <a:spcBef>
                <a:spcPts val="600"/>
              </a:spcBef>
              <a:spcAft>
                <a:spcPts val="1200"/>
              </a:spcAft>
              <a:buNone/>
            </a:pPr>
            <a:r>
              <a:rPr lang="en-AU" sz="2200" dirty="0" smtClean="0">
                <a:latin typeface="Helvetica" pitchFamily="34" charset="0"/>
              </a:rPr>
              <a:t>‘Implementing practical management techniques’ can involve </a:t>
            </a:r>
            <a:r>
              <a:rPr lang="en-US" sz="2200" dirty="0" smtClean="0">
                <a:latin typeface="Helvetica" pitchFamily="34" charset="0"/>
              </a:rPr>
              <a:t>:</a:t>
            </a:r>
          </a:p>
          <a:p>
            <a:pPr marL="360000" indent="-360000">
              <a:spcBef>
                <a:spcPts val="600"/>
              </a:spcBef>
              <a:spcAft>
                <a:spcPts val="1200"/>
              </a:spcAft>
            </a:pPr>
            <a:r>
              <a:rPr lang="en-US" sz="2200" dirty="0" smtClean="0">
                <a:latin typeface="Helvetica" pitchFamily="34" charset="0"/>
              </a:rPr>
              <a:t>Having an open door policy</a:t>
            </a:r>
          </a:p>
          <a:p>
            <a:pPr marL="360000" indent="-360000">
              <a:spcBef>
                <a:spcPts val="600"/>
              </a:spcBef>
              <a:spcAft>
                <a:spcPts val="1200"/>
              </a:spcAft>
            </a:pPr>
            <a:r>
              <a:rPr lang="en-US" sz="2200" dirty="0" smtClean="0">
                <a:latin typeface="Helvetica" pitchFamily="34" charset="0"/>
              </a:rPr>
              <a:t>Being seen in the workplace</a:t>
            </a:r>
          </a:p>
          <a:p>
            <a:pPr marL="360000" indent="-360000">
              <a:spcBef>
                <a:spcPts val="600"/>
              </a:spcBef>
              <a:spcAft>
                <a:spcPts val="1200"/>
              </a:spcAft>
            </a:pPr>
            <a:r>
              <a:rPr lang="en-US" sz="2200" dirty="0" smtClean="0">
                <a:latin typeface="Helvetica" pitchFamily="34" charset="0"/>
              </a:rPr>
              <a:t>Maintaining privacy and confidentialities</a:t>
            </a:r>
          </a:p>
          <a:p>
            <a:pPr marL="360000" indent="-360000">
              <a:spcBef>
                <a:spcPts val="600"/>
              </a:spcBef>
              <a:spcAft>
                <a:spcPts val="1200"/>
              </a:spcAft>
            </a:pPr>
            <a:r>
              <a:rPr lang="en-US" sz="2200" dirty="0" smtClean="0">
                <a:latin typeface="Helvetica" pitchFamily="34" charset="0"/>
              </a:rPr>
              <a:t>Acknowledging employee contributions</a:t>
            </a:r>
          </a:p>
          <a:p>
            <a:pPr marL="360000" indent="-360000">
              <a:spcBef>
                <a:spcPts val="600"/>
              </a:spcBef>
              <a:spcAft>
                <a:spcPts val="1200"/>
              </a:spcAft>
            </a:pPr>
            <a:r>
              <a:rPr lang="en-US" sz="2200" dirty="0" smtClean="0">
                <a:latin typeface="Helvetica" pitchFamily="34" charset="0"/>
              </a:rPr>
              <a:t>Asking for input</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2492896"/>
            <a:ext cx="2074863" cy="2100064"/>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consulting with staff and facilitating two-way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Listing current issues for discussion on agendas at scheduled meetings</a:t>
            </a:r>
          </a:p>
          <a:p>
            <a:pPr marL="360000" indent="-360000">
              <a:spcBef>
                <a:spcPts val="600"/>
              </a:spcBef>
              <a:spcAft>
                <a:spcPts val="1200"/>
              </a:spcAft>
            </a:pPr>
            <a:r>
              <a:rPr lang="en-US" sz="2200" dirty="0" smtClean="0">
                <a:latin typeface="Helvetica" pitchFamily="34" charset="0"/>
              </a:rPr>
              <a:t>Installing a Suggestion Box</a:t>
            </a:r>
          </a:p>
          <a:p>
            <a:pPr marL="360000" indent="-360000">
              <a:spcBef>
                <a:spcPts val="600"/>
              </a:spcBef>
              <a:spcAft>
                <a:spcPts val="1200"/>
              </a:spcAft>
            </a:pPr>
            <a:r>
              <a:rPr lang="en-US" sz="2200" dirty="0" smtClean="0">
                <a:latin typeface="Helvetica" pitchFamily="34" charset="0"/>
              </a:rPr>
              <a:t>Thanking workers for making contributions</a:t>
            </a:r>
          </a:p>
          <a:p>
            <a:pPr marL="360000" indent="-360000">
              <a:spcBef>
                <a:spcPts val="600"/>
              </a:spcBef>
              <a:spcAft>
                <a:spcPts val="1200"/>
              </a:spcAft>
            </a:pPr>
            <a:r>
              <a:rPr lang="en-US" sz="2200" dirty="0" smtClean="0">
                <a:latin typeface="Helvetica" pitchFamily="34" charset="0"/>
              </a:rPr>
              <a:t>Rewarding exceptional contributions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24128" y="3861048"/>
            <a:ext cx="3048000" cy="2026920"/>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consulting with staff and facilitating two-way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715070"/>
          </a:xfrm>
        </p:spPr>
        <p:txBody>
          <a:bodyPr>
            <a:normAutofit/>
          </a:bodyPr>
          <a:lstStyle/>
          <a:p>
            <a:pPr marL="0" indent="0">
              <a:spcBef>
                <a:spcPts val="600"/>
              </a:spcBef>
              <a:spcAft>
                <a:spcPts val="1200"/>
              </a:spcAft>
              <a:buNone/>
            </a:pPr>
            <a:r>
              <a:rPr lang="en-US" sz="2200" dirty="0" smtClean="0">
                <a:latin typeface="Helvetica" pitchFamily="34" charset="0"/>
              </a:rPr>
              <a:t>Ways to facilitate two-way communication:</a:t>
            </a:r>
          </a:p>
          <a:p>
            <a:pPr marL="360000" indent="-360000">
              <a:spcBef>
                <a:spcPts val="600"/>
              </a:spcBef>
              <a:spcAft>
                <a:spcPts val="1200"/>
              </a:spcAft>
            </a:pPr>
            <a:r>
              <a:rPr lang="en-AU" sz="2200" dirty="0" smtClean="0">
                <a:latin typeface="Helvetica" pitchFamily="34" charset="0"/>
              </a:rPr>
              <a:t>Including time for staff to communicate</a:t>
            </a:r>
          </a:p>
          <a:p>
            <a:pPr marL="360000" indent="-360000">
              <a:spcBef>
                <a:spcPts val="600"/>
              </a:spcBef>
              <a:spcAft>
                <a:spcPts val="1200"/>
              </a:spcAft>
            </a:pPr>
            <a:r>
              <a:rPr lang="en-AU" sz="2200" dirty="0" smtClean="0">
                <a:latin typeface="Helvetica" pitchFamily="34" charset="0"/>
              </a:rPr>
              <a:t>Providing </a:t>
            </a:r>
            <a:r>
              <a:rPr lang="en-AU" sz="2200" i="1" dirty="0" smtClean="0">
                <a:latin typeface="Helvetica" pitchFamily="34" charset="0"/>
              </a:rPr>
              <a:t>pro forma </a:t>
            </a:r>
            <a:r>
              <a:rPr lang="en-AU" sz="2200" dirty="0" smtClean="0">
                <a:latin typeface="Helvetica" pitchFamily="34" charset="0"/>
              </a:rPr>
              <a:t>documentation</a:t>
            </a:r>
          </a:p>
          <a:p>
            <a:pPr marL="360000" indent="-360000">
              <a:spcBef>
                <a:spcPts val="600"/>
              </a:spcBef>
              <a:spcAft>
                <a:spcPts val="1200"/>
              </a:spcAft>
            </a:pPr>
            <a:r>
              <a:rPr lang="en-AU" sz="2200" dirty="0" smtClean="0">
                <a:latin typeface="Helvetica" pitchFamily="34" charset="0"/>
              </a:rPr>
              <a:t>Advising staff of channels of communication/s available</a:t>
            </a:r>
          </a:p>
          <a:p>
            <a:pPr marL="360000" indent="-360000">
              <a:spcBef>
                <a:spcPts val="600"/>
              </a:spcBef>
              <a:spcAft>
                <a:spcPts val="1200"/>
              </a:spcAft>
            </a:pPr>
            <a:r>
              <a:rPr lang="en-AU" sz="2200" dirty="0" smtClean="0">
                <a:latin typeface="Helvetica" pitchFamily="34" charset="0"/>
              </a:rPr>
              <a:t>Developing and producing written </a:t>
            </a:r>
            <a:br>
              <a:rPr lang="en-AU" sz="2200" dirty="0" smtClean="0">
                <a:latin typeface="Helvetica" pitchFamily="34" charset="0"/>
              </a:rPr>
            </a:br>
            <a:r>
              <a:rPr lang="en-AU" sz="2200" dirty="0" smtClean="0">
                <a:latin typeface="Helvetica" pitchFamily="34" charset="0"/>
              </a:rPr>
              <a:t>communication policies and procedures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04520" y="4221088"/>
            <a:ext cx="2183904" cy="1452296"/>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consulting with staff and facilitating two-way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Using appropriate language</a:t>
            </a:r>
          </a:p>
          <a:p>
            <a:pPr marL="360000" indent="-360000">
              <a:spcBef>
                <a:spcPts val="600"/>
              </a:spcBef>
              <a:spcAft>
                <a:spcPts val="1200"/>
              </a:spcAft>
            </a:pPr>
            <a:r>
              <a:rPr lang="en-US" sz="2200" dirty="0" smtClean="0">
                <a:latin typeface="Helvetica" pitchFamily="34" charset="0"/>
              </a:rPr>
              <a:t>Providing staff training in communication</a:t>
            </a:r>
          </a:p>
          <a:p>
            <a:pPr marL="360000" indent="-360000">
              <a:spcBef>
                <a:spcPts val="600"/>
              </a:spcBef>
              <a:spcAft>
                <a:spcPts val="1200"/>
              </a:spcAft>
            </a:pPr>
            <a:r>
              <a:rPr lang="en-US" sz="2200" dirty="0" smtClean="0">
                <a:latin typeface="Helvetica" pitchFamily="34" charset="0"/>
              </a:rPr>
              <a:t>Making formal presentation to staff</a:t>
            </a:r>
          </a:p>
          <a:p>
            <a:pPr marL="360000" indent="-360000">
              <a:spcBef>
                <a:spcPts val="600"/>
              </a:spcBef>
              <a:spcAft>
                <a:spcPts val="1200"/>
              </a:spcAft>
            </a:pPr>
            <a:r>
              <a:rPr lang="en-US" sz="2200" dirty="0" smtClean="0">
                <a:latin typeface="Helvetica" pitchFamily="34" charset="0"/>
              </a:rPr>
              <a:t>Posting messages on Staff Noticeboards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4149080"/>
            <a:ext cx="2568898" cy="1716024"/>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Implement consulting with staff and facilitating two-way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Using social media</a:t>
            </a:r>
          </a:p>
          <a:p>
            <a:pPr marL="360000" indent="-360000">
              <a:spcBef>
                <a:spcPts val="600"/>
              </a:spcBef>
              <a:spcAft>
                <a:spcPts val="1200"/>
              </a:spcAft>
            </a:pPr>
            <a:r>
              <a:rPr lang="en-US" sz="2200" dirty="0" smtClean="0">
                <a:latin typeface="Helvetica" pitchFamily="34" charset="0"/>
              </a:rPr>
              <a:t>Tapping into the workplace ‘grapevine’</a:t>
            </a:r>
          </a:p>
          <a:p>
            <a:pPr marL="360000" indent="-360000">
              <a:spcBef>
                <a:spcPts val="600"/>
              </a:spcBef>
              <a:spcAft>
                <a:spcPts val="1200"/>
              </a:spcAft>
            </a:pPr>
            <a:r>
              <a:rPr lang="en-US" sz="2200" dirty="0" smtClean="0">
                <a:latin typeface="Helvetica" pitchFamily="34" charset="0"/>
              </a:rPr>
              <a:t>Establishing a workplace (or department-based) ‘Communications Book’</a:t>
            </a:r>
          </a:p>
          <a:p>
            <a:pPr marL="360000" indent="-360000">
              <a:spcBef>
                <a:spcPts val="600"/>
              </a:spcBef>
              <a:spcAft>
                <a:spcPts val="1200"/>
              </a:spcAft>
            </a:pPr>
            <a:r>
              <a:rPr lang="en-US" sz="2200" dirty="0" smtClean="0">
                <a:latin typeface="Helvetica" pitchFamily="34" charset="0"/>
              </a:rPr>
              <a:t>Creating/allowing/encouraging use of a </a:t>
            </a:r>
            <a:br>
              <a:rPr lang="en-US" sz="2200" dirty="0" smtClean="0">
                <a:latin typeface="Helvetica" pitchFamily="34" charset="0"/>
              </a:rPr>
            </a:br>
            <a:r>
              <a:rPr lang="en-US" sz="2200" dirty="0" smtClean="0">
                <a:latin typeface="Helvetica" pitchFamily="34" charset="0"/>
              </a:rPr>
              <a:t>system of staff representatives to help </a:t>
            </a:r>
            <a:br>
              <a:rPr lang="en-US" sz="2200" dirty="0" smtClean="0">
                <a:latin typeface="Helvetica" pitchFamily="34" charset="0"/>
              </a:rPr>
            </a:br>
            <a:r>
              <a:rPr lang="en-US" sz="2200" dirty="0" smtClean="0">
                <a:latin typeface="Helvetica" pitchFamily="34" charset="0"/>
              </a:rPr>
              <a:t>the communication process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04931" y="3861048"/>
            <a:ext cx="2355501" cy="2039864"/>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96544"/>
          </a:xfrm>
        </p:spPr>
        <p:txBody>
          <a:bodyPr>
            <a:normAutofit/>
          </a:bodyPr>
          <a:lstStyle/>
          <a:p>
            <a:pPr marL="0" indent="0">
              <a:spcBef>
                <a:spcPts val="600"/>
              </a:spcBef>
              <a:spcAft>
                <a:spcPts val="1200"/>
              </a:spcAft>
              <a:buNone/>
            </a:pPr>
            <a:r>
              <a:rPr lang="en-US" sz="2200" dirty="0" smtClean="0">
                <a:latin typeface="Helvetica" pitchFamily="34" charset="0"/>
              </a:rPr>
              <a:t>Background to ‘Induction and Orientation’ programmes:</a:t>
            </a:r>
          </a:p>
          <a:p>
            <a:pPr marL="360000" indent="-360000">
              <a:spcBef>
                <a:spcPts val="600"/>
              </a:spcBef>
              <a:spcAft>
                <a:spcPts val="1200"/>
              </a:spcAft>
            </a:pPr>
            <a:r>
              <a:rPr lang="en-US" sz="2200" dirty="0" smtClean="0">
                <a:latin typeface="Helvetica" pitchFamily="34" charset="0"/>
              </a:rPr>
              <a:t>Must be mandatory for all new employees</a:t>
            </a:r>
          </a:p>
          <a:p>
            <a:pPr marL="360000" indent="-360000">
              <a:spcBef>
                <a:spcPts val="600"/>
              </a:spcBef>
              <a:spcAft>
                <a:spcPts val="1200"/>
              </a:spcAft>
            </a:pPr>
            <a:r>
              <a:rPr lang="en-US" sz="2200" dirty="0" smtClean="0">
                <a:latin typeface="Helvetica" pitchFamily="34" charset="0"/>
              </a:rPr>
              <a:t>Must be conducted soon after hiring</a:t>
            </a:r>
          </a:p>
          <a:p>
            <a:pPr marL="360000" indent="-360000">
              <a:spcBef>
                <a:spcPts val="600"/>
              </a:spcBef>
              <a:spcAft>
                <a:spcPts val="1200"/>
              </a:spcAft>
            </a:pPr>
            <a:r>
              <a:rPr lang="en-US" sz="2200" dirty="0" smtClean="0">
                <a:latin typeface="Helvetica" pitchFamily="34" charset="0"/>
              </a:rPr>
              <a:t>Some are very short and some are quite long</a:t>
            </a:r>
          </a:p>
          <a:p>
            <a:pPr marL="360000" indent="-360000">
              <a:spcBef>
                <a:spcPts val="600"/>
              </a:spcBef>
              <a:spcAft>
                <a:spcPts val="1200"/>
              </a:spcAft>
            </a:pPr>
            <a:r>
              <a:rPr lang="en-US" sz="2200" dirty="0" smtClean="0">
                <a:latin typeface="Helvetica" pitchFamily="34" charset="0"/>
              </a:rPr>
              <a:t>Must be planned and organised in </a:t>
            </a:r>
            <a:br>
              <a:rPr lang="en-US" sz="2200" dirty="0" smtClean="0">
                <a:latin typeface="Helvetica" pitchFamily="34" charset="0"/>
              </a:rPr>
            </a:br>
            <a:r>
              <a:rPr lang="en-US" sz="2200" dirty="0" smtClean="0">
                <a:latin typeface="Helvetica" pitchFamily="34" charset="0"/>
              </a:rPr>
              <a:t>advance</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6373" y="3950634"/>
            <a:ext cx="2483260" cy="1655507"/>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680520"/>
          </a:xfrm>
        </p:spPr>
        <p:txBody>
          <a:bodyPr>
            <a:normAutofit/>
          </a:bodyPr>
          <a:lstStyle/>
          <a:p>
            <a:pPr marL="360000" indent="-360000">
              <a:spcBef>
                <a:spcPts val="600"/>
              </a:spcBef>
              <a:spcAft>
                <a:spcPts val="1200"/>
              </a:spcAft>
            </a:pPr>
            <a:r>
              <a:rPr lang="en-US" sz="2200" dirty="0" smtClean="0">
                <a:latin typeface="Helvetica" pitchFamily="34" charset="0"/>
              </a:rPr>
              <a:t>Form the basis for the entire experience of employees with the organisation</a:t>
            </a:r>
          </a:p>
          <a:p>
            <a:pPr marL="360000" indent="-360000">
              <a:spcBef>
                <a:spcPts val="600"/>
              </a:spcBef>
              <a:spcAft>
                <a:spcPts val="1200"/>
              </a:spcAft>
            </a:pPr>
            <a:r>
              <a:rPr lang="en-US" sz="2200" dirty="0" smtClean="0">
                <a:latin typeface="Helvetica" pitchFamily="34" charset="0"/>
              </a:rPr>
              <a:t>Should be conducted by someone the new employee has already met</a:t>
            </a:r>
          </a:p>
          <a:p>
            <a:pPr marL="360000" indent="-360000">
              <a:spcBef>
                <a:spcPts val="600"/>
              </a:spcBef>
              <a:spcAft>
                <a:spcPts val="1200"/>
              </a:spcAft>
            </a:pPr>
            <a:r>
              <a:rPr lang="en-US" sz="2200" dirty="0" smtClean="0">
                <a:latin typeface="Helvetica" pitchFamily="34" charset="0"/>
              </a:rPr>
              <a:t>Are effective if divided into two parts: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General section</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Department-specific/role-specific </a:t>
            </a:r>
            <a:br>
              <a:rPr lang="en-US" sz="2200" dirty="0" smtClean="0">
                <a:latin typeface="Helvetica" pitchFamily="34" charset="0"/>
              </a:rPr>
            </a:br>
            <a:r>
              <a:rPr lang="en-US" sz="2200" dirty="0" smtClean="0">
                <a:latin typeface="Helvetica" pitchFamily="34" charset="0"/>
              </a:rPr>
              <a:t>section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4168" y="4005064"/>
            <a:ext cx="2304555" cy="1562488"/>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US" sz="2200" dirty="0" smtClean="0">
                <a:latin typeface="Helvetica" pitchFamily="34" charset="0"/>
              </a:rPr>
              <a:t>‘General section’:</a:t>
            </a:r>
          </a:p>
          <a:p>
            <a:pPr marL="360000" indent="-360000">
              <a:spcBef>
                <a:spcPts val="600"/>
              </a:spcBef>
              <a:spcAft>
                <a:spcPts val="1200"/>
              </a:spcAft>
            </a:pPr>
            <a:r>
              <a:rPr lang="en-US" sz="2200" dirty="0" smtClean="0">
                <a:latin typeface="Helvetica" pitchFamily="34" charset="0"/>
              </a:rPr>
              <a:t>Is the first part of the Induction and Orientation programme</a:t>
            </a:r>
          </a:p>
          <a:p>
            <a:pPr marL="360000" indent="-360000">
              <a:spcBef>
                <a:spcPts val="600"/>
              </a:spcBef>
              <a:spcAft>
                <a:spcPts val="1200"/>
              </a:spcAft>
            </a:pPr>
            <a:r>
              <a:rPr lang="en-US" sz="2200" dirty="0" smtClean="0">
                <a:latin typeface="Helvetica" pitchFamily="34" charset="0"/>
              </a:rPr>
              <a:t>Is the same for all new employees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31840" y="4005064"/>
            <a:ext cx="2400252" cy="1600968"/>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Contents of ‘Generic section’:</a:t>
            </a:r>
          </a:p>
          <a:p>
            <a:pPr marL="360000" indent="-360000">
              <a:spcBef>
                <a:spcPts val="600"/>
              </a:spcBef>
              <a:spcAft>
                <a:spcPts val="1200"/>
              </a:spcAft>
            </a:pPr>
            <a:r>
              <a:rPr lang="en-US" sz="2200" dirty="0" smtClean="0">
                <a:latin typeface="Helvetica" pitchFamily="34" charset="0"/>
              </a:rPr>
              <a:t>Completion of </a:t>
            </a:r>
            <a:r>
              <a:rPr lang="en-AU" sz="2200" dirty="0" smtClean="0">
                <a:latin typeface="Helvetica" pitchFamily="34" charset="0"/>
              </a:rPr>
              <a:t>necessary paperwork covering internal and legislative requirements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Provision of 'Need to Know' information</a:t>
            </a:r>
          </a:p>
          <a:p>
            <a:pPr marL="360000" indent="-360000">
              <a:spcBef>
                <a:spcPts val="600"/>
              </a:spcBef>
              <a:spcAft>
                <a:spcPts val="1200"/>
              </a:spcAft>
            </a:pPr>
            <a:endParaRPr lang="en-AU"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3860976"/>
            <a:ext cx="2763281" cy="1843108"/>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360000" indent="-360000">
              <a:spcBef>
                <a:spcPts val="600"/>
              </a:spcBef>
              <a:spcAft>
                <a:spcPts val="1200"/>
              </a:spcAft>
            </a:pPr>
            <a:r>
              <a:rPr lang="en-US" sz="2200" dirty="0" smtClean="0">
                <a:latin typeface="Helvetica" pitchFamily="34" charset="0"/>
              </a:rPr>
              <a:t>Tour of the workplace</a:t>
            </a:r>
          </a:p>
          <a:p>
            <a:pPr marL="360000" indent="-360000">
              <a:spcBef>
                <a:spcPts val="600"/>
              </a:spcBef>
              <a:spcAft>
                <a:spcPts val="1200"/>
              </a:spcAft>
            </a:pPr>
            <a:r>
              <a:rPr lang="en-US" sz="2200" dirty="0" smtClean="0">
                <a:latin typeface="Helvetica" pitchFamily="34" charset="0"/>
              </a:rPr>
              <a:t>Allocation of organisation-specific items</a:t>
            </a:r>
          </a:p>
          <a:p>
            <a:pPr marL="360000" indent="-360000">
              <a:spcBef>
                <a:spcPts val="600"/>
              </a:spcBef>
              <a:spcAft>
                <a:spcPts val="1200"/>
              </a:spcAft>
            </a:pPr>
            <a:r>
              <a:rPr lang="en-US" sz="2200" dirty="0" smtClean="0">
                <a:latin typeface="Helvetica" pitchFamily="34" charset="0"/>
              </a:rPr>
              <a:t>Basic safety requirements</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29943" y="3642760"/>
            <a:ext cx="2858211" cy="1905308"/>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AU" sz="2200" dirty="0" smtClean="0">
                <a:latin typeface="Helvetica" pitchFamily="34" charset="0"/>
              </a:rPr>
              <a:t>General information about the company – owners, statistics, products and services, markets, plans </a:t>
            </a:r>
          </a:p>
          <a:p>
            <a:pPr marL="360000" indent="-360000">
              <a:spcBef>
                <a:spcPts val="600"/>
              </a:spcBef>
              <a:spcAft>
                <a:spcPts val="1200"/>
              </a:spcAft>
            </a:pPr>
            <a:r>
              <a:rPr lang="en-AU" sz="2200" dirty="0" smtClean="0">
                <a:latin typeface="Helvetica" pitchFamily="34" charset="0"/>
              </a:rPr>
              <a:t>Details about the culture of the organisation</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8104" y="3823952"/>
            <a:ext cx="2931687" cy="1954653"/>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‘Role-specific/department-specific’ section:</a:t>
            </a:r>
          </a:p>
          <a:p>
            <a:pPr marL="360000" indent="-360000">
              <a:spcBef>
                <a:spcPts val="600"/>
              </a:spcBef>
              <a:spcAft>
                <a:spcPts val="1200"/>
              </a:spcAft>
            </a:pPr>
            <a:r>
              <a:rPr lang="en-US" sz="2200" dirty="0" smtClean="0">
                <a:latin typeface="Helvetica" pitchFamily="34" charset="0"/>
              </a:rPr>
              <a:t>Is individualised to each separate </a:t>
            </a:r>
            <a:br>
              <a:rPr lang="en-US" sz="2200" dirty="0" smtClean="0">
                <a:latin typeface="Helvetica" pitchFamily="34" charset="0"/>
              </a:rPr>
            </a:br>
            <a:r>
              <a:rPr lang="en-US" sz="2200" dirty="0" smtClean="0">
                <a:latin typeface="Helvetica" pitchFamily="34" charset="0"/>
              </a:rPr>
              <a:t>role/position within the organisation</a:t>
            </a:r>
          </a:p>
          <a:p>
            <a:pPr marL="360000" indent="-360000">
              <a:spcBef>
                <a:spcPts val="600"/>
              </a:spcBef>
              <a:spcAft>
                <a:spcPts val="1200"/>
              </a:spcAft>
            </a:pPr>
            <a:r>
              <a:rPr lang="en-US" sz="2200" dirty="0" smtClean="0">
                <a:latin typeface="Helvetica" pitchFamily="34" charset="0"/>
              </a:rPr>
              <a:t>There will/may be some </a:t>
            </a:r>
            <a:r>
              <a:rPr lang="en-US" sz="2200" i="1" dirty="0" smtClean="0">
                <a:latin typeface="Helvetica" pitchFamily="34" charset="0"/>
              </a:rPr>
              <a:t>similarities </a:t>
            </a:r>
            <a:br>
              <a:rPr lang="en-US" sz="2200" i="1" dirty="0" smtClean="0">
                <a:latin typeface="Helvetica" pitchFamily="34" charset="0"/>
              </a:rPr>
            </a:br>
            <a:r>
              <a:rPr lang="en-US" sz="2200" dirty="0" smtClean="0">
                <a:latin typeface="Helvetica" pitchFamily="34" charset="0"/>
              </a:rPr>
              <a:t>between this section for different roles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4168" y="1772816"/>
            <a:ext cx="2076894" cy="3033734"/>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Contents of role-specific/department-specific section of Induction and Orientation programme:</a:t>
            </a:r>
          </a:p>
          <a:p>
            <a:pPr marL="360000" indent="-360000">
              <a:spcBef>
                <a:spcPts val="600"/>
              </a:spcBef>
              <a:spcAft>
                <a:spcPts val="1200"/>
              </a:spcAft>
            </a:pPr>
            <a:r>
              <a:rPr lang="en-US" sz="2200" dirty="0" smtClean="0">
                <a:latin typeface="Helvetica" pitchFamily="34" charset="0"/>
              </a:rPr>
              <a:t>Meeting department head/manager/supervisor</a:t>
            </a:r>
          </a:p>
          <a:p>
            <a:pPr marL="360000" indent="-360000">
              <a:spcBef>
                <a:spcPts val="600"/>
              </a:spcBef>
              <a:spcAft>
                <a:spcPts val="1200"/>
              </a:spcAft>
            </a:pPr>
            <a:r>
              <a:rPr lang="en-US" sz="2200" dirty="0" smtClean="0">
                <a:latin typeface="Helvetica" pitchFamily="34" charset="0"/>
              </a:rPr>
              <a:t>Taking tour of department in detail</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24128" y="3789040"/>
            <a:ext cx="2616168" cy="1744984"/>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680520"/>
          </a:xfrm>
        </p:spPr>
        <p:txBody>
          <a:bodyPr>
            <a:normAutofit/>
          </a:bodyPr>
          <a:lstStyle/>
          <a:p>
            <a:pPr marL="360000" indent="-360000">
              <a:spcBef>
                <a:spcPts val="600"/>
              </a:spcBef>
              <a:spcAft>
                <a:spcPts val="1200"/>
              </a:spcAft>
            </a:pPr>
            <a:r>
              <a:rPr lang="en-AU" sz="2200" dirty="0" smtClean="0">
                <a:latin typeface="Helvetica" pitchFamily="34" charset="0"/>
              </a:rPr>
              <a:t>Presenting and explaining Job Description</a:t>
            </a:r>
          </a:p>
          <a:p>
            <a:pPr marL="360000" indent="-360000">
              <a:spcBef>
                <a:spcPts val="600"/>
              </a:spcBef>
              <a:spcAft>
                <a:spcPts val="1200"/>
              </a:spcAft>
            </a:pPr>
            <a:r>
              <a:rPr lang="en-AU" sz="2200" dirty="0" smtClean="0">
                <a:latin typeface="Helvetica" pitchFamily="34" charset="0"/>
              </a:rPr>
              <a:t>Distributing and explaining list of internal acronyms, terms, phrases, abbreviations used by the organisation/industry</a:t>
            </a:r>
          </a:p>
          <a:p>
            <a:pPr marL="360000" indent="-360000">
              <a:spcBef>
                <a:spcPts val="600"/>
              </a:spcBef>
              <a:spcAft>
                <a:spcPts val="1200"/>
              </a:spcAft>
            </a:pPr>
            <a:r>
              <a:rPr lang="en-AU" sz="2200" dirty="0" smtClean="0">
                <a:latin typeface="Helvetica" pitchFamily="34" charset="0"/>
              </a:rPr>
              <a:t>Presenting further organisational </a:t>
            </a:r>
            <a:br>
              <a:rPr lang="en-AU" sz="2200" dirty="0" smtClean="0">
                <a:latin typeface="Helvetica" pitchFamily="34" charset="0"/>
              </a:rPr>
            </a:br>
            <a:r>
              <a:rPr lang="en-AU" sz="2200" dirty="0" smtClean="0">
                <a:latin typeface="Helvetica" pitchFamily="34" charset="0"/>
              </a:rPr>
              <a:t>information relevant to the department </a:t>
            </a:r>
            <a:br>
              <a:rPr lang="en-AU" sz="2200" dirty="0" smtClean="0">
                <a:latin typeface="Helvetica" pitchFamily="34" charset="0"/>
              </a:rPr>
            </a:br>
            <a:r>
              <a:rPr lang="en-AU" sz="2200" dirty="0" smtClean="0">
                <a:latin typeface="Helvetica" pitchFamily="34" charset="0"/>
              </a:rPr>
              <a:t>and the individual role/job</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r>
              <a:rPr lang="en-AU" sz="2200" i="1" dirty="0" smtClean="0">
                <a:latin typeface="Helvetica" pitchFamily="34" charset="0"/>
              </a:rPr>
              <a:t>(Continued)</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4005064"/>
            <a:ext cx="2400252" cy="1600968"/>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AU" sz="2200" dirty="0" smtClean="0">
                <a:latin typeface="Helvetica" pitchFamily="34" charset="0"/>
              </a:rPr>
              <a:t>Presenting and explaining (in detail) the role and responsibilities of specific Job/Position</a:t>
            </a:r>
          </a:p>
          <a:p>
            <a:pPr marL="360000" indent="-360000">
              <a:spcBef>
                <a:spcPts val="600"/>
              </a:spcBef>
              <a:spcAft>
                <a:spcPts val="1200"/>
              </a:spcAft>
            </a:pPr>
            <a:r>
              <a:rPr lang="en-AU" sz="2200" dirty="0" smtClean="0">
                <a:latin typeface="Helvetica" pitchFamily="34" charset="0"/>
              </a:rPr>
              <a:t>Identifying and explaining company benefits available to employees/provided by the organisation</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r>
              <a:rPr lang="en-AU" sz="2200" i="1" dirty="0" smtClean="0">
                <a:latin typeface="Helvetica" pitchFamily="34" charset="0"/>
              </a:rPr>
              <a:t>(Continued)</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39679" y="3933055"/>
            <a:ext cx="2082388" cy="1805431"/>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Explaining internal staff appraisal system</a:t>
            </a:r>
          </a:p>
          <a:p>
            <a:pPr marL="360000" indent="-360000">
              <a:spcBef>
                <a:spcPts val="600"/>
              </a:spcBef>
              <a:spcAft>
                <a:spcPts val="1200"/>
              </a:spcAft>
            </a:pPr>
            <a:r>
              <a:rPr lang="en-US" sz="2200" dirty="0" smtClean="0">
                <a:latin typeface="Helvetica" pitchFamily="34" charset="0"/>
              </a:rPr>
              <a:t>Allocating role-specific items and equipment/resources.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3837140"/>
            <a:ext cx="2759968" cy="1840899"/>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824536"/>
          </a:xfrm>
        </p:spPr>
        <p:txBody>
          <a:bodyPr>
            <a:normAutofit lnSpcReduction="10000"/>
          </a:bodyPr>
          <a:lstStyle/>
          <a:p>
            <a:pPr marL="0" indent="0">
              <a:spcBef>
                <a:spcPts val="600"/>
              </a:spcBef>
              <a:spcAft>
                <a:spcPts val="1200"/>
              </a:spcAft>
              <a:buNone/>
            </a:pPr>
            <a:r>
              <a:rPr lang="en-US" sz="2200" dirty="0" smtClean="0">
                <a:latin typeface="Helvetica" pitchFamily="34" charset="0"/>
              </a:rPr>
              <a:t>Pre-requisite knowledge about workplace training:</a:t>
            </a:r>
          </a:p>
          <a:p>
            <a:pPr marL="360000" indent="-360000">
              <a:spcBef>
                <a:spcPts val="600"/>
              </a:spcBef>
              <a:spcAft>
                <a:spcPts val="1200"/>
              </a:spcAft>
            </a:pPr>
            <a:r>
              <a:rPr lang="en-US" sz="2200" dirty="0" smtClean="0">
                <a:latin typeface="Helvetica" pitchFamily="34" charset="0"/>
              </a:rPr>
              <a:t>Mandatory staff training exists in many/most organisations for new employees</a:t>
            </a:r>
          </a:p>
          <a:p>
            <a:pPr marL="360000" indent="-360000">
              <a:spcBef>
                <a:spcPts val="600"/>
              </a:spcBef>
              <a:spcAft>
                <a:spcPts val="1200"/>
              </a:spcAft>
            </a:pPr>
            <a:r>
              <a:rPr lang="en-US" sz="2200" dirty="0" smtClean="0">
                <a:latin typeface="Helvetica" pitchFamily="34" charset="0"/>
              </a:rPr>
              <a:t>Some employers allow time and/or provide funds for staff to study/undertake training</a:t>
            </a:r>
          </a:p>
          <a:p>
            <a:pPr marL="360000" indent="-360000">
              <a:spcBef>
                <a:spcPts val="600"/>
              </a:spcBef>
              <a:spcAft>
                <a:spcPts val="1200"/>
              </a:spcAft>
            </a:pPr>
            <a:r>
              <a:rPr lang="en-US" sz="2200" dirty="0" smtClean="0">
                <a:latin typeface="Helvetica" pitchFamily="34" charset="0"/>
              </a:rPr>
              <a:t>Some businesses believe it is best to hire staff who are already ‘fully trained – and some believe it is best to hire people with no experience/training and train them as required</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US" sz="2200" dirty="0" smtClean="0">
                <a:latin typeface="Helvetica" pitchFamily="34" charset="0"/>
              </a:rPr>
              <a:t>Many workplaces create a training plan for each employees</a:t>
            </a:r>
          </a:p>
          <a:p>
            <a:pPr marL="360000" indent="-360000">
              <a:spcBef>
                <a:spcPts val="600"/>
              </a:spcBef>
              <a:spcAft>
                <a:spcPts val="1200"/>
              </a:spcAft>
            </a:pPr>
            <a:r>
              <a:rPr lang="en-US" sz="2200" dirty="0" smtClean="0">
                <a:latin typeface="Helvetica" pitchFamily="34" charset="0"/>
              </a:rPr>
              <a:t>It is useful t show employees the link between training and the benefits it will/can result in</a:t>
            </a:r>
          </a:p>
          <a:p>
            <a:pPr marL="360000" indent="-360000">
              <a:spcBef>
                <a:spcPts val="600"/>
              </a:spcBef>
              <a:spcAft>
                <a:spcPts val="1200"/>
              </a:spcAft>
            </a:pPr>
            <a:r>
              <a:rPr lang="en-US" sz="2200" dirty="0" smtClean="0">
                <a:latin typeface="Helvetica" pitchFamily="34" charset="0"/>
              </a:rPr>
              <a:t>Training must be given the time, funding and consideration it deserves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6176" y="4078627"/>
            <a:ext cx="2286000" cy="1706880"/>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Reasons organisations provide training:</a:t>
            </a:r>
          </a:p>
          <a:p>
            <a:pPr marL="360000" indent="-360000">
              <a:spcBef>
                <a:spcPts val="600"/>
              </a:spcBef>
              <a:spcAft>
                <a:spcPts val="1200"/>
              </a:spcAft>
            </a:pPr>
            <a:r>
              <a:rPr lang="en-AU" sz="2200" dirty="0" smtClean="0">
                <a:latin typeface="Helvetica" pitchFamily="34" charset="0"/>
              </a:rPr>
              <a:t>To ensure employees are aware of basic requirements for the role they perform</a:t>
            </a:r>
          </a:p>
          <a:p>
            <a:pPr marL="360000" indent="-360000">
              <a:spcBef>
                <a:spcPts val="600"/>
              </a:spcBef>
              <a:spcAft>
                <a:spcPts val="1200"/>
              </a:spcAft>
            </a:pPr>
            <a:r>
              <a:rPr lang="en-AU" sz="2200" dirty="0" smtClean="0">
                <a:latin typeface="Helvetica" pitchFamily="34" charset="0"/>
              </a:rPr>
              <a:t>To create a competent and knowledgeable workforce</a:t>
            </a:r>
          </a:p>
          <a:p>
            <a:pPr marL="360000" indent="-360000">
              <a:spcBef>
                <a:spcPts val="600"/>
              </a:spcBef>
              <a:spcAft>
                <a:spcPts val="1200"/>
              </a:spcAft>
            </a:pPr>
            <a:r>
              <a:rPr lang="en-AU" sz="2200" dirty="0" smtClean="0">
                <a:latin typeface="Helvetica" pitchFamily="34" charset="0"/>
              </a:rPr>
              <a:t>To develop a multi-skilled pool of employees</a:t>
            </a:r>
          </a:p>
          <a:p>
            <a:pPr marL="360000" indent="-360000">
              <a:spcBef>
                <a:spcPts val="600"/>
              </a:spcBef>
              <a:spcAft>
                <a:spcPts val="1200"/>
              </a:spcAft>
            </a:pPr>
            <a:endParaRPr lang="en-AU"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4077072"/>
            <a:ext cx="2543944" cy="1696811"/>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AU" sz="2200" dirty="0" smtClean="0">
                <a:latin typeface="Helvetica" pitchFamily="34" charset="0"/>
              </a:rPr>
              <a:t>To satisfy staff need for personal growth</a:t>
            </a:r>
          </a:p>
          <a:p>
            <a:pPr marL="360000" indent="-360000">
              <a:spcBef>
                <a:spcPts val="600"/>
              </a:spcBef>
              <a:spcAft>
                <a:spcPts val="1200"/>
              </a:spcAft>
            </a:pPr>
            <a:r>
              <a:rPr lang="en-AU" sz="2200" dirty="0" smtClean="0">
                <a:latin typeface="Helvetica" pitchFamily="34" charset="0"/>
              </a:rPr>
              <a:t>To ensure workers can work within the ever-changing business environment</a:t>
            </a:r>
          </a:p>
          <a:p>
            <a:pPr marL="360000" indent="-360000">
              <a:spcBef>
                <a:spcPts val="600"/>
              </a:spcBef>
              <a:spcAft>
                <a:spcPts val="1200"/>
              </a:spcAft>
            </a:pPr>
            <a:r>
              <a:rPr lang="en-AU" sz="2200" dirty="0" smtClean="0">
                <a:latin typeface="Helvetica" pitchFamily="34" charset="0"/>
              </a:rPr>
              <a:t>To comply with host country legislation</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6136" y="3933056"/>
            <a:ext cx="2614217" cy="1735840"/>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24536"/>
          </a:xfrm>
        </p:spPr>
        <p:txBody>
          <a:bodyPr>
            <a:normAutofit lnSpcReduction="10000"/>
          </a:bodyPr>
          <a:lstStyle/>
          <a:p>
            <a:pPr marL="0" indent="0">
              <a:spcBef>
                <a:spcPts val="600"/>
              </a:spcBef>
              <a:spcAft>
                <a:spcPts val="1200"/>
              </a:spcAft>
              <a:buNone/>
            </a:pPr>
            <a:r>
              <a:rPr lang="en-US" sz="2200" dirty="0" smtClean="0">
                <a:latin typeface="Helvetica" pitchFamily="34" charset="0"/>
              </a:rPr>
              <a:t>‘On-the-job training’:</a:t>
            </a:r>
          </a:p>
          <a:p>
            <a:pPr marL="360000" indent="-360000">
              <a:spcBef>
                <a:spcPts val="600"/>
              </a:spcBef>
              <a:spcAft>
                <a:spcPts val="1200"/>
              </a:spcAft>
            </a:pPr>
            <a:r>
              <a:rPr lang="en-AU" sz="2200" dirty="0" smtClean="0">
                <a:latin typeface="Helvetica" pitchFamily="34" charset="0"/>
              </a:rPr>
              <a:t>Occurs where workers are shown what to do while working</a:t>
            </a:r>
          </a:p>
          <a:p>
            <a:pPr marL="360000" indent="-360000">
              <a:spcBef>
                <a:spcPts val="600"/>
              </a:spcBef>
              <a:spcAft>
                <a:spcPts val="1200"/>
              </a:spcAft>
            </a:pPr>
            <a:r>
              <a:rPr lang="en-AU" sz="2200" dirty="0" smtClean="0">
                <a:latin typeface="Helvetica" pitchFamily="34" charset="0"/>
              </a:rPr>
              <a:t>Can be both effective and inexpensive </a:t>
            </a:r>
            <a:br>
              <a:rPr lang="en-AU" sz="2200" dirty="0" smtClean="0">
                <a:latin typeface="Helvetica" pitchFamily="34" charset="0"/>
              </a:rPr>
            </a:br>
            <a:r>
              <a:rPr lang="en-AU" sz="2200" dirty="0" smtClean="0">
                <a:latin typeface="Helvetica" pitchFamily="34" charset="0"/>
              </a:rPr>
              <a:t>but there are no guarantees required </a:t>
            </a:r>
            <a:br>
              <a:rPr lang="en-AU" sz="2200" dirty="0" smtClean="0">
                <a:latin typeface="Helvetica" pitchFamily="34" charset="0"/>
              </a:rPr>
            </a:br>
            <a:r>
              <a:rPr lang="en-AU" sz="2200" dirty="0" smtClean="0">
                <a:latin typeface="Helvetica" pitchFamily="34" charset="0"/>
              </a:rPr>
              <a:t>standards are achieved</a:t>
            </a:r>
          </a:p>
          <a:p>
            <a:pPr marL="360000" indent="-360000">
              <a:spcBef>
                <a:spcPts val="600"/>
              </a:spcBef>
              <a:spcAft>
                <a:spcPts val="1200"/>
              </a:spcAft>
            </a:pPr>
            <a:r>
              <a:rPr lang="en-AU" sz="2200" dirty="0" smtClean="0">
                <a:latin typeface="Helvetica" pitchFamily="34" charset="0"/>
              </a:rPr>
              <a:t>May involve:</a:t>
            </a:r>
            <a:endParaRPr lang="en-US" sz="2200" dirty="0" smtClean="0">
              <a:latin typeface="Helvetica" pitchFamily="34" charset="0"/>
            </a:endParaRP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Buddy system</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Observational learning</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Workplace coaching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2780928"/>
            <a:ext cx="2116045" cy="2255912"/>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360000" indent="-360000">
              <a:spcBef>
                <a:spcPts val="600"/>
              </a:spcBef>
              <a:spcAft>
                <a:spcPts val="1200"/>
              </a:spcAft>
              <a:buNone/>
            </a:pPr>
            <a:r>
              <a:rPr lang="en-US" sz="2200" dirty="0" smtClean="0">
                <a:latin typeface="Helvetica" pitchFamily="34" charset="0"/>
              </a:rPr>
              <a:t>Other training options include:</a:t>
            </a:r>
          </a:p>
          <a:p>
            <a:pPr marL="360000" indent="-360000">
              <a:spcBef>
                <a:spcPts val="600"/>
              </a:spcBef>
              <a:spcAft>
                <a:spcPts val="1200"/>
              </a:spcAft>
            </a:pPr>
            <a:r>
              <a:rPr lang="en-US" sz="2200" dirty="0" smtClean="0">
                <a:latin typeface="Helvetica" pitchFamily="34" charset="0"/>
              </a:rPr>
              <a:t>Off-the-job training</a:t>
            </a:r>
          </a:p>
          <a:p>
            <a:pPr marL="360000" indent="-360000">
              <a:spcBef>
                <a:spcPts val="600"/>
              </a:spcBef>
              <a:spcAft>
                <a:spcPts val="1200"/>
              </a:spcAft>
            </a:pPr>
            <a:r>
              <a:rPr lang="en-US" sz="2200" dirty="0" smtClean="0">
                <a:latin typeface="Helvetica" pitchFamily="34" charset="0"/>
              </a:rPr>
              <a:t>E-learning</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2222699"/>
            <a:ext cx="2842260" cy="2131695"/>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Workplace ‘competence’:</a:t>
            </a:r>
          </a:p>
          <a:p>
            <a:pPr marL="360000" indent="-360000">
              <a:spcBef>
                <a:spcPts val="600"/>
              </a:spcBef>
              <a:spcAft>
                <a:spcPts val="1200"/>
              </a:spcAft>
            </a:pPr>
            <a:r>
              <a:rPr lang="en-US" sz="2200" dirty="0" smtClean="0">
                <a:latin typeface="Helvetica" pitchFamily="34" charset="0"/>
              </a:rPr>
              <a:t>Means staff can do the job required to </a:t>
            </a:r>
            <a:br>
              <a:rPr lang="en-US" sz="2200" dirty="0" smtClean="0">
                <a:latin typeface="Helvetica" pitchFamily="34" charset="0"/>
              </a:rPr>
            </a:br>
            <a:r>
              <a:rPr lang="en-US" sz="2200" dirty="0" smtClean="0">
                <a:latin typeface="Helvetica" pitchFamily="34" charset="0"/>
              </a:rPr>
              <a:t>the standards required</a:t>
            </a:r>
          </a:p>
          <a:p>
            <a:pPr marL="360000" indent="-360000">
              <a:spcBef>
                <a:spcPts val="600"/>
              </a:spcBef>
              <a:spcAft>
                <a:spcPts val="1200"/>
              </a:spcAft>
            </a:pPr>
            <a:r>
              <a:rPr lang="en-US" sz="2200" dirty="0" smtClean="0">
                <a:latin typeface="Helvetica" pitchFamily="34" charset="0"/>
              </a:rPr>
              <a:t>Is commonly based on CBT principles </a:t>
            </a:r>
            <a:br>
              <a:rPr lang="en-US" sz="2200" dirty="0" smtClean="0">
                <a:latin typeface="Helvetica" pitchFamily="34" charset="0"/>
              </a:rPr>
            </a:br>
            <a:r>
              <a:rPr lang="en-US" sz="2200" dirty="0" smtClean="0">
                <a:latin typeface="Helvetica" pitchFamily="34" charset="0"/>
              </a:rPr>
              <a:t>which sets a standard for all </a:t>
            </a:r>
            <a:br>
              <a:rPr lang="en-US" sz="2200" dirty="0" smtClean="0">
                <a:latin typeface="Helvetica" pitchFamily="34" charset="0"/>
              </a:rPr>
            </a:br>
            <a:r>
              <a:rPr lang="en-US" sz="2200" dirty="0" smtClean="0">
                <a:latin typeface="Helvetica" pitchFamily="34" charset="0"/>
              </a:rPr>
              <a:t>competencies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2060848"/>
            <a:ext cx="1631409" cy="2453640"/>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16204" y="3573016"/>
            <a:ext cx="2523876" cy="1539564"/>
          </a:xfrm>
          <a:prstGeom prst="rect">
            <a:avLst/>
          </a:prstGeom>
        </p:spPr>
      </p:pic>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lnSpcReduction="10000"/>
          </a:bodyPr>
          <a:lstStyle/>
          <a:p>
            <a:pPr marL="0" indent="0">
              <a:spcBef>
                <a:spcPts val="600"/>
              </a:spcBef>
              <a:spcAft>
                <a:spcPts val="1200"/>
              </a:spcAft>
              <a:buNone/>
            </a:pPr>
            <a:r>
              <a:rPr lang="en-US" sz="2200" dirty="0" smtClean="0">
                <a:latin typeface="Helvetica" pitchFamily="34" charset="0"/>
              </a:rPr>
              <a:t>The required competency standard:</a:t>
            </a:r>
          </a:p>
          <a:p>
            <a:pPr marL="360000" indent="-360000">
              <a:spcBef>
                <a:spcPts val="600"/>
              </a:spcBef>
              <a:spcAft>
                <a:spcPts val="1200"/>
              </a:spcAft>
            </a:pPr>
            <a:r>
              <a:rPr lang="en-US" sz="2200" dirty="0" smtClean="0">
                <a:latin typeface="Helvetica" pitchFamily="34" charset="0"/>
              </a:rPr>
              <a:t>May be set by the organisation, the industry or government</a:t>
            </a:r>
          </a:p>
          <a:p>
            <a:pPr marL="360000" indent="-360000">
              <a:spcBef>
                <a:spcPts val="600"/>
              </a:spcBef>
              <a:spcAft>
                <a:spcPts val="1200"/>
              </a:spcAft>
            </a:pPr>
            <a:r>
              <a:rPr lang="en-US" sz="2200" dirty="0" smtClean="0">
                <a:latin typeface="Helvetica" pitchFamily="34" charset="0"/>
              </a:rPr>
              <a:t>May vary between departments</a:t>
            </a:r>
          </a:p>
          <a:p>
            <a:pPr marL="360000" indent="-360000">
              <a:spcBef>
                <a:spcPts val="600"/>
              </a:spcBef>
              <a:spcAft>
                <a:spcPts val="1200"/>
              </a:spcAft>
            </a:pPr>
            <a:r>
              <a:rPr lang="en-US" sz="2200" dirty="0" smtClean="0">
                <a:latin typeface="Helvetica" pitchFamily="34" charset="0"/>
              </a:rPr>
              <a:t>May differ between sites/workplaces/outlets</a:t>
            </a:r>
          </a:p>
          <a:p>
            <a:pPr marL="360000" indent="-360000">
              <a:spcBef>
                <a:spcPts val="600"/>
              </a:spcBef>
              <a:spcAft>
                <a:spcPts val="1200"/>
              </a:spcAft>
            </a:pPr>
            <a:r>
              <a:rPr lang="en-US" sz="2200" dirty="0" smtClean="0">
                <a:latin typeface="Helvetica" pitchFamily="34" charset="0"/>
              </a:rPr>
              <a:t>Involves three elements – skill, </a:t>
            </a:r>
            <a:br>
              <a:rPr lang="en-US" sz="2200" dirty="0" smtClean="0">
                <a:latin typeface="Helvetica" pitchFamily="34" charset="0"/>
              </a:rPr>
            </a:br>
            <a:r>
              <a:rPr lang="en-US" sz="2200" dirty="0" smtClean="0">
                <a:latin typeface="Helvetica" pitchFamily="34" charset="0"/>
              </a:rPr>
              <a:t>knowledge and attitude</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induction and training initiatives are used effectively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US" sz="2200" dirty="0" smtClean="0">
                <a:latin typeface="Helvetica" pitchFamily="34" charset="0"/>
              </a:rPr>
              <a:t>Is not time-dependent</a:t>
            </a:r>
          </a:p>
          <a:p>
            <a:pPr marL="360000" indent="-360000">
              <a:spcBef>
                <a:spcPts val="600"/>
              </a:spcBef>
              <a:spcAft>
                <a:spcPts val="1200"/>
              </a:spcAft>
            </a:pPr>
            <a:r>
              <a:rPr lang="en-US" sz="2200" dirty="0" smtClean="0">
                <a:latin typeface="Helvetica" pitchFamily="34" charset="0"/>
              </a:rPr>
              <a:t>Allows competency to be gained through a range of options/ways.</a:t>
            </a:r>
          </a:p>
          <a:p>
            <a:pPr marL="360000" indent="-360000">
              <a:spcBef>
                <a:spcPts val="600"/>
              </a:spcBef>
              <a:spcAft>
                <a:spcPts val="1200"/>
              </a:spcAft>
              <a:buNone/>
            </a:pPr>
            <a:r>
              <a:rPr lang="en-US" sz="2200" dirty="0" smtClean="0">
                <a:latin typeface="Helvetica" pitchFamily="34" charset="0"/>
              </a:rPr>
              <a:t>CBT:</a:t>
            </a:r>
          </a:p>
          <a:p>
            <a:pPr marL="360000" indent="-360000">
              <a:spcBef>
                <a:spcPts val="600"/>
              </a:spcBef>
              <a:spcAft>
                <a:spcPts val="1200"/>
              </a:spcAft>
            </a:pPr>
            <a:r>
              <a:rPr lang="en-US" sz="2200" dirty="0" smtClean="0">
                <a:latin typeface="Helvetica" pitchFamily="34" charset="0"/>
              </a:rPr>
              <a:t>Does not use ‘Pass’ or ‘Fail’ – the terms </a:t>
            </a:r>
            <a:br>
              <a:rPr lang="en-US" sz="2200" dirty="0" smtClean="0">
                <a:latin typeface="Helvetica" pitchFamily="34" charset="0"/>
              </a:rPr>
            </a:br>
            <a:r>
              <a:rPr lang="en-US" sz="2200" dirty="0" smtClean="0">
                <a:latin typeface="Helvetica" pitchFamily="34" charset="0"/>
              </a:rPr>
              <a:t>are ‘Competent’ and ‘Not yet Competent’</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0232" y="3429000"/>
            <a:ext cx="1524000" cy="1524000"/>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2400" b="1" dirty="0" smtClean="0">
                <a:solidFill>
                  <a:srgbClr val="FF6600"/>
                </a:solidFill>
                <a:latin typeface="Helvetica" pitchFamily="34" charset="0"/>
              </a:rPr>
              <a:t>Utilise consultation for resolution of grievances and implementation of new work practices</a:t>
            </a:r>
            <a:endParaRPr lang="en-US" sz="2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 ‘grievance’ can be seen as:</a:t>
            </a:r>
            <a:endParaRPr lang="en-US" sz="3100" b="1" dirty="0" smtClean="0">
              <a:solidFill>
                <a:srgbClr val="FF6600"/>
              </a:solidFill>
              <a:latin typeface="Helvetica" pitchFamily="34" charset="0"/>
              <a:ea typeface="+mj-ea"/>
              <a:cs typeface="+mj-cs"/>
            </a:endParaRPr>
          </a:p>
          <a:p>
            <a:pPr marL="360000" indent="-360000">
              <a:spcBef>
                <a:spcPts val="600"/>
              </a:spcBef>
              <a:spcAft>
                <a:spcPts val="1200"/>
              </a:spcAft>
            </a:pPr>
            <a:r>
              <a:rPr lang="en-AU" sz="2200" dirty="0" smtClean="0">
                <a:latin typeface="Helvetica" pitchFamily="34" charset="0"/>
              </a:rPr>
              <a:t>Any sort of work-based problem or issue</a:t>
            </a:r>
          </a:p>
          <a:p>
            <a:pPr marL="360000" indent="-360000">
              <a:spcBef>
                <a:spcPts val="600"/>
              </a:spcBef>
              <a:spcAft>
                <a:spcPts val="1200"/>
              </a:spcAft>
            </a:pPr>
            <a:r>
              <a:rPr lang="en-AU" sz="2200" dirty="0" smtClean="0">
                <a:latin typeface="Helvetica" pitchFamily="34" charset="0"/>
              </a:rPr>
              <a:t>A work-related complaint or conflict</a:t>
            </a:r>
          </a:p>
          <a:p>
            <a:pPr marL="360000" indent="-360000">
              <a:spcBef>
                <a:spcPts val="600"/>
              </a:spcBef>
              <a:spcAft>
                <a:spcPts val="1200"/>
              </a:spcAft>
            </a:pPr>
            <a:r>
              <a:rPr lang="en-AU" sz="2200" dirty="0" smtClean="0">
                <a:latin typeface="Helvetica" pitchFamily="34" charset="0"/>
              </a:rPr>
              <a:t>Something between staff and management/management and staff</a:t>
            </a:r>
          </a:p>
          <a:p>
            <a:pPr marL="360000" indent="-360000">
              <a:spcBef>
                <a:spcPts val="600"/>
              </a:spcBef>
              <a:spcAft>
                <a:spcPts val="1200"/>
              </a:spcAft>
            </a:pPr>
            <a:r>
              <a:rPr lang="en-AU" sz="2200" dirty="0" smtClean="0">
                <a:latin typeface="Helvetica" pitchFamily="34" charset="0"/>
              </a:rPr>
              <a:t>Something between staff/work </a:t>
            </a:r>
            <a:br>
              <a:rPr lang="en-AU" sz="2200" dirty="0" smtClean="0">
                <a:latin typeface="Helvetica" pitchFamily="34" charset="0"/>
              </a:rPr>
            </a:br>
            <a:r>
              <a:rPr lang="en-AU" sz="2200" dirty="0" smtClean="0">
                <a:latin typeface="Helvetica" pitchFamily="34" charset="0"/>
              </a:rPr>
              <a:t>colleagues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24128" y="3932802"/>
            <a:ext cx="2659008" cy="1769540"/>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2400" b="1" dirty="0" smtClean="0">
                <a:solidFill>
                  <a:srgbClr val="FF6600"/>
                </a:solidFill>
                <a:latin typeface="Helvetica" pitchFamily="34" charset="0"/>
              </a:rPr>
              <a:t>Utilise consultation for resolution of grievances and implementation of new work practices</a:t>
            </a:r>
            <a:endParaRPr lang="en-US" sz="2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indent="0">
              <a:spcBef>
                <a:spcPts val="600"/>
              </a:spcBef>
              <a:spcAft>
                <a:spcPts val="1200"/>
              </a:spcAft>
              <a:buNone/>
            </a:pPr>
            <a:r>
              <a:rPr lang="en-US" sz="2200" dirty="0" smtClean="0">
                <a:latin typeface="Helvetica" pitchFamily="34" charset="0"/>
              </a:rPr>
              <a:t>Stakeholders in a grievance may include:</a:t>
            </a:r>
            <a:endParaRPr lang="en-US" sz="3100" b="1" dirty="0" smtClean="0">
              <a:solidFill>
                <a:srgbClr val="FF6600"/>
              </a:solidFill>
              <a:latin typeface="Helvetica" pitchFamily="34" charset="0"/>
              <a:ea typeface="+mj-ea"/>
              <a:cs typeface="+mj-cs"/>
            </a:endParaRPr>
          </a:p>
          <a:p>
            <a:pPr marL="360000" indent="-360000">
              <a:spcBef>
                <a:spcPts val="600"/>
              </a:spcBef>
              <a:spcAft>
                <a:spcPts val="1200"/>
              </a:spcAft>
            </a:pPr>
            <a:r>
              <a:rPr lang="en-AU" sz="2200" dirty="0" smtClean="0">
                <a:latin typeface="Helvetica" pitchFamily="34" charset="0"/>
              </a:rPr>
              <a:t>Staff</a:t>
            </a:r>
          </a:p>
          <a:p>
            <a:pPr marL="360000" indent="-360000">
              <a:spcBef>
                <a:spcPts val="600"/>
              </a:spcBef>
              <a:spcAft>
                <a:spcPts val="1200"/>
              </a:spcAft>
            </a:pPr>
            <a:r>
              <a:rPr lang="en-AU" sz="2200" dirty="0" smtClean="0">
                <a:latin typeface="Helvetica" pitchFamily="34" charset="0"/>
              </a:rPr>
              <a:t>Unions</a:t>
            </a:r>
          </a:p>
          <a:p>
            <a:pPr marL="360000" indent="-360000">
              <a:spcBef>
                <a:spcPts val="600"/>
              </a:spcBef>
              <a:spcAft>
                <a:spcPts val="1200"/>
              </a:spcAft>
            </a:pPr>
            <a:r>
              <a:rPr lang="en-AU" sz="2200" dirty="0" smtClean="0">
                <a:latin typeface="Helvetica" pitchFamily="34" charset="0"/>
              </a:rPr>
              <a:t>Employer groups</a:t>
            </a:r>
          </a:p>
          <a:p>
            <a:pPr marL="360000" indent="-360000">
              <a:spcBef>
                <a:spcPts val="600"/>
              </a:spcBef>
              <a:spcAft>
                <a:spcPts val="1200"/>
              </a:spcAft>
            </a:pPr>
            <a:r>
              <a:rPr lang="en-AU" sz="2200" dirty="0" smtClean="0">
                <a:latin typeface="Helvetica" pitchFamily="34" charset="0"/>
              </a:rPr>
              <a:t>Boards of management – or other </a:t>
            </a:r>
            <a:br>
              <a:rPr lang="en-AU" sz="2200" dirty="0" smtClean="0">
                <a:latin typeface="Helvetica" pitchFamily="34" charset="0"/>
              </a:rPr>
            </a:br>
            <a:r>
              <a:rPr lang="en-AU" sz="2200" dirty="0" smtClean="0">
                <a:latin typeface="Helvetica" pitchFamily="34" charset="0"/>
              </a:rPr>
              <a:t>management personnel or </a:t>
            </a:r>
            <a:br>
              <a:rPr lang="en-AU" sz="2200" dirty="0" smtClean="0">
                <a:latin typeface="Helvetica" pitchFamily="34" charset="0"/>
              </a:rPr>
            </a:br>
            <a:r>
              <a:rPr lang="en-AU" sz="2200" dirty="0" smtClean="0">
                <a:latin typeface="Helvetica" pitchFamily="34" charset="0"/>
              </a:rPr>
              <a:t>representatives</a:t>
            </a:r>
          </a:p>
          <a:p>
            <a:pPr marL="360000" indent="-360000">
              <a:spcBef>
                <a:spcPts val="600"/>
              </a:spcBef>
              <a:spcAft>
                <a:spcPts val="1200"/>
              </a:spcAft>
            </a:pPr>
            <a:r>
              <a:rPr lang="en-AU" sz="2200" dirty="0" smtClean="0">
                <a:latin typeface="Helvetica" pitchFamily="34" charset="0"/>
              </a:rPr>
              <a:t>Government</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3717032"/>
            <a:ext cx="2718729" cy="1858480"/>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2400" b="1" dirty="0" smtClean="0">
                <a:solidFill>
                  <a:srgbClr val="FF6600"/>
                </a:solidFill>
                <a:latin typeface="Helvetica" pitchFamily="34" charset="0"/>
              </a:rPr>
              <a:t>Utilise consultation for resolution of grievances and implementation of new work practices</a:t>
            </a:r>
            <a:endParaRPr lang="en-US" sz="2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560840" cy="5040560"/>
          </a:xfrm>
        </p:spPr>
        <p:txBody>
          <a:bodyPr>
            <a:normAutofit/>
          </a:bodyPr>
          <a:lstStyle/>
          <a:p>
            <a:pPr marL="0" indent="0">
              <a:spcBef>
                <a:spcPts val="600"/>
              </a:spcBef>
              <a:spcAft>
                <a:spcPts val="1200"/>
              </a:spcAft>
              <a:buNone/>
            </a:pPr>
            <a:r>
              <a:rPr lang="en-US" sz="2200" dirty="0" smtClean="0">
                <a:latin typeface="Helvetica" pitchFamily="34" charset="0"/>
              </a:rPr>
              <a:t>Ways consultation can be used to identify workplace grievances:</a:t>
            </a:r>
            <a:endParaRPr lang="en-US" sz="3100" b="1" dirty="0" smtClean="0">
              <a:solidFill>
                <a:srgbClr val="FF6600"/>
              </a:solidFill>
              <a:latin typeface="Helvetica" pitchFamily="34" charset="0"/>
              <a:ea typeface="+mj-ea"/>
              <a:cs typeface="+mj-cs"/>
            </a:endParaRPr>
          </a:p>
          <a:p>
            <a:pPr marL="360000" indent="-360000">
              <a:spcBef>
                <a:spcPts val="600"/>
              </a:spcBef>
              <a:spcAft>
                <a:spcPts val="1200"/>
              </a:spcAft>
            </a:pPr>
            <a:r>
              <a:rPr lang="en-AU" sz="2200" dirty="0" smtClean="0">
                <a:latin typeface="Helvetica" pitchFamily="34" charset="0"/>
              </a:rPr>
              <a:t>Providing formal, written procedures</a:t>
            </a:r>
          </a:p>
          <a:p>
            <a:pPr marL="360000" indent="-360000">
              <a:spcBef>
                <a:spcPts val="600"/>
              </a:spcBef>
              <a:spcAft>
                <a:spcPts val="1200"/>
              </a:spcAft>
            </a:pPr>
            <a:r>
              <a:rPr lang="en-AU" sz="2200" dirty="0" smtClean="0">
                <a:latin typeface="Helvetica" pitchFamily="34" charset="0"/>
              </a:rPr>
              <a:t>Making sure all staff know there is a </a:t>
            </a:r>
            <a:br>
              <a:rPr lang="en-AU" sz="2200" dirty="0" smtClean="0">
                <a:latin typeface="Helvetica" pitchFamily="34" charset="0"/>
              </a:rPr>
            </a:br>
            <a:r>
              <a:rPr lang="en-AU" sz="2200" dirty="0" smtClean="0">
                <a:latin typeface="Helvetica" pitchFamily="34" charset="0"/>
              </a:rPr>
              <a:t>process for grievance </a:t>
            </a:r>
            <a:r>
              <a:rPr lang="en-AU" sz="2200" i="1" dirty="0" smtClean="0">
                <a:latin typeface="Helvetica" pitchFamily="34" charset="0"/>
              </a:rPr>
              <a:t>identification</a:t>
            </a:r>
          </a:p>
          <a:p>
            <a:pPr marL="360000" indent="-360000">
              <a:spcBef>
                <a:spcPts val="600"/>
              </a:spcBef>
              <a:spcAft>
                <a:spcPts val="1200"/>
              </a:spcAft>
            </a:pPr>
            <a:r>
              <a:rPr lang="en-AU" sz="2200" dirty="0" smtClean="0">
                <a:latin typeface="Helvetica" pitchFamily="34" charset="0"/>
              </a:rPr>
              <a:t>Being alert to the warning signs </a:t>
            </a:r>
            <a:br>
              <a:rPr lang="en-AU" sz="2200" dirty="0" smtClean="0">
                <a:latin typeface="Helvetica" pitchFamily="34" charset="0"/>
              </a:rPr>
            </a:br>
            <a:r>
              <a:rPr lang="en-AU" sz="2200" dirty="0" smtClean="0">
                <a:latin typeface="Helvetica" pitchFamily="34" charset="0"/>
              </a:rPr>
              <a:t>of troubles</a:t>
            </a:r>
          </a:p>
          <a:p>
            <a:pPr marL="360000" indent="-360000">
              <a:spcBef>
                <a:spcPts val="600"/>
              </a:spcBef>
              <a:spcAft>
                <a:spcPts val="1200"/>
              </a:spcAft>
            </a:pPr>
            <a:r>
              <a:rPr lang="en-AU" sz="2200" dirty="0" smtClean="0">
                <a:latin typeface="Helvetica" pitchFamily="34" charset="0"/>
              </a:rPr>
              <a:t>Talking with staff while in the workplace</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24128" y="2204864"/>
            <a:ext cx="2463716" cy="2493640"/>
          </a:xfrm>
          <a:prstGeom prst="rect">
            <a:avLst/>
          </a:prstGeom>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2400" b="1" dirty="0" smtClean="0">
                <a:solidFill>
                  <a:srgbClr val="FF6600"/>
                </a:solidFill>
                <a:latin typeface="Helvetica" pitchFamily="34" charset="0"/>
              </a:rPr>
              <a:t>Utilise consultation for resolution of grievances and implementation of new work practices</a:t>
            </a:r>
            <a:endParaRPr lang="en-US" sz="2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752528"/>
          </a:xfrm>
        </p:spPr>
        <p:txBody>
          <a:bodyPr>
            <a:normAutofit/>
          </a:bodyPr>
          <a:lstStyle/>
          <a:p>
            <a:pPr marL="360000" indent="-360000">
              <a:spcBef>
                <a:spcPts val="600"/>
              </a:spcBef>
              <a:spcAft>
                <a:spcPts val="1200"/>
              </a:spcAft>
            </a:pPr>
            <a:r>
              <a:rPr lang="en-AU" sz="2200" dirty="0" smtClean="0">
                <a:latin typeface="Helvetica" pitchFamily="34" charset="0"/>
              </a:rPr>
              <a:t>Encouraging staff to communicate issues early</a:t>
            </a:r>
          </a:p>
          <a:p>
            <a:pPr marL="360000" indent="-360000">
              <a:spcBef>
                <a:spcPts val="600"/>
              </a:spcBef>
              <a:spcAft>
                <a:spcPts val="1200"/>
              </a:spcAft>
            </a:pPr>
            <a:r>
              <a:rPr lang="en-AU" sz="2200" dirty="0" smtClean="0">
                <a:latin typeface="Helvetica" pitchFamily="34" charset="0"/>
              </a:rPr>
              <a:t>Establishing designated </a:t>
            </a:r>
            <a:r>
              <a:rPr lang="en-AU" sz="2200" i="1" dirty="0" smtClean="0">
                <a:latin typeface="Helvetica" pitchFamily="34" charset="0"/>
              </a:rPr>
              <a:t>employees </a:t>
            </a:r>
            <a:r>
              <a:rPr lang="en-AU" sz="2200" dirty="0" smtClean="0">
                <a:latin typeface="Helvetica" pitchFamily="34" charset="0"/>
              </a:rPr>
              <a:t>as workplace contacts</a:t>
            </a:r>
          </a:p>
          <a:p>
            <a:pPr marL="360000" indent="-360000">
              <a:spcBef>
                <a:spcPts val="600"/>
              </a:spcBef>
              <a:spcAft>
                <a:spcPts val="1200"/>
              </a:spcAft>
            </a:pPr>
            <a:r>
              <a:rPr lang="en-AU" sz="2200" dirty="0" smtClean="0">
                <a:latin typeface="Helvetica" pitchFamily="34" charset="0"/>
              </a:rPr>
              <a:t>Providing opportunity for employees to raise grievances at any meeting with management</a:t>
            </a:r>
          </a:p>
          <a:p>
            <a:pPr marL="360000" indent="-360000">
              <a:spcBef>
                <a:spcPts val="600"/>
              </a:spcBef>
              <a:spcAft>
                <a:spcPts val="1200"/>
              </a:spcAft>
            </a:pPr>
            <a:r>
              <a:rPr lang="en-AU" sz="2200" dirty="0" smtClean="0">
                <a:latin typeface="Helvetica" pitchFamily="34" charset="0"/>
              </a:rPr>
              <a:t>Creating a ‘grievance committee’</a:t>
            </a:r>
          </a:p>
          <a:p>
            <a:pPr marL="360000" indent="-360000">
              <a:spcBef>
                <a:spcPts val="600"/>
              </a:spcBef>
              <a:spcAft>
                <a:spcPts val="1200"/>
              </a:spcAft>
            </a:pPr>
            <a:r>
              <a:rPr lang="en-AU" sz="2200" dirty="0" smtClean="0">
                <a:latin typeface="Helvetica" pitchFamily="34" charset="0"/>
              </a:rPr>
              <a:t>Preparing standard recording/reporting forms</a:t>
            </a:r>
            <a:endParaRPr lang="en-US" sz="2200" dirty="0" smtClean="0">
              <a:latin typeface="Helvetica" pitchFamily="34" charset="0"/>
            </a:endParaRPr>
          </a:p>
          <a:p>
            <a:pPr marL="360000" indent="-360000">
              <a:spcBef>
                <a:spcPts val="600"/>
              </a:spcBef>
              <a:spcAft>
                <a:spcPts val="1200"/>
              </a:spcAft>
            </a:pPr>
            <a:r>
              <a:rPr lang="en-AU" sz="2100" dirty="0" smtClean="0">
                <a:latin typeface="Helvetica" pitchFamily="34" charset="0"/>
              </a:rPr>
              <a:t>Ensuring committees are charged with identifying grievances as part of their standard charter</a:t>
            </a: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2400" b="1" dirty="0" smtClean="0">
                <a:solidFill>
                  <a:srgbClr val="FF6600"/>
                </a:solidFill>
                <a:latin typeface="Helvetica" pitchFamily="34" charset="0"/>
              </a:rPr>
              <a:t>Utilise consultation for resolution of grievances and implementation of new work practices</a:t>
            </a:r>
            <a:endParaRPr lang="en-US" sz="2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704856" cy="4680520"/>
          </a:xfrm>
        </p:spPr>
        <p:txBody>
          <a:bodyPr>
            <a:normAutofit/>
          </a:bodyPr>
          <a:lstStyle/>
          <a:p>
            <a:pPr marL="0" indent="0">
              <a:spcBef>
                <a:spcPts val="600"/>
              </a:spcBef>
              <a:spcAft>
                <a:spcPts val="1200"/>
              </a:spcAft>
              <a:buNone/>
            </a:pPr>
            <a:r>
              <a:rPr lang="en-US" sz="2200" dirty="0" smtClean="0">
                <a:latin typeface="Helvetica" pitchFamily="34" charset="0"/>
              </a:rPr>
              <a:t>Ways consultation can be used to resolve workplace grievances:</a:t>
            </a:r>
            <a:endParaRPr lang="en-US" sz="2200" b="1" dirty="0" smtClean="0">
              <a:solidFill>
                <a:srgbClr val="FF6600"/>
              </a:solidFill>
              <a:latin typeface="Helvetica" pitchFamily="34" charset="0"/>
              <a:ea typeface="+mj-ea"/>
              <a:cs typeface="+mj-cs"/>
            </a:endParaRPr>
          </a:p>
          <a:p>
            <a:pPr marL="360000" indent="-360000">
              <a:spcBef>
                <a:spcPts val="600"/>
              </a:spcBef>
              <a:spcAft>
                <a:spcPts val="1200"/>
              </a:spcAft>
            </a:pPr>
            <a:r>
              <a:rPr lang="en-AU" sz="2200" dirty="0" smtClean="0">
                <a:latin typeface="Helvetica" pitchFamily="34" charset="0"/>
              </a:rPr>
              <a:t>Generating formal, written ‘grievance resolution’ procedures</a:t>
            </a:r>
          </a:p>
          <a:p>
            <a:pPr marL="360000" indent="-360000">
              <a:spcBef>
                <a:spcPts val="600"/>
              </a:spcBef>
              <a:spcAft>
                <a:spcPts val="1200"/>
              </a:spcAft>
            </a:pPr>
            <a:r>
              <a:rPr lang="en-AU" sz="2200" dirty="0" smtClean="0">
                <a:latin typeface="Helvetica" pitchFamily="34" charset="0"/>
              </a:rPr>
              <a:t>Making sure all staff are aware of what the ‘grievance resolution’ procedures are</a:t>
            </a:r>
          </a:p>
          <a:p>
            <a:pPr marL="360000" indent="-360000">
              <a:spcBef>
                <a:spcPts val="600"/>
              </a:spcBef>
              <a:spcAft>
                <a:spcPts val="1200"/>
              </a:spcAft>
            </a:pPr>
            <a:r>
              <a:rPr lang="en-AU" sz="2200" dirty="0" smtClean="0">
                <a:latin typeface="Helvetica" pitchFamily="34" charset="0"/>
              </a:rPr>
              <a:t>Applying the ‘grievance resolution’ </a:t>
            </a:r>
            <a:br>
              <a:rPr lang="en-AU" sz="2200" dirty="0" smtClean="0">
                <a:latin typeface="Helvetica" pitchFamily="34" charset="0"/>
              </a:rPr>
            </a:br>
            <a:r>
              <a:rPr lang="en-AU" sz="2200" dirty="0" smtClean="0">
                <a:latin typeface="Helvetica" pitchFamily="34" charset="0"/>
              </a:rPr>
              <a:t>procedures equitably</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2181" y="4149080"/>
            <a:ext cx="2123291" cy="1698633"/>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2400" b="1" dirty="0" smtClean="0">
                <a:solidFill>
                  <a:srgbClr val="FF6600"/>
                </a:solidFill>
                <a:latin typeface="Helvetica" pitchFamily="34" charset="0"/>
              </a:rPr>
              <a:t>Utilise consultation for resolution of grievances and implementation of new work practices</a:t>
            </a:r>
            <a:endParaRPr lang="en-US" sz="2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US" sz="2200" dirty="0" smtClean="0">
                <a:latin typeface="Helvetica" pitchFamily="34" charset="0"/>
              </a:rPr>
              <a:t>Using a ‘grievance resolution’ committee</a:t>
            </a:r>
          </a:p>
          <a:p>
            <a:pPr marL="360000" indent="-360000">
              <a:spcBef>
                <a:spcPts val="600"/>
              </a:spcBef>
              <a:spcAft>
                <a:spcPts val="1200"/>
              </a:spcAft>
            </a:pPr>
            <a:r>
              <a:rPr lang="en-US" sz="2200" dirty="0" smtClean="0">
                <a:latin typeface="Helvetica" pitchFamily="34" charset="0"/>
              </a:rPr>
              <a:t>Sharing outcomes and decisions with staff</a:t>
            </a:r>
          </a:p>
          <a:p>
            <a:pPr marL="360000" indent="-360000">
              <a:spcBef>
                <a:spcPts val="600"/>
              </a:spcBef>
              <a:spcAft>
                <a:spcPts val="1200"/>
              </a:spcAft>
            </a:pPr>
            <a:r>
              <a:rPr lang="en-US" sz="2200" dirty="0" smtClean="0">
                <a:latin typeface="Helvetica" pitchFamily="34" charset="0"/>
              </a:rPr>
              <a:t>Integrating lessons learned into SOPs</a:t>
            </a:r>
          </a:p>
          <a:p>
            <a:pPr marL="360000" indent="-360000">
              <a:spcBef>
                <a:spcPts val="600"/>
              </a:spcBef>
              <a:spcAft>
                <a:spcPts val="1200"/>
              </a:spcAft>
            </a:pPr>
            <a:r>
              <a:rPr lang="en-US" sz="2200" dirty="0" smtClean="0">
                <a:latin typeface="Helvetica" pitchFamily="34" charset="0"/>
              </a:rPr>
              <a:t>Following-up as required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0661" y="2492896"/>
            <a:ext cx="1257300" cy="2286000"/>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2400" b="1" dirty="0" smtClean="0">
                <a:solidFill>
                  <a:srgbClr val="FF6600"/>
                </a:solidFill>
                <a:latin typeface="Helvetica" pitchFamily="34" charset="0"/>
              </a:rPr>
              <a:t>Utilise consultation for resolution of grievances and implementation of new work practices</a:t>
            </a:r>
            <a:endParaRPr lang="en-US" sz="2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Consultation regarding introduction of new work practice may involve:</a:t>
            </a:r>
            <a:endParaRPr lang="en-US" sz="3100" b="1" dirty="0" smtClean="0">
              <a:solidFill>
                <a:srgbClr val="FF6600"/>
              </a:solidFill>
              <a:latin typeface="Helvetica" pitchFamily="34" charset="0"/>
              <a:ea typeface="+mj-ea"/>
              <a:cs typeface="+mj-cs"/>
            </a:endParaRPr>
          </a:p>
          <a:p>
            <a:pPr marL="360000" indent="-360000">
              <a:spcBef>
                <a:spcPts val="600"/>
              </a:spcBef>
              <a:spcAft>
                <a:spcPts val="1200"/>
              </a:spcAft>
            </a:pPr>
            <a:r>
              <a:rPr lang="en-US" sz="2200" dirty="0" smtClean="0">
                <a:latin typeface="Helvetica" pitchFamily="34" charset="0"/>
              </a:rPr>
              <a:t>Staff briefings</a:t>
            </a:r>
          </a:p>
          <a:p>
            <a:pPr marL="360000" indent="-360000">
              <a:spcBef>
                <a:spcPts val="600"/>
              </a:spcBef>
              <a:spcAft>
                <a:spcPts val="1200"/>
              </a:spcAft>
            </a:pPr>
            <a:r>
              <a:rPr lang="en-US" sz="2200" dirty="0" smtClean="0">
                <a:latin typeface="Helvetica" pitchFamily="34" charset="0"/>
              </a:rPr>
              <a:t>Staff training sessions</a:t>
            </a:r>
          </a:p>
          <a:p>
            <a:pPr marL="360000" indent="-360000">
              <a:spcBef>
                <a:spcPts val="600"/>
              </a:spcBef>
              <a:spcAft>
                <a:spcPts val="1200"/>
              </a:spcAft>
            </a:pPr>
            <a:r>
              <a:rPr lang="en-US" sz="2200" dirty="0" smtClean="0">
                <a:latin typeface="Helvetica" pitchFamily="34" charset="0"/>
              </a:rPr>
              <a:t>Staff meetings</a:t>
            </a:r>
          </a:p>
          <a:p>
            <a:pPr marL="360000" indent="-360000">
              <a:spcBef>
                <a:spcPts val="600"/>
              </a:spcBef>
              <a:spcAft>
                <a:spcPts val="1200"/>
              </a:spcAft>
            </a:pPr>
            <a:r>
              <a:rPr lang="en-US" sz="2200" dirty="0" smtClean="0">
                <a:latin typeface="Helvetica" pitchFamily="34" charset="0"/>
              </a:rPr>
              <a:t>Staff de-briefings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9687" y="2348880"/>
            <a:ext cx="2766060" cy="2522220"/>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2400" b="1" dirty="0" smtClean="0">
                <a:solidFill>
                  <a:srgbClr val="FF6600"/>
                </a:solidFill>
                <a:latin typeface="Helvetica" pitchFamily="34" charset="0"/>
              </a:rPr>
              <a:t>Utilise consultation for resolution of grievances and implementation of new work practices</a:t>
            </a:r>
            <a:endParaRPr lang="en-US" sz="2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US" sz="2200" dirty="0" smtClean="0">
                <a:latin typeface="Helvetica" pitchFamily="34" charset="0"/>
              </a:rPr>
              <a:t>An ‘open door’ policy by management</a:t>
            </a:r>
          </a:p>
          <a:p>
            <a:pPr marL="360000" indent="-360000">
              <a:spcBef>
                <a:spcPts val="600"/>
              </a:spcBef>
              <a:spcAft>
                <a:spcPts val="1200"/>
              </a:spcAft>
            </a:pPr>
            <a:r>
              <a:rPr lang="en-US" sz="2200" dirty="0" smtClean="0">
                <a:latin typeface="Helvetica" pitchFamily="34" charset="0"/>
              </a:rPr>
              <a:t>Specially-convened meetings to discuss initiatives/proposals</a:t>
            </a:r>
          </a:p>
          <a:p>
            <a:pPr marL="360000" indent="-360000">
              <a:spcBef>
                <a:spcPts val="600"/>
              </a:spcBef>
              <a:spcAft>
                <a:spcPts val="1200"/>
              </a:spcAft>
            </a:pPr>
            <a:r>
              <a:rPr lang="en-US" sz="2200" dirty="0" smtClean="0">
                <a:latin typeface="Helvetica" pitchFamily="34" charset="0"/>
              </a:rPr>
              <a:t>Management meetings (to allow management discussion and planning of same)</a:t>
            </a:r>
          </a:p>
          <a:p>
            <a:pPr marL="360000" indent="-360000">
              <a:spcBef>
                <a:spcPts val="600"/>
              </a:spcBef>
              <a:spcAft>
                <a:spcPts val="1200"/>
              </a:spcAft>
            </a:pPr>
            <a:r>
              <a:rPr lang="en-US" sz="2200" dirty="0" smtClean="0">
                <a:latin typeface="Helvetica" pitchFamily="34" charset="0"/>
              </a:rPr>
              <a:t>Formal presentations – by and to staff</a:t>
            </a:r>
          </a:p>
          <a:p>
            <a:pPr marL="360000" indent="-360000">
              <a:spcBef>
                <a:spcPts val="600"/>
              </a:spcBef>
              <a:spcAft>
                <a:spcPts val="1200"/>
              </a:spcAft>
            </a:pPr>
            <a:r>
              <a:rPr lang="en-US" sz="2200" dirty="0" smtClean="0">
                <a:latin typeface="Helvetica" pitchFamily="34" charset="0"/>
              </a:rPr>
              <a:t>Visits to/contacts with external </a:t>
            </a:r>
            <a:br>
              <a:rPr lang="en-US" sz="2200" dirty="0" smtClean="0">
                <a:latin typeface="Helvetica" pitchFamily="34" charset="0"/>
              </a:rPr>
            </a:br>
            <a:r>
              <a:rPr lang="en-US" sz="2200" dirty="0" smtClean="0">
                <a:latin typeface="Helvetica" pitchFamily="34" charset="0"/>
              </a:rPr>
              <a:t>stakeholders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3933056"/>
            <a:ext cx="2399928" cy="1600752"/>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000" dirty="0" smtClean="0">
                <a:latin typeface="Helvetica" pitchFamily="34" charset="0"/>
              </a:rPr>
              <a:t>When </a:t>
            </a:r>
            <a:r>
              <a:rPr lang="en-AU" sz="2000" dirty="0" smtClean="0">
                <a:latin typeface="Helvetica" pitchFamily="34" charset="0"/>
              </a:rPr>
              <a:t>building a positive industrial relations climate</a:t>
            </a:r>
            <a:r>
              <a:rPr lang="en-US" sz="2000" dirty="0" smtClean="0">
                <a:latin typeface="Helvetica" pitchFamily="34" charset="0"/>
              </a:rPr>
              <a:t>:</a:t>
            </a:r>
          </a:p>
          <a:p>
            <a:pPr lvl="0"/>
            <a:r>
              <a:rPr lang="en-AU" sz="2000" dirty="0" smtClean="0">
                <a:latin typeface="Helvetica" pitchFamily="34" charset="0"/>
              </a:rPr>
              <a:t>Align activities with the agreed ASEAN ‘Guidelines on Good Industrial Relations Practice’</a:t>
            </a:r>
          </a:p>
          <a:p>
            <a:pPr lvl="0"/>
            <a:endParaRPr lang="en-AU" sz="2000" dirty="0" smtClean="0">
              <a:latin typeface="Helvetica" pitchFamily="34" charset="0"/>
            </a:endParaRPr>
          </a:p>
          <a:p>
            <a:pPr lvl="0"/>
            <a:r>
              <a:rPr lang="en-AU" sz="2000" dirty="0" smtClean="0">
                <a:latin typeface="Helvetica" pitchFamily="34" charset="0"/>
              </a:rPr>
              <a:t>Identify and ensure thorough understanding of work instruments for all employees</a:t>
            </a:r>
          </a:p>
          <a:p>
            <a:endParaRPr lang="en-AU" sz="2000" dirty="0" smtClean="0">
              <a:latin typeface="Helvetica" pitchFamily="34" charset="0"/>
            </a:endParaRPr>
          </a:p>
          <a:p>
            <a:r>
              <a:rPr lang="en-AU" sz="2000" dirty="0" smtClean="0">
                <a:latin typeface="Helvetica" pitchFamily="34" charset="0"/>
              </a:rPr>
              <a:t>Gain comprehensive appreciation of all </a:t>
            </a:r>
            <a:br>
              <a:rPr lang="en-AU" sz="2000" dirty="0" smtClean="0">
                <a:latin typeface="Helvetica" pitchFamily="34" charset="0"/>
              </a:rPr>
            </a:br>
            <a:r>
              <a:rPr lang="en-AU" sz="2000" dirty="0" smtClean="0">
                <a:latin typeface="Helvetica" pitchFamily="34" charset="0"/>
              </a:rPr>
              <a:t>Conditions of Employment for all workers </a:t>
            </a:r>
            <a:br>
              <a:rPr lang="en-AU" sz="2000" dirty="0" smtClean="0">
                <a:latin typeface="Helvetica" pitchFamily="34" charset="0"/>
              </a:rPr>
            </a:br>
            <a:r>
              <a:rPr lang="en-AU" sz="2000" dirty="0" smtClean="0">
                <a:latin typeface="Helvetica" pitchFamily="34" charset="0"/>
              </a:rPr>
              <a:t>employed by the organisation</a:t>
            </a:r>
          </a:p>
          <a:p>
            <a:endParaRPr lang="en-AU" sz="2000" dirty="0" smtClean="0">
              <a:latin typeface="Helvetica" pitchFamily="34" charset="0"/>
            </a:endParaRPr>
          </a:p>
          <a:p>
            <a:pPr>
              <a:buNone/>
            </a:pPr>
            <a:r>
              <a:rPr lang="en-US" sz="2000" i="1" dirty="0" smtClean="0">
                <a:latin typeface="Helvetica" pitchFamily="34" charset="0"/>
              </a:rPr>
              <a:t>(Continued)</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6216" y="3736133"/>
            <a:ext cx="1908628" cy="1565075"/>
          </a:xfrm>
          <a:prstGeom prst="ellipse">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r>
              <a:rPr lang="en-AU" sz="2000" dirty="0" smtClean="0">
                <a:latin typeface="Helvetica" pitchFamily="34" charset="0"/>
              </a:rPr>
              <a:t>Ensure Letters of Offer used by the business reflect the work contract/agreement relevant to the job being offered</a:t>
            </a:r>
          </a:p>
          <a:p>
            <a:pPr lvl="0"/>
            <a:endParaRPr lang="en-AU" sz="2000" dirty="0" smtClean="0">
              <a:latin typeface="Helvetica" pitchFamily="34" charset="0"/>
            </a:endParaRPr>
          </a:p>
          <a:p>
            <a:pPr lvl="0"/>
            <a:r>
              <a:rPr lang="en-AU" sz="2000" dirty="0" smtClean="0">
                <a:latin typeface="Helvetica" pitchFamily="34" charset="0"/>
              </a:rPr>
              <a:t>Maintain comprehensive, accurate and updated personnel files for all workers</a:t>
            </a:r>
          </a:p>
          <a:p>
            <a:endParaRPr lang="en-AU" sz="2000" dirty="0" smtClean="0">
              <a:latin typeface="Helvetica" pitchFamily="34" charset="0"/>
            </a:endParaRPr>
          </a:p>
          <a:p>
            <a:r>
              <a:rPr lang="en-AU" sz="2000" dirty="0" smtClean="0">
                <a:latin typeface="Helvetica" pitchFamily="34" charset="0"/>
              </a:rPr>
              <a:t>Prepare and maintain current Job Statements </a:t>
            </a:r>
            <a:br>
              <a:rPr lang="en-AU" sz="2000" dirty="0" smtClean="0">
                <a:latin typeface="Helvetica" pitchFamily="34" charset="0"/>
              </a:rPr>
            </a:br>
            <a:r>
              <a:rPr lang="en-AU" sz="2000" dirty="0" smtClean="0">
                <a:latin typeface="Helvetica" pitchFamily="34" charset="0"/>
              </a:rPr>
              <a:t>for all positions within the organisation</a:t>
            </a:r>
          </a:p>
          <a:p>
            <a:endParaRPr lang="en-AU" sz="2000" dirty="0" smtClean="0">
              <a:latin typeface="Helvetica" pitchFamily="34" charset="0"/>
            </a:endParaRPr>
          </a:p>
          <a:p>
            <a:pPr>
              <a:buNone/>
            </a:pPr>
            <a:endParaRPr lang="en-US" sz="2000" dirty="0" smtClean="0">
              <a:latin typeface="Helvetica" pitchFamily="34" charset="0"/>
            </a:endParaRPr>
          </a:p>
          <a:p>
            <a:pPr>
              <a:buNone/>
            </a:pPr>
            <a:r>
              <a:rPr lang="en-US" sz="2000" i="1" dirty="0" smtClean="0">
                <a:latin typeface="Helvetica" pitchFamily="34" charset="0"/>
              </a:rPr>
              <a:t>(Continued)</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6216" y="3736133"/>
            <a:ext cx="1908628" cy="1565075"/>
          </a:xfrm>
          <a:prstGeom prst="ellipse">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lvl="0"/>
            <a:r>
              <a:rPr lang="en-AU" sz="2000" dirty="0" smtClean="0">
                <a:latin typeface="Helvetica" pitchFamily="34" charset="0"/>
              </a:rPr>
              <a:t>Appreciate the total context of industrial relations as it applies to the individual industry/sector and workplace/organisation</a:t>
            </a:r>
          </a:p>
          <a:p>
            <a:pPr lvl="0"/>
            <a:endParaRPr lang="en-AU" sz="2000" dirty="0" smtClean="0">
              <a:latin typeface="Helvetica" pitchFamily="34" charset="0"/>
            </a:endParaRPr>
          </a:p>
          <a:p>
            <a:pPr lvl="0"/>
            <a:r>
              <a:rPr lang="en-AU" sz="2000" dirty="0" smtClean="0">
                <a:latin typeface="Helvetica" pitchFamily="34" charset="0"/>
              </a:rPr>
              <a:t>Identify and access a range of sources to capture up-to-date information relevant to industrial relations matters and obligations</a:t>
            </a:r>
          </a:p>
          <a:p>
            <a:endParaRPr lang="en-AU" sz="2000" dirty="0" smtClean="0">
              <a:latin typeface="Helvetica" pitchFamily="34" charset="0"/>
            </a:endParaRPr>
          </a:p>
          <a:p>
            <a:r>
              <a:rPr lang="en-AU" sz="2000" dirty="0" smtClean="0">
                <a:latin typeface="Helvetica" pitchFamily="34" charset="0"/>
              </a:rPr>
              <a:t>Be proactive in identifying workplace issues </a:t>
            </a:r>
            <a:br>
              <a:rPr lang="en-AU" sz="2000" dirty="0" smtClean="0">
                <a:latin typeface="Helvetica" pitchFamily="34" charset="0"/>
              </a:rPr>
            </a:br>
            <a:r>
              <a:rPr lang="en-AU" sz="2000" dirty="0" smtClean="0">
                <a:latin typeface="Helvetica" pitchFamily="34" charset="0"/>
              </a:rPr>
              <a:t>with the potential to cause industrial unrest</a:t>
            </a:r>
          </a:p>
          <a:p>
            <a:endParaRPr lang="en-AU" sz="2000" dirty="0" smtClean="0">
              <a:latin typeface="Helvetica" pitchFamily="34" charset="0"/>
            </a:endParaRPr>
          </a:p>
          <a:p>
            <a:endParaRPr lang="en-AU" sz="2000" dirty="0" smtClean="0">
              <a:latin typeface="Helvetica" pitchFamily="34" charset="0"/>
            </a:endParaRPr>
          </a:p>
          <a:p>
            <a:pPr>
              <a:buNone/>
            </a:pPr>
            <a:r>
              <a:rPr lang="en-US" sz="2000" i="1" dirty="0" smtClean="0">
                <a:latin typeface="Helvetica" pitchFamily="34" charset="0"/>
              </a:rPr>
              <a:t>(Continued)</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6216" y="3736133"/>
            <a:ext cx="1908628" cy="1565075"/>
          </a:xfrm>
          <a:prstGeom prst="ellipse">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r>
              <a:rPr lang="en-AU" sz="2000" dirty="0" smtClean="0">
                <a:latin typeface="Helvetica" pitchFamily="34" charset="0"/>
              </a:rPr>
              <a:t>Recognise options available for staff to take industrial action</a:t>
            </a:r>
          </a:p>
          <a:p>
            <a:pPr lvl="0"/>
            <a:endParaRPr lang="en-AU" sz="2000" dirty="0" smtClean="0">
              <a:latin typeface="Helvetica" pitchFamily="34" charset="0"/>
            </a:endParaRPr>
          </a:p>
          <a:p>
            <a:pPr lvl="0"/>
            <a:r>
              <a:rPr lang="en-AU" sz="2000" dirty="0" smtClean="0">
                <a:latin typeface="Helvetica" pitchFamily="34" charset="0"/>
              </a:rPr>
              <a:t>Seek to identify causes for all industrial unrest</a:t>
            </a:r>
          </a:p>
          <a:p>
            <a:pPr lvl="0"/>
            <a:endParaRPr lang="en-AU" sz="2000" dirty="0" smtClean="0">
              <a:latin typeface="Helvetica" pitchFamily="34" charset="0"/>
            </a:endParaRPr>
          </a:p>
          <a:p>
            <a:pPr lvl="0"/>
            <a:r>
              <a:rPr lang="en-AU" sz="2000" dirty="0" smtClean="0">
                <a:latin typeface="Helvetica" pitchFamily="34" charset="0"/>
              </a:rPr>
              <a:t>Strive to consult, communicate and collaborate with employees in order to respond to and avoid workplace industrial unrest</a:t>
            </a:r>
          </a:p>
          <a:p>
            <a:pPr lvl="0"/>
            <a:endParaRPr lang="en-AU" sz="2000" dirty="0" smtClean="0">
              <a:latin typeface="Helvetica" pitchFamily="34" charset="0"/>
            </a:endParaRPr>
          </a:p>
          <a:p>
            <a:pPr lvl="0"/>
            <a:endParaRPr lang="en-AU" sz="2000" dirty="0" smtClean="0">
              <a:latin typeface="Helvetica" pitchFamily="34" charset="0"/>
            </a:endParaRPr>
          </a:p>
          <a:p>
            <a:pPr>
              <a:buNone/>
            </a:pPr>
            <a:r>
              <a:rPr lang="en-US" sz="2000" i="1" dirty="0" smtClean="0">
                <a:latin typeface="Helvetica" pitchFamily="34" charset="0"/>
              </a:rPr>
              <a:t>(Continued)</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6216" y="3736133"/>
            <a:ext cx="1908628" cy="1565075"/>
          </a:xfrm>
          <a:prstGeom prst="ellipse">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r>
              <a:rPr lang="en-AU" sz="2000" dirty="0" smtClean="0">
                <a:latin typeface="Helvetica" pitchFamily="34" charset="0"/>
              </a:rPr>
              <a:t>Be aware of the potential for external factors to cause workplace-based industrial unrest</a:t>
            </a:r>
          </a:p>
          <a:p>
            <a:pPr lvl="0"/>
            <a:endParaRPr lang="en-AU" sz="2000" dirty="0" smtClean="0">
              <a:latin typeface="Helvetica" pitchFamily="34" charset="0"/>
            </a:endParaRPr>
          </a:p>
          <a:p>
            <a:pPr lvl="0"/>
            <a:r>
              <a:rPr lang="en-AU" sz="2000" dirty="0" smtClean="0">
                <a:latin typeface="Helvetica" pitchFamily="34" charset="0"/>
              </a:rPr>
              <a:t>Take action to ensure Conditions of Employment are applied in accordance with agreed statements</a:t>
            </a:r>
          </a:p>
          <a:p>
            <a:endParaRPr lang="en-AU" sz="2000" dirty="0" smtClean="0">
              <a:latin typeface="Helvetica" pitchFamily="34" charset="0"/>
            </a:endParaRPr>
          </a:p>
          <a:p>
            <a:r>
              <a:rPr lang="en-AU" sz="2000" dirty="0" smtClean="0">
                <a:latin typeface="Helvetica" pitchFamily="34" charset="0"/>
              </a:rPr>
              <a:t>Realise the penalties inherent in failing to </a:t>
            </a:r>
            <a:br>
              <a:rPr lang="en-AU" sz="2000" dirty="0" smtClean="0">
                <a:latin typeface="Helvetica" pitchFamily="34" charset="0"/>
              </a:rPr>
            </a:br>
            <a:r>
              <a:rPr lang="en-AU" sz="2000" dirty="0" smtClean="0">
                <a:latin typeface="Helvetica" pitchFamily="34" charset="0"/>
              </a:rPr>
              <a:t>comply with mandated industrial relations </a:t>
            </a:r>
            <a:br>
              <a:rPr lang="en-AU" sz="2000" dirty="0" smtClean="0">
                <a:latin typeface="Helvetica" pitchFamily="34" charset="0"/>
              </a:rPr>
            </a:br>
            <a:r>
              <a:rPr lang="en-AU" sz="2000" dirty="0" smtClean="0">
                <a:latin typeface="Helvetica" pitchFamily="34" charset="0"/>
              </a:rPr>
              <a:t>requirements</a:t>
            </a:r>
          </a:p>
          <a:p>
            <a:endParaRPr lang="en-AU" sz="2000" dirty="0" smtClean="0">
              <a:latin typeface="Helvetica" pitchFamily="34" charset="0"/>
            </a:endParaRPr>
          </a:p>
          <a:p>
            <a:endParaRPr lang="en-AU" sz="2000" dirty="0" smtClean="0">
              <a:latin typeface="Helvetica" pitchFamily="34" charset="0"/>
            </a:endParaRPr>
          </a:p>
          <a:p>
            <a:pPr>
              <a:buNone/>
            </a:pPr>
            <a:r>
              <a:rPr lang="en-US" sz="2000" i="1" dirty="0" smtClean="0">
                <a:latin typeface="Helvetica" pitchFamily="34" charset="0"/>
              </a:rPr>
              <a:t>(Continued)</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6216" y="3736133"/>
            <a:ext cx="1908628" cy="1565075"/>
          </a:xfrm>
          <a:prstGeom prst="ellipse">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r>
              <a:rPr lang="en-AU" sz="2000" dirty="0" smtClean="0">
                <a:latin typeface="Helvetica" pitchFamily="34" charset="0"/>
              </a:rPr>
              <a:t>Use a combination of activities including Induction and Orientation and training to help develop a competent workforce</a:t>
            </a:r>
          </a:p>
          <a:p>
            <a:pPr lvl="0"/>
            <a:endParaRPr lang="en-AU" sz="2000" dirty="0" smtClean="0">
              <a:latin typeface="Helvetica" pitchFamily="34" charset="0"/>
            </a:endParaRPr>
          </a:p>
          <a:p>
            <a:pPr lvl="0"/>
            <a:r>
              <a:rPr lang="en-AU" sz="2000" dirty="0" smtClean="0">
                <a:latin typeface="Helvetica" pitchFamily="34" charset="0"/>
              </a:rPr>
              <a:t>Apply consultative practices to identify and resolve workplace grievances</a:t>
            </a:r>
          </a:p>
          <a:p>
            <a:endParaRPr lang="en-AU" sz="2000" dirty="0" smtClean="0">
              <a:latin typeface="Helvetica" pitchFamily="34" charset="0"/>
            </a:endParaRPr>
          </a:p>
          <a:p>
            <a:r>
              <a:rPr lang="en-AU" sz="2000" dirty="0" smtClean="0">
                <a:latin typeface="Helvetica" pitchFamily="34" charset="0"/>
              </a:rPr>
              <a:t>Communicate with staff to facilitate introduction </a:t>
            </a:r>
            <a:br>
              <a:rPr lang="en-AU" sz="2000" dirty="0" smtClean="0">
                <a:latin typeface="Helvetica" pitchFamily="34" charset="0"/>
              </a:rPr>
            </a:br>
            <a:r>
              <a:rPr lang="en-AU" sz="2000" dirty="0" smtClean="0">
                <a:latin typeface="Helvetica" pitchFamily="34" charset="0"/>
              </a:rPr>
              <a:t>of new work practices/SOPs</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6216" y="3736133"/>
            <a:ext cx="1908628" cy="1565075"/>
          </a:xfrm>
          <a:prstGeom prst="ellipse">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2 – Implement formal industrial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000" dirty="0" smtClean="0">
                <a:latin typeface="Helvetica" pitchFamily="34" charset="0"/>
              </a:rPr>
              <a:t>Performance Criteria for this Element are:</a:t>
            </a:r>
          </a:p>
          <a:p>
            <a:pPr marL="360000" indent="-360000">
              <a:spcBef>
                <a:spcPts val="600"/>
              </a:spcBef>
              <a:spcAft>
                <a:spcPts val="1200"/>
              </a:spcAft>
            </a:pPr>
            <a:r>
              <a:rPr lang="en-AU" sz="2000" dirty="0" smtClean="0">
                <a:latin typeface="Helvetica" pitchFamily="34" charset="0"/>
              </a:rPr>
              <a:t>Contribute to the development of formal industrial procedures in consultation with relevant parties</a:t>
            </a:r>
            <a:endParaRPr lang="en-US" sz="2000" dirty="0" smtClean="0">
              <a:latin typeface="Helvetica" pitchFamily="34" charset="0"/>
            </a:endParaRPr>
          </a:p>
          <a:p>
            <a:pPr marL="360000" indent="-360000">
              <a:spcBef>
                <a:spcPts val="600"/>
              </a:spcBef>
              <a:spcAft>
                <a:spcPts val="1200"/>
              </a:spcAft>
            </a:pPr>
            <a:r>
              <a:rPr lang="en-AU" sz="2000" dirty="0" smtClean="0">
                <a:latin typeface="Helvetica" pitchFamily="34" charset="0"/>
              </a:rPr>
              <a:t>Use agreed procedures to resolve employee relations in accordance with enterprise policy and legal requirements</a:t>
            </a:r>
          </a:p>
          <a:p>
            <a:pPr marL="360000" indent="-360000">
              <a:spcBef>
                <a:spcPts val="600"/>
              </a:spcBef>
              <a:spcAft>
                <a:spcPts val="1200"/>
              </a:spcAft>
            </a:pPr>
            <a:r>
              <a:rPr lang="en-AU" sz="2000" dirty="0" smtClean="0">
                <a:latin typeface="Helvetica" pitchFamily="34" charset="0"/>
              </a:rPr>
              <a:t>Monitor agreed processes and make appropriate </a:t>
            </a:r>
            <a:br>
              <a:rPr lang="en-AU" sz="2000" dirty="0" smtClean="0">
                <a:latin typeface="Helvetica" pitchFamily="34" charset="0"/>
              </a:rPr>
            </a:br>
            <a:r>
              <a:rPr lang="en-AU" sz="2000" dirty="0" smtClean="0">
                <a:latin typeface="Helvetica" pitchFamily="34" charset="0"/>
              </a:rPr>
              <a:t>adjustments in consultation with relevant parties</a:t>
            </a:r>
          </a:p>
          <a:p>
            <a:pPr marL="360000" indent="-360000">
              <a:spcBef>
                <a:spcPts val="600"/>
              </a:spcBef>
              <a:spcAft>
                <a:spcPts val="1200"/>
              </a:spcAft>
            </a:pPr>
            <a:r>
              <a:rPr lang="en-AU" sz="2000" dirty="0" smtClean="0">
                <a:latin typeface="Helvetica" pitchFamily="34" charset="0"/>
              </a:rPr>
              <a:t>Identify the need for and access specialist </a:t>
            </a:r>
            <a:r>
              <a:rPr lang="en-AU" sz="2000" dirty="0">
                <a:latin typeface="Helvetica" pitchFamily="34" charset="0"/>
              </a:rPr>
              <a:t/>
            </a:r>
            <a:br>
              <a:rPr lang="en-AU" sz="2000" dirty="0">
                <a:latin typeface="Helvetica" pitchFamily="34" charset="0"/>
              </a:rPr>
            </a:br>
            <a:r>
              <a:rPr lang="en-AU" sz="2000" dirty="0" smtClean="0">
                <a:latin typeface="Helvetica" pitchFamily="34" charset="0"/>
              </a:rPr>
              <a:t>assistance in industrial relations matters </a:t>
            </a:r>
            <a:br>
              <a:rPr lang="en-AU" sz="2000" dirty="0" smtClean="0">
                <a:latin typeface="Helvetica" pitchFamily="34" charset="0"/>
              </a:rPr>
            </a:br>
            <a:r>
              <a:rPr lang="en-AU" sz="2000" dirty="0" smtClean="0">
                <a:latin typeface="Helvetica" pitchFamily="34" charset="0"/>
              </a:rPr>
              <a:t>when appropriate</a:t>
            </a: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6216" y="3736133"/>
            <a:ext cx="1908628" cy="1565075"/>
          </a:xfrm>
          <a:prstGeom prst="ellipse">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Contribute to the development of formal industrial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536504"/>
          </a:xfrm>
        </p:spPr>
        <p:txBody>
          <a:bodyPr>
            <a:normAutofit/>
          </a:bodyPr>
          <a:lstStyle/>
          <a:p>
            <a:pPr marL="0" indent="0">
              <a:spcBef>
                <a:spcPts val="600"/>
              </a:spcBef>
              <a:spcAft>
                <a:spcPts val="1200"/>
              </a:spcAft>
              <a:buNone/>
            </a:pPr>
            <a:r>
              <a:rPr lang="en-US" sz="2200" dirty="0" smtClean="0">
                <a:latin typeface="Helvetica" pitchFamily="34" charset="0"/>
              </a:rPr>
              <a:t>Possible stakeholders in the development process:</a:t>
            </a:r>
          </a:p>
          <a:p>
            <a:pPr marL="360000" indent="-360000">
              <a:spcBef>
                <a:spcPts val="600"/>
              </a:spcBef>
              <a:spcAft>
                <a:spcPts val="1200"/>
              </a:spcAft>
            </a:pPr>
            <a:r>
              <a:rPr lang="en-AU" sz="2200" dirty="0" smtClean="0">
                <a:latin typeface="Helvetica" pitchFamily="34" charset="0"/>
              </a:rPr>
              <a:t>Employees from within the workplace</a:t>
            </a:r>
          </a:p>
          <a:p>
            <a:pPr marL="360000" indent="-360000">
              <a:spcBef>
                <a:spcPts val="600"/>
              </a:spcBef>
              <a:spcAft>
                <a:spcPts val="1200"/>
              </a:spcAft>
            </a:pPr>
            <a:r>
              <a:rPr lang="en-AU" sz="2200" dirty="0" smtClean="0">
                <a:latin typeface="Helvetica" pitchFamily="34" charset="0"/>
              </a:rPr>
              <a:t>Employee bodies</a:t>
            </a:r>
          </a:p>
          <a:p>
            <a:pPr marL="360000" indent="-360000">
              <a:spcBef>
                <a:spcPts val="600"/>
              </a:spcBef>
              <a:spcAft>
                <a:spcPts val="1200"/>
              </a:spcAft>
            </a:pPr>
            <a:r>
              <a:rPr lang="en-AU" sz="2200" dirty="0" smtClean="0">
                <a:latin typeface="Helvetica" pitchFamily="34" charset="0"/>
              </a:rPr>
              <a:t>Senior management of the organisation</a:t>
            </a:r>
          </a:p>
          <a:p>
            <a:pPr marL="360000" indent="-360000">
              <a:spcBef>
                <a:spcPts val="600"/>
              </a:spcBef>
              <a:spcAft>
                <a:spcPts val="1200"/>
              </a:spcAft>
            </a:pPr>
            <a:r>
              <a:rPr lang="en-AU" sz="2200" dirty="0" smtClean="0">
                <a:latin typeface="Helvetica" pitchFamily="34" charset="0"/>
              </a:rPr>
              <a:t>HR managers</a:t>
            </a:r>
          </a:p>
          <a:p>
            <a:pPr marL="360000" indent="-360000">
              <a:spcBef>
                <a:spcPts val="600"/>
              </a:spcBef>
              <a:spcAft>
                <a:spcPts val="1200"/>
              </a:spcAft>
            </a:pPr>
            <a:r>
              <a:rPr lang="en-AU" sz="2200" dirty="0" smtClean="0">
                <a:latin typeface="Helvetica" pitchFamily="34" charset="0"/>
              </a:rPr>
              <a:t>External professionals</a:t>
            </a:r>
          </a:p>
          <a:p>
            <a:pPr marL="360000" indent="-360000">
              <a:spcBef>
                <a:spcPts val="600"/>
              </a:spcBef>
              <a:spcAft>
                <a:spcPts val="1200"/>
              </a:spcAft>
            </a:pPr>
            <a:r>
              <a:rPr lang="en-AU" sz="2200" dirty="0" smtClean="0">
                <a:latin typeface="Helvetica" pitchFamily="34" charset="0"/>
              </a:rPr>
              <a:t>Government agencies and </a:t>
            </a:r>
            <a:br>
              <a:rPr lang="en-AU" sz="2200" dirty="0" smtClean="0">
                <a:latin typeface="Helvetica" pitchFamily="34" charset="0"/>
              </a:rPr>
            </a:br>
            <a:r>
              <a:rPr lang="en-AU" sz="2200" dirty="0" smtClean="0">
                <a:latin typeface="Helvetica" pitchFamily="34" charset="0"/>
              </a:rPr>
              <a:t>authorities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8781" y="3837800"/>
            <a:ext cx="2885318" cy="1931119"/>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Contribute to the development of formal industrial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80520"/>
          </a:xfrm>
        </p:spPr>
        <p:txBody>
          <a:bodyPr>
            <a:normAutofit lnSpcReduction="10000"/>
          </a:bodyPr>
          <a:lstStyle/>
          <a:p>
            <a:pPr marL="0" indent="0">
              <a:spcBef>
                <a:spcPts val="600"/>
              </a:spcBef>
              <a:spcAft>
                <a:spcPts val="1200"/>
              </a:spcAft>
              <a:buNone/>
            </a:pPr>
            <a:r>
              <a:rPr lang="en-US" sz="2200" dirty="0" smtClean="0">
                <a:latin typeface="Helvetica" pitchFamily="34" charset="0"/>
              </a:rPr>
              <a:t>Actions commonly involved in developing formal industrial relations procedures:</a:t>
            </a:r>
          </a:p>
          <a:p>
            <a:pPr marL="360000" indent="-360000">
              <a:spcBef>
                <a:spcPts val="600"/>
              </a:spcBef>
              <a:spcAft>
                <a:spcPts val="1200"/>
              </a:spcAft>
            </a:pPr>
            <a:r>
              <a:rPr lang="en-US" sz="2200" dirty="0" smtClean="0">
                <a:latin typeface="Helvetica" pitchFamily="34" charset="0"/>
              </a:rPr>
              <a:t>Genuine commitment by management to developing IR processes</a:t>
            </a:r>
          </a:p>
          <a:p>
            <a:pPr marL="360000" indent="-360000">
              <a:spcBef>
                <a:spcPts val="600"/>
              </a:spcBef>
              <a:spcAft>
                <a:spcPts val="1200"/>
              </a:spcAft>
            </a:pPr>
            <a:r>
              <a:rPr lang="en-US" sz="2200" dirty="0" smtClean="0">
                <a:latin typeface="Helvetica" pitchFamily="34" charset="0"/>
              </a:rPr>
              <a:t>Preparing a plan for the process</a:t>
            </a:r>
          </a:p>
          <a:p>
            <a:pPr marL="360000" indent="-360000">
              <a:spcBef>
                <a:spcPts val="600"/>
              </a:spcBef>
              <a:spcAft>
                <a:spcPts val="1200"/>
              </a:spcAft>
            </a:pPr>
            <a:r>
              <a:rPr lang="en-US" sz="2200" dirty="0" smtClean="0">
                <a:latin typeface="Helvetica" pitchFamily="34" charset="0"/>
              </a:rPr>
              <a:t>Reviewing and researching existing </a:t>
            </a:r>
            <a:br>
              <a:rPr lang="en-US" sz="2200" dirty="0" smtClean="0">
                <a:latin typeface="Helvetica" pitchFamily="34" charset="0"/>
              </a:rPr>
            </a:br>
            <a:r>
              <a:rPr lang="en-US" sz="2200" dirty="0" smtClean="0">
                <a:latin typeface="Helvetica" pitchFamily="34" charset="0"/>
              </a:rPr>
              <a:t>documentation including mandated </a:t>
            </a:r>
            <a:br>
              <a:rPr lang="en-US" sz="2200" dirty="0" smtClean="0">
                <a:latin typeface="Helvetica" pitchFamily="34" charset="0"/>
              </a:rPr>
            </a:br>
            <a:r>
              <a:rPr lang="en-US" sz="2200" dirty="0" smtClean="0">
                <a:latin typeface="Helvetica" pitchFamily="34" charset="0"/>
              </a:rPr>
              <a:t>requirements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2160" y="2996952"/>
            <a:ext cx="2088232" cy="2088232"/>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Contribute to the development of formal industrial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360000" indent="-360000">
              <a:spcBef>
                <a:spcPts val="600"/>
              </a:spcBef>
              <a:spcAft>
                <a:spcPts val="1200"/>
              </a:spcAft>
            </a:pPr>
            <a:r>
              <a:rPr lang="en-US" sz="2200" dirty="0" smtClean="0">
                <a:latin typeface="Helvetica" pitchFamily="34" charset="0"/>
              </a:rPr>
              <a:t>Conducting regular staff meetings</a:t>
            </a:r>
          </a:p>
          <a:p>
            <a:pPr marL="360000" indent="-360000">
              <a:spcBef>
                <a:spcPts val="600"/>
              </a:spcBef>
              <a:spcAft>
                <a:spcPts val="1200"/>
              </a:spcAft>
            </a:pPr>
            <a:r>
              <a:rPr lang="en-US" sz="2200" dirty="0" smtClean="0">
                <a:latin typeface="Helvetica" pitchFamily="34" charset="0"/>
              </a:rPr>
              <a:t>Preparing formal written protocols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3356992"/>
            <a:ext cx="2246000" cy="2246000"/>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Contribute to the development of formal industrial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80520"/>
          </a:xfrm>
        </p:spPr>
        <p:txBody>
          <a:bodyPr>
            <a:normAutofit lnSpcReduction="10000"/>
          </a:bodyPr>
          <a:lstStyle/>
          <a:p>
            <a:pPr marL="0" indent="0">
              <a:spcBef>
                <a:spcPts val="600"/>
              </a:spcBef>
              <a:spcAft>
                <a:spcPts val="1200"/>
              </a:spcAft>
              <a:buNone/>
            </a:pPr>
            <a:r>
              <a:rPr lang="en-US" sz="2200" dirty="0" smtClean="0">
                <a:latin typeface="Helvetica" pitchFamily="34" charset="0"/>
              </a:rPr>
              <a:t>Topics for which IR procedures may be developed:</a:t>
            </a:r>
          </a:p>
          <a:p>
            <a:pPr marL="360000" indent="-360000">
              <a:spcBef>
                <a:spcPts val="600"/>
              </a:spcBef>
              <a:spcAft>
                <a:spcPts val="1200"/>
              </a:spcAft>
            </a:pPr>
            <a:r>
              <a:rPr lang="en-US" sz="2200" dirty="0" smtClean="0">
                <a:latin typeface="Helvetica" pitchFamily="34" charset="0"/>
              </a:rPr>
              <a:t>Grievance procedures</a:t>
            </a:r>
          </a:p>
          <a:p>
            <a:pPr marL="360000" indent="-360000">
              <a:spcBef>
                <a:spcPts val="600"/>
              </a:spcBef>
              <a:spcAft>
                <a:spcPts val="1200"/>
              </a:spcAft>
            </a:pPr>
            <a:r>
              <a:rPr lang="en-US" sz="2200" dirty="0" smtClean="0">
                <a:latin typeface="Helvetica" pitchFamily="34" charset="0"/>
              </a:rPr>
              <a:t>Dispute resolution</a:t>
            </a:r>
          </a:p>
          <a:p>
            <a:pPr marL="360000" indent="-360000">
              <a:spcBef>
                <a:spcPts val="600"/>
              </a:spcBef>
              <a:spcAft>
                <a:spcPts val="1200"/>
              </a:spcAft>
            </a:pPr>
            <a:r>
              <a:rPr lang="en-US" sz="2200" dirty="0" smtClean="0">
                <a:latin typeface="Helvetica" pitchFamily="34" charset="0"/>
              </a:rPr>
              <a:t>Termination of employment</a:t>
            </a:r>
          </a:p>
          <a:p>
            <a:pPr marL="360000" indent="-360000">
              <a:spcBef>
                <a:spcPts val="600"/>
              </a:spcBef>
              <a:spcAft>
                <a:spcPts val="1200"/>
              </a:spcAft>
            </a:pPr>
            <a:r>
              <a:rPr lang="en-US" sz="2200" dirty="0" smtClean="0">
                <a:latin typeface="Helvetica" pitchFamily="34" charset="0"/>
              </a:rPr>
              <a:t>Workplace change</a:t>
            </a:r>
          </a:p>
          <a:p>
            <a:pPr marL="360000" indent="-360000">
              <a:spcBef>
                <a:spcPts val="600"/>
              </a:spcBef>
              <a:spcAft>
                <a:spcPts val="1200"/>
              </a:spcAft>
            </a:pPr>
            <a:r>
              <a:rPr lang="en-US" sz="2200" dirty="0" smtClean="0">
                <a:latin typeface="Helvetica" pitchFamily="34" charset="0"/>
              </a:rPr>
              <a:t>Enterprise agreements and </a:t>
            </a:r>
            <a:br>
              <a:rPr lang="en-US" sz="2200" dirty="0" smtClean="0">
                <a:latin typeface="Helvetica" pitchFamily="34" charset="0"/>
              </a:rPr>
            </a:br>
            <a:r>
              <a:rPr lang="en-US" sz="2200" dirty="0" smtClean="0">
                <a:latin typeface="Helvetica" pitchFamily="34" charset="0"/>
              </a:rPr>
              <a:t>workplace bargaining</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36096" y="3717032"/>
            <a:ext cx="2951186" cy="1966689"/>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Contribute to the development of formal industrial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9943"/>
            <a:ext cx="7467600" cy="4362812"/>
          </a:xfrm>
        </p:spPr>
        <p:txBody>
          <a:bodyPr>
            <a:normAutofit/>
          </a:bodyPr>
          <a:lstStyle/>
          <a:p>
            <a:pPr marL="360000" indent="-360000">
              <a:spcBef>
                <a:spcPts val="600"/>
              </a:spcBef>
              <a:spcAft>
                <a:spcPts val="1200"/>
              </a:spcAft>
            </a:pPr>
            <a:r>
              <a:rPr lang="en-US" sz="2200" dirty="0" smtClean="0">
                <a:latin typeface="Helvetica" pitchFamily="34" charset="0"/>
              </a:rPr>
              <a:t>OHS</a:t>
            </a:r>
          </a:p>
          <a:p>
            <a:pPr marL="360000" indent="-360000">
              <a:spcBef>
                <a:spcPts val="600"/>
              </a:spcBef>
              <a:spcAft>
                <a:spcPts val="1200"/>
              </a:spcAft>
            </a:pPr>
            <a:r>
              <a:rPr lang="en-US" sz="2200" dirty="0" smtClean="0">
                <a:latin typeface="Helvetica" pitchFamily="34" charset="0"/>
              </a:rPr>
              <a:t>Equal opportunity employment</a:t>
            </a:r>
          </a:p>
          <a:p>
            <a:pPr marL="360000" indent="-360000">
              <a:spcBef>
                <a:spcPts val="600"/>
              </a:spcBef>
              <a:spcAft>
                <a:spcPts val="1200"/>
              </a:spcAft>
            </a:pPr>
            <a:r>
              <a:rPr lang="en-US" sz="2200" dirty="0" smtClean="0">
                <a:latin typeface="Helvetica" pitchFamily="34" charset="0"/>
              </a:rPr>
              <a:t>Anti-discrimination</a:t>
            </a:r>
          </a:p>
          <a:p>
            <a:pPr marL="360000" indent="-360000">
              <a:spcBef>
                <a:spcPts val="600"/>
              </a:spcBef>
              <a:spcAft>
                <a:spcPts val="1200"/>
              </a:spcAft>
            </a:pPr>
            <a:r>
              <a:rPr lang="en-US" sz="2200" dirty="0" smtClean="0">
                <a:latin typeface="Helvetica" pitchFamily="34" charset="0"/>
              </a:rPr>
              <a:t>Mediation, conciliation and arbitration</a:t>
            </a:r>
          </a:p>
          <a:p>
            <a:pPr marL="360000" indent="-360000">
              <a:spcBef>
                <a:spcPts val="600"/>
              </a:spcBef>
              <a:spcAft>
                <a:spcPts val="1200"/>
              </a:spcAft>
            </a:pPr>
            <a:r>
              <a:rPr lang="en-US" sz="2200" dirty="0" smtClean="0">
                <a:latin typeface="Helvetica" pitchFamily="34" charset="0"/>
              </a:rPr>
              <a:t>Performance appraisals and productivity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2564904"/>
            <a:ext cx="2028056" cy="2028056"/>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Contribute to the development of formal industrial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536504"/>
          </a:xfrm>
        </p:spPr>
        <p:txBody>
          <a:bodyPr>
            <a:normAutofit/>
          </a:bodyPr>
          <a:lstStyle/>
          <a:p>
            <a:pPr marL="0" indent="0">
              <a:spcBef>
                <a:spcPts val="600"/>
              </a:spcBef>
              <a:spcAft>
                <a:spcPts val="1200"/>
              </a:spcAft>
              <a:buNone/>
            </a:pPr>
            <a:r>
              <a:rPr lang="en-US" sz="2200" dirty="0" smtClean="0">
                <a:latin typeface="Helvetica" pitchFamily="34" charset="0"/>
              </a:rPr>
              <a:t>Keys when developing IR procedures:</a:t>
            </a:r>
          </a:p>
          <a:p>
            <a:pPr marL="360000" indent="-360000">
              <a:spcBef>
                <a:spcPts val="600"/>
              </a:spcBef>
              <a:spcAft>
                <a:spcPts val="1200"/>
              </a:spcAft>
            </a:pPr>
            <a:r>
              <a:rPr lang="en-US" sz="2200" dirty="0" smtClean="0">
                <a:latin typeface="Helvetica" pitchFamily="34" charset="0"/>
              </a:rPr>
              <a:t>Follow/use </a:t>
            </a:r>
            <a:r>
              <a:rPr lang="en-AU" sz="2200" dirty="0" smtClean="0">
                <a:latin typeface="Helvetica" pitchFamily="34" charset="0"/>
              </a:rPr>
              <a:t>‘Guidelines on Good Industrial Relations Practice’</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Outcomes must be workable</a:t>
            </a:r>
          </a:p>
          <a:p>
            <a:pPr marL="360000" indent="-360000">
              <a:spcBef>
                <a:spcPts val="600"/>
              </a:spcBef>
              <a:spcAft>
                <a:spcPts val="1200"/>
              </a:spcAft>
            </a:pPr>
            <a:r>
              <a:rPr lang="en-US" sz="2200" dirty="0" smtClean="0">
                <a:latin typeface="Helvetica" pitchFamily="34" charset="0"/>
              </a:rPr>
              <a:t>Legislation must be complied with</a:t>
            </a:r>
          </a:p>
          <a:p>
            <a:pPr marL="360000" indent="-360000">
              <a:spcBef>
                <a:spcPts val="600"/>
              </a:spcBef>
              <a:spcAft>
                <a:spcPts val="1200"/>
              </a:spcAft>
            </a:pPr>
            <a:r>
              <a:rPr lang="en-US" sz="2200" dirty="0" smtClean="0">
                <a:latin typeface="Helvetica" pitchFamily="34" charset="0"/>
              </a:rPr>
              <a:t>Stakeholders must be involved </a:t>
            </a:r>
            <a:br>
              <a:rPr lang="en-US" sz="2200" dirty="0" smtClean="0">
                <a:latin typeface="Helvetica" pitchFamily="34" charset="0"/>
              </a:rPr>
            </a:br>
            <a:r>
              <a:rPr lang="en-US" sz="2200" dirty="0" smtClean="0">
                <a:latin typeface="Helvetica" pitchFamily="34" charset="0"/>
              </a:rPr>
              <a:t>and notified </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39384" y="2996952"/>
            <a:ext cx="2033016" cy="2033016"/>
          </a:xfrm>
          <a:prstGeom prst="rect">
            <a:avLst/>
          </a:prstGeom>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Contribute to the development of formal industrial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16832"/>
            <a:ext cx="7467600" cy="4381947"/>
          </a:xfrm>
        </p:spPr>
        <p:txBody>
          <a:bodyPr>
            <a:normAutofit/>
          </a:bodyPr>
          <a:lstStyle/>
          <a:p>
            <a:pPr marL="360000" indent="-360000">
              <a:spcBef>
                <a:spcPts val="600"/>
              </a:spcBef>
              <a:spcAft>
                <a:spcPts val="1200"/>
              </a:spcAft>
            </a:pPr>
            <a:r>
              <a:rPr lang="en-US" sz="2200" dirty="0" smtClean="0">
                <a:latin typeface="Helvetica" pitchFamily="34" charset="0"/>
              </a:rPr>
              <a:t>Procedures need to address issues important to workers</a:t>
            </a:r>
          </a:p>
          <a:p>
            <a:pPr marL="360000" indent="-360000">
              <a:spcBef>
                <a:spcPts val="600"/>
              </a:spcBef>
              <a:spcAft>
                <a:spcPts val="1200"/>
              </a:spcAft>
            </a:pPr>
            <a:r>
              <a:rPr lang="en-US" sz="2200" dirty="0" smtClean="0">
                <a:latin typeface="Helvetica" pitchFamily="34" charset="0"/>
              </a:rPr>
              <a:t>Final outcomes must reflect </a:t>
            </a:r>
            <a:r>
              <a:rPr lang="en-AU" sz="2200" dirty="0" smtClean="0">
                <a:latin typeface="Helvetica" pitchFamily="34" charset="0"/>
              </a:rPr>
              <a:t>common sense, objectivity, inclusivity and the individual nature of the workplace</a:t>
            </a:r>
          </a:p>
          <a:p>
            <a:pPr marL="360000" indent="-360000">
              <a:spcBef>
                <a:spcPts val="600"/>
              </a:spcBef>
              <a:spcAft>
                <a:spcPts val="1200"/>
              </a:spcAft>
            </a:pPr>
            <a:r>
              <a:rPr lang="en-AU" sz="2200" dirty="0" smtClean="0">
                <a:latin typeface="Helvetica" pitchFamily="34" charset="0"/>
              </a:rPr>
              <a:t>Procedures must support, reflect and </a:t>
            </a:r>
            <a:br>
              <a:rPr lang="en-AU" sz="2200" dirty="0" smtClean="0">
                <a:latin typeface="Helvetica" pitchFamily="34" charset="0"/>
              </a:rPr>
            </a:br>
            <a:r>
              <a:rPr lang="en-AU" sz="2200" dirty="0" smtClean="0">
                <a:latin typeface="Helvetica" pitchFamily="34" charset="0"/>
              </a:rPr>
              <a:t>enable the applicable employment </a:t>
            </a:r>
            <a:br>
              <a:rPr lang="en-AU" sz="2200" dirty="0" smtClean="0">
                <a:latin typeface="Helvetica" pitchFamily="34" charset="0"/>
              </a:rPr>
            </a:br>
            <a:r>
              <a:rPr lang="en-AU" sz="2200" dirty="0" smtClean="0">
                <a:latin typeface="Helvetica" pitchFamily="34" charset="0"/>
              </a:rPr>
              <a:t>instruments</a:t>
            </a:r>
          </a:p>
          <a:p>
            <a:pPr marL="360000" indent="-360000">
              <a:spcBef>
                <a:spcPts val="600"/>
              </a:spcBef>
              <a:spcAft>
                <a:spcPts val="1200"/>
              </a:spcAft>
            </a:pPr>
            <a:endParaRPr lang="en-AU" sz="2200" dirty="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200" y="3861048"/>
            <a:ext cx="2033016" cy="1880539"/>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Contribute to the development of formal industrial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603778" cy="4680520"/>
          </a:xfrm>
        </p:spPr>
        <p:txBody>
          <a:bodyPr>
            <a:normAutofit lnSpcReduction="10000"/>
          </a:bodyPr>
          <a:lstStyle/>
          <a:p>
            <a:pPr marL="360000" indent="-360000">
              <a:spcBef>
                <a:spcPts val="600"/>
              </a:spcBef>
              <a:spcAft>
                <a:spcPts val="1200"/>
              </a:spcAft>
            </a:pPr>
            <a:r>
              <a:rPr lang="en-US" sz="2200" dirty="0" smtClean="0">
                <a:latin typeface="Helvetica" pitchFamily="34" charset="0"/>
              </a:rPr>
              <a:t>Openness and honest in all aspects of the process are essential</a:t>
            </a:r>
          </a:p>
          <a:p>
            <a:pPr marL="360000" indent="-360000">
              <a:spcBef>
                <a:spcPts val="600"/>
              </a:spcBef>
              <a:spcAft>
                <a:spcPts val="1200"/>
              </a:spcAft>
            </a:pPr>
            <a:r>
              <a:rPr lang="en-US" sz="2200" dirty="0" smtClean="0">
                <a:latin typeface="Helvetica" pitchFamily="34" charset="0"/>
              </a:rPr>
              <a:t>Implementation must flow from the </a:t>
            </a:r>
            <a:br>
              <a:rPr lang="en-US" sz="2200" dirty="0" smtClean="0">
                <a:latin typeface="Helvetica" pitchFamily="34" charset="0"/>
              </a:rPr>
            </a:br>
            <a:r>
              <a:rPr lang="en-US" sz="2200" dirty="0" smtClean="0">
                <a:latin typeface="Helvetica" pitchFamily="34" charset="0"/>
              </a:rPr>
              <a:t>development process</a:t>
            </a:r>
          </a:p>
          <a:p>
            <a:pPr marL="360000" indent="-360000">
              <a:spcBef>
                <a:spcPts val="600"/>
              </a:spcBef>
              <a:spcAft>
                <a:spcPts val="1200"/>
              </a:spcAft>
            </a:pPr>
            <a:r>
              <a:rPr lang="en-US" sz="2200" dirty="0" smtClean="0">
                <a:latin typeface="Helvetica" pitchFamily="34" charset="0"/>
              </a:rPr>
              <a:t>The dynamism of the workplace </a:t>
            </a:r>
            <a:br>
              <a:rPr lang="en-US" sz="2200" dirty="0" smtClean="0">
                <a:latin typeface="Helvetica" pitchFamily="34" charset="0"/>
              </a:rPr>
            </a:br>
            <a:r>
              <a:rPr lang="en-US" sz="2200" dirty="0" smtClean="0">
                <a:latin typeface="Helvetica" pitchFamily="34" charset="0"/>
              </a:rPr>
              <a:t>must be incorporated</a:t>
            </a:r>
          </a:p>
          <a:p>
            <a:pPr marL="360000" indent="-360000">
              <a:spcBef>
                <a:spcPts val="600"/>
              </a:spcBef>
              <a:spcAft>
                <a:spcPts val="1200"/>
              </a:spcAft>
            </a:pPr>
            <a:r>
              <a:rPr lang="en-US" sz="2200" dirty="0" smtClean="0">
                <a:latin typeface="Helvetica" pitchFamily="34" charset="0"/>
              </a:rPr>
              <a:t>Outcomes must be communicated </a:t>
            </a:r>
            <a:br>
              <a:rPr lang="en-US" sz="2200" dirty="0" smtClean="0">
                <a:latin typeface="Helvetica" pitchFamily="34" charset="0"/>
              </a:rPr>
            </a:br>
            <a:r>
              <a:rPr lang="en-US" sz="2200" dirty="0" smtClean="0">
                <a:latin typeface="Helvetica" pitchFamily="34" charset="0"/>
              </a:rPr>
              <a:t>promoted</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4870" y="2564904"/>
            <a:ext cx="2423202" cy="2234192"/>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Contribute to the development of formal industrial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96143"/>
            <a:ext cx="7467600" cy="4286612"/>
          </a:xfrm>
        </p:spPr>
        <p:txBody>
          <a:bodyPr>
            <a:normAutofit/>
          </a:bodyPr>
          <a:lstStyle/>
          <a:p>
            <a:pPr marL="360000" indent="-360000">
              <a:spcBef>
                <a:spcPts val="600"/>
              </a:spcBef>
              <a:spcAft>
                <a:spcPts val="1200"/>
              </a:spcAft>
            </a:pPr>
            <a:r>
              <a:rPr lang="en-US" sz="2200" dirty="0" smtClean="0">
                <a:latin typeface="Helvetica" pitchFamily="34" charset="0"/>
              </a:rPr>
              <a:t>Monitoring procedures need to be created as part of the process</a:t>
            </a:r>
          </a:p>
          <a:p>
            <a:pPr marL="360000" indent="-360000">
              <a:spcBef>
                <a:spcPts val="600"/>
              </a:spcBef>
              <a:spcAft>
                <a:spcPts val="1200"/>
              </a:spcAft>
            </a:pPr>
            <a:r>
              <a:rPr lang="en-US" sz="2200" dirty="0" smtClean="0">
                <a:latin typeface="Helvetica" pitchFamily="34" charset="0"/>
              </a:rPr>
              <a:t>Identification and avoidance of issues must be a focus</a:t>
            </a:r>
          </a:p>
          <a:p>
            <a:pPr marL="360000" indent="-360000">
              <a:spcBef>
                <a:spcPts val="600"/>
              </a:spcBef>
              <a:spcAft>
                <a:spcPts val="1200"/>
              </a:spcAft>
            </a:pPr>
            <a:r>
              <a:rPr lang="en-US" sz="2200" dirty="0" smtClean="0">
                <a:latin typeface="Helvetica" pitchFamily="34" charset="0"/>
              </a:rPr>
              <a:t>Files and records of the process </a:t>
            </a:r>
            <a:br>
              <a:rPr lang="en-US" sz="2200" dirty="0" smtClean="0">
                <a:latin typeface="Helvetica" pitchFamily="34" charset="0"/>
              </a:rPr>
            </a:br>
            <a:r>
              <a:rPr lang="en-US" sz="2200" dirty="0" smtClean="0">
                <a:latin typeface="Helvetica" pitchFamily="34" charset="0"/>
              </a:rPr>
              <a:t>need to be maintained</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1658" y="3284984"/>
            <a:ext cx="2219786" cy="2290801"/>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Contribute to the development of formal industrial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AU" sz="2200" dirty="0" smtClean="0">
                <a:latin typeface="Helvetica" pitchFamily="34" charset="0"/>
              </a:rPr>
              <a:t>Clarity and lack of ambiguity in statements/clauses are vital</a:t>
            </a:r>
          </a:p>
          <a:p>
            <a:pPr marL="360000" indent="-360000">
              <a:spcBef>
                <a:spcPts val="600"/>
              </a:spcBef>
              <a:spcAft>
                <a:spcPts val="1200"/>
              </a:spcAft>
            </a:pPr>
            <a:r>
              <a:rPr lang="en-AU" sz="2200" dirty="0" smtClean="0">
                <a:latin typeface="Helvetica" pitchFamily="34" charset="0"/>
              </a:rPr>
              <a:t>Employees always have a right to </a:t>
            </a:r>
            <a:br>
              <a:rPr lang="en-AU" sz="2200" dirty="0" smtClean="0">
                <a:latin typeface="Helvetica" pitchFamily="34" charset="0"/>
              </a:rPr>
            </a:br>
            <a:r>
              <a:rPr lang="en-AU" sz="2200" dirty="0" smtClean="0">
                <a:latin typeface="Helvetica" pitchFamily="34" charset="0"/>
              </a:rPr>
              <a:t>representation in the process</a:t>
            </a:r>
          </a:p>
          <a:p>
            <a:pPr marL="360000" indent="-360000">
              <a:spcBef>
                <a:spcPts val="600"/>
              </a:spcBef>
              <a:spcAft>
                <a:spcPts val="1200"/>
              </a:spcAft>
            </a:pPr>
            <a:r>
              <a:rPr lang="en-AU" sz="2200" dirty="0" smtClean="0">
                <a:latin typeface="Helvetica" pitchFamily="34" charset="0"/>
              </a:rPr>
              <a:t>Protocols must not include anything </a:t>
            </a:r>
            <a:br>
              <a:rPr lang="en-AU" sz="2200" dirty="0" smtClean="0">
                <a:latin typeface="Helvetica" pitchFamily="34" charset="0"/>
              </a:rPr>
            </a:br>
            <a:r>
              <a:rPr lang="en-AU" sz="2200" dirty="0" smtClean="0">
                <a:latin typeface="Helvetica" pitchFamily="34" charset="0"/>
              </a:rPr>
              <a:t>which allows or infers acceptance of </a:t>
            </a:r>
            <a:br>
              <a:rPr lang="en-AU" sz="2200" dirty="0" smtClean="0">
                <a:latin typeface="Helvetica" pitchFamily="34" charset="0"/>
              </a:rPr>
            </a:br>
            <a:r>
              <a:rPr lang="en-AU" sz="2200" dirty="0" smtClean="0">
                <a:latin typeface="Helvetica" pitchFamily="34" charset="0"/>
              </a:rPr>
              <a:t>coercion, intimidation, victimisation </a:t>
            </a:r>
            <a:br>
              <a:rPr lang="en-AU" sz="2200" dirty="0" smtClean="0">
                <a:latin typeface="Helvetica" pitchFamily="34" charset="0"/>
              </a:rPr>
            </a:br>
            <a:r>
              <a:rPr lang="en-AU" sz="2200" dirty="0" smtClean="0">
                <a:latin typeface="Helvetica" pitchFamily="34" charset="0"/>
              </a:rPr>
              <a:t>and/or discrimination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0150" y="2492896"/>
            <a:ext cx="2268555" cy="2268555"/>
          </a:xfrm>
          <a:prstGeom prst="rect">
            <a:avLst/>
          </a:prstGeom>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agreed procedures to resolve employee relations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It is worth recalling:</a:t>
            </a:r>
          </a:p>
          <a:p>
            <a:pPr marL="360000" indent="-360000">
              <a:spcBef>
                <a:spcPts val="600"/>
              </a:spcBef>
              <a:spcAft>
                <a:spcPts val="1200"/>
              </a:spcAft>
            </a:pPr>
            <a:r>
              <a:rPr lang="en-US" sz="2200" dirty="0" smtClean="0">
                <a:latin typeface="Helvetica" pitchFamily="34" charset="0"/>
              </a:rPr>
              <a:t>ASEAN </a:t>
            </a:r>
            <a:r>
              <a:rPr lang="en-AU" sz="2200" dirty="0" smtClean="0">
                <a:latin typeface="Helvetica" pitchFamily="34" charset="0"/>
              </a:rPr>
              <a:t>‘Guidelines on Good Industrial Relations Practice’</a:t>
            </a:r>
          </a:p>
          <a:p>
            <a:pPr marL="360000" indent="-360000">
              <a:spcBef>
                <a:spcPts val="600"/>
              </a:spcBef>
              <a:spcAft>
                <a:spcPts val="1200"/>
              </a:spcAft>
            </a:pPr>
            <a:r>
              <a:rPr lang="en-AU" sz="2200" dirty="0" smtClean="0">
                <a:latin typeface="Helvetica" pitchFamily="34" charset="0"/>
              </a:rPr>
              <a:t>Procedures presented for ‘Identifying grievances’</a:t>
            </a:r>
          </a:p>
          <a:p>
            <a:pPr marL="360000" indent="-360000">
              <a:spcBef>
                <a:spcPts val="600"/>
              </a:spcBef>
              <a:spcAft>
                <a:spcPts val="1200"/>
              </a:spcAft>
            </a:pPr>
            <a:r>
              <a:rPr lang="en-AU" sz="2200" dirty="0" smtClean="0">
                <a:latin typeface="Helvetica" pitchFamily="34" charset="0"/>
              </a:rPr>
              <a:t>Procedures listed for ‘Resolving grievances’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09371" y="4267877"/>
            <a:ext cx="2723152" cy="1810896"/>
          </a:xfrm>
          <a:prstGeom prst="rect">
            <a:avLst/>
          </a:prstGeom>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agreed procedures to resolve employee relations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80520"/>
          </a:xfrm>
        </p:spPr>
        <p:txBody>
          <a:bodyPr>
            <a:normAutofit lnSpcReduction="10000"/>
          </a:bodyPr>
          <a:lstStyle/>
          <a:p>
            <a:pPr marL="0" indent="0">
              <a:spcBef>
                <a:spcPts val="600"/>
              </a:spcBef>
              <a:spcAft>
                <a:spcPts val="1200"/>
              </a:spcAft>
              <a:buNone/>
            </a:pPr>
            <a:r>
              <a:rPr lang="en-US" sz="2200" dirty="0" smtClean="0">
                <a:latin typeface="Helvetica" pitchFamily="34" charset="0"/>
              </a:rPr>
              <a:t>Keys for ‘agreed procedures’ to be effective:</a:t>
            </a:r>
          </a:p>
          <a:p>
            <a:pPr marL="360000" indent="-360000">
              <a:spcBef>
                <a:spcPts val="600"/>
              </a:spcBef>
              <a:spcAft>
                <a:spcPts val="1200"/>
              </a:spcAft>
            </a:pPr>
            <a:r>
              <a:rPr lang="en-AU" sz="2200" dirty="0" smtClean="0">
                <a:latin typeface="Helvetica" pitchFamily="34" charset="0"/>
              </a:rPr>
              <a:t>All personnel must be aware of the protocols that exist</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Training must educate workers in application and operation of procedures</a:t>
            </a:r>
          </a:p>
          <a:p>
            <a:pPr marL="360000" indent="-360000">
              <a:spcBef>
                <a:spcPts val="600"/>
              </a:spcBef>
              <a:spcAft>
                <a:spcPts val="1200"/>
              </a:spcAft>
            </a:pPr>
            <a:r>
              <a:rPr lang="en-AU" sz="2200" dirty="0" smtClean="0">
                <a:latin typeface="Helvetica" pitchFamily="34" charset="0"/>
              </a:rPr>
              <a:t>There must be ready access to copies of all protocols</a:t>
            </a:r>
          </a:p>
          <a:p>
            <a:pPr marL="360000" indent="-360000">
              <a:spcBef>
                <a:spcPts val="600"/>
              </a:spcBef>
              <a:spcAft>
                <a:spcPts val="1200"/>
              </a:spcAft>
            </a:pPr>
            <a:r>
              <a:rPr lang="en-AU" sz="2200" dirty="0" smtClean="0">
                <a:latin typeface="Helvetica" pitchFamily="34" charset="0"/>
              </a:rPr>
              <a:t>Employees must be comfortable raising </a:t>
            </a:r>
            <a:br>
              <a:rPr lang="en-AU" sz="2200" dirty="0" smtClean="0">
                <a:latin typeface="Helvetica" pitchFamily="34" charset="0"/>
              </a:rPr>
            </a:br>
            <a:r>
              <a:rPr lang="en-AU" sz="2200" dirty="0" smtClean="0">
                <a:latin typeface="Helvetica" pitchFamily="34" charset="0"/>
              </a:rPr>
              <a:t>an issue knowing they will not </a:t>
            </a:r>
            <a:br>
              <a:rPr lang="en-AU" sz="2200" dirty="0" smtClean="0">
                <a:latin typeface="Helvetica" pitchFamily="34" charset="0"/>
              </a:rPr>
            </a:br>
            <a:r>
              <a:rPr lang="en-AU" sz="2200" dirty="0" smtClean="0">
                <a:latin typeface="Helvetica" pitchFamily="34" charset="0"/>
              </a:rPr>
              <a:t>be victimised</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138</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6176" y="4350770"/>
            <a:ext cx="2172935" cy="1622458"/>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2564904"/>
            <a:ext cx="2590806" cy="2448312"/>
          </a:xfrm>
          <a:prstGeom prst="rect">
            <a:avLst/>
          </a:prstGeom>
        </p:spPr>
      </p:pic>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agreed procedures to resolve employee relations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5112568" cy="4309939"/>
          </a:xfrm>
        </p:spPr>
        <p:txBody>
          <a:bodyPr>
            <a:normAutofit/>
          </a:bodyPr>
          <a:lstStyle/>
          <a:p>
            <a:pPr marL="360000" indent="-360000">
              <a:spcBef>
                <a:spcPts val="600"/>
              </a:spcBef>
              <a:spcAft>
                <a:spcPts val="1200"/>
              </a:spcAft>
            </a:pPr>
            <a:r>
              <a:rPr lang="en-US" sz="2200" dirty="0" smtClean="0">
                <a:latin typeface="Helvetica" pitchFamily="34" charset="0"/>
              </a:rPr>
              <a:t>All protocols must be adhered to</a:t>
            </a:r>
          </a:p>
          <a:p>
            <a:pPr marL="360000" indent="-360000">
              <a:spcBef>
                <a:spcPts val="600"/>
              </a:spcBef>
              <a:spcAft>
                <a:spcPts val="1200"/>
              </a:spcAft>
            </a:pPr>
            <a:r>
              <a:rPr lang="en-US" sz="2200" dirty="0" smtClean="0">
                <a:latin typeface="Helvetica" pitchFamily="34" charset="0"/>
              </a:rPr>
              <a:t>Employees may have their interests represented by others/someone else</a:t>
            </a:r>
          </a:p>
          <a:p>
            <a:pPr marL="360000" indent="-360000">
              <a:spcBef>
                <a:spcPts val="600"/>
              </a:spcBef>
              <a:spcAft>
                <a:spcPts val="1200"/>
              </a:spcAft>
            </a:pPr>
            <a:r>
              <a:rPr lang="en-US" sz="2200" dirty="0" smtClean="0">
                <a:latin typeface="Helvetica" pitchFamily="34" charset="0"/>
              </a:rPr>
              <a:t>Procedures must be reviewed regularly</a:t>
            </a:r>
          </a:p>
          <a:p>
            <a:pPr marL="360000" indent="-360000">
              <a:spcBef>
                <a:spcPts val="600"/>
              </a:spcBef>
              <a:spcAft>
                <a:spcPts val="1200"/>
              </a:spcAft>
            </a:pPr>
            <a:r>
              <a:rPr lang="en-US" sz="2200" dirty="0" smtClean="0">
                <a:latin typeface="Helvetica" pitchFamily="34" charset="0"/>
              </a:rPr>
              <a:t>Revisions to procedures must occur as necessary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139</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agreed procedures to resolve employee relations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08512"/>
          </a:xfrm>
        </p:spPr>
        <p:txBody>
          <a:bodyPr>
            <a:normAutofit lnSpcReduction="10000"/>
          </a:bodyPr>
          <a:lstStyle/>
          <a:p>
            <a:pPr marL="0" indent="0">
              <a:spcBef>
                <a:spcPts val="600"/>
              </a:spcBef>
              <a:spcAft>
                <a:spcPts val="1200"/>
              </a:spcAft>
              <a:buNone/>
            </a:pPr>
            <a:r>
              <a:rPr lang="en-US" sz="2200" dirty="0" smtClean="0">
                <a:latin typeface="Helvetica" pitchFamily="34" charset="0"/>
              </a:rPr>
              <a:t>In relation to Dispute Resolution procedures:</a:t>
            </a:r>
          </a:p>
          <a:p>
            <a:pPr marL="360000" indent="-360000">
              <a:spcBef>
                <a:spcPts val="600"/>
              </a:spcBef>
              <a:spcAft>
                <a:spcPts val="1200"/>
              </a:spcAft>
            </a:pPr>
            <a:r>
              <a:rPr lang="en-US" sz="2200" dirty="0" smtClean="0">
                <a:latin typeface="Helvetica" pitchFamily="34" charset="0"/>
              </a:rPr>
              <a:t>Local mandated requirements/protocols must be applied – if/where they exist</a:t>
            </a:r>
          </a:p>
          <a:p>
            <a:pPr marL="360000" indent="-360000">
              <a:spcBef>
                <a:spcPts val="600"/>
              </a:spcBef>
              <a:spcAft>
                <a:spcPts val="1200"/>
              </a:spcAft>
            </a:pPr>
            <a:r>
              <a:rPr lang="en-US" sz="2200" dirty="0" smtClean="0">
                <a:latin typeface="Helvetica" pitchFamily="34" charset="0"/>
              </a:rPr>
              <a:t>Best practice needs to apply:</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Staff must be involved</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Staff need to know grievances will be taken seriously</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Opportunity for external assistance must exist</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Focus must be initially on internal resolution</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140</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agreed procedures to resolve employee relations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Resolution can occur through</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A negotiated outcome</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A mediated outcome</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An arbitrated outcome</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39532" y="2204864"/>
            <a:ext cx="2033016" cy="2033016"/>
          </a:xfrm>
          <a:prstGeom prst="rect">
            <a:avLst/>
          </a:prstGeom>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agreed procedures to resolve employee relations</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14306" t="-927" r="5234" b="927"/>
          <a:stretch/>
        </p:blipFill>
        <p:spPr>
          <a:xfrm>
            <a:off x="5656110" y="2780928"/>
            <a:ext cx="2606789" cy="2159901"/>
          </a:xfrm>
          <a:prstGeom prst="rect">
            <a:avLst/>
          </a:prstGeom>
        </p:spPr>
      </p:pic>
      <p:sp>
        <p:nvSpPr>
          <p:cNvPr id="3" name="Content Placeholder 2"/>
          <p:cNvSpPr>
            <a:spLocks noGrp="1"/>
          </p:cNvSpPr>
          <p:nvPr>
            <p:ph idx="1"/>
          </p:nvPr>
        </p:nvSpPr>
        <p:spPr>
          <a:xfrm>
            <a:off x="611560" y="1772816"/>
            <a:ext cx="7467600" cy="4536504"/>
          </a:xfrm>
        </p:spPr>
        <p:txBody>
          <a:bodyPr>
            <a:normAutofit lnSpcReduction="10000"/>
          </a:bodyPr>
          <a:lstStyle/>
          <a:p>
            <a:pPr marL="360000" indent="-360000">
              <a:spcBef>
                <a:spcPts val="600"/>
              </a:spcBef>
              <a:spcAft>
                <a:spcPts val="1200"/>
              </a:spcAft>
            </a:pPr>
            <a:r>
              <a:rPr lang="en-US" sz="2200" dirty="0" smtClean="0">
                <a:latin typeface="Helvetica" pitchFamily="34" charset="0"/>
              </a:rPr>
              <a:t>Best practice resolution process should:</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Be simple</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Have stages to optimise internal resolution</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Encourage agreement on a process </a:t>
            </a:r>
            <a:br>
              <a:rPr lang="en-US" sz="2200" dirty="0" smtClean="0">
                <a:latin typeface="Helvetica" pitchFamily="34" charset="0"/>
              </a:rPr>
            </a:br>
            <a:r>
              <a:rPr lang="en-US" sz="2200" dirty="0" smtClean="0">
                <a:latin typeface="Helvetica" pitchFamily="34" charset="0"/>
              </a:rPr>
              <a:t>if external involvement is required</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Allow for external resolution if </a:t>
            </a:r>
            <a:br>
              <a:rPr lang="en-US" sz="2200" dirty="0" smtClean="0">
                <a:latin typeface="Helvetica" pitchFamily="34" charset="0"/>
              </a:rPr>
            </a:br>
            <a:r>
              <a:rPr lang="en-US" sz="2200" dirty="0" smtClean="0">
                <a:latin typeface="Helvetica" pitchFamily="34" charset="0"/>
              </a:rPr>
              <a:t>necessary</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agreed procedures to resolve employee relations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Best practice dispute resolution outcomes should be:</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Quick</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Fair</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Handled sensitively</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Transparent</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8104" y="3501008"/>
            <a:ext cx="2902935" cy="1935290"/>
          </a:xfrm>
          <a:prstGeom prst="rect">
            <a:avLst/>
          </a:prstGeom>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agreed procedures to resolve employee relations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24536"/>
          </a:xfrm>
        </p:spPr>
        <p:txBody>
          <a:bodyPr>
            <a:normAutofit/>
          </a:bodyPr>
          <a:lstStyle/>
          <a:p>
            <a:pPr marL="360000" indent="-360000">
              <a:spcBef>
                <a:spcPts val="600"/>
              </a:spcBef>
              <a:spcAft>
                <a:spcPts val="1200"/>
              </a:spcAft>
            </a:pPr>
            <a:r>
              <a:rPr lang="en-US" sz="2200" dirty="0" smtClean="0">
                <a:latin typeface="Helvetica" pitchFamily="34" charset="0"/>
              </a:rPr>
              <a:t>Typical process centres on</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Employees and supervisor meet to discuss and try to resolve the issue</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If not resolved the issue is referred to management for resolution</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If not resolved the issue is referred to more management for resolution</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If not resolved the issue is referred to independent body</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144</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agreed procedures to resolve employee relations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824536"/>
          </a:xfrm>
        </p:spPr>
        <p:txBody>
          <a:bodyPr>
            <a:normAutofit/>
          </a:bodyPr>
          <a:lstStyle/>
          <a:p>
            <a:pPr marL="360000" indent="-360000">
              <a:spcBef>
                <a:spcPts val="600"/>
              </a:spcBef>
              <a:spcAft>
                <a:spcPts val="1200"/>
              </a:spcAft>
            </a:pPr>
            <a:r>
              <a:rPr lang="en-US" sz="2200" dirty="0" smtClean="0">
                <a:latin typeface="Helvetica" pitchFamily="34" charset="0"/>
              </a:rPr>
              <a:t>Where disputes can be referred externally:</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The body/person can make a </a:t>
            </a:r>
            <a:r>
              <a:rPr lang="en-US" sz="2200" b="1" dirty="0" smtClean="0">
                <a:latin typeface="Helvetica" pitchFamily="34" charset="0"/>
              </a:rPr>
              <a:t>binding </a:t>
            </a:r>
            <a:r>
              <a:rPr lang="en-US" sz="2200" dirty="0" smtClean="0">
                <a:latin typeface="Helvetica" pitchFamily="34" charset="0"/>
              </a:rPr>
              <a:t>decision regarding the issue</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Certain exemptions for referrals may exist</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The powers of the external body/person are limited to those powers prescribed in relevant employment instruments</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agreed procedures to resolve employee relations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08512"/>
          </a:xfrm>
        </p:spPr>
        <p:txBody>
          <a:bodyPr>
            <a:normAutofit/>
          </a:bodyPr>
          <a:lstStyle/>
          <a:p>
            <a:pPr marL="360000" indent="-360000">
              <a:spcBef>
                <a:spcPts val="600"/>
              </a:spcBef>
              <a:spcAft>
                <a:spcPts val="1200"/>
              </a:spcAft>
            </a:pPr>
            <a:r>
              <a:rPr lang="en-US" sz="2200" dirty="0" smtClean="0">
                <a:latin typeface="Helvetica" pitchFamily="34" charset="0"/>
              </a:rPr>
              <a:t>Employers who implement best practice will:</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Ensure </a:t>
            </a:r>
            <a:r>
              <a:rPr lang="en-AU" sz="2200" dirty="0" smtClean="0">
                <a:latin typeface="Helvetica" pitchFamily="34" charset="0"/>
              </a:rPr>
              <a:t>they have a simple, quick, fair, confidential and transparent procedure in place even if this is not provided for in relevant employment instrument/s</a:t>
            </a:r>
          </a:p>
          <a:p>
            <a:pPr marL="720000" indent="-360000">
              <a:spcBef>
                <a:spcPts val="600"/>
              </a:spcBef>
              <a:spcAft>
                <a:spcPts val="1200"/>
              </a:spcAft>
              <a:buClr>
                <a:srgbClr val="7FD13B"/>
              </a:buClr>
              <a:buSzPct val="100000"/>
              <a:buFont typeface="Arial" pitchFamily="34" charset="0"/>
              <a:buChar char="•"/>
            </a:pPr>
            <a:r>
              <a:rPr lang="en-AU" sz="2200" dirty="0" smtClean="0">
                <a:latin typeface="Helvetica" pitchFamily="34" charset="0"/>
              </a:rPr>
              <a:t>Ensure employees are made </a:t>
            </a:r>
            <a:br>
              <a:rPr lang="en-AU" sz="2200" dirty="0" smtClean="0">
                <a:latin typeface="Helvetica" pitchFamily="34" charset="0"/>
              </a:rPr>
            </a:br>
            <a:r>
              <a:rPr lang="en-AU" sz="2200" dirty="0" smtClean="0">
                <a:latin typeface="Helvetica" pitchFamily="34" charset="0"/>
              </a:rPr>
              <a:t>aware of the applicable procedures</a:t>
            </a:r>
          </a:p>
          <a:p>
            <a:pPr marL="720000" indent="-360000">
              <a:spcBef>
                <a:spcPts val="600"/>
              </a:spcBef>
              <a:spcAft>
                <a:spcPts val="1200"/>
              </a:spcAft>
              <a:buClr>
                <a:schemeClr val="accent1">
                  <a:lumMod val="75000"/>
                </a:schemeClr>
              </a:buClr>
              <a:buSzPct val="100000"/>
              <a:buFont typeface="Arial" pitchFamily="34" charset="0"/>
              <a:buChar char="•"/>
            </a:pPr>
            <a:endParaRPr lang="en-AU" sz="2200" dirty="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3356992"/>
            <a:ext cx="2247904" cy="1685928"/>
          </a:xfrm>
          <a:prstGeom prst="rect">
            <a:avLst/>
          </a:prstGeom>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Use agreed procedures to resolve employee relations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US" sz="2200" dirty="0" smtClean="0">
                <a:latin typeface="Helvetica" pitchFamily="34" charset="0"/>
              </a:rPr>
              <a:t>When a dispute arises, employers:</a:t>
            </a:r>
          </a:p>
          <a:p>
            <a:pPr marL="720000" indent="-360000">
              <a:spcBef>
                <a:spcPts val="600"/>
              </a:spcBef>
              <a:spcAft>
                <a:spcPts val="1200"/>
              </a:spcAft>
              <a:buClr>
                <a:srgbClr val="7FD13B"/>
              </a:buClr>
              <a:buSzPct val="100000"/>
              <a:buFont typeface="Arial" pitchFamily="34" charset="0"/>
              <a:buChar char="•"/>
            </a:pPr>
            <a:r>
              <a:rPr lang="en-AU" sz="2200" dirty="0" smtClean="0">
                <a:latin typeface="Helvetica" pitchFamily="34" charset="0"/>
              </a:rPr>
              <a:t>work towards solving the problem</a:t>
            </a:r>
          </a:p>
          <a:p>
            <a:pPr marL="720000" indent="-360000">
              <a:spcBef>
                <a:spcPts val="600"/>
              </a:spcBef>
              <a:spcAft>
                <a:spcPts val="1200"/>
              </a:spcAft>
              <a:buClr>
                <a:srgbClr val="7FD13B"/>
              </a:buClr>
              <a:buSzPct val="100000"/>
              <a:buFont typeface="Arial" pitchFamily="34" charset="0"/>
              <a:buChar char="•"/>
            </a:pPr>
            <a:r>
              <a:rPr lang="en-AU" sz="2200" dirty="0" smtClean="0">
                <a:latin typeface="Helvetica" pitchFamily="34" charset="0"/>
              </a:rPr>
              <a:t>determine which dispute resolution procedure applies</a:t>
            </a:r>
          </a:p>
          <a:p>
            <a:pPr marL="720000" indent="-360000">
              <a:spcBef>
                <a:spcPts val="600"/>
              </a:spcBef>
              <a:spcAft>
                <a:spcPts val="1200"/>
              </a:spcAft>
              <a:buClr>
                <a:srgbClr val="7FD13B"/>
              </a:buClr>
              <a:buSzPct val="100000"/>
              <a:buFont typeface="Arial" pitchFamily="34" charset="0"/>
              <a:buChar char="•"/>
            </a:pPr>
            <a:r>
              <a:rPr lang="en-AU" sz="2200" dirty="0" smtClean="0">
                <a:latin typeface="Helvetica" pitchFamily="34" charset="0"/>
              </a:rPr>
              <a:t>comply with correct procedure quickly and fairly</a:t>
            </a:r>
          </a:p>
          <a:p>
            <a:pPr marL="720000" indent="-360000">
              <a:spcBef>
                <a:spcPts val="600"/>
              </a:spcBef>
              <a:spcAft>
                <a:spcPts val="1200"/>
              </a:spcAft>
              <a:buClr>
                <a:srgbClr val="7FD13B"/>
              </a:buClr>
              <a:buSzPct val="100000"/>
              <a:buFont typeface="Arial" pitchFamily="34" charset="0"/>
              <a:buChar char="•"/>
            </a:pPr>
            <a:r>
              <a:rPr lang="en-AU" sz="2200" dirty="0" smtClean="0">
                <a:latin typeface="Helvetica" pitchFamily="34" charset="0"/>
              </a:rPr>
              <a:t>use best efforts to resolve dispute internally</a:t>
            </a:r>
          </a:p>
          <a:p>
            <a:pPr marL="720000" indent="-360000">
              <a:spcBef>
                <a:spcPts val="600"/>
              </a:spcBef>
              <a:spcAft>
                <a:spcPts val="1200"/>
              </a:spcAft>
              <a:buClr>
                <a:srgbClr val="7FD13B"/>
              </a:buClr>
              <a:buSzPct val="100000"/>
              <a:buFont typeface="Arial" pitchFamily="34" charset="0"/>
              <a:buChar char="•"/>
            </a:pPr>
            <a:r>
              <a:rPr lang="en-AU" sz="2200" dirty="0" smtClean="0">
                <a:latin typeface="Helvetica" pitchFamily="34" charset="0"/>
              </a:rPr>
              <a:t>where this is not possible, refer dispute to an independent mediator or arbitrator</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147</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agreed processes and make appropriate adjustments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680520"/>
          </a:xfrm>
        </p:spPr>
        <p:txBody>
          <a:bodyPr>
            <a:normAutofit/>
          </a:bodyPr>
          <a:lstStyle/>
          <a:p>
            <a:pPr marL="0" indent="0">
              <a:spcBef>
                <a:spcPts val="600"/>
              </a:spcBef>
              <a:spcAft>
                <a:spcPts val="1200"/>
              </a:spcAft>
              <a:buNone/>
            </a:pPr>
            <a:r>
              <a:rPr lang="en-AU" sz="2200" dirty="0" smtClean="0">
                <a:latin typeface="Helvetica" pitchFamily="34" charset="0"/>
              </a:rPr>
              <a:t>Monitoring of agreed procedures must ensure</a:t>
            </a:r>
            <a:r>
              <a:rPr lang="en-US" sz="2200" dirty="0" smtClean="0">
                <a:latin typeface="Helvetica" pitchFamily="34" charset="0"/>
              </a:rPr>
              <a:t>:</a:t>
            </a:r>
          </a:p>
          <a:p>
            <a:pPr marL="360000" indent="-360000">
              <a:spcBef>
                <a:spcPts val="600"/>
              </a:spcBef>
              <a:spcAft>
                <a:spcPts val="1200"/>
              </a:spcAft>
            </a:pPr>
            <a:r>
              <a:rPr lang="en-US" sz="2200" dirty="0" smtClean="0">
                <a:latin typeface="Helvetica" pitchFamily="34" charset="0"/>
              </a:rPr>
              <a:t>Alignment with needs of each suite of IR procedures</a:t>
            </a:r>
          </a:p>
          <a:p>
            <a:pPr marL="360000" indent="-360000">
              <a:spcBef>
                <a:spcPts val="600"/>
              </a:spcBef>
              <a:spcAft>
                <a:spcPts val="1200"/>
              </a:spcAft>
            </a:pPr>
            <a:r>
              <a:rPr lang="en-US" sz="2200" dirty="0" smtClean="0">
                <a:latin typeface="Helvetica" pitchFamily="34" charset="0"/>
              </a:rPr>
              <a:t>Inclusion of staff in development of </a:t>
            </a:r>
            <a:br>
              <a:rPr lang="en-US" sz="2200" dirty="0" smtClean="0">
                <a:latin typeface="Helvetica" pitchFamily="34" charset="0"/>
              </a:rPr>
            </a:br>
            <a:r>
              <a:rPr lang="en-US" sz="2200" dirty="0" smtClean="0">
                <a:latin typeface="Helvetica" pitchFamily="34" charset="0"/>
              </a:rPr>
              <a:t>monitoring protocols</a:t>
            </a:r>
          </a:p>
          <a:p>
            <a:pPr marL="360000" indent="-360000">
              <a:spcBef>
                <a:spcPts val="600"/>
              </a:spcBef>
              <a:spcAft>
                <a:spcPts val="1200"/>
              </a:spcAft>
            </a:pPr>
            <a:r>
              <a:rPr lang="en-US" sz="2200" dirty="0" smtClean="0">
                <a:latin typeface="Helvetica" pitchFamily="34" charset="0"/>
              </a:rPr>
              <a:t>Development of draft protocols for </a:t>
            </a:r>
            <a:br>
              <a:rPr lang="en-US" sz="2200" dirty="0" smtClean="0">
                <a:latin typeface="Helvetica" pitchFamily="34" charset="0"/>
              </a:rPr>
            </a:br>
            <a:r>
              <a:rPr lang="en-US" sz="2200" dirty="0" smtClean="0">
                <a:latin typeface="Helvetica" pitchFamily="34" charset="0"/>
              </a:rPr>
              <a:t>circulation and comment</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00192" y="2964215"/>
            <a:ext cx="1919167" cy="2033016"/>
          </a:xfrm>
          <a:prstGeom prst="rect">
            <a:avLst/>
          </a:prstGeom>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agreed processes and make appropriate adjustments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536504"/>
          </a:xfrm>
        </p:spPr>
        <p:txBody>
          <a:bodyPr>
            <a:normAutofit/>
          </a:bodyPr>
          <a:lstStyle/>
          <a:p>
            <a:pPr marL="360000" indent="-360000">
              <a:spcBef>
                <a:spcPts val="600"/>
              </a:spcBef>
              <a:spcAft>
                <a:spcPts val="1200"/>
              </a:spcAft>
            </a:pPr>
            <a:r>
              <a:rPr lang="en-US" sz="2200" dirty="0" smtClean="0">
                <a:latin typeface="Helvetica" pitchFamily="34" charset="0"/>
              </a:rPr>
              <a:t>Monitoring procedures are included as part of relevant IR procedures</a:t>
            </a:r>
          </a:p>
          <a:p>
            <a:pPr marL="360000" indent="-360000">
              <a:spcBef>
                <a:spcPts val="600"/>
              </a:spcBef>
              <a:spcAft>
                <a:spcPts val="1200"/>
              </a:spcAft>
            </a:pPr>
            <a:r>
              <a:rPr lang="en-US" sz="2200" dirty="0" smtClean="0">
                <a:latin typeface="Helvetica" pitchFamily="34" charset="0"/>
              </a:rPr>
              <a:t>Monitoring protocols are trialled and tested</a:t>
            </a:r>
          </a:p>
          <a:p>
            <a:pPr marL="360000" indent="-360000">
              <a:spcBef>
                <a:spcPts val="600"/>
              </a:spcBef>
              <a:spcAft>
                <a:spcPts val="1200"/>
              </a:spcAft>
            </a:pPr>
            <a:r>
              <a:rPr lang="en-US" sz="2200" dirty="0" smtClean="0">
                <a:latin typeface="Helvetica" pitchFamily="34" charset="0"/>
              </a:rPr>
              <a:t>Monitoring protocols are used every time dispute resolution is applied</a:t>
            </a:r>
          </a:p>
          <a:p>
            <a:pPr marL="360000" indent="-360000">
              <a:spcBef>
                <a:spcPts val="600"/>
              </a:spcBef>
              <a:spcAft>
                <a:spcPts val="1200"/>
              </a:spcAft>
            </a:pPr>
            <a:r>
              <a:rPr lang="en-US" sz="2200" dirty="0" smtClean="0">
                <a:latin typeface="Helvetica" pitchFamily="34" charset="0"/>
              </a:rPr>
              <a:t>Emphasis on objectivity</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70700" y="3717032"/>
            <a:ext cx="2437023" cy="2010544"/>
          </a:xfrm>
          <a:prstGeom prst="rect">
            <a:avLst/>
          </a:prstGeom>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agreed processes and make appropriate adjustments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AU" sz="2200" dirty="0" smtClean="0">
                <a:latin typeface="Helvetica" pitchFamily="34" charset="0"/>
              </a:rPr>
              <a:t>Involvement of employees in the monitoring process</a:t>
            </a:r>
          </a:p>
          <a:p>
            <a:pPr marL="360000" indent="-360000">
              <a:spcBef>
                <a:spcPts val="600"/>
              </a:spcBef>
              <a:spcAft>
                <a:spcPts val="1200"/>
              </a:spcAft>
            </a:pPr>
            <a:r>
              <a:rPr lang="en-AU" sz="2200" i="1" dirty="0" smtClean="0">
                <a:latin typeface="Helvetica" pitchFamily="34" charset="0"/>
              </a:rPr>
              <a:t>Overview </a:t>
            </a:r>
            <a:r>
              <a:rPr lang="en-AU" sz="2200" dirty="0" smtClean="0">
                <a:latin typeface="Helvetica" pitchFamily="34" charset="0"/>
              </a:rPr>
              <a:t>of implementation of monitoring procedures</a:t>
            </a:r>
          </a:p>
          <a:p>
            <a:pPr marL="360000" indent="-360000">
              <a:spcBef>
                <a:spcPts val="600"/>
              </a:spcBef>
              <a:spcAft>
                <a:spcPts val="1200"/>
              </a:spcAft>
            </a:pPr>
            <a:r>
              <a:rPr lang="en-AU" sz="2200" dirty="0" smtClean="0">
                <a:latin typeface="Helvetica" pitchFamily="34" charset="0"/>
              </a:rPr>
              <a:t>Sufficient data is generated</a:t>
            </a:r>
          </a:p>
          <a:p>
            <a:pPr marL="360000" indent="-360000">
              <a:spcBef>
                <a:spcPts val="600"/>
              </a:spcBef>
              <a:spcAft>
                <a:spcPts val="1200"/>
              </a:spcAft>
            </a:pPr>
            <a:r>
              <a:rPr lang="en-AU" sz="2200" dirty="0" smtClean="0">
                <a:latin typeface="Helvetica" pitchFamily="34" charset="0"/>
              </a:rPr>
              <a:t>Procedures used are analysed </a:t>
            </a:r>
            <a:br>
              <a:rPr lang="en-AU" sz="2200" dirty="0" smtClean="0">
                <a:latin typeface="Helvetica" pitchFamily="34" charset="0"/>
              </a:rPr>
            </a:br>
            <a:r>
              <a:rPr lang="en-AU" sz="2200" dirty="0" smtClean="0">
                <a:latin typeface="Helvetica" pitchFamily="34" charset="0"/>
              </a:rPr>
              <a:t>and evaluated</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r>
              <a:rPr lang="en-AU" sz="2200" dirty="0" smtClean="0">
                <a:latin typeface="Helvetica" pitchFamily="34" charset="0"/>
              </a:rPr>
              <a:t>(Continued)</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1272" y="3501008"/>
            <a:ext cx="2347382" cy="2171328"/>
          </a:xfrm>
          <a:prstGeom prst="rect">
            <a:avLst/>
          </a:prstGeom>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agreed processes and make appropriate adjustments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US" sz="2200" dirty="0" smtClean="0">
                <a:latin typeface="Helvetica" pitchFamily="34" charset="0"/>
              </a:rPr>
              <a:t>Documentation of the process</a:t>
            </a:r>
          </a:p>
          <a:p>
            <a:pPr marL="360000" indent="-360000">
              <a:spcBef>
                <a:spcPts val="600"/>
              </a:spcBef>
              <a:spcAft>
                <a:spcPts val="1200"/>
              </a:spcAft>
            </a:pPr>
            <a:r>
              <a:rPr lang="en-US" sz="2200" dirty="0" smtClean="0">
                <a:latin typeface="Helvetica" pitchFamily="34" charset="0"/>
              </a:rPr>
              <a:t>Compliance with mandated obligations</a:t>
            </a:r>
          </a:p>
          <a:p>
            <a:pPr marL="360000" indent="-360000">
              <a:spcBef>
                <a:spcPts val="600"/>
              </a:spcBef>
              <a:spcAft>
                <a:spcPts val="1200"/>
              </a:spcAft>
            </a:pPr>
            <a:r>
              <a:rPr lang="en-US" sz="2200" dirty="0" smtClean="0">
                <a:latin typeface="Helvetica" pitchFamily="34" charset="0"/>
              </a:rPr>
              <a:t>Monitoring never obstructs/interferes with ‘natural justice’</a:t>
            </a:r>
          </a:p>
          <a:p>
            <a:pPr marL="360000" indent="-360000">
              <a:spcBef>
                <a:spcPts val="600"/>
              </a:spcBef>
              <a:spcAft>
                <a:spcPts val="1200"/>
              </a:spcAft>
            </a:pPr>
            <a:r>
              <a:rPr lang="en-US" sz="2200" dirty="0" smtClean="0">
                <a:latin typeface="Helvetica" pitchFamily="34" charset="0"/>
              </a:rPr>
              <a:t>Results of the monitoring process must </a:t>
            </a:r>
            <a:br>
              <a:rPr lang="en-US" sz="2200" dirty="0" smtClean="0">
                <a:latin typeface="Helvetica" pitchFamily="34" charset="0"/>
              </a:rPr>
            </a:br>
            <a:r>
              <a:rPr lang="en-US" sz="2200" dirty="0" smtClean="0">
                <a:latin typeface="Helvetica" pitchFamily="34" charset="0"/>
              </a:rPr>
              <a:t>be released to staff/stakeholders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3717032"/>
            <a:ext cx="2370278" cy="2014736"/>
          </a:xfrm>
          <a:prstGeom prst="rect">
            <a:avLst/>
          </a:prstGeom>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agreed processes and make appropriate adjustments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Revisions to IR agreed procedures comprise three basic options:</a:t>
            </a:r>
          </a:p>
          <a:p>
            <a:pPr marL="360000" indent="-360000">
              <a:spcBef>
                <a:spcPts val="600"/>
              </a:spcBef>
              <a:spcAft>
                <a:spcPts val="1200"/>
              </a:spcAft>
            </a:pPr>
            <a:r>
              <a:rPr lang="en-US" sz="2200" dirty="0" smtClean="0">
                <a:latin typeface="Helvetica" pitchFamily="34" charset="0"/>
              </a:rPr>
              <a:t>Revise existing protocols</a:t>
            </a:r>
          </a:p>
          <a:p>
            <a:pPr marL="360000" indent="-360000">
              <a:spcBef>
                <a:spcPts val="600"/>
              </a:spcBef>
              <a:spcAft>
                <a:spcPts val="1200"/>
              </a:spcAft>
            </a:pPr>
            <a:r>
              <a:rPr lang="en-US" sz="2200" dirty="0" smtClean="0">
                <a:latin typeface="Helvetica" pitchFamily="34" charset="0"/>
              </a:rPr>
              <a:t>Delete previous protocols and replace with new ones</a:t>
            </a:r>
          </a:p>
          <a:p>
            <a:pPr marL="360000" indent="-360000">
              <a:spcBef>
                <a:spcPts val="600"/>
              </a:spcBef>
              <a:spcAft>
                <a:spcPts val="1200"/>
              </a:spcAft>
            </a:pPr>
            <a:r>
              <a:rPr lang="en-US" sz="2200" dirty="0" smtClean="0">
                <a:latin typeface="Helvetica" pitchFamily="34" charset="0"/>
              </a:rPr>
              <a:t>Create new protocols for </a:t>
            </a:r>
            <a:br>
              <a:rPr lang="en-US" sz="2200" dirty="0" smtClean="0">
                <a:latin typeface="Helvetica" pitchFamily="34" charset="0"/>
              </a:rPr>
            </a:br>
            <a:r>
              <a:rPr lang="en-US" sz="2200" dirty="0" smtClean="0">
                <a:latin typeface="Helvetica" pitchFamily="34" charset="0"/>
              </a:rPr>
              <a:t>new/emerging issues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3861048"/>
            <a:ext cx="2460104" cy="2073868"/>
          </a:xfrm>
          <a:prstGeom prst="rect">
            <a:avLst/>
          </a:prstGeom>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agreed processes and make appropriate adjustments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704856" cy="4752528"/>
          </a:xfrm>
        </p:spPr>
        <p:txBody>
          <a:bodyPr>
            <a:normAutofit/>
          </a:bodyPr>
          <a:lstStyle/>
          <a:p>
            <a:pPr marL="0" indent="0">
              <a:spcBef>
                <a:spcPts val="600"/>
              </a:spcBef>
              <a:spcAft>
                <a:spcPts val="1200"/>
              </a:spcAft>
              <a:buNone/>
            </a:pPr>
            <a:r>
              <a:rPr lang="en-US" sz="2200" dirty="0" smtClean="0">
                <a:latin typeface="Helvetica" pitchFamily="34" charset="0"/>
              </a:rPr>
              <a:t>It is also important to understand:</a:t>
            </a:r>
          </a:p>
          <a:p>
            <a:pPr marL="360000" indent="-360000">
              <a:spcBef>
                <a:spcPts val="600"/>
              </a:spcBef>
              <a:spcAft>
                <a:spcPts val="1200"/>
              </a:spcAft>
            </a:pPr>
            <a:r>
              <a:rPr lang="en-AU" sz="2200" dirty="0" smtClean="0">
                <a:latin typeface="Helvetica" pitchFamily="34" charset="0"/>
              </a:rPr>
              <a:t>Organisations should strive to create and/or amend their own ‘agreed procedures’</a:t>
            </a:r>
          </a:p>
          <a:p>
            <a:pPr marL="360000" indent="-360000">
              <a:spcBef>
                <a:spcPts val="600"/>
              </a:spcBef>
              <a:spcAft>
                <a:spcPts val="1200"/>
              </a:spcAft>
            </a:pPr>
            <a:r>
              <a:rPr lang="en-AU" sz="2200" dirty="0" smtClean="0">
                <a:latin typeface="Helvetica" pitchFamily="34" charset="0"/>
              </a:rPr>
              <a:t>External government authorities have power to require organisations to change ‘agreed procedures’ if deemed necessary</a:t>
            </a:r>
          </a:p>
          <a:p>
            <a:pPr marL="360000" indent="-360000">
              <a:spcBef>
                <a:spcPts val="600"/>
              </a:spcBef>
              <a:spcAft>
                <a:spcPts val="1200"/>
              </a:spcAft>
            </a:pPr>
            <a:r>
              <a:rPr lang="en-AU" sz="2200" dirty="0" smtClean="0">
                <a:latin typeface="Helvetica" pitchFamily="34" charset="0"/>
              </a:rPr>
              <a:t>Fines and/or other penalties can be </a:t>
            </a:r>
            <a:br>
              <a:rPr lang="en-AU" sz="2200" dirty="0" smtClean="0">
                <a:latin typeface="Helvetica" pitchFamily="34" charset="0"/>
              </a:rPr>
            </a:br>
            <a:r>
              <a:rPr lang="en-AU" sz="2200" dirty="0" smtClean="0">
                <a:latin typeface="Helvetica" pitchFamily="34" charset="0"/>
              </a:rPr>
              <a:t>imposed if organisations fail to </a:t>
            </a:r>
            <a:br>
              <a:rPr lang="en-AU" sz="2200" dirty="0" smtClean="0">
                <a:latin typeface="Helvetica" pitchFamily="34" charset="0"/>
              </a:rPr>
            </a:br>
            <a:r>
              <a:rPr lang="en-AU" sz="2200" dirty="0" smtClean="0">
                <a:latin typeface="Helvetica" pitchFamily="34" charset="0"/>
              </a:rPr>
              <a:t>establish/implement suitable </a:t>
            </a:r>
            <a:br>
              <a:rPr lang="en-AU" sz="2200" dirty="0" smtClean="0">
                <a:latin typeface="Helvetica" pitchFamily="34" charset="0"/>
              </a:rPr>
            </a:br>
            <a:r>
              <a:rPr lang="en-AU" sz="2200" dirty="0" smtClean="0">
                <a:latin typeface="Helvetica" pitchFamily="34" charset="0"/>
              </a:rPr>
              <a:t>‘agreed procedures’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5999" y="4149080"/>
            <a:ext cx="2355501" cy="2039864"/>
          </a:xfrm>
          <a:prstGeom prst="rect">
            <a:avLst/>
          </a:prstGeom>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agreed processes and make appropriate adjustments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24536"/>
          </a:xfrm>
        </p:spPr>
        <p:txBody>
          <a:bodyPr>
            <a:normAutofit/>
          </a:bodyPr>
          <a:lstStyle/>
          <a:p>
            <a:pPr marL="0" indent="0">
              <a:spcBef>
                <a:spcPts val="600"/>
              </a:spcBef>
              <a:spcAft>
                <a:spcPts val="1200"/>
              </a:spcAft>
              <a:buNone/>
            </a:pPr>
            <a:r>
              <a:rPr lang="en-US" sz="2200" dirty="0" smtClean="0">
                <a:latin typeface="Helvetica" pitchFamily="34" charset="0"/>
              </a:rPr>
              <a:t>SOPs for making adjustments to agreed IR procedures:</a:t>
            </a:r>
          </a:p>
          <a:p>
            <a:pPr marL="360000" indent="-360000">
              <a:spcBef>
                <a:spcPts val="600"/>
              </a:spcBef>
              <a:spcAft>
                <a:spcPts val="1200"/>
              </a:spcAft>
            </a:pPr>
            <a:r>
              <a:rPr lang="en-US" sz="2200" dirty="0" smtClean="0">
                <a:latin typeface="Helvetica" pitchFamily="34" charset="0"/>
              </a:rPr>
              <a:t>All agreed procedures must be subject to regular review</a:t>
            </a:r>
          </a:p>
          <a:p>
            <a:pPr marL="360000" indent="-360000">
              <a:spcBef>
                <a:spcPts val="600"/>
              </a:spcBef>
              <a:spcAft>
                <a:spcPts val="1200"/>
              </a:spcAft>
            </a:pPr>
            <a:r>
              <a:rPr lang="en-US" sz="2200" dirty="0" smtClean="0">
                <a:latin typeface="Helvetica" pitchFamily="34" charset="0"/>
              </a:rPr>
              <a:t>Reviews must be conducted at nominated times</a:t>
            </a:r>
          </a:p>
          <a:p>
            <a:pPr marL="360000" indent="-360000">
              <a:spcBef>
                <a:spcPts val="600"/>
              </a:spcBef>
              <a:spcAft>
                <a:spcPts val="1200"/>
              </a:spcAft>
            </a:pPr>
            <a:r>
              <a:rPr lang="en-US" sz="2200" dirty="0" smtClean="0">
                <a:latin typeface="Helvetica" pitchFamily="34" charset="0"/>
              </a:rPr>
              <a:t>Revisions must be preceded by reviews</a:t>
            </a:r>
          </a:p>
          <a:p>
            <a:pPr marL="360000" indent="-360000">
              <a:spcBef>
                <a:spcPts val="600"/>
              </a:spcBef>
              <a:spcAft>
                <a:spcPts val="1200"/>
              </a:spcAft>
            </a:pPr>
            <a:r>
              <a:rPr lang="en-US" sz="2200" dirty="0" smtClean="0">
                <a:latin typeface="Helvetica" pitchFamily="34" charset="0"/>
              </a:rPr>
              <a:t>All revision decisions must be </a:t>
            </a:r>
            <a:br>
              <a:rPr lang="en-US" sz="2200" dirty="0" smtClean="0">
                <a:latin typeface="Helvetica" pitchFamily="34" charset="0"/>
              </a:rPr>
            </a:br>
            <a:r>
              <a:rPr lang="en-US" sz="2200" dirty="0" smtClean="0">
                <a:latin typeface="Helvetica" pitchFamily="34" charset="0"/>
              </a:rPr>
              <a:t>fact-based</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088" y="3933056"/>
            <a:ext cx="3083617" cy="2055539"/>
          </a:xfrm>
          <a:prstGeom prst="rect">
            <a:avLst/>
          </a:prstGeom>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agreed processes and make appropriate adjustments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US" sz="2200" dirty="0" smtClean="0">
                <a:latin typeface="Helvetica" pitchFamily="34" charset="0"/>
              </a:rPr>
              <a:t>Staff must be involved in the process</a:t>
            </a:r>
          </a:p>
          <a:p>
            <a:pPr marL="360000" indent="-360000">
              <a:spcBef>
                <a:spcPts val="600"/>
              </a:spcBef>
              <a:spcAft>
                <a:spcPts val="1200"/>
              </a:spcAft>
            </a:pPr>
            <a:r>
              <a:rPr lang="en-US" sz="2200" dirty="0" smtClean="0">
                <a:latin typeface="Helvetica" pitchFamily="34" charset="0"/>
              </a:rPr>
              <a:t>Protocols for </a:t>
            </a:r>
            <a:r>
              <a:rPr lang="en-US" sz="2200" i="1" dirty="0" smtClean="0">
                <a:latin typeface="Helvetica" pitchFamily="34" charset="0"/>
              </a:rPr>
              <a:t>development </a:t>
            </a:r>
            <a:r>
              <a:rPr lang="en-US" sz="2200" dirty="0" smtClean="0">
                <a:latin typeface="Helvetica" pitchFamily="34" charset="0"/>
              </a:rPr>
              <a:t>of IR procedures must apply to </a:t>
            </a:r>
            <a:r>
              <a:rPr lang="en-US" sz="2200" i="1" dirty="0" smtClean="0">
                <a:latin typeface="Helvetica" pitchFamily="34" charset="0"/>
              </a:rPr>
              <a:t>revision </a:t>
            </a:r>
            <a:r>
              <a:rPr lang="en-US" sz="2200" dirty="0" smtClean="0">
                <a:latin typeface="Helvetica" pitchFamily="34" charset="0"/>
              </a:rPr>
              <a:t>of IR procedures</a:t>
            </a:r>
          </a:p>
          <a:p>
            <a:pPr marL="360000" indent="-360000">
              <a:spcBef>
                <a:spcPts val="600"/>
              </a:spcBef>
              <a:spcAft>
                <a:spcPts val="1200"/>
              </a:spcAft>
            </a:pPr>
            <a:r>
              <a:rPr lang="en-US" sz="2200" dirty="0" smtClean="0">
                <a:latin typeface="Helvetica" pitchFamily="34" charset="0"/>
              </a:rPr>
              <a:t>Revisions must be communicated to stakeholders</a:t>
            </a:r>
          </a:p>
          <a:p>
            <a:pPr marL="360000" indent="-360000">
              <a:spcBef>
                <a:spcPts val="600"/>
              </a:spcBef>
              <a:spcAft>
                <a:spcPts val="1200"/>
              </a:spcAft>
            </a:pPr>
            <a:r>
              <a:rPr lang="en-US" sz="2200" dirty="0" smtClean="0">
                <a:latin typeface="Helvetica" pitchFamily="34" charset="0"/>
              </a:rPr>
              <a:t>Changes need to be ‘version controlled’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6136" y="4149080"/>
            <a:ext cx="2555776" cy="1703851"/>
          </a:xfrm>
          <a:prstGeom prst="rect">
            <a:avLst/>
          </a:prstGeom>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the need for and access specialist assistance in IR matters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US" sz="2200" dirty="0" smtClean="0">
                <a:latin typeface="Helvetica" pitchFamily="34" charset="0"/>
              </a:rPr>
              <a:t>In relation to professional assistance from IR experts:</a:t>
            </a:r>
          </a:p>
          <a:p>
            <a:pPr marL="360000" indent="-360000">
              <a:spcBef>
                <a:spcPts val="600"/>
              </a:spcBef>
              <a:spcAft>
                <a:spcPts val="1200"/>
              </a:spcAft>
            </a:pPr>
            <a:r>
              <a:rPr lang="en-US" sz="2200" dirty="0" smtClean="0">
                <a:latin typeface="Helvetica" pitchFamily="34" charset="0"/>
              </a:rPr>
              <a:t>Most organisations use external IR expertise/services</a:t>
            </a:r>
          </a:p>
          <a:p>
            <a:pPr marL="360000" indent="-360000">
              <a:spcBef>
                <a:spcPts val="600"/>
              </a:spcBef>
              <a:spcAft>
                <a:spcPts val="1200"/>
              </a:spcAft>
            </a:pPr>
            <a:r>
              <a:rPr lang="en-US" sz="2200" dirty="0" smtClean="0">
                <a:latin typeface="Helvetica" pitchFamily="34" charset="0"/>
              </a:rPr>
              <a:t>Specialist assistance is available from:</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Private enterprise operators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Government agencies/authorities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156</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6176" y="3861048"/>
            <a:ext cx="2286000" cy="1706880"/>
          </a:xfrm>
          <a:prstGeom prst="rect">
            <a:avLst/>
          </a:prstGeom>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the need for and access specialist assistance in IR matters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US" sz="2200" dirty="0" smtClean="0">
                <a:latin typeface="Helvetica" pitchFamily="34" charset="0"/>
              </a:rPr>
              <a:t>Private business operators:</a:t>
            </a:r>
          </a:p>
          <a:p>
            <a:pPr marL="360000" indent="-360000">
              <a:spcBef>
                <a:spcPts val="600"/>
              </a:spcBef>
              <a:spcAft>
                <a:spcPts val="1200"/>
              </a:spcAft>
            </a:pPr>
            <a:r>
              <a:rPr lang="en-US" sz="2200" dirty="0" smtClean="0">
                <a:latin typeface="Helvetica" pitchFamily="34" charset="0"/>
              </a:rPr>
              <a:t>Work on a fee-for-service basis: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On a project basis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On an hourly rate</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On a retainer basis</a:t>
            </a:r>
          </a:p>
          <a:p>
            <a:pPr marL="720000" indent="-360000">
              <a:spcBef>
                <a:spcPts val="600"/>
              </a:spcBef>
              <a:spcAft>
                <a:spcPts val="1200"/>
              </a:spcAft>
              <a:buClr>
                <a:srgbClr val="7FD13B"/>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1988840"/>
            <a:ext cx="1898382" cy="2852936"/>
          </a:xfrm>
          <a:prstGeom prst="rect">
            <a:avLst/>
          </a:prstGeom>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the need for and access specialist assistance in IR matters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US" sz="2200" dirty="0" smtClean="0">
                <a:latin typeface="Helvetica" pitchFamily="34" charset="0"/>
              </a:rPr>
              <a:t>Can provide specialist advice in relation to:</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IR consulting</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Training</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Resource development</a:t>
            </a:r>
          </a:p>
          <a:p>
            <a:pPr marL="720000" indent="-360000">
              <a:spcBef>
                <a:spcPts val="600"/>
              </a:spcBef>
              <a:spcAft>
                <a:spcPts val="1200"/>
              </a:spcAft>
              <a:buClr>
                <a:srgbClr val="7FD13B"/>
              </a:buClr>
              <a:buSzPct val="100000"/>
              <a:buFont typeface="Arial" pitchFamily="34" charset="0"/>
              <a:buChar char="•"/>
            </a:pPr>
            <a:endParaRPr lang="en-US" sz="2200" dirty="0">
              <a:latin typeface="Helvetica" pitchFamily="34" charset="0"/>
            </a:endParaRPr>
          </a:p>
          <a:p>
            <a:pPr marL="945216" lvl="2" indent="-360000">
              <a:spcBef>
                <a:spcPts val="600"/>
              </a:spcBef>
              <a:spcAft>
                <a:spcPts val="1200"/>
              </a:spcAft>
              <a:buNone/>
            </a:pPr>
            <a:endParaRPr lang="en-US" sz="2200" dirty="0">
              <a:latin typeface="Helvetica" pitchFamily="34" charset="0"/>
            </a:endParaRPr>
          </a:p>
          <a:p>
            <a:pPr marL="944563" lvl="2" indent="-85725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69767" y="4197559"/>
            <a:ext cx="2255912" cy="1371594"/>
          </a:xfrm>
          <a:prstGeom prst="rect">
            <a:avLst/>
          </a:prstGeom>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the need for and access specialist assistance in IR matters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16832"/>
            <a:ext cx="7467600" cy="4165923"/>
          </a:xfrm>
        </p:spPr>
        <p:txBody>
          <a:bodyPr>
            <a:normAutofit/>
          </a:bodyPr>
          <a:lstStyle/>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Legal advice</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Legal services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Record keeping</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Employment-related services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00192" y="3501008"/>
            <a:ext cx="2092522" cy="2092522"/>
          </a:xfrm>
          <a:prstGeom prst="rect">
            <a:avLst/>
          </a:prstGeom>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the need for and access specialist assistance in IR matters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seeking assistance from external professionals:</a:t>
            </a:r>
          </a:p>
          <a:p>
            <a:pPr marL="360000" indent="-360000">
              <a:spcBef>
                <a:spcPts val="600"/>
              </a:spcBef>
              <a:spcAft>
                <a:spcPts val="1200"/>
              </a:spcAft>
            </a:pPr>
            <a:r>
              <a:rPr lang="en-US" sz="2200" dirty="0" smtClean="0">
                <a:latin typeface="Helvetica" pitchFamily="34" charset="0"/>
              </a:rPr>
              <a:t>Contact peak industry body</a:t>
            </a:r>
          </a:p>
          <a:p>
            <a:pPr marL="360000" indent="-360000">
              <a:spcBef>
                <a:spcPts val="600"/>
              </a:spcBef>
              <a:spcAft>
                <a:spcPts val="1200"/>
              </a:spcAft>
            </a:pPr>
            <a:r>
              <a:rPr lang="en-US" sz="2200" dirty="0" smtClean="0">
                <a:latin typeface="Helvetica" pitchFamily="34" charset="0"/>
              </a:rPr>
              <a:t>Speak to personal network of contacts</a:t>
            </a:r>
          </a:p>
          <a:p>
            <a:pPr marL="360000" indent="-360000">
              <a:spcBef>
                <a:spcPts val="600"/>
              </a:spcBef>
              <a:spcAft>
                <a:spcPts val="1200"/>
              </a:spcAft>
            </a:pPr>
            <a:r>
              <a:rPr lang="en-US" sz="2200" dirty="0" smtClean="0">
                <a:latin typeface="Helvetica" pitchFamily="34" charset="0"/>
              </a:rPr>
              <a:t>Hire locals with relevant industry experience</a:t>
            </a:r>
          </a:p>
          <a:p>
            <a:pPr marL="360000" indent="-360000">
              <a:spcBef>
                <a:spcPts val="600"/>
              </a:spcBef>
              <a:spcAft>
                <a:spcPts val="1200"/>
              </a:spcAft>
            </a:pPr>
            <a:r>
              <a:rPr lang="en-US" sz="2200" dirty="0" smtClean="0">
                <a:latin typeface="Helvetica" pitchFamily="34" charset="0"/>
              </a:rPr>
              <a:t>Search the web</a:t>
            </a:r>
          </a:p>
          <a:p>
            <a:pPr marL="360000" indent="-360000">
              <a:spcBef>
                <a:spcPts val="600"/>
              </a:spcBef>
              <a:spcAft>
                <a:spcPts val="1200"/>
              </a:spcAft>
            </a:pPr>
            <a:r>
              <a:rPr lang="en-US" sz="2200" dirty="0" smtClean="0">
                <a:latin typeface="Helvetica" pitchFamily="34" charset="0"/>
              </a:rPr>
              <a:t>Obtain written quotations for services required</a:t>
            </a:r>
          </a:p>
          <a:p>
            <a:pPr marL="360000" indent="-360000">
              <a:spcBef>
                <a:spcPts val="600"/>
              </a:spcBef>
              <a:spcAft>
                <a:spcPts val="1200"/>
              </a:spcAft>
              <a:buNone/>
            </a:pPr>
            <a:r>
              <a:rPr lang="en-US" sz="2200" dirty="0" smtClean="0">
                <a:latin typeface="Helvetica" pitchFamily="34" charset="0"/>
              </a:rPr>
              <a:t>Legal action can be taken against professionals who do not perform in a competent manner.</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56107" y="2656182"/>
            <a:ext cx="2087893" cy="1565920"/>
          </a:xfrm>
          <a:prstGeom prst="rect">
            <a:avLst/>
          </a:prstGeom>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the need for and access specialist assistance in IR matters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Government agencies/authorities:</a:t>
            </a:r>
          </a:p>
          <a:p>
            <a:pPr marL="360000" indent="-360000">
              <a:spcBef>
                <a:spcPts val="600"/>
              </a:spcBef>
              <a:spcAft>
                <a:spcPts val="1200"/>
              </a:spcAft>
            </a:pPr>
            <a:r>
              <a:rPr lang="en-US" sz="2200" dirty="0" smtClean="0">
                <a:latin typeface="Helvetica" pitchFamily="34" charset="0"/>
              </a:rPr>
              <a:t>Are often statutory bodies</a:t>
            </a:r>
          </a:p>
          <a:p>
            <a:pPr marL="360000" indent="-360000">
              <a:spcBef>
                <a:spcPts val="600"/>
              </a:spcBef>
              <a:spcAft>
                <a:spcPts val="1200"/>
              </a:spcAft>
            </a:pPr>
            <a:r>
              <a:rPr lang="en-US" sz="2200" dirty="0" smtClean="0">
                <a:latin typeface="Helvetica" pitchFamily="34" charset="0"/>
              </a:rPr>
              <a:t>Commonly provide free advice and services</a:t>
            </a:r>
          </a:p>
          <a:p>
            <a:pPr marL="360000" indent="-360000">
              <a:spcBef>
                <a:spcPts val="600"/>
              </a:spcBef>
              <a:spcAft>
                <a:spcPts val="1200"/>
              </a:spcAft>
            </a:pPr>
            <a:r>
              <a:rPr lang="en-US" sz="2200" dirty="0" smtClean="0">
                <a:latin typeface="Helvetica" pitchFamily="34" charset="0"/>
              </a:rPr>
              <a:t>May offer some fee-for-service services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161</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4811" y="3330217"/>
            <a:ext cx="2105980" cy="1684784"/>
          </a:xfrm>
          <a:prstGeom prst="rect">
            <a:avLst/>
          </a:prstGeom>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176" y="1916832"/>
            <a:ext cx="2033016" cy="3048000"/>
          </a:xfrm>
          <a:prstGeom prst="rect">
            <a:avLst/>
          </a:prstGeom>
        </p:spPr>
      </p:pic>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the need for and access specialist assistance in IR matters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0" indent="0">
              <a:spcBef>
                <a:spcPts val="600"/>
              </a:spcBef>
              <a:spcAft>
                <a:spcPts val="1200"/>
              </a:spcAft>
              <a:buNone/>
            </a:pPr>
            <a:r>
              <a:rPr lang="en-US" sz="2200" dirty="0" smtClean="0">
                <a:latin typeface="Helvetica" pitchFamily="34" charset="0"/>
              </a:rPr>
              <a:t>Government agencies/authorities may provide:</a:t>
            </a:r>
          </a:p>
          <a:p>
            <a:pPr marL="360000" indent="-360000">
              <a:spcBef>
                <a:spcPts val="600"/>
              </a:spcBef>
              <a:spcAft>
                <a:spcPts val="1200"/>
              </a:spcAft>
            </a:pPr>
            <a:r>
              <a:rPr lang="en-US" sz="2200" dirty="0" smtClean="0">
                <a:latin typeface="Helvetica" pitchFamily="34" charset="0"/>
              </a:rPr>
              <a:t>Hard copy information</a:t>
            </a:r>
          </a:p>
          <a:p>
            <a:pPr marL="360000" indent="-360000">
              <a:spcBef>
                <a:spcPts val="600"/>
              </a:spcBef>
              <a:spcAft>
                <a:spcPts val="1200"/>
              </a:spcAft>
            </a:pPr>
            <a:r>
              <a:rPr lang="en-US" sz="2200" dirty="0" smtClean="0">
                <a:latin typeface="Helvetica" pitchFamily="34" charset="0"/>
              </a:rPr>
              <a:t>Verbal advice</a:t>
            </a:r>
          </a:p>
          <a:p>
            <a:pPr marL="360000" indent="-360000">
              <a:spcBef>
                <a:spcPts val="600"/>
              </a:spcBef>
              <a:spcAft>
                <a:spcPts val="1200"/>
              </a:spcAft>
            </a:pPr>
            <a:endParaRPr lang="en-US" sz="2200" dirty="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162</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the need for and access specialist assistance in IR matters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360000" indent="-360000">
              <a:spcBef>
                <a:spcPts val="600"/>
              </a:spcBef>
              <a:spcAft>
                <a:spcPts val="1200"/>
              </a:spcAft>
            </a:pPr>
            <a:r>
              <a:rPr lang="en-US" sz="2200" dirty="0" smtClean="0">
                <a:latin typeface="Helvetica" pitchFamily="34" charset="0"/>
              </a:rPr>
              <a:t>Workplace/site visits</a:t>
            </a:r>
          </a:p>
          <a:p>
            <a:pPr marL="360000" indent="-360000">
              <a:spcBef>
                <a:spcPts val="600"/>
              </a:spcBef>
              <a:spcAft>
                <a:spcPts val="1200"/>
              </a:spcAft>
            </a:pPr>
            <a:r>
              <a:rPr lang="en-US" sz="2200" dirty="0" smtClean="0">
                <a:latin typeface="Helvetica" pitchFamily="34" charset="0"/>
              </a:rPr>
              <a:t>Online references</a:t>
            </a:r>
            <a:endParaRPr lang="en-US" sz="2200" dirty="0">
              <a:latin typeface="Helvetica" pitchFamily="34" charset="0"/>
            </a:endParaRPr>
          </a:p>
          <a:p>
            <a:pPr marL="0" indent="0">
              <a:spcBef>
                <a:spcPts val="600"/>
              </a:spcBef>
              <a:spcAft>
                <a:spcPts val="1200"/>
              </a:spcAft>
              <a:buNone/>
            </a:pPr>
            <a:r>
              <a:rPr lang="en-US" sz="2200" dirty="0" smtClean="0">
                <a:latin typeface="Helvetica" pitchFamily="34" charset="0"/>
              </a:rPr>
              <a:t>Most government agencies cannot have legal action taken against them for the provision of advice which proves to be incorrect.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4005064"/>
            <a:ext cx="2724126" cy="1816992"/>
          </a:xfrm>
          <a:prstGeom prst="rect">
            <a:avLst/>
          </a:prstGeom>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indent="0">
              <a:spcBef>
                <a:spcPts val="600"/>
              </a:spcBef>
              <a:spcAft>
                <a:spcPts val="1200"/>
              </a:spcAft>
              <a:buNone/>
            </a:pPr>
            <a:r>
              <a:rPr lang="en-US" sz="2200" dirty="0" smtClean="0">
                <a:latin typeface="Helvetica" pitchFamily="34" charset="0"/>
              </a:rPr>
              <a:t>When </a:t>
            </a:r>
            <a:r>
              <a:rPr lang="en-AU" sz="2200" dirty="0" smtClean="0">
                <a:latin typeface="Helvetica" pitchFamily="34" charset="0"/>
              </a:rPr>
              <a:t>implementing formal industrial relations procedures</a:t>
            </a:r>
            <a:r>
              <a:rPr lang="en-US" sz="2200" dirty="0" smtClean="0">
                <a:latin typeface="Helvetica" pitchFamily="34" charset="0"/>
              </a:rPr>
              <a:t>:</a:t>
            </a:r>
          </a:p>
          <a:p>
            <a:pPr lvl="0"/>
            <a:r>
              <a:rPr lang="en-AU" sz="2200" dirty="0" smtClean="0">
                <a:latin typeface="Helvetica" pitchFamily="34" charset="0"/>
              </a:rPr>
              <a:t>Identify, communicate with and involve all stakeholders</a:t>
            </a:r>
          </a:p>
          <a:p>
            <a:pPr lvl="0"/>
            <a:endParaRPr lang="en-AU" sz="2200" dirty="0" smtClean="0">
              <a:latin typeface="Helvetica" pitchFamily="34" charset="0"/>
            </a:endParaRPr>
          </a:p>
          <a:p>
            <a:pPr lvl="0"/>
            <a:r>
              <a:rPr lang="en-AU" sz="2200" dirty="0" smtClean="0">
                <a:latin typeface="Helvetica" pitchFamily="34" charset="0"/>
              </a:rPr>
              <a:t>Create regular opportunities for contact with key players</a:t>
            </a:r>
          </a:p>
          <a:p>
            <a:endParaRPr lang="en-AU" sz="2200" dirty="0" smtClean="0">
              <a:latin typeface="Helvetica" pitchFamily="34" charset="0"/>
            </a:endParaRPr>
          </a:p>
          <a:p>
            <a:r>
              <a:rPr lang="en-AU" sz="2200" dirty="0" smtClean="0">
                <a:latin typeface="Helvetica" pitchFamily="34" charset="0"/>
              </a:rPr>
              <a:t>Allocate sufficient time and effort towards </a:t>
            </a:r>
            <a:br>
              <a:rPr lang="en-AU" sz="2200" dirty="0" smtClean="0">
                <a:latin typeface="Helvetica" pitchFamily="34" charset="0"/>
              </a:rPr>
            </a:br>
            <a:r>
              <a:rPr lang="en-AU" sz="2200" dirty="0" smtClean="0">
                <a:latin typeface="Helvetica" pitchFamily="34" charset="0"/>
              </a:rPr>
              <a:t>this aspect of management</a:t>
            </a:r>
          </a:p>
          <a:p>
            <a:endParaRPr lang="en-AU" sz="2200" dirty="0" smtClean="0">
              <a:latin typeface="Helvetica" pitchFamily="34" charset="0"/>
            </a:endParaRPr>
          </a:p>
          <a:p>
            <a:pPr>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6216" y="3736133"/>
            <a:ext cx="1908628" cy="1565075"/>
          </a:xfrm>
          <a:prstGeom prst="ellipse">
            <a:avLst/>
          </a:prstGeom>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lvl="0"/>
            <a:r>
              <a:rPr lang="en-AU" sz="2200" dirty="0" smtClean="0">
                <a:latin typeface="Helvetica" pitchFamily="34" charset="0"/>
              </a:rPr>
              <a:t>Start from a solid foundation of understanding applicable employment instruments</a:t>
            </a:r>
          </a:p>
          <a:p>
            <a:pPr lvl="0"/>
            <a:endParaRPr lang="en-AU" sz="2200" dirty="0" smtClean="0">
              <a:latin typeface="Helvetica" pitchFamily="34" charset="0"/>
            </a:endParaRPr>
          </a:p>
          <a:p>
            <a:pPr lvl="0"/>
            <a:r>
              <a:rPr lang="en-AU" sz="2200" dirty="0" smtClean="0">
                <a:latin typeface="Helvetica" pitchFamily="34" charset="0"/>
              </a:rPr>
              <a:t>Meet regularly with staff</a:t>
            </a:r>
          </a:p>
          <a:p>
            <a:endParaRPr lang="en-AU" sz="2200" dirty="0" smtClean="0">
              <a:latin typeface="Helvetica" pitchFamily="34" charset="0"/>
            </a:endParaRPr>
          </a:p>
          <a:p>
            <a:r>
              <a:rPr lang="en-AU" sz="2200" dirty="0" smtClean="0">
                <a:latin typeface="Helvetica" pitchFamily="34" charset="0"/>
              </a:rPr>
              <a:t>Prepare a suite of relevant policies and </a:t>
            </a:r>
            <a:br>
              <a:rPr lang="en-AU" sz="2200" dirty="0" smtClean="0">
                <a:latin typeface="Helvetica" pitchFamily="34" charset="0"/>
              </a:rPr>
            </a:br>
            <a:r>
              <a:rPr lang="en-AU" sz="2200" dirty="0" smtClean="0">
                <a:latin typeface="Helvetica" pitchFamily="34" charset="0"/>
              </a:rPr>
              <a:t>procedures to support/enable required </a:t>
            </a:r>
            <a:br>
              <a:rPr lang="en-AU" sz="2200" dirty="0" smtClean="0">
                <a:latin typeface="Helvetica" pitchFamily="34" charset="0"/>
              </a:rPr>
            </a:br>
            <a:r>
              <a:rPr lang="en-AU" sz="2200" dirty="0" smtClean="0">
                <a:latin typeface="Helvetica" pitchFamily="34" charset="0"/>
              </a:rPr>
              <a:t>industrial relations</a:t>
            </a:r>
          </a:p>
          <a:p>
            <a:endParaRPr lang="en-AU" sz="2200" dirty="0" smtClean="0">
              <a:latin typeface="Helvetica" pitchFamily="34" charset="0"/>
            </a:endParaRPr>
          </a:p>
          <a:p>
            <a:pPr>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6216" y="3736133"/>
            <a:ext cx="1908628" cy="1565075"/>
          </a:xfrm>
          <a:prstGeom prst="ellipse">
            <a:avLst/>
          </a:prstGeom>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r>
              <a:rPr lang="en-AU" sz="2200" dirty="0" smtClean="0">
                <a:latin typeface="Helvetica" pitchFamily="34" charset="0"/>
              </a:rPr>
              <a:t>Involve staff in the development of industrial relations protocols and ensure outcomes are communicated and integrated into SOPs</a:t>
            </a:r>
          </a:p>
          <a:p>
            <a:endParaRPr lang="en-AU" sz="2200" dirty="0" smtClean="0">
              <a:latin typeface="Helvetica" pitchFamily="34" charset="0"/>
            </a:endParaRPr>
          </a:p>
          <a:p>
            <a:r>
              <a:rPr lang="en-AU" sz="2200" dirty="0" smtClean="0">
                <a:latin typeface="Helvetica" pitchFamily="34" charset="0"/>
              </a:rPr>
              <a:t>Apply ‘agreed procedures’ equitably without fear or favour to identify and resolve workplace issues</a:t>
            </a:r>
          </a:p>
          <a:p>
            <a:endParaRPr lang="en-AU" sz="2200" dirty="0" smtClean="0">
              <a:latin typeface="Helvetica" pitchFamily="34" charset="0"/>
            </a:endParaRPr>
          </a:p>
          <a:p>
            <a:pPr>
              <a:buNone/>
            </a:pPr>
            <a:endParaRPr lang="en-US" sz="2200" dirty="0" smtClean="0">
              <a:latin typeface="Helvetica" pitchFamily="34" charset="0"/>
            </a:endParaRPr>
          </a:p>
          <a:p>
            <a:pPr>
              <a:buNone/>
            </a:pPr>
            <a:endParaRPr lang="en-US" sz="2200" dirty="0">
              <a:latin typeface="Helvetica" pitchFamily="34" charset="0"/>
            </a:endParaRPr>
          </a:p>
          <a:p>
            <a:pPr>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6216" y="3736133"/>
            <a:ext cx="1908628" cy="1565075"/>
          </a:xfrm>
          <a:prstGeom prst="ellipse">
            <a:avLst/>
          </a:prstGeom>
        </p:spPr>
      </p:pic>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r>
              <a:rPr lang="en-AU" sz="2200" dirty="0" smtClean="0">
                <a:latin typeface="Helvetica" pitchFamily="34" charset="0"/>
              </a:rPr>
              <a:t>Seek to resolve industrial issues promptly and internally</a:t>
            </a:r>
          </a:p>
          <a:p>
            <a:pPr lvl="0"/>
            <a:endParaRPr lang="en-AU" sz="2200" dirty="0" smtClean="0">
              <a:latin typeface="Helvetica" pitchFamily="34" charset="0"/>
            </a:endParaRPr>
          </a:p>
          <a:p>
            <a:pPr lvl="0"/>
            <a:r>
              <a:rPr lang="en-AU" sz="2200" dirty="0" smtClean="0">
                <a:latin typeface="Helvetica" pitchFamily="34" charset="0"/>
              </a:rPr>
              <a:t>Take action to monitor application/implementation of ‘agreed procedures’</a:t>
            </a:r>
          </a:p>
          <a:p>
            <a:endParaRPr lang="en-AU" sz="2200" dirty="0" smtClean="0">
              <a:latin typeface="Helvetica" pitchFamily="34" charset="0"/>
            </a:endParaRPr>
          </a:p>
          <a:p>
            <a:r>
              <a:rPr lang="en-AU" sz="2200" dirty="0" smtClean="0">
                <a:latin typeface="Helvetica" pitchFamily="34" charset="0"/>
              </a:rPr>
              <a:t>Review ‘agreed procedures’ on a regular </a:t>
            </a:r>
            <a:br>
              <a:rPr lang="en-AU" sz="2200" dirty="0" smtClean="0">
                <a:latin typeface="Helvetica" pitchFamily="34" charset="0"/>
              </a:rPr>
            </a:br>
            <a:r>
              <a:rPr lang="en-AU" sz="2200" dirty="0" smtClean="0">
                <a:latin typeface="Helvetica" pitchFamily="34" charset="0"/>
              </a:rPr>
              <a:t>basis</a:t>
            </a:r>
          </a:p>
          <a:p>
            <a:endParaRPr lang="en-AU" sz="2200" dirty="0" smtClean="0">
              <a:latin typeface="Helvetica" pitchFamily="34" charset="0"/>
            </a:endParaRPr>
          </a:p>
          <a:p>
            <a:endParaRPr lang="en-AU" sz="2200" dirty="0" smtClean="0">
              <a:latin typeface="Helvetica" pitchFamily="34" charset="0"/>
            </a:endParaRPr>
          </a:p>
          <a:p>
            <a:pPr>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6216" y="3736133"/>
            <a:ext cx="1908628" cy="1565075"/>
          </a:xfrm>
          <a:prstGeom prst="ellipse">
            <a:avLst/>
          </a:prstGeom>
        </p:spPr>
      </p:pic>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r>
              <a:rPr lang="en-AU" sz="2200" dirty="0" smtClean="0">
                <a:latin typeface="Helvetica" pitchFamily="34" charset="0"/>
              </a:rPr>
              <a:t>Revise ‘agreed procedures’ as necessary</a:t>
            </a:r>
          </a:p>
          <a:p>
            <a:pPr lvl="0"/>
            <a:endParaRPr lang="en-AU" sz="2200" dirty="0" smtClean="0">
              <a:latin typeface="Helvetica" pitchFamily="34" charset="0"/>
            </a:endParaRPr>
          </a:p>
          <a:p>
            <a:pPr lvl="0"/>
            <a:r>
              <a:rPr lang="en-AU" sz="2200" dirty="0" smtClean="0">
                <a:latin typeface="Helvetica" pitchFamily="34" charset="0"/>
              </a:rPr>
              <a:t>Research external IR assistance which is available to the organisation</a:t>
            </a:r>
          </a:p>
          <a:p>
            <a:endParaRPr lang="en-AU" sz="2200" dirty="0" smtClean="0">
              <a:latin typeface="Helvetica" pitchFamily="34" charset="0"/>
            </a:endParaRPr>
          </a:p>
          <a:p>
            <a:r>
              <a:rPr lang="en-AU" sz="2200" dirty="0" smtClean="0">
                <a:latin typeface="Helvetica" pitchFamily="34" charset="0"/>
              </a:rPr>
              <a:t>Use external industrial relations expertise </a:t>
            </a:r>
            <a:br>
              <a:rPr lang="en-AU" sz="2200" dirty="0" smtClean="0">
                <a:latin typeface="Helvetica" pitchFamily="34" charset="0"/>
              </a:rPr>
            </a:br>
            <a:r>
              <a:rPr lang="en-AU" sz="2200" dirty="0" smtClean="0">
                <a:latin typeface="Helvetica" pitchFamily="34" charset="0"/>
              </a:rPr>
              <a:t>as required/necessary</a:t>
            </a:r>
          </a:p>
          <a:p>
            <a:endParaRPr lang="en-AU" sz="2200" dirty="0">
              <a:latin typeface="Helvetica" pitchFamily="34" charset="0"/>
            </a:endParaRPr>
          </a:p>
          <a:p>
            <a:endParaRPr lang="en-AU" sz="2200" dirty="0" smtClean="0">
              <a:latin typeface="Helvetica" pitchFamily="34" charset="0"/>
            </a:endParaRPr>
          </a:p>
          <a:p>
            <a:pPr>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6216" y="3736133"/>
            <a:ext cx="1908628" cy="1565075"/>
          </a:xfrm>
          <a:prstGeom prst="ellipse">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1552</TotalTime>
  <Words>28636</Words>
  <Application>Microsoft Office PowerPoint</Application>
  <PresentationFormat>On-screen Show (4:3)</PresentationFormat>
  <Paragraphs>3196</Paragraphs>
  <Slides>168</Slides>
  <Notes>168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168</vt:i4>
      </vt:variant>
    </vt:vector>
  </HeadingPairs>
  <TitlesOfParts>
    <vt:vector size="174" baseType="lpstr">
      <vt:lpstr>Arial</vt:lpstr>
      <vt:lpstr>Calibri</vt:lpstr>
      <vt:lpstr>Franklin Gothic Book</vt:lpstr>
      <vt:lpstr>Helvetica</vt:lpstr>
      <vt:lpstr>Wingdings 2</vt:lpstr>
      <vt:lpstr>PPT_Tour_operation_&amp;_travel_agencies_template_130214</vt:lpstr>
      <vt:lpstr>Manage and maintain workplace relations</vt:lpstr>
      <vt:lpstr>Manage and maintain workplace relations</vt:lpstr>
      <vt:lpstr>Assessment</vt:lpstr>
      <vt:lpstr>Element 1 – Build a positive industrial relations climate</vt:lpstr>
      <vt:lpstr>Element 1 – Build a positive industrial relations climate</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Provide employees with information on industrial matters likely to affect them</vt:lpstr>
      <vt:lpstr>Identify workplace issues which may cause industrial unrest and take action</vt:lpstr>
      <vt:lpstr>Identify workplace issues which may cause industrial unrest and take action</vt:lpstr>
      <vt:lpstr>Identify workplace issues which may cause industrial unrest and take action</vt:lpstr>
      <vt:lpstr>Identify workplace issues which may cause industrial unrest and take action</vt:lpstr>
      <vt:lpstr>Identify workplace issues which may cause industrial unrest and take action</vt:lpstr>
      <vt:lpstr>Identify workplace issues which may cause industrial unrest and take action</vt:lpstr>
      <vt:lpstr>Identify workplace issues which may cause industrial unrest and take action</vt:lpstr>
      <vt:lpstr>Identify workplace issues which may cause industrial unrest and take action</vt:lpstr>
      <vt:lpstr>Identify workplace issues which may cause industrial unrest and take action</vt:lpstr>
      <vt:lpstr>Identify workplace issues which may cause industrial unrest and take action</vt:lpstr>
      <vt:lpstr>Identify workplace issues which may cause industrial unrest and take action</vt:lpstr>
      <vt:lpstr>Identify workplace issues which may cause industrial unrest and take action</vt:lpstr>
      <vt:lpstr>Identify workplace issues which may cause industrial unrest and take action</vt:lpstr>
      <vt:lpstr>Identify workplace issues which may cause industrial unrest and take action</vt:lpstr>
      <vt:lpstr>Identify causes of industrial unrest in external environments and take action</vt:lpstr>
      <vt:lpstr>Identify causes of industrial unrest in external environments and take action</vt:lpstr>
      <vt:lpstr>Identify causes of industrial unrest in external environments and take action</vt:lpstr>
      <vt:lpstr>Identify causes of industrial unrest in external environments and take action</vt:lpstr>
      <vt:lpstr>Identify causes of industrial unrest in external environments and take action</vt:lpstr>
      <vt:lpstr>Identify causes of industrial unrest in external environments and take action</vt:lpstr>
      <vt:lpstr>Identify causes of industrial unrest in external environments and take action</vt:lpstr>
      <vt:lpstr>Identify causes of industrial unrest in external environments and take action</vt:lpstr>
      <vt:lpstr>Identify causes of industrial unrest in external environments and take action</vt:lpstr>
      <vt:lpstr>Identify causes of industrial unrest in external environments and take action</vt:lpstr>
      <vt:lpstr>Identify causes of industrial unrest in external environments and take action</vt:lpstr>
      <vt:lpstr>Identify causes of industrial unrest in external environments and take action</vt:lpstr>
      <vt:lpstr>Identify causes of industrial unrest in external environments and take action</vt:lpstr>
      <vt:lpstr>Identify causes of industrial unrest in external environments and take action</vt:lpstr>
      <vt:lpstr>Apply conditions of employment in accordance with requirements</vt:lpstr>
      <vt:lpstr>Apply conditions of employment in accordance with requirements</vt:lpstr>
      <vt:lpstr>Apply conditions of employment in accordance with requirements</vt:lpstr>
      <vt:lpstr>Apply conditions of employment in accordance with requirements</vt:lpstr>
      <vt:lpstr>Apply conditions of employment in accordance with requirements</vt:lpstr>
      <vt:lpstr>Apply conditions of employment in accordance with requirements</vt:lpstr>
      <vt:lpstr>Apply conditions of employment in accordance with requirements</vt:lpstr>
      <vt:lpstr>Apply conditions of employment in accordance with requirements</vt:lpstr>
      <vt:lpstr>Apply conditions of employment in accordance with requirements</vt:lpstr>
      <vt:lpstr>Apply conditions of employment in accordance with requirements</vt:lpstr>
      <vt:lpstr>Apply conditions of employment in accordance with requirements</vt:lpstr>
      <vt:lpstr>Apply conditions of employment in accordance with requirements</vt:lpstr>
      <vt:lpstr>Apply conditions of employment in accordance with requirements</vt:lpstr>
      <vt:lpstr>Apply conditions of employment in accordance with requirements</vt:lpstr>
      <vt:lpstr>Implement consulting with staff and facilitating two-way communication</vt:lpstr>
      <vt:lpstr>Implement consulting with staff and facilitating two-way communication</vt:lpstr>
      <vt:lpstr>Implement consulting with staff and facilitating two-way communication</vt:lpstr>
      <vt:lpstr>Implement consulting with staff and facilitating two-way communication</vt:lpstr>
      <vt:lpstr>Implement consulting with staff and facilitating two-way communication</vt:lpstr>
      <vt:lpstr>Implement consulting with staff and facilitating two-way communication</vt:lpstr>
      <vt:lpstr>Implement consulting with staff and facilitating two-way communication</vt:lpstr>
      <vt:lpstr>Implement consulting with staff and facilitating two-way communication</vt:lpstr>
      <vt:lpstr>Implement consulting with staff and facilitating two-way communication</vt:lpstr>
      <vt:lpstr>Implement consulting with staff and facilitating two-way communication</vt:lpstr>
      <vt:lpstr>Implement consulting with staff and facilitating two-way communication</vt:lpstr>
      <vt:lpstr>Implement consulting with staff and facilitating two-way communication</vt:lpstr>
      <vt:lpstr>Implement consulting with staff and facilitating two-way communication</vt:lpstr>
      <vt:lpstr>Implement consulting with staff and facilitating two-way communication</vt:lpstr>
      <vt:lpstr>Implement consulting with staff and facilitating two-way communication</vt:lpstr>
      <vt:lpstr>Implement consulting with staff and facilitating two-way communication</vt:lpstr>
      <vt:lpstr>Ensure induction and training initiatives are used effectively</vt:lpstr>
      <vt:lpstr>Ensure induction and training initiatives are used effectively</vt:lpstr>
      <vt:lpstr>Ensure induction and training initiatives are used effectively</vt:lpstr>
      <vt:lpstr>Ensure induction and training initiatives are used effectively</vt:lpstr>
      <vt:lpstr>Ensure induction and training initiatives are used effectively</vt:lpstr>
      <vt:lpstr>Ensure induction and training initiatives are used effectively</vt:lpstr>
      <vt:lpstr>Ensure induction and training initiatives are used effectively</vt:lpstr>
      <vt:lpstr>Ensure induction and training initiatives are used effectively</vt:lpstr>
      <vt:lpstr>Ensure induction and training initiatives are used effectively</vt:lpstr>
      <vt:lpstr>Ensure induction and training initiatives are used effectively</vt:lpstr>
      <vt:lpstr>Ensure induction and training initiatives are used effectively</vt:lpstr>
      <vt:lpstr>Ensure induction and training initiatives are used effectively</vt:lpstr>
      <vt:lpstr>Ensure induction and training initiatives are used effectively</vt:lpstr>
      <vt:lpstr>Ensure induction and training initiatives are used effectively</vt:lpstr>
      <vt:lpstr>Ensure induction and training initiatives are used effectively</vt:lpstr>
      <vt:lpstr>Ensure induction and training initiatives are used effectively</vt:lpstr>
      <vt:lpstr>Ensure induction and training initiatives are used effectively</vt:lpstr>
      <vt:lpstr>Ensure induction and training initiatives are used effectively</vt:lpstr>
      <vt:lpstr>Ensure induction and training initiatives are used effectively</vt:lpstr>
      <vt:lpstr>Ensure induction and training initiatives are used effectively</vt:lpstr>
      <vt:lpstr>Utilise consultation for resolution of grievances and implementation of new work practices</vt:lpstr>
      <vt:lpstr>Utilise consultation for resolution of grievances and implementation of new work practices</vt:lpstr>
      <vt:lpstr>Utilise consultation for resolution of grievances and implementation of new work practices</vt:lpstr>
      <vt:lpstr>Utilise consultation for resolution of grievances and implementation of new work practices</vt:lpstr>
      <vt:lpstr>Utilise consultation for resolution of grievances and implementation of new work practices</vt:lpstr>
      <vt:lpstr>Utilise consultation for resolution of grievances and implementation of new work practices</vt:lpstr>
      <vt:lpstr>Utilise consultation for resolution of grievances and implementation of new work practices</vt:lpstr>
      <vt:lpstr>Utilise consultation for resolution of grievances and implementation of new work practices</vt:lpstr>
      <vt:lpstr>Summary – Element 1</vt:lpstr>
      <vt:lpstr>Summary – Element 1</vt:lpstr>
      <vt:lpstr>Summary – Element 1</vt:lpstr>
      <vt:lpstr>Summary – Element 1</vt:lpstr>
      <vt:lpstr>Summary – Element 1</vt:lpstr>
      <vt:lpstr>Summary – Element 1</vt:lpstr>
      <vt:lpstr>Element 2 – Implement formal industrial procedures</vt:lpstr>
      <vt:lpstr>Contribute to the development of formal industrial procedures</vt:lpstr>
      <vt:lpstr>Contribute to the development of formal industrial procedures</vt:lpstr>
      <vt:lpstr>Contribute to the development of formal industrial procedures</vt:lpstr>
      <vt:lpstr>Contribute to the development of formal industrial procedures</vt:lpstr>
      <vt:lpstr>Contribute to the development of formal industrial procedures</vt:lpstr>
      <vt:lpstr>Contribute to the development of formal industrial procedures</vt:lpstr>
      <vt:lpstr>Contribute to the development of formal industrial procedures</vt:lpstr>
      <vt:lpstr>Contribute to the development of formal industrial procedures</vt:lpstr>
      <vt:lpstr>Contribute to the development of formal industrial procedures</vt:lpstr>
      <vt:lpstr>Contribute to the development of formal industrial procedures</vt:lpstr>
      <vt:lpstr>Use agreed procedures to resolve employee relations</vt:lpstr>
      <vt:lpstr>Use agreed procedures to resolve employee relations</vt:lpstr>
      <vt:lpstr>Use agreed procedures to resolve employee relations</vt:lpstr>
      <vt:lpstr>Use agreed procedures to resolve employee relations</vt:lpstr>
      <vt:lpstr>Use agreed procedures to resolve employee relations</vt:lpstr>
      <vt:lpstr>Use agreed procedures to resolve employee relations</vt:lpstr>
      <vt:lpstr>Use agreed procedures to resolve employee relations</vt:lpstr>
      <vt:lpstr>Use agreed procedures to resolve employee relations</vt:lpstr>
      <vt:lpstr>Use agreed procedures to resolve employee relations</vt:lpstr>
      <vt:lpstr>Use agreed procedures to resolve employee relations</vt:lpstr>
      <vt:lpstr>Use agreed procedures to resolve employee relations</vt:lpstr>
      <vt:lpstr>Monitor agreed processes and make appropriate adjustments</vt:lpstr>
      <vt:lpstr>Monitor agreed processes and make appropriate adjustments</vt:lpstr>
      <vt:lpstr>Monitor agreed processes and make appropriate adjustments</vt:lpstr>
      <vt:lpstr>Monitor agreed processes and make appropriate adjustments</vt:lpstr>
      <vt:lpstr>Monitor agreed processes and make appropriate adjustments</vt:lpstr>
      <vt:lpstr>Monitor agreed processes and make appropriate adjustments</vt:lpstr>
      <vt:lpstr>Monitor agreed processes and make appropriate adjustments</vt:lpstr>
      <vt:lpstr>Monitor agreed processes and make appropriate adjustments</vt:lpstr>
      <vt:lpstr>Identify the need for and access specialist assistance in IR matters</vt:lpstr>
      <vt:lpstr>Identify the need for and access specialist assistance in IR matters</vt:lpstr>
      <vt:lpstr>Identify the need for and access specialist assistance in IR matters</vt:lpstr>
      <vt:lpstr>Identify the need for and access specialist assistance in IR matters</vt:lpstr>
      <vt:lpstr>Identify the need for and access specialist assistance in IR matters</vt:lpstr>
      <vt:lpstr>Identify the need for and access specialist assistance in IR matters</vt:lpstr>
      <vt:lpstr>Identify the need for and access specialist assistance in IR matters</vt:lpstr>
      <vt:lpstr>Identify the need for and access specialist assistance in IR matters</vt:lpstr>
      <vt:lpstr>Summary – Element 2</vt:lpstr>
      <vt:lpstr>Summary – Element 2</vt:lpstr>
      <vt:lpstr>Summary – Element 2</vt:lpstr>
      <vt:lpstr>Summary – Element 2</vt:lpstr>
      <vt:lpstr>Summary – Element 2</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unit name</dc:title>
  <dc:creator>Kaly Quach</dc:creator>
  <cp:lastModifiedBy>Carla Angelica Co</cp:lastModifiedBy>
  <cp:revision>154</cp:revision>
  <dcterms:created xsi:type="dcterms:W3CDTF">2014-03-20T04:24:05Z</dcterms:created>
  <dcterms:modified xsi:type="dcterms:W3CDTF">2016-07-04T05:58:30Z</dcterms:modified>
</cp:coreProperties>
</file>