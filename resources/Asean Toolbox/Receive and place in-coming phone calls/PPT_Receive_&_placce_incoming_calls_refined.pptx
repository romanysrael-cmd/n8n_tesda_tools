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7"/>
  </p:notesMasterIdLst>
  <p:handoutMasterIdLst>
    <p:handoutMasterId r:id="rId58"/>
  </p:handoutMasterIdLst>
  <p:sldIdLst>
    <p:sldId id="256" r:id="rId2"/>
    <p:sldId id="257" r:id="rId3"/>
    <p:sldId id="258" r:id="rId4"/>
    <p:sldId id="340" r:id="rId5"/>
    <p:sldId id="305" r:id="rId6"/>
    <p:sldId id="297" r:id="rId7"/>
    <p:sldId id="303" r:id="rId8"/>
    <p:sldId id="341" r:id="rId9"/>
    <p:sldId id="306" r:id="rId10"/>
    <p:sldId id="298" r:id="rId11"/>
    <p:sldId id="299" r:id="rId12"/>
    <p:sldId id="300" r:id="rId13"/>
    <p:sldId id="307" r:id="rId14"/>
    <p:sldId id="311" r:id="rId15"/>
    <p:sldId id="308" r:id="rId16"/>
    <p:sldId id="309" r:id="rId17"/>
    <p:sldId id="342" r:id="rId18"/>
    <p:sldId id="310" r:id="rId19"/>
    <p:sldId id="312" r:id="rId20"/>
    <p:sldId id="330" r:id="rId21"/>
    <p:sldId id="337" r:id="rId22"/>
    <p:sldId id="343" r:id="rId23"/>
    <p:sldId id="331" r:id="rId24"/>
    <p:sldId id="313" r:id="rId25"/>
    <p:sldId id="338" r:id="rId26"/>
    <p:sldId id="332" r:id="rId27"/>
    <p:sldId id="353" r:id="rId28"/>
    <p:sldId id="315" r:id="rId29"/>
    <p:sldId id="316" r:id="rId30"/>
    <p:sldId id="345" r:id="rId31"/>
    <p:sldId id="333" r:id="rId32"/>
    <p:sldId id="317" r:id="rId33"/>
    <p:sldId id="346" r:id="rId34"/>
    <p:sldId id="318" r:id="rId35"/>
    <p:sldId id="347" r:id="rId36"/>
    <p:sldId id="319" r:id="rId37"/>
    <p:sldId id="320" r:id="rId38"/>
    <p:sldId id="339" r:id="rId39"/>
    <p:sldId id="348" r:id="rId40"/>
    <p:sldId id="321" r:id="rId41"/>
    <p:sldId id="350" r:id="rId42"/>
    <p:sldId id="349" r:id="rId43"/>
    <p:sldId id="334" r:id="rId44"/>
    <p:sldId id="322" r:id="rId45"/>
    <p:sldId id="351" r:id="rId46"/>
    <p:sldId id="323" r:id="rId47"/>
    <p:sldId id="326" r:id="rId48"/>
    <p:sldId id="336" r:id="rId49"/>
    <p:sldId id="335" r:id="rId50"/>
    <p:sldId id="327" r:id="rId51"/>
    <p:sldId id="328" r:id="rId52"/>
    <p:sldId id="325" r:id="rId53"/>
    <p:sldId id="329" r:id="rId54"/>
    <p:sldId id="352" r:id="rId55"/>
    <p:sldId id="324" r:id="rId5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58971" autoAdjust="0"/>
  </p:normalViewPr>
  <p:slideViewPr>
    <p:cSldViewPr>
      <p:cViewPr>
        <p:scale>
          <a:sx n="70" d="100"/>
          <a:sy n="70" d="100"/>
        </p:scale>
        <p:origin x="-36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1/23/2014</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685693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1/23/2014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303514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u="sng" noProof="0" dirty="0" smtClean="0"/>
              <a:t>Discuss with trainees:</a:t>
            </a:r>
            <a:r>
              <a:rPr lang="en-AU" u="none" baseline="0" noProof="0" dirty="0" smtClean="0"/>
              <a:t>  How does the way you would speak to a customer on the telephone differ to the way you would speak to your friends or family?  How many of you have ever worked in a job where you need to speak to customers on the telephone?  What hints can you share with the rest of the class?</a:t>
            </a:r>
            <a:endParaRPr lang="en-AU" u="sng"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dirty="0" smtClean="0"/>
              <a:t>Class</a:t>
            </a:r>
            <a:r>
              <a:rPr lang="en-AU" b="1" baseline="0" dirty="0" smtClean="0"/>
              <a:t> discussion: </a:t>
            </a:r>
            <a:r>
              <a:rPr lang="en-AU" b="0" baseline="0" dirty="0" smtClean="0"/>
              <a:t>How many of you have a mobile phone?  Make a list of the features available on a mobile phone e.g. camera, speaker phone, call forwarding etc.  Which mobile phone features would also be available on a hotel phone system and how could they be used to improve the hotel’s performance and customer service e.g. message recording.  Is there a place for mobile phones in a hotel – how could they be used to improve efficiency?</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AU" sz="1200" kern="1200" dirty="0" smtClean="0">
                <a:solidFill>
                  <a:schemeClr val="tx1"/>
                </a:solidFill>
                <a:effectLst/>
                <a:latin typeface="+mn-lt"/>
                <a:ea typeface="+mn-ea"/>
                <a:cs typeface="+mn-cs"/>
              </a:rPr>
              <a:t>Since the 1890s telephones have enabled instant contact with hotels for bookings and requests.</a:t>
            </a:r>
          </a:p>
          <a:p>
            <a:pPr marL="171450" indent="-171450">
              <a:buFont typeface="Arial" pitchFamily="34" charset="0"/>
              <a:buChar char="•"/>
            </a:pPr>
            <a:r>
              <a:rPr lang="en-AU" sz="1200" kern="1200" dirty="0" smtClean="0">
                <a:solidFill>
                  <a:schemeClr val="tx1"/>
                </a:solidFill>
                <a:effectLst/>
                <a:latin typeface="+mn-lt"/>
                <a:ea typeface="+mn-ea"/>
                <a:cs typeface="+mn-cs"/>
              </a:rPr>
              <a:t>The telephone plays an important role in communication with a hotel and within a hotel or resort.</a:t>
            </a:r>
          </a:p>
          <a:p>
            <a:pPr marL="171450" indent="-171450">
              <a:buFont typeface="Arial" pitchFamily="34" charset="0"/>
              <a:buChar char="•"/>
            </a:pPr>
            <a:r>
              <a:rPr lang="en-AU" sz="1200" kern="1200" dirty="0" smtClean="0">
                <a:solidFill>
                  <a:schemeClr val="tx1"/>
                </a:solidFill>
                <a:effectLst/>
                <a:latin typeface="+mn-lt"/>
                <a:ea typeface="+mn-ea"/>
                <a:cs typeface="+mn-cs"/>
              </a:rPr>
              <a:t>Incoming calls by landline and contact via mobile or cell phone,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including smart phones with internet linkage,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make up a high percentage of guest contact with a hotel or resort.</a:t>
            </a:r>
          </a:p>
          <a:p>
            <a:pPr marL="171450" indent="-171450">
              <a:buFont typeface="Arial" pitchFamily="34" charset="0"/>
              <a:buChar char="•"/>
            </a:pPr>
            <a:r>
              <a:rPr lang="en-AU" sz="1200" kern="1200" dirty="0" smtClean="0">
                <a:solidFill>
                  <a:schemeClr val="tx1"/>
                </a:solidFill>
                <a:effectLst/>
                <a:latin typeface="+mn-lt"/>
                <a:ea typeface="+mn-ea"/>
                <a:cs typeface="+mn-cs"/>
              </a:rPr>
              <a:t>The primary role of a receptionist or telephonist in a hotel or resort is to answer all incoming calls.</a:t>
            </a:r>
          </a:p>
          <a:p>
            <a:pPr marL="171450" indent="-171450">
              <a:buFont typeface="Arial" pitchFamily="34" charset="0"/>
              <a:buChar char="•"/>
            </a:pPr>
            <a:r>
              <a:rPr lang="en-AU" sz="1200" kern="1200" dirty="0" smtClean="0">
                <a:solidFill>
                  <a:schemeClr val="tx1"/>
                </a:solidFill>
                <a:effectLst/>
                <a:latin typeface="+mn-lt"/>
                <a:ea typeface="+mn-ea"/>
                <a:cs typeface="+mn-cs"/>
              </a:rPr>
              <a:t>Incoming calls could be from external locations or in-house guests needing assistance or asking questions or staff contacting departments</a:t>
            </a:r>
            <a:r>
              <a:rPr lang="en-AU" sz="1200" kern="1200" dirty="0" smtClean="0">
                <a:solidFill>
                  <a:schemeClr val="tx1"/>
                </a:solidFill>
                <a:effectLst/>
                <a:latin typeface="+mn-lt"/>
                <a:ea typeface="+mn-ea"/>
                <a:cs typeface="+mn-cs"/>
              </a:rPr>
              <a:t>.</a:t>
            </a:r>
          </a:p>
          <a:p>
            <a:pPr marL="171450" indent="-171450">
              <a:buFont typeface="Arial" pitchFamily="34" charset="0"/>
              <a:buChar char="•"/>
            </a:pPr>
            <a:r>
              <a:rPr lang="en-AU" sz="1200" kern="1200" dirty="0" smtClean="0">
                <a:solidFill>
                  <a:schemeClr val="tx1"/>
                </a:solidFill>
                <a:effectLst/>
                <a:latin typeface="+mn-lt"/>
                <a:ea typeface="+mn-ea"/>
                <a:cs typeface="+mn-cs"/>
              </a:rPr>
              <a:t>What are the types of incoming calls?</a:t>
            </a:r>
            <a:endParaRPr lang="en-AU" sz="1200" kern="1200" dirty="0" smtClean="0">
              <a:solidFill>
                <a:schemeClr val="tx1"/>
              </a:solidFill>
              <a:effectLst/>
              <a:latin typeface="+mn-lt"/>
              <a:ea typeface="+mn-ea"/>
              <a:cs typeface="+mn-cs"/>
            </a:endParaRPr>
          </a:p>
          <a:p>
            <a:pPr marL="360000" indent="-360000">
              <a:spcBef>
                <a:spcPts val="600"/>
              </a:spcBef>
              <a:spcAft>
                <a:spcPts val="1200"/>
              </a:spcAft>
            </a:pPr>
            <a:r>
              <a:rPr lang="en-US" sz="1200" b="1" dirty="0" smtClean="0">
                <a:latin typeface="Helvetica" pitchFamily="34" charset="0"/>
              </a:rPr>
              <a:t>Class </a:t>
            </a:r>
            <a:r>
              <a:rPr lang="en-US" sz="1200" b="1" dirty="0" smtClean="0">
                <a:latin typeface="Helvetica" pitchFamily="34" charset="0"/>
              </a:rPr>
              <a:t>buzz session.</a:t>
            </a:r>
          </a:p>
          <a:p>
            <a:pPr marL="360000" indent="-360000">
              <a:spcBef>
                <a:spcPts val="600"/>
              </a:spcBef>
              <a:spcAft>
                <a:spcPts val="1200"/>
              </a:spcAft>
            </a:pPr>
            <a:r>
              <a:rPr lang="en-US" sz="1200" dirty="0" smtClean="0">
                <a:latin typeface="Helvetica" pitchFamily="34" charset="0"/>
              </a:rPr>
              <a:t>Looking at a hotel and its location list as many examples of incoming calls as the class can think of</a:t>
            </a:r>
            <a:r>
              <a:rPr lang="en-US" sz="1200" baseline="0" dirty="0" smtClean="0">
                <a:latin typeface="Helvetica" pitchFamily="34" charset="0"/>
              </a:rPr>
              <a:t> e.g. s</a:t>
            </a:r>
            <a:r>
              <a:rPr lang="en-US" sz="1200" dirty="0" smtClean="0">
                <a:latin typeface="Helvetica" pitchFamily="34" charset="0"/>
              </a:rPr>
              <a:t>uppliers, contact for orders, new product, questions</a:t>
            </a:r>
            <a:r>
              <a:rPr lang="en-US" sz="1200" baseline="0" dirty="0" smtClean="0">
                <a:latin typeface="Helvetica" pitchFamily="34" charset="0"/>
              </a:rPr>
              <a:t> about orders that have been placed by the hotel etc. customer feedback etc.</a:t>
            </a:r>
          </a:p>
          <a:p>
            <a:pPr marL="360000" indent="-360000">
              <a:spcBef>
                <a:spcPts val="600"/>
              </a:spcBef>
              <a:spcAft>
                <a:spcPts val="1200"/>
              </a:spcAft>
            </a:pPr>
            <a:endParaRPr lang="en-US" sz="1200" baseline="0" dirty="0" smtClean="0">
              <a:latin typeface="Helvetica" pitchFamily="34" charset="0"/>
            </a:endParaRPr>
          </a:p>
          <a:p>
            <a:pPr marL="360000" indent="-360000">
              <a:spcBef>
                <a:spcPts val="600"/>
              </a:spcBef>
              <a:spcAft>
                <a:spcPts val="1200"/>
              </a:spcAft>
            </a:pPr>
            <a:r>
              <a:rPr lang="en-US" sz="1200" baseline="0" dirty="0" smtClean="0">
                <a:latin typeface="Helvetica" pitchFamily="34" charset="0"/>
              </a:rPr>
              <a:t>Complaints made may relate to service (too slow, not respectful), about rooms, bed comfort, bathroom cleanliness, access to pool, gym, activities etc.</a:t>
            </a:r>
          </a:p>
          <a:p>
            <a:pPr marL="360000" indent="-360000">
              <a:spcBef>
                <a:spcPts val="600"/>
              </a:spcBef>
              <a:spcAft>
                <a:spcPts val="1200"/>
              </a:spcAft>
            </a:pPr>
            <a:endParaRPr lang="en-US" sz="1200" dirty="0" smtClean="0">
              <a:latin typeface="Helvetica" pitchFamily="34" charset="0"/>
            </a:endParaRPr>
          </a:p>
          <a:p>
            <a:pPr>
              <a:buFont typeface="Arial" pitchFamily="34" charset="0"/>
              <a:buChar char="•"/>
            </a:pPr>
            <a:endParaRPr lang="en-US" dirty="0" smtClean="0"/>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dirty="0" smtClean="0"/>
              <a:t>Role play:  </a:t>
            </a:r>
            <a:r>
              <a:rPr lang="en-AU" b="0" dirty="0" smtClean="0"/>
              <a:t>Trainees</a:t>
            </a:r>
            <a:r>
              <a:rPr lang="en-AU" b="0" baseline="0" dirty="0" smtClean="0"/>
              <a:t> work in pairs to practice the roles of customers and reception staff making and receiving calls.  If trainees are not confident to do this immediately they can spend some time writing up a dialogue that they can then perform with each other and then perhaps for the whole class group.  When performing the role with each other trainees can sit back to back on chairs and pretend to be on the phone.  Otherwise they can make real calls with their mobile phones and put it on speaker phone if the demonstration is being done for the whole class. </a:t>
            </a:r>
          </a:p>
          <a:p>
            <a:pPr>
              <a:buFont typeface="Arial" pitchFamily="34" charset="0"/>
              <a:buNone/>
            </a:pPr>
            <a:endParaRPr lang="en-AU" b="0" baseline="0" dirty="0" smtClean="0"/>
          </a:p>
          <a:p>
            <a:pPr>
              <a:buFont typeface="Arial" pitchFamily="34" charset="0"/>
              <a:buNone/>
            </a:pPr>
            <a:r>
              <a:rPr lang="en-AU" b="0" baseline="0" dirty="0" smtClean="0"/>
              <a:t>Trainees need to act their roles carefully – the Customer needs to complain strongly or at least be clear about what they want and the hotel reception staff member needs to display the qualities of helpfulness, being positive, informed, tactful and polite.</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mn-lt"/>
                <a:ea typeface="+mn-ea"/>
                <a:cs typeface="+mn-cs"/>
              </a:rPr>
              <a:t>A Landline telephone system is connected by solid wires or fibre</a:t>
            </a:r>
            <a:r>
              <a:rPr lang="en-AU" sz="1200" kern="1200" baseline="0" dirty="0" smtClean="0">
                <a:solidFill>
                  <a:schemeClr val="tx1"/>
                </a:solidFill>
                <a:effectLst/>
                <a:latin typeface="+mn-lt"/>
                <a:ea typeface="+mn-ea"/>
                <a:cs typeface="+mn-cs"/>
              </a:rPr>
              <a:t> optic</a:t>
            </a:r>
            <a:r>
              <a:rPr lang="en-AU" sz="1200" kern="1200" dirty="0" smtClean="0">
                <a:solidFill>
                  <a:schemeClr val="tx1"/>
                </a:solidFill>
                <a:effectLst/>
                <a:latin typeface="+mn-lt"/>
                <a:ea typeface="+mn-ea"/>
                <a:cs typeface="+mn-cs"/>
              </a:rPr>
              <a:t> cable, tangible and visible, from one location to another.</a:t>
            </a:r>
          </a:p>
          <a:p>
            <a:pPr>
              <a:buFont typeface="Arial" pitchFamily="34" charset="0"/>
              <a:buChar char="•"/>
            </a:pPr>
            <a:r>
              <a:rPr lang="en-AU" sz="1200" kern="1200" dirty="0" smtClean="0">
                <a:solidFill>
                  <a:schemeClr val="tx1"/>
                </a:solidFill>
                <a:effectLst/>
                <a:latin typeface="+mn-lt"/>
                <a:ea typeface="+mn-ea"/>
                <a:cs typeface="+mn-cs"/>
              </a:rPr>
              <a:t>Mobile or cellular phones make and receive calls using radio link or wireless connection.</a:t>
            </a:r>
          </a:p>
          <a:p>
            <a:pPr>
              <a:buFont typeface="Arial" pitchFamily="34" charset="0"/>
              <a:buChar char="•"/>
            </a:pPr>
            <a:r>
              <a:rPr lang="en-AU" sz="1200" kern="1200" dirty="0" smtClean="0">
                <a:solidFill>
                  <a:schemeClr val="tx1"/>
                </a:solidFill>
                <a:effectLst/>
                <a:latin typeface="+mn-lt"/>
                <a:ea typeface="+mn-ea"/>
                <a:cs typeface="+mn-cs"/>
              </a:rPr>
              <a:t>A paging system offers discrete and immediate communication for staff. </a:t>
            </a:r>
          </a:p>
          <a:p>
            <a:pPr>
              <a:buFont typeface="Arial" pitchFamily="34" charset="0"/>
              <a:buChar char="•"/>
            </a:pPr>
            <a:r>
              <a:rPr lang="en-AU" sz="1200" kern="1200" dirty="0" smtClean="0">
                <a:solidFill>
                  <a:schemeClr val="tx1"/>
                </a:solidFill>
                <a:effectLst/>
                <a:latin typeface="+mn-lt"/>
                <a:ea typeface="+mn-ea"/>
                <a:cs typeface="+mn-cs"/>
              </a:rPr>
              <a:t>Paging systems and mobile phones allow staff to work in operational areas and still be able to respond quickly to requests. </a:t>
            </a:r>
          </a:p>
          <a:p>
            <a:pPr>
              <a:buFont typeface="Arial" pitchFamily="34" charset="0"/>
              <a:buChar char="•"/>
            </a:pPr>
            <a:r>
              <a:rPr lang="en-AU" sz="1200" kern="1200" dirty="0" smtClean="0">
                <a:solidFill>
                  <a:schemeClr val="tx1"/>
                </a:solidFill>
                <a:effectLst/>
                <a:latin typeface="+mn-lt"/>
                <a:ea typeface="+mn-ea"/>
                <a:cs typeface="+mn-cs"/>
              </a:rPr>
              <a:t>A switchboard is a piece of equipment that enables a hotel or resort to connect all the telephone lines and extensions used.</a:t>
            </a:r>
          </a:p>
          <a:p>
            <a:pPr>
              <a:buFont typeface="Arial" pitchFamily="34" charset="0"/>
              <a:buChar char="•"/>
            </a:pPr>
            <a:r>
              <a:rPr lang="en-AU" sz="1200" kern="1200" dirty="0" smtClean="0">
                <a:solidFill>
                  <a:schemeClr val="tx1"/>
                </a:solidFill>
                <a:effectLst/>
                <a:latin typeface="+mn-lt"/>
                <a:ea typeface="+mn-ea"/>
                <a:cs typeface="+mn-cs"/>
              </a:rPr>
              <a:t>The handset is the part of the telephone which the user</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holds to their ear. Handsets are often referred to as receivers.</a:t>
            </a:r>
          </a:p>
          <a:p>
            <a:pPr>
              <a:buFont typeface="Arial" pitchFamily="34" charset="0"/>
              <a:buChar char="•"/>
            </a:pPr>
            <a:r>
              <a:rPr lang="en-AU" sz="1200" kern="1200" dirty="0" smtClean="0">
                <a:solidFill>
                  <a:schemeClr val="tx1"/>
                </a:solidFill>
                <a:effectLst/>
                <a:latin typeface="+mn-lt"/>
                <a:ea typeface="+mn-ea"/>
                <a:cs typeface="+mn-cs"/>
              </a:rPr>
              <a:t>Headsets fit over the head and enable hands free action which permits the operator to take notes or operate a computer while taking a telephone call.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ffectLst/>
                <a:latin typeface="+mn-lt"/>
                <a:ea typeface="+mn-ea"/>
                <a:cs typeface="+mn-cs"/>
              </a:rPr>
              <a:t>VoIP telephones use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the internet to link and are rapidly increasing in usage, overtaking the traditional telephone network. The VoIP system enables notification of calls via email or text.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The telephone system has a number of features and functions such</a:t>
            </a:r>
            <a:r>
              <a:rPr lang="en-AU" sz="1200" kern="1200" baseline="0" dirty="0" smtClean="0">
                <a:solidFill>
                  <a:schemeClr val="tx1"/>
                </a:solidFill>
                <a:effectLst/>
                <a:latin typeface="+mn-lt"/>
                <a:ea typeface="+mn-ea"/>
                <a:cs typeface="+mn-cs"/>
              </a:rPr>
              <a:t> as:</a:t>
            </a:r>
          </a:p>
          <a:p>
            <a:pPr>
              <a:buFont typeface="Arial" pitchFamily="34" charset="0"/>
              <a:buChar char="•"/>
            </a:pPr>
            <a:r>
              <a:rPr lang="en-AU" sz="1200" kern="1200" dirty="0" smtClean="0">
                <a:solidFill>
                  <a:schemeClr val="tx1"/>
                </a:solidFill>
                <a:effectLst/>
                <a:latin typeface="+mn-lt"/>
                <a:ea typeface="+mn-ea"/>
                <a:cs typeface="+mn-cs"/>
              </a:rPr>
              <a:t>   the facility to place calls on hold or transfer calls</a:t>
            </a:r>
          </a:p>
          <a:p>
            <a:pPr marL="171450" indent="-171450">
              <a:buFont typeface="Arial" pitchFamily="34" charset="0"/>
              <a:buChar char="•"/>
            </a:pPr>
            <a:r>
              <a:rPr lang="en-AU" sz="1200" kern="1200" dirty="0" smtClean="0">
                <a:solidFill>
                  <a:schemeClr val="tx1"/>
                </a:solidFill>
                <a:effectLst/>
                <a:latin typeface="+mn-lt"/>
                <a:ea typeface="+mn-ea"/>
                <a:cs typeface="+mn-cs"/>
              </a:rPr>
              <a:t>to record messages</a:t>
            </a:r>
            <a:r>
              <a:rPr lang="en-AU" sz="1200" kern="1200" baseline="0" dirty="0" smtClean="0">
                <a:solidFill>
                  <a:schemeClr val="tx1"/>
                </a:solidFill>
                <a:effectLst/>
                <a:latin typeface="+mn-lt"/>
                <a:ea typeface="+mn-ea"/>
                <a:cs typeface="+mn-cs"/>
              </a:rPr>
              <a:t> electronically or use voicemail</a:t>
            </a:r>
            <a:endParaRPr lang="en-AU" sz="1200" kern="1200" dirty="0" smtClean="0">
              <a:solidFill>
                <a:schemeClr val="tx1"/>
              </a:solidFill>
              <a:effectLst/>
              <a:latin typeface="+mn-lt"/>
              <a:ea typeface="+mn-ea"/>
              <a:cs typeface="+mn-cs"/>
            </a:endParaRPr>
          </a:p>
          <a:p>
            <a:pPr marL="171450" indent="-171450">
              <a:buFont typeface="Arial" pitchFamily="34" charset="0"/>
              <a:buChar char="•"/>
            </a:pPr>
            <a:r>
              <a:rPr lang="en-AU" sz="1200" kern="1200" dirty="0" smtClean="0">
                <a:solidFill>
                  <a:schemeClr val="tx1"/>
                </a:solidFill>
                <a:effectLst/>
                <a:latin typeface="+mn-lt"/>
                <a:ea typeface="+mn-ea"/>
                <a:cs typeface="+mn-cs"/>
              </a:rPr>
              <a:t>message or text transmission</a:t>
            </a:r>
          </a:p>
          <a:p>
            <a:pPr marL="171450" indent="-171450">
              <a:buFont typeface="Arial" pitchFamily="34" charset="0"/>
              <a:buChar char="•"/>
            </a:pPr>
            <a:endParaRPr lang="en-AU" sz="1200" kern="1200" baseline="0" dirty="0" smtClean="0">
              <a:solidFill>
                <a:schemeClr val="tx1"/>
              </a:solidFill>
              <a:effectLst/>
              <a:latin typeface="+mn-lt"/>
              <a:ea typeface="+mn-ea"/>
              <a:cs typeface="+mn-cs"/>
            </a:endParaRPr>
          </a:p>
          <a:p>
            <a:pPr marL="171450" indent="-171450">
              <a:buFont typeface="Arial" pitchFamily="34" charset="0"/>
              <a:buNone/>
            </a:pPr>
            <a:r>
              <a:rPr lang="en-AU" sz="1200" kern="1200" baseline="0" dirty="0" smtClean="0">
                <a:solidFill>
                  <a:schemeClr val="tx1"/>
                </a:solidFill>
                <a:effectLst/>
                <a:latin typeface="+mn-lt"/>
                <a:ea typeface="+mn-ea"/>
                <a:cs typeface="+mn-cs"/>
              </a:rPr>
              <a:t>How would these features be used in practice to improve communication?</a:t>
            </a:r>
          </a:p>
          <a:p>
            <a:pPr marL="171450" indent="-171450">
              <a:buFont typeface="Arial" pitchFamily="34" charset="0"/>
              <a:buChar char="•"/>
            </a:pP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The telephone system has a number of features and functions such</a:t>
            </a:r>
            <a:r>
              <a:rPr lang="en-AU" sz="1200" kern="1200" baseline="0" dirty="0" smtClean="0">
                <a:solidFill>
                  <a:schemeClr val="tx1"/>
                </a:solidFill>
                <a:effectLst/>
                <a:latin typeface="+mn-lt"/>
                <a:ea typeface="+mn-ea"/>
                <a:cs typeface="+mn-cs"/>
              </a:rPr>
              <a:t> as:</a:t>
            </a:r>
          </a:p>
          <a:p>
            <a:pPr marL="171450" indent="-171450">
              <a:buFont typeface="Arial" pitchFamily="34" charset="0"/>
              <a:buChar char="•"/>
            </a:pPr>
            <a:r>
              <a:rPr lang="en-AU" sz="1200" kern="1200" dirty="0" smtClean="0">
                <a:solidFill>
                  <a:schemeClr val="tx1"/>
                </a:solidFill>
                <a:effectLst/>
                <a:latin typeface="+mn-lt"/>
                <a:ea typeface="+mn-ea"/>
                <a:cs typeface="+mn-cs"/>
              </a:rPr>
              <a:t>notification of missed calls or busy numbers not answered </a:t>
            </a:r>
          </a:p>
          <a:p>
            <a:pPr marL="171450" indent="-171450">
              <a:buFont typeface="Arial" pitchFamily="34" charset="0"/>
              <a:buChar char="•"/>
            </a:pPr>
            <a:r>
              <a:rPr lang="en-AU" sz="1200" kern="1200" dirty="0" smtClean="0">
                <a:solidFill>
                  <a:schemeClr val="tx1"/>
                </a:solidFill>
                <a:effectLst/>
                <a:latin typeface="+mn-lt"/>
                <a:ea typeface="+mn-ea"/>
                <a:cs typeface="+mn-cs"/>
              </a:rPr>
              <a:t>call diversion</a:t>
            </a:r>
            <a:r>
              <a:rPr lang="en-AU" sz="1200" kern="1200" baseline="0" dirty="0" smtClean="0">
                <a:solidFill>
                  <a:schemeClr val="tx1"/>
                </a:solidFill>
                <a:effectLst/>
                <a:latin typeface="+mn-lt"/>
                <a:ea typeface="+mn-ea"/>
                <a:cs typeface="+mn-cs"/>
              </a:rPr>
              <a:t> and call blocking  </a:t>
            </a:r>
            <a:endParaRPr lang="en-AU" sz="1200" kern="1200" dirty="0" smtClean="0">
              <a:solidFill>
                <a:schemeClr val="tx1"/>
              </a:solidFill>
              <a:effectLst/>
              <a:latin typeface="+mn-lt"/>
              <a:ea typeface="+mn-ea"/>
              <a:cs typeface="+mn-cs"/>
            </a:endParaRPr>
          </a:p>
          <a:p>
            <a:pPr marL="171450" indent="-171450">
              <a:buFont typeface="Arial" pitchFamily="34" charset="0"/>
              <a:buChar char="•"/>
            </a:pPr>
            <a:r>
              <a:rPr lang="en-AU" sz="1200" kern="1200" dirty="0" smtClean="0">
                <a:solidFill>
                  <a:schemeClr val="tx1"/>
                </a:solidFill>
                <a:effectLst/>
                <a:latin typeface="+mn-lt"/>
                <a:ea typeface="+mn-ea"/>
                <a:cs typeface="+mn-cs"/>
              </a:rPr>
              <a:t>caller</a:t>
            </a:r>
            <a:r>
              <a:rPr lang="en-AU" sz="1200" kern="1200" baseline="0" dirty="0" smtClean="0">
                <a:solidFill>
                  <a:schemeClr val="tx1"/>
                </a:solidFill>
                <a:effectLst/>
                <a:latin typeface="+mn-lt"/>
                <a:ea typeface="+mn-ea"/>
                <a:cs typeface="+mn-cs"/>
              </a:rPr>
              <a:t> identification</a:t>
            </a:r>
          </a:p>
          <a:p>
            <a:pPr marL="171450" indent="-171450">
              <a:buFont typeface="Arial" pitchFamily="34" charset="0"/>
              <a:buChar char="•"/>
            </a:pPr>
            <a:endParaRPr lang="en-AU" sz="1200" kern="1200" baseline="0" dirty="0" smtClean="0">
              <a:solidFill>
                <a:schemeClr val="tx1"/>
              </a:solidFill>
              <a:effectLst/>
              <a:latin typeface="+mn-lt"/>
              <a:ea typeface="+mn-ea"/>
              <a:cs typeface="+mn-cs"/>
            </a:endParaRPr>
          </a:p>
          <a:p>
            <a:pPr marL="171450" indent="-171450">
              <a:buFont typeface="Arial" pitchFamily="34" charset="0"/>
              <a:buNone/>
            </a:pPr>
            <a:r>
              <a:rPr lang="en-AU" sz="1200" kern="1200" baseline="0" dirty="0" smtClean="0">
                <a:solidFill>
                  <a:schemeClr val="tx1"/>
                </a:solidFill>
                <a:effectLst/>
                <a:latin typeface="+mn-lt"/>
                <a:ea typeface="+mn-ea"/>
                <a:cs typeface="+mn-cs"/>
              </a:rPr>
              <a:t>How would these features be used in practice to improve communication?</a:t>
            </a:r>
          </a:p>
          <a:p>
            <a:pPr marL="171450" indent="-171450">
              <a:buFont typeface="Arial" pitchFamily="34" charset="0"/>
              <a:buChar char="•"/>
            </a:pP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200" kern="1200" dirty="0" smtClean="0">
                <a:solidFill>
                  <a:schemeClr val="tx1"/>
                </a:solidFill>
                <a:effectLst/>
                <a:latin typeface="+mn-lt"/>
                <a:ea typeface="+mn-ea"/>
                <a:cs typeface="+mn-cs"/>
              </a:rPr>
              <a:t>Switchboard</a:t>
            </a:r>
          </a:p>
          <a:p>
            <a:pPr lvl="0">
              <a:buFont typeface="Arial" pitchFamily="34" charset="0"/>
              <a:buChar char="•"/>
            </a:pPr>
            <a:r>
              <a:rPr lang="en-AU" sz="1200" kern="1200" dirty="0" smtClean="0">
                <a:solidFill>
                  <a:schemeClr val="tx1"/>
                </a:solidFill>
                <a:effectLst/>
                <a:latin typeface="+mn-lt"/>
                <a:ea typeface="+mn-ea"/>
                <a:cs typeface="+mn-cs"/>
              </a:rPr>
              <a:t>Multiple extensions</a:t>
            </a:r>
          </a:p>
          <a:p>
            <a:pPr lvl="0">
              <a:buFont typeface="Arial" pitchFamily="34" charset="0"/>
              <a:buChar char="•"/>
            </a:pPr>
            <a:r>
              <a:rPr lang="en-AU" sz="1200" kern="1200" dirty="0" smtClean="0">
                <a:solidFill>
                  <a:schemeClr val="tx1"/>
                </a:solidFill>
                <a:effectLst/>
                <a:latin typeface="+mn-lt"/>
                <a:ea typeface="+mn-ea"/>
                <a:cs typeface="+mn-cs"/>
              </a:rPr>
              <a:t>Multiple lines</a:t>
            </a:r>
          </a:p>
          <a:p>
            <a:pPr lvl="0">
              <a:buFont typeface="Arial" pitchFamily="34" charset="0"/>
              <a:buChar char="•"/>
            </a:pPr>
            <a:r>
              <a:rPr lang="en-AU" sz="1200" kern="1200" dirty="0" smtClean="0">
                <a:solidFill>
                  <a:schemeClr val="tx1"/>
                </a:solidFill>
                <a:effectLst/>
                <a:latin typeface="+mn-lt"/>
                <a:ea typeface="+mn-ea"/>
                <a:cs typeface="+mn-cs"/>
              </a:rPr>
              <a:t>Computer interface</a:t>
            </a:r>
          </a:p>
          <a:p>
            <a:pPr lvl="0">
              <a:buFont typeface="Arial" pitchFamily="34" charset="0"/>
              <a:buChar char="•"/>
            </a:pPr>
            <a:r>
              <a:rPr lang="en-AU" sz="1200" kern="1200" dirty="0" smtClean="0">
                <a:solidFill>
                  <a:schemeClr val="tx1"/>
                </a:solidFill>
                <a:effectLst/>
                <a:latin typeface="+mn-lt"/>
                <a:ea typeface="+mn-ea"/>
                <a:cs typeface="+mn-cs"/>
              </a:rPr>
              <a:t>Monitor all incoming and outgoing calls</a:t>
            </a:r>
          </a:p>
          <a:p>
            <a:pPr lvl="0">
              <a:buFont typeface="Arial" pitchFamily="34" charset="0"/>
              <a:buChar char="•"/>
            </a:pPr>
            <a:r>
              <a:rPr lang="en-AU" sz="1200" kern="1200" dirty="0" smtClean="0">
                <a:solidFill>
                  <a:schemeClr val="tx1"/>
                </a:solidFill>
                <a:effectLst/>
                <a:latin typeface="+mn-lt"/>
                <a:ea typeface="+mn-ea"/>
                <a:cs typeface="+mn-cs"/>
              </a:rPr>
              <a:t>Timed calls</a:t>
            </a:r>
          </a:p>
          <a:p>
            <a:pPr lvl="0">
              <a:buFont typeface="Arial" pitchFamily="34" charset="0"/>
              <a:buChar char="•"/>
            </a:pPr>
            <a:r>
              <a:rPr lang="en-AU" sz="1200" kern="1200" dirty="0" smtClean="0">
                <a:solidFill>
                  <a:schemeClr val="tx1"/>
                </a:solidFill>
                <a:effectLst/>
                <a:latin typeface="+mn-lt"/>
                <a:ea typeface="+mn-ea"/>
                <a:cs typeface="+mn-cs"/>
              </a:rPr>
              <a:t>Fax &amp;</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Internet access (in-room)</a:t>
            </a:r>
          </a:p>
          <a:p>
            <a:pPr lvl="0">
              <a:buFont typeface="Arial" pitchFamily="34" charset="0"/>
              <a:buChar char="•"/>
            </a:pPr>
            <a:r>
              <a:rPr lang="en-AU" sz="1200" kern="1200" dirty="0" smtClean="0">
                <a:solidFill>
                  <a:schemeClr val="tx1"/>
                </a:solidFill>
                <a:effectLst/>
                <a:latin typeface="+mn-lt"/>
                <a:ea typeface="+mn-ea"/>
                <a:cs typeface="+mn-cs"/>
              </a:rPr>
              <a:t>Email access (in-room)</a:t>
            </a:r>
          </a:p>
          <a:p>
            <a:pPr lvl="0">
              <a:buFont typeface="Arial" pitchFamily="34" charset="0"/>
              <a:buChar char="•"/>
            </a:pPr>
            <a:r>
              <a:rPr lang="en-AU" sz="1200" kern="1200" dirty="0" smtClean="0">
                <a:solidFill>
                  <a:schemeClr val="tx1"/>
                </a:solidFill>
                <a:effectLst/>
                <a:latin typeface="+mn-lt"/>
                <a:ea typeface="+mn-ea"/>
                <a:cs typeface="+mn-cs"/>
              </a:rPr>
              <a:t>Single telephone line</a:t>
            </a:r>
          </a:p>
          <a:p>
            <a:pPr lvl="0">
              <a:buFont typeface="Arial" pitchFamily="34" charset="0"/>
              <a:buChar char="•"/>
            </a:pPr>
            <a:r>
              <a:rPr lang="en-AU" sz="1200" kern="1200" dirty="0" smtClean="0">
                <a:solidFill>
                  <a:schemeClr val="tx1"/>
                </a:solidFill>
                <a:effectLst/>
                <a:latin typeface="+mn-lt"/>
                <a:ea typeface="+mn-ea"/>
                <a:cs typeface="+mn-cs"/>
              </a:rPr>
              <a:t>Fax access (Venue use only. May be separate number</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to telephone)</a:t>
            </a:r>
          </a:p>
          <a:p>
            <a:pPr lvl="0">
              <a:buFont typeface="Arial" pitchFamily="34" charset="0"/>
              <a:buChar char="•"/>
            </a:pPr>
            <a:r>
              <a:rPr lang="en-AU" sz="1200" kern="1200" dirty="0" smtClean="0">
                <a:solidFill>
                  <a:schemeClr val="tx1"/>
                </a:solidFill>
                <a:effectLst/>
                <a:latin typeface="+mn-lt"/>
                <a:ea typeface="+mn-ea"/>
                <a:cs typeface="+mn-cs"/>
              </a:rPr>
              <a:t>Telephone </a:t>
            </a:r>
          </a:p>
          <a:p>
            <a:pPr lvl="0">
              <a:buFont typeface="Arial" pitchFamily="34" charset="0"/>
              <a:buChar char="•"/>
            </a:pPr>
            <a:r>
              <a:rPr lang="en-AU" sz="1200" kern="1200" dirty="0" smtClean="0">
                <a:solidFill>
                  <a:schemeClr val="tx1"/>
                </a:solidFill>
                <a:effectLst/>
                <a:latin typeface="+mn-lt"/>
                <a:ea typeface="+mn-ea"/>
                <a:cs typeface="+mn-cs"/>
              </a:rPr>
              <a:t>Email access</a:t>
            </a:r>
          </a:p>
          <a:p>
            <a:pPr>
              <a:buFont typeface="Arial" pitchFamily="34" charset="0"/>
              <a:buNone/>
            </a:pPr>
            <a:endParaRPr lang="en-AU" sz="1200" kern="1200" dirty="0" smtClean="0">
              <a:solidFill>
                <a:schemeClr val="tx1"/>
              </a:solidFill>
              <a:effectLst/>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u="none" dirty="0" smtClean="0"/>
              <a:t>Explain</a:t>
            </a:r>
            <a:r>
              <a:rPr lang="en-AU" u="none" baseline="0" dirty="0" smtClean="0"/>
              <a:t> to trainees that this section will discuss issues such as privacy concerns, dealing with threatening calls, security issues and appropriate telephone greetings.</a:t>
            </a:r>
            <a:endParaRPr lang="en-US" u="none"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mn-lt"/>
                <a:ea typeface="+mn-ea"/>
                <a:cs typeface="+mn-cs"/>
              </a:rPr>
              <a:t>The use of the telephone is one of the most vital business tools in use today. </a:t>
            </a:r>
          </a:p>
          <a:p>
            <a:pPr>
              <a:buFont typeface="Arial" pitchFamily="34" charset="0"/>
              <a:buChar char="•"/>
            </a:pPr>
            <a:r>
              <a:rPr lang="en-AU" sz="1200" kern="1200" dirty="0" smtClean="0">
                <a:solidFill>
                  <a:schemeClr val="tx1"/>
                </a:solidFill>
                <a:effectLst/>
                <a:latin typeface="+mn-lt"/>
                <a:ea typeface="+mn-ea"/>
                <a:cs typeface="+mn-cs"/>
              </a:rPr>
              <a:t>More business is won or lost on the phone than by any other means.</a:t>
            </a:r>
          </a:p>
          <a:p>
            <a:pPr>
              <a:buFont typeface="Arial" pitchFamily="34" charset="0"/>
              <a:buChar char="•"/>
            </a:pPr>
            <a:r>
              <a:rPr lang="en-AU" sz="1200" kern="1200" dirty="0" smtClean="0">
                <a:solidFill>
                  <a:schemeClr val="tx1"/>
                </a:solidFill>
                <a:effectLst/>
                <a:latin typeface="+mn-lt"/>
                <a:ea typeface="+mn-ea"/>
                <a:cs typeface="+mn-cs"/>
              </a:rPr>
              <a:t>Every staff member should undergo formal training in correct telephone procedures.</a:t>
            </a:r>
          </a:p>
          <a:p>
            <a:r>
              <a:rPr lang="en-AU" sz="1200" b="1" kern="1200" dirty="0" smtClean="0">
                <a:solidFill>
                  <a:schemeClr val="tx1"/>
                </a:solidFill>
                <a:effectLst/>
                <a:latin typeface="+mn-lt"/>
                <a:ea typeface="+mn-ea"/>
                <a:cs typeface="+mn-cs"/>
              </a:rPr>
              <a:t>Privacy</a:t>
            </a:r>
          </a:p>
          <a:p>
            <a:r>
              <a:rPr lang="en-AU" sz="1200" kern="1200" dirty="0" smtClean="0">
                <a:solidFill>
                  <a:schemeClr val="tx1"/>
                </a:solidFill>
                <a:effectLst/>
                <a:latin typeface="+mn-lt"/>
                <a:ea typeface="+mn-ea"/>
                <a:cs typeface="+mn-cs"/>
              </a:rPr>
              <a:t>A hotel or resort will have a policy to protect the privacy and confidentiality of its guests. Guests’ messages and phone records are protected against fraudulent actions. </a:t>
            </a:r>
          </a:p>
          <a:p>
            <a:r>
              <a:rPr lang="en-AU" sz="1200" b="1" kern="1200" dirty="0" smtClean="0">
                <a:solidFill>
                  <a:schemeClr val="tx1"/>
                </a:solidFill>
                <a:effectLst/>
                <a:latin typeface="+mn-lt"/>
                <a:ea typeface="+mn-ea"/>
                <a:cs typeface="+mn-cs"/>
              </a:rPr>
              <a:t>Threatening calls</a:t>
            </a:r>
          </a:p>
          <a:p>
            <a:r>
              <a:rPr lang="en-AU" sz="1200" kern="1200" dirty="0" smtClean="0">
                <a:solidFill>
                  <a:schemeClr val="tx1"/>
                </a:solidFill>
                <a:effectLst/>
                <a:latin typeface="+mn-lt"/>
                <a:ea typeface="+mn-ea"/>
                <a:cs typeface="+mn-cs"/>
              </a:rPr>
              <a:t>Response to threatening or suspicious calls requires the receiver to remain calm, the call should be taken seriously</a:t>
            </a:r>
            <a:r>
              <a:rPr lang="en-AU" sz="1200" kern="1200" baseline="0" dirty="0" smtClean="0">
                <a:solidFill>
                  <a:schemeClr val="tx1"/>
                </a:solidFill>
                <a:effectLst/>
                <a:latin typeface="+mn-lt"/>
                <a:ea typeface="+mn-ea"/>
                <a:cs typeface="+mn-cs"/>
              </a:rPr>
              <a:t> and</a:t>
            </a:r>
            <a:r>
              <a:rPr lang="en-AU" sz="1200" kern="1200" dirty="0" smtClean="0">
                <a:solidFill>
                  <a:schemeClr val="tx1"/>
                </a:solidFill>
                <a:effectLst/>
                <a:latin typeface="+mn-lt"/>
                <a:ea typeface="+mn-ea"/>
                <a:cs typeface="+mn-cs"/>
              </a:rPr>
              <a:t> the receiver should not hang up.</a:t>
            </a:r>
            <a:r>
              <a:rPr lang="en-AU" sz="1200" kern="1200" baseline="0" dirty="0" smtClean="0">
                <a:solidFill>
                  <a:schemeClr val="tx1"/>
                </a:solidFill>
                <a:effectLst/>
                <a:latin typeface="+mn-lt"/>
                <a:ea typeface="+mn-ea"/>
                <a:cs typeface="+mn-cs"/>
              </a:rPr>
              <a:t> </a:t>
            </a:r>
            <a:endParaRPr lang="en-AU" sz="1200"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Greetings</a:t>
            </a:r>
          </a:p>
          <a:p>
            <a:r>
              <a:rPr lang="en-AU" sz="1200" kern="1200" dirty="0" smtClean="0">
                <a:solidFill>
                  <a:schemeClr val="tx1"/>
                </a:solidFill>
                <a:effectLst/>
                <a:latin typeface="+mn-lt"/>
                <a:ea typeface="+mn-ea"/>
                <a:cs typeface="+mn-cs"/>
              </a:rPr>
              <a:t>Standard greetings are established to maintain image or service quality.</a:t>
            </a:r>
          </a:p>
          <a:p>
            <a:r>
              <a:rPr lang="en-AU" sz="1200" kern="1200" dirty="0" smtClean="0">
                <a:solidFill>
                  <a:schemeClr val="tx1"/>
                </a:solidFill>
                <a:effectLst/>
                <a:latin typeface="+mn-lt"/>
                <a:ea typeface="+mn-ea"/>
                <a:cs typeface="+mn-cs"/>
              </a:rPr>
              <a:t>Staff should answer calls courteously and identify the time of day, and pronounce words clearly, slowly, and with adequate volume. </a:t>
            </a:r>
          </a:p>
          <a:p>
            <a:r>
              <a:rPr lang="en-AU" sz="1200" b="1" kern="1200" dirty="0" smtClean="0">
                <a:solidFill>
                  <a:schemeClr val="tx1"/>
                </a:solidFill>
                <a:effectLst/>
                <a:latin typeface="+mn-lt"/>
                <a:ea typeface="+mn-ea"/>
                <a:cs typeface="+mn-cs"/>
              </a:rPr>
              <a:t>Security </a:t>
            </a:r>
          </a:p>
          <a:p>
            <a:r>
              <a:rPr lang="en-AU" sz="1200" kern="1200" dirty="0" smtClean="0">
                <a:solidFill>
                  <a:schemeClr val="tx1"/>
                </a:solidFill>
                <a:effectLst/>
                <a:latin typeface="+mn-lt"/>
                <a:ea typeface="+mn-ea"/>
                <a:cs typeface="+mn-cs"/>
              </a:rPr>
              <a:t>Many hotels or resorts have created a "Privacy policy statement" relating to how and what they do with the personal information collected from guests. </a:t>
            </a:r>
          </a:p>
          <a:p>
            <a:r>
              <a:rPr lang="en-AU" sz="1200" kern="1200" dirty="0" smtClean="0">
                <a:solidFill>
                  <a:schemeClr val="tx1"/>
                </a:solidFill>
                <a:effectLst/>
                <a:latin typeface="+mn-lt"/>
                <a:ea typeface="+mn-ea"/>
                <a:cs typeface="+mn-cs"/>
              </a:rPr>
              <a:t>Staff can often be tempted to pass on information about celebrities or prominent people to newspapers and magazines when these guests are staying at their hotel. </a:t>
            </a:r>
          </a:p>
          <a:p>
            <a:r>
              <a:rPr lang="en-AU" sz="1200" b="1" kern="1200" dirty="0" smtClean="0">
                <a:solidFill>
                  <a:schemeClr val="tx1"/>
                </a:solidFill>
                <a:effectLst/>
                <a:latin typeface="+mn-lt"/>
                <a:ea typeface="+mn-ea"/>
                <a:cs typeface="+mn-cs"/>
              </a:rPr>
              <a:t>Training</a:t>
            </a:r>
          </a:p>
          <a:p>
            <a:r>
              <a:rPr lang="en-AU" sz="1200" kern="1200" dirty="0" smtClean="0">
                <a:solidFill>
                  <a:schemeClr val="tx1"/>
                </a:solidFill>
                <a:effectLst/>
                <a:latin typeface="+mn-lt"/>
                <a:ea typeface="+mn-ea"/>
                <a:cs typeface="+mn-cs"/>
              </a:rPr>
              <a:t>Telephone system training  is required to maintain the standards of the hotel or resort. </a:t>
            </a:r>
          </a:p>
          <a:p>
            <a:r>
              <a:rPr lang="en-AU" sz="1200" kern="1200" dirty="0" smtClean="0">
                <a:solidFill>
                  <a:schemeClr val="tx1"/>
                </a:solidFill>
                <a:effectLst/>
                <a:latin typeface="+mn-lt"/>
                <a:ea typeface="+mn-ea"/>
                <a:cs typeface="+mn-cs"/>
              </a:rPr>
              <a:t>All systems require upgrading and even replacing and this will mean upgrade training for the staff.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u="sng" dirty="0" smtClean="0"/>
              <a:t>Class discussion:</a:t>
            </a:r>
            <a:r>
              <a:rPr lang="en-AU" u="none" baseline="0" dirty="0" smtClean="0"/>
              <a:t>  If any of the class has worked or is currently working in a hotel they should tell the rest of the class some of the different ways celebrities are treated compared to ‘normal’ guests.  What things are most important to celebrities? – for example, privacy, security.  The class should work in small groups and, once they have composed their lists, share them with the rest of the class.</a:t>
            </a:r>
            <a:endParaRPr lang="en-US" u="sng"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The voice that answers the telephone projects the image of the establishment and the tone and pitch convey the type and style of establishment. Many establishments nominate a 'script' to follow so all staff who use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the telephone system offer the same standard greeting and project the image of the establishment. The first impression a guest is given is lasting, and will be difficult to alter if it’s an unfavourable one. The tone and language of the greeting will also influence the all important first impression and reflect on the establishments reputation.</a:t>
            </a:r>
          </a:p>
          <a:p>
            <a:endParaRPr lang="en-AU"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In pairs trainees should write</a:t>
            </a:r>
            <a:r>
              <a:rPr lang="en-AU" sz="1200" kern="1200" baseline="0" dirty="0" smtClean="0">
                <a:solidFill>
                  <a:schemeClr val="tx1"/>
                </a:solidFill>
                <a:effectLst/>
                <a:latin typeface="+mn-lt"/>
                <a:ea typeface="+mn-ea"/>
                <a:cs typeface="+mn-cs"/>
              </a:rPr>
              <a:t> what they think would be a good standard greeting for a 4 or 5 star hotel. Try reading it out loud using appropriate tone and pitch.</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In pairs trainees should write</a:t>
            </a:r>
            <a:r>
              <a:rPr lang="en-AU" sz="1200" kern="1200" baseline="0" dirty="0" smtClean="0">
                <a:solidFill>
                  <a:schemeClr val="tx1"/>
                </a:solidFill>
                <a:effectLst/>
                <a:latin typeface="+mn-lt"/>
                <a:ea typeface="+mn-ea"/>
                <a:cs typeface="+mn-cs"/>
              </a:rPr>
              <a:t> what they think would be a good standard greeting for a 4 or 5 star hotel. Try reading it out loud using appropriate tone and pitch.</a:t>
            </a:r>
            <a:endParaRPr lang="en-AU"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Over the phone staff need to communicate the major part of any information with voice </a:t>
            </a:r>
            <a:r>
              <a:rPr lang="en-AU" sz="1200" kern="1200" dirty="0" smtClean="0">
                <a:solidFill>
                  <a:schemeClr val="tx1"/>
                </a:solidFill>
                <a:effectLst/>
                <a:latin typeface="+mn-lt"/>
                <a:ea typeface="+mn-ea"/>
                <a:cs typeface="+mn-cs"/>
              </a:rPr>
              <a:t>only.</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Therefore </a:t>
            </a:r>
            <a:r>
              <a:rPr lang="en-AU" sz="1200" kern="1200" dirty="0" smtClean="0">
                <a:solidFill>
                  <a:schemeClr val="tx1"/>
                </a:solidFill>
                <a:effectLst/>
                <a:latin typeface="+mn-lt"/>
                <a:ea typeface="+mn-ea"/>
                <a:cs typeface="+mn-cs"/>
              </a:rPr>
              <a:t>how and what is said is suddenly that much more important</a:t>
            </a:r>
            <a:r>
              <a:rPr lang="en-AU" sz="1200" kern="1200" dirty="0" smtClean="0">
                <a:solidFill>
                  <a:schemeClr val="tx1"/>
                </a:solidFill>
                <a:effectLst/>
                <a:latin typeface="+mn-lt"/>
                <a:ea typeface="+mn-ea"/>
                <a:cs typeface="+mn-cs"/>
              </a:rPr>
              <a:t>.</a:t>
            </a:r>
            <a:endParaRPr lang="en-AU"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There is a need to think about voice tone, pace and volume, to project a professional image. </a:t>
            </a:r>
          </a:p>
          <a:p>
            <a:r>
              <a:rPr lang="en-AU" sz="1200" kern="1200" dirty="0" smtClean="0">
                <a:solidFill>
                  <a:schemeClr val="tx1"/>
                </a:solidFill>
                <a:effectLst/>
                <a:latin typeface="+mn-lt"/>
                <a:ea typeface="+mn-ea"/>
                <a:cs typeface="+mn-cs"/>
              </a:rPr>
              <a:t>On top of that things that would normally be shown visually, like friendliness or enthusiasm, also need to be communicated through the voice.</a:t>
            </a:r>
          </a:p>
          <a:p>
            <a:r>
              <a:rPr lang="en-AU" sz="1200" kern="1200" dirty="0" smtClean="0">
                <a:solidFill>
                  <a:schemeClr val="tx1"/>
                </a:solidFill>
                <a:effectLst/>
                <a:latin typeface="+mn-lt"/>
                <a:ea typeface="+mn-ea"/>
                <a:cs typeface="+mn-cs"/>
              </a:rPr>
              <a:t>During </a:t>
            </a:r>
            <a:r>
              <a:rPr lang="en-AU" sz="1200" kern="1200" dirty="0" smtClean="0">
                <a:solidFill>
                  <a:schemeClr val="tx1"/>
                </a:solidFill>
                <a:effectLst/>
                <a:latin typeface="+mn-lt"/>
                <a:ea typeface="+mn-ea"/>
                <a:cs typeface="+mn-cs"/>
              </a:rPr>
              <a:t>face to face conversation, people can not only hear responses from others, but  also see their expressions and body language and </a:t>
            </a:r>
            <a:r>
              <a:rPr lang="en-AU" sz="1200" kern="1200" dirty="0" smtClean="0">
                <a:solidFill>
                  <a:schemeClr val="tx1"/>
                </a:solidFill>
                <a:effectLst/>
                <a:latin typeface="+mn-lt"/>
                <a:ea typeface="+mn-ea"/>
                <a:cs typeface="+mn-cs"/>
              </a:rPr>
              <a:t>interpret how </a:t>
            </a:r>
            <a:r>
              <a:rPr lang="en-AU" sz="1200" kern="1200" dirty="0" smtClean="0">
                <a:solidFill>
                  <a:schemeClr val="tx1"/>
                </a:solidFill>
                <a:effectLst/>
                <a:latin typeface="+mn-lt"/>
                <a:ea typeface="+mn-ea"/>
                <a:cs typeface="+mn-cs"/>
              </a:rPr>
              <a:t>they are feeling. Non-verbal responses can indicate that staff need to supply more information to clarify issues.  </a:t>
            </a:r>
          </a:p>
          <a:p>
            <a:endParaRPr lang="en-AU" sz="1200"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Class activity</a:t>
            </a:r>
          </a:p>
          <a:p>
            <a:r>
              <a:rPr lang="en-AU" sz="1200" kern="1200" dirty="0" smtClean="0">
                <a:solidFill>
                  <a:schemeClr val="tx1"/>
                </a:solidFill>
                <a:effectLst/>
                <a:latin typeface="+mn-lt"/>
                <a:ea typeface="+mn-ea"/>
                <a:cs typeface="+mn-cs"/>
              </a:rPr>
              <a:t>Students</a:t>
            </a:r>
            <a:r>
              <a:rPr lang="en-AU" sz="1200" kern="1200" baseline="0" dirty="0" smtClean="0">
                <a:solidFill>
                  <a:schemeClr val="tx1"/>
                </a:solidFill>
                <a:effectLst/>
                <a:latin typeface="+mn-lt"/>
                <a:ea typeface="+mn-ea"/>
                <a:cs typeface="+mn-cs"/>
              </a:rPr>
              <a:t> should l</a:t>
            </a:r>
            <a:r>
              <a:rPr lang="en-AU" sz="1200" kern="1200" dirty="0" smtClean="0">
                <a:solidFill>
                  <a:schemeClr val="tx1"/>
                </a:solidFill>
                <a:effectLst/>
                <a:latin typeface="+mn-lt"/>
                <a:ea typeface="+mn-ea"/>
                <a:cs typeface="+mn-cs"/>
              </a:rPr>
              <a:t>isten to each other repeating the standard greeting and comment on the sound of the voice.</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mn-lt"/>
                <a:ea typeface="+mn-ea"/>
                <a:cs typeface="+mn-cs"/>
              </a:rPr>
              <a:t>Telephone communication requires certain skills including the appropriate attitude, energy level, voice tone and volume.</a:t>
            </a:r>
          </a:p>
          <a:p>
            <a:pPr>
              <a:buFont typeface="Arial" pitchFamily="34" charset="0"/>
              <a:buChar char="•"/>
            </a:pPr>
            <a:r>
              <a:rPr lang="en-AU" sz="1200" kern="1200" dirty="0" smtClean="0">
                <a:solidFill>
                  <a:schemeClr val="tx1"/>
                </a:solidFill>
                <a:effectLst/>
                <a:latin typeface="+mn-lt"/>
                <a:ea typeface="+mn-ea"/>
                <a:cs typeface="+mn-cs"/>
              </a:rPr>
              <a:t>The ability to speak clearly and distinctly with no jargon and an ability to listen attentively</a:t>
            </a:r>
            <a:r>
              <a:rPr lang="en-AU" sz="1200" kern="1200" baseline="0" dirty="0" smtClean="0">
                <a:solidFill>
                  <a:schemeClr val="tx1"/>
                </a:solidFill>
                <a:effectLst/>
                <a:latin typeface="+mn-lt"/>
                <a:ea typeface="+mn-ea"/>
                <a:cs typeface="+mn-cs"/>
              </a:rPr>
              <a:t> is also required.</a:t>
            </a:r>
            <a:endParaRPr lang="en-AU" sz="1200" kern="1200" dirty="0" smtClean="0">
              <a:solidFill>
                <a:schemeClr val="tx1"/>
              </a:solidFill>
              <a:effectLst/>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mn-lt"/>
                <a:ea typeface="+mn-ea"/>
                <a:cs typeface="+mn-cs"/>
              </a:rPr>
              <a:t>Telephone communication requires certain skills including the appropriate attitude, energy level, voice tone and volume.</a:t>
            </a:r>
          </a:p>
          <a:p>
            <a:pPr>
              <a:buFont typeface="Arial" pitchFamily="34" charset="0"/>
              <a:buChar char="•"/>
            </a:pPr>
            <a:r>
              <a:rPr lang="en-AU" sz="1200" kern="1200" dirty="0" smtClean="0">
                <a:solidFill>
                  <a:schemeClr val="tx1"/>
                </a:solidFill>
                <a:effectLst/>
                <a:latin typeface="+mn-lt"/>
                <a:ea typeface="+mn-ea"/>
                <a:cs typeface="+mn-cs"/>
              </a:rPr>
              <a:t>The ability to speak clearly and distinctly with no jargon and an ability to listen attentively</a:t>
            </a:r>
            <a:r>
              <a:rPr lang="en-AU" sz="1200" kern="1200" baseline="0" dirty="0" smtClean="0">
                <a:solidFill>
                  <a:schemeClr val="tx1"/>
                </a:solidFill>
                <a:effectLst/>
                <a:latin typeface="+mn-lt"/>
                <a:ea typeface="+mn-ea"/>
                <a:cs typeface="+mn-cs"/>
              </a:rPr>
              <a:t> is also required.</a:t>
            </a:r>
            <a:endParaRPr lang="en-AU" sz="1200" kern="1200" dirty="0" smtClean="0">
              <a:solidFill>
                <a:schemeClr val="tx1"/>
              </a:solidFill>
              <a:effectLst/>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Efficient and effective use of the telephone requires skill in use and knowledge of the telephone system and the procedures and policies. </a:t>
            </a:r>
          </a:p>
          <a:p>
            <a:r>
              <a:rPr lang="en-AU" sz="1200" kern="1200" dirty="0" smtClean="0">
                <a:solidFill>
                  <a:schemeClr val="tx1"/>
                </a:solidFill>
                <a:effectLst/>
                <a:latin typeface="+mn-lt"/>
                <a:ea typeface="+mn-ea"/>
                <a:cs typeface="+mn-cs"/>
              </a:rPr>
              <a:t>All  staff </a:t>
            </a:r>
            <a:r>
              <a:rPr lang="en-AU" sz="1200" kern="1200" dirty="0" smtClean="0">
                <a:solidFill>
                  <a:schemeClr val="tx1"/>
                </a:solidFill>
                <a:effectLst/>
                <a:latin typeface="+mn-lt"/>
                <a:ea typeface="+mn-ea"/>
                <a:cs typeface="+mn-cs"/>
              </a:rPr>
              <a:t>that use </a:t>
            </a:r>
            <a:r>
              <a:rPr lang="en-AU" sz="1200" kern="1200" dirty="0" smtClean="0">
                <a:solidFill>
                  <a:schemeClr val="tx1"/>
                </a:solidFill>
                <a:effectLst/>
                <a:latin typeface="+mn-lt"/>
                <a:ea typeface="+mn-ea"/>
                <a:cs typeface="+mn-cs"/>
              </a:rPr>
              <a:t>the telephone need to use appropriate telephone techniques.    </a:t>
            </a:r>
          </a:p>
          <a:p>
            <a:r>
              <a:rPr lang="en-AU" sz="1200" kern="1200" dirty="0" smtClean="0">
                <a:solidFill>
                  <a:schemeClr val="tx1"/>
                </a:solidFill>
                <a:effectLst/>
                <a:latin typeface="+mn-lt"/>
                <a:ea typeface="+mn-ea"/>
                <a:cs typeface="+mn-cs"/>
              </a:rPr>
              <a:t>Well developed telephone techniques will display an impression of professionalism and provide excellent service.</a:t>
            </a:r>
          </a:p>
          <a:p>
            <a:r>
              <a:rPr lang="en-AU" sz="1200" b="1" kern="1200" dirty="0" smtClean="0">
                <a:solidFill>
                  <a:schemeClr val="tx1"/>
                </a:solidFill>
                <a:effectLst/>
                <a:latin typeface="+mn-lt"/>
                <a:ea typeface="+mn-ea"/>
                <a:cs typeface="+mn-cs"/>
              </a:rPr>
              <a:t>Clarify caller requirements</a:t>
            </a:r>
          </a:p>
          <a:p>
            <a:r>
              <a:rPr lang="en-AU" sz="1200" kern="1200" dirty="0" smtClean="0">
                <a:solidFill>
                  <a:schemeClr val="tx1"/>
                </a:solidFill>
                <a:effectLst/>
                <a:latin typeface="+mn-lt"/>
                <a:ea typeface="+mn-ea"/>
                <a:cs typeface="+mn-cs"/>
              </a:rPr>
              <a:t>Use your questioning and listening skills to clarify what the caller has requested.</a:t>
            </a:r>
          </a:p>
          <a:p>
            <a:r>
              <a:rPr lang="en-AU" sz="1200" b="1" kern="1200" dirty="0" smtClean="0">
                <a:solidFill>
                  <a:schemeClr val="tx1"/>
                </a:solidFill>
                <a:effectLst/>
                <a:latin typeface="+mn-lt"/>
                <a:ea typeface="+mn-ea"/>
                <a:cs typeface="+mn-cs"/>
              </a:rPr>
              <a:t>Repeat names, dates and times</a:t>
            </a:r>
          </a:p>
          <a:p>
            <a:r>
              <a:rPr lang="en-AU" sz="1200" kern="1200" dirty="0" smtClean="0">
                <a:solidFill>
                  <a:schemeClr val="tx1"/>
                </a:solidFill>
                <a:effectLst/>
                <a:latin typeface="+mn-lt"/>
                <a:ea typeface="+mn-ea"/>
                <a:cs typeface="+mn-cs"/>
              </a:rPr>
              <a:t>Whenever guests give you details like their name make sure you spell it correctly.</a:t>
            </a:r>
            <a:r>
              <a:rPr lang="en-AU" sz="1200" kern="1200" baseline="0" dirty="0" smtClean="0">
                <a:solidFill>
                  <a:schemeClr val="tx1"/>
                </a:solidFill>
                <a:effectLst/>
                <a:latin typeface="+mn-lt"/>
                <a:ea typeface="+mn-ea"/>
                <a:cs typeface="+mn-cs"/>
              </a:rPr>
              <a:t> I</a:t>
            </a:r>
            <a:r>
              <a:rPr lang="en-AU" sz="1200" kern="1200" dirty="0" smtClean="0">
                <a:solidFill>
                  <a:schemeClr val="tx1"/>
                </a:solidFill>
                <a:effectLst/>
                <a:latin typeface="+mn-lt"/>
                <a:ea typeface="+mn-ea"/>
                <a:cs typeface="+mn-cs"/>
              </a:rPr>
              <a:t>f you are not sure about the spelling then ask the guest to spell it. Read the letters back to the guest for clarification.</a:t>
            </a:r>
            <a:r>
              <a:rPr lang="en-AU" sz="1200" kern="1200" baseline="0" dirty="0" smtClean="0">
                <a:solidFill>
                  <a:schemeClr val="tx1"/>
                </a:solidFill>
                <a:effectLst/>
                <a:latin typeface="+mn-lt"/>
                <a:ea typeface="+mn-ea"/>
                <a:cs typeface="+mn-cs"/>
              </a:rPr>
              <a:t> </a:t>
            </a:r>
            <a:r>
              <a:rPr lang="en-AU" sz="1200" u="none" kern="1200" baseline="0" dirty="0" smtClean="0">
                <a:solidFill>
                  <a:schemeClr val="tx1"/>
                </a:solidFill>
                <a:effectLst/>
                <a:latin typeface="+mn-lt"/>
                <a:ea typeface="+mn-ea"/>
                <a:cs typeface="+mn-cs"/>
              </a:rPr>
              <a:t>U</a:t>
            </a:r>
            <a:r>
              <a:rPr lang="en-AU" sz="1200" kern="1200" dirty="0" smtClean="0">
                <a:solidFill>
                  <a:schemeClr val="tx1"/>
                </a:solidFill>
                <a:effectLst/>
                <a:latin typeface="+mn-lt"/>
                <a:ea typeface="+mn-ea"/>
                <a:cs typeface="+mn-cs"/>
              </a:rPr>
              <a:t>sing the phonetic alphabet will help with an misunderstanding of letters being heard over the phone. </a:t>
            </a:r>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Conversation Activity</a:t>
            </a:r>
          </a:p>
          <a:p>
            <a:pPr>
              <a:buFont typeface="Arial" pitchFamily="34" charset="0"/>
              <a:buNone/>
            </a:pPr>
            <a:r>
              <a:rPr lang="en-AU" sz="1200" kern="1200" dirty="0" smtClean="0">
                <a:solidFill>
                  <a:schemeClr val="tx1"/>
                </a:solidFill>
                <a:latin typeface="+mn-lt"/>
                <a:ea typeface="+mn-ea"/>
                <a:cs typeface="+mn-cs"/>
              </a:rPr>
              <a:t>The trainee/students do the conversation in pairs and the student who will be the operator needs to rewrite the guest’s name.</a:t>
            </a:r>
            <a:endParaRPr lang="en-US" b="1"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1" kern="1200" dirty="0" smtClean="0">
                <a:solidFill>
                  <a:schemeClr val="tx1"/>
                </a:solidFill>
                <a:effectLst/>
                <a:latin typeface="+mn-lt"/>
                <a:ea typeface="+mn-ea"/>
                <a:cs typeface="+mn-cs"/>
              </a:rPr>
              <a:t>Telephone Etiquette</a:t>
            </a:r>
            <a:endParaRPr lang="en-US" dirty="0" smtClean="0"/>
          </a:p>
          <a:p>
            <a:pPr lvl="0">
              <a:buFont typeface="Arial" pitchFamily="34" charset="0"/>
              <a:buChar char="•"/>
            </a:pPr>
            <a:r>
              <a:rPr lang="en-AU" sz="1200" kern="1200" dirty="0" smtClean="0">
                <a:solidFill>
                  <a:schemeClr val="tx1"/>
                </a:solidFill>
                <a:effectLst/>
                <a:latin typeface="+mn-lt"/>
                <a:ea typeface="+mn-ea"/>
                <a:cs typeface="+mn-cs"/>
              </a:rPr>
              <a:t>Answer the call within three rings</a:t>
            </a:r>
          </a:p>
          <a:p>
            <a:pPr lvl="0">
              <a:buFont typeface="Arial" pitchFamily="34" charset="0"/>
              <a:buChar char="•"/>
            </a:pPr>
            <a:r>
              <a:rPr lang="en-AU" sz="1200" kern="1200" dirty="0" smtClean="0">
                <a:solidFill>
                  <a:schemeClr val="tx1"/>
                </a:solidFill>
                <a:effectLst/>
                <a:latin typeface="+mn-lt"/>
                <a:ea typeface="+mn-ea"/>
                <a:cs typeface="+mn-cs"/>
              </a:rPr>
              <a:t>Always speak clearly and slowly with courtesy, civility and respect</a:t>
            </a:r>
          </a:p>
          <a:p>
            <a:pPr lvl="0">
              <a:buFont typeface="Arial" pitchFamily="34" charset="0"/>
              <a:buChar char="•"/>
            </a:pPr>
            <a:r>
              <a:rPr lang="en-AU" sz="1200" kern="1200" dirty="0" smtClean="0">
                <a:solidFill>
                  <a:schemeClr val="tx1"/>
                </a:solidFill>
                <a:effectLst/>
                <a:latin typeface="+mn-lt"/>
                <a:ea typeface="+mn-ea"/>
                <a:cs typeface="+mn-cs"/>
              </a:rPr>
              <a:t>Avoid extreme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volumes</a:t>
            </a:r>
          </a:p>
          <a:p>
            <a:pPr lvl="0">
              <a:buFont typeface="Arial" pitchFamily="34" charset="0"/>
              <a:buChar char="•"/>
            </a:pPr>
            <a:r>
              <a:rPr lang="en-AU" sz="1200" kern="1200" dirty="0" smtClean="0">
                <a:solidFill>
                  <a:schemeClr val="tx1"/>
                </a:solidFill>
                <a:effectLst/>
                <a:latin typeface="+mn-lt"/>
                <a:ea typeface="+mn-ea"/>
                <a:cs typeface="+mn-cs"/>
              </a:rPr>
              <a:t>Avoid jargon or hotel terminology</a:t>
            </a:r>
          </a:p>
          <a:p>
            <a:pPr lvl="0">
              <a:buFont typeface="Arial" pitchFamily="34" charset="0"/>
              <a:buChar char="•"/>
            </a:pPr>
            <a:r>
              <a:rPr lang="en-AU" sz="1200" kern="1200" dirty="0" smtClean="0">
                <a:solidFill>
                  <a:schemeClr val="tx1"/>
                </a:solidFill>
                <a:effectLst/>
                <a:latin typeface="+mn-lt"/>
                <a:ea typeface="+mn-ea"/>
                <a:cs typeface="+mn-cs"/>
              </a:rPr>
              <a:t>Speak with a smile on your face</a:t>
            </a:r>
          </a:p>
          <a:p>
            <a:pPr lvl="0">
              <a:buFont typeface="Arial" pitchFamily="34" charset="0"/>
              <a:buChar char="•"/>
            </a:pPr>
            <a:r>
              <a:rPr lang="en-AU" sz="1200" kern="1200" dirty="0" smtClean="0">
                <a:solidFill>
                  <a:schemeClr val="tx1"/>
                </a:solidFill>
                <a:effectLst/>
                <a:latin typeface="+mn-lt"/>
                <a:ea typeface="+mn-ea"/>
                <a:cs typeface="+mn-cs"/>
              </a:rPr>
              <a:t>Use an appropriate opening phrase and listen to the response. Reduction of background noise can make hearing more efficient.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continues to discuss telephone etiquette</a:t>
            </a:r>
            <a:r>
              <a:rPr lang="en-AU" baseline="0" dirty="0" smtClean="0"/>
              <a:t> with trainees inviting comments and stories from personal experience.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continues to discuss telephone etiquette</a:t>
            </a:r>
            <a:r>
              <a:rPr lang="en-AU" baseline="0" dirty="0" smtClean="0"/>
              <a:t> with trainees inviting comments and stories from personal experience.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Role play can happen</a:t>
            </a:r>
            <a:r>
              <a:rPr lang="en-AU" baseline="0" dirty="0" smtClean="0"/>
              <a:t> in pairs and later be shared with a larger group.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ffectLst/>
                <a:latin typeface="+mn-lt"/>
                <a:ea typeface="+mn-ea"/>
                <a:cs typeface="+mn-cs"/>
              </a:rPr>
              <a:t>Common caller complaints.</a:t>
            </a:r>
          </a:p>
          <a:p>
            <a:pPr marL="171450" lvl="0" indent="-171450">
              <a:buFont typeface="Arial" pitchFamily="34" charset="0"/>
              <a:buChar char="•"/>
            </a:pPr>
            <a:r>
              <a:rPr lang="en-AU" sz="1200" kern="1200" dirty="0" smtClean="0">
                <a:solidFill>
                  <a:schemeClr val="tx1"/>
                </a:solidFill>
                <a:effectLst/>
                <a:latin typeface="+mn-lt"/>
                <a:ea typeface="+mn-ea"/>
                <a:cs typeface="+mn-cs"/>
              </a:rPr>
              <a:t>The telephone rings too long before being answered. If the guest is waiting to have a call answered they can become frustrated and angry.</a:t>
            </a:r>
            <a:r>
              <a:rPr lang="en-AU" sz="1200" kern="1200" baseline="0" dirty="0" smtClean="0">
                <a:solidFill>
                  <a:schemeClr val="tx1"/>
                </a:solidFill>
                <a:effectLst/>
                <a:latin typeface="+mn-lt"/>
                <a:ea typeface="+mn-ea"/>
                <a:cs typeface="+mn-cs"/>
              </a:rPr>
              <a:t> S</a:t>
            </a:r>
            <a:r>
              <a:rPr lang="en-AU" sz="1200" kern="1200" dirty="0" smtClean="0">
                <a:solidFill>
                  <a:schemeClr val="tx1"/>
                </a:solidFill>
                <a:effectLst/>
                <a:latin typeface="+mn-lt"/>
                <a:ea typeface="+mn-ea"/>
                <a:cs typeface="+mn-cs"/>
              </a:rPr>
              <a:t>ome telephones have capacity to record how long a phone rings before it's attended to. A guest speaking face to face with staff will find it distracting if a phone rings and rings without being answered.</a:t>
            </a:r>
          </a:p>
          <a:p>
            <a:pPr marL="171450" lvl="0" indent="-171450">
              <a:buFont typeface="Arial" pitchFamily="34" charset="0"/>
              <a:buChar char="•"/>
            </a:pPr>
            <a:r>
              <a:rPr lang="en-AU" sz="1200" kern="1200" dirty="0" smtClean="0">
                <a:solidFill>
                  <a:schemeClr val="tx1"/>
                </a:solidFill>
                <a:effectLst/>
                <a:latin typeface="+mn-lt"/>
                <a:ea typeface="+mn-ea"/>
                <a:cs typeface="+mn-cs"/>
              </a:rPr>
              <a:t>Being placed on hold for too long, Guests should always be asked if they want to be on hold or for a message to be taken. If a guest is on hold then staff should check back frequently.</a:t>
            </a:r>
          </a:p>
          <a:p>
            <a:pPr marL="171450" lvl="0" indent="-171450">
              <a:buFont typeface="Arial" pitchFamily="34" charset="0"/>
              <a:buChar char="•"/>
            </a:pPr>
            <a:r>
              <a:rPr lang="en-AU" sz="1200" kern="1200" dirty="0" smtClean="0">
                <a:solidFill>
                  <a:schemeClr val="tx1"/>
                </a:solidFill>
                <a:effectLst/>
                <a:latin typeface="+mn-lt"/>
                <a:ea typeface="+mn-ea"/>
                <a:cs typeface="+mn-cs"/>
              </a:rPr>
              <a:t>Inability to get through, such as the line or number is always busy. Again if the guest is waiting to have a call answered they can become frustrated and angry. Some venues have electronic messaging or voicemail to avoid this.</a:t>
            </a:r>
          </a:p>
          <a:p>
            <a:pPr marL="171450" lvl="0" indent="-171450">
              <a:buFont typeface="Arial" pitchFamily="34" charset="0"/>
              <a:buChar char="•"/>
            </a:pPr>
            <a:r>
              <a:rPr lang="en-AU" sz="1200" kern="1200" dirty="0" smtClean="0">
                <a:solidFill>
                  <a:schemeClr val="tx1"/>
                </a:solidFill>
                <a:effectLst/>
                <a:latin typeface="+mn-lt"/>
                <a:ea typeface="+mn-ea"/>
                <a:cs typeface="+mn-cs"/>
              </a:rPr>
              <a:t>If a guest has complained and the receptionist becomes defensive or abusive. The guest or caller may ask for the receptionist’s name so the guest can take their complaint further.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Char char="•"/>
            </a:pPr>
            <a:r>
              <a:rPr lang="en-AU" sz="1200" kern="1200" dirty="0" smtClean="0">
                <a:solidFill>
                  <a:schemeClr val="tx1"/>
                </a:solidFill>
                <a:effectLst/>
                <a:latin typeface="+mn-lt"/>
                <a:ea typeface="+mn-ea"/>
                <a:cs typeface="+mn-cs"/>
              </a:rPr>
              <a:t>Difficulty can arise if reception or the switchboard fails to determine where the call should be directed. This could mean there has been a failure to update contact information.</a:t>
            </a:r>
          </a:p>
          <a:p>
            <a:pPr marL="171450" lvl="0" indent="-171450">
              <a:buFont typeface="Arial" pitchFamily="34" charset="0"/>
              <a:buChar char="•"/>
            </a:pPr>
            <a:r>
              <a:rPr lang="en-AU" sz="1200" kern="1200" dirty="0" smtClean="0">
                <a:solidFill>
                  <a:schemeClr val="tx1"/>
                </a:solidFill>
                <a:effectLst/>
                <a:latin typeface="+mn-lt"/>
                <a:ea typeface="+mn-ea"/>
                <a:cs typeface="+mn-cs"/>
              </a:rPr>
              <a:t>One of the important points of communication is to listen.</a:t>
            </a:r>
            <a:r>
              <a:rPr lang="en-AU" sz="1200" kern="1200" baseline="0" dirty="0" smtClean="0">
                <a:solidFill>
                  <a:schemeClr val="tx1"/>
                </a:solidFill>
                <a:effectLst/>
                <a:latin typeface="+mn-lt"/>
                <a:ea typeface="+mn-ea"/>
                <a:cs typeface="+mn-cs"/>
              </a:rPr>
              <a:t> F</a:t>
            </a:r>
            <a:r>
              <a:rPr lang="en-AU" sz="1200" kern="1200" dirty="0" smtClean="0">
                <a:solidFill>
                  <a:schemeClr val="tx1"/>
                </a:solidFill>
                <a:effectLst/>
                <a:latin typeface="+mn-lt"/>
                <a:ea typeface="+mn-ea"/>
                <a:cs typeface="+mn-cs"/>
              </a:rPr>
              <a:t>ailure to listen to guests’ requests and questions can lead to misunderstanding and disgruntled guests. </a:t>
            </a:r>
            <a:r>
              <a:rPr lang="en-AU" sz="1200" kern="1200" dirty="0" smtClean="0">
                <a:solidFill>
                  <a:schemeClr val="bg2">
                    <a:lumMod val="50000"/>
                  </a:schemeClr>
                </a:solidFill>
                <a:latin typeface="+mn-lt"/>
                <a:ea typeface="+mn-ea"/>
                <a:cs typeface="+mn-cs"/>
              </a:rPr>
              <a:t>Reception should repeat the caller request to clarify it (if necessary) and reconfirm it to the respective department when the call is transferred.</a:t>
            </a:r>
            <a:endParaRPr lang="en-AU" sz="1200" kern="1200" dirty="0" smtClean="0">
              <a:solidFill>
                <a:schemeClr val="bg2">
                  <a:lumMod val="50000"/>
                </a:schemeClr>
              </a:solidFill>
              <a:effectLst/>
              <a:latin typeface="+mn-lt"/>
              <a:ea typeface="+mn-ea"/>
              <a:cs typeface="+mn-cs"/>
            </a:endParaRPr>
          </a:p>
          <a:p>
            <a:pPr marL="171450" lvl="0" indent="-171450">
              <a:buFont typeface="Arial" pitchFamily="34" charset="0"/>
              <a:buChar char="•"/>
            </a:pPr>
            <a:r>
              <a:rPr lang="en-AU" sz="1200" kern="1200" dirty="0" smtClean="0">
                <a:solidFill>
                  <a:schemeClr val="tx1"/>
                </a:solidFill>
                <a:effectLst/>
                <a:latin typeface="+mn-lt"/>
                <a:ea typeface="+mn-ea"/>
                <a:cs typeface="+mn-cs"/>
              </a:rPr>
              <a:t>All systems can experience system failure.</a:t>
            </a:r>
            <a:r>
              <a:rPr lang="en-AU" sz="1200" kern="1200" baseline="0" dirty="0" smtClean="0">
                <a:solidFill>
                  <a:schemeClr val="tx1"/>
                </a:solidFill>
                <a:effectLst/>
                <a:latin typeface="+mn-lt"/>
                <a:ea typeface="+mn-ea"/>
                <a:cs typeface="+mn-cs"/>
              </a:rPr>
              <a:t> O</a:t>
            </a:r>
            <a:r>
              <a:rPr lang="en-AU" sz="1200" kern="1200" dirty="0" smtClean="0">
                <a:solidFill>
                  <a:schemeClr val="tx1"/>
                </a:solidFill>
                <a:effectLst/>
                <a:latin typeface="+mn-lt"/>
                <a:ea typeface="+mn-ea"/>
                <a:cs typeface="+mn-cs"/>
              </a:rPr>
              <a:t>ften the failure is outside the control of management. Occasionally incompetence with the system; for example, the caller is disconnected when being transferred is the cause of guest dissatisfaction.</a:t>
            </a:r>
          </a:p>
          <a:p>
            <a:pPr marL="171450" indent="-171450">
              <a:buFont typeface="Arial" pitchFamily="34" charset="0"/>
              <a:buChar char="•"/>
            </a:pPr>
            <a:r>
              <a:rPr lang="en-AU" sz="1200" kern="1200" dirty="0" smtClean="0">
                <a:solidFill>
                  <a:schemeClr val="tx1"/>
                </a:solidFill>
                <a:effectLst/>
                <a:latin typeface="+mn-lt"/>
                <a:ea typeface="+mn-ea"/>
                <a:cs typeface="+mn-cs"/>
              </a:rPr>
              <a:t>Lack of professionalism, including failure to place call on hold before talking to colleagues, giving an inappropriate greeting, lack of knowledge about the establishment and its staff and the use of an improper tone of voice by receptionist are all situations which can be cause for caller complaint.</a:t>
            </a: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This activity should be done</a:t>
            </a:r>
            <a:r>
              <a:rPr lang="en-AU" baseline="0" dirty="0" smtClean="0"/>
              <a:t> in pairs.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This activity should be done</a:t>
            </a:r>
            <a:r>
              <a:rPr lang="en-AU" baseline="0" dirty="0" smtClean="0"/>
              <a:t> in pairs.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Trainer to discuss content of this Element with trainees.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None/>
            </a:pPr>
            <a:r>
              <a:rPr lang="en-AU" sz="1200" kern="1200" dirty="0" smtClean="0">
                <a:solidFill>
                  <a:schemeClr val="tx1"/>
                </a:solidFill>
                <a:effectLst/>
                <a:latin typeface="+mn-lt"/>
                <a:ea typeface="+mn-ea"/>
                <a:cs typeface="+mn-cs"/>
              </a:rPr>
              <a:t>Reception or telephone staff should be doing all the necessary</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things in order to efficiently and confidently receive and make telephone calls:</a:t>
            </a:r>
          </a:p>
          <a:p>
            <a:pPr marL="171450" lvl="0" indent="-171450">
              <a:buFont typeface="Arial" pitchFamily="34" charset="0"/>
              <a:buChar char="•"/>
            </a:pPr>
            <a:r>
              <a:rPr lang="en-AU" sz="1200" kern="1200" dirty="0" smtClean="0">
                <a:solidFill>
                  <a:schemeClr val="tx1"/>
                </a:solidFill>
                <a:effectLst/>
                <a:latin typeface="+mn-lt"/>
                <a:ea typeface="+mn-ea"/>
                <a:cs typeface="+mn-cs"/>
              </a:rPr>
              <a:t>Smile – this will reflect in your voice when you are talking,</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improving the tone and </a:t>
            </a:r>
            <a:r>
              <a:rPr lang="en-AU" sz="1200" kern="1200" dirty="0" smtClean="0">
                <a:solidFill>
                  <a:schemeClr val="tx1"/>
                </a:solidFill>
                <a:effectLst/>
                <a:latin typeface="+mn-lt"/>
                <a:ea typeface="+mn-ea"/>
                <a:cs typeface="+mn-cs"/>
              </a:rPr>
              <a:t>pitch</a:t>
            </a:r>
            <a:endParaRPr lang="en-AU" sz="1200" kern="1200" dirty="0" smtClean="0">
              <a:solidFill>
                <a:schemeClr val="tx1"/>
              </a:solidFill>
              <a:effectLst/>
              <a:latin typeface="+mn-lt"/>
              <a:ea typeface="+mn-ea"/>
              <a:cs typeface="+mn-cs"/>
            </a:endParaRPr>
          </a:p>
          <a:p>
            <a:pPr marL="171450" lvl="0" indent="-171450">
              <a:buFont typeface="Arial" pitchFamily="34" charset="0"/>
              <a:buChar char="•"/>
            </a:pPr>
            <a:r>
              <a:rPr lang="en-AU" sz="1200" kern="1200" dirty="0" smtClean="0">
                <a:solidFill>
                  <a:schemeClr val="tx1"/>
                </a:solidFill>
                <a:effectLst/>
                <a:latin typeface="+mn-lt"/>
                <a:ea typeface="+mn-ea"/>
                <a:cs typeface="+mn-cs"/>
              </a:rPr>
              <a:t>Paper and pen ready to record </a:t>
            </a:r>
            <a:r>
              <a:rPr lang="en-AU" sz="1200" kern="1200" dirty="0" smtClean="0">
                <a:solidFill>
                  <a:schemeClr val="tx1"/>
                </a:solidFill>
                <a:effectLst/>
                <a:latin typeface="+mn-lt"/>
                <a:ea typeface="+mn-ea"/>
                <a:cs typeface="+mn-cs"/>
              </a:rPr>
              <a:t>information</a:t>
            </a:r>
            <a:endParaRPr lang="en-AU" sz="1200" kern="1200" dirty="0" smtClean="0">
              <a:solidFill>
                <a:schemeClr val="tx1"/>
              </a:solidFill>
              <a:effectLst/>
              <a:latin typeface="+mn-lt"/>
              <a:ea typeface="+mn-ea"/>
              <a:cs typeface="+mn-cs"/>
            </a:endParaRPr>
          </a:p>
          <a:p>
            <a:pPr marL="171450" lvl="0" indent="-171450">
              <a:buFont typeface="Arial" pitchFamily="34" charset="0"/>
              <a:buChar char="•"/>
            </a:pPr>
            <a:r>
              <a:rPr lang="en-AU" sz="1200" kern="1200" dirty="0" smtClean="0">
                <a:solidFill>
                  <a:schemeClr val="tx1"/>
                </a:solidFill>
                <a:effectLst/>
                <a:latin typeface="+mn-lt"/>
                <a:ea typeface="+mn-ea"/>
                <a:cs typeface="+mn-cs"/>
              </a:rPr>
              <a:t>A list of in-house extensions by the phone, this may be electronic or written, or may be the in-house guest report as produced by the night </a:t>
            </a:r>
            <a:r>
              <a:rPr lang="en-AU" sz="1200" kern="1200" dirty="0" smtClean="0">
                <a:solidFill>
                  <a:schemeClr val="tx1"/>
                </a:solidFill>
                <a:effectLst/>
                <a:latin typeface="+mn-lt"/>
                <a:ea typeface="+mn-ea"/>
                <a:cs typeface="+mn-cs"/>
              </a:rPr>
              <a:t>audit</a:t>
            </a:r>
            <a:endParaRPr lang="en-AU" sz="1200" kern="1200" dirty="0" smtClean="0">
              <a:solidFill>
                <a:schemeClr val="tx1"/>
              </a:solidFill>
              <a:effectLst/>
              <a:latin typeface="+mn-lt"/>
              <a:ea typeface="+mn-ea"/>
              <a:cs typeface="+mn-cs"/>
            </a:endParaRPr>
          </a:p>
          <a:p>
            <a:pPr marL="171450" lvl="0" indent="-171450">
              <a:buFont typeface="Arial" pitchFamily="34" charset="0"/>
              <a:buChar char="•"/>
            </a:pPr>
            <a:r>
              <a:rPr lang="en-AU" sz="1200" kern="1200" dirty="0" smtClean="0">
                <a:solidFill>
                  <a:schemeClr val="tx1"/>
                </a:solidFill>
                <a:effectLst/>
                <a:latin typeface="+mn-lt"/>
                <a:ea typeface="+mn-ea"/>
                <a:cs typeface="+mn-cs"/>
              </a:rPr>
              <a:t>Have a list of frequently called numbers such as taxis, theatres, restaurants, tourist tour operators or other external services. There should also be a list of emergency numbers.</a:t>
            </a:r>
          </a:p>
          <a:p>
            <a:pPr lvl="0"/>
            <a:endParaRPr lang="en-AU" sz="1200" kern="1200" dirty="0" smtClean="0">
              <a:solidFill>
                <a:schemeClr val="tx1"/>
              </a:solidFill>
              <a:effectLst/>
              <a:latin typeface="+mn-lt"/>
              <a:ea typeface="+mn-ea"/>
              <a:cs typeface="+mn-cs"/>
            </a:endParaRPr>
          </a:p>
          <a:p>
            <a:pPr lvl="0"/>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None/>
            </a:pPr>
            <a:r>
              <a:rPr lang="en-AU" sz="1200" kern="1200" dirty="0" smtClean="0">
                <a:solidFill>
                  <a:schemeClr val="tx1"/>
                </a:solidFill>
                <a:effectLst/>
                <a:latin typeface="+mn-lt"/>
                <a:ea typeface="+mn-ea"/>
                <a:cs typeface="+mn-cs"/>
              </a:rPr>
              <a:t>Reception or telephone staff should be doing all the necessary</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things in order to efficiently and confidently receive and make telephone calls:</a:t>
            </a:r>
          </a:p>
          <a:p>
            <a:pPr marL="171450" lvl="0" indent="-171450">
              <a:buFont typeface="Arial" pitchFamily="34" charset="0"/>
              <a:buChar char="•"/>
            </a:pPr>
            <a:r>
              <a:rPr lang="en-AU" sz="1200" kern="1200" dirty="0" smtClean="0">
                <a:solidFill>
                  <a:schemeClr val="tx1"/>
                </a:solidFill>
                <a:effectLst/>
                <a:latin typeface="+mn-lt"/>
                <a:ea typeface="+mn-ea"/>
                <a:cs typeface="+mn-cs"/>
              </a:rPr>
              <a:t>Smile – this will reflect in your voice when you are talking,</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improving the tone and pitch.</a:t>
            </a:r>
          </a:p>
          <a:p>
            <a:pPr marL="171450" lvl="0" indent="-171450">
              <a:buFont typeface="Arial" pitchFamily="34" charset="0"/>
              <a:buChar char="•"/>
            </a:pPr>
            <a:r>
              <a:rPr lang="en-AU" sz="1200" kern="1200" dirty="0" smtClean="0">
                <a:solidFill>
                  <a:schemeClr val="tx1"/>
                </a:solidFill>
                <a:effectLst/>
                <a:latin typeface="+mn-lt"/>
                <a:ea typeface="+mn-ea"/>
                <a:cs typeface="+mn-cs"/>
              </a:rPr>
              <a:t>Paper and pen ready to record information.</a:t>
            </a:r>
          </a:p>
          <a:p>
            <a:pPr marL="171450" lvl="0" indent="-171450">
              <a:buFont typeface="Arial" pitchFamily="34" charset="0"/>
              <a:buChar char="•"/>
            </a:pPr>
            <a:r>
              <a:rPr lang="en-AU" sz="1200" kern="1200" dirty="0" smtClean="0">
                <a:solidFill>
                  <a:schemeClr val="tx1"/>
                </a:solidFill>
                <a:effectLst/>
                <a:latin typeface="+mn-lt"/>
                <a:ea typeface="+mn-ea"/>
                <a:cs typeface="+mn-cs"/>
              </a:rPr>
              <a:t>A list of in-house extensions by the phone, this may be electronic or written, or may be the in-house guest report as produced by the night audit.</a:t>
            </a:r>
          </a:p>
          <a:p>
            <a:pPr marL="171450" lvl="0" indent="-171450">
              <a:buFont typeface="Arial" pitchFamily="34" charset="0"/>
              <a:buChar char="•"/>
            </a:pPr>
            <a:r>
              <a:rPr lang="en-AU" sz="1200" kern="1200" dirty="0" smtClean="0">
                <a:solidFill>
                  <a:schemeClr val="tx1"/>
                </a:solidFill>
                <a:effectLst/>
                <a:latin typeface="+mn-lt"/>
                <a:ea typeface="+mn-ea"/>
                <a:cs typeface="+mn-cs"/>
              </a:rPr>
              <a:t>Have a list of frequently called numbers such as taxis, theatres, restaurants, tourist tour operators or other external services. There should also be a list of emergency numbers.</a:t>
            </a:r>
          </a:p>
          <a:p>
            <a:pPr marL="171450" lvl="0" indent="-171450">
              <a:buFont typeface="Arial" pitchFamily="34" charset="0"/>
              <a:buChar char="•"/>
            </a:pPr>
            <a:r>
              <a:rPr lang="en-AU" sz="1200" kern="1200" dirty="0" smtClean="0">
                <a:solidFill>
                  <a:schemeClr val="tx1"/>
                </a:solidFill>
                <a:effectLst/>
                <a:latin typeface="+mn-lt"/>
                <a:ea typeface="+mn-ea"/>
                <a:cs typeface="+mn-cs"/>
              </a:rPr>
              <a:t>Know where and how to direct each enquiry. A good knowledge of all departments and their areas of responsibility will ensure prompt response to all enquiries.</a:t>
            </a:r>
          </a:p>
          <a:p>
            <a:pPr marL="171450" lvl="0" indent="-171450">
              <a:buFont typeface="Arial" pitchFamily="34" charset="0"/>
              <a:buChar char="•"/>
            </a:pPr>
            <a:r>
              <a:rPr lang="en-AU" sz="1200" kern="1200" dirty="0" smtClean="0">
                <a:solidFill>
                  <a:schemeClr val="tx1"/>
                </a:solidFill>
                <a:effectLst/>
                <a:latin typeface="+mn-lt"/>
                <a:ea typeface="+mn-ea"/>
                <a:cs typeface="+mn-cs"/>
              </a:rPr>
              <a:t>Sit upright and adjust the chair and equipment to best suit the person's stature.</a:t>
            </a:r>
          </a:p>
          <a:p>
            <a:pPr marL="171450" lvl="0" indent="-171450">
              <a:buFont typeface="Arial" pitchFamily="34" charset="0"/>
              <a:buChar char="•"/>
            </a:pPr>
            <a:r>
              <a:rPr lang="en-AU" sz="1200" kern="1200" dirty="0" smtClean="0">
                <a:solidFill>
                  <a:schemeClr val="tx1"/>
                </a:solidFill>
                <a:effectLst/>
                <a:latin typeface="+mn-lt"/>
                <a:ea typeface="+mn-ea"/>
                <a:cs typeface="+mn-cs"/>
              </a:rPr>
              <a:t>Knowledge of all operator connected calls, and directory assistance procedures. </a:t>
            </a:r>
          </a:p>
          <a:p>
            <a:pPr marL="171450" lvl="0" indent="-171450">
              <a:buFont typeface="Arial" pitchFamily="34" charset="0"/>
              <a:buChar char="•"/>
            </a:pPr>
            <a:r>
              <a:rPr lang="en-AU" sz="1200" kern="1200" dirty="0" smtClean="0">
                <a:solidFill>
                  <a:schemeClr val="tx1"/>
                </a:solidFill>
                <a:effectLst/>
                <a:latin typeface="+mn-lt"/>
                <a:ea typeface="+mn-ea"/>
                <a:cs typeface="+mn-cs"/>
              </a:rPr>
              <a:t>Prioritize calls according to property guidelines </a:t>
            </a:r>
          </a:p>
          <a:p>
            <a:pPr marL="171450" lvl="0" indent="-171450">
              <a:buFont typeface="Arial" pitchFamily="34" charset="0"/>
              <a:buChar char="•"/>
            </a:pPr>
            <a:r>
              <a:rPr lang="en-AU" sz="1200" kern="1200" dirty="0" smtClean="0">
                <a:solidFill>
                  <a:schemeClr val="tx1"/>
                </a:solidFill>
                <a:effectLst/>
                <a:latin typeface="+mn-lt"/>
                <a:ea typeface="+mn-ea"/>
                <a:cs typeface="+mn-cs"/>
              </a:rPr>
              <a:t>Activate call waiting and other automatic systems</a:t>
            </a:r>
          </a:p>
          <a:p>
            <a:pPr marL="171450" lvl="0" indent="-171450">
              <a:buFont typeface="Wingdings" pitchFamily="2" charset="2"/>
              <a:buChar char="Ø"/>
            </a:pPr>
            <a:r>
              <a:rPr lang="en-AU" sz="1200" kern="1200" dirty="0" smtClean="0">
                <a:solidFill>
                  <a:schemeClr val="tx1"/>
                </a:solidFill>
                <a:effectLst/>
                <a:latin typeface="+mn-lt"/>
                <a:ea typeface="+mn-ea"/>
                <a:cs typeface="+mn-cs"/>
              </a:rPr>
              <a:t> message waiting system </a:t>
            </a:r>
          </a:p>
          <a:p>
            <a:pPr marL="171450" lvl="0" indent="-171450">
              <a:buFont typeface="Wingdings" pitchFamily="2" charset="2"/>
              <a:buChar char="Ø"/>
            </a:pPr>
            <a:r>
              <a:rPr lang="en-AU" sz="1200" kern="1200" dirty="0" smtClean="0">
                <a:solidFill>
                  <a:schemeClr val="tx1"/>
                </a:solidFill>
                <a:effectLst/>
                <a:latin typeface="+mn-lt"/>
                <a:ea typeface="+mn-ea"/>
                <a:cs typeface="+mn-cs"/>
              </a:rPr>
              <a:t> the wakeup call system</a:t>
            </a:r>
          </a:p>
          <a:p>
            <a:pPr marL="171450" lvl="0" indent="-171450">
              <a:buFont typeface="Wingdings" pitchFamily="2" charset="2"/>
              <a:buChar char="Ø"/>
            </a:pPr>
            <a:r>
              <a:rPr lang="en-AU" sz="1200" kern="1200" dirty="0" smtClean="0">
                <a:solidFill>
                  <a:schemeClr val="tx1"/>
                </a:solidFill>
                <a:effectLst/>
                <a:latin typeface="+mn-lt"/>
                <a:ea typeface="+mn-ea"/>
                <a:cs typeface="+mn-cs"/>
              </a:rPr>
              <a:t>  activate the voice mail system.</a:t>
            </a:r>
          </a:p>
          <a:p>
            <a:pPr lvl="0"/>
            <a:r>
              <a:rPr lang="en-AU" sz="1200" kern="1200" dirty="0" smtClean="0">
                <a:solidFill>
                  <a:schemeClr val="tx1"/>
                </a:solidFill>
                <a:effectLst/>
                <a:latin typeface="+mn-lt"/>
                <a:ea typeface="+mn-ea"/>
                <a:cs typeface="+mn-cs"/>
              </a:rPr>
              <a:t>When operating the telephone system staff must ensure there are no outside distractions.</a:t>
            </a:r>
          </a:p>
          <a:p>
            <a:pPr lvl="0"/>
            <a:endParaRPr lang="en-AU" sz="1200" kern="1200" dirty="0" smtClean="0">
              <a:solidFill>
                <a:schemeClr val="tx1"/>
              </a:solidFill>
              <a:effectLst/>
              <a:latin typeface="+mn-lt"/>
              <a:ea typeface="+mn-ea"/>
              <a:cs typeface="+mn-cs"/>
            </a:endParaRPr>
          </a:p>
          <a:p>
            <a:pPr lvl="0"/>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Discuss the above example of an arrivals</a:t>
            </a:r>
            <a:r>
              <a:rPr lang="en-US" baseline="0" dirty="0" smtClean="0"/>
              <a:t> list – Opera Software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All staff who use the telephone to accept incoming calls should maintain the same standard etiquette and skills.</a:t>
            </a:r>
          </a:p>
          <a:p>
            <a:r>
              <a:rPr lang="en-AU" sz="1200" kern="1200" dirty="0" smtClean="0">
                <a:solidFill>
                  <a:schemeClr val="tx1"/>
                </a:solidFill>
                <a:effectLst/>
                <a:latin typeface="+mn-lt"/>
                <a:ea typeface="+mn-ea"/>
                <a:cs typeface="+mn-cs"/>
              </a:rPr>
              <a:t>When answering call staff should ensure all calls;</a:t>
            </a:r>
          </a:p>
          <a:p>
            <a:pPr>
              <a:buFont typeface="Arial" pitchFamily="34" charset="0"/>
              <a:buChar char="•"/>
            </a:pPr>
            <a:r>
              <a:rPr lang="en-AU" sz="1200" kern="1200" dirty="0" smtClean="0">
                <a:solidFill>
                  <a:schemeClr val="tx1"/>
                </a:solidFill>
                <a:effectLst/>
                <a:latin typeface="+mn-lt"/>
                <a:ea typeface="+mn-ea"/>
                <a:cs typeface="+mn-cs"/>
              </a:rPr>
              <a:t>Are answered before house ring limit is reached, usually by the third ring.</a:t>
            </a:r>
          </a:p>
          <a:p>
            <a:pPr>
              <a:buFont typeface="Arial" pitchFamily="34" charset="0"/>
              <a:buChar char="•"/>
            </a:pPr>
            <a:r>
              <a:rPr lang="en-AU" sz="1200" kern="1200" dirty="0" smtClean="0">
                <a:solidFill>
                  <a:schemeClr val="tx1"/>
                </a:solidFill>
                <a:effectLst/>
                <a:latin typeface="+mn-lt"/>
                <a:ea typeface="+mn-ea"/>
                <a:cs typeface="+mn-cs"/>
              </a:rPr>
              <a:t>Use an enterprise standard greeting is a statement of who you are and what your establishment’s values are.  </a:t>
            </a:r>
          </a:p>
          <a:p>
            <a:pPr>
              <a:buFont typeface="Arial" pitchFamily="34" charset="0"/>
              <a:buChar char="•"/>
            </a:pPr>
            <a:r>
              <a:rPr lang="en-AU" sz="1200" kern="1200" dirty="0" smtClean="0">
                <a:solidFill>
                  <a:schemeClr val="tx1"/>
                </a:solidFill>
                <a:effectLst/>
                <a:latin typeface="+mn-lt"/>
                <a:ea typeface="+mn-ea"/>
                <a:cs typeface="+mn-cs"/>
              </a:rPr>
              <a:t>Identifying self or position and the hotel or resort, greet the caller and offer assistance or question them to ascertain the purpose of the incoming call.</a:t>
            </a:r>
          </a:p>
          <a:p>
            <a:pPr>
              <a:buFont typeface="Arial" pitchFamily="34" charset="0"/>
              <a:buChar char="•"/>
            </a:pPr>
            <a:r>
              <a:rPr lang="en-AU" sz="1200" kern="1200" dirty="0" smtClean="0">
                <a:solidFill>
                  <a:schemeClr val="tx1"/>
                </a:solidFill>
                <a:effectLst/>
                <a:latin typeface="+mn-lt"/>
                <a:ea typeface="+mn-ea"/>
                <a:cs typeface="+mn-cs"/>
              </a:rPr>
              <a:t>Focusing and concentrating on the call, especially listening carefully to the callers voice.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All staff who use the telephone to accept incoming calls should maintain the same standard etiquette and skills.</a:t>
            </a:r>
          </a:p>
          <a:p>
            <a:r>
              <a:rPr lang="en-AU" sz="1200" kern="1200" dirty="0" smtClean="0">
                <a:solidFill>
                  <a:schemeClr val="tx1"/>
                </a:solidFill>
                <a:effectLst/>
                <a:latin typeface="+mn-lt"/>
                <a:ea typeface="+mn-ea"/>
                <a:cs typeface="+mn-cs"/>
              </a:rPr>
              <a:t>When answering call staff should ensure all calls;</a:t>
            </a:r>
          </a:p>
          <a:p>
            <a:pPr>
              <a:buFont typeface="Arial" pitchFamily="34" charset="0"/>
              <a:buChar char="•"/>
            </a:pPr>
            <a:r>
              <a:rPr lang="en-AU" sz="1200" kern="1200" dirty="0" smtClean="0">
                <a:solidFill>
                  <a:schemeClr val="tx1"/>
                </a:solidFill>
                <a:effectLst/>
                <a:latin typeface="+mn-lt"/>
                <a:ea typeface="+mn-ea"/>
                <a:cs typeface="+mn-cs"/>
              </a:rPr>
              <a:t>Are answered before house ring limit is reached, usually by the third ring.</a:t>
            </a:r>
          </a:p>
          <a:p>
            <a:pPr>
              <a:buFont typeface="Arial" pitchFamily="34" charset="0"/>
              <a:buChar char="•"/>
            </a:pPr>
            <a:r>
              <a:rPr lang="en-AU" sz="1200" kern="1200" dirty="0" smtClean="0">
                <a:solidFill>
                  <a:schemeClr val="tx1"/>
                </a:solidFill>
                <a:effectLst/>
                <a:latin typeface="+mn-lt"/>
                <a:ea typeface="+mn-ea"/>
                <a:cs typeface="+mn-cs"/>
              </a:rPr>
              <a:t>Use an enterprise standard greeting is a statement of who you are and what your establishment’s values are.  </a:t>
            </a:r>
          </a:p>
          <a:p>
            <a:pPr>
              <a:buFont typeface="Arial" pitchFamily="34" charset="0"/>
              <a:buChar char="•"/>
            </a:pPr>
            <a:r>
              <a:rPr lang="en-AU" sz="1200" kern="1200" dirty="0" smtClean="0">
                <a:solidFill>
                  <a:schemeClr val="tx1"/>
                </a:solidFill>
                <a:effectLst/>
                <a:latin typeface="+mn-lt"/>
                <a:ea typeface="+mn-ea"/>
                <a:cs typeface="+mn-cs"/>
              </a:rPr>
              <a:t>Identifying self or position and the hotel or resort, greet the caller and offer assistance or question them to ascertain the purpose of the incoming call.</a:t>
            </a:r>
          </a:p>
          <a:p>
            <a:pPr>
              <a:buFont typeface="Arial" pitchFamily="34" charset="0"/>
              <a:buChar char="•"/>
            </a:pPr>
            <a:r>
              <a:rPr lang="en-AU" sz="1200" kern="1200" dirty="0" smtClean="0">
                <a:solidFill>
                  <a:schemeClr val="tx1"/>
                </a:solidFill>
                <a:effectLst/>
                <a:latin typeface="+mn-lt"/>
                <a:ea typeface="+mn-ea"/>
                <a:cs typeface="+mn-cs"/>
              </a:rPr>
              <a:t>Focusing and concentrating on the call, especially listening carefully to the callers voice. </a:t>
            </a:r>
          </a:p>
          <a:p>
            <a:pPr>
              <a:buFont typeface="Arial" pitchFamily="34" charset="0"/>
              <a:buChar char="•"/>
            </a:pPr>
            <a:r>
              <a:rPr lang="en-AU" sz="1200" kern="1200" dirty="0" smtClean="0">
                <a:solidFill>
                  <a:schemeClr val="tx1"/>
                </a:solidFill>
                <a:effectLst/>
                <a:latin typeface="+mn-lt"/>
                <a:ea typeface="+mn-ea"/>
                <a:cs typeface="+mn-cs"/>
              </a:rPr>
              <a:t>Taking notes and details of any request.</a:t>
            </a:r>
          </a:p>
          <a:p>
            <a:pPr>
              <a:buFont typeface="Arial" pitchFamily="34" charset="0"/>
              <a:buChar char="•"/>
            </a:pPr>
            <a:r>
              <a:rPr lang="en-AU" sz="1200" kern="1200" dirty="0" smtClean="0">
                <a:solidFill>
                  <a:schemeClr val="tx1"/>
                </a:solidFill>
                <a:effectLst/>
                <a:latin typeface="+mn-lt"/>
                <a:ea typeface="+mn-ea"/>
                <a:cs typeface="+mn-cs"/>
              </a:rPr>
              <a:t>Identifying whether caller is calling long-distance or internationally</a:t>
            </a:r>
          </a:p>
          <a:p>
            <a:pPr>
              <a:buFont typeface="Arial" pitchFamily="34" charset="0"/>
              <a:buChar char="•"/>
            </a:pPr>
            <a:r>
              <a:rPr lang="en-AU" sz="1200" kern="1200" dirty="0" smtClean="0">
                <a:solidFill>
                  <a:schemeClr val="tx1"/>
                </a:solidFill>
                <a:effectLst/>
                <a:latin typeface="+mn-lt"/>
                <a:ea typeface="+mn-ea"/>
                <a:cs typeface="+mn-cs"/>
              </a:rPr>
              <a:t>Identifying if caller is a designated VIP caller, a return guest or a corporate guest whose company has a contract with the hotel or resort.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Calls from other countries will need to be co-ordinated with time zone information.</a:t>
            </a:r>
          </a:p>
          <a:p>
            <a:r>
              <a:rPr lang="en-AU" sz="1200" kern="1200" dirty="0" smtClean="0">
                <a:solidFill>
                  <a:schemeClr val="tx1"/>
                </a:solidFill>
                <a:effectLst/>
                <a:latin typeface="+mn-lt"/>
                <a:ea typeface="+mn-ea"/>
                <a:cs typeface="+mn-cs"/>
              </a:rPr>
              <a:t>Charges for international calls vary according to time zone and distance.</a:t>
            </a:r>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When answering incoming calls from international locations, you</a:t>
            </a:r>
            <a:r>
              <a:rPr lang="en-AU" sz="1200" kern="1200" baseline="0" dirty="0" smtClean="0">
                <a:solidFill>
                  <a:schemeClr val="tx1"/>
                </a:solidFill>
                <a:effectLst/>
                <a:latin typeface="+mn-lt"/>
                <a:ea typeface="+mn-ea"/>
                <a:cs typeface="+mn-cs"/>
              </a:rPr>
              <a:t> need</a:t>
            </a:r>
            <a:r>
              <a:rPr lang="en-AU" sz="1200" kern="1200" dirty="0" smtClean="0">
                <a:solidFill>
                  <a:schemeClr val="tx1"/>
                </a:solidFill>
                <a:effectLst/>
                <a:latin typeface="+mn-lt"/>
                <a:ea typeface="+mn-ea"/>
                <a:cs typeface="+mn-cs"/>
              </a:rPr>
              <a:t> language skills or access to interpreters or software that would perform translation. </a:t>
            </a:r>
          </a:p>
          <a:p>
            <a:r>
              <a:rPr lang="en-AU" sz="1200" kern="1200" dirty="0" smtClean="0">
                <a:solidFill>
                  <a:schemeClr val="tx1"/>
                </a:solidFill>
                <a:effectLst/>
                <a:latin typeface="+mn-lt"/>
                <a:ea typeface="+mn-ea"/>
                <a:cs typeface="+mn-cs"/>
              </a:rPr>
              <a:t>International connected by a telephone operator or satellite connection;</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fees will vary according to the country and duration of the call.</a:t>
            </a:r>
            <a:r>
              <a:rPr lang="en-AU" sz="1200" kern="1200" baseline="0" dirty="0" smtClean="0">
                <a:solidFill>
                  <a:schemeClr val="tx1"/>
                </a:solidFill>
                <a:effectLst/>
                <a:latin typeface="+mn-lt"/>
                <a:ea typeface="+mn-ea"/>
                <a:cs typeface="+mn-cs"/>
              </a:rPr>
              <a:t> A</a:t>
            </a:r>
            <a:r>
              <a:rPr lang="en-AU" sz="1200" kern="1200" dirty="0" smtClean="0">
                <a:solidFill>
                  <a:schemeClr val="tx1"/>
                </a:solidFill>
                <a:effectLst/>
                <a:latin typeface="+mn-lt"/>
                <a:ea typeface="+mn-ea"/>
                <a:cs typeface="+mn-cs"/>
              </a:rPr>
              <a:t> satellite call is more expensive than wireless connection.</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ffectLst/>
                <a:latin typeface="+mn-lt"/>
                <a:ea typeface="+mn-ea"/>
                <a:cs typeface="+mn-cs"/>
              </a:rPr>
              <a:t>When receiving incoming calls it’s important to determine the purpose of the call</a:t>
            </a:r>
            <a:r>
              <a:rPr lang="en-AU" sz="1200" kern="1200" baseline="0" dirty="0" smtClean="0">
                <a:solidFill>
                  <a:schemeClr val="tx1"/>
                </a:solidFill>
                <a:effectLst/>
                <a:latin typeface="+mn-lt"/>
                <a:ea typeface="+mn-ea"/>
                <a:cs typeface="+mn-cs"/>
              </a:rPr>
              <a:t> s</a:t>
            </a:r>
            <a:r>
              <a:rPr lang="en-AU" sz="1200" kern="1200" dirty="0" smtClean="0">
                <a:solidFill>
                  <a:schemeClr val="tx1"/>
                </a:solidFill>
                <a:effectLst/>
                <a:latin typeface="+mn-lt"/>
                <a:ea typeface="+mn-ea"/>
                <a:cs typeface="+mn-cs"/>
              </a:rPr>
              <a:t>o it can directed to the appropriate staff or department In a large hotel or resort.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ffectLst/>
                <a:latin typeface="+mn-lt"/>
                <a:ea typeface="+mn-ea"/>
                <a:cs typeface="+mn-cs"/>
              </a:rPr>
              <a:t>The telephone operator may answer calls on behalf of several different departments and then transmit the information to appropriate staff by pager or text.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Respond to guest requests.</a:t>
            </a:r>
          </a:p>
          <a:p>
            <a:pPr marL="171450" indent="-171450">
              <a:buFont typeface="Arial" pitchFamily="34" charset="0"/>
              <a:buChar char="•"/>
            </a:pPr>
            <a:r>
              <a:rPr lang="en-AU" sz="1200" kern="1200" dirty="0" smtClean="0">
                <a:solidFill>
                  <a:schemeClr val="tx1"/>
                </a:solidFill>
                <a:effectLst/>
                <a:latin typeface="+mn-lt"/>
                <a:ea typeface="+mn-ea"/>
                <a:cs typeface="+mn-cs"/>
              </a:rPr>
              <a:t>React promptly, give the guest your full attention and show genuine interest in their questions.</a:t>
            </a:r>
          </a:p>
          <a:p>
            <a:r>
              <a:rPr lang="en-AU" sz="1200" kern="1200" dirty="0" smtClean="0">
                <a:solidFill>
                  <a:schemeClr val="tx1"/>
                </a:solidFill>
                <a:effectLst/>
                <a:latin typeface="+mn-lt"/>
                <a:ea typeface="+mn-ea"/>
                <a:cs typeface="+mn-cs"/>
              </a:rPr>
              <a:t>If you know the answer:</a:t>
            </a:r>
          </a:p>
          <a:p>
            <a:pPr marL="171450" lvl="0" indent="-171450">
              <a:buFont typeface="Arial" pitchFamily="34" charset="0"/>
              <a:buChar char="•"/>
            </a:pPr>
            <a:r>
              <a:rPr lang="en-AU" sz="1200" kern="1200" dirty="0" smtClean="0">
                <a:solidFill>
                  <a:schemeClr val="tx1"/>
                </a:solidFill>
                <a:effectLst/>
                <a:latin typeface="+mn-lt"/>
                <a:ea typeface="+mn-ea"/>
                <a:cs typeface="+mn-cs"/>
              </a:rPr>
              <a:t>Tell the guest and ask if there is anything else you can help them with.</a:t>
            </a:r>
          </a:p>
          <a:p>
            <a:pPr marL="171450" lvl="0" indent="-171450">
              <a:buFont typeface="Arial" pitchFamily="34" charset="0"/>
              <a:buChar char="•"/>
            </a:pPr>
            <a:r>
              <a:rPr lang="en-AU" sz="1200" kern="1200" dirty="0" smtClean="0">
                <a:solidFill>
                  <a:schemeClr val="tx1"/>
                </a:solidFill>
                <a:effectLst/>
                <a:latin typeface="+mn-lt"/>
                <a:ea typeface="+mn-ea"/>
                <a:cs typeface="+mn-cs"/>
              </a:rPr>
              <a:t>Finish the conversation with a pleasant greeting, e.g. ‘I hope you enjoy your stay’.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If you don’t know the answer:</a:t>
            </a:r>
          </a:p>
          <a:p>
            <a:pPr marL="171450" lvl="0" indent="-171450">
              <a:buFont typeface="Arial" pitchFamily="34" charset="0"/>
              <a:buChar char="•"/>
            </a:pPr>
            <a:r>
              <a:rPr lang="en-AU" sz="1200" kern="1200" dirty="0" smtClean="0">
                <a:solidFill>
                  <a:schemeClr val="tx1"/>
                </a:solidFill>
                <a:effectLst/>
                <a:latin typeface="+mn-lt"/>
                <a:ea typeface="+mn-ea"/>
                <a:cs typeface="+mn-cs"/>
              </a:rPr>
              <a:t>Never make it up or say, ‘ I don’t know’ or ‘That’s not my department’. You should apologise where an immediate, correct response cannot be given.</a:t>
            </a:r>
          </a:p>
          <a:p>
            <a:pPr marL="171450" lvl="0" indent="-171450">
              <a:buFont typeface="Arial" pitchFamily="34" charset="0"/>
              <a:buChar char="•"/>
            </a:pPr>
            <a:r>
              <a:rPr lang="en-AU" sz="1200" kern="1200" dirty="0" smtClean="0">
                <a:solidFill>
                  <a:schemeClr val="tx1"/>
                </a:solidFill>
                <a:effectLst/>
                <a:latin typeface="+mn-lt"/>
                <a:ea typeface="+mn-ea"/>
                <a:cs typeface="+mn-cs"/>
              </a:rPr>
              <a:t>Offer to find out and get back to the guest with the answer. This may involve putting the guest on hold or taking details and returning the call.</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Char char="•"/>
            </a:pPr>
            <a:r>
              <a:rPr lang="en-AU" sz="1200" kern="1200" dirty="0" smtClean="0">
                <a:solidFill>
                  <a:schemeClr val="tx1"/>
                </a:solidFill>
                <a:effectLst/>
                <a:latin typeface="+mn-lt"/>
                <a:ea typeface="+mn-ea"/>
                <a:cs typeface="+mn-cs"/>
              </a:rPr>
              <a:t>Do not keep the guest waiting while you try to find the answer.</a:t>
            </a:r>
            <a:r>
              <a:rPr lang="en-AU" sz="1200" kern="1200" baseline="0" dirty="0" smtClean="0">
                <a:solidFill>
                  <a:schemeClr val="tx1"/>
                </a:solidFill>
                <a:effectLst/>
                <a:latin typeface="+mn-lt"/>
                <a:ea typeface="+mn-ea"/>
                <a:cs typeface="+mn-cs"/>
              </a:rPr>
              <a:t> O</a:t>
            </a:r>
            <a:r>
              <a:rPr lang="en-AU" sz="1200" kern="1200" dirty="0" smtClean="0">
                <a:solidFill>
                  <a:schemeClr val="tx1"/>
                </a:solidFill>
                <a:effectLst/>
                <a:latin typeface="+mn-lt"/>
                <a:ea typeface="+mn-ea"/>
                <a:cs typeface="+mn-cs"/>
              </a:rPr>
              <a:t>ffer to deliver the information or call back or transfer the call to a guest</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services attendant or another department who can best answer the question.</a:t>
            </a:r>
          </a:p>
          <a:p>
            <a:pPr marL="171450" lvl="0" indent="-171450">
              <a:buFont typeface="Arial" pitchFamily="34" charset="0"/>
              <a:buChar char="•"/>
            </a:pPr>
            <a:r>
              <a:rPr lang="en-AU" sz="1200" kern="1200" dirty="0" smtClean="0">
                <a:solidFill>
                  <a:schemeClr val="tx1"/>
                </a:solidFill>
                <a:effectLst/>
                <a:latin typeface="+mn-lt"/>
                <a:ea typeface="+mn-ea"/>
                <a:cs typeface="+mn-cs"/>
              </a:rPr>
              <a:t>Make sure you follow up and get back to the guest quickly.</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To take messages accurately make sure that you record:</a:t>
            </a:r>
          </a:p>
          <a:p>
            <a:pPr marL="171450" lvl="0" indent="-171450">
              <a:buFont typeface="Arial" pitchFamily="34" charset="0"/>
              <a:buChar char="•"/>
            </a:pPr>
            <a:r>
              <a:rPr lang="en-AU" sz="1200" kern="1200" dirty="0" smtClean="0">
                <a:solidFill>
                  <a:schemeClr val="tx1"/>
                </a:solidFill>
                <a:effectLst/>
                <a:latin typeface="+mn-lt"/>
                <a:ea typeface="+mn-ea"/>
                <a:cs typeface="+mn-cs"/>
              </a:rPr>
              <a:t>Who the message is for</a:t>
            </a:r>
            <a:r>
              <a:rPr lang="en-AU" sz="1200" kern="1200" baseline="0" dirty="0" smtClean="0">
                <a:solidFill>
                  <a:schemeClr val="tx1"/>
                </a:solidFill>
                <a:effectLst/>
                <a:latin typeface="+mn-lt"/>
                <a:ea typeface="+mn-ea"/>
                <a:cs typeface="+mn-cs"/>
              </a:rPr>
              <a:t> asking for</a:t>
            </a:r>
            <a:r>
              <a:rPr lang="en-AU" sz="1200" kern="1200" dirty="0" smtClean="0">
                <a:solidFill>
                  <a:schemeClr val="tx1"/>
                </a:solidFill>
                <a:effectLst/>
                <a:latin typeface="+mn-lt"/>
                <a:ea typeface="+mn-ea"/>
                <a:cs typeface="+mn-cs"/>
              </a:rPr>
              <a:t> the full name and remembering that you might have 10 guests with the name Ng or Lee staying in the hotel</a:t>
            </a:r>
          </a:p>
          <a:p>
            <a:pPr marL="171450" lvl="0" indent="-171450">
              <a:buFont typeface="Arial" pitchFamily="34" charset="0"/>
              <a:buChar char="•"/>
            </a:pPr>
            <a:r>
              <a:rPr lang="en-AU" sz="1200" kern="1200" dirty="0" smtClean="0">
                <a:solidFill>
                  <a:schemeClr val="tx1"/>
                </a:solidFill>
                <a:effectLst/>
                <a:latin typeface="+mn-lt"/>
                <a:ea typeface="+mn-ea"/>
                <a:cs typeface="+mn-cs"/>
              </a:rPr>
              <a:t>Who left the message; repeat the name back and make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sure that you have the correct spelling. Record any details of Company</a:t>
            </a:r>
            <a:r>
              <a:rPr lang="en-AU" sz="1200" kern="1200" baseline="0" dirty="0" smtClean="0">
                <a:solidFill>
                  <a:schemeClr val="tx1"/>
                </a:solidFill>
                <a:effectLst/>
                <a:latin typeface="+mn-lt"/>
                <a:ea typeface="+mn-ea"/>
                <a:cs typeface="+mn-cs"/>
              </a:rPr>
              <a:t> and</a:t>
            </a:r>
            <a:r>
              <a:rPr lang="en-AU" sz="1200" kern="1200" dirty="0" smtClean="0">
                <a:solidFill>
                  <a:schemeClr val="tx1"/>
                </a:solidFill>
                <a:effectLst/>
                <a:latin typeface="+mn-lt"/>
                <a:ea typeface="+mn-ea"/>
                <a:cs typeface="+mn-cs"/>
              </a:rPr>
              <a:t> the caller’s city, which is required to estimate time for the return call to occur.</a:t>
            </a:r>
          </a:p>
          <a:p>
            <a:pPr marL="171450" lvl="0" indent="-171450">
              <a:buFont typeface="Arial" pitchFamily="34" charset="0"/>
              <a:buChar char="•"/>
            </a:pPr>
            <a:r>
              <a:rPr lang="en-AU" sz="1200" kern="1200" dirty="0" smtClean="0">
                <a:solidFill>
                  <a:schemeClr val="tx1"/>
                </a:solidFill>
                <a:effectLst/>
                <a:latin typeface="+mn-lt"/>
                <a:ea typeface="+mn-ea"/>
                <a:cs typeface="+mn-cs"/>
              </a:rPr>
              <a:t>The number and any extension of the person leaving the message. Check and repeat this back to the caller so that you do not give your guest the wrong number. </a:t>
            </a:r>
          </a:p>
          <a:p>
            <a:pPr marL="171450" lvl="0" indent="-171450">
              <a:buFont typeface="Arial" pitchFamily="34" charset="0"/>
              <a:buNone/>
            </a:pPr>
            <a:endParaRPr lang="en-AU"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Char char="•"/>
            </a:pPr>
            <a:r>
              <a:rPr lang="en-AU" sz="1200" kern="1200" dirty="0" smtClean="0">
                <a:solidFill>
                  <a:schemeClr val="tx1"/>
                </a:solidFill>
                <a:effectLst/>
                <a:latin typeface="+mn-lt"/>
                <a:ea typeface="+mn-ea"/>
                <a:cs typeface="+mn-cs"/>
              </a:rPr>
              <a:t>The number and any extension of the person leaving the message. Check and repeat this back to the caller so that you do not give your guest the wrong number. </a:t>
            </a:r>
          </a:p>
          <a:p>
            <a:pPr marL="171450" lvl="0" indent="-171450">
              <a:buFont typeface="Arial" pitchFamily="34" charset="0"/>
              <a:buNone/>
            </a:pPr>
            <a:endParaRPr lang="en-AU" sz="1200" kern="1200" dirty="0" smtClean="0">
              <a:solidFill>
                <a:schemeClr val="tx1"/>
              </a:solidFill>
              <a:effectLst/>
              <a:latin typeface="+mn-lt"/>
              <a:ea typeface="+mn-ea"/>
              <a:cs typeface="+mn-cs"/>
            </a:endParaRPr>
          </a:p>
          <a:p>
            <a:pPr marL="171450" lvl="0" indent="-171450">
              <a:buFont typeface="Arial" pitchFamily="34" charset="0"/>
              <a:buNone/>
            </a:pPr>
            <a:r>
              <a:rPr lang="en-AU" sz="1200" kern="1200" dirty="0" smtClean="0">
                <a:solidFill>
                  <a:schemeClr val="tx1"/>
                </a:solidFill>
                <a:effectLst/>
                <a:latin typeface="+mn-lt"/>
                <a:ea typeface="+mn-ea"/>
                <a:cs typeface="+mn-cs"/>
              </a:rPr>
              <a:t>	An accurate message should be taken;</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repeat the message back to confirm this with the caller. Confirm the importance and urgency and any action requested or promised.</a:t>
            </a:r>
          </a:p>
          <a:p>
            <a:pPr marL="171450" lvl="0" indent="-171450">
              <a:buFont typeface="Arial" pitchFamily="34" charset="0"/>
              <a:buNone/>
            </a:pPr>
            <a:endParaRPr lang="en-AU" sz="1200" kern="1200" dirty="0" smtClean="0">
              <a:solidFill>
                <a:schemeClr val="tx1"/>
              </a:solidFill>
              <a:effectLst/>
              <a:latin typeface="+mn-lt"/>
              <a:ea typeface="+mn-ea"/>
              <a:cs typeface="+mn-cs"/>
            </a:endParaRPr>
          </a:p>
          <a:p>
            <a:pPr marL="171450" lvl="0" indent="-171450">
              <a:buFont typeface="Arial" pitchFamily="34" charset="0"/>
              <a:buNone/>
            </a:pPr>
            <a:r>
              <a:rPr lang="en-AU" sz="1200" kern="1200" dirty="0" smtClean="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None/>
            </a:pPr>
            <a:r>
              <a:rPr lang="en-AU" sz="1200" kern="1200" dirty="0" smtClean="0">
                <a:solidFill>
                  <a:schemeClr val="tx1"/>
                </a:solidFill>
                <a:effectLst/>
                <a:latin typeface="+mn-lt"/>
                <a:ea typeface="+mn-ea"/>
                <a:cs typeface="+mn-cs"/>
              </a:rPr>
              <a:t>Lastly record the date and time of the call, including the action and follow-up .Also include the name </a:t>
            </a:r>
            <a:r>
              <a:rPr lang="en-AU" sz="1200" kern="1200" dirty="0" smtClean="0">
                <a:solidFill>
                  <a:schemeClr val="tx1"/>
                </a:solidFill>
                <a:effectLst/>
                <a:latin typeface="+mn-lt"/>
                <a:ea typeface="+mn-ea"/>
                <a:cs typeface="+mn-cs"/>
              </a:rPr>
              <a:t>of</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the </a:t>
            </a:r>
            <a:r>
              <a:rPr lang="en-AU" sz="1200" kern="1200" dirty="0" smtClean="0">
                <a:solidFill>
                  <a:schemeClr val="tx1"/>
                </a:solidFill>
                <a:effectLst/>
                <a:latin typeface="+mn-lt"/>
                <a:ea typeface="+mn-ea"/>
                <a:cs typeface="+mn-cs"/>
              </a:rPr>
              <a:t>person who recorded the message. If the message has been entered into an electronic system or PMS, then it will automatically be dated, time stamped and carry the ID of the staff member who entered the data.</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This helps the students become familiar with the art of message taking.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AU" sz="1200" kern="1200" dirty="0" smtClean="0">
                <a:solidFill>
                  <a:schemeClr val="tx1"/>
                </a:solidFill>
                <a:effectLst/>
                <a:latin typeface="+mn-lt"/>
                <a:ea typeface="+mn-ea"/>
                <a:cs typeface="+mn-cs"/>
              </a:rPr>
              <a:t>All messages received and recorded need to be distributed to their recipients.</a:t>
            </a:r>
          </a:p>
          <a:p>
            <a:pPr marL="171450" indent="-171450">
              <a:buFont typeface="Arial" pitchFamily="34" charset="0"/>
              <a:buChar char="•"/>
            </a:pPr>
            <a:r>
              <a:rPr lang="en-AU" sz="1200" kern="1200" dirty="0" smtClean="0">
                <a:solidFill>
                  <a:schemeClr val="tx1"/>
                </a:solidFill>
                <a:effectLst/>
                <a:latin typeface="+mn-lt"/>
                <a:ea typeface="+mn-ea"/>
                <a:cs typeface="+mn-cs"/>
              </a:rPr>
              <a:t>In regards to distribution of messages it is essential that it is timely and accurately distributed.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AU" sz="1200" kern="1200" dirty="0" smtClean="0">
                <a:solidFill>
                  <a:schemeClr val="tx1"/>
                </a:solidFill>
                <a:effectLst/>
                <a:latin typeface="+mn-lt"/>
                <a:ea typeface="+mn-ea"/>
                <a:cs typeface="+mn-cs"/>
              </a:rPr>
              <a:t>Porter duties usually include taking messages, packages or mail for in-house guests in liaison with reception staff, receiving and distributing guest mail, messages, emails and faxes.</a:t>
            </a:r>
          </a:p>
          <a:p>
            <a:pPr marL="171450" indent="-171450">
              <a:buFont typeface="Arial" pitchFamily="34" charset="0"/>
              <a:buChar char="•"/>
            </a:pPr>
            <a:r>
              <a:rPr lang="en-AU" sz="1200" kern="1200" dirty="0" smtClean="0">
                <a:solidFill>
                  <a:schemeClr val="tx1"/>
                </a:solidFill>
                <a:effectLst/>
                <a:latin typeface="+mn-lt"/>
                <a:ea typeface="+mn-ea"/>
                <a:cs typeface="+mn-cs"/>
              </a:rPr>
              <a:t>A message may be left for an expected guest and notification can be attached electronically to the reservation </a:t>
            </a:r>
            <a:r>
              <a:rPr lang="en-AU" sz="1200" kern="1200" dirty="0" smtClean="0">
                <a:solidFill>
                  <a:schemeClr val="tx1"/>
                </a:solidFill>
                <a:effectLst/>
                <a:latin typeface="+mn-lt"/>
                <a:ea typeface="+mn-ea"/>
                <a:cs typeface="+mn-cs"/>
              </a:rPr>
              <a:t>information.</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A conference call is a telephone call in which the calling party wishes to have more than one called party listen in to the audio portion of the call. The conference calls may be designed to allow the called party to participate during the call, or the call may be set up so that the called party merely listens into the call and cannot speak.</a:t>
            </a:r>
            <a:r>
              <a:rPr lang="en-AU" sz="1200" kern="1200" baseline="0" dirty="0" smtClean="0">
                <a:solidFill>
                  <a:schemeClr val="tx1"/>
                </a:solidFill>
                <a:effectLst/>
                <a:latin typeface="+mn-lt"/>
                <a:ea typeface="+mn-ea"/>
                <a:cs typeface="+mn-cs"/>
              </a:rPr>
              <a:t> I</a:t>
            </a:r>
            <a:r>
              <a:rPr lang="en-AU" sz="1200" kern="1200" dirty="0" smtClean="0">
                <a:solidFill>
                  <a:schemeClr val="tx1"/>
                </a:solidFill>
                <a:effectLst/>
                <a:latin typeface="+mn-lt"/>
                <a:ea typeface="+mn-ea"/>
                <a:cs typeface="+mn-cs"/>
              </a:rPr>
              <a:t>t can also be set up to view the other caller. This is sometimes called Teleconference.</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Whatever the threat or suspicious behaviour there are certain steps to follow. </a:t>
            </a:r>
          </a:p>
          <a:p>
            <a:r>
              <a:rPr lang="en-AU" sz="1200" kern="1200" dirty="0" smtClean="0">
                <a:solidFill>
                  <a:schemeClr val="tx1"/>
                </a:solidFill>
                <a:effectLst/>
                <a:latin typeface="+mn-lt"/>
                <a:ea typeface="+mn-ea"/>
                <a:cs typeface="+mn-cs"/>
              </a:rPr>
              <a:t>It is important to remain calm.</a:t>
            </a:r>
            <a:r>
              <a:rPr lang="en-AU" sz="1200" kern="1200" baseline="0" dirty="0" smtClean="0">
                <a:solidFill>
                  <a:schemeClr val="tx1"/>
                </a:solidFill>
                <a:effectLst/>
                <a:latin typeface="+mn-lt"/>
                <a:ea typeface="+mn-ea"/>
                <a:cs typeface="+mn-cs"/>
              </a:rPr>
              <a:t> D</a:t>
            </a:r>
            <a:r>
              <a:rPr lang="en-AU" sz="1200" kern="1200" dirty="0" smtClean="0">
                <a:solidFill>
                  <a:schemeClr val="tx1"/>
                </a:solidFill>
                <a:effectLst/>
                <a:latin typeface="+mn-lt"/>
                <a:ea typeface="+mn-ea"/>
                <a:cs typeface="+mn-cs"/>
              </a:rPr>
              <a:t>o not hang up as this can enable the authorities to trace the call. By capturing as much detail as possible about the call, caller and nature of the threat, the caller should be treated with respect and not abused. Staff should not laugh or treat the threat lightly. It’s important not to be angry or upset as this could cause the caller to become agitated and hang up or escalate the situation. But it is also important to confirm the call is genuine and not a prank or joke. Despite the cause or reason a record should be kept of the conversation.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If it’s a bomb threat then try to get as much information as possible, who the group or individuals are who are making the threat, why and how</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they will carry out their threats. There is a need to establish who specifically the threat is against and why or when it will occur. Is there any action the telephonist can take that will solve the problem or difficulty?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The venue’s policies and procedures have to be followed and management and other staff notified of the situation. It may be that staff need to initiate an evacuation or implement the Emergency Management Plan (EMP) and also notify relevant authorities. If there is a serious threat management will call departments and room numbers to facilitate the warning of people in accordance with the Emergency Management Plan.</a:t>
            </a:r>
          </a:p>
          <a:p>
            <a:r>
              <a:rPr lang="en-AU" sz="1200" kern="1200" dirty="0" smtClean="0">
                <a:solidFill>
                  <a:schemeClr val="tx1"/>
                </a:solidFill>
                <a:effectLst/>
                <a:latin typeface="+mn-lt"/>
                <a:ea typeface="+mn-ea"/>
                <a:cs typeface="+mn-cs"/>
              </a:rPr>
              <a:t>All threats and suspicious behaviour should be taken seriously and immediately contact a supervisor as to what is occurring.</a:t>
            </a:r>
          </a:p>
          <a:p>
            <a:pPr>
              <a:buFont typeface="Arial" pitchFamily="34" charset="0"/>
              <a:buChar char="•"/>
            </a:pP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When answering a difficult call the telephonist must first listen, then apologise.</a:t>
            </a:r>
          </a:p>
          <a:p>
            <a:r>
              <a:rPr lang="en-AU" sz="1200" kern="1200" dirty="0" smtClean="0">
                <a:solidFill>
                  <a:schemeClr val="tx1"/>
                </a:solidFill>
                <a:effectLst/>
                <a:latin typeface="+mn-lt"/>
                <a:ea typeface="+mn-ea"/>
                <a:cs typeface="+mn-cs"/>
              </a:rPr>
              <a:t>Come to a conclusion explaining what action can be taken. Identify how the complaint will be dealt with and always follow up</a:t>
            </a:r>
          </a:p>
          <a:p>
            <a:r>
              <a:rPr lang="en-AU" sz="1200" kern="1200" dirty="0" smtClean="0">
                <a:solidFill>
                  <a:schemeClr val="tx1"/>
                </a:solidFill>
                <a:effectLst/>
                <a:latin typeface="+mn-lt"/>
                <a:ea typeface="+mn-ea"/>
                <a:cs typeface="+mn-cs"/>
              </a:rPr>
              <a:t>By capturing as much detail as possible about the </a:t>
            </a:r>
            <a:r>
              <a:rPr lang="en-AU" sz="1200" kern="1200" dirty="0" smtClean="0">
                <a:solidFill>
                  <a:schemeClr val="tx1"/>
                </a:solidFill>
                <a:effectLst/>
                <a:latin typeface="+mn-lt"/>
                <a:ea typeface="+mn-ea"/>
                <a:cs typeface="+mn-cs"/>
              </a:rPr>
              <a:t>caller </a:t>
            </a:r>
            <a:r>
              <a:rPr lang="en-AU" sz="1200" kern="1200" dirty="0" smtClean="0">
                <a:solidFill>
                  <a:schemeClr val="tx1"/>
                </a:solidFill>
                <a:effectLst/>
                <a:latin typeface="+mn-lt"/>
                <a:ea typeface="+mn-ea"/>
                <a:cs typeface="+mn-cs"/>
              </a:rPr>
              <a:t>the caller should still be treated with respect. But it is also important to confirm the call is genuine and not a prank or hoax. Despite the cause or reason a record should be kept of the conversation. A difficult guest may simply be misunderstood, but for those who are angry or upset and not responding positively, remember to be tactful, keep cool, sympathise and try to give assistance but always call or notify management.</a:t>
            </a:r>
          </a:p>
          <a:p>
            <a:r>
              <a:rPr lang="en-AU" sz="120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AU" sz="1200" kern="1200" dirty="0" smtClean="0">
                <a:solidFill>
                  <a:schemeClr val="tx1"/>
                </a:solidFill>
                <a:effectLst/>
                <a:latin typeface="+mn-lt"/>
                <a:ea typeface="+mn-ea"/>
                <a:cs typeface="+mn-cs"/>
              </a:rPr>
              <a:t> Voice mail is a computer-based system that  will answer the caller and deliver voice information about organisations, products and services, using an ordinary telephone. The term is also used more broadly to denote any system of conveying a stored voice messages. </a:t>
            </a:r>
          </a:p>
          <a:p>
            <a:pPr marL="171450" indent="-171450">
              <a:buFont typeface="Arial" pitchFamily="34" charset="0"/>
              <a:buChar char="•"/>
            </a:pPr>
            <a:r>
              <a:rPr lang="en-AU" sz="1200" kern="1200" dirty="0" smtClean="0">
                <a:solidFill>
                  <a:schemeClr val="tx1"/>
                </a:solidFill>
                <a:effectLst/>
                <a:latin typeface="+mn-lt"/>
                <a:ea typeface="+mn-ea"/>
                <a:cs typeface="+mn-cs"/>
              </a:rPr>
              <a:t>Voicemail systems are designed to convey a caller's recorded audio message to a recipient.</a:t>
            </a:r>
          </a:p>
          <a:p>
            <a:pPr marL="171450" indent="-171450">
              <a:buFont typeface="Arial" pitchFamily="34" charset="0"/>
              <a:buChar char="•"/>
            </a:pPr>
            <a:r>
              <a:rPr lang="en-AU" sz="1200" kern="1200" dirty="0" smtClean="0">
                <a:solidFill>
                  <a:schemeClr val="tx1"/>
                </a:solidFill>
                <a:effectLst/>
                <a:latin typeface="+mn-lt"/>
                <a:ea typeface="+mn-ea"/>
                <a:cs typeface="+mn-cs"/>
              </a:rPr>
              <a:t>Most telephone systems have the ability to play an advertising message or music when a call is placed on hold or before it answers.</a:t>
            </a:r>
          </a:p>
          <a:p>
            <a:pPr marL="171450" indent="-171450">
              <a:buFont typeface="Arial" pitchFamily="34" charset="0"/>
              <a:buChar char="•"/>
            </a:pPr>
            <a:r>
              <a:rPr lang="en-AU" sz="1200" kern="1200" dirty="0" smtClean="0">
                <a:solidFill>
                  <a:schemeClr val="tx1"/>
                </a:solidFill>
                <a:effectLst/>
                <a:latin typeface="+mn-lt"/>
                <a:ea typeface="+mn-ea"/>
                <a:cs typeface="+mn-cs"/>
              </a:rPr>
              <a:t>Calls are placed on hold because there is a bank up of calls and the operator is busy.</a:t>
            </a:r>
          </a:p>
          <a:p>
            <a:pPr marL="171450" indent="-171450">
              <a:buFont typeface="Arial" pitchFamily="34" charset="0"/>
              <a:buChar char="•"/>
            </a:pPr>
            <a:r>
              <a:rPr lang="en-AU" sz="1200" kern="1200" dirty="0" smtClean="0">
                <a:solidFill>
                  <a:schemeClr val="tx1"/>
                </a:solidFill>
                <a:effectLst/>
                <a:latin typeface="+mn-lt"/>
                <a:ea typeface="+mn-ea"/>
                <a:cs typeface="+mn-cs"/>
              </a:rPr>
              <a:t>Sometimes calls are put on hold manually.</a:t>
            </a:r>
            <a:r>
              <a:rPr lang="en-AU" sz="1200" kern="1200" baseline="0" dirty="0" smtClean="0">
                <a:solidFill>
                  <a:schemeClr val="tx1"/>
                </a:solidFill>
                <a:effectLst/>
                <a:latin typeface="+mn-lt"/>
                <a:ea typeface="+mn-ea"/>
                <a:cs typeface="+mn-cs"/>
              </a:rPr>
              <a:t> F</a:t>
            </a:r>
            <a:r>
              <a:rPr lang="en-AU" sz="1200" kern="1200" dirty="0" smtClean="0">
                <a:solidFill>
                  <a:schemeClr val="tx1"/>
                </a:solidFill>
                <a:effectLst/>
                <a:latin typeface="+mn-lt"/>
                <a:ea typeface="+mn-ea"/>
                <a:cs typeface="+mn-cs"/>
              </a:rPr>
              <a:t>or instance, when you need to get some information for the guest you will inform them that they are going to be put on hold while you collect this information or speak to a supervisor.  In this circumstance music or promotional messages can be used rather than the caller listening to nothing.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Trainer to explain</a:t>
            </a:r>
            <a:r>
              <a:rPr lang="en-AU" baseline="0" dirty="0" smtClean="0"/>
              <a:t> the idea and purpose of redirecting calls.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why a call needs to be put on hold.</a:t>
            </a:r>
          </a:p>
          <a:p>
            <a:r>
              <a:rPr lang="en-AU" sz="1200" dirty="0" smtClean="0"/>
              <a:t>The procedure to transfer a call is:</a:t>
            </a:r>
          </a:p>
          <a:p>
            <a:pPr marL="171450" lvl="0" indent="-171450">
              <a:buFont typeface="Arial" pitchFamily="34" charset="0"/>
              <a:buChar char="•"/>
            </a:pPr>
            <a:r>
              <a:rPr lang="en-AU" sz="1200" dirty="0" smtClean="0"/>
              <a:t>Answer the incoming call according to establishment procedures</a:t>
            </a:r>
          </a:p>
          <a:p>
            <a:pPr marL="171450" lvl="0" indent="-171450">
              <a:buFont typeface="Arial" pitchFamily="34" charset="0"/>
              <a:buChar char="•"/>
            </a:pPr>
            <a:r>
              <a:rPr lang="en-AU" sz="1200" dirty="0" smtClean="0"/>
              <a:t>Establish who the call is for</a:t>
            </a:r>
          </a:p>
          <a:p>
            <a:pPr marL="171450" lvl="0" indent="-171450">
              <a:buFont typeface="Arial" pitchFamily="34" charset="0"/>
              <a:buChar char="•"/>
            </a:pPr>
            <a:r>
              <a:rPr lang="en-AU" sz="1200" dirty="0" smtClean="0"/>
              <a:t>Thank the caller and ask the caller if you can transfer them.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Char char="•"/>
            </a:pPr>
            <a:r>
              <a:rPr lang="en-AU" sz="1200" dirty="0" smtClean="0"/>
              <a:t>Explain where they are being transferred to.</a:t>
            </a:r>
          </a:p>
          <a:p>
            <a:pPr marL="171450" lvl="0" indent="-171450">
              <a:buFont typeface="Arial" pitchFamily="34" charset="0"/>
              <a:buChar char="•"/>
            </a:pPr>
            <a:r>
              <a:rPr lang="en-AU" sz="1200" dirty="0" smtClean="0"/>
              <a:t>If the caller doesn't want to be transferred you need to take a message.</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ffectLst/>
                <a:latin typeface="+mn-lt"/>
                <a:ea typeface="+mn-ea"/>
                <a:cs typeface="+mn-cs"/>
              </a:rPr>
              <a:t>Discuss why a call needs to be put on hold</a:t>
            </a:r>
            <a:r>
              <a:rPr lang="en-AU" sz="1200" kern="1200" dirty="0" smtClean="0">
                <a:solidFill>
                  <a:schemeClr val="tx1"/>
                </a:solidFill>
                <a:effectLst/>
                <a:latin typeface="+mn-lt"/>
                <a:ea typeface="+mn-ea"/>
                <a:cs typeface="+mn-cs"/>
              </a:rPr>
              <a:t>.</a:t>
            </a:r>
          </a:p>
          <a:p>
            <a:pPr marL="171450" indent="-171450">
              <a:buFont typeface="Arial" pitchFamily="34" charset="0"/>
              <a:buChar char="•"/>
            </a:pPr>
            <a:r>
              <a:rPr lang="en-AU" sz="1200" kern="1200" dirty="0" smtClean="0">
                <a:solidFill>
                  <a:schemeClr val="tx1"/>
                </a:solidFill>
                <a:effectLst/>
                <a:latin typeface="+mn-lt"/>
                <a:ea typeface="+mn-ea"/>
                <a:cs typeface="+mn-cs"/>
              </a:rPr>
              <a:t>The  extension may be busy </a:t>
            </a:r>
          </a:p>
          <a:p>
            <a:pPr marL="171450" indent="-171450">
              <a:buFont typeface="Arial" pitchFamily="34" charset="0"/>
              <a:buChar char="•"/>
            </a:pPr>
            <a:r>
              <a:rPr lang="en-AU" sz="1200" kern="1200" dirty="0" smtClean="0">
                <a:solidFill>
                  <a:schemeClr val="tx1"/>
                </a:solidFill>
                <a:effectLst/>
                <a:latin typeface="+mn-lt"/>
                <a:ea typeface="+mn-ea"/>
                <a:cs typeface="+mn-cs"/>
              </a:rPr>
              <a:t>There are several other calls to attend to at the same time. </a:t>
            </a:r>
          </a:p>
          <a:p>
            <a:pPr marL="171450" indent="-171450">
              <a:buFont typeface="Arial" pitchFamily="34" charset="0"/>
              <a:buChar char="•"/>
            </a:pPr>
            <a:r>
              <a:rPr lang="en-AU" sz="1200" kern="1200" dirty="0" smtClean="0">
                <a:solidFill>
                  <a:schemeClr val="tx1"/>
                </a:solidFill>
                <a:effectLst/>
                <a:latin typeface="+mn-lt"/>
                <a:ea typeface="+mn-ea"/>
                <a:cs typeface="+mn-cs"/>
              </a:rPr>
              <a:t>If a caller indicates that they do not want to be put on hold and ask to have the call dealt with immediately, then you may have to take information and return the call at a later time. </a:t>
            </a:r>
          </a:p>
          <a:p>
            <a:pPr marL="171450" indent="-171450">
              <a:buFont typeface="Arial" pitchFamily="34" charset="0"/>
              <a:buChar char="•"/>
            </a:pPr>
            <a:r>
              <a:rPr lang="en-AU" sz="1200" kern="1200" dirty="0" smtClean="0">
                <a:solidFill>
                  <a:schemeClr val="tx1"/>
                </a:solidFill>
                <a:effectLst/>
                <a:latin typeface="+mn-lt"/>
                <a:ea typeface="+mn-ea"/>
                <a:cs typeface="+mn-cs"/>
              </a:rPr>
              <a:t>Most telephone systems have the ability to play an advertising message or music when a call is placed on hold or before it answers.</a:t>
            </a:r>
          </a:p>
          <a:p>
            <a:pPr marL="171450" indent="-171450">
              <a:buFont typeface="Arial" pitchFamily="34" charset="0"/>
              <a:buChar char="•"/>
            </a:pPr>
            <a:r>
              <a:rPr lang="en-AU" sz="1200" kern="1200" dirty="0" smtClean="0">
                <a:solidFill>
                  <a:schemeClr val="tx1"/>
                </a:solidFill>
                <a:effectLst/>
                <a:latin typeface="+mn-lt"/>
                <a:ea typeface="+mn-ea"/>
                <a:cs typeface="+mn-cs"/>
              </a:rPr>
              <a:t>Sometimes calls are put on hold manually.</a:t>
            </a:r>
            <a:r>
              <a:rPr lang="en-AU" sz="1200" kern="1200" baseline="0" dirty="0" smtClean="0">
                <a:solidFill>
                  <a:schemeClr val="tx1"/>
                </a:solidFill>
                <a:effectLst/>
                <a:latin typeface="+mn-lt"/>
                <a:ea typeface="+mn-ea"/>
                <a:cs typeface="+mn-cs"/>
              </a:rPr>
              <a:t> F</a:t>
            </a:r>
            <a:r>
              <a:rPr lang="en-AU" sz="1200" kern="1200" dirty="0" smtClean="0">
                <a:solidFill>
                  <a:schemeClr val="tx1"/>
                </a:solidFill>
                <a:effectLst/>
                <a:latin typeface="+mn-lt"/>
                <a:ea typeface="+mn-ea"/>
                <a:cs typeface="+mn-cs"/>
              </a:rPr>
              <a:t>or instance, when you need to get some information for the guest you will inform them that they are going to be put on hold while you collect this information or speak to a supervisor.  It is good practice to advise the guest what you are doing. </a:t>
            </a:r>
          </a:p>
          <a:p>
            <a:pPr marL="171450" indent="-171450">
              <a:buFont typeface="Arial" pitchFamily="34" charset="0"/>
              <a:buChar char="•"/>
            </a:pPr>
            <a:r>
              <a:rPr lang="en-AU" sz="1200" kern="1200" dirty="0" smtClean="0">
                <a:solidFill>
                  <a:schemeClr val="tx1"/>
                </a:solidFill>
                <a:effectLst/>
                <a:latin typeface="+mn-lt"/>
                <a:ea typeface="+mn-ea"/>
                <a:cs typeface="+mn-cs"/>
              </a:rPr>
              <a:t>If a caller is on hold don’t forget to keep coming back to them to let them know what is happening. For instance, the line they are waiting for is still busy - do they want to call back or leave a message?.</a:t>
            </a:r>
          </a:p>
          <a:p>
            <a:r>
              <a:rPr lang="en-AU" sz="1200" kern="1200" dirty="0" smtClean="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1/23/2014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1/23/2014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1/23/2014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1/23/2014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1/23/2014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4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55.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92696"/>
            <a:ext cx="7776192" cy="1285884"/>
          </a:xfrm>
        </p:spPr>
        <p:txBody>
          <a:bodyPr>
            <a:normAutofit/>
          </a:bodyPr>
          <a:lstStyle/>
          <a:p>
            <a:r>
              <a:rPr lang="en-AU" sz="3600" dirty="0">
                <a:ln w="5000" cmpd="sng">
                  <a:noFill/>
                  <a:prstDash val="solid"/>
                </a:ln>
                <a:solidFill>
                  <a:srgbClr val="FF6600"/>
                </a:solidFill>
                <a:latin typeface="Helvetica" pitchFamily="34" charset="0"/>
              </a:rPr>
              <a:t>Receive and place incoming telephone calls</a:t>
            </a:r>
            <a:endParaRPr lang="en-US" sz="36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a:t>
            </a:fld>
            <a:endParaRPr lang="en-US" dirty="0">
              <a:solidFill>
                <a:schemeClr val="tx1"/>
              </a:solidFill>
              <a:latin typeface="Helvetica" pitchFamily="34" charset="0"/>
            </a:endParaRPr>
          </a:p>
        </p:txBody>
      </p:sp>
      <p:grpSp>
        <p:nvGrpSpPr>
          <p:cNvPr id="8" name="Group 7"/>
          <p:cNvGrpSpPr/>
          <p:nvPr/>
        </p:nvGrpSpPr>
        <p:grpSpPr>
          <a:xfrm>
            <a:off x="653170" y="2007650"/>
            <a:ext cx="7962453" cy="4186245"/>
            <a:chOff x="653170" y="2007650"/>
            <a:chExt cx="7962453" cy="4186245"/>
          </a:xfrm>
        </p:grpSpPr>
        <p:pic>
          <p:nvPicPr>
            <p:cNvPr id="7" name="Picture 2" descr="C:\Documents and Settings\danielc\Local Settings\Temporary Internet Files\Content.IE5\9N3QFUEZ\MP900409708[1].jpg"/>
            <p:cNvPicPr>
              <a:picLocks noChangeAspect="1" noChangeArrowheads="1"/>
            </p:cNvPicPr>
            <p:nvPr/>
          </p:nvPicPr>
          <p:blipFill>
            <a:blip r:embed="rId3" cstate="print"/>
            <a:srcRect/>
            <a:stretch>
              <a:fillRect/>
            </a:stretch>
          </p:blipFill>
          <p:spPr bwMode="auto">
            <a:xfrm>
              <a:off x="5868144" y="4365104"/>
              <a:ext cx="2747479" cy="1828791"/>
            </a:xfrm>
            <a:prstGeom prst="rect">
              <a:avLst/>
            </a:prstGeom>
            <a:noFill/>
          </p:spPr>
        </p:pic>
        <p:pic>
          <p:nvPicPr>
            <p:cNvPr id="5" name="Picture 4" descr="motion.jpg"/>
            <p:cNvPicPr>
              <a:picLocks noChangeAspect="1"/>
            </p:cNvPicPr>
            <p:nvPr/>
          </p:nvPicPr>
          <p:blipFill>
            <a:blip r:embed="rId4" cstate="print"/>
            <a:stretch>
              <a:fillRect/>
            </a:stretch>
          </p:blipFill>
          <p:spPr>
            <a:xfrm>
              <a:off x="4082194" y="3222096"/>
              <a:ext cx="2176463" cy="2000250"/>
            </a:xfrm>
            <a:prstGeom prst="rect">
              <a:avLst/>
            </a:prstGeom>
            <a:ln w="12700">
              <a:solidFill>
                <a:schemeClr val="bg1"/>
              </a:solidFill>
            </a:ln>
          </p:spPr>
        </p:pic>
        <p:pic>
          <p:nvPicPr>
            <p:cNvPr id="1026" name="Picture 2" descr="C:\Documents and Settings\danielc\Desktop\iStock_Comm on Phone.jpg"/>
            <p:cNvPicPr>
              <a:picLocks noChangeAspect="1" noChangeArrowheads="1"/>
            </p:cNvPicPr>
            <p:nvPr/>
          </p:nvPicPr>
          <p:blipFill>
            <a:blip r:embed="rId5" cstate="print"/>
            <a:srcRect/>
            <a:stretch>
              <a:fillRect/>
            </a:stretch>
          </p:blipFill>
          <p:spPr bwMode="auto">
            <a:xfrm>
              <a:off x="653170" y="2007650"/>
              <a:ext cx="3648340" cy="2357454"/>
            </a:xfrm>
            <a:prstGeom prst="rect">
              <a:avLst/>
            </a:prstGeom>
            <a:noFill/>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96144"/>
          </a:xfrm>
        </p:spPr>
        <p:txBody>
          <a:bodyPr>
            <a:normAutofit fontScale="90000"/>
          </a:bodyPr>
          <a:lstStyle/>
          <a:p>
            <a:pPr marL="542925" indent="-542925">
              <a:spcBef>
                <a:spcPts val="600"/>
              </a:spcBef>
              <a:spcAft>
                <a:spcPts val="1200"/>
              </a:spcAft>
            </a:pPr>
            <a:r>
              <a:rPr lang="en-AU" sz="3600" b="1" dirty="0" smtClean="0">
                <a:solidFill>
                  <a:srgbClr val="FF6600"/>
                </a:solidFill>
                <a:latin typeface="Helvetica" pitchFamily="34" charset="0"/>
              </a:rPr>
              <a:t>1.	Identify elements and facilities of the host enterprise telephone system</a:t>
            </a:r>
            <a:endParaRPr lang="en-AU"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buNone/>
            </a:pPr>
            <a:r>
              <a:rPr lang="en-AU" sz="2400" b="1" dirty="0">
                <a:solidFill>
                  <a:srgbClr val="FF6600"/>
                </a:solidFill>
              </a:rPr>
              <a:t/>
            </a:r>
            <a:br>
              <a:rPr lang="en-AU" sz="2400" b="1" dirty="0">
                <a:solidFill>
                  <a:srgbClr val="FF6600"/>
                </a:solidFill>
              </a:rPr>
            </a:br>
            <a:endParaRPr lang="en-AU" sz="2400" b="1" dirty="0" smtClean="0">
              <a:solidFill>
                <a:srgbClr val="FF6600"/>
              </a:solidFill>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60" y="2276872"/>
            <a:ext cx="3897610" cy="2786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r>
              <a:rPr lang="en-US" sz="2800" b="1" dirty="0" smtClean="0">
                <a:solidFill>
                  <a:srgbClr val="FF6600"/>
                </a:solidFill>
                <a:latin typeface="Helvetica" pitchFamily="34" charset="0"/>
              </a:rPr>
              <a:t>Identify the types of incoming calls that may be received and their importance to the business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0" indent="0">
              <a:spcBef>
                <a:spcPts val="600"/>
              </a:spcBef>
              <a:spcAft>
                <a:spcPts val="1200"/>
              </a:spcAft>
              <a:buNone/>
            </a:pPr>
            <a:r>
              <a:rPr lang="en-US" sz="2200" dirty="0" smtClean="0">
                <a:latin typeface="Helvetica" pitchFamily="34" charset="0"/>
              </a:rPr>
              <a:t>Types of incoming calls include:</a:t>
            </a:r>
          </a:p>
          <a:p>
            <a:pPr marL="342900" indent="-342900">
              <a:spcBef>
                <a:spcPts val="600"/>
              </a:spcBef>
              <a:spcAft>
                <a:spcPts val="1200"/>
              </a:spcAft>
            </a:pPr>
            <a:r>
              <a:rPr lang="en-US" sz="2200" dirty="0" smtClean="0">
                <a:latin typeface="Helvetica" pitchFamily="34" charset="0"/>
              </a:rPr>
              <a:t>Enquiries</a:t>
            </a:r>
          </a:p>
          <a:p>
            <a:pPr marL="342900" indent="-342900">
              <a:spcBef>
                <a:spcPts val="600"/>
              </a:spcBef>
              <a:spcAft>
                <a:spcPts val="1200"/>
              </a:spcAft>
            </a:pPr>
            <a:r>
              <a:rPr lang="en-US" sz="2200" dirty="0">
                <a:latin typeface="Helvetica" pitchFamily="34" charset="0"/>
              </a:rPr>
              <a:t>Calls from people for guests</a:t>
            </a:r>
          </a:p>
          <a:p>
            <a:pPr marL="342900" indent="-342900">
              <a:spcBef>
                <a:spcPts val="600"/>
              </a:spcBef>
              <a:spcAft>
                <a:spcPts val="1200"/>
              </a:spcAft>
            </a:pPr>
            <a:r>
              <a:rPr lang="en-US" sz="2200" dirty="0" smtClean="0">
                <a:latin typeface="Helvetica" pitchFamily="34" charset="0"/>
              </a:rPr>
              <a:t>Complaints</a:t>
            </a:r>
          </a:p>
          <a:p>
            <a:pPr marL="342900" indent="-342900">
              <a:spcBef>
                <a:spcPts val="600"/>
              </a:spcBef>
              <a:spcAft>
                <a:spcPts val="1200"/>
              </a:spcAft>
            </a:pPr>
            <a:r>
              <a:rPr lang="en-US" sz="2200" dirty="0" smtClean="0">
                <a:latin typeface="Helvetica" pitchFamily="34" charset="0"/>
              </a:rPr>
              <a:t>Messages</a:t>
            </a:r>
          </a:p>
          <a:p>
            <a:pPr marL="342900" indent="-342900">
              <a:spcBef>
                <a:spcPts val="600"/>
              </a:spcBef>
              <a:spcAft>
                <a:spcPts val="1200"/>
              </a:spcAft>
            </a:pPr>
            <a:r>
              <a:rPr lang="en-US" sz="2200" dirty="0" smtClean="0">
                <a:latin typeface="Helvetica" pitchFamily="34" charset="0"/>
              </a:rPr>
              <a:t>Contact with suppliers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a:t>
            </a:fld>
            <a:endParaRPr lang="en-US" dirty="0" smtClean="0">
              <a:solidFill>
                <a:schemeClr val="tx1"/>
              </a:solidFill>
              <a:latin typeface="Helvetica" pitchFamily="34" charset="0"/>
            </a:endParaRPr>
          </a:p>
        </p:txBody>
      </p:sp>
      <p:pic>
        <p:nvPicPr>
          <p:cNvPr id="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2996952"/>
            <a:ext cx="2592288"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Autofit/>
          </a:bodyPr>
          <a:lstStyle/>
          <a:p>
            <a:r>
              <a:rPr lang="en-US" sz="2800" b="1" dirty="0" smtClean="0">
                <a:solidFill>
                  <a:srgbClr val="FF6600"/>
                </a:solidFill>
                <a:latin typeface="Helvetica" pitchFamily="34" charset="0"/>
              </a:rPr>
              <a:t>Aspects of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980728"/>
            <a:ext cx="7467600" cy="5462067"/>
          </a:xfrm>
        </p:spPr>
        <p:txBody>
          <a:bodyPr>
            <a:normAutofit/>
          </a:bodyPr>
          <a:lstStyle/>
          <a:p>
            <a:pPr marL="0" indent="0">
              <a:spcBef>
                <a:spcPts val="600"/>
              </a:spcBef>
              <a:spcAft>
                <a:spcPts val="1200"/>
              </a:spcAft>
              <a:buNone/>
            </a:pPr>
            <a:r>
              <a:rPr lang="en-US" sz="2200" dirty="0" smtClean="0">
                <a:latin typeface="Helvetica" pitchFamily="34" charset="0"/>
              </a:rPr>
              <a:t>     </a:t>
            </a:r>
          </a:p>
          <a:p>
            <a:pPr marL="0" indent="0">
              <a:spcBef>
                <a:spcPts val="600"/>
              </a:spcBef>
              <a:spcAft>
                <a:spcPts val="1200"/>
              </a:spcAft>
              <a:buNone/>
            </a:pPr>
            <a:r>
              <a:rPr lang="en-US" sz="2200" dirty="0" smtClean="0">
                <a:latin typeface="Helvetica" pitchFamily="34" charset="0"/>
              </a:rPr>
              <a:t>                                                         </a:t>
            </a:r>
            <a:endParaRPr lang="en-US" sz="1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endParaRPr lang="en-US" sz="1400" dirty="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r>
              <a:rPr lang="en-US" sz="1400" dirty="0" smtClean="0">
                <a:latin typeface="Helvetica" pitchFamily="34" charset="0"/>
              </a:rPr>
              <a:t> </a:t>
            </a: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400" dirty="0" smtClean="0">
              <a:latin typeface="Helvetica" pitchFamily="34" charset="0"/>
            </a:endParaRPr>
          </a:p>
          <a:p>
            <a:pPr marL="360000" indent="-360000">
              <a:spcBef>
                <a:spcPts val="600"/>
              </a:spcBef>
              <a:spcAft>
                <a:spcPts val="1200"/>
              </a:spcAft>
              <a:buNone/>
            </a:pPr>
            <a:endParaRPr lang="en-US" sz="14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a:t>
            </a:fld>
            <a:endParaRPr lang="en-US" dirty="0">
              <a:solidFill>
                <a:schemeClr val="tx1"/>
              </a:solidFill>
              <a:latin typeface="Helvetica" pitchFamily="34" charset="0"/>
            </a:endParaRPr>
          </a:p>
        </p:txBody>
      </p:sp>
      <p:sp>
        <p:nvSpPr>
          <p:cNvPr id="5" name="Rounded Rectangle 4"/>
          <p:cNvSpPr/>
          <p:nvPr/>
        </p:nvSpPr>
        <p:spPr>
          <a:xfrm>
            <a:off x="2411760" y="1556792"/>
            <a:ext cx="1490464" cy="10081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700" dirty="0" smtClean="0">
                <a:latin typeface="Helvetica" pitchFamily="34" charset="0"/>
              </a:rPr>
              <a:t>Internal and</a:t>
            </a:r>
          </a:p>
          <a:p>
            <a:pPr algn="ctr"/>
            <a:r>
              <a:rPr lang="en-AU" sz="1700" dirty="0" smtClean="0">
                <a:latin typeface="Helvetica" pitchFamily="34" charset="0"/>
              </a:rPr>
              <a:t>External </a:t>
            </a:r>
          </a:p>
          <a:p>
            <a:pPr algn="ctr"/>
            <a:r>
              <a:rPr lang="en-AU" sz="1700" dirty="0" smtClean="0">
                <a:latin typeface="Helvetica" pitchFamily="34" charset="0"/>
              </a:rPr>
              <a:t>Customers</a:t>
            </a:r>
            <a:endParaRPr lang="en-AU" sz="1700" dirty="0">
              <a:latin typeface="Helvetica" pitchFamily="34" charset="0"/>
            </a:endParaRPr>
          </a:p>
        </p:txBody>
      </p:sp>
      <p:sp>
        <p:nvSpPr>
          <p:cNvPr id="6" name="Explosion 2 5"/>
          <p:cNvSpPr/>
          <p:nvPr/>
        </p:nvSpPr>
        <p:spPr>
          <a:xfrm>
            <a:off x="4355976" y="3717032"/>
            <a:ext cx="1728192" cy="1600586"/>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smtClean="0"/>
          </a:p>
          <a:p>
            <a:pPr algn="ctr"/>
            <a:r>
              <a:rPr lang="en-AU" dirty="0" smtClean="0"/>
              <a:t>!!!@@@                                                      ***!!</a:t>
            </a:r>
            <a:endParaRPr lang="en-AU" dirty="0"/>
          </a:p>
        </p:txBody>
      </p:sp>
      <p:pic>
        <p:nvPicPr>
          <p:cNvPr id="205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484784"/>
            <a:ext cx="1296144" cy="10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907704" y="3501008"/>
            <a:ext cx="1728192" cy="2123658"/>
          </a:xfrm>
          <a:prstGeom prst="rect">
            <a:avLst/>
          </a:prstGeom>
          <a:noFill/>
        </p:spPr>
        <p:txBody>
          <a:bodyPr wrap="square" rtlCol="0">
            <a:spAutoFit/>
          </a:bodyPr>
          <a:lstStyle/>
          <a:p>
            <a:r>
              <a:rPr lang="en-AU" sz="2200" dirty="0" smtClean="0">
                <a:latin typeface="Helvetica" pitchFamily="34" charset="0"/>
              </a:rPr>
              <a:t>Be:</a:t>
            </a:r>
          </a:p>
          <a:p>
            <a:pPr marL="285750" indent="-285750">
              <a:buFont typeface="Arial" pitchFamily="34" charset="0"/>
              <a:buChar char="•"/>
            </a:pPr>
            <a:r>
              <a:rPr lang="en-AU" sz="2200" dirty="0" smtClean="0">
                <a:latin typeface="Helvetica" pitchFamily="34" charset="0"/>
              </a:rPr>
              <a:t>Helpful</a:t>
            </a:r>
          </a:p>
          <a:p>
            <a:pPr marL="285750" indent="-285750">
              <a:buFont typeface="Arial" pitchFamily="34" charset="0"/>
              <a:buChar char="•"/>
            </a:pPr>
            <a:r>
              <a:rPr lang="en-AU" sz="2200" dirty="0" smtClean="0">
                <a:latin typeface="Helvetica" pitchFamily="34" charset="0"/>
              </a:rPr>
              <a:t>Positive</a:t>
            </a:r>
          </a:p>
          <a:p>
            <a:pPr marL="285750" indent="-285750">
              <a:buFont typeface="Arial" pitchFamily="34" charset="0"/>
              <a:buChar char="•"/>
            </a:pPr>
            <a:r>
              <a:rPr lang="en-AU" sz="2200" dirty="0" smtClean="0">
                <a:latin typeface="Helvetica" pitchFamily="34" charset="0"/>
              </a:rPr>
              <a:t>Informed </a:t>
            </a:r>
          </a:p>
          <a:p>
            <a:pPr marL="285750" indent="-285750">
              <a:buFont typeface="Arial" pitchFamily="34" charset="0"/>
              <a:buChar char="•"/>
            </a:pPr>
            <a:r>
              <a:rPr lang="en-AU" sz="2200" dirty="0" smtClean="0">
                <a:latin typeface="Helvetica" pitchFamily="34" charset="0"/>
              </a:rPr>
              <a:t>Tactful</a:t>
            </a:r>
          </a:p>
          <a:p>
            <a:pPr marL="285750" indent="-285750">
              <a:buFont typeface="Arial" pitchFamily="34" charset="0"/>
              <a:buChar char="•"/>
            </a:pPr>
            <a:r>
              <a:rPr lang="en-AU" sz="2200" dirty="0" smtClean="0">
                <a:latin typeface="Helvetica" pitchFamily="34" charset="0"/>
              </a:rPr>
              <a:t>Polite</a:t>
            </a:r>
            <a:endParaRPr lang="en-AU" sz="2200" dirty="0">
              <a:latin typeface="Helvetica" pitchFamily="34" charset="0"/>
            </a:endParaRPr>
          </a:p>
        </p:txBody>
      </p:sp>
      <p:sp>
        <p:nvSpPr>
          <p:cNvPr id="16" name="TextBox 15"/>
          <p:cNvSpPr txBox="1"/>
          <p:nvPr/>
        </p:nvSpPr>
        <p:spPr>
          <a:xfrm>
            <a:off x="683568" y="2708920"/>
            <a:ext cx="3744416" cy="430887"/>
          </a:xfrm>
          <a:prstGeom prst="rect">
            <a:avLst/>
          </a:prstGeom>
          <a:noFill/>
        </p:spPr>
        <p:txBody>
          <a:bodyPr wrap="square" rtlCol="0">
            <a:spAutoFit/>
          </a:bodyPr>
          <a:lstStyle/>
          <a:p>
            <a:r>
              <a:rPr lang="en-US" sz="2200" dirty="0" smtClean="0">
                <a:latin typeface="Helvetica" pitchFamily="34" charset="0"/>
              </a:rPr>
              <a:t>Handling complaints</a:t>
            </a:r>
            <a:endParaRPr lang="en-AU" sz="2200" dirty="0">
              <a:latin typeface="Helvetica" pitchFamily="34" charset="0"/>
            </a:endParaRPr>
          </a:p>
        </p:txBody>
      </p:sp>
      <p:sp>
        <p:nvSpPr>
          <p:cNvPr id="17" name="TextBox 16"/>
          <p:cNvSpPr txBox="1"/>
          <p:nvPr/>
        </p:nvSpPr>
        <p:spPr>
          <a:xfrm>
            <a:off x="755576" y="1052736"/>
            <a:ext cx="2520280" cy="430887"/>
          </a:xfrm>
          <a:prstGeom prst="rect">
            <a:avLst/>
          </a:prstGeom>
          <a:noFill/>
        </p:spPr>
        <p:txBody>
          <a:bodyPr wrap="square" rtlCol="0">
            <a:spAutoFit/>
          </a:bodyPr>
          <a:lstStyle/>
          <a:p>
            <a:pPr marL="360000" indent="-360000">
              <a:spcBef>
                <a:spcPts val="600"/>
              </a:spcBef>
              <a:spcAft>
                <a:spcPts val="1200"/>
              </a:spcAft>
              <a:buNone/>
            </a:pPr>
            <a:r>
              <a:rPr lang="en-US" sz="2200" dirty="0" smtClean="0">
                <a:latin typeface="Helvetica" pitchFamily="34" charset="0"/>
              </a:rPr>
              <a:t>Incoming calls</a:t>
            </a:r>
          </a:p>
        </p:txBody>
      </p:sp>
    </p:spTree>
    <p:extLst>
      <p:ext uri="{BB962C8B-B14F-4D97-AF65-F5344CB8AC3E}">
        <p14:creationId xmlns:p14="http://schemas.microsoft.com/office/powerpoint/2010/main" val="33150295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Autofit/>
          </a:bodyPr>
          <a:lstStyle/>
          <a:p>
            <a:r>
              <a:rPr lang="en-US" sz="2800" b="1" dirty="0" smtClean="0">
                <a:solidFill>
                  <a:srgbClr val="FF6600"/>
                </a:solidFill>
                <a:latin typeface="Helvetica" pitchFamily="34" charset="0"/>
              </a:rPr>
              <a:t>Aspects of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980728"/>
            <a:ext cx="7467600" cy="5462067"/>
          </a:xfrm>
        </p:spPr>
        <p:txBody>
          <a:bodyPr>
            <a:normAutofit/>
          </a:bodyPr>
          <a:lstStyle/>
          <a:p>
            <a:pPr marL="0" indent="0">
              <a:spcBef>
                <a:spcPts val="600"/>
              </a:spcBef>
              <a:spcAft>
                <a:spcPts val="1200"/>
              </a:spcAft>
              <a:buNone/>
            </a:pPr>
            <a:r>
              <a:rPr lang="en-US" sz="2200" dirty="0" smtClean="0">
                <a:latin typeface="Helvetica" pitchFamily="34" charset="0"/>
              </a:rPr>
              <a:t>     </a:t>
            </a:r>
          </a:p>
          <a:p>
            <a:pPr marL="0" indent="0">
              <a:spcBef>
                <a:spcPts val="600"/>
              </a:spcBef>
              <a:spcAft>
                <a:spcPts val="1200"/>
              </a:spcAft>
              <a:buNone/>
            </a:pPr>
            <a:r>
              <a:rPr lang="en-US" sz="2200" dirty="0" smtClean="0">
                <a:latin typeface="Helvetica" pitchFamily="34" charset="0"/>
              </a:rPr>
              <a:t>                                                         </a:t>
            </a:r>
            <a:endParaRPr lang="en-US" sz="1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endParaRPr lang="en-US" sz="1400" dirty="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r>
              <a:rPr lang="en-US" sz="1400" dirty="0" smtClean="0">
                <a:latin typeface="Helvetica" pitchFamily="34" charset="0"/>
              </a:rPr>
              <a:t> </a:t>
            </a: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400" dirty="0" smtClean="0">
              <a:latin typeface="Helvetica" pitchFamily="34" charset="0"/>
            </a:endParaRPr>
          </a:p>
          <a:p>
            <a:pPr marL="360000" indent="-360000">
              <a:spcBef>
                <a:spcPts val="600"/>
              </a:spcBef>
              <a:spcAft>
                <a:spcPts val="1200"/>
              </a:spcAft>
              <a:buNone/>
            </a:pPr>
            <a:endParaRPr lang="en-US" sz="14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                                                                               </a:t>
            </a: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1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a:t>
            </a:fld>
            <a:endParaRPr lang="en-US" dirty="0">
              <a:solidFill>
                <a:schemeClr val="tx1"/>
              </a:solidFill>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1916832"/>
            <a:ext cx="17064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08104" y="3140968"/>
            <a:ext cx="1368152" cy="130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27784" y="1772816"/>
            <a:ext cx="1131877" cy="1268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cstate="print"/>
          <a:stretch>
            <a:fillRect/>
          </a:stretch>
        </p:blipFill>
        <p:spPr bwMode="auto">
          <a:xfrm>
            <a:off x="1763688" y="4149080"/>
            <a:ext cx="1152128" cy="1304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27584" y="3501008"/>
            <a:ext cx="2592288" cy="430887"/>
          </a:xfrm>
          <a:prstGeom prst="rect">
            <a:avLst/>
          </a:prstGeom>
          <a:noFill/>
        </p:spPr>
        <p:txBody>
          <a:bodyPr wrap="square" rtlCol="0">
            <a:spAutoFit/>
          </a:bodyPr>
          <a:lstStyle/>
          <a:p>
            <a:r>
              <a:rPr lang="en-AU" sz="2200" dirty="0" smtClean="0">
                <a:latin typeface="Helvetica" pitchFamily="34" charset="0"/>
              </a:rPr>
              <a:t>Taking messages</a:t>
            </a:r>
            <a:endParaRPr lang="en-AU" sz="2200" dirty="0">
              <a:latin typeface="Helvetica" pitchFamily="34" charset="0"/>
            </a:endParaRPr>
          </a:p>
        </p:txBody>
      </p:sp>
      <p:pic>
        <p:nvPicPr>
          <p:cNvPr id="2053"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92280" y="3140968"/>
            <a:ext cx="1368152" cy="1302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5508104" y="2492896"/>
            <a:ext cx="2771238" cy="430887"/>
          </a:xfrm>
          <a:prstGeom prst="rect">
            <a:avLst/>
          </a:prstGeom>
          <a:noFill/>
        </p:spPr>
        <p:txBody>
          <a:bodyPr wrap="square" rtlCol="0">
            <a:spAutoFit/>
          </a:bodyPr>
          <a:lstStyle/>
          <a:p>
            <a:r>
              <a:rPr lang="en-AU" sz="2200" dirty="0" smtClean="0">
                <a:latin typeface="Helvetica" pitchFamily="34" charset="0"/>
              </a:rPr>
              <a:t>Provide information</a:t>
            </a:r>
            <a:endParaRPr lang="en-AU" sz="2200" dirty="0">
              <a:latin typeface="Helvetica" pitchFamily="34" charset="0"/>
            </a:endParaRPr>
          </a:p>
        </p:txBody>
      </p:sp>
      <p:sp>
        <p:nvSpPr>
          <p:cNvPr id="18" name="TextBox 17"/>
          <p:cNvSpPr txBox="1"/>
          <p:nvPr/>
        </p:nvSpPr>
        <p:spPr>
          <a:xfrm>
            <a:off x="611560" y="1124744"/>
            <a:ext cx="3600400" cy="769441"/>
          </a:xfrm>
          <a:prstGeom prst="rect">
            <a:avLst/>
          </a:prstGeom>
          <a:noFill/>
        </p:spPr>
        <p:txBody>
          <a:bodyPr wrap="square" rtlCol="0">
            <a:spAutoFit/>
          </a:bodyPr>
          <a:lstStyle/>
          <a:p>
            <a:r>
              <a:rPr lang="en-US" sz="2200" dirty="0" smtClean="0">
                <a:latin typeface="Helvetica" pitchFamily="34" charset="0"/>
              </a:rPr>
              <a:t>Selling services and products</a:t>
            </a:r>
            <a:endParaRPr lang="en-AU" sz="2200" dirty="0">
              <a:latin typeface="Helvetica" pitchFamily="34" charset="0"/>
            </a:endParaRPr>
          </a:p>
        </p:txBody>
      </p:sp>
    </p:spTree>
    <p:extLst>
      <p:ext uri="{BB962C8B-B14F-4D97-AF65-F5344CB8AC3E}">
        <p14:creationId xmlns:p14="http://schemas.microsoft.com/office/powerpoint/2010/main" val="3315029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864096"/>
          </a:xfrm>
        </p:spPr>
        <p:txBody>
          <a:bodyPr>
            <a:noAutofit/>
          </a:bodyPr>
          <a:lstStyle/>
          <a:p>
            <a:r>
              <a:rPr lang="en-US" sz="2800" b="1" dirty="0" smtClean="0">
                <a:solidFill>
                  <a:srgbClr val="FF6600"/>
                </a:solidFill>
                <a:latin typeface="Helvetica" pitchFamily="34" charset="0"/>
              </a:rPr>
              <a:t>Identify the components of the telephone system</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0" indent="0">
              <a:spcBef>
                <a:spcPts val="600"/>
              </a:spcBef>
              <a:spcAft>
                <a:spcPts val="1200"/>
              </a:spcAft>
              <a:buNone/>
            </a:pPr>
            <a:r>
              <a:rPr lang="en-AU" sz="2200" dirty="0" smtClean="0">
                <a:latin typeface="Helvetica" pitchFamily="34" charset="0"/>
              </a:rPr>
              <a:t>Components </a:t>
            </a:r>
            <a:r>
              <a:rPr lang="en-AU" sz="2200" dirty="0">
                <a:latin typeface="Helvetica" pitchFamily="34" charset="0"/>
              </a:rPr>
              <a:t>of a Telephone </a:t>
            </a:r>
            <a:r>
              <a:rPr lang="en-AU" sz="2200" dirty="0" smtClean="0">
                <a:latin typeface="Helvetica" pitchFamily="34" charset="0"/>
              </a:rPr>
              <a:t>system:  </a:t>
            </a:r>
          </a:p>
          <a:p>
            <a:pPr marL="342900" indent="-342900">
              <a:spcBef>
                <a:spcPts val="600"/>
              </a:spcBef>
              <a:spcAft>
                <a:spcPts val="1200"/>
              </a:spcAft>
            </a:pPr>
            <a:r>
              <a:rPr lang="en-AU" sz="2200" dirty="0" smtClean="0">
                <a:latin typeface="Helvetica" pitchFamily="34" charset="0"/>
              </a:rPr>
              <a:t>Landline versus Wireless</a:t>
            </a:r>
          </a:p>
          <a:p>
            <a:pPr marL="342900" indent="-342900">
              <a:spcBef>
                <a:spcPts val="600"/>
              </a:spcBef>
              <a:spcAft>
                <a:spcPts val="1200"/>
              </a:spcAft>
            </a:pPr>
            <a:r>
              <a:rPr lang="en-AU" sz="2200" dirty="0" smtClean="0">
                <a:latin typeface="Helvetica" pitchFamily="34" charset="0"/>
              </a:rPr>
              <a:t>Paging System</a:t>
            </a:r>
          </a:p>
          <a:p>
            <a:pPr marL="342900" indent="-342900">
              <a:spcBef>
                <a:spcPts val="600"/>
              </a:spcBef>
              <a:spcAft>
                <a:spcPts val="1200"/>
              </a:spcAft>
            </a:pPr>
            <a:r>
              <a:rPr lang="en-AU" sz="2200" dirty="0" smtClean="0">
                <a:latin typeface="Helvetica" pitchFamily="34" charset="0"/>
              </a:rPr>
              <a:t>Switchboard</a:t>
            </a:r>
          </a:p>
          <a:p>
            <a:pPr marL="342900" indent="-342900">
              <a:spcBef>
                <a:spcPts val="600"/>
              </a:spcBef>
              <a:spcAft>
                <a:spcPts val="1200"/>
              </a:spcAft>
            </a:pPr>
            <a:r>
              <a:rPr lang="en-AU" sz="2200" dirty="0" smtClean="0">
                <a:latin typeface="Helvetica" pitchFamily="34" charset="0"/>
              </a:rPr>
              <a:t>Handsets and head sets</a:t>
            </a:r>
          </a:p>
          <a:p>
            <a:pPr marL="342900" indent="-342900">
              <a:spcBef>
                <a:spcPts val="600"/>
              </a:spcBef>
              <a:spcAft>
                <a:spcPts val="1200"/>
              </a:spcAft>
            </a:pPr>
            <a:r>
              <a:rPr lang="en-AU" sz="2200" dirty="0" smtClean="0">
                <a:latin typeface="Helvetica" pitchFamily="34" charset="0"/>
              </a:rPr>
              <a:t>VoIP telephones</a:t>
            </a: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342900" indent="-3429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6</a:t>
            </a:fld>
            <a:endParaRPr lang="en-US" dirty="0">
              <a:solidFill>
                <a:schemeClr val="tx1"/>
              </a:solidFill>
              <a:latin typeface="Helvetica" pitchFamily="34" charset="0"/>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4" y="2492896"/>
            <a:ext cx="2952328"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5121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Describe the functions and features available in the telephone system</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576" indent="0">
              <a:buNone/>
            </a:pPr>
            <a:r>
              <a:rPr lang="en-AU" sz="2200" dirty="0" smtClean="0">
                <a:latin typeface="Helvetica" pitchFamily="34" charset="0"/>
              </a:rPr>
              <a:t>Features </a:t>
            </a:r>
            <a:r>
              <a:rPr lang="en-AU" sz="2200" dirty="0">
                <a:latin typeface="Helvetica" pitchFamily="34" charset="0"/>
              </a:rPr>
              <a:t>and </a:t>
            </a:r>
            <a:r>
              <a:rPr lang="en-AU" sz="2200" dirty="0" smtClean="0">
                <a:latin typeface="Helvetica" pitchFamily="34" charset="0"/>
              </a:rPr>
              <a:t>functions of the system may include: </a:t>
            </a:r>
            <a:endParaRPr lang="en-AU" sz="2200" dirty="0">
              <a:latin typeface="Helvetica" pitchFamily="34" charset="0"/>
            </a:endParaRPr>
          </a:p>
          <a:p>
            <a:endParaRPr lang="en-AU" sz="2200" dirty="0" smtClean="0">
              <a:latin typeface="Helvetica" pitchFamily="34" charset="0"/>
            </a:endParaRPr>
          </a:p>
          <a:p>
            <a:r>
              <a:rPr lang="en-AU" sz="2200" dirty="0" smtClean="0">
                <a:latin typeface="Helvetica" pitchFamily="34" charset="0"/>
              </a:rPr>
              <a:t>The </a:t>
            </a:r>
            <a:r>
              <a:rPr lang="en-AU" sz="2200" dirty="0">
                <a:latin typeface="Helvetica" pitchFamily="34" charset="0"/>
              </a:rPr>
              <a:t>facility to place calls on hold or transfer calls</a:t>
            </a:r>
          </a:p>
          <a:p>
            <a:endParaRPr lang="en-AU" sz="2200" dirty="0" smtClean="0">
              <a:latin typeface="Helvetica" pitchFamily="34" charset="0"/>
            </a:endParaRPr>
          </a:p>
          <a:p>
            <a:r>
              <a:rPr lang="en-AU" sz="2200" dirty="0" smtClean="0">
                <a:latin typeface="Helvetica" pitchFamily="34" charset="0"/>
              </a:rPr>
              <a:t>To </a:t>
            </a:r>
            <a:r>
              <a:rPr lang="en-AU" sz="2200" dirty="0">
                <a:latin typeface="Helvetica" pitchFamily="34" charset="0"/>
              </a:rPr>
              <a:t>record messages </a:t>
            </a:r>
          </a:p>
          <a:p>
            <a:endParaRPr lang="en-AU" sz="2200" dirty="0" smtClean="0">
              <a:latin typeface="Helvetica" pitchFamily="34" charset="0"/>
            </a:endParaRPr>
          </a:p>
          <a:p>
            <a:r>
              <a:rPr lang="en-AU" sz="2200" dirty="0" smtClean="0">
                <a:latin typeface="Helvetica" pitchFamily="34" charset="0"/>
              </a:rPr>
              <a:t>Text transmission</a:t>
            </a:r>
            <a:endParaRPr lang="en-AU" sz="2200" dirty="0">
              <a:latin typeface="Helvetica" pitchFamily="34" charset="0"/>
            </a:endParaRPr>
          </a:p>
          <a:p>
            <a:pPr>
              <a:buNone/>
            </a:pPr>
            <a:r>
              <a:rPr lang="en-AU" sz="2200" dirty="0" smtClean="0">
                <a:latin typeface="Helvetica" pitchFamily="34" charset="0"/>
              </a:rPr>
              <a:t>(Continued)</a:t>
            </a: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7</a:t>
            </a:fld>
            <a:endParaRPr lang="en-US" dirty="0">
              <a:solidFill>
                <a:schemeClr val="tx1"/>
              </a:solidFill>
              <a:latin typeface="Helvetica" pitchFamily="34" charset="0"/>
            </a:endParaRP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3356992"/>
            <a:ext cx="23812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60858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Describe the functions and features available in the telephone system</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Notification </a:t>
            </a:r>
            <a:r>
              <a:rPr lang="en-AU" sz="2200" dirty="0">
                <a:latin typeface="Helvetica" pitchFamily="34" charset="0"/>
              </a:rPr>
              <a:t>of missed calls </a:t>
            </a:r>
          </a:p>
          <a:p>
            <a:endParaRPr lang="en-AU" sz="2200" dirty="0" smtClean="0">
              <a:latin typeface="Helvetica" pitchFamily="34" charset="0"/>
            </a:endParaRPr>
          </a:p>
          <a:p>
            <a:r>
              <a:rPr lang="en-AU" sz="2200" dirty="0" smtClean="0">
                <a:latin typeface="Helvetica" pitchFamily="34" charset="0"/>
              </a:rPr>
              <a:t>Call diversion</a:t>
            </a:r>
            <a:endParaRPr lang="en-AU" sz="2200" dirty="0">
              <a:latin typeface="Helvetica" pitchFamily="34" charset="0"/>
            </a:endParaRPr>
          </a:p>
          <a:p>
            <a:endParaRPr lang="en-AU" sz="2200" dirty="0" smtClean="0">
              <a:latin typeface="Helvetica" pitchFamily="34" charset="0"/>
            </a:endParaRPr>
          </a:p>
          <a:p>
            <a:r>
              <a:rPr lang="en-AU" sz="2200" dirty="0" smtClean="0">
                <a:latin typeface="Helvetica" pitchFamily="34" charset="0"/>
              </a:rPr>
              <a:t>Caller identification</a:t>
            </a:r>
            <a:endParaRPr lang="en-AU" sz="2200" dirty="0">
              <a:latin typeface="Helvetica" pitchFamily="34" charset="0"/>
            </a:endParaRPr>
          </a:p>
          <a:p>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8</a:t>
            </a:fld>
            <a:endParaRPr lang="en-US" dirty="0">
              <a:solidFill>
                <a:schemeClr val="tx1"/>
              </a:solidFill>
              <a:latin typeface="Helvetica" pitchFamily="34" charset="0"/>
            </a:endParaRP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3356992"/>
            <a:ext cx="23812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60858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42900" indent="-342900">
              <a:spcBef>
                <a:spcPts val="600"/>
              </a:spcBef>
              <a:spcAft>
                <a:spcPts val="1200"/>
              </a:spcAft>
            </a:pPr>
            <a:r>
              <a:rPr lang="en-US" sz="2200" dirty="0">
                <a:latin typeface="Helvetica" pitchFamily="34" charset="0"/>
              </a:rPr>
              <a:t>Work in groups and:</a:t>
            </a:r>
          </a:p>
          <a:p>
            <a:pPr marL="714375" lvl="1" indent="-361950">
              <a:lnSpc>
                <a:spcPct val="90000"/>
              </a:lnSpc>
              <a:spcBef>
                <a:spcPts val="600"/>
              </a:spcBef>
              <a:spcAft>
                <a:spcPts val="600"/>
              </a:spcAft>
              <a:buSzPct val="120000"/>
              <a:buFont typeface="Arial" pitchFamily="34" charset="0"/>
              <a:buChar char="•"/>
            </a:pPr>
            <a:r>
              <a:rPr lang="en-US" sz="2200" dirty="0">
                <a:latin typeface="Helvetica" pitchFamily="34" charset="0"/>
              </a:rPr>
              <a:t>Compare the telephone needs of a small hotel against a large hotel</a:t>
            </a:r>
          </a:p>
          <a:p>
            <a:pPr marL="714375" lvl="1" indent="-361950">
              <a:lnSpc>
                <a:spcPct val="90000"/>
              </a:lnSpc>
              <a:spcBef>
                <a:spcPts val="600"/>
              </a:spcBef>
              <a:spcAft>
                <a:spcPts val="600"/>
              </a:spcAft>
              <a:buSzPct val="120000"/>
              <a:buFont typeface="Arial" pitchFamily="34" charset="0"/>
              <a:buChar char="•"/>
            </a:pPr>
            <a:r>
              <a:rPr lang="en-AU" sz="2200" dirty="0">
                <a:latin typeface="Helvetica" pitchFamily="34" charset="0"/>
              </a:rPr>
              <a:t>List the features and components of the system most suited to each </a:t>
            </a:r>
          </a:p>
          <a:p>
            <a:pPr marL="714375" lvl="1" indent="-361950">
              <a:lnSpc>
                <a:spcPct val="90000"/>
              </a:lnSpc>
              <a:spcBef>
                <a:spcPts val="600"/>
              </a:spcBef>
              <a:spcAft>
                <a:spcPts val="600"/>
              </a:spcAft>
              <a:buSzPct val="120000"/>
              <a:buFont typeface="Arial" pitchFamily="34" charset="0"/>
              <a:buChar char="•"/>
            </a:pPr>
            <a:r>
              <a:rPr lang="en-AU" sz="2200" dirty="0">
                <a:latin typeface="Helvetica" pitchFamily="34" charset="0"/>
              </a:rPr>
              <a:t>Compare the standard greetings of a small hotel against a large hotel.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9</a:t>
            </a:fld>
            <a:endParaRPr lang="en-US" dirty="0">
              <a:solidFill>
                <a:schemeClr val="tx1"/>
              </a:solidFill>
              <a:latin typeface="Helvetica" pitchFamily="34" charset="0"/>
            </a:endParaRPr>
          </a:p>
        </p:txBody>
      </p:sp>
      <p:pic>
        <p:nvPicPr>
          <p:cNvPr id="5" name="Picture 4" descr="meeting1.jpg"/>
          <p:cNvPicPr>
            <a:picLocks noChangeAspect="1"/>
          </p:cNvPicPr>
          <p:nvPr/>
        </p:nvPicPr>
        <p:blipFill>
          <a:blip r:embed="rId3" cstate="print"/>
          <a:stretch>
            <a:fillRect/>
          </a:stretch>
        </p:blipFill>
        <p:spPr>
          <a:xfrm>
            <a:off x="3491880" y="4653136"/>
            <a:ext cx="2399928" cy="1595952"/>
          </a:xfrm>
          <a:prstGeom prst="rect">
            <a:avLst/>
          </a:prstGeom>
        </p:spPr>
      </p:pic>
    </p:spTree>
    <p:extLst>
      <p:ext uri="{BB962C8B-B14F-4D97-AF65-F5344CB8AC3E}">
        <p14:creationId xmlns:p14="http://schemas.microsoft.com/office/powerpoint/2010/main" val="33377388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542925" indent="-542925"/>
            <a:r>
              <a:rPr lang="en-US" sz="3200" b="1" dirty="0" smtClean="0">
                <a:solidFill>
                  <a:srgbClr val="FF6600"/>
                </a:solidFill>
                <a:latin typeface="Helvetica" pitchFamily="34" charset="0"/>
              </a:rPr>
              <a:t>2.	Demonstrate appropriate telephone communication skills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10</a:t>
            </a:fld>
            <a:endParaRPr lang="en-US" dirty="0">
              <a:solidFill>
                <a:schemeClr val="tx1"/>
              </a:solidFill>
              <a:latin typeface="Helvetica" pitchFamily="34" charset="0"/>
            </a:endParaRPr>
          </a:p>
        </p:txBody>
      </p:sp>
      <p:pic>
        <p:nvPicPr>
          <p:cNvPr id="5" name="Picture 2" descr="C:\Documents and Settings\danielc\Desktop\iStock_Comm on Phone.jpg"/>
          <p:cNvPicPr>
            <a:picLocks noChangeAspect="1" noChangeArrowheads="1"/>
          </p:cNvPicPr>
          <p:nvPr/>
        </p:nvPicPr>
        <p:blipFill>
          <a:blip r:embed="rId3" cstate="print"/>
          <a:srcRect/>
          <a:stretch>
            <a:fillRect/>
          </a:stretch>
        </p:blipFill>
        <p:spPr bwMode="auto">
          <a:xfrm>
            <a:off x="2555776" y="2204864"/>
            <a:ext cx="3648340" cy="2357454"/>
          </a:xfrm>
          <a:prstGeom prst="rect">
            <a:avLst/>
          </a:prstGeom>
          <a:noFill/>
        </p:spPr>
      </p:pic>
    </p:spTree>
    <p:extLst>
      <p:ext uri="{BB962C8B-B14F-4D97-AF65-F5344CB8AC3E}">
        <p14:creationId xmlns:p14="http://schemas.microsoft.com/office/powerpoint/2010/main" val="17691871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440160"/>
          </a:xfrm>
        </p:spPr>
        <p:txBody>
          <a:bodyPr>
            <a:noAutofit/>
          </a:bodyPr>
          <a:lstStyle/>
          <a:p>
            <a:r>
              <a:rPr lang="en-US" sz="2800" b="1" dirty="0" smtClean="0">
                <a:solidFill>
                  <a:srgbClr val="FF6600"/>
                </a:solidFill>
                <a:latin typeface="Helvetica" pitchFamily="34" charset="0"/>
              </a:rPr>
              <a:t>Interpret the enterprise policies and procedures for telephone use in regard to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0" indent="0">
              <a:spcBef>
                <a:spcPts val="600"/>
              </a:spcBef>
              <a:spcAft>
                <a:spcPts val="600"/>
              </a:spcAft>
              <a:buNone/>
            </a:pPr>
            <a:r>
              <a:rPr lang="en-AU" sz="2200" dirty="0" smtClean="0">
                <a:latin typeface="Helvetica" pitchFamily="34" charset="0"/>
              </a:rPr>
              <a:t>Policies </a:t>
            </a:r>
            <a:r>
              <a:rPr lang="en-AU" sz="2200" dirty="0">
                <a:latin typeface="Helvetica" pitchFamily="34" charset="0"/>
              </a:rPr>
              <a:t>and procedures </a:t>
            </a:r>
            <a:r>
              <a:rPr lang="en-AU" sz="2200" dirty="0" smtClean="0">
                <a:latin typeface="Helvetica" pitchFamily="34" charset="0"/>
              </a:rPr>
              <a:t>for telephone use can relate to:</a:t>
            </a:r>
          </a:p>
          <a:p>
            <a:pPr marL="361950" indent="-361950">
              <a:spcBef>
                <a:spcPts val="600"/>
              </a:spcBef>
              <a:spcAft>
                <a:spcPts val="600"/>
              </a:spcAft>
            </a:pPr>
            <a:endParaRPr lang="en-AU" sz="2200" dirty="0" smtClean="0">
              <a:latin typeface="Helvetica" pitchFamily="34" charset="0"/>
            </a:endParaRPr>
          </a:p>
          <a:p>
            <a:pPr marL="361950" indent="-361950">
              <a:spcBef>
                <a:spcPts val="600"/>
              </a:spcBef>
              <a:spcAft>
                <a:spcPts val="600"/>
              </a:spcAft>
            </a:pPr>
            <a:r>
              <a:rPr lang="en-AU" sz="2200" dirty="0" smtClean="0">
                <a:latin typeface="Helvetica" pitchFamily="34" charset="0"/>
              </a:rPr>
              <a:t>Privacy</a:t>
            </a:r>
            <a:endParaRPr lang="en-AU" sz="2200" dirty="0">
              <a:latin typeface="Helvetica" pitchFamily="34" charset="0"/>
            </a:endParaRPr>
          </a:p>
          <a:p>
            <a:pPr marL="361950" indent="-361950">
              <a:spcBef>
                <a:spcPts val="600"/>
              </a:spcBef>
              <a:spcAft>
                <a:spcPts val="600"/>
              </a:spcAft>
            </a:pPr>
            <a:r>
              <a:rPr lang="en-AU" sz="2200" dirty="0" smtClean="0">
                <a:latin typeface="Helvetica" pitchFamily="34" charset="0"/>
              </a:rPr>
              <a:t>Threatening </a:t>
            </a:r>
            <a:r>
              <a:rPr lang="en-AU" sz="2200" dirty="0">
                <a:latin typeface="Helvetica" pitchFamily="34" charset="0"/>
              </a:rPr>
              <a:t>calls</a:t>
            </a:r>
          </a:p>
          <a:p>
            <a:pPr marL="361950" indent="-361950">
              <a:spcBef>
                <a:spcPts val="600"/>
              </a:spcBef>
              <a:spcAft>
                <a:spcPts val="600"/>
              </a:spcAft>
            </a:pPr>
            <a:r>
              <a:rPr lang="en-AU" sz="2200" dirty="0" smtClean="0">
                <a:latin typeface="Helvetica" pitchFamily="34" charset="0"/>
              </a:rPr>
              <a:t>Standard greetings</a:t>
            </a:r>
            <a:endParaRPr lang="en-AU" sz="2200" dirty="0">
              <a:latin typeface="Helvetica" pitchFamily="34" charset="0"/>
            </a:endParaRPr>
          </a:p>
          <a:p>
            <a:pPr marL="361950" indent="-361950">
              <a:spcBef>
                <a:spcPts val="600"/>
              </a:spcBef>
              <a:spcAft>
                <a:spcPts val="600"/>
              </a:spcAft>
            </a:pPr>
            <a:r>
              <a:rPr lang="en-AU" sz="2200" dirty="0" smtClean="0">
                <a:latin typeface="Helvetica" pitchFamily="34" charset="0"/>
              </a:rPr>
              <a:t>Security and confidentiality </a:t>
            </a:r>
            <a:endParaRPr lang="en-AU" sz="2200" dirty="0">
              <a:latin typeface="Helvetica" pitchFamily="34" charset="0"/>
            </a:endParaRPr>
          </a:p>
          <a:p>
            <a:pPr marL="361950" indent="-361950">
              <a:spcBef>
                <a:spcPts val="600"/>
              </a:spcBef>
              <a:spcAft>
                <a:spcPts val="600"/>
              </a:spcAft>
            </a:pPr>
            <a:r>
              <a:rPr lang="en-AU" sz="2200" dirty="0" smtClean="0">
                <a:latin typeface="Helvetica" pitchFamily="34" charset="0"/>
              </a:rPr>
              <a:t>Training</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11</a:t>
            </a:fld>
            <a:endParaRPr lang="en-US" dirty="0">
              <a:solidFill>
                <a:schemeClr val="tx1"/>
              </a:solidFill>
              <a:latin typeface="Helvetica" pitchFamily="34" charset="0"/>
            </a:endParaRPr>
          </a:p>
        </p:txBody>
      </p:sp>
      <p:pic>
        <p:nvPicPr>
          <p:cNvPr id="5" name="Picture 4" descr="a34567tre.jpg"/>
          <p:cNvPicPr>
            <a:picLocks noChangeAspect="1"/>
          </p:cNvPicPr>
          <p:nvPr/>
        </p:nvPicPr>
        <p:blipFill>
          <a:blip r:embed="rId3" cstate="print"/>
          <a:stretch>
            <a:fillRect/>
          </a:stretch>
        </p:blipFill>
        <p:spPr>
          <a:xfrm>
            <a:off x="5796136" y="3356992"/>
            <a:ext cx="2363713" cy="1576596"/>
          </a:xfrm>
          <a:prstGeom prst="rect">
            <a:avLst/>
          </a:prstGeom>
        </p:spPr>
      </p:pic>
    </p:spTree>
    <p:extLst>
      <p:ext uri="{BB962C8B-B14F-4D97-AF65-F5344CB8AC3E}">
        <p14:creationId xmlns:p14="http://schemas.microsoft.com/office/powerpoint/2010/main" val="17691871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Create a list of rules for handling celebrity phone calls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Work in groups and discuss why privacy and confidentiality are protected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Write up your results to compare them with other groups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12</a:t>
            </a:fld>
            <a:endParaRPr lang="en-US" dirty="0">
              <a:solidFill>
                <a:schemeClr val="tx1"/>
              </a:solidFill>
              <a:latin typeface="Helvetica" pitchFamily="34" charset="0"/>
            </a:endParaRPr>
          </a:p>
        </p:txBody>
      </p:sp>
      <p:pic>
        <p:nvPicPr>
          <p:cNvPr id="5" name="Picture 4" descr="Hotel receptionist accept payment.jpg"/>
          <p:cNvPicPr>
            <a:picLocks noChangeAspect="1"/>
          </p:cNvPicPr>
          <p:nvPr/>
        </p:nvPicPr>
        <p:blipFill>
          <a:blip r:embed="rId3" cstate="print"/>
          <a:stretch>
            <a:fillRect/>
          </a:stretch>
        </p:blipFill>
        <p:spPr>
          <a:xfrm>
            <a:off x="5652120" y="4221088"/>
            <a:ext cx="3048000" cy="2033016"/>
          </a:xfrm>
          <a:prstGeom prst="rect">
            <a:avLst/>
          </a:prstGeom>
        </p:spPr>
      </p:pic>
    </p:spTree>
    <p:extLst>
      <p:ext uri="{BB962C8B-B14F-4D97-AF65-F5344CB8AC3E}">
        <p14:creationId xmlns:p14="http://schemas.microsoft.com/office/powerpoint/2010/main" val="33346935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12168"/>
          </a:xfrm>
        </p:spPr>
        <p:txBody>
          <a:bodyPr>
            <a:noAutofit/>
          </a:bodyPr>
          <a:lstStyle/>
          <a:p>
            <a:r>
              <a:rPr lang="en-US" sz="2800" b="1" dirty="0" smtClean="0">
                <a:solidFill>
                  <a:srgbClr val="FF6600"/>
                </a:solidFill>
                <a:latin typeface="Helvetica" pitchFamily="34" charset="0"/>
              </a:rPr>
              <a:t>Explain the importance of first impressions in relation to telephone answering and the reputation of the business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lnSpcReduction="10000"/>
          </a:bodyPr>
          <a:lstStyle/>
          <a:p>
            <a:pPr marL="0" indent="0">
              <a:spcBef>
                <a:spcPts val="600"/>
              </a:spcBef>
              <a:spcAft>
                <a:spcPts val="600"/>
              </a:spcAft>
              <a:buNone/>
            </a:pPr>
            <a:r>
              <a:rPr lang="en-AU" sz="2200" dirty="0">
                <a:latin typeface="Helvetica" pitchFamily="34" charset="0"/>
              </a:rPr>
              <a:t>The first impression </a:t>
            </a:r>
            <a:r>
              <a:rPr lang="en-AU" sz="2200" dirty="0" smtClean="0">
                <a:latin typeface="Helvetica" pitchFamily="34" charset="0"/>
              </a:rPr>
              <a:t>you give is important:</a:t>
            </a:r>
          </a:p>
          <a:p>
            <a:pPr marL="360000" indent="-360000">
              <a:spcBef>
                <a:spcPts val="600"/>
              </a:spcBef>
              <a:spcAft>
                <a:spcPts val="600"/>
              </a:spcAft>
            </a:pPr>
            <a:endParaRPr lang="en-AU" sz="2200" dirty="0" smtClean="0">
              <a:latin typeface="Helvetica" pitchFamily="34" charset="0"/>
            </a:endParaRPr>
          </a:p>
          <a:p>
            <a:pPr marL="360000" indent="-360000">
              <a:spcBef>
                <a:spcPts val="600"/>
              </a:spcBef>
              <a:spcAft>
                <a:spcPts val="600"/>
              </a:spcAft>
            </a:pPr>
            <a:r>
              <a:rPr lang="en-AU" sz="2200" dirty="0" smtClean="0">
                <a:latin typeface="Helvetica" pitchFamily="34" charset="0"/>
              </a:rPr>
              <a:t>Your voice projects the establishment</a:t>
            </a:r>
          </a:p>
          <a:p>
            <a:pPr marL="360000" indent="-360000">
              <a:spcBef>
                <a:spcPts val="600"/>
              </a:spcBef>
              <a:spcAft>
                <a:spcPts val="600"/>
              </a:spcAft>
            </a:pPr>
            <a:endParaRPr lang="en-AU" sz="2200" dirty="0" smtClean="0">
              <a:latin typeface="Helvetica" pitchFamily="34" charset="0"/>
            </a:endParaRPr>
          </a:p>
          <a:p>
            <a:pPr marL="360000" indent="-360000">
              <a:spcBef>
                <a:spcPts val="600"/>
              </a:spcBef>
              <a:spcAft>
                <a:spcPts val="600"/>
              </a:spcAft>
            </a:pPr>
            <a:r>
              <a:rPr lang="en-AU" sz="2200" dirty="0" smtClean="0">
                <a:latin typeface="Helvetica" pitchFamily="34" charset="0"/>
              </a:rPr>
              <a:t>Tone </a:t>
            </a:r>
            <a:r>
              <a:rPr lang="en-AU" sz="2200" dirty="0">
                <a:latin typeface="Helvetica" pitchFamily="34" charset="0"/>
              </a:rPr>
              <a:t>and pitch </a:t>
            </a:r>
            <a:r>
              <a:rPr lang="en-AU" sz="2200" dirty="0" smtClean="0">
                <a:latin typeface="Helvetica" pitchFamily="34" charset="0"/>
              </a:rPr>
              <a:t>must convey type </a:t>
            </a:r>
            <a:r>
              <a:rPr lang="en-AU" sz="2200" dirty="0">
                <a:latin typeface="Helvetica" pitchFamily="34" charset="0"/>
              </a:rPr>
              <a:t>and style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of establishment</a:t>
            </a:r>
          </a:p>
          <a:p>
            <a:pPr marL="360000" indent="-360000">
              <a:spcBef>
                <a:spcPts val="600"/>
              </a:spcBef>
              <a:spcAft>
                <a:spcPts val="600"/>
              </a:spcAft>
            </a:pPr>
            <a:endParaRPr lang="en-AU" sz="2200" dirty="0" smtClean="0">
              <a:latin typeface="Helvetica" pitchFamily="34" charset="0"/>
            </a:endParaRPr>
          </a:p>
          <a:p>
            <a:pPr marL="360000" indent="-360000">
              <a:spcBef>
                <a:spcPts val="600"/>
              </a:spcBef>
              <a:spcAft>
                <a:spcPts val="600"/>
              </a:spcAft>
            </a:pPr>
            <a:r>
              <a:rPr lang="en-AU" sz="2200" dirty="0" smtClean="0">
                <a:latin typeface="Helvetica" pitchFamily="34" charset="0"/>
              </a:rPr>
              <a:t>Tone </a:t>
            </a:r>
            <a:r>
              <a:rPr lang="en-AU" sz="2200" dirty="0">
                <a:latin typeface="Helvetica" pitchFamily="34" charset="0"/>
              </a:rPr>
              <a:t>and </a:t>
            </a:r>
            <a:r>
              <a:rPr lang="en-AU" sz="2200" dirty="0" smtClean="0">
                <a:latin typeface="Helvetica" pitchFamily="34" charset="0"/>
              </a:rPr>
              <a:t>language influence first  impression </a:t>
            </a:r>
            <a:r>
              <a:rPr lang="en-AU" sz="2200" dirty="0">
                <a:latin typeface="Helvetica" pitchFamily="34" charset="0"/>
              </a:rPr>
              <a:t>and reflect on </a:t>
            </a:r>
            <a:r>
              <a:rPr lang="en-AU" sz="2200" dirty="0" smtClean="0">
                <a:latin typeface="Helvetica" pitchFamily="34" charset="0"/>
              </a:rPr>
              <a:t>establishment reputation</a:t>
            </a:r>
            <a:endParaRPr lang="en-AU" sz="2200" dirty="0">
              <a:latin typeface="Helvetica" pitchFamily="34" charset="0"/>
            </a:endParaRP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13</a:t>
            </a:fld>
            <a:endParaRPr lang="en-US" dirty="0">
              <a:solidFill>
                <a:schemeClr val="tx1"/>
              </a:solidFill>
              <a:latin typeface="Helvetica" pitchFamily="34" charset="0"/>
            </a:endParaRPr>
          </a:p>
        </p:txBody>
      </p:sp>
      <p:pic>
        <p:nvPicPr>
          <p:cNvPr id="6" name="Picture 2" descr="C:\Documents and Settings\danielc\Desktop\iStock_Comm on Phone.jpg"/>
          <p:cNvPicPr>
            <a:picLocks noChangeAspect="1" noChangeArrowheads="1"/>
          </p:cNvPicPr>
          <p:nvPr/>
        </p:nvPicPr>
        <p:blipFill>
          <a:blip r:embed="rId3" cstate="print"/>
          <a:srcRect l="32309"/>
          <a:stretch>
            <a:fillRect/>
          </a:stretch>
        </p:blipFill>
        <p:spPr bwMode="auto">
          <a:xfrm>
            <a:off x="7092280" y="4653136"/>
            <a:ext cx="1488100" cy="1648780"/>
          </a:xfrm>
          <a:prstGeom prst="rect">
            <a:avLst/>
          </a:prstGeom>
          <a:noFill/>
        </p:spPr>
      </p:pic>
    </p:spTree>
    <p:extLst>
      <p:ext uri="{BB962C8B-B14F-4D97-AF65-F5344CB8AC3E}">
        <p14:creationId xmlns:p14="http://schemas.microsoft.com/office/powerpoint/2010/main" val="31762113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96144"/>
          </a:xfrm>
        </p:spPr>
        <p:txBody>
          <a:bodyPr>
            <a:noAutofit/>
          </a:bodyPr>
          <a:lstStyle/>
          <a:p>
            <a:r>
              <a:rPr lang="en-US" sz="2800" b="1" dirty="0" smtClean="0">
                <a:solidFill>
                  <a:srgbClr val="FF6600"/>
                </a:solidFill>
                <a:latin typeface="Helvetica" pitchFamily="34" charset="0"/>
              </a:rPr>
              <a:t>Explain the importance of first impressions in relation to telephone answering and the reputation of the business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buNone/>
            </a:pPr>
            <a:r>
              <a:rPr lang="en-US" sz="2200" dirty="0" smtClean="0">
                <a:latin typeface="Helvetica" pitchFamily="34" charset="0"/>
              </a:rPr>
              <a:t>Class activity</a:t>
            </a:r>
          </a:p>
          <a:p>
            <a:pPr marL="360000" indent="-360000">
              <a:spcBef>
                <a:spcPts val="600"/>
              </a:spcBef>
              <a:spcAft>
                <a:spcPts val="1200"/>
              </a:spcAft>
            </a:pPr>
            <a:r>
              <a:rPr lang="en-US" sz="2200" dirty="0" smtClean="0">
                <a:latin typeface="Helvetica" pitchFamily="34" charset="0"/>
              </a:rPr>
              <a:t>Write a standard greeting and present </a:t>
            </a:r>
            <a:br>
              <a:rPr lang="en-US" sz="2200" dirty="0" smtClean="0">
                <a:latin typeface="Helvetica" pitchFamily="34" charset="0"/>
              </a:rPr>
            </a:br>
            <a:r>
              <a:rPr lang="en-US" sz="2200" dirty="0" smtClean="0">
                <a:latin typeface="Helvetica" pitchFamily="34" charset="0"/>
              </a:rPr>
              <a:t>it to your class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Is it giving a good first impression?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Does it reflect an image?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14</a:t>
            </a:fld>
            <a:endParaRPr lang="en-US" dirty="0">
              <a:solidFill>
                <a:schemeClr val="tx1"/>
              </a:solidFill>
              <a:latin typeface="Helvetica" pitchFamily="34" charset="0"/>
            </a:endParaRPr>
          </a:p>
        </p:txBody>
      </p:sp>
      <p:pic>
        <p:nvPicPr>
          <p:cNvPr id="5" name="Picture 4" descr="MP900442431.JPG"/>
          <p:cNvPicPr>
            <a:picLocks noChangeAspect="1"/>
          </p:cNvPicPr>
          <p:nvPr/>
        </p:nvPicPr>
        <p:blipFill>
          <a:blip r:embed="rId3" cstate="print"/>
          <a:stretch>
            <a:fillRect/>
          </a:stretch>
        </p:blipFill>
        <p:spPr>
          <a:xfrm>
            <a:off x="6243458" y="3429000"/>
            <a:ext cx="2006697" cy="1589303"/>
          </a:xfrm>
          <a:prstGeom prst="rect">
            <a:avLst/>
          </a:prstGeom>
        </p:spPr>
      </p:pic>
    </p:spTree>
    <p:extLst>
      <p:ext uri="{BB962C8B-B14F-4D97-AF65-F5344CB8AC3E}">
        <p14:creationId xmlns:p14="http://schemas.microsoft.com/office/powerpoint/2010/main" val="25371496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Differentiate between face-to-face and over-the-phone communications </a:t>
            </a:r>
            <a:endParaRPr lang="en-US" sz="3400" b="1" dirty="0">
              <a:solidFill>
                <a:srgbClr val="FF6600"/>
              </a:solidFill>
              <a:latin typeface="Helvetica"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63394437"/>
              </p:ext>
            </p:extLst>
          </p:nvPr>
        </p:nvGraphicFramePr>
        <p:xfrm>
          <a:off x="611560" y="1700808"/>
          <a:ext cx="7467600" cy="3455839"/>
        </p:xfrm>
        <a:graphic>
          <a:graphicData uri="http://schemas.openxmlformats.org/drawingml/2006/table">
            <a:tbl>
              <a:tblPr firstRow="1" bandRow="1">
                <a:tableStyleId>{5C22544A-7EE6-4342-B048-85BDC9FD1C3A}</a:tableStyleId>
              </a:tblPr>
              <a:tblGrid>
                <a:gridCol w="3744788"/>
                <a:gridCol w="3722812"/>
              </a:tblGrid>
              <a:tr h="513801">
                <a:tc>
                  <a:txBody>
                    <a:bodyPr/>
                    <a:lstStyle/>
                    <a:p>
                      <a:r>
                        <a:rPr lang="en-AU" dirty="0" smtClean="0">
                          <a:latin typeface="Helvetica" pitchFamily="34" charset="0"/>
                        </a:rPr>
                        <a:t>Face to face</a:t>
                      </a:r>
                      <a:endParaRPr lang="en-AU" dirty="0">
                        <a:latin typeface="Helvetica" pitchFamily="34" charset="0"/>
                      </a:endParaRPr>
                    </a:p>
                  </a:txBody>
                  <a:tcPr/>
                </a:tc>
                <a:tc>
                  <a:txBody>
                    <a:bodyPr/>
                    <a:lstStyle/>
                    <a:p>
                      <a:r>
                        <a:rPr lang="en-AU" dirty="0" smtClean="0">
                          <a:latin typeface="Helvetica" pitchFamily="34" charset="0"/>
                        </a:rPr>
                        <a:t>Telephone</a:t>
                      </a:r>
                      <a:r>
                        <a:rPr lang="en-AU" baseline="0" dirty="0" smtClean="0">
                          <a:latin typeface="Helvetica" pitchFamily="34" charset="0"/>
                        </a:rPr>
                        <a:t> </a:t>
                      </a:r>
                      <a:endParaRPr lang="en-AU" dirty="0">
                        <a:latin typeface="Helvetica" pitchFamily="34" charset="0"/>
                      </a:endParaRPr>
                    </a:p>
                  </a:txBody>
                  <a:tcPr/>
                </a:tc>
              </a:tr>
              <a:tr h="513801">
                <a:tc>
                  <a:txBody>
                    <a:bodyPr/>
                    <a:lstStyle/>
                    <a:p>
                      <a:r>
                        <a:rPr lang="en-AU" dirty="0" smtClean="0">
                          <a:latin typeface="Helvetica" pitchFamily="34" charset="0"/>
                        </a:rPr>
                        <a:t>Body language</a:t>
                      </a:r>
                      <a:endParaRPr lang="en-AU" dirty="0">
                        <a:latin typeface="Helvetica" pitchFamily="34" charset="0"/>
                      </a:endParaRPr>
                    </a:p>
                  </a:txBody>
                  <a:tcPr/>
                </a:tc>
                <a:tc>
                  <a:txBody>
                    <a:bodyPr/>
                    <a:lstStyle/>
                    <a:p>
                      <a:r>
                        <a:rPr lang="en-AU" dirty="0" smtClean="0">
                          <a:latin typeface="Helvetica" pitchFamily="34" charset="0"/>
                        </a:rPr>
                        <a:t>Impact</a:t>
                      </a:r>
                      <a:r>
                        <a:rPr lang="en-AU" baseline="0" dirty="0" smtClean="0">
                          <a:latin typeface="Helvetica" pitchFamily="34" charset="0"/>
                        </a:rPr>
                        <a:t> of voice</a:t>
                      </a:r>
                      <a:endParaRPr lang="en-AU" dirty="0">
                        <a:latin typeface="Helvetica" pitchFamily="34" charset="0"/>
                      </a:endParaRPr>
                    </a:p>
                  </a:txBody>
                  <a:tcPr/>
                </a:tc>
              </a:tr>
              <a:tr h="886834">
                <a:tc>
                  <a:txBody>
                    <a:bodyPr/>
                    <a:lstStyle/>
                    <a:p>
                      <a:r>
                        <a:rPr lang="en-AU" dirty="0" smtClean="0">
                          <a:latin typeface="Helvetica" pitchFamily="34" charset="0"/>
                        </a:rPr>
                        <a:t>Visual actions</a:t>
                      </a:r>
                      <a:r>
                        <a:rPr lang="en-AU" baseline="0" dirty="0" smtClean="0">
                          <a:latin typeface="Helvetica" pitchFamily="34" charset="0"/>
                        </a:rPr>
                        <a:t>  matching non-verbal</a:t>
                      </a:r>
                      <a:endParaRPr lang="en-AU" dirty="0">
                        <a:latin typeface="Helvetica" pitchFamily="34" charset="0"/>
                      </a:endParaRPr>
                    </a:p>
                  </a:txBody>
                  <a:tcPr/>
                </a:tc>
                <a:tc>
                  <a:txBody>
                    <a:bodyPr/>
                    <a:lstStyle/>
                    <a:p>
                      <a:r>
                        <a:rPr lang="en-AU" dirty="0" smtClean="0">
                          <a:latin typeface="Helvetica" pitchFamily="34" charset="0"/>
                        </a:rPr>
                        <a:t>Pitch and tone</a:t>
                      </a:r>
                      <a:endParaRPr lang="en-AU" dirty="0">
                        <a:latin typeface="Helvetica" pitchFamily="34" charset="0"/>
                      </a:endParaRPr>
                    </a:p>
                  </a:txBody>
                  <a:tcPr/>
                </a:tc>
              </a:tr>
              <a:tr h="513801">
                <a:tc>
                  <a:txBody>
                    <a:bodyPr/>
                    <a:lstStyle/>
                    <a:p>
                      <a:r>
                        <a:rPr lang="en-AU" dirty="0" smtClean="0">
                          <a:latin typeface="Helvetica" pitchFamily="34" charset="0"/>
                        </a:rPr>
                        <a:t>Visual aides used</a:t>
                      </a:r>
                      <a:endParaRPr lang="en-AU" dirty="0">
                        <a:latin typeface="Helvetica" pitchFamily="34" charset="0"/>
                      </a:endParaRPr>
                    </a:p>
                  </a:txBody>
                  <a:tcPr/>
                </a:tc>
                <a:tc>
                  <a:txBody>
                    <a:bodyPr/>
                    <a:lstStyle/>
                    <a:p>
                      <a:r>
                        <a:rPr lang="en-AU" dirty="0" smtClean="0">
                          <a:latin typeface="Helvetica" pitchFamily="34" charset="0"/>
                        </a:rPr>
                        <a:t>Volume</a:t>
                      </a:r>
                      <a:endParaRPr lang="en-AU" dirty="0">
                        <a:latin typeface="Helvetica" pitchFamily="34" charset="0"/>
                      </a:endParaRPr>
                    </a:p>
                  </a:txBody>
                  <a:tcPr/>
                </a:tc>
              </a:tr>
              <a:tr h="513801">
                <a:tc>
                  <a:txBody>
                    <a:bodyPr/>
                    <a:lstStyle/>
                    <a:p>
                      <a:r>
                        <a:rPr lang="en-AU" dirty="0" smtClean="0">
                          <a:latin typeface="Helvetica" pitchFamily="34" charset="0"/>
                        </a:rPr>
                        <a:t>Written communication</a:t>
                      </a:r>
                      <a:endParaRPr lang="en-AU" dirty="0">
                        <a:latin typeface="Helvetica" pitchFamily="34" charset="0"/>
                      </a:endParaRPr>
                    </a:p>
                  </a:txBody>
                  <a:tcPr/>
                </a:tc>
                <a:tc>
                  <a:txBody>
                    <a:bodyPr/>
                    <a:lstStyle/>
                    <a:p>
                      <a:r>
                        <a:rPr lang="en-AU" dirty="0" smtClean="0">
                          <a:latin typeface="Helvetica" pitchFamily="34" charset="0"/>
                        </a:rPr>
                        <a:t>Questioning</a:t>
                      </a:r>
                      <a:endParaRPr lang="en-AU" dirty="0">
                        <a:latin typeface="Helvetica" pitchFamily="34" charset="0"/>
                      </a:endParaRPr>
                    </a:p>
                  </a:txBody>
                  <a:tcPr/>
                </a:tc>
              </a:tr>
              <a:tr h="513801">
                <a:tc>
                  <a:txBody>
                    <a:bodyPr/>
                    <a:lstStyle/>
                    <a:p>
                      <a:endParaRPr lang="en-AU" dirty="0">
                        <a:latin typeface="Helvetica" pitchFamily="34" charset="0"/>
                      </a:endParaRPr>
                    </a:p>
                  </a:txBody>
                  <a:tcPr/>
                </a:tc>
                <a:tc>
                  <a:txBody>
                    <a:bodyPr/>
                    <a:lstStyle/>
                    <a:p>
                      <a:r>
                        <a:rPr lang="en-AU" dirty="0" smtClean="0">
                          <a:latin typeface="Helvetica" pitchFamily="34" charset="0"/>
                        </a:rPr>
                        <a:t>Listening</a:t>
                      </a:r>
                      <a:endParaRPr lang="en-AU" dirty="0">
                        <a:latin typeface="Helvetica" pitchFamily="34" charset="0"/>
                      </a:endParaRPr>
                    </a:p>
                  </a:txBody>
                  <a:tcPr/>
                </a:tc>
              </a:tr>
            </a:tbl>
          </a:graphicData>
        </a:graphic>
      </p:graphicFrame>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15</a:t>
            </a:fld>
            <a:endParaRPr lang="en-US" dirty="0">
              <a:solidFill>
                <a:schemeClr val="tx1"/>
              </a:solidFill>
              <a:latin typeface="Helvetica" pitchFamily="34" charset="0"/>
            </a:endParaRPr>
          </a:p>
        </p:txBody>
      </p:sp>
      <p:pic>
        <p:nvPicPr>
          <p:cNvPr id="3074" name="Picture 2"/>
          <p:cNvPicPr>
            <a:picLocks noChangeAspect="1" noChangeArrowheads="1"/>
          </p:cNvPicPr>
          <p:nvPr/>
        </p:nvPicPr>
        <p:blipFill>
          <a:blip r:embed="rId3" cstate="print"/>
          <a:stretch>
            <a:fillRect/>
          </a:stretch>
        </p:blipFill>
        <p:spPr bwMode="auto">
          <a:xfrm>
            <a:off x="1619672" y="4653136"/>
            <a:ext cx="1323271"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cstate="print"/>
          <a:srcRect r="37742"/>
          <a:stretch>
            <a:fillRect/>
          </a:stretch>
        </p:blipFill>
        <p:spPr bwMode="auto">
          <a:xfrm>
            <a:off x="6876256" y="2780928"/>
            <a:ext cx="1152128" cy="1236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40118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a:bodyPr>
          <a:lstStyle/>
          <a:p>
            <a:r>
              <a:rPr lang="en-US" sz="2800" b="1" dirty="0" smtClean="0">
                <a:solidFill>
                  <a:srgbClr val="FF6600"/>
                </a:solidFill>
                <a:latin typeface="Helvetica" pitchFamily="34" charset="0"/>
              </a:rPr>
              <a:t>Use the appropriate telephone communication skills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a:latin typeface="Helvetica" pitchFamily="34" charset="0"/>
              </a:rPr>
              <a:t>All calls should be responded </a:t>
            </a:r>
            <a:r>
              <a:rPr lang="en-AU" sz="2200" dirty="0" smtClean="0">
                <a:latin typeface="Helvetica" pitchFamily="34" charset="0"/>
              </a:rPr>
              <a:t>to: </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In </a:t>
            </a:r>
            <a:r>
              <a:rPr lang="en-AU" sz="2200" dirty="0">
                <a:latin typeface="Helvetica" pitchFamily="34" charset="0"/>
              </a:rPr>
              <a:t>a </a:t>
            </a:r>
            <a:r>
              <a:rPr lang="en-AU" sz="2200" dirty="0" smtClean="0">
                <a:latin typeface="Helvetica" pitchFamily="34" charset="0"/>
              </a:rPr>
              <a:t>professional manner</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Answered </a:t>
            </a:r>
            <a:r>
              <a:rPr lang="en-AU" sz="2200" dirty="0">
                <a:latin typeface="Helvetica" pitchFamily="34" charset="0"/>
              </a:rPr>
              <a:t>promptly </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Answered politely</a:t>
            </a:r>
          </a:p>
          <a:p>
            <a:pPr marL="360000" indent="-360000">
              <a:spcBef>
                <a:spcPts val="600"/>
              </a:spcBef>
              <a:spcAft>
                <a:spcPts val="1200"/>
              </a:spcAft>
              <a:buNone/>
            </a:pPr>
            <a:r>
              <a:rPr lang="en-AU"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16</a:t>
            </a:fld>
            <a:endParaRPr lang="en-US" dirty="0">
              <a:solidFill>
                <a:schemeClr val="tx1"/>
              </a:solidFill>
              <a:latin typeface="Helvetica" pitchFamily="34" charset="0"/>
            </a:endParaRPr>
          </a:p>
        </p:txBody>
      </p:sp>
      <p:pic>
        <p:nvPicPr>
          <p:cNvPr id="5" name="Picture 4" descr="c9.jpg"/>
          <p:cNvPicPr>
            <a:picLocks noChangeAspect="1"/>
          </p:cNvPicPr>
          <p:nvPr/>
        </p:nvPicPr>
        <p:blipFill>
          <a:blip r:embed="rId3" cstate="print"/>
          <a:stretch>
            <a:fillRect/>
          </a:stretch>
        </p:blipFill>
        <p:spPr>
          <a:xfrm>
            <a:off x="6588224" y="2420888"/>
            <a:ext cx="1686877" cy="2619375"/>
          </a:xfrm>
          <a:prstGeom prst="rect">
            <a:avLst/>
          </a:prstGeom>
        </p:spPr>
      </p:pic>
    </p:spTree>
    <p:extLst>
      <p:ext uri="{BB962C8B-B14F-4D97-AF65-F5344CB8AC3E}">
        <p14:creationId xmlns:p14="http://schemas.microsoft.com/office/powerpoint/2010/main" val="23140118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a:bodyPr>
          <a:lstStyle/>
          <a:p>
            <a:r>
              <a:rPr lang="en-US" sz="2800" b="1" dirty="0" smtClean="0">
                <a:solidFill>
                  <a:srgbClr val="FF6600"/>
                </a:solidFill>
                <a:latin typeface="Helvetica" pitchFamily="34" charset="0"/>
              </a:rPr>
              <a:t>Use the appropriate telephone communication skills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pPr>
            <a:r>
              <a:rPr lang="en-AU" sz="2200" dirty="0">
                <a:latin typeface="Helvetica" pitchFamily="34" charset="0"/>
              </a:rPr>
              <a:t>A</a:t>
            </a:r>
            <a:r>
              <a:rPr lang="en-AU" sz="2200" dirty="0" smtClean="0">
                <a:latin typeface="Helvetica" pitchFamily="34" charset="0"/>
              </a:rPr>
              <a:t>ssistance </a:t>
            </a:r>
            <a:r>
              <a:rPr lang="en-AU" sz="2200" dirty="0">
                <a:latin typeface="Helvetica" pitchFamily="34" charset="0"/>
              </a:rPr>
              <a:t>offered in a friendly manner </a:t>
            </a: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r>
              <a:rPr lang="en-AU" sz="2200" dirty="0" smtClean="0">
                <a:latin typeface="Helvetica" pitchFamily="34" charset="0"/>
              </a:rPr>
              <a:t>Questions </a:t>
            </a:r>
            <a:r>
              <a:rPr lang="en-AU" sz="2200" dirty="0">
                <a:latin typeface="Helvetica" pitchFamily="34" charset="0"/>
              </a:rPr>
              <a:t>asked </a:t>
            </a:r>
            <a:r>
              <a:rPr lang="en-AU" sz="2200" dirty="0" smtClean="0">
                <a:latin typeface="Helvetica" pitchFamily="34" charset="0"/>
              </a:rPr>
              <a:t>politely </a:t>
            </a:r>
            <a:r>
              <a:rPr lang="en-AU" sz="2200" dirty="0">
                <a:latin typeface="Helvetica" pitchFamily="34" charset="0"/>
              </a:rPr>
              <a:t>to establish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the </a:t>
            </a:r>
            <a:r>
              <a:rPr lang="en-AU" sz="2200" dirty="0">
                <a:latin typeface="Helvetica" pitchFamily="34" charset="0"/>
              </a:rPr>
              <a:t>purpose of the </a:t>
            </a:r>
            <a:r>
              <a:rPr lang="en-AU" sz="2200" dirty="0" smtClean="0">
                <a:latin typeface="Helvetica" pitchFamily="34" charset="0"/>
              </a:rPr>
              <a:t>call</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17</a:t>
            </a:fld>
            <a:endParaRPr lang="en-US" dirty="0">
              <a:solidFill>
                <a:schemeClr val="tx1"/>
              </a:solidFill>
              <a:latin typeface="Helvetica" pitchFamily="34" charset="0"/>
            </a:endParaRPr>
          </a:p>
        </p:txBody>
      </p:sp>
      <p:pic>
        <p:nvPicPr>
          <p:cNvPr id="5" name="Picture 4" descr="c9.jpg"/>
          <p:cNvPicPr>
            <a:picLocks noChangeAspect="1"/>
          </p:cNvPicPr>
          <p:nvPr/>
        </p:nvPicPr>
        <p:blipFill>
          <a:blip r:embed="rId3" cstate="print"/>
          <a:stretch>
            <a:fillRect/>
          </a:stretch>
        </p:blipFill>
        <p:spPr>
          <a:xfrm>
            <a:off x="6588224" y="2420888"/>
            <a:ext cx="1686877" cy="2619375"/>
          </a:xfrm>
          <a:prstGeom prst="rect">
            <a:avLst/>
          </a:prstGeom>
        </p:spPr>
      </p:pic>
    </p:spTree>
    <p:extLst>
      <p:ext uri="{BB962C8B-B14F-4D97-AF65-F5344CB8AC3E}">
        <p14:creationId xmlns:p14="http://schemas.microsoft.com/office/powerpoint/2010/main" val="23140118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2800" b="1" dirty="0" smtClean="0">
                <a:solidFill>
                  <a:srgbClr val="FF6600"/>
                </a:solidFill>
                <a:latin typeface="Helvetica" pitchFamily="34" charset="0"/>
              </a:rPr>
              <a:t>Use appropriate telephone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576" indent="0">
              <a:spcBef>
                <a:spcPts val="600"/>
              </a:spcBef>
              <a:spcAft>
                <a:spcPts val="600"/>
              </a:spcAft>
              <a:buNone/>
            </a:pPr>
            <a:r>
              <a:rPr lang="en-AU" sz="2200" dirty="0" smtClean="0">
                <a:latin typeface="Helvetica" pitchFamily="34" charset="0"/>
              </a:rPr>
              <a:t>Telephone </a:t>
            </a:r>
            <a:r>
              <a:rPr lang="en-AU" sz="2200" dirty="0">
                <a:latin typeface="Helvetica" pitchFamily="34" charset="0"/>
              </a:rPr>
              <a:t>techniques </a:t>
            </a:r>
            <a:r>
              <a:rPr lang="en-AU" sz="2200" dirty="0" smtClean="0">
                <a:latin typeface="Helvetica" pitchFamily="34" charset="0"/>
              </a:rPr>
              <a:t>must display professionalism </a:t>
            </a:r>
            <a:r>
              <a:rPr lang="en-AU" sz="2200" dirty="0">
                <a:latin typeface="Helvetica" pitchFamily="34" charset="0"/>
              </a:rPr>
              <a:t>and provide excellent </a:t>
            </a:r>
            <a:r>
              <a:rPr lang="en-AU" sz="2200" dirty="0" smtClean="0">
                <a:latin typeface="Helvetica" pitchFamily="34" charset="0"/>
              </a:rPr>
              <a:t>service:</a:t>
            </a:r>
            <a:endParaRPr lang="en-AU" sz="2200" dirty="0">
              <a:latin typeface="Helvetica" pitchFamily="34" charset="0"/>
            </a:endParaRP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Clarify </a:t>
            </a:r>
            <a:r>
              <a:rPr lang="en-AU" sz="2200" dirty="0">
                <a:latin typeface="Helvetica" pitchFamily="34" charset="0"/>
              </a:rPr>
              <a:t>caller requirements</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Repeat </a:t>
            </a:r>
            <a:r>
              <a:rPr lang="en-AU" sz="2200" dirty="0">
                <a:latin typeface="Helvetica" pitchFamily="34" charset="0"/>
              </a:rPr>
              <a:t>names, dates and times</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Check spelling</a:t>
            </a:r>
          </a:p>
          <a:p>
            <a:pPr>
              <a:spcBef>
                <a:spcPts val="600"/>
              </a:spcBef>
              <a:spcAft>
                <a:spcPts val="600"/>
              </a:spcAft>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18</a:t>
            </a:fld>
            <a:endParaRPr lang="en-US" dirty="0">
              <a:solidFill>
                <a:schemeClr val="tx1"/>
              </a:solidFill>
              <a:latin typeface="Helvetica" pitchFamily="34" charset="0"/>
            </a:endParaRPr>
          </a:p>
        </p:txBody>
      </p:sp>
      <p:pic>
        <p:nvPicPr>
          <p:cNvPr id="5" name="Picture 4" descr="MP900174856.JPG"/>
          <p:cNvPicPr>
            <a:picLocks noChangeAspect="1"/>
          </p:cNvPicPr>
          <p:nvPr/>
        </p:nvPicPr>
        <p:blipFill>
          <a:blip r:embed="rId3" cstate="print"/>
          <a:stretch>
            <a:fillRect/>
          </a:stretch>
        </p:blipFill>
        <p:spPr>
          <a:xfrm>
            <a:off x="5796136" y="4077072"/>
            <a:ext cx="2649488" cy="1766325"/>
          </a:xfrm>
          <a:prstGeom prst="rect">
            <a:avLst/>
          </a:prstGeom>
        </p:spPr>
      </p:pic>
    </p:spTree>
    <p:extLst>
      <p:ext uri="{BB962C8B-B14F-4D97-AF65-F5344CB8AC3E}">
        <p14:creationId xmlns:p14="http://schemas.microsoft.com/office/powerpoint/2010/main" val="23140118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Autofit/>
          </a:bodyPr>
          <a:lstStyle/>
          <a:p>
            <a:pPr marL="360000" indent="-360000">
              <a:spcBef>
                <a:spcPts val="600"/>
              </a:spcBef>
              <a:spcAft>
                <a:spcPts val="600"/>
              </a:spcAft>
            </a:pPr>
            <a:r>
              <a:rPr lang="en-US" sz="2200" dirty="0" smtClean="0">
                <a:latin typeface="Helvetica" pitchFamily="34" charset="0"/>
              </a:rPr>
              <a:t>Check the pronunciation of the following names</a:t>
            </a:r>
          </a:p>
          <a:p>
            <a:pPr marL="360000" indent="-360000">
              <a:spcBef>
                <a:spcPts val="600"/>
              </a:spcBef>
              <a:spcAft>
                <a:spcPts val="600"/>
              </a:spcAft>
            </a:pPr>
            <a:r>
              <a:rPr lang="en-US" sz="2200" dirty="0" smtClean="0">
                <a:latin typeface="Helvetica" pitchFamily="34" charset="0"/>
              </a:rPr>
              <a:t>Use the Phonetic alphabet to clarify:</a:t>
            </a:r>
          </a:p>
          <a:p>
            <a:pPr marL="714375" indent="-361950">
              <a:spcBef>
                <a:spcPts val="600"/>
              </a:spcBef>
              <a:spcAft>
                <a:spcPts val="600"/>
              </a:spcAft>
              <a:buFont typeface="Arial" pitchFamily="34" charset="0"/>
              <a:buChar char="•"/>
            </a:pPr>
            <a:r>
              <a:rPr lang="en-US" sz="2200" dirty="0" smtClean="0">
                <a:latin typeface="Helvetica" pitchFamily="34" charset="0"/>
              </a:rPr>
              <a:t>Tony Tan Keng Yam</a:t>
            </a:r>
          </a:p>
          <a:p>
            <a:pPr marL="714375" indent="-361950">
              <a:spcBef>
                <a:spcPts val="600"/>
              </a:spcBef>
              <a:spcAft>
                <a:spcPts val="600"/>
              </a:spcAft>
              <a:buFont typeface="Arial" pitchFamily="34" charset="0"/>
              <a:buChar char="•"/>
            </a:pPr>
            <a:r>
              <a:rPr lang="en-US" sz="2200" dirty="0" smtClean="0">
                <a:latin typeface="Helvetica" pitchFamily="34" charset="0"/>
              </a:rPr>
              <a:t>Liu Shaoqi</a:t>
            </a:r>
          </a:p>
          <a:p>
            <a:pPr marL="714375" indent="-361950">
              <a:spcBef>
                <a:spcPts val="600"/>
              </a:spcBef>
              <a:spcAft>
                <a:spcPts val="600"/>
              </a:spcAft>
              <a:buFont typeface="Arial" pitchFamily="34" charset="0"/>
              <a:buChar char="•"/>
            </a:pPr>
            <a:r>
              <a:rPr lang="en-US" sz="2200" dirty="0" smtClean="0">
                <a:latin typeface="Helvetica" pitchFamily="34" charset="0"/>
              </a:rPr>
              <a:t>Zakir Hussain</a:t>
            </a:r>
          </a:p>
          <a:p>
            <a:pPr marL="714375" indent="-361950">
              <a:spcBef>
                <a:spcPts val="600"/>
              </a:spcBef>
              <a:spcAft>
                <a:spcPts val="600"/>
              </a:spcAft>
              <a:buFont typeface="Arial" pitchFamily="34" charset="0"/>
              <a:buChar char="•"/>
            </a:pPr>
            <a:r>
              <a:rPr lang="en-US" sz="2200" dirty="0" smtClean="0">
                <a:latin typeface="Helvetica" pitchFamily="34" charset="0"/>
              </a:rPr>
              <a:t>Sao Shwe Thaik</a:t>
            </a:r>
          </a:p>
          <a:p>
            <a:pPr marL="714375" indent="-361950">
              <a:spcBef>
                <a:spcPts val="600"/>
              </a:spcBef>
              <a:spcAft>
                <a:spcPts val="600"/>
              </a:spcAft>
              <a:buFont typeface="Arial" pitchFamily="34" charset="0"/>
              <a:buChar char="•"/>
            </a:pPr>
            <a:r>
              <a:rPr lang="en-US" sz="2200" dirty="0" smtClean="0">
                <a:latin typeface="Helvetica" pitchFamily="34" charset="0"/>
              </a:rPr>
              <a:t>Surawit Khonsomboon</a:t>
            </a:r>
          </a:p>
          <a:p>
            <a:pPr marL="714375" indent="-361950">
              <a:spcBef>
                <a:spcPts val="600"/>
              </a:spcBef>
              <a:spcAft>
                <a:spcPts val="600"/>
              </a:spcAft>
              <a:buFont typeface="Arial" pitchFamily="34" charset="0"/>
              <a:buChar char="•"/>
            </a:pPr>
            <a:r>
              <a:rPr lang="en-US" sz="2200" dirty="0" smtClean="0">
                <a:latin typeface="Helvetica" pitchFamily="34" charset="0"/>
              </a:rPr>
              <a:t>Salvador Laurel</a:t>
            </a:r>
          </a:p>
          <a:p>
            <a:pPr marL="714375" indent="-361950">
              <a:spcBef>
                <a:spcPts val="600"/>
              </a:spcBef>
              <a:spcAft>
                <a:spcPts val="600"/>
              </a:spcAft>
              <a:buFont typeface="Arial" pitchFamily="34" charset="0"/>
              <a:buChar char="•"/>
            </a:pPr>
            <a:r>
              <a:rPr lang="en-US" sz="2200" dirty="0" smtClean="0">
                <a:latin typeface="Helvetica" pitchFamily="34" charset="0"/>
              </a:rPr>
              <a:t>Lim Goh Tong</a:t>
            </a:r>
          </a:p>
          <a:p>
            <a:pPr marL="714375" indent="-361950">
              <a:spcBef>
                <a:spcPts val="600"/>
              </a:spcBef>
              <a:spcAft>
                <a:spcPts val="600"/>
              </a:spcAft>
              <a:buFont typeface="Arial" pitchFamily="34" charset="0"/>
              <a:buChar char="•"/>
            </a:pPr>
            <a:r>
              <a:rPr lang="en-US" sz="2200" dirty="0" err="1" smtClean="0">
                <a:latin typeface="Helvetica" pitchFamily="34" charset="0"/>
              </a:rPr>
              <a:t>Halim</a:t>
            </a:r>
            <a:r>
              <a:rPr lang="en-US" sz="2200" dirty="0" smtClean="0">
                <a:latin typeface="Helvetica" pitchFamily="34" charset="0"/>
              </a:rPr>
              <a:t> </a:t>
            </a:r>
            <a:r>
              <a:rPr lang="en-US" sz="2200" dirty="0" err="1" smtClean="0">
                <a:latin typeface="Helvetica" pitchFamily="34" charset="0"/>
              </a:rPr>
              <a:t>Saad</a:t>
            </a:r>
            <a:endParaRPr lang="en-US" sz="2200" dirty="0" smtClean="0">
              <a:latin typeface="Helvetica" pitchFamily="34" charset="0"/>
            </a:endParaRPr>
          </a:p>
          <a:p>
            <a:pPr marL="360000" indent="-360000">
              <a:spcBef>
                <a:spcPts val="600"/>
              </a:spcBef>
              <a:spcAft>
                <a:spcPts val="600"/>
              </a:spcAft>
              <a:buFont typeface="Arial" pitchFamily="34" charset="0"/>
              <a:buChar char="•"/>
            </a:pPr>
            <a:endParaRPr lang="en-US" sz="2200" dirty="0" smtClean="0">
              <a:latin typeface="Helvetica" pitchFamily="34" charset="0"/>
            </a:endParaRPr>
          </a:p>
          <a:p>
            <a:pPr marL="360000" indent="-360000">
              <a:spcBef>
                <a:spcPts val="600"/>
              </a:spcBef>
              <a:spcAft>
                <a:spcPts val="600"/>
              </a:spcAft>
              <a:buFont typeface="Arial" pitchFamily="34" charset="0"/>
              <a:buChar char="•"/>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19</a:t>
            </a:fld>
            <a:endParaRPr lang="en-US" dirty="0">
              <a:solidFill>
                <a:schemeClr val="tx1"/>
              </a:solidFill>
              <a:latin typeface="Helvetica" pitchFamily="34" charset="0"/>
            </a:endParaRPr>
          </a:p>
        </p:txBody>
      </p:sp>
      <p:pic>
        <p:nvPicPr>
          <p:cNvPr id="5" name="Picture 4" descr="shutterstock_105674408.jpg"/>
          <p:cNvPicPr>
            <a:picLocks noChangeAspect="1"/>
          </p:cNvPicPr>
          <p:nvPr/>
        </p:nvPicPr>
        <p:blipFill>
          <a:blip r:embed="rId3" cstate="print"/>
          <a:stretch>
            <a:fillRect/>
          </a:stretch>
        </p:blipFill>
        <p:spPr>
          <a:xfrm>
            <a:off x="6876256" y="2132856"/>
            <a:ext cx="1096912" cy="1644546"/>
          </a:xfrm>
          <a:prstGeom prst="rect">
            <a:avLst/>
          </a:prstGeom>
        </p:spPr>
      </p:pic>
      <p:pic>
        <p:nvPicPr>
          <p:cNvPr id="6" name="Picture 5" descr="Writing.jpg"/>
          <p:cNvPicPr>
            <a:picLocks noChangeAspect="1"/>
          </p:cNvPicPr>
          <p:nvPr/>
        </p:nvPicPr>
        <p:blipFill>
          <a:blip r:embed="rId4" cstate="print"/>
          <a:stretch>
            <a:fillRect/>
          </a:stretch>
        </p:blipFill>
        <p:spPr>
          <a:xfrm>
            <a:off x="5508104" y="3861048"/>
            <a:ext cx="1740024" cy="1157116"/>
          </a:xfrm>
          <a:prstGeom prst="rect">
            <a:avLst/>
          </a:prstGeom>
        </p:spPr>
      </p:pic>
    </p:spTree>
    <p:extLst>
      <p:ext uri="{BB962C8B-B14F-4D97-AF65-F5344CB8AC3E}">
        <p14:creationId xmlns:p14="http://schemas.microsoft.com/office/powerpoint/2010/main" val="501749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Describe acceptable telephone etiquette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88832" cy="4886003"/>
          </a:xfrm>
        </p:spPr>
        <p:txBody>
          <a:bodyPr>
            <a:normAutofit lnSpcReduction="10000"/>
          </a:bodyPr>
          <a:lstStyle/>
          <a:p>
            <a:pPr lvl="0">
              <a:spcBef>
                <a:spcPts val="600"/>
              </a:spcBef>
              <a:spcAft>
                <a:spcPts val="600"/>
              </a:spcAft>
              <a:buNone/>
            </a:pPr>
            <a:r>
              <a:rPr lang="en-AU" sz="2200" dirty="0" smtClean="0">
                <a:latin typeface="Helvetica" pitchFamily="34" charset="0"/>
              </a:rPr>
              <a:t>Acceptable telephone technique includes:</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Answer </a:t>
            </a:r>
            <a:r>
              <a:rPr lang="en-AU" sz="2200" dirty="0">
                <a:latin typeface="Helvetica" pitchFamily="34" charset="0"/>
              </a:rPr>
              <a:t>the call </a:t>
            </a:r>
            <a:r>
              <a:rPr lang="en-AU" sz="2200" dirty="0">
                <a:latin typeface="Helvetica" pitchFamily="34" charset="0"/>
              </a:rPr>
              <a:t>within </a:t>
            </a:r>
            <a:r>
              <a:rPr lang="en-AU" sz="2200" dirty="0">
                <a:latin typeface="Helvetica" pitchFamily="34" charset="0"/>
              </a:rPr>
              <a:t>three rings</a:t>
            </a:r>
            <a:endParaRPr lang="en-AU" sz="2200" dirty="0">
              <a:latin typeface="Helvetica" pitchFamily="34" charset="0"/>
            </a:endParaRP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Speak </a:t>
            </a:r>
            <a:r>
              <a:rPr lang="en-AU" sz="2200" dirty="0">
                <a:latin typeface="Helvetica" pitchFamily="34" charset="0"/>
              </a:rPr>
              <a:t>clearly and slowly </a:t>
            </a: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Be courteous, civil </a:t>
            </a:r>
            <a:r>
              <a:rPr lang="en-AU" sz="2200" dirty="0">
                <a:latin typeface="Helvetica" pitchFamily="34" charset="0"/>
              </a:rPr>
              <a:t>and </a:t>
            </a:r>
            <a:r>
              <a:rPr lang="en-AU" sz="2200" dirty="0" smtClean="0">
                <a:latin typeface="Helvetica" pitchFamily="34" charset="0"/>
              </a:rPr>
              <a:t>respectful</a:t>
            </a:r>
            <a:endParaRPr lang="en-AU" sz="2200" dirty="0">
              <a:latin typeface="Helvetica" pitchFamily="34" charset="0"/>
            </a:endParaRP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Use appropriate </a:t>
            </a:r>
            <a:r>
              <a:rPr lang="en-AU" sz="2200" dirty="0">
                <a:latin typeface="Helvetica" pitchFamily="34" charset="0"/>
              </a:rPr>
              <a:t>opening phrase </a:t>
            </a:r>
            <a:endParaRPr lang="en-AU" sz="2200" dirty="0" smtClean="0">
              <a:latin typeface="Helvetica" pitchFamily="34" charset="0"/>
            </a:endParaRPr>
          </a:p>
          <a:p>
            <a:pPr lvl="0">
              <a:spcBef>
                <a:spcPts val="600"/>
              </a:spcBef>
              <a:spcAft>
                <a:spcPts val="600"/>
              </a:spcAft>
              <a:buNone/>
            </a:pPr>
            <a:r>
              <a:rPr lang="en-AU" sz="2200" dirty="0" smtClean="0">
                <a:latin typeface="Helvetica" pitchFamily="34" charset="0"/>
              </a:rPr>
              <a:t>(Continued)</a:t>
            </a:r>
          </a:p>
          <a:p>
            <a:pPr marL="360000" indent="-360000">
              <a:spcBef>
                <a:spcPts val="600"/>
              </a:spcBef>
              <a:spcAft>
                <a:spcPts val="600"/>
              </a:spcAft>
              <a:buNone/>
            </a:pPr>
            <a:endParaRPr lang="en-US" sz="2200"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20</a:t>
            </a:fld>
            <a:endParaRPr lang="en-US" dirty="0">
              <a:solidFill>
                <a:schemeClr val="tx1"/>
              </a:solidFill>
              <a:latin typeface="Helvetica" pitchFamily="34" charset="0"/>
            </a:endParaRPr>
          </a:p>
        </p:txBody>
      </p:sp>
      <p:pic>
        <p:nvPicPr>
          <p:cNvPr id="5" name="Picture 4" descr="aa.bmp"/>
          <p:cNvPicPr>
            <a:picLocks noChangeAspect="1"/>
          </p:cNvPicPr>
          <p:nvPr/>
        </p:nvPicPr>
        <p:blipFill>
          <a:blip r:embed="rId3" cstate="print"/>
          <a:stretch>
            <a:fillRect/>
          </a:stretch>
        </p:blipFill>
        <p:spPr>
          <a:xfrm>
            <a:off x="6012160" y="2564904"/>
            <a:ext cx="2052985" cy="1368152"/>
          </a:xfrm>
          <a:prstGeom prst="rect">
            <a:avLst/>
          </a:prstGeom>
        </p:spPr>
      </p:pic>
    </p:spTree>
    <p:extLst>
      <p:ext uri="{BB962C8B-B14F-4D97-AF65-F5344CB8AC3E}">
        <p14:creationId xmlns:p14="http://schemas.microsoft.com/office/powerpoint/2010/main" val="13883718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7467600" cy="648072"/>
          </a:xfrm>
        </p:spPr>
        <p:txBody>
          <a:bodyPr>
            <a:normAutofit/>
          </a:bodyPr>
          <a:lstStyle/>
          <a:p>
            <a:r>
              <a:rPr lang="en-US" sz="2800" b="1" dirty="0" smtClean="0">
                <a:solidFill>
                  <a:srgbClr val="FF6600"/>
                </a:solidFill>
                <a:latin typeface="Helvetica" pitchFamily="34" charset="0"/>
              </a:rPr>
              <a:t>Describe acceptable telephone etiquette</a:t>
            </a:r>
            <a:endParaRPr lang="en-AU" sz="2800" dirty="0"/>
          </a:p>
        </p:txBody>
      </p:sp>
      <p:sp>
        <p:nvSpPr>
          <p:cNvPr id="3" name="Content Placeholder 2"/>
          <p:cNvSpPr>
            <a:spLocks noGrp="1"/>
          </p:cNvSpPr>
          <p:nvPr>
            <p:ph idx="1"/>
          </p:nvPr>
        </p:nvSpPr>
        <p:spPr>
          <a:xfrm>
            <a:off x="457200" y="1124744"/>
            <a:ext cx="7467600" cy="5001419"/>
          </a:xfrm>
        </p:spPr>
        <p:txBody>
          <a:bodyPr>
            <a:normAutofit/>
          </a:bodyPr>
          <a:lstStyle/>
          <a:p>
            <a:pPr lvl="0">
              <a:spcBef>
                <a:spcPts val="600"/>
              </a:spcBef>
              <a:spcAft>
                <a:spcPts val="600"/>
              </a:spcAft>
            </a:pPr>
            <a:r>
              <a:rPr lang="en-AU" sz="2200" dirty="0" smtClean="0">
                <a:latin typeface="Helvetica" pitchFamily="34" charset="0"/>
              </a:rPr>
              <a:t>Listen to caller</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Reduce background noise</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If there is caller ID on the telephone system, use guest's name</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Repeat details back to the guest</a:t>
            </a:r>
          </a:p>
          <a:p>
            <a:pPr>
              <a:spcBef>
                <a:spcPts val="600"/>
              </a:spcBef>
              <a:spcAft>
                <a:spcPts val="600"/>
              </a:spcAft>
              <a:buNone/>
            </a:pPr>
            <a:r>
              <a:rPr lang="en-AU" sz="2200" dirty="0" smtClean="0">
                <a:latin typeface="Helvetica" pitchFamily="34" charset="0"/>
              </a:rPr>
              <a:t>(Continued)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 Slide </a:t>
            </a:r>
            <a:fld id="{90BDF71C-F485-43AE-8825-5070AF1EA8C9}" type="slidenum">
              <a:rPr lang="en-US" smtClean="0">
                <a:solidFill>
                  <a:schemeClr val="tx1"/>
                </a:solidFill>
                <a:latin typeface="Helvetica" pitchFamily="34" charset="0"/>
              </a:rPr>
              <a:pPr/>
              <a:t>21</a:t>
            </a:fld>
            <a:endParaRPr lang="en-US" dirty="0">
              <a:solidFill>
                <a:schemeClr val="tx1"/>
              </a:solidFill>
              <a:latin typeface="Helvetica" pitchFamily="34" charset="0"/>
            </a:endParaRPr>
          </a:p>
        </p:txBody>
      </p:sp>
      <p:pic>
        <p:nvPicPr>
          <p:cNvPr id="5" name="Picture 4" descr="d46.jpg"/>
          <p:cNvPicPr>
            <a:picLocks noChangeAspect="1"/>
          </p:cNvPicPr>
          <p:nvPr/>
        </p:nvPicPr>
        <p:blipFill>
          <a:blip r:embed="rId3" cstate="print"/>
          <a:stretch>
            <a:fillRect/>
          </a:stretch>
        </p:blipFill>
        <p:spPr>
          <a:xfrm>
            <a:off x="5508104" y="4509120"/>
            <a:ext cx="2257425" cy="160954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7467600" cy="648072"/>
          </a:xfrm>
        </p:spPr>
        <p:txBody>
          <a:bodyPr>
            <a:normAutofit/>
          </a:bodyPr>
          <a:lstStyle/>
          <a:p>
            <a:r>
              <a:rPr lang="en-US" sz="2800" b="1" dirty="0" smtClean="0">
                <a:solidFill>
                  <a:srgbClr val="FF6600"/>
                </a:solidFill>
                <a:latin typeface="Helvetica" pitchFamily="34" charset="0"/>
              </a:rPr>
              <a:t>Describe acceptable telephone etiquette</a:t>
            </a:r>
            <a:endParaRPr lang="en-AU" sz="2800" dirty="0"/>
          </a:p>
        </p:txBody>
      </p:sp>
      <p:sp>
        <p:nvSpPr>
          <p:cNvPr id="3" name="Content Placeholder 2"/>
          <p:cNvSpPr>
            <a:spLocks noGrp="1"/>
          </p:cNvSpPr>
          <p:nvPr>
            <p:ph idx="1"/>
          </p:nvPr>
        </p:nvSpPr>
        <p:spPr>
          <a:xfrm>
            <a:off x="457200" y="1124744"/>
            <a:ext cx="7467600" cy="5001419"/>
          </a:xfrm>
        </p:spPr>
        <p:txBody>
          <a:bodyPr>
            <a:normAutofit/>
          </a:bodyPr>
          <a:lstStyle/>
          <a:p>
            <a:pPr lvl="0">
              <a:spcBef>
                <a:spcPts val="600"/>
              </a:spcBef>
              <a:spcAft>
                <a:spcPts val="600"/>
              </a:spcAft>
            </a:pPr>
            <a:r>
              <a:rPr lang="en-AU" sz="2200" dirty="0" smtClean="0">
                <a:latin typeface="Helvetica" pitchFamily="34" charset="0"/>
              </a:rPr>
              <a:t>Verify spelling where required</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Transfer calls promptly </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Ask before putting guest on hold.</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Never eat, drink or smoke while on the phone</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Use suitable closing phrase – thank caller for calling</a:t>
            </a:r>
          </a:p>
          <a:p>
            <a:pPr>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 Slide </a:t>
            </a:r>
            <a:fld id="{90BDF71C-F485-43AE-8825-5070AF1EA8C9}" type="slidenum">
              <a:rPr lang="en-US" smtClean="0">
                <a:solidFill>
                  <a:schemeClr val="tx1"/>
                </a:solidFill>
                <a:latin typeface="Helvetica" pitchFamily="34" charset="0"/>
              </a:rPr>
              <a:pPr/>
              <a:t>22</a:t>
            </a:fld>
            <a:endParaRPr lang="en-US" dirty="0">
              <a:solidFill>
                <a:schemeClr val="tx1"/>
              </a:solidFill>
              <a:latin typeface="Helvetica" pitchFamily="34" charset="0"/>
            </a:endParaRPr>
          </a:p>
        </p:txBody>
      </p:sp>
      <p:pic>
        <p:nvPicPr>
          <p:cNvPr id="5" name="Picture 4" descr="d46.jpg"/>
          <p:cNvPicPr>
            <a:picLocks noChangeAspect="1"/>
          </p:cNvPicPr>
          <p:nvPr/>
        </p:nvPicPr>
        <p:blipFill>
          <a:blip r:embed="rId3" cstate="print"/>
          <a:stretch>
            <a:fillRect/>
          </a:stretch>
        </p:blipFill>
        <p:spPr>
          <a:xfrm>
            <a:off x="6084168" y="1340768"/>
            <a:ext cx="2257425" cy="160954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1950" indent="-361950">
              <a:spcBef>
                <a:spcPts val="600"/>
              </a:spcBef>
              <a:spcAft>
                <a:spcPts val="600"/>
              </a:spcAft>
            </a:pPr>
            <a:r>
              <a:rPr lang="en-US" sz="2200" dirty="0" smtClean="0">
                <a:latin typeface="Helvetica" pitchFamily="34" charset="0"/>
              </a:rPr>
              <a:t>Role play to demonstrate telephone techniques</a:t>
            </a:r>
          </a:p>
          <a:p>
            <a:pPr marL="361950" indent="-361950">
              <a:lnSpc>
                <a:spcPct val="90000"/>
              </a:lnSpc>
              <a:spcBef>
                <a:spcPts val="600"/>
              </a:spcBef>
              <a:spcAft>
                <a:spcPts val="600"/>
              </a:spcAft>
            </a:pPr>
            <a:r>
              <a:rPr lang="en-US" sz="2200" dirty="0">
                <a:latin typeface="Helvetica" pitchFamily="34" charset="0"/>
              </a:rPr>
              <a:t>Ring a </a:t>
            </a:r>
            <a:r>
              <a:rPr lang="en-US" sz="2200" dirty="0" smtClean="0">
                <a:latin typeface="Helvetica" pitchFamily="34" charset="0"/>
              </a:rPr>
              <a:t>friend </a:t>
            </a:r>
            <a:r>
              <a:rPr lang="en-US" sz="2200" dirty="0">
                <a:latin typeface="Helvetica" pitchFamily="34" charset="0"/>
              </a:rPr>
              <a:t>and </a:t>
            </a:r>
            <a:r>
              <a:rPr lang="en-US" sz="2200" dirty="0" smtClean="0">
                <a:latin typeface="Helvetica" pitchFamily="34" charset="0"/>
              </a:rPr>
              <a:t>take </a:t>
            </a:r>
            <a:r>
              <a:rPr lang="en-US" sz="2200" dirty="0">
                <a:latin typeface="Helvetica" pitchFamily="34" charset="0"/>
              </a:rPr>
              <a:t>a </a:t>
            </a:r>
            <a:r>
              <a:rPr lang="en-US" sz="2200" dirty="0" smtClean="0">
                <a:latin typeface="Helvetica" pitchFamily="34" charset="0"/>
              </a:rPr>
              <a:t>message</a:t>
            </a:r>
          </a:p>
          <a:p>
            <a:pPr marL="361950" indent="-361950">
              <a:lnSpc>
                <a:spcPct val="90000"/>
              </a:lnSpc>
              <a:spcBef>
                <a:spcPts val="600"/>
              </a:spcBef>
              <a:spcAft>
                <a:spcPts val="600"/>
              </a:spcAft>
            </a:pPr>
            <a:r>
              <a:rPr lang="en-US" sz="2200" dirty="0" smtClean="0">
                <a:latin typeface="Helvetica" pitchFamily="34" charset="0"/>
              </a:rPr>
              <a:t>Leave a </a:t>
            </a:r>
            <a:r>
              <a:rPr lang="en-US" sz="2200" dirty="0">
                <a:latin typeface="Helvetica" pitchFamily="34" charset="0"/>
              </a:rPr>
              <a:t>message for a guest at </a:t>
            </a:r>
            <a:r>
              <a:rPr lang="en-US" sz="2200" dirty="0" smtClean="0">
                <a:latin typeface="Helvetica" pitchFamily="34" charset="0"/>
              </a:rPr>
              <a:t>the </a:t>
            </a:r>
            <a:r>
              <a:rPr lang="en-US" sz="2200" dirty="0">
                <a:latin typeface="Helvetica" pitchFamily="34" charset="0"/>
              </a:rPr>
              <a:t>h</a:t>
            </a:r>
            <a:r>
              <a:rPr lang="en-US" sz="2200" dirty="0" smtClean="0">
                <a:latin typeface="Helvetica" pitchFamily="34" charset="0"/>
              </a:rPr>
              <a:t>otel </a:t>
            </a:r>
            <a:r>
              <a:rPr lang="en-US" sz="2200" dirty="0">
                <a:latin typeface="Helvetica" pitchFamily="34" charset="0"/>
              </a:rPr>
              <a:t>who </a:t>
            </a:r>
            <a:r>
              <a:rPr lang="en-US" sz="2200" dirty="0" smtClean="0">
                <a:latin typeface="Helvetica" pitchFamily="34" charset="0"/>
              </a:rPr>
              <a:t>is:</a:t>
            </a:r>
            <a:endParaRPr lang="en-US" sz="2200" dirty="0">
              <a:latin typeface="Helvetica" pitchFamily="34" charset="0"/>
            </a:endParaRPr>
          </a:p>
          <a:p>
            <a:pPr marL="714375" indent="-361950">
              <a:lnSpc>
                <a:spcPct val="90000"/>
              </a:lnSpc>
              <a:spcBef>
                <a:spcPts val="600"/>
              </a:spcBef>
              <a:spcAft>
                <a:spcPts val="600"/>
              </a:spcAft>
              <a:buSzPct val="120000"/>
              <a:buFont typeface="Arial" pitchFamily="34" charset="0"/>
              <a:buChar char="•"/>
            </a:pPr>
            <a:r>
              <a:rPr lang="en-US" sz="2200" dirty="0">
                <a:latin typeface="Helvetica" pitchFamily="34" charset="0"/>
              </a:rPr>
              <a:t>Your </a:t>
            </a:r>
            <a:r>
              <a:rPr lang="en-US" sz="2200" dirty="0" smtClean="0">
                <a:latin typeface="Helvetica" pitchFamily="34" charset="0"/>
              </a:rPr>
              <a:t>boss</a:t>
            </a:r>
            <a:endParaRPr lang="en-US" sz="2200" dirty="0">
              <a:latin typeface="Helvetica" pitchFamily="34" charset="0"/>
            </a:endParaRPr>
          </a:p>
          <a:p>
            <a:pPr marL="714375" indent="-361950">
              <a:lnSpc>
                <a:spcPct val="90000"/>
              </a:lnSpc>
              <a:spcBef>
                <a:spcPts val="600"/>
              </a:spcBef>
              <a:spcAft>
                <a:spcPts val="600"/>
              </a:spcAft>
              <a:buSzPct val="120000"/>
              <a:buFont typeface="Arial" pitchFamily="34" charset="0"/>
              <a:buChar char="•"/>
            </a:pPr>
            <a:r>
              <a:rPr lang="en-US" sz="2200" dirty="0" smtClean="0">
                <a:latin typeface="Helvetica" pitchFamily="34" charset="0"/>
              </a:rPr>
              <a:t>A couple </a:t>
            </a:r>
            <a:r>
              <a:rPr lang="en-US" sz="2200" dirty="0">
                <a:latin typeface="Helvetica" pitchFamily="34" charset="0"/>
              </a:rPr>
              <a:t>on their </a:t>
            </a:r>
            <a:r>
              <a:rPr lang="en-US" sz="2200" dirty="0" smtClean="0">
                <a:latin typeface="Helvetica" pitchFamily="34" charset="0"/>
              </a:rPr>
              <a:t>anniversary</a:t>
            </a:r>
            <a:endParaRPr lang="en-US" sz="2200" dirty="0">
              <a:latin typeface="Helvetica" pitchFamily="34" charset="0"/>
            </a:endParaRPr>
          </a:p>
          <a:p>
            <a:pPr marL="714375" indent="-361950">
              <a:lnSpc>
                <a:spcPct val="90000"/>
              </a:lnSpc>
              <a:spcBef>
                <a:spcPts val="600"/>
              </a:spcBef>
              <a:spcAft>
                <a:spcPts val="600"/>
              </a:spcAft>
              <a:buSzPct val="120000"/>
              <a:buFont typeface="Arial" pitchFamily="34" charset="0"/>
              <a:buChar char="•"/>
            </a:pPr>
            <a:r>
              <a:rPr lang="en-US" sz="2200" dirty="0">
                <a:latin typeface="Helvetica" pitchFamily="34" charset="0"/>
              </a:rPr>
              <a:t>A friend in town to </a:t>
            </a:r>
            <a:r>
              <a:rPr lang="en-US" sz="2200" dirty="0" smtClean="0">
                <a:latin typeface="Helvetica" pitchFamily="34" charset="0"/>
              </a:rPr>
              <a:t>visit</a:t>
            </a:r>
            <a:endParaRPr lang="en-US" sz="2200" dirty="0">
              <a:latin typeface="Helvetica" pitchFamily="34" charset="0"/>
            </a:endParaRPr>
          </a:p>
          <a:p>
            <a:pPr marL="714375" indent="-361950">
              <a:lnSpc>
                <a:spcPct val="90000"/>
              </a:lnSpc>
              <a:spcBef>
                <a:spcPts val="600"/>
              </a:spcBef>
              <a:spcAft>
                <a:spcPts val="600"/>
              </a:spcAft>
              <a:buSzPct val="120000"/>
              <a:buFont typeface="Arial" pitchFamily="34" charset="0"/>
              <a:buChar char="•"/>
            </a:pPr>
            <a:r>
              <a:rPr lang="en-US" sz="2200" dirty="0">
                <a:latin typeface="Helvetica" pitchFamily="34" charset="0"/>
              </a:rPr>
              <a:t>A </a:t>
            </a:r>
            <a:r>
              <a:rPr lang="en-US" sz="2200" dirty="0" smtClean="0">
                <a:latin typeface="Helvetica" pitchFamily="34" charset="0"/>
              </a:rPr>
              <a:t>business </a:t>
            </a:r>
            <a:r>
              <a:rPr lang="en-US" sz="2200" dirty="0">
                <a:latin typeface="Helvetica" pitchFamily="34" charset="0"/>
              </a:rPr>
              <a:t>associate here </a:t>
            </a:r>
            <a:r>
              <a:rPr lang="en-US" sz="2200" dirty="0" smtClean="0">
                <a:latin typeface="Helvetica" pitchFamily="34" charset="0"/>
              </a:rPr>
              <a:t>for </a:t>
            </a:r>
            <a:r>
              <a:rPr lang="en-US" sz="2200" dirty="0">
                <a:latin typeface="Helvetica" pitchFamily="34" charset="0"/>
              </a:rPr>
              <a:t>a </a:t>
            </a:r>
            <a:r>
              <a:rPr lang="en-US" sz="2200" dirty="0" smtClean="0">
                <a:latin typeface="Helvetica" pitchFamily="34" charset="0"/>
              </a:rPr>
              <a:t>meeting</a:t>
            </a:r>
            <a:endParaRPr lang="en-US" sz="2200" dirty="0">
              <a:latin typeface="Helvetica" pitchFamily="34" charset="0"/>
            </a:endParaRPr>
          </a:p>
          <a:p>
            <a:pPr>
              <a:lnSpc>
                <a:spcPct val="90000"/>
              </a:lnSpc>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23</a:t>
            </a:fld>
            <a:endParaRPr lang="en-US" dirty="0">
              <a:solidFill>
                <a:schemeClr val="tx1"/>
              </a:solidFill>
              <a:latin typeface="Helvetica" pitchFamily="34" charset="0"/>
            </a:endParaRPr>
          </a:p>
        </p:txBody>
      </p:sp>
      <p:pic>
        <p:nvPicPr>
          <p:cNvPr id="5" name="Picture 4" descr="shutterstock_69626098.jpg"/>
          <p:cNvPicPr>
            <a:picLocks noChangeAspect="1"/>
          </p:cNvPicPr>
          <p:nvPr/>
        </p:nvPicPr>
        <p:blipFill>
          <a:blip r:embed="rId3" cstate="print"/>
          <a:stretch>
            <a:fillRect/>
          </a:stretch>
        </p:blipFill>
        <p:spPr>
          <a:xfrm>
            <a:off x="3563888" y="4509120"/>
            <a:ext cx="2039963" cy="1384944"/>
          </a:xfrm>
          <a:prstGeom prst="rect">
            <a:avLst/>
          </a:prstGeom>
        </p:spPr>
      </p:pic>
    </p:spTree>
    <p:extLst>
      <p:ext uri="{BB962C8B-B14F-4D97-AF65-F5344CB8AC3E}">
        <p14:creationId xmlns:p14="http://schemas.microsoft.com/office/powerpoint/2010/main" val="30536186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a:bodyPr>
          <a:lstStyle/>
          <a:p>
            <a:r>
              <a:rPr lang="en-US" sz="2800" b="1" dirty="0" smtClean="0">
                <a:solidFill>
                  <a:srgbClr val="FF6600"/>
                </a:solidFill>
                <a:latin typeface="Helvetica" pitchFamily="34" charset="0"/>
              </a:rPr>
              <a:t>Identify common caller complaints about telephoning a business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a:ln>
            <a:noFill/>
          </a:ln>
        </p:spPr>
        <p:txBody>
          <a:bodyPr>
            <a:normAutofit/>
          </a:bodyPr>
          <a:lstStyle/>
          <a:p>
            <a:pPr marL="36576" indent="0">
              <a:spcBef>
                <a:spcPts val="600"/>
              </a:spcBef>
              <a:spcAft>
                <a:spcPts val="600"/>
              </a:spcAft>
              <a:buNone/>
            </a:pPr>
            <a:r>
              <a:rPr lang="en-AU" sz="2200" dirty="0">
                <a:latin typeface="Helvetica" pitchFamily="34" charset="0"/>
              </a:rPr>
              <a:t>Common caller </a:t>
            </a:r>
            <a:r>
              <a:rPr lang="en-AU" sz="2200" dirty="0" smtClean="0">
                <a:latin typeface="Helvetica" pitchFamily="34" charset="0"/>
              </a:rPr>
              <a:t>complaints:</a:t>
            </a:r>
            <a:endParaRPr lang="en-AU" sz="2200" dirty="0">
              <a:latin typeface="Helvetica" pitchFamily="34" charset="0"/>
            </a:endParaRPr>
          </a:p>
          <a:p>
            <a:pPr lvl="0">
              <a:spcBef>
                <a:spcPts val="600"/>
              </a:spcBef>
              <a:spcAft>
                <a:spcPts val="600"/>
              </a:spcAft>
            </a:pPr>
            <a:r>
              <a:rPr lang="en-AU" sz="2200" dirty="0" smtClean="0">
                <a:latin typeface="Helvetica" pitchFamily="34" charset="0"/>
              </a:rPr>
              <a:t>Telephone </a:t>
            </a:r>
            <a:r>
              <a:rPr lang="en-AU" sz="2200" dirty="0">
                <a:latin typeface="Helvetica" pitchFamily="34" charset="0"/>
              </a:rPr>
              <a:t>rings too </a:t>
            </a:r>
            <a:r>
              <a:rPr lang="en-AU" sz="2200" dirty="0" smtClean="0">
                <a:latin typeface="Helvetica" pitchFamily="34" charset="0"/>
              </a:rPr>
              <a:t>long before being answered</a:t>
            </a:r>
          </a:p>
          <a:p>
            <a:pPr lvl="0">
              <a:spcBef>
                <a:spcPts val="600"/>
              </a:spcBef>
              <a:spcAft>
                <a:spcPts val="600"/>
              </a:spcAft>
            </a:pPr>
            <a:r>
              <a:rPr lang="en-AU" sz="2200" dirty="0" smtClean="0">
                <a:latin typeface="Helvetica" pitchFamily="34" charset="0"/>
              </a:rPr>
              <a:t>Being </a:t>
            </a:r>
            <a:r>
              <a:rPr lang="en-AU" sz="2200" dirty="0">
                <a:latin typeface="Helvetica" pitchFamily="34" charset="0"/>
              </a:rPr>
              <a:t>placed on hold for too </a:t>
            </a:r>
            <a:r>
              <a:rPr lang="en-AU" sz="2200" dirty="0" smtClean="0">
                <a:latin typeface="Helvetica" pitchFamily="34" charset="0"/>
              </a:rPr>
              <a:t>long</a:t>
            </a:r>
            <a:endParaRPr lang="en-AU" sz="2200" dirty="0">
              <a:latin typeface="Helvetica" pitchFamily="34" charset="0"/>
            </a:endParaRPr>
          </a:p>
          <a:p>
            <a:pPr lvl="0">
              <a:spcBef>
                <a:spcPts val="600"/>
              </a:spcBef>
              <a:spcAft>
                <a:spcPts val="600"/>
              </a:spcAft>
            </a:pPr>
            <a:r>
              <a:rPr lang="en-AU" sz="2200" dirty="0">
                <a:latin typeface="Helvetica" pitchFamily="34" charset="0"/>
              </a:rPr>
              <a:t>Inability to get </a:t>
            </a:r>
            <a:r>
              <a:rPr lang="en-AU" sz="2200" dirty="0" smtClean="0">
                <a:latin typeface="Helvetica" pitchFamily="34" charset="0"/>
              </a:rPr>
              <a:t>through – line is </a:t>
            </a:r>
            <a:r>
              <a:rPr lang="en-AU" sz="2200" dirty="0">
                <a:latin typeface="Helvetica" pitchFamily="34" charset="0"/>
              </a:rPr>
              <a:t>always </a:t>
            </a:r>
            <a:r>
              <a:rPr lang="en-AU" sz="2200" dirty="0" smtClean="0">
                <a:latin typeface="Helvetica" pitchFamily="34" charset="0"/>
              </a:rPr>
              <a:t>busy</a:t>
            </a:r>
          </a:p>
          <a:p>
            <a:pPr lvl="0">
              <a:spcBef>
                <a:spcPts val="600"/>
              </a:spcBef>
              <a:spcAft>
                <a:spcPts val="600"/>
              </a:spcAft>
            </a:pPr>
            <a:r>
              <a:rPr lang="en-AU" sz="2200" dirty="0" smtClean="0">
                <a:latin typeface="Helvetica" pitchFamily="34" charset="0"/>
              </a:rPr>
              <a:t>Receptionist is defensive or abusive when guest complains</a:t>
            </a:r>
          </a:p>
          <a:p>
            <a:pPr lvl="0">
              <a:spcBef>
                <a:spcPts val="600"/>
              </a:spcBef>
              <a:spcAft>
                <a:spcPts val="600"/>
              </a:spcAft>
              <a:buNone/>
            </a:pPr>
            <a:r>
              <a:rPr lang="en-AU" sz="2200" i="1" dirty="0" smtClean="0">
                <a:latin typeface="Helvetica" pitchFamily="34" charset="0"/>
              </a:rPr>
              <a:t>(continued)</a:t>
            </a:r>
          </a:p>
          <a:p>
            <a:pPr lvl="0">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24</a:t>
            </a:fld>
            <a:endParaRPr lang="en-US" dirty="0" smtClean="0">
              <a:solidFill>
                <a:schemeClr val="tx1"/>
              </a:solidFill>
              <a:latin typeface="Helvetica" pitchFamily="34" charset="0"/>
            </a:endParaRPr>
          </a:p>
        </p:txBody>
      </p:sp>
      <p:pic>
        <p:nvPicPr>
          <p:cNvPr id="5" name="Picture 4" descr="a50.bmp"/>
          <p:cNvPicPr>
            <a:picLocks noChangeAspect="1"/>
          </p:cNvPicPr>
          <p:nvPr/>
        </p:nvPicPr>
        <p:blipFill>
          <a:blip r:embed="rId3" cstate="print"/>
          <a:stretch>
            <a:fillRect/>
          </a:stretch>
        </p:blipFill>
        <p:spPr>
          <a:xfrm>
            <a:off x="6372200" y="4221088"/>
            <a:ext cx="2106627" cy="1405119"/>
          </a:xfrm>
          <a:prstGeom prst="rect">
            <a:avLst/>
          </a:prstGeom>
        </p:spPr>
      </p:pic>
    </p:spTree>
    <p:extLst>
      <p:ext uri="{BB962C8B-B14F-4D97-AF65-F5344CB8AC3E}">
        <p14:creationId xmlns:p14="http://schemas.microsoft.com/office/powerpoint/2010/main" val="501749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22114"/>
          </a:xfrm>
        </p:spPr>
        <p:txBody>
          <a:bodyPr>
            <a:noAutofit/>
          </a:bodyPr>
          <a:lstStyle/>
          <a:p>
            <a:r>
              <a:rPr lang="en-US" sz="2800" b="1" dirty="0" smtClean="0">
                <a:solidFill>
                  <a:srgbClr val="FF6600"/>
                </a:solidFill>
                <a:latin typeface="Helvetica" pitchFamily="34" charset="0"/>
              </a:rPr>
              <a:t>Identify common caller complaints about telephoning a business</a:t>
            </a:r>
            <a:endParaRPr lang="en-AU" sz="2800" dirty="0"/>
          </a:p>
        </p:txBody>
      </p:sp>
      <p:sp>
        <p:nvSpPr>
          <p:cNvPr id="3" name="Content Placeholder 2"/>
          <p:cNvSpPr>
            <a:spLocks noGrp="1"/>
          </p:cNvSpPr>
          <p:nvPr>
            <p:ph idx="1"/>
          </p:nvPr>
        </p:nvSpPr>
        <p:spPr>
          <a:xfrm>
            <a:off x="457200" y="1412776"/>
            <a:ext cx="7467600" cy="4713387"/>
          </a:xfrm>
        </p:spPr>
        <p:txBody>
          <a:bodyPr>
            <a:normAutofit/>
          </a:bodyPr>
          <a:lstStyle/>
          <a:p>
            <a:pPr lvl="0">
              <a:spcBef>
                <a:spcPts val="600"/>
              </a:spcBef>
              <a:spcAft>
                <a:spcPts val="600"/>
              </a:spcAft>
            </a:pPr>
            <a:r>
              <a:rPr lang="en-AU" sz="2200" dirty="0" smtClean="0">
                <a:latin typeface="Helvetica" pitchFamily="34" charset="0"/>
              </a:rPr>
              <a:t>Reception fails to determine where call should be directed</a:t>
            </a:r>
          </a:p>
          <a:p>
            <a:pPr lvl="0">
              <a:spcBef>
                <a:spcPts val="600"/>
              </a:spcBef>
              <a:spcAft>
                <a:spcPts val="600"/>
              </a:spcAft>
            </a:pPr>
            <a:r>
              <a:rPr lang="en-AU" sz="2200" dirty="0" smtClean="0">
                <a:latin typeface="Helvetica" pitchFamily="34" charset="0"/>
              </a:rPr>
              <a:t>Failure to listen properly to requests and questions </a:t>
            </a:r>
          </a:p>
          <a:p>
            <a:pPr lvl="0">
              <a:spcBef>
                <a:spcPts val="600"/>
              </a:spcBef>
              <a:spcAft>
                <a:spcPts val="600"/>
              </a:spcAft>
            </a:pPr>
            <a:r>
              <a:rPr lang="en-AU" sz="2200" dirty="0" smtClean="0">
                <a:latin typeface="Helvetica" pitchFamily="34" charset="0"/>
              </a:rPr>
              <a:t>System failure or staff incompetence with the system</a:t>
            </a:r>
          </a:p>
          <a:p>
            <a:pPr lvl="0">
              <a:spcBef>
                <a:spcPts val="600"/>
              </a:spcBef>
              <a:spcAft>
                <a:spcPts val="600"/>
              </a:spcAft>
            </a:pPr>
            <a:r>
              <a:rPr lang="en-AU" sz="2200" dirty="0" smtClean="0">
                <a:latin typeface="Helvetica" pitchFamily="34" charset="0"/>
              </a:rPr>
              <a:t>Lack of professionalism</a:t>
            </a:r>
          </a:p>
          <a:p>
            <a:pPr lvl="0">
              <a:spcBef>
                <a:spcPts val="600"/>
              </a:spcBef>
              <a:spcAft>
                <a:spcPts val="600"/>
              </a:spcAft>
            </a:pPr>
            <a:r>
              <a:rPr lang="en-AU" sz="2200" dirty="0" smtClean="0">
                <a:latin typeface="Helvetica" pitchFamily="34" charset="0"/>
              </a:rPr>
              <a:t>Lack of product/venue knowledge. </a:t>
            </a:r>
            <a:br>
              <a:rPr lang="en-AU" sz="2200" dirty="0" smtClean="0">
                <a:latin typeface="Helvetica" pitchFamily="34" charset="0"/>
              </a:rPr>
            </a:br>
            <a:endParaRPr lang="en-US" sz="2200" dirty="0" smtClean="0">
              <a:latin typeface="Helvetica" pitchFamily="34" charset="0"/>
            </a:endParaRPr>
          </a:p>
          <a:p>
            <a:pPr>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25</a:t>
            </a:fld>
            <a:endParaRPr lang="en-US" dirty="0" smtClean="0">
              <a:solidFill>
                <a:schemeClr val="tx1"/>
              </a:solidFill>
              <a:latin typeface="Helvetica" pitchFamily="34" charset="0"/>
            </a:endParaRPr>
          </a:p>
        </p:txBody>
      </p:sp>
      <p:pic>
        <p:nvPicPr>
          <p:cNvPr id="5" name="Picture 4" descr="MC900078762.WMF"/>
          <p:cNvPicPr>
            <a:picLocks noChangeAspect="1"/>
          </p:cNvPicPr>
          <p:nvPr/>
        </p:nvPicPr>
        <p:blipFill>
          <a:blip r:embed="rId3" cstate="print"/>
          <a:stretch>
            <a:fillRect/>
          </a:stretch>
        </p:blipFill>
        <p:spPr>
          <a:xfrm>
            <a:off x="6012160" y="3789040"/>
            <a:ext cx="1660029" cy="191686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600"/>
              </a:spcAft>
              <a:buNone/>
            </a:pPr>
            <a:r>
              <a:rPr lang="en-US" sz="2200" dirty="0" smtClean="0">
                <a:latin typeface="Helvetica" pitchFamily="34" charset="0"/>
              </a:rPr>
              <a:t>Role play the following: </a:t>
            </a: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pPr>
            <a:r>
              <a:rPr lang="en-US" sz="2200" dirty="0" smtClean="0">
                <a:latin typeface="Helvetica" pitchFamily="34" charset="0"/>
              </a:rPr>
              <a:t>Guest has rung to complain about a dirty bathroom</a:t>
            </a: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pPr>
            <a:r>
              <a:rPr lang="en-US" sz="2200" dirty="0" smtClean="0">
                <a:latin typeface="Helvetica" pitchFamily="34" charset="0"/>
              </a:rPr>
              <a:t>Guest has rung to complain about a rude housemaid</a:t>
            </a: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pPr>
            <a:r>
              <a:rPr lang="en-US" sz="2200" dirty="0" smtClean="0">
                <a:latin typeface="Helvetica" pitchFamily="34" charset="0"/>
              </a:rPr>
              <a:t>Guest has rung to say they will arrive late and been on hold for 20 minutes</a:t>
            </a:r>
          </a:p>
          <a:p>
            <a:pPr marL="360000" indent="-360000">
              <a:spcBef>
                <a:spcPts val="600"/>
              </a:spcBef>
              <a:spcAft>
                <a:spcPts val="600"/>
              </a:spcAft>
              <a:buNone/>
            </a:pPr>
            <a:r>
              <a:rPr lang="en-US" sz="2200" dirty="0" smtClean="0">
                <a:latin typeface="Helvetica" pitchFamily="34" charset="0"/>
              </a:rPr>
              <a:t>(</a:t>
            </a:r>
            <a:r>
              <a:rPr lang="en-US" sz="2200" dirty="0" smtClean="0">
                <a:latin typeface="Helvetica" pitchFamily="34" charset="0"/>
              </a:rPr>
              <a:t>Continued</a:t>
            </a:r>
            <a:r>
              <a:rPr lang="en-US" sz="2200" dirty="0" smtClean="0">
                <a:latin typeface="Helvetica" pitchFamily="34" charset="0"/>
              </a:rPr>
              <a:t>)</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26</a:t>
            </a:fld>
            <a:endParaRPr lang="en-US" dirty="0" smtClean="0">
              <a:solidFill>
                <a:schemeClr val="tx1"/>
              </a:solidFill>
              <a:latin typeface="Helvetica" pitchFamily="34" charset="0"/>
            </a:endParaRPr>
          </a:p>
        </p:txBody>
      </p:sp>
      <p:pic>
        <p:nvPicPr>
          <p:cNvPr id="5" name="Picture 4" descr="MC900435252.PNG"/>
          <p:cNvPicPr>
            <a:picLocks noChangeAspect="1"/>
          </p:cNvPicPr>
          <p:nvPr/>
        </p:nvPicPr>
        <p:blipFill>
          <a:blip r:embed="rId3" cstate="print"/>
          <a:srcRect l="13745" t="1718" r="14092" b="27837"/>
          <a:stretch>
            <a:fillRect/>
          </a:stretch>
        </p:blipFill>
        <p:spPr>
          <a:xfrm>
            <a:off x="5004048" y="4509120"/>
            <a:ext cx="1696579" cy="1656184"/>
          </a:xfrm>
          <a:prstGeom prst="rect">
            <a:avLst/>
          </a:prstGeom>
        </p:spPr>
      </p:pic>
    </p:spTree>
    <p:extLst>
      <p:ext uri="{BB962C8B-B14F-4D97-AF65-F5344CB8AC3E}">
        <p14:creationId xmlns:p14="http://schemas.microsoft.com/office/powerpoint/2010/main" val="30271013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pPr>
            <a:r>
              <a:rPr lang="en-US" sz="2200" dirty="0" smtClean="0">
                <a:latin typeface="Helvetica" pitchFamily="34" charset="0"/>
              </a:rPr>
              <a:t>Guest has rung to </a:t>
            </a:r>
            <a:r>
              <a:rPr lang="en-AU" sz="2400" dirty="0" smtClean="0"/>
              <a:t>ask help for reserving a taxi</a:t>
            </a:r>
            <a:endParaRPr lang="en-US" sz="2200" dirty="0" smtClean="0">
              <a:latin typeface="Helvetica" pitchFamily="34" charset="0"/>
            </a:endParaRP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pPr>
            <a:r>
              <a:rPr lang="en-US" sz="2200" dirty="0" smtClean="0">
                <a:latin typeface="Helvetica" pitchFamily="34" charset="0"/>
              </a:rPr>
              <a:t>Guest has rung to </a:t>
            </a:r>
            <a:r>
              <a:rPr lang="en-AU" sz="2400" dirty="0" smtClean="0"/>
              <a:t>ask help for reserving a flight ticket.</a:t>
            </a:r>
            <a:endParaRPr lang="en-US" sz="2200" dirty="0" smtClean="0">
              <a:latin typeface="Helvetica" pitchFamily="34" charset="0"/>
            </a:endParaRPr>
          </a:p>
          <a:p>
            <a:pPr marL="360000" indent="-360000">
              <a:spcBef>
                <a:spcPts val="600"/>
              </a:spcBef>
              <a:spcAft>
                <a:spcPts val="6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27</a:t>
            </a:fld>
            <a:endParaRPr lang="en-US" dirty="0" smtClean="0">
              <a:solidFill>
                <a:schemeClr val="tx1"/>
              </a:solidFill>
              <a:latin typeface="Helvetica" pitchFamily="34" charset="0"/>
            </a:endParaRPr>
          </a:p>
        </p:txBody>
      </p:sp>
      <p:pic>
        <p:nvPicPr>
          <p:cNvPr id="6" name="Picture 5" descr="complaints.png"/>
          <p:cNvPicPr>
            <a:picLocks noChangeAspect="1"/>
          </p:cNvPicPr>
          <p:nvPr/>
        </p:nvPicPr>
        <p:blipFill>
          <a:blip r:embed="rId3" cstate="print"/>
          <a:stretch>
            <a:fillRect/>
          </a:stretch>
        </p:blipFill>
        <p:spPr>
          <a:xfrm>
            <a:off x="3059832" y="3645024"/>
            <a:ext cx="1976811" cy="1617391"/>
          </a:xfrm>
          <a:prstGeom prst="rect">
            <a:avLst/>
          </a:prstGeom>
        </p:spPr>
      </p:pic>
    </p:spTree>
    <p:extLst>
      <p:ext uri="{BB962C8B-B14F-4D97-AF65-F5344CB8AC3E}">
        <p14:creationId xmlns:p14="http://schemas.microsoft.com/office/powerpoint/2010/main" val="30271013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pPr marL="542925" indent="-542925"/>
            <a:r>
              <a:rPr lang="en-US" sz="3200" b="1" dirty="0" smtClean="0">
                <a:solidFill>
                  <a:srgbClr val="FF6600"/>
                </a:solidFill>
                <a:latin typeface="Helvetica" pitchFamily="34" charset="0"/>
              </a:rPr>
              <a:t>3.	Receive incoming calls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28</a:t>
            </a:fld>
            <a:endParaRPr lang="en-US" dirty="0" smtClean="0">
              <a:solidFill>
                <a:schemeClr val="tx1"/>
              </a:solidFill>
              <a:latin typeface="Helvetica" pitchFamily="34" charset="0"/>
            </a:endParaRPr>
          </a:p>
        </p:txBody>
      </p:sp>
      <p:pic>
        <p:nvPicPr>
          <p:cNvPr id="6" name="il_fi" descr="http://randombraindumping.files.wordpress.com/2012/07/operator.jpg"/>
          <p:cNvPicPr/>
          <p:nvPr/>
        </p:nvPicPr>
        <p:blipFill>
          <a:blip r:embed="rId3" cstate="print"/>
          <a:srcRect l="29647"/>
          <a:stretch>
            <a:fillRect/>
          </a:stretch>
        </p:blipFill>
        <p:spPr bwMode="auto">
          <a:xfrm>
            <a:off x="1907704" y="1628800"/>
            <a:ext cx="3024336" cy="2808312"/>
          </a:xfrm>
          <a:prstGeom prst="rect">
            <a:avLst/>
          </a:prstGeom>
          <a:noFill/>
          <a:ln>
            <a:noFill/>
          </a:ln>
        </p:spPr>
      </p:pic>
    </p:spTree>
    <p:extLst>
      <p:ext uri="{BB962C8B-B14F-4D97-AF65-F5344CB8AC3E}">
        <p14:creationId xmlns:p14="http://schemas.microsoft.com/office/powerpoint/2010/main" val="27595648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Prepare to receive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472608"/>
          </a:xfrm>
        </p:spPr>
        <p:txBody>
          <a:bodyPr>
            <a:normAutofit/>
          </a:bodyPr>
          <a:lstStyle/>
          <a:p>
            <a:pPr lvl="0">
              <a:spcBef>
                <a:spcPts val="600"/>
              </a:spcBef>
              <a:spcAft>
                <a:spcPts val="600"/>
              </a:spcAft>
            </a:pPr>
            <a:r>
              <a:rPr lang="en-AU" sz="2000" dirty="0" smtClean="0">
                <a:latin typeface="Helvetica" pitchFamily="34" charset="0"/>
              </a:rPr>
              <a:t>Start </a:t>
            </a:r>
            <a:r>
              <a:rPr lang="en-AU" sz="2000" dirty="0">
                <a:latin typeface="Helvetica" pitchFamily="34" charset="0"/>
              </a:rPr>
              <a:t>with a smile on your </a:t>
            </a:r>
            <a:r>
              <a:rPr lang="en-AU" sz="2000" dirty="0" smtClean="0">
                <a:latin typeface="Helvetica" pitchFamily="34" charset="0"/>
              </a:rPr>
              <a:t>face</a:t>
            </a:r>
            <a:endParaRPr lang="en-AU" sz="2000" dirty="0">
              <a:latin typeface="Helvetica" pitchFamily="34" charset="0"/>
            </a:endParaRP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Have </a:t>
            </a:r>
            <a:r>
              <a:rPr lang="en-AU" sz="2000" dirty="0">
                <a:latin typeface="Helvetica" pitchFamily="34" charset="0"/>
              </a:rPr>
              <a:t>paper and pen ready to record </a:t>
            </a:r>
            <a:r>
              <a:rPr lang="en-AU" sz="2000" dirty="0" smtClean="0">
                <a:latin typeface="Helvetica" pitchFamily="34" charset="0"/>
              </a:rPr>
              <a:t>information</a:t>
            </a:r>
            <a:endParaRPr lang="en-AU" sz="2000" dirty="0">
              <a:latin typeface="Helvetica" pitchFamily="34" charset="0"/>
            </a:endParaRP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Have </a:t>
            </a:r>
            <a:r>
              <a:rPr lang="en-AU" sz="2000" dirty="0">
                <a:latin typeface="Helvetica" pitchFamily="34" charset="0"/>
              </a:rPr>
              <a:t>a comprehensive list of in-house extensions </a:t>
            </a:r>
            <a:endParaRPr lang="en-AU" sz="2000" dirty="0" smtClean="0">
              <a:latin typeface="Helvetica" pitchFamily="34" charset="0"/>
            </a:endParaRP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Have </a:t>
            </a:r>
            <a:r>
              <a:rPr lang="en-AU" sz="2000" dirty="0">
                <a:latin typeface="Helvetica" pitchFamily="34" charset="0"/>
              </a:rPr>
              <a:t>a list of frequently called </a:t>
            </a:r>
            <a:r>
              <a:rPr lang="en-AU" sz="2000" dirty="0" smtClean="0">
                <a:latin typeface="Helvetica" pitchFamily="34" charset="0"/>
              </a:rPr>
              <a:t>numbers</a:t>
            </a:r>
            <a:endParaRPr lang="en-AU" sz="2000" dirty="0">
              <a:latin typeface="Helvetica" pitchFamily="34" charset="0"/>
            </a:endParaRPr>
          </a:p>
          <a:p>
            <a:pPr lvl="0">
              <a:spcBef>
                <a:spcPts val="600"/>
              </a:spcBef>
              <a:spcAft>
                <a:spcPts val="600"/>
              </a:spcAft>
            </a:pPr>
            <a:endParaRPr lang="en-AU" sz="2000" dirty="0">
              <a:latin typeface="Helvetica" pitchFamily="34" charset="0"/>
            </a:endParaRPr>
          </a:p>
          <a:p>
            <a:pPr marL="360000" indent="-360000">
              <a:spcBef>
                <a:spcPts val="600"/>
              </a:spcBef>
              <a:spcAft>
                <a:spcPts val="600"/>
              </a:spcAft>
            </a:pPr>
            <a:endParaRPr lang="en-US" sz="2000" dirty="0" smtClean="0">
              <a:latin typeface="Helvetica" pitchFamily="34" charset="0"/>
            </a:endParaRPr>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29</a:t>
            </a:fld>
            <a:endParaRPr lang="en-US" dirty="0" smtClean="0">
              <a:solidFill>
                <a:schemeClr val="tx1"/>
              </a:solidFill>
              <a:latin typeface="Helvetica" pitchFamily="34" charset="0"/>
            </a:endParaRPr>
          </a:p>
        </p:txBody>
      </p:sp>
      <p:pic>
        <p:nvPicPr>
          <p:cNvPr id="5" name="Picture 4" descr="Asian receptionist (3).jpg"/>
          <p:cNvPicPr>
            <a:picLocks noChangeAspect="1"/>
          </p:cNvPicPr>
          <p:nvPr/>
        </p:nvPicPr>
        <p:blipFill>
          <a:blip r:embed="rId3" cstate="print"/>
          <a:srcRect r="27077"/>
          <a:stretch>
            <a:fillRect/>
          </a:stretch>
        </p:blipFill>
        <p:spPr>
          <a:xfrm>
            <a:off x="6012160" y="4437112"/>
            <a:ext cx="1656184" cy="1517128"/>
          </a:xfrm>
          <a:prstGeom prst="rect">
            <a:avLst/>
          </a:prstGeom>
        </p:spPr>
      </p:pic>
    </p:spTree>
    <p:extLst>
      <p:ext uri="{BB962C8B-B14F-4D97-AF65-F5344CB8AC3E}">
        <p14:creationId xmlns:p14="http://schemas.microsoft.com/office/powerpoint/2010/main" val="27595648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Prepare to receive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472608"/>
          </a:xfrm>
        </p:spPr>
        <p:txBody>
          <a:bodyPr>
            <a:normAutofit/>
          </a:bodyPr>
          <a:lstStyle/>
          <a:p>
            <a:pPr lvl="0">
              <a:spcBef>
                <a:spcPts val="600"/>
              </a:spcBef>
              <a:spcAft>
                <a:spcPts val="600"/>
              </a:spcAft>
            </a:pPr>
            <a:r>
              <a:rPr lang="en-AU" sz="2000" dirty="0" smtClean="0">
                <a:latin typeface="Helvetica" pitchFamily="34" charset="0"/>
              </a:rPr>
              <a:t>Develop good knowledge of all departments and their </a:t>
            </a:r>
            <a:br>
              <a:rPr lang="en-AU" sz="2000" dirty="0" smtClean="0">
                <a:latin typeface="Helvetica" pitchFamily="34" charset="0"/>
              </a:rPr>
            </a:br>
            <a:r>
              <a:rPr lang="en-AU" sz="2000" dirty="0" smtClean="0">
                <a:latin typeface="Helvetica" pitchFamily="34" charset="0"/>
              </a:rPr>
              <a:t>areas of responsibility </a:t>
            </a: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Sit upright and adjust the chair and equipment </a:t>
            </a: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Prioritize calls according to property guidelines </a:t>
            </a: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Activate call waiting and other automatic systems</a:t>
            </a:r>
          </a:p>
          <a:p>
            <a:pPr lvl="0">
              <a:spcBef>
                <a:spcPts val="600"/>
              </a:spcBef>
              <a:spcAft>
                <a:spcPts val="600"/>
              </a:spcAft>
            </a:pP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Ensure no outside distractions.</a:t>
            </a:r>
          </a:p>
          <a:p>
            <a:pPr lvl="0">
              <a:spcBef>
                <a:spcPts val="600"/>
              </a:spcBef>
              <a:spcAft>
                <a:spcPts val="600"/>
              </a:spcAft>
            </a:pPr>
            <a:endParaRPr lang="en-AU" sz="2000" dirty="0">
              <a:latin typeface="Helvetica" pitchFamily="34" charset="0"/>
            </a:endParaRPr>
          </a:p>
          <a:p>
            <a:pPr marL="360000" indent="-360000">
              <a:spcBef>
                <a:spcPts val="600"/>
              </a:spcBef>
              <a:spcAft>
                <a:spcPts val="600"/>
              </a:spcAft>
            </a:pPr>
            <a:endParaRPr lang="en-US" sz="2000" dirty="0" smtClean="0">
              <a:latin typeface="Helvetica" pitchFamily="34" charset="0"/>
            </a:endParaRPr>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30</a:t>
            </a:fld>
            <a:endParaRPr lang="en-US" dirty="0" smtClean="0">
              <a:solidFill>
                <a:schemeClr val="tx1"/>
              </a:solidFill>
              <a:latin typeface="Helvetica" pitchFamily="34" charset="0"/>
            </a:endParaRPr>
          </a:p>
        </p:txBody>
      </p:sp>
      <p:pic>
        <p:nvPicPr>
          <p:cNvPr id="6" name="Picture 5" descr="MP900314196.JPG"/>
          <p:cNvPicPr>
            <a:picLocks noChangeAspect="1"/>
          </p:cNvPicPr>
          <p:nvPr/>
        </p:nvPicPr>
        <p:blipFill>
          <a:blip r:embed="rId3" cstate="print"/>
          <a:stretch>
            <a:fillRect/>
          </a:stretch>
        </p:blipFill>
        <p:spPr>
          <a:xfrm>
            <a:off x="6804248" y="1844824"/>
            <a:ext cx="1361012" cy="1540768"/>
          </a:xfrm>
          <a:prstGeom prst="rect">
            <a:avLst/>
          </a:prstGeom>
        </p:spPr>
      </p:pic>
    </p:spTree>
    <p:extLst>
      <p:ext uri="{BB962C8B-B14F-4D97-AF65-F5344CB8AC3E}">
        <p14:creationId xmlns:p14="http://schemas.microsoft.com/office/powerpoint/2010/main" val="27595648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432048"/>
          </a:xfrm>
        </p:spPr>
        <p:txBody>
          <a:bodyPr>
            <a:noAutofit/>
          </a:bodyPr>
          <a:lstStyle/>
          <a:p>
            <a:pPr algn="ctr"/>
            <a:r>
              <a:rPr lang="en-AU" sz="2800" b="1" dirty="0" smtClean="0">
                <a:solidFill>
                  <a:srgbClr val="FF6600"/>
                </a:solidFill>
                <a:latin typeface="Helvetica" pitchFamily="34" charset="0"/>
              </a:rPr>
              <a:t>Example of arrival list</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31</a:t>
            </a:fld>
            <a:endParaRPr lang="en-US" dirty="0" smtClean="0">
              <a:solidFill>
                <a:schemeClr val="tx1"/>
              </a:solidFill>
              <a:latin typeface="Helvetica" pitchFamily="34" charset="0"/>
            </a:endParaRPr>
          </a:p>
        </p:txBody>
      </p:sp>
      <p:pic>
        <p:nvPicPr>
          <p:cNvPr id="6" name="Picture 2"/>
          <p:cNvPicPr>
            <a:picLocks noChangeAspect="1" noChangeArrowheads="1"/>
          </p:cNvPicPr>
          <p:nvPr/>
        </p:nvPicPr>
        <p:blipFill>
          <a:blip r:embed="rId3" cstate="print"/>
          <a:srcRect l="18095" t="15238" r="16667" b="18476"/>
          <a:stretch>
            <a:fillRect/>
          </a:stretch>
        </p:blipFill>
        <p:spPr bwMode="auto">
          <a:xfrm>
            <a:off x="827584" y="980728"/>
            <a:ext cx="6867872" cy="5661248"/>
          </a:xfrm>
          <a:prstGeom prst="rect">
            <a:avLst/>
          </a:prstGeom>
          <a:noFill/>
          <a:ln w="9525">
            <a:noFill/>
            <a:miter lim="800000"/>
            <a:headEnd/>
            <a:tailEnd/>
          </a:ln>
        </p:spPr>
      </p:pic>
    </p:spTree>
    <p:extLst>
      <p:ext uri="{BB962C8B-B14F-4D97-AF65-F5344CB8AC3E}">
        <p14:creationId xmlns:p14="http://schemas.microsoft.com/office/powerpoint/2010/main" val="14389858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Autofit/>
          </a:bodyPr>
          <a:lstStyle/>
          <a:p>
            <a:r>
              <a:rPr lang="en-US" sz="2800" b="1" dirty="0" smtClean="0">
                <a:solidFill>
                  <a:srgbClr val="FF6600"/>
                </a:solidFill>
                <a:latin typeface="Helvetica" pitchFamily="34" charset="0"/>
              </a:rPr>
              <a:t>Answer calls promptly in accordance with house standards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83568" y="1412776"/>
            <a:ext cx="7128792" cy="4896544"/>
          </a:xfrm>
        </p:spPr>
        <p:txBody>
          <a:bodyPr>
            <a:normAutofit/>
          </a:bodyPr>
          <a:lstStyle/>
          <a:p>
            <a:pPr marL="419100" indent="-382588">
              <a:spcBef>
                <a:spcPts val="600"/>
              </a:spcBef>
              <a:spcAft>
                <a:spcPts val="600"/>
              </a:spcAft>
            </a:pPr>
            <a:r>
              <a:rPr lang="en-US" sz="2200" dirty="0" smtClean="0">
                <a:latin typeface="Helvetica" pitchFamily="34" charset="0"/>
              </a:rPr>
              <a:t>Use house standard greetings</a:t>
            </a:r>
          </a:p>
          <a:p>
            <a:pPr marL="419100" indent="-382588">
              <a:spcBef>
                <a:spcPts val="600"/>
              </a:spcBef>
              <a:spcAft>
                <a:spcPts val="600"/>
              </a:spcAft>
            </a:pPr>
            <a:endParaRPr lang="en-AU" sz="2200" dirty="0" smtClean="0">
              <a:latin typeface="Helvetica" pitchFamily="34" charset="0"/>
            </a:endParaRPr>
          </a:p>
          <a:p>
            <a:pPr marL="419100" indent="-382588">
              <a:spcBef>
                <a:spcPts val="600"/>
              </a:spcBef>
              <a:spcAft>
                <a:spcPts val="600"/>
              </a:spcAft>
            </a:pPr>
            <a:r>
              <a:rPr lang="en-AU" sz="2200" dirty="0" smtClean="0">
                <a:latin typeface="Helvetica" pitchFamily="34" charset="0"/>
              </a:rPr>
              <a:t>Identify </a:t>
            </a:r>
            <a:r>
              <a:rPr lang="en-AU" sz="2200" dirty="0">
                <a:latin typeface="Helvetica" pitchFamily="34" charset="0"/>
              </a:rPr>
              <a:t>self </a:t>
            </a:r>
            <a:r>
              <a:rPr lang="en-AU" sz="2200" dirty="0" smtClean="0">
                <a:latin typeface="Helvetica" pitchFamily="34" charset="0"/>
              </a:rPr>
              <a:t>and </a:t>
            </a:r>
            <a:r>
              <a:rPr lang="en-AU" sz="2200" dirty="0">
                <a:latin typeface="Helvetica" pitchFamily="34" charset="0"/>
              </a:rPr>
              <a:t>the </a:t>
            </a:r>
            <a:r>
              <a:rPr lang="en-AU" sz="2200" dirty="0" smtClean="0">
                <a:latin typeface="Helvetica" pitchFamily="34" charset="0"/>
              </a:rPr>
              <a:t>hotel </a:t>
            </a:r>
            <a:r>
              <a:rPr lang="en-AU" sz="2200" dirty="0">
                <a:latin typeface="Helvetica" pitchFamily="34" charset="0"/>
              </a:rPr>
              <a:t>or </a:t>
            </a:r>
            <a:r>
              <a:rPr lang="en-AU" sz="2200" dirty="0" smtClean="0">
                <a:latin typeface="Helvetica" pitchFamily="34" charset="0"/>
              </a:rPr>
              <a:t>resort</a:t>
            </a:r>
          </a:p>
          <a:p>
            <a:pPr marL="419100" indent="-382588">
              <a:spcBef>
                <a:spcPts val="600"/>
              </a:spcBef>
              <a:spcAft>
                <a:spcPts val="600"/>
              </a:spcAft>
            </a:pPr>
            <a:endParaRPr lang="en-AU" sz="2200" dirty="0" smtClean="0">
              <a:latin typeface="Helvetica" pitchFamily="34" charset="0"/>
            </a:endParaRPr>
          </a:p>
          <a:p>
            <a:pPr marL="419100" indent="-382588">
              <a:spcBef>
                <a:spcPts val="600"/>
              </a:spcBef>
              <a:spcAft>
                <a:spcPts val="600"/>
              </a:spcAft>
            </a:pPr>
            <a:r>
              <a:rPr lang="en-AU" sz="2200" dirty="0" smtClean="0">
                <a:latin typeface="Helvetica" pitchFamily="34" charset="0"/>
              </a:rPr>
              <a:t>Greet the </a:t>
            </a:r>
            <a:r>
              <a:rPr lang="en-AU" sz="2200" dirty="0">
                <a:latin typeface="Helvetica" pitchFamily="34" charset="0"/>
              </a:rPr>
              <a:t>caller and offer </a:t>
            </a:r>
            <a:r>
              <a:rPr lang="en-AU" sz="2200" dirty="0" smtClean="0">
                <a:latin typeface="Helvetica" pitchFamily="34" charset="0"/>
              </a:rPr>
              <a:t>assistance </a:t>
            </a:r>
            <a:r>
              <a:rPr lang="en-AU" sz="2200" dirty="0">
                <a:latin typeface="Helvetica" pitchFamily="34" charset="0"/>
              </a:rPr>
              <a:t>or </a:t>
            </a:r>
            <a:r>
              <a:rPr lang="en-AU" sz="2200" dirty="0" smtClean="0">
                <a:latin typeface="Helvetica" pitchFamily="34" charset="0"/>
              </a:rPr>
              <a:t>question them to </a:t>
            </a:r>
            <a:r>
              <a:rPr lang="en-AU" sz="2200" dirty="0">
                <a:latin typeface="Helvetica" pitchFamily="34" charset="0"/>
              </a:rPr>
              <a:t>ascertain the </a:t>
            </a:r>
            <a:r>
              <a:rPr lang="en-AU" sz="2200" dirty="0" smtClean="0">
                <a:latin typeface="Helvetica" pitchFamily="34" charset="0"/>
              </a:rPr>
              <a:t>purpose </a:t>
            </a:r>
            <a:r>
              <a:rPr lang="en-AU" sz="2200" dirty="0">
                <a:latin typeface="Helvetica" pitchFamily="34" charset="0"/>
              </a:rPr>
              <a:t>of the </a:t>
            </a:r>
            <a:r>
              <a:rPr lang="en-AU" sz="2200" dirty="0" smtClean="0">
                <a:latin typeface="Helvetica" pitchFamily="34" charset="0"/>
              </a:rPr>
              <a:t>incoming call</a:t>
            </a:r>
            <a:endParaRPr lang="en-AU" sz="2200" dirty="0">
              <a:latin typeface="Helvetica" pitchFamily="34" charset="0"/>
            </a:endParaRPr>
          </a:p>
          <a:p>
            <a:pPr marL="419100" indent="-382588">
              <a:spcBef>
                <a:spcPts val="600"/>
              </a:spcBef>
              <a:spcAft>
                <a:spcPts val="600"/>
              </a:spcAft>
            </a:pPr>
            <a:endParaRPr lang="en-AU" sz="2200" dirty="0" smtClean="0">
              <a:latin typeface="Helvetica" pitchFamily="34" charset="0"/>
            </a:endParaRPr>
          </a:p>
          <a:p>
            <a:pPr marL="419100" indent="-382588">
              <a:spcBef>
                <a:spcPts val="600"/>
              </a:spcBef>
              <a:spcAft>
                <a:spcPts val="600"/>
              </a:spcAft>
            </a:pPr>
            <a:r>
              <a:rPr lang="en-AU" sz="2200" dirty="0" smtClean="0">
                <a:latin typeface="Helvetica" pitchFamily="34" charset="0"/>
              </a:rPr>
              <a:t>Focus on </a:t>
            </a:r>
            <a:r>
              <a:rPr lang="en-AU" sz="2200" dirty="0">
                <a:latin typeface="Helvetica" pitchFamily="34" charset="0"/>
              </a:rPr>
              <a:t>the call, especially  listening </a:t>
            </a:r>
            <a:r>
              <a:rPr lang="en-AU" sz="2200" dirty="0" smtClean="0">
                <a:latin typeface="Helvetica" pitchFamily="34" charset="0"/>
              </a:rPr>
              <a:t>carefully </a:t>
            </a:r>
            <a:r>
              <a:rPr lang="en-AU" sz="2200" dirty="0">
                <a:latin typeface="Helvetica" pitchFamily="34" charset="0"/>
              </a:rPr>
              <a:t>to the </a:t>
            </a:r>
            <a:r>
              <a:rPr lang="en-AU" sz="2200" dirty="0" smtClean="0">
                <a:latin typeface="Helvetica" pitchFamily="34" charset="0"/>
              </a:rPr>
              <a:t>caller’s voice</a:t>
            </a:r>
            <a:endParaRPr lang="en-AU" sz="2200" dirty="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32</a:t>
            </a:fld>
            <a:endParaRPr lang="en-US" dirty="0" smtClean="0">
              <a:solidFill>
                <a:schemeClr val="tx1"/>
              </a:solidFill>
              <a:latin typeface="Helvetica" pitchFamily="34" charset="0"/>
            </a:endParaRPr>
          </a:p>
        </p:txBody>
      </p:sp>
      <p:pic>
        <p:nvPicPr>
          <p:cNvPr id="6" name="Picture 5" descr="shutterstock_62980000.jpg"/>
          <p:cNvPicPr>
            <a:picLocks noChangeAspect="1"/>
          </p:cNvPicPr>
          <p:nvPr/>
        </p:nvPicPr>
        <p:blipFill>
          <a:blip r:embed="rId3" cstate="print"/>
          <a:srcRect l="50000"/>
          <a:stretch>
            <a:fillRect/>
          </a:stretch>
        </p:blipFill>
        <p:spPr>
          <a:xfrm>
            <a:off x="7519759" y="3645024"/>
            <a:ext cx="1624241" cy="216024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Autofit/>
          </a:bodyPr>
          <a:lstStyle/>
          <a:p>
            <a:r>
              <a:rPr lang="en-US" sz="2800" b="1" dirty="0" smtClean="0">
                <a:solidFill>
                  <a:srgbClr val="FF6600"/>
                </a:solidFill>
                <a:latin typeface="Helvetica" pitchFamily="34" charset="0"/>
              </a:rPr>
              <a:t>Answer calls promptly in accordance with house standards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83568" y="1412776"/>
            <a:ext cx="7128792" cy="4896544"/>
          </a:xfrm>
        </p:spPr>
        <p:txBody>
          <a:bodyPr>
            <a:normAutofit/>
          </a:bodyPr>
          <a:lstStyle/>
          <a:p>
            <a:pPr marL="419100" indent="-382588">
              <a:spcBef>
                <a:spcPts val="600"/>
              </a:spcBef>
              <a:spcAft>
                <a:spcPts val="600"/>
              </a:spcAft>
            </a:pPr>
            <a:r>
              <a:rPr lang="en-AU" sz="2200" dirty="0" smtClean="0">
                <a:latin typeface="Helvetica" pitchFamily="34" charset="0"/>
              </a:rPr>
              <a:t>Take </a:t>
            </a:r>
            <a:r>
              <a:rPr lang="en-AU" sz="2200" dirty="0">
                <a:latin typeface="Helvetica" pitchFamily="34" charset="0"/>
              </a:rPr>
              <a:t>notes and details of any </a:t>
            </a:r>
            <a:r>
              <a:rPr lang="en-AU" sz="2200" dirty="0" smtClean="0">
                <a:latin typeface="Helvetica" pitchFamily="34" charset="0"/>
              </a:rPr>
              <a:t>request</a:t>
            </a:r>
            <a:endParaRPr lang="en-AU" sz="2200" dirty="0">
              <a:latin typeface="Helvetica" pitchFamily="34" charset="0"/>
            </a:endParaRPr>
          </a:p>
          <a:p>
            <a:pPr marL="419100" indent="-382588">
              <a:spcBef>
                <a:spcPts val="600"/>
              </a:spcBef>
              <a:spcAft>
                <a:spcPts val="600"/>
              </a:spcAft>
            </a:pPr>
            <a:endParaRPr lang="en-AU" sz="2200" dirty="0" smtClean="0">
              <a:latin typeface="Helvetica" pitchFamily="34" charset="0"/>
            </a:endParaRPr>
          </a:p>
          <a:p>
            <a:pPr marL="419100" indent="-382588">
              <a:spcBef>
                <a:spcPts val="600"/>
              </a:spcBef>
              <a:spcAft>
                <a:spcPts val="600"/>
              </a:spcAft>
            </a:pPr>
            <a:r>
              <a:rPr lang="en-AU" sz="2200" dirty="0" smtClean="0">
                <a:latin typeface="Helvetica" pitchFamily="34" charset="0"/>
              </a:rPr>
              <a:t>Identify </a:t>
            </a:r>
            <a:r>
              <a:rPr lang="en-AU" sz="2200" dirty="0">
                <a:latin typeface="Helvetica" pitchFamily="34" charset="0"/>
              </a:rPr>
              <a:t>whether caller is calling long-distance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or international</a:t>
            </a:r>
            <a:endParaRPr lang="en-AU" sz="2200" dirty="0">
              <a:latin typeface="Helvetica" pitchFamily="34" charset="0"/>
            </a:endParaRPr>
          </a:p>
          <a:p>
            <a:pPr marL="419100" indent="-382588">
              <a:spcBef>
                <a:spcPts val="600"/>
              </a:spcBef>
              <a:spcAft>
                <a:spcPts val="600"/>
              </a:spcAft>
            </a:pPr>
            <a:endParaRPr lang="en-AU" sz="2200" dirty="0" smtClean="0">
              <a:latin typeface="Helvetica" pitchFamily="34" charset="0"/>
            </a:endParaRPr>
          </a:p>
          <a:p>
            <a:pPr marL="419100" indent="-382588">
              <a:spcBef>
                <a:spcPts val="600"/>
              </a:spcBef>
              <a:spcAft>
                <a:spcPts val="600"/>
              </a:spcAft>
            </a:pPr>
            <a:r>
              <a:rPr lang="en-AU" sz="2200" dirty="0" smtClean="0">
                <a:latin typeface="Helvetica" pitchFamily="34" charset="0"/>
              </a:rPr>
              <a:t>Identify </a:t>
            </a:r>
            <a:r>
              <a:rPr lang="en-AU" sz="2200" dirty="0">
                <a:latin typeface="Helvetica" pitchFamily="34" charset="0"/>
              </a:rPr>
              <a:t>if caller is a designated VIP caller,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return </a:t>
            </a:r>
            <a:r>
              <a:rPr lang="en-AU" sz="2200" dirty="0">
                <a:latin typeface="Helvetica" pitchFamily="34" charset="0"/>
              </a:rPr>
              <a:t>guest or </a:t>
            </a:r>
            <a:r>
              <a:rPr lang="en-AU" sz="2200" dirty="0" smtClean="0">
                <a:latin typeface="Helvetica" pitchFamily="34" charset="0"/>
              </a:rPr>
              <a:t>corporate </a:t>
            </a:r>
            <a:r>
              <a:rPr lang="en-AU" sz="2200" dirty="0">
                <a:latin typeface="Helvetica" pitchFamily="34" charset="0"/>
              </a:rPr>
              <a:t>guest whose company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has </a:t>
            </a:r>
            <a:r>
              <a:rPr lang="en-AU" sz="2200" dirty="0">
                <a:latin typeface="Helvetica" pitchFamily="34" charset="0"/>
              </a:rPr>
              <a:t>a contract with the </a:t>
            </a:r>
            <a:r>
              <a:rPr lang="en-AU" sz="2200" dirty="0" smtClean="0">
                <a:latin typeface="Helvetica" pitchFamily="34" charset="0"/>
              </a:rPr>
              <a:t>venue.</a:t>
            </a: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33</a:t>
            </a:fld>
            <a:endParaRPr lang="en-US" dirty="0" smtClean="0">
              <a:solidFill>
                <a:schemeClr val="tx1"/>
              </a:solidFill>
              <a:latin typeface="Helvetica" pitchFamily="34" charset="0"/>
            </a:endParaRPr>
          </a:p>
        </p:txBody>
      </p:sp>
      <p:pic>
        <p:nvPicPr>
          <p:cNvPr id="5" name="Picture 4" descr="shutterstock_94146073.jpg"/>
          <p:cNvPicPr>
            <a:picLocks noChangeAspect="1"/>
          </p:cNvPicPr>
          <p:nvPr/>
        </p:nvPicPr>
        <p:blipFill>
          <a:blip r:embed="rId3" cstate="print"/>
          <a:stretch>
            <a:fillRect/>
          </a:stretch>
        </p:blipFill>
        <p:spPr>
          <a:xfrm>
            <a:off x="4716016" y="4653136"/>
            <a:ext cx="1634098" cy="1165112"/>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Identify long-distance or international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83568" y="1124744"/>
            <a:ext cx="7467600" cy="4958011"/>
          </a:xfrm>
        </p:spPr>
        <p:txBody>
          <a:bodyPr>
            <a:normAutofit/>
          </a:bodyPr>
          <a:lstStyle/>
          <a:p>
            <a:pPr>
              <a:spcBef>
                <a:spcPts val="600"/>
              </a:spcBef>
              <a:spcAft>
                <a:spcPts val="600"/>
              </a:spcAft>
            </a:pPr>
            <a:r>
              <a:rPr lang="en-AU" sz="2200" dirty="0">
                <a:latin typeface="Helvetica" pitchFamily="34" charset="0"/>
              </a:rPr>
              <a:t>Calls from other countries will need to be </a:t>
            </a:r>
            <a:r>
              <a:rPr lang="en-AU" sz="2200" dirty="0" smtClean="0">
                <a:latin typeface="Helvetica" pitchFamily="34" charset="0"/>
              </a:rPr>
              <a:t>co-ordinated </a:t>
            </a:r>
            <a:r>
              <a:rPr lang="en-AU" sz="2200" dirty="0">
                <a:latin typeface="Helvetica" pitchFamily="34" charset="0"/>
              </a:rPr>
              <a:t>with time zone </a:t>
            </a:r>
            <a:r>
              <a:rPr lang="en-AU" sz="2200" dirty="0" smtClean="0">
                <a:latin typeface="Helvetica" pitchFamily="34" charset="0"/>
              </a:rPr>
              <a:t>information</a:t>
            </a:r>
          </a:p>
          <a:p>
            <a:pPr>
              <a:spcBef>
                <a:spcPts val="600"/>
              </a:spcBef>
              <a:spcAft>
                <a:spcPts val="600"/>
              </a:spcAft>
            </a:pPr>
            <a:endParaRPr lang="en-AU" sz="2400" dirty="0" smtClean="0">
              <a:solidFill>
                <a:schemeClr val="bg2">
                  <a:lumMod val="50000"/>
                </a:schemeClr>
              </a:solidFill>
            </a:endParaRPr>
          </a:p>
          <a:p>
            <a:pPr>
              <a:spcBef>
                <a:spcPts val="600"/>
              </a:spcBef>
              <a:spcAft>
                <a:spcPts val="600"/>
              </a:spcAft>
            </a:pPr>
            <a:r>
              <a:rPr lang="en-AU" sz="2200" dirty="0">
                <a:latin typeface="Helvetica" pitchFamily="34" charset="0"/>
              </a:rPr>
              <a:t>The list of country codes should be placed in an easy place and accessible to all of the staff</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Charges </a:t>
            </a:r>
            <a:r>
              <a:rPr lang="en-AU" sz="2200" dirty="0">
                <a:latin typeface="Helvetica" pitchFamily="34" charset="0"/>
              </a:rPr>
              <a:t>for international calls vary according </a:t>
            </a:r>
            <a:r>
              <a:rPr lang="en-AU" sz="2200" dirty="0" smtClean="0">
                <a:latin typeface="Helvetica" pitchFamily="34" charset="0"/>
              </a:rPr>
              <a:t>to time </a:t>
            </a:r>
            <a:r>
              <a:rPr lang="en-AU" sz="2200" dirty="0">
                <a:latin typeface="Helvetica" pitchFamily="34" charset="0"/>
              </a:rPr>
              <a:t>zone and </a:t>
            </a:r>
            <a:r>
              <a:rPr lang="en-AU" sz="2200" dirty="0" smtClean="0">
                <a:latin typeface="Helvetica" pitchFamily="34" charset="0"/>
              </a:rPr>
              <a:t>distance</a:t>
            </a:r>
            <a:endParaRPr lang="en-AU" sz="2200" dirty="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34</a:t>
            </a:fld>
            <a:endParaRPr lang="en-US" dirty="0" smtClean="0">
              <a:solidFill>
                <a:schemeClr val="tx1"/>
              </a:solidFill>
              <a:latin typeface="Helvetica" pitchFamily="34" charset="0"/>
            </a:endParaRPr>
          </a:p>
        </p:txBody>
      </p:sp>
      <p:pic>
        <p:nvPicPr>
          <p:cNvPr id="6" name="Picture 5" descr="MP900442238.JPG"/>
          <p:cNvPicPr>
            <a:picLocks noChangeAspect="1"/>
          </p:cNvPicPr>
          <p:nvPr/>
        </p:nvPicPr>
        <p:blipFill>
          <a:blip r:embed="rId3" cstate="print"/>
          <a:stretch>
            <a:fillRect/>
          </a:stretch>
        </p:blipFill>
        <p:spPr>
          <a:xfrm>
            <a:off x="4860032" y="4365104"/>
            <a:ext cx="1454732" cy="179044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Identify long-distance or international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83568" y="1124744"/>
            <a:ext cx="7467600" cy="4958011"/>
          </a:xfrm>
        </p:spPr>
        <p:txBody>
          <a:bodyPr>
            <a:normAutofit/>
          </a:bodyPr>
          <a:lstStyle/>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When </a:t>
            </a:r>
            <a:r>
              <a:rPr lang="en-AU" sz="2200" dirty="0">
                <a:latin typeface="Helvetica" pitchFamily="34" charset="0"/>
              </a:rPr>
              <a:t>answering incoming calls from international locations, staff may need to have language skills or access to interpreters </a:t>
            </a: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International </a:t>
            </a:r>
            <a:r>
              <a:rPr lang="en-AU" sz="2200" dirty="0">
                <a:latin typeface="Helvetica" pitchFamily="34" charset="0"/>
              </a:rPr>
              <a:t>calls may be </a:t>
            </a:r>
            <a:r>
              <a:rPr lang="en-AU" sz="2200" dirty="0" smtClean="0">
                <a:latin typeface="Helvetica" pitchFamily="34" charset="0"/>
              </a:rPr>
              <a:t>connected by a </a:t>
            </a:r>
            <a:r>
              <a:rPr lang="en-AU" sz="2200" dirty="0">
                <a:latin typeface="Helvetica" pitchFamily="34" charset="0"/>
              </a:rPr>
              <a:t>telephone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operator or </a:t>
            </a:r>
            <a:r>
              <a:rPr lang="en-AU" sz="2200" dirty="0">
                <a:latin typeface="Helvetica" pitchFamily="34" charset="0"/>
              </a:rPr>
              <a:t>satellite </a:t>
            </a:r>
            <a:r>
              <a:rPr lang="en-AU" sz="2200" dirty="0" smtClean="0">
                <a:latin typeface="Helvetica" pitchFamily="34" charset="0"/>
              </a:rPr>
              <a:t>connection</a:t>
            </a: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35</a:t>
            </a:fld>
            <a:endParaRPr lang="en-US" dirty="0" smtClean="0">
              <a:solidFill>
                <a:schemeClr val="tx1"/>
              </a:solidFill>
              <a:latin typeface="Helvetica" pitchFamily="34" charset="0"/>
            </a:endParaRPr>
          </a:p>
        </p:txBody>
      </p:sp>
      <p:pic>
        <p:nvPicPr>
          <p:cNvPr id="6" name="Picture 5" descr="MP900442238.JPG"/>
          <p:cNvPicPr>
            <a:picLocks noChangeAspect="1"/>
          </p:cNvPicPr>
          <p:nvPr/>
        </p:nvPicPr>
        <p:blipFill>
          <a:blip r:embed="rId3" cstate="print"/>
          <a:stretch>
            <a:fillRect/>
          </a:stretch>
        </p:blipFill>
        <p:spPr>
          <a:xfrm>
            <a:off x="3635896" y="3861048"/>
            <a:ext cx="1454732" cy="179044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Autofit/>
          </a:bodyPr>
          <a:lstStyle/>
          <a:p>
            <a:r>
              <a:rPr lang="en-US" sz="2800" b="1" dirty="0" smtClean="0">
                <a:solidFill>
                  <a:srgbClr val="FF6600"/>
                </a:solidFill>
                <a:latin typeface="Helvetica" pitchFamily="34" charset="0"/>
              </a:rPr>
              <a:t>Establish the purpose of incoming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AU" sz="2200" dirty="0" smtClean="0">
                <a:latin typeface="Helvetica" pitchFamily="34" charset="0"/>
              </a:rPr>
              <a:t>Determine </a:t>
            </a:r>
            <a:r>
              <a:rPr lang="en-AU" sz="2200" dirty="0">
                <a:latin typeface="Helvetica" pitchFamily="34" charset="0"/>
              </a:rPr>
              <a:t>the purpose of the </a:t>
            </a:r>
            <a:r>
              <a:rPr lang="en-AU" sz="2200" dirty="0" smtClean="0">
                <a:latin typeface="Helvetica" pitchFamily="34" charset="0"/>
              </a:rPr>
              <a:t>call</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Follow up an initial greeting with clarifying questions</a:t>
            </a:r>
          </a:p>
          <a:p>
            <a:pPr marL="360000" indent="-360000">
              <a:spcBef>
                <a:spcPts val="600"/>
              </a:spcBef>
              <a:spcAft>
                <a:spcPts val="1200"/>
              </a:spcAft>
            </a:pPr>
            <a:r>
              <a:rPr lang="en-US" sz="2200" dirty="0" smtClean="0">
                <a:latin typeface="Helvetica" pitchFamily="34" charset="0"/>
              </a:rPr>
              <a:t>Use the hotel’s database to find information</a:t>
            </a:r>
          </a:p>
          <a:p>
            <a:pPr marL="360000" indent="-360000">
              <a:spcBef>
                <a:spcPts val="600"/>
              </a:spcBef>
              <a:spcAft>
                <a:spcPts val="1200"/>
              </a:spcAft>
            </a:pPr>
            <a:r>
              <a:rPr lang="en-US" sz="2200" dirty="0" smtClean="0">
                <a:latin typeface="Helvetica" pitchFamily="34" charset="0"/>
              </a:rPr>
              <a:t>Use selling and promotional techniques</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36</a:t>
            </a:fld>
            <a:endParaRPr lang="en-US" dirty="0" smtClean="0">
              <a:solidFill>
                <a:schemeClr val="tx1"/>
              </a:solidFill>
              <a:latin typeface="Helvetica" pitchFamily="34" charset="0"/>
            </a:endParaRPr>
          </a:p>
        </p:txBody>
      </p:sp>
      <p:pic>
        <p:nvPicPr>
          <p:cNvPr id="6" name="Picture 5" descr="Communication icons.jpg"/>
          <p:cNvPicPr>
            <a:picLocks noChangeAspect="1"/>
          </p:cNvPicPr>
          <p:nvPr/>
        </p:nvPicPr>
        <p:blipFill>
          <a:blip r:embed="rId3" cstate="print"/>
          <a:stretch>
            <a:fillRect/>
          </a:stretch>
        </p:blipFill>
        <p:spPr>
          <a:xfrm>
            <a:off x="1115616" y="3861048"/>
            <a:ext cx="2232248" cy="1482212"/>
          </a:xfrm>
          <a:prstGeom prst="rect">
            <a:avLst/>
          </a:prstGeom>
        </p:spPr>
      </p:pic>
      <p:pic>
        <p:nvPicPr>
          <p:cNvPr id="7" name="Picture 6" descr="Asian receptionist (1).jpg"/>
          <p:cNvPicPr>
            <a:picLocks noChangeAspect="1"/>
          </p:cNvPicPr>
          <p:nvPr/>
        </p:nvPicPr>
        <p:blipFill>
          <a:blip r:embed="rId4" cstate="print"/>
          <a:stretch>
            <a:fillRect/>
          </a:stretch>
        </p:blipFill>
        <p:spPr>
          <a:xfrm>
            <a:off x="3203848" y="3861048"/>
            <a:ext cx="2232248" cy="1491142"/>
          </a:xfrm>
          <a:prstGeom prst="rect">
            <a:avLst/>
          </a:prstGeom>
        </p:spPr>
      </p:pic>
      <p:pic>
        <p:nvPicPr>
          <p:cNvPr id="8" name="Picture 7" descr="Keyboard.jpg"/>
          <p:cNvPicPr>
            <a:picLocks noChangeAspect="1"/>
          </p:cNvPicPr>
          <p:nvPr/>
        </p:nvPicPr>
        <p:blipFill>
          <a:blip r:embed="rId5" cstate="print"/>
          <a:stretch>
            <a:fillRect/>
          </a:stretch>
        </p:blipFill>
        <p:spPr>
          <a:xfrm>
            <a:off x="5508104" y="3861048"/>
            <a:ext cx="2195110" cy="1464139"/>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720080"/>
          </a:xfrm>
        </p:spPr>
        <p:txBody>
          <a:bodyPr>
            <a:noAutofit/>
          </a:bodyPr>
          <a:lstStyle/>
          <a:p>
            <a:r>
              <a:rPr lang="en-US" sz="2800" b="1" dirty="0" smtClean="0">
                <a:solidFill>
                  <a:srgbClr val="FF6600"/>
                </a:solidFill>
                <a:latin typeface="Helvetica" pitchFamily="34" charset="0"/>
              </a:rPr>
              <a:t>Respond to caller requests, where appropriate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1950" indent="-361950">
              <a:spcBef>
                <a:spcPts val="600"/>
              </a:spcBef>
              <a:spcAft>
                <a:spcPts val="1200"/>
              </a:spcAft>
            </a:pPr>
            <a:r>
              <a:rPr lang="en-AU" sz="2200" dirty="0">
                <a:latin typeface="Helvetica" pitchFamily="34" charset="0"/>
              </a:rPr>
              <a:t>G</a:t>
            </a:r>
            <a:r>
              <a:rPr lang="en-AU" sz="2200" dirty="0" smtClean="0">
                <a:latin typeface="Helvetica" pitchFamily="34" charset="0"/>
              </a:rPr>
              <a:t>ive </a:t>
            </a:r>
            <a:r>
              <a:rPr lang="en-AU" sz="2200" dirty="0">
                <a:latin typeface="Helvetica" pitchFamily="34" charset="0"/>
              </a:rPr>
              <a:t>the guest your full attention </a:t>
            </a:r>
            <a:endParaRPr lang="en-AU" sz="2200" dirty="0" smtClean="0">
              <a:latin typeface="Helvetica" pitchFamily="34" charset="0"/>
            </a:endParaRPr>
          </a:p>
          <a:p>
            <a:pPr marL="361950" indent="-361950">
              <a:spcBef>
                <a:spcPts val="600"/>
              </a:spcBef>
              <a:spcAft>
                <a:spcPts val="1200"/>
              </a:spcAft>
            </a:pPr>
            <a:r>
              <a:rPr lang="en-AU" sz="2200" dirty="0" smtClean="0">
                <a:latin typeface="Helvetica" pitchFamily="34" charset="0"/>
              </a:rPr>
              <a:t>Show </a:t>
            </a:r>
            <a:r>
              <a:rPr lang="en-AU" sz="2200" dirty="0">
                <a:latin typeface="Helvetica" pitchFamily="34" charset="0"/>
              </a:rPr>
              <a:t>genuine interest in their </a:t>
            </a:r>
            <a:r>
              <a:rPr lang="en-AU" sz="2200" dirty="0" smtClean="0">
                <a:latin typeface="Helvetica" pitchFamily="34" charset="0"/>
              </a:rPr>
              <a:t>questions</a:t>
            </a:r>
            <a:endParaRPr lang="en-AU" sz="2200" dirty="0">
              <a:latin typeface="Helvetica" pitchFamily="34" charset="0"/>
            </a:endParaRPr>
          </a:p>
          <a:p>
            <a:pPr marL="361950" indent="-361950">
              <a:spcBef>
                <a:spcPts val="600"/>
              </a:spcBef>
              <a:spcAft>
                <a:spcPts val="1200"/>
              </a:spcAft>
            </a:pPr>
            <a:r>
              <a:rPr lang="en-AU" sz="2200" dirty="0">
                <a:latin typeface="Helvetica" pitchFamily="34" charset="0"/>
              </a:rPr>
              <a:t>If you know the answer:</a:t>
            </a:r>
          </a:p>
          <a:p>
            <a:pPr marL="714375" lvl="0" indent="-352425">
              <a:spcBef>
                <a:spcPts val="600"/>
              </a:spcBef>
              <a:spcAft>
                <a:spcPts val="1200"/>
              </a:spcAft>
              <a:buSzPct val="120000"/>
              <a:buFont typeface="Arial" pitchFamily="34" charset="0"/>
              <a:buChar char="•"/>
            </a:pPr>
            <a:r>
              <a:rPr lang="en-AU" sz="2200" dirty="0">
                <a:latin typeface="Helvetica" pitchFamily="34" charset="0"/>
              </a:rPr>
              <a:t>Tell the guest and ask if there is anything else you can help them </a:t>
            </a:r>
            <a:r>
              <a:rPr lang="en-AU" sz="2200" dirty="0" smtClean="0">
                <a:latin typeface="Helvetica" pitchFamily="34" charset="0"/>
              </a:rPr>
              <a:t>with</a:t>
            </a:r>
            <a:endParaRPr lang="en-AU" sz="2200" dirty="0">
              <a:latin typeface="Helvetica" pitchFamily="34" charset="0"/>
            </a:endParaRPr>
          </a:p>
          <a:p>
            <a:pPr marL="714375" lvl="0" indent="-352425">
              <a:spcBef>
                <a:spcPts val="600"/>
              </a:spcBef>
              <a:spcAft>
                <a:spcPts val="1200"/>
              </a:spcAft>
              <a:buSzPct val="120000"/>
              <a:buFont typeface="Arial" pitchFamily="34" charset="0"/>
              <a:buChar char="•"/>
            </a:pPr>
            <a:r>
              <a:rPr lang="en-AU" sz="2200" dirty="0">
                <a:latin typeface="Helvetica" pitchFamily="34" charset="0"/>
              </a:rPr>
              <a:t>Finish the conversation with a pleasant </a:t>
            </a:r>
            <a:r>
              <a:rPr lang="en-AU" sz="2200" dirty="0" smtClean="0">
                <a:latin typeface="Helvetica" pitchFamily="34" charset="0"/>
              </a:rPr>
              <a:t>greeting</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dirty="0" smtClean="0">
                <a:solidFill>
                  <a:schemeClr val="tx1"/>
                </a:solidFill>
                <a:latin typeface="Helvetica" pitchFamily="34" charset="0"/>
              </a:rPr>
              <a:pPr/>
              <a:t>37</a:t>
            </a:fld>
            <a:endParaRPr lang="en-US" dirty="0" smtClean="0">
              <a:solidFill>
                <a:schemeClr val="tx1"/>
              </a:solidFill>
              <a:latin typeface="Helvetica" pitchFamily="34" charset="0"/>
            </a:endParaRPr>
          </a:p>
        </p:txBody>
      </p:sp>
      <p:pic>
        <p:nvPicPr>
          <p:cNvPr id="5" name="Picture 4" descr="d46.jpg"/>
          <p:cNvPicPr>
            <a:picLocks noChangeAspect="1"/>
          </p:cNvPicPr>
          <p:nvPr/>
        </p:nvPicPr>
        <p:blipFill>
          <a:blip r:embed="rId3" cstate="print"/>
          <a:stretch>
            <a:fillRect/>
          </a:stretch>
        </p:blipFill>
        <p:spPr>
          <a:xfrm>
            <a:off x="6372200" y="4509120"/>
            <a:ext cx="1946151" cy="1350628"/>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706090"/>
          </a:xfrm>
        </p:spPr>
        <p:txBody>
          <a:bodyPr>
            <a:normAutofit/>
          </a:bodyPr>
          <a:lstStyle/>
          <a:p>
            <a:r>
              <a:rPr lang="en-US" sz="2800" b="1" dirty="0" smtClean="0">
                <a:solidFill>
                  <a:srgbClr val="FF6600"/>
                </a:solidFill>
                <a:latin typeface="Helvetica" pitchFamily="34" charset="0"/>
              </a:rPr>
              <a:t>Respond to caller requests, where appropriate</a:t>
            </a:r>
            <a:endParaRPr lang="en-AU" sz="2800" dirty="0"/>
          </a:p>
        </p:txBody>
      </p:sp>
      <p:sp>
        <p:nvSpPr>
          <p:cNvPr id="3" name="Content Placeholder 2"/>
          <p:cNvSpPr>
            <a:spLocks noGrp="1"/>
          </p:cNvSpPr>
          <p:nvPr>
            <p:ph idx="1"/>
          </p:nvPr>
        </p:nvSpPr>
        <p:spPr>
          <a:xfrm>
            <a:off x="457200" y="1124744"/>
            <a:ext cx="7643192" cy="5256584"/>
          </a:xfrm>
        </p:spPr>
        <p:txBody>
          <a:bodyPr>
            <a:normAutofit/>
          </a:bodyPr>
          <a:lstStyle/>
          <a:p>
            <a:pPr marL="36576" lvl="0" indent="0">
              <a:spcBef>
                <a:spcPts val="600"/>
              </a:spcBef>
              <a:spcAft>
                <a:spcPts val="600"/>
              </a:spcAft>
              <a:buNone/>
            </a:pPr>
            <a:r>
              <a:rPr lang="en-AU" sz="2200" dirty="0" smtClean="0">
                <a:latin typeface="Helvetica" pitchFamily="34" charset="0"/>
              </a:rPr>
              <a:t>If you don’t know the answer:</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Never say ‘No’, apologise where an immediate, correct response cannot be given</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Offer to find out and get back to the guest with the answer</a:t>
            </a:r>
          </a:p>
          <a:p>
            <a:pPr>
              <a:spcBef>
                <a:spcPts val="600"/>
              </a:spcBef>
              <a:spcAft>
                <a:spcPts val="600"/>
              </a:spcAft>
              <a:buNone/>
            </a:pPr>
            <a:r>
              <a:rPr lang="en-AU"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38</a:t>
            </a:fld>
            <a:endParaRPr lang="en-US" dirty="0">
              <a:solidFill>
                <a:schemeClr val="tx1"/>
              </a:solidFill>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6372200" y="4149080"/>
            <a:ext cx="2111896" cy="1408634"/>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706090"/>
          </a:xfrm>
        </p:spPr>
        <p:txBody>
          <a:bodyPr>
            <a:normAutofit/>
          </a:bodyPr>
          <a:lstStyle/>
          <a:p>
            <a:r>
              <a:rPr lang="en-US" sz="2800" b="1" dirty="0" smtClean="0">
                <a:solidFill>
                  <a:srgbClr val="FF6600"/>
                </a:solidFill>
                <a:latin typeface="Helvetica" pitchFamily="34" charset="0"/>
              </a:rPr>
              <a:t>Respond to caller requests, where appropriate</a:t>
            </a:r>
            <a:endParaRPr lang="en-AU" sz="2800" dirty="0"/>
          </a:p>
        </p:txBody>
      </p:sp>
      <p:sp>
        <p:nvSpPr>
          <p:cNvPr id="3" name="Content Placeholder 2"/>
          <p:cNvSpPr>
            <a:spLocks noGrp="1"/>
          </p:cNvSpPr>
          <p:nvPr>
            <p:ph idx="1"/>
          </p:nvPr>
        </p:nvSpPr>
        <p:spPr>
          <a:xfrm>
            <a:off x="457200" y="1124744"/>
            <a:ext cx="7643192" cy="5256584"/>
          </a:xfrm>
        </p:spPr>
        <p:txBody>
          <a:bodyPr>
            <a:normAutofit/>
          </a:bodyPr>
          <a:lstStyle/>
          <a:p>
            <a:pPr>
              <a:spcBef>
                <a:spcPts val="600"/>
              </a:spcBef>
              <a:spcAft>
                <a:spcPts val="600"/>
              </a:spcAft>
            </a:pPr>
            <a:r>
              <a:rPr lang="en-AU" sz="2200" dirty="0" smtClean="0">
                <a:latin typeface="Helvetica" pitchFamily="34" charset="0"/>
              </a:rPr>
              <a:t>The guest should not be kept waiting while you find the answer</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Offer to deliver the information or call back </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Make sure you follow up and get back </a:t>
            </a:r>
            <a:br>
              <a:rPr lang="en-AU" sz="2200" dirty="0" smtClean="0">
                <a:latin typeface="Helvetica" pitchFamily="34" charset="0"/>
              </a:rPr>
            </a:br>
            <a:r>
              <a:rPr lang="en-AU" sz="2200" dirty="0" smtClean="0">
                <a:latin typeface="Helvetica" pitchFamily="34" charset="0"/>
              </a:rPr>
              <a:t>to the guest quickly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39</a:t>
            </a:fld>
            <a:endParaRPr lang="en-US" dirty="0">
              <a:solidFill>
                <a:schemeClr val="tx1"/>
              </a:solidFill>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6372200" y="4149080"/>
            <a:ext cx="2111896" cy="1408634"/>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Take messages from callers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328592"/>
          </a:xfrm>
        </p:spPr>
        <p:txBody>
          <a:bodyPr>
            <a:normAutofit/>
          </a:bodyPr>
          <a:lstStyle/>
          <a:p>
            <a:pPr marL="361950" indent="-361950">
              <a:spcBef>
                <a:spcPts val="600"/>
              </a:spcBef>
              <a:spcAft>
                <a:spcPts val="600"/>
              </a:spcAft>
              <a:buNone/>
            </a:pPr>
            <a:r>
              <a:rPr lang="en-AU" sz="2200" dirty="0">
                <a:latin typeface="Helvetica" pitchFamily="34" charset="0"/>
              </a:rPr>
              <a:t>To take messages accurately make sure that you record:</a:t>
            </a: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Who the message is for</a:t>
            </a: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Who </a:t>
            </a:r>
            <a:r>
              <a:rPr lang="en-AU" sz="2200" dirty="0">
                <a:latin typeface="Helvetica" pitchFamily="34" charset="0"/>
              </a:rPr>
              <a:t>left the </a:t>
            </a:r>
            <a:r>
              <a:rPr lang="en-AU" sz="2200" dirty="0" smtClean="0">
                <a:latin typeface="Helvetica" pitchFamily="34" charset="0"/>
              </a:rPr>
              <a:t>message</a:t>
            </a: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Repeat </a:t>
            </a:r>
            <a:r>
              <a:rPr lang="en-AU" sz="2200" dirty="0">
                <a:latin typeface="Helvetica" pitchFamily="34" charset="0"/>
              </a:rPr>
              <a:t>the name back and </a:t>
            </a:r>
            <a:r>
              <a:rPr lang="en-AU" sz="2200" dirty="0" smtClean="0">
                <a:latin typeface="Helvetica" pitchFamily="34" charset="0"/>
              </a:rPr>
              <a:t>check if it’s </a:t>
            </a:r>
            <a:r>
              <a:rPr lang="en-AU" sz="2200" dirty="0">
                <a:latin typeface="Helvetica" pitchFamily="34" charset="0"/>
              </a:rPr>
              <a:t>correct </a:t>
            </a:r>
            <a:endParaRPr lang="en-AU" sz="2200" dirty="0" smtClean="0">
              <a:latin typeface="Helvetica" pitchFamily="34" charset="0"/>
            </a:endParaRPr>
          </a:p>
          <a:p>
            <a:pPr marL="361950" lvl="0" indent="-361950">
              <a:spcBef>
                <a:spcPts val="600"/>
              </a:spcBef>
              <a:spcAft>
                <a:spcPts val="600"/>
              </a:spcAft>
              <a:buNone/>
            </a:pPr>
            <a:r>
              <a:rPr lang="en-AU" sz="2200" dirty="0" smtClean="0">
                <a:latin typeface="Helvetica" pitchFamily="34" charset="0"/>
              </a:rPr>
              <a:t>(Continued)</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40</a:t>
            </a:fld>
            <a:endParaRPr lang="en-US" dirty="0">
              <a:solidFill>
                <a:schemeClr val="tx1"/>
              </a:solidFill>
              <a:latin typeface="Helvetica" pitchFamily="34" charset="0"/>
            </a:endParaRPr>
          </a:p>
        </p:txBody>
      </p:sp>
      <p:pic>
        <p:nvPicPr>
          <p:cNvPr id="5" name="Picture 4" descr="MP900174856.JPG"/>
          <p:cNvPicPr>
            <a:picLocks noChangeAspect="1"/>
          </p:cNvPicPr>
          <p:nvPr/>
        </p:nvPicPr>
        <p:blipFill>
          <a:blip r:embed="rId3" cstate="print"/>
          <a:stretch>
            <a:fillRect/>
          </a:stretch>
        </p:blipFill>
        <p:spPr>
          <a:xfrm>
            <a:off x="5436096" y="4941168"/>
            <a:ext cx="2037420" cy="135828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Take messages from callers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328592"/>
          </a:xfrm>
        </p:spPr>
        <p:txBody>
          <a:bodyPr>
            <a:normAutofit/>
          </a:bodyPr>
          <a:lstStyle/>
          <a:p>
            <a:pPr marL="361950" lvl="0" indent="-361950">
              <a:spcBef>
                <a:spcPts val="600"/>
              </a:spcBef>
              <a:spcAft>
                <a:spcPts val="600"/>
              </a:spcAft>
            </a:pPr>
            <a:r>
              <a:rPr lang="en-AU" sz="2200" dirty="0" smtClean="0">
                <a:latin typeface="Helvetica" pitchFamily="34" charset="0"/>
              </a:rPr>
              <a:t>Record the </a:t>
            </a:r>
            <a:r>
              <a:rPr lang="en-AU" sz="2200" dirty="0">
                <a:latin typeface="Helvetica" pitchFamily="34" charset="0"/>
              </a:rPr>
              <a:t>number </a:t>
            </a:r>
            <a:r>
              <a:rPr lang="en-AU" sz="2200" dirty="0" smtClean="0">
                <a:latin typeface="Helvetica" pitchFamily="34" charset="0"/>
              </a:rPr>
              <a:t>of </a:t>
            </a:r>
            <a:r>
              <a:rPr lang="en-AU" sz="2200" dirty="0">
                <a:latin typeface="Helvetica" pitchFamily="34" charset="0"/>
              </a:rPr>
              <a:t>the person leaving the message </a:t>
            </a:r>
            <a:endParaRPr lang="en-AU" sz="2200" dirty="0" smtClean="0">
              <a:latin typeface="Helvetica" pitchFamily="34" charset="0"/>
            </a:endParaRP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Take an </a:t>
            </a:r>
            <a:r>
              <a:rPr lang="en-AU" sz="2200" dirty="0">
                <a:latin typeface="Helvetica" pitchFamily="34" charset="0"/>
              </a:rPr>
              <a:t>accurate message </a:t>
            </a:r>
            <a:endParaRPr lang="en-AU" sz="2200" dirty="0" smtClean="0">
              <a:latin typeface="Helvetica" pitchFamily="34" charset="0"/>
            </a:endParaRP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Confirm </a:t>
            </a:r>
            <a:r>
              <a:rPr lang="en-AU" sz="2200" dirty="0">
                <a:latin typeface="Helvetica" pitchFamily="34" charset="0"/>
              </a:rPr>
              <a:t>the importance and urgency and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any </a:t>
            </a:r>
            <a:r>
              <a:rPr lang="en-AU" sz="2200" dirty="0">
                <a:latin typeface="Helvetica" pitchFamily="34" charset="0"/>
              </a:rPr>
              <a:t>action requested or </a:t>
            </a:r>
            <a:r>
              <a:rPr lang="en-AU" sz="2200" dirty="0" smtClean="0">
                <a:latin typeface="Helvetica" pitchFamily="34" charset="0"/>
              </a:rPr>
              <a:t>promised</a:t>
            </a:r>
            <a:endParaRPr lang="en-AU" sz="2200" dirty="0">
              <a:latin typeface="Helvetica" pitchFamily="34" charset="0"/>
            </a:endParaRPr>
          </a:p>
          <a:p>
            <a:pPr marL="361950" lvl="0" indent="-361950">
              <a:spcBef>
                <a:spcPts val="600"/>
              </a:spcBef>
              <a:spcAft>
                <a:spcPts val="600"/>
              </a:spcAft>
              <a:buNone/>
            </a:pPr>
            <a:r>
              <a:rPr lang="en-AU" sz="22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41</a:t>
            </a:fld>
            <a:endParaRPr lang="en-US" dirty="0">
              <a:solidFill>
                <a:schemeClr val="tx1"/>
              </a:solidFill>
              <a:latin typeface="Helvetica" pitchFamily="34" charset="0"/>
            </a:endParaRPr>
          </a:p>
        </p:txBody>
      </p:sp>
      <p:pic>
        <p:nvPicPr>
          <p:cNvPr id="5" name="Picture 4" descr="MP900174856.JPG"/>
          <p:cNvPicPr>
            <a:picLocks noChangeAspect="1"/>
          </p:cNvPicPr>
          <p:nvPr/>
        </p:nvPicPr>
        <p:blipFill>
          <a:blip r:embed="rId3" cstate="print"/>
          <a:stretch>
            <a:fillRect/>
          </a:stretch>
        </p:blipFill>
        <p:spPr>
          <a:xfrm>
            <a:off x="6372200" y="3789040"/>
            <a:ext cx="2037420" cy="135828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Take messages from callers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328592"/>
          </a:xfrm>
        </p:spPr>
        <p:txBody>
          <a:bodyPr>
            <a:normAutofit/>
          </a:bodyPr>
          <a:lstStyle/>
          <a:p>
            <a:pPr marL="361950" lvl="0" indent="-361950">
              <a:spcBef>
                <a:spcPts val="600"/>
              </a:spcBef>
              <a:spcAft>
                <a:spcPts val="600"/>
              </a:spcAft>
            </a:pPr>
            <a:r>
              <a:rPr lang="en-AU" sz="2200" dirty="0" smtClean="0">
                <a:latin typeface="Helvetica" pitchFamily="34" charset="0"/>
              </a:rPr>
              <a:t>Lastly record the date and time of the call, including the action and follow-up </a:t>
            </a:r>
          </a:p>
          <a:p>
            <a:pPr marL="361950" lvl="0" indent="-361950">
              <a:spcBef>
                <a:spcPts val="600"/>
              </a:spcBef>
              <a:spcAft>
                <a:spcPts val="600"/>
              </a:spcAft>
            </a:pPr>
            <a:endParaRPr lang="en-AU" sz="2200" dirty="0" smtClean="0">
              <a:latin typeface="Helvetica" pitchFamily="34" charset="0"/>
            </a:endParaRPr>
          </a:p>
          <a:p>
            <a:pPr marL="361950" lvl="0" indent="-361950">
              <a:spcBef>
                <a:spcPts val="600"/>
              </a:spcBef>
              <a:spcAft>
                <a:spcPts val="600"/>
              </a:spcAft>
            </a:pPr>
            <a:r>
              <a:rPr lang="en-AU" sz="2200" dirty="0" smtClean="0">
                <a:latin typeface="Helvetica" pitchFamily="34" charset="0"/>
              </a:rPr>
              <a:t>Include </a:t>
            </a:r>
            <a:r>
              <a:rPr lang="en-AU" sz="2200" dirty="0">
                <a:latin typeface="Helvetica" pitchFamily="34" charset="0"/>
              </a:rPr>
              <a:t>the name of the person who </a:t>
            </a:r>
            <a:r>
              <a:rPr lang="en-AU" sz="2200" dirty="0" smtClean="0">
                <a:latin typeface="Helvetica" pitchFamily="34" charset="0"/>
              </a:rPr>
              <a:t>recorded </a:t>
            </a:r>
            <a:r>
              <a:rPr lang="en-AU" sz="2200" dirty="0">
                <a:latin typeface="Helvetica" pitchFamily="34" charset="0"/>
              </a:rPr>
              <a:t>the </a:t>
            </a:r>
            <a:r>
              <a:rPr lang="en-AU" sz="2200" dirty="0" smtClean="0">
                <a:latin typeface="Helvetica" pitchFamily="34" charset="0"/>
              </a:rPr>
              <a:t>message </a:t>
            </a: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42</a:t>
            </a:fld>
            <a:endParaRPr lang="en-US" dirty="0">
              <a:solidFill>
                <a:schemeClr val="tx1"/>
              </a:solidFill>
              <a:latin typeface="Helvetica" pitchFamily="34" charset="0"/>
            </a:endParaRPr>
          </a:p>
        </p:txBody>
      </p:sp>
      <p:pic>
        <p:nvPicPr>
          <p:cNvPr id="5" name="Picture 4" descr="MP900174856.JPG"/>
          <p:cNvPicPr>
            <a:picLocks noChangeAspect="1"/>
          </p:cNvPicPr>
          <p:nvPr/>
        </p:nvPicPr>
        <p:blipFill>
          <a:blip r:embed="rId3" cstate="print"/>
          <a:stretch>
            <a:fillRect/>
          </a:stretch>
        </p:blipFill>
        <p:spPr>
          <a:xfrm>
            <a:off x="3779912" y="3861048"/>
            <a:ext cx="2037420" cy="1358280"/>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Autofit/>
          </a:bodyPr>
          <a:lstStyle/>
          <a:p>
            <a:r>
              <a:rPr lang="en-US" sz="2800" b="1" dirty="0" smtClean="0">
                <a:solidFill>
                  <a:srgbClr val="FF6600"/>
                </a:solidFill>
                <a:latin typeface="Helvetica" pitchFamily="34" charset="0"/>
              </a:rPr>
              <a:t>Class activity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Use a message pad </a:t>
            </a:r>
          </a:p>
          <a:p>
            <a:pPr marL="360000" indent="-360000">
              <a:spcBef>
                <a:spcPts val="600"/>
              </a:spcBef>
              <a:spcAft>
                <a:spcPts val="1200"/>
              </a:spcAft>
            </a:pPr>
            <a:r>
              <a:rPr lang="en-US" sz="2200" dirty="0" smtClean="0">
                <a:latin typeface="Helvetica" pitchFamily="34" charset="0"/>
              </a:rPr>
              <a:t>Role play taking guests’ requests and messages </a:t>
            </a:r>
          </a:p>
          <a:p>
            <a:pPr marL="360000" indent="-360000">
              <a:spcBef>
                <a:spcPts val="600"/>
              </a:spcBef>
              <a:spcAft>
                <a:spcPts val="1200"/>
              </a:spcAft>
            </a:pPr>
            <a:r>
              <a:rPr lang="en-US" sz="2200" dirty="0" smtClean="0">
                <a:latin typeface="Helvetica" pitchFamily="34" charset="0"/>
              </a:rPr>
              <a:t>Work with a partner where one plays a guest and the other the telephone operator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43</a:t>
            </a:fld>
            <a:endParaRPr lang="en-US" dirty="0">
              <a:solidFill>
                <a:schemeClr val="tx1"/>
              </a:solidFill>
              <a:latin typeface="Helvetica" pitchFamily="34" charset="0"/>
            </a:endParaRPr>
          </a:p>
        </p:txBody>
      </p:sp>
      <p:pic>
        <p:nvPicPr>
          <p:cNvPr id="9" name="Picture 8" descr="shutterstock_93620245.jpg"/>
          <p:cNvPicPr>
            <a:picLocks noChangeAspect="1"/>
          </p:cNvPicPr>
          <p:nvPr/>
        </p:nvPicPr>
        <p:blipFill>
          <a:blip r:embed="rId3" cstate="print"/>
          <a:stretch>
            <a:fillRect/>
          </a:stretch>
        </p:blipFill>
        <p:spPr>
          <a:xfrm>
            <a:off x="4572000" y="4149080"/>
            <a:ext cx="1679848" cy="1259886"/>
          </a:xfrm>
          <a:prstGeom prst="rect">
            <a:avLst/>
          </a:prstGeom>
        </p:spPr>
      </p:pic>
      <p:pic>
        <p:nvPicPr>
          <p:cNvPr id="10" name="Picture 9" descr="MH900056116.JPG"/>
          <p:cNvPicPr>
            <a:picLocks noChangeAspect="1"/>
          </p:cNvPicPr>
          <p:nvPr/>
        </p:nvPicPr>
        <p:blipFill>
          <a:blip r:embed="rId4" cstate="print"/>
          <a:stretch>
            <a:fillRect/>
          </a:stretch>
        </p:blipFill>
        <p:spPr>
          <a:xfrm>
            <a:off x="1619672" y="4005064"/>
            <a:ext cx="1547812" cy="1547812"/>
          </a:xfrm>
          <a:prstGeom prst="rect">
            <a:avLst/>
          </a:prstGeom>
        </p:spPr>
      </p:pic>
    </p:spTree>
    <p:extLst>
      <p:ext uri="{BB962C8B-B14F-4D97-AF65-F5344CB8AC3E}">
        <p14:creationId xmlns:p14="http://schemas.microsoft.com/office/powerpoint/2010/main" val="38665837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648072"/>
          </a:xfrm>
        </p:spPr>
        <p:txBody>
          <a:bodyPr>
            <a:noAutofit/>
          </a:bodyPr>
          <a:lstStyle/>
          <a:p>
            <a:r>
              <a:rPr lang="en-US" sz="2800" b="1" dirty="0" smtClean="0">
                <a:solidFill>
                  <a:srgbClr val="FF6600"/>
                </a:solidFill>
                <a:latin typeface="Helvetica" pitchFamily="34" charset="0"/>
              </a:rPr>
              <a:t>Relay messages and follow-up as necessary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16824" cy="5256584"/>
          </a:xfrm>
        </p:spPr>
        <p:txBody>
          <a:bodyPr>
            <a:normAutofit/>
          </a:bodyPr>
          <a:lstStyle/>
          <a:p>
            <a:pPr>
              <a:spcBef>
                <a:spcPts val="600"/>
              </a:spcBef>
              <a:spcAft>
                <a:spcPts val="600"/>
              </a:spcAft>
            </a:pPr>
            <a:r>
              <a:rPr lang="en-AU" sz="2200" dirty="0">
                <a:latin typeface="Helvetica" pitchFamily="34" charset="0"/>
              </a:rPr>
              <a:t>Messages </a:t>
            </a:r>
            <a:r>
              <a:rPr lang="en-AU" sz="2200" dirty="0" smtClean="0">
                <a:latin typeface="Helvetica" pitchFamily="34" charset="0"/>
              </a:rPr>
              <a:t>can </a:t>
            </a:r>
            <a:r>
              <a:rPr lang="en-AU" sz="2200" dirty="0">
                <a:latin typeface="Helvetica" pitchFamily="34" charset="0"/>
              </a:rPr>
              <a:t>be left under </a:t>
            </a:r>
            <a:r>
              <a:rPr lang="en-AU" sz="2200" dirty="0" smtClean="0">
                <a:latin typeface="Helvetica" pitchFamily="34" charset="0"/>
              </a:rPr>
              <a:t>guests’ doors</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A </a:t>
            </a:r>
            <a:r>
              <a:rPr lang="en-AU" sz="2200" dirty="0">
                <a:latin typeface="Helvetica" pitchFamily="34" charset="0"/>
              </a:rPr>
              <a:t>message notification can be </a:t>
            </a:r>
            <a:r>
              <a:rPr lang="en-AU" sz="2200" dirty="0" smtClean="0">
                <a:latin typeface="Helvetica" pitchFamily="34" charset="0"/>
              </a:rPr>
              <a:t>activated</a:t>
            </a: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Text </a:t>
            </a:r>
            <a:r>
              <a:rPr lang="en-AU" sz="2200" dirty="0">
                <a:latin typeface="Helvetica" pitchFamily="34" charset="0"/>
              </a:rPr>
              <a:t>messages can be transmitted </a:t>
            </a:r>
            <a:r>
              <a:rPr lang="en-AU" sz="2200" dirty="0" smtClean="0">
                <a:latin typeface="Helvetica" pitchFamily="34" charset="0"/>
              </a:rPr>
              <a:t>instantly</a:t>
            </a:r>
            <a:endParaRPr lang="en-AU" sz="2200" dirty="0">
              <a:latin typeface="Helvetica" pitchFamily="34" charset="0"/>
            </a:endParaRPr>
          </a:p>
          <a:p>
            <a:pPr marL="360000" indent="-360000">
              <a:spcBef>
                <a:spcPts val="600"/>
              </a:spcBef>
              <a:spcAft>
                <a:spcPts val="6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44</a:t>
            </a:fld>
            <a:endParaRPr lang="en-US" dirty="0">
              <a:solidFill>
                <a:schemeClr val="tx1"/>
              </a:solidFill>
              <a:latin typeface="Helvetica" pitchFamily="34" charset="0"/>
            </a:endParaRPr>
          </a:p>
        </p:txBody>
      </p:sp>
      <p:pic>
        <p:nvPicPr>
          <p:cNvPr id="5" name="Picture 4" descr="c36.jpg"/>
          <p:cNvPicPr>
            <a:picLocks noChangeAspect="1"/>
          </p:cNvPicPr>
          <p:nvPr/>
        </p:nvPicPr>
        <p:blipFill>
          <a:blip r:embed="rId3" cstate="print"/>
          <a:stretch>
            <a:fillRect/>
          </a:stretch>
        </p:blipFill>
        <p:spPr>
          <a:xfrm>
            <a:off x="6660232" y="3429000"/>
            <a:ext cx="1656184" cy="1745642"/>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648072"/>
          </a:xfrm>
        </p:spPr>
        <p:txBody>
          <a:bodyPr>
            <a:noAutofit/>
          </a:bodyPr>
          <a:lstStyle/>
          <a:p>
            <a:r>
              <a:rPr lang="en-US" sz="2800" b="1" dirty="0" smtClean="0">
                <a:solidFill>
                  <a:srgbClr val="FF6600"/>
                </a:solidFill>
                <a:latin typeface="Helvetica" pitchFamily="34" charset="0"/>
              </a:rPr>
              <a:t>Relay messages and follow-up as necessary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16824" cy="5256584"/>
          </a:xfrm>
        </p:spPr>
        <p:txBody>
          <a:bodyPr>
            <a:normAutofit/>
          </a:bodyPr>
          <a:lstStyle/>
          <a:p>
            <a:pPr>
              <a:spcBef>
                <a:spcPts val="600"/>
              </a:spcBef>
              <a:spcAft>
                <a:spcPts val="600"/>
              </a:spcAft>
            </a:pPr>
            <a:r>
              <a:rPr lang="en-AU" sz="2200" dirty="0" smtClean="0">
                <a:latin typeface="Helvetica" pitchFamily="34" charset="0"/>
              </a:rPr>
              <a:t>Messages </a:t>
            </a:r>
            <a:r>
              <a:rPr lang="en-AU" sz="2200" dirty="0">
                <a:latin typeface="Helvetica" pitchFamily="34" charset="0"/>
              </a:rPr>
              <a:t>may be left in </a:t>
            </a:r>
            <a:r>
              <a:rPr lang="en-AU" sz="2200" dirty="0" smtClean="0">
                <a:latin typeface="Helvetica" pitchFamily="34" charset="0"/>
              </a:rPr>
              <a:t>a pigeon-hole </a:t>
            </a:r>
            <a:r>
              <a:rPr lang="en-AU" sz="2200" dirty="0">
                <a:latin typeface="Helvetica" pitchFamily="34" charset="0"/>
              </a:rPr>
              <a:t>or message </a:t>
            </a:r>
            <a:r>
              <a:rPr lang="en-AU" sz="2200" dirty="0" smtClean="0">
                <a:latin typeface="Helvetica" pitchFamily="34" charset="0"/>
              </a:rPr>
              <a:t>book. A </a:t>
            </a:r>
            <a:r>
              <a:rPr lang="en-AU" sz="2200" dirty="0">
                <a:latin typeface="Helvetica" pitchFamily="34" charset="0"/>
              </a:rPr>
              <a:t>guest may call </a:t>
            </a:r>
            <a:r>
              <a:rPr lang="en-AU" sz="2200" dirty="0" smtClean="0">
                <a:latin typeface="Helvetica" pitchFamily="34" charset="0"/>
              </a:rPr>
              <a:t>to </a:t>
            </a:r>
            <a:r>
              <a:rPr lang="en-AU" sz="2200" dirty="0">
                <a:latin typeface="Helvetica" pitchFamily="34" charset="0"/>
              </a:rPr>
              <a:t>collect a message  </a:t>
            </a:r>
            <a:endParaRPr lang="en-AU" sz="2200" dirty="0" smtClean="0">
              <a:latin typeface="Helvetica" pitchFamily="34" charset="0"/>
            </a:endParaRP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Messages </a:t>
            </a:r>
            <a:r>
              <a:rPr lang="en-AU" sz="2200" dirty="0">
                <a:latin typeface="Helvetica" pitchFamily="34" charset="0"/>
              </a:rPr>
              <a:t>left for incoming guests may be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delivered </a:t>
            </a:r>
            <a:r>
              <a:rPr lang="en-AU" sz="2200" dirty="0">
                <a:latin typeface="Helvetica" pitchFamily="34" charset="0"/>
              </a:rPr>
              <a:t>verbally </a:t>
            </a:r>
            <a:r>
              <a:rPr lang="en-AU" sz="2200" dirty="0" smtClean="0">
                <a:latin typeface="Helvetica" pitchFamily="34" charset="0"/>
              </a:rPr>
              <a:t>or printed</a:t>
            </a:r>
            <a:endParaRPr lang="en-AU" sz="2200" dirty="0">
              <a:latin typeface="Helvetica" pitchFamily="34" charset="0"/>
            </a:endParaRPr>
          </a:p>
          <a:p>
            <a:pPr>
              <a:spcBef>
                <a:spcPts val="600"/>
              </a:spcBef>
              <a:spcAft>
                <a:spcPts val="600"/>
              </a:spcAft>
            </a:pPr>
            <a:endParaRPr lang="en-AU" sz="2200" dirty="0" smtClean="0">
              <a:latin typeface="Helvetica" pitchFamily="34" charset="0"/>
            </a:endParaRPr>
          </a:p>
          <a:p>
            <a:pPr>
              <a:spcBef>
                <a:spcPts val="600"/>
              </a:spcBef>
              <a:spcAft>
                <a:spcPts val="600"/>
              </a:spcAft>
            </a:pPr>
            <a:r>
              <a:rPr lang="en-AU" sz="2200" dirty="0" smtClean="0">
                <a:latin typeface="Helvetica" pitchFamily="34" charset="0"/>
              </a:rPr>
              <a:t>A </a:t>
            </a:r>
            <a:r>
              <a:rPr lang="en-AU" sz="2200" dirty="0">
                <a:latin typeface="Helvetica" pitchFamily="34" charset="0"/>
              </a:rPr>
              <a:t>message may carry a facility to confirm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delivery</a:t>
            </a:r>
            <a:endParaRPr lang="en-AU" sz="2200" dirty="0">
              <a:latin typeface="Helvetica" pitchFamily="34" charset="0"/>
            </a:endParaRP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45</a:t>
            </a:fld>
            <a:endParaRPr lang="en-US" dirty="0">
              <a:solidFill>
                <a:schemeClr val="tx1"/>
              </a:solidFill>
              <a:latin typeface="Helvetica" pitchFamily="34" charset="0"/>
            </a:endParaRPr>
          </a:p>
        </p:txBody>
      </p:sp>
      <p:pic>
        <p:nvPicPr>
          <p:cNvPr id="5" name="Picture 4" descr="c36.jpg"/>
          <p:cNvPicPr>
            <a:picLocks noChangeAspect="1"/>
          </p:cNvPicPr>
          <p:nvPr/>
        </p:nvPicPr>
        <p:blipFill>
          <a:blip r:embed="rId3" cstate="print"/>
          <a:stretch>
            <a:fillRect/>
          </a:stretch>
        </p:blipFill>
        <p:spPr>
          <a:xfrm>
            <a:off x="6660232" y="3429000"/>
            <a:ext cx="1656184" cy="1745642"/>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04056"/>
          </a:xfrm>
        </p:spPr>
        <p:txBody>
          <a:bodyPr>
            <a:noAutofit/>
          </a:bodyPr>
          <a:lstStyle/>
          <a:p>
            <a:r>
              <a:rPr lang="en-US" sz="2800" b="1" dirty="0" smtClean="0">
                <a:solidFill>
                  <a:srgbClr val="FF6600"/>
                </a:solidFill>
                <a:latin typeface="Helvetica" pitchFamily="34" charset="0"/>
              </a:rPr>
              <a:t>Facilitate conference calls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200800" cy="5030019"/>
          </a:xfrm>
        </p:spPr>
        <p:txBody>
          <a:bodyPr>
            <a:normAutofit/>
          </a:bodyPr>
          <a:lstStyle/>
          <a:p>
            <a:pPr marL="342900" indent="-342900">
              <a:spcBef>
                <a:spcPts val="600"/>
              </a:spcBef>
              <a:spcAft>
                <a:spcPts val="1200"/>
              </a:spcAft>
              <a:buNone/>
            </a:pPr>
            <a:r>
              <a:rPr lang="en-AU" sz="2200" dirty="0">
                <a:latin typeface="Helvetica" pitchFamily="34" charset="0"/>
              </a:rPr>
              <a:t>A conference </a:t>
            </a:r>
            <a:r>
              <a:rPr lang="en-AU" sz="2200" dirty="0" smtClean="0">
                <a:latin typeface="Helvetica" pitchFamily="34" charset="0"/>
              </a:rPr>
              <a:t>call:</a:t>
            </a:r>
          </a:p>
          <a:p>
            <a:pPr marL="342900" indent="-342900">
              <a:spcBef>
                <a:spcPts val="600"/>
              </a:spcBef>
              <a:spcAft>
                <a:spcPts val="1200"/>
              </a:spcAft>
            </a:pPr>
            <a:r>
              <a:rPr lang="en-AU" sz="2200" dirty="0" smtClean="0">
                <a:latin typeface="Helvetica" pitchFamily="34" charset="0"/>
              </a:rPr>
              <a:t> Is a call where </a:t>
            </a:r>
            <a:r>
              <a:rPr lang="en-AU" sz="2200" dirty="0">
                <a:latin typeface="Helvetica" pitchFamily="34" charset="0"/>
              </a:rPr>
              <a:t>more than </a:t>
            </a:r>
            <a:r>
              <a:rPr lang="en-AU" sz="2200" dirty="0" smtClean="0">
                <a:latin typeface="Helvetica" pitchFamily="34" charset="0"/>
              </a:rPr>
              <a:t>one party can </a:t>
            </a:r>
            <a:r>
              <a:rPr lang="en-AU" sz="2200" dirty="0">
                <a:latin typeface="Helvetica" pitchFamily="34" charset="0"/>
              </a:rPr>
              <a:t>listen in </a:t>
            </a:r>
            <a:endParaRPr lang="en-AU" sz="2200" dirty="0" smtClean="0">
              <a:latin typeface="Helvetica" pitchFamily="34" charset="0"/>
            </a:endParaRPr>
          </a:p>
          <a:p>
            <a:pPr marL="342900" indent="-342900">
              <a:spcBef>
                <a:spcPts val="600"/>
              </a:spcBef>
              <a:spcAft>
                <a:spcPts val="1200"/>
              </a:spcAft>
            </a:pPr>
            <a:r>
              <a:rPr lang="en-AU" sz="2200" dirty="0" smtClean="0">
                <a:latin typeface="Helvetica" pitchFamily="34" charset="0"/>
              </a:rPr>
              <a:t>may </a:t>
            </a:r>
            <a:r>
              <a:rPr lang="en-AU" sz="2200" dirty="0">
                <a:latin typeface="Helvetica" pitchFamily="34" charset="0"/>
              </a:rPr>
              <a:t>be designed to allow the called party to </a:t>
            </a:r>
            <a:r>
              <a:rPr lang="en-AU" sz="2200" dirty="0" smtClean="0">
                <a:latin typeface="Helvetica" pitchFamily="34" charset="0"/>
              </a:rPr>
              <a:t>participate </a:t>
            </a:r>
            <a:r>
              <a:rPr lang="en-AU" sz="2200" dirty="0">
                <a:latin typeface="Helvetica" pitchFamily="34" charset="0"/>
              </a:rPr>
              <a:t>during the </a:t>
            </a:r>
            <a:r>
              <a:rPr lang="en-AU" sz="2200" dirty="0" smtClean="0">
                <a:latin typeface="Helvetica" pitchFamily="34" charset="0"/>
              </a:rPr>
              <a:t>call</a:t>
            </a:r>
          </a:p>
          <a:p>
            <a:pPr marL="342900" indent="-342900">
              <a:spcBef>
                <a:spcPts val="600"/>
              </a:spcBef>
              <a:spcAft>
                <a:spcPts val="1200"/>
              </a:spcAft>
            </a:pPr>
            <a:r>
              <a:rPr lang="en-AU" sz="2200" dirty="0" smtClean="0">
                <a:latin typeface="Helvetica" pitchFamily="34" charset="0"/>
              </a:rPr>
              <a:t>May </a:t>
            </a:r>
            <a:r>
              <a:rPr lang="en-AU" sz="2200" dirty="0">
                <a:latin typeface="Helvetica" pitchFamily="34" charset="0"/>
              </a:rPr>
              <a:t>be set up so </a:t>
            </a:r>
            <a:r>
              <a:rPr lang="en-AU" sz="2200" dirty="0" smtClean="0">
                <a:latin typeface="Helvetica" pitchFamily="34" charset="0"/>
              </a:rPr>
              <a:t>the </a:t>
            </a:r>
            <a:r>
              <a:rPr lang="en-AU" sz="2200" dirty="0">
                <a:latin typeface="Helvetica" pitchFamily="34" charset="0"/>
              </a:rPr>
              <a:t>called </a:t>
            </a:r>
            <a:r>
              <a:rPr lang="en-AU" sz="2200" dirty="0" smtClean="0">
                <a:latin typeface="Helvetica" pitchFamily="34" charset="0"/>
              </a:rPr>
              <a:t>party only listens and </a:t>
            </a:r>
            <a:r>
              <a:rPr lang="en-AU" sz="2200" dirty="0">
                <a:latin typeface="Helvetica" pitchFamily="34" charset="0"/>
              </a:rPr>
              <a:t>cannot </a:t>
            </a:r>
            <a:r>
              <a:rPr lang="en-AU" sz="2200" dirty="0" smtClean="0">
                <a:latin typeface="Helvetica" pitchFamily="34" charset="0"/>
              </a:rPr>
              <a:t>speak</a:t>
            </a:r>
          </a:p>
          <a:p>
            <a:pPr marL="342900" indent="-342900">
              <a:spcBef>
                <a:spcPts val="600"/>
              </a:spcBef>
              <a:spcAft>
                <a:spcPts val="1200"/>
              </a:spcAft>
            </a:pPr>
            <a:r>
              <a:rPr lang="en-AU" sz="2200" dirty="0" smtClean="0">
                <a:latin typeface="Helvetica" pitchFamily="34" charset="0"/>
              </a:rPr>
              <a:t>Can be </a:t>
            </a:r>
            <a:r>
              <a:rPr lang="en-AU" sz="2200" dirty="0">
                <a:latin typeface="Helvetica" pitchFamily="34" charset="0"/>
              </a:rPr>
              <a:t>set up to view </a:t>
            </a:r>
            <a:r>
              <a:rPr lang="en-AU" sz="2200" dirty="0" smtClean="0">
                <a:latin typeface="Helvetica" pitchFamily="34" charset="0"/>
              </a:rPr>
              <a:t>the </a:t>
            </a:r>
            <a:r>
              <a:rPr lang="en-AU" sz="2200" dirty="0">
                <a:latin typeface="Helvetica" pitchFamily="34" charset="0"/>
              </a:rPr>
              <a:t>other </a:t>
            </a:r>
            <a:r>
              <a:rPr lang="en-AU" sz="2200" dirty="0" smtClean="0">
                <a:latin typeface="Helvetica" pitchFamily="34" charset="0"/>
              </a:rPr>
              <a:t>caller </a:t>
            </a: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46</a:t>
            </a:fld>
            <a:endParaRPr lang="en-US" dirty="0">
              <a:solidFill>
                <a:schemeClr val="tx1"/>
              </a:solidFill>
              <a:latin typeface="Helvetica" pitchFamily="34" charset="0"/>
            </a:endParaRPr>
          </a:p>
        </p:txBody>
      </p:sp>
      <p:pic>
        <p:nvPicPr>
          <p:cNvPr id="5" name="Picture 4" descr="shutterstock_83332261.jpg"/>
          <p:cNvPicPr>
            <a:picLocks noChangeAspect="1"/>
          </p:cNvPicPr>
          <p:nvPr/>
        </p:nvPicPr>
        <p:blipFill>
          <a:blip r:embed="rId3" cstate="print"/>
          <a:stretch>
            <a:fillRect/>
          </a:stretch>
        </p:blipFill>
        <p:spPr>
          <a:xfrm>
            <a:off x="6372200" y="3861048"/>
            <a:ext cx="2054066" cy="1368008"/>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2800" b="1" dirty="0" smtClean="0">
                <a:solidFill>
                  <a:srgbClr val="FF6600"/>
                </a:solidFill>
                <a:latin typeface="Helvetica" pitchFamily="34" charset="0"/>
              </a:rPr>
              <a:t>Deal with suspicious or threatening callers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marL="361950" indent="-361950">
              <a:spcBef>
                <a:spcPts val="600"/>
              </a:spcBef>
              <a:spcAft>
                <a:spcPts val="600"/>
              </a:spcAft>
            </a:pPr>
            <a:r>
              <a:rPr lang="en-AU" sz="2200" dirty="0" smtClean="0">
                <a:latin typeface="Helvetica" pitchFamily="34" charset="0"/>
              </a:rPr>
              <a:t>It </a:t>
            </a:r>
            <a:r>
              <a:rPr lang="en-AU" sz="2200" dirty="0">
                <a:latin typeface="Helvetica" pitchFamily="34" charset="0"/>
              </a:rPr>
              <a:t>is important to remain </a:t>
            </a:r>
            <a:r>
              <a:rPr lang="en-AU" sz="2200" dirty="0" smtClean="0">
                <a:latin typeface="Helvetica" pitchFamily="34" charset="0"/>
              </a:rPr>
              <a:t>calm:</a:t>
            </a:r>
          </a:p>
          <a:p>
            <a:pPr marL="714375" lvl="1" indent="-361950">
              <a:spcBef>
                <a:spcPts val="600"/>
              </a:spcBef>
              <a:spcAft>
                <a:spcPts val="600"/>
              </a:spcAft>
            </a:pPr>
            <a:r>
              <a:rPr lang="en-AU" sz="2200" dirty="0" smtClean="0">
                <a:latin typeface="Helvetica" pitchFamily="34" charset="0"/>
              </a:rPr>
              <a:t>Do not hang up </a:t>
            </a:r>
          </a:p>
          <a:p>
            <a:pPr marL="714375" lvl="1" indent="-361950">
              <a:spcBef>
                <a:spcPts val="600"/>
              </a:spcBef>
              <a:spcAft>
                <a:spcPts val="600"/>
              </a:spcAft>
            </a:pPr>
            <a:r>
              <a:rPr lang="en-AU" sz="2200" dirty="0" smtClean="0">
                <a:latin typeface="Helvetica" pitchFamily="34" charset="0"/>
              </a:rPr>
              <a:t>Get detailed information</a:t>
            </a:r>
          </a:p>
          <a:p>
            <a:pPr marL="714375" lvl="1" indent="-361950">
              <a:spcBef>
                <a:spcPts val="600"/>
              </a:spcBef>
              <a:spcAft>
                <a:spcPts val="600"/>
              </a:spcAft>
            </a:pPr>
            <a:r>
              <a:rPr lang="en-AU" sz="2200" dirty="0" smtClean="0">
                <a:latin typeface="Helvetica" pitchFamily="34" charset="0"/>
              </a:rPr>
              <a:t>Do not laugh or treat the threat lightly </a:t>
            </a:r>
          </a:p>
          <a:p>
            <a:pPr marL="714375" lvl="1" indent="-361950">
              <a:spcBef>
                <a:spcPts val="600"/>
              </a:spcBef>
              <a:spcAft>
                <a:spcPts val="600"/>
              </a:spcAft>
            </a:pPr>
            <a:r>
              <a:rPr lang="en-AU" sz="2200" dirty="0" smtClean="0">
                <a:latin typeface="Helvetica" pitchFamily="34" charset="0"/>
              </a:rPr>
              <a:t>Don’t be angry </a:t>
            </a:r>
            <a:r>
              <a:rPr lang="en-AU" sz="2200" dirty="0">
                <a:latin typeface="Helvetica" pitchFamily="34" charset="0"/>
              </a:rPr>
              <a:t>or </a:t>
            </a:r>
            <a:r>
              <a:rPr lang="en-AU" sz="2200" dirty="0" smtClean="0">
                <a:latin typeface="Helvetica" pitchFamily="34" charset="0"/>
              </a:rPr>
              <a:t>upset</a:t>
            </a:r>
          </a:p>
          <a:p>
            <a:pPr marL="714375" lvl="1" indent="-361950">
              <a:spcBef>
                <a:spcPts val="600"/>
              </a:spcBef>
              <a:spcAft>
                <a:spcPts val="600"/>
              </a:spcAft>
            </a:pPr>
            <a:r>
              <a:rPr lang="en-AU" sz="2200" dirty="0" smtClean="0">
                <a:latin typeface="Helvetica" pitchFamily="34" charset="0"/>
              </a:rPr>
              <a:t>Confirm the call is genuine </a:t>
            </a:r>
          </a:p>
          <a:p>
            <a:pPr marL="714375" lvl="1" indent="-361950">
              <a:spcBef>
                <a:spcPts val="600"/>
              </a:spcBef>
              <a:spcAft>
                <a:spcPts val="600"/>
              </a:spcAft>
            </a:pPr>
            <a:r>
              <a:rPr lang="en-AU" sz="2200" dirty="0" smtClean="0">
                <a:latin typeface="Helvetica" pitchFamily="34" charset="0"/>
              </a:rPr>
              <a:t>Keep a record of the conversation</a:t>
            </a:r>
            <a:br>
              <a:rPr lang="en-AU" sz="2200" dirty="0" smtClean="0">
                <a:latin typeface="Helvetica" pitchFamily="34" charset="0"/>
              </a:rPr>
            </a:br>
            <a:endParaRPr lang="en-AU" sz="2200" dirty="0">
              <a:latin typeface="Helvetica" pitchFamily="34" charset="0"/>
            </a:endParaRPr>
          </a:p>
          <a:p>
            <a:pPr marL="361950" indent="-361950">
              <a:spcBef>
                <a:spcPts val="600"/>
              </a:spcBef>
              <a:spcAft>
                <a:spcPts val="600"/>
              </a:spcAft>
              <a:buNone/>
            </a:pPr>
            <a:r>
              <a:rPr lang="en-US" sz="2200" i="1" dirty="0" smtClean="0">
                <a:latin typeface="Helvetica" pitchFamily="34" charset="0"/>
              </a:rPr>
              <a:t>(continued)</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47</a:t>
            </a:fld>
            <a:endParaRPr lang="en-US" dirty="0">
              <a:solidFill>
                <a:schemeClr val="tx1"/>
              </a:solidFill>
              <a:latin typeface="Helvetica" pitchFamily="34" charset="0"/>
            </a:endParaRPr>
          </a:p>
        </p:txBody>
      </p:sp>
      <p:pic>
        <p:nvPicPr>
          <p:cNvPr id="5" name="Picture 4" descr="c28.jpg"/>
          <p:cNvPicPr>
            <a:picLocks noChangeAspect="1"/>
          </p:cNvPicPr>
          <p:nvPr/>
        </p:nvPicPr>
        <p:blipFill>
          <a:blip r:embed="rId3" cstate="print"/>
          <a:stretch>
            <a:fillRect/>
          </a:stretch>
        </p:blipFill>
        <p:spPr>
          <a:xfrm>
            <a:off x="6156176" y="3789040"/>
            <a:ext cx="2172029" cy="1411818"/>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488832" cy="4597971"/>
          </a:xfrm>
        </p:spPr>
        <p:txBody>
          <a:bodyPr>
            <a:normAutofit/>
          </a:bodyPr>
          <a:lstStyle/>
          <a:p>
            <a:pPr marL="361950" indent="-325438">
              <a:spcBef>
                <a:spcPts val="600"/>
              </a:spcBef>
              <a:spcAft>
                <a:spcPts val="600"/>
              </a:spcAft>
            </a:pPr>
            <a:r>
              <a:rPr lang="en-AU" sz="2200" dirty="0" smtClean="0">
                <a:latin typeface="Helvetica" pitchFamily="34" charset="0"/>
              </a:rPr>
              <a:t>For a bomb threat:</a:t>
            </a:r>
          </a:p>
          <a:p>
            <a:pPr marL="722313" lvl="1" indent="-360363">
              <a:spcBef>
                <a:spcPts val="600"/>
              </a:spcBef>
              <a:spcAft>
                <a:spcPts val="600"/>
              </a:spcAft>
            </a:pPr>
            <a:r>
              <a:rPr lang="en-AU" sz="2200" dirty="0" smtClean="0">
                <a:latin typeface="Helvetica" pitchFamily="34" charset="0"/>
              </a:rPr>
              <a:t>Get a much information as possible</a:t>
            </a:r>
          </a:p>
          <a:p>
            <a:pPr marL="722313" lvl="1" indent="-360363">
              <a:spcBef>
                <a:spcPts val="600"/>
              </a:spcBef>
              <a:spcAft>
                <a:spcPts val="600"/>
              </a:spcAft>
            </a:pPr>
            <a:r>
              <a:rPr lang="en-AU" sz="2200" dirty="0" smtClean="0">
                <a:latin typeface="Helvetica" pitchFamily="34" charset="0"/>
              </a:rPr>
              <a:t>Find out if possible who is making the threat</a:t>
            </a:r>
          </a:p>
          <a:p>
            <a:pPr marL="722313" lvl="1" indent="-360363">
              <a:spcBef>
                <a:spcPts val="600"/>
              </a:spcBef>
              <a:spcAft>
                <a:spcPts val="600"/>
              </a:spcAft>
            </a:pPr>
            <a:r>
              <a:rPr lang="en-AU" sz="2200" dirty="0" smtClean="0">
                <a:latin typeface="Helvetica" pitchFamily="34" charset="0"/>
              </a:rPr>
              <a:t>Try to find out why/how they will carry out their threat</a:t>
            </a:r>
          </a:p>
          <a:p>
            <a:pPr marL="722313" lvl="1" indent="-360363">
              <a:spcBef>
                <a:spcPts val="600"/>
              </a:spcBef>
              <a:spcAft>
                <a:spcPts val="600"/>
              </a:spcAft>
            </a:pPr>
            <a:r>
              <a:rPr lang="en-AU" sz="2200" dirty="0" smtClean="0">
                <a:latin typeface="Helvetica" pitchFamily="34" charset="0"/>
              </a:rPr>
              <a:t>Find out who specifically the threat is against</a:t>
            </a:r>
          </a:p>
          <a:p>
            <a:pPr marL="722313" lvl="1" indent="-360363">
              <a:spcBef>
                <a:spcPts val="600"/>
              </a:spcBef>
              <a:spcAft>
                <a:spcPts val="600"/>
              </a:spcAft>
            </a:pPr>
            <a:r>
              <a:rPr lang="en-AU" sz="2200" dirty="0" smtClean="0">
                <a:latin typeface="Helvetica" pitchFamily="34" charset="0"/>
              </a:rPr>
              <a:t>Is there any action to be taken?</a:t>
            </a:r>
          </a:p>
          <a:p>
            <a:pPr>
              <a:spcBef>
                <a:spcPts val="600"/>
              </a:spcBef>
              <a:spcAft>
                <a:spcPts val="600"/>
              </a:spcAft>
              <a:buNone/>
            </a:pPr>
            <a:endParaRPr lang="en-AU" sz="2200" i="1" dirty="0" smtClean="0">
              <a:latin typeface="Helvetica" pitchFamily="34" charset="0"/>
            </a:endParaRPr>
          </a:p>
          <a:p>
            <a:pPr>
              <a:spcBef>
                <a:spcPts val="600"/>
              </a:spcBef>
              <a:spcAft>
                <a:spcPts val="600"/>
              </a:spcAft>
              <a:buNone/>
            </a:pPr>
            <a:r>
              <a:rPr lang="en-AU" sz="2200" i="1" dirty="0" smtClean="0">
                <a:latin typeface="Helvetica" pitchFamily="34" charset="0"/>
              </a:rPr>
              <a:t>(continued)</a:t>
            </a:r>
            <a:endParaRPr lang="en-AU" sz="2200" i="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48</a:t>
            </a:fld>
            <a:endParaRPr lang="en-US" dirty="0" smtClean="0">
              <a:solidFill>
                <a:schemeClr val="tx1"/>
              </a:solidFill>
              <a:latin typeface="Helvetica" pitchFamily="34" charset="0"/>
            </a:endParaRPr>
          </a:p>
        </p:txBody>
      </p:sp>
      <p:sp>
        <p:nvSpPr>
          <p:cNvPr id="5" name="Rectangle 4"/>
          <p:cNvSpPr/>
          <p:nvPr/>
        </p:nvSpPr>
        <p:spPr>
          <a:xfrm>
            <a:off x="611560" y="548680"/>
            <a:ext cx="7488832" cy="523220"/>
          </a:xfrm>
          <a:prstGeom prst="rect">
            <a:avLst/>
          </a:prstGeom>
        </p:spPr>
        <p:txBody>
          <a:bodyPr wrap="square">
            <a:spAutoFit/>
          </a:bodyPr>
          <a:lstStyle/>
          <a:p>
            <a:r>
              <a:rPr lang="en-US" sz="2800" b="1" dirty="0" smtClean="0">
                <a:solidFill>
                  <a:srgbClr val="FF6600"/>
                </a:solidFill>
                <a:latin typeface="Helvetica" pitchFamily="34" charset="0"/>
              </a:rPr>
              <a:t>Deal with suspicious or threatening callers</a:t>
            </a:r>
            <a:endParaRPr lang="en-AU" sz="2800" dirty="0"/>
          </a:p>
        </p:txBody>
      </p:sp>
      <p:pic>
        <p:nvPicPr>
          <p:cNvPr id="7" name="Picture 6" descr="Cheque.jpg"/>
          <p:cNvPicPr>
            <a:picLocks noChangeAspect="1"/>
          </p:cNvPicPr>
          <p:nvPr/>
        </p:nvPicPr>
        <p:blipFill>
          <a:blip r:embed="rId3" cstate="print"/>
          <a:stretch>
            <a:fillRect/>
          </a:stretch>
        </p:blipFill>
        <p:spPr>
          <a:xfrm>
            <a:off x="6516216" y="4581128"/>
            <a:ext cx="1823864" cy="121483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313240" cy="4857403"/>
          </a:xfrm>
        </p:spPr>
        <p:txBody>
          <a:bodyPr>
            <a:normAutofit/>
          </a:bodyPr>
          <a:lstStyle/>
          <a:p>
            <a:pPr>
              <a:spcBef>
                <a:spcPts val="600"/>
              </a:spcBef>
              <a:spcAft>
                <a:spcPts val="1200"/>
              </a:spcAft>
            </a:pPr>
            <a:r>
              <a:rPr lang="en-AU" sz="2200" dirty="0" smtClean="0">
                <a:latin typeface="Helvetica" pitchFamily="34" charset="0"/>
              </a:rPr>
              <a:t>Policies and procedures have to be followed</a:t>
            </a:r>
          </a:p>
          <a:p>
            <a:pPr>
              <a:spcBef>
                <a:spcPts val="600"/>
              </a:spcBef>
              <a:spcAft>
                <a:spcPts val="1200"/>
              </a:spcAft>
            </a:pPr>
            <a:r>
              <a:rPr lang="en-AU" sz="2200" dirty="0" smtClean="0">
                <a:latin typeface="Helvetica" pitchFamily="34" charset="0"/>
              </a:rPr>
              <a:t>Initiate an evacuation or implement the Emergency Management Plan (EMP) </a:t>
            </a:r>
          </a:p>
          <a:p>
            <a:pPr>
              <a:spcBef>
                <a:spcPts val="600"/>
              </a:spcBef>
              <a:spcAft>
                <a:spcPts val="1200"/>
              </a:spcAft>
            </a:pPr>
            <a:r>
              <a:rPr lang="en-AU" sz="2200" dirty="0" smtClean="0">
                <a:latin typeface="Helvetica" pitchFamily="34" charset="0"/>
              </a:rPr>
              <a:t>Notify relevant authorities</a:t>
            </a:r>
          </a:p>
          <a:p>
            <a:pPr>
              <a:spcBef>
                <a:spcPts val="600"/>
              </a:spcBef>
              <a:spcAft>
                <a:spcPts val="1200"/>
              </a:spcAft>
            </a:pPr>
            <a:r>
              <a:rPr lang="en-AU" sz="2200" dirty="0" smtClean="0">
                <a:latin typeface="Helvetica" pitchFamily="34" charset="0"/>
              </a:rPr>
              <a:t>Take it  seriously </a:t>
            </a:r>
          </a:p>
          <a:p>
            <a:pPr>
              <a:spcBef>
                <a:spcPts val="600"/>
              </a:spcBef>
              <a:spcAft>
                <a:spcPts val="1200"/>
              </a:spcAft>
            </a:pPr>
            <a:r>
              <a:rPr lang="en-AU" sz="2200" dirty="0" smtClean="0">
                <a:latin typeface="Helvetica" pitchFamily="34" charset="0"/>
              </a:rPr>
              <a:t>Immediately contact a supervisor</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49</a:t>
            </a:fld>
            <a:endParaRPr lang="en-US" dirty="0">
              <a:solidFill>
                <a:schemeClr val="tx1"/>
              </a:solidFill>
              <a:latin typeface="Helvetica" pitchFamily="34" charset="0"/>
            </a:endParaRPr>
          </a:p>
        </p:txBody>
      </p:sp>
      <p:sp>
        <p:nvSpPr>
          <p:cNvPr id="5" name="Rectangle 4"/>
          <p:cNvSpPr/>
          <p:nvPr/>
        </p:nvSpPr>
        <p:spPr>
          <a:xfrm>
            <a:off x="611560" y="476672"/>
            <a:ext cx="7848872" cy="523220"/>
          </a:xfrm>
          <a:prstGeom prst="rect">
            <a:avLst/>
          </a:prstGeom>
        </p:spPr>
        <p:txBody>
          <a:bodyPr wrap="square">
            <a:spAutoFit/>
          </a:bodyPr>
          <a:lstStyle/>
          <a:p>
            <a:r>
              <a:rPr lang="en-US" sz="2800" b="1" dirty="0" smtClean="0">
                <a:solidFill>
                  <a:srgbClr val="FF6600"/>
                </a:solidFill>
                <a:latin typeface="Helvetica" pitchFamily="34" charset="0"/>
              </a:rPr>
              <a:t>Deal with suspicious or threatening callers</a:t>
            </a:r>
            <a:endParaRPr lang="en-AU" sz="2800" dirty="0"/>
          </a:p>
        </p:txBody>
      </p:sp>
      <p:pic>
        <p:nvPicPr>
          <p:cNvPr id="7" name="Picture 6" descr="iStock_000002738475Medium.jpg"/>
          <p:cNvPicPr>
            <a:picLocks noChangeAspect="1"/>
          </p:cNvPicPr>
          <p:nvPr/>
        </p:nvPicPr>
        <p:blipFill>
          <a:blip r:embed="rId3" cstate="print"/>
          <a:stretch>
            <a:fillRect/>
          </a:stretch>
        </p:blipFill>
        <p:spPr>
          <a:xfrm>
            <a:off x="6660232" y="2564904"/>
            <a:ext cx="1696088" cy="255013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576064"/>
          </a:xfrm>
        </p:spPr>
        <p:txBody>
          <a:bodyPr>
            <a:normAutofit/>
          </a:bodyPr>
          <a:lstStyle/>
          <a:p>
            <a:r>
              <a:rPr lang="en-US" sz="2800" b="1" dirty="0" smtClean="0">
                <a:solidFill>
                  <a:srgbClr val="FF6600"/>
                </a:solidFill>
                <a:latin typeface="Helvetica" pitchFamily="34" charset="0"/>
              </a:rPr>
              <a:t>Manage difficult callers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600"/>
              </a:spcAft>
              <a:buNone/>
            </a:pPr>
            <a:r>
              <a:rPr lang="en-AU" sz="2200" dirty="0" smtClean="0">
                <a:latin typeface="Helvetica" pitchFamily="34" charset="0"/>
              </a:rPr>
              <a:t>Staff </a:t>
            </a:r>
            <a:r>
              <a:rPr lang="en-AU" sz="2200" dirty="0">
                <a:latin typeface="Helvetica" pitchFamily="34" charset="0"/>
              </a:rPr>
              <a:t>may find themselves having to answer the phone to a difficult caller. This will require tact</a:t>
            </a:r>
            <a:r>
              <a:rPr lang="en-AU" sz="2200" dirty="0" smtClean="0">
                <a:latin typeface="Helvetica" pitchFamily="34" charset="0"/>
              </a:rPr>
              <a:t>, quick </a:t>
            </a:r>
            <a:r>
              <a:rPr lang="en-AU" sz="2200" dirty="0">
                <a:latin typeface="Helvetica" pitchFamily="34" charset="0"/>
              </a:rPr>
              <a:t>action or </a:t>
            </a:r>
            <a:r>
              <a:rPr lang="en-AU" sz="2200" dirty="0" smtClean="0">
                <a:latin typeface="Helvetica" pitchFamily="34" charset="0"/>
              </a:rPr>
              <a:t>initiative:</a:t>
            </a:r>
          </a:p>
          <a:p>
            <a:pPr marL="361950" indent="-361950">
              <a:spcBef>
                <a:spcPts val="600"/>
              </a:spcBef>
              <a:spcAft>
                <a:spcPts val="600"/>
              </a:spcAft>
            </a:pPr>
            <a:r>
              <a:rPr lang="en-AU" sz="2200" dirty="0" smtClean="0">
                <a:latin typeface="Helvetica" pitchFamily="34" charset="0"/>
              </a:rPr>
              <a:t>Communication</a:t>
            </a:r>
            <a:endParaRPr lang="en-AU" sz="2200" dirty="0">
              <a:latin typeface="Helvetica" pitchFamily="34" charset="0"/>
            </a:endParaRPr>
          </a:p>
          <a:p>
            <a:pPr marL="361950" indent="-361950">
              <a:spcBef>
                <a:spcPts val="600"/>
              </a:spcBef>
              <a:spcAft>
                <a:spcPts val="600"/>
              </a:spcAft>
            </a:pPr>
            <a:r>
              <a:rPr lang="en-AU" sz="2200" dirty="0">
                <a:latin typeface="Helvetica" pitchFamily="34" charset="0"/>
              </a:rPr>
              <a:t>Intoxication</a:t>
            </a:r>
          </a:p>
          <a:p>
            <a:pPr marL="361950" indent="-361950">
              <a:spcBef>
                <a:spcPts val="600"/>
              </a:spcBef>
              <a:spcAft>
                <a:spcPts val="600"/>
              </a:spcAft>
            </a:pPr>
            <a:r>
              <a:rPr lang="en-AU" sz="2200" dirty="0" smtClean="0">
                <a:latin typeface="Helvetica" pitchFamily="34" charset="0"/>
              </a:rPr>
              <a:t>Bad service</a:t>
            </a:r>
            <a:endParaRPr lang="en-AU" sz="2200" dirty="0">
              <a:latin typeface="Helvetica" pitchFamily="34" charset="0"/>
            </a:endParaRPr>
          </a:p>
          <a:p>
            <a:pPr marL="361950" indent="-361950">
              <a:spcBef>
                <a:spcPts val="600"/>
              </a:spcBef>
              <a:spcAft>
                <a:spcPts val="600"/>
              </a:spcAft>
            </a:pPr>
            <a:r>
              <a:rPr lang="en-AU" sz="2200" dirty="0">
                <a:latin typeface="Helvetica" pitchFamily="34" charset="0"/>
              </a:rPr>
              <a:t>Rude </a:t>
            </a:r>
            <a:r>
              <a:rPr lang="en-AU" sz="2200" dirty="0" smtClean="0">
                <a:latin typeface="Helvetica" pitchFamily="34" charset="0"/>
              </a:rPr>
              <a:t>callers</a:t>
            </a:r>
            <a:endParaRPr lang="en-AU" sz="2200" dirty="0">
              <a:latin typeface="Helvetica" pitchFamily="34" charset="0"/>
            </a:endParaRP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50</a:t>
            </a:fld>
            <a:endParaRPr lang="en-US" dirty="0">
              <a:solidFill>
                <a:schemeClr val="tx1"/>
              </a:solidFill>
              <a:latin typeface="Helvetica" pitchFamily="34" charset="0"/>
            </a:endParaRPr>
          </a:p>
        </p:txBody>
      </p:sp>
      <p:pic>
        <p:nvPicPr>
          <p:cNvPr id="5" name="Picture 4" descr="h4.jpg"/>
          <p:cNvPicPr>
            <a:picLocks noChangeAspect="1"/>
          </p:cNvPicPr>
          <p:nvPr/>
        </p:nvPicPr>
        <p:blipFill>
          <a:blip r:embed="rId3" cstate="print"/>
          <a:stretch>
            <a:fillRect/>
          </a:stretch>
        </p:blipFill>
        <p:spPr>
          <a:xfrm>
            <a:off x="5868144" y="3429000"/>
            <a:ext cx="2440339" cy="1602489"/>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Autofit/>
          </a:bodyPr>
          <a:lstStyle/>
          <a:p>
            <a:r>
              <a:rPr lang="en-US" sz="2800" b="1" dirty="0" smtClean="0">
                <a:solidFill>
                  <a:srgbClr val="FF6600"/>
                </a:solidFill>
                <a:latin typeface="Helvetica" pitchFamily="34" charset="0"/>
              </a:rPr>
              <a:t>Prepare voicemail messages and background music</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361950" indent="-361950">
              <a:spcBef>
                <a:spcPts val="600"/>
              </a:spcBef>
              <a:spcAft>
                <a:spcPts val="600"/>
              </a:spcAft>
            </a:pPr>
            <a:r>
              <a:rPr lang="en-AU" sz="2200" dirty="0" smtClean="0">
                <a:latin typeface="Helvetica" pitchFamily="34" charset="0"/>
              </a:rPr>
              <a:t>Voice </a:t>
            </a:r>
            <a:r>
              <a:rPr lang="en-AU" sz="2200" dirty="0">
                <a:latin typeface="Helvetica" pitchFamily="34" charset="0"/>
              </a:rPr>
              <a:t>mail is a </a:t>
            </a:r>
            <a:r>
              <a:rPr lang="en-AU" sz="2200" dirty="0" smtClean="0">
                <a:latin typeface="Helvetica" pitchFamily="34" charset="0"/>
              </a:rPr>
              <a:t>computer-based </a:t>
            </a:r>
            <a:r>
              <a:rPr lang="en-AU" sz="2200" dirty="0">
                <a:latin typeface="Helvetica" pitchFamily="34" charset="0"/>
              </a:rPr>
              <a:t>system that  will answer the caller and deliver voice information </a:t>
            </a:r>
            <a:r>
              <a:rPr lang="en-AU" sz="2200" dirty="0" smtClean="0">
                <a:latin typeface="Helvetica" pitchFamily="34" charset="0"/>
              </a:rPr>
              <a:t>using </a:t>
            </a:r>
            <a:r>
              <a:rPr lang="en-AU" sz="2200" dirty="0">
                <a:latin typeface="Helvetica" pitchFamily="34" charset="0"/>
              </a:rPr>
              <a:t>an ordinary </a:t>
            </a:r>
            <a:r>
              <a:rPr lang="en-AU" sz="2200" dirty="0" smtClean="0">
                <a:latin typeface="Helvetica" pitchFamily="34" charset="0"/>
              </a:rPr>
              <a:t>telephone</a:t>
            </a:r>
          </a:p>
          <a:p>
            <a:pPr marL="361950" indent="-361950">
              <a:spcBef>
                <a:spcPts val="600"/>
              </a:spcBef>
              <a:spcAft>
                <a:spcPts val="600"/>
              </a:spcAft>
            </a:pPr>
            <a:r>
              <a:rPr lang="en-AU" sz="2200" dirty="0" smtClean="0">
                <a:latin typeface="Helvetica" pitchFamily="34" charset="0"/>
              </a:rPr>
              <a:t>Most </a:t>
            </a:r>
            <a:r>
              <a:rPr lang="en-AU" sz="2200" dirty="0">
                <a:latin typeface="Helvetica" pitchFamily="34" charset="0"/>
              </a:rPr>
              <a:t>telephone systems have the ability to play an advertising message or music when a call is </a:t>
            </a:r>
            <a:r>
              <a:rPr lang="en-AU" sz="2200" dirty="0" smtClean="0">
                <a:latin typeface="Helvetica" pitchFamily="34" charset="0"/>
              </a:rPr>
              <a:t>on </a:t>
            </a:r>
            <a:r>
              <a:rPr lang="en-AU" sz="2200" dirty="0">
                <a:latin typeface="Helvetica" pitchFamily="34" charset="0"/>
              </a:rPr>
              <a:t>hold </a:t>
            </a:r>
            <a:r>
              <a:rPr lang="en-AU" sz="2200" dirty="0" smtClean="0">
                <a:latin typeface="Helvetica" pitchFamily="34" charset="0"/>
              </a:rPr>
              <a:t> </a:t>
            </a:r>
          </a:p>
          <a:p>
            <a:pPr marL="361950" indent="-361950">
              <a:spcBef>
                <a:spcPts val="600"/>
              </a:spcBef>
              <a:spcAft>
                <a:spcPts val="600"/>
              </a:spcAft>
            </a:pPr>
            <a:r>
              <a:rPr lang="en-AU" sz="2200" dirty="0" smtClean="0">
                <a:latin typeface="Helvetica" pitchFamily="34" charset="0"/>
              </a:rPr>
              <a:t>A guest on hold will wait if there is not silence </a:t>
            </a:r>
            <a:br>
              <a:rPr lang="en-AU" sz="2200" dirty="0" smtClean="0">
                <a:latin typeface="Helvetica" pitchFamily="34" charset="0"/>
              </a:rPr>
            </a:br>
            <a:r>
              <a:rPr lang="en-AU" sz="2200" dirty="0" smtClean="0">
                <a:latin typeface="Helvetica" pitchFamily="34" charset="0"/>
              </a:rPr>
              <a:t>at the end of the phone.</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51</a:t>
            </a:fld>
            <a:endParaRPr lang="en-US" dirty="0">
              <a:solidFill>
                <a:schemeClr val="tx1"/>
              </a:solidFill>
              <a:latin typeface="Helvetica" pitchFamily="34" charset="0"/>
            </a:endParaRPr>
          </a:p>
        </p:txBody>
      </p:sp>
      <p:pic>
        <p:nvPicPr>
          <p:cNvPr id="5" name="Picture 4" descr="MM900172581.GIF"/>
          <p:cNvPicPr>
            <a:picLocks noChangeAspect="1"/>
          </p:cNvPicPr>
          <p:nvPr/>
        </p:nvPicPr>
        <p:blipFill>
          <a:blip r:embed="rId3" cstate="print"/>
          <a:stretch>
            <a:fillRect/>
          </a:stretch>
        </p:blipFill>
        <p:spPr>
          <a:xfrm>
            <a:off x="7092280" y="3717032"/>
            <a:ext cx="1219200" cy="1419225"/>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Autofit/>
          </a:bodyPr>
          <a:lstStyle/>
          <a:p>
            <a:pPr marL="542925" indent="-542925"/>
            <a:r>
              <a:rPr lang="en-US" sz="3200" b="1" dirty="0" smtClean="0">
                <a:solidFill>
                  <a:srgbClr val="FF6600"/>
                </a:solidFill>
                <a:latin typeface="Helvetica" pitchFamily="34" charset="0"/>
              </a:rPr>
              <a:t>4.	Redirect incoming calls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52</a:t>
            </a:fld>
            <a:endParaRPr lang="en-US" dirty="0">
              <a:solidFill>
                <a:schemeClr val="tx1"/>
              </a:solidFill>
              <a:latin typeface="Helvetica" pitchFamily="34" charset="0"/>
            </a:endParaRPr>
          </a:p>
        </p:txBody>
      </p:sp>
      <p:pic>
        <p:nvPicPr>
          <p:cNvPr id="2050" name="Picture 2" descr="http://asiancorrespondent.com/timthumb.php?w=349&amp;h=262&amp;q=75&amp;src=http://asiancorrespondent.com/wp-content/uploads/2011/10/IndiaOutsourcing.jpg"/>
          <p:cNvPicPr>
            <a:picLocks noChangeAspect="1" noChangeArrowheads="1"/>
          </p:cNvPicPr>
          <p:nvPr/>
        </p:nvPicPr>
        <p:blipFill>
          <a:blip r:embed="rId3" cstate="print"/>
          <a:stretch>
            <a:fillRect/>
          </a:stretch>
        </p:blipFill>
        <p:spPr bwMode="auto">
          <a:xfrm>
            <a:off x="1979712" y="1844824"/>
            <a:ext cx="3324225" cy="2370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2800" b="1" dirty="0" smtClean="0">
                <a:solidFill>
                  <a:srgbClr val="FF6600"/>
                </a:solidFill>
                <a:latin typeface="Helvetica" pitchFamily="34" charset="0"/>
              </a:rPr>
              <a:t>Transfer calls as appropriate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968552"/>
          </a:xfrm>
        </p:spPr>
        <p:txBody>
          <a:bodyPr>
            <a:normAutofit/>
          </a:bodyPr>
          <a:lstStyle/>
          <a:p>
            <a:pPr marL="36576" indent="0">
              <a:spcBef>
                <a:spcPts val="600"/>
              </a:spcBef>
              <a:spcAft>
                <a:spcPts val="600"/>
              </a:spcAft>
              <a:buNone/>
            </a:pPr>
            <a:r>
              <a:rPr lang="en-AU" sz="2200" dirty="0">
                <a:latin typeface="Helvetica" pitchFamily="34" charset="0"/>
              </a:rPr>
              <a:t>The procedure to transfer a call is:</a:t>
            </a:r>
          </a:p>
          <a:p>
            <a:pPr lvl="0">
              <a:spcBef>
                <a:spcPts val="600"/>
              </a:spcBef>
              <a:spcAft>
                <a:spcPts val="600"/>
              </a:spcAft>
            </a:pPr>
            <a:r>
              <a:rPr lang="en-AU" sz="2200" dirty="0">
                <a:latin typeface="Helvetica" pitchFamily="34" charset="0"/>
              </a:rPr>
              <a:t>Answer the incoming call according to </a:t>
            </a:r>
            <a:r>
              <a:rPr lang="en-AU" sz="2200" dirty="0" smtClean="0">
                <a:latin typeface="Helvetica" pitchFamily="34" charset="0"/>
              </a:rPr>
              <a:t>venue procedures </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Establish </a:t>
            </a:r>
            <a:r>
              <a:rPr lang="en-AU" sz="2200" dirty="0">
                <a:latin typeface="Helvetica" pitchFamily="34" charset="0"/>
              </a:rPr>
              <a:t>who the call is for</a:t>
            </a: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Thank </a:t>
            </a:r>
            <a:r>
              <a:rPr lang="en-AU" sz="2200" dirty="0">
                <a:latin typeface="Helvetica" pitchFamily="34" charset="0"/>
              </a:rPr>
              <a:t>the caller </a:t>
            </a:r>
            <a:r>
              <a:rPr lang="en-AU" sz="2200" dirty="0" smtClean="0">
                <a:latin typeface="Helvetica" pitchFamily="34" charset="0"/>
              </a:rPr>
              <a:t>and ask the caller if you can </a:t>
            </a:r>
            <a:r>
              <a:rPr lang="en-AU" sz="2200" dirty="0">
                <a:latin typeface="Helvetica" pitchFamily="34" charset="0"/>
              </a:rPr>
              <a:t>transfer </a:t>
            </a:r>
            <a:r>
              <a:rPr lang="en-AU" sz="2200" dirty="0" smtClean="0">
                <a:latin typeface="Helvetica" pitchFamily="34" charset="0"/>
              </a:rPr>
              <a:t>them </a:t>
            </a:r>
          </a:p>
          <a:p>
            <a:pPr lvl="0">
              <a:spcBef>
                <a:spcPts val="600"/>
              </a:spcBef>
              <a:spcAft>
                <a:spcPts val="600"/>
              </a:spcAft>
              <a:buNone/>
            </a:pPr>
            <a:r>
              <a:rPr lang="en-AU"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53</a:t>
            </a:fld>
            <a:endParaRPr lang="en-US" dirty="0">
              <a:solidFill>
                <a:schemeClr val="tx1"/>
              </a:solidFill>
              <a:latin typeface="Helvetica" pitchFamily="34" charset="0"/>
            </a:endParaRPr>
          </a:p>
        </p:txBody>
      </p:sp>
    </p:spTree>
    <p:extLst>
      <p:ext uri="{BB962C8B-B14F-4D97-AF65-F5344CB8AC3E}">
        <p14:creationId xmlns:p14="http://schemas.microsoft.com/office/powerpoint/2010/main" val="29442761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2800" b="1" dirty="0" smtClean="0">
                <a:solidFill>
                  <a:srgbClr val="FF6600"/>
                </a:solidFill>
                <a:latin typeface="Helvetica" pitchFamily="34" charset="0"/>
              </a:rPr>
              <a:t>Transfer calls as appropriate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968552"/>
          </a:xfrm>
        </p:spPr>
        <p:txBody>
          <a:bodyPr>
            <a:normAutofit/>
          </a:bodyPr>
          <a:lstStyle/>
          <a:p>
            <a:pPr lvl="0">
              <a:spcBef>
                <a:spcPts val="600"/>
              </a:spcBef>
              <a:spcAft>
                <a:spcPts val="600"/>
              </a:spcAft>
            </a:pPr>
            <a:r>
              <a:rPr lang="en-AU" sz="2200" dirty="0" smtClean="0">
                <a:latin typeface="Helvetica" pitchFamily="34" charset="0"/>
              </a:rPr>
              <a:t>Explain </a:t>
            </a:r>
            <a:r>
              <a:rPr lang="en-AU" sz="2200" dirty="0">
                <a:latin typeface="Helvetica" pitchFamily="34" charset="0"/>
              </a:rPr>
              <a:t>where </a:t>
            </a:r>
            <a:r>
              <a:rPr lang="en-AU" sz="2200" dirty="0" smtClean="0">
                <a:latin typeface="Helvetica" pitchFamily="34" charset="0"/>
              </a:rPr>
              <a:t>the call is being transferred to</a:t>
            </a:r>
            <a:endParaRPr lang="en-AU" sz="2200" dirty="0">
              <a:latin typeface="Helvetica" pitchFamily="34" charset="0"/>
            </a:endParaRPr>
          </a:p>
          <a:p>
            <a:pPr lvl="0">
              <a:spcBef>
                <a:spcPts val="600"/>
              </a:spcBef>
              <a:spcAft>
                <a:spcPts val="600"/>
              </a:spcAft>
            </a:pP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If </a:t>
            </a:r>
            <a:r>
              <a:rPr lang="en-AU" sz="2200" dirty="0">
                <a:latin typeface="Helvetica" pitchFamily="34" charset="0"/>
              </a:rPr>
              <a:t>the caller </a:t>
            </a:r>
            <a:r>
              <a:rPr lang="en-AU" sz="2200" dirty="0" smtClean="0">
                <a:latin typeface="Helvetica" pitchFamily="34" charset="0"/>
              </a:rPr>
              <a:t>does not </a:t>
            </a:r>
            <a:r>
              <a:rPr lang="en-AU" sz="2200" dirty="0">
                <a:latin typeface="Helvetica" pitchFamily="34" charset="0"/>
              </a:rPr>
              <a:t>want to be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transferred you </a:t>
            </a:r>
            <a:r>
              <a:rPr lang="en-AU" sz="2200" dirty="0">
                <a:latin typeface="Helvetica" pitchFamily="34" charset="0"/>
              </a:rPr>
              <a:t>need to take a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message.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54</a:t>
            </a:fld>
            <a:endParaRPr lang="en-US" dirty="0">
              <a:solidFill>
                <a:schemeClr val="tx1"/>
              </a:solidFill>
              <a:latin typeface="Helvetica" pitchFamily="34" charset="0"/>
            </a:endParaRPr>
          </a:p>
        </p:txBody>
      </p:sp>
      <p:grpSp>
        <p:nvGrpSpPr>
          <p:cNvPr id="7" name="Group 6"/>
          <p:cNvGrpSpPr/>
          <p:nvPr/>
        </p:nvGrpSpPr>
        <p:grpSpPr>
          <a:xfrm>
            <a:off x="5724128" y="1844824"/>
            <a:ext cx="2349197" cy="3185144"/>
            <a:chOff x="5868144" y="1844824"/>
            <a:chExt cx="2349197" cy="3185144"/>
          </a:xfrm>
        </p:grpSpPr>
        <p:pic>
          <p:nvPicPr>
            <p:cNvPr id="6" name="Picture 5" descr="shutterstock_1667886.jpg"/>
            <p:cNvPicPr>
              <a:picLocks noChangeAspect="1"/>
            </p:cNvPicPr>
            <p:nvPr/>
          </p:nvPicPr>
          <p:blipFill>
            <a:blip r:embed="rId3" cstate="print"/>
            <a:stretch>
              <a:fillRect/>
            </a:stretch>
          </p:blipFill>
          <p:spPr>
            <a:xfrm>
              <a:off x="6876256" y="1844824"/>
              <a:ext cx="1341085" cy="1668016"/>
            </a:xfrm>
            <a:prstGeom prst="rect">
              <a:avLst/>
            </a:prstGeom>
          </p:spPr>
        </p:pic>
        <p:pic>
          <p:nvPicPr>
            <p:cNvPr id="5" name="Picture 4" descr="shutterstock_3546245.jpg"/>
            <p:cNvPicPr>
              <a:picLocks noChangeAspect="1"/>
            </p:cNvPicPr>
            <p:nvPr/>
          </p:nvPicPr>
          <p:blipFill>
            <a:blip r:embed="rId4" cstate="print"/>
            <a:stretch>
              <a:fillRect/>
            </a:stretch>
          </p:blipFill>
          <p:spPr>
            <a:xfrm>
              <a:off x="5868144" y="3501008"/>
              <a:ext cx="2292294" cy="1528960"/>
            </a:xfrm>
            <a:prstGeom prst="rect">
              <a:avLst/>
            </a:prstGeom>
          </p:spPr>
        </p:pic>
      </p:grpSp>
    </p:spTree>
    <p:extLst>
      <p:ext uri="{BB962C8B-B14F-4D97-AF65-F5344CB8AC3E}">
        <p14:creationId xmlns:p14="http://schemas.microsoft.com/office/powerpoint/2010/main" val="29442761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2800" b="1" dirty="0" smtClean="0">
                <a:solidFill>
                  <a:srgbClr val="FF6600"/>
                </a:solidFill>
                <a:latin typeface="Helvetica" pitchFamily="34" charset="0"/>
              </a:rPr>
              <a:t>Place calls on hold as appropriate.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576" indent="0">
              <a:spcBef>
                <a:spcPts val="600"/>
              </a:spcBef>
              <a:spcAft>
                <a:spcPts val="600"/>
              </a:spcAft>
              <a:buNone/>
            </a:pPr>
            <a:r>
              <a:rPr lang="en-US" sz="2200" dirty="0">
                <a:latin typeface="Helvetica" pitchFamily="34" charset="0"/>
              </a:rPr>
              <a:t>Placing a call on </a:t>
            </a:r>
            <a:r>
              <a:rPr lang="en-US" sz="2200" dirty="0" smtClean="0">
                <a:latin typeface="Helvetica" pitchFamily="34" charset="0"/>
              </a:rPr>
              <a:t>hold:</a:t>
            </a:r>
            <a:endParaRPr lang="en-AU" sz="2200" dirty="0">
              <a:latin typeface="Helvetica" pitchFamily="34" charset="0"/>
            </a:endParaRPr>
          </a:p>
          <a:p>
            <a:pPr>
              <a:spcBef>
                <a:spcPts val="600"/>
              </a:spcBef>
              <a:spcAft>
                <a:spcPts val="600"/>
              </a:spcAft>
            </a:pPr>
            <a:r>
              <a:rPr lang="en-US" sz="2200" dirty="0">
                <a:latin typeface="Helvetica" pitchFamily="34" charset="0"/>
              </a:rPr>
              <a:t>Calls that need to be placed on hold usually have music or a recorded message to listen </a:t>
            </a:r>
            <a:r>
              <a:rPr lang="en-US" sz="2200" dirty="0" smtClean="0">
                <a:latin typeface="Helvetica" pitchFamily="34" charset="0"/>
              </a:rPr>
              <a:t>to</a:t>
            </a:r>
            <a:endParaRPr lang="en-US" sz="2200" dirty="0">
              <a:latin typeface="Helvetica" pitchFamily="34" charset="0"/>
            </a:endParaRPr>
          </a:p>
          <a:p>
            <a:pPr>
              <a:spcBef>
                <a:spcPts val="600"/>
              </a:spcBef>
              <a:spcAft>
                <a:spcPts val="600"/>
              </a:spcAft>
            </a:pPr>
            <a:r>
              <a:rPr lang="en-US" sz="2200" dirty="0">
                <a:latin typeface="Helvetica" pitchFamily="34" charset="0"/>
              </a:rPr>
              <a:t>Before placing a call on hold, ask the caller’s </a:t>
            </a:r>
            <a:r>
              <a:rPr lang="en-US" sz="2200" dirty="0" smtClean="0">
                <a:latin typeface="Helvetica" pitchFamily="34" charset="0"/>
              </a:rPr>
              <a:t>permission</a:t>
            </a:r>
            <a:endParaRPr lang="en-US" sz="2200" dirty="0">
              <a:latin typeface="Helvetica" pitchFamily="34" charset="0"/>
            </a:endParaRPr>
          </a:p>
          <a:p>
            <a:pPr>
              <a:spcBef>
                <a:spcPts val="600"/>
              </a:spcBef>
              <a:spcAft>
                <a:spcPts val="600"/>
              </a:spcAft>
            </a:pPr>
            <a:r>
              <a:rPr lang="en-US" sz="2200" dirty="0">
                <a:latin typeface="Helvetica" pitchFamily="34" charset="0"/>
              </a:rPr>
              <a:t>Return to the call within 30 seconds and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provide </a:t>
            </a:r>
            <a:r>
              <a:rPr lang="en-US" sz="2200" dirty="0">
                <a:latin typeface="Helvetica" pitchFamily="34" charset="0"/>
              </a:rPr>
              <a:t>an update on the status of their </a:t>
            </a:r>
            <a:r>
              <a:rPr lang="en-US" sz="2200" dirty="0" smtClean="0">
                <a:latin typeface="Helvetica" pitchFamily="34" charset="0"/>
              </a:rPr>
              <a:t>call.</a:t>
            </a:r>
            <a:endParaRPr lang="en-AU" sz="2200" dirty="0">
              <a:latin typeface="Helvetica" pitchFamily="34" charset="0"/>
            </a:endParaRPr>
          </a:p>
          <a:p>
            <a:pPr marL="360000" indent="-360000">
              <a:spcBef>
                <a:spcPts val="600"/>
              </a:spcBef>
              <a:spcAft>
                <a:spcPts val="600"/>
              </a:spcAft>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solidFill>
                  <a:schemeClr val="tx1"/>
                </a:solidFill>
                <a:latin typeface="Helvetica" pitchFamily="34" charset="0"/>
              </a:rPr>
              <a:t>Slide </a:t>
            </a:r>
            <a:fld id="{90BDF71C-F485-43AE-8825-5070AF1EA8C9}" type="slidenum">
              <a:rPr lang="en-US" smtClean="0">
                <a:solidFill>
                  <a:schemeClr val="tx1"/>
                </a:solidFill>
                <a:latin typeface="Helvetica" pitchFamily="34" charset="0"/>
              </a:rPr>
              <a:pPr/>
              <a:t>55</a:t>
            </a:fld>
            <a:endParaRPr lang="en-US" dirty="0">
              <a:solidFill>
                <a:schemeClr val="tx1"/>
              </a:solidFill>
              <a:latin typeface="Helvetica" pitchFamily="34" charset="0"/>
            </a:endParaRPr>
          </a:p>
        </p:txBody>
      </p:sp>
      <p:pic>
        <p:nvPicPr>
          <p:cNvPr id="5" name="Picture 4" descr="c9.jpg"/>
          <p:cNvPicPr>
            <a:picLocks noChangeAspect="1"/>
          </p:cNvPicPr>
          <p:nvPr/>
        </p:nvPicPr>
        <p:blipFill>
          <a:blip r:embed="rId3" cstate="print"/>
          <a:stretch>
            <a:fillRect/>
          </a:stretch>
        </p:blipFill>
        <p:spPr>
          <a:xfrm>
            <a:off x="6516216" y="4005064"/>
            <a:ext cx="1743075" cy="1051167"/>
          </a:xfrm>
          <a:prstGeom prst="rect">
            <a:avLst/>
          </a:prstGeom>
        </p:spPr>
      </p:pic>
    </p:spTree>
    <p:extLst>
      <p:ext uri="{BB962C8B-B14F-4D97-AF65-F5344CB8AC3E}">
        <p14:creationId xmlns:p14="http://schemas.microsoft.com/office/powerpoint/2010/main" val="3196227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2192</TotalTime>
  <Words>6262</Words>
  <Application>Microsoft Office PowerPoint</Application>
  <PresentationFormat>On-screen Show (4:3)</PresentationFormat>
  <Paragraphs>709</Paragraphs>
  <Slides>55</Slides>
  <Notes>55</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ASEAN PPT Template 010611 MV</vt:lpstr>
      <vt:lpstr>Receive and place incoming telephone calls</vt:lpstr>
      <vt:lpstr>1. Identify elements and facilities of the host enterprise telephone system</vt:lpstr>
      <vt:lpstr>Identify the types of incoming calls that may be received and their importance to the business</vt:lpstr>
      <vt:lpstr>Aspects of incoming calls</vt:lpstr>
      <vt:lpstr>Aspects of incoming calls</vt:lpstr>
      <vt:lpstr>Identify the components of the telephone system</vt:lpstr>
      <vt:lpstr>Describe the functions and features available in the telephone system</vt:lpstr>
      <vt:lpstr>Describe the functions and features available in the telephone system</vt:lpstr>
      <vt:lpstr>Class activity</vt:lpstr>
      <vt:lpstr>2. Demonstrate appropriate telephone communication skills</vt:lpstr>
      <vt:lpstr>Interpret the enterprise policies and procedures for telephone use in regard to incoming calls</vt:lpstr>
      <vt:lpstr>Class activity</vt:lpstr>
      <vt:lpstr>Explain the importance of first impressions in relation to telephone answering and the reputation of the business</vt:lpstr>
      <vt:lpstr>Explain the importance of first impressions in relation to telephone answering and the reputation of the business</vt:lpstr>
      <vt:lpstr>Differentiate between face-to-face and over-the-phone communications </vt:lpstr>
      <vt:lpstr>Use the appropriate telephone communication skills</vt:lpstr>
      <vt:lpstr>Use the appropriate telephone communication skills</vt:lpstr>
      <vt:lpstr>Use appropriate telephone techniques.</vt:lpstr>
      <vt:lpstr>Class activity</vt:lpstr>
      <vt:lpstr>Describe acceptable telephone etiquette</vt:lpstr>
      <vt:lpstr>Describe acceptable telephone etiquette</vt:lpstr>
      <vt:lpstr>Describe acceptable telephone etiquette</vt:lpstr>
      <vt:lpstr>Class activity</vt:lpstr>
      <vt:lpstr>Identify common caller complaints about telephoning a business</vt:lpstr>
      <vt:lpstr>Identify common caller complaints about telephoning a business</vt:lpstr>
      <vt:lpstr>Class activity</vt:lpstr>
      <vt:lpstr>Class activity</vt:lpstr>
      <vt:lpstr>3. Receive incoming calls</vt:lpstr>
      <vt:lpstr>Prepare to receive incoming calls</vt:lpstr>
      <vt:lpstr>Prepare to receive incoming calls</vt:lpstr>
      <vt:lpstr>Example of arrival list</vt:lpstr>
      <vt:lpstr>Answer calls promptly in accordance with house standards</vt:lpstr>
      <vt:lpstr>Answer calls promptly in accordance with house standards</vt:lpstr>
      <vt:lpstr>Identify long-distance or international calls</vt:lpstr>
      <vt:lpstr>Identify long-distance or international calls</vt:lpstr>
      <vt:lpstr>Establish the purpose of incoming calls</vt:lpstr>
      <vt:lpstr>Respond to caller requests, where appropriate</vt:lpstr>
      <vt:lpstr>Respond to caller requests, where appropriate</vt:lpstr>
      <vt:lpstr>Respond to caller requests, where appropriate</vt:lpstr>
      <vt:lpstr>Take messages from callers</vt:lpstr>
      <vt:lpstr>Take messages from callers</vt:lpstr>
      <vt:lpstr>Take messages from callers</vt:lpstr>
      <vt:lpstr>Class activity</vt:lpstr>
      <vt:lpstr>Relay messages and follow-up as necessary</vt:lpstr>
      <vt:lpstr>Relay messages and follow-up as necessary</vt:lpstr>
      <vt:lpstr>Facilitate conference calls</vt:lpstr>
      <vt:lpstr>Deal with suspicious or threatening callers</vt:lpstr>
      <vt:lpstr>PowerPoint Presentation</vt:lpstr>
      <vt:lpstr>PowerPoint Presentation</vt:lpstr>
      <vt:lpstr>Manage difficult callers</vt:lpstr>
      <vt:lpstr>Prepare voicemail messages and background music</vt:lpstr>
      <vt:lpstr>4. Redirect incoming calls</vt:lpstr>
      <vt:lpstr>Transfer calls as appropriate</vt:lpstr>
      <vt:lpstr>Transfer calls as appropriate</vt:lpstr>
      <vt:lpstr>Place calls on hold as appropriate.</vt:lpstr>
    </vt:vector>
  </TitlesOfParts>
  <Company>William Angliss Institute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 INFORMATION ABOUT IN-HOUSE SERVICES</dc:title>
  <dc:creator>Administrator</dc:creator>
  <cp:lastModifiedBy>Kaly Quach</cp:lastModifiedBy>
  <cp:revision>136</cp:revision>
  <dcterms:created xsi:type="dcterms:W3CDTF">2012-03-30T05:53:58Z</dcterms:created>
  <dcterms:modified xsi:type="dcterms:W3CDTF">2014-01-23T06:17:21Z</dcterms:modified>
</cp:coreProperties>
</file>