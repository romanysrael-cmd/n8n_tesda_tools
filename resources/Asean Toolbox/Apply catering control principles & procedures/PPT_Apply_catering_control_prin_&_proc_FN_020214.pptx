
<file path=[Content_Types].xml><?xml version="1.0" encoding="utf-8"?>
<Types xmlns="http://schemas.openxmlformats.org/package/2006/content-types">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1"/>
  </p:notesMasterIdLst>
  <p:handoutMasterIdLst>
    <p:handoutMasterId r:id="rId22"/>
  </p:handoutMasterIdLst>
  <p:sldIdLst>
    <p:sldId id="256" r:id="rId2"/>
    <p:sldId id="257" r:id="rId3"/>
    <p:sldId id="264" r:id="rId4"/>
    <p:sldId id="265" r:id="rId5"/>
    <p:sldId id="266" r:id="rId6"/>
    <p:sldId id="275" r:id="rId7"/>
    <p:sldId id="276" r:id="rId8"/>
    <p:sldId id="268" r:id="rId9"/>
    <p:sldId id="277" r:id="rId10"/>
    <p:sldId id="269" r:id="rId11"/>
    <p:sldId id="270" r:id="rId12"/>
    <p:sldId id="279" r:id="rId13"/>
    <p:sldId id="280" r:id="rId14"/>
    <p:sldId id="271" r:id="rId15"/>
    <p:sldId id="278" r:id="rId16"/>
    <p:sldId id="267" r:id="rId17"/>
    <p:sldId id="272" r:id="rId18"/>
    <p:sldId id="273" r:id="rId19"/>
    <p:sldId id="274" r:id="rId20"/>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83" autoAdjust="0"/>
    <p:restoredTop sz="68864" autoAdjust="0"/>
  </p:normalViewPr>
  <p:slideViewPr>
    <p:cSldViewPr>
      <p:cViewPr varScale="1">
        <p:scale>
          <a:sx n="63" d="100"/>
          <a:sy n="63" d="100"/>
        </p:scale>
        <p:origin x="201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3/11/2015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2401317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3/11/2015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2479439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to welcome students to the class</a:t>
            </a:r>
          </a:p>
          <a:p>
            <a:endParaRPr lang="en-US" dirty="0" smtClean="0"/>
          </a:p>
          <a:p>
            <a:r>
              <a:rPr lang="en-US" dirty="0" smtClean="0"/>
              <a:t>Introduce self and</a:t>
            </a:r>
            <a:r>
              <a:rPr lang="en-US" baseline="0" dirty="0" smtClean="0"/>
              <a:t> state qualification to teach this unit</a:t>
            </a:r>
          </a:p>
          <a:p>
            <a:r>
              <a:rPr lang="en-US" baseline="0" dirty="0" smtClean="0"/>
              <a:t>Give overview of qualifications and describe industry experience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645802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r>
              <a:rPr lang="en-US" dirty="0" smtClean="0"/>
              <a:t>Trainer</a:t>
            </a:r>
            <a:r>
              <a:rPr lang="en-US" baseline="0" dirty="0" smtClean="0"/>
              <a:t> advises students that assessment for this Unit may take several forms all of which are aimed at verifying they have achieved competency for the Unit as required.</a:t>
            </a:r>
          </a:p>
          <a:p>
            <a:endParaRPr lang="en-US" baseline="0" dirty="0" smtClean="0"/>
          </a:p>
          <a:p>
            <a:r>
              <a:rPr lang="en-US" baseline="0" dirty="0" smtClean="0"/>
              <a:t>Trainer indicates to students the methods of assessment that will be applied to them for this Unit. </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1785979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endParaRPr lang="en-US" dirty="0" smtClean="0"/>
          </a:p>
          <a:p>
            <a:r>
              <a:rPr lang="en-US" dirty="0" smtClean="0"/>
              <a:t>Trainer advises students this Unit comprises two elements, as listed on the slide explaining:</a:t>
            </a:r>
          </a:p>
          <a:p>
            <a:endParaRPr lang="en-US" dirty="0" smtClean="0"/>
          </a:p>
          <a:p>
            <a:pPr>
              <a:buFont typeface="Arial" pitchFamily="34" charset="0"/>
              <a:buChar char="•"/>
            </a:pPr>
            <a:r>
              <a:rPr lang="en-US" dirty="0" smtClean="0"/>
              <a:t> Each Element comprises a number of Performance Criteria which will be identified throughout the class and explained in detail</a:t>
            </a:r>
          </a:p>
          <a:p>
            <a:pPr>
              <a:buFont typeface="Arial" pitchFamily="34" charset="0"/>
              <a:buChar char="•"/>
            </a:pPr>
            <a:r>
              <a:rPr lang="en-US" dirty="0" smtClean="0"/>
              <a:t> Students can obtain more detail from their Trainee Manual</a:t>
            </a:r>
          </a:p>
          <a:p>
            <a:pPr>
              <a:buFont typeface="Arial" pitchFamily="34" charset="0"/>
              <a:buChar char="•"/>
            </a:pPr>
            <a:r>
              <a:rPr lang="en-US" dirty="0" smtClean="0"/>
              <a:t> The course presents advice and information but where their workplace requirements differ to what is presented, the workplace practices and standards must be observed.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1801477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endParaRPr lang="en-US" dirty="0" smtClean="0"/>
          </a:p>
          <a:p>
            <a:pPr>
              <a:buFontTx/>
              <a:buNone/>
            </a:pPr>
            <a:r>
              <a:rPr lang="en-US" b="0" dirty="0" smtClean="0"/>
              <a:t>Trainer to relate performance criteria to element 1</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Apply catering control principles and procedures </a:t>
            </a:r>
            <a:r>
              <a:rPr lang="en-US" b="0" baseline="0" dirty="0" smtClean="0"/>
              <a:t>the students must be able to; </a:t>
            </a:r>
            <a:r>
              <a:rPr lang="en-US" b="1" baseline="0" dirty="0" smtClean="0"/>
              <a:t>Apply catering control principles and procedures</a:t>
            </a:r>
          </a:p>
          <a:p>
            <a:pPr>
              <a:buFont typeface="Arial" pitchFamily="34" charset="0"/>
              <a:buNone/>
            </a:pPr>
            <a:r>
              <a:rPr lang="en-US" b="1" baseline="0" dirty="0" smtClean="0"/>
              <a:t>The student should be able to </a:t>
            </a:r>
          </a:p>
          <a:p>
            <a:pPr lvl="1"/>
            <a:r>
              <a:rPr lang="en-AU" sz="1200" kern="1200" dirty="0" smtClean="0">
                <a:solidFill>
                  <a:schemeClr val="tx1"/>
                </a:solidFill>
                <a:ea typeface="+mn-ea"/>
                <a:cs typeface="+mn-cs"/>
              </a:rPr>
              <a:t>Identify the </a:t>
            </a:r>
            <a:r>
              <a:rPr lang="en-AU" sz="1200" i="1" kern="1200" dirty="0" smtClean="0">
                <a:solidFill>
                  <a:schemeClr val="tx1"/>
                </a:solidFill>
                <a:ea typeface="+mn-ea"/>
                <a:cs typeface="+mn-cs"/>
              </a:rPr>
              <a:t>range of catering products</a:t>
            </a:r>
            <a:r>
              <a:rPr lang="en-AU" sz="1200" b="1" kern="1200" dirty="0" smtClean="0">
                <a:solidFill>
                  <a:schemeClr val="tx1"/>
                </a:solidFill>
                <a:ea typeface="+mn-ea"/>
                <a:cs typeface="+mn-cs"/>
              </a:rPr>
              <a:t> </a:t>
            </a:r>
            <a:r>
              <a:rPr lang="en-AU" sz="1200" kern="1200" dirty="0" smtClean="0">
                <a:solidFill>
                  <a:schemeClr val="tx1"/>
                </a:solidFill>
                <a:ea typeface="+mn-ea"/>
                <a:cs typeface="+mn-cs"/>
              </a:rPr>
              <a:t>used within the enterprise  </a:t>
            </a:r>
          </a:p>
          <a:p>
            <a:pPr lvl="1"/>
            <a:r>
              <a:rPr lang="en-AU" sz="1200" kern="1200" dirty="0" smtClean="0">
                <a:solidFill>
                  <a:schemeClr val="tx1"/>
                </a:solidFill>
                <a:ea typeface="+mn-ea"/>
                <a:cs typeface="+mn-cs"/>
              </a:rPr>
              <a:t>Use</a:t>
            </a:r>
            <a:r>
              <a:rPr lang="en-AU" sz="1200" i="1" kern="1200" dirty="0" smtClean="0">
                <a:solidFill>
                  <a:schemeClr val="tx1"/>
                </a:solidFill>
                <a:ea typeface="+mn-ea"/>
                <a:cs typeface="+mn-cs"/>
              </a:rPr>
              <a:t> requisition/portion control</a:t>
            </a:r>
            <a:r>
              <a:rPr lang="en-AU" sz="1200" b="1" i="1" kern="1200" dirty="0" smtClean="0">
                <a:solidFill>
                  <a:schemeClr val="tx1"/>
                </a:solidFill>
                <a:ea typeface="+mn-ea"/>
                <a:cs typeface="+mn-cs"/>
              </a:rPr>
              <a:t> </a:t>
            </a:r>
            <a:r>
              <a:rPr lang="en-AU" sz="1200" kern="1200" dirty="0" smtClean="0">
                <a:solidFill>
                  <a:schemeClr val="tx1"/>
                </a:solidFill>
                <a:ea typeface="+mn-ea"/>
                <a:cs typeface="+mn-cs"/>
              </a:rPr>
              <a:t>effectively</a:t>
            </a:r>
          </a:p>
          <a:p>
            <a:pPr lvl="1"/>
            <a:r>
              <a:rPr lang="en-AU" sz="1200" kern="1200" dirty="0" smtClean="0">
                <a:solidFill>
                  <a:schemeClr val="tx1"/>
                </a:solidFill>
                <a:ea typeface="+mn-ea"/>
                <a:cs typeface="+mn-cs"/>
              </a:rPr>
              <a:t>Use </a:t>
            </a:r>
            <a:r>
              <a:rPr lang="en-AU" sz="1200" i="1" kern="1200" dirty="0" smtClean="0">
                <a:solidFill>
                  <a:schemeClr val="tx1"/>
                </a:solidFill>
                <a:ea typeface="+mn-ea"/>
                <a:cs typeface="+mn-cs"/>
              </a:rPr>
              <a:t>standard recipes</a:t>
            </a:r>
            <a:r>
              <a:rPr lang="en-AU" sz="1200" kern="1200" dirty="0" smtClean="0">
                <a:solidFill>
                  <a:schemeClr val="tx1"/>
                </a:solidFill>
                <a:ea typeface="+mn-ea"/>
                <a:cs typeface="+mn-cs"/>
              </a:rPr>
              <a:t> correctly </a:t>
            </a:r>
          </a:p>
          <a:p>
            <a:pPr lvl="1"/>
            <a:r>
              <a:rPr lang="en-AU" sz="1200" kern="1200" dirty="0" smtClean="0">
                <a:solidFill>
                  <a:schemeClr val="tx1"/>
                </a:solidFill>
                <a:ea typeface="+mn-ea"/>
                <a:cs typeface="+mn-cs"/>
              </a:rPr>
              <a:t>Implement</a:t>
            </a:r>
            <a:r>
              <a:rPr lang="en-AU" sz="1200" i="1" kern="1200" dirty="0" smtClean="0">
                <a:solidFill>
                  <a:schemeClr val="tx1"/>
                </a:solidFill>
                <a:ea typeface="+mn-ea"/>
                <a:cs typeface="+mn-cs"/>
              </a:rPr>
              <a:t> ordering</a:t>
            </a:r>
            <a:r>
              <a:rPr lang="en-AU" sz="1200" kern="1200" dirty="0" smtClean="0">
                <a:solidFill>
                  <a:schemeClr val="tx1"/>
                </a:solidFill>
                <a:ea typeface="+mn-ea"/>
                <a:cs typeface="+mn-cs"/>
              </a:rPr>
              <a:t> and stock rotation practices </a:t>
            </a:r>
          </a:p>
          <a:p>
            <a:pPr lvl="1"/>
            <a:r>
              <a:rPr lang="en-AU" sz="1200" kern="1200" dirty="0" smtClean="0">
                <a:solidFill>
                  <a:schemeClr val="tx1"/>
                </a:solidFill>
                <a:ea typeface="+mn-ea"/>
                <a:cs typeface="+mn-cs"/>
              </a:rPr>
              <a:t>Use optimum </a:t>
            </a:r>
            <a:r>
              <a:rPr lang="en-AU" sz="1200" i="1" kern="1200" dirty="0" smtClean="0">
                <a:solidFill>
                  <a:schemeClr val="tx1"/>
                </a:solidFill>
                <a:ea typeface="+mn-ea"/>
                <a:cs typeface="+mn-cs"/>
              </a:rPr>
              <a:t>storage</a:t>
            </a:r>
            <a:r>
              <a:rPr lang="en-AU" sz="1200" kern="1200" dirty="0" smtClean="0">
                <a:solidFill>
                  <a:schemeClr val="tx1"/>
                </a:solidFill>
                <a:ea typeface="+mn-ea"/>
                <a:cs typeface="+mn-cs"/>
              </a:rPr>
              <a:t> conditions </a:t>
            </a:r>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2595815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endParaRPr lang="en-US" dirty="0" smtClean="0"/>
          </a:p>
          <a:p>
            <a:r>
              <a:rPr lang="en-US" dirty="0" smtClean="0"/>
              <a:t>Catering enterprises need to have more than food to operate a business</a:t>
            </a:r>
          </a:p>
          <a:p>
            <a:endParaRPr lang="en-US" dirty="0" smtClean="0"/>
          </a:p>
          <a:p>
            <a:r>
              <a:rPr lang="en-US" dirty="0" smtClean="0"/>
              <a:t>A place for</a:t>
            </a:r>
            <a:r>
              <a:rPr lang="en-US" baseline="0" dirty="0" smtClean="0"/>
              <a:t> preparing the product: Kitchen</a:t>
            </a:r>
          </a:p>
          <a:p>
            <a:r>
              <a:rPr lang="en-US" baseline="0" dirty="0" smtClean="0"/>
              <a:t>A place for selling the product made: Restaurant or outside eating area</a:t>
            </a:r>
          </a:p>
          <a:p>
            <a:endParaRPr lang="en-US" baseline="0" dirty="0" smtClean="0"/>
          </a:p>
          <a:p>
            <a:r>
              <a:rPr lang="en-US" baseline="0" dirty="0" smtClean="0"/>
              <a:t>Also required food; paper and plastic goods; cleaning chemicals; equipment both in kitchen, front of house and also cleaning and garbage disposal for both areas.</a:t>
            </a:r>
          </a:p>
          <a:p>
            <a:endParaRPr lang="en-US" baseline="0" dirty="0" smtClean="0"/>
          </a:p>
          <a:p>
            <a:r>
              <a:rPr lang="en-US" dirty="0" smtClean="0"/>
              <a:t>Many resources are in the area of added on costs. Consumables like serviettes and take away coffee cups, cleaning chemicals, plastic wrap and aluminum</a:t>
            </a:r>
            <a:r>
              <a:rPr lang="en-US" baseline="0" dirty="0" smtClean="0"/>
              <a:t> </a:t>
            </a:r>
            <a:r>
              <a:rPr lang="en-US" dirty="0" smtClean="0"/>
              <a:t>foil.</a:t>
            </a:r>
          </a:p>
          <a:p>
            <a:endParaRPr lang="en-US" dirty="0" smtClean="0"/>
          </a:p>
          <a:p>
            <a:r>
              <a:rPr lang="en-US" dirty="0" smtClean="0"/>
              <a:t>All costs need to be looked at and accounted.</a:t>
            </a:r>
            <a:r>
              <a:rPr lang="en-US" baseline="0" dirty="0" smtClean="0"/>
              <a:t> Electricity and gas. How much does it cost to operate a freezer?</a:t>
            </a:r>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7005447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endParaRPr lang="en-US" dirty="0" smtClean="0"/>
          </a:p>
          <a:p>
            <a:r>
              <a:rPr lang="en-US" dirty="0" smtClean="0"/>
              <a:t>The amount of food in a recipe may be the amount required.</a:t>
            </a:r>
          </a:p>
          <a:p>
            <a:r>
              <a:rPr lang="en-US" dirty="0" smtClean="0"/>
              <a:t>After peeling and trimming 1 kilo of carrot and cutting to size; do you have 1 kilo of carrot left? NO!</a:t>
            </a:r>
          </a:p>
          <a:p>
            <a:r>
              <a:rPr lang="en-US" dirty="0" smtClean="0"/>
              <a:t>What</a:t>
            </a:r>
            <a:r>
              <a:rPr lang="en-US" baseline="0" dirty="0" smtClean="0"/>
              <a:t> is the true cost of the carrot being used. There is usually 8-10% weight loss when cleaning and peeling carrots.</a:t>
            </a:r>
          </a:p>
          <a:p>
            <a:r>
              <a:rPr lang="en-US" baseline="0" dirty="0" smtClean="0"/>
              <a:t>So the remaining carrot may only be 900gm. After cutting to size you may be left with 750 gm</a:t>
            </a:r>
          </a:p>
          <a:p>
            <a:endParaRPr lang="en-US" baseline="0" dirty="0" smtClean="0"/>
          </a:p>
          <a:p>
            <a:r>
              <a:rPr lang="en-US" baseline="0" dirty="0" smtClean="0"/>
              <a:t>750 gm of carrot cut to specific size result in a change of cost for the amount of usable carrot.</a:t>
            </a:r>
          </a:p>
          <a:p>
            <a:endParaRPr lang="en-US" baseline="0" dirty="0" smtClean="0"/>
          </a:p>
          <a:p>
            <a:r>
              <a:rPr lang="en-US" baseline="0" dirty="0" smtClean="0"/>
              <a:t>If the carrots were purchased for $2.50 a kilo then peeled, cleaned and trimmed and the resulting end weight is 750gm, this then make the prepared carrots worth $3.34 per kilo. This does not include the cost of the labour to prepare the carrots.</a:t>
            </a:r>
          </a:p>
          <a:p>
            <a:r>
              <a:rPr lang="en-US" baseline="0" dirty="0" smtClean="0"/>
              <a:t>Just the cost of the carrots.</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3461602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endParaRPr lang="en-US" dirty="0" smtClean="0"/>
          </a:p>
          <a:p>
            <a:r>
              <a:rPr lang="en-US" dirty="0" smtClean="0"/>
              <a:t>The amount of</a:t>
            </a:r>
            <a:r>
              <a:rPr lang="en-US" baseline="0" dirty="0" smtClean="0"/>
              <a:t> consumables required is hard to measure but the cost of supplying can be a significant amount when working in larger premises.</a:t>
            </a:r>
          </a:p>
          <a:p>
            <a:endParaRPr lang="en-US" baseline="0" dirty="0" smtClean="0"/>
          </a:p>
          <a:p>
            <a:r>
              <a:rPr lang="en-US" baseline="0" dirty="0" smtClean="0"/>
              <a:t>Usage needs to be accounted against the amount revenue that is taken from the production from that area of use.</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1566870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r>
              <a:rPr lang="en-US" dirty="0" smtClean="0"/>
              <a:t>Ordering food</a:t>
            </a:r>
            <a:r>
              <a:rPr lang="en-US" baseline="0" dirty="0" smtClean="0"/>
              <a:t> for a catering establishments is difficult. It is not a perfect science.</a:t>
            </a:r>
          </a:p>
          <a:p>
            <a:endParaRPr lang="en-US" baseline="0" dirty="0" smtClean="0"/>
          </a:p>
          <a:p>
            <a:r>
              <a:rPr lang="en-US" baseline="0" dirty="0" smtClean="0"/>
              <a:t>You can have a Standard recipe that states a set amount of food BUT??</a:t>
            </a:r>
          </a:p>
          <a:p>
            <a:endParaRPr lang="en-US" baseline="0" dirty="0" smtClean="0"/>
          </a:p>
          <a:p>
            <a:r>
              <a:rPr lang="en-US" baseline="0" dirty="0" smtClean="0"/>
              <a:t>The BUTs is about replacing food that is </a:t>
            </a:r>
          </a:p>
          <a:p>
            <a:r>
              <a:rPr lang="en-US" baseline="0" dirty="0" smtClean="0"/>
              <a:t>Ruined before it is cooked</a:t>
            </a:r>
          </a:p>
          <a:p>
            <a:r>
              <a:rPr lang="en-US" baseline="0" dirty="0" smtClean="0"/>
              <a:t>Burnt in the cooking process</a:t>
            </a:r>
          </a:p>
          <a:p>
            <a:r>
              <a:rPr lang="en-US" baseline="0" dirty="0" smtClean="0"/>
              <a:t>Plate of food is dropped before it is served to the customer</a:t>
            </a:r>
          </a:p>
          <a:p>
            <a:endParaRPr lang="en-US" baseline="0" dirty="0" smtClean="0"/>
          </a:p>
          <a:p>
            <a:r>
              <a:rPr lang="en-US" baseline="0" dirty="0" smtClean="0"/>
              <a:t>Many things may cause the amount of food that is in the Standard Recipe to be incorrect; there is a shortfall.</a:t>
            </a:r>
          </a:p>
          <a:p>
            <a:endParaRPr lang="en-US" baseline="0" dirty="0" smtClean="0"/>
          </a:p>
          <a:p>
            <a:r>
              <a:rPr lang="en-US" baseline="0" dirty="0" smtClean="0"/>
              <a:t>Number 1 rule: never run out of food until the last customer is served</a:t>
            </a:r>
          </a:p>
          <a:p>
            <a:endParaRPr lang="en-US" baseline="0" dirty="0" smtClean="0"/>
          </a:p>
          <a:p>
            <a:r>
              <a:rPr lang="en-US" baseline="0" dirty="0" smtClean="0"/>
              <a:t>So standard practice may be for 50 people order enough food for 55 plates</a:t>
            </a:r>
          </a:p>
          <a:p>
            <a:endParaRPr lang="en-US" baseline="0" dirty="0" smtClean="0"/>
          </a:p>
          <a:p>
            <a:r>
              <a:rPr lang="en-US" baseline="0" dirty="0" smtClean="0"/>
              <a:t>200 people:? Order enough food for 215 plates</a:t>
            </a:r>
          </a:p>
          <a:p>
            <a:endParaRPr lang="en-US" baseline="0" dirty="0" smtClean="0"/>
          </a:p>
          <a:p>
            <a:r>
              <a:rPr lang="en-US" baseline="0" dirty="0" smtClean="0"/>
              <a:t>The costs for this fail safe process would allow for the extra food costs</a:t>
            </a:r>
          </a:p>
          <a:p>
            <a:endParaRPr lang="en-US" baseline="0" dirty="0" smtClean="0"/>
          </a:p>
          <a:p>
            <a:r>
              <a:rPr lang="en-US" baseline="0" dirty="0" smtClean="0"/>
              <a:t>In a la carte restaurant service it is more the case when food for a particular dish is no longer available then it is taken off the menu. At least these customers will have alternative dishes to choose from.</a:t>
            </a:r>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2186301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r>
              <a:rPr lang="en-US" dirty="0" smtClean="0"/>
              <a:t>Ordering food</a:t>
            </a:r>
            <a:r>
              <a:rPr lang="en-US" baseline="0" dirty="0" smtClean="0"/>
              <a:t> for a catering establishments is difficult. It is not a perfect science.</a:t>
            </a:r>
          </a:p>
          <a:p>
            <a:endParaRPr lang="en-US" baseline="0" dirty="0" smtClean="0"/>
          </a:p>
          <a:p>
            <a:r>
              <a:rPr lang="en-US" baseline="0" dirty="0" smtClean="0"/>
              <a:t>When ordering foods for menu item production it is generally a case of purchasing an amount of produce and obtaining maximum number of meals from that amount purchased.</a:t>
            </a:r>
          </a:p>
          <a:p>
            <a:endParaRPr lang="en-US" baseline="0" dirty="0" smtClean="0"/>
          </a:p>
          <a:p>
            <a:r>
              <a:rPr lang="en-US" baseline="0" dirty="0" smtClean="0"/>
              <a:t>Customers get upset if </a:t>
            </a:r>
          </a:p>
          <a:p>
            <a:pPr>
              <a:buFont typeface="Arial" pitchFamily="34" charset="0"/>
              <a:buChar char="•"/>
            </a:pPr>
            <a:r>
              <a:rPr lang="en-US" baseline="0" dirty="0" smtClean="0"/>
              <a:t>the portions are not all the same size</a:t>
            </a:r>
          </a:p>
          <a:p>
            <a:pPr>
              <a:buFont typeface="Arial" pitchFamily="34" charset="0"/>
              <a:buChar char="•"/>
            </a:pPr>
            <a:r>
              <a:rPr lang="en-US" baseline="0" dirty="0" smtClean="0"/>
              <a:t>It does not taste the same as it did the last time they ate at your establishment</a:t>
            </a:r>
          </a:p>
          <a:p>
            <a:pPr>
              <a:buFont typeface="Arial" pitchFamily="34" charset="0"/>
              <a:buChar char="•"/>
            </a:pPr>
            <a:r>
              <a:rPr lang="en-US" baseline="0" dirty="0" smtClean="0"/>
              <a:t>Your establishment charges more than the competition</a:t>
            </a:r>
          </a:p>
          <a:p>
            <a:endParaRPr lang="en-US" baseline="0" dirty="0" smtClean="0"/>
          </a:p>
          <a:p>
            <a:r>
              <a:rPr lang="en-US" baseline="0" dirty="0" smtClean="0"/>
              <a:t>In all production situations there needs to be allowances made for mishaps and accidents.</a:t>
            </a:r>
          </a:p>
          <a:p>
            <a:endParaRPr lang="en-US" baseline="0" dirty="0" smtClean="0"/>
          </a:p>
          <a:p>
            <a:r>
              <a:rPr lang="en-US" baseline="0" dirty="0" smtClean="0"/>
              <a:t>Good management has these safeguards built in and manages to maximise returns with minimal losses.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30895553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endParaRPr lang="en-US" dirty="0" smtClean="0"/>
          </a:p>
          <a:p>
            <a:r>
              <a:rPr lang="en-US" dirty="0" smtClean="0"/>
              <a:t>Following Standard recipes has built it safe guards</a:t>
            </a:r>
          </a:p>
          <a:p>
            <a:endParaRPr lang="en-US" dirty="0" smtClean="0"/>
          </a:p>
          <a:p>
            <a:r>
              <a:rPr lang="en-US" dirty="0" smtClean="0"/>
              <a:t>Required yields will have a built in reserve</a:t>
            </a:r>
          </a:p>
          <a:p>
            <a:r>
              <a:rPr lang="en-US" dirty="0" smtClean="0"/>
              <a:t>Yield will have built in safe guards</a:t>
            </a:r>
          </a:p>
          <a:p>
            <a:endParaRPr lang="en-US" dirty="0" smtClean="0"/>
          </a:p>
          <a:p>
            <a:r>
              <a:rPr lang="en-US" dirty="0" smtClean="0"/>
              <a:t>The safe guards will be: </a:t>
            </a:r>
          </a:p>
          <a:p>
            <a:pPr lvl="1">
              <a:buFont typeface="Arial" pitchFamily="34" charset="0"/>
              <a:buChar char="•"/>
            </a:pPr>
            <a:r>
              <a:rPr lang="en-US" dirty="0" smtClean="0"/>
              <a:t>Will all people trim</a:t>
            </a:r>
            <a:r>
              <a:rPr lang="en-US" baseline="0" dirty="0" smtClean="0"/>
              <a:t> and peel the same amount?</a:t>
            </a:r>
          </a:p>
          <a:p>
            <a:pPr lvl="1">
              <a:buFont typeface="Arial" pitchFamily="34" charset="0"/>
              <a:buChar char="•"/>
            </a:pPr>
            <a:r>
              <a:rPr lang="en-US" baseline="0" dirty="0" smtClean="0"/>
              <a:t>Will they all have the same skill base?</a:t>
            </a:r>
          </a:p>
          <a:p>
            <a:pPr lvl="1">
              <a:buFont typeface="Arial" pitchFamily="34" charset="0"/>
              <a:buChar char="•"/>
            </a:pPr>
            <a:r>
              <a:rPr lang="en-US" baseline="0" dirty="0" smtClean="0"/>
              <a:t>What will be the break even point of multiple people producing the recipe to equal the same result?</a:t>
            </a:r>
          </a:p>
          <a:p>
            <a:endParaRPr lang="en-US" baseline="0" dirty="0" smtClean="0"/>
          </a:p>
          <a:p>
            <a:r>
              <a:rPr lang="en-US" dirty="0" smtClean="0"/>
              <a:t>If a good cook has</a:t>
            </a:r>
            <a:r>
              <a:rPr lang="en-US" baseline="0" dirty="0" smtClean="0"/>
              <a:t> a  8% wastage what will  an average cook have when they clean meat from carcass 12%</a:t>
            </a:r>
          </a:p>
          <a:p>
            <a:endParaRPr lang="en-US" baseline="0" dirty="0" smtClean="0"/>
          </a:p>
          <a:p>
            <a:endParaRPr lang="en-US" baseline="0" dirty="0" smtClean="0"/>
          </a:p>
          <a:p>
            <a:r>
              <a:rPr lang="en-US" baseline="0" dirty="0" smtClean="0"/>
              <a:t>If 10 people did the same job, what is the end result.</a:t>
            </a:r>
          </a:p>
          <a:p>
            <a:endParaRPr lang="en-US" baseline="0" dirty="0" smtClean="0"/>
          </a:p>
          <a:p>
            <a:r>
              <a:rPr lang="en-US" baseline="0" dirty="0" smtClean="0"/>
              <a:t>Do they all get the same yield; 10 serves at 150gm each serve??????</a:t>
            </a:r>
          </a:p>
          <a:p>
            <a:endParaRPr lang="en-US" baseline="0" dirty="0" smtClean="0"/>
          </a:p>
          <a:p>
            <a:r>
              <a:rPr lang="en-US" baseline="0" dirty="0" smtClean="0"/>
              <a:t>All these safe guards need to be built into a Standard Recipe.</a:t>
            </a:r>
          </a:p>
          <a:p>
            <a:endParaRPr lang="en-US" baseline="0" dirty="0" smtClean="0"/>
          </a:p>
          <a:p>
            <a:r>
              <a:rPr lang="en-US" baseline="0" dirty="0" smtClean="0"/>
              <a:t>Also how much have the prices changed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2194066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endParaRPr lang="en-US" dirty="0" smtClean="0"/>
          </a:p>
          <a:p>
            <a:r>
              <a:rPr lang="en-US" dirty="0" smtClean="0"/>
              <a:t>Determining how much stock to order</a:t>
            </a:r>
            <a:r>
              <a:rPr lang="en-US" baseline="0" dirty="0" smtClean="0"/>
              <a:t> is simple</a:t>
            </a:r>
          </a:p>
          <a:p>
            <a:endParaRPr lang="en-US" baseline="0" dirty="0" smtClean="0"/>
          </a:p>
          <a:p>
            <a:r>
              <a:rPr lang="en-US" baseline="0" dirty="0" smtClean="0"/>
              <a:t>Standard recipes will produce a set amount of sauce or end product</a:t>
            </a:r>
          </a:p>
          <a:p>
            <a:endParaRPr lang="en-US" baseline="0" dirty="0" smtClean="0"/>
          </a:p>
          <a:p>
            <a:r>
              <a:rPr lang="en-US" baseline="0" dirty="0" smtClean="0"/>
              <a:t>Remember: it is not just the Bolognese sauce that is required for the menu item</a:t>
            </a:r>
          </a:p>
          <a:p>
            <a:endParaRPr lang="en-US" baseline="0" dirty="0" smtClean="0"/>
          </a:p>
          <a:p>
            <a:r>
              <a:rPr lang="en-US" baseline="0" dirty="0" smtClean="0"/>
              <a:t>What else??</a:t>
            </a:r>
          </a:p>
          <a:p>
            <a:pPr>
              <a:buFont typeface="Arial" pitchFamily="34" charset="0"/>
              <a:buChar char="•"/>
            </a:pPr>
            <a:r>
              <a:rPr lang="en-US" baseline="0" dirty="0" smtClean="0"/>
              <a:t>Chopped parsley for garnish</a:t>
            </a:r>
          </a:p>
          <a:p>
            <a:pPr>
              <a:buFont typeface="Arial" pitchFamily="34" charset="0"/>
              <a:buChar char="•"/>
            </a:pPr>
            <a:r>
              <a:rPr lang="en-US" baseline="0" dirty="0" smtClean="0"/>
              <a:t>Parmesan cheese</a:t>
            </a:r>
          </a:p>
          <a:p>
            <a:pPr>
              <a:buFont typeface="Arial" pitchFamily="34" charset="0"/>
              <a:buChar char="•"/>
            </a:pPr>
            <a:r>
              <a:rPr lang="en-US" baseline="0" dirty="0" smtClean="0"/>
              <a:t>Pasta</a:t>
            </a:r>
          </a:p>
          <a:p>
            <a:r>
              <a:rPr lang="en-US" dirty="0" smtClean="0"/>
              <a:t>Think of everything</a:t>
            </a:r>
          </a:p>
          <a:p>
            <a:endParaRPr lang="en-US" dirty="0" smtClean="0"/>
          </a:p>
          <a:p>
            <a:r>
              <a:rPr lang="en-US" dirty="0" smtClean="0"/>
              <a:t>Will it be take away or eat in?</a:t>
            </a:r>
          </a:p>
          <a:p>
            <a:pPr>
              <a:buFont typeface="Arial" pitchFamily="34" charset="0"/>
              <a:buChar char="•"/>
            </a:pPr>
            <a:r>
              <a:rPr lang="en-US" dirty="0" smtClean="0"/>
              <a:t>Paper serviettes</a:t>
            </a:r>
          </a:p>
          <a:p>
            <a:pPr>
              <a:buFont typeface="Arial" pitchFamily="34" charset="0"/>
              <a:buChar char="•"/>
            </a:pPr>
            <a:r>
              <a:rPr lang="en-US" dirty="0" smtClean="0"/>
              <a:t>Spoon and fork</a:t>
            </a:r>
          </a:p>
          <a:p>
            <a:pPr>
              <a:buFont typeface="Arial" pitchFamily="34" charset="0"/>
              <a:buChar char="•"/>
            </a:pPr>
            <a:r>
              <a:rPr lang="en-US" dirty="0" smtClean="0"/>
              <a:t>Container to take product away</a:t>
            </a:r>
          </a:p>
          <a:p>
            <a:pPr>
              <a:buFont typeface="Arial" pitchFamily="34" charset="0"/>
              <a:buChar char="•"/>
            </a:pPr>
            <a:r>
              <a:rPr lang="en-US" dirty="0" smtClean="0"/>
              <a:t>Carry bag for container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1190683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endParaRPr lang="en-US" dirty="0" smtClean="0"/>
          </a:p>
          <a:p>
            <a:r>
              <a:rPr lang="en-US" dirty="0" smtClean="0"/>
              <a:t>Determining how much stock to order</a:t>
            </a:r>
            <a:r>
              <a:rPr lang="en-US" baseline="0" dirty="0" smtClean="0"/>
              <a:t> is simple</a:t>
            </a:r>
          </a:p>
          <a:p>
            <a:endParaRPr lang="en-US" baseline="0" dirty="0" smtClean="0"/>
          </a:p>
          <a:p>
            <a:r>
              <a:rPr lang="en-US" baseline="0" dirty="0" smtClean="0"/>
              <a:t>When a completed stock requirement list is completed</a:t>
            </a:r>
          </a:p>
          <a:p>
            <a:endParaRPr lang="en-US" baseline="0" dirty="0" smtClean="0"/>
          </a:p>
          <a:p>
            <a:r>
              <a:rPr lang="en-US" baseline="0" dirty="0" smtClean="0"/>
              <a:t>Place order</a:t>
            </a:r>
          </a:p>
          <a:p>
            <a:endParaRPr lang="en-US" baseline="0" dirty="0" smtClean="0"/>
          </a:p>
          <a:p>
            <a:r>
              <a:rPr lang="en-US" baseline="0" dirty="0" smtClean="0"/>
              <a:t>Constant monitoring of stock levels is crucial for smooth operation of any business</a:t>
            </a:r>
          </a:p>
          <a:p>
            <a:endParaRPr lang="en-US" baseline="0" dirty="0" smtClean="0"/>
          </a:p>
          <a:p>
            <a:r>
              <a:rPr lang="en-US" baseline="0" dirty="0" smtClean="0"/>
              <a:t>Is ‘Par Stock’ system in operation</a:t>
            </a:r>
          </a:p>
          <a:p>
            <a:r>
              <a:rPr lang="en-US" baseline="0" dirty="0" smtClean="0"/>
              <a:t>Is it computerised?</a:t>
            </a:r>
          </a:p>
          <a:p>
            <a:r>
              <a:rPr lang="en-US" baseline="0" dirty="0" smtClean="0"/>
              <a:t>Is it manual?	Visual</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24873261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endParaRPr lang="en-US" dirty="0" smtClean="0"/>
          </a:p>
          <a:p>
            <a:r>
              <a:rPr lang="en-US" dirty="0" smtClean="0"/>
              <a:t>Stock rotation is basic</a:t>
            </a:r>
          </a:p>
          <a:p>
            <a:r>
              <a:rPr lang="en-US" dirty="0" smtClean="0"/>
              <a:t>NEVER place new stock in front of old stock when it is placed into the storage area</a:t>
            </a:r>
          </a:p>
          <a:p>
            <a:endParaRPr lang="en-US" dirty="0" smtClean="0"/>
          </a:p>
          <a:p>
            <a:r>
              <a:rPr lang="en-US" dirty="0" smtClean="0"/>
              <a:t>When new stock arrives:</a:t>
            </a:r>
          </a:p>
          <a:p>
            <a:endParaRPr lang="en-US" dirty="0" smtClean="0"/>
          </a:p>
          <a:p>
            <a:r>
              <a:rPr lang="en-US" dirty="0" smtClean="0"/>
              <a:t>Remove old stock from storage shelf</a:t>
            </a:r>
          </a:p>
          <a:p>
            <a:r>
              <a:rPr lang="en-US" dirty="0" smtClean="0"/>
              <a:t>Clean down shelf</a:t>
            </a:r>
          </a:p>
          <a:p>
            <a:r>
              <a:rPr lang="en-US" dirty="0" smtClean="0"/>
              <a:t>Place new stock onto storage shelf</a:t>
            </a:r>
          </a:p>
          <a:p>
            <a:r>
              <a:rPr lang="en-US" dirty="0" smtClean="0"/>
              <a:t>Replace old stock onto shelf in front of new stock</a:t>
            </a:r>
          </a:p>
          <a:p>
            <a:r>
              <a:rPr lang="en-US" dirty="0" smtClean="0"/>
              <a:t>Check old stock for out of date or damage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197897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endParaRPr lang="en-US" dirty="0" smtClean="0"/>
          </a:p>
          <a:p>
            <a:r>
              <a:rPr lang="en-US" dirty="0" smtClean="0"/>
              <a:t>Fresh foods are best stored  below 5 degrees</a:t>
            </a:r>
            <a:r>
              <a:rPr lang="en-US" baseline="0" dirty="0" smtClean="0"/>
              <a:t> Celsius for up to 3 days</a:t>
            </a:r>
          </a:p>
          <a:p>
            <a:endParaRPr lang="en-US" baseline="0" dirty="0" smtClean="0"/>
          </a:p>
          <a:p>
            <a:r>
              <a:rPr lang="en-US" baseline="0" dirty="0" smtClean="0"/>
              <a:t>Purchase only what is required and use as soon as possible</a:t>
            </a:r>
          </a:p>
          <a:p>
            <a:endParaRPr lang="en-US" baseline="0" dirty="0" smtClean="0"/>
          </a:p>
          <a:p>
            <a:r>
              <a:rPr lang="en-US" baseline="0" dirty="0" smtClean="0"/>
              <a:t>Frozen foods need to be stored below -18 degrees Celsius for time period required</a:t>
            </a:r>
          </a:p>
          <a:p>
            <a:r>
              <a:rPr lang="en-US" baseline="0" dirty="0" smtClean="0"/>
              <a:t>Frozen time will vary will all goods but stock should be rotated FIFO for efficient management of stock: Every 3 months; discard stock older than 3 months</a:t>
            </a:r>
          </a:p>
          <a:p>
            <a:endParaRPr lang="en-US" baseline="0" dirty="0" smtClean="0"/>
          </a:p>
          <a:p>
            <a:r>
              <a:rPr lang="en-US" baseline="0" dirty="0" smtClean="0"/>
              <a:t>Some things can be frozen for longer but if you are carrying stock that has been in your freezer for that length of time then you have lost money</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4823691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endParaRPr lang="en-US" dirty="0" smtClean="0"/>
          </a:p>
          <a:p>
            <a:r>
              <a:rPr lang="en-US" dirty="0" smtClean="0"/>
              <a:t>Fresh foods are best purchased</a:t>
            </a:r>
            <a:r>
              <a:rPr lang="en-US" baseline="0" dirty="0" smtClean="0"/>
              <a:t> as you need them</a:t>
            </a:r>
          </a:p>
          <a:p>
            <a:endParaRPr lang="en-US" baseline="0" dirty="0" smtClean="0"/>
          </a:p>
          <a:p>
            <a:r>
              <a:rPr lang="en-US" baseline="0" dirty="0" smtClean="0"/>
              <a:t>Some busy hotels need to prepare several days ahead of time just because of the time factor. So processing several days ahead it just using resources more efficiently</a:t>
            </a:r>
          </a:p>
          <a:p>
            <a:endParaRPr lang="en-US" baseline="0" dirty="0" smtClean="0"/>
          </a:p>
          <a:p>
            <a:r>
              <a:rPr lang="en-US" dirty="0" smtClean="0"/>
              <a:t>Some foods can be stored</a:t>
            </a:r>
            <a:r>
              <a:rPr lang="en-US" baseline="0" dirty="0" smtClean="0"/>
              <a:t> for longer than 3 days</a:t>
            </a:r>
          </a:p>
          <a:p>
            <a:endParaRPr lang="en-US" baseline="0" dirty="0" smtClean="0"/>
          </a:p>
          <a:p>
            <a:r>
              <a:rPr lang="en-US" baseline="0" dirty="0" smtClean="0"/>
              <a:t>Failsafe point is 3 days. If fresh food is to be stored then store it for no more than 3 days; this will minimise to possible growth of bacteria to a dangerous level.</a:t>
            </a:r>
          </a:p>
          <a:p>
            <a:endParaRPr lang="en-US" baseline="0" dirty="0" smtClean="0"/>
          </a:p>
          <a:p>
            <a:r>
              <a:rPr lang="en-US" baseline="0" dirty="0" smtClean="0"/>
              <a:t>If it is kept chilled and protected from contamination (wrapped securely)  then it will still be safe for human consumption with minimal risk</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027686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endParaRPr lang="en-US" dirty="0" smtClean="0"/>
          </a:p>
          <a:p>
            <a:pPr>
              <a:buFontTx/>
              <a:buNone/>
            </a:pPr>
            <a:r>
              <a:rPr lang="en-US" b="0" dirty="0" smtClean="0"/>
              <a:t>Trainer to relate performance criteria to element 2</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Apply catering control principles and procedures </a:t>
            </a:r>
            <a:r>
              <a:rPr lang="en-US" b="0" baseline="0" dirty="0" smtClean="0"/>
              <a:t>the students must be able to; </a:t>
            </a:r>
            <a:r>
              <a:rPr lang="en-US" b="1" baseline="0" dirty="0" smtClean="0"/>
              <a:t>Minimise wastage</a:t>
            </a:r>
          </a:p>
          <a:p>
            <a:pPr>
              <a:buFont typeface="Arial" pitchFamily="34" charset="0"/>
              <a:buNone/>
            </a:pPr>
            <a:r>
              <a:rPr lang="en-US" b="1" baseline="0" dirty="0" smtClean="0"/>
              <a:t>The student should be able to </a:t>
            </a:r>
          </a:p>
          <a:p>
            <a:pPr lvl="1"/>
            <a:r>
              <a:rPr lang="en-AU" sz="2800" dirty="0" smtClean="0"/>
              <a:t>Use </a:t>
            </a:r>
            <a:r>
              <a:rPr lang="en-AU" sz="2800" i="1" dirty="0" smtClean="0"/>
              <a:t>trimmings</a:t>
            </a:r>
            <a:r>
              <a:rPr lang="en-AU" sz="2800" dirty="0" smtClean="0"/>
              <a:t> of food products</a:t>
            </a:r>
          </a:p>
          <a:p>
            <a:pPr lvl="1"/>
            <a:r>
              <a:rPr lang="en-AU" sz="2800" i="1" dirty="0" smtClean="0"/>
              <a:t>Dispose</a:t>
            </a:r>
            <a:r>
              <a:rPr lang="en-AU" sz="2800" dirty="0" smtClean="0"/>
              <a:t> </a:t>
            </a:r>
            <a:r>
              <a:rPr lang="en-AU" sz="2800" i="1" dirty="0" smtClean="0"/>
              <a:t>of</a:t>
            </a:r>
            <a:r>
              <a:rPr lang="en-AU" sz="2800" dirty="0" smtClean="0"/>
              <a:t> food wastage in line with enterprise and local authorities’ requirements</a:t>
            </a:r>
          </a:p>
          <a:p>
            <a:pPr lvl="1"/>
            <a:r>
              <a:rPr lang="en-AU" sz="2800" dirty="0" smtClean="0"/>
              <a:t>Process</a:t>
            </a:r>
            <a:r>
              <a:rPr lang="en-AU" sz="2800" i="1" dirty="0" smtClean="0"/>
              <a:t> recyclable</a:t>
            </a:r>
            <a:r>
              <a:rPr lang="en-AU" sz="2800" dirty="0" smtClean="0"/>
              <a:t> products to local authority requirements</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9223715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endParaRPr lang="en-US" dirty="0" smtClean="0"/>
          </a:p>
          <a:p>
            <a:r>
              <a:rPr lang="en-US" dirty="0" smtClean="0"/>
              <a:t>The use of trimmings and off cuts</a:t>
            </a:r>
            <a:r>
              <a:rPr lang="en-US" baseline="0" dirty="0" smtClean="0"/>
              <a:t> has always been an issue in the commercial kitchen.</a:t>
            </a:r>
          </a:p>
          <a:p>
            <a:endParaRPr lang="en-US" baseline="0" dirty="0" smtClean="0"/>
          </a:p>
          <a:p>
            <a:r>
              <a:rPr lang="en-US" baseline="0" dirty="0" smtClean="0"/>
              <a:t>The boss or bookkeeper sees all discarded food as potential loss of profit.</a:t>
            </a:r>
          </a:p>
          <a:p>
            <a:endParaRPr lang="en-US" baseline="0" dirty="0" smtClean="0"/>
          </a:p>
          <a:p>
            <a:r>
              <a:rPr lang="en-US" baseline="0" dirty="0" smtClean="0"/>
              <a:t>Apply total cost of purchases to usable product</a:t>
            </a:r>
          </a:p>
          <a:p>
            <a:endParaRPr lang="en-US" baseline="0" dirty="0" smtClean="0"/>
          </a:p>
          <a:p>
            <a:r>
              <a:rPr lang="en-US" baseline="0" dirty="0" smtClean="0"/>
              <a:t>Some product has a lot of wastage, some has minimal wastage, some product everything is used.</a:t>
            </a:r>
          </a:p>
          <a:p>
            <a:endParaRPr lang="en-US" baseline="0" dirty="0" smtClean="0"/>
          </a:p>
          <a:p>
            <a:r>
              <a:rPr lang="en-US" baseline="0" dirty="0" smtClean="0"/>
              <a:t>Sometimes it is NOT cost effective to try and retrieve usable product from trimmings</a:t>
            </a:r>
          </a:p>
          <a:p>
            <a:endParaRPr lang="en-US" baseline="0" dirty="0" smtClean="0"/>
          </a:p>
          <a:p>
            <a:r>
              <a:rPr lang="en-US" baseline="0" dirty="0" smtClean="0"/>
              <a:t>Sometimes the quality of the trimmings is not sufficient to pay a persons time to retrieve usable product</a:t>
            </a:r>
          </a:p>
          <a:p>
            <a:endParaRPr lang="en-US" baseline="0" dirty="0" smtClean="0"/>
          </a:p>
          <a:p>
            <a:r>
              <a:rPr lang="en-US" baseline="0" dirty="0" smtClean="0"/>
              <a:t>Skill is required and it is always up to the chef (the one in charge) to decide how the trimmings will be treated and where and how they are to be extracted.</a:t>
            </a:r>
          </a:p>
          <a:p>
            <a:endParaRPr lang="en-US" baseline="0" dirty="0" smtClean="0"/>
          </a:p>
          <a:p>
            <a:r>
              <a:rPr lang="en-US" baseline="0" dirty="0" smtClean="0"/>
              <a:t>Using trimmings can increase the profit margins if the costs are applied correctly</a:t>
            </a:r>
          </a:p>
          <a:p>
            <a:endParaRPr lang="en-US" baseline="0" dirty="0" smtClean="0"/>
          </a:p>
          <a:p>
            <a:r>
              <a:rPr lang="en-US" baseline="0" dirty="0" smtClean="0"/>
              <a:t>Menu flexibility can also be improved if the use of the trimmings can be applied.</a:t>
            </a:r>
          </a:p>
          <a:p>
            <a:r>
              <a:rPr lang="en-US" baseline="0" dirty="0" smtClean="0"/>
              <a:t>BUT, sometimes the ‘special dish’ developed to utilise the trimmings become becomes so popular that  extra product has to be purchased to meet the popularity of the new menu item.</a:t>
            </a:r>
          </a:p>
          <a:p>
            <a:endParaRPr lang="en-US" baseline="0" dirty="0" smtClean="0"/>
          </a:p>
          <a:p>
            <a:r>
              <a:rPr lang="en-US" baseline="0" dirty="0" smtClean="0"/>
              <a:t>It is all a balance.</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26787810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endParaRPr lang="en-US" dirty="0" smtClean="0"/>
          </a:p>
          <a:p>
            <a:r>
              <a:rPr lang="en-US" dirty="0" smtClean="0"/>
              <a:t>Food</a:t>
            </a:r>
            <a:r>
              <a:rPr lang="en-US" baseline="0" dirty="0" smtClean="0"/>
              <a:t> waste is a part life.</a:t>
            </a:r>
          </a:p>
          <a:p>
            <a:endParaRPr lang="en-US" baseline="0" dirty="0" smtClean="0"/>
          </a:p>
          <a:p>
            <a:r>
              <a:rPr lang="en-US" baseline="0" dirty="0" smtClean="0"/>
              <a:t>How it is managed is vital to the safety of the community</a:t>
            </a:r>
          </a:p>
          <a:p>
            <a:endParaRPr lang="en-US" baseline="0" dirty="0" smtClean="0"/>
          </a:p>
          <a:p>
            <a:r>
              <a:rPr lang="en-US" baseline="0" dirty="0" smtClean="0"/>
              <a:t>Food enterprises have to comply with the rules and regulations of the Local Government Authority</a:t>
            </a:r>
          </a:p>
          <a:p>
            <a:endParaRPr lang="en-US" baseline="0" dirty="0" smtClean="0"/>
          </a:p>
          <a:p>
            <a:r>
              <a:rPr lang="en-US" baseline="0" dirty="0" smtClean="0"/>
              <a:t>Accumulation of food waste will bring disease and sickness to the community as well as unwanted smells and odours </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1284074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a:t>
            </a:r>
            <a:r>
              <a:rPr lang="en-US" b="1" baseline="0" dirty="0" smtClean="0"/>
              <a:t> to advise:</a:t>
            </a:r>
            <a:endParaRPr lang="en-US" b="1" dirty="0" smtClean="0"/>
          </a:p>
          <a:p>
            <a:endParaRPr lang="en-US" dirty="0" smtClean="0"/>
          </a:p>
          <a:p>
            <a:r>
              <a:rPr lang="en-US" dirty="0" smtClean="0"/>
              <a:t>Recycling is a way of maximising the use</a:t>
            </a:r>
            <a:r>
              <a:rPr lang="en-US" baseline="0" dirty="0" smtClean="0"/>
              <a:t> of products that otherwise end up as landfill.</a:t>
            </a:r>
          </a:p>
          <a:p>
            <a:endParaRPr lang="en-US" baseline="0" dirty="0" smtClean="0"/>
          </a:p>
          <a:p>
            <a:r>
              <a:rPr lang="en-US" baseline="0" dirty="0" smtClean="0"/>
              <a:t>Some waste products can poison the land and then contaminate the food chain.</a:t>
            </a:r>
          </a:p>
          <a:p>
            <a:endParaRPr lang="en-US" baseline="0" dirty="0" smtClean="0"/>
          </a:p>
          <a:p>
            <a:r>
              <a:rPr lang="en-US" baseline="0" dirty="0" smtClean="0"/>
              <a:t>Contamination of the food chain occurs when chemical that come out of plastics and used oils as they begin to breakdown in the soil and these chemical then leach into any foods that are grown in that soil</a:t>
            </a:r>
          </a:p>
          <a:p>
            <a:endParaRPr lang="en-US" baseline="0" dirty="0" smtClean="0"/>
          </a:p>
          <a:p>
            <a:r>
              <a:rPr lang="en-US" baseline="0" dirty="0" smtClean="0"/>
              <a:t>Contaminated soil is rained upon and the water soaks into the soil and then goes into underground aquifers where ground water is drawn into drinking water</a:t>
            </a:r>
          </a:p>
          <a:p>
            <a:endParaRPr lang="en-US" baseline="0" dirty="0" smtClean="0"/>
          </a:p>
          <a:p>
            <a:r>
              <a:rPr lang="en-US" baseline="0" dirty="0" smtClean="0"/>
              <a:t>Rain falls onto contaminated soil and runs into the rivers</a:t>
            </a:r>
          </a:p>
          <a:p>
            <a:endParaRPr lang="en-US" baseline="0" dirty="0" smtClean="0"/>
          </a:p>
          <a:p>
            <a:r>
              <a:rPr lang="en-US" baseline="0" dirty="0" smtClean="0"/>
              <a:t>Taking the plastics and reusing them will reduce the level of soil contamination and leave the soil better suited to producing healthy foods</a:t>
            </a:r>
          </a:p>
          <a:p>
            <a:endParaRPr lang="en-US" baseline="0" dirty="0" smtClean="0"/>
          </a:p>
          <a:p>
            <a:r>
              <a:rPr lang="en-US" baseline="0" dirty="0" smtClean="0"/>
              <a:t>Metals and glass in the landfill also cause damage</a:t>
            </a:r>
          </a:p>
          <a:p>
            <a:endParaRPr lang="en-US" baseline="0" dirty="0" smtClean="0"/>
          </a:p>
          <a:p>
            <a:r>
              <a:rPr lang="en-US" baseline="0" dirty="0" smtClean="0"/>
              <a:t>Old cooking oils from deep frying needs to be recycled into detergents or Bio-Diesel, rather than being poured down the sink or being dumped into the soil or water table or river systems</a:t>
            </a:r>
          </a:p>
          <a:p>
            <a:endParaRPr lang="en-US" baseline="0" dirty="0" smtClean="0"/>
          </a:p>
          <a:p>
            <a:r>
              <a:rPr lang="en-US" baseline="0" dirty="0" smtClean="0"/>
              <a:t>Keep the environment healthy. Recycle.</a:t>
            </a:r>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2632640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3/11/2015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3/11/2015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3/11/2015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3/11/2015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3/11/2015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3/11/2015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3/11/2015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3/11/2015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3/11/2015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3/11/2015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3/11/2015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3/11/2015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wmf"/></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692696"/>
            <a:ext cx="7776192" cy="1285884"/>
          </a:xfrm>
        </p:spPr>
        <p:txBody>
          <a:bodyPr>
            <a:normAutofit fontScale="90000"/>
          </a:bodyPr>
          <a:lstStyle/>
          <a:p>
            <a:r>
              <a:rPr lang="en-AU" sz="4000" dirty="0" smtClean="0">
                <a:ln w="5000" cmpd="sng">
                  <a:noFill/>
                  <a:prstDash val="solid"/>
                </a:ln>
                <a:solidFill>
                  <a:srgbClr val="FF6600"/>
                </a:solidFill>
                <a:latin typeface="Helvetica" pitchFamily="34" charset="0"/>
              </a:rPr>
              <a:t>APPLY CATERING CONTROL PRINCIPLES AND PROCEDURES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4860032" y="2060848"/>
            <a:ext cx="3477372" cy="577774"/>
          </a:xfrm>
        </p:spPr>
        <p:txBody>
          <a:bodyPr>
            <a:normAutofit/>
          </a:bodyPr>
          <a:lstStyle/>
          <a:p>
            <a:r>
              <a:rPr lang="en-AU" sz="2400" b="1" dirty="0" smtClean="0">
                <a:latin typeface="Helvetica" pitchFamily="34" charset="0"/>
              </a:rPr>
              <a:t>D1.HCC.CL2.01</a:t>
            </a:r>
            <a:endParaRPr lang="en-US" sz="24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a:t>
            </a:fld>
            <a:endParaRPr lang="en-US" dirty="0">
              <a:latin typeface="Helvetica" pitchFamily="34" charset="0"/>
            </a:endParaRPr>
          </a:p>
        </p:txBody>
      </p:sp>
      <p:pic>
        <p:nvPicPr>
          <p:cNvPr id="6" name="Picture 5" descr="C:\Documents and Settings\Godaishu\Local Settings\Temporary Internet Files\Content.IE5\AIDHLZ6J\MP900439495[1].jpg"/>
          <p:cNvPicPr/>
          <p:nvPr/>
        </p:nvPicPr>
        <p:blipFill>
          <a:blip r:embed="rId3" cstate="print"/>
          <a:srcRect/>
          <a:stretch>
            <a:fillRect/>
          </a:stretch>
        </p:blipFill>
        <p:spPr bwMode="auto">
          <a:xfrm>
            <a:off x="3000364" y="1928802"/>
            <a:ext cx="2643206" cy="394410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Assessment for this Unit may include:</a:t>
            </a:r>
          </a:p>
          <a:p>
            <a:pPr>
              <a:spcBef>
                <a:spcPts val="600"/>
              </a:spcBef>
              <a:spcAft>
                <a:spcPts val="1200"/>
              </a:spcAft>
            </a:pPr>
            <a:r>
              <a:rPr lang="en-US" sz="2200" dirty="0" smtClean="0">
                <a:latin typeface="Helvetica" pitchFamily="34" charset="0"/>
              </a:rPr>
              <a:t>Oral questions</a:t>
            </a:r>
          </a:p>
          <a:p>
            <a:pPr>
              <a:spcBef>
                <a:spcPts val="600"/>
              </a:spcBef>
              <a:spcAft>
                <a:spcPts val="1200"/>
              </a:spcAft>
            </a:pPr>
            <a:r>
              <a:rPr lang="en-US" sz="2200" dirty="0" smtClean="0">
                <a:latin typeface="Helvetica" pitchFamily="34" charset="0"/>
              </a:rPr>
              <a:t>Written questions</a:t>
            </a:r>
          </a:p>
          <a:p>
            <a:pPr>
              <a:spcBef>
                <a:spcPts val="600"/>
              </a:spcBef>
              <a:spcAft>
                <a:spcPts val="1200"/>
              </a:spcAft>
            </a:pPr>
            <a:r>
              <a:rPr lang="en-US" sz="2200" dirty="0" smtClean="0">
                <a:latin typeface="Helvetica" pitchFamily="34" charset="0"/>
              </a:rPr>
              <a:t>Work projects</a:t>
            </a:r>
          </a:p>
          <a:p>
            <a:pPr>
              <a:spcBef>
                <a:spcPts val="600"/>
              </a:spcBef>
              <a:spcAft>
                <a:spcPts val="1200"/>
              </a:spcAft>
            </a:pPr>
            <a:r>
              <a:rPr lang="en-US" sz="2200" dirty="0" smtClean="0">
                <a:latin typeface="Helvetica" pitchFamily="34" charset="0"/>
              </a:rPr>
              <a:t>Workplace observation of practical skills</a:t>
            </a:r>
          </a:p>
          <a:p>
            <a:pPr>
              <a:spcBef>
                <a:spcPts val="600"/>
              </a:spcBef>
              <a:spcAft>
                <a:spcPts val="1200"/>
              </a:spcAft>
            </a:pPr>
            <a:r>
              <a:rPr lang="en-US" sz="2200" dirty="0" smtClean="0">
                <a:latin typeface="Helvetica" pitchFamily="34" charset="0"/>
              </a:rPr>
              <a:t>Practical exercises</a:t>
            </a:r>
          </a:p>
          <a:p>
            <a:pPr>
              <a:spcBef>
                <a:spcPts val="600"/>
              </a:spcBef>
              <a:spcAft>
                <a:spcPts val="1200"/>
              </a:spcAft>
            </a:pPr>
            <a:r>
              <a:rPr lang="en-US" sz="2200" dirty="0" smtClean="0">
                <a:latin typeface="Helvetica" pitchFamily="34" charset="0"/>
              </a:rPr>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catering control principles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comprises two elements:</a:t>
            </a:r>
          </a:p>
          <a:p>
            <a:pPr marL="457200" indent="-457200">
              <a:spcBef>
                <a:spcPts val="600"/>
              </a:spcBef>
              <a:spcAft>
                <a:spcPts val="1200"/>
              </a:spcAft>
              <a:buSzPct val="100000"/>
              <a:buFont typeface="+mj-lt"/>
              <a:buAutoNum type="arabicPeriod"/>
            </a:pPr>
            <a:r>
              <a:rPr lang="en-US" sz="2200" dirty="0" smtClean="0">
                <a:latin typeface="Helvetica" pitchFamily="34" charset="0"/>
              </a:rPr>
              <a:t>Apply catering control principles and procedures</a:t>
            </a:r>
          </a:p>
          <a:p>
            <a:pPr marL="457200" indent="-457200">
              <a:spcBef>
                <a:spcPts val="600"/>
              </a:spcBef>
              <a:spcAft>
                <a:spcPts val="1200"/>
              </a:spcAft>
              <a:buSzPct val="100000"/>
              <a:buFont typeface="+mj-lt"/>
              <a:buAutoNum type="arabicPeriod"/>
            </a:pPr>
            <a:r>
              <a:rPr lang="en-US" sz="2200" dirty="0" smtClean="0">
                <a:latin typeface="Helvetica" pitchFamily="34" charset="0"/>
              </a:rPr>
              <a:t>Minimise wastage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2" descr="C:\Documents and Settings\Godaishu\Desktop\PHOTOS\2012\review.jpg"/>
          <p:cNvPicPr>
            <a:picLocks noChangeAspect="1" noChangeArrowheads="1"/>
          </p:cNvPicPr>
          <p:nvPr/>
        </p:nvPicPr>
        <p:blipFill>
          <a:blip r:embed="rId3" cstate="print"/>
          <a:srcRect/>
          <a:stretch>
            <a:fillRect/>
          </a:stretch>
        </p:blipFill>
        <p:spPr bwMode="auto">
          <a:xfrm>
            <a:off x="6357950" y="2786058"/>
            <a:ext cx="1757665" cy="175260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56792"/>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Element 1: Apply catering control principles and procedures:</a:t>
            </a:r>
          </a:p>
          <a:p>
            <a:pPr marL="420624" lvl="1" indent="-384048">
              <a:spcBef>
                <a:spcPts val="600"/>
              </a:spcBef>
              <a:spcAft>
                <a:spcPts val="1200"/>
              </a:spcAft>
              <a:buSzPct val="80000"/>
              <a:buFont typeface="Wingdings 2"/>
              <a:buChar char=""/>
            </a:pPr>
            <a:r>
              <a:rPr lang="en-AU" sz="2200" dirty="0" smtClean="0"/>
              <a:t>Identify the range of catering products used within the enterprise  </a:t>
            </a:r>
          </a:p>
          <a:p>
            <a:pPr marL="420624" lvl="1" indent="-384048">
              <a:spcBef>
                <a:spcPts val="600"/>
              </a:spcBef>
              <a:spcAft>
                <a:spcPts val="1200"/>
              </a:spcAft>
              <a:buSzPct val="80000"/>
              <a:buFont typeface="Wingdings 2"/>
              <a:buChar char=""/>
            </a:pPr>
            <a:r>
              <a:rPr lang="en-AU" sz="2200" dirty="0" smtClean="0"/>
              <a:t>Use requisition/portion control effectively</a:t>
            </a:r>
          </a:p>
          <a:p>
            <a:pPr marL="420624" lvl="1" indent="-384048">
              <a:spcBef>
                <a:spcPts val="600"/>
              </a:spcBef>
              <a:spcAft>
                <a:spcPts val="1200"/>
              </a:spcAft>
              <a:buSzPct val="80000"/>
              <a:buFont typeface="Wingdings 2"/>
              <a:buChar char=""/>
            </a:pPr>
            <a:r>
              <a:rPr lang="en-AU" sz="2200" dirty="0" smtClean="0"/>
              <a:t>Use standard recipes correctly </a:t>
            </a:r>
          </a:p>
          <a:p>
            <a:pPr marL="420624" lvl="1" indent="-384048">
              <a:spcBef>
                <a:spcPts val="600"/>
              </a:spcBef>
              <a:spcAft>
                <a:spcPts val="1200"/>
              </a:spcAft>
              <a:buSzPct val="80000"/>
              <a:buFont typeface="Wingdings 2"/>
              <a:buChar char=""/>
            </a:pPr>
            <a:r>
              <a:rPr lang="en-AU" sz="2200" dirty="0" smtClean="0"/>
              <a:t>Implement ordering and stock rotation practices </a:t>
            </a:r>
          </a:p>
          <a:p>
            <a:pPr marL="420624" lvl="1" indent="-384048">
              <a:spcBef>
                <a:spcPts val="600"/>
              </a:spcBef>
              <a:spcAft>
                <a:spcPts val="1200"/>
              </a:spcAft>
              <a:buSzPct val="80000"/>
              <a:buFont typeface="Wingdings 2"/>
              <a:buChar char=""/>
            </a:pPr>
            <a:r>
              <a:rPr lang="en-AU" sz="2200" dirty="0" smtClean="0"/>
              <a:t>Use optimum storage conditions </a:t>
            </a:r>
          </a:p>
          <a:p>
            <a:pPr marL="0" indent="0">
              <a:spcBef>
                <a:spcPts val="600"/>
              </a:spcBef>
              <a:spcAft>
                <a:spcPts val="1200"/>
              </a:spcAft>
              <a:buNone/>
            </a:pPr>
            <a:endParaRPr lang="en-US" sz="2200" dirty="0" smtClean="0">
              <a:latin typeface="Helvetica" pitchFamily="34" charset="0"/>
            </a:endParaRPr>
          </a:p>
          <a:p>
            <a:pPr marL="457200" indent="-457200">
              <a:spcBef>
                <a:spcPts val="600"/>
              </a:spcBef>
              <a:spcAft>
                <a:spcPts val="1200"/>
              </a:spcAft>
              <a:buFont typeface="+mj-lt"/>
              <a:buAutoNum type="arabicPeriod"/>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500298" y="2786058"/>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143636" y="3429000"/>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000628" y="3929066"/>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143768" y="4429132"/>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214942" y="5000636"/>
            <a:ext cx="399154" cy="527046"/>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56792"/>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Identify the range of catering products used within the enterprise:</a:t>
            </a:r>
          </a:p>
          <a:p>
            <a:pPr marL="0" indent="0">
              <a:spcBef>
                <a:spcPts val="600"/>
              </a:spcBef>
              <a:spcAft>
                <a:spcPts val="1200"/>
              </a:spcAft>
              <a:buNone/>
            </a:pPr>
            <a:r>
              <a:rPr lang="en-US" sz="2200" dirty="0" smtClean="0">
                <a:latin typeface="Helvetica" pitchFamily="34" charset="0"/>
              </a:rPr>
              <a:t>Catering Products</a:t>
            </a:r>
          </a:p>
          <a:p>
            <a:pPr marL="420624" lvl="1" indent="-384048">
              <a:spcBef>
                <a:spcPts val="600"/>
              </a:spcBef>
              <a:spcAft>
                <a:spcPts val="1200"/>
              </a:spcAft>
              <a:buSzPct val="80000"/>
              <a:buFont typeface="Wingdings 2"/>
              <a:buChar char=""/>
            </a:pPr>
            <a:r>
              <a:rPr lang="en-US" sz="2200" dirty="0" smtClean="0"/>
              <a:t>Foods</a:t>
            </a:r>
          </a:p>
          <a:p>
            <a:pPr marL="420624" lvl="1" indent="-384048">
              <a:spcBef>
                <a:spcPts val="600"/>
              </a:spcBef>
              <a:spcAft>
                <a:spcPts val="1200"/>
              </a:spcAft>
              <a:buSzPct val="80000"/>
              <a:buFont typeface="Wingdings 2"/>
              <a:buChar char=""/>
            </a:pPr>
            <a:r>
              <a:rPr lang="en-US" sz="2200" dirty="0" smtClean="0"/>
              <a:t>Paper goods </a:t>
            </a:r>
          </a:p>
          <a:p>
            <a:pPr marL="420624" lvl="1" indent="-384048">
              <a:spcBef>
                <a:spcPts val="600"/>
              </a:spcBef>
              <a:spcAft>
                <a:spcPts val="1200"/>
              </a:spcAft>
              <a:buSzPct val="80000"/>
              <a:buFont typeface="Wingdings 2"/>
              <a:buChar char=""/>
            </a:pPr>
            <a:r>
              <a:rPr lang="en-US" sz="2200" dirty="0" smtClean="0"/>
              <a:t>Chemicals</a:t>
            </a:r>
          </a:p>
          <a:p>
            <a:pPr marL="420624" lvl="1" indent="-384048">
              <a:spcBef>
                <a:spcPts val="600"/>
              </a:spcBef>
              <a:spcAft>
                <a:spcPts val="1200"/>
              </a:spcAft>
              <a:buSzPct val="80000"/>
              <a:buFont typeface="Wingdings 2"/>
              <a:buChar char=""/>
            </a:pPr>
            <a:r>
              <a:rPr lang="en-US" sz="2200" dirty="0" smtClean="0"/>
              <a:t>Equipment</a:t>
            </a:r>
          </a:p>
          <a:p>
            <a:pPr marL="420624" lvl="1" indent="-384048">
              <a:spcBef>
                <a:spcPts val="600"/>
              </a:spcBef>
              <a:spcAft>
                <a:spcPts val="1200"/>
              </a:spcAft>
              <a:buSzPct val="80000"/>
              <a:buFont typeface="Wingdings 2"/>
              <a:buChar char=""/>
            </a:pPr>
            <a:r>
              <a:rPr lang="en-US" sz="2200" dirty="0" smtClean="0"/>
              <a:t>Consumables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457200" indent="-457200">
              <a:spcBef>
                <a:spcPts val="600"/>
              </a:spcBef>
              <a:spcAft>
                <a:spcPts val="1200"/>
              </a:spcAft>
              <a:buFont typeface="+mj-lt"/>
              <a:buAutoNum type="arabicPeriod"/>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12292" name="Picture 4" descr="C:\Documents and Settings\Godaishu\Desktop\4-food-packaging.jpg"/>
          <p:cNvPicPr>
            <a:picLocks noChangeAspect="1" noChangeArrowheads="1"/>
          </p:cNvPicPr>
          <p:nvPr/>
        </p:nvPicPr>
        <p:blipFill>
          <a:blip r:embed="rId3" cstate="print"/>
          <a:srcRect/>
          <a:stretch>
            <a:fillRect/>
          </a:stretch>
        </p:blipFill>
        <p:spPr bwMode="auto">
          <a:xfrm flipH="1">
            <a:off x="5286380" y="2857496"/>
            <a:ext cx="2604274" cy="1890703"/>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56792"/>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Identify the range of catering products used within the enterprise:</a:t>
            </a:r>
          </a:p>
          <a:p>
            <a:pPr marL="0" indent="0">
              <a:spcBef>
                <a:spcPts val="600"/>
              </a:spcBef>
              <a:spcAft>
                <a:spcPts val="1200"/>
              </a:spcAft>
              <a:buNone/>
            </a:pPr>
            <a:r>
              <a:rPr lang="en-US" sz="2200" dirty="0" smtClean="0">
                <a:latin typeface="Helvetica" pitchFamily="34" charset="0"/>
              </a:rPr>
              <a:t>Food Costs</a:t>
            </a:r>
          </a:p>
          <a:p>
            <a:pPr marL="420624" lvl="1" indent="-384048">
              <a:spcBef>
                <a:spcPts val="600"/>
              </a:spcBef>
              <a:spcAft>
                <a:spcPts val="1200"/>
              </a:spcAft>
              <a:buSzPct val="80000"/>
              <a:buFont typeface="Wingdings 2"/>
              <a:buChar char=""/>
            </a:pPr>
            <a:r>
              <a:rPr lang="en-US" sz="2200" dirty="0" smtClean="0"/>
              <a:t>Purchased weight</a:t>
            </a:r>
          </a:p>
          <a:p>
            <a:pPr marL="420624" lvl="1" indent="-384048">
              <a:spcBef>
                <a:spcPts val="600"/>
              </a:spcBef>
              <a:spcAft>
                <a:spcPts val="1200"/>
              </a:spcAft>
              <a:buSzPct val="80000"/>
              <a:buFont typeface="Wingdings 2"/>
              <a:buChar char=""/>
            </a:pPr>
            <a:r>
              <a:rPr lang="en-US" sz="2200" dirty="0" smtClean="0"/>
              <a:t> Usable weight</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457200" indent="-457200">
              <a:spcBef>
                <a:spcPts val="600"/>
              </a:spcBef>
              <a:spcAft>
                <a:spcPts val="1200"/>
              </a:spcAft>
              <a:buFont typeface="+mj-lt"/>
              <a:buAutoNum type="arabicPeriod"/>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11266" name="Picture 2" descr="C:\Documents and Settings\Godaishu\Local Settings\Temporary Internet Files\Content.IE5\7GWYLB5B\MC900412742[1].wmf"/>
          <p:cNvPicPr>
            <a:picLocks noChangeAspect="1" noChangeArrowheads="1"/>
          </p:cNvPicPr>
          <p:nvPr/>
        </p:nvPicPr>
        <p:blipFill>
          <a:blip r:embed="rId3" cstate="print"/>
          <a:srcRect/>
          <a:stretch>
            <a:fillRect/>
          </a:stretch>
        </p:blipFill>
        <p:spPr bwMode="auto">
          <a:xfrm>
            <a:off x="5214942" y="2500306"/>
            <a:ext cx="2244540" cy="2586468"/>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56792"/>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Identify the range of catering products used within the enterprise:</a:t>
            </a:r>
          </a:p>
          <a:p>
            <a:pPr marL="420624" lvl="1" indent="-384048">
              <a:spcBef>
                <a:spcPts val="600"/>
              </a:spcBef>
              <a:spcAft>
                <a:spcPts val="1200"/>
              </a:spcAft>
              <a:buSzPct val="80000"/>
              <a:buFont typeface="Wingdings 2"/>
              <a:buChar char=""/>
            </a:pPr>
            <a:r>
              <a:rPr lang="en-US" sz="2200" dirty="0" smtClean="0"/>
              <a:t>Consumable costs</a:t>
            </a:r>
          </a:p>
          <a:p>
            <a:pPr marL="420624" lvl="1" indent="-384048">
              <a:spcBef>
                <a:spcPts val="600"/>
              </a:spcBef>
              <a:spcAft>
                <a:spcPts val="1200"/>
              </a:spcAft>
              <a:buSzPct val="80000"/>
              <a:buFont typeface="Wingdings 2"/>
              <a:buChar char=""/>
            </a:pPr>
            <a:r>
              <a:rPr lang="en-US" sz="2200" dirty="0" smtClean="0"/>
              <a:t>Consumables in Kitchens</a:t>
            </a:r>
          </a:p>
          <a:p>
            <a:pPr marL="822960" lvl="1" indent="-384048">
              <a:spcBef>
                <a:spcPts val="600"/>
              </a:spcBef>
              <a:spcAft>
                <a:spcPts val="1200"/>
              </a:spcAft>
              <a:buSzPct val="100000"/>
              <a:buFont typeface="Arial" pitchFamily="34" charset="0"/>
              <a:buChar char="•"/>
            </a:pPr>
            <a:r>
              <a:rPr lang="en-US" sz="2200" dirty="0" smtClean="0"/>
              <a:t>Plastic wrap</a:t>
            </a:r>
          </a:p>
          <a:p>
            <a:pPr marL="822960" lvl="1" indent="-384048">
              <a:spcBef>
                <a:spcPts val="600"/>
              </a:spcBef>
              <a:spcAft>
                <a:spcPts val="1200"/>
              </a:spcAft>
              <a:buSzPct val="100000"/>
              <a:buFont typeface="Arial" pitchFamily="34" charset="0"/>
              <a:buChar char="•"/>
            </a:pPr>
            <a:r>
              <a:rPr lang="en-US" sz="2200" dirty="0" smtClean="0"/>
              <a:t>Aluminum Foil</a:t>
            </a:r>
          </a:p>
          <a:p>
            <a:pPr marL="822960" lvl="1" indent="-384048">
              <a:spcBef>
                <a:spcPts val="600"/>
              </a:spcBef>
              <a:spcAft>
                <a:spcPts val="1200"/>
              </a:spcAft>
              <a:buSzPct val="100000"/>
              <a:buFont typeface="Arial" pitchFamily="34" charset="0"/>
              <a:buChar char="•"/>
            </a:pPr>
            <a:r>
              <a:rPr lang="en-US" sz="2200" dirty="0" smtClean="0"/>
              <a:t>Baking parchment</a:t>
            </a:r>
          </a:p>
          <a:p>
            <a:pPr marL="0" indent="0">
              <a:spcBef>
                <a:spcPts val="600"/>
              </a:spcBef>
              <a:spcAft>
                <a:spcPts val="1200"/>
              </a:spcAft>
              <a:buNone/>
            </a:pPr>
            <a:r>
              <a:rPr lang="en-US" sz="2200" dirty="0" smtClean="0"/>
              <a:t>N</a:t>
            </a:r>
            <a:r>
              <a:rPr lang="en-US" sz="2200" dirty="0" smtClean="0">
                <a:latin typeface="Helvetica" pitchFamily="34" charset="0"/>
              </a:rPr>
              <a:t>ot necessarily in recipes but required to complete menu items.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457200" indent="-457200">
              <a:spcBef>
                <a:spcPts val="600"/>
              </a:spcBef>
              <a:spcAft>
                <a:spcPts val="1200"/>
              </a:spcAft>
              <a:buFont typeface="+mj-lt"/>
              <a:buAutoNum type="arabicPeriod"/>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10242" name="Picture 2" descr="C:\Documents and Settings\Godaishu\Desktop\PHOTOS\2012\Culinary 2012\Equipment Photos\P1030894 - Glap wrap.jpg"/>
          <p:cNvPicPr>
            <a:picLocks noChangeAspect="1" noChangeArrowheads="1"/>
          </p:cNvPicPr>
          <p:nvPr/>
        </p:nvPicPr>
        <p:blipFill>
          <a:blip r:embed="rId3" cstate="print">
            <a:lum contrast="10000"/>
          </a:blip>
          <a:srcRect/>
          <a:stretch>
            <a:fillRect/>
          </a:stretch>
        </p:blipFill>
        <p:spPr bwMode="auto">
          <a:xfrm>
            <a:off x="6000760" y="2143116"/>
            <a:ext cx="1917680" cy="1438260"/>
          </a:xfrm>
          <a:prstGeom prst="rect">
            <a:avLst/>
          </a:prstGeom>
          <a:noFill/>
        </p:spPr>
      </p:pic>
      <p:pic>
        <p:nvPicPr>
          <p:cNvPr id="10243" name="Picture 3" descr="C:\Documents and Settings\Godaishu\Desktop\PHOTOS\2012\Culinary 2012\Equipment Photos\P1030897 - foil jam tarts - disposables.jpg"/>
          <p:cNvPicPr>
            <a:picLocks noChangeAspect="1" noChangeArrowheads="1"/>
          </p:cNvPicPr>
          <p:nvPr/>
        </p:nvPicPr>
        <p:blipFill>
          <a:blip r:embed="rId4" cstate="print"/>
          <a:srcRect/>
          <a:stretch>
            <a:fillRect/>
          </a:stretch>
        </p:blipFill>
        <p:spPr bwMode="auto">
          <a:xfrm>
            <a:off x="6000760" y="3643314"/>
            <a:ext cx="1936728" cy="1452546"/>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56792"/>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Use requisition and portion control effectively:</a:t>
            </a:r>
          </a:p>
          <a:p>
            <a:pPr marL="420624" lvl="1" indent="-384048">
              <a:spcBef>
                <a:spcPts val="600"/>
              </a:spcBef>
              <a:spcAft>
                <a:spcPts val="1200"/>
              </a:spcAft>
              <a:buSzPct val="80000"/>
              <a:buFont typeface="Wingdings 2"/>
              <a:buChar char=""/>
            </a:pPr>
            <a:r>
              <a:rPr lang="en-US" sz="2200" dirty="0" smtClean="0"/>
              <a:t>Order only what is required - plus?</a:t>
            </a:r>
          </a:p>
          <a:p>
            <a:pPr marL="0" indent="0">
              <a:spcBef>
                <a:spcPts val="600"/>
              </a:spcBef>
              <a:spcAft>
                <a:spcPts val="1200"/>
              </a:spcAft>
              <a:buNone/>
            </a:pPr>
            <a:r>
              <a:rPr lang="en-US" sz="2200" b="1" dirty="0" smtClean="0">
                <a:latin typeface="Helvetica" pitchFamily="34" charset="0"/>
              </a:rPr>
              <a:t>	10% 			5%</a:t>
            </a:r>
          </a:p>
          <a:p>
            <a:pPr marL="420624" lvl="1" indent="-384048">
              <a:spcBef>
                <a:spcPts val="600"/>
              </a:spcBef>
              <a:spcAft>
                <a:spcPts val="1200"/>
              </a:spcAft>
              <a:buSzPct val="80000"/>
              <a:buFont typeface="Wingdings 2"/>
              <a:buChar char=""/>
            </a:pPr>
            <a:r>
              <a:rPr lang="en-US" sz="2200" dirty="0" smtClean="0"/>
              <a:t>The larger the function, the lower the %</a:t>
            </a:r>
          </a:p>
          <a:p>
            <a:pPr marL="0" indent="0">
              <a:spcBef>
                <a:spcPts val="600"/>
              </a:spcBef>
              <a:spcAft>
                <a:spcPts val="1200"/>
              </a:spcAft>
              <a:buNone/>
            </a:pPr>
            <a:endParaRPr lang="en-US" sz="2200" dirty="0" smtClean="0">
              <a:latin typeface="Helvetica" pitchFamily="34" charset="0"/>
            </a:endParaRP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sp>
        <p:nvSpPr>
          <p:cNvPr id="5" name="Right Arrow 4"/>
          <p:cNvSpPr/>
          <p:nvPr/>
        </p:nvSpPr>
        <p:spPr>
          <a:xfrm>
            <a:off x="2786050" y="2643182"/>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pic>
        <p:nvPicPr>
          <p:cNvPr id="9218" name="Picture 2" descr="C:\Documents and Settings\Godaishu\Desktop\PHOTOS\2012\Culinary 2012\Fruit and vegeble\MP900409624.JPG"/>
          <p:cNvPicPr>
            <a:picLocks noChangeAspect="1" noChangeArrowheads="1"/>
          </p:cNvPicPr>
          <p:nvPr/>
        </p:nvPicPr>
        <p:blipFill>
          <a:blip r:embed="rId3" cstate="print"/>
          <a:srcRect/>
          <a:stretch>
            <a:fillRect/>
          </a:stretch>
        </p:blipFill>
        <p:spPr bwMode="auto">
          <a:xfrm>
            <a:off x="6286512" y="2285992"/>
            <a:ext cx="1950720" cy="195072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56792"/>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Use requisition and portion control effectively:</a:t>
            </a:r>
          </a:p>
          <a:p>
            <a:pPr marL="420624" lvl="1" indent="-384048">
              <a:spcBef>
                <a:spcPts val="600"/>
              </a:spcBef>
              <a:spcAft>
                <a:spcPts val="1200"/>
              </a:spcAft>
              <a:buSzPct val="80000"/>
              <a:buFont typeface="Wingdings 2"/>
              <a:buChar char=""/>
            </a:pPr>
            <a:r>
              <a:rPr lang="en-US" sz="2200" dirty="0" smtClean="0"/>
              <a:t>Allow for mishaps</a:t>
            </a:r>
          </a:p>
          <a:p>
            <a:pPr marL="420624" lvl="1" indent="-384048">
              <a:spcBef>
                <a:spcPts val="600"/>
              </a:spcBef>
              <a:spcAft>
                <a:spcPts val="1200"/>
              </a:spcAft>
              <a:buSzPct val="80000"/>
              <a:buFont typeface="Wingdings 2"/>
              <a:buChar char=""/>
            </a:pPr>
            <a:r>
              <a:rPr lang="en-US" sz="2200" dirty="0" smtClean="0"/>
              <a:t>Manage for positive outcomes</a:t>
            </a:r>
          </a:p>
          <a:p>
            <a:pPr marL="420624" lvl="1" indent="-384048">
              <a:spcBef>
                <a:spcPts val="600"/>
              </a:spcBef>
              <a:spcAft>
                <a:spcPts val="1200"/>
              </a:spcAft>
              <a:buSzPct val="80000"/>
              <a:buFont typeface="Wingdings 2"/>
              <a:buChar char=""/>
            </a:pPr>
            <a:r>
              <a:rPr lang="en-US" sz="2200" dirty="0" smtClean="0"/>
              <a:t>Maximise higher profit margins on </a:t>
            </a:r>
            <a:br>
              <a:rPr lang="en-US" sz="2200" dirty="0" smtClean="0"/>
            </a:br>
            <a:r>
              <a:rPr lang="en-US" sz="2200" dirty="0" smtClean="0"/>
              <a:t>every menu items</a:t>
            </a:r>
          </a:p>
          <a:p>
            <a:pPr marL="0" indent="0">
              <a:spcBef>
                <a:spcPts val="600"/>
              </a:spcBef>
              <a:spcAft>
                <a:spcPts val="1200"/>
              </a:spcAft>
              <a:buNone/>
            </a:pPr>
            <a:endParaRPr lang="en-US" sz="2200" dirty="0" smtClean="0">
              <a:latin typeface="Helvetica" pitchFamily="34" charset="0"/>
            </a:endParaRP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8194" name="Picture 2" descr="C:\Documents and Settings\Godaishu\Desktop\PHOTOS\2012\Culinary 2012\Chef cooking5.jpg"/>
          <p:cNvPicPr>
            <a:picLocks noChangeAspect="1" noChangeArrowheads="1"/>
          </p:cNvPicPr>
          <p:nvPr/>
        </p:nvPicPr>
        <p:blipFill>
          <a:blip r:embed="rId3" cstate="print"/>
          <a:srcRect/>
          <a:stretch>
            <a:fillRect/>
          </a:stretch>
        </p:blipFill>
        <p:spPr bwMode="auto">
          <a:xfrm>
            <a:off x="5786446" y="2214554"/>
            <a:ext cx="2403488" cy="1802616"/>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56792"/>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Use standard recipes correctly:</a:t>
            </a:r>
          </a:p>
          <a:p>
            <a:pPr marL="420624" lvl="1" indent="-384048">
              <a:spcBef>
                <a:spcPts val="600"/>
              </a:spcBef>
              <a:spcAft>
                <a:spcPts val="1200"/>
              </a:spcAft>
              <a:buSzPct val="80000"/>
              <a:buFont typeface="Wingdings 2"/>
              <a:buChar char=""/>
            </a:pPr>
            <a:r>
              <a:rPr lang="en-US" sz="2200" dirty="0" smtClean="0"/>
              <a:t>Purchase required weights</a:t>
            </a:r>
          </a:p>
          <a:p>
            <a:pPr marL="420624" lvl="1" indent="-384048">
              <a:spcBef>
                <a:spcPts val="600"/>
              </a:spcBef>
              <a:spcAft>
                <a:spcPts val="1200"/>
              </a:spcAft>
              <a:buSzPct val="80000"/>
              <a:buFont typeface="Wingdings 2"/>
              <a:buChar char=""/>
            </a:pPr>
            <a:r>
              <a:rPr lang="en-US" sz="2200" dirty="0" smtClean="0"/>
              <a:t>Check yield</a:t>
            </a:r>
          </a:p>
          <a:p>
            <a:pPr marL="420624" lvl="1" indent="-384048">
              <a:spcBef>
                <a:spcPts val="600"/>
              </a:spcBef>
              <a:spcAft>
                <a:spcPts val="1200"/>
              </a:spcAft>
              <a:buSzPct val="80000"/>
              <a:buFont typeface="Wingdings 2"/>
              <a:buChar char=""/>
            </a:pPr>
            <a:r>
              <a:rPr lang="en-US" sz="2200" dirty="0" smtClean="0"/>
              <a:t>Validate results</a:t>
            </a:r>
          </a:p>
          <a:p>
            <a:pPr marL="420624" lvl="1" indent="-384048">
              <a:spcBef>
                <a:spcPts val="600"/>
              </a:spcBef>
              <a:spcAft>
                <a:spcPts val="1200"/>
              </a:spcAft>
              <a:buSzPct val="80000"/>
              <a:buFont typeface="Wingdings 2"/>
              <a:buChar char=""/>
            </a:pPr>
            <a:r>
              <a:rPr lang="en-US" sz="2200" dirty="0" smtClean="0"/>
              <a:t>Update or check pricing prices: every 3 months / 12 months?</a:t>
            </a:r>
          </a:p>
          <a:p>
            <a:pPr marL="0" indent="0">
              <a:spcBef>
                <a:spcPts val="600"/>
              </a:spcBef>
              <a:spcAft>
                <a:spcPts val="1200"/>
              </a:spcAft>
              <a:buNone/>
            </a:pPr>
            <a:endParaRPr lang="en-US" sz="2200" b="1" dirty="0" smtClean="0">
              <a:latin typeface="Helvetica" pitchFamily="34" charset="0"/>
            </a:endParaRPr>
          </a:p>
          <a:p>
            <a:pPr marL="0" indent="0">
              <a:spcBef>
                <a:spcPts val="600"/>
              </a:spcBef>
              <a:spcAft>
                <a:spcPts val="1200"/>
              </a:spcAft>
              <a:buNone/>
            </a:pPr>
            <a:endParaRPr lang="en-US" sz="2200" b="1" dirty="0" smtClean="0">
              <a:latin typeface="Helvetica" pitchFamily="34" charset="0"/>
            </a:endParaRP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7170" name="Picture 2" descr="C:\Documents and Settings\Godaishu\Desktop\PHOTOS\2012\Culinary 2012\Chef cooking2.jpg"/>
          <p:cNvPicPr>
            <a:picLocks noChangeAspect="1" noChangeArrowheads="1"/>
          </p:cNvPicPr>
          <p:nvPr/>
        </p:nvPicPr>
        <p:blipFill>
          <a:blip r:embed="rId3" cstate="print"/>
          <a:srcRect/>
          <a:stretch>
            <a:fillRect/>
          </a:stretch>
        </p:blipFill>
        <p:spPr bwMode="auto">
          <a:xfrm>
            <a:off x="5357818" y="2214554"/>
            <a:ext cx="2206630" cy="1463042"/>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56792"/>
            <a:ext cx="8064896" cy="4525963"/>
          </a:xfrm>
        </p:spPr>
        <p:txBody>
          <a:bodyPr>
            <a:noAutofit/>
          </a:bodyPr>
          <a:lstStyle/>
          <a:p>
            <a:pPr marL="0" indent="0">
              <a:spcBef>
                <a:spcPts val="600"/>
              </a:spcBef>
              <a:spcAft>
                <a:spcPts val="1200"/>
              </a:spcAft>
              <a:buNone/>
            </a:pPr>
            <a:r>
              <a:rPr lang="en-US" sz="2100" b="1" dirty="0" smtClean="0">
                <a:latin typeface="Helvetica" pitchFamily="34" charset="0"/>
              </a:rPr>
              <a:t>Implement ordering and stock rotation  practices:</a:t>
            </a:r>
          </a:p>
          <a:p>
            <a:pPr marL="0" indent="0">
              <a:spcBef>
                <a:spcPts val="600"/>
              </a:spcBef>
              <a:spcAft>
                <a:spcPts val="1200"/>
              </a:spcAft>
              <a:buNone/>
            </a:pPr>
            <a:r>
              <a:rPr lang="en-US" sz="2100" dirty="0" smtClean="0">
                <a:latin typeface="Helvetica" pitchFamily="34" charset="0"/>
              </a:rPr>
              <a:t>Ordering procedures</a:t>
            </a:r>
          </a:p>
          <a:p>
            <a:pPr marL="420624" lvl="1" indent="-384048">
              <a:spcBef>
                <a:spcPts val="600"/>
              </a:spcBef>
              <a:spcAft>
                <a:spcPts val="1200"/>
              </a:spcAft>
              <a:buSzPct val="80000"/>
              <a:buFont typeface="Wingdings 2"/>
              <a:buChar char=""/>
            </a:pPr>
            <a:r>
              <a:rPr lang="en-US" sz="2100" dirty="0" smtClean="0"/>
              <a:t>What is required to prepare menu?</a:t>
            </a:r>
          </a:p>
          <a:p>
            <a:pPr marL="420624" lvl="1" indent="-384048">
              <a:spcBef>
                <a:spcPts val="600"/>
              </a:spcBef>
              <a:spcAft>
                <a:spcPts val="1200"/>
              </a:spcAft>
              <a:buSzPct val="80000"/>
              <a:buFont typeface="Wingdings 2"/>
              <a:buChar char=""/>
            </a:pPr>
            <a:r>
              <a:rPr lang="en-US" sz="2100" dirty="0" smtClean="0"/>
              <a:t>Break done menu items into elements</a:t>
            </a:r>
          </a:p>
          <a:p>
            <a:pPr marL="0" indent="0">
              <a:spcBef>
                <a:spcPts val="600"/>
              </a:spcBef>
              <a:spcAft>
                <a:spcPts val="1200"/>
              </a:spcAft>
              <a:buNone/>
            </a:pPr>
            <a:r>
              <a:rPr lang="en-US" sz="2100" dirty="0" smtClean="0">
                <a:latin typeface="Helvetica" pitchFamily="34" charset="0"/>
              </a:rPr>
              <a:t>Example: Bolognese Sauce</a:t>
            </a:r>
          </a:p>
          <a:p>
            <a:pPr marL="0" indent="0">
              <a:spcBef>
                <a:spcPts val="600"/>
              </a:spcBef>
              <a:spcAft>
                <a:spcPts val="1200"/>
              </a:spcAft>
              <a:buNone/>
            </a:pPr>
            <a:r>
              <a:rPr lang="en-US" sz="2100" dirty="0" smtClean="0">
                <a:latin typeface="Helvetica" pitchFamily="34" charset="0"/>
              </a:rPr>
              <a:t>Beef mince; pork mince; onion; celery; carrot; garlic; oregano; basil, salt; pepper; vegetable oil; Tomatoes; tomato paste.</a:t>
            </a:r>
          </a:p>
          <a:p>
            <a:pPr marL="0" indent="0">
              <a:spcBef>
                <a:spcPts val="600"/>
              </a:spcBef>
              <a:spcAft>
                <a:spcPts val="1200"/>
              </a:spcAft>
              <a:buNone/>
            </a:pPr>
            <a:r>
              <a:rPr lang="en-US" sz="2100" dirty="0" smtClean="0">
                <a:latin typeface="Helvetica" pitchFamily="34" charset="0"/>
              </a:rPr>
              <a:t>Amounts required will depend on standard recipe and how many times this recipe may be required in ordering period.</a:t>
            </a:r>
          </a:p>
          <a:p>
            <a:pPr marL="457200" indent="-457200">
              <a:spcBef>
                <a:spcPts val="600"/>
              </a:spcBef>
              <a:spcAft>
                <a:spcPts val="1200"/>
              </a:spcAft>
              <a:buFont typeface="+mj-lt"/>
              <a:buAutoNum type="arabicPeriod"/>
            </a:pPr>
            <a:endParaRPr lang="en-US" sz="2100" b="1" dirty="0" smtClean="0">
              <a:latin typeface="Helvetica" pitchFamily="34" charset="0"/>
            </a:endParaRPr>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6146" name="Picture 2" descr="C:\Documents and Settings\Godaishu\Local Settings\Temporary Internet Files\Content.IE5\QE61NRUL\MC900296125[1].wmf"/>
          <p:cNvPicPr>
            <a:picLocks noChangeAspect="1" noChangeArrowheads="1"/>
          </p:cNvPicPr>
          <p:nvPr/>
        </p:nvPicPr>
        <p:blipFill>
          <a:blip r:embed="rId3" cstate="print"/>
          <a:srcRect/>
          <a:stretch>
            <a:fillRect/>
          </a:stretch>
        </p:blipFill>
        <p:spPr bwMode="auto">
          <a:xfrm>
            <a:off x="6143636" y="2214554"/>
            <a:ext cx="2005294" cy="1774910"/>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56792"/>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Implement ordering and stock rotation  practices:</a:t>
            </a:r>
          </a:p>
          <a:p>
            <a:pPr marL="0" indent="0">
              <a:spcBef>
                <a:spcPts val="600"/>
              </a:spcBef>
              <a:spcAft>
                <a:spcPts val="1200"/>
              </a:spcAft>
              <a:buNone/>
            </a:pPr>
            <a:r>
              <a:rPr lang="en-US" sz="2200" dirty="0" smtClean="0">
                <a:latin typeface="Helvetica" pitchFamily="34" charset="0"/>
              </a:rPr>
              <a:t>Ordering procedures</a:t>
            </a:r>
          </a:p>
          <a:p>
            <a:pPr marL="420624" lvl="1" indent="-384048">
              <a:spcBef>
                <a:spcPts val="600"/>
              </a:spcBef>
              <a:spcAft>
                <a:spcPts val="1200"/>
              </a:spcAft>
              <a:buSzPct val="80000"/>
              <a:buFont typeface="Wingdings 2"/>
              <a:buChar char=""/>
            </a:pPr>
            <a:r>
              <a:rPr lang="en-US" sz="2200" dirty="0" smtClean="0"/>
              <a:t>Make a stock list for the menu</a:t>
            </a:r>
          </a:p>
          <a:p>
            <a:pPr marL="420624" lvl="1" indent="-384048">
              <a:spcBef>
                <a:spcPts val="600"/>
              </a:spcBef>
              <a:spcAft>
                <a:spcPts val="1200"/>
              </a:spcAft>
              <a:buSzPct val="80000"/>
              <a:buFont typeface="Wingdings 2"/>
              <a:buChar char=""/>
            </a:pPr>
            <a:r>
              <a:rPr lang="en-US" sz="2200" dirty="0" smtClean="0"/>
              <a:t>How many stock items can be used for multiple menu items?</a:t>
            </a:r>
          </a:p>
          <a:p>
            <a:pPr marL="420624" lvl="1" indent="-384048">
              <a:spcBef>
                <a:spcPts val="600"/>
              </a:spcBef>
              <a:spcAft>
                <a:spcPts val="1200"/>
              </a:spcAft>
              <a:buSzPct val="80000"/>
              <a:buFont typeface="Wingdings 2"/>
              <a:buChar char=""/>
            </a:pPr>
            <a:r>
              <a:rPr lang="en-US" sz="2200" dirty="0" smtClean="0"/>
              <a:t>Have all possibilities been thought about?</a:t>
            </a:r>
          </a:p>
          <a:p>
            <a:pPr marL="420624" lvl="1" indent="-384048">
              <a:spcBef>
                <a:spcPts val="600"/>
              </a:spcBef>
              <a:spcAft>
                <a:spcPts val="1200"/>
              </a:spcAft>
              <a:buSzPct val="80000"/>
              <a:buFont typeface="Wingdings 2"/>
              <a:buChar char=""/>
            </a:pPr>
            <a:r>
              <a:rPr lang="en-US" sz="2200" dirty="0" smtClean="0"/>
              <a:t>How much will be required for ordering cycle?</a:t>
            </a:r>
          </a:p>
          <a:p>
            <a:pPr marL="0" indent="0">
              <a:spcBef>
                <a:spcPts val="600"/>
              </a:spcBef>
              <a:spcAft>
                <a:spcPts val="1200"/>
              </a:spcAft>
            </a:pPr>
            <a:endParaRPr lang="en-US" sz="2200" dirty="0" smtClean="0">
              <a:latin typeface="Helvetica" pitchFamily="34" charset="0"/>
            </a:endParaRP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123" name="Picture 3" descr="C:\Documents and Settings\Godaishu\Local Settings\Temporary Internet Files\Content.IE5\YISE4YB4\MC900060030[1].wmf"/>
          <p:cNvPicPr>
            <a:picLocks noChangeAspect="1" noChangeArrowheads="1"/>
          </p:cNvPicPr>
          <p:nvPr/>
        </p:nvPicPr>
        <p:blipFill>
          <a:blip r:embed="rId3" cstate="print"/>
          <a:srcRect/>
          <a:stretch>
            <a:fillRect/>
          </a:stretch>
        </p:blipFill>
        <p:spPr bwMode="auto">
          <a:xfrm>
            <a:off x="6286512" y="2357430"/>
            <a:ext cx="1826971" cy="773582"/>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56792"/>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Implement ordering and stock rotation  practices:</a:t>
            </a:r>
          </a:p>
          <a:p>
            <a:pPr marL="0" indent="0">
              <a:spcBef>
                <a:spcPts val="600"/>
              </a:spcBef>
              <a:spcAft>
                <a:spcPts val="1200"/>
              </a:spcAft>
              <a:buNone/>
            </a:pPr>
            <a:r>
              <a:rPr lang="en-US" sz="2200" dirty="0" smtClean="0">
                <a:latin typeface="Helvetica" pitchFamily="34" charset="0"/>
              </a:rPr>
              <a:t>Stock Rotation</a:t>
            </a:r>
          </a:p>
          <a:p>
            <a:pPr marL="420624" lvl="1" indent="-384048">
              <a:spcBef>
                <a:spcPts val="600"/>
              </a:spcBef>
              <a:spcAft>
                <a:spcPts val="1200"/>
              </a:spcAft>
              <a:buSzPct val="80000"/>
              <a:buFont typeface="Wingdings 2"/>
              <a:buChar char=""/>
            </a:pPr>
            <a:r>
              <a:rPr lang="en-US" sz="2200" dirty="0" smtClean="0"/>
              <a:t>New stock arrives</a:t>
            </a:r>
          </a:p>
          <a:p>
            <a:pPr marL="420624" lvl="1" indent="-384048">
              <a:spcBef>
                <a:spcPts val="600"/>
              </a:spcBef>
              <a:spcAft>
                <a:spcPts val="1200"/>
              </a:spcAft>
              <a:buSzPct val="80000"/>
              <a:buFont typeface="Wingdings 2"/>
              <a:buChar char=""/>
            </a:pPr>
            <a:r>
              <a:rPr lang="en-US" sz="2200" dirty="0" smtClean="0"/>
              <a:t>Remove old stock from shelf</a:t>
            </a:r>
          </a:p>
          <a:p>
            <a:pPr marL="420624" lvl="1" indent="-384048">
              <a:spcBef>
                <a:spcPts val="600"/>
              </a:spcBef>
              <a:spcAft>
                <a:spcPts val="1200"/>
              </a:spcAft>
              <a:buSzPct val="80000"/>
              <a:buFont typeface="Wingdings 2"/>
              <a:buChar char=""/>
            </a:pPr>
            <a:r>
              <a:rPr lang="en-US" sz="2200" dirty="0" smtClean="0"/>
              <a:t>Place new product on shelf</a:t>
            </a:r>
          </a:p>
          <a:p>
            <a:pPr marL="420624" lvl="1" indent="-384048">
              <a:spcBef>
                <a:spcPts val="600"/>
              </a:spcBef>
              <a:spcAft>
                <a:spcPts val="1200"/>
              </a:spcAft>
              <a:buSzPct val="80000"/>
              <a:buFont typeface="Wingdings 2"/>
              <a:buChar char=""/>
            </a:pPr>
            <a:r>
              <a:rPr lang="en-US" sz="2200" dirty="0" smtClean="0"/>
              <a:t>Replace old stock in front of new stock</a:t>
            </a:r>
          </a:p>
          <a:p>
            <a:pPr marL="0" indent="0">
              <a:spcBef>
                <a:spcPts val="600"/>
              </a:spcBef>
              <a:spcAft>
                <a:spcPts val="1200"/>
              </a:spcAft>
            </a:pPr>
            <a:endParaRPr lang="en-US" sz="2200" dirty="0" smtClean="0">
              <a:latin typeface="Helvetica" pitchFamily="34" charset="0"/>
            </a:endParaRP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4098" name="Picture 2" descr="C:\Documents and Settings\Godaishu\Desktop\PHOTOS\2012\Culinary 2011\Image Receive and Store Kitchen Supplies\PhotosToGoUnlimited-812518.jpg"/>
          <p:cNvPicPr>
            <a:picLocks noChangeAspect="1" noChangeArrowheads="1"/>
          </p:cNvPicPr>
          <p:nvPr/>
        </p:nvPicPr>
        <p:blipFill>
          <a:blip r:embed="rId3" cstate="print">
            <a:lum contrast="10000"/>
          </a:blip>
          <a:srcRect/>
          <a:stretch>
            <a:fillRect/>
          </a:stretch>
        </p:blipFill>
        <p:spPr bwMode="auto">
          <a:xfrm>
            <a:off x="6643702" y="2643182"/>
            <a:ext cx="1377555" cy="2071702"/>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56792"/>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Use optimum storage procedures:</a:t>
            </a:r>
          </a:p>
          <a:p>
            <a:pPr marL="0" indent="0">
              <a:spcBef>
                <a:spcPts val="600"/>
              </a:spcBef>
              <a:spcAft>
                <a:spcPts val="1200"/>
              </a:spcAft>
              <a:buNone/>
            </a:pPr>
            <a:r>
              <a:rPr lang="en-US" sz="2200" dirty="0" smtClean="0">
                <a:latin typeface="Helvetica" pitchFamily="34" charset="0"/>
              </a:rPr>
              <a:t>Fresh Perishable Foods</a:t>
            </a:r>
          </a:p>
          <a:p>
            <a:pPr marL="420624" lvl="1" indent="-384048">
              <a:spcBef>
                <a:spcPts val="600"/>
              </a:spcBef>
              <a:spcAft>
                <a:spcPts val="1200"/>
              </a:spcAft>
              <a:buSzPct val="80000"/>
              <a:buFont typeface="Wingdings 2"/>
              <a:buChar char=""/>
            </a:pPr>
            <a:r>
              <a:rPr lang="en-US" sz="2200" dirty="0" smtClean="0"/>
              <a:t>Below five (5) degrees Celsius: 5°C</a:t>
            </a:r>
          </a:p>
          <a:p>
            <a:pPr marL="0" indent="0">
              <a:spcBef>
                <a:spcPts val="600"/>
              </a:spcBef>
              <a:spcAft>
                <a:spcPts val="1200"/>
              </a:spcAft>
              <a:buNone/>
            </a:pPr>
            <a:r>
              <a:rPr lang="en-US" sz="2200" dirty="0" smtClean="0">
                <a:latin typeface="Helvetica" pitchFamily="34" charset="0"/>
              </a:rPr>
              <a:t>Frozen Perishable Foods</a:t>
            </a:r>
          </a:p>
          <a:p>
            <a:pPr marL="420624" lvl="1" indent="-384048">
              <a:spcBef>
                <a:spcPts val="600"/>
              </a:spcBef>
              <a:spcAft>
                <a:spcPts val="1200"/>
              </a:spcAft>
              <a:buSzPct val="80000"/>
              <a:buFont typeface="Wingdings 2"/>
              <a:buChar char=""/>
            </a:pPr>
            <a:r>
              <a:rPr lang="en-US" sz="2200" dirty="0" smtClean="0"/>
              <a:t>Below minus Eighteen (18) degrees Celsius: -18°C</a:t>
            </a:r>
          </a:p>
          <a:p>
            <a:pPr marL="0" indent="0">
              <a:spcBef>
                <a:spcPts val="600"/>
              </a:spcBef>
              <a:spcAft>
                <a:spcPts val="1200"/>
              </a:spcAft>
              <a:buNone/>
            </a:pPr>
            <a:r>
              <a:rPr lang="en-US" sz="2200" dirty="0" smtClean="0">
                <a:latin typeface="Helvetica" pitchFamily="34" charset="0"/>
              </a:rPr>
              <a:t>Dry goods</a:t>
            </a:r>
          </a:p>
          <a:p>
            <a:pPr marL="420624" lvl="1" indent="-384048">
              <a:spcBef>
                <a:spcPts val="600"/>
              </a:spcBef>
              <a:spcAft>
                <a:spcPts val="1200"/>
              </a:spcAft>
              <a:buSzPct val="80000"/>
              <a:buFont typeface="Wingdings 2"/>
              <a:buChar char=""/>
            </a:pPr>
            <a:r>
              <a:rPr lang="en-US" sz="2200" dirty="0" smtClean="0"/>
              <a:t>Ambient  Temperature (20) Twenty degrees Celsius: 20 °C</a:t>
            </a:r>
          </a:p>
          <a:p>
            <a:pPr lvl="1"/>
            <a:endParaRPr lang="en-AU" sz="2200" dirty="0" smtClean="0"/>
          </a:p>
          <a:p>
            <a:pPr marL="0" indent="0">
              <a:spcBef>
                <a:spcPts val="600"/>
              </a:spcBef>
              <a:spcAft>
                <a:spcPts val="1200"/>
              </a:spcAft>
              <a:buNone/>
            </a:pPr>
            <a:endParaRPr lang="en-US" sz="2200" b="1" dirty="0" smtClean="0">
              <a:latin typeface="Helvetica" pitchFamily="34" charset="0"/>
            </a:endParaRP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3074" name="Picture 2" descr="C:\Documents and Settings\Godaishu\Desktop\PHOTOS\2012\Culinary 2011\Image Receive and Store Kitchen Supplies\DSC_0078.jpg"/>
          <p:cNvPicPr>
            <a:picLocks noChangeAspect="1" noChangeArrowheads="1"/>
          </p:cNvPicPr>
          <p:nvPr/>
        </p:nvPicPr>
        <p:blipFill>
          <a:blip r:embed="rId3" cstate="print">
            <a:lum contrast="20000"/>
          </a:blip>
          <a:srcRect/>
          <a:stretch>
            <a:fillRect/>
          </a:stretch>
        </p:blipFill>
        <p:spPr bwMode="auto">
          <a:xfrm>
            <a:off x="5857884" y="2000240"/>
            <a:ext cx="2232005" cy="1482191"/>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617681"/>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Use optimum storage procedures:</a:t>
            </a:r>
          </a:p>
          <a:p>
            <a:pPr marL="0" indent="0">
              <a:spcBef>
                <a:spcPts val="600"/>
              </a:spcBef>
              <a:spcAft>
                <a:spcPts val="1200"/>
              </a:spcAft>
              <a:buNone/>
            </a:pPr>
            <a:r>
              <a:rPr lang="en-US" sz="2200" dirty="0" smtClean="0">
                <a:latin typeface="Helvetica" pitchFamily="34" charset="0"/>
              </a:rPr>
              <a:t>Fresh Perishable Foods</a:t>
            </a:r>
          </a:p>
          <a:p>
            <a:pPr marL="420624" lvl="1" indent="-384048">
              <a:spcBef>
                <a:spcPts val="600"/>
              </a:spcBef>
              <a:spcAft>
                <a:spcPts val="1200"/>
              </a:spcAft>
              <a:buSzPct val="80000"/>
              <a:buFont typeface="Wingdings 2"/>
              <a:buChar char=""/>
            </a:pPr>
            <a:r>
              <a:rPr lang="en-US" sz="2200" dirty="0" smtClean="0"/>
              <a:t>Below five (5) degrees Celsius: 5°C</a:t>
            </a:r>
          </a:p>
          <a:p>
            <a:pPr marL="420624" lvl="1" indent="-384048">
              <a:spcBef>
                <a:spcPts val="600"/>
              </a:spcBef>
              <a:spcAft>
                <a:spcPts val="1200"/>
              </a:spcAft>
              <a:buSzPct val="80000"/>
              <a:buFont typeface="Wingdings 2"/>
              <a:buChar char=""/>
            </a:pPr>
            <a:r>
              <a:rPr lang="en-US" sz="2200" dirty="0" smtClean="0"/>
              <a:t>3 days</a:t>
            </a:r>
          </a:p>
          <a:p>
            <a:pPr marL="420624" lvl="1" indent="-384048">
              <a:spcBef>
                <a:spcPts val="600"/>
              </a:spcBef>
              <a:spcAft>
                <a:spcPts val="1200"/>
              </a:spcAft>
              <a:buSzPct val="80000"/>
              <a:buFont typeface="Wingdings 2"/>
              <a:buChar char=""/>
            </a:pPr>
            <a:r>
              <a:rPr lang="en-US" sz="2200" dirty="0" smtClean="0"/>
              <a:t>Labeled and wrapped</a:t>
            </a:r>
          </a:p>
          <a:p>
            <a:pPr marL="0" indent="0">
              <a:spcBef>
                <a:spcPts val="600"/>
              </a:spcBef>
              <a:spcAft>
                <a:spcPts val="1200"/>
              </a:spcAft>
              <a:buNone/>
            </a:pPr>
            <a:endParaRPr lang="en-US" sz="2200" u="sng" dirty="0" smtClean="0">
              <a:latin typeface="Helvetica" pitchFamily="34" charset="0"/>
            </a:endParaRPr>
          </a:p>
          <a:p>
            <a:pPr lvl="1"/>
            <a:endParaRPr lang="en-AU" sz="2200" dirty="0" smtClean="0"/>
          </a:p>
          <a:p>
            <a:pPr marL="0" indent="0">
              <a:spcBef>
                <a:spcPts val="600"/>
              </a:spcBef>
              <a:spcAft>
                <a:spcPts val="1200"/>
              </a:spcAft>
              <a:buNone/>
            </a:pPr>
            <a:endParaRPr lang="en-US" sz="2200" b="1" dirty="0" smtClean="0">
              <a:latin typeface="Helvetica" pitchFamily="34" charset="0"/>
            </a:endParaRP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2050" name="Picture 2" descr="C:\Documents and Settings\Godaishu\Desktop\PHOTOS\2012\Culinary 2011\Image Receive and Store Kitchen Supplies\DSCF1663-1.JPG"/>
          <p:cNvPicPr>
            <a:picLocks noChangeAspect="1" noChangeArrowheads="1"/>
          </p:cNvPicPr>
          <p:nvPr/>
        </p:nvPicPr>
        <p:blipFill>
          <a:blip r:embed="rId3" cstate="print">
            <a:lum contrast="20000"/>
          </a:blip>
          <a:srcRect t="29222" r="30334" b="16177"/>
          <a:stretch>
            <a:fillRect/>
          </a:stretch>
        </p:blipFill>
        <p:spPr bwMode="auto">
          <a:xfrm rot="16200000">
            <a:off x="5253062" y="2533624"/>
            <a:ext cx="3281346" cy="1928826"/>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00174"/>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Element 2: Minimise wastage</a:t>
            </a:r>
          </a:p>
          <a:p>
            <a:pPr marL="420624" lvl="1" indent="-384048">
              <a:spcBef>
                <a:spcPts val="600"/>
              </a:spcBef>
              <a:spcAft>
                <a:spcPts val="1200"/>
              </a:spcAft>
              <a:buSzPct val="80000"/>
              <a:buFont typeface="Wingdings 2"/>
              <a:buChar char=""/>
            </a:pPr>
            <a:r>
              <a:rPr lang="en-AU" sz="2200" dirty="0" smtClean="0"/>
              <a:t>Use trimmings of food products</a:t>
            </a:r>
          </a:p>
          <a:p>
            <a:pPr marL="420624" lvl="1" indent="-384048">
              <a:spcBef>
                <a:spcPts val="600"/>
              </a:spcBef>
              <a:spcAft>
                <a:spcPts val="1200"/>
              </a:spcAft>
              <a:buSzPct val="80000"/>
              <a:buFont typeface="Wingdings 2"/>
              <a:buChar char=""/>
            </a:pPr>
            <a:r>
              <a:rPr lang="en-AU" sz="2200" dirty="0" smtClean="0"/>
              <a:t>Dispose of food wastage in line with enterprise and local authorities’ requirements</a:t>
            </a:r>
          </a:p>
          <a:p>
            <a:pPr marL="420624" lvl="1" indent="-384048">
              <a:spcBef>
                <a:spcPts val="600"/>
              </a:spcBef>
              <a:spcAft>
                <a:spcPts val="1200"/>
              </a:spcAft>
              <a:buSzPct val="80000"/>
              <a:buFont typeface="Wingdings 2"/>
              <a:buChar char=""/>
            </a:pPr>
            <a:r>
              <a:rPr lang="en-AU" sz="2200" dirty="0" smtClean="0"/>
              <a:t>Process recyclable products to local authority </a:t>
            </a:r>
            <a:br>
              <a:rPr lang="en-AU" sz="2200" dirty="0" smtClean="0"/>
            </a:br>
            <a:r>
              <a:rPr lang="en-AU" sz="2200" dirty="0" smtClean="0"/>
              <a:t>requirements</a:t>
            </a: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030102" y="2071678"/>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214810" y="3000372"/>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815524" y="3902086"/>
            <a:ext cx="399154" cy="527046"/>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56792"/>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Use trimmings of food products:</a:t>
            </a:r>
          </a:p>
          <a:p>
            <a:pPr marL="420624" lvl="1" indent="-384048">
              <a:spcBef>
                <a:spcPts val="600"/>
              </a:spcBef>
              <a:spcAft>
                <a:spcPts val="1200"/>
              </a:spcAft>
              <a:buSzPct val="80000"/>
              <a:buFont typeface="Wingdings 2"/>
              <a:buChar char=""/>
            </a:pPr>
            <a:r>
              <a:rPr lang="en-US" sz="2200" dirty="0" smtClean="0"/>
              <a:t>Maximise potential value of all product</a:t>
            </a:r>
          </a:p>
          <a:p>
            <a:pPr marL="420624" lvl="1" indent="-384048">
              <a:spcBef>
                <a:spcPts val="600"/>
              </a:spcBef>
              <a:spcAft>
                <a:spcPts val="1200"/>
              </a:spcAft>
              <a:buSzPct val="80000"/>
              <a:buFont typeface="Wingdings 2"/>
              <a:buChar char=""/>
            </a:pPr>
            <a:r>
              <a:rPr lang="en-US" sz="2200" dirty="0" smtClean="0"/>
              <a:t>Value add</a:t>
            </a:r>
          </a:p>
          <a:p>
            <a:pPr marL="420624" lvl="1" indent="-384048">
              <a:spcBef>
                <a:spcPts val="600"/>
              </a:spcBef>
              <a:spcAft>
                <a:spcPts val="1200"/>
              </a:spcAft>
              <a:buSzPct val="80000"/>
              <a:buFont typeface="Wingdings 2"/>
              <a:buChar char=""/>
            </a:pPr>
            <a:r>
              <a:rPr lang="en-US" sz="2200" dirty="0" smtClean="0"/>
              <a:t>Develop menu flexibility</a:t>
            </a:r>
          </a:p>
          <a:p>
            <a:pPr marL="457200" indent="-4572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5" name="Picture 4" descr="C:\Documents and Settings\Godaishu\Desktop\PHOTOS\Culinary 2012\Triming meat.jpg"/>
          <p:cNvPicPr/>
          <p:nvPr/>
        </p:nvPicPr>
        <p:blipFill>
          <a:blip r:embed="rId3" cstate="print"/>
          <a:srcRect/>
          <a:stretch>
            <a:fillRect/>
          </a:stretch>
        </p:blipFill>
        <p:spPr bwMode="auto">
          <a:xfrm>
            <a:off x="6286512" y="1714488"/>
            <a:ext cx="1573944" cy="242889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56792"/>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Dispose of food wastage according to Local Authorities:</a:t>
            </a:r>
          </a:p>
          <a:p>
            <a:pPr marL="420624" lvl="1" indent="-384048">
              <a:spcBef>
                <a:spcPts val="600"/>
              </a:spcBef>
              <a:spcAft>
                <a:spcPts val="1200"/>
              </a:spcAft>
              <a:buSzPct val="80000"/>
              <a:buFont typeface="Wingdings 2"/>
              <a:buChar char=""/>
            </a:pPr>
            <a:r>
              <a:rPr lang="en-US" sz="2200" dirty="0" smtClean="0"/>
              <a:t>Regular disposal is required to reduce built up of smells</a:t>
            </a:r>
          </a:p>
          <a:p>
            <a:pPr marL="420624" lvl="1" indent="-384048">
              <a:spcBef>
                <a:spcPts val="600"/>
              </a:spcBef>
              <a:spcAft>
                <a:spcPts val="1200"/>
              </a:spcAft>
              <a:buSzPct val="80000"/>
              <a:buFont typeface="Wingdings 2"/>
              <a:buChar char=""/>
            </a:pPr>
            <a:r>
              <a:rPr lang="en-US" sz="2200" dirty="0" smtClean="0"/>
              <a:t>Food waste will attract pests</a:t>
            </a:r>
          </a:p>
          <a:p>
            <a:pPr marL="822960" lvl="1" indent="-384048">
              <a:spcBef>
                <a:spcPts val="600"/>
              </a:spcBef>
              <a:spcAft>
                <a:spcPts val="1200"/>
              </a:spcAft>
              <a:buSzPct val="100000"/>
              <a:buFont typeface="Arial" pitchFamily="34" charset="0"/>
              <a:buChar char="•"/>
            </a:pPr>
            <a:r>
              <a:rPr lang="en-US" sz="2200" dirty="0" smtClean="0"/>
              <a:t>Flies</a:t>
            </a:r>
          </a:p>
          <a:p>
            <a:pPr marL="822960" lvl="1" indent="-384048">
              <a:spcBef>
                <a:spcPts val="600"/>
              </a:spcBef>
              <a:spcAft>
                <a:spcPts val="1200"/>
              </a:spcAft>
              <a:buSzPct val="100000"/>
              <a:buFont typeface="Arial" pitchFamily="34" charset="0"/>
              <a:buChar char="•"/>
            </a:pPr>
            <a:r>
              <a:rPr lang="en-US" sz="2200" dirty="0" smtClean="0"/>
              <a:t>Rodents</a:t>
            </a:r>
          </a:p>
          <a:p>
            <a:pPr marL="822960" lvl="1" indent="-384048">
              <a:spcBef>
                <a:spcPts val="600"/>
              </a:spcBef>
              <a:spcAft>
                <a:spcPts val="1200"/>
              </a:spcAft>
              <a:buSzPct val="100000"/>
              <a:buFont typeface="Arial" pitchFamily="34" charset="0"/>
              <a:buChar char="•"/>
            </a:pPr>
            <a:r>
              <a:rPr lang="en-US" sz="2200" dirty="0" smtClean="0"/>
              <a:t>Animals</a:t>
            </a: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1027" name="Picture 3" descr="C:\Documents and Settings\Godaishu\Local Settings\Temporary Internet Files\Content.IE5\QE61NRUL\MP900437355[1].jpg"/>
          <p:cNvPicPr>
            <a:picLocks noChangeAspect="1" noChangeArrowheads="1"/>
          </p:cNvPicPr>
          <p:nvPr/>
        </p:nvPicPr>
        <p:blipFill>
          <a:blip r:embed="rId3" cstate="print"/>
          <a:srcRect/>
          <a:stretch>
            <a:fillRect/>
          </a:stretch>
        </p:blipFill>
        <p:spPr bwMode="auto">
          <a:xfrm>
            <a:off x="6357950" y="3643314"/>
            <a:ext cx="1903804" cy="1428760"/>
          </a:xfrm>
          <a:prstGeom prst="rect">
            <a:avLst/>
          </a:prstGeom>
          <a:noFill/>
        </p:spPr>
      </p:pic>
      <p:pic>
        <p:nvPicPr>
          <p:cNvPr id="1026" name="Picture 2" descr="C:\Documents and Settings\Godaishu\Local Settings\Temporary Internet Files\Content.IE5\KPAZS1QF\MC900185453[1].wmf"/>
          <p:cNvPicPr>
            <a:picLocks noChangeAspect="1" noChangeArrowheads="1"/>
          </p:cNvPicPr>
          <p:nvPr/>
        </p:nvPicPr>
        <p:blipFill>
          <a:blip r:embed="rId4" cstate="print"/>
          <a:srcRect/>
          <a:stretch>
            <a:fillRect/>
          </a:stretch>
        </p:blipFill>
        <p:spPr bwMode="auto">
          <a:xfrm>
            <a:off x="5786446" y="2571744"/>
            <a:ext cx="1206323" cy="2084875"/>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vert="horz" lIns="45720" rIns="45720" anchor="ctr">
            <a:normAutofit/>
          </a:bodyPr>
          <a:lstStyle/>
          <a:p>
            <a:r>
              <a:rPr lang="en-US" sz="3400" b="1" dirty="0" smtClean="0">
                <a:solidFill>
                  <a:srgbClr val="FF6600"/>
                </a:solidFill>
              </a:rPr>
              <a:t>Apply catering control principles and procedures</a:t>
            </a:r>
            <a:endParaRPr lang="en-US" sz="3400" b="1" dirty="0">
              <a:solidFill>
                <a:srgbClr val="FF6600"/>
              </a:solidFill>
            </a:endParaRPr>
          </a:p>
        </p:txBody>
      </p:sp>
      <p:sp>
        <p:nvSpPr>
          <p:cNvPr id="3" name="Content Placeholder 2"/>
          <p:cNvSpPr>
            <a:spLocks noGrp="1"/>
          </p:cNvSpPr>
          <p:nvPr>
            <p:ph idx="1"/>
          </p:nvPr>
        </p:nvSpPr>
        <p:spPr>
          <a:xfrm>
            <a:off x="611560" y="1556792"/>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Process recyclable products to local authority requirements:</a:t>
            </a:r>
          </a:p>
          <a:p>
            <a:pPr marL="420624" lvl="1" indent="-384048">
              <a:spcBef>
                <a:spcPts val="600"/>
              </a:spcBef>
              <a:spcAft>
                <a:spcPts val="1200"/>
              </a:spcAft>
              <a:buSzPct val="80000"/>
              <a:buFont typeface="Wingdings 2"/>
              <a:buChar char=""/>
            </a:pPr>
            <a:r>
              <a:rPr lang="en-US" sz="2200" dirty="0" smtClean="0"/>
              <a:t>Reduce plastic use</a:t>
            </a:r>
          </a:p>
          <a:p>
            <a:pPr marL="420624" lvl="1" indent="-384048">
              <a:spcBef>
                <a:spcPts val="600"/>
              </a:spcBef>
              <a:spcAft>
                <a:spcPts val="1200"/>
              </a:spcAft>
              <a:buSzPct val="80000"/>
              <a:buFont typeface="Wingdings 2"/>
              <a:buChar char=""/>
            </a:pPr>
            <a:r>
              <a:rPr lang="en-US" sz="2200" dirty="0" smtClean="0"/>
              <a:t>Recycle</a:t>
            </a:r>
          </a:p>
          <a:p>
            <a:pPr marL="420624" lvl="1" indent="-384048">
              <a:spcBef>
                <a:spcPts val="600"/>
              </a:spcBef>
              <a:spcAft>
                <a:spcPts val="1200"/>
              </a:spcAft>
              <a:buSzPct val="80000"/>
              <a:buFont typeface="Wingdings 2"/>
              <a:buChar char=""/>
            </a:pPr>
            <a:r>
              <a:rPr lang="en-US" sz="2200" dirty="0" smtClean="0"/>
              <a:t>Reduce possible contamination</a:t>
            </a: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descr="C:\Documents and Settings\Godaishu\Local Settings\Temporary Internet Files\Content.IE5\YISE4YB4\MP900437220[1].jpg"/>
          <p:cNvPicPr/>
          <p:nvPr/>
        </p:nvPicPr>
        <p:blipFill>
          <a:blip r:embed="rId3" cstate="print"/>
          <a:srcRect/>
          <a:stretch>
            <a:fillRect/>
          </a:stretch>
        </p:blipFill>
        <p:spPr bwMode="auto">
          <a:xfrm>
            <a:off x="5429256" y="2500306"/>
            <a:ext cx="2226300" cy="14878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ASEAN PPT Template 010611 MV">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 PPT Template 010611 MV</Template>
  <TotalTime>516</TotalTime>
  <Words>2710</Words>
  <Application>Microsoft Office PowerPoint</Application>
  <PresentationFormat>On-screen Show (4:3)</PresentationFormat>
  <Paragraphs>422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Helvetica</vt:lpstr>
      <vt:lpstr>Wingdings 2</vt:lpstr>
      <vt:lpstr>ASEAN PPT Template 010611 MV</vt:lpstr>
      <vt:lpstr>APPLY CATERING CONTROL PRINCIPLES AND PROCEDURES</vt:lpstr>
      <vt:lpstr>Apply catering control principles and procedures</vt:lpstr>
      <vt:lpstr>Apply catering control principles and procedures</vt:lpstr>
      <vt:lpstr>Apply catering control principles and procedures</vt:lpstr>
      <vt:lpstr>Apply catering control principles and procedures</vt:lpstr>
      <vt:lpstr>Apply catering control principles and procedures</vt:lpstr>
      <vt:lpstr>Apply catering control principles and procedures</vt:lpstr>
      <vt:lpstr>Apply catering control principles and procedures</vt:lpstr>
      <vt:lpstr>Apply catering control principles and procedures</vt:lpstr>
      <vt:lpstr>Apply catering control principles and procedures</vt:lpstr>
      <vt:lpstr>Apply catering control principles and procedures</vt:lpstr>
      <vt:lpstr>Apply catering control principles and procedures</vt:lpstr>
      <vt:lpstr>Apply catering control principles and procedures</vt:lpstr>
      <vt:lpstr>Apply catering control principles and procedures</vt:lpstr>
      <vt:lpstr>Apply catering control principles and procedures</vt:lpstr>
      <vt:lpstr>Apply catering control principles and procedures</vt:lpstr>
      <vt:lpstr>Apply catering control principles and procedures</vt:lpstr>
      <vt:lpstr>Apply catering control principles and procedures</vt:lpstr>
      <vt:lpstr>Apply catering control principles and procedures</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APPLY CATERING CONTROL PRINCIPLES AND PROCEDURES</dc:title>
  <dc:creator>Administrator</dc:creator>
  <cp:lastModifiedBy>Carla Angelica Co</cp:lastModifiedBy>
  <cp:revision>71</cp:revision>
  <dcterms:created xsi:type="dcterms:W3CDTF">2012-03-28T06:17:25Z</dcterms:created>
  <dcterms:modified xsi:type="dcterms:W3CDTF">2015-03-11T03:57:11Z</dcterms:modified>
</cp:coreProperties>
</file>