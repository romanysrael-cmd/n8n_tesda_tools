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1"/>
  </p:notesMasterIdLst>
  <p:handoutMasterIdLst>
    <p:handoutMasterId r:id="rId132"/>
  </p:handoutMasterIdLst>
  <p:sldIdLst>
    <p:sldId id="256" r:id="rId2"/>
    <p:sldId id="259" r:id="rId3"/>
    <p:sldId id="260" r:id="rId4"/>
    <p:sldId id="261" r:id="rId5"/>
    <p:sldId id="258" r:id="rId6"/>
    <p:sldId id="274" r:id="rId7"/>
    <p:sldId id="275" r:id="rId8"/>
    <p:sldId id="276" r:id="rId9"/>
    <p:sldId id="277" r:id="rId10"/>
    <p:sldId id="278" r:id="rId11"/>
    <p:sldId id="270" r:id="rId12"/>
    <p:sldId id="305" r:id="rId13"/>
    <p:sldId id="306" r:id="rId14"/>
    <p:sldId id="307" r:id="rId15"/>
    <p:sldId id="308" r:id="rId16"/>
    <p:sldId id="309" r:id="rId17"/>
    <p:sldId id="310" r:id="rId18"/>
    <p:sldId id="311" r:id="rId19"/>
    <p:sldId id="312" r:id="rId20"/>
    <p:sldId id="317" r:id="rId21"/>
    <p:sldId id="318" r:id="rId22"/>
    <p:sldId id="319" r:id="rId23"/>
    <p:sldId id="320" r:id="rId24"/>
    <p:sldId id="321" r:id="rId25"/>
    <p:sldId id="322" r:id="rId26"/>
    <p:sldId id="323" r:id="rId27"/>
    <p:sldId id="313" r:id="rId28"/>
    <p:sldId id="324" r:id="rId29"/>
    <p:sldId id="325" r:id="rId30"/>
    <p:sldId id="314" r:id="rId31"/>
    <p:sldId id="315" r:id="rId32"/>
    <p:sldId id="316" r:id="rId33"/>
    <p:sldId id="326" r:id="rId34"/>
    <p:sldId id="327" r:id="rId35"/>
    <p:sldId id="328" r:id="rId36"/>
    <p:sldId id="329" r:id="rId37"/>
    <p:sldId id="296" r:id="rId38"/>
    <p:sldId id="330" r:id="rId39"/>
    <p:sldId id="331" r:id="rId40"/>
    <p:sldId id="334" r:id="rId41"/>
    <p:sldId id="335" r:id="rId42"/>
    <p:sldId id="297" r:id="rId43"/>
    <p:sldId id="336" r:id="rId44"/>
    <p:sldId id="337" r:id="rId45"/>
    <p:sldId id="346" r:id="rId46"/>
    <p:sldId id="347" r:id="rId47"/>
    <p:sldId id="348" r:id="rId48"/>
    <p:sldId id="349" r:id="rId49"/>
    <p:sldId id="350" r:id="rId50"/>
    <p:sldId id="351" r:id="rId51"/>
    <p:sldId id="352" r:id="rId52"/>
    <p:sldId id="353" r:id="rId53"/>
    <p:sldId id="298" r:id="rId54"/>
    <p:sldId id="299" r:id="rId55"/>
    <p:sldId id="354" r:id="rId56"/>
    <p:sldId id="355" r:id="rId57"/>
    <p:sldId id="356" r:id="rId58"/>
    <p:sldId id="357" r:id="rId59"/>
    <p:sldId id="358" r:id="rId60"/>
    <p:sldId id="359" r:id="rId61"/>
    <p:sldId id="360" r:id="rId62"/>
    <p:sldId id="361" r:id="rId63"/>
    <p:sldId id="362" r:id="rId64"/>
    <p:sldId id="374" r:id="rId65"/>
    <p:sldId id="375" r:id="rId66"/>
    <p:sldId id="376" r:id="rId67"/>
    <p:sldId id="377" r:id="rId68"/>
    <p:sldId id="378" r:id="rId69"/>
    <p:sldId id="379" r:id="rId70"/>
    <p:sldId id="380" r:id="rId71"/>
    <p:sldId id="300" r:id="rId72"/>
    <p:sldId id="363" r:id="rId73"/>
    <p:sldId id="364" r:id="rId74"/>
    <p:sldId id="365" r:id="rId75"/>
    <p:sldId id="366" r:id="rId76"/>
    <p:sldId id="367" r:id="rId77"/>
    <p:sldId id="301" r:id="rId78"/>
    <p:sldId id="381" r:id="rId79"/>
    <p:sldId id="382" r:id="rId80"/>
    <p:sldId id="383" r:id="rId81"/>
    <p:sldId id="384" r:id="rId82"/>
    <p:sldId id="385" r:id="rId83"/>
    <p:sldId id="386" r:id="rId84"/>
    <p:sldId id="387" r:id="rId85"/>
    <p:sldId id="388" r:id="rId86"/>
    <p:sldId id="389" r:id="rId87"/>
    <p:sldId id="302" r:id="rId88"/>
    <p:sldId id="390" r:id="rId89"/>
    <p:sldId id="391" r:id="rId90"/>
    <p:sldId id="392" r:id="rId91"/>
    <p:sldId id="393" r:id="rId92"/>
    <p:sldId id="394" r:id="rId93"/>
    <p:sldId id="395" r:id="rId94"/>
    <p:sldId id="396" r:id="rId95"/>
    <p:sldId id="397" r:id="rId96"/>
    <p:sldId id="398" r:id="rId97"/>
    <p:sldId id="399" r:id="rId98"/>
    <p:sldId id="400" r:id="rId99"/>
    <p:sldId id="303" r:id="rId100"/>
    <p:sldId id="401" r:id="rId101"/>
    <p:sldId id="402" r:id="rId102"/>
    <p:sldId id="403" r:id="rId103"/>
    <p:sldId id="404" r:id="rId104"/>
    <p:sldId id="304" r:id="rId105"/>
    <p:sldId id="408" r:id="rId106"/>
    <p:sldId id="409" r:id="rId107"/>
    <p:sldId id="410" r:id="rId108"/>
    <p:sldId id="411" r:id="rId109"/>
    <p:sldId id="412" r:id="rId110"/>
    <p:sldId id="413" r:id="rId111"/>
    <p:sldId id="414" r:id="rId112"/>
    <p:sldId id="415" r:id="rId113"/>
    <p:sldId id="416" r:id="rId114"/>
    <p:sldId id="417" r:id="rId115"/>
    <p:sldId id="286" r:id="rId116"/>
    <p:sldId id="282" r:id="rId117"/>
    <p:sldId id="283" r:id="rId118"/>
    <p:sldId id="284" r:id="rId119"/>
    <p:sldId id="285" r:id="rId120"/>
    <p:sldId id="272" r:id="rId121"/>
    <p:sldId id="291" r:id="rId122"/>
    <p:sldId id="292" r:id="rId123"/>
    <p:sldId id="293" r:id="rId124"/>
    <p:sldId id="294" r:id="rId125"/>
    <p:sldId id="295" r:id="rId126"/>
    <p:sldId id="287" r:id="rId127"/>
    <p:sldId id="288" r:id="rId128"/>
    <p:sldId id="289" r:id="rId129"/>
    <p:sldId id="290" r:id="rId13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0335" autoAdjust="0"/>
    <p:restoredTop sz="93100" autoAdjust="0"/>
  </p:normalViewPr>
  <p:slideViewPr>
    <p:cSldViewPr>
      <p:cViewPr varScale="1">
        <p:scale>
          <a:sx n="86" d="100"/>
          <a:sy n="86" d="100"/>
        </p:scale>
        <p:origin x="49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3780" y="99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657B9D-FA47-42DE-ACC1-3FD41C848A28}"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en-AU"/>
        </a:p>
      </dgm:t>
    </dgm:pt>
    <dgm:pt modelId="{5BA23122-012D-4691-AEB7-3899D4C6F3B5}">
      <dgm:prSet phldrT="[Text]" custT="1"/>
      <dgm:spPr/>
      <dgm:t>
        <a:bodyPr/>
        <a:lstStyle/>
        <a:p>
          <a:r>
            <a:rPr lang="en-US" sz="1600" dirty="0" smtClean="0">
              <a:latin typeface="Helvetica" pitchFamily="34" charset="0"/>
            </a:rPr>
            <a:t>Oral questions</a:t>
          </a:r>
          <a:endParaRPr lang="en-AU" sz="1600" dirty="0">
            <a:latin typeface="Helvetica" pitchFamily="34" charset="0"/>
          </a:endParaRPr>
        </a:p>
      </dgm:t>
    </dgm:pt>
    <dgm:pt modelId="{A5C50488-F79D-4518-85E2-47147074EF18}" type="parTrans" cxnId="{5644C08B-74CC-4477-AC87-668E210EAA66}">
      <dgm:prSet/>
      <dgm:spPr/>
      <dgm:t>
        <a:bodyPr/>
        <a:lstStyle/>
        <a:p>
          <a:endParaRPr lang="en-AU"/>
        </a:p>
      </dgm:t>
    </dgm:pt>
    <dgm:pt modelId="{AF3EF01C-00BB-4C90-B3BD-12DE0F7E2BF2}" type="sibTrans" cxnId="{5644C08B-74CC-4477-AC87-668E210EAA66}">
      <dgm:prSet/>
      <dgm:spPr/>
      <dgm:t>
        <a:bodyPr/>
        <a:lstStyle/>
        <a:p>
          <a:endParaRPr lang="en-AU"/>
        </a:p>
      </dgm:t>
    </dgm:pt>
    <dgm:pt modelId="{70B5618E-9D1C-44A0-8366-533A4EF43D1F}">
      <dgm:prSet phldrT="[Text]" custT="1"/>
      <dgm:spPr/>
      <dgm:t>
        <a:bodyPr/>
        <a:lstStyle/>
        <a:p>
          <a:r>
            <a:rPr lang="en-US" sz="1600" dirty="0" smtClean="0">
              <a:latin typeface="Helvetica" pitchFamily="34" charset="0"/>
            </a:rPr>
            <a:t>Practical exercises</a:t>
          </a:r>
          <a:endParaRPr lang="en-AU" sz="1600" dirty="0">
            <a:latin typeface="Helvetica" pitchFamily="34" charset="0"/>
          </a:endParaRPr>
        </a:p>
      </dgm:t>
    </dgm:pt>
    <dgm:pt modelId="{61411858-4649-4FE4-8F31-55C1FAB86A24}" type="parTrans" cxnId="{4A106C0B-F551-40B2-ABDF-AD4130FC7B1F}">
      <dgm:prSet/>
      <dgm:spPr/>
      <dgm:t>
        <a:bodyPr/>
        <a:lstStyle/>
        <a:p>
          <a:endParaRPr lang="en-AU"/>
        </a:p>
      </dgm:t>
    </dgm:pt>
    <dgm:pt modelId="{0D2FB3D4-ACC8-45EB-A4CC-04301314D3D3}" type="sibTrans" cxnId="{4A106C0B-F551-40B2-ABDF-AD4130FC7B1F}">
      <dgm:prSet/>
      <dgm:spPr/>
      <dgm:t>
        <a:bodyPr/>
        <a:lstStyle/>
        <a:p>
          <a:endParaRPr lang="en-AU"/>
        </a:p>
      </dgm:t>
    </dgm:pt>
    <dgm:pt modelId="{A10DE5E2-831C-4F24-9E1D-83B9CCA7DD70}">
      <dgm:prSet phldrT="[Text]" custT="1"/>
      <dgm:spPr/>
      <dgm:t>
        <a:bodyPr/>
        <a:lstStyle/>
        <a:p>
          <a:r>
            <a:rPr lang="en-US" sz="1600" dirty="0" smtClean="0">
              <a:latin typeface="Helvetica" pitchFamily="34" charset="0"/>
            </a:rPr>
            <a:t>Formal report from employer/supervisor</a:t>
          </a:r>
          <a:endParaRPr lang="en-AU" sz="1600" dirty="0">
            <a:latin typeface="Helvetica" pitchFamily="34" charset="0"/>
          </a:endParaRPr>
        </a:p>
      </dgm:t>
    </dgm:pt>
    <dgm:pt modelId="{0E69BCF1-6E6F-47E0-A5C1-36F095E995A4}" type="parTrans" cxnId="{E1849EAD-5DC8-4B92-BE6D-3E5970EA1E88}">
      <dgm:prSet/>
      <dgm:spPr/>
      <dgm:t>
        <a:bodyPr/>
        <a:lstStyle/>
        <a:p>
          <a:endParaRPr lang="en-AU"/>
        </a:p>
      </dgm:t>
    </dgm:pt>
    <dgm:pt modelId="{2280148A-5F98-475E-8B97-4346F15668C3}" type="sibTrans" cxnId="{E1849EAD-5DC8-4B92-BE6D-3E5970EA1E88}">
      <dgm:prSet/>
      <dgm:spPr/>
      <dgm:t>
        <a:bodyPr/>
        <a:lstStyle/>
        <a:p>
          <a:endParaRPr lang="en-AU"/>
        </a:p>
      </dgm:t>
    </dgm:pt>
    <dgm:pt modelId="{96D21CFC-604C-405C-A467-8C062A006756}">
      <dgm:prSet phldrT="[Text]" custT="1"/>
      <dgm:spPr/>
      <dgm:t>
        <a:bodyPr/>
        <a:lstStyle/>
        <a:p>
          <a:r>
            <a:rPr lang="en-US" sz="1600" dirty="0" smtClean="0">
              <a:latin typeface="Helvetica" pitchFamily="34" charset="0"/>
            </a:rPr>
            <a:t>Written questions</a:t>
          </a:r>
          <a:endParaRPr lang="en-AU" sz="1600" dirty="0">
            <a:latin typeface="Helvetica" pitchFamily="34" charset="0"/>
          </a:endParaRPr>
        </a:p>
      </dgm:t>
    </dgm:pt>
    <dgm:pt modelId="{4A4BDA41-4D5F-4EC0-8AEE-1D310D9944F4}" type="parTrans" cxnId="{49F72F23-B435-4252-8661-590A9AFCA7EA}">
      <dgm:prSet/>
      <dgm:spPr/>
      <dgm:t>
        <a:bodyPr/>
        <a:lstStyle/>
        <a:p>
          <a:endParaRPr lang="en-AU"/>
        </a:p>
      </dgm:t>
    </dgm:pt>
    <dgm:pt modelId="{79876B1C-3FFF-43A8-A2B5-03CEF1863D6B}" type="sibTrans" cxnId="{49F72F23-B435-4252-8661-590A9AFCA7EA}">
      <dgm:prSet/>
      <dgm:spPr/>
      <dgm:t>
        <a:bodyPr/>
        <a:lstStyle/>
        <a:p>
          <a:endParaRPr lang="en-AU"/>
        </a:p>
      </dgm:t>
    </dgm:pt>
    <dgm:pt modelId="{18C2AE82-2128-4D4D-903F-7F1E54DC0738}">
      <dgm:prSet phldrT="[Text]" custT="1"/>
      <dgm:spPr/>
      <dgm:t>
        <a:bodyPr/>
        <a:lstStyle/>
        <a:p>
          <a:r>
            <a:rPr lang="en-US" sz="1600" dirty="0" smtClean="0">
              <a:latin typeface="Helvetica" pitchFamily="34" charset="0"/>
            </a:rPr>
            <a:t>Work projects</a:t>
          </a:r>
          <a:endParaRPr lang="en-AU" sz="1600" dirty="0">
            <a:latin typeface="Helvetica" pitchFamily="34" charset="0"/>
          </a:endParaRPr>
        </a:p>
      </dgm:t>
    </dgm:pt>
    <dgm:pt modelId="{B9143A54-437F-47F4-952D-8614861E7A86}" type="parTrans" cxnId="{031918FC-F90C-4826-9F4F-51932E4D7B14}">
      <dgm:prSet/>
      <dgm:spPr/>
      <dgm:t>
        <a:bodyPr/>
        <a:lstStyle/>
        <a:p>
          <a:endParaRPr lang="en-AU"/>
        </a:p>
      </dgm:t>
    </dgm:pt>
    <dgm:pt modelId="{7C0032B8-4EE5-4CAE-8C34-C83D73E274D9}" type="sibTrans" cxnId="{031918FC-F90C-4826-9F4F-51932E4D7B14}">
      <dgm:prSet/>
      <dgm:spPr/>
      <dgm:t>
        <a:bodyPr/>
        <a:lstStyle/>
        <a:p>
          <a:endParaRPr lang="en-AU"/>
        </a:p>
      </dgm:t>
    </dgm:pt>
    <dgm:pt modelId="{33B99091-0D74-4409-85BB-62AE20E02EC8}">
      <dgm:prSet phldrT="[Text]" custT="1"/>
      <dgm:spPr/>
      <dgm:t>
        <a:bodyPr/>
        <a:lstStyle/>
        <a:p>
          <a:r>
            <a:rPr lang="en-US" sz="1600" dirty="0" smtClean="0">
              <a:latin typeface="Helvetica" pitchFamily="34" charset="0"/>
            </a:rPr>
            <a:t>Workplace observation of practical skills</a:t>
          </a:r>
          <a:endParaRPr lang="en-AU" sz="1600" dirty="0">
            <a:latin typeface="Helvetica" pitchFamily="34" charset="0"/>
          </a:endParaRPr>
        </a:p>
      </dgm:t>
    </dgm:pt>
    <dgm:pt modelId="{0A5FE926-D852-497F-93C0-74167EBCF55C}" type="parTrans" cxnId="{2D8AE842-3062-4CD6-ADD5-86E40D351349}">
      <dgm:prSet/>
      <dgm:spPr/>
      <dgm:t>
        <a:bodyPr/>
        <a:lstStyle/>
        <a:p>
          <a:endParaRPr lang="en-AU"/>
        </a:p>
      </dgm:t>
    </dgm:pt>
    <dgm:pt modelId="{E7AA3216-D820-4354-AE89-31DD49AF3523}" type="sibTrans" cxnId="{2D8AE842-3062-4CD6-ADD5-86E40D351349}">
      <dgm:prSet/>
      <dgm:spPr/>
      <dgm:t>
        <a:bodyPr/>
        <a:lstStyle/>
        <a:p>
          <a:endParaRPr lang="en-AU"/>
        </a:p>
      </dgm:t>
    </dgm:pt>
    <dgm:pt modelId="{E203BFE8-1841-417F-AEAE-0AC6ED4309C7}" type="pres">
      <dgm:prSet presAssocID="{58657B9D-FA47-42DE-ACC1-3FD41C848A28}" presName="linear" presStyleCnt="0">
        <dgm:presLayoutVars>
          <dgm:dir/>
          <dgm:animLvl val="lvl"/>
          <dgm:resizeHandles val="exact"/>
        </dgm:presLayoutVars>
      </dgm:prSet>
      <dgm:spPr/>
      <dgm:t>
        <a:bodyPr/>
        <a:lstStyle/>
        <a:p>
          <a:endParaRPr lang="en-AU"/>
        </a:p>
      </dgm:t>
    </dgm:pt>
    <dgm:pt modelId="{FBCA37A9-81B5-4059-B260-98B2658FAEB2}" type="pres">
      <dgm:prSet presAssocID="{5BA23122-012D-4691-AEB7-3899D4C6F3B5}" presName="parentLin" presStyleCnt="0"/>
      <dgm:spPr/>
    </dgm:pt>
    <dgm:pt modelId="{CD141E6F-9B4E-4E82-BD00-49AB9E6E928E}" type="pres">
      <dgm:prSet presAssocID="{5BA23122-012D-4691-AEB7-3899D4C6F3B5}" presName="parentLeftMargin" presStyleLbl="node1" presStyleIdx="0" presStyleCnt="6"/>
      <dgm:spPr/>
      <dgm:t>
        <a:bodyPr/>
        <a:lstStyle/>
        <a:p>
          <a:endParaRPr lang="en-AU"/>
        </a:p>
      </dgm:t>
    </dgm:pt>
    <dgm:pt modelId="{8BE60A47-25D1-4C33-82CA-78AD655F9CC8}" type="pres">
      <dgm:prSet presAssocID="{5BA23122-012D-4691-AEB7-3899D4C6F3B5}" presName="parentText" presStyleLbl="node1" presStyleIdx="0" presStyleCnt="6" custScaleX="107519">
        <dgm:presLayoutVars>
          <dgm:chMax val="0"/>
          <dgm:bulletEnabled val="1"/>
        </dgm:presLayoutVars>
      </dgm:prSet>
      <dgm:spPr/>
      <dgm:t>
        <a:bodyPr/>
        <a:lstStyle/>
        <a:p>
          <a:endParaRPr lang="en-AU"/>
        </a:p>
      </dgm:t>
    </dgm:pt>
    <dgm:pt modelId="{770186A5-8871-4E89-AF38-4066301E5093}" type="pres">
      <dgm:prSet presAssocID="{5BA23122-012D-4691-AEB7-3899D4C6F3B5}" presName="negativeSpace" presStyleCnt="0"/>
      <dgm:spPr/>
    </dgm:pt>
    <dgm:pt modelId="{E2D0899D-0DCC-4667-8B72-28CBBDBEEE41}" type="pres">
      <dgm:prSet presAssocID="{5BA23122-012D-4691-AEB7-3899D4C6F3B5}" presName="childText" presStyleLbl="conFgAcc1" presStyleIdx="0" presStyleCnt="6">
        <dgm:presLayoutVars>
          <dgm:bulletEnabled val="1"/>
        </dgm:presLayoutVars>
      </dgm:prSet>
      <dgm:spPr/>
    </dgm:pt>
    <dgm:pt modelId="{D08CA44B-D6F3-466B-95A7-6E64F61D7585}" type="pres">
      <dgm:prSet presAssocID="{AF3EF01C-00BB-4C90-B3BD-12DE0F7E2BF2}" presName="spaceBetweenRectangles" presStyleCnt="0"/>
      <dgm:spPr/>
    </dgm:pt>
    <dgm:pt modelId="{E41A575E-33A5-4C7F-B2DE-3239691482FF}" type="pres">
      <dgm:prSet presAssocID="{96D21CFC-604C-405C-A467-8C062A006756}" presName="parentLin" presStyleCnt="0"/>
      <dgm:spPr/>
    </dgm:pt>
    <dgm:pt modelId="{AEB78F04-D223-4647-BFB6-FB72426E6EBF}" type="pres">
      <dgm:prSet presAssocID="{96D21CFC-604C-405C-A467-8C062A006756}" presName="parentLeftMargin" presStyleLbl="node1" presStyleIdx="0" presStyleCnt="6"/>
      <dgm:spPr/>
      <dgm:t>
        <a:bodyPr/>
        <a:lstStyle/>
        <a:p>
          <a:endParaRPr lang="en-AU"/>
        </a:p>
      </dgm:t>
    </dgm:pt>
    <dgm:pt modelId="{2034445F-699B-4D07-A149-887E478D94FF}" type="pres">
      <dgm:prSet presAssocID="{96D21CFC-604C-405C-A467-8C062A006756}" presName="parentText" presStyleLbl="node1" presStyleIdx="1" presStyleCnt="6" custScaleX="107519">
        <dgm:presLayoutVars>
          <dgm:chMax val="0"/>
          <dgm:bulletEnabled val="1"/>
        </dgm:presLayoutVars>
      </dgm:prSet>
      <dgm:spPr/>
      <dgm:t>
        <a:bodyPr/>
        <a:lstStyle/>
        <a:p>
          <a:endParaRPr lang="en-AU"/>
        </a:p>
      </dgm:t>
    </dgm:pt>
    <dgm:pt modelId="{FC74A6FD-F982-4768-B748-7E56B62FF144}" type="pres">
      <dgm:prSet presAssocID="{96D21CFC-604C-405C-A467-8C062A006756}" presName="negativeSpace" presStyleCnt="0"/>
      <dgm:spPr/>
    </dgm:pt>
    <dgm:pt modelId="{1B400EB2-DC4B-4D73-BFA4-A55779833068}" type="pres">
      <dgm:prSet presAssocID="{96D21CFC-604C-405C-A467-8C062A006756}" presName="childText" presStyleLbl="conFgAcc1" presStyleIdx="1" presStyleCnt="6">
        <dgm:presLayoutVars>
          <dgm:bulletEnabled val="1"/>
        </dgm:presLayoutVars>
      </dgm:prSet>
      <dgm:spPr/>
    </dgm:pt>
    <dgm:pt modelId="{A3E34836-2E9E-4B5A-954B-42FB0CB27DEC}" type="pres">
      <dgm:prSet presAssocID="{79876B1C-3FFF-43A8-A2B5-03CEF1863D6B}" presName="spaceBetweenRectangles" presStyleCnt="0"/>
      <dgm:spPr/>
    </dgm:pt>
    <dgm:pt modelId="{769F3138-74F5-403F-9902-E63BDDD6068E}" type="pres">
      <dgm:prSet presAssocID="{18C2AE82-2128-4D4D-903F-7F1E54DC0738}" presName="parentLin" presStyleCnt="0"/>
      <dgm:spPr/>
    </dgm:pt>
    <dgm:pt modelId="{44125321-099A-4B04-A867-150F140052BC}" type="pres">
      <dgm:prSet presAssocID="{18C2AE82-2128-4D4D-903F-7F1E54DC0738}" presName="parentLeftMargin" presStyleLbl="node1" presStyleIdx="1" presStyleCnt="6"/>
      <dgm:spPr/>
      <dgm:t>
        <a:bodyPr/>
        <a:lstStyle/>
        <a:p>
          <a:endParaRPr lang="en-AU"/>
        </a:p>
      </dgm:t>
    </dgm:pt>
    <dgm:pt modelId="{9404D0F4-ADA6-465B-A08D-3582EEF5D445}" type="pres">
      <dgm:prSet presAssocID="{18C2AE82-2128-4D4D-903F-7F1E54DC0738}" presName="parentText" presStyleLbl="node1" presStyleIdx="2" presStyleCnt="6" custScaleX="107519">
        <dgm:presLayoutVars>
          <dgm:chMax val="0"/>
          <dgm:bulletEnabled val="1"/>
        </dgm:presLayoutVars>
      </dgm:prSet>
      <dgm:spPr/>
      <dgm:t>
        <a:bodyPr/>
        <a:lstStyle/>
        <a:p>
          <a:endParaRPr lang="en-AU"/>
        </a:p>
      </dgm:t>
    </dgm:pt>
    <dgm:pt modelId="{F977B072-F33E-4EA4-81FA-491E208490A4}" type="pres">
      <dgm:prSet presAssocID="{18C2AE82-2128-4D4D-903F-7F1E54DC0738}" presName="negativeSpace" presStyleCnt="0"/>
      <dgm:spPr/>
    </dgm:pt>
    <dgm:pt modelId="{AA191AD1-92F7-450E-AEC0-C69A1EC9C832}" type="pres">
      <dgm:prSet presAssocID="{18C2AE82-2128-4D4D-903F-7F1E54DC0738}" presName="childText" presStyleLbl="conFgAcc1" presStyleIdx="2" presStyleCnt="6">
        <dgm:presLayoutVars>
          <dgm:bulletEnabled val="1"/>
        </dgm:presLayoutVars>
      </dgm:prSet>
      <dgm:spPr/>
    </dgm:pt>
    <dgm:pt modelId="{67545B0B-0774-495D-B474-037F86AF5D4C}" type="pres">
      <dgm:prSet presAssocID="{7C0032B8-4EE5-4CAE-8C34-C83D73E274D9}" presName="spaceBetweenRectangles" presStyleCnt="0"/>
      <dgm:spPr/>
    </dgm:pt>
    <dgm:pt modelId="{47D58CB3-CC01-4D8D-BD5C-4FBEB8E1D5B8}" type="pres">
      <dgm:prSet presAssocID="{33B99091-0D74-4409-85BB-62AE20E02EC8}" presName="parentLin" presStyleCnt="0"/>
      <dgm:spPr/>
    </dgm:pt>
    <dgm:pt modelId="{78DE10B5-82B1-4379-94FD-8E7B5035E7EF}" type="pres">
      <dgm:prSet presAssocID="{33B99091-0D74-4409-85BB-62AE20E02EC8}" presName="parentLeftMargin" presStyleLbl="node1" presStyleIdx="2" presStyleCnt="6"/>
      <dgm:spPr/>
      <dgm:t>
        <a:bodyPr/>
        <a:lstStyle/>
        <a:p>
          <a:endParaRPr lang="en-AU"/>
        </a:p>
      </dgm:t>
    </dgm:pt>
    <dgm:pt modelId="{D37FDACC-728B-4949-AC4F-79118EB22065}" type="pres">
      <dgm:prSet presAssocID="{33B99091-0D74-4409-85BB-62AE20E02EC8}" presName="parentText" presStyleLbl="node1" presStyleIdx="3" presStyleCnt="6" custScaleX="107519">
        <dgm:presLayoutVars>
          <dgm:chMax val="0"/>
          <dgm:bulletEnabled val="1"/>
        </dgm:presLayoutVars>
      </dgm:prSet>
      <dgm:spPr/>
      <dgm:t>
        <a:bodyPr/>
        <a:lstStyle/>
        <a:p>
          <a:endParaRPr lang="en-AU"/>
        </a:p>
      </dgm:t>
    </dgm:pt>
    <dgm:pt modelId="{2F850CE6-63A9-45FA-88F9-821678FCDF1B}" type="pres">
      <dgm:prSet presAssocID="{33B99091-0D74-4409-85BB-62AE20E02EC8}" presName="negativeSpace" presStyleCnt="0"/>
      <dgm:spPr/>
    </dgm:pt>
    <dgm:pt modelId="{1AF35BF5-592F-4350-94ED-796A95EA4A29}" type="pres">
      <dgm:prSet presAssocID="{33B99091-0D74-4409-85BB-62AE20E02EC8}" presName="childText" presStyleLbl="conFgAcc1" presStyleIdx="3" presStyleCnt="6">
        <dgm:presLayoutVars>
          <dgm:bulletEnabled val="1"/>
        </dgm:presLayoutVars>
      </dgm:prSet>
      <dgm:spPr/>
    </dgm:pt>
    <dgm:pt modelId="{B4501E4C-E877-46D2-A9B7-73429BD3572F}" type="pres">
      <dgm:prSet presAssocID="{E7AA3216-D820-4354-AE89-31DD49AF3523}" presName="spaceBetweenRectangles" presStyleCnt="0"/>
      <dgm:spPr/>
    </dgm:pt>
    <dgm:pt modelId="{74FDE527-EE67-4AC2-ACE1-C2B726B85F6E}" type="pres">
      <dgm:prSet presAssocID="{70B5618E-9D1C-44A0-8366-533A4EF43D1F}" presName="parentLin" presStyleCnt="0"/>
      <dgm:spPr/>
    </dgm:pt>
    <dgm:pt modelId="{6076F4F2-5608-4AB8-A8E4-739928286EE2}" type="pres">
      <dgm:prSet presAssocID="{70B5618E-9D1C-44A0-8366-533A4EF43D1F}" presName="parentLeftMargin" presStyleLbl="node1" presStyleIdx="3" presStyleCnt="6"/>
      <dgm:spPr/>
      <dgm:t>
        <a:bodyPr/>
        <a:lstStyle/>
        <a:p>
          <a:endParaRPr lang="en-AU"/>
        </a:p>
      </dgm:t>
    </dgm:pt>
    <dgm:pt modelId="{CD828194-F5B2-4146-9264-D8297ABD839D}" type="pres">
      <dgm:prSet presAssocID="{70B5618E-9D1C-44A0-8366-533A4EF43D1F}" presName="parentText" presStyleLbl="node1" presStyleIdx="4" presStyleCnt="6" custScaleX="107519">
        <dgm:presLayoutVars>
          <dgm:chMax val="0"/>
          <dgm:bulletEnabled val="1"/>
        </dgm:presLayoutVars>
      </dgm:prSet>
      <dgm:spPr/>
      <dgm:t>
        <a:bodyPr/>
        <a:lstStyle/>
        <a:p>
          <a:endParaRPr lang="en-AU"/>
        </a:p>
      </dgm:t>
    </dgm:pt>
    <dgm:pt modelId="{69E3FEEF-19D8-4AE1-A739-673ABF5711E6}" type="pres">
      <dgm:prSet presAssocID="{70B5618E-9D1C-44A0-8366-533A4EF43D1F}" presName="negativeSpace" presStyleCnt="0"/>
      <dgm:spPr/>
    </dgm:pt>
    <dgm:pt modelId="{DE9DFB3A-80D9-44A8-8134-1A0411433A1D}" type="pres">
      <dgm:prSet presAssocID="{70B5618E-9D1C-44A0-8366-533A4EF43D1F}" presName="childText" presStyleLbl="conFgAcc1" presStyleIdx="4" presStyleCnt="6">
        <dgm:presLayoutVars>
          <dgm:bulletEnabled val="1"/>
        </dgm:presLayoutVars>
      </dgm:prSet>
      <dgm:spPr/>
    </dgm:pt>
    <dgm:pt modelId="{16663C06-CF5D-4FFE-BE34-21D36EC6969A}" type="pres">
      <dgm:prSet presAssocID="{0D2FB3D4-ACC8-45EB-A4CC-04301314D3D3}" presName="spaceBetweenRectangles" presStyleCnt="0"/>
      <dgm:spPr/>
    </dgm:pt>
    <dgm:pt modelId="{9C52DA52-D161-46AD-992F-6B7B6A322B47}" type="pres">
      <dgm:prSet presAssocID="{A10DE5E2-831C-4F24-9E1D-83B9CCA7DD70}" presName="parentLin" presStyleCnt="0"/>
      <dgm:spPr/>
    </dgm:pt>
    <dgm:pt modelId="{D5C974F9-A140-4456-9EC9-1E30F9C7A0D4}" type="pres">
      <dgm:prSet presAssocID="{A10DE5E2-831C-4F24-9E1D-83B9CCA7DD70}" presName="parentLeftMargin" presStyleLbl="node1" presStyleIdx="4" presStyleCnt="6"/>
      <dgm:spPr/>
      <dgm:t>
        <a:bodyPr/>
        <a:lstStyle/>
        <a:p>
          <a:endParaRPr lang="en-AU"/>
        </a:p>
      </dgm:t>
    </dgm:pt>
    <dgm:pt modelId="{2F55574D-5C11-4B48-B7C7-5A6713898ABC}" type="pres">
      <dgm:prSet presAssocID="{A10DE5E2-831C-4F24-9E1D-83B9CCA7DD70}" presName="parentText" presStyleLbl="node1" presStyleIdx="5" presStyleCnt="6" custScaleX="107519">
        <dgm:presLayoutVars>
          <dgm:chMax val="0"/>
          <dgm:bulletEnabled val="1"/>
        </dgm:presLayoutVars>
      </dgm:prSet>
      <dgm:spPr/>
      <dgm:t>
        <a:bodyPr/>
        <a:lstStyle/>
        <a:p>
          <a:endParaRPr lang="en-AU"/>
        </a:p>
      </dgm:t>
    </dgm:pt>
    <dgm:pt modelId="{B3F36743-9F4E-40F5-BE06-DC44EEF5E339}" type="pres">
      <dgm:prSet presAssocID="{A10DE5E2-831C-4F24-9E1D-83B9CCA7DD70}" presName="negativeSpace" presStyleCnt="0"/>
      <dgm:spPr/>
    </dgm:pt>
    <dgm:pt modelId="{06C848A3-CBB7-4FAC-8224-E9865725B979}" type="pres">
      <dgm:prSet presAssocID="{A10DE5E2-831C-4F24-9E1D-83B9CCA7DD70}" presName="childText" presStyleLbl="conFgAcc1" presStyleIdx="5" presStyleCnt="6">
        <dgm:presLayoutVars>
          <dgm:bulletEnabled val="1"/>
        </dgm:presLayoutVars>
      </dgm:prSet>
      <dgm:spPr/>
    </dgm:pt>
  </dgm:ptLst>
  <dgm:cxnLst>
    <dgm:cxn modelId="{49F72F23-B435-4252-8661-590A9AFCA7EA}" srcId="{58657B9D-FA47-42DE-ACC1-3FD41C848A28}" destId="{96D21CFC-604C-405C-A467-8C062A006756}" srcOrd="1" destOrd="0" parTransId="{4A4BDA41-4D5F-4EC0-8AEE-1D310D9944F4}" sibTransId="{79876B1C-3FFF-43A8-A2B5-03CEF1863D6B}"/>
    <dgm:cxn modelId="{2D8AE842-3062-4CD6-ADD5-86E40D351349}" srcId="{58657B9D-FA47-42DE-ACC1-3FD41C848A28}" destId="{33B99091-0D74-4409-85BB-62AE20E02EC8}" srcOrd="3" destOrd="0" parTransId="{0A5FE926-D852-497F-93C0-74167EBCF55C}" sibTransId="{E7AA3216-D820-4354-AE89-31DD49AF3523}"/>
    <dgm:cxn modelId="{532D7D33-FEB0-464F-A2D3-F2259D230F22}" type="presOf" srcId="{A10DE5E2-831C-4F24-9E1D-83B9CCA7DD70}" destId="{D5C974F9-A140-4456-9EC9-1E30F9C7A0D4}" srcOrd="0" destOrd="0" presId="urn:microsoft.com/office/officeart/2005/8/layout/list1"/>
    <dgm:cxn modelId="{0DD087DA-0289-4872-B31B-20C3A62362F3}" type="presOf" srcId="{70B5618E-9D1C-44A0-8366-533A4EF43D1F}" destId="{6076F4F2-5608-4AB8-A8E4-739928286EE2}" srcOrd="0" destOrd="0" presId="urn:microsoft.com/office/officeart/2005/8/layout/list1"/>
    <dgm:cxn modelId="{3B7CA6E8-DB30-485C-BD80-A091B37C0BC8}" type="presOf" srcId="{33B99091-0D74-4409-85BB-62AE20E02EC8}" destId="{78DE10B5-82B1-4379-94FD-8E7B5035E7EF}" srcOrd="0" destOrd="0" presId="urn:microsoft.com/office/officeart/2005/8/layout/list1"/>
    <dgm:cxn modelId="{9FD419A2-74AC-4115-84DA-DBFD5915150A}" type="presOf" srcId="{5BA23122-012D-4691-AEB7-3899D4C6F3B5}" destId="{CD141E6F-9B4E-4E82-BD00-49AB9E6E928E}" srcOrd="0" destOrd="0" presId="urn:microsoft.com/office/officeart/2005/8/layout/list1"/>
    <dgm:cxn modelId="{487CF613-D84F-4C90-B1B2-7C51940AACCE}" type="presOf" srcId="{33B99091-0D74-4409-85BB-62AE20E02EC8}" destId="{D37FDACC-728B-4949-AC4F-79118EB22065}" srcOrd="1" destOrd="0" presId="urn:microsoft.com/office/officeart/2005/8/layout/list1"/>
    <dgm:cxn modelId="{5644C08B-74CC-4477-AC87-668E210EAA66}" srcId="{58657B9D-FA47-42DE-ACC1-3FD41C848A28}" destId="{5BA23122-012D-4691-AEB7-3899D4C6F3B5}" srcOrd="0" destOrd="0" parTransId="{A5C50488-F79D-4518-85E2-47147074EF18}" sibTransId="{AF3EF01C-00BB-4C90-B3BD-12DE0F7E2BF2}"/>
    <dgm:cxn modelId="{E1849EAD-5DC8-4B92-BE6D-3E5970EA1E88}" srcId="{58657B9D-FA47-42DE-ACC1-3FD41C848A28}" destId="{A10DE5E2-831C-4F24-9E1D-83B9CCA7DD70}" srcOrd="5" destOrd="0" parTransId="{0E69BCF1-6E6F-47E0-A5C1-36F095E995A4}" sibTransId="{2280148A-5F98-475E-8B97-4346F15668C3}"/>
    <dgm:cxn modelId="{8566D5B7-023C-4596-A382-FBAEFA7E2C71}" type="presOf" srcId="{5BA23122-012D-4691-AEB7-3899D4C6F3B5}" destId="{8BE60A47-25D1-4C33-82CA-78AD655F9CC8}" srcOrd="1" destOrd="0" presId="urn:microsoft.com/office/officeart/2005/8/layout/list1"/>
    <dgm:cxn modelId="{031918FC-F90C-4826-9F4F-51932E4D7B14}" srcId="{58657B9D-FA47-42DE-ACC1-3FD41C848A28}" destId="{18C2AE82-2128-4D4D-903F-7F1E54DC0738}" srcOrd="2" destOrd="0" parTransId="{B9143A54-437F-47F4-952D-8614861E7A86}" sibTransId="{7C0032B8-4EE5-4CAE-8C34-C83D73E274D9}"/>
    <dgm:cxn modelId="{7C0065E2-5DCF-4F90-A8D6-01CFEDB746A5}" type="presOf" srcId="{96D21CFC-604C-405C-A467-8C062A006756}" destId="{AEB78F04-D223-4647-BFB6-FB72426E6EBF}" srcOrd="0" destOrd="0" presId="urn:microsoft.com/office/officeart/2005/8/layout/list1"/>
    <dgm:cxn modelId="{73527C0B-CEAE-4274-8E90-B4C1B72EC566}" type="presOf" srcId="{70B5618E-9D1C-44A0-8366-533A4EF43D1F}" destId="{CD828194-F5B2-4146-9264-D8297ABD839D}" srcOrd="1" destOrd="0" presId="urn:microsoft.com/office/officeart/2005/8/layout/list1"/>
    <dgm:cxn modelId="{A8A1BEFC-45F7-42BF-8443-2B375A36DC53}" type="presOf" srcId="{96D21CFC-604C-405C-A467-8C062A006756}" destId="{2034445F-699B-4D07-A149-887E478D94FF}" srcOrd="1" destOrd="0" presId="urn:microsoft.com/office/officeart/2005/8/layout/list1"/>
    <dgm:cxn modelId="{1491F53C-D573-4657-9559-0805FA2A1D4F}" type="presOf" srcId="{18C2AE82-2128-4D4D-903F-7F1E54DC0738}" destId="{44125321-099A-4B04-A867-150F140052BC}" srcOrd="0" destOrd="0" presId="urn:microsoft.com/office/officeart/2005/8/layout/list1"/>
    <dgm:cxn modelId="{4A106C0B-F551-40B2-ABDF-AD4130FC7B1F}" srcId="{58657B9D-FA47-42DE-ACC1-3FD41C848A28}" destId="{70B5618E-9D1C-44A0-8366-533A4EF43D1F}" srcOrd="4" destOrd="0" parTransId="{61411858-4649-4FE4-8F31-55C1FAB86A24}" sibTransId="{0D2FB3D4-ACC8-45EB-A4CC-04301314D3D3}"/>
    <dgm:cxn modelId="{6CE2EB30-7347-4D84-B8F0-D56FFCA0C2C0}" type="presOf" srcId="{58657B9D-FA47-42DE-ACC1-3FD41C848A28}" destId="{E203BFE8-1841-417F-AEAE-0AC6ED4309C7}" srcOrd="0" destOrd="0" presId="urn:microsoft.com/office/officeart/2005/8/layout/list1"/>
    <dgm:cxn modelId="{C670E914-E1CD-405E-B27E-8A77C61E8289}" type="presOf" srcId="{A10DE5E2-831C-4F24-9E1D-83B9CCA7DD70}" destId="{2F55574D-5C11-4B48-B7C7-5A6713898ABC}" srcOrd="1" destOrd="0" presId="urn:microsoft.com/office/officeart/2005/8/layout/list1"/>
    <dgm:cxn modelId="{9F44A323-058B-4B49-8D5C-4D132C47944C}" type="presOf" srcId="{18C2AE82-2128-4D4D-903F-7F1E54DC0738}" destId="{9404D0F4-ADA6-465B-A08D-3582EEF5D445}" srcOrd="1" destOrd="0" presId="urn:microsoft.com/office/officeart/2005/8/layout/list1"/>
    <dgm:cxn modelId="{0EF7EAFE-2665-4812-AF4D-37EF6A31EC7B}" type="presParOf" srcId="{E203BFE8-1841-417F-AEAE-0AC6ED4309C7}" destId="{FBCA37A9-81B5-4059-B260-98B2658FAEB2}" srcOrd="0" destOrd="0" presId="urn:microsoft.com/office/officeart/2005/8/layout/list1"/>
    <dgm:cxn modelId="{54D475CF-8839-45B0-91EA-4DA19D08B6E6}" type="presParOf" srcId="{FBCA37A9-81B5-4059-B260-98B2658FAEB2}" destId="{CD141E6F-9B4E-4E82-BD00-49AB9E6E928E}" srcOrd="0" destOrd="0" presId="urn:microsoft.com/office/officeart/2005/8/layout/list1"/>
    <dgm:cxn modelId="{238E10FD-969C-4254-8A2D-003EF0DBD320}" type="presParOf" srcId="{FBCA37A9-81B5-4059-B260-98B2658FAEB2}" destId="{8BE60A47-25D1-4C33-82CA-78AD655F9CC8}" srcOrd="1" destOrd="0" presId="urn:microsoft.com/office/officeart/2005/8/layout/list1"/>
    <dgm:cxn modelId="{A2C54143-E891-4C87-B44A-26D612E4AC69}" type="presParOf" srcId="{E203BFE8-1841-417F-AEAE-0AC6ED4309C7}" destId="{770186A5-8871-4E89-AF38-4066301E5093}" srcOrd="1" destOrd="0" presId="urn:microsoft.com/office/officeart/2005/8/layout/list1"/>
    <dgm:cxn modelId="{7D46AE0B-B3E5-4E5E-8836-4F9EF70CD7EF}" type="presParOf" srcId="{E203BFE8-1841-417F-AEAE-0AC6ED4309C7}" destId="{E2D0899D-0DCC-4667-8B72-28CBBDBEEE41}" srcOrd="2" destOrd="0" presId="urn:microsoft.com/office/officeart/2005/8/layout/list1"/>
    <dgm:cxn modelId="{506FA3D3-7AC4-4AC6-AF18-ADC20BCA7A62}" type="presParOf" srcId="{E203BFE8-1841-417F-AEAE-0AC6ED4309C7}" destId="{D08CA44B-D6F3-466B-95A7-6E64F61D7585}" srcOrd="3" destOrd="0" presId="urn:microsoft.com/office/officeart/2005/8/layout/list1"/>
    <dgm:cxn modelId="{D7B26511-BFCB-491A-9E80-4AFAECB06BC8}" type="presParOf" srcId="{E203BFE8-1841-417F-AEAE-0AC6ED4309C7}" destId="{E41A575E-33A5-4C7F-B2DE-3239691482FF}" srcOrd="4" destOrd="0" presId="urn:microsoft.com/office/officeart/2005/8/layout/list1"/>
    <dgm:cxn modelId="{3B25EBA4-9A7C-4C3F-AFC3-91E6E1E4CED6}" type="presParOf" srcId="{E41A575E-33A5-4C7F-B2DE-3239691482FF}" destId="{AEB78F04-D223-4647-BFB6-FB72426E6EBF}" srcOrd="0" destOrd="0" presId="urn:microsoft.com/office/officeart/2005/8/layout/list1"/>
    <dgm:cxn modelId="{3B26E35C-59F9-4124-BC7C-BF8201A8FE7F}" type="presParOf" srcId="{E41A575E-33A5-4C7F-B2DE-3239691482FF}" destId="{2034445F-699B-4D07-A149-887E478D94FF}" srcOrd="1" destOrd="0" presId="urn:microsoft.com/office/officeart/2005/8/layout/list1"/>
    <dgm:cxn modelId="{38D3C491-26DF-4507-89AD-680BD8FF5C87}" type="presParOf" srcId="{E203BFE8-1841-417F-AEAE-0AC6ED4309C7}" destId="{FC74A6FD-F982-4768-B748-7E56B62FF144}" srcOrd="5" destOrd="0" presId="urn:microsoft.com/office/officeart/2005/8/layout/list1"/>
    <dgm:cxn modelId="{71672CBE-8A67-43D7-BE9F-CD7E26F56FF6}" type="presParOf" srcId="{E203BFE8-1841-417F-AEAE-0AC6ED4309C7}" destId="{1B400EB2-DC4B-4D73-BFA4-A55779833068}" srcOrd="6" destOrd="0" presId="urn:microsoft.com/office/officeart/2005/8/layout/list1"/>
    <dgm:cxn modelId="{DC858372-3844-4B06-982A-EC3A525A8A31}" type="presParOf" srcId="{E203BFE8-1841-417F-AEAE-0AC6ED4309C7}" destId="{A3E34836-2E9E-4B5A-954B-42FB0CB27DEC}" srcOrd="7" destOrd="0" presId="urn:microsoft.com/office/officeart/2005/8/layout/list1"/>
    <dgm:cxn modelId="{11255E49-C6F8-47A2-AE69-9E31834114F7}" type="presParOf" srcId="{E203BFE8-1841-417F-AEAE-0AC6ED4309C7}" destId="{769F3138-74F5-403F-9902-E63BDDD6068E}" srcOrd="8" destOrd="0" presId="urn:microsoft.com/office/officeart/2005/8/layout/list1"/>
    <dgm:cxn modelId="{BA5CB1E4-AE11-414A-8EA3-68CF9D356EC3}" type="presParOf" srcId="{769F3138-74F5-403F-9902-E63BDDD6068E}" destId="{44125321-099A-4B04-A867-150F140052BC}" srcOrd="0" destOrd="0" presId="urn:microsoft.com/office/officeart/2005/8/layout/list1"/>
    <dgm:cxn modelId="{6ADEC472-1A2D-4E67-9167-AE94846823D3}" type="presParOf" srcId="{769F3138-74F5-403F-9902-E63BDDD6068E}" destId="{9404D0F4-ADA6-465B-A08D-3582EEF5D445}" srcOrd="1" destOrd="0" presId="urn:microsoft.com/office/officeart/2005/8/layout/list1"/>
    <dgm:cxn modelId="{9B65466E-6DDF-44CF-B51C-A4D1C92447AD}" type="presParOf" srcId="{E203BFE8-1841-417F-AEAE-0AC6ED4309C7}" destId="{F977B072-F33E-4EA4-81FA-491E208490A4}" srcOrd="9" destOrd="0" presId="urn:microsoft.com/office/officeart/2005/8/layout/list1"/>
    <dgm:cxn modelId="{B31FCFA6-666B-4495-8B13-0E3B486E6F95}" type="presParOf" srcId="{E203BFE8-1841-417F-AEAE-0AC6ED4309C7}" destId="{AA191AD1-92F7-450E-AEC0-C69A1EC9C832}" srcOrd="10" destOrd="0" presId="urn:microsoft.com/office/officeart/2005/8/layout/list1"/>
    <dgm:cxn modelId="{C260073A-F778-4E7C-A13B-20275029EB95}" type="presParOf" srcId="{E203BFE8-1841-417F-AEAE-0AC6ED4309C7}" destId="{67545B0B-0774-495D-B474-037F86AF5D4C}" srcOrd="11" destOrd="0" presId="urn:microsoft.com/office/officeart/2005/8/layout/list1"/>
    <dgm:cxn modelId="{2E235916-9215-4749-8EA6-CBE3ACFD0AFE}" type="presParOf" srcId="{E203BFE8-1841-417F-AEAE-0AC6ED4309C7}" destId="{47D58CB3-CC01-4D8D-BD5C-4FBEB8E1D5B8}" srcOrd="12" destOrd="0" presId="urn:microsoft.com/office/officeart/2005/8/layout/list1"/>
    <dgm:cxn modelId="{05588074-6E32-4195-97B0-D533BBBAB5B9}" type="presParOf" srcId="{47D58CB3-CC01-4D8D-BD5C-4FBEB8E1D5B8}" destId="{78DE10B5-82B1-4379-94FD-8E7B5035E7EF}" srcOrd="0" destOrd="0" presId="urn:microsoft.com/office/officeart/2005/8/layout/list1"/>
    <dgm:cxn modelId="{CA44BAFA-CDF8-461C-BA7D-D869976500C0}" type="presParOf" srcId="{47D58CB3-CC01-4D8D-BD5C-4FBEB8E1D5B8}" destId="{D37FDACC-728B-4949-AC4F-79118EB22065}" srcOrd="1" destOrd="0" presId="urn:microsoft.com/office/officeart/2005/8/layout/list1"/>
    <dgm:cxn modelId="{14F1E9FB-5058-4912-815D-A33978E0CB29}" type="presParOf" srcId="{E203BFE8-1841-417F-AEAE-0AC6ED4309C7}" destId="{2F850CE6-63A9-45FA-88F9-821678FCDF1B}" srcOrd="13" destOrd="0" presId="urn:microsoft.com/office/officeart/2005/8/layout/list1"/>
    <dgm:cxn modelId="{9AF4971A-56D1-4FA7-A1F4-9BA230843E4D}" type="presParOf" srcId="{E203BFE8-1841-417F-AEAE-0AC6ED4309C7}" destId="{1AF35BF5-592F-4350-94ED-796A95EA4A29}" srcOrd="14" destOrd="0" presId="urn:microsoft.com/office/officeart/2005/8/layout/list1"/>
    <dgm:cxn modelId="{1476AF96-875E-47E7-B2A3-D5DCC0CA29DF}" type="presParOf" srcId="{E203BFE8-1841-417F-AEAE-0AC6ED4309C7}" destId="{B4501E4C-E877-46D2-A9B7-73429BD3572F}" srcOrd="15" destOrd="0" presId="urn:microsoft.com/office/officeart/2005/8/layout/list1"/>
    <dgm:cxn modelId="{30FD4A6A-59D0-45F5-9F6C-DF45C8CE43D7}" type="presParOf" srcId="{E203BFE8-1841-417F-AEAE-0AC6ED4309C7}" destId="{74FDE527-EE67-4AC2-ACE1-C2B726B85F6E}" srcOrd="16" destOrd="0" presId="urn:microsoft.com/office/officeart/2005/8/layout/list1"/>
    <dgm:cxn modelId="{52D17507-4F28-4B99-AB53-8B2E7499873A}" type="presParOf" srcId="{74FDE527-EE67-4AC2-ACE1-C2B726B85F6E}" destId="{6076F4F2-5608-4AB8-A8E4-739928286EE2}" srcOrd="0" destOrd="0" presId="urn:microsoft.com/office/officeart/2005/8/layout/list1"/>
    <dgm:cxn modelId="{D43368DD-879E-40CD-B278-BBD986DC3144}" type="presParOf" srcId="{74FDE527-EE67-4AC2-ACE1-C2B726B85F6E}" destId="{CD828194-F5B2-4146-9264-D8297ABD839D}" srcOrd="1" destOrd="0" presId="urn:microsoft.com/office/officeart/2005/8/layout/list1"/>
    <dgm:cxn modelId="{6E467322-97A2-447F-9F72-A01CA840B289}" type="presParOf" srcId="{E203BFE8-1841-417F-AEAE-0AC6ED4309C7}" destId="{69E3FEEF-19D8-4AE1-A739-673ABF5711E6}" srcOrd="17" destOrd="0" presId="urn:microsoft.com/office/officeart/2005/8/layout/list1"/>
    <dgm:cxn modelId="{B30C84FA-D858-47F5-81D0-9859C10B54C5}" type="presParOf" srcId="{E203BFE8-1841-417F-AEAE-0AC6ED4309C7}" destId="{DE9DFB3A-80D9-44A8-8134-1A0411433A1D}" srcOrd="18" destOrd="0" presId="urn:microsoft.com/office/officeart/2005/8/layout/list1"/>
    <dgm:cxn modelId="{F2B0F2CF-756B-488A-A3E0-7E9999B6DD4B}" type="presParOf" srcId="{E203BFE8-1841-417F-AEAE-0AC6ED4309C7}" destId="{16663C06-CF5D-4FFE-BE34-21D36EC6969A}" srcOrd="19" destOrd="0" presId="urn:microsoft.com/office/officeart/2005/8/layout/list1"/>
    <dgm:cxn modelId="{63A4DA04-5EE9-4B32-A0FE-429EA194C384}" type="presParOf" srcId="{E203BFE8-1841-417F-AEAE-0AC6ED4309C7}" destId="{9C52DA52-D161-46AD-992F-6B7B6A322B47}" srcOrd="20" destOrd="0" presId="urn:microsoft.com/office/officeart/2005/8/layout/list1"/>
    <dgm:cxn modelId="{57F0051E-7484-4475-8A7D-A338C828FAE9}" type="presParOf" srcId="{9C52DA52-D161-46AD-992F-6B7B6A322B47}" destId="{D5C974F9-A140-4456-9EC9-1E30F9C7A0D4}" srcOrd="0" destOrd="0" presId="urn:microsoft.com/office/officeart/2005/8/layout/list1"/>
    <dgm:cxn modelId="{512E3CB8-067A-4718-A01A-89F6FCE58DD4}" type="presParOf" srcId="{9C52DA52-D161-46AD-992F-6B7B6A322B47}" destId="{2F55574D-5C11-4B48-B7C7-5A6713898ABC}" srcOrd="1" destOrd="0" presId="urn:microsoft.com/office/officeart/2005/8/layout/list1"/>
    <dgm:cxn modelId="{396381F7-DD82-4670-9D4E-5056FCE90C12}" type="presParOf" srcId="{E203BFE8-1841-417F-AEAE-0AC6ED4309C7}" destId="{B3F36743-9F4E-40F5-BE06-DC44EEF5E339}" srcOrd="21" destOrd="0" presId="urn:microsoft.com/office/officeart/2005/8/layout/list1"/>
    <dgm:cxn modelId="{E32B03F0-3569-4125-BC51-E8205283C738}" type="presParOf" srcId="{E203BFE8-1841-417F-AEAE-0AC6ED4309C7}" destId="{06C848A3-CBB7-4FAC-8224-E9865725B979}"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iwgia.org/iwgia_files_publications_files/0511_ASEAN_BRIEFING_PAPER_eb.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austlii.edu.au/au/journals/ILB/2013/1.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iwgia.org/iwgia_files_publications_files/0657_indigenous_peoples_and_corporate_accountability_in_the_ASEAN_compressed.pdf"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rio20.net/en/propuestas/statement-of-indigenous-peoples-and-ethnic-minorities-of-asea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en.wikipedia.org/wiki/Primary_research"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explorable.com/quantitative-and-qualitative-research" TargetMode="External"/><Relationship Id="rId4" Type="http://schemas.openxmlformats.org/officeDocument/2006/relationships/hyperlink" Target="http://en.wikipedia.org/wiki/Secondary_research"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lonelyplanet.com/"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www.frommers.com/"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fodors.com/guidebooks/"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en.wikipedia.org/wiki/List_of_travel_magazines" TargetMode="Externa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studylecturenotes.com/basics-of-sociology/what-are-the-basic-elements-of-religion"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www.academia.edu/5237947/ASEAN_Tourism_Policy_and_Planning" TargetMode="Externa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www.asean.org/communities/asean-economic-community/item/plan-of-action-on-asean-cooperation-in-tourism"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www.scribd.com/doc/111871570/ASEAN-Tourism-Strategic-Plan-2011-2015"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green.hotelscombined.com/Rtg-Benefits-of-Tourism.php"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anctuaries.noaa.gov/management/pdfs/Day5_H2_BenefitsThreats.pdf"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www.onecaribbean.org/content/files/GoodPracticestourismawareness(2).pdf"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ocial.eyeforpharma.com/column/untapped-potential-asean-key-growth-factors"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www.reportlinker.com/d0104205547/Tourism-Industry-in-Asia.html?pos=5"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green.hotelscombined.com/Rtg-Benefits-of-Tourism.php" TargetMode="External"/><Relationship Id="rId2" Type="http://schemas.openxmlformats.org/officeDocument/2006/relationships/slide" Target="../slides/slide64.xml"/><Relationship Id="rId1" Type="http://schemas.openxmlformats.org/officeDocument/2006/relationships/notesMaster" Target="../notesMasters/notesMaster1.xml"/><Relationship Id="rId4" Type="http://schemas.openxmlformats.org/officeDocument/2006/relationships/hyperlink" Target="http://sanctuaries.noaa.gov/management/pdfs/Day5_H2_BenefitsThreats.pdf" TargetMode="Externa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www.tourisme.gouv.qc.ca/activites/symposium-developpement-durable/presentations/17-C-15h20-2-Richard-Butler.pdf"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www.academia.edu/5237947/ASEAN_Tourism_Policy_and_Planning"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www3.weforum.org/docs/WEF_TTCR_ASEAN_ExecutiveSummary_2012.pdf"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www.tourismkm-asean.org/wp-content/pdf/impact_of_fta/unwto_report_on_asean_tourism_integration.pdf"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www.aippnet.org/index.php/human-rights/763-statement-of-indigenous-peoples-a-ethnic-minorities-ipaem-of-asean"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www.aippnet.org/pdf/ASEAN,%20CC,%20REDD+%20AND%20IPs_FINAL.pdf"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880699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43516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73354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baseline="0" dirty="0" smtClean="0"/>
              <a:t>What is ‘indigenous culture’?</a:t>
            </a:r>
          </a:p>
          <a:p>
            <a:pPr>
              <a:buFont typeface="Arial" pitchFamily="34" charset="0"/>
              <a:buChar char="•"/>
            </a:pPr>
            <a:r>
              <a:rPr lang="en-US" baseline="0" dirty="0" smtClean="0"/>
              <a:t>Why is it important to be able to provide it to tour groups?</a:t>
            </a:r>
          </a:p>
          <a:p>
            <a:pPr>
              <a:buFont typeface="Arial" pitchFamily="34" charset="0"/>
              <a:buChar char="•"/>
            </a:pPr>
            <a:r>
              <a:rPr lang="en-US" baseline="0" dirty="0" smtClean="0"/>
              <a:t>What issues need to be taken into account when researching information on indigenous cultures?</a:t>
            </a:r>
          </a:p>
          <a:p>
            <a:pPr>
              <a:buFont typeface="Arial" pitchFamily="34" charset="0"/>
              <a:buChar char="•"/>
            </a:pPr>
            <a:r>
              <a:rPr lang="en-US" baseline="0" dirty="0" smtClean="0"/>
              <a:t>What sources might be used to capture/gain information required?</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472102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begins by introducing some basic terminology observing:</a:t>
            </a:r>
          </a:p>
          <a:p>
            <a:pPr>
              <a:buFont typeface="Arial" pitchFamily="34" charset="0"/>
              <a:buChar char="•"/>
            </a:pPr>
            <a:r>
              <a:rPr lang="en-AU" sz="1200" kern="1200" dirty="0" smtClean="0">
                <a:solidFill>
                  <a:schemeClr val="tx1"/>
                </a:solidFill>
                <a:latin typeface="+mn-lt"/>
                <a:ea typeface="+mn-ea"/>
                <a:cs typeface="+mn-cs"/>
              </a:rPr>
              <a:t>Different business/operators may have their own interpretations of these terms – so it is important to determine definitions as they apply and as they are used in individual organisations</a:t>
            </a:r>
          </a:p>
          <a:p>
            <a:pPr>
              <a:buFont typeface="Arial" pitchFamily="34" charset="0"/>
              <a:buChar char="•"/>
            </a:pPr>
            <a:r>
              <a:rPr lang="en-AU" sz="1200" kern="1200" dirty="0" smtClean="0">
                <a:solidFill>
                  <a:schemeClr val="tx1"/>
                </a:solidFill>
                <a:latin typeface="+mn-lt"/>
                <a:ea typeface="+mn-ea"/>
                <a:cs typeface="+mn-cs"/>
              </a:rPr>
              <a:t>There is always a need to determine the countries, cultures and communities a Tour Operator wants to investigate – because all research needs to have a specific target. </a:t>
            </a:r>
          </a:p>
          <a:p>
            <a:r>
              <a:rPr lang="en-AU" sz="1200" b="1" kern="1200" dirty="0" smtClean="0">
                <a:solidFill>
                  <a:schemeClr val="tx1"/>
                </a:solidFill>
                <a:latin typeface="+mn-lt"/>
                <a:ea typeface="+mn-ea"/>
                <a:cs typeface="+mn-cs"/>
              </a:rPr>
              <a:t>Indigenous</a:t>
            </a:r>
          </a:p>
          <a:p>
            <a:pPr>
              <a:buFont typeface="Arial" pitchFamily="34" charset="0"/>
              <a:buChar char="•"/>
            </a:pPr>
            <a:r>
              <a:rPr lang="en-AU" sz="1200" kern="1200" dirty="0" smtClean="0">
                <a:solidFill>
                  <a:schemeClr val="tx1"/>
                </a:solidFill>
                <a:latin typeface="+mn-lt"/>
                <a:ea typeface="+mn-ea"/>
                <a:cs typeface="+mn-cs"/>
              </a:rPr>
              <a:t>There is sometimes confusion about exactly what the term ‘indigenous’ means.</a:t>
            </a:r>
          </a:p>
          <a:p>
            <a:pPr>
              <a:buFont typeface="Arial" pitchFamily="34" charset="0"/>
              <a:buChar char="•"/>
            </a:pPr>
            <a:r>
              <a:rPr lang="en-AU" sz="1200" kern="1200" dirty="0" smtClean="0">
                <a:solidFill>
                  <a:schemeClr val="tx1"/>
                </a:solidFill>
                <a:latin typeface="+mn-lt"/>
                <a:ea typeface="+mn-ea"/>
                <a:cs typeface="+mn-cs"/>
              </a:rPr>
              <a:t>In reality it has a very straight-forward definition.</a:t>
            </a:r>
          </a:p>
          <a:p>
            <a:pPr>
              <a:buFont typeface="Arial" pitchFamily="34" charset="0"/>
              <a:buChar char="•"/>
            </a:pPr>
            <a:r>
              <a:rPr lang="en-AU" sz="1200" kern="1200" dirty="0" smtClean="0">
                <a:solidFill>
                  <a:schemeClr val="tx1"/>
                </a:solidFill>
                <a:latin typeface="+mn-lt"/>
                <a:ea typeface="+mn-ea"/>
                <a:cs typeface="+mn-cs"/>
              </a:rPr>
              <a:t>It simply means people who are native to a particular country.</a:t>
            </a:r>
          </a:p>
          <a:p>
            <a:pPr>
              <a:buFont typeface="Arial" pitchFamily="34" charset="0"/>
              <a:buChar char="•"/>
            </a:pPr>
            <a:r>
              <a:rPr lang="en-AU" sz="1200" kern="1200" dirty="0" smtClean="0">
                <a:solidFill>
                  <a:schemeClr val="tx1"/>
                </a:solidFill>
                <a:latin typeface="+mn-lt"/>
                <a:ea typeface="+mn-ea"/>
                <a:cs typeface="+mn-cs"/>
              </a:rPr>
              <a:t>The term is synonymous with the ‘aboriginal’ people of a country.</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http://www.iwgia.org/iwgia_files_publications_files/0511_ASEAN_BRIEFING_PAPER_eb.pdf</a:t>
            </a:r>
            <a:r>
              <a:rPr lang="en-AU" sz="1200" kern="1200" dirty="0" smtClean="0">
                <a:solidFill>
                  <a:schemeClr val="tx1"/>
                </a:solidFill>
                <a:latin typeface="+mn-lt"/>
                <a:ea typeface="+mn-ea"/>
                <a:cs typeface="+mn-cs"/>
              </a:rPr>
              <a:t> - ASEAN’S Indigenous peoples.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581095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basic unit-related definitions/terminology:</a:t>
            </a:r>
          </a:p>
          <a:p>
            <a:r>
              <a:rPr lang="en-AU" sz="1200" b="1" kern="1200" dirty="0" smtClean="0">
                <a:solidFill>
                  <a:schemeClr val="tx1"/>
                </a:solidFill>
                <a:latin typeface="+mn-lt"/>
                <a:ea typeface="+mn-ea"/>
                <a:cs typeface="+mn-cs"/>
              </a:rPr>
              <a:t>Culture/s</a:t>
            </a:r>
          </a:p>
          <a:p>
            <a:r>
              <a:rPr lang="en-AU" sz="1200" kern="1200" dirty="0" smtClean="0">
                <a:solidFill>
                  <a:schemeClr val="tx1"/>
                </a:solidFill>
                <a:latin typeface="+mn-lt"/>
                <a:ea typeface="+mn-ea"/>
                <a:cs typeface="+mn-cs"/>
              </a:rPr>
              <a:t>In the context of this unit culture/s can be seen as:</a:t>
            </a:r>
          </a:p>
          <a:p>
            <a:pPr>
              <a:buFont typeface="Arial" pitchFamily="34" charset="0"/>
              <a:buChar char="•"/>
            </a:pPr>
            <a:r>
              <a:rPr lang="en-AU" sz="1200" kern="1200" dirty="0" smtClean="0">
                <a:solidFill>
                  <a:schemeClr val="tx1"/>
                </a:solidFill>
                <a:latin typeface="+mn-lt"/>
                <a:ea typeface="+mn-ea"/>
                <a:cs typeface="+mn-cs"/>
              </a:rPr>
              <a:t>The socially constructed and learned ways of behaving and believing that identify individual and distinct social groups such as an indigenous community</a:t>
            </a:r>
          </a:p>
          <a:p>
            <a:pPr>
              <a:buFont typeface="Arial" pitchFamily="34" charset="0"/>
              <a:buChar char="•"/>
            </a:pPr>
            <a:r>
              <a:rPr lang="en-AU" sz="1200" kern="1200" dirty="0" smtClean="0">
                <a:solidFill>
                  <a:schemeClr val="tx1"/>
                </a:solidFill>
                <a:latin typeface="+mn-lt"/>
                <a:ea typeface="+mn-ea"/>
                <a:cs typeface="+mn-cs"/>
              </a:rPr>
              <a:t>The beliefs, values, knowledge, assumptions, experiences and ideas which form the basis of the way a community thinks, lives and acts</a:t>
            </a:r>
          </a:p>
          <a:p>
            <a:pPr>
              <a:buFont typeface="Arial" pitchFamily="34" charset="0"/>
              <a:buChar char="•"/>
            </a:pPr>
            <a:r>
              <a:rPr lang="en-AU" sz="1200" kern="1200" dirty="0" smtClean="0">
                <a:solidFill>
                  <a:schemeClr val="tx1"/>
                </a:solidFill>
                <a:latin typeface="+mn-lt"/>
                <a:ea typeface="+mn-ea"/>
                <a:cs typeface="+mn-cs"/>
              </a:rPr>
              <a:t>The suite of customs, rituals, symbology, myth and legend of the people in the community</a:t>
            </a:r>
          </a:p>
          <a:p>
            <a:pPr>
              <a:buFont typeface="Arial" pitchFamily="34" charset="0"/>
              <a:buChar char="•"/>
            </a:pPr>
            <a:r>
              <a:rPr lang="en-AU" sz="1200" kern="1200" dirty="0" smtClean="0">
                <a:solidFill>
                  <a:schemeClr val="tx1"/>
                </a:solidFill>
                <a:latin typeface="+mn-lt"/>
                <a:ea typeface="+mn-ea"/>
                <a:cs typeface="+mn-cs"/>
              </a:rPr>
              <a:t>Being transmitted/passed on to other generations through a combination of oral communication and writing (language), art (such as music, song, story-telling, painting and dance) and the institutionalisation of key aspects of the community (as this relates [for example] to social activity, economics, politics, agriculture and farming, industrialisation, laws and justice, security, health, the environment, education and religion).</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a:buFont typeface="Arial" pitchFamily="34" charset="0"/>
              <a:buNone/>
            </a:pPr>
            <a:r>
              <a:rPr lang="en-AU" sz="1200" u="sng" kern="1200" dirty="0" smtClean="0">
                <a:solidFill>
                  <a:schemeClr val="tx1"/>
                </a:solidFill>
                <a:latin typeface="+mn-lt"/>
                <a:ea typeface="+mn-ea"/>
                <a:cs typeface="+mn-cs"/>
                <a:hlinkClick r:id="rId3"/>
              </a:rPr>
              <a:t>http://www.austlii.edu.au/au/journals/ILB/2013/1.pdf</a:t>
            </a:r>
            <a:r>
              <a:rPr lang="en-AU" sz="1200" kern="1200" dirty="0" smtClean="0">
                <a:solidFill>
                  <a:schemeClr val="tx1"/>
                </a:solidFill>
                <a:latin typeface="+mn-lt"/>
                <a:ea typeface="+mn-ea"/>
                <a:cs typeface="+mn-cs"/>
              </a:rPr>
              <a:t> - The ASEAN Human Rights Declaration and Indigenous Rights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08010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basic unit-related definitions/terminology:</a:t>
            </a:r>
          </a:p>
          <a:p>
            <a:r>
              <a:rPr lang="en-AU" sz="1200" b="1" kern="1200" dirty="0" smtClean="0">
                <a:solidFill>
                  <a:schemeClr val="tx1"/>
                </a:solidFill>
                <a:latin typeface="+mn-lt"/>
                <a:ea typeface="+mn-ea"/>
                <a:cs typeface="+mn-cs"/>
              </a:rPr>
              <a:t>Indigenous culture</a:t>
            </a:r>
          </a:p>
          <a:p>
            <a:pPr>
              <a:buFont typeface="Arial" pitchFamily="34" charset="0"/>
              <a:buChar char="•"/>
            </a:pPr>
            <a:r>
              <a:rPr lang="en-AU" sz="1200" kern="1200" dirty="0" smtClean="0">
                <a:solidFill>
                  <a:schemeClr val="tx1"/>
                </a:solidFill>
                <a:latin typeface="+mn-lt"/>
                <a:ea typeface="+mn-ea"/>
                <a:cs typeface="+mn-cs"/>
              </a:rPr>
              <a:t>Indigenous culture is the term used to describe the totality of characteristics which exist within a nominated country or community and differentiate one country or community from others.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In practice:</a:t>
            </a:r>
          </a:p>
          <a:p>
            <a:pPr>
              <a:buFont typeface="Arial" pitchFamily="34" charset="0"/>
              <a:buChar char="•"/>
            </a:pPr>
            <a:r>
              <a:rPr lang="en-AU" sz="1200" kern="1200" dirty="0" smtClean="0">
                <a:solidFill>
                  <a:schemeClr val="tx1"/>
                </a:solidFill>
                <a:latin typeface="+mn-lt"/>
                <a:ea typeface="+mn-ea"/>
                <a:cs typeface="+mn-cs"/>
              </a:rPr>
              <a:t>There is commonly variations between the cultures of different countries – despite there often being several points of similarity</a:t>
            </a:r>
          </a:p>
          <a:p>
            <a:pPr>
              <a:buFont typeface="Arial" pitchFamily="34" charset="0"/>
              <a:buChar char="•"/>
            </a:pPr>
            <a:r>
              <a:rPr lang="en-AU" sz="1200" kern="1200" dirty="0" smtClean="0">
                <a:solidFill>
                  <a:schemeClr val="tx1"/>
                </a:solidFill>
                <a:latin typeface="+mn-lt"/>
                <a:ea typeface="+mn-ea"/>
                <a:cs typeface="+mn-cs"/>
              </a:rPr>
              <a:t>Different cultures can exist within different communities/groups within the same nation/country</a:t>
            </a:r>
          </a:p>
          <a:p>
            <a:pPr>
              <a:buFont typeface="Arial" pitchFamily="34" charset="0"/>
              <a:buChar char="•"/>
            </a:pPr>
            <a:r>
              <a:rPr lang="en-AU" sz="1200" kern="1200" dirty="0" smtClean="0">
                <a:solidFill>
                  <a:schemeClr val="tx1"/>
                </a:solidFill>
                <a:latin typeface="+mn-lt"/>
                <a:ea typeface="+mn-ea"/>
                <a:cs typeface="+mn-cs"/>
              </a:rPr>
              <a:t>Cultures of countries and communities evolve over time as they change to accommodate internal events and external pressures</a:t>
            </a:r>
          </a:p>
          <a:p>
            <a:pPr>
              <a:buFont typeface="Arial" pitchFamily="34" charset="0"/>
              <a:buChar char="•"/>
            </a:pPr>
            <a:r>
              <a:rPr lang="en-AU" sz="1200" kern="1200" dirty="0" smtClean="0">
                <a:solidFill>
                  <a:schemeClr val="tx1"/>
                </a:solidFill>
                <a:latin typeface="+mn-lt"/>
                <a:ea typeface="+mn-ea"/>
                <a:cs typeface="+mn-cs"/>
              </a:rPr>
              <a:t>Countries and communities are proud and protective of their culture – regardless of how different they may be to the cultures of other countries and communities </a:t>
            </a:r>
          </a:p>
          <a:p>
            <a:pPr>
              <a:buFont typeface="Arial" pitchFamily="34" charset="0"/>
              <a:buChar char="•"/>
            </a:pPr>
            <a:r>
              <a:rPr lang="en-AU" sz="1200" kern="1200" dirty="0" smtClean="0">
                <a:solidFill>
                  <a:schemeClr val="tx1"/>
                </a:solidFill>
                <a:latin typeface="+mn-lt"/>
                <a:ea typeface="+mn-ea"/>
                <a:cs typeface="+mn-cs"/>
              </a:rPr>
              <a:t>Enterprises (such as Tour Operators) are increasingly aware of:</a:t>
            </a:r>
          </a:p>
          <a:p>
            <a:pPr lvl="1">
              <a:buFont typeface="Arial" pitchFamily="34" charset="0"/>
              <a:buChar char="•"/>
            </a:pPr>
            <a:r>
              <a:rPr lang="en-US" sz="1200" kern="1200" dirty="0" smtClean="0">
                <a:solidFill>
                  <a:schemeClr val="tx1"/>
                </a:solidFill>
                <a:latin typeface="+mn-lt"/>
                <a:ea typeface="+mn-ea"/>
                <a:cs typeface="+mn-cs"/>
              </a:rPr>
              <a:t>The commercial value of different indigenous cultures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need to research and share information on indigenous cultures in a respectful and sensitive manner.</a:t>
            </a:r>
            <a:endParaRPr lang="en-AU" sz="1200" kern="1200" dirty="0" smtClean="0">
              <a:solidFill>
                <a:schemeClr val="tx1"/>
              </a:solidFill>
              <a:latin typeface="+mn-lt"/>
              <a:ea typeface="+mn-ea"/>
              <a:cs typeface="+mn-cs"/>
            </a:endParaRPr>
          </a:p>
          <a:p>
            <a:pPr>
              <a:buFont typeface="Arial" pitchFamily="34" charset="0"/>
              <a:buChar char="•"/>
            </a:pPr>
            <a:endParaRPr lang="en-AU" baseline="0"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u="sng" kern="1200" dirty="0" smtClean="0">
                <a:solidFill>
                  <a:schemeClr val="tx1"/>
                </a:solidFill>
                <a:latin typeface="+mn-lt"/>
                <a:ea typeface="+mn-ea"/>
                <a:cs typeface="+mn-cs"/>
                <a:hlinkClick r:id="rId3"/>
              </a:rPr>
              <a:t>http://www.iwgia.org/iwgia_files_publications_files/0657_indigenous_peoples_and_corporate_accountability_in_the_ASEAN_compressed.pdf</a:t>
            </a:r>
            <a:r>
              <a:rPr lang="en-AU" sz="1200" kern="1200" dirty="0" smtClean="0">
                <a:solidFill>
                  <a:schemeClr val="tx1"/>
                </a:solidFill>
                <a:latin typeface="+mn-lt"/>
                <a:ea typeface="+mn-ea"/>
                <a:cs typeface="+mn-cs"/>
              </a:rPr>
              <a:t> - Indigenous people’s and corporate accountability in the ASEAN: a report of the Asia Indigenous Peoples Pact</a:t>
            </a:r>
          </a:p>
          <a:p>
            <a:pPr>
              <a:buFont typeface="Arial" pitchFamily="34" charset="0"/>
              <a:buChar char="•"/>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377269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basic unit-related definitions/terminology:</a:t>
            </a:r>
          </a:p>
          <a:p>
            <a:r>
              <a:rPr lang="en-AU" sz="1200" b="1" kern="1200" dirty="0" smtClean="0">
                <a:solidFill>
                  <a:schemeClr val="tx1"/>
                </a:solidFill>
                <a:latin typeface="+mn-lt"/>
                <a:ea typeface="+mn-ea"/>
                <a:cs typeface="+mn-cs"/>
              </a:rPr>
              <a:t>Local indigenous communities</a:t>
            </a:r>
          </a:p>
          <a:p>
            <a:r>
              <a:rPr lang="en-AU" sz="1200" kern="1200" dirty="0" smtClean="0">
                <a:solidFill>
                  <a:schemeClr val="tx1"/>
                </a:solidFill>
                <a:latin typeface="+mn-lt"/>
                <a:ea typeface="+mn-ea"/>
                <a:cs typeface="+mn-cs"/>
              </a:rPr>
              <a:t>Local indigenous communities may include any community that is in the vicinity of a tour group while the tour is being conducted.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community may be:</a:t>
            </a:r>
          </a:p>
          <a:p>
            <a:pPr>
              <a:buFont typeface="Arial" pitchFamily="34" charset="0"/>
              <a:buChar char="•"/>
            </a:pPr>
            <a:r>
              <a:rPr lang="en-AU" sz="1200" kern="1200" dirty="0" smtClean="0">
                <a:solidFill>
                  <a:schemeClr val="tx1"/>
                </a:solidFill>
                <a:latin typeface="+mn-lt"/>
                <a:ea typeface="+mn-ea"/>
                <a:cs typeface="+mn-cs"/>
              </a:rPr>
              <a:t>Domestic or foreign </a:t>
            </a:r>
          </a:p>
          <a:p>
            <a:pPr>
              <a:buFont typeface="Arial" pitchFamily="34" charset="0"/>
              <a:buChar char="•"/>
            </a:pPr>
            <a:r>
              <a:rPr lang="en-AU" sz="1200" kern="1200" dirty="0" smtClean="0">
                <a:solidFill>
                  <a:schemeClr val="tx1"/>
                </a:solidFill>
                <a:latin typeface="+mn-lt"/>
                <a:ea typeface="+mn-ea"/>
                <a:cs typeface="+mn-cs"/>
              </a:rPr>
              <a:t>Small or large </a:t>
            </a:r>
          </a:p>
          <a:p>
            <a:pPr>
              <a:buFont typeface="Arial" pitchFamily="34" charset="0"/>
              <a:buChar char="•"/>
            </a:pPr>
            <a:r>
              <a:rPr lang="en-AU" sz="1200" kern="1200" dirty="0" smtClean="0">
                <a:solidFill>
                  <a:schemeClr val="tx1"/>
                </a:solidFill>
                <a:latin typeface="+mn-lt"/>
                <a:ea typeface="+mn-ea"/>
                <a:cs typeface="+mn-cs"/>
              </a:rPr>
              <a:t>Nearby or remote</a:t>
            </a:r>
          </a:p>
          <a:p>
            <a:pPr>
              <a:buFont typeface="Arial" pitchFamily="34" charset="0"/>
              <a:buChar char="•"/>
            </a:pPr>
            <a:r>
              <a:rPr lang="en-AU" sz="1200" kern="1200" dirty="0" smtClean="0">
                <a:solidFill>
                  <a:schemeClr val="tx1"/>
                </a:solidFill>
                <a:latin typeface="+mn-lt"/>
                <a:ea typeface="+mn-ea"/>
                <a:cs typeface="+mn-cs"/>
              </a:rPr>
              <a:t>Developed or undeveloped. </a:t>
            </a:r>
          </a:p>
          <a:p>
            <a:pPr>
              <a:buFont typeface="Arial" pitchFamily="34" charset="0"/>
              <a:buNone/>
            </a:pPr>
            <a:endParaRPr lang="en-AU" baseline="0"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a:buFont typeface="Arial" pitchFamily="34" charset="0"/>
              <a:buNone/>
            </a:pPr>
            <a:r>
              <a:rPr lang="en-AU" sz="1200" u="sng" kern="1200" dirty="0" smtClean="0">
                <a:solidFill>
                  <a:schemeClr val="tx1"/>
                </a:solidFill>
                <a:latin typeface="+mn-lt"/>
                <a:ea typeface="+mn-ea"/>
                <a:cs typeface="+mn-cs"/>
                <a:hlinkClick r:id="rId3"/>
              </a:rPr>
              <a:t>http://rio20.net/en/propuestas/statement-of-indigenous-peoples-and-ethnic-minorities-of-asean/</a:t>
            </a:r>
            <a:r>
              <a:rPr lang="en-AU" sz="1200" kern="1200" dirty="0" smtClean="0">
                <a:solidFill>
                  <a:schemeClr val="tx1"/>
                </a:solidFill>
                <a:latin typeface="+mn-lt"/>
                <a:ea typeface="+mn-ea"/>
                <a:cs typeface="+mn-cs"/>
              </a:rPr>
              <a:t> - Statement of Indigenous Peoples and Ethnic Minorities of ASEAN</a:t>
            </a: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534998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sources of information </a:t>
            </a:r>
            <a:r>
              <a:rPr lang="en-AU" sz="1200" kern="1200" dirty="0" smtClean="0">
                <a:solidFill>
                  <a:schemeClr val="tx1"/>
                </a:solidFill>
                <a:latin typeface="+mn-lt"/>
                <a:ea typeface="+mn-ea"/>
                <a:cs typeface="+mn-cs"/>
              </a:rPr>
              <a:t>for research on indigenous cultures identifying them as generically being:</a:t>
            </a:r>
          </a:p>
          <a:p>
            <a:pPr>
              <a:buFont typeface="Arial" pitchFamily="34" charset="0"/>
              <a:buChar char="•"/>
            </a:pPr>
            <a:r>
              <a:rPr lang="en-AU" sz="1200" kern="1200" dirty="0" smtClean="0">
                <a:solidFill>
                  <a:schemeClr val="tx1"/>
                </a:solidFill>
                <a:latin typeface="+mn-lt"/>
                <a:ea typeface="+mn-ea"/>
                <a:cs typeface="+mn-cs"/>
              </a:rPr>
              <a:t>Printed material – such as:</a:t>
            </a:r>
          </a:p>
          <a:p>
            <a:pPr lvl="1">
              <a:buFont typeface="Arial" pitchFamily="34" charset="0"/>
              <a:buChar char="•"/>
            </a:pPr>
            <a:r>
              <a:rPr lang="en-US" sz="1200" kern="1200" dirty="0" smtClean="0">
                <a:solidFill>
                  <a:schemeClr val="tx1"/>
                </a:solidFill>
                <a:latin typeface="+mn-lt"/>
                <a:ea typeface="+mn-ea"/>
                <a:cs typeface="+mn-cs"/>
              </a:rPr>
              <a:t>Books –  which will include: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Travel guides for the country in question </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Literature/texts on nominated countries and communities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Magazines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Advertising brochures and promotional materials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general media – domestic and as available in target destinations/communities (see later slides)</a:t>
            </a:r>
          </a:p>
          <a:p>
            <a:pPr>
              <a:buFont typeface="Arial" pitchFamily="34" charset="0"/>
              <a:buChar char="•"/>
            </a:pPr>
            <a:r>
              <a:rPr lang="en-AU" sz="1200" kern="1200" dirty="0" smtClean="0">
                <a:solidFill>
                  <a:schemeClr val="tx1"/>
                </a:solidFill>
                <a:latin typeface="+mn-lt"/>
                <a:ea typeface="+mn-ea"/>
                <a:cs typeface="+mn-cs"/>
              </a:rPr>
              <a:t>Relevant people from identified communities – such as:</a:t>
            </a:r>
          </a:p>
          <a:p>
            <a:pPr lvl="1">
              <a:buFont typeface="Arial" pitchFamily="34" charset="0"/>
              <a:buChar char="•"/>
            </a:pPr>
            <a:r>
              <a:rPr lang="en-US" sz="1200" kern="1200" dirty="0" smtClean="0">
                <a:solidFill>
                  <a:schemeClr val="tx1"/>
                </a:solidFill>
                <a:latin typeface="+mn-lt"/>
                <a:ea typeface="+mn-ea"/>
                <a:cs typeface="+mn-cs"/>
              </a:rPr>
              <a:t>The people of different cultures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Elders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Key individuals from within the community with specialist knowledge/expertise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Community leaders within various cultures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Families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Story-tellers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Samples</a:t>
            </a:r>
          </a:p>
          <a:p>
            <a:pPr>
              <a:buFont typeface="Arial" pitchFamily="34" charset="0"/>
              <a:buNone/>
            </a:pPr>
            <a:r>
              <a:rPr lang="en-AU" b="0" noProof="0" dirty="0" smtClean="0"/>
              <a:t>Trainer distributes and discusses a</a:t>
            </a:r>
            <a:r>
              <a:rPr lang="en-AU" b="0" baseline="0" noProof="0" dirty="0" smtClean="0"/>
              <a:t> variety of printed material which may be a source of information on indigenous cultures.</a:t>
            </a:r>
          </a:p>
          <a:p>
            <a:pPr>
              <a:buFont typeface="Arial" pitchFamily="34" charset="0"/>
              <a:buNone/>
            </a:pPr>
            <a:endParaRPr lang="en-AU" b="0" baseline="0" noProof="0" dirty="0" smtClean="0"/>
          </a:p>
          <a:p>
            <a:pPr>
              <a:buFont typeface="Arial" pitchFamily="34" charset="0"/>
              <a:buNone/>
            </a:pPr>
            <a:r>
              <a:rPr lang="en-AU" b="1" noProof="0" dirty="0" smtClean="0"/>
              <a:t>Classroom Activity (2) – Guest Speaker/s</a:t>
            </a:r>
          </a:p>
          <a:p>
            <a:pPr>
              <a:buFont typeface="Arial" pitchFamily="34" charset="0"/>
              <a:buNone/>
            </a:pPr>
            <a:r>
              <a:rPr lang="en-AU" b="0" noProof="0" dirty="0" smtClean="0"/>
              <a:t>Trainer arranges for people as identified on the slide to attend and:</a:t>
            </a:r>
          </a:p>
          <a:p>
            <a:pPr>
              <a:buFont typeface="Arial" pitchFamily="34" charset="0"/>
              <a:buChar char="•"/>
            </a:pPr>
            <a:r>
              <a:rPr lang="en-AU" b="0" baseline="0" noProof="0" dirty="0" smtClean="0"/>
              <a:t>Describe the role they can play in helping with research into indigenous cultures</a:t>
            </a:r>
          </a:p>
          <a:p>
            <a:pPr>
              <a:buFont typeface="Arial" pitchFamily="34" charset="0"/>
              <a:buChar char="•"/>
            </a:pPr>
            <a:r>
              <a:rPr lang="en-AU" b="0" baseline="0" noProof="0" dirty="0" smtClean="0"/>
              <a:t>Provide sample information relating to cultures/communities to which they belong/whom they represent.</a:t>
            </a:r>
          </a:p>
          <a:p>
            <a:pPr>
              <a:buFont typeface="Arial" pitchFamily="34" charset="0"/>
              <a:buChar char="•"/>
            </a:pPr>
            <a:endParaRPr lang="en-AU" b="0" baseline="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134026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generic sources of information on indigenous cultures:</a:t>
            </a:r>
          </a:p>
          <a:p>
            <a:pPr>
              <a:buFont typeface="Arial" pitchFamily="34" charset="0"/>
              <a:buChar char="•"/>
            </a:pPr>
            <a:r>
              <a:rPr lang="en-AU" sz="1200" kern="1200" dirty="0" smtClean="0">
                <a:solidFill>
                  <a:schemeClr val="tx1"/>
                </a:solidFill>
                <a:latin typeface="+mn-lt"/>
                <a:ea typeface="+mn-ea"/>
                <a:cs typeface="+mn-cs"/>
              </a:rPr>
              <a:t>Industry personnel – such as:</a:t>
            </a:r>
          </a:p>
          <a:p>
            <a:pPr lvl="1">
              <a:buFont typeface="Arial" pitchFamily="34" charset="0"/>
              <a:buChar char="•"/>
            </a:pPr>
            <a:r>
              <a:rPr lang="en-US" sz="1200" kern="1200" dirty="0" smtClean="0">
                <a:solidFill>
                  <a:schemeClr val="tx1"/>
                </a:solidFill>
                <a:latin typeface="+mn-lt"/>
                <a:ea typeface="+mn-ea"/>
                <a:cs typeface="+mn-cs"/>
              </a:rPr>
              <a:t>Other Tour Guides with specialised knowledge of different peoples and cultures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Representatives from peak industry bodies – who often have a database of relevant information or who can provide the names of people who can be valuable sources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Officers from the government bodies who have responsibility for Tourism, Culture, Trade or other related/associated matters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Staff working in Visitor Information Centres of target countries/communities (where these exist) – as these venues are excellent sources of a wide range of information all available in the one location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Support businesses and service providers – such 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Carriers – operating to and from the destination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Accommodation providers – within the country/community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internet – which is an excellent multi-purpose tool (see later slides):</a:t>
            </a:r>
          </a:p>
          <a:p>
            <a:pPr>
              <a:buFont typeface="Arial" pitchFamily="34" charset="0"/>
              <a:buChar char="•"/>
            </a:pPr>
            <a:r>
              <a:rPr lang="en-AU" sz="1200" kern="1200" dirty="0" smtClean="0">
                <a:solidFill>
                  <a:schemeClr val="tx1"/>
                </a:solidFill>
                <a:latin typeface="+mn-lt"/>
                <a:ea typeface="+mn-ea"/>
                <a:cs typeface="+mn-cs"/>
              </a:rPr>
              <a:t>Formal training courses – which can be useful for a range of reasons (see later slides)</a:t>
            </a:r>
          </a:p>
          <a:p>
            <a:pPr>
              <a:buFont typeface="Arial" pitchFamily="34" charset="0"/>
              <a:buChar char="•"/>
            </a:pPr>
            <a:r>
              <a:rPr lang="en-AU" sz="1200" kern="1200" dirty="0" smtClean="0">
                <a:solidFill>
                  <a:schemeClr val="tx1"/>
                </a:solidFill>
                <a:latin typeface="+mn-lt"/>
                <a:ea typeface="+mn-ea"/>
                <a:cs typeface="+mn-cs"/>
              </a:rPr>
              <a:t>Institutions – such as:</a:t>
            </a:r>
          </a:p>
          <a:p>
            <a:pPr lvl="1">
              <a:buFont typeface="Arial" pitchFamily="34" charset="0"/>
              <a:buChar char="•"/>
            </a:pPr>
            <a:r>
              <a:rPr lang="en-US" sz="1200" kern="1200" dirty="0" smtClean="0">
                <a:solidFill>
                  <a:schemeClr val="tx1"/>
                </a:solidFill>
                <a:latin typeface="+mn-lt"/>
                <a:ea typeface="+mn-ea"/>
                <a:cs typeface="+mn-cs"/>
              </a:rPr>
              <a:t>Museums, Galleries, </a:t>
            </a:r>
            <a:r>
              <a:rPr lang="en-AU" sz="1200" kern="1200" dirty="0" smtClean="0">
                <a:solidFill>
                  <a:schemeClr val="tx1"/>
                </a:solidFill>
                <a:latin typeface="+mn-lt"/>
                <a:ea typeface="+mn-ea"/>
                <a:cs typeface="+mn-cs"/>
              </a:rPr>
              <a:t>Cultural centers.</a:t>
            </a:r>
          </a:p>
          <a:p>
            <a:pPr lvl="0">
              <a:buFont typeface="Arial" pitchFamily="34" charset="0"/>
              <a:buNone/>
            </a:pPr>
            <a:endParaRPr lang="en-AU" kern="1200" noProof="0" dirty="0" smtClean="0">
              <a:solidFill>
                <a:schemeClr val="tx1"/>
              </a:solidFill>
              <a:latin typeface="+mn-lt"/>
              <a:ea typeface="+mn-ea"/>
              <a:cs typeface="+mn-cs"/>
            </a:endParaRPr>
          </a:p>
          <a:p>
            <a:pPr lvl="0">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069085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in </a:t>
            </a:r>
            <a:r>
              <a:rPr lang="en-AU" sz="1200" kern="1200" dirty="0" smtClean="0">
                <a:solidFill>
                  <a:schemeClr val="tx1"/>
                </a:solidFill>
                <a:latin typeface="+mn-lt"/>
                <a:ea typeface="+mn-ea"/>
                <a:cs typeface="+mn-cs"/>
              </a:rPr>
              <a:t>this context ‘researching’ can be seen as:</a:t>
            </a:r>
          </a:p>
          <a:p>
            <a:pPr>
              <a:buFont typeface="Arial" pitchFamily="34" charset="0"/>
              <a:buChar char="•"/>
            </a:pPr>
            <a:r>
              <a:rPr lang="en-AU" sz="1200" kern="1200" dirty="0" smtClean="0">
                <a:solidFill>
                  <a:schemeClr val="tx1"/>
                </a:solidFill>
                <a:latin typeface="+mn-lt"/>
                <a:ea typeface="+mn-ea"/>
                <a:cs typeface="+mn-cs"/>
              </a:rPr>
              <a:t>Systematic and structured investigation</a:t>
            </a:r>
          </a:p>
          <a:p>
            <a:pPr>
              <a:buFont typeface="Arial" pitchFamily="34" charset="0"/>
              <a:buChar char="•"/>
            </a:pPr>
            <a:r>
              <a:rPr lang="en-AU" sz="1200" kern="1200" dirty="0" smtClean="0">
                <a:solidFill>
                  <a:schemeClr val="tx1"/>
                </a:solidFill>
                <a:latin typeface="+mn-lt"/>
                <a:ea typeface="+mn-ea"/>
                <a:cs typeface="+mn-cs"/>
              </a:rPr>
              <a:t>Watching, reading, listening and experiencing</a:t>
            </a:r>
          </a:p>
          <a:p>
            <a:pPr>
              <a:buFont typeface="Arial" pitchFamily="34" charset="0"/>
              <a:buChar char="•"/>
            </a:pPr>
            <a:r>
              <a:rPr lang="en-AU" sz="1200" kern="1200" dirty="0" smtClean="0">
                <a:solidFill>
                  <a:schemeClr val="tx1"/>
                </a:solidFill>
                <a:latin typeface="+mn-lt"/>
                <a:ea typeface="+mn-ea"/>
                <a:cs typeface="+mn-cs"/>
              </a:rPr>
              <a:t>Finding and capturing information</a:t>
            </a:r>
          </a:p>
          <a:p>
            <a:pPr>
              <a:buFont typeface="Arial" pitchFamily="34" charset="0"/>
              <a:buChar char="•"/>
            </a:pPr>
            <a:r>
              <a:rPr lang="en-AU" sz="1200" kern="1200" dirty="0" smtClean="0">
                <a:solidFill>
                  <a:schemeClr val="tx1"/>
                </a:solidFill>
                <a:latin typeface="+mn-lt"/>
                <a:ea typeface="+mn-ea"/>
                <a:cs typeface="+mn-cs"/>
              </a:rPr>
              <a:t>Fact-finding</a:t>
            </a:r>
          </a:p>
          <a:p>
            <a:pPr>
              <a:buFont typeface="Arial" pitchFamily="34" charset="0"/>
              <a:buChar char="•"/>
            </a:pPr>
            <a:r>
              <a:rPr lang="en-AU" sz="1200" kern="1200" dirty="0" smtClean="0">
                <a:solidFill>
                  <a:schemeClr val="tx1"/>
                </a:solidFill>
                <a:latin typeface="+mn-lt"/>
                <a:ea typeface="+mn-ea"/>
                <a:cs typeface="+mn-cs"/>
              </a:rPr>
              <a:t>Exploration and visitations.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056002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a:t>
            </a:r>
            <a:r>
              <a:rPr lang="en-AU" sz="1200" kern="1200" dirty="0" smtClean="0">
                <a:solidFill>
                  <a:schemeClr val="tx1"/>
                </a:solidFill>
                <a:latin typeface="+mn-lt"/>
                <a:ea typeface="+mn-ea"/>
                <a:cs typeface="+mn-cs"/>
              </a:rPr>
              <a:t>Qualitative research’ observing it is about capturing information relating to:</a:t>
            </a:r>
          </a:p>
          <a:p>
            <a:pPr>
              <a:buFont typeface="Arial" pitchFamily="34" charset="0"/>
              <a:buChar char="•"/>
            </a:pPr>
            <a:r>
              <a:rPr lang="en-AU" sz="1200" kern="1200" dirty="0" smtClean="0">
                <a:solidFill>
                  <a:schemeClr val="tx1"/>
                </a:solidFill>
                <a:latin typeface="+mn-lt"/>
                <a:ea typeface="+mn-ea"/>
                <a:cs typeface="+mn-cs"/>
              </a:rPr>
              <a:t>Thoughts, feelings and impressions</a:t>
            </a:r>
          </a:p>
          <a:p>
            <a:pPr>
              <a:buFont typeface="Arial" pitchFamily="34" charset="0"/>
              <a:buChar char="•"/>
            </a:pPr>
            <a:r>
              <a:rPr lang="en-AU" sz="1200" kern="1200" dirty="0" smtClean="0">
                <a:solidFill>
                  <a:schemeClr val="tx1"/>
                </a:solidFill>
                <a:latin typeface="+mn-lt"/>
                <a:ea typeface="+mn-ea"/>
                <a:cs typeface="+mn-cs"/>
              </a:rPr>
              <a:t>Reasons and causes</a:t>
            </a:r>
          </a:p>
          <a:p>
            <a:pPr>
              <a:buFont typeface="Arial" pitchFamily="34" charset="0"/>
              <a:buChar char="•"/>
            </a:pPr>
            <a:r>
              <a:rPr lang="en-AU" sz="1200" kern="1200" dirty="0" smtClean="0">
                <a:solidFill>
                  <a:schemeClr val="tx1"/>
                </a:solidFill>
                <a:latin typeface="+mn-lt"/>
                <a:ea typeface="+mn-ea"/>
                <a:cs typeface="+mn-cs"/>
              </a:rPr>
              <a:t>Opinion, motivation and preferences</a:t>
            </a:r>
          </a:p>
          <a:p>
            <a:pPr>
              <a:buFont typeface="Arial" pitchFamily="34" charset="0"/>
              <a:buChar char="•"/>
            </a:pPr>
            <a:r>
              <a:rPr lang="en-AU" sz="1200" kern="1200" dirty="0" smtClean="0">
                <a:solidFill>
                  <a:schemeClr val="tx1"/>
                </a:solidFill>
                <a:latin typeface="+mn-lt"/>
                <a:ea typeface="+mn-ea"/>
                <a:cs typeface="+mn-cs"/>
              </a:rPr>
              <a:t>Why people behave/take action the way they do</a:t>
            </a:r>
          </a:p>
          <a:p>
            <a:pPr>
              <a:buFont typeface="Arial" pitchFamily="34" charset="0"/>
              <a:buChar char="•"/>
            </a:pPr>
            <a:r>
              <a:rPr lang="en-AU" sz="1200" kern="1200" dirty="0" smtClean="0">
                <a:solidFill>
                  <a:schemeClr val="tx1"/>
                </a:solidFill>
                <a:latin typeface="+mn-lt"/>
                <a:ea typeface="+mn-ea"/>
                <a:cs typeface="+mn-cs"/>
              </a:rPr>
              <a:t>Things which are not statistical in nature.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737004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Quantitative research is about capturing and manipulating:</a:t>
            </a:r>
          </a:p>
          <a:p>
            <a:pPr>
              <a:buFont typeface="Arial" pitchFamily="34" charset="0"/>
              <a:buChar char="•"/>
            </a:pPr>
            <a:r>
              <a:rPr lang="en-AU" sz="1200" kern="1200" dirty="0" smtClean="0">
                <a:solidFill>
                  <a:schemeClr val="tx1"/>
                </a:solidFill>
                <a:latin typeface="+mn-lt"/>
                <a:ea typeface="+mn-ea"/>
                <a:cs typeface="+mn-cs"/>
              </a:rPr>
              <a:t>Numbers and statistics</a:t>
            </a:r>
          </a:p>
          <a:p>
            <a:pPr>
              <a:buFont typeface="Arial" pitchFamily="34" charset="0"/>
              <a:buChar char="•"/>
            </a:pPr>
            <a:r>
              <a:rPr lang="en-AU" sz="1200" kern="1200" dirty="0" smtClean="0">
                <a:solidFill>
                  <a:schemeClr val="tx1"/>
                </a:solidFill>
                <a:latin typeface="+mn-lt"/>
                <a:ea typeface="+mn-ea"/>
                <a:cs typeface="+mn-cs"/>
              </a:rPr>
              <a:t>Percentages and ratios</a:t>
            </a:r>
          </a:p>
          <a:p>
            <a:pPr>
              <a:buFont typeface="Arial" pitchFamily="34" charset="0"/>
              <a:buChar char="•"/>
            </a:pPr>
            <a:r>
              <a:rPr lang="en-AU" sz="1200" kern="1200" dirty="0" smtClean="0">
                <a:solidFill>
                  <a:schemeClr val="tx1"/>
                </a:solidFill>
                <a:latin typeface="+mn-lt"/>
                <a:ea typeface="+mn-ea"/>
                <a:cs typeface="+mn-cs"/>
              </a:rPr>
              <a:t>Measurable facts and data.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283128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further explains research may be ‘secondary’ and/or ‘primary’.</a:t>
            </a:r>
          </a:p>
          <a:p>
            <a:r>
              <a:rPr lang="en-AU" sz="1200" b="1" i="0" kern="1200" dirty="0" smtClean="0">
                <a:solidFill>
                  <a:schemeClr val="tx1"/>
                </a:solidFill>
                <a:latin typeface="+mn-lt"/>
                <a:ea typeface="+mn-ea"/>
                <a:cs typeface="+mn-cs"/>
              </a:rPr>
              <a:t>Secondary research</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Secondary research is research conducted using materials which already exist.</a:t>
            </a:r>
          </a:p>
          <a:p>
            <a:r>
              <a:rPr lang="en-AU" sz="1200" kern="1200" dirty="0" smtClean="0">
                <a:solidFill>
                  <a:schemeClr val="tx1"/>
                </a:solidFill>
                <a:latin typeface="+mn-lt"/>
                <a:ea typeface="+mn-ea"/>
                <a:cs typeface="+mn-cs"/>
              </a:rPr>
              <a:t>It is essentially desk-top research involving:</a:t>
            </a:r>
          </a:p>
          <a:p>
            <a:pPr>
              <a:buFont typeface="Arial" pitchFamily="34" charset="0"/>
              <a:buChar char="•"/>
            </a:pPr>
            <a:r>
              <a:rPr lang="en-AU" sz="1200" kern="1200" dirty="0" smtClean="0">
                <a:solidFill>
                  <a:schemeClr val="tx1"/>
                </a:solidFill>
                <a:latin typeface="+mn-lt"/>
                <a:ea typeface="+mn-ea"/>
                <a:cs typeface="+mn-cs"/>
              </a:rPr>
              <a:t>Reading existing material and reprints</a:t>
            </a:r>
          </a:p>
          <a:p>
            <a:pPr>
              <a:buFont typeface="Arial" pitchFamily="34" charset="0"/>
              <a:buChar char="•"/>
            </a:pPr>
            <a:r>
              <a:rPr lang="en-AU" sz="1200" kern="1200" dirty="0" smtClean="0">
                <a:solidFill>
                  <a:schemeClr val="tx1"/>
                </a:solidFill>
                <a:latin typeface="+mn-lt"/>
                <a:ea typeface="+mn-ea"/>
                <a:cs typeface="+mn-cs"/>
              </a:rPr>
              <a:t>Looking at research undertaken by other people</a:t>
            </a:r>
          </a:p>
          <a:p>
            <a:pPr>
              <a:buFont typeface="Arial" pitchFamily="34" charset="0"/>
              <a:buChar char="•"/>
            </a:pPr>
            <a:r>
              <a:rPr lang="en-AU" sz="1200" kern="1200" dirty="0" smtClean="0">
                <a:solidFill>
                  <a:schemeClr val="tx1"/>
                </a:solidFill>
                <a:latin typeface="+mn-lt"/>
                <a:ea typeface="+mn-ea"/>
                <a:cs typeface="+mn-cs"/>
              </a:rPr>
              <a:t>Becoming aware of what is available without the need for further effort.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372747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primary research</a:t>
            </a:r>
          </a:p>
          <a:p>
            <a:r>
              <a:rPr lang="en-AU" sz="1200" b="1" i="0" kern="1200" dirty="0" smtClean="0">
                <a:solidFill>
                  <a:schemeClr val="tx1"/>
                </a:solidFill>
                <a:latin typeface="+mn-lt"/>
                <a:ea typeface="+mn-ea"/>
                <a:cs typeface="+mn-cs"/>
              </a:rPr>
              <a:t>Primary research</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Primary research involves taking action to generate fresh/new research findings and information that has never been collected previously.</a:t>
            </a:r>
          </a:p>
          <a:p>
            <a:r>
              <a:rPr lang="en-AU" sz="1200" kern="1200" dirty="0" smtClean="0">
                <a:solidFill>
                  <a:schemeClr val="tx1"/>
                </a:solidFill>
                <a:latin typeface="+mn-lt"/>
                <a:ea typeface="+mn-ea"/>
                <a:cs typeface="+mn-cs"/>
              </a:rPr>
              <a:t>It can involve:</a:t>
            </a:r>
          </a:p>
          <a:p>
            <a:pPr>
              <a:buFont typeface="Arial" pitchFamily="34" charset="0"/>
              <a:buChar char="•"/>
            </a:pPr>
            <a:r>
              <a:rPr lang="en-AU" sz="1200" kern="1200" dirty="0" smtClean="0">
                <a:solidFill>
                  <a:schemeClr val="tx1"/>
                </a:solidFill>
                <a:latin typeface="+mn-lt"/>
                <a:ea typeface="+mn-ea"/>
                <a:cs typeface="+mn-cs"/>
              </a:rPr>
              <a:t>Talking to people to obtain their input</a:t>
            </a:r>
          </a:p>
          <a:p>
            <a:pPr>
              <a:buFont typeface="Arial" pitchFamily="34" charset="0"/>
              <a:buChar char="•"/>
            </a:pPr>
            <a:r>
              <a:rPr lang="en-AU" sz="1200" kern="1200" dirty="0" smtClean="0">
                <a:solidFill>
                  <a:schemeClr val="tx1"/>
                </a:solidFill>
                <a:latin typeface="+mn-lt"/>
                <a:ea typeface="+mn-ea"/>
                <a:cs typeface="+mn-cs"/>
              </a:rPr>
              <a:t>Asking questions</a:t>
            </a:r>
          </a:p>
          <a:p>
            <a:pPr>
              <a:buFont typeface="Arial" pitchFamily="34" charset="0"/>
              <a:buChar char="•"/>
            </a:pPr>
            <a:r>
              <a:rPr lang="en-AU" sz="1200" kern="1200" dirty="0" smtClean="0">
                <a:solidFill>
                  <a:schemeClr val="tx1"/>
                </a:solidFill>
                <a:latin typeface="+mn-lt"/>
                <a:ea typeface="+mn-ea"/>
                <a:cs typeface="+mn-cs"/>
              </a:rPr>
              <a:t>Conducting tests and trials</a:t>
            </a:r>
          </a:p>
          <a:p>
            <a:pPr>
              <a:buFont typeface="Arial" pitchFamily="34" charset="0"/>
              <a:buChar char="•"/>
            </a:pPr>
            <a:r>
              <a:rPr lang="en-AU" sz="1200" kern="1200" dirty="0" smtClean="0">
                <a:solidFill>
                  <a:schemeClr val="tx1"/>
                </a:solidFill>
                <a:latin typeface="+mn-lt"/>
                <a:ea typeface="+mn-ea"/>
                <a:cs typeface="+mn-cs"/>
              </a:rPr>
              <a:t>Implementing various market research techniques.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739857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 </a:t>
            </a:r>
            <a:r>
              <a:rPr lang="en-AU" sz="1200" kern="1200" dirty="0" smtClean="0">
                <a:solidFill>
                  <a:schemeClr val="tx1"/>
                </a:solidFill>
                <a:latin typeface="+mn-lt"/>
                <a:ea typeface="+mn-ea"/>
                <a:cs typeface="+mn-cs"/>
              </a:rPr>
              <a:t>for the purposes of this unit ‘interpreting’ refers to activities applied to the material, data and information generated from the research process – such as:</a:t>
            </a:r>
          </a:p>
          <a:p>
            <a:pPr>
              <a:buFont typeface="Arial" pitchFamily="34" charset="0"/>
              <a:buChar char="•"/>
            </a:pPr>
            <a:r>
              <a:rPr lang="en-AU" sz="1200" kern="1200" dirty="0" smtClean="0">
                <a:solidFill>
                  <a:schemeClr val="tx1"/>
                </a:solidFill>
                <a:latin typeface="+mn-lt"/>
                <a:ea typeface="+mn-ea"/>
                <a:cs typeface="+mn-cs"/>
              </a:rPr>
              <a:t>Making sense of what has been obtained/discovered</a:t>
            </a:r>
          </a:p>
          <a:p>
            <a:pPr>
              <a:buFont typeface="Arial" pitchFamily="34" charset="0"/>
              <a:buChar char="•"/>
            </a:pPr>
            <a:r>
              <a:rPr lang="en-AU" sz="1200" kern="1200" dirty="0" smtClean="0">
                <a:solidFill>
                  <a:schemeClr val="tx1"/>
                </a:solidFill>
                <a:latin typeface="+mn-lt"/>
                <a:ea typeface="+mn-ea"/>
                <a:cs typeface="+mn-cs"/>
              </a:rPr>
              <a:t>Identifying meaning from the information</a:t>
            </a:r>
          </a:p>
          <a:p>
            <a:pPr>
              <a:buFont typeface="Arial" pitchFamily="34" charset="0"/>
              <a:buChar char="•"/>
            </a:pPr>
            <a:r>
              <a:rPr lang="en-AU" sz="1200" kern="1200" dirty="0" smtClean="0">
                <a:solidFill>
                  <a:schemeClr val="tx1"/>
                </a:solidFill>
                <a:latin typeface="+mn-lt"/>
                <a:ea typeface="+mn-ea"/>
                <a:cs typeface="+mn-cs"/>
              </a:rPr>
              <a:t>Working out how information can/might/will be used</a:t>
            </a:r>
          </a:p>
          <a:p>
            <a:pPr>
              <a:buFont typeface="Arial" pitchFamily="34" charset="0"/>
              <a:buChar char="•"/>
            </a:pPr>
            <a:r>
              <a:rPr lang="en-AU" sz="1200" kern="1200" dirty="0" smtClean="0">
                <a:solidFill>
                  <a:schemeClr val="tx1"/>
                </a:solidFill>
                <a:latin typeface="+mn-lt"/>
                <a:ea typeface="+mn-ea"/>
                <a:cs typeface="+mn-cs"/>
              </a:rPr>
              <a:t>Analysing data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396025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defining ’interpreting information stating it relates to:</a:t>
            </a:r>
          </a:p>
          <a:p>
            <a:pPr>
              <a:buFont typeface="Arial" pitchFamily="34" charset="0"/>
              <a:buChar char="•"/>
            </a:pPr>
            <a:r>
              <a:rPr lang="en-AU" sz="1200" kern="1200" dirty="0" smtClean="0">
                <a:solidFill>
                  <a:schemeClr val="tx1"/>
                </a:solidFill>
                <a:latin typeface="+mn-lt"/>
                <a:ea typeface="+mn-ea"/>
                <a:cs typeface="+mn-cs"/>
              </a:rPr>
              <a:t>Evaluating information</a:t>
            </a:r>
          </a:p>
          <a:p>
            <a:pPr>
              <a:buFont typeface="Arial" pitchFamily="34" charset="0"/>
              <a:buChar char="•"/>
            </a:pPr>
            <a:r>
              <a:rPr lang="en-AU" sz="1200" kern="1200" dirty="0" smtClean="0">
                <a:solidFill>
                  <a:schemeClr val="tx1"/>
                </a:solidFill>
                <a:latin typeface="+mn-lt"/>
                <a:ea typeface="+mn-ea"/>
                <a:cs typeface="+mn-cs"/>
              </a:rPr>
              <a:t>Performing calculations</a:t>
            </a:r>
          </a:p>
          <a:p>
            <a:pPr>
              <a:buFont typeface="Arial" pitchFamily="34" charset="0"/>
              <a:buChar char="•"/>
            </a:pPr>
            <a:r>
              <a:rPr lang="en-AU" sz="1200" kern="1200" dirty="0" smtClean="0">
                <a:solidFill>
                  <a:schemeClr val="tx1"/>
                </a:solidFill>
                <a:latin typeface="+mn-lt"/>
                <a:ea typeface="+mn-ea"/>
                <a:cs typeface="+mn-cs"/>
              </a:rPr>
              <a:t>Assessing the usefulness of material gathered</a:t>
            </a:r>
          </a:p>
          <a:p>
            <a:pPr>
              <a:buFont typeface="Arial" pitchFamily="34" charset="0"/>
              <a:buChar char="•"/>
            </a:pPr>
            <a:r>
              <a:rPr lang="en-AU" sz="1200" kern="1200" dirty="0" smtClean="0">
                <a:solidFill>
                  <a:schemeClr val="tx1"/>
                </a:solidFill>
                <a:latin typeface="+mn-lt"/>
                <a:ea typeface="+mn-ea"/>
                <a:cs typeface="+mn-cs"/>
              </a:rPr>
              <a:t>Sequencing facts and putting them in the correct order.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768317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tips and advice when research observing the </a:t>
            </a:r>
            <a:r>
              <a:rPr lang="en-AU" sz="1200" kern="1200" dirty="0" smtClean="0">
                <a:solidFill>
                  <a:schemeClr val="tx1"/>
                </a:solidFill>
                <a:latin typeface="+mn-lt"/>
                <a:ea typeface="+mn-ea"/>
                <a:cs typeface="+mn-cs"/>
              </a:rPr>
              <a:t>following have emerged as useful points to observe when researching:</a:t>
            </a:r>
          </a:p>
          <a:p>
            <a:pPr>
              <a:buFont typeface="Arial" pitchFamily="34" charset="0"/>
              <a:buChar char="•"/>
            </a:pPr>
            <a:r>
              <a:rPr lang="en-AU" sz="1200" kern="1200" dirty="0" smtClean="0">
                <a:solidFill>
                  <a:schemeClr val="tx1"/>
                </a:solidFill>
                <a:latin typeface="+mn-lt"/>
                <a:ea typeface="+mn-ea"/>
                <a:cs typeface="+mn-cs"/>
              </a:rPr>
              <a:t>It is always best to use a </a:t>
            </a:r>
            <a:r>
              <a:rPr lang="en-AU" sz="1200" i="1" kern="1200" dirty="0" smtClean="0">
                <a:solidFill>
                  <a:schemeClr val="tx1"/>
                </a:solidFill>
                <a:latin typeface="+mn-lt"/>
                <a:ea typeface="+mn-ea"/>
                <a:cs typeface="+mn-cs"/>
              </a:rPr>
              <a:t>combination</a:t>
            </a:r>
            <a:r>
              <a:rPr lang="en-AU" sz="1200" kern="1200" dirty="0" smtClean="0">
                <a:solidFill>
                  <a:schemeClr val="tx1"/>
                </a:solidFill>
                <a:latin typeface="+mn-lt"/>
                <a:ea typeface="+mn-ea"/>
                <a:cs typeface="+mn-cs"/>
              </a:rPr>
              <a:t> of sources to generate research data when researching any aspect of indigenous culture – as opposed to relying on just one source.</a:t>
            </a:r>
          </a:p>
          <a:p>
            <a:pPr>
              <a:buFont typeface="Arial" pitchFamily="34" charset="0"/>
              <a:buChar char="•"/>
            </a:pPr>
            <a:r>
              <a:rPr lang="en-AU" sz="1200" kern="1200" dirty="0" smtClean="0">
                <a:solidFill>
                  <a:schemeClr val="tx1"/>
                </a:solidFill>
                <a:latin typeface="+mn-lt"/>
                <a:ea typeface="+mn-ea"/>
                <a:cs typeface="+mn-cs"/>
              </a:rPr>
              <a:t>Always note/record the sources used to capture information – in order the source may be:</a:t>
            </a:r>
          </a:p>
          <a:p>
            <a:pPr lvl="1">
              <a:buFont typeface="Arial" pitchFamily="34" charset="0"/>
              <a:buChar char="•"/>
            </a:pPr>
            <a:r>
              <a:rPr lang="en-US" sz="1200" kern="1200" dirty="0" smtClean="0">
                <a:solidFill>
                  <a:schemeClr val="tx1"/>
                </a:solidFill>
                <a:latin typeface="+mn-lt"/>
                <a:ea typeface="+mn-ea"/>
                <a:cs typeface="+mn-cs"/>
              </a:rPr>
              <a:t>Cited/quoted if required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Re-visited as and when necessary to check facts and figures, and/or obtain further information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Use a mix of research data types – in terms of:</a:t>
            </a:r>
          </a:p>
          <a:p>
            <a:pPr lvl="1">
              <a:buFont typeface="Arial" pitchFamily="34" charset="0"/>
              <a:buChar char="•"/>
            </a:pPr>
            <a:r>
              <a:rPr lang="en-US" sz="1200" kern="1200" dirty="0" smtClean="0">
                <a:solidFill>
                  <a:schemeClr val="tx1"/>
                </a:solidFill>
                <a:latin typeface="+mn-lt"/>
                <a:ea typeface="+mn-ea"/>
                <a:cs typeface="+mn-cs"/>
              </a:rPr>
              <a:t>Qualitative and quantitative research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Primary and secondary research options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42608546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tips and advice on researching:</a:t>
            </a:r>
          </a:p>
          <a:p>
            <a:pPr>
              <a:buFont typeface="Arial" pitchFamily="34" charset="0"/>
              <a:buChar char="•"/>
            </a:pPr>
            <a:r>
              <a:rPr lang="en-AU" sz="1200" kern="1200" dirty="0" smtClean="0">
                <a:solidFill>
                  <a:schemeClr val="tx1"/>
                </a:solidFill>
                <a:latin typeface="+mn-lt"/>
                <a:ea typeface="+mn-ea"/>
                <a:cs typeface="+mn-cs"/>
              </a:rPr>
              <a:t>Make notes, obtain copies or capture images when researching – so they can form the basis of the materials which will be generated.</a:t>
            </a:r>
          </a:p>
          <a:p>
            <a:pPr lvl="1">
              <a:buFont typeface="Arial" pitchFamily="34" charset="0"/>
              <a:buChar char="•"/>
            </a:pPr>
            <a:r>
              <a:rPr lang="en-AU" sz="1200" kern="1200" dirty="0" smtClean="0">
                <a:solidFill>
                  <a:schemeClr val="tx1"/>
                </a:solidFill>
                <a:latin typeface="+mn-lt"/>
                <a:ea typeface="+mn-ea"/>
                <a:cs typeface="+mn-cs"/>
              </a:rPr>
              <a:t>Never rely solely on memory.</a:t>
            </a:r>
          </a:p>
          <a:p>
            <a:pPr>
              <a:buFont typeface="Arial" pitchFamily="34" charset="0"/>
              <a:buChar char="•"/>
            </a:pPr>
            <a:r>
              <a:rPr lang="en-AU" sz="1200" kern="1200" dirty="0" smtClean="0">
                <a:solidFill>
                  <a:schemeClr val="tx1"/>
                </a:solidFill>
                <a:latin typeface="+mn-lt"/>
                <a:ea typeface="+mn-ea"/>
                <a:cs typeface="+mn-cs"/>
              </a:rPr>
              <a:t>Check the currency of the materials used as the basis for research – it is not essential for all materials to be ‘the latest’ but it is imperative researchers understand the time/year those materials were generated in order to:</a:t>
            </a:r>
          </a:p>
          <a:p>
            <a:pPr lvl="1">
              <a:buFont typeface="Arial" pitchFamily="34" charset="0"/>
              <a:buChar char="•"/>
            </a:pPr>
            <a:r>
              <a:rPr lang="en-US" sz="1200" kern="1200" dirty="0" smtClean="0">
                <a:solidFill>
                  <a:schemeClr val="tx1"/>
                </a:solidFill>
                <a:latin typeface="+mn-lt"/>
                <a:ea typeface="+mn-ea"/>
                <a:cs typeface="+mn-cs"/>
              </a:rPr>
              <a:t>Give context to the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Indicate whether more current materials might exist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Determine whether the information sourced can/should be used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research process can be a complex activity and it needs to be properly resourced – this means there is a need to:</a:t>
            </a:r>
          </a:p>
          <a:p>
            <a:pPr lvl="1">
              <a:buFont typeface="Arial" pitchFamily="34" charset="0"/>
              <a:buChar char="•"/>
            </a:pPr>
            <a:r>
              <a:rPr lang="en-US" sz="1200" kern="1200" dirty="0" smtClean="0">
                <a:solidFill>
                  <a:schemeClr val="tx1"/>
                </a:solidFill>
                <a:latin typeface="+mn-lt"/>
                <a:ea typeface="+mn-ea"/>
                <a:cs typeface="+mn-cs"/>
              </a:rPr>
              <a:t>Allocate sufficient time to the research – research needs to begin well in advance of the need to use/share the material generated by the process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Allocate sufficient funds – for meetings, travel, purchase of source materials. preparation of materials to be shared with tour group members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Allocate sufficient staff to undertake all the research and associated activities – such as meetings, reading, preparation of draft materials for sharing, reviewing and revising draft materials.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861950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using identified sources on indigenous cultures:</a:t>
            </a:r>
          </a:p>
          <a:p>
            <a:r>
              <a:rPr lang="en-AU" sz="1200" b="1" kern="1200" dirty="0" smtClean="0">
                <a:solidFill>
                  <a:schemeClr val="tx1"/>
                </a:solidFill>
                <a:latin typeface="+mn-lt"/>
                <a:ea typeface="+mn-ea"/>
                <a:cs typeface="+mn-cs"/>
              </a:rPr>
              <a:t>Printed material</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Practical research requires:</a:t>
            </a:r>
          </a:p>
          <a:p>
            <a:pPr>
              <a:buFont typeface="Arial" pitchFamily="34" charset="0"/>
              <a:buChar char="•"/>
            </a:pPr>
            <a:r>
              <a:rPr lang="en-AU" sz="1200" kern="1200" dirty="0" smtClean="0">
                <a:solidFill>
                  <a:schemeClr val="tx1"/>
                </a:solidFill>
                <a:latin typeface="+mn-lt"/>
                <a:ea typeface="+mn-ea"/>
                <a:cs typeface="+mn-cs"/>
              </a:rPr>
              <a:t>Generating a personal library of reference material – which:</a:t>
            </a:r>
          </a:p>
          <a:p>
            <a:pPr lvl="1">
              <a:buFont typeface="Arial" pitchFamily="34" charset="0"/>
              <a:buChar char="•"/>
            </a:pPr>
            <a:r>
              <a:rPr lang="en-US" sz="1200" kern="1200" dirty="0" smtClean="0">
                <a:solidFill>
                  <a:schemeClr val="tx1"/>
                </a:solidFill>
                <a:latin typeface="+mn-lt"/>
                <a:ea typeface="+mn-ea"/>
                <a:cs typeface="+mn-cs"/>
              </a:rPr>
              <a:t>Grows over time; Is available to all those who need it; Should be managed/classified to facilitate access to information which may be needed from time-to-tome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Obtaining, reading and taking notes from a range of travel guides for the identified indigenous cultures.</a:t>
            </a:r>
          </a:p>
          <a:p>
            <a:pPr lvl="1">
              <a:buFont typeface="Arial" pitchFamily="34" charset="0"/>
              <a:buChar char="•"/>
            </a:pPr>
            <a:r>
              <a:rPr lang="en-AU" sz="1200" kern="1200" dirty="0" smtClean="0">
                <a:solidFill>
                  <a:schemeClr val="tx1"/>
                </a:solidFill>
                <a:latin typeface="+mn-lt"/>
                <a:ea typeface="+mn-ea"/>
                <a:cs typeface="+mn-cs"/>
              </a:rPr>
              <a:t>Popular travel guides are those by </a:t>
            </a:r>
            <a:r>
              <a:rPr lang="en-AU" sz="1200" kern="1200" dirty="0" smtClean="0">
                <a:solidFill>
                  <a:schemeClr val="accent2"/>
                </a:solidFill>
                <a:latin typeface="+mn-lt"/>
                <a:ea typeface="+mn-ea"/>
                <a:cs typeface="+mn-cs"/>
              </a:rPr>
              <a:t>Fodor’s, Lonely Planet and Frommer’s but </a:t>
            </a:r>
            <a:r>
              <a:rPr lang="en-AU" sz="1200" kern="1200" dirty="0" smtClean="0">
                <a:solidFill>
                  <a:schemeClr val="tx1"/>
                </a:solidFill>
                <a:latin typeface="+mn-lt"/>
                <a:ea typeface="+mn-ea"/>
                <a:cs typeface="+mn-cs"/>
              </a:rPr>
              <a:t>others also exist.</a:t>
            </a:r>
          </a:p>
          <a:p>
            <a:pPr>
              <a:buFont typeface="Arial" pitchFamily="34" charset="0"/>
              <a:buChar char="•"/>
            </a:pPr>
            <a:r>
              <a:rPr lang="en-AU" sz="1200" kern="1200" dirty="0" smtClean="0">
                <a:solidFill>
                  <a:schemeClr val="tx1"/>
                </a:solidFill>
                <a:latin typeface="+mn-lt"/>
                <a:ea typeface="+mn-ea"/>
                <a:cs typeface="+mn-cs"/>
              </a:rPr>
              <a:t>Obtaining, reading and taking notes from a range of literature/texts – on generic topics such as:</a:t>
            </a:r>
          </a:p>
          <a:p>
            <a:pPr lvl="1">
              <a:buFont typeface="Arial" pitchFamily="34" charset="0"/>
              <a:buChar char="•"/>
            </a:pPr>
            <a:r>
              <a:rPr lang="en-US" sz="1200" kern="1200" dirty="0" smtClean="0">
                <a:solidFill>
                  <a:schemeClr val="tx1"/>
                </a:solidFill>
                <a:latin typeface="+mn-lt"/>
                <a:ea typeface="+mn-ea"/>
                <a:cs typeface="+mn-cs"/>
              </a:rPr>
              <a:t>History; Science; Anthropology; Geography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Obtaining, reading and taking notes from a range of magazines – which may include;</a:t>
            </a:r>
          </a:p>
          <a:p>
            <a:pPr lvl="1">
              <a:buFont typeface="Arial" pitchFamily="34" charset="0"/>
              <a:buChar char="•"/>
            </a:pPr>
            <a:r>
              <a:rPr lang="en-US" sz="1200" kern="1200" dirty="0" smtClean="0">
                <a:solidFill>
                  <a:schemeClr val="tx1"/>
                </a:solidFill>
                <a:latin typeface="+mn-lt"/>
                <a:ea typeface="+mn-ea"/>
                <a:cs typeface="+mn-cs"/>
              </a:rPr>
              <a:t>Articles from general-purpose/circulation publications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Travel and tourism-specific magazines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Gathering and analysing the material contained in advertising brochures and promotional materials – generated by other operators and commercial enterprises.</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 Activity (1) – Handouts</a:t>
            </a:r>
          </a:p>
          <a:p>
            <a:pPr>
              <a:buFont typeface="Arial" pitchFamily="34" charset="0"/>
              <a:buNone/>
            </a:pPr>
            <a:r>
              <a:rPr lang="en-AU" sz="1200" b="0" kern="1200" noProof="0" dirty="0" smtClean="0">
                <a:solidFill>
                  <a:schemeClr val="tx1"/>
                </a:solidFill>
                <a:latin typeface="+mn-lt"/>
                <a:ea typeface="+mn-ea"/>
                <a:cs typeface="+mn-cs"/>
              </a:rPr>
              <a:t>Trainer distributes and discusses examples of brand name ‘Travel Guide’ books (such as </a:t>
            </a:r>
            <a:r>
              <a:rPr lang="en-AU" sz="1200" kern="1200" dirty="0" smtClean="0">
                <a:solidFill>
                  <a:schemeClr val="accent2"/>
                </a:solidFill>
                <a:latin typeface="+mn-lt"/>
                <a:ea typeface="+mn-ea"/>
                <a:cs typeface="+mn-cs"/>
              </a:rPr>
              <a:t>Fodor’s, Lonely Planet and Frommer’s). </a:t>
            </a:r>
          </a:p>
          <a:p>
            <a:pPr>
              <a:buFont typeface="Arial" pitchFamily="34" charset="0"/>
              <a:buNone/>
            </a:pPr>
            <a:endParaRPr lang="en-AU" sz="1200" b="0" kern="1200" noProof="0" dirty="0" smtClean="0">
              <a:solidFill>
                <a:schemeClr val="accent2"/>
              </a:solidFill>
              <a:latin typeface="+mn-lt"/>
              <a:ea typeface="+mn-ea"/>
              <a:cs typeface="+mn-cs"/>
            </a:endParaRPr>
          </a:p>
          <a:p>
            <a:pPr>
              <a:buFont typeface="Arial" pitchFamily="34" charset="0"/>
              <a:buNone/>
            </a:pPr>
            <a:r>
              <a:rPr lang="en-AU" sz="1200" b="1" kern="1200" noProof="0" dirty="0" smtClean="0">
                <a:solidFill>
                  <a:schemeClr val="accent2"/>
                </a:solidFill>
                <a:latin typeface="+mn-lt"/>
                <a:ea typeface="+mn-ea"/>
                <a:cs typeface="+mn-cs"/>
              </a:rPr>
              <a:t>Classroom</a:t>
            </a:r>
            <a:r>
              <a:rPr lang="en-AU" sz="1200" b="1" kern="1200" baseline="0" noProof="0" dirty="0" smtClean="0">
                <a:solidFill>
                  <a:schemeClr val="accent2"/>
                </a:solidFill>
                <a:latin typeface="+mn-lt"/>
                <a:ea typeface="+mn-ea"/>
                <a:cs typeface="+mn-cs"/>
              </a:rPr>
              <a:t> Activity (2) – Exercise</a:t>
            </a:r>
          </a:p>
          <a:p>
            <a:pPr>
              <a:buFont typeface="Arial" pitchFamily="34" charset="0"/>
              <a:buNone/>
            </a:pPr>
            <a:r>
              <a:rPr lang="en-AU" sz="1200" b="0" kern="1200" baseline="0" noProof="0" dirty="0" smtClean="0">
                <a:solidFill>
                  <a:schemeClr val="accent2"/>
                </a:solidFill>
                <a:latin typeface="+mn-lt"/>
                <a:ea typeface="+mn-ea"/>
                <a:cs typeface="+mn-cs"/>
              </a:rPr>
              <a:t>Trainer provides students with printed material and gives them a research task to perform using those resources/sources.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918668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The general media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Research involving the general media can involve:</a:t>
            </a:r>
          </a:p>
          <a:p>
            <a:pPr>
              <a:buFont typeface="Arial" pitchFamily="34" charset="0"/>
              <a:buChar char="•"/>
            </a:pPr>
            <a:r>
              <a:rPr lang="en-AU" sz="1200" kern="1200" dirty="0" smtClean="0">
                <a:solidFill>
                  <a:schemeClr val="tx1"/>
                </a:solidFill>
                <a:latin typeface="+mn-lt"/>
                <a:ea typeface="+mn-ea"/>
                <a:cs typeface="+mn-cs"/>
              </a:rPr>
              <a:t>Watching television programmes and documentaries relating to:</a:t>
            </a:r>
          </a:p>
          <a:p>
            <a:pPr lvl="1">
              <a:buFont typeface="Arial" pitchFamily="34" charset="0"/>
              <a:buChar char="•"/>
            </a:pPr>
            <a:r>
              <a:rPr lang="en-US" sz="1200" kern="1200" dirty="0" smtClean="0">
                <a:solidFill>
                  <a:schemeClr val="tx1"/>
                </a:solidFill>
                <a:latin typeface="+mn-lt"/>
                <a:ea typeface="+mn-ea"/>
                <a:cs typeface="+mn-cs"/>
              </a:rPr>
              <a:t>Travel and tourism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Target countries and cultures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Certain aspects of interest relating to identified communities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Listening to radio interviews – which feature:</a:t>
            </a:r>
          </a:p>
          <a:p>
            <a:pPr lvl="1">
              <a:buFont typeface="Arial" pitchFamily="34" charset="0"/>
              <a:buChar char="•"/>
            </a:pPr>
            <a:r>
              <a:rPr lang="en-US" sz="1200" kern="1200" dirty="0" smtClean="0">
                <a:solidFill>
                  <a:schemeClr val="tx1"/>
                </a:solidFill>
                <a:latin typeface="+mn-lt"/>
                <a:ea typeface="+mn-ea"/>
                <a:cs typeface="+mn-cs"/>
              </a:rPr>
              <a:t>Indigenous peoples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Community leaders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Tour Operators and Tour Guides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Tourists who have been to target destinations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Reading culture- and indigenous community-related articles contained in the Travel and Tourism section (or features) of newspapers – these may be:</a:t>
            </a:r>
          </a:p>
          <a:p>
            <a:pPr lvl="1">
              <a:buFont typeface="Arial" pitchFamily="34" charset="0"/>
              <a:buChar char="•"/>
            </a:pPr>
            <a:r>
              <a:rPr lang="en-US" sz="1200" kern="1200" dirty="0" smtClean="0">
                <a:solidFill>
                  <a:schemeClr val="tx1"/>
                </a:solidFill>
                <a:latin typeface="+mn-lt"/>
                <a:ea typeface="+mn-ea"/>
                <a:cs typeface="+mn-cs"/>
              </a:rPr>
              <a:t>Regular columns by reporters and travelers who have visited target destinations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Special (or ‘feature’) reports which occur from time-to-time on a range of different countries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Articles by industry bodies and/or government authorities on certain aspects of countries, communities or cultures.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sz="1200" b="1" kern="1200" noProof="0" dirty="0" smtClean="0">
                <a:solidFill>
                  <a:schemeClr val="accent2"/>
                </a:solidFill>
                <a:latin typeface="+mn-lt"/>
                <a:ea typeface="+mn-ea"/>
                <a:cs typeface="+mn-cs"/>
              </a:rPr>
              <a:t>Classroom</a:t>
            </a:r>
            <a:r>
              <a:rPr lang="en-AU" sz="1200" b="1" kern="1200" baseline="0" noProof="0" dirty="0" smtClean="0">
                <a:solidFill>
                  <a:schemeClr val="accent2"/>
                </a:solidFill>
                <a:latin typeface="+mn-lt"/>
                <a:ea typeface="+mn-ea"/>
                <a:cs typeface="+mn-cs"/>
              </a:rPr>
              <a:t> Activity – Exercise</a:t>
            </a:r>
          </a:p>
          <a:p>
            <a:pPr>
              <a:buFont typeface="Arial" pitchFamily="34" charset="0"/>
              <a:buNone/>
            </a:pPr>
            <a:r>
              <a:rPr lang="en-AU" sz="1200" b="0" kern="1200" baseline="0" noProof="0" dirty="0" smtClean="0">
                <a:solidFill>
                  <a:schemeClr val="accent2"/>
                </a:solidFill>
                <a:latin typeface="+mn-lt"/>
                <a:ea typeface="+mn-ea"/>
                <a:cs typeface="+mn-cs"/>
              </a:rPr>
              <a:t>Trainer provides students with media-based resources/source materials and gives them a research task to perform using those resources/sources.</a:t>
            </a:r>
            <a:endParaRPr lang="en-AU" b="0" noProof="0" dirty="0" smtClean="0"/>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796214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People from identified communities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Research activities involving people from identified communities may involve:</a:t>
            </a:r>
          </a:p>
          <a:p>
            <a:pPr>
              <a:buFont typeface="Arial" pitchFamily="34" charset="0"/>
              <a:buChar char="•"/>
            </a:pPr>
            <a:r>
              <a:rPr lang="en-AU" sz="1200" kern="1200" dirty="0" smtClean="0">
                <a:solidFill>
                  <a:schemeClr val="tx1"/>
                </a:solidFill>
                <a:latin typeface="+mn-lt"/>
                <a:ea typeface="+mn-ea"/>
                <a:cs typeface="+mn-cs"/>
              </a:rPr>
              <a:t>Meeting with them</a:t>
            </a:r>
          </a:p>
          <a:p>
            <a:pPr>
              <a:buFont typeface="Arial" pitchFamily="34" charset="0"/>
              <a:buChar char="•"/>
            </a:pPr>
            <a:r>
              <a:rPr lang="en-AU" sz="1200" kern="1200" dirty="0" smtClean="0">
                <a:solidFill>
                  <a:schemeClr val="tx1"/>
                </a:solidFill>
                <a:latin typeface="+mn-lt"/>
                <a:ea typeface="+mn-ea"/>
                <a:cs typeface="+mn-cs"/>
              </a:rPr>
              <a:t>Taking to them</a:t>
            </a:r>
          </a:p>
          <a:p>
            <a:pPr>
              <a:buFont typeface="Arial" pitchFamily="34" charset="0"/>
              <a:buChar char="•"/>
            </a:pPr>
            <a:r>
              <a:rPr lang="en-AU" sz="1200" kern="1200" dirty="0" smtClean="0">
                <a:solidFill>
                  <a:schemeClr val="tx1"/>
                </a:solidFill>
                <a:latin typeface="+mn-lt"/>
                <a:ea typeface="+mn-ea"/>
                <a:cs typeface="+mn-cs"/>
              </a:rPr>
              <a:t>Visiting their communities</a:t>
            </a:r>
          </a:p>
          <a:p>
            <a:pPr>
              <a:buFont typeface="Arial" pitchFamily="34" charset="0"/>
              <a:buChar char="•"/>
            </a:pPr>
            <a:r>
              <a:rPr lang="en-AU" sz="1200" kern="1200" dirty="0" smtClean="0">
                <a:solidFill>
                  <a:schemeClr val="tx1"/>
                </a:solidFill>
                <a:latin typeface="+mn-lt"/>
                <a:ea typeface="+mn-ea"/>
                <a:cs typeface="+mn-cs"/>
              </a:rPr>
              <a:t>Experiencing their culture</a:t>
            </a:r>
          </a:p>
          <a:p>
            <a:pPr>
              <a:buFont typeface="Arial" pitchFamily="34" charset="0"/>
              <a:buChar char="•"/>
            </a:pPr>
            <a:r>
              <a:rPr lang="en-AU" sz="1200" kern="1200" dirty="0" smtClean="0">
                <a:solidFill>
                  <a:schemeClr val="tx1"/>
                </a:solidFill>
                <a:latin typeface="+mn-lt"/>
                <a:ea typeface="+mn-ea"/>
                <a:cs typeface="+mn-cs"/>
              </a:rPr>
              <a:t>Participating in local activities</a:t>
            </a:r>
          </a:p>
          <a:p>
            <a:pPr>
              <a:buFont typeface="Arial" pitchFamily="34" charset="0"/>
              <a:buChar char="•"/>
            </a:pPr>
            <a:r>
              <a:rPr lang="en-AU" sz="1200" kern="1200" dirty="0" smtClean="0">
                <a:solidFill>
                  <a:schemeClr val="tx1"/>
                </a:solidFill>
                <a:latin typeface="+mn-lt"/>
                <a:ea typeface="+mn-ea"/>
                <a:cs typeface="+mn-cs"/>
              </a:rPr>
              <a:t>Recording personal experiences for later analysis/interpretation </a:t>
            </a:r>
          </a:p>
          <a:p>
            <a:pPr>
              <a:buFont typeface="Arial" pitchFamily="34" charset="0"/>
              <a:buChar char="•"/>
            </a:pPr>
            <a:r>
              <a:rPr lang="en-AU" sz="1200" kern="1200" dirty="0" smtClean="0">
                <a:solidFill>
                  <a:schemeClr val="tx1"/>
                </a:solidFill>
                <a:latin typeface="+mn-lt"/>
                <a:ea typeface="+mn-ea"/>
                <a:cs typeface="+mn-cs"/>
              </a:rPr>
              <a:t>Taking a tour to a target destination as a tourist on a tour conducted by another Tour Operator.</a:t>
            </a:r>
          </a:p>
          <a:p>
            <a:pPr>
              <a:buFont typeface="Arial" pitchFamily="34" charset="0"/>
              <a:buNone/>
            </a:pPr>
            <a:endParaRPr lang="en-AU" b="1"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people as identified on the slide to attend and:</a:t>
            </a:r>
          </a:p>
          <a:p>
            <a:pPr>
              <a:buFont typeface="Arial" pitchFamily="34" charset="0"/>
              <a:buChar char="•"/>
            </a:pPr>
            <a:r>
              <a:rPr lang="en-AU" b="0" baseline="0" noProof="0" dirty="0" smtClean="0"/>
              <a:t>Describe the role they can play in helping with research into indigenous cultures</a:t>
            </a:r>
          </a:p>
          <a:p>
            <a:pPr>
              <a:buFont typeface="Arial" pitchFamily="34" charset="0"/>
              <a:buChar char="•"/>
            </a:pPr>
            <a:r>
              <a:rPr lang="en-AU" b="0" baseline="0" noProof="0" dirty="0" smtClean="0"/>
              <a:t>Provide sample information relating to cultures/communities to which they belong/whom they represent.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927029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Industry personnel</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Research activities involving industry personnel can entail:</a:t>
            </a:r>
          </a:p>
          <a:p>
            <a:pPr>
              <a:buFont typeface="Arial" pitchFamily="34" charset="0"/>
              <a:buChar char="•"/>
            </a:pPr>
            <a:r>
              <a:rPr lang="en-AU" sz="1200" kern="1200" dirty="0" smtClean="0">
                <a:solidFill>
                  <a:schemeClr val="tx1"/>
                </a:solidFill>
                <a:latin typeface="+mn-lt"/>
                <a:ea typeface="+mn-ea"/>
                <a:cs typeface="+mn-cs"/>
              </a:rPr>
              <a:t>Talking with Tour Guides – particularly those who have experience/specialised knowledge of different peoples and cultures</a:t>
            </a:r>
          </a:p>
          <a:p>
            <a:pPr>
              <a:buFont typeface="Arial" pitchFamily="34" charset="0"/>
              <a:buChar char="•"/>
            </a:pPr>
            <a:r>
              <a:rPr lang="en-AU" sz="1200" kern="1200" dirty="0" smtClean="0">
                <a:solidFill>
                  <a:schemeClr val="tx1"/>
                </a:solidFill>
                <a:latin typeface="+mn-lt"/>
                <a:ea typeface="+mn-ea"/>
                <a:cs typeface="+mn-cs"/>
              </a:rPr>
              <a:t>Meeting with representatives from peak industry bodies – to capture information and ‘contact persons/points’</a:t>
            </a:r>
          </a:p>
          <a:p>
            <a:pPr>
              <a:buFont typeface="Arial" pitchFamily="34" charset="0"/>
              <a:buChar char="•"/>
            </a:pPr>
            <a:r>
              <a:rPr lang="en-AU" sz="1200" kern="1200" dirty="0" smtClean="0">
                <a:solidFill>
                  <a:schemeClr val="tx1"/>
                </a:solidFill>
                <a:latin typeface="+mn-lt"/>
                <a:ea typeface="+mn-ea"/>
                <a:cs typeface="+mn-cs"/>
              </a:rPr>
              <a:t>Speaking with officers from government agencies/authorities – with responsibility for Tourism, Culture, Trade or other related/associated matters and are often able to provide:</a:t>
            </a:r>
          </a:p>
          <a:p>
            <a:pPr lvl="1">
              <a:buFont typeface="Arial" pitchFamily="34" charset="0"/>
              <a:buChar char="•"/>
            </a:pPr>
            <a:r>
              <a:rPr lang="en-US" sz="1200" kern="1200" dirty="0" smtClean="0">
                <a:solidFill>
                  <a:schemeClr val="tx1"/>
                </a:solidFill>
                <a:latin typeface="+mn-lt"/>
                <a:ea typeface="+mn-ea"/>
                <a:cs typeface="+mn-cs"/>
              </a:rPr>
              <a:t> Valuable statistical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Details of any plans and proposals relating to the target destination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Details of schemes/incentives to encourage and support tourism activities in/to target destinations.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Visiting Visitor Information centres of target countries/communities (where these exist) – in order to:</a:t>
            </a:r>
          </a:p>
          <a:p>
            <a:pPr lvl="1">
              <a:buFont typeface="Arial" pitchFamily="34" charset="0"/>
              <a:buChar char="•"/>
            </a:pPr>
            <a:r>
              <a:rPr lang="en-US" sz="1200" kern="1200" dirty="0" smtClean="0">
                <a:solidFill>
                  <a:schemeClr val="tx1"/>
                </a:solidFill>
                <a:latin typeface="+mn-lt"/>
                <a:ea typeface="+mn-ea"/>
                <a:cs typeface="+mn-cs"/>
              </a:rPr>
              <a:t>Talk to Information Officers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Obtain hard copy, take-away promotional materials produced by local Tour Operators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Obtain documentation available from other Tour Operators relating to operational matters – such as sample itineraries, fees and charges, tour schedules, terms and conditions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Visiting and or talking to support businesses and service providers – to:</a:t>
            </a:r>
          </a:p>
          <a:p>
            <a:pPr lvl="1">
              <a:buFont typeface="Arial" pitchFamily="34" charset="0"/>
              <a:buChar char="•"/>
            </a:pPr>
            <a:r>
              <a:rPr lang="en-US" sz="1200" kern="1200" dirty="0" smtClean="0">
                <a:solidFill>
                  <a:schemeClr val="tx1"/>
                </a:solidFill>
                <a:latin typeface="+mn-lt"/>
                <a:ea typeface="+mn-ea"/>
                <a:cs typeface="+mn-cs"/>
              </a:rPr>
              <a:t>Gain an idea of products/services available to support/enable tours/activities in the destinations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Gauge cost/prices of materials being sold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Determine attitude of third party providers towards tourism initiatives into their area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Learn about and from their previous experience with Tour Operators and what they have done right and/or wrong in relation to the country/community.</a:t>
            </a:r>
            <a:endParaRPr lang="en-AU" sz="1200" kern="1200" dirty="0" smtClean="0">
              <a:solidFill>
                <a:schemeClr val="tx1"/>
              </a:solidFill>
              <a:latin typeface="+mn-lt"/>
              <a:ea typeface="+mn-ea"/>
              <a:cs typeface="+mn-cs"/>
            </a:endParaRPr>
          </a:p>
          <a:p>
            <a:pPr>
              <a:buFont typeface="Arial" pitchFamily="34" charset="0"/>
              <a:buChar char="•"/>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people as identified on the slide to attend and:</a:t>
            </a:r>
          </a:p>
          <a:p>
            <a:pPr>
              <a:buFont typeface="Arial" pitchFamily="34" charset="0"/>
              <a:buChar char="•"/>
            </a:pPr>
            <a:r>
              <a:rPr lang="en-AU" b="0" baseline="0" noProof="0" dirty="0" smtClean="0"/>
              <a:t>Describe the role they can play in helping with research into indigenous cultures</a:t>
            </a:r>
          </a:p>
          <a:p>
            <a:pPr>
              <a:buFont typeface="Arial" pitchFamily="34" charset="0"/>
              <a:buChar char="•"/>
            </a:pPr>
            <a:r>
              <a:rPr lang="en-AU" b="0" baseline="0" noProof="0" dirty="0" smtClean="0"/>
              <a:t>Provide sample information relating to cultures/communities to which they belong/whom they represent.</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578281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The internet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Using the internet as part of the desk-top research component of the process can involve:</a:t>
            </a:r>
          </a:p>
          <a:p>
            <a:pPr>
              <a:buFont typeface="Arial" pitchFamily="34" charset="0"/>
              <a:buChar char="•"/>
            </a:pPr>
            <a:r>
              <a:rPr lang="en-AU" sz="1200" kern="1200" dirty="0" smtClean="0">
                <a:solidFill>
                  <a:schemeClr val="tx1"/>
                </a:solidFill>
                <a:latin typeface="+mn-lt"/>
                <a:ea typeface="+mn-ea"/>
                <a:cs typeface="+mn-cs"/>
              </a:rPr>
              <a:t>Undertaking targeted searches – on destinations, required aspects (as identified as being the focus for planned tours, activities and inclusions)</a:t>
            </a:r>
          </a:p>
          <a:p>
            <a:pPr>
              <a:buFont typeface="Arial" pitchFamily="34" charset="0"/>
              <a:buChar char="•"/>
            </a:pPr>
            <a:r>
              <a:rPr lang="en-AU" sz="1200" kern="1200" dirty="0" smtClean="0">
                <a:solidFill>
                  <a:schemeClr val="tx1"/>
                </a:solidFill>
                <a:latin typeface="+mn-lt"/>
                <a:ea typeface="+mn-ea"/>
                <a:cs typeface="+mn-cs"/>
              </a:rPr>
              <a:t>Accessing publicly listed/released reports and documentation – as prepared by (for example) government agencies and industry bodies</a:t>
            </a:r>
          </a:p>
          <a:p>
            <a:pPr>
              <a:buFont typeface="Arial" pitchFamily="34" charset="0"/>
              <a:buChar char="•"/>
            </a:pPr>
            <a:r>
              <a:rPr lang="en-AU" sz="1200" kern="1200" dirty="0" smtClean="0">
                <a:solidFill>
                  <a:schemeClr val="tx1"/>
                </a:solidFill>
                <a:latin typeface="+mn-lt"/>
                <a:ea typeface="+mn-ea"/>
                <a:cs typeface="+mn-cs"/>
              </a:rPr>
              <a:t>Following-up and gaining additional material on knowledge already obtained from other sources</a:t>
            </a:r>
          </a:p>
          <a:p>
            <a:pPr>
              <a:buFont typeface="Arial" pitchFamily="34" charset="0"/>
              <a:buChar char="•"/>
            </a:pPr>
            <a:r>
              <a:rPr lang="en-AU" sz="1200" kern="1200" dirty="0" smtClean="0">
                <a:solidFill>
                  <a:schemeClr val="tx1"/>
                </a:solidFill>
                <a:latin typeface="+mn-lt"/>
                <a:ea typeface="+mn-ea"/>
                <a:cs typeface="+mn-cs"/>
              </a:rPr>
              <a:t>Obtaining names of people, places and businesses for subsequent personal/face-to-face contact</a:t>
            </a:r>
          </a:p>
          <a:p>
            <a:pPr>
              <a:buFont typeface="Arial" pitchFamily="34" charset="0"/>
              <a:buChar char="•"/>
            </a:pPr>
            <a:r>
              <a:rPr lang="en-AU" sz="1200" kern="1200" dirty="0" smtClean="0">
                <a:solidFill>
                  <a:schemeClr val="tx1"/>
                </a:solidFill>
                <a:latin typeface="+mn-lt"/>
                <a:ea typeface="+mn-ea"/>
                <a:cs typeface="+mn-cs"/>
              </a:rPr>
              <a:t>Making contact with potential joint-venture partners</a:t>
            </a:r>
          </a:p>
          <a:p>
            <a:pPr>
              <a:buFont typeface="Arial" pitchFamily="34" charset="0"/>
              <a:buChar char="•"/>
            </a:pPr>
            <a:r>
              <a:rPr lang="en-AU" sz="1200" kern="1200" dirty="0" smtClean="0">
                <a:solidFill>
                  <a:schemeClr val="tx1"/>
                </a:solidFill>
                <a:latin typeface="+mn-lt"/>
                <a:ea typeface="+mn-ea"/>
                <a:cs typeface="+mn-cs"/>
              </a:rPr>
              <a:t>Subscribing to relevant online newsletters and email alerts</a:t>
            </a:r>
          </a:p>
          <a:p>
            <a:pPr>
              <a:buFont typeface="Arial" pitchFamily="34" charset="0"/>
              <a:buChar char="•"/>
            </a:pPr>
            <a:r>
              <a:rPr lang="en-AU" sz="1200" kern="1200" dirty="0" smtClean="0">
                <a:solidFill>
                  <a:schemeClr val="tx1"/>
                </a:solidFill>
                <a:latin typeface="+mn-lt"/>
                <a:ea typeface="+mn-ea"/>
                <a:cs typeface="+mn-cs"/>
              </a:rPr>
              <a:t>Monitoring relevant travel and tourism blogs and discussion forums/chat rooms</a:t>
            </a:r>
          </a:p>
          <a:p>
            <a:pPr>
              <a:buFont typeface="Arial" pitchFamily="34" charset="0"/>
              <a:buNone/>
            </a:pPr>
            <a:endParaRPr lang="en-AU" noProof="0" dirty="0" smtClean="0"/>
          </a:p>
          <a:p>
            <a:pPr>
              <a:buFont typeface="Arial" pitchFamily="34" charset="0"/>
              <a:buNone/>
            </a:pPr>
            <a:r>
              <a:rPr lang="en-AU" sz="1200" b="1" kern="1200" noProof="0" dirty="0" smtClean="0">
                <a:solidFill>
                  <a:schemeClr val="accent2"/>
                </a:solidFill>
                <a:latin typeface="+mn-lt"/>
                <a:ea typeface="+mn-ea"/>
                <a:cs typeface="+mn-cs"/>
              </a:rPr>
              <a:t>Classroom</a:t>
            </a:r>
            <a:r>
              <a:rPr lang="en-AU" sz="1200" b="1" kern="1200" baseline="0" noProof="0" dirty="0" smtClean="0">
                <a:solidFill>
                  <a:schemeClr val="accent2"/>
                </a:solidFill>
                <a:latin typeface="+mn-lt"/>
                <a:ea typeface="+mn-ea"/>
                <a:cs typeface="+mn-cs"/>
              </a:rPr>
              <a:t> Activity – Exercise</a:t>
            </a:r>
          </a:p>
          <a:p>
            <a:pPr>
              <a:buFont typeface="Arial" pitchFamily="34" charset="0"/>
              <a:buNone/>
            </a:pPr>
            <a:r>
              <a:rPr lang="en-AU" sz="1200" b="0" kern="1200" baseline="0" noProof="0" dirty="0" smtClean="0">
                <a:solidFill>
                  <a:schemeClr val="accent2"/>
                </a:solidFill>
                <a:latin typeface="+mn-lt"/>
                <a:ea typeface="+mn-ea"/>
                <a:cs typeface="+mn-cs"/>
              </a:rPr>
              <a:t>Trainer provides students with a research objective/task and provides access to the internet to enable them to research this topic.</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483076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Formal training courses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Formal training courses can be useful to:</a:t>
            </a:r>
          </a:p>
          <a:p>
            <a:pPr>
              <a:buFont typeface="Arial" pitchFamily="34" charset="0"/>
              <a:buChar char="•"/>
            </a:pPr>
            <a:r>
              <a:rPr lang="en-AU" sz="1200" kern="1200" dirty="0" smtClean="0">
                <a:solidFill>
                  <a:schemeClr val="tx1"/>
                </a:solidFill>
                <a:latin typeface="+mn-lt"/>
                <a:ea typeface="+mn-ea"/>
                <a:cs typeface="+mn-cs"/>
              </a:rPr>
              <a:t>Study a country, culture of community</a:t>
            </a:r>
          </a:p>
          <a:p>
            <a:pPr>
              <a:buFont typeface="Arial" pitchFamily="34" charset="0"/>
              <a:buChar char="•"/>
            </a:pPr>
            <a:r>
              <a:rPr lang="en-AU" sz="1200" kern="1200" dirty="0" smtClean="0">
                <a:solidFill>
                  <a:schemeClr val="tx1"/>
                </a:solidFill>
                <a:latin typeface="+mn-lt"/>
                <a:ea typeface="+mn-ea"/>
                <a:cs typeface="+mn-cs"/>
              </a:rPr>
              <a:t>Learn about the history of a region or community</a:t>
            </a:r>
          </a:p>
          <a:p>
            <a:pPr>
              <a:buFont typeface="Arial" pitchFamily="34" charset="0"/>
              <a:buChar char="•"/>
            </a:pPr>
            <a:r>
              <a:rPr lang="en-AU" sz="1200" kern="1200" dirty="0" smtClean="0">
                <a:solidFill>
                  <a:schemeClr val="tx1"/>
                </a:solidFill>
                <a:latin typeface="+mn-lt"/>
                <a:ea typeface="+mn-ea"/>
                <a:cs typeface="+mn-cs"/>
              </a:rPr>
              <a:t>Learn how to undertake formal research processes</a:t>
            </a:r>
          </a:p>
          <a:p>
            <a:pPr>
              <a:buFont typeface="Arial" pitchFamily="34" charset="0"/>
              <a:buChar char="•"/>
            </a:pPr>
            <a:r>
              <a:rPr lang="en-AU" sz="1200" kern="1200" dirty="0" smtClean="0">
                <a:solidFill>
                  <a:schemeClr val="tx1"/>
                </a:solidFill>
                <a:latin typeface="+mn-lt"/>
                <a:ea typeface="+mn-ea"/>
                <a:cs typeface="+mn-cs"/>
              </a:rPr>
              <a:t>Meet others with similar interests</a:t>
            </a:r>
          </a:p>
          <a:p>
            <a:pPr>
              <a:buFont typeface="Arial" pitchFamily="34" charset="0"/>
              <a:buNone/>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representative from local training institution to attend and:</a:t>
            </a:r>
          </a:p>
          <a:p>
            <a:pPr>
              <a:buFont typeface="Arial" pitchFamily="34" charset="0"/>
              <a:buChar char="•"/>
            </a:pPr>
            <a:r>
              <a:rPr lang="en-AU" b="0" baseline="0" noProof="0" dirty="0" smtClean="0"/>
              <a:t>Discuss courses available to assist with research</a:t>
            </a:r>
          </a:p>
          <a:p>
            <a:pPr>
              <a:buFont typeface="Arial" pitchFamily="34" charset="0"/>
              <a:buChar char="•"/>
            </a:pPr>
            <a:r>
              <a:rPr lang="en-AU" b="0" baseline="0" noProof="0" dirty="0" smtClean="0"/>
              <a:t>Describe study options</a:t>
            </a:r>
          </a:p>
          <a:p>
            <a:pPr>
              <a:buFont typeface="Arial" pitchFamily="34" charset="0"/>
              <a:buChar char="•"/>
            </a:pPr>
            <a:r>
              <a:rPr lang="en-AU" b="0" baseline="0" noProof="0" dirty="0" smtClean="0"/>
              <a:t>Explain costs</a:t>
            </a:r>
          </a:p>
          <a:p>
            <a:pPr>
              <a:buFont typeface="Arial" pitchFamily="34" charset="0"/>
              <a:buChar char="•"/>
            </a:pPr>
            <a:r>
              <a:rPr lang="en-AU" b="0" baseline="0" noProof="0" dirty="0" smtClean="0"/>
              <a:t>Provide pamphlets.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579499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using identified sources on indigenous cultures:</a:t>
            </a:r>
          </a:p>
          <a:p>
            <a:r>
              <a:rPr lang="en-AU" sz="1200" b="1" kern="1200" dirty="0" smtClean="0">
                <a:solidFill>
                  <a:schemeClr val="tx1"/>
                </a:solidFill>
                <a:latin typeface="+mn-lt"/>
                <a:ea typeface="+mn-ea"/>
                <a:cs typeface="+mn-cs"/>
              </a:rPr>
              <a:t>Institutions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Using institutions as part of the research process generally requires:</a:t>
            </a:r>
          </a:p>
          <a:p>
            <a:pPr>
              <a:buFont typeface="Arial" pitchFamily="34" charset="0"/>
              <a:buChar char="•"/>
            </a:pPr>
            <a:r>
              <a:rPr lang="en-AU" sz="1200" kern="1200" dirty="0" smtClean="0">
                <a:solidFill>
                  <a:schemeClr val="tx1"/>
                </a:solidFill>
                <a:latin typeface="+mn-lt"/>
                <a:ea typeface="+mn-ea"/>
                <a:cs typeface="+mn-cs"/>
              </a:rPr>
              <a:t>Visiting the locations</a:t>
            </a:r>
          </a:p>
          <a:p>
            <a:pPr>
              <a:buFont typeface="Arial" pitchFamily="34" charset="0"/>
              <a:buChar char="•"/>
            </a:pPr>
            <a:r>
              <a:rPr lang="en-AU" sz="1200" kern="1200" dirty="0" smtClean="0">
                <a:solidFill>
                  <a:schemeClr val="tx1"/>
                </a:solidFill>
                <a:latin typeface="+mn-lt"/>
                <a:ea typeface="+mn-ea"/>
                <a:cs typeface="+mn-cs"/>
              </a:rPr>
              <a:t>Talking with curators</a:t>
            </a:r>
          </a:p>
          <a:p>
            <a:pPr>
              <a:buFont typeface="Arial" pitchFamily="34" charset="0"/>
              <a:buChar char="•"/>
            </a:pPr>
            <a:r>
              <a:rPr lang="en-AU" sz="1200" kern="1200" dirty="0" smtClean="0">
                <a:solidFill>
                  <a:schemeClr val="tx1"/>
                </a:solidFill>
                <a:latin typeface="+mn-lt"/>
                <a:ea typeface="+mn-ea"/>
                <a:cs typeface="+mn-cs"/>
              </a:rPr>
              <a:t>Viewing the exhibitions</a:t>
            </a:r>
          </a:p>
          <a:p>
            <a:pPr>
              <a:buFont typeface="Arial" pitchFamily="34" charset="0"/>
              <a:buChar char="•"/>
            </a:pPr>
            <a:r>
              <a:rPr lang="en-AU" sz="1200" kern="1200" dirty="0" smtClean="0">
                <a:solidFill>
                  <a:schemeClr val="tx1"/>
                </a:solidFill>
                <a:latin typeface="+mn-lt"/>
                <a:ea typeface="+mn-ea"/>
                <a:cs typeface="+mn-cs"/>
              </a:rPr>
              <a:t>Engaging with the displays</a:t>
            </a:r>
          </a:p>
          <a:p>
            <a:pPr>
              <a:buFont typeface="Arial" pitchFamily="34" charset="0"/>
              <a:buChar char="•"/>
            </a:pPr>
            <a:r>
              <a:rPr lang="en-AU" sz="1200" kern="1200" dirty="0" smtClean="0">
                <a:solidFill>
                  <a:schemeClr val="tx1"/>
                </a:solidFill>
                <a:latin typeface="+mn-lt"/>
                <a:ea typeface="+mn-ea"/>
                <a:cs typeface="+mn-cs"/>
              </a:rPr>
              <a:t>Obtaining ‘Fact Sheets’ and other materials distributed to visitors</a:t>
            </a:r>
          </a:p>
          <a:p>
            <a:pPr>
              <a:buFont typeface="Arial" pitchFamily="34" charset="0"/>
              <a:buChar char="•"/>
            </a:pPr>
            <a:r>
              <a:rPr lang="en-AU" sz="1200" kern="1200" dirty="0" smtClean="0">
                <a:solidFill>
                  <a:schemeClr val="tx1"/>
                </a:solidFill>
                <a:latin typeface="+mn-lt"/>
                <a:ea typeface="+mn-ea"/>
                <a:cs typeface="+mn-cs"/>
              </a:rPr>
              <a:t>Understanding how/if these institutions can become part of a trip, tour or activity.</a:t>
            </a:r>
          </a:p>
          <a:p>
            <a:pPr>
              <a:buFont typeface="Arial" pitchFamily="34" charset="0"/>
              <a:buNone/>
            </a:pPr>
            <a:endParaRPr lang="en-AU" noProof="0" dirty="0" smtClean="0"/>
          </a:p>
          <a:p>
            <a:pPr>
              <a:buFont typeface="Arial" pitchFamily="34" charset="0"/>
              <a:buNone/>
            </a:pPr>
            <a:r>
              <a:rPr lang="en-AU" b="1" noProof="0" dirty="0" smtClean="0"/>
              <a:t>Classroom Activity (1) – Guest Speaker/s</a:t>
            </a:r>
          </a:p>
          <a:p>
            <a:pPr>
              <a:buFont typeface="Arial" pitchFamily="34" charset="0"/>
              <a:buNone/>
            </a:pPr>
            <a:r>
              <a:rPr lang="en-AU" b="0" noProof="0" dirty="0" smtClean="0"/>
              <a:t>Trainer arranges for representatives from local ‘institutions’ to attend and:</a:t>
            </a:r>
          </a:p>
          <a:p>
            <a:pPr>
              <a:buFont typeface="Arial" pitchFamily="34" charset="0"/>
              <a:buChar char="•"/>
            </a:pPr>
            <a:r>
              <a:rPr lang="en-AU" b="0" noProof="0" dirty="0" smtClean="0"/>
              <a:t>Describe their capacity to support relevant research</a:t>
            </a:r>
          </a:p>
          <a:p>
            <a:pPr>
              <a:buFont typeface="Arial" pitchFamily="34" charset="0"/>
              <a:buChar char="•"/>
            </a:pPr>
            <a:r>
              <a:rPr lang="en-AU" b="0" noProof="0" dirty="0" smtClean="0"/>
              <a:t>Explain how their institution might be part of a local tour/activity</a:t>
            </a:r>
          </a:p>
          <a:p>
            <a:pPr>
              <a:buFont typeface="Arial" pitchFamily="34" charset="0"/>
              <a:buChar char="•"/>
            </a:pPr>
            <a:r>
              <a:rPr lang="en-AU" b="0" noProof="0" dirty="0" smtClean="0"/>
              <a:t>Provide sample Facts Sheets.</a:t>
            </a:r>
          </a:p>
          <a:p>
            <a:pPr>
              <a:buFont typeface="Arial" pitchFamily="34" charset="0"/>
              <a:buNone/>
            </a:pPr>
            <a:endParaRPr lang="en-AU" b="0" noProof="0" dirty="0" smtClean="0"/>
          </a:p>
          <a:p>
            <a:pPr>
              <a:buFont typeface="Arial" pitchFamily="34" charset="0"/>
              <a:buNone/>
            </a:pPr>
            <a:r>
              <a:rPr lang="en-AU" b="1" noProof="0" dirty="0" smtClean="0"/>
              <a:t>Classroom Activity (2) – Excursion</a:t>
            </a:r>
          </a:p>
          <a:p>
            <a:pPr>
              <a:buFont typeface="Arial" pitchFamily="34" charset="0"/>
              <a:buNone/>
            </a:pPr>
            <a:r>
              <a:rPr lang="en-AU" b="0" noProof="0" dirty="0" smtClean="0"/>
              <a:t>Trainer arranges for students to visit a local ‘institution’ and:</a:t>
            </a:r>
          </a:p>
          <a:p>
            <a:pPr>
              <a:buFont typeface="Arial" pitchFamily="34" charset="0"/>
              <a:buChar char="•"/>
            </a:pPr>
            <a:r>
              <a:rPr lang="en-AU" b="0" noProof="0" dirty="0" smtClean="0"/>
              <a:t>View facilities</a:t>
            </a:r>
          </a:p>
          <a:p>
            <a:pPr>
              <a:buFont typeface="Arial" pitchFamily="34" charset="0"/>
              <a:buChar char="•"/>
            </a:pPr>
            <a:r>
              <a:rPr lang="en-AU" b="0" noProof="0" dirty="0" smtClean="0"/>
              <a:t>Talk to curators</a:t>
            </a:r>
          </a:p>
          <a:p>
            <a:pPr>
              <a:buFont typeface="Arial" pitchFamily="34" charset="0"/>
              <a:buChar char="•"/>
            </a:pPr>
            <a:r>
              <a:rPr lang="en-AU" b="0" noProof="0" dirty="0" smtClean="0"/>
              <a:t>Identify their role in supporting relevant research</a:t>
            </a:r>
          </a:p>
          <a:p>
            <a:pPr>
              <a:buFont typeface="Arial" pitchFamily="34" charset="0"/>
              <a:buChar char="•"/>
            </a:pPr>
            <a:r>
              <a:rPr lang="en-AU" b="0" noProof="0" dirty="0" smtClean="0"/>
              <a:t>Obtain information sheets and similar.</a:t>
            </a:r>
            <a:r>
              <a:rPr lang="en-AU" b="1" noProof="0" dirty="0" smtClean="0"/>
              <a:t> </a:t>
            </a:r>
          </a:p>
          <a:p>
            <a:pPr>
              <a:buFont typeface="Arial" pitchFamily="34" charset="0"/>
              <a:buChar char="•"/>
            </a:pPr>
            <a:endParaRPr lang="en-AU" b="0"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577482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range of topics which might be the focus of research explaining:</a:t>
            </a:r>
          </a:p>
          <a:p>
            <a:pPr>
              <a:buFont typeface="Arial" pitchFamily="34" charset="0"/>
              <a:buChar char="•"/>
            </a:pPr>
            <a:r>
              <a:rPr lang="en-AU" sz="1200" kern="1200" dirty="0" smtClean="0">
                <a:solidFill>
                  <a:schemeClr val="tx1"/>
                </a:solidFill>
                <a:latin typeface="+mn-lt"/>
                <a:ea typeface="+mn-ea"/>
                <a:cs typeface="+mn-cs"/>
              </a:rPr>
              <a:t>The research being conducted will </a:t>
            </a:r>
            <a:r>
              <a:rPr lang="en-AU" sz="1200" i="1" kern="1200" dirty="0" smtClean="0">
                <a:solidFill>
                  <a:schemeClr val="tx1"/>
                </a:solidFill>
                <a:latin typeface="+mn-lt"/>
                <a:ea typeface="+mn-ea"/>
                <a:cs typeface="+mn-cs"/>
              </a:rPr>
              <a:t>always</a:t>
            </a:r>
            <a:r>
              <a:rPr lang="en-AU" sz="1200" kern="1200" dirty="0" smtClean="0">
                <a:solidFill>
                  <a:schemeClr val="tx1"/>
                </a:solidFill>
                <a:latin typeface="+mn-lt"/>
                <a:ea typeface="+mn-ea"/>
                <a:cs typeface="+mn-cs"/>
              </a:rPr>
              <a:t> focus on the ideas a Tour Operator has regarding proposed tours and activities.</a:t>
            </a:r>
          </a:p>
          <a:p>
            <a:pPr>
              <a:buFont typeface="Arial" pitchFamily="34" charset="0"/>
              <a:buChar char="•"/>
            </a:pPr>
            <a:r>
              <a:rPr lang="en-AU" sz="1200" kern="1200" dirty="0" smtClean="0">
                <a:solidFill>
                  <a:schemeClr val="tx1"/>
                </a:solidFill>
                <a:latin typeface="+mn-lt"/>
                <a:ea typeface="+mn-ea"/>
                <a:cs typeface="+mn-cs"/>
              </a:rPr>
              <a:t>In many cases, this will be the sole focus of the research and interpretation processes.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658252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possible research topics:</a:t>
            </a:r>
          </a:p>
          <a:p>
            <a:pPr>
              <a:buFont typeface="Arial" pitchFamily="34" charset="0"/>
              <a:buChar char="•"/>
            </a:pPr>
            <a:r>
              <a:rPr lang="en-AU" sz="1200" kern="1200" dirty="0" smtClean="0">
                <a:solidFill>
                  <a:schemeClr val="tx1"/>
                </a:solidFill>
                <a:latin typeface="+mn-lt"/>
                <a:ea typeface="+mn-ea"/>
                <a:cs typeface="+mn-cs"/>
              </a:rPr>
              <a:t>History of the people – which can be divided into different sections as appropriate to the country and the plans of the Tour Operator. Two commonly used divisions are:</a:t>
            </a:r>
          </a:p>
          <a:p>
            <a:pPr lvl="1">
              <a:buFont typeface="Arial" pitchFamily="34" charset="0"/>
              <a:buChar char="•"/>
            </a:pPr>
            <a:r>
              <a:rPr lang="en-US" sz="1200" kern="1200" dirty="0" smtClean="0">
                <a:solidFill>
                  <a:schemeClr val="tx1"/>
                </a:solidFill>
                <a:latin typeface="+mn-lt"/>
                <a:ea typeface="+mn-ea"/>
                <a:cs typeface="+mn-cs"/>
              </a:rPr>
              <a:t>Time before contact with western or other cultures and societies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Time after the above contact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traditional life of the people – including reference to:</a:t>
            </a:r>
          </a:p>
          <a:p>
            <a:pPr lvl="1">
              <a:buFont typeface="Arial" pitchFamily="34" charset="0"/>
              <a:buChar char="•"/>
            </a:pPr>
            <a:r>
              <a:rPr lang="en-US" sz="1200" kern="1200" dirty="0" smtClean="0">
                <a:solidFill>
                  <a:schemeClr val="tx1"/>
                </a:solidFill>
                <a:latin typeface="+mn-lt"/>
                <a:ea typeface="+mn-ea"/>
                <a:cs typeface="+mn-cs"/>
              </a:rPr>
              <a:t>Customs, tools and practices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family unit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Community life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unique nature of the culture/community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Contrast with their contemporary life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Art, dance and music – which can address:</a:t>
            </a:r>
          </a:p>
          <a:p>
            <a:pPr lvl="1">
              <a:buFont typeface="Arial" pitchFamily="34" charset="0"/>
              <a:buChar char="•"/>
            </a:pPr>
            <a:r>
              <a:rPr lang="en-US" sz="1200" kern="1200" dirty="0" smtClean="0">
                <a:solidFill>
                  <a:schemeClr val="tx1"/>
                </a:solidFill>
                <a:latin typeface="+mn-lt"/>
                <a:ea typeface="+mn-ea"/>
                <a:cs typeface="+mn-cs"/>
              </a:rPr>
              <a:t>The different types of art practices by the people including materials and instruments used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Examples of work produced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Reasons why art, dance and music was produced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Role of same in community life</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982298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possible research topics:</a:t>
            </a:r>
          </a:p>
          <a:p>
            <a:pPr>
              <a:buFont typeface="Arial" pitchFamily="34" charset="0"/>
              <a:buChar char="•"/>
            </a:pPr>
            <a:r>
              <a:rPr lang="en-AU" sz="1200" kern="1200" dirty="0" smtClean="0">
                <a:solidFill>
                  <a:schemeClr val="tx1"/>
                </a:solidFill>
                <a:latin typeface="+mn-lt"/>
                <a:ea typeface="+mn-ea"/>
                <a:cs typeface="+mn-cs"/>
              </a:rPr>
              <a:t>Oral history of the people – in terms of process and content with reference to:</a:t>
            </a:r>
          </a:p>
          <a:p>
            <a:pPr lvl="1">
              <a:buFont typeface="Arial" pitchFamily="34" charset="0"/>
              <a:buChar char="•"/>
            </a:pPr>
            <a:r>
              <a:rPr lang="en-US" sz="1200" kern="1200" dirty="0" smtClean="0">
                <a:solidFill>
                  <a:schemeClr val="tx1"/>
                </a:solidFill>
                <a:latin typeface="+mn-lt"/>
                <a:ea typeface="+mn-ea"/>
                <a:cs typeface="+mn-cs"/>
              </a:rPr>
              <a:t>Story telling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Legends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Myths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Tools and implements – used for:</a:t>
            </a:r>
          </a:p>
          <a:p>
            <a:pPr lvl="1">
              <a:buFont typeface="Arial" pitchFamily="34" charset="0"/>
              <a:buChar char="•"/>
            </a:pPr>
            <a:r>
              <a:rPr lang="en-US" sz="1200" kern="1200" dirty="0" smtClean="0">
                <a:solidFill>
                  <a:schemeClr val="tx1"/>
                </a:solidFill>
                <a:latin typeface="+mn-lt"/>
                <a:ea typeface="+mn-ea"/>
                <a:cs typeface="+mn-cs"/>
              </a:rPr>
              <a:t>Day-to-day living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Farming and agriculture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Warfare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Foods of the people – including coverage of:</a:t>
            </a:r>
          </a:p>
          <a:p>
            <a:pPr lvl="1">
              <a:buFont typeface="Arial" pitchFamily="34" charset="0"/>
              <a:buChar char="•"/>
            </a:pPr>
            <a:r>
              <a:rPr lang="en-US" sz="1200" kern="1200" dirty="0" smtClean="0">
                <a:solidFill>
                  <a:schemeClr val="tx1"/>
                </a:solidFill>
                <a:latin typeface="+mn-lt"/>
                <a:ea typeface="+mn-ea"/>
                <a:cs typeface="+mn-cs"/>
              </a:rPr>
              <a:t>Items and ingredients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Cooking processes and practices/dishes prepared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Beverages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p>
          <a:p>
            <a:pPr>
              <a:buFont typeface="Arial" pitchFamily="34" charset="0"/>
              <a:buNone/>
            </a:pPr>
            <a:r>
              <a:rPr lang="en-AU" b="1" i="1" baseline="0" noProof="0" dirty="0" smtClean="0"/>
              <a:t>Note:</a:t>
            </a:r>
          </a:p>
          <a:p>
            <a:pPr>
              <a:buFont typeface="Arial" pitchFamily="34" charset="0"/>
              <a:buChar char="•"/>
            </a:pPr>
            <a:r>
              <a:rPr lang="en-AU" b="0" i="0" baseline="0" noProof="0" dirty="0" smtClean="0"/>
              <a:t>This Activity may flow from the previous one or be separate to it.</a:t>
            </a:r>
          </a:p>
          <a:p>
            <a:pPr>
              <a:buFont typeface="Arial" pitchFamily="34" charset="0"/>
              <a:buChar char="•"/>
            </a:pPr>
            <a:r>
              <a:rPr lang="en-AU" b="0" i="0" baseline="0" noProof="0" dirty="0" smtClean="0"/>
              <a:t>This Activity may be part of the Work Project requirements for the unit.</a:t>
            </a:r>
            <a:endParaRPr lang="en-AU" b="0" i="0" noProof="0" dirty="0" smtClean="0"/>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http://en.wikipedia.org/wiki/Primary_research</a:t>
            </a:r>
            <a:r>
              <a:rPr lang="en-AU" sz="1200" kern="1200" dirty="0" smtClean="0">
                <a:solidFill>
                  <a:schemeClr val="tx1"/>
                </a:solidFill>
                <a:latin typeface="+mn-lt"/>
                <a:ea typeface="+mn-ea"/>
                <a:cs typeface="+mn-cs"/>
              </a:rPr>
              <a:t> - Primary research</a:t>
            </a:r>
          </a:p>
          <a:p>
            <a:r>
              <a:rPr lang="en-AU" sz="1200" u="sng" kern="1200" dirty="0" smtClean="0">
                <a:solidFill>
                  <a:schemeClr val="tx1"/>
                </a:solidFill>
                <a:latin typeface="+mn-lt"/>
                <a:ea typeface="+mn-ea"/>
                <a:cs typeface="+mn-cs"/>
                <a:hlinkClick r:id="rId4"/>
              </a:rPr>
              <a:t>http://en.wikipedia.org/wiki/Secondary_research</a:t>
            </a:r>
            <a:r>
              <a:rPr lang="en-AU" sz="1200" kern="1200" dirty="0" smtClean="0">
                <a:solidFill>
                  <a:schemeClr val="tx1"/>
                </a:solidFill>
                <a:latin typeface="+mn-lt"/>
                <a:ea typeface="+mn-ea"/>
                <a:cs typeface="+mn-cs"/>
              </a:rPr>
              <a:t> - Secondary research</a:t>
            </a:r>
          </a:p>
          <a:p>
            <a:r>
              <a:rPr lang="en-AU" sz="1200" u="sng" kern="1200" dirty="0" smtClean="0">
                <a:solidFill>
                  <a:schemeClr val="tx1"/>
                </a:solidFill>
                <a:latin typeface="+mn-lt"/>
                <a:ea typeface="+mn-ea"/>
                <a:cs typeface="+mn-cs"/>
                <a:hlinkClick r:id="rId5"/>
              </a:rPr>
              <a:t>https://explorable.com/quantitative-and-qualitative-research</a:t>
            </a:r>
            <a:r>
              <a:rPr lang="en-AU" sz="1200" kern="1200" dirty="0" smtClean="0">
                <a:solidFill>
                  <a:schemeClr val="tx1"/>
                </a:solidFill>
                <a:latin typeface="+mn-lt"/>
                <a:ea typeface="+mn-ea"/>
                <a:cs typeface="+mn-cs"/>
              </a:rPr>
              <a:t> - Quantitative and qualitative research</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0997732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possible research topics:</a:t>
            </a:r>
          </a:p>
          <a:p>
            <a:pPr>
              <a:buFont typeface="Arial" pitchFamily="34" charset="0"/>
              <a:buChar char="•"/>
            </a:pPr>
            <a:r>
              <a:rPr lang="en-AU" sz="1200" kern="1200" dirty="0" smtClean="0">
                <a:solidFill>
                  <a:schemeClr val="tx1"/>
                </a:solidFill>
                <a:latin typeface="+mn-lt"/>
                <a:ea typeface="+mn-ea"/>
                <a:cs typeface="+mn-cs"/>
              </a:rPr>
              <a:t>Artefacts of the local community – these can be:</a:t>
            </a:r>
          </a:p>
          <a:p>
            <a:pPr lvl="1">
              <a:buFont typeface="Arial" pitchFamily="34" charset="0"/>
              <a:buChar char="•"/>
            </a:pPr>
            <a:r>
              <a:rPr lang="en-US" sz="1200" kern="1200" dirty="0" smtClean="0">
                <a:solidFill>
                  <a:schemeClr val="tx1"/>
                </a:solidFill>
                <a:latin typeface="+mn-lt"/>
                <a:ea typeface="+mn-ea"/>
                <a:cs typeface="+mn-cs"/>
              </a:rPr>
              <a:t>Items made by the people that have cultural significance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Things produced locally which are of local uniqueness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Items of historical significance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Symbols and symbolic actions of the people – with reference to:</a:t>
            </a:r>
          </a:p>
          <a:p>
            <a:pPr lvl="1">
              <a:buFont typeface="Arial" pitchFamily="34" charset="0"/>
              <a:buChar char="•"/>
            </a:pPr>
            <a:r>
              <a:rPr lang="en-US" sz="1200" kern="1200" dirty="0" smtClean="0">
                <a:solidFill>
                  <a:schemeClr val="tx1"/>
                </a:solidFill>
                <a:latin typeface="+mn-lt"/>
                <a:ea typeface="+mn-ea"/>
                <a:cs typeface="+mn-cs"/>
              </a:rPr>
              <a:t>Why the symbols exist and why the symbolic actions are taken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What they 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When and where they are used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Rituals, rites, ceremonies and celebrations – to determine:</a:t>
            </a:r>
          </a:p>
          <a:p>
            <a:pPr lvl="1">
              <a:buFont typeface="Arial" pitchFamily="34" charset="0"/>
              <a:buChar char="•"/>
            </a:pPr>
            <a:r>
              <a:rPr lang="en-US" sz="1200" kern="1200" dirty="0" smtClean="0">
                <a:solidFill>
                  <a:schemeClr val="tx1"/>
                </a:solidFill>
                <a:latin typeface="+mn-lt"/>
                <a:ea typeface="+mn-ea"/>
                <a:cs typeface="+mn-cs"/>
              </a:rPr>
              <a:t>Reasons they exist and are observed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Names and dates – or times they are observed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Activities inherent in each</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p>
          <a:p>
            <a:pPr>
              <a:buFont typeface="Arial" pitchFamily="34" charset="0"/>
              <a:buNone/>
            </a:pPr>
            <a:r>
              <a:rPr lang="en-AU" b="1" i="1" baseline="0" noProof="0" dirty="0" smtClean="0"/>
              <a:t>Note:</a:t>
            </a:r>
          </a:p>
          <a:p>
            <a:pPr>
              <a:buFont typeface="Arial" pitchFamily="34" charset="0"/>
              <a:buChar char="•"/>
            </a:pPr>
            <a:r>
              <a:rPr lang="en-AU" b="0" i="0" baseline="0" noProof="0" dirty="0" smtClean="0"/>
              <a:t>This Activity may flow from the previous one or be separate to it.</a:t>
            </a:r>
          </a:p>
          <a:p>
            <a:pPr>
              <a:buFont typeface="Arial" pitchFamily="34" charset="0"/>
              <a:buChar char="•"/>
            </a:pPr>
            <a:r>
              <a:rPr lang="en-AU" b="0" i="0" baseline="0" noProof="0" dirty="0" smtClean="0"/>
              <a:t>This Activity may be part of the Work Project requirements for the unit.</a:t>
            </a:r>
            <a:endParaRPr lang="en-AU" b="0" i="0" noProof="0" dirty="0" smtClean="0"/>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http://www.lonelyplanet.com/</a:t>
            </a:r>
            <a:r>
              <a:rPr lang="en-AU" sz="1200" kern="1200" dirty="0" smtClean="0">
                <a:solidFill>
                  <a:schemeClr val="tx1"/>
                </a:solidFill>
                <a:latin typeface="+mn-lt"/>
                <a:ea typeface="+mn-ea"/>
                <a:cs typeface="+mn-cs"/>
              </a:rPr>
              <a:t> - Lonely Planet</a:t>
            </a:r>
          </a:p>
          <a:p>
            <a:r>
              <a:rPr lang="en-AU" sz="1200" u="sng" kern="1200" dirty="0" smtClean="0">
                <a:solidFill>
                  <a:schemeClr val="tx1"/>
                </a:solidFill>
                <a:latin typeface="+mn-lt"/>
                <a:ea typeface="+mn-ea"/>
                <a:cs typeface="+mn-cs"/>
                <a:hlinkClick r:id="rId4"/>
              </a:rPr>
              <a:t>http://www.frommers.com/</a:t>
            </a:r>
            <a:r>
              <a:rPr lang="en-AU" sz="1200" kern="1200" dirty="0" smtClean="0">
                <a:solidFill>
                  <a:schemeClr val="tx1"/>
                </a:solidFill>
                <a:latin typeface="+mn-lt"/>
                <a:ea typeface="+mn-ea"/>
                <a:cs typeface="+mn-cs"/>
              </a:rPr>
              <a:t> - Frommer’s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3212352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possible research topics:</a:t>
            </a:r>
          </a:p>
          <a:p>
            <a:pPr>
              <a:buFont typeface="Arial" pitchFamily="34" charset="0"/>
              <a:buChar char="•"/>
            </a:pPr>
            <a:r>
              <a:rPr lang="en-AU" sz="1200" kern="1200" dirty="0" smtClean="0">
                <a:solidFill>
                  <a:schemeClr val="tx1"/>
                </a:solidFill>
                <a:latin typeface="+mn-lt"/>
                <a:ea typeface="+mn-ea"/>
                <a:cs typeface="+mn-cs"/>
              </a:rPr>
              <a:t>Heroes and significant figures and individuals – to identify:</a:t>
            </a:r>
          </a:p>
          <a:p>
            <a:pPr lvl="1">
              <a:buFont typeface="Arial" pitchFamily="34" charset="0"/>
              <a:buChar char="•"/>
            </a:pPr>
            <a:r>
              <a:rPr lang="en-US" sz="1200" kern="1200" dirty="0" smtClean="0">
                <a:solidFill>
                  <a:schemeClr val="tx1"/>
                </a:solidFill>
                <a:latin typeface="+mn-lt"/>
                <a:ea typeface="+mn-ea"/>
                <a:cs typeface="+mn-cs"/>
              </a:rPr>
              <a:t>Who they 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Why they are significant and what they did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role in the community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Beliefs, assumptions, values and attitudes – with reference to:</a:t>
            </a:r>
          </a:p>
          <a:p>
            <a:pPr lvl="1">
              <a:buFont typeface="Arial" pitchFamily="34" charset="0"/>
              <a:buChar char="•"/>
            </a:pPr>
            <a:r>
              <a:rPr lang="en-US" sz="1200" kern="1200" dirty="0" smtClean="0">
                <a:solidFill>
                  <a:schemeClr val="tx1"/>
                </a:solidFill>
                <a:latin typeface="+mn-lt"/>
                <a:ea typeface="+mn-ea"/>
                <a:cs typeface="+mn-cs"/>
              </a:rPr>
              <a:t>What these 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Why they are held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impact on the life of the people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Language – to ascertain:</a:t>
            </a:r>
          </a:p>
          <a:p>
            <a:pPr lvl="1">
              <a:buFont typeface="Arial" pitchFamily="34" charset="0"/>
              <a:buChar char="•"/>
            </a:pPr>
            <a:r>
              <a:rPr lang="en-US" sz="1200" kern="1200" dirty="0" smtClean="0">
                <a:solidFill>
                  <a:schemeClr val="tx1"/>
                </a:solidFill>
                <a:latin typeface="+mn-lt"/>
                <a:ea typeface="+mn-ea"/>
                <a:cs typeface="+mn-cs"/>
              </a:rPr>
              <a:t>The evolution of the language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Basic terms, words and phrases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Verbal and non-verbal components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p>
          <a:p>
            <a:pPr>
              <a:buFont typeface="Arial" pitchFamily="34" charset="0"/>
              <a:buNone/>
            </a:pPr>
            <a:r>
              <a:rPr lang="en-AU" b="1" i="1" baseline="0" noProof="0" dirty="0" smtClean="0"/>
              <a:t>Note:</a:t>
            </a:r>
          </a:p>
          <a:p>
            <a:pPr>
              <a:buFont typeface="Arial" pitchFamily="34" charset="0"/>
              <a:buChar char="•"/>
            </a:pPr>
            <a:r>
              <a:rPr lang="en-AU" b="0" i="0" baseline="0" noProof="0" dirty="0" smtClean="0"/>
              <a:t>This Activity may flow from the previous one or be separate to it.</a:t>
            </a:r>
          </a:p>
          <a:p>
            <a:pPr>
              <a:buFont typeface="Arial" pitchFamily="34" charset="0"/>
              <a:buChar char="•"/>
            </a:pPr>
            <a:r>
              <a:rPr lang="en-AU" b="0" i="0" baseline="0" noProof="0" dirty="0" smtClean="0"/>
              <a:t>This Activity may be part of the Work Project requirements for the unit.</a:t>
            </a:r>
            <a:endParaRPr lang="en-AU" b="0" i="0" noProof="0" dirty="0" smtClean="0"/>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http://www.fodors.com/guidebooks/</a:t>
            </a:r>
            <a:r>
              <a:rPr lang="en-AU" sz="1200" kern="1200" dirty="0" smtClean="0">
                <a:solidFill>
                  <a:schemeClr val="tx1"/>
                </a:solidFill>
                <a:latin typeface="+mn-lt"/>
                <a:ea typeface="+mn-ea"/>
                <a:cs typeface="+mn-cs"/>
              </a:rPr>
              <a:t> - Fodor’s guidebooks</a:t>
            </a:r>
          </a:p>
          <a:p>
            <a:r>
              <a:rPr lang="en-AU" sz="1200" u="sng" kern="1200" dirty="0" smtClean="0">
                <a:solidFill>
                  <a:schemeClr val="tx1"/>
                </a:solidFill>
                <a:latin typeface="+mn-lt"/>
                <a:ea typeface="+mn-ea"/>
                <a:cs typeface="+mn-cs"/>
                <a:hlinkClick r:id="rId4"/>
              </a:rPr>
              <a:t>http://en.wikipedia.org/wiki/List_of_travel_magazines</a:t>
            </a:r>
            <a:r>
              <a:rPr lang="en-AU" sz="1200" kern="1200" dirty="0" smtClean="0">
                <a:solidFill>
                  <a:schemeClr val="tx1"/>
                </a:solidFill>
                <a:latin typeface="+mn-lt"/>
                <a:ea typeface="+mn-ea"/>
                <a:cs typeface="+mn-cs"/>
              </a:rPr>
              <a:t> - List of travel magazines</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362168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possible research topics:</a:t>
            </a:r>
          </a:p>
          <a:p>
            <a:pPr>
              <a:buFont typeface="Arial" pitchFamily="34" charset="0"/>
              <a:buChar char="•"/>
            </a:pPr>
            <a:r>
              <a:rPr lang="en-AU" sz="1200" kern="1200" dirty="0" smtClean="0">
                <a:solidFill>
                  <a:schemeClr val="tx1"/>
                </a:solidFill>
                <a:latin typeface="+mn-lt"/>
                <a:ea typeface="+mn-ea"/>
                <a:cs typeface="+mn-cs"/>
              </a:rPr>
              <a:t>Religion – to identify:</a:t>
            </a:r>
          </a:p>
          <a:p>
            <a:pPr lvl="1">
              <a:buFont typeface="Arial" pitchFamily="34" charset="0"/>
              <a:buChar char="•"/>
            </a:pPr>
            <a:r>
              <a:rPr lang="en-US" sz="1200" kern="1200" dirty="0" smtClean="0">
                <a:solidFill>
                  <a:schemeClr val="tx1"/>
                </a:solidFill>
                <a:latin typeface="+mn-lt"/>
                <a:ea typeface="+mn-ea"/>
                <a:cs typeface="+mn-cs"/>
              </a:rPr>
              <a:t>Beliefs and religious organisation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Religious practices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Education – and details such as:</a:t>
            </a:r>
          </a:p>
          <a:p>
            <a:pPr lvl="1">
              <a:buFont typeface="Arial" pitchFamily="34" charset="0"/>
              <a:buChar char="•"/>
            </a:pPr>
            <a:r>
              <a:rPr lang="en-US" sz="1200" kern="1200" dirty="0" smtClean="0">
                <a:solidFill>
                  <a:schemeClr val="tx1"/>
                </a:solidFill>
                <a:latin typeface="+mn-lt"/>
                <a:ea typeface="+mn-ea"/>
                <a:cs typeface="+mn-cs"/>
              </a:rPr>
              <a:t>What content is deemed relevant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How knowledge is communicated/transferred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Significant institutions and achievements</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Social institutions which exist within communities (such as governments, health and welfare systems, educational systems, business structures, judicial systems) – to determine:</a:t>
            </a:r>
          </a:p>
          <a:p>
            <a:pPr lvl="1">
              <a:buFont typeface="Arial" pitchFamily="34" charset="0"/>
              <a:buChar char="•"/>
            </a:pPr>
            <a:r>
              <a:rPr lang="en-US" sz="1200" kern="1200" dirty="0" smtClean="0">
                <a:solidFill>
                  <a:schemeClr val="tx1"/>
                </a:solidFill>
                <a:latin typeface="+mn-lt"/>
                <a:ea typeface="+mn-ea"/>
                <a:cs typeface="+mn-cs"/>
              </a:rPr>
              <a:t>What they 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What they are called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How they function</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p>
          <a:p>
            <a:pPr>
              <a:buFont typeface="Arial" pitchFamily="34" charset="0"/>
              <a:buNone/>
            </a:pPr>
            <a:r>
              <a:rPr lang="en-AU" b="1" i="1" baseline="0" noProof="0" dirty="0" smtClean="0"/>
              <a:t>Note:</a:t>
            </a:r>
          </a:p>
          <a:p>
            <a:pPr>
              <a:buFont typeface="Arial" pitchFamily="34" charset="0"/>
              <a:buChar char="•"/>
            </a:pPr>
            <a:r>
              <a:rPr lang="en-AU" b="0" i="0" baseline="0" noProof="0" dirty="0" smtClean="0"/>
              <a:t>This Activity may flow from the previous one or be separate to it.</a:t>
            </a:r>
          </a:p>
          <a:p>
            <a:pPr>
              <a:buFont typeface="Arial" pitchFamily="34" charset="0"/>
              <a:buChar char="•"/>
            </a:pPr>
            <a:r>
              <a:rPr lang="en-AU" b="0" i="0" baseline="0" noProof="0" dirty="0" smtClean="0"/>
              <a:t>This Activity may be part of the Work Project requirements for the unit.</a:t>
            </a:r>
            <a:endParaRPr lang="en-AU" b="0" i="0" noProof="0" dirty="0" smtClean="0"/>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http://www.studylecturenotes.com/basics-of-sociology/what-are-the-basic-elements-of-religion</a:t>
            </a:r>
            <a:r>
              <a:rPr lang="en-AU" sz="1200" kern="1200" dirty="0" smtClean="0">
                <a:solidFill>
                  <a:schemeClr val="tx1"/>
                </a:solidFill>
                <a:latin typeface="+mn-lt"/>
                <a:ea typeface="+mn-ea"/>
                <a:cs typeface="+mn-cs"/>
              </a:rPr>
              <a:t> - What are the basic elements of religion?</a:t>
            </a:r>
          </a:p>
          <a:p>
            <a:r>
              <a:rPr lang="en-AU" sz="1200" u="sng" kern="1200" dirty="0" smtClean="0">
                <a:solidFill>
                  <a:schemeClr val="tx1"/>
                </a:solidFill>
                <a:latin typeface="+mn-lt"/>
                <a:ea typeface="+mn-ea"/>
                <a:cs typeface="+mn-cs"/>
                <a:hlinkClick r:id="rId4"/>
              </a:rPr>
              <a:t>http://www.academia.edu/5237947/ASEAN_Tourism_Policy_and_Planning</a:t>
            </a:r>
            <a:r>
              <a:rPr lang="en-AU" sz="1200" kern="1200" dirty="0" smtClean="0">
                <a:solidFill>
                  <a:schemeClr val="tx1"/>
                </a:solidFill>
                <a:latin typeface="+mn-lt"/>
                <a:ea typeface="+mn-ea"/>
                <a:cs typeface="+mn-cs"/>
              </a:rPr>
              <a:t> - Regional tourism policy and planning ASEAN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683246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possible research topics:</a:t>
            </a:r>
          </a:p>
          <a:p>
            <a:pPr>
              <a:buFont typeface="Arial" pitchFamily="34" charset="0"/>
              <a:buChar char="•"/>
            </a:pPr>
            <a:r>
              <a:rPr lang="en-AU" sz="1200" kern="1200" dirty="0" smtClean="0">
                <a:solidFill>
                  <a:schemeClr val="tx1"/>
                </a:solidFill>
                <a:latin typeface="+mn-lt"/>
                <a:ea typeface="+mn-ea"/>
                <a:cs typeface="+mn-cs"/>
              </a:rPr>
              <a:t>Cultural sites – to identify:</a:t>
            </a:r>
          </a:p>
          <a:p>
            <a:pPr lvl="1">
              <a:buFont typeface="Arial" pitchFamily="34" charset="0"/>
              <a:buChar char="•"/>
            </a:pPr>
            <a:r>
              <a:rPr lang="en-US" sz="1200" kern="1200" dirty="0" smtClean="0">
                <a:solidFill>
                  <a:schemeClr val="tx1"/>
                </a:solidFill>
                <a:latin typeface="+mn-lt"/>
                <a:ea typeface="+mn-ea"/>
                <a:cs typeface="+mn-cs"/>
              </a:rPr>
              <a:t>What they are and where they are located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names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What they are used for and why they are important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Geography – in terms of:</a:t>
            </a:r>
          </a:p>
          <a:p>
            <a:pPr lvl="1">
              <a:buFont typeface="Arial" pitchFamily="34" charset="0"/>
              <a:buChar char="•"/>
            </a:pPr>
            <a:r>
              <a:rPr lang="en-US" sz="1200" kern="1200" dirty="0" smtClean="0">
                <a:solidFill>
                  <a:schemeClr val="tx1"/>
                </a:solidFill>
                <a:latin typeface="+mn-lt"/>
                <a:ea typeface="+mn-ea"/>
                <a:cs typeface="+mn-cs"/>
              </a:rPr>
              <a:t>Layout of the country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Natural features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Statistical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Environmental issues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Entertainment – regarding (for example):</a:t>
            </a:r>
          </a:p>
          <a:p>
            <a:pPr lvl="1">
              <a:buFont typeface="Arial" pitchFamily="34" charset="0"/>
              <a:buChar char="•"/>
            </a:pPr>
            <a:r>
              <a:rPr lang="en-US" sz="1200" kern="1200" dirty="0" smtClean="0">
                <a:solidFill>
                  <a:schemeClr val="tx1"/>
                </a:solidFill>
                <a:latin typeface="+mn-lt"/>
                <a:ea typeface="+mn-ea"/>
                <a:cs typeface="+mn-cs"/>
              </a:rPr>
              <a:t>Domestic leisure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Games played by children and adults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Sports.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Individual/Small Group Exercise</a:t>
            </a:r>
          </a:p>
          <a:p>
            <a:pPr>
              <a:buFont typeface="Arial" pitchFamily="34" charset="0"/>
              <a:buNone/>
            </a:pPr>
            <a:r>
              <a:rPr lang="en-AU" b="0" noProof="0" dirty="0" smtClean="0"/>
              <a:t>Trainer or students select a country/culture/community and conducts research</a:t>
            </a:r>
            <a:r>
              <a:rPr lang="en-AU" b="0" baseline="0" noProof="0" dirty="0" smtClean="0"/>
              <a:t> on this target destination using the topics listed on the slide.</a:t>
            </a:r>
          </a:p>
          <a:p>
            <a:pPr>
              <a:buFont typeface="Arial" pitchFamily="34" charset="0"/>
              <a:buNone/>
            </a:pPr>
            <a:r>
              <a:rPr lang="en-AU" b="1" i="1" baseline="0" noProof="0" dirty="0" smtClean="0"/>
              <a:t>Note:</a:t>
            </a:r>
          </a:p>
          <a:p>
            <a:pPr>
              <a:buFont typeface="Arial" pitchFamily="34" charset="0"/>
              <a:buChar char="•"/>
            </a:pPr>
            <a:r>
              <a:rPr lang="en-AU" b="0" i="0" baseline="0" noProof="0" dirty="0" smtClean="0"/>
              <a:t>This Activity may flow from the previous one or be separate to it.</a:t>
            </a:r>
          </a:p>
          <a:p>
            <a:pPr>
              <a:buFont typeface="Arial" pitchFamily="34" charset="0"/>
              <a:buChar char="•"/>
            </a:pPr>
            <a:r>
              <a:rPr lang="en-AU" b="0" i="0" baseline="0" noProof="0" dirty="0" smtClean="0"/>
              <a:t>This Activity may be part of the Work Project requirements for the unit.</a:t>
            </a:r>
            <a:endParaRPr lang="en-AU" b="0" i="0" noProof="0" dirty="0" smtClean="0"/>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http://www.asean.org/communities/asean-economic-community/item/plan-of-action-on-asean-cooperation-in-tourism</a:t>
            </a:r>
            <a:r>
              <a:rPr lang="en-AU" sz="1200" kern="1200" dirty="0" smtClean="0">
                <a:solidFill>
                  <a:schemeClr val="tx1"/>
                </a:solidFill>
                <a:latin typeface="+mn-lt"/>
                <a:ea typeface="+mn-ea"/>
                <a:cs typeface="+mn-cs"/>
              </a:rPr>
              <a:t> - Plan of action on ASEAN cooperation in tourism</a:t>
            </a:r>
          </a:p>
          <a:p>
            <a:r>
              <a:rPr lang="en-AU" sz="1200" u="sng" kern="1200" dirty="0" smtClean="0">
                <a:solidFill>
                  <a:schemeClr val="tx1"/>
                </a:solidFill>
                <a:latin typeface="+mn-lt"/>
                <a:ea typeface="+mn-ea"/>
                <a:cs typeface="+mn-cs"/>
                <a:hlinkClick r:id="rId4"/>
              </a:rPr>
              <a:t>http://www.scribd.com/doc/111871570/ASEAN-Tourism-Strategic-Plan-2011-2015#scribd</a:t>
            </a:r>
            <a:r>
              <a:rPr lang="en-AU" sz="1200" kern="1200" dirty="0" smtClean="0">
                <a:solidFill>
                  <a:schemeClr val="tx1"/>
                </a:solidFill>
                <a:latin typeface="+mn-lt"/>
                <a:ea typeface="+mn-ea"/>
                <a:cs typeface="+mn-cs"/>
              </a:rPr>
              <a:t> – ASEAN Tourism strategic plan 2011 – 2015</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3350946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reasons for demonstrating respect for indigenous cultures are generally related to one or more factors highlighting these factors are not ‘constant’ and may:</a:t>
            </a:r>
          </a:p>
          <a:p>
            <a:pPr>
              <a:buFont typeface="Arial" pitchFamily="34" charset="0"/>
              <a:buChar char="•"/>
            </a:pPr>
            <a:r>
              <a:rPr lang="en-AU" sz="1200" kern="1200" dirty="0" smtClean="0">
                <a:solidFill>
                  <a:schemeClr val="tx1"/>
                </a:solidFill>
                <a:latin typeface="+mn-lt"/>
                <a:ea typeface="+mn-ea"/>
                <a:cs typeface="+mn-cs"/>
              </a:rPr>
              <a:t>Alter over time</a:t>
            </a:r>
          </a:p>
          <a:p>
            <a:pPr>
              <a:buFont typeface="Arial" pitchFamily="34" charset="0"/>
              <a:buChar char="•"/>
            </a:pPr>
            <a:r>
              <a:rPr lang="en-AU" sz="1200" kern="1200" dirty="0" smtClean="0">
                <a:solidFill>
                  <a:schemeClr val="tx1"/>
                </a:solidFill>
                <a:latin typeface="+mn-lt"/>
                <a:ea typeface="+mn-ea"/>
                <a:cs typeface="+mn-cs"/>
              </a:rPr>
              <a:t>Vary between different tour group</a:t>
            </a:r>
          </a:p>
          <a:p>
            <a:pPr>
              <a:buFont typeface="Arial" pitchFamily="34" charset="0"/>
              <a:buChar char="•"/>
            </a:pPr>
            <a:r>
              <a:rPr lang="en-AU" sz="1200" kern="1200" dirty="0" smtClean="0">
                <a:solidFill>
                  <a:schemeClr val="tx1"/>
                </a:solidFill>
                <a:latin typeface="+mn-lt"/>
                <a:ea typeface="+mn-ea"/>
                <a:cs typeface="+mn-cs"/>
              </a:rPr>
              <a:t>Change between specialised custom/private tours</a:t>
            </a:r>
          </a:p>
          <a:p>
            <a:pPr>
              <a:buFont typeface="Arial" pitchFamily="34" charset="0"/>
              <a:buChar char="•"/>
            </a:pPr>
            <a:r>
              <a:rPr lang="en-AU" sz="1200" kern="1200" dirty="0" smtClean="0">
                <a:solidFill>
                  <a:schemeClr val="tx1"/>
                </a:solidFill>
                <a:latin typeface="+mn-lt"/>
                <a:ea typeface="+mn-ea"/>
                <a:cs typeface="+mn-cs"/>
              </a:rPr>
              <a:t>Differ between different communities and cultures.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0957633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factors </a:t>
            </a:r>
            <a:r>
              <a:rPr lang="en-AU" sz="1200" b="0" kern="1200" dirty="0" smtClean="0">
                <a:solidFill>
                  <a:schemeClr val="tx1"/>
                </a:solidFill>
                <a:latin typeface="+mn-lt"/>
                <a:ea typeface="+mn-ea"/>
                <a:cs typeface="+mn-cs"/>
              </a:rPr>
              <a:t>underpinning the need for respect for indigenous cultures are generally related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need to preserve unique cultures – so that what they have and what they represent is not lost to mankind through being absorbed into other cultures and/or over-taken by other priorities.</a:t>
            </a:r>
          </a:p>
          <a:p>
            <a:pPr lvl="1">
              <a:buFont typeface="Arial" pitchFamily="34" charset="0"/>
              <a:buChar char="•"/>
            </a:pPr>
            <a:r>
              <a:rPr lang="en-AU" sz="1200" kern="1200" dirty="0" smtClean="0">
                <a:solidFill>
                  <a:schemeClr val="tx1"/>
                </a:solidFill>
                <a:latin typeface="+mn-lt"/>
                <a:ea typeface="+mn-ea"/>
                <a:cs typeface="+mn-cs"/>
              </a:rPr>
              <a:t>This aim is often set against a need to save an entire culture/way of life from fading into the mists of time by avoiding what often seems to be the very slow but nonetheless relentless disappearance of a whole culture/society.</a:t>
            </a:r>
          </a:p>
          <a:p>
            <a:pPr>
              <a:buFont typeface="Arial" pitchFamily="34" charset="0"/>
              <a:buChar char="•"/>
            </a:pPr>
            <a:r>
              <a:rPr lang="en-AU" sz="1200" kern="1200" dirty="0" smtClean="0">
                <a:solidFill>
                  <a:schemeClr val="tx1"/>
                </a:solidFill>
                <a:latin typeface="+mn-lt"/>
                <a:ea typeface="+mn-ea"/>
                <a:cs typeface="+mn-cs"/>
              </a:rPr>
              <a:t>A desire to </a:t>
            </a:r>
            <a:r>
              <a:rPr lang="en-AU" sz="1200" i="1" kern="1200" dirty="0" smtClean="0">
                <a:solidFill>
                  <a:schemeClr val="tx1"/>
                </a:solidFill>
                <a:latin typeface="+mn-lt"/>
                <a:ea typeface="+mn-ea"/>
                <a:cs typeface="+mn-cs"/>
              </a:rPr>
              <a:t>share</a:t>
            </a:r>
            <a:r>
              <a:rPr lang="en-AU" sz="1200" kern="1200" dirty="0" smtClean="0">
                <a:solidFill>
                  <a:schemeClr val="tx1"/>
                </a:solidFill>
                <a:latin typeface="+mn-lt"/>
                <a:ea typeface="+mn-ea"/>
                <a:cs typeface="+mn-cs"/>
              </a:rPr>
              <a:t> knowledge – so more/other people learn about a rare/unique culture/community, what they are, how they function and how they live.</a:t>
            </a:r>
          </a:p>
          <a:p>
            <a:pPr lvl="1">
              <a:buFont typeface="Arial" pitchFamily="34" charset="0"/>
              <a:buChar char="•"/>
            </a:pPr>
            <a:r>
              <a:rPr lang="en-AU" sz="1200" kern="1200" dirty="0" smtClean="0">
                <a:solidFill>
                  <a:schemeClr val="tx1"/>
                </a:solidFill>
                <a:latin typeface="+mn-lt"/>
                <a:ea typeface="+mn-ea"/>
                <a:cs typeface="+mn-cs"/>
              </a:rPr>
              <a:t>This desire is often related to the preservation of a culture but it differs in that the primary aim is to make more people aware of what actually exists.</a:t>
            </a:r>
          </a:p>
          <a:p>
            <a:pPr lvl="1">
              <a:buFont typeface="Arial" pitchFamily="34" charset="0"/>
              <a:buChar char="•"/>
            </a:pPr>
            <a:r>
              <a:rPr lang="en-AU" sz="1200" kern="1200" dirty="0" smtClean="0">
                <a:solidFill>
                  <a:schemeClr val="tx1"/>
                </a:solidFill>
                <a:latin typeface="+mn-lt"/>
                <a:ea typeface="+mn-ea"/>
                <a:cs typeface="+mn-cs"/>
              </a:rPr>
              <a:t>Some argue that by doing this it actually raises the potential for the indigenous culture to be exploited or destroyed if ‘too many’ people become aware of it and what it may have to offer.</a:t>
            </a:r>
          </a:p>
          <a:p>
            <a:pPr>
              <a:buFont typeface="Arial" pitchFamily="34" charset="0"/>
              <a:buChar char="•"/>
            </a:pPr>
            <a:r>
              <a:rPr lang="en-AU" sz="1200" kern="1200" dirty="0" smtClean="0">
                <a:solidFill>
                  <a:schemeClr val="tx1"/>
                </a:solidFill>
                <a:latin typeface="+mn-lt"/>
                <a:ea typeface="+mn-ea"/>
                <a:cs typeface="+mn-cs"/>
              </a:rPr>
              <a:t>A need change the attitudes of visitors – this can be borne out of a desire to: </a:t>
            </a:r>
          </a:p>
          <a:p>
            <a:pPr lvl="1">
              <a:buFont typeface="Arial" pitchFamily="34" charset="0"/>
              <a:buChar char="•"/>
            </a:pPr>
            <a:r>
              <a:rPr lang="en-AU" sz="1200" kern="1200" dirty="0" smtClean="0">
                <a:solidFill>
                  <a:schemeClr val="tx1"/>
                </a:solidFill>
                <a:latin typeface="+mn-lt"/>
                <a:ea typeface="+mn-ea"/>
                <a:cs typeface="+mn-cs"/>
              </a:rPr>
              <a:t>Present a culture in a different way</a:t>
            </a:r>
          </a:p>
          <a:p>
            <a:pPr lvl="1">
              <a:buFont typeface="Arial" pitchFamily="34" charset="0"/>
              <a:buChar char="•"/>
            </a:pPr>
            <a:r>
              <a:rPr lang="en-AU" sz="1200" kern="1200" dirty="0" smtClean="0">
                <a:solidFill>
                  <a:schemeClr val="tx1"/>
                </a:solidFill>
                <a:latin typeface="+mn-lt"/>
                <a:ea typeface="+mn-ea"/>
                <a:cs typeface="+mn-cs"/>
              </a:rPr>
              <a:t>Offer a rarely seen aspect of the culture/community to outside eyes</a:t>
            </a:r>
          </a:p>
          <a:p>
            <a:pPr lvl="1">
              <a:buFont typeface="Arial" pitchFamily="34" charset="0"/>
              <a:buChar char="•"/>
            </a:pPr>
            <a:r>
              <a:rPr lang="en-AU" sz="1200" kern="1200" dirty="0" smtClean="0">
                <a:solidFill>
                  <a:schemeClr val="tx1"/>
                </a:solidFill>
                <a:latin typeface="+mn-lt"/>
                <a:ea typeface="+mn-ea"/>
                <a:cs typeface="+mn-cs"/>
              </a:rPr>
              <a:t>Explain why a people do what they do based on the facts and actual context/reality of their lives</a:t>
            </a:r>
          </a:p>
          <a:p>
            <a:pPr>
              <a:buFont typeface="Arial" pitchFamily="34" charset="0"/>
              <a:buChar char="•"/>
            </a:pPr>
            <a:r>
              <a:rPr lang="en-AU" sz="1200" kern="1200" dirty="0" smtClean="0">
                <a:solidFill>
                  <a:schemeClr val="tx1"/>
                </a:solidFill>
                <a:latin typeface="+mn-lt"/>
                <a:ea typeface="+mn-ea"/>
                <a:cs typeface="+mn-cs"/>
              </a:rPr>
              <a:t>Realisation by society in general, a country/Government of a range of issues including:</a:t>
            </a:r>
          </a:p>
          <a:p>
            <a:pPr lvl="1">
              <a:buFont typeface="Arial" pitchFamily="34" charset="0"/>
              <a:buChar char="•"/>
            </a:pPr>
            <a:r>
              <a:rPr lang="en-AU" sz="1200" kern="1200" dirty="0" smtClean="0">
                <a:solidFill>
                  <a:schemeClr val="tx1"/>
                </a:solidFill>
                <a:latin typeface="+mn-lt"/>
                <a:ea typeface="+mn-ea"/>
                <a:cs typeface="+mn-cs"/>
              </a:rPr>
              <a:t>Valuing individuals and different cultures and communities for who they are and the individual way they live their lives</a:t>
            </a:r>
          </a:p>
          <a:p>
            <a:pPr lvl="1">
              <a:buFont typeface="Arial" pitchFamily="34" charset="0"/>
              <a:buChar char="•"/>
            </a:pPr>
            <a:r>
              <a:rPr lang="en-AU" sz="1200" kern="1200" dirty="0" smtClean="0">
                <a:solidFill>
                  <a:schemeClr val="tx1"/>
                </a:solidFill>
                <a:latin typeface="+mn-lt"/>
                <a:ea typeface="+mn-ea"/>
                <a:cs typeface="+mn-cs"/>
              </a:rPr>
              <a:t>Recognising the contribution people/communities have made to other cultures and/or the wider world</a:t>
            </a:r>
          </a:p>
          <a:p>
            <a:pPr lvl="1">
              <a:buFont typeface="Arial" pitchFamily="34" charset="0"/>
              <a:buChar char="•"/>
            </a:pPr>
            <a:r>
              <a:rPr lang="en-AU" sz="1200" kern="1200" dirty="0" smtClean="0">
                <a:solidFill>
                  <a:schemeClr val="tx1"/>
                </a:solidFill>
                <a:latin typeface="+mn-lt"/>
                <a:ea typeface="+mn-ea"/>
                <a:cs typeface="+mn-cs"/>
              </a:rPr>
              <a:t>Acknowledging the right of different people to live in different ways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5126525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present factors </a:t>
            </a:r>
            <a:r>
              <a:rPr lang="en-AU" sz="1200" b="0" kern="1200" dirty="0" smtClean="0">
                <a:solidFill>
                  <a:schemeClr val="tx1"/>
                </a:solidFill>
                <a:latin typeface="+mn-lt"/>
                <a:ea typeface="+mn-ea"/>
                <a:cs typeface="+mn-cs"/>
              </a:rPr>
              <a:t>underpinning the need for respect for indigenous cultures are generally related to:</a:t>
            </a:r>
          </a:p>
          <a:p>
            <a:pPr>
              <a:buFont typeface="Arial" pitchFamily="34" charset="0"/>
              <a:buChar char="•"/>
            </a:pPr>
            <a:r>
              <a:rPr lang="en-AU" sz="1200" kern="1200" dirty="0" smtClean="0">
                <a:solidFill>
                  <a:schemeClr val="tx1"/>
                </a:solidFill>
                <a:latin typeface="+mn-lt"/>
                <a:ea typeface="+mn-ea"/>
                <a:cs typeface="+mn-cs"/>
              </a:rPr>
              <a:t>Acceptance on the part of society in relation changing attitudes – such that what was ignored or treated with suspicion or indifference years ago is now a valid and legitimate way of life or orientation.</a:t>
            </a:r>
          </a:p>
          <a:p>
            <a:pPr lvl="1">
              <a:buFont typeface="Arial" pitchFamily="34" charset="0"/>
              <a:buChar char="•"/>
            </a:pPr>
            <a:r>
              <a:rPr lang="en-AU" sz="1200" kern="1200" dirty="0" smtClean="0">
                <a:solidFill>
                  <a:schemeClr val="tx1"/>
                </a:solidFill>
                <a:latin typeface="+mn-lt"/>
                <a:ea typeface="+mn-ea"/>
                <a:cs typeface="+mn-cs"/>
              </a:rPr>
              <a:t>This often relates to the concept today’s world/society can learn something from a previous world or society.</a:t>
            </a:r>
          </a:p>
          <a:p>
            <a:pPr>
              <a:buFont typeface="Arial" pitchFamily="34" charset="0"/>
              <a:buChar char="•"/>
            </a:pPr>
            <a:r>
              <a:rPr lang="en-AU" sz="1200" kern="1200" dirty="0" smtClean="0">
                <a:solidFill>
                  <a:schemeClr val="tx1"/>
                </a:solidFill>
                <a:latin typeface="+mn-lt"/>
                <a:ea typeface="+mn-ea"/>
                <a:cs typeface="+mn-cs"/>
              </a:rPr>
              <a:t>A need on the part of the Tour Operator (and associated Government agencies/tourism bodies) to ensure no offence is given by tour group when they visit indigenous communities/cultures – in relation to things such as:</a:t>
            </a:r>
          </a:p>
          <a:p>
            <a:pPr lvl="1">
              <a:buFont typeface="Arial" pitchFamily="34" charset="0"/>
              <a:buChar char="•"/>
            </a:pPr>
            <a:r>
              <a:rPr lang="en-US" sz="1200" kern="1200" dirty="0" smtClean="0">
                <a:solidFill>
                  <a:schemeClr val="tx1"/>
                </a:solidFill>
                <a:latin typeface="+mn-lt"/>
                <a:ea typeface="+mn-ea"/>
                <a:cs typeface="+mn-cs"/>
              </a:rPr>
              <a:t>How visitors speak and dress in their presence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way in which tour group interact with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Actions taken by individuals when in indigenous communities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desire of the part of tours/Tour Operators to protect the ‘normal’ way of life of indigenous cultures – from:</a:t>
            </a:r>
          </a:p>
          <a:p>
            <a:pPr lvl="1">
              <a:buFont typeface="Arial" pitchFamily="34" charset="0"/>
              <a:buChar char="•"/>
            </a:pPr>
            <a:r>
              <a:rPr lang="en-US" sz="1200" kern="1200" dirty="0" smtClean="0">
                <a:solidFill>
                  <a:schemeClr val="tx1"/>
                </a:solidFill>
                <a:latin typeface="+mn-lt"/>
                <a:ea typeface="+mn-ea"/>
                <a:cs typeface="+mn-cs"/>
              </a:rPr>
              <a:t>Unintended consequences of interacting with other peoples/cultures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encroachment of other civilisations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Unwanted intrusions across a range of fronts such as political, economic, moral, religious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vested interest on the part of a Tour Operator in creating a more positive relationship/rapport with the communities which will be more conducive to:</a:t>
            </a:r>
          </a:p>
          <a:p>
            <a:pPr lvl="1">
              <a:buFont typeface="Arial" pitchFamily="34" charset="0"/>
              <a:buChar char="•"/>
            </a:pPr>
            <a:r>
              <a:rPr lang="en-US" sz="1200" kern="1200" dirty="0" smtClean="0">
                <a:solidFill>
                  <a:schemeClr val="tx1"/>
                </a:solidFill>
                <a:latin typeface="+mn-lt"/>
                <a:ea typeface="+mn-ea"/>
                <a:cs typeface="+mn-cs"/>
              </a:rPr>
              <a:t>Future deals/negotiations involving tours and visitations to their communities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More lucrative financial arrangements between the parties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Better working relationships between everyone.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An obligation to comply with legislation – which is imposed by law to protect the various rights of certain cultures, communities and people such as their:</a:t>
            </a:r>
          </a:p>
          <a:p>
            <a:pPr lvl="1">
              <a:buFont typeface="Arial" pitchFamily="34" charset="0"/>
              <a:buChar char="•"/>
            </a:pPr>
            <a:r>
              <a:rPr lang="en-US" sz="1200" kern="1200" dirty="0" smtClean="0">
                <a:solidFill>
                  <a:schemeClr val="tx1"/>
                </a:solidFill>
                <a:latin typeface="+mn-lt"/>
                <a:ea typeface="+mn-ea"/>
                <a:cs typeface="+mn-cs"/>
              </a:rPr>
              <a:t>Human rights; Civil rights; Constitutional rights; </a:t>
            </a:r>
            <a:r>
              <a:rPr lang="en-AU" sz="1200" kern="1200" dirty="0" smtClean="0">
                <a:solidFill>
                  <a:schemeClr val="tx1"/>
                </a:solidFill>
                <a:latin typeface="+mn-lt"/>
                <a:ea typeface="+mn-ea"/>
                <a:cs typeface="+mn-cs"/>
              </a:rPr>
              <a:t>Civil liberties.</a:t>
            </a:r>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220342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in order to actually demonstrate respect for indigenous people and their culture/s it is vital to begin with:</a:t>
            </a:r>
          </a:p>
          <a:p>
            <a:pPr>
              <a:buFont typeface="Arial" pitchFamily="34" charset="0"/>
              <a:buChar char="•"/>
            </a:pPr>
            <a:r>
              <a:rPr lang="en-AU" sz="1200" kern="1200" dirty="0" smtClean="0">
                <a:solidFill>
                  <a:schemeClr val="tx1"/>
                </a:solidFill>
                <a:latin typeface="+mn-lt"/>
                <a:ea typeface="+mn-ea"/>
                <a:cs typeface="+mn-cs"/>
              </a:rPr>
              <a:t>A genuine desire to engage with the communities</a:t>
            </a:r>
          </a:p>
          <a:p>
            <a:pPr>
              <a:buFont typeface="Arial" pitchFamily="34" charset="0"/>
              <a:buChar char="•"/>
            </a:pPr>
            <a:r>
              <a:rPr lang="en-AU" sz="1200" kern="1200" dirty="0" smtClean="0">
                <a:solidFill>
                  <a:schemeClr val="tx1"/>
                </a:solidFill>
                <a:latin typeface="+mn-lt"/>
                <a:ea typeface="+mn-ea"/>
                <a:cs typeface="+mn-cs"/>
              </a:rPr>
              <a:t>A willingness to learn from the people</a:t>
            </a:r>
          </a:p>
          <a:p>
            <a:pPr>
              <a:buFont typeface="Arial" pitchFamily="34" charset="0"/>
              <a:buChar char="•"/>
            </a:pPr>
            <a:r>
              <a:rPr lang="en-AU" sz="1200" kern="1200" dirty="0" smtClean="0">
                <a:solidFill>
                  <a:schemeClr val="tx1"/>
                </a:solidFill>
                <a:latin typeface="+mn-lt"/>
                <a:ea typeface="+mn-ea"/>
                <a:cs typeface="+mn-cs"/>
              </a:rPr>
              <a:t>Preparedness to:</a:t>
            </a:r>
          </a:p>
          <a:p>
            <a:pPr lvl="1">
              <a:buFont typeface="Arial" pitchFamily="34" charset="0"/>
              <a:buChar char="•"/>
            </a:pPr>
            <a:r>
              <a:rPr lang="en-US" sz="1200" kern="1200" dirty="0" smtClean="0">
                <a:solidFill>
                  <a:schemeClr val="tx1"/>
                </a:solidFill>
                <a:latin typeface="+mn-lt"/>
                <a:ea typeface="+mn-ea"/>
                <a:cs typeface="+mn-cs"/>
              </a:rPr>
              <a:t>Walk away from a community if they are not interested/do not want to be involved with the Tour Operator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Accept decisions made by the people in the community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working framework (Tour Operator policies and procedures) which underpin respectful treatment of/engagement with indigenous people and their culture/s.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examples of local Tour Operator policies and procedures which have been developed to guide research into and interactions with indigenous cultures/communities.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1093575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a:t>
            </a:r>
            <a:r>
              <a:rPr lang="en-AU" sz="1200" kern="1200" dirty="0" smtClean="0">
                <a:solidFill>
                  <a:schemeClr val="tx1"/>
                </a:solidFill>
                <a:latin typeface="+mn-lt"/>
                <a:ea typeface="+mn-ea"/>
                <a:cs typeface="+mn-cs"/>
              </a:rPr>
              <a:t>practical actions to demonstrate respect for indigenous people and their culture/s when researching information may include:</a:t>
            </a:r>
          </a:p>
          <a:p>
            <a:pPr>
              <a:buFont typeface="Arial" pitchFamily="34" charset="0"/>
              <a:buChar char="•"/>
            </a:pPr>
            <a:r>
              <a:rPr lang="en-AU" sz="1200" kern="1200" dirty="0" smtClean="0">
                <a:solidFill>
                  <a:schemeClr val="tx1"/>
                </a:solidFill>
                <a:latin typeface="+mn-lt"/>
                <a:ea typeface="+mn-ea"/>
                <a:cs typeface="+mn-cs"/>
              </a:rPr>
              <a:t>Doing desk-top or other research (speaking to recognised experts; undertaking web-based research; reading relevant texts) about the community before making initial direct contact with the community – to:</a:t>
            </a:r>
          </a:p>
          <a:p>
            <a:pPr lvl="1">
              <a:buFont typeface="Arial" pitchFamily="34" charset="0"/>
              <a:buChar char="•"/>
            </a:pPr>
            <a:r>
              <a:rPr lang="en-US" sz="1200" kern="1200" dirty="0" smtClean="0">
                <a:solidFill>
                  <a:schemeClr val="tx1"/>
                </a:solidFill>
                <a:latin typeface="+mn-lt"/>
                <a:ea typeface="+mn-ea"/>
                <a:cs typeface="+mn-cs"/>
              </a:rPr>
              <a:t>Gain a basic understanding of the community/people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Learn about particular community cultural preferences and/or taboos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‘Asking’ permission to meet – as opposed to:</a:t>
            </a:r>
          </a:p>
          <a:p>
            <a:pPr lvl="1">
              <a:buFont typeface="Arial" pitchFamily="34" charset="0"/>
              <a:buChar char="•"/>
            </a:pPr>
            <a:r>
              <a:rPr lang="en-US" sz="1200" kern="1200" dirty="0" smtClean="0">
                <a:solidFill>
                  <a:schemeClr val="tx1"/>
                </a:solidFill>
                <a:latin typeface="+mn-lt"/>
                <a:ea typeface="+mn-ea"/>
                <a:cs typeface="+mn-cs"/>
              </a:rPr>
              <a:t>Demanding a meeting or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Starting the local research process without prior contact, introductions, explanations and (where necessary) offers of payment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Only communicating with designated persons – as identified as a result of:</a:t>
            </a:r>
          </a:p>
          <a:p>
            <a:pPr lvl="1">
              <a:buFont typeface="Arial" pitchFamily="34" charset="0"/>
              <a:buChar char="•"/>
            </a:pPr>
            <a:r>
              <a:rPr lang="en-US" sz="1200" kern="1200" dirty="0" smtClean="0">
                <a:solidFill>
                  <a:schemeClr val="tx1"/>
                </a:solidFill>
                <a:latin typeface="+mn-lt"/>
                <a:ea typeface="+mn-ea"/>
                <a:cs typeface="+mn-cs"/>
              </a:rPr>
              <a:t>The desk-top research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Advice received directly from the community</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449260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practical action to demonstrate respect:</a:t>
            </a:r>
          </a:p>
          <a:p>
            <a:pPr>
              <a:buFont typeface="Arial" pitchFamily="34" charset="0"/>
              <a:buChar char="•"/>
            </a:pPr>
            <a:r>
              <a:rPr lang="en-AU" sz="1200" kern="1200" dirty="0" smtClean="0">
                <a:solidFill>
                  <a:schemeClr val="tx1"/>
                </a:solidFill>
                <a:latin typeface="+mn-lt"/>
                <a:ea typeface="+mn-ea"/>
                <a:cs typeface="+mn-cs"/>
              </a:rPr>
              <a:t>Seeking approval/permission to undertake certain activities which historically have raised issued with indigenous communities – such as:</a:t>
            </a:r>
          </a:p>
          <a:p>
            <a:pPr lvl="1">
              <a:buFont typeface="Arial" pitchFamily="34" charset="0"/>
              <a:buChar char="•"/>
            </a:pPr>
            <a:r>
              <a:rPr lang="en-US" sz="1200" kern="1200" dirty="0" smtClean="0">
                <a:solidFill>
                  <a:schemeClr val="tx1"/>
                </a:solidFill>
                <a:latin typeface="+mn-lt"/>
                <a:ea typeface="+mn-ea"/>
                <a:cs typeface="+mn-cs"/>
              </a:rPr>
              <a:t>Taking photographs/video or any form of recording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Entering buildings/houses and ‘sacred’ sites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Speaking to women or children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Touching/handling or removing items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Displaying visible behaviours and practices consistent with cultural sensitivity and awareness – which will vary between individual cultures but may require/relate to: </a:t>
            </a:r>
          </a:p>
          <a:p>
            <a:pPr lvl="1">
              <a:buFont typeface="Arial" pitchFamily="34" charset="0"/>
              <a:buChar char="•"/>
            </a:pPr>
            <a:r>
              <a:rPr lang="en-US" sz="1200" kern="1200" dirty="0" smtClean="0">
                <a:solidFill>
                  <a:schemeClr val="tx1"/>
                </a:solidFill>
                <a:latin typeface="+mn-lt"/>
                <a:ea typeface="+mn-ea"/>
                <a:cs typeface="+mn-cs"/>
              </a:rPr>
              <a:t>Dressing appropriately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Avoiding eye contact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Controlling volume when speaking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Avoiding use of certain words, terms or phrases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Avoiding body language and gestures which are locally offensive or otherwise unacceptable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Giving prior notification of intentions and requests – as opposed to making such requests ‘on-the-spot’. These might relate to specific research activities such as:</a:t>
            </a:r>
          </a:p>
          <a:p>
            <a:pPr lvl="1">
              <a:buFont typeface="Arial" pitchFamily="34" charset="0"/>
              <a:buChar char="•"/>
            </a:pPr>
            <a:r>
              <a:rPr lang="en-US" sz="1200" kern="1200" dirty="0" smtClean="0">
                <a:solidFill>
                  <a:schemeClr val="tx1"/>
                </a:solidFill>
                <a:latin typeface="+mn-lt"/>
                <a:ea typeface="+mn-ea"/>
                <a:cs typeface="+mn-cs"/>
              </a:rPr>
              <a:t>Talking to nominated individuals or groups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Obtaining nominated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Observing activities within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Making recordings for use in promotional and other materials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6208702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practical action to demonstrate respect:</a:t>
            </a:r>
          </a:p>
          <a:p>
            <a:pPr>
              <a:buFont typeface="Arial" pitchFamily="34" charset="0"/>
              <a:buChar char="•"/>
            </a:pPr>
            <a:r>
              <a:rPr lang="en-AU" sz="1200" kern="1200" dirty="0" smtClean="0">
                <a:solidFill>
                  <a:schemeClr val="tx1"/>
                </a:solidFill>
                <a:latin typeface="+mn-lt"/>
                <a:ea typeface="+mn-ea"/>
                <a:cs typeface="+mn-cs"/>
              </a:rPr>
              <a:t>Accommodating local preferences for critical communication factors – such as:</a:t>
            </a:r>
          </a:p>
          <a:p>
            <a:pPr lvl="1">
              <a:buFont typeface="Arial" pitchFamily="34" charset="0"/>
              <a:buChar char="•"/>
            </a:pPr>
            <a:r>
              <a:rPr lang="en-US" sz="1200" kern="1200" dirty="0" smtClean="0">
                <a:solidFill>
                  <a:schemeClr val="tx1"/>
                </a:solidFill>
                <a:latin typeface="+mn-lt"/>
                <a:ea typeface="+mn-ea"/>
                <a:cs typeface="+mn-cs"/>
              </a:rPr>
              <a:t>Location for meetings and information sessions/exchanges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Timing of these meetings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Method/s of communication to be used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Speaking with the community to establish meeting and/or communication protocols – to enable meetings/sessions to occur efficiently, effectively and respectfully, such as:</a:t>
            </a:r>
          </a:p>
          <a:p>
            <a:pPr lvl="1">
              <a:buFont typeface="Arial" pitchFamily="34" charset="0"/>
              <a:buChar char="•"/>
            </a:pPr>
            <a:r>
              <a:rPr lang="en-US" sz="1200" kern="1200" dirty="0" smtClean="0">
                <a:solidFill>
                  <a:schemeClr val="tx1"/>
                </a:solidFill>
                <a:latin typeface="+mn-lt"/>
                <a:ea typeface="+mn-ea"/>
                <a:cs typeface="+mn-cs"/>
              </a:rPr>
              <a:t>Determining local contacts/representatives as elected, nominated or approved by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Identifying meetings procedures – in terms of a range of possible factors such as: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Level of formality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Seating arrangements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Those who can/cannot attend meetings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Being prepared to pay for the time and contribution of individuals and/or the local community – for input regarding (for example):</a:t>
            </a:r>
          </a:p>
          <a:p>
            <a:pPr lvl="1">
              <a:buFont typeface="Arial" pitchFamily="34" charset="0"/>
              <a:buChar char="•"/>
            </a:pPr>
            <a:r>
              <a:rPr lang="en-US" sz="1200" kern="1200" dirty="0" smtClean="0">
                <a:solidFill>
                  <a:schemeClr val="tx1"/>
                </a:solidFill>
                <a:latin typeface="+mn-lt"/>
                <a:ea typeface="+mn-ea"/>
                <a:cs typeface="+mn-cs"/>
              </a:rPr>
              <a:t>Attending meetings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Providing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Undertaking research on behalf of the Tour Operator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Reviewing, editing and approving draft materials prepared by the Tour Operator</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1058662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practical action to demonstrate respect:</a:t>
            </a:r>
          </a:p>
          <a:p>
            <a:pPr>
              <a:buFont typeface="Arial" pitchFamily="34" charset="0"/>
              <a:buChar char="•"/>
            </a:pPr>
            <a:r>
              <a:rPr lang="en-AU" sz="1200" kern="1200" dirty="0" smtClean="0">
                <a:solidFill>
                  <a:schemeClr val="tx1"/>
                </a:solidFill>
                <a:latin typeface="+mn-lt"/>
                <a:ea typeface="+mn-ea"/>
                <a:cs typeface="+mn-cs"/>
              </a:rPr>
              <a:t>Stating clearly and being prepared to commit to writing the intention of the Tour Operator to abide by identified protocols – such as:</a:t>
            </a:r>
          </a:p>
          <a:p>
            <a:pPr lvl="1">
              <a:buFont typeface="Arial" pitchFamily="34" charset="0"/>
              <a:buChar char="•"/>
            </a:pPr>
            <a:r>
              <a:rPr lang="en-US" sz="1200" kern="1200" dirty="0" smtClean="0">
                <a:solidFill>
                  <a:schemeClr val="tx1"/>
                </a:solidFill>
                <a:latin typeface="+mn-lt"/>
                <a:ea typeface="+mn-ea"/>
                <a:cs typeface="+mn-cs"/>
              </a:rPr>
              <a:t>Never revealing information deemed by the indigenous community to be secret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Observing procedures as contained in a nominated Code of Conduct/Practice for working with indigenous communities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Always presenting materials/information to be used by the Tour Operator to the community for their approval before it is used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Seeking consent for the Tour Operator to hold certain cultural information – as distinct from assuming the Tour Operator has a </a:t>
            </a:r>
            <a:r>
              <a:rPr lang="en-US" sz="1200" i="1" kern="1200" dirty="0" smtClean="0">
                <a:solidFill>
                  <a:schemeClr val="tx1"/>
                </a:solidFill>
                <a:latin typeface="+mn-lt"/>
                <a:ea typeface="+mn-ea"/>
                <a:cs typeface="+mn-cs"/>
              </a:rPr>
              <a:t>right</a:t>
            </a:r>
            <a:r>
              <a:rPr lang="en-US" sz="1200" kern="1200" dirty="0" smtClean="0">
                <a:solidFill>
                  <a:schemeClr val="tx1"/>
                </a:solidFill>
                <a:latin typeface="+mn-lt"/>
                <a:ea typeface="+mn-ea"/>
                <a:cs typeface="+mn-cs"/>
              </a:rPr>
              <a:t> to do this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Seeking local community permission to share their cultural information – and obtaining agreements regarding:</a:t>
            </a:r>
          </a:p>
          <a:p>
            <a:pPr lvl="1">
              <a:buFont typeface="Arial" pitchFamily="34" charset="0"/>
              <a:buChar char="•"/>
            </a:pPr>
            <a:r>
              <a:rPr lang="en-US" sz="1200" kern="1200" dirty="0" smtClean="0">
                <a:solidFill>
                  <a:schemeClr val="tx1"/>
                </a:solidFill>
                <a:latin typeface="+mn-lt"/>
                <a:ea typeface="+mn-ea"/>
                <a:cs typeface="+mn-cs"/>
              </a:rPr>
              <a:t>How this may and may not occur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duration of the permission granted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Payment for same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Protocols for obtaining approval to use material that is required.</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a:t>
            </a:r>
            <a:r>
              <a:rPr lang="en-AU" b="1" baseline="0" noProof="0" dirty="0" smtClean="0"/>
              <a:t> – Guest Speaker</a:t>
            </a:r>
          </a:p>
          <a:p>
            <a:pPr>
              <a:buFont typeface="Arial" pitchFamily="34" charset="0"/>
              <a:buNone/>
            </a:pPr>
            <a:r>
              <a:rPr lang="en-AU" b="0" baseline="0" noProof="0" dirty="0" smtClean="0"/>
              <a:t>Trainer arranges for experienced Tour Guide to attend and:</a:t>
            </a:r>
          </a:p>
          <a:p>
            <a:pPr>
              <a:buFont typeface="Arial" pitchFamily="34" charset="0"/>
              <a:buChar char="•"/>
            </a:pPr>
            <a:r>
              <a:rPr lang="en-AU" b="0" baseline="0" noProof="0" dirty="0" smtClean="0"/>
              <a:t>Discuss the process of engaging with local communities/indigenous people</a:t>
            </a:r>
          </a:p>
          <a:p>
            <a:pPr>
              <a:buFont typeface="Arial" pitchFamily="34" charset="0"/>
              <a:buChar char="•"/>
            </a:pPr>
            <a:r>
              <a:rPr lang="en-AU" b="0" baseline="0" noProof="0" dirty="0" smtClean="0"/>
              <a:t>Describe tips and advice for researching indigenous people</a:t>
            </a:r>
          </a:p>
          <a:p>
            <a:pPr>
              <a:buFont typeface="Arial" pitchFamily="34" charset="0"/>
              <a:buChar char="•"/>
            </a:pPr>
            <a:r>
              <a:rPr lang="en-AU" b="0" baseline="0" noProof="0" dirty="0" smtClean="0"/>
              <a:t>Explain sample Codes of Conduct/Practice which apply to interacting with indigenous communities.</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503586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stresses it should be standard practice to document meetings and talks with local communities and indigenous people – in order to:</a:t>
            </a:r>
          </a:p>
          <a:p>
            <a:pPr>
              <a:buFont typeface="Arial" pitchFamily="34" charset="0"/>
              <a:buChar char="•"/>
            </a:pPr>
            <a:r>
              <a:rPr lang="en-AU" sz="1200" kern="1200" dirty="0" smtClean="0">
                <a:solidFill>
                  <a:schemeClr val="tx1"/>
                </a:solidFill>
                <a:latin typeface="+mn-lt"/>
                <a:ea typeface="+mn-ea"/>
                <a:cs typeface="+mn-cs"/>
              </a:rPr>
              <a:t>Provide a basis for future reference – so materials produced reflect the wishes expressed by the people during the talks, visits and meetings</a:t>
            </a:r>
          </a:p>
          <a:p>
            <a:pPr>
              <a:buFont typeface="Arial" pitchFamily="34" charset="0"/>
              <a:buChar char="•"/>
            </a:pPr>
            <a:r>
              <a:rPr lang="en-AU" sz="1200" kern="1200" dirty="0" smtClean="0">
                <a:solidFill>
                  <a:schemeClr val="tx1"/>
                </a:solidFill>
                <a:latin typeface="+mn-lt"/>
                <a:ea typeface="+mn-ea"/>
                <a:cs typeface="+mn-cs"/>
              </a:rPr>
              <a:t>Show evidence of the consultation process – in order to help maintain the reputation of the Tour Operator as being sensitive to local communities and indigenous people</a:t>
            </a:r>
          </a:p>
          <a:p>
            <a:pPr>
              <a:buFont typeface="Arial" pitchFamily="34" charset="0"/>
              <a:buChar char="•"/>
            </a:pPr>
            <a:r>
              <a:rPr lang="en-AU" sz="1200" kern="1200" dirty="0" smtClean="0">
                <a:solidFill>
                  <a:schemeClr val="tx1"/>
                </a:solidFill>
                <a:latin typeface="+mn-lt"/>
                <a:ea typeface="+mn-ea"/>
                <a:cs typeface="+mn-cs"/>
              </a:rPr>
              <a:t>Create a growing body of knowledge – about the communities and cultures</a:t>
            </a:r>
          </a:p>
          <a:p>
            <a:pPr>
              <a:buFont typeface="Arial" pitchFamily="34" charset="0"/>
              <a:buChar char="•"/>
            </a:pPr>
            <a:r>
              <a:rPr lang="en-AU" sz="1200" kern="1200" dirty="0" smtClean="0">
                <a:solidFill>
                  <a:schemeClr val="tx1"/>
                </a:solidFill>
                <a:latin typeface="+mn-lt"/>
                <a:ea typeface="+mn-ea"/>
                <a:cs typeface="+mn-cs"/>
              </a:rPr>
              <a:t>Generate a document which can be shared with stakeholders – to:</a:t>
            </a:r>
          </a:p>
          <a:p>
            <a:pPr lvl="1">
              <a:buFont typeface="Arial" pitchFamily="34" charset="0"/>
              <a:buChar char="•"/>
            </a:pPr>
            <a:r>
              <a:rPr lang="en-US" sz="1200" kern="1200" dirty="0" smtClean="0">
                <a:solidFill>
                  <a:schemeClr val="tx1"/>
                </a:solidFill>
                <a:latin typeface="+mn-lt"/>
                <a:ea typeface="+mn-ea"/>
                <a:cs typeface="+mn-cs"/>
              </a:rPr>
              <a:t>Provide a record of what was discussed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List stated agreements and arrangements made at meetings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Provide a basis for future discussion/follow-up</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Show respect for the consultation process – in that recording the meetings demonstrates proof of the value of the talks and shows a serious orientation to matters discussed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2378485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standard practices for determining acceptable use of </a:t>
            </a:r>
            <a:r>
              <a:rPr lang="en-AU" sz="1200" kern="1200" dirty="0" smtClean="0">
                <a:solidFill>
                  <a:schemeClr val="tx1"/>
                </a:solidFill>
                <a:latin typeface="+mn-lt"/>
                <a:ea typeface="+mn-ea"/>
                <a:cs typeface="+mn-cs"/>
              </a:rPr>
              <a:t>information sourced from indigenous cultures and communities:</a:t>
            </a:r>
          </a:p>
          <a:p>
            <a:pPr>
              <a:buFont typeface="Arial" pitchFamily="34" charset="0"/>
              <a:buChar char="•"/>
            </a:pPr>
            <a:r>
              <a:rPr lang="en-AU" sz="1200" kern="1200" dirty="0" smtClean="0">
                <a:solidFill>
                  <a:schemeClr val="tx1"/>
                </a:solidFill>
                <a:latin typeface="+mn-lt"/>
                <a:ea typeface="+mn-ea"/>
                <a:cs typeface="+mn-cs"/>
              </a:rPr>
              <a:t>Differentiating between, and agreeing about, material which is already in the public domain – and already/readily available to others. This can be done by:</a:t>
            </a:r>
          </a:p>
          <a:p>
            <a:pPr lvl="1">
              <a:buFont typeface="Arial" pitchFamily="34" charset="0"/>
              <a:buChar char="•"/>
            </a:pPr>
            <a:r>
              <a:rPr lang="en-US" sz="1200" kern="1200" dirty="0" smtClean="0">
                <a:solidFill>
                  <a:schemeClr val="tx1"/>
                </a:solidFill>
                <a:latin typeface="+mn-lt"/>
                <a:ea typeface="+mn-ea"/>
                <a:cs typeface="+mn-cs"/>
              </a:rPr>
              <a:t>Verbally discussing the material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Showing copies/evidence of existing material.</a:t>
            </a:r>
            <a:endParaRPr lang="en-AU" sz="1200" kern="1200" dirty="0" smtClean="0">
              <a:solidFill>
                <a:schemeClr val="tx1"/>
              </a:solidFill>
              <a:latin typeface="+mn-lt"/>
              <a:ea typeface="+mn-ea"/>
              <a:cs typeface="+mn-cs"/>
            </a:endParaRPr>
          </a:p>
          <a:p>
            <a:pPr lvl="2">
              <a:buFont typeface="Arial" pitchFamily="34" charset="0"/>
              <a:buChar char="•"/>
            </a:pPr>
            <a:r>
              <a:rPr lang="en-AU" sz="1200" kern="1200" dirty="0" smtClean="0">
                <a:solidFill>
                  <a:schemeClr val="tx1"/>
                </a:solidFill>
                <a:latin typeface="+mn-lt"/>
                <a:ea typeface="+mn-ea"/>
                <a:cs typeface="+mn-cs"/>
              </a:rPr>
              <a:t>Material already available to the public comes with far fewer restrictions attached to its use providing there is agreement and acceptance about the content and its veracity.</a:t>
            </a:r>
          </a:p>
          <a:p>
            <a:pPr>
              <a:buFont typeface="Arial" pitchFamily="34" charset="0"/>
              <a:buChar char="•"/>
            </a:pPr>
            <a:r>
              <a:rPr lang="en-AU" sz="1200" kern="1200" dirty="0" smtClean="0">
                <a:solidFill>
                  <a:schemeClr val="tx1"/>
                </a:solidFill>
                <a:latin typeface="+mn-lt"/>
                <a:ea typeface="+mn-ea"/>
                <a:cs typeface="+mn-cs"/>
              </a:rPr>
              <a:t>Establishing a schedule for communication in this regard – which needs to accommodate the needs, wants and preferences of the local people as these relate to:</a:t>
            </a:r>
          </a:p>
          <a:p>
            <a:pPr lvl="1">
              <a:buFont typeface="Arial" pitchFamily="34" charset="0"/>
              <a:buChar char="•"/>
            </a:pPr>
            <a:r>
              <a:rPr lang="en-US" sz="1200" kern="1200" dirty="0" smtClean="0">
                <a:solidFill>
                  <a:schemeClr val="tx1"/>
                </a:solidFill>
                <a:latin typeface="+mn-lt"/>
                <a:ea typeface="+mn-ea"/>
                <a:cs typeface="+mn-cs"/>
              </a:rPr>
              <a:t>Dates and times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Meeting places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Those who can or must be present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Meeting protocols – seating arrangement, presence of recording devices, refreshments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Whether people require payment for attendance</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http://green.hotelscombined.com/Rtg-Benefits-of-Tourism.php</a:t>
            </a:r>
            <a:r>
              <a:rPr lang="en-AU" sz="1200" kern="1200" dirty="0" smtClean="0">
                <a:solidFill>
                  <a:schemeClr val="tx1"/>
                </a:solidFill>
                <a:latin typeface="+mn-lt"/>
                <a:ea typeface="+mn-ea"/>
                <a:cs typeface="+mn-cs"/>
              </a:rPr>
              <a:t> - Benefits of tourism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1381521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standard practices for determining acceptable use of </a:t>
            </a:r>
            <a:r>
              <a:rPr lang="en-AU" sz="1200" kern="1200" dirty="0" smtClean="0">
                <a:solidFill>
                  <a:schemeClr val="tx1"/>
                </a:solidFill>
                <a:latin typeface="+mn-lt"/>
                <a:ea typeface="+mn-ea"/>
                <a:cs typeface="+mn-cs"/>
              </a:rPr>
              <a:t>information sourced from indigenous cultures and communities:</a:t>
            </a:r>
          </a:p>
          <a:p>
            <a:pPr>
              <a:buFont typeface="Arial" pitchFamily="34" charset="0"/>
              <a:buChar char="•"/>
            </a:pPr>
            <a:r>
              <a:rPr lang="en-AU" sz="1200" kern="1200" dirty="0" smtClean="0">
                <a:solidFill>
                  <a:schemeClr val="tx1"/>
                </a:solidFill>
                <a:latin typeface="+mn-lt"/>
                <a:ea typeface="+mn-ea"/>
                <a:cs typeface="+mn-cs"/>
              </a:rPr>
              <a:t>Informing the community of the specifics of Tour Operator intention to use material and information provided </a:t>
            </a:r>
            <a:r>
              <a:rPr lang="en-AU" sz="1200" b="1" kern="1200" dirty="0" smtClean="0">
                <a:solidFill>
                  <a:schemeClr val="tx1"/>
                </a:solidFill>
                <a:latin typeface="+mn-lt"/>
                <a:ea typeface="+mn-ea"/>
                <a:cs typeface="+mn-cs"/>
              </a:rPr>
              <a:t>before research and meetings commence</a:t>
            </a:r>
            <a:r>
              <a:rPr lang="en-AU" sz="1200" kern="1200" dirty="0" smtClean="0">
                <a:solidFill>
                  <a:schemeClr val="tx1"/>
                </a:solidFill>
                <a:latin typeface="+mn-lt"/>
                <a:ea typeface="+mn-ea"/>
                <a:cs typeface="+mn-cs"/>
              </a:rPr>
              <a:t> – so the people are:</a:t>
            </a:r>
          </a:p>
          <a:p>
            <a:pPr lvl="1">
              <a:buFont typeface="Arial" pitchFamily="34" charset="0"/>
              <a:buChar char="•"/>
            </a:pPr>
            <a:r>
              <a:rPr lang="en-US" sz="1200" kern="1200" dirty="0" smtClean="0">
                <a:solidFill>
                  <a:schemeClr val="tx1"/>
                </a:solidFill>
                <a:latin typeface="+mn-lt"/>
                <a:ea typeface="+mn-ea"/>
                <a:cs typeface="+mn-cs"/>
              </a:rPr>
              <a:t>Genuinely aware of the reasons for the talks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Fully understand why the information is being sought.</a:t>
            </a:r>
            <a:endParaRPr lang="en-AU" sz="1200" kern="1200" dirty="0" smtClean="0">
              <a:solidFill>
                <a:schemeClr val="tx1"/>
              </a:solidFill>
              <a:latin typeface="+mn-lt"/>
              <a:ea typeface="+mn-ea"/>
              <a:cs typeface="+mn-cs"/>
            </a:endParaRPr>
          </a:p>
          <a:p>
            <a:pPr lvl="2">
              <a:buFont typeface="Arial" pitchFamily="34" charset="0"/>
              <a:buChar char="•"/>
            </a:pPr>
            <a:r>
              <a:rPr lang="en-AU" sz="1200" kern="1200" dirty="0" smtClean="0">
                <a:solidFill>
                  <a:schemeClr val="tx1"/>
                </a:solidFill>
                <a:latin typeface="+mn-lt"/>
                <a:ea typeface="+mn-ea"/>
                <a:cs typeface="+mn-cs"/>
              </a:rPr>
              <a:t>This can help them decide:</a:t>
            </a:r>
          </a:p>
          <a:p>
            <a:pPr lvl="3">
              <a:buFont typeface="Arial" pitchFamily="34" charset="0"/>
              <a:buChar char="•"/>
            </a:pPr>
            <a:r>
              <a:rPr lang="en-US" sz="1200" kern="1200" dirty="0" smtClean="0">
                <a:solidFill>
                  <a:schemeClr val="tx1"/>
                </a:solidFill>
                <a:latin typeface="+mn-lt"/>
                <a:ea typeface="+mn-ea"/>
                <a:cs typeface="+mn-cs"/>
              </a:rPr>
              <a:t>What they want to disclose </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What they want to keep secret</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If they require payment for their input/contributions.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Verifying with the indigenous community that researched information has been correctly interpreted – and:</a:t>
            </a:r>
          </a:p>
          <a:p>
            <a:pPr lvl="1">
              <a:buFont typeface="Arial" pitchFamily="34" charset="0"/>
              <a:buChar char="•"/>
            </a:pPr>
            <a:r>
              <a:rPr lang="en-US" sz="1200" kern="1200" dirty="0" smtClean="0">
                <a:solidFill>
                  <a:schemeClr val="tx1"/>
                </a:solidFill>
                <a:latin typeface="+mn-lt"/>
                <a:ea typeface="+mn-ea"/>
                <a:cs typeface="+mn-cs"/>
              </a:rPr>
              <a:t>Allowing the community the right to review materials produced – so they remain engaged with the process of participating in the development and release of material and so they can: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Approve and/or amend the proposed items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Reject the way certain information is presented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Giving the community the right to veto material – so they know they: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Are respected as an integral part of the process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Retain final control over the information released/provided</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http://sanctuaries.noaa.gov/management/pdfs/Day5_H2_BenefitsThreats.pdf</a:t>
            </a:r>
            <a:r>
              <a:rPr lang="en-AU" sz="1200" kern="1200" dirty="0" smtClean="0">
                <a:solidFill>
                  <a:schemeClr val="tx1"/>
                </a:solidFill>
                <a:latin typeface="+mn-lt"/>
                <a:ea typeface="+mn-ea"/>
                <a:cs typeface="+mn-cs"/>
              </a:rPr>
              <a:t> - Some benefits for local communities; some threats for local communities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7203765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standard practices for determining acceptable use of </a:t>
            </a:r>
            <a:r>
              <a:rPr lang="en-AU" sz="1200" kern="1200" dirty="0" smtClean="0">
                <a:solidFill>
                  <a:schemeClr val="tx1"/>
                </a:solidFill>
                <a:latin typeface="+mn-lt"/>
                <a:ea typeface="+mn-ea"/>
                <a:cs typeface="+mn-cs"/>
              </a:rPr>
              <a:t>information sourced from indigenous cultures and communities:</a:t>
            </a:r>
          </a:p>
          <a:p>
            <a:pPr>
              <a:buFont typeface="Arial" pitchFamily="34" charset="0"/>
              <a:buChar char="•"/>
            </a:pPr>
            <a:r>
              <a:rPr lang="en-AU" sz="1200" kern="1200" dirty="0" smtClean="0">
                <a:solidFill>
                  <a:schemeClr val="tx1"/>
                </a:solidFill>
                <a:latin typeface="+mn-lt"/>
                <a:ea typeface="+mn-ea"/>
                <a:cs typeface="+mn-cs"/>
              </a:rPr>
              <a:t>Understanding with all communities there will </a:t>
            </a:r>
            <a:r>
              <a:rPr lang="en-AU" sz="1200" b="1" kern="1200" dirty="0" smtClean="0">
                <a:solidFill>
                  <a:schemeClr val="tx1"/>
                </a:solidFill>
                <a:latin typeface="+mn-lt"/>
                <a:ea typeface="+mn-ea"/>
                <a:cs typeface="+mn-cs"/>
              </a:rPr>
              <a:t>nearly always</a:t>
            </a:r>
            <a:r>
              <a:rPr lang="en-AU" sz="1200" kern="1200" dirty="0" smtClean="0">
                <a:solidFill>
                  <a:schemeClr val="tx1"/>
                </a:solidFill>
                <a:latin typeface="+mn-lt"/>
                <a:ea typeface="+mn-ea"/>
                <a:cs typeface="+mn-cs"/>
              </a:rPr>
              <a:t> be a range of sensitive and/or contentious issues – such as:</a:t>
            </a:r>
          </a:p>
          <a:p>
            <a:pPr lvl="1">
              <a:buFont typeface="Arial" pitchFamily="34" charset="0"/>
              <a:buChar char="•"/>
            </a:pPr>
            <a:r>
              <a:rPr lang="en-AU" sz="1200" kern="1200" dirty="0" smtClean="0">
                <a:solidFill>
                  <a:schemeClr val="tx1"/>
                </a:solidFill>
                <a:latin typeface="+mn-lt"/>
                <a:ea typeface="+mn-ea"/>
                <a:cs typeface="+mn-cs"/>
              </a:rPr>
              <a:t>Things the community does not agree about </a:t>
            </a:r>
          </a:p>
          <a:p>
            <a:pPr lvl="1">
              <a:buFont typeface="Arial" pitchFamily="34" charset="0"/>
              <a:buChar char="•"/>
            </a:pPr>
            <a:r>
              <a:rPr lang="en-AU" sz="1200" kern="1200" dirty="0" smtClean="0">
                <a:solidFill>
                  <a:schemeClr val="tx1"/>
                </a:solidFill>
                <a:latin typeface="+mn-lt"/>
                <a:ea typeface="+mn-ea"/>
                <a:cs typeface="+mn-cs"/>
              </a:rPr>
              <a:t>Matters the people have difficulty explaining </a:t>
            </a:r>
          </a:p>
          <a:p>
            <a:pPr lvl="1">
              <a:buFont typeface="Arial" pitchFamily="34" charset="0"/>
              <a:buChar char="•"/>
            </a:pPr>
            <a:r>
              <a:rPr lang="en-AU" sz="1200" kern="1200" dirty="0" smtClean="0">
                <a:solidFill>
                  <a:schemeClr val="tx1"/>
                </a:solidFill>
                <a:latin typeface="+mn-lt"/>
                <a:ea typeface="+mn-ea"/>
                <a:cs typeface="+mn-cs"/>
              </a:rPr>
              <a:t>Culturally-sensitive matters (times, events, practices or customs) which the community:</a:t>
            </a:r>
          </a:p>
          <a:p>
            <a:pPr lvl="2">
              <a:buFont typeface="Arial" pitchFamily="34" charset="0"/>
              <a:buChar char="•"/>
            </a:pPr>
            <a:r>
              <a:rPr lang="en-AU" sz="1200" kern="1200" dirty="0" smtClean="0">
                <a:solidFill>
                  <a:schemeClr val="tx1"/>
                </a:solidFill>
                <a:latin typeface="+mn-lt"/>
                <a:ea typeface="+mn-ea"/>
                <a:cs typeface="+mn-cs"/>
              </a:rPr>
              <a:t>Does not want to talk about at all</a:t>
            </a:r>
          </a:p>
          <a:p>
            <a:pPr lvl="2">
              <a:buFont typeface="Arial" pitchFamily="34" charset="0"/>
              <a:buChar char="•"/>
            </a:pPr>
            <a:r>
              <a:rPr lang="en-AU" sz="1200" kern="1200" dirty="0" smtClean="0">
                <a:solidFill>
                  <a:schemeClr val="tx1"/>
                </a:solidFill>
                <a:latin typeface="+mn-lt"/>
                <a:ea typeface="+mn-ea"/>
                <a:cs typeface="+mn-cs"/>
              </a:rPr>
              <a:t>Wants handled/treated in a certain way</a:t>
            </a:r>
          </a:p>
          <a:p>
            <a:pPr lvl="1">
              <a:buFont typeface="Arial" pitchFamily="34" charset="0"/>
              <a:buChar char="•"/>
            </a:pPr>
            <a:r>
              <a:rPr lang="en-AU" sz="1200" kern="1200" dirty="0" smtClean="0">
                <a:solidFill>
                  <a:schemeClr val="tx1"/>
                </a:solidFill>
                <a:latin typeface="+mn-lt"/>
                <a:ea typeface="+mn-ea"/>
                <a:cs typeface="+mn-cs"/>
              </a:rPr>
              <a:t>Access to certain people, places and/or practices.</a:t>
            </a:r>
          </a:p>
          <a:p>
            <a:pPr>
              <a:buFont typeface="Arial" pitchFamily="34" charset="0"/>
              <a:buChar char="•"/>
            </a:pPr>
            <a:r>
              <a:rPr lang="en-AU" sz="1200" kern="1200" dirty="0" smtClean="0">
                <a:solidFill>
                  <a:schemeClr val="tx1"/>
                </a:solidFill>
                <a:latin typeface="+mn-lt"/>
                <a:ea typeface="+mn-ea"/>
                <a:cs typeface="+mn-cs"/>
              </a:rPr>
              <a:t>Never making assumptions relating to the community and the information it provides – for example it is never acceptable/respectful to:</a:t>
            </a:r>
          </a:p>
          <a:p>
            <a:pPr lvl="1">
              <a:buFont typeface="Arial" pitchFamily="34" charset="0"/>
              <a:buChar char="•"/>
            </a:pPr>
            <a:r>
              <a:rPr lang="en-US" sz="1200" kern="1200" dirty="0" smtClean="0">
                <a:solidFill>
                  <a:schemeClr val="tx1"/>
                </a:solidFill>
                <a:latin typeface="+mn-lt"/>
                <a:ea typeface="+mn-ea"/>
                <a:cs typeface="+mn-cs"/>
              </a:rPr>
              <a:t>Assume the community knows about the Tour Operator and what it does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Assume the people know what Tour Operators do and the tourism industry is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Assume all materials and information provided can be used for tour-related/tourism purposes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http://www.onecaribbean.org/content/files/GoodPracticestourismawareness%282%29.pdf</a:t>
            </a:r>
            <a:r>
              <a:rPr lang="en-AU" sz="1200" kern="1200" dirty="0" smtClean="0">
                <a:solidFill>
                  <a:schemeClr val="tx1"/>
                </a:solidFill>
                <a:latin typeface="+mn-lt"/>
                <a:ea typeface="+mn-ea"/>
                <a:cs typeface="+mn-cs"/>
              </a:rPr>
              <a:t>  – Competing with the best: Good practices in tourism awareness programs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308287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standard practices for determining acceptable use of </a:t>
            </a:r>
            <a:r>
              <a:rPr lang="en-AU" sz="1200" kern="1200" dirty="0" smtClean="0">
                <a:solidFill>
                  <a:schemeClr val="tx1"/>
                </a:solidFill>
                <a:latin typeface="+mn-lt"/>
                <a:ea typeface="+mn-ea"/>
                <a:cs typeface="+mn-cs"/>
              </a:rPr>
              <a:t>information sourced from indigenous cultures and communities:</a:t>
            </a:r>
          </a:p>
          <a:p>
            <a:pPr>
              <a:buFont typeface="Arial" pitchFamily="34" charset="0"/>
              <a:buChar char="•"/>
            </a:pPr>
            <a:r>
              <a:rPr lang="en-AU" sz="1200" kern="1200" dirty="0" smtClean="0">
                <a:solidFill>
                  <a:schemeClr val="tx1"/>
                </a:solidFill>
                <a:latin typeface="+mn-lt"/>
                <a:ea typeface="+mn-ea"/>
                <a:cs typeface="+mn-cs"/>
              </a:rPr>
              <a:t>Checking with the indigenous community about material which has been researched through desk-top procedures and via primary research techniques – to determine:</a:t>
            </a:r>
          </a:p>
          <a:p>
            <a:pPr lvl="1">
              <a:buFont typeface="Arial" pitchFamily="34" charset="0"/>
              <a:buChar char="•"/>
            </a:pPr>
            <a:r>
              <a:rPr lang="en-US" sz="1200" kern="1200" dirty="0" smtClean="0">
                <a:solidFill>
                  <a:schemeClr val="tx1"/>
                </a:solidFill>
                <a:latin typeface="+mn-lt"/>
                <a:ea typeface="+mn-ea"/>
                <a:cs typeface="+mn-cs"/>
              </a:rPr>
              <a:t>Truth and accuracy of the content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Whether or not the  information is able to be used and shared with tour groups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Preferences/limitations which might apply to the dissemination or sharing of certain pieces of information – for example, there may be: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Bans on sharing with women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Restrictions on access to areas/sites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Times/seasons when material cannot be shared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Bans on using names of certain people or places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Refusal to provide items for use as samples/models for showing to tour groups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Prohibition on certain interpretive activities which have been proposed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Deciding on follow-up protocols – as these might apply to:</a:t>
            </a:r>
          </a:p>
          <a:p>
            <a:pPr lvl="1">
              <a:buFont typeface="Arial" pitchFamily="34" charset="0"/>
              <a:buChar char="•"/>
            </a:pPr>
            <a:r>
              <a:rPr lang="en-US" sz="1200" kern="1200" dirty="0" smtClean="0">
                <a:solidFill>
                  <a:schemeClr val="tx1"/>
                </a:solidFill>
                <a:latin typeface="+mn-lt"/>
                <a:ea typeface="+mn-ea"/>
                <a:cs typeface="+mn-cs"/>
              </a:rPr>
              <a:t>Monitoring activities to record and track the impact of activities designed and implemented as a result of the information provided/agreed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Reporting procedures for communicating and discussing the data produced as a result of agreed monitoring protocols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Review and revision practices – for considering materials which have been produced and are subject to evaluation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Developing an ongoing rapport/connection with the local people – to:</a:t>
            </a:r>
          </a:p>
          <a:p>
            <a:pPr lvl="1">
              <a:buFont typeface="Arial" pitchFamily="34" charset="0"/>
              <a:buChar char="•"/>
            </a:pPr>
            <a:r>
              <a:rPr lang="en-US" sz="1200" kern="1200" dirty="0" smtClean="0">
                <a:solidFill>
                  <a:schemeClr val="tx1"/>
                </a:solidFill>
                <a:latin typeface="+mn-lt"/>
                <a:ea typeface="+mn-ea"/>
                <a:cs typeface="+mn-cs"/>
              </a:rPr>
              <a:t>Continue meeting with indigenous communities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Establish a ‘reference group’ to deal with the Tour Operator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Encourage their participation in the development of appropriate activities and commentaries to share their culture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Identify commercial opportunities available to them – if required/applicable.</a:t>
            </a:r>
            <a:endParaRPr lang="en-AU" sz="1200" kern="1200" dirty="0" smtClean="0">
              <a:solidFill>
                <a:schemeClr val="tx1"/>
              </a:solidFill>
              <a:latin typeface="+mn-lt"/>
              <a:ea typeface="+mn-ea"/>
              <a:cs typeface="+mn-cs"/>
            </a:endParaRP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http://social.eyeforpharma.com/column/untapped-potential-asean-key-growth-factors</a:t>
            </a:r>
            <a:r>
              <a:rPr lang="en-AU" sz="1200" kern="1200" dirty="0" smtClean="0">
                <a:solidFill>
                  <a:schemeClr val="tx1"/>
                </a:solidFill>
                <a:latin typeface="+mn-lt"/>
                <a:ea typeface="+mn-ea"/>
                <a:cs typeface="+mn-cs"/>
              </a:rPr>
              <a:t> - The untapped potential of ASEAN: the key growth factors </a:t>
            </a:r>
          </a:p>
          <a:p>
            <a:r>
              <a:rPr lang="en-AU" sz="1200" u="sng" kern="1200" dirty="0" smtClean="0">
                <a:solidFill>
                  <a:schemeClr val="tx1"/>
                </a:solidFill>
                <a:latin typeface="+mn-lt"/>
                <a:ea typeface="+mn-ea"/>
                <a:cs typeface="+mn-cs"/>
                <a:hlinkClick r:id="rId4"/>
              </a:rPr>
              <a:t>http://www.reportlinker.com/d0104205547/Tourism-Industry-in-Asia.html?pos=5</a:t>
            </a:r>
            <a:r>
              <a:rPr lang="en-AU" sz="1200" kern="1200" dirty="0" smtClean="0">
                <a:solidFill>
                  <a:schemeClr val="tx1"/>
                </a:solidFill>
                <a:latin typeface="+mn-lt"/>
                <a:ea typeface="+mn-ea"/>
                <a:cs typeface="+mn-cs"/>
              </a:rPr>
              <a:t> – Tourism industry in Asia</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9428051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8677846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5101653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8267488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5919338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1562804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6967957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share information on indigenous cultures?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might it need to be shared with?</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When and how might it be shared?</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9921079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reasons to </a:t>
            </a:r>
            <a:r>
              <a:rPr lang="en-AU" sz="1200" kern="1200" dirty="0" smtClean="0">
                <a:solidFill>
                  <a:schemeClr val="tx1"/>
                </a:solidFill>
                <a:latin typeface="+mn-lt"/>
                <a:ea typeface="+mn-ea"/>
                <a:cs typeface="+mn-cs"/>
              </a:rPr>
              <a:t>share with colleagues the information learned/gained from research for the following reasons:</a:t>
            </a:r>
          </a:p>
          <a:p>
            <a:pPr>
              <a:buFont typeface="Arial" pitchFamily="34" charset="0"/>
              <a:buChar char="•"/>
            </a:pPr>
            <a:r>
              <a:rPr lang="en-AU" sz="1200" kern="1200" dirty="0" smtClean="0">
                <a:solidFill>
                  <a:schemeClr val="tx1"/>
                </a:solidFill>
                <a:latin typeface="+mn-lt"/>
                <a:ea typeface="+mn-ea"/>
                <a:cs typeface="+mn-cs"/>
              </a:rPr>
              <a:t>To demonstrate evidence regarding the time and effort spent undertaking the research – so that:</a:t>
            </a:r>
          </a:p>
          <a:p>
            <a:pPr lvl="1">
              <a:buFont typeface="Arial" pitchFamily="34" charset="0"/>
              <a:buChar char="•"/>
            </a:pPr>
            <a:r>
              <a:rPr lang="en-AU" sz="1200" kern="1200" dirty="0" smtClean="0">
                <a:solidFill>
                  <a:schemeClr val="tx1"/>
                </a:solidFill>
                <a:latin typeface="+mn-lt"/>
                <a:ea typeface="+mn-ea"/>
                <a:cs typeface="+mn-cs"/>
              </a:rPr>
              <a:t>Others can see what was achieved</a:t>
            </a:r>
          </a:p>
          <a:p>
            <a:pPr lvl="1">
              <a:buFont typeface="Arial" pitchFamily="34" charset="0"/>
              <a:buChar char="•"/>
            </a:pPr>
            <a:r>
              <a:rPr lang="en-AU" sz="1200" kern="1200" dirty="0" smtClean="0">
                <a:solidFill>
                  <a:schemeClr val="tx1"/>
                </a:solidFill>
                <a:latin typeface="+mn-lt"/>
                <a:ea typeface="+mn-ea"/>
                <a:cs typeface="+mn-cs"/>
              </a:rPr>
              <a:t>Proof is visible to show resources was well spent</a:t>
            </a:r>
          </a:p>
          <a:p>
            <a:pPr lvl="1">
              <a:buFont typeface="Arial" pitchFamily="34" charset="0"/>
              <a:buChar char="•"/>
            </a:pPr>
            <a:r>
              <a:rPr lang="en-AU" sz="1200" kern="1200" dirty="0" smtClean="0">
                <a:solidFill>
                  <a:schemeClr val="tx1"/>
                </a:solidFill>
                <a:latin typeface="+mn-lt"/>
                <a:ea typeface="+mn-ea"/>
                <a:cs typeface="+mn-cs"/>
              </a:rPr>
              <a:t>Give others a better appreciate of the scope of the research – as they often have little idea about what is involved in comprehensive research of this nature</a:t>
            </a:r>
          </a:p>
          <a:p>
            <a:pPr>
              <a:buFont typeface="Arial" pitchFamily="34" charset="0"/>
              <a:buChar char="•"/>
            </a:pPr>
            <a:r>
              <a:rPr lang="en-AU" sz="1200" kern="1200" dirty="0" smtClean="0">
                <a:solidFill>
                  <a:schemeClr val="tx1"/>
                </a:solidFill>
                <a:latin typeface="+mn-lt"/>
                <a:ea typeface="+mn-ea"/>
                <a:cs typeface="+mn-cs"/>
              </a:rPr>
              <a:t>To provide general background knowledge about the intentions of the Tour Operator – these information sessions traditionally also feature:</a:t>
            </a:r>
          </a:p>
          <a:p>
            <a:pPr lvl="1">
              <a:buFont typeface="Arial" pitchFamily="34" charset="0"/>
              <a:buChar char="•"/>
            </a:pPr>
            <a:r>
              <a:rPr lang="en-AU" sz="1200" kern="1200" dirty="0" smtClean="0">
                <a:solidFill>
                  <a:schemeClr val="tx1"/>
                </a:solidFill>
                <a:latin typeface="+mn-lt"/>
                <a:ea typeface="+mn-ea"/>
                <a:cs typeface="+mn-cs"/>
              </a:rPr>
              <a:t>Future general/strategic plans of the company</a:t>
            </a:r>
          </a:p>
          <a:p>
            <a:pPr lvl="1">
              <a:buFont typeface="Arial" pitchFamily="34" charset="0"/>
              <a:buChar char="•"/>
            </a:pPr>
            <a:r>
              <a:rPr lang="en-AU" sz="1200" kern="1200" dirty="0" smtClean="0">
                <a:solidFill>
                  <a:schemeClr val="tx1"/>
                </a:solidFill>
                <a:latin typeface="+mn-lt"/>
                <a:ea typeface="+mn-ea"/>
                <a:cs typeface="+mn-cs"/>
              </a:rPr>
              <a:t>Changes proposed for new/different target markets and/or re-positioning of the business in the marketplace</a:t>
            </a:r>
          </a:p>
          <a:p>
            <a:pPr lvl="1">
              <a:buFont typeface="Arial" pitchFamily="34" charset="0"/>
              <a:buChar char="•"/>
            </a:pPr>
            <a:r>
              <a:rPr lang="en-AU" sz="1200" kern="1200" dirty="0" smtClean="0">
                <a:solidFill>
                  <a:schemeClr val="tx1"/>
                </a:solidFill>
                <a:latin typeface="+mn-lt"/>
                <a:ea typeface="+mn-ea"/>
                <a:cs typeface="+mn-cs"/>
              </a:rPr>
              <a:t>Specific plans as they relate to the development of the market in relation to the individual indigenous culture/people being discussed – n terms of (for example) coverage and details regarding anticipated:</a:t>
            </a:r>
          </a:p>
          <a:p>
            <a:pPr lvl="2">
              <a:buFont typeface="Arial" pitchFamily="34" charset="0"/>
              <a:buChar char="•"/>
            </a:pPr>
            <a:r>
              <a:rPr lang="en-AU" sz="1200" kern="1200" dirty="0" smtClean="0">
                <a:solidFill>
                  <a:schemeClr val="tx1"/>
                </a:solidFill>
                <a:latin typeface="+mn-lt"/>
                <a:ea typeface="+mn-ea"/>
                <a:cs typeface="+mn-cs"/>
              </a:rPr>
              <a:t>Types of tours and interpretive activities being proposed – including overview of inclusions, duration, cost/selling price</a:t>
            </a:r>
          </a:p>
          <a:p>
            <a:pPr lvl="2">
              <a:buFont typeface="Arial" pitchFamily="34" charset="0"/>
              <a:buChar char="•"/>
            </a:pPr>
            <a:r>
              <a:rPr lang="en-AU" sz="1200" kern="1200" dirty="0" smtClean="0">
                <a:solidFill>
                  <a:schemeClr val="tx1"/>
                </a:solidFill>
                <a:latin typeface="+mn-lt"/>
                <a:ea typeface="+mn-ea"/>
                <a:cs typeface="+mn-cs"/>
              </a:rPr>
              <a:t>Itineraries</a:t>
            </a:r>
          </a:p>
          <a:p>
            <a:pPr lvl="2">
              <a:buFont typeface="Arial" pitchFamily="34" charset="0"/>
              <a:buChar char="•"/>
            </a:pPr>
            <a:r>
              <a:rPr lang="en-AU" sz="1200" kern="1200" dirty="0" smtClean="0">
                <a:solidFill>
                  <a:schemeClr val="tx1"/>
                </a:solidFill>
                <a:latin typeface="+mn-lt"/>
                <a:ea typeface="+mn-ea"/>
                <a:cs typeface="+mn-cs"/>
              </a:rPr>
              <a:t>Tour schedules </a:t>
            </a:r>
          </a:p>
          <a:p>
            <a:pPr lvl="2">
              <a:buFont typeface="Arial" pitchFamily="34" charset="0"/>
              <a:buChar char="•"/>
            </a:pPr>
            <a:r>
              <a:rPr lang="en-AU" sz="1200" kern="1200" dirty="0" smtClean="0">
                <a:solidFill>
                  <a:schemeClr val="tx1"/>
                </a:solidFill>
                <a:latin typeface="+mn-lt"/>
                <a:ea typeface="+mn-ea"/>
                <a:cs typeface="+mn-cs"/>
              </a:rPr>
              <a:t>Predicted traffic and sales volume</a:t>
            </a:r>
          </a:p>
          <a:p>
            <a:pPr>
              <a:buFont typeface="Arial" pitchFamily="34" charset="0"/>
              <a:buNone/>
            </a:pPr>
            <a:endParaRPr lang="en-AU" b="1"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Tour Operator to attend and:</a:t>
            </a:r>
          </a:p>
          <a:p>
            <a:pPr>
              <a:buFont typeface="Arial" pitchFamily="34" charset="0"/>
              <a:buChar char="•"/>
            </a:pPr>
            <a:r>
              <a:rPr lang="en-AU" b="0" noProof="0" dirty="0" smtClean="0"/>
              <a:t>Discuss need for information sharing regarding new indigenous communities/cultures to be visited</a:t>
            </a:r>
          </a:p>
          <a:p>
            <a:pPr>
              <a:buFont typeface="Arial" pitchFamily="34" charset="0"/>
              <a:buChar char="•"/>
            </a:pPr>
            <a:r>
              <a:rPr lang="en-AU" b="0" noProof="0" dirty="0" smtClean="0"/>
              <a:t>Explain techniques to share information</a:t>
            </a:r>
          </a:p>
          <a:p>
            <a:pPr>
              <a:buFont typeface="Arial" pitchFamily="34" charset="0"/>
              <a:buChar char="•"/>
            </a:pPr>
            <a:r>
              <a:rPr lang="en-AU" b="0" noProof="0" dirty="0" smtClean="0"/>
              <a:t>Identify those who are involved in the process</a:t>
            </a:r>
          </a:p>
          <a:p>
            <a:pPr>
              <a:buFont typeface="Arial" pitchFamily="34" charset="0"/>
              <a:buChar char="•"/>
            </a:pPr>
            <a:r>
              <a:rPr lang="en-AU" b="0" noProof="0" dirty="0" smtClean="0"/>
              <a:t>Provide sample documentations/materials/resources used in the process.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9471239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reasons to share information with colleagues:</a:t>
            </a:r>
          </a:p>
          <a:p>
            <a:pPr>
              <a:buFont typeface="Arial" pitchFamily="34" charset="0"/>
              <a:buChar char="•"/>
            </a:pPr>
            <a:r>
              <a:rPr lang="en-AU" sz="1200" kern="1200" dirty="0" smtClean="0">
                <a:solidFill>
                  <a:schemeClr val="tx1"/>
                </a:solidFill>
                <a:latin typeface="+mn-lt"/>
                <a:ea typeface="+mn-ea"/>
                <a:cs typeface="+mn-cs"/>
              </a:rPr>
              <a:t>To explain relevant other matters – as they may relate to:</a:t>
            </a:r>
          </a:p>
          <a:p>
            <a:pPr lvl="1">
              <a:buFont typeface="Arial" pitchFamily="34" charset="0"/>
              <a:buChar char="•"/>
            </a:pPr>
            <a:r>
              <a:rPr lang="en-AU" sz="1200" kern="1200" dirty="0" smtClean="0">
                <a:solidFill>
                  <a:schemeClr val="tx1"/>
                </a:solidFill>
                <a:latin typeface="+mn-lt"/>
                <a:ea typeface="+mn-ea"/>
                <a:cs typeface="+mn-cs"/>
              </a:rPr>
              <a:t>Action already being taken by other Tour Operators</a:t>
            </a:r>
          </a:p>
          <a:p>
            <a:pPr lvl="1">
              <a:buFont typeface="Arial" pitchFamily="34" charset="0"/>
              <a:buChar char="•"/>
            </a:pPr>
            <a:r>
              <a:rPr lang="en-AU" sz="1200" kern="1200" dirty="0" smtClean="0">
                <a:solidFill>
                  <a:schemeClr val="tx1"/>
                </a:solidFill>
                <a:latin typeface="+mn-lt"/>
                <a:ea typeface="+mn-ea"/>
                <a:cs typeface="+mn-cs"/>
              </a:rPr>
              <a:t>Proposed actions of competitors</a:t>
            </a:r>
          </a:p>
          <a:p>
            <a:pPr lvl="1">
              <a:buFont typeface="Arial" pitchFamily="34" charset="0"/>
              <a:buChar char="•"/>
            </a:pPr>
            <a:r>
              <a:rPr lang="en-AU" sz="1200" kern="1200" dirty="0" smtClean="0">
                <a:solidFill>
                  <a:schemeClr val="tx1"/>
                </a:solidFill>
                <a:latin typeface="+mn-lt"/>
                <a:ea typeface="+mn-ea"/>
                <a:cs typeface="+mn-cs"/>
              </a:rPr>
              <a:t>Plans and schemes proposed or available through industry bodies and/or government agencies to support/promote tourism in the target destination/s</a:t>
            </a:r>
          </a:p>
          <a:p>
            <a:pPr>
              <a:buFont typeface="Arial" pitchFamily="34" charset="0"/>
              <a:buChar char="•"/>
            </a:pPr>
            <a:r>
              <a:rPr lang="en-AU" sz="1200" kern="1200" dirty="0" smtClean="0">
                <a:solidFill>
                  <a:schemeClr val="tx1"/>
                </a:solidFill>
                <a:latin typeface="+mn-lt"/>
                <a:ea typeface="+mn-ea"/>
                <a:cs typeface="+mn-cs"/>
              </a:rPr>
              <a:t>To make sure relevant others have full knowledge of all material gained – so these people can use the knowledge to:</a:t>
            </a:r>
          </a:p>
          <a:p>
            <a:pPr lvl="1">
              <a:buFont typeface="Arial" pitchFamily="34" charset="0"/>
              <a:buChar char="•"/>
            </a:pPr>
            <a:r>
              <a:rPr lang="en-AU" sz="1200" kern="1200" dirty="0" smtClean="0">
                <a:solidFill>
                  <a:schemeClr val="tx1"/>
                </a:solidFill>
                <a:latin typeface="+mn-lt"/>
                <a:ea typeface="+mn-ea"/>
                <a:cs typeface="+mn-cs"/>
              </a:rPr>
              <a:t>Conduct further research</a:t>
            </a:r>
          </a:p>
          <a:p>
            <a:pPr lvl="1">
              <a:buFont typeface="Arial" pitchFamily="34" charset="0"/>
              <a:buChar char="•"/>
            </a:pPr>
            <a:r>
              <a:rPr lang="en-AU" sz="1200" kern="1200" dirty="0" smtClean="0">
                <a:solidFill>
                  <a:schemeClr val="tx1"/>
                </a:solidFill>
                <a:latin typeface="+mn-lt"/>
                <a:ea typeface="+mn-ea"/>
                <a:cs typeface="+mn-cs"/>
              </a:rPr>
              <a:t>Develop tours and activities</a:t>
            </a:r>
          </a:p>
          <a:p>
            <a:pPr lvl="1">
              <a:buFont typeface="Arial" pitchFamily="34" charset="0"/>
              <a:buChar char="•"/>
            </a:pPr>
            <a:r>
              <a:rPr lang="en-AU" sz="1200" kern="1200" dirty="0" smtClean="0">
                <a:solidFill>
                  <a:schemeClr val="tx1"/>
                </a:solidFill>
                <a:latin typeface="+mn-lt"/>
                <a:ea typeface="+mn-ea"/>
                <a:cs typeface="+mn-cs"/>
              </a:rPr>
              <a:t>Create and produce promotional material</a:t>
            </a:r>
          </a:p>
          <a:p>
            <a:pPr lvl="1">
              <a:buFont typeface="Arial" pitchFamily="34" charset="0"/>
              <a:buChar char="•"/>
            </a:pPr>
            <a:r>
              <a:rPr lang="en-AU" sz="1200" kern="1200" dirty="0" smtClean="0">
                <a:solidFill>
                  <a:schemeClr val="tx1"/>
                </a:solidFill>
                <a:latin typeface="+mn-lt"/>
                <a:ea typeface="+mn-ea"/>
                <a:cs typeface="+mn-cs"/>
              </a:rPr>
              <a:t>Begin selling activities</a:t>
            </a:r>
          </a:p>
          <a:p>
            <a:pPr lvl="1">
              <a:buFont typeface="Arial" pitchFamily="34" charset="0"/>
              <a:buChar char="•"/>
            </a:pPr>
            <a:r>
              <a:rPr lang="en-AU" sz="1200" kern="1200" dirty="0" smtClean="0">
                <a:solidFill>
                  <a:schemeClr val="tx1"/>
                </a:solidFill>
                <a:latin typeface="+mn-lt"/>
                <a:ea typeface="+mn-ea"/>
                <a:cs typeface="+mn-cs"/>
              </a:rPr>
              <a:t>Generate handouts and scripts for commentaries</a:t>
            </a:r>
          </a:p>
          <a:p>
            <a:pPr>
              <a:buFont typeface="Arial" pitchFamily="34" charset="0"/>
              <a:buChar char="•"/>
            </a:pPr>
            <a:r>
              <a:rPr lang="en-AU" sz="1200" kern="1200" dirty="0" smtClean="0">
                <a:solidFill>
                  <a:schemeClr val="tx1"/>
                </a:solidFill>
                <a:latin typeface="+mn-lt"/>
                <a:ea typeface="+mn-ea"/>
                <a:cs typeface="+mn-cs"/>
              </a:rPr>
              <a:t>To foster a culture of sharing and consultation:</a:t>
            </a:r>
          </a:p>
          <a:p>
            <a:pPr lvl="1">
              <a:buFont typeface="Arial" pitchFamily="34" charset="0"/>
              <a:buChar char="•"/>
            </a:pPr>
            <a:r>
              <a:rPr lang="en-AU" sz="1200" kern="1200" dirty="0" smtClean="0">
                <a:solidFill>
                  <a:schemeClr val="tx1"/>
                </a:solidFill>
                <a:latin typeface="+mn-lt"/>
                <a:ea typeface="+mn-ea"/>
                <a:cs typeface="+mn-cs"/>
              </a:rPr>
              <a:t>Between staff</a:t>
            </a:r>
          </a:p>
          <a:p>
            <a:pPr lvl="1">
              <a:buFont typeface="Arial" pitchFamily="34" charset="0"/>
              <a:buChar char="•"/>
            </a:pPr>
            <a:r>
              <a:rPr lang="en-AU" sz="1200" kern="1200" dirty="0" smtClean="0">
                <a:solidFill>
                  <a:schemeClr val="tx1"/>
                </a:solidFill>
                <a:latin typeface="+mn-lt"/>
                <a:ea typeface="+mn-ea"/>
                <a:cs typeface="+mn-cs"/>
              </a:rPr>
              <a:t>Within the organisation</a:t>
            </a:r>
          </a:p>
          <a:p>
            <a:pPr lvl="1">
              <a:buFont typeface="Arial" pitchFamily="34" charset="0"/>
              <a:buChar char="•"/>
            </a:pPr>
            <a:r>
              <a:rPr lang="en-AU" sz="1200" kern="1200" dirty="0" smtClean="0">
                <a:solidFill>
                  <a:schemeClr val="tx1"/>
                </a:solidFill>
                <a:latin typeface="+mn-lt"/>
                <a:ea typeface="+mn-ea"/>
                <a:cs typeface="+mn-cs"/>
              </a:rPr>
              <a:t>Among joint-venture partners.</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2918397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strategies for </a:t>
            </a:r>
            <a:r>
              <a:rPr lang="en-AU" sz="1200" kern="1200" dirty="0" smtClean="0">
                <a:solidFill>
                  <a:schemeClr val="tx1"/>
                </a:solidFill>
                <a:latin typeface="+mn-lt"/>
                <a:ea typeface="+mn-ea"/>
                <a:cs typeface="+mn-cs"/>
              </a:rPr>
              <a:t>sharing information noting:</a:t>
            </a:r>
          </a:p>
          <a:p>
            <a:pPr>
              <a:buFont typeface="Arial" pitchFamily="34" charset="0"/>
              <a:buChar char="•"/>
            </a:pPr>
            <a:r>
              <a:rPr lang="en-AU" sz="1200" kern="1200" dirty="0" smtClean="0">
                <a:solidFill>
                  <a:schemeClr val="tx1"/>
                </a:solidFill>
                <a:latin typeface="+mn-lt"/>
                <a:ea typeface="+mn-ea"/>
                <a:cs typeface="+mn-cs"/>
              </a:rPr>
              <a:t>The process commonly take two forms:</a:t>
            </a:r>
          </a:p>
          <a:p>
            <a:pPr lvl="1">
              <a:buFont typeface="Arial" pitchFamily="34" charset="0"/>
              <a:buChar char="•"/>
            </a:pPr>
            <a:r>
              <a:rPr lang="en-AU" sz="1200" kern="1200" dirty="0" smtClean="0">
                <a:solidFill>
                  <a:schemeClr val="tx1"/>
                </a:solidFill>
                <a:latin typeface="+mn-lt"/>
                <a:ea typeface="+mn-ea"/>
                <a:cs typeface="+mn-cs"/>
              </a:rPr>
              <a:t>Internal (on-the-job) communication</a:t>
            </a:r>
          </a:p>
          <a:p>
            <a:pPr lvl="1">
              <a:buFont typeface="Arial" pitchFamily="34" charset="0"/>
              <a:buChar char="•"/>
            </a:pPr>
            <a:r>
              <a:rPr lang="en-AU" sz="1200" kern="1200" dirty="0" smtClean="0">
                <a:solidFill>
                  <a:schemeClr val="tx1"/>
                </a:solidFill>
                <a:latin typeface="+mn-lt"/>
                <a:ea typeface="+mn-ea"/>
                <a:cs typeface="+mn-cs"/>
              </a:rPr>
              <a:t>External (‘in country’) communication.</a:t>
            </a:r>
          </a:p>
          <a:p>
            <a:pPr>
              <a:buFont typeface="Arial" pitchFamily="34" charset="0"/>
              <a:buChar char="•"/>
            </a:pPr>
            <a:r>
              <a:rPr lang="en-AU" sz="1200" kern="1200" dirty="0" smtClean="0">
                <a:solidFill>
                  <a:schemeClr val="tx1"/>
                </a:solidFill>
                <a:latin typeface="+mn-lt"/>
                <a:ea typeface="+mn-ea"/>
                <a:cs typeface="+mn-cs"/>
              </a:rPr>
              <a:t>Some strategies listed below can be used in both/either form – for example, meeting with and talking to community members/representatives could take place ‘in the office’ or in their community.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2237115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internal communication highlighting this </a:t>
            </a:r>
            <a:r>
              <a:rPr lang="en-AU" sz="1200" kern="1200" dirty="0" smtClean="0">
                <a:solidFill>
                  <a:schemeClr val="tx1"/>
                </a:solidFill>
                <a:latin typeface="+mn-lt"/>
                <a:ea typeface="+mn-ea"/>
                <a:cs typeface="+mn-cs"/>
              </a:rPr>
              <a:t>sharing of information generally:</a:t>
            </a:r>
          </a:p>
          <a:p>
            <a:pPr>
              <a:buFont typeface="Arial" pitchFamily="34" charset="0"/>
              <a:buChar char="•"/>
            </a:pPr>
            <a:r>
              <a:rPr lang="en-AU" sz="1200" kern="1200" dirty="0" smtClean="0">
                <a:solidFill>
                  <a:schemeClr val="tx1"/>
                </a:solidFill>
                <a:latin typeface="+mn-lt"/>
                <a:ea typeface="+mn-ea"/>
                <a:cs typeface="+mn-cs"/>
              </a:rPr>
              <a:t>Precedes external communication</a:t>
            </a:r>
          </a:p>
          <a:p>
            <a:pPr>
              <a:buFont typeface="Arial" pitchFamily="34" charset="0"/>
              <a:buChar char="•"/>
            </a:pPr>
            <a:r>
              <a:rPr lang="en-AU" sz="1200" kern="1200" dirty="0" smtClean="0">
                <a:solidFill>
                  <a:schemeClr val="tx1"/>
                </a:solidFill>
                <a:latin typeface="+mn-lt"/>
                <a:ea typeface="+mn-ea"/>
                <a:cs typeface="+mn-cs"/>
              </a:rPr>
              <a:t>Involves everyone involved with promotion, sales, guiding and operational matters.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794617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strategies for internal sharing/communication:</a:t>
            </a:r>
          </a:p>
          <a:p>
            <a:pPr>
              <a:buFont typeface="Arial" pitchFamily="34" charset="0"/>
              <a:buChar char="•"/>
            </a:pPr>
            <a:r>
              <a:rPr lang="en-AU" sz="1200" kern="1200" dirty="0" smtClean="0">
                <a:solidFill>
                  <a:schemeClr val="tx1"/>
                </a:solidFill>
                <a:latin typeface="+mn-lt"/>
                <a:ea typeface="+mn-ea"/>
                <a:cs typeface="+mn-cs"/>
              </a:rPr>
              <a:t>Scheduling communication sessions – which entails:</a:t>
            </a:r>
          </a:p>
          <a:p>
            <a:pPr lvl="1">
              <a:buFont typeface="Arial" pitchFamily="34" charset="0"/>
              <a:buChar char="•"/>
            </a:pPr>
            <a:r>
              <a:rPr lang="en-AU" sz="1200" kern="1200" dirty="0" smtClean="0">
                <a:solidFill>
                  <a:schemeClr val="tx1"/>
                </a:solidFill>
                <a:latin typeface="+mn-lt"/>
                <a:ea typeface="+mn-ea"/>
                <a:cs typeface="+mn-cs"/>
              </a:rPr>
              <a:t>Determining suitable dates and times for the sessions</a:t>
            </a:r>
          </a:p>
          <a:p>
            <a:pPr lvl="1">
              <a:buFont typeface="Arial" pitchFamily="34" charset="0"/>
              <a:buChar char="•"/>
            </a:pPr>
            <a:r>
              <a:rPr lang="en-AU" sz="1200" kern="1200" dirty="0" smtClean="0">
                <a:solidFill>
                  <a:schemeClr val="tx1"/>
                </a:solidFill>
                <a:latin typeface="+mn-lt"/>
                <a:ea typeface="+mn-ea"/>
                <a:cs typeface="+mn-cs"/>
              </a:rPr>
              <a:t>Arranging support resources for the presentation – such as catering and technologies required to use (for example) PowerPoint presentations, video playback and to play sound recordings </a:t>
            </a:r>
          </a:p>
          <a:p>
            <a:pPr lvl="1">
              <a:buFont typeface="Arial" pitchFamily="34" charset="0"/>
              <a:buChar char="•"/>
            </a:pPr>
            <a:r>
              <a:rPr lang="en-AU" sz="1200" kern="1200" dirty="0" smtClean="0">
                <a:solidFill>
                  <a:schemeClr val="tx1"/>
                </a:solidFill>
                <a:latin typeface="+mn-lt"/>
                <a:ea typeface="+mn-ea"/>
                <a:cs typeface="+mn-cs"/>
              </a:rPr>
              <a:t>Sending invitations to those who should attend</a:t>
            </a:r>
          </a:p>
          <a:p>
            <a:pPr lvl="1">
              <a:buFont typeface="Arial" pitchFamily="34" charset="0"/>
              <a:buChar char="•"/>
            </a:pPr>
            <a:r>
              <a:rPr lang="en-AU" sz="1200" kern="1200" dirty="0" smtClean="0">
                <a:solidFill>
                  <a:schemeClr val="tx1"/>
                </a:solidFill>
                <a:latin typeface="+mn-lt"/>
                <a:ea typeface="+mn-ea"/>
                <a:cs typeface="+mn-cs"/>
              </a:rPr>
              <a:t>Arranging for back-filling of staff who need to attend information sessions</a:t>
            </a:r>
          </a:p>
          <a:p>
            <a:pPr lvl="1">
              <a:buFont typeface="Arial" pitchFamily="34" charset="0"/>
              <a:buChar char="•"/>
            </a:pPr>
            <a:r>
              <a:rPr lang="en-AU" sz="1200" kern="1200" dirty="0" smtClean="0">
                <a:solidFill>
                  <a:schemeClr val="tx1"/>
                </a:solidFill>
                <a:latin typeface="+mn-lt"/>
                <a:ea typeface="+mn-ea"/>
                <a:cs typeface="+mn-cs"/>
              </a:rPr>
              <a:t>Monitoring attendance at the sessions</a:t>
            </a:r>
          </a:p>
          <a:p>
            <a:pPr lvl="1">
              <a:buFont typeface="Arial" pitchFamily="34" charset="0"/>
              <a:buChar char="•"/>
            </a:pPr>
            <a:r>
              <a:rPr lang="en-AU" sz="1200" kern="1200" dirty="0" smtClean="0">
                <a:solidFill>
                  <a:schemeClr val="tx1"/>
                </a:solidFill>
                <a:latin typeface="+mn-lt"/>
                <a:ea typeface="+mn-ea"/>
                <a:cs typeface="+mn-cs"/>
              </a:rPr>
              <a:t>Conducting extra sessions as/if required and following-up with those who were unable to attend</a:t>
            </a:r>
          </a:p>
          <a:p>
            <a:pPr>
              <a:buFont typeface="Arial" pitchFamily="34" charset="0"/>
              <a:buChar char="•"/>
            </a:pPr>
            <a:r>
              <a:rPr lang="en-AU" sz="1200" kern="1200" dirty="0" smtClean="0">
                <a:solidFill>
                  <a:schemeClr val="tx1"/>
                </a:solidFill>
                <a:latin typeface="+mn-lt"/>
                <a:ea typeface="+mn-ea"/>
                <a:cs typeface="+mn-cs"/>
              </a:rPr>
              <a:t>Planning the session – in terms of</a:t>
            </a:r>
          </a:p>
          <a:p>
            <a:pPr lvl="1">
              <a:buFont typeface="Arial" pitchFamily="34" charset="0"/>
              <a:buChar char="•"/>
            </a:pPr>
            <a:r>
              <a:rPr lang="en-AU" sz="1200" kern="1200" dirty="0" smtClean="0">
                <a:solidFill>
                  <a:schemeClr val="tx1"/>
                </a:solidFill>
                <a:latin typeface="+mn-lt"/>
                <a:ea typeface="+mn-ea"/>
                <a:cs typeface="+mn-cs"/>
              </a:rPr>
              <a:t>What to say/present – this is the content of the presentation/details of the information which will be provided.</a:t>
            </a:r>
          </a:p>
          <a:p>
            <a:pPr lvl="1">
              <a:buFont typeface="Arial" pitchFamily="34" charset="0"/>
              <a:buChar char="•"/>
            </a:pPr>
            <a:r>
              <a:rPr lang="en-AU" sz="1200" kern="1200" dirty="0" smtClean="0">
                <a:solidFill>
                  <a:schemeClr val="tx1"/>
                </a:solidFill>
                <a:latin typeface="+mn-lt"/>
                <a:ea typeface="+mn-ea"/>
                <a:cs typeface="+mn-cs"/>
              </a:rPr>
              <a:t>Sequence of presentation – the order in which material will be delivered</a:t>
            </a:r>
          </a:p>
          <a:p>
            <a:pPr lvl="1">
              <a:buFont typeface="Arial" pitchFamily="34" charset="0"/>
              <a:buChar char="•"/>
            </a:pPr>
            <a:r>
              <a:rPr lang="en-AU" sz="1200" kern="1200" dirty="0" smtClean="0">
                <a:solidFill>
                  <a:schemeClr val="tx1"/>
                </a:solidFill>
                <a:latin typeface="+mn-lt"/>
                <a:ea typeface="+mn-ea"/>
                <a:cs typeface="+mn-cs"/>
              </a:rPr>
              <a:t>Duration and timing issues – regarding:</a:t>
            </a:r>
          </a:p>
          <a:p>
            <a:pPr lvl="2">
              <a:buFont typeface="Arial" pitchFamily="34" charset="0"/>
              <a:buChar char="•"/>
            </a:pPr>
            <a:r>
              <a:rPr lang="en-AU" sz="1200" kern="1200" dirty="0" smtClean="0">
                <a:solidFill>
                  <a:schemeClr val="tx1"/>
                </a:solidFill>
                <a:latin typeface="+mn-lt"/>
                <a:ea typeface="+mn-ea"/>
                <a:cs typeface="+mn-cs"/>
              </a:rPr>
              <a:t>Starting and finishing time</a:t>
            </a:r>
          </a:p>
          <a:p>
            <a:pPr lvl="2">
              <a:buFont typeface="Arial" pitchFamily="34" charset="0"/>
              <a:buChar char="•"/>
            </a:pPr>
            <a:r>
              <a:rPr lang="en-AU" sz="1200" kern="1200" dirty="0" smtClean="0">
                <a:solidFill>
                  <a:schemeClr val="tx1"/>
                </a:solidFill>
                <a:latin typeface="+mn-lt"/>
                <a:ea typeface="+mn-ea"/>
                <a:cs typeface="+mn-cs"/>
              </a:rPr>
              <a:t>Time for each portion of the session</a:t>
            </a:r>
          </a:p>
          <a:p>
            <a:pPr lvl="2">
              <a:buFont typeface="Arial" pitchFamily="34" charset="0"/>
              <a:buChar char="•"/>
            </a:pPr>
            <a:r>
              <a:rPr lang="en-AU" sz="1200" kern="1200" dirty="0" smtClean="0">
                <a:solidFill>
                  <a:schemeClr val="tx1"/>
                </a:solidFill>
                <a:latin typeface="+mn-lt"/>
                <a:ea typeface="+mn-ea"/>
                <a:cs typeface="+mn-cs"/>
              </a:rPr>
              <a:t>Allowance for a Q&amp;A session</a:t>
            </a:r>
          </a:p>
          <a:p>
            <a:pPr lvl="1">
              <a:buFont typeface="Arial" pitchFamily="34" charset="0"/>
              <a:buChar char="•"/>
            </a:pPr>
            <a:r>
              <a:rPr lang="en-AU" sz="1200" kern="1200" dirty="0" smtClean="0">
                <a:solidFill>
                  <a:schemeClr val="tx1"/>
                </a:solidFill>
                <a:latin typeface="+mn-lt"/>
                <a:ea typeface="+mn-ea"/>
                <a:cs typeface="+mn-cs"/>
              </a:rPr>
              <a:t>Form of presentation – with common options being:</a:t>
            </a:r>
          </a:p>
          <a:p>
            <a:pPr lvl="2">
              <a:buFont typeface="Arial" pitchFamily="34" charset="0"/>
              <a:buChar char="•"/>
            </a:pPr>
            <a:r>
              <a:rPr lang="en-AU" sz="1200" kern="1200" dirty="0" smtClean="0">
                <a:solidFill>
                  <a:schemeClr val="tx1"/>
                </a:solidFill>
                <a:latin typeface="+mn-lt"/>
                <a:ea typeface="+mn-ea"/>
                <a:cs typeface="+mn-cs"/>
              </a:rPr>
              <a:t>Verbal presentations; Handouts; Slides, overheads and PowerPoint shows; Video and audio recordings</a:t>
            </a:r>
          </a:p>
          <a:p>
            <a:pPr lvl="2">
              <a:buFont typeface="Arial" pitchFamily="34" charset="0"/>
              <a:buChar char="•"/>
            </a:pPr>
            <a:r>
              <a:rPr lang="en-AU" sz="1200" kern="1200" dirty="0" smtClean="0">
                <a:solidFill>
                  <a:schemeClr val="tx1"/>
                </a:solidFill>
                <a:latin typeface="+mn-lt"/>
                <a:ea typeface="+mn-ea"/>
                <a:cs typeface="+mn-cs"/>
              </a:rPr>
              <a:t>Guest speakers </a:t>
            </a:r>
          </a:p>
          <a:p>
            <a:pPr lvl="0">
              <a:buFont typeface="Arial" pitchFamily="34" charset="0"/>
              <a:buNone/>
            </a:pPr>
            <a:endParaRPr lang="en-AU" b="1" noProof="0" dirty="0" smtClean="0"/>
          </a:p>
          <a:p>
            <a:pPr lvl="0">
              <a:buFont typeface="Arial" pitchFamily="34" charset="0"/>
              <a:buNone/>
            </a:pPr>
            <a:r>
              <a:rPr lang="en-AU" b="1" noProof="0" dirty="0" smtClean="0"/>
              <a:t>Classroom Activity – Individual Exercise</a:t>
            </a:r>
          </a:p>
          <a:p>
            <a:pPr lvl="0">
              <a:buFont typeface="Arial" pitchFamily="34" charset="0"/>
              <a:buNone/>
            </a:pPr>
            <a:r>
              <a:rPr lang="en-AU" b="0" noProof="0" dirty="0" smtClean="0"/>
              <a:t>Trainer asks students to identify a community/culture they want to share information about and then undertake supervised preparation of a presentation session which will have a final outcome of them actually presenting the session to the rest of the class</a:t>
            </a:r>
            <a:r>
              <a:rPr lang="en-AU" b="0" baseline="0" noProof="0" dirty="0" smtClean="0"/>
              <a:t> – Trainer to  assist as required</a:t>
            </a:r>
            <a:r>
              <a:rPr lang="en-AU" b="0" noProof="0" dirty="0" smtClean="0"/>
              <a: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8944997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strategies for internal sharing/communication:</a:t>
            </a:r>
          </a:p>
          <a:p>
            <a:pPr>
              <a:buFont typeface="Arial" pitchFamily="34" charset="0"/>
              <a:buChar char="•"/>
            </a:pPr>
            <a:r>
              <a:rPr lang="en-AU" sz="1200" kern="1200" dirty="0" smtClean="0">
                <a:solidFill>
                  <a:schemeClr val="tx1"/>
                </a:solidFill>
                <a:latin typeface="+mn-lt"/>
                <a:ea typeface="+mn-ea"/>
                <a:cs typeface="+mn-cs"/>
              </a:rPr>
              <a:t>Developing the range of materials to be used during the session – which must always address:</a:t>
            </a:r>
          </a:p>
          <a:p>
            <a:pPr lvl="1">
              <a:buFont typeface="Arial" pitchFamily="34" charset="0"/>
              <a:buChar char="•"/>
            </a:pPr>
            <a:r>
              <a:rPr lang="en-AU" sz="1200" kern="1200" dirty="0" smtClean="0">
                <a:solidFill>
                  <a:schemeClr val="tx1"/>
                </a:solidFill>
                <a:latin typeface="+mn-lt"/>
                <a:ea typeface="+mn-ea"/>
                <a:cs typeface="+mn-cs"/>
              </a:rPr>
              <a:t>The needs of the presenter – to use during/as part of the presentation</a:t>
            </a:r>
          </a:p>
          <a:p>
            <a:pPr lvl="1">
              <a:buFont typeface="Arial" pitchFamily="34" charset="0"/>
              <a:buChar char="•"/>
            </a:pPr>
            <a:r>
              <a:rPr lang="en-AU" sz="1200" kern="1200" dirty="0" smtClean="0">
                <a:solidFill>
                  <a:schemeClr val="tx1"/>
                </a:solidFill>
                <a:latin typeface="+mn-lt"/>
                <a:ea typeface="+mn-ea"/>
                <a:cs typeface="+mn-cs"/>
              </a:rPr>
              <a:t>Materials to be distributed to those who attend. In practice these materials may need to include:</a:t>
            </a:r>
          </a:p>
          <a:p>
            <a:pPr lvl="2">
              <a:buFont typeface="Arial" pitchFamily="34" charset="0"/>
              <a:buChar char="•"/>
            </a:pPr>
            <a:r>
              <a:rPr lang="en-AU" sz="1200" kern="1200" dirty="0" smtClean="0">
                <a:solidFill>
                  <a:schemeClr val="tx1"/>
                </a:solidFill>
                <a:latin typeface="+mn-lt"/>
                <a:ea typeface="+mn-ea"/>
                <a:cs typeface="+mn-cs"/>
              </a:rPr>
              <a:t>Slides, Overhead projection sheets/transparencies, PowerPoint slides, Handouts (such as: Statistics, Photographs, Fact/Information sheets, Contact names and numbers, Copies of reports, Examples of promotional material/s from other Tour Operators relating to the community being targetted)</a:t>
            </a:r>
          </a:p>
          <a:p>
            <a:pPr lvl="2">
              <a:buFont typeface="Arial" pitchFamily="34" charset="0"/>
              <a:buChar char="•"/>
            </a:pPr>
            <a:r>
              <a:rPr lang="en-AU" sz="1200" kern="1200" dirty="0" smtClean="0">
                <a:solidFill>
                  <a:schemeClr val="tx1"/>
                </a:solidFill>
                <a:latin typeface="+mn-lt"/>
                <a:ea typeface="+mn-ea"/>
                <a:cs typeface="+mn-cs"/>
              </a:rPr>
              <a:t>Video and audio recordings</a:t>
            </a:r>
          </a:p>
          <a:p>
            <a:pPr lvl="0">
              <a:buFont typeface="Arial" pitchFamily="34" charset="0"/>
              <a:buNone/>
            </a:pPr>
            <a:endParaRPr lang="en-AU" noProof="0" dirty="0" smtClean="0"/>
          </a:p>
          <a:p>
            <a:pPr lvl="0">
              <a:buFont typeface="Arial" pitchFamily="34" charset="0"/>
              <a:buNone/>
            </a:pPr>
            <a:r>
              <a:rPr lang="en-AU" b="1" noProof="0" dirty="0" smtClean="0"/>
              <a:t>Classroom Activity – Individual Exercise</a:t>
            </a:r>
          </a:p>
          <a:p>
            <a:pPr lvl="0">
              <a:buFont typeface="Arial" pitchFamily="34" charset="0"/>
              <a:buNone/>
            </a:pPr>
            <a:r>
              <a:rPr lang="en-AU" b="0" noProof="0" dirty="0" smtClean="0"/>
              <a:t>Trainer asks students to produce necessary materials and resources to support/enable their presentation of the internal information session they are preparing</a:t>
            </a:r>
            <a:r>
              <a:rPr lang="en-AU" b="0" baseline="0" noProof="0" dirty="0" smtClean="0"/>
              <a:t> – Trainer to  assist as required</a:t>
            </a:r>
            <a:r>
              <a:rPr lang="en-AU" b="0" noProof="0" dirty="0" smtClean="0"/>
              <a:t>.</a:t>
            </a:r>
          </a:p>
          <a:p>
            <a:pPr lvl="0">
              <a:buFont typeface="Arial" pitchFamily="34" charset="0"/>
              <a:buNone/>
            </a:pPr>
            <a:endParaRPr lang="en-AU" b="0" noProof="0" dirty="0" smtClean="0"/>
          </a:p>
          <a:p>
            <a:pPr lvl="0">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301869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strategies for internal sharing/communication:</a:t>
            </a:r>
          </a:p>
          <a:p>
            <a:pPr>
              <a:buFont typeface="Arial" pitchFamily="34" charset="0"/>
              <a:buChar char="•"/>
            </a:pPr>
            <a:r>
              <a:rPr lang="en-AU" sz="1200" kern="1200" dirty="0" smtClean="0">
                <a:solidFill>
                  <a:schemeClr val="tx1"/>
                </a:solidFill>
                <a:latin typeface="+mn-lt"/>
                <a:ea typeface="+mn-ea"/>
                <a:cs typeface="+mn-cs"/>
              </a:rPr>
              <a:t>Conducting the session – which will traditionally include:</a:t>
            </a:r>
          </a:p>
          <a:p>
            <a:pPr lvl="1">
              <a:buFont typeface="Arial" pitchFamily="34" charset="0"/>
              <a:buChar char="•"/>
            </a:pPr>
            <a:r>
              <a:rPr lang="en-AU" sz="1200" kern="1200" dirty="0" smtClean="0">
                <a:solidFill>
                  <a:schemeClr val="tx1"/>
                </a:solidFill>
                <a:latin typeface="+mn-lt"/>
                <a:ea typeface="+mn-ea"/>
                <a:cs typeface="+mn-cs"/>
              </a:rPr>
              <a:t>Welcoming the colleagues and thanking them for attending</a:t>
            </a:r>
          </a:p>
          <a:p>
            <a:pPr lvl="1">
              <a:buFont typeface="Arial" pitchFamily="34" charset="0"/>
              <a:buChar char="•"/>
            </a:pPr>
            <a:r>
              <a:rPr lang="en-AU" sz="1200" kern="1200" dirty="0" smtClean="0">
                <a:solidFill>
                  <a:schemeClr val="tx1"/>
                </a:solidFill>
                <a:latin typeface="+mn-lt"/>
                <a:ea typeface="+mn-ea"/>
                <a:cs typeface="+mn-cs"/>
              </a:rPr>
              <a:t>Explaining reason for the session</a:t>
            </a:r>
          </a:p>
          <a:p>
            <a:pPr lvl="1">
              <a:buFont typeface="Arial" pitchFamily="34" charset="0"/>
              <a:buChar char="•"/>
            </a:pPr>
            <a:r>
              <a:rPr lang="en-AU" sz="1200" kern="1200" dirty="0" smtClean="0">
                <a:solidFill>
                  <a:schemeClr val="tx1"/>
                </a:solidFill>
                <a:latin typeface="+mn-lt"/>
                <a:ea typeface="+mn-ea"/>
                <a:cs typeface="+mn-cs"/>
              </a:rPr>
              <a:t>Following the plan for the session – which may involve: </a:t>
            </a:r>
          </a:p>
          <a:p>
            <a:pPr lvl="2">
              <a:buFont typeface="Arial" pitchFamily="34" charset="0"/>
              <a:buChar char="•"/>
            </a:pPr>
            <a:r>
              <a:rPr lang="en-AU" sz="1200" kern="1200" dirty="0" smtClean="0">
                <a:solidFill>
                  <a:schemeClr val="tx1"/>
                </a:solidFill>
                <a:latin typeface="+mn-lt"/>
                <a:ea typeface="+mn-ea"/>
                <a:cs typeface="+mn-cs"/>
              </a:rPr>
              <a:t>Passing on general, background information on the culture/community</a:t>
            </a:r>
          </a:p>
          <a:p>
            <a:pPr lvl="2">
              <a:buFont typeface="Arial" pitchFamily="34" charset="0"/>
              <a:buChar char="•"/>
            </a:pPr>
            <a:r>
              <a:rPr lang="en-AU" sz="1200" kern="1200" dirty="0" smtClean="0">
                <a:solidFill>
                  <a:schemeClr val="tx1"/>
                </a:solidFill>
                <a:latin typeface="+mn-lt"/>
                <a:ea typeface="+mn-ea"/>
                <a:cs typeface="+mn-cs"/>
              </a:rPr>
              <a:t>Communicating specific information gathered on the topics of interest to the Tour Operator</a:t>
            </a:r>
          </a:p>
          <a:p>
            <a:pPr lvl="2">
              <a:buFont typeface="Arial" pitchFamily="34" charset="0"/>
              <a:buChar char="•"/>
            </a:pPr>
            <a:r>
              <a:rPr lang="en-AU" sz="1200" kern="1200" dirty="0" smtClean="0">
                <a:solidFill>
                  <a:schemeClr val="tx1"/>
                </a:solidFill>
                <a:latin typeface="+mn-lt"/>
                <a:ea typeface="+mn-ea"/>
                <a:cs typeface="+mn-cs"/>
              </a:rPr>
              <a:t>Explaining aspects of culture/community/country relevant to Tour Operator plans, proposals and intentions</a:t>
            </a:r>
          </a:p>
          <a:p>
            <a:pPr lvl="2">
              <a:buFont typeface="Arial" pitchFamily="34" charset="0"/>
              <a:buChar char="•"/>
            </a:pPr>
            <a:r>
              <a:rPr lang="en-AU" sz="1200" kern="1200" dirty="0" smtClean="0">
                <a:solidFill>
                  <a:schemeClr val="tx1"/>
                </a:solidFill>
                <a:latin typeface="+mn-lt"/>
                <a:ea typeface="+mn-ea"/>
                <a:cs typeface="+mn-cs"/>
              </a:rPr>
              <a:t>Providing demonstrations to assist understanding</a:t>
            </a:r>
          </a:p>
          <a:p>
            <a:pPr lvl="2">
              <a:buFont typeface="Arial" pitchFamily="34" charset="0"/>
              <a:buChar char="•"/>
            </a:pPr>
            <a:r>
              <a:rPr lang="en-AU" sz="1200" kern="1200" dirty="0" smtClean="0">
                <a:solidFill>
                  <a:schemeClr val="tx1"/>
                </a:solidFill>
                <a:latin typeface="+mn-lt"/>
                <a:ea typeface="+mn-ea"/>
                <a:cs typeface="+mn-cs"/>
              </a:rPr>
              <a:t>Describing proposed interpretive activities</a:t>
            </a:r>
          </a:p>
          <a:p>
            <a:pPr lvl="2">
              <a:buFont typeface="Arial" pitchFamily="34" charset="0"/>
              <a:buChar char="•"/>
            </a:pPr>
            <a:r>
              <a:rPr lang="en-AU" sz="1200" kern="1200" dirty="0" smtClean="0">
                <a:solidFill>
                  <a:schemeClr val="tx1"/>
                </a:solidFill>
                <a:latin typeface="+mn-lt"/>
                <a:ea typeface="+mn-ea"/>
                <a:cs typeface="+mn-cs"/>
              </a:rPr>
              <a:t>Listing sites and destinations for visitation</a:t>
            </a:r>
          </a:p>
          <a:p>
            <a:pPr lvl="2">
              <a:buFont typeface="Arial" pitchFamily="34" charset="0"/>
              <a:buChar char="•"/>
            </a:pPr>
            <a:r>
              <a:rPr lang="en-AU" sz="1200" kern="1200" dirty="0" smtClean="0">
                <a:solidFill>
                  <a:schemeClr val="tx1"/>
                </a:solidFill>
                <a:latin typeface="+mn-lt"/>
                <a:ea typeface="+mn-ea"/>
                <a:cs typeface="+mn-cs"/>
              </a:rPr>
              <a:t>Noting tours and activities already being conducted into the destination by other Tour Operators</a:t>
            </a:r>
          </a:p>
          <a:p>
            <a:pPr lvl="2">
              <a:buFont typeface="Arial" pitchFamily="34" charset="0"/>
              <a:buChar char="•"/>
            </a:pPr>
            <a:r>
              <a:rPr lang="en-AU" sz="1200" kern="1200" dirty="0" smtClean="0">
                <a:solidFill>
                  <a:schemeClr val="tx1"/>
                </a:solidFill>
                <a:latin typeface="+mn-lt"/>
                <a:ea typeface="+mn-ea"/>
                <a:cs typeface="+mn-cs"/>
              </a:rPr>
              <a:t>Identifying incentives (from other operators, government agencies) to support engagement with community</a:t>
            </a:r>
          </a:p>
          <a:p>
            <a:pPr lvl="2">
              <a:buFont typeface="Arial" pitchFamily="34" charset="0"/>
              <a:buChar char="•"/>
            </a:pPr>
            <a:r>
              <a:rPr lang="en-AU" sz="1200" kern="1200" dirty="0" smtClean="0">
                <a:solidFill>
                  <a:schemeClr val="tx1"/>
                </a:solidFill>
                <a:latin typeface="+mn-lt"/>
                <a:ea typeface="+mn-ea"/>
                <a:cs typeface="+mn-cs"/>
              </a:rPr>
              <a:t>Explaining what (if anything) the community requires in exchange for their cooperation</a:t>
            </a:r>
          </a:p>
          <a:p>
            <a:pPr lvl="2">
              <a:buFont typeface="Arial" pitchFamily="34" charset="0"/>
              <a:buChar char="•"/>
            </a:pPr>
            <a:r>
              <a:rPr lang="en-AU" sz="1200" kern="1200" dirty="0" smtClean="0">
                <a:solidFill>
                  <a:schemeClr val="tx1"/>
                </a:solidFill>
                <a:latin typeface="+mn-lt"/>
                <a:ea typeface="+mn-ea"/>
                <a:cs typeface="+mn-cs"/>
              </a:rPr>
              <a:t>Advising colleagues about what can and what cannot be shared with others – and indicating other restrictions which have already been identified at this stage of discussions/negotiations.</a:t>
            </a:r>
          </a:p>
          <a:p>
            <a:pPr>
              <a:buFont typeface="Arial" pitchFamily="34" charset="0"/>
              <a:buNone/>
            </a:pPr>
            <a:endParaRPr lang="en-AU" noProof="0" dirty="0" smtClean="0"/>
          </a:p>
          <a:p>
            <a:pPr lvl="0">
              <a:buFont typeface="Arial" pitchFamily="34" charset="0"/>
              <a:buNone/>
            </a:pPr>
            <a:r>
              <a:rPr lang="en-AU" b="1" noProof="0" dirty="0" smtClean="0"/>
              <a:t>Classroom Activity – Individual Exercise</a:t>
            </a:r>
          </a:p>
          <a:p>
            <a:pPr lvl="0">
              <a:buFont typeface="Arial" pitchFamily="34" charset="0"/>
              <a:buNone/>
            </a:pPr>
            <a:r>
              <a:rPr lang="en-AU" b="0" noProof="0" dirty="0" smtClean="0"/>
              <a:t>Trainer asks students to deliver the  information sharing presentation they have been preparing as part of the last two Classroom Activities</a:t>
            </a:r>
            <a:r>
              <a:rPr lang="en-AU" b="0" baseline="0" noProof="0" dirty="0" smtClean="0"/>
              <a:t> – Trainer to provide constructive comment and feedback</a:t>
            </a:r>
            <a:r>
              <a:rPr lang="en-AU" b="0" noProof="0" dirty="0" smtClean="0"/>
              <a: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25330499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the external component of </a:t>
            </a:r>
            <a:r>
              <a:rPr lang="en-AU" sz="1200" kern="1200" dirty="0" smtClean="0">
                <a:solidFill>
                  <a:schemeClr val="tx1"/>
                </a:solidFill>
                <a:latin typeface="+mn-lt"/>
                <a:ea typeface="+mn-ea"/>
                <a:cs typeface="+mn-cs"/>
              </a:rPr>
              <a:t>sharing information observing it generally:</a:t>
            </a:r>
          </a:p>
          <a:p>
            <a:pPr>
              <a:buFont typeface="Arial" pitchFamily="34" charset="0"/>
              <a:buChar char="•"/>
            </a:pPr>
            <a:r>
              <a:rPr lang="en-AU" sz="1200" kern="1200" dirty="0" smtClean="0">
                <a:solidFill>
                  <a:schemeClr val="tx1"/>
                </a:solidFill>
                <a:latin typeface="+mn-lt"/>
                <a:ea typeface="+mn-ea"/>
                <a:cs typeface="+mn-cs"/>
              </a:rPr>
              <a:t>Follows initial external communication</a:t>
            </a:r>
          </a:p>
          <a:p>
            <a:pPr>
              <a:buFont typeface="Arial" pitchFamily="34" charset="0"/>
              <a:buChar char="•"/>
            </a:pPr>
            <a:r>
              <a:rPr lang="en-AU" sz="1200" kern="1200" dirty="0" smtClean="0">
                <a:solidFill>
                  <a:schemeClr val="tx1"/>
                </a:solidFill>
                <a:latin typeface="+mn-lt"/>
                <a:ea typeface="+mn-ea"/>
                <a:cs typeface="+mn-cs"/>
              </a:rPr>
              <a:t>Involves fewer people than the internal notification – this means this aspect of communication may be limited to:</a:t>
            </a:r>
          </a:p>
          <a:p>
            <a:pPr lvl="1">
              <a:buFont typeface="Arial" pitchFamily="34" charset="0"/>
              <a:buChar char="•"/>
            </a:pPr>
            <a:r>
              <a:rPr lang="en-AU" sz="1200" kern="1200" dirty="0" smtClean="0">
                <a:solidFill>
                  <a:schemeClr val="tx1"/>
                </a:solidFill>
                <a:latin typeface="+mn-lt"/>
                <a:ea typeface="+mn-ea"/>
                <a:cs typeface="+mn-cs"/>
              </a:rPr>
              <a:t>Tour Guides who will be leading tours into the destination</a:t>
            </a:r>
          </a:p>
          <a:p>
            <a:pPr lvl="1">
              <a:buFont typeface="Arial" pitchFamily="34" charset="0"/>
              <a:buChar char="•"/>
            </a:pPr>
            <a:r>
              <a:rPr lang="en-AU" sz="1200" kern="1200" dirty="0" smtClean="0">
                <a:solidFill>
                  <a:schemeClr val="tx1"/>
                </a:solidFill>
                <a:latin typeface="+mn-lt"/>
                <a:ea typeface="+mn-ea"/>
                <a:cs typeface="+mn-cs"/>
              </a:rPr>
              <a:t>Staff who will be involved n conducting on-site interpretive activities</a:t>
            </a:r>
          </a:p>
          <a:p>
            <a:pPr lvl="1">
              <a:buFont typeface="Arial" pitchFamily="34" charset="0"/>
              <a:buChar char="•"/>
            </a:pPr>
            <a:r>
              <a:rPr lang="en-AU" sz="1200" kern="1200" dirty="0" smtClean="0">
                <a:solidFill>
                  <a:schemeClr val="tx1"/>
                </a:solidFill>
                <a:latin typeface="+mn-lt"/>
                <a:ea typeface="+mn-ea"/>
                <a:cs typeface="+mn-cs"/>
              </a:rPr>
              <a:t>Key sales and advertising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41094833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strategies for external sharing/communication:</a:t>
            </a:r>
          </a:p>
          <a:p>
            <a:pPr>
              <a:buFont typeface="Arial" pitchFamily="34" charset="0"/>
              <a:buChar char="•"/>
            </a:pPr>
            <a:r>
              <a:rPr lang="en-AU" sz="1200" kern="1200" dirty="0" smtClean="0">
                <a:solidFill>
                  <a:schemeClr val="tx1"/>
                </a:solidFill>
                <a:latin typeface="+mn-lt"/>
                <a:ea typeface="+mn-ea"/>
                <a:cs typeface="+mn-cs"/>
              </a:rPr>
              <a:t>Determining persons who are to attend – commonly selecting from:</a:t>
            </a:r>
          </a:p>
          <a:p>
            <a:pPr lvl="1">
              <a:buFont typeface="Arial" pitchFamily="34" charset="0"/>
              <a:buChar char="•"/>
            </a:pPr>
            <a:r>
              <a:rPr lang="en-US" sz="1200" kern="1200" dirty="0" smtClean="0">
                <a:solidFill>
                  <a:schemeClr val="tx1"/>
                </a:solidFill>
                <a:latin typeface="+mn-lt"/>
                <a:ea typeface="+mn-ea"/>
                <a:cs typeface="+mn-cs"/>
              </a:rPr>
              <a:t>Staff within the Tour Operator business (as identified immediately above)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Personnel from joint-venture partners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Media outlets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Government (tourism-related) agencies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Requesting permission from the community to visit them and introduce nominated staff – this is an </a:t>
            </a:r>
            <a:r>
              <a:rPr lang="en-AU" sz="1200" i="1" kern="1200" dirty="0" smtClean="0">
                <a:solidFill>
                  <a:schemeClr val="tx1"/>
                </a:solidFill>
                <a:latin typeface="+mn-lt"/>
                <a:ea typeface="+mn-ea"/>
                <a:cs typeface="+mn-cs"/>
              </a:rPr>
              <a:t>essential</a:t>
            </a:r>
            <a:r>
              <a:rPr lang="en-AU" sz="1200" kern="1200" dirty="0" smtClean="0">
                <a:solidFill>
                  <a:schemeClr val="tx1"/>
                </a:solidFill>
                <a:latin typeface="+mn-lt"/>
                <a:ea typeface="+mn-ea"/>
                <a:cs typeface="+mn-cs"/>
              </a:rPr>
              <a:t> element which must be undertaken in order to:</a:t>
            </a:r>
          </a:p>
          <a:p>
            <a:pPr lvl="1">
              <a:buFont typeface="Arial" pitchFamily="34" charset="0"/>
              <a:buChar char="•"/>
            </a:pPr>
            <a:r>
              <a:rPr lang="en-US" sz="1200" kern="1200" dirty="0" smtClean="0">
                <a:solidFill>
                  <a:schemeClr val="tx1"/>
                </a:solidFill>
                <a:latin typeface="+mn-lt"/>
                <a:ea typeface="+mn-ea"/>
                <a:cs typeface="+mn-cs"/>
              </a:rPr>
              <a:t>Demonstrate respect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Form the basis for all future contact/s with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Further develop the relationship which has already been started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Prove the community is acknowledged, recognised and valued – and not taken for granted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Advise community of what the visit seeks to achieve and what personnel want to do, see and who they wish to talk to</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7216666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strategies for external sharing/communication:</a:t>
            </a:r>
          </a:p>
          <a:p>
            <a:pPr>
              <a:buFont typeface="Arial" pitchFamily="34" charset="0"/>
              <a:buChar char="•"/>
            </a:pPr>
            <a:r>
              <a:rPr lang="en-AU" sz="1200" kern="1200" dirty="0" smtClean="0">
                <a:solidFill>
                  <a:schemeClr val="tx1"/>
                </a:solidFill>
                <a:latin typeface="+mn-lt"/>
                <a:ea typeface="+mn-ea"/>
                <a:cs typeface="+mn-cs"/>
              </a:rPr>
              <a:t>Arranging necessary travel arrangements – which might necessitate:</a:t>
            </a:r>
          </a:p>
          <a:p>
            <a:pPr lvl="1">
              <a:buFont typeface="Arial" pitchFamily="34" charset="0"/>
              <a:buChar char="•"/>
            </a:pPr>
            <a:r>
              <a:rPr lang="en-US" sz="1200" kern="1200" dirty="0" smtClean="0">
                <a:solidFill>
                  <a:schemeClr val="tx1"/>
                </a:solidFill>
                <a:latin typeface="+mn-lt"/>
                <a:ea typeface="+mn-ea"/>
                <a:cs typeface="+mn-cs"/>
              </a:rPr>
              <a:t>Organising tickets and/or transport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Determining accommodation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Identifying dates and times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Confirming arrangements with target destination/community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Visiting the community – which will require:</a:t>
            </a:r>
          </a:p>
          <a:p>
            <a:pPr lvl="1">
              <a:buFont typeface="Arial" pitchFamily="34" charset="0"/>
              <a:buChar char="•"/>
            </a:pPr>
            <a:r>
              <a:rPr lang="en-US" sz="1200" kern="1200" dirty="0" smtClean="0">
                <a:solidFill>
                  <a:schemeClr val="tx1"/>
                </a:solidFill>
                <a:latin typeface="+mn-lt"/>
                <a:ea typeface="+mn-ea"/>
                <a:cs typeface="+mn-cs"/>
              </a:rPr>
              <a:t>Observing local/previously identified protocols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introducing colleagues to local communities and designated people (elders, community leaders)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Engaging in talks and meetings with local people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Touring the area/community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Viewing sites and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Describing proposed tours and activities within their actual context/location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Capturing additional information, photographs and ‘missing’ data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Identifying new tour-related opportunities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Conducting model tours and interpretive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Discussing potential impact of tours/activities on the community identifying options for mitigating same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Repeating/confirming Tour Operator intention of working collaboratively with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Thanking the community.</a:t>
            </a:r>
            <a:endParaRPr lang="en-AU" sz="1200" kern="1200" dirty="0" smtClean="0">
              <a:solidFill>
                <a:schemeClr val="tx1"/>
              </a:solidFill>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2261804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and discusses possible positive issues often associated with tourism in indigenous communities:</a:t>
            </a:r>
          </a:p>
          <a:p>
            <a:pPr>
              <a:buFont typeface="Arial" pitchFamily="34" charset="0"/>
              <a:buChar char="•"/>
            </a:pPr>
            <a:r>
              <a:rPr lang="en-AU" sz="1200" kern="1200" dirty="0" smtClean="0">
                <a:solidFill>
                  <a:schemeClr val="tx1"/>
                </a:solidFill>
                <a:latin typeface="+mn-lt"/>
                <a:ea typeface="+mn-ea"/>
                <a:cs typeface="+mn-cs"/>
              </a:rPr>
              <a:t>Growth of existing businesses</a:t>
            </a:r>
          </a:p>
          <a:p>
            <a:pPr>
              <a:buFont typeface="Arial" pitchFamily="34" charset="0"/>
              <a:buChar char="•"/>
            </a:pPr>
            <a:r>
              <a:rPr lang="en-AU" sz="1200" kern="1200" dirty="0" smtClean="0">
                <a:solidFill>
                  <a:schemeClr val="tx1"/>
                </a:solidFill>
                <a:latin typeface="+mn-lt"/>
                <a:ea typeface="+mn-ea"/>
                <a:cs typeface="+mn-cs"/>
              </a:rPr>
              <a:t>Development of new businesses</a:t>
            </a:r>
          </a:p>
          <a:p>
            <a:pPr>
              <a:buFont typeface="Arial" pitchFamily="34" charset="0"/>
              <a:buChar char="•"/>
            </a:pPr>
            <a:r>
              <a:rPr lang="en-AU" sz="1200" kern="1200" dirty="0" smtClean="0">
                <a:solidFill>
                  <a:schemeClr val="tx1"/>
                </a:solidFill>
                <a:latin typeface="+mn-lt"/>
                <a:ea typeface="+mn-ea"/>
                <a:cs typeface="+mn-cs"/>
              </a:rPr>
              <a:t>More jobs and employment opportunities</a:t>
            </a:r>
          </a:p>
          <a:p>
            <a:pPr>
              <a:buFont typeface="Arial" pitchFamily="34" charset="0"/>
              <a:buChar char="•"/>
            </a:pPr>
            <a:r>
              <a:rPr lang="en-AU" sz="1200" kern="1200" dirty="0" smtClean="0">
                <a:solidFill>
                  <a:schemeClr val="tx1"/>
                </a:solidFill>
                <a:latin typeface="+mn-lt"/>
                <a:ea typeface="+mn-ea"/>
                <a:cs typeface="+mn-cs"/>
              </a:rPr>
              <a:t>A more sustainable economy</a:t>
            </a:r>
          </a:p>
          <a:p>
            <a:pPr>
              <a:buFont typeface="Arial" pitchFamily="34" charset="0"/>
              <a:buChar char="•"/>
            </a:pPr>
            <a:r>
              <a:rPr lang="en-AU" sz="1200" kern="1200" dirty="0" smtClean="0">
                <a:solidFill>
                  <a:schemeClr val="tx1"/>
                </a:solidFill>
                <a:latin typeface="+mn-lt"/>
                <a:ea typeface="+mn-ea"/>
                <a:cs typeface="+mn-cs"/>
              </a:rPr>
              <a:t>Improved quality of life for people/families flowing from employment, economic growth and stability</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r>
              <a:rPr lang="en-AU" sz="1200" u="sng" kern="1200" dirty="0" smtClean="0">
                <a:solidFill>
                  <a:schemeClr val="tx1"/>
                </a:solidFill>
                <a:latin typeface="+mn-lt"/>
                <a:ea typeface="+mn-ea"/>
                <a:cs typeface="+mn-cs"/>
                <a:hlinkClick r:id="rId3"/>
              </a:rPr>
              <a:t>http://green.hotelscombined.com/Rtg-Benefits-of-Tourism.php</a:t>
            </a:r>
            <a:r>
              <a:rPr lang="en-AU" sz="1200" kern="1200" dirty="0" smtClean="0">
                <a:solidFill>
                  <a:schemeClr val="tx1"/>
                </a:solidFill>
                <a:latin typeface="+mn-lt"/>
                <a:ea typeface="+mn-ea"/>
                <a:cs typeface="+mn-cs"/>
              </a:rPr>
              <a:t> - Benefits of tourism</a:t>
            </a:r>
          </a:p>
          <a:p>
            <a:r>
              <a:rPr lang="en-AU" sz="1200" u="sng" kern="1200" dirty="0" smtClean="0">
                <a:solidFill>
                  <a:schemeClr val="tx1"/>
                </a:solidFill>
                <a:latin typeface="+mn-lt"/>
                <a:ea typeface="+mn-ea"/>
                <a:cs typeface="+mn-cs"/>
                <a:hlinkClick r:id="rId4"/>
              </a:rPr>
              <a:t>http://sanctuaries.noaa.gov/management/pdfs/Day5_H2_BenefitsThreats.pdf</a:t>
            </a:r>
            <a:r>
              <a:rPr lang="en-AU" sz="1200" kern="1200" dirty="0" smtClean="0">
                <a:solidFill>
                  <a:schemeClr val="tx1"/>
                </a:solidFill>
                <a:latin typeface="+mn-lt"/>
                <a:ea typeface="+mn-ea"/>
                <a:cs typeface="+mn-cs"/>
              </a:rPr>
              <a:t> - Some benefits for local communities; some threats for local communities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7423964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and discussing possible positive issues:</a:t>
            </a:r>
          </a:p>
          <a:p>
            <a:pPr>
              <a:buFont typeface="Arial" pitchFamily="34" charset="0"/>
              <a:buChar char="•"/>
            </a:pPr>
            <a:r>
              <a:rPr lang="en-AU" sz="1200" kern="1200" dirty="0" smtClean="0">
                <a:solidFill>
                  <a:schemeClr val="tx1"/>
                </a:solidFill>
                <a:latin typeface="+mn-lt"/>
                <a:ea typeface="+mn-ea"/>
                <a:cs typeface="+mn-cs"/>
              </a:rPr>
              <a:t>Greater investment in local infrastructure and public transport systems from governments </a:t>
            </a:r>
          </a:p>
          <a:p>
            <a:pPr>
              <a:buFont typeface="Arial" pitchFamily="34" charset="0"/>
              <a:buChar char="•"/>
            </a:pPr>
            <a:r>
              <a:rPr lang="en-AU" sz="1200" kern="1200" dirty="0" smtClean="0">
                <a:solidFill>
                  <a:schemeClr val="tx1"/>
                </a:solidFill>
                <a:latin typeface="+mn-lt"/>
                <a:ea typeface="+mn-ea"/>
                <a:cs typeface="+mn-cs"/>
              </a:rPr>
              <a:t>Maintenance, growth and improvement in local facilities</a:t>
            </a:r>
          </a:p>
          <a:p>
            <a:pPr>
              <a:buFont typeface="Arial" pitchFamily="34" charset="0"/>
              <a:buChar char="•"/>
            </a:pPr>
            <a:r>
              <a:rPr lang="en-AU" sz="1200" kern="1200" dirty="0" smtClean="0">
                <a:solidFill>
                  <a:schemeClr val="tx1"/>
                </a:solidFill>
                <a:latin typeface="+mn-lt"/>
                <a:ea typeface="+mn-ea"/>
                <a:cs typeface="+mn-cs"/>
              </a:rPr>
              <a:t>Cultural empowerment and increased sense of pride as locals become ambassadors for tourism in their region</a:t>
            </a:r>
          </a:p>
          <a:p>
            <a:pPr>
              <a:buFont typeface="Arial" pitchFamily="34" charset="0"/>
              <a:buChar char="•"/>
            </a:pPr>
            <a:r>
              <a:rPr lang="en-AU" sz="1200" kern="1200" dirty="0" smtClean="0">
                <a:solidFill>
                  <a:schemeClr val="tx1"/>
                </a:solidFill>
                <a:latin typeface="+mn-lt"/>
                <a:ea typeface="+mn-ea"/>
                <a:cs typeface="+mn-cs"/>
              </a:rPr>
              <a:t>Tax revenue for governments</a:t>
            </a:r>
          </a:p>
          <a:p>
            <a:pPr>
              <a:buFont typeface="Arial" pitchFamily="34" charset="0"/>
              <a:buChar char="•"/>
            </a:pPr>
            <a:r>
              <a:rPr lang="en-AU" sz="1200" kern="1200" dirty="0" smtClean="0">
                <a:solidFill>
                  <a:schemeClr val="tx1"/>
                </a:solidFill>
                <a:latin typeface="+mn-lt"/>
                <a:ea typeface="+mn-ea"/>
                <a:cs typeface="+mn-cs"/>
              </a:rPr>
              <a:t>Enhanced public/international awareness of the country/location</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http://www.tourisme.gouv.qc.ca/activites/symposium-developpement-durable/presentations/17-C-15h20-2-Richard-Butler.pdf</a:t>
            </a:r>
            <a:r>
              <a:rPr lang="en-AU" sz="1200" kern="1200" dirty="0" smtClean="0">
                <a:solidFill>
                  <a:schemeClr val="tx1"/>
                </a:solidFill>
                <a:latin typeface="+mn-lt"/>
                <a:ea typeface="+mn-ea"/>
                <a:cs typeface="+mn-cs"/>
              </a:rPr>
              <a:t> - Benefits to communities of sustainable tourism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9784528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and discussing possible positive issues:</a:t>
            </a:r>
          </a:p>
          <a:p>
            <a:pPr>
              <a:buFont typeface="Arial" pitchFamily="34" charset="0"/>
              <a:buChar char="•"/>
            </a:pPr>
            <a:r>
              <a:rPr lang="en-AU" sz="1200" kern="1200" dirty="0" smtClean="0">
                <a:solidFill>
                  <a:schemeClr val="tx1"/>
                </a:solidFill>
                <a:latin typeface="+mn-lt"/>
                <a:ea typeface="+mn-ea"/>
                <a:cs typeface="+mn-cs"/>
              </a:rPr>
              <a:t>Economic diversification and general economic benefits to the local community</a:t>
            </a:r>
          </a:p>
          <a:p>
            <a:pPr>
              <a:buFont typeface="Arial" pitchFamily="34" charset="0"/>
              <a:buChar char="•"/>
            </a:pPr>
            <a:r>
              <a:rPr lang="en-AU" sz="1200" kern="1200" dirty="0" smtClean="0">
                <a:solidFill>
                  <a:schemeClr val="tx1"/>
                </a:solidFill>
                <a:latin typeface="+mn-lt"/>
                <a:ea typeface="+mn-ea"/>
                <a:cs typeface="+mn-cs"/>
              </a:rPr>
              <a:t>Opportunity to share the culture and educate visitors</a:t>
            </a:r>
          </a:p>
          <a:p>
            <a:pPr>
              <a:buFont typeface="Arial" pitchFamily="34" charset="0"/>
              <a:buChar char="•"/>
            </a:pPr>
            <a:r>
              <a:rPr lang="en-AU" sz="1200" kern="1200" dirty="0" smtClean="0">
                <a:solidFill>
                  <a:schemeClr val="tx1"/>
                </a:solidFill>
                <a:latin typeface="+mn-lt"/>
                <a:ea typeface="+mn-ea"/>
                <a:cs typeface="+mn-cs"/>
              </a:rPr>
              <a:t>Investment opportunities from the private sector in relation to businesses, real estate, and infrastructure</a:t>
            </a:r>
          </a:p>
          <a:p>
            <a:pPr>
              <a:buFont typeface="Arial" pitchFamily="34" charset="0"/>
              <a:buChar char="•"/>
            </a:pPr>
            <a:r>
              <a:rPr lang="en-AU" sz="1200" kern="1200" dirty="0" smtClean="0">
                <a:solidFill>
                  <a:schemeClr val="tx1"/>
                </a:solidFill>
                <a:latin typeface="+mn-lt"/>
                <a:ea typeface="+mn-ea"/>
                <a:cs typeface="+mn-cs"/>
              </a:rPr>
              <a:t>Improved health and training facilities</a:t>
            </a:r>
          </a:p>
          <a:p>
            <a:pPr>
              <a:buFont typeface="Arial" pitchFamily="34" charset="0"/>
              <a:buChar char="•"/>
            </a:pPr>
            <a:r>
              <a:rPr lang="en-AU" sz="1200" kern="1200" dirty="0" smtClean="0">
                <a:solidFill>
                  <a:schemeClr val="tx1"/>
                </a:solidFill>
                <a:latin typeface="+mn-lt"/>
                <a:ea typeface="+mn-ea"/>
                <a:cs typeface="+mn-cs"/>
              </a:rPr>
              <a:t>Opportunity to enhance preservation of endangered or threatened aspects of the local culture, customs and community</a:t>
            </a:r>
          </a:p>
          <a:p>
            <a:pPr>
              <a:buFont typeface="Arial" pitchFamily="34" charset="0"/>
              <a:buChar char="•"/>
            </a:pPr>
            <a:r>
              <a:rPr lang="en-AU" sz="1200" kern="1200" dirty="0" smtClean="0">
                <a:solidFill>
                  <a:schemeClr val="tx1"/>
                </a:solidFill>
                <a:latin typeface="+mn-lt"/>
                <a:ea typeface="+mn-ea"/>
                <a:cs typeface="+mn-cs"/>
              </a:rPr>
              <a:t>Opportunity to make the wider community aware of the problems facing the community.</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http://www.academia.edu/5237947/ASEAN_Tourism_Policy_and_Planning</a:t>
            </a:r>
            <a:r>
              <a:rPr lang="en-AU" sz="1200" kern="1200" dirty="0" smtClean="0">
                <a:solidFill>
                  <a:schemeClr val="tx1"/>
                </a:solidFill>
                <a:latin typeface="+mn-lt"/>
                <a:ea typeface="+mn-ea"/>
                <a:cs typeface="+mn-cs"/>
              </a:rPr>
              <a:t> - ASEAN tourism planning and policy</a:t>
            </a: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3767634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and discusses possible negative issues often associated with tourism in indigenous communities:</a:t>
            </a:r>
          </a:p>
          <a:p>
            <a:pPr>
              <a:buFont typeface="Arial" pitchFamily="34" charset="0"/>
              <a:buChar char="•"/>
            </a:pPr>
            <a:r>
              <a:rPr lang="en-AU" sz="1200" kern="1200" dirty="0" smtClean="0">
                <a:solidFill>
                  <a:schemeClr val="tx1"/>
                </a:solidFill>
                <a:latin typeface="+mn-lt"/>
                <a:ea typeface="+mn-ea"/>
                <a:cs typeface="+mn-cs"/>
              </a:rPr>
              <a:t>Impact of tourism on the social fabric of society</a:t>
            </a:r>
          </a:p>
          <a:p>
            <a:pPr>
              <a:buFont typeface="Arial" pitchFamily="34" charset="0"/>
              <a:buChar char="•"/>
            </a:pPr>
            <a:r>
              <a:rPr lang="en-AU" sz="1200" kern="1200" dirty="0" smtClean="0">
                <a:solidFill>
                  <a:schemeClr val="tx1"/>
                </a:solidFill>
                <a:latin typeface="+mn-lt"/>
                <a:ea typeface="+mn-ea"/>
                <a:cs typeface="+mn-cs"/>
              </a:rPr>
              <a:t>Child protection and child sex trade concerns</a:t>
            </a:r>
          </a:p>
          <a:p>
            <a:pPr>
              <a:buFont typeface="Arial" pitchFamily="34" charset="0"/>
              <a:buChar char="•"/>
            </a:pPr>
            <a:r>
              <a:rPr lang="en-AU" sz="1200" kern="1200" dirty="0" smtClean="0">
                <a:solidFill>
                  <a:schemeClr val="tx1"/>
                </a:solidFill>
                <a:latin typeface="+mn-lt"/>
                <a:ea typeface="+mn-ea"/>
                <a:cs typeface="+mn-cs"/>
              </a:rPr>
              <a:t>A fear regarding prostitution and other crimes</a:t>
            </a:r>
          </a:p>
          <a:p>
            <a:pPr>
              <a:buFont typeface="Arial" pitchFamily="34" charset="0"/>
              <a:buChar char="•"/>
            </a:pPr>
            <a:r>
              <a:rPr lang="en-AU" sz="1200" kern="1200" dirty="0" smtClean="0">
                <a:solidFill>
                  <a:schemeClr val="tx1"/>
                </a:solidFill>
                <a:latin typeface="+mn-lt"/>
                <a:ea typeface="+mn-ea"/>
                <a:cs typeface="+mn-cs"/>
              </a:rPr>
              <a:t>Trivialisation and/or dilution of the culture</a:t>
            </a:r>
          </a:p>
          <a:p>
            <a:pPr>
              <a:buFont typeface="Arial" pitchFamily="34" charset="0"/>
              <a:buChar char="•"/>
            </a:pPr>
            <a:r>
              <a:rPr lang="en-AU" sz="1200" kern="1200" dirty="0" smtClean="0">
                <a:solidFill>
                  <a:schemeClr val="tx1"/>
                </a:solidFill>
                <a:latin typeface="+mn-lt"/>
                <a:ea typeface="+mn-ea"/>
                <a:cs typeface="+mn-cs"/>
              </a:rPr>
              <a:t>Lack of local workers to fill the jobs which are generated</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http://www3.weforum.org/docs/WEF_TTCR_ASEAN_ExecutiveSummary_2012.pdf</a:t>
            </a:r>
            <a:r>
              <a:rPr lang="en-AU" sz="1200" kern="1200" dirty="0" smtClean="0">
                <a:solidFill>
                  <a:schemeClr val="tx1"/>
                </a:solidFill>
                <a:latin typeface="+mn-lt"/>
                <a:ea typeface="+mn-ea"/>
                <a:cs typeface="+mn-cs"/>
              </a:rPr>
              <a:t> - The ASEAN Travel and Tourism Competitiveness Report 2012</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0688419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and discussing possible negative issues:</a:t>
            </a:r>
          </a:p>
          <a:p>
            <a:pPr>
              <a:buFont typeface="Arial" pitchFamily="34" charset="0"/>
              <a:buChar char="•"/>
            </a:pPr>
            <a:r>
              <a:rPr lang="en-AU" sz="1200" kern="1200" dirty="0" smtClean="0">
                <a:solidFill>
                  <a:schemeClr val="tx1"/>
                </a:solidFill>
                <a:latin typeface="+mn-lt"/>
                <a:ea typeface="+mn-ea"/>
                <a:cs typeface="+mn-cs"/>
              </a:rPr>
              <a:t>Provision only of menial and low-paid jobs</a:t>
            </a:r>
          </a:p>
          <a:p>
            <a:pPr>
              <a:buFont typeface="Arial" pitchFamily="34" charset="0"/>
              <a:buChar char="•"/>
            </a:pPr>
            <a:r>
              <a:rPr lang="en-AU" sz="1200" kern="1200" dirty="0" smtClean="0">
                <a:solidFill>
                  <a:schemeClr val="tx1"/>
                </a:solidFill>
                <a:latin typeface="+mn-lt"/>
                <a:ea typeface="+mn-ea"/>
                <a:cs typeface="+mn-cs"/>
              </a:rPr>
              <a:t>Seasonal employment only (in some areas)</a:t>
            </a:r>
          </a:p>
          <a:p>
            <a:pPr>
              <a:buFont typeface="Arial" pitchFamily="34" charset="0"/>
              <a:buChar char="•"/>
            </a:pPr>
            <a:r>
              <a:rPr lang="en-AU" sz="1200" kern="1200" dirty="0" smtClean="0">
                <a:solidFill>
                  <a:schemeClr val="tx1"/>
                </a:solidFill>
                <a:latin typeface="+mn-lt"/>
                <a:ea typeface="+mn-ea"/>
                <a:cs typeface="+mn-cs"/>
              </a:rPr>
              <a:t>Loss of a sense of community within the area</a:t>
            </a:r>
          </a:p>
          <a:p>
            <a:pPr>
              <a:buFont typeface="Arial" pitchFamily="34" charset="0"/>
              <a:buChar char="•"/>
            </a:pPr>
            <a:r>
              <a:rPr lang="en-AU" sz="1200" kern="1200" dirty="0" smtClean="0">
                <a:solidFill>
                  <a:schemeClr val="tx1"/>
                </a:solidFill>
                <a:latin typeface="+mn-lt"/>
                <a:ea typeface="+mn-ea"/>
                <a:cs typeface="+mn-cs"/>
              </a:rPr>
              <a:t>Ultimate dependency on tourism and consequent need to accommodate whatever is required regardless of the consequences </a:t>
            </a:r>
          </a:p>
          <a:p>
            <a:pPr>
              <a:buFont typeface="Arial" pitchFamily="34" charset="0"/>
              <a:buChar char="•"/>
            </a:pPr>
            <a:r>
              <a:rPr lang="en-AU" sz="1200" kern="1200" dirty="0" smtClean="0">
                <a:solidFill>
                  <a:schemeClr val="tx1"/>
                </a:solidFill>
                <a:latin typeface="+mn-lt"/>
                <a:ea typeface="+mn-ea"/>
                <a:cs typeface="+mn-cs"/>
              </a:rPr>
              <a:t>Damage to the land and environment including additional pollution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2844306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and discussing possible negative issues:</a:t>
            </a:r>
          </a:p>
          <a:p>
            <a:pPr>
              <a:buFont typeface="Arial" pitchFamily="34" charset="0"/>
              <a:buChar char="•"/>
            </a:pPr>
            <a:r>
              <a:rPr lang="en-AU" sz="1200" kern="1200" dirty="0" smtClean="0">
                <a:solidFill>
                  <a:schemeClr val="tx1"/>
                </a:solidFill>
                <a:latin typeface="+mn-lt"/>
                <a:ea typeface="+mn-ea"/>
                <a:cs typeface="+mn-cs"/>
              </a:rPr>
              <a:t>Money leaving the area because businesses are owned by external operators </a:t>
            </a:r>
          </a:p>
          <a:p>
            <a:pPr>
              <a:buFont typeface="Arial" pitchFamily="34" charset="0"/>
              <a:buChar char="•"/>
            </a:pPr>
            <a:r>
              <a:rPr lang="en-AU" sz="1200" kern="1200" dirty="0" smtClean="0">
                <a:solidFill>
                  <a:schemeClr val="tx1"/>
                </a:solidFill>
                <a:latin typeface="+mn-lt"/>
                <a:ea typeface="+mn-ea"/>
                <a:cs typeface="+mn-cs"/>
              </a:rPr>
              <a:t>Unacceptable level of use of/stress on community resources by tourists to the detriment of the local community – over-crowding and (traffic) congestion</a:t>
            </a:r>
          </a:p>
          <a:p>
            <a:pPr>
              <a:buFont typeface="Arial" pitchFamily="34" charset="0"/>
              <a:buChar char="•"/>
            </a:pPr>
            <a:r>
              <a:rPr lang="en-AU" sz="1200" kern="1200" dirty="0" smtClean="0">
                <a:solidFill>
                  <a:schemeClr val="tx1"/>
                </a:solidFill>
                <a:latin typeface="+mn-lt"/>
                <a:ea typeface="+mn-ea"/>
                <a:cs typeface="+mn-cs"/>
              </a:rPr>
              <a:t>Over-development resulting in decreased amenity of the area</a:t>
            </a:r>
          </a:p>
          <a:p>
            <a:pPr>
              <a:buFont typeface="Arial" pitchFamily="34" charset="0"/>
              <a:buChar char="•"/>
            </a:pPr>
            <a:r>
              <a:rPr lang="en-AU" sz="1200" kern="1200" dirty="0" smtClean="0">
                <a:solidFill>
                  <a:schemeClr val="tx1"/>
                </a:solidFill>
                <a:latin typeface="+mn-lt"/>
                <a:ea typeface="+mn-ea"/>
                <a:cs typeface="+mn-cs"/>
              </a:rPr>
              <a:t>Increased living costs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0469051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and discussing possible negative issues:</a:t>
            </a:r>
          </a:p>
          <a:p>
            <a:pPr>
              <a:buFont typeface="Arial" pitchFamily="34" charset="0"/>
              <a:buChar char="•"/>
            </a:pPr>
            <a:r>
              <a:rPr lang="en-AU" sz="1200" kern="1200" dirty="0" smtClean="0">
                <a:solidFill>
                  <a:schemeClr val="tx1"/>
                </a:solidFill>
                <a:latin typeface="+mn-lt"/>
                <a:ea typeface="+mn-ea"/>
                <a:cs typeface="+mn-cs"/>
              </a:rPr>
              <a:t>Unwanted intervention by tourists in normal everyday activities</a:t>
            </a:r>
          </a:p>
          <a:p>
            <a:pPr>
              <a:buFont typeface="Arial" pitchFamily="34" charset="0"/>
              <a:buChar char="•"/>
            </a:pPr>
            <a:r>
              <a:rPr lang="en-AU" sz="1200" kern="1200" dirty="0" smtClean="0">
                <a:solidFill>
                  <a:schemeClr val="tx1"/>
                </a:solidFill>
                <a:latin typeface="+mn-lt"/>
                <a:ea typeface="+mn-ea"/>
                <a:cs typeface="+mn-cs"/>
              </a:rPr>
              <a:t>Control of the local area may move (more) to external people, businesses or authorities</a:t>
            </a:r>
          </a:p>
          <a:p>
            <a:pPr>
              <a:buFont typeface="Arial" pitchFamily="34" charset="0"/>
              <a:buChar char="•"/>
            </a:pPr>
            <a:r>
              <a:rPr lang="en-AU" sz="1200" kern="1200" dirty="0" smtClean="0">
                <a:solidFill>
                  <a:schemeClr val="tx1"/>
                </a:solidFill>
                <a:latin typeface="+mn-lt"/>
                <a:ea typeface="+mn-ea"/>
                <a:cs typeface="+mn-cs"/>
              </a:rPr>
              <a:t>Cultural change – as tourism negatively impacts/influences the lives of the locals.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http://www.tourismkm-asean.org/wp-content/pdf/impact_of_fta/unwto_report_on_asean_tourism_integration.pdf</a:t>
            </a:r>
            <a:r>
              <a:rPr lang="en-AU" sz="1200" kern="1200" dirty="0" smtClean="0">
                <a:solidFill>
                  <a:schemeClr val="tx1"/>
                </a:solidFill>
                <a:latin typeface="+mn-lt"/>
                <a:ea typeface="+mn-ea"/>
                <a:cs typeface="+mn-cs"/>
              </a:rPr>
              <a:t> - ASEAN integration and its impact on tourism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3654948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t>
            </a:r>
            <a:r>
              <a:rPr lang="en-AU" sz="1200" kern="1200" dirty="0" smtClean="0">
                <a:solidFill>
                  <a:schemeClr val="tx1"/>
                </a:solidFill>
                <a:latin typeface="+mn-lt"/>
                <a:ea typeface="+mn-ea"/>
                <a:cs typeface="+mn-cs"/>
              </a:rPr>
              <a:t>‘engagement’ of indigenous people for tour-related activities observing:</a:t>
            </a:r>
          </a:p>
          <a:p>
            <a:pPr>
              <a:buFont typeface="Arial" pitchFamily="34" charset="0"/>
              <a:buChar char="•"/>
            </a:pPr>
            <a:r>
              <a:rPr lang="en-AU" sz="1200" kern="1200" dirty="0" smtClean="0">
                <a:solidFill>
                  <a:schemeClr val="tx1"/>
                </a:solidFill>
                <a:latin typeface="+mn-lt"/>
                <a:ea typeface="+mn-ea"/>
                <a:cs typeface="+mn-cs"/>
              </a:rPr>
              <a:t>This means ‘paying them to deliver part of the prepared tour program’.</a:t>
            </a:r>
          </a:p>
          <a:p>
            <a:pPr>
              <a:buFont typeface="Arial" pitchFamily="34" charset="0"/>
              <a:buChar char="•"/>
            </a:pPr>
            <a:r>
              <a:rPr lang="en-AU" sz="1200" kern="1200" dirty="0" smtClean="0">
                <a:solidFill>
                  <a:schemeClr val="tx1"/>
                </a:solidFill>
                <a:latin typeface="+mn-lt"/>
                <a:ea typeface="+mn-ea"/>
                <a:cs typeface="+mn-cs"/>
              </a:rPr>
              <a:t>The details of payment needs to:</a:t>
            </a:r>
          </a:p>
          <a:p>
            <a:pPr lvl="1">
              <a:buFont typeface="Arial" pitchFamily="34" charset="0"/>
              <a:buChar char="•"/>
            </a:pPr>
            <a:r>
              <a:rPr lang="en-AU" sz="1200" kern="1200" dirty="0" smtClean="0">
                <a:solidFill>
                  <a:schemeClr val="tx1"/>
                </a:solidFill>
                <a:latin typeface="+mn-lt"/>
                <a:ea typeface="+mn-ea"/>
                <a:cs typeface="+mn-cs"/>
              </a:rPr>
              <a:t>Be negotiated with them – as opposed to being imposed on</a:t>
            </a:r>
          </a:p>
          <a:p>
            <a:pPr lvl="1">
              <a:buFont typeface="Arial" pitchFamily="34" charset="0"/>
              <a:buChar char="•"/>
            </a:pPr>
            <a:r>
              <a:rPr lang="en-AU" sz="1200" kern="1200" dirty="0" smtClean="0">
                <a:solidFill>
                  <a:schemeClr val="tx1"/>
                </a:solidFill>
                <a:latin typeface="+mn-lt"/>
                <a:ea typeface="+mn-ea"/>
                <a:cs typeface="+mn-cs"/>
              </a:rPr>
              <a:t>Comply with applicable laws and Codes of Practice – regarding employment and involvement of indigenous people/workers.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9327860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local </a:t>
            </a:r>
            <a:r>
              <a:rPr lang="en-AU" sz="1200" kern="1200" dirty="0" smtClean="0">
                <a:solidFill>
                  <a:schemeClr val="tx1"/>
                </a:solidFill>
                <a:latin typeface="+mn-lt"/>
                <a:ea typeface="+mn-ea"/>
                <a:cs typeface="+mn-cs"/>
              </a:rPr>
              <a:t>indigenous people may be engaged in a wide variety of roles – these include:</a:t>
            </a:r>
          </a:p>
          <a:p>
            <a:pPr>
              <a:buFont typeface="Arial" pitchFamily="34" charset="0"/>
              <a:buChar char="•"/>
            </a:pPr>
            <a:r>
              <a:rPr lang="en-AU" sz="1200" kern="1200" dirty="0" smtClean="0">
                <a:solidFill>
                  <a:schemeClr val="tx1"/>
                </a:solidFill>
                <a:latin typeface="+mn-lt"/>
                <a:ea typeface="+mn-ea"/>
                <a:cs typeface="+mn-cs"/>
              </a:rPr>
              <a:t>Assisting in the development of suitable, interesting and acceptable tours and interpretive activities – as part of the development process, in terms of:</a:t>
            </a:r>
          </a:p>
          <a:p>
            <a:pPr lvl="1">
              <a:buFont typeface="Arial" pitchFamily="34" charset="0"/>
              <a:buChar char="•"/>
            </a:pPr>
            <a:r>
              <a:rPr lang="en-US" sz="1200" kern="1200" dirty="0" smtClean="0">
                <a:solidFill>
                  <a:schemeClr val="tx1"/>
                </a:solidFill>
                <a:latin typeface="+mn-lt"/>
                <a:ea typeface="+mn-ea"/>
                <a:cs typeface="+mn-cs"/>
              </a:rPr>
              <a:t>Identifying whether or not proposals by the Tour Operator are acceptable or not to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Suggesting more or alternate ideas for tours and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Describing seasonal influences on weather, access, availability of areas, resources, flora and fauna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Providing required information and resources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Contributing vital insight and detail to enhance materials such as promotional materials, scripted commentaries, handouts for tour group members, plans for tours and interpretive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Helping obtain local permission/s to conduct tours, have access to required areas, meet with locals, present activities and provide support services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Welcoming tourists and tour groups – which may involve:</a:t>
            </a:r>
          </a:p>
          <a:p>
            <a:pPr lvl="1">
              <a:buFont typeface="Arial" pitchFamily="34" charset="0"/>
              <a:buChar char="•"/>
            </a:pPr>
            <a:r>
              <a:rPr lang="en-AU" sz="1200" kern="1200" dirty="0" smtClean="0">
                <a:solidFill>
                  <a:schemeClr val="tx1"/>
                </a:solidFill>
                <a:latin typeface="+mn-lt"/>
                <a:ea typeface="+mn-ea"/>
                <a:cs typeface="+mn-cs"/>
              </a:rPr>
              <a:t>Traditional greeting or welcome ceremony</a:t>
            </a:r>
          </a:p>
          <a:p>
            <a:pPr lvl="1">
              <a:buFont typeface="Arial" pitchFamily="34" charset="0"/>
              <a:buChar char="•"/>
            </a:pPr>
            <a:r>
              <a:rPr lang="en-AU" sz="1200" kern="1200" dirty="0" smtClean="0">
                <a:solidFill>
                  <a:schemeClr val="tx1"/>
                </a:solidFill>
                <a:latin typeface="+mn-lt"/>
                <a:ea typeface="+mn-ea"/>
                <a:cs typeface="+mn-cs"/>
              </a:rPr>
              <a:t>Making presentations of local items and/or food on arrival</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6226245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roles which may be undertaken by local indigenous people:</a:t>
            </a:r>
          </a:p>
          <a:p>
            <a:pPr>
              <a:buFont typeface="Arial" pitchFamily="34" charset="0"/>
              <a:buChar char="•"/>
            </a:pPr>
            <a:r>
              <a:rPr lang="en-AU" sz="1200" kern="1200" dirty="0" smtClean="0">
                <a:solidFill>
                  <a:schemeClr val="tx1"/>
                </a:solidFill>
                <a:latin typeface="+mn-lt"/>
                <a:ea typeface="+mn-ea"/>
                <a:cs typeface="+mn-cs"/>
              </a:rPr>
              <a:t>Providing generic Tour Guide services – where they:</a:t>
            </a:r>
          </a:p>
          <a:p>
            <a:pPr lvl="1">
              <a:buFont typeface="Arial" pitchFamily="34" charset="0"/>
              <a:buChar char="•"/>
            </a:pPr>
            <a:r>
              <a:rPr lang="en-US" sz="1200" kern="1200" dirty="0" smtClean="0">
                <a:solidFill>
                  <a:schemeClr val="tx1"/>
                </a:solidFill>
                <a:latin typeface="+mn-lt"/>
                <a:ea typeface="+mn-ea"/>
                <a:cs typeface="+mn-cs"/>
              </a:rPr>
              <a:t>Take over the tour after tour groups have arrived and been welcomed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Conduct only designated sections/aspects of tours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Supply local knowledge and input to supplement the scripted commentary given by the usual Tour Guide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Introduce the group to local people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Facilitate access to areas and resources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Accompany small groups throughout the tour (which is led by the usual Tour Guide) </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Presenting interpretive activities – such as:</a:t>
            </a:r>
          </a:p>
          <a:p>
            <a:pPr lvl="1">
              <a:buFont typeface="Arial" pitchFamily="34" charset="0"/>
              <a:buChar char="•"/>
            </a:pPr>
            <a:r>
              <a:rPr lang="en-US" sz="1200" kern="1200" dirty="0" smtClean="0">
                <a:solidFill>
                  <a:schemeClr val="tx1"/>
                </a:solidFill>
                <a:latin typeface="+mn-lt"/>
                <a:ea typeface="+mn-ea"/>
                <a:cs typeface="+mn-cs"/>
              </a:rPr>
              <a:t>Story-telling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Doing demonstrations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Performing song and dance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Conducting explorations and exercises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Leading de-briefing sessions after activities have been completed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Providing entertainment – in terms of:</a:t>
            </a:r>
          </a:p>
          <a:p>
            <a:pPr lvl="1">
              <a:buFont typeface="Arial" pitchFamily="34" charset="0"/>
              <a:buChar char="•"/>
            </a:pPr>
            <a:r>
              <a:rPr lang="en-AU" sz="1200" kern="1200" dirty="0" smtClean="0">
                <a:solidFill>
                  <a:schemeClr val="tx1"/>
                </a:solidFill>
                <a:latin typeface="+mn-lt"/>
                <a:ea typeface="+mn-ea"/>
                <a:cs typeface="+mn-cs"/>
              </a:rPr>
              <a:t>Singing, music and dancing</a:t>
            </a:r>
          </a:p>
          <a:p>
            <a:pPr lvl="1">
              <a:buFont typeface="Arial" pitchFamily="34" charset="0"/>
              <a:buChar char="•"/>
            </a:pPr>
            <a:r>
              <a:rPr lang="en-US" sz="1200" kern="1200" dirty="0" smtClean="0">
                <a:solidFill>
                  <a:schemeClr val="tx1"/>
                </a:solidFill>
                <a:latin typeface="+mn-lt"/>
                <a:ea typeface="+mn-ea"/>
                <a:cs typeface="+mn-cs"/>
              </a:rPr>
              <a:t>Presentations of local art and culture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Explanation and description of local customs, rites and ceremonies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718744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roles which may be undertaken by local indigenous people:</a:t>
            </a:r>
          </a:p>
          <a:p>
            <a:pPr>
              <a:buFont typeface="Arial" pitchFamily="34" charset="0"/>
              <a:buChar char="•"/>
            </a:pPr>
            <a:r>
              <a:rPr lang="en-AU" sz="1200" kern="1200" dirty="0" smtClean="0">
                <a:solidFill>
                  <a:schemeClr val="tx1"/>
                </a:solidFill>
                <a:latin typeface="+mn-lt"/>
                <a:ea typeface="+mn-ea"/>
                <a:cs typeface="+mn-cs"/>
              </a:rPr>
              <a:t>Providing specialist Tour Guiding services – as appropriate to distinct/individual tours such as those which have a focus on one or more of the following: </a:t>
            </a:r>
          </a:p>
          <a:p>
            <a:pPr lvl="1">
              <a:buFont typeface="Arial" pitchFamily="34" charset="0"/>
              <a:buChar char="•"/>
            </a:pPr>
            <a:r>
              <a:rPr lang="en-US" sz="1200" kern="1200" dirty="0" smtClean="0">
                <a:solidFill>
                  <a:schemeClr val="tx1"/>
                </a:solidFill>
                <a:latin typeface="+mn-lt"/>
                <a:ea typeface="+mn-ea"/>
                <a:cs typeface="+mn-cs"/>
              </a:rPr>
              <a:t>Observing wildlife; Cooking; Observing religious and other celebrations and rites; Participating in local activities – such as sports, games, tests and trials, dance, hunting; Learning language; Participating in family life; Trekking and safaris; Overnight camping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Providing local travel/transport services – such as:</a:t>
            </a:r>
          </a:p>
          <a:p>
            <a:pPr lvl="1">
              <a:buFont typeface="Arial" pitchFamily="34" charset="0"/>
              <a:buChar char="•"/>
            </a:pPr>
            <a:r>
              <a:rPr lang="en-US" sz="1200" kern="1200" dirty="0" smtClean="0">
                <a:solidFill>
                  <a:schemeClr val="tx1"/>
                </a:solidFill>
                <a:latin typeface="+mn-lt"/>
                <a:ea typeface="+mn-ea"/>
                <a:cs typeface="+mn-cs"/>
              </a:rPr>
              <a:t>Driving of local tour vehicles in indigenous lands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Operating water craft on rivers and other waters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Flying helicopters or ‘planes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Delivering ancillary services – which may include:</a:t>
            </a:r>
          </a:p>
          <a:p>
            <a:pPr lvl="1">
              <a:buFont typeface="Arial" pitchFamily="34" charset="0"/>
              <a:buChar char="•"/>
            </a:pPr>
            <a:r>
              <a:rPr lang="en-US" sz="1200" kern="1200" dirty="0" smtClean="0">
                <a:solidFill>
                  <a:schemeClr val="tx1"/>
                </a:solidFill>
                <a:latin typeface="+mn-lt"/>
                <a:ea typeface="+mn-ea"/>
                <a:cs typeface="+mn-cs"/>
              </a:rPr>
              <a:t>Providing safety and security services; Interpreting and translating; Providing liaison between the tour party/group and the local community; Loading and unloading services; Carrying supplies and equipment; Distributing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Cleaning; Catering.</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Excursion</a:t>
            </a:r>
          </a:p>
          <a:p>
            <a:pPr>
              <a:buFont typeface="Arial" pitchFamily="34" charset="0"/>
              <a:buNone/>
            </a:pPr>
            <a:r>
              <a:rPr lang="en-AU" b="0" noProof="0" dirty="0" smtClean="0"/>
              <a:t>Trainer arranges for students to participate as tourists on a tour (with interpretive activities) to an indigenous community so they may:</a:t>
            </a:r>
          </a:p>
          <a:p>
            <a:pPr>
              <a:buFont typeface="Arial" pitchFamily="34" charset="0"/>
              <a:buChar char="•"/>
            </a:pPr>
            <a:r>
              <a:rPr lang="en-AU" b="0" noProof="0" dirty="0" smtClean="0"/>
              <a:t>Observe Tour Guide in action</a:t>
            </a:r>
          </a:p>
          <a:p>
            <a:pPr>
              <a:buFont typeface="Arial" pitchFamily="34" charset="0"/>
              <a:buChar char="•"/>
            </a:pPr>
            <a:r>
              <a:rPr lang="en-AU" b="0" noProof="0" dirty="0" smtClean="0"/>
              <a:t>Get a feel for the information provided – to indicate nature and depth of research required</a:t>
            </a:r>
          </a:p>
          <a:p>
            <a:pPr>
              <a:buFont typeface="Arial" pitchFamily="34" charset="0"/>
              <a:buChar char="•"/>
            </a:pPr>
            <a:r>
              <a:rPr lang="en-AU" b="0" noProof="0" dirty="0" smtClean="0"/>
              <a:t>Experience the way information is shared by Tour Guide/Operator/staff with tour group members</a:t>
            </a:r>
          </a:p>
          <a:p>
            <a:pPr>
              <a:buFont typeface="Arial" pitchFamily="34" charset="0"/>
              <a:buChar char="•"/>
            </a:pPr>
            <a:r>
              <a:rPr lang="en-AU" b="0" noProof="0" dirty="0" smtClean="0"/>
              <a:t>Speak with Tour Guide</a:t>
            </a:r>
          </a:p>
          <a:p>
            <a:pPr>
              <a:buFont typeface="Arial" pitchFamily="34" charset="0"/>
              <a:buChar char="•"/>
            </a:pPr>
            <a:r>
              <a:rPr lang="en-AU" b="0" noProof="0" dirty="0" smtClean="0"/>
              <a:t>Obtain sample handout materials/information sheets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97513678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the </a:t>
            </a:r>
            <a:r>
              <a:rPr lang="en-AU" sz="1200" kern="1200" dirty="0" smtClean="0">
                <a:solidFill>
                  <a:schemeClr val="tx1"/>
                </a:solidFill>
                <a:latin typeface="+mn-lt"/>
                <a:ea typeface="+mn-ea"/>
                <a:cs typeface="+mn-cs"/>
              </a:rPr>
              <a:t>primary reasons for engaging indigenous people with tour-related activities are:</a:t>
            </a:r>
          </a:p>
          <a:p>
            <a:pPr>
              <a:buFont typeface="Arial" pitchFamily="34" charset="0"/>
              <a:buChar char="•"/>
            </a:pPr>
            <a:r>
              <a:rPr lang="en-AU" sz="1200" kern="1200" dirty="0" smtClean="0">
                <a:solidFill>
                  <a:schemeClr val="tx1"/>
                </a:solidFill>
                <a:latin typeface="+mn-lt"/>
                <a:ea typeface="+mn-ea"/>
                <a:cs typeface="+mn-cs"/>
              </a:rPr>
              <a:t>Many tour groups expect this to occur – they expect to meet and interact with local indigenous people so their involvement helps meet expectations and raise the levels of customer satisfaction with the tour experience</a:t>
            </a:r>
          </a:p>
          <a:p>
            <a:pPr>
              <a:buFont typeface="Arial" pitchFamily="34" charset="0"/>
              <a:buChar char="•"/>
            </a:pPr>
            <a:r>
              <a:rPr lang="en-AU" sz="1200" kern="1200" dirty="0" smtClean="0">
                <a:solidFill>
                  <a:schemeClr val="tx1"/>
                </a:solidFill>
                <a:latin typeface="+mn-lt"/>
                <a:ea typeface="+mn-ea"/>
                <a:cs typeface="+mn-cs"/>
              </a:rPr>
              <a:t>The involvement of local people allows their participation to be advertised in promotions for the tour – thereby raising interest and making the tour more attractive to potential purchasers of tickets</a:t>
            </a:r>
          </a:p>
          <a:p>
            <a:pPr>
              <a:buFont typeface="Arial" pitchFamily="34" charset="0"/>
              <a:buChar char="•"/>
            </a:pPr>
            <a:r>
              <a:rPr lang="en-AU" sz="1200" kern="1200" dirty="0" smtClean="0">
                <a:solidFill>
                  <a:schemeClr val="tx1"/>
                </a:solidFill>
                <a:latin typeface="+mn-lt"/>
                <a:ea typeface="+mn-ea"/>
                <a:cs typeface="+mn-cs"/>
              </a:rPr>
              <a:t>Their presence on-tour and in activities provides a unique experience for tour group members – in terms of a range of factors such as:</a:t>
            </a:r>
          </a:p>
          <a:p>
            <a:pPr lvl="1">
              <a:buFont typeface="Arial" pitchFamily="34" charset="0"/>
              <a:buChar char="•"/>
            </a:pPr>
            <a:r>
              <a:rPr lang="en-US" sz="1200" kern="1200" dirty="0" smtClean="0">
                <a:solidFill>
                  <a:schemeClr val="tx1"/>
                </a:solidFill>
                <a:latin typeface="+mn-lt"/>
                <a:ea typeface="+mn-ea"/>
                <a:cs typeface="+mn-cs"/>
              </a:rPr>
              <a:t>Visual impact on tourists – they provide immediate local ‘colour and movement’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sound of their voices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smell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Ability to interact at one-on-one level with an indigenous person – as opposed to observing them ‘at a distance’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willingness to be photographed/video’s by tour groups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use of local guides and interpreters has traditionally been shown to be more effective – in terms of:</a:t>
            </a:r>
          </a:p>
          <a:p>
            <a:pPr lvl="1">
              <a:buFont typeface="Arial" pitchFamily="34" charset="0"/>
              <a:buChar char="•"/>
            </a:pPr>
            <a:r>
              <a:rPr lang="en-US" sz="1200" kern="1200" dirty="0" smtClean="0">
                <a:solidFill>
                  <a:schemeClr val="tx1"/>
                </a:solidFill>
                <a:latin typeface="+mn-lt"/>
                <a:ea typeface="+mn-ea"/>
                <a:cs typeface="+mn-cs"/>
              </a:rPr>
              <a:t>Reducing adverse impact of tours on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Lessening the potential for damage to the local environment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Lowering threat levels which may be posed by local communities and/or conditions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34769770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a:t>
            </a:r>
            <a:r>
              <a:rPr lang="en-AU" baseline="0" noProof="0" dirty="0" smtClean="0"/>
              <a:t> identify reasons to engage indigenous people on tours:</a:t>
            </a:r>
          </a:p>
          <a:p>
            <a:pPr>
              <a:buFont typeface="Arial" pitchFamily="34" charset="0"/>
              <a:buChar char="•"/>
            </a:pPr>
            <a:r>
              <a:rPr lang="en-AU" sz="1200" kern="1200" dirty="0" smtClean="0">
                <a:solidFill>
                  <a:schemeClr val="tx1"/>
                </a:solidFill>
                <a:latin typeface="+mn-lt"/>
                <a:ea typeface="+mn-ea"/>
                <a:cs typeface="+mn-cs"/>
              </a:rPr>
              <a:t>Their participation in tours may create a point of difference for the purposes of sales and marketing – where competition does not feature engagement with locals</a:t>
            </a:r>
          </a:p>
          <a:p>
            <a:pPr>
              <a:buFont typeface="Arial" pitchFamily="34" charset="0"/>
              <a:buChar char="•"/>
            </a:pPr>
            <a:r>
              <a:rPr lang="en-AU" sz="1200" kern="1200" dirty="0" smtClean="0">
                <a:solidFill>
                  <a:schemeClr val="tx1"/>
                </a:solidFill>
                <a:latin typeface="+mn-lt"/>
                <a:ea typeface="+mn-ea"/>
                <a:cs typeface="+mn-cs"/>
              </a:rPr>
              <a:t>Local people are obviously best able to perform a number of common and necessary tour-related tasks – such as:</a:t>
            </a:r>
          </a:p>
          <a:p>
            <a:pPr lvl="1">
              <a:buFont typeface="Arial" pitchFamily="34" charset="0"/>
              <a:buChar char="•"/>
            </a:pPr>
            <a:r>
              <a:rPr lang="en-AU" sz="1200" kern="1200" dirty="0" smtClean="0">
                <a:solidFill>
                  <a:schemeClr val="tx1"/>
                </a:solidFill>
                <a:latin typeface="+mn-lt"/>
                <a:ea typeface="+mn-ea"/>
                <a:cs typeface="+mn-cs"/>
              </a:rPr>
              <a:t>Explain local conditions and customs</a:t>
            </a:r>
          </a:p>
          <a:p>
            <a:pPr lvl="1">
              <a:buFont typeface="Arial" pitchFamily="34" charset="0"/>
              <a:buChar char="•"/>
            </a:pPr>
            <a:r>
              <a:rPr lang="en-AU" sz="1200" kern="1200" dirty="0" smtClean="0">
                <a:solidFill>
                  <a:schemeClr val="tx1"/>
                </a:solidFill>
                <a:latin typeface="+mn-lt"/>
                <a:ea typeface="+mn-ea"/>
                <a:cs typeface="+mn-cs"/>
              </a:rPr>
              <a:t>Lead the way to areas where required sighting can be made and nominated experiences can be had</a:t>
            </a:r>
          </a:p>
          <a:p>
            <a:pPr lvl="1">
              <a:buFont typeface="Arial" pitchFamily="34" charset="0"/>
              <a:buChar char="•"/>
            </a:pPr>
            <a:r>
              <a:rPr lang="en-AU" sz="1200" kern="1200" dirty="0" smtClean="0">
                <a:solidFill>
                  <a:schemeClr val="tx1"/>
                </a:solidFill>
                <a:latin typeface="+mn-lt"/>
                <a:ea typeface="+mn-ea"/>
                <a:cs typeface="+mn-cs"/>
              </a:rPr>
              <a:t>Describe the local landscape, flora, fauna, weather, environmental conditions and similar aspects relevant to the tour and in response to questions asked by the tour group</a:t>
            </a:r>
          </a:p>
          <a:p>
            <a:pPr lvl="1">
              <a:buFont typeface="Arial" pitchFamily="34" charset="0"/>
              <a:buChar char="•"/>
            </a:pPr>
            <a:r>
              <a:rPr lang="en-AU" sz="1200" kern="1200" dirty="0" smtClean="0">
                <a:solidFill>
                  <a:schemeClr val="tx1"/>
                </a:solidFill>
                <a:latin typeface="+mn-lt"/>
                <a:ea typeface="+mn-ea"/>
                <a:cs typeface="+mn-cs"/>
              </a:rPr>
              <a:t>Monitor the actions of tour groups in relation to behaviour likely to give local offence or cause other problems</a:t>
            </a:r>
          </a:p>
          <a:p>
            <a:pPr lvl="1">
              <a:buFont typeface="Arial" pitchFamily="34" charset="0"/>
              <a:buChar char="•"/>
            </a:pPr>
            <a:r>
              <a:rPr lang="en-AU" sz="1200" kern="1200" dirty="0" smtClean="0">
                <a:solidFill>
                  <a:schemeClr val="tx1"/>
                </a:solidFill>
                <a:latin typeface="+mn-lt"/>
                <a:ea typeface="+mn-ea"/>
                <a:cs typeface="+mn-cs"/>
              </a:rPr>
              <a:t>Discuss the indigenous family and social structures</a:t>
            </a:r>
          </a:p>
          <a:p>
            <a:pPr lvl="1">
              <a:buFont typeface="Arial" pitchFamily="34" charset="0"/>
              <a:buChar char="•"/>
            </a:pPr>
            <a:r>
              <a:rPr lang="en-AU" sz="1200" kern="1200" dirty="0" smtClean="0">
                <a:solidFill>
                  <a:schemeClr val="tx1"/>
                </a:solidFill>
                <a:latin typeface="+mn-lt"/>
                <a:ea typeface="+mn-ea"/>
                <a:cs typeface="+mn-cs"/>
              </a:rPr>
              <a:t>Speak the language</a:t>
            </a:r>
          </a:p>
          <a:p>
            <a:pPr lvl="1">
              <a:buFont typeface="Arial" pitchFamily="34" charset="0"/>
              <a:buChar char="•"/>
            </a:pPr>
            <a:r>
              <a:rPr lang="en-AU" sz="1200" kern="1200" dirty="0" smtClean="0">
                <a:solidFill>
                  <a:schemeClr val="tx1"/>
                </a:solidFill>
                <a:latin typeface="+mn-lt"/>
                <a:ea typeface="+mn-ea"/>
                <a:cs typeface="+mn-cs"/>
              </a:rPr>
              <a:t>Demonstrate local skills</a:t>
            </a:r>
          </a:p>
          <a:p>
            <a:pPr lvl="1">
              <a:buFont typeface="Arial" pitchFamily="34" charset="0"/>
              <a:buChar char="•"/>
            </a:pPr>
            <a:r>
              <a:rPr lang="en-AU" sz="1200" kern="1200" dirty="0" smtClean="0">
                <a:solidFill>
                  <a:schemeClr val="tx1"/>
                </a:solidFill>
                <a:latin typeface="+mn-lt"/>
                <a:ea typeface="+mn-ea"/>
                <a:cs typeface="+mn-cs"/>
              </a:rPr>
              <a:t>Mediate disputes/problems between locals and tour groups</a:t>
            </a:r>
          </a:p>
          <a:p>
            <a:pPr>
              <a:buFont typeface="Arial" pitchFamily="34" charset="0"/>
              <a:buChar char="•"/>
            </a:pPr>
            <a:r>
              <a:rPr lang="en-AU" sz="1200" kern="1200" dirty="0" smtClean="0">
                <a:solidFill>
                  <a:schemeClr val="tx1"/>
                </a:solidFill>
                <a:latin typeface="+mn-lt"/>
                <a:ea typeface="+mn-ea"/>
                <a:cs typeface="+mn-cs"/>
              </a:rPr>
              <a:t>Genuine engagement with the local community by the Tour Operator demonstrates a positive orientation to people – by: </a:t>
            </a:r>
          </a:p>
          <a:p>
            <a:pPr lvl="1">
              <a:buFont typeface="Arial" pitchFamily="34" charset="0"/>
              <a:buChar char="•"/>
            </a:pPr>
            <a:r>
              <a:rPr lang="en-AU" sz="1200" kern="1200" dirty="0" smtClean="0">
                <a:solidFill>
                  <a:schemeClr val="tx1"/>
                </a:solidFill>
                <a:latin typeface="+mn-lt"/>
                <a:ea typeface="+mn-ea"/>
                <a:cs typeface="+mn-cs"/>
              </a:rPr>
              <a:t>Showing respect for their knowledge</a:t>
            </a:r>
          </a:p>
          <a:p>
            <a:pPr lvl="1">
              <a:buFont typeface="Arial" pitchFamily="34" charset="0"/>
              <a:buChar char="•"/>
            </a:pPr>
            <a:r>
              <a:rPr lang="en-AU" sz="1200" kern="1200" dirty="0" smtClean="0">
                <a:solidFill>
                  <a:schemeClr val="tx1"/>
                </a:solidFill>
                <a:latin typeface="+mn-lt"/>
                <a:ea typeface="+mn-ea"/>
                <a:cs typeface="+mn-cs"/>
              </a:rPr>
              <a:t>Acknowledging the potential they have to contribute</a:t>
            </a:r>
          </a:p>
          <a:p>
            <a:pPr lvl="1">
              <a:buFont typeface="Arial" pitchFamily="34" charset="0"/>
              <a:buChar char="•"/>
            </a:pPr>
            <a:r>
              <a:rPr lang="en-AU" sz="1200" kern="1200" dirty="0" smtClean="0">
                <a:solidFill>
                  <a:schemeClr val="tx1"/>
                </a:solidFill>
                <a:latin typeface="+mn-lt"/>
                <a:ea typeface="+mn-ea"/>
                <a:cs typeface="+mn-cs"/>
              </a:rPr>
              <a:t>Positioning themselves to receive immediate feedback from the community regarding the impact of tours and activities on the community – so changes can be made to arrangements where/if required</a:t>
            </a:r>
          </a:p>
          <a:p>
            <a:pPr lvl="1">
              <a:buFont typeface="Arial" pitchFamily="34" charset="0"/>
              <a:buChar char="•"/>
            </a:pPr>
            <a:r>
              <a:rPr lang="en-AU" sz="1200" kern="1200" dirty="0" smtClean="0">
                <a:solidFill>
                  <a:schemeClr val="tx1"/>
                </a:solidFill>
                <a:latin typeface="+mn-lt"/>
                <a:ea typeface="+mn-ea"/>
                <a:cs typeface="+mn-cs"/>
              </a:rPr>
              <a:t>Assisting the growth of the local community by making a financial contribution to the area/people</a:t>
            </a:r>
          </a:p>
          <a:p>
            <a:pPr>
              <a:buFont typeface="Arial" pitchFamily="34" charset="0"/>
              <a:buChar char="•"/>
            </a:pPr>
            <a:r>
              <a:rPr lang="en-AU" sz="1200" kern="1200" dirty="0" smtClean="0">
                <a:solidFill>
                  <a:schemeClr val="tx1"/>
                </a:solidFill>
                <a:latin typeface="+mn-lt"/>
                <a:ea typeface="+mn-ea"/>
                <a:cs typeface="+mn-cs"/>
              </a:rPr>
              <a:t>It may be a mandated requirement – as prescribed by:</a:t>
            </a:r>
          </a:p>
          <a:p>
            <a:pPr lvl="1">
              <a:buFont typeface="Arial" pitchFamily="34" charset="0"/>
              <a:buChar char="•"/>
            </a:pPr>
            <a:r>
              <a:rPr lang="en-AU" sz="1200" kern="1200" dirty="0" smtClean="0">
                <a:solidFill>
                  <a:schemeClr val="tx1"/>
                </a:solidFill>
                <a:latin typeface="+mn-lt"/>
                <a:ea typeface="+mn-ea"/>
                <a:cs typeface="+mn-cs"/>
              </a:rPr>
              <a:t>In-country legislation</a:t>
            </a:r>
          </a:p>
          <a:p>
            <a:pPr lvl="1">
              <a:buFont typeface="Arial" pitchFamily="34" charset="0"/>
              <a:buChar char="•"/>
            </a:pPr>
            <a:r>
              <a:rPr lang="en-AU" sz="1200" kern="1200" dirty="0" smtClean="0">
                <a:solidFill>
                  <a:schemeClr val="tx1"/>
                </a:solidFill>
                <a:latin typeface="+mn-lt"/>
                <a:ea typeface="+mn-ea"/>
                <a:cs typeface="+mn-cs"/>
              </a:rPr>
              <a:t>An applicable Code of Conduct to which the Tour Operator subscribes or by which they are bound</a:t>
            </a:r>
          </a:p>
          <a:p>
            <a:pPr lvl="1">
              <a:buFont typeface="Arial" pitchFamily="34" charset="0"/>
              <a:buChar char="•"/>
            </a:pPr>
            <a:r>
              <a:rPr lang="en-AU" sz="1200" kern="1200" dirty="0" smtClean="0">
                <a:solidFill>
                  <a:schemeClr val="tx1"/>
                </a:solidFill>
                <a:latin typeface="+mn-lt"/>
                <a:ea typeface="+mn-ea"/>
                <a:cs typeface="+mn-cs"/>
              </a:rPr>
              <a:t>Internal agreements which have been developed by the community to govern contact and interaction with Tour Operators</a:t>
            </a:r>
          </a:p>
          <a:p>
            <a:pPr lvl="1">
              <a:buFont typeface="Arial" pitchFamily="34" charset="0"/>
              <a:buChar char="•"/>
            </a:pPr>
            <a:r>
              <a:rPr lang="en-AU" sz="1200" kern="1200" dirty="0" smtClean="0">
                <a:solidFill>
                  <a:schemeClr val="tx1"/>
                </a:solidFill>
                <a:latin typeface="+mn-lt"/>
                <a:ea typeface="+mn-ea"/>
                <a:cs typeface="+mn-cs"/>
              </a:rPr>
              <a:t>The terms and conditions attaching to funding/incentives offered by governments to encourage and assist development of tourist activity in nominated countries/communities.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235340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reasons for these briefings to be given to tour groups:</a:t>
            </a:r>
          </a:p>
          <a:p>
            <a:pPr>
              <a:buFont typeface="Arial" pitchFamily="34" charset="0"/>
              <a:buChar char="•"/>
            </a:pPr>
            <a:r>
              <a:rPr lang="en-AU" sz="1200" kern="1200" dirty="0" smtClean="0">
                <a:solidFill>
                  <a:schemeClr val="tx1"/>
                </a:solidFill>
                <a:latin typeface="+mn-lt"/>
                <a:ea typeface="+mn-ea"/>
                <a:cs typeface="+mn-cs"/>
              </a:rPr>
              <a:t>Maintain the dignity of the local community – through:</a:t>
            </a:r>
          </a:p>
          <a:p>
            <a:pPr lvl="1">
              <a:buFont typeface="Arial" pitchFamily="34" charset="0"/>
              <a:buChar char="•"/>
            </a:pPr>
            <a:r>
              <a:rPr lang="en-US" sz="1200" kern="1200" dirty="0" smtClean="0">
                <a:solidFill>
                  <a:schemeClr val="tx1"/>
                </a:solidFill>
                <a:latin typeface="+mn-lt"/>
                <a:ea typeface="+mn-ea"/>
                <a:cs typeface="+mn-cs"/>
              </a:rPr>
              <a:t>Taking actions which respect their values and beliefs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Refraining from actions which cause offence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Protect indigenous people from unwanted intrusion – in terms of:</a:t>
            </a:r>
          </a:p>
          <a:p>
            <a:pPr lvl="1">
              <a:buFont typeface="Arial" pitchFamily="34" charset="0"/>
              <a:buChar char="•"/>
            </a:pPr>
            <a:r>
              <a:rPr lang="en-US" sz="1200" kern="1200" dirty="0" smtClean="0">
                <a:solidFill>
                  <a:schemeClr val="tx1"/>
                </a:solidFill>
                <a:latin typeface="+mn-lt"/>
                <a:ea typeface="+mn-ea"/>
                <a:cs typeface="+mn-cs"/>
              </a:rPr>
              <a:t>Being observed by others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engaged in discussions and interactions with tourists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Prevent interference with normal indigenous activities – such as:</a:t>
            </a:r>
          </a:p>
          <a:p>
            <a:pPr lvl="1">
              <a:buFont typeface="Arial" pitchFamily="34" charset="0"/>
              <a:buChar char="•"/>
            </a:pPr>
            <a:r>
              <a:rPr lang="en-US" sz="1200" kern="1200" dirty="0" smtClean="0">
                <a:solidFill>
                  <a:schemeClr val="tx1"/>
                </a:solidFill>
                <a:latin typeface="+mn-lt"/>
                <a:ea typeface="+mn-ea"/>
                <a:cs typeface="+mn-cs"/>
              </a:rPr>
              <a:t>Family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Traditional day-to-day life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Religious celebrations and rites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Present the boundaries of acceptable behaviour and language – and unacceptable behaviour and language (see ‘Content of the briefing’ on later slides)</a:t>
            </a:r>
          </a:p>
          <a:p>
            <a:pPr>
              <a:buFont typeface="Arial" pitchFamily="34" charset="0"/>
              <a:buNone/>
            </a:pPr>
            <a:endParaRPr lang="en-AU" noProof="0" dirty="0" smtClean="0"/>
          </a:p>
          <a:p>
            <a:pPr>
              <a:buFont typeface="Arial" pitchFamily="34" charset="0"/>
              <a:buNone/>
            </a:pPr>
            <a:r>
              <a:rPr lang="en-AU" b="1" noProof="0" dirty="0" smtClean="0"/>
              <a:t>Classroom Activity – Individual Exercise</a:t>
            </a:r>
          </a:p>
          <a:p>
            <a:pPr>
              <a:buFont typeface="Arial" pitchFamily="34" charset="0"/>
              <a:buNone/>
            </a:pPr>
            <a:r>
              <a:rPr lang="en-AU" b="0" noProof="0" dirty="0" smtClean="0"/>
              <a:t>Trainer asks students to develop a ‘Behaviour Briefing’ for use with tours in relation to communities they</a:t>
            </a:r>
            <a:r>
              <a:rPr lang="en-AU" b="0" baseline="0" noProof="0" dirty="0" smtClean="0"/>
              <a:t> have already researched m- this briefing to be delivered to the class as the next Classroom Activity.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4140662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reasons for these briefings to be given to tour groups:</a:t>
            </a:r>
          </a:p>
          <a:p>
            <a:pPr>
              <a:buFont typeface="Arial" pitchFamily="34" charset="0"/>
              <a:buChar char="•"/>
            </a:pPr>
            <a:r>
              <a:rPr lang="en-AU" sz="1200" kern="1200" dirty="0" smtClean="0">
                <a:solidFill>
                  <a:schemeClr val="tx1"/>
                </a:solidFill>
                <a:latin typeface="+mn-lt"/>
                <a:ea typeface="+mn-ea"/>
                <a:cs typeface="+mn-cs"/>
              </a:rPr>
              <a:t>Set tour group members ‘at ease’ – by advising them in advance of what they can and cannot do and say.</a:t>
            </a:r>
          </a:p>
          <a:p>
            <a:pPr lvl="1">
              <a:buFont typeface="Arial" pitchFamily="34" charset="0"/>
              <a:buChar char="•"/>
            </a:pPr>
            <a:r>
              <a:rPr lang="en-AU" sz="1200" kern="1200" dirty="0" smtClean="0">
                <a:solidFill>
                  <a:schemeClr val="tx1"/>
                </a:solidFill>
                <a:latin typeface="+mn-lt"/>
                <a:ea typeface="+mn-ea"/>
                <a:cs typeface="+mn-cs"/>
              </a:rPr>
              <a:t>Many tour group members appreciate the setting of such ‘boundaries’ as they are often nervous about causing unintended offence to others.</a:t>
            </a:r>
          </a:p>
          <a:p>
            <a:pPr>
              <a:buFont typeface="Arial" pitchFamily="34" charset="0"/>
              <a:buChar char="•"/>
            </a:pPr>
            <a:r>
              <a:rPr lang="en-AU" sz="1200" kern="1200" dirty="0" smtClean="0">
                <a:solidFill>
                  <a:schemeClr val="tx1"/>
                </a:solidFill>
                <a:latin typeface="+mn-lt"/>
                <a:ea typeface="+mn-ea"/>
                <a:cs typeface="+mn-cs"/>
              </a:rPr>
              <a:t>Describe consequences for the tour group if the requirements are not complied with – see later slides</a:t>
            </a:r>
          </a:p>
          <a:p>
            <a:pPr>
              <a:buFont typeface="Arial" pitchFamily="34" charset="0"/>
              <a:buChar char="•"/>
            </a:pPr>
            <a:r>
              <a:rPr lang="en-AU" sz="1200" kern="1200" dirty="0" smtClean="0">
                <a:solidFill>
                  <a:schemeClr val="tx1"/>
                </a:solidFill>
                <a:latin typeface="+mn-lt"/>
                <a:ea typeface="+mn-ea"/>
                <a:cs typeface="+mn-cs"/>
              </a:rPr>
              <a:t>Honour tour-related agreements made with local people – in terms of:</a:t>
            </a:r>
          </a:p>
          <a:p>
            <a:pPr lvl="1">
              <a:buFont typeface="Arial" pitchFamily="34" charset="0"/>
              <a:buChar char="•"/>
            </a:pPr>
            <a:r>
              <a:rPr lang="en-US" sz="1200" kern="1200" dirty="0" smtClean="0">
                <a:solidFill>
                  <a:schemeClr val="tx1"/>
                </a:solidFill>
                <a:latin typeface="+mn-lt"/>
                <a:ea typeface="+mn-ea"/>
                <a:cs typeface="+mn-cs"/>
              </a:rPr>
              <a:t>Actually </a:t>
            </a:r>
            <a:r>
              <a:rPr lang="en-US" sz="1200" i="1" kern="1200" dirty="0" smtClean="0">
                <a:solidFill>
                  <a:schemeClr val="tx1"/>
                </a:solidFill>
                <a:latin typeface="+mn-lt"/>
                <a:ea typeface="+mn-ea"/>
                <a:cs typeface="+mn-cs"/>
              </a:rPr>
              <a:t>presenting</a:t>
            </a:r>
            <a:r>
              <a:rPr lang="en-US" sz="1200" kern="1200" dirty="0" smtClean="0">
                <a:solidFill>
                  <a:schemeClr val="tx1"/>
                </a:solidFill>
                <a:latin typeface="+mn-lt"/>
                <a:ea typeface="+mn-ea"/>
                <a:cs typeface="+mn-cs"/>
              </a:rPr>
              <a:t> the briefing to </a:t>
            </a:r>
            <a:r>
              <a:rPr lang="en-US" sz="1200" i="1" kern="1200" dirty="0" smtClean="0">
                <a:solidFill>
                  <a:schemeClr val="tx1"/>
                </a:solidFill>
                <a:latin typeface="+mn-lt"/>
                <a:ea typeface="+mn-ea"/>
                <a:cs typeface="+mn-cs"/>
              </a:rPr>
              <a:t>every</a:t>
            </a:r>
            <a:r>
              <a:rPr lang="en-US" sz="1200" kern="1200" dirty="0" smtClean="0">
                <a:solidFill>
                  <a:schemeClr val="tx1"/>
                </a:solidFill>
                <a:latin typeface="+mn-lt"/>
                <a:ea typeface="+mn-ea"/>
                <a:cs typeface="+mn-cs"/>
              </a:rPr>
              <a:t> group for </a:t>
            </a:r>
            <a:r>
              <a:rPr lang="en-US" sz="1200" i="1" kern="1200" dirty="0" smtClean="0">
                <a:solidFill>
                  <a:schemeClr val="tx1"/>
                </a:solidFill>
                <a:latin typeface="+mn-lt"/>
                <a:ea typeface="+mn-ea"/>
                <a:cs typeface="+mn-cs"/>
              </a:rPr>
              <a:t>every</a:t>
            </a:r>
            <a:r>
              <a:rPr lang="en-US" sz="1200" kern="1200" dirty="0" smtClean="0">
                <a:solidFill>
                  <a:schemeClr val="tx1"/>
                </a:solidFill>
                <a:latin typeface="+mn-lt"/>
                <a:ea typeface="+mn-ea"/>
                <a:cs typeface="+mn-cs"/>
              </a:rPr>
              <a:t> tour, excursion or activity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Content of the briefing identified by the local community as being essential to their individual need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Abide by Codes of Practice by which the Tour Operator is bound – or to which they subscribe which requires such a briefing to precede all such tours and activities.</a:t>
            </a:r>
          </a:p>
          <a:p>
            <a:pPr>
              <a:buFont typeface="Arial" pitchFamily="34" charset="0"/>
              <a:buNone/>
            </a:pPr>
            <a:endParaRPr lang="en-AU" noProof="0" dirty="0" smtClean="0"/>
          </a:p>
          <a:p>
            <a:pPr>
              <a:buFont typeface="Arial" pitchFamily="34" charset="0"/>
              <a:buNone/>
            </a:pPr>
            <a:r>
              <a:rPr lang="en-AU" b="1" noProof="0" dirty="0" smtClean="0"/>
              <a:t>Classroom Activity – Role Play</a:t>
            </a:r>
          </a:p>
          <a:p>
            <a:pPr>
              <a:buFont typeface="Arial" pitchFamily="34" charset="0"/>
              <a:buNone/>
            </a:pPr>
            <a:r>
              <a:rPr lang="en-AU" b="0" noProof="0" dirty="0" smtClean="0"/>
              <a:t>Trainer asks students to play the role of a Tour Guide conducting a Behaviour</a:t>
            </a:r>
            <a:r>
              <a:rPr lang="en-AU" b="0" baseline="0" noProof="0" dirty="0" smtClean="0"/>
              <a:t> Briefing to a tour group.</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42391956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notes the Behaviour Briefing may be delivered in several ways stating it is commonly:</a:t>
            </a:r>
          </a:p>
          <a:p>
            <a:pPr>
              <a:buFont typeface="Arial" pitchFamily="34" charset="0"/>
              <a:buChar char="•"/>
            </a:pPr>
            <a:r>
              <a:rPr lang="en-AU" sz="1200" kern="1200" dirty="0" smtClean="0">
                <a:solidFill>
                  <a:schemeClr val="tx1"/>
                </a:solidFill>
                <a:latin typeface="+mn-lt"/>
                <a:ea typeface="+mn-ea"/>
                <a:cs typeface="+mn-cs"/>
              </a:rPr>
              <a:t>A verbal presentation made by the Tour Guide</a:t>
            </a:r>
          </a:p>
          <a:p>
            <a:pPr>
              <a:buFont typeface="Arial" pitchFamily="34" charset="0"/>
              <a:buChar char="•"/>
            </a:pPr>
            <a:r>
              <a:rPr lang="en-AU" sz="1200" kern="1200" dirty="0" smtClean="0">
                <a:solidFill>
                  <a:schemeClr val="tx1"/>
                </a:solidFill>
                <a:latin typeface="+mn-lt"/>
                <a:ea typeface="+mn-ea"/>
                <a:cs typeface="+mn-cs"/>
              </a:rPr>
              <a:t>Supplemented by demonstrations, hard copy handouts/information sheets and/or a short video/DVD.</a:t>
            </a:r>
          </a:p>
          <a:p>
            <a:pPr>
              <a:buFont typeface="Arial" pitchFamily="34" charset="0"/>
              <a:buNone/>
            </a:pPr>
            <a:endParaRPr lang="en-AU" noProof="0" dirty="0" smtClean="0"/>
          </a:p>
          <a:p>
            <a:pPr>
              <a:buFont typeface="Arial" pitchFamily="34" charset="0"/>
              <a:buNone/>
            </a:pPr>
            <a:r>
              <a:rPr lang="en-AU" b="1" noProof="0" dirty="0" smtClean="0"/>
              <a:t>Classroom Activity – Handouts/Examples</a:t>
            </a:r>
          </a:p>
          <a:p>
            <a:pPr>
              <a:buFont typeface="Arial" pitchFamily="34" charset="0"/>
              <a:buNone/>
            </a:pPr>
            <a:r>
              <a:rPr lang="en-AU" b="0" noProof="0" dirty="0" smtClean="0"/>
              <a:t>Trainer presents materials used to deliver Behaviour Briefings as appropriate to what has been sourced from local Tour Operators – for example:</a:t>
            </a:r>
          </a:p>
          <a:p>
            <a:pPr>
              <a:buFont typeface="Arial" pitchFamily="34" charset="0"/>
              <a:buChar char="•"/>
            </a:pPr>
            <a:r>
              <a:rPr lang="en-AU" b="0" noProof="0" dirty="0" smtClean="0"/>
              <a:t>Distributing and discussing handouts and/or scripts for same</a:t>
            </a:r>
          </a:p>
          <a:p>
            <a:pPr>
              <a:buFont typeface="Arial" pitchFamily="34" charset="0"/>
              <a:buChar char="•"/>
            </a:pPr>
            <a:r>
              <a:rPr lang="en-AU" b="0" noProof="0" dirty="0" smtClean="0"/>
              <a:t>Screening and discussing DVD/video.</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598715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informs</a:t>
            </a:r>
            <a:r>
              <a:rPr lang="en-AU" baseline="0" noProof="0" dirty="0" smtClean="0"/>
              <a:t> the </a:t>
            </a:r>
            <a:r>
              <a:rPr lang="en-AU" sz="1200" kern="1200" dirty="0" smtClean="0">
                <a:solidFill>
                  <a:schemeClr val="tx1"/>
                </a:solidFill>
                <a:latin typeface="+mn-lt"/>
                <a:ea typeface="+mn-ea"/>
                <a:cs typeface="+mn-cs"/>
              </a:rPr>
              <a:t>briefing is commonly presented:</a:t>
            </a:r>
          </a:p>
          <a:p>
            <a:pPr>
              <a:buFont typeface="Arial" pitchFamily="34" charset="0"/>
              <a:buChar char="•"/>
            </a:pPr>
            <a:r>
              <a:rPr lang="en-AU" sz="1200" kern="1200" dirty="0" smtClean="0">
                <a:solidFill>
                  <a:schemeClr val="tx1"/>
                </a:solidFill>
                <a:latin typeface="+mn-lt"/>
                <a:ea typeface="+mn-ea"/>
                <a:cs typeface="+mn-cs"/>
              </a:rPr>
              <a:t>In a room or other designated location at the offices of the Tour Operator before the tour/activity commences as part of the wider ‘Tour Briefing’ which commonly precedes all tours, activities and excursions</a:t>
            </a:r>
          </a:p>
          <a:p>
            <a:pPr>
              <a:buFont typeface="Arial" pitchFamily="34" charset="0"/>
              <a:buChar char="•"/>
            </a:pPr>
            <a:r>
              <a:rPr lang="en-AU" sz="1200" kern="1200" dirty="0" smtClean="0">
                <a:solidFill>
                  <a:schemeClr val="tx1"/>
                </a:solidFill>
                <a:latin typeface="+mn-lt"/>
                <a:ea typeface="+mn-ea"/>
                <a:cs typeface="+mn-cs"/>
              </a:rPr>
              <a:t>On the tour vehicle as it approaches the destination or as it is parked in the agreed parting area for the tour, excursion or activity</a:t>
            </a:r>
          </a:p>
          <a:p>
            <a:pPr>
              <a:buFont typeface="Arial" pitchFamily="34" charset="0"/>
              <a:buChar char="•"/>
            </a:pPr>
            <a:r>
              <a:rPr lang="en-AU" sz="1200" kern="1200" dirty="0" smtClean="0">
                <a:solidFill>
                  <a:schemeClr val="tx1"/>
                </a:solidFill>
                <a:latin typeface="+mn-lt"/>
                <a:ea typeface="+mn-ea"/>
                <a:cs typeface="+mn-cs"/>
              </a:rPr>
              <a:t>At an agreed muster point for the tour/activity which is inside or near the entry to the indigenous community.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43868959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content of the Behaviour</a:t>
            </a:r>
            <a:r>
              <a:rPr lang="en-AU" baseline="0" noProof="0" dirty="0" smtClean="0"/>
              <a:t> Briefing</a:t>
            </a:r>
          </a:p>
          <a:p>
            <a:r>
              <a:rPr lang="en-AU" sz="1200" b="1" kern="1200" dirty="0" smtClean="0">
                <a:solidFill>
                  <a:schemeClr val="tx1"/>
                </a:solidFill>
                <a:latin typeface="+mn-lt"/>
                <a:ea typeface="+mn-ea"/>
                <a:cs typeface="+mn-cs"/>
              </a:rPr>
              <a:t>Background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content of the briefing will need to be prepared in consultation with the indigenous community in order to address their individual concerns and issues, and may need to be:</a:t>
            </a:r>
          </a:p>
          <a:p>
            <a:pPr>
              <a:buFont typeface="Arial" pitchFamily="34" charset="0"/>
              <a:buChar char="•"/>
            </a:pPr>
            <a:r>
              <a:rPr lang="en-AU" sz="1200" kern="1200" dirty="0" smtClean="0">
                <a:solidFill>
                  <a:schemeClr val="tx1"/>
                </a:solidFill>
                <a:latin typeface="+mn-lt"/>
                <a:ea typeface="+mn-ea"/>
                <a:cs typeface="+mn-cs"/>
              </a:rPr>
              <a:t>Developed by the individual Tour Guide conducting the Tour, excursion of activity – as part of their preparation activities</a:t>
            </a:r>
          </a:p>
          <a:p>
            <a:pPr>
              <a:buFont typeface="Arial" pitchFamily="34" charset="0"/>
              <a:buChar char="•"/>
            </a:pPr>
            <a:r>
              <a:rPr lang="en-AU" sz="1200" kern="1200" dirty="0" smtClean="0">
                <a:solidFill>
                  <a:schemeClr val="tx1"/>
                </a:solidFill>
                <a:latin typeface="+mn-lt"/>
                <a:ea typeface="+mn-ea"/>
                <a:cs typeface="+mn-cs"/>
              </a:rPr>
              <a:t>Developed by the Tour Operator – and be provided as part of the standard ‘Tour Brief’ to the Tour Guide/staff</a:t>
            </a:r>
          </a:p>
          <a:p>
            <a:pPr>
              <a:buFont typeface="Arial" pitchFamily="34" charset="0"/>
              <a:buChar char="•"/>
            </a:pPr>
            <a:r>
              <a:rPr lang="en-AU" sz="1200" kern="1200" dirty="0" smtClean="0">
                <a:solidFill>
                  <a:schemeClr val="tx1"/>
                </a:solidFill>
                <a:latin typeface="+mn-lt"/>
                <a:ea typeface="+mn-ea"/>
                <a:cs typeface="+mn-cs"/>
              </a:rPr>
              <a:t>Have to gain ‘final approval from the local community – prior to its implementation.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131539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content of the Behaviour</a:t>
            </a:r>
            <a:r>
              <a:rPr lang="en-AU" baseline="0" noProof="0" dirty="0" smtClean="0"/>
              <a:t> Briefing</a:t>
            </a:r>
          </a:p>
          <a:p>
            <a:r>
              <a:rPr lang="en-AU" sz="1200" b="1" kern="1200" dirty="0" smtClean="0">
                <a:solidFill>
                  <a:schemeClr val="tx1"/>
                </a:solidFill>
                <a:latin typeface="+mn-lt"/>
                <a:ea typeface="+mn-ea"/>
                <a:cs typeface="+mn-cs"/>
              </a:rPr>
              <a:t>Generic topics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Issues commonly covered by these briefings include:</a:t>
            </a:r>
          </a:p>
          <a:p>
            <a:pPr>
              <a:buFont typeface="Arial" pitchFamily="34" charset="0"/>
              <a:buChar char="•"/>
            </a:pPr>
            <a:r>
              <a:rPr lang="en-AU" sz="1200" kern="1200" dirty="0" smtClean="0">
                <a:solidFill>
                  <a:schemeClr val="tx1"/>
                </a:solidFill>
                <a:latin typeface="+mn-lt"/>
                <a:ea typeface="+mn-ea"/>
                <a:cs typeface="+mn-cs"/>
              </a:rPr>
              <a:t>Detailing where people can and cannot go/enter</a:t>
            </a:r>
          </a:p>
          <a:p>
            <a:pPr>
              <a:buFont typeface="Arial" pitchFamily="34" charset="0"/>
              <a:buChar char="•"/>
            </a:pPr>
            <a:r>
              <a:rPr lang="en-AU" sz="1200" kern="1200" dirty="0" smtClean="0">
                <a:solidFill>
                  <a:schemeClr val="tx1"/>
                </a:solidFill>
                <a:latin typeface="+mn-lt"/>
                <a:ea typeface="+mn-ea"/>
                <a:cs typeface="+mn-cs"/>
              </a:rPr>
              <a:t>Specifying what they can do and say and what they </a:t>
            </a:r>
            <a:r>
              <a:rPr lang="en-AU" sz="1200" i="1" kern="1200" dirty="0" smtClean="0">
                <a:solidFill>
                  <a:schemeClr val="tx1"/>
                </a:solidFill>
                <a:latin typeface="+mn-lt"/>
                <a:ea typeface="+mn-ea"/>
                <a:cs typeface="+mn-cs"/>
              </a:rPr>
              <a:t>cannot</a:t>
            </a:r>
            <a:r>
              <a:rPr lang="en-AU" sz="1200" kern="1200" dirty="0" smtClean="0">
                <a:solidFill>
                  <a:schemeClr val="tx1"/>
                </a:solidFill>
                <a:latin typeface="+mn-lt"/>
                <a:ea typeface="+mn-ea"/>
                <a:cs typeface="+mn-cs"/>
              </a:rPr>
              <a:t> do and say </a:t>
            </a:r>
          </a:p>
          <a:p>
            <a:pPr>
              <a:buFont typeface="Arial" pitchFamily="34" charset="0"/>
              <a:buChar char="•"/>
            </a:pPr>
            <a:r>
              <a:rPr lang="en-AU" sz="1200" kern="1200" dirty="0" smtClean="0">
                <a:solidFill>
                  <a:schemeClr val="tx1"/>
                </a:solidFill>
                <a:latin typeface="+mn-lt"/>
                <a:ea typeface="+mn-ea"/>
                <a:cs typeface="+mn-cs"/>
              </a:rPr>
              <a:t>Illustrating and ensuring adherence to required dress codes when in the area/community</a:t>
            </a:r>
          </a:p>
          <a:p>
            <a:pPr>
              <a:buFont typeface="Arial" pitchFamily="34" charset="0"/>
              <a:buChar char="•"/>
            </a:pPr>
            <a:r>
              <a:rPr lang="en-AU" sz="1200" kern="1200" dirty="0" smtClean="0">
                <a:solidFill>
                  <a:schemeClr val="tx1"/>
                </a:solidFill>
                <a:latin typeface="+mn-lt"/>
                <a:ea typeface="+mn-ea"/>
                <a:cs typeface="+mn-cs"/>
              </a:rPr>
              <a:t>Describing and demonstrating protocols to observe when in a tour vehicle/riding an animal</a:t>
            </a:r>
          </a:p>
          <a:p>
            <a:pPr>
              <a:buFont typeface="Arial" pitchFamily="34" charset="0"/>
              <a:buNone/>
            </a:pPr>
            <a:endParaRPr lang="en-AU" baseline="0"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http://www.aippnet.org/index.php/human-rights/763-statement-of-indigenous-peoples-a-ethnic-minorities-ipaem-of-asean</a:t>
            </a:r>
            <a:r>
              <a:rPr lang="en-AU" sz="1200" kern="1200" dirty="0" smtClean="0">
                <a:solidFill>
                  <a:schemeClr val="tx1"/>
                </a:solidFill>
                <a:latin typeface="+mn-lt"/>
                <a:ea typeface="+mn-ea"/>
                <a:cs typeface="+mn-cs"/>
              </a:rPr>
              <a:t> - Statement of indigenous peoples and ethnic minorities (IP&amp;EM) of ASEAN</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2756662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generic content of the Behaviour</a:t>
            </a:r>
            <a:r>
              <a:rPr lang="en-AU" baseline="0" noProof="0" dirty="0" smtClean="0"/>
              <a:t> Briefing:</a:t>
            </a:r>
          </a:p>
          <a:p>
            <a:pPr>
              <a:buFont typeface="Arial" pitchFamily="34" charset="0"/>
              <a:buChar char="•"/>
            </a:pPr>
            <a:r>
              <a:rPr lang="en-AU" sz="1200" kern="1200" dirty="0" smtClean="0">
                <a:solidFill>
                  <a:schemeClr val="tx1"/>
                </a:solidFill>
                <a:latin typeface="+mn-lt"/>
                <a:ea typeface="+mn-ea"/>
                <a:cs typeface="+mn-cs"/>
              </a:rPr>
              <a:t>Naming actions to optimise group safety, comfort, engagement and enjoyment</a:t>
            </a:r>
          </a:p>
          <a:p>
            <a:pPr>
              <a:buFont typeface="Arial" pitchFamily="34" charset="0"/>
              <a:buChar char="•"/>
            </a:pPr>
            <a:r>
              <a:rPr lang="en-AU" sz="1200" kern="1200" dirty="0" smtClean="0">
                <a:solidFill>
                  <a:schemeClr val="tx1"/>
                </a:solidFill>
                <a:latin typeface="+mn-lt"/>
                <a:ea typeface="+mn-ea"/>
                <a:cs typeface="+mn-cs"/>
              </a:rPr>
              <a:t>Identifying cultural issues which must be respected</a:t>
            </a:r>
          </a:p>
          <a:p>
            <a:pPr>
              <a:buFont typeface="Arial" pitchFamily="34" charset="0"/>
              <a:buChar char="•"/>
            </a:pPr>
            <a:r>
              <a:rPr lang="en-AU" sz="1200" kern="1200" dirty="0" smtClean="0">
                <a:solidFill>
                  <a:schemeClr val="tx1"/>
                </a:solidFill>
                <a:latin typeface="+mn-lt"/>
                <a:ea typeface="+mn-ea"/>
                <a:cs typeface="+mn-cs"/>
              </a:rPr>
              <a:t>Nominating environmental issues which must be taken into account</a:t>
            </a:r>
          </a:p>
          <a:p>
            <a:pPr>
              <a:buFont typeface="Arial" pitchFamily="34" charset="0"/>
              <a:buChar char="•"/>
            </a:pPr>
            <a:r>
              <a:rPr lang="en-AU" sz="1200" kern="1200" dirty="0" smtClean="0">
                <a:solidFill>
                  <a:schemeClr val="tx1"/>
                </a:solidFill>
                <a:latin typeface="+mn-lt"/>
                <a:ea typeface="+mn-ea"/>
                <a:cs typeface="+mn-cs"/>
              </a:rPr>
              <a:t>Stating social protocols which must be observed.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aseline="0"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research into and discuss about (sites such as):</a:t>
            </a:r>
          </a:p>
          <a:p>
            <a:pPr>
              <a:buFont typeface="Arial" pitchFamily="34" charset="0"/>
              <a:buNone/>
            </a:pPr>
            <a:r>
              <a:rPr lang="en-AU" sz="1200" u="sng" kern="1200" dirty="0" smtClean="0">
                <a:solidFill>
                  <a:schemeClr val="tx1"/>
                </a:solidFill>
                <a:latin typeface="+mn-lt"/>
                <a:ea typeface="+mn-ea"/>
                <a:cs typeface="+mn-cs"/>
                <a:hlinkClick r:id="rId3"/>
              </a:rPr>
              <a:t>http://www.aippnet.org/pdf/ASEAN,%20CC,%20REDD+%20AND%20IPs_FINAL.pdf</a:t>
            </a:r>
            <a:r>
              <a:rPr lang="en-AU" sz="1200" kern="1200" dirty="0" smtClean="0">
                <a:solidFill>
                  <a:schemeClr val="tx1"/>
                </a:solidFill>
                <a:latin typeface="+mn-lt"/>
                <a:ea typeface="+mn-ea"/>
                <a:cs typeface="+mn-cs"/>
              </a:rPr>
              <a:t> – ASEAN, Climate Change, REDD+and indigenous peoples.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6337615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identified possible specific topics which may need to be covered by Behaviour Briefings:</a:t>
            </a:r>
          </a:p>
          <a:p>
            <a:pPr>
              <a:buFont typeface="Arial" pitchFamily="34" charset="0"/>
              <a:buChar char="•"/>
            </a:pPr>
            <a:r>
              <a:rPr lang="en-AU" sz="1200" kern="1200" dirty="0" smtClean="0">
                <a:solidFill>
                  <a:schemeClr val="tx1"/>
                </a:solidFill>
                <a:latin typeface="+mn-lt"/>
                <a:ea typeface="+mn-ea"/>
                <a:cs typeface="+mn-cs"/>
              </a:rPr>
              <a:t>Prohibiting access to certain areas – such as:</a:t>
            </a:r>
          </a:p>
          <a:p>
            <a:pPr lvl="1">
              <a:buFont typeface="Arial" pitchFamily="34" charset="0"/>
              <a:buChar char="•"/>
            </a:pPr>
            <a:r>
              <a:rPr lang="en-US" sz="1200" kern="1200" dirty="0" smtClean="0">
                <a:solidFill>
                  <a:schemeClr val="tx1"/>
                </a:solidFill>
                <a:latin typeface="+mn-lt"/>
                <a:ea typeface="+mn-ea"/>
                <a:cs typeface="+mn-cs"/>
              </a:rPr>
              <a:t>Not entering nominated buildings and/or grounds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Staying a certain distance from designated sites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Never going into private homes/dwellings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Avoiding contact with obvious family areas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wandering off designated tracks/walking paths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Limiting the taking of photographs or video or other recordings – in relation to (for example):</a:t>
            </a:r>
          </a:p>
          <a:p>
            <a:pPr lvl="1">
              <a:buFont typeface="Arial" pitchFamily="34" charset="0"/>
              <a:buChar char="•"/>
            </a:pPr>
            <a:r>
              <a:rPr lang="en-US" sz="1200" kern="1200" dirty="0" smtClean="0">
                <a:solidFill>
                  <a:schemeClr val="tx1"/>
                </a:solidFill>
                <a:latin typeface="+mn-lt"/>
                <a:ea typeface="+mn-ea"/>
                <a:cs typeface="+mn-cs"/>
              </a:rPr>
              <a:t>Prohibiting images of indigenous people – or females, or children in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Banning recording images of designated sacred sites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Requiring permission before recording images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Asking if locals need payment to be photographed/recorded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Controlling engagement with local people – in terms of:</a:t>
            </a:r>
          </a:p>
          <a:p>
            <a:pPr lvl="1">
              <a:buFont typeface="Arial" pitchFamily="34" charset="0"/>
              <a:buChar char="•"/>
            </a:pPr>
            <a:r>
              <a:rPr lang="en-US" sz="1200" kern="1200" dirty="0" smtClean="0">
                <a:solidFill>
                  <a:schemeClr val="tx1"/>
                </a:solidFill>
                <a:latin typeface="+mn-lt"/>
                <a:ea typeface="+mn-ea"/>
                <a:cs typeface="+mn-cs"/>
              </a:rPr>
              <a:t>Banning discussion with the general population – and limiting verbal exchanges only to local/indigenous Tour Guides and/or designated community people identified as being part of the tour group/staff</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Not allowing offering of cash or gifts</a:t>
            </a:r>
          </a:p>
          <a:p>
            <a:pPr lvl="1">
              <a:buFont typeface="Arial" pitchFamily="34" charset="0"/>
              <a:buChar char="•"/>
            </a:pPr>
            <a:r>
              <a:rPr lang="en-AU" sz="1200" kern="1200" dirty="0" smtClean="0">
                <a:solidFill>
                  <a:schemeClr val="tx1"/>
                </a:solidFill>
                <a:latin typeface="+mn-lt"/>
                <a:ea typeface="+mn-ea"/>
                <a:cs typeface="+mn-cs"/>
              </a:rPr>
              <a:t>Avoiding staring</a:t>
            </a:r>
          </a:p>
          <a:p>
            <a:pPr lvl="1">
              <a:buFont typeface="Arial" pitchFamily="34" charset="0"/>
              <a:buChar char="•"/>
            </a:pPr>
            <a:r>
              <a:rPr lang="en-AU" sz="1200" kern="1200" dirty="0" smtClean="0">
                <a:solidFill>
                  <a:schemeClr val="tx1"/>
                </a:solidFill>
                <a:latin typeface="+mn-lt"/>
                <a:ea typeface="+mn-ea"/>
                <a:cs typeface="+mn-cs"/>
              </a:rPr>
              <a:t>Prohibiting eye contact</a:t>
            </a:r>
          </a:p>
          <a:p>
            <a:pPr lvl="0">
              <a:buFont typeface="Arial" pitchFamily="34" charset="0"/>
              <a:buNone/>
            </a:pPr>
            <a:endParaRPr lang="en-AU" noProof="0" dirty="0" smtClean="0"/>
          </a:p>
          <a:p>
            <a:pPr lvl="0">
              <a:buFont typeface="Arial" pitchFamily="34" charset="0"/>
              <a:buNone/>
            </a:pPr>
            <a:r>
              <a:rPr lang="en-AU" b="1" noProof="0" dirty="0" smtClean="0"/>
              <a:t>Classroom Activity – Guest Speaker</a:t>
            </a:r>
          </a:p>
          <a:p>
            <a:pPr lvl="0">
              <a:buFont typeface="Arial" pitchFamily="34" charset="0"/>
              <a:buNone/>
            </a:pPr>
            <a:r>
              <a:rPr lang="en-AU" b="0" noProof="0" dirty="0" smtClean="0"/>
              <a:t>Trainer arranges for an experienced Guest Speaker to attend and:</a:t>
            </a:r>
          </a:p>
          <a:p>
            <a:pPr lvl="0">
              <a:buFont typeface="Arial" pitchFamily="34" charset="0"/>
              <a:buChar char="•"/>
            </a:pPr>
            <a:r>
              <a:rPr lang="en-AU" b="0" noProof="0" dirty="0" smtClean="0"/>
              <a:t>Demonstrate delivery of a Behaviour Briefing</a:t>
            </a:r>
          </a:p>
          <a:p>
            <a:pPr lvl="0">
              <a:buFont typeface="Arial" pitchFamily="34" charset="0"/>
              <a:buChar char="•"/>
            </a:pPr>
            <a:r>
              <a:rPr lang="en-AU" b="0" noProof="0" dirty="0" smtClean="0"/>
              <a:t>Supply sample script for the Behaviour Briefing</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32009135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specific topics which may need to be covered by Behaviour Briefings:</a:t>
            </a:r>
          </a:p>
          <a:p>
            <a:pPr>
              <a:buFont typeface="Arial" pitchFamily="34" charset="0"/>
              <a:buChar char="•"/>
            </a:pPr>
            <a:r>
              <a:rPr lang="en-AU" sz="1200" kern="1200" dirty="0" smtClean="0">
                <a:solidFill>
                  <a:schemeClr val="tx1"/>
                </a:solidFill>
                <a:latin typeface="+mn-lt"/>
                <a:ea typeface="+mn-ea"/>
                <a:cs typeface="+mn-cs"/>
              </a:rPr>
              <a:t>Explaining and demonstrating appropriate interactions with local – which may address:</a:t>
            </a:r>
          </a:p>
          <a:p>
            <a:pPr lvl="1">
              <a:buFont typeface="Arial" pitchFamily="34" charset="0"/>
              <a:buChar char="•"/>
            </a:pPr>
            <a:r>
              <a:rPr lang="en-US" sz="1200" kern="1200" dirty="0" smtClean="0">
                <a:solidFill>
                  <a:schemeClr val="tx1"/>
                </a:solidFill>
                <a:latin typeface="+mn-lt"/>
                <a:ea typeface="+mn-ea"/>
                <a:cs typeface="+mn-cs"/>
              </a:rPr>
              <a:t>Initial contact/greeting – saying ‘Hello’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Appropriate body language – and actions to avoid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Topics which can be discussed and which should be avoided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General conversation tips and words/phrases – such as saying ‘Please’ and ‘Thank you’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Focussing on resources/items taken into a community – with reference to (for example):</a:t>
            </a:r>
          </a:p>
          <a:p>
            <a:pPr lvl="1">
              <a:buFont typeface="Arial" pitchFamily="34" charset="0"/>
              <a:buChar char="•"/>
            </a:pPr>
            <a:r>
              <a:rPr lang="en-US" sz="1200" kern="1200" dirty="0" smtClean="0">
                <a:solidFill>
                  <a:schemeClr val="tx1"/>
                </a:solidFill>
                <a:latin typeface="+mn-lt"/>
                <a:ea typeface="+mn-ea"/>
                <a:cs typeface="+mn-cs"/>
              </a:rPr>
              <a:t>Insisting all resources/items taken into a community are taken out – and no rubbish is left behind as a result of the tour, excursion or activity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Banning carriage of certain products into a community – such as disposable nappies, plastic bags, fast food, bottles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Designating items which can and cannot be removed from the community – which may address:</a:t>
            </a:r>
          </a:p>
          <a:p>
            <a:pPr lvl="1">
              <a:buFont typeface="Arial" pitchFamily="34" charset="0"/>
              <a:buChar char="•"/>
            </a:pPr>
            <a:r>
              <a:rPr lang="en-US" sz="1200" kern="1200" dirty="0" smtClean="0">
                <a:solidFill>
                  <a:schemeClr val="tx1"/>
                </a:solidFill>
                <a:latin typeface="+mn-lt"/>
                <a:ea typeface="+mn-ea"/>
                <a:cs typeface="+mn-cs"/>
              </a:rPr>
              <a:t>Banning removal of food, flora and fauna from the area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Stressing only merchandise purchased from the locals can be removed</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0756747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specific topics which may need to be covered by Behaviour Briefings:</a:t>
            </a:r>
          </a:p>
          <a:p>
            <a:pPr>
              <a:buFont typeface="Arial" pitchFamily="34" charset="0"/>
              <a:buChar char="•"/>
            </a:pPr>
            <a:r>
              <a:rPr lang="en-AU" sz="1200" kern="1200" dirty="0" smtClean="0">
                <a:solidFill>
                  <a:schemeClr val="tx1"/>
                </a:solidFill>
                <a:latin typeface="+mn-lt"/>
                <a:ea typeface="+mn-ea"/>
                <a:cs typeface="+mn-cs"/>
              </a:rPr>
              <a:t>Stressing the need to conserve (and/or </a:t>
            </a:r>
            <a:r>
              <a:rPr lang="en-AU" sz="1200" i="1" kern="1200" dirty="0" smtClean="0">
                <a:solidFill>
                  <a:schemeClr val="tx1"/>
                </a:solidFill>
                <a:latin typeface="+mn-lt"/>
                <a:ea typeface="+mn-ea"/>
                <a:cs typeface="+mn-cs"/>
              </a:rPr>
              <a:t>not use at all</a:t>
            </a:r>
            <a:r>
              <a:rPr lang="en-AU" sz="1200" kern="1200" dirty="0" smtClean="0">
                <a:solidFill>
                  <a:schemeClr val="tx1"/>
                </a:solidFill>
                <a:latin typeface="+mn-lt"/>
                <a:ea typeface="+mn-ea"/>
                <a:cs typeface="+mn-cs"/>
              </a:rPr>
              <a:t>) local and limited resources – which may be:</a:t>
            </a:r>
          </a:p>
          <a:p>
            <a:pPr lvl="1">
              <a:buFont typeface="Arial" pitchFamily="34" charset="0"/>
              <a:buChar char="•"/>
            </a:pPr>
            <a:r>
              <a:rPr lang="en-US" sz="1200" kern="1200" dirty="0" smtClean="0">
                <a:solidFill>
                  <a:schemeClr val="tx1"/>
                </a:solidFill>
                <a:latin typeface="+mn-lt"/>
                <a:ea typeface="+mn-ea"/>
                <a:cs typeface="+mn-cs"/>
              </a:rPr>
              <a:t>Water/drinking water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Wood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Foodstuffs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Describing action to take in relation to local flora and fauna – such as:</a:t>
            </a:r>
          </a:p>
          <a:p>
            <a:pPr lvl="1">
              <a:buFont typeface="Arial" pitchFamily="34" charset="0"/>
              <a:buChar char="•"/>
            </a:pPr>
            <a:r>
              <a:rPr lang="en-US" sz="1200" kern="1200" dirty="0" smtClean="0">
                <a:solidFill>
                  <a:schemeClr val="tx1"/>
                </a:solidFill>
                <a:latin typeface="+mn-lt"/>
                <a:ea typeface="+mn-ea"/>
                <a:cs typeface="+mn-cs"/>
              </a:rPr>
              <a:t>Not scaring animals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touching, patting or feeding local stock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picking flowers.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Role Play</a:t>
            </a:r>
          </a:p>
          <a:p>
            <a:pPr>
              <a:buFont typeface="Arial" pitchFamily="34" charset="0"/>
              <a:buNone/>
            </a:pPr>
            <a:r>
              <a:rPr lang="en-AU" b="0" noProof="0" dirty="0" smtClean="0"/>
              <a:t>Trainer asks students to play the role of a Tour Guide conducting a Behaviour</a:t>
            </a:r>
            <a:r>
              <a:rPr lang="en-AU" b="0" baseline="0" noProof="0" dirty="0" smtClean="0"/>
              <a:t> Briefing to a tour group</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93470478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options for sharing general information:</a:t>
            </a:r>
          </a:p>
          <a:p>
            <a:pPr>
              <a:buFont typeface="Arial" pitchFamily="34" charset="0"/>
              <a:buChar char="•"/>
            </a:pPr>
            <a:r>
              <a:rPr lang="en-AU" sz="1200" kern="1200" dirty="0" smtClean="0">
                <a:solidFill>
                  <a:schemeClr val="tx1"/>
                </a:solidFill>
                <a:latin typeface="+mn-lt"/>
                <a:ea typeface="+mn-ea"/>
                <a:cs typeface="+mn-cs"/>
              </a:rPr>
              <a:t>Delivering verbal presentations – in terms of:</a:t>
            </a:r>
          </a:p>
          <a:p>
            <a:pPr lvl="1">
              <a:buFont typeface="Arial" pitchFamily="34" charset="0"/>
              <a:buChar char="•"/>
            </a:pPr>
            <a:r>
              <a:rPr lang="en-US" sz="1200" kern="1200" dirty="0" smtClean="0">
                <a:solidFill>
                  <a:schemeClr val="tx1"/>
                </a:solidFill>
                <a:latin typeface="+mn-lt"/>
                <a:ea typeface="+mn-ea"/>
                <a:cs typeface="+mn-cs"/>
              </a:rPr>
              <a:t>Formal, structured presentations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Casual, supplementary contributions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Providing handout materials</a:t>
            </a:r>
          </a:p>
          <a:p>
            <a:pPr>
              <a:buFont typeface="Arial" pitchFamily="34" charset="0"/>
              <a:buChar char="•"/>
            </a:pPr>
            <a:r>
              <a:rPr lang="en-AU" sz="1200" kern="1200" dirty="0" smtClean="0">
                <a:solidFill>
                  <a:schemeClr val="tx1"/>
                </a:solidFill>
                <a:latin typeface="+mn-lt"/>
                <a:ea typeface="+mn-ea"/>
                <a:cs typeface="+mn-cs"/>
              </a:rPr>
              <a:t>Using recorded presentations</a:t>
            </a:r>
          </a:p>
          <a:p>
            <a:pPr>
              <a:buFont typeface="Arial" pitchFamily="34" charset="0"/>
              <a:buChar char="•"/>
            </a:pPr>
            <a:r>
              <a:rPr lang="en-AU" sz="1200" kern="1200" dirty="0" smtClean="0">
                <a:solidFill>
                  <a:schemeClr val="tx1"/>
                </a:solidFill>
                <a:latin typeface="+mn-lt"/>
                <a:ea typeface="+mn-ea"/>
                <a:cs typeface="+mn-cs"/>
              </a:rPr>
              <a:t>Making community visits</a:t>
            </a:r>
          </a:p>
          <a:p>
            <a:pPr>
              <a:buFont typeface="Arial" pitchFamily="34" charset="0"/>
              <a:buChar char="•"/>
            </a:pPr>
            <a:r>
              <a:rPr lang="en-AU" sz="1200" kern="1200" dirty="0" smtClean="0">
                <a:solidFill>
                  <a:schemeClr val="tx1"/>
                </a:solidFill>
                <a:latin typeface="+mn-lt"/>
                <a:ea typeface="+mn-ea"/>
                <a:cs typeface="+mn-cs"/>
              </a:rPr>
              <a:t>Implementing interpretive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26311796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verbal presentations offering they may include:</a:t>
            </a:r>
          </a:p>
          <a:p>
            <a:pPr>
              <a:buFont typeface="Arial" pitchFamily="34" charset="0"/>
              <a:buChar char="•"/>
            </a:pPr>
            <a:r>
              <a:rPr lang="en-AU" sz="1200" kern="1200" dirty="0" smtClean="0">
                <a:solidFill>
                  <a:schemeClr val="tx1"/>
                </a:solidFill>
                <a:latin typeface="+mn-lt"/>
                <a:ea typeface="+mn-ea"/>
                <a:cs typeface="+mn-cs"/>
              </a:rPr>
              <a:t>Formal, structured presentations – which:</a:t>
            </a:r>
          </a:p>
          <a:p>
            <a:pPr lvl="1">
              <a:buFont typeface="Arial" pitchFamily="34" charset="0"/>
              <a:buChar char="•"/>
            </a:pPr>
            <a:r>
              <a:rPr lang="en-US" sz="1200" kern="1200" dirty="0" smtClean="0">
                <a:solidFill>
                  <a:schemeClr val="tx1"/>
                </a:solidFill>
                <a:latin typeface="+mn-lt"/>
                <a:ea typeface="+mn-ea"/>
                <a:cs typeface="+mn-cs"/>
              </a:rPr>
              <a:t>Are provided to all tour group members for every tour, excursion or activity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Will be time-limited – in that they need to be completed in a set time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Have been developed before-hand and may have been approved by the destination communities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Are</a:t>
            </a:r>
            <a:r>
              <a:rPr lang="en-AU" sz="1200" kern="1200" dirty="0" smtClean="0">
                <a:solidFill>
                  <a:schemeClr val="tx1"/>
                </a:solidFill>
                <a:latin typeface="+mn-lt"/>
                <a:ea typeface="+mn-ea"/>
                <a:cs typeface="+mn-cs"/>
              </a:rPr>
              <a:t> targetted</a:t>
            </a:r>
            <a:r>
              <a:rPr lang="en-US" sz="1200" kern="1200" dirty="0" smtClean="0">
                <a:solidFill>
                  <a:schemeClr val="tx1"/>
                </a:solidFill>
                <a:latin typeface="+mn-lt"/>
                <a:ea typeface="+mn-ea"/>
                <a:cs typeface="+mn-cs"/>
              </a:rPr>
              <a:t> to the individual community that is the focus of an up-coming tour/activity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Address topics relevant to the type and aim/objectives of the tour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Ensure ‘required topics’ as identified by the indigenous people are delivered and explained to the tour groups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May be supplemented by use of a PowerPoint, slide or overhead projection presentation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Could include distribution of handout materials and recorded information – see later slides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May feature demonstrations – to illustrate certain points deemed important/central to the tour/activity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Casual, supplementary contributions – these are comments made by the Tour Guide and other tour staff:</a:t>
            </a:r>
          </a:p>
          <a:p>
            <a:pPr lvl="1">
              <a:buFont typeface="Arial" pitchFamily="34" charset="0"/>
              <a:buChar char="•"/>
            </a:pPr>
            <a:r>
              <a:rPr lang="en-US" sz="1200" kern="1200" dirty="0" smtClean="0">
                <a:solidFill>
                  <a:schemeClr val="tx1"/>
                </a:solidFill>
                <a:latin typeface="+mn-lt"/>
                <a:ea typeface="+mn-ea"/>
                <a:cs typeface="+mn-cs"/>
              </a:rPr>
              <a:t>In response to special requests raised by tour group members when on-tour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When answering on-tour questions asked by members of the tour group</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While conversing with individuals or small groups while on-tour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Scripted commentaries – these:</a:t>
            </a:r>
          </a:p>
          <a:p>
            <a:pPr lvl="1">
              <a:buFont typeface="Arial" pitchFamily="34" charset="0"/>
              <a:buChar char="•"/>
            </a:pPr>
            <a:r>
              <a:rPr lang="en-US" sz="1200" kern="1200" dirty="0" smtClean="0">
                <a:solidFill>
                  <a:schemeClr val="tx1"/>
                </a:solidFill>
                <a:latin typeface="+mn-lt"/>
                <a:ea typeface="+mn-ea"/>
                <a:cs typeface="+mn-cs"/>
              </a:rPr>
              <a:t>The pre-prepared/written scripts used when providing a tour commentary when on-tour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Differ to reflect the individual requirements of each tour type</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Provide consistent general information to every tour group on every tour</a:t>
            </a:r>
          </a:p>
          <a:p>
            <a:pPr lvl="1">
              <a:buFont typeface="Arial" pitchFamily="34" charset="0"/>
              <a:buChar char="•"/>
            </a:pPr>
            <a:r>
              <a:rPr lang="en-AU" sz="1200" kern="1200" dirty="0" smtClean="0">
                <a:solidFill>
                  <a:schemeClr val="tx1"/>
                </a:solidFill>
                <a:latin typeface="+mn-lt"/>
                <a:ea typeface="+mn-ea"/>
                <a:cs typeface="+mn-cs"/>
              </a:rPr>
              <a:t>Are sequenced to match sights and activities featured on the tour</a:t>
            </a:r>
          </a:p>
          <a:p>
            <a:pPr lvl="1">
              <a:buFont typeface="Arial" pitchFamily="34" charset="0"/>
              <a:buChar char="•"/>
            </a:pPr>
            <a:r>
              <a:rPr lang="en-AU" sz="1200" kern="1200" dirty="0" smtClean="0">
                <a:solidFill>
                  <a:schemeClr val="tx1"/>
                </a:solidFill>
                <a:latin typeface="+mn-lt"/>
                <a:ea typeface="+mn-ea"/>
                <a:cs typeface="+mn-cs"/>
              </a:rPr>
              <a:t>Are based on significant research and input from relevant stakeholders including the indigenous community</a:t>
            </a:r>
          </a:p>
          <a:p>
            <a:pPr lvl="1">
              <a:buFont typeface="Arial" pitchFamily="34" charset="0"/>
              <a:buChar char="•"/>
            </a:pPr>
            <a:r>
              <a:rPr lang="en-AU" sz="1200" kern="1200" dirty="0" smtClean="0">
                <a:solidFill>
                  <a:schemeClr val="tx1"/>
                </a:solidFill>
                <a:latin typeface="+mn-lt"/>
                <a:ea typeface="+mn-ea"/>
                <a:cs typeface="+mn-cs"/>
              </a:rPr>
              <a:t>Will be approved by the local community to ensure it is factual and truly reflective of their culture</a:t>
            </a:r>
          </a:p>
          <a:p>
            <a:pPr>
              <a:buFont typeface="Arial" pitchFamily="34" charset="0"/>
              <a:buChar char="•"/>
            </a:pPr>
            <a:r>
              <a:rPr lang="en-AU" sz="1200" kern="1200" dirty="0" smtClean="0">
                <a:solidFill>
                  <a:schemeClr val="tx1"/>
                </a:solidFill>
                <a:latin typeface="+mn-lt"/>
                <a:ea typeface="+mn-ea"/>
                <a:cs typeface="+mn-cs"/>
              </a:rPr>
              <a:t>Unscripted commentaries – these are different to ‘Casual, supplementary contributions’ as described above in that they:</a:t>
            </a:r>
          </a:p>
          <a:p>
            <a:pPr lvl="1">
              <a:buFont typeface="Arial" pitchFamily="34" charset="0"/>
              <a:buChar char="•"/>
            </a:pPr>
            <a:r>
              <a:rPr lang="en-US" sz="1200" kern="1200" dirty="0" smtClean="0">
                <a:solidFill>
                  <a:schemeClr val="tx1"/>
                </a:solidFill>
                <a:latin typeface="+mn-lt"/>
                <a:ea typeface="+mn-ea"/>
                <a:cs typeface="+mn-cs"/>
              </a:rPr>
              <a:t>Add information about topics and issues as they arise on tour which are ‘over and above’ the content covered by the scripted commentary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Address ‘one-off’ instances observed by the group while on-tour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Factor in seasonal and unique events.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a:t>
            </a:r>
            <a:r>
              <a:rPr lang="en-AU" b="0" baseline="0" noProof="0" dirty="0" smtClean="0"/>
              <a:t> and discusses sample scripted commentary.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2332709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handout</a:t>
            </a:r>
            <a:r>
              <a:rPr lang="en-AU" baseline="0" noProof="0" dirty="0" smtClean="0"/>
              <a:t> materials which can include:</a:t>
            </a:r>
          </a:p>
          <a:p>
            <a:pPr>
              <a:buFont typeface="Arial" pitchFamily="34" charset="0"/>
              <a:buChar char="•"/>
            </a:pPr>
            <a:r>
              <a:rPr lang="en-AU" sz="1200" kern="1200" dirty="0" smtClean="0">
                <a:solidFill>
                  <a:schemeClr val="tx1"/>
                </a:solidFill>
                <a:latin typeface="+mn-lt"/>
                <a:ea typeface="+mn-ea"/>
                <a:cs typeface="+mn-cs"/>
              </a:rPr>
              <a:t>Information sheets – giving basic information about the destination such as coverage of topics including:</a:t>
            </a:r>
          </a:p>
          <a:p>
            <a:pPr lvl="1">
              <a:buFont typeface="Arial" pitchFamily="34" charset="0"/>
              <a:buChar char="•"/>
            </a:pPr>
            <a:r>
              <a:rPr lang="en-US" sz="1200" kern="1200" dirty="0" smtClean="0">
                <a:solidFill>
                  <a:schemeClr val="tx1"/>
                </a:solidFill>
                <a:latin typeface="+mn-lt"/>
                <a:ea typeface="+mn-ea"/>
                <a:cs typeface="+mn-cs"/>
              </a:rPr>
              <a:t>History; Geographical features; Flora and fauna; Customs and beliefs; Social and family structures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Rites and religions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Fact sheets – which may be produced to supplement and extend information on topics which provide a focus for individual tour types. These sheets – which will vary depending on the nature/type/title of the tour being conducted into the indigenous community – give ‘extra’ detail and insight on the individual headings/topics covered by the Information sheets.</a:t>
            </a:r>
          </a:p>
          <a:p>
            <a:pPr>
              <a:buFont typeface="Arial" pitchFamily="34" charset="0"/>
              <a:buChar char="•"/>
            </a:pPr>
            <a:r>
              <a:rPr lang="en-AU" sz="1200" kern="1200" dirty="0" smtClean="0">
                <a:solidFill>
                  <a:schemeClr val="tx1"/>
                </a:solidFill>
                <a:latin typeface="+mn-lt"/>
                <a:ea typeface="+mn-ea"/>
                <a:cs typeface="+mn-cs"/>
              </a:rPr>
              <a:t>Photographs, illustrations and drawings – relating to people, their community, their art, animals and a wide range of potential other topics.</a:t>
            </a:r>
          </a:p>
          <a:p>
            <a:pPr lvl="1">
              <a:buFont typeface="Arial" pitchFamily="34" charset="0"/>
              <a:buChar char="•"/>
            </a:pPr>
            <a:r>
              <a:rPr lang="en-AU" sz="1200" kern="1200" dirty="0" smtClean="0">
                <a:solidFill>
                  <a:schemeClr val="tx1"/>
                </a:solidFill>
                <a:latin typeface="+mn-lt"/>
                <a:ea typeface="+mn-ea"/>
                <a:cs typeface="+mn-cs"/>
              </a:rPr>
              <a:t>Once again the focus of these should reflect the nature, type or title of the tour as well as any known interests or special requests made by tour group members.</a:t>
            </a:r>
          </a:p>
          <a:p>
            <a:pPr>
              <a:buFont typeface="Arial" pitchFamily="34" charset="0"/>
              <a:buChar char="•"/>
            </a:pPr>
            <a:r>
              <a:rPr lang="en-AU" sz="1200" kern="1200" dirty="0" smtClean="0">
                <a:solidFill>
                  <a:schemeClr val="tx1"/>
                </a:solidFill>
                <a:latin typeface="+mn-lt"/>
                <a:ea typeface="+mn-ea"/>
                <a:cs typeface="+mn-cs"/>
              </a:rPr>
              <a:t>Sample items – this may involve:</a:t>
            </a:r>
          </a:p>
          <a:p>
            <a:pPr lvl="1">
              <a:buFont typeface="Arial" pitchFamily="34" charset="0"/>
              <a:buChar char="•"/>
            </a:pPr>
            <a:r>
              <a:rPr lang="en-US" sz="1200" kern="1200" dirty="0" smtClean="0">
                <a:solidFill>
                  <a:schemeClr val="tx1"/>
                </a:solidFill>
                <a:latin typeface="+mn-lt"/>
                <a:ea typeface="+mn-ea"/>
                <a:cs typeface="+mn-cs"/>
              </a:rPr>
              <a:t>Showing of indigenous artifacts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Tasting of local food and beverages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Distribution of examples of local work and art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Interpretive activity sheets – these can:</a:t>
            </a:r>
          </a:p>
          <a:p>
            <a:pPr lvl="1">
              <a:buFont typeface="Arial" pitchFamily="34" charset="0"/>
              <a:buChar char="•"/>
            </a:pPr>
            <a:r>
              <a:rPr lang="en-US" sz="1200" kern="1200" dirty="0" smtClean="0">
                <a:solidFill>
                  <a:schemeClr val="tx1"/>
                </a:solidFill>
                <a:latin typeface="+mn-lt"/>
                <a:ea typeface="+mn-ea"/>
                <a:cs typeface="+mn-cs"/>
              </a:rPr>
              <a:t>Provide targeted information relevant only to specific interpretive activities to be conducted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Give relevant background information to assist with understanding the context for each interpretive activity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Include observation (or ‘scoring’) sheets – for tour group members to record their findings, feelings, experiences and similar.</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a:t>
            </a:r>
            <a:r>
              <a:rPr lang="en-AU" b="0" baseline="0" noProof="0" dirty="0" smtClean="0"/>
              <a:t> and discusses items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411317980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observes </a:t>
            </a:r>
            <a:r>
              <a:rPr lang="en-AU" sz="1200" kern="1200" dirty="0" smtClean="0">
                <a:solidFill>
                  <a:schemeClr val="tx1"/>
                </a:solidFill>
                <a:latin typeface="+mn-lt"/>
                <a:ea typeface="+mn-ea"/>
                <a:cs typeface="+mn-cs"/>
              </a:rPr>
              <a:t>general information may also be shared using:</a:t>
            </a:r>
          </a:p>
          <a:p>
            <a:pPr>
              <a:buFont typeface="Arial" pitchFamily="34" charset="0"/>
              <a:buChar char="•"/>
            </a:pPr>
            <a:r>
              <a:rPr lang="en-AU" sz="1200" kern="1200" dirty="0" smtClean="0">
                <a:solidFill>
                  <a:schemeClr val="tx1"/>
                </a:solidFill>
                <a:latin typeface="+mn-lt"/>
                <a:ea typeface="+mn-ea"/>
                <a:cs typeface="+mn-cs"/>
              </a:rPr>
              <a:t>A video/DVD which provides general information about the overall indigenous community and people – this video/DVD would be shown to all tour groups </a:t>
            </a:r>
          </a:p>
          <a:p>
            <a:pPr>
              <a:buFont typeface="Arial" pitchFamily="34" charset="0"/>
              <a:buChar char="•"/>
            </a:pPr>
            <a:r>
              <a:rPr lang="en-AU" sz="1200" kern="1200" dirty="0" smtClean="0">
                <a:solidFill>
                  <a:schemeClr val="tx1"/>
                </a:solidFill>
                <a:latin typeface="+mn-lt"/>
                <a:ea typeface="+mn-ea"/>
                <a:cs typeface="+mn-cs"/>
              </a:rPr>
              <a:t>A range of sub-ordinate videos/DVDs – which provide information targeted to narrower elements/topics which will be addressed by certain tour types</a:t>
            </a:r>
          </a:p>
          <a:p>
            <a:pPr>
              <a:buFont typeface="Arial" pitchFamily="34" charset="0"/>
              <a:buChar char="•"/>
            </a:pPr>
            <a:r>
              <a:rPr lang="en-AU" sz="1200" kern="1200" dirty="0" smtClean="0">
                <a:solidFill>
                  <a:schemeClr val="tx1"/>
                </a:solidFill>
                <a:latin typeface="+mn-lt"/>
                <a:ea typeface="+mn-ea"/>
                <a:cs typeface="+mn-cs"/>
              </a:rPr>
              <a:t>Electronic personal devices – provided to individual tour group members to enable them to conduct their own ‘self briefings’</a:t>
            </a:r>
          </a:p>
          <a:p>
            <a:pPr>
              <a:buFont typeface="Arial" pitchFamily="34" charset="0"/>
              <a:buChar char="•"/>
            </a:pPr>
            <a:r>
              <a:rPr lang="en-AU" sz="1200" kern="1200" dirty="0" smtClean="0">
                <a:solidFill>
                  <a:schemeClr val="tx1"/>
                </a:solidFill>
                <a:latin typeface="+mn-lt"/>
                <a:ea typeface="+mn-ea"/>
                <a:cs typeface="+mn-cs"/>
              </a:rPr>
              <a:t>A range of ‘images’ – which may be shared/communicated using:</a:t>
            </a:r>
          </a:p>
          <a:p>
            <a:pPr lvl="1">
              <a:buFont typeface="Arial" pitchFamily="34" charset="0"/>
              <a:buChar char="•"/>
            </a:pPr>
            <a:r>
              <a:rPr lang="en-US" sz="1200" kern="1200" dirty="0" smtClean="0">
                <a:solidFill>
                  <a:schemeClr val="tx1"/>
                </a:solidFill>
                <a:latin typeface="+mn-lt"/>
                <a:ea typeface="+mn-ea"/>
                <a:cs typeface="+mn-cs"/>
              </a:rPr>
              <a:t>Booklets and brochures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Individual photographs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PowerPoint presentations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Audio recording – of language, singing, animals, natural events.</a:t>
            </a:r>
          </a:p>
          <a:p>
            <a:pPr>
              <a:buFont typeface="Arial" pitchFamily="34" charset="0"/>
              <a:buNone/>
            </a:pPr>
            <a:endParaRPr lang="en-AU" noProof="0" dirty="0" smtClean="0"/>
          </a:p>
          <a:p>
            <a:pPr>
              <a:buFont typeface="Arial" pitchFamily="34" charset="0"/>
              <a:buNone/>
            </a:pPr>
            <a:r>
              <a:rPr lang="en-AU" b="1" noProof="0" dirty="0" smtClean="0"/>
              <a:t>Classroom Activity – Demonstration</a:t>
            </a:r>
          </a:p>
          <a:p>
            <a:pPr>
              <a:buFont typeface="Arial" pitchFamily="34" charset="0"/>
              <a:buNone/>
            </a:pPr>
            <a:r>
              <a:rPr lang="en-AU" b="0" noProof="0" dirty="0" smtClean="0"/>
              <a:t>Trainer demonstrates use of the resources identified on the slide for sharing</a:t>
            </a:r>
            <a:r>
              <a:rPr lang="en-AU" b="0" baseline="0" noProof="0" dirty="0" smtClean="0"/>
              <a:t> general knowledge about indigenous communities.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10911633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a:t>
            </a:r>
            <a:r>
              <a:rPr lang="en-AU" sz="1200" kern="1200" dirty="0" smtClean="0">
                <a:solidFill>
                  <a:schemeClr val="tx1"/>
                </a:solidFill>
                <a:latin typeface="+mn-lt"/>
                <a:ea typeface="+mn-ea"/>
                <a:cs typeface="+mn-cs"/>
              </a:rPr>
              <a:t>general information sharing always includes </a:t>
            </a:r>
            <a:r>
              <a:rPr lang="en-AU" noProof="0" dirty="0" smtClean="0"/>
              <a:t>community visits where:</a:t>
            </a:r>
          </a:p>
          <a:p>
            <a:pPr>
              <a:buFont typeface="Arial" pitchFamily="34" charset="0"/>
              <a:buChar char="•"/>
            </a:pPr>
            <a:r>
              <a:rPr lang="en-AU" sz="1200" kern="1200" dirty="0" smtClean="0">
                <a:solidFill>
                  <a:schemeClr val="tx1"/>
                </a:solidFill>
                <a:latin typeface="+mn-lt"/>
                <a:ea typeface="+mn-ea"/>
                <a:cs typeface="+mn-cs"/>
              </a:rPr>
              <a:t>Tour groups physically go into the community – to observe the people and the environment and engage with the land/community</a:t>
            </a:r>
          </a:p>
          <a:p>
            <a:pPr>
              <a:buFont typeface="Arial" pitchFamily="34" charset="0"/>
              <a:buChar char="•"/>
            </a:pPr>
            <a:r>
              <a:rPr lang="en-AU" sz="1200" kern="1200" dirty="0" smtClean="0">
                <a:solidFill>
                  <a:schemeClr val="tx1"/>
                </a:solidFill>
                <a:latin typeface="+mn-lt"/>
                <a:ea typeface="+mn-ea"/>
                <a:cs typeface="+mn-cs"/>
              </a:rPr>
              <a:t>Customers interact with the indigenous communities – in-keeping with pre-arranged/allowed limits</a:t>
            </a:r>
          </a:p>
          <a:p>
            <a:pPr>
              <a:buFont typeface="Arial" pitchFamily="34" charset="0"/>
              <a:buChar char="•"/>
            </a:pPr>
            <a:r>
              <a:rPr lang="en-AU" sz="1200" kern="1200" dirty="0" smtClean="0">
                <a:solidFill>
                  <a:schemeClr val="tx1"/>
                </a:solidFill>
                <a:latin typeface="+mn-lt"/>
                <a:ea typeface="+mn-ea"/>
                <a:cs typeface="+mn-cs"/>
              </a:rPr>
              <a:t>Tourists become immersed in the totality of the indigenous culture – and what it has to offer</a:t>
            </a:r>
          </a:p>
          <a:p>
            <a:pPr>
              <a:buFont typeface="Arial" pitchFamily="34" charset="0"/>
              <a:buChar char="•"/>
            </a:pPr>
            <a:r>
              <a:rPr lang="en-AU" sz="1200" kern="1200" dirty="0" smtClean="0">
                <a:solidFill>
                  <a:schemeClr val="tx1"/>
                </a:solidFill>
                <a:latin typeface="+mn-lt"/>
                <a:ea typeface="+mn-ea"/>
                <a:cs typeface="+mn-cs"/>
              </a:rPr>
              <a:t>Tour group members engage with a range of interpretive activities – pre-prepared by the Tour Operator and approved and supported by the local community.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28589827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interpretive guiding techniques can also be used to share general information inasmuch that:</a:t>
            </a:r>
          </a:p>
          <a:p>
            <a:pPr>
              <a:buFont typeface="Arial" pitchFamily="34" charset="0"/>
              <a:buChar char="•"/>
            </a:pPr>
            <a:r>
              <a:rPr lang="en-AU" sz="1200" kern="1200" dirty="0" smtClean="0">
                <a:solidFill>
                  <a:schemeClr val="tx1"/>
                </a:solidFill>
                <a:latin typeface="+mn-lt"/>
                <a:ea typeface="+mn-ea"/>
                <a:cs typeface="+mn-cs"/>
              </a:rPr>
              <a:t>They can be seen as the use of interpretive activities and presentation techniques by a Tour Guide when leading/presenting a tour </a:t>
            </a:r>
          </a:p>
          <a:p>
            <a:pPr>
              <a:buFont typeface="Arial" pitchFamily="34" charset="0"/>
              <a:buChar char="•"/>
            </a:pPr>
            <a:r>
              <a:rPr lang="en-AU" sz="1200" kern="1200" dirty="0" smtClean="0">
                <a:solidFill>
                  <a:schemeClr val="tx1"/>
                </a:solidFill>
                <a:latin typeface="+mn-lt"/>
                <a:ea typeface="+mn-ea"/>
                <a:cs typeface="+mn-cs"/>
              </a:rPr>
              <a:t>Their use makes a tour for participants a much more memorable experience.</a:t>
            </a:r>
          </a:p>
          <a:p>
            <a:pPr>
              <a:buFont typeface="Arial" pitchFamily="34" charset="0"/>
              <a:buChar char="•"/>
            </a:pPr>
            <a:r>
              <a:rPr lang="en-AU" sz="1200" kern="1200" dirty="0" smtClean="0">
                <a:solidFill>
                  <a:schemeClr val="tx1"/>
                </a:solidFill>
                <a:latin typeface="+mn-lt"/>
                <a:ea typeface="+mn-ea"/>
                <a:cs typeface="+mn-cs"/>
              </a:rPr>
              <a:t>It goes beyond the basic provision of information which is seen by many as their sole objective when conducting a tour</a:t>
            </a:r>
          </a:p>
          <a:p>
            <a:pPr>
              <a:buFont typeface="Arial" pitchFamily="34" charset="0"/>
              <a:buChar char="•"/>
            </a:pPr>
            <a:r>
              <a:rPr lang="en-AU" sz="1200" kern="1200" dirty="0" smtClean="0">
                <a:solidFill>
                  <a:schemeClr val="tx1"/>
                </a:solidFill>
                <a:latin typeface="+mn-lt"/>
                <a:ea typeface="+mn-ea"/>
                <a:cs typeface="+mn-cs"/>
              </a:rPr>
              <a:t>Their implementation refers to the use of interpretive activities and techniques to interpret the topics/areas which are the focus of the tour or encountered along the way.</a:t>
            </a:r>
          </a:p>
          <a:p>
            <a:pPr>
              <a:buFont typeface="Arial" pitchFamily="34" charset="0"/>
              <a:buChar char="•"/>
            </a:pPr>
            <a:r>
              <a:rPr lang="en-AU" sz="1200" kern="1200" dirty="0" smtClean="0">
                <a:solidFill>
                  <a:schemeClr val="tx1"/>
                </a:solidFill>
                <a:latin typeface="+mn-lt"/>
                <a:ea typeface="+mn-ea"/>
                <a:cs typeface="+mn-cs"/>
              </a:rPr>
              <a:t>They seek to make people care about, and care for, topics and subjects which are the focus of interpretive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6502076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interpretive guiding </a:t>
            </a:r>
            <a:r>
              <a:rPr lang="en-AU" sz="1200" kern="1200" dirty="0" smtClean="0">
                <a:solidFill>
                  <a:schemeClr val="tx1"/>
                </a:solidFill>
                <a:latin typeface="+mn-lt"/>
                <a:ea typeface="+mn-ea"/>
                <a:cs typeface="+mn-cs"/>
              </a:rPr>
              <a:t>techniques which may be used for sharing general knowledge:</a:t>
            </a:r>
          </a:p>
          <a:p>
            <a:pPr>
              <a:buFont typeface="Arial" pitchFamily="34" charset="0"/>
              <a:buChar char="•"/>
            </a:pPr>
            <a:r>
              <a:rPr lang="en-AU" sz="1200" kern="1200" dirty="0" smtClean="0">
                <a:solidFill>
                  <a:schemeClr val="tx1"/>
                </a:solidFill>
                <a:latin typeface="+mn-lt"/>
                <a:ea typeface="+mn-ea"/>
                <a:cs typeface="+mn-cs"/>
              </a:rPr>
              <a:t>Role playing </a:t>
            </a:r>
          </a:p>
          <a:p>
            <a:pPr>
              <a:buFont typeface="Arial" pitchFamily="34" charset="0"/>
              <a:buChar char="•"/>
            </a:pPr>
            <a:r>
              <a:rPr lang="en-AU" sz="1200" kern="1200" dirty="0" smtClean="0">
                <a:solidFill>
                  <a:schemeClr val="tx1"/>
                </a:solidFill>
                <a:latin typeface="+mn-lt"/>
                <a:ea typeface="+mn-ea"/>
                <a:cs typeface="+mn-cs"/>
              </a:rPr>
              <a:t>Using different voice techniques </a:t>
            </a:r>
          </a:p>
          <a:p>
            <a:pPr>
              <a:buFont typeface="Arial" pitchFamily="34" charset="0"/>
              <a:buChar char="•"/>
            </a:pPr>
            <a:r>
              <a:rPr lang="en-AU" sz="1200" kern="1200" dirty="0" smtClean="0">
                <a:solidFill>
                  <a:schemeClr val="tx1"/>
                </a:solidFill>
                <a:latin typeface="+mn-lt"/>
                <a:ea typeface="+mn-ea"/>
                <a:cs typeface="+mn-cs"/>
              </a:rPr>
              <a:t>Story-telling </a:t>
            </a:r>
          </a:p>
          <a:p>
            <a:pPr>
              <a:buFont typeface="Arial" pitchFamily="34" charset="0"/>
              <a:buChar char="•"/>
            </a:pPr>
            <a:r>
              <a:rPr lang="en-AU" sz="1200" kern="1200" dirty="0" smtClean="0">
                <a:solidFill>
                  <a:schemeClr val="tx1"/>
                </a:solidFill>
                <a:latin typeface="+mn-lt"/>
                <a:ea typeface="+mn-ea"/>
                <a:cs typeface="+mn-cs"/>
              </a:rPr>
              <a:t>Playing of games </a:t>
            </a:r>
          </a:p>
          <a:p>
            <a:pPr>
              <a:buFont typeface="Arial" pitchFamily="34" charset="0"/>
              <a:buChar char="•"/>
            </a:pPr>
            <a:r>
              <a:rPr lang="en-AU" sz="1200" kern="1200" dirty="0" smtClean="0">
                <a:solidFill>
                  <a:schemeClr val="tx1"/>
                </a:solidFill>
                <a:latin typeface="+mn-lt"/>
                <a:ea typeface="+mn-ea"/>
                <a:cs typeface="+mn-cs"/>
              </a:rPr>
              <a:t>Conducting activities </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uses the interpretive guiding techniques identified on the slide to present general information to a simulated tour group and provides an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0008523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identify interpretive guiding </a:t>
            </a:r>
            <a:r>
              <a:rPr lang="en-AU" sz="1200" kern="1200" dirty="0" smtClean="0">
                <a:solidFill>
                  <a:schemeClr val="tx1"/>
                </a:solidFill>
                <a:latin typeface="+mn-lt"/>
                <a:ea typeface="+mn-ea"/>
                <a:cs typeface="+mn-cs"/>
              </a:rPr>
              <a:t>techniques which may be used for sharing general knowledge:</a:t>
            </a:r>
          </a:p>
          <a:p>
            <a:pPr>
              <a:buFont typeface="Arial" pitchFamily="34" charset="0"/>
              <a:buChar char="•"/>
            </a:pPr>
            <a:r>
              <a:rPr lang="en-AU" sz="1200" kern="1200" dirty="0" smtClean="0">
                <a:solidFill>
                  <a:schemeClr val="tx1"/>
                </a:solidFill>
                <a:latin typeface="+mn-lt"/>
                <a:ea typeface="+mn-ea"/>
                <a:cs typeface="+mn-cs"/>
              </a:rPr>
              <a:t>Presenting demonstrations </a:t>
            </a:r>
          </a:p>
          <a:p>
            <a:pPr>
              <a:buFont typeface="Arial" pitchFamily="34" charset="0"/>
              <a:buChar char="•"/>
            </a:pPr>
            <a:r>
              <a:rPr lang="en-AU" sz="1200" kern="1200" dirty="0" smtClean="0">
                <a:solidFill>
                  <a:schemeClr val="tx1"/>
                </a:solidFill>
                <a:latin typeface="+mn-lt"/>
                <a:ea typeface="+mn-ea"/>
                <a:cs typeface="+mn-cs"/>
              </a:rPr>
              <a:t>Delivering participant interaction situations</a:t>
            </a:r>
          </a:p>
          <a:p>
            <a:pPr>
              <a:buFont typeface="Arial" pitchFamily="34" charset="0"/>
              <a:buChar char="•"/>
            </a:pPr>
            <a:r>
              <a:rPr lang="en-AU" sz="1200" kern="1200" dirty="0" smtClean="0">
                <a:solidFill>
                  <a:schemeClr val="tx1"/>
                </a:solidFill>
                <a:latin typeface="+mn-lt"/>
                <a:ea typeface="+mn-ea"/>
                <a:cs typeface="+mn-cs"/>
              </a:rPr>
              <a:t>Holding sensory awareness exercises </a:t>
            </a:r>
          </a:p>
          <a:p>
            <a:pPr>
              <a:buFont typeface="Arial" pitchFamily="34" charset="0"/>
              <a:buChar char="•"/>
            </a:pPr>
            <a:r>
              <a:rPr lang="en-AU" sz="1200" kern="1200" dirty="0" smtClean="0">
                <a:solidFill>
                  <a:schemeClr val="tx1"/>
                </a:solidFill>
                <a:latin typeface="+mn-lt"/>
                <a:ea typeface="+mn-ea"/>
                <a:cs typeface="+mn-cs"/>
              </a:rPr>
              <a:t>Using materials to enhance illustration and experiences </a:t>
            </a:r>
          </a:p>
          <a:p>
            <a:pPr>
              <a:buFont typeface="Arial" pitchFamily="34" charset="0"/>
              <a:buChar char="•"/>
            </a:pPr>
            <a:r>
              <a:rPr lang="en-AU" sz="1200" kern="1200" dirty="0" smtClean="0">
                <a:solidFill>
                  <a:schemeClr val="tx1"/>
                </a:solidFill>
                <a:latin typeface="+mn-lt"/>
                <a:ea typeface="+mn-ea"/>
                <a:cs typeface="+mn-cs"/>
              </a:rPr>
              <a:t>Utilising technology to assist with delivery. </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uses the interpretive guiding techniques identified on the slide to present general information to a simulated tour group and provides an opportunity for students to do the same.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50325420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there </a:t>
            </a:r>
            <a:r>
              <a:rPr lang="en-AU" sz="1200" kern="1200" dirty="0" smtClean="0">
                <a:solidFill>
                  <a:schemeClr val="tx1"/>
                </a:solidFill>
                <a:latin typeface="+mn-lt"/>
                <a:ea typeface="+mn-ea"/>
                <a:cs typeface="+mn-cs"/>
              </a:rPr>
              <a:t>are several standard times when general knowledge about an indigenous culture might be shared with tour groups. These times can generally be divided into three discrete sections:</a:t>
            </a:r>
          </a:p>
          <a:p>
            <a:pPr>
              <a:buFont typeface="Arial" pitchFamily="34" charset="0"/>
              <a:buChar char="•"/>
            </a:pPr>
            <a:r>
              <a:rPr lang="en-AU" sz="1200" kern="1200" dirty="0" smtClean="0">
                <a:solidFill>
                  <a:schemeClr val="tx1"/>
                </a:solidFill>
                <a:latin typeface="+mn-lt"/>
                <a:ea typeface="+mn-ea"/>
                <a:cs typeface="+mn-cs"/>
              </a:rPr>
              <a:t>Pre-tour advice</a:t>
            </a:r>
          </a:p>
          <a:p>
            <a:pPr>
              <a:buFont typeface="Arial" pitchFamily="34" charset="0"/>
              <a:buChar char="•"/>
            </a:pPr>
            <a:r>
              <a:rPr lang="en-AU" sz="1200" kern="1200" dirty="0" smtClean="0">
                <a:solidFill>
                  <a:schemeClr val="tx1"/>
                </a:solidFill>
                <a:latin typeface="+mn-lt"/>
                <a:ea typeface="+mn-ea"/>
                <a:cs typeface="+mn-cs"/>
              </a:rPr>
              <a:t>During-tour notification</a:t>
            </a:r>
          </a:p>
          <a:p>
            <a:pPr>
              <a:buFont typeface="Arial" pitchFamily="34" charset="0"/>
              <a:buChar char="•"/>
            </a:pPr>
            <a:r>
              <a:rPr lang="en-AU" sz="1200" kern="1200" dirty="0" smtClean="0">
                <a:solidFill>
                  <a:schemeClr val="tx1"/>
                </a:solidFill>
                <a:latin typeface="+mn-lt"/>
                <a:ea typeface="+mn-ea"/>
                <a:cs typeface="+mn-cs"/>
              </a:rPr>
              <a:t>Post-tour communication.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1502686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provision</a:t>
            </a:r>
            <a:r>
              <a:rPr lang="en-AU" baseline="0" noProof="0" dirty="0" smtClean="0"/>
              <a:t> of pre-tour advice stating this </a:t>
            </a:r>
            <a:r>
              <a:rPr lang="en-AU" sz="1200" kern="1200" dirty="0" smtClean="0">
                <a:solidFill>
                  <a:schemeClr val="tx1"/>
                </a:solidFill>
                <a:latin typeface="+mn-lt"/>
                <a:ea typeface="+mn-ea"/>
                <a:cs typeface="+mn-cs"/>
              </a:rPr>
              <a:t>sharing of general knowledge may occur:</a:t>
            </a:r>
          </a:p>
          <a:p>
            <a:pPr>
              <a:buFont typeface="Arial" pitchFamily="34" charset="0"/>
              <a:buChar char="•"/>
            </a:pPr>
            <a:r>
              <a:rPr lang="en-AU" sz="1200" kern="1200" dirty="0" smtClean="0">
                <a:solidFill>
                  <a:schemeClr val="tx1"/>
                </a:solidFill>
                <a:latin typeface="+mn-lt"/>
                <a:ea typeface="+mn-ea"/>
                <a:cs typeface="+mn-cs"/>
              </a:rPr>
              <a:t>When tickets are provided to purchasers – in hard copy form by handing out Information Sheets and Fact Sheets </a:t>
            </a:r>
          </a:p>
          <a:p>
            <a:pPr>
              <a:buFont typeface="Arial" pitchFamily="34" charset="0"/>
              <a:buChar char="•"/>
            </a:pPr>
            <a:r>
              <a:rPr lang="en-AU" sz="1200" kern="1200" dirty="0" smtClean="0">
                <a:solidFill>
                  <a:schemeClr val="tx1"/>
                </a:solidFill>
                <a:latin typeface="+mn-lt"/>
                <a:ea typeface="+mn-ea"/>
                <a:cs typeface="+mn-cs"/>
              </a:rPr>
              <a:t>At a pre-tour briefing – in a variety of ways such as:</a:t>
            </a:r>
          </a:p>
          <a:p>
            <a:pPr lvl="1">
              <a:buFont typeface="Arial" pitchFamily="34" charset="0"/>
              <a:buChar char="•"/>
            </a:pPr>
            <a:r>
              <a:rPr lang="en-AU" sz="1200" kern="1200" dirty="0" smtClean="0">
                <a:solidFill>
                  <a:schemeClr val="tx1"/>
                </a:solidFill>
                <a:latin typeface="+mn-lt"/>
                <a:ea typeface="+mn-ea"/>
                <a:cs typeface="+mn-cs"/>
              </a:rPr>
              <a:t>Making a verbal presentation</a:t>
            </a:r>
          </a:p>
          <a:p>
            <a:pPr lvl="1">
              <a:buFont typeface="Arial" pitchFamily="34" charset="0"/>
              <a:buChar char="•"/>
            </a:pPr>
            <a:r>
              <a:rPr lang="en-AU" sz="1200" kern="1200" dirty="0" smtClean="0">
                <a:solidFill>
                  <a:schemeClr val="tx1"/>
                </a:solidFill>
                <a:latin typeface="+mn-lt"/>
                <a:ea typeface="+mn-ea"/>
                <a:cs typeface="+mn-cs"/>
              </a:rPr>
              <a:t>Screening a video/DVD</a:t>
            </a:r>
          </a:p>
          <a:p>
            <a:pPr lvl="1">
              <a:buFont typeface="Arial" pitchFamily="34" charset="0"/>
              <a:buChar char="•"/>
            </a:pPr>
            <a:r>
              <a:rPr lang="en-AU" sz="1200" kern="1200" dirty="0" smtClean="0">
                <a:solidFill>
                  <a:schemeClr val="tx1"/>
                </a:solidFill>
                <a:latin typeface="+mn-lt"/>
                <a:ea typeface="+mn-ea"/>
                <a:cs typeface="+mn-cs"/>
              </a:rPr>
              <a:t>Responding to questions</a:t>
            </a:r>
          </a:p>
          <a:p>
            <a:pPr lvl="1">
              <a:buFont typeface="Arial" pitchFamily="34" charset="0"/>
              <a:buChar char="•"/>
            </a:pPr>
            <a:r>
              <a:rPr lang="en-AU" sz="1200" kern="1200" dirty="0" smtClean="0">
                <a:solidFill>
                  <a:schemeClr val="tx1"/>
                </a:solidFill>
                <a:latin typeface="+mn-lt"/>
                <a:ea typeface="+mn-ea"/>
                <a:cs typeface="+mn-cs"/>
              </a:rPr>
              <a:t>Distributing and explaining Fact and Information Sheets</a:t>
            </a:r>
          </a:p>
          <a:p>
            <a:pPr>
              <a:buFont typeface="Arial" pitchFamily="34" charset="0"/>
              <a:buChar char="•"/>
            </a:pPr>
            <a:r>
              <a:rPr lang="en-AU" sz="1200" kern="1200" dirty="0" smtClean="0">
                <a:solidFill>
                  <a:schemeClr val="tx1"/>
                </a:solidFill>
                <a:latin typeface="+mn-lt"/>
                <a:ea typeface="+mn-ea"/>
                <a:cs typeface="+mn-cs"/>
              </a:rPr>
              <a:t>Prior to arriving at or entering the destination community – such as:</a:t>
            </a:r>
          </a:p>
          <a:p>
            <a:pPr lvl="1">
              <a:buFont typeface="Arial" pitchFamily="34" charset="0"/>
              <a:buChar char="•"/>
            </a:pPr>
            <a:r>
              <a:rPr lang="en-US" sz="1200" kern="1200" dirty="0" smtClean="0">
                <a:solidFill>
                  <a:schemeClr val="tx1"/>
                </a:solidFill>
                <a:latin typeface="+mn-lt"/>
                <a:ea typeface="+mn-ea"/>
                <a:cs typeface="+mn-cs"/>
              </a:rPr>
              <a:t>While travelling in the tour vehicle to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While on the tour vehicle when it is parked at the entrance to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While gathered together at a designated muster point adjacent to the entrance to the community</a:t>
            </a:r>
            <a:endParaRPr lang="en-AU" sz="1200" kern="1200" dirty="0" smtClean="0">
              <a:solidFill>
                <a:schemeClr val="tx1"/>
              </a:solidFill>
              <a:latin typeface="+mn-lt"/>
              <a:ea typeface="+mn-ea"/>
              <a:cs typeface="+mn-cs"/>
            </a:endParaRPr>
          </a:p>
          <a:p>
            <a:pPr>
              <a:buFont typeface="Arial" pitchFamily="34" charset="0"/>
              <a:buChar char="•"/>
            </a:pPr>
            <a:endParaRPr lang="en-AU" baseline="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8219601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during-tour advice </a:t>
            </a:r>
            <a:r>
              <a:rPr lang="en-AU" sz="1200" kern="1200" dirty="0" smtClean="0">
                <a:solidFill>
                  <a:schemeClr val="tx1"/>
                </a:solidFill>
                <a:latin typeface="+mn-lt"/>
                <a:ea typeface="+mn-ea"/>
                <a:cs typeface="+mn-cs"/>
              </a:rPr>
              <a:t>noting this sharing of general knowledge may occur:</a:t>
            </a:r>
          </a:p>
          <a:p>
            <a:pPr>
              <a:buFont typeface="Arial" pitchFamily="34" charset="0"/>
              <a:buChar char="•"/>
            </a:pPr>
            <a:r>
              <a:rPr lang="en-AU" sz="1200" kern="1200" dirty="0" smtClean="0">
                <a:solidFill>
                  <a:schemeClr val="tx1"/>
                </a:solidFill>
                <a:latin typeface="+mn-lt"/>
                <a:ea typeface="+mn-ea"/>
                <a:cs typeface="+mn-cs"/>
              </a:rPr>
              <a:t>While walking to the assembly point in the community</a:t>
            </a:r>
          </a:p>
          <a:p>
            <a:pPr>
              <a:buFont typeface="Arial" pitchFamily="34" charset="0"/>
              <a:buChar char="•"/>
            </a:pPr>
            <a:r>
              <a:rPr lang="en-AU" sz="1200" kern="1200" dirty="0" smtClean="0">
                <a:solidFill>
                  <a:schemeClr val="tx1"/>
                </a:solidFill>
                <a:latin typeface="+mn-lt"/>
                <a:ea typeface="+mn-ea"/>
                <a:cs typeface="+mn-cs"/>
              </a:rPr>
              <a:t>While travelling in a tour vehicle within community lands</a:t>
            </a:r>
          </a:p>
          <a:p>
            <a:pPr>
              <a:buFont typeface="Arial" pitchFamily="34" charset="0"/>
              <a:buChar char="•"/>
            </a:pPr>
            <a:r>
              <a:rPr lang="en-AU" sz="1200" kern="1200" dirty="0" smtClean="0">
                <a:solidFill>
                  <a:schemeClr val="tx1"/>
                </a:solidFill>
                <a:latin typeface="+mn-lt"/>
                <a:ea typeface="+mn-ea"/>
                <a:cs typeface="+mn-cs"/>
              </a:rPr>
              <a:t>At a pre-arranged location (a room/building) within the community – as part of a formal community-focussed briefing</a:t>
            </a:r>
          </a:p>
          <a:p>
            <a:pPr>
              <a:buFont typeface="Arial" pitchFamily="34" charset="0"/>
              <a:buChar char="•"/>
            </a:pPr>
            <a:r>
              <a:rPr lang="en-AU" sz="1200" kern="1200" dirty="0" smtClean="0">
                <a:solidFill>
                  <a:schemeClr val="tx1"/>
                </a:solidFill>
                <a:latin typeface="+mn-lt"/>
                <a:ea typeface="+mn-ea"/>
                <a:cs typeface="+mn-cs"/>
              </a:rPr>
              <a:t>As part of the preparation for an interpretive activity – which requires certain general knowledge to be communicated in order to contextualise and provide necessary information to enable the activity to be conducted</a:t>
            </a:r>
          </a:p>
          <a:p>
            <a:pPr>
              <a:buFont typeface="Arial" pitchFamily="34" charset="0"/>
              <a:buChar char="•"/>
            </a:pPr>
            <a:r>
              <a:rPr lang="en-AU" sz="1200" kern="1200" dirty="0" smtClean="0">
                <a:solidFill>
                  <a:schemeClr val="tx1"/>
                </a:solidFill>
                <a:latin typeface="+mn-lt"/>
                <a:ea typeface="+mn-ea"/>
                <a:cs typeface="+mn-cs"/>
              </a:rPr>
              <a:t>During the de-briefing which takes place at the conclusion of an interpretive activity – as part of the process of helping tour group members learn from their experience and assisting them to consider and digest what they have discovered.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58037121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post-tour communication </a:t>
            </a:r>
            <a:r>
              <a:rPr lang="en-AU" sz="1200" kern="1200" dirty="0" smtClean="0">
                <a:solidFill>
                  <a:schemeClr val="tx1"/>
                </a:solidFill>
                <a:latin typeface="+mn-lt"/>
                <a:ea typeface="+mn-ea"/>
                <a:cs typeface="+mn-cs"/>
              </a:rPr>
              <a:t>noting this sharing of general knowledge may occur:</a:t>
            </a:r>
          </a:p>
          <a:p>
            <a:pPr>
              <a:buFont typeface="Arial" pitchFamily="34" charset="0"/>
              <a:buChar char="•"/>
            </a:pPr>
            <a:r>
              <a:rPr lang="en-AU" sz="1200" kern="1200" dirty="0" smtClean="0">
                <a:solidFill>
                  <a:schemeClr val="tx1"/>
                </a:solidFill>
                <a:latin typeface="+mn-lt"/>
                <a:ea typeface="+mn-ea"/>
                <a:cs typeface="+mn-cs"/>
              </a:rPr>
              <a:t>On the tour vehicle as part of ‘general discussion’ as the tour group return to the departure point for the tour</a:t>
            </a:r>
          </a:p>
          <a:p>
            <a:pPr>
              <a:buFont typeface="Arial" pitchFamily="34" charset="0"/>
              <a:buChar char="•"/>
            </a:pPr>
            <a:r>
              <a:rPr lang="en-AU" sz="1200" kern="1200" dirty="0" smtClean="0">
                <a:solidFill>
                  <a:schemeClr val="tx1"/>
                </a:solidFill>
                <a:latin typeface="+mn-lt"/>
                <a:ea typeface="+mn-ea"/>
                <a:cs typeface="+mn-cs"/>
              </a:rPr>
              <a:t>In a shared/common room at the accommodation venue at the end of the day – this occurs on a multi-day tour where the itinerary features a daily meeting/de-briefing session where Tour staff seek to:</a:t>
            </a:r>
          </a:p>
          <a:p>
            <a:pPr lvl="1">
              <a:buFont typeface="Arial" pitchFamily="34" charset="0"/>
              <a:buChar char="•"/>
            </a:pPr>
            <a:r>
              <a:rPr lang="en-US" sz="1200" kern="1200" dirty="0" smtClean="0">
                <a:solidFill>
                  <a:schemeClr val="tx1"/>
                </a:solidFill>
                <a:latin typeface="+mn-lt"/>
                <a:ea typeface="+mn-ea"/>
                <a:cs typeface="+mn-cs"/>
              </a:rPr>
              <a:t>Provide </a:t>
            </a:r>
            <a:r>
              <a:rPr lang="en-AU" sz="1200" kern="1200" dirty="0" smtClean="0">
                <a:solidFill>
                  <a:schemeClr val="tx1"/>
                </a:solidFill>
                <a:latin typeface="+mn-lt"/>
                <a:ea typeface="+mn-ea"/>
                <a:cs typeface="+mn-cs"/>
              </a:rPr>
              <a:t>an</a:t>
            </a:r>
            <a:r>
              <a:rPr lang="en-US" sz="1200" kern="1200" dirty="0" smtClean="0">
                <a:solidFill>
                  <a:schemeClr val="tx1"/>
                </a:solidFill>
                <a:latin typeface="+mn-lt"/>
                <a:ea typeface="+mn-ea"/>
                <a:cs typeface="+mn-cs"/>
              </a:rPr>
              <a:t> overview of the day’s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Respond to questions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Capture feedback about the tour</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At the Tour Operator offices when the tour has concluded – as part of the end-of-tour procedures which may also include:</a:t>
            </a:r>
          </a:p>
          <a:p>
            <a:pPr lvl="1">
              <a:buFont typeface="Arial" pitchFamily="34" charset="0"/>
              <a:buChar char="•"/>
            </a:pPr>
            <a:r>
              <a:rPr lang="en-US" sz="1200" kern="1200" dirty="0" smtClean="0">
                <a:solidFill>
                  <a:schemeClr val="tx1"/>
                </a:solidFill>
                <a:latin typeface="+mn-lt"/>
                <a:ea typeface="+mn-ea"/>
                <a:cs typeface="+mn-cs"/>
              </a:rPr>
              <a:t>Distributing photographs from the tour – and other tour-related merchandise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Thanking the group</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Obtaining feedback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Farewelling customers.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40479824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tips </a:t>
            </a:r>
            <a:r>
              <a:rPr lang="en-AU" sz="1200" kern="1200" dirty="0" smtClean="0">
                <a:solidFill>
                  <a:schemeClr val="tx1"/>
                </a:solidFill>
                <a:latin typeface="+mn-lt"/>
                <a:ea typeface="+mn-ea"/>
                <a:cs typeface="+mn-cs"/>
              </a:rPr>
              <a:t>for answering questions asked as part of a tour include:</a:t>
            </a:r>
          </a:p>
          <a:p>
            <a:pPr>
              <a:buFont typeface="Arial" pitchFamily="34" charset="0"/>
              <a:buChar char="•"/>
            </a:pPr>
            <a:r>
              <a:rPr lang="en-AU" sz="1200" kern="1200" dirty="0" smtClean="0">
                <a:solidFill>
                  <a:schemeClr val="tx1"/>
                </a:solidFill>
                <a:latin typeface="+mn-lt"/>
                <a:ea typeface="+mn-ea"/>
                <a:cs typeface="+mn-cs"/>
              </a:rPr>
              <a:t>Thank the person for the question – this encourages others to ask questions as it shows questions are actually welcomed</a:t>
            </a:r>
          </a:p>
          <a:p>
            <a:pPr>
              <a:buFont typeface="Arial" pitchFamily="34" charset="0"/>
              <a:buChar char="•"/>
            </a:pPr>
            <a:r>
              <a:rPr lang="en-AU" sz="1200" kern="1200" dirty="0" smtClean="0">
                <a:solidFill>
                  <a:schemeClr val="tx1"/>
                </a:solidFill>
                <a:latin typeface="+mn-lt"/>
                <a:ea typeface="+mn-ea"/>
                <a:cs typeface="+mn-cs"/>
              </a:rPr>
              <a:t>Mention the person’s name when thanking them – many tours issue name tags which can be used to identify who individuals are.</a:t>
            </a:r>
          </a:p>
          <a:p>
            <a:pPr lvl="1">
              <a:buFont typeface="Arial" pitchFamily="34" charset="0"/>
              <a:buChar char="•"/>
            </a:pPr>
            <a:r>
              <a:rPr lang="en-AU" sz="1200" kern="1200" dirty="0" smtClean="0">
                <a:solidFill>
                  <a:schemeClr val="tx1"/>
                </a:solidFill>
                <a:latin typeface="+mn-lt"/>
                <a:ea typeface="+mn-ea"/>
                <a:cs typeface="+mn-cs"/>
              </a:rPr>
              <a:t>This personalises the answer </a:t>
            </a:r>
            <a:r>
              <a:rPr lang="en-AU" sz="1200" i="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people love to hear the sound of their own name </a:t>
            </a:r>
          </a:p>
          <a:p>
            <a:pPr>
              <a:buFont typeface="Arial" pitchFamily="34" charset="0"/>
              <a:buChar char="•"/>
            </a:pPr>
            <a:r>
              <a:rPr lang="en-AU" sz="1200" kern="1200" dirty="0" smtClean="0">
                <a:solidFill>
                  <a:schemeClr val="tx1"/>
                </a:solidFill>
                <a:latin typeface="+mn-lt"/>
                <a:ea typeface="+mn-ea"/>
                <a:cs typeface="+mn-cs"/>
              </a:rPr>
              <a:t>Smile when responding – if appropriate – this is another way of showing providing answers to questions is not an imposition</a:t>
            </a:r>
          </a:p>
          <a:p>
            <a:pPr>
              <a:buFont typeface="Arial" pitchFamily="34" charset="0"/>
              <a:buChar char="•"/>
            </a:pPr>
            <a:r>
              <a:rPr lang="en-AU" sz="1200" kern="1200" dirty="0" smtClean="0">
                <a:solidFill>
                  <a:schemeClr val="tx1"/>
                </a:solidFill>
                <a:latin typeface="+mn-lt"/>
                <a:ea typeface="+mn-ea"/>
                <a:cs typeface="+mn-cs"/>
              </a:rPr>
              <a:t>Use polite and respectful language – when replying, including the use of humour, where appropriate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80131921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tips </a:t>
            </a:r>
            <a:r>
              <a:rPr lang="en-AU" sz="1200" kern="1200" dirty="0" smtClean="0">
                <a:solidFill>
                  <a:schemeClr val="tx1"/>
                </a:solidFill>
                <a:latin typeface="+mn-lt"/>
                <a:ea typeface="+mn-ea"/>
                <a:cs typeface="+mn-cs"/>
              </a:rPr>
              <a:t>for answering questions:</a:t>
            </a:r>
          </a:p>
          <a:p>
            <a:pPr>
              <a:buFont typeface="Arial" pitchFamily="34" charset="0"/>
              <a:buChar char="•"/>
            </a:pPr>
            <a:r>
              <a:rPr lang="en-AU" sz="1200" kern="1200" dirty="0" smtClean="0">
                <a:solidFill>
                  <a:schemeClr val="tx1"/>
                </a:solidFill>
                <a:latin typeface="+mn-lt"/>
                <a:ea typeface="+mn-ea"/>
                <a:cs typeface="+mn-cs"/>
              </a:rPr>
              <a:t>Provide a direct answer to the question which was asked – this means:</a:t>
            </a:r>
          </a:p>
          <a:p>
            <a:pPr lvl="1">
              <a:buFont typeface="Arial" pitchFamily="34" charset="0"/>
              <a:buChar char="•"/>
            </a:pPr>
            <a:r>
              <a:rPr lang="en-US" sz="1200" kern="1200" dirty="0" smtClean="0">
                <a:solidFill>
                  <a:schemeClr val="tx1"/>
                </a:solidFill>
                <a:latin typeface="+mn-lt"/>
                <a:ea typeface="+mn-ea"/>
                <a:cs typeface="+mn-cs"/>
              </a:rPr>
              <a:t>Giving a full, detailed, comprehensive and honest answer as relevant to the question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avoiding the question or re-directing or re-framing 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prepared to say “I’m sorry but I don’t know the answer to that question.” See below for more on this.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Ensure personal opinion in an answer is specifically identified as such – and not offered as fact</a:t>
            </a:r>
          </a:p>
          <a:p>
            <a:pPr>
              <a:buFont typeface="Arial" pitchFamily="34" charset="0"/>
              <a:buChar char="•"/>
            </a:pPr>
            <a:r>
              <a:rPr lang="en-AU" sz="1200" kern="1200" dirty="0" smtClean="0">
                <a:solidFill>
                  <a:schemeClr val="tx1"/>
                </a:solidFill>
                <a:latin typeface="+mn-lt"/>
                <a:ea typeface="+mn-ea"/>
                <a:cs typeface="+mn-cs"/>
              </a:rPr>
              <a:t>Present the answers to the most appropriate ‘target’ – in some cases:</a:t>
            </a:r>
          </a:p>
          <a:p>
            <a:pPr lvl="1">
              <a:buFont typeface="Arial" pitchFamily="34" charset="0"/>
              <a:buChar char="•"/>
            </a:pPr>
            <a:r>
              <a:rPr lang="en-US" sz="1200" kern="1200" dirty="0" smtClean="0">
                <a:solidFill>
                  <a:schemeClr val="tx1"/>
                </a:solidFill>
                <a:latin typeface="+mn-lt"/>
                <a:ea typeface="+mn-ea"/>
                <a:cs typeface="+mn-cs"/>
              </a:rPr>
              <a:t>The answer is best given just to the person who asked the question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It is better to include the rest of the group in the response which is provided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Respond promptly – taking care:</a:t>
            </a:r>
          </a:p>
          <a:p>
            <a:pPr lvl="1">
              <a:buFont typeface="Arial" pitchFamily="34" charset="0"/>
              <a:buChar char="•"/>
            </a:pPr>
            <a:r>
              <a:rPr lang="en-US" sz="1200" kern="1200" dirty="0" smtClean="0">
                <a:solidFill>
                  <a:schemeClr val="tx1"/>
                </a:solidFill>
                <a:latin typeface="+mn-lt"/>
                <a:ea typeface="+mn-ea"/>
                <a:cs typeface="+mn-cs"/>
              </a:rPr>
              <a:t>Never to rush the response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to appear curt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 not give the impression there are better things to be done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Check the response has answered the question to satisfaction of the person who asked it – this can involve:</a:t>
            </a:r>
          </a:p>
          <a:p>
            <a:pPr lvl="1">
              <a:buFont typeface="Arial" pitchFamily="34" charset="0"/>
              <a:buChar char="•"/>
            </a:pPr>
            <a:r>
              <a:rPr lang="en-US" sz="1200" kern="1200" dirty="0" smtClean="0">
                <a:solidFill>
                  <a:schemeClr val="tx1"/>
                </a:solidFill>
                <a:latin typeface="+mn-lt"/>
                <a:ea typeface="+mn-ea"/>
                <a:cs typeface="+mn-cs"/>
              </a:rPr>
              <a:t>Encouraging another question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Enquiring if clarification is needed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Asking if illustration of a point is required.</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31591861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the following are all requirements when responding to tour group questions on indigenous cultures:</a:t>
            </a:r>
          </a:p>
          <a:p>
            <a:pPr>
              <a:buFont typeface="Arial" pitchFamily="34" charset="0"/>
              <a:buChar char="•"/>
            </a:pPr>
            <a:r>
              <a:rPr lang="en-AU" sz="1200" kern="1200" dirty="0" smtClean="0">
                <a:solidFill>
                  <a:schemeClr val="tx1"/>
                </a:solidFill>
                <a:latin typeface="+mn-lt"/>
                <a:ea typeface="+mn-ea"/>
                <a:cs typeface="+mn-cs"/>
              </a:rPr>
              <a:t>Maintaining truthfulness at all times – in the content provided for all responses</a:t>
            </a:r>
          </a:p>
          <a:p>
            <a:pPr>
              <a:buFont typeface="Arial" pitchFamily="34" charset="0"/>
              <a:buChar char="•"/>
            </a:pPr>
            <a:r>
              <a:rPr lang="en-AU" sz="1200" kern="1200" dirty="0" smtClean="0">
                <a:solidFill>
                  <a:schemeClr val="tx1"/>
                </a:solidFill>
                <a:latin typeface="+mn-lt"/>
                <a:ea typeface="+mn-ea"/>
                <a:cs typeface="+mn-cs"/>
              </a:rPr>
              <a:t>Imposing a total ban on fabrication of answers – if the answer to a question is not known: see below</a:t>
            </a:r>
          </a:p>
          <a:p>
            <a:pPr>
              <a:buFont typeface="Arial" pitchFamily="34" charset="0"/>
              <a:buChar char="•"/>
            </a:pPr>
            <a:r>
              <a:rPr lang="en-AU" sz="1200" kern="1200" dirty="0" smtClean="0">
                <a:solidFill>
                  <a:schemeClr val="tx1"/>
                </a:solidFill>
                <a:latin typeface="+mn-lt"/>
                <a:ea typeface="+mn-ea"/>
                <a:cs typeface="+mn-cs"/>
              </a:rPr>
              <a:t>Respecting requests from communities – regarding:</a:t>
            </a:r>
          </a:p>
          <a:p>
            <a:pPr lvl="1">
              <a:buFont typeface="Arial" pitchFamily="34" charset="0"/>
              <a:buChar char="•"/>
            </a:pPr>
            <a:r>
              <a:rPr lang="en-US" sz="1200" kern="1200" dirty="0" smtClean="0">
                <a:solidFill>
                  <a:schemeClr val="tx1"/>
                </a:solidFill>
                <a:latin typeface="+mn-lt"/>
                <a:ea typeface="+mn-ea"/>
                <a:cs typeface="+mn-cs"/>
              </a:rPr>
              <a:t>Information that cannot be shared with the pubic</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Details which are sensitive or confidential</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Putting answers into context – by (as appropriate):</a:t>
            </a:r>
          </a:p>
          <a:p>
            <a:pPr lvl="1">
              <a:buFont typeface="Arial" pitchFamily="34" charset="0"/>
              <a:buChar char="•"/>
            </a:pPr>
            <a:r>
              <a:rPr lang="en-US" sz="1200" kern="1200" dirty="0" smtClean="0">
                <a:solidFill>
                  <a:schemeClr val="tx1"/>
                </a:solidFill>
                <a:latin typeface="+mn-lt"/>
                <a:ea typeface="+mn-ea"/>
                <a:cs typeface="+mn-cs"/>
              </a:rPr>
              <a:t>Providing background and history relevant to the issue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Supplying detail to provide a framework for reference and/or comparison purposes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Raising additional issues which are related and relevant to the question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Including local indigenous people (local Tour Guides, interpreters, presenters, assistants) in the reply – in order to:</a:t>
            </a:r>
          </a:p>
          <a:p>
            <a:pPr lvl="1">
              <a:buFont typeface="Arial" pitchFamily="34" charset="0"/>
              <a:buChar char="•"/>
            </a:pPr>
            <a:r>
              <a:rPr lang="en-US" sz="1200" kern="1200" dirty="0" smtClean="0">
                <a:solidFill>
                  <a:schemeClr val="tx1"/>
                </a:solidFill>
                <a:latin typeface="+mn-lt"/>
                <a:ea typeface="+mn-ea"/>
                <a:cs typeface="+mn-cs"/>
              </a:rPr>
              <a:t>Provide a first-hand ‘unfiltered’ response from the local people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Show inclusivity and respect for the ability of the locals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Have them demonstrate an action as a physical response to the question.</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a:t>
            </a:r>
            <a:r>
              <a:rPr lang="en-AU" b="0" baseline="0" noProof="0" dirty="0" smtClean="0"/>
              <a:t> demonstrates how to respond to answers from tour group members and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254445368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where </a:t>
            </a:r>
            <a:r>
              <a:rPr lang="en-AU" sz="1200" kern="1200" dirty="0" smtClean="0">
                <a:solidFill>
                  <a:schemeClr val="tx1"/>
                </a:solidFill>
                <a:latin typeface="+mn-lt"/>
                <a:ea typeface="+mn-ea"/>
                <a:cs typeface="+mn-cs"/>
              </a:rPr>
              <a:t>no protocols exist the following are useful techniques:</a:t>
            </a:r>
          </a:p>
          <a:p>
            <a:pPr>
              <a:buFont typeface="Arial" pitchFamily="34" charset="0"/>
              <a:buChar char="•"/>
            </a:pPr>
            <a:r>
              <a:rPr lang="en-AU" sz="1200" kern="1200" dirty="0" smtClean="0">
                <a:solidFill>
                  <a:schemeClr val="tx1"/>
                </a:solidFill>
                <a:latin typeface="+mn-lt"/>
                <a:ea typeface="+mn-ea"/>
                <a:cs typeface="+mn-cs"/>
              </a:rPr>
              <a:t>Apologise for not knowing – this is a standard ‘customer service’ response and needs to be done.</a:t>
            </a:r>
          </a:p>
          <a:p>
            <a:pPr lvl="1">
              <a:buFont typeface="Arial" pitchFamily="34" charset="0"/>
              <a:buChar char="•"/>
            </a:pPr>
            <a:r>
              <a:rPr lang="en-AU" sz="1200" kern="1200" dirty="0" smtClean="0">
                <a:solidFill>
                  <a:schemeClr val="tx1"/>
                </a:solidFill>
                <a:latin typeface="+mn-lt"/>
                <a:ea typeface="+mn-ea"/>
                <a:cs typeface="+mn-cs"/>
              </a:rPr>
              <a:t>The apology needs to be genuine and accompanied by appropriate supporting body language/facial expressions.</a:t>
            </a:r>
          </a:p>
          <a:p>
            <a:pPr>
              <a:buFont typeface="Arial" pitchFamily="34" charset="0"/>
              <a:buChar char="•"/>
            </a:pPr>
            <a:r>
              <a:rPr lang="en-AU" sz="1200" kern="1200" dirty="0" smtClean="0">
                <a:solidFill>
                  <a:schemeClr val="tx1"/>
                </a:solidFill>
                <a:latin typeface="+mn-lt"/>
                <a:ea typeface="+mn-ea"/>
                <a:cs typeface="+mn-cs"/>
              </a:rPr>
              <a:t>Maintain positive relations with the person/group – it is important:</a:t>
            </a:r>
          </a:p>
          <a:p>
            <a:pPr lvl="1">
              <a:buFont typeface="Arial" pitchFamily="34" charset="0"/>
              <a:buChar char="•"/>
            </a:pPr>
            <a:r>
              <a:rPr lang="en-US" sz="1200" kern="1200" dirty="0" smtClean="0">
                <a:solidFill>
                  <a:schemeClr val="tx1"/>
                </a:solidFill>
                <a:latin typeface="+mn-lt"/>
                <a:ea typeface="+mn-ea"/>
                <a:cs typeface="+mn-cs"/>
              </a:rPr>
              <a:t>Not to show annoyance at not knowing the answer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to be personally embarrassed about the lack of knowledge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to give the person who asked the question the impression they should ask no more questions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Give information on an </a:t>
            </a:r>
            <a:r>
              <a:rPr lang="en-AU" sz="1200" i="1" kern="1200" dirty="0" smtClean="0">
                <a:solidFill>
                  <a:schemeClr val="tx1"/>
                </a:solidFill>
                <a:latin typeface="+mn-lt"/>
                <a:ea typeface="+mn-ea"/>
                <a:cs typeface="+mn-cs"/>
              </a:rPr>
              <a:t>associated</a:t>
            </a:r>
            <a:r>
              <a:rPr lang="en-AU" sz="1200" kern="1200" dirty="0" smtClean="0">
                <a:solidFill>
                  <a:schemeClr val="tx1"/>
                </a:solidFill>
                <a:latin typeface="+mn-lt"/>
                <a:ea typeface="+mn-ea"/>
                <a:cs typeface="+mn-cs"/>
              </a:rPr>
              <a:t> topic – which:</a:t>
            </a:r>
          </a:p>
          <a:p>
            <a:pPr lvl="1">
              <a:buFont typeface="Arial" pitchFamily="34" charset="0"/>
              <a:buChar char="•"/>
            </a:pPr>
            <a:r>
              <a:rPr lang="en-US" sz="1200" kern="1200" dirty="0" smtClean="0">
                <a:solidFill>
                  <a:schemeClr val="tx1"/>
                </a:solidFill>
                <a:latin typeface="+mn-lt"/>
                <a:ea typeface="+mn-ea"/>
                <a:cs typeface="+mn-cs"/>
              </a:rPr>
              <a:t>May give some generally broad detail in relation to the actual question asked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At least shows a willingness to respond even though the real answer is not known</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Refer the question to the rest to someone else – this may be:</a:t>
            </a:r>
          </a:p>
          <a:p>
            <a:pPr lvl="1">
              <a:buFont typeface="Arial" pitchFamily="34" charset="0"/>
              <a:buChar char="•"/>
            </a:pPr>
            <a:r>
              <a:rPr lang="en-US" sz="1200" kern="1200" dirty="0" smtClean="0">
                <a:solidFill>
                  <a:schemeClr val="tx1"/>
                </a:solidFill>
                <a:latin typeface="+mn-lt"/>
                <a:ea typeface="+mn-ea"/>
                <a:cs typeface="+mn-cs"/>
              </a:rPr>
              <a:t>A local Tour Guide or community representative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To see if anyone else on the tour has an answer to the question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93748786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techniques for responding to questions where answer is not known:</a:t>
            </a:r>
          </a:p>
          <a:p>
            <a:pPr>
              <a:buFont typeface="Arial" pitchFamily="34" charset="0"/>
              <a:buChar char="•"/>
            </a:pPr>
            <a:r>
              <a:rPr lang="en-AU" sz="1200" kern="1200" dirty="0" smtClean="0">
                <a:solidFill>
                  <a:schemeClr val="tx1"/>
                </a:solidFill>
                <a:latin typeface="+mn-lt"/>
                <a:ea typeface="+mn-ea"/>
                <a:cs typeface="+mn-cs"/>
              </a:rPr>
              <a:t>Refer customers to sources that may provide the relevant information at the conclusion of the tour – this may be:</a:t>
            </a:r>
          </a:p>
          <a:p>
            <a:pPr lvl="1">
              <a:buFont typeface="Arial" pitchFamily="34" charset="0"/>
              <a:buChar char="•"/>
            </a:pPr>
            <a:r>
              <a:rPr lang="en-US" sz="1200" kern="1200" dirty="0" smtClean="0">
                <a:solidFill>
                  <a:schemeClr val="tx1"/>
                </a:solidFill>
                <a:latin typeface="+mn-lt"/>
                <a:ea typeface="+mn-ea"/>
                <a:cs typeface="+mn-cs"/>
              </a:rPr>
              <a:t>Brochures, posters, handouts which are available at the point of disembarkation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website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Visitor Information Centre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business, organisation or government agency/authority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Make arrangements to research the question – at the conclusion of the tour and:</a:t>
            </a:r>
          </a:p>
          <a:p>
            <a:pPr lvl="1">
              <a:buFont typeface="Arial" pitchFamily="34" charset="0"/>
              <a:buChar char="•"/>
            </a:pPr>
            <a:r>
              <a:rPr lang="en-US" sz="1200" kern="1200" dirty="0" smtClean="0">
                <a:solidFill>
                  <a:schemeClr val="tx1"/>
                </a:solidFill>
                <a:latin typeface="+mn-lt"/>
                <a:ea typeface="+mn-ea"/>
                <a:cs typeface="+mn-cs"/>
              </a:rPr>
              <a:t>Pass on the answer face-to-face at the point of disembarkation, if the person is willing to wait a few minutes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Send a reply via email to the person if they are able to provide an address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Give an SMS reply if they provide a number.</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a:t>
            </a:r>
            <a:r>
              <a:rPr lang="en-AU" b="0" baseline="0" noProof="0" dirty="0" smtClean="0"/>
              <a:t> demonstrates how to respond to tour group members when answer to question is not known and provides opportunity for students to do the same.</a:t>
            </a:r>
            <a:endParaRPr lang="en-AU" b="0"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0645552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monitoring the behaviour of tour group members when on-tour in indigenous communities will need to focus on:</a:t>
            </a:r>
          </a:p>
          <a:p>
            <a:pPr>
              <a:buFont typeface="Arial" pitchFamily="34" charset="0"/>
              <a:buChar char="•"/>
            </a:pPr>
            <a:r>
              <a:rPr lang="en-AU" sz="1200" kern="1200" dirty="0" smtClean="0">
                <a:solidFill>
                  <a:schemeClr val="tx1"/>
                </a:solidFill>
                <a:latin typeface="+mn-lt"/>
                <a:ea typeface="+mn-ea"/>
                <a:cs typeface="+mn-cs"/>
              </a:rPr>
              <a:t>Watching the group – which means:</a:t>
            </a:r>
          </a:p>
          <a:p>
            <a:pPr lvl="1">
              <a:buFont typeface="Arial" pitchFamily="34" charset="0"/>
              <a:buChar char="•"/>
            </a:pPr>
            <a:r>
              <a:rPr lang="en-AU" sz="1200" kern="1200" dirty="0" smtClean="0">
                <a:solidFill>
                  <a:schemeClr val="tx1"/>
                </a:solidFill>
                <a:latin typeface="+mn-lt"/>
                <a:ea typeface="+mn-ea"/>
                <a:cs typeface="+mn-cs"/>
              </a:rPr>
              <a:t>Seeing what people are doing</a:t>
            </a:r>
          </a:p>
          <a:p>
            <a:pPr lvl="1">
              <a:buFont typeface="Arial" pitchFamily="34" charset="0"/>
              <a:buChar char="•"/>
            </a:pPr>
            <a:r>
              <a:rPr lang="en-AU" sz="1200" kern="1200" dirty="0" smtClean="0">
                <a:solidFill>
                  <a:schemeClr val="tx1"/>
                </a:solidFill>
                <a:latin typeface="+mn-lt"/>
                <a:ea typeface="+mn-ea"/>
                <a:cs typeface="+mn-cs"/>
              </a:rPr>
              <a:t>Noting where tour group members are going</a:t>
            </a:r>
          </a:p>
          <a:p>
            <a:pPr lvl="1">
              <a:buFont typeface="Arial" pitchFamily="34" charset="0"/>
              <a:buChar char="•"/>
            </a:pPr>
            <a:r>
              <a:rPr lang="en-AU" sz="1200" kern="1200" dirty="0" smtClean="0">
                <a:solidFill>
                  <a:schemeClr val="tx1"/>
                </a:solidFill>
                <a:latin typeface="+mn-lt"/>
                <a:ea typeface="+mn-ea"/>
                <a:cs typeface="+mn-cs"/>
              </a:rPr>
              <a:t>Checking body language/non-verbal communications signals</a:t>
            </a:r>
          </a:p>
          <a:p>
            <a:pPr>
              <a:buFont typeface="Arial" pitchFamily="34" charset="0"/>
              <a:buChar char="•"/>
            </a:pPr>
            <a:r>
              <a:rPr lang="en-AU" sz="1200" kern="1200" dirty="0" smtClean="0">
                <a:solidFill>
                  <a:schemeClr val="tx1"/>
                </a:solidFill>
                <a:latin typeface="+mn-lt"/>
                <a:ea typeface="+mn-ea"/>
                <a:cs typeface="+mn-cs"/>
              </a:rPr>
              <a:t>Listening to the group – in terms of:</a:t>
            </a:r>
          </a:p>
          <a:p>
            <a:pPr lvl="1">
              <a:buFont typeface="Arial" pitchFamily="34" charset="0"/>
              <a:buChar char="•"/>
            </a:pPr>
            <a:r>
              <a:rPr lang="en-AU" sz="1200" kern="1200" dirty="0" smtClean="0">
                <a:solidFill>
                  <a:schemeClr val="tx1"/>
                </a:solidFill>
                <a:latin typeface="+mn-lt"/>
                <a:ea typeface="+mn-ea"/>
                <a:cs typeface="+mn-cs"/>
              </a:rPr>
              <a:t>What is said</a:t>
            </a:r>
          </a:p>
          <a:p>
            <a:pPr lvl="1">
              <a:buFont typeface="Arial" pitchFamily="34" charset="0"/>
              <a:buChar char="•"/>
            </a:pPr>
            <a:r>
              <a:rPr lang="en-AU" sz="1200" kern="1200" dirty="0" smtClean="0">
                <a:solidFill>
                  <a:schemeClr val="tx1"/>
                </a:solidFill>
                <a:latin typeface="+mn-lt"/>
                <a:ea typeface="+mn-ea"/>
                <a:cs typeface="+mn-cs"/>
              </a:rPr>
              <a:t>How things are said</a:t>
            </a:r>
          </a:p>
          <a:p>
            <a:pPr lvl="1">
              <a:buFont typeface="Arial" pitchFamily="34" charset="0"/>
              <a:buChar char="•"/>
            </a:pPr>
            <a:r>
              <a:rPr lang="en-AU" sz="1200" kern="1200" dirty="0" smtClean="0">
                <a:solidFill>
                  <a:schemeClr val="tx1"/>
                </a:solidFill>
                <a:latin typeface="+mn-lt"/>
                <a:ea typeface="+mn-ea"/>
                <a:cs typeface="+mn-cs"/>
              </a:rPr>
              <a:t>Tone and/or volume of voice used</a:t>
            </a:r>
          </a:p>
          <a:p>
            <a:pPr>
              <a:buFont typeface="Arial" pitchFamily="34" charset="0"/>
              <a:buChar char="•"/>
            </a:pPr>
            <a:r>
              <a:rPr lang="en-AU" sz="1200" kern="1200" dirty="0" smtClean="0">
                <a:solidFill>
                  <a:schemeClr val="tx1"/>
                </a:solidFill>
                <a:latin typeface="+mn-lt"/>
                <a:ea typeface="+mn-ea"/>
                <a:cs typeface="+mn-cs"/>
              </a:rPr>
              <a:t>Receiving advice from others – in terms of:</a:t>
            </a:r>
          </a:p>
          <a:p>
            <a:pPr lvl="1">
              <a:buFont typeface="Arial" pitchFamily="34" charset="0"/>
              <a:buChar char="•"/>
            </a:pPr>
            <a:r>
              <a:rPr lang="en-AU" sz="1200" kern="1200" dirty="0" smtClean="0">
                <a:solidFill>
                  <a:schemeClr val="tx1"/>
                </a:solidFill>
                <a:latin typeface="+mn-lt"/>
                <a:ea typeface="+mn-ea"/>
                <a:cs typeface="+mn-cs"/>
              </a:rPr>
              <a:t>Input from Tour staff</a:t>
            </a:r>
          </a:p>
          <a:p>
            <a:pPr lvl="1">
              <a:buFont typeface="Arial" pitchFamily="34" charset="0"/>
              <a:buChar char="•"/>
            </a:pPr>
            <a:r>
              <a:rPr lang="en-AU" sz="1200" kern="1200" dirty="0" smtClean="0">
                <a:solidFill>
                  <a:schemeClr val="tx1"/>
                </a:solidFill>
                <a:latin typeface="+mn-lt"/>
                <a:ea typeface="+mn-ea"/>
                <a:cs typeface="+mn-cs"/>
              </a:rPr>
              <a:t>Advice from local representatives/members of the community</a:t>
            </a:r>
          </a:p>
          <a:p>
            <a:pPr lvl="1">
              <a:buFont typeface="Arial" pitchFamily="34" charset="0"/>
              <a:buChar char="•"/>
            </a:pPr>
            <a:r>
              <a:rPr lang="en-AU" sz="1200" kern="1200" dirty="0" smtClean="0">
                <a:solidFill>
                  <a:schemeClr val="tx1"/>
                </a:solidFill>
                <a:latin typeface="+mn-lt"/>
                <a:ea typeface="+mn-ea"/>
                <a:cs typeface="+mn-cs"/>
              </a:rPr>
              <a:t>Other tour group members.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Note: it is SOP for Tour Guides to make sure they actually observe (that is, they themselves hear or see) the inappropriate behaviour before they respond to it.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62131889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keys </a:t>
            </a:r>
            <a:r>
              <a:rPr lang="en-AU" sz="1200" kern="1200" dirty="0" smtClean="0">
                <a:solidFill>
                  <a:schemeClr val="tx1"/>
                </a:solidFill>
                <a:latin typeface="+mn-lt"/>
                <a:ea typeface="+mn-ea"/>
                <a:cs typeface="+mn-cs"/>
              </a:rPr>
              <a:t>for Tour Guides when responding to culturally inappropriate behaviour:</a:t>
            </a:r>
          </a:p>
          <a:p>
            <a:pPr>
              <a:buFont typeface="Arial" pitchFamily="34" charset="0"/>
              <a:buChar char="•"/>
            </a:pPr>
            <a:r>
              <a:rPr lang="en-AU" sz="1200" kern="1200" dirty="0" smtClean="0">
                <a:solidFill>
                  <a:schemeClr val="tx1"/>
                </a:solidFill>
                <a:latin typeface="+mn-lt"/>
                <a:ea typeface="+mn-ea"/>
                <a:cs typeface="+mn-cs"/>
              </a:rPr>
              <a:t>Reinforcing previously presented information on culturally sensitive and acceptable behaviour – as presented to the group during the briefing session/activity that preceded the tour</a:t>
            </a:r>
          </a:p>
          <a:p>
            <a:pPr>
              <a:buFont typeface="Arial" pitchFamily="34" charset="0"/>
              <a:buChar char="•"/>
            </a:pPr>
            <a:r>
              <a:rPr lang="en-AU" sz="1200" kern="1200" dirty="0" smtClean="0">
                <a:solidFill>
                  <a:schemeClr val="tx1"/>
                </a:solidFill>
                <a:latin typeface="+mn-lt"/>
                <a:ea typeface="+mn-ea"/>
                <a:cs typeface="+mn-cs"/>
              </a:rPr>
              <a:t>Demonstrating culturally sensitive and acceptable behaviour – to help illustrate the point which needs to be made as part of the tour guiding process</a:t>
            </a:r>
          </a:p>
          <a:p>
            <a:pPr>
              <a:buFont typeface="Arial" pitchFamily="34" charset="0"/>
              <a:buChar char="•"/>
            </a:pPr>
            <a:r>
              <a:rPr lang="en-AU" sz="1200" kern="1200" dirty="0" smtClean="0">
                <a:solidFill>
                  <a:schemeClr val="tx1"/>
                </a:solidFill>
                <a:latin typeface="+mn-lt"/>
                <a:ea typeface="+mn-ea"/>
                <a:cs typeface="+mn-cs"/>
              </a:rPr>
              <a:t>Responding promptly – issues must be addressed as soon as they are noticed because this:</a:t>
            </a:r>
          </a:p>
          <a:p>
            <a:pPr lvl="1">
              <a:buFont typeface="Arial" pitchFamily="34" charset="0"/>
              <a:buChar char="•"/>
            </a:pPr>
            <a:r>
              <a:rPr lang="en-AU" sz="1200" kern="1200" dirty="0" smtClean="0">
                <a:solidFill>
                  <a:schemeClr val="tx1"/>
                </a:solidFill>
                <a:latin typeface="+mn-lt"/>
                <a:ea typeface="+mn-ea"/>
                <a:cs typeface="+mn-cs"/>
              </a:rPr>
              <a:t>Demonstrates the issue is important and is being taken seriously</a:t>
            </a:r>
          </a:p>
          <a:p>
            <a:pPr lvl="1">
              <a:buFont typeface="Arial" pitchFamily="34" charset="0"/>
              <a:buChar char="•"/>
            </a:pPr>
            <a:r>
              <a:rPr lang="en-AU" sz="1200" kern="1200" dirty="0" smtClean="0">
                <a:solidFill>
                  <a:schemeClr val="tx1"/>
                </a:solidFill>
                <a:latin typeface="+mn-lt"/>
                <a:ea typeface="+mn-ea"/>
                <a:cs typeface="+mn-cs"/>
              </a:rPr>
              <a:t>Will send a message to all the tour group about what is unacceptable and inappropriate</a:t>
            </a:r>
          </a:p>
          <a:p>
            <a:pPr lvl="1">
              <a:buFont typeface="Arial" pitchFamily="34" charset="0"/>
              <a:buChar char="•"/>
            </a:pPr>
            <a:r>
              <a:rPr lang="en-AU" sz="1200" kern="1200" dirty="0" smtClean="0">
                <a:solidFill>
                  <a:schemeClr val="tx1"/>
                </a:solidFill>
                <a:latin typeface="+mn-lt"/>
                <a:ea typeface="+mn-ea"/>
                <a:cs typeface="+mn-cs"/>
              </a:rPr>
              <a:t>Helps to better control/eliminate unacceptable and inappropriate behaviour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84750282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present keys </a:t>
            </a:r>
            <a:r>
              <a:rPr lang="en-AU" sz="1200" kern="1200" dirty="0" smtClean="0">
                <a:solidFill>
                  <a:schemeClr val="tx1"/>
                </a:solidFill>
                <a:latin typeface="+mn-lt"/>
                <a:ea typeface="+mn-ea"/>
                <a:cs typeface="+mn-cs"/>
              </a:rPr>
              <a:t>for Tour Guides when responding to culturally inappropriate behaviour:</a:t>
            </a:r>
          </a:p>
          <a:p>
            <a:pPr>
              <a:buFont typeface="Arial" pitchFamily="34" charset="0"/>
              <a:buChar char="•"/>
            </a:pPr>
            <a:r>
              <a:rPr lang="en-AU" sz="1200" kern="1200" dirty="0" smtClean="0">
                <a:solidFill>
                  <a:schemeClr val="tx1"/>
                </a:solidFill>
                <a:latin typeface="+mn-lt"/>
                <a:ea typeface="+mn-ea"/>
                <a:cs typeface="+mn-cs"/>
              </a:rPr>
              <a:t>Intervening as required/necessary – to (for example)</a:t>
            </a:r>
          </a:p>
          <a:p>
            <a:pPr lvl="1">
              <a:buFont typeface="Arial" pitchFamily="34" charset="0"/>
              <a:buChar char="•"/>
            </a:pPr>
            <a:r>
              <a:rPr lang="en-AU" sz="1200" kern="1200" dirty="0" smtClean="0">
                <a:solidFill>
                  <a:schemeClr val="tx1"/>
                </a:solidFill>
                <a:latin typeface="+mn-lt"/>
                <a:ea typeface="+mn-ea"/>
                <a:cs typeface="+mn-cs"/>
              </a:rPr>
              <a:t>Asking tour group members to modify unacceptable behaviour </a:t>
            </a:r>
          </a:p>
          <a:p>
            <a:pPr lvl="1">
              <a:buFont typeface="Arial" pitchFamily="34" charset="0"/>
              <a:buChar char="•"/>
            </a:pPr>
            <a:r>
              <a:rPr lang="en-AU" sz="1200" kern="1200" dirty="0" smtClean="0">
                <a:solidFill>
                  <a:schemeClr val="tx1"/>
                </a:solidFill>
                <a:latin typeface="+mn-lt"/>
                <a:ea typeface="+mn-ea"/>
                <a:cs typeface="+mn-cs"/>
              </a:rPr>
              <a:t>Asking people to refrain from certain actions</a:t>
            </a:r>
          </a:p>
          <a:p>
            <a:pPr lvl="1">
              <a:buFont typeface="Arial" pitchFamily="34" charset="0"/>
              <a:buChar char="•"/>
            </a:pPr>
            <a:r>
              <a:rPr lang="en-AU" sz="1200" kern="1200" dirty="0" smtClean="0">
                <a:solidFill>
                  <a:schemeClr val="tx1"/>
                </a:solidFill>
                <a:latin typeface="+mn-lt"/>
                <a:ea typeface="+mn-ea"/>
                <a:cs typeface="+mn-cs"/>
              </a:rPr>
              <a:t>Demonstrating acceptable speech and/or actions</a:t>
            </a:r>
          </a:p>
          <a:p>
            <a:pPr lvl="1">
              <a:buFont typeface="Arial" pitchFamily="34" charset="0"/>
              <a:buChar char="•"/>
            </a:pPr>
            <a:r>
              <a:rPr lang="en-AU" sz="1200" kern="1200" dirty="0" smtClean="0">
                <a:solidFill>
                  <a:schemeClr val="tx1"/>
                </a:solidFill>
                <a:latin typeface="+mn-lt"/>
                <a:ea typeface="+mn-ea"/>
                <a:cs typeface="+mn-cs"/>
              </a:rPr>
              <a:t>Illustrating requirements through verbal explanations/descriptions</a:t>
            </a:r>
          </a:p>
          <a:p>
            <a:pPr>
              <a:buFont typeface="Arial" pitchFamily="34" charset="0"/>
              <a:buChar char="•"/>
            </a:pPr>
            <a:r>
              <a:rPr lang="en-AU" sz="1200" kern="1200" dirty="0" smtClean="0">
                <a:solidFill>
                  <a:schemeClr val="tx1"/>
                </a:solidFill>
                <a:latin typeface="+mn-lt"/>
                <a:ea typeface="+mn-ea"/>
                <a:cs typeface="+mn-cs"/>
              </a:rPr>
              <a:t>Warning the individuals or the group (as appropriate) of the consequences – if they persist with their unacceptable/inappropriate behaviour (or language)</a:t>
            </a:r>
          </a:p>
          <a:p>
            <a:pPr>
              <a:buFont typeface="Arial" pitchFamily="34" charset="0"/>
              <a:buChar char="•"/>
            </a:pPr>
            <a:r>
              <a:rPr lang="en-AU" sz="1200" kern="1200" dirty="0" smtClean="0">
                <a:solidFill>
                  <a:schemeClr val="tx1"/>
                </a:solidFill>
                <a:latin typeface="+mn-lt"/>
                <a:ea typeface="+mn-ea"/>
                <a:cs typeface="+mn-cs"/>
              </a:rPr>
              <a:t>Being prepared to adjust the tour or an activity – as required by the nature, extent or seriousness of the unacceptable/inappropriate behaviour (or language), which may mean:</a:t>
            </a:r>
          </a:p>
          <a:p>
            <a:pPr lvl="1">
              <a:buFont typeface="Arial" pitchFamily="34" charset="0"/>
              <a:buChar char="•"/>
            </a:pPr>
            <a:r>
              <a:rPr lang="en-AU" sz="1200" kern="1200" dirty="0" smtClean="0">
                <a:solidFill>
                  <a:schemeClr val="tx1"/>
                </a:solidFill>
                <a:latin typeface="+mn-lt"/>
                <a:ea typeface="+mn-ea"/>
                <a:cs typeface="+mn-cs"/>
              </a:rPr>
              <a:t>Modifying the content, location or duration of the tour or activity</a:t>
            </a:r>
          </a:p>
          <a:p>
            <a:pPr lvl="1">
              <a:buFont typeface="Arial" pitchFamily="34" charset="0"/>
              <a:buChar char="•"/>
            </a:pPr>
            <a:r>
              <a:rPr lang="en-AU" sz="1200" kern="1200" dirty="0" smtClean="0">
                <a:solidFill>
                  <a:schemeClr val="tx1"/>
                </a:solidFill>
                <a:latin typeface="+mn-lt"/>
                <a:ea typeface="+mn-ea"/>
                <a:cs typeface="+mn-cs"/>
              </a:rPr>
              <a:t>Changing the focus/nature of the tour</a:t>
            </a:r>
          </a:p>
          <a:p>
            <a:pPr lvl="1">
              <a:buFont typeface="Arial" pitchFamily="34" charset="0"/>
              <a:buChar char="•"/>
            </a:pPr>
            <a:r>
              <a:rPr lang="en-AU" sz="1200" kern="1200" dirty="0" smtClean="0">
                <a:solidFill>
                  <a:schemeClr val="tx1"/>
                </a:solidFill>
                <a:latin typeface="+mn-lt"/>
                <a:ea typeface="+mn-ea"/>
                <a:cs typeface="+mn-cs"/>
              </a:rPr>
              <a:t>Terminating an activity or visitation.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a:t>
            </a:r>
            <a:r>
              <a:rPr lang="en-AU" b="0" baseline="0" noProof="0" dirty="0" smtClean="0"/>
              <a:t> demonstrates how to respond to culturally-inappropriate behaviour from tour group members in an indigenous community and provides opportunity for students to do the same.</a:t>
            </a:r>
            <a:endParaRPr lang="en-AU" b="0" noProof="0" dirty="0" smtClean="0"/>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65400638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tips for handling problems with tour group members:</a:t>
            </a:r>
          </a:p>
          <a:p>
            <a:pPr lvl="0">
              <a:buFont typeface="Arial" pitchFamily="34" charset="0"/>
              <a:buChar char="•"/>
            </a:pPr>
            <a:r>
              <a:rPr lang="en-AU" sz="1200" kern="1200" dirty="0" smtClean="0">
                <a:solidFill>
                  <a:schemeClr val="tx1"/>
                </a:solidFill>
                <a:latin typeface="+mn-lt"/>
                <a:ea typeface="+mn-ea"/>
                <a:cs typeface="+mn-cs"/>
              </a:rPr>
              <a:t>Realise no problem will ever resolve itself – problems require action to fix/address them.</a:t>
            </a:r>
          </a:p>
          <a:p>
            <a:pPr>
              <a:buFont typeface="Arial" pitchFamily="34" charset="0"/>
              <a:buChar char="•"/>
            </a:pPr>
            <a:r>
              <a:rPr lang="en-AU" sz="1200" kern="1200" dirty="0" smtClean="0">
                <a:solidFill>
                  <a:schemeClr val="tx1"/>
                </a:solidFill>
                <a:latin typeface="+mn-lt"/>
                <a:ea typeface="+mn-ea"/>
                <a:cs typeface="+mn-cs"/>
              </a:rPr>
              <a:t>Take responsibility for taking action – it is part of the job to do so.</a:t>
            </a:r>
          </a:p>
          <a:p>
            <a:pPr lvl="0">
              <a:buFont typeface="Arial" pitchFamily="34" charset="0"/>
              <a:buChar char="•"/>
            </a:pPr>
            <a:r>
              <a:rPr lang="en-AU" sz="1200" kern="1200" dirty="0" smtClean="0">
                <a:solidFill>
                  <a:schemeClr val="tx1"/>
                </a:solidFill>
                <a:latin typeface="+mn-lt"/>
                <a:ea typeface="+mn-ea"/>
                <a:cs typeface="+mn-cs"/>
              </a:rPr>
              <a:t>All identified issues must be addressed – never simply ignore a problem.</a:t>
            </a:r>
          </a:p>
          <a:p>
            <a:pPr lvl="0">
              <a:buFont typeface="Arial" pitchFamily="34" charset="0"/>
              <a:buChar char="•"/>
            </a:pPr>
            <a:r>
              <a:rPr lang="en-AU" sz="1200" kern="1200" dirty="0" smtClean="0">
                <a:solidFill>
                  <a:schemeClr val="tx1"/>
                </a:solidFill>
                <a:latin typeface="+mn-lt"/>
                <a:ea typeface="+mn-ea"/>
                <a:cs typeface="+mn-cs"/>
              </a:rPr>
              <a:t>Treat people with respect – talk politely with them allow them their dignity.</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experience Tour Guide to attend and:</a:t>
            </a:r>
          </a:p>
          <a:p>
            <a:pPr>
              <a:buFont typeface="Arial" pitchFamily="34" charset="0"/>
              <a:buChar char="•"/>
            </a:pPr>
            <a:r>
              <a:rPr lang="en-AU" b="0" noProof="0" dirty="0" smtClean="0"/>
              <a:t>Provide advice on monitoring tour group behaviour in an indigenous community</a:t>
            </a:r>
          </a:p>
          <a:p>
            <a:pPr>
              <a:buFont typeface="Arial" pitchFamily="34" charset="0"/>
              <a:buChar char="•"/>
            </a:pPr>
            <a:r>
              <a:rPr lang="en-AU" b="0" noProof="0" dirty="0" smtClean="0"/>
              <a:t>Explain how to respond to unacceptable tour group behaviour in an indigenous community</a:t>
            </a:r>
          </a:p>
          <a:p>
            <a:pPr>
              <a:buFont typeface="Arial" pitchFamily="34" charset="0"/>
              <a:buChar char="•"/>
            </a:pPr>
            <a:r>
              <a:rPr lang="en-AU" b="0" noProof="0" dirty="0" smtClean="0"/>
              <a:t>Demonstrate how to intervene to address unacceptable tour group behaviour in an indigenous community.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350740479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tips for handling problems with tour group members:</a:t>
            </a:r>
          </a:p>
          <a:p>
            <a:pPr>
              <a:buFont typeface="Arial" pitchFamily="34" charset="0"/>
              <a:buChar char="•"/>
            </a:pPr>
            <a:r>
              <a:rPr lang="en-AU" sz="1200" kern="1200" dirty="0" smtClean="0">
                <a:solidFill>
                  <a:schemeClr val="tx1"/>
                </a:solidFill>
                <a:latin typeface="+mn-lt"/>
                <a:ea typeface="+mn-ea"/>
                <a:cs typeface="+mn-cs"/>
              </a:rPr>
              <a:t>Aim to make the other person feel special, not to feel victimised.</a:t>
            </a:r>
          </a:p>
          <a:p>
            <a:pPr>
              <a:buFont typeface="Arial" pitchFamily="34" charset="0"/>
              <a:buChar char="•"/>
            </a:pPr>
            <a:r>
              <a:rPr lang="en-AU" sz="1200" kern="1200" dirty="0" smtClean="0">
                <a:solidFill>
                  <a:schemeClr val="tx1"/>
                </a:solidFill>
                <a:latin typeface="+mn-lt"/>
                <a:ea typeface="+mn-ea"/>
                <a:cs typeface="+mn-cs"/>
              </a:rPr>
              <a:t>Talk with people who need to be spoken to away from others in order to respect their right not to be embarrassed or challenged in front of others.</a:t>
            </a:r>
          </a:p>
          <a:p>
            <a:pPr lvl="1">
              <a:buFont typeface="Arial" pitchFamily="34" charset="0"/>
              <a:buChar char="•"/>
            </a:pPr>
            <a:r>
              <a:rPr lang="en-AU" sz="1200" kern="1200" dirty="0" smtClean="0">
                <a:solidFill>
                  <a:schemeClr val="tx1"/>
                </a:solidFill>
                <a:latin typeface="+mn-lt"/>
                <a:ea typeface="+mn-ea"/>
                <a:cs typeface="+mn-cs"/>
              </a:rPr>
              <a:t>Try to stay calm – when a need to intervene and say something to a participant arises: ‘act’ but do not ‘over-react’.</a:t>
            </a:r>
          </a:p>
          <a:p>
            <a:pPr>
              <a:buFont typeface="Arial" pitchFamily="34" charset="0"/>
              <a:buChar char="•"/>
            </a:pPr>
            <a:r>
              <a:rPr lang="en-AU" sz="1200" kern="1200" dirty="0" smtClean="0">
                <a:solidFill>
                  <a:schemeClr val="tx1"/>
                </a:solidFill>
                <a:latin typeface="+mn-lt"/>
                <a:ea typeface="+mn-ea"/>
                <a:cs typeface="+mn-cs"/>
              </a:rPr>
              <a:t>Avoid using a loud voice and try to speak so the conversation is private – and so the participant/s do not feel as if they are being reprimanded in front of the rest of the group and being made to look silly or ‘small’.</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4257618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tips for handling problems with tour group members:</a:t>
            </a:r>
          </a:p>
          <a:p>
            <a:pPr lvl="0">
              <a:buFont typeface="Arial" pitchFamily="34" charset="0"/>
              <a:buChar char="•"/>
            </a:pPr>
            <a:r>
              <a:rPr lang="en-AU" sz="1200" kern="1200" dirty="0" smtClean="0">
                <a:solidFill>
                  <a:schemeClr val="tx1"/>
                </a:solidFill>
                <a:latin typeface="+mn-lt"/>
                <a:ea typeface="+mn-ea"/>
                <a:cs typeface="+mn-cs"/>
              </a:rPr>
              <a:t>Phrase what is said so it is not a personal ‘attack’ on the other person – for example, instead of saying “You must not do that”, re-phrase the statement to “We prefer such action does not take place while here/on tour/in this location”</a:t>
            </a:r>
          </a:p>
          <a:p>
            <a:pPr lvl="0">
              <a:buFont typeface="Arial" pitchFamily="34" charset="0"/>
              <a:buChar char="•"/>
            </a:pPr>
            <a:r>
              <a:rPr lang="en-AU" sz="1200" kern="1200" dirty="0" smtClean="0">
                <a:solidFill>
                  <a:schemeClr val="tx1"/>
                </a:solidFill>
                <a:latin typeface="+mn-lt"/>
                <a:ea typeface="+mn-ea"/>
                <a:cs typeface="+mn-cs"/>
              </a:rPr>
              <a:t>Try phrasing statements as </a:t>
            </a:r>
            <a:r>
              <a:rPr lang="en-AU" sz="1200" i="1" kern="1200" dirty="0" smtClean="0">
                <a:solidFill>
                  <a:schemeClr val="tx1"/>
                </a:solidFill>
                <a:latin typeface="+mn-lt"/>
                <a:ea typeface="+mn-ea"/>
                <a:cs typeface="+mn-cs"/>
              </a:rPr>
              <a:t>asking</a:t>
            </a:r>
            <a:r>
              <a:rPr lang="en-AU" sz="1200" kern="1200" dirty="0" smtClean="0">
                <a:solidFill>
                  <a:schemeClr val="tx1"/>
                </a:solidFill>
                <a:latin typeface="+mn-lt"/>
                <a:ea typeface="+mn-ea"/>
                <a:cs typeface="+mn-cs"/>
              </a:rPr>
              <a:t> people to modify their behaviour as ‘requests’ – rather than ‘commands’ to do things.</a:t>
            </a:r>
          </a:p>
          <a:p>
            <a:pPr lvl="1">
              <a:buFont typeface="Arial" pitchFamily="34" charset="0"/>
              <a:buChar char="•"/>
            </a:pPr>
            <a:r>
              <a:rPr lang="en-AU" sz="1200" kern="1200" dirty="0" smtClean="0">
                <a:solidFill>
                  <a:schemeClr val="tx1"/>
                </a:solidFill>
                <a:latin typeface="+mn-lt"/>
                <a:ea typeface="+mn-ea"/>
                <a:cs typeface="+mn-cs"/>
              </a:rPr>
              <a:t>Give reasons why the request is being made – there is big difference between ‘Stop doing that’ and “Could I please ask you not to do that because it offends people in this community?”</a:t>
            </a:r>
          </a:p>
          <a:p>
            <a:pPr lvl="0">
              <a:buFont typeface="Arial" pitchFamily="34" charset="0"/>
              <a:buChar char="•"/>
            </a:pPr>
            <a:r>
              <a:rPr lang="en-AU" sz="1200" kern="1200" dirty="0" smtClean="0">
                <a:solidFill>
                  <a:schemeClr val="tx1"/>
                </a:solidFill>
                <a:latin typeface="+mn-lt"/>
                <a:ea typeface="+mn-ea"/>
                <a:cs typeface="+mn-cs"/>
              </a:rPr>
              <a:t>Look through the eyes of the tour group member and try to see things from their perspective.</a:t>
            </a:r>
          </a:p>
          <a:p>
            <a:pPr lvl="1">
              <a:buFont typeface="Arial" pitchFamily="34" charset="0"/>
              <a:buChar char="•"/>
            </a:pPr>
            <a:r>
              <a:rPr lang="en-AU" sz="1200" kern="1200" dirty="0" smtClean="0">
                <a:solidFill>
                  <a:schemeClr val="tx1"/>
                </a:solidFill>
                <a:latin typeface="+mn-lt"/>
                <a:ea typeface="+mn-ea"/>
                <a:cs typeface="+mn-cs"/>
              </a:rPr>
              <a:t>For example, consider saying “I understand you would like to get closer to XYZ but we have been asked to stay at a distance because the community have said they feel threatened if visitors get too close”.</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a:t>
            </a:r>
            <a:r>
              <a:rPr lang="en-AU" b="0" baseline="0" noProof="0" dirty="0" smtClean="0"/>
              <a:t> demonstrates how to handle problems with tour group members and provides opportunity for students to do the same.</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7495170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0158206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94698183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141706415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4165653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77703010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noProof="0"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noProof="0" dirty="0" smtClean="0"/>
              <a:t>Why is there a need to maintain contact with the local community?</a:t>
            </a:r>
          </a:p>
          <a:p>
            <a:pPr>
              <a:buFont typeface="Arial" pitchFamily="34" charset="0"/>
              <a:buChar char="•"/>
            </a:pPr>
            <a:r>
              <a:rPr lang="en-US" noProof="0" dirty="0" smtClean="0"/>
              <a:t>How might this contact occur?</a:t>
            </a:r>
          </a:p>
          <a:p>
            <a:pPr>
              <a:buFont typeface="Arial" pitchFamily="34" charset="0"/>
              <a:buChar char="•"/>
            </a:pPr>
            <a:r>
              <a:rPr lang="en-US" noProof="0" dirty="0" smtClean="0"/>
              <a:t>With what frequency?</a:t>
            </a:r>
          </a:p>
          <a:p>
            <a:pPr>
              <a:buFont typeface="Arial" pitchFamily="34" charset="0"/>
              <a:buChar char="•"/>
            </a:pPr>
            <a:r>
              <a:rPr lang="en-US" noProof="0" dirty="0" smtClean="0"/>
              <a:t>Who should participate in the communications?</a:t>
            </a:r>
          </a:p>
          <a:p>
            <a:pPr>
              <a:buFont typeface="Arial" pitchFamily="34" charset="0"/>
              <a:buChar char="•"/>
            </a:pPr>
            <a:r>
              <a:rPr lang="en-US" noProof="0" dirty="0" smtClean="0"/>
              <a:t>Where might the exchanges take place?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34426710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maintaining contact with local communities may include the following activities:</a:t>
            </a:r>
          </a:p>
          <a:p>
            <a:pPr>
              <a:buFont typeface="Arial" pitchFamily="34" charset="0"/>
              <a:buChar char="•"/>
            </a:pPr>
            <a:r>
              <a:rPr lang="en-AU" sz="1200" kern="1200" dirty="0" smtClean="0">
                <a:solidFill>
                  <a:schemeClr val="tx1"/>
                </a:solidFill>
                <a:latin typeface="+mn-lt"/>
                <a:ea typeface="+mn-ea"/>
                <a:cs typeface="+mn-cs"/>
              </a:rPr>
              <a:t>Determining </a:t>
            </a:r>
            <a:r>
              <a:rPr lang="en-AU" sz="1200" i="1" kern="1200" dirty="0" smtClean="0">
                <a:solidFill>
                  <a:schemeClr val="tx1"/>
                </a:solidFill>
                <a:latin typeface="+mn-lt"/>
                <a:ea typeface="+mn-ea"/>
                <a:cs typeface="+mn-cs"/>
              </a:rPr>
              <a:t>how</a:t>
            </a:r>
            <a:r>
              <a:rPr lang="en-AU" sz="1200" kern="1200" dirty="0" smtClean="0">
                <a:solidFill>
                  <a:schemeClr val="tx1"/>
                </a:solidFill>
                <a:latin typeface="+mn-lt"/>
                <a:ea typeface="+mn-ea"/>
                <a:cs typeface="+mn-cs"/>
              </a:rPr>
              <a:t> and </a:t>
            </a:r>
            <a:r>
              <a:rPr lang="en-AU" sz="1200" i="1" kern="1200" dirty="0" smtClean="0">
                <a:solidFill>
                  <a:schemeClr val="tx1"/>
                </a:solidFill>
                <a:latin typeface="+mn-lt"/>
                <a:ea typeface="+mn-ea"/>
                <a:cs typeface="+mn-cs"/>
              </a:rPr>
              <a:t>when</a:t>
            </a:r>
            <a:r>
              <a:rPr lang="en-AU" sz="1200" kern="1200" dirty="0" smtClean="0">
                <a:solidFill>
                  <a:schemeClr val="tx1"/>
                </a:solidFill>
                <a:latin typeface="+mn-lt"/>
                <a:ea typeface="+mn-ea"/>
                <a:cs typeface="+mn-cs"/>
              </a:rPr>
              <a:t> the local community prefers to communicate – there may be a preference for:</a:t>
            </a:r>
          </a:p>
          <a:p>
            <a:pPr lvl="1">
              <a:buFont typeface="Arial" pitchFamily="34" charset="0"/>
              <a:buChar char="•"/>
            </a:pPr>
            <a:r>
              <a:rPr lang="en-US" sz="1200" kern="1200" dirty="0" smtClean="0">
                <a:solidFill>
                  <a:schemeClr val="tx1"/>
                </a:solidFill>
                <a:latin typeface="+mn-lt"/>
                <a:ea typeface="+mn-ea"/>
                <a:cs typeface="+mn-cs"/>
              </a:rPr>
              <a:t>Face-to-face meetings or electronic/telephone contact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Meetings in the local community or meetings at nominated other locations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Short casual meetings or more formal/structured meetings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Meetings with the community as a while or meetings with nominated representatives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Frequent meetings or less-frequent but nonetheless scheduled meetings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Keeping the lines of communication open – which can be optimised by:</a:t>
            </a:r>
          </a:p>
          <a:p>
            <a:pPr lvl="1">
              <a:buFont typeface="Arial" pitchFamily="34" charset="0"/>
              <a:buChar char="•"/>
            </a:pPr>
            <a:r>
              <a:rPr lang="en-US" sz="1200" kern="1200" dirty="0" smtClean="0">
                <a:solidFill>
                  <a:schemeClr val="tx1"/>
                </a:solidFill>
                <a:latin typeface="+mn-lt"/>
                <a:ea typeface="+mn-ea"/>
                <a:cs typeface="+mn-cs"/>
              </a:rPr>
              <a:t>Talking honestly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available when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Returning calls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prepared to use a variety of different communication options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Using different communication methods for individual stakeholders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proactive in initiating contact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Communicating in the way/manner preferred by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Being flexible in meetings times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Maintaining and distributing hard copy information regarding information shared, decisions reached and arrangements which have been made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Honouring promises that have been made – this is arguably the single biggest element in maintaining a positive relationship with a local community.</a:t>
            </a:r>
            <a:endParaRPr lang="en-AU" sz="1200" kern="1200" dirty="0" smtClean="0">
              <a:solidFill>
                <a:schemeClr val="tx1"/>
              </a:solidFill>
              <a:latin typeface="+mn-lt"/>
              <a:ea typeface="+mn-ea"/>
              <a:cs typeface="+mn-cs"/>
            </a:endParaRP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4225139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activities inherent in maintaining contact with local communities:</a:t>
            </a:r>
          </a:p>
          <a:p>
            <a:pPr>
              <a:buFont typeface="Arial" pitchFamily="34" charset="0"/>
              <a:buChar char="•"/>
            </a:pPr>
            <a:r>
              <a:rPr lang="en-AU" sz="1200" kern="1200" dirty="0" smtClean="0">
                <a:solidFill>
                  <a:schemeClr val="tx1"/>
                </a:solidFill>
                <a:latin typeface="+mn-lt"/>
                <a:ea typeface="+mn-ea"/>
                <a:cs typeface="+mn-cs"/>
              </a:rPr>
              <a:t>Actively monitoring the relationship – with a view to:</a:t>
            </a:r>
          </a:p>
          <a:p>
            <a:pPr lvl="1">
              <a:buFont typeface="Arial" pitchFamily="34" charset="0"/>
              <a:buChar char="•"/>
            </a:pPr>
            <a:r>
              <a:rPr lang="en-US" sz="1200" kern="1200" dirty="0" smtClean="0">
                <a:solidFill>
                  <a:schemeClr val="tx1"/>
                </a:solidFill>
                <a:latin typeface="+mn-lt"/>
                <a:ea typeface="+mn-ea"/>
                <a:cs typeface="+mn-cs"/>
              </a:rPr>
              <a:t>Obtaining feedback/input from relevant stakeholders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Creating opportunities for feedback from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Supplying the means and methods for providing feedback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Soliciting suggestions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Factoring in feedback from tour groups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Asking  the community about the relationship and arrangements which have been made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Identifying and addressing small problems before they become big ones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Doing no harm – this must always be a primary priority in the relationship: no harm should come to the community, individuals in it, its reputations, its environment or anything to do with the people or their culture.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53732797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liaising </a:t>
            </a:r>
            <a:r>
              <a:rPr lang="en-AU" sz="1200" kern="1200" dirty="0" smtClean="0">
                <a:solidFill>
                  <a:schemeClr val="tx1"/>
                </a:solidFill>
                <a:latin typeface="+mn-lt"/>
                <a:ea typeface="+mn-ea"/>
                <a:cs typeface="+mn-cs"/>
              </a:rPr>
              <a:t>with local community may involve or require:</a:t>
            </a:r>
          </a:p>
          <a:p>
            <a:pPr>
              <a:buFont typeface="Arial" pitchFamily="34" charset="0"/>
              <a:buChar char="•"/>
            </a:pPr>
            <a:r>
              <a:rPr lang="en-AU" sz="1200" kern="1200" dirty="0" smtClean="0">
                <a:solidFill>
                  <a:schemeClr val="tx1"/>
                </a:solidFill>
                <a:latin typeface="+mn-lt"/>
                <a:ea typeface="+mn-ea"/>
                <a:cs typeface="+mn-cs"/>
              </a:rPr>
              <a:t>Keeping in regular contact with the local community to encourage communication – meaning:</a:t>
            </a:r>
          </a:p>
          <a:p>
            <a:pPr lvl="1">
              <a:buFont typeface="Arial" pitchFamily="34" charset="0"/>
              <a:buChar char="•"/>
            </a:pPr>
            <a:r>
              <a:rPr lang="en-US" sz="1200" kern="1200" dirty="0" smtClean="0">
                <a:solidFill>
                  <a:schemeClr val="tx1"/>
                </a:solidFill>
                <a:latin typeface="+mn-lt"/>
                <a:ea typeface="+mn-ea"/>
                <a:cs typeface="+mn-cs"/>
              </a:rPr>
              <a:t>Contact needs to occur even where there is ‘nothing special’ or something definite to be discussed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schedule of meetings/contacts might be useful in providing a basis for contact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Making sure the local community has all contact details for the Tour Operator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Designating one (or two) dedicated people within the organisation for the local community to use as their target contacts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Responding to community concerns – by, as appropriate/necessary:</a:t>
            </a:r>
          </a:p>
          <a:p>
            <a:pPr lvl="1">
              <a:buFont typeface="Arial" pitchFamily="34" charset="0"/>
              <a:buChar char="•"/>
            </a:pPr>
            <a:r>
              <a:rPr lang="en-US" sz="1200" kern="1200" dirty="0" smtClean="0">
                <a:solidFill>
                  <a:schemeClr val="tx1"/>
                </a:solidFill>
                <a:latin typeface="+mn-lt"/>
                <a:ea typeface="+mn-ea"/>
                <a:cs typeface="+mn-cs"/>
              </a:rPr>
              <a:t>Varying tours and activities to suit local community needs, wants and preferences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Varying tours and activities as a result of local ceremonies, rites, rituals and festivals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Varying tours and activities where any form of unacceptable impact on the community or the local environment has been observed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Adjusting and/or removing activities and/or the provision of information to tour groups – as required:</a:t>
            </a:r>
          </a:p>
          <a:p>
            <a:pPr lvl="1">
              <a:buFont typeface="Arial" pitchFamily="34" charset="0"/>
              <a:buChar char="•"/>
            </a:pPr>
            <a:r>
              <a:rPr lang="en-US" sz="1200" kern="1200" dirty="0" smtClean="0">
                <a:solidFill>
                  <a:schemeClr val="tx1"/>
                </a:solidFill>
                <a:latin typeface="+mn-lt"/>
                <a:ea typeface="+mn-ea"/>
                <a:cs typeface="+mn-cs"/>
              </a:rPr>
              <a:t>On the basis of feedback from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 the community provides additional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Where the local community: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Authorises a change in the release of information to the public</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Wants a change in the type/detail of information given to tourists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84885681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state liaising </a:t>
            </a:r>
            <a:r>
              <a:rPr lang="en-AU" sz="1200" kern="1200" dirty="0" smtClean="0">
                <a:solidFill>
                  <a:schemeClr val="tx1"/>
                </a:solidFill>
                <a:latin typeface="+mn-lt"/>
                <a:ea typeface="+mn-ea"/>
                <a:cs typeface="+mn-cs"/>
              </a:rPr>
              <a:t>with local community may involve or require:</a:t>
            </a:r>
          </a:p>
          <a:p>
            <a:pPr>
              <a:buFont typeface="Arial" pitchFamily="34" charset="0"/>
              <a:buChar char="•"/>
            </a:pPr>
            <a:r>
              <a:rPr lang="en-AU" sz="1200" kern="1200" dirty="0" smtClean="0">
                <a:solidFill>
                  <a:schemeClr val="tx1"/>
                </a:solidFill>
                <a:latin typeface="+mn-lt"/>
                <a:ea typeface="+mn-ea"/>
                <a:cs typeface="+mn-cs"/>
              </a:rPr>
              <a:t>Suggesting and/or assisting with the development of new tours and/or activities – on the basis of:</a:t>
            </a:r>
          </a:p>
          <a:p>
            <a:pPr lvl="1">
              <a:buFont typeface="Arial" pitchFamily="34" charset="0"/>
              <a:buChar char="•"/>
            </a:pPr>
            <a:r>
              <a:rPr lang="en-US" sz="1200" kern="1200" dirty="0" smtClean="0">
                <a:solidFill>
                  <a:schemeClr val="tx1"/>
                </a:solidFill>
                <a:latin typeface="+mn-lt"/>
                <a:ea typeface="+mn-ea"/>
                <a:cs typeface="+mn-cs"/>
              </a:rPr>
              <a:t>Mutually beneficial opportunities which may present themselves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Ideas and proposals put forward by the local community are developed with the local community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Responding appropriately to any examples where tourist activity is having a negative impact on the local community – this needs to embrace:</a:t>
            </a:r>
          </a:p>
          <a:p>
            <a:pPr lvl="1">
              <a:buFont typeface="Arial" pitchFamily="34" charset="0"/>
              <a:buChar char="•"/>
            </a:pPr>
            <a:r>
              <a:rPr lang="en-US" sz="1200" kern="1200" dirty="0" smtClean="0">
                <a:solidFill>
                  <a:schemeClr val="tx1"/>
                </a:solidFill>
                <a:latin typeface="+mn-lt"/>
                <a:ea typeface="+mn-ea"/>
                <a:cs typeface="+mn-cs"/>
              </a:rPr>
              <a:t>Assisting the community take whatever ‘other action’ is necessary to address the issue/s – such as legal action, educational campaigns, engagement with authorities, security or protective action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Willingness to cancel tours – and return payments/deposits to customers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Ability to alter promotional material to reflect changed conditions/circumstances.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Classroom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arranges for representative from local community to attend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Discuss</a:t>
            </a:r>
            <a:r>
              <a:rPr lang="en-AU" sz="1200" b="0" kern="1200" baseline="0" dirty="0" smtClean="0">
                <a:solidFill>
                  <a:schemeClr val="tx1"/>
                </a:solidFill>
                <a:latin typeface="+mn-lt"/>
                <a:ea typeface="+mn-ea"/>
                <a:cs typeface="+mn-cs"/>
              </a:rPr>
              <a:t> their requirements regarding maintaining contact with Tour Operators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how this occurs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State why such a relationship is necessary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Give examples of issues addressed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78732382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the Tour Operator must adopt the following orientations to the potential need to modify information provided to the public/tour group members:</a:t>
            </a:r>
          </a:p>
          <a:p>
            <a:pPr>
              <a:buFont typeface="Arial" pitchFamily="34" charset="0"/>
              <a:buChar char="•"/>
            </a:pPr>
            <a:r>
              <a:rPr lang="en-AU" sz="1200" kern="1200" dirty="0" smtClean="0">
                <a:solidFill>
                  <a:schemeClr val="tx1"/>
                </a:solidFill>
                <a:latin typeface="+mn-lt"/>
                <a:ea typeface="+mn-ea"/>
                <a:cs typeface="+mn-cs"/>
              </a:rPr>
              <a:t>Proving a willingness to vary information provided to suit local community needs – via verbal and non-verbal language/cues</a:t>
            </a:r>
          </a:p>
          <a:p>
            <a:pPr>
              <a:buFont typeface="Arial" pitchFamily="34" charset="0"/>
              <a:buChar char="•"/>
            </a:pPr>
            <a:r>
              <a:rPr lang="en-AU" sz="1200" kern="1200" dirty="0" smtClean="0">
                <a:solidFill>
                  <a:schemeClr val="tx1"/>
                </a:solidFill>
                <a:latin typeface="+mn-lt"/>
                <a:ea typeface="+mn-ea"/>
                <a:cs typeface="+mn-cs"/>
              </a:rPr>
              <a:t>Being receptive to suggestions for change – including suggestions to reduce or extend existing arrangements</a:t>
            </a:r>
          </a:p>
          <a:p>
            <a:pPr>
              <a:buFont typeface="Arial" pitchFamily="34" charset="0"/>
              <a:buChar char="•"/>
            </a:pPr>
            <a:r>
              <a:rPr lang="en-AU" sz="1200" kern="1200" dirty="0" smtClean="0">
                <a:solidFill>
                  <a:schemeClr val="tx1"/>
                </a:solidFill>
                <a:latin typeface="+mn-lt"/>
                <a:ea typeface="+mn-ea"/>
                <a:cs typeface="+mn-cs"/>
              </a:rPr>
              <a:t>Taking prompt action on the basis of comment/input from the community – as opposed to delaying and deferring changes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44673313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a:t>
            </a:r>
            <a:r>
              <a:rPr lang="en-AU" baseline="0" noProof="0" dirty="0" smtClean="0"/>
              <a:t> orientation Tour Operators should have to information changes required by local communities:</a:t>
            </a:r>
          </a:p>
          <a:p>
            <a:pPr>
              <a:buFont typeface="Arial" pitchFamily="34" charset="0"/>
              <a:buChar char="•"/>
            </a:pPr>
            <a:r>
              <a:rPr lang="en-AU" sz="1200" kern="1200" dirty="0" smtClean="0">
                <a:solidFill>
                  <a:schemeClr val="tx1"/>
                </a:solidFill>
                <a:latin typeface="+mn-lt"/>
                <a:ea typeface="+mn-ea"/>
                <a:cs typeface="+mn-cs"/>
              </a:rPr>
              <a:t>Doing what needs to be done without complaining – and without making the community feel as if their requests/requirements are an imposition</a:t>
            </a:r>
          </a:p>
          <a:p>
            <a:pPr>
              <a:buFont typeface="Arial" pitchFamily="34" charset="0"/>
              <a:buChar char="•"/>
            </a:pPr>
            <a:r>
              <a:rPr lang="en-AU" sz="1200" kern="1200" dirty="0" smtClean="0">
                <a:solidFill>
                  <a:schemeClr val="tx1"/>
                </a:solidFill>
                <a:latin typeface="+mn-lt"/>
                <a:ea typeface="+mn-ea"/>
                <a:cs typeface="+mn-cs"/>
              </a:rPr>
              <a:t>Not challenging the changes which are required/requested – but accepting the changes which are identified as being necessary</a:t>
            </a:r>
          </a:p>
          <a:p>
            <a:pPr>
              <a:buFont typeface="Arial" pitchFamily="34" charset="0"/>
              <a:buChar char="•"/>
            </a:pPr>
            <a:r>
              <a:rPr lang="en-AU" sz="1200" kern="1200" dirty="0" smtClean="0">
                <a:solidFill>
                  <a:schemeClr val="tx1"/>
                </a:solidFill>
                <a:latin typeface="+mn-lt"/>
                <a:ea typeface="+mn-ea"/>
                <a:cs typeface="+mn-cs"/>
              </a:rPr>
              <a:t>Showing the local community new materials/commentaries which have been produced – so they can see the positive response of the Tour Operator</a:t>
            </a:r>
          </a:p>
          <a:p>
            <a:pPr>
              <a:buFont typeface="Arial" pitchFamily="34" charset="0"/>
              <a:buChar char="•"/>
            </a:pPr>
            <a:r>
              <a:rPr lang="en-AU" sz="1200" kern="1200" dirty="0" smtClean="0">
                <a:solidFill>
                  <a:schemeClr val="tx1"/>
                </a:solidFill>
                <a:latin typeface="+mn-lt"/>
                <a:ea typeface="+mn-ea"/>
                <a:cs typeface="+mn-cs"/>
              </a:rPr>
              <a:t>Seeking approval from the community – for the changes which are made before they are released/used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72837649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when changes need to be made they may be required to:</a:t>
            </a:r>
          </a:p>
          <a:p>
            <a:pPr>
              <a:buFont typeface="Arial" pitchFamily="34" charset="0"/>
              <a:buChar char="•"/>
            </a:pPr>
            <a:r>
              <a:rPr lang="en-AU" sz="1200" kern="1200" dirty="0" smtClean="0">
                <a:solidFill>
                  <a:schemeClr val="tx1"/>
                </a:solidFill>
                <a:latin typeface="+mn-lt"/>
                <a:ea typeface="+mn-ea"/>
                <a:cs typeface="+mn-cs"/>
              </a:rPr>
              <a:t>Advertisements and promotions for tours and interpretive activities</a:t>
            </a:r>
          </a:p>
          <a:p>
            <a:pPr>
              <a:buFont typeface="Arial" pitchFamily="34" charset="0"/>
              <a:buChar char="•"/>
            </a:pPr>
            <a:r>
              <a:rPr lang="en-AU" sz="1200" kern="1200" dirty="0" smtClean="0">
                <a:solidFill>
                  <a:schemeClr val="tx1"/>
                </a:solidFill>
                <a:latin typeface="+mn-lt"/>
                <a:ea typeface="+mn-ea"/>
                <a:cs typeface="+mn-cs"/>
              </a:rPr>
              <a:t>Material included in hard copy handouts supplied to tour group members</a:t>
            </a:r>
          </a:p>
          <a:p>
            <a:pPr>
              <a:buFont typeface="Arial" pitchFamily="34" charset="0"/>
              <a:buChar char="•"/>
            </a:pPr>
            <a:r>
              <a:rPr lang="en-AU" sz="1200" kern="1200" dirty="0" smtClean="0">
                <a:solidFill>
                  <a:schemeClr val="tx1"/>
                </a:solidFill>
                <a:latin typeface="+mn-lt"/>
                <a:ea typeface="+mn-ea"/>
                <a:cs typeface="+mn-cs"/>
              </a:rPr>
              <a:t>Scripted commentaries prepared for tours and activities</a:t>
            </a:r>
          </a:p>
          <a:p>
            <a:pPr>
              <a:buFont typeface="Arial" pitchFamily="34" charset="0"/>
              <a:buChar char="•"/>
            </a:pPr>
            <a:r>
              <a:rPr lang="en-AU" sz="1200" kern="1200" dirty="0" smtClean="0">
                <a:solidFill>
                  <a:schemeClr val="tx1"/>
                </a:solidFill>
                <a:latin typeface="+mn-lt"/>
                <a:ea typeface="+mn-ea"/>
                <a:cs typeface="+mn-cs"/>
              </a:rPr>
              <a:t>Comments/unscripted commentary provided by Tour Guides and tour staff</a:t>
            </a:r>
          </a:p>
          <a:p>
            <a:pPr>
              <a:buFont typeface="Arial" pitchFamily="34" charset="0"/>
              <a:buChar char="•"/>
            </a:pPr>
            <a:r>
              <a:rPr lang="en-AU" sz="1200" kern="1200" dirty="0" smtClean="0">
                <a:solidFill>
                  <a:schemeClr val="tx1"/>
                </a:solidFill>
                <a:latin typeface="+mn-lt"/>
                <a:ea typeface="+mn-ea"/>
                <a:cs typeface="+mn-cs"/>
              </a:rPr>
              <a:t>Advice and detail used to explain, describe and/or demonstrate an interpretive activity.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167853958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states the following are practical changes which may need to be made to information to be provided to tour group members.</a:t>
            </a:r>
          </a:p>
          <a:p>
            <a:pPr>
              <a:buFont typeface="Arial" pitchFamily="34" charset="0"/>
              <a:buChar char="•"/>
            </a:pPr>
            <a:r>
              <a:rPr lang="en-AU" sz="1200" kern="1200" dirty="0" smtClean="0">
                <a:solidFill>
                  <a:schemeClr val="tx1"/>
                </a:solidFill>
                <a:latin typeface="+mn-lt"/>
                <a:ea typeface="+mn-ea"/>
                <a:cs typeface="+mn-cs"/>
              </a:rPr>
              <a:t>Reviewing existing materials – to determine:</a:t>
            </a:r>
          </a:p>
          <a:p>
            <a:pPr lvl="1">
              <a:buFont typeface="Arial" pitchFamily="34" charset="0"/>
              <a:buChar char="•"/>
            </a:pPr>
            <a:r>
              <a:rPr lang="en-US" sz="1200" kern="1200" dirty="0" smtClean="0">
                <a:solidFill>
                  <a:schemeClr val="tx1"/>
                </a:solidFill>
                <a:latin typeface="+mn-lt"/>
                <a:ea typeface="+mn-ea"/>
                <a:cs typeface="+mn-cs"/>
              </a:rPr>
              <a:t>The exact items which need to be changed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Nature and extent of changes needed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Liaise with local communities – to:</a:t>
            </a:r>
          </a:p>
          <a:p>
            <a:pPr lvl="1">
              <a:buFont typeface="Arial" pitchFamily="34" charset="0"/>
              <a:buChar char="•"/>
            </a:pPr>
            <a:r>
              <a:rPr lang="en-US" sz="1200" kern="1200" dirty="0" smtClean="0">
                <a:solidFill>
                  <a:schemeClr val="tx1"/>
                </a:solidFill>
                <a:latin typeface="+mn-lt"/>
                <a:ea typeface="+mn-ea"/>
                <a:cs typeface="+mn-cs"/>
              </a:rPr>
              <a:t>Clarify issues surrounding required changes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Confirm required changes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Seek help with making the required changes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Gain approval for the changes which have been made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Revising/re-writing items to reflect modifications required – in terms of:</a:t>
            </a:r>
          </a:p>
          <a:p>
            <a:pPr lvl="1">
              <a:buFont typeface="Arial" pitchFamily="34" charset="0"/>
              <a:buChar char="•"/>
            </a:pPr>
            <a:r>
              <a:rPr lang="en-US" sz="1200" kern="1200" dirty="0" smtClean="0">
                <a:solidFill>
                  <a:schemeClr val="tx1"/>
                </a:solidFill>
                <a:latin typeface="+mn-lt"/>
                <a:ea typeface="+mn-ea"/>
                <a:cs typeface="+mn-cs"/>
              </a:rPr>
              <a:t>Advertisements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Promotional brochures and posters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Handouts provided as part of the tour and/or tour briefing sessions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Sheets distributed as part of interpretive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Scripted commentaries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Agreements/contracts between Tour Operator and local communities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5650482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activities involved ion making required changes to information provided:</a:t>
            </a:r>
          </a:p>
          <a:p>
            <a:pPr>
              <a:buFont typeface="Arial" pitchFamily="34" charset="0"/>
              <a:buChar char="•"/>
            </a:pPr>
            <a:r>
              <a:rPr lang="en-AU" sz="1200" kern="1200" dirty="0" smtClean="0">
                <a:solidFill>
                  <a:schemeClr val="tx1"/>
                </a:solidFill>
                <a:latin typeface="+mn-lt"/>
                <a:ea typeface="+mn-ea"/>
                <a:cs typeface="+mn-cs"/>
              </a:rPr>
              <a:t>Removing items from circulation – which may entail:</a:t>
            </a:r>
          </a:p>
          <a:p>
            <a:pPr lvl="1">
              <a:buFont typeface="Arial" pitchFamily="34" charset="0"/>
              <a:buChar char="•"/>
            </a:pPr>
            <a:r>
              <a:rPr lang="en-US" sz="1200" kern="1200" dirty="0" smtClean="0">
                <a:solidFill>
                  <a:schemeClr val="tx1"/>
                </a:solidFill>
                <a:latin typeface="+mn-lt"/>
                <a:ea typeface="+mn-ea"/>
                <a:cs typeface="+mn-cs"/>
              </a:rPr>
              <a:t>Taking brochures and advertising materials from racks and locations in which they have been placed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Taking material off the website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Removing materials as required from pre-prepared kits/folders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Updating version control protocols – to ensure the most current version is the one used in the future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Correcting text and/or script – with references to issues such as:</a:t>
            </a:r>
          </a:p>
          <a:p>
            <a:pPr lvl="1">
              <a:buFont typeface="Arial" pitchFamily="34" charset="0"/>
              <a:buChar char="•"/>
            </a:pPr>
            <a:r>
              <a:rPr lang="en-US" sz="1200" kern="1200" dirty="0" smtClean="0">
                <a:solidFill>
                  <a:schemeClr val="tx1"/>
                </a:solidFill>
                <a:latin typeface="+mn-lt"/>
                <a:ea typeface="+mn-ea"/>
                <a:cs typeface="+mn-cs"/>
              </a:rPr>
              <a:t>Mistakes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Spelling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Grammar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Omissions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Updating internal training – so that:</a:t>
            </a:r>
          </a:p>
          <a:p>
            <a:pPr lvl="1">
              <a:buFont typeface="Arial" pitchFamily="34" charset="0"/>
              <a:buChar char="•"/>
            </a:pPr>
            <a:r>
              <a:rPr lang="en-US" sz="1200" kern="1200" dirty="0" smtClean="0">
                <a:solidFill>
                  <a:schemeClr val="tx1"/>
                </a:solidFill>
                <a:latin typeface="+mn-lt"/>
                <a:ea typeface="+mn-ea"/>
                <a:cs typeface="+mn-cs"/>
              </a:rPr>
              <a:t>Training (role plays, drills, practical sessions) uses current/up-dated materials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Staff gain experience and competency with the new information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Keeping previously disclosed information secret – in relation to:</a:t>
            </a:r>
          </a:p>
          <a:p>
            <a:pPr lvl="1">
              <a:buFont typeface="Arial" pitchFamily="34" charset="0"/>
              <a:buChar char="•"/>
            </a:pPr>
            <a:r>
              <a:rPr lang="en-US" sz="1200" kern="1200" dirty="0" smtClean="0">
                <a:solidFill>
                  <a:schemeClr val="tx1"/>
                </a:solidFill>
                <a:latin typeface="+mn-lt"/>
                <a:ea typeface="+mn-ea"/>
                <a:cs typeface="+mn-cs"/>
              </a:rPr>
              <a:t>Not taking tour group members into places/areas that are now restricted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making unscripted comments about information which is now prohibited</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20362770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identify activities involved ion making required changes to information provided:</a:t>
            </a:r>
          </a:p>
          <a:p>
            <a:pPr>
              <a:buFont typeface="Arial" pitchFamily="34" charset="0"/>
              <a:buChar char="•"/>
            </a:pPr>
            <a:r>
              <a:rPr lang="en-AU" sz="1200" kern="1200" dirty="0" smtClean="0">
                <a:solidFill>
                  <a:schemeClr val="tx1"/>
                </a:solidFill>
                <a:latin typeface="+mn-lt"/>
                <a:ea typeface="+mn-ea"/>
                <a:cs typeface="+mn-cs"/>
              </a:rPr>
              <a:t>Altering scheduled itineraries and activities – on the basis of:</a:t>
            </a:r>
          </a:p>
          <a:p>
            <a:pPr lvl="1">
              <a:buFont typeface="Arial" pitchFamily="34" charset="0"/>
              <a:buChar char="•"/>
            </a:pPr>
            <a:r>
              <a:rPr lang="en-US" sz="1200" kern="1200" dirty="0" smtClean="0">
                <a:solidFill>
                  <a:schemeClr val="tx1"/>
                </a:solidFill>
                <a:latin typeface="+mn-lt"/>
                <a:ea typeface="+mn-ea"/>
                <a:cs typeface="+mn-cs"/>
              </a:rPr>
              <a:t>Feedback received from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Changed priorities of the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Concerns raised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Up-dating facts and figures relating to the local community – regarding (for example):</a:t>
            </a:r>
          </a:p>
          <a:p>
            <a:pPr lvl="1">
              <a:buFont typeface="Arial" pitchFamily="34" charset="0"/>
              <a:buChar char="•"/>
            </a:pPr>
            <a:r>
              <a:rPr lang="en-US" sz="1200" kern="1200" dirty="0" smtClean="0">
                <a:solidFill>
                  <a:schemeClr val="tx1"/>
                </a:solidFill>
                <a:latin typeface="+mn-lt"/>
                <a:ea typeface="+mn-ea"/>
                <a:cs typeface="+mn-cs"/>
              </a:rPr>
              <a:t>Population numbers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Employment rates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Crime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Achievements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Applying another method of communication/transmission of information – which may mean:</a:t>
            </a:r>
          </a:p>
          <a:p>
            <a:pPr lvl="1">
              <a:buFont typeface="Arial" pitchFamily="34" charset="0"/>
              <a:buChar char="•"/>
            </a:pPr>
            <a:r>
              <a:rPr lang="en-US" sz="1200" kern="1200" dirty="0" smtClean="0">
                <a:solidFill>
                  <a:schemeClr val="tx1"/>
                </a:solidFill>
                <a:latin typeface="+mn-lt"/>
                <a:ea typeface="+mn-ea"/>
                <a:cs typeface="+mn-cs"/>
              </a:rPr>
              <a:t>Using a Tour Guide/presenter from the local community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Speaking in a different language/local language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Presenting the same information via (say):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Printed word instead of the spoken word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An activity as opposed to (just) information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Remote presentation rather than communication in the community.</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307444093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40644169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77166913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2986303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55042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3490" y="332656"/>
            <a:ext cx="7654262" cy="1152128"/>
          </a:xfrm>
        </p:spPr>
        <p:txBody>
          <a:bodyPr>
            <a:normAutofit fontScale="90000"/>
          </a:bodyPr>
          <a:lstStyle/>
          <a:p>
            <a:r>
              <a:rPr lang="en-AU" sz="4000" dirty="0">
                <a:ln w="5000" cmpd="sng">
                  <a:noFill/>
                  <a:prstDash val="solid"/>
                </a:ln>
                <a:solidFill>
                  <a:srgbClr val="FF6600"/>
                </a:solidFill>
                <a:latin typeface="Helvetica" pitchFamily="34" charset="0"/>
              </a:rPr>
              <a:t>RESEARCH AND SHARE INFORMATION ON INDIGENOUS </a:t>
            </a:r>
            <a:r>
              <a:rPr lang="en-AU" sz="4000" dirty="0" smtClean="0">
                <a:ln w="5000" cmpd="sng">
                  <a:noFill/>
                  <a:prstDash val="solid"/>
                </a:ln>
                <a:solidFill>
                  <a:srgbClr val="FF6600"/>
                </a:solidFill>
                <a:latin typeface="Helvetica" pitchFamily="34" charset="0"/>
              </a:rPr>
              <a:t>CULTURES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2060848"/>
            <a:ext cx="2541268" cy="289742"/>
          </a:xfrm>
        </p:spPr>
        <p:txBody>
          <a:bodyPr>
            <a:normAutofit lnSpcReduction="10000"/>
          </a:bodyPr>
          <a:lstStyle/>
          <a:p>
            <a:r>
              <a:rPr lang="en-AU" b="1" dirty="0" smtClean="0">
                <a:latin typeface="Helvetica" pitchFamily="34" charset="0"/>
              </a:rPr>
              <a:t>D2.TTG.CL3.18</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827584" y="2060848"/>
            <a:ext cx="5256584" cy="3888432"/>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and share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17" name="Group 16"/>
          <p:cNvGrpSpPr/>
          <p:nvPr/>
        </p:nvGrpSpPr>
        <p:grpSpPr>
          <a:xfrm>
            <a:off x="-3421956" y="1574769"/>
            <a:ext cx="10321857" cy="4892143"/>
            <a:chOff x="-3421956" y="1574769"/>
            <a:chExt cx="10321857" cy="4892143"/>
          </a:xfrm>
        </p:grpSpPr>
        <p:sp>
          <p:nvSpPr>
            <p:cNvPr id="10" name="Block Arc 9"/>
            <p:cNvSpPr/>
            <p:nvPr/>
          </p:nvSpPr>
          <p:spPr>
            <a:xfrm>
              <a:off x="-3421956" y="1574769"/>
              <a:ext cx="4892143" cy="4892143"/>
            </a:xfrm>
            <a:prstGeom prst="blockArc">
              <a:avLst>
                <a:gd name="adj1" fmla="val 18900000"/>
                <a:gd name="adj2" fmla="val 2700000"/>
                <a:gd name="adj3" fmla="val 442"/>
              </a:avLst>
            </a:prstGeom>
          </p:spPr>
          <p:style>
            <a:lnRef idx="2">
              <a:schemeClr val="dk2">
                <a:shade val="60000"/>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sp>
        <p:sp>
          <p:nvSpPr>
            <p:cNvPr id="11" name="Freeform 10"/>
            <p:cNvSpPr/>
            <p:nvPr/>
          </p:nvSpPr>
          <p:spPr>
            <a:xfrm>
              <a:off x="1189441" y="2641700"/>
              <a:ext cx="5710460" cy="579107"/>
            </a:xfrm>
            <a:custGeom>
              <a:avLst/>
              <a:gdLst>
                <a:gd name="connsiteX0" fmla="*/ 0 w 5710460"/>
                <a:gd name="connsiteY0" fmla="*/ 0 h 579107"/>
                <a:gd name="connsiteX1" fmla="*/ 5710460 w 5710460"/>
                <a:gd name="connsiteY1" fmla="*/ 0 h 579107"/>
                <a:gd name="connsiteX2" fmla="*/ 5710460 w 5710460"/>
                <a:gd name="connsiteY2" fmla="*/ 579107 h 579107"/>
                <a:gd name="connsiteX3" fmla="*/ 0 w 5710460"/>
                <a:gd name="connsiteY3" fmla="*/ 579107 h 579107"/>
                <a:gd name="connsiteX4" fmla="*/ 0 w 5710460"/>
                <a:gd name="connsiteY4" fmla="*/ 0 h 579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0460" h="579107">
                  <a:moveTo>
                    <a:pt x="0" y="0"/>
                  </a:moveTo>
                  <a:lnTo>
                    <a:pt x="5710460" y="0"/>
                  </a:lnTo>
                  <a:lnTo>
                    <a:pt x="5710460" y="579107"/>
                  </a:lnTo>
                  <a:lnTo>
                    <a:pt x="0" y="579107"/>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6572"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latin typeface="Helvetica" pitchFamily="34" charset="0"/>
                </a:rPr>
                <a:t>Research information on indigenous cultures</a:t>
              </a:r>
              <a:endParaRPr lang="en-AU" sz="1800" kern="1200" dirty="0">
                <a:latin typeface="Helvetica" pitchFamily="34" charset="0"/>
              </a:endParaRPr>
            </a:p>
          </p:txBody>
        </p:sp>
        <p:sp>
          <p:nvSpPr>
            <p:cNvPr id="12" name="Oval 11"/>
            <p:cNvSpPr/>
            <p:nvPr/>
          </p:nvSpPr>
          <p:spPr>
            <a:xfrm>
              <a:off x="735447" y="2477260"/>
              <a:ext cx="907988" cy="907988"/>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sp>
        <p:sp>
          <p:nvSpPr>
            <p:cNvPr id="13" name="Freeform 12"/>
            <p:cNvSpPr/>
            <p:nvPr/>
          </p:nvSpPr>
          <p:spPr>
            <a:xfrm>
              <a:off x="1453483" y="3731286"/>
              <a:ext cx="5446417" cy="579107"/>
            </a:xfrm>
            <a:custGeom>
              <a:avLst/>
              <a:gdLst>
                <a:gd name="connsiteX0" fmla="*/ 0 w 5446417"/>
                <a:gd name="connsiteY0" fmla="*/ 0 h 579107"/>
                <a:gd name="connsiteX1" fmla="*/ 5446417 w 5446417"/>
                <a:gd name="connsiteY1" fmla="*/ 0 h 579107"/>
                <a:gd name="connsiteX2" fmla="*/ 5446417 w 5446417"/>
                <a:gd name="connsiteY2" fmla="*/ 579107 h 579107"/>
                <a:gd name="connsiteX3" fmla="*/ 0 w 5446417"/>
                <a:gd name="connsiteY3" fmla="*/ 579107 h 579107"/>
                <a:gd name="connsiteX4" fmla="*/ 0 w 5446417"/>
                <a:gd name="connsiteY4" fmla="*/ 0 h 579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6417" h="579107">
                  <a:moveTo>
                    <a:pt x="0" y="0"/>
                  </a:moveTo>
                  <a:lnTo>
                    <a:pt x="5446417" y="0"/>
                  </a:lnTo>
                  <a:lnTo>
                    <a:pt x="5446417" y="579107"/>
                  </a:lnTo>
                  <a:lnTo>
                    <a:pt x="0" y="579107"/>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6572"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latin typeface="Helvetica" pitchFamily="34" charset="0"/>
                </a:rPr>
                <a:t>Share information on indigenous cultures</a:t>
              </a:r>
              <a:endParaRPr lang="en-AU" sz="1800" kern="1200" dirty="0">
                <a:latin typeface="Helvetica" pitchFamily="34" charset="0"/>
              </a:endParaRPr>
            </a:p>
          </p:txBody>
        </p:sp>
        <p:sp>
          <p:nvSpPr>
            <p:cNvPr id="14" name="Oval 13"/>
            <p:cNvSpPr/>
            <p:nvPr/>
          </p:nvSpPr>
          <p:spPr>
            <a:xfrm>
              <a:off x="999489" y="3566846"/>
              <a:ext cx="907988" cy="907988"/>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sp>
        <p:sp>
          <p:nvSpPr>
            <p:cNvPr id="15" name="Freeform 14"/>
            <p:cNvSpPr/>
            <p:nvPr/>
          </p:nvSpPr>
          <p:spPr>
            <a:xfrm>
              <a:off x="1189441" y="4820871"/>
              <a:ext cx="5710460" cy="579107"/>
            </a:xfrm>
            <a:custGeom>
              <a:avLst/>
              <a:gdLst>
                <a:gd name="connsiteX0" fmla="*/ 0 w 5710460"/>
                <a:gd name="connsiteY0" fmla="*/ 0 h 579107"/>
                <a:gd name="connsiteX1" fmla="*/ 5710460 w 5710460"/>
                <a:gd name="connsiteY1" fmla="*/ 0 h 579107"/>
                <a:gd name="connsiteX2" fmla="*/ 5710460 w 5710460"/>
                <a:gd name="connsiteY2" fmla="*/ 579107 h 579107"/>
                <a:gd name="connsiteX3" fmla="*/ 0 w 5710460"/>
                <a:gd name="connsiteY3" fmla="*/ 579107 h 579107"/>
                <a:gd name="connsiteX4" fmla="*/ 0 w 5710460"/>
                <a:gd name="connsiteY4" fmla="*/ 0 h 579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0460" h="579107">
                  <a:moveTo>
                    <a:pt x="0" y="0"/>
                  </a:moveTo>
                  <a:lnTo>
                    <a:pt x="5710460" y="0"/>
                  </a:lnTo>
                  <a:lnTo>
                    <a:pt x="5710460" y="579107"/>
                  </a:lnTo>
                  <a:lnTo>
                    <a:pt x="0" y="579107"/>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6572"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latin typeface="Helvetica" pitchFamily="34" charset="0"/>
                </a:rPr>
                <a:t>Maintain contact with local communities</a:t>
              </a:r>
              <a:endParaRPr lang="en-AU" sz="1800" kern="1200" dirty="0">
                <a:latin typeface="Helvetica" pitchFamily="34" charset="0"/>
              </a:endParaRPr>
            </a:p>
          </p:txBody>
        </p:sp>
        <p:sp>
          <p:nvSpPr>
            <p:cNvPr id="16" name="Oval 15"/>
            <p:cNvSpPr/>
            <p:nvPr/>
          </p:nvSpPr>
          <p:spPr>
            <a:xfrm>
              <a:off x="735447" y="4656431"/>
              <a:ext cx="907988" cy="907988"/>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sp>
      </p:grpSp>
      <p:sp>
        <p:nvSpPr>
          <p:cNvPr id="6" name="TextBox 5"/>
          <p:cNvSpPr txBox="1"/>
          <p:nvPr/>
        </p:nvSpPr>
        <p:spPr>
          <a:xfrm>
            <a:off x="935360" y="2771636"/>
            <a:ext cx="504056" cy="369332"/>
          </a:xfrm>
          <a:prstGeom prst="rect">
            <a:avLst/>
          </a:prstGeom>
          <a:noFill/>
        </p:spPr>
        <p:txBody>
          <a:bodyPr wrap="square" rtlCol="0">
            <a:spAutoFit/>
          </a:bodyPr>
          <a:lstStyle/>
          <a:p>
            <a:pPr algn="ctr"/>
            <a:r>
              <a:rPr lang="en-AU" dirty="0" smtClean="0">
                <a:latin typeface="Helvetica" pitchFamily="34" charset="0"/>
              </a:rPr>
              <a:t>1</a:t>
            </a:r>
            <a:endParaRPr lang="en-AU" dirty="0">
              <a:latin typeface="Helvetica" pitchFamily="34" charset="0"/>
            </a:endParaRPr>
          </a:p>
        </p:txBody>
      </p:sp>
      <p:sp>
        <p:nvSpPr>
          <p:cNvPr id="7" name="TextBox 6"/>
          <p:cNvSpPr txBox="1"/>
          <p:nvPr/>
        </p:nvSpPr>
        <p:spPr>
          <a:xfrm>
            <a:off x="1187388" y="3861048"/>
            <a:ext cx="504056" cy="369332"/>
          </a:xfrm>
          <a:prstGeom prst="rect">
            <a:avLst/>
          </a:prstGeom>
          <a:noFill/>
        </p:spPr>
        <p:txBody>
          <a:bodyPr wrap="square" rtlCol="0">
            <a:spAutoFit/>
          </a:bodyPr>
          <a:lstStyle/>
          <a:p>
            <a:pPr algn="ctr"/>
            <a:r>
              <a:rPr lang="en-AU" dirty="0" smtClean="0">
                <a:latin typeface="Helvetica" pitchFamily="34" charset="0"/>
              </a:rPr>
              <a:t>2</a:t>
            </a:r>
            <a:endParaRPr lang="en-AU" dirty="0">
              <a:latin typeface="Helvetica" pitchFamily="34" charset="0"/>
            </a:endParaRPr>
          </a:p>
        </p:txBody>
      </p:sp>
      <p:sp>
        <p:nvSpPr>
          <p:cNvPr id="8" name="TextBox 7"/>
          <p:cNvSpPr txBox="1"/>
          <p:nvPr/>
        </p:nvSpPr>
        <p:spPr>
          <a:xfrm>
            <a:off x="899592" y="4941168"/>
            <a:ext cx="504056" cy="369332"/>
          </a:xfrm>
          <a:prstGeom prst="rect">
            <a:avLst/>
          </a:prstGeom>
          <a:noFill/>
        </p:spPr>
        <p:txBody>
          <a:bodyPr wrap="square" rtlCol="0">
            <a:spAutoFit/>
          </a:bodyPr>
          <a:lstStyle/>
          <a:p>
            <a:pPr algn="ctr"/>
            <a:r>
              <a:rPr lang="en-AU" dirty="0" smtClean="0">
                <a:latin typeface="Helvetica" pitchFamily="34" charset="0"/>
              </a:rPr>
              <a:t>3</a:t>
            </a:r>
            <a:endParaRPr lang="en-AU" dirty="0">
              <a:latin typeface="Helvetica"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graphicFrame>
        <p:nvGraphicFramePr>
          <p:cNvPr id="6" name="Diagram 5"/>
          <p:cNvGraphicFramePr/>
          <p:nvPr>
            <p:extLst>
              <p:ext uri="{D42A27DB-BD31-4B8C-83A1-F6EECF244321}">
                <p14:modId xmlns:p14="http://schemas.microsoft.com/office/powerpoint/2010/main" val="579245338"/>
              </p:ext>
            </p:extLst>
          </p:nvPr>
        </p:nvGraphicFramePr>
        <p:xfrm>
          <a:off x="683568" y="1844824"/>
          <a:ext cx="5472608" cy="439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Research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Identify sources of information on indigenous cultures</a:t>
            </a:r>
          </a:p>
          <a:p>
            <a:pPr marL="360000" indent="-360000">
              <a:spcBef>
                <a:spcPts val="600"/>
              </a:spcBef>
              <a:spcAft>
                <a:spcPts val="1200"/>
              </a:spcAft>
            </a:pPr>
            <a:r>
              <a:rPr lang="en-AU" sz="2200" dirty="0" smtClean="0">
                <a:latin typeface="Helvetica" pitchFamily="34" charset="0"/>
              </a:rPr>
              <a:t>Research and interpret sources of information</a:t>
            </a:r>
          </a:p>
          <a:p>
            <a:pPr marL="360000" indent="-360000">
              <a:spcBef>
                <a:spcPts val="600"/>
              </a:spcBef>
              <a:spcAft>
                <a:spcPts val="1200"/>
              </a:spcAft>
            </a:pPr>
            <a:r>
              <a:rPr lang="en-AU" sz="2200" dirty="0" smtClean="0">
                <a:latin typeface="Helvetica" pitchFamily="34" charset="0"/>
              </a:rPr>
              <a:t>Demonstrate respect for indigenous people </a:t>
            </a:r>
            <a:br>
              <a:rPr lang="en-AU" sz="2200" dirty="0" smtClean="0">
                <a:latin typeface="Helvetica" pitchFamily="34" charset="0"/>
              </a:rPr>
            </a:br>
            <a:r>
              <a:rPr lang="en-AU" sz="2200" dirty="0" smtClean="0">
                <a:latin typeface="Helvetica" pitchFamily="34" charset="0"/>
              </a:rPr>
              <a:t>and their culture(s)</a:t>
            </a:r>
          </a:p>
          <a:p>
            <a:pPr marL="360000" indent="-360000">
              <a:spcBef>
                <a:spcPts val="600"/>
              </a:spcBef>
              <a:spcAft>
                <a:spcPts val="1200"/>
              </a:spcAft>
            </a:pPr>
            <a:r>
              <a:rPr lang="en-AU" sz="2200" dirty="0" smtClean="0">
                <a:latin typeface="Helvetica" pitchFamily="34" charset="0"/>
              </a:rPr>
              <a:t>Determine how information on indigenous </a:t>
            </a:r>
            <a:br>
              <a:rPr lang="en-AU" sz="2200" dirty="0" smtClean="0">
                <a:latin typeface="Helvetica" pitchFamily="34" charset="0"/>
              </a:rPr>
            </a:br>
            <a:r>
              <a:rPr lang="en-AU" sz="2200" dirty="0" smtClean="0">
                <a:latin typeface="Helvetica" pitchFamily="34" charset="0"/>
              </a:rPr>
              <a:t>cultures should be used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7108" y="3212976"/>
            <a:ext cx="977559" cy="17773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b="1" dirty="0" smtClean="0">
                <a:latin typeface="Helvetica" pitchFamily="34" charset="0"/>
              </a:rPr>
              <a:t>‘Indigenous’: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grpSp>
        <p:nvGrpSpPr>
          <p:cNvPr id="17" name="Group 16"/>
          <p:cNvGrpSpPr/>
          <p:nvPr/>
        </p:nvGrpSpPr>
        <p:grpSpPr>
          <a:xfrm>
            <a:off x="792089" y="2352761"/>
            <a:ext cx="5220071" cy="2516399"/>
            <a:chOff x="755577" y="2278811"/>
            <a:chExt cx="5220071" cy="2516399"/>
          </a:xfrm>
        </p:grpSpPr>
        <p:sp>
          <p:nvSpPr>
            <p:cNvPr id="18" name="Freeform 17"/>
            <p:cNvSpPr/>
            <p:nvPr/>
          </p:nvSpPr>
          <p:spPr>
            <a:xfrm>
              <a:off x="755577" y="2278811"/>
              <a:ext cx="985469" cy="1407813"/>
            </a:xfrm>
            <a:custGeom>
              <a:avLst/>
              <a:gdLst>
                <a:gd name="connsiteX0" fmla="*/ 0 w 1407812"/>
                <a:gd name="connsiteY0" fmla="*/ 0 h 985468"/>
                <a:gd name="connsiteX1" fmla="*/ 915078 w 1407812"/>
                <a:gd name="connsiteY1" fmla="*/ 0 h 985468"/>
                <a:gd name="connsiteX2" fmla="*/ 1407812 w 1407812"/>
                <a:gd name="connsiteY2" fmla="*/ 492734 h 985468"/>
                <a:gd name="connsiteX3" fmla="*/ 915078 w 1407812"/>
                <a:gd name="connsiteY3" fmla="*/ 985468 h 985468"/>
                <a:gd name="connsiteX4" fmla="*/ 0 w 1407812"/>
                <a:gd name="connsiteY4" fmla="*/ 985468 h 985468"/>
                <a:gd name="connsiteX5" fmla="*/ 492734 w 1407812"/>
                <a:gd name="connsiteY5" fmla="*/ 492734 h 985468"/>
                <a:gd name="connsiteX6" fmla="*/ 0 w 1407812"/>
                <a:gd name="connsiteY6" fmla="*/ 0 h 985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7812" h="985468">
                  <a:moveTo>
                    <a:pt x="1407812" y="0"/>
                  </a:moveTo>
                  <a:lnTo>
                    <a:pt x="1407812" y="640554"/>
                  </a:lnTo>
                  <a:lnTo>
                    <a:pt x="703906" y="985468"/>
                  </a:lnTo>
                  <a:lnTo>
                    <a:pt x="0" y="640554"/>
                  </a:lnTo>
                  <a:lnTo>
                    <a:pt x="0" y="0"/>
                  </a:lnTo>
                  <a:lnTo>
                    <a:pt x="703906" y="344914"/>
                  </a:lnTo>
                  <a:lnTo>
                    <a:pt x="1407812" y="0"/>
                  </a:lnTo>
                  <a:close/>
                </a:path>
              </a:pathLst>
            </a:cu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415" tIns="511150" rIns="18416" bIns="511149" numCol="1" spcCol="1270" anchor="ctr" anchorCtr="0">
              <a:noAutofit/>
            </a:bodyPr>
            <a:lstStyle/>
            <a:p>
              <a:pPr lvl="0" algn="ctr" defTabSz="1289050">
                <a:lnSpc>
                  <a:spcPct val="90000"/>
                </a:lnSpc>
                <a:spcBef>
                  <a:spcPct val="0"/>
                </a:spcBef>
                <a:spcAft>
                  <a:spcPct val="35000"/>
                </a:spcAft>
              </a:pPr>
              <a:endParaRPr lang="en-AU" sz="2900" kern="1200"/>
            </a:p>
          </p:txBody>
        </p:sp>
        <p:sp>
          <p:nvSpPr>
            <p:cNvPr id="19" name="Freeform 18"/>
            <p:cNvSpPr/>
            <p:nvPr/>
          </p:nvSpPr>
          <p:spPr>
            <a:xfrm>
              <a:off x="1741044" y="2278813"/>
              <a:ext cx="4234604" cy="915079"/>
            </a:xfrm>
            <a:custGeom>
              <a:avLst/>
              <a:gdLst>
                <a:gd name="connsiteX0" fmla="*/ 152516 w 915078"/>
                <a:gd name="connsiteY0" fmla="*/ 0 h 4234603"/>
                <a:gd name="connsiteX1" fmla="*/ 762562 w 915078"/>
                <a:gd name="connsiteY1" fmla="*/ 0 h 4234603"/>
                <a:gd name="connsiteX2" fmla="*/ 915078 w 915078"/>
                <a:gd name="connsiteY2" fmla="*/ 152516 h 4234603"/>
                <a:gd name="connsiteX3" fmla="*/ 915078 w 915078"/>
                <a:gd name="connsiteY3" fmla="*/ 4234603 h 4234603"/>
                <a:gd name="connsiteX4" fmla="*/ 915078 w 915078"/>
                <a:gd name="connsiteY4" fmla="*/ 4234603 h 4234603"/>
                <a:gd name="connsiteX5" fmla="*/ 0 w 915078"/>
                <a:gd name="connsiteY5" fmla="*/ 4234603 h 4234603"/>
                <a:gd name="connsiteX6" fmla="*/ 0 w 915078"/>
                <a:gd name="connsiteY6" fmla="*/ 4234603 h 4234603"/>
                <a:gd name="connsiteX7" fmla="*/ 0 w 915078"/>
                <a:gd name="connsiteY7" fmla="*/ 152516 h 4234603"/>
                <a:gd name="connsiteX8" fmla="*/ 152516 w 915078"/>
                <a:gd name="connsiteY8" fmla="*/ 0 h 423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078" h="4234603">
                  <a:moveTo>
                    <a:pt x="915078" y="705783"/>
                  </a:moveTo>
                  <a:lnTo>
                    <a:pt x="915078" y="3528820"/>
                  </a:lnTo>
                  <a:cubicBezTo>
                    <a:pt x="915078" y="3918611"/>
                    <a:pt x="900322" y="4234601"/>
                    <a:pt x="882120" y="4234601"/>
                  </a:cubicBezTo>
                  <a:lnTo>
                    <a:pt x="0" y="4234601"/>
                  </a:lnTo>
                  <a:lnTo>
                    <a:pt x="0" y="4234601"/>
                  </a:lnTo>
                  <a:lnTo>
                    <a:pt x="0" y="2"/>
                  </a:lnTo>
                  <a:lnTo>
                    <a:pt x="0" y="2"/>
                  </a:lnTo>
                  <a:lnTo>
                    <a:pt x="882120" y="2"/>
                  </a:lnTo>
                  <a:cubicBezTo>
                    <a:pt x="900322" y="2"/>
                    <a:pt x="915078" y="315992"/>
                    <a:pt x="915078" y="705783"/>
                  </a:cubicBez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156465" tIns="58640" rIns="58640" bIns="58641"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latin typeface="Helvetica" pitchFamily="34" charset="0"/>
                </a:rPr>
                <a:t>People who are native to a particular country</a:t>
              </a:r>
              <a:endParaRPr lang="en-AU" sz="2200" kern="1200" dirty="0"/>
            </a:p>
          </p:txBody>
        </p:sp>
        <p:sp>
          <p:nvSpPr>
            <p:cNvPr id="20" name="Freeform 19"/>
            <p:cNvSpPr/>
            <p:nvPr/>
          </p:nvSpPr>
          <p:spPr>
            <a:xfrm>
              <a:off x="755577" y="3387398"/>
              <a:ext cx="985468" cy="1407812"/>
            </a:xfrm>
            <a:custGeom>
              <a:avLst/>
              <a:gdLst>
                <a:gd name="connsiteX0" fmla="*/ 0 w 1407812"/>
                <a:gd name="connsiteY0" fmla="*/ 0 h 985468"/>
                <a:gd name="connsiteX1" fmla="*/ 915078 w 1407812"/>
                <a:gd name="connsiteY1" fmla="*/ 0 h 985468"/>
                <a:gd name="connsiteX2" fmla="*/ 1407812 w 1407812"/>
                <a:gd name="connsiteY2" fmla="*/ 492734 h 985468"/>
                <a:gd name="connsiteX3" fmla="*/ 915078 w 1407812"/>
                <a:gd name="connsiteY3" fmla="*/ 985468 h 985468"/>
                <a:gd name="connsiteX4" fmla="*/ 0 w 1407812"/>
                <a:gd name="connsiteY4" fmla="*/ 985468 h 985468"/>
                <a:gd name="connsiteX5" fmla="*/ 492734 w 1407812"/>
                <a:gd name="connsiteY5" fmla="*/ 492734 h 985468"/>
                <a:gd name="connsiteX6" fmla="*/ 0 w 1407812"/>
                <a:gd name="connsiteY6" fmla="*/ 0 h 985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7812" h="985468">
                  <a:moveTo>
                    <a:pt x="1407812" y="0"/>
                  </a:moveTo>
                  <a:lnTo>
                    <a:pt x="1407812" y="640554"/>
                  </a:lnTo>
                  <a:lnTo>
                    <a:pt x="703906" y="985468"/>
                  </a:lnTo>
                  <a:lnTo>
                    <a:pt x="0" y="640554"/>
                  </a:lnTo>
                  <a:lnTo>
                    <a:pt x="0" y="0"/>
                  </a:lnTo>
                  <a:lnTo>
                    <a:pt x="703906" y="344914"/>
                  </a:lnTo>
                  <a:lnTo>
                    <a:pt x="1407812" y="0"/>
                  </a:lnTo>
                  <a:close/>
                </a:path>
              </a:pathLst>
            </a:cu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415" tIns="511149" rIns="18415" bIns="511149" numCol="1" spcCol="1270" anchor="ctr" anchorCtr="0">
              <a:noAutofit/>
            </a:bodyPr>
            <a:lstStyle/>
            <a:p>
              <a:pPr lvl="0" algn="ctr" defTabSz="1289050">
                <a:lnSpc>
                  <a:spcPct val="90000"/>
                </a:lnSpc>
                <a:spcBef>
                  <a:spcPct val="0"/>
                </a:spcBef>
                <a:spcAft>
                  <a:spcPct val="35000"/>
                </a:spcAft>
              </a:pPr>
              <a:endParaRPr lang="en-AU" sz="2900" kern="1200"/>
            </a:p>
          </p:txBody>
        </p:sp>
        <p:sp>
          <p:nvSpPr>
            <p:cNvPr id="21" name="Freeform 20"/>
            <p:cNvSpPr/>
            <p:nvPr/>
          </p:nvSpPr>
          <p:spPr>
            <a:xfrm>
              <a:off x="1741044" y="3387398"/>
              <a:ext cx="4234604" cy="915079"/>
            </a:xfrm>
            <a:custGeom>
              <a:avLst/>
              <a:gdLst>
                <a:gd name="connsiteX0" fmla="*/ 152516 w 915078"/>
                <a:gd name="connsiteY0" fmla="*/ 0 h 4234603"/>
                <a:gd name="connsiteX1" fmla="*/ 762562 w 915078"/>
                <a:gd name="connsiteY1" fmla="*/ 0 h 4234603"/>
                <a:gd name="connsiteX2" fmla="*/ 915078 w 915078"/>
                <a:gd name="connsiteY2" fmla="*/ 152516 h 4234603"/>
                <a:gd name="connsiteX3" fmla="*/ 915078 w 915078"/>
                <a:gd name="connsiteY3" fmla="*/ 4234603 h 4234603"/>
                <a:gd name="connsiteX4" fmla="*/ 915078 w 915078"/>
                <a:gd name="connsiteY4" fmla="*/ 4234603 h 4234603"/>
                <a:gd name="connsiteX5" fmla="*/ 0 w 915078"/>
                <a:gd name="connsiteY5" fmla="*/ 4234603 h 4234603"/>
                <a:gd name="connsiteX6" fmla="*/ 0 w 915078"/>
                <a:gd name="connsiteY6" fmla="*/ 4234603 h 4234603"/>
                <a:gd name="connsiteX7" fmla="*/ 0 w 915078"/>
                <a:gd name="connsiteY7" fmla="*/ 152516 h 4234603"/>
                <a:gd name="connsiteX8" fmla="*/ 152516 w 915078"/>
                <a:gd name="connsiteY8" fmla="*/ 0 h 423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078" h="4234603">
                  <a:moveTo>
                    <a:pt x="915078" y="705783"/>
                  </a:moveTo>
                  <a:lnTo>
                    <a:pt x="915078" y="3528820"/>
                  </a:lnTo>
                  <a:cubicBezTo>
                    <a:pt x="915078" y="3918611"/>
                    <a:pt x="900322" y="4234601"/>
                    <a:pt x="882120" y="4234601"/>
                  </a:cubicBezTo>
                  <a:lnTo>
                    <a:pt x="0" y="4234601"/>
                  </a:lnTo>
                  <a:lnTo>
                    <a:pt x="0" y="4234601"/>
                  </a:lnTo>
                  <a:lnTo>
                    <a:pt x="0" y="2"/>
                  </a:lnTo>
                  <a:lnTo>
                    <a:pt x="0" y="2"/>
                  </a:lnTo>
                  <a:lnTo>
                    <a:pt x="882120" y="2"/>
                  </a:lnTo>
                  <a:cubicBezTo>
                    <a:pt x="900322" y="2"/>
                    <a:pt x="915078" y="315992"/>
                    <a:pt x="915078" y="705783"/>
                  </a:cubicBez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156465" tIns="58640" rIns="58640" bIns="58641"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latin typeface="Helvetica" pitchFamily="34" charset="0"/>
                </a:rPr>
                <a:t>Synonymous with the ‘aboriginal’ people of a country</a:t>
              </a:r>
              <a:endParaRPr lang="en-AU" sz="2200" kern="12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752528"/>
          </a:xfrm>
        </p:spPr>
        <p:txBody>
          <a:bodyPr>
            <a:noAutofit/>
          </a:bodyPr>
          <a:lstStyle/>
          <a:p>
            <a:pPr marL="0" indent="0">
              <a:spcBef>
                <a:spcPts val="600"/>
              </a:spcBef>
              <a:spcAft>
                <a:spcPts val="1200"/>
              </a:spcAft>
              <a:buNone/>
            </a:pPr>
            <a:r>
              <a:rPr lang="en-US" sz="2200" dirty="0" smtClean="0">
                <a:latin typeface="Helvetica" pitchFamily="34" charset="0"/>
              </a:rPr>
              <a:t>‘Culture’ in the context of this unit can be seen as:</a:t>
            </a:r>
          </a:p>
          <a:p>
            <a:pPr marL="360000" indent="-360000">
              <a:spcBef>
                <a:spcPts val="600"/>
              </a:spcBef>
              <a:spcAft>
                <a:spcPts val="1200"/>
              </a:spcAft>
            </a:pPr>
            <a:r>
              <a:rPr lang="en-US" sz="2200" dirty="0" smtClean="0">
                <a:latin typeface="Helvetica" pitchFamily="34" charset="0"/>
              </a:rPr>
              <a:t>Socially constructed and learned ways of behaving and believing that identify social groups in an indigenous community</a:t>
            </a:r>
          </a:p>
          <a:p>
            <a:pPr marL="360000" indent="-360000">
              <a:spcBef>
                <a:spcPts val="600"/>
              </a:spcBef>
              <a:spcAft>
                <a:spcPts val="1200"/>
              </a:spcAft>
            </a:pPr>
            <a:r>
              <a:rPr lang="en-US" sz="2200" dirty="0" smtClean="0">
                <a:latin typeface="Helvetica" pitchFamily="34" charset="0"/>
              </a:rPr>
              <a:t>The beliefs, values, knowledge, assumptions, ideas and experiences forming the basis of lived life</a:t>
            </a:r>
          </a:p>
          <a:p>
            <a:pPr marL="360000" indent="-360000">
              <a:spcBef>
                <a:spcPts val="600"/>
              </a:spcBef>
              <a:spcAft>
                <a:spcPts val="1200"/>
              </a:spcAft>
            </a:pPr>
            <a:r>
              <a:rPr lang="en-US" sz="2200" dirty="0" smtClean="0">
                <a:latin typeface="Helvetica" pitchFamily="34" charset="0"/>
              </a:rPr>
              <a:t>The </a:t>
            </a:r>
            <a:r>
              <a:rPr lang="en-AU" sz="2200" dirty="0" smtClean="0">
                <a:latin typeface="Helvetica" pitchFamily="34" charset="0"/>
              </a:rPr>
              <a:t>customs, rituals, symbology, myth and legend of the people</a:t>
            </a:r>
          </a:p>
          <a:p>
            <a:pPr marL="360000" indent="-360000">
              <a:spcBef>
                <a:spcPts val="600"/>
              </a:spcBef>
              <a:spcAft>
                <a:spcPts val="1200"/>
              </a:spcAft>
            </a:pPr>
            <a:r>
              <a:rPr lang="en-AU" sz="2200" dirty="0" smtClean="0">
                <a:latin typeface="Helvetica" pitchFamily="34" charset="0"/>
              </a:rPr>
              <a:t>Transmitted generation-to-generation through oral and written language, art and institutionalisation of key aspects of the community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AU" sz="2200" dirty="0" smtClean="0">
                <a:latin typeface="Helvetica" pitchFamily="34" charset="0"/>
              </a:rPr>
              <a:t>‘Indigenous culture’ = the totality of characteristics which exist within a nominated country/community and differentiate one country or community from others: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Different countries have different cultures</a:t>
            </a:r>
          </a:p>
          <a:p>
            <a:pPr marL="360000" indent="-360000">
              <a:spcBef>
                <a:spcPts val="600"/>
              </a:spcBef>
              <a:spcAft>
                <a:spcPts val="1200"/>
              </a:spcAft>
            </a:pPr>
            <a:r>
              <a:rPr lang="en-US" sz="2200" dirty="0" smtClean="0">
                <a:latin typeface="Helvetica" pitchFamily="34" charset="0"/>
              </a:rPr>
              <a:t>There can be differences in groups in the same country</a:t>
            </a:r>
          </a:p>
          <a:p>
            <a:pPr marL="360000" indent="-360000">
              <a:spcBef>
                <a:spcPts val="600"/>
              </a:spcBef>
              <a:spcAft>
                <a:spcPts val="1200"/>
              </a:spcAft>
            </a:pPr>
            <a:r>
              <a:rPr lang="en-US" sz="2200" dirty="0" smtClean="0">
                <a:latin typeface="Helvetica" pitchFamily="34" charset="0"/>
              </a:rPr>
              <a:t>They evolve over time</a:t>
            </a:r>
          </a:p>
          <a:p>
            <a:pPr marL="360000" indent="-360000">
              <a:spcBef>
                <a:spcPts val="600"/>
              </a:spcBef>
              <a:spcAft>
                <a:spcPts val="1200"/>
              </a:spcAft>
            </a:pPr>
            <a:r>
              <a:rPr lang="en-US" sz="2200" dirty="0" smtClean="0">
                <a:latin typeface="Helvetica" pitchFamily="34" charset="0"/>
              </a:rPr>
              <a:t>Countries are proud of and protect their culture</a:t>
            </a:r>
          </a:p>
          <a:p>
            <a:pPr marL="360000" indent="-360000">
              <a:spcBef>
                <a:spcPts val="600"/>
              </a:spcBef>
              <a:spcAft>
                <a:spcPts val="1200"/>
              </a:spcAft>
            </a:pPr>
            <a:r>
              <a:rPr lang="en-US" sz="2200" dirty="0" smtClean="0">
                <a:latin typeface="Helvetica" pitchFamily="34" charset="0"/>
              </a:rPr>
              <a:t>Tour Operations seek to commercialise these cultures but also research and respect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indent="0">
              <a:spcBef>
                <a:spcPts val="600"/>
              </a:spcBef>
              <a:spcAft>
                <a:spcPts val="1200"/>
              </a:spcAft>
              <a:buNone/>
            </a:pPr>
            <a:r>
              <a:rPr lang="en-US" sz="2200" dirty="0" smtClean="0">
                <a:latin typeface="Helvetica" pitchFamily="34" charset="0"/>
              </a:rPr>
              <a:t>‘Local indigenous communities’ include any communities in the vicinity of a 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grpSp>
        <p:nvGrpSpPr>
          <p:cNvPr id="6" name="Group 5"/>
          <p:cNvGrpSpPr/>
          <p:nvPr/>
        </p:nvGrpSpPr>
        <p:grpSpPr>
          <a:xfrm>
            <a:off x="1835696" y="2204864"/>
            <a:ext cx="4060467" cy="4060467"/>
            <a:chOff x="1389638" y="2566670"/>
            <a:chExt cx="4060467" cy="4060467"/>
          </a:xfrm>
        </p:grpSpPr>
        <p:sp>
          <p:nvSpPr>
            <p:cNvPr id="7" name="Block Arc 6"/>
            <p:cNvSpPr/>
            <p:nvPr/>
          </p:nvSpPr>
          <p:spPr>
            <a:xfrm>
              <a:off x="1856808" y="3033840"/>
              <a:ext cx="3126126" cy="3126126"/>
            </a:xfrm>
            <a:prstGeom prst="blockArc">
              <a:avLst>
                <a:gd name="adj1" fmla="val 10800000"/>
                <a:gd name="adj2" fmla="val 16200000"/>
                <a:gd name="adj3" fmla="val 4638"/>
              </a:avLst>
            </a:prstGeom>
          </p:spPr>
          <p:style>
            <a:lnRef idx="0">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sp>
        <p:sp>
          <p:nvSpPr>
            <p:cNvPr id="8" name="Block Arc 7"/>
            <p:cNvSpPr/>
            <p:nvPr/>
          </p:nvSpPr>
          <p:spPr>
            <a:xfrm>
              <a:off x="1856808" y="3033840"/>
              <a:ext cx="3126126" cy="3126126"/>
            </a:xfrm>
            <a:prstGeom prst="blockArc">
              <a:avLst>
                <a:gd name="adj1" fmla="val 5400000"/>
                <a:gd name="adj2" fmla="val 10800000"/>
                <a:gd name="adj3" fmla="val 4638"/>
              </a:avLst>
            </a:prstGeom>
          </p:spPr>
          <p:style>
            <a:lnRef idx="0">
              <a:schemeClr val="lt1">
                <a:hueOff val="0"/>
                <a:satOff val="0"/>
                <a:lumOff val="0"/>
                <a:alphaOff val="0"/>
              </a:schemeClr>
            </a:lnRef>
            <a:fillRef idx="1">
              <a:schemeClr val="accent4">
                <a:hueOff val="1237882"/>
                <a:satOff val="-37607"/>
                <a:lumOff val="12419"/>
                <a:alphaOff val="0"/>
              </a:schemeClr>
            </a:fillRef>
            <a:effectRef idx="0">
              <a:schemeClr val="accent4">
                <a:hueOff val="1237882"/>
                <a:satOff val="-37607"/>
                <a:lumOff val="12419"/>
                <a:alphaOff val="0"/>
              </a:schemeClr>
            </a:effectRef>
            <a:fontRef idx="minor">
              <a:schemeClr val="lt1"/>
            </a:fontRef>
          </p:style>
        </p:sp>
        <p:sp>
          <p:nvSpPr>
            <p:cNvPr id="9" name="Block Arc 8"/>
            <p:cNvSpPr/>
            <p:nvPr/>
          </p:nvSpPr>
          <p:spPr>
            <a:xfrm>
              <a:off x="1856808" y="3033840"/>
              <a:ext cx="3126126" cy="3126126"/>
            </a:xfrm>
            <a:prstGeom prst="blockArc">
              <a:avLst>
                <a:gd name="adj1" fmla="val 0"/>
                <a:gd name="adj2" fmla="val 5400000"/>
                <a:gd name="adj3" fmla="val 4638"/>
              </a:avLst>
            </a:prstGeom>
          </p:spPr>
          <p:style>
            <a:lnRef idx="0">
              <a:schemeClr val="lt1">
                <a:hueOff val="0"/>
                <a:satOff val="0"/>
                <a:lumOff val="0"/>
                <a:alphaOff val="0"/>
              </a:schemeClr>
            </a:lnRef>
            <a:fillRef idx="1">
              <a:schemeClr val="accent4">
                <a:hueOff val="618941"/>
                <a:satOff val="-18803"/>
                <a:lumOff val="6209"/>
                <a:alphaOff val="0"/>
              </a:schemeClr>
            </a:fillRef>
            <a:effectRef idx="0">
              <a:schemeClr val="accent4">
                <a:hueOff val="618941"/>
                <a:satOff val="-18803"/>
                <a:lumOff val="6209"/>
                <a:alphaOff val="0"/>
              </a:schemeClr>
            </a:effectRef>
            <a:fontRef idx="minor">
              <a:schemeClr val="lt1"/>
            </a:fontRef>
          </p:style>
        </p:sp>
        <p:sp>
          <p:nvSpPr>
            <p:cNvPr id="10" name="Block Arc 9"/>
            <p:cNvSpPr/>
            <p:nvPr/>
          </p:nvSpPr>
          <p:spPr>
            <a:xfrm>
              <a:off x="1856808" y="3033840"/>
              <a:ext cx="3126126" cy="3126126"/>
            </a:xfrm>
            <a:prstGeom prst="blockArc">
              <a:avLst>
                <a:gd name="adj1" fmla="val 16200000"/>
                <a:gd name="adj2" fmla="val 0"/>
                <a:gd name="adj3" fmla="val 4638"/>
              </a:avLst>
            </a:pr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1" name="Freeform 10"/>
            <p:cNvSpPr/>
            <p:nvPr/>
          </p:nvSpPr>
          <p:spPr>
            <a:xfrm>
              <a:off x="2700706" y="3877738"/>
              <a:ext cx="1438331" cy="1438331"/>
            </a:xfrm>
            <a:custGeom>
              <a:avLst/>
              <a:gdLst>
                <a:gd name="connsiteX0" fmla="*/ 0 w 1438331"/>
                <a:gd name="connsiteY0" fmla="*/ 719166 h 1438331"/>
                <a:gd name="connsiteX1" fmla="*/ 719166 w 1438331"/>
                <a:gd name="connsiteY1" fmla="*/ 0 h 1438331"/>
                <a:gd name="connsiteX2" fmla="*/ 1438332 w 1438331"/>
                <a:gd name="connsiteY2" fmla="*/ 719166 h 1438331"/>
                <a:gd name="connsiteX3" fmla="*/ 719166 w 1438331"/>
                <a:gd name="connsiteY3" fmla="*/ 1438332 h 1438331"/>
                <a:gd name="connsiteX4" fmla="*/ 0 w 1438331"/>
                <a:gd name="connsiteY4" fmla="*/ 719166 h 1438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331" h="1438331">
                  <a:moveTo>
                    <a:pt x="0" y="719166"/>
                  </a:moveTo>
                  <a:cubicBezTo>
                    <a:pt x="0" y="321982"/>
                    <a:pt x="321982" y="0"/>
                    <a:pt x="719166" y="0"/>
                  </a:cubicBezTo>
                  <a:cubicBezTo>
                    <a:pt x="1116350" y="0"/>
                    <a:pt x="1438332" y="321982"/>
                    <a:pt x="1438332" y="719166"/>
                  </a:cubicBezTo>
                  <a:cubicBezTo>
                    <a:pt x="1438332" y="1116350"/>
                    <a:pt x="1116350" y="1438332"/>
                    <a:pt x="719166" y="1438332"/>
                  </a:cubicBezTo>
                  <a:cubicBezTo>
                    <a:pt x="321982" y="1438332"/>
                    <a:pt x="0" y="1116350"/>
                    <a:pt x="0" y="719166"/>
                  </a:cubicBez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24609" tIns="224609" rIns="224609" bIns="224609" numCol="1" spcCol="1270" anchor="ctr" anchorCtr="0">
              <a:noAutofit/>
            </a:bodyPr>
            <a:lstStyle/>
            <a:p>
              <a:pPr lvl="0" algn="ctr" defTabSz="488950">
                <a:lnSpc>
                  <a:spcPct val="90000"/>
                </a:lnSpc>
                <a:spcBef>
                  <a:spcPct val="0"/>
                </a:spcBef>
                <a:spcAft>
                  <a:spcPct val="35000"/>
                </a:spcAft>
              </a:pPr>
              <a:r>
                <a:rPr lang="en-US" sz="1100" kern="1200" dirty="0" smtClean="0">
                  <a:latin typeface="Helvetica" pitchFamily="34" charset="0"/>
                </a:rPr>
                <a:t>They may be:</a:t>
              </a:r>
              <a:endParaRPr lang="en-AU" sz="1100" kern="1200" dirty="0"/>
            </a:p>
          </p:txBody>
        </p:sp>
        <p:sp>
          <p:nvSpPr>
            <p:cNvPr id="12" name="Freeform 11"/>
            <p:cNvSpPr/>
            <p:nvPr/>
          </p:nvSpPr>
          <p:spPr>
            <a:xfrm>
              <a:off x="2916455" y="2566670"/>
              <a:ext cx="1006832" cy="1006832"/>
            </a:xfrm>
            <a:custGeom>
              <a:avLst/>
              <a:gdLst>
                <a:gd name="connsiteX0" fmla="*/ 0 w 1006832"/>
                <a:gd name="connsiteY0" fmla="*/ 503416 h 1006832"/>
                <a:gd name="connsiteX1" fmla="*/ 503416 w 1006832"/>
                <a:gd name="connsiteY1" fmla="*/ 0 h 1006832"/>
                <a:gd name="connsiteX2" fmla="*/ 1006832 w 1006832"/>
                <a:gd name="connsiteY2" fmla="*/ 503416 h 1006832"/>
                <a:gd name="connsiteX3" fmla="*/ 503416 w 1006832"/>
                <a:gd name="connsiteY3" fmla="*/ 1006832 h 1006832"/>
                <a:gd name="connsiteX4" fmla="*/ 0 w 1006832"/>
                <a:gd name="connsiteY4" fmla="*/ 503416 h 1006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32" h="1006832">
                  <a:moveTo>
                    <a:pt x="0" y="503416"/>
                  </a:moveTo>
                  <a:cubicBezTo>
                    <a:pt x="0" y="225387"/>
                    <a:pt x="225387" y="0"/>
                    <a:pt x="503416" y="0"/>
                  </a:cubicBezTo>
                  <a:cubicBezTo>
                    <a:pt x="781445" y="0"/>
                    <a:pt x="1006832" y="225387"/>
                    <a:pt x="1006832" y="503416"/>
                  </a:cubicBezTo>
                  <a:cubicBezTo>
                    <a:pt x="1006832" y="781445"/>
                    <a:pt x="781445" y="1006832"/>
                    <a:pt x="503416" y="1006832"/>
                  </a:cubicBezTo>
                  <a:cubicBezTo>
                    <a:pt x="225387" y="1006832"/>
                    <a:pt x="0" y="781445"/>
                    <a:pt x="0" y="503416"/>
                  </a:cubicBez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61417" tIns="161417" rIns="161417" bIns="161417" numCol="1" spcCol="1270" anchor="ctr" anchorCtr="0">
              <a:noAutofit/>
            </a:bodyPr>
            <a:lstStyle/>
            <a:p>
              <a:pPr lvl="0" algn="ctr" defTabSz="488950">
                <a:lnSpc>
                  <a:spcPct val="90000"/>
                </a:lnSpc>
                <a:spcBef>
                  <a:spcPct val="0"/>
                </a:spcBef>
                <a:spcAft>
                  <a:spcPct val="35000"/>
                </a:spcAft>
              </a:pPr>
              <a:r>
                <a:rPr lang="en-US" sz="1100" kern="1200" dirty="0" smtClean="0">
                  <a:latin typeface="Helvetica" pitchFamily="34" charset="0"/>
                </a:rPr>
                <a:t>Domestic or foreign</a:t>
              </a:r>
              <a:endParaRPr lang="en-AU" sz="1100" kern="1200" dirty="0"/>
            </a:p>
          </p:txBody>
        </p:sp>
        <p:sp>
          <p:nvSpPr>
            <p:cNvPr id="13" name="Freeform 12"/>
            <p:cNvSpPr/>
            <p:nvPr/>
          </p:nvSpPr>
          <p:spPr>
            <a:xfrm>
              <a:off x="4443273" y="4093487"/>
              <a:ext cx="1006832" cy="1006832"/>
            </a:xfrm>
            <a:custGeom>
              <a:avLst/>
              <a:gdLst>
                <a:gd name="connsiteX0" fmla="*/ 0 w 1006832"/>
                <a:gd name="connsiteY0" fmla="*/ 503416 h 1006832"/>
                <a:gd name="connsiteX1" fmla="*/ 503416 w 1006832"/>
                <a:gd name="connsiteY1" fmla="*/ 0 h 1006832"/>
                <a:gd name="connsiteX2" fmla="*/ 1006832 w 1006832"/>
                <a:gd name="connsiteY2" fmla="*/ 503416 h 1006832"/>
                <a:gd name="connsiteX3" fmla="*/ 503416 w 1006832"/>
                <a:gd name="connsiteY3" fmla="*/ 1006832 h 1006832"/>
                <a:gd name="connsiteX4" fmla="*/ 0 w 1006832"/>
                <a:gd name="connsiteY4" fmla="*/ 503416 h 1006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32" h="1006832">
                  <a:moveTo>
                    <a:pt x="0" y="503416"/>
                  </a:moveTo>
                  <a:cubicBezTo>
                    <a:pt x="0" y="225387"/>
                    <a:pt x="225387" y="0"/>
                    <a:pt x="503416" y="0"/>
                  </a:cubicBezTo>
                  <a:cubicBezTo>
                    <a:pt x="781445" y="0"/>
                    <a:pt x="1006832" y="225387"/>
                    <a:pt x="1006832" y="503416"/>
                  </a:cubicBezTo>
                  <a:cubicBezTo>
                    <a:pt x="1006832" y="781445"/>
                    <a:pt x="781445" y="1006832"/>
                    <a:pt x="503416" y="1006832"/>
                  </a:cubicBezTo>
                  <a:cubicBezTo>
                    <a:pt x="225387" y="1006832"/>
                    <a:pt x="0" y="781445"/>
                    <a:pt x="0" y="503416"/>
                  </a:cubicBezTo>
                  <a:close/>
                </a:path>
              </a:pathLst>
            </a:custGeom>
          </p:spPr>
          <p:style>
            <a:lnRef idx="2">
              <a:schemeClr val="lt1">
                <a:hueOff val="0"/>
                <a:satOff val="0"/>
                <a:lumOff val="0"/>
                <a:alphaOff val="0"/>
              </a:schemeClr>
            </a:lnRef>
            <a:fillRef idx="1">
              <a:schemeClr val="accent4">
                <a:hueOff val="618941"/>
                <a:satOff val="-18803"/>
                <a:lumOff val="6209"/>
                <a:alphaOff val="0"/>
              </a:schemeClr>
            </a:fillRef>
            <a:effectRef idx="0">
              <a:schemeClr val="accent4">
                <a:hueOff val="618941"/>
                <a:satOff val="-18803"/>
                <a:lumOff val="6209"/>
                <a:alphaOff val="0"/>
              </a:schemeClr>
            </a:effectRef>
            <a:fontRef idx="minor">
              <a:schemeClr val="lt1"/>
            </a:fontRef>
          </p:style>
          <p:txBody>
            <a:bodyPr spcFirstLastPara="0" vert="horz" wrap="square" lIns="161417" tIns="161417" rIns="161417" bIns="161417" numCol="1" spcCol="1270" anchor="ctr" anchorCtr="0">
              <a:noAutofit/>
            </a:bodyPr>
            <a:lstStyle/>
            <a:p>
              <a:pPr lvl="0" algn="ctr" defTabSz="488950">
                <a:lnSpc>
                  <a:spcPct val="90000"/>
                </a:lnSpc>
                <a:spcBef>
                  <a:spcPct val="0"/>
                </a:spcBef>
                <a:spcAft>
                  <a:spcPct val="35000"/>
                </a:spcAft>
              </a:pPr>
              <a:r>
                <a:rPr lang="en-US" sz="1100" kern="1200" dirty="0" smtClean="0">
                  <a:latin typeface="Helvetica" pitchFamily="34" charset="0"/>
                </a:rPr>
                <a:t>Big or small</a:t>
              </a:r>
              <a:endParaRPr lang="en-AU" sz="1100" kern="1200" dirty="0"/>
            </a:p>
          </p:txBody>
        </p:sp>
        <p:sp>
          <p:nvSpPr>
            <p:cNvPr id="14" name="Freeform 13"/>
            <p:cNvSpPr/>
            <p:nvPr/>
          </p:nvSpPr>
          <p:spPr>
            <a:xfrm>
              <a:off x="2916455" y="5620305"/>
              <a:ext cx="1006832" cy="1006832"/>
            </a:xfrm>
            <a:custGeom>
              <a:avLst/>
              <a:gdLst>
                <a:gd name="connsiteX0" fmla="*/ 0 w 1006832"/>
                <a:gd name="connsiteY0" fmla="*/ 503416 h 1006832"/>
                <a:gd name="connsiteX1" fmla="*/ 503416 w 1006832"/>
                <a:gd name="connsiteY1" fmla="*/ 0 h 1006832"/>
                <a:gd name="connsiteX2" fmla="*/ 1006832 w 1006832"/>
                <a:gd name="connsiteY2" fmla="*/ 503416 h 1006832"/>
                <a:gd name="connsiteX3" fmla="*/ 503416 w 1006832"/>
                <a:gd name="connsiteY3" fmla="*/ 1006832 h 1006832"/>
                <a:gd name="connsiteX4" fmla="*/ 0 w 1006832"/>
                <a:gd name="connsiteY4" fmla="*/ 503416 h 1006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32" h="1006832">
                  <a:moveTo>
                    <a:pt x="0" y="503416"/>
                  </a:moveTo>
                  <a:cubicBezTo>
                    <a:pt x="0" y="225387"/>
                    <a:pt x="225387" y="0"/>
                    <a:pt x="503416" y="0"/>
                  </a:cubicBezTo>
                  <a:cubicBezTo>
                    <a:pt x="781445" y="0"/>
                    <a:pt x="1006832" y="225387"/>
                    <a:pt x="1006832" y="503416"/>
                  </a:cubicBezTo>
                  <a:cubicBezTo>
                    <a:pt x="1006832" y="781445"/>
                    <a:pt x="781445" y="1006832"/>
                    <a:pt x="503416" y="1006832"/>
                  </a:cubicBezTo>
                  <a:cubicBezTo>
                    <a:pt x="225387" y="1006832"/>
                    <a:pt x="0" y="781445"/>
                    <a:pt x="0" y="503416"/>
                  </a:cubicBezTo>
                  <a:close/>
                </a:path>
              </a:pathLst>
            </a:custGeom>
          </p:spPr>
          <p:style>
            <a:lnRef idx="2">
              <a:schemeClr val="lt1">
                <a:hueOff val="0"/>
                <a:satOff val="0"/>
                <a:lumOff val="0"/>
                <a:alphaOff val="0"/>
              </a:schemeClr>
            </a:lnRef>
            <a:fillRef idx="1">
              <a:schemeClr val="accent4">
                <a:hueOff val="1237882"/>
                <a:satOff val="-37607"/>
                <a:lumOff val="12419"/>
                <a:alphaOff val="0"/>
              </a:schemeClr>
            </a:fillRef>
            <a:effectRef idx="0">
              <a:schemeClr val="accent4">
                <a:hueOff val="1237882"/>
                <a:satOff val="-37607"/>
                <a:lumOff val="12419"/>
                <a:alphaOff val="0"/>
              </a:schemeClr>
            </a:effectRef>
            <a:fontRef idx="minor">
              <a:schemeClr val="lt1"/>
            </a:fontRef>
          </p:style>
          <p:txBody>
            <a:bodyPr spcFirstLastPara="0" vert="horz" wrap="square" lIns="161417" tIns="161417" rIns="161417" bIns="161417" numCol="1" spcCol="1270" anchor="ctr" anchorCtr="0">
              <a:noAutofit/>
            </a:bodyPr>
            <a:lstStyle/>
            <a:p>
              <a:pPr lvl="0" algn="ctr" defTabSz="488950">
                <a:lnSpc>
                  <a:spcPct val="90000"/>
                </a:lnSpc>
                <a:spcBef>
                  <a:spcPct val="0"/>
                </a:spcBef>
                <a:spcAft>
                  <a:spcPct val="35000"/>
                </a:spcAft>
              </a:pPr>
              <a:r>
                <a:rPr lang="en-US" sz="1100" kern="1200" dirty="0" smtClean="0">
                  <a:latin typeface="Helvetica" pitchFamily="34" charset="0"/>
                </a:rPr>
                <a:t>Nearby or remote</a:t>
              </a:r>
              <a:endParaRPr lang="en-AU" sz="1100" kern="1200" dirty="0"/>
            </a:p>
          </p:txBody>
        </p:sp>
        <p:sp>
          <p:nvSpPr>
            <p:cNvPr id="15" name="Freeform 14"/>
            <p:cNvSpPr/>
            <p:nvPr/>
          </p:nvSpPr>
          <p:spPr>
            <a:xfrm>
              <a:off x="1389638" y="4093487"/>
              <a:ext cx="1006832" cy="1006832"/>
            </a:xfrm>
            <a:custGeom>
              <a:avLst/>
              <a:gdLst>
                <a:gd name="connsiteX0" fmla="*/ 0 w 1006832"/>
                <a:gd name="connsiteY0" fmla="*/ 503416 h 1006832"/>
                <a:gd name="connsiteX1" fmla="*/ 503416 w 1006832"/>
                <a:gd name="connsiteY1" fmla="*/ 0 h 1006832"/>
                <a:gd name="connsiteX2" fmla="*/ 1006832 w 1006832"/>
                <a:gd name="connsiteY2" fmla="*/ 503416 h 1006832"/>
                <a:gd name="connsiteX3" fmla="*/ 503416 w 1006832"/>
                <a:gd name="connsiteY3" fmla="*/ 1006832 h 1006832"/>
                <a:gd name="connsiteX4" fmla="*/ 0 w 1006832"/>
                <a:gd name="connsiteY4" fmla="*/ 503416 h 1006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32" h="1006832">
                  <a:moveTo>
                    <a:pt x="0" y="503416"/>
                  </a:moveTo>
                  <a:cubicBezTo>
                    <a:pt x="0" y="225387"/>
                    <a:pt x="225387" y="0"/>
                    <a:pt x="503416" y="0"/>
                  </a:cubicBezTo>
                  <a:cubicBezTo>
                    <a:pt x="781445" y="0"/>
                    <a:pt x="1006832" y="225387"/>
                    <a:pt x="1006832" y="503416"/>
                  </a:cubicBezTo>
                  <a:cubicBezTo>
                    <a:pt x="1006832" y="781445"/>
                    <a:pt x="781445" y="1006832"/>
                    <a:pt x="503416" y="1006832"/>
                  </a:cubicBezTo>
                  <a:cubicBezTo>
                    <a:pt x="225387" y="1006832"/>
                    <a:pt x="0" y="781445"/>
                    <a:pt x="0" y="503416"/>
                  </a:cubicBezTo>
                  <a:close/>
                </a:path>
              </a:pathLst>
            </a:cu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161417" tIns="161417" rIns="161417" bIns="161417" numCol="1" spcCol="1270" anchor="ctr" anchorCtr="0">
              <a:noAutofit/>
            </a:bodyPr>
            <a:lstStyle/>
            <a:p>
              <a:pPr lvl="0" algn="ctr" defTabSz="488950">
                <a:lnSpc>
                  <a:spcPct val="90000"/>
                </a:lnSpc>
                <a:spcBef>
                  <a:spcPct val="0"/>
                </a:spcBef>
                <a:spcAft>
                  <a:spcPct val="35000"/>
                </a:spcAft>
              </a:pPr>
              <a:r>
                <a:rPr lang="en-US" sz="1100" kern="1200" dirty="0" smtClean="0">
                  <a:latin typeface="Helvetica" pitchFamily="34" charset="0"/>
                </a:rPr>
                <a:t>Developed or undeveloped</a:t>
              </a:r>
              <a:endParaRPr lang="en-AU" sz="1100" kern="12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a:bodyPr>
          <a:lstStyle/>
          <a:p>
            <a:pPr marL="0" indent="0">
              <a:spcBef>
                <a:spcPts val="600"/>
              </a:spcBef>
              <a:spcAft>
                <a:spcPts val="1200"/>
              </a:spcAft>
              <a:buNone/>
            </a:pPr>
            <a:r>
              <a:rPr lang="en-US" sz="2200" dirty="0" smtClean="0">
                <a:latin typeface="Helvetica" pitchFamily="34" charset="0"/>
              </a:rPr>
              <a:t>Generic sources of research into indigenous cultures:</a:t>
            </a:r>
          </a:p>
          <a:p>
            <a:pPr marL="360000" indent="-360000">
              <a:spcBef>
                <a:spcPts val="600"/>
              </a:spcBef>
              <a:spcAft>
                <a:spcPts val="1200"/>
              </a:spcAft>
            </a:pPr>
            <a:r>
              <a:rPr lang="en-US" sz="2200" dirty="0" smtClean="0">
                <a:latin typeface="Helvetica" pitchFamily="34" charset="0"/>
              </a:rPr>
              <a:t>Printed material – books, travel guides, magazines, advertising materials</a:t>
            </a:r>
          </a:p>
          <a:p>
            <a:pPr marL="360000" indent="-360000">
              <a:spcBef>
                <a:spcPts val="600"/>
              </a:spcBef>
              <a:spcAft>
                <a:spcPts val="1200"/>
              </a:spcAft>
            </a:pPr>
            <a:r>
              <a:rPr lang="en-US" sz="2200" dirty="0" smtClean="0">
                <a:latin typeface="Helvetica" pitchFamily="34" charset="0"/>
              </a:rPr>
              <a:t>General media – TV, radio, newspapers</a:t>
            </a:r>
          </a:p>
          <a:p>
            <a:pPr marL="360000" indent="-360000">
              <a:spcBef>
                <a:spcPts val="600"/>
              </a:spcBef>
              <a:spcAft>
                <a:spcPts val="1200"/>
              </a:spcAft>
            </a:pPr>
            <a:r>
              <a:rPr lang="en-US" sz="2200" dirty="0" smtClean="0">
                <a:latin typeface="Helvetica" pitchFamily="34" charset="0"/>
              </a:rPr>
              <a:t>People from identified communities/cultures – indigenous people, elders, key individuals, designated representatives, community leaders, families, story-tellers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sources of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a:bodyPr>
          <a:lstStyle/>
          <a:p>
            <a:pPr marL="360000" indent="-360000">
              <a:spcBef>
                <a:spcPts val="600"/>
              </a:spcBef>
              <a:spcAft>
                <a:spcPts val="1200"/>
              </a:spcAft>
            </a:pPr>
            <a:r>
              <a:rPr lang="en-AU" sz="2200" dirty="0" smtClean="0">
                <a:latin typeface="Helvetica" pitchFamily="34" charset="0"/>
              </a:rPr>
              <a:t>Industry personnel – Tour Guides, representatives from peak industry bodies, officers from government agencies, staff from Visitor Information Centres</a:t>
            </a:r>
          </a:p>
          <a:p>
            <a:pPr marL="360000" indent="-360000">
              <a:spcBef>
                <a:spcPts val="600"/>
              </a:spcBef>
              <a:spcAft>
                <a:spcPts val="1200"/>
              </a:spcAft>
            </a:pPr>
            <a:r>
              <a:rPr lang="en-AU" sz="2200" dirty="0" smtClean="0">
                <a:latin typeface="Helvetica" pitchFamily="34" charset="0"/>
              </a:rPr>
              <a:t>Support businesses and service providers</a:t>
            </a:r>
          </a:p>
          <a:p>
            <a:pPr marL="360000" indent="-360000">
              <a:spcBef>
                <a:spcPts val="600"/>
              </a:spcBef>
              <a:spcAft>
                <a:spcPts val="1200"/>
              </a:spcAft>
            </a:pPr>
            <a:r>
              <a:rPr lang="en-AU" sz="2200" dirty="0" smtClean="0">
                <a:latin typeface="Helvetica" pitchFamily="34" charset="0"/>
              </a:rPr>
              <a:t>The internet</a:t>
            </a:r>
          </a:p>
          <a:p>
            <a:pPr marL="360000" indent="-360000">
              <a:spcBef>
                <a:spcPts val="600"/>
              </a:spcBef>
              <a:spcAft>
                <a:spcPts val="1200"/>
              </a:spcAft>
            </a:pPr>
            <a:r>
              <a:rPr lang="en-AU" sz="2200" dirty="0" smtClean="0">
                <a:latin typeface="Helvetica" pitchFamily="34" charset="0"/>
              </a:rPr>
              <a:t>Formal training courses</a:t>
            </a:r>
          </a:p>
          <a:p>
            <a:pPr marL="360000" indent="-360000">
              <a:spcBef>
                <a:spcPts val="600"/>
              </a:spcBef>
              <a:spcAft>
                <a:spcPts val="1200"/>
              </a:spcAft>
            </a:pPr>
            <a:r>
              <a:rPr lang="en-AU" sz="2200" dirty="0" smtClean="0">
                <a:latin typeface="Helvetica" pitchFamily="34" charset="0"/>
              </a:rPr>
              <a:t>Institutions – museums, galleries, </a:t>
            </a:r>
            <a:br>
              <a:rPr lang="en-AU" sz="2200" dirty="0" smtClean="0">
                <a:latin typeface="Helvetica" pitchFamily="34" charset="0"/>
              </a:rPr>
            </a:br>
            <a:r>
              <a:rPr lang="en-AU" sz="2200" dirty="0" smtClean="0">
                <a:latin typeface="Helvetica" pitchFamily="34" charset="0"/>
              </a:rPr>
              <a:t>cultural centres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8776" y="3933056"/>
            <a:ext cx="1851303" cy="16032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indent="0">
              <a:spcBef>
                <a:spcPts val="600"/>
              </a:spcBef>
              <a:spcAft>
                <a:spcPts val="1200"/>
              </a:spcAft>
              <a:buNone/>
            </a:pPr>
            <a:r>
              <a:rPr lang="en-US" sz="2200" dirty="0" smtClean="0">
                <a:latin typeface="Helvetica" pitchFamily="34" charset="0"/>
              </a:rPr>
              <a:t>‘Researching’ can be seen as:</a:t>
            </a:r>
          </a:p>
          <a:p>
            <a:pPr marL="360000" indent="-360000">
              <a:spcBef>
                <a:spcPts val="600"/>
              </a:spcBef>
              <a:spcAft>
                <a:spcPts val="1200"/>
              </a:spcAft>
            </a:pPr>
            <a:r>
              <a:rPr lang="en-AU" sz="2200" dirty="0" smtClean="0">
                <a:latin typeface="Helvetica" pitchFamily="34" charset="0"/>
              </a:rPr>
              <a:t>Systematic and structured investigation</a:t>
            </a:r>
          </a:p>
          <a:p>
            <a:pPr marL="360000" indent="-360000">
              <a:spcBef>
                <a:spcPts val="600"/>
              </a:spcBef>
              <a:spcAft>
                <a:spcPts val="1200"/>
              </a:spcAft>
            </a:pPr>
            <a:r>
              <a:rPr lang="en-AU" sz="2200" dirty="0" smtClean="0">
                <a:latin typeface="Helvetica" pitchFamily="34" charset="0"/>
              </a:rPr>
              <a:t>Watching, reading, listening and experiencing</a:t>
            </a:r>
          </a:p>
          <a:p>
            <a:pPr marL="360000" indent="-360000">
              <a:spcBef>
                <a:spcPts val="600"/>
              </a:spcBef>
              <a:spcAft>
                <a:spcPts val="1200"/>
              </a:spcAft>
            </a:pPr>
            <a:r>
              <a:rPr lang="en-AU" sz="2200" dirty="0" smtClean="0">
                <a:latin typeface="Helvetica" pitchFamily="34" charset="0"/>
              </a:rPr>
              <a:t>Finding and capturing information</a:t>
            </a:r>
          </a:p>
          <a:p>
            <a:pPr marL="360000" indent="-360000">
              <a:spcBef>
                <a:spcPts val="600"/>
              </a:spcBef>
              <a:spcAft>
                <a:spcPts val="1200"/>
              </a:spcAft>
            </a:pPr>
            <a:r>
              <a:rPr lang="en-AU" sz="2200" dirty="0" smtClean="0">
                <a:latin typeface="Helvetica" pitchFamily="34" charset="0"/>
              </a:rPr>
              <a:t>Fact-finding</a:t>
            </a:r>
          </a:p>
          <a:p>
            <a:pPr marL="360000" indent="-360000">
              <a:spcBef>
                <a:spcPts val="600"/>
              </a:spcBef>
              <a:spcAft>
                <a:spcPts val="1200"/>
              </a:spcAft>
            </a:pPr>
            <a:r>
              <a:rPr lang="en-AU" sz="2200" dirty="0" smtClean="0">
                <a:latin typeface="Helvetica" pitchFamily="34" charset="0"/>
              </a:rPr>
              <a:t>Exploration and visitations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356991"/>
            <a:ext cx="2543944" cy="169681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marL="0" indent="0">
              <a:spcBef>
                <a:spcPts val="600"/>
              </a:spcBef>
              <a:spcAft>
                <a:spcPts val="1200"/>
              </a:spcAft>
              <a:buNone/>
            </a:pPr>
            <a:r>
              <a:rPr lang="en-US" sz="2200" dirty="0" smtClean="0">
                <a:latin typeface="Helvetica" pitchFamily="34" charset="0"/>
              </a:rPr>
              <a:t>Research can be ‘Qualitative’ and/or ‘Quantitative’.</a:t>
            </a:r>
          </a:p>
          <a:p>
            <a:pPr marL="0" indent="0">
              <a:spcBef>
                <a:spcPts val="600"/>
              </a:spcBef>
              <a:spcAft>
                <a:spcPts val="1200"/>
              </a:spcAft>
              <a:buNone/>
            </a:pPr>
            <a:r>
              <a:rPr lang="en-US" sz="2200" dirty="0" smtClean="0">
                <a:latin typeface="Helvetica" pitchFamily="34" charset="0"/>
              </a:rPr>
              <a:t>Qualitative research captures information about:</a:t>
            </a:r>
          </a:p>
          <a:p>
            <a:pPr marL="360000" indent="-360000">
              <a:spcBef>
                <a:spcPts val="600"/>
              </a:spcBef>
              <a:spcAft>
                <a:spcPts val="1200"/>
              </a:spcAft>
            </a:pPr>
            <a:r>
              <a:rPr lang="en-AU" sz="2200" dirty="0" smtClean="0">
                <a:latin typeface="Helvetica" pitchFamily="34" charset="0"/>
              </a:rPr>
              <a:t>Thoughts, feelings and impressions</a:t>
            </a:r>
          </a:p>
          <a:p>
            <a:pPr marL="360000" indent="-360000">
              <a:spcBef>
                <a:spcPts val="600"/>
              </a:spcBef>
              <a:spcAft>
                <a:spcPts val="1200"/>
              </a:spcAft>
            </a:pPr>
            <a:r>
              <a:rPr lang="en-AU" sz="2200" dirty="0" smtClean="0">
                <a:latin typeface="Helvetica" pitchFamily="34" charset="0"/>
              </a:rPr>
              <a:t>Reasons and causes</a:t>
            </a:r>
          </a:p>
          <a:p>
            <a:pPr marL="360000" indent="-360000">
              <a:spcBef>
                <a:spcPts val="600"/>
              </a:spcBef>
              <a:spcAft>
                <a:spcPts val="1200"/>
              </a:spcAft>
            </a:pPr>
            <a:r>
              <a:rPr lang="en-AU" sz="2200" dirty="0" smtClean="0">
                <a:latin typeface="Helvetica" pitchFamily="34" charset="0"/>
              </a:rPr>
              <a:t>Opinion, motivation and preferences</a:t>
            </a:r>
          </a:p>
          <a:p>
            <a:pPr marL="360000" indent="-360000">
              <a:spcBef>
                <a:spcPts val="600"/>
              </a:spcBef>
              <a:spcAft>
                <a:spcPts val="1200"/>
              </a:spcAft>
            </a:pPr>
            <a:r>
              <a:rPr lang="en-AU" sz="2200" dirty="0" smtClean="0">
                <a:latin typeface="Helvetica" pitchFamily="34" charset="0"/>
              </a:rPr>
              <a:t>Why people behave/take action the </a:t>
            </a:r>
            <a:br>
              <a:rPr lang="en-AU" sz="2200" dirty="0" smtClean="0">
                <a:latin typeface="Helvetica" pitchFamily="34" charset="0"/>
              </a:rPr>
            </a:br>
            <a:r>
              <a:rPr lang="en-AU" sz="2200" dirty="0" smtClean="0">
                <a:latin typeface="Helvetica" pitchFamily="34" charset="0"/>
              </a:rPr>
              <a:t>way they do</a:t>
            </a:r>
          </a:p>
          <a:p>
            <a:pPr marL="360000" indent="-360000">
              <a:spcBef>
                <a:spcPts val="600"/>
              </a:spcBef>
              <a:spcAft>
                <a:spcPts val="1200"/>
              </a:spcAft>
            </a:pPr>
            <a:r>
              <a:rPr lang="en-AU" sz="2200" dirty="0" smtClean="0">
                <a:latin typeface="Helvetica" pitchFamily="34" charset="0"/>
              </a:rPr>
              <a:t>Things which are not statistical in nature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3429000"/>
            <a:ext cx="2134404" cy="18505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040560"/>
          </a:xfrm>
        </p:spPr>
        <p:txBody>
          <a:bodyPr>
            <a:normAutofit/>
          </a:bodyPr>
          <a:lstStyle/>
          <a:p>
            <a:pPr marL="0" indent="0">
              <a:spcBef>
                <a:spcPts val="600"/>
              </a:spcBef>
              <a:spcAft>
                <a:spcPts val="1200"/>
              </a:spcAft>
              <a:buNone/>
            </a:pPr>
            <a:r>
              <a:rPr lang="en-AU" sz="2200" dirty="0" smtClean="0">
                <a:latin typeface="Helvetica" pitchFamily="34" charset="0"/>
              </a:rPr>
              <a:t>Quantitative research is about capturing and manipulating</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Numbers and statistics</a:t>
            </a:r>
          </a:p>
          <a:p>
            <a:pPr marL="360000" indent="-360000">
              <a:spcBef>
                <a:spcPts val="600"/>
              </a:spcBef>
              <a:spcAft>
                <a:spcPts val="1200"/>
              </a:spcAft>
            </a:pPr>
            <a:r>
              <a:rPr lang="en-AU" sz="2200" dirty="0" smtClean="0">
                <a:latin typeface="Helvetica" pitchFamily="34" charset="0"/>
              </a:rPr>
              <a:t>Percentages and ratios</a:t>
            </a:r>
          </a:p>
          <a:p>
            <a:pPr marL="360000" indent="-360000">
              <a:spcBef>
                <a:spcPts val="600"/>
              </a:spcBef>
              <a:spcAft>
                <a:spcPts val="1200"/>
              </a:spcAft>
            </a:pPr>
            <a:r>
              <a:rPr lang="en-AU" sz="2200" dirty="0" smtClean="0">
                <a:latin typeface="Helvetica" pitchFamily="34" charset="0"/>
              </a:rPr>
              <a:t>Measurable facts and data</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2420888"/>
            <a:ext cx="2543944" cy="16968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Research may also be ‘secondary’ or primary’.</a:t>
            </a:r>
          </a:p>
          <a:p>
            <a:pPr marL="0" indent="0">
              <a:spcBef>
                <a:spcPts val="600"/>
              </a:spcBef>
              <a:spcAft>
                <a:spcPts val="1200"/>
              </a:spcAft>
              <a:buNone/>
            </a:pPr>
            <a:r>
              <a:rPr lang="en-US" sz="2200" dirty="0" smtClean="0">
                <a:latin typeface="Helvetica" pitchFamily="34" charset="0"/>
              </a:rPr>
              <a:t>‘Secondary research’ = research on materials which already exist (desk-top research) and involves:</a:t>
            </a:r>
          </a:p>
          <a:p>
            <a:pPr marL="360000" indent="-360000">
              <a:spcBef>
                <a:spcPts val="600"/>
              </a:spcBef>
              <a:spcAft>
                <a:spcPts val="1200"/>
              </a:spcAft>
            </a:pPr>
            <a:r>
              <a:rPr lang="en-AU" sz="2200" dirty="0" smtClean="0">
                <a:latin typeface="Helvetica" pitchFamily="34" charset="0"/>
              </a:rPr>
              <a:t>Reading existing material and reprints</a:t>
            </a:r>
          </a:p>
          <a:p>
            <a:pPr marL="360000" indent="-360000">
              <a:spcBef>
                <a:spcPts val="600"/>
              </a:spcBef>
              <a:spcAft>
                <a:spcPts val="1200"/>
              </a:spcAft>
            </a:pPr>
            <a:r>
              <a:rPr lang="en-AU" sz="2200" dirty="0" smtClean="0">
                <a:latin typeface="Helvetica" pitchFamily="34" charset="0"/>
              </a:rPr>
              <a:t>Looking at research undertaken by other people</a:t>
            </a:r>
          </a:p>
          <a:p>
            <a:pPr marL="360000" indent="-360000">
              <a:spcBef>
                <a:spcPts val="600"/>
              </a:spcBef>
              <a:spcAft>
                <a:spcPts val="1200"/>
              </a:spcAft>
            </a:pPr>
            <a:r>
              <a:rPr lang="en-AU" sz="2200" dirty="0" smtClean="0">
                <a:latin typeface="Helvetica" pitchFamily="34" charset="0"/>
              </a:rPr>
              <a:t>Becoming aware of what is available </a:t>
            </a:r>
            <a:br>
              <a:rPr lang="en-AU" sz="2200" dirty="0" smtClean="0">
                <a:latin typeface="Helvetica" pitchFamily="34" charset="0"/>
              </a:rPr>
            </a:br>
            <a:r>
              <a:rPr lang="en-AU" sz="2200" dirty="0" smtClean="0">
                <a:latin typeface="Helvetica" pitchFamily="34" charset="0"/>
              </a:rPr>
              <a:t>without the need for further effort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293096"/>
            <a:ext cx="2184335" cy="14569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0" indent="0">
              <a:spcBef>
                <a:spcPts val="600"/>
              </a:spcBef>
              <a:spcAft>
                <a:spcPts val="1200"/>
              </a:spcAft>
              <a:buNone/>
            </a:pPr>
            <a:r>
              <a:rPr lang="en-US" sz="2200" dirty="0" smtClean="0">
                <a:latin typeface="Helvetica" pitchFamily="34" charset="0"/>
              </a:rPr>
              <a:t>Primary research is action to generate new/fresh information/data.</a:t>
            </a:r>
          </a:p>
          <a:p>
            <a:pPr marL="0" indent="0">
              <a:spcBef>
                <a:spcPts val="600"/>
              </a:spcBef>
              <a:spcAft>
                <a:spcPts val="1200"/>
              </a:spcAft>
              <a:buNone/>
            </a:pPr>
            <a:r>
              <a:rPr lang="en-US" sz="2200" dirty="0" smtClean="0">
                <a:latin typeface="Helvetica" pitchFamily="34" charset="0"/>
              </a:rPr>
              <a:t>It can involve:</a:t>
            </a:r>
          </a:p>
          <a:p>
            <a:pPr marL="360000" indent="-360000">
              <a:spcBef>
                <a:spcPts val="600"/>
              </a:spcBef>
              <a:spcAft>
                <a:spcPts val="1200"/>
              </a:spcAft>
            </a:pPr>
            <a:r>
              <a:rPr lang="en-AU" sz="2200" dirty="0" smtClean="0">
                <a:latin typeface="Helvetica" pitchFamily="34" charset="0"/>
              </a:rPr>
              <a:t>Talking to people to obtain their input</a:t>
            </a:r>
          </a:p>
          <a:p>
            <a:pPr marL="360000" indent="-360000">
              <a:spcBef>
                <a:spcPts val="600"/>
              </a:spcBef>
              <a:spcAft>
                <a:spcPts val="1200"/>
              </a:spcAft>
            </a:pPr>
            <a:r>
              <a:rPr lang="en-AU" sz="2200" dirty="0" smtClean="0">
                <a:latin typeface="Helvetica" pitchFamily="34" charset="0"/>
              </a:rPr>
              <a:t>Asking questions</a:t>
            </a:r>
          </a:p>
          <a:p>
            <a:pPr marL="360000" indent="-360000">
              <a:spcBef>
                <a:spcPts val="600"/>
              </a:spcBef>
              <a:spcAft>
                <a:spcPts val="1200"/>
              </a:spcAft>
            </a:pPr>
            <a:r>
              <a:rPr lang="en-AU" sz="2200" dirty="0" smtClean="0">
                <a:latin typeface="Helvetica" pitchFamily="34" charset="0"/>
              </a:rPr>
              <a:t>Conducting tests and trials</a:t>
            </a:r>
          </a:p>
          <a:p>
            <a:pPr marL="360000" indent="-360000">
              <a:spcBef>
                <a:spcPts val="600"/>
              </a:spcBef>
              <a:spcAft>
                <a:spcPts val="1200"/>
              </a:spcAft>
            </a:pPr>
            <a:r>
              <a:rPr lang="en-AU" sz="2200" dirty="0" smtClean="0">
                <a:latin typeface="Helvetica" pitchFamily="34" charset="0"/>
              </a:rPr>
              <a:t>Implementing various market </a:t>
            </a:r>
            <a:br>
              <a:rPr lang="en-AU" sz="2200" dirty="0" smtClean="0">
                <a:latin typeface="Helvetica" pitchFamily="34" charset="0"/>
              </a:rPr>
            </a:br>
            <a:r>
              <a:rPr lang="en-AU" sz="2200" dirty="0" smtClean="0">
                <a:latin typeface="Helvetica" pitchFamily="34" charset="0"/>
              </a:rPr>
              <a:t>research techniques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9310" y="4005064"/>
            <a:ext cx="1963015" cy="1354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indent="0">
              <a:spcBef>
                <a:spcPts val="600"/>
              </a:spcBef>
              <a:spcAft>
                <a:spcPts val="1200"/>
              </a:spcAft>
              <a:buNone/>
            </a:pPr>
            <a:r>
              <a:rPr lang="en-US" sz="2200" dirty="0" smtClean="0">
                <a:latin typeface="Helvetica" pitchFamily="34" charset="0"/>
              </a:rPr>
              <a:t>‘Interpreting information’ refers to activities applied to information generated as a result of the research process:</a:t>
            </a:r>
          </a:p>
          <a:p>
            <a:pPr marL="360000" indent="-360000">
              <a:spcBef>
                <a:spcPts val="600"/>
              </a:spcBef>
              <a:spcAft>
                <a:spcPts val="1200"/>
              </a:spcAft>
            </a:pPr>
            <a:r>
              <a:rPr lang="en-AU" sz="2200" dirty="0" smtClean="0">
                <a:latin typeface="Helvetica" pitchFamily="34" charset="0"/>
              </a:rPr>
              <a:t>Making sense of what has been obtained/discovered</a:t>
            </a:r>
          </a:p>
          <a:p>
            <a:pPr marL="360000" indent="-360000">
              <a:spcBef>
                <a:spcPts val="600"/>
              </a:spcBef>
              <a:spcAft>
                <a:spcPts val="1200"/>
              </a:spcAft>
            </a:pPr>
            <a:r>
              <a:rPr lang="en-AU" sz="2200" dirty="0" smtClean="0">
                <a:latin typeface="Helvetica" pitchFamily="34" charset="0"/>
              </a:rPr>
              <a:t>Identifying meaning from the information</a:t>
            </a:r>
          </a:p>
          <a:p>
            <a:pPr marL="360000" indent="-360000">
              <a:spcBef>
                <a:spcPts val="600"/>
              </a:spcBef>
              <a:spcAft>
                <a:spcPts val="1200"/>
              </a:spcAft>
            </a:pPr>
            <a:r>
              <a:rPr lang="en-AU" sz="2200" dirty="0" smtClean="0">
                <a:latin typeface="Helvetica" pitchFamily="34" charset="0"/>
              </a:rPr>
              <a:t>Working out how information </a:t>
            </a:r>
            <a:br>
              <a:rPr lang="en-AU" sz="2200" dirty="0" smtClean="0">
                <a:latin typeface="Helvetica" pitchFamily="34" charset="0"/>
              </a:rPr>
            </a:br>
            <a:r>
              <a:rPr lang="en-AU" sz="2200" dirty="0" smtClean="0">
                <a:latin typeface="Helvetica" pitchFamily="34" charset="0"/>
              </a:rPr>
              <a:t>can/might/will be used</a:t>
            </a:r>
          </a:p>
          <a:p>
            <a:pPr marL="360000" indent="-360000">
              <a:spcBef>
                <a:spcPts val="600"/>
              </a:spcBef>
              <a:spcAft>
                <a:spcPts val="1200"/>
              </a:spcAft>
            </a:pPr>
            <a:r>
              <a:rPr lang="en-AU" sz="2200" dirty="0" smtClean="0">
                <a:latin typeface="Helvetica" pitchFamily="34" charset="0"/>
              </a:rPr>
              <a:t>Analysing data</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3429000"/>
            <a:ext cx="1946701" cy="16546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360000" indent="-360000">
              <a:spcBef>
                <a:spcPts val="600"/>
              </a:spcBef>
              <a:spcAft>
                <a:spcPts val="1200"/>
              </a:spcAft>
            </a:pPr>
            <a:r>
              <a:rPr lang="en-AU" sz="2200" dirty="0" smtClean="0">
                <a:latin typeface="Helvetica" pitchFamily="34" charset="0"/>
              </a:rPr>
              <a:t>Evaluating information</a:t>
            </a:r>
          </a:p>
          <a:p>
            <a:pPr marL="360000" indent="-360000">
              <a:spcBef>
                <a:spcPts val="600"/>
              </a:spcBef>
              <a:spcAft>
                <a:spcPts val="1200"/>
              </a:spcAft>
            </a:pPr>
            <a:r>
              <a:rPr lang="en-AU" sz="2200" dirty="0" smtClean="0">
                <a:latin typeface="Helvetica" pitchFamily="34" charset="0"/>
              </a:rPr>
              <a:t>Performing calculations</a:t>
            </a:r>
          </a:p>
          <a:p>
            <a:pPr marL="360000" indent="-360000">
              <a:spcBef>
                <a:spcPts val="600"/>
              </a:spcBef>
              <a:spcAft>
                <a:spcPts val="1200"/>
              </a:spcAft>
            </a:pPr>
            <a:r>
              <a:rPr lang="en-AU" sz="2200" dirty="0" smtClean="0">
                <a:latin typeface="Helvetica" pitchFamily="34" charset="0"/>
              </a:rPr>
              <a:t>Assessing the usefulness of material gathered</a:t>
            </a:r>
          </a:p>
          <a:p>
            <a:pPr marL="360000" indent="-360000">
              <a:spcBef>
                <a:spcPts val="600"/>
              </a:spcBef>
              <a:spcAft>
                <a:spcPts val="1200"/>
              </a:spcAft>
            </a:pPr>
            <a:r>
              <a:rPr lang="en-AU" sz="2200" dirty="0" smtClean="0">
                <a:latin typeface="Helvetica" pitchFamily="34" charset="0"/>
              </a:rPr>
              <a:t>Sequencing facts and putting them in the correct order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1760" y="3861048"/>
            <a:ext cx="3048000" cy="20330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Tips and advice when researching:</a:t>
            </a:r>
          </a:p>
          <a:p>
            <a:pPr marL="360000" indent="-360000">
              <a:spcBef>
                <a:spcPts val="600"/>
              </a:spcBef>
              <a:spcAft>
                <a:spcPts val="1200"/>
              </a:spcAft>
            </a:pPr>
            <a:r>
              <a:rPr lang="en-US" sz="2200" dirty="0" smtClean="0">
                <a:latin typeface="Helvetica" pitchFamily="34" charset="0"/>
              </a:rPr>
              <a:t>Use a combination of sources</a:t>
            </a:r>
          </a:p>
          <a:p>
            <a:pPr marL="360000" indent="-360000">
              <a:spcBef>
                <a:spcPts val="600"/>
              </a:spcBef>
              <a:spcAft>
                <a:spcPts val="1200"/>
              </a:spcAft>
            </a:pPr>
            <a:r>
              <a:rPr lang="en-US" sz="2200" dirty="0" smtClean="0">
                <a:latin typeface="Helvetica" pitchFamily="34" charset="0"/>
              </a:rPr>
              <a:t>Note/record the sources where information was obtained</a:t>
            </a:r>
          </a:p>
          <a:p>
            <a:pPr marL="360000" indent="-360000">
              <a:spcBef>
                <a:spcPts val="600"/>
              </a:spcBef>
              <a:spcAft>
                <a:spcPts val="1200"/>
              </a:spcAft>
            </a:pPr>
            <a:r>
              <a:rPr lang="en-US" sz="2200" dirty="0" smtClean="0">
                <a:latin typeface="Helvetica" pitchFamily="34" charset="0"/>
              </a:rPr>
              <a:t>Use a mix of data types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3933056"/>
            <a:ext cx="2292294" cy="15289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Make notes and take copies</a:t>
            </a:r>
          </a:p>
          <a:p>
            <a:pPr marL="360000" indent="-360000">
              <a:spcBef>
                <a:spcPts val="600"/>
              </a:spcBef>
              <a:spcAft>
                <a:spcPts val="1200"/>
              </a:spcAft>
            </a:pPr>
            <a:r>
              <a:rPr lang="en-US" sz="2200" dirty="0" smtClean="0">
                <a:latin typeface="Helvetica" pitchFamily="34" charset="0"/>
              </a:rPr>
              <a:t>Check currency/date of information and data</a:t>
            </a:r>
          </a:p>
          <a:p>
            <a:pPr marL="360000" indent="-360000">
              <a:spcBef>
                <a:spcPts val="600"/>
              </a:spcBef>
              <a:spcAft>
                <a:spcPts val="1200"/>
              </a:spcAft>
            </a:pPr>
            <a:r>
              <a:rPr lang="en-US" sz="2200" dirty="0" smtClean="0">
                <a:latin typeface="Helvetica" pitchFamily="34" charset="0"/>
              </a:rPr>
              <a:t>Allocate sufficient resources to enable the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0359" y="3645024"/>
            <a:ext cx="2022770" cy="20330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0" indent="0">
              <a:spcBef>
                <a:spcPts val="600"/>
              </a:spcBef>
              <a:spcAft>
                <a:spcPts val="1200"/>
              </a:spcAft>
              <a:buNone/>
            </a:pPr>
            <a:r>
              <a:rPr lang="en-AU" sz="2200" dirty="0" smtClean="0">
                <a:latin typeface="Helvetica" pitchFamily="34" charset="0"/>
              </a:rPr>
              <a:t>Printed materials – practical research involves:</a:t>
            </a:r>
          </a:p>
          <a:p>
            <a:pPr marL="360000" indent="-360000">
              <a:spcBef>
                <a:spcPts val="600"/>
              </a:spcBef>
              <a:spcAft>
                <a:spcPts val="1200"/>
              </a:spcAft>
            </a:pPr>
            <a:r>
              <a:rPr lang="en-AU" sz="2200" dirty="0" smtClean="0">
                <a:latin typeface="Helvetica" pitchFamily="34" charset="0"/>
              </a:rPr>
              <a:t>Generating a personal library</a:t>
            </a:r>
          </a:p>
          <a:p>
            <a:pPr marL="360000" indent="-360000">
              <a:spcBef>
                <a:spcPts val="600"/>
              </a:spcBef>
              <a:spcAft>
                <a:spcPts val="1200"/>
              </a:spcAft>
            </a:pPr>
            <a:r>
              <a:rPr lang="en-AU" sz="2200" dirty="0" smtClean="0">
                <a:latin typeface="Helvetica" pitchFamily="34" charset="0"/>
              </a:rPr>
              <a:t>Reading and taking notes</a:t>
            </a:r>
          </a:p>
          <a:p>
            <a:pPr marL="360000" indent="-360000">
              <a:spcBef>
                <a:spcPts val="600"/>
              </a:spcBef>
              <a:spcAft>
                <a:spcPts val="1200"/>
              </a:spcAft>
            </a:pPr>
            <a:r>
              <a:rPr lang="en-AU" sz="2200" dirty="0" smtClean="0">
                <a:latin typeface="Helvetica" pitchFamily="34" charset="0"/>
              </a:rPr>
              <a:t>Using texts covering a variety of topics</a:t>
            </a:r>
          </a:p>
          <a:p>
            <a:pPr marL="360000" indent="-360000">
              <a:spcBef>
                <a:spcPts val="600"/>
              </a:spcBef>
              <a:spcAft>
                <a:spcPts val="1200"/>
              </a:spcAft>
            </a:pPr>
            <a:r>
              <a:rPr lang="en-AU" sz="2200" dirty="0" smtClean="0">
                <a:latin typeface="Helvetica" pitchFamily="34" charset="0"/>
              </a:rPr>
              <a:t>Gathering and analysing content</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4717" y="2132856"/>
            <a:ext cx="2140539" cy="2708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Using ‘general media’ involves:</a:t>
            </a:r>
          </a:p>
          <a:p>
            <a:pPr marL="360000" indent="-360000">
              <a:spcBef>
                <a:spcPts val="600"/>
              </a:spcBef>
              <a:spcAft>
                <a:spcPts val="1200"/>
              </a:spcAft>
            </a:pPr>
            <a:r>
              <a:rPr lang="en-US" sz="2200" dirty="0" smtClean="0">
                <a:latin typeface="Helvetica" pitchFamily="34" charset="0"/>
              </a:rPr>
              <a:t>Watching travel, tourism and </a:t>
            </a:r>
            <a:br>
              <a:rPr lang="en-US" sz="2200" dirty="0" smtClean="0">
                <a:latin typeface="Helvetica" pitchFamily="34" charset="0"/>
              </a:rPr>
            </a:br>
            <a:r>
              <a:rPr lang="en-US" sz="2200" dirty="0" smtClean="0">
                <a:latin typeface="Helvetica" pitchFamily="34" charset="0"/>
              </a:rPr>
              <a:t>country/culture-specific programs</a:t>
            </a:r>
          </a:p>
          <a:p>
            <a:pPr marL="360000" indent="-360000">
              <a:spcBef>
                <a:spcPts val="600"/>
              </a:spcBef>
              <a:spcAft>
                <a:spcPts val="1200"/>
              </a:spcAft>
            </a:pPr>
            <a:r>
              <a:rPr lang="en-US" sz="2200" dirty="0" smtClean="0">
                <a:latin typeface="Helvetica" pitchFamily="34" charset="0"/>
              </a:rPr>
              <a:t>Listening to radio interviews with </a:t>
            </a:r>
            <a:br>
              <a:rPr lang="en-US" sz="2200" dirty="0" smtClean="0">
                <a:latin typeface="Helvetica" pitchFamily="34" charset="0"/>
              </a:rPr>
            </a:br>
            <a:r>
              <a:rPr lang="en-US" sz="2200" dirty="0" smtClean="0">
                <a:latin typeface="Helvetica" pitchFamily="34" charset="0"/>
              </a:rPr>
              <a:t>relevant people</a:t>
            </a:r>
          </a:p>
          <a:p>
            <a:pPr marL="360000" indent="-360000">
              <a:spcBef>
                <a:spcPts val="600"/>
              </a:spcBef>
              <a:spcAft>
                <a:spcPts val="1200"/>
              </a:spcAft>
            </a:pPr>
            <a:r>
              <a:rPr lang="en-US" sz="2200" dirty="0" smtClean="0">
                <a:latin typeface="Helvetica" pitchFamily="34" charset="0"/>
              </a:rPr>
              <a:t>Reading articles, columns, features </a:t>
            </a:r>
            <a:br>
              <a:rPr lang="en-US" sz="2200" dirty="0" smtClean="0">
                <a:latin typeface="Helvetica" pitchFamily="34" charset="0"/>
              </a:rPr>
            </a:br>
            <a:r>
              <a:rPr lang="en-US" sz="2200" dirty="0" smtClean="0">
                <a:latin typeface="Helvetica" pitchFamily="34" charset="0"/>
              </a:rPr>
              <a:t>and news relating to target </a:t>
            </a:r>
            <a:br>
              <a:rPr lang="en-US" sz="2200" dirty="0" smtClean="0">
                <a:latin typeface="Helvetica" pitchFamily="34" charset="0"/>
              </a:rPr>
            </a:br>
            <a:r>
              <a:rPr lang="en-US" sz="2200" dirty="0" smtClean="0">
                <a:latin typeface="Helvetica" pitchFamily="34" charset="0"/>
              </a:rPr>
              <a:t>destinations/communities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2276872"/>
            <a:ext cx="2418977" cy="20882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603778" cy="4381947"/>
          </a:xfrm>
        </p:spPr>
        <p:txBody>
          <a:bodyPr>
            <a:normAutofit/>
          </a:bodyPr>
          <a:lstStyle/>
          <a:p>
            <a:pPr marL="0" indent="0">
              <a:spcBef>
                <a:spcPts val="600"/>
              </a:spcBef>
              <a:spcAft>
                <a:spcPts val="1200"/>
              </a:spcAft>
              <a:buNone/>
            </a:pPr>
            <a:r>
              <a:rPr lang="en-US" sz="2200" dirty="0" smtClean="0">
                <a:latin typeface="Helvetica" pitchFamily="34" charset="0"/>
              </a:rPr>
              <a:t>Research with people from identified communities involves:</a:t>
            </a:r>
          </a:p>
          <a:p>
            <a:pPr marL="360000" indent="-360000">
              <a:spcBef>
                <a:spcPts val="600"/>
              </a:spcBef>
              <a:spcAft>
                <a:spcPts val="1200"/>
              </a:spcAft>
            </a:pPr>
            <a:r>
              <a:rPr lang="en-AU" sz="2200" dirty="0" smtClean="0">
                <a:latin typeface="Helvetica" pitchFamily="34" charset="0"/>
              </a:rPr>
              <a:t>Taking to them</a:t>
            </a:r>
          </a:p>
          <a:p>
            <a:pPr marL="360000" indent="-360000">
              <a:spcBef>
                <a:spcPts val="600"/>
              </a:spcBef>
              <a:spcAft>
                <a:spcPts val="1200"/>
              </a:spcAft>
            </a:pPr>
            <a:r>
              <a:rPr lang="en-AU" sz="2200" dirty="0" smtClean="0">
                <a:latin typeface="Helvetica" pitchFamily="34" charset="0"/>
              </a:rPr>
              <a:t>Visiting their communities</a:t>
            </a:r>
          </a:p>
          <a:p>
            <a:pPr marL="360000" indent="-360000">
              <a:spcBef>
                <a:spcPts val="600"/>
              </a:spcBef>
              <a:spcAft>
                <a:spcPts val="1200"/>
              </a:spcAft>
            </a:pPr>
            <a:r>
              <a:rPr lang="en-AU" sz="2200" dirty="0" smtClean="0">
                <a:latin typeface="Helvetica" pitchFamily="34" charset="0"/>
              </a:rPr>
              <a:t>Experiencing their culture</a:t>
            </a:r>
          </a:p>
          <a:p>
            <a:pPr marL="360000" indent="-360000">
              <a:spcBef>
                <a:spcPts val="600"/>
              </a:spcBef>
              <a:spcAft>
                <a:spcPts val="1200"/>
              </a:spcAft>
            </a:pPr>
            <a:r>
              <a:rPr lang="en-AU" sz="2200" dirty="0" smtClean="0">
                <a:latin typeface="Helvetica" pitchFamily="34" charset="0"/>
              </a:rPr>
              <a:t>Participating in local activities</a:t>
            </a:r>
          </a:p>
          <a:p>
            <a:pPr marL="360000" indent="-360000">
              <a:spcBef>
                <a:spcPts val="600"/>
              </a:spcBef>
              <a:spcAft>
                <a:spcPts val="1200"/>
              </a:spcAft>
            </a:pPr>
            <a:r>
              <a:rPr lang="en-AU" sz="2200" dirty="0" smtClean="0">
                <a:latin typeface="Helvetica" pitchFamily="34" charset="0"/>
              </a:rPr>
              <a:t>Recording experiences for later analysis</a:t>
            </a:r>
          </a:p>
          <a:p>
            <a:pPr marL="360000" indent="-360000">
              <a:spcBef>
                <a:spcPts val="600"/>
              </a:spcBef>
              <a:spcAft>
                <a:spcPts val="1200"/>
              </a:spcAft>
            </a:pPr>
            <a:r>
              <a:rPr lang="en-AU" sz="2200" dirty="0" smtClean="0">
                <a:latin typeface="Helvetica" pitchFamily="34" charset="0"/>
              </a:rPr>
              <a:t>Taking a tour conducted by another Tour Operator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2492896"/>
            <a:ext cx="2081808" cy="156135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Research using industry personnel includes:</a:t>
            </a:r>
          </a:p>
          <a:p>
            <a:pPr marL="360000" indent="-360000">
              <a:spcBef>
                <a:spcPts val="600"/>
              </a:spcBef>
              <a:spcAft>
                <a:spcPts val="1200"/>
              </a:spcAft>
            </a:pPr>
            <a:r>
              <a:rPr lang="en-US" sz="2200" dirty="0" smtClean="0">
                <a:latin typeface="Helvetica" pitchFamily="34" charset="0"/>
              </a:rPr>
              <a:t>Talking with Tour Guides</a:t>
            </a:r>
          </a:p>
          <a:p>
            <a:pPr marL="360000" indent="-360000">
              <a:spcBef>
                <a:spcPts val="600"/>
              </a:spcBef>
              <a:spcAft>
                <a:spcPts val="1200"/>
              </a:spcAft>
            </a:pPr>
            <a:r>
              <a:rPr lang="en-US" sz="2200" dirty="0" smtClean="0">
                <a:latin typeface="Helvetica" pitchFamily="34" charset="0"/>
              </a:rPr>
              <a:t>Meeting with peak industry body </a:t>
            </a:r>
            <a:br>
              <a:rPr lang="en-US" sz="2200" dirty="0" smtClean="0">
                <a:latin typeface="Helvetica" pitchFamily="34" charset="0"/>
              </a:rPr>
            </a:br>
            <a:r>
              <a:rPr lang="en-US" sz="2200" dirty="0" smtClean="0">
                <a:latin typeface="Helvetica" pitchFamily="34" charset="0"/>
              </a:rPr>
              <a:t>representatives</a:t>
            </a:r>
          </a:p>
          <a:p>
            <a:pPr marL="360000" indent="-360000">
              <a:spcBef>
                <a:spcPts val="600"/>
              </a:spcBef>
              <a:spcAft>
                <a:spcPts val="1200"/>
              </a:spcAft>
            </a:pPr>
            <a:r>
              <a:rPr lang="en-US" sz="2200" dirty="0" smtClean="0">
                <a:latin typeface="Helvetica" pitchFamily="34" charset="0"/>
              </a:rPr>
              <a:t>Speaking with government officers</a:t>
            </a:r>
          </a:p>
          <a:p>
            <a:pPr marL="360000" indent="-360000">
              <a:spcBef>
                <a:spcPts val="600"/>
              </a:spcBef>
              <a:spcAft>
                <a:spcPts val="1200"/>
              </a:spcAft>
            </a:pPr>
            <a:r>
              <a:rPr lang="en-US" sz="2200" dirty="0" smtClean="0">
                <a:latin typeface="Helvetica" pitchFamily="34" charset="0"/>
              </a:rPr>
              <a:t>Visiting Information Centres</a:t>
            </a:r>
          </a:p>
          <a:p>
            <a:pPr marL="360000" indent="-360000">
              <a:spcBef>
                <a:spcPts val="600"/>
              </a:spcBef>
              <a:spcAft>
                <a:spcPts val="1200"/>
              </a:spcAft>
            </a:pPr>
            <a:r>
              <a:rPr lang="en-US" sz="2200" dirty="0" smtClean="0">
                <a:latin typeface="Helvetica" pitchFamily="34" charset="0"/>
              </a:rPr>
              <a:t>Talking to business partners/suppliers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3972" y="2204864"/>
            <a:ext cx="1874897" cy="25370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0" indent="0">
              <a:spcBef>
                <a:spcPts val="600"/>
              </a:spcBef>
              <a:spcAft>
                <a:spcPts val="1200"/>
              </a:spcAft>
              <a:buNone/>
            </a:pPr>
            <a:r>
              <a:rPr lang="en-US" sz="2200" dirty="0" smtClean="0">
                <a:latin typeface="Helvetica" pitchFamily="34" charset="0"/>
              </a:rPr>
              <a:t>Activities using the internet as a research tool feature:</a:t>
            </a:r>
          </a:p>
          <a:p>
            <a:pPr marL="360000" indent="-360000">
              <a:spcBef>
                <a:spcPts val="600"/>
              </a:spcBef>
              <a:spcAft>
                <a:spcPts val="1200"/>
              </a:spcAft>
            </a:pPr>
            <a:r>
              <a:rPr lang="en-US" sz="2200" dirty="0" smtClean="0">
                <a:latin typeface="Helvetica" pitchFamily="34" charset="0"/>
              </a:rPr>
              <a:t>Doing targetted searches</a:t>
            </a:r>
          </a:p>
          <a:p>
            <a:pPr marL="360000" indent="-360000">
              <a:spcBef>
                <a:spcPts val="600"/>
              </a:spcBef>
              <a:spcAft>
                <a:spcPts val="1200"/>
              </a:spcAft>
            </a:pPr>
            <a:r>
              <a:rPr lang="en-US" sz="2200" dirty="0" smtClean="0">
                <a:latin typeface="Helvetica" pitchFamily="34" charset="0"/>
              </a:rPr>
              <a:t>Accessing documentation/reports and data</a:t>
            </a:r>
          </a:p>
          <a:p>
            <a:pPr marL="360000" indent="-360000">
              <a:spcBef>
                <a:spcPts val="600"/>
              </a:spcBef>
              <a:spcAft>
                <a:spcPts val="1200"/>
              </a:spcAft>
            </a:pPr>
            <a:r>
              <a:rPr lang="en-US" sz="2200" dirty="0" smtClean="0">
                <a:latin typeface="Helvetica" pitchFamily="34" charset="0"/>
              </a:rPr>
              <a:t>Following-up on existing information</a:t>
            </a:r>
          </a:p>
          <a:p>
            <a:pPr marL="360000" indent="-360000">
              <a:spcBef>
                <a:spcPts val="600"/>
              </a:spcBef>
              <a:spcAft>
                <a:spcPts val="1200"/>
              </a:spcAft>
            </a:pPr>
            <a:r>
              <a:rPr lang="en-US" sz="2200" dirty="0" smtClean="0">
                <a:latin typeface="Helvetica" pitchFamily="34" charset="0"/>
              </a:rPr>
              <a:t>Obtaining names/details for future face-to-face contact</a:t>
            </a:r>
          </a:p>
          <a:p>
            <a:pPr marL="360000" indent="-360000">
              <a:spcBef>
                <a:spcPts val="600"/>
              </a:spcBef>
              <a:spcAft>
                <a:spcPts val="1200"/>
              </a:spcAft>
            </a:pPr>
            <a:r>
              <a:rPr lang="en-US" sz="2200" dirty="0" smtClean="0">
                <a:latin typeface="Helvetica" pitchFamily="34" charset="0"/>
              </a:rPr>
              <a:t>Making contact with potential joint-venture partners</a:t>
            </a:r>
          </a:p>
          <a:p>
            <a:pPr marL="360000" indent="-360000">
              <a:spcBef>
                <a:spcPts val="600"/>
              </a:spcBef>
              <a:spcAft>
                <a:spcPts val="1200"/>
              </a:spcAft>
            </a:pPr>
            <a:r>
              <a:rPr lang="en-US" sz="2200" dirty="0" smtClean="0">
                <a:latin typeface="Helvetica" pitchFamily="34" charset="0"/>
              </a:rPr>
              <a:t>Subscribing to online information, updates, newsletters</a:t>
            </a:r>
          </a:p>
          <a:p>
            <a:pPr marL="360000" indent="-360000">
              <a:spcBef>
                <a:spcPts val="600"/>
              </a:spcBef>
              <a:spcAft>
                <a:spcPts val="1200"/>
              </a:spcAft>
            </a:pPr>
            <a:r>
              <a:rPr lang="en-US" sz="2200" dirty="0" smtClean="0">
                <a:latin typeface="Helvetica" pitchFamily="34" charset="0"/>
              </a:rPr>
              <a:t>Monitoring travel blogs and tourism chat rooms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Formal training courses can be useful in research to:</a:t>
            </a:r>
          </a:p>
          <a:p>
            <a:pPr marL="360000" indent="-360000">
              <a:spcBef>
                <a:spcPts val="600"/>
              </a:spcBef>
              <a:spcAft>
                <a:spcPts val="1200"/>
              </a:spcAft>
            </a:pPr>
            <a:r>
              <a:rPr lang="en-AU" sz="2200" dirty="0" smtClean="0">
                <a:latin typeface="Helvetica" pitchFamily="34" charset="0"/>
              </a:rPr>
              <a:t>Study a country, culture of community</a:t>
            </a:r>
          </a:p>
          <a:p>
            <a:pPr marL="360000" indent="-360000">
              <a:spcBef>
                <a:spcPts val="600"/>
              </a:spcBef>
              <a:spcAft>
                <a:spcPts val="1200"/>
              </a:spcAft>
            </a:pPr>
            <a:r>
              <a:rPr lang="en-AU" sz="2200" dirty="0" smtClean="0">
                <a:latin typeface="Helvetica" pitchFamily="34" charset="0"/>
              </a:rPr>
              <a:t>Learn about the history of a region or community</a:t>
            </a:r>
          </a:p>
          <a:p>
            <a:pPr marL="360000" indent="-360000">
              <a:spcBef>
                <a:spcPts val="600"/>
              </a:spcBef>
              <a:spcAft>
                <a:spcPts val="1200"/>
              </a:spcAft>
            </a:pPr>
            <a:r>
              <a:rPr lang="en-AU" sz="2200" dirty="0" smtClean="0">
                <a:latin typeface="Helvetica" pitchFamily="34" charset="0"/>
              </a:rPr>
              <a:t>Learn how to undertake formal </a:t>
            </a:r>
            <a:r>
              <a:rPr lang="en-AU" sz="2400" dirty="0" smtClean="0"/>
              <a:t>research </a:t>
            </a:r>
            <a:r>
              <a:rPr lang="en-AU" sz="2200" dirty="0" smtClean="0">
                <a:latin typeface="Helvetica" pitchFamily="34" charset="0"/>
              </a:rPr>
              <a:t>processes</a:t>
            </a:r>
          </a:p>
          <a:p>
            <a:pPr marL="360000" indent="-360000">
              <a:spcBef>
                <a:spcPts val="600"/>
              </a:spcBef>
              <a:spcAft>
                <a:spcPts val="1200"/>
              </a:spcAft>
            </a:pPr>
            <a:r>
              <a:rPr lang="en-AU" sz="2200" dirty="0" smtClean="0">
                <a:latin typeface="Helvetica" pitchFamily="34" charset="0"/>
              </a:rPr>
              <a:t>Meet others with similar interests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184" y="4005064"/>
            <a:ext cx="2182425" cy="16295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608512"/>
          </a:xfrm>
        </p:spPr>
        <p:txBody>
          <a:bodyPr>
            <a:normAutofit/>
          </a:bodyPr>
          <a:lstStyle/>
          <a:p>
            <a:pPr marL="0" indent="0">
              <a:spcBef>
                <a:spcPts val="600"/>
              </a:spcBef>
              <a:spcAft>
                <a:spcPts val="1200"/>
              </a:spcAft>
              <a:buNone/>
            </a:pPr>
            <a:r>
              <a:rPr lang="en-US" sz="2200" dirty="0" smtClean="0">
                <a:latin typeface="Helvetica" pitchFamily="34" charset="0"/>
              </a:rPr>
              <a:t>Use of ‘institutions’ in research requires:</a:t>
            </a:r>
          </a:p>
          <a:p>
            <a:pPr marL="360000" indent="-360000">
              <a:spcBef>
                <a:spcPts val="600"/>
              </a:spcBef>
              <a:spcAft>
                <a:spcPts val="1200"/>
              </a:spcAft>
            </a:pPr>
            <a:r>
              <a:rPr lang="en-AU" sz="2200" dirty="0" smtClean="0">
                <a:latin typeface="Helvetica" pitchFamily="34" charset="0"/>
              </a:rPr>
              <a:t>Visiting the locations</a:t>
            </a:r>
          </a:p>
          <a:p>
            <a:pPr marL="360000" indent="-360000">
              <a:spcBef>
                <a:spcPts val="600"/>
              </a:spcBef>
              <a:spcAft>
                <a:spcPts val="1200"/>
              </a:spcAft>
            </a:pPr>
            <a:r>
              <a:rPr lang="en-AU" sz="2200" dirty="0" smtClean="0">
                <a:latin typeface="Helvetica" pitchFamily="34" charset="0"/>
              </a:rPr>
              <a:t>Talking with curators</a:t>
            </a:r>
          </a:p>
          <a:p>
            <a:pPr marL="360000" indent="-360000">
              <a:spcBef>
                <a:spcPts val="600"/>
              </a:spcBef>
              <a:spcAft>
                <a:spcPts val="1200"/>
              </a:spcAft>
            </a:pPr>
            <a:r>
              <a:rPr lang="en-AU" sz="2200" dirty="0" smtClean="0">
                <a:latin typeface="Helvetica" pitchFamily="34" charset="0"/>
              </a:rPr>
              <a:t>Viewing the exhibitions</a:t>
            </a:r>
          </a:p>
          <a:p>
            <a:pPr marL="360000" indent="-360000">
              <a:spcBef>
                <a:spcPts val="600"/>
              </a:spcBef>
              <a:spcAft>
                <a:spcPts val="1200"/>
              </a:spcAft>
            </a:pPr>
            <a:r>
              <a:rPr lang="en-AU" sz="2200" dirty="0" smtClean="0">
                <a:latin typeface="Helvetica" pitchFamily="34" charset="0"/>
              </a:rPr>
              <a:t>Engaging with the displays</a:t>
            </a:r>
          </a:p>
          <a:p>
            <a:pPr marL="360000" indent="-360000">
              <a:spcBef>
                <a:spcPts val="600"/>
              </a:spcBef>
              <a:spcAft>
                <a:spcPts val="1200"/>
              </a:spcAft>
            </a:pPr>
            <a:r>
              <a:rPr lang="en-AU" sz="2200" dirty="0" smtClean="0">
                <a:latin typeface="Helvetica" pitchFamily="34" charset="0"/>
              </a:rPr>
              <a:t>Obtaining ‘Fact Sheets’ and other materials</a:t>
            </a:r>
          </a:p>
          <a:p>
            <a:pPr marL="360000" indent="-360000">
              <a:spcBef>
                <a:spcPts val="600"/>
              </a:spcBef>
              <a:spcAft>
                <a:spcPts val="1200"/>
              </a:spcAft>
            </a:pPr>
            <a:r>
              <a:rPr lang="en-AU" sz="2200" dirty="0" smtClean="0">
                <a:latin typeface="Helvetica" pitchFamily="34" charset="0"/>
              </a:rPr>
              <a:t>Understanding how/if these institutions can become part of a trip, tour or activity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2276872"/>
            <a:ext cx="2264266" cy="15351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Topics for research activities:</a:t>
            </a:r>
          </a:p>
          <a:p>
            <a:pPr marL="360000" indent="-360000">
              <a:spcBef>
                <a:spcPts val="600"/>
              </a:spcBef>
              <a:spcAft>
                <a:spcPts val="1200"/>
              </a:spcAft>
            </a:pPr>
            <a:r>
              <a:rPr lang="en-US" sz="2200" dirty="0" smtClean="0">
                <a:latin typeface="Helvetica" pitchFamily="34" charset="0"/>
              </a:rPr>
              <a:t>Will always focus on the  ideas the Tour Operator has for tours and interpretive activities </a:t>
            </a:r>
          </a:p>
          <a:p>
            <a:pPr marL="360000" indent="-360000">
              <a:spcBef>
                <a:spcPts val="600"/>
              </a:spcBef>
              <a:spcAft>
                <a:spcPts val="1200"/>
              </a:spcAft>
            </a:pPr>
            <a:r>
              <a:rPr lang="en-US" sz="2200" dirty="0" smtClean="0">
                <a:latin typeface="Helvetica" pitchFamily="34" charset="0"/>
              </a:rPr>
              <a:t>Can concentrate solely on identified objectives</a:t>
            </a:r>
          </a:p>
          <a:p>
            <a:pPr marL="360000" indent="-360000">
              <a:spcBef>
                <a:spcPts val="600"/>
              </a:spcBef>
              <a:spcAft>
                <a:spcPts val="1200"/>
              </a:spcAft>
            </a:pPr>
            <a:r>
              <a:rPr lang="en-US" sz="2200" dirty="0" smtClean="0">
                <a:latin typeface="Helvetica" pitchFamily="34" charset="0"/>
              </a:rPr>
              <a:t>May be more broad-based to generate contextual and background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221088"/>
            <a:ext cx="2471936" cy="164878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Research topics may include:</a:t>
            </a:r>
          </a:p>
          <a:p>
            <a:pPr marL="360000" indent="-360000">
              <a:spcBef>
                <a:spcPts val="600"/>
              </a:spcBef>
              <a:spcAft>
                <a:spcPts val="1200"/>
              </a:spcAft>
            </a:pPr>
            <a:r>
              <a:rPr lang="en-US" sz="2200" dirty="0" smtClean="0">
                <a:latin typeface="Helvetica" pitchFamily="34" charset="0"/>
              </a:rPr>
              <a:t>History of the people</a:t>
            </a:r>
          </a:p>
          <a:p>
            <a:pPr marL="360000" indent="-360000">
              <a:spcBef>
                <a:spcPts val="600"/>
              </a:spcBef>
              <a:spcAft>
                <a:spcPts val="1200"/>
              </a:spcAft>
            </a:pPr>
            <a:r>
              <a:rPr lang="en-US" sz="2200" dirty="0" smtClean="0">
                <a:latin typeface="Helvetica" pitchFamily="34" charset="0"/>
              </a:rPr>
              <a:t>Traditional life of the people</a:t>
            </a:r>
          </a:p>
          <a:p>
            <a:pPr marL="360000" indent="-360000">
              <a:spcBef>
                <a:spcPts val="600"/>
              </a:spcBef>
              <a:spcAft>
                <a:spcPts val="1200"/>
              </a:spcAft>
            </a:pPr>
            <a:r>
              <a:rPr lang="en-US" sz="2200" dirty="0" smtClean="0">
                <a:latin typeface="Helvetica" pitchFamily="34" charset="0"/>
              </a:rPr>
              <a:t>Art, dance and music</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2462"/>
          <a:stretch/>
        </p:blipFill>
        <p:spPr>
          <a:xfrm>
            <a:off x="5148064" y="2204864"/>
            <a:ext cx="1948210" cy="175375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Oral history of the people</a:t>
            </a:r>
          </a:p>
          <a:p>
            <a:pPr marL="360000" indent="-360000">
              <a:spcBef>
                <a:spcPts val="600"/>
              </a:spcBef>
              <a:spcAft>
                <a:spcPts val="1200"/>
              </a:spcAft>
            </a:pPr>
            <a:r>
              <a:rPr lang="en-US" sz="2200" dirty="0" smtClean="0">
                <a:latin typeface="Helvetica" pitchFamily="34" charset="0"/>
              </a:rPr>
              <a:t>Tools and implements</a:t>
            </a:r>
          </a:p>
          <a:p>
            <a:pPr marL="360000" indent="-360000">
              <a:spcBef>
                <a:spcPts val="600"/>
              </a:spcBef>
              <a:spcAft>
                <a:spcPts val="1200"/>
              </a:spcAft>
            </a:pPr>
            <a:r>
              <a:rPr lang="en-US" sz="2200" dirty="0" smtClean="0">
                <a:latin typeface="Helvetica" pitchFamily="34" charset="0"/>
              </a:rPr>
              <a:t>Foods of the people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6030" y="2708919"/>
            <a:ext cx="2679899" cy="178749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Artifacts of the local community</a:t>
            </a:r>
          </a:p>
          <a:p>
            <a:pPr marL="360000" indent="-360000">
              <a:spcBef>
                <a:spcPts val="600"/>
              </a:spcBef>
              <a:spcAft>
                <a:spcPts val="1200"/>
              </a:spcAft>
            </a:pPr>
            <a:r>
              <a:rPr lang="en-US" sz="2200" dirty="0" smtClean="0">
                <a:latin typeface="Helvetica" pitchFamily="34" charset="0"/>
              </a:rPr>
              <a:t>Symbols and symbolic actions</a:t>
            </a:r>
          </a:p>
          <a:p>
            <a:pPr marL="360000" indent="-360000">
              <a:spcBef>
                <a:spcPts val="600"/>
              </a:spcBef>
              <a:spcAft>
                <a:spcPts val="1200"/>
              </a:spcAft>
            </a:pPr>
            <a:r>
              <a:rPr lang="en-US" sz="2200" dirty="0" smtClean="0">
                <a:latin typeface="Helvetica" pitchFamily="34" charset="0"/>
              </a:rPr>
              <a:t>Rituals, rites, ceremonies and celebrations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933056"/>
            <a:ext cx="2687960" cy="178749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Heroes and significant figures</a:t>
            </a:r>
          </a:p>
          <a:p>
            <a:pPr marL="360000" indent="-360000">
              <a:spcBef>
                <a:spcPts val="600"/>
              </a:spcBef>
              <a:spcAft>
                <a:spcPts val="1200"/>
              </a:spcAft>
            </a:pPr>
            <a:r>
              <a:rPr lang="en-US" sz="2200" dirty="0" smtClean="0">
                <a:latin typeface="Helvetica" pitchFamily="34" charset="0"/>
              </a:rPr>
              <a:t>Beliefs, assumptions, values and attitudes</a:t>
            </a:r>
          </a:p>
          <a:p>
            <a:pPr marL="360000" indent="-360000">
              <a:spcBef>
                <a:spcPts val="600"/>
              </a:spcBef>
              <a:spcAft>
                <a:spcPts val="1200"/>
              </a:spcAft>
            </a:pPr>
            <a:r>
              <a:rPr lang="en-US" sz="2200" dirty="0" smtClean="0">
                <a:latin typeface="Helvetica" pitchFamily="34" charset="0"/>
              </a:rPr>
              <a:t>Language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9187" y="3429000"/>
            <a:ext cx="1991882" cy="149391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7467600" cy="4021907"/>
          </a:xfrm>
        </p:spPr>
        <p:txBody>
          <a:bodyPr>
            <a:normAutofit/>
          </a:bodyPr>
          <a:lstStyle/>
          <a:p>
            <a:pPr marL="360000" indent="-360000">
              <a:spcBef>
                <a:spcPts val="600"/>
              </a:spcBef>
              <a:spcAft>
                <a:spcPts val="1200"/>
              </a:spcAft>
            </a:pPr>
            <a:r>
              <a:rPr lang="en-US" sz="2200" dirty="0" smtClean="0">
                <a:latin typeface="Helvetica" pitchFamily="34" charset="0"/>
              </a:rPr>
              <a:t>Religion</a:t>
            </a:r>
          </a:p>
          <a:p>
            <a:pPr marL="360000" indent="-360000">
              <a:spcBef>
                <a:spcPts val="600"/>
              </a:spcBef>
              <a:spcAft>
                <a:spcPts val="1200"/>
              </a:spcAft>
            </a:pPr>
            <a:r>
              <a:rPr lang="en-US" sz="2200" dirty="0" smtClean="0">
                <a:latin typeface="Helvetica" pitchFamily="34" charset="0"/>
              </a:rPr>
              <a:t>Education</a:t>
            </a:r>
          </a:p>
          <a:p>
            <a:pPr marL="360000" indent="-360000">
              <a:spcBef>
                <a:spcPts val="600"/>
              </a:spcBef>
              <a:spcAft>
                <a:spcPts val="1200"/>
              </a:spcAft>
            </a:pPr>
            <a:r>
              <a:rPr lang="en-US" sz="2200" dirty="0" smtClean="0">
                <a:latin typeface="Helvetica" pitchFamily="34" charset="0"/>
              </a:rPr>
              <a:t>Social institutions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1960" y="2132856"/>
            <a:ext cx="1991883" cy="149391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Research and interpret 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2856"/>
            <a:ext cx="7467600" cy="3949899"/>
          </a:xfrm>
        </p:spPr>
        <p:txBody>
          <a:bodyPr>
            <a:normAutofit/>
          </a:bodyPr>
          <a:lstStyle/>
          <a:p>
            <a:pPr marL="360000" indent="-360000">
              <a:spcBef>
                <a:spcPts val="600"/>
              </a:spcBef>
              <a:spcAft>
                <a:spcPts val="1200"/>
              </a:spcAft>
            </a:pPr>
            <a:r>
              <a:rPr lang="en-US" sz="2200" dirty="0" smtClean="0">
                <a:latin typeface="Helvetica" pitchFamily="34" charset="0"/>
              </a:rPr>
              <a:t>Cultural sites</a:t>
            </a:r>
          </a:p>
          <a:p>
            <a:pPr marL="360000" indent="-360000">
              <a:spcBef>
                <a:spcPts val="600"/>
              </a:spcBef>
              <a:spcAft>
                <a:spcPts val="1200"/>
              </a:spcAft>
            </a:pPr>
            <a:r>
              <a:rPr lang="en-US" sz="2200" dirty="0" smtClean="0">
                <a:latin typeface="Helvetica" pitchFamily="34" charset="0"/>
              </a:rPr>
              <a:t>Geography</a:t>
            </a:r>
          </a:p>
          <a:p>
            <a:pPr marL="360000" indent="-360000">
              <a:spcBef>
                <a:spcPts val="600"/>
              </a:spcBef>
              <a:spcAft>
                <a:spcPts val="1200"/>
              </a:spcAft>
            </a:pPr>
            <a:r>
              <a:rPr lang="en-US" sz="2200" dirty="0" smtClean="0">
                <a:latin typeface="Helvetica" pitchFamily="34" charset="0"/>
              </a:rPr>
              <a:t>Entertainment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9952" y="2276872"/>
            <a:ext cx="2183904" cy="145884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680520"/>
          </a:xfrm>
        </p:spPr>
        <p:txBody>
          <a:bodyPr>
            <a:normAutofit/>
          </a:bodyPr>
          <a:lstStyle/>
          <a:p>
            <a:pPr marL="0" indent="0">
              <a:spcBef>
                <a:spcPts val="600"/>
              </a:spcBef>
              <a:spcAft>
                <a:spcPts val="1200"/>
              </a:spcAft>
              <a:buNone/>
            </a:pPr>
            <a:r>
              <a:rPr lang="en-AU" sz="2200" dirty="0" smtClean="0">
                <a:latin typeface="Helvetica" pitchFamily="34" charset="0"/>
              </a:rPr>
              <a:t>Reasons for demonstrating respect for indigenous cultures are generally related to one or more factors which may:</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Alter over time</a:t>
            </a:r>
          </a:p>
          <a:p>
            <a:pPr marL="360000" indent="-360000">
              <a:spcBef>
                <a:spcPts val="600"/>
              </a:spcBef>
              <a:spcAft>
                <a:spcPts val="1200"/>
              </a:spcAft>
            </a:pPr>
            <a:r>
              <a:rPr lang="en-US" sz="2200" dirty="0" smtClean="0">
                <a:latin typeface="Helvetica" pitchFamily="34" charset="0"/>
              </a:rPr>
              <a:t>Vary between groups</a:t>
            </a:r>
          </a:p>
          <a:p>
            <a:pPr marL="360000" indent="-360000">
              <a:spcBef>
                <a:spcPts val="600"/>
              </a:spcBef>
              <a:spcAft>
                <a:spcPts val="1200"/>
              </a:spcAft>
            </a:pPr>
            <a:r>
              <a:rPr lang="en-US" sz="2200" dirty="0" smtClean="0">
                <a:latin typeface="Helvetica" pitchFamily="34" charset="0"/>
              </a:rPr>
              <a:t>Change between tour types</a:t>
            </a:r>
          </a:p>
          <a:p>
            <a:pPr marL="360000" indent="-360000">
              <a:spcBef>
                <a:spcPts val="600"/>
              </a:spcBef>
              <a:spcAft>
                <a:spcPts val="1200"/>
              </a:spcAft>
            </a:pPr>
            <a:r>
              <a:rPr lang="en-US" sz="2200" dirty="0" smtClean="0">
                <a:latin typeface="Helvetica" pitchFamily="34" charset="0"/>
              </a:rPr>
              <a:t>Differ between cultures </a:t>
            </a:r>
            <a:br>
              <a:rPr lang="en-US" sz="2200" dirty="0" smtClean="0">
                <a:latin typeface="Helvetica" pitchFamily="34" charset="0"/>
              </a:rPr>
            </a:br>
            <a:r>
              <a:rPr lang="en-US" sz="2200" dirty="0" smtClean="0">
                <a:latin typeface="Helvetica" pitchFamily="34" charset="0"/>
              </a:rPr>
              <a:t>and communities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4641" y="3861048"/>
            <a:ext cx="2222693" cy="15514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rmAutofit/>
          </a:bodyPr>
          <a:lstStyle/>
          <a:p>
            <a:pPr marL="0" indent="0">
              <a:spcBef>
                <a:spcPts val="600"/>
              </a:spcBef>
              <a:spcAft>
                <a:spcPts val="1200"/>
              </a:spcAft>
              <a:buNone/>
            </a:pPr>
            <a:r>
              <a:rPr lang="en-AU" sz="2200" dirty="0" smtClean="0">
                <a:latin typeface="Helvetica" pitchFamily="34" charset="0"/>
              </a:rPr>
              <a:t>Factors underpinning the need for respect for indigenous cultures are generally related to</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Need to preserve unique culture/s</a:t>
            </a:r>
          </a:p>
          <a:p>
            <a:pPr marL="360000" indent="-360000">
              <a:spcBef>
                <a:spcPts val="600"/>
              </a:spcBef>
              <a:spcAft>
                <a:spcPts val="1200"/>
              </a:spcAft>
            </a:pPr>
            <a:r>
              <a:rPr lang="en-US" sz="2200" dirty="0" smtClean="0">
                <a:latin typeface="Helvetica" pitchFamily="34" charset="0"/>
              </a:rPr>
              <a:t>Desire to share knowledge</a:t>
            </a:r>
          </a:p>
          <a:p>
            <a:pPr marL="360000" indent="-360000">
              <a:spcBef>
                <a:spcPts val="600"/>
              </a:spcBef>
              <a:spcAft>
                <a:spcPts val="1200"/>
              </a:spcAft>
            </a:pPr>
            <a:r>
              <a:rPr lang="en-US" sz="2200" dirty="0" smtClean="0">
                <a:latin typeface="Helvetica" pitchFamily="34" charset="0"/>
              </a:rPr>
              <a:t>Need to change attitudes</a:t>
            </a:r>
          </a:p>
          <a:p>
            <a:pPr marL="360000" indent="-360000">
              <a:spcBef>
                <a:spcPts val="600"/>
              </a:spcBef>
              <a:spcAft>
                <a:spcPts val="1200"/>
              </a:spcAft>
            </a:pPr>
            <a:r>
              <a:rPr lang="en-US" sz="2200" dirty="0" smtClean="0">
                <a:latin typeface="Helvetica" pitchFamily="34" charset="0"/>
              </a:rPr>
              <a:t>Need to align with government/country policies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7889"/>
          <a:stretch/>
        </p:blipFill>
        <p:spPr>
          <a:xfrm>
            <a:off x="5724128" y="2132856"/>
            <a:ext cx="2197943" cy="203301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US" sz="2200" dirty="0" smtClean="0">
                <a:latin typeface="Helvetica" pitchFamily="34" charset="0"/>
              </a:rPr>
              <a:t>Change in society’s attitudes</a:t>
            </a:r>
          </a:p>
          <a:p>
            <a:pPr marL="360000" indent="-360000">
              <a:spcBef>
                <a:spcPts val="600"/>
              </a:spcBef>
              <a:spcAft>
                <a:spcPts val="1200"/>
              </a:spcAft>
            </a:pPr>
            <a:r>
              <a:rPr lang="en-US" sz="2200" dirty="0" smtClean="0">
                <a:latin typeface="Helvetica" pitchFamily="34" charset="0"/>
              </a:rPr>
              <a:t>Need not to give offence to local communities</a:t>
            </a:r>
          </a:p>
          <a:p>
            <a:pPr marL="360000" indent="-360000">
              <a:spcBef>
                <a:spcPts val="600"/>
              </a:spcBef>
              <a:spcAft>
                <a:spcPts val="1200"/>
              </a:spcAft>
            </a:pPr>
            <a:r>
              <a:rPr lang="en-US" sz="2200" dirty="0" smtClean="0">
                <a:latin typeface="Helvetica" pitchFamily="34" charset="0"/>
              </a:rPr>
              <a:t>Desire by Tour Operators to protect the local community</a:t>
            </a:r>
          </a:p>
          <a:p>
            <a:pPr marL="360000" indent="-360000">
              <a:spcBef>
                <a:spcPts val="600"/>
              </a:spcBef>
              <a:spcAft>
                <a:spcPts val="1200"/>
              </a:spcAft>
            </a:pPr>
            <a:r>
              <a:rPr lang="en-US" sz="2200" dirty="0" smtClean="0">
                <a:latin typeface="Helvetica" pitchFamily="34" charset="0"/>
              </a:rPr>
              <a:t>Vested interest by Tour Operators</a:t>
            </a:r>
          </a:p>
          <a:p>
            <a:pPr marL="360000" indent="-360000">
              <a:spcBef>
                <a:spcPts val="600"/>
              </a:spcBef>
              <a:spcAft>
                <a:spcPts val="1200"/>
              </a:spcAft>
            </a:pPr>
            <a:r>
              <a:rPr lang="en-US" sz="2200" dirty="0" smtClean="0">
                <a:latin typeface="Helvetica" pitchFamily="34" charset="0"/>
              </a:rPr>
              <a:t>Comply with legislation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3501008"/>
            <a:ext cx="1823864" cy="18238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Pre-requisites for demonstrating respect:</a:t>
            </a:r>
          </a:p>
          <a:p>
            <a:pPr marL="360000" indent="-360000">
              <a:spcBef>
                <a:spcPts val="600"/>
              </a:spcBef>
              <a:spcAft>
                <a:spcPts val="1200"/>
              </a:spcAft>
            </a:pPr>
            <a:r>
              <a:rPr lang="en-US" sz="2200" dirty="0" smtClean="0">
                <a:latin typeface="Helvetica" pitchFamily="34" charset="0"/>
              </a:rPr>
              <a:t>Genuine desire to engage with communities</a:t>
            </a:r>
          </a:p>
          <a:p>
            <a:pPr marL="360000" indent="-360000">
              <a:spcBef>
                <a:spcPts val="600"/>
              </a:spcBef>
              <a:spcAft>
                <a:spcPts val="1200"/>
              </a:spcAft>
            </a:pPr>
            <a:r>
              <a:rPr lang="en-US" sz="2200" dirty="0" smtClean="0">
                <a:latin typeface="Helvetica" pitchFamily="34" charset="0"/>
              </a:rPr>
              <a:t>Willingness to learn from the people</a:t>
            </a:r>
          </a:p>
          <a:p>
            <a:pPr marL="360000" indent="-360000">
              <a:spcBef>
                <a:spcPts val="600"/>
              </a:spcBef>
              <a:spcAft>
                <a:spcPts val="1200"/>
              </a:spcAft>
            </a:pPr>
            <a:r>
              <a:rPr lang="en-US" sz="2200" dirty="0" smtClean="0">
                <a:latin typeface="Helvetica" pitchFamily="34" charset="0"/>
              </a:rPr>
              <a:t>Preparedness to walk away</a:t>
            </a:r>
          </a:p>
          <a:p>
            <a:pPr marL="360000" indent="-360000">
              <a:spcBef>
                <a:spcPts val="600"/>
              </a:spcBef>
              <a:spcAft>
                <a:spcPts val="1200"/>
              </a:spcAft>
            </a:pPr>
            <a:r>
              <a:rPr lang="en-US" sz="2200" dirty="0" smtClean="0">
                <a:latin typeface="Helvetica" pitchFamily="34" charset="0"/>
              </a:rPr>
              <a:t>Readiness to accept decisions made </a:t>
            </a:r>
            <a:br>
              <a:rPr lang="en-US" sz="2200" dirty="0" smtClean="0">
                <a:latin typeface="Helvetica" pitchFamily="34" charset="0"/>
              </a:rPr>
            </a:br>
            <a:r>
              <a:rPr lang="en-US" sz="2200" dirty="0" smtClean="0">
                <a:latin typeface="Helvetica" pitchFamily="34" charset="0"/>
              </a:rPr>
              <a:t>by communities</a:t>
            </a:r>
          </a:p>
          <a:p>
            <a:pPr marL="360000" indent="-360000">
              <a:spcBef>
                <a:spcPts val="600"/>
              </a:spcBef>
              <a:spcAft>
                <a:spcPts val="1200"/>
              </a:spcAft>
            </a:pPr>
            <a:r>
              <a:rPr lang="en-US" sz="2200" dirty="0" smtClean="0">
                <a:latin typeface="Helvetica" pitchFamily="34" charset="0"/>
              </a:rPr>
              <a:t>Supporting policies and procedures to </a:t>
            </a:r>
            <a:br>
              <a:rPr lang="en-US" sz="2200" dirty="0" smtClean="0">
                <a:latin typeface="Helvetica" pitchFamily="34" charset="0"/>
              </a:rPr>
            </a:br>
            <a:r>
              <a:rPr lang="en-US" sz="2200" dirty="0" smtClean="0">
                <a:latin typeface="Helvetica" pitchFamily="34" charset="0"/>
              </a:rPr>
              <a:t>guide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r="41250"/>
          <a:stretch/>
        </p:blipFill>
        <p:spPr>
          <a:xfrm>
            <a:off x="6516216" y="2574441"/>
            <a:ext cx="1790700" cy="233781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lnSpcReduction="10000"/>
          </a:bodyPr>
          <a:lstStyle/>
          <a:p>
            <a:pPr marL="0" indent="0">
              <a:spcBef>
                <a:spcPts val="600"/>
              </a:spcBef>
              <a:spcAft>
                <a:spcPts val="1200"/>
              </a:spcAft>
              <a:buNone/>
            </a:pPr>
            <a:r>
              <a:rPr lang="en-US" sz="2200" dirty="0" smtClean="0">
                <a:latin typeface="Helvetica" pitchFamily="34" charset="0"/>
              </a:rPr>
              <a:t>Practical ways to demonstrate respect:</a:t>
            </a:r>
          </a:p>
          <a:p>
            <a:pPr marL="360000" indent="-360000">
              <a:spcBef>
                <a:spcPts val="600"/>
              </a:spcBef>
              <a:spcAft>
                <a:spcPts val="1200"/>
              </a:spcAft>
            </a:pPr>
            <a:r>
              <a:rPr lang="en-US" sz="2200" dirty="0" smtClean="0">
                <a:latin typeface="Helvetica" pitchFamily="34" charset="0"/>
              </a:rPr>
              <a:t>Conducting desk-top research before contacting the community</a:t>
            </a:r>
          </a:p>
          <a:p>
            <a:pPr marL="360000" indent="-360000">
              <a:spcBef>
                <a:spcPts val="600"/>
              </a:spcBef>
              <a:spcAft>
                <a:spcPts val="1200"/>
              </a:spcAft>
            </a:pPr>
            <a:r>
              <a:rPr lang="en-US" sz="2200" dirty="0" smtClean="0">
                <a:latin typeface="Helvetica" pitchFamily="34" charset="0"/>
              </a:rPr>
              <a:t>Asking permission to meet </a:t>
            </a:r>
          </a:p>
          <a:p>
            <a:pPr marL="360000" indent="-360000">
              <a:spcBef>
                <a:spcPts val="600"/>
              </a:spcBef>
              <a:spcAft>
                <a:spcPts val="1200"/>
              </a:spcAft>
            </a:pPr>
            <a:r>
              <a:rPr lang="en-US" sz="2200" dirty="0" smtClean="0">
                <a:latin typeface="Helvetica" pitchFamily="34" charset="0"/>
              </a:rPr>
              <a:t>Communicating only with </a:t>
            </a:r>
            <a:br>
              <a:rPr lang="en-US" sz="2200" dirty="0" smtClean="0">
                <a:latin typeface="Helvetica" pitchFamily="34" charset="0"/>
              </a:rPr>
            </a:br>
            <a:r>
              <a:rPr lang="en-US" sz="2200" dirty="0" smtClean="0">
                <a:latin typeface="Helvetica" pitchFamily="34" charset="0"/>
              </a:rPr>
              <a:t>designated persons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2996952"/>
            <a:ext cx="1750518" cy="172951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lnSpcReduction="10000"/>
          </a:bodyPr>
          <a:lstStyle/>
          <a:p>
            <a:pPr marL="360000" indent="-360000">
              <a:spcBef>
                <a:spcPts val="600"/>
              </a:spcBef>
              <a:spcAft>
                <a:spcPts val="1200"/>
              </a:spcAft>
            </a:pPr>
            <a:r>
              <a:rPr lang="en-US" sz="2200" dirty="0" smtClean="0">
                <a:latin typeface="Helvetica" pitchFamily="34" charset="0"/>
              </a:rPr>
              <a:t>Seeking permission to undertake activities</a:t>
            </a:r>
          </a:p>
          <a:p>
            <a:pPr marL="360000" indent="-360000">
              <a:spcBef>
                <a:spcPts val="600"/>
              </a:spcBef>
              <a:spcAft>
                <a:spcPts val="1200"/>
              </a:spcAft>
            </a:pPr>
            <a:r>
              <a:rPr lang="en-US" sz="2200" dirty="0" smtClean="0">
                <a:latin typeface="Helvetica" pitchFamily="34" charset="0"/>
              </a:rPr>
              <a:t>Displaying practices which are culturally aware and sensitive</a:t>
            </a:r>
          </a:p>
          <a:p>
            <a:pPr marL="360000" indent="-360000">
              <a:spcBef>
                <a:spcPts val="600"/>
              </a:spcBef>
              <a:spcAft>
                <a:spcPts val="1200"/>
              </a:spcAft>
            </a:pPr>
            <a:r>
              <a:rPr lang="en-US" sz="2200" dirty="0" smtClean="0">
                <a:latin typeface="Helvetica" pitchFamily="34" charset="0"/>
              </a:rPr>
              <a:t>Giving prior notification of intentions </a:t>
            </a:r>
            <a:br>
              <a:rPr lang="en-US" sz="2200" dirty="0" smtClean="0">
                <a:latin typeface="Helvetica" pitchFamily="34" charset="0"/>
              </a:rPr>
            </a:br>
            <a:r>
              <a:rPr lang="en-US" sz="2200" dirty="0" smtClean="0">
                <a:latin typeface="Helvetica" pitchFamily="34" charset="0"/>
              </a:rPr>
              <a:t>and requests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996952"/>
            <a:ext cx="1956048" cy="19560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Accommodating local communication preferences</a:t>
            </a:r>
          </a:p>
          <a:p>
            <a:pPr marL="360000" indent="-360000">
              <a:spcBef>
                <a:spcPts val="600"/>
              </a:spcBef>
              <a:spcAft>
                <a:spcPts val="1200"/>
              </a:spcAft>
            </a:pPr>
            <a:r>
              <a:rPr lang="en-US" sz="2200" dirty="0" smtClean="0">
                <a:latin typeface="Helvetica" pitchFamily="34" charset="0"/>
              </a:rPr>
              <a:t>Establishing meeting protocols in consultation with the community</a:t>
            </a:r>
          </a:p>
          <a:p>
            <a:pPr marL="360000" indent="-360000">
              <a:spcBef>
                <a:spcPts val="600"/>
              </a:spcBef>
              <a:spcAft>
                <a:spcPts val="1200"/>
              </a:spcAft>
            </a:pPr>
            <a:r>
              <a:rPr lang="en-US" sz="2200" dirty="0" smtClean="0">
                <a:latin typeface="Helvetica" pitchFamily="34" charset="0"/>
              </a:rPr>
              <a:t>Being prepared to pay for their time/contributions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028" y="3861048"/>
            <a:ext cx="2616168" cy="174498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respect for indigenous people and their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Committing in writing to abide by identified protocols which protect and respect the community</a:t>
            </a:r>
          </a:p>
          <a:p>
            <a:pPr marL="360000" indent="-360000">
              <a:spcBef>
                <a:spcPts val="600"/>
              </a:spcBef>
              <a:spcAft>
                <a:spcPts val="1200"/>
              </a:spcAft>
            </a:pPr>
            <a:r>
              <a:rPr lang="en-US" sz="2200" dirty="0" smtClean="0">
                <a:latin typeface="Helvetica" pitchFamily="34" charset="0"/>
              </a:rPr>
              <a:t>Seeking local approval to share information with tour groups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3429000"/>
            <a:ext cx="2228881" cy="215532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Determine how information on indigenous cultures should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0" indent="0">
              <a:spcBef>
                <a:spcPts val="600"/>
              </a:spcBef>
              <a:spcAft>
                <a:spcPts val="1200"/>
              </a:spcAft>
              <a:buNone/>
            </a:pPr>
            <a:r>
              <a:rPr lang="en-US" sz="2200" dirty="0" smtClean="0">
                <a:latin typeface="Helvetica" pitchFamily="34" charset="0"/>
              </a:rPr>
              <a:t>Document meetings with communities to:</a:t>
            </a:r>
          </a:p>
          <a:p>
            <a:pPr marL="360000" indent="-360000">
              <a:spcBef>
                <a:spcPts val="600"/>
              </a:spcBef>
              <a:spcAft>
                <a:spcPts val="1200"/>
              </a:spcAft>
            </a:pPr>
            <a:r>
              <a:rPr lang="en-US" sz="2200" dirty="0" smtClean="0">
                <a:latin typeface="Helvetica" pitchFamily="34" charset="0"/>
              </a:rPr>
              <a:t>Provide a basis for future reference</a:t>
            </a:r>
          </a:p>
          <a:p>
            <a:pPr marL="360000" indent="-360000">
              <a:spcBef>
                <a:spcPts val="600"/>
              </a:spcBef>
              <a:spcAft>
                <a:spcPts val="1200"/>
              </a:spcAft>
            </a:pPr>
            <a:r>
              <a:rPr lang="en-US" sz="2200" dirty="0" smtClean="0">
                <a:latin typeface="Helvetica" pitchFamily="34" charset="0"/>
              </a:rPr>
              <a:t>Show evidence of the consultative process</a:t>
            </a:r>
          </a:p>
          <a:p>
            <a:pPr marL="360000" indent="-360000">
              <a:spcBef>
                <a:spcPts val="600"/>
              </a:spcBef>
              <a:spcAft>
                <a:spcPts val="1200"/>
              </a:spcAft>
            </a:pPr>
            <a:r>
              <a:rPr lang="en-US" sz="2200" dirty="0" smtClean="0">
                <a:latin typeface="Helvetica" pitchFamily="34" charset="0"/>
              </a:rPr>
              <a:t>Create growing body of knowledge/information</a:t>
            </a:r>
          </a:p>
          <a:p>
            <a:pPr marL="360000" indent="-360000">
              <a:spcBef>
                <a:spcPts val="600"/>
              </a:spcBef>
              <a:spcAft>
                <a:spcPts val="1200"/>
              </a:spcAft>
            </a:pPr>
            <a:r>
              <a:rPr lang="en-US" sz="2200" dirty="0" smtClean="0">
                <a:latin typeface="Helvetica" pitchFamily="34" charset="0"/>
              </a:rPr>
              <a:t>Generate a document for sharing </a:t>
            </a:r>
            <a:br>
              <a:rPr lang="en-US" sz="2200" dirty="0" smtClean="0">
                <a:latin typeface="Helvetica" pitchFamily="34" charset="0"/>
              </a:rPr>
            </a:br>
            <a:r>
              <a:rPr lang="en-US" sz="2200" dirty="0" smtClean="0">
                <a:latin typeface="Helvetica" pitchFamily="34" charset="0"/>
              </a:rPr>
              <a:t>with others</a:t>
            </a:r>
          </a:p>
          <a:p>
            <a:pPr marL="360000" indent="-360000">
              <a:spcBef>
                <a:spcPts val="600"/>
              </a:spcBef>
              <a:spcAft>
                <a:spcPts val="1200"/>
              </a:spcAft>
            </a:pPr>
            <a:r>
              <a:rPr lang="en-US" sz="2200" dirty="0" smtClean="0">
                <a:latin typeface="Helvetica" pitchFamily="34" charset="0"/>
              </a:rPr>
              <a:t>Show respect for the consultative </a:t>
            </a:r>
            <a:br>
              <a:rPr lang="en-US" sz="2200" dirty="0" smtClean="0">
                <a:latin typeface="Helvetica" pitchFamily="34" charset="0"/>
              </a:rPr>
            </a:br>
            <a:r>
              <a:rPr lang="en-US" sz="2200" dirty="0" smtClean="0">
                <a:latin typeface="Helvetica" pitchFamily="34" charset="0"/>
              </a:rPr>
              <a:t>process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077072"/>
            <a:ext cx="2400252" cy="160096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Determine how information on indigenous cultures should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smtClean="0">
                <a:latin typeface="Helvetica" pitchFamily="34" charset="0"/>
              </a:rPr>
              <a:t>Determining acceptable use of information sourced from indigenous cultures and communities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Differentiating between, and agreeing about, material which is already in the public domain</a:t>
            </a:r>
          </a:p>
          <a:p>
            <a:pPr marL="360000" indent="-360000">
              <a:spcBef>
                <a:spcPts val="600"/>
              </a:spcBef>
              <a:spcAft>
                <a:spcPts val="1200"/>
              </a:spcAft>
            </a:pPr>
            <a:r>
              <a:rPr lang="en-AU" sz="2200" dirty="0" smtClean="0">
                <a:latin typeface="Helvetica" pitchFamily="34" charset="0"/>
              </a:rPr>
              <a:t>Establishing a schedule for communication</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4221088"/>
            <a:ext cx="2092796" cy="14607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Determine how information on indigenous cultures should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AU" sz="2200" dirty="0" smtClean="0">
                <a:latin typeface="Helvetica" pitchFamily="34" charset="0"/>
              </a:rPr>
              <a:t>Informing the community of the specifics of Tour Operator intention to use material and information provided </a:t>
            </a:r>
            <a:r>
              <a:rPr lang="en-AU" sz="2200" b="1" dirty="0" smtClean="0">
                <a:latin typeface="Helvetica" pitchFamily="34" charset="0"/>
              </a:rPr>
              <a:t>before </a:t>
            </a:r>
            <a:r>
              <a:rPr lang="en-AU" sz="2200" dirty="0" smtClean="0">
                <a:latin typeface="Helvetica" pitchFamily="34" charset="0"/>
              </a:rPr>
              <a:t>research and meetings commence</a:t>
            </a:r>
          </a:p>
          <a:p>
            <a:pPr marL="360000" indent="-360000">
              <a:spcBef>
                <a:spcPts val="600"/>
              </a:spcBef>
              <a:spcAft>
                <a:spcPts val="1200"/>
              </a:spcAft>
            </a:pPr>
            <a:r>
              <a:rPr lang="en-AU" sz="2200" dirty="0" smtClean="0">
                <a:latin typeface="Helvetica" pitchFamily="34" charset="0"/>
              </a:rPr>
              <a:t>Verifying with the indigenous community </a:t>
            </a:r>
            <a:br>
              <a:rPr lang="en-AU" sz="2200" dirty="0" smtClean="0">
                <a:latin typeface="Helvetica" pitchFamily="34" charset="0"/>
              </a:rPr>
            </a:br>
            <a:r>
              <a:rPr lang="en-AU" sz="2200" dirty="0" smtClean="0">
                <a:latin typeface="Helvetica" pitchFamily="34" charset="0"/>
              </a:rPr>
              <a:t>that researched information has </a:t>
            </a:r>
            <a:br>
              <a:rPr lang="en-AU" sz="2200" dirty="0" smtClean="0">
                <a:latin typeface="Helvetica" pitchFamily="34" charset="0"/>
              </a:rPr>
            </a:br>
            <a:r>
              <a:rPr lang="en-AU" sz="2200" dirty="0" smtClean="0">
                <a:latin typeface="Helvetica" pitchFamily="34" charset="0"/>
              </a:rPr>
              <a:t>been correctly interpreted</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0107" y="2996952"/>
            <a:ext cx="1984811" cy="203988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Determine how information on indigenous cultures should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360000" indent="-360000">
              <a:spcBef>
                <a:spcPts val="600"/>
              </a:spcBef>
              <a:spcAft>
                <a:spcPts val="1200"/>
              </a:spcAft>
            </a:pPr>
            <a:r>
              <a:rPr lang="en-AU" sz="2200" dirty="0" smtClean="0">
                <a:latin typeface="Helvetica" pitchFamily="34" charset="0"/>
              </a:rPr>
              <a:t>Understanding with all communities there will nearly always be a range of sensitive and/or contentious issues</a:t>
            </a:r>
          </a:p>
          <a:p>
            <a:pPr marL="360000" indent="-360000">
              <a:spcBef>
                <a:spcPts val="600"/>
              </a:spcBef>
              <a:spcAft>
                <a:spcPts val="1200"/>
              </a:spcAft>
            </a:pPr>
            <a:r>
              <a:rPr lang="en-AU" sz="2200" dirty="0" smtClean="0">
                <a:latin typeface="Helvetica" pitchFamily="34" charset="0"/>
              </a:rPr>
              <a:t>Never making assumptions relating to the </a:t>
            </a:r>
            <a:br>
              <a:rPr lang="en-AU" sz="2200" dirty="0" smtClean="0">
                <a:latin typeface="Helvetica" pitchFamily="34" charset="0"/>
              </a:rPr>
            </a:br>
            <a:r>
              <a:rPr lang="en-AU" sz="2200" dirty="0" smtClean="0">
                <a:latin typeface="Helvetica" pitchFamily="34" charset="0"/>
              </a:rPr>
              <a:t>community and the information it provides</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0926" y="2780928"/>
            <a:ext cx="1443009" cy="215686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Determine how information on indigenous cultures should be used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Checking material researched through desk-top procedures and via primary research techniques</a:t>
            </a:r>
          </a:p>
          <a:p>
            <a:pPr marL="360000" indent="-360000">
              <a:spcBef>
                <a:spcPts val="600"/>
              </a:spcBef>
              <a:spcAft>
                <a:spcPts val="1200"/>
              </a:spcAft>
            </a:pPr>
            <a:r>
              <a:rPr lang="en-AU" sz="2200" dirty="0" smtClean="0">
                <a:latin typeface="Helvetica" pitchFamily="34" charset="0"/>
              </a:rPr>
              <a:t>Deciding on follow-up protocols</a:t>
            </a:r>
          </a:p>
          <a:p>
            <a:pPr marL="360000" indent="-360000">
              <a:spcBef>
                <a:spcPts val="600"/>
              </a:spcBef>
              <a:spcAft>
                <a:spcPts val="1200"/>
              </a:spcAft>
            </a:pPr>
            <a:r>
              <a:rPr lang="en-AU" sz="2200" dirty="0" smtClean="0">
                <a:latin typeface="Helvetica" pitchFamily="34" charset="0"/>
              </a:rPr>
              <a:t>Developing an ongoing rapport/connection with the local people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6919" y="4149080"/>
            <a:ext cx="1907029" cy="127198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researching information on indigenous cultures</a:t>
            </a:r>
            <a:r>
              <a:rPr lang="en-US" sz="2200" dirty="0" smtClean="0">
                <a:latin typeface="Helvetica" pitchFamily="34" charset="0"/>
              </a:rPr>
              <a:t>:</a:t>
            </a:r>
          </a:p>
          <a:p>
            <a:r>
              <a:rPr lang="en-AU" sz="2200" dirty="0" smtClean="0">
                <a:latin typeface="Helvetica" pitchFamily="34" charset="0"/>
              </a:rPr>
              <a:t>Understand the organisational definitions of relevant terms</a:t>
            </a:r>
          </a:p>
          <a:p>
            <a:endParaRPr lang="en-AU" sz="2200" dirty="0" smtClean="0">
              <a:latin typeface="Helvetica" pitchFamily="34" charset="0"/>
            </a:endParaRPr>
          </a:p>
          <a:p>
            <a:r>
              <a:rPr lang="en-AU" sz="2200" dirty="0" smtClean="0">
                <a:latin typeface="Helvetica" pitchFamily="34" charset="0"/>
              </a:rPr>
              <a:t>Identify the specific countries, cultures and communities which need to be researched</a:t>
            </a:r>
          </a:p>
          <a:p>
            <a:endParaRPr lang="en-AU" sz="2200" dirty="0" smtClean="0">
              <a:latin typeface="Helvetica" pitchFamily="34" charset="0"/>
            </a:endParaRPr>
          </a:p>
          <a:p>
            <a:r>
              <a:rPr lang="en-AU" sz="2200" dirty="0" smtClean="0">
                <a:latin typeface="Helvetica" pitchFamily="34" charset="0"/>
              </a:rPr>
              <a:t>Work to understand the overall context of </a:t>
            </a:r>
            <a:br>
              <a:rPr lang="en-AU" sz="2200" dirty="0" smtClean="0">
                <a:latin typeface="Helvetica" pitchFamily="34" charset="0"/>
              </a:rPr>
            </a:br>
            <a:r>
              <a:rPr lang="en-AU" sz="2200" dirty="0" smtClean="0">
                <a:latin typeface="Helvetica" pitchFamily="34" charset="0"/>
              </a:rPr>
              <a:t>tourism relating to indigenous people</a:t>
            </a: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12" descr="MCj04298290000[1]"/>
          <p:cNvPicPr>
            <a:picLocks noChangeAspect="1" noChangeArrowheads="1"/>
          </p:cNvPicPr>
          <p:nvPr/>
        </p:nvPicPr>
        <p:blipFill>
          <a:blip r:embed="rId3" cstate="print"/>
          <a:srcRect/>
          <a:stretch>
            <a:fillRect/>
          </a:stretch>
        </p:blipFill>
        <p:spPr bwMode="auto">
          <a:xfrm>
            <a:off x="6804248" y="3828204"/>
            <a:ext cx="1484635" cy="1349203"/>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a:bodyPr>
          <a:lstStyle/>
          <a:p>
            <a:r>
              <a:rPr lang="en-AU" sz="2200" dirty="0" smtClean="0">
                <a:latin typeface="Helvetica" pitchFamily="34" charset="0"/>
              </a:rPr>
              <a:t>Speak to management and other Tour Guides to identify suitable sources of information on indigenous people</a:t>
            </a:r>
          </a:p>
          <a:p>
            <a:endParaRPr lang="en-AU" sz="2200" dirty="0" smtClean="0">
              <a:latin typeface="Helvetica" pitchFamily="34" charset="0"/>
            </a:endParaRPr>
          </a:p>
          <a:p>
            <a:r>
              <a:rPr lang="en-AU" sz="2200" dirty="0" smtClean="0">
                <a:latin typeface="Helvetica" pitchFamily="34" charset="0"/>
              </a:rPr>
              <a:t>Seek to identify and use multiple information sources on indigenous people</a:t>
            </a:r>
          </a:p>
          <a:p>
            <a:endParaRPr lang="en-AU" sz="2200" dirty="0" smtClean="0">
              <a:latin typeface="Helvetica" pitchFamily="34" charset="0"/>
            </a:endParaRPr>
          </a:p>
          <a:p>
            <a:r>
              <a:rPr lang="en-AU" sz="2200" dirty="0" smtClean="0">
                <a:latin typeface="Helvetica" pitchFamily="34" charset="0"/>
              </a:rPr>
              <a:t>Be proactive in undertaking research</a:t>
            </a:r>
          </a:p>
          <a:p>
            <a:endParaRPr lang="en-AU" sz="2200" dirty="0">
              <a:latin typeface="Helvetica" pitchFamily="34" charset="0"/>
            </a:endParaRP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04248" y="3828204"/>
            <a:ext cx="1484635" cy="1349203"/>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r>
              <a:rPr lang="en-AU" sz="2200" dirty="0" smtClean="0">
                <a:latin typeface="Helvetica" pitchFamily="34" charset="0"/>
              </a:rPr>
              <a:t>Seek to generate qualitative and quantitative data as a result of the research</a:t>
            </a:r>
          </a:p>
          <a:p>
            <a:endParaRPr lang="en-AU" sz="2200" dirty="0" smtClean="0">
              <a:latin typeface="Helvetica" pitchFamily="34" charset="0"/>
            </a:endParaRPr>
          </a:p>
          <a:p>
            <a:r>
              <a:rPr lang="en-AU" sz="2200" dirty="0" smtClean="0">
                <a:latin typeface="Helvetica" pitchFamily="34" charset="0"/>
              </a:rPr>
              <a:t>Begin the research with secondary research/desk-top research</a:t>
            </a:r>
          </a:p>
          <a:p>
            <a:endParaRPr lang="en-AU" sz="2200" dirty="0" smtClean="0">
              <a:latin typeface="Helvetica" pitchFamily="34" charset="0"/>
            </a:endParaRPr>
          </a:p>
          <a:p>
            <a:r>
              <a:rPr lang="en-AU" sz="2200" dirty="0" smtClean="0">
                <a:latin typeface="Helvetica" pitchFamily="34" charset="0"/>
              </a:rPr>
              <a:t>Allocate sufficient time and resources </a:t>
            </a:r>
            <a:br>
              <a:rPr lang="en-AU" sz="2200" dirty="0" smtClean="0">
                <a:latin typeface="Helvetica" pitchFamily="34" charset="0"/>
              </a:rPr>
            </a:br>
            <a:r>
              <a:rPr lang="en-AU" sz="2200" dirty="0" smtClean="0">
                <a:latin typeface="Helvetica" pitchFamily="34" charset="0"/>
              </a:rPr>
              <a:t>to research</a:t>
            </a:r>
          </a:p>
          <a:p>
            <a:endParaRPr lang="en-AU" sz="2200" dirty="0">
              <a:latin typeface="Helvetica" pitchFamily="34" charset="0"/>
            </a:endParaRP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04248" y="3828204"/>
            <a:ext cx="1484635" cy="1349203"/>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a:bodyPr>
          <a:lstStyle/>
          <a:p>
            <a:r>
              <a:rPr lang="en-AU" sz="2200" dirty="0" smtClean="0">
                <a:latin typeface="Helvetica" pitchFamily="34" charset="0"/>
              </a:rPr>
              <a:t>Take notes and record sources of information </a:t>
            </a:r>
          </a:p>
          <a:p>
            <a:endParaRPr lang="en-AU" sz="2200" dirty="0" smtClean="0">
              <a:latin typeface="Helvetica" pitchFamily="34" charset="0"/>
            </a:endParaRPr>
          </a:p>
          <a:p>
            <a:r>
              <a:rPr lang="en-AU" sz="2200" dirty="0" smtClean="0">
                <a:latin typeface="Helvetica" pitchFamily="34" charset="0"/>
              </a:rPr>
              <a:t>Engage indigenous people and visit their countries and communities</a:t>
            </a:r>
          </a:p>
          <a:p>
            <a:endParaRPr lang="en-AU" sz="2200" dirty="0" smtClean="0">
              <a:latin typeface="Helvetica" pitchFamily="34" charset="0"/>
            </a:endParaRPr>
          </a:p>
          <a:p>
            <a:r>
              <a:rPr lang="en-AU" sz="2200" dirty="0" smtClean="0">
                <a:latin typeface="Helvetica" pitchFamily="34" charset="0"/>
              </a:rPr>
              <a:t>Speak with industry bodies and authorities</a:t>
            </a:r>
          </a:p>
          <a:p>
            <a:endParaRPr lang="en-AU" sz="2200" dirty="0">
              <a:latin typeface="Helvetica" pitchFamily="34" charset="0"/>
            </a:endParaRP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04248" y="3828204"/>
            <a:ext cx="1484635" cy="1349203"/>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r>
              <a:rPr lang="en-AU" sz="2200" dirty="0" smtClean="0">
                <a:latin typeface="Helvetica" pitchFamily="34" charset="0"/>
              </a:rPr>
              <a:t>Gather information on topics which are likely to be the focus of tours and  interpretive activities for the Tour Operator</a:t>
            </a:r>
          </a:p>
          <a:p>
            <a:endParaRPr lang="en-AU" sz="2200" dirty="0" smtClean="0">
              <a:latin typeface="Helvetica" pitchFamily="34" charset="0"/>
            </a:endParaRPr>
          </a:p>
          <a:p>
            <a:r>
              <a:rPr lang="en-AU" sz="2200" dirty="0" smtClean="0">
                <a:latin typeface="Helvetica" pitchFamily="34" charset="0"/>
              </a:rPr>
              <a:t>Always demonstrate respect for indigenous people and their culture/s</a:t>
            </a:r>
          </a:p>
          <a:p>
            <a:endParaRPr lang="en-AU" sz="2200" dirty="0" smtClean="0">
              <a:latin typeface="Helvetica" pitchFamily="34" charset="0"/>
            </a:endParaRPr>
          </a:p>
          <a:p>
            <a:r>
              <a:rPr lang="en-AU" sz="2200" dirty="0" smtClean="0">
                <a:latin typeface="Helvetica" pitchFamily="34" charset="0"/>
              </a:rPr>
              <a:t>Document all talks and meetings with </a:t>
            </a:r>
            <a:br>
              <a:rPr lang="en-AU" sz="2200" dirty="0" smtClean="0">
                <a:latin typeface="Helvetica" pitchFamily="34" charset="0"/>
              </a:rPr>
            </a:br>
            <a:r>
              <a:rPr lang="en-AU" sz="2200" dirty="0" smtClean="0">
                <a:latin typeface="Helvetica" pitchFamily="34" charset="0"/>
              </a:rPr>
              <a:t>indigenous people</a:t>
            </a:r>
          </a:p>
          <a:p>
            <a:endParaRPr lang="en-AU" sz="2200" dirty="0" smtClean="0">
              <a:latin typeface="Helvetica" pitchFamily="34" charset="0"/>
            </a:endParaRPr>
          </a:p>
          <a:p>
            <a:endParaRPr lang="en-AU" sz="2200" dirty="0" smtClean="0">
              <a:latin typeface="Helvetica" pitchFamily="34" charset="0"/>
            </a:endParaRPr>
          </a:p>
          <a:p>
            <a:pPr>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04248" y="3807989"/>
            <a:ext cx="1484635" cy="1349203"/>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r>
              <a:rPr lang="en-AU" sz="2200" dirty="0" smtClean="0">
                <a:latin typeface="Helvetica" pitchFamily="34" charset="0"/>
              </a:rPr>
              <a:t>Determine acceptable use of the information provided by indigenous people </a:t>
            </a:r>
          </a:p>
          <a:p>
            <a:endParaRPr lang="en-AU" sz="2200" dirty="0" smtClean="0">
              <a:latin typeface="Helvetica" pitchFamily="34" charset="0"/>
            </a:endParaRPr>
          </a:p>
          <a:p>
            <a:r>
              <a:rPr lang="en-AU" sz="2200" dirty="0" smtClean="0">
                <a:latin typeface="Helvetica" pitchFamily="34" charset="0"/>
              </a:rPr>
              <a:t>Never assume all information learned can be freely shared with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04248" y="3807989"/>
            <a:ext cx="1484635" cy="1349203"/>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a:t>
            </a:r>
            <a:r>
              <a:rPr lang="en-AU" sz="3400" b="1" dirty="0" smtClean="0">
                <a:solidFill>
                  <a:srgbClr val="FF6600"/>
                </a:solidFill>
                <a:latin typeface="Helvetica" pitchFamily="34" charset="0"/>
              </a:rPr>
              <a:t>Share information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fontScale="925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Communicate general knowledge to colleagues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Use indigenous guides and/or interpreters where possible</a:t>
            </a:r>
          </a:p>
          <a:p>
            <a:pPr marL="360000" indent="-360000">
              <a:spcBef>
                <a:spcPts val="600"/>
              </a:spcBef>
              <a:spcAft>
                <a:spcPts val="1200"/>
              </a:spcAft>
            </a:pPr>
            <a:r>
              <a:rPr lang="en-AU" sz="2200" dirty="0" smtClean="0">
                <a:latin typeface="Helvetica" pitchFamily="34" charset="0"/>
              </a:rPr>
              <a:t>Brief tour groups regarding appropriate behaviour </a:t>
            </a:r>
            <a:br>
              <a:rPr lang="en-AU" sz="2200" dirty="0" smtClean="0">
                <a:latin typeface="Helvetica" pitchFamily="34" charset="0"/>
              </a:rPr>
            </a:br>
            <a:r>
              <a:rPr lang="en-AU" sz="2200" dirty="0" smtClean="0">
                <a:latin typeface="Helvetica" pitchFamily="34" charset="0"/>
              </a:rPr>
              <a:t>when interacting with indigenous people</a:t>
            </a:r>
          </a:p>
          <a:p>
            <a:pPr marL="360000" indent="-360000">
              <a:spcBef>
                <a:spcPts val="600"/>
              </a:spcBef>
              <a:spcAft>
                <a:spcPts val="1200"/>
              </a:spcAft>
            </a:pPr>
            <a:r>
              <a:rPr lang="en-AU" sz="2200" dirty="0" smtClean="0">
                <a:latin typeface="Helvetica" pitchFamily="34" charset="0"/>
              </a:rPr>
              <a:t>Communicate general knowledge to tour groups</a:t>
            </a:r>
          </a:p>
          <a:p>
            <a:pPr marL="360000" indent="-360000">
              <a:spcBef>
                <a:spcPts val="600"/>
              </a:spcBef>
              <a:spcAft>
                <a:spcPts val="1200"/>
              </a:spcAft>
            </a:pPr>
            <a:r>
              <a:rPr lang="en-AU" sz="2200" dirty="0" smtClean="0">
                <a:latin typeface="Helvetica" pitchFamily="34" charset="0"/>
              </a:rPr>
              <a:t>Reply to tour group questions on indigenous cultures</a:t>
            </a:r>
          </a:p>
          <a:p>
            <a:pPr marL="360000" indent="-360000">
              <a:spcBef>
                <a:spcPts val="600"/>
              </a:spcBef>
              <a:spcAft>
                <a:spcPts val="1200"/>
              </a:spcAft>
            </a:pPr>
            <a:r>
              <a:rPr lang="en-AU" sz="2200" dirty="0" smtClean="0">
                <a:latin typeface="Helvetica" pitchFamily="34" charset="0"/>
              </a:rPr>
              <a:t>Monitor and respond to culturally inappropriate behaviour</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7108" y="3212976"/>
            <a:ext cx="977559" cy="17773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Reasons to share research information with colleagues:</a:t>
            </a:r>
          </a:p>
          <a:p>
            <a:pPr marL="360000" indent="-360000">
              <a:spcBef>
                <a:spcPts val="600"/>
              </a:spcBef>
              <a:spcAft>
                <a:spcPts val="1200"/>
              </a:spcAft>
            </a:pPr>
            <a:r>
              <a:rPr lang="en-AU" sz="2200" dirty="0" smtClean="0">
                <a:latin typeface="Helvetica" pitchFamily="34" charset="0"/>
              </a:rPr>
              <a:t>To demonstrate evidence regarding the time and effort spent undertaking the research</a:t>
            </a:r>
          </a:p>
          <a:p>
            <a:pPr marL="360000" indent="-360000">
              <a:spcBef>
                <a:spcPts val="600"/>
              </a:spcBef>
              <a:spcAft>
                <a:spcPts val="1200"/>
              </a:spcAft>
            </a:pPr>
            <a:r>
              <a:rPr lang="en-AU" sz="2200" dirty="0" smtClean="0">
                <a:latin typeface="Helvetica" pitchFamily="34" charset="0"/>
              </a:rPr>
              <a:t>To provide general background knowledge about the intentions of the Tour Operator</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4077072"/>
            <a:ext cx="2455829" cy="149314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To explain relevant other matters</a:t>
            </a:r>
          </a:p>
          <a:p>
            <a:pPr marL="360000" indent="-360000">
              <a:spcBef>
                <a:spcPts val="600"/>
              </a:spcBef>
              <a:spcAft>
                <a:spcPts val="1200"/>
              </a:spcAft>
            </a:pPr>
            <a:r>
              <a:rPr lang="en-AU" sz="2200" dirty="0" smtClean="0">
                <a:latin typeface="Helvetica" pitchFamily="34" charset="0"/>
              </a:rPr>
              <a:t>To make sure relevant others have full knowledge of all material gained</a:t>
            </a:r>
          </a:p>
          <a:p>
            <a:pPr marL="360000" indent="-360000">
              <a:spcBef>
                <a:spcPts val="600"/>
              </a:spcBef>
              <a:spcAft>
                <a:spcPts val="1200"/>
              </a:spcAft>
            </a:pPr>
            <a:r>
              <a:rPr lang="en-AU" sz="2200" dirty="0" smtClean="0">
                <a:latin typeface="Helvetica" pitchFamily="34" charset="0"/>
              </a:rPr>
              <a:t>To foster a culture of sharing and consultation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1180" y="4077072"/>
            <a:ext cx="2292294" cy="152896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Strategies for sharing information with colleagues commonly involves:</a:t>
            </a:r>
          </a:p>
          <a:p>
            <a:pPr marL="360000" indent="-360000">
              <a:spcBef>
                <a:spcPts val="600"/>
              </a:spcBef>
              <a:spcAft>
                <a:spcPts val="1200"/>
              </a:spcAft>
            </a:pPr>
            <a:r>
              <a:rPr lang="en-US" sz="2200" dirty="0" smtClean="0">
                <a:latin typeface="Helvetica" pitchFamily="34" charset="0"/>
              </a:rPr>
              <a:t>Internal communication – conducted </a:t>
            </a:r>
            <a:br>
              <a:rPr lang="en-US" sz="2200" dirty="0" smtClean="0">
                <a:latin typeface="Helvetica" pitchFamily="34" charset="0"/>
              </a:rPr>
            </a:br>
            <a:r>
              <a:rPr lang="en-US" sz="2200" dirty="0" smtClean="0">
                <a:latin typeface="Helvetica" pitchFamily="34" charset="0"/>
              </a:rPr>
              <a:t>on-the-job/within the Tour Operator </a:t>
            </a:r>
            <a:br>
              <a:rPr lang="en-US" sz="2200" dirty="0" smtClean="0">
                <a:latin typeface="Helvetica" pitchFamily="34" charset="0"/>
              </a:rPr>
            </a:br>
            <a:r>
              <a:rPr lang="en-US" sz="2200" dirty="0" smtClean="0">
                <a:latin typeface="Helvetica" pitchFamily="34" charset="0"/>
              </a:rPr>
              <a:t>business</a:t>
            </a:r>
          </a:p>
          <a:p>
            <a:pPr marL="360000" indent="-360000">
              <a:spcBef>
                <a:spcPts val="600"/>
              </a:spcBef>
              <a:spcAft>
                <a:spcPts val="1200"/>
              </a:spcAft>
            </a:pPr>
            <a:r>
              <a:rPr lang="en-US" sz="2200" dirty="0" smtClean="0">
                <a:latin typeface="Helvetica" pitchFamily="34" charset="0"/>
              </a:rPr>
              <a:t>External communication – conducted </a:t>
            </a:r>
            <a:br>
              <a:rPr lang="en-US" sz="2200" dirty="0" smtClean="0">
                <a:latin typeface="Helvetica" pitchFamily="34" charset="0"/>
              </a:rPr>
            </a:br>
            <a:r>
              <a:rPr lang="en-US" sz="2200" dirty="0" smtClean="0">
                <a:latin typeface="Helvetica" pitchFamily="34" charset="0"/>
              </a:rPr>
              <a:t>‘in country’ at the indigenous community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2132856"/>
            <a:ext cx="1879975" cy="254394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rmAutofit/>
          </a:bodyPr>
          <a:lstStyle/>
          <a:p>
            <a:pPr marL="0" indent="0">
              <a:spcBef>
                <a:spcPts val="600"/>
              </a:spcBef>
              <a:spcAft>
                <a:spcPts val="1200"/>
              </a:spcAft>
              <a:buNone/>
            </a:pPr>
            <a:r>
              <a:rPr lang="en-US" sz="2200" dirty="0" smtClean="0">
                <a:latin typeface="Helvetica" pitchFamily="34" charset="0"/>
              </a:rPr>
              <a:t>Internal communication/sharing generally:</a:t>
            </a:r>
          </a:p>
          <a:p>
            <a:pPr marL="360000" indent="-360000">
              <a:spcBef>
                <a:spcPts val="600"/>
              </a:spcBef>
              <a:spcAft>
                <a:spcPts val="1200"/>
              </a:spcAft>
            </a:pPr>
            <a:r>
              <a:rPr lang="en-US" sz="2200" dirty="0" smtClean="0">
                <a:latin typeface="Helvetica" pitchFamily="34" charset="0"/>
              </a:rPr>
              <a:t>Precedes external communication procedures</a:t>
            </a:r>
          </a:p>
          <a:p>
            <a:pPr marL="360000" indent="-360000">
              <a:spcBef>
                <a:spcPts val="600"/>
              </a:spcBef>
              <a:spcAft>
                <a:spcPts val="1200"/>
              </a:spcAft>
            </a:pPr>
            <a:r>
              <a:rPr lang="en-US" sz="2200" dirty="0" smtClean="0">
                <a:latin typeface="Helvetica" pitchFamily="34" charset="0"/>
              </a:rPr>
              <a:t>Involves more people/everyone associated with any aspect of proposed tours and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3878" y="3933056"/>
            <a:ext cx="2508210" cy="1672976"/>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200" dirty="0" smtClean="0">
                <a:latin typeface="Helvetica" pitchFamily="34" charset="0"/>
              </a:rPr>
              <a:t>Strategies for internal communication/sharing:</a:t>
            </a:r>
          </a:p>
          <a:p>
            <a:pPr marL="360000" indent="-360000">
              <a:spcBef>
                <a:spcPts val="600"/>
              </a:spcBef>
              <a:spcAft>
                <a:spcPts val="1200"/>
              </a:spcAft>
            </a:pPr>
            <a:r>
              <a:rPr lang="en-US" sz="2200" dirty="0" smtClean="0">
                <a:latin typeface="Helvetica" pitchFamily="34" charset="0"/>
              </a:rPr>
              <a:t>Scheduling sessions – where and when; who will attend</a:t>
            </a:r>
          </a:p>
          <a:p>
            <a:pPr marL="360000" indent="-360000">
              <a:spcBef>
                <a:spcPts val="600"/>
              </a:spcBef>
              <a:spcAft>
                <a:spcPts val="1200"/>
              </a:spcAft>
            </a:pPr>
            <a:r>
              <a:rPr lang="en-US" sz="2200" dirty="0" smtClean="0">
                <a:latin typeface="Helvetica" pitchFamily="34" charset="0"/>
              </a:rPr>
              <a:t>Planning sessions – content, sequence, </a:t>
            </a:r>
            <a:br>
              <a:rPr lang="en-US" sz="2200" dirty="0" smtClean="0">
                <a:latin typeface="Helvetica" pitchFamily="34" charset="0"/>
              </a:rPr>
            </a:br>
            <a:r>
              <a:rPr lang="en-US" sz="2200" dirty="0" smtClean="0">
                <a:latin typeface="Helvetica" pitchFamily="34" charset="0"/>
              </a:rPr>
              <a:t>duration, method/s of presentation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176" y="2852936"/>
            <a:ext cx="1935857" cy="193585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7467600" cy="4021907"/>
          </a:xfrm>
        </p:spPr>
        <p:txBody>
          <a:bodyPr>
            <a:normAutofit/>
          </a:bodyPr>
          <a:lstStyle/>
          <a:p>
            <a:pPr marL="360000" indent="-360000">
              <a:spcBef>
                <a:spcPts val="600"/>
              </a:spcBef>
              <a:spcAft>
                <a:spcPts val="1200"/>
              </a:spcAft>
            </a:pPr>
            <a:r>
              <a:rPr lang="en-US" sz="2200" dirty="0" smtClean="0">
                <a:latin typeface="Helvetica" pitchFamily="34" charset="0"/>
              </a:rPr>
              <a:t>Developing materials to be used as part of the presentation – slides, handouts, videos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3068960"/>
            <a:ext cx="1757941" cy="263691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360000" indent="-360000">
              <a:spcBef>
                <a:spcPts val="600"/>
              </a:spcBef>
              <a:spcAft>
                <a:spcPts val="1200"/>
              </a:spcAft>
            </a:pPr>
            <a:r>
              <a:rPr lang="en-US" sz="2200" dirty="0" smtClean="0">
                <a:latin typeface="Helvetica" pitchFamily="34" charset="0"/>
              </a:rPr>
              <a:t>Conducting the session – as planned to share relevant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9832" y="2924944"/>
            <a:ext cx="2500808" cy="187560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External communication/sharing generally:</a:t>
            </a:r>
          </a:p>
          <a:p>
            <a:pPr marL="360000" indent="-360000">
              <a:spcBef>
                <a:spcPts val="600"/>
              </a:spcBef>
              <a:spcAft>
                <a:spcPts val="1200"/>
              </a:spcAft>
            </a:pPr>
            <a:r>
              <a:rPr lang="en-US" sz="2200" dirty="0" smtClean="0">
                <a:latin typeface="Helvetica" pitchFamily="34" charset="0"/>
              </a:rPr>
              <a:t>Follows after internal communication/sharing</a:t>
            </a:r>
          </a:p>
          <a:p>
            <a:pPr marL="360000" indent="-360000">
              <a:spcBef>
                <a:spcPts val="600"/>
              </a:spcBef>
              <a:spcAft>
                <a:spcPts val="1200"/>
              </a:spcAft>
            </a:pPr>
            <a:r>
              <a:rPr lang="en-US" sz="2200" dirty="0" smtClean="0">
                <a:latin typeface="Helvetica" pitchFamily="34" charset="0"/>
              </a:rPr>
              <a:t>Involved fewer people – focussing on operational staff directly involved in proposed tours, activities and selling/promotional tasks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3917706"/>
            <a:ext cx="2555775" cy="169749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Strategies for external communication/sharing :</a:t>
            </a:r>
          </a:p>
          <a:p>
            <a:pPr marL="360000" indent="-360000">
              <a:spcBef>
                <a:spcPts val="600"/>
              </a:spcBef>
              <a:spcAft>
                <a:spcPts val="1200"/>
              </a:spcAft>
            </a:pPr>
            <a:r>
              <a:rPr lang="en-AU" sz="2200" dirty="0" smtClean="0">
                <a:latin typeface="Helvetica" pitchFamily="34" charset="0"/>
              </a:rPr>
              <a:t>Determining persons who are to attend</a:t>
            </a:r>
          </a:p>
          <a:p>
            <a:pPr marL="360000" indent="-360000">
              <a:spcBef>
                <a:spcPts val="600"/>
              </a:spcBef>
              <a:spcAft>
                <a:spcPts val="1200"/>
              </a:spcAft>
            </a:pPr>
            <a:r>
              <a:rPr lang="en-AU" sz="2200" dirty="0" smtClean="0">
                <a:latin typeface="Helvetica" pitchFamily="34" charset="0"/>
              </a:rPr>
              <a:t>Requesting permission from the community to visit them and introduce nominated staff</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124956"/>
            <a:ext cx="2310760" cy="1541277"/>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Arranging necessary travel arrangements</a:t>
            </a:r>
          </a:p>
          <a:p>
            <a:pPr marL="360000" indent="-360000">
              <a:spcBef>
                <a:spcPts val="600"/>
              </a:spcBef>
              <a:spcAft>
                <a:spcPts val="1200"/>
              </a:spcAft>
            </a:pPr>
            <a:r>
              <a:rPr lang="en-AU" sz="2200" dirty="0" smtClean="0">
                <a:latin typeface="Helvetica" pitchFamily="34" charset="0"/>
              </a:rPr>
              <a:t>Visiting the community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3284984"/>
            <a:ext cx="3048000" cy="124358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Possible ‘positive’ issues for research:</a:t>
            </a:r>
          </a:p>
          <a:p>
            <a:pPr marL="360000" indent="-360000">
              <a:spcBef>
                <a:spcPts val="600"/>
              </a:spcBef>
              <a:spcAft>
                <a:spcPts val="1200"/>
              </a:spcAft>
            </a:pPr>
            <a:r>
              <a:rPr lang="en-AU" sz="2200" dirty="0" smtClean="0">
                <a:latin typeface="Helvetica" pitchFamily="34" charset="0"/>
              </a:rPr>
              <a:t>Growth of existing businesses</a:t>
            </a:r>
          </a:p>
          <a:p>
            <a:pPr marL="360000" indent="-360000">
              <a:spcBef>
                <a:spcPts val="600"/>
              </a:spcBef>
              <a:spcAft>
                <a:spcPts val="1200"/>
              </a:spcAft>
            </a:pPr>
            <a:r>
              <a:rPr lang="en-AU" sz="2200" dirty="0" smtClean="0">
                <a:latin typeface="Helvetica" pitchFamily="34" charset="0"/>
              </a:rPr>
              <a:t>Development of new businesses</a:t>
            </a:r>
          </a:p>
          <a:p>
            <a:pPr marL="360000" indent="-360000">
              <a:spcBef>
                <a:spcPts val="600"/>
              </a:spcBef>
              <a:spcAft>
                <a:spcPts val="1200"/>
              </a:spcAft>
            </a:pPr>
            <a:r>
              <a:rPr lang="en-AU" sz="2200" dirty="0" smtClean="0">
                <a:latin typeface="Helvetica" pitchFamily="34" charset="0"/>
              </a:rPr>
              <a:t>More jobs and employment opportunities</a:t>
            </a:r>
          </a:p>
          <a:p>
            <a:pPr marL="360000" indent="-360000">
              <a:spcBef>
                <a:spcPts val="600"/>
              </a:spcBef>
              <a:spcAft>
                <a:spcPts val="1200"/>
              </a:spcAft>
            </a:pPr>
            <a:r>
              <a:rPr lang="en-AU" sz="2200" dirty="0" smtClean="0">
                <a:latin typeface="Helvetica" pitchFamily="34" charset="0"/>
              </a:rPr>
              <a:t>A more sustainable economy</a:t>
            </a:r>
          </a:p>
          <a:p>
            <a:pPr marL="360000" indent="-360000">
              <a:spcBef>
                <a:spcPts val="600"/>
              </a:spcBef>
              <a:spcAft>
                <a:spcPts val="1200"/>
              </a:spcAft>
            </a:pPr>
            <a:r>
              <a:rPr lang="en-AU" sz="2200" dirty="0" smtClean="0">
                <a:latin typeface="Helvetica" pitchFamily="34" charset="0"/>
              </a:rPr>
              <a:t>Improved quality of life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3992756"/>
            <a:ext cx="2256452" cy="150505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lnSpcReduction="10000"/>
          </a:bodyPr>
          <a:lstStyle/>
          <a:p>
            <a:pPr marL="360000" indent="-360000">
              <a:spcBef>
                <a:spcPts val="600"/>
              </a:spcBef>
              <a:spcAft>
                <a:spcPts val="1200"/>
              </a:spcAft>
            </a:pPr>
            <a:r>
              <a:rPr lang="en-AU" sz="2200" dirty="0" smtClean="0">
                <a:latin typeface="Helvetica" pitchFamily="34" charset="0"/>
              </a:rPr>
              <a:t>Greater investment in local infrastructure</a:t>
            </a:r>
          </a:p>
          <a:p>
            <a:pPr marL="360000" indent="-360000">
              <a:spcBef>
                <a:spcPts val="600"/>
              </a:spcBef>
              <a:spcAft>
                <a:spcPts val="1200"/>
              </a:spcAft>
            </a:pPr>
            <a:r>
              <a:rPr lang="en-AU" sz="2200" dirty="0" smtClean="0">
                <a:latin typeface="Helvetica" pitchFamily="34" charset="0"/>
              </a:rPr>
              <a:t>Maintenance, growth and improvement in local facilities</a:t>
            </a:r>
          </a:p>
          <a:p>
            <a:pPr marL="360000" indent="-360000">
              <a:spcBef>
                <a:spcPts val="600"/>
              </a:spcBef>
              <a:spcAft>
                <a:spcPts val="1200"/>
              </a:spcAft>
            </a:pPr>
            <a:r>
              <a:rPr lang="en-AU" sz="2200" dirty="0" smtClean="0">
                <a:latin typeface="Helvetica" pitchFamily="34" charset="0"/>
              </a:rPr>
              <a:t>Cultural empowerment and increased sense of pride</a:t>
            </a:r>
          </a:p>
          <a:p>
            <a:pPr marL="360000" indent="-360000">
              <a:spcBef>
                <a:spcPts val="600"/>
              </a:spcBef>
              <a:spcAft>
                <a:spcPts val="1200"/>
              </a:spcAft>
            </a:pPr>
            <a:r>
              <a:rPr lang="en-AU" sz="2200" dirty="0" smtClean="0">
                <a:latin typeface="Helvetica" pitchFamily="34" charset="0"/>
              </a:rPr>
              <a:t>Tax revenue for governments</a:t>
            </a:r>
          </a:p>
          <a:p>
            <a:pPr marL="360000" indent="-360000">
              <a:spcBef>
                <a:spcPts val="600"/>
              </a:spcBef>
              <a:spcAft>
                <a:spcPts val="1200"/>
              </a:spcAft>
            </a:pPr>
            <a:r>
              <a:rPr lang="en-AU" sz="2200" dirty="0" smtClean="0">
                <a:latin typeface="Helvetica" pitchFamily="34" charset="0"/>
              </a:rPr>
              <a:t>Enhanced awareness of the </a:t>
            </a:r>
            <a:br>
              <a:rPr lang="en-AU" sz="2200" dirty="0" smtClean="0">
                <a:latin typeface="Helvetica" pitchFamily="34" charset="0"/>
              </a:rPr>
            </a:br>
            <a:r>
              <a:rPr lang="en-AU" sz="2200" dirty="0" smtClean="0">
                <a:latin typeface="Helvetica" pitchFamily="34" charset="0"/>
              </a:rPr>
              <a:t>country/location</a:t>
            </a:r>
          </a:p>
          <a:p>
            <a:pPr marL="360000" indent="-360000">
              <a:spcBef>
                <a:spcPts val="600"/>
              </a:spcBef>
              <a:spcAft>
                <a:spcPts val="1200"/>
              </a:spcAft>
              <a:buNone/>
            </a:pPr>
            <a:endParaRPr lang="en-US" sz="2200" i="1" dirty="0" smtClean="0">
              <a:latin typeface="Helvetica" pitchFamily="34" charset="0"/>
            </a:endParaRPr>
          </a:p>
          <a:p>
            <a:pPr marL="360000" indent="-360000">
              <a:spcBef>
                <a:spcPts val="600"/>
              </a:spcBef>
              <a:spcAft>
                <a:spcPts val="1200"/>
              </a:spcAft>
              <a:buNone/>
            </a:pPr>
            <a:endParaRPr lang="en-US" sz="2200" i="1" dirty="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356992"/>
            <a:ext cx="2288880" cy="1519816"/>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marL="360000" indent="-360000">
              <a:spcBef>
                <a:spcPts val="600"/>
              </a:spcBef>
              <a:spcAft>
                <a:spcPts val="1200"/>
              </a:spcAft>
            </a:pPr>
            <a:r>
              <a:rPr lang="en-AU" sz="2000" dirty="0" smtClean="0">
                <a:latin typeface="Helvetica" pitchFamily="34" charset="0"/>
              </a:rPr>
              <a:t>Economic diversification and general economic benefits</a:t>
            </a:r>
          </a:p>
          <a:p>
            <a:pPr marL="360000" indent="-360000">
              <a:spcBef>
                <a:spcPts val="600"/>
              </a:spcBef>
              <a:spcAft>
                <a:spcPts val="1200"/>
              </a:spcAft>
            </a:pPr>
            <a:r>
              <a:rPr lang="en-AU" sz="2000" dirty="0" smtClean="0">
                <a:latin typeface="Helvetica" pitchFamily="34" charset="0"/>
              </a:rPr>
              <a:t>Opportunity to share the culture and educate visitors</a:t>
            </a:r>
          </a:p>
          <a:p>
            <a:pPr marL="360000" indent="-360000">
              <a:spcBef>
                <a:spcPts val="600"/>
              </a:spcBef>
              <a:spcAft>
                <a:spcPts val="1200"/>
              </a:spcAft>
            </a:pPr>
            <a:r>
              <a:rPr lang="en-AU" sz="2000" dirty="0" smtClean="0">
                <a:latin typeface="Helvetica" pitchFamily="34" charset="0"/>
              </a:rPr>
              <a:t>Investment opportunities</a:t>
            </a:r>
          </a:p>
          <a:p>
            <a:pPr marL="360000" indent="-360000">
              <a:spcBef>
                <a:spcPts val="600"/>
              </a:spcBef>
              <a:spcAft>
                <a:spcPts val="1200"/>
              </a:spcAft>
            </a:pPr>
            <a:r>
              <a:rPr lang="en-AU" sz="2200" dirty="0" smtClean="0">
                <a:latin typeface="Helvetica" pitchFamily="34" charset="0"/>
              </a:rPr>
              <a:t>Improved health and training facilities</a:t>
            </a:r>
          </a:p>
          <a:p>
            <a:pPr marL="360000" indent="-360000">
              <a:spcBef>
                <a:spcPts val="600"/>
              </a:spcBef>
              <a:spcAft>
                <a:spcPts val="1200"/>
              </a:spcAft>
            </a:pPr>
            <a:r>
              <a:rPr lang="en-AU" sz="2000" dirty="0" smtClean="0">
                <a:latin typeface="Helvetica" pitchFamily="34" charset="0"/>
              </a:rPr>
              <a:t>Opportunity to enhance preservation </a:t>
            </a:r>
            <a:br>
              <a:rPr lang="en-AU" sz="2000" dirty="0" smtClean="0">
                <a:latin typeface="Helvetica" pitchFamily="34" charset="0"/>
              </a:rPr>
            </a:br>
            <a:r>
              <a:rPr lang="en-AU" sz="2000" dirty="0" smtClean="0">
                <a:latin typeface="Helvetica" pitchFamily="34" charset="0"/>
              </a:rPr>
              <a:t>of endangered or threatened aspects of </a:t>
            </a:r>
            <a:br>
              <a:rPr lang="en-AU" sz="2000" dirty="0" smtClean="0">
                <a:latin typeface="Helvetica" pitchFamily="34" charset="0"/>
              </a:rPr>
            </a:br>
            <a:r>
              <a:rPr lang="en-AU" sz="2000" dirty="0" smtClean="0">
                <a:latin typeface="Helvetica" pitchFamily="34" charset="0"/>
              </a:rPr>
              <a:t>local culture, customs and community</a:t>
            </a:r>
          </a:p>
          <a:p>
            <a:pPr marL="360000" indent="-360000">
              <a:spcBef>
                <a:spcPts val="600"/>
              </a:spcBef>
              <a:spcAft>
                <a:spcPts val="1200"/>
              </a:spcAft>
            </a:pPr>
            <a:r>
              <a:rPr lang="en-AU" sz="2200" dirty="0" smtClean="0">
                <a:latin typeface="Helvetica" pitchFamily="34" charset="0"/>
              </a:rPr>
              <a:t>Opportunity to make wider community aware of problems facing the community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2704" y="2924944"/>
            <a:ext cx="1724610" cy="159526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US" sz="2200" dirty="0" smtClean="0">
                <a:latin typeface="Helvetica" pitchFamily="34" charset="0"/>
              </a:rPr>
              <a:t>Possible ‘negative’ issues for research: </a:t>
            </a:r>
          </a:p>
          <a:p>
            <a:pPr>
              <a:spcBef>
                <a:spcPts val="600"/>
              </a:spcBef>
              <a:spcAft>
                <a:spcPts val="1200"/>
              </a:spcAft>
            </a:pPr>
            <a:r>
              <a:rPr lang="en-AU" sz="2200" dirty="0" smtClean="0">
                <a:latin typeface="Helvetica" pitchFamily="34" charset="0"/>
              </a:rPr>
              <a:t>Impact of tourism on the social fabric of society</a:t>
            </a:r>
          </a:p>
          <a:p>
            <a:pPr>
              <a:spcBef>
                <a:spcPts val="600"/>
              </a:spcBef>
              <a:spcAft>
                <a:spcPts val="1200"/>
              </a:spcAft>
            </a:pPr>
            <a:r>
              <a:rPr lang="en-AU" sz="2200" dirty="0" smtClean="0">
                <a:latin typeface="Helvetica" pitchFamily="34" charset="0"/>
              </a:rPr>
              <a:t>Child protection and child sex trade concerns</a:t>
            </a:r>
          </a:p>
          <a:p>
            <a:pPr>
              <a:spcBef>
                <a:spcPts val="600"/>
              </a:spcBef>
              <a:spcAft>
                <a:spcPts val="1200"/>
              </a:spcAft>
            </a:pPr>
            <a:r>
              <a:rPr lang="en-AU" sz="2200" dirty="0" smtClean="0">
                <a:latin typeface="Helvetica" pitchFamily="34" charset="0"/>
              </a:rPr>
              <a:t>Fear regarding prostitution and other crimes</a:t>
            </a:r>
          </a:p>
          <a:p>
            <a:pPr>
              <a:spcBef>
                <a:spcPts val="600"/>
              </a:spcBef>
              <a:spcAft>
                <a:spcPts val="1200"/>
              </a:spcAft>
            </a:pPr>
            <a:r>
              <a:rPr lang="en-AU" sz="2200" dirty="0" smtClean="0">
                <a:latin typeface="Helvetica" pitchFamily="34" charset="0"/>
              </a:rPr>
              <a:t>Trivialisation and/or dilution of the culture</a:t>
            </a:r>
          </a:p>
          <a:p>
            <a:pPr>
              <a:spcBef>
                <a:spcPts val="600"/>
              </a:spcBef>
              <a:spcAft>
                <a:spcPts val="1200"/>
              </a:spcAft>
            </a:pPr>
            <a:r>
              <a:rPr lang="en-AU" sz="2200" dirty="0" smtClean="0">
                <a:latin typeface="Helvetica" pitchFamily="34" charset="0"/>
              </a:rPr>
              <a:t>Lack of local workers to fill the jobs</a:t>
            </a:r>
          </a:p>
          <a:p>
            <a:pPr>
              <a:spcBef>
                <a:spcPts val="600"/>
              </a:spcBef>
              <a:spcAft>
                <a:spcPts val="1200"/>
              </a:spcAft>
            </a:pPr>
            <a:endParaRPr lang="en-AU" sz="2200" dirty="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4191161"/>
            <a:ext cx="2051202" cy="136815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AU" sz="2200" dirty="0" smtClean="0">
                <a:latin typeface="Helvetica" pitchFamily="34" charset="0"/>
              </a:rPr>
              <a:t>Provision only of menial and low-paid jobs</a:t>
            </a:r>
          </a:p>
          <a:p>
            <a:pPr marL="360000" indent="-360000">
              <a:spcBef>
                <a:spcPts val="600"/>
              </a:spcBef>
              <a:spcAft>
                <a:spcPts val="1200"/>
              </a:spcAft>
            </a:pPr>
            <a:r>
              <a:rPr lang="en-AU" sz="2200" dirty="0" smtClean="0">
                <a:latin typeface="Helvetica" pitchFamily="34" charset="0"/>
              </a:rPr>
              <a:t>Seasonal employment only (in some areas)</a:t>
            </a:r>
          </a:p>
          <a:p>
            <a:pPr marL="360000" indent="-360000">
              <a:spcBef>
                <a:spcPts val="600"/>
              </a:spcBef>
              <a:spcAft>
                <a:spcPts val="1200"/>
              </a:spcAft>
            </a:pPr>
            <a:r>
              <a:rPr lang="en-AU" sz="2200" dirty="0" smtClean="0">
                <a:latin typeface="Helvetica" pitchFamily="34" charset="0"/>
              </a:rPr>
              <a:t>Loss of a sense of community</a:t>
            </a:r>
          </a:p>
          <a:p>
            <a:pPr marL="360000" indent="-360000">
              <a:spcBef>
                <a:spcPts val="600"/>
              </a:spcBef>
              <a:spcAft>
                <a:spcPts val="1200"/>
              </a:spcAft>
            </a:pPr>
            <a:r>
              <a:rPr lang="en-AU" sz="2200" dirty="0" smtClean="0">
                <a:latin typeface="Helvetica" pitchFamily="34" charset="0"/>
              </a:rPr>
              <a:t>Ultimate </a:t>
            </a:r>
            <a:r>
              <a:rPr lang="en-AU" sz="2200" i="1" dirty="0" smtClean="0">
                <a:latin typeface="Helvetica" pitchFamily="34" charset="0"/>
              </a:rPr>
              <a:t>dependency </a:t>
            </a:r>
            <a:r>
              <a:rPr lang="en-AU" sz="2200" dirty="0" smtClean="0">
                <a:latin typeface="Helvetica" pitchFamily="34" charset="0"/>
              </a:rPr>
              <a:t>on tourism</a:t>
            </a:r>
          </a:p>
          <a:p>
            <a:pPr marL="360000" indent="-360000">
              <a:spcBef>
                <a:spcPts val="600"/>
              </a:spcBef>
              <a:spcAft>
                <a:spcPts val="1200"/>
              </a:spcAft>
            </a:pPr>
            <a:r>
              <a:rPr lang="en-AU" sz="2000" dirty="0" smtClean="0">
                <a:latin typeface="Helvetica" pitchFamily="34" charset="0"/>
              </a:rPr>
              <a:t>Damage to the land and environment</a:t>
            </a:r>
          </a:p>
          <a:p>
            <a:pPr marL="360000" indent="-360000">
              <a:spcBef>
                <a:spcPts val="600"/>
              </a:spcBef>
              <a:spcAft>
                <a:spcPts val="1200"/>
              </a:spcAft>
            </a:pPr>
            <a:endParaRPr lang="en-AU" sz="2000" dirty="0" smtClean="0">
              <a:latin typeface="Helvetica" pitchFamily="34" charset="0"/>
            </a:endParaRPr>
          </a:p>
          <a:p>
            <a:pPr marL="360000" indent="-360000">
              <a:spcBef>
                <a:spcPts val="600"/>
              </a:spcBef>
              <a:spcAft>
                <a:spcPts val="1200"/>
              </a:spcAft>
            </a:pPr>
            <a:endParaRPr lang="en-AU" sz="20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199" y="3356992"/>
            <a:ext cx="1862861" cy="158343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08512"/>
          </a:xfrm>
        </p:spPr>
        <p:txBody>
          <a:bodyPr>
            <a:normAutofit/>
          </a:bodyPr>
          <a:lstStyle/>
          <a:p>
            <a:pPr marL="360000" indent="-360000">
              <a:spcBef>
                <a:spcPts val="600"/>
              </a:spcBef>
              <a:spcAft>
                <a:spcPts val="1200"/>
              </a:spcAft>
            </a:pPr>
            <a:r>
              <a:rPr lang="en-AU" sz="2200" dirty="0" smtClean="0">
                <a:latin typeface="Helvetica" pitchFamily="34" charset="0"/>
              </a:rPr>
              <a:t>Money leaving the area because businesses are owned by external operators</a:t>
            </a:r>
          </a:p>
          <a:p>
            <a:pPr marL="360000" indent="-360000">
              <a:spcBef>
                <a:spcPts val="600"/>
              </a:spcBef>
              <a:spcAft>
                <a:spcPts val="1200"/>
              </a:spcAft>
            </a:pPr>
            <a:r>
              <a:rPr lang="en-AU" sz="2200" dirty="0" smtClean="0">
                <a:latin typeface="Helvetica" pitchFamily="34" charset="0"/>
              </a:rPr>
              <a:t>Unacceptable level of use of/stress on community resources by tourists to the detriment of locals</a:t>
            </a:r>
          </a:p>
          <a:p>
            <a:pPr marL="360000" indent="-360000">
              <a:spcBef>
                <a:spcPts val="600"/>
              </a:spcBef>
              <a:spcAft>
                <a:spcPts val="1200"/>
              </a:spcAft>
            </a:pPr>
            <a:r>
              <a:rPr lang="en-AU" sz="2200" dirty="0" smtClean="0">
                <a:latin typeface="Helvetica" pitchFamily="34" charset="0"/>
              </a:rPr>
              <a:t>Over-development</a:t>
            </a:r>
          </a:p>
          <a:p>
            <a:pPr marL="360000" indent="-360000">
              <a:spcBef>
                <a:spcPts val="600"/>
              </a:spcBef>
              <a:spcAft>
                <a:spcPts val="1200"/>
              </a:spcAft>
            </a:pPr>
            <a:r>
              <a:rPr lang="en-AU" sz="2200" dirty="0" smtClean="0">
                <a:latin typeface="Helvetica" pitchFamily="34" charset="0"/>
              </a:rPr>
              <a:t>Increased living costs</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3789040"/>
            <a:ext cx="2408497" cy="135598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Unwanted intervention by tourists in normal everyday activities</a:t>
            </a:r>
          </a:p>
          <a:p>
            <a:pPr marL="360000" indent="-360000">
              <a:spcBef>
                <a:spcPts val="600"/>
              </a:spcBef>
              <a:spcAft>
                <a:spcPts val="1200"/>
              </a:spcAft>
            </a:pPr>
            <a:r>
              <a:rPr lang="en-AU" sz="2200" dirty="0" smtClean="0">
                <a:latin typeface="Helvetica" pitchFamily="34" charset="0"/>
              </a:rPr>
              <a:t>Control of local area may move (more) to external people</a:t>
            </a:r>
          </a:p>
          <a:p>
            <a:pPr marL="360000" indent="-360000">
              <a:spcBef>
                <a:spcPts val="600"/>
              </a:spcBef>
              <a:spcAft>
                <a:spcPts val="1200"/>
              </a:spcAft>
            </a:pPr>
            <a:r>
              <a:rPr lang="en-AU" sz="2200" dirty="0" smtClean="0">
                <a:latin typeface="Helvetica" pitchFamily="34" charset="0"/>
              </a:rPr>
              <a:t>Cultural change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3954370"/>
            <a:ext cx="2471936" cy="163642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‘Engagement’ of indigenous people for tour-related activities:</a:t>
            </a:r>
          </a:p>
          <a:p>
            <a:pPr marL="360000" indent="-360000">
              <a:spcBef>
                <a:spcPts val="600"/>
              </a:spcBef>
              <a:spcAft>
                <a:spcPts val="1200"/>
              </a:spcAft>
            </a:pPr>
            <a:r>
              <a:rPr lang="en-US" sz="2200" dirty="0" smtClean="0">
                <a:latin typeface="Helvetica" pitchFamily="34" charset="0"/>
              </a:rPr>
              <a:t>Means ‘paying them’ to participate</a:t>
            </a:r>
          </a:p>
          <a:p>
            <a:pPr marL="360000" indent="-360000">
              <a:spcBef>
                <a:spcPts val="600"/>
              </a:spcBef>
              <a:spcAft>
                <a:spcPts val="1200"/>
              </a:spcAft>
            </a:pPr>
            <a:r>
              <a:rPr lang="en-US" sz="2200" dirty="0" smtClean="0">
                <a:latin typeface="Helvetica" pitchFamily="34" charset="0"/>
              </a:rPr>
              <a:t>Requires negotiation with communities</a:t>
            </a:r>
          </a:p>
          <a:p>
            <a:pPr marL="360000" indent="-360000">
              <a:spcBef>
                <a:spcPts val="600"/>
              </a:spcBef>
              <a:spcAft>
                <a:spcPts val="1200"/>
              </a:spcAft>
            </a:pPr>
            <a:r>
              <a:rPr lang="en-US" sz="2200" dirty="0" smtClean="0">
                <a:latin typeface="Helvetica" pitchFamily="34" charset="0"/>
              </a:rPr>
              <a:t>Must comply with local legislation </a:t>
            </a:r>
            <a:br>
              <a:rPr lang="en-US" sz="2200" dirty="0" smtClean="0">
                <a:latin typeface="Helvetica" pitchFamily="34" charset="0"/>
              </a:rPr>
            </a:br>
            <a:r>
              <a:rPr lang="en-US" sz="2200" dirty="0" smtClean="0">
                <a:latin typeface="Helvetica" pitchFamily="34" charset="0"/>
              </a:rPr>
              <a:t>and applicable Codes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2638662"/>
            <a:ext cx="1859702" cy="188229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0" indent="0">
              <a:spcBef>
                <a:spcPts val="600"/>
              </a:spcBef>
              <a:spcAft>
                <a:spcPts val="1200"/>
              </a:spcAft>
              <a:buNone/>
            </a:pPr>
            <a:r>
              <a:rPr lang="en-US" sz="2200" dirty="0" smtClean="0">
                <a:latin typeface="Helvetica" pitchFamily="34" charset="0"/>
              </a:rPr>
              <a:t>Local indigenous people may be engaged to:</a:t>
            </a:r>
          </a:p>
          <a:p>
            <a:pPr marL="360000" indent="-360000">
              <a:spcBef>
                <a:spcPts val="600"/>
              </a:spcBef>
              <a:spcAft>
                <a:spcPts val="1200"/>
              </a:spcAft>
            </a:pPr>
            <a:r>
              <a:rPr lang="en-US" sz="2200" dirty="0" smtClean="0">
                <a:latin typeface="Helvetica" pitchFamily="34" charset="0"/>
              </a:rPr>
              <a:t>Assist with development of tours, interpretive activities and materials distributed to tour groups</a:t>
            </a:r>
          </a:p>
          <a:p>
            <a:pPr marL="360000" indent="-360000">
              <a:spcBef>
                <a:spcPts val="600"/>
              </a:spcBef>
              <a:spcAft>
                <a:spcPts val="1200"/>
              </a:spcAft>
            </a:pPr>
            <a:r>
              <a:rPr lang="en-US" sz="2200" dirty="0" smtClean="0">
                <a:latin typeface="Helvetica" pitchFamily="34" charset="0"/>
              </a:rPr>
              <a:t>Welcome tours and tour groups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4125387"/>
            <a:ext cx="2111896" cy="140863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Provide generic Tour Guide services</a:t>
            </a:r>
          </a:p>
          <a:p>
            <a:pPr marL="360000" indent="-360000">
              <a:spcBef>
                <a:spcPts val="600"/>
              </a:spcBef>
              <a:spcAft>
                <a:spcPts val="1200"/>
              </a:spcAft>
            </a:pPr>
            <a:r>
              <a:rPr lang="en-US" sz="2200" dirty="0" smtClean="0">
                <a:latin typeface="Helvetica" pitchFamily="34" charset="0"/>
              </a:rPr>
              <a:t>Accompany small groups throughout tours/activities</a:t>
            </a:r>
          </a:p>
          <a:p>
            <a:pPr marL="360000" indent="-360000">
              <a:spcBef>
                <a:spcPts val="600"/>
              </a:spcBef>
              <a:spcAft>
                <a:spcPts val="1200"/>
              </a:spcAft>
            </a:pPr>
            <a:r>
              <a:rPr lang="en-US" sz="2200" dirty="0" smtClean="0">
                <a:latin typeface="Helvetica" pitchFamily="34" charset="0"/>
              </a:rPr>
              <a:t>Provide entertainment</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3933056"/>
            <a:ext cx="2292294" cy="152896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Provide specialist guiding services</a:t>
            </a:r>
          </a:p>
          <a:p>
            <a:pPr marL="360000" indent="-360000">
              <a:spcBef>
                <a:spcPts val="600"/>
              </a:spcBef>
              <a:spcAft>
                <a:spcPts val="1200"/>
              </a:spcAft>
            </a:pPr>
            <a:r>
              <a:rPr lang="en-US" sz="2200" dirty="0" smtClean="0">
                <a:latin typeface="Helvetica" pitchFamily="34" charset="0"/>
              </a:rPr>
              <a:t>Provide local travel/transport</a:t>
            </a:r>
          </a:p>
          <a:p>
            <a:pPr marL="360000" indent="-360000">
              <a:spcBef>
                <a:spcPts val="600"/>
              </a:spcBef>
              <a:spcAft>
                <a:spcPts val="1200"/>
              </a:spcAft>
            </a:pPr>
            <a:r>
              <a:rPr lang="en-US" sz="2200" dirty="0" smtClean="0">
                <a:latin typeface="Helvetica" pitchFamily="34" charset="0"/>
              </a:rPr>
              <a:t>Deliver ancillary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9313" y="2420888"/>
            <a:ext cx="2454906" cy="188536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536504"/>
          </a:xfrm>
        </p:spPr>
        <p:txBody>
          <a:bodyPr>
            <a:normAutofit/>
          </a:bodyPr>
          <a:lstStyle/>
          <a:p>
            <a:pPr marL="0" indent="0">
              <a:spcBef>
                <a:spcPts val="600"/>
              </a:spcBef>
              <a:spcAft>
                <a:spcPts val="1200"/>
              </a:spcAft>
              <a:buNone/>
            </a:pPr>
            <a:r>
              <a:rPr lang="en-US" sz="2200" dirty="0" smtClean="0">
                <a:latin typeface="Helvetica" pitchFamily="34" charset="0"/>
              </a:rPr>
              <a:t>Reasons to engage indigenous people with tours:</a:t>
            </a:r>
          </a:p>
          <a:p>
            <a:pPr marL="360000" indent="-360000">
              <a:spcBef>
                <a:spcPts val="600"/>
              </a:spcBef>
              <a:spcAft>
                <a:spcPts val="1200"/>
              </a:spcAft>
            </a:pPr>
            <a:r>
              <a:rPr lang="en-AU" sz="2200" dirty="0" smtClean="0">
                <a:latin typeface="Helvetica" pitchFamily="34" charset="0"/>
              </a:rPr>
              <a:t>Many tour groups expect this to occur</a:t>
            </a:r>
          </a:p>
          <a:p>
            <a:pPr marL="360000" indent="-360000">
              <a:spcBef>
                <a:spcPts val="600"/>
              </a:spcBef>
              <a:spcAft>
                <a:spcPts val="1200"/>
              </a:spcAft>
            </a:pPr>
            <a:r>
              <a:rPr lang="en-AU" sz="2200" dirty="0" smtClean="0">
                <a:latin typeface="Helvetica" pitchFamily="34" charset="0"/>
              </a:rPr>
              <a:t>Allows their participation to be advertised in promotions for the tour</a:t>
            </a:r>
          </a:p>
          <a:p>
            <a:pPr marL="360000" indent="-360000">
              <a:spcBef>
                <a:spcPts val="600"/>
              </a:spcBef>
              <a:spcAft>
                <a:spcPts val="1200"/>
              </a:spcAft>
            </a:pPr>
            <a:r>
              <a:rPr lang="en-AU" sz="2200" dirty="0" smtClean="0">
                <a:latin typeface="Helvetica" pitchFamily="34" charset="0"/>
              </a:rPr>
              <a:t>Their presence provides a unique </a:t>
            </a:r>
            <a:br>
              <a:rPr lang="en-AU" sz="2200" dirty="0" smtClean="0">
                <a:latin typeface="Helvetica" pitchFamily="34" charset="0"/>
              </a:rPr>
            </a:br>
            <a:r>
              <a:rPr lang="en-AU" sz="2200" dirty="0" smtClean="0">
                <a:latin typeface="Helvetica" pitchFamily="34" charset="0"/>
              </a:rPr>
              <a:t>experience for tour group members</a:t>
            </a:r>
          </a:p>
          <a:p>
            <a:pPr marL="360000" indent="-360000">
              <a:spcBef>
                <a:spcPts val="600"/>
              </a:spcBef>
              <a:spcAft>
                <a:spcPts val="1200"/>
              </a:spcAft>
            </a:pPr>
            <a:r>
              <a:rPr lang="en-AU" sz="2200" dirty="0" smtClean="0">
                <a:latin typeface="Helvetica" pitchFamily="34" charset="0"/>
              </a:rPr>
              <a:t>Is effective and efficient</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005064"/>
            <a:ext cx="2243937" cy="1451827"/>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indigenous guides and/or interpreters where possible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Their presence can create a point of difference for the tour/activity</a:t>
            </a:r>
          </a:p>
          <a:p>
            <a:pPr marL="360000" indent="-360000">
              <a:spcBef>
                <a:spcPts val="600"/>
              </a:spcBef>
              <a:spcAft>
                <a:spcPts val="1200"/>
              </a:spcAft>
            </a:pPr>
            <a:r>
              <a:rPr lang="en-US" sz="2200" dirty="0" smtClean="0">
                <a:latin typeface="Helvetica" pitchFamily="34" charset="0"/>
              </a:rPr>
              <a:t>Locals are logical choice/best positioned to do ‘local things’</a:t>
            </a:r>
          </a:p>
          <a:p>
            <a:pPr marL="360000" indent="-360000">
              <a:spcBef>
                <a:spcPts val="600"/>
              </a:spcBef>
              <a:spcAft>
                <a:spcPts val="1200"/>
              </a:spcAft>
            </a:pPr>
            <a:r>
              <a:rPr lang="en-US" sz="2200" dirty="0" smtClean="0">
                <a:latin typeface="Helvetica" pitchFamily="34" charset="0"/>
              </a:rPr>
              <a:t>Demonstrates inclusivity of Tour Operator</a:t>
            </a:r>
          </a:p>
          <a:p>
            <a:pPr marL="360000" indent="-360000">
              <a:spcBef>
                <a:spcPts val="600"/>
              </a:spcBef>
              <a:spcAft>
                <a:spcPts val="1200"/>
              </a:spcAft>
            </a:pPr>
            <a:r>
              <a:rPr lang="en-US" sz="2200" dirty="0" smtClean="0">
                <a:latin typeface="Helvetica" pitchFamily="34" charset="0"/>
              </a:rPr>
              <a:t>May be a mandated obligation </a:t>
            </a:r>
            <a:br>
              <a:rPr lang="en-US" sz="2200" dirty="0" smtClean="0">
                <a:latin typeface="Helvetica" pitchFamily="34" charset="0"/>
              </a:rPr>
            </a:br>
            <a:r>
              <a:rPr lang="en-US" sz="2200" dirty="0" smtClean="0">
                <a:latin typeface="Helvetica" pitchFamily="34" charset="0"/>
              </a:rPr>
              <a:t>which has to be complied with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243769"/>
            <a:ext cx="2255912" cy="1500181"/>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200" dirty="0" smtClean="0">
                <a:latin typeface="Helvetica" pitchFamily="34" charset="0"/>
              </a:rPr>
              <a:t>Reasons for ‘Behaviour Briefings’:</a:t>
            </a:r>
          </a:p>
          <a:p>
            <a:pPr marL="360000" indent="-360000">
              <a:spcBef>
                <a:spcPts val="600"/>
              </a:spcBef>
              <a:spcAft>
                <a:spcPts val="1200"/>
              </a:spcAft>
            </a:pPr>
            <a:r>
              <a:rPr lang="en-AU" sz="2200" dirty="0" smtClean="0">
                <a:latin typeface="Helvetica" pitchFamily="34" charset="0"/>
              </a:rPr>
              <a:t>Maintain the dignity of the local community</a:t>
            </a:r>
          </a:p>
          <a:p>
            <a:pPr marL="360000" indent="-360000">
              <a:spcBef>
                <a:spcPts val="600"/>
              </a:spcBef>
              <a:spcAft>
                <a:spcPts val="1200"/>
              </a:spcAft>
            </a:pPr>
            <a:r>
              <a:rPr lang="en-AU" sz="2200" dirty="0" smtClean="0">
                <a:latin typeface="Helvetica" pitchFamily="34" charset="0"/>
              </a:rPr>
              <a:t>Protect indigenous people from unwanted intrusion</a:t>
            </a:r>
          </a:p>
          <a:p>
            <a:pPr marL="360000" indent="-360000">
              <a:spcBef>
                <a:spcPts val="600"/>
              </a:spcBef>
              <a:spcAft>
                <a:spcPts val="1200"/>
              </a:spcAft>
            </a:pPr>
            <a:r>
              <a:rPr lang="en-AU" sz="2200" dirty="0" smtClean="0">
                <a:latin typeface="Helvetica" pitchFamily="34" charset="0"/>
              </a:rPr>
              <a:t>Prevent interference with normal </a:t>
            </a:r>
            <a:br>
              <a:rPr lang="en-AU" sz="2200" dirty="0" smtClean="0">
                <a:latin typeface="Helvetica" pitchFamily="34" charset="0"/>
              </a:rPr>
            </a:br>
            <a:r>
              <a:rPr lang="en-AU" sz="2200" dirty="0" smtClean="0">
                <a:latin typeface="Helvetica" pitchFamily="34" charset="0"/>
              </a:rPr>
              <a:t>indigenous activities</a:t>
            </a:r>
          </a:p>
          <a:p>
            <a:pPr marL="360000" indent="-360000">
              <a:spcBef>
                <a:spcPts val="600"/>
              </a:spcBef>
              <a:spcAft>
                <a:spcPts val="1200"/>
              </a:spcAft>
            </a:pPr>
            <a:r>
              <a:rPr lang="en-AU" sz="2200" dirty="0" smtClean="0">
                <a:latin typeface="Helvetica" pitchFamily="34" charset="0"/>
              </a:rPr>
              <a:t>Present the boundaries of acceptable </a:t>
            </a:r>
            <a:br>
              <a:rPr lang="en-AU" sz="2200" dirty="0" smtClean="0">
                <a:latin typeface="Helvetica" pitchFamily="34" charset="0"/>
              </a:rPr>
            </a:br>
            <a:r>
              <a:rPr lang="en-AU" sz="2200" dirty="0" smtClean="0">
                <a:latin typeface="Helvetica" pitchFamily="34" charset="0"/>
              </a:rPr>
              <a:t>behaviour and language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8264" y="3356992"/>
            <a:ext cx="1408635" cy="211189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marL="360000" indent="-360000">
              <a:spcBef>
                <a:spcPts val="600"/>
              </a:spcBef>
              <a:spcAft>
                <a:spcPts val="1200"/>
              </a:spcAft>
            </a:pPr>
            <a:r>
              <a:rPr lang="en-AU" sz="2200" dirty="0" smtClean="0">
                <a:latin typeface="Helvetica" pitchFamily="34" charset="0"/>
              </a:rPr>
              <a:t>Set tour group members ‘at ease’</a:t>
            </a:r>
          </a:p>
          <a:p>
            <a:pPr marL="360000" indent="-360000">
              <a:spcBef>
                <a:spcPts val="600"/>
              </a:spcBef>
              <a:spcAft>
                <a:spcPts val="1200"/>
              </a:spcAft>
            </a:pPr>
            <a:r>
              <a:rPr lang="en-AU" sz="2200" dirty="0" smtClean="0">
                <a:latin typeface="Helvetica" pitchFamily="34" charset="0"/>
              </a:rPr>
              <a:t>Describe consequences for the tour group if the requirements are not complied with</a:t>
            </a:r>
          </a:p>
          <a:p>
            <a:pPr marL="360000" indent="-360000">
              <a:spcBef>
                <a:spcPts val="600"/>
              </a:spcBef>
              <a:spcAft>
                <a:spcPts val="1200"/>
              </a:spcAft>
            </a:pPr>
            <a:r>
              <a:rPr lang="en-AU" sz="2200" dirty="0" smtClean="0">
                <a:latin typeface="Helvetica" pitchFamily="34" charset="0"/>
              </a:rPr>
              <a:t>Honour tour-related agreements made with local people</a:t>
            </a:r>
          </a:p>
          <a:p>
            <a:pPr marL="360000" indent="-360000">
              <a:spcBef>
                <a:spcPts val="600"/>
              </a:spcBef>
              <a:spcAft>
                <a:spcPts val="1200"/>
              </a:spcAft>
            </a:pPr>
            <a:r>
              <a:rPr lang="en-AU" sz="2200" dirty="0" smtClean="0">
                <a:latin typeface="Helvetica" pitchFamily="34" charset="0"/>
              </a:rPr>
              <a:t>Abide by Codes of Practice by which the Tour Operator is bound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4359746"/>
            <a:ext cx="2022120" cy="134875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536504"/>
          </a:xfrm>
        </p:spPr>
        <p:txBody>
          <a:bodyPr>
            <a:normAutofit/>
          </a:bodyPr>
          <a:lstStyle/>
          <a:p>
            <a:pPr marL="0" indent="0">
              <a:spcBef>
                <a:spcPts val="600"/>
              </a:spcBef>
              <a:spcAft>
                <a:spcPts val="1200"/>
              </a:spcAft>
              <a:buNone/>
            </a:pPr>
            <a:r>
              <a:rPr lang="en-US" sz="2200" dirty="0" smtClean="0">
                <a:latin typeface="Helvetica" pitchFamily="34" charset="0"/>
              </a:rPr>
              <a:t>Behaviour Briefings are commonly:</a:t>
            </a:r>
          </a:p>
          <a:p>
            <a:pPr marL="360000" indent="-360000">
              <a:spcBef>
                <a:spcPts val="600"/>
              </a:spcBef>
              <a:spcAft>
                <a:spcPts val="1200"/>
              </a:spcAft>
            </a:pPr>
            <a:r>
              <a:rPr lang="en-US" sz="2200" dirty="0" smtClean="0">
                <a:latin typeface="Helvetica" pitchFamily="34" charset="0"/>
              </a:rPr>
              <a:t>A verbal presentation made by the Tour Guide</a:t>
            </a:r>
          </a:p>
          <a:p>
            <a:pPr marL="360000" indent="-360000">
              <a:spcBef>
                <a:spcPts val="600"/>
              </a:spcBef>
              <a:spcAft>
                <a:spcPts val="1200"/>
              </a:spcAft>
            </a:pPr>
            <a:r>
              <a:rPr lang="en-US" sz="2200" dirty="0" smtClean="0">
                <a:latin typeface="Helvetica" pitchFamily="34" charset="0"/>
              </a:rPr>
              <a:t>Supplemented by demonstration/s, </a:t>
            </a:r>
            <a:br>
              <a:rPr lang="en-US" sz="2200" dirty="0" smtClean="0">
                <a:latin typeface="Helvetica" pitchFamily="34" charset="0"/>
              </a:rPr>
            </a:br>
            <a:r>
              <a:rPr lang="en-US" sz="2200" dirty="0" smtClean="0">
                <a:latin typeface="Helvetica" pitchFamily="34" charset="0"/>
              </a:rPr>
              <a:t>handouts or a DVD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2349" y="2636912"/>
            <a:ext cx="1504694" cy="225591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Behaviour Briefing may be conducted:</a:t>
            </a:r>
          </a:p>
          <a:p>
            <a:pPr marL="360000" indent="-360000">
              <a:spcBef>
                <a:spcPts val="600"/>
              </a:spcBef>
              <a:spcAft>
                <a:spcPts val="1200"/>
              </a:spcAft>
            </a:pPr>
            <a:r>
              <a:rPr lang="en-US" sz="2200" dirty="0" smtClean="0">
                <a:latin typeface="Helvetica" pitchFamily="34" charset="0"/>
              </a:rPr>
              <a:t>In a designated room prior to tour start</a:t>
            </a:r>
          </a:p>
          <a:p>
            <a:pPr marL="360000" indent="-360000">
              <a:spcBef>
                <a:spcPts val="600"/>
              </a:spcBef>
              <a:spcAft>
                <a:spcPts val="1200"/>
              </a:spcAft>
            </a:pPr>
            <a:r>
              <a:rPr lang="en-US" sz="2200" dirty="0" smtClean="0">
                <a:latin typeface="Helvetica" pitchFamily="34" charset="0"/>
              </a:rPr>
              <a:t>On the tour vehicle as it approaches community</a:t>
            </a:r>
          </a:p>
          <a:p>
            <a:pPr marL="360000" indent="-360000">
              <a:spcBef>
                <a:spcPts val="600"/>
              </a:spcBef>
              <a:spcAft>
                <a:spcPts val="1200"/>
              </a:spcAft>
            </a:pPr>
            <a:r>
              <a:rPr lang="en-US" sz="2200" dirty="0" smtClean="0">
                <a:latin typeface="Helvetica" pitchFamily="34" charset="0"/>
              </a:rPr>
              <a:t>At an agreed muster point </a:t>
            </a:r>
            <a:br>
              <a:rPr lang="en-US" sz="2200" dirty="0" smtClean="0">
                <a:latin typeface="Helvetica" pitchFamily="34" charset="0"/>
              </a:rPr>
            </a:br>
            <a:r>
              <a:rPr lang="en-US" sz="2200" dirty="0" smtClean="0">
                <a:latin typeface="Helvetica" pitchFamily="34" charset="0"/>
              </a:rPr>
              <a:t>outside/adjacent to the community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429000"/>
            <a:ext cx="2471936" cy="1515296"/>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Background to Behaviour Briefings:</a:t>
            </a:r>
          </a:p>
          <a:p>
            <a:pPr marL="360000" indent="-360000">
              <a:spcBef>
                <a:spcPts val="600"/>
              </a:spcBef>
              <a:spcAft>
                <a:spcPts val="1200"/>
              </a:spcAft>
            </a:pPr>
            <a:r>
              <a:rPr lang="en-US" sz="2200" dirty="0" smtClean="0">
                <a:latin typeface="Helvetica" pitchFamily="34" charset="0"/>
              </a:rPr>
              <a:t>Content needs to be prepared in consultation with indigenous community</a:t>
            </a:r>
          </a:p>
          <a:p>
            <a:pPr marL="360000" indent="-360000">
              <a:spcBef>
                <a:spcPts val="600"/>
              </a:spcBef>
              <a:spcAft>
                <a:spcPts val="1200"/>
              </a:spcAft>
            </a:pPr>
            <a:r>
              <a:rPr lang="en-US" sz="2200" dirty="0" smtClean="0">
                <a:latin typeface="Helvetica" pitchFamily="34" charset="0"/>
              </a:rPr>
              <a:t>Will be developed by Tour Guide </a:t>
            </a:r>
            <a:br>
              <a:rPr lang="en-US" sz="2200" dirty="0" smtClean="0">
                <a:latin typeface="Helvetica" pitchFamily="34" charset="0"/>
              </a:rPr>
            </a:br>
            <a:r>
              <a:rPr lang="en-US" sz="2200" dirty="0" smtClean="0">
                <a:latin typeface="Helvetica" pitchFamily="34" charset="0"/>
              </a:rPr>
              <a:t>and/or Tour Operator</a:t>
            </a:r>
          </a:p>
          <a:p>
            <a:pPr marL="360000" indent="-360000">
              <a:spcBef>
                <a:spcPts val="600"/>
              </a:spcBef>
              <a:spcAft>
                <a:spcPts val="1200"/>
              </a:spcAft>
            </a:pPr>
            <a:r>
              <a:rPr lang="en-US" sz="2200" dirty="0" smtClean="0">
                <a:latin typeface="Helvetica" pitchFamily="34" charset="0"/>
              </a:rPr>
              <a:t>Must be approved by the target community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9722" y="3429000"/>
            <a:ext cx="1679848" cy="1679848"/>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2564904"/>
            <a:ext cx="1651150" cy="2399928"/>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Generic topics covered by Behaviour Briefings:</a:t>
            </a:r>
          </a:p>
          <a:p>
            <a:pPr marL="360000" indent="-360000">
              <a:spcBef>
                <a:spcPts val="600"/>
              </a:spcBef>
              <a:spcAft>
                <a:spcPts val="1200"/>
              </a:spcAft>
            </a:pPr>
            <a:r>
              <a:rPr lang="en-AU" sz="2200" dirty="0" smtClean="0">
                <a:latin typeface="Helvetica" pitchFamily="34" charset="0"/>
              </a:rPr>
              <a:t>Detailing where people can and cannot go/enter</a:t>
            </a:r>
          </a:p>
          <a:p>
            <a:pPr marL="360000" indent="-360000">
              <a:spcBef>
                <a:spcPts val="600"/>
              </a:spcBef>
              <a:spcAft>
                <a:spcPts val="1200"/>
              </a:spcAft>
            </a:pPr>
            <a:r>
              <a:rPr lang="en-AU" sz="2200" dirty="0" smtClean="0">
                <a:latin typeface="Helvetica" pitchFamily="34" charset="0"/>
              </a:rPr>
              <a:t>Specifying what they can do and say and </a:t>
            </a:r>
            <a:br>
              <a:rPr lang="en-AU" sz="2200" dirty="0" smtClean="0">
                <a:latin typeface="Helvetica" pitchFamily="34" charset="0"/>
              </a:rPr>
            </a:br>
            <a:r>
              <a:rPr lang="en-AU" sz="2200" dirty="0" smtClean="0">
                <a:latin typeface="Helvetica" pitchFamily="34" charset="0"/>
              </a:rPr>
              <a:t>what they cannot do and say</a:t>
            </a:r>
          </a:p>
          <a:p>
            <a:pPr marL="360000" indent="-360000">
              <a:spcBef>
                <a:spcPts val="600"/>
              </a:spcBef>
              <a:spcAft>
                <a:spcPts val="1200"/>
              </a:spcAft>
            </a:pPr>
            <a:r>
              <a:rPr lang="en-AU" sz="2200" dirty="0" smtClean="0">
                <a:latin typeface="Helvetica" pitchFamily="34" charset="0"/>
              </a:rPr>
              <a:t>Illustrating and ensuring adherence to </a:t>
            </a:r>
            <a:br>
              <a:rPr lang="en-AU" sz="2200" dirty="0" smtClean="0">
                <a:latin typeface="Helvetica" pitchFamily="34" charset="0"/>
              </a:rPr>
            </a:br>
            <a:r>
              <a:rPr lang="en-AU" sz="2200" dirty="0" smtClean="0">
                <a:latin typeface="Helvetica" pitchFamily="34" charset="0"/>
              </a:rPr>
              <a:t>required dress codes when in the area/community</a:t>
            </a:r>
          </a:p>
          <a:p>
            <a:pPr marL="360000" indent="-360000">
              <a:spcBef>
                <a:spcPts val="600"/>
              </a:spcBef>
              <a:spcAft>
                <a:spcPts val="1200"/>
              </a:spcAft>
            </a:pPr>
            <a:r>
              <a:rPr lang="en-AU" sz="2200" dirty="0" smtClean="0">
                <a:latin typeface="Helvetica" pitchFamily="34" charset="0"/>
              </a:rPr>
              <a:t>Describing and demonstrating protocols </a:t>
            </a:r>
            <a:br>
              <a:rPr lang="en-AU" sz="2200" dirty="0" smtClean="0">
                <a:latin typeface="Helvetica" pitchFamily="34" charset="0"/>
              </a:rPr>
            </a:br>
            <a:r>
              <a:rPr lang="en-AU" sz="2200" dirty="0" smtClean="0">
                <a:latin typeface="Helvetica" pitchFamily="34" charset="0"/>
              </a:rPr>
              <a:t>to observe when in a tour vehicle/riding </a:t>
            </a:r>
            <a:br>
              <a:rPr lang="en-AU" sz="2200" dirty="0" smtClean="0">
                <a:latin typeface="Helvetica" pitchFamily="34" charset="0"/>
              </a:rPr>
            </a:br>
            <a:r>
              <a:rPr lang="en-AU" sz="2200" dirty="0" smtClean="0">
                <a:latin typeface="Helvetica" pitchFamily="34" charset="0"/>
              </a:rPr>
              <a:t>an animal</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Naming actions to optimise group safety, comfort, engagement and enjoyment</a:t>
            </a:r>
          </a:p>
          <a:p>
            <a:pPr marL="360000" indent="-360000">
              <a:spcBef>
                <a:spcPts val="600"/>
              </a:spcBef>
              <a:spcAft>
                <a:spcPts val="1200"/>
              </a:spcAft>
            </a:pPr>
            <a:r>
              <a:rPr lang="en-AU" sz="2200" dirty="0" smtClean="0">
                <a:latin typeface="Helvetica" pitchFamily="34" charset="0"/>
              </a:rPr>
              <a:t>Identifying cultural issues which must be respected</a:t>
            </a:r>
          </a:p>
          <a:p>
            <a:pPr marL="360000" indent="-360000">
              <a:spcBef>
                <a:spcPts val="600"/>
              </a:spcBef>
              <a:spcAft>
                <a:spcPts val="1200"/>
              </a:spcAft>
            </a:pPr>
            <a:r>
              <a:rPr lang="en-AU" sz="2200" dirty="0" smtClean="0">
                <a:latin typeface="Helvetica" pitchFamily="34" charset="0"/>
              </a:rPr>
              <a:t>Nominating environmental issues which </a:t>
            </a:r>
            <a:br>
              <a:rPr lang="en-AU" sz="2200" dirty="0" smtClean="0">
                <a:latin typeface="Helvetica" pitchFamily="34" charset="0"/>
              </a:rPr>
            </a:br>
            <a:r>
              <a:rPr lang="en-AU" sz="2200" dirty="0" smtClean="0">
                <a:latin typeface="Helvetica" pitchFamily="34" charset="0"/>
              </a:rPr>
              <a:t>must be taken into account</a:t>
            </a:r>
          </a:p>
          <a:p>
            <a:pPr marL="360000" indent="-360000">
              <a:spcBef>
                <a:spcPts val="600"/>
              </a:spcBef>
              <a:spcAft>
                <a:spcPts val="1200"/>
              </a:spcAft>
            </a:pPr>
            <a:r>
              <a:rPr lang="en-AU" sz="2200" dirty="0" smtClean="0">
                <a:latin typeface="Helvetica" pitchFamily="34" charset="0"/>
              </a:rPr>
              <a:t>Stating social protocols which must </a:t>
            </a:r>
            <a:br>
              <a:rPr lang="en-AU" sz="2200" dirty="0" smtClean="0">
                <a:latin typeface="Helvetica" pitchFamily="34" charset="0"/>
              </a:rPr>
            </a:br>
            <a:r>
              <a:rPr lang="en-AU" sz="2200" dirty="0" smtClean="0">
                <a:latin typeface="Helvetica" pitchFamily="34" charset="0"/>
              </a:rPr>
              <a:t>be observed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674" y="3356992"/>
            <a:ext cx="2039888" cy="136060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0" indent="0">
              <a:spcBef>
                <a:spcPts val="600"/>
              </a:spcBef>
              <a:spcAft>
                <a:spcPts val="1200"/>
              </a:spcAft>
              <a:buNone/>
            </a:pPr>
            <a:r>
              <a:rPr lang="en-US" sz="2200" dirty="0" smtClean="0">
                <a:latin typeface="Helvetica" pitchFamily="34" charset="0"/>
              </a:rPr>
              <a:t>Possible specific topics for Behaviour Briefings:</a:t>
            </a:r>
          </a:p>
          <a:p>
            <a:pPr marL="360000" indent="-360000">
              <a:spcBef>
                <a:spcPts val="600"/>
              </a:spcBef>
              <a:spcAft>
                <a:spcPts val="1200"/>
              </a:spcAft>
            </a:pPr>
            <a:r>
              <a:rPr lang="en-AU" sz="2200" dirty="0" smtClean="0">
                <a:latin typeface="Helvetica" pitchFamily="34" charset="0"/>
              </a:rPr>
              <a:t>Prohibiting access to certain areas </a:t>
            </a:r>
          </a:p>
          <a:p>
            <a:pPr marL="360000" indent="-360000">
              <a:spcBef>
                <a:spcPts val="600"/>
              </a:spcBef>
              <a:spcAft>
                <a:spcPts val="1200"/>
              </a:spcAft>
            </a:pPr>
            <a:r>
              <a:rPr lang="en-AU" sz="2200" dirty="0" smtClean="0">
                <a:latin typeface="Helvetica" pitchFamily="34" charset="0"/>
              </a:rPr>
              <a:t>Limiting the taking of photographs or video </a:t>
            </a:r>
            <a:br>
              <a:rPr lang="en-AU" sz="2200" dirty="0" smtClean="0">
                <a:latin typeface="Helvetica" pitchFamily="34" charset="0"/>
              </a:rPr>
            </a:br>
            <a:r>
              <a:rPr lang="en-AU" sz="2200" dirty="0" smtClean="0">
                <a:latin typeface="Helvetica" pitchFamily="34" charset="0"/>
              </a:rPr>
              <a:t>or other recordings </a:t>
            </a:r>
          </a:p>
          <a:p>
            <a:pPr marL="360000" indent="-360000">
              <a:spcBef>
                <a:spcPts val="600"/>
              </a:spcBef>
              <a:spcAft>
                <a:spcPts val="1200"/>
              </a:spcAft>
            </a:pPr>
            <a:r>
              <a:rPr lang="en-AU" sz="2200" dirty="0" smtClean="0">
                <a:latin typeface="Helvetica" pitchFamily="34" charset="0"/>
              </a:rPr>
              <a:t>Controlling engagement with local people </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2492896"/>
            <a:ext cx="1600752" cy="239992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24536"/>
          </a:xfrm>
        </p:spPr>
        <p:txBody>
          <a:bodyPr>
            <a:normAutofit/>
          </a:bodyPr>
          <a:lstStyle/>
          <a:p>
            <a:pPr marL="360000" indent="-360000">
              <a:spcBef>
                <a:spcPts val="600"/>
              </a:spcBef>
              <a:spcAft>
                <a:spcPts val="1200"/>
              </a:spcAft>
            </a:pPr>
            <a:r>
              <a:rPr lang="en-AU" sz="2200" dirty="0" smtClean="0">
                <a:latin typeface="Helvetica" pitchFamily="34" charset="0"/>
              </a:rPr>
              <a:t>Explaining and demonstrating appropriate interactions with local </a:t>
            </a:r>
          </a:p>
          <a:p>
            <a:pPr marL="360000" indent="-360000">
              <a:spcBef>
                <a:spcPts val="600"/>
              </a:spcBef>
              <a:spcAft>
                <a:spcPts val="1200"/>
              </a:spcAft>
            </a:pPr>
            <a:r>
              <a:rPr lang="en-AU" sz="2200" dirty="0" smtClean="0">
                <a:latin typeface="Helvetica" pitchFamily="34" charset="0"/>
              </a:rPr>
              <a:t>Focussing on resources/items taken into a community </a:t>
            </a:r>
          </a:p>
          <a:p>
            <a:pPr marL="360000" indent="-360000">
              <a:spcBef>
                <a:spcPts val="600"/>
              </a:spcBef>
              <a:spcAft>
                <a:spcPts val="1200"/>
              </a:spcAft>
            </a:pPr>
            <a:r>
              <a:rPr lang="en-AU" sz="2200" dirty="0" smtClean="0">
                <a:latin typeface="Helvetica" pitchFamily="34" charset="0"/>
              </a:rPr>
              <a:t>Designating items which can and cannot be removed from the community </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8" y="4293096"/>
            <a:ext cx="1956048" cy="1304684"/>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Brief tour groups regarding 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Stressing the need to conserve (and/or not use at all) local and limited resources </a:t>
            </a:r>
          </a:p>
          <a:p>
            <a:pPr marL="360000" indent="-360000">
              <a:spcBef>
                <a:spcPts val="600"/>
              </a:spcBef>
              <a:spcAft>
                <a:spcPts val="1200"/>
              </a:spcAft>
            </a:pPr>
            <a:r>
              <a:rPr lang="en-AU" sz="2200" dirty="0" smtClean="0">
                <a:latin typeface="Helvetica" pitchFamily="34" charset="0"/>
              </a:rPr>
              <a:t>Describing action to take in relation to local flora and fauna</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50235" y="3983707"/>
            <a:ext cx="2184336" cy="145695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Options for sharing general knowledge with tour groups:</a:t>
            </a:r>
          </a:p>
          <a:p>
            <a:pPr marL="360000" indent="-360000">
              <a:spcBef>
                <a:spcPts val="600"/>
              </a:spcBef>
              <a:spcAft>
                <a:spcPts val="1200"/>
              </a:spcAft>
            </a:pPr>
            <a:r>
              <a:rPr lang="en-US" sz="2200" dirty="0" smtClean="0">
                <a:latin typeface="Helvetica" pitchFamily="34" charset="0"/>
              </a:rPr>
              <a:t>Delivering verbal presentations</a:t>
            </a:r>
          </a:p>
          <a:p>
            <a:pPr marL="360000" indent="-360000">
              <a:spcBef>
                <a:spcPts val="600"/>
              </a:spcBef>
              <a:spcAft>
                <a:spcPts val="1200"/>
              </a:spcAft>
            </a:pPr>
            <a:r>
              <a:rPr lang="en-AU" sz="2200" dirty="0" smtClean="0">
                <a:latin typeface="Helvetica" pitchFamily="34" charset="0"/>
              </a:rPr>
              <a:t>Providing handout materials</a:t>
            </a:r>
          </a:p>
          <a:p>
            <a:pPr marL="360000" indent="-360000">
              <a:spcBef>
                <a:spcPts val="600"/>
              </a:spcBef>
              <a:spcAft>
                <a:spcPts val="1200"/>
              </a:spcAft>
            </a:pPr>
            <a:r>
              <a:rPr lang="en-AU" sz="2200" dirty="0" smtClean="0">
                <a:latin typeface="Helvetica" pitchFamily="34" charset="0"/>
              </a:rPr>
              <a:t>Using recorded presentations</a:t>
            </a:r>
          </a:p>
          <a:p>
            <a:pPr marL="360000" indent="-360000">
              <a:spcBef>
                <a:spcPts val="600"/>
              </a:spcBef>
              <a:spcAft>
                <a:spcPts val="1200"/>
              </a:spcAft>
            </a:pPr>
            <a:r>
              <a:rPr lang="en-AU" sz="2200" dirty="0" smtClean="0">
                <a:latin typeface="Helvetica" pitchFamily="34" charset="0"/>
              </a:rPr>
              <a:t>Making community visits</a:t>
            </a:r>
          </a:p>
          <a:p>
            <a:pPr marL="360000" indent="-360000">
              <a:spcBef>
                <a:spcPts val="600"/>
              </a:spcBef>
              <a:spcAft>
                <a:spcPts val="1200"/>
              </a:spcAft>
            </a:pPr>
            <a:r>
              <a:rPr lang="en-AU" sz="2200" dirty="0" smtClean="0">
                <a:latin typeface="Helvetica" pitchFamily="34" charset="0"/>
              </a:rPr>
              <a:t>Implementing interpretive activities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564904"/>
            <a:ext cx="2471936" cy="1794626"/>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Verbal presentations may include:</a:t>
            </a:r>
          </a:p>
          <a:p>
            <a:pPr marL="360000" indent="-360000">
              <a:spcBef>
                <a:spcPts val="600"/>
              </a:spcBef>
              <a:spcAft>
                <a:spcPts val="1200"/>
              </a:spcAft>
            </a:pPr>
            <a:r>
              <a:rPr lang="en-US" sz="2200" dirty="0" smtClean="0">
                <a:latin typeface="Helvetica" pitchFamily="34" charset="0"/>
              </a:rPr>
              <a:t>Formal, structured presentations</a:t>
            </a:r>
          </a:p>
          <a:p>
            <a:pPr marL="360000" indent="-360000">
              <a:spcBef>
                <a:spcPts val="600"/>
              </a:spcBef>
              <a:spcAft>
                <a:spcPts val="1200"/>
              </a:spcAft>
            </a:pPr>
            <a:r>
              <a:rPr lang="en-US" sz="2200" dirty="0" smtClean="0">
                <a:latin typeface="Helvetica" pitchFamily="34" charset="0"/>
              </a:rPr>
              <a:t>Casual, supplementary contributions</a:t>
            </a:r>
          </a:p>
          <a:p>
            <a:pPr marL="360000" indent="-360000">
              <a:spcBef>
                <a:spcPts val="600"/>
              </a:spcBef>
              <a:spcAft>
                <a:spcPts val="1200"/>
              </a:spcAft>
            </a:pPr>
            <a:r>
              <a:rPr lang="en-US" sz="2200" dirty="0" smtClean="0">
                <a:latin typeface="Helvetica" pitchFamily="34" charset="0"/>
              </a:rPr>
              <a:t>Scripted commentaries</a:t>
            </a:r>
          </a:p>
          <a:p>
            <a:pPr marL="360000" indent="-360000">
              <a:spcBef>
                <a:spcPts val="600"/>
              </a:spcBef>
              <a:spcAft>
                <a:spcPts val="1200"/>
              </a:spcAft>
            </a:pPr>
            <a:r>
              <a:rPr lang="en-US" sz="2200" dirty="0" smtClean="0">
                <a:latin typeface="Helvetica" pitchFamily="34" charset="0"/>
              </a:rPr>
              <a:t>Unscripted commentaries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3717032"/>
            <a:ext cx="2543944" cy="172479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Handout materials may include:</a:t>
            </a:r>
          </a:p>
          <a:p>
            <a:pPr marL="360000" indent="-360000">
              <a:spcBef>
                <a:spcPts val="600"/>
              </a:spcBef>
              <a:spcAft>
                <a:spcPts val="1200"/>
              </a:spcAft>
            </a:pPr>
            <a:r>
              <a:rPr lang="en-US" sz="2200" dirty="0" smtClean="0">
                <a:latin typeface="Helvetica" pitchFamily="34" charset="0"/>
              </a:rPr>
              <a:t>Information sheets</a:t>
            </a:r>
          </a:p>
          <a:p>
            <a:pPr marL="360000" indent="-360000">
              <a:spcBef>
                <a:spcPts val="600"/>
              </a:spcBef>
              <a:spcAft>
                <a:spcPts val="1200"/>
              </a:spcAft>
            </a:pPr>
            <a:r>
              <a:rPr lang="en-US" sz="2200" dirty="0" smtClean="0">
                <a:latin typeface="Helvetica" pitchFamily="34" charset="0"/>
              </a:rPr>
              <a:t>Fact sheets</a:t>
            </a:r>
          </a:p>
          <a:p>
            <a:pPr marL="360000" indent="-360000">
              <a:spcBef>
                <a:spcPts val="600"/>
              </a:spcBef>
              <a:spcAft>
                <a:spcPts val="1200"/>
              </a:spcAft>
            </a:pPr>
            <a:r>
              <a:rPr lang="en-US" sz="2200" dirty="0" smtClean="0">
                <a:latin typeface="Helvetica" pitchFamily="34" charset="0"/>
              </a:rPr>
              <a:t>Photographs, illustrations </a:t>
            </a:r>
            <a:br>
              <a:rPr lang="en-US" sz="2200" dirty="0" smtClean="0">
                <a:latin typeface="Helvetica" pitchFamily="34" charset="0"/>
              </a:rPr>
            </a:br>
            <a:r>
              <a:rPr lang="en-US" sz="2200" dirty="0" smtClean="0">
                <a:latin typeface="Helvetica" pitchFamily="34" charset="0"/>
              </a:rPr>
              <a:t>and drawings</a:t>
            </a:r>
          </a:p>
          <a:p>
            <a:pPr marL="360000" indent="-360000">
              <a:spcBef>
                <a:spcPts val="600"/>
              </a:spcBef>
              <a:spcAft>
                <a:spcPts val="1200"/>
              </a:spcAft>
            </a:pPr>
            <a:r>
              <a:rPr lang="en-US" sz="2200" dirty="0" smtClean="0">
                <a:latin typeface="Helvetica" pitchFamily="34" charset="0"/>
              </a:rPr>
              <a:t>Sample items</a:t>
            </a:r>
          </a:p>
          <a:p>
            <a:pPr marL="360000" indent="-360000">
              <a:spcBef>
                <a:spcPts val="600"/>
              </a:spcBef>
              <a:spcAft>
                <a:spcPts val="1200"/>
              </a:spcAft>
            </a:pPr>
            <a:r>
              <a:rPr lang="en-US" sz="2200" dirty="0" smtClean="0">
                <a:latin typeface="Helvetica" pitchFamily="34" charset="0"/>
              </a:rPr>
              <a:t>Interpretive activity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3789040"/>
            <a:ext cx="2327920" cy="155272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Recorded presentations may feature:</a:t>
            </a:r>
          </a:p>
          <a:p>
            <a:pPr marL="360000" indent="-360000">
              <a:spcBef>
                <a:spcPts val="600"/>
              </a:spcBef>
              <a:spcAft>
                <a:spcPts val="1200"/>
              </a:spcAft>
            </a:pPr>
            <a:r>
              <a:rPr lang="en-US" sz="2200" dirty="0" smtClean="0">
                <a:latin typeface="Helvetica" pitchFamily="34" charset="0"/>
              </a:rPr>
              <a:t>Video/DVD – primary and sub-ordinate</a:t>
            </a:r>
          </a:p>
          <a:p>
            <a:pPr marL="360000" indent="-360000">
              <a:spcBef>
                <a:spcPts val="600"/>
              </a:spcBef>
              <a:spcAft>
                <a:spcPts val="1200"/>
              </a:spcAft>
            </a:pPr>
            <a:r>
              <a:rPr lang="en-US" sz="2200" dirty="0" smtClean="0">
                <a:latin typeface="Helvetica" pitchFamily="34" charset="0"/>
              </a:rPr>
              <a:t>Electronic personal devices</a:t>
            </a:r>
          </a:p>
          <a:p>
            <a:pPr marL="360000" indent="-360000">
              <a:spcBef>
                <a:spcPts val="600"/>
              </a:spcBef>
              <a:spcAft>
                <a:spcPts val="1200"/>
              </a:spcAft>
            </a:pPr>
            <a:r>
              <a:rPr lang="en-US" sz="2200" dirty="0" smtClean="0">
                <a:latin typeface="Helvetica" pitchFamily="34" charset="0"/>
              </a:rPr>
              <a:t>Images</a:t>
            </a:r>
          </a:p>
          <a:p>
            <a:pPr marL="360000" indent="-360000">
              <a:spcBef>
                <a:spcPts val="600"/>
              </a:spcBef>
              <a:spcAft>
                <a:spcPts val="1200"/>
              </a:spcAft>
            </a:pPr>
            <a:r>
              <a:rPr lang="en-US" sz="2200" dirty="0" smtClean="0">
                <a:latin typeface="Helvetica" pitchFamily="34" charset="0"/>
              </a:rPr>
              <a:t>Audio-recordings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0140" y="4149080"/>
            <a:ext cx="2339945" cy="156011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Community visits are an integral part of communicating general knowledge – where:</a:t>
            </a:r>
          </a:p>
          <a:p>
            <a:pPr marL="360000" indent="-360000">
              <a:spcBef>
                <a:spcPts val="600"/>
              </a:spcBef>
              <a:spcAft>
                <a:spcPts val="1200"/>
              </a:spcAft>
            </a:pPr>
            <a:r>
              <a:rPr lang="en-AU" sz="2200" dirty="0" smtClean="0">
                <a:latin typeface="Helvetica" pitchFamily="34" charset="0"/>
              </a:rPr>
              <a:t>Tour groups physically go into the community</a:t>
            </a:r>
          </a:p>
          <a:p>
            <a:pPr marL="360000" indent="-360000">
              <a:spcBef>
                <a:spcPts val="600"/>
              </a:spcBef>
              <a:spcAft>
                <a:spcPts val="1200"/>
              </a:spcAft>
            </a:pPr>
            <a:r>
              <a:rPr lang="en-AU" sz="2200" dirty="0" smtClean="0">
                <a:latin typeface="Helvetica" pitchFamily="34" charset="0"/>
              </a:rPr>
              <a:t>Customers interact with the indigenous communities</a:t>
            </a:r>
          </a:p>
          <a:p>
            <a:pPr marL="360000" indent="-360000">
              <a:spcBef>
                <a:spcPts val="600"/>
              </a:spcBef>
              <a:spcAft>
                <a:spcPts val="1200"/>
              </a:spcAft>
            </a:pPr>
            <a:r>
              <a:rPr lang="en-AU" sz="2200" dirty="0" smtClean="0">
                <a:latin typeface="Helvetica" pitchFamily="34" charset="0"/>
              </a:rPr>
              <a:t>Tourists become immersed in the totality of the indigenous culture </a:t>
            </a:r>
          </a:p>
          <a:p>
            <a:pPr marL="360000" indent="-360000">
              <a:spcBef>
                <a:spcPts val="600"/>
              </a:spcBef>
              <a:spcAft>
                <a:spcPts val="1200"/>
              </a:spcAft>
            </a:pPr>
            <a:r>
              <a:rPr lang="en-AU" sz="2200" dirty="0" smtClean="0">
                <a:latin typeface="Helvetica" pitchFamily="34" charset="0"/>
              </a:rPr>
              <a:t>Tour group members engage with a </a:t>
            </a:r>
            <a:br>
              <a:rPr lang="en-AU" sz="2200" dirty="0" smtClean="0">
                <a:latin typeface="Helvetica" pitchFamily="34" charset="0"/>
              </a:rPr>
            </a:br>
            <a:r>
              <a:rPr lang="en-AU" sz="2200" dirty="0" smtClean="0">
                <a:latin typeface="Helvetica" pitchFamily="34" charset="0"/>
              </a:rPr>
              <a:t>range of interpretive activities</a:t>
            </a:r>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277178"/>
            <a:ext cx="2184336" cy="1456078"/>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200" dirty="0" smtClean="0">
                <a:latin typeface="Helvetica" pitchFamily="34" charset="0"/>
              </a:rPr>
              <a:t>Interpretive guiding techniques can be used:</a:t>
            </a:r>
          </a:p>
          <a:p>
            <a:pPr marL="360000" indent="-360000">
              <a:spcBef>
                <a:spcPts val="600"/>
              </a:spcBef>
              <a:spcAft>
                <a:spcPts val="1200"/>
              </a:spcAft>
            </a:pPr>
            <a:r>
              <a:rPr lang="en-AU" sz="2200" dirty="0" smtClean="0">
                <a:latin typeface="Helvetica" pitchFamily="34" charset="0"/>
              </a:rPr>
              <a:t>Tour guide uses interpretive activities and presentation techniques</a:t>
            </a:r>
          </a:p>
          <a:p>
            <a:pPr marL="360000" indent="-360000">
              <a:spcBef>
                <a:spcPts val="600"/>
              </a:spcBef>
              <a:spcAft>
                <a:spcPts val="1200"/>
              </a:spcAft>
            </a:pPr>
            <a:r>
              <a:rPr lang="en-AU" sz="2200" dirty="0" smtClean="0">
                <a:latin typeface="Helvetica" pitchFamily="34" charset="0"/>
              </a:rPr>
              <a:t>Their use makes the tour a more memorable experience</a:t>
            </a:r>
          </a:p>
          <a:p>
            <a:pPr marL="360000" indent="-360000">
              <a:spcBef>
                <a:spcPts val="600"/>
              </a:spcBef>
              <a:spcAft>
                <a:spcPts val="1200"/>
              </a:spcAft>
            </a:pPr>
            <a:r>
              <a:rPr lang="en-AU" sz="2200" dirty="0" smtClean="0">
                <a:latin typeface="Helvetica" pitchFamily="34" charset="0"/>
              </a:rPr>
              <a:t>It goes beyond basic provision of information</a:t>
            </a:r>
          </a:p>
          <a:p>
            <a:pPr marL="360000" indent="-360000">
              <a:spcBef>
                <a:spcPts val="600"/>
              </a:spcBef>
              <a:spcAft>
                <a:spcPts val="1200"/>
              </a:spcAft>
            </a:pPr>
            <a:r>
              <a:rPr lang="en-AU" sz="2200" dirty="0" smtClean="0">
                <a:latin typeface="Helvetica" pitchFamily="34" charset="0"/>
              </a:rPr>
              <a:t>They seek to make people care about, </a:t>
            </a:r>
            <a:br>
              <a:rPr lang="en-AU" sz="2200" dirty="0" smtClean="0">
                <a:latin typeface="Helvetica" pitchFamily="34" charset="0"/>
              </a:rPr>
            </a:br>
            <a:r>
              <a:rPr lang="en-AU" sz="2200" dirty="0" smtClean="0">
                <a:latin typeface="Helvetica" pitchFamily="34" charset="0"/>
              </a:rPr>
              <a:t>and care for, topics and subjects which </a:t>
            </a:r>
            <a:br>
              <a:rPr lang="en-AU" sz="2200" dirty="0" smtClean="0">
                <a:latin typeface="Helvetica" pitchFamily="34" charset="0"/>
              </a:rPr>
            </a:br>
            <a:r>
              <a:rPr lang="en-AU" sz="2200" dirty="0" smtClean="0">
                <a:latin typeface="Helvetica" pitchFamily="34" charset="0"/>
              </a:rPr>
              <a:t>are the focus of interpretive activities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6255" y="4563194"/>
            <a:ext cx="2009690" cy="1336444"/>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0" indent="0">
              <a:spcBef>
                <a:spcPts val="600"/>
              </a:spcBef>
              <a:spcAft>
                <a:spcPts val="1200"/>
              </a:spcAft>
              <a:buNone/>
            </a:pPr>
            <a:r>
              <a:rPr lang="en-US" sz="2200" dirty="0" smtClean="0">
                <a:latin typeface="Helvetica" pitchFamily="34" charset="0"/>
              </a:rPr>
              <a:t>Interpretive guiding techniques may include:</a:t>
            </a:r>
          </a:p>
          <a:p>
            <a:pPr marL="360000" indent="-360000">
              <a:spcBef>
                <a:spcPts val="600"/>
              </a:spcBef>
              <a:spcAft>
                <a:spcPts val="1200"/>
              </a:spcAft>
            </a:pPr>
            <a:r>
              <a:rPr lang="en-US" sz="2200" dirty="0" smtClean="0">
                <a:latin typeface="Helvetica" pitchFamily="34" charset="0"/>
              </a:rPr>
              <a:t>Role playing</a:t>
            </a:r>
          </a:p>
          <a:p>
            <a:pPr marL="360000" indent="-360000">
              <a:spcBef>
                <a:spcPts val="600"/>
              </a:spcBef>
              <a:spcAft>
                <a:spcPts val="1200"/>
              </a:spcAft>
            </a:pPr>
            <a:r>
              <a:rPr lang="en-US" sz="2200" dirty="0" smtClean="0">
                <a:latin typeface="Helvetica" pitchFamily="34" charset="0"/>
              </a:rPr>
              <a:t>Using different voice techniques</a:t>
            </a:r>
          </a:p>
          <a:p>
            <a:pPr marL="360000" indent="-360000">
              <a:spcBef>
                <a:spcPts val="600"/>
              </a:spcBef>
              <a:spcAft>
                <a:spcPts val="1200"/>
              </a:spcAft>
            </a:pPr>
            <a:r>
              <a:rPr lang="en-US" sz="2200" dirty="0" smtClean="0">
                <a:latin typeface="Helvetica" pitchFamily="34" charset="0"/>
              </a:rPr>
              <a:t>Story-telling</a:t>
            </a:r>
          </a:p>
          <a:p>
            <a:pPr marL="360000" indent="-360000">
              <a:spcBef>
                <a:spcPts val="600"/>
              </a:spcBef>
              <a:spcAft>
                <a:spcPts val="1200"/>
              </a:spcAft>
            </a:pPr>
            <a:r>
              <a:rPr lang="en-US" sz="2200" dirty="0" smtClean="0">
                <a:latin typeface="Helvetica" pitchFamily="34" charset="0"/>
              </a:rPr>
              <a:t>Playing games</a:t>
            </a:r>
          </a:p>
          <a:p>
            <a:pPr marL="360000" indent="-360000">
              <a:spcBef>
                <a:spcPts val="600"/>
              </a:spcBef>
              <a:spcAft>
                <a:spcPts val="1200"/>
              </a:spcAft>
            </a:pPr>
            <a:r>
              <a:rPr lang="en-US" sz="2200" dirty="0" smtClean="0">
                <a:latin typeface="Helvetica" pitchFamily="34" charset="0"/>
              </a:rPr>
              <a:t>Conducting activities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077072"/>
            <a:ext cx="2369403" cy="158039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Presenting demonstrations</a:t>
            </a:r>
          </a:p>
          <a:p>
            <a:pPr marL="360000" indent="-360000">
              <a:spcBef>
                <a:spcPts val="600"/>
              </a:spcBef>
              <a:spcAft>
                <a:spcPts val="1200"/>
              </a:spcAft>
            </a:pPr>
            <a:r>
              <a:rPr lang="en-US" sz="2200" dirty="0" smtClean="0">
                <a:latin typeface="Helvetica" pitchFamily="34" charset="0"/>
              </a:rPr>
              <a:t>Delivering participant interaction situations</a:t>
            </a:r>
          </a:p>
          <a:p>
            <a:pPr marL="360000" indent="-360000">
              <a:spcBef>
                <a:spcPts val="600"/>
              </a:spcBef>
              <a:spcAft>
                <a:spcPts val="1200"/>
              </a:spcAft>
            </a:pPr>
            <a:r>
              <a:rPr lang="en-US" sz="2200" dirty="0" smtClean="0">
                <a:latin typeface="Helvetica" pitchFamily="34" charset="0"/>
              </a:rPr>
              <a:t>Holding sensory awareness exercises</a:t>
            </a:r>
          </a:p>
          <a:p>
            <a:pPr marL="360000" indent="-360000">
              <a:spcBef>
                <a:spcPts val="600"/>
              </a:spcBef>
              <a:spcAft>
                <a:spcPts val="1200"/>
              </a:spcAft>
            </a:pPr>
            <a:r>
              <a:rPr lang="en-US" sz="2200" dirty="0" smtClean="0">
                <a:latin typeface="Helvetica" pitchFamily="34" charset="0"/>
              </a:rPr>
              <a:t>Using materials</a:t>
            </a:r>
          </a:p>
          <a:p>
            <a:pPr marL="360000" indent="-360000">
              <a:spcBef>
                <a:spcPts val="600"/>
              </a:spcBef>
              <a:spcAft>
                <a:spcPts val="1200"/>
              </a:spcAft>
            </a:pPr>
            <a:r>
              <a:rPr lang="en-US" sz="2200" dirty="0" smtClean="0">
                <a:latin typeface="Helvetica" pitchFamily="34" charset="0"/>
              </a:rPr>
              <a:t>Using technology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3789040"/>
            <a:ext cx="2050199" cy="177547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0" indent="0">
              <a:spcBef>
                <a:spcPts val="600"/>
              </a:spcBef>
              <a:spcAft>
                <a:spcPts val="1200"/>
              </a:spcAft>
              <a:buNone/>
            </a:pPr>
            <a:r>
              <a:rPr lang="en-US" sz="2200" dirty="0" smtClean="0">
                <a:latin typeface="Helvetica" pitchFamily="34" charset="0"/>
              </a:rPr>
              <a:t>Three primary times when general information might be shared with tour groups:</a:t>
            </a:r>
          </a:p>
          <a:p>
            <a:pPr marL="360000" indent="-360000">
              <a:spcBef>
                <a:spcPts val="600"/>
              </a:spcBef>
              <a:spcAft>
                <a:spcPts val="1200"/>
              </a:spcAft>
            </a:pPr>
            <a:r>
              <a:rPr lang="en-US" sz="2200" dirty="0" smtClean="0">
                <a:latin typeface="Helvetica" pitchFamily="34" charset="0"/>
              </a:rPr>
              <a:t>Before the tour – pre-tour advice</a:t>
            </a:r>
          </a:p>
          <a:p>
            <a:pPr marL="360000" indent="-360000">
              <a:spcBef>
                <a:spcPts val="600"/>
              </a:spcBef>
              <a:spcAft>
                <a:spcPts val="1200"/>
              </a:spcAft>
            </a:pPr>
            <a:r>
              <a:rPr lang="en-US" sz="2200" dirty="0" smtClean="0">
                <a:latin typeface="Helvetica" pitchFamily="34" charset="0"/>
              </a:rPr>
              <a:t>During the tour – during tour notification</a:t>
            </a:r>
          </a:p>
          <a:p>
            <a:pPr marL="360000" indent="-360000">
              <a:spcBef>
                <a:spcPts val="600"/>
              </a:spcBef>
              <a:spcAft>
                <a:spcPts val="1200"/>
              </a:spcAft>
            </a:pPr>
            <a:r>
              <a:rPr lang="en-US" sz="2200" dirty="0" smtClean="0">
                <a:latin typeface="Helvetica" pitchFamily="34" charset="0"/>
              </a:rPr>
              <a:t>After the tour – post-tour communication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1009" y="3212976"/>
            <a:ext cx="2100064" cy="1770354"/>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Pre-tour advice may occur:</a:t>
            </a:r>
          </a:p>
          <a:p>
            <a:pPr marL="360000" indent="-360000">
              <a:spcBef>
                <a:spcPts val="600"/>
              </a:spcBef>
              <a:spcAft>
                <a:spcPts val="1200"/>
              </a:spcAft>
            </a:pPr>
            <a:r>
              <a:rPr lang="en-US" sz="2200" dirty="0" smtClean="0">
                <a:latin typeface="Helvetica" pitchFamily="34" charset="0"/>
              </a:rPr>
              <a:t>When tickets are provided to customers</a:t>
            </a:r>
          </a:p>
          <a:p>
            <a:pPr marL="360000" indent="-360000">
              <a:spcBef>
                <a:spcPts val="600"/>
              </a:spcBef>
              <a:spcAft>
                <a:spcPts val="1200"/>
              </a:spcAft>
            </a:pPr>
            <a:r>
              <a:rPr lang="en-US" sz="2200" dirty="0" smtClean="0">
                <a:latin typeface="Helvetica" pitchFamily="34" charset="0"/>
              </a:rPr>
              <a:t>At a pre-tour briefing</a:t>
            </a:r>
          </a:p>
          <a:p>
            <a:pPr marL="360000" indent="-360000">
              <a:spcBef>
                <a:spcPts val="600"/>
              </a:spcBef>
              <a:spcAft>
                <a:spcPts val="1200"/>
              </a:spcAft>
            </a:pPr>
            <a:r>
              <a:rPr lang="en-US" sz="2200" dirty="0" smtClean="0">
                <a:latin typeface="Helvetica" pitchFamily="34" charset="0"/>
              </a:rPr>
              <a:t>Prior to arriving at/entering the destination community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77072"/>
            <a:ext cx="2543944" cy="169681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a:bodyPr>
          <a:lstStyle/>
          <a:p>
            <a:pPr marL="0" indent="0">
              <a:spcBef>
                <a:spcPts val="600"/>
              </a:spcBef>
              <a:spcAft>
                <a:spcPts val="1200"/>
              </a:spcAft>
              <a:buNone/>
            </a:pPr>
            <a:r>
              <a:rPr lang="en-US" sz="2200" dirty="0" smtClean="0">
                <a:latin typeface="Helvetica" pitchFamily="34" charset="0"/>
              </a:rPr>
              <a:t>During-tour advice may occur:</a:t>
            </a:r>
          </a:p>
          <a:p>
            <a:pPr marL="360000" indent="-360000">
              <a:spcBef>
                <a:spcPts val="600"/>
              </a:spcBef>
              <a:spcAft>
                <a:spcPts val="1200"/>
              </a:spcAft>
            </a:pPr>
            <a:r>
              <a:rPr lang="en-AU" sz="2200" dirty="0" smtClean="0">
                <a:latin typeface="Helvetica" pitchFamily="34" charset="0"/>
              </a:rPr>
              <a:t>While walking to the assembly point in the community</a:t>
            </a:r>
          </a:p>
          <a:p>
            <a:pPr marL="360000" indent="-360000">
              <a:spcBef>
                <a:spcPts val="600"/>
              </a:spcBef>
              <a:spcAft>
                <a:spcPts val="1200"/>
              </a:spcAft>
            </a:pPr>
            <a:r>
              <a:rPr lang="en-AU" sz="2200" dirty="0" smtClean="0">
                <a:latin typeface="Helvetica" pitchFamily="34" charset="0"/>
              </a:rPr>
              <a:t>While travelling in a tour vehicle within community lands</a:t>
            </a:r>
          </a:p>
          <a:p>
            <a:pPr marL="360000" indent="-360000">
              <a:spcBef>
                <a:spcPts val="600"/>
              </a:spcBef>
              <a:spcAft>
                <a:spcPts val="1200"/>
              </a:spcAft>
            </a:pPr>
            <a:r>
              <a:rPr lang="en-AU" sz="2200" dirty="0" smtClean="0">
                <a:latin typeface="Helvetica" pitchFamily="34" charset="0"/>
              </a:rPr>
              <a:t>At a pre-arranged location within </a:t>
            </a:r>
            <a:br>
              <a:rPr lang="en-AU" sz="2200" dirty="0" smtClean="0">
                <a:latin typeface="Helvetica" pitchFamily="34" charset="0"/>
              </a:rPr>
            </a:br>
            <a:r>
              <a:rPr lang="en-AU" sz="2200" dirty="0" smtClean="0">
                <a:latin typeface="Helvetica" pitchFamily="34" charset="0"/>
              </a:rPr>
              <a:t>the community</a:t>
            </a:r>
          </a:p>
          <a:p>
            <a:pPr marL="360000" indent="-360000">
              <a:spcBef>
                <a:spcPts val="600"/>
              </a:spcBef>
              <a:spcAft>
                <a:spcPts val="1200"/>
              </a:spcAft>
            </a:pPr>
            <a:r>
              <a:rPr lang="en-AU" sz="2200" dirty="0" smtClean="0">
                <a:latin typeface="Helvetica" pitchFamily="34" charset="0"/>
              </a:rPr>
              <a:t>As part of the preparation for </a:t>
            </a:r>
            <a:br>
              <a:rPr lang="en-AU" sz="2200" dirty="0" smtClean="0">
                <a:latin typeface="Helvetica" pitchFamily="34" charset="0"/>
              </a:rPr>
            </a:br>
            <a:r>
              <a:rPr lang="en-AU" sz="2200" dirty="0" smtClean="0">
                <a:latin typeface="Helvetica" pitchFamily="34" charset="0"/>
              </a:rPr>
              <a:t>an interpretive activity</a:t>
            </a:r>
          </a:p>
          <a:p>
            <a:pPr marL="360000" indent="-360000">
              <a:spcBef>
                <a:spcPts val="600"/>
              </a:spcBef>
              <a:spcAft>
                <a:spcPts val="1200"/>
              </a:spcAft>
            </a:pPr>
            <a:r>
              <a:rPr lang="en-AU" sz="2200" dirty="0" smtClean="0">
                <a:latin typeface="Helvetica" pitchFamily="34" charset="0"/>
              </a:rPr>
              <a:t>During the de-briefing which takes place at the conclusion of an interpretive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3409181"/>
            <a:ext cx="1812032" cy="1359024"/>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Communicate general knowledge to tour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Post-tour communication may occur :</a:t>
            </a:r>
          </a:p>
          <a:p>
            <a:pPr marL="360000" indent="-360000">
              <a:spcBef>
                <a:spcPts val="600"/>
              </a:spcBef>
              <a:spcAft>
                <a:spcPts val="1200"/>
              </a:spcAft>
            </a:pPr>
            <a:r>
              <a:rPr lang="en-US" sz="2200" dirty="0" smtClean="0">
                <a:latin typeface="Helvetica" pitchFamily="34" charset="0"/>
              </a:rPr>
              <a:t>On the tour vehicle while returning to departure point/next destination</a:t>
            </a:r>
          </a:p>
          <a:p>
            <a:pPr marL="360000" indent="-360000">
              <a:spcBef>
                <a:spcPts val="600"/>
              </a:spcBef>
              <a:spcAft>
                <a:spcPts val="1200"/>
              </a:spcAft>
            </a:pPr>
            <a:r>
              <a:rPr lang="en-US" sz="2200" dirty="0" smtClean="0">
                <a:latin typeface="Helvetica" pitchFamily="34" charset="0"/>
              </a:rPr>
              <a:t>In a shared room at the accommodation at the end of the day</a:t>
            </a:r>
          </a:p>
          <a:p>
            <a:pPr marL="360000" indent="-360000">
              <a:spcBef>
                <a:spcPts val="600"/>
              </a:spcBef>
              <a:spcAft>
                <a:spcPts val="1200"/>
              </a:spcAft>
            </a:pPr>
            <a:r>
              <a:rPr lang="en-US" sz="2200" dirty="0" smtClean="0">
                <a:latin typeface="Helvetica" pitchFamily="34" charset="0"/>
              </a:rPr>
              <a:t>At the Tour Operator business when tour has concluded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1720" y="4437112"/>
            <a:ext cx="3048000" cy="122834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Reply to tour group questions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Tips for answering questions:</a:t>
            </a:r>
          </a:p>
          <a:p>
            <a:pPr marL="360000" indent="-360000">
              <a:spcBef>
                <a:spcPts val="600"/>
              </a:spcBef>
              <a:spcAft>
                <a:spcPts val="1200"/>
              </a:spcAft>
            </a:pPr>
            <a:r>
              <a:rPr lang="en-AU" sz="2200" dirty="0" smtClean="0">
                <a:latin typeface="Helvetica" pitchFamily="34" charset="0"/>
              </a:rPr>
              <a:t>Thank the person for the question</a:t>
            </a:r>
          </a:p>
          <a:p>
            <a:pPr marL="360000" indent="-360000">
              <a:spcBef>
                <a:spcPts val="600"/>
              </a:spcBef>
              <a:spcAft>
                <a:spcPts val="1200"/>
              </a:spcAft>
            </a:pPr>
            <a:r>
              <a:rPr lang="en-AU" sz="2200" dirty="0" smtClean="0">
                <a:latin typeface="Helvetica" pitchFamily="34" charset="0"/>
              </a:rPr>
              <a:t>Mention the person’s name when </a:t>
            </a:r>
            <a:br>
              <a:rPr lang="en-AU" sz="2200" dirty="0" smtClean="0">
                <a:latin typeface="Helvetica" pitchFamily="34" charset="0"/>
              </a:rPr>
            </a:br>
            <a:r>
              <a:rPr lang="en-AU" sz="2200" dirty="0" smtClean="0">
                <a:latin typeface="Helvetica" pitchFamily="34" charset="0"/>
              </a:rPr>
              <a:t>thanking them</a:t>
            </a:r>
          </a:p>
          <a:p>
            <a:pPr marL="360000" indent="-360000">
              <a:spcBef>
                <a:spcPts val="600"/>
              </a:spcBef>
              <a:spcAft>
                <a:spcPts val="1200"/>
              </a:spcAft>
            </a:pPr>
            <a:r>
              <a:rPr lang="en-AU" sz="2200" dirty="0" smtClean="0">
                <a:latin typeface="Helvetica" pitchFamily="34" charset="0"/>
              </a:rPr>
              <a:t>Smile when responding</a:t>
            </a:r>
          </a:p>
          <a:p>
            <a:pPr marL="360000" indent="-360000">
              <a:spcBef>
                <a:spcPts val="600"/>
              </a:spcBef>
              <a:spcAft>
                <a:spcPts val="1200"/>
              </a:spcAft>
            </a:pPr>
            <a:r>
              <a:rPr lang="en-AU" sz="2200" dirty="0" smtClean="0">
                <a:latin typeface="Helvetica" pitchFamily="34" charset="0"/>
              </a:rPr>
              <a:t>Use polite and respectful language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204864"/>
            <a:ext cx="1850361" cy="239684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Reply to tour group questions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Provide a direct answer to the question which was asked</a:t>
            </a:r>
          </a:p>
          <a:p>
            <a:pPr marL="360000" indent="-360000">
              <a:spcBef>
                <a:spcPts val="600"/>
              </a:spcBef>
              <a:spcAft>
                <a:spcPts val="1200"/>
              </a:spcAft>
            </a:pPr>
            <a:r>
              <a:rPr lang="en-AU" sz="2200" dirty="0" smtClean="0">
                <a:latin typeface="Helvetica" pitchFamily="34" charset="0"/>
              </a:rPr>
              <a:t>Ensure personal opinion in an answer </a:t>
            </a:r>
            <a:br>
              <a:rPr lang="en-AU" sz="2200" dirty="0" smtClean="0">
                <a:latin typeface="Helvetica" pitchFamily="34" charset="0"/>
              </a:rPr>
            </a:br>
            <a:r>
              <a:rPr lang="en-AU" sz="2200" dirty="0" smtClean="0">
                <a:latin typeface="Helvetica" pitchFamily="34" charset="0"/>
              </a:rPr>
              <a:t>is specifically identified as such</a:t>
            </a:r>
          </a:p>
          <a:p>
            <a:pPr marL="360000" indent="-360000">
              <a:spcBef>
                <a:spcPts val="600"/>
              </a:spcBef>
              <a:spcAft>
                <a:spcPts val="1200"/>
              </a:spcAft>
            </a:pPr>
            <a:r>
              <a:rPr lang="en-AU" sz="2200" dirty="0" smtClean="0">
                <a:latin typeface="Helvetica" pitchFamily="34" charset="0"/>
              </a:rPr>
              <a:t>Present the answers to the most </a:t>
            </a:r>
            <a:br>
              <a:rPr lang="en-AU" sz="2200" dirty="0" smtClean="0">
                <a:latin typeface="Helvetica" pitchFamily="34" charset="0"/>
              </a:rPr>
            </a:br>
            <a:r>
              <a:rPr lang="en-AU" sz="2200" dirty="0" smtClean="0">
                <a:latin typeface="Helvetica" pitchFamily="34" charset="0"/>
              </a:rPr>
              <a:t>appropriate ‘target’</a:t>
            </a:r>
          </a:p>
          <a:p>
            <a:pPr marL="360000" indent="-360000">
              <a:spcBef>
                <a:spcPts val="600"/>
              </a:spcBef>
              <a:spcAft>
                <a:spcPts val="1200"/>
              </a:spcAft>
            </a:pPr>
            <a:r>
              <a:rPr lang="en-AU" sz="2200" dirty="0" smtClean="0">
                <a:latin typeface="Helvetica" pitchFamily="34" charset="0"/>
              </a:rPr>
              <a:t>Respond promptly</a:t>
            </a:r>
          </a:p>
          <a:p>
            <a:pPr marL="360000" indent="-360000">
              <a:spcBef>
                <a:spcPts val="600"/>
              </a:spcBef>
              <a:spcAft>
                <a:spcPts val="1200"/>
              </a:spcAft>
            </a:pPr>
            <a:r>
              <a:rPr lang="en-AU" sz="2200" dirty="0" smtClean="0">
                <a:latin typeface="Helvetica" pitchFamily="34" charset="0"/>
              </a:rPr>
              <a:t>Check the response has answered the question to satisfaction of the person who asked it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8235" y="2420888"/>
            <a:ext cx="1552067" cy="2255912"/>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Reply to tour group questions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040560"/>
          </a:xfrm>
        </p:spPr>
        <p:txBody>
          <a:bodyPr>
            <a:normAutofit/>
          </a:bodyPr>
          <a:lstStyle/>
          <a:p>
            <a:pPr marL="0" indent="0">
              <a:spcBef>
                <a:spcPts val="600"/>
              </a:spcBef>
              <a:spcAft>
                <a:spcPts val="1200"/>
              </a:spcAft>
              <a:buNone/>
            </a:pPr>
            <a:r>
              <a:rPr lang="en-US" sz="2200" dirty="0" smtClean="0">
                <a:latin typeface="Helvetica" pitchFamily="34" charset="0"/>
              </a:rPr>
              <a:t>Other considerations include:</a:t>
            </a:r>
          </a:p>
          <a:p>
            <a:pPr marL="360000" indent="-360000">
              <a:spcBef>
                <a:spcPts val="600"/>
              </a:spcBef>
              <a:spcAft>
                <a:spcPts val="1200"/>
              </a:spcAft>
            </a:pPr>
            <a:r>
              <a:rPr lang="en-AU" sz="2200" dirty="0" smtClean="0">
                <a:latin typeface="Helvetica" pitchFamily="34" charset="0"/>
              </a:rPr>
              <a:t>Maintaining truthfulness at all times</a:t>
            </a:r>
          </a:p>
          <a:p>
            <a:pPr marL="360000" indent="-360000">
              <a:spcBef>
                <a:spcPts val="600"/>
              </a:spcBef>
              <a:spcAft>
                <a:spcPts val="1200"/>
              </a:spcAft>
            </a:pPr>
            <a:r>
              <a:rPr lang="en-AU" sz="2200" dirty="0" smtClean="0">
                <a:latin typeface="Helvetica" pitchFamily="34" charset="0"/>
              </a:rPr>
              <a:t>Imposing a total ban on fabrication of answers</a:t>
            </a:r>
          </a:p>
          <a:p>
            <a:pPr marL="360000" indent="-360000">
              <a:spcBef>
                <a:spcPts val="600"/>
              </a:spcBef>
              <a:spcAft>
                <a:spcPts val="1200"/>
              </a:spcAft>
            </a:pPr>
            <a:r>
              <a:rPr lang="en-AU" sz="2200" dirty="0" smtClean="0">
                <a:latin typeface="Helvetica" pitchFamily="34" charset="0"/>
              </a:rPr>
              <a:t>Respecting requests/constraints from local communities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Putting answers into context</a:t>
            </a:r>
          </a:p>
          <a:p>
            <a:pPr marL="360000" indent="-360000">
              <a:spcBef>
                <a:spcPts val="600"/>
              </a:spcBef>
              <a:spcAft>
                <a:spcPts val="1200"/>
              </a:spcAft>
            </a:pPr>
            <a:r>
              <a:rPr lang="en-AU" sz="2200" dirty="0" smtClean="0">
                <a:latin typeface="Helvetica" pitchFamily="34" charset="0"/>
              </a:rPr>
              <a:t>Including local indigenous people </a:t>
            </a:r>
            <a:br>
              <a:rPr lang="en-AU" sz="2200" dirty="0" smtClean="0">
                <a:latin typeface="Helvetica" pitchFamily="34" charset="0"/>
              </a:rPr>
            </a:br>
            <a:r>
              <a:rPr lang="en-AU" sz="2200" dirty="0" smtClean="0">
                <a:latin typeface="Helvetica" pitchFamily="34" charset="0"/>
              </a:rPr>
              <a:t>in the reply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4149080"/>
            <a:ext cx="2184336" cy="145695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Reply to tour group questions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Where the answer to a question is not known:</a:t>
            </a:r>
          </a:p>
          <a:p>
            <a:pPr marL="360000" indent="-360000">
              <a:spcBef>
                <a:spcPts val="600"/>
              </a:spcBef>
              <a:spcAft>
                <a:spcPts val="1200"/>
              </a:spcAft>
            </a:pPr>
            <a:r>
              <a:rPr lang="en-US" sz="2200" dirty="0" smtClean="0">
                <a:latin typeface="Helvetica" pitchFamily="34" charset="0"/>
              </a:rPr>
              <a:t>Apologise for not knowing </a:t>
            </a:r>
          </a:p>
          <a:p>
            <a:pPr marL="360000" indent="-360000">
              <a:spcBef>
                <a:spcPts val="600"/>
              </a:spcBef>
              <a:spcAft>
                <a:spcPts val="1200"/>
              </a:spcAft>
            </a:pPr>
            <a:r>
              <a:rPr lang="en-US" sz="2200" dirty="0" smtClean="0">
                <a:latin typeface="Helvetica" pitchFamily="34" charset="0"/>
              </a:rPr>
              <a:t>Maintain positive relations</a:t>
            </a:r>
          </a:p>
          <a:p>
            <a:pPr marL="360000" indent="-360000">
              <a:spcBef>
                <a:spcPts val="600"/>
              </a:spcBef>
              <a:spcAft>
                <a:spcPts val="1200"/>
              </a:spcAft>
            </a:pPr>
            <a:r>
              <a:rPr lang="en-US" sz="2200" dirty="0" smtClean="0">
                <a:latin typeface="Helvetica" pitchFamily="34" charset="0"/>
              </a:rPr>
              <a:t>Give information on an associated topic</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2348880"/>
            <a:ext cx="1818017" cy="246010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Reply to tour group questions on indigenous cultures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Refer tour group members to a relevant source they can access at the end of the tour</a:t>
            </a:r>
          </a:p>
          <a:p>
            <a:pPr marL="360000" indent="-360000">
              <a:spcBef>
                <a:spcPts val="600"/>
              </a:spcBef>
              <a:spcAft>
                <a:spcPts val="1200"/>
              </a:spcAft>
            </a:pPr>
            <a:r>
              <a:rPr lang="en-US" sz="2200" dirty="0" smtClean="0">
                <a:latin typeface="Helvetica" pitchFamily="34" charset="0"/>
              </a:rPr>
              <a:t>Make arrangements to find the answer and forward it when the tour has finished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9753" y="3717032"/>
            <a:ext cx="1825089" cy="1688207"/>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Ways to monitor group behaviour:</a:t>
            </a:r>
          </a:p>
          <a:p>
            <a:pPr marL="360000" indent="-360000">
              <a:spcBef>
                <a:spcPts val="600"/>
              </a:spcBef>
              <a:spcAft>
                <a:spcPts val="1200"/>
              </a:spcAft>
            </a:pPr>
            <a:r>
              <a:rPr lang="en-US" sz="2200" dirty="0" smtClean="0">
                <a:latin typeface="Helvetica" pitchFamily="34" charset="0"/>
              </a:rPr>
              <a:t>Watching the group</a:t>
            </a:r>
          </a:p>
          <a:p>
            <a:pPr marL="360000" indent="-360000">
              <a:spcBef>
                <a:spcPts val="600"/>
              </a:spcBef>
              <a:spcAft>
                <a:spcPts val="1200"/>
              </a:spcAft>
            </a:pPr>
            <a:r>
              <a:rPr lang="en-US" sz="2200" dirty="0" smtClean="0">
                <a:latin typeface="Helvetica" pitchFamily="34" charset="0"/>
              </a:rPr>
              <a:t>Listening to the group</a:t>
            </a:r>
          </a:p>
          <a:p>
            <a:pPr marL="360000" indent="-360000">
              <a:spcBef>
                <a:spcPts val="600"/>
              </a:spcBef>
              <a:spcAft>
                <a:spcPts val="1200"/>
              </a:spcAft>
            </a:pPr>
            <a:r>
              <a:rPr lang="en-US" sz="2200" dirty="0" smtClean="0">
                <a:latin typeface="Helvetica" pitchFamily="34" charset="0"/>
              </a:rPr>
              <a:t>Receiving advice from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3861048"/>
            <a:ext cx="2183904" cy="149597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680520"/>
          </a:xfrm>
        </p:spPr>
        <p:txBody>
          <a:bodyPr>
            <a:normAutofit/>
          </a:bodyPr>
          <a:lstStyle/>
          <a:p>
            <a:pPr marL="0" indent="0">
              <a:spcBef>
                <a:spcPts val="600"/>
              </a:spcBef>
              <a:spcAft>
                <a:spcPts val="1200"/>
              </a:spcAft>
              <a:buNone/>
            </a:pPr>
            <a:r>
              <a:rPr lang="en-US" sz="2200" dirty="0" smtClean="0">
                <a:latin typeface="Helvetica" pitchFamily="34" charset="0"/>
              </a:rPr>
              <a:t>Keys to responding to culturally-inappropriate behaviour:</a:t>
            </a:r>
          </a:p>
          <a:p>
            <a:pPr marL="360000" indent="-360000">
              <a:spcBef>
                <a:spcPts val="600"/>
              </a:spcBef>
              <a:spcAft>
                <a:spcPts val="1200"/>
              </a:spcAft>
            </a:pPr>
            <a:r>
              <a:rPr lang="en-AU" sz="2200" dirty="0" smtClean="0">
                <a:latin typeface="Helvetica" pitchFamily="34" charset="0"/>
              </a:rPr>
              <a:t>Reinforcing previously presented information on culturally sensitive and acceptable behaviour</a:t>
            </a:r>
          </a:p>
          <a:p>
            <a:pPr marL="360000" indent="-360000">
              <a:spcBef>
                <a:spcPts val="600"/>
              </a:spcBef>
              <a:spcAft>
                <a:spcPts val="1200"/>
              </a:spcAft>
            </a:pPr>
            <a:r>
              <a:rPr lang="en-AU" sz="2200" dirty="0" smtClean="0">
                <a:latin typeface="Helvetica" pitchFamily="34" charset="0"/>
              </a:rPr>
              <a:t>Demonstrating culturally sensitive and acceptable behaviour</a:t>
            </a:r>
          </a:p>
          <a:p>
            <a:pPr marL="360000" indent="-360000">
              <a:spcBef>
                <a:spcPts val="600"/>
              </a:spcBef>
              <a:spcAft>
                <a:spcPts val="1200"/>
              </a:spcAft>
            </a:pPr>
            <a:r>
              <a:rPr lang="en-AU" sz="2200" dirty="0" smtClean="0">
                <a:latin typeface="Helvetica" pitchFamily="34" charset="0"/>
              </a:rPr>
              <a:t>Responding promptly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3861048"/>
            <a:ext cx="2471936" cy="1648781"/>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Intervening as required/necessary</a:t>
            </a:r>
          </a:p>
          <a:p>
            <a:pPr marL="360000" indent="-360000">
              <a:spcBef>
                <a:spcPts val="600"/>
              </a:spcBef>
              <a:spcAft>
                <a:spcPts val="1200"/>
              </a:spcAft>
            </a:pPr>
            <a:r>
              <a:rPr lang="en-AU" sz="2200" dirty="0" smtClean="0">
                <a:latin typeface="Helvetica" pitchFamily="34" charset="0"/>
              </a:rPr>
              <a:t>Warning the individuals or the group of the consequences</a:t>
            </a:r>
          </a:p>
          <a:p>
            <a:pPr marL="360000" indent="-360000">
              <a:spcBef>
                <a:spcPts val="600"/>
              </a:spcBef>
              <a:spcAft>
                <a:spcPts val="1200"/>
              </a:spcAft>
            </a:pPr>
            <a:r>
              <a:rPr lang="en-AU" sz="2200" dirty="0" smtClean="0">
                <a:latin typeface="Helvetica" pitchFamily="34" charset="0"/>
              </a:rPr>
              <a:t>Being prepared to adjust the tour or an activity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7784" y="4007320"/>
            <a:ext cx="2255912" cy="1500181"/>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608512"/>
          </a:xfrm>
        </p:spPr>
        <p:txBody>
          <a:bodyPr>
            <a:normAutofit/>
          </a:bodyPr>
          <a:lstStyle/>
          <a:p>
            <a:pPr marL="0" indent="0">
              <a:spcBef>
                <a:spcPts val="600"/>
              </a:spcBef>
              <a:spcAft>
                <a:spcPts val="1200"/>
              </a:spcAft>
              <a:buNone/>
            </a:pPr>
            <a:r>
              <a:rPr lang="en-US" sz="2200" dirty="0" smtClean="0">
                <a:latin typeface="Helvetica" pitchFamily="34" charset="0"/>
              </a:rPr>
              <a:t>Tips for handling problems with tour group members:</a:t>
            </a:r>
          </a:p>
          <a:p>
            <a:pPr marL="360000" indent="-360000">
              <a:spcBef>
                <a:spcPts val="600"/>
              </a:spcBef>
              <a:spcAft>
                <a:spcPts val="1200"/>
              </a:spcAft>
            </a:pPr>
            <a:r>
              <a:rPr lang="en-AU" sz="2200" dirty="0" smtClean="0">
                <a:latin typeface="Helvetica" pitchFamily="34" charset="0"/>
              </a:rPr>
              <a:t>Realise no problem will ever resolve itself</a:t>
            </a:r>
          </a:p>
          <a:p>
            <a:pPr marL="360000" indent="-360000">
              <a:spcBef>
                <a:spcPts val="600"/>
              </a:spcBef>
              <a:spcAft>
                <a:spcPts val="1200"/>
              </a:spcAft>
            </a:pPr>
            <a:r>
              <a:rPr lang="en-AU" sz="2200" dirty="0" smtClean="0">
                <a:latin typeface="Helvetica" pitchFamily="34" charset="0"/>
              </a:rPr>
              <a:t>Take responsibility for taking action</a:t>
            </a:r>
          </a:p>
          <a:p>
            <a:pPr marL="360000" indent="-360000">
              <a:spcBef>
                <a:spcPts val="600"/>
              </a:spcBef>
              <a:spcAft>
                <a:spcPts val="1200"/>
              </a:spcAft>
            </a:pPr>
            <a:r>
              <a:rPr lang="en-AU" sz="2200" dirty="0" smtClean="0">
                <a:latin typeface="Helvetica" pitchFamily="34" charset="0"/>
              </a:rPr>
              <a:t>All identified issues must be addressed</a:t>
            </a:r>
          </a:p>
          <a:p>
            <a:pPr marL="360000" indent="-360000">
              <a:spcBef>
                <a:spcPts val="600"/>
              </a:spcBef>
              <a:spcAft>
                <a:spcPts val="1200"/>
              </a:spcAft>
            </a:pPr>
            <a:r>
              <a:rPr lang="en-AU" sz="2200" dirty="0" smtClean="0">
                <a:latin typeface="Helvetica" pitchFamily="34" charset="0"/>
              </a:rPr>
              <a:t>Treat people with respect</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149080"/>
            <a:ext cx="2292294" cy="152896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360000" indent="-360000">
              <a:spcBef>
                <a:spcPts val="600"/>
              </a:spcBef>
              <a:spcAft>
                <a:spcPts val="1200"/>
              </a:spcAft>
            </a:pPr>
            <a:r>
              <a:rPr lang="en-AU" sz="2200" dirty="0" smtClean="0">
                <a:latin typeface="Helvetica" pitchFamily="34" charset="0"/>
              </a:rPr>
              <a:t>Aim to make the other person feel special, not to feel victimised</a:t>
            </a:r>
          </a:p>
          <a:p>
            <a:pPr marL="360000" indent="-360000">
              <a:spcBef>
                <a:spcPts val="600"/>
              </a:spcBef>
              <a:spcAft>
                <a:spcPts val="1200"/>
              </a:spcAft>
            </a:pPr>
            <a:r>
              <a:rPr lang="en-AU" sz="2200" dirty="0" smtClean="0">
                <a:latin typeface="Helvetica" pitchFamily="34" charset="0"/>
              </a:rPr>
              <a:t>Talk with people who need to be spoken to away from others</a:t>
            </a:r>
          </a:p>
          <a:p>
            <a:pPr marL="360000" indent="-360000">
              <a:spcBef>
                <a:spcPts val="600"/>
              </a:spcBef>
              <a:spcAft>
                <a:spcPts val="1200"/>
              </a:spcAft>
            </a:pPr>
            <a:r>
              <a:rPr lang="en-AU" sz="2200" dirty="0" smtClean="0">
                <a:latin typeface="Helvetica" pitchFamily="34" charset="0"/>
              </a:rPr>
              <a:t>Avoid using a loud voice and try to speak so the conversation is private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8" y="4209256"/>
            <a:ext cx="1941584" cy="1597924"/>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and respond to culturally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Phrase what is said so it is not a personal ‘attack’ on the other person</a:t>
            </a:r>
          </a:p>
          <a:p>
            <a:pPr marL="360000" indent="-360000">
              <a:spcBef>
                <a:spcPts val="600"/>
              </a:spcBef>
              <a:spcAft>
                <a:spcPts val="1200"/>
              </a:spcAft>
            </a:pPr>
            <a:r>
              <a:rPr lang="en-AU" sz="2200" dirty="0" smtClean="0">
                <a:latin typeface="Helvetica" pitchFamily="34" charset="0"/>
              </a:rPr>
              <a:t>Try phrasing statements as asking people </a:t>
            </a:r>
            <a:br>
              <a:rPr lang="en-AU" sz="2200" dirty="0" smtClean="0">
                <a:latin typeface="Helvetica" pitchFamily="34" charset="0"/>
              </a:rPr>
            </a:br>
            <a:r>
              <a:rPr lang="en-AU" sz="2200" dirty="0" smtClean="0">
                <a:latin typeface="Helvetica" pitchFamily="34" charset="0"/>
              </a:rPr>
              <a:t>to modify their behaviour as ‘requests’ – </a:t>
            </a:r>
            <a:br>
              <a:rPr lang="en-AU" sz="2200" dirty="0" smtClean="0">
                <a:latin typeface="Helvetica" pitchFamily="34" charset="0"/>
              </a:rPr>
            </a:br>
            <a:r>
              <a:rPr lang="en-AU" sz="2200" dirty="0" smtClean="0">
                <a:latin typeface="Helvetica" pitchFamily="34" charset="0"/>
              </a:rPr>
              <a:t>rather than ‘commands’</a:t>
            </a:r>
          </a:p>
          <a:p>
            <a:pPr marL="360000" indent="-360000">
              <a:spcBef>
                <a:spcPts val="600"/>
              </a:spcBef>
              <a:spcAft>
                <a:spcPts val="1200"/>
              </a:spcAft>
            </a:pPr>
            <a:r>
              <a:rPr lang="en-AU" sz="2200" dirty="0" smtClean="0">
                <a:latin typeface="Helvetica" pitchFamily="34" charset="0"/>
              </a:rPr>
              <a:t>Look through the eyes of the tour group </a:t>
            </a:r>
            <a:br>
              <a:rPr lang="en-AU" sz="2200" dirty="0" smtClean="0">
                <a:latin typeface="Helvetica" pitchFamily="34" charset="0"/>
              </a:rPr>
            </a:br>
            <a:r>
              <a:rPr lang="en-AU" sz="2200" dirty="0" smtClean="0">
                <a:latin typeface="Helvetica" pitchFamily="34" charset="0"/>
              </a:rPr>
              <a:t>member and try to see things from their </a:t>
            </a:r>
            <a:br>
              <a:rPr lang="en-AU" sz="2200" dirty="0" smtClean="0">
                <a:latin typeface="Helvetica" pitchFamily="34" charset="0"/>
              </a:rPr>
            </a:br>
            <a:r>
              <a:rPr lang="en-AU" sz="2200" dirty="0" smtClean="0">
                <a:latin typeface="Helvetica" pitchFamily="34" charset="0"/>
              </a:rPr>
              <a:t>perspective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r="19600"/>
          <a:stretch/>
        </p:blipFill>
        <p:spPr>
          <a:xfrm>
            <a:off x="6660232" y="2420888"/>
            <a:ext cx="1620416" cy="23166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184576"/>
          </a:xfrm>
        </p:spPr>
        <p:txBody>
          <a:bodyPr>
            <a:normAutofit/>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sharing information on indigenous cultures</a:t>
            </a:r>
            <a:r>
              <a:rPr lang="en-US" sz="2200" dirty="0" smtClean="0">
                <a:latin typeface="Helvetica" pitchFamily="34" charset="0"/>
              </a:rPr>
              <a:t>:</a:t>
            </a:r>
          </a:p>
          <a:p>
            <a:r>
              <a:rPr lang="en-AU" sz="2200" dirty="0" smtClean="0">
                <a:latin typeface="Helvetica" pitchFamily="34" charset="0"/>
              </a:rPr>
              <a:t>Communicate general knowledge using a variety of mediums and approaches</a:t>
            </a:r>
          </a:p>
          <a:p>
            <a:endParaRPr lang="en-AU" sz="2200" dirty="0" smtClean="0">
              <a:latin typeface="Helvetica" pitchFamily="34" charset="0"/>
            </a:endParaRPr>
          </a:p>
          <a:p>
            <a:r>
              <a:rPr lang="en-AU" sz="2200" dirty="0" smtClean="0">
                <a:latin typeface="Helvetica" pitchFamily="34" charset="0"/>
              </a:rPr>
              <a:t>Focus on providing information to colleagues both internally and externally, on-site within communities</a:t>
            </a:r>
          </a:p>
          <a:p>
            <a:endParaRPr lang="en-AU" sz="2200" dirty="0" smtClean="0">
              <a:latin typeface="Helvetica" pitchFamily="34" charset="0"/>
            </a:endParaRPr>
          </a:p>
          <a:p>
            <a:r>
              <a:rPr lang="en-AU" sz="2200" dirty="0" smtClean="0">
                <a:latin typeface="Helvetica" pitchFamily="34" charset="0"/>
              </a:rPr>
              <a:t>Use indigenous people to assist with </a:t>
            </a:r>
            <a:br>
              <a:rPr lang="en-AU" sz="2200" dirty="0" smtClean="0">
                <a:latin typeface="Helvetica" pitchFamily="34" charset="0"/>
              </a:rPr>
            </a:br>
            <a:r>
              <a:rPr lang="en-AU" sz="2200" dirty="0" smtClean="0">
                <a:latin typeface="Helvetica" pitchFamily="34" charset="0"/>
              </a:rPr>
              <a:t>tours and activities</a:t>
            </a:r>
          </a:p>
          <a:p>
            <a:endParaRPr lang="en-AU" sz="2200" dirty="0">
              <a:latin typeface="Helvetica" pitchFamily="34" charset="0"/>
            </a:endParaRP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r>
              <a:rPr lang="en-AU" sz="2200" dirty="0" smtClean="0">
                <a:latin typeface="Helvetica" pitchFamily="34" charset="0"/>
              </a:rPr>
              <a:t>Employ indigenous people in a range of primary and supporting roles</a:t>
            </a:r>
          </a:p>
          <a:p>
            <a:endParaRPr lang="en-AU" sz="2200" dirty="0" smtClean="0">
              <a:latin typeface="Helvetica" pitchFamily="34" charset="0"/>
            </a:endParaRPr>
          </a:p>
          <a:p>
            <a:r>
              <a:rPr lang="en-AU" sz="2200" dirty="0" smtClean="0">
                <a:latin typeface="Helvetica" pitchFamily="34" charset="0"/>
              </a:rPr>
              <a:t>Brief tour groups about acceptable and unacceptable behaviour within indigenous communities</a:t>
            </a:r>
          </a:p>
          <a:p>
            <a:endParaRPr lang="en-AU" sz="2200" dirty="0" smtClean="0">
              <a:latin typeface="Helvetica" pitchFamily="34" charset="0"/>
            </a:endParaRPr>
          </a:p>
          <a:p>
            <a:r>
              <a:rPr lang="en-AU" sz="2200" dirty="0" smtClean="0">
                <a:latin typeface="Helvetica" pitchFamily="34" charset="0"/>
              </a:rPr>
              <a:t>Advise tour group members regarding </a:t>
            </a:r>
            <a:br>
              <a:rPr lang="en-AU" sz="2200" dirty="0" smtClean="0">
                <a:latin typeface="Helvetica" pitchFamily="34" charset="0"/>
              </a:rPr>
            </a:br>
            <a:r>
              <a:rPr lang="en-AU" sz="2200" dirty="0" smtClean="0">
                <a:latin typeface="Helvetica" pitchFamily="34" charset="0"/>
              </a:rPr>
              <a:t>culturally-appropriate and inappropriate </a:t>
            </a:r>
            <a:br>
              <a:rPr lang="en-AU" sz="2200" dirty="0" smtClean="0">
                <a:latin typeface="Helvetica" pitchFamily="34" charset="0"/>
              </a:rPr>
            </a:br>
            <a:r>
              <a:rPr lang="en-AU" sz="2200" dirty="0" smtClean="0">
                <a:latin typeface="Helvetica" pitchFamily="34" charset="0"/>
              </a:rPr>
              <a:t>behaviour and language within indigenous communities</a:t>
            </a: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r>
              <a:rPr lang="en-AU" sz="2200" dirty="0" smtClean="0">
                <a:latin typeface="Helvetica" pitchFamily="34" charset="0"/>
              </a:rPr>
              <a:t>Communicate relevant information in advance of and/or in conjunction with the tour/activity</a:t>
            </a:r>
          </a:p>
          <a:p>
            <a:endParaRPr lang="en-AU" sz="2200" dirty="0" smtClean="0">
              <a:latin typeface="Helvetica" pitchFamily="34" charset="0"/>
            </a:endParaRPr>
          </a:p>
          <a:p>
            <a:r>
              <a:rPr lang="en-AU" sz="2200" dirty="0" smtClean="0">
                <a:latin typeface="Helvetica" pitchFamily="34" charset="0"/>
              </a:rPr>
              <a:t>Give tourists general knowledge about local indigenous communities</a:t>
            </a:r>
          </a:p>
          <a:p>
            <a:endParaRPr lang="en-AU" sz="2000" dirty="0" smtClean="0">
              <a:latin typeface="Helvetica" pitchFamily="34" charset="0"/>
            </a:endParaRPr>
          </a:p>
          <a:p>
            <a:r>
              <a:rPr lang="en-AU" sz="2000" dirty="0" smtClean="0">
                <a:latin typeface="Helvetica" pitchFamily="34" charset="0"/>
              </a:rPr>
              <a:t>Supplement provision of general knowledge with specific/targetted information, as required</a:t>
            </a:r>
          </a:p>
          <a:p>
            <a:endParaRPr lang="en-AU" sz="2000" dirty="0">
              <a:latin typeface="Helvetica" pitchFamily="34" charset="0"/>
            </a:endParaRPr>
          </a:p>
          <a:p>
            <a:endParaRPr lang="en-AU" sz="20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752528"/>
          </a:xfrm>
        </p:spPr>
        <p:txBody>
          <a:bodyPr>
            <a:normAutofit/>
          </a:bodyPr>
          <a:lstStyle/>
          <a:p>
            <a:r>
              <a:rPr lang="en-AU" sz="2200" dirty="0" smtClean="0">
                <a:latin typeface="Helvetica" pitchFamily="34" charset="0"/>
              </a:rPr>
              <a:t>Use a range of techniques to provide information to tour groups</a:t>
            </a:r>
          </a:p>
          <a:p>
            <a:endParaRPr lang="en-AU" sz="2200" dirty="0" smtClean="0">
              <a:latin typeface="Helvetica" pitchFamily="34" charset="0"/>
            </a:endParaRPr>
          </a:p>
          <a:p>
            <a:r>
              <a:rPr lang="en-AU" sz="2200" dirty="0" smtClean="0">
                <a:latin typeface="Helvetica" pitchFamily="34" charset="0"/>
              </a:rPr>
              <a:t>Involve people from the community in the provision of information</a:t>
            </a:r>
          </a:p>
          <a:p>
            <a:endParaRPr lang="en-AU" sz="2200" dirty="0" smtClean="0">
              <a:latin typeface="Helvetica" pitchFamily="34" charset="0"/>
            </a:endParaRPr>
          </a:p>
          <a:p>
            <a:r>
              <a:rPr lang="en-AU" sz="2200" dirty="0" smtClean="0">
                <a:latin typeface="Helvetica" pitchFamily="34" charset="0"/>
              </a:rPr>
              <a:t>Answer questions from the tour group honestly</a:t>
            </a:r>
          </a:p>
          <a:p>
            <a:endParaRPr lang="en-AU" sz="2200" dirty="0">
              <a:latin typeface="Helvetica" pitchFamily="34" charset="0"/>
            </a:endParaRP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000" dirty="0" smtClean="0">
                <a:latin typeface="Helvetica" pitchFamily="34" charset="0"/>
              </a:rPr>
              <a:t>Respect cultural sensitivities and identified confidentialities when responding to questions</a:t>
            </a:r>
          </a:p>
          <a:p>
            <a:endParaRPr lang="en-AU" sz="2200" dirty="0" smtClean="0">
              <a:latin typeface="Helvetica" pitchFamily="34" charset="0"/>
            </a:endParaRPr>
          </a:p>
          <a:p>
            <a:r>
              <a:rPr lang="en-AU" sz="2200" dirty="0" smtClean="0">
                <a:latin typeface="Helvetica" pitchFamily="34" charset="0"/>
              </a:rPr>
              <a:t>Monitor behaviour and language of tour group members when they are in indigenous communities</a:t>
            </a:r>
          </a:p>
          <a:p>
            <a:endParaRPr lang="en-AU" sz="2200" dirty="0" smtClean="0">
              <a:latin typeface="Helvetica" pitchFamily="34" charset="0"/>
            </a:endParaRPr>
          </a:p>
          <a:p>
            <a:r>
              <a:rPr lang="en-AU" sz="2200" dirty="0" smtClean="0">
                <a:latin typeface="Helvetica" pitchFamily="34" charset="0"/>
              </a:rPr>
              <a:t>Respond promptly and effectively to culturally inappropriate behaviour and language of </a:t>
            </a:r>
            <a:br>
              <a:rPr lang="en-AU" sz="2200" dirty="0" smtClean="0">
                <a:latin typeface="Helvetica" pitchFamily="34" charset="0"/>
              </a:rPr>
            </a:br>
            <a:r>
              <a:rPr lang="en-AU" sz="2200" dirty="0" smtClean="0">
                <a:latin typeface="Helvetica" pitchFamily="34" charset="0"/>
              </a:rPr>
              <a:t>tour group members when interacting with </a:t>
            </a:r>
            <a:br>
              <a:rPr lang="en-AU" sz="2200" dirty="0" smtClean="0">
                <a:latin typeface="Helvetica" pitchFamily="34" charset="0"/>
              </a:rPr>
            </a:br>
            <a:r>
              <a:rPr lang="en-AU" sz="2200" dirty="0" smtClean="0">
                <a:latin typeface="Helvetica" pitchFamily="34" charset="0"/>
              </a:rPr>
              <a:t>indigenous communities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 Maintain contact with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Liaise with local community to identify and respond to changed circumstances</a:t>
            </a:r>
          </a:p>
          <a:p>
            <a:pPr marL="360000" indent="-360000">
              <a:spcBef>
                <a:spcPts val="600"/>
              </a:spcBef>
              <a:spcAft>
                <a:spcPts val="1200"/>
              </a:spcAft>
            </a:pPr>
            <a:r>
              <a:rPr lang="en-US" sz="2200" dirty="0" smtClean="0">
                <a:latin typeface="Helvetica" pitchFamily="34" charset="0"/>
              </a:rPr>
              <a:t>Modify information provided in accordance </a:t>
            </a:r>
            <a:br>
              <a:rPr lang="en-US" sz="2200" dirty="0" smtClean="0">
                <a:latin typeface="Helvetica" pitchFamily="34" charset="0"/>
              </a:rPr>
            </a:br>
            <a:r>
              <a:rPr lang="en-US" sz="2200" dirty="0" smtClean="0">
                <a:latin typeface="Helvetica" pitchFamily="34" charset="0"/>
              </a:rPr>
              <a:t>with issues raised by the local community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7108" y="3212976"/>
            <a:ext cx="977559" cy="177738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03778" cy="1143000"/>
          </a:xfrm>
        </p:spPr>
        <p:txBody>
          <a:bodyPr>
            <a:normAutofit fontScale="90000"/>
          </a:bodyPr>
          <a:lstStyle/>
          <a:p>
            <a:r>
              <a:rPr lang="en-US" sz="3400" b="1" dirty="0" smtClean="0">
                <a:solidFill>
                  <a:srgbClr val="FF6600"/>
                </a:solidFill>
                <a:latin typeface="Helvetica" pitchFamily="34" charset="0"/>
              </a:rPr>
              <a:t>Liaise with local community to identify and respond to changed circumstances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112568"/>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Maintaining contact may include/require:</a:t>
            </a:r>
          </a:p>
          <a:p>
            <a:pPr marL="360000" indent="-360000">
              <a:spcBef>
                <a:spcPts val="600"/>
              </a:spcBef>
              <a:spcAft>
                <a:spcPts val="1200"/>
              </a:spcAft>
            </a:pPr>
            <a:r>
              <a:rPr lang="en-US" sz="2200" dirty="0" smtClean="0">
                <a:latin typeface="Helvetica" pitchFamily="34" charset="0"/>
              </a:rPr>
              <a:t>Determining how and when the community prefers to communicate: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Type and nature of meetings/contacts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Identification of those to be present</a:t>
            </a:r>
          </a:p>
          <a:p>
            <a:pPr marL="360000" indent="-360000">
              <a:spcBef>
                <a:spcPts val="600"/>
              </a:spcBef>
              <a:spcAft>
                <a:spcPts val="1200"/>
              </a:spcAft>
            </a:pPr>
            <a:r>
              <a:rPr lang="en-US" sz="2200" dirty="0" smtClean="0">
                <a:latin typeface="Helvetica" pitchFamily="34" charset="0"/>
              </a:rPr>
              <a:t>Keeping lines of communication open: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Being honest, being available, being proactive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Returning calls, maintaining records and honouring promises made</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8224" y="2745180"/>
            <a:ext cx="1711474" cy="1638953"/>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03778" cy="1143000"/>
          </a:xfrm>
        </p:spPr>
        <p:txBody>
          <a:bodyPr>
            <a:normAutofit fontScale="90000"/>
          </a:bodyPr>
          <a:lstStyle/>
          <a:p>
            <a:r>
              <a:rPr lang="en-US" sz="3400" b="1" dirty="0" smtClean="0">
                <a:solidFill>
                  <a:srgbClr val="FF6600"/>
                </a:solidFill>
                <a:latin typeface="Helvetica" pitchFamily="34" charset="0"/>
              </a:rPr>
              <a:t>Liaise with local community to identify and respond to changed circumstances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360000" indent="-360000">
              <a:spcBef>
                <a:spcPts val="600"/>
              </a:spcBef>
              <a:spcAft>
                <a:spcPts val="1200"/>
              </a:spcAft>
            </a:pPr>
            <a:r>
              <a:rPr lang="en-US" sz="2200" dirty="0" smtClean="0">
                <a:latin typeface="Helvetica" pitchFamily="34" charset="0"/>
              </a:rPr>
              <a:t>Actively monitoring the relationship:</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Soliciting and obtaining feedback</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Providing opportunity and resources to support feedback</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Addressing small problems before they become big ones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Asking for suggestions to grow and </a:t>
            </a:r>
            <a:br>
              <a:rPr lang="en-US" sz="2200" dirty="0" smtClean="0">
                <a:latin typeface="Helvetica" pitchFamily="34" charset="0"/>
              </a:rPr>
            </a:br>
            <a:r>
              <a:rPr lang="en-US" sz="2200" dirty="0" smtClean="0">
                <a:latin typeface="Helvetica" pitchFamily="34" charset="0"/>
              </a:rPr>
              <a:t>nurture the relationship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3271" y="4221088"/>
            <a:ext cx="2292294" cy="152896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03778" cy="1143000"/>
          </a:xfrm>
        </p:spPr>
        <p:txBody>
          <a:bodyPr>
            <a:normAutofit fontScale="90000"/>
          </a:bodyPr>
          <a:lstStyle/>
          <a:p>
            <a:r>
              <a:rPr lang="en-US" sz="3400" b="1" dirty="0" smtClean="0">
                <a:solidFill>
                  <a:srgbClr val="FF6600"/>
                </a:solidFill>
                <a:latin typeface="Helvetica" pitchFamily="34" charset="0"/>
              </a:rPr>
              <a:t>Liaise with local community to identify and respond to changed circumstances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Liaising with local communities may require:</a:t>
            </a:r>
          </a:p>
          <a:p>
            <a:pPr marL="360000" indent="-360000">
              <a:spcBef>
                <a:spcPts val="600"/>
              </a:spcBef>
              <a:spcAft>
                <a:spcPts val="1200"/>
              </a:spcAft>
            </a:pPr>
            <a:r>
              <a:rPr lang="en-AU" sz="2200" dirty="0" smtClean="0">
                <a:latin typeface="Helvetica" pitchFamily="34" charset="0"/>
              </a:rPr>
              <a:t>Keeping in regular contact with the local community to encourage communication</a:t>
            </a:r>
          </a:p>
          <a:p>
            <a:pPr marL="360000" indent="-360000">
              <a:spcBef>
                <a:spcPts val="600"/>
              </a:spcBef>
              <a:spcAft>
                <a:spcPts val="1200"/>
              </a:spcAft>
            </a:pPr>
            <a:r>
              <a:rPr lang="en-AU" sz="2200" dirty="0" smtClean="0">
                <a:latin typeface="Helvetica" pitchFamily="34" charset="0"/>
              </a:rPr>
              <a:t>Responding to community concerns</a:t>
            </a:r>
          </a:p>
          <a:p>
            <a:pPr marL="360000" indent="-360000">
              <a:spcBef>
                <a:spcPts val="600"/>
              </a:spcBef>
              <a:spcAft>
                <a:spcPts val="1200"/>
              </a:spcAft>
            </a:pPr>
            <a:r>
              <a:rPr lang="en-AU" sz="2200" dirty="0" smtClean="0">
                <a:latin typeface="Helvetica" pitchFamily="34" charset="0"/>
              </a:rPr>
              <a:t>Adjusting and/or removing activities and/or the provision of information to tour groups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293096"/>
            <a:ext cx="2399928" cy="160075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03778" cy="1143000"/>
          </a:xfrm>
        </p:spPr>
        <p:txBody>
          <a:bodyPr>
            <a:normAutofit fontScale="90000"/>
          </a:bodyPr>
          <a:lstStyle/>
          <a:p>
            <a:r>
              <a:rPr lang="en-US" sz="3400" b="1" dirty="0" smtClean="0">
                <a:solidFill>
                  <a:srgbClr val="FF6600"/>
                </a:solidFill>
                <a:latin typeface="Helvetica" pitchFamily="34" charset="0"/>
              </a:rPr>
              <a:t>Liaise with local community to identify and respond to changed circumstances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Suggesting and/or assisting with the development of new tours and/or activities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Responding appropriately to any examples where tourist activity is having a negative impact on the local community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3501008"/>
            <a:ext cx="2423202" cy="223419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Required orientations to changes required:</a:t>
            </a:r>
          </a:p>
          <a:p>
            <a:pPr marL="360000" indent="-360000">
              <a:spcBef>
                <a:spcPts val="600"/>
              </a:spcBef>
              <a:spcAft>
                <a:spcPts val="1200"/>
              </a:spcAft>
            </a:pPr>
            <a:r>
              <a:rPr lang="en-AU" sz="2200" dirty="0" smtClean="0">
                <a:latin typeface="Helvetica" pitchFamily="34" charset="0"/>
              </a:rPr>
              <a:t>Proving a willingness to vary information provided to suit local community needs</a:t>
            </a:r>
          </a:p>
          <a:p>
            <a:pPr marL="360000" indent="-360000">
              <a:spcBef>
                <a:spcPts val="600"/>
              </a:spcBef>
              <a:spcAft>
                <a:spcPts val="1200"/>
              </a:spcAft>
            </a:pPr>
            <a:r>
              <a:rPr lang="en-AU" sz="2200" dirty="0" smtClean="0">
                <a:latin typeface="Helvetica" pitchFamily="34" charset="0"/>
              </a:rPr>
              <a:t>Being receptive to suggestions for change</a:t>
            </a:r>
          </a:p>
          <a:p>
            <a:pPr marL="360000" indent="-360000">
              <a:spcBef>
                <a:spcPts val="600"/>
              </a:spcBef>
              <a:spcAft>
                <a:spcPts val="1200"/>
              </a:spcAft>
            </a:pPr>
            <a:r>
              <a:rPr lang="en-AU" sz="2200" dirty="0" smtClean="0">
                <a:latin typeface="Helvetica" pitchFamily="34" charset="0"/>
              </a:rPr>
              <a:t>Taking prompt action on the basis of </a:t>
            </a:r>
            <a:br>
              <a:rPr lang="en-AU" sz="2200" dirty="0" smtClean="0">
                <a:latin typeface="Helvetica" pitchFamily="34" charset="0"/>
              </a:rPr>
            </a:br>
            <a:r>
              <a:rPr lang="en-AU" sz="2200" dirty="0" smtClean="0">
                <a:latin typeface="Helvetica" pitchFamily="34" charset="0"/>
              </a:rPr>
              <a:t>comment/input from the community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8" y="2996952"/>
            <a:ext cx="1873122" cy="1895872"/>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Doing what needs to be done without complaining</a:t>
            </a:r>
          </a:p>
          <a:p>
            <a:pPr marL="360000" indent="-360000">
              <a:spcBef>
                <a:spcPts val="600"/>
              </a:spcBef>
              <a:spcAft>
                <a:spcPts val="1200"/>
              </a:spcAft>
            </a:pPr>
            <a:r>
              <a:rPr lang="en-AU" sz="2200" dirty="0" smtClean="0">
                <a:latin typeface="Helvetica" pitchFamily="34" charset="0"/>
              </a:rPr>
              <a:t>Not challenging the changes which are required/requested</a:t>
            </a:r>
          </a:p>
          <a:p>
            <a:pPr marL="360000" indent="-360000">
              <a:spcBef>
                <a:spcPts val="600"/>
              </a:spcBef>
              <a:spcAft>
                <a:spcPts val="1200"/>
              </a:spcAft>
            </a:pPr>
            <a:r>
              <a:rPr lang="en-AU" sz="2200" dirty="0" smtClean="0">
                <a:latin typeface="Helvetica" pitchFamily="34" charset="0"/>
              </a:rPr>
              <a:t>Showing the local community new materials/commentaries which have </a:t>
            </a:r>
            <a:br>
              <a:rPr lang="en-AU" sz="2200" dirty="0" smtClean="0">
                <a:latin typeface="Helvetica" pitchFamily="34" charset="0"/>
              </a:rPr>
            </a:br>
            <a:r>
              <a:rPr lang="en-AU" sz="2200" dirty="0" smtClean="0">
                <a:latin typeface="Helvetica" pitchFamily="34" charset="0"/>
              </a:rPr>
              <a:t>been produced</a:t>
            </a:r>
          </a:p>
          <a:p>
            <a:pPr marL="360000" indent="-360000">
              <a:spcBef>
                <a:spcPts val="600"/>
              </a:spcBef>
              <a:spcAft>
                <a:spcPts val="1200"/>
              </a:spcAft>
            </a:pPr>
            <a:r>
              <a:rPr lang="en-AU" sz="2200" dirty="0" smtClean="0">
                <a:latin typeface="Helvetica" pitchFamily="34" charset="0"/>
              </a:rPr>
              <a:t>Seeking approval from the community </a:t>
            </a:r>
            <a:br>
              <a:rPr lang="en-AU" sz="2200" dirty="0" smtClean="0">
                <a:latin typeface="Helvetica" pitchFamily="34" charset="0"/>
              </a:rPr>
            </a:br>
            <a:r>
              <a:rPr lang="en-AU" sz="2200" dirty="0" smtClean="0">
                <a:latin typeface="Helvetica" pitchFamily="34" charset="0"/>
              </a:rPr>
              <a:t>for the changes made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2492896"/>
            <a:ext cx="2119723" cy="2049772"/>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0" indent="0">
              <a:spcBef>
                <a:spcPts val="600"/>
              </a:spcBef>
              <a:spcAft>
                <a:spcPts val="1200"/>
              </a:spcAft>
              <a:buNone/>
            </a:pPr>
            <a:r>
              <a:rPr lang="en-US" sz="2200" dirty="0" smtClean="0">
                <a:latin typeface="Helvetica" pitchFamily="34" charset="0"/>
              </a:rPr>
              <a:t>Changes regarding provision of information may be required in relation to:</a:t>
            </a:r>
          </a:p>
          <a:p>
            <a:pPr marL="360000" indent="-360000">
              <a:spcBef>
                <a:spcPts val="600"/>
              </a:spcBef>
              <a:spcAft>
                <a:spcPts val="1200"/>
              </a:spcAft>
            </a:pPr>
            <a:r>
              <a:rPr lang="en-US" sz="2200" dirty="0" smtClean="0">
                <a:latin typeface="Helvetica" pitchFamily="34" charset="0"/>
              </a:rPr>
              <a:t>Advertisements and promotional materials</a:t>
            </a:r>
          </a:p>
          <a:p>
            <a:pPr marL="360000" indent="-360000">
              <a:spcBef>
                <a:spcPts val="600"/>
              </a:spcBef>
              <a:spcAft>
                <a:spcPts val="1200"/>
              </a:spcAft>
            </a:pPr>
            <a:r>
              <a:rPr lang="en-US" sz="2200" dirty="0" smtClean="0">
                <a:latin typeface="Helvetica" pitchFamily="34" charset="0"/>
              </a:rPr>
              <a:t>Hard copy handouts given to tour group </a:t>
            </a:r>
            <a:br>
              <a:rPr lang="en-US" sz="2200" dirty="0" smtClean="0">
                <a:latin typeface="Helvetica" pitchFamily="34" charset="0"/>
              </a:rPr>
            </a:br>
            <a:r>
              <a:rPr lang="en-US" sz="2200" dirty="0" smtClean="0">
                <a:latin typeface="Helvetica" pitchFamily="34" charset="0"/>
              </a:rPr>
              <a:t>members</a:t>
            </a:r>
          </a:p>
          <a:p>
            <a:pPr marL="360000" indent="-360000">
              <a:spcBef>
                <a:spcPts val="600"/>
              </a:spcBef>
              <a:spcAft>
                <a:spcPts val="1200"/>
              </a:spcAft>
            </a:pPr>
            <a:r>
              <a:rPr lang="en-US" sz="2200" dirty="0" smtClean="0">
                <a:latin typeface="Helvetica" pitchFamily="34" charset="0"/>
              </a:rPr>
              <a:t>Scripted commentaries</a:t>
            </a:r>
          </a:p>
          <a:p>
            <a:pPr marL="360000" indent="-360000">
              <a:spcBef>
                <a:spcPts val="600"/>
              </a:spcBef>
              <a:spcAft>
                <a:spcPts val="1200"/>
              </a:spcAft>
            </a:pPr>
            <a:r>
              <a:rPr lang="en-US" sz="2200" dirty="0" smtClean="0">
                <a:latin typeface="Helvetica" pitchFamily="34" charset="0"/>
              </a:rPr>
              <a:t>Comments and unscripted commentary </a:t>
            </a:r>
            <a:br>
              <a:rPr lang="en-US" sz="2200" dirty="0" smtClean="0">
                <a:latin typeface="Helvetica" pitchFamily="34" charset="0"/>
              </a:rPr>
            </a:br>
            <a:r>
              <a:rPr lang="en-US" sz="2200" dirty="0" smtClean="0">
                <a:latin typeface="Helvetica" pitchFamily="34" charset="0"/>
              </a:rPr>
              <a:t>provided by Tour Guides</a:t>
            </a:r>
          </a:p>
          <a:p>
            <a:pPr marL="360000" indent="-360000">
              <a:spcBef>
                <a:spcPts val="600"/>
              </a:spcBef>
              <a:spcAft>
                <a:spcPts val="1200"/>
              </a:spcAft>
            </a:pPr>
            <a:r>
              <a:rPr lang="en-US" sz="2200" dirty="0" smtClean="0">
                <a:latin typeface="Helvetica" pitchFamily="34" charset="0"/>
              </a:rPr>
              <a:t>Advice/detail in relation to interpretive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08" y="3140968"/>
            <a:ext cx="1783563" cy="1778423"/>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Practical changes may entail/require:</a:t>
            </a:r>
          </a:p>
          <a:p>
            <a:pPr marL="360000" indent="-360000">
              <a:spcBef>
                <a:spcPts val="600"/>
              </a:spcBef>
              <a:spcAft>
                <a:spcPts val="1200"/>
              </a:spcAft>
            </a:pPr>
            <a:r>
              <a:rPr lang="en-US" sz="2200" dirty="0" smtClean="0">
                <a:latin typeface="Helvetica" pitchFamily="34" charset="0"/>
              </a:rPr>
              <a:t>Reviewing existing material/s</a:t>
            </a:r>
          </a:p>
          <a:p>
            <a:pPr marL="360000" indent="-360000">
              <a:spcBef>
                <a:spcPts val="600"/>
              </a:spcBef>
              <a:spcAft>
                <a:spcPts val="1200"/>
              </a:spcAft>
            </a:pPr>
            <a:r>
              <a:rPr lang="en-US" sz="2200" dirty="0" smtClean="0">
                <a:latin typeface="Helvetica" pitchFamily="34" charset="0"/>
              </a:rPr>
              <a:t>Liaising with local communities to clarify and confirm</a:t>
            </a:r>
          </a:p>
          <a:p>
            <a:pPr marL="360000" indent="-360000">
              <a:spcBef>
                <a:spcPts val="600"/>
              </a:spcBef>
              <a:spcAft>
                <a:spcPts val="1200"/>
              </a:spcAft>
            </a:pPr>
            <a:r>
              <a:rPr lang="en-US" sz="2200" dirty="0" smtClean="0">
                <a:latin typeface="Helvetica" pitchFamily="34" charset="0"/>
              </a:rPr>
              <a:t>Revising and re-writing as necessary</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4077072"/>
            <a:ext cx="2483768" cy="1655271"/>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360000" indent="-360000">
              <a:spcBef>
                <a:spcPts val="600"/>
              </a:spcBef>
              <a:spcAft>
                <a:spcPts val="1200"/>
              </a:spcAft>
            </a:pPr>
            <a:r>
              <a:rPr lang="en-US" sz="2200" dirty="0" smtClean="0">
                <a:latin typeface="Helvetica" pitchFamily="34" charset="0"/>
              </a:rPr>
              <a:t>Removing dated items from circulation</a:t>
            </a:r>
          </a:p>
          <a:p>
            <a:pPr marL="360000" indent="-360000">
              <a:spcBef>
                <a:spcPts val="600"/>
              </a:spcBef>
              <a:spcAft>
                <a:spcPts val="1200"/>
              </a:spcAft>
            </a:pPr>
            <a:r>
              <a:rPr lang="en-US" sz="2200" dirty="0" smtClean="0">
                <a:latin typeface="Helvetica" pitchFamily="34" charset="0"/>
              </a:rPr>
              <a:t>Correcting text and/or script</a:t>
            </a:r>
          </a:p>
          <a:p>
            <a:pPr marL="360000" indent="-360000">
              <a:spcBef>
                <a:spcPts val="600"/>
              </a:spcBef>
              <a:spcAft>
                <a:spcPts val="1200"/>
              </a:spcAft>
            </a:pPr>
            <a:r>
              <a:rPr lang="en-US" sz="2200" dirty="0" smtClean="0">
                <a:latin typeface="Helvetica" pitchFamily="34" charset="0"/>
              </a:rPr>
              <a:t>Up-dating internal training</a:t>
            </a:r>
          </a:p>
          <a:p>
            <a:pPr marL="360000" indent="-360000">
              <a:spcBef>
                <a:spcPts val="600"/>
              </a:spcBef>
              <a:spcAft>
                <a:spcPts val="1200"/>
              </a:spcAft>
            </a:pPr>
            <a:r>
              <a:rPr lang="en-US" sz="2200" dirty="0" smtClean="0">
                <a:latin typeface="Helvetica" pitchFamily="34" charset="0"/>
              </a:rPr>
              <a:t>Keeping previously disclosed </a:t>
            </a:r>
            <a:br>
              <a:rPr lang="en-US" sz="2200" dirty="0" smtClean="0">
                <a:latin typeface="Helvetica" pitchFamily="34" charset="0"/>
              </a:rPr>
            </a:br>
            <a:r>
              <a:rPr lang="en-US" sz="2200" dirty="0" smtClean="0">
                <a:latin typeface="Helvetica" pitchFamily="34" charset="0"/>
              </a:rPr>
              <a:t>information secret where/as required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59" y="2479179"/>
            <a:ext cx="2230423" cy="18923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7467600" cy="1143000"/>
          </a:xfrm>
        </p:spPr>
        <p:txBody>
          <a:bodyPr>
            <a:normAutofit fontScale="90000"/>
          </a:bodyPr>
          <a:lstStyle/>
          <a:p>
            <a:r>
              <a:rPr lang="en-AU" sz="3400" b="1" dirty="0" smtClean="0">
                <a:solidFill>
                  <a:srgbClr val="FF6600"/>
                </a:solidFill>
                <a:latin typeface="Helvetica" pitchFamily="34" charset="0"/>
              </a:rPr>
              <a:t>Modify information in accordance with issues raised by the local community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464496"/>
          </a:xfrm>
        </p:spPr>
        <p:txBody>
          <a:bodyPr>
            <a:normAutofit/>
          </a:bodyPr>
          <a:lstStyle/>
          <a:p>
            <a:pPr marL="360000" indent="-360000">
              <a:spcBef>
                <a:spcPts val="600"/>
              </a:spcBef>
              <a:spcAft>
                <a:spcPts val="1200"/>
              </a:spcAft>
            </a:pPr>
            <a:r>
              <a:rPr lang="en-AU" sz="2200" dirty="0" smtClean="0">
                <a:latin typeface="Helvetica" pitchFamily="34" charset="0"/>
              </a:rPr>
              <a:t>Altering scheduled itineraries and activities</a:t>
            </a:r>
          </a:p>
          <a:p>
            <a:pPr marL="360000" indent="-360000">
              <a:spcBef>
                <a:spcPts val="600"/>
              </a:spcBef>
              <a:spcAft>
                <a:spcPts val="1200"/>
              </a:spcAft>
            </a:pPr>
            <a:r>
              <a:rPr lang="en-AU" sz="2200" dirty="0" smtClean="0">
                <a:latin typeface="Helvetica" pitchFamily="34" charset="0"/>
              </a:rPr>
              <a:t>Up-dating facts and figures relating to the local community</a:t>
            </a:r>
          </a:p>
          <a:p>
            <a:pPr marL="360000" indent="-360000">
              <a:spcBef>
                <a:spcPts val="600"/>
              </a:spcBef>
              <a:spcAft>
                <a:spcPts val="1200"/>
              </a:spcAft>
            </a:pPr>
            <a:r>
              <a:rPr lang="en-AU" sz="2200" dirty="0" smtClean="0">
                <a:latin typeface="Helvetica" pitchFamily="34" charset="0"/>
              </a:rPr>
              <a:t>Applying another method of communication/transmission </a:t>
            </a:r>
            <a:br>
              <a:rPr lang="en-AU" sz="2200" dirty="0" smtClean="0">
                <a:latin typeface="Helvetica" pitchFamily="34" charset="0"/>
              </a:rPr>
            </a:br>
            <a:r>
              <a:rPr lang="en-AU" sz="2200" dirty="0" smtClean="0">
                <a:latin typeface="Helvetica" pitchFamily="34" charset="0"/>
              </a:rPr>
              <a:t>of information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152" y="2924944"/>
            <a:ext cx="2143597" cy="213742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lnSpcReduction="100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maintaining contact with the local community</a:t>
            </a:r>
            <a:r>
              <a:rPr lang="en-US" sz="2200" dirty="0" smtClean="0">
                <a:latin typeface="Helvetica" pitchFamily="34" charset="0"/>
              </a:rPr>
              <a:t>:</a:t>
            </a:r>
          </a:p>
          <a:p>
            <a:r>
              <a:rPr lang="en-AU" sz="2200" dirty="0" smtClean="0">
                <a:latin typeface="Helvetica" pitchFamily="34" charset="0"/>
              </a:rPr>
              <a:t>Realise the importance and ongoing need for regular contact</a:t>
            </a:r>
          </a:p>
          <a:p>
            <a:endParaRPr lang="en-AU" sz="2200" dirty="0" smtClean="0">
              <a:latin typeface="Helvetica" pitchFamily="34" charset="0"/>
            </a:endParaRPr>
          </a:p>
          <a:p>
            <a:r>
              <a:rPr lang="en-AU" sz="2200" dirty="0" smtClean="0">
                <a:latin typeface="Helvetica" pitchFamily="34" charset="0"/>
              </a:rPr>
              <a:t>Determine and follow the contact and communication preferences of the community</a:t>
            </a:r>
          </a:p>
          <a:p>
            <a:endParaRPr lang="en-AU" sz="2200" dirty="0" smtClean="0">
              <a:latin typeface="Helvetica" pitchFamily="34" charset="0"/>
            </a:endParaRPr>
          </a:p>
          <a:p>
            <a:r>
              <a:rPr lang="en-AU" sz="2200" dirty="0" smtClean="0">
                <a:latin typeface="Helvetica" pitchFamily="34" charset="0"/>
              </a:rPr>
              <a:t>Be proactive and initiate contact</a:t>
            </a:r>
          </a:p>
          <a:p>
            <a:endParaRPr lang="en-AU" sz="2200" dirty="0" smtClean="0">
              <a:latin typeface="Helvetica" pitchFamily="34" charset="0"/>
            </a:endParaRPr>
          </a:p>
          <a:p>
            <a:r>
              <a:rPr lang="en-AU" sz="2200" dirty="0" smtClean="0">
                <a:latin typeface="Helvetica" pitchFamily="34" charset="0"/>
              </a:rPr>
              <a:t>Invite input and feedback</a:t>
            </a: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r>
              <a:rPr lang="en-AU" sz="2200" dirty="0" smtClean="0">
                <a:latin typeface="Helvetica" pitchFamily="34" charset="0"/>
              </a:rPr>
              <a:t>Provide necessary resources to enable contact and communication</a:t>
            </a:r>
          </a:p>
          <a:p>
            <a:endParaRPr lang="en-AU" sz="2200" dirty="0" smtClean="0">
              <a:latin typeface="Helvetica" pitchFamily="34" charset="0"/>
            </a:endParaRPr>
          </a:p>
          <a:p>
            <a:r>
              <a:rPr lang="en-AU" sz="2200" dirty="0" smtClean="0">
                <a:latin typeface="Helvetica" pitchFamily="34" charset="0"/>
              </a:rPr>
              <a:t>Monitor the strength and quality of the relationship</a:t>
            </a:r>
          </a:p>
          <a:p>
            <a:endParaRPr lang="en-AU" sz="2200" dirty="0" smtClean="0">
              <a:latin typeface="Helvetica" pitchFamily="34" charset="0"/>
            </a:endParaRPr>
          </a:p>
          <a:p>
            <a:r>
              <a:rPr lang="en-AU" sz="2200" dirty="0" smtClean="0">
                <a:latin typeface="Helvetica" pitchFamily="34" charset="0"/>
              </a:rPr>
              <a:t>Develop a schedule of meetings</a:t>
            </a:r>
          </a:p>
          <a:p>
            <a:endParaRPr lang="en-AU" sz="2200" dirty="0" smtClean="0">
              <a:latin typeface="Helvetica" pitchFamily="34" charset="0"/>
            </a:endParaRPr>
          </a:p>
          <a:p>
            <a:r>
              <a:rPr lang="en-AU" sz="2200" dirty="0" smtClean="0">
                <a:latin typeface="Helvetica" pitchFamily="34" charset="0"/>
              </a:rPr>
              <a:t>Respond to community concerns</a:t>
            </a:r>
          </a:p>
          <a:p>
            <a:endParaRPr lang="en-AU" sz="2200" dirty="0">
              <a:latin typeface="Helvetica" pitchFamily="34" charset="0"/>
            </a:endParaRP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Assist with community ideas and initiatives</a:t>
            </a:r>
          </a:p>
          <a:p>
            <a:endParaRPr lang="en-AU" sz="2200" dirty="0" smtClean="0">
              <a:latin typeface="Helvetica" pitchFamily="34" charset="0"/>
            </a:endParaRPr>
          </a:p>
          <a:p>
            <a:r>
              <a:rPr lang="en-AU" sz="2200" dirty="0" smtClean="0">
                <a:latin typeface="Helvetica" pitchFamily="34" charset="0"/>
              </a:rPr>
              <a:t>Be willing to make changes to information in accordance with wishes of local communities</a:t>
            </a:r>
          </a:p>
          <a:p>
            <a:endParaRPr lang="en-AU" sz="2200" dirty="0" smtClean="0">
              <a:latin typeface="Helvetica" pitchFamily="34" charset="0"/>
            </a:endParaRPr>
          </a:p>
          <a:p>
            <a:r>
              <a:rPr lang="en-AU" sz="2200" dirty="0" smtClean="0">
                <a:latin typeface="Helvetica" pitchFamily="34" charset="0"/>
              </a:rPr>
              <a:t>Ensure all relevant materials are amended to </a:t>
            </a:r>
            <a:br>
              <a:rPr lang="en-AU" sz="2200" dirty="0" smtClean="0">
                <a:latin typeface="Helvetica" pitchFamily="34" charset="0"/>
              </a:rPr>
            </a:br>
            <a:r>
              <a:rPr lang="en-AU" sz="2200" dirty="0" smtClean="0">
                <a:latin typeface="Helvetica" pitchFamily="34" charset="0"/>
              </a:rPr>
              <a:t>reflect required changes made by </a:t>
            </a:r>
            <a:br>
              <a:rPr lang="en-AU" sz="2200" dirty="0" smtClean="0">
                <a:latin typeface="Helvetica" pitchFamily="34" charset="0"/>
              </a:rPr>
            </a:br>
            <a:r>
              <a:rPr lang="en-AU" sz="2200" dirty="0" smtClean="0">
                <a:latin typeface="Helvetica" pitchFamily="34" charset="0"/>
              </a:rPr>
              <a:t>local communities</a:t>
            </a:r>
          </a:p>
          <a:p>
            <a:endParaRPr lang="en-AU" sz="2200" dirty="0">
              <a:latin typeface="Helvetica" pitchFamily="34" charset="0"/>
            </a:endParaRPr>
          </a:p>
          <a:p>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dirty="0" smtClean="0">
                <a:latin typeface="Helvetica" pitchFamily="34" charset="0"/>
              </a:rPr>
              <a:t>Use version control protocols to control changes made to hard copy information</a:t>
            </a:r>
          </a:p>
          <a:p>
            <a:endParaRPr lang="en-AU" sz="2200" dirty="0" smtClean="0">
              <a:latin typeface="Helvetica" pitchFamily="34" charset="0"/>
            </a:endParaRPr>
          </a:p>
          <a:p>
            <a:r>
              <a:rPr lang="en-AU" sz="2200" dirty="0" smtClean="0">
                <a:latin typeface="Helvetica" pitchFamily="34" charset="0"/>
              </a:rPr>
              <a:t>Alter internal training to mirror required changes to information made by local communities</a:t>
            </a:r>
          </a:p>
          <a:p>
            <a:endParaRPr lang="en-AU" sz="2200" dirty="0" smtClean="0">
              <a:latin typeface="Helvetica" pitchFamily="34" charset="0"/>
            </a:endParaRPr>
          </a:p>
          <a:p>
            <a:r>
              <a:rPr lang="en-AU" sz="2200" dirty="0" smtClean="0">
                <a:latin typeface="Helvetica" pitchFamily="34" charset="0"/>
              </a:rPr>
              <a:t>Obtain approval from local communities </a:t>
            </a:r>
            <a:br>
              <a:rPr lang="en-AU" sz="2200" dirty="0" smtClean="0">
                <a:latin typeface="Helvetica" pitchFamily="34" charset="0"/>
              </a:rPr>
            </a:br>
            <a:r>
              <a:rPr lang="en-AU" sz="2200" dirty="0" smtClean="0">
                <a:latin typeface="Helvetica" pitchFamily="34" charset="0"/>
              </a:rPr>
              <a:t>regarding required changes made to </a:t>
            </a:r>
            <a:br>
              <a:rPr lang="en-AU" sz="2200" dirty="0" smtClean="0">
                <a:latin typeface="Helvetica" pitchFamily="34" charset="0"/>
              </a:rPr>
            </a:br>
            <a:r>
              <a:rPr lang="en-AU" sz="2200" dirty="0" smtClean="0">
                <a:latin typeface="Helvetica" pitchFamily="34" charset="0"/>
              </a:rPr>
              <a:t>information provided.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12" descr="MCj04298290000[1]"/>
          <p:cNvPicPr>
            <a:picLocks noChangeAspect="1" noChangeArrowheads="1"/>
          </p:cNvPicPr>
          <p:nvPr/>
        </p:nvPicPr>
        <p:blipFill>
          <a:blip r:embed="rId3" cstate="print"/>
          <a:srcRect/>
          <a:stretch>
            <a:fillRect/>
          </a:stretch>
        </p:blipFill>
        <p:spPr bwMode="auto">
          <a:xfrm>
            <a:off x="6847616" y="3861048"/>
            <a:ext cx="1369259" cy="1244352"/>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1920</TotalTime>
  <Words>20332</Words>
  <Application>Microsoft Office PowerPoint</Application>
  <PresentationFormat>On-screen Show (4:3)</PresentationFormat>
  <Paragraphs>2524</Paragraphs>
  <Slides>129</Slides>
  <Notes>129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129</vt:i4>
      </vt:variant>
    </vt:vector>
  </HeadingPairs>
  <TitlesOfParts>
    <vt:vector size="135" baseType="lpstr">
      <vt:lpstr>Arial</vt:lpstr>
      <vt:lpstr>Calibri</vt:lpstr>
      <vt:lpstr>Franklin Gothic Book</vt:lpstr>
      <vt:lpstr>Helvetica</vt:lpstr>
      <vt:lpstr>Wingdings 2</vt:lpstr>
      <vt:lpstr>PPT_Tour_operation_templates_130214</vt:lpstr>
      <vt:lpstr>RESEARCH AND SHARE INFORMATION ON INDIGENOUS CULTURES</vt:lpstr>
      <vt:lpstr>Research and share information on indigenous cultures</vt:lpstr>
      <vt:lpstr>Assessment</vt:lpstr>
      <vt:lpstr>Element 1 – Research information on indigenous cultures</vt:lpstr>
      <vt:lpstr>Identify sources of information on indigenous cultures</vt:lpstr>
      <vt:lpstr>Identify sources of information on indigenous cultures</vt:lpstr>
      <vt:lpstr>Identify sources of information on indigenous cultures</vt:lpstr>
      <vt:lpstr>Identify sources of information on indigenous cultures</vt:lpstr>
      <vt:lpstr>Identify sources of information on indigenous cultures</vt:lpstr>
      <vt:lpstr>Identify sources of information on indigenous cultures</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Research and interpret sources of information</vt:lpstr>
      <vt:lpstr>Demonstrate respect for indigenous people and their culture(s)</vt:lpstr>
      <vt:lpstr>Demonstrate respect for indigenous people and their culture(s)</vt:lpstr>
      <vt:lpstr>Demonstrate respect for indigenous people and their culture(s)</vt:lpstr>
      <vt:lpstr>Demonstrate respect for indigenous people and their culture(s)</vt:lpstr>
      <vt:lpstr>Demonstrate respect for indigenous people and their culture(s)</vt:lpstr>
      <vt:lpstr>Demonstrate respect for indigenous people and their culture(s)</vt:lpstr>
      <vt:lpstr>Demonstrate respect for indigenous people and their culture(s)</vt:lpstr>
      <vt:lpstr>Demonstrate respect for indigenous people and their culture(s)</vt:lpstr>
      <vt:lpstr>Determine how information on indigenous cultures should be used</vt:lpstr>
      <vt:lpstr>Determine how information on indigenous cultures should be used</vt:lpstr>
      <vt:lpstr>Determine how information on indigenous cultures should be used</vt:lpstr>
      <vt:lpstr>Determine how information on indigenous cultures should be used</vt:lpstr>
      <vt:lpstr>Determine how information on indigenous cultures should be used</vt:lpstr>
      <vt:lpstr>Summary – Element 1</vt:lpstr>
      <vt:lpstr>Summary – Element 1</vt:lpstr>
      <vt:lpstr>Summary – Element 1</vt:lpstr>
      <vt:lpstr>Summary – Element 1</vt:lpstr>
      <vt:lpstr>Summary – Element 1</vt:lpstr>
      <vt:lpstr>Summary – Element 1</vt:lpstr>
      <vt:lpstr>Element 2 – Share information on indigenous cultures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Communicate general knowledge to colleagues</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Use indigenous guides and/or interpreters where possible</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Brief tour groups regarding appropriate behaviour</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Communicate general knowledge to tour groups</vt:lpstr>
      <vt:lpstr>Reply to tour group questions on indigenous cultures</vt:lpstr>
      <vt:lpstr>Reply to tour group questions on indigenous cultures</vt:lpstr>
      <vt:lpstr>Reply to tour group questions on indigenous cultures</vt:lpstr>
      <vt:lpstr>Reply to tour group questions on indigenous cultures</vt:lpstr>
      <vt:lpstr>Reply to tour group questions on indigenous cultures</vt:lpstr>
      <vt:lpstr>Monitor and respond to culturally inappropriate behaviour</vt:lpstr>
      <vt:lpstr>Monitor and respond to culturally inappropriate behaviour</vt:lpstr>
      <vt:lpstr>Monitor and respond to culturally inappropriate behaviour</vt:lpstr>
      <vt:lpstr>Monitor and respond to culturally inappropriate behaviour</vt:lpstr>
      <vt:lpstr>Monitor and respond to culturally inappropriate behaviour</vt:lpstr>
      <vt:lpstr>Monitor and respond to culturally inappropriate behaviour</vt:lpstr>
      <vt:lpstr>Summary – Element 2</vt:lpstr>
      <vt:lpstr>Summary – Element 2</vt:lpstr>
      <vt:lpstr>Summary – Element 2</vt:lpstr>
      <vt:lpstr>Summary – Element 2</vt:lpstr>
      <vt:lpstr>Summary – Element 2</vt:lpstr>
      <vt:lpstr>Element 3 – Maintain contact with the local community</vt:lpstr>
      <vt:lpstr>Liaise with local community to identify and respond to changed circumstances</vt:lpstr>
      <vt:lpstr>Liaise with local community to identify and respond to changed circumstances</vt:lpstr>
      <vt:lpstr>Liaise with local community to identify and respond to changed circumstances</vt:lpstr>
      <vt:lpstr>Liaise with local community to identify and respond to changed circumstances</vt:lpstr>
      <vt:lpstr>Modify information in accordance with issues raised by the local community</vt:lpstr>
      <vt:lpstr>Modify information in accordance with issues raised by the local community</vt:lpstr>
      <vt:lpstr>Modify information in accordance with issues raised by the local community</vt:lpstr>
      <vt:lpstr>Modify information in accordance with issues raised by the local community</vt:lpstr>
      <vt:lpstr>Modify information in accordance with issues raised by the local community</vt:lpstr>
      <vt:lpstr>Modify information in accordance with issues raised by the local community</vt:lpstr>
      <vt:lpstr>Summary – Element 3</vt:lpstr>
      <vt:lpstr>Summary – Element 3</vt:lpstr>
      <vt:lpstr>Summary – Element 3</vt:lpstr>
      <vt:lpstr>Summary – Element 3</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AND SHARE INFORMATION ON INDIGENOUS CULTURES</dc:title>
  <dc:creator>Mai Vu</dc:creator>
  <cp:lastModifiedBy>Carla Angelica Co</cp:lastModifiedBy>
  <cp:revision>120</cp:revision>
  <dcterms:created xsi:type="dcterms:W3CDTF">2014-05-13T06:42:06Z</dcterms:created>
  <dcterms:modified xsi:type="dcterms:W3CDTF">2016-07-18T06:20:30Z</dcterms:modified>
</cp:coreProperties>
</file>