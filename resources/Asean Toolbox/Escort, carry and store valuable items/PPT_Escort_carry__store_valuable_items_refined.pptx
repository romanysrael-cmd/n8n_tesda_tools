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5"/>
  </p:notesMasterIdLst>
  <p:handoutMasterIdLst>
    <p:handoutMasterId r:id="rId146"/>
  </p:handoutMasterIdLst>
  <p:sldIdLst>
    <p:sldId id="256" r:id="rId2"/>
    <p:sldId id="257" r:id="rId3"/>
    <p:sldId id="289" r:id="rId4"/>
    <p:sldId id="259" r:id="rId5"/>
    <p:sldId id="260" r:id="rId6"/>
    <p:sldId id="261" r:id="rId7"/>
    <p:sldId id="290" r:id="rId8"/>
    <p:sldId id="291" r:id="rId9"/>
    <p:sldId id="292" r:id="rId10"/>
    <p:sldId id="262" r:id="rId11"/>
    <p:sldId id="301" r:id="rId12"/>
    <p:sldId id="302" r:id="rId13"/>
    <p:sldId id="303" r:id="rId14"/>
    <p:sldId id="304" r:id="rId15"/>
    <p:sldId id="305" r:id="rId16"/>
    <p:sldId id="263" r:id="rId17"/>
    <p:sldId id="306" r:id="rId18"/>
    <p:sldId id="307" r:id="rId19"/>
    <p:sldId id="308" r:id="rId20"/>
    <p:sldId id="264" r:id="rId21"/>
    <p:sldId id="317" r:id="rId22"/>
    <p:sldId id="318" r:id="rId23"/>
    <p:sldId id="319" r:id="rId24"/>
    <p:sldId id="320" r:id="rId25"/>
    <p:sldId id="321" r:id="rId26"/>
    <p:sldId id="322" r:id="rId27"/>
    <p:sldId id="265" r:id="rId28"/>
    <p:sldId id="327" r:id="rId29"/>
    <p:sldId id="328" r:id="rId30"/>
    <p:sldId id="329" r:id="rId31"/>
    <p:sldId id="330" r:id="rId32"/>
    <p:sldId id="331" r:id="rId33"/>
    <p:sldId id="332" r:id="rId34"/>
    <p:sldId id="333" r:id="rId35"/>
    <p:sldId id="334" r:id="rId36"/>
    <p:sldId id="335" r:id="rId37"/>
    <p:sldId id="336" r:id="rId38"/>
    <p:sldId id="337" r:id="rId39"/>
    <p:sldId id="266" r:id="rId40"/>
    <p:sldId id="338" r:id="rId41"/>
    <p:sldId id="339" r:id="rId42"/>
    <p:sldId id="340" r:id="rId43"/>
    <p:sldId id="341" r:id="rId44"/>
    <p:sldId id="342" r:id="rId45"/>
    <p:sldId id="267" r:id="rId46"/>
    <p:sldId id="346" r:id="rId47"/>
    <p:sldId id="347" r:id="rId48"/>
    <p:sldId id="348" r:id="rId49"/>
    <p:sldId id="349" r:id="rId50"/>
    <p:sldId id="268" r:id="rId51"/>
    <p:sldId id="356" r:id="rId52"/>
    <p:sldId id="357" r:id="rId53"/>
    <p:sldId id="358" r:id="rId54"/>
    <p:sldId id="269" r:id="rId55"/>
    <p:sldId id="369" r:id="rId56"/>
    <p:sldId id="370" r:id="rId57"/>
    <p:sldId id="371" r:id="rId58"/>
    <p:sldId id="546" r:id="rId59"/>
    <p:sldId id="553" r:id="rId60"/>
    <p:sldId id="376" r:id="rId61"/>
    <p:sldId id="377" r:id="rId62"/>
    <p:sldId id="379" r:id="rId63"/>
    <p:sldId id="270" r:id="rId64"/>
    <p:sldId id="271" r:id="rId65"/>
    <p:sldId id="382" r:id="rId66"/>
    <p:sldId id="383" r:id="rId67"/>
    <p:sldId id="384" r:id="rId68"/>
    <p:sldId id="387" r:id="rId69"/>
    <p:sldId id="388" r:id="rId70"/>
    <p:sldId id="272" r:id="rId71"/>
    <p:sldId id="395" r:id="rId72"/>
    <p:sldId id="396" r:id="rId73"/>
    <p:sldId id="397" r:id="rId74"/>
    <p:sldId id="398" r:id="rId75"/>
    <p:sldId id="273" r:id="rId76"/>
    <p:sldId id="412" r:id="rId77"/>
    <p:sldId id="413" r:id="rId78"/>
    <p:sldId id="414" r:id="rId79"/>
    <p:sldId id="415" r:id="rId80"/>
    <p:sldId id="416" r:id="rId81"/>
    <p:sldId id="404" r:id="rId82"/>
    <p:sldId id="421" r:id="rId83"/>
    <p:sldId id="554" r:id="rId84"/>
    <p:sldId id="555" r:id="rId85"/>
    <p:sldId id="556" r:id="rId86"/>
    <p:sldId id="405" r:id="rId87"/>
    <p:sldId id="430" r:id="rId88"/>
    <p:sldId id="431" r:id="rId89"/>
    <p:sldId id="432" r:id="rId90"/>
    <p:sldId id="406" r:id="rId91"/>
    <p:sldId id="440" r:id="rId92"/>
    <p:sldId id="441" r:id="rId93"/>
    <p:sldId id="442" r:id="rId94"/>
    <p:sldId id="443" r:id="rId95"/>
    <p:sldId id="444" r:id="rId96"/>
    <p:sldId id="407" r:id="rId97"/>
    <p:sldId id="449" r:id="rId98"/>
    <p:sldId id="408" r:id="rId99"/>
    <p:sldId id="409" r:id="rId100"/>
    <p:sldId id="460" r:id="rId101"/>
    <p:sldId id="461" r:id="rId102"/>
    <p:sldId id="462" r:id="rId103"/>
    <p:sldId id="463" r:id="rId104"/>
    <p:sldId id="464" r:id="rId105"/>
    <p:sldId id="453" r:id="rId106"/>
    <p:sldId id="467" r:id="rId107"/>
    <p:sldId id="468" r:id="rId108"/>
    <p:sldId id="469" r:id="rId109"/>
    <p:sldId id="470" r:id="rId110"/>
    <p:sldId id="471" r:id="rId111"/>
    <p:sldId id="454" r:id="rId112"/>
    <p:sldId id="475" r:id="rId113"/>
    <p:sldId id="476" r:id="rId114"/>
    <p:sldId id="477" r:id="rId115"/>
    <p:sldId id="478" r:id="rId116"/>
    <p:sldId id="455" r:id="rId117"/>
    <p:sldId id="482" r:id="rId118"/>
    <p:sldId id="483" r:id="rId119"/>
    <p:sldId id="484" r:id="rId120"/>
    <p:sldId id="456" r:id="rId121"/>
    <p:sldId id="493" r:id="rId122"/>
    <p:sldId id="494" r:id="rId123"/>
    <p:sldId id="495" r:id="rId124"/>
    <p:sldId id="457" r:id="rId125"/>
    <p:sldId id="502" r:id="rId126"/>
    <p:sldId id="503" r:id="rId127"/>
    <p:sldId id="504" r:id="rId128"/>
    <p:sldId id="505" r:id="rId129"/>
    <p:sldId id="458" r:id="rId130"/>
    <p:sldId id="511" r:id="rId131"/>
    <p:sldId id="513" r:id="rId132"/>
    <p:sldId id="459" r:id="rId133"/>
    <p:sldId id="410" r:id="rId134"/>
    <p:sldId id="516" r:id="rId135"/>
    <p:sldId id="411" r:id="rId136"/>
    <p:sldId id="524" r:id="rId137"/>
    <p:sldId id="557" r:id="rId138"/>
    <p:sldId id="558" r:id="rId139"/>
    <p:sldId id="274" r:id="rId140"/>
    <p:sldId id="531" r:id="rId141"/>
    <p:sldId id="532" r:id="rId142"/>
    <p:sldId id="275" r:id="rId143"/>
    <p:sldId id="540" r:id="rId14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11" autoAdjust="0"/>
    <p:restoredTop sz="58343" autoAdjust="0"/>
  </p:normalViewPr>
  <p:slideViewPr>
    <p:cSldViewPr>
      <p:cViewPr varScale="1">
        <p:scale>
          <a:sx n="54" d="100"/>
          <a:sy n="54" d="100"/>
        </p:scale>
        <p:origin x="204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3/26/2015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24844416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453945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63654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041563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218818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918952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AU" noProof="0"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preparing to undertake escort and carry duties by asking questions such as:</a:t>
            </a:r>
          </a:p>
          <a:p>
            <a:pPr>
              <a:buFont typeface="Arial" pitchFamily="34" charset="0"/>
              <a:buChar char="•"/>
            </a:pPr>
            <a:r>
              <a:rPr lang="en-AU" sz="1200" kern="1200" baseline="0" dirty="0" smtClean="0">
                <a:solidFill>
                  <a:schemeClr val="tx1"/>
                </a:solidFill>
                <a:ea typeface="+mn-ea"/>
                <a:cs typeface="+mn-cs"/>
              </a:rPr>
              <a:t> Why are escort duties necessary?</a:t>
            </a:r>
          </a:p>
          <a:p>
            <a:pPr>
              <a:buFont typeface="Arial" pitchFamily="34" charset="0"/>
              <a:buChar char="•"/>
            </a:pPr>
            <a:r>
              <a:rPr lang="en-AU" sz="1200" kern="1200" baseline="0" dirty="0" smtClean="0">
                <a:solidFill>
                  <a:schemeClr val="tx1"/>
                </a:solidFill>
                <a:ea typeface="+mn-ea"/>
                <a:cs typeface="+mn-cs"/>
              </a:rPr>
              <a:t> Who might request an escort?</a:t>
            </a:r>
          </a:p>
          <a:p>
            <a:pPr>
              <a:buFont typeface="Arial" pitchFamily="34" charset="0"/>
              <a:buChar char="•"/>
            </a:pPr>
            <a:r>
              <a:rPr lang="en-AU" sz="1200" kern="1200" baseline="0" dirty="0" smtClean="0">
                <a:solidFill>
                  <a:schemeClr val="tx1"/>
                </a:solidFill>
                <a:ea typeface="+mn-ea"/>
                <a:cs typeface="+mn-cs"/>
              </a:rPr>
              <a:t> Who provides escort services and carriage of valuable items?</a:t>
            </a:r>
          </a:p>
          <a:p>
            <a:pPr>
              <a:buFont typeface="Arial" pitchFamily="34" charset="0"/>
              <a:buChar char="•"/>
            </a:pPr>
            <a:r>
              <a:rPr lang="en-AU" sz="1200" kern="1200" baseline="0" dirty="0" smtClean="0">
                <a:solidFill>
                  <a:schemeClr val="tx1"/>
                </a:solidFill>
                <a:ea typeface="+mn-ea"/>
                <a:cs typeface="+mn-cs"/>
              </a:rPr>
              <a:t> What threats may exist when escorting and carrying items?</a:t>
            </a:r>
          </a:p>
          <a:p>
            <a:pPr>
              <a:buFont typeface="Arial" pitchFamily="34" charset="0"/>
              <a:buChar char="•"/>
            </a:pPr>
            <a:r>
              <a:rPr lang="en-AU" sz="1200" kern="1200" baseline="0" dirty="0" smtClean="0">
                <a:solidFill>
                  <a:schemeClr val="tx1"/>
                </a:solidFill>
                <a:ea typeface="+mn-ea"/>
                <a:cs typeface="+mn-cs"/>
              </a:rPr>
              <a:t> What resources do staff use when providing these services?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91284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an essential starting point when preparing to undertake escort, carriage and storage duties is to identify the items involved explaining ‘Valuables’ are anything with value in the eyes of the owner and an item which is deemed valuable may be:</a:t>
            </a:r>
          </a:p>
          <a:p>
            <a:pPr>
              <a:buFont typeface="Arial" pitchFamily="34" charset="0"/>
              <a:buChar char="•"/>
            </a:pPr>
            <a:r>
              <a:rPr lang="en-AU" sz="1200" kern="1200" dirty="0" smtClean="0">
                <a:solidFill>
                  <a:schemeClr val="tx1"/>
                </a:solidFill>
                <a:latin typeface="+mn-lt"/>
                <a:ea typeface="+mn-ea"/>
                <a:cs typeface="+mn-cs"/>
              </a:rPr>
              <a:t> Valuable to everyone</a:t>
            </a:r>
          </a:p>
          <a:p>
            <a:pPr>
              <a:buFont typeface="Arial" pitchFamily="34" charset="0"/>
              <a:buChar char="•"/>
            </a:pPr>
            <a:r>
              <a:rPr lang="en-AU" sz="1200" kern="1200" dirty="0" smtClean="0">
                <a:solidFill>
                  <a:schemeClr val="tx1"/>
                </a:solidFill>
                <a:latin typeface="+mn-lt"/>
                <a:ea typeface="+mn-ea"/>
                <a:cs typeface="+mn-cs"/>
              </a:rPr>
              <a:t> Valuable only to the owner,</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especially in relation to ‘sentimental’ value</a:t>
            </a:r>
          </a:p>
          <a:p>
            <a:pPr>
              <a:buFont typeface="Arial" pitchFamily="34" charset="0"/>
              <a:buChar char="•"/>
            </a:pPr>
            <a:r>
              <a:rPr lang="en-AU" sz="1200" kern="1200" dirty="0" smtClean="0">
                <a:solidFill>
                  <a:schemeClr val="tx1"/>
                </a:solidFill>
                <a:latin typeface="+mn-lt"/>
                <a:ea typeface="+mn-ea"/>
                <a:cs typeface="+mn-cs"/>
              </a:rPr>
              <a:t> Valuable today but not tomorrow</a:t>
            </a:r>
          </a:p>
          <a:p>
            <a:pPr>
              <a:buFont typeface="Arial" pitchFamily="34" charset="0"/>
              <a:buChar char="•"/>
            </a:pPr>
            <a:r>
              <a:rPr lang="en-AU" sz="1200" kern="1200" dirty="0" smtClean="0">
                <a:solidFill>
                  <a:schemeClr val="tx1"/>
                </a:solidFill>
                <a:latin typeface="+mn-lt"/>
                <a:ea typeface="+mn-ea"/>
                <a:cs typeface="+mn-cs"/>
              </a:rPr>
              <a:t> Small or large</a:t>
            </a:r>
          </a:p>
          <a:p>
            <a:pPr>
              <a:buFont typeface="Arial" pitchFamily="34" charset="0"/>
              <a:buChar char="•"/>
            </a:pPr>
            <a:r>
              <a:rPr lang="en-AU" sz="1200" kern="1200" dirty="0" smtClean="0">
                <a:solidFill>
                  <a:schemeClr val="tx1"/>
                </a:solidFill>
                <a:latin typeface="+mn-lt"/>
                <a:ea typeface="+mn-ea"/>
                <a:cs typeface="+mn-cs"/>
              </a:rPr>
              <a:t> Made from any materials</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substance.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705971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valuable items may be the property of:</a:t>
            </a:r>
          </a:p>
          <a:p>
            <a:pPr>
              <a:buFont typeface="Arial" pitchFamily="34" charset="0"/>
              <a:buChar char="•"/>
            </a:pPr>
            <a:r>
              <a:rPr lang="en-AU" sz="1200" kern="1200" dirty="0" smtClean="0">
                <a:solidFill>
                  <a:schemeClr val="tx1"/>
                </a:solidFill>
                <a:latin typeface="+mn-lt"/>
                <a:ea typeface="+mn-ea"/>
                <a:cs typeface="+mn-cs"/>
              </a:rPr>
              <a:t> The venue where you work</a:t>
            </a:r>
          </a:p>
          <a:p>
            <a:pPr>
              <a:buFont typeface="Arial" pitchFamily="34" charset="0"/>
              <a:buChar char="•"/>
            </a:pPr>
            <a:r>
              <a:rPr lang="en-AU" sz="1200" kern="1200" dirty="0" smtClean="0">
                <a:solidFill>
                  <a:schemeClr val="tx1"/>
                </a:solidFill>
                <a:latin typeface="+mn-lt"/>
                <a:ea typeface="+mn-ea"/>
                <a:cs typeface="+mn-cs"/>
              </a:rPr>
              <a:t> A private person</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guest</a:t>
            </a:r>
          </a:p>
          <a:p>
            <a:pPr>
              <a:buFont typeface="Arial" pitchFamily="34" charset="0"/>
              <a:buChar char="•"/>
            </a:pPr>
            <a:r>
              <a:rPr lang="en-AU" sz="1200" kern="1200" dirty="0" smtClean="0">
                <a:solidFill>
                  <a:schemeClr val="tx1"/>
                </a:solidFill>
                <a:latin typeface="+mn-lt"/>
                <a:ea typeface="+mn-ea"/>
                <a:cs typeface="+mn-cs"/>
              </a:rPr>
              <a:t> A company</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organisation whose representatives are staying at, or using, the 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557318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that valuables can include:</a:t>
            </a:r>
          </a:p>
          <a:p>
            <a:r>
              <a:rPr lang="en-AU" sz="1200" b="1" kern="1200" dirty="0" smtClean="0">
                <a:solidFill>
                  <a:schemeClr val="tx1"/>
                </a:solidFill>
                <a:latin typeface="+mn-lt"/>
                <a:ea typeface="+mn-ea"/>
                <a:cs typeface="+mn-cs"/>
              </a:rPr>
              <a:t>Cash</a:t>
            </a:r>
          </a:p>
          <a:p>
            <a:pPr>
              <a:buFont typeface="Arial" pitchFamily="34" charset="0"/>
              <a:buChar char="•"/>
            </a:pPr>
            <a:r>
              <a:rPr lang="en-AU" sz="1200" kern="1200" dirty="0" smtClean="0">
                <a:solidFill>
                  <a:schemeClr val="tx1"/>
                </a:solidFill>
                <a:latin typeface="+mn-lt"/>
                <a:ea typeface="+mn-ea"/>
                <a:cs typeface="+mn-cs"/>
              </a:rPr>
              <a:t> Local currency</a:t>
            </a:r>
          </a:p>
          <a:p>
            <a:pPr>
              <a:buFont typeface="Arial" pitchFamily="34" charset="0"/>
              <a:buChar char="•"/>
            </a:pPr>
            <a:r>
              <a:rPr lang="en-AU" sz="1200" kern="1200" dirty="0" smtClean="0">
                <a:solidFill>
                  <a:schemeClr val="tx1"/>
                </a:solidFill>
                <a:latin typeface="+mn-lt"/>
                <a:ea typeface="+mn-ea"/>
                <a:cs typeface="+mn-cs"/>
              </a:rPr>
              <a:t> Foreign currency</a:t>
            </a:r>
          </a:p>
          <a:p>
            <a:pPr>
              <a:buFont typeface="Arial" pitchFamily="34" charset="0"/>
              <a:buChar char="•"/>
            </a:pPr>
            <a:r>
              <a:rPr lang="en-AU" sz="1200" kern="1200" dirty="0" smtClean="0">
                <a:solidFill>
                  <a:schemeClr val="tx1"/>
                </a:solidFill>
                <a:latin typeface="+mn-lt"/>
                <a:ea typeface="+mn-ea"/>
                <a:cs typeface="+mn-cs"/>
              </a:rPr>
              <a:t> Notes and/or coin</a:t>
            </a:r>
          </a:p>
          <a:p>
            <a:pPr>
              <a:buFont typeface="Arial" pitchFamily="34" charset="0"/>
              <a:buChar char="•"/>
            </a:pPr>
            <a:r>
              <a:rPr lang="en-AU" sz="1200" kern="1200" dirty="0" smtClean="0">
                <a:solidFill>
                  <a:schemeClr val="tx1"/>
                </a:solidFill>
                <a:latin typeface="+mn-lt"/>
                <a:ea typeface="+mn-ea"/>
                <a:cs typeface="+mn-cs"/>
              </a:rPr>
              <a:t> Any amount.</a:t>
            </a:r>
          </a:p>
          <a:p>
            <a:r>
              <a:rPr lang="en-AU" sz="1200" b="1" kern="1200" dirty="0" smtClean="0">
                <a:solidFill>
                  <a:schemeClr val="tx1"/>
                </a:solidFill>
                <a:latin typeface="+mn-lt"/>
                <a:ea typeface="+mn-ea"/>
                <a:cs typeface="+mn-cs"/>
              </a:rPr>
              <a:t>Precious stones</a:t>
            </a:r>
          </a:p>
          <a:p>
            <a:pPr>
              <a:buFont typeface="Arial" pitchFamily="34" charset="0"/>
              <a:buNone/>
            </a:pPr>
            <a:r>
              <a:rPr lang="en-AU" sz="1200" b="0" kern="1200" dirty="0" smtClean="0">
                <a:solidFill>
                  <a:schemeClr val="tx1"/>
                </a:solidFill>
                <a:latin typeface="+mn-lt"/>
                <a:ea typeface="+mn-ea"/>
                <a:cs typeface="+mn-cs"/>
              </a:rPr>
              <a:t> Precious stones: natural gems as well as stones which have been mounted.</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include but are not limited to:</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Diamonds, Opals, Pearls, Rubies, Emeralds. </a:t>
            </a:r>
          </a:p>
          <a:p>
            <a:r>
              <a:rPr lang="en-AU" sz="1200" b="1" kern="1200" dirty="0" smtClean="0">
                <a:solidFill>
                  <a:schemeClr val="tx1"/>
                </a:solidFill>
                <a:latin typeface="+mn-lt"/>
                <a:ea typeface="+mn-ea"/>
                <a:cs typeface="+mn-cs"/>
              </a:rPr>
              <a:t>Jewellery</a:t>
            </a:r>
          </a:p>
          <a:p>
            <a:pPr>
              <a:buFont typeface="Arial" pitchFamily="34" charset="0"/>
              <a:buNone/>
            </a:pPr>
            <a:r>
              <a:rPr lang="en-AU" sz="1200" b="0" kern="1200" dirty="0" smtClean="0">
                <a:solidFill>
                  <a:schemeClr val="tx1"/>
                </a:solidFill>
                <a:latin typeface="+mn-lt"/>
                <a:ea typeface="+mn-ea"/>
                <a:cs typeface="+mn-cs"/>
              </a:rPr>
              <a:t> These are decorative items generally made from gold, silver and precious stones.  Items may include: </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Necklaces, Rings, Ear rings, Pendants, Crowns and tiaras.</a:t>
            </a:r>
          </a:p>
          <a:p>
            <a:r>
              <a:rPr lang="en-AU" sz="1200" b="1" kern="1200" dirty="0" smtClean="0">
                <a:solidFill>
                  <a:schemeClr val="tx1"/>
                </a:solidFill>
                <a:latin typeface="+mn-lt"/>
                <a:ea typeface="+mn-ea"/>
                <a:cs typeface="+mn-cs"/>
              </a:rPr>
              <a:t>Bullion</a:t>
            </a:r>
          </a:p>
          <a:p>
            <a:pPr>
              <a:buFont typeface="Arial" pitchFamily="34" charset="0"/>
              <a:buNone/>
            </a:pPr>
            <a:r>
              <a:rPr lang="en-AU" sz="1200" b="0" kern="1200" dirty="0" smtClean="0">
                <a:solidFill>
                  <a:schemeClr val="tx1"/>
                </a:solidFill>
                <a:latin typeface="+mn-lt"/>
                <a:ea typeface="+mn-ea"/>
                <a:cs typeface="+mn-cs"/>
              </a:rPr>
              <a:t> Bullion is a generic term referring to bars, ingots or coins made from precious metals.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 most common bullion requiring special attention is: </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Gold</a:t>
            </a:r>
          </a:p>
          <a:p>
            <a:pPr lvl="1">
              <a:buFont typeface="Arial" pitchFamily="34" charset="0"/>
              <a:buChar char="•"/>
            </a:pPr>
            <a:r>
              <a:rPr lang="en-AU" sz="1200" kern="1200" dirty="0" smtClean="0">
                <a:solidFill>
                  <a:schemeClr val="tx1"/>
                </a:solidFill>
                <a:latin typeface="+mn-lt"/>
                <a:ea typeface="+mn-ea"/>
                <a:cs typeface="+mn-cs"/>
              </a:rPr>
              <a:t> Silver.</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shows examples of items listed on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616582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valuable items:</a:t>
            </a:r>
          </a:p>
          <a:p>
            <a:r>
              <a:rPr lang="en-AU" sz="1200" b="1" kern="1200" dirty="0" smtClean="0">
                <a:solidFill>
                  <a:schemeClr val="tx1"/>
                </a:solidFill>
                <a:latin typeface="+mn-lt"/>
                <a:ea typeface="+mn-ea"/>
                <a:cs typeface="+mn-cs"/>
              </a:rPr>
              <a:t>Documents</a:t>
            </a:r>
          </a:p>
          <a:p>
            <a:pPr>
              <a:buFont typeface="Arial" pitchFamily="34" charset="0"/>
              <a:buNone/>
            </a:pPr>
            <a:r>
              <a:rPr lang="en-AU" sz="1200" b="0" kern="1200" dirty="0" smtClean="0">
                <a:solidFill>
                  <a:schemeClr val="tx1"/>
                </a:solidFill>
                <a:latin typeface="+mn-lt"/>
                <a:ea typeface="+mn-ea"/>
                <a:cs typeface="+mn-cs"/>
              </a:rPr>
              <a:t> It is common for the following documents to require special treatment: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Passports </a:t>
            </a:r>
          </a:p>
          <a:p>
            <a:pPr>
              <a:buFont typeface="Arial" pitchFamily="34" charset="0"/>
              <a:buChar char="•"/>
            </a:pPr>
            <a:r>
              <a:rPr lang="en-AU" sz="1200" kern="1200" dirty="0" smtClean="0">
                <a:solidFill>
                  <a:schemeClr val="tx1"/>
                </a:solidFill>
                <a:latin typeface="+mn-lt"/>
                <a:ea typeface="+mn-ea"/>
                <a:cs typeface="+mn-cs"/>
              </a:rPr>
              <a:t> Traveller’s cheques </a:t>
            </a:r>
          </a:p>
          <a:p>
            <a:pPr>
              <a:buFont typeface="Arial" pitchFamily="34" charset="0"/>
              <a:buChar char="•"/>
            </a:pPr>
            <a:r>
              <a:rPr lang="en-AU" sz="1200" kern="1200" dirty="0" smtClean="0">
                <a:solidFill>
                  <a:schemeClr val="tx1"/>
                </a:solidFill>
                <a:latin typeface="+mn-lt"/>
                <a:ea typeface="+mn-ea"/>
                <a:cs typeface="+mn-cs"/>
              </a:rPr>
              <a:t> Business documents which can include a wide variety of documents such as:</a:t>
            </a:r>
          </a:p>
          <a:p>
            <a:pPr lvl="1">
              <a:buFont typeface="Arial" pitchFamily="34" charset="0"/>
              <a:buChar char="•"/>
            </a:pPr>
            <a:r>
              <a:rPr lang="en-US" sz="1200" kern="1200" dirty="0" smtClean="0">
                <a:solidFill>
                  <a:schemeClr val="tx1"/>
                </a:solidFill>
                <a:latin typeface="+mn-lt"/>
                <a:ea typeface="+mn-ea"/>
                <a:cs typeface="+mn-cs"/>
              </a:rPr>
              <a:t> Contracts and other legal documents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Business performance information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Documentation required in support of intended sales and purchases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Documentation for presentations</a:t>
            </a:r>
            <a:endParaRPr lang="en-AU" sz="1200" kern="1200" dirty="0" smtClean="0">
              <a:solidFill>
                <a:schemeClr val="tx1"/>
              </a:solidFill>
              <a:latin typeface="+mn-lt"/>
              <a:ea typeface="+mn-ea"/>
              <a:cs typeface="+mn-cs"/>
            </a:endParaRPr>
          </a:p>
          <a:p>
            <a:pPr>
              <a:buFont typeface="Arial" pitchFamily="34" charset="0"/>
              <a:buNone/>
            </a:pPr>
            <a:r>
              <a:rPr lang="en-AU" b="1" noProof="0" dirty="0" smtClean="0"/>
              <a:t>Electronic data</a:t>
            </a:r>
          </a:p>
          <a:p>
            <a:r>
              <a:rPr lang="en-AU" sz="1200" b="0" kern="1200" dirty="0" smtClean="0">
                <a:solidFill>
                  <a:schemeClr val="tx1"/>
                </a:solidFill>
                <a:latin typeface="+mn-lt"/>
                <a:ea typeface="+mn-ea"/>
                <a:cs typeface="+mn-cs"/>
              </a:rPr>
              <a:t>Documents and data can exist in electronic form and you may be required to provide services in relation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Computers, Portable devices, A range of storage devices. </a:t>
            </a:r>
          </a:p>
          <a:p>
            <a:r>
              <a:rPr lang="en-AU" sz="1200" b="1" kern="1200" dirty="0" smtClean="0">
                <a:solidFill>
                  <a:schemeClr val="tx1"/>
                </a:solidFill>
                <a:latin typeface="+mn-lt"/>
                <a:ea typeface="+mn-ea"/>
                <a:cs typeface="+mn-cs"/>
              </a:rPr>
              <a:t>Artwork</a:t>
            </a:r>
          </a:p>
          <a:p>
            <a:r>
              <a:rPr lang="en-AU" sz="1200" b="0" kern="1200" dirty="0" smtClean="0">
                <a:solidFill>
                  <a:schemeClr val="tx1"/>
                </a:solidFill>
                <a:latin typeface="+mn-lt"/>
                <a:ea typeface="+mn-ea"/>
                <a:cs typeface="+mn-cs"/>
              </a:rPr>
              <a:t>Artwork which can require security may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Paintings and sculptures, Local items (including craftwork) bought by guests for on-shipping, Artefacts.</a:t>
            </a:r>
          </a:p>
          <a:p>
            <a:r>
              <a:rPr lang="en-AU" sz="1200" b="1" kern="1200" dirty="0" smtClean="0">
                <a:solidFill>
                  <a:schemeClr val="tx1"/>
                </a:solidFill>
                <a:latin typeface="+mn-lt"/>
                <a:ea typeface="+mn-ea"/>
                <a:cs typeface="+mn-cs"/>
              </a:rPr>
              <a:t>General and personal property</a:t>
            </a:r>
          </a:p>
          <a:p>
            <a:r>
              <a:rPr lang="en-AU" sz="1200" b="0" kern="1200" dirty="0" smtClean="0">
                <a:solidFill>
                  <a:schemeClr val="tx1"/>
                </a:solidFill>
                <a:latin typeface="+mn-lt"/>
                <a:ea typeface="+mn-ea"/>
                <a:cs typeface="+mn-cs"/>
              </a:rPr>
              <a:t>General and personal property refers to a wide range of items from potentially</a:t>
            </a:r>
            <a:r>
              <a:rPr lang="en-AU" sz="1200" b="0" kern="1200" baseline="0" dirty="0" smtClean="0">
                <a:solidFill>
                  <a:schemeClr val="tx1"/>
                </a:solidFill>
                <a:latin typeface="+mn-lt"/>
                <a:ea typeface="+mn-ea"/>
                <a:cs typeface="+mn-cs"/>
              </a:rPr>
              <a:t> </a:t>
            </a:r>
            <a:r>
              <a:rPr lang="en-AU" sz="1200" b="0" kern="1200" dirty="0" smtClean="0">
                <a:solidFill>
                  <a:schemeClr val="tx1"/>
                </a:solidFill>
                <a:latin typeface="+mn-lt"/>
                <a:ea typeface="+mn-ea"/>
                <a:cs typeface="+mn-cs"/>
              </a:rPr>
              <a:t>every group. The value placed on the item by the owner of the item who may be the venue, an individual guest or an organisation/company. Value may be determined by:</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worth of the item in monetary terms; sentimental value, replacement cost of the item, importance of the item for an upcoming event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need; </a:t>
            </a:r>
          </a:p>
          <a:p>
            <a:r>
              <a:rPr lang="en-AU" sz="1200" kern="1200" dirty="0" smtClean="0">
                <a:solidFill>
                  <a:schemeClr val="tx1"/>
                </a:solidFill>
                <a:latin typeface="+mn-lt"/>
                <a:ea typeface="+mn-ea"/>
                <a:cs typeface="+mn-cs"/>
              </a:rPr>
              <a:t>Requirement of the item for legal compliance reasons.</a:t>
            </a:r>
          </a:p>
          <a:p>
            <a:pPr>
              <a:buFont typeface="Arial" pitchFamily="34" charset="0"/>
              <a:buNone/>
            </a:pPr>
            <a:endParaRPr lang="en-AU" b="1"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shows examples of items listed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226306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highlights that, </a:t>
            </a:r>
            <a:r>
              <a:rPr lang="en-AU" sz="1200" kern="1200" dirty="0" smtClean="0">
                <a:solidFill>
                  <a:schemeClr val="tx1"/>
                </a:solidFill>
                <a:latin typeface="+mn-lt"/>
                <a:ea typeface="+mn-ea"/>
                <a:cs typeface="+mn-cs"/>
              </a:rPr>
              <a:t>when taking responsibility for guest property, students must ensure they comply with all relevant legally imposed obligations which can include:</a:t>
            </a:r>
          </a:p>
          <a:p>
            <a:pPr>
              <a:buFont typeface="Arial" pitchFamily="34" charset="0"/>
              <a:buChar char="•"/>
            </a:pPr>
            <a:r>
              <a:rPr lang="en-AU" sz="1200" kern="1200" dirty="0" smtClean="0">
                <a:solidFill>
                  <a:schemeClr val="tx1"/>
                </a:solidFill>
                <a:latin typeface="+mn-lt"/>
                <a:ea typeface="+mn-ea"/>
                <a:cs typeface="+mn-cs"/>
              </a:rPr>
              <a:t> Statute law where the country (Parliament) imposes requirements on individuals and businesses. Failure to comply can result in:</a:t>
            </a:r>
          </a:p>
          <a:p>
            <a:pPr lvl="1">
              <a:buFont typeface="Arial" pitchFamily="34" charset="0"/>
              <a:buChar char="•"/>
            </a:pPr>
            <a:r>
              <a:rPr lang="en-AU" sz="1200" kern="1200" dirty="0" smtClean="0">
                <a:solidFill>
                  <a:schemeClr val="tx1"/>
                </a:solidFill>
                <a:latin typeface="+mn-lt"/>
                <a:ea typeface="+mn-ea"/>
                <a:cs typeface="+mn-cs"/>
              </a:rPr>
              <a:t> A fine</a:t>
            </a:r>
          </a:p>
          <a:p>
            <a:pPr lvl="1">
              <a:buFont typeface="Arial" pitchFamily="34" charset="0"/>
              <a:buChar char="•"/>
            </a:pPr>
            <a:r>
              <a:rPr lang="en-AU" sz="1200" kern="1200" dirty="0" smtClean="0">
                <a:solidFill>
                  <a:schemeClr val="tx1"/>
                </a:solidFill>
                <a:latin typeface="+mn-lt"/>
                <a:ea typeface="+mn-ea"/>
                <a:cs typeface="+mn-cs"/>
              </a:rPr>
              <a:t> Imprisonment</a:t>
            </a:r>
          </a:p>
          <a:p>
            <a:pPr lvl="1">
              <a:buFont typeface="Arial" pitchFamily="34" charset="0"/>
              <a:buChar char="•"/>
            </a:pPr>
            <a:r>
              <a:rPr lang="en-AU" sz="1200" kern="1200" dirty="0" smtClean="0">
                <a:solidFill>
                  <a:schemeClr val="tx1"/>
                </a:solidFill>
                <a:latin typeface="+mn-lt"/>
                <a:ea typeface="+mn-ea"/>
                <a:cs typeface="+mn-cs"/>
              </a:rPr>
              <a:t> Other penalties</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sanctions as provided for in the statutes,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such as deregistration of business, business closure, banning of person from working in and/or operating a business, publishing an apology, changing an unacceptable practice</a:t>
            </a:r>
          </a:p>
          <a:p>
            <a:pPr>
              <a:buFont typeface="Arial" pitchFamily="34" charset="0"/>
              <a:buChar char="•"/>
            </a:pPr>
            <a:r>
              <a:rPr lang="en-AU" sz="1200" kern="1200" dirty="0" smtClean="0">
                <a:solidFill>
                  <a:schemeClr val="tx1"/>
                </a:solidFill>
                <a:latin typeface="+mn-lt"/>
                <a:ea typeface="+mn-ea"/>
                <a:cs typeface="+mn-cs"/>
              </a:rPr>
              <a:t> Civil law where individuals or businesses take legal action against each other to:</a:t>
            </a:r>
          </a:p>
          <a:p>
            <a:pPr lvl="1">
              <a:buFont typeface="Arial" pitchFamily="34" charset="0"/>
              <a:buChar char="•"/>
            </a:pPr>
            <a:r>
              <a:rPr lang="en-AU" sz="1200" kern="1200" dirty="0" smtClean="0">
                <a:solidFill>
                  <a:schemeClr val="tx1"/>
                </a:solidFill>
                <a:latin typeface="+mn-lt"/>
                <a:ea typeface="+mn-ea"/>
                <a:cs typeface="+mn-cs"/>
              </a:rPr>
              <a:t> Obtain an injunction</a:t>
            </a:r>
          </a:p>
          <a:p>
            <a:pPr lvl="1">
              <a:buFont typeface="Arial" pitchFamily="34" charset="0"/>
              <a:buChar char="•"/>
            </a:pPr>
            <a:r>
              <a:rPr lang="en-AU" sz="1200" kern="1200" dirty="0" smtClean="0">
                <a:solidFill>
                  <a:schemeClr val="tx1"/>
                </a:solidFill>
                <a:latin typeface="+mn-lt"/>
                <a:ea typeface="+mn-ea"/>
                <a:cs typeface="+mn-cs"/>
              </a:rPr>
              <a:t> Recover damages.</a:t>
            </a:r>
          </a:p>
          <a:p>
            <a:pPr>
              <a:buFont typeface="Arial" pitchFamily="34" charset="0"/>
              <a:buChar char="•"/>
            </a:pPr>
            <a:r>
              <a:rPr lang="en-AU" sz="1200" kern="1200" dirty="0" smtClean="0">
                <a:solidFill>
                  <a:schemeClr val="tx1"/>
                </a:solidFill>
                <a:latin typeface="+mn-lt"/>
                <a:ea typeface="+mn-ea"/>
                <a:cs typeface="+mn-cs"/>
              </a:rPr>
              <a:t> Common law which is law that has emerged over time based on previous decisions (called ‘legal precedence’) made by Courts.</a:t>
            </a:r>
          </a:p>
          <a:p>
            <a:pPr>
              <a:buFont typeface="Arial" pitchFamily="34" charset="0"/>
              <a:buNone/>
            </a:pPr>
            <a:r>
              <a:rPr lang="en-AU" sz="1200" kern="1200" dirty="0" smtClean="0">
                <a:solidFill>
                  <a:schemeClr val="tx1"/>
                </a:solidFill>
                <a:latin typeface="+mn-lt"/>
                <a:ea typeface="+mn-ea"/>
                <a:cs typeface="+mn-cs"/>
              </a:rPr>
              <a:t>Obligations may be imposed at a national or regional or local level.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512940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tells students many </a:t>
            </a:r>
            <a:r>
              <a:rPr lang="en-AU" sz="1200" b="0" kern="1200" dirty="0" smtClean="0">
                <a:solidFill>
                  <a:schemeClr val="tx1"/>
                </a:solidFill>
                <a:latin typeface="+mn-lt"/>
                <a:ea typeface="+mn-ea"/>
                <a:cs typeface="+mn-cs"/>
              </a:rPr>
              <a:t>countries have legislation (known as Innkeeper’s Act, Hotelkeeper’s Act or similar) which imposes obligations on hotels when a guest stays in a room at the venue explaining where applicable, the law may require:</a:t>
            </a:r>
            <a:endParaRPr lang="en-AU"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 hotel to take steps to make guests aware of the coverage provided to them in relation to the protection afforded by this legislation. </a:t>
            </a:r>
            <a:r>
              <a:rPr lang="en-AU" sz="1200" b="0" kern="1200" dirty="0" smtClean="0">
                <a:solidFill>
                  <a:schemeClr val="tx1"/>
                </a:solidFill>
                <a:latin typeface="+mn-lt"/>
                <a:ea typeface="+mn-ea"/>
                <a:cs typeface="+mn-cs"/>
              </a:rPr>
              <a:t>Notification to guests regarding the coverage will usually be provided:</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At reception/front office</a:t>
            </a:r>
          </a:p>
          <a:p>
            <a:pPr lvl="1">
              <a:buFont typeface="Arial" pitchFamily="34" charset="0"/>
              <a:buChar char="•"/>
            </a:pPr>
            <a:r>
              <a:rPr lang="en-AU" sz="1200" kern="1200" dirty="0" smtClean="0">
                <a:solidFill>
                  <a:schemeClr val="tx1"/>
                </a:solidFill>
                <a:latin typeface="+mn-lt"/>
                <a:ea typeface="+mn-ea"/>
                <a:cs typeface="+mn-cs"/>
              </a:rPr>
              <a:t> In their room – often on the back of the door to the room, and in the compendium in the room.</a:t>
            </a:r>
          </a:p>
          <a:p>
            <a:pPr>
              <a:buFont typeface="Arial" pitchFamily="34" charset="0"/>
              <a:buChar char="•"/>
            </a:pPr>
            <a:r>
              <a:rPr lang="en-AU" sz="1200" kern="1200" dirty="0" smtClean="0">
                <a:solidFill>
                  <a:schemeClr val="tx1"/>
                </a:solidFill>
                <a:latin typeface="+mn-lt"/>
                <a:ea typeface="+mn-ea"/>
                <a:cs typeface="+mn-cs"/>
              </a:rPr>
              <a:t> The hotel to provide facilities for the safe-keeping of guest items</a:t>
            </a:r>
          </a:p>
          <a:p>
            <a:pPr>
              <a:buFont typeface="Arial" pitchFamily="34" charset="0"/>
              <a:buChar char="•"/>
            </a:pPr>
            <a:r>
              <a:rPr lang="en-AU" sz="1200" kern="1200" dirty="0" smtClean="0">
                <a:solidFill>
                  <a:schemeClr val="tx1"/>
                </a:solidFill>
                <a:latin typeface="+mn-lt"/>
                <a:ea typeface="+mn-ea"/>
                <a:cs typeface="+mn-cs"/>
              </a:rPr>
              <a:t> The hotel to be liable for guest property while guests are residents at the venue:</a:t>
            </a:r>
          </a:p>
          <a:p>
            <a:pPr lvl="1">
              <a:buFont typeface="Arial" pitchFamily="34" charset="0"/>
              <a:buChar char="•"/>
            </a:pPr>
            <a:r>
              <a:rPr lang="en-US" sz="1200" kern="1200" dirty="0" smtClean="0">
                <a:solidFill>
                  <a:schemeClr val="tx1"/>
                </a:solidFill>
                <a:latin typeface="+mn-lt"/>
                <a:ea typeface="+mn-ea"/>
                <a:cs typeface="+mn-cs"/>
              </a:rPr>
              <a:t> The liability of the hotel is restricted to a relatively low level where guest belongings are stolen from their room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liability of the hotel is much higher where guest belongings are entered into safe-keeping.</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
            </a:r>
            <a:br>
              <a:rPr lang="en-AU" sz="1200" b="1"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 </a:t>
            </a:r>
            <a:r>
              <a:rPr lang="en-AU" sz="1200" b="1" kern="1200" dirty="0" smtClean="0">
                <a:solidFill>
                  <a:schemeClr val="tx1"/>
                </a:solidFill>
                <a:latin typeface="+mn-lt"/>
                <a:ea typeface="+mn-ea"/>
                <a:cs typeface="+mn-cs"/>
              </a:rPr>
              <a:t>Class Activity – Handouts</a:t>
            </a:r>
          </a:p>
          <a:p>
            <a:r>
              <a:rPr lang="en-AU" sz="1200" b="0" kern="1200" dirty="0" smtClean="0">
                <a:solidFill>
                  <a:schemeClr val="tx1"/>
                </a:solidFill>
                <a:latin typeface="+mn-lt"/>
                <a:ea typeface="+mn-ea"/>
                <a:cs typeface="+mn-cs"/>
              </a:rPr>
              <a:t>Trainer obtains samples of notification advice regarding hotel obligations as listed on slide and discusses same.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944597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concept of ‘bailment’ stating:</a:t>
            </a:r>
          </a:p>
          <a:p>
            <a:pPr>
              <a:buFont typeface="Arial" pitchFamily="34" charset="0"/>
              <a:buChar char="•"/>
            </a:pPr>
            <a:r>
              <a:rPr lang="en-AU" sz="1200" kern="1200" dirty="0" smtClean="0">
                <a:solidFill>
                  <a:schemeClr val="tx1"/>
                </a:solidFill>
                <a:latin typeface="+mn-lt"/>
                <a:ea typeface="+mn-ea"/>
                <a:cs typeface="+mn-cs"/>
              </a:rPr>
              <a:t> Bailment occurs when an item is transferred from one person to another.</a:t>
            </a:r>
          </a:p>
          <a:p>
            <a:pPr>
              <a:buFont typeface="Arial" pitchFamily="34" charset="0"/>
              <a:buChar char="•"/>
            </a:pPr>
            <a:r>
              <a:rPr lang="en-AU" sz="1200" kern="1200" dirty="0" smtClean="0">
                <a:solidFill>
                  <a:schemeClr val="tx1"/>
                </a:solidFill>
                <a:latin typeface="+mn-lt"/>
                <a:ea typeface="+mn-ea"/>
                <a:cs typeface="+mn-cs"/>
              </a:rPr>
              <a:t> In a hotel situation, bailment could occur when a guest places a valuable item into safe-keeping.</a:t>
            </a:r>
          </a:p>
          <a:p>
            <a:pPr>
              <a:buFont typeface="Arial" pitchFamily="34" charset="0"/>
              <a:buChar char="•"/>
            </a:pPr>
            <a:r>
              <a:rPr lang="en-AU" sz="1200" kern="1200" dirty="0" smtClean="0">
                <a:solidFill>
                  <a:schemeClr val="tx1"/>
                </a:solidFill>
                <a:latin typeface="+mn-lt"/>
                <a:ea typeface="+mn-ea"/>
                <a:cs typeface="+mn-cs"/>
              </a:rPr>
              <a:t> An important aspect of bailment is the </a:t>
            </a:r>
            <a:r>
              <a:rPr lang="en-AU" sz="1200" i="1" kern="1200" dirty="0" smtClean="0">
                <a:solidFill>
                  <a:schemeClr val="tx1"/>
                </a:solidFill>
                <a:latin typeface="+mn-lt"/>
                <a:ea typeface="+mn-ea"/>
                <a:cs typeface="+mn-cs"/>
              </a:rPr>
              <a:t>ownership</a:t>
            </a:r>
            <a:r>
              <a:rPr lang="en-AU" sz="1200" kern="1200" dirty="0" smtClean="0">
                <a:solidFill>
                  <a:schemeClr val="tx1"/>
                </a:solidFill>
                <a:latin typeface="+mn-lt"/>
                <a:ea typeface="+mn-ea"/>
                <a:cs typeface="+mn-cs"/>
              </a:rPr>
              <a:t> of the item does not change.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item still remains the property of the guest even though it has been given to the hotel for safe custody.</a:t>
            </a:r>
          </a:p>
          <a:p>
            <a:pPr>
              <a:buFont typeface="Arial" pitchFamily="34" charset="0"/>
              <a:buChar char="•"/>
            </a:pPr>
            <a:r>
              <a:rPr lang="en-AU" sz="1200" kern="1200" dirty="0" smtClean="0">
                <a:solidFill>
                  <a:schemeClr val="tx1"/>
                </a:solidFill>
                <a:latin typeface="+mn-lt"/>
                <a:ea typeface="+mn-ea"/>
                <a:cs typeface="+mn-cs"/>
              </a:rPr>
              <a:t> Under bailment:</a:t>
            </a:r>
          </a:p>
          <a:p>
            <a:pPr lvl="1">
              <a:buFont typeface="Arial" pitchFamily="34" charset="0"/>
              <a:buChar char="•"/>
            </a:pPr>
            <a:r>
              <a:rPr lang="en-AU" sz="1200" kern="1200" dirty="0" smtClean="0">
                <a:solidFill>
                  <a:schemeClr val="tx1"/>
                </a:solidFill>
                <a:latin typeface="+mn-lt"/>
                <a:ea typeface="+mn-ea"/>
                <a:cs typeface="+mn-cs"/>
              </a:rPr>
              <a:t> The hotel must take good care of the item offered for bailment</a:t>
            </a:r>
          </a:p>
          <a:p>
            <a:pPr lvl="1">
              <a:buFont typeface="Arial" pitchFamily="34" charset="0"/>
              <a:buChar char="•"/>
            </a:pPr>
            <a:r>
              <a:rPr lang="en-AU" sz="1200" kern="1200" dirty="0" smtClean="0">
                <a:solidFill>
                  <a:schemeClr val="tx1"/>
                </a:solidFill>
                <a:latin typeface="+mn-lt"/>
                <a:ea typeface="+mn-ea"/>
                <a:cs typeface="+mn-cs"/>
              </a:rPr>
              <a:t> The hotel must return the item when requested by the owner.</a:t>
            </a:r>
          </a:p>
          <a:p>
            <a:pPr>
              <a:buFont typeface="Arial" pitchFamily="34" charset="0"/>
              <a:buChar char="•"/>
            </a:pPr>
            <a:r>
              <a:rPr lang="en-AU" sz="1200" kern="1200" dirty="0" smtClean="0">
                <a:solidFill>
                  <a:schemeClr val="tx1"/>
                </a:solidFill>
                <a:latin typeface="+mn-lt"/>
                <a:ea typeface="+mn-ea"/>
                <a:cs typeface="+mn-cs"/>
              </a:rPr>
              <a:t> Where problems arise regarding bailment, the owner of the goods can take civil action against the hotel to recover their property or damages.</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hotel manager/owner to talk to students about:</a:t>
            </a:r>
          </a:p>
          <a:p>
            <a:pPr>
              <a:buFont typeface="Arial" pitchFamily="34" charset="0"/>
              <a:buChar char="•"/>
            </a:pPr>
            <a:r>
              <a:rPr lang="en-AU" b="0" noProof="0" dirty="0" smtClean="0"/>
              <a:t> How they advise</a:t>
            </a:r>
            <a:r>
              <a:rPr lang="en-AU" b="0" baseline="0" noProof="0" dirty="0" smtClean="0"/>
              <a:t> or </a:t>
            </a:r>
            <a:r>
              <a:rPr lang="en-AU" b="0" noProof="0" dirty="0" smtClean="0"/>
              <a:t>notify guests about ‘Carriers and Innkeepers Act’ obligations</a:t>
            </a:r>
          </a:p>
          <a:p>
            <a:pPr>
              <a:buFont typeface="Arial" pitchFamily="34" charset="0"/>
              <a:buChar char="•"/>
            </a:pPr>
            <a:r>
              <a:rPr lang="en-AU" b="0" noProof="0" dirty="0" smtClean="0"/>
              <a:t> Compliance with bailment requirements at their venue.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800341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a:t>
            </a:r>
            <a:r>
              <a:rPr lang="en-AU" sz="1200" kern="1200" dirty="0" smtClean="0">
                <a:solidFill>
                  <a:schemeClr val="tx1"/>
                </a:solidFill>
                <a:latin typeface="+mn-lt"/>
                <a:ea typeface="+mn-ea"/>
                <a:cs typeface="+mn-cs"/>
              </a:rPr>
              <a:t>Duty of Care’ stating:</a:t>
            </a:r>
          </a:p>
          <a:p>
            <a:pPr>
              <a:buFont typeface="Arial" pitchFamily="34" charset="0"/>
              <a:buChar char="•"/>
            </a:pPr>
            <a:r>
              <a:rPr lang="en-AU" sz="1200" kern="1200" dirty="0" smtClean="0">
                <a:solidFill>
                  <a:schemeClr val="tx1"/>
                </a:solidFill>
                <a:latin typeface="+mn-lt"/>
                <a:ea typeface="+mn-ea"/>
                <a:cs typeface="+mn-cs"/>
              </a:rPr>
              <a:t> It is a common law obligation imposed on all businesses.</a:t>
            </a:r>
          </a:p>
          <a:p>
            <a:pPr>
              <a:buFont typeface="Arial" pitchFamily="34" charset="0"/>
              <a:buChar char="•"/>
            </a:pPr>
            <a:r>
              <a:rPr lang="en-AU" sz="1200" kern="1200" dirty="0" smtClean="0">
                <a:solidFill>
                  <a:schemeClr val="tx1"/>
                </a:solidFill>
                <a:latin typeface="+mn-lt"/>
                <a:ea typeface="+mn-ea"/>
                <a:cs typeface="+mn-cs"/>
              </a:rPr>
              <a:t> Under Duty of Care the venue is required to take whatever action is necessary to:</a:t>
            </a:r>
          </a:p>
          <a:p>
            <a:pPr lvl="1">
              <a:buFont typeface="Arial" pitchFamily="34" charset="0"/>
              <a:buChar char="•"/>
            </a:pPr>
            <a:r>
              <a:rPr lang="en-AU" sz="1200" kern="1200" dirty="0" smtClean="0">
                <a:solidFill>
                  <a:schemeClr val="tx1"/>
                </a:solidFill>
                <a:latin typeface="+mn-lt"/>
                <a:ea typeface="+mn-ea"/>
                <a:cs typeface="+mn-cs"/>
              </a:rPr>
              <a:t> Avoid foreseeable harm to guests </a:t>
            </a:r>
          </a:p>
          <a:p>
            <a:pPr lvl="1">
              <a:buFont typeface="Arial" pitchFamily="34" charset="0"/>
              <a:buNone/>
            </a:pPr>
            <a:r>
              <a:rPr lang="en-AU" sz="1200" kern="1200" dirty="0" smtClean="0">
                <a:solidFill>
                  <a:schemeClr val="tx1"/>
                </a:solidFill>
                <a:latin typeface="+mn-lt"/>
                <a:ea typeface="+mn-ea"/>
                <a:cs typeface="+mn-cs"/>
              </a:rPr>
              <a:t>and </a:t>
            </a:r>
          </a:p>
          <a:p>
            <a:pPr lvl="1">
              <a:buFont typeface="Arial" pitchFamily="34" charset="0"/>
              <a:buChar char="•"/>
            </a:pPr>
            <a:r>
              <a:rPr lang="en-AU" sz="1200" kern="1200" dirty="0" smtClean="0">
                <a:solidFill>
                  <a:schemeClr val="tx1"/>
                </a:solidFill>
                <a:latin typeface="+mn-lt"/>
                <a:ea typeface="+mn-ea"/>
                <a:cs typeface="+mn-cs"/>
              </a:rPr>
              <a:t> Avoid foreseeable loss or damage to their property.</a:t>
            </a:r>
          </a:p>
          <a:p>
            <a:pPr>
              <a:buFont typeface="Arial" pitchFamily="34" charset="0"/>
              <a:buChar char="•"/>
            </a:pPr>
            <a:r>
              <a:rPr lang="en-AU" sz="1200" kern="1200" dirty="0" smtClean="0">
                <a:solidFill>
                  <a:schemeClr val="tx1"/>
                </a:solidFill>
                <a:latin typeface="+mn-lt"/>
                <a:ea typeface="+mn-ea"/>
                <a:cs typeface="+mn-cs"/>
              </a:rPr>
              <a:t> Where the venue fails to discharge its Duty of Care obligations it is under a legal liability to make good the injury, loss or damage which occurred.</a:t>
            </a:r>
          </a:p>
          <a:p>
            <a:pPr>
              <a:buFont typeface="Arial" pitchFamily="34" charset="0"/>
              <a:buChar char="•"/>
            </a:pPr>
            <a:r>
              <a:rPr lang="en-AU" sz="1200" kern="1200" dirty="0" smtClean="0">
                <a:solidFill>
                  <a:schemeClr val="tx1"/>
                </a:solidFill>
                <a:latin typeface="+mn-lt"/>
                <a:ea typeface="+mn-ea"/>
                <a:cs typeface="+mn-cs"/>
              </a:rPr>
              <a:t> If the venue fails to meet their obligations it can be sued for negligence by guests, for damages.</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lawyer to attend and discuss Duty of Care obligations with students.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849902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a:t>
            </a:r>
            <a:r>
              <a:rPr lang="en-AU" sz="1200" b="0" kern="1200" dirty="0" smtClean="0">
                <a:solidFill>
                  <a:schemeClr val="tx1"/>
                </a:solidFill>
                <a:latin typeface="+mn-lt"/>
                <a:ea typeface="+mn-ea"/>
                <a:cs typeface="+mn-cs"/>
              </a:rPr>
              <a:t>Exclusion Clauses’ stating:</a:t>
            </a:r>
          </a:p>
          <a:p>
            <a:pPr>
              <a:buFont typeface="Arial" pitchFamily="34" charset="0"/>
              <a:buChar char="•"/>
            </a:pPr>
            <a:r>
              <a:rPr lang="en-AU" sz="1200" kern="1200" dirty="0" smtClean="0">
                <a:solidFill>
                  <a:schemeClr val="tx1"/>
                </a:solidFill>
                <a:latin typeface="+mn-lt"/>
                <a:ea typeface="+mn-ea"/>
                <a:cs typeface="+mn-cs"/>
              </a:rPr>
              <a:t> Exclusion clauses are statements made by a venue seeking to limit their liability in the event something goes wrong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 a guest is injured or their valuables are lost or damaged.</a:t>
            </a:r>
          </a:p>
          <a:p>
            <a:pPr>
              <a:buFont typeface="Arial" pitchFamily="34" charset="0"/>
              <a:buChar char="•"/>
            </a:pPr>
            <a:r>
              <a:rPr lang="en-AU" sz="1200" kern="1200" dirty="0" smtClean="0">
                <a:solidFill>
                  <a:schemeClr val="tx1"/>
                </a:solidFill>
                <a:latin typeface="+mn-lt"/>
                <a:ea typeface="+mn-ea"/>
                <a:cs typeface="+mn-cs"/>
              </a:rPr>
              <a:t> An exclusion clause may state ‘All care and no responsibility’, or ‘This venue takes no responsibility for items offered for safe-keeping’ (or similar).</a:t>
            </a:r>
          </a:p>
          <a:p>
            <a:pPr>
              <a:buFont typeface="Arial" pitchFamily="34" charset="0"/>
              <a:buChar char="•"/>
            </a:pPr>
            <a:r>
              <a:rPr lang="en-AU" sz="1200" kern="1200" dirty="0" smtClean="0">
                <a:solidFill>
                  <a:schemeClr val="tx1"/>
                </a:solidFill>
                <a:latin typeface="+mn-lt"/>
                <a:ea typeface="+mn-ea"/>
                <a:cs typeface="+mn-cs"/>
              </a:rPr>
              <a:t> Increasingly Courts are not allowing businesses to rely on these clauses and, when a case goes to Court, are finding more and more for the person who was injured or whose property was lost or damaged.</a:t>
            </a:r>
          </a:p>
          <a:p>
            <a:pPr>
              <a:buFont typeface="Arial" pitchFamily="34" charset="0"/>
              <a:buChar char="•"/>
            </a:pPr>
            <a:r>
              <a:rPr lang="en-AU" sz="1200" kern="1200" dirty="0" smtClean="0">
                <a:solidFill>
                  <a:schemeClr val="tx1"/>
                </a:solidFill>
                <a:latin typeface="+mn-lt"/>
                <a:ea typeface="+mn-ea"/>
                <a:cs typeface="+mn-cs"/>
              </a:rPr>
              <a:t> To stand any chance of being effective an exclusion clause must be brought to the person’s attention before it can be relied on. </a:t>
            </a:r>
          </a:p>
          <a:p>
            <a:pPr>
              <a:buFont typeface="Arial" pitchFamily="34" charset="0"/>
              <a:buChar char="•"/>
            </a:pPr>
            <a:r>
              <a:rPr lang="en-AU" sz="1200" kern="1200" dirty="0" smtClean="0">
                <a:solidFill>
                  <a:schemeClr val="tx1"/>
                </a:solidFill>
                <a:latin typeface="+mn-lt"/>
                <a:ea typeface="+mn-ea"/>
                <a:cs typeface="+mn-cs"/>
              </a:rPr>
              <a:t> This means the guest must,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 have the exclusion read out to them, and perhaps sign to say they have been told about it and accept it. </a:t>
            </a:r>
          </a:p>
          <a:p>
            <a:pPr>
              <a:buFont typeface="Arial" pitchFamily="34" charset="0"/>
              <a:buNone/>
            </a:pPr>
            <a:endParaRPr lang="en-AU" noProof="0" dirty="0" smtClean="0"/>
          </a:p>
          <a:p>
            <a:pPr>
              <a:buFont typeface="Arial" pitchFamily="34" charset="0"/>
              <a:buNone/>
            </a:pPr>
            <a:r>
              <a:rPr lang="en-AU" b="1" noProof="0" dirty="0" smtClean="0"/>
              <a:t>Class Activity – Handout</a:t>
            </a:r>
          </a:p>
          <a:p>
            <a:pPr>
              <a:buFont typeface="Arial" pitchFamily="34" charset="0"/>
              <a:buNone/>
            </a:pPr>
            <a:r>
              <a:rPr lang="en-AU" b="0" noProof="0" dirty="0" smtClean="0"/>
              <a:t>Trainer obtains sample Exclusion Clauses and distributes them for discussion.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596759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u="none" noProof="0" dirty="0" smtClean="0"/>
              <a:t>introduces ‘</a:t>
            </a:r>
            <a:r>
              <a:rPr lang="en-AU" sz="1200" u="none" kern="1200" dirty="0" smtClean="0">
                <a:solidFill>
                  <a:schemeClr val="tx1"/>
                </a:solidFill>
                <a:latin typeface="+mn-lt"/>
                <a:ea typeface="+mn-ea"/>
                <a:cs typeface="+mn-cs"/>
              </a:rPr>
              <a:t>Theft’ (‘stealing’) explaining it refers to talking someone’s property without their permission with the intention of:</a:t>
            </a:r>
          </a:p>
          <a:p>
            <a:pPr>
              <a:buFont typeface="Arial" pitchFamily="34" charset="0"/>
              <a:buChar char="•"/>
            </a:pPr>
            <a:r>
              <a:rPr lang="en-AU" sz="1200" kern="1200" dirty="0" smtClean="0">
                <a:solidFill>
                  <a:schemeClr val="tx1"/>
                </a:solidFill>
                <a:latin typeface="+mn-lt"/>
                <a:ea typeface="+mn-ea"/>
                <a:cs typeface="+mn-cs"/>
              </a:rPr>
              <a:t> Depriving them of the item</a:t>
            </a:r>
          </a:p>
          <a:p>
            <a:pPr>
              <a:buFont typeface="Arial" pitchFamily="34" charset="0"/>
              <a:buNone/>
            </a:pPr>
            <a:r>
              <a:rPr lang="en-AU" sz="1200" kern="1200" dirty="0" smtClean="0">
                <a:solidFill>
                  <a:schemeClr val="tx1"/>
                </a:solidFill>
                <a:latin typeface="+mn-lt"/>
                <a:ea typeface="+mn-ea"/>
                <a:cs typeface="+mn-cs"/>
              </a:rPr>
              <a:t>and</a:t>
            </a:r>
          </a:p>
          <a:p>
            <a:pPr>
              <a:buFont typeface="Arial" pitchFamily="34" charset="0"/>
              <a:buChar char="•"/>
            </a:pPr>
            <a:r>
              <a:rPr lang="en-AU" sz="1200" kern="1200" dirty="0" smtClean="0">
                <a:solidFill>
                  <a:schemeClr val="tx1"/>
                </a:solidFill>
                <a:latin typeface="+mn-lt"/>
                <a:ea typeface="+mn-ea"/>
                <a:cs typeface="+mn-cs"/>
              </a:rPr>
              <a:t> Converting it to your own benefit by,</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using it or selling it.</a:t>
            </a:r>
          </a:p>
          <a:p>
            <a:r>
              <a:rPr lang="en-AU" sz="1200" kern="1200" dirty="0" smtClean="0">
                <a:solidFill>
                  <a:schemeClr val="tx1"/>
                </a:solidFill>
                <a:latin typeface="+mn-lt"/>
                <a:ea typeface="+mn-ea"/>
                <a:cs typeface="+mn-cs"/>
              </a:rPr>
              <a:t>Anyone who steals an item while they are escorting it, carrying it or while the item is in storage commits a crime and is subject to prosecution.</a:t>
            </a:r>
          </a:p>
          <a:p>
            <a:r>
              <a:rPr lang="en-AU" sz="1200" b="1" kern="1200" dirty="0" smtClean="0">
                <a:solidFill>
                  <a:schemeClr val="tx1"/>
                </a:solidFill>
                <a:latin typeface="+mn-lt"/>
                <a:ea typeface="+mn-ea"/>
                <a:cs typeface="+mn-cs"/>
              </a:rPr>
              <a:t>Theft by finding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an offence to keep an item you have ‘found’.</a:t>
            </a:r>
          </a:p>
          <a:p>
            <a:r>
              <a:rPr lang="en-AU" sz="1200" kern="1200" dirty="0" smtClean="0">
                <a:solidFill>
                  <a:schemeClr val="tx1"/>
                </a:solidFill>
                <a:latin typeface="+mn-lt"/>
                <a:ea typeface="+mn-ea"/>
                <a:cs typeface="+mn-cs"/>
              </a:rPr>
              <a:t>The offence is called ‘theft by finding’.</a:t>
            </a:r>
          </a:p>
          <a:p>
            <a:r>
              <a:rPr lang="en-AU" sz="1200" kern="1200" dirty="0" smtClean="0">
                <a:solidFill>
                  <a:schemeClr val="tx1"/>
                </a:solidFill>
                <a:latin typeface="+mn-lt"/>
                <a:ea typeface="+mn-ea"/>
                <a:cs typeface="+mn-cs"/>
              </a:rPr>
              <a:t>If you find an item left in a guest’s room and keep it, you commit an offence.</a:t>
            </a:r>
          </a:p>
          <a:p>
            <a:r>
              <a:rPr lang="en-AU" sz="1200" kern="1200" dirty="0" smtClean="0">
                <a:solidFill>
                  <a:schemeClr val="tx1"/>
                </a:solidFill>
                <a:latin typeface="+mn-lt"/>
                <a:ea typeface="+mn-ea"/>
                <a:cs typeface="+mn-cs"/>
              </a:rPr>
              <a:t>If you find an unattended item in the hotel lobby and keep it, you commit an offence.</a:t>
            </a:r>
          </a:p>
          <a:p>
            <a:r>
              <a:rPr lang="en-AU" sz="1200" kern="1200" dirty="0" smtClean="0">
                <a:solidFill>
                  <a:schemeClr val="tx1"/>
                </a:solidFill>
                <a:latin typeface="+mn-lt"/>
                <a:ea typeface="+mn-ea"/>
                <a:cs typeface="+mn-cs"/>
              </a:rPr>
              <a:t>You do not have the right to retain any item you find and keep it for yourself/your own use.</a:t>
            </a:r>
          </a:p>
          <a:p>
            <a:r>
              <a:rPr lang="en-AU" sz="1200" kern="1200" dirty="0" smtClean="0">
                <a:solidFill>
                  <a:schemeClr val="tx1"/>
                </a:solidFill>
                <a:latin typeface="+mn-lt"/>
                <a:ea typeface="+mn-ea"/>
                <a:cs typeface="+mn-cs"/>
              </a:rPr>
              <a:t>It must be:</a:t>
            </a:r>
          </a:p>
          <a:p>
            <a:pPr>
              <a:buFont typeface="Arial" pitchFamily="34" charset="0"/>
              <a:buChar char="•"/>
            </a:pPr>
            <a:r>
              <a:rPr lang="en-AU" sz="1200" kern="1200" dirty="0" smtClean="0">
                <a:solidFill>
                  <a:schemeClr val="tx1"/>
                </a:solidFill>
                <a:latin typeface="+mn-lt"/>
                <a:ea typeface="+mn-ea"/>
                <a:cs typeface="+mn-cs"/>
              </a:rPr>
              <a:t> Reported – commonly using a Lost and Found Register or similar</a:t>
            </a:r>
          </a:p>
          <a:p>
            <a:pPr>
              <a:buFont typeface="Arial" pitchFamily="34" charset="0"/>
              <a:buChar char="•"/>
            </a:pPr>
            <a:r>
              <a:rPr lang="en-AU" sz="1200" kern="1200" dirty="0" smtClean="0">
                <a:solidFill>
                  <a:schemeClr val="tx1"/>
                </a:solidFill>
                <a:latin typeface="+mn-lt"/>
                <a:ea typeface="+mn-ea"/>
                <a:cs typeface="+mn-cs"/>
              </a:rPr>
              <a:t> Handed in.</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Police to attend and discuss:</a:t>
            </a:r>
          </a:p>
          <a:p>
            <a:pPr>
              <a:buFont typeface="Arial" pitchFamily="34" charset="0"/>
              <a:buChar char="•"/>
            </a:pPr>
            <a:r>
              <a:rPr lang="en-AU" b="0" noProof="0" dirty="0" smtClean="0"/>
              <a:t> Theft</a:t>
            </a:r>
          </a:p>
          <a:p>
            <a:pPr>
              <a:buFont typeface="Arial" pitchFamily="34" charset="0"/>
              <a:buChar char="•"/>
            </a:pPr>
            <a:r>
              <a:rPr lang="en-AU" b="0" noProof="0" dirty="0" smtClean="0"/>
              <a:t> Theft by finding</a:t>
            </a:r>
          </a:p>
          <a:p>
            <a:pPr>
              <a:buFont typeface="Arial" pitchFamily="34" charset="0"/>
              <a:buChar char="•"/>
            </a:pPr>
            <a:r>
              <a:rPr lang="en-AU" b="0" noProof="0" dirty="0" smtClean="0"/>
              <a:t> Penalties.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341678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an essential pre-requisite for staff who perform escort, carriage and/or storage of valuable items is to undertake appropriate training explaining in most venues:</a:t>
            </a:r>
          </a:p>
          <a:p>
            <a:pPr>
              <a:buFont typeface="Arial" pitchFamily="34" charset="0"/>
              <a:buChar char="•"/>
            </a:pPr>
            <a:r>
              <a:rPr lang="en-AU" sz="1200" kern="1200" dirty="0" smtClean="0">
                <a:solidFill>
                  <a:schemeClr val="tx1"/>
                </a:solidFill>
                <a:latin typeface="+mn-lt"/>
                <a:ea typeface="+mn-ea"/>
                <a:cs typeface="+mn-cs"/>
              </a:rPr>
              <a:t> You will not be allowed to undertake escort, carriage and storage tasks until you have successfully completed the required in-house training</a:t>
            </a:r>
          </a:p>
          <a:p>
            <a:pPr>
              <a:buFont typeface="Arial" pitchFamily="34" charset="0"/>
              <a:buChar char="•"/>
            </a:pPr>
            <a:r>
              <a:rPr lang="en-AU" sz="1200" kern="1200" dirty="0" smtClean="0">
                <a:solidFill>
                  <a:schemeClr val="tx1"/>
                </a:solidFill>
                <a:latin typeface="+mn-lt"/>
                <a:ea typeface="+mn-ea"/>
                <a:cs typeface="+mn-cs"/>
              </a:rPr>
              <a:t> Training will be structured and formalized meaning:</a:t>
            </a:r>
          </a:p>
          <a:p>
            <a:pPr lvl="1">
              <a:buFont typeface="Arial" pitchFamily="34" charset="0"/>
              <a:buChar char="•"/>
            </a:pPr>
            <a:r>
              <a:rPr lang="en-US" sz="1200" kern="1200" dirty="0" smtClean="0">
                <a:solidFill>
                  <a:schemeClr val="tx1"/>
                </a:solidFill>
                <a:latin typeface="+mn-lt"/>
                <a:ea typeface="+mn-ea"/>
                <a:cs typeface="+mn-cs"/>
              </a:rPr>
              <a:t> All staff performing these tasks will receive the same training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Testing to demonstrate competency will be part of the training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Nominated topics will covered as part of the training.</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hese will commonly address: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Skills required to undertake the work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Knowledge necessary to underpin safe, effective and correct work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Attitudes required in relation to the customer contact and interpersonal skills needed in this type of work as well as the personal characteristics required </a:t>
            </a:r>
          </a:p>
          <a:p>
            <a:pPr lvl="0">
              <a:buFont typeface="Arial" pitchFamily="34" charset="0"/>
              <a:buChar char="•"/>
            </a:pPr>
            <a:r>
              <a:rPr lang="en-US" sz="1200" kern="1200" dirty="0" smtClean="0">
                <a:solidFill>
                  <a:schemeClr val="tx1"/>
                </a:solidFill>
                <a:latin typeface="+mn-lt"/>
                <a:ea typeface="+mn-ea"/>
                <a:cs typeface="+mn-cs"/>
              </a:rPr>
              <a:t> You will be paid to undertake the training – that is, the training will be conducted during your working hours. </a:t>
            </a:r>
            <a:r>
              <a:rPr lang="en-AU" sz="1200" kern="1200" dirty="0" smtClean="0">
                <a:solidFill>
                  <a:schemeClr val="tx1"/>
                </a:solidFill>
                <a:latin typeface="+mn-lt"/>
                <a:ea typeface="+mn-ea"/>
                <a:cs typeface="+mn-cs"/>
              </a:rPr>
              <a:t>Training in this regard will be a combination of:</a:t>
            </a:r>
          </a:p>
          <a:p>
            <a:pPr lvl="1">
              <a:buFont typeface="Arial" pitchFamily="34" charset="0"/>
              <a:buChar char="•"/>
            </a:pPr>
            <a:r>
              <a:rPr lang="en-AU" sz="1200" kern="1200" dirty="0" smtClean="0">
                <a:solidFill>
                  <a:schemeClr val="tx1"/>
                </a:solidFill>
                <a:latin typeface="+mn-lt"/>
                <a:ea typeface="+mn-ea"/>
                <a:cs typeface="+mn-cs"/>
              </a:rPr>
              <a:t> Theory training</a:t>
            </a:r>
          </a:p>
          <a:p>
            <a:pPr lvl="1">
              <a:buFont typeface="Arial" pitchFamily="34" charset="0"/>
              <a:buChar char="•"/>
            </a:pPr>
            <a:r>
              <a:rPr lang="en-AU" sz="1200" kern="1200" dirty="0" smtClean="0">
                <a:solidFill>
                  <a:schemeClr val="tx1"/>
                </a:solidFill>
                <a:latin typeface="+mn-lt"/>
                <a:ea typeface="+mn-ea"/>
                <a:cs typeface="+mn-cs"/>
              </a:rPr>
              <a:t> Demonstrations on what to do and how to do it</a:t>
            </a:r>
          </a:p>
          <a:p>
            <a:pPr lvl="1">
              <a:buFont typeface="Arial" pitchFamily="34" charset="0"/>
              <a:buChar char="•"/>
            </a:pPr>
            <a:r>
              <a:rPr lang="en-AU" sz="1200" kern="1200" dirty="0" smtClean="0">
                <a:solidFill>
                  <a:schemeClr val="tx1"/>
                </a:solidFill>
                <a:latin typeface="+mn-lt"/>
                <a:ea typeface="+mn-ea"/>
                <a:cs typeface="+mn-cs"/>
              </a:rPr>
              <a:t> Practical training giving you the opportunity to practice what you have learned</a:t>
            </a:r>
          </a:p>
          <a:p>
            <a:pPr>
              <a:buFont typeface="Arial" pitchFamily="34" charset="0"/>
              <a:buChar char="•"/>
            </a:pPr>
            <a:r>
              <a:rPr lang="en-AU" sz="1200" kern="1200" dirty="0" smtClean="0">
                <a:solidFill>
                  <a:schemeClr val="tx1"/>
                </a:solidFill>
                <a:latin typeface="+mn-lt"/>
                <a:ea typeface="+mn-ea"/>
                <a:cs typeface="+mn-cs"/>
              </a:rPr>
              <a:t> Your first few workplace tasks will be supervised by a more experience staff member</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to:</a:t>
            </a:r>
          </a:p>
          <a:p>
            <a:pPr lvl="1">
              <a:buFont typeface="Arial" pitchFamily="34" charset="0"/>
              <a:buChar char="•"/>
            </a:pPr>
            <a:r>
              <a:rPr lang="en-AU" sz="1200" kern="1200" dirty="0" smtClean="0">
                <a:solidFill>
                  <a:schemeClr val="tx1"/>
                </a:solidFill>
                <a:latin typeface="+mn-lt"/>
                <a:ea typeface="+mn-ea"/>
                <a:cs typeface="+mn-cs"/>
              </a:rPr>
              <a:t> Ensure you perform as required</a:t>
            </a:r>
          </a:p>
          <a:p>
            <a:pPr lvl="1">
              <a:buFont typeface="Arial" pitchFamily="34" charset="0"/>
              <a:buChar char="•"/>
            </a:pPr>
            <a:r>
              <a:rPr lang="en-AU" sz="1200" kern="1200" dirty="0" smtClean="0">
                <a:solidFill>
                  <a:schemeClr val="tx1"/>
                </a:solidFill>
                <a:latin typeface="+mn-lt"/>
                <a:ea typeface="+mn-ea"/>
                <a:cs typeface="+mn-cs"/>
              </a:rPr>
              <a:t> Assist where necessary</a:t>
            </a:r>
          </a:p>
          <a:p>
            <a:pPr lvl="1">
              <a:buFont typeface="Arial" pitchFamily="34" charset="0"/>
              <a:buChar char="•"/>
            </a:pPr>
            <a:r>
              <a:rPr lang="en-AU" sz="1200" kern="1200" dirty="0" smtClean="0">
                <a:solidFill>
                  <a:schemeClr val="tx1"/>
                </a:solidFill>
                <a:latin typeface="+mn-lt"/>
                <a:ea typeface="+mn-ea"/>
                <a:cs typeface="+mn-cs"/>
              </a:rPr>
              <a:t> Provide constructive feedback.</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noProof="0" dirty="0" smtClean="0"/>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noProof="0" dirty="0" smtClean="0"/>
              <a:t>Trainer arranges for workplace trainer to attend and talk to students about security training delivered in their venue.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111604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training topics stating </a:t>
            </a:r>
            <a:r>
              <a:rPr lang="en-AU" sz="1200" kern="1200" dirty="0" smtClean="0">
                <a:solidFill>
                  <a:schemeClr val="tx1"/>
                </a:solidFill>
                <a:latin typeface="+mn-lt"/>
                <a:ea typeface="+mn-ea"/>
                <a:cs typeface="+mn-cs"/>
              </a:rPr>
              <a:t>the exact nature of training will vary between properties and highlighting even where students have previous experience with escorting, carrying and storing valuable items in another venue, they will still have to undertake training at a new venue where they work presenting the following as a representation of what is usually involved:</a:t>
            </a:r>
          </a:p>
          <a:p>
            <a:pPr>
              <a:buFont typeface="Arial" pitchFamily="34" charset="0"/>
              <a:buChar char="•"/>
            </a:pPr>
            <a:r>
              <a:rPr lang="en-AU" sz="1200" kern="1200" dirty="0" smtClean="0">
                <a:solidFill>
                  <a:schemeClr val="tx1"/>
                </a:solidFill>
                <a:latin typeface="+mn-lt"/>
                <a:ea typeface="+mn-ea"/>
                <a:cs typeface="+mn-cs"/>
              </a:rPr>
              <a:t> Identification and use of equipment and facilities provided by the venue in relation to escorting, carrying and storing valuable items. This may address coverage of:</a:t>
            </a:r>
          </a:p>
          <a:p>
            <a:pPr lvl="1">
              <a:buFont typeface="Arial" pitchFamily="34" charset="0"/>
              <a:buChar char="•"/>
            </a:pPr>
            <a:r>
              <a:rPr lang="en-AU" sz="1200" kern="1200" dirty="0" smtClean="0">
                <a:solidFill>
                  <a:schemeClr val="tx1"/>
                </a:solidFill>
                <a:latin typeface="+mn-lt"/>
                <a:ea typeface="+mn-ea"/>
                <a:cs typeface="+mn-cs"/>
              </a:rPr>
              <a:t> Safes, Trolleys, Cash carts, Security equipment, Secure bags and containers, Tracking devices, Dye bombs</a:t>
            </a:r>
          </a:p>
          <a:p>
            <a:pPr>
              <a:buFont typeface="Arial" pitchFamily="34" charset="0"/>
              <a:buChar char="•"/>
            </a:pPr>
            <a:r>
              <a:rPr lang="en-AU" sz="1200" kern="1200" dirty="0" smtClean="0">
                <a:solidFill>
                  <a:schemeClr val="tx1"/>
                </a:solidFill>
                <a:latin typeface="+mn-lt"/>
                <a:ea typeface="+mn-ea"/>
                <a:cs typeface="+mn-cs"/>
              </a:rPr>
              <a:t> Illustration of identified threats and:</a:t>
            </a:r>
          </a:p>
          <a:p>
            <a:pPr lvl="1">
              <a:buFont typeface="Arial" pitchFamily="34" charset="0"/>
              <a:buChar char="•"/>
            </a:pPr>
            <a:r>
              <a:rPr lang="en-US" sz="1200" kern="1200" dirty="0" smtClean="0">
                <a:solidFill>
                  <a:schemeClr val="tx1"/>
                </a:solidFill>
                <a:latin typeface="+mn-lt"/>
                <a:ea typeface="+mn-ea"/>
                <a:cs typeface="+mn-cs"/>
              </a:rPr>
              <a:t> How to identify emerging threats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SOPs for responding to identified threats/situations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Route identification for escorting and carrying valuable items point-to-point: see later slides for more detail</a:t>
            </a:r>
          </a:p>
          <a:p>
            <a:pPr>
              <a:buFont typeface="Arial" pitchFamily="34" charset="0"/>
              <a:buChar char="•"/>
            </a:pPr>
            <a:r>
              <a:rPr lang="en-AU" sz="1200" kern="1200" dirty="0" smtClean="0">
                <a:solidFill>
                  <a:schemeClr val="tx1"/>
                </a:solidFill>
                <a:latin typeface="+mn-lt"/>
                <a:ea typeface="+mn-ea"/>
                <a:cs typeface="+mn-cs"/>
              </a:rPr>
              <a:t> Location and operation of relevant security infrastructure such as:</a:t>
            </a:r>
          </a:p>
          <a:p>
            <a:pPr lvl="1">
              <a:buFont typeface="Arial" pitchFamily="34" charset="0"/>
              <a:buChar char="•"/>
            </a:pPr>
            <a:r>
              <a:rPr lang="en-AU" sz="1200" kern="1200" dirty="0" smtClean="0">
                <a:solidFill>
                  <a:schemeClr val="tx1"/>
                </a:solidFill>
                <a:latin typeface="+mn-lt"/>
                <a:ea typeface="+mn-ea"/>
                <a:cs typeface="+mn-cs"/>
              </a:rPr>
              <a:t> Learning where the CCTV cameras are located</a:t>
            </a:r>
          </a:p>
          <a:p>
            <a:pPr lvl="1">
              <a:buFont typeface="Arial" pitchFamily="34" charset="0"/>
              <a:buChar char="•"/>
            </a:pPr>
            <a:r>
              <a:rPr lang="en-AU" sz="1200" kern="1200" dirty="0" smtClean="0">
                <a:solidFill>
                  <a:schemeClr val="tx1"/>
                </a:solidFill>
                <a:latin typeface="+mn-lt"/>
                <a:ea typeface="+mn-ea"/>
                <a:cs typeface="+mn-cs"/>
              </a:rPr>
              <a:t> Knowing the coverage (field of vision) of the CCTV cameras</a:t>
            </a:r>
          </a:p>
          <a:p>
            <a:pPr lvl="1">
              <a:buFont typeface="Arial" pitchFamily="34" charset="0"/>
              <a:buChar char="•"/>
            </a:pPr>
            <a:r>
              <a:rPr lang="en-AU" sz="1200" kern="1200" dirty="0" smtClean="0">
                <a:solidFill>
                  <a:schemeClr val="tx1"/>
                </a:solidFill>
                <a:latin typeface="+mn-lt"/>
                <a:ea typeface="+mn-ea"/>
                <a:cs typeface="+mn-cs"/>
              </a:rPr>
              <a:t> Determining where alarms are located and how to activate them</a:t>
            </a:r>
          </a:p>
          <a:p>
            <a:pPr lvl="1">
              <a:buFont typeface="Arial" pitchFamily="34" charset="0"/>
              <a:buChar char="•"/>
            </a:pPr>
            <a:r>
              <a:rPr lang="en-AU" sz="1200" kern="1200" dirty="0" smtClean="0">
                <a:solidFill>
                  <a:schemeClr val="tx1"/>
                </a:solidFill>
                <a:latin typeface="+mn-lt"/>
                <a:ea typeface="+mn-ea"/>
                <a:cs typeface="+mn-cs"/>
              </a:rPr>
              <a:t> Learning how to access restricted/controlled areas</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obtains and presents examples of items as identified on slide explaining their features and use.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711733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training topics:</a:t>
            </a:r>
          </a:p>
          <a:p>
            <a:pPr>
              <a:buFont typeface="Arial" pitchFamily="34" charset="0"/>
              <a:buChar char="•"/>
            </a:pPr>
            <a:r>
              <a:rPr lang="en-AU" sz="1200" kern="1200" dirty="0" smtClean="0">
                <a:solidFill>
                  <a:schemeClr val="tx1"/>
                </a:solidFill>
                <a:latin typeface="+mn-lt"/>
                <a:ea typeface="+mn-ea"/>
                <a:cs typeface="+mn-cs"/>
              </a:rPr>
              <a:t> Coverage of legal issues addressing issues such as:</a:t>
            </a:r>
          </a:p>
          <a:p>
            <a:pPr lvl="1">
              <a:buFont typeface="Arial" pitchFamily="34" charset="0"/>
              <a:buChar char="•"/>
            </a:pPr>
            <a:r>
              <a:rPr lang="en-AU" sz="1200" kern="1200" dirty="0" smtClean="0">
                <a:solidFill>
                  <a:schemeClr val="tx1"/>
                </a:solidFill>
                <a:latin typeface="+mn-lt"/>
                <a:ea typeface="+mn-ea"/>
                <a:cs typeface="+mn-cs"/>
              </a:rPr>
              <a:t> Personal liability</a:t>
            </a:r>
          </a:p>
          <a:p>
            <a:pPr lvl="1">
              <a:buFont typeface="Arial" pitchFamily="34" charset="0"/>
              <a:buChar char="•"/>
            </a:pPr>
            <a:r>
              <a:rPr lang="en-AU" sz="1200" kern="1200" dirty="0" smtClean="0">
                <a:solidFill>
                  <a:schemeClr val="tx1"/>
                </a:solidFill>
                <a:latin typeface="+mn-lt"/>
                <a:ea typeface="+mn-ea"/>
                <a:cs typeface="+mn-cs"/>
              </a:rPr>
              <a:t> Venue liability</a:t>
            </a:r>
          </a:p>
          <a:p>
            <a:pPr lvl="1">
              <a:buFont typeface="Arial" pitchFamily="34" charset="0"/>
              <a:buChar char="•"/>
            </a:pPr>
            <a:r>
              <a:rPr lang="en-AU" sz="1200" kern="1200" dirty="0" smtClean="0">
                <a:solidFill>
                  <a:schemeClr val="tx1"/>
                </a:solidFill>
                <a:latin typeface="+mn-lt"/>
                <a:ea typeface="+mn-ea"/>
                <a:cs typeface="+mn-cs"/>
              </a:rPr>
              <a:t> Notifying guests of coverage, liability and limitations</a:t>
            </a:r>
          </a:p>
          <a:p>
            <a:pPr lvl="1">
              <a:buFont typeface="Arial" pitchFamily="34" charset="0"/>
              <a:buChar char="•"/>
            </a:pPr>
            <a:r>
              <a:rPr lang="en-AU" sz="1200" kern="1200" dirty="0" smtClean="0">
                <a:solidFill>
                  <a:schemeClr val="tx1"/>
                </a:solidFill>
                <a:latin typeface="+mn-lt"/>
                <a:ea typeface="+mn-ea"/>
                <a:cs typeface="+mn-cs"/>
              </a:rPr>
              <a:t> Need to never admit liability</a:t>
            </a:r>
          </a:p>
          <a:p>
            <a:pPr>
              <a:buFont typeface="Arial" pitchFamily="34" charset="0"/>
              <a:buChar char="•"/>
            </a:pPr>
            <a:r>
              <a:rPr lang="en-AU" sz="1200" kern="1200" dirty="0" smtClean="0">
                <a:solidFill>
                  <a:schemeClr val="tx1"/>
                </a:solidFill>
                <a:latin typeface="+mn-lt"/>
                <a:ea typeface="+mn-ea"/>
                <a:cs typeface="+mn-cs"/>
              </a:rPr>
              <a:t> Description of internal requirements, protocols and standards addressing:</a:t>
            </a:r>
          </a:p>
          <a:p>
            <a:pPr lvl="1">
              <a:buFont typeface="Arial" pitchFamily="34" charset="0"/>
              <a:buChar char="•"/>
            </a:pPr>
            <a:r>
              <a:rPr lang="en-AU" sz="1200" kern="1200" dirty="0" smtClean="0">
                <a:solidFill>
                  <a:schemeClr val="tx1"/>
                </a:solidFill>
                <a:latin typeface="+mn-lt"/>
                <a:ea typeface="+mn-ea"/>
                <a:cs typeface="+mn-cs"/>
              </a:rPr>
              <a:t> Scope of authority</a:t>
            </a:r>
          </a:p>
          <a:p>
            <a:pPr lvl="1">
              <a:buFont typeface="Arial" pitchFamily="34" charset="0"/>
              <a:buChar char="•"/>
            </a:pPr>
            <a:r>
              <a:rPr lang="en-AU" sz="1200" kern="1200" dirty="0" smtClean="0">
                <a:solidFill>
                  <a:schemeClr val="tx1"/>
                </a:solidFill>
                <a:latin typeface="+mn-lt"/>
                <a:ea typeface="+mn-ea"/>
                <a:cs typeface="+mn-cs"/>
              </a:rPr>
              <a:t> Calling for assistance</a:t>
            </a:r>
          </a:p>
          <a:p>
            <a:pPr lvl="1">
              <a:buFont typeface="Arial" pitchFamily="34" charset="0"/>
              <a:buChar char="•"/>
            </a:pPr>
            <a:r>
              <a:rPr lang="en-AU" sz="1200" kern="1200" dirty="0" smtClean="0">
                <a:solidFill>
                  <a:schemeClr val="tx1"/>
                </a:solidFill>
                <a:latin typeface="+mn-lt"/>
                <a:ea typeface="+mn-ea"/>
                <a:cs typeface="+mn-cs"/>
              </a:rPr>
              <a:t> Responses to loss or damage situations</a:t>
            </a:r>
          </a:p>
          <a:p>
            <a:pPr>
              <a:buFont typeface="Arial" pitchFamily="34" charset="0"/>
              <a:buChar char="•"/>
            </a:pPr>
            <a:r>
              <a:rPr lang="en-AU" sz="1200" kern="1200" dirty="0" smtClean="0">
                <a:solidFill>
                  <a:schemeClr val="tx1"/>
                </a:solidFill>
                <a:latin typeface="+mn-lt"/>
                <a:ea typeface="+mn-ea"/>
                <a:cs typeface="+mn-cs"/>
              </a:rPr>
              <a:t> Internal documentation with emphasis on:</a:t>
            </a:r>
          </a:p>
          <a:p>
            <a:pPr lvl="1">
              <a:buFont typeface="Arial" pitchFamily="34" charset="0"/>
              <a:buChar char="•"/>
            </a:pPr>
            <a:r>
              <a:rPr lang="en-AU" sz="1200" kern="1200" dirty="0" smtClean="0">
                <a:solidFill>
                  <a:schemeClr val="tx1"/>
                </a:solidFill>
                <a:latin typeface="+mn-lt"/>
                <a:ea typeface="+mn-ea"/>
                <a:cs typeface="+mn-cs"/>
              </a:rPr>
              <a:t> When to use nominated documents</a:t>
            </a:r>
          </a:p>
          <a:p>
            <a:pPr lvl="1">
              <a:buFont typeface="Arial" pitchFamily="34" charset="0"/>
              <a:buChar char="•"/>
            </a:pPr>
            <a:r>
              <a:rPr lang="en-AU" sz="1200" kern="1200" dirty="0" smtClean="0">
                <a:solidFill>
                  <a:schemeClr val="tx1"/>
                </a:solidFill>
                <a:latin typeface="+mn-lt"/>
                <a:ea typeface="+mn-ea"/>
                <a:cs typeface="+mn-cs"/>
              </a:rPr>
              <a:t> Role of nominated documents</a:t>
            </a:r>
          </a:p>
          <a:p>
            <a:pPr lvl="1">
              <a:buFont typeface="Arial" pitchFamily="34" charset="0"/>
              <a:buChar char="•"/>
            </a:pPr>
            <a:r>
              <a:rPr lang="en-AU" sz="1200" kern="1200" dirty="0" smtClean="0">
                <a:solidFill>
                  <a:schemeClr val="tx1"/>
                </a:solidFill>
                <a:latin typeface="+mn-lt"/>
                <a:ea typeface="+mn-ea"/>
                <a:cs typeface="+mn-cs"/>
              </a:rPr>
              <a:t> How to complete documentation</a:t>
            </a:r>
          </a:p>
          <a:p>
            <a:pPr lvl="1">
              <a:buFont typeface="Arial" pitchFamily="34" charset="0"/>
              <a:buChar char="•"/>
            </a:pPr>
            <a:r>
              <a:rPr lang="en-AU" sz="1200" kern="1200" dirty="0" smtClean="0">
                <a:solidFill>
                  <a:schemeClr val="tx1"/>
                </a:solidFill>
                <a:latin typeface="+mn-lt"/>
                <a:ea typeface="+mn-ea"/>
                <a:cs typeface="+mn-cs"/>
              </a:rPr>
              <a:t> Providing advice to guests on completing documentation</a:t>
            </a:r>
          </a:p>
          <a:p>
            <a:pPr lvl="1">
              <a:buFont typeface="Arial" pitchFamily="34" charset="0"/>
              <a:buChar char="•"/>
            </a:pPr>
            <a:r>
              <a:rPr lang="en-AU" sz="1200" kern="1200" dirty="0" smtClean="0">
                <a:solidFill>
                  <a:schemeClr val="tx1"/>
                </a:solidFill>
                <a:latin typeface="+mn-lt"/>
                <a:ea typeface="+mn-ea"/>
                <a:cs typeface="+mn-cs"/>
              </a:rPr>
              <a:t> Forwarding and/or security completed documentation </a:t>
            </a:r>
          </a:p>
          <a:p>
            <a:pPr lvl="1">
              <a:buFont typeface="Arial" pitchFamily="34" charset="0"/>
              <a:buChar char="•"/>
            </a:pPr>
            <a:r>
              <a:rPr lang="en-AU" sz="1200" kern="1200" dirty="0" smtClean="0">
                <a:solidFill>
                  <a:schemeClr val="tx1"/>
                </a:solidFill>
                <a:latin typeface="+mn-lt"/>
                <a:ea typeface="+mn-ea"/>
                <a:cs typeface="+mn-cs"/>
              </a:rPr>
              <a:t> Using documentation as basis for retrieving and returning valuable items to their rightful owner.</a:t>
            </a:r>
          </a:p>
          <a:p>
            <a:pPr>
              <a:buFont typeface="Arial" pitchFamily="34" charset="0"/>
              <a:buNone/>
            </a:pPr>
            <a:endParaRPr lang="en-AU" noProof="0" dirty="0" smtClean="0"/>
          </a:p>
          <a:p>
            <a:pPr>
              <a:buFont typeface="Arial" pitchFamily="34" charset="0"/>
              <a:buNone/>
            </a:pPr>
            <a:r>
              <a:rPr lang="en-AU" b="1" noProof="0" dirty="0" smtClean="0"/>
              <a:t>Class Activity – Handouts</a:t>
            </a:r>
          </a:p>
          <a:p>
            <a:pPr>
              <a:buFont typeface="Arial" pitchFamily="34" charset="0"/>
              <a:buNone/>
            </a:pPr>
            <a:r>
              <a:rPr lang="en-AU" b="0" noProof="0" dirty="0" smtClean="0"/>
              <a:t>Trainer obtains, distributes and discusses samples of:</a:t>
            </a:r>
          </a:p>
          <a:p>
            <a:pPr>
              <a:buFont typeface="Arial" pitchFamily="34" charset="0"/>
              <a:buChar char="•"/>
            </a:pPr>
            <a:r>
              <a:rPr lang="en-AU" b="0" noProof="0" dirty="0" smtClean="0"/>
              <a:t> Relevant venue policies and procedures</a:t>
            </a:r>
          </a:p>
          <a:p>
            <a:pPr>
              <a:buFont typeface="Arial" pitchFamily="34" charset="0"/>
              <a:buChar char="•"/>
            </a:pPr>
            <a:r>
              <a:rPr lang="en-AU" b="0" noProof="0" dirty="0" smtClean="0"/>
              <a:t> Documentation used by venues in relation to escorting, carrying and storing.</a:t>
            </a:r>
          </a:p>
          <a:p>
            <a:pPr>
              <a:buFont typeface="Arial" pitchFamily="34" charset="0"/>
              <a:buChar char="•"/>
            </a:pPr>
            <a:endParaRPr lang="en-AU" b="0" noProof="0" dirty="0" smtClean="0"/>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318237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venue training may feature the use of the following personnel:</a:t>
            </a:r>
          </a:p>
          <a:p>
            <a:pPr>
              <a:buFont typeface="Arial" pitchFamily="34" charset="0"/>
              <a:buChar char="•"/>
            </a:pPr>
            <a:r>
              <a:rPr lang="en-AU" sz="1200" kern="1200" dirty="0" smtClean="0">
                <a:solidFill>
                  <a:schemeClr val="tx1"/>
                </a:solidFill>
                <a:latin typeface="+mn-lt"/>
                <a:ea typeface="+mn-ea"/>
                <a:cs typeface="+mn-cs"/>
              </a:rPr>
              <a:t> A dedicated workplace trainer who conducts all workplace training across all venue job positions</a:t>
            </a:r>
          </a:p>
          <a:p>
            <a:pPr>
              <a:buFont typeface="Arial" pitchFamily="34" charset="0"/>
              <a:buChar char="•"/>
            </a:pPr>
            <a:r>
              <a:rPr lang="en-AU" sz="1200" kern="1200" dirty="0" smtClean="0">
                <a:solidFill>
                  <a:schemeClr val="tx1"/>
                </a:solidFill>
                <a:latin typeface="+mn-lt"/>
                <a:ea typeface="+mn-ea"/>
                <a:cs typeface="+mn-cs"/>
              </a:rPr>
              <a:t> Head of security</a:t>
            </a:r>
          </a:p>
          <a:p>
            <a:pPr>
              <a:buFont typeface="Arial" pitchFamily="34" charset="0"/>
              <a:buChar char="•"/>
            </a:pPr>
            <a:r>
              <a:rPr lang="en-AU" sz="1200" kern="1200" dirty="0" smtClean="0">
                <a:solidFill>
                  <a:schemeClr val="tx1"/>
                </a:solidFill>
                <a:latin typeface="+mn-lt"/>
                <a:ea typeface="+mn-ea"/>
                <a:cs typeface="+mn-cs"/>
              </a:rPr>
              <a:t> Front Office manager or their designated representative.</a:t>
            </a:r>
          </a:p>
          <a:p>
            <a:pPr>
              <a:buFont typeface="Arial" pitchFamily="34" charset="0"/>
              <a:buChar char="•"/>
            </a:pPr>
            <a:r>
              <a:rPr lang="en-AU" sz="1200" kern="1200" dirty="0" smtClean="0">
                <a:solidFill>
                  <a:schemeClr val="tx1"/>
                </a:solidFill>
                <a:latin typeface="+mn-lt"/>
                <a:ea typeface="+mn-ea"/>
                <a:cs typeface="+mn-cs"/>
              </a:rPr>
              <a:t> Experienced staff who work in the venue</a:t>
            </a:r>
          </a:p>
          <a:p>
            <a:pPr>
              <a:buFont typeface="Arial" pitchFamily="34" charset="0"/>
              <a:buChar char="•"/>
            </a:pPr>
            <a:r>
              <a:rPr lang="en-AU" sz="1200" kern="1200" dirty="0" smtClean="0">
                <a:solidFill>
                  <a:schemeClr val="tx1"/>
                </a:solidFill>
                <a:latin typeface="+mn-lt"/>
                <a:ea typeface="+mn-ea"/>
                <a:cs typeface="+mn-cs"/>
              </a:rPr>
              <a:t> Representatives from the external security provider used by the venue </a:t>
            </a:r>
          </a:p>
          <a:p>
            <a:pPr>
              <a:buFont typeface="Arial" pitchFamily="34" charset="0"/>
              <a:buChar char="•"/>
            </a:pPr>
            <a:r>
              <a:rPr lang="en-AU" sz="1200" kern="1200" dirty="0" smtClean="0">
                <a:solidFill>
                  <a:schemeClr val="tx1"/>
                </a:solidFill>
                <a:latin typeface="+mn-lt"/>
                <a:ea typeface="+mn-ea"/>
                <a:cs typeface="+mn-cs"/>
              </a:rPr>
              <a:t> Officers from the local authorities (police).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5154149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personal characteristics and attributes which are important for people with any security-related responsibilities include:</a:t>
            </a:r>
          </a:p>
          <a:p>
            <a:pPr>
              <a:buFont typeface="Arial" pitchFamily="34" charset="0"/>
              <a:buChar char="•"/>
            </a:pPr>
            <a:r>
              <a:rPr lang="en-AU" sz="1200" kern="1200" dirty="0" smtClean="0">
                <a:solidFill>
                  <a:schemeClr val="tx1"/>
                </a:solidFill>
                <a:latin typeface="+mn-lt"/>
                <a:ea typeface="+mn-ea"/>
                <a:cs typeface="+mn-cs"/>
              </a:rPr>
              <a:t> Honesty.</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a non-negotiable requirement given the type of items being handled</a:t>
            </a:r>
          </a:p>
          <a:p>
            <a:pPr>
              <a:buFont typeface="Arial" pitchFamily="34" charset="0"/>
              <a:buChar char="•"/>
            </a:pPr>
            <a:r>
              <a:rPr lang="en-AU" sz="1200" kern="1200" dirty="0" smtClean="0">
                <a:solidFill>
                  <a:schemeClr val="tx1"/>
                </a:solidFill>
                <a:latin typeface="+mn-lt"/>
                <a:ea typeface="+mn-ea"/>
                <a:cs typeface="+mn-cs"/>
              </a:rPr>
              <a:t> High-level interpersonal skills to help when:</a:t>
            </a:r>
          </a:p>
          <a:p>
            <a:pPr lvl="1">
              <a:buFont typeface="Arial" pitchFamily="34" charset="0"/>
              <a:buChar char="•"/>
            </a:pPr>
            <a:r>
              <a:rPr lang="en-US" sz="1200" kern="1200" dirty="0" smtClean="0">
                <a:solidFill>
                  <a:schemeClr val="tx1"/>
                </a:solidFill>
                <a:latin typeface="+mn-lt"/>
                <a:ea typeface="+mn-ea"/>
                <a:cs typeface="+mn-cs"/>
              </a:rPr>
              <a:t> Working with guests/clients to provide service to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Dealing with patrons and members of the public as part of the security task allocated to them</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Vigilance to maintain Situational Awareness (see later slides)</a:t>
            </a:r>
          </a:p>
          <a:p>
            <a:pPr>
              <a:buFont typeface="Arial" pitchFamily="34" charset="0"/>
              <a:buChar char="•"/>
            </a:pPr>
            <a:r>
              <a:rPr lang="en-AU" sz="1200" kern="1200" dirty="0" smtClean="0">
                <a:solidFill>
                  <a:schemeClr val="tx1"/>
                </a:solidFill>
                <a:latin typeface="+mn-lt"/>
                <a:ea typeface="+mn-ea"/>
                <a:cs typeface="+mn-cs"/>
              </a:rPr>
              <a:t> Observation skills to:</a:t>
            </a:r>
          </a:p>
          <a:p>
            <a:pPr lvl="1">
              <a:buFont typeface="Arial" pitchFamily="34" charset="0"/>
              <a:buChar char="•"/>
            </a:pPr>
            <a:r>
              <a:rPr lang="en-US" sz="1200" kern="1200" dirty="0" smtClean="0">
                <a:solidFill>
                  <a:schemeClr val="tx1"/>
                </a:solidFill>
                <a:latin typeface="+mn-lt"/>
                <a:ea typeface="+mn-ea"/>
                <a:cs typeface="+mn-cs"/>
              </a:rPr>
              <a:t> Identify threats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Provide the information which forms the basis of alternative action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Enable Situational Awareness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604867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required personal characteristics:</a:t>
            </a:r>
          </a:p>
          <a:p>
            <a:pPr>
              <a:buFont typeface="Arial" pitchFamily="34" charset="0"/>
              <a:buChar char="•"/>
            </a:pPr>
            <a:r>
              <a:rPr lang="en-AU" sz="1200" kern="1200" dirty="0" smtClean="0">
                <a:solidFill>
                  <a:schemeClr val="tx1"/>
                </a:solidFill>
                <a:latin typeface="+mn-lt"/>
                <a:ea typeface="+mn-ea"/>
                <a:cs typeface="+mn-cs"/>
              </a:rPr>
              <a:t> Ability to follow directions,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including requirements of all SOPs and related policies</a:t>
            </a:r>
          </a:p>
          <a:p>
            <a:pPr>
              <a:buFont typeface="Arial" pitchFamily="34" charset="0"/>
              <a:buChar char="•"/>
            </a:pPr>
            <a:r>
              <a:rPr lang="en-AU" sz="1200" kern="1200" dirty="0" smtClean="0">
                <a:solidFill>
                  <a:schemeClr val="tx1"/>
                </a:solidFill>
                <a:latin typeface="+mn-lt"/>
                <a:ea typeface="+mn-ea"/>
                <a:cs typeface="+mn-cs"/>
              </a:rPr>
              <a:t> Attention to detail; to ensure planning and execution of tasks are successfully, safely and securely completed</a:t>
            </a:r>
          </a:p>
          <a:p>
            <a:pPr>
              <a:buFont typeface="Arial" pitchFamily="34" charset="0"/>
              <a:buChar char="•"/>
            </a:pPr>
            <a:r>
              <a:rPr lang="en-AU" sz="1200" kern="1200" dirty="0" smtClean="0">
                <a:solidFill>
                  <a:schemeClr val="tx1"/>
                </a:solidFill>
                <a:latin typeface="+mn-lt"/>
                <a:ea typeface="+mn-ea"/>
                <a:cs typeface="+mn-cs"/>
              </a:rPr>
              <a:t> Leadership; to ‘take charge’ when the need to do so (such as a threat or an emergency situation) arises</a:t>
            </a:r>
          </a:p>
          <a:p>
            <a:pPr>
              <a:buFont typeface="Arial" pitchFamily="34" charset="0"/>
              <a:buChar char="•"/>
            </a:pPr>
            <a:r>
              <a:rPr lang="en-AU" sz="1200" kern="1200" dirty="0" smtClean="0">
                <a:solidFill>
                  <a:schemeClr val="tx1"/>
                </a:solidFill>
                <a:latin typeface="+mn-lt"/>
                <a:ea typeface="+mn-ea"/>
                <a:cs typeface="+mn-cs"/>
              </a:rPr>
              <a:t> Common sense.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a critical requirement given there are so many unpredictable situations which might be faced</a:t>
            </a:r>
          </a:p>
          <a:p>
            <a:pPr>
              <a:buFont typeface="Arial" pitchFamily="34" charset="0"/>
              <a:buChar char="•"/>
            </a:pPr>
            <a:r>
              <a:rPr lang="en-AU" sz="1200" kern="1200" dirty="0" smtClean="0">
                <a:solidFill>
                  <a:schemeClr val="tx1"/>
                </a:solidFill>
                <a:latin typeface="+mn-lt"/>
                <a:ea typeface="+mn-ea"/>
                <a:cs typeface="+mn-cs"/>
              </a:rPr>
              <a:t> Ability to take action when the need to do so arises. You must be:</a:t>
            </a:r>
          </a:p>
          <a:p>
            <a:pPr lvl="1">
              <a:buFont typeface="Arial" pitchFamily="34" charset="0"/>
              <a:buChar char="•"/>
            </a:pPr>
            <a:r>
              <a:rPr lang="en-US" sz="1200" kern="1200" dirty="0" smtClean="0">
                <a:solidFill>
                  <a:schemeClr val="tx1"/>
                </a:solidFill>
                <a:latin typeface="+mn-lt"/>
                <a:ea typeface="+mn-ea"/>
                <a:cs typeface="+mn-cs"/>
              </a:rPr>
              <a:t> Able to think and respond quickly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Intervene when necessary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Protect guests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346671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required personal characteristics:</a:t>
            </a:r>
          </a:p>
          <a:p>
            <a:pPr>
              <a:buFont typeface="Arial" pitchFamily="34" charset="0"/>
              <a:buChar char="•"/>
            </a:pPr>
            <a:r>
              <a:rPr lang="en-AU" sz="1200" kern="1200" dirty="0" smtClean="0">
                <a:solidFill>
                  <a:schemeClr val="tx1"/>
                </a:solidFill>
                <a:latin typeface="+mn-lt"/>
                <a:ea typeface="+mn-ea"/>
                <a:cs typeface="+mn-cs"/>
              </a:rPr>
              <a:t> High levels of personal presentation because guests often infer competency by the way staff look/are dressed and groomed</a:t>
            </a:r>
          </a:p>
          <a:p>
            <a:pPr>
              <a:buFont typeface="Arial" pitchFamily="34" charset="0"/>
              <a:buChar char="•"/>
            </a:pPr>
            <a:r>
              <a:rPr lang="en-AU" sz="1200" kern="1200" dirty="0" smtClean="0">
                <a:solidFill>
                  <a:schemeClr val="tx1"/>
                </a:solidFill>
                <a:latin typeface="+mn-lt"/>
                <a:ea typeface="+mn-ea"/>
                <a:cs typeface="+mn-cs"/>
              </a:rPr>
              <a:t> Confidence.</a:t>
            </a:r>
            <a:r>
              <a:rPr lang="en-AU" sz="1200" kern="1200" baseline="0" dirty="0" smtClean="0">
                <a:solidFill>
                  <a:schemeClr val="tx1"/>
                </a:solidFill>
                <a:latin typeface="+mn-lt"/>
                <a:ea typeface="+mn-ea"/>
                <a:cs typeface="+mn-cs"/>
              </a:rPr>
              <a:t> S</a:t>
            </a:r>
            <a:r>
              <a:rPr lang="en-AU" sz="1200" kern="1200" dirty="0" smtClean="0">
                <a:solidFill>
                  <a:schemeClr val="tx1"/>
                </a:solidFill>
                <a:latin typeface="+mn-lt"/>
                <a:ea typeface="+mn-ea"/>
                <a:cs typeface="+mn-cs"/>
              </a:rPr>
              <a:t>ecurity staff must:</a:t>
            </a:r>
          </a:p>
          <a:p>
            <a:pPr lvl="1">
              <a:buFont typeface="Arial" pitchFamily="34" charset="0"/>
              <a:buChar char="•"/>
            </a:pPr>
            <a:r>
              <a:rPr lang="en-US" sz="1200" kern="1200" dirty="0" smtClean="0">
                <a:solidFill>
                  <a:schemeClr val="tx1"/>
                </a:solidFill>
                <a:latin typeface="+mn-lt"/>
                <a:ea typeface="+mn-ea"/>
                <a:cs typeface="+mn-cs"/>
              </a:rPr>
              <a:t> Project confidence in their manner and physical bearing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Have confidence in their decisions and ability to act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Formally trained; in-house and/or from an external training provider with expertise in security</a:t>
            </a:r>
          </a:p>
          <a:p>
            <a:pPr>
              <a:buFont typeface="Arial" pitchFamily="34" charset="0"/>
              <a:buChar char="•"/>
            </a:pPr>
            <a:r>
              <a:rPr lang="en-AU" sz="1200" kern="1200" dirty="0" smtClean="0">
                <a:solidFill>
                  <a:schemeClr val="tx1"/>
                </a:solidFill>
                <a:latin typeface="+mn-lt"/>
                <a:ea typeface="+mn-ea"/>
                <a:cs typeface="+mn-cs"/>
              </a:rPr>
              <a:t> Fitness and agility to:</a:t>
            </a:r>
          </a:p>
          <a:p>
            <a:pPr lvl="1">
              <a:buFont typeface="Arial" pitchFamily="34" charset="0"/>
              <a:buChar char="•"/>
            </a:pPr>
            <a:r>
              <a:rPr lang="en-US" sz="1200" kern="1200" dirty="0" smtClean="0">
                <a:solidFill>
                  <a:schemeClr val="tx1"/>
                </a:solidFill>
                <a:latin typeface="+mn-lt"/>
                <a:ea typeface="+mn-ea"/>
                <a:cs typeface="+mn-cs"/>
              </a:rPr>
              <a:t> Provide strength for lifting and carrying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Take action when required.</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454139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adds when looking for security staff employers </a:t>
            </a:r>
            <a:r>
              <a:rPr lang="en-AU" sz="1200" kern="1200" dirty="0" smtClean="0">
                <a:solidFill>
                  <a:schemeClr val="tx1"/>
                </a:solidFill>
                <a:latin typeface="+mn-lt"/>
                <a:ea typeface="+mn-ea"/>
                <a:cs typeface="+mn-cs"/>
              </a:rPr>
              <a:t>also set great store in:</a:t>
            </a:r>
          </a:p>
          <a:p>
            <a:pPr>
              <a:buFont typeface="Arial" pitchFamily="34" charset="0"/>
              <a:buChar char="•"/>
            </a:pPr>
            <a:r>
              <a:rPr lang="en-AU" sz="1200" kern="1200" dirty="0" smtClean="0">
                <a:solidFill>
                  <a:schemeClr val="tx1"/>
                </a:solidFill>
                <a:latin typeface="+mn-lt"/>
                <a:ea typeface="+mn-ea"/>
                <a:cs typeface="+mn-cs"/>
              </a:rPr>
              <a:t> Experience:</a:t>
            </a:r>
          </a:p>
          <a:p>
            <a:pPr lvl="1">
              <a:buFont typeface="Arial" pitchFamily="34" charset="0"/>
              <a:buChar char="•"/>
            </a:pPr>
            <a:r>
              <a:rPr lang="en-US" sz="1200" kern="1200" dirty="0" smtClean="0">
                <a:solidFill>
                  <a:schemeClr val="tx1"/>
                </a:solidFill>
                <a:latin typeface="+mn-lt"/>
                <a:ea typeface="+mn-ea"/>
                <a:cs typeface="+mn-cs"/>
              </a:rPr>
              <a:t> In escorting and carrying valuable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Storing valuable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Working in venues similar to their own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Physical size.</a:t>
            </a:r>
            <a:r>
              <a:rPr lang="en-AU" sz="1200" kern="1200" baseline="0" dirty="0" smtClean="0">
                <a:solidFill>
                  <a:schemeClr val="tx1"/>
                </a:solidFill>
                <a:latin typeface="+mn-lt"/>
                <a:ea typeface="+mn-ea"/>
                <a:cs typeface="+mn-cs"/>
              </a:rPr>
              <a:t> M</a:t>
            </a:r>
            <a:r>
              <a:rPr lang="en-AU" sz="1200" kern="1200" dirty="0" smtClean="0">
                <a:solidFill>
                  <a:schemeClr val="tx1"/>
                </a:solidFill>
                <a:latin typeface="+mn-lt"/>
                <a:ea typeface="+mn-ea"/>
                <a:cs typeface="+mn-cs"/>
              </a:rPr>
              <a:t>any employers will look for security staff who have an imposing physical presence believing this will act as a deterrent to threats</a:t>
            </a:r>
          </a:p>
          <a:p>
            <a:pPr>
              <a:buFont typeface="Arial" pitchFamily="34" charset="0"/>
              <a:buChar char="•"/>
            </a:pPr>
            <a:r>
              <a:rPr lang="en-AU" sz="1200" kern="1200" dirty="0" smtClean="0">
                <a:solidFill>
                  <a:schemeClr val="tx1"/>
                </a:solidFill>
                <a:latin typeface="+mn-lt"/>
                <a:ea typeface="+mn-ea"/>
                <a:cs typeface="+mn-cs"/>
              </a:rPr>
              <a:t> People who hold current certification as required by local laws for security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236442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a:t>
            </a:r>
            <a:r>
              <a:rPr lang="en-AU" sz="1200" kern="1200" dirty="0" smtClean="0">
                <a:solidFill>
                  <a:schemeClr val="tx1"/>
                </a:solidFill>
                <a:latin typeface="+mn-lt"/>
                <a:ea typeface="+mn-ea"/>
                <a:cs typeface="+mn-cs"/>
              </a:rPr>
              <a:t>those providing security services must operate in a situation where they are fully aware of everything happening in their environment.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referred to as ‘Situational awareness’.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Situational awareness may be seen as being completely aware of the environment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situation you are in and knowing:</a:t>
            </a:r>
          </a:p>
          <a:p>
            <a:pPr>
              <a:buFont typeface="Arial" pitchFamily="34" charset="0"/>
              <a:buChar char="•"/>
            </a:pPr>
            <a:r>
              <a:rPr lang="en-AU" sz="1200" kern="1200" dirty="0" smtClean="0">
                <a:solidFill>
                  <a:schemeClr val="tx1"/>
                </a:solidFill>
                <a:latin typeface="+mn-lt"/>
                <a:ea typeface="+mn-ea"/>
                <a:cs typeface="+mn-cs"/>
              </a:rPr>
              <a:t> What the situation is normally like when everything is safe and secure</a:t>
            </a:r>
          </a:p>
          <a:p>
            <a:pPr>
              <a:buFont typeface="Arial" pitchFamily="34" charset="0"/>
              <a:buChar char="•"/>
            </a:pPr>
            <a:r>
              <a:rPr lang="en-AU" sz="1200" kern="1200" dirty="0" smtClean="0">
                <a:solidFill>
                  <a:schemeClr val="tx1"/>
                </a:solidFill>
                <a:latin typeface="+mn-lt"/>
                <a:ea typeface="+mn-ea"/>
                <a:cs typeface="+mn-cs"/>
              </a:rPr>
              <a:t> If it is changing </a:t>
            </a:r>
          </a:p>
          <a:p>
            <a:pPr>
              <a:buFont typeface="Arial" pitchFamily="34" charset="0"/>
              <a:buChar char="•"/>
            </a:pPr>
            <a:r>
              <a:rPr lang="en-AU" sz="1200" kern="1200" dirty="0" smtClean="0">
                <a:solidFill>
                  <a:schemeClr val="tx1"/>
                </a:solidFill>
                <a:latin typeface="+mn-lt"/>
                <a:ea typeface="+mn-ea"/>
                <a:cs typeface="+mn-cs"/>
              </a:rPr>
              <a:t> How it is changing </a:t>
            </a:r>
          </a:p>
          <a:p>
            <a:pPr>
              <a:buFont typeface="Arial" pitchFamily="34" charset="0"/>
              <a:buChar char="•"/>
            </a:pPr>
            <a:r>
              <a:rPr lang="en-AU" sz="1200" kern="1200" dirty="0" smtClean="0">
                <a:solidFill>
                  <a:schemeClr val="tx1"/>
                </a:solidFill>
                <a:latin typeface="+mn-lt"/>
                <a:ea typeface="+mn-ea"/>
                <a:cs typeface="+mn-cs"/>
              </a:rPr>
              <a:t> Why it is changing</a:t>
            </a:r>
          </a:p>
          <a:p>
            <a:pPr>
              <a:buFont typeface="Arial" pitchFamily="34" charset="0"/>
              <a:buChar char="•"/>
            </a:pPr>
            <a:r>
              <a:rPr lang="en-AU" sz="1200" kern="1200" dirty="0" smtClean="0">
                <a:solidFill>
                  <a:schemeClr val="tx1"/>
                </a:solidFill>
                <a:latin typeface="+mn-lt"/>
                <a:ea typeface="+mn-ea"/>
                <a:cs typeface="+mn-cs"/>
              </a:rPr>
              <a:t> The threat presented by changing circumstances. </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094245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Situational Awareness relies heavily on:</a:t>
            </a:r>
          </a:p>
          <a:p>
            <a:pPr>
              <a:buFont typeface="Arial" pitchFamily="34" charset="0"/>
              <a:buChar char="•"/>
            </a:pPr>
            <a:r>
              <a:rPr lang="en-AU" sz="1200" kern="1200" dirty="0" smtClean="0">
                <a:solidFill>
                  <a:schemeClr val="tx1"/>
                </a:solidFill>
                <a:latin typeface="+mn-lt"/>
                <a:ea typeface="+mn-ea"/>
                <a:cs typeface="+mn-cs"/>
              </a:rPr>
              <a:t> Keeping your eyes and ears open to keep the inflow of information coming in  to you</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your senses</a:t>
            </a:r>
          </a:p>
          <a:p>
            <a:pPr>
              <a:buFont typeface="Arial" pitchFamily="34" charset="0"/>
              <a:buChar char="•"/>
            </a:pPr>
            <a:r>
              <a:rPr lang="en-AU" sz="1200" kern="1200" dirty="0" smtClean="0">
                <a:solidFill>
                  <a:schemeClr val="tx1"/>
                </a:solidFill>
                <a:latin typeface="+mn-lt"/>
                <a:ea typeface="+mn-ea"/>
                <a:cs typeface="+mn-cs"/>
              </a:rPr>
              <a:t> Analysing everything:</a:t>
            </a:r>
          </a:p>
          <a:p>
            <a:pPr lvl="1">
              <a:buFont typeface="Arial" pitchFamily="34" charset="0"/>
              <a:buChar char="•"/>
            </a:pPr>
            <a:r>
              <a:rPr lang="en-US" sz="1200" kern="1200" dirty="0" smtClean="0">
                <a:solidFill>
                  <a:schemeClr val="tx1"/>
                </a:solidFill>
                <a:latin typeface="+mn-lt"/>
                <a:ea typeface="+mn-ea"/>
                <a:cs typeface="+mn-cs"/>
              </a:rPr>
              <a:t> What was that noise?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Why did the noise happen?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did it come from?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What does it indicate?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What action do I need to take in response?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442474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Situational Awareness is the basis for:</a:t>
            </a:r>
          </a:p>
          <a:p>
            <a:pPr>
              <a:buFont typeface="Arial" pitchFamily="34" charset="0"/>
              <a:buChar char="•"/>
            </a:pPr>
            <a:r>
              <a:rPr lang="en-AU" sz="1200" kern="1200" dirty="0" smtClean="0">
                <a:solidFill>
                  <a:schemeClr val="tx1"/>
                </a:solidFill>
                <a:latin typeface="+mn-lt"/>
                <a:ea typeface="+mn-ea"/>
                <a:cs typeface="+mn-cs"/>
              </a:rPr>
              <a:t> Determining threat situations</a:t>
            </a:r>
          </a:p>
          <a:p>
            <a:pPr>
              <a:buFont typeface="Arial" pitchFamily="34" charset="0"/>
              <a:buChar char="•"/>
            </a:pPr>
            <a:r>
              <a:rPr lang="en-AU" sz="1200" kern="1200" dirty="0" smtClean="0">
                <a:solidFill>
                  <a:schemeClr val="tx1"/>
                </a:solidFill>
                <a:latin typeface="+mn-lt"/>
                <a:ea typeface="+mn-ea"/>
                <a:cs typeface="+mn-cs"/>
              </a:rPr>
              <a:t> Identifying action needing to be taken</a:t>
            </a:r>
          </a:p>
          <a:p>
            <a:pPr>
              <a:buFont typeface="Arial" pitchFamily="34" charset="0"/>
              <a:buChar char="•"/>
            </a:pPr>
            <a:r>
              <a:rPr lang="en-AU" sz="1200" kern="1200" dirty="0" smtClean="0">
                <a:solidFill>
                  <a:schemeClr val="tx1"/>
                </a:solidFill>
                <a:latin typeface="+mn-lt"/>
                <a:ea typeface="+mn-ea"/>
                <a:cs typeface="+mn-cs"/>
              </a:rPr>
              <a:t> Identifying what is ‘normal’ and things are not normal</a:t>
            </a:r>
          </a:p>
          <a:p>
            <a:pPr>
              <a:buFont typeface="Arial" pitchFamily="34" charset="0"/>
              <a:buChar char="•"/>
            </a:pPr>
            <a:r>
              <a:rPr lang="en-AU" sz="1200" kern="1200" dirty="0" smtClean="0">
                <a:solidFill>
                  <a:schemeClr val="tx1"/>
                </a:solidFill>
                <a:latin typeface="+mn-lt"/>
                <a:ea typeface="+mn-ea"/>
                <a:cs typeface="+mn-cs"/>
              </a:rPr>
              <a:t> Prompt and effective responses.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975573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all occasions when there is a need to escort and carry items a plan should be prepared highlighting plans should be developed for all escort and carry assignments, both regular tasks and individual/one-off jobs.</a:t>
            </a:r>
          </a:p>
          <a:p>
            <a:r>
              <a:rPr lang="en-AU" sz="1200" b="1" kern="1200" dirty="0" smtClean="0">
                <a:solidFill>
                  <a:schemeClr val="tx1"/>
                </a:solidFill>
                <a:latin typeface="+mn-lt"/>
                <a:ea typeface="+mn-ea"/>
                <a:cs typeface="+mn-cs"/>
              </a:rPr>
              <a:t>Regular jobs </a:t>
            </a:r>
            <a:r>
              <a:rPr lang="en-AU" sz="1200" kern="1200" dirty="0" smtClean="0">
                <a:solidFill>
                  <a:schemeClr val="tx1"/>
                </a:solidFill>
                <a:latin typeface="+mn-lt"/>
                <a:ea typeface="+mn-ea"/>
                <a:cs typeface="+mn-cs"/>
              </a:rPr>
              <a:t>may include:</a:t>
            </a:r>
          </a:p>
          <a:p>
            <a:pPr>
              <a:buFont typeface="Arial" pitchFamily="34" charset="0"/>
              <a:buChar char="•"/>
            </a:pPr>
            <a:r>
              <a:rPr lang="en-AU" sz="1200" kern="1200" dirty="0" smtClean="0">
                <a:solidFill>
                  <a:schemeClr val="tx1"/>
                </a:solidFill>
                <a:latin typeface="+mn-lt"/>
                <a:ea typeface="+mn-ea"/>
                <a:cs typeface="+mn-cs"/>
              </a:rPr>
              <a:t> Movement of cash from the office to trading points at the start of trade so registers and POS terminals have cash to provide change to customers who make a purchase</a:t>
            </a:r>
          </a:p>
          <a:p>
            <a:pPr>
              <a:buFont typeface="Arial" pitchFamily="34" charset="0"/>
              <a:buChar char="•"/>
            </a:pPr>
            <a:r>
              <a:rPr lang="en-AU" sz="1200" kern="1200" dirty="0" smtClean="0">
                <a:solidFill>
                  <a:schemeClr val="tx1"/>
                </a:solidFill>
                <a:latin typeface="+mn-lt"/>
                <a:ea typeface="+mn-ea"/>
                <a:cs typeface="+mn-cs"/>
              </a:rPr>
              <a:t> Movement of cash from registers and POS terminals on a regular basis throughout the day to reduce the amount of money in the cash drawers</a:t>
            </a:r>
          </a:p>
          <a:p>
            <a:pPr>
              <a:buFont typeface="Arial" pitchFamily="34" charset="0"/>
              <a:buChar char="•"/>
            </a:pPr>
            <a:r>
              <a:rPr lang="en-AU" sz="1200" kern="1200" dirty="0" smtClean="0">
                <a:solidFill>
                  <a:schemeClr val="tx1"/>
                </a:solidFill>
                <a:latin typeface="+mn-lt"/>
                <a:ea typeface="+mn-ea"/>
                <a:cs typeface="+mn-cs"/>
              </a:rPr>
              <a:t> Transfer of cash from cash points at the end of the day to move the money to the security of the safe on the administration office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74254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regular jobs which require planning:</a:t>
            </a:r>
          </a:p>
          <a:p>
            <a:pPr>
              <a:buFont typeface="Arial" pitchFamily="34" charset="0"/>
              <a:buChar char="•"/>
            </a:pPr>
            <a:r>
              <a:rPr lang="en-AU" sz="1200" kern="1200" dirty="0" smtClean="0">
                <a:solidFill>
                  <a:schemeClr val="tx1"/>
                </a:solidFill>
                <a:latin typeface="+mn-lt"/>
                <a:ea typeface="+mn-ea"/>
                <a:cs typeface="+mn-cs"/>
              </a:rPr>
              <a:t> Escorting management to and from designated locations and/or activities, such as nominated meetings on a regular basis</a:t>
            </a:r>
          </a:p>
          <a:p>
            <a:pPr>
              <a:buFont typeface="Arial" pitchFamily="34" charset="0"/>
              <a:buChar char="•"/>
            </a:pPr>
            <a:r>
              <a:rPr lang="en-AU" sz="1200" kern="1200" dirty="0" smtClean="0">
                <a:solidFill>
                  <a:schemeClr val="tx1"/>
                </a:solidFill>
                <a:latin typeface="+mn-lt"/>
                <a:ea typeface="+mn-ea"/>
                <a:cs typeface="+mn-cs"/>
              </a:rPr>
              <a:t> Escorting staff from the workplace to their vehicle at the end of trade to ensure their security from attack</a:t>
            </a:r>
          </a:p>
          <a:p>
            <a:pPr>
              <a:buFont typeface="Arial" pitchFamily="34" charset="0"/>
              <a:buChar char="•"/>
            </a:pPr>
            <a:r>
              <a:rPr lang="en-AU" sz="1200" kern="1200" dirty="0" smtClean="0">
                <a:solidFill>
                  <a:schemeClr val="tx1"/>
                </a:solidFill>
                <a:latin typeface="+mn-lt"/>
                <a:ea typeface="+mn-ea"/>
                <a:cs typeface="+mn-cs"/>
              </a:rPr>
              <a:t> Movement of money/takings from the venue to the bank</a:t>
            </a:r>
          </a:p>
          <a:p>
            <a:pPr>
              <a:buFont typeface="Arial" pitchFamily="34" charset="0"/>
              <a:buChar char="•"/>
            </a:pPr>
            <a:r>
              <a:rPr lang="en-AU" sz="1200" kern="1200" dirty="0" smtClean="0">
                <a:solidFill>
                  <a:schemeClr val="tx1"/>
                </a:solidFill>
                <a:latin typeface="+mn-lt"/>
                <a:ea typeface="+mn-ea"/>
                <a:cs typeface="+mn-cs"/>
              </a:rPr>
              <a:t> Carrying change from the bank to the 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1859350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examples of ‘</a:t>
            </a:r>
            <a:r>
              <a:rPr lang="en-AU" sz="1200" kern="1200" dirty="0" smtClean="0">
                <a:solidFill>
                  <a:schemeClr val="tx1"/>
                </a:solidFill>
                <a:latin typeface="+mn-lt"/>
                <a:ea typeface="+mn-ea"/>
                <a:cs typeface="+mn-cs"/>
              </a:rPr>
              <a:t>One-off jobs’ which require planning:</a:t>
            </a:r>
          </a:p>
          <a:p>
            <a:pPr>
              <a:buFont typeface="Arial" pitchFamily="34" charset="0"/>
              <a:buChar char="•"/>
            </a:pPr>
            <a:r>
              <a:rPr lang="en-AU" sz="1200" kern="1200" dirty="0" smtClean="0">
                <a:solidFill>
                  <a:schemeClr val="tx1"/>
                </a:solidFill>
                <a:latin typeface="+mn-lt"/>
                <a:ea typeface="+mn-ea"/>
                <a:cs typeface="+mn-cs"/>
              </a:rPr>
              <a:t> Attendance of nominated persons who to be escorted through expected crowds and media to their room or other location (event, meeting, appearance)</a:t>
            </a:r>
          </a:p>
          <a:p>
            <a:pPr>
              <a:buFont typeface="Arial" pitchFamily="34" charset="0"/>
              <a:buChar char="•"/>
            </a:pPr>
            <a:r>
              <a:rPr lang="en-AU" sz="1200" kern="1200" dirty="0" smtClean="0">
                <a:solidFill>
                  <a:schemeClr val="tx1"/>
                </a:solidFill>
                <a:latin typeface="+mn-lt"/>
                <a:ea typeface="+mn-ea"/>
                <a:cs typeface="+mn-cs"/>
              </a:rPr>
              <a:t> Provision of special service by the venue to VIP guests in recognition of their status and to demonstrate the respect in which the guest is held</a:t>
            </a:r>
          </a:p>
          <a:p>
            <a:pPr>
              <a:buFont typeface="Arial" pitchFamily="34" charset="0"/>
              <a:buChar char="•"/>
            </a:pPr>
            <a:r>
              <a:rPr lang="en-AU" sz="1200" kern="1200" dirty="0" smtClean="0">
                <a:solidFill>
                  <a:schemeClr val="tx1"/>
                </a:solidFill>
                <a:latin typeface="+mn-lt"/>
                <a:ea typeface="+mn-ea"/>
                <a:cs typeface="+mn-cs"/>
              </a:rPr>
              <a:t> Responses to individual requests for escort and/or carriage duties as deemed necessary by the guest/s</a:t>
            </a:r>
          </a:p>
          <a:p>
            <a:pPr>
              <a:buFont typeface="Arial" pitchFamily="34" charset="0"/>
              <a:buChar char="•"/>
            </a:pPr>
            <a:r>
              <a:rPr lang="en-AU" sz="1200" kern="1200" dirty="0" smtClean="0">
                <a:solidFill>
                  <a:schemeClr val="tx1"/>
                </a:solidFill>
                <a:latin typeface="+mn-lt"/>
                <a:ea typeface="+mn-ea"/>
                <a:cs typeface="+mn-cs"/>
              </a:rPr>
              <a:t> Response to an identified and credible threat which has emerged</a:t>
            </a:r>
          </a:p>
          <a:p>
            <a:pPr>
              <a:buFont typeface="Arial" pitchFamily="34" charset="0"/>
              <a:buChar char="•"/>
            </a:pPr>
            <a:r>
              <a:rPr lang="en-AU" sz="1200" kern="1200" dirty="0" smtClean="0">
                <a:solidFill>
                  <a:schemeClr val="tx1"/>
                </a:solidFill>
                <a:latin typeface="+mn-lt"/>
                <a:ea typeface="+mn-ea"/>
                <a:cs typeface="+mn-cs"/>
              </a:rPr>
              <a:t> Response to a situation where changed conditions exist, for example:</a:t>
            </a:r>
          </a:p>
          <a:p>
            <a:pPr lvl="1">
              <a:buFont typeface="Arial" pitchFamily="34" charset="0"/>
              <a:buChar char="•"/>
            </a:pPr>
            <a:r>
              <a:rPr lang="en-US" sz="1200" kern="1200" dirty="0" smtClean="0">
                <a:solidFill>
                  <a:schemeClr val="tx1"/>
                </a:solidFill>
                <a:latin typeface="+mn-lt"/>
                <a:ea typeface="+mn-ea"/>
                <a:cs typeface="+mn-cs"/>
              </a:rPr>
              <a:t> Access to what is normally deemed to be a safe route/passage no longer exists because of renovations to the property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Bigger crowds than normal are expected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Standard security equipment or systems are not available as they usually are.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2949283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plans </a:t>
            </a:r>
            <a:r>
              <a:rPr lang="en-AU" sz="1200" kern="1200" dirty="0" smtClean="0">
                <a:solidFill>
                  <a:schemeClr val="tx1"/>
                </a:solidFill>
                <a:latin typeface="+mn-lt"/>
                <a:ea typeface="+mn-ea"/>
                <a:cs typeface="+mn-cs"/>
              </a:rPr>
              <a:t>must be prepared to:</a:t>
            </a:r>
          </a:p>
          <a:p>
            <a:pPr>
              <a:buFont typeface="Arial" pitchFamily="34" charset="0"/>
              <a:buChar char="•"/>
            </a:pPr>
            <a:r>
              <a:rPr lang="en-AU" sz="1200" kern="1200" dirty="0" smtClean="0">
                <a:solidFill>
                  <a:schemeClr val="tx1"/>
                </a:solidFill>
                <a:latin typeface="+mn-lt"/>
                <a:ea typeface="+mn-ea"/>
                <a:cs typeface="+mn-cs"/>
              </a:rPr>
              <a:t> Identify potential threats and problems and issues so appropriate action can be taken</a:t>
            </a:r>
          </a:p>
          <a:p>
            <a:pPr>
              <a:buFont typeface="Arial" pitchFamily="34" charset="0"/>
              <a:buChar char="•"/>
            </a:pPr>
            <a:r>
              <a:rPr lang="en-AU" sz="1200" kern="1200" dirty="0" smtClean="0">
                <a:solidFill>
                  <a:schemeClr val="tx1"/>
                </a:solidFill>
                <a:latin typeface="+mn-lt"/>
                <a:ea typeface="+mn-ea"/>
                <a:cs typeface="+mn-cs"/>
              </a:rPr>
              <a:t> Optimize success of the job</a:t>
            </a:r>
          </a:p>
          <a:p>
            <a:pPr>
              <a:buFont typeface="Arial" pitchFamily="34" charset="0"/>
              <a:buChar char="•"/>
            </a:pPr>
            <a:r>
              <a:rPr lang="en-AU" sz="1200" kern="1200" dirty="0" smtClean="0">
                <a:solidFill>
                  <a:schemeClr val="tx1"/>
                </a:solidFill>
                <a:latin typeface="+mn-lt"/>
                <a:ea typeface="+mn-ea"/>
                <a:cs typeface="+mn-cs"/>
              </a:rPr>
              <a:t> Eliminate interference with normal venue activities</a:t>
            </a:r>
          </a:p>
          <a:p>
            <a:pPr>
              <a:buFont typeface="Arial" pitchFamily="34" charset="0"/>
              <a:buChar char="•"/>
            </a:pPr>
            <a:r>
              <a:rPr lang="en-AU" sz="1200" kern="1200" dirty="0" smtClean="0">
                <a:solidFill>
                  <a:schemeClr val="tx1"/>
                </a:solidFill>
                <a:latin typeface="+mn-lt"/>
                <a:ea typeface="+mn-ea"/>
                <a:cs typeface="+mn-cs"/>
              </a:rPr>
              <a:t> Eliminate interruption to guest use and enjoyment of venue facilities</a:t>
            </a:r>
          </a:p>
          <a:p>
            <a:pPr>
              <a:buFont typeface="Arial" pitchFamily="34" charset="0"/>
              <a:buChar char="•"/>
            </a:pPr>
            <a:r>
              <a:rPr lang="en-AU" sz="1200" kern="1200" dirty="0" smtClean="0">
                <a:solidFill>
                  <a:schemeClr val="tx1"/>
                </a:solidFill>
                <a:latin typeface="+mn-lt"/>
                <a:ea typeface="+mn-ea"/>
                <a:cs typeface="+mn-cs"/>
              </a:rPr>
              <a:t> Draw minimum attention to the fact security work (escorting and carriage of valuable items) is being undertaken.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179023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need to plan:</a:t>
            </a:r>
          </a:p>
          <a:p>
            <a:pPr>
              <a:buFont typeface="Arial" pitchFamily="34" charset="0"/>
              <a:buChar char="•"/>
            </a:pPr>
            <a:r>
              <a:rPr lang="en-AU" sz="1200" kern="1200" dirty="0" smtClean="0">
                <a:solidFill>
                  <a:schemeClr val="tx1"/>
                </a:solidFill>
                <a:latin typeface="+mn-lt"/>
                <a:ea typeface="+mn-ea"/>
                <a:cs typeface="+mn-cs"/>
              </a:rPr>
              <a:t> Reduce threat to staff</a:t>
            </a:r>
          </a:p>
          <a:p>
            <a:pPr>
              <a:buFont typeface="Arial" pitchFamily="34" charset="0"/>
              <a:buChar char="•"/>
            </a:pPr>
            <a:r>
              <a:rPr lang="en-AU" sz="1200" kern="1200" dirty="0" smtClean="0">
                <a:solidFill>
                  <a:schemeClr val="tx1"/>
                </a:solidFill>
                <a:latin typeface="+mn-lt"/>
                <a:ea typeface="+mn-ea"/>
                <a:cs typeface="+mn-cs"/>
              </a:rPr>
              <a:t> Reduce danger to customers </a:t>
            </a:r>
          </a:p>
          <a:p>
            <a:pPr>
              <a:buFont typeface="Arial" pitchFamily="34" charset="0"/>
              <a:buChar char="•"/>
            </a:pPr>
            <a:r>
              <a:rPr lang="en-AU" sz="1200" kern="1200" dirty="0" smtClean="0">
                <a:solidFill>
                  <a:schemeClr val="tx1"/>
                </a:solidFill>
                <a:latin typeface="+mn-lt"/>
                <a:ea typeface="+mn-ea"/>
                <a:cs typeface="+mn-cs"/>
              </a:rPr>
              <a:t> Determine the most effective and secure route</a:t>
            </a:r>
          </a:p>
          <a:p>
            <a:pPr>
              <a:buFont typeface="Arial" pitchFamily="34" charset="0"/>
              <a:buChar char="•"/>
            </a:pPr>
            <a:r>
              <a:rPr lang="en-AU" sz="1200" kern="1200" dirty="0" smtClean="0">
                <a:solidFill>
                  <a:schemeClr val="tx1"/>
                </a:solidFill>
                <a:latin typeface="+mn-lt"/>
                <a:ea typeface="+mn-ea"/>
                <a:cs typeface="+mn-cs"/>
              </a:rPr>
              <a:t> Calculate the resources required to undertake the job securely.</a:t>
            </a:r>
          </a:p>
          <a:p>
            <a:r>
              <a:rPr lang="en-AU" sz="1200" kern="1200" dirty="0" smtClean="0">
                <a:solidFill>
                  <a:schemeClr val="tx1"/>
                </a:solidFill>
                <a:latin typeface="+mn-lt"/>
                <a:ea typeface="+mn-ea"/>
                <a:cs typeface="+mn-cs"/>
              </a:rPr>
              <a:t>Remember: If you fail to plan, you plan to fail.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127911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who should be involved in developing plans:</a:t>
            </a:r>
          </a:p>
          <a:p>
            <a:r>
              <a:rPr lang="en-AU" sz="1200" b="1" kern="1200" dirty="0" smtClean="0">
                <a:solidFill>
                  <a:schemeClr val="tx1"/>
                </a:solidFill>
                <a:latin typeface="+mn-lt"/>
                <a:ea typeface="+mn-ea"/>
                <a:cs typeface="+mn-cs"/>
              </a:rPr>
              <a:t>The customer, client or guest </a:t>
            </a:r>
            <a:r>
              <a:rPr lang="en-AU" sz="1200" kern="1200" dirty="0" smtClean="0">
                <a:solidFill>
                  <a:schemeClr val="tx1"/>
                </a:solidFill>
                <a:latin typeface="+mn-lt"/>
                <a:ea typeface="+mn-ea"/>
                <a:cs typeface="+mn-cs"/>
              </a:rPr>
              <a:t>who will provide:</a:t>
            </a:r>
          </a:p>
          <a:p>
            <a:pPr>
              <a:buFont typeface="Arial" pitchFamily="34" charset="0"/>
              <a:buChar char="•"/>
            </a:pPr>
            <a:r>
              <a:rPr lang="en-AU" sz="1200" kern="1200" dirty="0" smtClean="0">
                <a:solidFill>
                  <a:schemeClr val="tx1"/>
                </a:solidFill>
                <a:latin typeface="+mn-lt"/>
                <a:ea typeface="+mn-ea"/>
                <a:cs typeface="+mn-cs"/>
              </a:rPr>
              <a:t> Personal requirements for the job</a:t>
            </a:r>
          </a:p>
          <a:p>
            <a:pPr>
              <a:buFont typeface="Arial" pitchFamily="34" charset="0"/>
              <a:buChar char="•"/>
            </a:pPr>
            <a:r>
              <a:rPr lang="en-AU" sz="1200" kern="1200" dirty="0" smtClean="0">
                <a:solidFill>
                  <a:schemeClr val="tx1"/>
                </a:solidFill>
                <a:latin typeface="+mn-lt"/>
                <a:ea typeface="+mn-ea"/>
                <a:cs typeface="+mn-cs"/>
              </a:rPr>
              <a:t> Personal preferences for actions and decision making</a:t>
            </a:r>
          </a:p>
          <a:p>
            <a:pPr>
              <a:buFont typeface="Arial" pitchFamily="34" charset="0"/>
              <a:buChar char="•"/>
            </a:pPr>
            <a:r>
              <a:rPr lang="en-AU" sz="1200" kern="1200" dirty="0" smtClean="0">
                <a:solidFill>
                  <a:schemeClr val="tx1"/>
                </a:solidFill>
                <a:latin typeface="+mn-lt"/>
                <a:ea typeface="+mn-ea"/>
                <a:cs typeface="+mn-cs"/>
              </a:rPr>
              <a:t> Information about the item (person) to be carried (escorted)</a:t>
            </a:r>
          </a:p>
          <a:p>
            <a:pPr>
              <a:buFont typeface="Arial" pitchFamily="34" charset="0"/>
              <a:buChar char="•"/>
            </a:pPr>
            <a:r>
              <a:rPr lang="en-AU" sz="1200" kern="1200" dirty="0" smtClean="0">
                <a:solidFill>
                  <a:schemeClr val="tx1"/>
                </a:solidFill>
                <a:latin typeface="+mn-lt"/>
                <a:ea typeface="+mn-ea"/>
                <a:cs typeface="+mn-cs"/>
              </a:rPr>
              <a:t> Information they may have about known threats</a:t>
            </a:r>
          </a:p>
          <a:p>
            <a:pPr>
              <a:buFont typeface="Arial" pitchFamily="34" charset="0"/>
              <a:buChar char="•"/>
            </a:pPr>
            <a:r>
              <a:rPr lang="en-AU" sz="1200" kern="1200" dirty="0" smtClean="0">
                <a:solidFill>
                  <a:schemeClr val="tx1"/>
                </a:solidFill>
                <a:latin typeface="+mn-lt"/>
                <a:ea typeface="+mn-ea"/>
                <a:cs typeface="+mn-cs"/>
              </a:rPr>
              <a:t> Day/time the task is to be undertaken.</a:t>
            </a:r>
          </a:p>
          <a:p>
            <a:r>
              <a:rPr lang="en-AU" sz="1200" b="1" kern="1200" dirty="0" smtClean="0">
                <a:solidFill>
                  <a:schemeClr val="tx1"/>
                </a:solidFill>
                <a:latin typeface="+mn-lt"/>
                <a:ea typeface="+mn-ea"/>
                <a:cs typeface="+mn-cs"/>
              </a:rPr>
              <a:t>Management </a:t>
            </a:r>
            <a:r>
              <a:rPr lang="en-AU" sz="1200" kern="1200" dirty="0" smtClean="0">
                <a:solidFill>
                  <a:schemeClr val="tx1"/>
                </a:solidFill>
                <a:latin typeface="+mn-lt"/>
                <a:ea typeface="+mn-ea"/>
                <a:cs typeface="+mn-cs"/>
              </a:rPr>
              <a:t>of the venue to:</a:t>
            </a:r>
          </a:p>
          <a:p>
            <a:pPr>
              <a:buFont typeface="Arial" pitchFamily="34" charset="0"/>
              <a:buChar char="•"/>
            </a:pPr>
            <a:r>
              <a:rPr lang="en-AU" sz="1200" kern="1200" dirty="0" smtClean="0">
                <a:solidFill>
                  <a:schemeClr val="tx1"/>
                </a:solidFill>
                <a:latin typeface="+mn-lt"/>
                <a:ea typeface="+mn-ea"/>
                <a:cs typeface="+mn-cs"/>
              </a:rPr>
              <a:t> Obtain their input regarding expected levels of trade/traffic in proposed routes/areas</a:t>
            </a:r>
          </a:p>
          <a:p>
            <a:pPr>
              <a:buFont typeface="Arial" pitchFamily="34" charset="0"/>
              <a:buChar char="•"/>
            </a:pPr>
            <a:r>
              <a:rPr lang="en-AU" sz="1200" kern="1200" dirty="0" smtClean="0">
                <a:solidFill>
                  <a:schemeClr val="tx1"/>
                </a:solidFill>
                <a:latin typeface="+mn-lt"/>
                <a:ea typeface="+mn-ea"/>
                <a:cs typeface="+mn-cs"/>
              </a:rPr>
              <a:t> Benefit from their previous experience in relation to carrying and escorting items in the venue </a:t>
            </a:r>
          </a:p>
          <a:p>
            <a:pPr>
              <a:buFont typeface="Arial" pitchFamily="34" charset="0"/>
              <a:buChar char="•"/>
            </a:pPr>
            <a:r>
              <a:rPr lang="en-AU" sz="1200" kern="1200" dirty="0" smtClean="0">
                <a:solidFill>
                  <a:schemeClr val="tx1"/>
                </a:solidFill>
                <a:latin typeface="+mn-lt"/>
                <a:ea typeface="+mn-ea"/>
                <a:cs typeface="+mn-cs"/>
              </a:rPr>
              <a:t> Gain authorisation for extra time, staff, resources which may be required</a:t>
            </a:r>
          </a:p>
          <a:p>
            <a:pPr>
              <a:buFont typeface="Arial" pitchFamily="34" charset="0"/>
              <a:buChar char="•"/>
            </a:pPr>
            <a:r>
              <a:rPr lang="en-AU" sz="1200" kern="1200" dirty="0" smtClean="0">
                <a:solidFill>
                  <a:schemeClr val="tx1"/>
                </a:solidFill>
                <a:latin typeface="+mn-lt"/>
                <a:ea typeface="+mn-ea"/>
                <a:cs typeface="+mn-cs"/>
              </a:rPr>
              <a:t> Obtain their approval for the final route and any specific actions needing to be undertaken.</a:t>
            </a:r>
          </a:p>
          <a:p>
            <a:r>
              <a:rPr lang="en-AU" sz="1200" b="1" kern="1200" dirty="0" smtClean="0">
                <a:solidFill>
                  <a:schemeClr val="tx1"/>
                </a:solidFill>
                <a:latin typeface="+mn-lt"/>
                <a:ea typeface="+mn-ea"/>
                <a:cs typeface="+mn-cs"/>
              </a:rPr>
              <a:t>Other internal security staff </a:t>
            </a:r>
            <a:r>
              <a:rPr lang="en-AU" sz="1200" kern="1200" dirty="0" smtClean="0">
                <a:solidFill>
                  <a:schemeClr val="tx1"/>
                </a:solidFill>
                <a:latin typeface="+mn-lt"/>
                <a:ea typeface="+mn-ea"/>
                <a:cs typeface="+mn-cs"/>
              </a:rPr>
              <a:t>to: </a:t>
            </a:r>
          </a:p>
          <a:p>
            <a:pPr>
              <a:buFont typeface="Arial" pitchFamily="34" charset="0"/>
              <a:buChar char="•"/>
            </a:pPr>
            <a:r>
              <a:rPr lang="en-AU" sz="1200" kern="1200" dirty="0" smtClean="0">
                <a:solidFill>
                  <a:schemeClr val="tx1"/>
                </a:solidFill>
                <a:latin typeface="+mn-lt"/>
                <a:ea typeface="+mn-ea"/>
                <a:cs typeface="+mn-cs"/>
              </a:rPr>
              <a:t> Benefit from their experience</a:t>
            </a:r>
          </a:p>
          <a:p>
            <a:pPr>
              <a:buFont typeface="Arial" pitchFamily="34" charset="0"/>
              <a:buChar char="•"/>
            </a:pPr>
            <a:r>
              <a:rPr lang="en-AU" sz="1200" kern="1200" dirty="0" smtClean="0">
                <a:solidFill>
                  <a:schemeClr val="tx1"/>
                </a:solidFill>
                <a:latin typeface="+mn-lt"/>
                <a:ea typeface="+mn-ea"/>
                <a:cs typeface="+mn-cs"/>
              </a:rPr>
              <a:t> Enhance communication between staff/within the venue</a:t>
            </a:r>
          </a:p>
          <a:p>
            <a:pPr>
              <a:buFont typeface="Arial" pitchFamily="34" charset="0"/>
              <a:buChar char="•"/>
            </a:pPr>
            <a:r>
              <a:rPr lang="en-AU" sz="1200" kern="1200" dirty="0" smtClean="0">
                <a:solidFill>
                  <a:schemeClr val="tx1"/>
                </a:solidFill>
                <a:latin typeface="+mn-lt"/>
                <a:ea typeface="+mn-ea"/>
                <a:cs typeface="+mn-cs"/>
              </a:rPr>
              <a:t> Involve them in the planning process.</a:t>
            </a:r>
          </a:p>
          <a:p>
            <a:r>
              <a:rPr lang="en-AU" sz="1200" b="1" kern="1200" dirty="0" smtClean="0">
                <a:solidFill>
                  <a:schemeClr val="tx1"/>
                </a:solidFill>
                <a:latin typeface="+mn-lt"/>
                <a:ea typeface="+mn-ea"/>
                <a:cs typeface="+mn-cs"/>
              </a:rPr>
              <a:t>External security consultants</a:t>
            </a:r>
            <a:r>
              <a:rPr lang="en-AU" sz="1200" kern="1200" dirty="0" smtClean="0">
                <a:solidFill>
                  <a:schemeClr val="tx1"/>
                </a:solidFill>
                <a:latin typeface="+mn-lt"/>
                <a:ea typeface="+mn-ea"/>
                <a:cs typeface="+mn-cs"/>
              </a:rPr>
              <a:t> to:</a:t>
            </a:r>
          </a:p>
          <a:p>
            <a:pPr>
              <a:buFont typeface="Arial" pitchFamily="34" charset="0"/>
              <a:buChar char="•"/>
            </a:pPr>
            <a:r>
              <a:rPr lang="en-US" sz="1200" kern="1200" dirty="0" smtClean="0">
                <a:solidFill>
                  <a:schemeClr val="tx1"/>
                </a:solidFill>
                <a:latin typeface="+mn-lt"/>
                <a:ea typeface="+mn-ea"/>
                <a:cs typeface="+mn-cs"/>
              </a:rPr>
              <a:t> Identify resources and expertise they may be able to provide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Integrate in-house activities with externally-provided security/protection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Enhance communications.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8279587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planning will always focus on developing appropriate answers to the following six key questions:</a:t>
            </a:r>
          </a:p>
          <a:p>
            <a:pPr>
              <a:buFont typeface="Arial" pitchFamily="34" charset="0"/>
              <a:buChar char="•"/>
            </a:pPr>
            <a:r>
              <a:rPr lang="en-AU" sz="1200" kern="1200" dirty="0" smtClean="0">
                <a:solidFill>
                  <a:schemeClr val="tx1"/>
                </a:solidFill>
                <a:latin typeface="+mn-lt"/>
                <a:ea typeface="+mn-ea"/>
                <a:cs typeface="+mn-cs"/>
              </a:rPr>
              <a:t> When does the job need to be done? </a:t>
            </a:r>
          </a:p>
          <a:p>
            <a:pPr>
              <a:buFont typeface="Arial" pitchFamily="34" charset="0"/>
              <a:buChar char="•"/>
            </a:pPr>
            <a:r>
              <a:rPr lang="en-AU" sz="1200" kern="1200" dirty="0" smtClean="0">
                <a:solidFill>
                  <a:schemeClr val="tx1"/>
                </a:solidFill>
                <a:latin typeface="+mn-lt"/>
                <a:ea typeface="+mn-ea"/>
                <a:cs typeface="+mn-cs"/>
              </a:rPr>
              <a:t> Why does the job need to be done?</a:t>
            </a:r>
          </a:p>
          <a:p>
            <a:pPr>
              <a:buFont typeface="Arial" pitchFamily="34" charset="0"/>
              <a:buChar char="•"/>
            </a:pPr>
            <a:r>
              <a:rPr lang="en-AU" sz="1200" kern="1200" dirty="0" smtClean="0">
                <a:solidFill>
                  <a:schemeClr val="tx1"/>
                </a:solidFill>
                <a:latin typeface="+mn-lt"/>
                <a:ea typeface="+mn-ea"/>
                <a:cs typeface="+mn-cs"/>
              </a:rPr>
              <a:t> Where does the job start, go and finish?</a:t>
            </a:r>
          </a:p>
          <a:p>
            <a:pPr>
              <a:buFont typeface="Arial" pitchFamily="34" charset="0"/>
              <a:buChar char="•"/>
            </a:pPr>
            <a:r>
              <a:rPr lang="en-AU" sz="1200" kern="1200" dirty="0" smtClean="0">
                <a:solidFill>
                  <a:schemeClr val="tx1"/>
                </a:solidFill>
                <a:latin typeface="+mn-lt"/>
                <a:ea typeface="+mn-ea"/>
                <a:cs typeface="+mn-cs"/>
              </a:rPr>
              <a:t> Who is involved?</a:t>
            </a:r>
          </a:p>
          <a:p>
            <a:pPr>
              <a:buFont typeface="Arial" pitchFamily="34" charset="0"/>
              <a:buChar char="•"/>
            </a:pPr>
            <a:r>
              <a:rPr lang="en-AU" sz="1200" kern="1200" dirty="0" smtClean="0">
                <a:solidFill>
                  <a:schemeClr val="tx1"/>
                </a:solidFill>
                <a:latin typeface="+mn-lt"/>
                <a:ea typeface="+mn-ea"/>
                <a:cs typeface="+mn-cs"/>
              </a:rPr>
              <a:t> What is involved?</a:t>
            </a:r>
          </a:p>
          <a:p>
            <a:pPr>
              <a:buFont typeface="Arial" pitchFamily="34" charset="0"/>
              <a:buChar char="•"/>
            </a:pPr>
            <a:r>
              <a:rPr lang="en-AU" sz="1200" kern="1200" dirty="0" smtClean="0">
                <a:solidFill>
                  <a:schemeClr val="tx1"/>
                </a:solidFill>
                <a:latin typeface="+mn-lt"/>
                <a:ea typeface="+mn-ea"/>
                <a:cs typeface="+mn-cs"/>
              </a:rPr>
              <a:t> How is the job to be performed?</a:t>
            </a:r>
          </a:p>
          <a:p>
            <a:pPr>
              <a:buFont typeface="Arial" pitchFamily="34" charset="0"/>
              <a:buNone/>
            </a:pPr>
            <a:endParaRPr lang="en-AU" noProof="0" dirty="0" smtClean="0"/>
          </a:p>
          <a:p>
            <a:pPr>
              <a:buFont typeface="Arial" pitchFamily="34" charset="0"/>
              <a:buNone/>
            </a:pPr>
            <a:r>
              <a:rPr lang="en-AU" b="1" noProof="0" dirty="0" smtClean="0"/>
              <a:t>Class Activity – Discussion</a:t>
            </a:r>
          </a:p>
          <a:p>
            <a:pPr>
              <a:buFont typeface="Arial" pitchFamily="34" charset="0"/>
              <a:buNone/>
            </a:pPr>
            <a:r>
              <a:rPr lang="en-AU" b="0" noProof="0" dirty="0" smtClean="0"/>
              <a:t>Trainer leads class in a discussion on:</a:t>
            </a:r>
          </a:p>
          <a:p>
            <a:pPr>
              <a:buFont typeface="Arial" pitchFamily="34" charset="0"/>
              <a:buChar char="•"/>
            </a:pPr>
            <a:r>
              <a:rPr lang="en-AU" sz="1200" kern="1200" noProof="0" dirty="0" smtClean="0">
                <a:solidFill>
                  <a:schemeClr val="tx1"/>
                </a:solidFill>
                <a:latin typeface="+mn-lt"/>
                <a:ea typeface="+mn-ea"/>
                <a:cs typeface="+mn-cs"/>
              </a:rPr>
              <a:t> Why are the questions listed on the slide so important to the planning process?</a:t>
            </a:r>
          </a:p>
          <a:p>
            <a:pPr>
              <a:buFont typeface="Arial" pitchFamily="34" charset="0"/>
              <a:buChar char="•"/>
            </a:pPr>
            <a:r>
              <a:rPr lang="en-AU" sz="1200" kern="1200" noProof="0" dirty="0" smtClean="0">
                <a:solidFill>
                  <a:schemeClr val="tx1"/>
                </a:solidFill>
                <a:latin typeface="+mn-lt"/>
                <a:ea typeface="+mn-ea"/>
                <a:cs typeface="+mn-cs"/>
              </a:rPr>
              <a:t> What information will be revealed as a result of asking these questions?</a:t>
            </a:r>
          </a:p>
          <a:p>
            <a:pPr>
              <a:buFont typeface="Arial" pitchFamily="34" charset="0"/>
              <a:buChar char="•"/>
            </a:pPr>
            <a:r>
              <a:rPr lang="en-AU" sz="1200" kern="1200" noProof="0" dirty="0" smtClean="0">
                <a:solidFill>
                  <a:schemeClr val="tx1"/>
                </a:solidFill>
                <a:latin typeface="+mn-lt"/>
                <a:ea typeface="+mn-ea"/>
                <a:cs typeface="+mn-cs"/>
              </a:rPr>
              <a:t> What actions/decisions might flow from identifying this information?</a:t>
            </a:r>
            <a:endParaRPr lang="en-AU" sz="1200" kern="1200" noProof="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0304994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a:t>
            </a:r>
            <a:r>
              <a:rPr lang="en-AU" baseline="0" noProof="0" dirty="0" smtClean="0"/>
              <a:t> </a:t>
            </a:r>
            <a:r>
              <a:rPr lang="en-AU" sz="1200" kern="1200" dirty="0" smtClean="0">
                <a:solidFill>
                  <a:schemeClr val="tx1"/>
                </a:solidFill>
                <a:latin typeface="+mn-lt"/>
                <a:ea typeface="+mn-ea"/>
                <a:cs typeface="+mn-cs"/>
              </a:rPr>
              <a:t>when developing plans for escorting and carrying duties students should take care to consider all the following:</a:t>
            </a:r>
          </a:p>
          <a:p>
            <a:pPr>
              <a:buFont typeface="Arial" pitchFamily="34" charset="0"/>
              <a:buChar char="•"/>
            </a:pPr>
            <a:r>
              <a:rPr lang="en-AU" sz="1200" kern="1200" dirty="0" smtClean="0">
                <a:solidFill>
                  <a:schemeClr val="tx1"/>
                </a:solidFill>
                <a:latin typeface="+mn-lt"/>
                <a:ea typeface="+mn-ea"/>
                <a:cs typeface="+mn-cs"/>
              </a:rPr>
              <a:t> Determining possible threats in terms of:</a:t>
            </a:r>
          </a:p>
          <a:p>
            <a:pPr lvl="1">
              <a:buFont typeface="Arial" pitchFamily="34" charset="0"/>
              <a:buChar char="•"/>
            </a:pPr>
            <a:r>
              <a:rPr lang="en-US" sz="1200" kern="1200" dirty="0" smtClean="0">
                <a:solidFill>
                  <a:schemeClr val="tx1"/>
                </a:solidFill>
                <a:latin typeface="+mn-lt"/>
                <a:ea typeface="+mn-ea"/>
                <a:cs typeface="+mn-cs"/>
              </a:rPr>
              <a:t> Who they might be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Numbers/strength</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Form of attack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Reason/motivation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Possible location of attack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Threat level</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Identifying the most secure routes.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should be done by:</a:t>
            </a:r>
          </a:p>
          <a:p>
            <a:pPr lvl="1">
              <a:buFont typeface="Arial" pitchFamily="34" charset="0"/>
              <a:buChar char="•"/>
            </a:pPr>
            <a:r>
              <a:rPr lang="en-US" sz="1200" kern="1200" dirty="0" smtClean="0">
                <a:solidFill>
                  <a:schemeClr val="tx1"/>
                </a:solidFill>
                <a:latin typeface="+mn-lt"/>
                <a:ea typeface="+mn-ea"/>
                <a:cs typeface="+mn-cs"/>
              </a:rPr>
              <a:t> Planning the route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Walking the route to visually check/inspect it and time 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Seeing the route through the eyes of offenders – where would they strike? Why?</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Developing a primary route and a series of secondary routes – see later slides</a:t>
            </a:r>
          </a:p>
          <a:p>
            <a:pPr>
              <a:buFont typeface="Arial" pitchFamily="34" charset="0"/>
              <a:buChar char="•"/>
            </a:pPr>
            <a:r>
              <a:rPr lang="en-AU" sz="1200" kern="1200" dirty="0" smtClean="0">
                <a:solidFill>
                  <a:schemeClr val="tx1"/>
                </a:solidFill>
                <a:latin typeface="+mn-lt"/>
                <a:ea typeface="+mn-ea"/>
                <a:cs typeface="+mn-cs"/>
              </a:rPr>
              <a:t> Designating staff for specific duties comprising the total carry and escort assignment.</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oing this:</a:t>
            </a:r>
          </a:p>
          <a:p>
            <a:pPr lvl="1">
              <a:buFont typeface="Arial" pitchFamily="34" charset="0"/>
              <a:buChar char="•"/>
            </a:pPr>
            <a:r>
              <a:rPr lang="en-US" sz="1200" kern="1200" dirty="0" smtClean="0">
                <a:solidFill>
                  <a:schemeClr val="tx1"/>
                </a:solidFill>
                <a:latin typeface="+mn-lt"/>
                <a:ea typeface="+mn-ea"/>
                <a:cs typeface="+mn-cs"/>
              </a:rPr>
              <a:t> Avoids delays: delays always translate into increased potential for threat or attack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Enhances internal communication so staff know what is expected/happening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Supports proper planning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Demonstrates competency and professionalism</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1749620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planning considerations:</a:t>
            </a:r>
          </a:p>
          <a:p>
            <a:pPr>
              <a:buFont typeface="Arial" pitchFamily="34" charset="0"/>
              <a:buChar char="•"/>
            </a:pPr>
            <a:r>
              <a:rPr lang="en-AU" sz="1200" kern="1200" dirty="0" smtClean="0">
                <a:solidFill>
                  <a:schemeClr val="tx1"/>
                </a:solidFill>
                <a:latin typeface="+mn-lt"/>
                <a:ea typeface="+mn-ea"/>
                <a:cs typeface="+mn-cs"/>
              </a:rPr>
              <a:t> Determining and obtaining resources required for the task.</a:t>
            </a:r>
            <a:r>
              <a:rPr lang="en-AU" sz="1200" kern="1200" baseline="0" dirty="0" smtClean="0">
                <a:solidFill>
                  <a:schemeClr val="tx1"/>
                </a:solidFill>
                <a:latin typeface="+mn-lt"/>
                <a:ea typeface="+mn-ea"/>
                <a:cs typeface="+mn-cs"/>
              </a:rPr>
              <a:t> R</a:t>
            </a:r>
            <a:r>
              <a:rPr lang="en-AU" sz="1200" kern="1200" dirty="0" smtClean="0">
                <a:solidFill>
                  <a:schemeClr val="tx1"/>
                </a:solidFill>
                <a:latin typeface="+mn-lt"/>
                <a:ea typeface="+mn-ea"/>
                <a:cs typeface="+mn-cs"/>
              </a:rPr>
              <a:t>esources may be:</a:t>
            </a:r>
          </a:p>
          <a:p>
            <a:pPr lvl="1">
              <a:buFont typeface="Arial" pitchFamily="34" charset="0"/>
              <a:buChar char="•"/>
            </a:pPr>
            <a:r>
              <a:rPr lang="en-US" sz="1200" kern="1200" dirty="0" smtClean="0">
                <a:solidFill>
                  <a:schemeClr val="tx1"/>
                </a:solidFill>
                <a:latin typeface="+mn-lt"/>
                <a:ea typeface="+mn-ea"/>
                <a:cs typeface="+mn-cs"/>
              </a:rPr>
              <a:t> Physical resources – security equipment, surveillance systems, comms, carts, containers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Human Resources which may require internal staff, staff from external security companies, police attendance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Financial resources to pay for staff (time) and required resources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Intelligence – information relating to the specific task being planned/undertaken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Preparing written plans.</a:t>
            </a:r>
            <a:r>
              <a:rPr lang="en-AU" sz="1200" kern="1200" baseline="0" dirty="0" smtClean="0">
                <a:solidFill>
                  <a:schemeClr val="tx1"/>
                </a:solidFill>
                <a:latin typeface="+mn-lt"/>
                <a:ea typeface="+mn-ea"/>
                <a:cs typeface="+mn-cs"/>
              </a:rPr>
              <a:t> W</a:t>
            </a:r>
            <a:r>
              <a:rPr lang="en-AU" sz="1200" kern="1200" dirty="0" smtClean="0">
                <a:solidFill>
                  <a:schemeClr val="tx1"/>
                </a:solidFill>
                <a:latin typeface="+mn-lt"/>
                <a:ea typeface="+mn-ea"/>
                <a:cs typeface="+mn-cs"/>
              </a:rPr>
              <a:t>ritten plans may be required by house policies and are developed to:</a:t>
            </a:r>
          </a:p>
          <a:p>
            <a:pPr lvl="1">
              <a:buFont typeface="Arial" pitchFamily="34" charset="0"/>
              <a:buChar char="•"/>
            </a:pPr>
            <a:r>
              <a:rPr lang="en-US" sz="1200" kern="1200" dirty="0" smtClean="0">
                <a:solidFill>
                  <a:schemeClr val="tx1"/>
                </a:solidFill>
                <a:latin typeface="+mn-lt"/>
                <a:ea typeface="+mn-ea"/>
                <a:cs typeface="+mn-cs"/>
              </a:rPr>
              <a:t> Demonstrate due diligence has been discharged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Provide the basis for feedback on the suitability of the plans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Facilitate the communication/sharing of arrangements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Provide a basis for training and other necessary preparation activities in relation to the job (such as closing areas, locking doors, obtaining physical resources, rostering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Provide a growing database for future reference when similar jobs need to be planned/undertaken.</a:t>
            </a:r>
            <a:endParaRPr lang="en-AU" sz="1200" kern="1200" dirty="0" smtClean="0">
              <a:solidFill>
                <a:schemeClr val="tx1"/>
              </a:solidFill>
              <a:latin typeface="+mn-lt"/>
              <a:ea typeface="+mn-ea"/>
              <a:cs typeface="+mn-cs"/>
            </a:endParaRPr>
          </a:p>
          <a:p>
            <a:pPr>
              <a:buFont typeface="Arial" pitchFamily="34" charset="0"/>
              <a:buNone/>
            </a:pPr>
            <a:endParaRPr lang="en-AU" sz="1200" b="1"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Guest Speaker</a:t>
            </a:r>
          </a:p>
          <a:p>
            <a:pPr>
              <a:buFont typeface="Arial" pitchFamily="34" charset="0"/>
              <a:buNone/>
            </a:pPr>
            <a:r>
              <a:rPr lang="en-AU" b="0" noProof="0" dirty="0" smtClean="0"/>
              <a:t>Trainer arranges for experienced security person to attend and talk to trainees about:</a:t>
            </a:r>
          </a:p>
          <a:p>
            <a:pPr>
              <a:buFont typeface="Arial" pitchFamily="34" charset="0"/>
              <a:buChar char="•"/>
            </a:pPr>
            <a:r>
              <a:rPr lang="en-AU" b="0" noProof="0" dirty="0" smtClean="0"/>
              <a:t> Need for plans and planning</a:t>
            </a:r>
          </a:p>
          <a:p>
            <a:pPr>
              <a:buFont typeface="Arial" pitchFamily="34" charset="0"/>
              <a:buChar char="•"/>
            </a:pPr>
            <a:r>
              <a:rPr lang="en-AU" b="0" noProof="0" dirty="0" smtClean="0"/>
              <a:t> Considerations in the planning process</a:t>
            </a:r>
          </a:p>
          <a:p>
            <a:pPr>
              <a:buFont typeface="Arial" pitchFamily="34" charset="0"/>
              <a:buChar char="•"/>
            </a:pPr>
            <a:r>
              <a:rPr lang="en-AU" b="0" noProof="0" dirty="0" smtClean="0"/>
              <a:t> Activities in the planning process</a:t>
            </a:r>
          </a:p>
          <a:p>
            <a:pPr>
              <a:buFont typeface="Arial" pitchFamily="34" charset="0"/>
              <a:buChar char="•"/>
            </a:pPr>
            <a:r>
              <a:rPr lang="en-AU" b="0" noProof="0" dirty="0" smtClean="0"/>
              <a:t> Examples of plans.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2942920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emphasises students must always guard against complacency stating </a:t>
            </a:r>
            <a:r>
              <a:rPr lang="en-AU" sz="1200" b="0" kern="1200" dirty="0" smtClean="0">
                <a:solidFill>
                  <a:schemeClr val="tx1"/>
                </a:solidFill>
                <a:latin typeface="+mn-lt"/>
                <a:ea typeface="+mn-ea"/>
                <a:cs typeface="+mn-cs"/>
              </a:rPr>
              <a:t>complacency</a:t>
            </a:r>
            <a:r>
              <a:rPr lang="en-AU" sz="1200" b="0" kern="1200" baseline="0" dirty="0" smtClean="0">
                <a:solidFill>
                  <a:schemeClr val="tx1"/>
                </a:solidFill>
                <a:latin typeface="+mn-lt"/>
                <a:ea typeface="+mn-ea"/>
                <a:cs typeface="+mn-cs"/>
              </a:rPr>
              <a:t> </a:t>
            </a:r>
            <a:r>
              <a:rPr lang="en-AU" sz="1200" b="0" kern="1200" dirty="0" smtClean="0">
                <a:solidFill>
                  <a:schemeClr val="tx1"/>
                </a:solidFill>
                <a:latin typeface="+mn-lt"/>
                <a:ea typeface="+mn-ea"/>
                <a:cs typeface="+mn-cs"/>
              </a:rPr>
              <a:t>is adopting an attitude which believes because they have had no problems in the past, they will have none in the future stressing it leads them to a situations where they:</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Fail to properly plan for the work to be done </a:t>
            </a:r>
          </a:p>
          <a:p>
            <a:pPr>
              <a:buFont typeface="Arial" pitchFamily="34" charset="0"/>
              <a:buChar char="•"/>
            </a:pPr>
            <a:r>
              <a:rPr lang="en-AU" sz="1200" kern="1200" dirty="0" smtClean="0">
                <a:solidFill>
                  <a:schemeClr val="tx1"/>
                </a:solidFill>
                <a:latin typeface="+mn-lt"/>
                <a:ea typeface="+mn-ea"/>
                <a:cs typeface="+mn-cs"/>
              </a:rPr>
              <a:t> Do not take the required care with the job</a:t>
            </a:r>
          </a:p>
          <a:p>
            <a:pPr>
              <a:buFont typeface="Arial" pitchFamily="34" charset="0"/>
              <a:buChar char="•"/>
            </a:pPr>
            <a:r>
              <a:rPr lang="en-AU" sz="1200" kern="1200" dirty="0" smtClean="0">
                <a:solidFill>
                  <a:schemeClr val="tx1"/>
                </a:solidFill>
                <a:latin typeface="+mn-lt"/>
                <a:ea typeface="+mn-ea"/>
                <a:cs typeface="+mn-cs"/>
              </a:rPr>
              <a:t> Do not pay proper attention to what is needed and what is happening</a:t>
            </a:r>
          </a:p>
          <a:p>
            <a:pPr>
              <a:buFont typeface="Arial" pitchFamily="34" charset="0"/>
              <a:buChar char="•"/>
            </a:pPr>
            <a:r>
              <a:rPr lang="en-AU" sz="1200" kern="1200" dirty="0" smtClean="0">
                <a:solidFill>
                  <a:schemeClr val="tx1"/>
                </a:solidFill>
                <a:latin typeface="+mn-lt"/>
                <a:ea typeface="+mn-ea"/>
                <a:cs typeface="+mn-cs"/>
              </a:rPr>
              <a:t> Demonstrate a lack of interest and commitment to the work.</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780325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to students they </a:t>
            </a:r>
            <a:r>
              <a:rPr lang="en-AU" sz="1200" b="0" kern="1200" dirty="0" smtClean="0">
                <a:solidFill>
                  <a:schemeClr val="tx1"/>
                </a:solidFill>
                <a:latin typeface="+mn-lt"/>
                <a:ea typeface="+mn-ea"/>
                <a:cs typeface="+mn-cs"/>
              </a:rPr>
              <a:t>must realise that the ‘sameness’ of carrying and escorting jobs makes many of them relatively easy and tempting targets for thieves who can often readily identify:</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route you will take </a:t>
            </a:r>
          </a:p>
          <a:p>
            <a:pPr>
              <a:buFont typeface="Arial" pitchFamily="34" charset="0"/>
              <a:buChar char="•"/>
            </a:pPr>
            <a:r>
              <a:rPr lang="en-AU" sz="1200" kern="1200" dirty="0" smtClean="0">
                <a:solidFill>
                  <a:schemeClr val="tx1"/>
                </a:solidFill>
                <a:latin typeface="+mn-lt"/>
                <a:ea typeface="+mn-ea"/>
                <a:cs typeface="+mn-cs"/>
              </a:rPr>
              <a:t> The number of staff on the detail </a:t>
            </a:r>
          </a:p>
          <a:p>
            <a:pPr>
              <a:buFont typeface="Arial" pitchFamily="34" charset="0"/>
              <a:buChar char="•"/>
            </a:pPr>
            <a:r>
              <a:rPr lang="en-AU" sz="1200" kern="1200" dirty="0" smtClean="0">
                <a:solidFill>
                  <a:schemeClr val="tx1"/>
                </a:solidFill>
                <a:latin typeface="+mn-lt"/>
                <a:ea typeface="+mn-ea"/>
                <a:cs typeface="+mn-cs"/>
              </a:rPr>
              <a:t> The security equipment used</a:t>
            </a:r>
          </a:p>
          <a:p>
            <a:pPr>
              <a:buFont typeface="Arial" pitchFamily="34" charset="0"/>
              <a:buChar char="•"/>
            </a:pPr>
            <a:r>
              <a:rPr lang="en-AU" sz="1200" kern="1200" dirty="0" smtClean="0">
                <a:solidFill>
                  <a:schemeClr val="tx1"/>
                </a:solidFill>
                <a:latin typeface="+mn-lt"/>
                <a:ea typeface="+mn-ea"/>
                <a:cs typeface="+mn-cs"/>
              </a:rPr>
              <a:t> The precautions taken.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875062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suggests the following actions </a:t>
            </a:r>
            <a:r>
              <a:rPr lang="en-AU" baseline="0" noProof="0" dirty="0" smtClean="0"/>
              <a:t> be taken </a:t>
            </a:r>
            <a:r>
              <a:rPr lang="en-AU" sz="1200" b="0" kern="1200" dirty="0" smtClean="0">
                <a:solidFill>
                  <a:schemeClr val="tx1"/>
                </a:solidFill>
                <a:latin typeface="+mn-lt"/>
                <a:ea typeface="+mn-ea"/>
                <a:cs typeface="+mn-cs"/>
              </a:rPr>
              <a:t>at the very least: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Change days of the week you take money to the bank</a:t>
            </a:r>
          </a:p>
          <a:p>
            <a:pPr>
              <a:buFont typeface="Arial" pitchFamily="34" charset="0"/>
              <a:buChar char="•"/>
            </a:pPr>
            <a:r>
              <a:rPr lang="en-AU" sz="1200" kern="1200" dirty="0" smtClean="0">
                <a:solidFill>
                  <a:schemeClr val="tx1"/>
                </a:solidFill>
                <a:latin typeface="+mn-lt"/>
                <a:ea typeface="+mn-ea"/>
                <a:cs typeface="+mn-cs"/>
              </a:rPr>
              <a:t> Vary the times of day the job is undertaken</a:t>
            </a:r>
          </a:p>
          <a:p>
            <a:pPr>
              <a:buFont typeface="Arial" pitchFamily="34" charset="0"/>
              <a:buChar char="•"/>
            </a:pPr>
            <a:r>
              <a:rPr lang="en-AU" sz="1200" kern="1200" dirty="0" smtClean="0">
                <a:solidFill>
                  <a:schemeClr val="tx1"/>
                </a:solidFill>
                <a:latin typeface="+mn-lt"/>
                <a:ea typeface="+mn-ea"/>
                <a:cs typeface="+mn-cs"/>
              </a:rPr>
              <a:t> Alter the staff who perform the task</a:t>
            </a:r>
          </a:p>
          <a:p>
            <a:pPr>
              <a:buFont typeface="Arial" pitchFamily="34" charset="0"/>
              <a:buChar char="•"/>
            </a:pPr>
            <a:r>
              <a:rPr lang="en-AU" sz="1200" kern="1200" dirty="0" smtClean="0">
                <a:solidFill>
                  <a:schemeClr val="tx1"/>
                </a:solidFill>
                <a:latin typeface="+mn-lt"/>
                <a:ea typeface="+mn-ea"/>
                <a:cs typeface="+mn-cs"/>
              </a:rPr>
              <a:t> Use a different vehicle</a:t>
            </a:r>
          </a:p>
          <a:p>
            <a:pPr>
              <a:buFont typeface="Arial" pitchFamily="34" charset="0"/>
              <a:buChar char="•"/>
            </a:pPr>
            <a:r>
              <a:rPr lang="en-AU" sz="1200" kern="1200" dirty="0" smtClean="0">
                <a:solidFill>
                  <a:schemeClr val="tx1"/>
                </a:solidFill>
                <a:latin typeface="+mn-lt"/>
                <a:ea typeface="+mn-ea"/>
                <a:cs typeface="+mn-cs"/>
              </a:rPr>
              <a:t> Carry items in different containers</a:t>
            </a:r>
          </a:p>
          <a:p>
            <a:pPr>
              <a:buFont typeface="Arial" pitchFamily="34" charset="0"/>
              <a:buChar char="•"/>
            </a:pPr>
            <a:r>
              <a:rPr lang="en-AU" sz="1200" kern="1200" dirty="0" smtClean="0">
                <a:solidFill>
                  <a:schemeClr val="tx1"/>
                </a:solidFill>
                <a:latin typeface="+mn-lt"/>
                <a:ea typeface="+mn-ea"/>
                <a:cs typeface="+mn-cs"/>
              </a:rPr>
              <a:t> Do something to avoid being predictable.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4582746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tells students </a:t>
            </a:r>
            <a:r>
              <a:rPr lang="en-AU" sz="1200" kern="1200" dirty="0" smtClean="0">
                <a:solidFill>
                  <a:schemeClr val="tx1"/>
                </a:solidFill>
                <a:latin typeface="+mn-lt"/>
                <a:ea typeface="+mn-ea"/>
                <a:cs typeface="+mn-cs"/>
              </a:rPr>
              <a:t>every venue has policies and procedures in relation to the movement of cash and valuables and they will become aware of these in</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the following ways:</a:t>
            </a:r>
          </a:p>
          <a:p>
            <a:pPr>
              <a:buFont typeface="Arial" pitchFamily="34" charset="0"/>
              <a:buChar char="•"/>
            </a:pPr>
            <a:r>
              <a:rPr lang="en-AU" sz="1200" kern="1200" dirty="0" smtClean="0">
                <a:solidFill>
                  <a:schemeClr val="tx1"/>
                </a:solidFill>
                <a:latin typeface="+mn-lt"/>
                <a:ea typeface="+mn-ea"/>
                <a:cs typeface="+mn-cs"/>
              </a:rPr>
              <a:t> As part of your Induction and Orientation into the job/role</a:t>
            </a:r>
          </a:p>
          <a:p>
            <a:pPr>
              <a:buFont typeface="Arial" pitchFamily="34" charset="0"/>
              <a:buChar char="•"/>
            </a:pPr>
            <a:r>
              <a:rPr lang="en-AU" sz="1200" kern="1200" dirty="0" smtClean="0">
                <a:solidFill>
                  <a:schemeClr val="tx1"/>
                </a:solidFill>
                <a:latin typeface="+mn-lt"/>
                <a:ea typeface="+mn-ea"/>
                <a:cs typeface="+mn-cs"/>
              </a:rPr>
              <a:t> Undertaking formal in-house training</a:t>
            </a:r>
          </a:p>
          <a:p>
            <a:pPr>
              <a:buFont typeface="Arial" pitchFamily="34" charset="0"/>
              <a:buChar char="•"/>
            </a:pPr>
            <a:r>
              <a:rPr lang="en-AU" sz="1200" kern="1200" dirty="0" smtClean="0">
                <a:solidFill>
                  <a:schemeClr val="tx1"/>
                </a:solidFill>
                <a:latin typeface="+mn-lt"/>
                <a:ea typeface="+mn-ea"/>
                <a:cs typeface="+mn-cs"/>
              </a:rPr>
              <a:t> Reading the venue policies and procedures which may be provided:</a:t>
            </a:r>
          </a:p>
          <a:p>
            <a:pPr lvl="1">
              <a:buFont typeface="Arial" pitchFamily="34" charset="0"/>
              <a:buChar char="•"/>
            </a:pPr>
            <a:r>
              <a:rPr lang="en-AU" sz="1200" kern="1200" dirty="0" smtClean="0">
                <a:solidFill>
                  <a:schemeClr val="tx1"/>
                </a:solidFill>
                <a:latin typeface="+mn-lt"/>
                <a:ea typeface="+mn-ea"/>
                <a:cs typeface="+mn-cs"/>
              </a:rPr>
              <a:t> In Operating Manuals</a:t>
            </a:r>
          </a:p>
          <a:p>
            <a:pPr lvl="1">
              <a:buFont typeface="Arial" pitchFamily="34" charset="0"/>
              <a:buChar char="•"/>
            </a:pPr>
            <a:r>
              <a:rPr lang="en-AU" sz="1200" kern="1200" dirty="0" smtClean="0">
                <a:solidFill>
                  <a:schemeClr val="tx1"/>
                </a:solidFill>
                <a:latin typeface="+mn-lt"/>
                <a:ea typeface="+mn-ea"/>
                <a:cs typeface="+mn-cs"/>
              </a:rPr>
              <a:t> On venue intranet</a:t>
            </a:r>
          </a:p>
          <a:p>
            <a:pPr lvl="1">
              <a:buFont typeface="Arial" pitchFamily="34" charset="0"/>
              <a:buChar char="•"/>
            </a:pPr>
            <a:r>
              <a:rPr lang="en-AU" sz="1200" kern="1200" dirty="0" smtClean="0">
                <a:solidFill>
                  <a:schemeClr val="tx1"/>
                </a:solidFill>
                <a:latin typeface="+mn-lt"/>
                <a:ea typeface="+mn-ea"/>
                <a:cs typeface="+mn-cs"/>
              </a:rPr>
              <a:t> Displayed in certain work areas and offices</a:t>
            </a:r>
          </a:p>
          <a:p>
            <a:pPr>
              <a:buFont typeface="Arial" pitchFamily="34" charset="0"/>
              <a:buChar char="•"/>
            </a:pPr>
            <a:r>
              <a:rPr lang="en-AU" sz="1200" kern="1200" dirty="0" smtClean="0">
                <a:solidFill>
                  <a:schemeClr val="tx1"/>
                </a:solidFill>
                <a:latin typeface="+mn-lt"/>
                <a:ea typeface="+mn-ea"/>
                <a:cs typeface="+mn-cs"/>
              </a:rPr>
              <a:t> Talking to more senior and experienced staff</a:t>
            </a:r>
          </a:p>
          <a:p>
            <a:pPr>
              <a:buFont typeface="Arial" pitchFamily="34" charset="0"/>
              <a:buChar char="•"/>
            </a:pPr>
            <a:r>
              <a:rPr lang="en-AU" sz="1200" kern="1200" dirty="0" smtClean="0">
                <a:solidFill>
                  <a:schemeClr val="tx1"/>
                </a:solidFill>
                <a:latin typeface="+mn-lt"/>
                <a:ea typeface="+mn-ea"/>
                <a:cs typeface="+mn-cs"/>
              </a:rPr>
              <a:t> Asking questions to management </a:t>
            </a:r>
          </a:p>
          <a:p>
            <a:pPr>
              <a:buFont typeface="Arial" pitchFamily="34" charset="0"/>
              <a:buChar char="•"/>
            </a:pPr>
            <a:r>
              <a:rPr lang="en-AU" sz="1200" kern="1200" dirty="0" smtClean="0">
                <a:solidFill>
                  <a:schemeClr val="tx1"/>
                </a:solidFill>
                <a:latin typeface="+mn-lt"/>
                <a:ea typeface="+mn-ea"/>
                <a:cs typeface="+mn-cs"/>
              </a:rPr>
              <a:t> Observing others.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107813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 which cause variation in venue-specific escort and carry policies and procedures:</a:t>
            </a:r>
          </a:p>
          <a:p>
            <a:pPr>
              <a:buFont typeface="Arial" pitchFamily="34" charset="0"/>
              <a:buChar char="•"/>
            </a:pPr>
            <a:r>
              <a:rPr lang="en-AU" sz="1200" kern="1200" dirty="0" smtClean="0">
                <a:solidFill>
                  <a:schemeClr val="tx1"/>
                </a:solidFill>
                <a:latin typeface="+mn-lt"/>
                <a:ea typeface="+mn-ea"/>
                <a:cs typeface="+mn-cs"/>
              </a:rPr>
              <a:t> Experience with movement of valuable such as:</a:t>
            </a:r>
          </a:p>
          <a:p>
            <a:pPr lvl="1">
              <a:buFont typeface="Arial" pitchFamily="34" charset="0"/>
              <a:buChar char="•"/>
            </a:pPr>
            <a:r>
              <a:rPr lang="en-US" sz="1200" kern="1200" dirty="0" smtClean="0">
                <a:solidFill>
                  <a:schemeClr val="tx1"/>
                </a:solidFill>
                <a:latin typeface="+mn-lt"/>
                <a:ea typeface="+mn-ea"/>
                <a:cs typeface="+mn-cs"/>
              </a:rPr>
              <a:t> Previous attacks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Previous threats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Layout of the venue</a:t>
            </a:r>
          </a:p>
          <a:p>
            <a:pPr>
              <a:buFont typeface="Arial" pitchFamily="34" charset="0"/>
              <a:buChar char="•"/>
            </a:pPr>
            <a:r>
              <a:rPr lang="en-AU" sz="1200" kern="1200" dirty="0" smtClean="0">
                <a:solidFill>
                  <a:schemeClr val="tx1"/>
                </a:solidFill>
                <a:latin typeface="+mn-lt"/>
                <a:ea typeface="+mn-ea"/>
                <a:cs typeface="+mn-cs"/>
              </a:rPr>
              <a:t> Number of security staff available</a:t>
            </a:r>
          </a:p>
          <a:p>
            <a:pPr>
              <a:buFont typeface="Arial" pitchFamily="34" charset="0"/>
              <a:buChar char="•"/>
            </a:pPr>
            <a:r>
              <a:rPr lang="en-AU" sz="1200" kern="1200" dirty="0" smtClean="0">
                <a:solidFill>
                  <a:schemeClr val="tx1"/>
                </a:solidFill>
                <a:latin typeface="+mn-lt"/>
                <a:ea typeface="+mn-ea"/>
                <a:cs typeface="+mn-cs"/>
              </a:rPr>
              <a:t> Security resources and facilities available</a:t>
            </a:r>
          </a:p>
          <a:p>
            <a:pPr>
              <a:buFont typeface="Arial" pitchFamily="34" charset="0"/>
              <a:buNone/>
            </a:pPr>
            <a:endParaRPr lang="en-AU" sz="1200" b="1"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Discussion</a:t>
            </a:r>
          </a:p>
          <a:p>
            <a:pPr>
              <a:buFont typeface="Arial" pitchFamily="34" charset="0"/>
              <a:buNone/>
            </a:pPr>
            <a:r>
              <a:rPr lang="en-AU" sz="1200" b="0" kern="1200" noProof="0" dirty="0" smtClean="0">
                <a:solidFill>
                  <a:schemeClr val="tx1"/>
                </a:solidFill>
                <a:latin typeface="+mn-lt"/>
                <a:ea typeface="+mn-ea"/>
                <a:cs typeface="+mn-cs"/>
              </a:rPr>
              <a:t>For each of the points listed on the slide trainer asks students how these may impact on the policies and procedures of a venue.</a:t>
            </a:r>
          </a:p>
          <a:p>
            <a:pPr>
              <a:buFont typeface="Arial" pitchFamily="34" charset="0"/>
              <a:buNone/>
            </a:pPr>
            <a:r>
              <a:rPr lang="en-AU" sz="1200" b="1" kern="1200" noProof="0" dirty="0" smtClean="0">
                <a:solidFill>
                  <a:schemeClr val="tx1"/>
                </a:solidFill>
                <a:latin typeface="+mn-lt"/>
                <a:ea typeface="+mn-ea"/>
                <a:cs typeface="+mn-cs"/>
              </a:rPr>
              <a: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6349967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factors which cause variation in venue-specific escort and carry policies and procedures:</a:t>
            </a:r>
          </a:p>
          <a:p>
            <a:pPr>
              <a:buFont typeface="Arial" pitchFamily="34" charset="0"/>
              <a:buChar char="•"/>
            </a:pPr>
            <a:r>
              <a:rPr lang="en-AU" sz="1200" kern="1200" dirty="0" smtClean="0">
                <a:solidFill>
                  <a:schemeClr val="tx1"/>
                </a:solidFill>
                <a:latin typeface="+mn-lt"/>
                <a:ea typeface="+mn-ea"/>
                <a:cs typeface="+mn-cs"/>
              </a:rPr>
              <a:t> Level/amount of demand for security regarding movement of valuables</a:t>
            </a:r>
          </a:p>
          <a:p>
            <a:pPr>
              <a:buFont typeface="Arial" pitchFamily="34" charset="0"/>
              <a:buChar char="•"/>
            </a:pPr>
            <a:r>
              <a:rPr lang="en-AU" sz="1200" kern="1200" dirty="0" smtClean="0">
                <a:solidFill>
                  <a:schemeClr val="tx1"/>
                </a:solidFill>
                <a:latin typeface="+mn-lt"/>
                <a:ea typeface="+mn-ea"/>
                <a:cs typeface="+mn-cs"/>
              </a:rPr>
              <a:t> Type of items being moved</a:t>
            </a:r>
          </a:p>
          <a:p>
            <a:pPr>
              <a:buFont typeface="Arial" pitchFamily="34" charset="0"/>
              <a:buChar char="•"/>
            </a:pPr>
            <a:r>
              <a:rPr lang="en-AU" sz="1200" kern="1200" dirty="0" smtClean="0">
                <a:solidFill>
                  <a:schemeClr val="tx1"/>
                </a:solidFill>
                <a:latin typeface="+mn-lt"/>
                <a:ea typeface="+mn-ea"/>
                <a:cs typeface="+mn-cs"/>
              </a:rPr>
              <a:t> Value of items being moved</a:t>
            </a:r>
          </a:p>
          <a:p>
            <a:pPr>
              <a:buFont typeface="Arial" pitchFamily="34" charset="0"/>
              <a:buChar char="•"/>
            </a:pPr>
            <a:r>
              <a:rPr lang="en-AU" sz="1200" kern="1200" dirty="0" smtClean="0">
                <a:solidFill>
                  <a:schemeClr val="tx1"/>
                </a:solidFill>
                <a:latin typeface="+mn-lt"/>
                <a:ea typeface="+mn-ea"/>
                <a:cs typeface="+mn-cs"/>
              </a:rPr>
              <a:t> Level of trade</a:t>
            </a:r>
          </a:p>
          <a:p>
            <a:pPr>
              <a:buFont typeface="Arial" pitchFamily="34" charset="0"/>
              <a:buChar char="•"/>
            </a:pPr>
            <a:r>
              <a:rPr lang="en-AU" sz="1200" kern="1200" dirty="0" smtClean="0">
                <a:solidFill>
                  <a:schemeClr val="tx1"/>
                </a:solidFill>
                <a:latin typeface="+mn-lt"/>
                <a:ea typeface="+mn-ea"/>
                <a:cs typeface="+mn-cs"/>
              </a:rPr>
              <a:t> Identified threat analysis.</a:t>
            </a:r>
          </a:p>
          <a:p>
            <a:pPr>
              <a:buFont typeface="Arial" pitchFamily="34" charset="0"/>
              <a:buNone/>
            </a:pPr>
            <a:endParaRPr lang="en-AU" noProof="0" dirty="0" smtClean="0"/>
          </a:p>
          <a:p>
            <a:pPr>
              <a:buFont typeface="Arial" pitchFamily="34" charset="0"/>
              <a:buNone/>
            </a:pPr>
            <a:r>
              <a:rPr lang="en-AU" sz="1200" b="1" kern="1200" noProof="0" dirty="0" smtClean="0">
                <a:solidFill>
                  <a:schemeClr val="tx1"/>
                </a:solidFill>
                <a:latin typeface="+mn-lt"/>
                <a:ea typeface="+mn-ea"/>
                <a:cs typeface="+mn-cs"/>
              </a:rPr>
              <a:t>Class Activity – Discussion</a:t>
            </a:r>
          </a:p>
          <a:p>
            <a:pPr>
              <a:buFont typeface="Arial" pitchFamily="34" charset="0"/>
              <a:buNone/>
            </a:pPr>
            <a:r>
              <a:rPr lang="en-AU" sz="1200" b="0" kern="1200" noProof="0" dirty="0" smtClean="0">
                <a:solidFill>
                  <a:schemeClr val="tx1"/>
                </a:solidFill>
                <a:latin typeface="+mn-lt"/>
                <a:ea typeface="+mn-ea"/>
                <a:cs typeface="+mn-cs"/>
              </a:rPr>
              <a:t>For each of the points listed on the slide trainer asks students how these may impact on the policies and procedures of a venue.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4371703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factors which cause variation in venue-specific escort and carry policies and procedures:</a:t>
            </a:r>
          </a:p>
          <a:p>
            <a:pPr>
              <a:buFont typeface="Arial" pitchFamily="34" charset="0"/>
              <a:buChar char="•"/>
            </a:pPr>
            <a:r>
              <a:rPr lang="en-AU" sz="1200" kern="1200" dirty="0" smtClean="0">
                <a:solidFill>
                  <a:schemeClr val="tx1"/>
                </a:solidFill>
                <a:latin typeface="+mn-lt"/>
                <a:ea typeface="+mn-ea"/>
                <a:cs typeface="+mn-cs"/>
              </a:rPr>
              <a:t> Contractual obligations and promises made to guests or clients/users of the venue</a:t>
            </a:r>
          </a:p>
          <a:p>
            <a:pPr>
              <a:buFont typeface="Arial" pitchFamily="34" charset="0"/>
              <a:buChar char="•"/>
            </a:pPr>
            <a:r>
              <a:rPr lang="en-AU" sz="1200" kern="1200" dirty="0" smtClean="0">
                <a:solidFill>
                  <a:schemeClr val="tx1"/>
                </a:solidFill>
                <a:latin typeface="+mn-lt"/>
                <a:ea typeface="+mn-ea"/>
                <a:cs typeface="+mn-cs"/>
              </a:rPr>
              <a:t> Type and amount of insurance coverage</a:t>
            </a:r>
          </a:p>
          <a:p>
            <a:pPr>
              <a:buFont typeface="Arial" pitchFamily="34" charset="0"/>
              <a:buChar char="•"/>
            </a:pPr>
            <a:r>
              <a:rPr lang="en-AU" sz="1200" kern="1200" dirty="0" smtClean="0">
                <a:solidFill>
                  <a:schemeClr val="tx1"/>
                </a:solidFill>
                <a:latin typeface="+mn-lt"/>
                <a:ea typeface="+mn-ea"/>
                <a:cs typeface="+mn-cs"/>
              </a:rPr>
              <a:t> Requirements imposed by insurance policies.</a:t>
            </a:r>
          </a:p>
          <a:p>
            <a:pPr>
              <a:buFont typeface="Arial" pitchFamily="34" charset="0"/>
              <a:buNone/>
            </a:pPr>
            <a:endParaRPr lang="en-AU" noProof="0" dirty="0" smtClean="0"/>
          </a:p>
          <a:p>
            <a:pPr>
              <a:buFont typeface="Arial" pitchFamily="34" charset="0"/>
              <a:buNone/>
            </a:pPr>
            <a:r>
              <a:rPr lang="en-AU" sz="1200" b="1" kern="1200" noProof="0" dirty="0" smtClean="0">
                <a:solidFill>
                  <a:schemeClr val="tx1"/>
                </a:solidFill>
                <a:latin typeface="+mn-lt"/>
                <a:ea typeface="+mn-ea"/>
                <a:cs typeface="+mn-cs"/>
              </a:rPr>
              <a:t>Class Activity – Discussion</a:t>
            </a:r>
          </a:p>
          <a:p>
            <a:pPr>
              <a:buFont typeface="Arial" pitchFamily="34" charset="0"/>
              <a:buNone/>
            </a:pPr>
            <a:r>
              <a:rPr lang="en-AU" sz="1200" b="0" kern="1200" noProof="0" dirty="0" smtClean="0">
                <a:solidFill>
                  <a:schemeClr val="tx1"/>
                </a:solidFill>
                <a:latin typeface="+mn-lt"/>
                <a:ea typeface="+mn-ea"/>
                <a:cs typeface="+mn-cs"/>
              </a:rPr>
              <a:t>For each of the points listed on the slide trainer asks students how these may impact on the policies and procedures of a venue.</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7609917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examples of venue policies and SOPs:</a:t>
            </a:r>
          </a:p>
          <a:p>
            <a:pPr>
              <a:buFont typeface="Arial" pitchFamily="34" charset="0"/>
              <a:buChar char="•"/>
            </a:pPr>
            <a:r>
              <a:rPr lang="en-AU" sz="1200" kern="1200" dirty="0" smtClean="0">
                <a:solidFill>
                  <a:schemeClr val="tx1"/>
                </a:solidFill>
                <a:latin typeface="+mn-lt"/>
                <a:ea typeface="+mn-ea"/>
                <a:cs typeface="+mn-cs"/>
              </a:rPr>
              <a:t> Limiting carriage and escorting to nominated staff.</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may be:</a:t>
            </a:r>
          </a:p>
          <a:p>
            <a:pPr lvl="1">
              <a:buFont typeface="Arial" pitchFamily="34" charset="0"/>
              <a:buChar char="•"/>
            </a:pPr>
            <a:r>
              <a:rPr lang="en-US" sz="1200" kern="1200" dirty="0" smtClean="0">
                <a:solidFill>
                  <a:schemeClr val="tx1"/>
                </a:solidFill>
                <a:latin typeface="+mn-lt"/>
                <a:ea typeface="+mn-ea"/>
                <a:cs typeface="+mn-cs"/>
              </a:rPr>
              <a:t> Internal staff identified by name and/or job position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Staff with designated training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Allocating a specified number of staff to undertake given tasks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Identifying scope of authority for staff which: </a:t>
            </a:r>
          </a:p>
          <a:p>
            <a:pPr lvl="1">
              <a:buFont typeface="Arial" pitchFamily="34" charset="0"/>
              <a:buChar char="•"/>
            </a:pPr>
            <a:r>
              <a:rPr lang="en-US" sz="1200" kern="1200" dirty="0" smtClean="0">
                <a:solidFill>
                  <a:schemeClr val="tx1"/>
                </a:solidFill>
                <a:latin typeface="+mn-lt"/>
                <a:ea typeface="+mn-ea"/>
                <a:cs typeface="+mn-cs"/>
              </a:rPr>
              <a:t> Identifies situations in which they are authorized to make decisions and take action without referring to anyone else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Defines the limits of scopes of authority such as,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 prescribing actions they are not allowed/authorized to take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Performing risk management activities in preparation for a job which will identify specific venue requirements and activities to follow in order to implement the standard risk management protocols of:</a:t>
            </a:r>
          </a:p>
          <a:p>
            <a:pPr lvl="1">
              <a:buFont typeface="Arial" pitchFamily="34" charset="0"/>
              <a:buChar char="•"/>
            </a:pPr>
            <a:r>
              <a:rPr lang="en-US" sz="1200" kern="1200" dirty="0" smtClean="0">
                <a:solidFill>
                  <a:schemeClr val="tx1"/>
                </a:solidFill>
                <a:latin typeface="+mn-lt"/>
                <a:ea typeface="+mn-ea"/>
                <a:cs typeface="+mn-cs"/>
              </a:rPr>
              <a:t> Risk identification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Risk assessment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Risk control</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a:t>
            </a:r>
            <a:r>
              <a:rPr lang="en-AU" b="0" baseline="0" noProof="0" dirty="0" smtClean="0"/>
              <a:t> for suitable person to attend and:</a:t>
            </a:r>
          </a:p>
          <a:p>
            <a:pPr>
              <a:buFont typeface="Arial" pitchFamily="34" charset="0"/>
              <a:buChar char="•"/>
            </a:pPr>
            <a:r>
              <a:rPr lang="en-AU" b="0" baseline="0" noProof="0" dirty="0" smtClean="0"/>
              <a:t> Talk to students about topics listed in slide</a:t>
            </a:r>
          </a:p>
          <a:p>
            <a:pPr>
              <a:buFont typeface="Arial" pitchFamily="34" charset="0"/>
              <a:buChar char="•"/>
            </a:pPr>
            <a:r>
              <a:rPr lang="en-AU" b="0" baseline="0" noProof="0" dirty="0" smtClean="0"/>
              <a:t> Give rationale for policies and procedures</a:t>
            </a:r>
          </a:p>
          <a:p>
            <a:pPr>
              <a:buFont typeface="Arial" pitchFamily="34" charset="0"/>
              <a:buChar char="•"/>
            </a:pPr>
            <a:r>
              <a:rPr lang="en-AU" b="0" baseline="0" noProof="0" dirty="0" smtClean="0"/>
              <a:t> Provide sample policies and procedures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9957266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examples of venue policies and SOPs:</a:t>
            </a:r>
          </a:p>
          <a:p>
            <a:pPr>
              <a:buFont typeface="Arial" pitchFamily="34" charset="0"/>
              <a:buChar char="•"/>
            </a:pPr>
            <a:r>
              <a:rPr lang="en-AU" sz="1200" kern="1200" dirty="0" smtClean="0">
                <a:solidFill>
                  <a:schemeClr val="tx1"/>
                </a:solidFill>
                <a:latin typeface="+mn-lt"/>
                <a:ea typeface="+mn-ea"/>
                <a:cs typeface="+mn-cs"/>
              </a:rPr>
              <a:t> Defining action to be taken in the case of a security threat or breach occurring which will traditionally make reference to:</a:t>
            </a:r>
          </a:p>
          <a:p>
            <a:pPr lvl="1">
              <a:buFont typeface="Arial" pitchFamily="34" charset="0"/>
              <a:buChar char="•"/>
            </a:pPr>
            <a:r>
              <a:rPr lang="en-US" sz="1200" kern="1200" dirty="0" smtClean="0">
                <a:solidFill>
                  <a:schemeClr val="tx1"/>
                </a:solidFill>
                <a:latin typeface="+mn-lt"/>
                <a:ea typeface="+mn-ea"/>
                <a:cs typeface="+mn-cs"/>
              </a:rPr>
              <a:t> Need for immediate notification of the event – internally, which will (according to established SOPs) trigger external notification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Identification of ways/options for notification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Authorized response options to threat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Implementation of venue-wide (or area-specific) Emergency Management Plans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Placing the safety of persons above the security of physical items/valuable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resistance level,</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if any,</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 staff are expected to provide in the event of an attack</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Prescribing or otherwise providing direction in relation to a wide variety of issues commonly involving:</a:t>
            </a:r>
          </a:p>
          <a:p>
            <a:pPr lvl="1">
              <a:buFont typeface="Arial" pitchFamily="34" charset="0"/>
              <a:buChar char="•"/>
            </a:pPr>
            <a:r>
              <a:rPr lang="en-US" sz="1200" kern="1200" dirty="0" smtClean="0">
                <a:solidFill>
                  <a:schemeClr val="tx1"/>
                </a:solidFill>
                <a:latin typeface="+mn-lt"/>
                <a:ea typeface="+mn-ea"/>
                <a:cs typeface="+mn-cs"/>
              </a:rPr>
              <a:t> Minimum number of staff required for standard/regular tasks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Equipment (including vehicles) to be used when escorting and carrying valuable items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Times when valuable items may be carried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Identification of primary routes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Notification to be made to internal staff, management or external security companies or authorities prior to embarking on a carry/escort job</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Documentation required: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Prior to beginning a job which will authorize the work and provide plans on execution of the task; To be competed by the guest/client as part of the job, on completion of the job, when items are entered into safe-keeping, if an incident occurs during the job</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Identification of goods/items which are not to be carried.</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here is always a ban on working with anything which is illegal, and often a ban 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Carrying live animals,</a:t>
            </a:r>
            <a:r>
              <a:rPr lang="en-US" sz="1200" kern="1200" baseline="0" dirty="0" smtClean="0">
                <a:solidFill>
                  <a:schemeClr val="tx1"/>
                </a:solidFill>
                <a:latin typeface="+mn-lt"/>
                <a:ea typeface="+mn-ea"/>
                <a:cs typeface="+mn-cs"/>
              </a:rPr>
              <a:t> h</a:t>
            </a:r>
            <a:r>
              <a:rPr lang="en-US" sz="1200" kern="1200" dirty="0" smtClean="0">
                <a:solidFill>
                  <a:schemeClr val="tx1"/>
                </a:solidFill>
                <a:latin typeface="+mn-lt"/>
                <a:ea typeface="+mn-ea"/>
                <a:cs typeface="+mn-cs"/>
              </a:rPr>
              <a:t>andling hazardous substances, moving items over a given size and/or weight,</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ccepting perishable foods for storage.</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a:t>
            </a:r>
            <a:r>
              <a:rPr lang="en-AU" b="0" baseline="0" noProof="0" dirty="0" smtClean="0"/>
              <a:t> for suitable person to attend and:</a:t>
            </a:r>
          </a:p>
          <a:p>
            <a:pPr>
              <a:buFont typeface="Arial" pitchFamily="34" charset="0"/>
              <a:buChar char="•"/>
            </a:pPr>
            <a:r>
              <a:rPr lang="en-AU" b="0" baseline="0" noProof="0" dirty="0" smtClean="0"/>
              <a:t> Talk to students about topics listed in slide</a:t>
            </a:r>
          </a:p>
          <a:p>
            <a:pPr>
              <a:buFont typeface="Arial" pitchFamily="34" charset="0"/>
              <a:buChar char="•"/>
            </a:pPr>
            <a:r>
              <a:rPr lang="en-AU" b="0" baseline="0" noProof="0" dirty="0" smtClean="0"/>
              <a:t> Give rationale for policies and procedures</a:t>
            </a:r>
          </a:p>
          <a:p>
            <a:pPr>
              <a:buFont typeface="Arial" pitchFamily="34" charset="0"/>
              <a:buChar char="•"/>
            </a:pPr>
            <a:r>
              <a:rPr lang="en-AU" b="0" baseline="0" noProof="0" dirty="0" smtClean="0"/>
              <a:t> Provide sample policies and procedures</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28853043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potential threats can be identified by using a combination of the following:</a:t>
            </a:r>
          </a:p>
          <a:p>
            <a:pPr>
              <a:buFont typeface="Arial" pitchFamily="34" charset="0"/>
              <a:buChar char="•"/>
            </a:pPr>
            <a:r>
              <a:rPr lang="en-AU" sz="1200" kern="1200" dirty="0" smtClean="0">
                <a:solidFill>
                  <a:schemeClr val="tx1"/>
                </a:solidFill>
                <a:latin typeface="+mn-lt"/>
                <a:ea typeface="+mn-ea"/>
                <a:cs typeface="+mn-cs"/>
              </a:rPr>
              <a:t> Encouraging staff to report any suspicious persons they have seen or comments they have overheard</a:t>
            </a:r>
          </a:p>
          <a:p>
            <a:pPr>
              <a:buFont typeface="Arial" pitchFamily="34" charset="0"/>
              <a:buChar char="•"/>
            </a:pPr>
            <a:r>
              <a:rPr lang="en-AU" sz="1200" kern="1200" dirty="0" smtClean="0">
                <a:solidFill>
                  <a:schemeClr val="tx1"/>
                </a:solidFill>
                <a:latin typeface="+mn-lt"/>
                <a:ea typeface="+mn-ea"/>
                <a:cs typeface="+mn-cs"/>
              </a:rPr>
              <a:t> Making security a regular topic at all staff meetings and briefings</a:t>
            </a:r>
          </a:p>
          <a:p>
            <a:pPr>
              <a:buFont typeface="Arial" pitchFamily="34" charset="0"/>
              <a:buChar char="•"/>
            </a:pPr>
            <a:r>
              <a:rPr lang="en-AU" sz="1200" kern="1200" dirty="0" smtClean="0">
                <a:solidFill>
                  <a:schemeClr val="tx1"/>
                </a:solidFill>
                <a:latin typeface="+mn-lt"/>
                <a:ea typeface="+mn-ea"/>
                <a:cs typeface="+mn-cs"/>
              </a:rPr>
              <a:t> Talking to other security staff about:</a:t>
            </a:r>
          </a:p>
          <a:p>
            <a:pPr lvl="1">
              <a:buFont typeface="Arial" pitchFamily="34" charset="0"/>
              <a:buChar char="•"/>
            </a:pPr>
            <a:r>
              <a:rPr lang="en-AU" sz="1200" kern="1200" dirty="0" smtClean="0">
                <a:solidFill>
                  <a:schemeClr val="tx1"/>
                </a:solidFill>
                <a:latin typeface="+mn-lt"/>
                <a:ea typeface="+mn-ea"/>
                <a:cs typeface="+mn-cs"/>
              </a:rPr>
              <a:t> What they regard as threats and how they determine whether or not a threat exists</a:t>
            </a:r>
          </a:p>
          <a:p>
            <a:pPr lvl="1">
              <a:buFont typeface="Arial" pitchFamily="34" charset="0"/>
              <a:buChar char="•"/>
            </a:pPr>
            <a:r>
              <a:rPr lang="en-AU" sz="1200" kern="1200" dirty="0" smtClean="0">
                <a:solidFill>
                  <a:schemeClr val="tx1"/>
                </a:solidFill>
                <a:latin typeface="+mn-lt"/>
                <a:ea typeface="+mn-ea"/>
                <a:cs typeface="+mn-cs"/>
              </a:rPr>
              <a:t> Their personal experience with threats – what happened, who was involved, when and where it took place,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what the responses were</a:t>
            </a:r>
          </a:p>
          <a:p>
            <a:pPr>
              <a:buFont typeface="Arial" pitchFamily="34" charset="0"/>
              <a:buChar char="•"/>
            </a:pPr>
            <a:r>
              <a:rPr lang="en-AU" sz="1200" kern="1200" dirty="0" smtClean="0">
                <a:solidFill>
                  <a:schemeClr val="tx1"/>
                </a:solidFill>
                <a:latin typeface="+mn-lt"/>
                <a:ea typeface="+mn-ea"/>
                <a:cs typeface="+mn-cs"/>
              </a:rPr>
              <a:t> Talking to customers, guests and clients who have indicated a need for special carriage, escort and storage.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hey often have experience they can share with you which provides a new or better insight into a particular security activity.</a:t>
            </a:r>
          </a:p>
          <a:p>
            <a:pPr lvl="1">
              <a:buFont typeface="Arial" pitchFamily="34" charset="0"/>
              <a:buChar char="•"/>
            </a:pPr>
            <a:r>
              <a:rPr lang="en-AU" sz="1200" kern="1200" dirty="0" smtClean="0">
                <a:solidFill>
                  <a:schemeClr val="tx1"/>
                </a:solidFill>
                <a:latin typeface="+mn-lt"/>
                <a:ea typeface="+mn-ea"/>
                <a:cs typeface="+mn-cs"/>
              </a:rPr>
              <a:t> Their input can be extremely useful and valid as they see things through their eyes (as the </a:t>
            </a:r>
            <a:r>
              <a:rPr lang="en-AU" sz="1200" i="1" kern="1200" dirty="0" smtClean="0">
                <a:solidFill>
                  <a:schemeClr val="tx1"/>
                </a:solidFill>
                <a:latin typeface="+mn-lt"/>
                <a:ea typeface="+mn-ea"/>
                <a:cs typeface="+mn-cs"/>
              </a:rPr>
              <a:t>recipients</a:t>
            </a:r>
            <a:r>
              <a:rPr lang="en-AU" sz="1200" kern="1200" dirty="0" smtClean="0">
                <a:solidFill>
                  <a:schemeClr val="tx1"/>
                </a:solidFill>
                <a:latin typeface="+mn-lt"/>
                <a:ea typeface="+mn-ea"/>
                <a:cs typeface="+mn-cs"/>
              </a:rPr>
              <a:t> of the service provided) rather than as the service provider.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9731630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potential threats can be identified by using a combination of the following:</a:t>
            </a:r>
          </a:p>
          <a:p>
            <a:pPr>
              <a:buFont typeface="Arial" pitchFamily="34" charset="0"/>
              <a:buChar char="•"/>
            </a:pPr>
            <a:r>
              <a:rPr lang="en-AU" sz="1200" kern="1200" dirty="0" smtClean="0">
                <a:solidFill>
                  <a:schemeClr val="tx1"/>
                </a:solidFill>
                <a:latin typeface="+mn-lt"/>
                <a:ea typeface="+mn-ea"/>
                <a:cs typeface="+mn-cs"/>
              </a:rPr>
              <a:t> Reading through venue-specific Incident Reports, Patrol Logs and Response Registers which provide information and insight into security issues within the venue</a:t>
            </a:r>
          </a:p>
          <a:p>
            <a:pPr>
              <a:buFont typeface="Arial" pitchFamily="34" charset="0"/>
              <a:buChar char="•"/>
            </a:pPr>
            <a:r>
              <a:rPr lang="en-AU" sz="1200" kern="1200" dirty="0" smtClean="0">
                <a:solidFill>
                  <a:schemeClr val="tx1"/>
                </a:solidFill>
                <a:latin typeface="+mn-lt"/>
                <a:ea typeface="+mn-ea"/>
                <a:cs typeface="+mn-cs"/>
              </a:rPr>
              <a:t> Liaising with local authorities and police to find out what they know about current and emerging threats</a:t>
            </a:r>
          </a:p>
          <a:p>
            <a:pPr>
              <a:buFont typeface="Arial" pitchFamily="34" charset="0"/>
              <a:buChar char="•"/>
            </a:pPr>
            <a:r>
              <a:rPr lang="en-AU" sz="1200" kern="1200" dirty="0" smtClean="0">
                <a:solidFill>
                  <a:schemeClr val="tx1"/>
                </a:solidFill>
                <a:latin typeface="+mn-lt"/>
                <a:ea typeface="+mn-ea"/>
                <a:cs typeface="+mn-cs"/>
              </a:rPr>
              <a:t> Conducting interviews with guests and others who use the venue to ask them what they think are threats which need to be taken into account</a:t>
            </a:r>
          </a:p>
          <a:p>
            <a:pPr>
              <a:buFont typeface="Arial" pitchFamily="34" charset="0"/>
              <a:buChar char="•"/>
            </a:pPr>
            <a:r>
              <a:rPr lang="en-AU" sz="1200" kern="1200" dirty="0" smtClean="0">
                <a:solidFill>
                  <a:schemeClr val="tx1"/>
                </a:solidFill>
                <a:latin typeface="+mn-lt"/>
                <a:ea typeface="+mn-ea"/>
                <a:cs typeface="+mn-cs"/>
              </a:rPr>
              <a:t> Establishing cooperative communication and exchange of information between your venue and other local hospitality venues to encourage and facilitate the sharing of security-related information, events and intelligence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6939626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potential threats can be identified by using a combination of the following:</a:t>
            </a:r>
          </a:p>
          <a:p>
            <a:pPr>
              <a:buFont typeface="Arial" pitchFamily="34" charset="0"/>
              <a:buChar char="•"/>
            </a:pPr>
            <a:r>
              <a:rPr lang="en-AU" sz="1200" kern="1200" dirty="0" smtClean="0">
                <a:solidFill>
                  <a:schemeClr val="tx1"/>
                </a:solidFill>
                <a:latin typeface="+mn-lt"/>
                <a:ea typeface="+mn-ea"/>
                <a:cs typeface="+mn-cs"/>
              </a:rPr>
              <a:t> Undertaking regular (weekly or monthly) workplace inspections (these are actual ‘walk-throughs’ of areas, routes, departments, internal and external locations) to view and review:</a:t>
            </a:r>
          </a:p>
          <a:p>
            <a:pPr lvl="1">
              <a:buFont typeface="Arial" pitchFamily="34" charset="0"/>
              <a:buChar char="•"/>
            </a:pPr>
            <a:r>
              <a:rPr lang="en-AU" sz="1200" kern="1200" dirty="0" smtClean="0">
                <a:solidFill>
                  <a:schemeClr val="tx1"/>
                </a:solidFill>
                <a:latin typeface="+mn-lt"/>
                <a:ea typeface="+mn-ea"/>
                <a:cs typeface="+mn-cs"/>
              </a:rPr>
              <a:t> The venue and identify physical changes to the venue which will impact on movement of valuable items</a:t>
            </a:r>
          </a:p>
          <a:p>
            <a:pPr lvl="1">
              <a:buFont typeface="Arial" pitchFamily="34" charset="0"/>
              <a:buChar char="•"/>
            </a:pPr>
            <a:r>
              <a:rPr lang="en-AU" sz="1200" kern="1200" dirty="0" smtClean="0">
                <a:solidFill>
                  <a:schemeClr val="tx1"/>
                </a:solidFill>
                <a:latin typeface="+mn-lt"/>
                <a:ea typeface="+mn-ea"/>
                <a:cs typeface="+mn-cs"/>
              </a:rPr>
              <a:t> Near-by changes which may/will impact on established secure movement protocols such as changes to traffic flow, alterations to adjacent structures</a:t>
            </a:r>
          </a:p>
          <a:p>
            <a:pPr lvl="1">
              <a:buFont typeface="Arial" pitchFamily="34" charset="0"/>
              <a:buChar char="•"/>
            </a:pPr>
            <a:r>
              <a:rPr lang="en-AU" sz="1200" kern="1200" dirty="0" smtClean="0">
                <a:solidFill>
                  <a:schemeClr val="tx1"/>
                </a:solidFill>
                <a:latin typeface="+mn-lt"/>
                <a:ea typeface="+mn-ea"/>
                <a:cs typeface="+mn-cs"/>
              </a:rPr>
              <a:t> The routes to be taken to and from locations where movement of valuables can be expected such as routes to and from the bank/s used by the venue, staff and guest car parks, administration offices </a:t>
            </a:r>
          </a:p>
          <a:p>
            <a:pPr lvl="1">
              <a:buFont typeface="Arial" pitchFamily="34" charset="0"/>
              <a:buChar char="•"/>
            </a:pPr>
            <a:r>
              <a:rPr lang="en-AU" sz="1200" kern="1200" dirty="0" smtClean="0">
                <a:solidFill>
                  <a:schemeClr val="tx1"/>
                </a:solidFill>
                <a:latin typeface="+mn-lt"/>
                <a:ea typeface="+mn-ea"/>
                <a:cs typeface="+mn-cs"/>
              </a:rPr>
              <a:t> Confirm existing plans and SOPs still align with current workplace layout, facilities, ingress and egress points, security systems and networks</a:t>
            </a:r>
          </a:p>
          <a:p>
            <a:pPr>
              <a:buFont typeface="Arial" pitchFamily="34" charset="0"/>
              <a:buChar char="•"/>
            </a:pPr>
            <a:r>
              <a:rPr lang="en-AU" sz="1200" kern="1200" dirty="0" smtClean="0">
                <a:solidFill>
                  <a:schemeClr val="tx1"/>
                </a:solidFill>
                <a:latin typeface="+mn-lt"/>
                <a:ea typeface="+mn-ea"/>
                <a:cs typeface="+mn-cs"/>
              </a:rPr>
              <a:t> Participating in regular security conventions and seminars where you can become aware of latest trends and activities detected or experienced by other industry operators</a:t>
            </a:r>
          </a:p>
          <a:p>
            <a:pPr>
              <a:buFont typeface="Arial" pitchFamily="34" charset="0"/>
              <a:buChar char="•"/>
            </a:pPr>
            <a:r>
              <a:rPr lang="en-AU" sz="1200" kern="1200" dirty="0" smtClean="0">
                <a:solidFill>
                  <a:schemeClr val="tx1"/>
                </a:solidFill>
                <a:latin typeface="+mn-lt"/>
                <a:ea typeface="+mn-ea"/>
                <a:cs typeface="+mn-cs"/>
              </a:rPr>
              <a:t> Monitoring the media to keep informed about what has happened locally in terms of security breaches, attacks and other relevant threats.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8381225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the </a:t>
            </a:r>
            <a:r>
              <a:rPr lang="en-AU" sz="1200" kern="1200" dirty="0" smtClean="0">
                <a:solidFill>
                  <a:schemeClr val="tx1"/>
                </a:solidFill>
                <a:latin typeface="+mn-lt"/>
                <a:ea typeface="+mn-ea"/>
                <a:cs typeface="+mn-cs"/>
              </a:rPr>
              <a:t>basic types of </a:t>
            </a:r>
            <a:r>
              <a:rPr lang="en-AU" sz="1200" i="1" kern="1200" dirty="0" smtClean="0">
                <a:solidFill>
                  <a:schemeClr val="tx1"/>
                </a:solidFill>
                <a:latin typeface="+mn-lt"/>
                <a:ea typeface="+mn-ea"/>
                <a:cs typeface="+mn-cs"/>
              </a:rPr>
              <a:t>physical</a:t>
            </a:r>
            <a:r>
              <a:rPr lang="en-AU" sz="1200" kern="1200" dirty="0" smtClean="0">
                <a:solidFill>
                  <a:schemeClr val="tx1"/>
                </a:solidFill>
                <a:latin typeface="+mn-lt"/>
                <a:ea typeface="+mn-ea"/>
                <a:cs typeface="+mn-cs"/>
              </a:rPr>
              <a:t> threats which exist when moving valuables within, or to and from, the venue are:</a:t>
            </a:r>
          </a:p>
          <a:p>
            <a:pPr>
              <a:buFont typeface="Arial" pitchFamily="34" charset="0"/>
              <a:buChar char="•"/>
            </a:pPr>
            <a:r>
              <a:rPr lang="en-AU" sz="1200" kern="1200" dirty="0" smtClean="0">
                <a:solidFill>
                  <a:schemeClr val="tx1"/>
                </a:solidFill>
                <a:latin typeface="+mn-lt"/>
                <a:ea typeface="+mn-ea"/>
                <a:cs typeface="+mn-cs"/>
              </a:rPr>
              <a:t> Theft – where someone tries to steal the valuable being moved</a:t>
            </a:r>
          </a:p>
          <a:p>
            <a:pPr>
              <a:buFont typeface="Arial" pitchFamily="34" charset="0"/>
              <a:buChar char="•"/>
            </a:pPr>
            <a:r>
              <a:rPr lang="en-AU" sz="1200" kern="1200" dirty="0" smtClean="0">
                <a:solidFill>
                  <a:schemeClr val="tx1"/>
                </a:solidFill>
                <a:latin typeface="+mn-lt"/>
                <a:ea typeface="+mn-ea"/>
                <a:cs typeface="+mn-cs"/>
              </a:rPr>
              <a:t> Assault – where offenders physically attack those involved in the movement of items in order to obtain the goods.</a:t>
            </a:r>
          </a:p>
          <a:p>
            <a:pPr lvl="1">
              <a:buFont typeface="Arial" pitchFamily="34" charset="0"/>
              <a:buChar char="•"/>
            </a:pPr>
            <a:r>
              <a:rPr lang="en-AU" sz="1200" kern="1200" dirty="0" smtClean="0">
                <a:solidFill>
                  <a:schemeClr val="tx1"/>
                </a:solidFill>
                <a:latin typeface="+mn-lt"/>
                <a:ea typeface="+mn-ea"/>
                <a:cs typeface="+mn-cs"/>
              </a:rPr>
              <a:t> The attack may involve fists, feet or weapons as well as chemicals (sprays and acid).</a:t>
            </a:r>
          </a:p>
          <a:p>
            <a:pPr>
              <a:buFont typeface="Arial" pitchFamily="34" charset="0"/>
              <a:buChar char="•"/>
            </a:pPr>
            <a:r>
              <a:rPr lang="en-AU" sz="1200" kern="1200" dirty="0" smtClean="0">
                <a:solidFill>
                  <a:schemeClr val="tx1"/>
                </a:solidFill>
                <a:latin typeface="+mn-lt"/>
                <a:ea typeface="+mn-ea"/>
                <a:cs typeface="+mn-cs"/>
              </a:rPr>
              <a:t> Vehicle accident – when engaged in escorting valuable to and from the 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5349031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additional threats/intimidation may include:</a:t>
            </a:r>
          </a:p>
          <a:p>
            <a:pPr>
              <a:buFont typeface="Arial" pitchFamily="34" charset="0"/>
              <a:buChar char="•"/>
            </a:pPr>
            <a:r>
              <a:rPr lang="en-AU" sz="1200" kern="1200" dirty="0" smtClean="0">
                <a:solidFill>
                  <a:schemeClr val="tx1"/>
                </a:solidFill>
                <a:latin typeface="+mn-lt"/>
                <a:ea typeface="+mn-ea"/>
                <a:cs typeface="+mn-cs"/>
              </a:rPr>
              <a:t> Verbal threats of violence against staff and/or their families, such as:</a:t>
            </a:r>
          </a:p>
          <a:p>
            <a:pPr>
              <a:buFont typeface="Arial" pitchFamily="34" charset="0"/>
              <a:buChar char="•"/>
            </a:pPr>
            <a:r>
              <a:rPr lang="en-AU" sz="1200" kern="1200" dirty="0" smtClean="0">
                <a:solidFill>
                  <a:schemeClr val="tx1"/>
                </a:solidFill>
                <a:latin typeface="+mn-lt"/>
                <a:ea typeface="+mn-ea"/>
                <a:cs typeface="+mn-cs"/>
              </a:rPr>
              <a:t> Threats to return and attack people</a:t>
            </a:r>
          </a:p>
          <a:p>
            <a:pPr>
              <a:buFont typeface="Arial" pitchFamily="34" charset="0"/>
              <a:buChar char="•"/>
            </a:pPr>
            <a:r>
              <a:rPr lang="en-AU" sz="1200" kern="1200" dirty="0" smtClean="0">
                <a:solidFill>
                  <a:schemeClr val="tx1"/>
                </a:solidFill>
                <a:latin typeface="+mn-lt"/>
                <a:ea typeface="+mn-ea"/>
                <a:cs typeface="+mn-cs"/>
              </a:rPr>
              <a:t> Advising staff they know where they live and will attack them there</a:t>
            </a:r>
          </a:p>
          <a:p>
            <a:pPr>
              <a:buFont typeface="Arial" pitchFamily="34" charset="0"/>
              <a:buChar char="•"/>
            </a:pPr>
            <a:r>
              <a:rPr lang="en-AU" sz="1200" kern="1200" dirty="0" smtClean="0">
                <a:solidFill>
                  <a:schemeClr val="tx1"/>
                </a:solidFill>
                <a:latin typeface="+mn-lt"/>
                <a:ea typeface="+mn-ea"/>
                <a:cs typeface="+mn-cs"/>
              </a:rPr>
              <a:t> Telling staff they know which car they drive and will burn, damage or steal it</a:t>
            </a:r>
          </a:p>
          <a:p>
            <a:pPr>
              <a:buFont typeface="Arial" pitchFamily="34" charset="0"/>
              <a:buChar char="•"/>
            </a:pPr>
            <a:r>
              <a:rPr lang="en-AU" sz="1200" kern="1200" dirty="0" smtClean="0">
                <a:solidFill>
                  <a:schemeClr val="tx1"/>
                </a:solidFill>
                <a:latin typeface="+mn-lt"/>
                <a:ea typeface="+mn-ea"/>
                <a:cs typeface="+mn-cs"/>
              </a:rPr>
              <a:t> Threats to kill</a:t>
            </a:r>
          </a:p>
          <a:p>
            <a:pPr>
              <a:buFont typeface="Arial" pitchFamily="34" charset="0"/>
              <a:buChar char="•"/>
            </a:pPr>
            <a:r>
              <a:rPr lang="en-AU" sz="1200" kern="1200" dirty="0" smtClean="0">
                <a:solidFill>
                  <a:schemeClr val="tx1"/>
                </a:solidFill>
                <a:latin typeface="+mn-lt"/>
                <a:ea typeface="+mn-ea"/>
                <a:cs typeface="+mn-cs"/>
              </a:rPr>
              <a:t> Revenge attacks if the incident is reported to management or the authorities</a:t>
            </a:r>
          </a:p>
          <a:p>
            <a:pPr>
              <a:buFont typeface="Arial" pitchFamily="34" charset="0"/>
              <a:buChar char="•"/>
            </a:pPr>
            <a:r>
              <a:rPr lang="en-AU" sz="1200" kern="1200" dirty="0" smtClean="0">
                <a:solidFill>
                  <a:schemeClr val="tx1"/>
                </a:solidFill>
                <a:latin typeface="+mn-lt"/>
                <a:ea typeface="+mn-ea"/>
                <a:cs typeface="+mn-cs"/>
              </a:rPr>
              <a:t> Reprisals if staff cooperate with authorities leading to the apprehension of the offender</a:t>
            </a:r>
          </a:p>
          <a:p>
            <a:pPr>
              <a:buFont typeface="Arial" pitchFamily="34" charset="0"/>
              <a:buChar char="•"/>
            </a:pPr>
            <a:r>
              <a:rPr lang="en-AU" sz="1200" kern="1200" dirty="0" smtClean="0">
                <a:solidFill>
                  <a:schemeClr val="tx1"/>
                </a:solidFill>
                <a:latin typeface="+mn-lt"/>
                <a:ea typeface="+mn-ea"/>
                <a:cs typeface="+mn-cs"/>
              </a:rPr>
              <a:t> Promises to burn down or damage the venue.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8347658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identifies resources which may be used when escorting and carrying:</a:t>
            </a:r>
          </a:p>
          <a:p>
            <a:pPr>
              <a:buFont typeface="Arial" pitchFamily="34" charset="0"/>
              <a:buNone/>
            </a:pPr>
            <a:r>
              <a:rPr lang="en-AU" b="1" noProof="0" dirty="0" smtClean="0"/>
              <a:t>Vehicles</a:t>
            </a:r>
          </a:p>
          <a:p>
            <a:pPr>
              <a:buFont typeface="Arial" pitchFamily="34" charset="0"/>
              <a:buChar char="•"/>
            </a:pPr>
            <a:r>
              <a:rPr lang="en-AU" sz="1200" kern="1200" dirty="0" smtClean="0">
                <a:solidFill>
                  <a:schemeClr val="tx1"/>
                </a:solidFill>
                <a:latin typeface="+mn-lt"/>
                <a:ea typeface="+mn-ea"/>
                <a:cs typeface="+mn-cs"/>
              </a:rPr>
              <a:t> They are either high-profile or covert meaning they will:</a:t>
            </a:r>
          </a:p>
          <a:p>
            <a:pPr lvl="1">
              <a:buFont typeface="Arial" pitchFamily="34" charset="0"/>
              <a:buChar char="•"/>
            </a:pPr>
            <a:r>
              <a:rPr lang="en-US" sz="1200" kern="1200" dirty="0" smtClean="0">
                <a:solidFill>
                  <a:schemeClr val="tx1"/>
                </a:solidFill>
                <a:latin typeface="+mn-lt"/>
                <a:ea typeface="+mn-ea"/>
                <a:cs typeface="+mn-cs"/>
              </a:rPr>
              <a:t> For high-profile vehicles: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Feature obvious vehicle signage stating where the vehicle is from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Have ‘security’ written on the vehicle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Be equipped with flashing lights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Be staffed by armed and uniformed guards who may wear body armour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For covert vehicles: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Feature no identifying marks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Strive to be unremarkable and go unnoticed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Be staffed by workers in civilian clothes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They may be worked up as security vehicles – meaning they may feature:</a:t>
            </a:r>
          </a:p>
          <a:p>
            <a:pPr lvl="1">
              <a:buFont typeface="Arial" pitchFamily="34" charset="0"/>
              <a:buChar char="•"/>
            </a:pPr>
            <a:r>
              <a:rPr lang="en-AU" sz="1200" kern="1200" dirty="0" smtClean="0">
                <a:solidFill>
                  <a:schemeClr val="tx1"/>
                </a:solidFill>
                <a:latin typeface="+mn-lt"/>
                <a:ea typeface="+mn-ea"/>
                <a:cs typeface="+mn-cs"/>
              </a:rPr>
              <a:t> Bullet-proof glass</a:t>
            </a:r>
          </a:p>
          <a:p>
            <a:pPr lvl="1">
              <a:buFont typeface="Arial" pitchFamily="34" charset="0"/>
              <a:buChar char="•"/>
            </a:pPr>
            <a:r>
              <a:rPr lang="en-AU" sz="1200" kern="1200" dirty="0" smtClean="0">
                <a:solidFill>
                  <a:schemeClr val="tx1"/>
                </a:solidFill>
                <a:latin typeface="+mn-lt"/>
                <a:ea typeface="+mn-ea"/>
                <a:cs typeface="+mn-cs"/>
              </a:rPr>
              <a:t> Foam tyres which cannot be deflated</a:t>
            </a:r>
          </a:p>
          <a:p>
            <a:pPr lvl="1">
              <a:buFont typeface="Arial" pitchFamily="34" charset="0"/>
              <a:buChar char="•"/>
            </a:pPr>
            <a:r>
              <a:rPr lang="en-AU" sz="1200" kern="1200" dirty="0" smtClean="0">
                <a:solidFill>
                  <a:schemeClr val="tx1"/>
                </a:solidFill>
                <a:latin typeface="+mn-lt"/>
                <a:ea typeface="+mn-ea"/>
                <a:cs typeface="+mn-cs"/>
              </a:rPr>
              <a:t> Penetration protection</a:t>
            </a:r>
          </a:p>
          <a:p>
            <a:pPr lvl="1">
              <a:buFont typeface="Arial" pitchFamily="34" charset="0"/>
              <a:buChar char="•"/>
            </a:pPr>
            <a:r>
              <a:rPr lang="en-AU" sz="1200" kern="1200" dirty="0" smtClean="0">
                <a:solidFill>
                  <a:schemeClr val="tx1"/>
                </a:solidFill>
                <a:latin typeface="+mn-lt"/>
                <a:ea typeface="+mn-ea"/>
                <a:cs typeface="+mn-cs"/>
              </a:rPr>
              <a:t> Audible alarms for activation in the event of an attack</a:t>
            </a:r>
          </a:p>
          <a:p>
            <a:pPr>
              <a:buFont typeface="Arial" pitchFamily="34" charset="0"/>
              <a:buChar char="•"/>
            </a:pPr>
            <a:r>
              <a:rPr lang="en-AU" sz="1200" kern="1200" dirty="0" smtClean="0">
                <a:solidFill>
                  <a:schemeClr val="tx1"/>
                </a:solidFill>
                <a:latin typeface="+mn-lt"/>
                <a:ea typeface="+mn-ea"/>
                <a:cs typeface="+mn-cs"/>
              </a:rPr>
              <a:t> They are often driven by drivers with special defensive and offensive driver training</a:t>
            </a:r>
          </a:p>
          <a:p>
            <a:pPr>
              <a:buFont typeface="Arial" pitchFamily="34" charset="0"/>
              <a:buChar char="•"/>
            </a:pPr>
            <a:r>
              <a:rPr lang="en-AU" sz="1200" kern="1200" dirty="0" smtClean="0">
                <a:solidFill>
                  <a:schemeClr val="tx1"/>
                </a:solidFill>
                <a:latin typeface="+mn-lt"/>
                <a:ea typeface="+mn-ea"/>
                <a:cs typeface="+mn-cs"/>
              </a:rPr>
              <a:t> They will always contain a minimum of two communication options</a:t>
            </a:r>
          </a:p>
          <a:p>
            <a:pPr>
              <a:buFont typeface="Arial" pitchFamily="34" charset="0"/>
              <a:buChar char="•"/>
            </a:pPr>
            <a:r>
              <a:rPr lang="en-AU" sz="1200" kern="1200" dirty="0" smtClean="0">
                <a:solidFill>
                  <a:schemeClr val="tx1"/>
                </a:solidFill>
                <a:latin typeface="+mn-lt"/>
                <a:ea typeface="+mn-ea"/>
                <a:cs typeface="+mn-cs"/>
              </a:rPr>
              <a:t> They may be accompanied by a ‘shadow/chase car’ or a ‘lead/pilot car’ which scouts the road and advises of potential threats, and acts as support in the event of an incident</a:t>
            </a:r>
          </a:p>
          <a:p>
            <a:pPr>
              <a:buFont typeface="Arial" pitchFamily="34" charset="0"/>
              <a:buChar char="•"/>
            </a:pPr>
            <a:r>
              <a:rPr lang="en-AU" sz="1200" kern="1200" dirty="0" smtClean="0">
                <a:solidFill>
                  <a:schemeClr val="tx1"/>
                </a:solidFill>
                <a:latin typeface="+mn-lt"/>
                <a:ea typeface="+mn-ea"/>
                <a:cs typeface="+mn-cs"/>
              </a:rPr>
              <a:t> The vehicles may be changed on a regular basis to help disguise the movement of valuables</a:t>
            </a:r>
          </a:p>
          <a:p>
            <a:pPr>
              <a:buFont typeface="Arial" pitchFamily="34" charset="0"/>
              <a:buChar char="•"/>
            </a:pPr>
            <a:r>
              <a:rPr lang="en-AU" sz="1200" kern="1200" dirty="0" smtClean="0">
                <a:solidFill>
                  <a:schemeClr val="tx1"/>
                </a:solidFill>
                <a:latin typeface="+mn-lt"/>
                <a:ea typeface="+mn-ea"/>
                <a:cs typeface="+mn-cs"/>
              </a:rPr>
              <a:t> The route used by the vehicles should vary regularly to avoid predictability</a:t>
            </a:r>
          </a:p>
          <a:p>
            <a:pPr>
              <a:buFont typeface="Arial" pitchFamily="34" charset="0"/>
              <a:buChar char="•"/>
            </a:pPr>
            <a:r>
              <a:rPr lang="en-AU" sz="1200" kern="1200" dirty="0" smtClean="0">
                <a:solidFill>
                  <a:schemeClr val="tx1"/>
                </a:solidFill>
                <a:latin typeface="+mn-lt"/>
                <a:ea typeface="+mn-ea"/>
                <a:cs typeface="+mn-cs"/>
              </a:rPr>
              <a:t> The time each run is taken should also vary from day-to-day.</a:t>
            </a:r>
          </a:p>
          <a:p>
            <a:pPr>
              <a:buFont typeface="Arial" pitchFamily="34" charset="0"/>
              <a:buNone/>
            </a:pPr>
            <a:endParaRPr lang="en-AU" b="1" noProof="0" dirty="0" smtClean="0"/>
          </a:p>
          <a:p>
            <a:pPr>
              <a:buFont typeface="Arial" pitchFamily="34" charset="0"/>
              <a:buNone/>
            </a:pPr>
            <a:r>
              <a:rPr lang="en-AU" b="1" noProof="0" dirty="0" smtClean="0"/>
              <a:t>Class Activity – Excursion</a:t>
            </a:r>
          </a:p>
          <a:p>
            <a:pPr>
              <a:buFont typeface="Arial" pitchFamily="34" charset="0"/>
              <a:buNone/>
            </a:pPr>
            <a:r>
              <a:rPr lang="en-AU" b="0" noProof="0" dirty="0" smtClean="0"/>
              <a:t>Trainer arranges visit to venue so students can view security vehicles and talk to staff/management about their use.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2716111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identifying resources which may be used when escorting and carrying:</a:t>
            </a:r>
          </a:p>
          <a:p>
            <a:r>
              <a:rPr lang="en-AU" sz="1200" b="1" kern="1200" dirty="0" smtClean="0">
                <a:solidFill>
                  <a:schemeClr val="tx1"/>
                </a:solidFill>
                <a:latin typeface="+mn-lt"/>
                <a:ea typeface="+mn-ea"/>
                <a:cs typeface="+mn-cs"/>
              </a:rPr>
              <a:t>Receptacles</a:t>
            </a:r>
          </a:p>
          <a:p>
            <a:pPr>
              <a:buFont typeface="Arial" pitchFamily="34" charset="0"/>
              <a:buChar char="•"/>
            </a:pPr>
            <a:r>
              <a:rPr lang="en-AU" sz="1200" kern="1200" dirty="0" smtClean="0">
                <a:solidFill>
                  <a:schemeClr val="tx1"/>
                </a:solidFill>
                <a:latin typeface="+mn-lt"/>
                <a:ea typeface="+mn-ea"/>
                <a:cs typeface="+mn-cs"/>
              </a:rPr>
              <a:t> Receptacles refers to containers used to transport items,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generally:</a:t>
            </a:r>
          </a:p>
          <a:p>
            <a:pPr>
              <a:buFont typeface="Arial" pitchFamily="34" charset="0"/>
              <a:buChar char="•"/>
            </a:pPr>
            <a:r>
              <a:rPr lang="en-AU" sz="1200" kern="1200" dirty="0" smtClean="0">
                <a:solidFill>
                  <a:schemeClr val="tx1"/>
                </a:solidFill>
                <a:latin typeface="+mn-lt"/>
                <a:ea typeface="+mn-ea"/>
                <a:cs typeface="+mn-cs"/>
              </a:rPr>
              <a:t> Available in different sizes, may be secured with padlock or combination lock, smaller receptacles may be carried by hand,</a:t>
            </a:r>
            <a:r>
              <a:rPr lang="en-AU" sz="1200" kern="1200" baseline="0" dirty="0" smtClean="0">
                <a:solidFill>
                  <a:schemeClr val="tx1"/>
                </a:solidFill>
                <a:latin typeface="+mn-lt"/>
                <a:ea typeface="+mn-ea"/>
                <a:cs typeface="+mn-cs"/>
              </a:rPr>
              <a:t> l</a:t>
            </a:r>
            <a:r>
              <a:rPr lang="en-AU" sz="1200" kern="1200" dirty="0" smtClean="0">
                <a:solidFill>
                  <a:schemeClr val="tx1"/>
                </a:solidFill>
                <a:latin typeface="+mn-lt"/>
                <a:ea typeface="+mn-ea"/>
                <a:cs typeface="+mn-cs"/>
              </a:rPr>
              <a:t>arger containers require use of a trolley or cart.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practice of handcuffing the container to a staff member is to be avoided.</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may look dramatic but places the person in increased danger.</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container may however be handcuffed to  the trolley/cart.</a:t>
            </a:r>
          </a:p>
          <a:p>
            <a:r>
              <a:rPr lang="en-AU" sz="1200" b="1" kern="1200" dirty="0" smtClean="0">
                <a:solidFill>
                  <a:schemeClr val="tx1"/>
                </a:solidFill>
                <a:latin typeface="+mn-lt"/>
                <a:ea typeface="+mn-ea"/>
                <a:cs typeface="+mn-cs"/>
              </a:rPr>
              <a:t>Weapons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Weapons (most staff </a:t>
            </a:r>
            <a:r>
              <a:rPr lang="en-AU" sz="1200" b="1" kern="1200" dirty="0" smtClean="0">
                <a:solidFill>
                  <a:schemeClr val="tx1"/>
                </a:solidFill>
                <a:latin typeface="+mn-lt"/>
                <a:ea typeface="+mn-ea"/>
                <a:cs typeface="+mn-cs"/>
              </a:rPr>
              <a:t>are not issued with or allowed to handle weapons </a:t>
            </a:r>
            <a:r>
              <a:rPr lang="en-AU" sz="1200" kern="1200" dirty="0" smtClean="0">
                <a:solidFill>
                  <a:schemeClr val="tx1"/>
                </a:solidFill>
                <a:latin typeface="+mn-lt"/>
                <a:ea typeface="+mn-ea"/>
                <a:cs typeface="+mn-cs"/>
              </a:rPr>
              <a:t>– their main task is to act as a deterrent, identify problems and report them/summon assistance) include:</a:t>
            </a:r>
          </a:p>
          <a:p>
            <a:pPr>
              <a:buFont typeface="Arial" pitchFamily="34" charset="0"/>
              <a:buChar char="•"/>
            </a:pPr>
            <a:r>
              <a:rPr lang="en-AU" sz="1200" kern="1200" dirty="0" smtClean="0">
                <a:solidFill>
                  <a:schemeClr val="tx1"/>
                </a:solidFill>
                <a:latin typeface="+mn-lt"/>
                <a:ea typeface="+mn-ea"/>
                <a:cs typeface="+mn-cs"/>
              </a:rPr>
              <a:t> Firearms/pistols: </a:t>
            </a:r>
          </a:p>
          <a:p>
            <a:pPr lvl="1">
              <a:buFont typeface="Arial" pitchFamily="34" charset="0"/>
              <a:buChar char="•"/>
            </a:pPr>
            <a:r>
              <a:rPr lang="en-AU" sz="1200" kern="1200" dirty="0" smtClean="0">
                <a:solidFill>
                  <a:schemeClr val="tx1"/>
                </a:solidFill>
                <a:latin typeface="+mn-lt"/>
                <a:ea typeface="+mn-ea"/>
                <a:cs typeface="+mn-cs"/>
              </a:rPr>
              <a:t> You must comply with local laws regarding their possession and use</a:t>
            </a:r>
          </a:p>
          <a:p>
            <a:pPr lvl="1">
              <a:buFont typeface="Arial" pitchFamily="34" charset="0"/>
              <a:buChar char="•"/>
            </a:pPr>
            <a:r>
              <a:rPr lang="en-AU" sz="1200" kern="1200" dirty="0" smtClean="0">
                <a:solidFill>
                  <a:schemeClr val="tx1"/>
                </a:solidFill>
                <a:latin typeface="+mn-lt"/>
                <a:ea typeface="+mn-ea"/>
                <a:cs typeface="+mn-cs"/>
              </a:rPr>
              <a:t> Licences and special training are commonly required</a:t>
            </a:r>
          </a:p>
          <a:p>
            <a:pPr lvl="1">
              <a:buFont typeface="Arial" pitchFamily="34" charset="0"/>
              <a:buChar char="•"/>
            </a:pPr>
            <a:r>
              <a:rPr lang="en-AU" sz="1200" kern="1200" dirty="0" smtClean="0">
                <a:solidFill>
                  <a:schemeClr val="tx1"/>
                </a:solidFill>
                <a:latin typeface="+mn-lt"/>
                <a:ea typeface="+mn-ea"/>
                <a:cs typeface="+mn-cs"/>
              </a:rPr>
              <a:t> It is possible to argue the provision of armed guards will only serve to escalate the level of attack should an offender seek to steal the valuables being guarded</a:t>
            </a:r>
          </a:p>
          <a:p>
            <a:pPr>
              <a:buFont typeface="Arial" pitchFamily="34" charset="0"/>
              <a:buChar char="•"/>
            </a:pPr>
            <a:r>
              <a:rPr lang="en-AU" sz="1200" kern="1200" dirty="0" smtClean="0">
                <a:solidFill>
                  <a:schemeClr val="tx1"/>
                </a:solidFill>
                <a:latin typeface="+mn-lt"/>
                <a:ea typeface="+mn-ea"/>
                <a:cs typeface="+mn-cs"/>
              </a:rPr>
              <a:t> Less than lethal options such as: </a:t>
            </a:r>
          </a:p>
          <a:p>
            <a:pPr lvl="1">
              <a:buFont typeface="Arial" pitchFamily="34" charset="0"/>
              <a:buChar char="•"/>
            </a:pPr>
            <a:r>
              <a:rPr lang="en-AU" sz="1200" kern="1200" dirty="0" smtClean="0">
                <a:solidFill>
                  <a:schemeClr val="tx1"/>
                </a:solidFill>
                <a:latin typeface="+mn-lt"/>
                <a:ea typeface="+mn-ea"/>
                <a:cs typeface="+mn-cs"/>
              </a:rPr>
              <a:t> Asps and batons</a:t>
            </a:r>
          </a:p>
          <a:p>
            <a:pPr lvl="1">
              <a:buFont typeface="Arial" pitchFamily="34" charset="0"/>
              <a:buChar char="•"/>
            </a:pPr>
            <a:r>
              <a:rPr lang="en-AU" sz="1200" kern="1200" dirty="0" smtClean="0">
                <a:solidFill>
                  <a:schemeClr val="tx1"/>
                </a:solidFill>
                <a:latin typeface="+mn-lt"/>
                <a:ea typeface="+mn-ea"/>
                <a:cs typeface="+mn-cs"/>
              </a:rPr>
              <a:t> OC spray and similar</a:t>
            </a:r>
          </a:p>
          <a:p>
            <a:pPr lvl="1">
              <a:buFont typeface="Arial" pitchFamily="34" charset="0"/>
              <a:buChar char="•"/>
            </a:pPr>
            <a:r>
              <a:rPr lang="en-AU" sz="1200" kern="1200" dirty="0" smtClean="0">
                <a:solidFill>
                  <a:schemeClr val="tx1"/>
                </a:solidFill>
                <a:latin typeface="+mn-lt"/>
                <a:ea typeface="+mn-ea"/>
                <a:cs typeface="+mn-cs"/>
              </a:rPr>
              <a:t> CED (‘Tasers’)</a:t>
            </a:r>
          </a:p>
          <a:p>
            <a:pPr lvl="1">
              <a:buFont typeface="Arial" pitchFamily="34" charset="0"/>
              <a:buChar char="•"/>
            </a:pPr>
            <a:r>
              <a:rPr lang="en-AU" sz="1200" kern="1200" dirty="0" smtClean="0">
                <a:solidFill>
                  <a:schemeClr val="tx1"/>
                </a:solidFill>
                <a:latin typeface="+mn-lt"/>
                <a:ea typeface="+mn-ea"/>
                <a:cs typeface="+mn-cs"/>
              </a:rPr>
              <a:t> Handcuffs.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Presentation</a:t>
            </a:r>
          </a:p>
          <a:p>
            <a:r>
              <a:rPr lang="en-AU" sz="1200" b="0" kern="1200" dirty="0" smtClean="0">
                <a:solidFill>
                  <a:schemeClr val="tx1"/>
                </a:solidFill>
                <a:latin typeface="+mn-lt"/>
                <a:ea typeface="+mn-ea"/>
                <a:cs typeface="+mn-cs"/>
              </a:rPr>
              <a:t>Trainer obtains and shows students samples of items listed on slide explaining their use,</a:t>
            </a:r>
            <a:r>
              <a:rPr lang="en-AU" sz="1200" b="0" kern="1200" baseline="0" dirty="0" smtClean="0">
                <a:solidFill>
                  <a:schemeClr val="tx1"/>
                </a:solidFill>
                <a:latin typeface="+mn-lt"/>
                <a:ea typeface="+mn-ea"/>
                <a:cs typeface="+mn-cs"/>
              </a:rPr>
              <a:t> </a:t>
            </a:r>
            <a:r>
              <a:rPr lang="en-AU" sz="1200" b="0" kern="1200" dirty="0" smtClean="0">
                <a:solidFill>
                  <a:schemeClr val="tx1"/>
                </a:solidFill>
                <a:latin typeface="+mn-lt"/>
                <a:ea typeface="+mn-ea"/>
                <a:cs typeface="+mn-cs"/>
              </a:rPr>
              <a:t>limitations</a:t>
            </a:r>
            <a:r>
              <a:rPr lang="en-AU" sz="1200" b="0" kern="1200" baseline="0" dirty="0" smtClean="0">
                <a:solidFill>
                  <a:schemeClr val="tx1"/>
                </a:solidFill>
                <a:latin typeface="+mn-lt"/>
                <a:ea typeface="+mn-ea"/>
                <a:cs typeface="+mn-cs"/>
              </a:rPr>
              <a:t> and </a:t>
            </a:r>
            <a:r>
              <a:rPr lang="en-AU" sz="1200" b="0" kern="1200" dirty="0" smtClean="0">
                <a:solidFill>
                  <a:schemeClr val="tx1"/>
                </a:solidFill>
                <a:latin typeface="+mn-lt"/>
                <a:ea typeface="+mn-ea"/>
                <a:cs typeface="+mn-cs"/>
              </a:rPr>
              <a:t>restrictions.</a:t>
            </a:r>
          </a:p>
          <a:p>
            <a:endParaRPr lang="en-AU"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1062748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identifying resources which may be used when escorting and carrying:</a:t>
            </a:r>
          </a:p>
          <a:p>
            <a:r>
              <a:rPr lang="en-AU" sz="1200" b="1" kern="1200" dirty="0" smtClean="0">
                <a:solidFill>
                  <a:schemeClr val="tx1"/>
                </a:solidFill>
                <a:latin typeface="+mn-lt"/>
                <a:ea typeface="+mn-ea"/>
                <a:cs typeface="+mn-cs"/>
              </a:rPr>
              <a:t>Comms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Communication devices may include:</a:t>
            </a:r>
          </a:p>
          <a:p>
            <a:pPr>
              <a:buFont typeface="Arial" pitchFamily="34" charset="0"/>
              <a:buChar char="•"/>
            </a:pPr>
            <a:r>
              <a:rPr lang="en-AU" sz="1200" kern="1200" dirty="0" smtClean="0">
                <a:solidFill>
                  <a:schemeClr val="tx1"/>
                </a:solidFill>
                <a:latin typeface="+mn-lt"/>
                <a:ea typeface="+mn-ea"/>
                <a:cs typeface="+mn-cs"/>
              </a:rPr>
              <a:t> Hand-held two-way radios (UHF and VHF) which may feature lapel microphones</a:t>
            </a:r>
          </a:p>
          <a:p>
            <a:pPr>
              <a:buFont typeface="Arial" pitchFamily="34" charset="0"/>
              <a:buChar char="•"/>
            </a:pPr>
            <a:r>
              <a:rPr lang="en-AU" sz="1200" kern="1200" dirty="0" smtClean="0">
                <a:solidFill>
                  <a:schemeClr val="tx1"/>
                </a:solidFill>
                <a:latin typeface="+mn-lt"/>
                <a:ea typeface="+mn-ea"/>
                <a:cs typeface="+mn-cs"/>
              </a:rPr>
              <a:t> Communication headsets with earpieces,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allowing the hands to be free for other work</a:t>
            </a:r>
          </a:p>
          <a:p>
            <a:pPr>
              <a:buFont typeface="Arial" pitchFamily="34" charset="0"/>
              <a:buChar char="•"/>
            </a:pPr>
            <a:r>
              <a:rPr lang="en-AU" sz="1200" kern="1200" dirty="0" smtClean="0">
                <a:solidFill>
                  <a:schemeClr val="tx1"/>
                </a:solidFill>
                <a:latin typeface="+mn-lt"/>
                <a:ea typeface="+mn-ea"/>
                <a:cs typeface="+mn-cs"/>
              </a:rPr>
              <a:t> Landline telephones such as the internal telephony system in a venue</a:t>
            </a:r>
          </a:p>
          <a:p>
            <a:pPr>
              <a:buFont typeface="Arial" pitchFamily="34" charset="0"/>
              <a:buChar char="•"/>
            </a:pPr>
            <a:r>
              <a:rPr lang="en-AU" sz="1200" kern="1200" dirty="0" smtClean="0">
                <a:solidFill>
                  <a:schemeClr val="tx1"/>
                </a:solidFill>
                <a:latin typeface="+mn-lt"/>
                <a:ea typeface="+mn-ea"/>
                <a:cs typeface="+mn-cs"/>
              </a:rPr>
              <a:t> Cell phones provided by management.</a:t>
            </a:r>
          </a:p>
          <a:p>
            <a:r>
              <a:rPr lang="en-AU" sz="1200" b="1" kern="1200" dirty="0" smtClean="0">
                <a:solidFill>
                  <a:schemeClr val="tx1"/>
                </a:solidFill>
                <a:latin typeface="+mn-lt"/>
                <a:ea typeface="+mn-ea"/>
                <a:cs typeface="+mn-cs"/>
              </a:rPr>
              <a:t>Dye-bombs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Used to help deter theft of cash especially notes where dye bombs are used their use is advertised/made known.</a:t>
            </a:r>
          </a:p>
          <a:p>
            <a:pPr>
              <a:buFont typeface="Arial" pitchFamily="34" charset="0"/>
              <a:buChar char="•"/>
            </a:pPr>
            <a:r>
              <a:rPr lang="en-AU" sz="1200" kern="1200" dirty="0" smtClean="0">
                <a:solidFill>
                  <a:schemeClr val="tx1"/>
                </a:solidFill>
                <a:latin typeface="+mn-lt"/>
                <a:ea typeface="+mn-ea"/>
                <a:cs typeface="+mn-cs"/>
              </a:rPr>
              <a:t> Dye bombs are placed in with the cash and if the cash is stolen the device is triggered remotely (by hand, or by passing through a detection device at egress points) by radio waves. When triggered the bomb explodes releasing coloured dye and sometimes tear gas.  The dye discolours the money rendering it useless and also ‘paints’ the offender usually a red colour to assist with detection and apprehension.</a:t>
            </a:r>
            <a:r>
              <a:rPr lang="en-AU" sz="1200" kern="1200" baseline="0" dirty="0" smtClean="0">
                <a:solidFill>
                  <a:schemeClr val="tx1"/>
                </a:solidFill>
                <a:latin typeface="+mn-lt"/>
                <a:ea typeface="+mn-ea"/>
                <a:cs typeface="+mn-cs"/>
              </a:rPr>
              <a:t> Te</a:t>
            </a:r>
            <a:r>
              <a:rPr lang="en-AU" sz="1200" kern="1200" dirty="0" smtClean="0">
                <a:solidFill>
                  <a:schemeClr val="tx1"/>
                </a:solidFill>
                <a:latin typeface="+mn-lt"/>
                <a:ea typeface="+mn-ea"/>
                <a:cs typeface="+mn-cs"/>
              </a:rPr>
              <a:t>ar gas will incapacitate the offender.</a:t>
            </a:r>
          </a:p>
          <a:p>
            <a:r>
              <a:rPr lang="en-AU" sz="1200" b="1" kern="1200" dirty="0" smtClean="0">
                <a:solidFill>
                  <a:schemeClr val="tx1"/>
                </a:solidFill>
                <a:latin typeface="+mn-lt"/>
                <a:ea typeface="+mn-ea"/>
                <a:cs typeface="+mn-cs"/>
              </a:rPr>
              <a:t>Physical barriers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Where plans determine they are suitable or necessary you may use physical barriers to assist with protection when escorting and carrying.</a:t>
            </a:r>
          </a:p>
          <a:p>
            <a:pPr>
              <a:buFont typeface="Arial" pitchFamily="34" charset="0"/>
              <a:buChar char="•"/>
            </a:pPr>
            <a:r>
              <a:rPr lang="en-AU" sz="1200" kern="1200" dirty="0" smtClean="0">
                <a:solidFill>
                  <a:schemeClr val="tx1"/>
                </a:solidFill>
                <a:latin typeface="+mn-lt"/>
                <a:ea typeface="+mn-ea"/>
                <a:cs typeface="+mn-cs"/>
              </a:rPr>
              <a:t> Physical barriers can include:</a:t>
            </a:r>
          </a:p>
          <a:p>
            <a:pPr lvl="1">
              <a:buFont typeface="Arial" pitchFamily="34" charset="0"/>
              <a:buChar char="•"/>
            </a:pPr>
            <a:r>
              <a:rPr lang="en-AU" sz="1200" kern="1200" dirty="0" smtClean="0">
                <a:solidFill>
                  <a:schemeClr val="tx1"/>
                </a:solidFill>
                <a:latin typeface="+mn-lt"/>
                <a:ea typeface="+mn-ea"/>
                <a:cs typeface="+mn-cs"/>
              </a:rPr>
              <a:t> The simple act of preventing entry/access by closing and locking doors, keying off elevators so they do not stop/open at a designated floor</a:t>
            </a:r>
          </a:p>
          <a:p>
            <a:pPr lvl="1">
              <a:buFont typeface="Arial" pitchFamily="34" charset="0"/>
              <a:buChar char="•"/>
            </a:pPr>
            <a:r>
              <a:rPr lang="en-AU" sz="1200" kern="1200" dirty="0" smtClean="0">
                <a:solidFill>
                  <a:schemeClr val="tx1"/>
                </a:solidFill>
                <a:latin typeface="+mn-lt"/>
                <a:ea typeface="+mn-ea"/>
                <a:cs typeface="+mn-cs"/>
              </a:rPr>
              <a:t> Screens – including bullet-resistant screens; ‘Do Not Cross’ and ‘Do Not Enter’ tape; Witches hats; Chains;  Bollards and rope.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r>
              <a:rPr lang="en-AU" sz="1200" b="1" kern="1200" dirty="0" smtClean="0">
                <a:solidFill>
                  <a:schemeClr val="tx1"/>
                </a:solidFill>
                <a:latin typeface="+mn-lt"/>
                <a:ea typeface="+mn-ea"/>
                <a:cs typeface="+mn-cs"/>
              </a:rPr>
              <a:t>Class Activity – Presentation</a:t>
            </a:r>
          </a:p>
          <a:p>
            <a:r>
              <a:rPr lang="en-AU" sz="1200" b="0" kern="1200" dirty="0" smtClean="0">
                <a:solidFill>
                  <a:schemeClr val="tx1"/>
                </a:solidFill>
                <a:latin typeface="+mn-lt"/>
                <a:ea typeface="+mn-ea"/>
                <a:cs typeface="+mn-cs"/>
              </a:rPr>
              <a:t>Trainer obtains and shows students samples of items listed on slide explaining their use and limitations/restrictions.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079112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identifying resources which may be used when escorting and carrying:</a:t>
            </a:r>
          </a:p>
          <a:p>
            <a:r>
              <a:rPr lang="en-AU" sz="1200" b="1" kern="1200" dirty="0" smtClean="0">
                <a:solidFill>
                  <a:schemeClr val="tx1"/>
                </a:solidFill>
                <a:latin typeface="+mn-lt"/>
                <a:ea typeface="+mn-ea"/>
                <a:cs typeface="+mn-cs"/>
              </a:rPr>
              <a:t>Security devices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Security devices refers to a range of equipment, systems and technology which can be used to support security work. These items may include:</a:t>
            </a:r>
          </a:p>
          <a:p>
            <a:pPr>
              <a:buFont typeface="Arial" pitchFamily="34" charset="0"/>
              <a:buChar char="•"/>
            </a:pPr>
            <a:r>
              <a:rPr lang="en-AU" sz="1200" kern="1200" dirty="0" smtClean="0">
                <a:solidFill>
                  <a:schemeClr val="tx1"/>
                </a:solidFill>
                <a:latin typeface="+mn-lt"/>
                <a:ea typeface="+mn-ea"/>
                <a:cs typeface="+mn-cs"/>
              </a:rPr>
              <a:t> Security/CCTV cameras</a:t>
            </a:r>
          </a:p>
          <a:p>
            <a:pPr>
              <a:buFont typeface="Arial" pitchFamily="34" charset="0"/>
              <a:buChar char="•"/>
            </a:pPr>
            <a:r>
              <a:rPr lang="en-AU" sz="1200" kern="1200" dirty="0" smtClean="0">
                <a:solidFill>
                  <a:schemeClr val="tx1"/>
                </a:solidFill>
                <a:latin typeface="+mn-lt"/>
                <a:ea typeface="+mn-ea"/>
                <a:cs typeface="+mn-cs"/>
              </a:rPr>
              <a:t> Movie camera – issued by some venues as part of the standard EDC used by security staff.</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enables evidence to be captured, records events and acts as a deterrent  </a:t>
            </a:r>
          </a:p>
          <a:p>
            <a:pPr>
              <a:buFont typeface="Arial" pitchFamily="34" charset="0"/>
              <a:buChar char="•"/>
            </a:pPr>
            <a:r>
              <a:rPr lang="en-AU" sz="1200" kern="1200" dirty="0" smtClean="0">
                <a:solidFill>
                  <a:schemeClr val="tx1"/>
                </a:solidFill>
                <a:latin typeface="+mn-lt"/>
                <a:ea typeface="+mn-ea"/>
                <a:cs typeface="+mn-cs"/>
              </a:rPr>
              <a:t> Alarms including:</a:t>
            </a:r>
          </a:p>
          <a:p>
            <a:pPr>
              <a:buFont typeface="Arial" pitchFamily="34" charset="0"/>
              <a:buChar char="•"/>
            </a:pPr>
            <a:r>
              <a:rPr lang="en-AU" sz="1200" kern="1200" dirty="0" smtClean="0">
                <a:solidFill>
                  <a:schemeClr val="tx1"/>
                </a:solidFill>
                <a:latin typeface="+mn-lt"/>
                <a:ea typeface="+mn-ea"/>
                <a:cs typeface="+mn-cs"/>
              </a:rPr>
              <a:t> Door and section/sector alarms – ‘intruder alarms’</a:t>
            </a:r>
          </a:p>
          <a:p>
            <a:pPr>
              <a:buFont typeface="Arial" pitchFamily="34" charset="0"/>
              <a:buChar char="•"/>
            </a:pPr>
            <a:r>
              <a:rPr lang="en-AU" sz="1200" kern="1200" dirty="0" smtClean="0">
                <a:solidFill>
                  <a:schemeClr val="tx1"/>
                </a:solidFill>
                <a:latin typeface="+mn-lt"/>
                <a:ea typeface="+mn-ea"/>
                <a:cs typeface="+mn-cs"/>
              </a:rPr>
              <a:t> Personal duress alarms for use in the event of a personal emergency/attack.</a:t>
            </a:r>
          </a:p>
          <a:p>
            <a:r>
              <a:rPr lang="en-AU" sz="1200" b="1" kern="1200" dirty="0" smtClean="0">
                <a:solidFill>
                  <a:schemeClr val="tx1"/>
                </a:solidFill>
                <a:latin typeface="+mn-lt"/>
                <a:ea typeface="+mn-ea"/>
                <a:cs typeface="+mn-cs"/>
              </a:rPr>
              <a:t>Time-delay locks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time-delay lock uses technology to delay the opening of a combination lock for a given time (10 – 15 minutes is common) after the correct access code has been entered.</a:t>
            </a:r>
          </a:p>
          <a:p>
            <a:pPr>
              <a:buFont typeface="Arial" pitchFamily="34" charset="0"/>
              <a:buChar char="•"/>
            </a:pPr>
            <a:r>
              <a:rPr lang="en-AU" sz="1200" kern="1200" dirty="0" smtClean="0">
                <a:solidFill>
                  <a:schemeClr val="tx1"/>
                </a:solidFill>
                <a:latin typeface="+mn-lt"/>
                <a:ea typeface="+mn-ea"/>
                <a:cs typeface="+mn-cs"/>
              </a:rPr>
              <a:t> The intention is to prevent immediate opening of a container thus requiring the offender to remain on the premises thereby increasing their chance of apprehension.</a:t>
            </a:r>
          </a:p>
          <a:p>
            <a:pPr>
              <a:buFont typeface="Arial" pitchFamily="34" charset="0"/>
              <a:buChar char="•"/>
            </a:pPr>
            <a:r>
              <a:rPr lang="en-AU" sz="1200" kern="1200" dirty="0" smtClean="0">
                <a:solidFill>
                  <a:schemeClr val="tx1"/>
                </a:solidFill>
                <a:latin typeface="+mn-lt"/>
                <a:ea typeface="+mn-ea"/>
                <a:cs typeface="+mn-cs"/>
              </a:rPr>
              <a:t> Time-delay locks may be fitted with a ‘duress option’ meaning security staff can override the time-delay and enter a pre-determined access code to open the lock. Entering this code also sends a covert message to the command and control centre alerting them an emergency is taking place.</a:t>
            </a:r>
          </a:p>
          <a:p>
            <a:pPr>
              <a:buFont typeface="Arial" pitchFamily="34" charset="0"/>
              <a:buChar char="•"/>
            </a:pPr>
            <a:r>
              <a:rPr lang="en-AU" sz="1200" kern="1200" dirty="0" smtClean="0">
                <a:solidFill>
                  <a:schemeClr val="tx1"/>
                </a:solidFill>
                <a:latin typeface="+mn-lt"/>
                <a:ea typeface="+mn-ea"/>
                <a:cs typeface="+mn-cs"/>
              </a:rPr>
              <a:t> In order for time-delay locks to be most effective, their use needs to be advertised/made public so they act as a deterrent. </a:t>
            </a:r>
          </a:p>
          <a:p>
            <a:pPr>
              <a:buFont typeface="Arial" pitchFamily="34" charset="0"/>
              <a:buNone/>
            </a:pPr>
            <a:r>
              <a:rPr lang="en-AU" sz="1200" b="1" kern="1200" dirty="0" smtClean="0">
                <a:solidFill>
                  <a:schemeClr val="tx1"/>
                </a:solidFill>
                <a:latin typeface="+mn-lt"/>
                <a:ea typeface="+mn-ea"/>
                <a:cs typeface="+mn-cs"/>
              </a:rPr>
              <a:t>Safes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All venues will have one or more safes.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r>
              <a:rPr lang="en-AU" sz="1200" b="1" kern="1200" dirty="0" smtClean="0">
                <a:solidFill>
                  <a:schemeClr val="tx1"/>
                </a:solidFill>
                <a:latin typeface="+mn-lt"/>
                <a:ea typeface="+mn-ea"/>
                <a:cs typeface="+mn-cs"/>
              </a:rPr>
              <a:t>Class Activity – Presentation</a:t>
            </a:r>
          </a:p>
          <a:p>
            <a:r>
              <a:rPr lang="en-AU" sz="1200" b="0" kern="1200" dirty="0" smtClean="0">
                <a:solidFill>
                  <a:schemeClr val="tx1"/>
                </a:solidFill>
                <a:latin typeface="+mn-lt"/>
                <a:ea typeface="+mn-ea"/>
                <a:cs typeface="+mn-cs"/>
              </a:rPr>
              <a:t>Trainer obtains and shows students samples of items listed on slide explaining their use and limitations/restrictions.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40563920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introduces </a:t>
            </a:r>
            <a:r>
              <a:rPr lang="en-AU" sz="1200" kern="1200" dirty="0" smtClean="0">
                <a:solidFill>
                  <a:schemeClr val="tx1"/>
                </a:solidFill>
                <a:latin typeface="+mn-lt"/>
                <a:ea typeface="+mn-ea"/>
                <a:cs typeface="+mn-cs"/>
              </a:rPr>
              <a:t>‘Assignment instructions’ stating: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They are instructions provided by management to staff about activities they are required to undertake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They may be verbal or in writing.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3922634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assignment instructions may arise as a result of:</a:t>
            </a:r>
          </a:p>
          <a:p>
            <a:pPr>
              <a:buFont typeface="Arial" pitchFamily="34" charset="0"/>
              <a:buChar char="•"/>
            </a:pPr>
            <a:r>
              <a:rPr lang="en-AU" sz="1200" kern="1200" dirty="0" smtClean="0">
                <a:solidFill>
                  <a:schemeClr val="tx1"/>
                </a:solidFill>
                <a:latin typeface="+mn-lt"/>
                <a:ea typeface="+mn-ea"/>
                <a:cs typeface="+mn-cs"/>
              </a:rPr>
              <a:t> Directions from management for an escort or carry job</a:t>
            </a:r>
          </a:p>
          <a:p>
            <a:pPr>
              <a:buFont typeface="Arial" pitchFamily="34" charset="0"/>
              <a:buChar char="•"/>
            </a:pPr>
            <a:r>
              <a:rPr lang="en-AU" sz="1200" kern="1200" dirty="0" smtClean="0">
                <a:solidFill>
                  <a:schemeClr val="tx1"/>
                </a:solidFill>
                <a:latin typeface="+mn-lt"/>
                <a:ea typeface="+mn-ea"/>
                <a:cs typeface="+mn-cs"/>
              </a:rPr>
              <a:t> Requests from guests</a:t>
            </a:r>
          </a:p>
          <a:p>
            <a:pPr>
              <a:buFont typeface="Arial" pitchFamily="34" charset="0"/>
              <a:buChar char="•"/>
            </a:pPr>
            <a:r>
              <a:rPr lang="en-AU" sz="1200" kern="1200" dirty="0" smtClean="0">
                <a:solidFill>
                  <a:schemeClr val="tx1"/>
                </a:solidFill>
                <a:latin typeface="+mn-lt"/>
                <a:ea typeface="+mn-ea"/>
                <a:cs typeface="+mn-cs"/>
              </a:rPr>
              <a:t> Special duties required as a result of:</a:t>
            </a:r>
          </a:p>
          <a:p>
            <a:pPr lvl="1">
              <a:buFont typeface="Arial" pitchFamily="34" charset="0"/>
              <a:buChar char="•"/>
            </a:pPr>
            <a:r>
              <a:rPr lang="en-AU" sz="1200" kern="1200" dirty="0" smtClean="0">
                <a:solidFill>
                  <a:schemeClr val="tx1"/>
                </a:solidFill>
                <a:latin typeface="+mn-lt"/>
                <a:ea typeface="+mn-ea"/>
                <a:cs typeface="+mn-cs"/>
              </a:rPr>
              <a:t> Special events</a:t>
            </a:r>
          </a:p>
          <a:p>
            <a:pPr lvl="1">
              <a:buFont typeface="Arial" pitchFamily="34" charset="0"/>
              <a:buChar char="•"/>
            </a:pPr>
            <a:r>
              <a:rPr lang="en-AU" sz="1200" kern="1200" dirty="0" smtClean="0">
                <a:solidFill>
                  <a:schemeClr val="tx1"/>
                </a:solidFill>
                <a:latin typeface="+mn-lt"/>
                <a:ea typeface="+mn-ea"/>
                <a:cs typeface="+mn-cs"/>
              </a:rPr>
              <a:t> High levels of trade</a:t>
            </a:r>
          </a:p>
          <a:p>
            <a:pPr lvl="1">
              <a:buFont typeface="Arial" pitchFamily="34" charset="0"/>
              <a:buChar char="•"/>
            </a:pPr>
            <a:r>
              <a:rPr lang="en-AU" sz="1200" kern="1200" dirty="0" smtClean="0">
                <a:solidFill>
                  <a:schemeClr val="tx1"/>
                </a:solidFill>
                <a:latin typeface="+mn-lt"/>
                <a:ea typeface="+mn-ea"/>
                <a:cs typeface="+mn-cs"/>
              </a:rPr>
              <a:t> High cash levels within the property</a:t>
            </a:r>
          </a:p>
          <a:p>
            <a:pPr>
              <a:buFont typeface="Arial" pitchFamily="34" charset="0"/>
              <a:buChar char="•"/>
            </a:pPr>
            <a:r>
              <a:rPr lang="en-AU" sz="1200" kern="1200" dirty="0" smtClean="0">
                <a:solidFill>
                  <a:schemeClr val="tx1"/>
                </a:solidFill>
                <a:latin typeface="+mn-lt"/>
                <a:ea typeface="+mn-ea"/>
                <a:cs typeface="+mn-cs"/>
              </a:rPr>
              <a:t> Responses to perceived and credible threats as determined through analysis of internal intelligence and on the basis of intel received from outside agencies and/or persons.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1903492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advise in relation to situations giving possible rise to assignment instructions:</a:t>
            </a:r>
          </a:p>
          <a:p>
            <a:pPr>
              <a:buFont typeface="Arial" pitchFamily="34" charset="0"/>
              <a:buChar char="•"/>
            </a:pPr>
            <a:r>
              <a:rPr lang="en-AU" sz="1200" kern="1200" dirty="0" smtClean="0">
                <a:solidFill>
                  <a:schemeClr val="tx1"/>
                </a:solidFill>
                <a:latin typeface="+mn-lt"/>
                <a:ea typeface="+mn-ea"/>
                <a:cs typeface="+mn-cs"/>
              </a:rPr>
              <a:t> An integrated response to a previous event or incident such as theft, attempted theft, intimidation, assault</a:t>
            </a:r>
          </a:p>
          <a:p>
            <a:pPr>
              <a:buFont typeface="Arial" pitchFamily="34" charset="0"/>
              <a:buChar char="•"/>
            </a:pPr>
            <a:r>
              <a:rPr lang="en-AU" sz="1200" kern="1200" dirty="0" smtClean="0">
                <a:solidFill>
                  <a:schemeClr val="tx1"/>
                </a:solidFill>
                <a:latin typeface="+mn-lt"/>
                <a:ea typeface="+mn-ea"/>
                <a:cs typeface="+mn-cs"/>
              </a:rPr>
              <a:t> Request for special service for VIPs.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requests may come from the guest/customer, from their management group/entourage or from management of the venue</a:t>
            </a:r>
          </a:p>
          <a:p>
            <a:pPr>
              <a:buFont typeface="Arial" pitchFamily="34" charset="0"/>
              <a:buChar char="•"/>
            </a:pPr>
            <a:r>
              <a:rPr lang="en-AU" sz="1200" kern="1200" dirty="0" smtClean="0">
                <a:solidFill>
                  <a:schemeClr val="tx1"/>
                </a:solidFill>
                <a:latin typeface="+mn-lt"/>
                <a:ea typeface="+mn-ea"/>
                <a:cs typeface="+mn-cs"/>
              </a:rPr>
              <a:t> Need to assist other venue staff undertake nominated activities such as:</a:t>
            </a:r>
          </a:p>
          <a:p>
            <a:pPr lvl="1">
              <a:buFont typeface="Arial" pitchFamily="34" charset="0"/>
              <a:buChar char="•"/>
            </a:pPr>
            <a:r>
              <a:rPr lang="en-AU" sz="1200" kern="1200" dirty="0" smtClean="0">
                <a:solidFill>
                  <a:schemeClr val="tx1"/>
                </a:solidFill>
                <a:latin typeface="+mn-lt"/>
                <a:ea typeface="+mn-ea"/>
                <a:cs typeface="+mn-cs"/>
              </a:rPr>
              <a:t> Movement of floats for cash registers/POS terminals</a:t>
            </a:r>
          </a:p>
          <a:p>
            <a:pPr lvl="1">
              <a:buFont typeface="Arial" pitchFamily="34" charset="0"/>
              <a:buChar char="•"/>
            </a:pPr>
            <a:r>
              <a:rPr lang="en-AU" sz="1200" kern="1200" dirty="0" smtClean="0">
                <a:solidFill>
                  <a:schemeClr val="tx1"/>
                </a:solidFill>
                <a:latin typeface="+mn-lt"/>
                <a:ea typeface="+mn-ea"/>
                <a:cs typeface="+mn-cs"/>
              </a:rPr>
              <a:t> Movement of takings within the building</a:t>
            </a:r>
          </a:p>
          <a:p>
            <a:pPr lvl="1">
              <a:buFont typeface="Arial" pitchFamily="34" charset="0"/>
              <a:buChar char="•"/>
            </a:pPr>
            <a:r>
              <a:rPr lang="en-AU" sz="1200" kern="1200" dirty="0" smtClean="0">
                <a:solidFill>
                  <a:schemeClr val="tx1"/>
                </a:solidFill>
                <a:latin typeface="+mn-lt"/>
                <a:ea typeface="+mn-ea"/>
                <a:cs typeface="+mn-cs"/>
              </a:rPr>
              <a:t> Escorting payroll.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5565233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information on details which could be included in assignment instructions:</a:t>
            </a:r>
          </a:p>
          <a:p>
            <a:pPr>
              <a:buFont typeface="Arial" pitchFamily="34" charset="0"/>
              <a:buChar char="•"/>
            </a:pPr>
            <a:r>
              <a:rPr lang="en-AU" sz="1200" kern="1200" dirty="0" smtClean="0">
                <a:solidFill>
                  <a:schemeClr val="tx1"/>
                </a:solidFill>
                <a:latin typeface="+mn-lt"/>
                <a:ea typeface="+mn-ea"/>
                <a:cs typeface="+mn-cs"/>
              </a:rPr>
              <a:t> Any specific requirements identified by a guest/client/customer in relation to the provision of service, such as:</a:t>
            </a:r>
          </a:p>
          <a:p>
            <a:pPr lvl="1">
              <a:buFont typeface="Arial" pitchFamily="34" charset="0"/>
              <a:buChar char="•"/>
            </a:pPr>
            <a:r>
              <a:rPr lang="en-AU" sz="1200" kern="1200" dirty="0" smtClean="0">
                <a:solidFill>
                  <a:schemeClr val="tx1"/>
                </a:solidFill>
                <a:latin typeface="+mn-lt"/>
                <a:ea typeface="+mn-ea"/>
                <a:cs typeface="+mn-cs"/>
              </a:rPr>
              <a:t> Number of staff required</a:t>
            </a:r>
          </a:p>
          <a:p>
            <a:pPr lvl="1">
              <a:buFont typeface="Arial" pitchFamily="34" charset="0"/>
              <a:buChar char="•"/>
            </a:pPr>
            <a:r>
              <a:rPr lang="en-AU" sz="1200" kern="1200" dirty="0" smtClean="0">
                <a:solidFill>
                  <a:schemeClr val="tx1"/>
                </a:solidFill>
                <a:latin typeface="+mn-lt"/>
                <a:ea typeface="+mn-ea"/>
                <a:cs typeface="+mn-cs"/>
              </a:rPr>
              <a:t> Skills and/or experience required</a:t>
            </a:r>
          </a:p>
          <a:p>
            <a:pPr lvl="1">
              <a:buFont typeface="Arial" pitchFamily="34" charset="0"/>
              <a:buChar char="•"/>
            </a:pPr>
            <a:r>
              <a:rPr lang="en-AU" sz="1200" kern="1200" dirty="0" smtClean="0">
                <a:solidFill>
                  <a:schemeClr val="tx1"/>
                </a:solidFill>
                <a:latin typeface="+mn-lt"/>
                <a:ea typeface="+mn-ea"/>
                <a:cs typeface="+mn-cs"/>
              </a:rPr>
              <a:t> Meeting points</a:t>
            </a:r>
          </a:p>
          <a:p>
            <a:pPr lvl="1">
              <a:buFont typeface="Arial" pitchFamily="34" charset="0"/>
              <a:buChar char="•"/>
            </a:pPr>
            <a:r>
              <a:rPr lang="en-AU" sz="1200" kern="1200" dirty="0" smtClean="0">
                <a:solidFill>
                  <a:schemeClr val="tx1"/>
                </a:solidFill>
                <a:latin typeface="+mn-lt"/>
                <a:ea typeface="+mn-ea"/>
                <a:cs typeface="+mn-cs"/>
              </a:rPr>
              <a:t> Timing issues</a:t>
            </a:r>
          </a:p>
          <a:p>
            <a:pPr lvl="1">
              <a:buFont typeface="Arial" pitchFamily="34" charset="0"/>
              <a:buChar char="•"/>
            </a:pPr>
            <a:r>
              <a:rPr lang="en-AU" sz="1200" kern="1200" dirty="0" smtClean="0">
                <a:solidFill>
                  <a:schemeClr val="tx1"/>
                </a:solidFill>
                <a:latin typeface="+mn-lt"/>
                <a:ea typeface="+mn-ea"/>
                <a:cs typeface="+mn-cs"/>
              </a:rPr>
              <a:t> Known or anticipated threats</a:t>
            </a:r>
          </a:p>
          <a:p>
            <a:pPr lvl="1">
              <a:buFont typeface="Arial" pitchFamily="34" charset="0"/>
              <a:buChar char="•"/>
            </a:pPr>
            <a:r>
              <a:rPr lang="en-AU" sz="1200" kern="1200" dirty="0" smtClean="0">
                <a:solidFill>
                  <a:schemeClr val="tx1"/>
                </a:solidFill>
                <a:latin typeface="+mn-lt"/>
                <a:ea typeface="+mn-ea"/>
                <a:cs typeface="+mn-cs"/>
              </a:rPr>
              <a:t> Threat levels</a:t>
            </a:r>
          </a:p>
          <a:p>
            <a:pPr>
              <a:buFont typeface="Arial" pitchFamily="34" charset="0"/>
              <a:buChar char="•"/>
            </a:pPr>
            <a:r>
              <a:rPr lang="en-AU" sz="1200" kern="1200" dirty="0" smtClean="0">
                <a:solidFill>
                  <a:schemeClr val="tx1"/>
                </a:solidFill>
                <a:latin typeface="+mn-lt"/>
                <a:ea typeface="+mn-ea"/>
                <a:cs typeface="+mn-cs"/>
              </a:rPr>
              <a:t> Objectives for the assignment which may be:</a:t>
            </a:r>
          </a:p>
          <a:p>
            <a:pPr lvl="1">
              <a:buFont typeface="Arial" pitchFamily="34" charset="0"/>
              <a:buChar char="•"/>
            </a:pPr>
            <a:r>
              <a:rPr lang="en-AU" sz="1200" kern="1200" dirty="0" smtClean="0">
                <a:solidFill>
                  <a:schemeClr val="tx1"/>
                </a:solidFill>
                <a:latin typeface="+mn-lt"/>
                <a:ea typeface="+mn-ea"/>
                <a:cs typeface="+mn-cs"/>
              </a:rPr>
              <a:t> Escort</a:t>
            </a:r>
          </a:p>
          <a:p>
            <a:pPr lvl="1">
              <a:buFont typeface="Arial" pitchFamily="34" charset="0"/>
              <a:buChar char="•"/>
            </a:pPr>
            <a:r>
              <a:rPr lang="en-AU" sz="1200" kern="1200" dirty="0" smtClean="0">
                <a:solidFill>
                  <a:schemeClr val="tx1"/>
                </a:solidFill>
                <a:latin typeface="+mn-lt"/>
                <a:ea typeface="+mn-ea"/>
                <a:cs typeface="+mn-cs"/>
              </a:rPr>
              <a:t> Carry</a:t>
            </a:r>
          </a:p>
          <a:p>
            <a:pPr lvl="1">
              <a:buFont typeface="Arial" pitchFamily="34" charset="0"/>
              <a:buChar char="•"/>
            </a:pPr>
            <a:r>
              <a:rPr lang="en-AU" sz="1200" kern="1200" dirty="0" smtClean="0">
                <a:solidFill>
                  <a:schemeClr val="tx1"/>
                </a:solidFill>
                <a:latin typeface="+mn-lt"/>
                <a:ea typeface="+mn-ea"/>
                <a:cs typeface="+mn-cs"/>
              </a:rPr>
              <a:t> Deter</a:t>
            </a:r>
          </a:p>
          <a:p>
            <a:pPr lvl="1">
              <a:buFont typeface="Arial" pitchFamily="34" charset="0"/>
              <a:buChar char="•"/>
            </a:pPr>
            <a:r>
              <a:rPr lang="en-AU" sz="1200" kern="1200" dirty="0" smtClean="0">
                <a:solidFill>
                  <a:schemeClr val="tx1"/>
                </a:solidFill>
                <a:latin typeface="+mn-lt"/>
                <a:ea typeface="+mn-ea"/>
                <a:cs typeface="+mn-cs"/>
              </a:rPr>
              <a:t> Defend</a:t>
            </a:r>
          </a:p>
          <a:p>
            <a:pPr>
              <a:buFont typeface="Arial" pitchFamily="34" charset="0"/>
              <a:buChar char="•"/>
            </a:pPr>
            <a:r>
              <a:rPr lang="en-AU" sz="1200" kern="1200" dirty="0" smtClean="0">
                <a:solidFill>
                  <a:schemeClr val="tx1"/>
                </a:solidFill>
                <a:latin typeface="+mn-lt"/>
                <a:ea typeface="+mn-ea"/>
                <a:cs typeface="+mn-cs"/>
              </a:rPr>
              <a:t> Time on and time off – duration of assignment: day and date.</a:t>
            </a:r>
          </a:p>
          <a:p>
            <a:pPr>
              <a:buFont typeface="Arial" pitchFamily="34" charset="0"/>
              <a:buNone/>
            </a:pPr>
            <a:endParaRPr lang="en-AU" noProof="0" dirty="0" smtClean="0"/>
          </a:p>
          <a:p>
            <a:pPr>
              <a:buFont typeface="Arial" pitchFamily="34" charset="0"/>
              <a:buNone/>
            </a:pPr>
            <a:r>
              <a:rPr lang="en-AU" b="1" noProof="0" dirty="0" smtClean="0"/>
              <a:t>Class Activity – Presentations</a:t>
            </a:r>
          </a:p>
          <a:p>
            <a:pPr>
              <a:buFont typeface="Arial" pitchFamily="34" charset="0"/>
              <a:buNone/>
            </a:pPr>
            <a:r>
              <a:rPr lang="en-AU" b="0" noProof="0" dirty="0" smtClean="0"/>
              <a:t>Trainer obtains, distributes and discusses a range of sample assignment instructions.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9108437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information on details which could be included in assignment instructions:</a:t>
            </a:r>
          </a:p>
          <a:p>
            <a:pPr>
              <a:buFont typeface="Arial" pitchFamily="34" charset="0"/>
              <a:buChar char="•"/>
            </a:pPr>
            <a:r>
              <a:rPr lang="en-AU" sz="1200" kern="1200" dirty="0" smtClean="0">
                <a:solidFill>
                  <a:schemeClr val="tx1"/>
                </a:solidFill>
                <a:latin typeface="+mn-lt"/>
                <a:ea typeface="+mn-ea"/>
                <a:cs typeface="+mn-cs"/>
              </a:rPr>
              <a:t> Specific work tasks which comprise the assignment,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a:t>
            </a:r>
          </a:p>
          <a:p>
            <a:pPr lvl="1">
              <a:buFont typeface="Arial" pitchFamily="34" charset="0"/>
              <a:buChar char="•"/>
            </a:pPr>
            <a:r>
              <a:rPr lang="en-AU" sz="1200" kern="1200" dirty="0" smtClean="0">
                <a:solidFill>
                  <a:schemeClr val="tx1"/>
                </a:solidFill>
                <a:latin typeface="+mn-lt"/>
                <a:ea typeface="+mn-ea"/>
                <a:cs typeface="+mn-cs"/>
              </a:rPr>
              <a:t> Retrieve items from XYZ vehicle in basement car park</a:t>
            </a:r>
          </a:p>
          <a:p>
            <a:pPr lvl="1">
              <a:buFont typeface="Arial" pitchFamily="34" charset="0"/>
              <a:buChar char="•"/>
            </a:pPr>
            <a:r>
              <a:rPr lang="en-AU" sz="1200" kern="1200" dirty="0" smtClean="0">
                <a:solidFill>
                  <a:schemeClr val="tx1"/>
                </a:solidFill>
                <a:latin typeface="+mn-lt"/>
                <a:ea typeface="+mn-ea"/>
                <a:cs typeface="+mn-cs"/>
              </a:rPr>
              <a:t> Verify security and contents – advise if evidence of tampering/security breaches</a:t>
            </a:r>
          </a:p>
          <a:p>
            <a:pPr lvl="1">
              <a:buFont typeface="Arial" pitchFamily="34" charset="0"/>
              <a:buChar char="•"/>
            </a:pPr>
            <a:r>
              <a:rPr lang="en-AU" sz="1200" kern="1200" dirty="0" smtClean="0">
                <a:solidFill>
                  <a:schemeClr val="tx1"/>
                </a:solidFill>
                <a:latin typeface="+mn-lt"/>
                <a:ea typeface="+mn-ea"/>
                <a:cs typeface="+mn-cs"/>
              </a:rPr>
              <a:t> Load into XYZ containers fitted with XYZ devices </a:t>
            </a:r>
          </a:p>
          <a:p>
            <a:pPr lvl="1">
              <a:buFont typeface="Arial" pitchFamily="34" charset="0"/>
              <a:buChar char="•"/>
            </a:pPr>
            <a:r>
              <a:rPr lang="en-AU" sz="1200" kern="1200" dirty="0" smtClean="0">
                <a:solidFill>
                  <a:schemeClr val="tx1"/>
                </a:solidFill>
                <a:latin typeface="+mn-lt"/>
                <a:ea typeface="+mn-ea"/>
                <a:cs typeface="+mn-cs"/>
              </a:rPr>
              <a:t> Carry and/or escort along nominated route which will be a schematic/route plan attached to the assignment instructions</a:t>
            </a:r>
          </a:p>
          <a:p>
            <a:pPr lvl="1">
              <a:buFont typeface="Arial" pitchFamily="34" charset="0"/>
              <a:buChar char="•"/>
            </a:pPr>
            <a:r>
              <a:rPr lang="en-AU" sz="1200" kern="1200" dirty="0" smtClean="0">
                <a:solidFill>
                  <a:schemeClr val="tx1"/>
                </a:solidFill>
                <a:latin typeface="+mn-lt"/>
                <a:ea typeface="+mn-ea"/>
                <a:cs typeface="+mn-cs"/>
              </a:rPr>
              <a:t> Seal access to all entries along route</a:t>
            </a:r>
          </a:p>
          <a:p>
            <a:pPr lvl="1">
              <a:buFont typeface="Arial" pitchFamily="34" charset="0"/>
              <a:buChar char="•"/>
            </a:pPr>
            <a:r>
              <a:rPr lang="en-AU" sz="1200" kern="1200" dirty="0" smtClean="0">
                <a:solidFill>
                  <a:schemeClr val="tx1"/>
                </a:solidFill>
                <a:latin typeface="+mn-lt"/>
                <a:ea typeface="+mn-ea"/>
                <a:cs typeface="+mn-cs"/>
              </a:rPr>
              <a:t> Clear destination of members of public</a:t>
            </a:r>
          </a:p>
          <a:p>
            <a:pPr lvl="1">
              <a:buFont typeface="Arial" pitchFamily="34" charset="0"/>
              <a:buChar char="•"/>
            </a:pPr>
            <a:r>
              <a:rPr lang="en-AU" sz="1200" kern="1200" dirty="0" smtClean="0">
                <a:solidFill>
                  <a:schemeClr val="tx1"/>
                </a:solidFill>
                <a:latin typeface="+mn-lt"/>
                <a:ea typeface="+mn-ea"/>
                <a:cs typeface="+mn-cs"/>
              </a:rPr>
              <a:t> Secure area when delivery has been made</a:t>
            </a:r>
          </a:p>
          <a:p>
            <a:pPr>
              <a:buFont typeface="Arial" pitchFamily="34" charset="0"/>
              <a:buChar char="•"/>
            </a:pPr>
            <a:r>
              <a:rPr lang="en-AU" sz="1200" kern="1200" dirty="0" smtClean="0">
                <a:solidFill>
                  <a:schemeClr val="tx1"/>
                </a:solidFill>
                <a:latin typeface="+mn-lt"/>
                <a:ea typeface="+mn-ea"/>
                <a:cs typeface="+mn-cs"/>
              </a:rPr>
              <a:t> Resources to be used to achieve the objectives.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can include requirements relating to:</a:t>
            </a:r>
          </a:p>
          <a:p>
            <a:pPr lvl="1">
              <a:buFont typeface="Arial" pitchFamily="34" charset="0"/>
              <a:buChar char="•"/>
            </a:pPr>
            <a:r>
              <a:rPr lang="en-AU" sz="1200" kern="1200" dirty="0" smtClean="0">
                <a:solidFill>
                  <a:schemeClr val="tx1"/>
                </a:solidFill>
                <a:latin typeface="+mn-lt"/>
                <a:ea typeface="+mn-ea"/>
                <a:cs typeface="+mn-cs"/>
              </a:rPr>
              <a:t> Human resources by name and number</a:t>
            </a:r>
          </a:p>
          <a:p>
            <a:pPr lvl="1">
              <a:buFont typeface="Arial" pitchFamily="34" charset="0"/>
              <a:buChar char="•"/>
            </a:pPr>
            <a:r>
              <a:rPr lang="en-AU" sz="1200" kern="1200" dirty="0" smtClean="0">
                <a:solidFill>
                  <a:schemeClr val="tx1"/>
                </a:solidFill>
                <a:latin typeface="+mn-lt"/>
                <a:ea typeface="+mn-ea"/>
                <a:cs typeface="+mn-cs"/>
              </a:rPr>
              <a:t> Physical resources such as barricades, comms, PPE, weapons</a:t>
            </a:r>
          </a:p>
          <a:p>
            <a:pPr lvl="1">
              <a:buFont typeface="Arial" pitchFamily="34" charset="0"/>
              <a:buChar char="•"/>
            </a:pPr>
            <a:r>
              <a:rPr lang="en-AU" sz="1200" kern="1200" dirty="0" smtClean="0">
                <a:solidFill>
                  <a:schemeClr val="tx1"/>
                </a:solidFill>
                <a:latin typeface="+mn-lt"/>
                <a:ea typeface="+mn-ea"/>
                <a:cs typeface="+mn-cs"/>
              </a:rPr>
              <a:t> Intelligence – information about the event/situation/job.</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686968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information on details which could be included in assignment instructions:</a:t>
            </a:r>
          </a:p>
          <a:p>
            <a:pPr>
              <a:buFont typeface="Arial" pitchFamily="34" charset="0"/>
              <a:buChar char="•"/>
            </a:pPr>
            <a:r>
              <a:rPr lang="en-AU" sz="1200" kern="1200" dirty="0" smtClean="0">
                <a:solidFill>
                  <a:schemeClr val="tx1"/>
                </a:solidFill>
                <a:latin typeface="+mn-lt"/>
                <a:ea typeface="+mn-ea"/>
                <a:cs typeface="+mn-cs"/>
              </a:rPr>
              <a:t> Management for the assignment detailing:</a:t>
            </a:r>
          </a:p>
          <a:p>
            <a:pPr lvl="1">
              <a:buFont typeface="Arial" pitchFamily="34" charset="0"/>
              <a:buChar char="•"/>
            </a:pPr>
            <a:r>
              <a:rPr lang="en-AU" sz="1200" kern="1200" dirty="0" smtClean="0">
                <a:solidFill>
                  <a:schemeClr val="tx1"/>
                </a:solidFill>
                <a:latin typeface="+mn-lt"/>
                <a:ea typeface="+mn-ea"/>
                <a:cs typeface="+mn-cs"/>
              </a:rPr>
              <a:t> Who is in charge</a:t>
            </a:r>
          </a:p>
          <a:p>
            <a:pPr lvl="1">
              <a:buFont typeface="Arial" pitchFamily="34" charset="0"/>
              <a:buChar char="•"/>
            </a:pPr>
            <a:r>
              <a:rPr lang="en-AU" sz="1200" kern="1200" dirty="0" smtClean="0">
                <a:solidFill>
                  <a:schemeClr val="tx1"/>
                </a:solidFill>
                <a:latin typeface="+mn-lt"/>
                <a:ea typeface="+mn-ea"/>
                <a:cs typeface="+mn-cs"/>
              </a:rPr>
              <a:t> Reporting protocols</a:t>
            </a:r>
          </a:p>
          <a:p>
            <a:pPr lvl="1">
              <a:buFont typeface="Arial" pitchFamily="34" charset="0"/>
              <a:buChar char="•"/>
            </a:pPr>
            <a:r>
              <a:rPr lang="en-AU" sz="1200" kern="1200" dirty="0" smtClean="0">
                <a:solidFill>
                  <a:schemeClr val="tx1"/>
                </a:solidFill>
                <a:latin typeface="+mn-lt"/>
                <a:ea typeface="+mn-ea"/>
                <a:cs typeface="+mn-cs"/>
              </a:rPr>
              <a:t> Command and control authority</a:t>
            </a:r>
          </a:p>
          <a:p>
            <a:pPr>
              <a:buFont typeface="Arial" pitchFamily="34" charset="0"/>
              <a:buChar char="•"/>
            </a:pPr>
            <a:r>
              <a:rPr lang="en-AU" sz="1200" kern="1200" dirty="0" smtClean="0">
                <a:solidFill>
                  <a:schemeClr val="tx1"/>
                </a:solidFill>
                <a:latin typeface="+mn-lt"/>
                <a:ea typeface="+mn-ea"/>
                <a:cs typeface="+mn-cs"/>
              </a:rPr>
              <a:t> Documentation involving:</a:t>
            </a:r>
          </a:p>
          <a:p>
            <a:pPr lvl="1">
              <a:buFont typeface="Arial" pitchFamily="34" charset="0"/>
              <a:buChar char="•"/>
            </a:pPr>
            <a:r>
              <a:rPr lang="en-AU" sz="1200" kern="1200" dirty="0" smtClean="0">
                <a:solidFill>
                  <a:schemeClr val="tx1"/>
                </a:solidFill>
                <a:latin typeface="+mn-lt"/>
                <a:ea typeface="+mn-ea"/>
                <a:cs typeface="+mn-cs"/>
              </a:rPr>
              <a:t> Photographs of people who are known threats</a:t>
            </a:r>
          </a:p>
          <a:p>
            <a:pPr lvl="1">
              <a:buFont typeface="Arial" pitchFamily="34" charset="0"/>
              <a:buChar char="•"/>
            </a:pPr>
            <a:r>
              <a:rPr lang="en-AU" sz="1200" kern="1200" dirty="0" smtClean="0">
                <a:solidFill>
                  <a:schemeClr val="tx1"/>
                </a:solidFill>
                <a:latin typeface="+mn-lt"/>
                <a:ea typeface="+mn-ea"/>
                <a:cs typeface="+mn-cs"/>
              </a:rPr>
              <a:t> Issuing of relevant forms, logs, registers as appropriate to/necessary for the assignment</a:t>
            </a:r>
          </a:p>
          <a:p>
            <a:pPr lvl="1">
              <a:buFont typeface="Arial" pitchFamily="34" charset="0"/>
              <a:buChar char="•"/>
            </a:pPr>
            <a:r>
              <a:rPr lang="en-AU" sz="1200" kern="1200" dirty="0" smtClean="0">
                <a:solidFill>
                  <a:schemeClr val="tx1"/>
                </a:solidFill>
                <a:latin typeface="+mn-lt"/>
                <a:ea typeface="+mn-ea"/>
                <a:cs typeface="+mn-cs"/>
              </a:rPr>
              <a:t> Provision of relevant plans, routes and schedules</a:t>
            </a:r>
          </a:p>
          <a:p>
            <a:pPr lvl="1">
              <a:buFont typeface="Arial" pitchFamily="34" charset="0"/>
              <a:buChar char="•"/>
            </a:pPr>
            <a:r>
              <a:rPr lang="en-AU" sz="1200" kern="1200" dirty="0" smtClean="0">
                <a:solidFill>
                  <a:schemeClr val="tx1"/>
                </a:solidFill>
                <a:latin typeface="+mn-lt"/>
                <a:ea typeface="+mn-ea"/>
                <a:cs typeface="+mn-cs"/>
              </a:rPr>
              <a:t> Distribution of any paperwork needing to be competed as part of the assignment, or when the assignment has been finalised.</a:t>
            </a:r>
          </a:p>
          <a:p>
            <a:pPr>
              <a:buFont typeface="Arial" pitchFamily="34" charset="0"/>
              <a:buNone/>
            </a:pPr>
            <a:endParaRPr lang="en-AU" noProof="0" dirty="0" smtClean="0"/>
          </a:p>
          <a:p>
            <a:pPr>
              <a:buFont typeface="Arial" pitchFamily="34" charset="0"/>
              <a:buNone/>
            </a:pPr>
            <a:r>
              <a:rPr lang="en-AU" b="1" noProof="0" dirty="0" smtClean="0"/>
              <a:t>Class Activity – Small group exercise</a:t>
            </a:r>
          </a:p>
          <a:p>
            <a:pPr>
              <a:buFont typeface="Arial" pitchFamily="34" charset="0"/>
              <a:buNone/>
            </a:pPr>
            <a:r>
              <a:rPr lang="en-AU" b="0" noProof="0" dirty="0" smtClean="0"/>
              <a:t>Trainer divides class into small groups.</a:t>
            </a:r>
          </a:p>
          <a:p>
            <a:pPr>
              <a:buFont typeface="Arial" pitchFamily="34" charset="0"/>
              <a:buNone/>
            </a:pPr>
            <a:r>
              <a:rPr lang="en-AU" b="0" noProof="0" dirty="0" smtClean="0"/>
              <a:t>Each group is presented with an ‘escort and carry’ scenario and asked to:</a:t>
            </a:r>
          </a:p>
          <a:p>
            <a:pPr>
              <a:buFont typeface="Arial" pitchFamily="34" charset="0"/>
              <a:buChar char="•"/>
            </a:pPr>
            <a:r>
              <a:rPr lang="en-AU" b="0" noProof="0" dirty="0" smtClean="0"/>
              <a:t> Prepare</a:t>
            </a:r>
            <a:r>
              <a:rPr lang="en-AU" b="0" baseline="0" noProof="0" dirty="0" smtClean="0"/>
              <a:t> a plan for the scenario</a:t>
            </a:r>
          </a:p>
          <a:p>
            <a:pPr>
              <a:buFont typeface="Arial" pitchFamily="34" charset="0"/>
              <a:buChar char="•"/>
            </a:pPr>
            <a:r>
              <a:rPr lang="en-AU" b="0" baseline="0" noProof="0" dirty="0" smtClean="0"/>
              <a:t> Develop an assignment instruction for the scenario.</a:t>
            </a:r>
            <a:endParaRPr lang="en-AU" b="0" noProof="0" dirty="0" smtClean="0"/>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1731757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3694662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144369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33948022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undertaking escort duties by asking questions such as:</a:t>
            </a:r>
          </a:p>
          <a:p>
            <a:pPr>
              <a:buFont typeface="Arial" pitchFamily="34" charset="0"/>
              <a:buChar char="•"/>
            </a:pPr>
            <a:r>
              <a:rPr lang="en-US" b="0" dirty="0" smtClean="0"/>
              <a:t> What experience do you have of escorting people/guests?</a:t>
            </a:r>
          </a:p>
          <a:p>
            <a:pPr>
              <a:buFont typeface="Arial" pitchFamily="34" charset="0"/>
              <a:buChar char="•"/>
            </a:pPr>
            <a:r>
              <a:rPr lang="en-US" b="0" dirty="0" smtClean="0"/>
              <a:t> What is meant by ‘providing close escort duties”?</a:t>
            </a:r>
          </a:p>
          <a:p>
            <a:pPr>
              <a:buFont typeface="Arial" pitchFamily="34" charset="0"/>
              <a:buChar char="•"/>
            </a:pPr>
            <a:r>
              <a:rPr lang="en-US" b="0" dirty="0" smtClean="0"/>
              <a:t> Why would a venue provide a close escort service?</a:t>
            </a:r>
          </a:p>
          <a:p>
            <a:pPr>
              <a:buFont typeface="Arial" pitchFamily="34" charset="0"/>
              <a:buChar char="•"/>
            </a:pPr>
            <a:r>
              <a:rPr lang="en-US" b="0" dirty="0" smtClean="0"/>
              <a:t> What threats might occur when escorting people?</a:t>
            </a:r>
          </a:p>
          <a:p>
            <a:pPr>
              <a:buFont typeface="Arial" pitchFamily="34" charset="0"/>
              <a:buChar char="•"/>
            </a:pPr>
            <a:r>
              <a:rPr lang="en-US" b="0" dirty="0" smtClean="0"/>
              <a:t> How might you respond to those threats?</a:t>
            </a:r>
          </a:p>
          <a:p>
            <a:pPr>
              <a:buFont typeface="Arial" pitchFamily="34" charset="0"/>
              <a:buChar char="•"/>
            </a:pPr>
            <a:endParaRPr lang="en-US" b="0" dirty="0" smtClean="0"/>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5350720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explains </a:t>
            </a:r>
            <a:r>
              <a:rPr lang="en-AU" sz="1200" kern="1200" dirty="0" smtClean="0">
                <a:solidFill>
                  <a:schemeClr val="tx1"/>
                </a:solidFill>
                <a:latin typeface="+mn-lt"/>
                <a:ea typeface="+mn-ea"/>
                <a:cs typeface="+mn-cs"/>
              </a:rPr>
              <a:t>all escort assignments should take place along an identified route highlighting standard procedure is to:</a:t>
            </a:r>
          </a:p>
          <a:p>
            <a:pPr>
              <a:buFont typeface="Arial" pitchFamily="34" charset="0"/>
              <a:buChar char="•"/>
            </a:pPr>
            <a:r>
              <a:rPr lang="en-AU" sz="1200" kern="1200" dirty="0" smtClean="0">
                <a:solidFill>
                  <a:schemeClr val="tx1"/>
                </a:solidFill>
                <a:latin typeface="+mn-lt"/>
                <a:ea typeface="+mn-ea"/>
                <a:cs typeface="+mn-cs"/>
              </a:rPr>
              <a:t> Develop a primary route for all escort duties/assignments</a:t>
            </a:r>
          </a:p>
          <a:p>
            <a:pPr>
              <a:buFont typeface="Arial" pitchFamily="34" charset="0"/>
              <a:buChar char="•"/>
            </a:pPr>
            <a:r>
              <a:rPr lang="en-AU" sz="1200" kern="1200" dirty="0" smtClean="0">
                <a:solidFill>
                  <a:schemeClr val="tx1"/>
                </a:solidFill>
                <a:latin typeface="+mn-lt"/>
                <a:ea typeface="+mn-ea"/>
                <a:cs typeface="+mn-cs"/>
              </a:rPr>
              <a:t> Develop at least one secondary route for every escort duty/assignment</a:t>
            </a:r>
          </a:p>
          <a:p>
            <a:pPr>
              <a:buFont typeface="Arial" pitchFamily="34" charset="0"/>
              <a:buChar char="•"/>
            </a:pPr>
            <a:r>
              <a:rPr lang="en-AU" sz="1200" kern="1200" dirty="0" smtClean="0">
                <a:solidFill>
                  <a:schemeClr val="tx1"/>
                </a:solidFill>
                <a:latin typeface="+mn-lt"/>
                <a:ea typeface="+mn-ea"/>
                <a:cs typeface="+mn-cs"/>
              </a:rPr>
              <a:t> Include route directions with assignment instructions.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1981641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the </a:t>
            </a:r>
            <a:r>
              <a:rPr lang="en-AU" sz="1200" kern="1200" dirty="0" smtClean="0">
                <a:solidFill>
                  <a:schemeClr val="tx1"/>
                </a:solidFill>
                <a:latin typeface="+mn-lt"/>
                <a:ea typeface="+mn-ea"/>
                <a:cs typeface="+mn-cs"/>
              </a:rPr>
              <a:t>primary route is the preferred route for the escort based on all relevant factors and taking into account all associated details and requirements.</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will be the route which is deemed to be the safest and most secure and will be developed to show:</a:t>
            </a:r>
          </a:p>
          <a:p>
            <a:pPr>
              <a:buFont typeface="Arial" pitchFamily="34" charset="0"/>
              <a:buChar char="•"/>
            </a:pPr>
            <a:r>
              <a:rPr lang="en-AU" sz="1200" kern="1200" dirty="0" smtClean="0">
                <a:solidFill>
                  <a:schemeClr val="tx1"/>
                </a:solidFill>
                <a:latin typeface="+mn-lt"/>
                <a:ea typeface="+mn-ea"/>
                <a:cs typeface="+mn-cs"/>
              </a:rPr>
              <a:t> Starting point</a:t>
            </a:r>
          </a:p>
          <a:p>
            <a:pPr>
              <a:buFont typeface="Arial" pitchFamily="34" charset="0"/>
              <a:buChar char="•"/>
            </a:pPr>
            <a:r>
              <a:rPr lang="en-AU" sz="1200" kern="1200" dirty="0" smtClean="0">
                <a:solidFill>
                  <a:schemeClr val="tx1"/>
                </a:solidFill>
                <a:latin typeface="+mn-lt"/>
                <a:ea typeface="+mn-ea"/>
                <a:cs typeface="+mn-cs"/>
              </a:rPr>
              <a:t> Path/route to be taken divided into sectors</a:t>
            </a:r>
          </a:p>
          <a:p>
            <a:pPr>
              <a:buFont typeface="Arial" pitchFamily="34" charset="0"/>
              <a:buChar char="•"/>
            </a:pPr>
            <a:r>
              <a:rPr lang="en-AU" sz="1200" kern="1200" dirty="0" smtClean="0">
                <a:solidFill>
                  <a:schemeClr val="tx1"/>
                </a:solidFill>
                <a:latin typeface="+mn-lt"/>
                <a:ea typeface="+mn-ea"/>
                <a:cs typeface="+mn-cs"/>
              </a:rPr>
              <a:t> Threat points – locations where attack (or other problems) are likely</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anticipated, based on risk identification and analysis)  </a:t>
            </a:r>
          </a:p>
          <a:p>
            <a:pPr>
              <a:buFont typeface="Arial" pitchFamily="34" charset="0"/>
              <a:buChar char="•"/>
            </a:pPr>
            <a:r>
              <a:rPr lang="en-AU" sz="1200" kern="1200" dirty="0" smtClean="0">
                <a:solidFill>
                  <a:schemeClr val="tx1"/>
                </a:solidFill>
                <a:latin typeface="+mn-lt"/>
                <a:ea typeface="+mn-ea"/>
                <a:cs typeface="+mn-cs"/>
              </a:rPr>
              <a:t> Check-in points where radio contact with the control room is required</a:t>
            </a:r>
          </a:p>
          <a:p>
            <a:pPr>
              <a:buFont typeface="Arial" pitchFamily="34" charset="0"/>
              <a:buChar char="•"/>
            </a:pPr>
            <a:r>
              <a:rPr lang="en-AU" sz="1200" kern="1200" dirty="0" smtClean="0">
                <a:solidFill>
                  <a:schemeClr val="tx1"/>
                </a:solidFill>
                <a:latin typeface="+mn-lt"/>
                <a:ea typeface="+mn-ea"/>
                <a:cs typeface="+mn-cs"/>
              </a:rPr>
              <a:t> End point.</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Presentation</a:t>
            </a:r>
          </a:p>
          <a:p>
            <a:pPr>
              <a:buFont typeface="Arial" pitchFamily="34" charset="0"/>
              <a:buNone/>
            </a:pPr>
            <a:r>
              <a:rPr lang="en-AU" sz="1200" b="0" kern="1200" dirty="0" smtClean="0">
                <a:solidFill>
                  <a:schemeClr val="tx1"/>
                </a:solidFill>
                <a:latin typeface="+mn-lt"/>
                <a:ea typeface="+mn-ea"/>
                <a:cs typeface="+mn-cs"/>
              </a:rPr>
              <a:t>Trainer obtains, distributes and discusses sample of a Primary route.</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4287362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the secondary route is Plan B should the primary route be compromised or become unavailable, unusable or unsafe highlighting each sector of the primary route should have at least one secondary route and stressing the secondary route should show:</a:t>
            </a:r>
          </a:p>
          <a:p>
            <a:pPr>
              <a:buFont typeface="Arial" pitchFamily="34" charset="0"/>
              <a:buChar char="•"/>
            </a:pPr>
            <a:r>
              <a:rPr lang="en-AU" sz="1200" kern="1200" dirty="0" smtClean="0">
                <a:solidFill>
                  <a:schemeClr val="tx1"/>
                </a:solidFill>
                <a:latin typeface="+mn-lt"/>
                <a:ea typeface="+mn-ea"/>
                <a:cs typeface="+mn-cs"/>
              </a:rPr>
              <a:t> Entry points from the primary route into the secondary route</a:t>
            </a:r>
          </a:p>
          <a:p>
            <a:pPr>
              <a:buFont typeface="Arial" pitchFamily="34" charset="0"/>
              <a:buChar char="•"/>
            </a:pPr>
            <a:r>
              <a:rPr lang="en-AU" sz="1200" kern="1200" dirty="0" smtClean="0">
                <a:solidFill>
                  <a:schemeClr val="tx1"/>
                </a:solidFill>
                <a:latin typeface="+mn-lt"/>
                <a:ea typeface="+mn-ea"/>
                <a:cs typeface="+mn-cs"/>
              </a:rPr>
              <a:t> Path/route to be taken</a:t>
            </a:r>
          </a:p>
          <a:p>
            <a:pPr>
              <a:buFont typeface="Arial" pitchFamily="34" charset="0"/>
              <a:buChar char="•"/>
            </a:pPr>
            <a:r>
              <a:rPr lang="en-AU" sz="1200" kern="1200" dirty="0" smtClean="0">
                <a:solidFill>
                  <a:schemeClr val="tx1"/>
                </a:solidFill>
                <a:latin typeface="+mn-lt"/>
                <a:ea typeface="+mn-ea"/>
                <a:cs typeface="+mn-cs"/>
              </a:rPr>
              <a:t> One of the following:</a:t>
            </a:r>
          </a:p>
          <a:p>
            <a:pPr lvl="1">
              <a:buFont typeface="Arial" pitchFamily="34" charset="0"/>
              <a:buChar char="•"/>
            </a:pPr>
            <a:r>
              <a:rPr lang="en-US" sz="1200" kern="1200" dirty="0" smtClean="0">
                <a:solidFill>
                  <a:schemeClr val="tx1"/>
                </a:solidFill>
                <a:latin typeface="+mn-lt"/>
                <a:ea typeface="+mn-ea"/>
                <a:cs typeface="+mn-cs"/>
              </a:rPr>
              <a:t> Where the secondary route rejoins the primary route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Alternative route to completion of assignment.</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Where it is not possible to identify a secondary route you must develop:</a:t>
            </a:r>
          </a:p>
          <a:p>
            <a:pPr>
              <a:buFont typeface="Arial" pitchFamily="34" charset="0"/>
              <a:buChar char="•"/>
            </a:pPr>
            <a:r>
              <a:rPr lang="en-AU" sz="1200" kern="1200" dirty="0" smtClean="0">
                <a:solidFill>
                  <a:schemeClr val="tx1"/>
                </a:solidFill>
                <a:latin typeface="+mn-lt"/>
                <a:ea typeface="+mn-ea"/>
                <a:cs typeface="+mn-cs"/>
              </a:rPr>
              <a:t> An escape route</a:t>
            </a:r>
          </a:p>
          <a:p>
            <a:pPr>
              <a:buFont typeface="Arial" pitchFamily="34" charset="0"/>
              <a:buChar char="•"/>
            </a:pPr>
            <a:r>
              <a:rPr lang="en-AU" sz="1200" kern="1200" dirty="0" smtClean="0">
                <a:solidFill>
                  <a:schemeClr val="tx1"/>
                </a:solidFill>
                <a:latin typeface="+mn-lt"/>
                <a:ea typeface="+mn-ea"/>
                <a:cs typeface="+mn-cs"/>
              </a:rPr>
              <a:t> Additional security arrangements.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4949264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before a route is confirmed as being either a primary or secondary route it is advisable to:</a:t>
            </a:r>
          </a:p>
          <a:p>
            <a:pPr>
              <a:buFont typeface="Arial" pitchFamily="34" charset="0"/>
              <a:buChar char="•"/>
            </a:pPr>
            <a:r>
              <a:rPr lang="en-AU" sz="1200" kern="1200" dirty="0" smtClean="0">
                <a:solidFill>
                  <a:schemeClr val="tx1"/>
                </a:solidFill>
                <a:latin typeface="+mn-lt"/>
                <a:ea typeface="+mn-ea"/>
                <a:cs typeface="+mn-cs"/>
              </a:rPr>
              <a:t> Conduct test/practice runs using the identified routes.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may:</a:t>
            </a:r>
          </a:p>
          <a:p>
            <a:pPr lvl="1">
              <a:buFont typeface="Arial" pitchFamily="34" charset="0"/>
              <a:buChar char="•"/>
            </a:pPr>
            <a:r>
              <a:rPr lang="en-US" sz="1200" kern="1200" dirty="0" smtClean="0">
                <a:solidFill>
                  <a:schemeClr val="tx1"/>
                </a:solidFill>
                <a:latin typeface="+mn-lt"/>
                <a:ea typeface="+mn-ea"/>
                <a:cs typeface="+mn-cs"/>
              </a:rPr>
              <a:t> Be conducted at the time of day the real escort is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Use the same staff as will be employed for the actual assignment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Feature use of ‘actors’ to simulate the person/s being to be escorted</a:t>
            </a:r>
            <a:endParaRPr lang="en-AU" sz="1200" kern="1200" dirty="0" smtClean="0">
              <a:solidFill>
                <a:schemeClr val="tx1"/>
              </a:solidFill>
              <a:latin typeface="+mn-lt"/>
              <a:ea typeface="+mn-ea"/>
              <a:cs typeface="+mn-cs"/>
            </a:endParaRPr>
          </a:p>
          <a:p>
            <a:pPr lvl="1">
              <a:buFont typeface="Arial" pitchFamily="34" charset="0"/>
              <a:buNone/>
            </a:pPr>
            <a:r>
              <a:rPr lang="en-US" sz="1200" kern="1200" dirty="0" smtClean="0">
                <a:solidFill>
                  <a:schemeClr val="tx1"/>
                </a:solidFill>
                <a:latin typeface="+mn-lt"/>
                <a:ea typeface="+mn-ea"/>
                <a:cs typeface="+mn-cs"/>
              </a:rPr>
              <a:t>to duplicate as closely as possible the ‘actual conditions which will apply to the escort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Time progress through each sector of the route and the overall escort assignment</a:t>
            </a:r>
          </a:p>
          <a:p>
            <a:pPr>
              <a:buFont typeface="Arial" pitchFamily="34" charset="0"/>
              <a:buChar char="•"/>
            </a:pPr>
            <a:r>
              <a:rPr lang="en-AU" sz="1200" kern="1200" dirty="0" smtClean="0">
                <a:solidFill>
                  <a:schemeClr val="tx1"/>
                </a:solidFill>
                <a:latin typeface="+mn-lt"/>
                <a:ea typeface="+mn-ea"/>
                <a:cs typeface="+mn-cs"/>
              </a:rPr>
              <a:t> Include simulated ‘events’ in the test/practice runs to reflect situations/threats which have been identified as being likely to occur.</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may include:</a:t>
            </a:r>
          </a:p>
          <a:p>
            <a:pPr lvl="1">
              <a:buFont typeface="Arial" pitchFamily="34" charset="0"/>
              <a:buChar char="•"/>
            </a:pPr>
            <a:r>
              <a:rPr lang="en-AU" sz="1200" kern="1200" dirty="0" smtClean="0">
                <a:solidFill>
                  <a:schemeClr val="tx1"/>
                </a:solidFill>
                <a:latin typeface="+mn-lt"/>
                <a:ea typeface="+mn-ea"/>
                <a:cs typeface="+mn-cs"/>
              </a:rPr>
              <a:t> Crowd disturbances</a:t>
            </a:r>
          </a:p>
          <a:p>
            <a:pPr lvl="1">
              <a:buFont typeface="Arial" pitchFamily="34" charset="0"/>
              <a:buChar char="•"/>
            </a:pPr>
            <a:r>
              <a:rPr lang="en-AU" sz="1200" kern="1200" dirty="0" smtClean="0">
                <a:solidFill>
                  <a:schemeClr val="tx1"/>
                </a:solidFill>
                <a:latin typeface="+mn-lt"/>
                <a:ea typeface="+mn-ea"/>
                <a:cs typeface="+mn-cs"/>
              </a:rPr>
              <a:t> Media interventions</a:t>
            </a:r>
          </a:p>
          <a:p>
            <a:pPr lvl="1">
              <a:buFont typeface="Arial" pitchFamily="34" charset="0"/>
              <a:buChar char="•"/>
            </a:pPr>
            <a:r>
              <a:rPr lang="en-AU" sz="1200" kern="1200" dirty="0" smtClean="0">
                <a:solidFill>
                  <a:schemeClr val="tx1"/>
                </a:solidFill>
                <a:latin typeface="+mn-lt"/>
                <a:ea typeface="+mn-ea"/>
                <a:cs typeface="+mn-cs"/>
              </a:rPr>
              <a:t> Threats and attacks.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3099032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when </a:t>
            </a:r>
            <a:r>
              <a:rPr lang="en-AU" sz="1200" kern="1200" dirty="0" smtClean="0">
                <a:solidFill>
                  <a:schemeClr val="tx1"/>
                </a:solidFill>
                <a:latin typeface="+mn-lt"/>
                <a:ea typeface="+mn-ea"/>
                <a:cs typeface="+mn-cs"/>
              </a:rPr>
              <a:t>looking at the route to be taken for an escort assignment students should pay attention to the following:</a:t>
            </a:r>
            <a:endParaRPr lang="en-AU" noProof="0" dirty="0" smtClean="0"/>
          </a:p>
          <a:p>
            <a:pPr>
              <a:buFont typeface="Arial" pitchFamily="34" charset="0"/>
              <a:buChar char="•"/>
            </a:pPr>
            <a:r>
              <a:rPr lang="en-AU" sz="1200" kern="1200" dirty="0" smtClean="0">
                <a:solidFill>
                  <a:schemeClr val="tx1"/>
                </a:solidFill>
                <a:latin typeface="+mn-lt"/>
                <a:ea typeface="+mn-ea"/>
                <a:cs typeface="+mn-cs"/>
              </a:rPr>
              <a:t> Determining the shortest route.</a:t>
            </a:r>
            <a:r>
              <a:rPr lang="en-AU" sz="1200" kern="1200" baseline="0" dirty="0" smtClean="0">
                <a:solidFill>
                  <a:schemeClr val="tx1"/>
                </a:solidFill>
                <a:latin typeface="+mn-lt"/>
                <a:ea typeface="+mn-ea"/>
                <a:cs typeface="+mn-cs"/>
              </a:rPr>
              <a:t> O</a:t>
            </a:r>
            <a:r>
              <a:rPr lang="en-AU" sz="1200" kern="1200" dirty="0" smtClean="0">
                <a:solidFill>
                  <a:schemeClr val="tx1"/>
                </a:solidFill>
                <a:latin typeface="+mn-lt"/>
                <a:ea typeface="+mn-ea"/>
                <a:cs typeface="+mn-cs"/>
              </a:rPr>
              <a:t>ften the best route is the shortest route but this is not always due to:</a:t>
            </a:r>
          </a:p>
          <a:p>
            <a:pPr lvl="1">
              <a:buFont typeface="Arial" pitchFamily="34" charset="0"/>
              <a:buChar char="•"/>
            </a:pPr>
            <a:r>
              <a:rPr lang="en-US" sz="1200" kern="1200" dirty="0" smtClean="0">
                <a:solidFill>
                  <a:schemeClr val="tx1"/>
                </a:solidFill>
                <a:latin typeface="+mn-lt"/>
                <a:ea typeface="+mn-ea"/>
                <a:cs typeface="+mn-cs"/>
              </a:rPr>
              <a:t> Exposure and opportunity provided to attackers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Crowd and crush problems where the route moves through high-traffic areas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Determining quickest route.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quickest route is most commonly the route to take as it reduces exposure and opportunity but this can sometimes not be the route the person/s being escorted want to take.</a:t>
            </a:r>
          </a:p>
          <a:p>
            <a:pPr lvl="1">
              <a:buFont typeface="Arial" pitchFamily="34" charset="0"/>
              <a:buChar char="•"/>
            </a:pPr>
            <a:r>
              <a:rPr lang="en-AU" sz="1200" kern="1200" dirty="0" smtClean="0">
                <a:solidFill>
                  <a:schemeClr val="tx1"/>
                </a:solidFill>
                <a:latin typeface="+mn-lt"/>
                <a:ea typeface="+mn-ea"/>
                <a:cs typeface="+mn-cs"/>
              </a:rPr>
              <a:t> Sometimes the person being escorted wants a high-profile event involving crowd interaction, photo opportunities and publicity</a:t>
            </a:r>
          </a:p>
          <a:p>
            <a:pPr>
              <a:buFont typeface="Arial" pitchFamily="34" charset="0"/>
              <a:buChar char="•"/>
            </a:pPr>
            <a:r>
              <a:rPr lang="en-AU" sz="1200" kern="1200" dirty="0" smtClean="0">
                <a:solidFill>
                  <a:schemeClr val="tx1"/>
                </a:solidFill>
                <a:latin typeface="+mn-lt"/>
                <a:ea typeface="+mn-ea"/>
                <a:cs typeface="+mn-cs"/>
              </a:rPr>
              <a:t> Assessment of the weather expected at the time and how it is likely to impact:</a:t>
            </a:r>
          </a:p>
          <a:p>
            <a:pPr lvl="1">
              <a:buFont typeface="Arial" pitchFamily="34" charset="0"/>
              <a:buChar char="•"/>
            </a:pPr>
            <a:r>
              <a:rPr lang="en-US" sz="1200" kern="1200" dirty="0" smtClean="0">
                <a:solidFill>
                  <a:schemeClr val="tx1"/>
                </a:solidFill>
                <a:latin typeface="+mn-lt"/>
                <a:ea typeface="+mn-ea"/>
                <a:cs typeface="+mn-cs"/>
              </a:rPr>
              <a:t> Routes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Threats.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41813282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factors to consider when identifying route:</a:t>
            </a:r>
          </a:p>
          <a:p>
            <a:pPr>
              <a:buFont typeface="Arial" pitchFamily="34" charset="0"/>
              <a:buChar char="•"/>
            </a:pPr>
            <a:r>
              <a:rPr lang="en-AU" sz="1200" kern="1200" dirty="0" smtClean="0">
                <a:solidFill>
                  <a:schemeClr val="tx1"/>
                </a:solidFill>
                <a:latin typeface="+mn-lt"/>
                <a:ea typeface="+mn-ea"/>
                <a:cs typeface="+mn-cs"/>
              </a:rPr>
              <a:t> Evaluation of the time of day the escort is required which will have major impacts on:</a:t>
            </a:r>
          </a:p>
          <a:p>
            <a:pPr lvl="1">
              <a:buFont typeface="Arial" pitchFamily="34" charset="0"/>
              <a:buChar char="•"/>
            </a:pPr>
            <a:r>
              <a:rPr lang="en-US" sz="1200" kern="1200" dirty="0" smtClean="0">
                <a:solidFill>
                  <a:schemeClr val="tx1"/>
                </a:solidFill>
                <a:latin typeface="+mn-lt"/>
                <a:ea typeface="+mn-ea"/>
                <a:cs typeface="+mn-cs"/>
              </a:rPr>
              <a:t> Equipment required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Routes available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Identification and analysis of relevant other issues such as:</a:t>
            </a:r>
          </a:p>
          <a:p>
            <a:pPr lvl="1">
              <a:buFont typeface="Arial" pitchFamily="34" charset="0"/>
              <a:buChar char="•"/>
            </a:pPr>
            <a:r>
              <a:rPr lang="en-US" sz="1200" kern="1200" dirty="0" smtClean="0">
                <a:solidFill>
                  <a:schemeClr val="tx1"/>
                </a:solidFill>
                <a:latin typeface="+mn-lt"/>
                <a:ea typeface="+mn-ea"/>
                <a:cs typeface="+mn-cs"/>
              </a:rPr>
              <a:t> Day of the week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Local events, celebrations, sporting occasions which may impact 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Access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Road closures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Stress on other security staff, authorities and security systems, equipment and technology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In-house events such as seminars, conferences, meetings or functions being conducted in the venue at the same time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Levels of expected trade and traffic</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General environmental issues such as noise, lighting, temporary structures/displays obstructing normal routes and/or lines of sight.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Small group work</a:t>
            </a:r>
          </a:p>
          <a:p>
            <a:pPr>
              <a:buFont typeface="Arial" pitchFamily="34" charset="0"/>
              <a:buNone/>
            </a:pPr>
            <a:r>
              <a:rPr lang="en-AU" b="0" noProof="0" dirty="0" smtClean="0"/>
              <a:t>Trainer divides</a:t>
            </a:r>
            <a:r>
              <a:rPr lang="en-AU" b="0" baseline="0" noProof="0" dirty="0" smtClean="0"/>
              <a:t> class into small groups.</a:t>
            </a:r>
          </a:p>
          <a:p>
            <a:pPr>
              <a:buFont typeface="Arial" pitchFamily="34" charset="0"/>
              <a:buNone/>
            </a:pPr>
            <a:r>
              <a:rPr lang="en-AU" b="0" baseline="0" noProof="0" dirty="0" smtClean="0"/>
              <a:t>Trainer gives each group an assignment instruction for a carry or escort task in the building where the training is taking place and asks them to develop a primary route and secondary routes to enable successful completion of the task.</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901413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threat assessments must be undertaken to:</a:t>
            </a:r>
          </a:p>
          <a:p>
            <a:pPr>
              <a:buFont typeface="Arial" pitchFamily="34" charset="0"/>
              <a:buChar char="•"/>
            </a:pPr>
            <a:r>
              <a:rPr lang="en-AU" sz="1200" kern="1200" dirty="0" smtClean="0">
                <a:solidFill>
                  <a:schemeClr val="tx1"/>
                </a:solidFill>
                <a:latin typeface="+mn-lt"/>
                <a:ea typeface="+mn-ea"/>
                <a:cs typeface="+mn-cs"/>
              </a:rPr>
              <a:t> Identify, reduce, avoid or eliminate threats and risks.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all part of the formal risk management process</a:t>
            </a:r>
          </a:p>
          <a:p>
            <a:pPr>
              <a:buFont typeface="Arial" pitchFamily="34" charset="0"/>
              <a:buChar char="•"/>
            </a:pPr>
            <a:r>
              <a:rPr lang="en-AU" sz="1200" kern="1200" dirty="0" smtClean="0">
                <a:solidFill>
                  <a:schemeClr val="tx1"/>
                </a:solidFill>
                <a:latin typeface="+mn-lt"/>
                <a:ea typeface="+mn-ea"/>
                <a:cs typeface="+mn-cs"/>
              </a:rPr>
              <a:t> Determine appropriate responses to threats</a:t>
            </a:r>
          </a:p>
          <a:p>
            <a:pPr>
              <a:buFont typeface="Arial" pitchFamily="34" charset="0"/>
              <a:buChar char="•"/>
            </a:pPr>
            <a:r>
              <a:rPr lang="en-AU" sz="1200" kern="1200" dirty="0" smtClean="0">
                <a:solidFill>
                  <a:schemeClr val="tx1"/>
                </a:solidFill>
                <a:latin typeface="+mn-lt"/>
                <a:ea typeface="+mn-ea"/>
                <a:cs typeface="+mn-cs"/>
              </a:rPr>
              <a:t> Develop the most secure and effective course of action</a:t>
            </a:r>
          </a:p>
          <a:p>
            <a:pPr>
              <a:buFont typeface="Arial" pitchFamily="34" charset="0"/>
              <a:buChar char="•"/>
            </a:pPr>
            <a:r>
              <a:rPr lang="en-AU" sz="1200" kern="1200" dirty="0" smtClean="0">
                <a:solidFill>
                  <a:schemeClr val="tx1"/>
                </a:solidFill>
                <a:latin typeface="+mn-lt"/>
                <a:ea typeface="+mn-ea"/>
                <a:cs typeface="+mn-cs"/>
              </a:rPr>
              <a:t> Involve relevant others in the planning process.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may include:</a:t>
            </a:r>
          </a:p>
          <a:p>
            <a:pPr lvl="1">
              <a:buFont typeface="Arial" pitchFamily="34" charset="0"/>
              <a:buChar char="•"/>
            </a:pPr>
            <a:r>
              <a:rPr lang="en-US" sz="1200" kern="1200" dirty="0" smtClean="0">
                <a:solidFill>
                  <a:schemeClr val="tx1"/>
                </a:solidFill>
                <a:latin typeface="+mn-lt"/>
                <a:ea typeface="+mn-ea"/>
                <a:cs typeface="+mn-cs"/>
              </a:rPr>
              <a:t> Person/persons to be escorted or their representatives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Internal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Authorities.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927446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reasons for threat assessments:</a:t>
            </a:r>
          </a:p>
          <a:p>
            <a:pPr>
              <a:buFont typeface="Arial" pitchFamily="34" charset="0"/>
              <a:buChar char="•"/>
            </a:pPr>
            <a:r>
              <a:rPr lang="en-AU" sz="1200" kern="1200" dirty="0" smtClean="0">
                <a:solidFill>
                  <a:schemeClr val="tx1"/>
                </a:solidFill>
                <a:latin typeface="+mn-lt"/>
                <a:ea typeface="+mn-ea"/>
                <a:cs typeface="+mn-cs"/>
              </a:rPr>
              <a:t> Discharge ‘due diligence’ and ‘duty of care’ obligations</a:t>
            </a:r>
          </a:p>
          <a:p>
            <a:pPr>
              <a:buFont typeface="Arial" pitchFamily="34" charset="0"/>
              <a:buChar char="•"/>
            </a:pPr>
            <a:r>
              <a:rPr lang="en-AU" sz="1200" kern="1200" dirty="0" smtClean="0">
                <a:solidFill>
                  <a:schemeClr val="tx1"/>
                </a:solidFill>
                <a:latin typeface="+mn-lt"/>
                <a:ea typeface="+mn-ea"/>
                <a:cs typeface="+mn-cs"/>
              </a:rPr>
              <a:t> Provide a professional service</a:t>
            </a:r>
          </a:p>
          <a:p>
            <a:pPr>
              <a:buFont typeface="Arial" pitchFamily="34" charset="0"/>
              <a:buChar char="•"/>
            </a:pPr>
            <a:r>
              <a:rPr lang="en-AU" sz="1200" kern="1200" dirty="0" smtClean="0">
                <a:solidFill>
                  <a:schemeClr val="tx1"/>
                </a:solidFill>
                <a:latin typeface="+mn-lt"/>
                <a:ea typeface="+mn-ea"/>
                <a:cs typeface="+mn-cs"/>
              </a:rPr>
              <a:t> Demonstrate value for the charges being levied for the service provided.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1205725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a:t>
            </a:r>
            <a:r>
              <a:rPr lang="en-AU" baseline="0" noProof="0" dirty="0" smtClean="0"/>
              <a:t> context to escort and carry jobs drawing distinctions between items and people:</a:t>
            </a:r>
          </a:p>
          <a:p>
            <a:pPr>
              <a:buFont typeface="Arial" pitchFamily="34" charset="0"/>
              <a:buChar char="•"/>
            </a:pPr>
            <a:r>
              <a:rPr lang="en-AU" sz="1200" b="0" kern="1200" dirty="0" smtClean="0">
                <a:solidFill>
                  <a:schemeClr val="tx1"/>
                </a:solidFill>
                <a:latin typeface="+mn-lt"/>
                <a:ea typeface="+mn-ea"/>
                <a:cs typeface="+mn-cs"/>
              </a:rPr>
              <a:t> Providing escorts to valuable items and providing escorts to people are different activities. This said, both contain an element of risk.</a:t>
            </a:r>
            <a:r>
              <a:rPr lang="en-AU" sz="1200" b="0" kern="1200" baseline="0" dirty="0" smtClean="0">
                <a:solidFill>
                  <a:schemeClr val="tx1"/>
                </a:solidFill>
                <a:latin typeface="+mn-lt"/>
                <a:ea typeface="+mn-ea"/>
                <a:cs typeface="+mn-cs"/>
              </a:rPr>
              <a:t> Th</a:t>
            </a:r>
            <a:r>
              <a:rPr lang="en-AU" sz="1200" b="0" kern="1200" dirty="0" smtClean="0">
                <a:solidFill>
                  <a:schemeClr val="tx1"/>
                </a:solidFill>
                <a:latin typeface="+mn-lt"/>
                <a:ea typeface="+mn-ea"/>
                <a:cs typeface="+mn-cs"/>
              </a:rPr>
              <a:t>ere is always the potential people will want to steal an item and there is always the potential offenders will want to attack or kidnap a person. The fundamental difference is:</a:t>
            </a:r>
            <a:endParaRPr lang="en-AU" sz="1200" b="1"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An item </a:t>
            </a:r>
            <a:r>
              <a:rPr lang="en-AU" sz="1200" kern="1200" dirty="0" smtClean="0">
                <a:solidFill>
                  <a:schemeClr val="tx1"/>
                </a:solidFill>
                <a:latin typeface="+mn-lt"/>
                <a:ea typeface="+mn-ea"/>
                <a:cs typeface="+mn-cs"/>
              </a:rPr>
              <a:t>is inert.</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an inanimate object meaning:</a:t>
            </a:r>
          </a:p>
          <a:p>
            <a:pPr>
              <a:buFont typeface="Arial" pitchFamily="34" charset="0"/>
              <a:buChar char="•"/>
            </a:pPr>
            <a:r>
              <a:rPr lang="en-US" sz="1200" kern="1200" dirty="0" smtClean="0">
                <a:solidFill>
                  <a:schemeClr val="tx1"/>
                </a:solidFill>
                <a:latin typeface="+mn-lt"/>
                <a:ea typeface="+mn-ea"/>
                <a:cs typeface="+mn-cs"/>
              </a:rPr>
              <a:t> It will not argue with you</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It will simply respond to whatever is done to it without disputing things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Items can be replaced, lives cannot</a:t>
            </a: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People </a:t>
            </a:r>
            <a:r>
              <a:rPr lang="en-AU" sz="1200" kern="1200" dirty="0" smtClean="0">
                <a:solidFill>
                  <a:schemeClr val="tx1"/>
                </a:solidFill>
                <a:latin typeface="+mn-lt"/>
                <a:ea typeface="+mn-ea"/>
                <a:cs typeface="+mn-cs"/>
              </a:rPr>
              <a:t>who are to be escorted:</a:t>
            </a:r>
          </a:p>
          <a:p>
            <a:pPr>
              <a:buFont typeface="Arial" pitchFamily="34" charset="0"/>
              <a:buChar char="•"/>
            </a:pPr>
            <a:r>
              <a:rPr lang="en-US" sz="1200" kern="1200" dirty="0" smtClean="0">
                <a:solidFill>
                  <a:schemeClr val="tx1"/>
                </a:solidFill>
                <a:latin typeface="+mn-lt"/>
                <a:ea typeface="+mn-ea"/>
                <a:cs typeface="+mn-cs"/>
              </a:rPr>
              <a:t> May question your tactics, proposed route and course of action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May be unpredictable.</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n an instance they can make a decision which completely destroys all plans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Will proceed at different rates/paces.</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heir rate of travel varies between individuals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Will respond to threats and attacks in different ways.</a:t>
            </a:r>
            <a:r>
              <a:rPr lang="en-US" sz="1200" kern="1200" baseline="0" dirty="0" smtClean="0">
                <a:solidFill>
                  <a:schemeClr val="tx1"/>
                </a:solidFill>
                <a:latin typeface="+mn-lt"/>
                <a:ea typeface="+mn-ea"/>
                <a:cs typeface="+mn-cs"/>
              </a:rPr>
              <a:t> S</a:t>
            </a:r>
            <a:r>
              <a:rPr lang="en-US" sz="1200" kern="1200" dirty="0" smtClean="0">
                <a:solidFill>
                  <a:schemeClr val="tx1"/>
                </a:solidFill>
                <a:latin typeface="+mn-lt"/>
                <a:ea typeface="+mn-ea"/>
                <a:cs typeface="+mn-cs"/>
              </a:rPr>
              <a:t>ome have been trained to immediately and unquestioningly follow directions while others are shocked into disbelief and inaction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Generally speaking ‘people’ generate different problems than ‘items’,</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 for example: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People may want to talk to the person/s being escorted</a:t>
            </a:r>
          </a:p>
          <a:p>
            <a:pPr>
              <a:buFont typeface="Arial" pitchFamily="34" charset="0"/>
              <a:buChar char="•"/>
            </a:pPr>
            <a:r>
              <a:rPr lang="en-AU" sz="1200" kern="1200" dirty="0" smtClean="0">
                <a:solidFill>
                  <a:schemeClr val="tx1"/>
                </a:solidFill>
                <a:latin typeface="+mn-lt"/>
                <a:ea typeface="+mn-ea"/>
                <a:cs typeface="+mn-cs"/>
              </a:rPr>
              <a:t> Members of the public may want autographs and photographs</a:t>
            </a:r>
          </a:p>
          <a:p>
            <a:pPr>
              <a:buFont typeface="Arial" pitchFamily="34" charset="0"/>
              <a:buChar char="•"/>
            </a:pPr>
            <a:r>
              <a:rPr lang="en-AU" sz="1200" kern="1200" dirty="0" smtClean="0">
                <a:solidFill>
                  <a:schemeClr val="tx1"/>
                </a:solidFill>
                <a:latin typeface="+mn-lt"/>
                <a:ea typeface="+mn-ea"/>
                <a:cs typeface="+mn-cs"/>
              </a:rPr>
              <a:t> The media may want interviews</a:t>
            </a:r>
          </a:p>
          <a:p>
            <a:pPr>
              <a:buFont typeface="Arial" pitchFamily="34" charset="0"/>
              <a:buChar char="•"/>
            </a:pPr>
            <a:r>
              <a:rPr lang="en-AU" sz="1200" kern="1200" dirty="0" smtClean="0">
                <a:solidFill>
                  <a:schemeClr val="tx1"/>
                </a:solidFill>
                <a:latin typeface="+mn-lt"/>
                <a:ea typeface="+mn-ea"/>
                <a:cs typeface="+mn-cs"/>
              </a:rPr>
              <a:t> Angry/disgruntled people may want to physically or verbally abuse the person/s.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0977350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generic factors to be considered when </a:t>
            </a:r>
            <a:r>
              <a:rPr lang="en-AU" sz="1200" b="0" kern="1200" dirty="0" smtClean="0">
                <a:solidFill>
                  <a:schemeClr val="tx1"/>
                </a:solidFill>
                <a:latin typeface="+mn-lt"/>
                <a:ea typeface="+mn-ea"/>
                <a:cs typeface="+mn-cs"/>
              </a:rPr>
              <a:t>assessing threats for escorting duties:</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Review all your internal intelligence</a:t>
            </a:r>
          </a:p>
          <a:p>
            <a:pPr>
              <a:buFont typeface="Arial" pitchFamily="34" charset="0"/>
              <a:buChar char="•"/>
            </a:pPr>
            <a:r>
              <a:rPr lang="en-AU" sz="1200" kern="1200" dirty="0" smtClean="0">
                <a:solidFill>
                  <a:schemeClr val="tx1"/>
                </a:solidFill>
                <a:latin typeface="+mn-lt"/>
                <a:ea typeface="+mn-ea"/>
                <a:cs typeface="+mn-cs"/>
              </a:rPr>
              <a:t> Contact local authorities for updates</a:t>
            </a:r>
          </a:p>
          <a:p>
            <a:pPr>
              <a:buFont typeface="Arial" pitchFamily="34" charset="0"/>
              <a:buChar char="•"/>
            </a:pPr>
            <a:r>
              <a:rPr lang="en-AU" sz="1200" kern="1200" dirty="0" smtClean="0">
                <a:solidFill>
                  <a:schemeClr val="tx1"/>
                </a:solidFill>
                <a:latin typeface="+mn-lt"/>
                <a:ea typeface="+mn-ea"/>
                <a:cs typeface="+mn-cs"/>
              </a:rPr>
              <a:t> Plan for the worst and hope for the best.</a:t>
            </a:r>
            <a:r>
              <a:rPr lang="en-AU" sz="1200" kern="1200" baseline="0" dirty="0" smtClean="0">
                <a:solidFill>
                  <a:schemeClr val="tx1"/>
                </a:solidFill>
                <a:latin typeface="+mn-lt"/>
                <a:ea typeface="+mn-ea"/>
                <a:cs typeface="+mn-cs"/>
              </a:rPr>
              <a:t> A</a:t>
            </a:r>
            <a:r>
              <a:rPr lang="en-AU" sz="1200" kern="1200" dirty="0" smtClean="0">
                <a:solidFill>
                  <a:schemeClr val="tx1"/>
                </a:solidFill>
                <a:latin typeface="+mn-lt"/>
                <a:ea typeface="+mn-ea"/>
                <a:cs typeface="+mn-cs"/>
              </a:rPr>
              <a:t>lways adopt a worse case scenario</a:t>
            </a:r>
          </a:p>
          <a:p>
            <a:pPr>
              <a:buFont typeface="Arial" pitchFamily="34" charset="0"/>
              <a:buChar char="•"/>
            </a:pPr>
            <a:r>
              <a:rPr lang="en-AU" sz="1200" kern="1200" dirty="0" smtClean="0">
                <a:solidFill>
                  <a:schemeClr val="tx1"/>
                </a:solidFill>
                <a:latin typeface="+mn-lt"/>
                <a:ea typeface="+mn-ea"/>
                <a:cs typeface="+mn-cs"/>
              </a:rPr>
              <a:t> Eliminating a threat is a better option than reducing the potential of a threat:</a:t>
            </a:r>
          </a:p>
          <a:p>
            <a:pPr lvl="1">
              <a:buFont typeface="Arial" pitchFamily="34" charset="0"/>
              <a:buChar char="•"/>
            </a:pPr>
            <a:r>
              <a:rPr lang="en-AU" sz="1200" kern="1200" dirty="0" smtClean="0">
                <a:solidFill>
                  <a:schemeClr val="tx1"/>
                </a:solidFill>
                <a:latin typeface="+mn-lt"/>
                <a:ea typeface="+mn-ea"/>
                <a:cs typeface="+mn-cs"/>
              </a:rPr>
              <a:t> Restricting/closing access to a route is preferable to having to deal with people along the route</a:t>
            </a:r>
          </a:p>
          <a:p>
            <a:pPr lvl="1">
              <a:buFont typeface="Arial" pitchFamily="34" charset="0"/>
              <a:buChar char="•"/>
            </a:pPr>
            <a:r>
              <a:rPr lang="en-AU" sz="1200" kern="1200" dirty="0" smtClean="0">
                <a:solidFill>
                  <a:schemeClr val="tx1"/>
                </a:solidFill>
                <a:latin typeface="+mn-lt"/>
                <a:ea typeface="+mn-ea"/>
                <a:cs typeface="+mn-cs"/>
              </a:rPr>
              <a:t> Undertaking the escort when there are no other people present is better than doing it when there are lots of bystanders and onlookers.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3075497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examples of case-by-case issues to be considered for </a:t>
            </a:r>
            <a:r>
              <a:rPr lang="en-AU" sz="1200" b="0" kern="1200" dirty="0" smtClean="0">
                <a:solidFill>
                  <a:schemeClr val="tx1"/>
                </a:solidFill>
                <a:latin typeface="+mn-lt"/>
                <a:ea typeface="+mn-ea"/>
                <a:cs typeface="+mn-cs"/>
              </a:rPr>
              <a:t>individual escort assignments:</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Always talk to the person/s to be escorted or their representative to identify:</a:t>
            </a:r>
          </a:p>
          <a:p>
            <a:pPr lvl="1">
              <a:buFont typeface="Arial" pitchFamily="34" charset="0"/>
              <a:buChar char="•"/>
            </a:pPr>
            <a:r>
              <a:rPr lang="en-AU" sz="1200" kern="1200" dirty="0" smtClean="0">
                <a:solidFill>
                  <a:schemeClr val="tx1"/>
                </a:solidFill>
                <a:latin typeface="+mn-lt"/>
                <a:ea typeface="+mn-ea"/>
                <a:cs typeface="+mn-cs"/>
              </a:rPr>
              <a:t> Specific requirements</a:t>
            </a:r>
          </a:p>
          <a:p>
            <a:pPr lvl="1">
              <a:buFont typeface="Arial" pitchFamily="34" charset="0"/>
              <a:buChar char="•"/>
            </a:pPr>
            <a:r>
              <a:rPr lang="en-AU" sz="1200" kern="1200" dirty="0" smtClean="0">
                <a:solidFill>
                  <a:schemeClr val="tx1"/>
                </a:solidFill>
                <a:latin typeface="+mn-lt"/>
                <a:ea typeface="+mn-ea"/>
                <a:cs typeface="+mn-cs"/>
              </a:rPr>
              <a:t> Personal preferences</a:t>
            </a:r>
          </a:p>
          <a:p>
            <a:pPr lvl="1">
              <a:buFont typeface="Arial" pitchFamily="34" charset="0"/>
              <a:buChar char="•"/>
            </a:pPr>
            <a:r>
              <a:rPr lang="en-AU" sz="1200" kern="1200" dirty="0" smtClean="0">
                <a:solidFill>
                  <a:schemeClr val="tx1"/>
                </a:solidFill>
                <a:latin typeface="+mn-lt"/>
                <a:ea typeface="+mn-ea"/>
                <a:cs typeface="+mn-cs"/>
              </a:rPr>
              <a:t> Known threats and/or trouble-makers</a:t>
            </a:r>
          </a:p>
          <a:p>
            <a:pPr lvl="1">
              <a:buFont typeface="Arial" pitchFamily="34" charset="0"/>
              <a:buChar char="•"/>
            </a:pPr>
            <a:r>
              <a:rPr lang="en-AU" sz="1200" kern="1200" dirty="0" smtClean="0">
                <a:solidFill>
                  <a:schemeClr val="tx1"/>
                </a:solidFill>
                <a:latin typeface="+mn-lt"/>
                <a:ea typeface="+mn-ea"/>
                <a:cs typeface="+mn-cs"/>
              </a:rPr>
              <a:t> Previous incidents involving escort of the person/s at other venues or locations</a:t>
            </a:r>
          </a:p>
          <a:p>
            <a:pPr>
              <a:buFont typeface="Arial" pitchFamily="34" charset="0"/>
              <a:buChar char="•"/>
            </a:pPr>
            <a:r>
              <a:rPr lang="en-AU" sz="1200" kern="1200" dirty="0" smtClean="0">
                <a:solidFill>
                  <a:schemeClr val="tx1"/>
                </a:solidFill>
                <a:latin typeface="+mn-lt"/>
                <a:ea typeface="+mn-ea"/>
                <a:cs typeface="+mn-cs"/>
              </a:rPr>
              <a:t> Never exceed your designated scope of authority when making decisions and/or taking action to meet unique demands regarding escorting service provision</a:t>
            </a:r>
          </a:p>
          <a:p>
            <a:pPr>
              <a:buFont typeface="Arial" pitchFamily="34" charset="0"/>
              <a:buChar char="•"/>
            </a:pPr>
            <a:r>
              <a:rPr lang="en-AU" sz="1200" kern="1200" dirty="0" smtClean="0">
                <a:solidFill>
                  <a:schemeClr val="tx1"/>
                </a:solidFill>
                <a:latin typeface="+mn-lt"/>
                <a:ea typeface="+mn-ea"/>
                <a:cs typeface="+mn-cs"/>
              </a:rPr>
              <a:t> Ensure all actions taken comply with internal policies and procedures</a:t>
            </a:r>
          </a:p>
          <a:p>
            <a:pPr>
              <a:buFont typeface="Arial" pitchFamily="34" charset="0"/>
              <a:buChar char="•"/>
            </a:pPr>
            <a:r>
              <a:rPr lang="en-AU" sz="1200" kern="1200" dirty="0" smtClean="0">
                <a:solidFill>
                  <a:schemeClr val="tx1"/>
                </a:solidFill>
                <a:latin typeface="+mn-lt"/>
                <a:ea typeface="+mn-ea"/>
                <a:cs typeface="+mn-cs"/>
              </a:rPr>
              <a:t> Never engage in any illegal activity as part of the service provided such as use of illegal tactics, use of illegal weapons, assaults.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1353489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students </a:t>
            </a:r>
            <a:r>
              <a:rPr lang="en-AU" sz="1200" kern="1200" dirty="0" smtClean="0">
                <a:solidFill>
                  <a:schemeClr val="tx1"/>
                </a:solidFill>
                <a:latin typeface="+mn-lt"/>
                <a:ea typeface="+mn-ea"/>
                <a:cs typeface="+mn-cs"/>
              </a:rPr>
              <a:t>should feel free to call on help from others at any time highlighting in relation to provision of escort duties this refers to three distinct stages:</a:t>
            </a:r>
          </a:p>
          <a:p>
            <a:pPr>
              <a:buFont typeface="Arial" pitchFamily="34" charset="0"/>
              <a:buChar char="•"/>
            </a:pPr>
            <a:r>
              <a:rPr lang="en-AU" sz="1200" kern="1200" dirty="0" smtClean="0">
                <a:solidFill>
                  <a:schemeClr val="tx1"/>
                </a:solidFill>
                <a:latin typeface="+mn-lt"/>
                <a:ea typeface="+mn-ea"/>
                <a:cs typeface="+mn-cs"/>
              </a:rPr>
              <a:t> During the planning and preparation phase</a:t>
            </a:r>
          </a:p>
          <a:p>
            <a:pPr>
              <a:buFont typeface="Arial" pitchFamily="34" charset="0"/>
              <a:buChar char="•"/>
            </a:pPr>
            <a:r>
              <a:rPr lang="en-AU" sz="1200" kern="1200" dirty="0" smtClean="0">
                <a:solidFill>
                  <a:schemeClr val="tx1"/>
                </a:solidFill>
                <a:latin typeface="+mn-lt"/>
                <a:ea typeface="+mn-ea"/>
                <a:cs typeface="+mn-cs"/>
              </a:rPr>
              <a:t> While providing the actual escort to:</a:t>
            </a:r>
          </a:p>
          <a:p>
            <a:pPr lvl="1">
              <a:buFont typeface="Arial" pitchFamily="34" charset="0"/>
              <a:buChar char="•"/>
            </a:pPr>
            <a:r>
              <a:rPr lang="en-US" sz="1200" kern="1200" dirty="0" smtClean="0">
                <a:solidFill>
                  <a:schemeClr val="tx1"/>
                </a:solidFill>
                <a:latin typeface="+mn-lt"/>
                <a:ea typeface="+mn-ea"/>
                <a:cs typeface="+mn-cs"/>
              </a:rPr>
              <a:t> Enhance service provision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Assist with responses to threats and/or attacks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As part of the review stage following completing/finalisation of the assignment.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32885206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reasons it is good to ask for assistance</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It helps relieve you of sole responsibility .</a:t>
            </a:r>
            <a:r>
              <a:rPr lang="en-AU" sz="1200" kern="1200" baseline="0" dirty="0" smtClean="0">
                <a:solidFill>
                  <a:schemeClr val="tx1"/>
                </a:solidFill>
                <a:latin typeface="+mn-lt"/>
                <a:ea typeface="+mn-ea"/>
                <a:cs typeface="+mn-cs"/>
              </a:rPr>
              <a:t> It</a:t>
            </a:r>
            <a:r>
              <a:rPr lang="en-AU" sz="1200" kern="1200" dirty="0" smtClean="0">
                <a:solidFill>
                  <a:schemeClr val="tx1"/>
                </a:solidFill>
                <a:latin typeface="+mn-lt"/>
                <a:ea typeface="+mn-ea"/>
                <a:cs typeface="+mn-cs"/>
              </a:rPr>
              <a:t> also shares the blame if something goes wrong</a:t>
            </a:r>
          </a:p>
          <a:p>
            <a:pPr>
              <a:buFont typeface="Arial" pitchFamily="34" charset="0"/>
              <a:buChar char="•"/>
            </a:pPr>
            <a:r>
              <a:rPr lang="en-AU" sz="1200" kern="1200" dirty="0" smtClean="0">
                <a:solidFill>
                  <a:schemeClr val="tx1"/>
                </a:solidFill>
                <a:latin typeface="+mn-lt"/>
                <a:ea typeface="+mn-ea"/>
                <a:cs typeface="+mn-cs"/>
              </a:rPr>
              <a:t> It provides a more diverse range of opinions and options for action</a:t>
            </a:r>
          </a:p>
          <a:p>
            <a:pPr>
              <a:buFont typeface="Arial" pitchFamily="34" charset="0"/>
              <a:buChar char="•"/>
            </a:pPr>
            <a:r>
              <a:rPr lang="en-AU" sz="1200" kern="1200" dirty="0" smtClean="0">
                <a:solidFill>
                  <a:schemeClr val="tx1"/>
                </a:solidFill>
                <a:latin typeface="+mn-lt"/>
                <a:ea typeface="+mn-ea"/>
                <a:cs typeface="+mn-cs"/>
              </a:rPr>
              <a:t> It supplies a bigger pool of expertise and experience to draw from</a:t>
            </a:r>
          </a:p>
          <a:p>
            <a:pPr>
              <a:buFont typeface="Arial" pitchFamily="34" charset="0"/>
              <a:buChar char="•"/>
            </a:pPr>
            <a:r>
              <a:rPr lang="en-AU" sz="1200" kern="1200" dirty="0" smtClean="0">
                <a:solidFill>
                  <a:schemeClr val="tx1"/>
                </a:solidFill>
                <a:latin typeface="+mn-lt"/>
                <a:ea typeface="+mn-ea"/>
                <a:cs typeface="+mn-cs"/>
              </a:rPr>
              <a:t> It facilitates information sharing</a:t>
            </a:r>
          </a:p>
          <a:p>
            <a:pPr>
              <a:buFont typeface="Arial" pitchFamily="34" charset="0"/>
              <a:buChar char="•"/>
            </a:pPr>
            <a:r>
              <a:rPr lang="en-AU" sz="1200" kern="1200" dirty="0" smtClean="0">
                <a:solidFill>
                  <a:schemeClr val="tx1"/>
                </a:solidFill>
                <a:latin typeface="+mn-lt"/>
                <a:ea typeface="+mn-ea"/>
                <a:cs typeface="+mn-cs"/>
              </a:rPr>
              <a:t> It generates more and more informed intelligence to use as the basis for planning and decision making.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3746104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there are three main sources of assistance:</a:t>
            </a:r>
          </a:p>
          <a:p>
            <a:pPr>
              <a:buFont typeface="Arial" pitchFamily="34" charset="0"/>
              <a:buChar char="•"/>
            </a:pPr>
            <a:r>
              <a:rPr lang="en-AU" noProof="0" dirty="0" smtClean="0"/>
              <a:t> Internal staff – see next slide</a:t>
            </a:r>
          </a:p>
          <a:p>
            <a:pPr>
              <a:buFont typeface="Arial" pitchFamily="34" charset="0"/>
              <a:buChar char="•"/>
            </a:pPr>
            <a:r>
              <a:rPr lang="en-AU" noProof="0" dirty="0" smtClean="0"/>
              <a:t> External security company – see later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noProof="0" dirty="0" smtClean="0"/>
              <a:t> Local authorities – see later slide.</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2995785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other internal staff can include:</a:t>
            </a:r>
          </a:p>
          <a:p>
            <a:pPr>
              <a:buFont typeface="Arial" pitchFamily="34" charset="0"/>
              <a:buChar char="•"/>
            </a:pPr>
            <a:r>
              <a:rPr lang="en-AU" sz="1200" kern="1200" dirty="0" smtClean="0">
                <a:solidFill>
                  <a:schemeClr val="tx1"/>
                </a:solidFill>
                <a:latin typeface="+mn-lt"/>
                <a:ea typeface="+mn-ea"/>
                <a:cs typeface="+mn-cs"/>
              </a:rPr>
              <a:t> Other security staff</a:t>
            </a:r>
          </a:p>
          <a:p>
            <a:pPr>
              <a:buFont typeface="Arial" pitchFamily="34" charset="0"/>
              <a:buChar char="•"/>
            </a:pPr>
            <a:r>
              <a:rPr lang="en-AU" sz="1200" kern="1200" dirty="0" smtClean="0">
                <a:solidFill>
                  <a:schemeClr val="tx1"/>
                </a:solidFill>
                <a:latin typeface="+mn-lt"/>
                <a:ea typeface="+mn-ea"/>
                <a:cs typeface="+mn-cs"/>
              </a:rPr>
              <a:t> Management</a:t>
            </a:r>
          </a:p>
          <a:p>
            <a:pPr>
              <a:buFont typeface="Arial" pitchFamily="34" charset="0"/>
              <a:buChar char="•"/>
            </a:pPr>
            <a:r>
              <a:rPr lang="en-AU" sz="1200" kern="1200" dirty="0" smtClean="0">
                <a:solidFill>
                  <a:schemeClr val="tx1"/>
                </a:solidFill>
                <a:latin typeface="+mn-lt"/>
                <a:ea typeface="+mn-ea"/>
                <a:cs typeface="+mn-cs"/>
              </a:rPr>
              <a:t> People on staff who have been part of similar escort duties in the past</a:t>
            </a:r>
          </a:p>
          <a:p>
            <a:pPr>
              <a:buFont typeface="Arial" pitchFamily="34" charset="0"/>
              <a:buChar char="•"/>
            </a:pPr>
            <a:r>
              <a:rPr lang="en-AU" sz="1200" kern="1200" dirty="0" smtClean="0">
                <a:solidFill>
                  <a:schemeClr val="tx1"/>
                </a:solidFill>
                <a:latin typeface="+mn-lt"/>
                <a:ea typeface="+mn-ea"/>
                <a:cs typeface="+mn-cs"/>
              </a:rPr>
              <a:t> Marketing department to promote the level of security being provided (without disclosing specifics) to deter offenders/attacks.</a:t>
            </a:r>
          </a:p>
          <a:p>
            <a:pPr>
              <a:buFont typeface="Arial" pitchFamily="34" charset="0"/>
              <a:buNone/>
            </a:pPr>
            <a:endParaRPr lang="en-AU" noProof="0" dirty="0" smtClean="0"/>
          </a:p>
          <a:p>
            <a:r>
              <a:rPr lang="en-AU" sz="1200" kern="1200" dirty="0" smtClean="0">
                <a:solidFill>
                  <a:schemeClr val="tx1"/>
                </a:solidFill>
                <a:latin typeface="+mn-lt"/>
                <a:ea typeface="+mn-ea"/>
                <a:cs typeface="+mn-cs"/>
              </a:rPr>
              <a:t>Trainer explains their assistance may cover:</a:t>
            </a:r>
          </a:p>
          <a:p>
            <a:pPr>
              <a:buFont typeface="Arial" pitchFamily="34" charset="0"/>
              <a:buChar char="•"/>
            </a:pPr>
            <a:r>
              <a:rPr lang="en-AU" sz="1200" kern="1200" dirty="0" smtClean="0">
                <a:solidFill>
                  <a:schemeClr val="tx1"/>
                </a:solidFill>
                <a:latin typeface="+mn-lt"/>
                <a:ea typeface="+mn-ea"/>
                <a:cs typeface="+mn-cs"/>
              </a:rPr>
              <a:t> Suggestions for planning and action</a:t>
            </a:r>
          </a:p>
          <a:p>
            <a:pPr>
              <a:buFont typeface="Arial" pitchFamily="34" charset="0"/>
              <a:buChar char="•"/>
            </a:pPr>
            <a:r>
              <a:rPr lang="en-AU" sz="1200" kern="1200" dirty="0" smtClean="0">
                <a:solidFill>
                  <a:schemeClr val="tx1"/>
                </a:solidFill>
                <a:latin typeface="+mn-lt"/>
                <a:ea typeface="+mn-ea"/>
                <a:cs typeface="+mn-cs"/>
              </a:rPr>
              <a:t> Information about previous escort assignments </a:t>
            </a:r>
          </a:p>
          <a:p>
            <a:pPr>
              <a:buFont typeface="Arial" pitchFamily="34" charset="0"/>
              <a:buChar char="•"/>
            </a:pPr>
            <a:r>
              <a:rPr lang="en-AU" sz="1200" kern="1200" dirty="0" smtClean="0">
                <a:solidFill>
                  <a:schemeClr val="tx1"/>
                </a:solidFill>
                <a:latin typeface="+mn-lt"/>
                <a:ea typeface="+mn-ea"/>
                <a:cs typeface="+mn-cs"/>
              </a:rPr>
              <a:t> Help with providing suitable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24807764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t>
            </a:r>
            <a:r>
              <a:rPr lang="en-AU" sz="1200" kern="1200" dirty="0" smtClean="0">
                <a:solidFill>
                  <a:schemeClr val="tx1"/>
                </a:solidFill>
                <a:latin typeface="+mn-lt"/>
                <a:ea typeface="+mn-ea"/>
                <a:cs typeface="+mn-cs"/>
              </a:rPr>
              <a:t>support from an external security company may involve:</a:t>
            </a:r>
          </a:p>
          <a:p>
            <a:pPr>
              <a:buFont typeface="Arial" pitchFamily="34" charset="0"/>
              <a:buChar char="•"/>
            </a:pPr>
            <a:r>
              <a:rPr lang="en-AU" sz="1200" kern="1200" dirty="0" smtClean="0">
                <a:solidFill>
                  <a:schemeClr val="tx1"/>
                </a:solidFill>
                <a:latin typeface="+mn-lt"/>
                <a:ea typeface="+mn-ea"/>
                <a:cs typeface="+mn-cs"/>
              </a:rPr>
              <a:t> Provision of guards to support escorts</a:t>
            </a:r>
          </a:p>
          <a:p>
            <a:pPr>
              <a:buFont typeface="Arial" pitchFamily="34" charset="0"/>
              <a:buChar char="•"/>
            </a:pPr>
            <a:r>
              <a:rPr lang="en-AU" sz="1200" kern="1200" dirty="0" smtClean="0">
                <a:solidFill>
                  <a:schemeClr val="tx1"/>
                </a:solidFill>
                <a:latin typeface="+mn-lt"/>
                <a:ea typeface="+mn-ea"/>
                <a:cs typeface="+mn-cs"/>
              </a:rPr>
              <a:t> Provision of intelligence on local threats</a:t>
            </a:r>
          </a:p>
          <a:p>
            <a:pPr>
              <a:buFont typeface="Arial" pitchFamily="34" charset="0"/>
              <a:buChar char="•"/>
            </a:pPr>
            <a:r>
              <a:rPr lang="en-AU" sz="1200" kern="1200" dirty="0" smtClean="0">
                <a:solidFill>
                  <a:schemeClr val="tx1"/>
                </a:solidFill>
                <a:latin typeface="+mn-lt"/>
                <a:ea typeface="+mn-ea"/>
                <a:cs typeface="+mn-cs"/>
              </a:rPr>
              <a:t> Contribution of suggestions for action and feedback on plans</a:t>
            </a:r>
          </a:p>
          <a:p>
            <a:pPr>
              <a:buFont typeface="Arial" pitchFamily="34" charset="0"/>
              <a:buChar char="•"/>
            </a:pPr>
            <a:r>
              <a:rPr lang="en-AU" sz="1200" kern="1200" dirty="0" smtClean="0">
                <a:solidFill>
                  <a:schemeClr val="tx1"/>
                </a:solidFill>
                <a:latin typeface="+mn-lt"/>
                <a:ea typeface="+mn-ea"/>
                <a:cs typeface="+mn-cs"/>
              </a:rPr>
              <a:t> Arrangements for response to attacks and incidents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2009255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t>
            </a:r>
            <a:r>
              <a:rPr lang="en-AU" sz="1200" kern="1200" dirty="0" smtClean="0">
                <a:solidFill>
                  <a:schemeClr val="tx1"/>
                </a:solidFill>
                <a:latin typeface="+mn-lt"/>
                <a:ea typeface="+mn-ea"/>
                <a:cs typeface="+mn-cs"/>
              </a:rPr>
              <a:t>support from local authorities identifying these will commonly include liaison with police, fire and ambulance and/or civil defence and indicating their contribution/assistance may relate to:</a:t>
            </a:r>
          </a:p>
          <a:p>
            <a:pPr>
              <a:buFont typeface="Arial" pitchFamily="34" charset="0"/>
              <a:buChar char="•"/>
            </a:pPr>
            <a:r>
              <a:rPr lang="en-AU" sz="1200" kern="1200" dirty="0" smtClean="0">
                <a:solidFill>
                  <a:schemeClr val="tx1"/>
                </a:solidFill>
                <a:latin typeface="+mn-lt"/>
                <a:ea typeface="+mn-ea"/>
                <a:cs typeface="+mn-cs"/>
              </a:rPr>
              <a:t> Provision of updated threat advice</a:t>
            </a:r>
          </a:p>
          <a:p>
            <a:pPr>
              <a:buFont typeface="Arial" pitchFamily="34" charset="0"/>
              <a:buChar char="•"/>
            </a:pPr>
            <a:r>
              <a:rPr lang="en-AU" sz="1200" kern="1200" dirty="0" smtClean="0">
                <a:solidFill>
                  <a:schemeClr val="tx1"/>
                </a:solidFill>
                <a:latin typeface="+mn-lt"/>
                <a:ea typeface="+mn-ea"/>
                <a:cs typeface="+mn-cs"/>
              </a:rPr>
              <a:t> Tips on planning and strategies</a:t>
            </a:r>
          </a:p>
          <a:p>
            <a:pPr>
              <a:buFont typeface="Arial" pitchFamily="34" charset="0"/>
              <a:buChar char="•"/>
            </a:pPr>
            <a:r>
              <a:rPr lang="en-AU" sz="1200" kern="1200" dirty="0" smtClean="0">
                <a:solidFill>
                  <a:schemeClr val="tx1"/>
                </a:solidFill>
                <a:latin typeface="+mn-lt"/>
                <a:ea typeface="+mn-ea"/>
                <a:cs typeface="+mn-cs"/>
              </a:rPr>
              <a:t> Feedback on plans</a:t>
            </a:r>
          </a:p>
          <a:p>
            <a:pPr>
              <a:buFont typeface="Arial" pitchFamily="34" charset="0"/>
              <a:buChar char="•"/>
            </a:pPr>
            <a:r>
              <a:rPr lang="en-AU" sz="1200" kern="1200" dirty="0" smtClean="0">
                <a:solidFill>
                  <a:schemeClr val="tx1"/>
                </a:solidFill>
                <a:latin typeface="+mn-lt"/>
                <a:ea typeface="+mn-ea"/>
                <a:cs typeface="+mn-cs"/>
              </a:rPr>
              <a:t> Provision of a physical presence on the day to assist with,</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a:t>
            </a:r>
          </a:p>
          <a:p>
            <a:pPr lvl="1">
              <a:buFont typeface="Arial" pitchFamily="34" charset="0"/>
              <a:buChar char="•"/>
            </a:pPr>
            <a:r>
              <a:rPr lang="en-AU" sz="1200" kern="1200" dirty="0" smtClean="0">
                <a:solidFill>
                  <a:schemeClr val="tx1"/>
                </a:solidFill>
                <a:latin typeface="+mn-lt"/>
                <a:ea typeface="+mn-ea"/>
                <a:cs typeface="+mn-cs"/>
              </a:rPr>
              <a:t> Traffic management</a:t>
            </a:r>
          </a:p>
          <a:p>
            <a:pPr lvl="1">
              <a:buFont typeface="Arial" pitchFamily="34" charset="0"/>
              <a:buChar char="•"/>
            </a:pPr>
            <a:r>
              <a:rPr lang="en-AU" sz="1200" kern="1200" dirty="0" smtClean="0">
                <a:solidFill>
                  <a:schemeClr val="tx1"/>
                </a:solidFill>
                <a:latin typeface="+mn-lt"/>
                <a:ea typeface="+mn-ea"/>
                <a:cs typeface="+mn-cs"/>
              </a:rPr>
              <a:t> Crowd control </a:t>
            </a:r>
          </a:p>
          <a:p>
            <a:pPr lvl="1">
              <a:buFont typeface="Arial" pitchFamily="34" charset="0"/>
              <a:buChar char="•"/>
            </a:pPr>
            <a:r>
              <a:rPr lang="en-AU" sz="1200" kern="1200" dirty="0" smtClean="0">
                <a:solidFill>
                  <a:schemeClr val="tx1"/>
                </a:solidFill>
                <a:latin typeface="+mn-lt"/>
                <a:ea typeface="+mn-ea"/>
                <a:cs typeface="+mn-cs"/>
              </a:rPr>
              <a:t> Dealing with criminal activities</a:t>
            </a:r>
          </a:p>
          <a:p>
            <a:pPr>
              <a:buFont typeface="Arial" pitchFamily="34" charset="0"/>
              <a:buChar char="•"/>
            </a:pPr>
            <a:r>
              <a:rPr lang="en-AU" sz="1200" kern="1200" dirty="0" smtClean="0">
                <a:solidFill>
                  <a:schemeClr val="tx1"/>
                </a:solidFill>
                <a:latin typeface="+mn-lt"/>
                <a:ea typeface="+mn-ea"/>
                <a:cs typeface="+mn-cs"/>
              </a:rPr>
              <a:t> Organisation of responses to identified issues and incidents.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0530675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close escort duties stating  </a:t>
            </a:r>
            <a:r>
              <a:rPr lang="en-AU" sz="1200" kern="1200" dirty="0" smtClean="0">
                <a:solidFill>
                  <a:schemeClr val="tx1"/>
                </a:solidFill>
                <a:latin typeface="+mn-lt"/>
                <a:ea typeface="+mn-ea"/>
                <a:cs typeface="+mn-cs"/>
              </a:rPr>
              <a:t>these duties performed by bodyguards, also known as security escorts or CPOs and explaining bodyguards may be:</a:t>
            </a:r>
          </a:p>
          <a:p>
            <a:pPr>
              <a:buFont typeface="Arial" pitchFamily="34" charset="0"/>
              <a:buChar char="•"/>
            </a:pPr>
            <a:r>
              <a:rPr lang="en-AU" sz="1200" kern="1200" dirty="0" smtClean="0">
                <a:solidFill>
                  <a:schemeClr val="tx1"/>
                </a:solidFill>
                <a:latin typeface="+mn-lt"/>
                <a:ea typeface="+mn-ea"/>
                <a:cs typeface="+mn-cs"/>
              </a:rPr>
              <a:t> Venue employees with special skills – venue staff who perform close escort duties will commonly have special training/accreditation in:</a:t>
            </a:r>
          </a:p>
          <a:p>
            <a:pPr lvl="1">
              <a:buFont typeface="Arial" pitchFamily="34" charset="0"/>
              <a:buChar char="•"/>
            </a:pPr>
            <a:r>
              <a:rPr lang="en-US" sz="1200" kern="1200" dirty="0" smtClean="0">
                <a:solidFill>
                  <a:schemeClr val="tx1"/>
                </a:solidFill>
                <a:latin typeface="+mn-lt"/>
                <a:ea typeface="+mn-ea"/>
                <a:cs typeface="+mn-cs"/>
              </a:rPr>
              <a:t> Driving – with a focus on defensive and evasive driving techniques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Martial arts and close combat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First aid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Firearms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Provided by external security companies.</a:t>
            </a:r>
          </a:p>
          <a:p>
            <a:pPr>
              <a:buFont typeface="Arial" pitchFamily="34" charset="0"/>
              <a:buNone/>
            </a:pPr>
            <a:endParaRPr lang="en-AU" sz="1200" b="1"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Guest Speaker</a:t>
            </a:r>
          </a:p>
          <a:p>
            <a:pPr>
              <a:buFont typeface="Arial" pitchFamily="34" charset="0"/>
              <a:buNone/>
            </a:pPr>
            <a:r>
              <a:rPr lang="en-AU" b="0" noProof="0" dirty="0" smtClean="0"/>
              <a:t>Trainer arranges for representative from a security company to attend and discuss:</a:t>
            </a:r>
          </a:p>
          <a:p>
            <a:pPr>
              <a:buFont typeface="Arial" pitchFamily="34" charset="0"/>
              <a:buChar char="•"/>
            </a:pPr>
            <a:r>
              <a:rPr lang="en-AU" sz="1200" kern="1200" noProof="0" dirty="0" smtClean="0">
                <a:solidFill>
                  <a:schemeClr val="tx1"/>
                </a:solidFill>
                <a:latin typeface="+mn-lt"/>
                <a:ea typeface="+mn-ea"/>
                <a:cs typeface="+mn-cs"/>
              </a:rPr>
              <a:t> Provision and role of CPOs</a:t>
            </a:r>
          </a:p>
          <a:p>
            <a:pPr>
              <a:buFont typeface="Arial" pitchFamily="34" charset="0"/>
              <a:buChar char="•"/>
            </a:pPr>
            <a:r>
              <a:rPr lang="en-AU" sz="1200" kern="1200" noProof="0" dirty="0" smtClean="0">
                <a:solidFill>
                  <a:schemeClr val="tx1"/>
                </a:solidFill>
                <a:latin typeface="+mn-lt"/>
                <a:ea typeface="+mn-ea"/>
                <a:cs typeface="+mn-cs"/>
              </a:rPr>
              <a:t> Duties performed</a:t>
            </a:r>
          </a:p>
          <a:p>
            <a:pPr>
              <a:buFont typeface="Arial" pitchFamily="34" charset="0"/>
              <a:buChar char="•"/>
            </a:pPr>
            <a:r>
              <a:rPr lang="en-AU" sz="1200" kern="1200" noProof="0" dirty="0" smtClean="0">
                <a:solidFill>
                  <a:schemeClr val="tx1"/>
                </a:solidFill>
                <a:latin typeface="+mn-lt"/>
                <a:ea typeface="+mn-ea"/>
                <a:cs typeface="+mn-cs"/>
              </a:rPr>
              <a:t> Anecdotes</a:t>
            </a:r>
          </a:p>
          <a:p>
            <a:pPr>
              <a:buFont typeface="Arial" pitchFamily="34" charset="0"/>
              <a:buChar char="•"/>
            </a:pPr>
            <a:r>
              <a:rPr lang="en-AU" sz="1200" kern="1200" noProof="0" dirty="0" smtClean="0">
                <a:solidFill>
                  <a:schemeClr val="tx1"/>
                </a:solidFill>
                <a:latin typeface="+mn-lt"/>
                <a:ea typeface="+mn-ea"/>
                <a:cs typeface="+mn-cs"/>
              </a:rPr>
              <a:t> Cost.</a:t>
            </a:r>
          </a:p>
          <a:p>
            <a:pPr>
              <a:buFont typeface="Arial" pitchFamily="34" charset="0"/>
              <a:buChar char="•"/>
            </a:pPr>
            <a:endParaRPr lang="en-AU" sz="1200" kern="1200" noProof="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08141533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bodyguards may operate:</a:t>
            </a:r>
          </a:p>
          <a:p>
            <a:pPr>
              <a:buFont typeface="Arial" pitchFamily="34" charset="0"/>
              <a:buChar char="•"/>
            </a:pPr>
            <a:r>
              <a:rPr lang="en-AU" sz="1200" kern="1200" dirty="0" smtClean="0">
                <a:solidFill>
                  <a:schemeClr val="tx1"/>
                </a:solidFill>
                <a:latin typeface="+mn-lt"/>
                <a:ea typeface="+mn-ea"/>
                <a:cs typeface="+mn-cs"/>
              </a:rPr>
              <a:t> Independently – cooperating with each other and other security staff.</a:t>
            </a:r>
          </a:p>
          <a:p>
            <a:pPr lvl="1">
              <a:buFont typeface="Arial" pitchFamily="34" charset="0"/>
              <a:buChar char="•"/>
            </a:pPr>
            <a:r>
              <a:rPr lang="en-AU" sz="1200" kern="1200" dirty="0" smtClean="0">
                <a:solidFill>
                  <a:schemeClr val="tx1"/>
                </a:solidFill>
                <a:latin typeface="+mn-lt"/>
                <a:ea typeface="+mn-ea"/>
                <a:cs typeface="+mn-cs"/>
              </a:rPr>
              <a:t> It is rare and potentially ineffective for bodyguards to operate alone.</a:t>
            </a:r>
          </a:p>
          <a:p>
            <a:pPr>
              <a:buFont typeface="Arial" pitchFamily="34" charset="0"/>
              <a:buChar char="•"/>
            </a:pPr>
            <a:r>
              <a:rPr lang="en-AU" sz="1200" kern="1200" dirty="0" smtClean="0">
                <a:solidFill>
                  <a:schemeClr val="tx1"/>
                </a:solidFill>
                <a:latin typeface="+mn-lt"/>
                <a:ea typeface="+mn-ea"/>
                <a:cs typeface="+mn-cs"/>
              </a:rPr>
              <a:t> In conjunction with bodyguards who normally accompany the client such as the usual security staff and CPOs who accompany the person whenever they travel or make an appearance</a:t>
            </a:r>
          </a:p>
          <a:p>
            <a:pPr>
              <a:buFont typeface="Arial" pitchFamily="34" charset="0"/>
              <a:buChar char="•"/>
            </a:pPr>
            <a:r>
              <a:rPr lang="en-AU" sz="1200" kern="1200" dirty="0" smtClean="0">
                <a:solidFill>
                  <a:schemeClr val="tx1"/>
                </a:solidFill>
                <a:latin typeface="+mn-lt"/>
                <a:ea typeface="+mn-ea"/>
                <a:cs typeface="+mn-cs"/>
              </a:rPr>
              <a:t> In conjunction with local authorities/police.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2217863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close escort can be required for:</a:t>
            </a:r>
          </a:p>
          <a:p>
            <a:pPr>
              <a:buFont typeface="Arial" pitchFamily="34" charset="0"/>
              <a:buChar char="•"/>
            </a:pPr>
            <a:r>
              <a:rPr lang="en-AU" sz="1200" kern="1200" dirty="0" smtClean="0">
                <a:solidFill>
                  <a:schemeClr val="tx1"/>
                </a:solidFill>
                <a:latin typeface="+mn-lt"/>
                <a:ea typeface="+mn-ea"/>
                <a:cs typeface="+mn-cs"/>
              </a:rPr>
              <a:t> VIPs</a:t>
            </a:r>
          </a:p>
          <a:p>
            <a:pPr>
              <a:buFont typeface="Arial" pitchFamily="34" charset="0"/>
              <a:buChar char="•"/>
            </a:pPr>
            <a:r>
              <a:rPr lang="en-AU" sz="1200" kern="1200" dirty="0" smtClean="0">
                <a:solidFill>
                  <a:schemeClr val="tx1"/>
                </a:solidFill>
                <a:latin typeface="+mn-lt"/>
                <a:ea typeface="+mn-ea"/>
                <a:cs typeface="+mn-cs"/>
              </a:rPr>
              <a:t> Heads of state</a:t>
            </a:r>
          </a:p>
          <a:p>
            <a:pPr>
              <a:buFont typeface="Arial" pitchFamily="34" charset="0"/>
              <a:buChar char="•"/>
            </a:pPr>
            <a:r>
              <a:rPr lang="en-AU" sz="1200" kern="1200" dirty="0" smtClean="0">
                <a:solidFill>
                  <a:schemeClr val="tx1"/>
                </a:solidFill>
                <a:latin typeface="+mn-lt"/>
                <a:ea typeface="+mn-ea"/>
                <a:cs typeface="+mn-cs"/>
              </a:rPr>
              <a:t> Celebrities</a:t>
            </a:r>
          </a:p>
          <a:p>
            <a:pPr>
              <a:buFont typeface="Arial" pitchFamily="34" charset="0"/>
              <a:buChar char="•"/>
            </a:pPr>
            <a:r>
              <a:rPr lang="en-AU" sz="1200" kern="1200" dirty="0" smtClean="0">
                <a:solidFill>
                  <a:schemeClr val="tx1"/>
                </a:solidFill>
                <a:latin typeface="+mn-lt"/>
                <a:ea typeface="+mn-ea"/>
                <a:cs typeface="+mn-cs"/>
              </a:rPr>
              <a:t> Sports stars</a:t>
            </a:r>
          </a:p>
          <a:p>
            <a:pPr>
              <a:buFont typeface="Arial" pitchFamily="34" charset="0"/>
              <a:buChar char="•"/>
            </a:pPr>
            <a:r>
              <a:rPr lang="en-AU" sz="1200" kern="1200" dirty="0" smtClean="0">
                <a:solidFill>
                  <a:schemeClr val="tx1"/>
                </a:solidFill>
                <a:latin typeface="+mn-lt"/>
                <a:ea typeface="+mn-ea"/>
                <a:cs typeface="+mn-cs"/>
              </a:rPr>
              <a:t> Musicians </a:t>
            </a:r>
          </a:p>
          <a:p>
            <a:pPr>
              <a:buFont typeface="Arial" pitchFamily="34" charset="0"/>
              <a:buChar char="•"/>
            </a:pPr>
            <a:r>
              <a:rPr lang="en-AU" sz="1200" kern="1200" dirty="0" smtClean="0">
                <a:solidFill>
                  <a:schemeClr val="tx1"/>
                </a:solidFill>
                <a:latin typeface="+mn-lt"/>
                <a:ea typeface="+mn-ea"/>
                <a:cs typeface="+mn-cs"/>
              </a:rPr>
              <a:t> Politicians.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5653214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activities/responsibilities of</a:t>
            </a:r>
            <a:r>
              <a:rPr lang="en-AU" baseline="0" noProof="0" dirty="0" smtClean="0"/>
              <a:t> bodyguards:</a:t>
            </a:r>
          </a:p>
          <a:p>
            <a:pPr>
              <a:buFont typeface="Arial" pitchFamily="34" charset="0"/>
              <a:buChar char="•"/>
            </a:pPr>
            <a:r>
              <a:rPr lang="en-AU" sz="1200" kern="1200" dirty="0" smtClean="0">
                <a:solidFill>
                  <a:schemeClr val="tx1"/>
                </a:solidFill>
                <a:latin typeface="+mn-lt"/>
                <a:ea typeface="+mn-ea"/>
                <a:cs typeface="+mn-cs"/>
              </a:rPr>
              <a:t> Planning travel arrangements to and from the venue:</a:t>
            </a:r>
          </a:p>
          <a:p>
            <a:pPr lvl="1">
              <a:buFont typeface="Arial" pitchFamily="34" charset="0"/>
              <a:buChar char="•"/>
            </a:pPr>
            <a:r>
              <a:rPr lang="en-US" sz="1200" kern="1200" dirty="0" smtClean="0">
                <a:solidFill>
                  <a:schemeClr val="tx1"/>
                </a:solidFill>
                <a:latin typeface="+mn-lt"/>
                <a:ea typeface="+mn-ea"/>
                <a:cs typeface="+mn-cs"/>
              </a:rPr>
              <a:t> Routes – primary and secondary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Means of transportation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Decoys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Security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Itinerary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Planning movement within the venue:</a:t>
            </a:r>
          </a:p>
          <a:p>
            <a:pPr lvl="1">
              <a:buFont typeface="Arial" pitchFamily="34" charset="0"/>
              <a:buChar char="•"/>
            </a:pPr>
            <a:r>
              <a:rPr lang="en-US" sz="1200" kern="1200" dirty="0" smtClean="0">
                <a:solidFill>
                  <a:schemeClr val="tx1"/>
                </a:solidFill>
                <a:latin typeface="+mn-lt"/>
                <a:ea typeface="+mn-ea"/>
                <a:cs typeface="+mn-cs"/>
              </a:rPr>
              <a:t> On arrival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attending meetings, appointments, meals and other nominated engagements or activities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On departure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Driving duties including:</a:t>
            </a:r>
          </a:p>
          <a:p>
            <a:pPr lvl="1">
              <a:buFont typeface="Arial" pitchFamily="34" charset="0"/>
              <a:buChar char="•"/>
            </a:pPr>
            <a:r>
              <a:rPr lang="en-AU" sz="1200" kern="1200" dirty="0" smtClean="0">
                <a:solidFill>
                  <a:schemeClr val="tx1"/>
                </a:solidFill>
                <a:latin typeface="+mn-lt"/>
                <a:ea typeface="+mn-ea"/>
                <a:cs typeface="+mn-cs"/>
              </a:rPr>
              <a:t> Movement of person from,</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 airport to venue</a:t>
            </a:r>
          </a:p>
          <a:p>
            <a:pPr lvl="1">
              <a:buFont typeface="Arial" pitchFamily="34" charset="0"/>
              <a:buChar char="•"/>
            </a:pPr>
            <a:r>
              <a:rPr lang="en-AU" sz="1200" kern="1200" dirty="0" smtClean="0">
                <a:solidFill>
                  <a:schemeClr val="tx1"/>
                </a:solidFill>
                <a:latin typeface="+mn-lt"/>
                <a:ea typeface="+mn-ea"/>
                <a:cs typeface="+mn-cs"/>
              </a:rPr>
              <a:t> Travel as required throughout their stay to local attractions, destinations, engagement and return</a:t>
            </a:r>
          </a:p>
          <a:p>
            <a:pPr lvl="1">
              <a:buFont typeface="Arial" pitchFamily="34" charset="0"/>
              <a:buChar char="•"/>
            </a:pPr>
            <a:r>
              <a:rPr lang="en-AU" sz="1200" kern="1200" dirty="0" smtClean="0">
                <a:solidFill>
                  <a:schemeClr val="tx1"/>
                </a:solidFill>
                <a:latin typeface="+mn-lt"/>
                <a:ea typeface="+mn-ea"/>
                <a:cs typeface="+mn-cs"/>
              </a:rPr>
              <a:t> Travel on departure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390338887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activities/responsibilities of</a:t>
            </a:r>
            <a:r>
              <a:rPr lang="en-AU" baseline="0" noProof="0" dirty="0" smtClean="0"/>
              <a:t> bodyguards:</a:t>
            </a:r>
          </a:p>
          <a:p>
            <a:pPr>
              <a:buFont typeface="Arial" pitchFamily="34" charset="0"/>
              <a:buChar char="•"/>
            </a:pPr>
            <a:r>
              <a:rPr lang="en-AU" sz="1200" kern="1200" dirty="0" smtClean="0">
                <a:solidFill>
                  <a:schemeClr val="tx1"/>
                </a:solidFill>
                <a:latin typeface="+mn-lt"/>
                <a:ea typeface="+mn-ea"/>
                <a:cs typeface="+mn-cs"/>
              </a:rPr>
              <a:t> Physically inspecting (searching and checking) and electronic ‘sweeping’ of rooms, venue facilities and vehicles to:</a:t>
            </a:r>
          </a:p>
          <a:p>
            <a:pPr lvl="1">
              <a:buFont typeface="Arial" pitchFamily="34" charset="0"/>
              <a:buChar char="•"/>
            </a:pPr>
            <a:r>
              <a:rPr lang="en-AU" sz="1200" kern="1200" dirty="0" smtClean="0">
                <a:solidFill>
                  <a:schemeClr val="tx1"/>
                </a:solidFill>
                <a:latin typeface="+mn-lt"/>
                <a:ea typeface="+mn-ea"/>
                <a:cs typeface="+mn-cs"/>
              </a:rPr>
              <a:t> Detect and neutralize bugging/surveillance devices, detect and defend against explosive devices, identify and respond to ‘other threats’</a:t>
            </a:r>
          </a:p>
          <a:p>
            <a:pPr>
              <a:buFont typeface="Arial" pitchFamily="34" charset="0"/>
              <a:buChar char="•"/>
            </a:pPr>
            <a:r>
              <a:rPr lang="en-AU" sz="1200" kern="1200" dirty="0" smtClean="0">
                <a:solidFill>
                  <a:schemeClr val="tx1"/>
                </a:solidFill>
                <a:latin typeface="+mn-lt"/>
                <a:ea typeface="+mn-ea"/>
                <a:cs typeface="+mn-cs"/>
              </a:rPr>
              <a:t> Undertaking background checks on people who will meet or be in close proximity to the client.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may involve checks on:</a:t>
            </a:r>
          </a:p>
          <a:p>
            <a:pPr lvl="1">
              <a:buFont typeface="Arial" pitchFamily="34" charset="0"/>
              <a:buChar char="•"/>
            </a:pPr>
            <a:r>
              <a:rPr lang="en-AU" sz="1200" kern="1200" dirty="0" smtClean="0">
                <a:solidFill>
                  <a:schemeClr val="tx1"/>
                </a:solidFill>
                <a:latin typeface="+mn-lt"/>
                <a:ea typeface="+mn-ea"/>
                <a:cs typeface="+mn-cs"/>
              </a:rPr>
              <a:t> Service staff, identified members of the public, suppliers and providers; </a:t>
            </a:r>
          </a:p>
          <a:p>
            <a:pPr>
              <a:buFont typeface="Arial" pitchFamily="34" charset="0"/>
              <a:buChar char="•"/>
            </a:pPr>
            <a:r>
              <a:rPr lang="en-AU" sz="1200" kern="1200" dirty="0" smtClean="0">
                <a:solidFill>
                  <a:schemeClr val="tx1"/>
                </a:solidFill>
                <a:latin typeface="+mn-lt"/>
                <a:ea typeface="+mn-ea"/>
                <a:cs typeface="+mn-cs"/>
              </a:rPr>
              <a:t> Protecting the client against identified and emergent threats such as:</a:t>
            </a:r>
          </a:p>
          <a:p>
            <a:pPr lvl="1">
              <a:buFont typeface="Arial" pitchFamily="34" charset="0"/>
              <a:buChar char="•"/>
            </a:pPr>
            <a:r>
              <a:rPr lang="en-AU" sz="1200" kern="1200" dirty="0" smtClean="0">
                <a:solidFill>
                  <a:schemeClr val="tx1"/>
                </a:solidFill>
                <a:latin typeface="+mn-lt"/>
                <a:ea typeface="+mn-ea"/>
                <a:cs typeface="+mn-cs"/>
              </a:rPr>
              <a:t> Intrusive media,</a:t>
            </a:r>
            <a:r>
              <a:rPr lang="en-AU" sz="1200" kern="1200" baseline="0" dirty="0" smtClean="0">
                <a:solidFill>
                  <a:schemeClr val="tx1"/>
                </a:solidFill>
                <a:latin typeface="+mn-lt"/>
                <a:ea typeface="+mn-ea"/>
                <a:cs typeface="+mn-cs"/>
              </a:rPr>
              <a:t> u</a:t>
            </a:r>
            <a:r>
              <a:rPr lang="en-AU" sz="1200" kern="1200" dirty="0" smtClean="0">
                <a:solidFill>
                  <a:schemeClr val="tx1"/>
                </a:solidFill>
                <a:latin typeface="+mn-lt"/>
                <a:ea typeface="+mn-ea"/>
                <a:cs typeface="+mn-cs"/>
              </a:rPr>
              <a:t>nwanted people, stalkers, known persons who are classified as threats</a:t>
            </a:r>
          </a:p>
          <a:p>
            <a:r>
              <a:rPr lang="en-AU" sz="1200" kern="1200" dirty="0" smtClean="0">
                <a:solidFill>
                  <a:schemeClr val="tx1"/>
                </a:solidFill>
                <a:latin typeface="+mn-lt"/>
                <a:ea typeface="+mn-ea"/>
                <a:cs typeface="+mn-cs"/>
              </a:rPr>
              <a:t>Accompanying the client to: </a:t>
            </a:r>
          </a:p>
          <a:p>
            <a:pPr lvl="1">
              <a:buFont typeface="Arial" pitchFamily="34" charset="0"/>
              <a:buChar char="•"/>
            </a:pPr>
            <a:r>
              <a:rPr lang="en-AU" sz="1200" kern="1200" dirty="0" smtClean="0">
                <a:solidFill>
                  <a:schemeClr val="tx1"/>
                </a:solidFill>
                <a:latin typeface="+mn-lt"/>
                <a:ea typeface="+mn-ea"/>
                <a:cs typeface="+mn-cs"/>
              </a:rPr>
              <a:t> Provide a physical presence and give the client a sense of safety and security, present a visible deterrence to threats, provide venue information and service as required, respond to threats and incidents, communicate with other bodyguards, security staff and agents/authorities,</a:t>
            </a:r>
            <a:r>
              <a:rPr lang="en-AU" sz="1200" kern="1200" baseline="0" dirty="0" smtClean="0">
                <a:solidFill>
                  <a:schemeClr val="tx1"/>
                </a:solidFill>
                <a:latin typeface="+mn-lt"/>
                <a:ea typeface="+mn-ea"/>
                <a:cs typeface="+mn-cs"/>
              </a:rPr>
              <a:t> f</a:t>
            </a:r>
            <a:r>
              <a:rPr lang="en-AU" sz="1200" kern="1200" dirty="0" smtClean="0">
                <a:solidFill>
                  <a:schemeClr val="tx1"/>
                </a:solidFill>
                <a:latin typeface="+mn-lt"/>
                <a:ea typeface="+mn-ea"/>
                <a:cs typeface="+mn-cs"/>
              </a:rPr>
              <a:t>acilitate movement within the venue and access to required areas, monitor implementation of protection plans, observe and note issues for immediate action and/or later follow-up,</a:t>
            </a:r>
            <a:r>
              <a:rPr lang="en-AU" sz="1200" kern="1200" baseline="0" dirty="0" smtClean="0">
                <a:solidFill>
                  <a:schemeClr val="tx1"/>
                </a:solidFill>
                <a:latin typeface="+mn-lt"/>
                <a:ea typeface="+mn-ea"/>
                <a:cs typeface="+mn-cs"/>
              </a:rPr>
              <a:t> c</a:t>
            </a:r>
            <a:r>
              <a:rPr lang="en-AU" sz="1200" kern="1200" dirty="0" smtClean="0">
                <a:solidFill>
                  <a:schemeClr val="tx1"/>
                </a:solidFill>
                <a:latin typeface="+mn-lt"/>
                <a:ea typeface="+mn-ea"/>
                <a:cs typeface="+mn-cs"/>
              </a:rPr>
              <a:t>lear the way</a:t>
            </a:r>
          </a:p>
          <a:p>
            <a:pPr>
              <a:buFont typeface="Arial" pitchFamily="34" charset="0"/>
              <a:buChar char="•"/>
            </a:pPr>
            <a:r>
              <a:rPr lang="en-AU" sz="1200" kern="1200" dirty="0" smtClean="0">
                <a:solidFill>
                  <a:schemeClr val="tx1"/>
                </a:solidFill>
                <a:latin typeface="+mn-lt"/>
                <a:ea typeface="+mn-ea"/>
                <a:cs typeface="+mn-cs"/>
              </a:rPr>
              <a:t> Facilitating the carrying of valuable items in the presence of, or separate from the client which will involve:</a:t>
            </a:r>
          </a:p>
          <a:p>
            <a:pPr lvl="1">
              <a:buFont typeface="Arial" pitchFamily="34" charset="0"/>
              <a:buChar char="•"/>
            </a:pPr>
            <a:r>
              <a:rPr lang="en-AU" sz="1200" kern="1200" dirty="0" smtClean="0">
                <a:solidFill>
                  <a:schemeClr val="tx1"/>
                </a:solidFill>
                <a:latin typeface="+mn-lt"/>
                <a:ea typeface="+mn-ea"/>
                <a:cs typeface="+mn-cs"/>
              </a:rPr>
              <a:t> Participating in the planning process – routes, timing, equipment to be used, threat analysis, physically accompanying those who are carrying the valuable items to afford a physical presence and deterrent value, clearing the way for those who are physically carrying the items, overseeing the carriage of the items to ensure those involved move the items to where they are supposed to go, according to the plans made, and nothing is lost or stolen on the way.</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Guest Speaker</a:t>
            </a:r>
          </a:p>
          <a:p>
            <a:pPr lvl="0">
              <a:buFont typeface="Arial" pitchFamily="34" charset="0"/>
              <a:buNone/>
            </a:pPr>
            <a:r>
              <a:rPr lang="en-AU" sz="1200" b="0" kern="1200" dirty="0" smtClean="0">
                <a:solidFill>
                  <a:schemeClr val="tx1"/>
                </a:solidFill>
                <a:latin typeface="+mn-lt"/>
                <a:ea typeface="+mn-ea"/>
                <a:cs typeface="+mn-cs"/>
              </a:rPr>
              <a:t>Trainer arranges for CPO/bodyguard to attend and:</a:t>
            </a:r>
          </a:p>
          <a:p>
            <a:pPr lvl="0">
              <a:buFont typeface="Arial" pitchFamily="34" charset="0"/>
              <a:buChar char="•"/>
            </a:pPr>
            <a:r>
              <a:rPr lang="en-AU" sz="1200" b="0" kern="1200" dirty="0" smtClean="0">
                <a:solidFill>
                  <a:schemeClr val="tx1"/>
                </a:solidFill>
                <a:latin typeface="+mn-lt"/>
                <a:ea typeface="+mn-ea"/>
                <a:cs typeface="+mn-cs"/>
              </a:rPr>
              <a:t> Identify their roles and responsibilities</a:t>
            </a:r>
          </a:p>
          <a:p>
            <a:pPr lvl="0">
              <a:buFont typeface="Arial" pitchFamily="34" charset="0"/>
              <a:buChar char="•"/>
            </a:pPr>
            <a:r>
              <a:rPr lang="en-AU" sz="1200" b="0" kern="1200" dirty="0" smtClean="0">
                <a:solidFill>
                  <a:schemeClr val="tx1"/>
                </a:solidFill>
                <a:latin typeface="+mn-lt"/>
                <a:ea typeface="+mn-ea"/>
                <a:cs typeface="+mn-cs"/>
              </a:rPr>
              <a:t> Tell anecdotes</a:t>
            </a:r>
          </a:p>
          <a:p>
            <a:pPr lvl="0">
              <a:buFont typeface="Arial" pitchFamily="34" charset="0"/>
              <a:buChar char="•"/>
            </a:pPr>
            <a:r>
              <a:rPr lang="en-AU" sz="1200" b="0" kern="1200" dirty="0" smtClean="0">
                <a:solidFill>
                  <a:schemeClr val="tx1"/>
                </a:solidFill>
                <a:latin typeface="+mn-lt"/>
                <a:ea typeface="+mn-ea"/>
                <a:cs typeface="+mn-cs"/>
              </a:rPr>
              <a:t> Provide advice and warnings.</a:t>
            </a:r>
          </a:p>
          <a:p>
            <a:pPr lvl="0">
              <a:buFont typeface="Arial" pitchFamily="34" charset="0"/>
              <a:buNone/>
            </a:pPr>
            <a:endParaRPr lang="en-AU" sz="1200" b="0" kern="1200" dirty="0" smtClean="0">
              <a:solidFill>
                <a:schemeClr val="tx1"/>
              </a:solidFill>
              <a:latin typeface="+mn-lt"/>
              <a:ea typeface="+mn-ea"/>
              <a:cs typeface="+mn-cs"/>
            </a:endParaRP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2077633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may be classified as:</a:t>
            </a:r>
          </a:p>
          <a:p>
            <a:pPr>
              <a:buFont typeface="Arial" pitchFamily="34" charset="0"/>
              <a:buNone/>
            </a:pPr>
            <a:r>
              <a:rPr lang="en-AU" sz="1200" b="1" kern="1200" dirty="0" smtClean="0">
                <a:solidFill>
                  <a:schemeClr val="tx1"/>
                </a:solidFill>
                <a:latin typeface="+mn-lt"/>
                <a:ea typeface="+mn-ea"/>
                <a:cs typeface="+mn-cs"/>
              </a:rPr>
              <a:t>Identified </a:t>
            </a:r>
            <a:r>
              <a:rPr lang="en-AU" sz="1200" kern="1200" dirty="0" smtClean="0">
                <a:solidFill>
                  <a:schemeClr val="tx1"/>
                </a:solidFill>
                <a:latin typeface="+mn-lt"/>
                <a:ea typeface="+mn-ea"/>
                <a:cs typeface="+mn-cs"/>
              </a:rPr>
              <a:t>– these are threats identified as part of the planning process (risk identification).</a:t>
            </a:r>
          </a:p>
          <a:p>
            <a:pPr>
              <a:buFont typeface="Arial" pitchFamily="34" charset="0"/>
              <a:buChar char="•"/>
            </a:pPr>
            <a:r>
              <a:rPr lang="en-AU" sz="1200" kern="1200" dirty="0" smtClean="0">
                <a:solidFill>
                  <a:schemeClr val="tx1"/>
                </a:solidFill>
                <a:latin typeface="+mn-lt"/>
                <a:ea typeface="+mn-ea"/>
                <a:cs typeface="+mn-cs"/>
              </a:rPr>
              <a:t> They may or may not translate/materialise into an actual threat.</a:t>
            </a:r>
          </a:p>
          <a:p>
            <a:pPr>
              <a:buFont typeface="Arial" pitchFamily="34" charset="0"/>
              <a:buChar char="•"/>
            </a:pPr>
            <a:r>
              <a:rPr lang="en-AU" sz="1200" kern="1200" dirty="0" smtClean="0">
                <a:solidFill>
                  <a:schemeClr val="tx1"/>
                </a:solidFill>
                <a:latin typeface="+mn-lt"/>
                <a:ea typeface="+mn-ea"/>
                <a:cs typeface="+mn-cs"/>
              </a:rPr>
              <a:t> They are simply threats which might eventuate.</a:t>
            </a:r>
          </a:p>
          <a:p>
            <a:pPr>
              <a:buFont typeface="Arial" pitchFamily="34" charset="0"/>
              <a:buNone/>
            </a:pPr>
            <a:r>
              <a:rPr lang="en-AU" sz="1200" b="1" kern="1200" dirty="0" smtClean="0">
                <a:solidFill>
                  <a:schemeClr val="tx1"/>
                </a:solidFill>
                <a:latin typeface="+mn-lt"/>
                <a:ea typeface="+mn-ea"/>
                <a:cs typeface="+mn-cs"/>
              </a:rPr>
              <a:t>Perceived </a:t>
            </a:r>
            <a:r>
              <a:rPr lang="en-AU" sz="1200" kern="1200" dirty="0" smtClean="0">
                <a:solidFill>
                  <a:schemeClr val="tx1"/>
                </a:solidFill>
                <a:latin typeface="+mn-lt"/>
                <a:ea typeface="+mn-ea"/>
                <a:cs typeface="+mn-cs"/>
              </a:rPr>
              <a:t>threat – refers to a set of conditions/circumstances which your instinct and observation (Situational Awareness) tells you could indicate an actual threat is imminent.</a:t>
            </a:r>
          </a:p>
          <a:p>
            <a:pPr>
              <a:buFont typeface="Arial" pitchFamily="34" charset="0"/>
              <a:buChar char="•"/>
            </a:pPr>
            <a:r>
              <a:rPr lang="en-AU" sz="1200" kern="1200" dirty="0" smtClean="0">
                <a:solidFill>
                  <a:schemeClr val="tx1"/>
                </a:solidFill>
                <a:latin typeface="+mn-lt"/>
                <a:ea typeface="+mn-ea"/>
                <a:cs typeface="+mn-cs"/>
              </a:rPr>
              <a:t> Again, the perceived threat may not become an actual threat. Signs might be:</a:t>
            </a:r>
          </a:p>
          <a:p>
            <a:pPr lvl="1">
              <a:buFont typeface="Arial" pitchFamily="34" charset="0"/>
              <a:buChar char="•"/>
            </a:pPr>
            <a:r>
              <a:rPr lang="en-AU" sz="1200" kern="1200" dirty="0" smtClean="0">
                <a:solidFill>
                  <a:schemeClr val="tx1"/>
                </a:solidFill>
                <a:latin typeface="+mn-lt"/>
                <a:ea typeface="+mn-ea"/>
                <a:cs typeface="+mn-cs"/>
              </a:rPr>
              <a:t> Unusual activity or the presence of an unexpected number of people</a:t>
            </a:r>
          </a:p>
          <a:p>
            <a:pPr lvl="1">
              <a:buFont typeface="Arial" pitchFamily="34" charset="0"/>
              <a:buChar char="•"/>
            </a:pPr>
            <a:r>
              <a:rPr lang="en-AU" sz="1200" kern="1200" dirty="0" smtClean="0">
                <a:solidFill>
                  <a:schemeClr val="tx1"/>
                </a:solidFill>
                <a:latin typeface="+mn-lt"/>
                <a:ea typeface="+mn-ea"/>
                <a:cs typeface="+mn-cs"/>
              </a:rPr>
              <a:t> A change in the demeanour of people in the immediate vicinity</a:t>
            </a:r>
          </a:p>
          <a:p>
            <a:pPr lvl="1">
              <a:buFont typeface="Arial" pitchFamily="34" charset="0"/>
              <a:buChar char="•"/>
            </a:pPr>
            <a:r>
              <a:rPr lang="en-AU" sz="1200" kern="1200" dirty="0" smtClean="0">
                <a:solidFill>
                  <a:schemeClr val="tx1"/>
                </a:solidFill>
                <a:latin typeface="+mn-lt"/>
                <a:ea typeface="+mn-ea"/>
                <a:cs typeface="+mn-cs"/>
              </a:rPr>
              <a:t> Information received from other security </a:t>
            </a:r>
          </a:p>
          <a:p>
            <a:pPr lvl="1">
              <a:buFont typeface="Arial" pitchFamily="34" charset="0"/>
              <a:buChar char="•"/>
            </a:pPr>
            <a:r>
              <a:rPr lang="en-AU" sz="1200" kern="1200" dirty="0" smtClean="0">
                <a:solidFill>
                  <a:schemeClr val="tx1"/>
                </a:solidFill>
                <a:latin typeface="+mn-lt"/>
                <a:ea typeface="+mn-ea"/>
                <a:cs typeface="+mn-cs"/>
              </a:rPr>
              <a:t> Changes to your physical environment which were not predicted or anticipated</a:t>
            </a:r>
          </a:p>
          <a:p>
            <a:pPr>
              <a:buFont typeface="Arial" pitchFamily="34" charset="0"/>
              <a:buNone/>
            </a:pPr>
            <a:r>
              <a:rPr lang="en-AU" sz="1200" b="1" kern="1200" dirty="0" smtClean="0">
                <a:solidFill>
                  <a:schemeClr val="tx1"/>
                </a:solidFill>
                <a:latin typeface="+mn-lt"/>
                <a:ea typeface="+mn-ea"/>
                <a:cs typeface="+mn-cs"/>
              </a:rPr>
              <a:t>Actual </a:t>
            </a:r>
            <a:r>
              <a:rPr lang="en-AU" sz="1200" kern="1200" dirty="0" smtClean="0">
                <a:solidFill>
                  <a:schemeClr val="tx1"/>
                </a:solidFill>
                <a:latin typeface="+mn-lt"/>
                <a:ea typeface="+mn-ea"/>
                <a:cs typeface="+mn-cs"/>
              </a:rPr>
              <a:t>threat – this is a situation where something has in point of fact taken place which confirms: </a:t>
            </a:r>
          </a:p>
          <a:p>
            <a:pPr>
              <a:buFont typeface="Arial" pitchFamily="34" charset="0"/>
              <a:buChar char="•"/>
            </a:pPr>
            <a:r>
              <a:rPr lang="en-AU" sz="1200" kern="1200" dirty="0" smtClean="0">
                <a:solidFill>
                  <a:schemeClr val="tx1"/>
                </a:solidFill>
                <a:latin typeface="+mn-lt"/>
                <a:ea typeface="+mn-ea"/>
                <a:cs typeface="+mn-cs"/>
              </a:rPr>
              <a:t> Danger and/or offensive action by an offender is imminent,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a:t>
            </a:r>
          </a:p>
          <a:p>
            <a:pPr lvl="1">
              <a:buFont typeface="Arial" pitchFamily="34" charset="0"/>
              <a:buChar char="•"/>
            </a:pPr>
            <a:r>
              <a:rPr lang="en-AU" sz="1200" kern="1200" dirty="0" smtClean="0">
                <a:solidFill>
                  <a:schemeClr val="tx1"/>
                </a:solidFill>
                <a:latin typeface="+mn-lt"/>
                <a:ea typeface="+mn-ea"/>
                <a:cs typeface="+mn-cs"/>
              </a:rPr>
              <a:t> Someone bursts through a cordon and lunges forward</a:t>
            </a:r>
          </a:p>
          <a:p>
            <a:pPr lvl="1">
              <a:buFont typeface="Arial" pitchFamily="34" charset="0"/>
              <a:buChar char="•"/>
            </a:pPr>
            <a:r>
              <a:rPr lang="en-AU" sz="1200" kern="1200" dirty="0" smtClean="0">
                <a:solidFill>
                  <a:schemeClr val="tx1"/>
                </a:solidFill>
                <a:latin typeface="+mn-lt"/>
                <a:ea typeface="+mn-ea"/>
                <a:cs typeface="+mn-cs"/>
              </a:rPr>
              <a:t> You hear a sound which is cause for alarm:</a:t>
            </a:r>
          </a:p>
          <a:p>
            <a:pPr lvl="2">
              <a:buFont typeface="Arial" pitchFamily="34" charset="0"/>
              <a:buChar char="•"/>
            </a:pPr>
            <a:r>
              <a:rPr lang="en-AU" sz="1200" kern="1200" dirty="0" smtClean="0">
                <a:solidFill>
                  <a:schemeClr val="tx1"/>
                </a:solidFill>
                <a:latin typeface="+mn-lt"/>
                <a:ea typeface="+mn-ea"/>
                <a:cs typeface="+mn-cs"/>
              </a:rPr>
              <a:t> The sound of breaking glass </a:t>
            </a:r>
          </a:p>
          <a:p>
            <a:pPr lvl="2">
              <a:buFont typeface="Arial" pitchFamily="34" charset="0"/>
              <a:buChar char="•"/>
            </a:pPr>
            <a:r>
              <a:rPr lang="en-AU" sz="1200" kern="1200" dirty="0" smtClean="0">
                <a:solidFill>
                  <a:schemeClr val="tx1"/>
                </a:solidFill>
                <a:latin typeface="+mn-lt"/>
                <a:ea typeface="+mn-ea"/>
                <a:cs typeface="+mn-cs"/>
              </a:rPr>
              <a:t> Gunfire </a:t>
            </a:r>
          </a:p>
          <a:p>
            <a:pPr lvl="2">
              <a:buFont typeface="Arial" pitchFamily="34" charset="0"/>
              <a:buChar char="•"/>
            </a:pPr>
            <a:r>
              <a:rPr lang="en-AU" sz="1200" kern="1200" dirty="0" smtClean="0">
                <a:solidFill>
                  <a:schemeClr val="tx1"/>
                </a:solidFill>
                <a:latin typeface="+mn-lt"/>
                <a:ea typeface="+mn-ea"/>
                <a:cs typeface="+mn-cs"/>
              </a:rPr>
              <a:t> Verbal abuse</a:t>
            </a:r>
          </a:p>
          <a:p>
            <a:pPr lvl="2">
              <a:buFont typeface="Arial" pitchFamily="34" charset="0"/>
              <a:buChar char="•"/>
            </a:pPr>
            <a:r>
              <a:rPr lang="en-AU" sz="1200" kern="1200" dirty="0" smtClean="0">
                <a:solidFill>
                  <a:schemeClr val="tx1"/>
                </a:solidFill>
                <a:latin typeface="+mn-lt"/>
                <a:ea typeface="+mn-ea"/>
                <a:cs typeface="+mn-cs"/>
              </a:rPr>
              <a:t> A shouted warning</a:t>
            </a:r>
          </a:p>
          <a:p>
            <a:pPr>
              <a:buFont typeface="Arial" pitchFamily="34" charset="0"/>
              <a:buChar char="•"/>
            </a:pPr>
            <a:r>
              <a:rPr lang="en-AU" sz="1200" kern="1200" dirty="0" smtClean="0">
                <a:solidFill>
                  <a:schemeClr val="tx1"/>
                </a:solidFill>
                <a:latin typeface="+mn-lt"/>
                <a:ea typeface="+mn-ea"/>
                <a:cs typeface="+mn-cs"/>
              </a:rPr>
              <a:t> Action has occurred which jeopardizes the safety or security of the client or valuables being escorted,</a:t>
            </a:r>
            <a:r>
              <a:rPr lang="en-AU" sz="1200" kern="1200" baseline="0" dirty="0" smtClean="0">
                <a:solidFill>
                  <a:schemeClr val="tx1"/>
                </a:solidFill>
                <a:latin typeface="+mn-lt"/>
                <a:ea typeface="+mn-ea"/>
                <a:cs typeface="+mn-cs"/>
              </a:rPr>
              <a:t> f</a:t>
            </a:r>
            <a:r>
              <a:rPr lang="en-AU" sz="1200" kern="1200" dirty="0" smtClean="0">
                <a:solidFill>
                  <a:schemeClr val="tx1"/>
                </a:solidFill>
                <a:latin typeface="+mn-lt"/>
                <a:ea typeface="+mn-ea"/>
                <a:cs typeface="+mn-cs"/>
              </a:rPr>
              <a:t>or example:</a:t>
            </a:r>
          </a:p>
          <a:p>
            <a:pPr lvl="1">
              <a:buFont typeface="Arial" pitchFamily="34" charset="0"/>
              <a:buChar char="•"/>
            </a:pPr>
            <a:r>
              <a:rPr lang="en-AU" sz="1200" kern="1200" dirty="0" smtClean="0">
                <a:solidFill>
                  <a:schemeClr val="tx1"/>
                </a:solidFill>
                <a:latin typeface="+mn-lt"/>
                <a:ea typeface="+mn-ea"/>
                <a:cs typeface="+mn-cs"/>
              </a:rPr>
              <a:t> An attack is made on the client</a:t>
            </a:r>
          </a:p>
          <a:p>
            <a:pPr lvl="1">
              <a:buFont typeface="Arial" pitchFamily="34" charset="0"/>
              <a:buChar char="•"/>
            </a:pPr>
            <a:r>
              <a:rPr lang="en-AU" sz="1200" kern="1200" dirty="0" smtClean="0">
                <a:solidFill>
                  <a:schemeClr val="tx1"/>
                </a:solidFill>
                <a:latin typeface="+mn-lt"/>
                <a:ea typeface="+mn-ea"/>
                <a:cs typeface="+mn-cs"/>
              </a:rPr>
              <a:t> An attempt is made to steal the valuables.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90819391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instructs the following apply when responding to threats:</a:t>
            </a:r>
          </a:p>
          <a:p>
            <a:pPr>
              <a:buFont typeface="Arial" pitchFamily="34" charset="0"/>
              <a:buChar char="•"/>
            </a:pPr>
            <a:r>
              <a:rPr lang="en-AU" sz="1200" kern="1200" dirty="0" smtClean="0">
                <a:solidFill>
                  <a:schemeClr val="tx1"/>
                </a:solidFill>
                <a:latin typeface="+mn-lt"/>
                <a:ea typeface="+mn-ea"/>
                <a:cs typeface="+mn-cs"/>
              </a:rPr>
              <a:t> Protection of people must take priority over protection of property, assets or valuable items.</a:t>
            </a:r>
            <a:r>
              <a:rPr lang="en-AU" sz="1200" kern="1200" baseline="0" dirty="0" smtClean="0">
                <a:solidFill>
                  <a:schemeClr val="tx1"/>
                </a:solidFill>
                <a:latin typeface="+mn-lt"/>
                <a:ea typeface="+mn-ea"/>
                <a:cs typeface="+mn-cs"/>
              </a:rPr>
              <a:t> A</a:t>
            </a:r>
            <a:r>
              <a:rPr lang="en-AU" sz="1200" kern="1200" dirty="0" smtClean="0">
                <a:solidFill>
                  <a:schemeClr val="tx1"/>
                </a:solidFill>
                <a:latin typeface="+mn-lt"/>
                <a:ea typeface="+mn-ea"/>
                <a:cs typeface="+mn-cs"/>
              </a:rPr>
              <a:t>lways put the safety of people above the security of valuables</a:t>
            </a:r>
          </a:p>
          <a:p>
            <a:pPr>
              <a:buFont typeface="Arial" pitchFamily="34" charset="0"/>
              <a:buChar char="•"/>
            </a:pPr>
            <a:r>
              <a:rPr lang="en-AU" sz="1200" kern="1200" dirty="0" smtClean="0">
                <a:solidFill>
                  <a:schemeClr val="tx1"/>
                </a:solidFill>
                <a:latin typeface="+mn-lt"/>
                <a:ea typeface="+mn-ea"/>
                <a:cs typeface="+mn-cs"/>
              </a:rPr>
              <a:t> You do not have unlimited authority to take action.</a:t>
            </a:r>
            <a:r>
              <a:rPr lang="en-AU" sz="1200" kern="1200" baseline="0" dirty="0" smtClean="0">
                <a:solidFill>
                  <a:schemeClr val="tx1"/>
                </a:solidFill>
                <a:latin typeface="+mn-lt"/>
                <a:ea typeface="+mn-ea"/>
                <a:cs typeface="+mn-cs"/>
              </a:rPr>
              <a:t> Y</a:t>
            </a:r>
            <a:r>
              <a:rPr lang="en-AU" sz="1200" kern="1200" dirty="0" smtClean="0">
                <a:solidFill>
                  <a:schemeClr val="tx1"/>
                </a:solidFill>
                <a:latin typeface="+mn-lt"/>
                <a:ea typeface="+mn-ea"/>
                <a:cs typeface="+mn-cs"/>
              </a:rPr>
              <a:t>ou are not a police officer and do not have the same rights as a police officer</a:t>
            </a:r>
          </a:p>
          <a:p>
            <a:pPr>
              <a:buFont typeface="Arial" pitchFamily="34" charset="0"/>
              <a:buChar char="•"/>
            </a:pPr>
            <a:r>
              <a:rPr lang="en-AU" sz="1200" kern="1200" dirty="0" smtClean="0">
                <a:solidFill>
                  <a:schemeClr val="tx1"/>
                </a:solidFill>
                <a:latin typeface="+mn-lt"/>
                <a:ea typeface="+mn-ea"/>
                <a:cs typeface="+mn-cs"/>
              </a:rPr>
              <a:t> Follow established house procedures for responses.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can be expected to address:</a:t>
            </a:r>
          </a:p>
          <a:p>
            <a:pPr lvl="1">
              <a:buFont typeface="Arial" pitchFamily="34" charset="0"/>
              <a:buChar char="•"/>
            </a:pPr>
            <a:r>
              <a:rPr lang="en-AU" sz="1200" kern="1200" dirty="0" smtClean="0">
                <a:solidFill>
                  <a:schemeClr val="tx1"/>
                </a:solidFill>
                <a:latin typeface="+mn-lt"/>
                <a:ea typeface="+mn-ea"/>
                <a:cs typeface="+mn-cs"/>
              </a:rPr>
              <a:t> Complying with demands made by attackers and thieves</a:t>
            </a:r>
          </a:p>
          <a:p>
            <a:pPr lvl="1">
              <a:buFont typeface="Arial" pitchFamily="34" charset="0"/>
              <a:buChar char="•"/>
            </a:pPr>
            <a:r>
              <a:rPr lang="en-AU" sz="1200" kern="1200" dirty="0" smtClean="0">
                <a:solidFill>
                  <a:schemeClr val="tx1"/>
                </a:solidFill>
                <a:latin typeface="+mn-lt"/>
                <a:ea typeface="+mn-ea"/>
                <a:cs typeface="+mn-cs"/>
              </a:rPr>
              <a:t> Complying promptly and not attempting to stall/delay the offenders</a:t>
            </a:r>
          </a:p>
          <a:p>
            <a:pPr lvl="1">
              <a:buFont typeface="Arial" pitchFamily="34" charset="0"/>
              <a:buChar char="•"/>
            </a:pPr>
            <a:r>
              <a:rPr lang="en-AU" sz="1200" kern="1200" dirty="0" smtClean="0">
                <a:solidFill>
                  <a:schemeClr val="tx1"/>
                </a:solidFill>
                <a:latin typeface="+mn-lt"/>
                <a:ea typeface="+mn-ea"/>
                <a:cs typeface="+mn-cs"/>
              </a:rPr>
              <a:t> Refraining from physical confrontation unless this is forced onto you.</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embraces:</a:t>
            </a:r>
          </a:p>
          <a:p>
            <a:pPr lvl="2">
              <a:buFont typeface="Arial" pitchFamily="34" charset="0"/>
              <a:buChar char="•"/>
            </a:pPr>
            <a:r>
              <a:rPr lang="en-AU" sz="1200" kern="1200" dirty="0" smtClean="0">
                <a:solidFill>
                  <a:schemeClr val="tx1"/>
                </a:solidFill>
                <a:latin typeface="+mn-lt"/>
                <a:ea typeface="+mn-ea"/>
                <a:cs typeface="+mn-cs"/>
              </a:rPr>
              <a:t> Not being a hero</a:t>
            </a:r>
          </a:p>
          <a:p>
            <a:pPr lvl="2">
              <a:buFont typeface="Arial" pitchFamily="34" charset="0"/>
              <a:buChar char="•"/>
            </a:pPr>
            <a:r>
              <a:rPr lang="en-AU" sz="1200" kern="1200" dirty="0" smtClean="0">
                <a:solidFill>
                  <a:schemeClr val="tx1"/>
                </a:solidFill>
                <a:latin typeface="+mn-lt"/>
                <a:ea typeface="+mn-ea"/>
                <a:cs typeface="+mn-cs"/>
              </a:rPr>
              <a:t> Not arguing with offenders</a:t>
            </a:r>
          </a:p>
          <a:p>
            <a:pPr lvl="2">
              <a:buFont typeface="Arial" pitchFamily="34" charset="0"/>
              <a:buChar char="•"/>
            </a:pPr>
            <a:r>
              <a:rPr lang="en-AU" sz="1200" kern="1200" dirty="0" smtClean="0">
                <a:solidFill>
                  <a:schemeClr val="tx1"/>
                </a:solidFill>
                <a:latin typeface="+mn-lt"/>
                <a:ea typeface="+mn-ea"/>
                <a:cs typeface="+mn-cs"/>
              </a:rPr>
              <a:t> Not making threatening moves/gestures</a:t>
            </a:r>
          </a:p>
          <a:p>
            <a:pPr lvl="2">
              <a:buFont typeface="Arial" pitchFamily="34" charset="0"/>
              <a:buChar char="•"/>
            </a:pPr>
            <a:r>
              <a:rPr lang="en-AU" sz="1200" kern="1200" dirty="0" smtClean="0">
                <a:solidFill>
                  <a:schemeClr val="tx1"/>
                </a:solidFill>
                <a:latin typeface="+mn-lt"/>
                <a:ea typeface="+mn-ea"/>
                <a:cs typeface="+mn-cs"/>
              </a:rPr>
              <a:t> Not staring at them</a:t>
            </a:r>
          </a:p>
          <a:p>
            <a:pPr lvl="2">
              <a:buFont typeface="Arial" pitchFamily="34" charset="0"/>
              <a:buChar char="•"/>
            </a:pPr>
            <a:r>
              <a:rPr lang="en-AU" sz="1200" kern="1200" dirty="0" smtClean="0">
                <a:solidFill>
                  <a:schemeClr val="tx1"/>
                </a:solidFill>
                <a:latin typeface="+mn-lt"/>
                <a:ea typeface="+mn-ea"/>
                <a:cs typeface="+mn-cs"/>
              </a:rPr>
              <a:t> Speaking only when spoken to</a:t>
            </a:r>
          </a:p>
          <a:p>
            <a:pPr lvl="2">
              <a:buFont typeface="Arial" pitchFamily="34" charset="0"/>
              <a:buChar char="•"/>
            </a:pPr>
            <a:r>
              <a:rPr lang="en-AU" sz="1200" kern="1200" dirty="0" smtClean="0">
                <a:solidFill>
                  <a:schemeClr val="tx1"/>
                </a:solidFill>
                <a:latin typeface="+mn-lt"/>
                <a:ea typeface="+mn-ea"/>
                <a:cs typeface="+mn-cs"/>
              </a:rPr>
              <a:t> Advising the offenders if you need to do something/take some action which may alarm, surprise or confuse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41662586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when responding to threats:</a:t>
            </a:r>
          </a:p>
          <a:p>
            <a:pPr>
              <a:buFont typeface="Arial" pitchFamily="34" charset="0"/>
              <a:buChar char="•"/>
            </a:pPr>
            <a:r>
              <a:rPr lang="en-AU" sz="1200" kern="1200" dirty="0" smtClean="0">
                <a:solidFill>
                  <a:schemeClr val="tx1"/>
                </a:solidFill>
                <a:latin typeface="+mn-lt"/>
                <a:ea typeface="+mn-ea"/>
                <a:cs typeface="+mn-cs"/>
              </a:rPr>
              <a:t> Follow established house procedures for responses.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can be expected to address:</a:t>
            </a:r>
            <a:endParaRPr lang="en-AU" noProof="0" dirty="0" smtClean="0"/>
          </a:p>
          <a:p>
            <a:pPr lvl="1">
              <a:buFont typeface="Arial" pitchFamily="34" charset="0"/>
              <a:buChar char="•"/>
            </a:pPr>
            <a:r>
              <a:rPr lang="en-AU" sz="1200" kern="1200" dirty="0" smtClean="0">
                <a:solidFill>
                  <a:schemeClr val="tx1"/>
                </a:solidFill>
                <a:latin typeface="+mn-lt"/>
                <a:ea typeface="+mn-ea"/>
                <a:cs typeface="+mn-cs"/>
              </a:rPr>
              <a:t> Taking action to ensure the safety of others in the area</a:t>
            </a:r>
          </a:p>
          <a:p>
            <a:pPr lvl="1">
              <a:buFont typeface="Arial" pitchFamily="34" charset="0"/>
              <a:buChar char="•"/>
            </a:pPr>
            <a:r>
              <a:rPr lang="en-AU" sz="1200" kern="1200" dirty="0" smtClean="0">
                <a:solidFill>
                  <a:schemeClr val="tx1"/>
                </a:solidFill>
                <a:latin typeface="+mn-lt"/>
                <a:ea typeface="+mn-ea"/>
                <a:cs typeface="+mn-cs"/>
              </a:rPr>
              <a:t> Noting descriptions of perpetrators</a:t>
            </a:r>
          </a:p>
          <a:p>
            <a:pPr lvl="1">
              <a:buFont typeface="Arial" pitchFamily="34" charset="0"/>
              <a:buChar char="•"/>
            </a:pPr>
            <a:r>
              <a:rPr lang="en-AU" sz="1200" kern="1200" dirty="0" smtClean="0">
                <a:solidFill>
                  <a:schemeClr val="tx1"/>
                </a:solidFill>
                <a:latin typeface="+mn-lt"/>
                <a:ea typeface="+mn-ea"/>
                <a:cs typeface="+mn-cs"/>
              </a:rPr>
              <a:t> Activating alarms when safe to do so</a:t>
            </a:r>
          </a:p>
          <a:p>
            <a:pPr lvl="1">
              <a:buFont typeface="Arial" pitchFamily="34" charset="0"/>
              <a:buChar char="•"/>
            </a:pPr>
            <a:r>
              <a:rPr lang="en-AU" sz="1200" kern="1200" dirty="0" smtClean="0">
                <a:solidFill>
                  <a:schemeClr val="tx1"/>
                </a:solidFill>
                <a:latin typeface="+mn-lt"/>
                <a:ea typeface="+mn-ea"/>
                <a:cs typeface="+mn-cs"/>
              </a:rPr>
              <a:t> Not pursuing offenders when they have left</a:t>
            </a:r>
          </a:p>
          <a:p>
            <a:pPr lvl="1">
              <a:buFont typeface="Arial" pitchFamily="34" charset="0"/>
              <a:buChar char="•"/>
            </a:pPr>
            <a:r>
              <a:rPr lang="en-AU" sz="1200" kern="1200" dirty="0" smtClean="0">
                <a:solidFill>
                  <a:schemeClr val="tx1"/>
                </a:solidFill>
                <a:latin typeface="+mn-lt"/>
                <a:ea typeface="+mn-ea"/>
                <a:cs typeface="+mn-cs"/>
              </a:rPr>
              <a:t> Calling for assistance (internally and externally) when safe to do so</a:t>
            </a:r>
          </a:p>
          <a:p>
            <a:pPr lvl="1">
              <a:buFont typeface="Arial" pitchFamily="34" charset="0"/>
              <a:buChar char="•"/>
            </a:pPr>
            <a:r>
              <a:rPr lang="en-AU" sz="1200" kern="1200" dirty="0" smtClean="0">
                <a:solidFill>
                  <a:schemeClr val="tx1"/>
                </a:solidFill>
                <a:latin typeface="+mn-lt"/>
                <a:ea typeface="+mn-ea"/>
                <a:cs typeface="+mn-cs"/>
              </a:rPr>
              <a:t> Relaying relevant information to others regarding the incident/attack.</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3793760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when responding to threats:</a:t>
            </a:r>
          </a:p>
          <a:p>
            <a:pPr>
              <a:buFont typeface="Arial" pitchFamily="34" charset="0"/>
              <a:buChar char="•"/>
            </a:pPr>
            <a:r>
              <a:rPr lang="en-AU" sz="1200" kern="1200" dirty="0" smtClean="0">
                <a:solidFill>
                  <a:schemeClr val="tx1"/>
                </a:solidFill>
                <a:latin typeface="+mn-lt"/>
                <a:ea typeface="+mn-ea"/>
                <a:cs typeface="+mn-cs"/>
              </a:rPr>
              <a:t> Follow established house procedures for responses.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can be expected to address:</a:t>
            </a:r>
          </a:p>
          <a:p>
            <a:pPr lvl="1">
              <a:buFont typeface="Arial" pitchFamily="34" charset="0"/>
              <a:buChar char="•"/>
            </a:pPr>
            <a:r>
              <a:rPr lang="en-AU" sz="1200" kern="1200" dirty="0" smtClean="0">
                <a:solidFill>
                  <a:schemeClr val="tx1"/>
                </a:solidFill>
                <a:latin typeface="+mn-lt"/>
                <a:ea typeface="+mn-ea"/>
                <a:cs typeface="+mn-cs"/>
              </a:rPr>
              <a:t> Securing the scene after the incident by not touching anything and ensuring no-one else touches anything</a:t>
            </a:r>
          </a:p>
          <a:p>
            <a:pPr lvl="1">
              <a:buFont typeface="Arial" pitchFamily="34" charset="0"/>
              <a:buChar char="•"/>
            </a:pPr>
            <a:r>
              <a:rPr lang="en-AU" sz="1200" kern="1200" dirty="0" smtClean="0">
                <a:solidFill>
                  <a:schemeClr val="tx1"/>
                </a:solidFill>
                <a:latin typeface="+mn-lt"/>
                <a:ea typeface="+mn-ea"/>
                <a:cs typeface="+mn-cs"/>
              </a:rPr>
              <a:t> Requesting members of the public to remain and talk to authorities.</a:t>
            </a:r>
            <a:r>
              <a:rPr lang="en-AU" sz="1200" kern="1200" baseline="0" dirty="0" smtClean="0">
                <a:solidFill>
                  <a:schemeClr val="tx1"/>
                </a:solidFill>
                <a:latin typeface="+mn-lt"/>
                <a:ea typeface="+mn-ea"/>
                <a:cs typeface="+mn-cs"/>
              </a:rPr>
              <a:t> G</a:t>
            </a:r>
            <a:r>
              <a:rPr lang="en-AU" sz="1200" kern="1200" dirty="0" smtClean="0">
                <a:solidFill>
                  <a:schemeClr val="tx1"/>
                </a:solidFill>
                <a:latin typeface="+mn-lt"/>
                <a:ea typeface="+mn-ea"/>
                <a:cs typeface="+mn-cs"/>
              </a:rPr>
              <a:t>uests are not obliged to do this</a:t>
            </a:r>
          </a:p>
          <a:p>
            <a:pPr lvl="1">
              <a:buFont typeface="Arial" pitchFamily="34" charset="0"/>
              <a:buChar char="•"/>
            </a:pPr>
            <a:r>
              <a:rPr lang="en-AU" sz="1200" kern="1200" dirty="0" smtClean="0">
                <a:solidFill>
                  <a:schemeClr val="tx1"/>
                </a:solidFill>
                <a:latin typeface="+mn-lt"/>
                <a:ea typeface="+mn-ea"/>
                <a:cs typeface="+mn-cs"/>
              </a:rPr>
              <a:t> Asking those present to make Witness Statements.</a:t>
            </a:r>
            <a:r>
              <a:rPr lang="en-AU" sz="1200" kern="1200" baseline="0" dirty="0" smtClean="0">
                <a:solidFill>
                  <a:schemeClr val="tx1"/>
                </a:solidFill>
                <a:latin typeface="+mn-lt"/>
                <a:ea typeface="+mn-ea"/>
                <a:cs typeface="+mn-cs"/>
              </a:rPr>
              <a:t> Once </a:t>
            </a:r>
            <a:r>
              <a:rPr lang="en-AU" sz="1200" kern="1200" dirty="0" smtClean="0">
                <a:solidFill>
                  <a:schemeClr val="tx1"/>
                </a:solidFill>
                <a:latin typeface="+mn-lt"/>
                <a:ea typeface="+mn-ea"/>
                <a:cs typeface="+mn-cs"/>
              </a:rPr>
              <a:t>again, they are not compelled to do this</a:t>
            </a:r>
          </a:p>
          <a:p>
            <a:pPr lvl="1">
              <a:buFont typeface="Arial" pitchFamily="34" charset="0"/>
              <a:buChar char="•"/>
            </a:pPr>
            <a:r>
              <a:rPr lang="en-AU" sz="1200" kern="1200" dirty="0" smtClean="0">
                <a:solidFill>
                  <a:schemeClr val="tx1"/>
                </a:solidFill>
                <a:latin typeface="+mn-lt"/>
                <a:ea typeface="+mn-ea"/>
                <a:cs typeface="+mn-cs"/>
              </a:rPr>
              <a:t> Not allowing persons to enter the area after the incident</a:t>
            </a:r>
          </a:p>
          <a:p>
            <a:pPr lvl="1">
              <a:buFont typeface="Arial" pitchFamily="34" charset="0"/>
              <a:buChar char="•"/>
            </a:pPr>
            <a:r>
              <a:rPr lang="en-AU" sz="1200" kern="1200" dirty="0" smtClean="0">
                <a:solidFill>
                  <a:schemeClr val="tx1"/>
                </a:solidFill>
                <a:latin typeface="+mn-lt"/>
                <a:ea typeface="+mn-ea"/>
                <a:cs typeface="+mn-cs"/>
              </a:rPr>
              <a:t> Not talking to the media about the incident</a:t>
            </a:r>
          </a:p>
          <a:p>
            <a:pPr lvl="1">
              <a:buFont typeface="Arial" pitchFamily="34" charset="0"/>
              <a:buChar char="•"/>
            </a:pPr>
            <a:r>
              <a:rPr lang="en-AU" sz="1200" kern="1200" dirty="0" smtClean="0">
                <a:solidFill>
                  <a:schemeClr val="tx1"/>
                </a:solidFill>
                <a:latin typeface="+mn-lt"/>
                <a:ea typeface="+mn-ea"/>
                <a:cs typeface="+mn-cs"/>
              </a:rPr>
              <a:t> Participating in internal investigations and debriefings.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19320551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latin typeface="+mn-lt"/>
                <a:ea typeface="+mn-ea"/>
                <a:cs typeface="+mn-cs"/>
              </a:rPr>
              <a:t>requirements relating to completing necessary documentation will vary between venues and in relation to completing relevant documentation the following generally applies:</a:t>
            </a:r>
          </a:p>
          <a:p>
            <a:pPr>
              <a:buFont typeface="Arial" pitchFamily="34" charset="0"/>
              <a:buChar char="•"/>
            </a:pPr>
            <a:r>
              <a:rPr lang="en-AU" sz="1200" kern="1200" dirty="0" smtClean="0">
                <a:solidFill>
                  <a:schemeClr val="tx1"/>
                </a:solidFill>
                <a:latin typeface="+mn-lt"/>
                <a:ea typeface="+mn-ea"/>
                <a:cs typeface="+mn-cs"/>
              </a:rPr>
              <a:t> Complete it as soon as possible after the work has been finalised or as soon as possible after an incident/event has occurred</a:t>
            </a:r>
          </a:p>
          <a:p>
            <a:pPr>
              <a:buFont typeface="Arial" pitchFamily="34" charset="0"/>
              <a:buChar char="•"/>
            </a:pPr>
            <a:r>
              <a:rPr lang="en-AU" sz="1200" kern="1200" dirty="0" smtClean="0">
                <a:solidFill>
                  <a:schemeClr val="tx1"/>
                </a:solidFill>
                <a:latin typeface="+mn-lt"/>
                <a:ea typeface="+mn-ea"/>
                <a:cs typeface="+mn-cs"/>
              </a:rPr>
              <a:t> Fill an all parts/elements of the forms to be completed</a:t>
            </a:r>
          </a:p>
          <a:p>
            <a:pPr>
              <a:buFont typeface="Arial" pitchFamily="34" charset="0"/>
              <a:buChar char="•"/>
            </a:pPr>
            <a:r>
              <a:rPr lang="en-AU" sz="1200" kern="1200" dirty="0" smtClean="0">
                <a:solidFill>
                  <a:schemeClr val="tx1"/>
                </a:solidFill>
                <a:latin typeface="+mn-lt"/>
                <a:ea typeface="+mn-ea"/>
                <a:cs typeface="+mn-cs"/>
              </a:rPr>
              <a:t> When completing documents be:</a:t>
            </a:r>
          </a:p>
          <a:p>
            <a:pPr>
              <a:buFont typeface="Arial" pitchFamily="34" charset="0"/>
              <a:buChar char="•"/>
            </a:pPr>
            <a:r>
              <a:rPr lang="en-US" sz="1200" kern="1200" dirty="0" smtClean="0">
                <a:solidFill>
                  <a:schemeClr val="tx1"/>
                </a:solidFill>
                <a:latin typeface="+mn-lt"/>
                <a:ea typeface="+mn-ea"/>
                <a:cs typeface="+mn-cs"/>
              </a:rPr>
              <a:t> Honest – never invent occurrences, words spoken, action taken or observations made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Accurate – there is a need to capture to the best extent possible what actually occurred.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Pay special attention to things such as dates, times, numbers, statistics, amounts, values, registration numbers of vehicles, physical appearances, and what people said and wore.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Comprehensive – it is best to provide too much information than to risk omitting the one fact/piece of information which solves the case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Sure to distinguish ‘known fact’ from opinion, belief or perception.</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you think it is absolutely necessary to include something which is the result of your intuition, make sure it is flagged as such.</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59401424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about completion of documents:</a:t>
            </a:r>
          </a:p>
          <a:p>
            <a:pPr>
              <a:buFont typeface="Arial" pitchFamily="34" charset="0"/>
              <a:buChar char="•"/>
            </a:pPr>
            <a:r>
              <a:rPr lang="en-AU" sz="1200" kern="1200" dirty="0" smtClean="0">
                <a:solidFill>
                  <a:schemeClr val="tx1"/>
                </a:solidFill>
                <a:latin typeface="+mn-lt"/>
                <a:ea typeface="+mn-ea"/>
                <a:cs typeface="+mn-cs"/>
              </a:rPr>
              <a:t> Completed documentation needs to be ‘forwarded’.</a:t>
            </a:r>
            <a:r>
              <a:rPr lang="en-AU" sz="1200" kern="1200" baseline="0" dirty="0" smtClean="0">
                <a:solidFill>
                  <a:schemeClr val="tx1"/>
                </a:solidFill>
                <a:latin typeface="+mn-lt"/>
                <a:ea typeface="+mn-ea"/>
                <a:cs typeface="+mn-cs"/>
              </a:rPr>
              <a:t> Th</a:t>
            </a:r>
            <a:r>
              <a:rPr lang="en-AU" sz="1200" kern="1200" dirty="0" smtClean="0">
                <a:solidFill>
                  <a:schemeClr val="tx1"/>
                </a:solidFill>
                <a:latin typeface="+mn-lt"/>
                <a:ea typeface="+mn-ea"/>
                <a:cs typeface="+mn-cs"/>
              </a:rPr>
              <a:t>ere is always a need to file a form or hand it in to a designated person/department</a:t>
            </a:r>
          </a:p>
          <a:p>
            <a:pPr>
              <a:buFont typeface="Arial" pitchFamily="34" charset="0"/>
              <a:buChar char="•"/>
            </a:pPr>
            <a:r>
              <a:rPr lang="en-AU" sz="1200" kern="1200" dirty="0" smtClean="0">
                <a:solidFill>
                  <a:schemeClr val="tx1"/>
                </a:solidFill>
                <a:latin typeface="+mn-lt"/>
                <a:ea typeface="+mn-ea"/>
                <a:cs typeface="+mn-cs"/>
              </a:rPr>
              <a:t> In-house/on-the-job training will teach you:</a:t>
            </a:r>
          </a:p>
          <a:p>
            <a:pPr lvl="1">
              <a:buFont typeface="Arial" pitchFamily="34" charset="0"/>
              <a:buChar char="•"/>
            </a:pPr>
            <a:r>
              <a:rPr lang="en-AU" sz="1200" kern="1200" dirty="0" smtClean="0">
                <a:solidFill>
                  <a:schemeClr val="tx1"/>
                </a:solidFill>
                <a:latin typeface="+mn-lt"/>
                <a:ea typeface="+mn-ea"/>
                <a:cs typeface="+mn-cs"/>
              </a:rPr>
              <a:t> The documents to be completed</a:t>
            </a:r>
          </a:p>
          <a:p>
            <a:pPr lvl="1">
              <a:buFont typeface="Arial" pitchFamily="34" charset="0"/>
              <a:buChar char="•"/>
            </a:pPr>
            <a:r>
              <a:rPr lang="en-AU" sz="1200" kern="1200" dirty="0" smtClean="0">
                <a:solidFill>
                  <a:schemeClr val="tx1"/>
                </a:solidFill>
                <a:latin typeface="+mn-lt"/>
                <a:ea typeface="+mn-ea"/>
                <a:cs typeface="+mn-cs"/>
              </a:rPr>
              <a:t> How they need to be completed</a:t>
            </a:r>
          </a:p>
          <a:p>
            <a:pPr>
              <a:buFont typeface="Arial" pitchFamily="34" charset="0"/>
              <a:buChar char="•"/>
            </a:pPr>
            <a:r>
              <a:rPr lang="en-AU" sz="1200" kern="1200" dirty="0" smtClean="0">
                <a:solidFill>
                  <a:schemeClr val="tx1"/>
                </a:solidFill>
                <a:latin typeface="+mn-lt"/>
                <a:ea typeface="+mn-ea"/>
                <a:cs typeface="+mn-cs"/>
              </a:rPr>
              <a:t> Keep a copy of any records/reports you complete for your own records/purposes ‘after the event’ </a:t>
            </a:r>
          </a:p>
          <a:p>
            <a:pPr>
              <a:buFont typeface="Arial" pitchFamily="34" charset="0"/>
              <a:buChar char="•"/>
            </a:pPr>
            <a:r>
              <a:rPr lang="en-AU" sz="1200" kern="1200" dirty="0" smtClean="0">
                <a:solidFill>
                  <a:schemeClr val="tx1"/>
                </a:solidFill>
                <a:latin typeface="+mn-lt"/>
                <a:ea typeface="+mn-ea"/>
                <a:cs typeface="+mn-cs"/>
              </a:rPr>
              <a:t> Seek advice when uncertain about:</a:t>
            </a:r>
          </a:p>
          <a:p>
            <a:pPr lvl="1">
              <a:buFont typeface="Arial" pitchFamily="34" charset="0"/>
              <a:buChar char="•"/>
            </a:pPr>
            <a:r>
              <a:rPr lang="en-AU" sz="1200" kern="1200" dirty="0" smtClean="0">
                <a:solidFill>
                  <a:schemeClr val="tx1"/>
                </a:solidFill>
                <a:latin typeface="+mn-lt"/>
                <a:ea typeface="+mn-ea"/>
                <a:cs typeface="+mn-cs"/>
              </a:rPr>
              <a:t> Whether a record/report or documentation is required </a:t>
            </a:r>
          </a:p>
          <a:p>
            <a:pPr lvl="1">
              <a:buFont typeface="Arial" pitchFamily="34" charset="0"/>
              <a:buChar char="•"/>
            </a:pPr>
            <a:r>
              <a:rPr lang="en-AU" sz="1200" kern="1200" dirty="0" smtClean="0">
                <a:solidFill>
                  <a:schemeClr val="tx1"/>
                </a:solidFill>
                <a:latin typeface="+mn-lt"/>
                <a:ea typeface="+mn-ea"/>
                <a:cs typeface="+mn-cs"/>
              </a:rPr>
              <a:t> Details/information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0138429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documents which may need to be completed:</a:t>
            </a:r>
          </a:p>
          <a:p>
            <a:r>
              <a:rPr lang="en-AU" sz="1200" b="1" kern="1200" dirty="0" smtClean="0">
                <a:solidFill>
                  <a:schemeClr val="tx1"/>
                </a:solidFill>
                <a:latin typeface="+mn-lt"/>
                <a:ea typeface="+mn-ea"/>
                <a:cs typeface="+mn-cs"/>
              </a:rPr>
              <a:t>Assignment/job sheets </a:t>
            </a:r>
            <a:r>
              <a:rPr lang="en-AU" sz="1200" kern="1200" dirty="0" smtClean="0">
                <a:solidFill>
                  <a:schemeClr val="tx1"/>
                </a:solidFill>
                <a:latin typeface="+mn-lt"/>
                <a:ea typeface="+mn-ea"/>
                <a:cs typeface="+mn-cs"/>
              </a:rPr>
              <a:t>– completed at the end of the allocated assignment to:</a:t>
            </a:r>
          </a:p>
          <a:p>
            <a:pPr>
              <a:buFont typeface="Arial" pitchFamily="34" charset="0"/>
              <a:buChar char="•"/>
            </a:pPr>
            <a:r>
              <a:rPr lang="en-US" sz="1200" kern="1200" dirty="0" smtClean="0">
                <a:solidFill>
                  <a:schemeClr val="tx1"/>
                </a:solidFill>
                <a:latin typeface="+mn-lt"/>
                <a:ea typeface="+mn-ea"/>
                <a:cs typeface="+mn-cs"/>
              </a:rPr>
              <a:t> Confirm the assignment was competed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Verify staff who completed the work</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Show the time taken, resources used and date/s of the task</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Indicate any problems or issues with the work performed</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Bills of lading </a:t>
            </a:r>
            <a:r>
              <a:rPr lang="en-AU" sz="1200" kern="1200" dirty="0" smtClean="0">
                <a:solidFill>
                  <a:schemeClr val="tx1"/>
                </a:solidFill>
                <a:latin typeface="+mn-lt"/>
                <a:ea typeface="+mn-ea"/>
                <a:cs typeface="+mn-cs"/>
              </a:rPr>
              <a:t>(or similar documents) which are necessary to:</a:t>
            </a:r>
          </a:p>
          <a:p>
            <a:pPr>
              <a:buFont typeface="Arial" pitchFamily="34" charset="0"/>
              <a:buChar char="•"/>
            </a:pPr>
            <a:r>
              <a:rPr lang="en-US" sz="1200" kern="1200" dirty="0" smtClean="0">
                <a:solidFill>
                  <a:schemeClr val="tx1"/>
                </a:solidFill>
                <a:latin typeface="+mn-lt"/>
                <a:ea typeface="+mn-ea"/>
                <a:cs typeface="+mn-cs"/>
              </a:rPr>
              <a:t> Prove the valuables (by description and number) being escorted were handed over to (as appropriate):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Another person or company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Another venue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transport provider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Relieve the venue of obligations from the time the bill of lading was signed by the other party</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Insurance claims </a:t>
            </a:r>
            <a:r>
              <a:rPr lang="en-AU" sz="1200" kern="1200" dirty="0" smtClean="0">
                <a:solidFill>
                  <a:schemeClr val="tx1"/>
                </a:solidFill>
                <a:latin typeface="+mn-lt"/>
                <a:ea typeface="+mn-ea"/>
                <a:cs typeface="+mn-cs"/>
              </a:rPr>
              <a:t>– which need to be completed whenever a claim is made against an insurance policy held by the venue.</a:t>
            </a:r>
          </a:p>
          <a:p>
            <a:pPr>
              <a:buFont typeface="Arial" pitchFamily="34" charset="0"/>
              <a:buChar char="•"/>
            </a:pPr>
            <a:r>
              <a:rPr lang="en-AU" sz="1200" kern="1200" dirty="0" smtClean="0">
                <a:solidFill>
                  <a:schemeClr val="tx1"/>
                </a:solidFill>
                <a:latin typeface="+mn-lt"/>
                <a:ea typeface="+mn-ea"/>
                <a:cs typeface="+mn-cs"/>
              </a:rPr>
              <a:t> You will normally be required to provide supporting information for your supervisor to complete this form, and they will ask you for details regarding:</a:t>
            </a:r>
          </a:p>
          <a:p>
            <a:pPr lvl="1">
              <a:buFont typeface="Arial" pitchFamily="34" charset="0"/>
              <a:buChar char="•"/>
            </a:pPr>
            <a:r>
              <a:rPr lang="en-US" sz="1200" kern="1200" dirty="0" smtClean="0">
                <a:solidFill>
                  <a:schemeClr val="tx1"/>
                </a:solidFill>
                <a:latin typeface="+mn-lt"/>
                <a:ea typeface="+mn-ea"/>
                <a:cs typeface="+mn-cs"/>
              </a:rPr>
              <a:t> The incident giving rise to whatever caused the need for a claim to be lodged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Facts, dates, times and specific information about the event/incident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Details of the item/s stolen or damaged and/or injuries sustained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Preventative action taken to avoid the incident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Responses taken after the event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Handouts</a:t>
            </a:r>
            <a:r>
              <a:rPr lang="en-AU" b="1" baseline="0" noProof="0" dirty="0" smtClean="0"/>
              <a:t> and Explanation</a:t>
            </a:r>
          </a:p>
          <a:p>
            <a:pPr>
              <a:buFont typeface="Arial" pitchFamily="34" charset="0"/>
              <a:buNone/>
            </a:pPr>
            <a:r>
              <a:rPr lang="en-AU" b="0" baseline="0" noProof="0" dirty="0" smtClean="0"/>
              <a:t>Trainer distributes and discuss use and completion of documents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64912359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documents which may need to be completed:</a:t>
            </a:r>
          </a:p>
          <a:p>
            <a:r>
              <a:rPr lang="en-AU" sz="1200" b="1" kern="1200" dirty="0" smtClean="0">
                <a:solidFill>
                  <a:schemeClr val="tx1"/>
                </a:solidFill>
                <a:latin typeface="+mn-lt"/>
                <a:ea typeface="+mn-ea"/>
                <a:cs typeface="+mn-cs"/>
              </a:rPr>
              <a:t>Internal security request forms. </a:t>
            </a:r>
            <a:r>
              <a:rPr lang="en-AU" sz="1200" b="0" kern="1200" dirty="0" smtClean="0">
                <a:solidFill>
                  <a:schemeClr val="tx1"/>
                </a:solidFill>
                <a:latin typeface="+mn-lt"/>
                <a:ea typeface="+mn-ea"/>
                <a:cs typeface="+mn-cs"/>
              </a:rPr>
              <a:t>T</a:t>
            </a:r>
            <a:r>
              <a:rPr lang="en-AU" sz="1200" kern="1200" dirty="0" smtClean="0">
                <a:solidFill>
                  <a:schemeClr val="tx1"/>
                </a:solidFill>
                <a:latin typeface="+mn-lt"/>
                <a:ea typeface="+mn-ea"/>
                <a:cs typeface="+mn-cs"/>
              </a:rPr>
              <a:t>hese are competed:</a:t>
            </a:r>
          </a:p>
          <a:p>
            <a:pPr>
              <a:buFont typeface="Arial" pitchFamily="34" charset="0"/>
              <a:buChar char="•"/>
            </a:pPr>
            <a:r>
              <a:rPr lang="en-US" sz="1200" kern="1200" dirty="0" smtClean="0">
                <a:solidFill>
                  <a:schemeClr val="tx1"/>
                </a:solidFill>
                <a:latin typeface="+mn-lt"/>
                <a:ea typeface="+mn-ea"/>
                <a:cs typeface="+mn-cs"/>
              </a:rPr>
              <a:t> When a new or modified risk/threat is identified as part of the activities involved in discharging other escort duties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To request: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Changes to established plans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More/different resources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Modifications or additions to existing SOPs and policies</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Security lodgement forms. </a:t>
            </a:r>
            <a:r>
              <a:rPr lang="en-AU" sz="1200" kern="1200" dirty="0" smtClean="0">
                <a:solidFill>
                  <a:schemeClr val="tx1"/>
                </a:solidFill>
                <a:latin typeface="+mn-lt"/>
                <a:ea typeface="+mn-ea"/>
                <a:cs typeface="+mn-cs"/>
              </a:rPr>
              <a:t>These are forms which may have been competed:</a:t>
            </a:r>
          </a:p>
          <a:p>
            <a:pPr>
              <a:buFont typeface="Arial" pitchFamily="34" charset="0"/>
              <a:buChar char="•"/>
            </a:pPr>
            <a:r>
              <a:rPr lang="en-US" sz="1200" kern="1200" dirty="0" smtClean="0">
                <a:solidFill>
                  <a:schemeClr val="tx1"/>
                </a:solidFill>
                <a:latin typeface="+mn-lt"/>
                <a:ea typeface="+mn-ea"/>
                <a:cs typeface="+mn-cs"/>
              </a:rPr>
              <a:t> By guests/clients who lodge items for safe-keeping with the venue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By you when you lodge guest/client or venue valuables with a third party provider (such as a bank or an external security company) for safe-keeping.</a:t>
            </a:r>
            <a:endParaRPr lang="en-AU"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t>
            </a:r>
            <a:r>
              <a:rPr lang="en-AU" sz="1200" b="1" kern="1200" dirty="0" smtClean="0">
                <a:solidFill>
                  <a:schemeClr val="tx1"/>
                </a:solidFill>
                <a:latin typeface="+mn-lt"/>
                <a:ea typeface="+mn-ea"/>
                <a:cs typeface="+mn-cs"/>
              </a:rPr>
              <a:t>Items issued/items released forms.</a:t>
            </a:r>
            <a:r>
              <a:rPr lang="en-AU" sz="1200" b="1" kern="1200" baseline="0" dirty="0" smtClean="0">
                <a:solidFill>
                  <a:schemeClr val="tx1"/>
                </a:solidFill>
                <a:latin typeface="+mn-lt"/>
                <a:ea typeface="+mn-ea"/>
                <a:cs typeface="+mn-cs"/>
              </a:rPr>
              <a:t> </a:t>
            </a:r>
            <a:r>
              <a:rPr lang="en-AU" sz="1200" b="0" kern="1200" baseline="0" dirty="0" smtClean="0">
                <a:solidFill>
                  <a:schemeClr val="tx1"/>
                </a:solidFill>
                <a:latin typeface="+mn-lt"/>
                <a:ea typeface="+mn-ea"/>
                <a:cs typeface="+mn-cs"/>
              </a:rPr>
              <a:t>T</a:t>
            </a:r>
            <a:r>
              <a:rPr lang="en-AU" sz="1200" kern="1200" dirty="0" smtClean="0">
                <a:solidFill>
                  <a:schemeClr val="tx1"/>
                </a:solidFill>
                <a:latin typeface="+mn-lt"/>
                <a:ea typeface="+mn-ea"/>
                <a:cs typeface="+mn-cs"/>
              </a:rPr>
              <a:t>hese forms record the transfer of items from the venue to their rightful owner/s detailing:</a:t>
            </a:r>
          </a:p>
          <a:p>
            <a:pPr>
              <a:buFont typeface="Arial" pitchFamily="34" charset="0"/>
              <a:buChar char="•"/>
            </a:pPr>
            <a:r>
              <a:rPr lang="en-US" sz="1200" kern="1200" dirty="0" smtClean="0">
                <a:solidFill>
                  <a:schemeClr val="tx1"/>
                </a:solidFill>
                <a:latin typeface="+mn-lt"/>
                <a:ea typeface="+mn-ea"/>
                <a:cs typeface="+mn-cs"/>
              </a:rPr>
              <a:t> Time and date of the transaction</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Description of item/s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Proof of ownership used to confirm legitimate ownership</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Signature and name of person to whom the item was released</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Signature and name of staff who released the item.</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Handouts</a:t>
            </a:r>
            <a:r>
              <a:rPr lang="en-AU" b="1" baseline="0" noProof="0" dirty="0" smtClean="0"/>
              <a:t> and Explanation</a:t>
            </a:r>
          </a:p>
          <a:p>
            <a:pPr>
              <a:buFont typeface="Arial" pitchFamily="34" charset="0"/>
              <a:buNone/>
            </a:pPr>
            <a:r>
              <a:rPr lang="en-AU" b="0" baseline="0" noProof="0" dirty="0" smtClean="0"/>
              <a:t>Trainer distributes and discuss use and completion of documents as identified on the slide.</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40441036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documents which may need to be completed:</a:t>
            </a:r>
          </a:p>
          <a:p>
            <a:r>
              <a:rPr lang="en-AU" sz="1200" b="1" kern="1200" dirty="0" smtClean="0">
                <a:solidFill>
                  <a:schemeClr val="tx1"/>
                </a:solidFill>
                <a:latin typeface="+mn-lt"/>
                <a:ea typeface="+mn-ea"/>
                <a:cs typeface="+mn-cs"/>
              </a:rPr>
              <a:t>Security threat reports </a:t>
            </a:r>
            <a:r>
              <a:rPr lang="en-AU" sz="1200" kern="1200" dirty="0" smtClean="0">
                <a:solidFill>
                  <a:schemeClr val="tx1"/>
                </a:solidFill>
                <a:latin typeface="+mn-lt"/>
                <a:ea typeface="+mn-ea"/>
                <a:cs typeface="+mn-cs"/>
              </a:rPr>
              <a:t>incorporating suspicious person report completed at the end-of-shift to:</a:t>
            </a:r>
          </a:p>
          <a:p>
            <a:pPr>
              <a:buFont typeface="Arial" pitchFamily="34" charset="0"/>
              <a:buChar char="•"/>
            </a:pPr>
            <a:r>
              <a:rPr lang="en-US" sz="1200" kern="1200" dirty="0" smtClean="0">
                <a:solidFill>
                  <a:schemeClr val="tx1"/>
                </a:solidFill>
                <a:latin typeface="+mn-lt"/>
                <a:ea typeface="+mn-ea"/>
                <a:cs typeface="+mn-cs"/>
              </a:rPr>
              <a:t> Communicate situations which are believed to give rise to a new or modified threat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Communicate updated evidence related to established/identified threats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Give details of suspicious persons and suspicious activity</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Incident report </a:t>
            </a:r>
            <a:r>
              <a:rPr lang="en-AU" sz="1200" kern="1200" dirty="0" smtClean="0">
                <a:solidFill>
                  <a:schemeClr val="tx1"/>
                </a:solidFill>
                <a:latin typeface="+mn-lt"/>
                <a:ea typeface="+mn-ea"/>
                <a:cs typeface="+mn-cs"/>
              </a:rPr>
              <a:t>to record details relating to an incident which has occurred in the venue</a:t>
            </a:r>
          </a:p>
          <a:p>
            <a:r>
              <a:rPr lang="en-AU" sz="1200" b="1" kern="1200" dirty="0" smtClean="0">
                <a:solidFill>
                  <a:schemeClr val="tx1"/>
                </a:solidFill>
                <a:latin typeface="+mn-lt"/>
                <a:ea typeface="+mn-ea"/>
                <a:cs typeface="+mn-cs"/>
              </a:rPr>
              <a:t>Witness statements</a:t>
            </a:r>
            <a:r>
              <a:rPr lang="en-AU" sz="1200" kern="1200" dirty="0" smtClean="0">
                <a:solidFill>
                  <a:schemeClr val="tx1"/>
                </a:solidFill>
                <a:latin typeface="+mn-lt"/>
                <a:ea typeface="+mn-ea"/>
                <a:cs typeface="+mn-cs"/>
              </a:rPr>
              <a:t> taken when members of the public are prepare to make statements regarding what they observed when an event, incident or offence took place.</a:t>
            </a:r>
          </a:p>
          <a:p>
            <a:pPr>
              <a:buFont typeface="Arial" pitchFamily="34" charset="0"/>
              <a:buNone/>
            </a:pPr>
            <a:endParaRPr lang="en-AU" b="1" noProof="0" dirty="0" smtClean="0"/>
          </a:p>
          <a:p>
            <a:pPr>
              <a:buFont typeface="Arial" pitchFamily="34" charset="0"/>
              <a:buNone/>
            </a:pPr>
            <a:r>
              <a:rPr lang="en-AU" b="1" noProof="0" dirty="0" smtClean="0"/>
              <a:t>Class Activity – Handouts</a:t>
            </a:r>
            <a:r>
              <a:rPr lang="en-AU" b="1" baseline="0" noProof="0" dirty="0" smtClean="0"/>
              <a:t> and Explanation</a:t>
            </a:r>
          </a:p>
          <a:p>
            <a:pPr>
              <a:buFont typeface="Arial" pitchFamily="34" charset="0"/>
              <a:buNone/>
            </a:pPr>
            <a:r>
              <a:rPr lang="en-AU" b="0" baseline="0" noProof="0" dirty="0" smtClean="0"/>
              <a:t>Trainer distributes and discuss use and completion of documents as identified on the slide.</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242589561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documents which may need to be completed:</a:t>
            </a:r>
          </a:p>
          <a:p>
            <a:r>
              <a:rPr lang="en-AU" sz="1200" b="1" kern="1200" dirty="0" smtClean="0">
                <a:solidFill>
                  <a:schemeClr val="tx1"/>
                </a:solidFill>
                <a:latin typeface="+mn-lt"/>
                <a:ea typeface="+mn-ea"/>
                <a:cs typeface="+mn-cs"/>
              </a:rPr>
              <a:t>Recommendations for action.</a:t>
            </a:r>
            <a:r>
              <a:rPr lang="en-AU" sz="1200" b="1" kern="1200" baseline="0" dirty="0" smtClean="0">
                <a:solidFill>
                  <a:schemeClr val="tx1"/>
                </a:solidFill>
                <a:latin typeface="+mn-lt"/>
                <a:ea typeface="+mn-ea"/>
                <a:cs typeface="+mn-cs"/>
              </a:rPr>
              <a:t> </a:t>
            </a:r>
            <a:r>
              <a:rPr lang="en-AU" sz="1200" b="0" kern="1200" baseline="0" dirty="0" smtClean="0">
                <a:solidFill>
                  <a:schemeClr val="tx1"/>
                </a:solidFill>
                <a:latin typeface="+mn-lt"/>
                <a:ea typeface="+mn-ea"/>
                <a:cs typeface="+mn-cs"/>
              </a:rPr>
              <a:t>T</a:t>
            </a:r>
            <a:r>
              <a:rPr lang="en-AU" sz="1200" kern="1200" dirty="0" smtClean="0">
                <a:solidFill>
                  <a:schemeClr val="tx1"/>
                </a:solidFill>
                <a:latin typeface="+mn-lt"/>
                <a:ea typeface="+mn-ea"/>
                <a:cs typeface="+mn-cs"/>
              </a:rPr>
              <a:t>his is a form allowing staff to formally convey suggestions and ideas for issues such as:</a:t>
            </a:r>
          </a:p>
          <a:p>
            <a:pPr>
              <a:buFont typeface="Arial" pitchFamily="34" charset="0"/>
              <a:buChar char="•"/>
            </a:pPr>
            <a:r>
              <a:rPr lang="en-US" sz="1200" kern="1200" dirty="0" smtClean="0">
                <a:solidFill>
                  <a:schemeClr val="tx1"/>
                </a:solidFill>
                <a:latin typeface="+mn-lt"/>
                <a:ea typeface="+mn-ea"/>
                <a:cs typeface="+mn-cs"/>
              </a:rPr>
              <a:t> Changes to SOPs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Introduction of new SOPs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Replacement of items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Disposal of faulty or damaged equipment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Purchase of new/different items and equipment.</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Bank documentation.</a:t>
            </a:r>
            <a:r>
              <a:rPr lang="en-AU" sz="1200" b="1" kern="1200" baseline="0" dirty="0" smtClean="0">
                <a:solidFill>
                  <a:schemeClr val="tx1"/>
                </a:solidFill>
                <a:latin typeface="+mn-lt"/>
                <a:ea typeface="+mn-ea"/>
                <a:cs typeface="+mn-cs"/>
              </a:rPr>
              <a:t> </a:t>
            </a:r>
            <a:r>
              <a:rPr lang="en-AU" sz="1200" b="0" kern="1200" baseline="0" dirty="0" smtClean="0">
                <a:solidFill>
                  <a:schemeClr val="tx1"/>
                </a:solidFill>
                <a:latin typeface="+mn-lt"/>
                <a:ea typeface="+mn-ea"/>
                <a:cs typeface="+mn-cs"/>
              </a:rPr>
              <a:t>T</a:t>
            </a:r>
            <a:r>
              <a:rPr lang="en-AU" sz="1200" kern="1200" dirty="0" smtClean="0">
                <a:solidFill>
                  <a:schemeClr val="tx1"/>
                </a:solidFill>
                <a:latin typeface="+mn-lt"/>
                <a:ea typeface="+mn-ea"/>
                <a:cs typeface="+mn-cs"/>
              </a:rPr>
              <a:t>his covers documents generated by both the venue and the bank in relation to transactions between them in respect of issues such as:</a:t>
            </a:r>
          </a:p>
          <a:p>
            <a:pPr>
              <a:buFont typeface="Arial" pitchFamily="34" charset="0"/>
              <a:buChar char="•"/>
            </a:pPr>
            <a:r>
              <a:rPr lang="en-US" sz="1200" kern="1200" dirty="0" smtClean="0">
                <a:solidFill>
                  <a:schemeClr val="tx1"/>
                </a:solidFill>
                <a:latin typeface="+mn-lt"/>
                <a:ea typeface="+mn-ea"/>
                <a:cs typeface="+mn-cs"/>
              </a:rPr>
              <a:t> Deposits for safe-keeping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Payments/deposits of cash</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Change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Foreign currencies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Traveller’s cheques.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Handouts</a:t>
            </a:r>
            <a:r>
              <a:rPr lang="en-AU" b="1" baseline="0" noProof="0" dirty="0" smtClean="0"/>
              <a:t> and Explanation</a:t>
            </a:r>
          </a:p>
          <a:p>
            <a:pPr>
              <a:buFont typeface="Arial" pitchFamily="34" charset="0"/>
              <a:buNone/>
            </a:pPr>
            <a:r>
              <a:rPr lang="en-AU" b="0" baseline="0" noProof="0" dirty="0" smtClean="0"/>
              <a:t>Trainer distributes and discusses use and completion of documents as identified on the slide.</a:t>
            </a:r>
            <a:endParaRPr lang="en-AU" b="0"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153858620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394570695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0991337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Carrying valuable items by asking questions such as:</a:t>
            </a:r>
          </a:p>
          <a:p>
            <a:pPr>
              <a:buFont typeface="Arial" pitchFamily="34" charset="0"/>
              <a:buChar char="•"/>
            </a:pPr>
            <a:r>
              <a:rPr lang="en-US" b="0" dirty="0" smtClean="0"/>
              <a:t> Why may there be a need to provide carriage services/duties?</a:t>
            </a:r>
          </a:p>
          <a:p>
            <a:pPr>
              <a:buFont typeface="Arial" pitchFamily="34" charset="0"/>
              <a:buChar char="•"/>
            </a:pPr>
            <a:r>
              <a:rPr lang="en-US" b="0" dirty="0" smtClean="0"/>
              <a:t> What guest items may need to be carried?</a:t>
            </a:r>
          </a:p>
          <a:p>
            <a:pPr>
              <a:buFont typeface="Arial" pitchFamily="34" charset="0"/>
              <a:buChar char="•"/>
            </a:pPr>
            <a:r>
              <a:rPr lang="en-US" b="0" dirty="0" smtClean="0"/>
              <a:t> What enterprise items may need to be carried?</a:t>
            </a:r>
          </a:p>
          <a:p>
            <a:pPr>
              <a:buFont typeface="Arial" pitchFamily="34" charset="0"/>
              <a:buChar char="•"/>
            </a:pPr>
            <a:r>
              <a:rPr lang="en-US" b="0" dirty="0" smtClean="0"/>
              <a:t> What containers are items carried in?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290972259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information to take into account when </a:t>
            </a:r>
            <a:r>
              <a:rPr lang="en-AU" sz="1200" kern="1200" dirty="0" smtClean="0">
                <a:solidFill>
                  <a:schemeClr val="tx1"/>
                </a:solidFill>
                <a:latin typeface="+mn-lt"/>
                <a:ea typeface="+mn-ea"/>
                <a:cs typeface="+mn-cs"/>
              </a:rPr>
              <a:t>planning a route for carrying valuable items:</a:t>
            </a:r>
          </a:p>
          <a:p>
            <a:pPr>
              <a:buFont typeface="Arial" pitchFamily="34" charset="0"/>
              <a:buChar char="•"/>
            </a:pPr>
            <a:r>
              <a:rPr lang="en-AU" sz="1200" kern="1200" dirty="0" smtClean="0">
                <a:solidFill>
                  <a:schemeClr val="tx1"/>
                </a:solidFill>
                <a:latin typeface="+mn-lt"/>
                <a:ea typeface="+mn-ea"/>
                <a:cs typeface="+mn-cs"/>
              </a:rPr>
              <a:t> You have more scope to determine the route when escorting a client they can demand a certain route be taken and often you are obliged to comply with their requirements unless you have a clear and credible threat alert</a:t>
            </a:r>
          </a:p>
          <a:p>
            <a:pPr lvl="1">
              <a:buFont typeface="Arial" pitchFamily="34" charset="0"/>
              <a:buChar char="•"/>
            </a:pPr>
            <a:r>
              <a:rPr lang="en-AU" sz="1200" kern="1200" dirty="0" smtClean="0">
                <a:solidFill>
                  <a:schemeClr val="tx1"/>
                </a:solidFill>
                <a:latin typeface="+mn-lt"/>
                <a:ea typeface="+mn-ea"/>
                <a:cs typeface="+mn-cs"/>
              </a:rPr>
              <a:t> This is rarely the case when an item needs to be carried.</a:t>
            </a:r>
          </a:p>
          <a:p>
            <a:pPr lvl="1">
              <a:buFont typeface="Arial" pitchFamily="34" charset="0"/>
              <a:buChar char="•"/>
            </a:pP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You have more control over selection of primary and secondary routes given the inanimate nature of valuable items.</a:t>
            </a:r>
          </a:p>
          <a:p>
            <a:pPr lvl="1">
              <a:buFont typeface="Arial" pitchFamily="34" charset="0"/>
              <a:buChar char="•"/>
            </a:pPr>
            <a:r>
              <a:rPr lang="en-AU" sz="1200" kern="1200" dirty="0" smtClean="0">
                <a:solidFill>
                  <a:schemeClr val="tx1"/>
                </a:solidFill>
                <a:latin typeface="+mn-lt"/>
                <a:ea typeface="+mn-ea"/>
                <a:cs typeface="+mn-cs"/>
              </a:rPr>
              <a:t> In practice there is less of a need to identify secondary routes when carrying valuable items because:</a:t>
            </a:r>
          </a:p>
          <a:p>
            <a:pPr lvl="2">
              <a:buFont typeface="Arial" pitchFamily="34" charset="0"/>
              <a:buChar char="•"/>
            </a:pPr>
            <a:r>
              <a:rPr lang="en-US" sz="1200" kern="1200" dirty="0" smtClean="0">
                <a:solidFill>
                  <a:schemeClr val="tx1"/>
                </a:solidFill>
                <a:latin typeface="+mn-lt"/>
                <a:ea typeface="+mn-ea"/>
                <a:cs typeface="+mn-cs"/>
              </a:rPr>
              <a:t> They will be insured</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Most carry jobs undertaken on behalf of guests can be undertaken covertly.</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 vast majority of carry jobs (over 90%) will simply require you to put a small item in your pocket and take it from Point A to Point B</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Hardly anyone will know you are carrying a valuable item so this dramatically reduces the threat level compared,</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 to escorting a person whose arrival and attendance has been the focus of constant media attention for the week preceding their arrival</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You are better able to select the timing details (start and finish) of the job compared with escorting a person.</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here is usually more latitude regarding the physical movement of valuable items compared to escorting a person</a:t>
            </a:r>
          </a:p>
          <a:p>
            <a:pPr>
              <a:buFont typeface="Arial" pitchFamily="34" charset="0"/>
              <a:buChar char="•"/>
            </a:pPr>
            <a:r>
              <a:rPr lang="en-AU" sz="1200" kern="1200" dirty="0" smtClean="0">
                <a:solidFill>
                  <a:schemeClr val="tx1"/>
                </a:solidFill>
                <a:latin typeface="+mn-lt"/>
                <a:ea typeface="+mn-ea"/>
                <a:cs typeface="+mn-cs"/>
              </a:rPr>
              <a:t> You can apply more secure preventative measures when carrying a valuable item than when escorting a person.</a:t>
            </a:r>
            <a:r>
              <a:rPr lang="en-AU" sz="1200" kern="1200" baseline="0" dirty="0" smtClean="0">
                <a:solidFill>
                  <a:schemeClr val="tx1"/>
                </a:solidFill>
                <a:latin typeface="+mn-lt"/>
                <a:ea typeface="+mn-ea"/>
                <a:cs typeface="+mn-cs"/>
              </a:rPr>
              <a:t> F</a:t>
            </a:r>
            <a:r>
              <a:rPr lang="en-AU" sz="1200" kern="1200" dirty="0" smtClean="0">
                <a:solidFill>
                  <a:schemeClr val="tx1"/>
                </a:solidFill>
                <a:latin typeface="+mn-lt"/>
                <a:ea typeface="+mn-ea"/>
                <a:cs typeface="+mn-cs"/>
              </a:rPr>
              <a:t>or example, you can place the valuable item into a locked container and then chain the container to a cart/trolley equipped with dye-bombs and a tracking device</a:t>
            </a:r>
          </a:p>
          <a:p>
            <a:pPr>
              <a:buFont typeface="Arial" pitchFamily="34" charset="0"/>
              <a:buChar char="•"/>
            </a:pPr>
            <a:r>
              <a:rPr lang="en-AU" sz="1200" kern="1200" dirty="0" smtClean="0">
                <a:solidFill>
                  <a:schemeClr val="tx1"/>
                </a:solidFill>
                <a:latin typeface="+mn-lt"/>
                <a:ea typeface="+mn-ea"/>
                <a:cs typeface="+mn-cs"/>
              </a:rPr>
              <a:t> You will usually be required to work with less staff than when escorting a person.</a:t>
            </a:r>
            <a:r>
              <a:rPr lang="en-AU" sz="1200" kern="1200" baseline="0" dirty="0" smtClean="0">
                <a:solidFill>
                  <a:schemeClr val="tx1"/>
                </a:solidFill>
                <a:latin typeface="+mn-lt"/>
                <a:ea typeface="+mn-ea"/>
                <a:cs typeface="+mn-cs"/>
              </a:rPr>
              <a:t> It</a:t>
            </a:r>
            <a:r>
              <a:rPr lang="en-AU" sz="1200" kern="1200" dirty="0" smtClean="0">
                <a:solidFill>
                  <a:schemeClr val="tx1"/>
                </a:solidFill>
                <a:latin typeface="+mn-lt"/>
                <a:ea typeface="+mn-ea"/>
                <a:cs typeface="+mn-cs"/>
              </a:rPr>
              <a:t> is rare for an escorting job to be undertaken on your own but many carrying assignments will be done independently, for cost/budget reasons.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a suitable person with relevant experience to attend and:</a:t>
            </a:r>
          </a:p>
          <a:p>
            <a:pPr>
              <a:buFont typeface="Arial" pitchFamily="34" charset="0"/>
              <a:buChar char="•"/>
            </a:pPr>
            <a:r>
              <a:rPr lang="en-AU" b="0" noProof="0" dirty="0" smtClean="0"/>
              <a:t> Discuss carry requirements and venue protocols</a:t>
            </a:r>
          </a:p>
          <a:p>
            <a:pPr>
              <a:buFont typeface="Arial" pitchFamily="34" charset="0"/>
              <a:buChar char="•"/>
            </a:pPr>
            <a:r>
              <a:rPr lang="en-AU" b="0" noProof="0" dirty="0" smtClean="0"/>
              <a:t> Explain planning for a carry job</a:t>
            </a:r>
          </a:p>
          <a:p>
            <a:pPr>
              <a:buFont typeface="Arial" pitchFamily="34" charset="0"/>
              <a:buChar char="•"/>
            </a:pPr>
            <a:r>
              <a:rPr lang="en-AU" b="0" noProof="0" dirty="0" smtClean="0"/>
              <a:t> Give examples of when carry jobs are required</a:t>
            </a:r>
          </a:p>
          <a:p>
            <a:pPr>
              <a:buFont typeface="Arial" pitchFamily="34" charset="0"/>
              <a:buChar char="•"/>
            </a:pPr>
            <a:r>
              <a:rPr lang="en-AU" b="0" noProof="0" dirty="0" smtClean="0"/>
              <a:t> Identify precautions taken</a:t>
            </a:r>
          </a:p>
          <a:p>
            <a:pPr>
              <a:buFont typeface="Arial" pitchFamily="34" charset="0"/>
              <a:buChar char="•"/>
            </a:pPr>
            <a:r>
              <a:rPr lang="en-AU" b="0" noProof="0" dirty="0" smtClean="0"/>
              <a:t> List types of</a:t>
            </a:r>
            <a:r>
              <a:rPr lang="en-AU" b="0" baseline="0" noProof="0" dirty="0" smtClean="0"/>
              <a:t> items carried.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90898040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requests for carrying valuable items will involve:</a:t>
            </a:r>
          </a:p>
          <a:p>
            <a:pPr>
              <a:buFont typeface="Arial" pitchFamily="34" charset="0"/>
              <a:buChar char="•"/>
            </a:pPr>
            <a:r>
              <a:rPr lang="en-AU" sz="1200" kern="1200" dirty="0" smtClean="0">
                <a:solidFill>
                  <a:schemeClr val="tx1"/>
                </a:solidFill>
                <a:latin typeface="+mn-lt"/>
                <a:ea typeface="+mn-ea"/>
                <a:cs typeface="+mn-cs"/>
              </a:rPr>
              <a:t> Carrying items for private in-house guests:</a:t>
            </a:r>
          </a:p>
          <a:p>
            <a:pPr lvl="1">
              <a:buFont typeface="Arial" pitchFamily="34" charset="0"/>
              <a:buChar char="•"/>
            </a:pPr>
            <a:r>
              <a:rPr lang="en-US" sz="1200" kern="1200" dirty="0" smtClean="0">
                <a:solidFill>
                  <a:schemeClr val="tx1"/>
                </a:solidFill>
                <a:latin typeface="+mn-lt"/>
                <a:ea typeface="+mn-ea"/>
                <a:cs typeface="+mn-cs"/>
              </a:rPr>
              <a:t> On arrival from vehicles to guest rooms and/or safe-keeping in office safes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From guest rooms to safe-deposit in the venue safe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Returning valuable items from safe storage to guests on their departure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Moving items for guests who are:</a:t>
            </a:r>
          </a:p>
          <a:p>
            <a:pPr lvl="1">
              <a:buFont typeface="Arial" pitchFamily="34" charset="0"/>
              <a:buChar char="•"/>
            </a:pPr>
            <a:r>
              <a:rPr lang="en-US" sz="1200" kern="1200" dirty="0" smtClean="0">
                <a:solidFill>
                  <a:schemeClr val="tx1"/>
                </a:solidFill>
                <a:latin typeface="+mn-lt"/>
                <a:ea typeface="+mn-ea"/>
                <a:cs typeface="+mn-cs"/>
              </a:rPr>
              <a:t> Stall holders and/or exhibitors at an event, exhibition or similar other function at the venue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Using the venue to display, promote and sell their products.</a:t>
            </a:r>
            <a:r>
              <a:rPr lang="en-US" sz="1200" kern="1200" baseline="0" dirty="0" smtClean="0">
                <a:solidFill>
                  <a:schemeClr val="tx1"/>
                </a:solidFill>
                <a:latin typeface="+mn-lt"/>
                <a:ea typeface="+mn-ea"/>
                <a:cs typeface="+mn-cs"/>
              </a:rPr>
              <a:t> M</a:t>
            </a:r>
            <a:r>
              <a:rPr lang="en-US" sz="1200" kern="1200" dirty="0" smtClean="0">
                <a:solidFill>
                  <a:schemeClr val="tx1"/>
                </a:solidFill>
                <a:latin typeface="+mn-lt"/>
                <a:ea typeface="+mn-ea"/>
                <a:cs typeface="+mn-cs"/>
              </a:rPr>
              <a:t>any businesses who do not have a presence in the town/city will hire a room for a day or two specifically for this purpose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Moving cash internally:</a:t>
            </a:r>
          </a:p>
          <a:p>
            <a:pPr lvl="1">
              <a:buFont typeface="Arial" pitchFamily="34" charset="0"/>
              <a:buChar char="•"/>
            </a:pPr>
            <a:r>
              <a:rPr lang="en-US" sz="1200" kern="1200" dirty="0" smtClean="0">
                <a:solidFill>
                  <a:schemeClr val="tx1"/>
                </a:solidFill>
                <a:latin typeface="+mn-lt"/>
                <a:ea typeface="+mn-ea"/>
                <a:cs typeface="+mn-cs"/>
              </a:rPr>
              <a:t> Carrying floats to registers/POS terminals at start of day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Removing cash from registers/POS terminals during trade and at the end of day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Escorting payroll</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Moving cash externally:</a:t>
            </a:r>
          </a:p>
          <a:p>
            <a:pPr lvl="1">
              <a:buFont typeface="Arial" pitchFamily="34" charset="0"/>
              <a:buChar char="•"/>
            </a:pPr>
            <a:r>
              <a:rPr lang="en-US" sz="1200" kern="1200" dirty="0" smtClean="0">
                <a:solidFill>
                  <a:schemeClr val="tx1"/>
                </a:solidFill>
                <a:latin typeface="+mn-lt"/>
                <a:ea typeface="+mn-ea"/>
                <a:cs typeface="+mn-cs"/>
              </a:rPr>
              <a:t> Taking revenue/taking to the bank</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Obtaining change for the venue from the bank.</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58061808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the basic aim when working out a route for a carry assignment is to:</a:t>
            </a:r>
          </a:p>
          <a:p>
            <a:pPr>
              <a:buFont typeface="Arial" pitchFamily="34" charset="0"/>
              <a:buChar char="•"/>
            </a:pPr>
            <a:r>
              <a:rPr lang="en-AU" sz="1200" kern="1200" dirty="0" smtClean="0">
                <a:solidFill>
                  <a:schemeClr val="tx1"/>
                </a:solidFill>
                <a:latin typeface="+mn-lt"/>
                <a:ea typeface="+mn-ea"/>
                <a:cs typeface="+mn-cs"/>
              </a:rPr>
              <a:t> Identify the shortest, most direct route</a:t>
            </a:r>
          </a:p>
          <a:p>
            <a:pPr>
              <a:buFont typeface="Arial" pitchFamily="34" charset="0"/>
              <a:buChar char="•"/>
            </a:pPr>
            <a:r>
              <a:rPr lang="en-AU" sz="1200" kern="1200" dirty="0" smtClean="0">
                <a:solidFill>
                  <a:schemeClr val="tx1"/>
                </a:solidFill>
                <a:latin typeface="+mn-lt"/>
                <a:ea typeface="+mn-ea"/>
                <a:cs typeface="+mn-cs"/>
              </a:rPr>
              <a:t> Which does not materially add to the risk of theft of the item, and</a:t>
            </a:r>
          </a:p>
          <a:p>
            <a:pPr>
              <a:buFont typeface="Arial" pitchFamily="34" charset="0"/>
              <a:buChar char="•"/>
            </a:pPr>
            <a:r>
              <a:rPr lang="en-AU" sz="1200" kern="1200" dirty="0" smtClean="0">
                <a:solidFill>
                  <a:schemeClr val="tx1"/>
                </a:solidFill>
                <a:latin typeface="+mn-lt"/>
                <a:ea typeface="+mn-ea"/>
                <a:cs typeface="+mn-cs"/>
              </a:rPr>
              <a:t> Does not interfere with the operation of the venue and the guests’ enjoyment and use of 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56710732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 to consider</a:t>
            </a:r>
            <a:r>
              <a:rPr lang="en-AU" baseline="0" noProof="0" dirty="0" smtClean="0"/>
              <a:t> when determining routes:</a:t>
            </a:r>
          </a:p>
          <a:p>
            <a:pPr>
              <a:buFont typeface="Arial" pitchFamily="34" charset="0"/>
              <a:buNone/>
            </a:pPr>
            <a:r>
              <a:rPr lang="en-AU" sz="1200" b="1" kern="1200" dirty="0" smtClean="0">
                <a:solidFill>
                  <a:schemeClr val="tx1"/>
                </a:solidFill>
                <a:latin typeface="+mn-lt"/>
                <a:ea typeface="+mn-ea"/>
                <a:cs typeface="+mn-cs"/>
              </a:rPr>
              <a:t>When does the carry have to take place? </a:t>
            </a:r>
            <a:r>
              <a:rPr lang="en-AU" sz="1200" kern="1200" dirty="0" smtClean="0">
                <a:solidFill>
                  <a:schemeClr val="tx1"/>
                </a:solidFill>
                <a:latin typeface="+mn-lt"/>
                <a:ea typeface="+mn-ea"/>
                <a:cs typeface="+mn-cs"/>
              </a:rPr>
              <a:t>For example:</a:t>
            </a:r>
          </a:p>
          <a:p>
            <a:pPr lvl="0">
              <a:buFont typeface="Arial" pitchFamily="34" charset="0"/>
              <a:buChar char="•"/>
            </a:pPr>
            <a:r>
              <a:rPr lang="en-AU" sz="1200" kern="1200" dirty="0" smtClean="0">
                <a:solidFill>
                  <a:schemeClr val="tx1"/>
                </a:solidFill>
                <a:latin typeface="+mn-lt"/>
                <a:ea typeface="+mn-ea"/>
                <a:cs typeface="+mn-cs"/>
              </a:rPr>
              <a:t> A carry job which needs to be done when the venue is closed will present a wider variety of route options than when the venue is open for business</a:t>
            </a:r>
          </a:p>
          <a:p>
            <a:pPr lvl="0">
              <a:buFont typeface="Arial" pitchFamily="34" charset="0"/>
              <a:buChar char="•"/>
            </a:pPr>
            <a:r>
              <a:rPr lang="en-AU" sz="1200" kern="1200" dirty="0" smtClean="0">
                <a:solidFill>
                  <a:schemeClr val="tx1"/>
                </a:solidFill>
                <a:latin typeface="+mn-lt"/>
                <a:ea typeface="+mn-ea"/>
                <a:cs typeface="+mn-cs"/>
              </a:rPr>
              <a:t> Carry work during very busy times presents challenges not present when the venue is quiet or closed</a:t>
            </a:r>
          </a:p>
          <a:p>
            <a:pPr lvl="0">
              <a:buFont typeface="Arial" pitchFamily="34" charset="0"/>
              <a:buChar char="•"/>
            </a:pPr>
            <a:r>
              <a:rPr lang="en-AU" sz="1200" kern="1200" dirty="0" smtClean="0">
                <a:solidFill>
                  <a:schemeClr val="tx1"/>
                </a:solidFill>
                <a:latin typeface="+mn-lt"/>
                <a:ea typeface="+mn-ea"/>
                <a:cs typeface="+mn-cs"/>
              </a:rPr>
              <a:t> Moving items externally at night increases risk and introduces the need for specialist equipment such as possibly floodlights, flashlights, vehicles with spotlights and restricted access to areas normally open to the public.</a:t>
            </a:r>
          </a:p>
          <a:p>
            <a:pPr>
              <a:buFont typeface="Arial" pitchFamily="34" charset="0"/>
              <a:buNone/>
            </a:pPr>
            <a:r>
              <a:rPr lang="en-AU" sz="1200" b="1" kern="1200" dirty="0" smtClean="0">
                <a:solidFill>
                  <a:schemeClr val="tx1"/>
                </a:solidFill>
                <a:latin typeface="+mn-lt"/>
                <a:ea typeface="+mn-ea"/>
                <a:cs typeface="+mn-cs"/>
              </a:rPr>
              <a:t>What human resources are available?  </a:t>
            </a:r>
            <a:r>
              <a:rPr lang="en-AU" sz="1200" kern="1200" dirty="0" smtClean="0">
                <a:solidFill>
                  <a:schemeClr val="tx1"/>
                </a:solidFill>
                <a:latin typeface="+mn-lt"/>
                <a:ea typeface="+mn-ea"/>
                <a:cs typeface="+mn-cs"/>
              </a:rPr>
              <a:t>Your approach to route selection will be different based on factors such as:</a:t>
            </a:r>
          </a:p>
          <a:p>
            <a:pPr>
              <a:buFont typeface="Arial" pitchFamily="34" charset="0"/>
              <a:buChar char="•"/>
            </a:pPr>
            <a:r>
              <a:rPr lang="en-AU" sz="1200" kern="1200" dirty="0" smtClean="0">
                <a:solidFill>
                  <a:schemeClr val="tx1"/>
                </a:solidFill>
                <a:latin typeface="+mn-lt"/>
                <a:ea typeface="+mn-ea"/>
                <a:cs typeface="+mn-cs"/>
              </a:rPr>
              <a:t> Whether you are working alone</a:t>
            </a:r>
          </a:p>
          <a:p>
            <a:pPr>
              <a:buFont typeface="Arial" pitchFamily="34" charset="0"/>
              <a:buChar char="•"/>
            </a:pPr>
            <a:r>
              <a:rPr lang="en-AU" sz="1200" kern="1200" dirty="0" smtClean="0">
                <a:solidFill>
                  <a:schemeClr val="tx1"/>
                </a:solidFill>
                <a:latin typeface="+mn-lt"/>
                <a:ea typeface="+mn-ea"/>
                <a:cs typeface="+mn-cs"/>
              </a:rPr>
              <a:t> The number of other staff who are available to work on the task</a:t>
            </a:r>
          </a:p>
          <a:p>
            <a:pPr>
              <a:buFont typeface="Arial" pitchFamily="34" charset="0"/>
              <a:buChar char="•"/>
            </a:pPr>
            <a:r>
              <a:rPr lang="en-AU" sz="1200" kern="1200" dirty="0" smtClean="0">
                <a:solidFill>
                  <a:schemeClr val="tx1"/>
                </a:solidFill>
                <a:latin typeface="+mn-lt"/>
                <a:ea typeface="+mn-ea"/>
                <a:cs typeface="+mn-cs"/>
              </a:rPr>
              <a:t> The experience and ability of the staff allocated to assist with the assignment</a:t>
            </a:r>
          </a:p>
          <a:p>
            <a:pPr>
              <a:buFont typeface="Arial" pitchFamily="34" charset="0"/>
              <a:buChar char="•"/>
            </a:pPr>
            <a:r>
              <a:rPr lang="en-AU" sz="1200" kern="1200" dirty="0" smtClean="0">
                <a:solidFill>
                  <a:schemeClr val="tx1"/>
                </a:solidFill>
                <a:latin typeface="+mn-lt"/>
                <a:ea typeface="+mn-ea"/>
                <a:cs typeface="+mn-cs"/>
              </a:rPr>
              <a:t> Whether you have support from an external security company.</a:t>
            </a:r>
          </a:p>
          <a:p>
            <a:pPr>
              <a:buFont typeface="Arial" pitchFamily="34" charset="0"/>
              <a:buNone/>
            </a:pPr>
            <a:r>
              <a:rPr lang="en-AU" sz="1200" b="1" kern="1200" dirty="0" smtClean="0">
                <a:solidFill>
                  <a:schemeClr val="tx1"/>
                </a:solidFill>
                <a:latin typeface="+mn-lt"/>
                <a:ea typeface="+mn-ea"/>
                <a:cs typeface="+mn-cs"/>
              </a:rPr>
              <a:t>What is the nature of the valuable item which needs to be carried?</a:t>
            </a:r>
            <a:r>
              <a:rPr lang="en-AU" sz="1200" kern="1200" dirty="0" smtClean="0">
                <a:solidFill>
                  <a:schemeClr val="tx1"/>
                </a:solidFill>
                <a:latin typeface="+mn-lt"/>
                <a:ea typeface="+mn-ea"/>
                <a:cs typeface="+mn-cs"/>
              </a:rPr>
              <a:t> This is an obvious piece of information needed before proper planning can occur.</a:t>
            </a:r>
          </a:p>
          <a:p>
            <a:pPr>
              <a:buFont typeface="Arial" pitchFamily="34" charset="0"/>
              <a:buChar char="•"/>
            </a:pPr>
            <a:r>
              <a:rPr lang="en-AU" sz="1200" kern="1200" dirty="0" smtClean="0">
                <a:solidFill>
                  <a:schemeClr val="tx1"/>
                </a:solidFill>
                <a:latin typeface="+mn-lt"/>
                <a:ea typeface="+mn-ea"/>
                <a:cs typeface="+mn-cs"/>
              </a:rPr>
              <a:t> It is best if you can see the item/s prior to determining the route/s because it can be difficult/impossible to gain a full or proper understanding of the item just from a verbal or written description.</a:t>
            </a:r>
          </a:p>
          <a:p>
            <a:pPr>
              <a:buFont typeface="Arial" pitchFamily="34" charset="0"/>
              <a:buChar char="•"/>
            </a:pPr>
            <a:r>
              <a:rPr lang="en-AU" sz="1200" kern="1200" dirty="0" smtClean="0">
                <a:solidFill>
                  <a:schemeClr val="tx1"/>
                </a:solidFill>
                <a:latin typeface="+mn-lt"/>
                <a:ea typeface="+mn-ea"/>
                <a:cs typeface="+mn-cs"/>
              </a:rPr>
              <a:t> For example: what you will need to carry ‘ten pieces of artwork from the basement car park to the Old Masters Exhibition in the Great Space’ will be vastly different to a need to ‘carry a briefcase from Room 210 to the office’</a:t>
            </a:r>
          </a:p>
          <a:p>
            <a:pPr>
              <a:buFont typeface="Arial" pitchFamily="34" charset="0"/>
              <a:buChar char="•"/>
            </a:pPr>
            <a:r>
              <a:rPr lang="en-AU" sz="1200" kern="1200" dirty="0" smtClean="0">
                <a:solidFill>
                  <a:schemeClr val="tx1"/>
                </a:solidFill>
                <a:latin typeface="+mn-lt"/>
                <a:ea typeface="+mn-ea"/>
                <a:cs typeface="+mn-cs"/>
              </a:rPr>
              <a:t> You need to know:</a:t>
            </a:r>
          </a:p>
          <a:p>
            <a:pPr lvl="1">
              <a:buFont typeface="Arial" pitchFamily="34" charset="0"/>
              <a:buChar char="•"/>
            </a:pPr>
            <a:r>
              <a:rPr lang="en-US" sz="1200" kern="1200" dirty="0" smtClean="0">
                <a:solidFill>
                  <a:schemeClr val="tx1"/>
                </a:solidFill>
                <a:latin typeface="+mn-lt"/>
                <a:ea typeface="+mn-ea"/>
                <a:cs typeface="+mn-cs"/>
              </a:rPr>
              <a:t> Size/dimensions – sometimes in general terms and sometimes more accurately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Weight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Number of items/pieces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Specific carrying requirements such as: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‘Do not top load/stow’</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‘Fragile’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‘Do not drop’</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Any unique factors/issues applicable to the individual job.</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s the item going to be difficult to pick up? Will it be hard to grip? Will there be a need for manual handling equipment to assist with the carry?</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42156041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factors to consider</a:t>
            </a:r>
            <a:r>
              <a:rPr lang="en-AU" baseline="0" noProof="0" dirty="0" smtClean="0"/>
              <a:t> when determining routes:</a:t>
            </a:r>
          </a:p>
          <a:p>
            <a:r>
              <a:rPr lang="en-AU" sz="1200" b="1" kern="1200" dirty="0" smtClean="0">
                <a:solidFill>
                  <a:schemeClr val="tx1"/>
                </a:solidFill>
                <a:latin typeface="+mn-lt"/>
                <a:ea typeface="+mn-ea"/>
                <a:cs typeface="+mn-cs"/>
              </a:rPr>
              <a:t>What are the start and finish points?</a:t>
            </a:r>
          </a:p>
          <a:p>
            <a:pPr>
              <a:buFont typeface="Arial" pitchFamily="34" charset="0"/>
              <a:buChar char="•"/>
            </a:pPr>
            <a:r>
              <a:rPr lang="en-AU" sz="1200" kern="1200" dirty="0" smtClean="0">
                <a:solidFill>
                  <a:schemeClr val="tx1"/>
                </a:solidFill>
                <a:latin typeface="+mn-lt"/>
                <a:ea typeface="+mn-ea"/>
                <a:cs typeface="+mn-cs"/>
              </a:rPr>
              <a:t> This identifies the collection point and the destination which will determine distance and provide an essential starting point for route identification.</a:t>
            </a:r>
          </a:p>
          <a:p>
            <a:r>
              <a:rPr lang="en-AU" sz="1200" b="1" kern="1200" dirty="0" smtClean="0">
                <a:solidFill>
                  <a:schemeClr val="tx1"/>
                </a:solidFill>
                <a:latin typeface="+mn-lt"/>
                <a:ea typeface="+mn-ea"/>
                <a:cs typeface="+mn-cs"/>
              </a:rPr>
              <a:t>What internal restrictions exist to limit/restrict route selection? </a:t>
            </a:r>
            <a:r>
              <a:rPr lang="en-US" sz="1200" kern="1200" dirty="0" smtClean="0">
                <a:solidFill>
                  <a:schemeClr val="tx1"/>
                </a:solidFill>
                <a:latin typeface="+mn-lt"/>
                <a:ea typeface="+mn-ea"/>
                <a:cs typeface="+mn-cs"/>
              </a:rPr>
              <a:t>For example: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Are certain areas closed for renovations?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Are there functions in certain rooms/areas making them unavailable?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What are the potential threats? – see later slides</a:t>
            </a:r>
          </a:p>
          <a:p>
            <a:pPr>
              <a:buFont typeface="Arial" pitchFamily="34" charset="0"/>
              <a:buChar char="•"/>
            </a:pPr>
            <a:r>
              <a:rPr lang="en-AU" sz="1200" kern="1200" dirty="0" smtClean="0">
                <a:solidFill>
                  <a:schemeClr val="tx1"/>
                </a:solidFill>
                <a:latin typeface="+mn-lt"/>
                <a:ea typeface="+mn-ea"/>
                <a:cs typeface="+mn-cs"/>
              </a:rPr>
              <a:t> Certain threats will automatically mean certain route options are excluded from consideration.</a:t>
            </a:r>
          </a:p>
          <a:p>
            <a:r>
              <a:rPr lang="en-AU" sz="1200" b="1" kern="1200" dirty="0" smtClean="0">
                <a:solidFill>
                  <a:schemeClr val="tx1"/>
                </a:solidFill>
                <a:latin typeface="+mn-lt"/>
                <a:ea typeface="+mn-ea"/>
                <a:cs typeface="+mn-cs"/>
              </a:rPr>
              <a:t>Who is the guest/client?</a:t>
            </a:r>
          </a:p>
          <a:p>
            <a:pPr>
              <a:buFont typeface="Arial" pitchFamily="34" charset="0"/>
              <a:buChar char="•"/>
            </a:pPr>
            <a:r>
              <a:rPr lang="en-AU" sz="1200" kern="1200" dirty="0" smtClean="0">
                <a:solidFill>
                  <a:schemeClr val="tx1"/>
                </a:solidFill>
                <a:latin typeface="+mn-lt"/>
                <a:ea typeface="+mn-ea"/>
                <a:cs typeface="+mn-cs"/>
              </a:rPr>
              <a:t> While all venues seek to provide high-levels of service to everyone it is a fact of life some guests (VIPs and high-value guests) receive better treatment than others.</a:t>
            </a:r>
          </a:p>
          <a:p>
            <a:pPr>
              <a:buFont typeface="Arial" pitchFamily="34" charset="0"/>
              <a:buChar char="•"/>
            </a:pPr>
            <a:r>
              <a:rPr lang="en-AU" sz="1200" kern="1200" dirty="0" smtClean="0">
                <a:solidFill>
                  <a:schemeClr val="tx1"/>
                </a:solidFill>
                <a:latin typeface="+mn-lt"/>
                <a:ea typeface="+mn-ea"/>
                <a:cs typeface="+mn-cs"/>
              </a:rPr>
              <a:t> This may mean an established/standard route will be used for one guest whereas a special and more covert/secure route could be developed for another. </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7742964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physical resources available to assist with carry/transport of valuable items will always need to be considered highlighting manual handling devices/equipment may be required to assist with heavy or awkward loads/items:</a:t>
            </a:r>
          </a:p>
          <a:p>
            <a:pPr>
              <a:buFont typeface="Arial" pitchFamily="34" charset="0"/>
              <a:buChar char="•"/>
            </a:pPr>
            <a:r>
              <a:rPr lang="en-AU" sz="1200" kern="1200" dirty="0" smtClean="0">
                <a:solidFill>
                  <a:schemeClr val="tx1"/>
                </a:solidFill>
                <a:latin typeface="+mn-lt"/>
                <a:ea typeface="+mn-ea"/>
                <a:cs typeface="+mn-cs"/>
              </a:rPr>
              <a:t> Forklifts</a:t>
            </a:r>
          </a:p>
          <a:p>
            <a:pPr>
              <a:buFont typeface="Arial" pitchFamily="34" charset="0"/>
              <a:buChar char="•"/>
            </a:pPr>
            <a:r>
              <a:rPr lang="en-AU" sz="1200" kern="1200" dirty="0" smtClean="0">
                <a:solidFill>
                  <a:schemeClr val="tx1"/>
                </a:solidFill>
                <a:latin typeface="+mn-lt"/>
                <a:ea typeface="+mn-ea"/>
                <a:cs typeface="+mn-cs"/>
              </a:rPr>
              <a:t> Pallet jacks</a:t>
            </a:r>
          </a:p>
          <a:p>
            <a:pPr>
              <a:buFont typeface="Arial" pitchFamily="34" charset="0"/>
              <a:buChar char="•"/>
            </a:pPr>
            <a:r>
              <a:rPr lang="en-AU" sz="1200" kern="1200" dirty="0" smtClean="0">
                <a:solidFill>
                  <a:schemeClr val="tx1"/>
                </a:solidFill>
                <a:latin typeface="+mn-lt"/>
                <a:ea typeface="+mn-ea"/>
                <a:cs typeface="+mn-cs"/>
              </a:rPr>
              <a:t> Conveyor belts</a:t>
            </a:r>
          </a:p>
          <a:p>
            <a:pPr>
              <a:buFont typeface="Arial" pitchFamily="34" charset="0"/>
              <a:buChar char="•"/>
            </a:pPr>
            <a:r>
              <a:rPr lang="en-AU" sz="1200" kern="1200" dirty="0" smtClean="0">
                <a:solidFill>
                  <a:schemeClr val="tx1"/>
                </a:solidFill>
                <a:latin typeface="+mn-lt"/>
                <a:ea typeface="+mn-ea"/>
                <a:cs typeface="+mn-cs"/>
              </a:rPr>
              <a:t> Trolleys</a:t>
            </a:r>
          </a:p>
          <a:p>
            <a:pPr>
              <a:buFont typeface="Arial" pitchFamily="34" charset="0"/>
              <a:buChar char="•"/>
            </a:pPr>
            <a:r>
              <a:rPr lang="en-AU" sz="1200" kern="1200" dirty="0" smtClean="0">
                <a:solidFill>
                  <a:schemeClr val="tx1"/>
                </a:solidFill>
                <a:latin typeface="+mn-lt"/>
                <a:ea typeface="+mn-ea"/>
                <a:cs typeface="+mn-cs"/>
              </a:rPr>
              <a:t> Carts – especially carts used to transport cash and protect it from theft during the process.</a:t>
            </a:r>
          </a:p>
          <a:p>
            <a:pPr lvl="1">
              <a:buFont typeface="Arial" pitchFamily="34" charset="0"/>
              <a:buChar char="•"/>
            </a:pPr>
            <a:r>
              <a:rPr lang="en-AU" sz="1200" kern="1200" dirty="0" smtClean="0">
                <a:solidFill>
                  <a:schemeClr val="tx1"/>
                </a:solidFill>
                <a:latin typeface="+mn-lt"/>
                <a:ea typeface="+mn-ea"/>
                <a:cs typeface="+mn-cs"/>
              </a:rPr>
              <a:t> Carts are also useful for disguising what is being transported.</a:t>
            </a:r>
          </a:p>
          <a:p>
            <a:pPr lvl="1">
              <a:buFont typeface="Arial" pitchFamily="34" charset="0"/>
              <a:buChar char="•"/>
            </a:pPr>
            <a:r>
              <a:rPr lang="en-AU" sz="1200" kern="1200" dirty="0" smtClean="0">
                <a:solidFill>
                  <a:schemeClr val="tx1"/>
                </a:solidFill>
                <a:latin typeface="+mn-lt"/>
                <a:ea typeface="+mn-ea"/>
                <a:cs typeface="+mn-cs"/>
              </a:rPr>
              <a:t> Because carts have sealed sides and tops (with drawers and/or compartments) they could, from an observer’s point-of-view be carrying anything.</a:t>
            </a:r>
          </a:p>
          <a:p>
            <a:pPr>
              <a:buFont typeface="Arial" pitchFamily="34" charset="0"/>
              <a:buChar char="•"/>
            </a:pPr>
            <a:r>
              <a:rPr lang="en-AU" sz="1200" kern="1200" dirty="0" smtClean="0">
                <a:solidFill>
                  <a:schemeClr val="tx1"/>
                </a:solidFill>
                <a:latin typeface="+mn-lt"/>
                <a:ea typeface="+mn-ea"/>
                <a:cs typeface="+mn-cs"/>
              </a:rPr>
              <a:t> Slings.</a:t>
            </a:r>
          </a:p>
          <a:p>
            <a:pPr>
              <a:buFont typeface="Arial" pitchFamily="34" charset="0"/>
              <a:buNone/>
            </a:pPr>
            <a:endParaRPr lang="en-AU" noProof="0" dirty="0" smtClean="0"/>
          </a:p>
          <a:p>
            <a:pPr>
              <a:buFont typeface="Arial" pitchFamily="34" charset="0"/>
              <a:buNone/>
            </a:pPr>
            <a:r>
              <a:rPr lang="en-AU" b="1" noProof="0" dirty="0" smtClean="0"/>
              <a:t>Class Activity – Presentation</a:t>
            </a:r>
          </a:p>
          <a:p>
            <a:pPr>
              <a:buFont typeface="Arial" pitchFamily="34" charset="0"/>
              <a:buNone/>
            </a:pPr>
            <a:r>
              <a:rPr lang="en-AU" b="0" noProof="0" dirty="0" smtClean="0"/>
              <a:t>Trainer obtains samples of devices/equipment identified on slide and explains and demonstrates their use.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62208359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explains the following generally applies:</a:t>
            </a:r>
          </a:p>
          <a:p>
            <a:pPr>
              <a:buFont typeface="Arial" pitchFamily="34" charset="0"/>
              <a:buChar char="•"/>
            </a:pPr>
            <a:r>
              <a:rPr lang="en-AU" sz="1200" kern="1200" dirty="0" smtClean="0">
                <a:solidFill>
                  <a:schemeClr val="tx1"/>
                </a:solidFill>
                <a:latin typeface="+mn-lt"/>
                <a:ea typeface="+mn-ea"/>
                <a:cs typeface="+mn-cs"/>
              </a:rPr>
              <a:t> Threat levels when carrying valuable items are usually lower than when escorting a person</a:t>
            </a:r>
          </a:p>
          <a:p>
            <a:pPr>
              <a:buFont typeface="Arial" pitchFamily="34" charset="0"/>
              <a:buChar char="•"/>
            </a:pPr>
            <a:r>
              <a:rPr lang="en-AU" sz="1200" kern="1200" dirty="0" smtClean="0">
                <a:solidFill>
                  <a:schemeClr val="tx1"/>
                </a:solidFill>
                <a:latin typeface="+mn-lt"/>
                <a:ea typeface="+mn-ea"/>
                <a:cs typeface="+mn-cs"/>
              </a:rPr>
              <a:t> Cash/money is the main target for attacks</a:t>
            </a:r>
          </a:p>
          <a:p>
            <a:pPr>
              <a:buFont typeface="Arial" pitchFamily="34" charset="0"/>
              <a:buChar char="•"/>
            </a:pPr>
            <a:r>
              <a:rPr lang="en-AU" sz="1200" kern="1200" dirty="0" smtClean="0">
                <a:solidFill>
                  <a:schemeClr val="tx1"/>
                </a:solidFill>
                <a:latin typeface="+mn-lt"/>
                <a:ea typeface="+mn-ea"/>
                <a:cs typeface="+mn-cs"/>
              </a:rPr>
              <a:t> Armed hold-ups are often associated with attempts at stealing money</a:t>
            </a:r>
          </a:p>
          <a:p>
            <a:pPr>
              <a:buFont typeface="Arial" pitchFamily="34" charset="0"/>
              <a:buChar char="•"/>
            </a:pPr>
            <a:r>
              <a:rPr lang="en-AU" sz="1200" kern="1200" dirty="0" smtClean="0">
                <a:solidFill>
                  <a:schemeClr val="tx1"/>
                </a:solidFill>
                <a:latin typeface="+mn-lt"/>
                <a:ea typeface="+mn-ea"/>
                <a:cs typeface="+mn-cs"/>
              </a:rPr>
              <a:t> While many hold-ups are planned by the offenders, many are also ‘opportunistic crimes’ – see following.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22934844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opportunistic crimes:</a:t>
            </a:r>
          </a:p>
          <a:p>
            <a:pPr>
              <a:buFont typeface="Arial" pitchFamily="34" charset="0"/>
              <a:buChar char="•"/>
            </a:pPr>
            <a:r>
              <a:rPr lang="en-AU" sz="1200" kern="1200" dirty="0" smtClean="0">
                <a:solidFill>
                  <a:schemeClr val="tx1"/>
                </a:solidFill>
                <a:latin typeface="+mn-lt"/>
                <a:ea typeface="+mn-ea"/>
                <a:cs typeface="+mn-cs"/>
              </a:rPr>
              <a:t> Opportunistic crimes are crimes which are committed by people who decide to act on the spur of the moment.</a:t>
            </a:r>
          </a:p>
          <a:p>
            <a:pPr>
              <a:buFont typeface="Arial" pitchFamily="34" charset="0"/>
              <a:buChar char="•"/>
            </a:pPr>
            <a:r>
              <a:rPr lang="en-AU" sz="1200" kern="1200" dirty="0" smtClean="0">
                <a:solidFill>
                  <a:schemeClr val="tx1"/>
                </a:solidFill>
                <a:latin typeface="+mn-lt"/>
                <a:ea typeface="+mn-ea"/>
                <a:cs typeface="+mn-cs"/>
              </a:rPr>
              <a:t> They do not plan their attack.</a:t>
            </a:r>
          </a:p>
          <a:p>
            <a:pPr>
              <a:buFont typeface="Arial" pitchFamily="34" charset="0"/>
              <a:buChar char="•"/>
            </a:pPr>
            <a:r>
              <a:rPr lang="en-AU" sz="1200" kern="1200" dirty="0" smtClean="0">
                <a:solidFill>
                  <a:schemeClr val="tx1"/>
                </a:solidFill>
                <a:latin typeface="+mn-lt"/>
                <a:ea typeface="+mn-ea"/>
                <a:cs typeface="+mn-cs"/>
              </a:rPr>
              <a:t> They see an opportunity and they act/react to it.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74874052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to </a:t>
            </a:r>
            <a:r>
              <a:rPr lang="en-AU" sz="1200" kern="1200" dirty="0" smtClean="0">
                <a:solidFill>
                  <a:schemeClr val="tx1"/>
                </a:solidFill>
                <a:latin typeface="+mn-lt"/>
                <a:ea typeface="+mn-ea"/>
                <a:cs typeface="+mn-cs"/>
              </a:rPr>
              <a:t>guard against the potential for opportunistic crimes it is standard procedure for carry jobs to:</a:t>
            </a:r>
          </a:p>
          <a:p>
            <a:pPr>
              <a:buFont typeface="Arial" pitchFamily="34" charset="0"/>
              <a:buChar char="•"/>
            </a:pPr>
            <a:r>
              <a:rPr lang="en-AU" sz="1200" kern="1200" dirty="0" smtClean="0">
                <a:solidFill>
                  <a:schemeClr val="tx1"/>
                </a:solidFill>
                <a:latin typeface="+mn-lt"/>
                <a:ea typeface="+mn-ea"/>
                <a:cs typeface="+mn-cs"/>
              </a:rPr>
              <a:t> Be covert.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here is a preference to keep a low profile when carrying valuable items as this draws less attention to the fact thereby lowering the potential for an opportunistic attack</a:t>
            </a:r>
          </a:p>
          <a:p>
            <a:pPr>
              <a:buFont typeface="Arial" pitchFamily="34" charset="0"/>
              <a:buChar char="•"/>
            </a:pPr>
            <a:r>
              <a:rPr lang="en-AU" sz="1200" kern="1200" dirty="0" smtClean="0">
                <a:solidFill>
                  <a:schemeClr val="tx1"/>
                </a:solidFill>
                <a:latin typeface="+mn-lt"/>
                <a:ea typeface="+mn-ea"/>
                <a:cs typeface="+mn-cs"/>
              </a:rPr>
              <a:t> Be secret.</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nformation about proposed carriage if valuable items is kept very much in-house and shared only with staff who will have direct involvement in the assignment</a:t>
            </a:r>
          </a:p>
          <a:p>
            <a:pPr>
              <a:buFont typeface="Arial" pitchFamily="34" charset="0"/>
              <a:buChar char="•"/>
            </a:pPr>
            <a:r>
              <a:rPr lang="en-AU" sz="1200" kern="1200" dirty="0" smtClean="0">
                <a:solidFill>
                  <a:schemeClr val="tx1"/>
                </a:solidFill>
                <a:latin typeface="+mn-lt"/>
                <a:ea typeface="+mn-ea"/>
                <a:cs typeface="+mn-cs"/>
              </a:rPr>
              <a:t> Be as short as possible.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longer a job takes, the greater the potential for an incident</a:t>
            </a:r>
          </a:p>
          <a:p>
            <a:pPr>
              <a:buFont typeface="Arial" pitchFamily="34" charset="0"/>
              <a:buChar char="•"/>
            </a:pPr>
            <a:r>
              <a:rPr lang="en-AU" sz="1200" kern="1200" dirty="0" smtClean="0">
                <a:solidFill>
                  <a:schemeClr val="tx1"/>
                </a:solidFill>
                <a:latin typeface="+mn-lt"/>
                <a:ea typeface="+mn-ea"/>
                <a:cs typeface="+mn-cs"/>
              </a:rPr>
              <a:t> Avoid locations where opportunistic offenders may be located such as:</a:t>
            </a:r>
          </a:p>
          <a:p>
            <a:pPr lvl="1">
              <a:buFont typeface="Arial" pitchFamily="34" charset="0"/>
              <a:buChar char="•"/>
            </a:pPr>
            <a:r>
              <a:rPr lang="en-US" sz="1200" kern="1200" dirty="0" smtClean="0">
                <a:solidFill>
                  <a:schemeClr val="tx1"/>
                </a:solidFill>
                <a:latin typeface="+mn-lt"/>
                <a:ea typeface="+mn-ea"/>
                <a:cs typeface="+mn-cs"/>
              </a:rPr>
              <a:t> In the proximity of bars – intoxicated persons are more likely to attempt an opportunistic crime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Near gambling facilities – people who have lost a lot of money may be desperate to recover it any way they can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there are crowds – the presence of crowds can: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Help cover attacks by masking offenders against many other people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Give people who would not normally commit an offence the strength to do so by virtue of them believing there is ‘strength in numbers’ and the crowd will protect or assist them.</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318465468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 to consider when assessing threats for a future job:</a:t>
            </a:r>
          </a:p>
          <a:p>
            <a:pPr>
              <a:buFont typeface="Arial" pitchFamily="34" charset="0"/>
              <a:buChar char="•"/>
            </a:pPr>
            <a:r>
              <a:rPr lang="en-AU" sz="1200" kern="1200" dirty="0" smtClean="0">
                <a:solidFill>
                  <a:schemeClr val="tx1"/>
                </a:solidFill>
                <a:latin typeface="+mn-lt"/>
                <a:ea typeface="+mn-ea"/>
                <a:cs typeface="+mn-cs"/>
              </a:rPr>
              <a:t> Speaking with the client or their representative:</a:t>
            </a:r>
          </a:p>
          <a:p>
            <a:pPr lvl="1">
              <a:buFont typeface="Arial" pitchFamily="34" charset="0"/>
              <a:buChar char="•"/>
            </a:pPr>
            <a:r>
              <a:rPr lang="en-AU" sz="1200" kern="1200" dirty="0" smtClean="0">
                <a:solidFill>
                  <a:schemeClr val="tx1"/>
                </a:solidFill>
                <a:latin typeface="+mn-lt"/>
                <a:ea typeface="+mn-ea"/>
                <a:cs typeface="+mn-cs"/>
              </a:rPr>
              <a:t> To identify their requirements</a:t>
            </a:r>
          </a:p>
          <a:p>
            <a:pPr lvl="1">
              <a:buFont typeface="Arial" pitchFamily="34" charset="0"/>
              <a:buChar char="•"/>
            </a:pPr>
            <a:r>
              <a:rPr lang="en-AU" sz="1200" kern="1200" dirty="0" smtClean="0">
                <a:solidFill>
                  <a:schemeClr val="tx1"/>
                </a:solidFill>
                <a:latin typeface="+mn-lt"/>
                <a:ea typeface="+mn-ea"/>
                <a:cs typeface="+mn-cs"/>
              </a:rPr>
              <a:t> To enquire if they know of any threats made/received in relation to the item and/or their presence at the venue</a:t>
            </a:r>
          </a:p>
          <a:p>
            <a:pPr lvl="1">
              <a:buFont typeface="Arial" pitchFamily="34" charset="0"/>
              <a:buChar char="•"/>
            </a:pPr>
            <a:r>
              <a:rPr lang="en-AU" sz="1200" kern="1200" dirty="0" smtClean="0">
                <a:solidFill>
                  <a:schemeClr val="tx1"/>
                </a:solidFill>
                <a:latin typeface="+mn-lt"/>
                <a:ea typeface="+mn-ea"/>
                <a:cs typeface="+mn-cs"/>
              </a:rPr>
              <a:t> To determine any previous attempts/attacks made involving them and/or the item they want carried </a:t>
            </a:r>
          </a:p>
          <a:p>
            <a:pPr>
              <a:buFont typeface="Arial" pitchFamily="34" charset="0"/>
              <a:buChar char="•"/>
            </a:pPr>
            <a:r>
              <a:rPr lang="en-AU" sz="1200" kern="1200" dirty="0" smtClean="0">
                <a:solidFill>
                  <a:schemeClr val="tx1"/>
                </a:solidFill>
                <a:latin typeface="+mn-lt"/>
                <a:ea typeface="+mn-ea"/>
                <a:cs typeface="+mn-cs"/>
              </a:rPr>
              <a:t> Talking to other internal venue staff to:   </a:t>
            </a:r>
          </a:p>
          <a:p>
            <a:pPr lvl="1">
              <a:buFont typeface="Arial" pitchFamily="34" charset="0"/>
              <a:buChar char="•"/>
            </a:pPr>
            <a:r>
              <a:rPr lang="en-AU" sz="1200" kern="1200" dirty="0" smtClean="0">
                <a:solidFill>
                  <a:schemeClr val="tx1"/>
                </a:solidFill>
                <a:latin typeface="+mn-lt"/>
                <a:ea typeface="+mn-ea"/>
                <a:cs typeface="+mn-cs"/>
              </a:rPr>
              <a:t> Ask what they know about the client and the item</a:t>
            </a:r>
          </a:p>
          <a:p>
            <a:pPr lvl="1">
              <a:buFont typeface="Arial" pitchFamily="34" charset="0"/>
              <a:buChar char="•"/>
            </a:pPr>
            <a:r>
              <a:rPr lang="en-AU" sz="1200" kern="1200" dirty="0" smtClean="0">
                <a:solidFill>
                  <a:schemeClr val="tx1"/>
                </a:solidFill>
                <a:latin typeface="+mn-lt"/>
                <a:ea typeface="+mn-ea"/>
                <a:cs typeface="+mn-cs"/>
              </a:rPr>
              <a:t> Ask for advice and suggestions</a:t>
            </a:r>
          </a:p>
          <a:p>
            <a:pPr lvl="1">
              <a:buFont typeface="Arial" pitchFamily="34" charset="0"/>
              <a:buChar char="•"/>
            </a:pPr>
            <a:r>
              <a:rPr lang="en-AU" sz="1200" kern="1200" dirty="0" smtClean="0">
                <a:solidFill>
                  <a:schemeClr val="tx1"/>
                </a:solidFill>
                <a:latin typeface="+mn-lt"/>
                <a:ea typeface="+mn-ea"/>
                <a:cs typeface="+mn-cs"/>
              </a:rPr>
              <a:t> Obtain information about how previous similar jobs were completed</a:t>
            </a:r>
          </a:p>
          <a:p>
            <a:pPr>
              <a:buFont typeface="Arial" pitchFamily="34" charset="0"/>
              <a:buChar char="•"/>
            </a:pPr>
            <a:r>
              <a:rPr lang="en-AU" sz="1200" kern="1200" dirty="0" smtClean="0">
                <a:solidFill>
                  <a:schemeClr val="tx1"/>
                </a:solidFill>
                <a:latin typeface="+mn-lt"/>
                <a:ea typeface="+mn-ea"/>
                <a:cs typeface="+mn-cs"/>
              </a:rPr>
              <a:t> Communicating with local authorities.</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f the item is important and/or valuable enough: </a:t>
            </a:r>
          </a:p>
          <a:p>
            <a:pPr lvl="1">
              <a:buFont typeface="Arial" pitchFamily="34" charset="0"/>
              <a:buChar char="•"/>
            </a:pPr>
            <a:r>
              <a:rPr lang="en-AU" sz="1200" kern="1200" dirty="0" smtClean="0">
                <a:solidFill>
                  <a:schemeClr val="tx1"/>
                </a:solidFill>
                <a:latin typeface="+mn-lt"/>
                <a:ea typeface="+mn-ea"/>
                <a:cs typeface="+mn-cs"/>
              </a:rPr>
              <a:t> To see if anything is known about the client and/or the item</a:t>
            </a:r>
          </a:p>
          <a:p>
            <a:pPr lvl="1">
              <a:buFont typeface="Arial" pitchFamily="34" charset="0"/>
              <a:buChar char="•"/>
            </a:pPr>
            <a:r>
              <a:rPr lang="en-AU" sz="1200" kern="1200" dirty="0" smtClean="0">
                <a:solidFill>
                  <a:schemeClr val="tx1"/>
                </a:solidFill>
                <a:latin typeface="+mn-lt"/>
                <a:ea typeface="+mn-ea"/>
                <a:cs typeface="+mn-cs"/>
              </a:rPr>
              <a:t> To ask for advice </a:t>
            </a:r>
          </a:p>
          <a:p>
            <a:pPr lvl="1">
              <a:buFont typeface="Arial" pitchFamily="34" charset="0"/>
              <a:buChar char="•"/>
            </a:pPr>
            <a:r>
              <a:rPr lang="en-AU" sz="1200" kern="1200" dirty="0" smtClean="0">
                <a:solidFill>
                  <a:schemeClr val="tx1"/>
                </a:solidFill>
                <a:latin typeface="+mn-lt"/>
                <a:ea typeface="+mn-ea"/>
                <a:cs typeface="+mn-cs"/>
              </a:rPr>
              <a:t> To request their attendance</a:t>
            </a:r>
          </a:p>
          <a:p>
            <a:pPr lvl="1">
              <a:buFont typeface="Arial" pitchFamily="34" charset="0"/>
              <a:buChar char="•"/>
            </a:pPr>
            <a:r>
              <a:rPr lang="en-AU" sz="1200" kern="1200" dirty="0" smtClean="0">
                <a:solidFill>
                  <a:schemeClr val="tx1"/>
                </a:solidFill>
                <a:latin typeface="+mn-lt"/>
                <a:ea typeface="+mn-ea"/>
                <a:cs typeface="+mn-cs"/>
              </a:rPr>
              <a:t> To share information/make them aware of what is going to take place.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38364455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factors to consider when assessing threats for a future job:</a:t>
            </a:r>
          </a:p>
          <a:p>
            <a:pPr>
              <a:buFont typeface="Arial" pitchFamily="34" charset="0"/>
              <a:buChar char="•"/>
            </a:pPr>
            <a:r>
              <a:rPr lang="en-AU" sz="1200" kern="1200" dirty="0" smtClean="0">
                <a:solidFill>
                  <a:schemeClr val="tx1"/>
                </a:solidFill>
                <a:latin typeface="+mn-lt"/>
                <a:ea typeface="+mn-ea"/>
                <a:cs typeface="+mn-cs"/>
              </a:rPr>
              <a:t> Checking with management or relevant office personnel to:  </a:t>
            </a:r>
          </a:p>
          <a:p>
            <a:pPr lvl="1">
              <a:buFont typeface="Arial" pitchFamily="34" charset="0"/>
              <a:buChar char="•"/>
            </a:pPr>
            <a:r>
              <a:rPr lang="en-AU" sz="1200" kern="1200" dirty="0" smtClean="0">
                <a:solidFill>
                  <a:schemeClr val="tx1"/>
                </a:solidFill>
                <a:latin typeface="+mn-lt"/>
                <a:ea typeface="+mn-ea"/>
                <a:cs typeface="+mn-cs"/>
              </a:rPr>
              <a:t> Determine the status of the client</a:t>
            </a:r>
          </a:p>
          <a:p>
            <a:pPr lvl="1">
              <a:buFont typeface="Arial" pitchFamily="34" charset="0"/>
              <a:buChar char="•"/>
            </a:pPr>
            <a:r>
              <a:rPr lang="en-AU" sz="1200" kern="1200" dirty="0" smtClean="0">
                <a:solidFill>
                  <a:schemeClr val="tx1"/>
                </a:solidFill>
                <a:latin typeface="+mn-lt"/>
                <a:ea typeface="+mn-ea"/>
                <a:cs typeface="+mn-cs"/>
              </a:rPr>
              <a:t> Verify the required job is acceptable, legal and/or authorised/approved</a:t>
            </a:r>
          </a:p>
          <a:p>
            <a:pPr lvl="1">
              <a:buFont typeface="Arial" pitchFamily="34" charset="0"/>
              <a:buChar char="•"/>
            </a:pPr>
            <a:r>
              <a:rPr lang="en-AU" sz="1200" kern="1200" dirty="0" smtClean="0">
                <a:solidFill>
                  <a:schemeClr val="tx1"/>
                </a:solidFill>
                <a:latin typeface="+mn-lt"/>
                <a:ea typeface="+mn-ea"/>
                <a:cs typeface="+mn-cs"/>
              </a:rPr>
              <a:t> Identify the coverage provided by any applicable insurance policies.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important to:</a:t>
            </a:r>
          </a:p>
          <a:p>
            <a:pPr lvl="2">
              <a:buFont typeface="Arial" pitchFamily="34" charset="0"/>
              <a:buChar char="•"/>
            </a:pPr>
            <a:r>
              <a:rPr lang="en-AU" sz="1200" kern="1200" dirty="0" smtClean="0">
                <a:solidFill>
                  <a:schemeClr val="tx1"/>
                </a:solidFill>
                <a:latin typeface="+mn-lt"/>
                <a:ea typeface="+mn-ea"/>
                <a:cs typeface="+mn-cs"/>
              </a:rPr>
              <a:t> Determine if certain provisions need to be complied with before the policy can be relied should a claim need to be made.</a:t>
            </a:r>
            <a:r>
              <a:rPr lang="en-AU" sz="1200" kern="1200" baseline="0" dirty="0" smtClean="0">
                <a:solidFill>
                  <a:schemeClr val="tx1"/>
                </a:solidFill>
                <a:latin typeface="+mn-lt"/>
                <a:ea typeface="+mn-ea"/>
                <a:cs typeface="+mn-cs"/>
              </a:rPr>
              <a:t> F</a:t>
            </a:r>
            <a:r>
              <a:rPr lang="en-AU" sz="1200" kern="1200" dirty="0" smtClean="0">
                <a:solidFill>
                  <a:schemeClr val="tx1"/>
                </a:solidFill>
                <a:latin typeface="+mn-lt"/>
                <a:ea typeface="+mn-ea"/>
                <a:cs typeface="+mn-cs"/>
              </a:rPr>
              <a:t>or example the policy may require an armed escort, a minimum number of guards, a police presence or other specified requirements</a:t>
            </a:r>
          </a:p>
          <a:p>
            <a:pPr lvl="2">
              <a:buFont typeface="Arial" pitchFamily="34" charset="0"/>
              <a:buChar char="•"/>
            </a:pPr>
            <a:r>
              <a:rPr lang="en-AU" sz="1200" kern="1200" dirty="0" smtClean="0">
                <a:solidFill>
                  <a:schemeClr val="tx1"/>
                </a:solidFill>
                <a:latin typeface="+mn-lt"/>
                <a:ea typeface="+mn-ea"/>
                <a:cs typeface="+mn-cs"/>
              </a:rPr>
              <a:t> Be aware of the coverage afforded by the policy in the event an incident/issue arises and a claim has to be submitted</a:t>
            </a:r>
          </a:p>
          <a:p>
            <a:pPr lvl="2">
              <a:buFont typeface="Arial" pitchFamily="34" charset="0"/>
              <a:buChar char="•"/>
            </a:pPr>
            <a:r>
              <a:rPr lang="en-AU" sz="1200" kern="1200" dirty="0" smtClean="0">
                <a:solidFill>
                  <a:schemeClr val="tx1"/>
                </a:solidFill>
                <a:latin typeface="+mn-lt"/>
                <a:ea typeface="+mn-ea"/>
                <a:cs typeface="+mn-cs"/>
              </a:rPr>
              <a:t> Arrange for a representative of the insurer to attend and insect the preparations and/or observe the actual carry of the items</a:t>
            </a:r>
          </a:p>
          <a:p>
            <a:pPr>
              <a:buFont typeface="Arial" pitchFamily="34" charset="0"/>
              <a:buChar char="•"/>
            </a:pPr>
            <a:r>
              <a:rPr lang="en-AU" sz="1200" kern="1200" dirty="0" smtClean="0">
                <a:solidFill>
                  <a:schemeClr val="tx1"/>
                </a:solidFill>
                <a:latin typeface="+mn-lt"/>
                <a:ea typeface="+mn-ea"/>
                <a:cs typeface="+mn-cs"/>
              </a:rPr>
              <a:t> Developing formal plans to address the identified requirements of the job and for responding to identified potential threats.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plans should:</a:t>
            </a:r>
          </a:p>
          <a:p>
            <a:pPr lvl="1">
              <a:buFont typeface="Arial" pitchFamily="34" charset="0"/>
              <a:buChar char="•"/>
            </a:pPr>
            <a:r>
              <a:rPr lang="en-AU" sz="1200" kern="1200" dirty="0" smtClean="0">
                <a:solidFill>
                  <a:schemeClr val="tx1"/>
                </a:solidFill>
                <a:latin typeface="+mn-lt"/>
                <a:ea typeface="+mn-ea"/>
                <a:cs typeface="+mn-cs"/>
              </a:rPr>
              <a:t> Be created in collaboration with other venue security staff</a:t>
            </a:r>
          </a:p>
          <a:p>
            <a:pPr lvl="1">
              <a:buFont typeface="Arial" pitchFamily="34" charset="0"/>
              <a:buChar char="•"/>
            </a:pPr>
            <a:r>
              <a:rPr lang="en-AU" sz="1200" kern="1200" dirty="0" smtClean="0">
                <a:solidFill>
                  <a:schemeClr val="tx1"/>
                </a:solidFill>
                <a:latin typeface="+mn-lt"/>
                <a:ea typeface="+mn-ea"/>
                <a:cs typeface="+mn-cs"/>
              </a:rPr>
              <a:t> Kept secret</a:t>
            </a:r>
          </a:p>
          <a:p>
            <a:pPr lvl="1">
              <a:buFont typeface="Arial" pitchFamily="34" charset="0"/>
              <a:buChar char="•"/>
            </a:pPr>
            <a:r>
              <a:rPr lang="en-AU" sz="1200" kern="1200" dirty="0" smtClean="0">
                <a:solidFill>
                  <a:schemeClr val="tx1"/>
                </a:solidFill>
                <a:latin typeface="+mn-lt"/>
                <a:ea typeface="+mn-ea"/>
                <a:cs typeface="+mn-cs"/>
              </a:rPr>
              <a:t> Trialled/tested</a:t>
            </a:r>
          </a:p>
          <a:p>
            <a:pPr>
              <a:buFont typeface="Arial" pitchFamily="34" charset="0"/>
              <a:buChar char="•"/>
            </a:pPr>
            <a:r>
              <a:rPr lang="en-AU" sz="1200" kern="1200" dirty="0" smtClean="0">
                <a:solidFill>
                  <a:schemeClr val="tx1"/>
                </a:solidFill>
                <a:latin typeface="+mn-lt"/>
                <a:ea typeface="+mn-ea"/>
                <a:cs typeface="+mn-cs"/>
              </a:rPr>
              <a:t> Taking appropriate advance action to prepare the venue and the route/s such as: </a:t>
            </a:r>
          </a:p>
          <a:p>
            <a:pPr lvl="1">
              <a:buFont typeface="Arial" pitchFamily="34" charset="0"/>
              <a:buChar char="•"/>
            </a:pPr>
            <a:r>
              <a:rPr lang="en-AU" sz="1200" kern="1200" dirty="0" smtClean="0">
                <a:solidFill>
                  <a:schemeClr val="tx1"/>
                </a:solidFill>
                <a:latin typeface="+mn-lt"/>
                <a:ea typeface="+mn-ea"/>
                <a:cs typeface="+mn-cs"/>
              </a:rPr>
              <a:t> Rostering required/sufficient staff</a:t>
            </a:r>
          </a:p>
          <a:p>
            <a:pPr lvl="1">
              <a:buFont typeface="Arial" pitchFamily="34" charset="0"/>
              <a:buChar char="•"/>
            </a:pPr>
            <a:r>
              <a:rPr lang="en-AU" sz="1200" kern="1200" dirty="0" smtClean="0">
                <a:solidFill>
                  <a:schemeClr val="tx1"/>
                </a:solidFill>
                <a:latin typeface="+mn-lt"/>
                <a:ea typeface="+mn-ea"/>
                <a:cs typeface="+mn-cs"/>
              </a:rPr>
              <a:t> Obtaining and checking resources identified as being necessary for the carry</a:t>
            </a:r>
          </a:p>
          <a:p>
            <a:pPr lvl="1">
              <a:buFont typeface="Arial" pitchFamily="34" charset="0"/>
              <a:buChar char="•"/>
            </a:pPr>
            <a:r>
              <a:rPr lang="en-AU" sz="1200" kern="1200" dirty="0" smtClean="0">
                <a:solidFill>
                  <a:schemeClr val="tx1"/>
                </a:solidFill>
                <a:latin typeface="+mn-lt"/>
                <a:ea typeface="+mn-ea"/>
                <a:cs typeface="+mn-cs"/>
              </a:rPr>
              <a:t> Closing and locking doors and entry/exit points</a:t>
            </a:r>
          </a:p>
          <a:p>
            <a:pPr lvl="1">
              <a:buFont typeface="Arial" pitchFamily="34" charset="0"/>
              <a:buChar char="•"/>
            </a:pPr>
            <a:r>
              <a:rPr lang="en-AU" sz="1200" kern="1200" dirty="0" smtClean="0">
                <a:solidFill>
                  <a:schemeClr val="tx1"/>
                </a:solidFill>
                <a:latin typeface="+mn-lt"/>
                <a:ea typeface="+mn-ea"/>
                <a:cs typeface="+mn-cs"/>
              </a:rPr>
              <a:t> Verifying proper operation of all security systems, equipment and technology</a:t>
            </a:r>
          </a:p>
          <a:p>
            <a:pPr lvl="1">
              <a:buFont typeface="Arial" pitchFamily="34" charset="0"/>
              <a:buChar char="•"/>
            </a:pPr>
            <a:r>
              <a:rPr lang="en-AU" sz="1200" kern="1200" dirty="0" smtClean="0">
                <a:solidFill>
                  <a:schemeClr val="tx1"/>
                </a:solidFill>
                <a:latin typeface="+mn-lt"/>
                <a:ea typeface="+mn-ea"/>
                <a:cs typeface="+mn-cs"/>
              </a:rPr>
              <a:t> Confirming proposed routes are clear.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53580638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factors to consider when assessing threats for on-the-spot jobs (that is, where there is no real advance notice):</a:t>
            </a:r>
          </a:p>
          <a:p>
            <a:pPr>
              <a:buFont typeface="Arial" pitchFamily="34" charset="0"/>
              <a:buChar char="•"/>
            </a:pPr>
            <a:r>
              <a:rPr lang="en-AU" sz="1200" kern="1200" dirty="0" smtClean="0">
                <a:solidFill>
                  <a:schemeClr val="tx1"/>
                </a:solidFill>
                <a:latin typeface="+mn-lt"/>
                <a:ea typeface="+mn-ea"/>
                <a:cs typeface="+mn-cs"/>
              </a:rPr>
              <a:t> Speaking directly to the guest and asking them to provide relevant information such as:</a:t>
            </a:r>
          </a:p>
          <a:p>
            <a:pPr lvl="1">
              <a:buFont typeface="Arial" pitchFamily="34" charset="0"/>
              <a:buChar char="•"/>
            </a:pPr>
            <a:r>
              <a:rPr lang="en-US" sz="1200" kern="1200" dirty="0" smtClean="0">
                <a:solidFill>
                  <a:schemeClr val="tx1"/>
                </a:solidFill>
                <a:latin typeface="+mn-lt"/>
                <a:ea typeface="+mn-ea"/>
                <a:cs typeface="+mn-cs"/>
              </a:rPr>
              <a:t> What is the item? – see below ‘House rules’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Where do they want it taken?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 they know of any threats?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Reliance on personal knowledge of the venue in relation to:</a:t>
            </a:r>
          </a:p>
          <a:p>
            <a:pPr lvl="1">
              <a:buFont typeface="Arial" pitchFamily="34" charset="0"/>
              <a:buChar char="•"/>
            </a:pPr>
            <a:r>
              <a:rPr lang="en-US" sz="1200" kern="1200" dirty="0" smtClean="0">
                <a:solidFill>
                  <a:schemeClr val="tx1"/>
                </a:solidFill>
                <a:latin typeface="+mn-lt"/>
                <a:ea typeface="+mn-ea"/>
                <a:cs typeface="+mn-cs"/>
              </a:rPr>
              <a:t> Physical layout of the property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Location of support facilities, equipment and systems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Previously used routes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Location of bottlenecks and threat points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Length of time the job will take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Situational Awareness in relation to:</a:t>
            </a:r>
          </a:p>
          <a:p>
            <a:pPr lvl="1">
              <a:buFont typeface="Arial" pitchFamily="34" charset="0"/>
              <a:buChar char="•"/>
            </a:pPr>
            <a:r>
              <a:rPr lang="en-US" sz="1200" kern="1200" dirty="0" smtClean="0">
                <a:solidFill>
                  <a:schemeClr val="tx1"/>
                </a:solidFill>
                <a:latin typeface="+mn-lt"/>
                <a:ea typeface="+mn-ea"/>
                <a:cs typeface="+mn-cs"/>
              </a:rPr>
              <a:t> Current levels of trade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Location of crowds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Presence of suspicious persons.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36464450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recaps when assistance may be sought</a:t>
            </a:r>
            <a:r>
              <a:rPr lang="en-AU" baseline="0" noProof="0" dirty="0" smtClean="0"/>
              <a:t> or r</a:t>
            </a:r>
            <a:r>
              <a:rPr lang="en-AU" noProof="0" dirty="0" smtClean="0"/>
              <a:t>equired:</a:t>
            </a:r>
          </a:p>
          <a:p>
            <a:pPr>
              <a:buFont typeface="Arial" pitchFamily="34" charset="0"/>
              <a:buChar char="•"/>
            </a:pPr>
            <a:r>
              <a:rPr lang="en-AU" sz="1200" kern="1200" dirty="0" smtClean="0">
                <a:solidFill>
                  <a:schemeClr val="tx1"/>
                </a:solidFill>
                <a:latin typeface="+mn-lt"/>
                <a:ea typeface="+mn-ea"/>
                <a:cs typeface="+mn-cs"/>
              </a:rPr>
              <a:t> During the planning and preparation phase where applicable</a:t>
            </a:r>
          </a:p>
          <a:p>
            <a:pPr>
              <a:buFont typeface="Arial" pitchFamily="34" charset="0"/>
              <a:buChar char="•"/>
            </a:pPr>
            <a:r>
              <a:rPr lang="en-AU" sz="1200" kern="1200" dirty="0" smtClean="0">
                <a:solidFill>
                  <a:schemeClr val="tx1"/>
                </a:solidFill>
                <a:latin typeface="+mn-lt"/>
                <a:ea typeface="+mn-ea"/>
                <a:cs typeface="+mn-cs"/>
              </a:rPr>
              <a:t> While providing actual carry services to:</a:t>
            </a:r>
          </a:p>
          <a:p>
            <a:pPr lvl="1">
              <a:buFont typeface="Arial" pitchFamily="34" charset="0"/>
              <a:buChar char="•"/>
            </a:pPr>
            <a:r>
              <a:rPr lang="en-US" sz="1200" kern="1200" dirty="0" smtClean="0">
                <a:solidFill>
                  <a:schemeClr val="tx1"/>
                </a:solidFill>
                <a:latin typeface="+mn-lt"/>
                <a:ea typeface="+mn-ea"/>
                <a:cs typeface="+mn-cs"/>
              </a:rPr>
              <a:t> Enhance service provision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Assist with responses to threats and/or attacks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As part of the review stage following completing/finalisation of the assignment.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72524464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recaps reasons to seek assistance</a:t>
            </a:r>
          </a:p>
          <a:p>
            <a:pPr>
              <a:buFont typeface="Arial" pitchFamily="34" charset="0"/>
              <a:buChar char="•"/>
            </a:pPr>
            <a:r>
              <a:rPr lang="en-AU" sz="1200" kern="1200" dirty="0" smtClean="0">
                <a:solidFill>
                  <a:schemeClr val="tx1"/>
                </a:solidFill>
                <a:latin typeface="+mn-lt"/>
                <a:ea typeface="+mn-ea"/>
                <a:cs typeface="+mn-cs"/>
              </a:rPr>
              <a:t> It helps relieve you of sole responsibility</a:t>
            </a:r>
          </a:p>
          <a:p>
            <a:pPr>
              <a:buFont typeface="Arial" pitchFamily="34" charset="0"/>
              <a:buChar char="•"/>
            </a:pPr>
            <a:r>
              <a:rPr lang="en-AU" sz="1200" kern="1200" dirty="0" smtClean="0">
                <a:solidFill>
                  <a:schemeClr val="tx1"/>
                </a:solidFill>
                <a:latin typeface="+mn-lt"/>
                <a:ea typeface="+mn-ea"/>
                <a:cs typeface="+mn-cs"/>
              </a:rPr>
              <a:t> It provides a more diverse range of opinions and options for action</a:t>
            </a:r>
          </a:p>
          <a:p>
            <a:pPr>
              <a:buFont typeface="Arial" pitchFamily="34" charset="0"/>
              <a:buChar char="•"/>
            </a:pPr>
            <a:r>
              <a:rPr lang="en-AU" sz="1200" kern="1200" dirty="0" smtClean="0">
                <a:solidFill>
                  <a:schemeClr val="tx1"/>
                </a:solidFill>
                <a:latin typeface="+mn-lt"/>
                <a:ea typeface="+mn-ea"/>
                <a:cs typeface="+mn-cs"/>
              </a:rPr>
              <a:t> It supplies a bigger pool of expertise and experience to draw from</a:t>
            </a:r>
          </a:p>
          <a:p>
            <a:pPr>
              <a:buFont typeface="Arial" pitchFamily="34" charset="0"/>
              <a:buChar char="•"/>
            </a:pPr>
            <a:r>
              <a:rPr lang="en-AU" sz="1200" kern="1200" dirty="0" smtClean="0">
                <a:solidFill>
                  <a:schemeClr val="tx1"/>
                </a:solidFill>
                <a:latin typeface="+mn-lt"/>
                <a:ea typeface="+mn-ea"/>
                <a:cs typeface="+mn-cs"/>
              </a:rPr>
              <a:t> It facilitates information sharing</a:t>
            </a:r>
          </a:p>
          <a:p>
            <a:pPr>
              <a:buFont typeface="Arial" pitchFamily="34" charset="0"/>
              <a:buChar char="•"/>
            </a:pPr>
            <a:r>
              <a:rPr lang="en-AU" sz="1200" kern="1200" dirty="0" smtClean="0">
                <a:solidFill>
                  <a:schemeClr val="tx1"/>
                </a:solidFill>
                <a:latin typeface="+mn-lt"/>
                <a:ea typeface="+mn-ea"/>
                <a:cs typeface="+mn-cs"/>
              </a:rPr>
              <a:t> It generates more informed intelligence to use as the basis for planning and decision making.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160900240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assistance which can be obtained/expected from internal staff:</a:t>
            </a:r>
          </a:p>
          <a:p>
            <a:pPr>
              <a:buFont typeface="Arial" pitchFamily="34" charset="0"/>
              <a:buChar char="•"/>
            </a:pPr>
            <a:r>
              <a:rPr lang="en-AU" sz="1200" kern="1200" dirty="0" smtClean="0">
                <a:solidFill>
                  <a:schemeClr val="tx1"/>
                </a:solidFill>
                <a:latin typeface="+mn-lt"/>
                <a:ea typeface="+mn-ea"/>
                <a:cs typeface="+mn-cs"/>
              </a:rPr>
              <a:t> Suggestions for planning and action</a:t>
            </a:r>
          </a:p>
          <a:p>
            <a:pPr>
              <a:buFont typeface="Arial" pitchFamily="34" charset="0"/>
              <a:buChar char="•"/>
            </a:pPr>
            <a:r>
              <a:rPr lang="en-AU" sz="1200" kern="1200" dirty="0" smtClean="0">
                <a:solidFill>
                  <a:schemeClr val="tx1"/>
                </a:solidFill>
                <a:latin typeface="+mn-lt"/>
                <a:ea typeface="+mn-ea"/>
                <a:cs typeface="+mn-cs"/>
              </a:rPr>
              <a:t> Information about previous assignments</a:t>
            </a:r>
          </a:p>
          <a:p>
            <a:pPr>
              <a:buFont typeface="Arial" pitchFamily="34" charset="0"/>
              <a:buChar char="•"/>
            </a:pPr>
            <a:r>
              <a:rPr lang="en-AU" sz="1200" kern="1200" dirty="0" smtClean="0">
                <a:solidFill>
                  <a:schemeClr val="tx1"/>
                </a:solidFill>
                <a:latin typeface="+mn-lt"/>
                <a:ea typeface="+mn-ea"/>
                <a:cs typeface="+mn-cs"/>
              </a:rPr>
              <a:t> Help with providing suitable staff</a:t>
            </a:r>
          </a:p>
          <a:p>
            <a:pPr>
              <a:buFont typeface="Arial" pitchFamily="34" charset="0"/>
              <a:buChar char="•"/>
            </a:pPr>
            <a:r>
              <a:rPr lang="en-AU" sz="1200" kern="1200" dirty="0" smtClean="0">
                <a:solidFill>
                  <a:schemeClr val="tx1"/>
                </a:solidFill>
                <a:latin typeface="+mn-lt"/>
                <a:ea typeface="+mn-ea"/>
                <a:cs typeface="+mn-cs"/>
              </a:rPr>
              <a:t> Advice regarding expected trade and traffic levels</a:t>
            </a:r>
          </a:p>
          <a:p>
            <a:pPr>
              <a:buFont typeface="Arial" pitchFamily="34" charset="0"/>
              <a:buChar char="•"/>
            </a:pPr>
            <a:r>
              <a:rPr lang="en-AU" sz="1200" kern="1200" dirty="0" smtClean="0">
                <a:solidFill>
                  <a:schemeClr val="tx1"/>
                </a:solidFill>
                <a:latin typeface="+mn-lt"/>
                <a:ea typeface="+mn-ea"/>
                <a:cs typeface="+mn-cs"/>
              </a:rPr>
              <a:t> Cooperation in closing certain areas.</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28926440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assistance which can be obtained/expected from an external security company:</a:t>
            </a:r>
          </a:p>
          <a:p>
            <a:pPr>
              <a:buFont typeface="Arial" pitchFamily="34" charset="0"/>
              <a:buChar char="•"/>
            </a:pPr>
            <a:r>
              <a:rPr lang="en-AU" sz="1200" kern="1200" dirty="0" smtClean="0">
                <a:solidFill>
                  <a:schemeClr val="tx1"/>
                </a:solidFill>
                <a:latin typeface="+mn-lt"/>
                <a:ea typeface="+mn-ea"/>
                <a:cs typeface="+mn-cs"/>
              </a:rPr>
              <a:t> Provision of guards to support movement of valuable items</a:t>
            </a:r>
          </a:p>
          <a:p>
            <a:pPr>
              <a:buFont typeface="Arial" pitchFamily="34" charset="0"/>
              <a:buChar char="•"/>
            </a:pPr>
            <a:r>
              <a:rPr lang="en-AU" sz="1200" kern="1200" dirty="0" smtClean="0">
                <a:solidFill>
                  <a:schemeClr val="tx1"/>
                </a:solidFill>
                <a:latin typeface="+mn-lt"/>
                <a:ea typeface="+mn-ea"/>
                <a:cs typeface="+mn-cs"/>
              </a:rPr>
              <a:t> Provision of intelligence on local threats</a:t>
            </a:r>
          </a:p>
          <a:p>
            <a:pPr>
              <a:buFont typeface="Arial" pitchFamily="34" charset="0"/>
              <a:buChar char="•"/>
            </a:pPr>
            <a:r>
              <a:rPr lang="en-AU" sz="1200" kern="1200" dirty="0" smtClean="0">
                <a:solidFill>
                  <a:schemeClr val="tx1"/>
                </a:solidFill>
                <a:latin typeface="+mn-lt"/>
                <a:ea typeface="+mn-ea"/>
                <a:cs typeface="+mn-cs"/>
              </a:rPr>
              <a:t> Contribution of suggestions for action and feedback on plans</a:t>
            </a:r>
          </a:p>
          <a:p>
            <a:pPr>
              <a:buFont typeface="Arial" pitchFamily="34" charset="0"/>
              <a:buChar char="•"/>
            </a:pPr>
            <a:r>
              <a:rPr lang="en-AU" sz="1200" kern="1200" dirty="0" smtClean="0">
                <a:solidFill>
                  <a:schemeClr val="tx1"/>
                </a:solidFill>
                <a:latin typeface="+mn-lt"/>
                <a:ea typeface="+mn-ea"/>
                <a:cs typeface="+mn-cs"/>
              </a:rPr>
              <a:t> Arrangements for response to attacks and incidents.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38533388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assistance which can be obtained/expected from local authorities:</a:t>
            </a:r>
          </a:p>
          <a:p>
            <a:pPr>
              <a:buFont typeface="Arial" pitchFamily="34" charset="0"/>
              <a:buChar char="•"/>
            </a:pPr>
            <a:r>
              <a:rPr lang="en-AU" sz="1200" kern="1200" dirty="0" smtClean="0">
                <a:solidFill>
                  <a:schemeClr val="tx1"/>
                </a:solidFill>
                <a:latin typeface="+mn-lt"/>
                <a:ea typeface="+mn-ea"/>
                <a:cs typeface="+mn-cs"/>
              </a:rPr>
              <a:t> Provision of updated threat advice</a:t>
            </a:r>
          </a:p>
          <a:p>
            <a:pPr>
              <a:buFont typeface="Arial" pitchFamily="34" charset="0"/>
              <a:buChar char="•"/>
            </a:pPr>
            <a:r>
              <a:rPr lang="en-AU" sz="1200" kern="1200" dirty="0" smtClean="0">
                <a:solidFill>
                  <a:schemeClr val="tx1"/>
                </a:solidFill>
                <a:latin typeface="+mn-lt"/>
                <a:ea typeface="+mn-ea"/>
                <a:cs typeface="+mn-cs"/>
              </a:rPr>
              <a:t> Tips on planning and strategies</a:t>
            </a:r>
          </a:p>
          <a:p>
            <a:pPr>
              <a:buFont typeface="Arial" pitchFamily="34" charset="0"/>
              <a:buChar char="•"/>
            </a:pPr>
            <a:r>
              <a:rPr lang="en-AU" sz="1200" kern="1200" dirty="0" smtClean="0">
                <a:solidFill>
                  <a:schemeClr val="tx1"/>
                </a:solidFill>
                <a:latin typeface="+mn-lt"/>
                <a:ea typeface="+mn-ea"/>
                <a:cs typeface="+mn-cs"/>
              </a:rPr>
              <a:t> Feedback on plans</a:t>
            </a:r>
          </a:p>
          <a:p>
            <a:pPr>
              <a:buFont typeface="Arial" pitchFamily="34" charset="0"/>
              <a:buChar char="•"/>
            </a:pPr>
            <a:r>
              <a:rPr lang="en-AU" sz="1200" kern="1200" dirty="0" smtClean="0">
                <a:solidFill>
                  <a:schemeClr val="tx1"/>
                </a:solidFill>
                <a:latin typeface="+mn-lt"/>
                <a:ea typeface="+mn-ea"/>
                <a:cs typeface="+mn-cs"/>
              </a:rPr>
              <a:t> Provision of a physical presence on the day to assist with,</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for example:</a:t>
            </a:r>
          </a:p>
          <a:p>
            <a:pPr lvl="1">
              <a:buFont typeface="Arial" pitchFamily="34" charset="0"/>
              <a:buChar char="•"/>
            </a:pPr>
            <a:r>
              <a:rPr lang="en-AU" sz="1200" kern="1200" dirty="0" smtClean="0">
                <a:solidFill>
                  <a:schemeClr val="tx1"/>
                </a:solidFill>
                <a:latin typeface="+mn-lt"/>
                <a:ea typeface="+mn-ea"/>
                <a:cs typeface="+mn-cs"/>
              </a:rPr>
              <a:t> Traffic management</a:t>
            </a:r>
          </a:p>
          <a:p>
            <a:pPr lvl="1">
              <a:buFont typeface="Arial" pitchFamily="34" charset="0"/>
              <a:buChar char="•"/>
            </a:pPr>
            <a:r>
              <a:rPr lang="en-AU" sz="1200" kern="1200" dirty="0" smtClean="0">
                <a:solidFill>
                  <a:schemeClr val="tx1"/>
                </a:solidFill>
                <a:latin typeface="+mn-lt"/>
                <a:ea typeface="+mn-ea"/>
                <a:cs typeface="+mn-cs"/>
              </a:rPr>
              <a:t> Crowd control</a:t>
            </a:r>
          </a:p>
          <a:p>
            <a:pPr lvl="1">
              <a:buFont typeface="Arial" pitchFamily="34" charset="0"/>
              <a:buChar char="•"/>
            </a:pPr>
            <a:r>
              <a:rPr lang="en-AU" sz="1200" kern="1200" dirty="0" smtClean="0">
                <a:solidFill>
                  <a:schemeClr val="tx1"/>
                </a:solidFill>
                <a:latin typeface="+mn-lt"/>
                <a:ea typeface="+mn-ea"/>
                <a:cs typeface="+mn-cs"/>
              </a:rPr>
              <a:t> Dealing with criminal activities</a:t>
            </a:r>
          </a:p>
          <a:p>
            <a:pPr>
              <a:buFont typeface="Arial" pitchFamily="34" charset="0"/>
              <a:buChar char="•"/>
            </a:pPr>
            <a:r>
              <a:rPr lang="en-AU" sz="1200" kern="1200" dirty="0" smtClean="0">
                <a:solidFill>
                  <a:schemeClr val="tx1"/>
                </a:solidFill>
                <a:latin typeface="+mn-lt"/>
                <a:ea typeface="+mn-ea"/>
                <a:cs typeface="+mn-cs"/>
              </a:rPr>
              <a:t> Organisation of responses to identified issues and incidents.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36616135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t>
            </a:r>
            <a:r>
              <a:rPr lang="en-AU" sz="1200" kern="1200" dirty="0" smtClean="0">
                <a:solidFill>
                  <a:schemeClr val="tx1"/>
                </a:solidFill>
                <a:latin typeface="+mn-lt"/>
                <a:ea typeface="+mn-ea"/>
                <a:cs typeface="+mn-cs"/>
              </a:rPr>
              <a:t>standard requirements for carriage duties within a venue:</a:t>
            </a:r>
          </a:p>
          <a:p>
            <a:pPr>
              <a:buFont typeface="Arial" pitchFamily="34" charset="0"/>
              <a:buChar char="•"/>
            </a:pPr>
            <a:r>
              <a:rPr lang="en-AU" sz="1200" kern="1200" dirty="0" smtClean="0">
                <a:solidFill>
                  <a:schemeClr val="tx1"/>
                </a:solidFill>
                <a:latin typeface="+mn-lt"/>
                <a:ea typeface="+mn-ea"/>
                <a:cs typeface="+mn-cs"/>
              </a:rPr>
              <a:t> If a plan has been developed:</a:t>
            </a:r>
          </a:p>
          <a:p>
            <a:pPr lvl="1">
              <a:buFont typeface="Arial" pitchFamily="34" charset="0"/>
              <a:buChar char="•"/>
            </a:pPr>
            <a:r>
              <a:rPr lang="en-AU" sz="1200" kern="1200" dirty="0" smtClean="0">
                <a:solidFill>
                  <a:schemeClr val="tx1"/>
                </a:solidFill>
                <a:latin typeface="+mn-lt"/>
                <a:ea typeface="+mn-ea"/>
                <a:cs typeface="+mn-cs"/>
              </a:rPr>
              <a:t> Share the plan with staff involved in the assignment</a:t>
            </a:r>
          </a:p>
          <a:p>
            <a:pPr lvl="1">
              <a:buFont typeface="Arial" pitchFamily="34" charset="0"/>
              <a:buChar char="•"/>
            </a:pPr>
            <a:r>
              <a:rPr lang="en-AU" sz="1200" kern="1200" dirty="0" smtClean="0">
                <a:solidFill>
                  <a:schemeClr val="tx1"/>
                </a:solidFill>
                <a:latin typeface="+mn-lt"/>
                <a:ea typeface="+mn-ea"/>
                <a:cs typeface="+mn-cs"/>
              </a:rPr>
              <a:t> Obtain the necessary resources</a:t>
            </a:r>
          </a:p>
          <a:p>
            <a:pPr lvl="1">
              <a:buFont typeface="Arial" pitchFamily="34" charset="0"/>
              <a:buChar char="•"/>
            </a:pPr>
            <a:r>
              <a:rPr lang="en-AU" sz="1200" kern="1200" dirty="0" smtClean="0">
                <a:solidFill>
                  <a:schemeClr val="tx1"/>
                </a:solidFill>
                <a:latin typeface="+mn-lt"/>
                <a:ea typeface="+mn-ea"/>
                <a:cs typeface="+mn-cs"/>
              </a:rPr>
              <a:t> Be prepared to rehearse the plan if/where necessary</a:t>
            </a:r>
          </a:p>
          <a:p>
            <a:pPr lvl="1">
              <a:buFont typeface="Arial" pitchFamily="34" charset="0"/>
              <a:buChar char="•"/>
            </a:pPr>
            <a:r>
              <a:rPr lang="en-AU" sz="1200" kern="1200" dirty="0" smtClean="0">
                <a:solidFill>
                  <a:schemeClr val="tx1"/>
                </a:solidFill>
                <a:latin typeface="+mn-lt"/>
                <a:ea typeface="+mn-ea"/>
                <a:cs typeface="+mn-cs"/>
              </a:rPr>
              <a:t> Prepare the venue – close/lock doors; erect barriers</a:t>
            </a:r>
          </a:p>
          <a:p>
            <a:pPr lvl="1">
              <a:buFont typeface="Arial" pitchFamily="34" charset="0"/>
              <a:buChar char="•"/>
            </a:pPr>
            <a:r>
              <a:rPr lang="en-AU" sz="1200" kern="1200" dirty="0" smtClean="0">
                <a:solidFill>
                  <a:schemeClr val="tx1"/>
                </a:solidFill>
                <a:latin typeface="+mn-lt"/>
                <a:ea typeface="+mn-ea"/>
                <a:cs typeface="+mn-cs"/>
              </a:rPr>
              <a:t> Follow/implement the plan</a:t>
            </a:r>
          </a:p>
          <a:p>
            <a:pPr lvl="1">
              <a:buFont typeface="Arial" pitchFamily="34" charset="0"/>
              <a:buChar char="•"/>
            </a:pPr>
            <a:r>
              <a:rPr lang="en-AU" sz="1200" kern="1200" dirty="0" smtClean="0">
                <a:solidFill>
                  <a:schemeClr val="tx1"/>
                </a:solidFill>
                <a:latin typeface="+mn-lt"/>
                <a:ea typeface="+mn-ea"/>
                <a:cs typeface="+mn-cs"/>
              </a:rPr>
              <a:t> Be alert to changed circumstance which impact the plan</a:t>
            </a:r>
          </a:p>
          <a:p>
            <a:pPr>
              <a:buFont typeface="Arial" pitchFamily="34" charset="0"/>
              <a:buChar char="•"/>
            </a:pPr>
            <a:r>
              <a:rPr lang="en-AU" sz="1200" kern="1200" dirty="0" smtClean="0">
                <a:solidFill>
                  <a:schemeClr val="tx1"/>
                </a:solidFill>
                <a:latin typeface="+mn-lt"/>
                <a:ea typeface="+mn-ea"/>
                <a:cs typeface="+mn-cs"/>
              </a:rPr>
              <a:t> Respond to requests for movement of valuable items promptly</a:t>
            </a:r>
          </a:p>
          <a:p>
            <a:pPr>
              <a:buFont typeface="Arial" pitchFamily="34" charset="0"/>
              <a:buChar char="•"/>
            </a:pPr>
            <a:r>
              <a:rPr lang="en-AU" sz="1200" kern="1200" dirty="0" smtClean="0">
                <a:solidFill>
                  <a:schemeClr val="tx1"/>
                </a:solidFill>
                <a:latin typeface="+mn-lt"/>
                <a:ea typeface="+mn-ea"/>
                <a:cs typeface="+mn-cs"/>
              </a:rPr>
              <a:t> Ensure required documentation is completed.</a:t>
            </a:r>
            <a:r>
              <a:rPr lang="en-AU" sz="1200" kern="1200" baseline="0" dirty="0" smtClean="0">
                <a:solidFill>
                  <a:schemeClr val="tx1"/>
                </a:solidFill>
                <a:latin typeface="+mn-lt"/>
                <a:ea typeface="+mn-ea"/>
                <a:cs typeface="+mn-cs"/>
              </a:rPr>
              <a:t> V</a:t>
            </a:r>
            <a:r>
              <a:rPr lang="en-AU" sz="1200" kern="1200" dirty="0" smtClean="0">
                <a:solidFill>
                  <a:schemeClr val="tx1"/>
                </a:solidFill>
                <a:latin typeface="+mn-lt"/>
                <a:ea typeface="+mn-ea"/>
                <a:cs typeface="+mn-cs"/>
              </a:rPr>
              <a:t>enues will have strict protocols for you to observe before you take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possession of goods and carry them:</a:t>
            </a:r>
          </a:p>
          <a:p>
            <a:pPr lvl="1">
              <a:buFont typeface="Arial" pitchFamily="34" charset="0"/>
              <a:buChar char="•"/>
            </a:pPr>
            <a:r>
              <a:rPr lang="en-AU" sz="1200" kern="1200" dirty="0" smtClean="0">
                <a:solidFill>
                  <a:schemeClr val="tx1"/>
                </a:solidFill>
                <a:latin typeface="+mn-lt"/>
                <a:ea typeface="+mn-ea"/>
                <a:cs typeface="+mn-cs"/>
              </a:rPr>
              <a:t> Entry of item details</a:t>
            </a:r>
          </a:p>
          <a:p>
            <a:pPr lvl="1">
              <a:buFont typeface="Arial" pitchFamily="34" charset="0"/>
              <a:buChar char="•"/>
            </a:pPr>
            <a:r>
              <a:rPr lang="en-AU" sz="1200" kern="1200" dirty="0" smtClean="0">
                <a:solidFill>
                  <a:schemeClr val="tx1"/>
                </a:solidFill>
                <a:latin typeface="+mn-lt"/>
                <a:ea typeface="+mn-ea"/>
                <a:cs typeface="+mn-cs"/>
              </a:rPr>
              <a:t> Day, date and time</a:t>
            </a:r>
          </a:p>
          <a:p>
            <a:pPr lvl="1">
              <a:buFont typeface="Arial" pitchFamily="34" charset="0"/>
              <a:buChar char="•"/>
            </a:pPr>
            <a:r>
              <a:rPr lang="en-AU" sz="1200" kern="1200" dirty="0" smtClean="0">
                <a:solidFill>
                  <a:schemeClr val="tx1"/>
                </a:solidFill>
                <a:latin typeface="+mn-lt"/>
                <a:ea typeface="+mn-ea"/>
                <a:cs typeface="+mn-cs"/>
              </a:rPr>
              <a:t> Signature – acknowledging any limitations the venue wishes to apply to the transaction</a:t>
            </a:r>
          </a:p>
          <a:p>
            <a:pPr lvl="1">
              <a:buFont typeface="Arial" pitchFamily="34" charset="0"/>
              <a:buChar char="•"/>
            </a:pPr>
            <a:r>
              <a:rPr lang="en-AU" sz="1200" kern="1200" dirty="0" smtClean="0">
                <a:solidFill>
                  <a:schemeClr val="tx1"/>
                </a:solidFill>
                <a:latin typeface="+mn-lt"/>
                <a:ea typeface="+mn-ea"/>
                <a:cs typeface="+mn-cs"/>
              </a:rPr>
              <a:t> Leaving a receipt with the guest to enable them to retrieve the item when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419238278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t>
            </a:r>
            <a:r>
              <a:rPr lang="en-AU" sz="1200" kern="1200" dirty="0" smtClean="0">
                <a:solidFill>
                  <a:schemeClr val="tx1"/>
                </a:solidFill>
                <a:latin typeface="+mn-lt"/>
                <a:ea typeface="+mn-ea"/>
                <a:cs typeface="+mn-cs"/>
              </a:rPr>
              <a:t>standard requirements for carriage duties within a venue:</a:t>
            </a:r>
          </a:p>
          <a:p>
            <a:pPr>
              <a:buFont typeface="Arial" pitchFamily="34" charset="0"/>
              <a:buChar char="•"/>
            </a:pPr>
            <a:r>
              <a:rPr lang="en-AU" sz="1200" kern="1200" dirty="0" smtClean="0">
                <a:solidFill>
                  <a:schemeClr val="tx1"/>
                </a:solidFill>
                <a:latin typeface="+mn-lt"/>
                <a:ea typeface="+mn-ea"/>
                <a:cs typeface="+mn-cs"/>
              </a:rPr>
              <a:t> Adopt a covert orientation.</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o not draw attention to yourself or what you are carrying</a:t>
            </a:r>
          </a:p>
          <a:p>
            <a:pPr>
              <a:buFont typeface="Arial" pitchFamily="34" charset="0"/>
              <a:buChar char="•"/>
            </a:pPr>
            <a:r>
              <a:rPr lang="en-AU" sz="1200" kern="1200" dirty="0" smtClean="0">
                <a:solidFill>
                  <a:schemeClr val="tx1"/>
                </a:solidFill>
                <a:latin typeface="+mn-lt"/>
                <a:ea typeface="+mn-ea"/>
                <a:cs typeface="+mn-cs"/>
              </a:rPr>
              <a:t> Retain Situational Awareness.</a:t>
            </a:r>
            <a:r>
              <a:rPr lang="en-AU" sz="1200" kern="1200" baseline="0" dirty="0" smtClean="0">
                <a:solidFill>
                  <a:schemeClr val="tx1"/>
                </a:solidFill>
                <a:latin typeface="+mn-lt"/>
                <a:ea typeface="+mn-ea"/>
                <a:cs typeface="+mn-cs"/>
              </a:rPr>
              <a:t> C</a:t>
            </a:r>
            <a:r>
              <a:rPr lang="en-AU" sz="1200" kern="1200" dirty="0" smtClean="0">
                <a:solidFill>
                  <a:schemeClr val="tx1"/>
                </a:solidFill>
                <a:latin typeface="+mn-lt"/>
                <a:ea typeface="+mn-ea"/>
                <a:cs typeface="+mn-cs"/>
              </a:rPr>
              <a:t>onstantly scan for threats as opposed to looking without a focus</a:t>
            </a:r>
          </a:p>
          <a:p>
            <a:pPr>
              <a:buFont typeface="Arial" pitchFamily="34" charset="0"/>
              <a:buChar char="•"/>
            </a:pPr>
            <a:r>
              <a:rPr lang="en-AU" sz="1200" kern="1200" dirty="0" smtClean="0">
                <a:solidFill>
                  <a:schemeClr val="tx1"/>
                </a:solidFill>
                <a:latin typeface="+mn-lt"/>
                <a:ea typeface="+mn-ea"/>
                <a:cs typeface="+mn-cs"/>
              </a:rPr>
              <a:t> Take the shortest and quickest route between collection and delivery of the item (subject to planning requirements which require a different approach)</a:t>
            </a:r>
          </a:p>
          <a:p>
            <a:pPr>
              <a:buFont typeface="Arial" pitchFamily="34" charset="0"/>
              <a:buChar char="•"/>
            </a:pPr>
            <a:r>
              <a:rPr lang="en-AU" sz="1200" kern="1200" dirty="0" smtClean="0">
                <a:solidFill>
                  <a:schemeClr val="tx1"/>
                </a:solidFill>
                <a:latin typeface="+mn-lt"/>
                <a:ea typeface="+mn-ea"/>
                <a:cs typeface="+mn-cs"/>
              </a:rPr>
              <a:t> Use common sense.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can mean:</a:t>
            </a:r>
          </a:p>
          <a:p>
            <a:pPr lvl="1">
              <a:buFont typeface="Arial" pitchFamily="34" charset="0"/>
              <a:buChar char="•"/>
            </a:pPr>
            <a:r>
              <a:rPr lang="en-AU" sz="1200" kern="1200" dirty="0" smtClean="0">
                <a:solidFill>
                  <a:schemeClr val="tx1"/>
                </a:solidFill>
                <a:latin typeface="+mn-lt"/>
                <a:ea typeface="+mn-ea"/>
                <a:cs typeface="+mn-cs"/>
              </a:rPr>
              <a:t> Putting small items into your pocket rather than drawing attention to the item by using a container</a:t>
            </a:r>
          </a:p>
          <a:p>
            <a:pPr lvl="1">
              <a:buFont typeface="Arial" pitchFamily="34" charset="0"/>
              <a:buChar char="•"/>
            </a:pPr>
            <a:r>
              <a:rPr lang="en-AU" sz="1200" kern="1200" dirty="0" smtClean="0">
                <a:solidFill>
                  <a:schemeClr val="tx1"/>
                </a:solidFill>
                <a:latin typeface="+mn-lt"/>
                <a:ea typeface="+mn-ea"/>
                <a:cs typeface="+mn-cs"/>
              </a:rPr>
              <a:t> Varying plans on-the-run as the need to do so arises.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3144530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t>
            </a:r>
            <a:r>
              <a:rPr lang="en-AU" sz="1200" kern="1200" dirty="0" smtClean="0">
                <a:solidFill>
                  <a:schemeClr val="tx1"/>
                </a:solidFill>
                <a:latin typeface="+mn-lt"/>
                <a:ea typeface="+mn-ea"/>
                <a:cs typeface="+mn-cs"/>
              </a:rPr>
              <a:t>standard requirements for carriage duties within a venue:</a:t>
            </a:r>
          </a:p>
          <a:p>
            <a:pPr>
              <a:buFont typeface="Arial" pitchFamily="34" charset="0"/>
              <a:buChar char="•"/>
            </a:pPr>
            <a:r>
              <a:rPr lang="en-AU" sz="1200" kern="1200" dirty="0" smtClean="0">
                <a:solidFill>
                  <a:schemeClr val="tx1"/>
                </a:solidFill>
                <a:latin typeface="+mn-lt"/>
                <a:ea typeface="+mn-ea"/>
                <a:cs typeface="+mn-cs"/>
              </a:rPr>
              <a:t> Never handcuff items to yourself</a:t>
            </a:r>
          </a:p>
          <a:p>
            <a:pPr>
              <a:buFont typeface="Arial" pitchFamily="34" charset="0"/>
              <a:buChar char="•"/>
            </a:pPr>
            <a:r>
              <a:rPr lang="en-AU" sz="1200" kern="1200" dirty="0" smtClean="0">
                <a:solidFill>
                  <a:schemeClr val="tx1"/>
                </a:solidFill>
                <a:latin typeface="+mn-lt"/>
                <a:ea typeface="+mn-ea"/>
                <a:cs typeface="+mn-cs"/>
              </a:rPr>
              <a:t> Refuse to carry illegal items</a:t>
            </a:r>
          </a:p>
          <a:p>
            <a:pPr>
              <a:buFont typeface="Arial" pitchFamily="34" charset="0"/>
              <a:buChar char="•"/>
            </a:pPr>
            <a:r>
              <a:rPr lang="en-AU" sz="1200" kern="1200" dirty="0" smtClean="0">
                <a:solidFill>
                  <a:schemeClr val="tx1"/>
                </a:solidFill>
                <a:latin typeface="+mn-lt"/>
                <a:ea typeface="+mn-ea"/>
                <a:cs typeface="+mn-cs"/>
              </a:rPr>
              <a:t> Move quickly but without rushing or causing any sort of alarm among guests/members of the public.</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o not dawdle.</a:t>
            </a:r>
          </a:p>
          <a:p>
            <a:pPr>
              <a:buFont typeface="Arial" pitchFamily="34" charset="0"/>
              <a:buChar char="•"/>
            </a:pPr>
            <a:r>
              <a:rPr lang="en-AU" sz="1200" kern="1200" dirty="0" smtClean="0">
                <a:solidFill>
                  <a:schemeClr val="tx1"/>
                </a:solidFill>
                <a:latin typeface="+mn-lt"/>
                <a:ea typeface="+mn-ea"/>
                <a:cs typeface="+mn-cs"/>
              </a:rPr>
              <a:t> Be prepared to ask </a:t>
            </a:r>
            <a:r>
              <a:rPr lang="en-AU" sz="1200" i="1" kern="1200" dirty="0" smtClean="0">
                <a:solidFill>
                  <a:schemeClr val="tx1"/>
                </a:solidFill>
                <a:latin typeface="+mn-lt"/>
                <a:ea typeface="+mn-ea"/>
                <a:cs typeface="+mn-cs"/>
              </a:rPr>
              <a:t>immediately</a:t>
            </a:r>
            <a:r>
              <a:rPr lang="en-AU" sz="1200" kern="1200" dirty="0" smtClean="0">
                <a:solidFill>
                  <a:schemeClr val="tx1"/>
                </a:solidFill>
                <a:latin typeface="+mn-lt"/>
                <a:ea typeface="+mn-ea"/>
                <a:cs typeface="+mn-cs"/>
              </a:rPr>
              <a:t> for additional support if you believe the actual job you are being asked to undertake:</a:t>
            </a:r>
          </a:p>
          <a:p>
            <a:pPr lvl="1">
              <a:buFont typeface="Arial" pitchFamily="34" charset="0"/>
              <a:buChar char="•"/>
            </a:pPr>
            <a:r>
              <a:rPr lang="en-US" sz="1200" kern="1200" dirty="0" smtClean="0">
                <a:solidFill>
                  <a:schemeClr val="tx1"/>
                </a:solidFill>
                <a:latin typeface="+mn-lt"/>
                <a:ea typeface="+mn-ea"/>
                <a:cs typeface="+mn-cs"/>
              </a:rPr>
              <a:t> Is significantly different to the assignment you were given (and perhaps had planned for)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Poses a significant threat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Is such there is an evident demand for extra human and/or physical resources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Never put yourself in danger if a threat arises.</a:t>
            </a:r>
            <a:r>
              <a:rPr lang="en-AU" sz="1200" kern="1200" baseline="0" dirty="0" smtClean="0">
                <a:solidFill>
                  <a:schemeClr val="tx1"/>
                </a:solidFill>
                <a:latin typeface="+mn-lt"/>
                <a:ea typeface="+mn-ea"/>
                <a:cs typeface="+mn-cs"/>
              </a:rPr>
              <a:t> R</a:t>
            </a:r>
            <a:r>
              <a:rPr lang="en-AU" sz="1200" kern="1200" dirty="0" smtClean="0">
                <a:solidFill>
                  <a:schemeClr val="tx1"/>
                </a:solidFill>
                <a:latin typeface="+mn-lt"/>
                <a:ea typeface="+mn-ea"/>
                <a:cs typeface="+mn-cs"/>
              </a:rPr>
              <a:t>emember the basics:</a:t>
            </a:r>
          </a:p>
          <a:p>
            <a:pPr lvl="1">
              <a:buFont typeface="Arial" pitchFamily="34" charset="0"/>
              <a:buChar char="•"/>
            </a:pPr>
            <a:r>
              <a:rPr lang="en-US" sz="1200" kern="1200" dirty="0" smtClean="0">
                <a:solidFill>
                  <a:schemeClr val="tx1"/>
                </a:solidFill>
                <a:latin typeface="+mn-lt"/>
                <a:ea typeface="+mn-ea"/>
                <a:cs typeface="+mn-cs"/>
              </a:rPr>
              <a:t> Comply with demands made by attackers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Safety of people (yourself included) must always take priority over the security of items.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64748643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a:t>
            </a:r>
            <a:r>
              <a:rPr lang="en-AU" sz="1200" kern="1200" dirty="0" smtClean="0">
                <a:solidFill>
                  <a:schemeClr val="tx1"/>
                </a:solidFill>
                <a:latin typeface="+mn-lt"/>
                <a:ea typeface="+mn-ea"/>
                <a:cs typeface="+mn-cs"/>
              </a:rPr>
              <a:t>standard requirements for carriage duties within a venue:</a:t>
            </a:r>
          </a:p>
          <a:p>
            <a:pPr>
              <a:buFont typeface="Arial" pitchFamily="34" charset="0"/>
              <a:buChar char="•"/>
            </a:pPr>
            <a:r>
              <a:rPr lang="en-AU" sz="1200" kern="1200" dirty="0" smtClean="0">
                <a:solidFill>
                  <a:schemeClr val="tx1"/>
                </a:solidFill>
                <a:latin typeface="+mn-lt"/>
                <a:ea typeface="+mn-ea"/>
                <a:cs typeface="+mn-cs"/>
              </a:rPr>
              <a:t> Focus on the carry job as the prime objective:</a:t>
            </a:r>
          </a:p>
          <a:p>
            <a:pPr lvl="1">
              <a:buFont typeface="Arial" pitchFamily="34" charset="0"/>
              <a:buChar char="•"/>
            </a:pPr>
            <a:r>
              <a:rPr lang="en-AU" sz="1200" kern="1200" dirty="0" smtClean="0">
                <a:solidFill>
                  <a:schemeClr val="tx1"/>
                </a:solidFill>
                <a:latin typeface="+mn-lt"/>
                <a:ea typeface="+mn-ea"/>
                <a:cs typeface="+mn-cs"/>
              </a:rPr>
              <a:t> Do not get side-tracked</a:t>
            </a:r>
          </a:p>
          <a:p>
            <a:pPr lvl="1">
              <a:buFont typeface="Arial" pitchFamily="34" charset="0"/>
              <a:buChar char="•"/>
            </a:pPr>
            <a:r>
              <a:rPr lang="en-AU" sz="1200" kern="1200" dirty="0" smtClean="0">
                <a:solidFill>
                  <a:schemeClr val="tx1"/>
                </a:solidFill>
                <a:latin typeface="+mn-lt"/>
                <a:ea typeface="+mn-ea"/>
                <a:cs typeface="+mn-cs"/>
              </a:rPr>
              <a:t> Do not initiate or continue conversations with others:</a:t>
            </a:r>
          </a:p>
          <a:p>
            <a:pPr lvl="2">
              <a:buFont typeface="Arial" pitchFamily="34" charset="0"/>
              <a:buChar char="•"/>
            </a:pPr>
            <a:r>
              <a:rPr lang="en-AU" sz="1200" kern="1200" dirty="0" smtClean="0">
                <a:solidFill>
                  <a:schemeClr val="tx1"/>
                </a:solidFill>
                <a:latin typeface="+mn-lt"/>
                <a:ea typeface="+mn-ea"/>
                <a:cs typeface="+mn-cs"/>
              </a:rPr>
              <a:t> Tell other staff of the venue you are busy and cannot stop</a:t>
            </a:r>
          </a:p>
          <a:p>
            <a:pPr lvl="2">
              <a:buFont typeface="Arial" pitchFamily="34" charset="0"/>
              <a:buChar char="•"/>
            </a:pPr>
            <a:r>
              <a:rPr lang="en-AU" sz="1200" kern="1200" dirty="0" smtClean="0">
                <a:solidFill>
                  <a:schemeClr val="tx1"/>
                </a:solidFill>
                <a:latin typeface="+mn-lt"/>
                <a:ea typeface="+mn-ea"/>
                <a:cs typeface="+mn-cs"/>
              </a:rPr>
              <a:t> Terminate contact with others (for example, people who ask questions, for directions or for local or venue information) promptly but politely or arrange for someone else to assist</a:t>
            </a:r>
          </a:p>
          <a:p>
            <a:pPr lvl="1">
              <a:buFont typeface="Arial" pitchFamily="34" charset="0"/>
              <a:buChar char="•"/>
            </a:pPr>
            <a:r>
              <a:rPr lang="en-AU" sz="1200" kern="1200" dirty="0" smtClean="0">
                <a:solidFill>
                  <a:schemeClr val="tx1"/>
                </a:solidFill>
                <a:latin typeface="+mn-lt"/>
                <a:ea typeface="+mn-ea"/>
                <a:cs typeface="+mn-cs"/>
              </a:rPr>
              <a:t> Do not stop and get a drink or a snack</a:t>
            </a:r>
          </a:p>
          <a:p>
            <a:pPr lvl="1">
              <a:buFont typeface="Arial" pitchFamily="34" charset="0"/>
              <a:buChar char="•"/>
            </a:pPr>
            <a:r>
              <a:rPr lang="en-AU" sz="1200" kern="1200" dirty="0" smtClean="0">
                <a:solidFill>
                  <a:schemeClr val="tx1"/>
                </a:solidFill>
                <a:latin typeface="+mn-lt"/>
                <a:ea typeface="+mn-ea"/>
                <a:cs typeface="+mn-cs"/>
              </a:rPr>
              <a:t> Avoid using the rest room</a:t>
            </a:r>
          </a:p>
          <a:p>
            <a:pPr>
              <a:buFont typeface="Arial" pitchFamily="34" charset="0"/>
              <a:buChar char="•"/>
            </a:pPr>
            <a:r>
              <a:rPr lang="en-AU" sz="1200" kern="1200" dirty="0" smtClean="0">
                <a:solidFill>
                  <a:schemeClr val="tx1"/>
                </a:solidFill>
                <a:latin typeface="+mn-lt"/>
                <a:ea typeface="+mn-ea"/>
                <a:cs typeface="+mn-cs"/>
              </a:rPr>
              <a:t> Stay in communication (using radio, landline/internal phone system or cell phone) with nominated person/control room.</a:t>
            </a:r>
            <a:r>
              <a:rPr lang="en-AU" sz="1200" kern="1200" baseline="0" dirty="0" smtClean="0">
                <a:solidFill>
                  <a:schemeClr val="tx1"/>
                </a:solidFill>
                <a:latin typeface="+mn-lt"/>
                <a:ea typeface="+mn-ea"/>
                <a:cs typeface="+mn-cs"/>
              </a:rPr>
              <a:t> L</a:t>
            </a:r>
            <a:r>
              <a:rPr lang="en-AU" sz="1200" kern="1200" dirty="0" smtClean="0">
                <a:solidFill>
                  <a:schemeClr val="tx1"/>
                </a:solidFill>
                <a:latin typeface="+mn-lt"/>
                <a:ea typeface="+mn-ea"/>
                <a:cs typeface="+mn-cs"/>
              </a:rPr>
              <a:t>et them know:</a:t>
            </a:r>
          </a:p>
          <a:p>
            <a:pPr lvl="1">
              <a:buFont typeface="Arial" pitchFamily="34" charset="0"/>
              <a:buChar char="•"/>
            </a:pPr>
            <a:r>
              <a:rPr lang="en-AU" sz="1200" kern="1200" dirty="0" smtClean="0">
                <a:solidFill>
                  <a:schemeClr val="tx1"/>
                </a:solidFill>
                <a:latin typeface="+mn-lt"/>
                <a:ea typeface="+mn-ea"/>
                <a:cs typeface="+mn-cs"/>
              </a:rPr>
              <a:t> When you have arrived for collection of the item</a:t>
            </a:r>
          </a:p>
          <a:p>
            <a:pPr lvl="1">
              <a:buFont typeface="Arial" pitchFamily="34" charset="0"/>
              <a:buChar char="•"/>
            </a:pPr>
            <a:r>
              <a:rPr lang="en-AU" sz="1200" kern="1200" dirty="0" smtClean="0">
                <a:solidFill>
                  <a:schemeClr val="tx1"/>
                </a:solidFill>
                <a:latin typeface="+mn-lt"/>
                <a:ea typeface="+mn-ea"/>
                <a:cs typeface="+mn-cs"/>
              </a:rPr>
              <a:t> When you are about to depart</a:t>
            </a:r>
          </a:p>
          <a:p>
            <a:pPr lvl="1">
              <a:buFont typeface="Arial" pitchFamily="34" charset="0"/>
              <a:buChar char="•"/>
            </a:pPr>
            <a:r>
              <a:rPr lang="en-AU" sz="1200" kern="1200" dirty="0" smtClean="0">
                <a:solidFill>
                  <a:schemeClr val="tx1"/>
                </a:solidFill>
                <a:latin typeface="+mn-lt"/>
                <a:ea typeface="+mn-ea"/>
                <a:cs typeface="+mn-cs"/>
              </a:rPr>
              <a:t> The route you intend taking – if a plan has not been developed</a:t>
            </a:r>
          </a:p>
          <a:p>
            <a:pPr lvl="1">
              <a:buFont typeface="Arial" pitchFamily="34" charset="0"/>
              <a:buChar char="•"/>
            </a:pPr>
            <a:r>
              <a:rPr lang="en-AU" sz="1200" kern="1200" dirty="0" smtClean="0">
                <a:solidFill>
                  <a:schemeClr val="tx1"/>
                </a:solidFill>
                <a:latin typeface="+mn-lt"/>
                <a:ea typeface="+mn-ea"/>
                <a:cs typeface="+mn-cs"/>
              </a:rPr>
              <a:t> Destination</a:t>
            </a:r>
          </a:p>
          <a:p>
            <a:pPr lvl="1">
              <a:buFont typeface="Arial" pitchFamily="34" charset="0"/>
              <a:buChar char="•"/>
            </a:pPr>
            <a:r>
              <a:rPr lang="en-AU" sz="1200" kern="1200" dirty="0" smtClean="0">
                <a:solidFill>
                  <a:schemeClr val="tx1"/>
                </a:solidFill>
                <a:latin typeface="+mn-lt"/>
                <a:ea typeface="+mn-ea"/>
                <a:cs typeface="+mn-cs"/>
              </a:rPr>
              <a:t> Your expected arrival time at the destination.</a:t>
            </a:r>
          </a:p>
          <a:p>
            <a:pPr lvl="1">
              <a:buFont typeface="Arial" pitchFamily="34" charset="0"/>
              <a:buNone/>
            </a:pPr>
            <a:r>
              <a:rPr lang="en-AU" sz="1200" kern="1200" dirty="0" smtClean="0">
                <a:solidFill>
                  <a:schemeClr val="tx1"/>
                </a:solidFill>
                <a:latin typeface="+mn-lt"/>
                <a:ea typeface="+mn-ea"/>
                <a:cs typeface="+mn-cs"/>
              </a:rPr>
              <a:t>It is standard practice not to describe/identify the valuable item being carries on the radio.</a:t>
            </a:r>
          </a:p>
          <a:p>
            <a:pPr>
              <a:buFont typeface="Arial" pitchFamily="34" charset="0"/>
              <a:buChar char="•"/>
            </a:pPr>
            <a:r>
              <a:rPr lang="en-AU" sz="1200" kern="1200" dirty="0" smtClean="0">
                <a:solidFill>
                  <a:schemeClr val="tx1"/>
                </a:solidFill>
                <a:latin typeface="+mn-lt"/>
                <a:ea typeface="+mn-ea"/>
                <a:cs typeface="+mn-cs"/>
              </a:rPr>
              <a:t> Aim to stay (deep) within the venue to the greatest extent possible.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means:</a:t>
            </a:r>
          </a:p>
          <a:p>
            <a:pPr lvl="1">
              <a:buFont typeface="Arial" pitchFamily="34" charset="0"/>
              <a:buChar char="•"/>
            </a:pPr>
            <a:r>
              <a:rPr lang="en-AU" sz="1200" kern="1200" dirty="0" smtClean="0">
                <a:solidFill>
                  <a:schemeClr val="tx1"/>
                </a:solidFill>
                <a:latin typeface="+mn-lt"/>
                <a:ea typeface="+mn-ea"/>
                <a:cs typeface="+mn-cs"/>
              </a:rPr>
              <a:t> Using back-of-house corridors rather than public areas/spaces</a:t>
            </a:r>
          </a:p>
          <a:p>
            <a:pPr lvl="1">
              <a:buFont typeface="Arial" pitchFamily="34" charset="0"/>
              <a:buChar char="•"/>
            </a:pPr>
            <a:r>
              <a:rPr lang="en-AU" sz="1200" kern="1200" dirty="0" smtClean="0">
                <a:solidFill>
                  <a:schemeClr val="tx1"/>
                </a:solidFill>
                <a:latin typeface="+mn-lt"/>
                <a:ea typeface="+mn-ea"/>
                <a:cs typeface="+mn-cs"/>
              </a:rPr>
              <a:t> Using staff/room service elevators as opposed to public elevators</a:t>
            </a:r>
          </a:p>
          <a:p>
            <a:pPr lvl="1">
              <a:buFont typeface="Arial" pitchFamily="34" charset="0"/>
              <a:buChar char="•"/>
            </a:pPr>
            <a:r>
              <a:rPr lang="en-AU" sz="1200" kern="1200" dirty="0" smtClean="0">
                <a:solidFill>
                  <a:schemeClr val="tx1"/>
                </a:solidFill>
                <a:latin typeface="+mn-lt"/>
                <a:ea typeface="+mn-ea"/>
                <a:cs typeface="+mn-cs"/>
              </a:rPr>
              <a:t> Avoiding routes which will take you close to ingress and egress points.</a:t>
            </a:r>
          </a:p>
          <a:p>
            <a:pPr>
              <a:buFont typeface="Arial" pitchFamily="34" charset="0"/>
              <a:buNone/>
            </a:pPr>
            <a:endParaRPr lang="en-AU" noProof="0" dirty="0" smtClean="0"/>
          </a:p>
          <a:p>
            <a:pPr>
              <a:buFont typeface="Arial" pitchFamily="34" charset="0"/>
              <a:buNone/>
            </a:pPr>
            <a:r>
              <a:rPr lang="en-AU" b="1" noProof="0" dirty="0" smtClean="0"/>
              <a:t>Class Activity – Practical Small Group Exercise</a:t>
            </a:r>
          </a:p>
          <a:p>
            <a:pPr>
              <a:buFont typeface="Arial" pitchFamily="34" charset="0"/>
              <a:buNone/>
            </a:pPr>
            <a:r>
              <a:rPr lang="en-AU" b="0" noProof="0" dirty="0" smtClean="0"/>
              <a:t>Trainer divides class into small group and asks them to:</a:t>
            </a:r>
          </a:p>
          <a:p>
            <a:pPr>
              <a:buFont typeface="Arial" pitchFamily="34" charset="0"/>
              <a:buChar char="•"/>
            </a:pPr>
            <a:r>
              <a:rPr lang="en-AU" b="0" noProof="0" dirty="0" smtClean="0"/>
              <a:t> Plan and prepare a carry assignment</a:t>
            </a:r>
          </a:p>
          <a:p>
            <a:pPr>
              <a:buFont typeface="Arial" pitchFamily="34" charset="0"/>
              <a:buChar char="•"/>
            </a:pPr>
            <a:r>
              <a:rPr lang="en-AU" b="0" noProof="0" dirty="0" smtClean="0"/>
              <a:t> Execute implement the plans for the carry job.</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7712100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keys for responding to threats when undertaking carry assignments:</a:t>
            </a:r>
          </a:p>
          <a:p>
            <a:pPr>
              <a:buFont typeface="Arial" pitchFamily="34" charset="0"/>
              <a:buChar char="•"/>
            </a:pPr>
            <a:r>
              <a:rPr lang="en-AU" sz="1200" kern="1200" dirty="0" smtClean="0">
                <a:solidFill>
                  <a:schemeClr val="tx1"/>
                </a:solidFill>
                <a:latin typeface="+mn-lt"/>
                <a:ea typeface="+mn-ea"/>
                <a:cs typeface="+mn-cs"/>
              </a:rPr>
              <a:t> Avoid the threat.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the primary requirement in relation to responding to threats. You are expected to:</a:t>
            </a:r>
          </a:p>
          <a:p>
            <a:pPr lvl="1">
              <a:buFont typeface="Arial" pitchFamily="34" charset="0"/>
              <a:buChar char="•"/>
            </a:pPr>
            <a:r>
              <a:rPr lang="en-AU" sz="1200" kern="1200" dirty="0" smtClean="0">
                <a:solidFill>
                  <a:schemeClr val="tx1"/>
                </a:solidFill>
                <a:latin typeface="+mn-lt"/>
                <a:ea typeface="+mn-ea"/>
                <a:cs typeface="+mn-cs"/>
              </a:rPr>
              <a:t> ‘Work around’ a threat rather than:</a:t>
            </a:r>
          </a:p>
          <a:p>
            <a:pPr lvl="2">
              <a:buFont typeface="Arial" pitchFamily="34" charset="0"/>
              <a:buChar char="•"/>
            </a:pPr>
            <a:r>
              <a:rPr lang="en-AU" sz="1200" kern="1200" dirty="0" smtClean="0">
                <a:solidFill>
                  <a:schemeClr val="tx1"/>
                </a:solidFill>
                <a:latin typeface="+mn-lt"/>
                <a:ea typeface="+mn-ea"/>
                <a:cs typeface="+mn-cs"/>
              </a:rPr>
              <a:t> Confront it </a:t>
            </a:r>
          </a:p>
          <a:p>
            <a:pPr lvl="2">
              <a:buFont typeface="Arial" pitchFamily="34" charset="0"/>
              <a:buChar char="•"/>
            </a:pPr>
            <a:r>
              <a:rPr lang="en-AU" sz="1200" kern="1200" dirty="0" smtClean="0">
                <a:solidFill>
                  <a:schemeClr val="tx1"/>
                </a:solidFill>
                <a:latin typeface="+mn-lt"/>
                <a:ea typeface="+mn-ea"/>
                <a:cs typeface="+mn-cs"/>
              </a:rPr>
              <a:t> Continue with a job/assignment when a threat has been identified</a:t>
            </a:r>
          </a:p>
          <a:p>
            <a:pPr lvl="1">
              <a:buFont typeface="Arial" pitchFamily="34" charset="0"/>
              <a:buChar char="•"/>
            </a:pPr>
            <a:r>
              <a:rPr lang="en-AU" sz="1200" kern="1200" dirty="0" smtClean="0">
                <a:solidFill>
                  <a:schemeClr val="tx1"/>
                </a:solidFill>
                <a:latin typeface="+mn-lt"/>
                <a:ea typeface="+mn-ea"/>
                <a:cs typeface="+mn-cs"/>
              </a:rPr>
              <a:t> Respond according to any pre-determined emergency, evacuation of other plans or SOPs which apply</a:t>
            </a:r>
          </a:p>
          <a:p>
            <a:pPr>
              <a:buFont typeface="Arial" pitchFamily="34" charset="0"/>
              <a:buChar char="•"/>
            </a:pPr>
            <a:r>
              <a:rPr lang="en-AU" sz="1200" kern="1200" dirty="0" smtClean="0">
                <a:solidFill>
                  <a:schemeClr val="tx1"/>
                </a:solidFill>
                <a:latin typeface="+mn-lt"/>
                <a:ea typeface="+mn-ea"/>
                <a:cs typeface="+mn-cs"/>
              </a:rPr>
              <a:t> Alter your route:</a:t>
            </a:r>
          </a:p>
          <a:p>
            <a:pPr lvl="1">
              <a:buFont typeface="Arial" pitchFamily="34" charset="0"/>
              <a:buChar char="•"/>
            </a:pPr>
            <a:r>
              <a:rPr lang="en-US" sz="1200" kern="1200" dirty="0" smtClean="0">
                <a:solidFill>
                  <a:schemeClr val="tx1"/>
                </a:solidFill>
                <a:latin typeface="+mn-lt"/>
                <a:ea typeface="+mn-ea"/>
                <a:cs typeface="+mn-cs"/>
              </a:rPr>
              <a:t> If your are working a primary route, switch to a secondary one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If you have no planned route, shift from the one your are on using your venue knowledge (of layout, facilities, support) to determine a viable alternative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Notify others in the venue.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can be:</a:t>
            </a:r>
          </a:p>
          <a:p>
            <a:pPr lvl="1">
              <a:buFont typeface="Arial" pitchFamily="34" charset="0"/>
              <a:buChar char="•"/>
            </a:pPr>
            <a:r>
              <a:rPr lang="en-US" sz="1200" kern="1200" dirty="0" smtClean="0">
                <a:solidFill>
                  <a:schemeClr val="tx1"/>
                </a:solidFill>
                <a:latin typeface="+mn-lt"/>
                <a:ea typeface="+mn-ea"/>
                <a:cs typeface="+mn-cs"/>
              </a:rPr>
              <a:t> A telephone call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radio transmission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shouted instruction/warning to staff or members of the public</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Activation of some form of alarm.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Standard practice is to notify internally.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this notification has been received internally this should trigger automatic calls to:</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Police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External security.</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83095101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keys for responding to threats when undertaking carry assignments:</a:t>
            </a:r>
          </a:p>
          <a:p>
            <a:pPr>
              <a:buFont typeface="Arial" pitchFamily="34" charset="0"/>
              <a:buChar char="•"/>
            </a:pPr>
            <a:r>
              <a:rPr lang="en-AU" sz="1200" kern="1200" dirty="0" smtClean="0">
                <a:solidFill>
                  <a:schemeClr val="tx1"/>
                </a:solidFill>
                <a:latin typeface="+mn-lt"/>
                <a:ea typeface="+mn-ea"/>
                <a:cs typeface="+mn-cs"/>
              </a:rPr>
              <a:t> Call for back-up.</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n addition to notifying others of your suspicions or about an impending threat you should:</a:t>
            </a:r>
          </a:p>
          <a:p>
            <a:pPr lvl="1">
              <a:buFont typeface="Arial" pitchFamily="34" charset="0"/>
              <a:buChar char="•"/>
            </a:pPr>
            <a:r>
              <a:rPr lang="en-US" sz="1200" kern="1200" dirty="0" smtClean="0">
                <a:solidFill>
                  <a:schemeClr val="tx1"/>
                </a:solidFill>
                <a:latin typeface="+mn-lt"/>
                <a:ea typeface="+mn-ea"/>
                <a:cs typeface="+mn-cs"/>
              </a:rPr>
              <a:t> Ask for help – never assume it will be provided. Standard procedure is to send assistance but it should be standard to request 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Give details of location and assignment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Provide whatever information about the perceived threat you can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Act quickly.</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vital to take fast action. You significantly increase the potential for problems (and the possible impact of the problem) if you:</a:t>
            </a:r>
          </a:p>
          <a:p>
            <a:pPr lvl="1">
              <a:buFont typeface="Arial" pitchFamily="34" charset="0"/>
              <a:buChar char="•"/>
            </a:pPr>
            <a:r>
              <a:rPr lang="en-US" sz="1200" kern="1200" dirty="0" smtClean="0">
                <a:solidFill>
                  <a:schemeClr val="tx1"/>
                </a:solidFill>
                <a:latin typeface="+mn-lt"/>
                <a:ea typeface="+mn-ea"/>
                <a:cs typeface="+mn-cs"/>
              </a:rPr>
              <a:t> Over-think the situation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Procrastinate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Worry about the ramifications if you have over-reacted or made a wrong call</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Delay a call for back-up</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Wait ‘to see what happens’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Do two things at once</a:t>
            </a:r>
          </a:p>
          <a:p>
            <a:pPr lvl="1">
              <a:buFont typeface="Arial" pitchFamily="34" charset="0"/>
              <a:buChar char="•"/>
            </a:pPr>
            <a:r>
              <a:rPr lang="en-AU" sz="1200" kern="1200" dirty="0" smtClean="0">
                <a:solidFill>
                  <a:schemeClr val="tx1"/>
                </a:solidFill>
                <a:latin typeface="+mn-lt"/>
                <a:ea typeface="+mn-ea"/>
                <a:cs typeface="+mn-cs"/>
              </a:rPr>
              <a:t> When responding to a threat you have to develop (through practice) the ability and capacity to do two things (or more) at the same time.</a:t>
            </a:r>
          </a:p>
          <a:p>
            <a:pPr lvl="1">
              <a:buFont typeface="Arial" pitchFamily="34" charset="0"/>
              <a:buChar char="•"/>
            </a:pPr>
            <a:r>
              <a:rPr lang="en-AU" sz="1200" kern="1200" dirty="0" smtClean="0">
                <a:solidFill>
                  <a:schemeClr val="tx1"/>
                </a:solidFill>
                <a:latin typeface="+mn-lt"/>
                <a:ea typeface="+mn-ea"/>
                <a:cs typeface="+mn-cs"/>
              </a:rPr>
              <a:t> When you identify a threat you cannot simply apply the response options above in sequential order.</a:t>
            </a:r>
          </a:p>
          <a:p>
            <a:pPr lvl="1">
              <a:buFont typeface="Arial" pitchFamily="34" charset="0"/>
              <a:buChar char="•"/>
            </a:pPr>
            <a:r>
              <a:rPr lang="en-AU" sz="1200" kern="1200" dirty="0" smtClean="0">
                <a:solidFill>
                  <a:schemeClr val="tx1"/>
                </a:solidFill>
                <a:latin typeface="+mn-lt"/>
                <a:ea typeface="+mn-ea"/>
                <a:cs typeface="+mn-cs"/>
              </a:rPr>
              <a:t> There will always be a need to simultaneously (for example):</a:t>
            </a:r>
          </a:p>
          <a:p>
            <a:pPr lvl="2">
              <a:buFont typeface="Arial" pitchFamily="34" charset="0"/>
              <a:buChar char="•"/>
            </a:pPr>
            <a:r>
              <a:rPr lang="en-AU" sz="1200" kern="1200" dirty="0" smtClean="0">
                <a:solidFill>
                  <a:schemeClr val="tx1"/>
                </a:solidFill>
                <a:latin typeface="+mn-lt"/>
                <a:ea typeface="+mn-ea"/>
                <a:cs typeface="+mn-cs"/>
              </a:rPr>
              <a:t> Move to a different route</a:t>
            </a:r>
          </a:p>
          <a:p>
            <a:pPr lvl="2">
              <a:buFont typeface="Arial" pitchFamily="34" charset="0"/>
              <a:buChar char="•"/>
            </a:pPr>
            <a:r>
              <a:rPr lang="en-AU" sz="1200" kern="1200" dirty="0" smtClean="0">
                <a:solidFill>
                  <a:schemeClr val="tx1"/>
                </a:solidFill>
                <a:latin typeface="+mn-lt"/>
                <a:ea typeface="+mn-ea"/>
                <a:cs typeface="+mn-cs"/>
              </a:rPr>
              <a:t> Enhance your observation of suspected perpetrators</a:t>
            </a:r>
          </a:p>
          <a:p>
            <a:pPr lvl="2">
              <a:buFont typeface="Arial" pitchFamily="34" charset="0"/>
              <a:buChar char="•"/>
            </a:pPr>
            <a:r>
              <a:rPr lang="en-AU" sz="1200" kern="1200" dirty="0" smtClean="0">
                <a:solidFill>
                  <a:schemeClr val="tx1"/>
                </a:solidFill>
                <a:latin typeface="+mn-lt"/>
                <a:ea typeface="+mn-ea"/>
                <a:cs typeface="+mn-cs"/>
              </a:rPr>
              <a:t> Increase level of Situational Awareness</a:t>
            </a:r>
          </a:p>
          <a:p>
            <a:pPr lvl="2">
              <a:buFont typeface="Arial" pitchFamily="34" charset="0"/>
              <a:buChar char="•"/>
            </a:pPr>
            <a:r>
              <a:rPr lang="en-AU" sz="1200" kern="1200" dirty="0" smtClean="0">
                <a:solidFill>
                  <a:schemeClr val="tx1"/>
                </a:solidFill>
                <a:latin typeface="+mn-lt"/>
                <a:ea typeface="+mn-ea"/>
                <a:cs typeface="+mn-cs"/>
              </a:rPr>
              <a:t> Plan a response if the threat materialises into an actual incident</a:t>
            </a:r>
          </a:p>
          <a:p>
            <a:pPr lvl="2">
              <a:buFont typeface="Arial" pitchFamily="34" charset="0"/>
              <a:buChar char="•"/>
            </a:pPr>
            <a:r>
              <a:rPr lang="en-AU" sz="1200" kern="1200" dirty="0" smtClean="0">
                <a:solidFill>
                  <a:schemeClr val="tx1"/>
                </a:solidFill>
                <a:latin typeface="+mn-lt"/>
                <a:ea typeface="+mn-ea"/>
                <a:cs typeface="+mn-cs"/>
              </a:rPr>
              <a:t> Communicate with others/the control room to advise of your suspicions and the actions you are taking</a:t>
            </a:r>
          </a:p>
          <a:p>
            <a:pPr>
              <a:buFont typeface="Arial" pitchFamily="34" charset="0"/>
              <a:buChar char="•"/>
            </a:pPr>
            <a:r>
              <a:rPr lang="en-AU" sz="1200" kern="1200" dirty="0" smtClean="0">
                <a:solidFill>
                  <a:schemeClr val="tx1"/>
                </a:solidFill>
                <a:latin typeface="+mn-lt"/>
                <a:ea typeface="+mn-ea"/>
                <a:cs typeface="+mn-cs"/>
              </a:rPr>
              <a:t> Step up your observations by:</a:t>
            </a:r>
          </a:p>
          <a:p>
            <a:pPr lvl="1">
              <a:buFont typeface="Arial" pitchFamily="34" charset="0"/>
              <a:buChar char="•"/>
            </a:pPr>
            <a:r>
              <a:rPr lang="en-AU" sz="1200" kern="1200" dirty="0" smtClean="0">
                <a:solidFill>
                  <a:schemeClr val="tx1"/>
                </a:solidFill>
                <a:latin typeface="+mn-lt"/>
                <a:ea typeface="+mn-ea"/>
                <a:cs typeface="+mn-cs"/>
              </a:rPr>
              <a:t> Making a conscious effort to remember the situation and recall descriptions of those identified as possible offenders</a:t>
            </a:r>
          </a:p>
          <a:p>
            <a:pPr lvl="1">
              <a:buFont typeface="Arial" pitchFamily="34" charset="0"/>
              <a:buChar char="•"/>
            </a:pPr>
            <a:r>
              <a:rPr lang="en-AU" sz="1200" kern="1200" dirty="0" smtClean="0">
                <a:solidFill>
                  <a:schemeClr val="tx1"/>
                </a:solidFill>
                <a:latin typeface="+mn-lt"/>
                <a:ea typeface="+mn-ea"/>
                <a:cs typeface="+mn-cs"/>
              </a:rPr>
              <a:t> Using a camera to record the situation</a:t>
            </a:r>
          </a:p>
          <a:p>
            <a:pPr lvl="1">
              <a:buFont typeface="Arial" pitchFamily="34" charset="0"/>
              <a:buChar char="•"/>
            </a:pPr>
            <a:r>
              <a:rPr lang="en-AU" sz="1200" kern="1200" dirty="0" smtClean="0">
                <a:solidFill>
                  <a:schemeClr val="tx1"/>
                </a:solidFill>
                <a:latin typeface="+mn-lt"/>
                <a:ea typeface="+mn-ea"/>
                <a:cs typeface="+mn-cs"/>
              </a:rPr>
              <a:t> Taking notes</a:t>
            </a:r>
          </a:p>
          <a:p>
            <a:pPr lvl="1">
              <a:buFont typeface="Arial" pitchFamily="34" charset="0"/>
              <a:buChar char="•"/>
            </a:pPr>
            <a:r>
              <a:rPr lang="en-AU" sz="1200" kern="1200" dirty="0" smtClean="0">
                <a:solidFill>
                  <a:schemeClr val="tx1"/>
                </a:solidFill>
                <a:latin typeface="+mn-lt"/>
                <a:ea typeface="+mn-ea"/>
                <a:cs typeface="+mn-cs"/>
              </a:rPr>
              <a:t> Communicating observations to the control room/centre or other staff.</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410451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reminds students of standard industry-wide response options to an attack:</a:t>
            </a:r>
          </a:p>
          <a:p>
            <a:pPr>
              <a:buFont typeface="Arial" pitchFamily="34" charset="0"/>
              <a:buChar char="•"/>
            </a:pPr>
            <a:r>
              <a:rPr lang="en-AU" sz="1200" kern="1200" dirty="0" smtClean="0">
                <a:solidFill>
                  <a:schemeClr val="tx1"/>
                </a:solidFill>
                <a:latin typeface="+mn-lt"/>
                <a:ea typeface="+mn-ea"/>
                <a:cs typeface="+mn-cs"/>
              </a:rPr>
              <a:t> Never resist – allow offenders to take the items</a:t>
            </a:r>
          </a:p>
          <a:p>
            <a:pPr>
              <a:buFont typeface="Arial" pitchFamily="34" charset="0"/>
              <a:buChar char="•"/>
            </a:pPr>
            <a:r>
              <a:rPr lang="en-AU" sz="1200" kern="1200" dirty="0" smtClean="0">
                <a:solidFill>
                  <a:schemeClr val="tx1"/>
                </a:solidFill>
                <a:latin typeface="+mn-lt"/>
                <a:ea typeface="+mn-ea"/>
                <a:cs typeface="+mn-cs"/>
              </a:rPr>
              <a:t> Do not try to delay them</a:t>
            </a:r>
          </a:p>
          <a:p>
            <a:pPr>
              <a:buFont typeface="Arial" pitchFamily="34" charset="0"/>
              <a:buChar char="•"/>
            </a:pPr>
            <a:r>
              <a:rPr lang="en-AU" sz="1200" kern="1200" dirty="0" smtClean="0">
                <a:solidFill>
                  <a:schemeClr val="tx1"/>
                </a:solidFill>
                <a:latin typeface="+mn-lt"/>
                <a:ea typeface="+mn-ea"/>
                <a:cs typeface="+mn-cs"/>
              </a:rPr>
              <a:t> Avoid eye contact</a:t>
            </a:r>
          </a:p>
          <a:p>
            <a:pPr>
              <a:buFont typeface="Arial" pitchFamily="34" charset="0"/>
              <a:buChar char="•"/>
            </a:pPr>
            <a:r>
              <a:rPr lang="en-AU" sz="1200" kern="1200" dirty="0" smtClean="0">
                <a:solidFill>
                  <a:schemeClr val="tx1"/>
                </a:solidFill>
                <a:latin typeface="+mn-lt"/>
                <a:ea typeface="+mn-ea"/>
                <a:cs typeface="+mn-cs"/>
              </a:rPr>
              <a:t> Not speak unless spoken to</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84029760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reminding students of standard industry-wide response options to an attack:</a:t>
            </a:r>
          </a:p>
          <a:p>
            <a:pPr>
              <a:buFont typeface="Arial" pitchFamily="34" charset="0"/>
              <a:buChar char="•"/>
            </a:pPr>
            <a:r>
              <a:rPr lang="en-AU" sz="1200" kern="1200" dirty="0" smtClean="0">
                <a:solidFill>
                  <a:schemeClr val="tx1"/>
                </a:solidFill>
                <a:latin typeface="+mn-lt"/>
                <a:ea typeface="+mn-ea"/>
                <a:cs typeface="+mn-cs"/>
              </a:rPr>
              <a:t> Obey their commands</a:t>
            </a:r>
          </a:p>
          <a:p>
            <a:pPr>
              <a:buFont typeface="Arial" pitchFamily="34" charset="0"/>
              <a:buChar char="•"/>
            </a:pPr>
            <a:r>
              <a:rPr lang="en-AU" sz="1200" kern="1200" dirty="0" smtClean="0">
                <a:solidFill>
                  <a:schemeClr val="tx1"/>
                </a:solidFill>
                <a:latin typeface="+mn-lt"/>
                <a:ea typeface="+mn-ea"/>
                <a:cs typeface="+mn-cs"/>
              </a:rPr>
              <a:t> Do not try to be a hero</a:t>
            </a:r>
          </a:p>
          <a:p>
            <a:pPr>
              <a:buFont typeface="Arial" pitchFamily="34" charset="0"/>
              <a:buChar char="•"/>
            </a:pPr>
            <a:r>
              <a:rPr lang="en-AU" sz="1200" kern="1200" dirty="0" smtClean="0">
                <a:solidFill>
                  <a:schemeClr val="tx1"/>
                </a:solidFill>
                <a:latin typeface="+mn-lt"/>
                <a:ea typeface="+mn-ea"/>
                <a:cs typeface="+mn-cs"/>
              </a:rPr>
              <a:t> Protect the safety of people</a:t>
            </a:r>
          </a:p>
          <a:p>
            <a:pPr>
              <a:buFont typeface="Arial" pitchFamily="34" charset="0"/>
              <a:buChar char="•"/>
            </a:pPr>
            <a:r>
              <a:rPr lang="en-AU" sz="1200" kern="1200" dirty="0" smtClean="0">
                <a:solidFill>
                  <a:schemeClr val="tx1"/>
                </a:solidFill>
                <a:latin typeface="+mn-lt"/>
                <a:ea typeface="+mn-ea"/>
                <a:cs typeface="+mn-cs"/>
              </a:rPr>
              <a:t> Covertly note the appearance of the offenders, anything they say, how the leave the scene and the direction they take so it can be passed on to police after the incident.</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presents a simulated attack on staff carrying a valuable item and asks students to respond</a:t>
            </a:r>
            <a:r>
              <a:rPr lang="en-AU" b="0" baseline="0" noProof="0" dirty="0" smtClean="0"/>
              <a:t> appropriately.</a:t>
            </a:r>
          </a:p>
          <a:p>
            <a:pPr>
              <a:buFont typeface="Arial" pitchFamily="34" charset="0"/>
              <a:buNone/>
            </a:pPr>
            <a:r>
              <a:rPr lang="en-AU" b="0" baseline="0" noProof="0" dirty="0" smtClean="0"/>
              <a:t>Role play should be de-briefed after the event.</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409582008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recaps requirements for completing documents:</a:t>
            </a:r>
          </a:p>
          <a:p>
            <a:pPr>
              <a:buFont typeface="Arial" pitchFamily="34" charset="0"/>
              <a:buChar char="•"/>
            </a:pPr>
            <a:r>
              <a:rPr lang="en-AU" sz="1200" kern="1200" dirty="0" smtClean="0">
                <a:solidFill>
                  <a:schemeClr val="tx1"/>
                </a:solidFill>
                <a:latin typeface="+mn-lt"/>
                <a:ea typeface="+mn-ea"/>
                <a:cs typeface="+mn-cs"/>
              </a:rPr>
              <a:t> Complete it as soon as possible after the work has been finalised or as soon as possible after an incident/event has occurred</a:t>
            </a:r>
          </a:p>
          <a:p>
            <a:pPr>
              <a:buFont typeface="Arial" pitchFamily="34" charset="0"/>
              <a:buChar char="•"/>
            </a:pPr>
            <a:r>
              <a:rPr lang="en-AU" sz="1200" kern="1200" dirty="0" smtClean="0">
                <a:solidFill>
                  <a:schemeClr val="tx1"/>
                </a:solidFill>
                <a:latin typeface="+mn-lt"/>
                <a:ea typeface="+mn-ea"/>
                <a:cs typeface="+mn-cs"/>
              </a:rPr>
              <a:t> Fill an all parts/elements of the forms to be completed</a:t>
            </a:r>
          </a:p>
          <a:p>
            <a:pPr>
              <a:buFont typeface="Arial" pitchFamily="34" charset="0"/>
              <a:buChar char="•"/>
            </a:pPr>
            <a:r>
              <a:rPr lang="en-AU" sz="1200" kern="1200" dirty="0" smtClean="0">
                <a:solidFill>
                  <a:schemeClr val="tx1"/>
                </a:solidFill>
                <a:latin typeface="+mn-lt"/>
                <a:ea typeface="+mn-ea"/>
                <a:cs typeface="+mn-cs"/>
              </a:rPr>
              <a:t> When completing documents be:</a:t>
            </a:r>
          </a:p>
          <a:p>
            <a:pPr lvl="1">
              <a:buFont typeface="Arial" pitchFamily="34" charset="0"/>
              <a:buChar char="•"/>
            </a:pPr>
            <a:r>
              <a:rPr lang="en-US" sz="1200" kern="1200" dirty="0" smtClean="0">
                <a:solidFill>
                  <a:schemeClr val="tx1"/>
                </a:solidFill>
                <a:latin typeface="+mn-lt"/>
                <a:ea typeface="+mn-ea"/>
                <a:cs typeface="+mn-cs"/>
              </a:rPr>
              <a:t> Honest.</a:t>
            </a:r>
            <a:r>
              <a:rPr lang="en-US" sz="1200" kern="1200" baseline="0" dirty="0" smtClean="0">
                <a:solidFill>
                  <a:schemeClr val="tx1"/>
                </a:solidFill>
                <a:latin typeface="+mn-lt"/>
                <a:ea typeface="+mn-ea"/>
                <a:cs typeface="+mn-cs"/>
              </a:rPr>
              <a:t> N</a:t>
            </a:r>
            <a:r>
              <a:rPr lang="en-US" sz="1200" kern="1200" dirty="0" smtClean="0">
                <a:solidFill>
                  <a:schemeClr val="tx1"/>
                </a:solidFill>
                <a:latin typeface="+mn-lt"/>
                <a:ea typeface="+mn-ea"/>
                <a:cs typeface="+mn-cs"/>
              </a:rPr>
              <a:t>ever invent occurrences, words spoken, action taken or observations made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Accurate.</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here is a need to capture to the best extent possible what actually occurred.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Pay special attention to things such as dates, times, numbers, statistics, amounts, values, registration numbers of vehicles, physical appearances, and what people said and wore.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Comprehensive.</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t is best to provide too much information than to risk omitting the one fact/piece of information which solves the case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Sure to distinguish ‘known fact’ from opinion, belief or perception.</a:t>
            </a:r>
            <a:r>
              <a:rPr lang="en-US" sz="1200" kern="1200" baseline="0" dirty="0" smtClean="0">
                <a:solidFill>
                  <a:schemeClr val="tx1"/>
                </a:solidFill>
                <a:latin typeface="+mn-lt"/>
                <a:ea typeface="+mn-ea"/>
                <a:cs typeface="+mn-cs"/>
              </a:rPr>
              <a:t> I</a:t>
            </a:r>
            <a:r>
              <a:rPr lang="en-US" sz="1200" kern="1200" dirty="0" smtClean="0">
                <a:solidFill>
                  <a:schemeClr val="tx1"/>
                </a:solidFill>
                <a:latin typeface="+mn-lt"/>
                <a:ea typeface="+mn-ea"/>
                <a:cs typeface="+mn-cs"/>
              </a:rPr>
              <a:t>f you think it is absolutely necessary to include something which is the result of your intuition, make sure is flagged as such</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98409725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recapping requirements for completing documents:</a:t>
            </a:r>
          </a:p>
          <a:p>
            <a:pPr>
              <a:buFont typeface="Arial" pitchFamily="34" charset="0"/>
              <a:buChar char="•"/>
            </a:pPr>
            <a:r>
              <a:rPr lang="en-AU" sz="1200" kern="1200" dirty="0" smtClean="0">
                <a:solidFill>
                  <a:schemeClr val="tx1"/>
                </a:solidFill>
                <a:latin typeface="+mn-lt"/>
                <a:ea typeface="+mn-ea"/>
                <a:cs typeface="+mn-cs"/>
              </a:rPr>
              <a:t> Completed documentation needs to be ‘forwarded’.</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here is always a need to file a form or hand it in to a designated person/department</a:t>
            </a:r>
          </a:p>
          <a:p>
            <a:pPr>
              <a:buFont typeface="Arial" pitchFamily="34" charset="0"/>
              <a:buChar char="•"/>
            </a:pPr>
            <a:r>
              <a:rPr lang="en-AU" sz="1200" kern="1200" dirty="0" smtClean="0">
                <a:solidFill>
                  <a:schemeClr val="tx1"/>
                </a:solidFill>
                <a:latin typeface="+mn-lt"/>
                <a:ea typeface="+mn-ea"/>
                <a:cs typeface="+mn-cs"/>
              </a:rPr>
              <a:t> In-house/on-the-job training will teach you:</a:t>
            </a:r>
          </a:p>
          <a:p>
            <a:pPr lvl="1">
              <a:buFont typeface="Arial" pitchFamily="34" charset="0"/>
              <a:buChar char="•"/>
            </a:pPr>
            <a:r>
              <a:rPr lang="en-AU" sz="1200" kern="1200" dirty="0" smtClean="0">
                <a:solidFill>
                  <a:schemeClr val="tx1"/>
                </a:solidFill>
                <a:latin typeface="+mn-lt"/>
                <a:ea typeface="+mn-ea"/>
                <a:cs typeface="+mn-cs"/>
              </a:rPr>
              <a:t> The documents to be completed</a:t>
            </a:r>
          </a:p>
          <a:p>
            <a:pPr lvl="1">
              <a:buFont typeface="Arial" pitchFamily="34" charset="0"/>
              <a:buChar char="•"/>
            </a:pPr>
            <a:r>
              <a:rPr lang="en-AU" sz="1200" kern="1200" dirty="0" smtClean="0">
                <a:solidFill>
                  <a:schemeClr val="tx1"/>
                </a:solidFill>
                <a:latin typeface="+mn-lt"/>
                <a:ea typeface="+mn-ea"/>
                <a:cs typeface="+mn-cs"/>
              </a:rPr>
              <a:t> How they need to be completed</a:t>
            </a:r>
          </a:p>
          <a:p>
            <a:pPr>
              <a:buFont typeface="Arial" pitchFamily="34" charset="0"/>
              <a:buChar char="•"/>
            </a:pPr>
            <a:r>
              <a:rPr lang="en-AU" sz="1200" kern="1200" dirty="0" smtClean="0">
                <a:solidFill>
                  <a:schemeClr val="tx1"/>
                </a:solidFill>
                <a:latin typeface="+mn-lt"/>
                <a:ea typeface="+mn-ea"/>
                <a:cs typeface="+mn-cs"/>
              </a:rPr>
              <a:t> Keep a copy of any records/reports you complete for your own records/purposes ‘after the event’ </a:t>
            </a:r>
          </a:p>
          <a:p>
            <a:pPr>
              <a:buFont typeface="Arial" pitchFamily="34" charset="0"/>
              <a:buChar char="•"/>
            </a:pPr>
            <a:r>
              <a:rPr lang="en-AU" sz="1200" kern="1200" dirty="0" smtClean="0">
                <a:solidFill>
                  <a:schemeClr val="tx1"/>
                </a:solidFill>
                <a:latin typeface="+mn-lt"/>
                <a:ea typeface="+mn-ea"/>
                <a:cs typeface="+mn-cs"/>
              </a:rPr>
              <a:t> Seek advice when uncertain about:</a:t>
            </a:r>
          </a:p>
          <a:p>
            <a:pPr lvl="1">
              <a:buFont typeface="Arial" pitchFamily="34" charset="0"/>
              <a:buChar char="•"/>
            </a:pPr>
            <a:r>
              <a:rPr lang="en-AU" sz="1200" kern="1200" dirty="0" smtClean="0">
                <a:solidFill>
                  <a:schemeClr val="tx1"/>
                </a:solidFill>
                <a:latin typeface="+mn-lt"/>
                <a:ea typeface="+mn-ea"/>
                <a:cs typeface="+mn-cs"/>
              </a:rPr>
              <a:t> Whether a record/report or documentation is required </a:t>
            </a:r>
          </a:p>
          <a:p>
            <a:pPr lvl="1">
              <a:buFont typeface="Arial" pitchFamily="34" charset="0"/>
              <a:buChar char="•"/>
            </a:pPr>
            <a:r>
              <a:rPr lang="en-AU" sz="1200" kern="1200" dirty="0" smtClean="0">
                <a:solidFill>
                  <a:schemeClr val="tx1"/>
                </a:solidFill>
                <a:latin typeface="+mn-lt"/>
                <a:ea typeface="+mn-ea"/>
                <a:cs typeface="+mn-cs"/>
              </a:rPr>
              <a:t> Details/information required.</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346962194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documents which may need to be completed:</a:t>
            </a:r>
          </a:p>
          <a:p>
            <a:pPr lvl="0">
              <a:buFont typeface="Arial" pitchFamily="34" charset="0"/>
              <a:buNone/>
            </a:pPr>
            <a:r>
              <a:rPr lang="en-AU" sz="1200" b="1" kern="1200" dirty="0" smtClean="0">
                <a:solidFill>
                  <a:schemeClr val="tx1"/>
                </a:solidFill>
                <a:latin typeface="+mn-lt"/>
                <a:ea typeface="+mn-ea"/>
                <a:cs typeface="+mn-cs"/>
              </a:rPr>
              <a:t>Assignment/job sheets – </a:t>
            </a:r>
            <a:r>
              <a:rPr lang="en-AU" sz="1200" kern="1200" dirty="0" smtClean="0">
                <a:solidFill>
                  <a:schemeClr val="tx1"/>
                </a:solidFill>
                <a:latin typeface="+mn-lt"/>
                <a:ea typeface="+mn-ea"/>
                <a:cs typeface="+mn-cs"/>
              </a:rPr>
              <a:t>completed at the end of the allocated assignment to:</a:t>
            </a:r>
          </a:p>
          <a:p>
            <a:pPr lvl="0">
              <a:buFont typeface="Arial" pitchFamily="34" charset="0"/>
              <a:buChar char="•"/>
            </a:pPr>
            <a:r>
              <a:rPr lang="en-US" sz="1200" kern="1200" dirty="0" smtClean="0">
                <a:solidFill>
                  <a:schemeClr val="tx1"/>
                </a:solidFill>
                <a:latin typeface="+mn-lt"/>
                <a:ea typeface="+mn-ea"/>
                <a:cs typeface="+mn-cs"/>
              </a:rPr>
              <a:t> Confirm the assignment was competed</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Verify staff who completed the work</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Show the time taken, resources used and date/s of the task</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Indicate any problems or issues with the work performed.</a:t>
            </a: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Bills of lading </a:t>
            </a:r>
            <a:r>
              <a:rPr lang="en-AU" sz="1200" kern="1200" dirty="0" smtClean="0">
                <a:solidFill>
                  <a:schemeClr val="tx1"/>
                </a:solidFill>
                <a:latin typeface="+mn-lt"/>
                <a:ea typeface="+mn-ea"/>
                <a:cs typeface="+mn-cs"/>
              </a:rPr>
              <a:t>(or similar documents) which are necessary to:</a:t>
            </a:r>
          </a:p>
          <a:p>
            <a:pPr lvl="0">
              <a:buFont typeface="Arial" pitchFamily="34" charset="0"/>
              <a:buChar char="•"/>
            </a:pPr>
            <a:r>
              <a:rPr lang="en-US" sz="1200" kern="1200" dirty="0" smtClean="0">
                <a:solidFill>
                  <a:schemeClr val="tx1"/>
                </a:solidFill>
                <a:latin typeface="+mn-lt"/>
                <a:ea typeface="+mn-ea"/>
                <a:cs typeface="+mn-cs"/>
              </a:rPr>
              <a:t> Prove the valuables (by description and number) being carried were handed over to (as appropriate):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Another person or company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Another venue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transport provider</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Relieve the venue of obligations from the time the bill of lading was signed by the other party.</a:t>
            </a: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Insurance claims</a:t>
            </a:r>
            <a:r>
              <a:rPr lang="en-AU" sz="1200" kern="1200" dirty="0" smtClean="0">
                <a:solidFill>
                  <a:schemeClr val="tx1"/>
                </a:solidFill>
                <a:latin typeface="+mn-lt"/>
                <a:ea typeface="+mn-ea"/>
                <a:cs typeface="+mn-cs"/>
              </a:rPr>
              <a:t> which need to be completed whenever a claim is made against an insurance policy held by the venue. You will normally be required to provide supporting information for your supervisor to complete this form, and they will ask you for details regarding:</a:t>
            </a:r>
          </a:p>
          <a:p>
            <a:pPr lvl="0">
              <a:buFont typeface="Arial" pitchFamily="34" charset="0"/>
              <a:buChar char="•"/>
            </a:pPr>
            <a:r>
              <a:rPr lang="en-US" sz="1200" kern="1200" dirty="0" smtClean="0">
                <a:solidFill>
                  <a:schemeClr val="tx1"/>
                </a:solidFill>
                <a:latin typeface="+mn-lt"/>
                <a:ea typeface="+mn-ea"/>
                <a:cs typeface="+mn-cs"/>
              </a:rPr>
              <a:t> The incident giving rise to whatever caused the need for a claim to be lodged</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Facts, dates, times and specific information about the event/incident </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Details of the item/s stolen or damaged and/or injuries sustained</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Preventative action taken to avoid the incident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Responses taken after the event.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distributes and discusses use/completion of documents listed on slide.</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69309004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documents which may need to be completed:</a:t>
            </a:r>
          </a:p>
          <a:p>
            <a:r>
              <a:rPr lang="en-AU" sz="1200" b="1" kern="1200" dirty="0" smtClean="0">
                <a:solidFill>
                  <a:schemeClr val="tx1"/>
                </a:solidFill>
                <a:latin typeface="+mn-lt"/>
                <a:ea typeface="+mn-ea"/>
                <a:cs typeface="+mn-cs"/>
              </a:rPr>
              <a:t>Internal security request forms.</a:t>
            </a:r>
            <a:r>
              <a:rPr lang="en-AU" sz="1200" b="1"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These are competed:</a:t>
            </a:r>
          </a:p>
          <a:p>
            <a:pPr>
              <a:buFont typeface="Arial" pitchFamily="34" charset="0"/>
              <a:buChar char="•"/>
            </a:pPr>
            <a:r>
              <a:rPr lang="en-US" sz="1200" kern="1200" dirty="0" smtClean="0">
                <a:solidFill>
                  <a:schemeClr val="tx1"/>
                </a:solidFill>
                <a:latin typeface="+mn-lt"/>
                <a:ea typeface="+mn-ea"/>
                <a:cs typeface="+mn-cs"/>
              </a:rPr>
              <a:t> When a new or modified risk/threat is identified as part of the activities involved in discharging other escort duties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To request: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Changes to established plans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More/different resources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Modifications or additions to existing SOPs and policies.</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Security lodgement forms.</a:t>
            </a:r>
            <a:r>
              <a:rPr lang="en-AU" sz="1200" kern="1200" dirty="0" smtClean="0">
                <a:solidFill>
                  <a:schemeClr val="tx1"/>
                </a:solidFill>
                <a:latin typeface="+mn-lt"/>
                <a:ea typeface="+mn-ea"/>
                <a:cs typeface="+mn-cs"/>
              </a:rPr>
              <a:t> These are forms which may have been competed:</a:t>
            </a:r>
          </a:p>
          <a:p>
            <a:pPr>
              <a:buFont typeface="Arial" pitchFamily="34" charset="0"/>
              <a:buChar char="•"/>
            </a:pPr>
            <a:r>
              <a:rPr lang="en-US" sz="1200" kern="1200" dirty="0" smtClean="0">
                <a:solidFill>
                  <a:schemeClr val="tx1"/>
                </a:solidFill>
                <a:latin typeface="+mn-lt"/>
                <a:ea typeface="+mn-ea"/>
                <a:cs typeface="+mn-cs"/>
              </a:rPr>
              <a:t> By guests when items are collected from them for carriage to safe-keeping</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By guests/clients who lodge items for safe-keeping with the venue</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By you when you lodge guest/client or venue valuables with a third party provider (such as a bank or an external security company) for safe-keeping.</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Security threat reports </a:t>
            </a:r>
            <a:r>
              <a:rPr lang="en-AU" sz="1200" kern="1200" dirty="0" smtClean="0">
                <a:solidFill>
                  <a:schemeClr val="tx1"/>
                </a:solidFill>
                <a:latin typeface="+mn-lt"/>
                <a:ea typeface="+mn-ea"/>
                <a:cs typeface="+mn-cs"/>
              </a:rPr>
              <a:t>incorporating suspicious person report completed at the end-of-shift to:</a:t>
            </a:r>
          </a:p>
          <a:p>
            <a:pPr>
              <a:buFont typeface="Arial" pitchFamily="34" charset="0"/>
              <a:buChar char="•"/>
            </a:pPr>
            <a:r>
              <a:rPr lang="en-US" sz="1200" kern="1200" dirty="0" smtClean="0">
                <a:solidFill>
                  <a:schemeClr val="tx1"/>
                </a:solidFill>
                <a:latin typeface="+mn-lt"/>
                <a:ea typeface="+mn-ea"/>
                <a:cs typeface="+mn-cs"/>
              </a:rPr>
              <a:t> Communicate situations which are believed to give rise to a new or modified threat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Communicate updated evidence related to established/identified threats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Give details of suspicious persons and suspicious activity.</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distributes and discusses use/completion of documents listed on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179999090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documents which may need to be completed:</a:t>
            </a:r>
          </a:p>
          <a:p>
            <a:r>
              <a:rPr lang="en-AU" sz="1200" b="1" kern="1200" dirty="0" smtClean="0">
                <a:solidFill>
                  <a:schemeClr val="tx1"/>
                </a:solidFill>
                <a:latin typeface="+mn-lt"/>
                <a:ea typeface="+mn-ea"/>
                <a:cs typeface="+mn-cs"/>
              </a:rPr>
              <a:t>Receipts </a:t>
            </a:r>
            <a:r>
              <a:rPr lang="en-AU" sz="1200" kern="1200" dirty="0" smtClean="0">
                <a:solidFill>
                  <a:schemeClr val="tx1"/>
                </a:solidFill>
                <a:latin typeface="+mn-lt"/>
                <a:ea typeface="+mn-ea"/>
                <a:cs typeface="+mn-cs"/>
              </a:rPr>
              <a:t> from:</a:t>
            </a:r>
          </a:p>
          <a:p>
            <a:pPr>
              <a:buFont typeface="Arial" pitchFamily="34" charset="0"/>
              <a:buChar char="•"/>
            </a:pPr>
            <a:r>
              <a:rPr lang="en-US" sz="1200" kern="1200" dirty="0" smtClean="0">
                <a:solidFill>
                  <a:schemeClr val="tx1"/>
                </a:solidFill>
                <a:latin typeface="+mn-lt"/>
                <a:ea typeface="+mn-ea"/>
                <a:cs typeface="+mn-cs"/>
              </a:rPr>
              <a:t> Guests verifying they have had their valuable items returned to them</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Staff verifying: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They have received,</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for example, the cash/float carried to them</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amount of money taken from registers/POS terminals as part of standard register clearing operations during trade.</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 copy is also left in the register/terminal cash drawer.</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Incident reports</a:t>
            </a:r>
            <a:r>
              <a:rPr lang="en-AU" sz="1200" kern="1200" dirty="0" smtClean="0">
                <a:solidFill>
                  <a:schemeClr val="tx1"/>
                </a:solidFill>
                <a:latin typeface="+mn-lt"/>
                <a:ea typeface="+mn-ea"/>
                <a:cs typeface="+mn-cs"/>
              </a:rPr>
              <a:t> to record details relating to an incident which has occurred in the venue.</a:t>
            </a:r>
          </a:p>
          <a:p>
            <a:r>
              <a:rPr lang="en-AU" sz="1200" b="1" kern="1200" dirty="0" smtClean="0">
                <a:solidFill>
                  <a:schemeClr val="tx1"/>
                </a:solidFill>
                <a:latin typeface="+mn-lt"/>
                <a:ea typeface="+mn-ea"/>
                <a:cs typeface="+mn-cs"/>
              </a:rPr>
              <a:t>Witness statements</a:t>
            </a:r>
            <a:r>
              <a:rPr lang="en-AU" sz="1200" kern="1200" dirty="0" smtClean="0">
                <a:solidFill>
                  <a:schemeClr val="tx1"/>
                </a:solidFill>
                <a:latin typeface="+mn-lt"/>
                <a:ea typeface="+mn-ea"/>
                <a:cs typeface="+mn-cs"/>
              </a:rPr>
              <a:t> taken when members of the public are prepare to make statements regarding what they observed when an event, incident or offence took place.</a:t>
            </a:r>
          </a:p>
          <a:p>
            <a:r>
              <a:rPr lang="en-AU" sz="1200" b="1" kern="1200" dirty="0" smtClean="0">
                <a:solidFill>
                  <a:schemeClr val="tx1"/>
                </a:solidFill>
                <a:latin typeface="+mn-lt"/>
                <a:ea typeface="+mn-ea"/>
                <a:cs typeface="+mn-cs"/>
              </a:rPr>
              <a:t>Recommendations for action.</a:t>
            </a:r>
            <a:r>
              <a:rPr lang="en-AU" sz="1200" b="1"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This is a form allowing staff to formally convey suggestions and ideas for issues such as:</a:t>
            </a:r>
          </a:p>
          <a:p>
            <a:pPr>
              <a:buFont typeface="Arial" pitchFamily="34" charset="0"/>
              <a:buChar char="•"/>
            </a:pPr>
            <a:r>
              <a:rPr lang="en-US" sz="1200" kern="1200" dirty="0" smtClean="0">
                <a:solidFill>
                  <a:schemeClr val="tx1"/>
                </a:solidFill>
                <a:latin typeface="+mn-lt"/>
                <a:ea typeface="+mn-ea"/>
                <a:cs typeface="+mn-cs"/>
              </a:rPr>
              <a:t> Changes to SOPs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Introduction of new SOPs</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Replacement of items </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Disposal of faulty or damaged equipment</a:t>
            </a:r>
            <a:endParaRPr lang="en-AU" sz="1200" kern="1200" dirty="0" smtClean="0">
              <a:solidFill>
                <a:schemeClr val="tx1"/>
              </a:solidFill>
              <a:latin typeface="+mn-lt"/>
              <a:ea typeface="+mn-ea"/>
              <a:cs typeface="+mn-cs"/>
            </a:endParaRPr>
          </a:p>
          <a:p>
            <a:pPr>
              <a:buFont typeface="Arial" pitchFamily="34" charset="0"/>
              <a:buChar char="•"/>
            </a:pPr>
            <a:r>
              <a:rPr lang="en-US" sz="1200" kern="1200" dirty="0" smtClean="0">
                <a:solidFill>
                  <a:schemeClr val="tx1"/>
                </a:solidFill>
                <a:latin typeface="+mn-lt"/>
                <a:ea typeface="+mn-ea"/>
                <a:cs typeface="+mn-cs"/>
              </a:rPr>
              <a:t> Purchase of new/different items and equipment.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distributes and discusses use/completion of documents listed on slide.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64265570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82318252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97720494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42258113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storing valuable items by asking questions such as:</a:t>
            </a:r>
          </a:p>
          <a:p>
            <a:pPr>
              <a:buFont typeface="Arial" pitchFamily="34" charset="0"/>
              <a:buChar char="•"/>
            </a:pPr>
            <a:r>
              <a:rPr lang="en-US" b="0" dirty="0" smtClean="0"/>
              <a:t> Which staff normally store valuable items for guests?</a:t>
            </a:r>
          </a:p>
          <a:p>
            <a:pPr>
              <a:buFont typeface="Arial" pitchFamily="34" charset="0"/>
              <a:buChar char="•"/>
            </a:pPr>
            <a:r>
              <a:rPr lang="en-US" b="0" dirty="0" smtClean="0"/>
              <a:t> Is a charge levied for storing valuable items for guests?</a:t>
            </a:r>
          </a:p>
          <a:p>
            <a:pPr>
              <a:buFont typeface="Arial" pitchFamily="34" charset="0"/>
              <a:buChar char="•"/>
            </a:pPr>
            <a:r>
              <a:rPr lang="en-US" b="0" dirty="0" smtClean="0"/>
              <a:t> What</a:t>
            </a:r>
            <a:r>
              <a:rPr lang="en-US" b="0" baseline="0" dirty="0" smtClean="0"/>
              <a:t> details are required when a guest wants to store valuable items?</a:t>
            </a:r>
          </a:p>
          <a:p>
            <a:pPr>
              <a:buFont typeface="Arial" pitchFamily="34" charset="0"/>
              <a:buChar char="•"/>
            </a:pPr>
            <a:r>
              <a:rPr lang="en-US" b="0" baseline="0" dirty="0" smtClean="0"/>
              <a:t> What are the procedures for the guest to retrieve an item placed in safe keeping?</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287259674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and explains range of safe storage options for valuable items possibly available for guests in a venue:</a:t>
            </a:r>
          </a:p>
          <a:p>
            <a:r>
              <a:rPr lang="en-AU" sz="1200" b="1" kern="1200" dirty="0" smtClean="0">
                <a:solidFill>
                  <a:schemeClr val="tx1"/>
                </a:solidFill>
                <a:latin typeface="+mn-lt"/>
                <a:ea typeface="+mn-ea"/>
                <a:cs typeface="+mn-cs"/>
              </a:rPr>
              <a:t>In-room safes </a:t>
            </a:r>
          </a:p>
          <a:p>
            <a:pPr>
              <a:buFont typeface="Arial" pitchFamily="34" charset="0"/>
              <a:buChar char="•"/>
            </a:pPr>
            <a:r>
              <a:rPr lang="en-AU" sz="1200" kern="1200" dirty="0" smtClean="0">
                <a:solidFill>
                  <a:schemeClr val="tx1"/>
                </a:solidFill>
                <a:latin typeface="+mn-lt"/>
                <a:ea typeface="+mn-ea"/>
                <a:cs typeface="+mn-cs"/>
              </a:rPr>
              <a:t> These located in guest rooms and used by them to store small valuable items.</a:t>
            </a:r>
          </a:p>
          <a:p>
            <a:pPr>
              <a:buFont typeface="Arial" pitchFamily="34" charset="0"/>
              <a:buChar char="•"/>
            </a:pPr>
            <a:r>
              <a:rPr lang="en-AU" sz="1200" kern="1200" dirty="0" smtClean="0">
                <a:solidFill>
                  <a:schemeClr val="tx1"/>
                </a:solidFill>
                <a:latin typeface="+mn-lt"/>
                <a:ea typeface="+mn-ea"/>
                <a:cs typeface="+mn-cs"/>
              </a:rPr>
              <a:t> Guests create their own security code and access the safe whenever they want, storing whatever will fit into the safe.</a:t>
            </a:r>
          </a:p>
          <a:p>
            <a:pPr>
              <a:buFont typeface="Arial" pitchFamily="34" charset="0"/>
              <a:buChar char="•"/>
            </a:pPr>
            <a:r>
              <a:rPr lang="en-AU" sz="1200" kern="1200" dirty="0" smtClean="0">
                <a:solidFill>
                  <a:schemeClr val="tx1"/>
                </a:solidFill>
                <a:latin typeface="+mn-lt"/>
                <a:ea typeface="+mn-ea"/>
                <a:cs typeface="+mn-cs"/>
              </a:rPr>
              <a:t> Guests can change their code whenever they want.</a:t>
            </a:r>
          </a:p>
          <a:p>
            <a:pPr>
              <a:buFont typeface="Arial" pitchFamily="34" charset="0"/>
              <a:buChar char="•"/>
            </a:pPr>
            <a:r>
              <a:rPr lang="en-AU" sz="1200" kern="1200" dirty="0" smtClean="0">
                <a:solidFill>
                  <a:schemeClr val="tx1"/>
                </a:solidFill>
                <a:latin typeface="+mn-lt"/>
                <a:ea typeface="+mn-ea"/>
                <a:cs typeface="+mn-cs"/>
              </a:rPr>
              <a:t> User instructions for the safe are provided with the safe.</a:t>
            </a:r>
          </a:p>
          <a:p>
            <a:pPr>
              <a:buFont typeface="Arial" pitchFamily="34" charset="0"/>
              <a:buChar char="•"/>
            </a:pPr>
            <a:r>
              <a:rPr lang="en-AU" sz="1200" kern="1200" dirty="0" smtClean="0">
                <a:solidFill>
                  <a:schemeClr val="tx1"/>
                </a:solidFill>
                <a:latin typeface="+mn-lt"/>
                <a:ea typeface="+mn-ea"/>
                <a:cs typeface="+mn-cs"/>
              </a:rPr>
              <a:t> In many cases a guest will be prepared to use (or </a:t>
            </a:r>
            <a:r>
              <a:rPr lang="en-AU" sz="1200" i="1" kern="1200" dirty="0" smtClean="0">
                <a:solidFill>
                  <a:schemeClr val="tx1"/>
                </a:solidFill>
                <a:latin typeface="+mn-lt"/>
                <a:ea typeface="+mn-ea"/>
                <a:cs typeface="+mn-cs"/>
              </a:rPr>
              <a:t>prefer</a:t>
            </a:r>
            <a:r>
              <a:rPr lang="en-AU" sz="1200" kern="1200" dirty="0" smtClean="0">
                <a:solidFill>
                  <a:schemeClr val="tx1"/>
                </a:solidFill>
                <a:latin typeface="+mn-lt"/>
                <a:ea typeface="+mn-ea"/>
                <a:cs typeface="+mn-cs"/>
              </a:rPr>
              <a:t> to use) this option when they are made aware of it.</a:t>
            </a:r>
          </a:p>
          <a:p>
            <a:pPr>
              <a:buFont typeface="Arial" pitchFamily="34" charset="0"/>
              <a:buChar char="•"/>
            </a:pPr>
            <a:r>
              <a:rPr lang="en-AU" sz="1200" kern="1200" dirty="0" smtClean="0">
                <a:solidFill>
                  <a:schemeClr val="tx1"/>
                </a:solidFill>
                <a:latin typeface="+mn-lt"/>
                <a:ea typeface="+mn-ea"/>
                <a:cs typeface="+mn-cs"/>
              </a:rPr>
              <a:t> While many guests are familiar with the presence of in-room safes, many are not so it is always wise to make people aware of this option if called to a room to take an item for safe-keeping.</a:t>
            </a:r>
          </a:p>
          <a:p>
            <a:r>
              <a:rPr lang="en-AU" sz="1200" b="1" kern="1200" dirty="0" smtClean="0">
                <a:solidFill>
                  <a:schemeClr val="tx1"/>
                </a:solidFill>
                <a:latin typeface="+mn-lt"/>
                <a:ea typeface="+mn-ea"/>
                <a:cs typeface="+mn-cs"/>
              </a:rPr>
              <a:t>TDR safes </a:t>
            </a:r>
          </a:p>
          <a:p>
            <a:pPr>
              <a:buFont typeface="Arial" pitchFamily="34" charset="0"/>
              <a:buChar char="•"/>
            </a:pPr>
            <a:r>
              <a:rPr lang="en-AU" sz="1200" kern="1200" dirty="0" smtClean="0">
                <a:solidFill>
                  <a:schemeClr val="tx1"/>
                </a:solidFill>
                <a:latin typeface="+mn-lt"/>
                <a:ea typeface="+mn-ea"/>
                <a:cs typeface="+mn-cs"/>
              </a:rPr>
              <a:t> These are safes rated by manufacturers as being Torch and Drill Resistant</a:t>
            </a:r>
          </a:p>
          <a:p>
            <a:pPr>
              <a:buFont typeface="Arial" pitchFamily="34" charset="0"/>
              <a:buChar char="•"/>
            </a:pPr>
            <a:r>
              <a:rPr lang="en-AU" sz="1200" kern="1200" dirty="0" smtClean="0">
                <a:solidFill>
                  <a:schemeClr val="tx1"/>
                </a:solidFill>
                <a:latin typeface="+mn-lt"/>
                <a:ea typeface="+mn-ea"/>
                <a:cs typeface="+mn-cs"/>
              </a:rPr>
              <a:t> They are difficult for thieves to break into requiring them to use special equipment to gain entry, and requiring them to spend time to do so</a:t>
            </a:r>
          </a:p>
          <a:p>
            <a:pPr>
              <a:buFont typeface="Arial" pitchFamily="34" charset="0"/>
              <a:buChar char="•"/>
            </a:pPr>
            <a:r>
              <a:rPr lang="en-AU" sz="1200" kern="1200" dirty="0" smtClean="0">
                <a:solidFill>
                  <a:schemeClr val="tx1"/>
                </a:solidFill>
                <a:latin typeface="+mn-lt"/>
                <a:ea typeface="+mn-ea"/>
                <a:cs typeface="+mn-cs"/>
              </a:rPr>
              <a:t> These factors combine to:</a:t>
            </a:r>
          </a:p>
          <a:p>
            <a:pPr lvl="1">
              <a:buFont typeface="Arial" pitchFamily="34" charset="0"/>
              <a:buChar char="•"/>
            </a:pPr>
            <a:r>
              <a:rPr lang="en-AU" sz="1200" kern="1200" dirty="0" smtClean="0">
                <a:solidFill>
                  <a:schemeClr val="tx1"/>
                </a:solidFill>
                <a:latin typeface="+mn-lt"/>
                <a:ea typeface="+mn-ea"/>
                <a:cs typeface="+mn-cs"/>
              </a:rPr>
              <a:t> Deter offenders</a:t>
            </a:r>
          </a:p>
          <a:p>
            <a:pPr lvl="1">
              <a:buFont typeface="Arial" pitchFamily="34" charset="0"/>
              <a:buChar char="•"/>
            </a:pPr>
            <a:r>
              <a:rPr lang="en-AU" sz="1200" kern="1200" dirty="0" smtClean="0">
                <a:solidFill>
                  <a:schemeClr val="tx1"/>
                </a:solidFill>
                <a:latin typeface="+mn-lt"/>
                <a:ea typeface="+mn-ea"/>
                <a:cs typeface="+mn-cs"/>
              </a:rPr>
              <a:t> Increase their chance of detection if they do attempt to illegally access the safe.</a:t>
            </a:r>
          </a:p>
          <a:p>
            <a:r>
              <a:rPr lang="en-AU" sz="1200" b="1" kern="1200" dirty="0" smtClean="0">
                <a:solidFill>
                  <a:schemeClr val="tx1"/>
                </a:solidFill>
                <a:latin typeface="+mn-lt"/>
                <a:ea typeface="+mn-ea"/>
                <a:cs typeface="+mn-cs"/>
              </a:rPr>
              <a:t>In-floor safes </a:t>
            </a:r>
          </a:p>
          <a:p>
            <a:pPr>
              <a:buFont typeface="Arial" pitchFamily="34" charset="0"/>
              <a:buChar char="•"/>
            </a:pPr>
            <a:r>
              <a:rPr lang="en-AU" sz="1200" kern="1200" dirty="0" smtClean="0">
                <a:solidFill>
                  <a:schemeClr val="tx1"/>
                </a:solidFill>
                <a:latin typeface="+mn-lt"/>
                <a:ea typeface="+mn-ea"/>
                <a:cs typeface="+mn-cs"/>
              </a:rPr>
              <a:t> These are safes which are built into a concrete floor in an office</a:t>
            </a:r>
          </a:p>
          <a:p>
            <a:pPr>
              <a:buFont typeface="Arial" pitchFamily="34" charset="0"/>
              <a:buChar char="•"/>
            </a:pPr>
            <a:r>
              <a:rPr lang="en-AU" sz="1200" kern="1200" dirty="0" smtClean="0">
                <a:solidFill>
                  <a:schemeClr val="tx1"/>
                </a:solidFill>
                <a:latin typeface="+mn-lt"/>
                <a:ea typeface="+mn-ea"/>
                <a:cs typeface="+mn-cs"/>
              </a:rPr>
              <a:t> The fact they are set into concrete means they cannot be removed from the venue</a:t>
            </a:r>
          </a:p>
          <a:p>
            <a:pPr>
              <a:buFont typeface="Arial" pitchFamily="34" charset="0"/>
              <a:buChar char="•"/>
            </a:pPr>
            <a:r>
              <a:rPr lang="en-AU" sz="1200" kern="1200" dirty="0" smtClean="0">
                <a:solidFill>
                  <a:schemeClr val="tx1"/>
                </a:solidFill>
                <a:latin typeface="+mn-lt"/>
                <a:ea typeface="+mn-ea"/>
                <a:cs typeface="+mn-cs"/>
              </a:rPr>
              <a:t> Other safes may be able to be physically removed from the premises and taken to a remote location where they can be ‘broken’ with less concern for:</a:t>
            </a:r>
          </a:p>
          <a:p>
            <a:pPr lvl="1">
              <a:buFont typeface="Arial" pitchFamily="34" charset="0"/>
              <a:buChar char="•"/>
            </a:pPr>
            <a:r>
              <a:rPr lang="en-AU" sz="1200" kern="1200" dirty="0" smtClean="0">
                <a:solidFill>
                  <a:schemeClr val="tx1"/>
                </a:solidFill>
                <a:latin typeface="+mn-lt"/>
                <a:ea typeface="+mn-ea"/>
                <a:cs typeface="+mn-cs"/>
              </a:rPr>
              <a:t> The time required to do so </a:t>
            </a:r>
          </a:p>
          <a:p>
            <a:pPr lvl="1">
              <a:buFont typeface="Arial" pitchFamily="34" charset="0"/>
              <a:buChar char="•"/>
            </a:pPr>
            <a:r>
              <a:rPr lang="en-AU" sz="1200" kern="1200" dirty="0" smtClean="0">
                <a:solidFill>
                  <a:schemeClr val="tx1"/>
                </a:solidFill>
                <a:latin typeface="+mn-lt"/>
                <a:ea typeface="+mn-ea"/>
                <a:cs typeface="+mn-cs"/>
              </a:rPr>
              <a:t> The items which can or need to be used </a:t>
            </a:r>
          </a:p>
          <a:p>
            <a:pPr lvl="1">
              <a:buFont typeface="Arial" pitchFamily="34" charset="0"/>
              <a:buChar char="•"/>
            </a:pPr>
            <a:r>
              <a:rPr lang="en-AU" sz="1200" kern="1200" dirty="0" smtClean="0">
                <a:solidFill>
                  <a:schemeClr val="tx1"/>
                </a:solidFill>
                <a:latin typeface="+mn-lt"/>
                <a:ea typeface="+mn-ea"/>
                <a:cs typeface="+mn-cs"/>
              </a:rPr>
              <a:t> The noise generated as part of the safe-breaking activities</a:t>
            </a:r>
          </a:p>
          <a:p>
            <a:pPr lvl="1">
              <a:buFont typeface="Arial" pitchFamily="34" charset="0"/>
              <a:buChar char="•"/>
            </a:pPr>
            <a:r>
              <a:rPr lang="en-AU" sz="1200" kern="1200" dirty="0" smtClean="0">
                <a:solidFill>
                  <a:schemeClr val="tx1"/>
                </a:solidFill>
                <a:latin typeface="+mn-lt"/>
                <a:ea typeface="+mn-ea"/>
                <a:cs typeface="+mn-cs"/>
              </a:rPr>
              <a:t> They are also referred to as in-ground safes.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57691590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safe storage options for valuable items:</a:t>
            </a:r>
          </a:p>
          <a:p>
            <a:r>
              <a:rPr lang="en-AU" sz="1200" b="1" kern="1200" dirty="0" smtClean="0">
                <a:solidFill>
                  <a:schemeClr val="tx1"/>
                </a:solidFill>
                <a:latin typeface="+mn-lt"/>
                <a:ea typeface="+mn-ea"/>
                <a:cs typeface="+mn-cs"/>
              </a:rPr>
              <a:t>Time-delay safes</a:t>
            </a:r>
          </a:p>
          <a:p>
            <a:pPr>
              <a:buFont typeface="Arial" pitchFamily="34" charset="0"/>
              <a:buChar char="•"/>
            </a:pPr>
            <a:r>
              <a:rPr lang="en-AU" sz="1200" b="0" kern="1200" dirty="0" smtClean="0">
                <a:solidFill>
                  <a:schemeClr val="tx1"/>
                </a:solidFill>
                <a:latin typeface="+mn-lt"/>
                <a:ea typeface="+mn-ea"/>
                <a:cs typeface="+mn-cs"/>
              </a:rPr>
              <a:t> These work on the same principles identified for time-delay locks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are common where used in conjunction with cash drop boxes.</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Time-lock safes</a:t>
            </a:r>
          </a:p>
          <a:p>
            <a:pPr>
              <a:buFont typeface="Arial" pitchFamily="34" charset="0"/>
              <a:buChar char="•"/>
            </a:pPr>
            <a:r>
              <a:rPr lang="en-AU" sz="1200" b="0" kern="1200" dirty="0" smtClean="0">
                <a:solidFill>
                  <a:schemeClr val="tx1"/>
                </a:solidFill>
                <a:latin typeface="+mn-lt"/>
                <a:ea typeface="+mn-ea"/>
                <a:cs typeface="+mn-cs"/>
              </a:rPr>
              <a:t> These are safes (they may be TDR or in-ground) fitted with technology which prevents them from being opened between nominated hours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Once again, an over-ride facility may be incorporated into the safe</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Where time-lock safes are used it is usual to advertise/promote this fact.</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Vaults </a:t>
            </a:r>
          </a:p>
          <a:p>
            <a:pPr>
              <a:buFont typeface="Arial" pitchFamily="34" charset="0"/>
              <a:buChar char="•"/>
            </a:pPr>
            <a:r>
              <a:rPr lang="en-AU" sz="1200" kern="1200" dirty="0" smtClean="0">
                <a:solidFill>
                  <a:schemeClr val="tx1"/>
                </a:solidFill>
                <a:latin typeface="+mn-lt"/>
                <a:ea typeface="+mn-ea"/>
                <a:cs typeface="+mn-cs"/>
              </a:rPr>
              <a:t> These are walk-in safes with high-tech protection</a:t>
            </a:r>
          </a:p>
          <a:p>
            <a:pPr>
              <a:buFont typeface="Arial" pitchFamily="34" charset="0"/>
              <a:buChar char="•"/>
            </a:pPr>
            <a:r>
              <a:rPr lang="en-AU" sz="1200" kern="1200" dirty="0" smtClean="0">
                <a:solidFill>
                  <a:schemeClr val="tx1"/>
                </a:solidFill>
                <a:latin typeface="+mn-lt"/>
                <a:ea typeface="+mn-ea"/>
                <a:cs typeface="+mn-cs"/>
              </a:rPr>
              <a:t> Vaults are often available in 5-star plus hotels but moist venues do not offer vault facilities</a:t>
            </a:r>
          </a:p>
          <a:p>
            <a:pPr>
              <a:buFont typeface="Arial" pitchFamily="34" charset="0"/>
              <a:buChar char="•"/>
            </a:pPr>
            <a:r>
              <a:rPr lang="en-AU" sz="1200" kern="1200" dirty="0" smtClean="0">
                <a:solidFill>
                  <a:schemeClr val="tx1"/>
                </a:solidFill>
                <a:latin typeface="+mn-lt"/>
                <a:ea typeface="+mn-ea"/>
                <a:cs typeface="+mn-cs"/>
              </a:rPr>
              <a:t> Casinos will be more likely to have vault facilities and access to the vault is always restricted only to staff regardless of:</a:t>
            </a:r>
          </a:p>
          <a:p>
            <a:pPr lvl="1">
              <a:buFont typeface="Arial" pitchFamily="34" charset="0"/>
              <a:buChar char="•"/>
            </a:pPr>
            <a:r>
              <a:rPr lang="en-AU" sz="1200" kern="1200" dirty="0" smtClean="0">
                <a:solidFill>
                  <a:schemeClr val="tx1"/>
                </a:solidFill>
                <a:latin typeface="+mn-lt"/>
                <a:ea typeface="+mn-ea"/>
                <a:cs typeface="+mn-cs"/>
              </a:rPr>
              <a:t> Who the client/guest is</a:t>
            </a:r>
          </a:p>
          <a:p>
            <a:pPr lvl="1">
              <a:buFont typeface="Arial" pitchFamily="34" charset="0"/>
              <a:buChar char="•"/>
            </a:pPr>
            <a:r>
              <a:rPr lang="en-AU" sz="1200" kern="1200" dirty="0" smtClean="0">
                <a:solidFill>
                  <a:schemeClr val="tx1"/>
                </a:solidFill>
                <a:latin typeface="+mn-lt"/>
                <a:ea typeface="+mn-ea"/>
                <a:cs typeface="+mn-cs"/>
              </a:rPr>
              <a:t> What is being stored there</a:t>
            </a:r>
          </a:p>
          <a:p>
            <a:pPr>
              <a:buFont typeface="Arial" pitchFamily="34" charset="0"/>
              <a:buChar char="•"/>
            </a:pPr>
            <a:r>
              <a:rPr lang="en-AU" sz="1200" kern="1200" dirty="0" smtClean="0">
                <a:solidFill>
                  <a:schemeClr val="tx1"/>
                </a:solidFill>
                <a:latin typeface="+mn-lt"/>
                <a:ea typeface="+mn-ea"/>
                <a:cs typeface="+mn-cs"/>
              </a:rPr>
              <a:t> If a guest requires/insists on vault-storage it may be necessary to:</a:t>
            </a:r>
          </a:p>
          <a:p>
            <a:pPr lvl="1">
              <a:buFont typeface="Arial" pitchFamily="34" charset="0"/>
              <a:buChar char="•"/>
            </a:pPr>
            <a:r>
              <a:rPr lang="en-AU" sz="1200" kern="1200" dirty="0" smtClean="0">
                <a:solidFill>
                  <a:schemeClr val="tx1"/>
                </a:solidFill>
                <a:latin typeface="+mn-lt"/>
                <a:ea typeface="+mn-ea"/>
                <a:cs typeface="+mn-cs"/>
              </a:rPr>
              <a:t> Make arrangements with your bank who </a:t>
            </a:r>
            <a:r>
              <a:rPr lang="en-AU" sz="1200" i="1" kern="1200" dirty="0" smtClean="0">
                <a:solidFill>
                  <a:schemeClr val="tx1"/>
                </a:solidFill>
                <a:latin typeface="+mn-lt"/>
                <a:ea typeface="+mn-ea"/>
                <a:cs typeface="+mn-cs"/>
              </a:rPr>
              <a:t>may</a:t>
            </a:r>
            <a:r>
              <a:rPr lang="en-AU" sz="1200" kern="1200" dirty="0" smtClean="0">
                <a:solidFill>
                  <a:schemeClr val="tx1"/>
                </a:solidFill>
                <a:latin typeface="+mn-lt"/>
                <a:ea typeface="+mn-ea"/>
                <a:cs typeface="+mn-cs"/>
              </a:rPr>
              <a:t> be prepared to accommodate the request</a:t>
            </a:r>
          </a:p>
          <a:p>
            <a:pPr lvl="1">
              <a:buFont typeface="Arial" pitchFamily="34" charset="0"/>
              <a:buChar char="•"/>
            </a:pPr>
            <a:r>
              <a:rPr lang="en-AU" sz="1200" kern="1200" dirty="0" smtClean="0">
                <a:solidFill>
                  <a:schemeClr val="tx1"/>
                </a:solidFill>
                <a:latin typeface="+mn-lt"/>
                <a:ea typeface="+mn-ea"/>
                <a:cs typeface="+mn-cs"/>
              </a:rPr>
              <a:t> Engage the services of an external security provider</a:t>
            </a:r>
          </a:p>
          <a:p>
            <a:r>
              <a:rPr lang="en-AU" sz="1200" b="1" kern="1200" dirty="0" smtClean="0">
                <a:solidFill>
                  <a:schemeClr val="tx1"/>
                </a:solidFill>
                <a:latin typeface="+mn-lt"/>
                <a:ea typeface="+mn-ea"/>
                <a:cs typeface="+mn-cs"/>
              </a:rPr>
              <a:t>Off-site storage</a:t>
            </a:r>
          </a:p>
          <a:p>
            <a:pPr>
              <a:buFont typeface="Arial" pitchFamily="34" charset="0"/>
              <a:buChar char="•"/>
            </a:pPr>
            <a:r>
              <a:rPr lang="en-AU" sz="1200" b="0" kern="1200" dirty="0" smtClean="0">
                <a:solidFill>
                  <a:schemeClr val="tx1"/>
                </a:solidFill>
                <a:latin typeface="+mn-lt"/>
                <a:ea typeface="+mn-ea"/>
                <a:cs typeface="+mn-cs"/>
              </a:rPr>
              <a:t> This covers any safe-storage option provided:</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At another site, and/or</a:t>
            </a:r>
          </a:p>
          <a:p>
            <a:pPr lvl="1">
              <a:buFont typeface="Arial" pitchFamily="34" charset="0"/>
              <a:buChar char="•"/>
            </a:pPr>
            <a:r>
              <a:rPr lang="en-AU" sz="1200" kern="1200" dirty="0" smtClean="0">
                <a:solidFill>
                  <a:schemeClr val="tx1"/>
                </a:solidFill>
                <a:latin typeface="+mn-lt"/>
                <a:ea typeface="+mn-ea"/>
                <a:cs typeface="+mn-cs"/>
              </a:rPr>
              <a:t> By another business</a:t>
            </a:r>
          </a:p>
          <a:p>
            <a:pPr>
              <a:buFont typeface="Arial" pitchFamily="34" charset="0"/>
              <a:buChar char="•"/>
            </a:pPr>
            <a:r>
              <a:rPr lang="en-AU" sz="1200" b="0" kern="1200" dirty="0" smtClean="0">
                <a:solidFill>
                  <a:schemeClr val="tx1"/>
                </a:solidFill>
                <a:latin typeface="+mn-lt"/>
                <a:ea typeface="+mn-ea"/>
                <a:cs typeface="+mn-cs"/>
              </a:rPr>
              <a:t> Consideration of secure off-site storage must also embrace consideration of safe/secure transport strategies.</a:t>
            </a:r>
            <a:endParaRPr lang="en-AU" sz="1200" b="1"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 Activity – Excursion</a:t>
            </a:r>
          </a:p>
          <a:p>
            <a:pPr>
              <a:buFont typeface="Arial" pitchFamily="34" charset="0"/>
              <a:buNone/>
            </a:pPr>
            <a:r>
              <a:rPr lang="en-AU" b="0" noProof="0" dirty="0" smtClean="0"/>
              <a:t>Trainer arranges excursion/s to venues/s so students can view samples of safe storage options available.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36174262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examples of storage protocols which will</a:t>
            </a:r>
            <a:r>
              <a:rPr lang="en-AU" baseline="0" noProof="0" dirty="0" smtClean="0"/>
              <a:t> vary between venues</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The item may need to be sighted to determine its legitimacy, legality and safety.</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means you may be required to sight what is in a suitcase, briefcase of box/carton or other container before it can be accepted into storage</a:t>
            </a:r>
          </a:p>
          <a:p>
            <a:pPr>
              <a:buFont typeface="Arial" pitchFamily="34" charset="0"/>
              <a:buChar char="•"/>
            </a:pPr>
            <a:r>
              <a:rPr lang="en-AU" sz="1200" kern="1200" dirty="0" smtClean="0">
                <a:solidFill>
                  <a:schemeClr val="tx1"/>
                </a:solidFill>
                <a:latin typeface="+mn-lt"/>
                <a:ea typeface="+mn-ea"/>
                <a:cs typeface="+mn-cs"/>
              </a:rPr>
              <a:t> The item to be stored will need to be described by completing an appropriate document – see later slides</a:t>
            </a:r>
          </a:p>
          <a:p>
            <a:pPr>
              <a:buFont typeface="Arial" pitchFamily="34" charset="0"/>
              <a:buChar char="•"/>
            </a:pPr>
            <a:r>
              <a:rPr lang="en-AU" sz="1200" kern="1200" dirty="0" smtClean="0">
                <a:solidFill>
                  <a:schemeClr val="tx1"/>
                </a:solidFill>
                <a:latin typeface="+mn-lt"/>
                <a:ea typeface="+mn-ea"/>
                <a:cs typeface="+mn-cs"/>
              </a:rPr>
              <a:t> Providing guest with receipt for goods deposited for safe-keeping which:</a:t>
            </a:r>
          </a:p>
          <a:p>
            <a:pPr lvl="1">
              <a:buFont typeface="Arial" pitchFamily="34" charset="0"/>
              <a:buChar char="•"/>
            </a:pPr>
            <a:r>
              <a:rPr lang="en-AU" sz="1200" kern="1200" dirty="0" smtClean="0">
                <a:solidFill>
                  <a:schemeClr val="tx1"/>
                </a:solidFill>
                <a:latin typeface="+mn-lt"/>
                <a:ea typeface="+mn-ea"/>
                <a:cs typeface="+mn-cs"/>
              </a:rPr>
              <a:t> Verifies the item was lodged into safe-keeping in the venue</a:t>
            </a:r>
          </a:p>
          <a:p>
            <a:pPr lvl="1">
              <a:buFont typeface="Arial" pitchFamily="34" charset="0"/>
              <a:buChar char="•"/>
            </a:pPr>
            <a:r>
              <a:rPr lang="en-AU" sz="1200" kern="1200" dirty="0" smtClean="0">
                <a:solidFill>
                  <a:schemeClr val="tx1"/>
                </a:solidFill>
                <a:latin typeface="+mn-lt"/>
                <a:ea typeface="+mn-ea"/>
                <a:cs typeface="+mn-cs"/>
              </a:rPr>
              <a:t> Facilitates retrieval of the item due to information or coding on the receipt/document</a:t>
            </a:r>
          </a:p>
          <a:p>
            <a:pPr lvl="1">
              <a:buFont typeface="Arial" pitchFamily="34" charset="0"/>
              <a:buChar char="•"/>
            </a:pPr>
            <a:r>
              <a:rPr lang="en-AU" sz="1200" kern="1200" dirty="0" smtClean="0">
                <a:solidFill>
                  <a:schemeClr val="tx1"/>
                </a:solidFill>
                <a:latin typeface="+mn-lt"/>
                <a:ea typeface="+mn-ea"/>
                <a:cs typeface="+mn-cs"/>
              </a:rPr>
              <a:t> Provides the basis for the guest to obtain their item from safe-keeping</a:t>
            </a:r>
          </a:p>
          <a:p>
            <a:pPr>
              <a:buFont typeface="Arial" pitchFamily="34" charset="0"/>
              <a:buChar char="•"/>
            </a:pPr>
            <a:r>
              <a:rPr lang="en-AU" sz="1200" kern="1200" dirty="0" smtClean="0">
                <a:solidFill>
                  <a:schemeClr val="tx1"/>
                </a:solidFill>
                <a:latin typeface="+mn-lt"/>
                <a:ea typeface="+mn-ea"/>
                <a:cs typeface="+mn-cs"/>
              </a:rPr>
              <a:t> The need to explain the purpose, role, function and importance of any documents provided to them so they:</a:t>
            </a:r>
          </a:p>
          <a:p>
            <a:pPr lvl="1">
              <a:buFont typeface="Arial" pitchFamily="34" charset="0"/>
              <a:buChar char="•"/>
            </a:pPr>
            <a:r>
              <a:rPr lang="en-US" sz="1200" kern="1200" dirty="0" smtClean="0">
                <a:solidFill>
                  <a:schemeClr val="tx1"/>
                </a:solidFill>
                <a:latin typeface="+mn-lt"/>
                <a:ea typeface="+mn-ea"/>
                <a:cs typeface="+mn-cs"/>
              </a:rPr>
              <a:t> Understand the need to protect it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Realize what is required to redeem items.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57484748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explaining storage protocols:</a:t>
            </a:r>
          </a:p>
          <a:p>
            <a:pPr>
              <a:buFont typeface="Arial" pitchFamily="34" charset="0"/>
              <a:buChar char="•"/>
            </a:pPr>
            <a:r>
              <a:rPr lang="en-AU" sz="1200" kern="1200" dirty="0" smtClean="0">
                <a:solidFill>
                  <a:schemeClr val="tx1"/>
                </a:solidFill>
                <a:latin typeface="+mn-lt"/>
                <a:ea typeface="+mn-ea"/>
                <a:cs typeface="+mn-cs"/>
              </a:rPr>
              <a:t> Providing relevant information to the guest such as:</a:t>
            </a:r>
          </a:p>
          <a:p>
            <a:pPr lvl="1">
              <a:buFont typeface="Arial" pitchFamily="34" charset="0"/>
              <a:buChar char="•"/>
            </a:pPr>
            <a:r>
              <a:rPr lang="en-AU" sz="1200" kern="1200" dirty="0" smtClean="0">
                <a:solidFill>
                  <a:schemeClr val="tx1"/>
                </a:solidFill>
                <a:latin typeface="+mn-lt"/>
                <a:ea typeface="+mn-ea"/>
                <a:cs typeface="+mn-cs"/>
              </a:rPr>
              <a:t> Details of exclusion clauses and limitations of liability</a:t>
            </a:r>
          </a:p>
          <a:p>
            <a:pPr lvl="1">
              <a:buFont typeface="Arial" pitchFamily="34" charset="0"/>
              <a:buChar char="•"/>
            </a:pPr>
            <a:r>
              <a:rPr lang="en-AU" sz="1200" kern="1200" dirty="0" smtClean="0">
                <a:solidFill>
                  <a:schemeClr val="tx1"/>
                </a:solidFill>
                <a:latin typeface="+mn-lt"/>
                <a:ea typeface="+mn-ea"/>
                <a:cs typeface="+mn-cs"/>
              </a:rPr>
              <a:t> Procedure for reclaiming the item/s</a:t>
            </a:r>
          </a:p>
          <a:p>
            <a:pPr lvl="1">
              <a:buFont typeface="Arial" pitchFamily="34" charset="0"/>
              <a:buChar char="•"/>
            </a:pPr>
            <a:r>
              <a:rPr lang="en-AU" sz="1200" kern="1200" dirty="0" smtClean="0">
                <a:solidFill>
                  <a:schemeClr val="tx1"/>
                </a:solidFill>
                <a:latin typeface="+mn-lt"/>
                <a:ea typeface="+mn-ea"/>
                <a:cs typeface="+mn-cs"/>
              </a:rPr>
              <a:t> Times the item may be retrieved.</a:t>
            </a:r>
            <a:r>
              <a:rPr lang="en-AU" sz="1200" kern="1200" baseline="0" dirty="0" smtClean="0">
                <a:solidFill>
                  <a:schemeClr val="tx1"/>
                </a:solidFill>
                <a:latin typeface="+mn-lt"/>
                <a:ea typeface="+mn-ea"/>
                <a:cs typeface="+mn-cs"/>
              </a:rPr>
              <a:t> M</a:t>
            </a:r>
            <a:r>
              <a:rPr lang="en-AU" sz="1200" kern="1200" dirty="0" smtClean="0">
                <a:solidFill>
                  <a:schemeClr val="tx1"/>
                </a:solidFill>
                <a:latin typeface="+mn-lt"/>
                <a:ea typeface="+mn-ea"/>
                <a:cs typeface="+mn-cs"/>
              </a:rPr>
              <a:t>ost venues offer 24-hour service, some do not</a:t>
            </a:r>
          </a:p>
          <a:p>
            <a:pPr>
              <a:buFont typeface="Arial" pitchFamily="34" charset="0"/>
              <a:buChar char="•"/>
            </a:pPr>
            <a:r>
              <a:rPr lang="en-AU" sz="1200" kern="1200" dirty="0" smtClean="0">
                <a:solidFill>
                  <a:schemeClr val="tx1"/>
                </a:solidFill>
                <a:latin typeface="+mn-lt"/>
                <a:ea typeface="+mn-ea"/>
                <a:cs typeface="+mn-cs"/>
              </a:rPr>
              <a:t> Physically taking the item from the guest and:</a:t>
            </a:r>
          </a:p>
          <a:p>
            <a:pPr lvl="1">
              <a:buFont typeface="Arial" pitchFamily="34" charset="0"/>
              <a:buChar char="•"/>
            </a:pPr>
            <a:r>
              <a:rPr lang="en-AU" sz="1200" kern="1200" dirty="0" smtClean="0">
                <a:solidFill>
                  <a:schemeClr val="tx1"/>
                </a:solidFill>
                <a:latin typeface="+mn-lt"/>
                <a:ea typeface="+mn-ea"/>
                <a:cs typeface="+mn-cs"/>
              </a:rPr>
              <a:t> Placing the item/s into a designated location/area or the most appropriate location </a:t>
            </a:r>
          </a:p>
          <a:p>
            <a:pPr lvl="1">
              <a:buFont typeface="Arial" pitchFamily="34" charset="0"/>
              <a:buChar char="•"/>
            </a:pPr>
            <a:r>
              <a:rPr lang="en-AU" sz="1200" kern="1200" dirty="0" smtClean="0">
                <a:solidFill>
                  <a:schemeClr val="tx1"/>
                </a:solidFill>
                <a:latin typeface="+mn-lt"/>
                <a:ea typeface="+mn-ea"/>
                <a:cs typeface="+mn-cs"/>
              </a:rPr>
              <a:t> Allocating the item/s a log/identifying number and recording this on the slip/receipt and register/log</a:t>
            </a:r>
          </a:p>
          <a:p>
            <a:pPr lvl="1">
              <a:buFont typeface="Arial" pitchFamily="34" charset="0"/>
              <a:buChar char="•"/>
            </a:pPr>
            <a:r>
              <a:rPr lang="en-AU" sz="1200" kern="1200" dirty="0" smtClean="0">
                <a:solidFill>
                  <a:schemeClr val="tx1"/>
                </a:solidFill>
                <a:latin typeface="+mn-lt"/>
                <a:ea typeface="+mn-ea"/>
                <a:cs typeface="+mn-cs"/>
              </a:rPr>
              <a:t> Recording this location on the slip/receipt</a:t>
            </a:r>
          </a:p>
          <a:p>
            <a:pPr>
              <a:buFont typeface="Arial" pitchFamily="34" charset="0"/>
              <a:buChar char="•"/>
            </a:pPr>
            <a:r>
              <a:rPr lang="en-AU" sz="1200" kern="1200" dirty="0" smtClean="0">
                <a:solidFill>
                  <a:schemeClr val="tx1"/>
                </a:solidFill>
                <a:latin typeface="+mn-lt"/>
                <a:ea typeface="+mn-ea"/>
                <a:cs typeface="+mn-cs"/>
              </a:rPr>
              <a:t> Thanking the guest and offering some positive comment regarding the security of the item they have just lodged for safe-keeping.</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conducts role play of ‘guest’ (student) placing</a:t>
            </a:r>
            <a:r>
              <a:rPr lang="en-AU" b="0" baseline="0" noProof="0" dirty="0" smtClean="0"/>
              <a:t> a valuable item into storage.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53389868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advice when </a:t>
            </a:r>
            <a:r>
              <a:rPr lang="en-AU" sz="1200" kern="1200" dirty="0" smtClean="0">
                <a:solidFill>
                  <a:schemeClr val="tx1"/>
                </a:solidFill>
                <a:latin typeface="+mn-lt"/>
                <a:ea typeface="+mn-ea"/>
                <a:cs typeface="+mn-cs"/>
              </a:rPr>
              <a:t>there is a need to inform guests or clients about their storage options at a venue:</a:t>
            </a:r>
          </a:p>
          <a:p>
            <a:pPr>
              <a:buFont typeface="Arial" pitchFamily="34" charset="0"/>
              <a:buChar char="•"/>
            </a:pPr>
            <a:r>
              <a:rPr lang="en-AU" sz="1200" kern="1200" dirty="0" smtClean="0">
                <a:solidFill>
                  <a:schemeClr val="tx1"/>
                </a:solidFill>
                <a:latin typeface="+mn-lt"/>
                <a:ea typeface="+mn-ea"/>
                <a:cs typeface="+mn-cs"/>
              </a:rPr>
              <a:t> Focus on using effective:</a:t>
            </a:r>
          </a:p>
          <a:p>
            <a:pPr lvl="1">
              <a:buFont typeface="Arial" pitchFamily="34" charset="0"/>
              <a:buChar char="•"/>
            </a:pPr>
            <a:r>
              <a:rPr lang="en-AU" sz="1200" kern="1200" dirty="0" smtClean="0">
                <a:solidFill>
                  <a:schemeClr val="tx1"/>
                </a:solidFill>
                <a:latin typeface="+mn-lt"/>
                <a:ea typeface="+mn-ea"/>
                <a:cs typeface="+mn-cs"/>
              </a:rPr>
              <a:t> Communication skills</a:t>
            </a:r>
          </a:p>
          <a:p>
            <a:pPr lvl="1">
              <a:buFont typeface="Arial" pitchFamily="34" charset="0"/>
              <a:buChar char="•"/>
            </a:pPr>
            <a:r>
              <a:rPr lang="en-AU" sz="1200" kern="1200" dirty="0" smtClean="0">
                <a:solidFill>
                  <a:schemeClr val="tx1"/>
                </a:solidFill>
                <a:latin typeface="+mn-lt"/>
                <a:ea typeface="+mn-ea"/>
                <a:cs typeface="+mn-cs"/>
              </a:rPr>
              <a:t> Customer Relations skills</a:t>
            </a:r>
          </a:p>
          <a:p>
            <a:pPr lvl="1">
              <a:buFont typeface="Arial" pitchFamily="34" charset="0"/>
              <a:buChar char="•"/>
            </a:pPr>
            <a:r>
              <a:rPr lang="en-AU" sz="1200" kern="1200" dirty="0" smtClean="0">
                <a:solidFill>
                  <a:schemeClr val="tx1"/>
                </a:solidFill>
                <a:latin typeface="+mn-lt"/>
                <a:ea typeface="+mn-ea"/>
                <a:cs typeface="+mn-cs"/>
              </a:rPr>
              <a:t> Interpersonal skills</a:t>
            </a:r>
          </a:p>
          <a:p>
            <a:pPr>
              <a:buFont typeface="Arial" pitchFamily="34" charset="0"/>
              <a:buChar char="•"/>
            </a:pPr>
            <a:r>
              <a:rPr lang="en-AU" sz="1200" kern="1200" dirty="0" smtClean="0">
                <a:solidFill>
                  <a:schemeClr val="tx1"/>
                </a:solidFill>
                <a:latin typeface="+mn-lt"/>
                <a:ea typeface="+mn-ea"/>
                <a:cs typeface="+mn-cs"/>
              </a:rPr>
              <a:t> Allow the guest to inspect the facilities where this is approved/authorised by management</a:t>
            </a:r>
          </a:p>
          <a:p>
            <a:pPr>
              <a:buFont typeface="Arial" pitchFamily="34" charset="0"/>
              <a:buChar char="•"/>
            </a:pPr>
            <a:r>
              <a:rPr lang="en-AU" sz="1200" kern="1200" dirty="0" smtClean="0">
                <a:solidFill>
                  <a:schemeClr val="tx1"/>
                </a:solidFill>
                <a:latin typeface="+mn-lt"/>
                <a:ea typeface="+mn-ea"/>
                <a:cs typeface="+mn-cs"/>
              </a:rPr>
              <a:t> Take the time to:</a:t>
            </a:r>
          </a:p>
          <a:p>
            <a:pPr lvl="1">
              <a:buFont typeface="Arial" pitchFamily="34" charset="0"/>
              <a:buChar char="•"/>
            </a:pPr>
            <a:r>
              <a:rPr lang="en-AU" sz="1200" kern="1200" dirty="0" smtClean="0">
                <a:solidFill>
                  <a:schemeClr val="tx1"/>
                </a:solidFill>
                <a:latin typeface="+mn-lt"/>
                <a:ea typeface="+mn-ea"/>
                <a:cs typeface="+mn-cs"/>
              </a:rPr>
              <a:t> Present and differentiate between the options available</a:t>
            </a:r>
          </a:p>
          <a:p>
            <a:pPr lvl="1">
              <a:buFont typeface="Arial" pitchFamily="34" charset="0"/>
              <a:buChar char="•"/>
            </a:pPr>
            <a:r>
              <a:rPr lang="en-AU" sz="1200" kern="1200" dirty="0" smtClean="0">
                <a:solidFill>
                  <a:schemeClr val="tx1"/>
                </a:solidFill>
                <a:latin typeface="+mn-lt"/>
                <a:ea typeface="+mn-ea"/>
                <a:cs typeface="+mn-cs"/>
              </a:rPr>
              <a:t> Explain the features and benefits of the alternatives available</a:t>
            </a:r>
          </a:p>
          <a:p>
            <a:pPr lvl="1">
              <a:buFont typeface="Arial" pitchFamily="34" charset="0"/>
              <a:buChar char="•"/>
            </a:pPr>
            <a:r>
              <a:rPr lang="en-AU" sz="1200" kern="1200" dirty="0" smtClean="0">
                <a:solidFill>
                  <a:schemeClr val="tx1"/>
                </a:solidFill>
                <a:latin typeface="+mn-lt"/>
                <a:ea typeface="+mn-ea"/>
                <a:cs typeface="+mn-cs"/>
              </a:rPr>
              <a:t> Highlight any limitations relating to indemnity, coverage and/or liability</a:t>
            </a:r>
          </a:p>
          <a:p>
            <a:pPr lvl="1">
              <a:buFont typeface="Arial" pitchFamily="34" charset="0"/>
              <a:buChar char="•"/>
            </a:pPr>
            <a:r>
              <a:rPr lang="en-AU" sz="1200" kern="1200" dirty="0" smtClean="0">
                <a:solidFill>
                  <a:schemeClr val="tx1"/>
                </a:solidFill>
                <a:latin typeface="+mn-lt"/>
                <a:ea typeface="+mn-ea"/>
                <a:cs typeface="+mn-cs"/>
              </a:rPr>
              <a:t> Allow guests to make a decision – without rushing them</a:t>
            </a:r>
          </a:p>
          <a:p>
            <a:pPr>
              <a:buFont typeface="Arial" pitchFamily="34" charset="0"/>
              <a:buChar char="•"/>
            </a:pPr>
            <a:r>
              <a:rPr lang="en-AU" sz="1200" kern="1200" dirty="0" smtClean="0">
                <a:solidFill>
                  <a:schemeClr val="tx1"/>
                </a:solidFill>
                <a:latin typeface="+mn-lt"/>
                <a:ea typeface="+mn-ea"/>
                <a:cs typeface="+mn-cs"/>
              </a:rPr>
              <a:t> Provide any relevant data which may involve:</a:t>
            </a:r>
          </a:p>
          <a:p>
            <a:pPr lvl="1">
              <a:buFont typeface="Arial" pitchFamily="34" charset="0"/>
              <a:buChar char="•"/>
            </a:pPr>
            <a:r>
              <a:rPr lang="en-US" sz="1200" kern="1200" dirty="0" smtClean="0">
                <a:solidFill>
                  <a:schemeClr val="tx1"/>
                </a:solidFill>
                <a:latin typeface="+mn-lt"/>
                <a:ea typeface="+mn-ea"/>
                <a:cs typeface="+mn-cs"/>
              </a:rPr>
              <a:t> Reference to the venue website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 talk by the Head of Security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Distribution of printed material developed by the venue and/or provided by the manufacturer of the safe/s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Sell the service meaning you must:</a:t>
            </a:r>
          </a:p>
          <a:p>
            <a:pPr lvl="1">
              <a:buFont typeface="Arial" pitchFamily="34" charset="0"/>
              <a:buChar char="•"/>
            </a:pPr>
            <a:r>
              <a:rPr lang="en-AU" sz="1200" kern="1200" dirty="0" smtClean="0">
                <a:solidFill>
                  <a:schemeClr val="tx1"/>
                </a:solidFill>
                <a:latin typeface="+mn-lt"/>
                <a:ea typeface="+mn-ea"/>
                <a:cs typeface="+mn-cs"/>
              </a:rPr>
              <a:t> Advise of any charges involved</a:t>
            </a:r>
          </a:p>
          <a:p>
            <a:pPr lvl="1">
              <a:buFont typeface="Arial" pitchFamily="34" charset="0"/>
              <a:buChar char="•"/>
            </a:pPr>
            <a:r>
              <a:rPr lang="en-AU" sz="1200" kern="1200" dirty="0" smtClean="0">
                <a:solidFill>
                  <a:schemeClr val="tx1"/>
                </a:solidFill>
                <a:latin typeface="+mn-lt"/>
                <a:ea typeface="+mn-ea"/>
                <a:cs typeface="+mn-cs"/>
              </a:rPr>
              <a:t> Be enthusiastic</a:t>
            </a:r>
          </a:p>
          <a:p>
            <a:pPr lvl="1">
              <a:buFont typeface="Arial" pitchFamily="34" charset="0"/>
              <a:buChar char="•"/>
            </a:pPr>
            <a:r>
              <a:rPr lang="en-AU" sz="1200" kern="1200" dirty="0" smtClean="0">
                <a:solidFill>
                  <a:schemeClr val="tx1"/>
                </a:solidFill>
                <a:latin typeface="+mn-lt"/>
                <a:ea typeface="+mn-ea"/>
                <a:cs typeface="+mn-cs"/>
              </a:rPr>
              <a:t> Recommend an option to suit identified guest requirements</a:t>
            </a:r>
          </a:p>
          <a:p>
            <a:pPr lvl="1">
              <a:buFont typeface="Arial" pitchFamily="34" charset="0"/>
              <a:buChar char="•"/>
            </a:pPr>
            <a:r>
              <a:rPr lang="en-AU" sz="1200" kern="1200" dirty="0" smtClean="0">
                <a:solidFill>
                  <a:schemeClr val="tx1"/>
                </a:solidFill>
                <a:latin typeface="+mn-lt"/>
                <a:ea typeface="+mn-ea"/>
                <a:cs typeface="+mn-cs"/>
              </a:rPr>
              <a:t> Make reference to other guests who have used the safe/s and identification of items stored and duration of storage.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96630277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where they are unable to accept an item into storage for safe-keeping they should:</a:t>
            </a:r>
          </a:p>
          <a:p>
            <a:pPr>
              <a:buFont typeface="Arial" pitchFamily="34" charset="0"/>
              <a:buChar char="•"/>
            </a:pPr>
            <a:r>
              <a:rPr lang="en-AU" sz="1200" kern="1200" dirty="0" smtClean="0">
                <a:solidFill>
                  <a:schemeClr val="tx1"/>
                </a:solidFill>
                <a:latin typeface="+mn-lt"/>
                <a:ea typeface="+mn-ea"/>
                <a:cs typeface="+mn-cs"/>
              </a:rPr>
              <a:t> Apologize</a:t>
            </a:r>
          </a:p>
          <a:p>
            <a:pPr>
              <a:buFont typeface="Arial" pitchFamily="34" charset="0"/>
              <a:buChar char="•"/>
            </a:pPr>
            <a:r>
              <a:rPr lang="en-AU" sz="1200" kern="1200" dirty="0" smtClean="0">
                <a:solidFill>
                  <a:schemeClr val="tx1"/>
                </a:solidFill>
                <a:latin typeface="+mn-lt"/>
                <a:ea typeface="+mn-ea"/>
                <a:cs typeface="+mn-cs"/>
              </a:rPr>
              <a:t> Explain the reason</a:t>
            </a:r>
          </a:p>
          <a:p>
            <a:pPr>
              <a:buFont typeface="Arial" pitchFamily="34" charset="0"/>
              <a:buChar char="•"/>
            </a:pPr>
            <a:r>
              <a:rPr lang="en-AU" sz="1200" kern="1200" dirty="0" smtClean="0">
                <a:solidFill>
                  <a:schemeClr val="tx1"/>
                </a:solidFill>
                <a:latin typeface="+mn-lt"/>
                <a:ea typeface="+mn-ea"/>
                <a:cs typeface="+mn-cs"/>
              </a:rPr>
              <a:t> Suggest an alternative.</a:t>
            </a:r>
          </a:p>
          <a:p>
            <a:pPr>
              <a:buFont typeface="Arial" pitchFamily="34" charset="0"/>
              <a:buNone/>
            </a:pPr>
            <a:r>
              <a:rPr lang="en-AU" sz="1200" kern="1200" dirty="0" smtClean="0">
                <a:solidFill>
                  <a:schemeClr val="tx1"/>
                </a:solidFill>
                <a:latin typeface="+mn-lt"/>
                <a:ea typeface="+mn-ea"/>
                <a:cs typeface="+mn-cs"/>
              </a:rPr>
              <a:t>In addition you may be required to:</a:t>
            </a:r>
          </a:p>
          <a:p>
            <a:pPr>
              <a:buFont typeface="Arial" pitchFamily="34" charset="0"/>
              <a:buChar char="•"/>
            </a:pPr>
            <a:r>
              <a:rPr lang="en-AU" sz="1200" kern="1200" dirty="0" smtClean="0">
                <a:solidFill>
                  <a:schemeClr val="tx1"/>
                </a:solidFill>
                <a:latin typeface="+mn-lt"/>
                <a:ea typeface="+mn-ea"/>
                <a:cs typeface="+mn-cs"/>
              </a:rPr>
              <a:t> Complete a register, log or form reflecting the situation</a:t>
            </a:r>
          </a:p>
          <a:p>
            <a:pPr>
              <a:buFont typeface="Arial" pitchFamily="34" charset="0"/>
              <a:buChar char="•"/>
            </a:pPr>
            <a:r>
              <a:rPr lang="en-AU" sz="1200" kern="1200" dirty="0" smtClean="0">
                <a:solidFill>
                  <a:schemeClr val="tx1"/>
                </a:solidFill>
                <a:latin typeface="+mn-lt"/>
                <a:ea typeface="+mn-ea"/>
                <a:cs typeface="+mn-cs"/>
              </a:rPr>
              <a:t> Notify management.</a:t>
            </a:r>
          </a:p>
          <a:p>
            <a:pPr>
              <a:buFont typeface="Arial" pitchFamily="34" charset="0"/>
              <a:buNone/>
            </a:pPr>
            <a:endParaRPr lang="en-AU" b="0"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demonstrates/role plays how to decline an item and provides opportunity for students do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370376824"/>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requirements completion of documents relating to storage of guest valuables:</a:t>
            </a:r>
          </a:p>
          <a:p>
            <a:pPr>
              <a:buFont typeface="Arial" pitchFamily="34" charset="0"/>
              <a:buChar char="•"/>
            </a:pPr>
            <a:r>
              <a:rPr lang="en-AU" sz="1200" kern="1200" dirty="0" smtClean="0">
                <a:solidFill>
                  <a:schemeClr val="tx1"/>
                </a:solidFill>
                <a:latin typeface="+mn-lt"/>
                <a:ea typeface="+mn-ea"/>
                <a:cs typeface="+mn-cs"/>
              </a:rPr>
              <a:t> No items (valuables, luggage or personal property) can be accepted into secure storage unless the required documentation is completed</a:t>
            </a:r>
          </a:p>
          <a:p>
            <a:pPr lvl="1">
              <a:buFont typeface="Arial" pitchFamily="34" charset="0"/>
              <a:buChar char="•"/>
            </a:pPr>
            <a:r>
              <a:rPr lang="en-AU" sz="1200" kern="1200" dirty="0" smtClean="0">
                <a:solidFill>
                  <a:schemeClr val="tx1"/>
                </a:solidFill>
                <a:latin typeface="+mn-lt"/>
                <a:ea typeface="+mn-ea"/>
                <a:cs typeface="+mn-cs"/>
              </a:rPr>
              <a:t> Even where guests want to store items in the Baggage/Luggage Room an appropriate slip will, at least, need to be provided</a:t>
            </a:r>
          </a:p>
          <a:p>
            <a:pPr>
              <a:buFont typeface="Arial" pitchFamily="34" charset="0"/>
              <a:buChar char="•"/>
            </a:pPr>
            <a:r>
              <a:rPr lang="en-AU" sz="1200" kern="1200" dirty="0" smtClean="0">
                <a:solidFill>
                  <a:schemeClr val="tx1"/>
                </a:solidFill>
                <a:latin typeface="+mn-lt"/>
                <a:ea typeface="+mn-ea"/>
                <a:cs typeface="+mn-cs"/>
              </a:rPr>
              <a:t> The item to be stored will need to be described (see next dot point) by completing an appropriate document such as:</a:t>
            </a:r>
          </a:p>
          <a:p>
            <a:pPr lvl="1">
              <a:buFont typeface="Arial" pitchFamily="34" charset="0"/>
              <a:buChar char="•"/>
            </a:pPr>
            <a:r>
              <a:rPr lang="en-US" sz="1200" kern="1200" dirty="0" smtClean="0">
                <a:solidFill>
                  <a:schemeClr val="tx1"/>
                </a:solidFill>
                <a:latin typeface="+mn-lt"/>
                <a:ea typeface="+mn-ea"/>
                <a:cs typeface="+mn-cs"/>
              </a:rPr>
              <a:t> Storage Register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Storage form, slip or receipt or a similarly titled document.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 is possible more than one document may need to be completed.</a:t>
            </a:r>
            <a:r>
              <a:rPr lang="en-US" sz="1200" kern="1200" baseline="0" dirty="0" smtClean="0">
                <a:solidFill>
                  <a:schemeClr val="tx1"/>
                </a:solidFill>
                <a:latin typeface="+mn-lt"/>
                <a:ea typeface="+mn-ea"/>
                <a:cs typeface="+mn-cs"/>
              </a:rPr>
              <a:t> F</a:t>
            </a:r>
            <a:r>
              <a:rPr lang="en-US" sz="1200" kern="1200" dirty="0" smtClean="0">
                <a:solidFill>
                  <a:schemeClr val="tx1"/>
                </a:solidFill>
                <a:latin typeface="+mn-lt"/>
                <a:ea typeface="+mn-ea"/>
                <a:cs typeface="+mn-cs"/>
              </a:rPr>
              <a:t>or example you may be required to complete Register and a Receipt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Description of the item will require you to detail:</a:t>
            </a:r>
          </a:p>
          <a:p>
            <a:pPr lvl="1">
              <a:buFont typeface="Arial" pitchFamily="34" charset="0"/>
              <a:buChar char="•"/>
            </a:pPr>
            <a:r>
              <a:rPr lang="en-AU" sz="1200" kern="1200" dirty="0" smtClean="0">
                <a:solidFill>
                  <a:schemeClr val="tx1"/>
                </a:solidFill>
                <a:latin typeface="+mn-lt"/>
                <a:ea typeface="+mn-ea"/>
                <a:cs typeface="+mn-cs"/>
              </a:rPr>
              <a:t> Type of item</a:t>
            </a:r>
          </a:p>
          <a:p>
            <a:pPr lvl="1">
              <a:buFont typeface="Arial" pitchFamily="34" charset="0"/>
              <a:buChar char="•"/>
            </a:pPr>
            <a:r>
              <a:rPr lang="en-AU" sz="1200" kern="1200" dirty="0" smtClean="0">
                <a:solidFill>
                  <a:schemeClr val="tx1"/>
                </a:solidFill>
                <a:latin typeface="+mn-lt"/>
                <a:ea typeface="+mn-ea"/>
                <a:cs typeface="+mn-cs"/>
              </a:rPr>
              <a:t> Make, model, manufacturer</a:t>
            </a:r>
          </a:p>
          <a:p>
            <a:pPr lvl="1">
              <a:buFont typeface="Arial" pitchFamily="34" charset="0"/>
              <a:buChar char="•"/>
            </a:pPr>
            <a:r>
              <a:rPr lang="en-AU" sz="1200" kern="1200" dirty="0" smtClean="0">
                <a:solidFill>
                  <a:schemeClr val="tx1"/>
                </a:solidFill>
                <a:latin typeface="+mn-lt"/>
                <a:ea typeface="+mn-ea"/>
                <a:cs typeface="+mn-cs"/>
              </a:rPr>
              <a:t> Distinguishing features</a:t>
            </a:r>
          </a:p>
          <a:p>
            <a:pPr lvl="1">
              <a:buFont typeface="Arial" pitchFamily="34" charset="0"/>
              <a:buChar char="•"/>
            </a:pPr>
            <a:r>
              <a:rPr lang="en-AU" sz="1200" kern="1200" dirty="0" smtClean="0">
                <a:solidFill>
                  <a:schemeClr val="tx1"/>
                </a:solidFill>
                <a:latin typeface="+mn-lt"/>
                <a:ea typeface="+mn-ea"/>
                <a:cs typeface="+mn-cs"/>
              </a:rPr>
              <a:t> Pre-existing damage</a:t>
            </a:r>
          </a:p>
          <a:p>
            <a:pPr lvl="1">
              <a:buFont typeface="Arial" pitchFamily="34" charset="0"/>
              <a:buChar char="•"/>
            </a:pPr>
            <a:r>
              <a:rPr lang="en-AU" sz="1200" kern="1200" dirty="0" smtClean="0">
                <a:solidFill>
                  <a:schemeClr val="tx1"/>
                </a:solidFill>
                <a:latin typeface="+mn-lt"/>
                <a:ea typeface="+mn-ea"/>
                <a:cs typeface="+mn-cs"/>
              </a:rPr>
              <a:t> Value</a:t>
            </a:r>
          </a:p>
          <a:p>
            <a:pPr lvl="1">
              <a:buFont typeface="Arial" pitchFamily="34" charset="0"/>
              <a:buChar char="•"/>
            </a:pPr>
            <a:r>
              <a:rPr lang="en-AU" sz="1200" kern="1200" dirty="0" smtClean="0">
                <a:solidFill>
                  <a:schemeClr val="tx1"/>
                </a:solidFill>
                <a:latin typeface="+mn-lt"/>
                <a:ea typeface="+mn-ea"/>
                <a:cs typeface="+mn-cs"/>
              </a:rPr>
              <a:t> Quantity/number of items and/or number of each type of items </a:t>
            </a:r>
          </a:p>
          <a:p>
            <a:pPr>
              <a:buFont typeface="Arial" pitchFamily="34" charset="0"/>
              <a:buChar char="•"/>
            </a:pPr>
            <a:r>
              <a:rPr lang="en-AU" sz="1200" kern="1200" dirty="0" smtClean="0">
                <a:solidFill>
                  <a:schemeClr val="tx1"/>
                </a:solidFill>
                <a:latin typeface="+mn-lt"/>
                <a:ea typeface="+mn-ea"/>
                <a:cs typeface="+mn-cs"/>
              </a:rPr>
              <a:t> Name of, room number and signature/s from the guest.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here can be a need for multiple guest signatures:</a:t>
            </a:r>
          </a:p>
          <a:p>
            <a:pPr lvl="1">
              <a:buFont typeface="Arial" pitchFamily="34" charset="0"/>
              <a:buChar char="•"/>
            </a:pPr>
            <a:r>
              <a:rPr lang="en-AU" sz="1200" kern="1200" dirty="0" smtClean="0">
                <a:solidFill>
                  <a:schemeClr val="tx1"/>
                </a:solidFill>
                <a:latin typeface="+mn-lt"/>
                <a:ea typeface="+mn-ea"/>
                <a:cs typeface="+mn-cs"/>
              </a:rPr>
              <a:t> In a register</a:t>
            </a:r>
          </a:p>
          <a:p>
            <a:pPr lvl="1">
              <a:buFont typeface="Arial" pitchFamily="34" charset="0"/>
              <a:buChar char="•"/>
            </a:pPr>
            <a:r>
              <a:rPr lang="en-AU" sz="1200" kern="1200" dirty="0" smtClean="0">
                <a:solidFill>
                  <a:schemeClr val="tx1"/>
                </a:solidFill>
                <a:latin typeface="+mn-lt"/>
                <a:ea typeface="+mn-ea"/>
                <a:cs typeface="+mn-cs"/>
              </a:rPr>
              <a:t> On the redemption slip</a:t>
            </a:r>
          </a:p>
          <a:p>
            <a:pPr lvl="1">
              <a:buFont typeface="Arial" pitchFamily="34" charset="0"/>
              <a:buChar char="•"/>
            </a:pPr>
            <a:r>
              <a:rPr lang="en-AU" sz="1200" kern="1200" dirty="0" smtClean="0">
                <a:solidFill>
                  <a:schemeClr val="tx1"/>
                </a:solidFill>
                <a:latin typeface="+mn-lt"/>
                <a:ea typeface="+mn-ea"/>
                <a:cs typeface="+mn-cs"/>
              </a:rPr>
              <a:t> Across a seal on an envelope or packaging.</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a:t>
            </a:r>
          </a:p>
          <a:p>
            <a:pPr>
              <a:buFont typeface="Arial" pitchFamily="34" charset="0"/>
              <a:buNone/>
            </a:pPr>
            <a:r>
              <a:rPr lang="en-AU" b="0" noProof="0" dirty="0" smtClean="0"/>
              <a:t>Trainer demonstrates how to complete document when accepting guest valuable for storage and provides opportunity for students to practice</a:t>
            </a:r>
            <a:r>
              <a:rPr lang="en-AU" b="0" baseline="0" noProof="0" dirty="0" smtClean="0"/>
              <a:t>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124475574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reminds students of general advice for completing documents:</a:t>
            </a:r>
          </a:p>
          <a:p>
            <a:pPr>
              <a:buFont typeface="Arial" pitchFamily="34" charset="0"/>
              <a:buChar char="•"/>
            </a:pPr>
            <a:r>
              <a:rPr lang="en-AU" sz="1200" kern="1200" dirty="0" smtClean="0">
                <a:solidFill>
                  <a:schemeClr val="tx1"/>
                </a:solidFill>
                <a:latin typeface="+mn-lt"/>
                <a:ea typeface="+mn-ea"/>
                <a:cs typeface="+mn-cs"/>
              </a:rPr>
              <a:t> Complete them ‘at the time’.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means completing them while the guest is present.</a:t>
            </a:r>
          </a:p>
          <a:p>
            <a:pPr lvl="1">
              <a:buFont typeface="Arial" pitchFamily="34" charset="0"/>
              <a:buChar char="•"/>
            </a:pPr>
            <a:r>
              <a:rPr lang="en-AU" sz="1200" kern="1200" dirty="0" smtClean="0">
                <a:solidFill>
                  <a:schemeClr val="tx1"/>
                </a:solidFill>
                <a:latin typeface="+mn-lt"/>
                <a:ea typeface="+mn-ea"/>
                <a:cs typeface="+mn-cs"/>
              </a:rPr>
              <a:t> It is not acceptable to complete after the guest has departed.</a:t>
            </a:r>
          </a:p>
          <a:p>
            <a:pPr>
              <a:buFont typeface="Arial" pitchFamily="34" charset="0"/>
              <a:buChar char="•"/>
            </a:pPr>
            <a:r>
              <a:rPr lang="en-AU" sz="1200" kern="1200" dirty="0" smtClean="0">
                <a:solidFill>
                  <a:schemeClr val="tx1"/>
                </a:solidFill>
                <a:latin typeface="+mn-lt"/>
                <a:ea typeface="+mn-ea"/>
                <a:cs typeface="+mn-cs"/>
              </a:rPr>
              <a:t> Fill an all parts/elements of the forms to be completed</a:t>
            </a:r>
          </a:p>
          <a:p>
            <a:pPr>
              <a:buFont typeface="Arial" pitchFamily="34" charset="0"/>
              <a:buChar char="•"/>
            </a:pPr>
            <a:r>
              <a:rPr lang="en-AU" sz="1200" kern="1200" dirty="0" smtClean="0">
                <a:solidFill>
                  <a:schemeClr val="tx1"/>
                </a:solidFill>
                <a:latin typeface="+mn-lt"/>
                <a:ea typeface="+mn-ea"/>
                <a:cs typeface="+mn-cs"/>
              </a:rPr>
              <a:t> When completing documents be:</a:t>
            </a:r>
          </a:p>
          <a:p>
            <a:pPr lvl="1">
              <a:buFont typeface="Arial" pitchFamily="34" charset="0"/>
              <a:buChar char="•"/>
            </a:pPr>
            <a:r>
              <a:rPr lang="en-US" sz="1200" kern="1200" dirty="0" smtClean="0">
                <a:solidFill>
                  <a:schemeClr val="tx1"/>
                </a:solidFill>
                <a:latin typeface="+mn-lt"/>
                <a:ea typeface="+mn-ea"/>
                <a:cs typeface="+mn-cs"/>
              </a:rPr>
              <a:t> Honest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Accurate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Comprehensive </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02042889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reminding students of general advice for completing documents:</a:t>
            </a:r>
          </a:p>
          <a:p>
            <a:pPr>
              <a:buFont typeface="Arial" pitchFamily="34" charset="0"/>
              <a:buChar char="•"/>
            </a:pPr>
            <a:r>
              <a:rPr lang="en-AU" sz="1200" kern="1200" dirty="0" smtClean="0">
                <a:solidFill>
                  <a:schemeClr val="tx1"/>
                </a:solidFill>
                <a:latin typeface="+mn-lt"/>
                <a:ea typeface="+mn-ea"/>
                <a:cs typeface="+mn-cs"/>
              </a:rPr>
              <a:t> Completed documentation may need to be ‘forwarded’ to a file or a designated person/department</a:t>
            </a:r>
          </a:p>
          <a:p>
            <a:pPr>
              <a:buFont typeface="Arial" pitchFamily="34" charset="0"/>
              <a:buChar char="•"/>
            </a:pPr>
            <a:r>
              <a:rPr lang="en-AU" sz="1200" kern="1200" dirty="0" smtClean="0">
                <a:solidFill>
                  <a:schemeClr val="tx1"/>
                </a:solidFill>
                <a:latin typeface="+mn-lt"/>
                <a:ea typeface="+mn-ea"/>
                <a:cs typeface="+mn-cs"/>
              </a:rPr>
              <a:t> In-house/on-the-job training will teach you:</a:t>
            </a:r>
          </a:p>
          <a:p>
            <a:pPr lvl="1">
              <a:buFont typeface="Arial" pitchFamily="34" charset="0"/>
              <a:buChar char="•"/>
            </a:pPr>
            <a:r>
              <a:rPr lang="en-AU" sz="1200" kern="1200" dirty="0" smtClean="0">
                <a:solidFill>
                  <a:schemeClr val="tx1"/>
                </a:solidFill>
                <a:latin typeface="+mn-lt"/>
                <a:ea typeface="+mn-ea"/>
                <a:cs typeface="+mn-cs"/>
              </a:rPr>
              <a:t> The documents to be completed</a:t>
            </a:r>
          </a:p>
          <a:p>
            <a:pPr lvl="1">
              <a:buFont typeface="Arial" pitchFamily="34" charset="0"/>
              <a:buChar char="•"/>
            </a:pPr>
            <a:r>
              <a:rPr lang="en-AU" sz="1200" kern="1200" dirty="0" smtClean="0">
                <a:solidFill>
                  <a:schemeClr val="tx1"/>
                </a:solidFill>
                <a:latin typeface="+mn-lt"/>
                <a:ea typeface="+mn-ea"/>
                <a:cs typeface="+mn-cs"/>
              </a:rPr>
              <a:t> How they need to be completed</a:t>
            </a:r>
          </a:p>
          <a:p>
            <a:pPr>
              <a:buFont typeface="Arial" pitchFamily="34" charset="0"/>
              <a:buChar char="•"/>
            </a:pPr>
            <a:r>
              <a:rPr lang="en-AU" sz="1200" kern="1200" dirty="0" smtClean="0">
                <a:solidFill>
                  <a:schemeClr val="tx1"/>
                </a:solidFill>
                <a:latin typeface="+mn-lt"/>
                <a:ea typeface="+mn-ea"/>
                <a:cs typeface="+mn-cs"/>
              </a:rPr>
              <a:t> Keep a copy of any documents provided to a guest/client.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hey usually receive the ‘original’ and you keep the ‘duplicate’ copy</a:t>
            </a:r>
          </a:p>
          <a:p>
            <a:pPr>
              <a:buFont typeface="Arial" pitchFamily="34" charset="0"/>
              <a:buChar char="•"/>
            </a:pPr>
            <a:r>
              <a:rPr lang="en-AU" sz="1200" kern="1200" dirty="0" smtClean="0">
                <a:solidFill>
                  <a:schemeClr val="tx1"/>
                </a:solidFill>
                <a:latin typeface="+mn-lt"/>
                <a:ea typeface="+mn-ea"/>
                <a:cs typeface="+mn-cs"/>
              </a:rPr>
              <a:t> Seek advice when uncertain about:</a:t>
            </a:r>
          </a:p>
          <a:p>
            <a:pPr lvl="1">
              <a:buFont typeface="Arial" pitchFamily="34" charset="0"/>
              <a:buChar char="•"/>
            </a:pPr>
            <a:r>
              <a:rPr lang="en-AU" sz="1200" kern="1200" dirty="0" smtClean="0">
                <a:solidFill>
                  <a:schemeClr val="tx1"/>
                </a:solidFill>
                <a:latin typeface="+mn-lt"/>
                <a:ea typeface="+mn-ea"/>
                <a:cs typeface="+mn-cs"/>
              </a:rPr>
              <a:t> Whether a record/report or documentation is required </a:t>
            </a:r>
          </a:p>
          <a:p>
            <a:pPr lvl="1">
              <a:buFont typeface="Arial" pitchFamily="34" charset="0"/>
              <a:buChar char="•"/>
            </a:pPr>
            <a:r>
              <a:rPr lang="en-AU" sz="1200" kern="1200" dirty="0" smtClean="0">
                <a:solidFill>
                  <a:schemeClr val="tx1"/>
                </a:solidFill>
                <a:latin typeface="+mn-lt"/>
                <a:ea typeface="+mn-ea"/>
                <a:cs typeface="+mn-cs"/>
              </a:rPr>
              <a:t> Details/information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20571322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428118644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2533385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3/26/2015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404664"/>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ESCORT, CARRY AND STORE VALUABLE ITEMS</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AU" b="1" dirty="0" smtClean="0">
                <a:latin typeface="Helvetica" pitchFamily="34" charset="0"/>
              </a:rPr>
              <a:t>D1.HSS.CL4.08 </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827584" y="1844824"/>
            <a:ext cx="5256584" cy="431732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Escort, carry and store valuable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5" name="Group 4"/>
          <p:cNvGrpSpPr/>
          <p:nvPr/>
        </p:nvGrpSpPr>
        <p:grpSpPr>
          <a:xfrm>
            <a:off x="683568" y="1844824"/>
            <a:ext cx="6840760" cy="3386138"/>
            <a:chOff x="1752600" y="2057400"/>
            <a:chExt cx="6840760" cy="33861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7" name="Line 8"/>
            <p:cNvSpPr>
              <a:spLocks noChangeShapeType="1"/>
            </p:cNvSpPr>
            <p:nvPr/>
          </p:nvSpPr>
          <p:spPr bwMode="auto">
            <a:xfrm>
              <a:off x="2362200" y="2667000"/>
              <a:ext cx="55080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8" name="Text Box 9"/>
            <p:cNvSpPr txBox="1">
              <a:spLocks noChangeArrowheads="1"/>
            </p:cNvSpPr>
            <p:nvPr/>
          </p:nvSpPr>
          <p:spPr bwMode="auto">
            <a:xfrm>
              <a:off x="2544688" y="2133600"/>
              <a:ext cx="6048672" cy="430887"/>
            </a:xfrm>
            <a:prstGeom prst="rect">
              <a:avLst/>
            </a:prstGeom>
            <a:noFill/>
            <a:ln w="9525" algn="ctr">
              <a:noFill/>
              <a:miter lim="800000"/>
              <a:headEnd/>
              <a:tailEnd/>
            </a:ln>
          </p:spPr>
          <p:txBody>
            <a:bodyPr wrap="square">
              <a:spAutoFit/>
            </a:bodyPr>
            <a:lstStyle/>
            <a:p>
              <a:pPr eaLnBrk="0" hangingPunct="0"/>
              <a:r>
                <a:rPr lang="en-US" sz="2200" dirty="0" smtClean="0">
                  <a:latin typeface="Helvetica" pitchFamily="34" charset="0"/>
                </a:rPr>
                <a:t>Prepare to undertake escort and carry duties</a:t>
              </a: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a:solidFill>
                    <a:schemeClr val="bg1"/>
                  </a:solidFill>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11" name="Line 16"/>
            <p:cNvSpPr>
              <a:spLocks noChangeShapeType="1"/>
            </p:cNvSpPr>
            <p:nvPr/>
          </p:nvSpPr>
          <p:spPr bwMode="auto">
            <a:xfrm>
              <a:off x="2362200" y="3581400"/>
              <a:ext cx="32400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2" name="Text Box 17"/>
            <p:cNvSpPr txBox="1">
              <a:spLocks noChangeArrowheads="1"/>
            </p:cNvSpPr>
            <p:nvPr/>
          </p:nvSpPr>
          <p:spPr bwMode="auto">
            <a:xfrm>
              <a:off x="2544688" y="3048000"/>
              <a:ext cx="3528392"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Undertake escort duties</a:t>
              </a: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a:solidFill>
                    <a:schemeClr val="bg1"/>
                  </a:solidFill>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15" name="Line 24"/>
            <p:cNvSpPr>
              <a:spLocks noChangeShapeType="1"/>
            </p:cNvSpPr>
            <p:nvPr/>
          </p:nvSpPr>
          <p:spPr bwMode="auto">
            <a:xfrm>
              <a:off x="2362200" y="4473575"/>
              <a:ext cx="28080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16" name="Text Box 25"/>
            <p:cNvSpPr txBox="1">
              <a:spLocks noChangeArrowheads="1"/>
            </p:cNvSpPr>
            <p:nvPr/>
          </p:nvSpPr>
          <p:spPr bwMode="auto">
            <a:xfrm>
              <a:off x="2544688" y="3940175"/>
              <a:ext cx="3096344"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Carry valuable items</a:t>
              </a: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a:solidFill>
                    <a:schemeClr val="bg1"/>
                  </a:solidFill>
                </a:rPr>
                <a:t>3</a:t>
              </a:r>
            </a:p>
          </p:txBody>
        </p:sp>
        <p:grpSp>
          <p:nvGrpSpPr>
            <p:cNvPr id="18" name="Group 28"/>
            <p:cNvGrpSpPr>
              <a:grpSpLocks/>
            </p:cNvGrpSpPr>
            <p:nvPr/>
          </p:nvGrpSpPr>
          <p:grpSpPr bwMode="auto">
            <a:xfrm>
              <a:off x="1752600" y="4778375"/>
              <a:ext cx="762000" cy="665163"/>
              <a:chOff x="3174" y="2656"/>
              <a:chExt cx="1549" cy="1351"/>
            </a:xfrm>
          </p:grpSpPr>
          <p:sp>
            <p:nvSpPr>
              <p:cNvPr id="22" name="AutoShape 29"/>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a:p>
            </p:txBody>
          </p:sp>
          <p:sp>
            <p:nvSpPr>
              <p:cNvPr id="23" name="AutoShape 30"/>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a:p>
            </p:txBody>
          </p:sp>
          <p:sp>
            <p:nvSpPr>
              <p:cNvPr id="24" name="AutoShape 31"/>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a:p>
            </p:txBody>
          </p:sp>
        </p:grpSp>
        <p:sp>
          <p:nvSpPr>
            <p:cNvPr id="19" name="Line 32"/>
            <p:cNvSpPr>
              <a:spLocks noChangeShapeType="1"/>
            </p:cNvSpPr>
            <p:nvPr/>
          </p:nvSpPr>
          <p:spPr bwMode="auto">
            <a:xfrm>
              <a:off x="2362200" y="5387975"/>
              <a:ext cx="2772000" cy="0"/>
            </a:xfrm>
            <a:prstGeom prst="line">
              <a:avLst/>
            </a:prstGeom>
            <a:noFill/>
            <a:ln w="25400">
              <a:solidFill>
                <a:schemeClr val="bg2"/>
              </a:solidFill>
              <a:prstDash val="sysDot"/>
              <a:round/>
              <a:headEnd/>
              <a:tailEnd type="oval" w="med" len="med"/>
            </a:ln>
          </p:spPr>
          <p:txBody>
            <a:bodyPr wrap="none" anchor="ctr"/>
            <a:lstStyle/>
            <a:p>
              <a:endParaRPr lang="en-AU"/>
            </a:p>
          </p:txBody>
        </p:sp>
        <p:sp>
          <p:nvSpPr>
            <p:cNvPr id="20" name="Text Box 33"/>
            <p:cNvSpPr txBox="1">
              <a:spLocks noChangeArrowheads="1"/>
            </p:cNvSpPr>
            <p:nvPr/>
          </p:nvSpPr>
          <p:spPr bwMode="auto">
            <a:xfrm>
              <a:off x="2544688" y="4854575"/>
              <a:ext cx="3769757"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Store valuable items</a:t>
              </a:r>
            </a:p>
          </p:txBody>
        </p:sp>
        <p:sp>
          <p:nvSpPr>
            <p:cNvPr id="21" name="Text Box 34"/>
            <p:cNvSpPr txBox="1">
              <a:spLocks noChangeArrowheads="1"/>
            </p:cNvSpPr>
            <p:nvPr/>
          </p:nvSpPr>
          <p:spPr bwMode="gray">
            <a:xfrm>
              <a:off x="1949450" y="4876800"/>
              <a:ext cx="354013" cy="457200"/>
            </a:xfrm>
            <a:prstGeom prst="rect">
              <a:avLst/>
            </a:prstGeom>
            <a:noFill/>
            <a:ln w="9525" algn="ctr">
              <a:noFill/>
              <a:miter lim="800000"/>
              <a:headEnd/>
              <a:tailEnd/>
            </a:ln>
          </p:spPr>
          <p:txBody>
            <a:bodyPr wrap="none">
              <a:spAutoFit/>
            </a:bodyPr>
            <a:lstStyle/>
            <a:p>
              <a:pPr algn="ctr" eaLnBrk="0" hangingPunct="0"/>
              <a:r>
                <a:rPr lang="en-AU" sz="2400" b="1">
                  <a:solidFill>
                    <a:schemeClr val="bg1"/>
                  </a:solidFill>
                </a:rPr>
                <a:t>4</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7FD13B"/>
              </a:buClr>
            </a:pPr>
            <a:r>
              <a:rPr lang="en-US" sz="2200" dirty="0" smtClean="0"/>
              <a:t>Oral questions</a:t>
            </a:r>
          </a:p>
          <a:p>
            <a:pPr marL="360000" indent="-360000">
              <a:spcBef>
                <a:spcPts val="600"/>
              </a:spcBef>
              <a:spcAft>
                <a:spcPts val="1200"/>
              </a:spcAft>
              <a:buClr>
                <a:srgbClr val="7FD13B"/>
              </a:buClr>
            </a:pPr>
            <a:r>
              <a:rPr lang="en-US" sz="2200" dirty="0" smtClean="0"/>
              <a:t>Written questions</a:t>
            </a:r>
          </a:p>
          <a:p>
            <a:pPr marL="360000" indent="-360000">
              <a:spcBef>
                <a:spcPts val="600"/>
              </a:spcBef>
              <a:spcAft>
                <a:spcPts val="1200"/>
              </a:spcAft>
              <a:buClr>
                <a:srgbClr val="7FD13B"/>
              </a:buClr>
            </a:pPr>
            <a:r>
              <a:rPr lang="en-US" sz="2200" dirty="0" smtClean="0"/>
              <a:t>Work projects</a:t>
            </a:r>
          </a:p>
          <a:p>
            <a:pPr marL="360000" indent="-360000">
              <a:spcBef>
                <a:spcPts val="600"/>
              </a:spcBef>
              <a:spcAft>
                <a:spcPts val="1200"/>
              </a:spcAft>
              <a:buClr>
                <a:srgbClr val="7FD13B"/>
              </a:buClr>
            </a:pPr>
            <a:r>
              <a:rPr lang="en-US" sz="2200" dirty="0" smtClean="0"/>
              <a:t>Workplace observation of practical skills</a:t>
            </a:r>
          </a:p>
          <a:p>
            <a:pPr marL="360000" indent="-360000">
              <a:spcBef>
                <a:spcPts val="600"/>
              </a:spcBef>
              <a:spcAft>
                <a:spcPts val="1200"/>
              </a:spcAft>
              <a:buClr>
                <a:srgbClr val="7FD13B"/>
              </a:buClr>
            </a:pPr>
            <a:r>
              <a:rPr lang="en-US" sz="2200" dirty="0" smtClean="0"/>
              <a:t>Practical exercises</a:t>
            </a:r>
          </a:p>
          <a:p>
            <a:pPr marL="360000" indent="-360000">
              <a:spcBef>
                <a:spcPts val="600"/>
              </a:spcBef>
              <a:spcAft>
                <a:spcPts val="1200"/>
              </a:spcAft>
              <a:buClr>
                <a:srgbClr val="7FD13B"/>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660232" y="4005064"/>
            <a:ext cx="1755692" cy="116879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to undertake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marL="360000" indent="-360000">
              <a:spcBef>
                <a:spcPts val="600"/>
              </a:spcBef>
              <a:spcAft>
                <a:spcPts val="1200"/>
              </a:spcAft>
            </a:pPr>
            <a:r>
              <a:rPr lang="en-US" sz="2200" dirty="0" smtClean="0">
                <a:latin typeface="Helvetica" pitchFamily="34" charset="0"/>
              </a:rPr>
              <a:t>Identify valuables requiring escort, carry and storage</a:t>
            </a:r>
          </a:p>
          <a:p>
            <a:pPr marL="360000" indent="-360000">
              <a:spcBef>
                <a:spcPts val="600"/>
              </a:spcBef>
              <a:spcAft>
                <a:spcPts val="1200"/>
              </a:spcAft>
            </a:pPr>
            <a:r>
              <a:rPr lang="en-US" sz="2200" dirty="0" smtClean="0">
                <a:latin typeface="Helvetica" pitchFamily="34" charset="0"/>
              </a:rPr>
              <a:t>Describe legal requirements applying to guest property</a:t>
            </a:r>
          </a:p>
          <a:p>
            <a:pPr marL="360000" indent="-360000">
              <a:spcBef>
                <a:spcPts val="600"/>
              </a:spcBef>
              <a:spcAft>
                <a:spcPts val="1200"/>
              </a:spcAft>
            </a:pPr>
            <a:r>
              <a:rPr lang="en-US" sz="2200" dirty="0" smtClean="0">
                <a:latin typeface="Helvetica" pitchFamily="34" charset="0"/>
              </a:rPr>
              <a:t>Undertake relevant training</a:t>
            </a:r>
          </a:p>
          <a:p>
            <a:pPr marL="360000" indent="-360000">
              <a:spcBef>
                <a:spcPts val="600"/>
              </a:spcBef>
              <a:spcAft>
                <a:spcPts val="1200"/>
              </a:spcAft>
            </a:pPr>
            <a:r>
              <a:rPr lang="en-US" sz="2200" dirty="0" smtClean="0">
                <a:latin typeface="Helvetica" pitchFamily="34" charset="0"/>
              </a:rPr>
              <a:t>Identify characteristics of security staff</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34" name="Picture 33" descr="MP900448718.JPG"/>
          <p:cNvPicPr>
            <a:picLocks noChangeAspect="1"/>
          </p:cNvPicPr>
          <p:nvPr/>
        </p:nvPicPr>
        <p:blipFill>
          <a:blip r:embed="rId3" cstate="print"/>
          <a:stretch>
            <a:fillRect/>
          </a:stretch>
        </p:blipFill>
        <p:spPr>
          <a:xfrm>
            <a:off x="6732240" y="4005064"/>
            <a:ext cx="1625887" cy="12316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to undertake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Prepare plans for regular escort and carry duties</a:t>
            </a:r>
          </a:p>
          <a:p>
            <a:pPr marL="360000" indent="-360000">
              <a:spcBef>
                <a:spcPts val="600"/>
              </a:spcBef>
              <a:spcAft>
                <a:spcPts val="1200"/>
              </a:spcAft>
            </a:pPr>
            <a:r>
              <a:rPr lang="en-US" sz="2200" dirty="0" smtClean="0">
                <a:latin typeface="Helvetica" pitchFamily="34" charset="0"/>
              </a:rPr>
              <a:t>Identify establishment cash carry policies and procedures</a:t>
            </a:r>
          </a:p>
          <a:p>
            <a:pPr marL="360000" indent="-360000">
              <a:spcBef>
                <a:spcPts val="600"/>
              </a:spcBef>
              <a:spcAft>
                <a:spcPts val="1200"/>
              </a:spcAft>
            </a:pPr>
            <a:r>
              <a:rPr lang="en-US" sz="2200" dirty="0" smtClean="0">
                <a:latin typeface="Helvetica" pitchFamily="34" charset="0"/>
              </a:rPr>
              <a:t>Identify potential threats</a:t>
            </a:r>
          </a:p>
          <a:p>
            <a:pPr marL="360000" indent="-360000">
              <a:spcBef>
                <a:spcPts val="600"/>
              </a:spcBef>
              <a:spcAft>
                <a:spcPts val="1200"/>
              </a:spcAft>
            </a:pPr>
            <a:r>
              <a:rPr lang="en-US" sz="2200" dirty="0" smtClean="0">
                <a:latin typeface="Helvetica" pitchFamily="34" charset="0"/>
              </a:rPr>
              <a:t>Identify resources required when escorting </a:t>
            </a:r>
            <a:br>
              <a:rPr lang="en-US" sz="2200" dirty="0" smtClean="0">
                <a:latin typeface="Helvetica" pitchFamily="34" charset="0"/>
              </a:rPr>
            </a:br>
            <a:r>
              <a:rPr lang="en-US" sz="2200" dirty="0" smtClean="0">
                <a:latin typeface="Helvetica" pitchFamily="34" charset="0"/>
              </a:rPr>
              <a:t>and carrying</a:t>
            </a:r>
          </a:p>
          <a:p>
            <a:pPr marL="360000" indent="-360000">
              <a:spcBef>
                <a:spcPts val="600"/>
              </a:spcBef>
              <a:spcAft>
                <a:spcPts val="1200"/>
              </a:spcAft>
            </a:pPr>
            <a:r>
              <a:rPr lang="en-US" sz="2200" dirty="0" smtClean="0">
                <a:latin typeface="Helvetica" pitchFamily="34" charset="0"/>
              </a:rPr>
              <a:t>Clarify escort and carry assignments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shutterstock_37018618 copy.jpg"/>
          <p:cNvPicPr>
            <a:picLocks noChangeAspect="1"/>
          </p:cNvPicPr>
          <p:nvPr/>
        </p:nvPicPr>
        <p:blipFill>
          <a:blip r:embed="rId3" cstate="print"/>
          <a:stretch>
            <a:fillRect/>
          </a:stretch>
        </p:blipFill>
        <p:spPr>
          <a:xfrm>
            <a:off x="7308304" y="3212976"/>
            <a:ext cx="954180" cy="18448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valuables requiring escort, carry and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‘Valuable items’ may be:</a:t>
            </a:r>
          </a:p>
          <a:p>
            <a:pPr marL="360000" indent="-360000">
              <a:spcBef>
                <a:spcPts val="600"/>
              </a:spcBef>
              <a:spcAft>
                <a:spcPts val="1200"/>
              </a:spcAft>
            </a:pPr>
            <a:r>
              <a:rPr lang="en-US" sz="2200" dirty="0" smtClean="0">
                <a:latin typeface="Helvetica" pitchFamily="34" charset="0"/>
              </a:rPr>
              <a:t>Of value to everyone</a:t>
            </a:r>
          </a:p>
          <a:p>
            <a:pPr marL="360000" indent="-360000">
              <a:spcBef>
                <a:spcPts val="600"/>
              </a:spcBef>
              <a:spcAft>
                <a:spcPts val="1200"/>
              </a:spcAft>
            </a:pPr>
            <a:r>
              <a:rPr lang="en-US" sz="2200" dirty="0" smtClean="0">
                <a:latin typeface="Helvetica" pitchFamily="34" charset="0"/>
              </a:rPr>
              <a:t>Valuable only to the owner</a:t>
            </a:r>
          </a:p>
          <a:p>
            <a:pPr marL="360000" indent="-360000">
              <a:spcBef>
                <a:spcPts val="600"/>
              </a:spcBef>
              <a:spcAft>
                <a:spcPts val="1200"/>
              </a:spcAft>
            </a:pPr>
            <a:r>
              <a:rPr lang="en-US" sz="2200" dirty="0" smtClean="0">
                <a:latin typeface="Helvetica" pitchFamily="34" charset="0"/>
              </a:rPr>
              <a:t>Valuable today but not tomorrow</a:t>
            </a:r>
          </a:p>
          <a:p>
            <a:pPr marL="360000" indent="-360000">
              <a:spcBef>
                <a:spcPts val="600"/>
              </a:spcBef>
              <a:spcAft>
                <a:spcPts val="1200"/>
              </a:spcAft>
            </a:pPr>
            <a:r>
              <a:rPr lang="en-US" sz="2200" dirty="0" smtClean="0">
                <a:latin typeface="Helvetica" pitchFamily="34" charset="0"/>
              </a:rPr>
              <a:t>Small or large</a:t>
            </a:r>
          </a:p>
          <a:p>
            <a:pPr marL="360000" indent="-360000">
              <a:spcBef>
                <a:spcPts val="600"/>
              </a:spcBef>
              <a:spcAft>
                <a:spcPts val="1200"/>
              </a:spcAft>
            </a:pPr>
            <a:r>
              <a:rPr lang="en-AU" sz="2200" dirty="0" smtClean="0">
                <a:latin typeface="Helvetica" pitchFamily="34" charset="0"/>
              </a:rPr>
              <a:t>Made from any materials or substance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freeimage-1722827.jpg"/>
          <p:cNvPicPr>
            <a:picLocks noChangeAspect="1"/>
          </p:cNvPicPr>
          <p:nvPr/>
        </p:nvPicPr>
        <p:blipFill>
          <a:blip r:embed="rId3" cstate="print"/>
          <a:stretch>
            <a:fillRect/>
          </a:stretch>
        </p:blipFill>
        <p:spPr>
          <a:xfrm>
            <a:off x="6588224" y="3861048"/>
            <a:ext cx="1847189" cy="13853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valuables requiring escort, carry and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Valuable items may belong to:</a:t>
            </a:r>
          </a:p>
          <a:p>
            <a:pPr marL="360000" indent="-360000">
              <a:spcBef>
                <a:spcPts val="600"/>
              </a:spcBef>
              <a:spcAft>
                <a:spcPts val="1200"/>
              </a:spcAft>
            </a:pPr>
            <a:r>
              <a:rPr lang="en-AU" sz="2200" dirty="0" smtClean="0">
                <a:latin typeface="Helvetica" pitchFamily="34" charset="0"/>
              </a:rPr>
              <a:t>The venue where you work</a:t>
            </a:r>
          </a:p>
          <a:p>
            <a:pPr marL="360000" indent="-360000">
              <a:spcBef>
                <a:spcPts val="600"/>
              </a:spcBef>
              <a:spcAft>
                <a:spcPts val="1200"/>
              </a:spcAft>
            </a:pPr>
            <a:r>
              <a:rPr lang="en-AU" sz="2200" dirty="0" smtClean="0">
                <a:latin typeface="Helvetica" pitchFamily="34" charset="0"/>
              </a:rPr>
              <a:t>A private person or guest </a:t>
            </a:r>
          </a:p>
          <a:p>
            <a:pPr marL="360000" indent="-360000">
              <a:spcBef>
                <a:spcPts val="600"/>
              </a:spcBef>
              <a:spcAft>
                <a:spcPts val="1200"/>
              </a:spcAft>
            </a:pPr>
            <a:r>
              <a:rPr lang="en-AU" sz="2200" dirty="0" smtClean="0">
                <a:latin typeface="Helvetica" pitchFamily="34" charset="0"/>
              </a:rPr>
              <a:t>A company or organisation whose representatives </a:t>
            </a:r>
            <a:br>
              <a:rPr lang="en-AU" sz="2200" dirty="0" smtClean="0">
                <a:latin typeface="Helvetica" pitchFamily="34" charset="0"/>
              </a:rPr>
            </a:br>
            <a:r>
              <a:rPr lang="en-AU" sz="2200" dirty="0" smtClean="0">
                <a:latin typeface="Helvetica" pitchFamily="34" charset="0"/>
              </a:rPr>
              <a:t>are staying at, or using, the venue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MC900310276.WMF"/>
          <p:cNvPicPr>
            <a:picLocks noChangeAspect="1"/>
          </p:cNvPicPr>
          <p:nvPr/>
        </p:nvPicPr>
        <p:blipFill>
          <a:blip r:embed="rId3" cstate="print"/>
          <a:stretch>
            <a:fillRect/>
          </a:stretch>
        </p:blipFill>
        <p:spPr>
          <a:xfrm>
            <a:off x="7452320" y="3789040"/>
            <a:ext cx="990012" cy="13878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valuables requiring escort, carry and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Valuables can be comprised of:</a:t>
            </a:r>
          </a:p>
          <a:p>
            <a:pPr marL="360000" indent="-360000">
              <a:spcBef>
                <a:spcPts val="600"/>
              </a:spcBef>
              <a:spcAft>
                <a:spcPts val="1200"/>
              </a:spcAft>
            </a:pPr>
            <a:r>
              <a:rPr lang="en-US" sz="2200" dirty="0" smtClean="0">
                <a:latin typeface="Helvetica" pitchFamily="34" charset="0"/>
              </a:rPr>
              <a:t>Cash</a:t>
            </a:r>
          </a:p>
          <a:p>
            <a:pPr marL="360000" indent="-360000">
              <a:spcBef>
                <a:spcPts val="600"/>
              </a:spcBef>
              <a:spcAft>
                <a:spcPts val="1200"/>
              </a:spcAft>
            </a:pPr>
            <a:r>
              <a:rPr lang="en-US" sz="2200" dirty="0" smtClean="0">
                <a:latin typeface="Helvetica" pitchFamily="34" charset="0"/>
              </a:rPr>
              <a:t>Precious stones</a:t>
            </a:r>
          </a:p>
          <a:p>
            <a:pPr marL="360000" indent="-360000">
              <a:spcBef>
                <a:spcPts val="600"/>
              </a:spcBef>
              <a:spcAft>
                <a:spcPts val="1200"/>
              </a:spcAft>
            </a:pPr>
            <a:r>
              <a:rPr lang="en-US" sz="2200" dirty="0" smtClean="0">
                <a:latin typeface="Helvetica" pitchFamily="34" charset="0"/>
              </a:rPr>
              <a:t>Jewellery</a:t>
            </a:r>
          </a:p>
          <a:p>
            <a:pPr marL="360000" indent="-360000">
              <a:spcBef>
                <a:spcPts val="600"/>
              </a:spcBef>
              <a:spcAft>
                <a:spcPts val="1200"/>
              </a:spcAft>
            </a:pPr>
            <a:r>
              <a:rPr lang="en-US" sz="2200" dirty="0" smtClean="0">
                <a:latin typeface="Helvetica" pitchFamily="34" charset="0"/>
              </a:rPr>
              <a:t>Bullion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descr="freeimage-5884870.jpg"/>
          <p:cNvPicPr>
            <a:picLocks noChangeAspect="1"/>
          </p:cNvPicPr>
          <p:nvPr/>
        </p:nvPicPr>
        <p:blipFill>
          <a:blip r:embed="rId3" cstate="print"/>
          <a:stretch>
            <a:fillRect/>
          </a:stretch>
        </p:blipFill>
        <p:spPr>
          <a:xfrm>
            <a:off x="6228184" y="4221088"/>
            <a:ext cx="2177176" cy="10226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valuables requiring escort, carry and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Documents</a:t>
            </a:r>
          </a:p>
          <a:p>
            <a:pPr marL="360000" indent="-360000">
              <a:spcBef>
                <a:spcPts val="600"/>
              </a:spcBef>
              <a:spcAft>
                <a:spcPts val="1200"/>
              </a:spcAft>
            </a:pPr>
            <a:r>
              <a:rPr lang="en-US" sz="2200" dirty="0" smtClean="0">
                <a:latin typeface="Helvetica" pitchFamily="34" charset="0"/>
              </a:rPr>
              <a:t>Electronic data</a:t>
            </a:r>
          </a:p>
          <a:p>
            <a:pPr marL="360000" indent="-360000">
              <a:spcBef>
                <a:spcPts val="600"/>
              </a:spcBef>
              <a:spcAft>
                <a:spcPts val="1200"/>
              </a:spcAft>
            </a:pPr>
            <a:r>
              <a:rPr lang="en-US" sz="2200" dirty="0" smtClean="0">
                <a:latin typeface="Helvetica" pitchFamily="34" charset="0"/>
              </a:rPr>
              <a:t>Artwork</a:t>
            </a:r>
          </a:p>
          <a:p>
            <a:pPr marL="360000" indent="-360000">
              <a:spcBef>
                <a:spcPts val="600"/>
              </a:spcBef>
              <a:spcAft>
                <a:spcPts val="1200"/>
              </a:spcAft>
            </a:pPr>
            <a:r>
              <a:rPr lang="en-US" sz="2200" dirty="0" smtClean="0">
                <a:latin typeface="Helvetica" pitchFamily="34" charset="0"/>
              </a:rPr>
              <a:t>General and personal property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freeimage-1679327.jpg"/>
          <p:cNvPicPr>
            <a:picLocks noChangeAspect="1"/>
          </p:cNvPicPr>
          <p:nvPr/>
        </p:nvPicPr>
        <p:blipFill>
          <a:blip r:embed="rId3" cstate="print"/>
          <a:stretch>
            <a:fillRect/>
          </a:stretch>
        </p:blipFill>
        <p:spPr>
          <a:xfrm>
            <a:off x="7092280" y="3284984"/>
            <a:ext cx="1155379" cy="17376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You must comply with:</a:t>
            </a:r>
          </a:p>
          <a:p>
            <a:pPr marL="360000" indent="-360000">
              <a:spcBef>
                <a:spcPts val="600"/>
              </a:spcBef>
              <a:spcAft>
                <a:spcPts val="1200"/>
              </a:spcAft>
            </a:pPr>
            <a:r>
              <a:rPr lang="en-US" sz="2200" dirty="0" smtClean="0">
                <a:latin typeface="Helvetica" pitchFamily="34" charset="0"/>
              </a:rPr>
              <a:t>Host country legislation: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Statute law</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Civil law</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Common law</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MP900321176.JPG"/>
          <p:cNvPicPr>
            <a:picLocks noChangeAspect="1"/>
          </p:cNvPicPr>
          <p:nvPr/>
        </p:nvPicPr>
        <p:blipFill>
          <a:blip r:embed="rId4" cstate="print"/>
          <a:stretch>
            <a:fillRect/>
          </a:stretch>
        </p:blipFill>
        <p:spPr>
          <a:xfrm>
            <a:off x="7164288" y="3429000"/>
            <a:ext cx="1240936" cy="173963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Extra obligations are imposed on hotels:</a:t>
            </a:r>
          </a:p>
          <a:p>
            <a:pPr marL="360000" indent="-360000">
              <a:spcBef>
                <a:spcPts val="600"/>
              </a:spcBef>
              <a:spcAft>
                <a:spcPts val="1200"/>
              </a:spcAft>
            </a:pPr>
            <a:r>
              <a:rPr lang="en-US" sz="2200" dirty="0" smtClean="0">
                <a:latin typeface="Helvetica" pitchFamily="34" charset="0"/>
              </a:rPr>
              <a:t>Hotels must advise guests of these </a:t>
            </a:r>
          </a:p>
          <a:p>
            <a:pPr marL="360000" indent="-360000">
              <a:spcBef>
                <a:spcPts val="600"/>
              </a:spcBef>
              <a:spcAft>
                <a:spcPts val="1200"/>
              </a:spcAft>
            </a:pPr>
            <a:r>
              <a:rPr lang="en-US" sz="2200" dirty="0" smtClean="0">
                <a:latin typeface="Helvetica" pitchFamily="34" charset="0"/>
              </a:rPr>
              <a:t>Hotels must provide safe-keeping facilities</a:t>
            </a:r>
          </a:p>
          <a:p>
            <a:pPr marL="360000" indent="-360000">
              <a:spcBef>
                <a:spcPts val="600"/>
              </a:spcBef>
              <a:spcAft>
                <a:spcPts val="1200"/>
              </a:spcAft>
            </a:pPr>
            <a:r>
              <a:rPr lang="en-US" sz="2200" dirty="0" smtClean="0">
                <a:latin typeface="Helvetica" pitchFamily="34" charset="0"/>
              </a:rPr>
              <a:t>Hotel to be liable for guest property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descr="MP900448718.JPG"/>
          <p:cNvPicPr>
            <a:picLocks noChangeAspect="1"/>
          </p:cNvPicPr>
          <p:nvPr/>
        </p:nvPicPr>
        <p:blipFill>
          <a:blip r:embed="rId3" cstate="print"/>
          <a:srcRect l="12665" t="16935" r="15569" b="11091"/>
          <a:stretch>
            <a:fillRect/>
          </a:stretch>
        </p:blipFill>
        <p:spPr>
          <a:xfrm>
            <a:off x="6948264" y="3789040"/>
            <a:ext cx="1224136" cy="12241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‘Bailment’:</a:t>
            </a:r>
          </a:p>
          <a:p>
            <a:pPr marL="360000" indent="-360000">
              <a:spcBef>
                <a:spcPts val="600"/>
              </a:spcBef>
              <a:spcAft>
                <a:spcPts val="1200"/>
              </a:spcAft>
            </a:pPr>
            <a:r>
              <a:rPr lang="en-US" sz="2200" dirty="0" smtClean="0">
                <a:latin typeface="Helvetica" pitchFamily="34" charset="0"/>
              </a:rPr>
              <a:t>Occurs when possession (but not </a:t>
            </a:r>
            <a:r>
              <a:rPr lang="en-US" sz="2200" i="1" dirty="0" smtClean="0">
                <a:latin typeface="Helvetica" pitchFamily="34" charset="0"/>
              </a:rPr>
              <a:t>ownership</a:t>
            </a:r>
            <a:r>
              <a:rPr lang="en-US" sz="2200" dirty="0" smtClean="0">
                <a:latin typeface="Helvetica" pitchFamily="34" charset="0"/>
              </a:rPr>
              <a:t>) moves from one person to another</a:t>
            </a:r>
          </a:p>
          <a:p>
            <a:pPr marL="360000" indent="-360000">
              <a:spcBef>
                <a:spcPts val="600"/>
              </a:spcBef>
              <a:spcAft>
                <a:spcPts val="1200"/>
              </a:spcAft>
            </a:pPr>
            <a:r>
              <a:rPr lang="en-US" sz="2200" dirty="0" smtClean="0">
                <a:latin typeface="Helvetica" pitchFamily="34" charset="0"/>
              </a:rPr>
              <a:t>Occurs when guests offer items for safe-keeping</a:t>
            </a:r>
          </a:p>
          <a:p>
            <a:pPr marL="360000" indent="-360000">
              <a:spcBef>
                <a:spcPts val="600"/>
              </a:spcBef>
              <a:spcAft>
                <a:spcPts val="1200"/>
              </a:spcAft>
            </a:pPr>
            <a:r>
              <a:rPr lang="en-US" sz="2200" dirty="0" smtClean="0">
                <a:latin typeface="Helvetica" pitchFamily="34" charset="0"/>
              </a:rPr>
              <a:t>Hotel is liable for ‘damages’ and must: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Take care of the item</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Return item on demand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MC900045090.WMF"/>
          <p:cNvPicPr>
            <a:picLocks noChangeAspect="1"/>
          </p:cNvPicPr>
          <p:nvPr/>
        </p:nvPicPr>
        <p:blipFill>
          <a:blip r:embed="rId3" cstate="print"/>
          <a:stretch>
            <a:fillRect/>
          </a:stretch>
        </p:blipFill>
        <p:spPr>
          <a:xfrm>
            <a:off x="7164288" y="4365104"/>
            <a:ext cx="1216531" cy="7920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‘Duty of Care’:</a:t>
            </a:r>
          </a:p>
          <a:p>
            <a:pPr marL="360000" indent="-360000">
              <a:spcBef>
                <a:spcPts val="600"/>
              </a:spcBef>
              <a:spcAft>
                <a:spcPts val="1200"/>
              </a:spcAft>
            </a:pPr>
            <a:r>
              <a:rPr lang="en-US" sz="2200" dirty="0" smtClean="0">
                <a:latin typeface="Helvetica" pitchFamily="34" charset="0"/>
              </a:rPr>
              <a:t>A common law obligation imposed on all businesses</a:t>
            </a:r>
          </a:p>
          <a:p>
            <a:pPr marL="360000" indent="-360000">
              <a:spcBef>
                <a:spcPts val="600"/>
              </a:spcBef>
              <a:spcAft>
                <a:spcPts val="1200"/>
              </a:spcAft>
            </a:pPr>
            <a:r>
              <a:rPr lang="en-US" sz="2200" dirty="0" smtClean="0">
                <a:latin typeface="Helvetica" pitchFamily="34" charset="0"/>
              </a:rPr>
              <a:t>The hotel must: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Take reasonable care to prevent foreseeable </a:t>
            </a:r>
            <a:br>
              <a:rPr lang="en-US" sz="2200" dirty="0" smtClean="0">
                <a:latin typeface="Helvetica" pitchFamily="34" charset="0"/>
              </a:rPr>
            </a:br>
            <a:r>
              <a:rPr lang="en-US" sz="2200" dirty="0" smtClean="0">
                <a:latin typeface="Helvetica" pitchFamily="34" charset="0"/>
              </a:rPr>
              <a:t>harm to guests and damage to their property</a:t>
            </a:r>
          </a:p>
          <a:p>
            <a:pPr marL="360000" indent="-360000">
              <a:spcBef>
                <a:spcPts val="600"/>
              </a:spcBef>
              <a:spcAft>
                <a:spcPts val="1200"/>
              </a:spcAft>
            </a:pPr>
            <a:r>
              <a:rPr lang="en-US" sz="2200" dirty="0" smtClean="0">
                <a:latin typeface="Helvetica" pitchFamily="34" charset="0"/>
              </a:rPr>
              <a:t>Hotel can be sued if it is negligent in this </a:t>
            </a:r>
            <a:br>
              <a:rPr lang="en-US" sz="2200" dirty="0" smtClean="0">
                <a:latin typeface="Helvetica" pitchFamily="34" charset="0"/>
              </a:rPr>
            </a:br>
            <a:r>
              <a:rPr lang="en-US" sz="2200" dirty="0" smtClean="0">
                <a:latin typeface="Helvetica" pitchFamily="34" charset="0"/>
              </a:rPr>
              <a:t>regard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descr="MP900178041(1).JPG"/>
          <p:cNvPicPr>
            <a:picLocks noChangeAspect="1"/>
          </p:cNvPicPr>
          <p:nvPr/>
        </p:nvPicPr>
        <p:blipFill>
          <a:blip r:embed="rId3" cstate="print"/>
          <a:stretch>
            <a:fillRect/>
          </a:stretch>
        </p:blipFill>
        <p:spPr>
          <a:xfrm>
            <a:off x="6444208" y="4077072"/>
            <a:ext cx="1929408" cy="12862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‘Exclusion Clauses’:</a:t>
            </a:r>
          </a:p>
          <a:p>
            <a:pPr marL="360000" indent="-360000">
              <a:spcBef>
                <a:spcPts val="600"/>
              </a:spcBef>
              <a:spcAft>
                <a:spcPts val="1200"/>
              </a:spcAft>
            </a:pPr>
            <a:r>
              <a:rPr lang="en-US" sz="2200" dirty="0" smtClean="0">
                <a:latin typeface="Helvetica" pitchFamily="34" charset="0"/>
              </a:rPr>
              <a:t>Seek to limit the liability or legal exposure of the venue</a:t>
            </a:r>
          </a:p>
          <a:p>
            <a:pPr marL="360000" indent="-360000">
              <a:spcBef>
                <a:spcPts val="600"/>
              </a:spcBef>
              <a:spcAft>
                <a:spcPts val="1200"/>
              </a:spcAft>
            </a:pPr>
            <a:r>
              <a:rPr lang="en-US" sz="2200" dirty="0" smtClean="0">
                <a:latin typeface="Helvetica" pitchFamily="34" charset="0"/>
              </a:rPr>
              <a:t>They must be brought to guest’s attention to be valid</a:t>
            </a:r>
          </a:p>
          <a:p>
            <a:pPr marL="360000" indent="-360000">
              <a:spcBef>
                <a:spcPts val="600"/>
              </a:spcBef>
              <a:spcAft>
                <a:spcPts val="1200"/>
              </a:spcAft>
            </a:pPr>
            <a:r>
              <a:rPr lang="en-US" sz="2200" dirty="0" smtClean="0">
                <a:latin typeface="Helvetica" pitchFamily="34" charset="0"/>
              </a:rPr>
              <a:t>Courts increasingly refusing to allow businesses to rely on Exclusion Clauses in order to escape legally imposed liability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MP900341775.JPG"/>
          <p:cNvPicPr>
            <a:picLocks noChangeAspect="1"/>
          </p:cNvPicPr>
          <p:nvPr/>
        </p:nvPicPr>
        <p:blipFill>
          <a:blip r:embed="rId3" cstate="print"/>
          <a:stretch>
            <a:fillRect/>
          </a:stretch>
        </p:blipFill>
        <p:spPr>
          <a:xfrm>
            <a:off x="6012160" y="4581128"/>
            <a:ext cx="1638684" cy="11689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legal requirements applying to guest property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‘Theft’ = stealing</a:t>
            </a:r>
          </a:p>
          <a:p>
            <a:pPr marL="0" indent="0">
              <a:spcBef>
                <a:spcPts val="600"/>
              </a:spcBef>
              <a:spcAft>
                <a:spcPts val="1200"/>
              </a:spcAft>
              <a:buNone/>
            </a:pPr>
            <a:r>
              <a:rPr lang="en-US" sz="2200" dirty="0" smtClean="0">
                <a:latin typeface="Helvetica" pitchFamily="34" charset="0"/>
              </a:rPr>
              <a:t>Stealing is:</a:t>
            </a:r>
          </a:p>
          <a:p>
            <a:pPr marL="360000" indent="-360000">
              <a:spcBef>
                <a:spcPts val="600"/>
              </a:spcBef>
              <a:spcAft>
                <a:spcPts val="1200"/>
              </a:spcAft>
            </a:pPr>
            <a:r>
              <a:rPr lang="en-US" sz="2200" dirty="0" smtClean="0">
                <a:latin typeface="Helvetica" pitchFamily="34" charset="0"/>
              </a:rPr>
              <a:t>Taking something without permission, and</a:t>
            </a:r>
          </a:p>
          <a:p>
            <a:pPr marL="360000" indent="-360000">
              <a:spcBef>
                <a:spcPts val="600"/>
              </a:spcBef>
              <a:spcAft>
                <a:spcPts val="1200"/>
              </a:spcAft>
            </a:pPr>
            <a:r>
              <a:rPr lang="en-US" sz="2200" dirty="0" smtClean="0">
                <a:latin typeface="Helvetica" pitchFamily="34" charset="0"/>
              </a:rPr>
              <a:t>Keeping it or selling it</a:t>
            </a:r>
            <a:br>
              <a:rPr lang="en-US" sz="2200" dirty="0" smtClean="0">
                <a:latin typeface="Helvetica" pitchFamily="34" charset="0"/>
              </a:rPr>
            </a:br>
            <a:endParaRPr lang="en-US" sz="2200" dirty="0" smtClean="0">
              <a:latin typeface="Helvetica" pitchFamily="34" charset="0"/>
            </a:endParaRPr>
          </a:p>
          <a:p>
            <a:pPr marL="360000" indent="-360000" algn="ctr">
              <a:spcBef>
                <a:spcPts val="600"/>
              </a:spcBef>
              <a:spcAft>
                <a:spcPts val="1200"/>
              </a:spcAft>
              <a:buNone/>
            </a:pPr>
            <a:r>
              <a:rPr lang="en-US" sz="2200" i="1" dirty="0" smtClean="0">
                <a:latin typeface="Helvetica" pitchFamily="34" charset="0"/>
              </a:rPr>
              <a:t>There is an offence called ‘theft by finding’.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descr="MC900287504.WMF"/>
          <p:cNvPicPr>
            <a:picLocks noChangeAspect="1"/>
          </p:cNvPicPr>
          <p:nvPr/>
        </p:nvPicPr>
        <p:blipFill>
          <a:blip r:embed="rId3" cstate="print"/>
          <a:stretch>
            <a:fillRect/>
          </a:stretch>
        </p:blipFill>
        <p:spPr>
          <a:xfrm>
            <a:off x="7020272" y="3573016"/>
            <a:ext cx="1357271" cy="163914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Undertake relevant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Training is a common pre-requisite – it will:</a:t>
            </a:r>
          </a:p>
          <a:p>
            <a:pPr marL="360000" indent="-360000">
              <a:spcBef>
                <a:spcPts val="600"/>
              </a:spcBef>
              <a:spcAft>
                <a:spcPts val="1200"/>
              </a:spcAft>
            </a:pPr>
            <a:r>
              <a:rPr lang="en-US" sz="2200" dirty="0" smtClean="0">
                <a:latin typeface="Helvetica" pitchFamily="34" charset="0"/>
              </a:rPr>
              <a:t>Be structured and formalized</a:t>
            </a:r>
          </a:p>
          <a:p>
            <a:pPr marL="360000" indent="-360000">
              <a:spcBef>
                <a:spcPts val="600"/>
              </a:spcBef>
              <a:spcAft>
                <a:spcPts val="1200"/>
              </a:spcAft>
            </a:pPr>
            <a:r>
              <a:rPr lang="en-US" sz="2200" dirty="0" smtClean="0">
                <a:latin typeface="Helvetica" pitchFamily="34" charset="0"/>
              </a:rPr>
              <a:t>Address ‘skills’, ‘knowledge’ and ‘attitudes’</a:t>
            </a:r>
          </a:p>
          <a:p>
            <a:pPr marL="360000" indent="-360000">
              <a:spcBef>
                <a:spcPts val="600"/>
              </a:spcBef>
              <a:spcAft>
                <a:spcPts val="1200"/>
              </a:spcAft>
            </a:pPr>
            <a:r>
              <a:rPr lang="en-US" sz="2200" dirty="0" smtClean="0">
                <a:latin typeface="Helvetica" pitchFamily="34" charset="0"/>
              </a:rPr>
              <a:t>Comprise theory, demonstrations and practical sessions</a:t>
            </a:r>
          </a:p>
          <a:p>
            <a:pPr marL="360000" indent="-360000">
              <a:spcBef>
                <a:spcPts val="600"/>
              </a:spcBef>
              <a:spcAft>
                <a:spcPts val="1200"/>
              </a:spcAft>
            </a:pPr>
            <a:r>
              <a:rPr lang="en-US" sz="2200" dirty="0" smtClean="0">
                <a:latin typeface="Helvetica" pitchFamily="34" charset="0"/>
              </a:rPr>
              <a:t>Still require supervision of your first few </a:t>
            </a:r>
            <a:br>
              <a:rPr lang="en-US" sz="2200" dirty="0" smtClean="0">
                <a:latin typeface="Helvetica" pitchFamily="34" charset="0"/>
              </a:rPr>
            </a:br>
            <a:r>
              <a:rPr lang="en-US" sz="2200" dirty="0" smtClean="0">
                <a:latin typeface="Helvetica" pitchFamily="34" charset="0"/>
              </a:rPr>
              <a:t>workplace tasks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21816_training.jpg"/>
          <p:cNvPicPr>
            <a:picLocks noChangeAspect="1"/>
          </p:cNvPicPr>
          <p:nvPr/>
        </p:nvPicPr>
        <p:blipFill>
          <a:blip r:embed="rId3" cstate="print"/>
          <a:stretch>
            <a:fillRect/>
          </a:stretch>
        </p:blipFill>
        <p:spPr>
          <a:xfrm>
            <a:off x="6660232" y="4005064"/>
            <a:ext cx="1716782" cy="12818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Undertake relevant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Training topics:</a:t>
            </a:r>
          </a:p>
          <a:p>
            <a:pPr marL="360000" indent="-360000">
              <a:spcBef>
                <a:spcPts val="600"/>
              </a:spcBef>
              <a:spcAft>
                <a:spcPts val="1200"/>
              </a:spcAft>
            </a:pPr>
            <a:r>
              <a:rPr lang="en-US" sz="2200" dirty="0" smtClean="0">
                <a:latin typeface="Helvetica" pitchFamily="34" charset="0"/>
              </a:rPr>
              <a:t>Identification and use of equipment</a:t>
            </a:r>
          </a:p>
          <a:p>
            <a:pPr marL="360000" indent="-360000">
              <a:spcBef>
                <a:spcPts val="600"/>
              </a:spcBef>
              <a:spcAft>
                <a:spcPts val="1200"/>
              </a:spcAft>
            </a:pPr>
            <a:r>
              <a:rPr lang="en-US" sz="2200" dirty="0" smtClean="0">
                <a:latin typeface="Helvetica" pitchFamily="34" charset="0"/>
              </a:rPr>
              <a:t>Examples of threats</a:t>
            </a:r>
          </a:p>
          <a:p>
            <a:pPr marL="360000" indent="-360000">
              <a:spcBef>
                <a:spcPts val="600"/>
              </a:spcBef>
              <a:spcAft>
                <a:spcPts val="1200"/>
              </a:spcAft>
            </a:pPr>
            <a:r>
              <a:rPr lang="en-US" sz="2200" dirty="0" smtClean="0">
                <a:latin typeface="Helvetica" pitchFamily="34" charset="0"/>
              </a:rPr>
              <a:t>How to identify threats</a:t>
            </a:r>
          </a:p>
          <a:p>
            <a:pPr marL="360000" indent="-360000">
              <a:spcBef>
                <a:spcPts val="600"/>
              </a:spcBef>
              <a:spcAft>
                <a:spcPts val="1200"/>
              </a:spcAft>
            </a:pPr>
            <a:r>
              <a:rPr lang="en-US" sz="2200" dirty="0" smtClean="0">
                <a:latin typeface="Helvetica" pitchFamily="34" charset="0"/>
              </a:rPr>
              <a:t>Route identification</a:t>
            </a:r>
          </a:p>
          <a:p>
            <a:pPr marL="360000" indent="-360000">
              <a:spcBef>
                <a:spcPts val="600"/>
              </a:spcBef>
              <a:spcAft>
                <a:spcPts val="1200"/>
              </a:spcAft>
            </a:pPr>
            <a:r>
              <a:rPr lang="en-US" sz="2200" dirty="0" smtClean="0">
                <a:latin typeface="Helvetica" pitchFamily="34" charset="0"/>
              </a:rPr>
              <a:t>Location and operation of security systems, </a:t>
            </a:r>
            <a:br>
              <a:rPr lang="en-US" sz="2200" dirty="0" smtClean="0">
                <a:latin typeface="Helvetica" pitchFamily="34" charset="0"/>
              </a:rPr>
            </a:br>
            <a:r>
              <a:rPr lang="en-US" sz="2200" dirty="0" smtClean="0">
                <a:latin typeface="Helvetica" pitchFamily="34" charset="0"/>
              </a:rPr>
              <a:t>technology and equipment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descr="MP900411841.JPG"/>
          <p:cNvPicPr>
            <a:picLocks noChangeAspect="1"/>
          </p:cNvPicPr>
          <p:nvPr/>
        </p:nvPicPr>
        <p:blipFill>
          <a:blip r:embed="rId3" cstate="print"/>
          <a:stretch>
            <a:fillRect/>
          </a:stretch>
        </p:blipFill>
        <p:spPr>
          <a:xfrm>
            <a:off x="6732240" y="4077072"/>
            <a:ext cx="1659068" cy="114190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Undertake relevant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Legal issues</a:t>
            </a:r>
          </a:p>
          <a:p>
            <a:pPr marL="360000" indent="-360000">
              <a:spcBef>
                <a:spcPts val="600"/>
              </a:spcBef>
              <a:spcAft>
                <a:spcPts val="1200"/>
              </a:spcAft>
            </a:pPr>
            <a:r>
              <a:rPr lang="en-US" sz="2200" dirty="0" smtClean="0">
                <a:latin typeface="Helvetica" pitchFamily="34" charset="0"/>
              </a:rPr>
              <a:t>Internal requirements, protocols, policies and SOPs</a:t>
            </a:r>
          </a:p>
          <a:p>
            <a:pPr marL="360000" indent="-360000">
              <a:spcBef>
                <a:spcPts val="600"/>
              </a:spcBef>
              <a:spcAft>
                <a:spcPts val="1200"/>
              </a:spcAft>
            </a:pPr>
            <a:r>
              <a:rPr lang="en-US" sz="2200" dirty="0" smtClean="0">
                <a:latin typeface="Helvetica" pitchFamily="34" charset="0"/>
              </a:rPr>
              <a:t>Internal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MP900443156.JPG"/>
          <p:cNvPicPr>
            <a:picLocks noChangeAspect="1"/>
          </p:cNvPicPr>
          <p:nvPr/>
        </p:nvPicPr>
        <p:blipFill>
          <a:blip r:embed="rId3" cstate="print"/>
          <a:stretch>
            <a:fillRect/>
          </a:stretch>
        </p:blipFill>
        <p:spPr>
          <a:xfrm>
            <a:off x="7284301" y="3501008"/>
            <a:ext cx="1121800" cy="16827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Undertake relevant training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Trainers may include:</a:t>
            </a:r>
          </a:p>
          <a:p>
            <a:pPr marL="360000" indent="-360000">
              <a:spcBef>
                <a:spcPts val="600"/>
              </a:spcBef>
              <a:spcAft>
                <a:spcPts val="1200"/>
              </a:spcAft>
            </a:pPr>
            <a:r>
              <a:rPr lang="en-US" sz="2200" dirty="0" smtClean="0">
                <a:latin typeface="Helvetica" pitchFamily="34" charset="0"/>
              </a:rPr>
              <a:t>Workplace trainers</a:t>
            </a:r>
          </a:p>
          <a:p>
            <a:pPr marL="360000" indent="-360000">
              <a:spcBef>
                <a:spcPts val="600"/>
              </a:spcBef>
              <a:spcAft>
                <a:spcPts val="1200"/>
              </a:spcAft>
            </a:pPr>
            <a:r>
              <a:rPr lang="en-US" sz="2200" dirty="0" smtClean="0">
                <a:latin typeface="Helvetica" pitchFamily="34" charset="0"/>
              </a:rPr>
              <a:t>Head of Security</a:t>
            </a:r>
          </a:p>
          <a:p>
            <a:pPr marL="360000" indent="-360000">
              <a:spcBef>
                <a:spcPts val="600"/>
              </a:spcBef>
              <a:spcAft>
                <a:spcPts val="1200"/>
              </a:spcAft>
            </a:pPr>
            <a:r>
              <a:rPr lang="en-US" sz="2200" dirty="0" smtClean="0">
                <a:latin typeface="Helvetica" pitchFamily="34" charset="0"/>
              </a:rPr>
              <a:t>Front Officer Manager</a:t>
            </a:r>
          </a:p>
          <a:p>
            <a:pPr marL="360000" indent="-360000">
              <a:spcBef>
                <a:spcPts val="600"/>
              </a:spcBef>
              <a:spcAft>
                <a:spcPts val="1200"/>
              </a:spcAft>
            </a:pPr>
            <a:r>
              <a:rPr lang="en-US" sz="2200" dirty="0" smtClean="0">
                <a:latin typeface="Helvetica" pitchFamily="34" charset="0"/>
              </a:rPr>
              <a:t>Experienced staff</a:t>
            </a:r>
          </a:p>
          <a:p>
            <a:pPr marL="360000" indent="-360000">
              <a:spcBef>
                <a:spcPts val="600"/>
              </a:spcBef>
              <a:spcAft>
                <a:spcPts val="1200"/>
              </a:spcAft>
            </a:pPr>
            <a:r>
              <a:rPr lang="en-US" sz="2200" dirty="0" smtClean="0">
                <a:latin typeface="Helvetica" pitchFamily="34" charset="0"/>
              </a:rPr>
              <a:t>Representatives from external </a:t>
            </a:r>
            <a:br>
              <a:rPr lang="en-US" sz="2200" dirty="0" smtClean="0">
                <a:latin typeface="Helvetica" pitchFamily="34" charset="0"/>
              </a:rPr>
            </a:br>
            <a:r>
              <a:rPr lang="en-US" sz="2200" dirty="0" smtClean="0">
                <a:latin typeface="Helvetica" pitchFamily="34" charset="0"/>
              </a:rPr>
              <a:t>security providers</a:t>
            </a:r>
          </a:p>
          <a:p>
            <a:pPr marL="360000" indent="-360000">
              <a:spcBef>
                <a:spcPts val="600"/>
              </a:spcBef>
              <a:spcAft>
                <a:spcPts val="1200"/>
              </a:spcAft>
            </a:pPr>
            <a:r>
              <a:rPr lang="en-US" sz="2200" dirty="0" smtClean="0">
                <a:latin typeface="Helvetica" pitchFamily="34" charset="0"/>
              </a:rPr>
              <a:t>Police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descr="140579_lawyers[1].jpg"/>
          <p:cNvPicPr>
            <a:picLocks noChangeAspect="1"/>
          </p:cNvPicPr>
          <p:nvPr/>
        </p:nvPicPr>
        <p:blipFill>
          <a:blip r:embed="rId3" cstate="print"/>
          <a:stretch>
            <a:fillRect/>
          </a:stretch>
        </p:blipFill>
        <p:spPr>
          <a:xfrm>
            <a:off x="6516216" y="3789040"/>
            <a:ext cx="1849388" cy="13566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Personal characteristics required:</a:t>
            </a:r>
          </a:p>
          <a:p>
            <a:pPr marL="360000" indent="-360000">
              <a:spcBef>
                <a:spcPts val="600"/>
              </a:spcBef>
              <a:spcAft>
                <a:spcPts val="1200"/>
              </a:spcAft>
            </a:pPr>
            <a:r>
              <a:rPr lang="en-US" sz="2200" dirty="0" smtClean="0">
                <a:latin typeface="Helvetica" pitchFamily="34" charset="0"/>
              </a:rPr>
              <a:t>Honesty</a:t>
            </a:r>
          </a:p>
          <a:p>
            <a:pPr marL="360000" indent="-360000">
              <a:spcBef>
                <a:spcPts val="600"/>
              </a:spcBef>
              <a:spcAft>
                <a:spcPts val="1200"/>
              </a:spcAft>
            </a:pPr>
            <a:r>
              <a:rPr lang="en-US" sz="2200" dirty="0" smtClean="0">
                <a:latin typeface="Helvetica" pitchFamily="34" charset="0"/>
              </a:rPr>
              <a:t>High-level interpersonal skills</a:t>
            </a:r>
          </a:p>
          <a:p>
            <a:pPr marL="360000" indent="-360000">
              <a:spcBef>
                <a:spcPts val="600"/>
              </a:spcBef>
              <a:spcAft>
                <a:spcPts val="1200"/>
              </a:spcAft>
            </a:pPr>
            <a:r>
              <a:rPr lang="en-US" sz="2200" dirty="0" smtClean="0">
                <a:latin typeface="Helvetica" pitchFamily="34" charset="0"/>
              </a:rPr>
              <a:t>Vigilance</a:t>
            </a:r>
          </a:p>
          <a:p>
            <a:pPr marL="360000" indent="-360000">
              <a:spcBef>
                <a:spcPts val="600"/>
              </a:spcBef>
              <a:spcAft>
                <a:spcPts val="1200"/>
              </a:spcAft>
            </a:pPr>
            <a:r>
              <a:rPr lang="en-US" sz="2200" dirty="0" smtClean="0">
                <a:latin typeface="Helvetica" pitchFamily="34" charset="0"/>
              </a:rPr>
              <a:t>Observation skills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descr="Handshake.jpg"/>
          <p:cNvPicPr>
            <a:picLocks noChangeAspect="1"/>
          </p:cNvPicPr>
          <p:nvPr/>
        </p:nvPicPr>
        <p:blipFill>
          <a:blip r:embed="rId3" cstate="print"/>
          <a:stretch>
            <a:fillRect/>
          </a:stretch>
        </p:blipFill>
        <p:spPr>
          <a:xfrm>
            <a:off x="7092280" y="4077072"/>
            <a:ext cx="1216517" cy="105423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Ability to follow directions</a:t>
            </a:r>
          </a:p>
          <a:p>
            <a:pPr marL="360000" indent="-360000">
              <a:spcBef>
                <a:spcPts val="600"/>
              </a:spcBef>
              <a:spcAft>
                <a:spcPts val="1200"/>
              </a:spcAft>
            </a:pPr>
            <a:r>
              <a:rPr lang="en-US" sz="2200" dirty="0" smtClean="0">
                <a:latin typeface="Helvetica" pitchFamily="34" charset="0"/>
              </a:rPr>
              <a:t>Attention to detail</a:t>
            </a:r>
          </a:p>
          <a:p>
            <a:pPr marL="360000" indent="-360000">
              <a:spcBef>
                <a:spcPts val="600"/>
              </a:spcBef>
              <a:spcAft>
                <a:spcPts val="1200"/>
              </a:spcAft>
            </a:pPr>
            <a:r>
              <a:rPr lang="en-US" sz="2200" dirty="0" smtClean="0">
                <a:latin typeface="Helvetica" pitchFamily="34" charset="0"/>
              </a:rPr>
              <a:t>Leadership</a:t>
            </a:r>
          </a:p>
          <a:p>
            <a:pPr marL="360000" indent="-360000">
              <a:spcBef>
                <a:spcPts val="600"/>
              </a:spcBef>
              <a:spcAft>
                <a:spcPts val="1200"/>
              </a:spcAft>
            </a:pPr>
            <a:r>
              <a:rPr lang="en-US" sz="2200" dirty="0" smtClean="0">
                <a:latin typeface="Helvetica" pitchFamily="34" charset="0"/>
              </a:rPr>
              <a:t>Common sense</a:t>
            </a:r>
          </a:p>
          <a:p>
            <a:pPr marL="360000" indent="-360000">
              <a:spcBef>
                <a:spcPts val="600"/>
              </a:spcBef>
              <a:spcAft>
                <a:spcPts val="1200"/>
              </a:spcAft>
            </a:pPr>
            <a:r>
              <a:rPr lang="en-US" sz="2200" dirty="0" smtClean="0">
                <a:latin typeface="Helvetica" pitchFamily="34" charset="0"/>
              </a:rPr>
              <a:t>Ability to take action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MC900436089.WMF"/>
          <p:cNvPicPr>
            <a:picLocks noChangeAspect="1"/>
          </p:cNvPicPr>
          <p:nvPr/>
        </p:nvPicPr>
        <p:blipFill>
          <a:blip r:embed="rId3" cstate="print"/>
          <a:stretch>
            <a:fillRect/>
          </a:stretch>
        </p:blipFill>
        <p:spPr>
          <a:xfrm>
            <a:off x="7092280" y="3933056"/>
            <a:ext cx="1322015" cy="12299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High levels of personal presentation</a:t>
            </a:r>
          </a:p>
          <a:p>
            <a:pPr marL="360000" indent="-360000">
              <a:spcBef>
                <a:spcPts val="600"/>
              </a:spcBef>
              <a:spcAft>
                <a:spcPts val="1200"/>
              </a:spcAft>
            </a:pPr>
            <a:r>
              <a:rPr lang="en-US" sz="2200" dirty="0" smtClean="0">
                <a:latin typeface="Helvetica" pitchFamily="34" charset="0"/>
              </a:rPr>
              <a:t>Confidence</a:t>
            </a:r>
          </a:p>
          <a:p>
            <a:pPr marL="360000" indent="-360000">
              <a:spcBef>
                <a:spcPts val="600"/>
              </a:spcBef>
              <a:spcAft>
                <a:spcPts val="1200"/>
              </a:spcAft>
            </a:pPr>
            <a:r>
              <a:rPr lang="en-US" sz="2200" dirty="0" smtClean="0">
                <a:latin typeface="Helvetica" pitchFamily="34" charset="0"/>
              </a:rPr>
              <a:t>Formal training</a:t>
            </a:r>
          </a:p>
          <a:p>
            <a:pPr marL="360000" indent="-360000">
              <a:spcBef>
                <a:spcPts val="600"/>
              </a:spcBef>
              <a:spcAft>
                <a:spcPts val="1200"/>
              </a:spcAft>
            </a:pPr>
            <a:r>
              <a:rPr lang="en-US" sz="2200" dirty="0" smtClean="0">
                <a:latin typeface="Helvetica" pitchFamily="34" charset="0"/>
              </a:rPr>
              <a:t>Fit and agile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MC900301214.WMF"/>
          <p:cNvPicPr>
            <a:picLocks noChangeAspect="1"/>
          </p:cNvPicPr>
          <p:nvPr/>
        </p:nvPicPr>
        <p:blipFill>
          <a:blip r:embed="rId3" cstate="print"/>
          <a:stretch>
            <a:fillRect/>
          </a:stretch>
        </p:blipFill>
        <p:spPr>
          <a:xfrm>
            <a:off x="7380312" y="3212976"/>
            <a:ext cx="999439" cy="18397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Employers may also value:</a:t>
            </a:r>
          </a:p>
          <a:p>
            <a:pPr marL="360000" indent="-360000">
              <a:spcBef>
                <a:spcPts val="600"/>
              </a:spcBef>
              <a:spcAft>
                <a:spcPts val="1200"/>
              </a:spcAft>
            </a:pPr>
            <a:r>
              <a:rPr lang="en-US" sz="2200" dirty="0" smtClean="0">
                <a:latin typeface="Helvetica" pitchFamily="34" charset="0"/>
              </a:rPr>
              <a:t>Experience</a:t>
            </a:r>
          </a:p>
          <a:p>
            <a:pPr marL="360000" indent="-360000">
              <a:spcBef>
                <a:spcPts val="600"/>
              </a:spcBef>
              <a:spcAft>
                <a:spcPts val="1200"/>
              </a:spcAft>
            </a:pPr>
            <a:r>
              <a:rPr lang="en-US" sz="2200" dirty="0" smtClean="0">
                <a:latin typeface="Helvetica" pitchFamily="34" charset="0"/>
              </a:rPr>
              <a:t>Physical size</a:t>
            </a:r>
          </a:p>
          <a:p>
            <a:pPr marL="360000" indent="-360000">
              <a:spcBef>
                <a:spcPts val="600"/>
              </a:spcBef>
              <a:spcAft>
                <a:spcPts val="1200"/>
              </a:spcAft>
            </a:pPr>
            <a:r>
              <a:rPr lang="en-US" sz="2200" dirty="0" smtClean="0">
                <a:latin typeface="Helvetica" pitchFamily="34" charset="0"/>
              </a:rPr>
              <a:t>Current certification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MC900054537.WMF"/>
          <p:cNvPicPr>
            <a:picLocks noChangeAspect="1"/>
          </p:cNvPicPr>
          <p:nvPr/>
        </p:nvPicPr>
        <p:blipFill>
          <a:blip r:embed="rId3" cstate="print"/>
          <a:stretch>
            <a:fillRect/>
          </a:stretch>
        </p:blipFill>
        <p:spPr>
          <a:xfrm>
            <a:off x="7596336" y="2996952"/>
            <a:ext cx="725210" cy="20493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 knowing:</a:t>
            </a:r>
          </a:p>
          <a:p>
            <a:pPr marL="360000" indent="-360000">
              <a:spcBef>
                <a:spcPts val="600"/>
              </a:spcBef>
              <a:spcAft>
                <a:spcPts val="1200"/>
              </a:spcAft>
            </a:pPr>
            <a:r>
              <a:rPr lang="en-AU" sz="2200" dirty="0" smtClean="0">
                <a:latin typeface="Helvetica" pitchFamily="34" charset="0"/>
              </a:rPr>
              <a:t>What the situation is normally like when everything is safe and secure</a:t>
            </a:r>
          </a:p>
          <a:p>
            <a:pPr marL="360000" indent="-360000">
              <a:spcBef>
                <a:spcPts val="600"/>
              </a:spcBef>
              <a:spcAft>
                <a:spcPts val="1200"/>
              </a:spcAft>
            </a:pPr>
            <a:r>
              <a:rPr lang="en-AU" sz="2200" dirty="0" smtClean="0">
                <a:latin typeface="Helvetica" pitchFamily="34" charset="0"/>
              </a:rPr>
              <a:t>If it is changing</a:t>
            </a:r>
          </a:p>
          <a:p>
            <a:pPr marL="360000" indent="-360000">
              <a:spcBef>
                <a:spcPts val="600"/>
              </a:spcBef>
              <a:spcAft>
                <a:spcPts val="1200"/>
              </a:spcAft>
            </a:pPr>
            <a:r>
              <a:rPr lang="en-AU" sz="2200" dirty="0" smtClean="0">
                <a:latin typeface="Helvetica" pitchFamily="34" charset="0"/>
              </a:rPr>
              <a:t>How it is changing</a:t>
            </a:r>
          </a:p>
          <a:p>
            <a:pPr marL="360000" indent="-360000">
              <a:spcBef>
                <a:spcPts val="600"/>
              </a:spcBef>
              <a:spcAft>
                <a:spcPts val="1200"/>
              </a:spcAft>
            </a:pPr>
            <a:r>
              <a:rPr lang="en-AU" sz="2200" dirty="0" smtClean="0">
                <a:latin typeface="Helvetica" pitchFamily="34" charset="0"/>
              </a:rPr>
              <a:t>Why it is changing</a:t>
            </a:r>
          </a:p>
          <a:p>
            <a:pPr marL="360000" indent="-360000">
              <a:spcBef>
                <a:spcPts val="600"/>
              </a:spcBef>
              <a:spcAft>
                <a:spcPts val="1200"/>
              </a:spcAft>
            </a:pPr>
            <a:r>
              <a:rPr lang="en-AU" sz="2200" dirty="0" smtClean="0">
                <a:latin typeface="Helvetica" pitchFamily="34" charset="0"/>
              </a:rPr>
              <a:t>The threat presented by changing </a:t>
            </a:r>
            <a:br>
              <a:rPr lang="en-AU" sz="2200" dirty="0" smtClean="0">
                <a:latin typeface="Helvetica" pitchFamily="34" charset="0"/>
              </a:rPr>
            </a:br>
            <a:r>
              <a:rPr lang="en-AU" sz="2200" dirty="0" smtClean="0">
                <a:latin typeface="Helvetica" pitchFamily="34" charset="0"/>
              </a:rPr>
              <a:t>circumstances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MC900326590.WMF"/>
          <p:cNvPicPr>
            <a:picLocks noChangeAspect="1"/>
          </p:cNvPicPr>
          <p:nvPr/>
        </p:nvPicPr>
        <p:blipFill>
          <a:blip r:embed="rId3" cstate="print"/>
          <a:stretch>
            <a:fillRect/>
          </a:stretch>
        </p:blipFill>
        <p:spPr>
          <a:xfrm>
            <a:off x="6948264" y="4077072"/>
            <a:ext cx="1368357" cy="93610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relies heavily on:</a:t>
            </a:r>
          </a:p>
          <a:p>
            <a:pPr marL="360000" indent="-360000">
              <a:spcBef>
                <a:spcPts val="600"/>
              </a:spcBef>
              <a:spcAft>
                <a:spcPts val="1200"/>
              </a:spcAft>
            </a:pPr>
            <a:r>
              <a:rPr lang="en-US" sz="2200" dirty="0" smtClean="0">
                <a:latin typeface="Helvetica" pitchFamily="34" charset="0"/>
              </a:rPr>
              <a:t>Keeping eyes and ears open</a:t>
            </a:r>
          </a:p>
          <a:p>
            <a:pPr marL="360000" indent="-360000">
              <a:spcBef>
                <a:spcPts val="600"/>
              </a:spcBef>
              <a:spcAft>
                <a:spcPts val="1200"/>
              </a:spcAft>
            </a:pPr>
            <a:r>
              <a:rPr lang="en-US" sz="2200" dirty="0" smtClean="0">
                <a:latin typeface="Helvetica" pitchFamily="34" charset="0"/>
              </a:rPr>
              <a:t>Analyzing everything:</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What was it?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Why did it happen?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What does it mean?</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MC900056808.WMF"/>
          <p:cNvPicPr>
            <a:picLocks noChangeAspect="1"/>
          </p:cNvPicPr>
          <p:nvPr/>
        </p:nvPicPr>
        <p:blipFill>
          <a:blip r:embed="rId3" cstate="print"/>
          <a:stretch>
            <a:fillRect/>
          </a:stretch>
        </p:blipFill>
        <p:spPr>
          <a:xfrm>
            <a:off x="7380312" y="3284984"/>
            <a:ext cx="901822" cy="175039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characteristics of security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Situational Awareness is the basis for:</a:t>
            </a:r>
          </a:p>
          <a:p>
            <a:pPr marL="360000" indent="-360000">
              <a:spcBef>
                <a:spcPts val="600"/>
              </a:spcBef>
              <a:spcAft>
                <a:spcPts val="1200"/>
              </a:spcAft>
            </a:pPr>
            <a:r>
              <a:rPr lang="en-AU" sz="2200" dirty="0" smtClean="0">
                <a:latin typeface="Helvetica" pitchFamily="34" charset="0"/>
              </a:rPr>
              <a:t>Determining threat situations</a:t>
            </a:r>
          </a:p>
          <a:p>
            <a:pPr marL="360000" indent="-360000">
              <a:spcBef>
                <a:spcPts val="600"/>
              </a:spcBef>
              <a:spcAft>
                <a:spcPts val="1200"/>
              </a:spcAft>
            </a:pPr>
            <a:r>
              <a:rPr lang="en-AU" sz="2200" dirty="0" smtClean="0">
                <a:latin typeface="Helvetica" pitchFamily="34" charset="0"/>
              </a:rPr>
              <a:t>Identifying action needing to be taken</a:t>
            </a:r>
          </a:p>
          <a:p>
            <a:pPr marL="360000" indent="-360000">
              <a:spcBef>
                <a:spcPts val="600"/>
              </a:spcBef>
              <a:spcAft>
                <a:spcPts val="1200"/>
              </a:spcAft>
            </a:pPr>
            <a:r>
              <a:rPr lang="en-AU" sz="2200" dirty="0" smtClean="0">
                <a:latin typeface="Helvetica" pitchFamily="34" charset="0"/>
              </a:rPr>
              <a:t>Identifying what is ‘normal’ and things </a:t>
            </a:r>
            <a:br>
              <a:rPr lang="en-AU" sz="2200" dirty="0" smtClean="0">
                <a:latin typeface="Helvetica" pitchFamily="34" charset="0"/>
              </a:rPr>
            </a:br>
            <a:r>
              <a:rPr lang="en-AU" sz="2200" dirty="0" smtClean="0">
                <a:latin typeface="Helvetica" pitchFamily="34" charset="0"/>
              </a:rPr>
              <a:t>are not normal</a:t>
            </a:r>
          </a:p>
          <a:p>
            <a:pPr marL="360000" indent="-360000">
              <a:spcBef>
                <a:spcPts val="600"/>
              </a:spcBef>
              <a:spcAft>
                <a:spcPts val="1200"/>
              </a:spcAft>
            </a:pPr>
            <a:r>
              <a:rPr lang="en-AU" sz="2200" dirty="0" smtClean="0">
                <a:latin typeface="Helvetica" pitchFamily="34" charset="0"/>
              </a:rPr>
              <a:t>Prompt and effective responses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MP900400393.JPG"/>
          <p:cNvPicPr>
            <a:picLocks noChangeAspect="1"/>
          </p:cNvPicPr>
          <p:nvPr/>
        </p:nvPicPr>
        <p:blipFill>
          <a:blip r:embed="rId3" cstate="print"/>
          <a:stretch>
            <a:fillRect/>
          </a:stretch>
        </p:blipFill>
        <p:spPr>
          <a:xfrm>
            <a:off x="6948264" y="3645024"/>
            <a:ext cx="1383642" cy="14885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Plans should be prepared for all escort and carry jobs – regular jobs and one-off jobs.</a:t>
            </a:r>
          </a:p>
          <a:p>
            <a:pPr marL="0" indent="0">
              <a:spcBef>
                <a:spcPts val="600"/>
              </a:spcBef>
              <a:spcAft>
                <a:spcPts val="1200"/>
              </a:spcAft>
              <a:buNone/>
            </a:pPr>
            <a:r>
              <a:rPr lang="en-US" sz="2200" dirty="0" smtClean="0">
                <a:latin typeface="Helvetica" pitchFamily="34" charset="0"/>
              </a:rPr>
              <a:t>Regular jobs requiring planning can include:</a:t>
            </a:r>
          </a:p>
          <a:p>
            <a:pPr marL="360000" indent="-360000">
              <a:spcBef>
                <a:spcPts val="600"/>
              </a:spcBef>
              <a:spcAft>
                <a:spcPts val="1200"/>
              </a:spcAft>
            </a:pPr>
            <a:r>
              <a:rPr lang="en-US" sz="2200" dirty="0" smtClean="0">
                <a:latin typeface="Helvetica" pitchFamily="34" charset="0"/>
              </a:rPr>
              <a:t>Taking cash floats to register/terminals</a:t>
            </a:r>
          </a:p>
          <a:p>
            <a:pPr marL="360000" indent="-360000">
              <a:spcBef>
                <a:spcPts val="600"/>
              </a:spcBef>
              <a:spcAft>
                <a:spcPts val="1200"/>
              </a:spcAft>
            </a:pPr>
            <a:r>
              <a:rPr lang="en-US" sz="2200" dirty="0" smtClean="0">
                <a:latin typeface="Helvetica" pitchFamily="34" charset="0"/>
              </a:rPr>
              <a:t>Taking money from registers or terminals </a:t>
            </a:r>
            <a:br>
              <a:rPr lang="en-US" sz="2200" dirty="0" smtClean="0">
                <a:latin typeface="Helvetica" pitchFamily="34" charset="0"/>
              </a:rPr>
            </a:br>
            <a:r>
              <a:rPr lang="en-US" sz="2200" dirty="0" smtClean="0">
                <a:latin typeface="Helvetica" pitchFamily="34" charset="0"/>
              </a:rPr>
              <a:t>during trade</a:t>
            </a:r>
          </a:p>
          <a:p>
            <a:pPr marL="360000" indent="-360000">
              <a:spcBef>
                <a:spcPts val="600"/>
              </a:spcBef>
              <a:spcAft>
                <a:spcPts val="1200"/>
              </a:spcAft>
            </a:pPr>
            <a:r>
              <a:rPr lang="en-US" sz="2200" dirty="0" smtClean="0">
                <a:latin typeface="Helvetica" pitchFamily="34" charset="0"/>
              </a:rPr>
              <a:t>Transferring cash at end of day from </a:t>
            </a:r>
            <a:br>
              <a:rPr lang="en-US" sz="2200" dirty="0" smtClean="0">
                <a:latin typeface="Helvetica" pitchFamily="34" charset="0"/>
              </a:rPr>
            </a:br>
            <a:r>
              <a:rPr lang="en-US" sz="2200" dirty="0" smtClean="0">
                <a:latin typeface="Helvetica" pitchFamily="34" charset="0"/>
              </a:rPr>
              <a:t>sales points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MC900295465.WMF"/>
          <p:cNvPicPr>
            <a:picLocks noChangeAspect="1"/>
          </p:cNvPicPr>
          <p:nvPr/>
        </p:nvPicPr>
        <p:blipFill>
          <a:blip r:embed="rId3" cstate="print"/>
          <a:stretch>
            <a:fillRect/>
          </a:stretch>
        </p:blipFill>
        <p:spPr>
          <a:xfrm>
            <a:off x="7216940" y="3356992"/>
            <a:ext cx="1177025" cy="160967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Staff and/or management escorts: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meetings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car after work</a:t>
            </a:r>
          </a:p>
          <a:p>
            <a:pPr marL="360000" indent="-360000">
              <a:spcBef>
                <a:spcPts val="600"/>
              </a:spcBef>
              <a:spcAft>
                <a:spcPts val="1200"/>
              </a:spcAft>
            </a:pPr>
            <a:r>
              <a:rPr lang="en-US" sz="2200" dirty="0" smtClean="0">
                <a:latin typeface="Helvetica" pitchFamily="34" charset="0"/>
              </a:rPr>
              <a:t>Taking cash to bank</a:t>
            </a:r>
          </a:p>
          <a:p>
            <a:pPr marL="360000" indent="-360000">
              <a:spcBef>
                <a:spcPts val="600"/>
              </a:spcBef>
              <a:spcAft>
                <a:spcPts val="1200"/>
              </a:spcAft>
            </a:pPr>
            <a:r>
              <a:rPr lang="en-US" sz="2200" dirty="0" smtClean="0">
                <a:latin typeface="Helvetica" pitchFamily="34" charset="0"/>
              </a:rPr>
              <a:t>Bringing change from bank to venue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6" name="Picture 5" descr="MM910001104.GIF"/>
          <p:cNvPicPr>
            <a:picLocks noChangeAspect="1"/>
          </p:cNvPicPr>
          <p:nvPr/>
        </p:nvPicPr>
        <p:blipFill>
          <a:blip r:embed="rId3" cstate="print"/>
          <a:stretch>
            <a:fillRect/>
          </a:stretch>
        </p:blipFill>
        <p:spPr>
          <a:xfrm>
            <a:off x="6660232" y="3212976"/>
            <a:ext cx="1609725" cy="18573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‘One-off’ jobs requiring planning:</a:t>
            </a:r>
          </a:p>
          <a:p>
            <a:pPr marL="360000" indent="-360000">
              <a:spcBef>
                <a:spcPts val="600"/>
              </a:spcBef>
              <a:spcAft>
                <a:spcPts val="1200"/>
              </a:spcAft>
            </a:pPr>
            <a:r>
              <a:rPr lang="en-US" sz="2200" dirty="0" smtClean="0">
                <a:latin typeface="Helvetica" pitchFamily="34" charset="0"/>
              </a:rPr>
              <a:t>Attendance by heads of state, politicians, sports stars, celebrities</a:t>
            </a:r>
          </a:p>
          <a:p>
            <a:pPr marL="360000" indent="-360000">
              <a:spcBef>
                <a:spcPts val="600"/>
              </a:spcBef>
              <a:spcAft>
                <a:spcPts val="1200"/>
              </a:spcAft>
            </a:pPr>
            <a:r>
              <a:rPr lang="en-US" sz="2200" dirty="0" smtClean="0">
                <a:latin typeface="Helvetica" pitchFamily="34" charset="0"/>
              </a:rPr>
              <a:t>Service requirements to guests designated as VIPs</a:t>
            </a:r>
          </a:p>
          <a:p>
            <a:pPr marL="360000" indent="-360000">
              <a:spcBef>
                <a:spcPts val="600"/>
              </a:spcBef>
              <a:spcAft>
                <a:spcPts val="1200"/>
              </a:spcAft>
            </a:pPr>
            <a:r>
              <a:rPr lang="en-US" sz="2200" dirty="0" smtClean="0">
                <a:latin typeface="Helvetica" pitchFamily="34" charset="0"/>
              </a:rPr>
              <a:t>Individual requests from guests</a:t>
            </a:r>
          </a:p>
          <a:p>
            <a:pPr marL="360000" indent="-360000">
              <a:spcBef>
                <a:spcPts val="600"/>
              </a:spcBef>
              <a:spcAft>
                <a:spcPts val="1200"/>
              </a:spcAft>
            </a:pPr>
            <a:r>
              <a:rPr lang="en-US" sz="2200" dirty="0" smtClean="0">
                <a:latin typeface="Helvetica" pitchFamily="34" charset="0"/>
              </a:rPr>
              <a:t>In response to credible threat</a:t>
            </a:r>
          </a:p>
          <a:p>
            <a:pPr marL="360000" indent="-360000">
              <a:spcBef>
                <a:spcPts val="600"/>
              </a:spcBef>
              <a:spcAft>
                <a:spcPts val="1200"/>
              </a:spcAft>
            </a:pPr>
            <a:r>
              <a:rPr lang="en-US" sz="2200" dirty="0" smtClean="0">
                <a:latin typeface="Helvetica" pitchFamily="34" charset="0"/>
              </a:rPr>
              <a:t>To respond to changed condition which </a:t>
            </a:r>
            <a:br>
              <a:rPr lang="en-US" sz="2200" dirty="0" smtClean="0">
                <a:latin typeface="Helvetica" pitchFamily="34" charset="0"/>
              </a:rPr>
            </a:br>
            <a:r>
              <a:rPr lang="en-US" sz="2200" dirty="0" smtClean="0">
                <a:latin typeface="Helvetica" pitchFamily="34" charset="0"/>
              </a:rPr>
              <a:t>increase risk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MP900387473.JPG"/>
          <p:cNvPicPr>
            <a:picLocks noChangeAspect="1"/>
          </p:cNvPicPr>
          <p:nvPr/>
        </p:nvPicPr>
        <p:blipFill>
          <a:blip r:embed="rId3" cstate="print"/>
          <a:stretch>
            <a:fillRect/>
          </a:stretch>
        </p:blipFill>
        <p:spPr>
          <a:xfrm>
            <a:off x="7308304" y="3645024"/>
            <a:ext cx="1099081" cy="154076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Planning is necessary to:</a:t>
            </a:r>
          </a:p>
          <a:p>
            <a:pPr marL="360000" indent="-360000">
              <a:spcBef>
                <a:spcPts val="600"/>
              </a:spcBef>
              <a:spcAft>
                <a:spcPts val="1200"/>
              </a:spcAft>
            </a:pPr>
            <a:r>
              <a:rPr lang="en-US" sz="2200" dirty="0" smtClean="0">
                <a:latin typeface="Helvetica" pitchFamily="34" charset="0"/>
              </a:rPr>
              <a:t>Identify threats and issues</a:t>
            </a:r>
          </a:p>
          <a:p>
            <a:pPr marL="360000" indent="-360000">
              <a:spcBef>
                <a:spcPts val="600"/>
              </a:spcBef>
              <a:spcAft>
                <a:spcPts val="1200"/>
              </a:spcAft>
            </a:pPr>
            <a:r>
              <a:rPr lang="en-US" sz="2200" dirty="0" smtClean="0">
                <a:latin typeface="Helvetica" pitchFamily="34" charset="0"/>
              </a:rPr>
              <a:t>Optimize success</a:t>
            </a:r>
          </a:p>
          <a:p>
            <a:pPr marL="360000" indent="-360000">
              <a:spcBef>
                <a:spcPts val="600"/>
              </a:spcBef>
              <a:spcAft>
                <a:spcPts val="1200"/>
              </a:spcAft>
            </a:pPr>
            <a:r>
              <a:rPr lang="en-US" sz="2200" dirty="0" smtClean="0">
                <a:latin typeface="Helvetica" pitchFamily="34" charset="0"/>
              </a:rPr>
              <a:t>Reduce interference with normal business </a:t>
            </a:r>
            <a:br>
              <a:rPr lang="en-US" sz="2200" dirty="0" smtClean="0">
                <a:latin typeface="Helvetica" pitchFamily="34" charset="0"/>
              </a:rPr>
            </a:br>
            <a:r>
              <a:rPr lang="en-US" sz="2200" dirty="0" smtClean="0">
                <a:latin typeface="Helvetica" pitchFamily="34" charset="0"/>
              </a:rPr>
              <a:t>operations</a:t>
            </a:r>
          </a:p>
          <a:p>
            <a:pPr marL="360000" indent="-360000">
              <a:spcBef>
                <a:spcPts val="600"/>
              </a:spcBef>
              <a:spcAft>
                <a:spcPts val="1200"/>
              </a:spcAft>
            </a:pPr>
            <a:r>
              <a:rPr lang="en-US" sz="2200" dirty="0" smtClean="0">
                <a:latin typeface="Helvetica" pitchFamily="34" charset="0"/>
              </a:rPr>
              <a:t>Reduce guest disruption and enjoyment </a:t>
            </a:r>
            <a:br>
              <a:rPr lang="en-US" sz="2200" dirty="0" smtClean="0">
                <a:latin typeface="Helvetica" pitchFamily="34" charset="0"/>
              </a:rPr>
            </a:br>
            <a:r>
              <a:rPr lang="en-US" sz="2200" dirty="0" smtClean="0">
                <a:latin typeface="Helvetica" pitchFamily="34" charset="0"/>
              </a:rPr>
              <a:t>of facilities</a:t>
            </a:r>
          </a:p>
          <a:p>
            <a:pPr marL="360000" indent="-360000">
              <a:spcBef>
                <a:spcPts val="600"/>
              </a:spcBef>
              <a:spcAft>
                <a:spcPts val="1200"/>
              </a:spcAft>
            </a:pPr>
            <a:r>
              <a:rPr lang="en-US" sz="2200" dirty="0" smtClean="0">
                <a:latin typeface="Helvetica" pitchFamily="34" charset="0"/>
              </a:rPr>
              <a:t>Attract the minimum of attention to security work</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MP900448685.JPG"/>
          <p:cNvPicPr>
            <a:picLocks noChangeAspect="1"/>
          </p:cNvPicPr>
          <p:nvPr/>
        </p:nvPicPr>
        <p:blipFill>
          <a:blip r:embed="rId3" cstate="print"/>
          <a:stretch>
            <a:fillRect/>
          </a:stretch>
        </p:blipFill>
        <p:spPr>
          <a:xfrm>
            <a:off x="7020272" y="3212976"/>
            <a:ext cx="1229883" cy="184482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360000" indent="-360000">
              <a:spcBef>
                <a:spcPts val="600"/>
              </a:spcBef>
              <a:spcAft>
                <a:spcPts val="1200"/>
              </a:spcAft>
            </a:pPr>
            <a:r>
              <a:rPr lang="en-US" sz="2200" dirty="0" smtClean="0">
                <a:latin typeface="Helvetica" pitchFamily="34" charset="0"/>
              </a:rPr>
              <a:t>Reduce threats</a:t>
            </a:r>
          </a:p>
          <a:p>
            <a:pPr marL="360000" indent="-360000">
              <a:spcBef>
                <a:spcPts val="600"/>
              </a:spcBef>
              <a:spcAft>
                <a:spcPts val="1200"/>
              </a:spcAft>
            </a:pPr>
            <a:r>
              <a:rPr lang="en-US" sz="2200" dirty="0" smtClean="0">
                <a:latin typeface="Helvetica" pitchFamily="34" charset="0"/>
              </a:rPr>
              <a:t>Reduce danger</a:t>
            </a:r>
          </a:p>
          <a:p>
            <a:pPr marL="360000" indent="-360000">
              <a:spcBef>
                <a:spcPts val="600"/>
              </a:spcBef>
              <a:spcAft>
                <a:spcPts val="1200"/>
              </a:spcAft>
            </a:pPr>
            <a:r>
              <a:rPr lang="en-US" sz="2200" dirty="0" smtClean="0">
                <a:latin typeface="Helvetica" pitchFamily="34" charset="0"/>
              </a:rPr>
              <a:t>Determine route/s</a:t>
            </a:r>
          </a:p>
          <a:p>
            <a:pPr marL="360000" indent="-360000">
              <a:spcBef>
                <a:spcPts val="600"/>
              </a:spcBef>
              <a:spcAft>
                <a:spcPts val="1200"/>
              </a:spcAft>
            </a:pPr>
            <a:r>
              <a:rPr lang="en-US" sz="2200" dirty="0" smtClean="0">
                <a:latin typeface="Helvetica" pitchFamily="34" charset="0"/>
              </a:rPr>
              <a:t>Calculate resources required</a:t>
            </a:r>
            <a:br>
              <a:rPr lang="en-US" sz="2200" dirty="0" smtClean="0">
                <a:latin typeface="Helvetica" pitchFamily="34" charset="0"/>
              </a:rPr>
            </a:br>
            <a:endParaRPr lang="en-US" sz="2200" dirty="0" smtClean="0">
              <a:latin typeface="Helvetica" pitchFamily="34" charset="0"/>
            </a:endParaRPr>
          </a:p>
          <a:p>
            <a:pPr marL="360000" indent="-360000" algn="ctr">
              <a:spcBef>
                <a:spcPts val="600"/>
              </a:spcBef>
              <a:spcAft>
                <a:spcPts val="1200"/>
              </a:spcAft>
              <a:buNone/>
            </a:pPr>
            <a:r>
              <a:rPr lang="en-AU" sz="2200" i="1" dirty="0" smtClean="0">
                <a:latin typeface="Helvetica" pitchFamily="34" charset="0"/>
              </a:rPr>
              <a:t>If you fail to plan, you plan to fail.</a:t>
            </a:r>
            <a:endParaRPr lang="en-US" sz="2200" i="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descr="MC900436996.WMF"/>
          <p:cNvPicPr>
            <a:picLocks noChangeAspect="1"/>
          </p:cNvPicPr>
          <p:nvPr/>
        </p:nvPicPr>
        <p:blipFill>
          <a:blip r:embed="rId3" cstate="print"/>
          <a:stretch>
            <a:fillRect/>
          </a:stretch>
        </p:blipFill>
        <p:spPr>
          <a:xfrm>
            <a:off x="7092280" y="3861048"/>
            <a:ext cx="1312924" cy="13152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The following people should be involved:</a:t>
            </a:r>
          </a:p>
          <a:p>
            <a:pPr marL="360000" indent="-360000">
              <a:spcBef>
                <a:spcPts val="600"/>
              </a:spcBef>
              <a:spcAft>
                <a:spcPts val="1200"/>
              </a:spcAft>
            </a:pPr>
            <a:r>
              <a:rPr lang="en-US" sz="2200" dirty="0" smtClean="0">
                <a:latin typeface="Helvetica" pitchFamily="34" charset="0"/>
              </a:rPr>
              <a:t>Customer/client/guest</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pPr>
            <a:r>
              <a:rPr lang="en-US" sz="2200" dirty="0" smtClean="0">
                <a:latin typeface="Helvetica" pitchFamily="34" charset="0"/>
              </a:rPr>
              <a:t>Other internal security staff</a:t>
            </a:r>
          </a:p>
          <a:p>
            <a:pPr marL="360000" indent="-360000">
              <a:spcBef>
                <a:spcPts val="600"/>
              </a:spcBef>
              <a:spcAft>
                <a:spcPts val="1200"/>
              </a:spcAft>
            </a:pPr>
            <a:r>
              <a:rPr lang="en-US" sz="2200" dirty="0" smtClean="0">
                <a:latin typeface="Helvetica" pitchFamily="34" charset="0"/>
              </a:rPr>
              <a:t>External security consultants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MP900422115.JPG"/>
          <p:cNvPicPr>
            <a:picLocks noChangeAspect="1"/>
          </p:cNvPicPr>
          <p:nvPr/>
        </p:nvPicPr>
        <p:blipFill>
          <a:blip r:embed="rId3" cstate="print"/>
          <a:stretch>
            <a:fillRect/>
          </a:stretch>
        </p:blipFill>
        <p:spPr>
          <a:xfrm>
            <a:off x="6732240" y="4077072"/>
            <a:ext cx="1654620" cy="11026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Planning must generate answers to:</a:t>
            </a:r>
          </a:p>
          <a:p>
            <a:pPr marL="360000" indent="-360000">
              <a:spcBef>
                <a:spcPts val="600"/>
              </a:spcBef>
              <a:spcAft>
                <a:spcPts val="1200"/>
              </a:spcAft>
            </a:pPr>
            <a:r>
              <a:rPr lang="en-AU" sz="2200" dirty="0" smtClean="0">
                <a:latin typeface="Helvetica" pitchFamily="34" charset="0"/>
              </a:rPr>
              <a:t>When does the job need to be done?</a:t>
            </a:r>
          </a:p>
          <a:p>
            <a:pPr marL="360000" indent="-360000">
              <a:spcBef>
                <a:spcPts val="600"/>
              </a:spcBef>
              <a:spcAft>
                <a:spcPts val="1200"/>
              </a:spcAft>
            </a:pPr>
            <a:r>
              <a:rPr lang="en-AU" sz="2200" dirty="0" smtClean="0">
                <a:latin typeface="Helvetica" pitchFamily="34" charset="0"/>
              </a:rPr>
              <a:t>Why does the job need to be done?</a:t>
            </a:r>
          </a:p>
          <a:p>
            <a:pPr marL="360000" indent="-360000">
              <a:spcBef>
                <a:spcPts val="600"/>
              </a:spcBef>
              <a:spcAft>
                <a:spcPts val="1200"/>
              </a:spcAft>
            </a:pPr>
            <a:r>
              <a:rPr lang="en-AU" sz="2200" dirty="0" smtClean="0">
                <a:latin typeface="Helvetica" pitchFamily="34" charset="0"/>
              </a:rPr>
              <a:t>Where does the job start, go and finish?</a:t>
            </a:r>
          </a:p>
          <a:p>
            <a:pPr marL="360000" indent="-360000">
              <a:spcBef>
                <a:spcPts val="600"/>
              </a:spcBef>
              <a:spcAft>
                <a:spcPts val="1200"/>
              </a:spcAft>
            </a:pPr>
            <a:r>
              <a:rPr lang="en-AU" sz="2200" dirty="0" smtClean="0">
                <a:latin typeface="Helvetica" pitchFamily="34" charset="0"/>
              </a:rPr>
              <a:t>Who is involved?</a:t>
            </a:r>
          </a:p>
          <a:p>
            <a:pPr marL="360000" indent="-360000">
              <a:spcBef>
                <a:spcPts val="600"/>
              </a:spcBef>
              <a:spcAft>
                <a:spcPts val="1200"/>
              </a:spcAft>
            </a:pPr>
            <a:r>
              <a:rPr lang="en-AU" sz="2200" dirty="0" smtClean="0">
                <a:latin typeface="Helvetica" pitchFamily="34" charset="0"/>
              </a:rPr>
              <a:t>What is involved?</a:t>
            </a:r>
          </a:p>
          <a:p>
            <a:pPr marL="360000" indent="-360000">
              <a:spcBef>
                <a:spcPts val="600"/>
              </a:spcBef>
              <a:spcAft>
                <a:spcPts val="1200"/>
              </a:spcAft>
            </a:pPr>
            <a:r>
              <a:rPr lang="en-AU" sz="2200" dirty="0" smtClean="0">
                <a:latin typeface="Helvetica" pitchFamily="34" charset="0"/>
              </a:rPr>
              <a:t>How is the job to be performed?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MP900448685.JPG"/>
          <p:cNvPicPr>
            <a:picLocks noChangeAspect="1"/>
          </p:cNvPicPr>
          <p:nvPr/>
        </p:nvPicPr>
        <p:blipFill>
          <a:blip r:embed="rId3" cstate="print"/>
          <a:stretch>
            <a:fillRect/>
          </a:stretch>
        </p:blipFill>
        <p:spPr>
          <a:xfrm>
            <a:off x="7092280" y="3240360"/>
            <a:ext cx="1181877" cy="177281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Consider the following when developing plans:</a:t>
            </a:r>
          </a:p>
          <a:p>
            <a:pPr marL="360000" indent="-360000">
              <a:spcBef>
                <a:spcPts val="600"/>
              </a:spcBef>
              <a:spcAft>
                <a:spcPts val="1200"/>
              </a:spcAft>
            </a:pPr>
            <a:r>
              <a:rPr lang="en-US" sz="2200" dirty="0" smtClean="0">
                <a:latin typeface="Helvetica" pitchFamily="34" charset="0"/>
              </a:rPr>
              <a:t>Determine possible threats</a:t>
            </a:r>
          </a:p>
          <a:p>
            <a:pPr marL="360000" indent="-360000">
              <a:spcBef>
                <a:spcPts val="600"/>
              </a:spcBef>
              <a:spcAft>
                <a:spcPts val="1200"/>
              </a:spcAft>
            </a:pPr>
            <a:r>
              <a:rPr lang="en-US" sz="2200" dirty="0" smtClean="0">
                <a:latin typeface="Helvetica" pitchFamily="34" charset="0"/>
              </a:rPr>
              <a:t>Identify secure routes – primary and secondary</a:t>
            </a:r>
          </a:p>
          <a:p>
            <a:pPr marL="360000" indent="-360000">
              <a:spcBef>
                <a:spcPts val="600"/>
              </a:spcBef>
              <a:spcAft>
                <a:spcPts val="1200"/>
              </a:spcAft>
            </a:pPr>
            <a:r>
              <a:rPr lang="en-US" sz="2200" dirty="0" smtClean="0">
                <a:latin typeface="Helvetica" pitchFamily="34" charset="0"/>
              </a:rPr>
              <a:t>Designate specific staff to specific duties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descr="MC900155949.WMF"/>
          <p:cNvPicPr>
            <a:picLocks noChangeAspect="1"/>
          </p:cNvPicPr>
          <p:nvPr/>
        </p:nvPicPr>
        <p:blipFill>
          <a:blip r:embed="rId3" cstate="print"/>
          <a:stretch>
            <a:fillRect/>
          </a:stretch>
        </p:blipFill>
        <p:spPr>
          <a:xfrm>
            <a:off x="6588224" y="3645024"/>
            <a:ext cx="1714730" cy="146462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Determine physical, human and financial resources required</a:t>
            </a:r>
          </a:p>
          <a:p>
            <a:pPr marL="360000" indent="-360000">
              <a:spcBef>
                <a:spcPts val="600"/>
              </a:spcBef>
              <a:spcAft>
                <a:spcPts val="1200"/>
              </a:spcAft>
            </a:pPr>
            <a:r>
              <a:rPr lang="en-US" sz="2200" dirty="0" smtClean="0">
                <a:latin typeface="Helvetica" pitchFamily="34" charset="0"/>
              </a:rPr>
              <a:t>Identify intelligence required</a:t>
            </a:r>
          </a:p>
          <a:p>
            <a:pPr marL="360000" indent="-360000">
              <a:spcBef>
                <a:spcPts val="600"/>
              </a:spcBef>
              <a:spcAft>
                <a:spcPts val="1200"/>
              </a:spcAft>
            </a:pPr>
            <a:r>
              <a:rPr lang="en-US" sz="2200" dirty="0" smtClean="0">
                <a:latin typeface="Helvetica" pitchFamily="34" charset="0"/>
              </a:rPr>
              <a:t>Obtain necessary resources</a:t>
            </a:r>
          </a:p>
          <a:p>
            <a:pPr marL="360000" indent="-360000">
              <a:spcBef>
                <a:spcPts val="600"/>
              </a:spcBef>
              <a:spcAft>
                <a:spcPts val="1200"/>
              </a:spcAft>
            </a:pPr>
            <a:r>
              <a:rPr lang="en-US" sz="2200" dirty="0" smtClean="0">
                <a:latin typeface="Helvetica" pitchFamily="34" charset="0"/>
              </a:rPr>
              <a:t>Prepare plans in writing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7020272" y="4134678"/>
            <a:ext cx="1368152" cy="1094522"/>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Guard against ‘complacency’. It can lead to:</a:t>
            </a:r>
          </a:p>
          <a:p>
            <a:pPr marL="360000" indent="-360000">
              <a:spcBef>
                <a:spcPts val="600"/>
              </a:spcBef>
              <a:spcAft>
                <a:spcPts val="1200"/>
              </a:spcAft>
            </a:pPr>
            <a:r>
              <a:rPr lang="en-US" sz="2200" dirty="0" smtClean="0">
                <a:latin typeface="Helvetica" pitchFamily="34" charset="0"/>
              </a:rPr>
              <a:t>Not planning properly</a:t>
            </a:r>
          </a:p>
          <a:p>
            <a:pPr marL="360000" indent="-360000">
              <a:spcBef>
                <a:spcPts val="600"/>
              </a:spcBef>
              <a:spcAft>
                <a:spcPts val="1200"/>
              </a:spcAft>
            </a:pPr>
            <a:r>
              <a:rPr lang="en-US" sz="2200" dirty="0" smtClean="0">
                <a:latin typeface="Helvetica" pitchFamily="34" charset="0"/>
              </a:rPr>
              <a:t>Not taking proper care</a:t>
            </a:r>
          </a:p>
          <a:p>
            <a:pPr marL="360000" indent="-360000">
              <a:spcBef>
                <a:spcPts val="600"/>
              </a:spcBef>
              <a:spcAft>
                <a:spcPts val="1200"/>
              </a:spcAft>
            </a:pPr>
            <a:r>
              <a:rPr lang="en-US" sz="2200" dirty="0" smtClean="0">
                <a:latin typeface="Helvetica" pitchFamily="34" charset="0"/>
              </a:rPr>
              <a:t>Not paying attention</a:t>
            </a:r>
          </a:p>
          <a:p>
            <a:pPr marL="360000" indent="-360000">
              <a:spcBef>
                <a:spcPts val="600"/>
              </a:spcBef>
              <a:spcAft>
                <a:spcPts val="1200"/>
              </a:spcAft>
            </a:pPr>
            <a:r>
              <a:rPr lang="en-US" sz="2200" dirty="0" smtClean="0">
                <a:latin typeface="Helvetica" pitchFamily="34" charset="0"/>
              </a:rPr>
              <a:t>Showing a lack of interest and commitment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descr="MP900422803.JPG"/>
          <p:cNvPicPr>
            <a:picLocks noChangeAspect="1"/>
          </p:cNvPicPr>
          <p:nvPr/>
        </p:nvPicPr>
        <p:blipFill>
          <a:blip r:embed="rId3" cstate="print"/>
          <a:stretch>
            <a:fillRect/>
          </a:stretch>
        </p:blipFill>
        <p:spPr>
          <a:xfrm>
            <a:off x="7092280" y="3933056"/>
            <a:ext cx="1268760" cy="126876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regular and/or repetitive nature of many escort and carry jobs means thieves can often easily identify:</a:t>
            </a:r>
          </a:p>
          <a:p>
            <a:pPr marL="360000" indent="-360000">
              <a:spcBef>
                <a:spcPts val="600"/>
              </a:spcBef>
              <a:spcAft>
                <a:spcPts val="1200"/>
              </a:spcAft>
            </a:pPr>
            <a:r>
              <a:rPr lang="en-US" sz="2200" dirty="0" smtClean="0">
                <a:latin typeface="Helvetica" pitchFamily="34" charset="0"/>
              </a:rPr>
              <a:t>Route taken</a:t>
            </a:r>
          </a:p>
          <a:p>
            <a:pPr marL="360000" indent="-360000">
              <a:spcBef>
                <a:spcPts val="600"/>
              </a:spcBef>
              <a:spcAft>
                <a:spcPts val="1200"/>
              </a:spcAft>
            </a:pPr>
            <a:r>
              <a:rPr lang="en-US" sz="2200" dirty="0" smtClean="0">
                <a:latin typeface="Helvetica" pitchFamily="34" charset="0"/>
              </a:rPr>
              <a:t>Number of staff used</a:t>
            </a:r>
          </a:p>
          <a:p>
            <a:pPr marL="360000" indent="-360000">
              <a:spcBef>
                <a:spcPts val="600"/>
              </a:spcBef>
              <a:spcAft>
                <a:spcPts val="1200"/>
              </a:spcAft>
            </a:pPr>
            <a:r>
              <a:rPr lang="en-US" sz="2200" dirty="0" smtClean="0">
                <a:latin typeface="Helvetica" pitchFamily="34" charset="0"/>
              </a:rPr>
              <a:t>Security arrangements</a:t>
            </a:r>
          </a:p>
          <a:p>
            <a:pPr marL="360000" indent="-360000">
              <a:spcBef>
                <a:spcPts val="600"/>
              </a:spcBef>
              <a:spcAft>
                <a:spcPts val="1200"/>
              </a:spcAft>
            </a:pPr>
            <a:r>
              <a:rPr lang="en-US" sz="2200" dirty="0" smtClean="0">
                <a:latin typeface="Helvetica" pitchFamily="34" charset="0"/>
              </a:rPr>
              <a:t>Precautions taken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732240" y="3933056"/>
            <a:ext cx="1572542" cy="113840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plans for regular escort and carry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guard against predictability:</a:t>
            </a:r>
          </a:p>
          <a:p>
            <a:pPr marL="360000" indent="-360000">
              <a:spcBef>
                <a:spcPts val="600"/>
              </a:spcBef>
              <a:spcAft>
                <a:spcPts val="1200"/>
              </a:spcAft>
            </a:pPr>
            <a:r>
              <a:rPr lang="en-US" sz="2200" dirty="0" smtClean="0">
                <a:latin typeface="Helvetica" pitchFamily="34" charset="0"/>
              </a:rPr>
              <a:t>Change days and times of regular events</a:t>
            </a:r>
          </a:p>
          <a:p>
            <a:pPr marL="360000" indent="-360000">
              <a:spcBef>
                <a:spcPts val="600"/>
              </a:spcBef>
              <a:spcAft>
                <a:spcPts val="1200"/>
              </a:spcAft>
            </a:pPr>
            <a:r>
              <a:rPr lang="en-US" sz="2200" dirty="0" smtClean="0">
                <a:latin typeface="Helvetica" pitchFamily="34" charset="0"/>
              </a:rPr>
              <a:t>Change the staff used</a:t>
            </a:r>
          </a:p>
          <a:p>
            <a:pPr marL="360000" indent="-360000">
              <a:spcBef>
                <a:spcPts val="600"/>
              </a:spcBef>
              <a:spcAft>
                <a:spcPts val="1200"/>
              </a:spcAft>
            </a:pPr>
            <a:r>
              <a:rPr lang="en-US" sz="2200" dirty="0" smtClean="0">
                <a:latin typeface="Helvetica" pitchFamily="34" charset="0"/>
              </a:rPr>
              <a:t>Use a different vehicle</a:t>
            </a:r>
          </a:p>
          <a:p>
            <a:pPr marL="360000" indent="-360000">
              <a:spcBef>
                <a:spcPts val="600"/>
              </a:spcBef>
              <a:spcAft>
                <a:spcPts val="1200"/>
              </a:spcAft>
            </a:pPr>
            <a:r>
              <a:rPr lang="en-US" sz="2200" dirty="0" smtClean="0">
                <a:latin typeface="Helvetica" pitchFamily="34" charset="0"/>
              </a:rPr>
              <a:t>Use different containers</a:t>
            </a:r>
          </a:p>
          <a:p>
            <a:pPr marL="360000" indent="-360000">
              <a:spcBef>
                <a:spcPts val="600"/>
              </a:spcBef>
              <a:spcAft>
                <a:spcPts val="1200"/>
              </a:spcAft>
            </a:pPr>
            <a:r>
              <a:rPr lang="en-US" sz="2200" dirty="0" smtClean="0">
                <a:latin typeface="Helvetica" pitchFamily="34" charset="0"/>
              </a:rPr>
              <a:t>Do something to introduce an element of uncertainty into what you do, when you do it and how you do 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descr="MC900311032.WMF"/>
          <p:cNvPicPr>
            <a:picLocks noChangeAspect="1"/>
          </p:cNvPicPr>
          <p:nvPr/>
        </p:nvPicPr>
        <p:blipFill>
          <a:blip r:embed="rId3" cstate="print"/>
          <a:stretch>
            <a:fillRect/>
          </a:stretch>
        </p:blipFill>
        <p:spPr>
          <a:xfrm>
            <a:off x="6732240" y="2331074"/>
            <a:ext cx="1560885" cy="146439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Polices and procedures vary and you will learn what applies:</a:t>
            </a:r>
          </a:p>
          <a:p>
            <a:pPr marL="360000" indent="-360000">
              <a:spcBef>
                <a:spcPts val="600"/>
              </a:spcBef>
              <a:spcAft>
                <a:spcPts val="1200"/>
              </a:spcAft>
            </a:pPr>
            <a:r>
              <a:rPr lang="en-US" sz="2200" dirty="0" smtClean="0">
                <a:latin typeface="Helvetica" pitchFamily="34" charset="0"/>
              </a:rPr>
              <a:t>At Induction and orientation</a:t>
            </a:r>
          </a:p>
          <a:p>
            <a:pPr marL="360000" indent="-360000">
              <a:spcBef>
                <a:spcPts val="600"/>
              </a:spcBef>
              <a:spcAft>
                <a:spcPts val="1200"/>
              </a:spcAft>
            </a:pPr>
            <a:r>
              <a:rPr lang="en-US" sz="2200" dirty="0" smtClean="0">
                <a:latin typeface="Helvetica" pitchFamily="34" charset="0"/>
              </a:rPr>
              <a:t>Through participating in on the job training</a:t>
            </a:r>
          </a:p>
          <a:p>
            <a:pPr marL="360000" indent="-360000">
              <a:spcBef>
                <a:spcPts val="600"/>
              </a:spcBef>
              <a:spcAft>
                <a:spcPts val="1200"/>
              </a:spcAft>
            </a:pPr>
            <a:r>
              <a:rPr lang="en-US" sz="2200" dirty="0" smtClean="0">
                <a:latin typeface="Helvetica" pitchFamily="34" charset="0"/>
              </a:rPr>
              <a:t>By reading internal policies and SOPs</a:t>
            </a:r>
          </a:p>
          <a:p>
            <a:pPr marL="360000" indent="-360000">
              <a:spcBef>
                <a:spcPts val="600"/>
              </a:spcBef>
              <a:spcAft>
                <a:spcPts val="1200"/>
              </a:spcAft>
            </a:pPr>
            <a:r>
              <a:rPr lang="en-US" sz="2200" dirty="0" smtClean="0">
                <a:latin typeface="Helvetica" pitchFamily="34" charset="0"/>
              </a:rPr>
              <a:t>By asking questions</a:t>
            </a:r>
          </a:p>
          <a:p>
            <a:pPr marL="360000" indent="-360000">
              <a:spcBef>
                <a:spcPts val="600"/>
              </a:spcBef>
              <a:spcAft>
                <a:spcPts val="1200"/>
              </a:spcAft>
            </a:pPr>
            <a:r>
              <a:rPr lang="en-US" sz="2200" dirty="0" smtClean="0">
                <a:latin typeface="Helvetica" pitchFamily="34" charset="0"/>
              </a:rPr>
              <a:t>Through observing others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Training sign.jpg"/>
          <p:cNvPicPr>
            <a:picLocks noChangeAspect="1"/>
          </p:cNvPicPr>
          <p:nvPr/>
        </p:nvPicPr>
        <p:blipFill>
          <a:blip r:embed="rId3" cstate="print"/>
          <a:stretch>
            <a:fillRect/>
          </a:stretch>
        </p:blipFill>
        <p:spPr>
          <a:xfrm>
            <a:off x="6660232" y="3429000"/>
            <a:ext cx="1728787" cy="157638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Requirements vary between venues based on:</a:t>
            </a:r>
          </a:p>
          <a:p>
            <a:pPr marL="360000" indent="-360000">
              <a:spcBef>
                <a:spcPts val="600"/>
              </a:spcBef>
              <a:spcAft>
                <a:spcPts val="1200"/>
              </a:spcAft>
            </a:pPr>
            <a:r>
              <a:rPr lang="en-US" sz="2200" dirty="0" smtClean="0">
                <a:latin typeface="Helvetica" pitchFamily="34" charset="0"/>
              </a:rPr>
              <a:t>Experience with movement of valuable items</a:t>
            </a:r>
          </a:p>
          <a:p>
            <a:pPr marL="360000" indent="-360000">
              <a:spcBef>
                <a:spcPts val="600"/>
              </a:spcBef>
              <a:spcAft>
                <a:spcPts val="1200"/>
              </a:spcAft>
            </a:pPr>
            <a:r>
              <a:rPr lang="en-US" sz="2200" dirty="0" smtClean="0">
                <a:latin typeface="Helvetica" pitchFamily="34" charset="0"/>
              </a:rPr>
              <a:t>Venue layout</a:t>
            </a:r>
          </a:p>
          <a:p>
            <a:pPr marL="360000" indent="-360000">
              <a:spcBef>
                <a:spcPts val="600"/>
              </a:spcBef>
              <a:spcAft>
                <a:spcPts val="1200"/>
              </a:spcAft>
            </a:pPr>
            <a:r>
              <a:rPr lang="en-US" sz="2200" dirty="0" smtClean="0">
                <a:latin typeface="Helvetica" pitchFamily="34" charset="0"/>
              </a:rPr>
              <a:t>Staff numbers</a:t>
            </a:r>
          </a:p>
          <a:p>
            <a:pPr marL="360000" indent="-360000">
              <a:spcBef>
                <a:spcPts val="600"/>
              </a:spcBef>
              <a:spcAft>
                <a:spcPts val="1200"/>
              </a:spcAft>
            </a:pPr>
            <a:r>
              <a:rPr lang="en-US" sz="2200" dirty="0" smtClean="0">
                <a:latin typeface="Helvetica" pitchFamily="34" charset="0"/>
              </a:rPr>
              <a:t>Security resources available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descr="shutterstock_100829704.jpg"/>
          <p:cNvPicPr>
            <a:picLocks noChangeAspect="1"/>
          </p:cNvPicPr>
          <p:nvPr/>
        </p:nvPicPr>
        <p:blipFill>
          <a:blip r:embed="rId3" cstate="print"/>
          <a:stretch>
            <a:fillRect/>
          </a:stretch>
        </p:blipFill>
        <p:spPr>
          <a:xfrm>
            <a:off x="6588224" y="3861048"/>
            <a:ext cx="1668016" cy="112424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Demand</a:t>
            </a:r>
          </a:p>
          <a:p>
            <a:pPr marL="360000" indent="-360000">
              <a:spcBef>
                <a:spcPts val="600"/>
              </a:spcBef>
              <a:spcAft>
                <a:spcPts val="1200"/>
              </a:spcAft>
            </a:pPr>
            <a:r>
              <a:rPr lang="en-US" sz="2200" dirty="0" smtClean="0">
                <a:latin typeface="Helvetica" pitchFamily="34" charset="0"/>
              </a:rPr>
              <a:t>Type of items involved</a:t>
            </a:r>
          </a:p>
          <a:p>
            <a:pPr marL="360000" indent="-360000">
              <a:spcBef>
                <a:spcPts val="600"/>
              </a:spcBef>
              <a:spcAft>
                <a:spcPts val="1200"/>
              </a:spcAft>
            </a:pPr>
            <a:r>
              <a:rPr lang="en-US" sz="2200" dirty="0" smtClean="0">
                <a:latin typeface="Helvetica" pitchFamily="34" charset="0"/>
              </a:rPr>
              <a:t>Value</a:t>
            </a:r>
          </a:p>
          <a:p>
            <a:pPr marL="360000" indent="-360000">
              <a:spcBef>
                <a:spcPts val="600"/>
              </a:spcBef>
              <a:spcAft>
                <a:spcPts val="1200"/>
              </a:spcAft>
            </a:pPr>
            <a:r>
              <a:rPr lang="en-US" sz="2200" dirty="0" smtClean="0">
                <a:latin typeface="Helvetica" pitchFamily="34" charset="0"/>
              </a:rPr>
              <a:t>Level of trade</a:t>
            </a:r>
          </a:p>
          <a:p>
            <a:pPr marL="360000" indent="-360000">
              <a:spcBef>
                <a:spcPts val="600"/>
              </a:spcBef>
              <a:spcAft>
                <a:spcPts val="1200"/>
              </a:spcAft>
            </a:pPr>
            <a:r>
              <a:rPr lang="en-US" sz="2200" dirty="0" smtClean="0">
                <a:latin typeface="Helvetica" pitchFamily="34" charset="0"/>
              </a:rPr>
              <a:t>Identified threat analysis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shutterstock_82265860.jpg"/>
          <p:cNvPicPr>
            <a:picLocks noChangeAspect="1"/>
          </p:cNvPicPr>
          <p:nvPr/>
        </p:nvPicPr>
        <p:blipFill>
          <a:blip r:embed="rId3" cstate="print"/>
          <a:stretch>
            <a:fillRect/>
          </a:stretch>
        </p:blipFill>
        <p:spPr>
          <a:xfrm>
            <a:off x="6732240" y="4029115"/>
            <a:ext cx="1679848" cy="112045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360000" indent="-360000">
              <a:spcBef>
                <a:spcPts val="600"/>
              </a:spcBef>
              <a:spcAft>
                <a:spcPts val="1200"/>
              </a:spcAft>
            </a:pPr>
            <a:r>
              <a:rPr lang="en-US" sz="2200" dirty="0" smtClean="0">
                <a:latin typeface="Helvetica" pitchFamily="34" charset="0"/>
              </a:rPr>
              <a:t>Contractual obligations</a:t>
            </a:r>
          </a:p>
          <a:p>
            <a:pPr marL="360000" indent="-360000">
              <a:spcBef>
                <a:spcPts val="600"/>
              </a:spcBef>
              <a:spcAft>
                <a:spcPts val="1200"/>
              </a:spcAft>
            </a:pPr>
            <a:r>
              <a:rPr lang="en-US" sz="2200" dirty="0" smtClean="0">
                <a:latin typeface="Helvetica" pitchFamily="34" charset="0"/>
              </a:rPr>
              <a:t>Promises made</a:t>
            </a:r>
          </a:p>
          <a:p>
            <a:pPr marL="360000" indent="-360000">
              <a:spcBef>
                <a:spcPts val="600"/>
              </a:spcBef>
              <a:spcAft>
                <a:spcPts val="1200"/>
              </a:spcAft>
            </a:pPr>
            <a:r>
              <a:rPr lang="en-US" sz="2200" dirty="0" smtClean="0">
                <a:latin typeface="Helvetica" pitchFamily="34" charset="0"/>
              </a:rPr>
              <a:t>Insurance coverage </a:t>
            </a:r>
          </a:p>
          <a:p>
            <a:pPr marL="360000" indent="-360000">
              <a:spcBef>
                <a:spcPts val="600"/>
              </a:spcBef>
              <a:spcAft>
                <a:spcPts val="1200"/>
              </a:spcAft>
            </a:pPr>
            <a:r>
              <a:rPr lang="en-US" sz="2200" dirty="0" smtClean="0">
                <a:latin typeface="Helvetica" pitchFamily="34" charset="0"/>
              </a:rPr>
              <a:t>Requirements imposed by insurers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MC900368366.WMF"/>
          <p:cNvPicPr>
            <a:picLocks noChangeAspect="1"/>
          </p:cNvPicPr>
          <p:nvPr/>
        </p:nvPicPr>
        <p:blipFill>
          <a:blip r:embed="rId3" cstate="print"/>
          <a:stretch>
            <a:fillRect/>
          </a:stretch>
        </p:blipFill>
        <p:spPr>
          <a:xfrm>
            <a:off x="7020272" y="3861048"/>
            <a:ext cx="1233534" cy="118366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Policies and SOPs may address:</a:t>
            </a:r>
          </a:p>
          <a:p>
            <a:pPr marL="360000" indent="-360000">
              <a:spcBef>
                <a:spcPts val="600"/>
              </a:spcBef>
              <a:spcAft>
                <a:spcPts val="1200"/>
              </a:spcAft>
            </a:pPr>
            <a:r>
              <a:rPr lang="en-US" sz="2200" dirty="0" smtClean="0">
                <a:latin typeface="Helvetica" pitchFamily="34" charset="0"/>
              </a:rPr>
              <a:t>Limiting duties to nominated staff</a:t>
            </a:r>
          </a:p>
          <a:p>
            <a:pPr marL="360000" indent="-360000">
              <a:spcBef>
                <a:spcPts val="600"/>
              </a:spcBef>
              <a:spcAft>
                <a:spcPts val="1200"/>
              </a:spcAft>
            </a:pPr>
            <a:r>
              <a:rPr lang="en-US" sz="2200" dirty="0" smtClean="0">
                <a:latin typeface="Helvetica" pitchFamily="34" charset="0"/>
              </a:rPr>
              <a:t>Scopes of authority</a:t>
            </a:r>
          </a:p>
          <a:p>
            <a:pPr marL="360000" indent="-360000">
              <a:spcBef>
                <a:spcPts val="600"/>
              </a:spcBef>
              <a:spcAft>
                <a:spcPts val="1200"/>
              </a:spcAft>
            </a:pPr>
            <a:r>
              <a:rPr lang="en-US" sz="2200" dirty="0" smtClean="0">
                <a:latin typeface="Helvetica" pitchFamily="34" charset="0"/>
              </a:rPr>
              <a:t>Risk management requirements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freeimage-4111316.jpg"/>
          <p:cNvPicPr>
            <a:picLocks noChangeAspect="1"/>
          </p:cNvPicPr>
          <p:nvPr/>
        </p:nvPicPr>
        <p:blipFill>
          <a:blip r:embed="rId3" cstate="print"/>
          <a:stretch>
            <a:fillRect/>
          </a:stretch>
        </p:blipFill>
        <p:spPr>
          <a:xfrm>
            <a:off x="6732240" y="3861048"/>
            <a:ext cx="1578319" cy="114971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establishment cash carry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Response to threat, attack or breach of security</a:t>
            </a:r>
          </a:p>
          <a:p>
            <a:pPr marL="360000" indent="-360000">
              <a:spcBef>
                <a:spcPts val="600"/>
              </a:spcBef>
              <a:spcAft>
                <a:spcPts val="1200"/>
              </a:spcAft>
            </a:pPr>
            <a:r>
              <a:rPr lang="en-US" sz="2200" dirty="0" smtClean="0">
                <a:latin typeface="Helvetica" pitchFamily="34" charset="0"/>
              </a:rPr>
              <a:t>Staff and equipment required</a:t>
            </a:r>
          </a:p>
          <a:p>
            <a:pPr marL="360000" indent="-360000">
              <a:spcBef>
                <a:spcPts val="600"/>
              </a:spcBef>
              <a:spcAft>
                <a:spcPts val="1200"/>
              </a:spcAft>
            </a:pPr>
            <a:r>
              <a:rPr lang="en-US" sz="2200" dirty="0" smtClean="0">
                <a:latin typeface="Helvetica" pitchFamily="34" charset="0"/>
              </a:rPr>
              <a:t>Restrictions on times and tasks</a:t>
            </a:r>
          </a:p>
          <a:p>
            <a:pPr marL="360000" indent="-360000">
              <a:spcBef>
                <a:spcPts val="600"/>
              </a:spcBef>
              <a:spcAft>
                <a:spcPts val="1200"/>
              </a:spcAft>
            </a:pPr>
            <a:r>
              <a:rPr lang="en-US" sz="2200" dirty="0" smtClean="0">
                <a:latin typeface="Helvetica" pitchFamily="34" charset="0"/>
              </a:rPr>
              <a:t>Identification of routes</a:t>
            </a:r>
          </a:p>
          <a:p>
            <a:pPr marL="360000" indent="-360000">
              <a:spcBef>
                <a:spcPts val="600"/>
              </a:spcBef>
              <a:spcAft>
                <a:spcPts val="1200"/>
              </a:spcAft>
            </a:pPr>
            <a:r>
              <a:rPr lang="en-US" sz="2200" dirty="0" smtClean="0">
                <a:latin typeface="Helvetica" pitchFamily="34" charset="0"/>
              </a:rPr>
              <a:t>Internal notification and reporting</a:t>
            </a:r>
          </a:p>
          <a:p>
            <a:pPr marL="360000" indent="-360000">
              <a:spcBef>
                <a:spcPts val="600"/>
              </a:spcBef>
              <a:spcAft>
                <a:spcPts val="1200"/>
              </a:spcAft>
            </a:pPr>
            <a:r>
              <a:rPr lang="en-US" sz="2200" dirty="0" smtClean="0">
                <a:latin typeface="Helvetica" pitchFamily="34" charset="0"/>
              </a:rPr>
              <a:t>Documentation required to be completed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descr="MP900387473.JPG"/>
          <p:cNvPicPr>
            <a:picLocks noChangeAspect="1"/>
          </p:cNvPicPr>
          <p:nvPr/>
        </p:nvPicPr>
        <p:blipFill>
          <a:blip r:embed="rId3" cstate="print"/>
          <a:stretch>
            <a:fillRect/>
          </a:stretch>
        </p:blipFill>
        <p:spPr>
          <a:xfrm>
            <a:off x="7287662" y="3573016"/>
            <a:ext cx="1150447" cy="161277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potential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Potential threats can be identified by:</a:t>
            </a:r>
          </a:p>
          <a:p>
            <a:pPr marL="360000" indent="-360000">
              <a:spcBef>
                <a:spcPts val="600"/>
              </a:spcBef>
              <a:spcAft>
                <a:spcPts val="1200"/>
              </a:spcAft>
            </a:pPr>
            <a:r>
              <a:rPr lang="en-US" sz="2200" dirty="0" smtClean="0">
                <a:latin typeface="Helvetica" pitchFamily="34" charset="0"/>
              </a:rPr>
              <a:t>Encouraging staff to report suspicions and observations</a:t>
            </a:r>
          </a:p>
          <a:p>
            <a:pPr marL="360000" indent="-360000">
              <a:spcBef>
                <a:spcPts val="600"/>
              </a:spcBef>
              <a:spcAft>
                <a:spcPts val="1200"/>
              </a:spcAft>
            </a:pPr>
            <a:r>
              <a:rPr lang="en-US" sz="2200" dirty="0" smtClean="0">
                <a:latin typeface="Helvetica" pitchFamily="34" charset="0"/>
              </a:rPr>
              <a:t>Making ‘security’ a standing topic at staff meetings</a:t>
            </a:r>
          </a:p>
          <a:p>
            <a:pPr marL="360000" indent="-360000">
              <a:spcBef>
                <a:spcPts val="600"/>
              </a:spcBef>
              <a:spcAft>
                <a:spcPts val="1200"/>
              </a:spcAft>
            </a:pPr>
            <a:r>
              <a:rPr lang="en-US" sz="2200" dirty="0" smtClean="0">
                <a:latin typeface="Helvetica" pitchFamily="34" charset="0"/>
              </a:rPr>
              <a:t>Talking with other security staff</a:t>
            </a:r>
          </a:p>
          <a:p>
            <a:pPr marL="360000" indent="-360000">
              <a:spcBef>
                <a:spcPts val="600"/>
              </a:spcBef>
              <a:spcAft>
                <a:spcPts val="1200"/>
              </a:spcAft>
            </a:pPr>
            <a:r>
              <a:rPr lang="en-US" sz="2200" dirty="0" smtClean="0">
                <a:latin typeface="Helvetica" pitchFamily="34" charset="0"/>
              </a:rPr>
              <a:t>Talking with guests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MP900423037.JPG"/>
          <p:cNvPicPr>
            <a:picLocks noChangeAspect="1"/>
          </p:cNvPicPr>
          <p:nvPr/>
        </p:nvPicPr>
        <p:blipFill>
          <a:blip r:embed="rId3" cstate="print"/>
          <a:stretch>
            <a:fillRect/>
          </a:stretch>
        </p:blipFill>
        <p:spPr>
          <a:xfrm>
            <a:off x="7092280" y="3933056"/>
            <a:ext cx="1268760" cy="12687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potential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Reading internal reports</a:t>
            </a:r>
          </a:p>
          <a:p>
            <a:pPr marL="360000" indent="-360000">
              <a:spcBef>
                <a:spcPts val="600"/>
              </a:spcBef>
              <a:spcAft>
                <a:spcPts val="1200"/>
              </a:spcAft>
            </a:pPr>
            <a:r>
              <a:rPr lang="en-US" sz="2200" dirty="0" smtClean="0">
                <a:latin typeface="Helvetica" pitchFamily="34" charset="0"/>
              </a:rPr>
              <a:t>Liaising with authorities</a:t>
            </a:r>
          </a:p>
          <a:p>
            <a:pPr marL="360000" indent="-360000">
              <a:spcBef>
                <a:spcPts val="600"/>
              </a:spcBef>
              <a:spcAft>
                <a:spcPts val="1200"/>
              </a:spcAft>
            </a:pPr>
            <a:r>
              <a:rPr lang="en-US" sz="2200" dirty="0" smtClean="0">
                <a:latin typeface="Helvetica" pitchFamily="34" charset="0"/>
              </a:rPr>
              <a:t>Interviewing guests</a:t>
            </a:r>
          </a:p>
          <a:p>
            <a:pPr marL="360000" indent="-360000">
              <a:spcBef>
                <a:spcPts val="600"/>
              </a:spcBef>
              <a:spcAft>
                <a:spcPts val="1200"/>
              </a:spcAft>
            </a:pPr>
            <a:r>
              <a:rPr lang="en-US" sz="2200" dirty="0" smtClean="0">
                <a:latin typeface="Helvetica" pitchFamily="34" charset="0"/>
              </a:rPr>
              <a:t>Liaising with other venues</a:t>
            </a:r>
          </a:p>
          <a:p>
            <a:pPr marL="360000" indent="-360000">
              <a:spcBef>
                <a:spcPts val="600"/>
              </a:spcBef>
              <a:spcAft>
                <a:spcPts val="1200"/>
              </a:spcAft>
              <a:buNone/>
            </a:pPr>
            <a:r>
              <a:rPr lang="en-US" sz="2200" i="1"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shutterstock_82265860.jpg"/>
          <p:cNvPicPr>
            <a:picLocks noChangeAspect="1"/>
          </p:cNvPicPr>
          <p:nvPr/>
        </p:nvPicPr>
        <p:blipFill>
          <a:blip r:embed="rId3" cstate="print"/>
          <a:stretch>
            <a:fillRect/>
          </a:stretch>
        </p:blipFill>
        <p:spPr>
          <a:xfrm>
            <a:off x="6732240" y="3429000"/>
            <a:ext cx="1600968" cy="160096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potential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Undertaking regular site inspections</a:t>
            </a:r>
          </a:p>
          <a:p>
            <a:pPr marL="360000" indent="-360000">
              <a:spcBef>
                <a:spcPts val="600"/>
              </a:spcBef>
              <a:spcAft>
                <a:spcPts val="1200"/>
              </a:spcAft>
            </a:pPr>
            <a:r>
              <a:rPr lang="en-US" sz="2200" dirty="0" smtClean="0">
                <a:latin typeface="Helvetica" pitchFamily="34" charset="0"/>
              </a:rPr>
              <a:t>Participating in industry security-related events</a:t>
            </a:r>
          </a:p>
          <a:p>
            <a:pPr marL="360000" indent="-360000">
              <a:spcBef>
                <a:spcPts val="600"/>
              </a:spcBef>
              <a:spcAft>
                <a:spcPts val="1200"/>
              </a:spcAft>
            </a:pPr>
            <a:r>
              <a:rPr lang="en-US" sz="2200" dirty="0" smtClean="0">
                <a:latin typeface="Helvetica" pitchFamily="34" charset="0"/>
              </a:rPr>
              <a:t>Monitoring the media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MP900448685.JPG"/>
          <p:cNvPicPr>
            <a:picLocks noChangeAspect="1"/>
          </p:cNvPicPr>
          <p:nvPr/>
        </p:nvPicPr>
        <p:blipFill>
          <a:blip r:embed="rId3" cstate="print"/>
          <a:stretch>
            <a:fillRect/>
          </a:stretch>
        </p:blipFill>
        <p:spPr>
          <a:xfrm>
            <a:off x="7020272" y="3212976"/>
            <a:ext cx="1205880" cy="18088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potential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Basic physical threats:</a:t>
            </a:r>
          </a:p>
          <a:p>
            <a:pPr marL="360000" indent="-360000">
              <a:spcBef>
                <a:spcPts val="600"/>
              </a:spcBef>
              <a:spcAft>
                <a:spcPts val="1200"/>
              </a:spcAft>
            </a:pPr>
            <a:r>
              <a:rPr lang="en-US" sz="2200" dirty="0" smtClean="0">
                <a:latin typeface="Helvetica" pitchFamily="34" charset="0"/>
              </a:rPr>
              <a:t>Theft</a:t>
            </a:r>
          </a:p>
          <a:p>
            <a:pPr marL="360000" indent="-360000">
              <a:spcBef>
                <a:spcPts val="600"/>
              </a:spcBef>
              <a:spcAft>
                <a:spcPts val="1200"/>
              </a:spcAft>
            </a:pPr>
            <a:r>
              <a:rPr lang="en-US" sz="2200" dirty="0" smtClean="0">
                <a:latin typeface="Helvetica" pitchFamily="34" charset="0"/>
              </a:rPr>
              <a:t>Assault</a:t>
            </a:r>
          </a:p>
          <a:p>
            <a:pPr marL="360000" indent="-360000">
              <a:spcBef>
                <a:spcPts val="600"/>
              </a:spcBef>
              <a:spcAft>
                <a:spcPts val="1200"/>
              </a:spcAft>
            </a:pPr>
            <a:r>
              <a:rPr lang="en-US" sz="2200" dirty="0" smtClean="0">
                <a:latin typeface="Helvetica" pitchFamily="34" charset="0"/>
              </a:rPr>
              <a:t>Vehicle accident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MC900196308.WMF"/>
          <p:cNvPicPr>
            <a:picLocks noChangeAspect="1"/>
          </p:cNvPicPr>
          <p:nvPr/>
        </p:nvPicPr>
        <p:blipFill>
          <a:blip r:embed="rId3" cstate="print"/>
          <a:stretch>
            <a:fillRect/>
          </a:stretch>
        </p:blipFill>
        <p:spPr>
          <a:xfrm>
            <a:off x="6804248" y="3356992"/>
            <a:ext cx="1552651" cy="17254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potential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There may also be threats/intimidation:</a:t>
            </a:r>
          </a:p>
          <a:p>
            <a:pPr marL="360000" indent="-360000">
              <a:spcBef>
                <a:spcPts val="600"/>
              </a:spcBef>
              <a:spcAft>
                <a:spcPts val="1200"/>
              </a:spcAft>
            </a:pPr>
            <a:r>
              <a:rPr lang="en-US" sz="2200" dirty="0" smtClean="0">
                <a:latin typeface="Helvetica" pitchFamily="34" charset="0"/>
              </a:rPr>
              <a:t>Threats of violence</a:t>
            </a:r>
          </a:p>
          <a:p>
            <a:pPr marL="360000" indent="-360000">
              <a:spcBef>
                <a:spcPts val="600"/>
              </a:spcBef>
              <a:spcAft>
                <a:spcPts val="1200"/>
              </a:spcAft>
            </a:pPr>
            <a:r>
              <a:rPr lang="en-US" sz="2200" dirty="0" smtClean="0">
                <a:latin typeface="Helvetica" pitchFamily="34" charset="0"/>
              </a:rPr>
              <a:t>‘We know where you live’</a:t>
            </a:r>
          </a:p>
          <a:p>
            <a:pPr marL="360000" indent="-360000">
              <a:spcBef>
                <a:spcPts val="600"/>
              </a:spcBef>
              <a:spcAft>
                <a:spcPts val="1200"/>
              </a:spcAft>
            </a:pPr>
            <a:r>
              <a:rPr lang="en-US" sz="2200" dirty="0" smtClean="0">
                <a:latin typeface="Helvetica" pitchFamily="34" charset="0"/>
              </a:rPr>
              <a:t>Threats to kill</a:t>
            </a:r>
          </a:p>
          <a:p>
            <a:pPr marL="360000" indent="-360000">
              <a:spcBef>
                <a:spcPts val="600"/>
              </a:spcBef>
              <a:spcAft>
                <a:spcPts val="1200"/>
              </a:spcAft>
            </a:pPr>
            <a:r>
              <a:rPr lang="en-US" sz="2200" dirty="0" smtClean="0">
                <a:latin typeface="Helvetica" pitchFamily="34" charset="0"/>
              </a:rPr>
              <a:t>Revenge attacks</a:t>
            </a:r>
          </a:p>
          <a:p>
            <a:pPr marL="360000" indent="-360000">
              <a:spcBef>
                <a:spcPts val="600"/>
              </a:spcBef>
              <a:spcAft>
                <a:spcPts val="1200"/>
              </a:spcAft>
            </a:pPr>
            <a:r>
              <a:rPr lang="en-US" sz="2200" dirty="0" smtClean="0">
                <a:latin typeface="Helvetica" pitchFamily="34" charset="0"/>
              </a:rPr>
              <a:t>Reprisals</a:t>
            </a:r>
          </a:p>
          <a:p>
            <a:pPr marL="360000" indent="-360000">
              <a:spcBef>
                <a:spcPts val="600"/>
              </a:spcBef>
              <a:spcAft>
                <a:spcPts val="1200"/>
              </a:spcAft>
            </a:pPr>
            <a:r>
              <a:rPr lang="en-US" sz="2200" dirty="0" smtClean="0">
                <a:latin typeface="Helvetica" pitchFamily="34" charset="0"/>
              </a:rPr>
              <a:t>Promises to do damage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MC900359035.WMF"/>
          <p:cNvPicPr>
            <a:picLocks noChangeAspect="1"/>
          </p:cNvPicPr>
          <p:nvPr/>
        </p:nvPicPr>
        <p:blipFill>
          <a:blip r:embed="rId3" cstate="print"/>
          <a:stretch>
            <a:fillRect/>
          </a:stretch>
        </p:blipFill>
        <p:spPr>
          <a:xfrm>
            <a:off x="7020272" y="3943082"/>
            <a:ext cx="1364212" cy="12692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 when escorting and carrying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Resources can include::</a:t>
            </a:r>
          </a:p>
          <a:p>
            <a:pPr marL="360000" indent="-360000">
              <a:spcBef>
                <a:spcPts val="600"/>
              </a:spcBef>
              <a:spcAft>
                <a:spcPts val="1200"/>
              </a:spcAft>
            </a:pPr>
            <a:r>
              <a:rPr lang="en-US" sz="2200" dirty="0" smtClean="0">
                <a:latin typeface="Helvetica" pitchFamily="34" charset="0"/>
              </a:rPr>
              <a:t>Vehicles – high-profile and/or covert: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With special security features and comms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Driven by people with special training</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May involve a chase/lead car</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Route and times should vary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descr="MC900280857.WMF"/>
          <p:cNvPicPr>
            <a:picLocks noChangeAspect="1"/>
          </p:cNvPicPr>
          <p:nvPr/>
        </p:nvPicPr>
        <p:blipFill>
          <a:blip r:embed="rId3" cstate="print"/>
          <a:stretch>
            <a:fillRect/>
          </a:stretch>
        </p:blipFill>
        <p:spPr>
          <a:xfrm>
            <a:off x="7452320" y="2420888"/>
            <a:ext cx="1041149" cy="274923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 when escorting and carrying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Receptacles/containers</a:t>
            </a:r>
          </a:p>
          <a:p>
            <a:pPr marL="360000" indent="-360000">
              <a:spcBef>
                <a:spcPts val="600"/>
              </a:spcBef>
              <a:spcAft>
                <a:spcPts val="1200"/>
              </a:spcAft>
            </a:pPr>
            <a:r>
              <a:rPr lang="en-US" sz="2200" dirty="0" smtClean="0">
                <a:latin typeface="Helvetica" pitchFamily="34" charset="0"/>
              </a:rPr>
              <a:t>Weapons: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Firearms – not usual; must observe local laws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Less then lethal options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descr="MC900295469.WMF"/>
          <p:cNvPicPr>
            <a:picLocks noChangeAspect="1"/>
          </p:cNvPicPr>
          <p:nvPr/>
        </p:nvPicPr>
        <p:blipFill>
          <a:blip r:embed="rId3" cstate="print"/>
          <a:stretch>
            <a:fillRect/>
          </a:stretch>
        </p:blipFill>
        <p:spPr>
          <a:xfrm>
            <a:off x="7020272" y="4077072"/>
            <a:ext cx="1378645" cy="110291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 when escorting and carrying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Communication devices</a:t>
            </a:r>
          </a:p>
          <a:p>
            <a:pPr marL="360000" indent="-360000">
              <a:spcBef>
                <a:spcPts val="600"/>
              </a:spcBef>
              <a:spcAft>
                <a:spcPts val="1200"/>
              </a:spcAft>
            </a:pPr>
            <a:r>
              <a:rPr lang="en-US" sz="2200" dirty="0" smtClean="0">
                <a:latin typeface="Helvetica" pitchFamily="34" charset="0"/>
              </a:rPr>
              <a:t>Dye bombs</a:t>
            </a:r>
          </a:p>
          <a:p>
            <a:pPr marL="360000" indent="-360000">
              <a:spcBef>
                <a:spcPts val="600"/>
              </a:spcBef>
              <a:spcAft>
                <a:spcPts val="1200"/>
              </a:spcAft>
            </a:pPr>
            <a:r>
              <a:rPr lang="en-US" sz="2200" dirty="0" smtClean="0">
                <a:latin typeface="Helvetica" pitchFamily="34" charset="0"/>
              </a:rPr>
              <a:t>Physical barriers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freeimage-3816838.jpg"/>
          <p:cNvPicPr>
            <a:picLocks noChangeAspect="1"/>
          </p:cNvPicPr>
          <p:nvPr/>
        </p:nvPicPr>
        <p:blipFill>
          <a:blip r:embed="rId3" cstate="print"/>
          <a:stretch>
            <a:fillRect/>
          </a:stretch>
        </p:blipFill>
        <p:spPr>
          <a:xfrm>
            <a:off x="6876256" y="2996952"/>
            <a:ext cx="1379576" cy="206084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resources required when escorting and carrying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360000" indent="-360000">
              <a:spcBef>
                <a:spcPts val="600"/>
              </a:spcBef>
              <a:spcAft>
                <a:spcPts val="1200"/>
              </a:spcAft>
            </a:pPr>
            <a:r>
              <a:rPr lang="en-US" sz="2200" dirty="0" smtClean="0">
                <a:latin typeface="Helvetica" pitchFamily="34" charset="0"/>
              </a:rPr>
              <a:t>Security devices, equipment, systems and technology</a:t>
            </a:r>
          </a:p>
          <a:p>
            <a:pPr marL="360000" indent="-360000">
              <a:spcBef>
                <a:spcPts val="600"/>
              </a:spcBef>
              <a:spcAft>
                <a:spcPts val="1200"/>
              </a:spcAft>
            </a:pPr>
            <a:r>
              <a:rPr lang="en-US" sz="2200" dirty="0" smtClean="0">
                <a:latin typeface="Helvetica" pitchFamily="34" charset="0"/>
              </a:rPr>
              <a:t>Time-delay locks</a:t>
            </a:r>
          </a:p>
          <a:p>
            <a:pPr marL="360000" indent="-360000">
              <a:spcBef>
                <a:spcPts val="600"/>
              </a:spcBef>
              <a:spcAft>
                <a:spcPts val="1200"/>
              </a:spcAft>
            </a:pPr>
            <a:r>
              <a:rPr lang="en-US" sz="2200" dirty="0" smtClean="0">
                <a:latin typeface="Helvetica" pitchFamily="34" charset="0"/>
              </a:rPr>
              <a:t>Safes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descr="MP900178041(1).JPG"/>
          <p:cNvPicPr>
            <a:picLocks noChangeAspect="1"/>
          </p:cNvPicPr>
          <p:nvPr/>
        </p:nvPicPr>
        <p:blipFill>
          <a:blip r:embed="rId3" cstate="print"/>
          <a:stretch>
            <a:fillRect/>
          </a:stretch>
        </p:blipFill>
        <p:spPr>
          <a:xfrm>
            <a:off x="6588224" y="4005064"/>
            <a:ext cx="1821396" cy="12142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‘Assignment instructions’:</a:t>
            </a:r>
          </a:p>
          <a:p>
            <a:pPr marL="360000" indent="-360000">
              <a:spcBef>
                <a:spcPts val="600"/>
              </a:spcBef>
              <a:spcAft>
                <a:spcPts val="1200"/>
              </a:spcAft>
            </a:pPr>
            <a:r>
              <a:rPr lang="en-US" sz="2200" dirty="0" smtClean="0">
                <a:latin typeface="Helvetica" pitchFamily="34" charset="0"/>
              </a:rPr>
              <a:t>Give you details of work to be performed</a:t>
            </a:r>
          </a:p>
          <a:p>
            <a:pPr marL="360000" indent="-360000">
              <a:spcBef>
                <a:spcPts val="600"/>
              </a:spcBef>
              <a:spcAft>
                <a:spcPts val="1200"/>
              </a:spcAft>
            </a:pPr>
            <a:r>
              <a:rPr lang="en-US" sz="2200" dirty="0" smtClean="0">
                <a:latin typeface="Helvetica" pitchFamily="34" charset="0"/>
              </a:rPr>
              <a:t>May be given: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Verbally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In writing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MP900399313.JPG"/>
          <p:cNvPicPr>
            <a:picLocks noChangeAspect="1"/>
          </p:cNvPicPr>
          <p:nvPr/>
        </p:nvPicPr>
        <p:blipFill>
          <a:blip r:embed="rId3" cstate="print"/>
          <a:stretch>
            <a:fillRect/>
          </a:stretch>
        </p:blipFill>
        <p:spPr>
          <a:xfrm>
            <a:off x="6948264" y="3645024"/>
            <a:ext cx="1371979" cy="137197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Assignment instructions can arise as a result of:</a:t>
            </a:r>
          </a:p>
          <a:p>
            <a:pPr marL="360000" indent="-360000">
              <a:spcBef>
                <a:spcPts val="600"/>
              </a:spcBef>
              <a:spcAft>
                <a:spcPts val="1200"/>
              </a:spcAft>
            </a:pPr>
            <a:r>
              <a:rPr lang="en-US" sz="2200" dirty="0" smtClean="0">
                <a:latin typeface="Helvetica" pitchFamily="34" charset="0"/>
              </a:rPr>
              <a:t>Management directive</a:t>
            </a:r>
          </a:p>
          <a:p>
            <a:pPr marL="360000" indent="-360000">
              <a:spcBef>
                <a:spcPts val="600"/>
              </a:spcBef>
              <a:spcAft>
                <a:spcPts val="1200"/>
              </a:spcAft>
            </a:pPr>
            <a:r>
              <a:rPr lang="en-US" sz="2200" dirty="0" smtClean="0">
                <a:latin typeface="Helvetica" pitchFamily="34" charset="0"/>
              </a:rPr>
              <a:t>Guest request</a:t>
            </a:r>
          </a:p>
          <a:p>
            <a:pPr marL="360000" indent="-360000">
              <a:spcBef>
                <a:spcPts val="600"/>
              </a:spcBef>
              <a:spcAft>
                <a:spcPts val="1200"/>
              </a:spcAft>
            </a:pPr>
            <a:r>
              <a:rPr lang="en-US" sz="2200" dirty="0" smtClean="0">
                <a:latin typeface="Helvetica" pitchFamily="34" charset="0"/>
              </a:rPr>
              <a:t>Special duty requirement</a:t>
            </a:r>
          </a:p>
          <a:p>
            <a:pPr marL="360000" indent="-360000">
              <a:spcBef>
                <a:spcPts val="600"/>
              </a:spcBef>
              <a:spcAft>
                <a:spcPts val="1200"/>
              </a:spcAft>
            </a:pPr>
            <a:r>
              <a:rPr lang="en-US" sz="2200" dirty="0" smtClean="0">
                <a:latin typeface="Helvetica" pitchFamily="34" charset="0"/>
              </a:rPr>
              <a:t>Response to threat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MC900295469.WMF"/>
          <p:cNvPicPr>
            <a:picLocks noChangeAspect="1"/>
          </p:cNvPicPr>
          <p:nvPr/>
        </p:nvPicPr>
        <p:blipFill>
          <a:blip r:embed="rId3" cstate="print"/>
          <a:stretch>
            <a:fillRect/>
          </a:stretch>
        </p:blipFill>
        <p:spPr>
          <a:xfrm>
            <a:off x="6645005" y="3429000"/>
            <a:ext cx="1609896" cy="17319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An integrated response to a wider issue</a:t>
            </a:r>
          </a:p>
          <a:p>
            <a:pPr marL="360000" indent="-360000">
              <a:spcBef>
                <a:spcPts val="600"/>
              </a:spcBef>
              <a:spcAft>
                <a:spcPts val="1200"/>
              </a:spcAft>
            </a:pPr>
            <a:r>
              <a:rPr lang="en-US" sz="2200" dirty="0" smtClean="0">
                <a:latin typeface="Helvetica" pitchFamily="34" charset="0"/>
              </a:rPr>
              <a:t>VIP service</a:t>
            </a:r>
          </a:p>
          <a:p>
            <a:pPr marL="360000" indent="-360000">
              <a:spcBef>
                <a:spcPts val="600"/>
              </a:spcBef>
              <a:spcAft>
                <a:spcPts val="1200"/>
              </a:spcAft>
            </a:pPr>
            <a:r>
              <a:rPr lang="en-US" sz="2200" dirty="0" smtClean="0">
                <a:latin typeface="Helvetica" pitchFamily="34" charset="0"/>
              </a:rPr>
              <a:t>Staff assistance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MC900216694.WMF"/>
          <p:cNvPicPr>
            <a:picLocks noChangeAspect="1"/>
          </p:cNvPicPr>
          <p:nvPr/>
        </p:nvPicPr>
        <p:blipFill>
          <a:blip r:embed="rId3" cstate="print"/>
          <a:stretch>
            <a:fillRect/>
          </a:stretch>
        </p:blipFill>
        <p:spPr>
          <a:xfrm>
            <a:off x="7380312" y="3212976"/>
            <a:ext cx="944575" cy="1833372"/>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Details contained in assignment instructions:</a:t>
            </a:r>
          </a:p>
          <a:p>
            <a:pPr marL="360000" indent="-360000">
              <a:spcBef>
                <a:spcPts val="600"/>
              </a:spcBef>
              <a:spcAft>
                <a:spcPts val="1200"/>
              </a:spcAft>
            </a:pPr>
            <a:r>
              <a:rPr lang="en-US" sz="2200" dirty="0" smtClean="0">
                <a:latin typeface="Helvetica" pitchFamily="34" charset="0"/>
              </a:rPr>
              <a:t>Specific guest/client requirements for the job</a:t>
            </a:r>
          </a:p>
          <a:p>
            <a:pPr marL="360000" indent="-360000">
              <a:spcBef>
                <a:spcPts val="600"/>
              </a:spcBef>
              <a:spcAft>
                <a:spcPts val="1200"/>
              </a:spcAft>
            </a:pPr>
            <a:r>
              <a:rPr lang="en-US" sz="2200" dirty="0" smtClean="0">
                <a:latin typeface="Helvetica" pitchFamily="34" charset="0"/>
              </a:rPr>
              <a:t>Objective/s</a:t>
            </a:r>
          </a:p>
          <a:p>
            <a:pPr marL="360000" indent="-360000">
              <a:spcBef>
                <a:spcPts val="600"/>
              </a:spcBef>
              <a:spcAft>
                <a:spcPts val="1200"/>
              </a:spcAft>
            </a:pPr>
            <a:r>
              <a:rPr lang="en-US" sz="2200" dirty="0" smtClean="0">
                <a:latin typeface="Helvetica" pitchFamily="34" charset="0"/>
              </a:rPr>
              <a:t>Time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descr="MP900442379.JPG"/>
          <p:cNvPicPr>
            <a:picLocks noChangeAspect="1"/>
          </p:cNvPicPr>
          <p:nvPr/>
        </p:nvPicPr>
        <p:blipFill>
          <a:blip r:embed="rId3" cstate="print"/>
          <a:stretch>
            <a:fillRect/>
          </a:stretch>
        </p:blipFill>
        <p:spPr>
          <a:xfrm>
            <a:off x="6660232" y="4077072"/>
            <a:ext cx="1727684" cy="115178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List and description of tasks which are required to be performed</a:t>
            </a:r>
          </a:p>
          <a:p>
            <a:pPr marL="360000" indent="-360000">
              <a:spcBef>
                <a:spcPts val="600"/>
              </a:spcBef>
              <a:spcAft>
                <a:spcPts val="1200"/>
              </a:spcAft>
            </a:pPr>
            <a:r>
              <a:rPr lang="en-US" sz="2200" dirty="0" smtClean="0">
                <a:latin typeface="Helvetica" pitchFamily="34" charset="0"/>
              </a:rPr>
              <a:t>Resources available/to be used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MP900422115.JPG"/>
          <p:cNvPicPr>
            <a:picLocks noChangeAspect="1"/>
          </p:cNvPicPr>
          <p:nvPr/>
        </p:nvPicPr>
        <p:blipFill>
          <a:blip r:embed="rId3" cstate="print"/>
          <a:stretch>
            <a:fillRect/>
          </a:stretch>
        </p:blipFill>
        <p:spPr>
          <a:xfrm>
            <a:off x="6948264" y="4293096"/>
            <a:ext cx="1475656" cy="98338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fontScale="90000"/>
          </a:bodyPr>
          <a:lstStyle/>
          <a:p>
            <a:r>
              <a:rPr lang="en-US" sz="3400" b="1" dirty="0" smtClean="0">
                <a:solidFill>
                  <a:srgbClr val="FF6600"/>
                </a:solidFill>
                <a:latin typeface="Helvetica" pitchFamily="34" charset="0"/>
              </a:rPr>
              <a:t>Clarify escort and carry assignments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Management arrangements for the assignment</a:t>
            </a:r>
          </a:p>
          <a:p>
            <a:pPr marL="360000" indent="-360000">
              <a:spcBef>
                <a:spcPts val="600"/>
              </a:spcBef>
              <a:spcAft>
                <a:spcPts val="1200"/>
              </a:spcAft>
            </a:pPr>
            <a:r>
              <a:rPr lang="en-US" sz="2200" dirty="0" smtClean="0">
                <a:latin typeface="Helvetica" pitchFamily="34" charset="0"/>
              </a:rPr>
              <a:t>Relevant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descr="MC900230824.WMF"/>
          <p:cNvPicPr>
            <a:picLocks noChangeAspect="1"/>
          </p:cNvPicPr>
          <p:nvPr/>
        </p:nvPicPr>
        <p:blipFill>
          <a:blip r:embed="rId3" cstate="print"/>
          <a:stretch>
            <a:fillRect/>
          </a:stretch>
        </p:blipFill>
        <p:spPr>
          <a:xfrm>
            <a:off x="6876256" y="3717032"/>
            <a:ext cx="1426100" cy="150597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preparing to undertake escort and carry duties:</a:t>
            </a:r>
          </a:p>
          <a:p>
            <a:pPr marL="360000" indent="-360000">
              <a:spcBef>
                <a:spcPts val="600"/>
              </a:spcBef>
              <a:spcAft>
                <a:spcPts val="1200"/>
              </a:spcAft>
            </a:pPr>
            <a:r>
              <a:rPr lang="en-AU" sz="2200" dirty="0" smtClean="0">
                <a:latin typeface="Helvetica" pitchFamily="34" charset="0"/>
              </a:rPr>
              <a:t>Identify the items to be escorted moved</a:t>
            </a:r>
          </a:p>
          <a:p>
            <a:pPr marL="360000" indent="-360000">
              <a:spcBef>
                <a:spcPts val="600"/>
              </a:spcBef>
              <a:spcAft>
                <a:spcPts val="1200"/>
              </a:spcAft>
            </a:pPr>
            <a:r>
              <a:rPr lang="en-AU" sz="2200" dirty="0" smtClean="0">
                <a:latin typeface="Helvetica" pitchFamily="34" charset="0"/>
              </a:rPr>
              <a:t>Follow all internal requirements, policies and procedures</a:t>
            </a:r>
          </a:p>
          <a:p>
            <a:pPr marL="360000" indent="-360000">
              <a:spcBef>
                <a:spcPts val="600"/>
              </a:spcBef>
              <a:spcAft>
                <a:spcPts val="1200"/>
              </a:spcAft>
            </a:pPr>
            <a:r>
              <a:rPr lang="en-AU" sz="2200" dirty="0" smtClean="0">
                <a:latin typeface="Helvetica" pitchFamily="34" charset="0"/>
              </a:rPr>
              <a:t>Adhere to all legally imposed compliance obligations</a:t>
            </a:r>
          </a:p>
          <a:p>
            <a:pPr marL="360000" indent="-360000">
              <a:spcBef>
                <a:spcPts val="600"/>
              </a:spcBef>
              <a:spcAft>
                <a:spcPts val="1200"/>
              </a:spcAft>
            </a:pPr>
            <a:r>
              <a:rPr lang="en-AU" sz="2200" dirty="0" smtClean="0">
                <a:latin typeface="Helvetica" pitchFamily="34" charset="0"/>
              </a:rPr>
              <a:t>Obtain all externally required security-related </a:t>
            </a:r>
            <a:br>
              <a:rPr lang="en-AU" sz="2200" dirty="0" smtClean="0">
                <a:latin typeface="Helvetica" pitchFamily="34" charset="0"/>
              </a:rPr>
            </a:br>
            <a:r>
              <a:rPr lang="en-AU" sz="2200" dirty="0" smtClean="0">
                <a:latin typeface="Helvetica" pitchFamily="34" charset="0"/>
              </a:rPr>
              <a:t>training and certification</a:t>
            </a:r>
          </a:p>
          <a:p>
            <a:r>
              <a:rPr lang="en-AU" sz="2200" dirty="0" smtClean="0">
                <a:latin typeface="Helvetica" pitchFamily="34" charset="0"/>
              </a:rPr>
              <a:t>Participate in all internal or on-the-job training</a:t>
            </a:r>
            <a:br>
              <a:rPr lang="en-AU" sz="2200" dirty="0" smtClean="0">
                <a:latin typeface="Helvetica" pitchFamily="34" charset="0"/>
              </a:rPr>
            </a:b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r>
              <a:rPr lang="en-AU" sz="2200" dirty="0" smtClean="0">
                <a:latin typeface="Helvetica" pitchFamily="34" charset="0"/>
              </a:rPr>
              <a:t>Cultivate necessary characteristics required by security staff</a:t>
            </a:r>
          </a:p>
          <a:p>
            <a:pPr marL="360000" indent="-360000">
              <a:spcBef>
                <a:spcPts val="600"/>
              </a:spcBef>
              <a:spcAft>
                <a:spcPts val="1200"/>
              </a:spcAft>
            </a:pPr>
            <a:r>
              <a:rPr lang="en-AU" sz="2200" dirty="0" smtClean="0">
                <a:latin typeface="Helvetica" pitchFamily="34" charset="0"/>
              </a:rPr>
              <a:t>Prepare plans for work/tasks as required</a:t>
            </a:r>
          </a:p>
          <a:p>
            <a:pPr marL="360000" indent="-360000">
              <a:spcBef>
                <a:spcPts val="600"/>
              </a:spcBef>
              <a:spcAft>
                <a:spcPts val="1200"/>
              </a:spcAft>
            </a:pPr>
            <a:r>
              <a:rPr lang="en-AU" sz="2200" dirty="0" smtClean="0">
                <a:latin typeface="Helvetica" pitchFamily="34" charset="0"/>
              </a:rPr>
              <a:t>Involve and collaborate with others when planning tasks</a:t>
            </a:r>
          </a:p>
          <a:p>
            <a:pPr marL="360000" indent="-360000">
              <a:spcBef>
                <a:spcPts val="600"/>
              </a:spcBef>
              <a:spcAft>
                <a:spcPts val="1200"/>
              </a:spcAft>
            </a:pPr>
            <a:r>
              <a:rPr lang="en-AU" sz="2200" dirty="0" smtClean="0">
                <a:latin typeface="Helvetica" pitchFamily="34" charset="0"/>
              </a:rPr>
              <a:t>Encourage others to provide input about any suspicions or concerns they have about security and/or threats</a:t>
            </a:r>
          </a:p>
          <a:p>
            <a:pPr marL="360000" indent="-360000">
              <a:spcBef>
                <a:spcPts val="600"/>
              </a:spcBef>
              <a:spcAft>
                <a:spcPts val="1200"/>
              </a:spcAft>
            </a:pPr>
            <a:r>
              <a:rPr lang="en-AU" sz="2200" dirty="0" smtClean="0">
                <a:latin typeface="Helvetica" pitchFamily="34" charset="0"/>
              </a:rPr>
              <a:t>Never become complacent</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AU" sz="2200" dirty="0" smtClean="0">
                <a:latin typeface="Helvetica" pitchFamily="34" charset="0"/>
              </a:rPr>
              <a:t>Maintain Situational Awareness at all times</a:t>
            </a:r>
          </a:p>
          <a:p>
            <a:pPr marL="360000" indent="-360000">
              <a:spcBef>
                <a:spcPts val="600"/>
              </a:spcBef>
              <a:spcAft>
                <a:spcPts val="1200"/>
              </a:spcAft>
            </a:pPr>
            <a:r>
              <a:rPr lang="en-AU" sz="2200" dirty="0" smtClean="0">
                <a:latin typeface="Helvetica" pitchFamily="34" charset="0"/>
              </a:rPr>
              <a:t>Be proactive in identifying threats</a:t>
            </a:r>
          </a:p>
          <a:p>
            <a:pPr marL="360000" indent="-360000">
              <a:spcBef>
                <a:spcPts val="600"/>
              </a:spcBef>
              <a:spcAft>
                <a:spcPts val="1200"/>
              </a:spcAft>
            </a:pPr>
            <a:r>
              <a:rPr lang="en-AU" sz="2200" dirty="0" smtClean="0">
                <a:latin typeface="Helvetica" pitchFamily="34" charset="0"/>
              </a:rPr>
              <a:t>Conduct regular workplace inspections</a:t>
            </a:r>
          </a:p>
          <a:p>
            <a:pPr marL="360000" indent="-360000">
              <a:spcBef>
                <a:spcPts val="600"/>
              </a:spcBef>
              <a:spcAft>
                <a:spcPts val="1200"/>
              </a:spcAft>
            </a:pPr>
            <a:r>
              <a:rPr lang="en-AU" sz="2200" dirty="0" smtClean="0">
                <a:latin typeface="Helvetica" pitchFamily="34" charset="0"/>
              </a:rPr>
              <a:t>Modify SOPs to accommodate workplace changes</a:t>
            </a:r>
          </a:p>
          <a:p>
            <a:pPr marL="360000" indent="-360000">
              <a:spcBef>
                <a:spcPts val="600"/>
              </a:spcBef>
              <a:spcAft>
                <a:spcPts val="1200"/>
              </a:spcAft>
            </a:pPr>
            <a:r>
              <a:rPr lang="en-AU" sz="2200" dirty="0" smtClean="0">
                <a:latin typeface="Helvetica" pitchFamily="34" charset="0"/>
              </a:rPr>
              <a:t>Identify and use appropriate resources to assist </a:t>
            </a:r>
            <a:br>
              <a:rPr lang="en-AU" sz="2200" dirty="0" smtClean="0">
                <a:latin typeface="Helvetica" pitchFamily="34" charset="0"/>
              </a:rPr>
            </a:br>
            <a:r>
              <a:rPr lang="en-AU" sz="2200" dirty="0" smtClean="0">
                <a:latin typeface="Helvetica" pitchFamily="34" charset="0"/>
              </a:rPr>
              <a:t>with assignments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Undertake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marL="360000" indent="-360000">
              <a:spcBef>
                <a:spcPts val="600"/>
              </a:spcBef>
              <a:spcAft>
                <a:spcPts val="1200"/>
              </a:spcAft>
            </a:pPr>
            <a:r>
              <a:rPr lang="en-US" sz="2200" dirty="0" smtClean="0">
                <a:latin typeface="Helvetica" pitchFamily="34" charset="0"/>
              </a:rPr>
              <a:t>Identify route to be taken</a:t>
            </a:r>
          </a:p>
          <a:p>
            <a:pPr marL="360000" indent="-360000">
              <a:spcBef>
                <a:spcPts val="600"/>
              </a:spcBef>
              <a:spcAft>
                <a:spcPts val="1200"/>
              </a:spcAft>
            </a:pPr>
            <a:r>
              <a:rPr lang="en-US" sz="2200" dirty="0" smtClean="0">
                <a:latin typeface="Helvetica" pitchFamily="34" charset="0"/>
              </a:rPr>
              <a:t>Assess potential threats for the individual job</a:t>
            </a:r>
          </a:p>
          <a:p>
            <a:pPr marL="360000" indent="-360000">
              <a:spcBef>
                <a:spcPts val="600"/>
              </a:spcBef>
              <a:spcAft>
                <a:spcPts val="1200"/>
              </a:spcAft>
            </a:pPr>
            <a:r>
              <a:rPr lang="en-US" sz="2200" dirty="0" smtClean="0">
                <a:latin typeface="Helvetica" pitchFamily="34" charset="0"/>
              </a:rPr>
              <a:t>Obtain assistance if required</a:t>
            </a:r>
          </a:p>
          <a:p>
            <a:pPr marL="360000" indent="-360000">
              <a:spcBef>
                <a:spcPts val="600"/>
              </a:spcBef>
              <a:spcAft>
                <a:spcPts val="1200"/>
              </a:spcAft>
            </a:pPr>
            <a:r>
              <a:rPr lang="en-US" sz="2200" dirty="0" smtClean="0">
                <a:latin typeface="Helvetica" pitchFamily="34" charset="0"/>
              </a:rPr>
              <a:t>Perform close escort duties</a:t>
            </a:r>
          </a:p>
          <a:p>
            <a:pPr marL="360000" indent="-360000">
              <a:spcBef>
                <a:spcPts val="600"/>
              </a:spcBef>
              <a:spcAft>
                <a:spcPts val="1200"/>
              </a:spcAft>
            </a:pPr>
            <a:r>
              <a:rPr lang="en-US" sz="2200" dirty="0" smtClean="0">
                <a:latin typeface="Helvetica" pitchFamily="34" charset="0"/>
              </a:rPr>
              <a:t>Respond threats</a:t>
            </a:r>
          </a:p>
          <a:p>
            <a:pPr marL="360000" indent="-360000">
              <a:spcBef>
                <a:spcPts val="600"/>
              </a:spcBef>
              <a:spcAft>
                <a:spcPts val="1200"/>
              </a:spcAft>
            </a:pPr>
            <a:r>
              <a:rPr lang="en-US" sz="2200" dirty="0" smtClean="0">
                <a:latin typeface="Helvetica" pitchFamily="34" charset="0"/>
              </a:rPr>
              <a:t>Complete necessary documentation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MC900058942.WMF"/>
          <p:cNvPicPr>
            <a:picLocks noChangeAspect="1"/>
          </p:cNvPicPr>
          <p:nvPr/>
        </p:nvPicPr>
        <p:blipFill>
          <a:blip r:embed="rId3" cstate="print"/>
          <a:stretch>
            <a:fillRect/>
          </a:stretch>
        </p:blipFill>
        <p:spPr>
          <a:xfrm>
            <a:off x="6516216" y="3789040"/>
            <a:ext cx="1788566" cy="129479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Routes must be identified for all jobs. The Standard Operating Procedure (SOP) is to:</a:t>
            </a:r>
          </a:p>
          <a:p>
            <a:pPr marL="360000" indent="-360000">
              <a:spcBef>
                <a:spcPts val="600"/>
              </a:spcBef>
              <a:spcAft>
                <a:spcPts val="1200"/>
              </a:spcAft>
            </a:pPr>
            <a:r>
              <a:rPr lang="en-US" sz="2200" dirty="0" smtClean="0">
                <a:latin typeface="Helvetica" pitchFamily="34" charset="0"/>
              </a:rPr>
              <a:t>Develop a primary route</a:t>
            </a:r>
          </a:p>
          <a:p>
            <a:pPr marL="360000" indent="-360000">
              <a:spcBef>
                <a:spcPts val="600"/>
              </a:spcBef>
              <a:spcAft>
                <a:spcPts val="1200"/>
              </a:spcAft>
            </a:pPr>
            <a:r>
              <a:rPr lang="en-US" sz="2200" dirty="0" smtClean="0">
                <a:latin typeface="Helvetica" pitchFamily="34" charset="0"/>
              </a:rPr>
              <a:t>Develop secondary routes</a:t>
            </a:r>
          </a:p>
          <a:p>
            <a:pPr marL="360000" indent="-360000">
              <a:spcBef>
                <a:spcPts val="600"/>
              </a:spcBef>
              <a:spcAft>
                <a:spcPts val="1200"/>
              </a:spcAft>
            </a:pPr>
            <a:r>
              <a:rPr lang="en-US" sz="2200" dirty="0" smtClean="0">
                <a:latin typeface="Helvetica" pitchFamily="34" charset="0"/>
              </a:rPr>
              <a:t>Include these in assignment instructions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descr="freeimage-2730304.jpg"/>
          <p:cNvPicPr>
            <a:picLocks noChangeAspect="1"/>
          </p:cNvPicPr>
          <p:nvPr/>
        </p:nvPicPr>
        <p:blipFill>
          <a:blip r:embed="rId3" cstate="print"/>
          <a:stretch>
            <a:fillRect/>
          </a:stretch>
        </p:blipFill>
        <p:spPr>
          <a:xfrm>
            <a:off x="6914414" y="4221088"/>
            <a:ext cx="1507353" cy="100490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Primary route = best/most secure/preferred route.</a:t>
            </a:r>
          </a:p>
          <a:p>
            <a:pPr marL="0" indent="0">
              <a:spcBef>
                <a:spcPts val="600"/>
              </a:spcBef>
              <a:spcAft>
                <a:spcPts val="1200"/>
              </a:spcAft>
              <a:buNone/>
            </a:pPr>
            <a:r>
              <a:rPr lang="en-US" sz="2200" dirty="0" smtClean="0">
                <a:latin typeface="Helvetica" pitchFamily="34" charset="0"/>
              </a:rPr>
              <a:t>Will contain:</a:t>
            </a:r>
          </a:p>
          <a:p>
            <a:pPr marL="360000" indent="-360000">
              <a:spcBef>
                <a:spcPts val="600"/>
              </a:spcBef>
              <a:spcAft>
                <a:spcPts val="1200"/>
              </a:spcAft>
            </a:pPr>
            <a:r>
              <a:rPr lang="en-US" sz="2200" dirty="0" smtClean="0">
                <a:latin typeface="Helvetica" pitchFamily="34" charset="0"/>
              </a:rPr>
              <a:t>Staring point</a:t>
            </a:r>
          </a:p>
          <a:p>
            <a:pPr marL="360000" indent="-360000">
              <a:spcBef>
                <a:spcPts val="600"/>
              </a:spcBef>
              <a:spcAft>
                <a:spcPts val="1200"/>
              </a:spcAft>
            </a:pPr>
            <a:r>
              <a:rPr lang="en-US" sz="2200" dirty="0" smtClean="0">
                <a:latin typeface="Helvetica" pitchFamily="34" charset="0"/>
              </a:rPr>
              <a:t>Route to be taken – divided into sectors</a:t>
            </a:r>
          </a:p>
          <a:p>
            <a:pPr marL="360000" indent="-360000">
              <a:spcBef>
                <a:spcPts val="600"/>
              </a:spcBef>
              <a:spcAft>
                <a:spcPts val="1200"/>
              </a:spcAft>
            </a:pPr>
            <a:r>
              <a:rPr lang="en-US" sz="2200" dirty="0" smtClean="0">
                <a:latin typeface="Helvetica" pitchFamily="34" charset="0"/>
              </a:rPr>
              <a:t>Threat points</a:t>
            </a:r>
          </a:p>
          <a:p>
            <a:pPr marL="360000" indent="-360000">
              <a:spcBef>
                <a:spcPts val="600"/>
              </a:spcBef>
              <a:spcAft>
                <a:spcPts val="1200"/>
              </a:spcAft>
            </a:pPr>
            <a:r>
              <a:rPr lang="en-US" sz="2200" dirty="0" smtClean="0">
                <a:latin typeface="Helvetica" pitchFamily="34" charset="0"/>
              </a:rPr>
              <a:t>Check-in points</a:t>
            </a:r>
          </a:p>
          <a:p>
            <a:pPr marL="360000" indent="-360000">
              <a:spcBef>
                <a:spcPts val="600"/>
              </a:spcBef>
              <a:spcAft>
                <a:spcPts val="1200"/>
              </a:spcAft>
            </a:pPr>
            <a:r>
              <a:rPr lang="en-US" sz="2200" dirty="0" smtClean="0">
                <a:latin typeface="Helvetica" pitchFamily="34" charset="0"/>
              </a:rPr>
              <a:t>End point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MC900411408.WMF"/>
          <p:cNvPicPr>
            <a:picLocks noChangeAspect="1"/>
          </p:cNvPicPr>
          <p:nvPr/>
        </p:nvPicPr>
        <p:blipFill>
          <a:blip r:embed="rId3" cstate="print"/>
          <a:stretch>
            <a:fillRect/>
          </a:stretch>
        </p:blipFill>
        <p:spPr>
          <a:xfrm>
            <a:off x="6835533" y="4196693"/>
            <a:ext cx="1552891" cy="103250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Secondary route = Plan B. It should show:</a:t>
            </a:r>
          </a:p>
          <a:p>
            <a:pPr marL="360000" indent="-360000">
              <a:spcBef>
                <a:spcPts val="600"/>
              </a:spcBef>
              <a:spcAft>
                <a:spcPts val="1200"/>
              </a:spcAft>
            </a:pPr>
            <a:r>
              <a:rPr lang="en-US" sz="2200" dirty="0" smtClean="0">
                <a:latin typeface="Helvetica" pitchFamily="34" charset="0"/>
              </a:rPr>
              <a:t>Entry points from primary to secondary route</a:t>
            </a:r>
          </a:p>
          <a:p>
            <a:pPr marL="360000" indent="-360000">
              <a:spcBef>
                <a:spcPts val="600"/>
              </a:spcBef>
              <a:spcAft>
                <a:spcPts val="1200"/>
              </a:spcAft>
            </a:pPr>
            <a:r>
              <a:rPr lang="en-US" sz="2200" dirty="0" smtClean="0">
                <a:latin typeface="Helvetica" pitchFamily="34" charset="0"/>
              </a:rPr>
              <a:t>Route/path to take</a:t>
            </a:r>
          </a:p>
          <a:p>
            <a:pPr marL="360000" indent="-360000">
              <a:spcBef>
                <a:spcPts val="600"/>
              </a:spcBef>
              <a:spcAft>
                <a:spcPts val="1200"/>
              </a:spcAft>
            </a:pPr>
            <a:r>
              <a:rPr lang="en-US" sz="2200" dirty="0" smtClean="0">
                <a:latin typeface="Helvetica" pitchFamily="34" charset="0"/>
              </a:rPr>
              <a:t>Either:</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Re-join pointy with primary route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Route to destination</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freeimage-2730304.jpg"/>
          <p:cNvPicPr>
            <a:picLocks noChangeAspect="1"/>
          </p:cNvPicPr>
          <p:nvPr/>
        </p:nvPicPr>
        <p:blipFill>
          <a:blip r:embed="rId3" cstate="print"/>
          <a:stretch>
            <a:fillRect/>
          </a:stretch>
        </p:blipFill>
        <p:spPr>
          <a:xfrm>
            <a:off x="6804248" y="4149080"/>
            <a:ext cx="1619672" cy="107691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Before confirming a route:</a:t>
            </a:r>
          </a:p>
          <a:p>
            <a:pPr marL="360000" indent="-360000">
              <a:spcBef>
                <a:spcPts val="600"/>
              </a:spcBef>
              <a:spcAft>
                <a:spcPts val="1200"/>
              </a:spcAft>
            </a:pPr>
            <a:r>
              <a:rPr lang="en-US" sz="2200" dirty="0" smtClean="0">
                <a:latin typeface="Helvetica" pitchFamily="34" charset="0"/>
              </a:rPr>
              <a:t>Do a practice/test run reflecting real or expected conditions</a:t>
            </a:r>
          </a:p>
          <a:p>
            <a:pPr marL="360000" indent="-360000">
              <a:spcBef>
                <a:spcPts val="600"/>
              </a:spcBef>
              <a:spcAft>
                <a:spcPts val="1200"/>
              </a:spcAft>
            </a:pPr>
            <a:r>
              <a:rPr lang="en-US" sz="2200" dirty="0" smtClean="0">
                <a:latin typeface="Helvetica" pitchFamily="34" charset="0"/>
              </a:rPr>
              <a:t>Time it</a:t>
            </a:r>
          </a:p>
          <a:p>
            <a:pPr marL="360000" indent="-360000">
              <a:spcBef>
                <a:spcPts val="600"/>
              </a:spcBef>
              <a:spcAft>
                <a:spcPts val="1200"/>
              </a:spcAft>
            </a:pPr>
            <a:r>
              <a:rPr lang="en-US" sz="2200" dirty="0" smtClean="0">
                <a:latin typeface="Helvetica" pitchFamily="34" charset="0"/>
              </a:rPr>
              <a:t>Incorporate simulated ‘emergencies’ or events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Security guard.jpg"/>
          <p:cNvPicPr>
            <a:picLocks noChangeAspect="1"/>
          </p:cNvPicPr>
          <p:nvPr/>
        </p:nvPicPr>
        <p:blipFill>
          <a:blip r:embed="rId3" cstate="print"/>
          <a:stretch>
            <a:fillRect/>
          </a:stretch>
        </p:blipFill>
        <p:spPr>
          <a:xfrm>
            <a:off x="7284300" y="3645024"/>
            <a:ext cx="1085867" cy="16288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Factors to consider when identifying route:</a:t>
            </a:r>
          </a:p>
          <a:p>
            <a:pPr marL="360000" indent="-360000">
              <a:spcBef>
                <a:spcPts val="600"/>
              </a:spcBef>
              <a:spcAft>
                <a:spcPts val="1200"/>
              </a:spcAft>
            </a:pPr>
            <a:r>
              <a:rPr lang="en-US" sz="2200" dirty="0" smtClean="0">
                <a:latin typeface="Helvetica" pitchFamily="34" charset="0"/>
              </a:rPr>
              <a:t>Shortest route is not always optimal</a:t>
            </a:r>
          </a:p>
          <a:p>
            <a:pPr marL="360000" indent="-360000">
              <a:spcBef>
                <a:spcPts val="600"/>
              </a:spcBef>
              <a:spcAft>
                <a:spcPts val="1200"/>
              </a:spcAft>
            </a:pPr>
            <a:r>
              <a:rPr lang="en-US" sz="2200" dirty="0" smtClean="0">
                <a:latin typeface="Helvetica" pitchFamily="34" charset="0"/>
              </a:rPr>
              <a:t>Quickest route is often the best</a:t>
            </a:r>
          </a:p>
          <a:p>
            <a:pPr marL="360000" indent="-360000">
              <a:spcBef>
                <a:spcPts val="600"/>
              </a:spcBef>
              <a:spcAft>
                <a:spcPts val="1200"/>
              </a:spcAft>
            </a:pPr>
            <a:r>
              <a:rPr lang="en-US" sz="2200" dirty="0" smtClean="0">
                <a:latin typeface="Helvetica" pitchFamily="34" charset="0"/>
              </a:rPr>
              <a:t>Weather</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freeimage-2639270.jpg"/>
          <p:cNvPicPr>
            <a:picLocks noChangeAspect="1"/>
          </p:cNvPicPr>
          <p:nvPr/>
        </p:nvPicPr>
        <p:blipFill>
          <a:blip r:embed="rId3" cstate="print"/>
          <a:stretch>
            <a:fillRect/>
          </a:stretch>
        </p:blipFill>
        <p:spPr>
          <a:xfrm>
            <a:off x="6588224" y="3789040"/>
            <a:ext cx="1691680" cy="123031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Time of day</a:t>
            </a:r>
          </a:p>
          <a:p>
            <a:pPr marL="360000" indent="-360000">
              <a:spcBef>
                <a:spcPts val="600"/>
              </a:spcBef>
              <a:spcAft>
                <a:spcPts val="1200"/>
              </a:spcAft>
            </a:pPr>
            <a:r>
              <a:rPr lang="en-US" sz="2200" dirty="0" smtClean="0">
                <a:latin typeface="Helvetica" pitchFamily="34" charset="0"/>
              </a:rPr>
              <a:t>Relevant ‘other issues’ as applicable: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Day of the week</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Local and in-house events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Expected trade and traffic</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General environmental issues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MP900386060.JPG"/>
          <p:cNvPicPr>
            <a:picLocks noChangeAspect="1"/>
          </p:cNvPicPr>
          <p:nvPr/>
        </p:nvPicPr>
        <p:blipFill>
          <a:blip r:embed="rId3" cstate="print"/>
          <a:stretch>
            <a:fillRect/>
          </a:stretch>
        </p:blipFill>
        <p:spPr>
          <a:xfrm>
            <a:off x="6804248" y="4077072"/>
            <a:ext cx="1601822" cy="114415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Reasons to do threat assessments:</a:t>
            </a:r>
          </a:p>
          <a:p>
            <a:pPr marL="360000" indent="-360000">
              <a:spcBef>
                <a:spcPts val="600"/>
              </a:spcBef>
              <a:spcAft>
                <a:spcPts val="1200"/>
              </a:spcAft>
            </a:pPr>
            <a:r>
              <a:rPr lang="en-AU" sz="2200" dirty="0" smtClean="0">
                <a:latin typeface="Helvetica" pitchFamily="34" charset="0"/>
              </a:rPr>
              <a:t>Identify, reduce, avoid or eliminate threats and risks</a:t>
            </a:r>
          </a:p>
          <a:p>
            <a:pPr marL="360000" indent="-360000">
              <a:spcBef>
                <a:spcPts val="600"/>
              </a:spcBef>
              <a:spcAft>
                <a:spcPts val="1200"/>
              </a:spcAft>
            </a:pPr>
            <a:r>
              <a:rPr lang="en-AU" sz="2200" dirty="0" smtClean="0">
                <a:latin typeface="Helvetica" pitchFamily="34" charset="0"/>
              </a:rPr>
              <a:t>Determine appropriate responses to threats</a:t>
            </a:r>
          </a:p>
          <a:p>
            <a:pPr marL="360000" indent="-360000">
              <a:spcBef>
                <a:spcPts val="600"/>
              </a:spcBef>
              <a:spcAft>
                <a:spcPts val="1200"/>
              </a:spcAft>
            </a:pPr>
            <a:r>
              <a:rPr lang="en-AU" sz="2200" dirty="0" smtClean="0">
                <a:latin typeface="Helvetica" pitchFamily="34" charset="0"/>
              </a:rPr>
              <a:t>Develop the most secure and  effective </a:t>
            </a:r>
            <a:br>
              <a:rPr lang="en-AU" sz="2200" dirty="0" smtClean="0">
                <a:latin typeface="Helvetica" pitchFamily="34" charset="0"/>
              </a:rPr>
            </a:br>
            <a:r>
              <a:rPr lang="en-AU" sz="2200" dirty="0" smtClean="0">
                <a:latin typeface="Helvetica" pitchFamily="34" charset="0"/>
              </a:rPr>
              <a:t>course of action</a:t>
            </a:r>
          </a:p>
          <a:p>
            <a:r>
              <a:rPr lang="en-AU" sz="2200" dirty="0" smtClean="0">
                <a:latin typeface="Helvetica" pitchFamily="34" charset="0"/>
              </a:rPr>
              <a:t>Involve relevant others in the planning </a:t>
            </a:r>
            <a:br>
              <a:rPr lang="en-AU" sz="2200" dirty="0" smtClean="0">
                <a:latin typeface="Helvetica" pitchFamily="34" charset="0"/>
              </a:rPr>
            </a:br>
            <a:r>
              <a:rPr lang="en-AU" sz="2200" dirty="0" smtClean="0">
                <a:latin typeface="Helvetica" pitchFamily="34" charset="0"/>
              </a:rPr>
              <a:t>process</a:t>
            </a:r>
            <a:br>
              <a:rPr lang="en-AU" sz="2200" dirty="0" smtClean="0">
                <a:latin typeface="Helvetica" pitchFamily="34" charset="0"/>
              </a:rPr>
            </a:br>
            <a:endParaRPr lang="en-AU"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descr="MP900422989.JPG"/>
          <p:cNvPicPr>
            <a:picLocks noChangeAspect="1"/>
          </p:cNvPicPr>
          <p:nvPr/>
        </p:nvPicPr>
        <p:blipFill>
          <a:blip r:embed="rId3" cstate="print"/>
          <a:stretch>
            <a:fillRect/>
          </a:stretch>
        </p:blipFill>
        <p:spPr>
          <a:xfrm>
            <a:off x="6804248" y="3166150"/>
            <a:ext cx="1593626" cy="20630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Discharge and demonstrate compliance with obligations: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Duty of Care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Due Diligence</a:t>
            </a:r>
          </a:p>
          <a:p>
            <a:pPr marL="360000" indent="-360000">
              <a:spcBef>
                <a:spcPts val="600"/>
              </a:spcBef>
              <a:spcAft>
                <a:spcPts val="1200"/>
              </a:spcAft>
            </a:pPr>
            <a:r>
              <a:rPr lang="en-US" sz="2200" dirty="0" smtClean="0">
                <a:latin typeface="Helvetica" pitchFamily="34" charset="0"/>
              </a:rPr>
              <a:t>Be professional</a:t>
            </a:r>
          </a:p>
          <a:p>
            <a:pPr marL="360000" indent="-360000">
              <a:spcBef>
                <a:spcPts val="600"/>
              </a:spcBef>
              <a:spcAft>
                <a:spcPts val="1200"/>
              </a:spcAft>
            </a:pPr>
            <a:r>
              <a:rPr lang="en-US" sz="2200" dirty="0" smtClean="0">
                <a:latin typeface="Helvetica" pitchFamily="34" charset="0"/>
              </a:rPr>
              <a:t>Provide value-for-money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MP900321180.JPG"/>
          <p:cNvPicPr>
            <a:picLocks noChangeAspect="1"/>
          </p:cNvPicPr>
          <p:nvPr/>
        </p:nvPicPr>
        <p:blipFill>
          <a:blip r:embed="rId3" cstate="print"/>
          <a:stretch>
            <a:fillRect/>
          </a:stretch>
        </p:blipFill>
        <p:spPr>
          <a:xfrm>
            <a:off x="7092280" y="3356992"/>
            <a:ext cx="1324945" cy="18574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There are fundamental differences between:</a:t>
            </a:r>
          </a:p>
          <a:p>
            <a:pPr marL="360000" indent="-360000">
              <a:spcBef>
                <a:spcPts val="600"/>
              </a:spcBef>
              <a:spcAft>
                <a:spcPts val="1200"/>
              </a:spcAft>
            </a:pPr>
            <a:r>
              <a:rPr lang="en-US" sz="2200" dirty="0" smtClean="0">
                <a:latin typeface="Helvetica" pitchFamily="34" charset="0"/>
              </a:rPr>
              <a:t>Carrying or escorting a valuable item</a:t>
            </a:r>
          </a:p>
          <a:p>
            <a:pPr marL="360000" indent="-360000">
              <a:spcBef>
                <a:spcPts val="600"/>
              </a:spcBef>
              <a:spcAft>
                <a:spcPts val="1200"/>
              </a:spcAft>
              <a:buNone/>
            </a:pPr>
            <a:r>
              <a:rPr lang="en-US" sz="2200" i="1" dirty="0" smtClean="0">
                <a:latin typeface="Helvetica" pitchFamily="34" charset="0"/>
              </a:rPr>
              <a:t>and</a:t>
            </a:r>
          </a:p>
          <a:p>
            <a:pPr marL="360000" indent="-360000">
              <a:spcBef>
                <a:spcPts val="600"/>
              </a:spcBef>
              <a:spcAft>
                <a:spcPts val="1200"/>
              </a:spcAft>
            </a:pPr>
            <a:r>
              <a:rPr lang="en-US" sz="2200" dirty="0" smtClean="0">
                <a:latin typeface="Helvetica" pitchFamily="34" charset="0"/>
              </a:rPr>
              <a:t>Escorting a person/group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 name="Picture 5" descr="MC900053943.WMF"/>
          <p:cNvPicPr>
            <a:picLocks noChangeAspect="1"/>
          </p:cNvPicPr>
          <p:nvPr/>
        </p:nvPicPr>
        <p:blipFill>
          <a:blip r:embed="rId3" cstate="print"/>
          <a:stretch>
            <a:fillRect/>
          </a:stretch>
        </p:blipFill>
        <p:spPr>
          <a:xfrm>
            <a:off x="6372200" y="3291246"/>
            <a:ext cx="1849845" cy="1930272"/>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Generic factors to consider when assessing threats for escorting duties:</a:t>
            </a:r>
          </a:p>
          <a:p>
            <a:pPr marL="360000" indent="-360000">
              <a:spcBef>
                <a:spcPts val="600"/>
              </a:spcBef>
              <a:spcAft>
                <a:spcPts val="1200"/>
              </a:spcAft>
            </a:pPr>
            <a:r>
              <a:rPr lang="en-US" sz="2200" dirty="0" smtClean="0">
                <a:latin typeface="Helvetica" pitchFamily="34" charset="0"/>
              </a:rPr>
              <a:t>Review available intelligence</a:t>
            </a:r>
          </a:p>
          <a:p>
            <a:pPr marL="360000" indent="-360000">
              <a:spcBef>
                <a:spcPts val="600"/>
              </a:spcBef>
              <a:spcAft>
                <a:spcPts val="1200"/>
              </a:spcAft>
            </a:pPr>
            <a:r>
              <a:rPr lang="en-US" sz="2200" dirty="0" smtClean="0">
                <a:latin typeface="Helvetica" pitchFamily="34" charset="0"/>
              </a:rPr>
              <a:t>Contact local authorities</a:t>
            </a:r>
          </a:p>
          <a:p>
            <a:pPr marL="360000" indent="-360000">
              <a:spcBef>
                <a:spcPts val="600"/>
              </a:spcBef>
              <a:spcAft>
                <a:spcPts val="1200"/>
              </a:spcAft>
            </a:pPr>
            <a:r>
              <a:rPr lang="en-US" sz="2200" dirty="0" smtClean="0">
                <a:latin typeface="Helvetica" pitchFamily="34" charset="0"/>
              </a:rPr>
              <a:t>Plan for the worst – hope for the best</a:t>
            </a:r>
          </a:p>
          <a:p>
            <a:pPr marL="360000" indent="-360000">
              <a:spcBef>
                <a:spcPts val="600"/>
              </a:spcBef>
              <a:spcAft>
                <a:spcPts val="1200"/>
              </a:spcAft>
            </a:pPr>
            <a:r>
              <a:rPr lang="en-US" sz="2200" dirty="0" smtClean="0">
                <a:latin typeface="Helvetica" pitchFamily="34" charset="0"/>
              </a:rPr>
              <a:t>Aim to eliminate threats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descr="MP900422119.JPG"/>
          <p:cNvPicPr>
            <a:picLocks noChangeAspect="1"/>
          </p:cNvPicPr>
          <p:nvPr/>
        </p:nvPicPr>
        <p:blipFill>
          <a:blip r:embed="rId3" cstate="print"/>
          <a:srcRect b="33959"/>
          <a:stretch>
            <a:fillRect/>
          </a:stretch>
        </p:blipFill>
        <p:spPr>
          <a:xfrm>
            <a:off x="6948264" y="3933056"/>
            <a:ext cx="1462397" cy="1296144"/>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Case-by-case considerations:</a:t>
            </a:r>
          </a:p>
          <a:p>
            <a:pPr marL="360000" indent="-360000">
              <a:spcBef>
                <a:spcPts val="600"/>
              </a:spcBef>
              <a:spcAft>
                <a:spcPts val="1200"/>
              </a:spcAft>
            </a:pPr>
            <a:r>
              <a:rPr lang="en-US" sz="2200" dirty="0" smtClean="0">
                <a:latin typeface="Helvetica" pitchFamily="34" charset="0"/>
              </a:rPr>
              <a:t>Talk with the client/guest</a:t>
            </a:r>
          </a:p>
          <a:p>
            <a:pPr marL="360000" indent="-360000">
              <a:spcBef>
                <a:spcPts val="600"/>
              </a:spcBef>
              <a:spcAft>
                <a:spcPts val="1200"/>
              </a:spcAft>
            </a:pPr>
            <a:r>
              <a:rPr lang="en-US" sz="2200" dirty="0" smtClean="0">
                <a:latin typeface="Helvetica" pitchFamily="34" charset="0"/>
              </a:rPr>
              <a:t>Never exceed personal scope of authority</a:t>
            </a:r>
          </a:p>
          <a:p>
            <a:pPr marL="360000" indent="-360000">
              <a:spcBef>
                <a:spcPts val="600"/>
              </a:spcBef>
              <a:spcAft>
                <a:spcPts val="1200"/>
              </a:spcAft>
            </a:pPr>
            <a:r>
              <a:rPr lang="en-US" sz="2200" dirty="0" smtClean="0">
                <a:latin typeface="Helvetica" pitchFamily="34" charset="0"/>
              </a:rPr>
              <a:t>Ensure compliance with internal </a:t>
            </a:r>
            <a:br>
              <a:rPr lang="en-US" sz="2200" dirty="0" smtClean="0">
                <a:latin typeface="Helvetica" pitchFamily="34" charset="0"/>
              </a:rPr>
            </a:br>
            <a:r>
              <a:rPr lang="en-US" sz="2200" dirty="0" smtClean="0">
                <a:latin typeface="Helvetica" pitchFamily="34" charset="0"/>
              </a:rPr>
              <a:t>protocols and requirements</a:t>
            </a:r>
          </a:p>
          <a:p>
            <a:pPr marL="360000" indent="-360000">
              <a:spcBef>
                <a:spcPts val="600"/>
              </a:spcBef>
              <a:spcAft>
                <a:spcPts val="1200"/>
              </a:spcAft>
            </a:pPr>
            <a:r>
              <a:rPr lang="en-US" sz="2200" dirty="0" smtClean="0">
                <a:latin typeface="Helvetica" pitchFamily="34" charset="0"/>
              </a:rPr>
              <a:t>Never break the law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descr="MP900305893.JPG"/>
          <p:cNvPicPr>
            <a:picLocks noChangeAspect="1"/>
          </p:cNvPicPr>
          <p:nvPr/>
        </p:nvPicPr>
        <p:blipFill>
          <a:blip r:embed="rId3" cstate="print"/>
          <a:stretch>
            <a:fillRect/>
          </a:stretch>
        </p:blipFill>
        <p:spPr>
          <a:xfrm>
            <a:off x="7135246" y="3501008"/>
            <a:ext cx="1253178" cy="1756791"/>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Be willing to ask for help:</a:t>
            </a:r>
          </a:p>
          <a:p>
            <a:pPr marL="360000" indent="-360000">
              <a:spcBef>
                <a:spcPts val="600"/>
              </a:spcBef>
              <a:spcAft>
                <a:spcPts val="1200"/>
              </a:spcAft>
            </a:pPr>
            <a:r>
              <a:rPr lang="en-US" sz="2200" dirty="0" smtClean="0">
                <a:latin typeface="Helvetica" pitchFamily="34" charset="0"/>
              </a:rPr>
              <a:t>When planning or preparing for an assignment </a:t>
            </a:r>
          </a:p>
          <a:p>
            <a:pPr marL="360000" indent="-360000">
              <a:spcBef>
                <a:spcPts val="600"/>
              </a:spcBef>
              <a:spcAft>
                <a:spcPts val="1200"/>
              </a:spcAft>
            </a:pPr>
            <a:r>
              <a:rPr lang="en-US" sz="2200" dirty="0" smtClean="0">
                <a:latin typeface="Helvetica" pitchFamily="34" charset="0"/>
              </a:rPr>
              <a:t>During the assignment</a:t>
            </a:r>
          </a:p>
          <a:p>
            <a:pPr marL="360000" indent="-360000">
              <a:spcBef>
                <a:spcPts val="600"/>
              </a:spcBef>
              <a:spcAft>
                <a:spcPts val="1200"/>
              </a:spcAft>
            </a:pPr>
            <a:r>
              <a:rPr lang="en-US" sz="2200" dirty="0" smtClean="0">
                <a:latin typeface="Helvetica" pitchFamily="34" charset="0"/>
              </a:rPr>
              <a:t>After the assignment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MP900431762.JPG"/>
          <p:cNvPicPr>
            <a:picLocks noChangeAspect="1"/>
          </p:cNvPicPr>
          <p:nvPr/>
        </p:nvPicPr>
        <p:blipFill>
          <a:blip r:embed="rId3" cstate="print"/>
          <a:stretch>
            <a:fillRect/>
          </a:stretch>
        </p:blipFill>
        <p:spPr>
          <a:xfrm>
            <a:off x="6444208" y="3933056"/>
            <a:ext cx="1978952" cy="131878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Benefits of asking for help:</a:t>
            </a:r>
          </a:p>
          <a:p>
            <a:pPr marL="360000" indent="-360000">
              <a:spcBef>
                <a:spcPts val="600"/>
              </a:spcBef>
              <a:spcAft>
                <a:spcPts val="1200"/>
              </a:spcAft>
            </a:pPr>
            <a:r>
              <a:rPr lang="en-US" sz="2200" dirty="0" smtClean="0">
                <a:latin typeface="Helvetica" pitchFamily="34" charset="0"/>
              </a:rPr>
              <a:t>Relieves you of sole responsibility</a:t>
            </a:r>
          </a:p>
          <a:p>
            <a:pPr marL="360000" indent="-360000">
              <a:spcBef>
                <a:spcPts val="600"/>
              </a:spcBef>
              <a:spcAft>
                <a:spcPts val="1200"/>
              </a:spcAft>
            </a:pPr>
            <a:r>
              <a:rPr lang="en-US" sz="2200" dirty="0" smtClean="0">
                <a:latin typeface="Helvetica" pitchFamily="34" charset="0"/>
              </a:rPr>
              <a:t>Provides different ideas, input and expertise</a:t>
            </a:r>
          </a:p>
          <a:p>
            <a:pPr marL="360000" indent="-360000">
              <a:spcBef>
                <a:spcPts val="600"/>
              </a:spcBef>
              <a:spcAft>
                <a:spcPts val="1200"/>
              </a:spcAft>
            </a:pPr>
            <a:r>
              <a:rPr lang="en-US" sz="2200" dirty="0" smtClean="0">
                <a:latin typeface="Helvetica" pitchFamily="34" charset="0"/>
              </a:rPr>
              <a:t>Shares information</a:t>
            </a:r>
          </a:p>
          <a:p>
            <a:pPr marL="360000" indent="-360000">
              <a:spcBef>
                <a:spcPts val="600"/>
              </a:spcBef>
              <a:spcAft>
                <a:spcPts val="1200"/>
              </a:spcAft>
            </a:pPr>
            <a:r>
              <a:rPr lang="en-US" sz="2200" dirty="0" smtClean="0">
                <a:latin typeface="Helvetica" pitchFamily="34" charset="0"/>
              </a:rPr>
              <a:t>Generates better intelligence for planning </a:t>
            </a:r>
            <a:br>
              <a:rPr lang="en-US" sz="2200" dirty="0" smtClean="0">
                <a:latin typeface="Helvetica" pitchFamily="34" charset="0"/>
              </a:rPr>
            </a:br>
            <a:r>
              <a:rPr lang="en-US" sz="2200" dirty="0" smtClean="0">
                <a:latin typeface="Helvetica" pitchFamily="34" charset="0"/>
              </a:rPr>
              <a:t>and implementation purposes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MP900284892.JPG"/>
          <p:cNvPicPr>
            <a:picLocks noChangeAspect="1"/>
          </p:cNvPicPr>
          <p:nvPr/>
        </p:nvPicPr>
        <p:blipFill>
          <a:blip r:embed="rId3" cstate="print"/>
          <a:stretch>
            <a:fillRect/>
          </a:stretch>
        </p:blipFill>
        <p:spPr>
          <a:xfrm>
            <a:off x="6804248" y="2996952"/>
            <a:ext cx="1553009" cy="2289448"/>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Three main sources of assistance:</a:t>
            </a:r>
          </a:p>
          <a:p>
            <a:pPr marL="360000" indent="-360000">
              <a:spcBef>
                <a:spcPts val="600"/>
              </a:spcBef>
              <a:spcAft>
                <a:spcPts val="1200"/>
              </a:spcAft>
            </a:pPr>
            <a:r>
              <a:rPr lang="en-US" sz="2200" dirty="0" smtClean="0">
                <a:latin typeface="Helvetica" pitchFamily="34" charset="0"/>
              </a:rPr>
              <a:t>Internal staff</a:t>
            </a:r>
          </a:p>
          <a:p>
            <a:pPr marL="360000" indent="-360000">
              <a:spcBef>
                <a:spcPts val="600"/>
              </a:spcBef>
              <a:spcAft>
                <a:spcPts val="1200"/>
              </a:spcAft>
            </a:pPr>
            <a:r>
              <a:rPr lang="en-US" sz="2200" dirty="0" smtClean="0">
                <a:latin typeface="Helvetica" pitchFamily="34" charset="0"/>
              </a:rPr>
              <a:t>External security organization</a:t>
            </a:r>
          </a:p>
          <a:p>
            <a:pPr marL="360000" indent="-360000">
              <a:spcBef>
                <a:spcPts val="600"/>
              </a:spcBef>
              <a:spcAft>
                <a:spcPts val="1200"/>
              </a:spcAft>
            </a:pPr>
            <a:r>
              <a:rPr lang="en-US" sz="2200" dirty="0" smtClean="0">
                <a:latin typeface="Helvetica" pitchFamily="34" charset="0"/>
              </a:rPr>
              <a:t>Local authorities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descr="MP900442211.JPG"/>
          <p:cNvPicPr>
            <a:picLocks noChangeAspect="1"/>
          </p:cNvPicPr>
          <p:nvPr/>
        </p:nvPicPr>
        <p:blipFill>
          <a:blip r:embed="rId3" cstate="print"/>
          <a:stretch>
            <a:fillRect/>
          </a:stretch>
        </p:blipFill>
        <p:spPr>
          <a:xfrm>
            <a:off x="6876256" y="3501008"/>
            <a:ext cx="1361989" cy="168726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Internal staff:</a:t>
            </a:r>
          </a:p>
          <a:p>
            <a:pPr marL="360000" indent="-360000">
              <a:spcBef>
                <a:spcPts val="600"/>
              </a:spcBef>
              <a:spcAft>
                <a:spcPts val="1200"/>
              </a:spcAft>
            </a:pPr>
            <a:r>
              <a:rPr lang="en-US" sz="2200" dirty="0" smtClean="0">
                <a:latin typeface="Helvetica" pitchFamily="34" charset="0"/>
              </a:rPr>
              <a:t>Security staff</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pPr>
            <a:r>
              <a:rPr lang="en-US" sz="2200" dirty="0" smtClean="0">
                <a:latin typeface="Helvetica" pitchFamily="34" charset="0"/>
              </a:rPr>
              <a:t>Others with relevant or previous experience</a:t>
            </a:r>
          </a:p>
          <a:p>
            <a:pPr marL="360000" indent="-360000">
              <a:spcBef>
                <a:spcPts val="600"/>
              </a:spcBef>
              <a:spcAft>
                <a:spcPts val="1200"/>
              </a:spcAft>
            </a:pPr>
            <a:r>
              <a:rPr lang="en-US" sz="2200" dirty="0" smtClean="0">
                <a:latin typeface="Helvetica" pitchFamily="34" charset="0"/>
              </a:rPr>
              <a:t>Marketing department (on some </a:t>
            </a:r>
            <a:br>
              <a:rPr lang="en-US" sz="2200" dirty="0" smtClean="0">
                <a:latin typeface="Helvetica" pitchFamily="34" charset="0"/>
              </a:rPr>
            </a:br>
            <a:r>
              <a:rPr lang="en-US" sz="2200" dirty="0" smtClean="0">
                <a:latin typeface="Helvetica" pitchFamily="34" charset="0"/>
              </a:rPr>
              <a:t>occasions only)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MC900053943.WMF"/>
          <p:cNvPicPr>
            <a:picLocks noChangeAspect="1"/>
          </p:cNvPicPr>
          <p:nvPr/>
        </p:nvPicPr>
        <p:blipFill>
          <a:blip r:embed="rId3" cstate="print"/>
          <a:stretch>
            <a:fillRect/>
          </a:stretch>
        </p:blipFill>
        <p:spPr>
          <a:xfrm>
            <a:off x="6660232" y="3140968"/>
            <a:ext cx="1775861" cy="199101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External security company may provide:</a:t>
            </a:r>
          </a:p>
          <a:p>
            <a:pPr marL="360000" indent="-360000">
              <a:spcBef>
                <a:spcPts val="600"/>
              </a:spcBef>
              <a:spcAft>
                <a:spcPts val="1200"/>
              </a:spcAft>
            </a:pPr>
            <a:r>
              <a:rPr lang="en-US" sz="2200" dirty="0" smtClean="0">
                <a:latin typeface="Helvetica" pitchFamily="34" charset="0"/>
              </a:rPr>
              <a:t>Guards</a:t>
            </a:r>
          </a:p>
          <a:p>
            <a:pPr marL="360000" indent="-360000">
              <a:spcBef>
                <a:spcPts val="600"/>
              </a:spcBef>
              <a:spcAft>
                <a:spcPts val="1200"/>
              </a:spcAft>
            </a:pPr>
            <a:r>
              <a:rPr lang="en-US" sz="2200" dirty="0" smtClean="0">
                <a:latin typeface="Helvetica" pitchFamily="34" charset="0"/>
              </a:rPr>
              <a:t>Intelligence</a:t>
            </a:r>
          </a:p>
          <a:p>
            <a:pPr marL="360000" indent="-360000">
              <a:spcBef>
                <a:spcPts val="600"/>
              </a:spcBef>
              <a:spcAft>
                <a:spcPts val="1200"/>
              </a:spcAft>
            </a:pPr>
            <a:r>
              <a:rPr lang="en-US" sz="2200" dirty="0" smtClean="0">
                <a:latin typeface="Helvetica" pitchFamily="34" charset="0"/>
              </a:rPr>
              <a:t>Suggestions and feedback on plans</a:t>
            </a:r>
          </a:p>
          <a:p>
            <a:pPr marL="360000" indent="-360000">
              <a:spcBef>
                <a:spcPts val="600"/>
              </a:spcBef>
              <a:spcAft>
                <a:spcPts val="1200"/>
              </a:spcAft>
            </a:pPr>
            <a:r>
              <a:rPr lang="en-US" sz="2200" dirty="0" smtClean="0">
                <a:latin typeface="Helvetica" pitchFamily="34" charset="0"/>
              </a:rPr>
              <a:t>Pre-prepared arrangements for response </a:t>
            </a:r>
            <a:br>
              <a:rPr lang="en-US" sz="2200" dirty="0" smtClean="0">
                <a:latin typeface="Helvetica" pitchFamily="34" charset="0"/>
              </a:rPr>
            </a:br>
            <a:r>
              <a:rPr lang="en-US" sz="2200" dirty="0" smtClean="0">
                <a:latin typeface="Helvetica" pitchFamily="34" charset="0"/>
              </a:rPr>
              <a:t>in the event an incident occurs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MC900301214.WMF"/>
          <p:cNvPicPr>
            <a:picLocks noChangeAspect="1"/>
          </p:cNvPicPr>
          <p:nvPr/>
        </p:nvPicPr>
        <p:blipFill>
          <a:blip r:embed="rId3" cstate="print"/>
          <a:stretch>
            <a:fillRect/>
          </a:stretch>
        </p:blipFill>
        <p:spPr>
          <a:xfrm>
            <a:off x="7164288" y="2852936"/>
            <a:ext cx="1224136" cy="225339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Obtain assistance if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Local authorities = police, fire, ambulance:</a:t>
            </a:r>
          </a:p>
          <a:p>
            <a:pPr marL="360000" indent="-360000">
              <a:spcBef>
                <a:spcPts val="600"/>
              </a:spcBef>
              <a:spcAft>
                <a:spcPts val="1200"/>
              </a:spcAft>
            </a:pPr>
            <a:r>
              <a:rPr lang="en-US" sz="2200" dirty="0" smtClean="0">
                <a:latin typeface="Helvetica" pitchFamily="34" charset="0"/>
              </a:rPr>
              <a:t>Provision of advice and information</a:t>
            </a:r>
          </a:p>
          <a:p>
            <a:pPr marL="360000" indent="-360000">
              <a:spcBef>
                <a:spcPts val="600"/>
              </a:spcBef>
              <a:spcAft>
                <a:spcPts val="1200"/>
              </a:spcAft>
            </a:pPr>
            <a:r>
              <a:rPr lang="en-US" sz="2200" dirty="0" smtClean="0">
                <a:latin typeface="Helvetica" pitchFamily="34" charset="0"/>
              </a:rPr>
              <a:t>Tips and feedback</a:t>
            </a:r>
          </a:p>
          <a:p>
            <a:pPr marL="360000" indent="-360000">
              <a:spcBef>
                <a:spcPts val="600"/>
              </a:spcBef>
              <a:spcAft>
                <a:spcPts val="1200"/>
              </a:spcAft>
            </a:pPr>
            <a:r>
              <a:rPr lang="en-US" sz="2200" dirty="0" smtClean="0">
                <a:latin typeface="Helvetica" pitchFamily="34" charset="0"/>
              </a:rPr>
              <a:t>Physical presence on the day</a:t>
            </a:r>
          </a:p>
          <a:p>
            <a:pPr marL="360000" indent="-360000">
              <a:spcBef>
                <a:spcPts val="600"/>
              </a:spcBef>
              <a:spcAft>
                <a:spcPts val="1200"/>
              </a:spcAft>
            </a:pPr>
            <a:r>
              <a:rPr lang="en-US" sz="2200" dirty="0" smtClean="0">
                <a:latin typeface="Helvetica" pitchFamily="34" charset="0"/>
              </a:rPr>
              <a:t>Pre-prepared response/s in case of incident</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MC900013548.WMF"/>
          <p:cNvPicPr>
            <a:picLocks noChangeAspect="1"/>
          </p:cNvPicPr>
          <p:nvPr/>
        </p:nvPicPr>
        <p:blipFill>
          <a:blip r:embed="rId3" cstate="print"/>
          <a:stretch>
            <a:fillRect/>
          </a:stretch>
        </p:blipFill>
        <p:spPr>
          <a:xfrm>
            <a:off x="6372200" y="4077072"/>
            <a:ext cx="1726802" cy="1606601"/>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close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112568"/>
          </a:xfrm>
        </p:spPr>
        <p:txBody>
          <a:bodyPr>
            <a:normAutofit/>
          </a:bodyPr>
          <a:lstStyle/>
          <a:p>
            <a:pPr marL="0" indent="0">
              <a:spcBef>
                <a:spcPts val="600"/>
              </a:spcBef>
              <a:spcAft>
                <a:spcPts val="1200"/>
              </a:spcAft>
              <a:buNone/>
            </a:pPr>
            <a:r>
              <a:rPr lang="en-US" sz="2200" dirty="0" smtClean="0">
                <a:latin typeface="Helvetica" pitchFamily="34" charset="0"/>
              </a:rPr>
              <a:t>‘Close escort duties are performed by ‘bodyguards’ or ‘CPOs’. They may be:</a:t>
            </a:r>
          </a:p>
          <a:p>
            <a:pPr marL="360000" indent="-360000">
              <a:spcBef>
                <a:spcPts val="600"/>
              </a:spcBef>
              <a:spcAft>
                <a:spcPts val="1200"/>
              </a:spcAft>
            </a:pPr>
            <a:r>
              <a:rPr lang="en-US" sz="2200" dirty="0" smtClean="0">
                <a:latin typeface="Helvetica" pitchFamily="34" charset="0"/>
              </a:rPr>
              <a:t>Venues employees with special skills: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Driving</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Martial arts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First aid</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Firearms</a:t>
            </a:r>
          </a:p>
          <a:p>
            <a:pPr marL="360000" indent="-360000">
              <a:spcBef>
                <a:spcPts val="600"/>
              </a:spcBef>
              <a:spcAft>
                <a:spcPts val="1200"/>
              </a:spcAft>
            </a:pPr>
            <a:r>
              <a:rPr lang="en-US" sz="2200" dirty="0" smtClean="0">
                <a:latin typeface="Helvetica" pitchFamily="34" charset="0"/>
              </a:rPr>
              <a:t>Provided by an external security </a:t>
            </a:r>
            <a:br>
              <a:rPr lang="en-US" sz="2200" dirty="0" smtClean="0">
                <a:latin typeface="Helvetica" pitchFamily="34" charset="0"/>
              </a:rPr>
            </a:br>
            <a:r>
              <a:rPr lang="en-US" sz="2200" dirty="0" smtClean="0">
                <a:latin typeface="Helvetica" pitchFamily="34" charset="0"/>
              </a:rPr>
              <a:t>company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MP900422248.JPG"/>
          <p:cNvPicPr>
            <a:picLocks noChangeAspect="1"/>
          </p:cNvPicPr>
          <p:nvPr/>
        </p:nvPicPr>
        <p:blipFill>
          <a:blip r:embed="rId3" cstate="print"/>
          <a:stretch>
            <a:fillRect/>
          </a:stretch>
        </p:blipFill>
        <p:spPr>
          <a:xfrm>
            <a:off x="6301672" y="3861048"/>
            <a:ext cx="2086752" cy="139062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close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Bodyguards may operate:</a:t>
            </a:r>
          </a:p>
          <a:p>
            <a:pPr marL="360000" indent="-360000">
              <a:spcBef>
                <a:spcPts val="600"/>
              </a:spcBef>
              <a:spcAft>
                <a:spcPts val="1200"/>
              </a:spcAft>
            </a:pPr>
            <a:r>
              <a:rPr lang="en-US" sz="2200" dirty="0" smtClean="0">
                <a:latin typeface="Helvetica" pitchFamily="34" charset="0"/>
              </a:rPr>
              <a:t>Independently</a:t>
            </a:r>
          </a:p>
          <a:p>
            <a:pPr marL="360000" indent="-360000">
              <a:spcBef>
                <a:spcPts val="600"/>
              </a:spcBef>
              <a:spcAft>
                <a:spcPts val="1200"/>
              </a:spcAft>
            </a:pPr>
            <a:r>
              <a:rPr lang="en-US" sz="2200" dirty="0" smtClean="0">
                <a:latin typeface="Helvetica" pitchFamily="34" charset="0"/>
              </a:rPr>
              <a:t>In conjunction with other bodyguards</a:t>
            </a:r>
          </a:p>
          <a:p>
            <a:pPr marL="360000" indent="-360000">
              <a:spcBef>
                <a:spcPts val="600"/>
              </a:spcBef>
              <a:spcAft>
                <a:spcPts val="1200"/>
              </a:spcAft>
            </a:pPr>
            <a:r>
              <a:rPr lang="en-US" sz="2200" dirty="0" smtClean="0">
                <a:latin typeface="Helvetica" pitchFamily="34" charset="0"/>
              </a:rPr>
              <a:t>In collaboration with local authorities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484899_10151564077467868_839078027_n.jpg"/>
          <p:cNvPicPr>
            <a:picLocks noChangeAspect="1"/>
          </p:cNvPicPr>
          <p:nvPr/>
        </p:nvPicPr>
        <p:blipFill>
          <a:blip r:embed="rId3" cstate="print"/>
          <a:stretch>
            <a:fillRect/>
          </a:stretch>
        </p:blipFill>
        <p:spPr>
          <a:xfrm>
            <a:off x="6732076" y="3212976"/>
            <a:ext cx="1635810" cy="210386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close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Close escort may be required for:</a:t>
            </a:r>
          </a:p>
          <a:p>
            <a:pPr marL="360000" indent="-360000">
              <a:spcBef>
                <a:spcPts val="600"/>
              </a:spcBef>
              <a:spcAft>
                <a:spcPts val="1200"/>
              </a:spcAft>
            </a:pPr>
            <a:r>
              <a:rPr lang="en-US" sz="2200" dirty="0" smtClean="0">
                <a:latin typeface="Helvetica" pitchFamily="34" charset="0"/>
              </a:rPr>
              <a:t>VIPs</a:t>
            </a:r>
          </a:p>
          <a:p>
            <a:pPr marL="360000" indent="-360000">
              <a:spcBef>
                <a:spcPts val="600"/>
              </a:spcBef>
              <a:spcAft>
                <a:spcPts val="1200"/>
              </a:spcAft>
            </a:pPr>
            <a:r>
              <a:rPr lang="en-US" sz="2200" dirty="0" smtClean="0">
                <a:latin typeface="Helvetica" pitchFamily="34" charset="0"/>
              </a:rPr>
              <a:t>Heads of state</a:t>
            </a:r>
          </a:p>
          <a:p>
            <a:pPr marL="360000" indent="-360000">
              <a:spcBef>
                <a:spcPts val="600"/>
              </a:spcBef>
              <a:spcAft>
                <a:spcPts val="1200"/>
              </a:spcAft>
            </a:pPr>
            <a:r>
              <a:rPr lang="en-US" sz="2200" dirty="0" smtClean="0">
                <a:latin typeface="Helvetica" pitchFamily="34" charset="0"/>
              </a:rPr>
              <a:t>Celebrities</a:t>
            </a:r>
          </a:p>
          <a:p>
            <a:pPr marL="360000" indent="-360000">
              <a:spcBef>
                <a:spcPts val="600"/>
              </a:spcBef>
              <a:spcAft>
                <a:spcPts val="1200"/>
              </a:spcAft>
            </a:pPr>
            <a:r>
              <a:rPr lang="en-US" sz="2200" dirty="0" smtClean="0">
                <a:latin typeface="Helvetica" pitchFamily="34" charset="0"/>
              </a:rPr>
              <a:t>Sports stars</a:t>
            </a:r>
          </a:p>
          <a:p>
            <a:pPr marL="360000" indent="-360000">
              <a:spcBef>
                <a:spcPts val="600"/>
              </a:spcBef>
              <a:spcAft>
                <a:spcPts val="1200"/>
              </a:spcAft>
            </a:pPr>
            <a:r>
              <a:rPr lang="en-US" sz="2200" dirty="0" smtClean="0">
                <a:latin typeface="Helvetica" pitchFamily="34" charset="0"/>
              </a:rPr>
              <a:t>Musicians</a:t>
            </a:r>
          </a:p>
          <a:p>
            <a:pPr marL="360000" indent="-360000">
              <a:spcBef>
                <a:spcPts val="600"/>
              </a:spcBef>
              <a:spcAft>
                <a:spcPts val="1200"/>
              </a:spcAft>
            </a:pPr>
            <a:r>
              <a:rPr lang="en-US" sz="2200" dirty="0" smtClean="0">
                <a:latin typeface="Helvetica" pitchFamily="34" charset="0"/>
              </a:rPr>
              <a:t>Politicians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descr="MC900434914.PNG"/>
          <p:cNvPicPr>
            <a:picLocks noChangeAspect="1"/>
          </p:cNvPicPr>
          <p:nvPr/>
        </p:nvPicPr>
        <p:blipFill>
          <a:blip r:embed="rId3" cstate="print"/>
          <a:stretch>
            <a:fillRect/>
          </a:stretch>
        </p:blipFill>
        <p:spPr>
          <a:xfrm>
            <a:off x="6732240" y="3645024"/>
            <a:ext cx="1709650" cy="1709650"/>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close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Bodyguard responsibilities may include:</a:t>
            </a:r>
          </a:p>
          <a:p>
            <a:pPr marL="360000" indent="-360000">
              <a:spcBef>
                <a:spcPts val="600"/>
              </a:spcBef>
              <a:spcAft>
                <a:spcPts val="1200"/>
              </a:spcAft>
            </a:pPr>
            <a:r>
              <a:rPr lang="en-US" sz="2200" dirty="0" smtClean="0">
                <a:latin typeface="Helvetica" pitchFamily="34" charset="0"/>
              </a:rPr>
              <a:t>Undertaking planning of travel arrangements</a:t>
            </a:r>
          </a:p>
          <a:p>
            <a:pPr marL="360000" indent="-360000">
              <a:spcBef>
                <a:spcPts val="600"/>
              </a:spcBef>
              <a:spcAft>
                <a:spcPts val="1200"/>
              </a:spcAft>
            </a:pPr>
            <a:r>
              <a:rPr lang="en-US" sz="2200" dirty="0" smtClean="0">
                <a:latin typeface="Helvetica" pitchFamily="34" charset="0"/>
              </a:rPr>
              <a:t>Planning movement in the venue</a:t>
            </a:r>
          </a:p>
          <a:p>
            <a:pPr marL="360000" indent="-360000">
              <a:spcBef>
                <a:spcPts val="600"/>
              </a:spcBef>
              <a:spcAft>
                <a:spcPts val="1200"/>
              </a:spcAft>
            </a:pPr>
            <a:r>
              <a:rPr lang="en-US" sz="2200" dirty="0" smtClean="0">
                <a:latin typeface="Helvetica" pitchFamily="34" charset="0"/>
              </a:rPr>
              <a:t>Driving duties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MP900442347.JPG"/>
          <p:cNvPicPr>
            <a:picLocks noChangeAspect="1"/>
          </p:cNvPicPr>
          <p:nvPr/>
        </p:nvPicPr>
        <p:blipFill>
          <a:blip r:embed="rId3" cstate="print"/>
          <a:stretch>
            <a:fillRect/>
          </a:stretch>
        </p:blipFill>
        <p:spPr>
          <a:xfrm>
            <a:off x="6300192" y="3861048"/>
            <a:ext cx="2123728" cy="1415819"/>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close escort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Conducting physical inspections and electronic ’sweeps’</a:t>
            </a:r>
          </a:p>
          <a:p>
            <a:pPr marL="360000" indent="-360000">
              <a:spcBef>
                <a:spcPts val="600"/>
              </a:spcBef>
              <a:spcAft>
                <a:spcPts val="1200"/>
              </a:spcAft>
            </a:pPr>
            <a:r>
              <a:rPr lang="en-US" sz="2200" dirty="0" smtClean="0">
                <a:latin typeface="Helvetica" pitchFamily="34" charset="0"/>
              </a:rPr>
              <a:t>Undertaking background checks</a:t>
            </a:r>
          </a:p>
          <a:p>
            <a:pPr marL="360000" indent="-360000">
              <a:spcBef>
                <a:spcPts val="600"/>
              </a:spcBef>
              <a:spcAft>
                <a:spcPts val="1200"/>
              </a:spcAft>
            </a:pPr>
            <a:r>
              <a:rPr lang="en-US" sz="2200" dirty="0" smtClean="0">
                <a:latin typeface="Helvetica" pitchFamily="34" charset="0"/>
              </a:rPr>
              <a:t>Protecting the client</a:t>
            </a:r>
          </a:p>
          <a:p>
            <a:pPr marL="360000" indent="-360000">
              <a:spcBef>
                <a:spcPts val="600"/>
              </a:spcBef>
              <a:spcAft>
                <a:spcPts val="1200"/>
              </a:spcAft>
            </a:pPr>
            <a:r>
              <a:rPr lang="en-US" sz="2200" dirty="0" smtClean="0">
                <a:latin typeface="Helvetica" pitchFamily="34" charset="0"/>
              </a:rPr>
              <a:t>Accompanying the client</a:t>
            </a:r>
          </a:p>
          <a:p>
            <a:pPr marL="360000" indent="-360000">
              <a:spcBef>
                <a:spcPts val="600"/>
              </a:spcBef>
              <a:spcAft>
                <a:spcPts val="1200"/>
              </a:spcAft>
            </a:pPr>
            <a:r>
              <a:rPr lang="en-US" sz="2200" dirty="0" smtClean="0">
                <a:latin typeface="Helvetica" pitchFamily="34" charset="0"/>
              </a:rPr>
              <a:t>Facilitating carriage of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MC900287173.WMF"/>
          <p:cNvPicPr>
            <a:picLocks noChangeAspect="1"/>
          </p:cNvPicPr>
          <p:nvPr/>
        </p:nvPicPr>
        <p:blipFill>
          <a:blip r:embed="rId3" cstate="print"/>
          <a:stretch>
            <a:fillRect/>
          </a:stretch>
        </p:blipFill>
        <p:spPr>
          <a:xfrm>
            <a:off x="6444208" y="3645024"/>
            <a:ext cx="1975011" cy="159417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Threats may be classified as:</a:t>
            </a:r>
          </a:p>
          <a:p>
            <a:pPr marL="360000" indent="-360000">
              <a:spcBef>
                <a:spcPts val="600"/>
              </a:spcBef>
              <a:spcAft>
                <a:spcPts val="1200"/>
              </a:spcAft>
            </a:pPr>
            <a:r>
              <a:rPr lang="en-US" sz="2200" dirty="0" smtClean="0">
                <a:latin typeface="Helvetica" pitchFamily="34" charset="0"/>
              </a:rPr>
              <a:t>Identified</a:t>
            </a:r>
          </a:p>
          <a:p>
            <a:pPr marL="360000" indent="-360000">
              <a:spcBef>
                <a:spcPts val="600"/>
              </a:spcBef>
              <a:spcAft>
                <a:spcPts val="1200"/>
              </a:spcAft>
            </a:pPr>
            <a:r>
              <a:rPr lang="en-US" sz="2200" dirty="0" smtClean="0">
                <a:latin typeface="Helvetica" pitchFamily="34" charset="0"/>
              </a:rPr>
              <a:t>Perceived</a:t>
            </a:r>
          </a:p>
          <a:p>
            <a:pPr marL="360000" indent="-360000">
              <a:spcBef>
                <a:spcPts val="600"/>
              </a:spcBef>
              <a:spcAft>
                <a:spcPts val="1200"/>
              </a:spcAft>
            </a:pPr>
            <a:r>
              <a:rPr lang="en-US" sz="2200" dirty="0" smtClean="0">
                <a:latin typeface="Helvetica" pitchFamily="34" charset="0"/>
              </a:rPr>
              <a:t>Actual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MC900056614.WMF"/>
          <p:cNvPicPr>
            <a:picLocks noChangeAspect="1"/>
          </p:cNvPicPr>
          <p:nvPr/>
        </p:nvPicPr>
        <p:blipFill>
          <a:blip r:embed="rId3" cstate="print"/>
          <a:stretch>
            <a:fillRect/>
          </a:stretch>
        </p:blipFill>
        <p:spPr>
          <a:xfrm>
            <a:off x="6588224" y="3789040"/>
            <a:ext cx="1707185" cy="1182319"/>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responding to threats:</a:t>
            </a:r>
          </a:p>
          <a:p>
            <a:pPr marL="360000" indent="-360000">
              <a:spcBef>
                <a:spcPts val="600"/>
              </a:spcBef>
              <a:spcAft>
                <a:spcPts val="1200"/>
              </a:spcAft>
            </a:pPr>
            <a:r>
              <a:rPr lang="en-US" sz="2200" dirty="0" smtClean="0">
                <a:latin typeface="Helvetica" pitchFamily="34" charset="0"/>
              </a:rPr>
              <a:t>Safety of people takes priority over security of property</a:t>
            </a:r>
          </a:p>
          <a:p>
            <a:pPr marL="360000" indent="-360000">
              <a:spcBef>
                <a:spcPts val="600"/>
              </a:spcBef>
              <a:spcAft>
                <a:spcPts val="1200"/>
              </a:spcAft>
            </a:pPr>
            <a:r>
              <a:rPr lang="en-US" sz="2200" dirty="0" smtClean="0">
                <a:latin typeface="Helvetica" pitchFamily="34" charset="0"/>
              </a:rPr>
              <a:t>You do not have unlimited right to respond</a:t>
            </a:r>
          </a:p>
          <a:p>
            <a:pPr marL="360000" indent="-360000">
              <a:spcBef>
                <a:spcPts val="600"/>
              </a:spcBef>
              <a:spcAft>
                <a:spcPts val="1200"/>
              </a:spcAft>
            </a:pPr>
            <a:r>
              <a:rPr lang="en-US" sz="2200" dirty="0" smtClean="0">
                <a:latin typeface="Helvetica" pitchFamily="34" charset="0"/>
              </a:rPr>
              <a:t>House procedures must be observed:</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Comply with offenders demands and directions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Comply promptly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Avoid physical confrontation</a:t>
            </a:r>
          </a:p>
          <a:p>
            <a:pPr marL="0" lvl="1" indent="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descr="MC900150005.WMF"/>
          <p:cNvPicPr>
            <a:picLocks noChangeAspect="1"/>
          </p:cNvPicPr>
          <p:nvPr/>
        </p:nvPicPr>
        <p:blipFill>
          <a:blip r:embed="rId3" cstate="print"/>
          <a:stretch>
            <a:fillRect/>
          </a:stretch>
        </p:blipFill>
        <p:spPr>
          <a:xfrm>
            <a:off x="6876256" y="3861048"/>
            <a:ext cx="1177667" cy="176148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Ensure safety of others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Note description of offenders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Activate alarms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Not pursuing offenders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Call for assistance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Communicating relevant information</a:t>
            </a:r>
          </a:p>
          <a:p>
            <a:pPr marL="0" indent="0">
              <a:spcBef>
                <a:spcPts val="600"/>
              </a:spcBef>
              <a:spcAft>
                <a:spcPts val="1200"/>
              </a:spcAft>
              <a:buClr>
                <a:schemeClr val="accent1">
                  <a:lumMod val="75000"/>
                </a:schemeClr>
              </a:buClr>
              <a:buSzPct val="100000"/>
              <a:buNone/>
            </a:pPr>
            <a:r>
              <a:rPr lang="en-US" sz="2200" i="1" dirty="0" smtClean="0">
                <a:latin typeface="Helvetica" pitchFamily="34" charset="0"/>
              </a:rPr>
              <a:t>(Continued)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descr="MC900013548.WMF"/>
          <p:cNvPicPr>
            <a:picLocks noChangeAspect="1"/>
          </p:cNvPicPr>
          <p:nvPr/>
        </p:nvPicPr>
        <p:blipFill>
          <a:blip r:embed="rId3" cstate="print"/>
          <a:stretch>
            <a:fillRect/>
          </a:stretch>
        </p:blipFill>
        <p:spPr>
          <a:xfrm>
            <a:off x="6660232" y="4077072"/>
            <a:ext cx="1755886" cy="1153031"/>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Secure the scene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Ask witnesses to stay and talk to police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Preventing unauthorized access to the scene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Do not talk to media or allow them access </a:t>
            </a:r>
            <a:br>
              <a:rPr lang="en-US" sz="2200" dirty="0" smtClean="0">
                <a:latin typeface="Helvetica" pitchFamily="34" charset="0"/>
              </a:rPr>
            </a:br>
            <a:r>
              <a:rPr lang="en-US" sz="2200" dirty="0" smtClean="0">
                <a:latin typeface="Helvetica" pitchFamily="34" charset="0"/>
              </a:rPr>
              <a:t>to the scene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Participate in de-briefing sessions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descr="freeimage-6799195.jpg"/>
          <p:cNvPicPr>
            <a:picLocks noChangeAspect="1"/>
          </p:cNvPicPr>
          <p:nvPr/>
        </p:nvPicPr>
        <p:blipFill>
          <a:blip r:embed="rId3" cstate="print"/>
          <a:stretch>
            <a:fillRect/>
          </a:stretch>
        </p:blipFill>
        <p:spPr>
          <a:xfrm>
            <a:off x="7092280" y="3356992"/>
            <a:ext cx="1181877" cy="177281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When completing documents:</a:t>
            </a:r>
          </a:p>
          <a:p>
            <a:pPr marL="360000" indent="-360000">
              <a:spcBef>
                <a:spcPts val="600"/>
              </a:spcBef>
              <a:spcAft>
                <a:spcPts val="1200"/>
              </a:spcAft>
            </a:pPr>
            <a:r>
              <a:rPr lang="en-US" sz="2200" dirty="0" smtClean="0">
                <a:latin typeface="Helvetica" pitchFamily="34" charset="0"/>
              </a:rPr>
              <a:t>Do it in a timely/prompt manner</a:t>
            </a:r>
          </a:p>
          <a:p>
            <a:pPr marL="360000" indent="-360000">
              <a:spcBef>
                <a:spcPts val="600"/>
              </a:spcBef>
              <a:spcAft>
                <a:spcPts val="1200"/>
              </a:spcAft>
            </a:pPr>
            <a:r>
              <a:rPr lang="en-US" sz="2200" dirty="0" smtClean="0">
                <a:latin typeface="Helvetica" pitchFamily="34" charset="0"/>
              </a:rPr>
              <a:t>Complete all sections/provide all required information</a:t>
            </a:r>
          </a:p>
          <a:p>
            <a:pPr marL="360000" indent="-360000">
              <a:spcBef>
                <a:spcPts val="600"/>
              </a:spcBef>
              <a:spcAft>
                <a:spcPts val="1200"/>
              </a:spcAft>
            </a:pPr>
            <a:r>
              <a:rPr lang="en-US" sz="2200" dirty="0" smtClean="0">
                <a:latin typeface="Helvetica" pitchFamily="34" charset="0"/>
              </a:rPr>
              <a:t>Pay special attention to:</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Honesty and accuracy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Statistics and facts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Distinguish ‘fact’ from ‘opinion’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MP900409672.JPG"/>
          <p:cNvPicPr>
            <a:picLocks noChangeAspect="1"/>
          </p:cNvPicPr>
          <p:nvPr/>
        </p:nvPicPr>
        <p:blipFill>
          <a:blip r:embed="rId3" cstate="print"/>
          <a:stretch>
            <a:fillRect/>
          </a:stretch>
        </p:blipFill>
        <p:spPr>
          <a:xfrm>
            <a:off x="6444208" y="3909091"/>
            <a:ext cx="1953932" cy="1303638"/>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Forward the documents as required</a:t>
            </a:r>
          </a:p>
          <a:p>
            <a:pPr marL="360000" indent="-360000">
              <a:spcBef>
                <a:spcPts val="600"/>
              </a:spcBef>
              <a:spcAft>
                <a:spcPts val="1200"/>
              </a:spcAft>
            </a:pPr>
            <a:r>
              <a:rPr lang="en-US" sz="2200" dirty="0" smtClean="0">
                <a:latin typeface="Helvetica" pitchFamily="34" charset="0"/>
              </a:rPr>
              <a:t>Comply with in-house training received regarding completion of documents</a:t>
            </a:r>
          </a:p>
          <a:p>
            <a:pPr marL="360000" indent="-360000">
              <a:spcBef>
                <a:spcPts val="600"/>
              </a:spcBef>
              <a:spcAft>
                <a:spcPts val="1200"/>
              </a:spcAft>
            </a:pPr>
            <a:r>
              <a:rPr lang="en-US" sz="2200" dirty="0" smtClean="0">
                <a:latin typeface="Helvetica" pitchFamily="34" charset="0"/>
              </a:rPr>
              <a:t>Seek advice when uncertain or unsure about the document to use and/or what to do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MP900409631.JPG"/>
          <p:cNvPicPr>
            <a:picLocks noChangeAspect="1"/>
          </p:cNvPicPr>
          <p:nvPr/>
        </p:nvPicPr>
        <p:blipFill>
          <a:blip r:embed="rId3" cstate="print"/>
          <a:stretch>
            <a:fillRect/>
          </a:stretch>
        </p:blipFill>
        <p:spPr>
          <a:xfrm>
            <a:off x="6804248" y="3717032"/>
            <a:ext cx="1556792" cy="1556792"/>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Documents may include:</a:t>
            </a:r>
          </a:p>
          <a:p>
            <a:pPr marL="360000" indent="-360000">
              <a:spcBef>
                <a:spcPts val="600"/>
              </a:spcBef>
              <a:spcAft>
                <a:spcPts val="1200"/>
              </a:spcAft>
            </a:pPr>
            <a:r>
              <a:rPr lang="en-US" sz="2200" dirty="0" smtClean="0">
                <a:latin typeface="Helvetica" pitchFamily="34" charset="0"/>
              </a:rPr>
              <a:t>Assignment/job sheets</a:t>
            </a:r>
          </a:p>
          <a:p>
            <a:pPr marL="360000" indent="-360000">
              <a:spcBef>
                <a:spcPts val="600"/>
              </a:spcBef>
              <a:spcAft>
                <a:spcPts val="1200"/>
              </a:spcAft>
            </a:pPr>
            <a:r>
              <a:rPr lang="en-US" sz="2200" dirty="0" smtClean="0">
                <a:latin typeface="Helvetica" pitchFamily="34" charset="0"/>
              </a:rPr>
              <a:t>Bills of lading</a:t>
            </a:r>
          </a:p>
          <a:p>
            <a:pPr marL="360000" indent="-360000">
              <a:spcBef>
                <a:spcPts val="600"/>
              </a:spcBef>
              <a:spcAft>
                <a:spcPts val="1200"/>
              </a:spcAft>
            </a:pPr>
            <a:r>
              <a:rPr lang="en-US" sz="2200" dirty="0" smtClean="0">
                <a:latin typeface="Helvetica" pitchFamily="34" charset="0"/>
              </a:rPr>
              <a:t>Insurance claims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MP900409427.JPG"/>
          <p:cNvPicPr>
            <a:picLocks noChangeAspect="1"/>
          </p:cNvPicPr>
          <p:nvPr/>
        </p:nvPicPr>
        <p:blipFill>
          <a:blip r:embed="rId3" cstate="print"/>
          <a:stretch>
            <a:fillRect/>
          </a:stretch>
        </p:blipFill>
        <p:spPr>
          <a:xfrm>
            <a:off x="6804248" y="3573016"/>
            <a:ext cx="1628800" cy="16288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Internal security request forms</a:t>
            </a:r>
          </a:p>
          <a:p>
            <a:pPr marL="360000" indent="-360000">
              <a:spcBef>
                <a:spcPts val="600"/>
              </a:spcBef>
              <a:spcAft>
                <a:spcPts val="1200"/>
              </a:spcAft>
            </a:pPr>
            <a:r>
              <a:rPr lang="en-US" sz="2200" dirty="0" smtClean="0">
                <a:latin typeface="Helvetica" pitchFamily="34" charset="0"/>
              </a:rPr>
              <a:t>Security lodgment forms</a:t>
            </a:r>
          </a:p>
          <a:p>
            <a:pPr marL="360000" indent="-360000">
              <a:spcBef>
                <a:spcPts val="600"/>
              </a:spcBef>
              <a:spcAft>
                <a:spcPts val="1200"/>
              </a:spcAft>
            </a:pPr>
            <a:r>
              <a:rPr lang="en-US" sz="2200" dirty="0" smtClean="0">
                <a:latin typeface="Helvetica" pitchFamily="34" charset="0"/>
              </a:rPr>
              <a:t>Items issued/released forms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MP900409672.JPG"/>
          <p:cNvPicPr>
            <a:picLocks noChangeAspect="1"/>
          </p:cNvPicPr>
          <p:nvPr/>
        </p:nvPicPr>
        <p:blipFill>
          <a:blip r:embed="rId3" cstate="print"/>
          <a:stretch>
            <a:fillRect/>
          </a:stretch>
        </p:blipFill>
        <p:spPr>
          <a:xfrm>
            <a:off x="7020272" y="3933056"/>
            <a:ext cx="1340768" cy="1340768"/>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Security threat reports</a:t>
            </a:r>
          </a:p>
          <a:p>
            <a:pPr marL="360000" indent="-360000">
              <a:spcBef>
                <a:spcPts val="600"/>
              </a:spcBef>
              <a:spcAft>
                <a:spcPts val="1200"/>
              </a:spcAft>
            </a:pPr>
            <a:r>
              <a:rPr lang="en-US" sz="2200" dirty="0" smtClean="0">
                <a:latin typeface="Helvetica" pitchFamily="34" charset="0"/>
              </a:rPr>
              <a:t>Incident reports</a:t>
            </a:r>
          </a:p>
          <a:p>
            <a:pPr marL="360000" indent="-360000">
              <a:spcBef>
                <a:spcPts val="600"/>
              </a:spcBef>
              <a:spcAft>
                <a:spcPts val="1200"/>
              </a:spcAft>
            </a:pPr>
            <a:r>
              <a:rPr lang="en-US" sz="2200" dirty="0" smtClean="0">
                <a:latin typeface="Helvetica" pitchFamily="34" charset="0"/>
              </a:rPr>
              <a:t>Witness statements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MC900439818.PNG"/>
          <p:cNvPicPr>
            <a:picLocks noChangeAspect="1"/>
          </p:cNvPicPr>
          <p:nvPr/>
        </p:nvPicPr>
        <p:blipFill>
          <a:blip r:embed="rId3" cstate="print"/>
          <a:stretch>
            <a:fillRect/>
          </a:stretch>
        </p:blipFill>
        <p:spPr>
          <a:xfrm>
            <a:off x="6948264" y="3501008"/>
            <a:ext cx="1834520" cy="183452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60000" indent="-360000">
              <a:spcBef>
                <a:spcPts val="600"/>
              </a:spcBef>
              <a:spcAft>
                <a:spcPts val="1200"/>
              </a:spcAft>
            </a:pPr>
            <a:r>
              <a:rPr lang="en-US" sz="2200" dirty="0" smtClean="0">
                <a:latin typeface="Helvetica" pitchFamily="34" charset="0"/>
              </a:rPr>
              <a:t>Recommendations for action</a:t>
            </a:r>
          </a:p>
          <a:p>
            <a:pPr marL="360000" indent="-360000">
              <a:spcBef>
                <a:spcPts val="600"/>
              </a:spcBef>
              <a:spcAft>
                <a:spcPts val="1200"/>
              </a:spcAft>
            </a:pPr>
            <a:r>
              <a:rPr lang="en-US" sz="2200" dirty="0" smtClean="0">
                <a:latin typeface="Helvetica" pitchFamily="34" charset="0"/>
              </a:rPr>
              <a:t>Bank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MP900422994.JPG"/>
          <p:cNvPicPr>
            <a:picLocks noChangeAspect="1"/>
          </p:cNvPicPr>
          <p:nvPr/>
        </p:nvPicPr>
        <p:blipFill>
          <a:blip r:embed="rId3" cstate="print"/>
          <a:stretch>
            <a:fillRect/>
          </a:stretch>
        </p:blipFill>
        <p:spPr>
          <a:xfrm>
            <a:off x="6444208" y="3933056"/>
            <a:ext cx="1932123" cy="1286069"/>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lnSpcReduction="10000"/>
          </a:bodyPr>
          <a:lstStyle/>
          <a:p>
            <a:pPr marL="0" indent="0">
              <a:spcBef>
                <a:spcPts val="600"/>
              </a:spcBef>
              <a:spcAft>
                <a:spcPts val="1200"/>
              </a:spcAft>
              <a:buNone/>
            </a:pPr>
            <a:r>
              <a:rPr lang="en-US" sz="2200" dirty="0" smtClean="0">
                <a:latin typeface="Helvetica" pitchFamily="34" charset="0"/>
              </a:rPr>
              <a:t>When undertaking escort duties:</a:t>
            </a:r>
          </a:p>
          <a:p>
            <a:pPr marL="360000" indent="-360000">
              <a:spcBef>
                <a:spcPts val="600"/>
              </a:spcBef>
              <a:spcAft>
                <a:spcPts val="1200"/>
              </a:spcAft>
            </a:pPr>
            <a:r>
              <a:rPr lang="en-AU" sz="2200" dirty="0" smtClean="0">
                <a:latin typeface="Helvetica" pitchFamily="34" charset="0"/>
              </a:rPr>
              <a:t>Plan and prepare</a:t>
            </a:r>
          </a:p>
          <a:p>
            <a:pPr marL="360000" indent="-360000">
              <a:spcBef>
                <a:spcPts val="600"/>
              </a:spcBef>
              <a:spcAft>
                <a:spcPts val="1200"/>
              </a:spcAft>
            </a:pPr>
            <a:r>
              <a:rPr lang="en-AU" sz="2200" dirty="0" smtClean="0">
                <a:latin typeface="Helvetica" pitchFamily="34" charset="0"/>
              </a:rPr>
              <a:t>Talk to the client</a:t>
            </a:r>
          </a:p>
          <a:p>
            <a:pPr marL="360000" indent="-360000">
              <a:spcBef>
                <a:spcPts val="600"/>
              </a:spcBef>
              <a:spcAft>
                <a:spcPts val="1200"/>
              </a:spcAft>
            </a:pPr>
            <a:r>
              <a:rPr lang="en-AU" sz="2200" dirty="0" smtClean="0">
                <a:latin typeface="Helvetica" pitchFamily="34" charset="0"/>
              </a:rPr>
              <a:t>Obtain local intelligence</a:t>
            </a:r>
          </a:p>
          <a:p>
            <a:pPr marL="360000" indent="-360000">
              <a:spcBef>
                <a:spcPts val="600"/>
              </a:spcBef>
              <a:spcAft>
                <a:spcPts val="1200"/>
              </a:spcAft>
            </a:pPr>
            <a:r>
              <a:rPr lang="en-AU" sz="2200" dirty="0" smtClean="0">
                <a:latin typeface="Helvetica" pitchFamily="34" charset="0"/>
              </a:rPr>
              <a:t>Determine primary and secondary routes</a:t>
            </a:r>
          </a:p>
          <a:p>
            <a:pPr marL="360000" indent="-360000">
              <a:spcBef>
                <a:spcPts val="600"/>
              </a:spcBef>
              <a:spcAft>
                <a:spcPts val="1200"/>
              </a:spcAft>
            </a:pPr>
            <a:r>
              <a:rPr lang="en-AU" sz="2200" dirty="0" smtClean="0">
                <a:latin typeface="Helvetica" pitchFamily="34" charset="0"/>
              </a:rPr>
              <a:t>Liaise with external providers, authorities </a:t>
            </a:r>
            <a:br>
              <a:rPr lang="en-AU" sz="2200" dirty="0" smtClean="0">
                <a:latin typeface="Helvetica" pitchFamily="34" charset="0"/>
              </a:rPr>
            </a:br>
            <a:r>
              <a:rPr lang="en-AU" sz="2200" dirty="0" smtClean="0">
                <a:latin typeface="Helvetica" pitchFamily="34" charset="0"/>
              </a:rPr>
              <a:t>and agencies</a:t>
            </a:r>
          </a:p>
          <a:p>
            <a:pPr marL="360000" indent="-360000">
              <a:spcBef>
                <a:spcPts val="600"/>
              </a:spcBef>
              <a:spcAft>
                <a:spcPts val="1200"/>
              </a:spcAft>
            </a:pPr>
            <a:r>
              <a:rPr lang="en-AU" sz="2200" dirty="0" smtClean="0">
                <a:latin typeface="Helvetica" pitchFamily="34" charset="0"/>
              </a:rPr>
              <a:t>Assess potential threats as they relate to </a:t>
            </a:r>
            <a:br>
              <a:rPr lang="en-AU" sz="2200" dirty="0" smtClean="0">
                <a:latin typeface="Helvetica" pitchFamily="34" charset="0"/>
              </a:rPr>
            </a:br>
            <a:r>
              <a:rPr lang="en-AU" sz="2200" dirty="0" smtClean="0">
                <a:latin typeface="Helvetica" pitchFamily="34" charset="0"/>
              </a:rPr>
              <a:t>the job/assignment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AU" sz="2200" dirty="0" smtClean="0">
                <a:latin typeface="Helvetica" pitchFamily="34" charset="0"/>
              </a:rPr>
              <a:t>Seek assistance internally and externally</a:t>
            </a:r>
          </a:p>
          <a:p>
            <a:pPr marL="360000" indent="-360000">
              <a:spcBef>
                <a:spcPts val="600"/>
              </a:spcBef>
              <a:spcAft>
                <a:spcPts val="1200"/>
              </a:spcAft>
            </a:pPr>
            <a:r>
              <a:rPr lang="en-AU" sz="2200" dirty="0" smtClean="0">
                <a:latin typeface="Helvetica" pitchFamily="34" charset="0"/>
              </a:rPr>
              <a:t>Pay special attention to close escort assignments</a:t>
            </a:r>
          </a:p>
          <a:p>
            <a:pPr marL="360000" indent="-360000">
              <a:spcBef>
                <a:spcPts val="600"/>
              </a:spcBef>
              <a:spcAft>
                <a:spcPts val="1200"/>
              </a:spcAft>
            </a:pPr>
            <a:r>
              <a:rPr lang="en-AU" sz="2200" dirty="0" smtClean="0">
                <a:latin typeface="Helvetica" pitchFamily="34" charset="0"/>
              </a:rPr>
              <a:t>Be alert for threats</a:t>
            </a:r>
          </a:p>
          <a:p>
            <a:pPr marL="360000" indent="-360000">
              <a:spcBef>
                <a:spcPts val="600"/>
              </a:spcBef>
              <a:spcAft>
                <a:spcPts val="1200"/>
              </a:spcAft>
            </a:pPr>
            <a:r>
              <a:rPr lang="en-AU" sz="2200" dirty="0" smtClean="0">
                <a:latin typeface="Helvetica" pitchFamily="34" charset="0"/>
              </a:rPr>
              <a:t>Respond according to house protocols</a:t>
            </a:r>
          </a:p>
          <a:p>
            <a:pPr marL="360000" indent="-360000">
              <a:spcBef>
                <a:spcPts val="600"/>
              </a:spcBef>
              <a:spcAft>
                <a:spcPts val="1200"/>
              </a:spcAft>
            </a:pPr>
            <a:r>
              <a:rPr lang="en-AU" sz="2200" dirty="0" smtClean="0">
                <a:latin typeface="Helvetica" pitchFamily="34" charset="0"/>
              </a:rPr>
              <a:t>Never be a hero when faced with an attack </a:t>
            </a:r>
            <a:br>
              <a:rPr lang="en-AU" sz="2200" dirty="0" smtClean="0">
                <a:latin typeface="Helvetica" pitchFamily="34" charset="0"/>
              </a:rPr>
            </a:br>
            <a:r>
              <a:rPr lang="en-AU" sz="2200" dirty="0" smtClean="0">
                <a:latin typeface="Helvetica" pitchFamily="34" charset="0"/>
              </a:rPr>
              <a:t>or incident</a:t>
            </a:r>
          </a:p>
          <a:p>
            <a:pPr marL="360000" indent="-360000">
              <a:spcBef>
                <a:spcPts val="600"/>
              </a:spcBef>
              <a:spcAft>
                <a:spcPts val="1200"/>
              </a:spcAft>
            </a:pPr>
            <a:r>
              <a:rPr lang="en-AU" sz="2200" dirty="0" smtClean="0">
                <a:latin typeface="Helvetica" pitchFamily="34" charset="0"/>
              </a:rPr>
              <a:t>Complete necessary paperwork to record </a:t>
            </a:r>
            <a:br>
              <a:rPr lang="en-AU" sz="2200" dirty="0" smtClean="0">
                <a:latin typeface="Helvetica" pitchFamily="34" charset="0"/>
              </a:rPr>
            </a:br>
            <a:r>
              <a:rPr lang="en-AU" sz="2200" dirty="0" smtClean="0">
                <a:latin typeface="Helvetica" pitchFamily="34" charset="0"/>
              </a:rPr>
              <a:t>activities and observations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Carry valuable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route to be taken</a:t>
            </a:r>
          </a:p>
          <a:p>
            <a:pPr marL="360000" indent="-360000">
              <a:spcBef>
                <a:spcPts val="600"/>
              </a:spcBef>
              <a:spcAft>
                <a:spcPts val="1200"/>
              </a:spcAft>
            </a:pPr>
            <a:r>
              <a:rPr lang="en-US" sz="2200" dirty="0" smtClean="0">
                <a:latin typeface="Helvetica" pitchFamily="34" charset="0"/>
              </a:rPr>
              <a:t>Assess potential threats for the individual job</a:t>
            </a:r>
          </a:p>
          <a:p>
            <a:pPr marL="360000" indent="-360000">
              <a:spcBef>
                <a:spcPts val="600"/>
              </a:spcBef>
              <a:spcAft>
                <a:spcPts val="1200"/>
              </a:spcAft>
            </a:pPr>
            <a:r>
              <a:rPr lang="en-US" sz="2200" dirty="0" smtClean="0">
                <a:latin typeface="Helvetica" pitchFamily="34" charset="0"/>
              </a:rPr>
              <a:t>Obtain assistance if required</a:t>
            </a:r>
          </a:p>
          <a:p>
            <a:pPr marL="360000" indent="-360000">
              <a:spcBef>
                <a:spcPts val="600"/>
              </a:spcBef>
              <a:spcAft>
                <a:spcPts val="1200"/>
              </a:spcAft>
            </a:pPr>
            <a:r>
              <a:rPr lang="en-US" sz="2200" dirty="0" smtClean="0">
                <a:latin typeface="Helvetica" pitchFamily="34" charset="0"/>
              </a:rPr>
              <a:t>Perform carriage duties</a:t>
            </a:r>
          </a:p>
          <a:p>
            <a:pPr marL="360000" indent="-360000">
              <a:spcBef>
                <a:spcPts val="600"/>
              </a:spcBef>
              <a:spcAft>
                <a:spcPts val="1200"/>
              </a:spcAft>
            </a:pPr>
            <a:r>
              <a:rPr lang="en-US" sz="2200" dirty="0" smtClean="0">
                <a:latin typeface="Helvetica" pitchFamily="34" charset="0"/>
              </a:rPr>
              <a:t>Respond to threats</a:t>
            </a:r>
          </a:p>
          <a:p>
            <a:pPr marL="360000" indent="-360000">
              <a:spcBef>
                <a:spcPts val="600"/>
              </a:spcBef>
              <a:spcAft>
                <a:spcPts val="1200"/>
              </a:spcAft>
            </a:pPr>
            <a:r>
              <a:rPr lang="en-US" sz="2200" dirty="0" smtClean="0">
                <a:latin typeface="Helvetica" pitchFamily="34" charset="0"/>
              </a:rPr>
              <a:t>Complete necessary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6" name="Picture 5" descr="MC900359035.WMF"/>
          <p:cNvPicPr>
            <a:picLocks noChangeAspect="1"/>
          </p:cNvPicPr>
          <p:nvPr/>
        </p:nvPicPr>
        <p:blipFill>
          <a:blip r:embed="rId3" cstate="print"/>
          <a:stretch>
            <a:fillRect/>
          </a:stretch>
        </p:blipFill>
        <p:spPr>
          <a:xfrm>
            <a:off x="7020272" y="3861048"/>
            <a:ext cx="1247580" cy="1301823"/>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planning a carrying route:</a:t>
            </a:r>
          </a:p>
          <a:p>
            <a:pPr marL="360000" indent="-360000">
              <a:spcBef>
                <a:spcPts val="600"/>
              </a:spcBef>
              <a:spcAft>
                <a:spcPts val="1200"/>
              </a:spcAft>
            </a:pPr>
            <a:r>
              <a:rPr lang="en-US" sz="2200" dirty="0" smtClean="0">
                <a:latin typeface="Helvetica" pitchFamily="34" charset="0"/>
              </a:rPr>
              <a:t>You have more scope to operate than when escorting</a:t>
            </a:r>
          </a:p>
          <a:p>
            <a:pPr marL="360000" indent="-360000">
              <a:spcBef>
                <a:spcPts val="600"/>
              </a:spcBef>
              <a:spcAft>
                <a:spcPts val="1200"/>
              </a:spcAft>
            </a:pPr>
            <a:r>
              <a:rPr lang="en-US" sz="2200" dirty="0" smtClean="0">
                <a:latin typeface="Helvetica" pitchFamily="34" charset="0"/>
              </a:rPr>
              <a:t>You have more control over route selection</a:t>
            </a:r>
          </a:p>
          <a:p>
            <a:pPr marL="360000" indent="-360000">
              <a:spcBef>
                <a:spcPts val="600"/>
              </a:spcBef>
              <a:spcAft>
                <a:spcPts val="1200"/>
              </a:spcAft>
            </a:pPr>
            <a:r>
              <a:rPr lang="en-US" sz="2200" dirty="0" smtClean="0">
                <a:latin typeface="Helvetica" pitchFamily="34" charset="0"/>
              </a:rPr>
              <a:t>You can determine timing</a:t>
            </a:r>
          </a:p>
          <a:p>
            <a:pPr marL="360000" indent="-360000">
              <a:spcBef>
                <a:spcPts val="600"/>
              </a:spcBef>
              <a:spcAft>
                <a:spcPts val="1200"/>
              </a:spcAft>
            </a:pPr>
            <a:r>
              <a:rPr lang="en-US" sz="2200" dirty="0" smtClean="0">
                <a:latin typeface="Helvetica" pitchFamily="34" charset="0"/>
              </a:rPr>
              <a:t>You can use whatever security measures you want</a:t>
            </a:r>
          </a:p>
          <a:p>
            <a:pPr marL="360000" indent="-360000">
              <a:spcBef>
                <a:spcPts val="600"/>
              </a:spcBef>
              <a:spcAft>
                <a:spcPts val="1200"/>
              </a:spcAft>
            </a:pPr>
            <a:r>
              <a:rPr lang="en-US" sz="2200" dirty="0" smtClean="0">
                <a:latin typeface="Helvetica" pitchFamily="34" charset="0"/>
              </a:rPr>
              <a:t>You will often work alone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MC900216694.WMF"/>
          <p:cNvPicPr>
            <a:picLocks noChangeAspect="1"/>
          </p:cNvPicPr>
          <p:nvPr/>
        </p:nvPicPr>
        <p:blipFill>
          <a:blip r:embed="rId3" cstate="print"/>
          <a:stretch>
            <a:fillRect/>
          </a:stretch>
        </p:blipFill>
        <p:spPr>
          <a:xfrm>
            <a:off x="7452320" y="3212976"/>
            <a:ext cx="944575" cy="1833372"/>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Requests for carrying:</a:t>
            </a:r>
          </a:p>
          <a:p>
            <a:pPr marL="360000" indent="-360000">
              <a:spcBef>
                <a:spcPts val="600"/>
              </a:spcBef>
              <a:spcAft>
                <a:spcPts val="1200"/>
              </a:spcAft>
            </a:pPr>
            <a:r>
              <a:rPr lang="en-US" sz="2200" dirty="0" smtClean="0">
                <a:latin typeface="Helvetica" pitchFamily="34" charset="0"/>
              </a:rPr>
              <a:t>For private house guests</a:t>
            </a:r>
          </a:p>
          <a:p>
            <a:pPr marL="360000" indent="-360000">
              <a:spcBef>
                <a:spcPts val="600"/>
              </a:spcBef>
              <a:spcAft>
                <a:spcPts val="1200"/>
              </a:spcAft>
            </a:pPr>
            <a:r>
              <a:rPr lang="en-US" sz="2200" dirty="0" smtClean="0">
                <a:latin typeface="Helvetica" pitchFamily="34" charset="0"/>
              </a:rPr>
              <a:t>Helping exhibitors and stall holders</a:t>
            </a:r>
          </a:p>
          <a:p>
            <a:pPr marL="360000" indent="-360000">
              <a:spcBef>
                <a:spcPts val="600"/>
              </a:spcBef>
              <a:spcAft>
                <a:spcPts val="1200"/>
              </a:spcAft>
            </a:pPr>
            <a:r>
              <a:rPr lang="en-US" sz="2200" dirty="0" smtClean="0">
                <a:latin typeface="Helvetica" pitchFamily="34" charset="0"/>
              </a:rPr>
              <a:t>Moving cash internally</a:t>
            </a:r>
          </a:p>
          <a:p>
            <a:pPr marL="360000" indent="-360000">
              <a:spcBef>
                <a:spcPts val="600"/>
              </a:spcBef>
              <a:spcAft>
                <a:spcPts val="1200"/>
              </a:spcAft>
            </a:pPr>
            <a:r>
              <a:rPr lang="en-US" sz="2200" dirty="0" smtClean="0">
                <a:latin typeface="Helvetica" pitchFamily="34" charset="0"/>
              </a:rPr>
              <a:t>Moving cash externally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MP900387473.JPG"/>
          <p:cNvPicPr>
            <a:picLocks noChangeAspect="1"/>
          </p:cNvPicPr>
          <p:nvPr/>
        </p:nvPicPr>
        <p:blipFill>
          <a:blip r:embed="rId3" cstate="print"/>
          <a:stretch>
            <a:fillRect/>
          </a:stretch>
        </p:blipFill>
        <p:spPr>
          <a:xfrm>
            <a:off x="6978986" y="3212976"/>
            <a:ext cx="1417837" cy="1987621"/>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Basic aim when determining route:</a:t>
            </a:r>
          </a:p>
          <a:p>
            <a:pPr marL="360000" indent="-360000">
              <a:spcBef>
                <a:spcPts val="600"/>
              </a:spcBef>
              <a:spcAft>
                <a:spcPts val="1200"/>
              </a:spcAft>
            </a:pPr>
            <a:r>
              <a:rPr lang="en-US" sz="2200" dirty="0" smtClean="0">
                <a:latin typeface="Helvetica" pitchFamily="34" charset="0"/>
              </a:rPr>
              <a:t>Identify shortest, most direct route</a:t>
            </a:r>
          </a:p>
          <a:p>
            <a:pPr marL="360000" indent="-360000">
              <a:spcBef>
                <a:spcPts val="600"/>
              </a:spcBef>
              <a:spcAft>
                <a:spcPts val="1200"/>
              </a:spcAft>
            </a:pPr>
            <a:r>
              <a:rPr lang="en-US" sz="2200" dirty="0" smtClean="0">
                <a:latin typeface="Helvetica" pitchFamily="34" charset="0"/>
              </a:rPr>
              <a:t>Which does not increase risk</a:t>
            </a:r>
          </a:p>
          <a:p>
            <a:pPr marL="360000" indent="-360000">
              <a:spcBef>
                <a:spcPts val="600"/>
              </a:spcBef>
              <a:spcAft>
                <a:spcPts val="1200"/>
              </a:spcAft>
            </a:pPr>
            <a:r>
              <a:rPr lang="en-US" sz="2200" dirty="0" smtClean="0">
                <a:latin typeface="Helvetica" pitchFamily="34" charset="0"/>
              </a:rPr>
              <a:t>And does not interfere with operations or guests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a:xfrm>
            <a:off x="8172400" y="6492875"/>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MP900422961.JPG"/>
          <p:cNvPicPr>
            <a:picLocks noChangeAspect="1"/>
          </p:cNvPicPr>
          <p:nvPr/>
        </p:nvPicPr>
        <p:blipFill>
          <a:blip r:embed="rId3" cstate="print"/>
          <a:srcRect t="10410" r="18973"/>
          <a:stretch>
            <a:fillRect/>
          </a:stretch>
        </p:blipFill>
        <p:spPr>
          <a:xfrm>
            <a:off x="6691686" y="3932285"/>
            <a:ext cx="1696738" cy="1368923"/>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Factors to consider:</a:t>
            </a:r>
          </a:p>
          <a:p>
            <a:pPr marL="360000" indent="-360000">
              <a:spcBef>
                <a:spcPts val="600"/>
              </a:spcBef>
              <a:spcAft>
                <a:spcPts val="1200"/>
              </a:spcAft>
            </a:pPr>
            <a:r>
              <a:rPr lang="en-US" sz="2200" dirty="0" smtClean="0">
                <a:latin typeface="Helvetica" pitchFamily="34" charset="0"/>
              </a:rPr>
              <a:t>Timing</a:t>
            </a:r>
          </a:p>
          <a:p>
            <a:pPr marL="360000" indent="-360000">
              <a:spcBef>
                <a:spcPts val="600"/>
              </a:spcBef>
              <a:spcAft>
                <a:spcPts val="1200"/>
              </a:spcAft>
            </a:pPr>
            <a:r>
              <a:rPr lang="en-US" sz="2200" dirty="0" smtClean="0">
                <a:latin typeface="Helvetica" pitchFamily="34" charset="0"/>
              </a:rPr>
              <a:t>Human resources available</a:t>
            </a:r>
          </a:p>
          <a:p>
            <a:pPr marL="360000" indent="-360000">
              <a:spcBef>
                <a:spcPts val="600"/>
              </a:spcBef>
              <a:spcAft>
                <a:spcPts val="1200"/>
              </a:spcAft>
            </a:pPr>
            <a:r>
              <a:rPr lang="en-US" sz="2200" dirty="0" smtClean="0">
                <a:latin typeface="Helvetica" pitchFamily="34" charset="0"/>
              </a:rPr>
              <a:t>Item/s to be carried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descr="MP900341414.JPG"/>
          <p:cNvPicPr>
            <a:picLocks noChangeAspect="1"/>
          </p:cNvPicPr>
          <p:nvPr/>
        </p:nvPicPr>
        <p:blipFill>
          <a:blip r:embed="rId3" cstate="print"/>
          <a:stretch>
            <a:fillRect/>
          </a:stretch>
        </p:blipFill>
        <p:spPr>
          <a:xfrm>
            <a:off x="6588224" y="2780928"/>
            <a:ext cx="1633140" cy="2289448"/>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Start and finish points</a:t>
            </a:r>
          </a:p>
          <a:p>
            <a:pPr marL="360000" indent="-360000">
              <a:spcBef>
                <a:spcPts val="600"/>
              </a:spcBef>
              <a:spcAft>
                <a:spcPts val="1200"/>
              </a:spcAft>
            </a:pPr>
            <a:r>
              <a:rPr lang="en-US" sz="2200" dirty="0" smtClean="0">
                <a:latin typeface="Helvetica" pitchFamily="34" charset="0"/>
              </a:rPr>
              <a:t>Route restrictions</a:t>
            </a:r>
          </a:p>
          <a:p>
            <a:pPr marL="360000" indent="-360000">
              <a:spcBef>
                <a:spcPts val="600"/>
              </a:spcBef>
              <a:spcAft>
                <a:spcPts val="1200"/>
              </a:spcAft>
            </a:pPr>
            <a:r>
              <a:rPr lang="en-US" sz="2200" dirty="0" smtClean="0">
                <a:latin typeface="Helvetica" pitchFamily="34" charset="0"/>
              </a:rPr>
              <a:t>Identification of guest/client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MP900442379.JPG"/>
          <p:cNvPicPr>
            <a:picLocks noChangeAspect="1"/>
          </p:cNvPicPr>
          <p:nvPr/>
        </p:nvPicPr>
        <p:blipFill>
          <a:blip r:embed="rId3" cstate="print"/>
          <a:stretch>
            <a:fillRect/>
          </a:stretch>
        </p:blipFill>
        <p:spPr>
          <a:xfrm>
            <a:off x="6444208" y="3957058"/>
            <a:ext cx="1943708" cy="1295805"/>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route to be taken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Manual handling devices and equipment:</a:t>
            </a:r>
          </a:p>
          <a:p>
            <a:pPr marL="360000" indent="-360000">
              <a:spcBef>
                <a:spcPts val="600"/>
              </a:spcBef>
              <a:spcAft>
                <a:spcPts val="1200"/>
              </a:spcAft>
            </a:pPr>
            <a:r>
              <a:rPr lang="en-US" sz="2200" dirty="0" smtClean="0">
                <a:latin typeface="Helvetica" pitchFamily="34" charset="0"/>
              </a:rPr>
              <a:t>Forklifts and pallet jacks</a:t>
            </a:r>
          </a:p>
          <a:p>
            <a:pPr marL="360000" indent="-360000">
              <a:spcBef>
                <a:spcPts val="600"/>
              </a:spcBef>
              <a:spcAft>
                <a:spcPts val="1200"/>
              </a:spcAft>
            </a:pPr>
            <a:r>
              <a:rPr lang="en-US" sz="2200" dirty="0" smtClean="0">
                <a:latin typeface="Helvetica" pitchFamily="34" charset="0"/>
              </a:rPr>
              <a:t>Conveyor belts</a:t>
            </a:r>
          </a:p>
          <a:p>
            <a:pPr marL="360000" indent="-360000">
              <a:spcBef>
                <a:spcPts val="600"/>
              </a:spcBef>
              <a:spcAft>
                <a:spcPts val="1200"/>
              </a:spcAft>
            </a:pPr>
            <a:r>
              <a:rPr lang="en-US" sz="2200" dirty="0" smtClean="0">
                <a:latin typeface="Helvetica" pitchFamily="34" charset="0"/>
              </a:rPr>
              <a:t>Trolleys</a:t>
            </a:r>
          </a:p>
          <a:p>
            <a:pPr marL="360000" indent="-360000">
              <a:spcBef>
                <a:spcPts val="600"/>
              </a:spcBef>
              <a:spcAft>
                <a:spcPts val="1200"/>
              </a:spcAft>
            </a:pPr>
            <a:r>
              <a:rPr lang="en-US" sz="2200" dirty="0" smtClean="0">
                <a:latin typeface="Helvetica" pitchFamily="34" charset="0"/>
              </a:rPr>
              <a:t>Carts</a:t>
            </a:r>
          </a:p>
          <a:p>
            <a:pPr marL="360000" indent="-360000">
              <a:spcBef>
                <a:spcPts val="600"/>
              </a:spcBef>
              <a:spcAft>
                <a:spcPts val="1200"/>
              </a:spcAft>
            </a:pPr>
            <a:r>
              <a:rPr lang="en-US" sz="2200" dirty="0" smtClean="0">
                <a:latin typeface="Helvetica" pitchFamily="34" charset="0"/>
              </a:rPr>
              <a:t>Slings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MP900431694.JPG"/>
          <p:cNvPicPr>
            <a:picLocks noChangeAspect="1"/>
          </p:cNvPicPr>
          <p:nvPr/>
        </p:nvPicPr>
        <p:blipFill>
          <a:blip r:embed="rId3" cstate="print"/>
          <a:stretch>
            <a:fillRect/>
          </a:stretch>
        </p:blipFill>
        <p:spPr>
          <a:xfrm>
            <a:off x="6718108" y="4005064"/>
            <a:ext cx="1700558" cy="121306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General advice:</a:t>
            </a:r>
          </a:p>
          <a:p>
            <a:pPr marL="360000" indent="-360000">
              <a:spcBef>
                <a:spcPts val="600"/>
              </a:spcBef>
              <a:spcAft>
                <a:spcPts val="1200"/>
              </a:spcAft>
            </a:pPr>
            <a:r>
              <a:rPr lang="en-US" sz="2200" dirty="0" smtClean="0">
                <a:latin typeface="Helvetica" pitchFamily="34" charset="0"/>
              </a:rPr>
              <a:t>Threat levels usually lower</a:t>
            </a:r>
          </a:p>
          <a:p>
            <a:pPr marL="360000" indent="-360000">
              <a:spcBef>
                <a:spcPts val="600"/>
              </a:spcBef>
              <a:spcAft>
                <a:spcPts val="1200"/>
              </a:spcAft>
            </a:pPr>
            <a:r>
              <a:rPr lang="en-US" sz="2200" dirty="0" smtClean="0">
                <a:latin typeface="Helvetica" pitchFamily="34" charset="0"/>
              </a:rPr>
              <a:t>Cash is the main target for thieves</a:t>
            </a:r>
          </a:p>
          <a:p>
            <a:pPr marL="360000" indent="-360000">
              <a:spcBef>
                <a:spcPts val="600"/>
              </a:spcBef>
              <a:spcAft>
                <a:spcPts val="1200"/>
              </a:spcAft>
            </a:pPr>
            <a:r>
              <a:rPr lang="en-US" sz="2200" dirty="0" smtClean="0">
                <a:latin typeface="Helvetica" pitchFamily="34" charset="0"/>
              </a:rPr>
              <a:t>Armed hold-ups often accompany attacks</a:t>
            </a:r>
          </a:p>
          <a:p>
            <a:pPr marL="360000" indent="-360000">
              <a:spcBef>
                <a:spcPts val="600"/>
              </a:spcBef>
              <a:spcAft>
                <a:spcPts val="1200"/>
              </a:spcAft>
            </a:pPr>
            <a:r>
              <a:rPr lang="en-US" sz="2200" dirty="0" smtClean="0">
                <a:latin typeface="Helvetica" pitchFamily="34" charset="0"/>
              </a:rPr>
              <a:t>Many attacks are ‘opportunistic crimes’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MP900178041.JPG"/>
          <p:cNvPicPr>
            <a:picLocks noChangeAspect="1"/>
          </p:cNvPicPr>
          <p:nvPr/>
        </p:nvPicPr>
        <p:blipFill>
          <a:blip r:embed="rId3" cstate="print"/>
          <a:stretch>
            <a:fillRect/>
          </a:stretch>
        </p:blipFill>
        <p:spPr>
          <a:xfrm>
            <a:off x="6192180" y="3789040"/>
            <a:ext cx="2253444" cy="1502296"/>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Opportunistic crimes:</a:t>
            </a:r>
          </a:p>
          <a:p>
            <a:pPr marL="360000" indent="-360000">
              <a:spcBef>
                <a:spcPts val="600"/>
              </a:spcBef>
              <a:spcAft>
                <a:spcPts val="1200"/>
              </a:spcAft>
            </a:pPr>
            <a:r>
              <a:rPr lang="en-US" sz="2200" dirty="0" smtClean="0">
                <a:latin typeface="Helvetica" pitchFamily="34" charset="0"/>
              </a:rPr>
              <a:t>Spur of the moment</a:t>
            </a:r>
          </a:p>
          <a:p>
            <a:pPr marL="360000" indent="-360000">
              <a:spcBef>
                <a:spcPts val="600"/>
              </a:spcBef>
              <a:spcAft>
                <a:spcPts val="1200"/>
              </a:spcAft>
            </a:pPr>
            <a:r>
              <a:rPr lang="en-US" sz="2200" dirty="0" smtClean="0">
                <a:latin typeface="Helvetica" pitchFamily="34" charset="0"/>
              </a:rPr>
              <a:t>Not planned</a:t>
            </a:r>
          </a:p>
          <a:p>
            <a:pPr marL="360000" indent="-360000">
              <a:spcBef>
                <a:spcPts val="600"/>
              </a:spcBef>
              <a:spcAft>
                <a:spcPts val="1200"/>
              </a:spcAft>
            </a:pPr>
            <a:r>
              <a:rPr lang="en-US" sz="2200" dirty="0" smtClean="0">
                <a:latin typeface="Helvetica" pitchFamily="34" charset="0"/>
              </a:rPr>
              <a:t>People see an opportunity and react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MP900448718.JPG"/>
          <p:cNvPicPr>
            <a:picLocks noChangeAspect="1"/>
          </p:cNvPicPr>
          <p:nvPr/>
        </p:nvPicPr>
        <p:blipFill>
          <a:blip r:embed="rId3" cstate="print"/>
          <a:stretch>
            <a:fillRect/>
          </a:stretch>
        </p:blipFill>
        <p:spPr>
          <a:xfrm>
            <a:off x="6372200" y="3717032"/>
            <a:ext cx="2016054" cy="1527237"/>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To guard against opportunistic crimes:</a:t>
            </a:r>
          </a:p>
          <a:p>
            <a:pPr marL="360000" indent="-360000">
              <a:spcBef>
                <a:spcPts val="600"/>
              </a:spcBef>
              <a:spcAft>
                <a:spcPts val="1200"/>
              </a:spcAft>
            </a:pPr>
            <a:r>
              <a:rPr lang="en-US" sz="2200" dirty="0" smtClean="0">
                <a:latin typeface="Helvetica" pitchFamily="34" charset="0"/>
              </a:rPr>
              <a:t>Be covert</a:t>
            </a:r>
          </a:p>
          <a:p>
            <a:pPr marL="360000" indent="-360000">
              <a:spcBef>
                <a:spcPts val="600"/>
              </a:spcBef>
              <a:spcAft>
                <a:spcPts val="1200"/>
              </a:spcAft>
            </a:pPr>
            <a:r>
              <a:rPr lang="en-US" sz="2200" dirty="0" smtClean="0">
                <a:latin typeface="Helvetica" pitchFamily="34" charset="0"/>
              </a:rPr>
              <a:t>Be secret</a:t>
            </a:r>
          </a:p>
          <a:p>
            <a:pPr marL="360000" indent="-360000">
              <a:spcBef>
                <a:spcPts val="600"/>
              </a:spcBef>
              <a:spcAft>
                <a:spcPts val="1200"/>
              </a:spcAft>
            </a:pPr>
            <a:r>
              <a:rPr lang="en-US" sz="2200" dirty="0" smtClean="0">
                <a:latin typeface="Helvetica" pitchFamily="34" charset="0"/>
              </a:rPr>
              <a:t>Be quick</a:t>
            </a:r>
          </a:p>
          <a:p>
            <a:pPr marL="360000" indent="-360000">
              <a:spcBef>
                <a:spcPts val="600"/>
              </a:spcBef>
              <a:spcAft>
                <a:spcPts val="1200"/>
              </a:spcAft>
            </a:pPr>
            <a:r>
              <a:rPr lang="en-US" sz="2200" dirty="0" smtClean="0">
                <a:latin typeface="Helvetica" pitchFamily="34" charset="0"/>
              </a:rPr>
              <a:t>Avoid certain locations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MP900422699.JPG"/>
          <p:cNvPicPr>
            <a:picLocks noChangeAspect="1"/>
          </p:cNvPicPr>
          <p:nvPr/>
        </p:nvPicPr>
        <p:blipFill>
          <a:blip r:embed="rId3" cstate="print"/>
          <a:srcRect b="12782"/>
          <a:stretch>
            <a:fillRect/>
          </a:stretch>
        </p:blipFill>
        <p:spPr>
          <a:xfrm>
            <a:off x="6948264" y="3284984"/>
            <a:ext cx="1471588" cy="1944216"/>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When planning for a ‘future’ carry job:</a:t>
            </a:r>
          </a:p>
          <a:p>
            <a:pPr marL="360000" indent="-360000">
              <a:spcBef>
                <a:spcPts val="600"/>
              </a:spcBef>
              <a:spcAft>
                <a:spcPts val="1200"/>
              </a:spcAft>
            </a:pPr>
            <a:r>
              <a:rPr lang="en-US" sz="2200" dirty="0" smtClean="0">
                <a:latin typeface="Helvetica" pitchFamily="34" charset="0"/>
              </a:rPr>
              <a:t>Speak with client to obtain information</a:t>
            </a:r>
          </a:p>
          <a:p>
            <a:pPr marL="360000" indent="-360000">
              <a:spcBef>
                <a:spcPts val="600"/>
              </a:spcBef>
              <a:spcAft>
                <a:spcPts val="1200"/>
              </a:spcAft>
            </a:pPr>
            <a:r>
              <a:rPr lang="en-US" sz="2200" dirty="0" smtClean="0">
                <a:latin typeface="Helvetica" pitchFamily="34" charset="0"/>
              </a:rPr>
              <a:t>Talk to venue staff</a:t>
            </a:r>
          </a:p>
          <a:p>
            <a:pPr marL="360000" indent="-360000">
              <a:spcBef>
                <a:spcPts val="600"/>
              </a:spcBef>
              <a:spcAft>
                <a:spcPts val="1200"/>
              </a:spcAft>
            </a:pPr>
            <a:r>
              <a:rPr lang="en-US" sz="2200" dirty="0" smtClean="0">
                <a:latin typeface="Helvetica" pitchFamily="34" charset="0"/>
              </a:rPr>
              <a:t>Communicate with local authorities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descr="MP900422855.JPG"/>
          <p:cNvPicPr>
            <a:picLocks noChangeAspect="1"/>
          </p:cNvPicPr>
          <p:nvPr/>
        </p:nvPicPr>
        <p:blipFill>
          <a:blip r:embed="rId3" cstate="print"/>
          <a:stretch>
            <a:fillRect/>
          </a:stretch>
        </p:blipFill>
        <p:spPr>
          <a:xfrm>
            <a:off x="6876256" y="3717032"/>
            <a:ext cx="1556792" cy="155679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Check with management</a:t>
            </a:r>
          </a:p>
          <a:p>
            <a:pPr marL="360000" indent="-360000">
              <a:spcBef>
                <a:spcPts val="600"/>
              </a:spcBef>
              <a:spcAft>
                <a:spcPts val="1200"/>
              </a:spcAft>
            </a:pPr>
            <a:r>
              <a:rPr lang="en-US" sz="2200" dirty="0" smtClean="0">
                <a:latin typeface="Helvetica" pitchFamily="34" charset="0"/>
              </a:rPr>
              <a:t>Develop formal plans</a:t>
            </a:r>
          </a:p>
          <a:p>
            <a:pPr marL="360000" indent="-360000">
              <a:spcBef>
                <a:spcPts val="600"/>
              </a:spcBef>
              <a:spcAft>
                <a:spcPts val="1200"/>
              </a:spcAft>
            </a:pPr>
            <a:r>
              <a:rPr lang="en-US" sz="2200" dirty="0" smtClean="0">
                <a:latin typeface="Helvetica" pitchFamily="34" charset="0"/>
              </a:rPr>
              <a:t>Take action to prepare the venue and the route/s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descr="MP900402225.JPG"/>
          <p:cNvPicPr>
            <a:picLocks noChangeAspect="1"/>
          </p:cNvPicPr>
          <p:nvPr/>
        </p:nvPicPr>
        <p:blipFill>
          <a:blip r:embed="rId3" cstate="print"/>
          <a:stretch>
            <a:fillRect/>
          </a:stretch>
        </p:blipFill>
        <p:spPr>
          <a:xfrm>
            <a:off x="6588224" y="3717032"/>
            <a:ext cx="1861399" cy="1493787"/>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 potential threats for the individual job</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When assessing threats for on-the-spot jobs:</a:t>
            </a:r>
          </a:p>
          <a:p>
            <a:pPr marL="360000" indent="-360000">
              <a:spcBef>
                <a:spcPts val="600"/>
              </a:spcBef>
              <a:spcAft>
                <a:spcPts val="1200"/>
              </a:spcAft>
            </a:pPr>
            <a:r>
              <a:rPr lang="en-US" sz="2200" dirty="0" smtClean="0">
                <a:latin typeface="Helvetica" pitchFamily="34" charset="0"/>
              </a:rPr>
              <a:t>Speak to guests and obtain relevant information</a:t>
            </a:r>
          </a:p>
          <a:p>
            <a:pPr marL="360000" indent="-360000">
              <a:spcBef>
                <a:spcPts val="600"/>
              </a:spcBef>
              <a:spcAft>
                <a:spcPts val="1200"/>
              </a:spcAft>
            </a:pPr>
            <a:r>
              <a:rPr lang="en-US" sz="2200" dirty="0" smtClean="0">
                <a:latin typeface="Helvetica" pitchFamily="34" charset="0"/>
              </a:rPr>
              <a:t>Rely on personal experience</a:t>
            </a:r>
          </a:p>
          <a:p>
            <a:pPr marL="360000" indent="-360000">
              <a:spcBef>
                <a:spcPts val="600"/>
              </a:spcBef>
              <a:spcAft>
                <a:spcPts val="1200"/>
              </a:spcAft>
            </a:pPr>
            <a:r>
              <a:rPr lang="en-US" sz="2200" dirty="0" smtClean="0">
                <a:latin typeface="Helvetica" pitchFamily="34" charset="0"/>
              </a:rPr>
              <a:t>Situational Awareness is critical and is your primary tool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MP900422994.JPG"/>
          <p:cNvPicPr>
            <a:picLocks noChangeAspect="1"/>
          </p:cNvPicPr>
          <p:nvPr/>
        </p:nvPicPr>
        <p:blipFill>
          <a:blip r:embed="rId3" cstate="print"/>
          <a:stretch>
            <a:fillRect/>
          </a:stretch>
        </p:blipFill>
        <p:spPr>
          <a:xfrm>
            <a:off x="6444208" y="3861048"/>
            <a:ext cx="1970302" cy="1483884"/>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Obtain assistance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Assistance may be sought or required:</a:t>
            </a:r>
          </a:p>
          <a:p>
            <a:pPr marL="360000" indent="-360000">
              <a:spcBef>
                <a:spcPts val="600"/>
              </a:spcBef>
              <a:spcAft>
                <a:spcPts val="1200"/>
              </a:spcAft>
            </a:pPr>
            <a:r>
              <a:rPr lang="en-US" sz="2200" dirty="0" smtClean="0">
                <a:latin typeface="Helvetica" pitchFamily="34" charset="0"/>
              </a:rPr>
              <a:t>During planning and preparation</a:t>
            </a:r>
          </a:p>
          <a:p>
            <a:pPr marL="360000" indent="-360000">
              <a:spcBef>
                <a:spcPts val="600"/>
              </a:spcBef>
              <a:spcAft>
                <a:spcPts val="1200"/>
              </a:spcAft>
            </a:pPr>
            <a:r>
              <a:rPr lang="en-US" sz="2200" dirty="0" smtClean="0">
                <a:latin typeface="Helvetica" pitchFamily="34" charset="0"/>
              </a:rPr>
              <a:t>During the task</a:t>
            </a:r>
          </a:p>
          <a:p>
            <a:pPr marL="360000" indent="-360000">
              <a:spcBef>
                <a:spcPts val="600"/>
              </a:spcBef>
              <a:spcAft>
                <a:spcPts val="1200"/>
              </a:spcAft>
            </a:pPr>
            <a:r>
              <a:rPr lang="en-US" sz="2200" dirty="0" smtClean="0">
                <a:latin typeface="Helvetica" pitchFamily="34" charset="0"/>
              </a:rPr>
              <a:t>During debriefing and follow-up after the job</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descr="MP900409469.JPG"/>
          <p:cNvPicPr>
            <a:picLocks noChangeAspect="1"/>
          </p:cNvPicPr>
          <p:nvPr/>
        </p:nvPicPr>
        <p:blipFill>
          <a:blip r:embed="rId3" cstate="print"/>
          <a:stretch>
            <a:fillRect/>
          </a:stretch>
        </p:blipFill>
        <p:spPr>
          <a:xfrm>
            <a:off x="6156176" y="3789040"/>
            <a:ext cx="2267744" cy="1513011"/>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Obtain assistance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Reasons to seek assistance:</a:t>
            </a:r>
          </a:p>
          <a:p>
            <a:pPr marL="360000" indent="-360000">
              <a:spcBef>
                <a:spcPts val="600"/>
              </a:spcBef>
              <a:spcAft>
                <a:spcPts val="1200"/>
              </a:spcAft>
            </a:pPr>
            <a:r>
              <a:rPr lang="en-US" sz="2200" dirty="0" smtClean="0">
                <a:latin typeface="Helvetica" pitchFamily="34" charset="0"/>
              </a:rPr>
              <a:t>Relieves you of sole responsibility</a:t>
            </a:r>
          </a:p>
          <a:p>
            <a:pPr marL="360000" indent="-360000">
              <a:spcBef>
                <a:spcPts val="600"/>
              </a:spcBef>
              <a:spcAft>
                <a:spcPts val="1200"/>
              </a:spcAft>
            </a:pPr>
            <a:r>
              <a:rPr lang="en-US" sz="2200" dirty="0" smtClean="0">
                <a:latin typeface="Helvetica" pitchFamily="34" charset="0"/>
              </a:rPr>
              <a:t>Provides variety of opinion and input</a:t>
            </a:r>
          </a:p>
          <a:p>
            <a:pPr marL="360000" indent="-360000">
              <a:spcBef>
                <a:spcPts val="600"/>
              </a:spcBef>
              <a:spcAft>
                <a:spcPts val="1200"/>
              </a:spcAft>
            </a:pPr>
            <a:r>
              <a:rPr lang="en-US" sz="2200" dirty="0" smtClean="0">
                <a:latin typeface="Helvetica" pitchFamily="34" charset="0"/>
              </a:rPr>
              <a:t>Supplies more expertise and experience</a:t>
            </a:r>
          </a:p>
          <a:p>
            <a:pPr marL="360000" indent="-360000">
              <a:spcBef>
                <a:spcPts val="600"/>
              </a:spcBef>
              <a:spcAft>
                <a:spcPts val="1200"/>
              </a:spcAft>
            </a:pPr>
            <a:r>
              <a:rPr lang="en-US" sz="2200" dirty="0" smtClean="0">
                <a:latin typeface="Helvetica" pitchFamily="34" charset="0"/>
              </a:rPr>
              <a:t>Facilitates information sharing</a:t>
            </a:r>
          </a:p>
          <a:p>
            <a:pPr marL="360000" indent="-360000">
              <a:spcBef>
                <a:spcPts val="600"/>
              </a:spcBef>
              <a:spcAft>
                <a:spcPts val="1200"/>
              </a:spcAft>
            </a:pPr>
            <a:r>
              <a:rPr lang="en-US" sz="2200" dirty="0" smtClean="0">
                <a:latin typeface="Helvetica" pitchFamily="34" charset="0"/>
              </a:rPr>
              <a:t>Generates more intelligence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descr="MP900410054.JPG"/>
          <p:cNvPicPr>
            <a:picLocks noChangeAspect="1"/>
          </p:cNvPicPr>
          <p:nvPr/>
        </p:nvPicPr>
        <p:blipFill>
          <a:blip r:embed="rId3" cstate="print"/>
          <a:stretch>
            <a:fillRect/>
          </a:stretch>
        </p:blipFill>
        <p:spPr>
          <a:xfrm>
            <a:off x="6804248" y="2924944"/>
            <a:ext cx="1617359" cy="2421309"/>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Obtain assistance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Staff and management may provide:</a:t>
            </a:r>
          </a:p>
          <a:p>
            <a:pPr marL="360000" indent="-360000">
              <a:spcBef>
                <a:spcPts val="600"/>
              </a:spcBef>
              <a:spcAft>
                <a:spcPts val="1200"/>
              </a:spcAft>
            </a:pPr>
            <a:r>
              <a:rPr lang="en-US" sz="2200" dirty="0" smtClean="0">
                <a:latin typeface="Helvetica" pitchFamily="34" charset="0"/>
              </a:rPr>
              <a:t>Suggestions for planning and action</a:t>
            </a:r>
          </a:p>
          <a:p>
            <a:pPr marL="360000" indent="-360000">
              <a:spcBef>
                <a:spcPts val="600"/>
              </a:spcBef>
              <a:spcAft>
                <a:spcPts val="1200"/>
              </a:spcAft>
            </a:pPr>
            <a:r>
              <a:rPr lang="en-US" sz="2200" dirty="0" smtClean="0">
                <a:latin typeface="Helvetica" pitchFamily="34" charset="0"/>
              </a:rPr>
              <a:t>Information about prior similar events/jobs</a:t>
            </a:r>
          </a:p>
          <a:p>
            <a:pPr marL="360000" indent="-360000">
              <a:spcBef>
                <a:spcPts val="600"/>
              </a:spcBef>
              <a:spcAft>
                <a:spcPts val="1200"/>
              </a:spcAft>
            </a:pPr>
            <a:r>
              <a:rPr lang="en-US" sz="2200" dirty="0" smtClean="0">
                <a:latin typeface="Helvetica" pitchFamily="34" charset="0"/>
              </a:rPr>
              <a:t>Suitable staff</a:t>
            </a:r>
          </a:p>
          <a:p>
            <a:pPr marL="360000" indent="-360000">
              <a:spcBef>
                <a:spcPts val="600"/>
              </a:spcBef>
              <a:spcAft>
                <a:spcPts val="1200"/>
              </a:spcAft>
            </a:pPr>
            <a:r>
              <a:rPr lang="en-US" sz="2200" dirty="0" smtClean="0">
                <a:latin typeface="Helvetica" pitchFamily="34" charset="0"/>
              </a:rPr>
              <a:t>Advice on expected local/venue conditions </a:t>
            </a:r>
            <a:br>
              <a:rPr lang="en-US" sz="2200" dirty="0" smtClean="0">
                <a:latin typeface="Helvetica" pitchFamily="34" charset="0"/>
              </a:rPr>
            </a:br>
            <a:r>
              <a:rPr lang="en-US" sz="2200" dirty="0" smtClean="0">
                <a:latin typeface="Helvetica" pitchFamily="34" charset="0"/>
              </a:rPr>
              <a:t>at the time</a:t>
            </a:r>
          </a:p>
          <a:p>
            <a:pPr marL="360000" indent="-360000">
              <a:spcBef>
                <a:spcPts val="600"/>
              </a:spcBef>
              <a:spcAft>
                <a:spcPts val="1200"/>
              </a:spcAft>
            </a:pPr>
            <a:r>
              <a:rPr lang="en-US" sz="2200" dirty="0" smtClean="0">
                <a:latin typeface="Helvetica" pitchFamily="34" charset="0"/>
              </a:rPr>
              <a:t>Operational cooperation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descr="MP900423037.JPG"/>
          <p:cNvPicPr>
            <a:picLocks noChangeAspect="1"/>
          </p:cNvPicPr>
          <p:nvPr/>
        </p:nvPicPr>
        <p:blipFill>
          <a:blip r:embed="rId3" cstate="print"/>
          <a:stretch>
            <a:fillRect/>
          </a:stretch>
        </p:blipFill>
        <p:spPr>
          <a:xfrm>
            <a:off x="6588224" y="3501008"/>
            <a:ext cx="1772816" cy="1772816"/>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741987"/>
          </a:xfrm>
        </p:spPr>
        <p:txBody>
          <a:bodyPr>
            <a:normAutofit/>
          </a:bodyPr>
          <a:lstStyle/>
          <a:p>
            <a:pPr marL="0" indent="0">
              <a:spcBef>
                <a:spcPts val="600"/>
              </a:spcBef>
              <a:spcAft>
                <a:spcPts val="1200"/>
              </a:spcAft>
              <a:buNone/>
            </a:pPr>
            <a:r>
              <a:rPr lang="en-US" sz="2200" dirty="0" smtClean="0">
                <a:latin typeface="Helvetica" pitchFamily="34" charset="0"/>
              </a:rPr>
              <a:t>External security companies may provide:</a:t>
            </a:r>
          </a:p>
          <a:p>
            <a:pPr marL="360000" indent="-360000">
              <a:spcBef>
                <a:spcPts val="600"/>
              </a:spcBef>
              <a:spcAft>
                <a:spcPts val="1200"/>
              </a:spcAft>
            </a:pPr>
            <a:r>
              <a:rPr lang="en-US" sz="2200" dirty="0" smtClean="0">
                <a:latin typeface="Helvetica" pitchFamily="34" charset="0"/>
              </a:rPr>
              <a:t>Guards</a:t>
            </a:r>
          </a:p>
          <a:p>
            <a:pPr marL="360000" indent="-360000">
              <a:spcBef>
                <a:spcPts val="600"/>
              </a:spcBef>
              <a:spcAft>
                <a:spcPts val="1200"/>
              </a:spcAft>
            </a:pPr>
            <a:r>
              <a:rPr lang="en-US" sz="2200" dirty="0" smtClean="0">
                <a:latin typeface="Helvetica" pitchFamily="34" charset="0"/>
              </a:rPr>
              <a:t>Intelligence</a:t>
            </a:r>
          </a:p>
          <a:p>
            <a:pPr marL="360000" indent="-360000">
              <a:spcBef>
                <a:spcPts val="600"/>
              </a:spcBef>
              <a:spcAft>
                <a:spcPts val="1200"/>
              </a:spcAft>
            </a:pPr>
            <a:r>
              <a:rPr lang="en-US" sz="2200" dirty="0" smtClean="0">
                <a:latin typeface="Helvetica" pitchFamily="34" charset="0"/>
              </a:rPr>
              <a:t>Suggestions for planning and action</a:t>
            </a:r>
          </a:p>
          <a:p>
            <a:pPr marL="360000" indent="-360000">
              <a:spcBef>
                <a:spcPts val="600"/>
              </a:spcBef>
              <a:spcAft>
                <a:spcPts val="1200"/>
              </a:spcAft>
            </a:pPr>
            <a:r>
              <a:rPr lang="en-US" sz="2200" dirty="0" smtClean="0">
                <a:latin typeface="Helvetica" pitchFamily="34" charset="0"/>
              </a:rPr>
              <a:t>Pre-prepared arrangements for response to </a:t>
            </a:r>
            <a:br>
              <a:rPr lang="en-US" sz="2200" dirty="0" smtClean="0">
                <a:latin typeface="Helvetica" pitchFamily="34" charset="0"/>
              </a:rPr>
            </a:br>
            <a:r>
              <a:rPr lang="en-US" sz="2200" dirty="0" smtClean="0">
                <a:latin typeface="Helvetica" pitchFamily="34" charset="0"/>
              </a:rPr>
              <a:t>attacks and incidents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descr="MC900388978.WMF"/>
          <p:cNvPicPr>
            <a:picLocks noChangeAspect="1"/>
          </p:cNvPicPr>
          <p:nvPr/>
        </p:nvPicPr>
        <p:blipFill>
          <a:blip r:embed="rId3" cstate="print"/>
          <a:stretch>
            <a:fillRect/>
          </a:stretch>
        </p:blipFill>
        <p:spPr>
          <a:xfrm>
            <a:off x="7452320" y="3284984"/>
            <a:ext cx="984039" cy="1811426"/>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Obtain assistance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Local authorities may provide :</a:t>
            </a:r>
          </a:p>
          <a:p>
            <a:pPr marL="360000" indent="-360000">
              <a:spcBef>
                <a:spcPts val="600"/>
              </a:spcBef>
              <a:spcAft>
                <a:spcPts val="1200"/>
              </a:spcAft>
            </a:pPr>
            <a:r>
              <a:rPr lang="en-US" sz="2200" dirty="0" smtClean="0">
                <a:latin typeface="Helvetica" pitchFamily="34" charset="0"/>
              </a:rPr>
              <a:t>Updated threat advice</a:t>
            </a:r>
          </a:p>
          <a:p>
            <a:pPr marL="360000" indent="-360000">
              <a:spcBef>
                <a:spcPts val="600"/>
              </a:spcBef>
              <a:spcAft>
                <a:spcPts val="1200"/>
              </a:spcAft>
            </a:pPr>
            <a:r>
              <a:rPr lang="en-US" sz="2200" dirty="0" smtClean="0">
                <a:latin typeface="Helvetica" pitchFamily="34" charset="0"/>
              </a:rPr>
              <a:t>Tips on planning and strategies</a:t>
            </a:r>
          </a:p>
          <a:p>
            <a:pPr marL="360000" indent="-360000">
              <a:spcBef>
                <a:spcPts val="600"/>
              </a:spcBef>
              <a:spcAft>
                <a:spcPts val="1200"/>
              </a:spcAft>
            </a:pPr>
            <a:r>
              <a:rPr lang="en-US" sz="2200" dirty="0" smtClean="0">
                <a:latin typeface="Helvetica" pitchFamily="34" charset="0"/>
              </a:rPr>
              <a:t>A physical presence on the day or at the </a:t>
            </a:r>
            <a:br>
              <a:rPr lang="en-US" sz="2200" dirty="0" smtClean="0">
                <a:latin typeface="Helvetica" pitchFamily="34" charset="0"/>
              </a:rPr>
            </a:br>
            <a:r>
              <a:rPr lang="en-US" sz="2200" dirty="0" smtClean="0">
                <a:latin typeface="Helvetica" pitchFamily="34" charset="0"/>
              </a:rPr>
              <a:t>required time</a:t>
            </a:r>
          </a:p>
          <a:p>
            <a:pPr marL="360000" indent="-360000">
              <a:spcBef>
                <a:spcPts val="600"/>
              </a:spcBef>
              <a:spcAft>
                <a:spcPts val="1200"/>
              </a:spcAft>
            </a:pPr>
            <a:r>
              <a:rPr lang="en-US" sz="2200" dirty="0" smtClean="0">
                <a:latin typeface="Helvetica" pitchFamily="34" charset="0"/>
              </a:rPr>
              <a:t>Pre-prepared arrangements for response </a:t>
            </a:r>
            <a:br>
              <a:rPr lang="en-US" sz="2200" dirty="0" smtClean="0">
                <a:latin typeface="Helvetica" pitchFamily="34" charset="0"/>
              </a:rPr>
            </a:br>
            <a:r>
              <a:rPr lang="en-US" sz="2200" dirty="0" smtClean="0">
                <a:latin typeface="Helvetica" pitchFamily="34" charset="0"/>
              </a:rPr>
              <a:t>to attacks and incidents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MP900422699.JPG"/>
          <p:cNvPicPr>
            <a:picLocks noChangeAspect="1"/>
          </p:cNvPicPr>
          <p:nvPr/>
        </p:nvPicPr>
        <p:blipFill>
          <a:blip r:embed="rId3" cstate="print"/>
          <a:stretch>
            <a:fillRect/>
          </a:stretch>
        </p:blipFill>
        <p:spPr>
          <a:xfrm>
            <a:off x="6588224" y="3478144"/>
            <a:ext cx="1758214" cy="1891545"/>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carriage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Standard carriage requirements</a:t>
            </a:r>
          </a:p>
          <a:p>
            <a:pPr marL="360000" indent="-360000">
              <a:spcBef>
                <a:spcPts val="600"/>
              </a:spcBef>
              <a:spcAft>
                <a:spcPts val="1200"/>
              </a:spcAft>
            </a:pPr>
            <a:r>
              <a:rPr lang="en-US" sz="2200" dirty="0" smtClean="0">
                <a:latin typeface="Helvetica" pitchFamily="34" charset="0"/>
              </a:rPr>
              <a:t>Implement the plan if one has been prepared</a:t>
            </a:r>
          </a:p>
          <a:p>
            <a:pPr marL="360000" indent="-360000">
              <a:spcBef>
                <a:spcPts val="600"/>
              </a:spcBef>
              <a:spcAft>
                <a:spcPts val="1200"/>
              </a:spcAft>
            </a:pPr>
            <a:r>
              <a:rPr lang="en-US" sz="2200" dirty="0" smtClean="0">
                <a:latin typeface="Helvetica" pitchFamily="34" charset="0"/>
              </a:rPr>
              <a:t>Respond promptly</a:t>
            </a:r>
          </a:p>
          <a:p>
            <a:pPr marL="360000" indent="-360000">
              <a:spcBef>
                <a:spcPts val="600"/>
              </a:spcBef>
              <a:spcAft>
                <a:spcPts val="1200"/>
              </a:spcAft>
            </a:pPr>
            <a:r>
              <a:rPr lang="en-US" sz="2200" dirty="0" smtClean="0">
                <a:latin typeface="Helvetica" pitchFamily="34" charset="0"/>
              </a:rPr>
              <a:t>Complete and process required documentation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descr="MC900020000(1).WMF"/>
          <p:cNvPicPr>
            <a:picLocks noChangeAspect="1"/>
          </p:cNvPicPr>
          <p:nvPr/>
        </p:nvPicPr>
        <p:blipFill>
          <a:blip r:embed="rId3" cstate="print"/>
          <a:stretch>
            <a:fillRect/>
          </a:stretch>
        </p:blipFill>
        <p:spPr>
          <a:xfrm>
            <a:off x="6516216" y="3212976"/>
            <a:ext cx="1746899" cy="1809063"/>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carriage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Be covert</a:t>
            </a:r>
          </a:p>
          <a:p>
            <a:pPr marL="360000" indent="-360000">
              <a:spcBef>
                <a:spcPts val="600"/>
              </a:spcBef>
              <a:spcAft>
                <a:spcPts val="1200"/>
              </a:spcAft>
            </a:pPr>
            <a:r>
              <a:rPr lang="en-US" sz="2200" dirty="0" smtClean="0">
                <a:latin typeface="Helvetica" pitchFamily="34" charset="0"/>
              </a:rPr>
              <a:t>Retain Situational Awareness</a:t>
            </a:r>
          </a:p>
          <a:p>
            <a:pPr marL="360000" indent="-360000">
              <a:spcBef>
                <a:spcPts val="600"/>
              </a:spcBef>
              <a:spcAft>
                <a:spcPts val="1200"/>
              </a:spcAft>
            </a:pPr>
            <a:r>
              <a:rPr lang="en-US" sz="2200" dirty="0" smtClean="0">
                <a:latin typeface="Helvetica" pitchFamily="34" charset="0"/>
              </a:rPr>
              <a:t>Take shortest and quickest route</a:t>
            </a:r>
          </a:p>
          <a:p>
            <a:pPr marL="360000" indent="-360000">
              <a:spcBef>
                <a:spcPts val="600"/>
              </a:spcBef>
              <a:spcAft>
                <a:spcPts val="1200"/>
              </a:spcAft>
            </a:pPr>
            <a:r>
              <a:rPr lang="en-US" sz="2200" dirty="0" smtClean="0">
                <a:latin typeface="Helvetica" pitchFamily="34" charset="0"/>
              </a:rPr>
              <a:t>Use common sense</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MC900020000(1).WMF"/>
          <p:cNvPicPr>
            <a:picLocks noChangeAspect="1"/>
          </p:cNvPicPr>
          <p:nvPr/>
        </p:nvPicPr>
        <p:blipFill>
          <a:blip r:embed="rId3" cstate="print"/>
          <a:stretch>
            <a:fillRect/>
          </a:stretch>
        </p:blipFill>
        <p:spPr>
          <a:xfrm>
            <a:off x="6588224" y="3429000"/>
            <a:ext cx="1890915" cy="1890915"/>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Perform carriage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Do not handcuff yourself to items</a:t>
            </a:r>
          </a:p>
          <a:p>
            <a:pPr marL="360000" indent="-360000">
              <a:spcBef>
                <a:spcPts val="600"/>
              </a:spcBef>
              <a:spcAft>
                <a:spcPts val="1200"/>
              </a:spcAft>
            </a:pPr>
            <a:r>
              <a:rPr lang="en-US" sz="2200" dirty="0" smtClean="0">
                <a:latin typeface="Helvetica" pitchFamily="34" charset="0"/>
              </a:rPr>
              <a:t>Do not carry illegal items</a:t>
            </a:r>
          </a:p>
          <a:p>
            <a:pPr marL="360000" indent="-360000">
              <a:spcBef>
                <a:spcPts val="600"/>
              </a:spcBef>
              <a:spcAft>
                <a:spcPts val="1200"/>
              </a:spcAft>
            </a:pPr>
            <a:r>
              <a:rPr lang="en-US" sz="2200" dirty="0" smtClean="0">
                <a:latin typeface="Helvetica" pitchFamily="34" charset="0"/>
              </a:rPr>
              <a:t>Move quickly</a:t>
            </a:r>
          </a:p>
          <a:p>
            <a:pPr marL="360000" indent="-360000">
              <a:spcBef>
                <a:spcPts val="600"/>
              </a:spcBef>
              <a:spcAft>
                <a:spcPts val="1200"/>
              </a:spcAft>
            </a:pPr>
            <a:r>
              <a:rPr lang="en-US" sz="2200" dirty="0" smtClean="0">
                <a:latin typeface="Helvetica" pitchFamily="34" charset="0"/>
              </a:rPr>
              <a:t>Ask for help immediately when needed</a:t>
            </a:r>
          </a:p>
          <a:p>
            <a:pPr marL="360000" indent="-360000">
              <a:spcBef>
                <a:spcPts val="600"/>
              </a:spcBef>
              <a:spcAft>
                <a:spcPts val="1200"/>
              </a:spcAft>
            </a:pPr>
            <a:r>
              <a:rPr lang="en-US" sz="2200" dirty="0" smtClean="0">
                <a:latin typeface="Helvetica" pitchFamily="34" charset="0"/>
              </a:rPr>
              <a:t>Never put yourself in danger</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descr="MC900238032.WMF"/>
          <p:cNvPicPr>
            <a:picLocks noChangeAspect="1"/>
          </p:cNvPicPr>
          <p:nvPr/>
        </p:nvPicPr>
        <p:blipFill>
          <a:blip r:embed="rId3" cstate="print"/>
          <a:stretch>
            <a:fillRect/>
          </a:stretch>
        </p:blipFill>
        <p:spPr>
          <a:xfrm>
            <a:off x="6588224" y="3717032"/>
            <a:ext cx="1694461" cy="1542617"/>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Perform carriage duties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Concentrate and focus on the job</a:t>
            </a:r>
          </a:p>
          <a:p>
            <a:pPr marL="360000" indent="-360000">
              <a:spcBef>
                <a:spcPts val="600"/>
              </a:spcBef>
              <a:spcAft>
                <a:spcPts val="1200"/>
              </a:spcAft>
            </a:pPr>
            <a:r>
              <a:rPr lang="en-US" sz="2200" dirty="0" smtClean="0">
                <a:latin typeface="Helvetica" pitchFamily="34" charset="0"/>
              </a:rPr>
              <a:t>Stay in touch</a:t>
            </a:r>
          </a:p>
          <a:p>
            <a:pPr marL="360000" indent="-360000">
              <a:spcBef>
                <a:spcPts val="600"/>
              </a:spcBef>
              <a:spcAft>
                <a:spcPts val="1200"/>
              </a:spcAft>
            </a:pPr>
            <a:r>
              <a:rPr lang="en-US" sz="2200" dirty="0" smtClean="0">
                <a:latin typeface="Helvetica" pitchFamily="34" charset="0"/>
              </a:rPr>
              <a:t>Stay ‘deep’/stay ‘inside’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descr="MC900318672.WMF"/>
          <p:cNvPicPr>
            <a:picLocks noChangeAspect="1"/>
          </p:cNvPicPr>
          <p:nvPr/>
        </p:nvPicPr>
        <p:blipFill>
          <a:blip r:embed="rId3" cstate="print"/>
          <a:stretch>
            <a:fillRect/>
          </a:stretch>
        </p:blipFill>
        <p:spPr>
          <a:xfrm>
            <a:off x="6588224" y="3501008"/>
            <a:ext cx="1822399" cy="1763878"/>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Keys when responding to threats when carrying:</a:t>
            </a:r>
          </a:p>
          <a:p>
            <a:pPr marL="360000" indent="-360000">
              <a:spcBef>
                <a:spcPts val="600"/>
              </a:spcBef>
              <a:spcAft>
                <a:spcPts val="1200"/>
              </a:spcAft>
            </a:pPr>
            <a:r>
              <a:rPr lang="en-US" sz="2200" dirty="0" smtClean="0">
                <a:latin typeface="Helvetica" pitchFamily="34" charset="0"/>
              </a:rPr>
              <a:t>Avoid threats</a:t>
            </a:r>
          </a:p>
          <a:p>
            <a:pPr marL="360000" indent="-360000">
              <a:spcBef>
                <a:spcPts val="600"/>
              </a:spcBef>
              <a:spcAft>
                <a:spcPts val="1200"/>
              </a:spcAft>
            </a:pPr>
            <a:r>
              <a:rPr lang="en-US" sz="2200" dirty="0" smtClean="0">
                <a:latin typeface="Helvetica" pitchFamily="34" charset="0"/>
              </a:rPr>
              <a:t>Alter your route when necessary</a:t>
            </a:r>
          </a:p>
          <a:p>
            <a:pPr marL="360000" indent="-360000">
              <a:spcBef>
                <a:spcPts val="600"/>
              </a:spcBef>
              <a:spcAft>
                <a:spcPts val="1200"/>
              </a:spcAft>
            </a:pPr>
            <a:r>
              <a:rPr lang="en-US" sz="2200" dirty="0" smtClean="0">
                <a:latin typeface="Helvetica" pitchFamily="34" charset="0"/>
              </a:rPr>
              <a:t>Notify others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descr="MC900240367.WMF"/>
          <p:cNvPicPr>
            <a:picLocks noChangeAspect="1"/>
          </p:cNvPicPr>
          <p:nvPr/>
        </p:nvPicPr>
        <p:blipFill>
          <a:blip r:embed="rId3" cstate="print"/>
          <a:stretch>
            <a:fillRect/>
          </a:stretch>
        </p:blipFill>
        <p:spPr>
          <a:xfrm>
            <a:off x="6948264" y="3212976"/>
            <a:ext cx="1506931" cy="1826971"/>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Call for back-up</a:t>
            </a:r>
          </a:p>
          <a:p>
            <a:pPr marL="360000" indent="-360000">
              <a:spcBef>
                <a:spcPts val="600"/>
              </a:spcBef>
              <a:spcAft>
                <a:spcPts val="1200"/>
              </a:spcAft>
            </a:pPr>
            <a:r>
              <a:rPr lang="en-US" sz="2200" dirty="0" smtClean="0">
                <a:latin typeface="Helvetica" pitchFamily="34" charset="0"/>
              </a:rPr>
              <a:t>Act quickly</a:t>
            </a:r>
          </a:p>
          <a:p>
            <a:pPr marL="360000" indent="-360000">
              <a:spcBef>
                <a:spcPts val="600"/>
              </a:spcBef>
              <a:spcAft>
                <a:spcPts val="1200"/>
              </a:spcAft>
            </a:pPr>
            <a:r>
              <a:rPr lang="en-US" sz="2200" dirty="0" smtClean="0">
                <a:latin typeface="Helvetica" pitchFamily="34" charset="0"/>
              </a:rPr>
              <a:t>Do two things at once</a:t>
            </a:r>
          </a:p>
          <a:p>
            <a:pPr marL="360000" indent="-360000">
              <a:spcBef>
                <a:spcPts val="600"/>
              </a:spcBef>
              <a:spcAft>
                <a:spcPts val="1200"/>
              </a:spcAft>
            </a:pPr>
            <a:r>
              <a:rPr lang="en-US" sz="2200" dirty="0" smtClean="0">
                <a:latin typeface="Helvetica" pitchFamily="34" charset="0"/>
              </a:rPr>
              <a:t>Step up observations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descr="MC900295530.WMF"/>
          <p:cNvPicPr>
            <a:picLocks noChangeAspect="1"/>
          </p:cNvPicPr>
          <p:nvPr/>
        </p:nvPicPr>
        <p:blipFill>
          <a:blip r:embed="rId3" cstate="print"/>
          <a:stretch>
            <a:fillRect/>
          </a:stretch>
        </p:blipFill>
        <p:spPr>
          <a:xfrm>
            <a:off x="6372200" y="3608607"/>
            <a:ext cx="1936942" cy="1450856"/>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If you are attacked when performing a carry job:</a:t>
            </a:r>
          </a:p>
          <a:p>
            <a:pPr marL="360000" indent="-360000">
              <a:spcBef>
                <a:spcPts val="600"/>
              </a:spcBef>
              <a:spcAft>
                <a:spcPts val="1200"/>
              </a:spcAft>
            </a:pPr>
            <a:r>
              <a:rPr lang="en-US" sz="2200" dirty="0" smtClean="0">
                <a:latin typeface="Helvetica" pitchFamily="34" charset="0"/>
              </a:rPr>
              <a:t>Never resist</a:t>
            </a:r>
          </a:p>
          <a:p>
            <a:pPr marL="360000" indent="-360000">
              <a:spcBef>
                <a:spcPts val="600"/>
              </a:spcBef>
              <a:spcAft>
                <a:spcPts val="1200"/>
              </a:spcAft>
            </a:pPr>
            <a:r>
              <a:rPr lang="en-US" sz="2200" dirty="0" smtClean="0">
                <a:latin typeface="Helvetica" pitchFamily="34" charset="0"/>
              </a:rPr>
              <a:t>Do not try to stall offenders</a:t>
            </a:r>
          </a:p>
          <a:p>
            <a:pPr marL="360000" indent="-360000">
              <a:spcBef>
                <a:spcPts val="600"/>
              </a:spcBef>
              <a:spcAft>
                <a:spcPts val="1200"/>
              </a:spcAft>
            </a:pPr>
            <a:r>
              <a:rPr lang="en-US" sz="2200" dirty="0" smtClean="0">
                <a:latin typeface="Helvetica" pitchFamily="34" charset="0"/>
              </a:rPr>
              <a:t>Avoid eye contact</a:t>
            </a:r>
          </a:p>
          <a:p>
            <a:pPr marL="360000" indent="-360000">
              <a:spcBef>
                <a:spcPts val="600"/>
              </a:spcBef>
              <a:spcAft>
                <a:spcPts val="1200"/>
              </a:spcAft>
            </a:pPr>
            <a:r>
              <a:rPr lang="en-US" sz="2200" dirty="0" smtClean="0">
                <a:latin typeface="Helvetica" pitchFamily="34" charset="0"/>
              </a:rPr>
              <a:t>Do not speak unless spoken to</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MC900234641.WMF"/>
          <p:cNvPicPr>
            <a:picLocks noChangeAspect="1"/>
          </p:cNvPicPr>
          <p:nvPr/>
        </p:nvPicPr>
        <p:blipFill>
          <a:blip r:embed="rId3" cstate="print"/>
          <a:stretch>
            <a:fillRect/>
          </a:stretch>
        </p:blipFill>
        <p:spPr>
          <a:xfrm>
            <a:off x="6588224" y="4077072"/>
            <a:ext cx="1808683" cy="1108253"/>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Respond to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Obey commands</a:t>
            </a:r>
          </a:p>
          <a:p>
            <a:pPr marL="360000" indent="-360000">
              <a:spcBef>
                <a:spcPts val="600"/>
              </a:spcBef>
              <a:spcAft>
                <a:spcPts val="1200"/>
              </a:spcAft>
            </a:pPr>
            <a:r>
              <a:rPr lang="en-US" sz="2200" dirty="0" smtClean="0">
                <a:latin typeface="Helvetica" pitchFamily="34" charset="0"/>
              </a:rPr>
              <a:t>Never try to be a hero</a:t>
            </a:r>
          </a:p>
          <a:p>
            <a:pPr marL="360000" indent="-360000">
              <a:spcBef>
                <a:spcPts val="600"/>
              </a:spcBef>
              <a:spcAft>
                <a:spcPts val="1200"/>
              </a:spcAft>
            </a:pPr>
            <a:r>
              <a:rPr lang="en-US" sz="2200" dirty="0" smtClean="0">
                <a:latin typeface="Helvetica" pitchFamily="34" charset="0"/>
              </a:rPr>
              <a:t>Protect people</a:t>
            </a:r>
          </a:p>
          <a:p>
            <a:pPr marL="360000" indent="-360000">
              <a:spcBef>
                <a:spcPts val="600"/>
              </a:spcBef>
              <a:spcAft>
                <a:spcPts val="1200"/>
              </a:spcAft>
            </a:pPr>
            <a:r>
              <a:rPr lang="en-US" sz="2200" dirty="0" smtClean="0">
                <a:latin typeface="Helvetica" pitchFamily="34" charset="0"/>
              </a:rPr>
              <a:t>Note details of offenders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descr="MP900185065.JPG"/>
          <p:cNvPicPr>
            <a:picLocks noChangeAspect="1"/>
          </p:cNvPicPr>
          <p:nvPr/>
        </p:nvPicPr>
        <p:blipFill>
          <a:blip r:embed="rId3" cstate="print"/>
          <a:stretch>
            <a:fillRect/>
          </a:stretch>
        </p:blipFill>
        <p:spPr>
          <a:xfrm>
            <a:off x="7092280" y="3212976"/>
            <a:ext cx="1328204" cy="1992306"/>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competing documents:</a:t>
            </a:r>
          </a:p>
          <a:p>
            <a:pPr marL="360000" indent="-360000">
              <a:spcBef>
                <a:spcPts val="600"/>
              </a:spcBef>
              <a:spcAft>
                <a:spcPts val="1200"/>
              </a:spcAft>
            </a:pPr>
            <a:r>
              <a:rPr lang="en-US" sz="2200" dirty="0" smtClean="0">
                <a:latin typeface="Helvetica" pitchFamily="34" charset="0"/>
              </a:rPr>
              <a:t>Do it as soon as possible</a:t>
            </a:r>
          </a:p>
          <a:p>
            <a:pPr marL="360000" indent="-360000">
              <a:spcBef>
                <a:spcPts val="600"/>
              </a:spcBef>
              <a:spcAft>
                <a:spcPts val="1200"/>
              </a:spcAft>
            </a:pPr>
            <a:r>
              <a:rPr lang="en-US" sz="2200" dirty="0" smtClean="0">
                <a:latin typeface="Helvetica" pitchFamily="34" charset="0"/>
              </a:rPr>
              <a:t>Complete all sections of the form</a:t>
            </a:r>
          </a:p>
          <a:p>
            <a:pPr marL="360000" indent="-360000">
              <a:spcBef>
                <a:spcPts val="600"/>
              </a:spcBef>
              <a:spcAft>
                <a:spcPts val="1200"/>
              </a:spcAft>
            </a:pPr>
            <a:r>
              <a:rPr lang="en-US" sz="2200" dirty="0" smtClean="0">
                <a:latin typeface="Helvetica" pitchFamily="34" charset="0"/>
              </a:rPr>
              <a:t>Be honest, accurate and comprehensive</a:t>
            </a:r>
          </a:p>
          <a:p>
            <a:pPr marL="360000" indent="-360000">
              <a:spcBef>
                <a:spcPts val="600"/>
              </a:spcBef>
              <a:spcAft>
                <a:spcPts val="1200"/>
              </a:spcAft>
            </a:pPr>
            <a:r>
              <a:rPr lang="en-US" sz="2200" dirty="0" smtClean="0">
                <a:latin typeface="Helvetica" pitchFamily="34" charset="0"/>
              </a:rPr>
              <a:t>Distinguish fact from opinion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freeimage-1199503.jpg"/>
          <p:cNvPicPr>
            <a:picLocks noChangeAspect="1"/>
          </p:cNvPicPr>
          <p:nvPr/>
        </p:nvPicPr>
        <p:blipFill>
          <a:blip r:embed="rId3" cstate="print"/>
          <a:stretch>
            <a:fillRect/>
          </a:stretch>
        </p:blipFill>
        <p:spPr>
          <a:xfrm>
            <a:off x="6516216" y="3789040"/>
            <a:ext cx="1883701" cy="1412776"/>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Forward documents as required or as necessary</a:t>
            </a:r>
          </a:p>
          <a:p>
            <a:pPr marL="360000" indent="-360000">
              <a:spcBef>
                <a:spcPts val="600"/>
              </a:spcBef>
              <a:spcAft>
                <a:spcPts val="1200"/>
              </a:spcAft>
            </a:pPr>
            <a:r>
              <a:rPr lang="en-US" sz="2200" dirty="0" smtClean="0">
                <a:latin typeface="Helvetica" pitchFamily="34" charset="0"/>
              </a:rPr>
              <a:t>Follow internal training about what to complete and when</a:t>
            </a:r>
          </a:p>
          <a:p>
            <a:pPr marL="360000" indent="-360000">
              <a:spcBef>
                <a:spcPts val="600"/>
              </a:spcBef>
              <a:spcAft>
                <a:spcPts val="1200"/>
              </a:spcAft>
            </a:pPr>
            <a:r>
              <a:rPr lang="en-US" sz="2200" dirty="0" smtClean="0">
                <a:latin typeface="Helvetica" pitchFamily="34" charset="0"/>
              </a:rPr>
              <a:t>Keep a copy</a:t>
            </a:r>
          </a:p>
          <a:p>
            <a:pPr marL="360000" indent="-360000">
              <a:spcBef>
                <a:spcPts val="600"/>
              </a:spcBef>
              <a:spcAft>
                <a:spcPts val="1200"/>
              </a:spcAft>
            </a:pPr>
            <a:r>
              <a:rPr lang="en-US" sz="2200" dirty="0" smtClean="0">
                <a:latin typeface="Helvetica" pitchFamily="34" charset="0"/>
              </a:rPr>
              <a:t>Seek advice if unsure about what to do/include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descr="MC900234641.WMF"/>
          <p:cNvPicPr>
            <a:picLocks noChangeAspect="1"/>
          </p:cNvPicPr>
          <p:nvPr/>
        </p:nvPicPr>
        <p:blipFill>
          <a:blip r:embed="rId3" cstate="print"/>
          <a:stretch>
            <a:fillRect/>
          </a:stretch>
        </p:blipFill>
        <p:spPr>
          <a:xfrm>
            <a:off x="6732240" y="3717032"/>
            <a:ext cx="1656184" cy="1656184"/>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Documents which may need to be competed can include:</a:t>
            </a:r>
          </a:p>
          <a:p>
            <a:pPr marL="360000" indent="-360000">
              <a:spcBef>
                <a:spcPts val="600"/>
              </a:spcBef>
              <a:spcAft>
                <a:spcPts val="1200"/>
              </a:spcAft>
            </a:pPr>
            <a:r>
              <a:rPr lang="en-US" sz="2200" dirty="0" smtClean="0">
                <a:latin typeface="Helvetica" pitchFamily="34" charset="0"/>
              </a:rPr>
              <a:t>Assignment/job sheets</a:t>
            </a:r>
          </a:p>
          <a:p>
            <a:pPr marL="360000" indent="-360000">
              <a:spcBef>
                <a:spcPts val="600"/>
              </a:spcBef>
              <a:spcAft>
                <a:spcPts val="1200"/>
              </a:spcAft>
            </a:pPr>
            <a:r>
              <a:rPr lang="en-US" sz="2200" dirty="0" smtClean="0">
                <a:latin typeface="Helvetica" pitchFamily="34" charset="0"/>
              </a:rPr>
              <a:t>Bills of lading</a:t>
            </a:r>
          </a:p>
          <a:p>
            <a:pPr marL="360000" indent="-360000">
              <a:spcBef>
                <a:spcPts val="600"/>
              </a:spcBef>
              <a:spcAft>
                <a:spcPts val="1200"/>
              </a:spcAft>
            </a:pPr>
            <a:r>
              <a:rPr lang="en-US" sz="2200" dirty="0" smtClean="0">
                <a:latin typeface="Helvetica" pitchFamily="34" charset="0"/>
              </a:rPr>
              <a:t>Insurance claims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descr="Filing.jpg"/>
          <p:cNvPicPr>
            <a:picLocks noChangeAspect="1"/>
          </p:cNvPicPr>
          <p:nvPr/>
        </p:nvPicPr>
        <p:blipFill>
          <a:blip r:embed="rId3" cstate="print"/>
          <a:stretch>
            <a:fillRect/>
          </a:stretch>
        </p:blipFill>
        <p:spPr>
          <a:xfrm>
            <a:off x="6372200" y="3717032"/>
            <a:ext cx="2026900" cy="1642579"/>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Internal security request forms</a:t>
            </a:r>
          </a:p>
          <a:p>
            <a:pPr marL="360000" indent="-360000">
              <a:spcBef>
                <a:spcPts val="600"/>
              </a:spcBef>
              <a:spcAft>
                <a:spcPts val="1200"/>
              </a:spcAft>
            </a:pPr>
            <a:r>
              <a:rPr lang="en-US" sz="2200" dirty="0" smtClean="0">
                <a:latin typeface="Helvetica" pitchFamily="34" charset="0"/>
              </a:rPr>
              <a:t>Security lodgment forms</a:t>
            </a:r>
          </a:p>
          <a:p>
            <a:pPr marL="360000" indent="-360000">
              <a:spcBef>
                <a:spcPts val="600"/>
              </a:spcBef>
              <a:spcAft>
                <a:spcPts val="1200"/>
              </a:spcAft>
            </a:pPr>
            <a:r>
              <a:rPr lang="en-US" sz="2200" dirty="0" smtClean="0">
                <a:latin typeface="Helvetica" pitchFamily="34" charset="0"/>
              </a:rPr>
              <a:t>Security threat reports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freeimage-6502304.jpg"/>
          <p:cNvPicPr>
            <a:picLocks noChangeAspect="1"/>
          </p:cNvPicPr>
          <p:nvPr/>
        </p:nvPicPr>
        <p:blipFill>
          <a:blip r:embed="rId3" cstate="print"/>
          <a:stretch>
            <a:fillRect/>
          </a:stretch>
        </p:blipFill>
        <p:spPr>
          <a:xfrm>
            <a:off x="6948264" y="3501008"/>
            <a:ext cx="1422001" cy="1773605"/>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Receipts</a:t>
            </a:r>
          </a:p>
          <a:p>
            <a:pPr marL="360000" indent="-360000">
              <a:spcBef>
                <a:spcPts val="600"/>
              </a:spcBef>
              <a:spcAft>
                <a:spcPts val="1200"/>
              </a:spcAft>
            </a:pPr>
            <a:r>
              <a:rPr lang="en-US" sz="2200" dirty="0" smtClean="0">
                <a:latin typeface="Helvetica" pitchFamily="34" charset="0"/>
              </a:rPr>
              <a:t>Incident reports</a:t>
            </a:r>
          </a:p>
          <a:p>
            <a:pPr marL="360000" indent="-360000">
              <a:spcBef>
                <a:spcPts val="600"/>
              </a:spcBef>
              <a:spcAft>
                <a:spcPts val="1200"/>
              </a:spcAft>
            </a:pPr>
            <a:r>
              <a:rPr lang="en-US" sz="2200" dirty="0" smtClean="0">
                <a:latin typeface="Helvetica" pitchFamily="34" charset="0"/>
              </a:rPr>
              <a:t>Witness statements</a:t>
            </a:r>
          </a:p>
          <a:p>
            <a:pPr marL="360000" indent="-360000">
              <a:spcBef>
                <a:spcPts val="600"/>
              </a:spcBef>
              <a:spcAft>
                <a:spcPts val="1200"/>
              </a:spcAft>
            </a:pPr>
            <a:r>
              <a:rPr lang="en-US" sz="2200" dirty="0" smtClean="0">
                <a:latin typeface="Helvetica" pitchFamily="34" charset="0"/>
              </a:rPr>
              <a:t>Recommendations for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descr="35014.JPG"/>
          <p:cNvPicPr>
            <a:picLocks noChangeAspect="1"/>
          </p:cNvPicPr>
          <p:nvPr/>
        </p:nvPicPr>
        <p:blipFill>
          <a:blip r:embed="rId3" cstate="print"/>
          <a:stretch>
            <a:fillRect/>
          </a:stretch>
        </p:blipFill>
        <p:spPr>
          <a:xfrm>
            <a:off x="6084168" y="3645024"/>
            <a:ext cx="2247904" cy="1313066"/>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lnSpcReduction="10000"/>
          </a:bodyPr>
          <a:lstStyle/>
          <a:p>
            <a:pPr marL="0" indent="0">
              <a:spcBef>
                <a:spcPts val="600"/>
              </a:spcBef>
              <a:spcAft>
                <a:spcPts val="1200"/>
              </a:spcAft>
              <a:buNone/>
            </a:pPr>
            <a:r>
              <a:rPr lang="en-US" sz="2200" dirty="0" smtClean="0">
                <a:latin typeface="Helvetica" pitchFamily="34" charset="0"/>
              </a:rPr>
              <a:t>When carrying valuable items:</a:t>
            </a:r>
          </a:p>
          <a:p>
            <a:pPr marL="360000" indent="-360000">
              <a:spcBef>
                <a:spcPts val="600"/>
              </a:spcBef>
              <a:spcAft>
                <a:spcPts val="1200"/>
              </a:spcAft>
            </a:pPr>
            <a:r>
              <a:rPr lang="en-AU" sz="2200" dirty="0" smtClean="0">
                <a:latin typeface="Helvetica" pitchFamily="34" charset="0"/>
              </a:rPr>
              <a:t>Plan the job whenever possible</a:t>
            </a:r>
          </a:p>
          <a:p>
            <a:pPr marL="360000" indent="-360000">
              <a:spcBef>
                <a:spcPts val="600"/>
              </a:spcBef>
              <a:spcAft>
                <a:spcPts val="1200"/>
              </a:spcAft>
            </a:pPr>
            <a:r>
              <a:rPr lang="en-AU" sz="2200" dirty="0" smtClean="0">
                <a:latin typeface="Helvetica" pitchFamily="34" charset="0"/>
              </a:rPr>
              <a:t>Talk to relevant others to obtain pertinent information</a:t>
            </a:r>
          </a:p>
          <a:p>
            <a:pPr marL="360000" indent="-360000">
              <a:spcBef>
                <a:spcPts val="600"/>
              </a:spcBef>
              <a:spcAft>
                <a:spcPts val="1200"/>
              </a:spcAft>
            </a:pPr>
            <a:r>
              <a:rPr lang="en-AU" sz="2200" dirty="0" smtClean="0">
                <a:latin typeface="Helvetica" pitchFamily="34" charset="0"/>
              </a:rPr>
              <a:t>Determine house polices regarding the need to identify/sight items to be carried to prove their legitimacy</a:t>
            </a:r>
          </a:p>
          <a:p>
            <a:pPr marL="360000" indent="-360000">
              <a:spcBef>
                <a:spcPts val="600"/>
              </a:spcBef>
              <a:spcAft>
                <a:spcPts val="1200"/>
              </a:spcAft>
            </a:pPr>
            <a:r>
              <a:rPr lang="en-AU" sz="2200" dirty="0" smtClean="0">
                <a:latin typeface="Helvetica" pitchFamily="34" charset="0"/>
              </a:rPr>
              <a:t>Assess potential threats</a:t>
            </a:r>
          </a:p>
          <a:p>
            <a:pPr marL="360000" indent="-360000">
              <a:spcBef>
                <a:spcPts val="600"/>
              </a:spcBef>
              <a:spcAft>
                <a:spcPts val="1200"/>
              </a:spcAft>
            </a:pPr>
            <a:r>
              <a:rPr lang="en-AU" sz="2200" dirty="0" smtClean="0">
                <a:latin typeface="Helvetica" pitchFamily="34" charset="0"/>
              </a:rPr>
              <a:t>Never be afraid to seek assistance for the </a:t>
            </a:r>
            <a:br>
              <a:rPr lang="en-AU" sz="2200" dirty="0" smtClean="0">
                <a:latin typeface="Helvetica" pitchFamily="34" charset="0"/>
              </a:rPr>
            </a:br>
            <a:r>
              <a:rPr lang="en-AU" sz="2200" dirty="0" smtClean="0">
                <a:latin typeface="Helvetica" pitchFamily="34" charset="0"/>
              </a:rPr>
              <a:t>planning phase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AU" sz="2200" dirty="0" smtClean="0">
                <a:latin typeface="Helvetica" pitchFamily="34" charset="0"/>
              </a:rPr>
              <a:t>Never be reluctant or slow in calling for back-up in the event of a threat or attack</a:t>
            </a:r>
          </a:p>
          <a:p>
            <a:pPr marL="360000" indent="-360000">
              <a:spcBef>
                <a:spcPts val="600"/>
              </a:spcBef>
              <a:spcAft>
                <a:spcPts val="1200"/>
              </a:spcAft>
            </a:pPr>
            <a:r>
              <a:rPr lang="en-AU" sz="2200" dirty="0" smtClean="0">
                <a:latin typeface="Helvetica" pitchFamily="34" charset="0"/>
              </a:rPr>
              <a:t>Use human and physical resources appropriate to the assignment</a:t>
            </a:r>
          </a:p>
          <a:p>
            <a:pPr marL="360000" indent="-360000">
              <a:spcBef>
                <a:spcPts val="600"/>
              </a:spcBef>
              <a:spcAft>
                <a:spcPts val="1200"/>
              </a:spcAft>
            </a:pPr>
            <a:r>
              <a:rPr lang="en-AU" sz="2200" dirty="0" smtClean="0">
                <a:latin typeface="Helvetica" pitchFamily="34" charset="0"/>
              </a:rPr>
              <a:t>Strive to go un-noticed</a:t>
            </a:r>
          </a:p>
          <a:p>
            <a:pPr marL="360000" indent="-360000">
              <a:spcBef>
                <a:spcPts val="600"/>
              </a:spcBef>
              <a:spcAft>
                <a:spcPts val="1200"/>
              </a:spcAft>
            </a:pPr>
            <a:r>
              <a:rPr lang="en-AU" sz="2200" dirty="0" smtClean="0">
                <a:latin typeface="Helvetica" pitchFamily="34" charset="0"/>
              </a:rPr>
              <a:t>Use the shortest, direct route whenever viable</a:t>
            </a:r>
          </a:p>
          <a:p>
            <a:pPr marL="360000" indent="-360000">
              <a:spcBef>
                <a:spcPts val="600"/>
              </a:spcBef>
              <a:spcAft>
                <a:spcPts val="1200"/>
              </a:spcAft>
            </a:pPr>
            <a:r>
              <a:rPr lang="en-AU" sz="2200" dirty="0" smtClean="0">
                <a:latin typeface="Helvetica" pitchFamily="34" charset="0"/>
              </a:rPr>
              <a:t>Aim for speed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AU" sz="2200" dirty="0" smtClean="0">
                <a:latin typeface="Helvetica" pitchFamily="34" charset="0"/>
              </a:rPr>
              <a:t>Make sure you know house protocols regarding carriage of items</a:t>
            </a:r>
          </a:p>
          <a:p>
            <a:pPr marL="360000" indent="-360000">
              <a:spcBef>
                <a:spcPts val="600"/>
              </a:spcBef>
              <a:spcAft>
                <a:spcPts val="1200"/>
              </a:spcAft>
            </a:pPr>
            <a:r>
              <a:rPr lang="en-AU" sz="2200" dirty="0" smtClean="0">
                <a:latin typeface="Helvetica" pitchFamily="34" charset="0"/>
              </a:rPr>
              <a:t>Never put yourself or anyone else at risk</a:t>
            </a:r>
          </a:p>
          <a:p>
            <a:pPr marL="360000" indent="-360000">
              <a:spcBef>
                <a:spcPts val="600"/>
              </a:spcBef>
              <a:spcAft>
                <a:spcPts val="1200"/>
              </a:spcAft>
            </a:pPr>
            <a:r>
              <a:rPr lang="en-AU" sz="2200" dirty="0" smtClean="0">
                <a:latin typeface="Helvetica" pitchFamily="34" charset="0"/>
              </a:rPr>
              <a:t>Remember the safety of people takes priority over the security of items</a:t>
            </a:r>
          </a:p>
          <a:p>
            <a:pPr marL="360000" indent="-360000">
              <a:spcBef>
                <a:spcPts val="600"/>
              </a:spcBef>
              <a:spcAft>
                <a:spcPts val="1200"/>
              </a:spcAft>
            </a:pPr>
            <a:r>
              <a:rPr lang="en-AU" sz="2200" dirty="0" smtClean="0">
                <a:latin typeface="Helvetica" pitchFamily="34" charset="0"/>
              </a:rPr>
              <a:t>Follow established protocols when responding </a:t>
            </a:r>
            <a:br>
              <a:rPr lang="en-AU" sz="2200" dirty="0" smtClean="0">
                <a:latin typeface="Helvetica" pitchFamily="34" charset="0"/>
              </a:rPr>
            </a:br>
            <a:r>
              <a:rPr lang="en-AU" sz="2200" dirty="0" smtClean="0">
                <a:latin typeface="Helvetica" pitchFamily="34" charset="0"/>
              </a:rPr>
              <a:t>to a threat or attack</a:t>
            </a:r>
          </a:p>
          <a:p>
            <a:r>
              <a:rPr lang="en-AU" sz="2200" dirty="0" smtClean="0">
                <a:latin typeface="Helvetica" pitchFamily="34" charset="0"/>
              </a:rPr>
              <a:t>Complete all required paperwork</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Store valuable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the storage option required</a:t>
            </a:r>
          </a:p>
          <a:p>
            <a:pPr marL="360000" indent="-360000">
              <a:spcBef>
                <a:spcPts val="600"/>
              </a:spcBef>
              <a:spcAft>
                <a:spcPts val="1200"/>
              </a:spcAft>
            </a:pPr>
            <a:r>
              <a:rPr lang="en-US" sz="2200" dirty="0" smtClean="0">
                <a:latin typeface="Helvetica" pitchFamily="34" charset="0"/>
              </a:rPr>
              <a:t>Place items into storage</a:t>
            </a:r>
          </a:p>
          <a:p>
            <a:pPr marL="360000" indent="-360000">
              <a:spcBef>
                <a:spcPts val="600"/>
              </a:spcBef>
              <a:spcAft>
                <a:spcPts val="1200"/>
              </a:spcAft>
            </a:pPr>
            <a:r>
              <a:rPr lang="en-US" sz="2200" dirty="0" smtClean="0">
                <a:latin typeface="Helvetica" pitchFamily="34" charset="0"/>
              </a:rPr>
              <a:t>Complete necessary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MC900045090.WMF"/>
          <p:cNvPicPr>
            <a:picLocks noChangeAspect="1"/>
          </p:cNvPicPr>
          <p:nvPr/>
        </p:nvPicPr>
        <p:blipFill>
          <a:blip r:embed="rId3" cstate="print"/>
          <a:stretch>
            <a:fillRect/>
          </a:stretch>
        </p:blipFill>
        <p:spPr>
          <a:xfrm>
            <a:off x="7236296" y="3212976"/>
            <a:ext cx="1013155" cy="1807769"/>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the storage option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Storage options include:</a:t>
            </a:r>
          </a:p>
          <a:p>
            <a:pPr marL="360000" indent="-360000">
              <a:spcBef>
                <a:spcPts val="600"/>
              </a:spcBef>
              <a:spcAft>
                <a:spcPts val="1200"/>
              </a:spcAft>
            </a:pPr>
            <a:r>
              <a:rPr lang="en-US" sz="2200" dirty="0" smtClean="0">
                <a:latin typeface="Helvetica" pitchFamily="34" charset="0"/>
              </a:rPr>
              <a:t>In-room safes</a:t>
            </a:r>
          </a:p>
          <a:p>
            <a:pPr marL="360000" indent="-360000">
              <a:spcBef>
                <a:spcPts val="600"/>
              </a:spcBef>
              <a:spcAft>
                <a:spcPts val="1200"/>
              </a:spcAft>
            </a:pPr>
            <a:r>
              <a:rPr lang="en-US" sz="2200" dirty="0" smtClean="0">
                <a:latin typeface="Helvetica" pitchFamily="34" charset="0"/>
              </a:rPr>
              <a:t>TDR safes</a:t>
            </a:r>
          </a:p>
          <a:p>
            <a:pPr marL="360000" indent="-360000">
              <a:spcBef>
                <a:spcPts val="600"/>
              </a:spcBef>
              <a:spcAft>
                <a:spcPts val="1200"/>
              </a:spcAft>
            </a:pPr>
            <a:r>
              <a:rPr lang="en-US" sz="2200" dirty="0" smtClean="0">
                <a:latin typeface="Helvetica" pitchFamily="34" charset="0"/>
              </a:rPr>
              <a:t>In-floor safes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descr="MP900178041(1).JPG"/>
          <p:cNvPicPr>
            <a:picLocks noChangeAspect="1"/>
          </p:cNvPicPr>
          <p:nvPr/>
        </p:nvPicPr>
        <p:blipFill>
          <a:blip r:embed="rId3" cstate="print"/>
          <a:stretch>
            <a:fillRect/>
          </a:stretch>
        </p:blipFill>
        <p:spPr>
          <a:xfrm>
            <a:off x="5940152" y="3645024"/>
            <a:ext cx="2469468" cy="1646312"/>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the storage option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Time-delay safes</a:t>
            </a:r>
          </a:p>
          <a:p>
            <a:pPr marL="360000" indent="-360000">
              <a:spcBef>
                <a:spcPts val="600"/>
              </a:spcBef>
              <a:spcAft>
                <a:spcPts val="1200"/>
              </a:spcAft>
            </a:pPr>
            <a:r>
              <a:rPr lang="en-US" sz="2200" dirty="0" smtClean="0">
                <a:latin typeface="Helvetica" pitchFamily="34" charset="0"/>
              </a:rPr>
              <a:t>Time-lock safes</a:t>
            </a:r>
          </a:p>
          <a:p>
            <a:pPr marL="360000" indent="-360000">
              <a:spcBef>
                <a:spcPts val="600"/>
              </a:spcBef>
              <a:spcAft>
                <a:spcPts val="1200"/>
              </a:spcAft>
            </a:pPr>
            <a:r>
              <a:rPr lang="en-US" sz="2200" dirty="0" smtClean="0">
                <a:latin typeface="Helvetica" pitchFamily="34" charset="0"/>
              </a:rPr>
              <a:t>Vaults</a:t>
            </a:r>
          </a:p>
          <a:p>
            <a:pPr marL="360000" indent="-360000">
              <a:spcBef>
                <a:spcPts val="600"/>
              </a:spcBef>
              <a:spcAft>
                <a:spcPts val="1200"/>
              </a:spcAft>
            </a:pPr>
            <a:r>
              <a:rPr lang="en-US" sz="2200" dirty="0" smtClean="0">
                <a:latin typeface="Helvetica" pitchFamily="34" charset="0"/>
              </a:rPr>
              <a:t>Off-site storage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descr="MP900448718(1).JPG"/>
          <p:cNvPicPr>
            <a:picLocks noChangeAspect="1"/>
          </p:cNvPicPr>
          <p:nvPr/>
        </p:nvPicPr>
        <p:blipFill>
          <a:blip r:embed="rId3" cstate="print"/>
          <a:stretch>
            <a:fillRect/>
          </a:stretch>
        </p:blipFill>
        <p:spPr>
          <a:xfrm>
            <a:off x="6084168" y="3429000"/>
            <a:ext cx="2340235" cy="1772816"/>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Place items into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Storage protocols:</a:t>
            </a:r>
          </a:p>
          <a:p>
            <a:pPr marL="360000" indent="-360000">
              <a:spcBef>
                <a:spcPts val="600"/>
              </a:spcBef>
              <a:spcAft>
                <a:spcPts val="1200"/>
              </a:spcAft>
            </a:pPr>
            <a:r>
              <a:rPr lang="en-US" sz="2200" dirty="0" smtClean="0">
                <a:latin typeface="Helvetica" pitchFamily="34" charset="0"/>
              </a:rPr>
              <a:t>Sight the item</a:t>
            </a:r>
          </a:p>
          <a:p>
            <a:pPr marL="360000" indent="-360000">
              <a:spcBef>
                <a:spcPts val="600"/>
              </a:spcBef>
              <a:spcAft>
                <a:spcPts val="1200"/>
              </a:spcAft>
            </a:pPr>
            <a:r>
              <a:rPr lang="en-US" sz="2200" dirty="0" smtClean="0">
                <a:latin typeface="Helvetica" pitchFamily="34" charset="0"/>
              </a:rPr>
              <a:t>Complete relevant documentation</a:t>
            </a:r>
          </a:p>
          <a:p>
            <a:pPr marL="360000" indent="-360000">
              <a:spcBef>
                <a:spcPts val="600"/>
              </a:spcBef>
              <a:spcAft>
                <a:spcPts val="1200"/>
              </a:spcAft>
            </a:pPr>
            <a:r>
              <a:rPr lang="en-US" sz="2200" dirty="0" smtClean="0">
                <a:latin typeface="Helvetica" pitchFamily="34" charset="0"/>
              </a:rPr>
              <a:t>Provide receipt to guest</a:t>
            </a:r>
          </a:p>
          <a:p>
            <a:pPr marL="360000" indent="-360000">
              <a:spcBef>
                <a:spcPts val="600"/>
              </a:spcBef>
              <a:spcAft>
                <a:spcPts val="1200"/>
              </a:spcAft>
            </a:pPr>
            <a:r>
              <a:rPr lang="en-US" sz="2200" dirty="0" smtClean="0">
                <a:latin typeface="Helvetica" pitchFamily="34" charset="0"/>
              </a:rPr>
              <a:t>Explain paperwork to guest</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descr="MP900422236.JPG"/>
          <p:cNvPicPr>
            <a:picLocks noChangeAspect="1"/>
          </p:cNvPicPr>
          <p:nvPr/>
        </p:nvPicPr>
        <p:blipFill>
          <a:blip r:embed="rId3" cstate="print"/>
          <a:srcRect l="18827" t="14145"/>
          <a:stretch>
            <a:fillRect/>
          </a:stretch>
        </p:blipFill>
        <p:spPr>
          <a:xfrm>
            <a:off x="6444208" y="3933056"/>
            <a:ext cx="1907704" cy="1344631"/>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Place items into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Provide additional relevant information</a:t>
            </a:r>
          </a:p>
          <a:p>
            <a:pPr marL="360000" indent="-360000">
              <a:spcBef>
                <a:spcPts val="600"/>
              </a:spcBef>
              <a:spcAft>
                <a:spcPts val="1200"/>
              </a:spcAft>
            </a:pPr>
            <a:r>
              <a:rPr lang="en-US" sz="2200" dirty="0" smtClean="0">
                <a:latin typeface="Helvetica" pitchFamily="34" charset="0"/>
              </a:rPr>
              <a:t>Take the item from the guest</a:t>
            </a:r>
          </a:p>
          <a:p>
            <a:pPr marL="360000" indent="-360000">
              <a:spcBef>
                <a:spcPts val="600"/>
              </a:spcBef>
              <a:spcAft>
                <a:spcPts val="1200"/>
              </a:spcAft>
            </a:pPr>
            <a:r>
              <a:rPr lang="en-US" sz="2200" dirty="0" smtClean="0">
                <a:latin typeface="Helvetica" pitchFamily="34" charset="0"/>
              </a:rPr>
              <a:t>Thank the guest</a:t>
            </a:r>
            <a:br>
              <a:rPr lang="en-US" sz="2200" dirty="0" smtClean="0">
                <a:latin typeface="Helvetica" pitchFamily="34" charset="0"/>
              </a:rPr>
            </a:br>
            <a:endParaRPr lang="en-US" sz="2200" dirty="0" smtClean="0">
              <a:latin typeface="Helvetica" pitchFamily="34" charset="0"/>
            </a:endParaRPr>
          </a:p>
          <a:p>
            <a:pPr marL="360000" indent="-360000" algn="ctr">
              <a:spcBef>
                <a:spcPts val="600"/>
              </a:spcBef>
              <a:spcAft>
                <a:spcPts val="1200"/>
              </a:spcAft>
              <a:buNone/>
            </a:pPr>
            <a:r>
              <a:rPr lang="en-US" sz="2200" i="1" dirty="0" smtClean="0">
                <a:latin typeface="Helvetica" pitchFamily="34" charset="0"/>
              </a:rPr>
              <a:t>Another staff member may be required to </a:t>
            </a:r>
            <a:br>
              <a:rPr lang="en-US" sz="2200" i="1" dirty="0" smtClean="0">
                <a:latin typeface="Helvetica" pitchFamily="34" charset="0"/>
              </a:rPr>
            </a:br>
            <a:r>
              <a:rPr lang="en-US" sz="2200" i="1" dirty="0" smtClean="0">
                <a:latin typeface="Helvetica" pitchFamily="34" charset="0"/>
              </a:rPr>
              <a:t>open and close safes.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descr="MC900105220.WMF"/>
          <p:cNvPicPr>
            <a:picLocks noChangeAspect="1"/>
          </p:cNvPicPr>
          <p:nvPr/>
        </p:nvPicPr>
        <p:blipFill>
          <a:blip r:embed="rId3" cstate="print"/>
          <a:stretch>
            <a:fillRect/>
          </a:stretch>
        </p:blipFill>
        <p:spPr>
          <a:xfrm>
            <a:off x="3635896" y="4365104"/>
            <a:ext cx="1815084" cy="1452067"/>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Place items into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providing advice on storage options:</a:t>
            </a:r>
          </a:p>
          <a:p>
            <a:pPr marL="360000" indent="-360000">
              <a:spcBef>
                <a:spcPts val="600"/>
              </a:spcBef>
              <a:spcAft>
                <a:spcPts val="1200"/>
              </a:spcAft>
            </a:pPr>
            <a:r>
              <a:rPr lang="en-US" sz="2200" dirty="0" smtClean="0">
                <a:latin typeface="Helvetica" pitchFamily="34" charset="0"/>
              </a:rPr>
              <a:t>Use necessary skills</a:t>
            </a:r>
          </a:p>
          <a:p>
            <a:pPr marL="360000" indent="-360000">
              <a:spcBef>
                <a:spcPts val="600"/>
              </a:spcBef>
              <a:spcAft>
                <a:spcPts val="1200"/>
              </a:spcAft>
            </a:pPr>
            <a:r>
              <a:rPr lang="en-US" sz="2200" dirty="0" smtClean="0">
                <a:latin typeface="Helvetica" pitchFamily="34" charset="0"/>
              </a:rPr>
              <a:t>Allow guest to inspect facilities if authorized</a:t>
            </a:r>
          </a:p>
          <a:p>
            <a:pPr marL="360000" indent="-360000">
              <a:spcBef>
                <a:spcPts val="600"/>
              </a:spcBef>
              <a:spcAft>
                <a:spcPts val="1200"/>
              </a:spcAft>
            </a:pPr>
            <a:r>
              <a:rPr lang="en-US" sz="2200" dirty="0" smtClean="0">
                <a:latin typeface="Helvetica" pitchFamily="34" charset="0"/>
              </a:rPr>
              <a:t>Take time</a:t>
            </a:r>
          </a:p>
          <a:p>
            <a:pPr marL="360000" indent="-360000">
              <a:spcBef>
                <a:spcPts val="600"/>
              </a:spcBef>
              <a:spcAft>
                <a:spcPts val="1200"/>
              </a:spcAft>
            </a:pPr>
            <a:r>
              <a:rPr lang="en-US" sz="2200" dirty="0" smtClean="0">
                <a:latin typeface="Helvetica" pitchFamily="34" charset="0"/>
              </a:rPr>
              <a:t>Provide information/data</a:t>
            </a:r>
          </a:p>
          <a:p>
            <a:pPr marL="360000" indent="-360000">
              <a:spcBef>
                <a:spcPts val="600"/>
              </a:spcBef>
              <a:spcAft>
                <a:spcPts val="1200"/>
              </a:spcAft>
            </a:pPr>
            <a:r>
              <a:rPr lang="en-US" sz="2200" dirty="0" smtClean="0">
                <a:latin typeface="Helvetica" pitchFamily="34" charset="0"/>
              </a:rPr>
              <a:t>Sell the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descr="freeimage-6895773.jpg"/>
          <p:cNvPicPr>
            <a:picLocks noChangeAspect="1"/>
          </p:cNvPicPr>
          <p:nvPr/>
        </p:nvPicPr>
        <p:blipFill>
          <a:blip r:embed="rId3" cstate="print"/>
          <a:stretch>
            <a:fillRect/>
          </a:stretch>
        </p:blipFill>
        <p:spPr>
          <a:xfrm>
            <a:off x="6972662" y="3140968"/>
            <a:ext cx="1406951" cy="2101741"/>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Place items into storage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If you have to decline an item for storage:</a:t>
            </a:r>
          </a:p>
          <a:p>
            <a:pPr marL="360000" indent="-360000">
              <a:spcBef>
                <a:spcPts val="600"/>
              </a:spcBef>
              <a:spcAft>
                <a:spcPts val="1200"/>
              </a:spcAft>
            </a:pPr>
            <a:r>
              <a:rPr lang="en-US" sz="2200" dirty="0" smtClean="0">
                <a:latin typeface="Helvetica" pitchFamily="34" charset="0"/>
              </a:rPr>
              <a:t>Apologize</a:t>
            </a:r>
          </a:p>
          <a:p>
            <a:pPr marL="360000" indent="-360000">
              <a:spcBef>
                <a:spcPts val="600"/>
              </a:spcBef>
              <a:spcAft>
                <a:spcPts val="1200"/>
              </a:spcAft>
            </a:pPr>
            <a:r>
              <a:rPr lang="en-US" sz="2200" dirty="0" smtClean="0">
                <a:latin typeface="Helvetica" pitchFamily="34" charset="0"/>
              </a:rPr>
              <a:t>Explain the reason</a:t>
            </a:r>
          </a:p>
          <a:p>
            <a:pPr marL="360000" indent="-360000">
              <a:spcBef>
                <a:spcPts val="600"/>
              </a:spcBef>
              <a:spcAft>
                <a:spcPts val="1200"/>
              </a:spcAft>
            </a:pPr>
            <a:r>
              <a:rPr lang="en-US" sz="2200" dirty="0" smtClean="0">
                <a:latin typeface="Helvetica" pitchFamily="34" charset="0"/>
              </a:rPr>
              <a:t>Suggest alternative</a:t>
            </a:r>
          </a:p>
          <a:p>
            <a:pPr marL="360000" indent="-360000">
              <a:spcBef>
                <a:spcPts val="600"/>
              </a:spcBef>
              <a:spcAft>
                <a:spcPts val="1200"/>
              </a:spcAft>
            </a:pPr>
            <a:r>
              <a:rPr lang="en-US" sz="2200" dirty="0" smtClean="0">
                <a:latin typeface="Helvetica" pitchFamily="34" charset="0"/>
              </a:rPr>
              <a:t>May be required to:</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Compete record of the event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Notify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descr="MP900422115.JPG"/>
          <p:cNvPicPr>
            <a:picLocks noChangeAspect="1"/>
          </p:cNvPicPr>
          <p:nvPr/>
        </p:nvPicPr>
        <p:blipFill>
          <a:blip r:embed="rId3" cstate="print"/>
          <a:stretch>
            <a:fillRect/>
          </a:stretch>
        </p:blipFill>
        <p:spPr>
          <a:xfrm>
            <a:off x="6012160" y="3645024"/>
            <a:ext cx="2439228" cy="1592816"/>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71651842.jpg"/>
          <p:cNvPicPr>
            <a:picLocks noChangeAspect="1"/>
          </p:cNvPicPr>
          <p:nvPr/>
        </p:nvPicPr>
        <p:blipFill>
          <a:blip r:embed="rId3" cstate="print"/>
          <a:stretch>
            <a:fillRect/>
          </a:stretch>
        </p:blipFill>
        <p:spPr>
          <a:xfrm>
            <a:off x="6228184" y="3140968"/>
            <a:ext cx="1967880" cy="1967880"/>
          </a:xfrm>
          <a:prstGeom prst="rect">
            <a:avLst/>
          </a:prstGeom>
        </p:spPr>
      </p:pic>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Requirements relating to completion of documents:</a:t>
            </a:r>
          </a:p>
          <a:p>
            <a:pPr marL="360000" indent="-360000">
              <a:spcBef>
                <a:spcPts val="600"/>
              </a:spcBef>
              <a:spcAft>
                <a:spcPts val="1200"/>
              </a:spcAft>
            </a:pPr>
            <a:r>
              <a:rPr lang="en-US" sz="2200" dirty="0" smtClean="0">
                <a:latin typeface="Helvetica" pitchFamily="34" charset="0"/>
              </a:rPr>
              <a:t>No items to be stored unless appropriate document is completed</a:t>
            </a:r>
          </a:p>
          <a:p>
            <a:pPr marL="360000" indent="-360000">
              <a:spcBef>
                <a:spcPts val="600"/>
              </a:spcBef>
              <a:spcAft>
                <a:spcPts val="1200"/>
              </a:spcAft>
            </a:pPr>
            <a:r>
              <a:rPr lang="en-US" sz="2200" dirty="0" smtClean="0">
                <a:latin typeface="Helvetica" pitchFamily="34" charset="0"/>
              </a:rPr>
              <a:t>Describe the item/s in required detail</a:t>
            </a:r>
          </a:p>
          <a:p>
            <a:pPr marL="360000" indent="-360000">
              <a:spcBef>
                <a:spcPts val="600"/>
              </a:spcBef>
              <a:spcAft>
                <a:spcPts val="1200"/>
              </a:spcAft>
            </a:pPr>
            <a:r>
              <a:rPr lang="en-US" sz="2200" dirty="0" smtClean="0">
                <a:latin typeface="Helvetica" pitchFamily="34" charset="0"/>
              </a:rPr>
              <a:t>Capture name, room number and signature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92088"/>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completing documents:</a:t>
            </a:r>
          </a:p>
          <a:p>
            <a:pPr marL="360000" indent="-360000">
              <a:spcBef>
                <a:spcPts val="600"/>
              </a:spcBef>
              <a:spcAft>
                <a:spcPts val="1200"/>
              </a:spcAft>
            </a:pPr>
            <a:r>
              <a:rPr lang="en-US" sz="2200" dirty="0" smtClean="0">
                <a:latin typeface="Helvetica" pitchFamily="34" charset="0"/>
              </a:rPr>
              <a:t>Do it at the time</a:t>
            </a:r>
          </a:p>
          <a:p>
            <a:pPr marL="360000" indent="-360000">
              <a:spcBef>
                <a:spcPts val="600"/>
              </a:spcBef>
              <a:spcAft>
                <a:spcPts val="1200"/>
              </a:spcAft>
            </a:pPr>
            <a:r>
              <a:rPr lang="en-US" sz="2200" dirty="0" smtClean="0">
                <a:latin typeface="Helvetica" pitchFamily="34" charset="0"/>
              </a:rPr>
              <a:t>Fill in all parts of the documents</a:t>
            </a:r>
          </a:p>
          <a:p>
            <a:pPr marL="360000" indent="-360000">
              <a:spcBef>
                <a:spcPts val="600"/>
              </a:spcBef>
              <a:spcAft>
                <a:spcPts val="1200"/>
              </a:spcAft>
            </a:pPr>
            <a:r>
              <a:rPr lang="en-US" sz="2200" dirty="0" smtClean="0">
                <a:latin typeface="Helvetica" pitchFamily="34" charset="0"/>
              </a:rPr>
              <a:t>Complete documents: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Honestly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Accurately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Comprehensively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descr="MP900405072.JPG"/>
          <p:cNvPicPr>
            <a:picLocks noChangeAspect="1"/>
          </p:cNvPicPr>
          <p:nvPr/>
        </p:nvPicPr>
        <p:blipFill>
          <a:blip r:embed="rId3" cstate="print"/>
          <a:stretch>
            <a:fillRect/>
          </a:stretch>
        </p:blipFill>
        <p:spPr>
          <a:xfrm>
            <a:off x="6156176" y="2924944"/>
            <a:ext cx="2069976" cy="2069976"/>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720080"/>
          </a:xfrm>
        </p:spPr>
        <p:txBody>
          <a:bodyPr>
            <a:normAutofit/>
          </a:bodyPr>
          <a:lstStyle/>
          <a:p>
            <a:r>
              <a:rPr lang="en-US" sz="3400" b="1" dirty="0" smtClean="0">
                <a:solidFill>
                  <a:srgbClr val="FF6600"/>
                </a:solidFill>
                <a:latin typeface="Helvetica" pitchFamily="34" charset="0"/>
              </a:rPr>
              <a:t>Complete necessary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Forward documents as required</a:t>
            </a:r>
          </a:p>
          <a:p>
            <a:pPr marL="360000" indent="-360000">
              <a:spcBef>
                <a:spcPts val="600"/>
              </a:spcBef>
              <a:spcAft>
                <a:spcPts val="1200"/>
              </a:spcAft>
            </a:pPr>
            <a:r>
              <a:rPr lang="en-US" sz="2200" dirty="0" smtClean="0">
                <a:latin typeface="Helvetica" pitchFamily="34" charset="0"/>
              </a:rPr>
              <a:t>Complete documents in accordance with training provided</a:t>
            </a:r>
          </a:p>
          <a:p>
            <a:pPr marL="360000" indent="-360000">
              <a:spcBef>
                <a:spcPts val="600"/>
              </a:spcBef>
              <a:spcAft>
                <a:spcPts val="1200"/>
              </a:spcAft>
            </a:pPr>
            <a:r>
              <a:rPr lang="en-US" sz="2200" dirty="0" smtClean="0">
                <a:latin typeface="Helvetica" pitchFamily="34" charset="0"/>
              </a:rPr>
              <a:t>Keep a copy</a:t>
            </a:r>
          </a:p>
          <a:p>
            <a:pPr marL="360000" indent="-360000">
              <a:spcBef>
                <a:spcPts val="600"/>
              </a:spcBef>
              <a:spcAft>
                <a:spcPts val="1200"/>
              </a:spcAft>
            </a:pPr>
            <a:r>
              <a:rPr lang="en-US" sz="2200" dirty="0" smtClean="0">
                <a:latin typeface="Helvetica" pitchFamily="34" charset="0"/>
              </a:rPr>
              <a:t>Be prepared to ask for advice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descr="freeimage-2365953.jpg"/>
          <p:cNvPicPr>
            <a:picLocks noChangeAspect="1"/>
          </p:cNvPicPr>
          <p:nvPr/>
        </p:nvPicPr>
        <p:blipFill>
          <a:blip r:embed="rId3" cstate="print"/>
          <a:stretch>
            <a:fillRect/>
          </a:stretch>
        </p:blipFill>
        <p:spPr>
          <a:xfrm>
            <a:off x="6156176" y="3789040"/>
            <a:ext cx="2282753" cy="1521835"/>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lnSpcReduction="10000"/>
          </a:bodyPr>
          <a:lstStyle/>
          <a:p>
            <a:pPr marL="0" indent="0">
              <a:spcBef>
                <a:spcPts val="600"/>
              </a:spcBef>
              <a:spcAft>
                <a:spcPts val="1200"/>
              </a:spcAft>
              <a:buNone/>
            </a:pPr>
            <a:r>
              <a:rPr lang="en-US" sz="2200" dirty="0" smtClean="0">
                <a:latin typeface="Helvetica" pitchFamily="34" charset="0"/>
              </a:rPr>
              <a:t>When storing valuable items:</a:t>
            </a:r>
          </a:p>
          <a:p>
            <a:pPr marL="360000" indent="-360000">
              <a:spcBef>
                <a:spcPts val="600"/>
              </a:spcBef>
              <a:spcAft>
                <a:spcPts val="1200"/>
              </a:spcAft>
            </a:pPr>
            <a:r>
              <a:rPr lang="en-AU" sz="2200" dirty="0" smtClean="0">
                <a:latin typeface="Helvetica" pitchFamily="34" charset="0"/>
              </a:rPr>
              <a:t>Learn the storage options available for guests</a:t>
            </a:r>
          </a:p>
          <a:p>
            <a:pPr marL="360000" indent="-360000">
              <a:spcBef>
                <a:spcPts val="600"/>
              </a:spcBef>
              <a:spcAft>
                <a:spcPts val="1200"/>
              </a:spcAft>
            </a:pPr>
            <a:r>
              <a:rPr lang="en-AU" sz="2200" dirty="0" smtClean="0">
                <a:latin typeface="Helvetica" pitchFamily="34" charset="0"/>
              </a:rPr>
              <a:t>Be able to differentiate between alternatives</a:t>
            </a:r>
          </a:p>
          <a:p>
            <a:pPr marL="360000" indent="-360000">
              <a:spcBef>
                <a:spcPts val="600"/>
              </a:spcBef>
              <a:spcAft>
                <a:spcPts val="1200"/>
              </a:spcAft>
            </a:pPr>
            <a:r>
              <a:rPr lang="en-AU" sz="2200" dirty="0" smtClean="0">
                <a:latin typeface="Helvetica" pitchFamily="34" charset="0"/>
              </a:rPr>
              <a:t>Learn the charges involved and when/if they apply</a:t>
            </a:r>
          </a:p>
          <a:p>
            <a:pPr marL="360000" indent="-360000">
              <a:spcBef>
                <a:spcPts val="600"/>
              </a:spcBef>
              <a:spcAft>
                <a:spcPts val="1200"/>
              </a:spcAft>
            </a:pPr>
            <a:r>
              <a:rPr lang="en-AU" sz="2200" dirty="0" smtClean="0">
                <a:latin typeface="Helvetica" pitchFamily="34" charset="0"/>
              </a:rPr>
              <a:t>Take the time to explain options to guests</a:t>
            </a:r>
          </a:p>
          <a:p>
            <a:pPr marL="360000" indent="-360000">
              <a:spcBef>
                <a:spcPts val="600"/>
              </a:spcBef>
              <a:spcAft>
                <a:spcPts val="1200"/>
              </a:spcAft>
            </a:pPr>
            <a:r>
              <a:rPr lang="en-AU" sz="2200" dirty="0" smtClean="0">
                <a:latin typeface="Helvetica" pitchFamily="34" charset="0"/>
              </a:rPr>
              <a:t>Use appropriate communication, interpersonal </a:t>
            </a:r>
            <a:br>
              <a:rPr lang="en-AU" sz="2200" dirty="0" smtClean="0">
                <a:latin typeface="Helvetica" pitchFamily="34" charset="0"/>
              </a:rPr>
            </a:br>
            <a:r>
              <a:rPr lang="en-AU" sz="2200" dirty="0" smtClean="0">
                <a:latin typeface="Helvetica" pitchFamily="34" charset="0"/>
              </a:rPr>
              <a:t>and customer relations skills</a:t>
            </a:r>
          </a:p>
          <a:p>
            <a:pPr marL="360000" indent="-360000">
              <a:spcBef>
                <a:spcPts val="600"/>
              </a:spcBef>
              <a:spcAft>
                <a:spcPts val="1200"/>
              </a:spcAft>
            </a:pPr>
            <a:r>
              <a:rPr lang="en-AU" sz="2200" dirty="0" smtClean="0">
                <a:latin typeface="Helvetica" pitchFamily="34" charset="0"/>
              </a:rPr>
              <a:t>Ensure the legitimacy of items accepted for </a:t>
            </a:r>
            <a:br>
              <a:rPr lang="en-AU" sz="2200" dirty="0" smtClean="0">
                <a:latin typeface="Helvetica" pitchFamily="34" charset="0"/>
              </a:rPr>
            </a:br>
            <a:r>
              <a:rPr lang="en-AU" sz="2200" dirty="0" smtClean="0">
                <a:latin typeface="Helvetica" pitchFamily="34" charset="0"/>
              </a:rPr>
              <a:t>safe-keeping</a:t>
            </a:r>
            <a:endParaRPr lang="en-US" sz="2200" dirty="0" smtClean="0">
              <a:latin typeface="Helvetica" pitchFamily="34" charset="0"/>
            </a:endParaRP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marL="360000" indent="-360000">
              <a:spcBef>
                <a:spcPts val="600"/>
              </a:spcBef>
              <a:spcAft>
                <a:spcPts val="1200"/>
              </a:spcAft>
            </a:pPr>
            <a:r>
              <a:rPr lang="en-AU" sz="2200" dirty="0" smtClean="0">
                <a:latin typeface="Helvetica" pitchFamily="34" charset="0"/>
              </a:rPr>
              <a:t>Record required details of all items accepted for safe-keeping</a:t>
            </a:r>
          </a:p>
          <a:p>
            <a:pPr marL="360000" indent="-360000">
              <a:spcBef>
                <a:spcPts val="600"/>
              </a:spcBef>
              <a:spcAft>
                <a:spcPts val="1200"/>
              </a:spcAft>
            </a:pPr>
            <a:r>
              <a:rPr lang="en-AU" sz="2200" dirty="0" smtClean="0">
                <a:latin typeface="Helvetica" pitchFamily="34" charset="0"/>
              </a:rPr>
              <a:t>Follow internal protocols regarding item placement and storage</a:t>
            </a:r>
          </a:p>
          <a:p>
            <a:pPr marL="360000" indent="-360000">
              <a:spcBef>
                <a:spcPts val="600"/>
              </a:spcBef>
              <a:spcAft>
                <a:spcPts val="1200"/>
              </a:spcAft>
            </a:pPr>
            <a:r>
              <a:rPr lang="en-AU" sz="2200" dirty="0" smtClean="0">
                <a:latin typeface="Helvetica" pitchFamily="34" charset="0"/>
              </a:rPr>
              <a:t>Explain all exclusion clauses and limitations on liability</a:t>
            </a:r>
          </a:p>
          <a:p>
            <a:pPr marL="360000" indent="-360000">
              <a:spcBef>
                <a:spcPts val="600"/>
              </a:spcBef>
              <a:spcAft>
                <a:spcPts val="1200"/>
              </a:spcAft>
            </a:pPr>
            <a:r>
              <a:rPr lang="en-AU" sz="2200" dirty="0" smtClean="0">
                <a:latin typeface="Helvetica" pitchFamily="34" charset="0"/>
              </a:rPr>
              <a:t>Obtain all necessary signatures</a:t>
            </a:r>
          </a:p>
          <a:p>
            <a:pPr marL="360000" indent="-360000">
              <a:spcBef>
                <a:spcPts val="600"/>
              </a:spcBef>
              <a:spcAft>
                <a:spcPts val="1200"/>
              </a:spcAft>
            </a:pPr>
            <a:r>
              <a:rPr lang="en-AU" sz="2200" dirty="0" smtClean="0">
                <a:latin typeface="Helvetica" pitchFamily="34" charset="0"/>
              </a:rPr>
              <a:t>Complete necessary paperwork</a:t>
            </a:r>
          </a:p>
          <a:p>
            <a:pPr marL="360000" indent="-360000">
              <a:spcBef>
                <a:spcPts val="600"/>
              </a:spcBef>
              <a:spcAft>
                <a:spcPts val="1200"/>
              </a:spcAft>
            </a:pPr>
            <a:r>
              <a:rPr lang="en-AU" sz="2200" dirty="0" smtClean="0">
                <a:latin typeface="Helvetica" pitchFamily="34" charset="0"/>
              </a:rPr>
              <a:t>Give guest original copy of documentation</a:t>
            </a:r>
          </a:p>
          <a:p>
            <a:pPr marL="360000" indent="-360000">
              <a:spcBef>
                <a:spcPts val="600"/>
              </a:spcBef>
              <a:spcAft>
                <a:spcPts val="1200"/>
              </a:spcAft>
            </a:pPr>
            <a:r>
              <a:rPr lang="en-AU" sz="2200" dirty="0" smtClean="0">
                <a:latin typeface="Helvetica" pitchFamily="34" charset="0"/>
              </a:rPr>
              <a:t>Ensure guests knows role and importance of </a:t>
            </a:r>
            <a:br>
              <a:rPr lang="en-AU" sz="2200" dirty="0" smtClean="0">
                <a:latin typeface="Helvetica" pitchFamily="34" charset="0"/>
              </a:rPr>
            </a:br>
            <a:r>
              <a:rPr lang="en-AU" sz="2200" dirty="0" smtClean="0">
                <a:latin typeface="Helvetica" pitchFamily="34" charset="0"/>
              </a:rPr>
              <a:t>relevant documentation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descr="MC900440428.WMF"/>
          <p:cNvPicPr>
            <a:picLocks noChangeAspect="1"/>
          </p:cNvPicPr>
          <p:nvPr/>
        </p:nvPicPr>
        <p:blipFill>
          <a:blip r:embed="rId3" cstate="print"/>
          <a:stretch>
            <a:fillRect/>
          </a:stretch>
        </p:blipFill>
        <p:spPr>
          <a:xfrm>
            <a:off x="6998519" y="3645024"/>
            <a:ext cx="1326429" cy="1396752"/>
          </a:xfrm>
          <a:prstGeom prst="rect">
            <a:avLst/>
          </a:prstGeom>
        </p:spPr>
      </p:pic>
    </p:spTree>
  </p:cSld>
  <p:clrMapOvr>
    <a:masterClrMapping/>
  </p:clrMapOvr>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themeOverride>
</file>

<file path=docProps/app.xml><?xml version="1.0" encoding="utf-8"?>
<Properties xmlns="http://schemas.openxmlformats.org/officeDocument/2006/extended-properties" xmlns:vt="http://schemas.openxmlformats.org/officeDocument/2006/docPropsVTypes">
  <Template/>
  <TotalTime>1806</TotalTime>
  <Words>22440</Words>
  <Application>Microsoft Office PowerPoint</Application>
  <PresentationFormat>On-screen Show (4:3)</PresentationFormat>
  <Paragraphs>2698</Paragraphs>
  <Slides>143</Slides>
  <Notes>143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143</vt:i4>
      </vt:variant>
    </vt:vector>
  </HeadingPairs>
  <TitlesOfParts>
    <vt:vector size="150" baseType="lpstr">
      <vt:lpstr>Arial</vt:lpstr>
      <vt:lpstr>Calibri</vt:lpstr>
      <vt:lpstr>Franklin Gothic Book</vt:lpstr>
      <vt:lpstr>Helvetica</vt:lpstr>
      <vt:lpstr>Wingdings</vt:lpstr>
      <vt:lpstr>Wingdings 2</vt:lpstr>
      <vt:lpstr>PPT_FO_template_250612</vt:lpstr>
      <vt:lpstr>ESCORT, CARRY AND STORE VALUABLE ITEMS</vt:lpstr>
      <vt:lpstr>Escort, carry and store valuable items</vt:lpstr>
      <vt:lpstr>Assessment</vt:lpstr>
      <vt:lpstr>Prepare to undertake escort and carry duties</vt:lpstr>
      <vt:lpstr>Prepare to undertake escort and carry duties</vt:lpstr>
      <vt:lpstr>Identify valuables requiring escort, carry and storage</vt:lpstr>
      <vt:lpstr>Identify valuables requiring escort, carry and storage</vt:lpstr>
      <vt:lpstr>Identify valuables requiring escort, carry and storage</vt:lpstr>
      <vt:lpstr>Identify valuables requiring escort, carry and storage</vt:lpstr>
      <vt:lpstr>Describe legal requirements applying to guest property</vt:lpstr>
      <vt:lpstr>Describe legal requirements applying to guest property</vt:lpstr>
      <vt:lpstr>Describe legal requirements applying to guest property</vt:lpstr>
      <vt:lpstr>Describe legal requirements applying to guest property</vt:lpstr>
      <vt:lpstr>Describe legal requirements applying to guest property</vt:lpstr>
      <vt:lpstr>Describe legal requirements applying to guest property</vt:lpstr>
      <vt:lpstr>Undertake relevant training</vt:lpstr>
      <vt:lpstr>Undertake relevant training</vt:lpstr>
      <vt:lpstr>Undertake relevant training</vt:lpstr>
      <vt:lpstr>Undertake relevant training</vt:lpstr>
      <vt:lpstr>Identify characteristics of security staff</vt:lpstr>
      <vt:lpstr>Identify characteristics of security staff</vt:lpstr>
      <vt:lpstr>Identify characteristics of security staff</vt:lpstr>
      <vt:lpstr>Identify characteristics of security staff</vt:lpstr>
      <vt:lpstr>Identify characteristics of security staff</vt:lpstr>
      <vt:lpstr>Identify characteristics of security staff</vt:lpstr>
      <vt:lpstr>Identify characteristics of security staff</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Prepare plans for regular escort and carry duties</vt:lpstr>
      <vt:lpstr>Identify establishment cash carry policies and procedures</vt:lpstr>
      <vt:lpstr>Identify establishment cash carry policies and procedures</vt:lpstr>
      <vt:lpstr>Identify establishment cash carry policies and procedures</vt:lpstr>
      <vt:lpstr>Identify establishment cash carry policies and procedures</vt:lpstr>
      <vt:lpstr>Identify establishment cash carry policies and procedures</vt:lpstr>
      <vt:lpstr>Identify establishment cash carry policies and procedures</vt:lpstr>
      <vt:lpstr>Identify potential threats</vt:lpstr>
      <vt:lpstr>Identify potential threats</vt:lpstr>
      <vt:lpstr>Identify potential threats</vt:lpstr>
      <vt:lpstr>Identify potential threats</vt:lpstr>
      <vt:lpstr>Identify potential threats</vt:lpstr>
      <vt:lpstr>Identify resources required when escorting and carrying</vt:lpstr>
      <vt:lpstr>Identify resources required when escorting and carrying</vt:lpstr>
      <vt:lpstr>Identify resources required when escorting and carrying</vt:lpstr>
      <vt:lpstr>Identify resources required when escorting and carrying</vt:lpstr>
      <vt:lpstr>Clarify escort and carry assignments</vt:lpstr>
      <vt:lpstr>Clarify escort and carry assignments</vt:lpstr>
      <vt:lpstr>Clarify escort and carry assignments</vt:lpstr>
      <vt:lpstr>Clarify escort and carry assignments</vt:lpstr>
      <vt:lpstr>Clarify escort and carry assignments</vt:lpstr>
      <vt:lpstr>Clarify escort and carry assignments</vt:lpstr>
      <vt:lpstr>Summary – Element 1</vt:lpstr>
      <vt:lpstr>Summary – Element 1</vt:lpstr>
      <vt:lpstr>Summary – Element 1</vt:lpstr>
      <vt:lpstr>Undertake escort duties</vt:lpstr>
      <vt:lpstr>Identify route to be taken</vt:lpstr>
      <vt:lpstr>Identify route to be taken</vt:lpstr>
      <vt:lpstr>Identify route to be taken</vt:lpstr>
      <vt:lpstr>Identify route to be taken</vt:lpstr>
      <vt:lpstr>Identify route to be taken</vt:lpstr>
      <vt:lpstr>Identify route to be taken</vt:lpstr>
      <vt:lpstr>Assess potential threats for the individual job</vt:lpstr>
      <vt:lpstr>Assess potential threats for the individual job</vt:lpstr>
      <vt:lpstr>Assess potential threats for the individual job</vt:lpstr>
      <vt:lpstr>Assess potential threats for the individual job</vt:lpstr>
      <vt:lpstr>Assess potential threats for the individual job</vt:lpstr>
      <vt:lpstr>Obtain assistance if required</vt:lpstr>
      <vt:lpstr>Obtain assistance if required</vt:lpstr>
      <vt:lpstr>Obtain assistance if required</vt:lpstr>
      <vt:lpstr>Obtain assistance if required</vt:lpstr>
      <vt:lpstr>Obtain assistance if required</vt:lpstr>
      <vt:lpstr>Obtain assistance if required</vt:lpstr>
      <vt:lpstr>Perform close escort duties</vt:lpstr>
      <vt:lpstr>Perform close escort duties</vt:lpstr>
      <vt:lpstr>Perform close escort duties</vt:lpstr>
      <vt:lpstr>Perform close escort duties</vt:lpstr>
      <vt:lpstr>Perform close escort duties</vt:lpstr>
      <vt:lpstr>Respond to threats</vt:lpstr>
      <vt:lpstr>Respond to threats</vt:lpstr>
      <vt:lpstr>Respond to threats</vt:lpstr>
      <vt:lpstr>Respond to threats</vt:lpstr>
      <vt:lpstr>Complete necessary documentation</vt:lpstr>
      <vt:lpstr>Complete necessary documentation</vt:lpstr>
      <vt:lpstr>Complete necessary documentation</vt:lpstr>
      <vt:lpstr>Complete necessary documentation</vt:lpstr>
      <vt:lpstr>Complete necessary documentation</vt:lpstr>
      <vt:lpstr>Complete necessary documentation</vt:lpstr>
      <vt:lpstr>Summary – Element 2</vt:lpstr>
      <vt:lpstr>Summary – Element 2</vt:lpstr>
      <vt:lpstr>Carry valuable items</vt:lpstr>
      <vt:lpstr>Identify route to be taken</vt:lpstr>
      <vt:lpstr>Identify route to be taken</vt:lpstr>
      <vt:lpstr>Identify route to be taken</vt:lpstr>
      <vt:lpstr>Identify route to be taken</vt:lpstr>
      <vt:lpstr>Identify route to be taken</vt:lpstr>
      <vt:lpstr>Identify route to be taken</vt:lpstr>
      <vt:lpstr>Assess potential threats for the individual job</vt:lpstr>
      <vt:lpstr>Assess potential threats for the individual job</vt:lpstr>
      <vt:lpstr>Assess potential threats for the individual job</vt:lpstr>
      <vt:lpstr>Assess potential threats for the individual job</vt:lpstr>
      <vt:lpstr>Assess potential threats for the individual job</vt:lpstr>
      <vt:lpstr>Assess potential threats for the individual job</vt:lpstr>
      <vt:lpstr>Obtain assistance as required</vt:lpstr>
      <vt:lpstr>Obtain assistance as required</vt:lpstr>
      <vt:lpstr>Obtain assistance as required</vt:lpstr>
      <vt:lpstr>Obtain assistance as required</vt:lpstr>
      <vt:lpstr>Obtain assistance as required</vt:lpstr>
      <vt:lpstr>Perform carriage duties</vt:lpstr>
      <vt:lpstr>Perform carriage duties</vt:lpstr>
      <vt:lpstr>Perform carriage duties</vt:lpstr>
      <vt:lpstr>Perform carriage duties</vt:lpstr>
      <vt:lpstr>Respond to threats</vt:lpstr>
      <vt:lpstr>Respond to threats</vt:lpstr>
      <vt:lpstr>Respond to threats</vt:lpstr>
      <vt:lpstr>Respond to threats</vt:lpstr>
      <vt:lpstr>Complete necessary documentation</vt:lpstr>
      <vt:lpstr>Complete necessary documentation</vt:lpstr>
      <vt:lpstr>Complete necessary documentation</vt:lpstr>
      <vt:lpstr>Complete necessary documentation</vt:lpstr>
      <vt:lpstr>Complete necessary documentation</vt:lpstr>
      <vt:lpstr>Summary – Element 3</vt:lpstr>
      <vt:lpstr>Summary – Element 3</vt:lpstr>
      <vt:lpstr>Summary – Element 3</vt:lpstr>
      <vt:lpstr>Store valuable items</vt:lpstr>
      <vt:lpstr>Identify the storage option required</vt:lpstr>
      <vt:lpstr>Identify the storage option required</vt:lpstr>
      <vt:lpstr>Place items into storage</vt:lpstr>
      <vt:lpstr>Place items into storage</vt:lpstr>
      <vt:lpstr>Place items into storage</vt:lpstr>
      <vt:lpstr>Place items into storage</vt:lpstr>
      <vt:lpstr>Complete necessary documentation</vt:lpstr>
      <vt:lpstr>Complete necessary documentation</vt:lpstr>
      <vt:lpstr>Complete necessary documentation</vt:lpstr>
      <vt:lpstr>Summary – Element 4</vt:lpstr>
      <vt:lpstr>Summary – Element 4</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Carla Angelica Co</cp:lastModifiedBy>
  <cp:revision>158</cp:revision>
  <dcterms:created xsi:type="dcterms:W3CDTF">2012-12-20T04:45:12Z</dcterms:created>
  <dcterms:modified xsi:type="dcterms:W3CDTF">2015-03-26T02:46:46Z</dcterms:modified>
</cp:coreProperties>
</file>