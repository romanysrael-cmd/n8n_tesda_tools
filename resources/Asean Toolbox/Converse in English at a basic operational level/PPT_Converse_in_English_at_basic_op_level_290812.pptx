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6"/>
  </p:notesMasterIdLst>
  <p:handoutMasterIdLst>
    <p:handoutMasterId r:id="rId67"/>
  </p:handoutMasterIdLst>
  <p:sldIdLst>
    <p:sldId id="256" r:id="rId2"/>
    <p:sldId id="257" r:id="rId3"/>
    <p:sldId id="258" r:id="rId4"/>
    <p:sldId id="259" r:id="rId5"/>
    <p:sldId id="260" r:id="rId6"/>
    <p:sldId id="303" r:id="rId7"/>
    <p:sldId id="337" r:id="rId8"/>
    <p:sldId id="338" r:id="rId9"/>
    <p:sldId id="339" r:id="rId10"/>
    <p:sldId id="302" r:id="rId11"/>
    <p:sldId id="340" r:id="rId12"/>
    <p:sldId id="304" r:id="rId13"/>
    <p:sldId id="341" r:id="rId14"/>
    <p:sldId id="342" r:id="rId15"/>
    <p:sldId id="301" r:id="rId16"/>
    <p:sldId id="305" r:id="rId17"/>
    <p:sldId id="306" r:id="rId18"/>
    <p:sldId id="310" r:id="rId19"/>
    <p:sldId id="296" r:id="rId20"/>
    <p:sldId id="311" r:id="rId21"/>
    <p:sldId id="312" r:id="rId22"/>
    <p:sldId id="313" r:id="rId23"/>
    <p:sldId id="314" r:id="rId24"/>
    <p:sldId id="343" r:id="rId25"/>
    <p:sldId id="344" r:id="rId26"/>
    <p:sldId id="346" r:id="rId27"/>
    <p:sldId id="345" r:id="rId28"/>
    <p:sldId id="297" r:id="rId29"/>
    <p:sldId id="315" r:id="rId30"/>
    <p:sldId id="316" r:id="rId31"/>
    <p:sldId id="347" r:id="rId32"/>
    <p:sldId id="317" r:id="rId33"/>
    <p:sldId id="318" r:id="rId34"/>
    <p:sldId id="348" r:id="rId35"/>
    <p:sldId id="319" r:id="rId36"/>
    <p:sldId id="349" r:id="rId37"/>
    <p:sldId id="350" r:id="rId38"/>
    <p:sldId id="298" r:id="rId39"/>
    <p:sldId id="321" r:id="rId40"/>
    <p:sldId id="322" r:id="rId41"/>
    <p:sldId id="323" r:id="rId42"/>
    <p:sldId id="324" r:id="rId43"/>
    <p:sldId id="351" r:id="rId44"/>
    <p:sldId id="352" r:id="rId45"/>
    <p:sldId id="325" r:id="rId46"/>
    <p:sldId id="326" r:id="rId47"/>
    <p:sldId id="299" r:id="rId48"/>
    <p:sldId id="327" r:id="rId49"/>
    <p:sldId id="328" r:id="rId50"/>
    <p:sldId id="353" r:id="rId51"/>
    <p:sldId id="354" r:id="rId52"/>
    <p:sldId id="329" r:id="rId53"/>
    <p:sldId id="330" r:id="rId54"/>
    <p:sldId id="300" r:id="rId55"/>
    <p:sldId id="331" r:id="rId56"/>
    <p:sldId id="332" r:id="rId57"/>
    <p:sldId id="355" r:id="rId58"/>
    <p:sldId id="333" r:id="rId59"/>
    <p:sldId id="334" r:id="rId60"/>
    <p:sldId id="335" r:id="rId61"/>
    <p:sldId id="336" r:id="rId62"/>
    <p:sldId id="357" r:id="rId63"/>
    <p:sldId id="356" r:id="rId64"/>
    <p:sldId id="358" r:id="rId6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5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5543" autoAdjust="0"/>
  </p:normalViewPr>
  <p:slideViewPr>
    <p:cSldViewPr>
      <p:cViewPr varScale="1">
        <p:scale>
          <a:sx n="69" d="100"/>
          <a:sy n="69" d="100"/>
        </p:scale>
        <p:origin x="1830" y="7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3/13/2015</a:t>
            </a:fld>
            <a:endParaRPr lang="en-GB"/>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a:p>
        </p:txBody>
      </p:sp>
    </p:spTree>
    <p:extLst>
      <p:ext uri="{BB962C8B-B14F-4D97-AF65-F5344CB8AC3E}">
        <p14:creationId xmlns:p14="http://schemas.microsoft.com/office/powerpoint/2010/main" val="30126102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3/13/2015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942584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to welcome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534508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advises students this Unit comprises six Elements, as listed on the slide explaining:</a:t>
            </a:r>
            <a:endParaRPr lang="en-US" dirty="0" smtClean="0"/>
          </a:p>
          <a:p>
            <a:pPr>
              <a:buFont typeface="Arial" pitchFamily="34" charset="0"/>
              <a:buChar char="•"/>
            </a:pPr>
            <a:r>
              <a:rPr lang="en-US" baseline="0" dirty="0" smtClean="0"/>
              <a:t> Each element comprises a number of Performance Criteria which will be identified throughout the class and explained in detail</a:t>
            </a:r>
          </a:p>
          <a:p>
            <a:pPr>
              <a:buFont typeface="Arial" pitchFamily="34" charset="0"/>
              <a:buChar char="•"/>
            </a:pPr>
            <a:r>
              <a:rPr lang="en-US" baseline="0" dirty="0" smtClean="0"/>
              <a:t> Students can obtain more detail from their Trainee Manual</a:t>
            </a:r>
          </a:p>
          <a:p>
            <a:pPr>
              <a:buFont typeface="Arial" pitchFamily="34" charset="0"/>
              <a:buChar char="•"/>
            </a:pPr>
            <a:r>
              <a:rPr lang="en-US" baseline="0" dirty="0" smtClean="0"/>
              <a:t> The course presents advice and information but where their workplace requirements differ to what is presented, the workplace practices and standards must be observed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547805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advises students that assessment for this Unit may take several forms all of which are aimed at verifying they have achieved competency for the Unit as required.</a:t>
            </a:r>
          </a:p>
          <a:p>
            <a:pPr>
              <a:buFont typeface="Arial" pitchFamily="34" charset="0"/>
              <a:buNone/>
            </a:pPr>
            <a:endParaRPr lang="en-US" baseline="0" dirty="0" smtClean="0"/>
          </a:p>
          <a:p>
            <a:pPr>
              <a:buFont typeface="Arial" pitchFamily="34" charset="0"/>
              <a:buNone/>
            </a:pPr>
            <a:r>
              <a:rPr lang="en-US" baseline="0" dirty="0" smtClean="0"/>
              <a:t>Trainer indicates to students the methods of assessment that will be applied to them for this Unit.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937650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conversations in the workplace, asking questions such</a:t>
            </a:r>
            <a:r>
              <a:rPr lang="en-US" baseline="0" dirty="0" smtClean="0"/>
              <a:t> as:</a:t>
            </a:r>
            <a:endParaRPr lang="en-US" dirty="0" smtClean="0"/>
          </a:p>
          <a:p>
            <a:pPr>
              <a:buFont typeface="Arial" pitchFamily="34" charset="0"/>
              <a:buChar char="•"/>
            </a:pPr>
            <a:r>
              <a:rPr lang="en-US" dirty="0" smtClean="0"/>
              <a:t> How often do you talk to colleagues at work?</a:t>
            </a:r>
          </a:p>
          <a:p>
            <a:pPr>
              <a:buFont typeface="Arial" pitchFamily="34" charset="0"/>
              <a:buChar char="•"/>
            </a:pPr>
            <a:r>
              <a:rPr lang="en-US" dirty="0" smtClean="0"/>
              <a:t> What are some ways that you can start a conversation?</a:t>
            </a:r>
          </a:p>
          <a:p>
            <a:pPr>
              <a:buFont typeface="Arial" pitchFamily="34" charset="0"/>
              <a:buChar char="•"/>
            </a:pPr>
            <a:r>
              <a:rPr lang="en-US" dirty="0" smtClean="0"/>
              <a:t> What kinds of things do you typically talk about?</a:t>
            </a:r>
          </a:p>
          <a:p>
            <a:pPr>
              <a:buFont typeface="Arial" pitchFamily="34" charset="0"/>
              <a:buChar char="•"/>
            </a:pPr>
            <a:r>
              <a:rPr lang="en-US" dirty="0" smtClean="0"/>
              <a:t> Do you talk about very formal topics or topics that you know well?</a:t>
            </a:r>
          </a:p>
          <a:p>
            <a:pPr>
              <a:buFont typeface="Arial" pitchFamily="34" charset="0"/>
              <a:buChar char="•"/>
            </a:pPr>
            <a:r>
              <a:rPr lang="en-US" dirty="0" smtClean="0"/>
              <a:t> What are some ‘familiar’</a:t>
            </a:r>
            <a:r>
              <a:rPr lang="en-US" baseline="0" dirty="0" smtClean="0"/>
              <a:t> topics?</a:t>
            </a:r>
            <a:endParaRPr lang="en-US" dirty="0" smtClean="0"/>
          </a:p>
          <a:p>
            <a:pPr>
              <a:buFont typeface="Arial" pitchFamily="34" charset="0"/>
              <a:buChar char="•"/>
            </a:pPr>
            <a:r>
              <a:rPr lang="en-US" dirty="0" smtClean="0"/>
              <a:t> How do we talk about</a:t>
            </a:r>
            <a:r>
              <a:rPr lang="en-US" baseline="0" dirty="0" smtClean="0"/>
              <a:t> events that happened before now?</a:t>
            </a:r>
          </a:p>
          <a:p>
            <a:pPr>
              <a:buFont typeface="Arial" pitchFamily="34" charset="0"/>
              <a:buChar char="•"/>
            </a:pPr>
            <a:r>
              <a:rPr lang="en-US" baseline="0" dirty="0" smtClean="0"/>
              <a:t> When you are finished talking, how do you end the conversation?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649757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students how they approach someone if they want to talk to him/her. Trainer asks what kinds of things they usually say. Trainer calls on one particular student to ask about a conversation they had before class (this requires a little preparation before class). Trainer asks the student what he/she said to start the conversation and how that statement prepared the student to take part in the conversation.</a:t>
            </a:r>
          </a:p>
          <a:p>
            <a:pPr>
              <a:buFont typeface="Arial" pitchFamily="34" charset="0"/>
              <a:buNone/>
            </a:pPr>
            <a:endParaRPr lang="en-US" dirty="0" smtClean="0"/>
          </a:p>
          <a:p>
            <a:pPr>
              <a:buFont typeface="Arial" pitchFamily="34" charset="0"/>
              <a:buNone/>
            </a:pPr>
            <a:r>
              <a:rPr lang="en-US" dirty="0" smtClean="0"/>
              <a:t>Trainer explains to students that opening statements are very important because they:</a:t>
            </a:r>
          </a:p>
          <a:p>
            <a:pPr>
              <a:buFont typeface="Arial" pitchFamily="34" charset="0"/>
              <a:buChar char="•"/>
            </a:pPr>
            <a:r>
              <a:rPr lang="en-US" dirty="0" smtClean="0"/>
              <a:t> start</a:t>
            </a:r>
            <a:r>
              <a:rPr lang="en-US" baseline="0" dirty="0" smtClean="0"/>
              <a:t> a conversation</a:t>
            </a:r>
          </a:p>
          <a:p>
            <a:pPr>
              <a:buFont typeface="Arial" pitchFamily="34" charset="0"/>
              <a:buChar char="•"/>
            </a:pPr>
            <a:r>
              <a:rPr lang="en-US" baseline="0" dirty="0" smtClean="0"/>
              <a:t> tell the listener the purpose of the conversation</a:t>
            </a:r>
          </a:p>
          <a:p>
            <a:pPr>
              <a:buFont typeface="Arial" pitchFamily="34" charset="0"/>
              <a:buChar char="•"/>
            </a:pPr>
            <a:r>
              <a:rPr lang="en-US" baseline="0" dirty="0" smtClean="0"/>
              <a:t> give direction on how to continue the conversation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702121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potential positive and negative consequences of opening statements in a professional setting. </a:t>
            </a:r>
          </a:p>
          <a:p>
            <a:pPr>
              <a:buFont typeface="Arial" pitchFamily="34" charset="0"/>
              <a:buNone/>
            </a:pPr>
            <a:endParaRPr lang="en-US" baseline="0" dirty="0" smtClean="0"/>
          </a:p>
          <a:p>
            <a:pPr>
              <a:buFont typeface="Arial" pitchFamily="34" charset="0"/>
              <a:buNone/>
            </a:pPr>
            <a:r>
              <a:rPr lang="en-US" b="1" baseline="0" dirty="0" smtClean="0"/>
              <a:t>Positive consequences include:</a:t>
            </a:r>
            <a:endParaRPr lang="en-US" b="1" dirty="0" smtClean="0"/>
          </a:p>
          <a:p>
            <a:pPr>
              <a:buFont typeface="Arial" pitchFamily="34" charset="0"/>
              <a:buChar char="•"/>
            </a:pPr>
            <a:r>
              <a:rPr lang="en-US" dirty="0" smtClean="0"/>
              <a:t> leaving a good first impression</a:t>
            </a:r>
          </a:p>
          <a:p>
            <a:pPr>
              <a:buFont typeface="Arial" pitchFamily="34" charset="0"/>
              <a:buChar char="•"/>
            </a:pPr>
            <a:r>
              <a:rPr lang="en-US" baseline="0" dirty="0" smtClean="0"/>
              <a:t> communicating well with colleagues and customers</a:t>
            </a:r>
          </a:p>
          <a:p>
            <a:pPr>
              <a:buFont typeface="Arial" pitchFamily="34" charset="0"/>
              <a:buChar char="•"/>
            </a:pPr>
            <a:endParaRPr lang="en-US" baseline="0" dirty="0" smtClean="0"/>
          </a:p>
          <a:p>
            <a:pPr>
              <a:buFont typeface="Arial" pitchFamily="34" charset="0"/>
              <a:buNone/>
            </a:pPr>
            <a:r>
              <a:rPr lang="en-US" b="1" baseline="0" dirty="0" smtClean="0"/>
              <a:t>Negative consequences include:</a:t>
            </a:r>
            <a:endParaRPr lang="en-US" b="1" dirty="0" smtClean="0"/>
          </a:p>
          <a:p>
            <a:pPr>
              <a:buFont typeface="Arial" pitchFamily="34" charset="0"/>
              <a:buChar char="•"/>
            </a:pPr>
            <a:r>
              <a:rPr lang="en-US" dirty="0" smtClean="0"/>
              <a:t> possibly leaving guests confused or upset</a:t>
            </a:r>
          </a:p>
          <a:p>
            <a:pPr>
              <a:buFont typeface="Arial" pitchFamily="34" charset="0"/>
              <a:buChar char="•"/>
            </a:pPr>
            <a:r>
              <a:rPr lang="en-US" baseline="0" dirty="0" smtClean="0"/>
              <a:t> contributing to miscommunication in the workplace</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801499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tells students that starting a conversation can be stressful, but it can also be very rewarding. Trainer asks students why starting a conversation can be rewarding. Trainer explains that being a good conversation starter is a skill. Trainer asks students how this is an important skill at work and in their personal lives. </a:t>
            </a:r>
          </a:p>
          <a:p>
            <a:pPr>
              <a:buFont typeface="Arial" pitchFamily="34" charset="0"/>
              <a:buNone/>
            </a:pPr>
            <a:endParaRPr lang="en-US" baseline="0" dirty="0" smtClean="0"/>
          </a:p>
          <a:p>
            <a:pPr>
              <a:buFont typeface="Arial" pitchFamily="34" charset="0"/>
              <a:buNone/>
            </a:pPr>
            <a:r>
              <a:rPr lang="en-US" baseline="0" dirty="0" smtClean="0"/>
              <a:t>Trainer explains that opening statements help to start a conversation and gives some examples:</a:t>
            </a:r>
            <a:endParaRPr lang="en-US" dirty="0" smtClean="0"/>
          </a:p>
          <a:p>
            <a:pPr>
              <a:buFont typeface="Arial" pitchFamily="34" charset="0"/>
              <a:buChar char="•"/>
            </a:pPr>
            <a:r>
              <a:rPr lang="en-US" dirty="0" smtClean="0"/>
              <a:t> How</a:t>
            </a:r>
            <a:r>
              <a:rPr lang="en-US" baseline="0" dirty="0" smtClean="0"/>
              <a:t> are you?</a:t>
            </a:r>
          </a:p>
          <a:p>
            <a:pPr>
              <a:buFont typeface="Arial" pitchFamily="34" charset="0"/>
              <a:buChar char="•"/>
            </a:pPr>
            <a:r>
              <a:rPr lang="en-US" baseline="0" dirty="0" smtClean="0"/>
              <a:t> How’s the weather today?</a:t>
            </a:r>
          </a:p>
          <a:p>
            <a:pPr>
              <a:buFont typeface="Arial" pitchFamily="34" charset="0"/>
              <a:buChar char="•"/>
            </a:pPr>
            <a:r>
              <a:rPr lang="en-US" baseline="0" dirty="0" smtClean="0"/>
              <a:t> How did your shift go?</a:t>
            </a:r>
          </a:p>
          <a:p>
            <a:pPr>
              <a:buFont typeface="Arial" pitchFamily="34" charset="0"/>
              <a:buChar char="•"/>
            </a:pPr>
            <a:r>
              <a:rPr lang="en-US" baseline="0" dirty="0" smtClean="0"/>
              <a:t> Anything new today?</a:t>
            </a:r>
          </a:p>
          <a:p>
            <a:pPr>
              <a:buFont typeface="Arial" pitchFamily="34" charset="0"/>
              <a:buChar char="•"/>
            </a:pPr>
            <a:endParaRPr lang="en-US" baseline="0" dirty="0" smtClean="0"/>
          </a:p>
          <a:p>
            <a:pPr>
              <a:buFont typeface="Arial" pitchFamily="34" charset="0"/>
              <a:buNone/>
            </a:pPr>
            <a:r>
              <a:rPr lang="en-US" baseline="0" dirty="0" smtClean="0"/>
              <a:t>Trainer asks students if they can think of any more examples of opening statements. Trainer writes these examples on the board.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010413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acknowledges</a:t>
            </a:r>
            <a:r>
              <a:rPr lang="en-US" baseline="0" dirty="0" smtClean="0"/>
              <a:t> that starting conversations can make some people very nervous. Trainer explains that people in the hospitality industry must get over this fear. Trainer offers tips that can help them:</a:t>
            </a:r>
            <a:r>
              <a:rPr lang="en-US" dirty="0" smtClean="0"/>
              <a:t> </a:t>
            </a:r>
          </a:p>
          <a:p>
            <a:pPr>
              <a:buFont typeface="Arial" pitchFamily="34" charset="0"/>
              <a:buChar char="•"/>
            </a:pPr>
            <a:r>
              <a:rPr lang="en-US" dirty="0" smtClean="0"/>
              <a:t> Research interesting things to say</a:t>
            </a:r>
          </a:p>
          <a:p>
            <a:pPr>
              <a:buFont typeface="Arial" pitchFamily="34" charset="0"/>
              <a:buChar char="•"/>
            </a:pPr>
            <a:r>
              <a:rPr lang="en-US" dirty="0" smtClean="0"/>
              <a:t> Relax</a:t>
            </a:r>
          </a:p>
          <a:p>
            <a:pPr>
              <a:buFont typeface="Arial" pitchFamily="34" charset="0"/>
              <a:buChar char="•"/>
            </a:pPr>
            <a:r>
              <a:rPr lang="en-US" dirty="0" smtClean="0"/>
              <a:t> Avoid complaining or gossip</a:t>
            </a:r>
          </a:p>
          <a:p>
            <a:pPr>
              <a:buFont typeface="Arial" pitchFamily="34" charset="0"/>
              <a:buChar char="•"/>
            </a:pPr>
            <a:r>
              <a:rPr lang="en-US" baseline="0" dirty="0" smtClean="0"/>
              <a:t> Be yourself</a:t>
            </a:r>
          </a:p>
          <a:p>
            <a:pPr>
              <a:buFont typeface="Arial" pitchFamily="34" charset="0"/>
              <a:buNone/>
            </a:pPr>
            <a:endParaRPr lang="en-US" baseline="0" dirty="0" smtClean="0"/>
          </a:p>
          <a:p>
            <a:pPr>
              <a:buFont typeface="Arial" pitchFamily="34" charset="0"/>
              <a:buNone/>
            </a:pPr>
            <a:r>
              <a:rPr lang="en-US" b="1" baseline="0" dirty="0" smtClean="0"/>
              <a:t>Class Activity – Individual exercise</a:t>
            </a:r>
          </a:p>
          <a:p>
            <a:pPr>
              <a:buFont typeface="Arial" pitchFamily="34" charset="0"/>
              <a:buNone/>
            </a:pPr>
            <a:r>
              <a:rPr lang="en-US" baseline="0" dirty="0" smtClean="0"/>
              <a:t>Trainer instructs students to match the opening statements to their appropriate responses in their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281309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Individual</a:t>
            </a:r>
          </a:p>
          <a:p>
            <a:pPr>
              <a:buFont typeface="Arial" pitchFamily="34" charset="0"/>
              <a:buNone/>
            </a:pPr>
            <a:r>
              <a:rPr lang="en-US" dirty="0" smtClean="0"/>
              <a:t>Trainer</a:t>
            </a:r>
            <a:r>
              <a:rPr lang="en-US" baseline="0" dirty="0" smtClean="0"/>
              <a:t> instructs students to write responses to the opening questions in their Trainee Manual. Students must also create two new opening statements and answer them. </a:t>
            </a:r>
          </a:p>
          <a:p>
            <a:pPr>
              <a:buFont typeface="Arial" pitchFamily="34" charset="0"/>
              <a:buNone/>
            </a:pPr>
            <a:endParaRPr lang="en-US" baseline="0" dirty="0" smtClean="0"/>
          </a:p>
          <a:p>
            <a:pPr>
              <a:buFont typeface="Arial" pitchFamily="34" charset="0"/>
              <a:buNone/>
            </a:pPr>
            <a:r>
              <a:rPr lang="en-US" b="1" baseline="0" dirty="0" smtClean="0"/>
              <a:t>Class Activity – Pair work</a:t>
            </a:r>
            <a:endParaRPr lang="en-US" b="1" dirty="0" smtClean="0"/>
          </a:p>
          <a:p>
            <a:pPr>
              <a:buFont typeface="Arial" pitchFamily="34" charset="0"/>
              <a:buNone/>
            </a:pPr>
            <a:r>
              <a:rPr lang="en-US" dirty="0" smtClean="0"/>
              <a:t>Students</a:t>
            </a:r>
            <a:r>
              <a:rPr lang="en-US" baseline="0" dirty="0" smtClean="0"/>
              <a:t> should practice asking these questions to a partner. When they are finished, they should swap roles.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378093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that employees in the service industry will often be required to provide assistance to customers. This includes:</a:t>
            </a:r>
            <a:endParaRPr lang="en-US" dirty="0" smtClean="0"/>
          </a:p>
          <a:p>
            <a:pPr>
              <a:buFont typeface="Arial" pitchFamily="34" charset="0"/>
              <a:buChar char="•"/>
            </a:pPr>
            <a:r>
              <a:rPr lang="en-US" dirty="0" smtClean="0"/>
              <a:t> giving directions</a:t>
            </a:r>
          </a:p>
          <a:p>
            <a:pPr>
              <a:buFont typeface="Arial" pitchFamily="34" charset="0"/>
              <a:buChar char="•"/>
            </a:pPr>
            <a:r>
              <a:rPr lang="en-US" dirty="0" smtClean="0"/>
              <a:t> offering advice</a:t>
            </a:r>
          </a:p>
          <a:p>
            <a:pPr>
              <a:buFont typeface="Arial" pitchFamily="34" charset="0"/>
              <a:buChar char="•"/>
            </a:pPr>
            <a:r>
              <a:rPr lang="en-US" dirty="0" smtClean="0"/>
              <a:t> taking care of a customer’s special needs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4081737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that giving directions will be a big part of the students’ jobs. Trainer tells students that they should be familiar with prepositions of location/direction including:</a:t>
            </a:r>
            <a:endParaRPr lang="en-US" dirty="0" smtClean="0"/>
          </a:p>
          <a:p>
            <a:pPr>
              <a:buFont typeface="Arial" pitchFamily="34" charset="0"/>
              <a:buChar char="•"/>
            </a:pPr>
            <a:r>
              <a:rPr lang="en-US" dirty="0" smtClean="0"/>
              <a:t> into/out of</a:t>
            </a:r>
          </a:p>
          <a:p>
            <a:pPr>
              <a:buFont typeface="Arial" pitchFamily="34" charset="0"/>
              <a:buChar char="•"/>
            </a:pPr>
            <a:r>
              <a:rPr lang="en-US" dirty="0" smtClean="0"/>
              <a:t> at the bottom</a:t>
            </a:r>
            <a:r>
              <a:rPr lang="en-US" baseline="0" dirty="0" smtClean="0"/>
              <a:t> of/at the top of </a:t>
            </a:r>
          </a:p>
          <a:p>
            <a:pPr>
              <a:buFont typeface="Arial" pitchFamily="34" charset="0"/>
              <a:buChar char="•"/>
            </a:pPr>
            <a:r>
              <a:rPr lang="en-US" baseline="0" dirty="0" smtClean="0"/>
              <a:t> in front of/behind</a:t>
            </a:r>
          </a:p>
          <a:p>
            <a:pPr>
              <a:buFont typeface="Arial" pitchFamily="34" charset="0"/>
              <a:buChar char="•"/>
            </a:pPr>
            <a:r>
              <a:rPr lang="en-US" baseline="0" dirty="0" smtClean="0"/>
              <a:t> along</a:t>
            </a:r>
          </a:p>
          <a:p>
            <a:pPr>
              <a:buFont typeface="Arial" pitchFamily="34" charset="0"/>
              <a:buChar char="•"/>
            </a:pPr>
            <a:r>
              <a:rPr lang="en-US" baseline="0" dirty="0" smtClean="0"/>
              <a:t> past</a:t>
            </a:r>
          </a:p>
          <a:p>
            <a:pPr>
              <a:buFont typeface="Arial" pitchFamily="34" charset="0"/>
              <a:buChar char="•"/>
            </a:pPr>
            <a:endParaRPr lang="en-US" baseline="0" dirty="0" smtClean="0"/>
          </a:p>
          <a:p>
            <a:pPr>
              <a:buFont typeface="Arial" pitchFamily="34" charset="0"/>
              <a:buNone/>
            </a:pPr>
            <a:r>
              <a:rPr lang="en-US" baseline="0" dirty="0" smtClean="0"/>
              <a:t>Trainer asks students if they can think of any other words they use to give directions. Trainer instructs students to complete the prepositions of location/direction activity in their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4198982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tells students that they must first understand when someone is asking for directions in order to respond appropriately.</a:t>
            </a:r>
            <a:r>
              <a:rPr lang="en-US" baseline="0" dirty="0" smtClean="0"/>
              <a:t> Examples of ways to ask for directions include:</a:t>
            </a:r>
            <a:endParaRPr lang="en-US" dirty="0" smtClean="0"/>
          </a:p>
          <a:p>
            <a:pPr>
              <a:buFont typeface="Arial" pitchFamily="34" charset="0"/>
              <a:buChar char="•"/>
            </a:pPr>
            <a:r>
              <a:rPr lang="en-US" dirty="0" smtClean="0"/>
              <a:t> Where is _________?</a:t>
            </a:r>
          </a:p>
          <a:p>
            <a:pPr>
              <a:buFont typeface="Arial" pitchFamily="34" charset="0"/>
              <a:buChar char="•"/>
            </a:pPr>
            <a:r>
              <a:rPr lang="en-US" dirty="0" smtClean="0"/>
              <a:t> How do I get to ____________?</a:t>
            </a:r>
          </a:p>
          <a:p>
            <a:pPr>
              <a:buFont typeface="Arial" pitchFamily="34" charset="0"/>
              <a:buChar char="•"/>
            </a:pPr>
            <a:r>
              <a:rPr lang="en-US" dirty="0" smtClean="0"/>
              <a:t> Can you tell me where the ___________ is?</a:t>
            </a:r>
          </a:p>
          <a:p>
            <a:pPr>
              <a:buFont typeface="Arial" pitchFamily="34" charset="0"/>
              <a:buChar char="•"/>
            </a:pPr>
            <a:r>
              <a:rPr lang="en-US" dirty="0" smtClean="0"/>
              <a:t> I’m looking for the _____________.</a:t>
            </a:r>
          </a:p>
          <a:p>
            <a:pPr>
              <a:buFont typeface="Arial" pitchFamily="34" charset="0"/>
              <a:buChar char="•"/>
            </a:pPr>
            <a:endParaRPr lang="en-US" dirty="0" smtClean="0"/>
          </a:p>
          <a:p>
            <a:pPr>
              <a:buFont typeface="Arial" pitchFamily="34" charset="0"/>
              <a:buNone/>
            </a:pPr>
            <a:r>
              <a:rPr lang="en-US" b="1" dirty="0" smtClean="0"/>
              <a:t>Class</a:t>
            </a:r>
            <a:r>
              <a:rPr lang="en-US" b="1" baseline="0" dirty="0" smtClean="0"/>
              <a:t> Activity – Pair work</a:t>
            </a:r>
          </a:p>
          <a:p>
            <a:pPr>
              <a:buFont typeface="Arial" pitchFamily="34" charset="0"/>
              <a:buNone/>
            </a:pPr>
            <a:r>
              <a:rPr lang="en-US" baseline="0" dirty="0" smtClean="0"/>
              <a:t>Trainer instructs students to work in pairs to ask directions to 5 places in their workplace.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367474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that students will also be responsible for giving advice to customers. Trainer instructs students to give advice using: </a:t>
            </a:r>
            <a:endParaRPr lang="en-US" dirty="0" smtClean="0"/>
          </a:p>
          <a:p>
            <a:pPr>
              <a:buFont typeface="Arial" pitchFamily="34" charset="0"/>
              <a:buChar char="•"/>
            </a:pPr>
            <a:r>
              <a:rPr lang="en-US" dirty="0" smtClean="0"/>
              <a:t> should</a:t>
            </a:r>
          </a:p>
          <a:p>
            <a:pPr>
              <a:buFont typeface="Arial" pitchFamily="34" charset="0"/>
              <a:buChar char="•"/>
            </a:pPr>
            <a:r>
              <a:rPr lang="en-US" baseline="0" dirty="0" smtClean="0"/>
              <a:t> ought to</a:t>
            </a:r>
          </a:p>
          <a:p>
            <a:pPr>
              <a:buFont typeface="Arial" pitchFamily="34" charset="0"/>
              <a:buNone/>
            </a:pPr>
            <a:endParaRPr lang="en-US" baseline="0" dirty="0" smtClean="0"/>
          </a:p>
          <a:p>
            <a:pPr>
              <a:buFont typeface="Arial" pitchFamily="34" charset="0"/>
              <a:buNone/>
            </a:pPr>
            <a:r>
              <a:rPr lang="en-US" b="1" baseline="0" dirty="0" smtClean="0"/>
              <a:t>Class Activity </a:t>
            </a:r>
          </a:p>
          <a:p>
            <a:pPr>
              <a:buFont typeface="Arial" pitchFamily="34" charset="0"/>
              <a:buNone/>
            </a:pPr>
            <a:r>
              <a:rPr lang="en-US" b="0" baseline="0" dirty="0" smtClean="0"/>
              <a:t>Trainer instructs students to give advice to two other students in the class</a:t>
            </a:r>
          </a:p>
          <a:p>
            <a:pPr>
              <a:buFont typeface="Arial" pitchFamily="34" charset="0"/>
              <a:buNone/>
            </a:pPr>
            <a:endParaRPr lang="en-US" b="0" baseline="0" dirty="0" smtClean="0"/>
          </a:p>
          <a:p>
            <a:pPr>
              <a:buFont typeface="Arial" pitchFamily="34" charset="0"/>
              <a:buNone/>
            </a:pPr>
            <a:r>
              <a:rPr lang="en-US" b="0" baseline="0" dirty="0" smtClean="0"/>
              <a:t>Trainer uses video at: http://www.engvid.com/give-advice-should-ought-to-had-better/</a:t>
            </a:r>
          </a:p>
          <a:p>
            <a:pPr marL="0" indent="-360000">
              <a:spcBef>
                <a:spcPts val="600"/>
              </a:spcBef>
              <a:spcAft>
                <a:spcPts val="600"/>
              </a:spcAft>
              <a:buNone/>
            </a:pPr>
            <a:r>
              <a:rPr lang="en-US" sz="1050" dirty="0" smtClean="0">
                <a:latin typeface="Helvetica" pitchFamily="34" charset="0"/>
              </a:rPr>
              <a:t>Or </a:t>
            </a:r>
          </a:p>
          <a:p>
            <a:pPr marL="0" indent="-360000">
              <a:spcBef>
                <a:spcPts val="600"/>
              </a:spcBef>
              <a:spcAft>
                <a:spcPts val="600"/>
              </a:spcAft>
              <a:buNone/>
            </a:pPr>
            <a:r>
              <a:rPr lang="en-US" sz="1200" dirty="0" smtClean="0">
                <a:latin typeface="Helvetica" pitchFamily="34" charset="0"/>
              </a:rPr>
              <a:t>http://www.youtube.com/watch?v=00k85ENbak4</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037739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will outline the following steps to deal with customer complaints:</a:t>
            </a:r>
            <a:endParaRPr lang="en-US" dirty="0" smtClean="0"/>
          </a:p>
          <a:p>
            <a:pPr>
              <a:buFont typeface="Arial" pitchFamily="34" charset="0"/>
              <a:buChar char="•"/>
            </a:pPr>
            <a:r>
              <a:rPr lang="en-US" dirty="0" smtClean="0"/>
              <a:t> Apologize</a:t>
            </a:r>
          </a:p>
          <a:p>
            <a:pPr>
              <a:buFont typeface="Arial" pitchFamily="34" charset="0"/>
              <a:buChar char="•"/>
            </a:pPr>
            <a:r>
              <a:rPr lang="en-US" baseline="0" dirty="0" smtClean="0"/>
              <a:t> Attempt to solve the problem</a:t>
            </a:r>
          </a:p>
          <a:p>
            <a:pPr>
              <a:buFont typeface="Arial" pitchFamily="34" charset="0"/>
              <a:buChar char="•"/>
            </a:pPr>
            <a:r>
              <a:rPr lang="en-US" baseline="0" dirty="0" smtClean="0"/>
              <a:t> Alert a supervisor</a:t>
            </a:r>
          </a:p>
          <a:p>
            <a:pPr>
              <a:buFont typeface="Arial" pitchFamily="34" charset="0"/>
              <a:buChar char="•"/>
            </a:pPr>
            <a:endParaRPr lang="en-US" baseline="0" dirty="0" smtClean="0"/>
          </a:p>
          <a:p>
            <a:pPr>
              <a:buFont typeface="Arial" pitchFamily="34" charset="0"/>
              <a:buNone/>
            </a:pPr>
            <a:r>
              <a:rPr lang="en-US" baseline="0" dirty="0" smtClean="0"/>
              <a:t>Trainer instructs students to think of three complaints that they hear in their jobs.</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to work in pairs to do a </a:t>
            </a:r>
            <a:r>
              <a:rPr lang="en-US" baseline="0" dirty="0" err="1" smtClean="0"/>
              <a:t>roleplay</a:t>
            </a:r>
            <a:r>
              <a:rPr lang="en-US" baseline="0" dirty="0" smtClean="0"/>
              <a:t> with complaints.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174486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difference between regular and irregular past tense verbs. </a:t>
            </a:r>
          </a:p>
          <a:p>
            <a:pPr>
              <a:buFont typeface="Arial" pitchFamily="34" charset="0"/>
              <a:buNone/>
            </a:pPr>
            <a:endParaRPr lang="en-US" baseline="0" dirty="0" smtClean="0"/>
          </a:p>
          <a:p>
            <a:pPr>
              <a:buFont typeface="Arial" pitchFamily="34" charset="0"/>
              <a:buNone/>
            </a:pPr>
            <a:r>
              <a:rPr lang="en-US" baseline="0" dirty="0" smtClean="0"/>
              <a:t>Regular Verbs:</a:t>
            </a:r>
            <a:endParaRPr lang="en-US" dirty="0" smtClean="0"/>
          </a:p>
          <a:p>
            <a:pPr>
              <a:buFont typeface="Arial" pitchFamily="34" charset="0"/>
              <a:buChar char="•"/>
            </a:pPr>
            <a:r>
              <a:rPr lang="en-US" dirty="0" smtClean="0"/>
              <a:t> end</a:t>
            </a:r>
            <a:r>
              <a:rPr lang="en-US" baseline="0" dirty="0" smtClean="0"/>
              <a:t> in –</a:t>
            </a:r>
            <a:r>
              <a:rPr lang="en-US" baseline="0" dirty="0" err="1" smtClean="0"/>
              <a:t>ed</a:t>
            </a:r>
            <a:endParaRPr lang="en-US" baseline="0" dirty="0" smtClean="0"/>
          </a:p>
          <a:p>
            <a:pPr>
              <a:buFont typeface="Arial" pitchFamily="34" charset="0"/>
              <a:buChar char="•"/>
            </a:pPr>
            <a:endParaRPr lang="en-US" baseline="0" dirty="0" smtClean="0"/>
          </a:p>
          <a:p>
            <a:pPr>
              <a:buFont typeface="Arial" pitchFamily="34" charset="0"/>
              <a:buNone/>
            </a:pPr>
            <a:r>
              <a:rPr lang="en-US" baseline="0" dirty="0" smtClean="0"/>
              <a:t>Irregular Verbs:</a:t>
            </a:r>
            <a:endParaRPr lang="en-US" dirty="0" smtClean="0"/>
          </a:p>
          <a:p>
            <a:pPr>
              <a:buFont typeface="Arial" pitchFamily="34" charset="0"/>
              <a:buChar char="•"/>
            </a:pPr>
            <a:r>
              <a:rPr lang="en-US" dirty="0" smtClean="0"/>
              <a:t> have no specific grammar rule,</a:t>
            </a:r>
            <a:r>
              <a:rPr lang="en-US" baseline="0" dirty="0" smtClean="0"/>
              <a:t> students must remember each of them</a:t>
            </a:r>
          </a:p>
          <a:p>
            <a:pPr>
              <a:buFont typeface="Arial" pitchFamily="34" charset="0"/>
              <a:buChar char="•"/>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complete the grammar exercise in their Trainee Manual.</a:t>
            </a:r>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411307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a:t>
            </a:r>
            <a:r>
              <a:rPr lang="en-US" b="1" baseline="0" dirty="0" smtClean="0"/>
              <a:t> Activity – Mingling </a:t>
            </a:r>
          </a:p>
          <a:p>
            <a:pPr>
              <a:buFont typeface="Arial" pitchFamily="34" charset="0"/>
              <a:buNone/>
            </a:pPr>
            <a:r>
              <a:rPr lang="en-US" baseline="0" dirty="0" smtClean="0"/>
              <a:t>Trainer explains the rules to Find Someone Who.</a:t>
            </a:r>
          </a:p>
          <a:p>
            <a:pPr>
              <a:buFont typeface="Arial" pitchFamily="34" charset="0"/>
              <a:buNone/>
            </a:pPr>
            <a:r>
              <a:rPr lang="en-US" dirty="0" smtClean="0"/>
              <a:t>Students must mingle with their classmates to find out what people did in the past. Students should ask questions to each other, and write down one name for every positive answer. Students</a:t>
            </a:r>
            <a:r>
              <a:rPr lang="en-US" baseline="0" dirty="0" smtClean="0"/>
              <a:t> should not right down a name for negative answers. They should only write down the same name twice (depending on the number of students). </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569249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the importance of ending conversations. If not done appropriately, it can be seen as:</a:t>
            </a:r>
            <a:endParaRPr lang="en-US" dirty="0" smtClean="0"/>
          </a:p>
          <a:p>
            <a:pPr>
              <a:buFont typeface="Arial" pitchFamily="34" charset="0"/>
              <a:buChar char="•"/>
            </a:pPr>
            <a:r>
              <a:rPr lang="en-US" dirty="0" smtClean="0"/>
              <a:t> rude</a:t>
            </a:r>
          </a:p>
          <a:p>
            <a:pPr>
              <a:buFont typeface="Arial" pitchFamily="34" charset="0"/>
              <a:buChar char="•"/>
            </a:pPr>
            <a:r>
              <a:rPr lang="en-US" baseline="0" dirty="0" smtClean="0"/>
              <a:t> hurtful</a:t>
            </a:r>
          </a:p>
          <a:p>
            <a:pPr>
              <a:buFont typeface="Arial" pitchFamily="34" charset="0"/>
              <a:buNone/>
            </a:pPr>
            <a:endParaRPr lang="en-US" baseline="0" dirty="0" smtClean="0"/>
          </a:p>
          <a:p>
            <a:pPr>
              <a:buFont typeface="Arial" pitchFamily="34" charset="0"/>
              <a:buNone/>
            </a:pPr>
            <a:r>
              <a:rPr lang="en-US" baseline="0" dirty="0" smtClean="0"/>
              <a:t>Trainer tells students that they should make the other person feel as if the conversation was enjoyable.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842861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outlines two strategies for ending conversations appropriately. These include:</a:t>
            </a:r>
            <a:endParaRPr lang="en-US" dirty="0" smtClean="0"/>
          </a:p>
          <a:p>
            <a:pPr>
              <a:buFont typeface="Arial" pitchFamily="34" charset="0"/>
              <a:buChar char="•"/>
            </a:pPr>
            <a:r>
              <a:rPr lang="en-US" dirty="0" smtClean="0"/>
              <a:t> giving</a:t>
            </a:r>
            <a:r>
              <a:rPr lang="en-US" baseline="0" dirty="0" smtClean="0"/>
              <a:t> a positive comment.</a:t>
            </a:r>
          </a:p>
          <a:p>
            <a:pPr>
              <a:buFont typeface="Arial" pitchFamily="34" charset="0"/>
              <a:buChar char="•"/>
            </a:pPr>
            <a:r>
              <a:rPr lang="en-US" baseline="0" dirty="0" smtClean="0"/>
              <a:t> outlining a summary or plan. </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to complete the exercise in their Trainee Manual and read the dialogues in pairs.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4069014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responding to instructions</a:t>
            </a:r>
            <a:r>
              <a:rPr lang="en-US" baseline="0" dirty="0" smtClean="0"/>
              <a:t> and requests, </a:t>
            </a:r>
            <a:r>
              <a:rPr lang="en-US" dirty="0" smtClean="0"/>
              <a:t>asking questions such</a:t>
            </a:r>
            <a:r>
              <a:rPr lang="en-US" baseline="0" dirty="0" smtClean="0"/>
              <a:t> as:</a:t>
            </a:r>
            <a:endParaRPr lang="en-US" dirty="0" smtClean="0"/>
          </a:p>
          <a:p>
            <a:pPr>
              <a:buFont typeface="Arial" pitchFamily="34" charset="0"/>
              <a:buChar char="•"/>
            </a:pPr>
            <a:r>
              <a:rPr lang="en-US" dirty="0" smtClean="0"/>
              <a:t> What does ‘instructions’ mean?</a:t>
            </a:r>
          </a:p>
          <a:p>
            <a:pPr>
              <a:buFont typeface="Arial" pitchFamily="34" charset="0"/>
              <a:buChar char="•"/>
            </a:pPr>
            <a:r>
              <a:rPr lang="en-US" dirty="0" smtClean="0"/>
              <a:t> What kind</a:t>
            </a:r>
            <a:r>
              <a:rPr lang="en-US" baseline="0" dirty="0" smtClean="0"/>
              <a:t> of requests do you get at your job?</a:t>
            </a:r>
            <a:endParaRPr lang="en-US" dirty="0" smtClean="0"/>
          </a:p>
          <a:p>
            <a:pPr>
              <a:buFont typeface="Arial" pitchFamily="34" charset="0"/>
              <a:buChar char="•"/>
            </a:pPr>
            <a:r>
              <a:rPr lang="en-US" dirty="0" smtClean="0"/>
              <a:t> Is</a:t>
            </a:r>
            <a:r>
              <a:rPr lang="en-US" baseline="0" dirty="0" smtClean="0"/>
              <a:t> it always easy to understand instructions?</a:t>
            </a:r>
            <a:endParaRPr lang="en-US" dirty="0" smtClean="0"/>
          </a:p>
          <a:p>
            <a:pPr>
              <a:buFont typeface="Arial" pitchFamily="34" charset="0"/>
              <a:buChar char="•"/>
            </a:pPr>
            <a:r>
              <a:rPr lang="en-US" dirty="0" smtClean="0"/>
              <a:t> What is the last request you heard at your job?</a:t>
            </a:r>
          </a:p>
          <a:p>
            <a:pPr>
              <a:buFont typeface="Arial" pitchFamily="34" charset="0"/>
              <a:buChar char="•"/>
            </a:pPr>
            <a:r>
              <a:rPr lang="en-US" dirty="0" smtClean="0"/>
              <a:t> What do you do if you can’t understand what your supervisor tells you?</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44945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describes</a:t>
            </a:r>
            <a:r>
              <a:rPr lang="en-US" baseline="0" dirty="0" smtClean="0"/>
              <a:t> the importance of fully comprehending instructions or requests, as outlined on the slide. Trainer emphasizes the importance of confirming full comprehension and responding appropriately.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134714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two strategies to confirm understanding.</a:t>
            </a:r>
            <a:endParaRPr lang="en-US" dirty="0" smtClean="0"/>
          </a:p>
          <a:p>
            <a:pPr>
              <a:buFont typeface="Arial" pitchFamily="34" charset="0"/>
              <a:buChar char="•"/>
            </a:pPr>
            <a:r>
              <a:rPr lang="en-US" dirty="0" smtClean="0"/>
              <a:t> Short</a:t>
            </a:r>
            <a:r>
              <a:rPr lang="en-US" baseline="0" dirty="0" smtClean="0"/>
              <a:t> responses</a:t>
            </a:r>
          </a:p>
          <a:p>
            <a:pPr>
              <a:buFont typeface="Arial" pitchFamily="34" charset="0"/>
              <a:buChar char="•"/>
            </a:pPr>
            <a:r>
              <a:rPr lang="en-US" baseline="0" dirty="0" smtClean="0"/>
              <a:t> Body language</a:t>
            </a:r>
          </a:p>
          <a:p>
            <a:pPr>
              <a:buFont typeface="Arial" pitchFamily="34" charset="0"/>
              <a:buNone/>
            </a:pPr>
            <a:endParaRPr lang="en-US" baseline="0" dirty="0" smtClean="0"/>
          </a:p>
          <a:p>
            <a:pPr>
              <a:buFont typeface="Arial" pitchFamily="34" charset="0"/>
              <a:buNone/>
            </a:pPr>
            <a:r>
              <a:rPr lang="en-US" baseline="0" dirty="0" smtClean="0"/>
              <a:t>Trainer provides examples of each and asks the students if they can think of any more. </a:t>
            </a:r>
          </a:p>
          <a:p>
            <a:pPr>
              <a:buFont typeface="Arial" pitchFamily="34" charset="0"/>
              <a:buNone/>
            </a:pPr>
            <a:endParaRPr lang="en-US" baseline="0" dirty="0" smtClean="0"/>
          </a:p>
          <a:p>
            <a:pPr>
              <a:buFont typeface="Arial" pitchFamily="34" charset="0"/>
              <a:buNone/>
            </a:pPr>
            <a:r>
              <a:rPr lang="en-US" baseline="0" dirty="0" smtClean="0"/>
              <a:t>Trainer instructs students to guess the meaning of the physical gestures in their Trainee Manual. </a:t>
            </a:r>
          </a:p>
          <a:p>
            <a:pPr>
              <a:buFont typeface="Arial" pitchFamily="34" charset="0"/>
              <a:buNone/>
            </a:pPr>
            <a:endParaRPr lang="en-US" baseline="0" dirty="0" smtClean="0"/>
          </a:p>
          <a:p>
            <a:pPr>
              <a:buFont typeface="Arial" pitchFamily="34" charset="0"/>
              <a:buNone/>
            </a:pPr>
            <a:r>
              <a:rPr lang="en-US" b="1" baseline="0" dirty="0" smtClean="0"/>
              <a:t>Class Activity - Gestures</a:t>
            </a:r>
          </a:p>
          <a:p>
            <a:pPr>
              <a:buFont typeface="Arial" pitchFamily="34" charset="0"/>
              <a:buNone/>
            </a:pPr>
            <a:r>
              <a:rPr lang="en-US" baseline="0" dirty="0" smtClean="0"/>
              <a:t>Trainer makes four gestures (shake head, thumbs up, palms up, ok sign) and instructs students to write the meaning of the gestures in the Trainee Manual. </a:t>
            </a:r>
          </a:p>
          <a:p>
            <a:pPr>
              <a:buFont typeface="Arial" pitchFamily="34" charset="0"/>
              <a:buNone/>
            </a:pPr>
            <a:endParaRPr lang="en-US" baseline="0" dirty="0" smtClean="0"/>
          </a:p>
          <a:p>
            <a:pPr>
              <a:buFont typeface="Arial" pitchFamily="34" charset="0"/>
              <a:buNone/>
            </a:pPr>
            <a:r>
              <a:rPr lang="en-US" b="1" baseline="0" dirty="0" smtClean="0"/>
              <a:t>Class Activity - Listening</a:t>
            </a:r>
          </a:p>
          <a:p>
            <a:pPr>
              <a:buFont typeface="Arial" pitchFamily="34" charset="0"/>
              <a:buNone/>
            </a:pPr>
            <a:r>
              <a:rPr lang="en-US" baseline="0" dirty="0" smtClean="0"/>
              <a:t>Trainer reads the instructions below and instructs students to write the instructions in the Trainee Manual.</a:t>
            </a:r>
          </a:p>
          <a:p>
            <a:pPr>
              <a:buFont typeface="Arial" pitchFamily="34" charset="0"/>
              <a:buNone/>
            </a:pPr>
            <a:endParaRPr lang="en-US" baseline="0" dirty="0" smtClean="0"/>
          </a:p>
          <a:p>
            <a:pPr marL="228600" indent="-228600">
              <a:buFont typeface="Arial" pitchFamily="34" charset="0"/>
              <a:buAutoNum type="arabicPeriod"/>
            </a:pPr>
            <a:r>
              <a:rPr lang="en-US" baseline="0" dirty="0" smtClean="0"/>
              <a:t>Stand up and raise your hand.</a:t>
            </a:r>
          </a:p>
          <a:p>
            <a:pPr marL="228600" indent="-228600">
              <a:buFont typeface="Arial" pitchFamily="34" charset="0"/>
              <a:buAutoNum type="arabicPeriod"/>
            </a:pPr>
            <a:r>
              <a:rPr lang="en-US" baseline="0" dirty="0" smtClean="0"/>
              <a:t>Write your name on a piece of paper.</a:t>
            </a:r>
          </a:p>
          <a:p>
            <a:pPr marL="228600" indent="-228600">
              <a:buFont typeface="Arial" pitchFamily="34" charset="0"/>
              <a:buAutoNum type="arabicPeriod"/>
            </a:pPr>
            <a:r>
              <a:rPr lang="en-US" baseline="0" dirty="0" smtClean="0"/>
              <a:t>Touch your right foot.</a:t>
            </a:r>
          </a:p>
          <a:p>
            <a:pPr marL="228600" indent="-228600">
              <a:buFont typeface="Arial" pitchFamily="34" charset="0"/>
              <a:buAutoNum type="arabicPeriod"/>
            </a:pPr>
            <a:r>
              <a:rPr lang="en-US" baseline="0" dirty="0" smtClean="0"/>
              <a:t>Point your finger at the Trainer.</a:t>
            </a:r>
          </a:p>
          <a:p>
            <a:pPr marL="228600" indent="-228600">
              <a:buFont typeface="Arial" pitchFamily="34" charset="0"/>
              <a:buAutoNum type="arabicPeriod"/>
            </a:pPr>
            <a:r>
              <a:rPr lang="en-US" baseline="0" dirty="0" smtClean="0"/>
              <a:t>Walk to the door and come back to your seat.</a:t>
            </a:r>
          </a:p>
          <a:p>
            <a:pPr marL="228600" indent="-228600">
              <a:buFont typeface="Arial" pitchFamily="34" charset="0"/>
              <a:buAutoNum type="arabicPeriod"/>
            </a:pPr>
            <a:r>
              <a:rPr lang="en-US" baseline="0" dirty="0" smtClean="0"/>
              <a:t>Don’t forget to finish your homework. </a:t>
            </a:r>
          </a:p>
          <a:p>
            <a:pPr marL="228600" indent="-228600">
              <a:buFont typeface="Arial" pitchFamily="34" charset="0"/>
              <a:buAutoNum type="arabicPeriod"/>
            </a:pPr>
            <a:endParaRPr lang="en-US" baseline="0" dirty="0" smtClean="0"/>
          </a:p>
          <a:p>
            <a:pPr marL="228600" indent="-228600">
              <a:buFont typeface="Arial" pitchFamily="34" charset="0"/>
              <a:buNone/>
            </a:pPr>
            <a:r>
              <a:rPr lang="en-US" baseline="0" dirty="0" smtClean="0"/>
              <a:t>Trainer then instructs students to work in pairs to give each other these instructions and confirm understanding. </a:t>
            </a:r>
          </a:p>
          <a:p>
            <a:pPr marL="228600" indent="-228600">
              <a:buFont typeface="Arial" pitchFamily="34" charset="0"/>
              <a:buAutoNum type="arabicPeriod"/>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36656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this subject by giving students fast,</a:t>
            </a:r>
            <a:r>
              <a:rPr lang="en-US" baseline="0" dirty="0" smtClean="0"/>
              <a:t> complicated instructions to do something in the class. Trainer observes the students’ reaction and makes a note of students that ask him/her to repeat or clarify his instructions. </a:t>
            </a:r>
            <a:endParaRPr lang="en-US" dirty="0" smtClean="0"/>
          </a:p>
          <a:p>
            <a:pPr>
              <a:buFont typeface="Arial" pitchFamily="34" charset="0"/>
              <a:buNone/>
            </a:pPr>
            <a:endParaRPr lang="en-US" dirty="0" smtClean="0"/>
          </a:p>
          <a:p>
            <a:pPr>
              <a:buFont typeface="Arial" pitchFamily="34" charset="0"/>
              <a:buNone/>
            </a:pPr>
            <a:r>
              <a:rPr lang="en-US" dirty="0" smtClean="0"/>
              <a:t>Trainer</a:t>
            </a:r>
            <a:r>
              <a:rPr lang="en-US" baseline="0" dirty="0" smtClean="0"/>
              <a:t> tells students that people often find it difficult to ask for repetition or clarification, and that this is considered a sign of incompetence in many cultures. Trainer emphasizes the importance of asking for repetition/clarification and states that it will:</a:t>
            </a:r>
            <a:endParaRPr lang="en-US" dirty="0" smtClean="0"/>
          </a:p>
          <a:p>
            <a:pPr>
              <a:buFont typeface="Arial" pitchFamily="34" charset="0"/>
              <a:buChar char="•"/>
            </a:pPr>
            <a:r>
              <a:rPr lang="en-US" dirty="0" smtClean="0"/>
              <a:t> limit</a:t>
            </a:r>
            <a:r>
              <a:rPr lang="en-US" baseline="0" dirty="0" smtClean="0"/>
              <a:t> mistakes at work.</a:t>
            </a:r>
          </a:p>
          <a:p>
            <a:pPr>
              <a:buFont typeface="Arial" pitchFamily="34" charset="0"/>
              <a:buChar char="•"/>
            </a:pPr>
            <a:r>
              <a:rPr lang="en-US" baseline="0" dirty="0" smtClean="0"/>
              <a:t> improve efficiency at work.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110672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aseline="0" dirty="0" smtClean="0"/>
              <a:t>Trainer instructs students to ask for repetition when they don’t hear the speaker well.</a:t>
            </a:r>
          </a:p>
          <a:p>
            <a:pPr>
              <a:buFont typeface="Arial" pitchFamily="34" charset="0"/>
              <a:buNone/>
            </a:pPr>
            <a:endParaRPr lang="en-US" baseline="0" dirty="0" smtClean="0"/>
          </a:p>
          <a:p>
            <a:pPr>
              <a:buFont typeface="Arial" pitchFamily="34" charset="0"/>
              <a:buNone/>
            </a:pPr>
            <a:r>
              <a:rPr lang="en-US" baseline="0" dirty="0" smtClean="0"/>
              <a:t>Trainer provides examples including:</a:t>
            </a:r>
          </a:p>
          <a:p>
            <a:pPr>
              <a:buFont typeface="Arial" pitchFamily="34" charset="0"/>
              <a:buChar char="•"/>
            </a:pPr>
            <a:r>
              <a:rPr lang="en-US" dirty="0" smtClean="0"/>
              <a:t> Can you repeat that, please?</a:t>
            </a:r>
            <a:endParaRPr lang="en-US" baseline="0" dirty="0" smtClean="0"/>
          </a:p>
          <a:p>
            <a:pPr>
              <a:buFont typeface="Arial" pitchFamily="34" charset="0"/>
              <a:buChar char="•"/>
            </a:pPr>
            <a:r>
              <a:rPr lang="en-US" baseline="0" dirty="0" smtClean="0"/>
              <a:t> Would you mind saying that again?</a:t>
            </a:r>
          </a:p>
          <a:p>
            <a:pPr>
              <a:buFont typeface="Arial" pitchFamily="34" charset="0"/>
              <a:buChar char="•"/>
            </a:pPr>
            <a:r>
              <a:rPr lang="en-US" baseline="0" dirty="0" smtClean="0"/>
              <a:t> Sorry, I missed that.</a:t>
            </a:r>
          </a:p>
          <a:p>
            <a:pPr>
              <a:buFont typeface="Arial" pitchFamily="34" charset="0"/>
              <a:buChar char="•"/>
            </a:pPr>
            <a:endParaRPr lang="en-US" baseline="0" dirty="0" smtClean="0"/>
          </a:p>
          <a:p>
            <a:pPr>
              <a:buFont typeface="Arial" pitchFamily="34" charset="0"/>
              <a:buNone/>
            </a:pPr>
            <a:r>
              <a:rPr lang="en-US" baseline="0" dirty="0" smtClean="0"/>
              <a:t>Trainer asks the students to think of additional ways to ask for repetition. </a:t>
            </a:r>
            <a:endParaRPr lang="en-US"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315906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aseline="0" dirty="0" smtClean="0"/>
              <a:t>Trainer instructs the students to ask for clarification when they don’t completely understand the instructions. </a:t>
            </a:r>
          </a:p>
          <a:p>
            <a:pPr>
              <a:buFont typeface="Arial" pitchFamily="34" charset="0"/>
              <a:buNone/>
            </a:pPr>
            <a:endParaRPr lang="en-US" baseline="0" dirty="0" smtClean="0"/>
          </a:p>
          <a:p>
            <a:pPr>
              <a:buFont typeface="Arial" pitchFamily="34" charset="0"/>
              <a:buNone/>
            </a:pPr>
            <a:r>
              <a:rPr lang="en-US" baseline="0" dirty="0" smtClean="0"/>
              <a:t>Trainer provides examples including:</a:t>
            </a:r>
          </a:p>
          <a:p>
            <a:pPr>
              <a:buFont typeface="Arial" pitchFamily="34" charset="0"/>
              <a:buChar char="•"/>
            </a:pPr>
            <a:r>
              <a:rPr lang="en-US" dirty="0" smtClean="0"/>
              <a:t> So, you would like me to…?</a:t>
            </a:r>
            <a:endParaRPr lang="en-US" baseline="0" dirty="0" smtClean="0"/>
          </a:p>
          <a:p>
            <a:pPr>
              <a:buFont typeface="Arial" pitchFamily="34" charset="0"/>
              <a:buChar char="•"/>
            </a:pPr>
            <a:r>
              <a:rPr lang="en-US" baseline="0" dirty="0" smtClean="0"/>
              <a:t> Can I make sure I understood that correctly?</a:t>
            </a:r>
          </a:p>
          <a:p>
            <a:pPr>
              <a:buFont typeface="Arial" pitchFamily="34" charset="0"/>
              <a:buChar char="•"/>
            </a:pPr>
            <a:r>
              <a:rPr lang="en-US" baseline="0" dirty="0" smtClean="0"/>
              <a:t> So, I should…?</a:t>
            </a:r>
          </a:p>
          <a:p>
            <a:pPr>
              <a:buFont typeface="Arial" pitchFamily="34" charset="0"/>
              <a:buChar char="•"/>
            </a:pPr>
            <a:endParaRPr lang="en-US" baseline="0" dirty="0" smtClean="0"/>
          </a:p>
          <a:p>
            <a:pPr>
              <a:buFont typeface="Arial" pitchFamily="34" charset="0"/>
              <a:buNone/>
            </a:pPr>
            <a:r>
              <a:rPr lang="en-US" baseline="0" dirty="0" smtClean="0"/>
              <a:t>Trainer asks the students to think of additional ways to ask for clarification. </a:t>
            </a:r>
            <a:endParaRPr lang="en-US" dirty="0" smtClean="0"/>
          </a:p>
          <a:p>
            <a:pPr>
              <a:buFont typeface="Arial" pitchFamily="34" charset="0"/>
              <a:buNone/>
            </a:pPr>
            <a:endParaRPr lang="en-US" baseline="0" dirty="0" smtClean="0"/>
          </a:p>
          <a:p>
            <a:pPr>
              <a:buFont typeface="Arial" pitchFamily="34" charset="0"/>
              <a:buNone/>
            </a:pPr>
            <a:endParaRPr lang="en-US" dirty="0" smtClean="0"/>
          </a:p>
          <a:p>
            <a:pPr>
              <a:buFont typeface="Arial" pitchFamily="34" charset="0"/>
              <a:buNone/>
            </a:pPr>
            <a:r>
              <a:rPr lang="en-US" dirty="0" smtClean="0"/>
              <a: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813054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a:t>
            </a:r>
          </a:p>
          <a:p>
            <a:pPr>
              <a:buFont typeface="Arial" pitchFamily="34" charset="0"/>
              <a:buNone/>
            </a:pPr>
            <a:r>
              <a:rPr lang="en-US" baseline="0" dirty="0" smtClean="0"/>
              <a:t>Trainer describes the rules of the Question Game, as outlined on the slide.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8097199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a:t>
            </a:r>
          </a:p>
          <a:p>
            <a:pPr>
              <a:buFont typeface="Arial" pitchFamily="34" charset="0"/>
              <a:buNone/>
            </a:pPr>
            <a:r>
              <a:rPr lang="en-US" baseline="0" dirty="0" smtClean="0"/>
              <a:t>Trainer describes the rules of the Telephone Game, as outlined on the slide.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196294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a:t>
            </a:r>
          </a:p>
          <a:p>
            <a:pPr>
              <a:buFont typeface="Arial" pitchFamily="34" charset="0"/>
              <a:buNone/>
            </a:pPr>
            <a:r>
              <a:rPr lang="en-US" baseline="0" dirty="0" smtClean="0"/>
              <a:t>Trainer describes the rules of the Picture Game, as outlined on the slide.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388418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making requests at work, asking questions such</a:t>
            </a:r>
            <a:r>
              <a:rPr lang="en-US" baseline="0" dirty="0" smtClean="0"/>
              <a:t> as:</a:t>
            </a:r>
            <a:endParaRPr lang="en-US" dirty="0" smtClean="0"/>
          </a:p>
          <a:p>
            <a:pPr>
              <a:buFont typeface="Arial" pitchFamily="34" charset="0"/>
              <a:buChar char="•"/>
            </a:pPr>
            <a:r>
              <a:rPr lang="en-US" dirty="0" smtClean="0"/>
              <a:t> Do you ever make</a:t>
            </a:r>
            <a:r>
              <a:rPr lang="en-US" baseline="0" dirty="0" smtClean="0"/>
              <a:t> requests to your customers?</a:t>
            </a:r>
            <a:endParaRPr lang="en-US" dirty="0" smtClean="0"/>
          </a:p>
          <a:p>
            <a:pPr>
              <a:buFont typeface="Arial" pitchFamily="34" charset="0"/>
              <a:buChar char="•"/>
            </a:pPr>
            <a:r>
              <a:rPr lang="en-US" dirty="0" smtClean="0"/>
              <a:t> What kinds of things do</a:t>
            </a:r>
            <a:r>
              <a:rPr lang="en-US" baseline="0" dirty="0" smtClean="0"/>
              <a:t> you ask them for?</a:t>
            </a:r>
            <a:endParaRPr lang="en-US" dirty="0" smtClean="0"/>
          </a:p>
          <a:p>
            <a:pPr>
              <a:buFont typeface="Arial" pitchFamily="34" charset="0"/>
              <a:buChar char="•"/>
            </a:pPr>
            <a:r>
              <a:rPr lang="en-US" dirty="0" smtClean="0"/>
              <a:t> What is</a:t>
            </a:r>
            <a:r>
              <a:rPr lang="en-US" baseline="0" dirty="0" smtClean="0"/>
              <a:t> the difference between ‘rude’ and ‘polite’?</a:t>
            </a:r>
            <a:endParaRPr lang="en-US" dirty="0" smtClean="0"/>
          </a:p>
          <a:p>
            <a:pPr>
              <a:buFont typeface="Arial" pitchFamily="34" charset="0"/>
              <a:buChar char="•"/>
            </a:pPr>
            <a:r>
              <a:rPr lang="en-US" dirty="0" smtClean="0"/>
              <a:t> What are some polite ways to ask for things?</a:t>
            </a:r>
          </a:p>
          <a:p>
            <a:pPr>
              <a:buFont typeface="Arial" pitchFamily="34" charset="0"/>
              <a:buChar char="•"/>
            </a:pPr>
            <a:r>
              <a:rPr lang="en-US" dirty="0" smtClean="0"/>
              <a:t> How can you help guests</a:t>
            </a:r>
            <a:r>
              <a:rPr lang="en-US" baseline="0" dirty="0" smtClean="0"/>
              <a:t> that don’t speak your language or English?</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4129472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emphasizes the importance of making polite requests in English, telling the students it can make them seem:</a:t>
            </a:r>
            <a:endParaRPr lang="en-US" dirty="0" smtClean="0"/>
          </a:p>
          <a:p>
            <a:pPr>
              <a:buFont typeface="Arial" pitchFamily="34" charset="0"/>
              <a:buChar char="•"/>
            </a:pPr>
            <a:r>
              <a:rPr lang="en-US" dirty="0" smtClean="0"/>
              <a:t> gracious</a:t>
            </a:r>
          </a:p>
          <a:p>
            <a:pPr>
              <a:buFont typeface="Arial" pitchFamily="34" charset="0"/>
              <a:buChar char="•"/>
            </a:pPr>
            <a:r>
              <a:rPr lang="en-US" baseline="0" dirty="0" smtClean="0"/>
              <a:t> agreeable</a:t>
            </a:r>
          </a:p>
          <a:p>
            <a:pPr>
              <a:buFont typeface="Arial" pitchFamily="34" charset="0"/>
              <a:buChar char="•"/>
            </a:pPr>
            <a:r>
              <a:rPr lang="en-US" baseline="0" dirty="0" smtClean="0"/>
              <a:t> pleasant</a:t>
            </a:r>
          </a:p>
          <a:p>
            <a:pPr>
              <a:buFont typeface="Arial" pitchFamily="34" charset="0"/>
              <a:buNone/>
            </a:pPr>
            <a:endParaRPr lang="en-US" baseline="0" dirty="0" smtClean="0"/>
          </a:p>
          <a:p>
            <a:pPr>
              <a:buFont typeface="Arial" pitchFamily="34" charset="0"/>
              <a:buNone/>
            </a:pPr>
            <a:r>
              <a:rPr lang="en-US" baseline="0" dirty="0" smtClean="0"/>
              <a:t>Trainer asks students if there is a degree of politeness in their language. Trainer explains that one exists in English and pay attention to the following criteria in order to determine which structure to use:</a:t>
            </a:r>
          </a:p>
          <a:p>
            <a:pPr>
              <a:buFont typeface="Arial" pitchFamily="34" charset="0"/>
              <a:buChar char="•"/>
            </a:pPr>
            <a:r>
              <a:rPr lang="en-US" dirty="0" smtClean="0"/>
              <a:t> circumstances</a:t>
            </a:r>
          </a:p>
          <a:p>
            <a:pPr>
              <a:buFont typeface="Arial" pitchFamily="34" charset="0"/>
              <a:buChar char="•"/>
            </a:pPr>
            <a:r>
              <a:rPr lang="en-US" baseline="0" dirty="0" smtClean="0"/>
              <a:t> status of person</a:t>
            </a:r>
          </a:p>
          <a:p>
            <a:pPr>
              <a:buFont typeface="Arial" pitchFamily="34" charset="0"/>
              <a:buChar char="•"/>
            </a:pPr>
            <a:r>
              <a:rPr lang="en-US" baseline="0" dirty="0" smtClean="0"/>
              <a:t> kind of request being asked</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298818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dirty="0" smtClean="0"/>
              <a:t>Discuss the degrees of politeness</a:t>
            </a:r>
            <a:r>
              <a:rPr lang="en-AU" baseline="0" dirty="0" smtClean="0"/>
              <a:t> above and practice them in pairs.  In which circumstances and with whom are the different phrases likely to be used?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256449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 - Dialogues</a:t>
            </a:r>
          </a:p>
          <a:p>
            <a:pPr>
              <a:buFont typeface="Arial" pitchFamily="34" charset="0"/>
              <a:buNone/>
            </a:pPr>
            <a:r>
              <a:rPr lang="en-US" dirty="0" smtClean="0"/>
              <a:t>Trainer instructs the students to read the dialogues in their Trainee Manual</a:t>
            </a:r>
            <a:r>
              <a:rPr lang="en-US" baseline="0" dirty="0" smtClean="0"/>
              <a:t>, circle the requests, and decide if they are formal or informal. Trainer then instructs students to work in pairs in order to do role plays with the dialogues.  </a:t>
            </a:r>
          </a:p>
          <a:p>
            <a:pPr>
              <a:buFont typeface="Arial" pitchFamily="34" charset="0"/>
              <a:buNone/>
            </a:pPr>
            <a:endParaRPr lang="en-US" baseline="0" dirty="0" smtClean="0"/>
          </a:p>
          <a:p>
            <a:pPr>
              <a:buFont typeface="Arial" pitchFamily="34" charset="0"/>
              <a:buNone/>
            </a:pPr>
            <a:r>
              <a:rPr lang="en-US" b="1" baseline="0" dirty="0" smtClean="0"/>
              <a:t>Class Activity </a:t>
            </a:r>
          </a:p>
          <a:p>
            <a:pPr>
              <a:buFont typeface="Arial" pitchFamily="34" charset="0"/>
              <a:buNone/>
            </a:pPr>
            <a:r>
              <a:rPr lang="en-US" baseline="0" dirty="0" smtClean="0"/>
              <a:t>Trainer instructs students to write the proper requests in their Trainee Manual. Trainer then instructs students to make one new formal and informal request to other trainees in the class.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293132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expresses the importance of showing gratitude in English, noting:</a:t>
            </a:r>
            <a:r>
              <a:rPr lang="en-US" dirty="0" smtClean="0"/>
              <a:t> </a:t>
            </a:r>
          </a:p>
          <a:p>
            <a:pPr>
              <a:buFont typeface="Arial" pitchFamily="34" charset="0"/>
              <a:buChar char="•"/>
            </a:pPr>
            <a:r>
              <a:rPr lang="en-US" dirty="0" smtClean="0"/>
              <a:t> W</a:t>
            </a:r>
            <a:r>
              <a:rPr lang="en-US" sz="1200" dirty="0" smtClean="0">
                <a:latin typeface="Helvetica" pitchFamily="34" charset="0"/>
              </a:rPr>
              <a:t>hen you express gratitude you evoke feelings of warmth and solidarity.</a:t>
            </a:r>
            <a:endParaRPr lang="en-US" dirty="0" smtClean="0"/>
          </a:p>
          <a:p>
            <a:pPr>
              <a:buFont typeface="Arial" pitchFamily="34" charset="0"/>
              <a:buChar char="•"/>
            </a:pPr>
            <a:r>
              <a:rPr lang="en-US" sz="1200" dirty="0" smtClean="0">
                <a:latin typeface="Helvetica" pitchFamily="34" charset="0"/>
              </a:rPr>
              <a:t> When you fail to express gratitude it can result in negative feelings and consequences.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6797169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that there are many ways to say ‘Thank You’ in English, noting that the appropriate way depends on the situation. </a:t>
            </a:r>
            <a:endParaRPr lang="en-US" dirty="0" smtClean="0"/>
          </a:p>
          <a:p>
            <a:pPr>
              <a:buFont typeface="Arial" pitchFamily="34" charset="0"/>
              <a:buChar char="•"/>
            </a:pPr>
            <a:r>
              <a:rPr lang="en-US" dirty="0" smtClean="0"/>
              <a:t> Thanks</a:t>
            </a:r>
          </a:p>
          <a:p>
            <a:pPr>
              <a:buFont typeface="Arial" pitchFamily="34" charset="0"/>
              <a:buChar char="•"/>
            </a:pPr>
            <a:r>
              <a:rPr lang="en-US" baseline="0" dirty="0" smtClean="0"/>
              <a:t> Thanks a lot</a:t>
            </a:r>
          </a:p>
          <a:p>
            <a:pPr>
              <a:buFont typeface="Arial" pitchFamily="34" charset="0"/>
              <a:buChar char="•"/>
            </a:pPr>
            <a:r>
              <a:rPr lang="en-US" baseline="0" dirty="0" smtClean="0"/>
              <a:t> Thank you very much</a:t>
            </a:r>
          </a:p>
          <a:p>
            <a:pPr>
              <a:buFont typeface="Arial" pitchFamily="34" charset="0"/>
              <a:buChar char="•"/>
            </a:pPr>
            <a:r>
              <a:rPr lang="en-US" baseline="0" dirty="0" smtClean="0"/>
              <a:t> I appreciate that</a:t>
            </a:r>
          </a:p>
          <a:p>
            <a:pPr>
              <a:buFont typeface="Arial" pitchFamily="34" charset="0"/>
              <a:buNone/>
            </a:pPr>
            <a:endParaRPr lang="en-US" baseline="0" dirty="0" smtClean="0"/>
          </a:p>
          <a:p>
            <a:pPr>
              <a:buFont typeface="Arial" pitchFamily="34" charset="0"/>
              <a:buNone/>
            </a:pPr>
            <a:r>
              <a:rPr lang="en-US" baseline="0" dirty="0" smtClean="0"/>
              <a:t>Trainer asks if students can think of any additional ways to say ‘Thank You’. </a:t>
            </a:r>
          </a:p>
          <a:p>
            <a:pPr>
              <a:buFont typeface="Arial" pitchFamily="34" charset="0"/>
              <a:buNone/>
            </a:pPr>
            <a:endParaRPr lang="en-US" baseline="0" dirty="0" smtClean="0"/>
          </a:p>
          <a:p>
            <a:pPr>
              <a:buFont typeface="Arial" pitchFamily="34" charset="0"/>
              <a:buNone/>
            </a:pPr>
            <a:r>
              <a:rPr lang="en-US" baseline="0" dirty="0" smtClean="0"/>
              <a:t>Trainer shows video.</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42380593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conducts</a:t>
            </a:r>
            <a:r>
              <a:rPr lang="en-US" baseline="0" dirty="0" smtClean="0"/>
              <a:t> pronunciation exercises with the ‘</a:t>
            </a:r>
            <a:r>
              <a:rPr lang="en-US" baseline="0" dirty="0" err="1" smtClean="0"/>
              <a:t>th</a:t>
            </a:r>
            <a:r>
              <a:rPr lang="en-US" baseline="0" dirty="0" smtClean="0"/>
              <a:t>’ sound, instructing the students to touch the tip of their tongue to their top teeth in order to do it properly.</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write the appropriate form of gratitude next to the scenarios in their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8462278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instructs students to take the following steps if they are having problems communicating with guests:</a:t>
            </a:r>
            <a:endParaRPr lang="en-US" dirty="0" smtClean="0"/>
          </a:p>
          <a:p>
            <a:pPr>
              <a:buFont typeface="Arial" pitchFamily="34" charset="0"/>
              <a:buChar char="•"/>
            </a:pPr>
            <a:r>
              <a:rPr lang="en-US" baseline="0" dirty="0" smtClean="0"/>
              <a:t> Remain calm</a:t>
            </a:r>
          </a:p>
          <a:p>
            <a:pPr>
              <a:buFont typeface="Arial" pitchFamily="34" charset="0"/>
              <a:buChar char="•"/>
            </a:pPr>
            <a:r>
              <a:rPr lang="en-US" baseline="0" dirty="0" smtClean="0"/>
              <a:t> Repeat the question/statement slowly</a:t>
            </a:r>
          </a:p>
          <a:p>
            <a:pPr>
              <a:buFont typeface="Arial" pitchFamily="34" charset="0"/>
              <a:buChar char="•"/>
            </a:pPr>
            <a:r>
              <a:rPr lang="en-US" baseline="0" dirty="0" smtClean="0"/>
              <a:t> Judge comprehension</a:t>
            </a:r>
          </a:p>
          <a:p>
            <a:pPr>
              <a:buFont typeface="Arial" pitchFamily="34" charset="0"/>
              <a:buChar char="•"/>
            </a:pPr>
            <a:r>
              <a:rPr lang="en-US" baseline="0" dirty="0" smtClean="0"/>
              <a:t> Use body gestures</a:t>
            </a:r>
          </a:p>
          <a:p>
            <a:pPr>
              <a:buFont typeface="Arial" pitchFamily="34" charset="0"/>
              <a:buChar char="•"/>
            </a:pPr>
            <a:r>
              <a:rPr lang="en-US" baseline="0" dirty="0" smtClean="0"/>
              <a:t> Ask the guest to wait</a:t>
            </a:r>
          </a:p>
          <a:p>
            <a:pPr>
              <a:buFont typeface="Arial" pitchFamily="34" charset="0"/>
              <a:buChar char="•"/>
            </a:pPr>
            <a:r>
              <a:rPr lang="en-US" baseline="0" dirty="0" smtClean="0"/>
              <a:t> Alert a supervisor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355972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a:t>
            </a:r>
          </a:p>
          <a:p>
            <a:pPr>
              <a:buFont typeface="Arial" pitchFamily="34" charset="0"/>
              <a:buNone/>
            </a:pPr>
            <a:r>
              <a:rPr lang="en-US" baseline="0" dirty="0" smtClean="0"/>
              <a:t>Trainer describes the rules of the Back-to-the-Board Game, as outlined on the slide.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6735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baseline="0" dirty="0" smtClean="0"/>
              <a:t>Class Activity</a:t>
            </a:r>
          </a:p>
          <a:p>
            <a:pPr>
              <a:buFont typeface="Arial" pitchFamily="34" charset="0"/>
              <a:buNone/>
            </a:pPr>
            <a:r>
              <a:rPr lang="en-US" baseline="0" dirty="0" smtClean="0"/>
              <a:t>Trainer describes the rules of the Charades Game, as outlined on the slide. </a:t>
            </a:r>
            <a:r>
              <a:rPr lang="en-US" b="1" baseline="0" dirty="0" smtClean="0"/>
              <a:t>Trainer must prepare </a:t>
            </a:r>
            <a:r>
              <a:rPr lang="en-US" b="1" baseline="0" dirty="0" err="1" smtClean="0"/>
              <a:t>notecards</a:t>
            </a:r>
            <a:r>
              <a:rPr lang="en-US" b="1" baseline="0" dirty="0" smtClean="0"/>
              <a:t> before class. </a:t>
            </a:r>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0890776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routine procedures, asking questions such</a:t>
            </a:r>
            <a:r>
              <a:rPr lang="en-US" baseline="0" dirty="0" smtClean="0"/>
              <a:t> as:</a:t>
            </a:r>
            <a:endParaRPr lang="en-US" dirty="0" smtClean="0"/>
          </a:p>
          <a:p>
            <a:pPr>
              <a:buFont typeface="Arial" pitchFamily="34" charset="0"/>
              <a:buChar char="•"/>
            </a:pPr>
            <a:r>
              <a:rPr lang="en-US" dirty="0" smtClean="0"/>
              <a:t> What kinds of</a:t>
            </a:r>
            <a:r>
              <a:rPr lang="en-US" baseline="0" dirty="0" smtClean="0"/>
              <a:t> things do you usually do at work?</a:t>
            </a:r>
            <a:endParaRPr lang="en-US" dirty="0" smtClean="0"/>
          </a:p>
          <a:p>
            <a:pPr>
              <a:buFont typeface="Arial" pitchFamily="34" charset="0"/>
              <a:buChar char="•"/>
            </a:pPr>
            <a:r>
              <a:rPr lang="en-US" dirty="0" smtClean="0"/>
              <a:t> Do you ever have to give instructions?</a:t>
            </a:r>
          </a:p>
          <a:p>
            <a:pPr>
              <a:buFont typeface="Arial" pitchFamily="34" charset="0"/>
              <a:buChar char="•"/>
            </a:pPr>
            <a:r>
              <a:rPr lang="en-US" dirty="0" smtClean="0"/>
              <a:t> If yes, how do you organize</a:t>
            </a:r>
            <a:r>
              <a:rPr lang="en-US" baseline="0" dirty="0" smtClean="0"/>
              <a:t> the instructions so people can understand them?</a:t>
            </a:r>
            <a:endParaRPr lang="en-US" dirty="0" smtClean="0"/>
          </a:p>
          <a:p>
            <a:pPr>
              <a:buFont typeface="Arial" pitchFamily="34" charset="0"/>
              <a:buChar char="•"/>
            </a:pPr>
            <a:r>
              <a:rPr lang="en-US" dirty="0" smtClean="0"/>
              <a:t> What are adverbs</a:t>
            </a:r>
            <a:r>
              <a:rPr lang="en-US" baseline="0" dirty="0" smtClean="0"/>
              <a:t> of frequency? Why do we use them?</a:t>
            </a:r>
            <a:endParaRPr lang="en-US" dirty="0" smtClean="0"/>
          </a:p>
          <a:p>
            <a:pPr>
              <a:buFont typeface="Arial" pitchFamily="34" charset="0"/>
              <a:buChar char="•"/>
            </a:pPr>
            <a:r>
              <a:rPr lang="en-US" dirty="0" smtClean="0"/>
              <a:t> I want to eat at a nice restaurant tonight. Can you suggest</a:t>
            </a:r>
            <a:r>
              <a:rPr lang="en-US" baseline="0" dirty="0" smtClean="0"/>
              <a:t> somewhere to go?</a:t>
            </a:r>
          </a:p>
          <a:p>
            <a:pPr>
              <a:buFont typeface="Arial" pitchFamily="34" charset="0"/>
              <a:buChar char="•"/>
            </a:pPr>
            <a:r>
              <a:rPr lang="en-US" baseline="0" dirty="0" smtClean="0"/>
              <a:t> Is this the same kind of suggestion you would give at work? How is it different?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539587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illustrates the importance of giving clear instructions. Trainer instructs students to use sequence markers to organize their instructions. These include:</a:t>
            </a:r>
            <a:endParaRPr lang="en-US" dirty="0" smtClean="0"/>
          </a:p>
          <a:p>
            <a:pPr>
              <a:buFont typeface="Arial" pitchFamily="34" charset="0"/>
              <a:buChar char="•"/>
            </a:pPr>
            <a:r>
              <a:rPr lang="en-US" dirty="0" smtClean="0"/>
              <a:t> first</a:t>
            </a:r>
          </a:p>
          <a:p>
            <a:pPr>
              <a:buFont typeface="Arial" pitchFamily="34" charset="0"/>
              <a:buChar char="•"/>
            </a:pPr>
            <a:r>
              <a:rPr lang="en-US" baseline="0" dirty="0" smtClean="0"/>
              <a:t> then</a:t>
            </a:r>
          </a:p>
          <a:p>
            <a:pPr>
              <a:buFont typeface="Arial" pitchFamily="34" charset="0"/>
              <a:buChar char="•"/>
            </a:pPr>
            <a:r>
              <a:rPr lang="en-US" baseline="0" dirty="0" smtClean="0"/>
              <a:t> next</a:t>
            </a:r>
          </a:p>
          <a:p>
            <a:pPr>
              <a:buFont typeface="Arial" pitchFamily="34" charset="0"/>
              <a:buChar char="•"/>
            </a:pPr>
            <a:r>
              <a:rPr lang="en-US" baseline="0" dirty="0" smtClean="0"/>
              <a:t> finally</a:t>
            </a:r>
          </a:p>
          <a:p>
            <a:pPr>
              <a:buFont typeface="Arial" pitchFamily="34" charset="0"/>
              <a:buNone/>
            </a:pPr>
            <a:endParaRPr lang="en-US" baseline="0" dirty="0" smtClean="0"/>
          </a:p>
          <a:p>
            <a:pPr>
              <a:buFont typeface="Arial" pitchFamily="34" charset="0"/>
              <a:buNone/>
            </a:pPr>
            <a:r>
              <a:rPr lang="en-US" baseline="0" dirty="0" smtClean="0"/>
              <a:t>Trainer asks students if they can think of any more examples of sequence markers.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0563344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 Activity</a:t>
            </a:r>
            <a:r>
              <a:rPr lang="en-US" b="1" baseline="0" dirty="0" smtClean="0"/>
              <a:t> - Listening</a:t>
            </a:r>
            <a:endParaRPr lang="en-US" b="1" dirty="0" smtClean="0"/>
          </a:p>
          <a:p>
            <a:pPr>
              <a:buFont typeface="Arial" pitchFamily="34" charset="0"/>
              <a:buNone/>
            </a:pPr>
            <a:r>
              <a:rPr lang="en-US" dirty="0" smtClean="0"/>
              <a:t>Trainer</a:t>
            </a:r>
            <a:r>
              <a:rPr lang="en-US" baseline="0" dirty="0" smtClean="0"/>
              <a:t> instructs students to listen to his instructions (below) and put them in order in their Trainee Manual. </a:t>
            </a:r>
          </a:p>
          <a:p>
            <a:pPr>
              <a:buFont typeface="Arial" pitchFamily="34" charset="0"/>
              <a:buNone/>
            </a:pPr>
            <a:endParaRPr lang="en-US" baseline="0" dirty="0" smtClean="0"/>
          </a:p>
          <a:p>
            <a:pPr>
              <a:buFont typeface="Arial" pitchFamily="34" charset="0"/>
              <a:buNone/>
            </a:pPr>
            <a:r>
              <a:rPr lang="en-US" baseline="0" dirty="0" smtClean="0"/>
              <a:t>Make a cocktail</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a:t>
            </a:r>
            <a:r>
              <a:rPr lang="en-US" sz="1200" kern="1200" dirty="0" smtClean="0">
                <a:solidFill>
                  <a:schemeClr val="tx1"/>
                </a:solidFill>
                <a:latin typeface="+mn-lt"/>
                <a:ea typeface="+mn-ea"/>
                <a:cs typeface="+mn-cs"/>
              </a:rPr>
              <a:t>First, pour one shot of gin into the glass.</a:t>
            </a:r>
          </a:p>
          <a:p>
            <a:pPr>
              <a:buFont typeface="Arial" pitchFamily="34" charset="0"/>
              <a:buChar char="•"/>
            </a:pPr>
            <a:r>
              <a:rPr lang="en-US" dirty="0" smtClean="0"/>
              <a:t> </a:t>
            </a:r>
            <a:r>
              <a:rPr lang="en-US" sz="1200" kern="1200" dirty="0" smtClean="0">
                <a:solidFill>
                  <a:schemeClr val="tx1"/>
                </a:solidFill>
                <a:latin typeface="+mn-lt"/>
                <a:ea typeface="+mn-ea"/>
                <a:cs typeface="+mn-cs"/>
              </a:rPr>
              <a:t>Then add three measures of tonic.</a:t>
            </a:r>
          </a:p>
          <a:p>
            <a:pPr>
              <a:buFont typeface="Arial" pitchFamily="34" charset="0"/>
              <a:buChar char="•"/>
            </a:pPr>
            <a:r>
              <a:rPr lang="en-US" sz="1200" kern="1200" dirty="0" smtClean="0">
                <a:solidFill>
                  <a:schemeClr val="tx1"/>
                </a:solidFill>
                <a:latin typeface="+mn-lt"/>
                <a:ea typeface="+mn-ea"/>
                <a:cs typeface="+mn-cs"/>
              </a:rPr>
              <a:t> Next, mix the liquids well.</a:t>
            </a:r>
          </a:p>
          <a:p>
            <a:pPr>
              <a:buFont typeface="Arial" pitchFamily="34" charset="0"/>
              <a:buChar char="•"/>
            </a:pPr>
            <a:r>
              <a:rPr lang="en-US" sz="1200" kern="1200" dirty="0" smtClean="0">
                <a:solidFill>
                  <a:schemeClr val="tx1"/>
                </a:solidFill>
                <a:latin typeface="+mn-lt"/>
                <a:ea typeface="+mn-ea"/>
                <a:cs typeface="+mn-cs"/>
              </a:rPr>
              <a:t> After that, add ice to chill the liquids.</a:t>
            </a:r>
          </a:p>
          <a:p>
            <a:pPr>
              <a:buFont typeface="Arial" pitchFamily="34" charset="0"/>
              <a:buChar char="•"/>
            </a:pPr>
            <a:r>
              <a:rPr lang="en-US" sz="1200" kern="1200" dirty="0" smtClean="0">
                <a:solidFill>
                  <a:schemeClr val="tx1"/>
                </a:solidFill>
                <a:latin typeface="+mn-lt"/>
                <a:ea typeface="+mn-ea"/>
                <a:cs typeface="+mn-cs"/>
              </a:rPr>
              <a:t> Finally, put a slice of lime on the glass and insert a straw.</a:t>
            </a: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baseline="0" dirty="0" smtClean="0"/>
              <a:t>Check-in a guest</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a:t>
            </a:r>
            <a:r>
              <a:rPr lang="en-US" sz="1200" kern="1200" dirty="0" smtClean="0">
                <a:solidFill>
                  <a:schemeClr val="tx1"/>
                </a:solidFill>
                <a:latin typeface="+mn-lt"/>
                <a:ea typeface="+mn-ea"/>
                <a:cs typeface="+mn-cs"/>
              </a:rPr>
              <a:t>First, welcome the guest.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a:t>
            </a:r>
            <a:r>
              <a:rPr lang="en-US" sz="1200" kern="1200" dirty="0" smtClean="0">
                <a:solidFill>
                  <a:schemeClr val="tx1"/>
                </a:solidFill>
                <a:latin typeface="+mn-lt"/>
                <a:ea typeface="+mn-ea"/>
                <a:cs typeface="+mn-cs"/>
              </a:rPr>
              <a:t>Then ask for the name on the reservation.</a:t>
            </a:r>
          </a:p>
          <a:p>
            <a:pPr>
              <a:buFont typeface="Arial" pitchFamily="34" charset="0"/>
              <a:buChar char="•"/>
            </a:pPr>
            <a:r>
              <a:rPr lang="en-US" sz="1200" kern="1200" dirty="0" smtClean="0">
                <a:solidFill>
                  <a:schemeClr val="tx1"/>
                </a:solidFill>
                <a:latin typeface="+mn-lt"/>
                <a:ea typeface="+mn-ea"/>
                <a:cs typeface="+mn-cs"/>
              </a:rPr>
              <a:t> Next, check the computer system for the reservation.</a:t>
            </a:r>
          </a:p>
          <a:p>
            <a:pPr>
              <a:buFont typeface="Arial" pitchFamily="34" charset="0"/>
              <a:buChar char="•"/>
            </a:pPr>
            <a:r>
              <a:rPr lang="en-US" sz="1200" kern="1200" dirty="0" smtClean="0">
                <a:solidFill>
                  <a:schemeClr val="tx1"/>
                </a:solidFill>
                <a:latin typeface="+mn-lt"/>
                <a:ea typeface="+mn-ea"/>
                <a:cs typeface="+mn-cs"/>
              </a:rPr>
              <a:t> Then confirm the details.</a:t>
            </a:r>
          </a:p>
          <a:p>
            <a:pPr>
              <a:buFont typeface="Arial" pitchFamily="34" charset="0"/>
              <a:buChar char="•"/>
            </a:pPr>
            <a:r>
              <a:rPr lang="en-US" sz="1200" kern="1200" dirty="0" smtClean="0">
                <a:solidFill>
                  <a:schemeClr val="tx1"/>
                </a:solidFill>
                <a:latin typeface="+mn-lt"/>
                <a:ea typeface="+mn-ea"/>
                <a:cs typeface="+mn-cs"/>
              </a:rPr>
              <a:t> Ask for the guest’s credit card.</a:t>
            </a:r>
          </a:p>
          <a:p>
            <a:pPr>
              <a:buFont typeface="Arial" pitchFamily="34" charset="0"/>
              <a:buChar char="•"/>
            </a:pPr>
            <a:r>
              <a:rPr lang="en-US" sz="1200" kern="1200" dirty="0" smtClean="0">
                <a:solidFill>
                  <a:schemeClr val="tx1"/>
                </a:solidFill>
                <a:latin typeface="+mn-lt"/>
                <a:ea typeface="+mn-ea"/>
                <a:cs typeface="+mn-cs"/>
              </a:rPr>
              <a:t> Then give the guest his/her room key.</a:t>
            </a:r>
          </a:p>
          <a:p>
            <a:pPr>
              <a:buFont typeface="Arial" pitchFamily="34" charset="0"/>
              <a:buChar char="•"/>
            </a:pPr>
            <a:r>
              <a:rPr lang="en-US" sz="1200" kern="1200" dirty="0" smtClean="0">
                <a:solidFill>
                  <a:schemeClr val="tx1"/>
                </a:solidFill>
                <a:latin typeface="+mn-lt"/>
                <a:ea typeface="+mn-ea"/>
                <a:cs typeface="+mn-cs"/>
              </a:rPr>
              <a:t> Finally, ask if the guest needs help with the luggage.</a:t>
            </a: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Individual</a:t>
            </a:r>
          </a:p>
          <a:p>
            <a:pPr>
              <a:buFont typeface="Arial" pitchFamily="34" charset="0"/>
              <a:buNone/>
            </a:pPr>
            <a:r>
              <a:rPr lang="en-US" sz="1200" kern="1200" dirty="0" smtClean="0">
                <a:solidFill>
                  <a:schemeClr val="tx1"/>
                </a:solidFill>
                <a:latin typeface="+mn-lt"/>
                <a:ea typeface="+mn-ea"/>
                <a:cs typeface="+mn-cs"/>
              </a:rPr>
              <a:t>Trainer instructs students to use sequence markers in order to write three sets of instructions in their Trainer Manual. </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Group</a:t>
            </a:r>
          </a:p>
          <a:p>
            <a:pPr>
              <a:buFont typeface="Arial" pitchFamily="34" charset="0"/>
              <a:buNone/>
            </a:pPr>
            <a:r>
              <a:rPr lang="en-US" sz="1200" kern="1200" dirty="0" smtClean="0">
                <a:solidFill>
                  <a:schemeClr val="tx1"/>
                </a:solidFill>
                <a:latin typeface="+mn-lt"/>
                <a:ea typeface="+mn-ea"/>
                <a:cs typeface="+mn-cs"/>
              </a:rPr>
              <a:t>Trainer instructs students to work in small groups to write instructions</a:t>
            </a:r>
            <a:r>
              <a:rPr lang="en-US" sz="1200" kern="1200" baseline="0" dirty="0" smtClean="0">
                <a:solidFill>
                  <a:schemeClr val="tx1"/>
                </a:solidFill>
                <a:latin typeface="+mn-lt"/>
                <a:ea typeface="+mn-ea"/>
                <a:cs typeface="+mn-cs"/>
              </a:rPr>
              <a:t> on how to make one kind of local food. Students will read the instructions to the class.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8381708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that surprises often occur</a:t>
            </a:r>
            <a:r>
              <a:rPr lang="en-US" baseline="0" dirty="0" smtClean="0"/>
              <a:t> in the hospitality industry that force people to change their plans. Trainer stresses the importance of being able to describe these situations. </a:t>
            </a:r>
          </a:p>
          <a:p>
            <a:pPr>
              <a:buFont typeface="Arial" pitchFamily="34" charset="0"/>
              <a:buNone/>
            </a:pPr>
            <a:endParaRPr lang="en-US" baseline="0" dirty="0" smtClean="0"/>
          </a:p>
          <a:p>
            <a:pPr>
              <a:buFont typeface="Arial" pitchFamily="34" charset="0"/>
              <a:buNone/>
            </a:pPr>
            <a:r>
              <a:rPr lang="en-US" baseline="0" dirty="0" smtClean="0"/>
              <a:t>Trainer asks the class for examples.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69520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instructs students to use adverbs of frequency to describe exceptions to routine procedures. Examples include:</a:t>
            </a:r>
            <a:endParaRPr lang="en-US" dirty="0" smtClean="0"/>
          </a:p>
          <a:p>
            <a:pPr>
              <a:buFont typeface="Arial" pitchFamily="34" charset="0"/>
              <a:buChar char="•"/>
            </a:pPr>
            <a:r>
              <a:rPr lang="en-US" dirty="0" smtClean="0"/>
              <a:t> always</a:t>
            </a:r>
          </a:p>
          <a:p>
            <a:pPr>
              <a:buFont typeface="Arial" pitchFamily="34" charset="0"/>
              <a:buChar char="•"/>
            </a:pPr>
            <a:r>
              <a:rPr lang="en-US" baseline="0" dirty="0" smtClean="0"/>
              <a:t> often</a:t>
            </a:r>
          </a:p>
          <a:p>
            <a:pPr>
              <a:buFont typeface="Arial" pitchFamily="34" charset="0"/>
              <a:buChar char="•"/>
            </a:pPr>
            <a:r>
              <a:rPr lang="en-US" baseline="0" dirty="0" smtClean="0"/>
              <a:t> sometimes</a:t>
            </a:r>
          </a:p>
          <a:p>
            <a:pPr>
              <a:buFont typeface="Arial" pitchFamily="34" charset="0"/>
              <a:buChar char="•"/>
            </a:pPr>
            <a:r>
              <a:rPr lang="en-US" baseline="0" dirty="0" smtClean="0"/>
              <a:t> never</a:t>
            </a:r>
          </a:p>
          <a:p>
            <a:pPr>
              <a:buFont typeface="Arial" pitchFamily="34" charset="0"/>
              <a:buNone/>
            </a:pPr>
            <a:endParaRPr lang="en-US" baseline="0" dirty="0" smtClean="0"/>
          </a:p>
          <a:p>
            <a:pPr>
              <a:buFont typeface="Arial" pitchFamily="34" charset="0"/>
              <a:buNone/>
            </a:pPr>
            <a:r>
              <a:rPr lang="en-US" baseline="0" dirty="0" smtClean="0"/>
              <a:t>Trainer asks students to think of more examples of adverbs of frequency.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9680899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the grammatical structures used for adverbs of frequency, noting that </a:t>
            </a:r>
            <a:r>
              <a:rPr lang="en-US" b="1" baseline="0" dirty="0" smtClean="0"/>
              <a:t>sometimes</a:t>
            </a:r>
            <a:r>
              <a:rPr lang="en-US" baseline="0" dirty="0" smtClean="0"/>
              <a:t> can be used at the beginning of the sentence.</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write about their typical day using adverbs of frequency in their Trainee Manual. </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to write about their typical day using adverbs of frequency in their Trainee Manual</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1981190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how to ask about the frequency of an action using ‘How often’. </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list activities they do at work in their Trainee Manual. </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to work in pairs and ask each other about the frequency of these activities. Students should write their partner’s responses in their Trainee Manual.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28990713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topic by describing his/her ideal working environment. </a:t>
            </a:r>
          </a:p>
          <a:p>
            <a:pPr>
              <a:buFont typeface="Arial" pitchFamily="34" charset="0"/>
              <a:buNone/>
            </a:pPr>
            <a:endParaRPr lang="en-US" baseline="0" dirty="0" smtClean="0"/>
          </a:p>
          <a:p>
            <a:pPr>
              <a:buFont typeface="Arial" pitchFamily="34" charset="0"/>
              <a:buNone/>
            </a:pPr>
            <a:r>
              <a:rPr lang="en-US" b="1" baseline="0" dirty="0" smtClean="0"/>
              <a:t>Class Activity – Group discussion</a:t>
            </a:r>
          </a:p>
          <a:p>
            <a:pPr>
              <a:buFont typeface="Arial" pitchFamily="34" charset="0"/>
              <a:buNone/>
            </a:pPr>
            <a:r>
              <a:rPr lang="en-US" baseline="0" dirty="0" smtClean="0"/>
              <a:t>Trainer asks students to describe their ideal working environment. </a:t>
            </a:r>
            <a:endParaRPr lang="en-US" dirty="0" smtClean="0"/>
          </a:p>
          <a:p>
            <a:pPr>
              <a:buFont typeface="Arial" pitchFamily="34" charset="0"/>
              <a:buNone/>
            </a:pPr>
            <a:endParaRPr lang="en-US" dirty="0" smtClean="0"/>
          </a:p>
          <a:p>
            <a:pPr>
              <a:buFont typeface="Arial" pitchFamily="34" charset="0"/>
              <a:buNone/>
            </a:pPr>
            <a:r>
              <a:rPr lang="en-US" dirty="0" smtClean="0"/>
              <a:t>Trainer</a:t>
            </a:r>
            <a:r>
              <a:rPr lang="en-US" baseline="0" dirty="0" smtClean="0"/>
              <a:t> explains that students should feel confident about sharing their opinions on ways to improve working conditions. </a:t>
            </a:r>
          </a:p>
          <a:p>
            <a:pPr>
              <a:buFont typeface="Arial" pitchFamily="34" charset="0"/>
              <a:buNone/>
            </a:pPr>
            <a:endParaRPr lang="en-US" baseline="0" dirty="0" smtClean="0"/>
          </a:p>
          <a:p>
            <a:pPr>
              <a:buFont typeface="Arial" pitchFamily="34" charset="0"/>
              <a:buNone/>
            </a:pPr>
            <a:r>
              <a:rPr lang="en-US" b="1" baseline="0" dirty="0" smtClean="0"/>
              <a:t>Class Activity</a:t>
            </a:r>
          </a:p>
          <a:p>
            <a:pPr>
              <a:buFont typeface="Arial" pitchFamily="34" charset="0"/>
              <a:buNone/>
            </a:pPr>
            <a:r>
              <a:rPr lang="en-US" baseline="0" dirty="0" smtClean="0"/>
              <a:t>Trainer asks students to brainstorm problems with their current workplace and write five of them down in their Trainee Manual.</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8839948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that students must be professional when making suggestions so they are not seen as being rude or pushy. </a:t>
            </a:r>
          </a:p>
          <a:p>
            <a:pPr>
              <a:buFont typeface="Arial" pitchFamily="34" charset="0"/>
              <a:buNone/>
            </a:pPr>
            <a:endParaRPr lang="en-US" baseline="0" dirty="0" smtClean="0"/>
          </a:p>
          <a:p>
            <a:pPr>
              <a:buFont typeface="Arial" pitchFamily="34" charset="0"/>
              <a:buNone/>
            </a:pPr>
            <a:r>
              <a:rPr lang="en-US" baseline="0" dirty="0" smtClean="0"/>
              <a:t>Trainer gives examples of appropriate structures, including:</a:t>
            </a:r>
            <a:endParaRPr lang="en-US" dirty="0" smtClean="0"/>
          </a:p>
          <a:p>
            <a:pPr>
              <a:buFont typeface="Arial" pitchFamily="34" charset="0"/>
              <a:buChar char="•"/>
            </a:pPr>
            <a:r>
              <a:rPr lang="en-US" dirty="0" smtClean="0"/>
              <a:t> Why</a:t>
            </a:r>
            <a:r>
              <a:rPr lang="en-US" baseline="0" dirty="0" smtClean="0"/>
              <a:t> don’t we…?</a:t>
            </a:r>
          </a:p>
          <a:p>
            <a:pPr>
              <a:buFont typeface="Arial" pitchFamily="34" charset="0"/>
              <a:buChar char="•"/>
            </a:pPr>
            <a:r>
              <a:rPr lang="en-US" baseline="0" dirty="0" smtClean="0"/>
              <a:t> It might be a good idea to…</a:t>
            </a:r>
          </a:p>
          <a:p>
            <a:pPr>
              <a:buFont typeface="Arial" pitchFamily="34" charset="0"/>
              <a:buChar char="•"/>
            </a:pPr>
            <a:r>
              <a:rPr lang="en-US" baseline="0" dirty="0" smtClean="0"/>
              <a:t> We should consider…</a:t>
            </a:r>
          </a:p>
          <a:p>
            <a:pPr>
              <a:buFont typeface="Arial" pitchFamily="34" charset="0"/>
              <a:buChar char="•"/>
            </a:pPr>
            <a:endParaRPr lang="en-US" baseline="0" dirty="0" smtClean="0"/>
          </a:p>
          <a:p>
            <a:pPr>
              <a:buFont typeface="Arial" pitchFamily="34" charset="0"/>
              <a:buNone/>
            </a:pPr>
            <a:r>
              <a:rPr lang="en-US" baseline="0" dirty="0" smtClean="0"/>
              <a:t>Trainer asks the students to brainstorm other appropriate ways to make suggestions.</a:t>
            </a:r>
          </a:p>
          <a:p>
            <a:pPr>
              <a:buFont typeface="Arial" pitchFamily="34" charset="0"/>
              <a:buChar char="•"/>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the students to use this language to write suggestions to the problems they listed in the first activity. </a:t>
            </a:r>
          </a:p>
          <a:p>
            <a:pPr>
              <a:buFont typeface="Arial" pitchFamily="34" charset="0"/>
              <a:buNone/>
            </a:pPr>
            <a:endParaRPr lang="en-US" baseline="0" dirty="0" smtClean="0"/>
          </a:p>
          <a:p>
            <a:pPr>
              <a:buFont typeface="Arial" pitchFamily="34" charset="0"/>
              <a:buNone/>
            </a:pPr>
            <a:r>
              <a:rPr lang="en-US" b="1" baseline="0" dirty="0" smtClean="0"/>
              <a:t>Class Activity – Listening</a:t>
            </a:r>
          </a:p>
          <a:p>
            <a:pPr>
              <a:buFont typeface="Arial" pitchFamily="34" charset="0"/>
              <a:buNone/>
            </a:pPr>
            <a:r>
              <a:rPr lang="en-US" baseline="0" dirty="0" smtClean="0"/>
              <a:t>Trainer instructs the students to listen to him/her describe problems (below) and write suggestions to improve them in their Trainee Manual. </a:t>
            </a:r>
          </a:p>
          <a:p>
            <a:pPr>
              <a:buFont typeface="Arial" pitchFamily="34" charset="0"/>
              <a:buNone/>
            </a:pPr>
            <a:endParaRPr lang="en-US" baseline="0" dirty="0" smtClean="0"/>
          </a:p>
          <a:p>
            <a:pPr marL="228600" indent="-228600">
              <a:buFont typeface="Arial" pitchFamily="34" charset="0"/>
              <a:buAutoNum type="arabicPeriod"/>
            </a:pPr>
            <a:r>
              <a:rPr lang="en-US" baseline="0" dirty="0" smtClean="0"/>
              <a:t>Employees in the hospitality industry often change jobs.</a:t>
            </a:r>
          </a:p>
          <a:p>
            <a:pPr marL="228600" indent="-228600">
              <a:buFont typeface="Arial" pitchFamily="34" charset="0"/>
              <a:buAutoNum type="arabicPeriod"/>
            </a:pPr>
            <a:r>
              <a:rPr lang="en-US" baseline="0" dirty="0" smtClean="0"/>
              <a:t>Sometimes hotel staff don’t know how to use a computer.</a:t>
            </a:r>
          </a:p>
          <a:p>
            <a:pPr marL="228600" indent="-228600">
              <a:buFont typeface="Arial" pitchFamily="34" charset="0"/>
              <a:buAutoNum type="arabicPeriod"/>
            </a:pPr>
            <a:r>
              <a:rPr lang="en-US" baseline="0" dirty="0" smtClean="0"/>
              <a:t>It is difficult for many employees to learn English. </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571694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likes, dislikes and preferences, asking questions such</a:t>
            </a:r>
            <a:r>
              <a:rPr lang="en-US" baseline="0" dirty="0" smtClean="0"/>
              <a:t> as:</a:t>
            </a:r>
            <a:endParaRPr lang="en-US" dirty="0" smtClean="0"/>
          </a:p>
          <a:p>
            <a:pPr>
              <a:buFont typeface="Arial" pitchFamily="34" charset="0"/>
              <a:buChar char="•"/>
            </a:pPr>
            <a:r>
              <a:rPr lang="en-US" dirty="0" smtClean="0"/>
              <a:t> Brainstorm</a:t>
            </a:r>
            <a:r>
              <a:rPr lang="en-US" baseline="0" dirty="0" smtClean="0"/>
              <a:t> some things that you like.</a:t>
            </a:r>
            <a:endParaRPr lang="en-US" dirty="0" smtClean="0"/>
          </a:p>
          <a:p>
            <a:pPr>
              <a:buFont typeface="Arial" pitchFamily="34" charset="0"/>
              <a:buChar char="•"/>
            </a:pPr>
            <a:r>
              <a:rPr lang="en-US" dirty="0" smtClean="0"/>
              <a:t> Brainstorm some</a:t>
            </a:r>
            <a:r>
              <a:rPr lang="en-US" baseline="0" dirty="0" smtClean="0"/>
              <a:t> things that you don’t like.</a:t>
            </a:r>
            <a:endParaRPr lang="en-US" dirty="0" smtClean="0"/>
          </a:p>
          <a:p>
            <a:pPr>
              <a:buFont typeface="Arial" pitchFamily="34" charset="0"/>
              <a:buChar char="•"/>
            </a:pPr>
            <a:r>
              <a:rPr lang="en-US" dirty="0" smtClean="0"/>
              <a:t> Is ‘I love’ the same as ‘I like’? What is the difference?</a:t>
            </a:r>
          </a:p>
          <a:p>
            <a:pPr>
              <a:buFont typeface="Arial" pitchFamily="34" charset="0"/>
              <a:buChar char="•"/>
            </a:pPr>
            <a:r>
              <a:rPr lang="en-US" dirty="0" smtClean="0"/>
              <a:t> Ok,</a:t>
            </a:r>
            <a:r>
              <a:rPr lang="en-US" baseline="0" dirty="0" smtClean="0"/>
              <a:t> raise your hand. Who prefers chocolate to vanilla? Oranges to apples? Spring to summer?</a:t>
            </a:r>
            <a:endParaRPr lang="en-US" dirty="0" smtClean="0"/>
          </a:p>
          <a:p>
            <a:pPr>
              <a:buFont typeface="Arial" pitchFamily="34" charset="0"/>
              <a:buChar char="•"/>
            </a:pPr>
            <a:r>
              <a:rPr lang="en-US" dirty="0" smtClean="0"/>
              <a:t> Why?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9170303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0" dirty="0" smtClean="0"/>
              <a:t>Trainer</a:t>
            </a:r>
            <a:r>
              <a:rPr lang="en-US" b="0" baseline="0" dirty="0" smtClean="0"/>
              <a:t> emphasizes the importance of the students voicing opinions at work, particularly on like and dislikes. Trainer notes that they will use this skill to: </a:t>
            </a:r>
            <a:endParaRPr lang="en-US" b="0" dirty="0" smtClean="0"/>
          </a:p>
          <a:p>
            <a:pPr>
              <a:buFont typeface="Arial" pitchFamily="34" charset="0"/>
              <a:buChar char="•"/>
            </a:pPr>
            <a:r>
              <a:rPr lang="en-US" b="0" dirty="0" smtClean="0"/>
              <a:t> help</a:t>
            </a:r>
            <a:r>
              <a:rPr lang="en-US" b="0" baseline="0" dirty="0" smtClean="0"/>
              <a:t> customers</a:t>
            </a:r>
          </a:p>
          <a:p>
            <a:pPr>
              <a:buFont typeface="Arial" pitchFamily="34" charset="0"/>
              <a:buChar char="•"/>
            </a:pPr>
            <a:r>
              <a:rPr lang="en-US" b="0" baseline="0" dirty="0" smtClean="0"/>
              <a:t> give advice</a:t>
            </a:r>
          </a:p>
          <a:p>
            <a:pPr>
              <a:buFont typeface="Arial" pitchFamily="34" charset="0"/>
              <a:buChar char="•"/>
            </a:pPr>
            <a:r>
              <a:rPr lang="en-US" b="0" baseline="0" dirty="0" smtClean="0"/>
              <a:t> relay personal experiences</a:t>
            </a:r>
          </a:p>
          <a:p>
            <a:pPr>
              <a:buFont typeface="Arial" pitchFamily="34" charset="0"/>
              <a:buChar char="•"/>
            </a:pPr>
            <a:r>
              <a:rPr lang="en-US" dirty="0" smtClean="0"/>
              <a:t> make small talk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8155269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tells the students to use the present simple tense when describing likes and dislikes. Trainer instructs students to look at the relevant exercise in the Trainee Manual and read the expressions as a class. Trainer asks if students can think of any additional expressions to express likes or dislikes. </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6794182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goes over the grammatical structures used when expressing likes or dislikes, as outlined on the slide. </a:t>
            </a:r>
          </a:p>
          <a:p>
            <a:pPr>
              <a:buFont typeface="Arial" pitchFamily="34" charset="0"/>
              <a:buNone/>
            </a:pPr>
            <a:endParaRPr lang="en-US" baseline="0" dirty="0" smtClean="0"/>
          </a:p>
          <a:p>
            <a:pPr>
              <a:buFont typeface="Arial" pitchFamily="34" charset="0"/>
              <a:buNone/>
            </a:pPr>
            <a:r>
              <a:rPr lang="en-US" b="1" baseline="0" dirty="0" smtClean="0"/>
              <a:t>Class Activity – Individual </a:t>
            </a:r>
          </a:p>
          <a:p>
            <a:pPr>
              <a:buFont typeface="Arial" pitchFamily="34" charset="0"/>
              <a:buNone/>
            </a:pPr>
            <a:r>
              <a:rPr lang="en-US" baseline="0" dirty="0" smtClean="0"/>
              <a:t>Trainer instructs students to express their likes and dislikes using the prompts in their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306546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Class</a:t>
            </a:r>
            <a:r>
              <a:rPr lang="en-US" b="1" baseline="0" dirty="0" smtClean="0"/>
              <a:t> Activity – Mingling </a:t>
            </a:r>
          </a:p>
          <a:p>
            <a:pPr>
              <a:buFont typeface="Arial" pitchFamily="34" charset="0"/>
              <a:buNone/>
            </a:pPr>
            <a:r>
              <a:rPr lang="en-US" baseline="0" dirty="0" smtClean="0"/>
              <a:t>Trainer explains the rules to Find Someone Who.</a:t>
            </a:r>
          </a:p>
          <a:p>
            <a:pPr>
              <a:buFont typeface="Arial" pitchFamily="34" charset="0"/>
              <a:buNone/>
            </a:pPr>
            <a:r>
              <a:rPr lang="en-US" dirty="0" smtClean="0"/>
              <a:t>Students must mingle with their classmates to find out what people like. Students should ask questions to each other, and write down one name for every positive answer. Students</a:t>
            </a:r>
            <a:r>
              <a:rPr lang="en-US" baseline="0" dirty="0" smtClean="0"/>
              <a:t> should not right down a name for negative answers. They should only write down the same name twice (depending on the number of students). </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6832361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a:t>
            </a:r>
            <a:r>
              <a:rPr lang="en-US" sz="1200" kern="1200" baseline="0" dirty="0" smtClean="0">
                <a:solidFill>
                  <a:schemeClr val="tx1"/>
                </a:solidFill>
                <a:latin typeface="+mn-lt"/>
                <a:ea typeface="+mn-ea"/>
                <a:cs typeface="+mn-cs"/>
              </a:rPr>
              <a:t>that the </a:t>
            </a:r>
            <a:r>
              <a:rPr lang="en-US" sz="1200" kern="1200" dirty="0" smtClean="0">
                <a:solidFill>
                  <a:schemeClr val="tx1"/>
                </a:solidFill>
                <a:latin typeface="+mn-lt"/>
                <a:ea typeface="+mn-ea"/>
                <a:cs typeface="+mn-cs"/>
              </a:rPr>
              <a:t>ability to state preferences and give</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opinions is a necessary skill for employees in any profession. Trainer describes </a:t>
            </a:r>
            <a:r>
              <a:rPr lang="en-US" sz="1200" kern="1200" baseline="0" dirty="0" smtClean="0">
                <a:solidFill>
                  <a:schemeClr val="tx1"/>
                </a:solidFill>
                <a:latin typeface="+mn-lt"/>
                <a:ea typeface="+mn-ea"/>
                <a:cs typeface="+mn-cs"/>
              </a:rPr>
              <a:t>the grammatical structures used to state preference and explains the level of formality for each one.  </a:t>
            </a:r>
            <a:endParaRPr lang="en-US" dirty="0" smtClean="0"/>
          </a:p>
          <a:p>
            <a:pPr>
              <a:buFont typeface="Arial" pitchFamily="34" charset="0"/>
              <a:buChar char="•"/>
            </a:pPr>
            <a:r>
              <a:rPr lang="en-US" dirty="0" smtClean="0"/>
              <a:t> I</a:t>
            </a:r>
            <a:r>
              <a:rPr lang="en-US" baseline="0" dirty="0" smtClean="0"/>
              <a:t> prefer apples.</a:t>
            </a:r>
          </a:p>
          <a:p>
            <a:pPr>
              <a:buFont typeface="Arial" pitchFamily="34" charset="0"/>
              <a:buChar char="•"/>
            </a:pPr>
            <a:r>
              <a:rPr lang="en-US" baseline="0" dirty="0" smtClean="0"/>
              <a:t> I would prefer apples.</a:t>
            </a:r>
          </a:p>
          <a:p>
            <a:pPr>
              <a:buFont typeface="Arial" pitchFamily="34" charset="0"/>
              <a:buChar char="•"/>
            </a:pPr>
            <a:r>
              <a:rPr lang="en-US" baseline="0" dirty="0" smtClean="0"/>
              <a:t> I would rather have apples. </a:t>
            </a:r>
          </a:p>
          <a:p>
            <a:pPr>
              <a:buFont typeface="Arial" pitchFamily="34" charset="0"/>
              <a:buChar char="•"/>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use this language to state their preference on a variety of topics in their Trainee Manual. </a:t>
            </a:r>
          </a:p>
          <a:p>
            <a:pPr>
              <a:buFont typeface="Arial" pitchFamily="34" charset="0"/>
              <a:buNone/>
            </a:pPr>
            <a:endParaRPr lang="en-US" baseline="0" dirty="0" smtClean="0"/>
          </a:p>
          <a:p>
            <a:pPr>
              <a:buFont typeface="Arial" pitchFamily="34" charset="0"/>
              <a:buNone/>
            </a:pPr>
            <a:r>
              <a:rPr lang="en-US" b="1" baseline="0" dirty="0" smtClean="0"/>
              <a:t>Class Activity </a:t>
            </a:r>
          </a:p>
          <a:p>
            <a:pPr>
              <a:buFont typeface="Arial" pitchFamily="34" charset="0"/>
              <a:buNone/>
            </a:pPr>
            <a:r>
              <a:rPr lang="en-US" baseline="0" dirty="0" smtClean="0"/>
              <a:t>Trainer asks students why they prefer certain things and notes how students give reasons. </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3279022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importance of giving reasons to support preferences, noting that preferences with support are like carriages without horses. </a:t>
            </a:r>
          </a:p>
          <a:p>
            <a:pPr>
              <a:buFont typeface="Arial" pitchFamily="34" charset="0"/>
              <a:buNone/>
            </a:pPr>
            <a:endParaRPr lang="en-US" baseline="0" dirty="0" smtClean="0"/>
          </a:p>
          <a:p>
            <a:pPr>
              <a:buFont typeface="Arial" pitchFamily="34" charset="0"/>
              <a:buNone/>
            </a:pPr>
            <a:r>
              <a:rPr lang="en-US" b="1" dirty="0" smtClean="0"/>
              <a:t>Class</a:t>
            </a:r>
            <a:r>
              <a:rPr lang="en-US" b="1" baseline="0" dirty="0" smtClean="0"/>
              <a:t> Activity - Individual</a:t>
            </a:r>
          </a:p>
          <a:p>
            <a:pPr>
              <a:buFont typeface="Arial" pitchFamily="34" charset="0"/>
              <a:buNone/>
            </a:pPr>
            <a:r>
              <a:rPr lang="en-US" baseline="0" dirty="0" smtClean="0"/>
              <a:t>Trainer instructs students to read three passages in their Trainee Manual and circle the reasons given for the preferences.</a:t>
            </a:r>
          </a:p>
          <a:p>
            <a:pPr>
              <a:buFont typeface="Arial" pitchFamily="34" charset="0"/>
              <a:buNone/>
            </a:pPr>
            <a:endParaRPr lang="en-US" baseline="0" dirty="0" smtClean="0"/>
          </a:p>
          <a:p>
            <a:pPr>
              <a:buFont typeface="Arial" pitchFamily="34" charset="0"/>
              <a:buNone/>
            </a:pPr>
            <a:r>
              <a:rPr lang="en-US" b="1" dirty="0" smtClean="0"/>
              <a:t>Class</a:t>
            </a:r>
            <a:r>
              <a:rPr lang="en-US" b="1" baseline="0" dirty="0" smtClean="0"/>
              <a:t> Activity – Pair work</a:t>
            </a:r>
          </a:p>
          <a:p>
            <a:pPr>
              <a:buFont typeface="Arial" pitchFamily="34" charset="0"/>
              <a:buNone/>
            </a:pPr>
            <a:r>
              <a:rPr lang="en-US" baseline="0" dirty="0" smtClean="0"/>
              <a:t>Trainer instructs students to work with a partner to give preferences and reasons for one topic listed in the Trainee Manual.</a:t>
            </a:r>
            <a:endParaRPr lang="en-US" dirty="0" smtClean="0"/>
          </a:p>
          <a:p>
            <a:pPr>
              <a:buFont typeface="Arial" pitchFamily="34" charset="0"/>
              <a:buNone/>
            </a:pPr>
            <a:r>
              <a:rPr lang="en-US" baseline="0" dirty="0" smtClean="0"/>
              <a:t>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705330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Performance</a:t>
            </a:r>
            <a:r>
              <a:rPr lang="en-US" baseline="0" dirty="0" smtClean="0"/>
              <a:t> Criteria for this Element, as listed on the slide. </a:t>
            </a:r>
          </a:p>
          <a:p>
            <a:pPr>
              <a:buFont typeface="Arial" pitchFamily="34" charset="0"/>
              <a:buNone/>
            </a:pPr>
            <a:endParaRPr lang="en-US" baseline="0" dirty="0" smtClean="0"/>
          </a:p>
          <a:p>
            <a:pPr>
              <a:buFont typeface="Arial" pitchFamily="34" charset="0"/>
              <a:buNone/>
            </a:pPr>
            <a:r>
              <a:rPr lang="en-US" b="1" baseline="0" dirty="0" smtClean="0"/>
              <a:t>Class Activity – General discussion</a:t>
            </a:r>
          </a:p>
          <a:p>
            <a:pPr>
              <a:buFont typeface="Arial" pitchFamily="34" charset="0"/>
              <a:buNone/>
            </a:pPr>
            <a:r>
              <a:rPr lang="en-US" dirty="0" smtClean="0"/>
              <a:t>Trainer leads a general class discussion on forms of expression in English, asking questions such</a:t>
            </a:r>
            <a:r>
              <a:rPr lang="en-US" baseline="0" dirty="0" smtClean="0"/>
              <a:t> as:</a:t>
            </a:r>
            <a:endParaRPr lang="en-US" dirty="0" smtClean="0"/>
          </a:p>
          <a:p>
            <a:pPr>
              <a:buFont typeface="Arial" pitchFamily="34" charset="0"/>
              <a:buChar char="•"/>
            </a:pPr>
            <a:r>
              <a:rPr lang="en-US" dirty="0" smtClean="0"/>
              <a:t> When should you use formal language? </a:t>
            </a:r>
          </a:p>
          <a:p>
            <a:pPr>
              <a:buFont typeface="Arial" pitchFamily="34" charset="0"/>
              <a:buChar char="•"/>
            </a:pPr>
            <a:r>
              <a:rPr lang="en-US" dirty="0" smtClean="0"/>
              <a:t> When is it OK to use informal language?</a:t>
            </a:r>
          </a:p>
          <a:p>
            <a:pPr>
              <a:buFont typeface="Arial" pitchFamily="34" charset="0"/>
              <a:buChar char="•"/>
            </a:pPr>
            <a:r>
              <a:rPr lang="en-US" dirty="0" smtClean="0"/>
              <a:t> What are some ways to make sentences more formal?</a:t>
            </a:r>
          </a:p>
          <a:p>
            <a:pPr>
              <a:buFont typeface="Arial" pitchFamily="34" charset="0"/>
              <a:buChar char="•"/>
            </a:pPr>
            <a:r>
              <a:rPr lang="en-US" dirty="0" smtClean="0"/>
              <a:t> What is the difference between ‘open-ended’ and ‘closed’ questions?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4521168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when it is appropriate to use formal English. Trainer also illustrates how people often construct formal sentences:</a:t>
            </a:r>
          </a:p>
          <a:p>
            <a:pPr>
              <a:buFont typeface="Arial" pitchFamily="34" charset="0"/>
              <a:buChar char="•"/>
            </a:pPr>
            <a:r>
              <a:rPr lang="en-US" dirty="0" smtClean="0"/>
              <a:t> pronounce words more carefully</a:t>
            </a:r>
            <a:endParaRPr lang="en-US" baseline="0" dirty="0" smtClean="0"/>
          </a:p>
          <a:p>
            <a:pPr>
              <a:buFont typeface="Arial" pitchFamily="34" charset="0"/>
              <a:buChar char="•"/>
            </a:pPr>
            <a:r>
              <a:rPr lang="en-US" baseline="0" dirty="0" smtClean="0"/>
              <a:t> don’t use contractions</a:t>
            </a:r>
          </a:p>
          <a:p>
            <a:pPr>
              <a:buFont typeface="Arial" pitchFamily="34" charset="0"/>
              <a:buChar char="•"/>
            </a:pPr>
            <a:r>
              <a:rPr lang="en-US" baseline="0" dirty="0" smtClean="0"/>
              <a:t> use more modal verbs</a:t>
            </a:r>
          </a:p>
          <a:p>
            <a:pPr>
              <a:buFont typeface="Arial" pitchFamily="34" charset="0"/>
              <a:buNone/>
            </a:pPr>
            <a:endParaRPr lang="en-US"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40748397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grammatical function of modal verbs, noting that modal verbs:</a:t>
            </a:r>
            <a:endParaRPr lang="en-US" dirty="0" smtClean="0"/>
          </a:p>
          <a:p>
            <a:pPr>
              <a:buFont typeface="Arial" pitchFamily="34" charset="0"/>
              <a:buChar char="•"/>
            </a:pPr>
            <a:r>
              <a:rPr lang="en-US" dirty="0" smtClean="0"/>
              <a:t> don’t use an ‘s’ for the third person singular</a:t>
            </a:r>
          </a:p>
          <a:p>
            <a:pPr>
              <a:buFont typeface="Arial" pitchFamily="34" charset="0"/>
              <a:buChar char="•"/>
            </a:pPr>
            <a:r>
              <a:rPr lang="en-US" dirty="0" smtClean="0"/>
              <a:t> make a question by inversion</a:t>
            </a:r>
          </a:p>
          <a:p>
            <a:pPr>
              <a:buFont typeface="Arial" pitchFamily="34" charset="0"/>
              <a:buChar char="•"/>
            </a:pPr>
            <a:r>
              <a:rPr lang="en-US" dirty="0" smtClean="0"/>
              <a:t> are</a:t>
            </a:r>
            <a:r>
              <a:rPr lang="en-US" baseline="0" dirty="0" smtClean="0"/>
              <a:t> followed directly by the infinitive of another verb</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41619562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examples of modal verbs and explains</a:t>
            </a:r>
            <a:r>
              <a:rPr lang="en-US" baseline="0" dirty="0" smtClean="0"/>
              <a:t> their function (see Trainee Manual):</a:t>
            </a:r>
            <a:endParaRPr lang="en-US" dirty="0" smtClean="0"/>
          </a:p>
          <a:p>
            <a:pPr>
              <a:buFont typeface="Arial" pitchFamily="34" charset="0"/>
              <a:buChar char="•"/>
            </a:pPr>
            <a:r>
              <a:rPr lang="en-US" dirty="0" smtClean="0"/>
              <a:t> probability</a:t>
            </a:r>
          </a:p>
          <a:p>
            <a:pPr>
              <a:buFont typeface="Arial" pitchFamily="34" charset="0"/>
              <a:buChar char="•"/>
            </a:pPr>
            <a:r>
              <a:rPr lang="en-US" dirty="0" smtClean="0"/>
              <a:t> ability</a:t>
            </a:r>
          </a:p>
          <a:p>
            <a:pPr>
              <a:buFont typeface="Arial" pitchFamily="34" charset="0"/>
              <a:buChar char="•"/>
            </a:pPr>
            <a:r>
              <a:rPr lang="en-US" dirty="0" smtClean="0"/>
              <a:t> obligation</a:t>
            </a:r>
          </a:p>
          <a:p>
            <a:pPr>
              <a:buFont typeface="Arial" pitchFamily="34" charset="0"/>
              <a:buChar char="•"/>
            </a:pPr>
            <a:r>
              <a:rPr lang="en-US" baseline="0" dirty="0" smtClean="0"/>
              <a:t> advice</a:t>
            </a:r>
          </a:p>
          <a:p>
            <a:pPr>
              <a:buFont typeface="Arial" pitchFamily="34" charset="0"/>
              <a:buChar char="•"/>
            </a:pPr>
            <a:r>
              <a:rPr lang="en-US" baseline="0" dirty="0" smtClean="0"/>
              <a:t> permission</a:t>
            </a:r>
          </a:p>
          <a:p>
            <a:pPr>
              <a:buFont typeface="Arial" pitchFamily="34" charset="0"/>
              <a:buNone/>
            </a:pPr>
            <a:endParaRPr lang="en-US" baseline="0" dirty="0" smtClean="0"/>
          </a:p>
          <a:p>
            <a:pPr>
              <a:buFont typeface="Arial" pitchFamily="34" charset="0"/>
              <a:buNone/>
            </a:pPr>
            <a:r>
              <a:rPr lang="en-US" baseline="0" dirty="0" smtClean="0"/>
              <a:t>Trainer instructs students to read this chart together as a class.</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change the questions listed in the Trainee Manual from informal to formal. </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write formal questions to the responses listed in the Trainee Manual.</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work in pairs in order to practice the dialogues together. </a:t>
            </a:r>
            <a:endParaRPr lang="en-US" dirty="0" smtClean="0"/>
          </a:p>
          <a:p>
            <a:pPr>
              <a:buFont typeface="Arial" pitchFamily="34" charset="0"/>
              <a:buNone/>
            </a:pPr>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7931056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students when informal expressions are appropriate. Trainer then explains the types of social interactions in which they are appropriate. </a:t>
            </a:r>
            <a:endParaRPr lang="en-US" dirty="0" smtClean="0"/>
          </a:p>
          <a:p>
            <a:pPr>
              <a:buFont typeface="Arial" pitchFamily="34" charset="0"/>
              <a:buNone/>
            </a:pPr>
            <a:endParaRPr lang="en-US" dirty="0" smtClean="0"/>
          </a:p>
          <a:p>
            <a:pPr>
              <a:buFont typeface="Arial" pitchFamily="34" charset="0"/>
              <a:buNone/>
            </a:pPr>
            <a:r>
              <a:rPr lang="en-US" b="1" dirty="0" smtClean="0"/>
              <a:t>Classroom</a:t>
            </a:r>
            <a:r>
              <a:rPr lang="en-US" b="1" baseline="0" dirty="0" smtClean="0"/>
              <a:t> Activity – Individual</a:t>
            </a:r>
          </a:p>
          <a:p>
            <a:pPr>
              <a:buFont typeface="Arial" pitchFamily="34" charset="0"/>
              <a:buNone/>
            </a:pPr>
            <a:r>
              <a:rPr lang="en-US" baseline="0" dirty="0" smtClean="0"/>
              <a:t>Trainer instructs students to read the dialogues in the Trainee Manual and circle examples of informal speech.</a:t>
            </a:r>
          </a:p>
          <a:p>
            <a:pPr>
              <a:buFont typeface="Arial" pitchFamily="34" charset="0"/>
              <a:buNone/>
            </a:pPr>
            <a:endParaRPr lang="en-US" baseline="0" dirty="0" smtClean="0"/>
          </a:p>
          <a:p>
            <a:pPr>
              <a:buFont typeface="Arial" pitchFamily="34" charset="0"/>
              <a:buNone/>
            </a:pPr>
            <a:r>
              <a:rPr lang="en-US" b="1" dirty="0" smtClean="0"/>
              <a:t>Classroom</a:t>
            </a:r>
            <a:r>
              <a:rPr lang="en-US" b="1" baseline="0" dirty="0" smtClean="0"/>
              <a:t> Activity </a:t>
            </a:r>
          </a:p>
          <a:p>
            <a:pPr>
              <a:buFont typeface="Arial" pitchFamily="34" charset="0"/>
              <a:buNone/>
            </a:pPr>
            <a:r>
              <a:rPr lang="en-US" baseline="0" dirty="0" smtClean="0"/>
              <a:t>Trainer asks students to defend their answers.</a:t>
            </a:r>
          </a:p>
          <a:p>
            <a:pPr>
              <a:buFont typeface="Arial" pitchFamily="34" charset="0"/>
              <a:buNone/>
            </a:pPr>
            <a:endParaRPr lang="en-US" baseline="0" dirty="0" smtClean="0"/>
          </a:p>
          <a:p>
            <a:pPr>
              <a:buFont typeface="Arial" pitchFamily="34" charset="0"/>
              <a:buNone/>
            </a:pPr>
            <a:r>
              <a:rPr lang="en-US" b="1" dirty="0" smtClean="0"/>
              <a:t>Classroom</a:t>
            </a:r>
            <a:r>
              <a:rPr lang="en-US" b="1" baseline="0" dirty="0" smtClean="0"/>
              <a:t> Activity – Pair work</a:t>
            </a:r>
          </a:p>
          <a:p>
            <a:pPr>
              <a:buFont typeface="Arial" pitchFamily="34" charset="0"/>
              <a:buNone/>
            </a:pPr>
            <a:r>
              <a:rPr lang="en-US" baseline="0" dirty="0" smtClean="0"/>
              <a:t>Trainer instructs students to work with a partner to practice saying the dialogues together. </a:t>
            </a:r>
            <a:endParaRPr lang="en-US" dirty="0" smtClean="0"/>
          </a:p>
          <a:p>
            <a:pPr>
              <a:buFont typeface="Arial" pitchFamily="34" charset="0"/>
              <a:buNone/>
            </a:pPr>
            <a:r>
              <a:rPr lang="en-US" baseline="0" dirty="0" smtClean="0"/>
              <a:t> </a:t>
            </a:r>
            <a:endParaRPr lang="en-US" dirty="0" smtClean="0"/>
          </a:p>
          <a:p>
            <a:pPr>
              <a:buFont typeface="Arial" pitchFamily="34" charset="0"/>
              <a:buNone/>
            </a:pPr>
            <a:r>
              <a:rPr lang="en-US" baseline="0"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504398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when students should use informal expressions and gives examples.</a:t>
            </a:r>
            <a:endParaRPr lang="en-US" dirty="0" smtClean="0"/>
          </a:p>
          <a:p>
            <a:pPr>
              <a:buFont typeface="Arial" pitchFamily="34" charset="0"/>
              <a:buChar char="•"/>
            </a:pPr>
            <a:r>
              <a:rPr lang="en-US" dirty="0" smtClean="0"/>
              <a:t> How’s it going?</a:t>
            </a:r>
          </a:p>
          <a:p>
            <a:pPr>
              <a:buFont typeface="Arial" pitchFamily="34" charset="0"/>
              <a:buChar char="•"/>
            </a:pPr>
            <a:r>
              <a:rPr lang="en-US" dirty="0" smtClean="0"/>
              <a:t> You doing</a:t>
            </a:r>
            <a:r>
              <a:rPr lang="en-US" baseline="0" dirty="0" smtClean="0"/>
              <a:t> OK?</a:t>
            </a:r>
          </a:p>
          <a:p>
            <a:pPr>
              <a:buFont typeface="Arial" pitchFamily="34" charset="0"/>
              <a:buChar char="•"/>
            </a:pPr>
            <a:r>
              <a:rPr lang="en-US" baseline="0" dirty="0" smtClean="0"/>
              <a:t> What’s up?</a:t>
            </a:r>
          </a:p>
          <a:p>
            <a:pPr>
              <a:buFont typeface="Arial" pitchFamily="34" charset="0"/>
              <a:buChar char="•"/>
            </a:pPr>
            <a:r>
              <a:rPr lang="en-US" baseline="0" dirty="0" smtClean="0"/>
              <a:t> Good for you.</a:t>
            </a:r>
          </a:p>
          <a:p>
            <a:pPr>
              <a:buFont typeface="Arial" pitchFamily="34" charset="0"/>
              <a:buChar char="•"/>
            </a:pPr>
            <a:endParaRPr lang="en-US" baseline="0" dirty="0" smtClean="0"/>
          </a:p>
          <a:p>
            <a:pPr>
              <a:buFont typeface="Arial" pitchFamily="34" charset="0"/>
              <a:buNone/>
            </a:pPr>
            <a:r>
              <a:rPr lang="en-US" baseline="0" dirty="0" smtClean="0"/>
              <a:t>Trainer asks students to name additional informal expressions and lists them on the board. Trainer instructs students to read the chart in the Trainee Manual as a class. </a:t>
            </a:r>
          </a:p>
          <a:p>
            <a:pPr>
              <a:buFont typeface="Arial" pitchFamily="34" charset="0"/>
              <a:buNone/>
            </a:pPr>
            <a:endParaRPr lang="en-US" baseline="0" dirty="0" smtClean="0"/>
          </a:p>
          <a:p>
            <a:pPr>
              <a:buFont typeface="Arial" pitchFamily="34" charset="0"/>
              <a:buNone/>
            </a:pPr>
            <a:r>
              <a:rPr lang="en-US" b="1" baseline="0" dirty="0" smtClean="0"/>
              <a:t>Class Activity – Individual</a:t>
            </a:r>
          </a:p>
          <a:p>
            <a:pPr>
              <a:buFont typeface="Arial" pitchFamily="34" charset="0"/>
              <a:buNone/>
            </a:pPr>
            <a:r>
              <a:rPr lang="en-US" baseline="0" dirty="0" smtClean="0"/>
              <a:t>Trainer instructs students to circle the informal expressions listed in their Trainee Manual. </a:t>
            </a:r>
          </a:p>
          <a:p>
            <a:pPr>
              <a:buFont typeface="Arial" pitchFamily="34" charset="0"/>
              <a:buNone/>
            </a:pPr>
            <a:endParaRPr lang="en-US" baseline="0" dirty="0" smtClean="0"/>
          </a:p>
          <a:p>
            <a:pPr>
              <a:buFont typeface="Arial" pitchFamily="34" charset="0"/>
              <a:buNone/>
            </a:pPr>
            <a:r>
              <a:rPr lang="en-US" b="1" baseline="0" dirty="0" smtClean="0"/>
              <a:t>Class Activity – Pair work</a:t>
            </a:r>
          </a:p>
          <a:p>
            <a:pPr>
              <a:buFont typeface="Arial" pitchFamily="34" charset="0"/>
              <a:buNone/>
            </a:pPr>
            <a:r>
              <a:rPr lang="en-US" baseline="0" dirty="0" smtClean="0"/>
              <a:t>Trainer instructs students to work with partners to create a dialogue that includes at least 4 informal expressions. Students read the dialogues to the class. </a:t>
            </a:r>
          </a:p>
          <a:p>
            <a:pPr>
              <a:buFont typeface="Arial" pitchFamily="34" charset="0"/>
              <a:buNone/>
            </a:pPr>
            <a:endParaRPr lang="en-US"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7908874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difference between open-ended questions and closed questions. </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a:t>
            </a:r>
            <a:r>
              <a:rPr lang="en-US" sz="1200" dirty="0" smtClean="0">
                <a:latin typeface="Helvetica" pitchFamily="34" charset="0"/>
              </a:rPr>
              <a:t>An </a:t>
            </a:r>
            <a:r>
              <a:rPr lang="en-US" sz="1200" b="1" dirty="0" smtClean="0">
                <a:latin typeface="Helvetica" pitchFamily="34" charset="0"/>
              </a:rPr>
              <a:t>open-ended question </a:t>
            </a:r>
            <a:r>
              <a:rPr lang="en-US" sz="1200" dirty="0" smtClean="0">
                <a:latin typeface="Helvetica" pitchFamily="34" charset="0"/>
              </a:rPr>
              <a:t>requires an answer greater than a single word or two.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 A </a:t>
            </a:r>
            <a:r>
              <a:rPr lang="en-US" sz="1200" b="1" dirty="0" smtClean="0">
                <a:latin typeface="Helvetica" pitchFamily="34" charset="0"/>
              </a:rPr>
              <a:t>closed question </a:t>
            </a:r>
            <a:r>
              <a:rPr lang="en-US" sz="1200" dirty="0" smtClean="0">
                <a:latin typeface="Helvetica" pitchFamily="34" charset="0"/>
              </a:rPr>
              <a:t>can be answered with a simple "Yes," "No," or other very simple answer.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dirty="0" smtClean="0">
                <a:latin typeface="Helvetica" pitchFamily="34" charset="0"/>
              </a:rPr>
              <a:t>Trainer emphasizes</a:t>
            </a:r>
            <a:r>
              <a:rPr lang="en-US" sz="1200" baseline="0" dirty="0" smtClean="0">
                <a:latin typeface="Helvetica" pitchFamily="34" charset="0"/>
              </a:rPr>
              <a:t> that understanding the difference is a very important part of communicating in English. </a:t>
            </a:r>
            <a:endParaRPr lang="en-US" sz="1200" dirty="0" smtClean="0">
              <a:latin typeface="Helvetica" pitchFamily="34" charset="0"/>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963204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further explains the function of open-ended questions and offers examples. </a:t>
            </a:r>
            <a:endParaRPr lang="en-US" dirty="0" smtClean="0"/>
          </a:p>
          <a:p>
            <a:pPr>
              <a:buFont typeface="Arial" pitchFamily="34" charset="0"/>
              <a:buChar char="•"/>
            </a:pPr>
            <a:r>
              <a:rPr lang="en-US" dirty="0" smtClean="0"/>
              <a:t> How</a:t>
            </a:r>
            <a:r>
              <a:rPr lang="en-US" baseline="0" dirty="0" smtClean="0"/>
              <a:t> are you today?</a:t>
            </a:r>
          </a:p>
          <a:p>
            <a:pPr>
              <a:buFont typeface="Arial" pitchFamily="34" charset="0"/>
              <a:buChar char="•"/>
            </a:pPr>
            <a:r>
              <a:rPr lang="en-US" baseline="0" dirty="0" smtClean="0"/>
              <a:t> How was your stay?</a:t>
            </a:r>
          </a:p>
          <a:p>
            <a:pPr>
              <a:buFont typeface="Arial" pitchFamily="34" charset="0"/>
              <a:buChar char="•"/>
            </a:pPr>
            <a:r>
              <a:rPr lang="en-US" baseline="0" dirty="0" smtClean="0"/>
              <a:t> Why did you do this?</a:t>
            </a:r>
          </a:p>
          <a:p>
            <a:pPr>
              <a:buFont typeface="Arial" pitchFamily="34" charset="0"/>
              <a:buChar char="•"/>
            </a:pPr>
            <a:r>
              <a:rPr lang="en-US" baseline="0" dirty="0" smtClean="0"/>
              <a:t> What are you looking for?</a:t>
            </a:r>
          </a:p>
          <a:p>
            <a:pPr>
              <a:buFont typeface="Arial" pitchFamily="34" charset="0"/>
              <a:buChar char="•"/>
            </a:pPr>
            <a:endParaRPr lang="en-US" baseline="0" dirty="0" smtClean="0"/>
          </a:p>
          <a:p>
            <a:pPr>
              <a:buFont typeface="Arial" pitchFamily="34" charset="0"/>
              <a:buNone/>
            </a:pPr>
            <a:r>
              <a:rPr lang="en-US" baseline="0" dirty="0" smtClean="0"/>
              <a:t>Trainer asks the students to brainstorm more examples of open-ended questions.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0305380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further explains the function of closed questions and offers examples. </a:t>
            </a:r>
            <a:endParaRPr lang="en-US" dirty="0" smtClean="0"/>
          </a:p>
          <a:p>
            <a:pPr>
              <a:buFont typeface="Arial" pitchFamily="34" charset="0"/>
              <a:buChar char="•"/>
            </a:pPr>
            <a:r>
              <a:rPr lang="en-US" dirty="0" smtClean="0"/>
              <a:t> May/Can I help you?</a:t>
            </a:r>
            <a:endParaRPr lang="en-US" baseline="0" dirty="0" smtClean="0"/>
          </a:p>
          <a:p>
            <a:pPr>
              <a:buFont typeface="Arial" pitchFamily="34" charset="0"/>
              <a:buChar char="•"/>
            </a:pPr>
            <a:r>
              <a:rPr lang="en-US" baseline="0" dirty="0" smtClean="0"/>
              <a:t> Can I get you something, sir/madam?</a:t>
            </a:r>
          </a:p>
          <a:p>
            <a:pPr>
              <a:buFont typeface="Arial" pitchFamily="34" charset="0"/>
              <a:buChar char="•"/>
            </a:pPr>
            <a:r>
              <a:rPr lang="en-US" baseline="0" dirty="0" smtClean="0"/>
              <a:t> Could you help me?</a:t>
            </a:r>
          </a:p>
          <a:p>
            <a:pPr>
              <a:buFont typeface="Arial" pitchFamily="34" charset="0"/>
              <a:buChar char="•"/>
            </a:pPr>
            <a:r>
              <a:rPr lang="en-US" baseline="0" dirty="0" smtClean="0"/>
              <a:t> Are you enjoying yourself?</a:t>
            </a:r>
          </a:p>
          <a:p>
            <a:pPr>
              <a:buFont typeface="Arial" pitchFamily="34" charset="0"/>
              <a:buChar cha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asks the students to brainstorm more examples of closed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Individual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read a dialogue in the Trainee Manual and determine whether the questions asked are open-ended or closed.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Pair work</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work in pairs to practice reading the dialogue together. </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470481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describes the question words used to form open-ended and closed questions. </a:t>
            </a:r>
            <a:endParaRPr lang="en-US" dirty="0" smtClean="0"/>
          </a:p>
          <a:p>
            <a:pPr>
              <a:buFont typeface="Arial" pitchFamily="34" charset="0"/>
              <a:buChar char="•"/>
            </a:pPr>
            <a:r>
              <a:rPr lang="en-US" dirty="0" smtClean="0"/>
              <a:t> Open-ended questions often begin with the words: WHAT, HOW, and WHY.</a:t>
            </a:r>
          </a:p>
          <a:p>
            <a:pPr>
              <a:buFont typeface="Arial" pitchFamily="34" charset="0"/>
              <a:buChar char="•"/>
            </a:pPr>
            <a:r>
              <a:rPr lang="en-US" baseline="0" dirty="0" smtClean="0"/>
              <a:t> Closed questions often begin with the words: WHEN, WHERE, and WHO.</a:t>
            </a:r>
          </a:p>
          <a:p>
            <a:pPr>
              <a:buFont typeface="Arial" pitchFamily="34" charset="0"/>
              <a:buNone/>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asks the students why they would use certain types of questions at certain times.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read the question chart in the Trainee Manual.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Individual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fill in the blanks to the questions in the Trainee Manual and specify if the question is open-ended or closed.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Pair work</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work in pairs to practice reading the questions together.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Individual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write two open-ended questions and two closed questions in their Trainee Manual.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Pair work</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Trainer instructs students to ask a partner these questions and record their answers. </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7254246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This</a:t>
            </a:r>
            <a:r>
              <a:rPr lang="en-AU" sz="1200"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audience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155361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3/13/2015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3/13/2015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3/13/2015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3/13/2015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3/13/2015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sxc.hu/browse.phtml?f=download&amp;id=132368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engvid.com/give-advice-should-ought-to-had-better/"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www.youtube.com/watch?v=00k85ENbak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engvid.com/polite-english-8-ways-to-say-thank-you/"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476672"/>
            <a:ext cx="7992888" cy="1584176"/>
          </a:xfrm>
        </p:spPr>
        <p:txBody>
          <a:bodyPr>
            <a:noAutofit/>
          </a:bodyPr>
          <a:lstStyle/>
          <a:p>
            <a:r>
              <a:rPr lang="en-US" sz="4000" cap="none" dirty="0" smtClean="0">
                <a:ln w="5000" cmpd="sng">
                  <a:noFill/>
                  <a:prstDash val="solid"/>
                </a:ln>
                <a:solidFill>
                  <a:srgbClr val="FF6600"/>
                </a:solidFill>
                <a:latin typeface="Helvetica" pitchFamily="34" charset="0"/>
              </a:rPr>
              <a:t>Converse in English at a basic operational level</a:t>
            </a:r>
            <a:endParaRPr lang="en-US" sz="4000" cap="none"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076056" y="6021288"/>
            <a:ext cx="3693396" cy="357190"/>
          </a:xfrm>
        </p:spPr>
        <p:txBody>
          <a:bodyPr/>
          <a:lstStyle/>
          <a:p>
            <a:r>
              <a:rPr lang="en-US" b="1" dirty="0" smtClean="0">
                <a:latin typeface="Helvetica" pitchFamily="34" charset="0"/>
              </a:rPr>
              <a:t>Unit Code: </a:t>
            </a:r>
            <a:r>
              <a:rPr lang="en-AU" b="1" dirty="0" smtClean="0">
                <a:latin typeface="Helvetica" pitchFamily="34" charset="0"/>
              </a:rPr>
              <a:t>D1.LAN.CL10.01</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8" name="Picture 4" descr="C:\Users\Quentin\Desktop\Images\restaurant-hotels.jpg"/>
          <p:cNvPicPr>
            <a:picLocks noChangeAspect="1" noChangeArrowheads="1"/>
          </p:cNvPicPr>
          <p:nvPr/>
        </p:nvPicPr>
        <p:blipFill>
          <a:blip r:embed="rId3" cstate="print"/>
          <a:srcRect/>
          <a:stretch>
            <a:fillRect/>
          </a:stretch>
        </p:blipFill>
        <p:spPr bwMode="auto">
          <a:xfrm>
            <a:off x="1547664" y="4365104"/>
            <a:ext cx="2999811" cy="19912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2" descr="C:\Users\Quentin\Desktop\Images\1.1 SLBK-Greeting-by-Guest-Relations.jpg"/>
          <p:cNvPicPr>
            <a:picLocks noChangeAspect="1" noChangeArrowheads="1"/>
          </p:cNvPicPr>
          <p:nvPr/>
        </p:nvPicPr>
        <p:blipFill>
          <a:blip r:embed="rId4" cstate="print"/>
          <a:srcRect/>
          <a:stretch>
            <a:fillRect/>
          </a:stretch>
        </p:blipFill>
        <p:spPr bwMode="auto">
          <a:xfrm>
            <a:off x="3275856" y="2780928"/>
            <a:ext cx="2880320" cy="21801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Users\Quentin\Desktop\Images\3.3 HospitalityProducts.gif"/>
          <p:cNvPicPr>
            <a:picLocks noChangeAspect="1" noChangeArrowheads="1" noCrop="1"/>
          </p:cNvPicPr>
          <p:nvPr/>
        </p:nvPicPr>
        <p:blipFill>
          <a:blip r:embed="rId5" cstate="print"/>
          <a:srcRect/>
          <a:stretch>
            <a:fillRect/>
          </a:stretch>
        </p:blipFill>
        <p:spPr bwMode="auto">
          <a:xfrm>
            <a:off x="1187624" y="1916832"/>
            <a:ext cx="2467362" cy="21608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560840" cy="1296144"/>
          </a:xfrm>
        </p:spPr>
        <p:txBody>
          <a:bodyPr>
            <a:normAutofit/>
          </a:bodyPr>
          <a:lstStyle/>
          <a:p>
            <a:r>
              <a:rPr lang="en-US" sz="3400" b="1" dirty="0" smtClean="0">
                <a:ln w="5000" cmpd="sng">
                  <a:noFill/>
                  <a:prstDash val="solid"/>
                </a:ln>
                <a:solidFill>
                  <a:srgbClr val="FF6600"/>
                </a:solidFill>
                <a:latin typeface="Helvetica" pitchFamily="34" charset="0"/>
              </a:rPr>
              <a:t>Converse in English at a basic operational level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six Elements:</a:t>
            </a:r>
          </a:p>
          <a:p>
            <a:pPr marL="360000" indent="-360000">
              <a:spcBef>
                <a:spcPts val="600"/>
              </a:spcBef>
              <a:spcAft>
                <a:spcPts val="1200"/>
              </a:spcAft>
            </a:pPr>
            <a:r>
              <a:rPr lang="en-US" sz="2200" dirty="0" smtClean="0">
                <a:latin typeface="Helvetica" pitchFamily="34" charset="0"/>
              </a:rPr>
              <a:t>Participate in simple conversations on familiar topics with work colleagues</a:t>
            </a:r>
          </a:p>
          <a:p>
            <a:pPr marL="360000" indent="-360000">
              <a:spcBef>
                <a:spcPts val="600"/>
              </a:spcBef>
              <a:spcAft>
                <a:spcPts val="1200"/>
              </a:spcAft>
            </a:pPr>
            <a:r>
              <a:rPr lang="en-US" sz="2200" dirty="0" smtClean="0">
                <a:latin typeface="Helvetica" pitchFamily="34" charset="0"/>
              </a:rPr>
              <a:t>Respond to simple verbal instructions or requests</a:t>
            </a:r>
          </a:p>
          <a:p>
            <a:pPr marL="360000" indent="-360000">
              <a:spcBef>
                <a:spcPts val="600"/>
              </a:spcBef>
              <a:spcAft>
                <a:spcPts val="1200"/>
              </a:spcAft>
            </a:pPr>
            <a:r>
              <a:rPr lang="en-US" sz="2200" dirty="0" smtClean="0">
                <a:latin typeface="Helvetica" pitchFamily="34" charset="0"/>
              </a:rPr>
              <a:t>Make simple requests</a:t>
            </a:r>
          </a:p>
          <a:p>
            <a:pPr marL="360000" indent="-360000">
              <a:spcBef>
                <a:spcPts val="600"/>
              </a:spcBef>
              <a:spcAft>
                <a:spcPts val="1200"/>
              </a:spcAft>
            </a:pPr>
            <a:r>
              <a:rPr lang="en-US" sz="2200" dirty="0" smtClean="0">
                <a:latin typeface="Helvetica" pitchFamily="34" charset="0"/>
              </a:rPr>
              <a:t>Describe routine procedures</a:t>
            </a:r>
          </a:p>
          <a:p>
            <a:pPr marL="360000" indent="-360000">
              <a:spcBef>
                <a:spcPts val="600"/>
              </a:spcBef>
              <a:spcAft>
                <a:spcPts val="1200"/>
              </a:spcAft>
            </a:pPr>
            <a:r>
              <a:rPr lang="en-US" sz="2200" dirty="0" smtClean="0">
                <a:latin typeface="Helvetica" pitchFamily="34" charset="0"/>
              </a:rPr>
              <a:t>Express likes, dislikes and preferences</a:t>
            </a:r>
          </a:p>
          <a:p>
            <a:pPr marL="360000" indent="-360000">
              <a:spcBef>
                <a:spcPts val="600"/>
              </a:spcBef>
              <a:spcAft>
                <a:spcPts val="1200"/>
              </a:spcAft>
            </a:pPr>
            <a:r>
              <a:rPr lang="en-US" sz="2200" dirty="0" smtClean="0">
                <a:latin typeface="Helvetica" pitchFamily="34" charset="0"/>
              </a:rPr>
              <a:t>Identify different forms of expression in English.</a:t>
            </a:r>
          </a:p>
          <a:p>
            <a:pPr marL="360000" indent="-360000">
              <a:spcBef>
                <a:spcPts val="600"/>
              </a:spcBef>
              <a:spcAft>
                <a:spcPts val="1200"/>
              </a:spcAft>
            </a:pPr>
            <a:endParaRPr lang="en-US" sz="1800" dirty="0" smtClean="0">
              <a:latin typeface="Helvetica" pitchFamily="34" charset="0"/>
            </a:endParaRPr>
          </a:p>
          <a:p>
            <a:pPr marL="360000" indent="-360000">
              <a:spcBef>
                <a:spcPts val="600"/>
              </a:spcBef>
              <a:spcAft>
                <a:spcPts val="1200"/>
              </a:spcAft>
            </a:pPr>
            <a:endParaRPr lang="en-US" sz="18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2050" name="Picture 2" descr="C:\Users\Quentin\Desktop\Images\6.1 recepcionista.jpg"/>
          <p:cNvPicPr>
            <a:picLocks noChangeAspect="1" noChangeArrowheads="1"/>
          </p:cNvPicPr>
          <p:nvPr/>
        </p:nvPicPr>
        <p:blipFill>
          <a:blip r:embed="rId3" cstate="print"/>
          <a:srcRect/>
          <a:stretch>
            <a:fillRect/>
          </a:stretch>
        </p:blipFill>
        <p:spPr bwMode="auto">
          <a:xfrm>
            <a:off x="7164288" y="3789040"/>
            <a:ext cx="1511353" cy="1530484"/>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employer/supervisor.</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3074" name="Picture 2" descr="C:\Users\Quentin\Desktop\Images\penclchk.gif"/>
          <p:cNvPicPr>
            <a:picLocks noChangeAspect="1" noChangeArrowheads="1"/>
          </p:cNvPicPr>
          <p:nvPr/>
        </p:nvPicPr>
        <p:blipFill>
          <a:blip r:embed="rId3" cstate="print"/>
          <a:srcRect/>
          <a:stretch>
            <a:fillRect/>
          </a:stretch>
        </p:blipFill>
        <p:spPr bwMode="auto">
          <a:xfrm>
            <a:off x="6660232" y="836712"/>
            <a:ext cx="2144827" cy="2309814"/>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352928" cy="1503040"/>
          </a:xfrm>
        </p:spPr>
        <p:txBody>
          <a:bodyPr>
            <a:normAutofit fontScale="90000"/>
          </a:bodyPr>
          <a:lstStyle/>
          <a:p>
            <a:r>
              <a:rPr lang="en-US" sz="3800" b="1" dirty="0" smtClean="0">
                <a:solidFill>
                  <a:srgbClr val="FF6600"/>
                </a:solidFill>
                <a:latin typeface="Helvetica" pitchFamily="34" charset="0"/>
              </a:rPr>
              <a:t>Participate in simple conversations on familiar topics with work colleagues</a:t>
            </a:r>
            <a:r>
              <a:rPr lang="en-US" sz="3400" b="1" dirty="0" smtClean="0">
                <a:solidFill>
                  <a:srgbClr val="FF6600"/>
                </a:solidFill>
                <a:latin typeface="Helvetica" pitchFamily="34" charset="0"/>
              </a:rPr>
              <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77281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1.1 Use and respond appropriately to </a:t>
            </a:r>
            <a:r>
              <a:rPr lang="en-US" sz="2200" i="1" dirty="0" smtClean="0">
                <a:latin typeface="Helvetica" pitchFamily="34" charset="0"/>
              </a:rPr>
              <a:t>opening comments</a:t>
            </a:r>
          </a:p>
          <a:p>
            <a:pPr marL="360000" indent="-360000">
              <a:spcBef>
                <a:spcPts val="600"/>
              </a:spcBef>
              <a:spcAft>
                <a:spcPts val="1200"/>
              </a:spcAft>
            </a:pPr>
            <a:r>
              <a:rPr lang="en-US" sz="2200" dirty="0" smtClean="0">
                <a:latin typeface="Helvetica" pitchFamily="34" charset="0"/>
              </a:rPr>
              <a:t>1.2 Comment on </a:t>
            </a:r>
            <a:r>
              <a:rPr lang="en-US" sz="2200" i="1" dirty="0" smtClean="0">
                <a:latin typeface="Helvetica" pitchFamily="34" charset="0"/>
              </a:rPr>
              <a:t>familiar</a:t>
            </a:r>
            <a:r>
              <a:rPr lang="en-US" sz="2200" dirty="0" smtClean="0">
                <a:latin typeface="Helvetica" pitchFamily="34" charset="0"/>
              </a:rPr>
              <a:t> topics</a:t>
            </a:r>
          </a:p>
          <a:p>
            <a:pPr marL="360000" indent="-360000">
              <a:spcBef>
                <a:spcPts val="600"/>
              </a:spcBef>
              <a:spcAft>
                <a:spcPts val="1200"/>
              </a:spcAft>
            </a:pPr>
            <a:r>
              <a:rPr lang="en-US" sz="2200" dirty="0" smtClean="0">
                <a:latin typeface="Helvetica" pitchFamily="34" charset="0"/>
              </a:rPr>
              <a:t>1.3 Talk about a past event</a:t>
            </a:r>
          </a:p>
          <a:p>
            <a:pPr marL="360000" indent="-360000">
              <a:spcBef>
                <a:spcPts val="600"/>
              </a:spcBef>
              <a:spcAft>
                <a:spcPts val="1200"/>
              </a:spcAft>
            </a:pPr>
            <a:r>
              <a:rPr lang="en-US" sz="2200" dirty="0" smtClean="0">
                <a:latin typeface="Helvetica" pitchFamily="34" charset="0"/>
              </a:rPr>
              <a:t>1.4 Use closing remarks appropriately to end the conversation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1030" name="Picture 6" descr="I:\Overseas Projects\PHOTOS\2012\4995491304_cbf8bea82e[1].jpg"/>
          <p:cNvPicPr>
            <a:picLocks noChangeAspect="1" noChangeArrowheads="1"/>
          </p:cNvPicPr>
          <p:nvPr/>
        </p:nvPicPr>
        <p:blipFill>
          <a:blip r:embed="rId3" cstate="print"/>
          <a:srcRect/>
          <a:stretch>
            <a:fillRect/>
          </a:stretch>
        </p:blipFill>
        <p:spPr bwMode="auto">
          <a:xfrm>
            <a:off x="6228184" y="4941168"/>
            <a:ext cx="2232248" cy="148584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Responding to opening comments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093915"/>
          </a:xfrm>
        </p:spPr>
        <p:txBody>
          <a:bodyPr>
            <a:normAutofit/>
          </a:bodyPr>
          <a:lstStyle/>
          <a:p>
            <a:pPr marL="0" indent="0">
              <a:spcBef>
                <a:spcPts val="1200"/>
              </a:spcBef>
              <a:spcAft>
                <a:spcPts val="1200"/>
              </a:spcAft>
              <a:buNone/>
            </a:pPr>
            <a:r>
              <a:rPr lang="en-US" sz="2200" dirty="0" smtClean="0">
                <a:latin typeface="Helvetica" pitchFamily="34" charset="0"/>
              </a:rPr>
              <a:t>Opening statements:</a:t>
            </a:r>
          </a:p>
          <a:p>
            <a:pPr marL="360000" indent="-360000">
              <a:spcBef>
                <a:spcPts val="1200"/>
              </a:spcBef>
              <a:spcAft>
                <a:spcPts val="1200"/>
              </a:spcAft>
            </a:pPr>
            <a:r>
              <a:rPr lang="en-US" sz="2200" dirty="0" smtClean="0">
                <a:latin typeface="Helvetica" pitchFamily="34" charset="0"/>
              </a:rPr>
              <a:t>start a conversation</a:t>
            </a:r>
          </a:p>
          <a:p>
            <a:pPr marL="360000" indent="-360000">
              <a:spcBef>
                <a:spcPts val="1200"/>
              </a:spcBef>
              <a:spcAft>
                <a:spcPts val="1200"/>
              </a:spcAft>
            </a:pPr>
            <a:r>
              <a:rPr lang="en-US" sz="2200" dirty="0" smtClean="0">
                <a:latin typeface="Helvetica" pitchFamily="34" charset="0"/>
              </a:rPr>
              <a:t>tell the listener the purpose of the conversation</a:t>
            </a:r>
          </a:p>
          <a:p>
            <a:pPr marL="360000" indent="-360000">
              <a:spcBef>
                <a:spcPts val="1200"/>
              </a:spcBef>
              <a:spcAft>
                <a:spcPts val="1200"/>
              </a:spcAft>
            </a:pPr>
            <a:r>
              <a:rPr lang="en-US" sz="2200" dirty="0" smtClean="0">
                <a:latin typeface="Helvetica" pitchFamily="34" charset="0"/>
              </a:rPr>
              <a:t>give direction on how to continue the conversation.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1028" name="Picture 4" descr="I:\Overseas Projects\PHOTOS\Accommodation 2009\Angliss RestaurantV2[1].75.jpg"/>
          <p:cNvPicPr>
            <a:picLocks noChangeAspect="1" noChangeArrowheads="1"/>
          </p:cNvPicPr>
          <p:nvPr/>
        </p:nvPicPr>
        <p:blipFill>
          <a:blip r:embed="rId3" cstate="print"/>
          <a:srcRect/>
          <a:stretch>
            <a:fillRect/>
          </a:stretch>
        </p:blipFill>
        <p:spPr bwMode="auto">
          <a:xfrm>
            <a:off x="3131840" y="4293096"/>
            <a:ext cx="2520058" cy="167918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16632"/>
            <a:ext cx="7467600" cy="1143000"/>
          </a:xfrm>
        </p:spPr>
        <p:txBody>
          <a:bodyPr>
            <a:normAutofit/>
          </a:bodyPr>
          <a:lstStyle/>
          <a:p>
            <a:r>
              <a:rPr lang="en-US" sz="3400" b="1" dirty="0" smtClean="0">
                <a:solidFill>
                  <a:srgbClr val="FF6600"/>
                </a:solidFill>
                <a:latin typeface="Helvetica" pitchFamily="34" charset="0"/>
              </a:rPr>
              <a:t>Responding to opening comments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Understanding and responding appropriately to opening comments is very important at work. </a:t>
            </a:r>
          </a:p>
          <a:p>
            <a:pPr marL="0" indent="0">
              <a:spcBef>
                <a:spcPts val="600"/>
              </a:spcBef>
              <a:spcAft>
                <a:spcPts val="1200"/>
              </a:spcAft>
              <a:buNone/>
            </a:pPr>
            <a:r>
              <a:rPr lang="en-US" sz="2200" b="1" dirty="0" smtClean="0">
                <a:latin typeface="Helvetica" pitchFamily="34" charset="0"/>
              </a:rPr>
              <a:t>Employees who are able to do this:</a:t>
            </a:r>
          </a:p>
          <a:p>
            <a:pPr marL="360000" indent="-360000">
              <a:spcBef>
                <a:spcPts val="600"/>
              </a:spcBef>
              <a:spcAft>
                <a:spcPts val="1200"/>
              </a:spcAft>
            </a:pPr>
            <a:r>
              <a:rPr lang="en-US" sz="2200" dirty="0" smtClean="0">
                <a:latin typeface="Helvetica" pitchFamily="34" charset="0"/>
              </a:rPr>
              <a:t>leave a good first impression.</a:t>
            </a:r>
          </a:p>
          <a:p>
            <a:pPr marL="360000" lvl="0" indent="-360000">
              <a:spcBef>
                <a:spcPts val="600"/>
              </a:spcBef>
              <a:spcAft>
                <a:spcPts val="1200"/>
              </a:spcAft>
              <a:buClr>
                <a:srgbClr val="7FD13B"/>
              </a:buClr>
            </a:pPr>
            <a:r>
              <a:rPr lang="en-US" sz="2200" dirty="0" smtClean="0">
                <a:solidFill>
                  <a:prstClr val="black"/>
                </a:solidFill>
                <a:latin typeface="Helvetica" pitchFamily="34" charset="0"/>
              </a:rPr>
              <a:t>communicate well with colleagues and customers.</a:t>
            </a:r>
          </a:p>
          <a:p>
            <a:pPr marL="360000" lvl="0" indent="-360000">
              <a:spcBef>
                <a:spcPts val="600"/>
              </a:spcBef>
              <a:spcAft>
                <a:spcPts val="1200"/>
              </a:spcAft>
              <a:buClr>
                <a:srgbClr val="7FD13B"/>
              </a:buClr>
              <a:buNone/>
            </a:pPr>
            <a:r>
              <a:rPr lang="en-US" sz="2200" b="1" dirty="0" smtClean="0">
                <a:latin typeface="Helvetica" pitchFamily="34" charset="0"/>
              </a:rPr>
              <a:t>Employees who are NOT able to do this: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may leave guests confused or upset</a:t>
            </a:r>
          </a:p>
          <a:p>
            <a:pPr marL="360000" lvl="0" indent="-360000">
              <a:spcBef>
                <a:spcPts val="600"/>
              </a:spcBef>
              <a:spcAft>
                <a:spcPts val="1200"/>
              </a:spcAft>
              <a:buClr>
                <a:srgbClr val="7FD13B"/>
              </a:buClr>
            </a:pPr>
            <a:r>
              <a:rPr lang="en-US" sz="2200" dirty="0" smtClean="0">
                <a:solidFill>
                  <a:prstClr val="black"/>
                </a:solidFill>
                <a:latin typeface="Helvetica" pitchFamily="34" charset="0"/>
              </a:rPr>
              <a:t>could contribute to miscommunication at work.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2051" name="Picture 3" descr="I:\Overseas Projects\PHOTOS\Accommodation 2009\presentingaccount.jpg"/>
          <p:cNvPicPr>
            <a:picLocks noChangeAspect="1" noChangeArrowheads="1"/>
          </p:cNvPicPr>
          <p:nvPr/>
        </p:nvPicPr>
        <p:blipFill>
          <a:blip r:embed="rId3" cstate="print"/>
          <a:srcRect/>
          <a:stretch>
            <a:fillRect/>
          </a:stretch>
        </p:blipFill>
        <p:spPr bwMode="auto">
          <a:xfrm>
            <a:off x="7092280" y="4509120"/>
            <a:ext cx="1779523" cy="177418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Responding to opening comments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Starting a conversation can be very stressful, but it can also be very rewarding. Here are some examples of opening statements to help you get started.</a:t>
            </a:r>
          </a:p>
          <a:p>
            <a:pPr marL="0" indent="0">
              <a:spcBef>
                <a:spcPts val="600"/>
              </a:spcBef>
              <a:spcAft>
                <a:spcPts val="1200"/>
              </a:spcAft>
              <a:buNone/>
            </a:pPr>
            <a:r>
              <a:rPr lang="en-US" sz="2200" b="1" dirty="0" smtClean="0">
                <a:latin typeface="Helvetica" pitchFamily="34" charset="0"/>
              </a:rPr>
              <a:t>Examples: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How are you?</a:t>
            </a:r>
          </a:p>
          <a:p>
            <a:pPr marL="360000" indent="-360000">
              <a:spcBef>
                <a:spcPts val="600"/>
              </a:spcBef>
              <a:spcAft>
                <a:spcPts val="1200"/>
              </a:spcAft>
            </a:pPr>
            <a:r>
              <a:rPr lang="en-US" sz="2200" dirty="0" smtClean="0">
                <a:latin typeface="Helvetica" pitchFamily="34" charset="0"/>
              </a:rPr>
              <a:t>How’s the weather today?</a:t>
            </a:r>
          </a:p>
          <a:p>
            <a:pPr marL="360000" indent="-360000">
              <a:spcBef>
                <a:spcPts val="600"/>
              </a:spcBef>
              <a:spcAft>
                <a:spcPts val="1200"/>
              </a:spcAft>
            </a:pPr>
            <a:r>
              <a:rPr lang="en-US" sz="2200" dirty="0" smtClean="0">
                <a:latin typeface="Helvetica" pitchFamily="34" charset="0"/>
              </a:rPr>
              <a:t>How did your shift go?</a:t>
            </a:r>
          </a:p>
          <a:p>
            <a:pPr marL="360000" indent="-360000">
              <a:spcBef>
                <a:spcPts val="600"/>
              </a:spcBef>
              <a:spcAft>
                <a:spcPts val="1200"/>
              </a:spcAft>
            </a:pPr>
            <a:r>
              <a:rPr lang="en-US" sz="2200" dirty="0" smtClean="0">
                <a:latin typeface="Helvetica" pitchFamily="34" charset="0"/>
              </a:rPr>
              <a:t>Anything new today?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2050" name="Picture 2" descr="C:\Users\Quentin\Desktop\Images\colleagues-talking-300x199.jpg"/>
          <p:cNvPicPr>
            <a:picLocks noChangeAspect="1" noChangeArrowheads="1"/>
          </p:cNvPicPr>
          <p:nvPr/>
        </p:nvPicPr>
        <p:blipFill>
          <a:blip r:embed="rId3" cstate="print"/>
          <a:srcRect/>
          <a:stretch>
            <a:fillRect/>
          </a:stretch>
        </p:blipFill>
        <p:spPr bwMode="auto">
          <a:xfrm>
            <a:off x="5220072" y="3212976"/>
            <a:ext cx="2857500" cy="18954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Responding to opening comments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Some people get very nervous when starting a conversation. Here are some tips that will help make it easier:</a:t>
            </a:r>
          </a:p>
          <a:p>
            <a:pPr marL="360000" indent="-360000">
              <a:spcBef>
                <a:spcPts val="600"/>
              </a:spcBef>
              <a:spcAft>
                <a:spcPts val="1200"/>
              </a:spcAft>
            </a:pPr>
            <a:r>
              <a:rPr lang="en-US" sz="2200" dirty="0" smtClean="0">
                <a:latin typeface="Helvetica" pitchFamily="34" charset="0"/>
              </a:rPr>
              <a:t>Research interesting things to talk about</a:t>
            </a:r>
          </a:p>
          <a:p>
            <a:pPr marL="360000" indent="-360000">
              <a:spcBef>
                <a:spcPts val="600"/>
              </a:spcBef>
              <a:spcAft>
                <a:spcPts val="1200"/>
              </a:spcAft>
            </a:pPr>
            <a:r>
              <a:rPr lang="en-US" sz="2200" dirty="0" smtClean="0">
                <a:latin typeface="Helvetica" pitchFamily="34" charset="0"/>
              </a:rPr>
              <a:t>Relax</a:t>
            </a:r>
          </a:p>
          <a:p>
            <a:pPr marL="360000" indent="-360000">
              <a:spcBef>
                <a:spcPts val="600"/>
              </a:spcBef>
              <a:spcAft>
                <a:spcPts val="1200"/>
              </a:spcAft>
            </a:pPr>
            <a:r>
              <a:rPr lang="en-US" sz="2200" dirty="0" smtClean="0">
                <a:latin typeface="Helvetica" pitchFamily="34" charset="0"/>
              </a:rPr>
              <a:t>Be prepared to listen</a:t>
            </a:r>
          </a:p>
          <a:p>
            <a:pPr marL="360000" indent="-360000">
              <a:spcBef>
                <a:spcPts val="600"/>
              </a:spcBef>
              <a:spcAft>
                <a:spcPts val="1200"/>
              </a:spcAft>
            </a:pPr>
            <a:r>
              <a:rPr lang="en-US" sz="2200" dirty="0" smtClean="0">
                <a:latin typeface="Helvetica" pitchFamily="34" charset="0"/>
              </a:rPr>
              <a:t>Avoid complaining or gossip</a:t>
            </a:r>
          </a:p>
          <a:p>
            <a:pPr marL="360000" indent="-360000">
              <a:spcBef>
                <a:spcPts val="600"/>
              </a:spcBef>
              <a:spcAft>
                <a:spcPts val="1200"/>
              </a:spcAft>
            </a:pPr>
            <a:r>
              <a:rPr lang="en-US" sz="2200" dirty="0" smtClean="0">
                <a:latin typeface="Helvetica" pitchFamily="34" charset="0"/>
              </a:rPr>
              <a:t>Be yourself.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3074" name="Picture 2" descr="C:\Users\Quentin\Desktop\Images\conversation.gif"/>
          <p:cNvPicPr>
            <a:picLocks noChangeAspect="1" noChangeArrowheads="1"/>
          </p:cNvPicPr>
          <p:nvPr/>
        </p:nvPicPr>
        <p:blipFill>
          <a:blip r:embed="rId3" cstate="print"/>
          <a:srcRect/>
          <a:stretch>
            <a:fillRect/>
          </a:stretch>
        </p:blipFill>
        <p:spPr bwMode="auto">
          <a:xfrm>
            <a:off x="5436096" y="3717032"/>
            <a:ext cx="2500330" cy="1933589"/>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Responding to opening comments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1200"/>
              </a:spcBef>
              <a:spcAft>
                <a:spcPts val="1200"/>
              </a:spcAft>
              <a:buNone/>
            </a:pPr>
            <a:r>
              <a:rPr lang="en-US" sz="2200" dirty="0" smtClean="0">
                <a:latin typeface="Helvetica" pitchFamily="34" charset="0"/>
              </a:rPr>
              <a:t>In your Trainee Manual, write personal responses to the opening statements. Add your own for the final two. </a:t>
            </a:r>
          </a:p>
          <a:p>
            <a:pPr marL="360000" indent="-360000">
              <a:spcBef>
                <a:spcPts val="1200"/>
              </a:spcBef>
              <a:spcAft>
                <a:spcPts val="1200"/>
              </a:spcAft>
            </a:pPr>
            <a:r>
              <a:rPr lang="en-US" sz="2200" dirty="0" smtClean="0">
                <a:latin typeface="Helvetica" pitchFamily="34" charset="0"/>
              </a:rPr>
              <a:t>How did your shift go today? ___________________</a:t>
            </a:r>
          </a:p>
          <a:p>
            <a:pPr marL="360000" indent="-360000">
              <a:spcBef>
                <a:spcPts val="1200"/>
              </a:spcBef>
              <a:spcAft>
                <a:spcPts val="1200"/>
              </a:spcAft>
            </a:pPr>
            <a:r>
              <a:rPr lang="en-US" sz="2200" dirty="0" smtClean="0">
                <a:latin typeface="Helvetica" pitchFamily="34" charset="0"/>
              </a:rPr>
              <a:t>What’s the weather like? ___________________</a:t>
            </a:r>
          </a:p>
          <a:p>
            <a:pPr marL="360000" indent="-360000">
              <a:spcBef>
                <a:spcPts val="1200"/>
              </a:spcBef>
              <a:spcAft>
                <a:spcPts val="1200"/>
              </a:spcAft>
            </a:pPr>
            <a:r>
              <a:rPr lang="en-US" sz="2200" dirty="0" smtClean="0">
                <a:latin typeface="Helvetica" pitchFamily="34" charset="0"/>
              </a:rPr>
              <a:t>What time is lunch? ____________________</a:t>
            </a:r>
          </a:p>
          <a:p>
            <a:pPr marL="360000" indent="-360000">
              <a:spcBef>
                <a:spcPts val="1200"/>
              </a:spcBef>
              <a:spcAft>
                <a:spcPts val="1200"/>
              </a:spcAft>
            </a:pPr>
            <a:r>
              <a:rPr lang="en-US" sz="2200" dirty="0" smtClean="0">
                <a:latin typeface="Helvetica" pitchFamily="34" charset="0"/>
              </a:rPr>
              <a:t>(Add your own) _____________________?</a:t>
            </a:r>
          </a:p>
          <a:p>
            <a:pPr marL="360000" indent="-360000">
              <a:spcBef>
                <a:spcPts val="1200"/>
              </a:spcBef>
              <a:spcAft>
                <a:spcPts val="1200"/>
              </a:spcAft>
            </a:pPr>
            <a:r>
              <a:rPr lang="en-US" sz="2200" dirty="0" smtClean="0">
                <a:latin typeface="Helvetica" pitchFamily="34" charset="0"/>
              </a:rPr>
              <a:t>(Add your own) _____________________?</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115714" name="Picture 2" descr="Question Mark">
            <a:hlinkClick r:id="rId3"/>
          </p:cNvPr>
          <p:cNvPicPr>
            <a:picLocks noChangeAspect="1" noChangeArrowheads="1"/>
          </p:cNvPicPr>
          <p:nvPr/>
        </p:nvPicPr>
        <p:blipFill>
          <a:blip r:embed="rId4" cstate="print">
            <a:clrChange>
              <a:clrFrom>
                <a:srgbClr val="FEFEFE"/>
              </a:clrFrom>
              <a:clrTo>
                <a:srgbClr val="FEFEFE">
                  <a:alpha val="0"/>
                </a:srgbClr>
              </a:clrTo>
            </a:clrChange>
          </a:blip>
          <a:srcRect/>
          <a:stretch>
            <a:fillRect/>
          </a:stretch>
        </p:blipFill>
        <p:spPr bwMode="auto">
          <a:xfrm rot="169455">
            <a:off x="6736081" y="4421978"/>
            <a:ext cx="2358984" cy="2044453"/>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Talking about familiar topics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People in the service industry will often be required to provide assistance to guests or clients. This often includes:</a:t>
            </a:r>
          </a:p>
          <a:p>
            <a:pPr marL="360000" indent="-360000">
              <a:spcBef>
                <a:spcPts val="600"/>
              </a:spcBef>
              <a:spcAft>
                <a:spcPts val="1200"/>
              </a:spcAft>
            </a:pPr>
            <a:r>
              <a:rPr lang="en-US" sz="2200" dirty="0" smtClean="0">
                <a:latin typeface="Helvetica" pitchFamily="34" charset="0"/>
              </a:rPr>
              <a:t>giving directions</a:t>
            </a:r>
          </a:p>
          <a:p>
            <a:pPr marL="360000" indent="-360000">
              <a:spcBef>
                <a:spcPts val="600"/>
              </a:spcBef>
              <a:spcAft>
                <a:spcPts val="1200"/>
              </a:spcAft>
            </a:pPr>
            <a:r>
              <a:rPr lang="en-US" sz="2200" dirty="0" smtClean="0">
                <a:latin typeface="Helvetica" pitchFamily="34" charset="0"/>
              </a:rPr>
              <a:t>offering advice</a:t>
            </a:r>
          </a:p>
          <a:p>
            <a:pPr marL="360000" indent="-360000">
              <a:spcBef>
                <a:spcPts val="600"/>
              </a:spcBef>
              <a:spcAft>
                <a:spcPts val="1200"/>
              </a:spcAft>
            </a:pPr>
            <a:r>
              <a:rPr lang="en-US" sz="2200" dirty="0" smtClean="0">
                <a:latin typeface="Helvetica" pitchFamily="34" charset="0"/>
              </a:rPr>
              <a:t>taking care of a customer’s special needs.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4098" name="Picture 2" descr="C:\Users\Quentin\Desktop\Images\1.2 concierge-directions-istock_000005944190medium-main.jpg"/>
          <p:cNvPicPr>
            <a:picLocks noChangeAspect="1" noChangeArrowheads="1"/>
          </p:cNvPicPr>
          <p:nvPr/>
        </p:nvPicPr>
        <p:blipFill>
          <a:blip r:embed="rId3" cstate="print"/>
          <a:srcRect r="13448"/>
          <a:stretch>
            <a:fillRect/>
          </a:stretch>
        </p:blipFill>
        <p:spPr bwMode="auto">
          <a:xfrm>
            <a:off x="5004048" y="4437112"/>
            <a:ext cx="3010604" cy="172803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Talking about familiar topics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Giving directions </a:t>
            </a:r>
            <a:r>
              <a:rPr lang="en-US" sz="2200" dirty="0" smtClean="0">
                <a:latin typeface="Helvetica" pitchFamily="34" charset="0"/>
              </a:rPr>
              <a:t>is an everyday occurrence in hospitality. Employees should be familiar with prepositions of location/direction including:</a:t>
            </a:r>
          </a:p>
          <a:p>
            <a:pPr marL="360000" indent="-360000">
              <a:spcBef>
                <a:spcPts val="600"/>
              </a:spcBef>
              <a:spcAft>
                <a:spcPts val="1200"/>
              </a:spcAft>
            </a:pPr>
            <a:r>
              <a:rPr lang="en-US" sz="2200" dirty="0" smtClean="0">
                <a:latin typeface="Helvetica" pitchFamily="34" charset="0"/>
              </a:rPr>
              <a:t>into/out of</a:t>
            </a:r>
          </a:p>
          <a:p>
            <a:pPr marL="360000" indent="-360000">
              <a:spcBef>
                <a:spcPts val="600"/>
              </a:spcBef>
              <a:spcAft>
                <a:spcPts val="1200"/>
              </a:spcAft>
            </a:pPr>
            <a:r>
              <a:rPr lang="en-US" sz="2200" dirty="0" smtClean="0">
                <a:latin typeface="Helvetica" pitchFamily="34" charset="0"/>
              </a:rPr>
              <a:t>at the bottom of/at the top of</a:t>
            </a:r>
          </a:p>
          <a:p>
            <a:pPr marL="360000" indent="-360000">
              <a:spcBef>
                <a:spcPts val="600"/>
              </a:spcBef>
              <a:spcAft>
                <a:spcPts val="1200"/>
              </a:spcAft>
            </a:pPr>
            <a:r>
              <a:rPr lang="en-US" sz="2200" dirty="0" smtClean="0">
                <a:latin typeface="Helvetica" pitchFamily="34" charset="0"/>
              </a:rPr>
              <a:t>in front of/behind</a:t>
            </a:r>
          </a:p>
          <a:p>
            <a:pPr marL="360000" indent="-360000">
              <a:spcBef>
                <a:spcPts val="600"/>
              </a:spcBef>
              <a:spcAft>
                <a:spcPts val="1200"/>
              </a:spcAft>
            </a:pPr>
            <a:r>
              <a:rPr lang="en-US" sz="2200" dirty="0" smtClean="0">
                <a:latin typeface="Helvetica" pitchFamily="34" charset="0"/>
              </a:rPr>
              <a:t>along</a:t>
            </a:r>
          </a:p>
          <a:p>
            <a:pPr marL="360000" indent="-360000">
              <a:spcBef>
                <a:spcPts val="600"/>
              </a:spcBef>
              <a:spcAft>
                <a:spcPts val="1200"/>
              </a:spcAft>
            </a:pPr>
            <a:r>
              <a:rPr lang="en-US" sz="2200" dirty="0" smtClean="0">
                <a:latin typeface="Helvetica" pitchFamily="34" charset="0"/>
              </a:rPr>
              <a:t>past.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122" name="Picture 2" descr="C:\Users\Quentin\Desktop\Images\directions.jpg"/>
          <p:cNvPicPr>
            <a:picLocks noChangeAspect="1" noChangeArrowheads="1"/>
          </p:cNvPicPr>
          <p:nvPr/>
        </p:nvPicPr>
        <p:blipFill>
          <a:blip r:embed="rId3" cstate="print"/>
          <a:srcRect/>
          <a:stretch>
            <a:fillRect/>
          </a:stretch>
        </p:blipFill>
        <p:spPr bwMode="auto">
          <a:xfrm>
            <a:off x="5940152" y="3429000"/>
            <a:ext cx="2049462" cy="26066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Talking about familiar topics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You must also understand different ways to ask for directions. These include:</a:t>
            </a:r>
          </a:p>
          <a:p>
            <a:pPr marL="360000" indent="-360000">
              <a:spcBef>
                <a:spcPts val="1200"/>
              </a:spcBef>
              <a:spcAft>
                <a:spcPts val="1200"/>
              </a:spcAft>
            </a:pPr>
            <a:r>
              <a:rPr lang="en-US" sz="2200" dirty="0" smtClean="0">
                <a:latin typeface="Helvetica" pitchFamily="34" charset="0"/>
              </a:rPr>
              <a:t>Where is __________________? </a:t>
            </a:r>
          </a:p>
          <a:p>
            <a:pPr marL="360000" indent="-360000">
              <a:spcBef>
                <a:spcPts val="1200"/>
              </a:spcBef>
              <a:spcAft>
                <a:spcPts val="1200"/>
              </a:spcAft>
            </a:pPr>
            <a:r>
              <a:rPr lang="en-US" sz="2200" dirty="0" smtClean="0">
                <a:latin typeface="Helvetica" pitchFamily="34" charset="0"/>
              </a:rPr>
              <a:t>How do I get to __________________?</a:t>
            </a:r>
          </a:p>
          <a:p>
            <a:pPr marL="360000" indent="-360000">
              <a:spcBef>
                <a:spcPts val="1200"/>
              </a:spcBef>
              <a:spcAft>
                <a:spcPts val="1200"/>
              </a:spcAft>
            </a:pPr>
            <a:r>
              <a:rPr lang="en-US" sz="2200" dirty="0" smtClean="0">
                <a:latin typeface="Helvetica" pitchFamily="34" charset="0"/>
              </a:rPr>
              <a:t>Can you tell me where the __________ is?</a:t>
            </a:r>
          </a:p>
          <a:p>
            <a:pPr marL="360000" indent="-360000">
              <a:spcBef>
                <a:spcPts val="1200"/>
              </a:spcBef>
              <a:spcAft>
                <a:spcPts val="1200"/>
              </a:spcAft>
            </a:pPr>
            <a:r>
              <a:rPr lang="en-US" sz="2200" dirty="0" smtClean="0">
                <a:latin typeface="Helvetica" pitchFamily="34" charset="0"/>
              </a:rPr>
              <a:t>I’m looking for the ____________.</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109569" name="Picture 1" descr="C:\Documents and Settings\jirayut\Local Settings\Temporary Internet Files\Content.IE5\UBEM25R5\MP900408930[1].jpg"/>
          <p:cNvPicPr>
            <a:picLocks noChangeAspect="1" noChangeArrowheads="1"/>
          </p:cNvPicPr>
          <p:nvPr/>
        </p:nvPicPr>
        <p:blipFill>
          <a:blip r:embed="rId3" cstate="print"/>
          <a:srcRect/>
          <a:stretch>
            <a:fillRect/>
          </a:stretch>
        </p:blipFill>
        <p:spPr bwMode="auto">
          <a:xfrm>
            <a:off x="6372200" y="4509120"/>
            <a:ext cx="1872208" cy="187220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Talking about familiar topics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lnSpcReduction="10000"/>
          </a:bodyPr>
          <a:lstStyle/>
          <a:p>
            <a:pPr marL="0" indent="0">
              <a:spcBef>
                <a:spcPts val="600"/>
              </a:spcBef>
              <a:spcAft>
                <a:spcPts val="600"/>
              </a:spcAft>
              <a:buNone/>
            </a:pPr>
            <a:r>
              <a:rPr lang="en-US" sz="2200" dirty="0" smtClean="0">
                <a:latin typeface="Helvetica" pitchFamily="34" charset="0"/>
              </a:rPr>
              <a:t>You will also be required to </a:t>
            </a:r>
            <a:r>
              <a:rPr lang="en-US" sz="2200" b="1" dirty="0" smtClean="0">
                <a:latin typeface="Helvetica" pitchFamily="34" charset="0"/>
              </a:rPr>
              <a:t>give advice </a:t>
            </a:r>
            <a:r>
              <a:rPr lang="en-US" sz="2200" dirty="0" smtClean="0">
                <a:latin typeface="Helvetica" pitchFamily="34" charset="0"/>
              </a:rPr>
              <a:t>to customers using ‘</a:t>
            </a:r>
            <a:r>
              <a:rPr lang="en-US" sz="2200" b="1" dirty="0" smtClean="0">
                <a:latin typeface="Helvetica" pitchFamily="34" charset="0"/>
              </a:rPr>
              <a:t>should</a:t>
            </a:r>
            <a:r>
              <a:rPr lang="en-US" sz="2200" dirty="0" smtClean="0">
                <a:latin typeface="Helvetica" pitchFamily="34" charset="0"/>
              </a:rPr>
              <a:t>’ and ‘</a:t>
            </a:r>
            <a:r>
              <a:rPr lang="en-US" sz="2200" b="1" dirty="0" smtClean="0">
                <a:latin typeface="Helvetica" pitchFamily="34" charset="0"/>
              </a:rPr>
              <a:t>ought to</a:t>
            </a:r>
            <a:r>
              <a:rPr lang="en-US" sz="2200" dirty="0" smtClean="0">
                <a:latin typeface="Helvetica" pitchFamily="34" charset="0"/>
              </a:rPr>
              <a:t>’. </a:t>
            </a:r>
          </a:p>
          <a:p>
            <a:pPr marL="0" indent="0">
              <a:spcBef>
                <a:spcPts val="600"/>
              </a:spcBef>
              <a:spcAft>
                <a:spcPts val="600"/>
              </a:spcAft>
              <a:buNone/>
            </a:pPr>
            <a:r>
              <a:rPr lang="en-US" sz="2200" dirty="0" smtClean="0">
                <a:latin typeface="Helvetica" pitchFamily="34" charset="0"/>
              </a:rPr>
              <a:t>Examples:</a:t>
            </a:r>
          </a:p>
          <a:p>
            <a:pPr marL="360000" indent="-360000">
              <a:spcBef>
                <a:spcPts val="600"/>
              </a:spcBef>
              <a:spcAft>
                <a:spcPts val="600"/>
              </a:spcAft>
            </a:pPr>
            <a:r>
              <a:rPr lang="en-US" sz="2200" dirty="0" smtClean="0">
                <a:latin typeface="Helvetica" pitchFamily="34" charset="0"/>
              </a:rPr>
              <a:t>You </a:t>
            </a:r>
            <a:r>
              <a:rPr lang="en-US" sz="2200" b="1" dirty="0" smtClean="0">
                <a:latin typeface="Helvetica" pitchFamily="34" charset="0"/>
              </a:rPr>
              <a:t>should</a:t>
            </a:r>
            <a:r>
              <a:rPr lang="en-US" sz="2200" dirty="0" smtClean="0">
                <a:latin typeface="Helvetica" pitchFamily="34" charset="0"/>
              </a:rPr>
              <a:t> go to the Acme Restaurant for dinner</a:t>
            </a:r>
          </a:p>
          <a:p>
            <a:pPr marL="360000" indent="-360000">
              <a:spcBef>
                <a:spcPts val="600"/>
              </a:spcBef>
              <a:spcAft>
                <a:spcPts val="600"/>
              </a:spcAft>
            </a:pPr>
            <a:r>
              <a:rPr lang="en-US" sz="2200" dirty="0" smtClean="0">
                <a:latin typeface="Helvetica" pitchFamily="34" charset="0"/>
              </a:rPr>
              <a:t>He </a:t>
            </a:r>
            <a:r>
              <a:rPr lang="en-US" sz="2200" b="1" dirty="0" smtClean="0">
                <a:latin typeface="Helvetica" pitchFamily="34" charset="0"/>
              </a:rPr>
              <a:t>ought to </a:t>
            </a:r>
            <a:r>
              <a:rPr lang="en-US" sz="2200" dirty="0" smtClean="0">
                <a:latin typeface="Helvetica" pitchFamily="34" charset="0"/>
              </a:rPr>
              <a:t>go to the museum today.</a:t>
            </a:r>
          </a:p>
          <a:p>
            <a:pPr marL="360000" indent="-360000">
              <a:spcBef>
                <a:spcPts val="600"/>
              </a:spcBef>
              <a:spcAft>
                <a:spcPts val="600"/>
              </a:spcAft>
              <a:buNone/>
            </a:pPr>
            <a:endParaRPr lang="en-US" sz="2200" dirty="0" smtClean="0">
              <a:latin typeface="Helvetica" pitchFamily="34" charset="0"/>
            </a:endParaRPr>
          </a:p>
          <a:p>
            <a:pPr marL="0" indent="-360000">
              <a:spcBef>
                <a:spcPts val="600"/>
              </a:spcBef>
              <a:spcAft>
                <a:spcPts val="600"/>
              </a:spcAft>
              <a:buNone/>
            </a:pPr>
            <a:r>
              <a:rPr lang="en-US" sz="2200" dirty="0" smtClean="0">
                <a:latin typeface="Helvetica" pitchFamily="34" charset="0"/>
                <a:hlinkClick r:id="rId3"/>
              </a:rPr>
              <a:t>http://www.engvid.com/give-advice-should-ought-to-had-better/</a:t>
            </a:r>
            <a:r>
              <a:rPr lang="en-US" sz="2200" dirty="0" smtClean="0">
                <a:latin typeface="Helvetica" pitchFamily="34" charset="0"/>
              </a:rPr>
              <a:t> </a:t>
            </a:r>
          </a:p>
          <a:p>
            <a:pPr marL="0" indent="-360000">
              <a:spcBef>
                <a:spcPts val="600"/>
              </a:spcBef>
              <a:spcAft>
                <a:spcPts val="600"/>
              </a:spcAft>
              <a:buNone/>
            </a:pPr>
            <a:r>
              <a:rPr lang="en-US" sz="1800" dirty="0" smtClean="0">
                <a:latin typeface="Helvetica" pitchFamily="34" charset="0"/>
              </a:rPr>
              <a:t>Or </a:t>
            </a:r>
          </a:p>
          <a:p>
            <a:pPr marL="0" indent="-360000">
              <a:spcBef>
                <a:spcPts val="600"/>
              </a:spcBef>
              <a:spcAft>
                <a:spcPts val="600"/>
              </a:spcAft>
              <a:buNone/>
            </a:pPr>
            <a:r>
              <a:rPr lang="en-US" sz="2200" dirty="0" smtClean="0">
                <a:latin typeface="Helvetica" pitchFamily="34" charset="0"/>
                <a:hlinkClick r:id="rId4"/>
              </a:rPr>
              <a:t>http://www.youtube.com/watch?v=00k85ENbak4</a:t>
            </a:r>
            <a:r>
              <a:rPr lang="en-US" sz="2200" dirty="0" smtClean="0">
                <a:latin typeface="Helvetica" pitchFamily="34" charset="0"/>
              </a:rPr>
              <a: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107521" name="Picture 1"/>
          <p:cNvPicPr>
            <a:picLocks noChangeAspect="1" noChangeArrowheads="1"/>
          </p:cNvPicPr>
          <p:nvPr/>
        </p:nvPicPr>
        <p:blipFill>
          <a:blip r:embed="rId5" cstate="print"/>
          <a:srcRect/>
          <a:stretch>
            <a:fillRect/>
          </a:stretch>
        </p:blipFill>
        <p:spPr bwMode="auto">
          <a:xfrm>
            <a:off x="7452320" y="5013176"/>
            <a:ext cx="1440160" cy="139444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Talking about familiar topics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marL="0" indent="0">
              <a:spcBef>
                <a:spcPts val="600"/>
              </a:spcBef>
              <a:spcAft>
                <a:spcPts val="1200"/>
              </a:spcAft>
              <a:buNone/>
            </a:pPr>
            <a:r>
              <a:rPr lang="en-US" sz="2200" dirty="0" smtClean="0">
                <a:latin typeface="Helvetica" pitchFamily="34" charset="0"/>
              </a:rPr>
              <a:t>Employees must also be able to respond to </a:t>
            </a:r>
            <a:r>
              <a:rPr lang="en-US" sz="2200" b="1" dirty="0" smtClean="0">
                <a:latin typeface="Helvetica" pitchFamily="34" charset="0"/>
              </a:rPr>
              <a:t>customer complaints</a:t>
            </a:r>
            <a:r>
              <a:rPr lang="en-US" sz="2200" dirty="0" smtClean="0">
                <a:latin typeface="Helvetica" pitchFamily="34" charset="0"/>
              </a:rPr>
              <a:t>. In order to deal with complaints, take the following steps:</a:t>
            </a:r>
          </a:p>
          <a:p>
            <a:pPr marL="360000" indent="-360000">
              <a:spcBef>
                <a:spcPts val="600"/>
              </a:spcBef>
              <a:spcAft>
                <a:spcPts val="1200"/>
              </a:spcAft>
            </a:pPr>
            <a:r>
              <a:rPr lang="en-US" sz="2200" b="1" dirty="0" smtClean="0">
                <a:latin typeface="Helvetica" pitchFamily="34" charset="0"/>
              </a:rPr>
              <a:t>Apologize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I’m sorry, sir/madam.</a:t>
            </a:r>
          </a:p>
          <a:p>
            <a:pPr marL="360000" indent="-360000">
              <a:spcBef>
                <a:spcPts val="600"/>
              </a:spcBef>
              <a:spcAft>
                <a:spcPts val="1200"/>
              </a:spcAft>
            </a:pPr>
            <a:r>
              <a:rPr lang="en-US" sz="2200" b="1" dirty="0" smtClean="0">
                <a:latin typeface="Helvetica" pitchFamily="34" charset="0"/>
              </a:rPr>
              <a:t>Attempt to solve the problem</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I will look into it immediately.</a:t>
            </a:r>
          </a:p>
          <a:p>
            <a:pPr marL="360000" indent="-360000">
              <a:spcBef>
                <a:spcPts val="600"/>
              </a:spcBef>
              <a:spcAft>
                <a:spcPts val="1200"/>
              </a:spcAft>
            </a:pPr>
            <a:r>
              <a:rPr lang="en-US" sz="2200" b="1" dirty="0" smtClean="0">
                <a:latin typeface="Helvetica" pitchFamily="34" charset="0"/>
              </a:rPr>
              <a:t>Alert a supervisor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Just one minute, please. I will alert my supervisor. </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146" name="Picture 2" descr="C:\Users\Quentin\Desktop\Images\medium_gfc1313683496.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732240" y="2780928"/>
            <a:ext cx="1905000" cy="112395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Using the simple past tense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There are two types of verbs in the simple past tense: </a:t>
            </a:r>
            <a:r>
              <a:rPr lang="en-US" sz="2200" b="1" dirty="0" smtClean="0">
                <a:latin typeface="Helvetica" pitchFamily="34" charset="0"/>
              </a:rPr>
              <a:t>regular</a:t>
            </a:r>
            <a:r>
              <a:rPr lang="en-US" sz="2200" dirty="0" smtClean="0">
                <a:latin typeface="Helvetica" pitchFamily="34" charset="0"/>
              </a:rPr>
              <a:t> and </a:t>
            </a:r>
            <a:r>
              <a:rPr lang="en-US" sz="2200" b="1" dirty="0" smtClean="0">
                <a:latin typeface="Helvetica" pitchFamily="34" charset="0"/>
              </a:rPr>
              <a:t>irregular</a:t>
            </a:r>
            <a:r>
              <a:rPr lang="en-US" sz="2200" dirty="0" smtClean="0">
                <a:latin typeface="Helvetica" pitchFamily="34" charset="0"/>
              </a:rPr>
              <a:t>. </a:t>
            </a:r>
          </a:p>
          <a:p>
            <a:pPr marL="360000" indent="-360000">
              <a:spcBef>
                <a:spcPts val="1200"/>
              </a:spcBef>
              <a:spcAft>
                <a:spcPts val="1200"/>
              </a:spcAft>
            </a:pPr>
            <a:r>
              <a:rPr lang="en-US" sz="2200" dirty="0" smtClean="0">
                <a:latin typeface="Helvetica" pitchFamily="34" charset="0"/>
              </a:rPr>
              <a:t>Regular</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These types of verbs always end in </a:t>
            </a:r>
            <a:r>
              <a:rPr lang="en-US" sz="2200" b="1" dirty="0" smtClean="0">
                <a:latin typeface="Helvetica" pitchFamily="34" charset="0"/>
              </a:rPr>
              <a:t>–ed</a:t>
            </a:r>
            <a:r>
              <a:rPr lang="en-US" sz="2200" dirty="0" smtClean="0">
                <a:latin typeface="Helvetica" pitchFamily="34" charset="0"/>
              </a:rPr>
              <a:t>.</a:t>
            </a:r>
          </a:p>
          <a:p>
            <a:pPr marL="360000" indent="-360000">
              <a:spcBef>
                <a:spcPts val="1200"/>
              </a:spcBef>
              <a:spcAft>
                <a:spcPts val="1200"/>
              </a:spcAft>
            </a:pPr>
            <a:r>
              <a:rPr lang="en-US" sz="2200" dirty="0" smtClean="0">
                <a:latin typeface="Helvetica" pitchFamily="34" charset="0"/>
              </a:rPr>
              <a:t>Irregular</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No grammar rule. Must remember each verb. </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170" name="Picture 2" descr="C:\Users\Quentin\Desktop\Images\1.3Past%20Events.jpg"/>
          <p:cNvPicPr>
            <a:picLocks noChangeAspect="1" noChangeArrowheads="1"/>
          </p:cNvPicPr>
          <p:nvPr/>
        </p:nvPicPr>
        <p:blipFill>
          <a:blip r:embed="rId3" cstate="print"/>
          <a:srcRect/>
          <a:stretch>
            <a:fillRect/>
          </a:stretch>
        </p:blipFill>
        <p:spPr bwMode="auto">
          <a:xfrm>
            <a:off x="6948264" y="5013176"/>
            <a:ext cx="1591725" cy="140664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Using the simple past tense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Find Someone Who…</a:t>
            </a:r>
          </a:p>
          <a:p>
            <a:pPr marL="360000" indent="-360000">
              <a:spcBef>
                <a:spcPts val="1200"/>
              </a:spcBef>
              <a:spcAft>
                <a:spcPts val="1200"/>
              </a:spcAft>
              <a:buNone/>
            </a:pPr>
            <a:r>
              <a:rPr lang="en-US" sz="2200" dirty="0" smtClean="0">
                <a:latin typeface="Helvetica" pitchFamily="34" charset="0"/>
              </a:rPr>
              <a:t>Example:</a:t>
            </a:r>
          </a:p>
          <a:p>
            <a:pPr marL="360000" indent="-360000">
              <a:spcBef>
                <a:spcPts val="1200"/>
              </a:spcBef>
              <a:spcAft>
                <a:spcPts val="1200"/>
              </a:spcAft>
            </a:pPr>
            <a:r>
              <a:rPr lang="en-US" sz="2200" dirty="0" smtClean="0">
                <a:latin typeface="Helvetica" pitchFamily="34" charset="0"/>
              </a:rPr>
              <a:t>went hiking today.</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Did you go hiking today?</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Yes, I did. / No, I didn’t. </a:t>
            </a:r>
          </a:p>
          <a:p>
            <a:pPr marL="720000" indent="-360000">
              <a:spcBef>
                <a:spcPts val="1200"/>
              </a:spcBef>
              <a:spcAft>
                <a:spcPts val="1200"/>
              </a:spcAft>
              <a:buClr>
                <a:schemeClr val="accent1">
                  <a:lumMod val="75000"/>
                </a:schemeClr>
              </a:buClr>
              <a:buSzPct val="100000"/>
              <a:buNone/>
            </a:pPr>
            <a:endParaRPr lang="en-US" sz="2200" dirty="0" smtClean="0">
              <a:latin typeface="Helvetica" pitchFamily="34" charset="0"/>
            </a:endParaRPr>
          </a:p>
          <a:p>
            <a:pPr marL="360000" indent="-360000">
              <a:spcBef>
                <a:spcPts val="1200"/>
              </a:spcBef>
              <a:spcAft>
                <a:spcPts val="1200"/>
              </a:spcAft>
              <a:buNone/>
            </a:pPr>
            <a:r>
              <a:rPr lang="en-US" sz="2200" dirty="0" smtClean="0">
                <a:latin typeface="Helvetica" pitchFamily="34" charset="0"/>
              </a:rPr>
              <a:t>1. went hiking today. </a:t>
            </a:r>
            <a:r>
              <a:rPr lang="en-US" sz="2200" u="sng" dirty="0" smtClean="0">
                <a:latin typeface="Helvetica" pitchFamily="34" charset="0"/>
              </a:rPr>
              <a:t>    David       </a:t>
            </a:r>
            <a:r>
              <a:rPr lang="en-US" sz="2200" dirty="0" smtClean="0">
                <a:latin typeface="Helvetica" pitchFamily="34" charset="0"/>
              </a:rPr>
              <a: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sp>
        <p:nvSpPr>
          <p:cNvPr id="5" name="Oval 4"/>
          <p:cNvSpPr/>
          <p:nvPr/>
        </p:nvSpPr>
        <p:spPr>
          <a:xfrm>
            <a:off x="1342470" y="4005064"/>
            <a:ext cx="1285314" cy="64294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8194" name="Picture 2" descr="C:\Users\Quentin\Desktop\Images\1.3brazil-tourists-759452.jpg"/>
          <p:cNvPicPr>
            <a:picLocks noChangeAspect="1" noChangeArrowheads="1"/>
          </p:cNvPicPr>
          <p:nvPr/>
        </p:nvPicPr>
        <p:blipFill>
          <a:blip r:embed="rId3" cstate="print"/>
          <a:srcRect/>
          <a:stretch>
            <a:fillRect/>
          </a:stretch>
        </p:blipFill>
        <p:spPr bwMode="auto">
          <a:xfrm>
            <a:off x="5868144" y="2204864"/>
            <a:ext cx="2304256" cy="151504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Ending the conversation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Closing down a conversation is an important part of the communication process. </a:t>
            </a:r>
          </a:p>
          <a:p>
            <a:pPr marL="0" indent="0">
              <a:spcBef>
                <a:spcPts val="600"/>
              </a:spcBef>
              <a:spcAft>
                <a:spcPts val="1200"/>
              </a:spcAft>
              <a:buNone/>
            </a:pPr>
            <a:r>
              <a:rPr lang="en-US" sz="2200" dirty="0" smtClean="0">
                <a:latin typeface="Helvetica" pitchFamily="34" charset="0"/>
              </a:rPr>
              <a:t>If not done appropriately, it can be seen as:</a:t>
            </a:r>
          </a:p>
          <a:p>
            <a:pPr marL="360000" indent="-360000">
              <a:spcBef>
                <a:spcPts val="600"/>
              </a:spcBef>
              <a:spcAft>
                <a:spcPts val="1200"/>
              </a:spcAft>
            </a:pPr>
            <a:r>
              <a:rPr lang="en-US" sz="2200" dirty="0" smtClean="0">
                <a:latin typeface="Helvetica" pitchFamily="34" charset="0"/>
              </a:rPr>
              <a:t>rude</a:t>
            </a:r>
          </a:p>
          <a:p>
            <a:pPr marL="360000" indent="-360000">
              <a:spcBef>
                <a:spcPts val="600"/>
              </a:spcBef>
              <a:spcAft>
                <a:spcPts val="1200"/>
              </a:spcAft>
            </a:pPr>
            <a:r>
              <a:rPr lang="en-US" sz="2200" dirty="0" smtClean="0">
                <a:latin typeface="Helvetica" pitchFamily="34" charset="0"/>
              </a:rPr>
              <a:t>hurtful.</a:t>
            </a:r>
          </a:p>
          <a:p>
            <a:pPr marL="0" lvl="0" indent="0">
              <a:spcBef>
                <a:spcPts val="600"/>
              </a:spcBef>
              <a:spcAft>
                <a:spcPts val="1200"/>
              </a:spcAft>
              <a:buClr>
                <a:srgbClr val="7FD13B"/>
              </a:buClr>
              <a:buNone/>
            </a:pPr>
            <a:endParaRPr lang="en-US" sz="2200" dirty="0" smtClean="0">
              <a:solidFill>
                <a:prstClr val="black"/>
              </a:solidFill>
              <a:latin typeface="Helvetica" pitchFamily="34" charset="0"/>
            </a:endParaRPr>
          </a:p>
          <a:p>
            <a:pPr marL="0" lvl="0" indent="0">
              <a:spcBef>
                <a:spcPts val="600"/>
              </a:spcBef>
              <a:spcAft>
                <a:spcPts val="1200"/>
              </a:spcAft>
              <a:buClr>
                <a:srgbClr val="7FD13B"/>
              </a:buClr>
              <a:buNone/>
            </a:pPr>
            <a:r>
              <a:rPr lang="en-US" sz="2200" dirty="0" smtClean="0">
                <a:solidFill>
                  <a:prstClr val="black"/>
                </a:solidFill>
                <a:latin typeface="Helvetica" pitchFamily="34" charset="0"/>
              </a:rPr>
              <a:t>When ending a professional conversation, you want the other person to think the conversation was enjoyable.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9218" name="Picture 2" descr="C:\Users\Quentin\Desktop\Images\istock%20stop-resized-600.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020272" y="2636912"/>
            <a:ext cx="1696467" cy="16915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Ending the conversation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Two strategies can be used to end conversations appropriately:</a:t>
            </a:r>
          </a:p>
          <a:p>
            <a:pPr marL="360000" indent="-360000">
              <a:spcBef>
                <a:spcPts val="1200"/>
              </a:spcBef>
              <a:spcAft>
                <a:spcPts val="1200"/>
              </a:spcAft>
            </a:pPr>
            <a:r>
              <a:rPr lang="en-US" sz="2200" b="1" dirty="0" smtClean="0">
                <a:latin typeface="Helvetica" pitchFamily="34" charset="0"/>
              </a:rPr>
              <a:t>Give a positive comment</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I hope you enjoyed your stay.</a:t>
            </a:r>
          </a:p>
          <a:p>
            <a:pPr marL="360000" indent="-360000">
              <a:spcBef>
                <a:spcPts val="1200"/>
              </a:spcBef>
              <a:spcAft>
                <a:spcPts val="1200"/>
              </a:spcAft>
            </a:pPr>
            <a:r>
              <a:rPr lang="en-US" sz="2200" b="1" dirty="0" smtClean="0">
                <a:latin typeface="Helvetica" pitchFamily="34" charset="0"/>
              </a:rPr>
              <a:t>Outline a summary or plan</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I will meet you in the lobby at 8pm.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10242" name="Picture 2" descr="C:\Users\Quentin\Desktop\Images\1.4griyadi-greeting.jpg"/>
          <p:cNvPicPr>
            <a:picLocks noChangeAspect="1" noChangeArrowheads="1"/>
          </p:cNvPicPr>
          <p:nvPr/>
        </p:nvPicPr>
        <p:blipFill>
          <a:blip r:embed="rId3" cstate="print"/>
          <a:srcRect/>
          <a:stretch>
            <a:fillRect/>
          </a:stretch>
        </p:blipFill>
        <p:spPr bwMode="auto">
          <a:xfrm>
            <a:off x="7380312" y="4581128"/>
            <a:ext cx="1429250" cy="170080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728192"/>
          </a:xfrm>
        </p:spPr>
        <p:txBody>
          <a:bodyPr>
            <a:normAutofit/>
          </a:bodyPr>
          <a:lstStyle/>
          <a:p>
            <a:r>
              <a:rPr lang="en-US" sz="3400" b="1" dirty="0" smtClean="0">
                <a:solidFill>
                  <a:srgbClr val="FF6600"/>
                </a:solidFill>
                <a:latin typeface="Helvetica" pitchFamily="34" charset="0"/>
              </a:rPr>
              <a:t>Respond to simple verbal instructions or requests</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Performance Criteria for this Element are:</a:t>
            </a:r>
          </a:p>
          <a:p>
            <a:pPr marL="360000" indent="-360000">
              <a:spcBef>
                <a:spcPts val="1200"/>
              </a:spcBef>
              <a:spcAft>
                <a:spcPts val="1200"/>
              </a:spcAft>
            </a:pPr>
            <a:r>
              <a:rPr lang="en-US" sz="2200" dirty="0" smtClean="0">
                <a:latin typeface="Helvetica" pitchFamily="34" charset="0"/>
              </a:rPr>
              <a:t>2.1 </a:t>
            </a:r>
            <a:r>
              <a:rPr lang="en-US" sz="2200" i="1" dirty="0" smtClean="0">
                <a:latin typeface="Helvetica" pitchFamily="34" charset="0"/>
              </a:rPr>
              <a:t>Confirm understanding </a:t>
            </a:r>
            <a:r>
              <a:rPr lang="en-US" sz="2200" dirty="0" smtClean="0">
                <a:latin typeface="Helvetica" pitchFamily="34" charset="0"/>
              </a:rPr>
              <a:t>of supervisor’s instructions or requests</a:t>
            </a:r>
            <a:endParaRPr lang="en-US" sz="2200" i="1" dirty="0" smtClean="0">
              <a:latin typeface="Helvetica" pitchFamily="34" charset="0"/>
            </a:endParaRPr>
          </a:p>
          <a:p>
            <a:pPr marL="360000" indent="-360000">
              <a:spcBef>
                <a:spcPts val="1200"/>
              </a:spcBef>
              <a:spcAft>
                <a:spcPts val="1200"/>
              </a:spcAft>
            </a:pPr>
            <a:r>
              <a:rPr lang="en-US" sz="2200" dirty="0" smtClean="0">
                <a:latin typeface="Helvetica" pitchFamily="34" charset="0"/>
              </a:rPr>
              <a:t>2.2 Request </a:t>
            </a:r>
            <a:r>
              <a:rPr lang="en-US" sz="2200" i="1" dirty="0" smtClean="0">
                <a:latin typeface="Helvetica" pitchFamily="34" charset="0"/>
              </a:rPr>
              <a:t>repetition</a:t>
            </a:r>
            <a:r>
              <a:rPr lang="en-US" sz="2200" dirty="0" smtClean="0">
                <a:latin typeface="Helvetica" pitchFamily="34" charset="0"/>
              </a:rPr>
              <a:t> or </a:t>
            </a:r>
            <a:r>
              <a:rPr lang="en-US" sz="2200" i="1" dirty="0" smtClean="0">
                <a:latin typeface="Helvetica" pitchFamily="34" charset="0"/>
              </a:rPr>
              <a:t>clarification</a:t>
            </a:r>
            <a:r>
              <a:rPr lang="en-US" sz="2200" dirty="0" smtClean="0">
                <a:latin typeface="Helvetica" pitchFamily="34" charset="0"/>
              </a:rPr>
              <a:t> of instructions or requests.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122" name="Picture 2" descr="C:\Users\Quentin\Desktop\Images\2.1 4487928374_a1b349ca82_o.jpg"/>
          <p:cNvPicPr>
            <a:picLocks noChangeAspect="1" noChangeArrowheads="1"/>
          </p:cNvPicPr>
          <p:nvPr/>
        </p:nvPicPr>
        <p:blipFill>
          <a:blip r:embed="rId3" cstate="print"/>
          <a:srcRect/>
          <a:stretch>
            <a:fillRect/>
          </a:stretch>
        </p:blipFill>
        <p:spPr bwMode="auto">
          <a:xfrm>
            <a:off x="5724128" y="4437112"/>
            <a:ext cx="2232247" cy="167418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Confirming that you understand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a supervisor or manager gives an employee instructions to carry out a task, they expect that it will be done correctly.  It is the responsibility of the employee to clarify the instructions or request to ensure no miscommunication of the supervisor’s expectations. </a:t>
            </a:r>
          </a:p>
          <a:p>
            <a:pPr marL="0" indent="0">
              <a:spcBef>
                <a:spcPts val="600"/>
              </a:spcBef>
              <a:spcAft>
                <a:spcPts val="1200"/>
              </a:spcAft>
              <a:buNone/>
            </a:pPr>
            <a:r>
              <a:rPr lang="en-US" sz="2200" b="1" dirty="0" smtClean="0">
                <a:latin typeface="Helvetica" pitchFamily="34" charset="0"/>
              </a:rPr>
              <a:t>When you are given instructions it is important to confirm that you understand them and respond appropriately.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11267" name="Picture 3" descr="C:\Users\Quentin\Desktop\Images\2.2 summarize-repeat-clarify.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652120" y="4653136"/>
            <a:ext cx="2088232" cy="183697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Confirming that you understand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There are two ways to confirm understanding:</a:t>
            </a:r>
          </a:p>
          <a:p>
            <a:pPr marL="360000" indent="-360000">
              <a:spcBef>
                <a:spcPts val="1200"/>
              </a:spcBef>
              <a:spcAft>
                <a:spcPts val="1200"/>
              </a:spcAft>
            </a:pPr>
            <a:r>
              <a:rPr lang="en-US" sz="2200" b="1" dirty="0" smtClean="0">
                <a:latin typeface="Helvetica" pitchFamily="34" charset="0"/>
              </a:rPr>
              <a:t>Short responses</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Ok, I understand.</a:t>
            </a:r>
          </a:p>
          <a:p>
            <a:pPr marL="360000" indent="-360000">
              <a:spcBef>
                <a:spcPts val="1200"/>
              </a:spcBef>
              <a:spcAft>
                <a:spcPts val="1200"/>
              </a:spcAft>
            </a:pPr>
            <a:r>
              <a:rPr lang="en-US" sz="2200" b="1" dirty="0" smtClean="0">
                <a:latin typeface="Helvetica" pitchFamily="34" charset="0"/>
              </a:rPr>
              <a:t>Body language</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Example: Using thumbs up or OK hand gestures.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2" descr="C:\Users\Quentin\Desktop\Images\brain-hand-gestures.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436096" y="4581128"/>
            <a:ext cx="2946540" cy="2276872"/>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992888" cy="1296144"/>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People often find it difficult to ask for repetition or clarification. However, asking for repetition or clarification will help you:</a:t>
            </a:r>
          </a:p>
          <a:p>
            <a:pPr marL="360000" indent="-360000">
              <a:spcBef>
                <a:spcPts val="600"/>
              </a:spcBef>
              <a:spcAft>
                <a:spcPts val="1200"/>
              </a:spcAft>
            </a:pPr>
            <a:r>
              <a:rPr lang="en-US" sz="2200" b="1" dirty="0" smtClean="0">
                <a:latin typeface="Helvetica" pitchFamily="34" charset="0"/>
              </a:rPr>
              <a:t>limit mistakes</a:t>
            </a:r>
          </a:p>
          <a:p>
            <a:pPr marL="360000" indent="-360000">
              <a:spcBef>
                <a:spcPts val="600"/>
              </a:spcBef>
              <a:spcAft>
                <a:spcPts val="1200"/>
              </a:spcAft>
            </a:pPr>
            <a:r>
              <a:rPr lang="en-US" sz="2200" b="1" dirty="0" smtClean="0">
                <a:latin typeface="Helvetica" pitchFamily="34" charset="0"/>
              </a:rPr>
              <a:t>improve efficiency at work.</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12292" name="Picture 4" descr="C:\Users\Quentin\Desktop\Images\1.4lovely-staff-greeting.jpg"/>
          <p:cNvPicPr>
            <a:picLocks noChangeAspect="1" noChangeArrowheads="1"/>
          </p:cNvPicPr>
          <p:nvPr/>
        </p:nvPicPr>
        <p:blipFill>
          <a:blip r:embed="rId3" cstate="print"/>
          <a:srcRect/>
          <a:stretch>
            <a:fillRect/>
          </a:stretch>
        </p:blipFill>
        <p:spPr bwMode="auto">
          <a:xfrm>
            <a:off x="5292080" y="4005064"/>
            <a:ext cx="2615712" cy="197367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556792"/>
            <a:ext cx="7467600" cy="4525963"/>
          </a:xfrm>
        </p:spPr>
        <p:txBody>
          <a:bodyPr>
            <a:normAutofit/>
          </a:bodyPr>
          <a:lstStyle/>
          <a:p>
            <a:pPr marL="0" indent="-360000">
              <a:spcBef>
                <a:spcPts val="1200"/>
              </a:spcBef>
              <a:spcAft>
                <a:spcPts val="1200"/>
              </a:spcAft>
              <a:buNone/>
            </a:pPr>
            <a:r>
              <a:rPr lang="en-US" sz="2200" dirty="0" smtClean="0">
                <a:latin typeface="Helvetica" pitchFamily="34" charset="0"/>
              </a:rPr>
              <a:t>If you can’t hear someone well, it is essential that you ask them to </a:t>
            </a:r>
            <a:r>
              <a:rPr lang="en-US" sz="2200" b="1" dirty="0" smtClean="0">
                <a:latin typeface="Helvetica" pitchFamily="34" charset="0"/>
              </a:rPr>
              <a:t>repeat</a:t>
            </a:r>
            <a:r>
              <a:rPr lang="en-US" sz="2200" dirty="0" smtClean="0">
                <a:latin typeface="Helvetica" pitchFamily="34" charset="0"/>
              </a:rPr>
              <a:t> themselves.</a:t>
            </a:r>
          </a:p>
          <a:p>
            <a:pPr marL="360000" indent="-360000">
              <a:spcBef>
                <a:spcPts val="1200"/>
              </a:spcBef>
              <a:spcAft>
                <a:spcPts val="1200"/>
              </a:spcAft>
              <a:buNone/>
            </a:pPr>
            <a:r>
              <a:rPr lang="en-US" sz="2200" dirty="0" smtClean="0">
                <a:latin typeface="Helvetica" pitchFamily="34" charset="0"/>
              </a:rPr>
              <a:t>Here are some ways to ask for repetition:</a:t>
            </a:r>
          </a:p>
          <a:p>
            <a:pPr marL="360000" indent="-360000">
              <a:spcBef>
                <a:spcPts val="1200"/>
              </a:spcBef>
              <a:spcAft>
                <a:spcPts val="1200"/>
              </a:spcAft>
            </a:pPr>
            <a:r>
              <a:rPr lang="en-US" sz="2200" dirty="0" smtClean="0">
                <a:latin typeface="Helvetica" pitchFamily="34" charset="0"/>
              </a:rPr>
              <a:t>Can you repeat that, please?</a:t>
            </a:r>
          </a:p>
          <a:p>
            <a:pPr marL="360000" indent="-360000">
              <a:spcBef>
                <a:spcPts val="1200"/>
              </a:spcBef>
              <a:spcAft>
                <a:spcPts val="1200"/>
              </a:spcAft>
            </a:pPr>
            <a:r>
              <a:rPr lang="en-US" sz="2200" dirty="0" smtClean="0">
                <a:latin typeface="Helvetica" pitchFamily="34" charset="0"/>
              </a:rPr>
              <a:t>Would you mind saying that again?</a:t>
            </a:r>
          </a:p>
          <a:p>
            <a:pPr marL="360000" indent="-360000">
              <a:spcBef>
                <a:spcPts val="1200"/>
              </a:spcBef>
              <a:spcAft>
                <a:spcPts val="1200"/>
              </a:spcAft>
            </a:pPr>
            <a:r>
              <a:rPr lang="en-US" sz="2200" dirty="0" smtClean="0">
                <a:latin typeface="Helvetica" pitchFamily="34" charset="0"/>
              </a:rPr>
              <a:t>Sorry, I missed that.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13314" name="Picture 2" descr="C:\Users\Quentin\Desktop\Images\2.1 4487262213_5f61ecbbb4_o.jpg"/>
          <p:cNvPicPr>
            <a:picLocks noChangeAspect="1" noChangeArrowheads="1"/>
          </p:cNvPicPr>
          <p:nvPr/>
        </p:nvPicPr>
        <p:blipFill>
          <a:blip r:embed="rId3" cstate="print">
            <a:clrChange>
              <a:clrFrom>
                <a:srgbClr val="FEFEFE"/>
              </a:clrFrom>
              <a:clrTo>
                <a:srgbClr val="FEFEFE">
                  <a:alpha val="0"/>
                </a:srgbClr>
              </a:clrTo>
            </a:clrChange>
          </a:blip>
          <a:srcRect/>
          <a:stretch>
            <a:fillRect/>
          </a:stretch>
        </p:blipFill>
        <p:spPr bwMode="auto">
          <a:xfrm>
            <a:off x="5580112" y="4581128"/>
            <a:ext cx="3035829" cy="2276872"/>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If you didn’t fully comprehend instructions or requests, it is essential that you ask for </a:t>
            </a:r>
            <a:r>
              <a:rPr lang="en-US" sz="2200" b="1" dirty="0" smtClean="0">
                <a:latin typeface="Helvetica" pitchFamily="34" charset="0"/>
              </a:rPr>
              <a:t>clarification</a:t>
            </a:r>
            <a:r>
              <a:rPr lang="en-US" sz="2200" dirty="0" smtClean="0">
                <a:latin typeface="Helvetica" pitchFamily="34" charset="0"/>
              </a:rPr>
              <a:t>.</a:t>
            </a:r>
          </a:p>
          <a:p>
            <a:pPr marL="360000" indent="-360000">
              <a:spcBef>
                <a:spcPts val="1200"/>
              </a:spcBef>
              <a:spcAft>
                <a:spcPts val="1200"/>
              </a:spcAft>
              <a:buNone/>
            </a:pPr>
            <a:r>
              <a:rPr lang="en-US" sz="2200" dirty="0" smtClean="0">
                <a:latin typeface="Helvetica" pitchFamily="34" charset="0"/>
              </a:rPr>
              <a:t>Here are some ways to ask for clarification:</a:t>
            </a:r>
          </a:p>
          <a:p>
            <a:pPr marL="360000" indent="-360000">
              <a:spcBef>
                <a:spcPts val="1200"/>
              </a:spcBef>
              <a:spcAft>
                <a:spcPts val="1200"/>
              </a:spcAft>
            </a:pPr>
            <a:r>
              <a:rPr lang="en-US" sz="2200" dirty="0" smtClean="0">
                <a:latin typeface="Helvetica" pitchFamily="34" charset="0"/>
              </a:rPr>
              <a:t>You would like me to…?</a:t>
            </a:r>
          </a:p>
          <a:p>
            <a:pPr marL="360000" indent="-360000">
              <a:spcBef>
                <a:spcPts val="1200"/>
              </a:spcBef>
              <a:spcAft>
                <a:spcPts val="1200"/>
              </a:spcAft>
            </a:pPr>
            <a:r>
              <a:rPr lang="en-US" sz="2200" dirty="0" smtClean="0">
                <a:latin typeface="Helvetica" pitchFamily="34" charset="0"/>
              </a:rPr>
              <a:t>Can I make sure I understood correctly?</a:t>
            </a:r>
          </a:p>
          <a:p>
            <a:pPr marL="360000" indent="-360000">
              <a:spcBef>
                <a:spcPts val="1200"/>
              </a:spcBef>
              <a:spcAft>
                <a:spcPts val="1200"/>
              </a:spcAft>
            </a:pPr>
            <a:r>
              <a:rPr lang="en-US" sz="2200" dirty="0" smtClean="0">
                <a:latin typeface="Helvetica" pitchFamily="34" charset="0"/>
              </a:rPr>
              <a:t>So, I should…?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2" descr="C:\Users\Quentin\Desktop\Images\2.2 confused_man.jpg"/>
          <p:cNvPicPr>
            <a:picLocks noChangeAspect="1" noChangeArrowheads="1"/>
          </p:cNvPicPr>
          <p:nvPr/>
        </p:nvPicPr>
        <p:blipFill>
          <a:blip r:embed="rId3" cstate="print"/>
          <a:srcRect/>
          <a:stretch>
            <a:fillRect/>
          </a:stretch>
        </p:blipFill>
        <p:spPr bwMode="auto">
          <a:xfrm>
            <a:off x="6588224" y="3789040"/>
            <a:ext cx="1956217" cy="234746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992888" cy="1143000"/>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525963"/>
          </a:xfrm>
        </p:spPr>
        <p:txBody>
          <a:bodyPr>
            <a:normAutofit/>
          </a:bodyPr>
          <a:lstStyle/>
          <a:p>
            <a:pPr marL="0" indent="0">
              <a:lnSpc>
                <a:spcPct val="140000"/>
              </a:lnSpc>
              <a:spcBef>
                <a:spcPts val="600"/>
              </a:spcBef>
              <a:spcAft>
                <a:spcPts val="1200"/>
              </a:spcAft>
              <a:buNone/>
            </a:pPr>
            <a:r>
              <a:rPr lang="en-US" sz="2200" b="1" dirty="0" smtClean="0">
                <a:latin typeface="Helvetica" pitchFamily="34" charset="0"/>
              </a:rPr>
              <a:t>Question Activity</a:t>
            </a:r>
          </a:p>
          <a:p>
            <a:pPr marL="0" indent="0">
              <a:lnSpc>
                <a:spcPct val="140000"/>
              </a:lnSpc>
              <a:spcBef>
                <a:spcPts val="600"/>
              </a:spcBef>
              <a:spcAft>
                <a:spcPts val="1200"/>
              </a:spcAft>
              <a:buNone/>
            </a:pPr>
            <a:r>
              <a:rPr lang="en-US" sz="2200" dirty="0" smtClean="0">
                <a:latin typeface="Helvetica" pitchFamily="34" charset="0"/>
              </a:rPr>
              <a:t>Arrange yourselves in a circle with all the other trainees. I will start the game by giving one person some instructions. </a:t>
            </a:r>
            <a:r>
              <a:rPr lang="en-US" sz="2200" b="1" dirty="0" smtClean="0">
                <a:latin typeface="Helvetica" pitchFamily="34" charset="0"/>
              </a:rPr>
              <a:t>That person can only respond with a question </a:t>
            </a:r>
            <a:r>
              <a:rPr lang="en-US" sz="2200" dirty="0" smtClean="0">
                <a:latin typeface="Helvetica" pitchFamily="34" charset="0"/>
              </a:rPr>
              <a:t>asking for repetition or clarification. Then, that person gives instructions to the trainee on his/her right, who responds with another question. The goal of the game is to go around the circle only responding with questions. </a:t>
            </a: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14338" name="Picture 2" descr="C:\Users\Quentin\Desktop\Images\3.1 question-mark.png"/>
          <p:cNvPicPr>
            <a:picLocks noChangeAspect="1" noChangeArrowheads="1"/>
          </p:cNvPicPr>
          <p:nvPr/>
        </p:nvPicPr>
        <p:blipFill>
          <a:blip r:embed="rId3" cstate="print"/>
          <a:srcRect/>
          <a:stretch>
            <a:fillRect/>
          </a:stretch>
        </p:blipFill>
        <p:spPr bwMode="auto">
          <a:xfrm rot="1025591">
            <a:off x="7020272" y="4895800"/>
            <a:ext cx="1728192" cy="1728192"/>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920880" cy="1143000"/>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525963"/>
          </a:xfrm>
        </p:spPr>
        <p:txBody>
          <a:bodyPr>
            <a:normAutofit/>
          </a:bodyPr>
          <a:lstStyle/>
          <a:p>
            <a:pPr marL="0" indent="0">
              <a:spcBef>
                <a:spcPts val="600"/>
              </a:spcBef>
              <a:spcAft>
                <a:spcPts val="1000"/>
              </a:spcAft>
              <a:buNone/>
            </a:pPr>
            <a:r>
              <a:rPr lang="en-US" sz="2200" b="1" dirty="0" smtClean="0">
                <a:latin typeface="Helvetica" pitchFamily="34" charset="0"/>
              </a:rPr>
              <a:t>Telephone Activity</a:t>
            </a:r>
          </a:p>
          <a:p>
            <a:pPr marL="0" indent="0">
              <a:spcBef>
                <a:spcPts val="600"/>
              </a:spcBef>
              <a:spcAft>
                <a:spcPts val="1000"/>
              </a:spcAft>
              <a:buNone/>
            </a:pPr>
            <a:r>
              <a:rPr lang="en-US" sz="2200" dirty="0" smtClean="0">
                <a:latin typeface="Helvetica" pitchFamily="34" charset="0"/>
              </a:rPr>
              <a:t>Arrange yourselves in a line with all the other trainees. I will start the game by whispering a request to the first person. That person must whisper the same request to the next person in the line without allowing the others to hear it. You may NOT ask for </a:t>
            </a:r>
            <a:r>
              <a:rPr lang="en-US" sz="2200" b="1" dirty="0" smtClean="0">
                <a:latin typeface="Helvetica" pitchFamily="34" charset="0"/>
              </a:rPr>
              <a:t>repetition</a:t>
            </a:r>
            <a:r>
              <a:rPr lang="en-US" sz="2200" dirty="0" smtClean="0">
                <a:latin typeface="Helvetica" pitchFamily="34" charset="0"/>
              </a:rPr>
              <a:t> or </a:t>
            </a:r>
            <a:r>
              <a:rPr lang="en-US" sz="2200" b="1" dirty="0" smtClean="0">
                <a:latin typeface="Helvetica" pitchFamily="34" charset="0"/>
              </a:rPr>
              <a:t>clarification</a:t>
            </a:r>
            <a:r>
              <a:rPr lang="en-US" sz="2200" dirty="0" smtClean="0">
                <a:latin typeface="Helvetica" pitchFamily="34" charset="0"/>
              </a:rPr>
              <a:t>, and </a:t>
            </a:r>
            <a:r>
              <a:rPr lang="en-US" sz="2200" b="1" dirty="0" smtClean="0">
                <a:latin typeface="Helvetica" pitchFamily="34" charset="0"/>
              </a:rPr>
              <a:t>the request can only be said once</a:t>
            </a:r>
            <a:r>
              <a:rPr lang="en-US" sz="2200" dirty="0" smtClean="0">
                <a:latin typeface="Helvetica" pitchFamily="34" charset="0"/>
              </a:rPr>
              <a:t>. When the last person in the line hears the request, he/she says it out loud to the class.</a:t>
            </a:r>
          </a:p>
          <a:p>
            <a:pPr marL="0" indent="0">
              <a:spcBef>
                <a:spcPts val="600"/>
              </a:spcBef>
              <a:spcAft>
                <a:spcPts val="1000"/>
              </a:spcAft>
              <a:buNone/>
            </a:pPr>
            <a:r>
              <a:rPr lang="en-US" sz="2200" dirty="0" smtClean="0">
                <a:latin typeface="Helvetica" pitchFamily="34" charset="0"/>
              </a:rPr>
              <a:t>Next, we will repeat the same activity, but every person may </a:t>
            </a:r>
            <a:r>
              <a:rPr lang="en-US" sz="2200" b="1" dirty="0" smtClean="0">
                <a:latin typeface="Helvetica" pitchFamily="34" charset="0"/>
              </a:rPr>
              <a:t>ask for repetition or clarification one time</a:t>
            </a:r>
            <a:r>
              <a:rPr lang="en-US" sz="2200" dirty="0" smtClean="0">
                <a:latin typeface="Helvetica" pitchFamily="34" charset="0"/>
              </a:rPr>
              <a:t>.   </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15362" name="Picture 2" descr="C:\Users\Quentin\Desktop\Images\telephone.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164288" y="5013176"/>
            <a:ext cx="1584176" cy="1580943"/>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7920880" cy="1143000"/>
          </a:xfrm>
        </p:spPr>
        <p:txBody>
          <a:bodyPr>
            <a:normAutofit/>
          </a:bodyPr>
          <a:lstStyle/>
          <a:p>
            <a:r>
              <a:rPr lang="en-US" sz="3400" b="1" dirty="0" smtClean="0">
                <a:solidFill>
                  <a:srgbClr val="FF6600"/>
                </a:solidFill>
                <a:latin typeface="Helvetica" pitchFamily="34" charset="0"/>
              </a:rPr>
              <a:t>Requesting repetition or clarification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992888" cy="5256584"/>
          </a:xfrm>
        </p:spPr>
        <p:txBody>
          <a:bodyPr>
            <a:normAutofit fontScale="85000" lnSpcReduction="10000"/>
          </a:bodyPr>
          <a:lstStyle/>
          <a:p>
            <a:pPr marL="0" indent="0">
              <a:lnSpc>
                <a:spcPct val="120000"/>
              </a:lnSpc>
              <a:spcBef>
                <a:spcPts val="600"/>
              </a:spcBef>
              <a:spcAft>
                <a:spcPts val="1200"/>
              </a:spcAft>
              <a:buNone/>
            </a:pPr>
            <a:r>
              <a:rPr lang="en-US" sz="2600" b="1" dirty="0" smtClean="0">
                <a:latin typeface="Helvetica" pitchFamily="34" charset="0"/>
              </a:rPr>
              <a:t>Picture Activity</a:t>
            </a:r>
          </a:p>
          <a:p>
            <a:pPr marL="0" indent="0">
              <a:lnSpc>
                <a:spcPct val="120000"/>
              </a:lnSpc>
              <a:spcBef>
                <a:spcPts val="600"/>
              </a:spcBef>
              <a:spcAft>
                <a:spcPts val="1200"/>
              </a:spcAft>
              <a:buNone/>
            </a:pPr>
            <a:r>
              <a:rPr lang="en-US" sz="2600" dirty="0" smtClean="0">
                <a:latin typeface="Helvetica" pitchFamily="34" charset="0"/>
              </a:rPr>
              <a:t>You have five minutes to draw a simple picture on a piece of paper. It can be a landscape, house or person. When you are finished, sit next to your partner without showing him/her your picture. Give your partner instructions on how to draw your picture on a different sheet of paper. </a:t>
            </a:r>
            <a:r>
              <a:rPr lang="en-US" sz="2600" b="1" dirty="0" smtClean="0">
                <a:latin typeface="Helvetica" pitchFamily="34" charset="0"/>
              </a:rPr>
              <a:t>You may not show, him/her your picture</a:t>
            </a:r>
            <a:r>
              <a:rPr lang="en-US" sz="2600" dirty="0" smtClean="0">
                <a:latin typeface="Helvetica" pitchFamily="34" charset="0"/>
              </a:rPr>
              <a:t>. You must give very precise instructions in order for your partner to draw the same thing. He/she may ask for </a:t>
            </a:r>
            <a:r>
              <a:rPr lang="en-US" sz="2600" b="1" dirty="0" smtClean="0">
                <a:latin typeface="Helvetica" pitchFamily="34" charset="0"/>
              </a:rPr>
              <a:t>repetition</a:t>
            </a:r>
            <a:r>
              <a:rPr lang="en-US" sz="2600" dirty="0" smtClean="0">
                <a:latin typeface="Helvetica" pitchFamily="34" charset="0"/>
              </a:rPr>
              <a:t> or </a:t>
            </a:r>
            <a:r>
              <a:rPr lang="en-US" sz="2600" b="1" dirty="0" smtClean="0">
                <a:latin typeface="Helvetica" pitchFamily="34" charset="0"/>
              </a:rPr>
              <a:t>clarification</a:t>
            </a:r>
            <a:r>
              <a:rPr lang="en-US" sz="2600" dirty="0" smtClean="0">
                <a:latin typeface="Helvetica" pitchFamily="34" charset="0"/>
              </a:rPr>
              <a:t> as needed. </a:t>
            </a:r>
          </a:p>
          <a:p>
            <a:pPr marL="0" indent="0">
              <a:lnSpc>
                <a:spcPct val="120000"/>
              </a:lnSpc>
              <a:spcBef>
                <a:spcPts val="600"/>
              </a:spcBef>
              <a:spcAft>
                <a:spcPts val="1200"/>
              </a:spcAft>
              <a:buNone/>
            </a:pPr>
            <a:r>
              <a:rPr lang="en-US" sz="2600" dirty="0" smtClean="0">
                <a:latin typeface="Helvetica" pitchFamily="34" charset="0"/>
              </a:rPr>
              <a:t>You have five minutes to complete the task. The pair with the most similar drawings wins.  </a:t>
            </a:r>
          </a:p>
          <a:p>
            <a:pPr marL="0" indent="0">
              <a:spcBef>
                <a:spcPts val="600"/>
              </a:spcBef>
              <a:spcAft>
                <a:spcPts val="1200"/>
              </a:spcAft>
              <a:buNone/>
            </a:pPr>
            <a:r>
              <a:rPr lang="en-US" sz="2200" dirty="0" smtClean="0">
                <a:latin typeface="Helvetica" pitchFamily="34" charset="0"/>
              </a:rPr>
              <a:t> </a:t>
            </a: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16386" name="Picture 2" descr="C:\Users\Quentin\Desktop\Images\drawing_board1.gif"/>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300192" y="5363705"/>
            <a:ext cx="1440160" cy="1494295"/>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548680"/>
            <a:ext cx="7467600" cy="1143000"/>
          </a:xfrm>
        </p:spPr>
        <p:txBody>
          <a:bodyPr>
            <a:normAutofit/>
          </a:bodyPr>
          <a:lstStyle/>
          <a:p>
            <a:r>
              <a:rPr lang="en-US" sz="3400" b="1" dirty="0" smtClean="0">
                <a:solidFill>
                  <a:srgbClr val="FF6600"/>
                </a:solidFill>
                <a:latin typeface="Helvetica" pitchFamily="34" charset="0"/>
              </a:rPr>
              <a:t>Make simple requests</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755576"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Performance Criteria for this Element are:</a:t>
            </a:r>
          </a:p>
          <a:p>
            <a:pPr marL="360000" indent="-360000">
              <a:spcBef>
                <a:spcPts val="1200"/>
              </a:spcBef>
              <a:spcAft>
                <a:spcPts val="1200"/>
              </a:spcAft>
              <a:buNone/>
            </a:pPr>
            <a:r>
              <a:rPr lang="en-US" sz="2200" dirty="0" smtClean="0">
                <a:latin typeface="Helvetica" pitchFamily="34" charset="0"/>
              </a:rPr>
              <a:t>3.1 Use </a:t>
            </a:r>
            <a:r>
              <a:rPr lang="en-US" sz="2200" i="1" dirty="0" smtClean="0">
                <a:latin typeface="Helvetica" pitchFamily="34" charset="0"/>
              </a:rPr>
              <a:t>polite forms </a:t>
            </a:r>
            <a:r>
              <a:rPr lang="en-US" sz="2200" dirty="0" smtClean="0">
                <a:latin typeface="Helvetica" pitchFamily="34" charset="0"/>
              </a:rPr>
              <a:t>to make simple requests</a:t>
            </a:r>
            <a:endParaRPr lang="en-US" sz="2200" i="1" dirty="0" smtClean="0">
              <a:latin typeface="Helvetica" pitchFamily="34" charset="0"/>
            </a:endParaRPr>
          </a:p>
          <a:p>
            <a:pPr marL="360000" indent="-360000">
              <a:spcBef>
                <a:spcPts val="1200"/>
              </a:spcBef>
              <a:spcAft>
                <a:spcPts val="1200"/>
              </a:spcAft>
              <a:buNone/>
            </a:pPr>
            <a:r>
              <a:rPr lang="en-US" sz="2200" dirty="0" smtClean="0">
                <a:latin typeface="Helvetica" pitchFamily="34" charset="0"/>
              </a:rPr>
              <a:t>3.2 Thank the person responding to your request</a:t>
            </a:r>
          </a:p>
          <a:p>
            <a:pPr marL="360000" indent="-360000">
              <a:spcBef>
                <a:spcPts val="1200"/>
              </a:spcBef>
              <a:spcAft>
                <a:spcPts val="1200"/>
              </a:spcAft>
              <a:buNone/>
            </a:pPr>
            <a:r>
              <a:rPr lang="en-US" sz="2200" dirty="0" smtClean="0">
                <a:latin typeface="Helvetica" pitchFamily="34" charset="0"/>
              </a:rPr>
              <a:t>3.3 Acknowledge the person who cannot respond to your request.</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146" name="Picture 2" descr="C:\Users\Quentin\Desktop\Images\3.1 question-mark1.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084168" y="4332717"/>
            <a:ext cx="1893962" cy="2525283"/>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Making requests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560840" cy="4525963"/>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Using </a:t>
            </a:r>
            <a:r>
              <a:rPr lang="en-US" sz="2200" b="1" dirty="0" smtClean="0">
                <a:latin typeface="Helvetica" pitchFamily="34" charset="0"/>
              </a:rPr>
              <a:t>polite forms </a:t>
            </a:r>
            <a:r>
              <a:rPr lang="en-US" sz="2200" dirty="0" smtClean="0">
                <a:latin typeface="Helvetica" pitchFamily="34" charset="0"/>
              </a:rPr>
              <a:t>to make </a:t>
            </a:r>
            <a:r>
              <a:rPr lang="en-US" sz="2200" b="1" dirty="0" smtClean="0">
                <a:latin typeface="Helvetica" pitchFamily="34" charset="0"/>
              </a:rPr>
              <a:t>simple requests </a:t>
            </a:r>
            <a:r>
              <a:rPr lang="en-US" sz="2200" dirty="0" smtClean="0">
                <a:latin typeface="Helvetica" pitchFamily="34" charset="0"/>
              </a:rPr>
              <a:t>plays an important role in your overall presentation of yourself. When you are polite, you appear gracious, agreeable and pleasant. </a:t>
            </a:r>
          </a:p>
          <a:p>
            <a:pPr marL="0" indent="0">
              <a:lnSpc>
                <a:spcPct val="120000"/>
              </a:lnSpc>
              <a:spcBef>
                <a:spcPts val="600"/>
              </a:spcBef>
              <a:spcAft>
                <a:spcPts val="1200"/>
              </a:spcAft>
              <a:buNone/>
            </a:pPr>
            <a:r>
              <a:rPr lang="en-US" sz="2200" dirty="0" smtClean="0">
                <a:latin typeface="Helvetica" pitchFamily="34" charset="0"/>
              </a:rPr>
              <a:t>Like many other languages, </a:t>
            </a:r>
            <a:r>
              <a:rPr lang="en-US" sz="2200" b="1" dirty="0" smtClean="0">
                <a:latin typeface="Helvetica" pitchFamily="34" charset="0"/>
              </a:rPr>
              <a:t>degrees of politeness </a:t>
            </a:r>
            <a:r>
              <a:rPr lang="en-US" sz="2200" dirty="0" smtClean="0">
                <a:latin typeface="Helvetica" pitchFamily="34" charset="0"/>
              </a:rPr>
              <a:t>exist in English, and you must understand which one to use depending on the circumstances and the person you are addressing. Also take into account what you are asking for. If it is a big request, it will require more formal language.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3730" name="Picture 2" descr="http://farm3.staticflickr.com/2136/2239533936_76f6203779.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36296" y="4653136"/>
            <a:ext cx="1682107" cy="191148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7467600" cy="1143000"/>
          </a:xfrm>
        </p:spPr>
        <p:txBody>
          <a:bodyPr>
            <a:normAutofit/>
          </a:bodyPr>
          <a:lstStyle/>
          <a:p>
            <a:r>
              <a:rPr lang="en-US" sz="3400" b="1" dirty="0" smtClean="0">
                <a:solidFill>
                  <a:srgbClr val="FF6600"/>
                </a:solidFill>
                <a:latin typeface="Helvetica" pitchFamily="34" charset="0"/>
              </a:rPr>
              <a:t>Making requests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8064896" cy="5544616"/>
          </a:xfrm>
        </p:spPr>
        <p:txBody>
          <a:bodyPr>
            <a:normAutofit/>
          </a:bodyPr>
          <a:lstStyle/>
          <a:p>
            <a:pPr marL="0" indent="0">
              <a:spcBef>
                <a:spcPts val="600"/>
              </a:spcBef>
              <a:spcAft>
                <a:spcPts val="1200"/>
              </a:spcAft>
              <a:buNone/>
            </a:pPr>
            <a:r>
              <a:rPr lang="en-US" sz="2200" b="1" dirty="0" smtClean="0">
                <a:latin typeface="Helvetica" pitchFamily="34" charset="0"/>
              </a:rPr>
              <a:t>Degrees of politeness </a:t>
            </a:r>
          </a:p>
          <a:p>
            <a:pPr marL="0" indent="0">
              <a:spcBef>
                <a:spcPts val="600"/>
              </a:spcBef>
              <a:spcAft>
                <a:spcPts val="1200"/>
              </a:spcAft>
              <a:buNone/>
            </a:pPr>
            <a:r>
              <a:rPr lang="en-US" sz="2200" dirty="0" smtClean="0">
                <a:latin typeface="Helvetica" pitchFamily="34" charset="0"/>
              </a:rPr>
              <a:t>Less formal		</a:t>
            </a:r>
            <a:r>
              <a:rPr lang="en-US" sz="2200" b="1" dirty="0" smtClean="0">
                <a:latin typeface="Helvetica" pitchFamily="34" charset="0"/>
              </a:rPr>
              <a:t>Will</a:t>
            </a:r>
            <a:r>
              <a:rPr lang="en-US" sz="2200" dirty="0" smtClean="0">
                <a:latin typeface="Helvetica" pitchFamily="34" charset="0"/>
              </a:rPr>
              <a:t> you give me an apple?</a:t>
            </a:r>
          </a:p>
          <a:p>
            <a:pPr marL="0" indent="0">
              <a:spcBef>
                <a:spcPts val="600"/>
              </a:spcBef>
              <a:spcAft>
                <a:spcPts val="1200"/>
              </a:spcAft>
              <a:buNone/>
            </a:pPr>
            <a:r>
              <a:rPr lang="en-US" sz="2200" dirty="0" smtClean="0">
                <a:latin typeface="Helvetica" pitchFamily="34" charset="0"/>
              </a:rPr>
              <a:t>			</a:t>
            </a:r>
            <a:r>
              <a:rPr lang="en-US" sz="2200" b="1" dirty="0" smtClean="0">
                <a:latin typeface="Helvetica" pitchFamily="34" charset="0"/>
              </a:rPr>
              <a:t>Can</a:t>
            </a:r>
            <a:r>
              <a:rPr lang="en-US" sz="2200" dirty="0" smtClean="0">
                <a:latin typeface="Helvetica" pitchFamily="34" charset="0"/>
              </a:rPr>
              <a:t> I have an apple?</a:t>
            </a:r>
          </a:p>
          <a:p>
            <a:pPr marL="0" indent="0">
              <a:spcBef>
                <a:spcPts val="600"/>
              </a:spcBef>
              <a:spcAft>
                <a:spcPts val="1200"/>
              </a:spcAft>
              <a:buNone/>
            </a:pPr>
            <a:r>
              <a:rPr lang="en-US" sz="2200" dirty="0" smtClean="0">
                <a:latin typeface="Helvetica" pitchFamily="34" charset="0"/>
              </a:rPr>
              <a:t>			</a:t>
            </a:r>
            <a:r>
              <a:rPr lang="en-US" sz="2200" b="1" dirty="0" smtClean="0">
                <a:latin typeface="Helvetica" pitchFamily="34" charset="0"/>
              </a:rPr>
              <a:t>Could</a:t>
            </a:r>
            <a:r>
              <a:rPr lang="en-US" sz="2200" dirty="0" smtClean="0">
                <a:latin typeface="Helvetica" pitchFamily="34" charset="0"/>
              </a:rPr>
              <a:t> I have an apple?</a:t>
            </a:r>
          </a:p>
          <a:p>
            <a:pPr marL="0" indent="0">
              <a:spcBef>
                <a:spcPts val="600"/>
              </a:spcBef>
              <a:spcAft>
                <a:spcPts val="1200"/>
              </a:spcAft>
              <a:buNone/>
            </a:pPr>
            <a:r>
              <a:rPr lang="en-US" sz="2200" dirty="0" smtClean="0">
                <a:latin typeface="Helvetica" pitchFamily="34" charset="0"/>
              </a:rPr>
              <a:t>			</a:t>
            </a:r>
            <a:r>
              <a:rPr lang="en-US" sz="2200" b="1" dirty="0" smtClean="0">
                <a:latin typeface="Helvetica" pitchFamily="34" charset="0"/>
              </a:rPr>
              <a:t>Would</a:t>
            </a:r>
            <a:r>
              <a:rPr lang="en-US" sz="2200" dirty="0" smtClean="0">
                <a:latin typeface="Helvetica" pitchFamily="34" charset="0"/>
              </a:rPr>
              <a:t> you give me an apple?</a:t>
            </a:r>
          </a:p>
          <a:p>
            <a:pPr marL="0" indent="0">
              <a:spcBef>
                <a:spcPts val="600"/>
              </a:spcBef>
              <a:spcAft>
                <a:spcPts val="1200"/>
              </a:spcAft>
              <a:buNone/>
            </a:pPr>
            <a:r>
              <a:rPr lang="en-US" sz="2200" dirty="0" smtClean="0">
                <a:latin typeface="Helvetica" pitchFamily="34" charset="0"/>
              </a:rPr>
              <a:t>			</a:t>
            </a:r>
            <a:r>
              <a:rPr lang="en-US" sz="2200" b="1" dirty="0" smtClean="0">
                <a:latin typeface="Helvetica" pitchFamily="34" charset="0"/>
              </a:rPr>
              <a:t>Would it be OK </a:t>
            </a:r>
            <a:r>
              <a:rPr lang="en-US" sz="2200" dirty="0" smtClean="0">
                <a:latin typeface="Helvetica" pitchFamily="34" charset="0"/>
              </a:rPr>
              <a:t>if I got an apple?</a:t>
            </a:r>
          </a:p>
          <a:p>
            <a:pPr marL="0" indent="0">
              <a:spcBef>
                <a:spcPts val="600"/>
              </a:spcBef>
              <a:spcAft>
                <a:spcPts val="1200"/>
              </a:spcAft>
              <a:buNone/>
            </a:pPr>
            <a:r>
              <a:rPr lang="en-US" sz="2200" dirty="0" smtClean="0">
                <a:latin typeface="Helvetica" pitchFamily="34" charset="0"/>
              </a:rPr>
              <a:t>			I </a:t>
            </a:r>
            <a:r>
              <a:rPr lang="en-US" sz="2200" b="1" dirty="0" smtClean="0">
                <a:latin typeface="Helvetica" pitchFamily="34" charset="0"/>
              </a:rPr>
              <a:t>wonder</a:t>
            </a:r>
            <a:r>
              <a:rPr lang="en-US" sz="2200" dirty="0" smtClean="0">
                <a:latin typeface="Helvetica" pitchFamily="34" charset="0"/>
              </a:rPr>
              <a:t> if you </a:t>
            </a:r>
            <a:r>
              <a:rPr lang="en-US" sz="2200" b="1" dirty="0" smtClean="0">
                <a:latin typeface="Helvetica" pitchFamily="34" charset="0"/>
              </a:rPr>
              <a:t>could</a:t>
            </a:r>
            <a:r>
              <a:rPr lang="en-US" sz="2200" dirty="0" smtClean="0">
                <a:latin typeface="Helvetica" pitchFamily="34" charset="0"/>
              </a:rPr>
              <a:t> give me an apple?</a:t>
            </a:r>
          </a:p>
          <a:p>
            <a:pPr marL="0" indent="0">
              <a:spcBef>
                <a:spcPts val="600"/>
              </a:spcBef>
              <a:spcAft>
                <a:spcPts val="1200"/>
              </a:spcAft>
              <a:buNone/>
            </a:pPr>
            <a:r>
              <a:rPr lang="en-US" sz="2200" dirty="0" smtClean="0">
                <a:latin typeface="Helvetica" pitchFamily="34" charset="0"/>
              </a:rPr>
              <a:t>			</a:t>
            </a:r>
            <a:r>
              <a:rPr lang="en-US" sz="2200" b="1" dirty="0" smtClean="0">
                <a:latin typeface="Helvetica" pitchFamily="34" charset="0"/>
              </a:rPr>
              <a:t>Would you mind </a:t>
            </a:r>
            <a:r>
              <a:rPr lang="en-US" sz="2200" dirty="0" smtClean="0">
                <a:latin typeface="Helvetica" pitchFamily="34" charset="0"/>
              </a:rPr>
              <a:t>giving me an apple?</a:t>
            </a:r>
          </a:p>
          <a:p>
            <a:pPr marL="0" indent="0">
              <a:spcBef>
                <a:spcPts val="600"/>
              </a:spcBef>
              <a:spcAft>
                <a:spcPts val="1200"/>
              </a:spcAft>
              <a:buNone/>
            </a:pPr>
            <a:r>
              <a:rPr lang="en-US" sz="2200" dirty="0" smtClean="0">
                <a:latin typeface="Helvetica" pitchFamily="34" charset="0"/>
              </a:rPr>
              <a:t>Most formal		I was </a:t>
            </a:r>
            <a:r>
              <a:rPr lang="en-US" sz="2200" b="1" dirty="0" smtClean="0">
                <a:latin typeface="Helvetica" pitchFamily="34" charset="0"/>
              </a:rPr>
              <a:t>wondering</a:t>
            </a:r>
            <a:r>
              <a:rPr lang="en-US" sz="2200" dirty="0" smtClean="0">
                <a:latin typeface="Helvetica" pitchFamily="34" charset="0"/>
              </a:rPr>
              <a:t> if you </a:t>
            </a:r>
            <a:r>
              <a:rPr lang="en-US" sz="2200" b="1" dirty="0" smtClean="0">
                <a:latin typeface="Helvetica" pitchFamily="34" charset="0"/>
              </a:rPr>
              <a:t>could</a:t>
            </a:r>
            <a:r>
              <a:rPr lang="en-US" sz="2200" dirty="0" smtClean="0">
                <a:latin typeface="Helvetica" pitchFamily="34" charset="0"/>
              </a:rPr>
              <a:t> give me. an apple?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sp>
        <p:nvSpPr>
          <p:cNvPr id="5" name="Down Arrow 4"/>
          <p:cNvSpPr/>
          <p:nvPr/>
        </p:nvSpPr>
        <p:spPr>
          <a:xfrm>
            <a:off x="2214546" y="1844824"/>
            <a:ext cx="913260" cy="410445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71684" name="Picture 4" descr="I:\Overseas Projects\PHOTOS\2012\4882451468_97a9994bf1.jpg"/>
          <p:cNvPicPr>
            <a:picLocks noChangeAspect="1" noChangeArrowheads="1"/>
          </p:cNvPicPr>
          <p:nvPr/>
        </p:nvPicPr>
        <p:blipFill>
          <a:blip r:embed="rId3" cstate="print"/>
          <a:srcRect/>
          <a:stretch>
            <a:fillRect/>
          </a:stretch>
        </p:blipFill>
        <p:spPr bwMode="auto">
          <a:xfrm>
            <a:off x="7380312" y="620688"/>
            <a:ext cx="1328936" cy="132893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Making requests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680520"/>
          </a:xfrm>
        </p:spPr>
        <p:txBody>
          <a:bodyPr>
            <a:normAutofit/>
          </a:bodyPr>
          <a:lstStyle/>
          <a:p>
            <a:pPr marL="0" indent="0">
              <a:spcBef>
                <a:spcPts val="1200"/>
              </a:spcBef>
              <a:spcAft>
                <a:spcPts val="1200"/>
              </a:spcAft>
              <a:buNone/>
            </a:pPr>
            <a:r>
              <a:rPr lang="en-US" sz="2200" dirty="0" smtClean="0">
                <a:latin typeface="Helvetica" pitchFamily="34" charset="0"/>
              </a:rPr>
              <a:t>Look at the requests and write down the appropriate way of asking for it.</a:t>
            </a:r>
          </a:p>
          <a:p>
            <a:pPr marL="360000" indent="-360000">
              <a:spcBef>
                <a:spcPts val="1200"/>
              </a:spcBef>
              <a:spcAft>
                <a:spcPts val="1200"/>
              </a:spcAft>
            </a:pPr>
            <a:r>
              <a:rPr lang="en-US" sz="2200" dirty="0" smtClean="0">
                <a:latin typeface="Helvetica" pitchFamily="34" charset="0"/>
              </a:rPr>
              <a:t>Example: You want to borrow a friend’s camera.</a:t>
            </a:r>
          </a:p>
          <a:p>
            <a:pPr marL="360000" indent="-360000">
              <a:spcBef>
                <a:spcPts val="1200"/>
              </a:spcBef>
              <a:spcAft>
                <a:spcPts val="1200"/>
              </a:spcAft>
              <a:buNone/>
            </a:pPr>
            <a:r>
              <a:rPr lang="en-US" sz="2200" dirty="0" smtClean="0">
                <a:latin typeface="Helvetica" pitchFamily="34" charset="0"/>
              </a:rPr>
              <a:t>	Request: </a:t>
            </a:r>
            <a:r>
              <a:rPr lang="en-US" sz="2200" u="sng" dirty="0" smtClean="0">
                <a:latin typeface="Helvetica" pitchFamily="34" charset="0"/>
              </a:rPr>
              <a:t>Can I borrow your camera?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18434" name="Picture 2" descr="C:\Users\Quentin\Desktop\Images\polite-300x270.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491880" y="4080011"/>
            <a:ext cx="3086654" cy="2777989"/>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Saying ‘Thank You’</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Expressing gratitude is a language tool that has important social value in English. </a:t>
            </a:r>
          </a:p>
          <a:p>
            <a:pPr marL="360000" indent="-360000">
              <a:spcBef>
                <a:spcPts val="1200"/>
              </a:spcBef>
              <a:spcAft>
                <a:spcPts val="1200"/>
              </a:spcAft>
            </a:pPr>
            <a:r>
              <a:rPr lang="en-US" sz="2200" dirty="0" smtClean="0">
                <a:latin typeface="Helvetica" pitchFamily="34" charset="0"/>
              </a:rPr>
              <a:t>When you express gratitude you evoke feelings of warmth and solidarity</a:t>
            </a:r>
          </a:p>
          <a:p>
            <a:pPr marL="360000" indent="-360000">
              <a:spcBef>
                <a:spcPts val="1200"/>
              </a:spcBef>
              <a:spcAft>
                <a:spcPts val="1200"/>
              </a:spcAft>
            </a:pPr>
            <a:r>
              <a:rPr lang="en-US" sz="2200" dirty="0" smtClean="0">
                <a:latin typeface="Helvetica" pitchFamily="34" charset="0"/>
              </a:rPr>
              <a:t>When you fail to express gratitude it can result in negative feelings and consequences.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7586" name="Picture 2" descr="http://farm4.staticflickr.com/3054/3048017762_eb5685a258.jpg"/>
          <p:cNvPicPr>
            <a:picLocks noChangeAspect="1" noChangeArrowheads="1"/>
          </p:cNvPicPr>
          <p:nvPr/>
        </p:nvPicPr>
        <p:blipFill>
          <a:blip r:embed="rId3" cstate="print">
            <a:duotone>
              <a:prstClr val="black"/>
              <a:schemeClr val="accent6">
                <a:tint val="45000"/>
                <a:satMod val="400000"/>
              </a:schemeClr>
            </a:duotone>
          </a:blip>
          <a:srcRect/>
          <a:stretch>
            <a:fillRect/>
          </a:stretch>
        </p:blipFill>
        <p:spPr bwMode="auto">
          <a:xfrm>
            <a:off x="5436096" y="4681796"/>
            <a:ext cx="2664296" cy="160390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Saying ‘Thank You’</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752528"/>
          </a:xfrm>
        </p:spPr>
        <p:txBody>
          <a:bodyPr>
            <a:normAutofit fontScale="92500"/>
          </a:bodyPr>
          <a:lstStyle/>
          <a:p>
            <a:pPr marL="0" indent="0">
              <a:spcBef>
                <a:spcPts val="600"/>
              </a:spcBef>
              <a:spcAft>
                <a:spcPts val="1200"/>
              </a:spcAft>
              <a:buNone/>
            </a:pPr>
            <a:r>
              <a:rPr lang="en-US" sz="2200" dirty="0" smtClean="0">
                <a:latin typeface="Helvetica" pitchFamily="34" charset="0"/>
              </a:rPr>
              <a:t>There are many ways to say ‘Thank You’ in English.    Here are a few:</a:t>
            </a:r>
          </a:p>
          <a:p>
            <a:pPr marL="360000" indent="-360000">
              <a:spcBef>
                <a:spcPts val="600"/>
              </a:spcBef>
              <a:spcAft>
                <a:spcPts val="1200"/>
              </a:spcAft>
            </a:pPr>
            <a:r>
              <a:rPr lang="en-US" sz="2200" dirty="0" smtClean="0">
                <a:latin typeface="Helvetica" pitchFamily="34" charset="0"/>
              </a:rPr>
              <a:t>Thanks</a:t>
            </a:r>
          </a:p>
          <a:p>
            <a:pPr marL="360000" indent="-360000">
              <a:spcBef>
                <a:spcPts val="600"/>
              </a:spcBef>
              <a:spcAft>
                <a:spcPts val="1200"/>
              </a:spcAft>
            </a:pPr>
            <a:r>
              <a:rPr lang="en-US" sz="2200" dirty="0" smtClean="0">
                <a:latin typeface="Helvetica" pitchFamily="34" charset="0"/>
              </a:rPr>
              <a:t>Thanks a lot</a:t>
            </a:r>
          </a:p>
          <a:p>
            <a:pPr marL="360000" indent="-360000">
              <a:spcBef>
                <a:spcPts val="600"/>
              </a:spcBef>
              <a:spcAft>
                <a:spcPts val="1200"/>
              </a:spcAft>
            </a:pPr>
            <a:r>
              <a:rPr lang="en-US" sz="2200" dirty="0" smtClean="0">
                <a:latin typeface="Helvetica" pitchFamily="34" charset="0"/>
              </a:rPr>
              <a:t>Thank you very much</a:t>
            </a:r>
          </a:p>
          <a:p>
            <a:pPr marL="360000" indent="-360000">
              <a:spcBef>
                <a:spcPts val="600"/>
              </a:spcBef>
              <a:spcAft>
                <a:spcPts val="1200"/>
              </a:spcAft>
            </a:pPr>
            <a:r>
              <a:rPr lang="en-US" sz="2200" dirty="0" smtClean="0">
                <a:latin typeface="Helvetica" pitchFamily="34" charset="0"/>
              </a:rPr>
              <a:t>I appreciate that.</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b="1" u="sng" dirty="0" smtClean="0">
                <a:latin typeface="Helvetica" pitchFamily="34" charset="0"/>
                <a:hlinkClick r:id="rId3"/>
              </a:rPr>
              <a:t>How to say 'Thank You‘</a:t>
            </a:r>
            <a:endParaRPr lang="en-US" sz="2200" b="1" u="sng" dirty="0" smtClean="0">
              <a:latin typeface="Helvetica" pitchFamily="34" charset="0"/>
            </a:endParaRPr>
          </a:p>
          <a:p>
            <a:pPr marL="360000" indent="-360000">
              <a:spcBef>
                <a:spcPts val="600"/>
              </a:spcBef>
              <a:spcAft>
                <a:spcPts val="1200"/>
              </a:spcAft>
              <a:buNone/>
            </a:pPr>
            <a:r>
              <a:rPr lang="en-US" sz="2200" dirty="0" smtClean="0">
                <a:solidFill>
                  <a:schemeClr val="accent6">
                    <a:lumMod val="75000"/>
                  </a:schemeClr>
                </a:solidFill>
                <a:latin typeface="Helvetica" pitchFamily="34" charset="0"/>
              </a:rPr>
              <a:t>http://www.engvid.com/polite-english-8-ways-to-say-thank-you/</a:t>
            </a:r>
          </a:p>
          <a:p>
            <a:pPr marL="360000" indent="-360000">
              <a:spcBef>
                <a:spcPts val="600"/>
              </a:spcBef>
              <a:spcAft>
                <a:spcPts val="1200"/>
              </a:spcAft>
              <a:buNone/>
            </a:pPr>
            <a:endParaRPr lang="en-US" sz="22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20482" name="Picture 2" descr="C:\Users\Quentin\Desktop\Images\3.2 -no-polite.jpg"/>
          <p:cNvPicPr>
            <a:picLocks noChangeAspect="1" noChangeArrowheads="1"/>
          </p:cNvPicPr>
          <p:nvPr/>
        </p:nvPicPr>
        <p:blipFill>
          <a:blip r:embed="rId4" cstate="print"/>
          <a:srcRect/>
          <a:stretch>
            <a:fillRect/>
          </a:stretch>
        </p:blipFill>
        <p:spPr bwMode="auto">
          <a:xfrm>
            <a:off x="5076056" y="3068960"/>
            <a:ext cx="3096344" cy="185780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Saying ‘Thank You’</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Pronunciation of the ‘</a:t>
            </a:r>
            <a:r>
              <a:rPr lang="en-US" sz="2200" dirty="0" err="1" smtClean="0">
                <a:latin typeface="Helvetica" pitchFamily="34" charset="0"/>
              </a:rPr>
              <a:t>th</a:t>
            </a:r>
            <a:r>
              <a:rPr lang="en-US" sz="2200" dirty="0" smtClean="0">
                <a:latin typeface="Helvetica" pitchFamily="34" charset="0"/>
              </a:rPr>
              <a:t>’ sound can be very difficult. It can be made by putting your tongue between your teeth so that the tip of your tongue is touching the tips of your top teeth. You should be able to see your tongue when you say words such as </a:t>
            </a:r>
            <a:r>
              <a:rPr lang="en-US" sz="2200" i="1" dirty="0" smtClean="0">
                <a:latin typeface="Helvetica" pitchFamily="34" charset="0"/>
              </a:rPr>
              <a:t>this</a:t>
            </a:r>
            <a:r>
              <a:rPr lang="en-US" sz="2200" dirty="0" smtClean="0">
                <a:latin typeface="Helvetica" pitchFamily="34" charset="0"/>
              </a:rPr>
              <a:t>,</a:t>
            </a:r>
            <a:r>
              <a:rPr lang="en-US" sz="2200" i="1" dirty="0" smtClean="0">
                <a:latin typeface="Helvetica" pitchFamily="34" charset="0"/>
              </a:rPr>
              <a:t> the</a:t>
            </a:r>
            <a:r>
              <a:rPr lang="en-US" sz="2200" dirty="0" smtClean="0">
                <a:latin typeface="Helvetica" pitchFamily="34" charset="0"/>
              </a:rPr>
              <a:t>, and </a:t>
            </a:r>
            <a:r>
              <a:rPr lang="en-US" sz="2200" i="1" dirty="0" smtClean="0">
                <a:latin typeface="Helvetica" pitchFamily="34" charset="0"/>
              </a:rPr>
              <a:t>that</a:t>
            </a:r>
            <a:r>
              <a:rPr lang="en-US" sz="2200" dirty="0" smtClean="0">
                <a:latin typeface="Helvetica" pitchFamily="34" charset="0"/>
              </a:rPr>
              <a:t>. If you cannot see your tongue, you may be putting your tongue behind your top teeth instead of touching the tips of your top teeth.</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21506" name="Picture 2" descr="C:\Users\Quentin\Desktop\Images\th_think.gif"/>
          <p:cNvPicPr>
            <a:picLocks noChangeAspect="1" noChangeArrowheads="1"/>
          </p:cNvPicPr>
          <p:nvPr/>
        </p:nvPicPr>
        <p:blipFill>
          <a:blip r:embed="rId3" cstate="print"/>
          <a:srcRect/>
          <a:stretch>
            <a:fillRect/>
          </a:stretch>
        </p:blipFill>
        <p:spPr bwMode="auto">
          <a:xfrm>
            <a:off x="6084168" y="4653136"/>
            <a:ext cx="2088232" cy="182626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Acknowledging all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8872" cy="5112568"/>
          </a:xfrm>
        </p:spPr>
        <p:txBody>
          <a:bodyPr>
            <a:normAutofit lnSpcReduction="10000"/>
          </a:bodyPr>
          <a:lstStyle/>
          <a:p>
            <a:pPr marL="0" indent="0">
              <a:spcBef>
                <a:spcPts val="600"/>
              </a:spcBef>
              <a:spcAft>
                <a:spcPts val="1200"/>
              </a:spcAft>
              <a:buNone/>
            </a:pPr>
            <a:r>
              <a:rPr lang="en-US" sz="2200" dirty="0" smtClean="0">
                <a:latin typeface="Helvetica" pitchFamily="34" charset="0"/>
              </a:rPr>
              <a:t>Many guests will not be able to speak your language or English. It is important to acknowledge these guests and communicate with them in any way possible.</a:t>
            </a:r>
          </a:p>
          <a:p>
            <a:pPr marL="0" indent="0">
              <a:spcBef>
                <a:spcPts val="600"/>
              </a:spcBef>
              <a:spcAft>
                <a:spcPts val="1200"/>
              </a:spcAft>
              <a:buNone/>
            </a:pPr>
            <a:r>
              <a:rPr lang="en-US" sz="2200" dirty="0" smtClean="0">
                <a:latin typeface="Helvetica" pitchFamily="34" charset="0"/>
              </a:rPr>
              <a:t>Follow these steps if you have trouble: </a:t>
            </a:r>
          </a:p>
          <a:p>
            <a:pPr marL="360000" indent="-360000">
              <a:spcBef>
                <a:spcPts val="600"/>
              </a:spcBef>
              <a:spcAft>
                <a:spcPts val="1200"/>
              </a:spcAft>
            </a:pPr>
            <a:r>
              <a:rPr lang="en-US" sz="2200" dirty="0" smtClean="0">
                <a:latin typeface="Helvetica" pitchFamily="34" charset="0"/>
              </a:rPr>
              <a:t>Remain calm</a:t>
            </a:r>
          </a:p>
          <a:p>
            <a:pPr marL="360000" indent="-360000">
              <a:spcBef>
                <a:spcPts val="600"/>
              </a:spcBef>
              <a:spcAft>
                <a:spcPts val="1200"/>
              </a:spcAft>
            </a:pPr>
            <a:r>
              <a:rPr lang="en-US" sz="2200" dirty="0" smtClean="0">
                <a:latin typeface="Helvetica" pitchFamily="34" charset="0"/>
              </a:rPr>
              <a:t>Repeat the question/statement slowly</a:t>
            </a:r>
          </a:p>
          <a:p>
            <a:pPr marL="360000" indent="-360000">
              <a:spcBef>
                <a:spcPts val="600"/>
              </a:spcBef>
              <a:spcAft>
                <a:spcPts val="1200"/>
              </a:spcAft>
            </a:pPr>
            <a:r>
              <a:rPr lang="en-US" sz="2200" dirty="0" smtClean="0">
                <a:latin typeface="Helvetica" pitchFamily="34" charset="0"/>
              </a:rPr>
              <a:t>Judge their comprehension by his/her response</a:t>
            </a:r>
          </a:p>
          <a:p>
            <a:pPr marL="360000" indent="-360000">
              <a:spcBef>
                <a:spcPts val="600"/>
              </a:spcBef>
              <a:spcAft>
                <a:spcPts val="1200"/>
              </a:spcAft>
            </a:pPr>
            <a:r>
              <a:rPr lang="en-US" sz="2200" dirty="0" smtClean="0">
                <a:latin typeface="Helvetica" pitchFamily="34" charset="0"/>
              </a:rPr>
              <a:t>Use body gestures to communicate</a:t>
            </a:r>
          </a:p>
          <a:p>
            <a:pPr marL="360000" indent="-360000">
              <a:spcBef>
                <a:spcPts val="600"/>
              </a:spcBef>
              <a:spcAft>
                <a:spcPts val="1200"/>
              </a:spcAft>
            </a:pPr>
            <a:r>
              <a:rPr lang="en-US" sz="2200" dirty="0" smtClean="0">
                <a:latin typeface="Helvetica" pitchFamily="34" charset="0"/>
              </a:rPr>
              <a:t>Ask them to wait</a:t>
            </a:r>
          </a:p>
          <a:p>
            <a:pPr marL="360000" indent="-360000">
              <a:spcBef>
                <a:spcPts val="600"/>
              </a:spcBef>
              <a:spcAft>
                <a:spcPts val="1200"/>
              </a:spcAft>
            </a:pPr>
            <a:r>
              <a:rPr lang="en-US" sz="2200" dirty="0" smtClean="0">
                <a:latin typeface="Helvetica" pitchFamily="34" charset="0"/>
              </a:rPr>
              <a:t>Alert a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22530" name="Picture 2" descr="C:\Users\Quentin\Desktop\Images\3.3 ResizedImage450245-Staff-2.png"/>
          <p:cNvPicPr>
            <a:picLocks noChangeAspect="1" noChangeArrowheads="1"/>
          </p:cNvPicPr>
          <p:nvPr/>
        </p:nvPicPr>
        <p:blipFill>
          <a:blip r:embed="rId3" cstate="print"/>
          <a:srcRect/>
          <a:stretch>
            <a:fillRect/>
          </a:stretch>
        </p:blipFill>
        <p:spPr bwMode="auto">
          <a:xfrm>
            <a:off x="5868144" y="4941168"/>
            <a:ext cx="2634852" cy="143453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7467600" cy="1143000"/>
          </a:xfrm>
        </p:spPr>
        <p:txBody>
          <a:bodyPr>
            <a:normAutofit/>
          </a:bodyPr>
          <a:lstStyle/>
          <a:p>
            <a:r>
              <a:rPr lang="en-US" sz="3400" b="1" dirty="0" smtClean="0">
                <a:solidFill>
                  <a:srgbClr val="FF6600"/>
                </a:solidFill>
                <a:latin typeface="Helvetica" pitchFamily="34" charset="0"/>
              </a:rPr>
              <a:t>Acknowledging all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88832" cy="4824536"/>
          </a:xfrm>
        </p:spPr>
        <p:txBody>
          <a:bodyPr>
            <a:normAutofit/>
          </a:bodyPr>
          <a:lstStyle/>
          <a:p>
            <a:pPr marL="0" indent="0">
              <a:spcBef>
                <a:spcPts val="600"/>
              </a:spcBef>
              <a:spcAft>
                <a:spcPts val="1200"/>
              </a:spcAft>
              <a:buNone/>
            </a:pPr>
            <a:r>
              <a:rPr lang="en-US" sz="2200" b="1" dirty="0" smtClean="0">
                <a:latin typeface="Helvetica" pitchFamily="34" charset="0"/>
              </a:rPr>
              <a:t>Back-to-the-Board Activity</a:t>
            </a:r>
          </a:p>
          <a:p>
            <a:pPr marL="0" indent="0">
              <a:spcBef>
                <a:spcPts val="600"/>
              </a:spcBef>
              <a:spcAft>
                <a:spcPts val="1200"/>
              </a:spcAft>
              <a:buNone/>
            </a:pPr>
            <a:r>
              <a:rPr lang="en-US" sz="2200" dirty="0" smtClean="0">
                <a:latin typeface="Helvetica" pitchFamily="34" charset="0"/>
              </a:rPr>
              <a:t>Make two teams. I will write a request or vocabulary word on the board, while one person sits with his/her back to the board (without seeing the word/request). This person’s team must work together to make him/her say the word or request. The team has one minute to achieve this task before the next team goes. </a:t>
            </a:r>
          </a:p>
          <a:p>
            <a:pPr marL="0" indent="0">
              <a:spcBef>
                <a:spcPts val="600"/>
              </a:spcBef>
              <a:spcAft>
                <a:spcPts val="1200"/>
              </a:spcAft>
              <a:buNone/>
            </a:pPr>
            <a:r>
              <a:rPr lang="en-US" sz="2200" dirty="0" smtClean="0">
                <a:latin typeface="Helvetica" pitchFamily="34" charset="0"/>
              </a:rPr>
              <a:t>After one round of the game, we will change the rules so that the person in the front of the class knows the word/request and must explain it to his/her team.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23554" name="Picture 2" descr="C:\Users\Quentin\Desktop\Images\interwrite.jpg"/>
          <p:cNvPicPr>
            <a:picLocks noChangeAspect="1" noChangeArrowheads="1"/>
          </p:cNvPicPr>
          <p:nvPr/>
        </p:nvPicPr>
        <p:blipFill>
          <a:blip r:embed="rId3" cstate="print"/>
          <a:stretch>
            <a:fillRect/>
          </a:stretch>
        </p:blipFill>
        <p:spPr bwMode="auto">
          <a:xfrm>
            <a:off x="6948264" y="4725144"/>
            <a:ext cx="1685692" cy="169907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Acknowledging all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Charades Activity</a:t>
            </a:r>
          </a:p>
          <a:p>
            <a:pPr marL="0" indent="0">
              <a:lnSpc>
                <a:spcPct val="120000"/>
              </a:lnSpc>
              <a:spcBef>
                <a:spcPts val="1200"/>
              </a:spcBef>
              <a:spcAft>
                <a:spcPts val="1200"/>
              </a:spcAft>
              <a:buNone/>
            </a:pPr>
            <a:r>
              <a:rPr lang="en-US" sz="2200" dirty="0" smtClean="0">
                <a:latin typeface="Helvetica" pitchFamily="34" charset="0"/>
              </a:rPr>
              <a:t>Without talking, you must work with a partner to identify 10 vocabulary words on these </a:t>
            </a:r>
            <a:r>
              <a:rPr lang="en-US" sz="2200" dirty="0" err="1" smtClean="0">
                <a:latin typeface="Helvetica" pitchFamily="34" charset="0"/>
              </a:rPr>
              <a:t>notecards</a:t>
            </a:r>
            <a:r>
              <a:rPr lang="en-US" sz="2200" dirty="0" smtClean="0">
                <a:latin typeface="Helvetica" pitchFamily="34" charset="0"/>
              </a:rPr>
              <a:t>. All trainees will have the same </a:t>
            </a:r>
            <a:r>
              <a:rPr lang="en-US" sz="2200" dirty="0" err="1" smtClean="0">
                <a:latin typeface="Helvetica" pitchFamily="34" charset="0"/>
              </a:rPr>
              <a:t>notecards</a:t>
            </a:r>
            <a:r>
              <a:rPr lang="en-US" sz="2200" dirty="0" smtClean="0">
                <a:latin typeface="Helvetica" pitchFamily="34" charset="0"/>
              </a:rPr>
              <a:t> face-down on a desk between the pairs. One partner looks at the </a:t>
            </a:r>
            <a:r>
              <a:rPr lang="en-US" sz="2200" dirty="0" err="1" smtClean="0">
                <a:latin typeface="Helvetica" pitchFamily="34" charset="0"/>
              </a:rPr>
              <a:t>notecards</a:t>
            </a:r>
            <a:r>
              <a:rPr lang="en-US" sz="2200" dirty="0" smtClean="0">
                <a:latin typeface="Helvetica" pitchFamily="34" charset="0"/>
              </a:rPr>
              <a:t> and mimes the words, the other must say the word on the </a:t>
            </a:r>
            <a:r>
              <a:rPr lang="en-US" sz="2200" dirty="0" err="1" smtClean="0">
                <a:latin typeface="Helvetica" pitchFamily="34" charset="0"/>
              </a:rPr>
              <a:t>notecard</a:t>
            </a:r>
            <a:r>
              <a:rPr lang="en-US" sz="2200" dirty="0" smtClean="0">
                <a:latin typeface="Helvetica" pitchFamily="34" charset="0"/>
              </a:rPr>
              <a:t>. You must take turns acting out the vocabulary words without talking. The pair with the most identified words within five minutes wins.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24578" name="Picture 2" descr="C:\Users\Quentin\Desktop\Images\charades.png"/>
          <p:cNvPicPr>
            <a:picLocks noChangeAspect="1" noChangeArrowheads="1"/>
          </p:cNvPicPr>
          <p:nvPr/>
        </p:nvPicPr>
        <p:blipFill>
          <a:blip r:embed="rId3" cstate="print"/>
          <a:srcRect/>
          <a:stretch>
            <a:fillRect/>
          </a:stretch>
        </p:blipFill>
        <p:spPr bwMode="auto">
          <a:xfrm>
            <a:off x="5796136" y="5334606"/>
            <a:ext cx="2448272" cy="114238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467600" cy="1143000"/>
          </a:xfrm>
        </p:spPr>
        <p:txBody>
          <a:bodyPr>
            <a:normAutofit/>
          </a:bodyPr>
          <a:lstStyle/>
          <a:p>
            <a:r>
              <a:rPr lang="en-US" sz="3400" b="1" dirty="0" smtClean="0">
                <a:solidFill>
                  <a:srgbClr val="FF6600"/>
                </a:solidFill>
                <a:latin typeface="Helvetica" pitchFamily="34" charset="0"/>
              </a:rPr>
              <a:t>Describe routine procedures</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1200"/>
              </a:spcBef>
              <a:spcAft>
                <a:spcPts val="1200"/>
              </a:spcAft>
              <a:buNone/>
            </a:pPr>
            <a:r>
              <a:rPr lang="en-US" sz="2200" dirty="0" smtClean="0">
                <a:latin typeface="Helvetica" pitchFamily="34" charset="0"/>
              </a:rPr>
              <a:t>Performance Criteria for this Element are:</a:t>
            </a:r>
          </a:p>
          <a:p>
            <a:pPr marL="360000" indent="-360000">
              <a:spcBef>
                <a:spcPts val="1200"/>
              </a:spcBef>
              <a:spcAft>
                <a:spcPts val="1200"/>
              </a:spcAft>
              <a:buNone/>
            </a:pPr>
            <a:r>
              <a:rPr lang="en-US" sz="2200" dirty="0" smtClean="0">
                <a:latin typeface="Helvetica" pitchFamily="34" charset="0"/>
              </a:rPr>
              <a:t>4.1 Explain a </a:t>
            </a:r>
            <a:r>
              <a:rPr lang="en-US" sz="2200" i="1" dirty="0" smtClean="0">
                <a:latin typeface="Helvetica" pitchFamily="34" charset="0"/>
              </a:rPr>
              <a:t>sequence</a:t>
            </a:r>
            <a:r>
              <a:rPr lang="en-US" sz="2200" dirty="0" smtClean="0">
                <a:latin typeface="Helvetica" pitchFamily="34" charset="0"/>
              </a:rPr>
              <a:t> of events in carrying out a routine job</a:t>
            </a:r>
            <a:endParaRPr lang="en-US" sz="2200" i="1" dirty="0" smtClean="0">
              <a:latin typeface="Helvetica" pitchFamily="34" charset="0"/>
            </a:endParaRPr>
          </a:p>
          <a:p>
            <a:pPr marL="360000" indent="-360000">
              <a:spcBef>
                <a:spcPts val="1200"/>
              </a:spcBef>
              <a:spcAft>
                <a:spcPts val="1200"/>
              </a:spcAft>
              <a:buNone/>
            </a:pPr>
            <a:r>
              <a:rPr lang="en-US" sz="2200" dirty="0" smtClean="0">
                <a:latin typeface="Helvetica" pitchFamily="34" charset="0"/>
              </a:rPr>
              <a:t>4.2 Describe </a:t>
            </a:r>
            <a:r>
              <a:rPr lang="en-US" sz="2200" i="1" dirty="0" smtClean="0">
                <a:latin typeface="Helvetica" pitchFamily="34" charset="0"/>
              </a:rPr>
              <a:t>exceptions</a:t>
            </a:r>
            <a:r>
              <a:rPr lang="en-US" sz="2200" dirty="0" smtClean="0">
                <a:latin typeface="Helvetica" pitchFamily="34" charset="0"/>
              </a:rPr>
              <a:t> to routine procedures</a:t>
            </a:r>
          </a:p>
          <a:p>
            <a:pPr marL="360000" indent="-360000">
              <a:spcBef>
                <a:spcPts val="1200"/>
              </a:spcBef>
              <a:spcAft>
                <a:spcPts val="1200"/>
              </a:spcAft>
              <a:buNone/>
            </a:pPr>
            <a:r>
              <a:rPr lang="en-US" sz="2200" dirty="0" smtClean="0">
                <a:latin typeface="Helvetica" pitchFamily="34" charset="0"/>
              </a:rPr>
              <a:t>4.3 Make </a:t>
            </a:r>
            <a:r>
              <a:rPr lang="en-US" sz="2200" i="1" dirty="0" smtClean="0">
                <a:latin typeface="Helvetica" pitchFamily="34" charset="0"/>
              </a:rPr>
              <a:t>suggestions</a:t>
            </a:r>
            <a:r>
              <a:rPr lang="en-US" sz="2200" dirty="0" smtClean="0">
                <a:latin typeface="Helvetica" pitchFamily="34" charset="0"/>
              </a:rPr>
              <a:t> on how to improve routine procedures.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170" name="Picture 2" descr="C:\Users\Quentin\Desktop\Images\3.3 team.gif"/>
          <p:cNvPicPr>
            <a:picLocks noChangeAspect="1" noChangeArrowheads="1"/>
          </p:cNvPicPr>
          <p:nvPr/>
        </p:nvPicPr>
        <p:blipFill>
          <a:blip r:embed="rId3" cstate="print"/>
          <a:srcRect/>
          <a:stretch>
            <a:fillRect/>
          </a:stretch>
        </p:blipFill>
        <p:spPr bwMode="auto">
          <a:xfrm>
            <a:off x="4860032" y="4437112"/>
            <a:ext cx="3333750" cy="17811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Giving instructions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632848" cy="5040560"/>
          </a:xfrm>
        </p:spPr>
        <p:txBody>
          <a:bodyPr>
            <a:normAutofit/>
          </a:bodyPr>
          <a:lstStyle/>
          <a:p>
            <a:pPr marL="0" indent="0">
              <a:spcBef>
                <a:spcPts val="600"/>
              </a:spcBef>
              <a:spcAft>
                <a:spcPts val="1200"/>
              </a:spcAft>
              <a:buNone/>
            </a:pPr>
            <a:r>
              <a:rPr lang="en-US" sz="2200" dirty="0" smtClean="0">
                <a:latin typeface="Helvetica" pitchFamily="34" charset="0"/>
              </a:rPr>
              <a:t>Explaining how to carry out a routine job is a basic English task and can be used on a daily basis in the service industry. </a:t>
            </a:r>
          </a:p>
          <a:p>
            <a:pPr marL="0" indent="0">
              <a:spcBef>
                <a:spcPts val="600"/>
              </a:spcBef>
              <a:spcAft>
                <a:spcPts val="1200"/>
              </a:spcAft>
              <a:buNone/>
            </a:pPr>
            <a:r>
              <a:rPr lang="en-US" sz="2200" dirty="0" smtClean="0">
                <a:latin typeface="Helvetica" pitchFamily="34" charset="0"/>
              </a:rPr>
              <a:t>Use sequence markers while giving instructions to indicate an order of the tasks to be performed.</a:t>
            </a:r>
          </a:p>
          <a:p>
            <a:pPr marL="0" indent="0">
              <a:spcBef>
                <a:spcPts val="600"/>
              </a:spcBef>
              <a:spcAft>
                <a:spcPts val="1200"/>
              </a:spcAft>
              <a:buNone/>
            </a:pPr>
            <a:r>
              <a:rPr lang="en-US" sz="2200" dirty="0" smtClean="0">
                <a:latin typeface="Helvetica" pitchFamily="34" charset="0"/>
              </a:rPr>
              <a:t>Examples include: </a:t>
            </a:r>
          </a:p>
          <a:p>
            <a:pPr marL="360000" indent="-360000">
              <a:spcBef>
                <a:spcPts val="600"/>
              </a:spcBef>
              <a:spcAft>
                <a:spcPts val="1200"/>
              </a:spcAft>
            </a:pPr>
            <a:r>
              <a:rPr lang="en-US" sz="2200" dirty="0" smtClean="0">
                <a:latin typeface="Helvetica" pitchFamily="34" charset="0"/>
              </a:rPr>
              <a:t>first</a:t>
            </a:r>
          </a:p>
          <a:p>
            <a:pPr marL="360000" indent="-360000">
              <a:spcBef>
                <a:spcPts val="600"/>
              </a:spcBef>
              <a:spcAft>
                <a:spcPts val="1200"/>
              </a:spcAft>
            </a:pPr>
            <a:r>
              <a:rPr lang="en-US" sz="2200" dirty="0" smtClean="0">
                <a:latin typeface="Helvetica" pitchFamily="34" charset="0"/>
              </a:rPr>
              <a:t>then</a:t>
            </a:r>
          </a:p>
          <a:p>
            <a:pPr marL="360000" indent="-360000">
              <a:spcBef>
                <a:spcPts val="600"/>
              </a:spcBef>
              <a:spcAft>
                <a:spcPts val="1200"/>
              </a:spcAft>
            </a:pPr>
            <a:r>
              <a:rPr lang="en-US" sz="2200" dirty="0" smtClean="0">
                <a:latin typeface="Helvetica" pitchFamily="34" charset="0"/>
              </a:rPr>
              <a:t>next</a:t>
            </a:r>
          </a:p>
          <a:p>
            <a:pPr marL="360000" indent="-360000">
              <a:spcBef>
                <a:spcPts val="600"/>
              </a:spcBef>
              <a:spcAft>
                <a:spcPts val="1200"/>
              </a:spcAft>
            </a:pPr>
            <a:r>
              <a:rPr lang="en-US" sz="2200" dirty="0" smtClean="0">
                <a:latin typeface="Helvetica" pitchFamily="34" charset="0"/>
              </a:rPr>
              <a:t>finally.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25602" name="Picture 2" descr="C:\Users\Quentin\Desktop\Images\4.1 Sadar Khuddamul Ahmadiyya Bharat_ Mohammad Ismaeel Tahir sahib giving instructions to local khuddam.jpg"/>
          <p:cNvPicPr>
            <a:picLocks noChangeAspect="1" noChangeArrowheads="1"/>
          </p:cNvPicPr>
          <p:nvPr/>
        </p:nvPicPr>
        <p:blipFill>
          <a:blip r:embed="rId3" cstate="print"/>
          <a:srcRect/>
          <a:stretch>
            <a:fillRect/>
          </a:stretch>
        </p:blipFill>
        <p:spPr bwMode="auto">
          <a:xfrm>
            <a:off x="5076056" y="4149080"/>
            <a:ext cx="2736304" cy="1821234"/>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Giving instructions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83568" y="1556792"/>
            <a:ext cx="7848872" cy="4536504"/>
          </a:xfrm>
        </p:spPr>
        <p:txBody>
          <a:bodyPr>
            <a:normAutofit/>
          </a:bodyPr>
          <a:lstStyle/>
          <a:p>
            <a:pPr marL="0" indent="0">
              <a:spcBef>
                <a:spcPts val="600"/>
              </a:spcBef>
              <a:spcAft>
                <a:spcPts val="1200"/>
              </a:spcAft>
              <a:buNone/>
            </a:pPr>
            <a:r>
              <a:rPr lang="en-US" sz="2200" dirty="0" smtClean="0">
                <a:latin typeface="Helvetica" pitchFamily="34" charset="0"/>
              </a:rPr>
              <a:t>Put the instructions in order.</a:t>
            </a:r>
          </a:p>
          <a:p>
            <a:pPr marL="0" indent="0">
              <a:spcBef>
                <a:spcPts val="600"/>
              </a:spcBef>
              <a:spcAft>
                <a:spcPts val="1200"/>
              </a:spcAft>
              <a:buNone/>
            </a:pPr>
            <a:r>
              <a:rPr lang="en-US" sz="2200" dirty="0" smtClean="0">
                <a:latin typeface="Helvetica" pitchFamily="34" charset="0"/>
              </a:rPr>
              <a:t>Make a cocktail</a:t>
            </a:r>
          </a:p>
          <a:p>
            <a:pPr marL="0" indent="0">
              <a:spcBef>
                <a:spcPts val="600"/>
              </a:spcBef>
              <a:spcAft>
                <a:spcPts val="1200"/>
              </a:spcAft>
              <a:buNone/>
            </a:pPr>
            <a:r>
              <a:rPr lang="en-US" sz="2200" dirty="0" smtClean="0">
                <a:latin typeface="Helvetica" pitchFamily="34" charset="0"/>
              </a:rPr>
              <a:t>___ Then add three measures of tonic.</a:t>
            </a:r>
          </a:p>
          <a:p>
            <a:pPr marL="0" indent="0">
              <a:spcBef>
                <a:spcPts val="600"/>
              </a:spcBef>
              <a:spcAft>
                <a:spcPts val="1200"/>
              </a:spcAft>
              <a:buNone/>
            </a:pPr>
            <a:r>
              <a:rPr lang="en-US" sz="2200" dirty="0" smtClean="0">
                <a:latin typeface="Helvetica" pitchFamily="34" charset="0"/>
              </a:rPr>
              <a:t>___ First, pour one shot of gin into the glass.</a:t>
            </a:r>
          </a:p>
          <a:p>
            <a:pPr marL="0" indent="0">
              <a:spcBef>
                <a:spcPts val="600"/>
              </a:spcBef>
              <a:spcAft>
                <a:spcPts val="1200"/>
              </a:spcAft>
              <a:buNone/>
            </a:pPr>
            <a:r>
              <a:rPr lang="en-US" sz="2200" dirty="0" smtClean="0">
                <a:latin typeface="Helvetica" pitchFamily="34" charset="0"/>
              </a:rPr>
              <a:t>___ Finally, put a slice of lime on the glass and insert a straw.</a:t>
            </a:r>
          </a:p>
          <a:p>
            <a:pPr marL="0" indent="0">
              <a:spcBef>
                <a:spcPts val="600"/>
              </a:spcBef>
              <a:spcAft>
                <a:spcPts val="1200"/>
              </a:spcAft>
              <a:buNone/>
            </a:pPr>
            <a:r>
              <a:rPr lang="en-US" sz="2200" dirty="0" smtClean="0">
                <a:latin typeface="Helvetica" pitchFamily="34" charset="0"/>
              </a:rPr>
              <a:t>___ Next, mix the liquids well.</a:t>
            </a:r>
          </a:p>
          <a:p>
            <a:pPr marL="0" indent="0">
              <a:spcBef>
                <a:spcPts val="600"/>
              </a:spcBef>
              <a:spcAft>
                <a:spcPts val="1200"/>
              </a:spcAft>
              <a:buNone/>
            </a:pPr>
            <a:r>
              <a:rPr lang="en-US" sz="2200" dirty="0" smtClean="0">
                <a:latin typeface="Helvetica" pitchFamily="34" charset="0"/>
              </a:rPr>
              <a:t>___ After that, add ice to chill the liquids.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26626" name="Picture 2" descr="C:\Users\Quentin\Desktop\Images\123.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372200" y="548680"/>
            <a:ext cx="2479928" cy="2189178"/>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Describing exceptions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20000"/>
              </a:lnSpc>
              <a:spcBef>
                <a:spcPts val="1200"/>
              </a:spcBef>
              <a:spcAft>
                <a:spcPts val="1200"/>
              </a:spcAft>
              <a:buNone/>
            </a:pPr>
            <a:r>
              <a:rPr lang="en-US" sz="2200" dirty="0" smtClean="0">
                <a:latin typeface="Helvetica" pitchFamily="34" charset="0"/>
              </a:rPr>
              <a:t>In any work situation, unforeseen things occur that make you adjust your plan and disrupt your usual routine. Working in the hospitality industry requires individuals to be flexible and prepared to handle difficult and surprising situations. </a:t>
            </a:r>
          </a:p>
          <a:p>
            <a:pPr marL="0" indent="0">
              <a:lnSpc>
                <a:spcPct val="120000"/>
              </a:lnSpc>
              <a:spcBef>
                <a:spcPts val="1200"/>
              </a:spcBef>
              <a:spcAft>
                <a:spcPts val="1200"/>
              </a:spcAft>
              <a:buNone/>
            </a:pPr>
            <a:r>
              <a:rPr lang="en-US" sz="2200" b="1" dirty="0" smtClean="0">
                <a:latin typeface="Helvetica" pitchFamily="34" charset="0"/>
              </a:rPr>
              <a:t>You must be able to describe these exceptions in a professional manner and instruct co-workers how to deal with them.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27650" name="Picture 2" descr="C:\Users\Quentin\Desktop\Images\4.2 exception.jpg"/>
          <p:cNvPicPr>
            <a:picLocks noChangeAspect="1" noChangeArrowheads="1"/>
          </p:cNvPicPr>
          <p:nvPr/>
        </p:nvPicPr>
        <p:blipFill>
          <a:blip r:embed="rId3" cstate="print"/>
          <a:srcRect/>
          <a:stretch>
            <a:fillRect/>
          </a:stretch>
        </p:blipFill>
        <p:spPr bwMode="auto">
          <a:xfrm>
            <a:off x="6084168" y="4925784"/>
            <a:ext cx="1656184" cy="193221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Describing exceptions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1200"/>
              </a:spcBef>
              <a:spcAft>
                <a:spcPts val="1200"/>
              </a:spcAft>
              <a:buNone/>
            </a:pPr>
            <a:r>
              <a:rPr lang="en-US" sz="2200" dirty="0" smtClean="0">
                <a:latin typeface="Helvetica" pitchFamily="34" charset="0"/>
              </a:rPr>
              <a:t>Use adverbs of frequency to talk about how often certain actions occur. </a:t>
            </a:r>
          </a:p>
          <a:p>
            <a:pPr marL="0" indent="0">
              <a:spcBef>
                <a:spcPts val="1200"/>
              </a:spcBef>
              <a:spcAft>
                <a:spcPts val="1200"/>
              </a:spcAft>
              <a:buNone/>
            </a:pPr>
            <a:r>
              <a:rPr lang="en-US" sz="2200" dirty="0" smtClean="0">
                <a:latin typeface="Helvetica" pitchFamily="34" charset="0"/>
              </a:rPr>
              <a:t>Examples include:</a:t>
            </a:r>
          </a:p>
          <a:p>
            <a:pPr marL="360000" indent="-360000">
              <a:spcBef>
                <a:spcPts val="1200"/>
              </a:spcBef>
              <a:spcAft>
                <a:spcPts val="1200"/>
              </a:spcAft>
            </a:pPr>
            <a:r>
              <a:rPr lang="en-US" sz="2200" dirty="0" smtClean="0">
                <a:latin typeface="Helvetica" pitchFamily="34" charset="0"/>
              </a:rPr>
              <a:t>always</a:t>
            </a:r>
          </a:p>
          <a:p>
            <a:pPr marL="360000" indent="-360000">
              <a:spcBef>
                <a:spcPts val="1200"/>
              </a:spcBef>
              <a:spcAft>
                <a:spcPts val="1200"/>
              </a:spcAft>
            </a:pPr>
            <a:r>
              <a:rPr lang="en-US" sz="2200" dirty="0" smtClean="0">
                <a:latin typeface="Helvetica" pitchFamily="34" charset="0"/>
              </a:rPr>
              <a:t>often</a:t>
            </a:r>
          </a:p>
          <a:p>
            <a:pPr marL="360000" indent="-360000">
              <a:spcBef>
                <a:spcPts val="1200"/>
              </a:spcBef>
              <a:spcAft>
                <a:spcPts val="1200"/>
              </a:spcAft>
            </a:pPr>
            <a:r>
              <a:rPr lang="en-US" sz="2200" dirty="0" smtClean="0">
                <a:latin typeface="Helvetica" pitchFamily="34" charset="0"/>
              </a:rPr>
              <a:t>sometimes</a:t>
            </a:r>
          </a:p>
          <a:p>
            <a:pPr marL="360000" indent="-360000">
              <a:spcBef>
                <a:spcPts val="1200"/>
              </a:spcBef>
              <a:spcAft>
                <a:spcPts val="1200"/>
              </a:spcAft>
            </a:pPr>
            <a:r>
              <a:rPr lang="en-US" sz="2200" dirty="0" smtClean="0">
                <a:latin typeface="Helvetica" pitchFamily="34" charset="0"/>
              </a:rPr>
              <a:t>never.</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28674" name="Picture 2" descr="C:\Users\Quentin\Desktop\Images\4.2 untitled.png"/>
          <p:cNvPicPr>
            <a:picLocks noChangeAspect="1" noChangeArrowheads="1"/>
          </p:cNvPicPr>
          <p:nvPr/>
        </p:nvPicPr>
        <p:blipFill>
          <a:blip r:embed="rId3" cstate="print"/>
          <a:srcRect/>
          <a:stretch>
            <a:fillRect/>
          </a:stretch>
        </p:blipFill>
        <p:spPr bwMode="auto">
          <a:xfrm>
            <a:off x="5796136" y="2492896"/>
            <a:ext cx="1800200" cy="2697119"/>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Describing exceptions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Adverbs of frequency should go directly before the verb when constructing a sentence. One exception is the adverb </a:t>
            </a:r>
            <a:r>
              <a:rPr lang="en-US" sz="2200" b="1" dirty="0" smtClean="0">
                <a:latin typeface="Helvetica" pitchFamily="34" charset="0"/>
              </a:rPr>
              <a:t>sometimes</a:t>
            </a:r>
            <a:r>
              <a:rPr lang="en-US" sz="2200" dirty="0" smtClean="0">
                <a:latin typeface="Helvetica" pitchFamily="34" charset="0"/>
              </a:rPr>
              <a:t>, which can also go at the beginning of a sentence. </a:t>
            </a:r>
          </a:p>
          <a:p>
            <a:pPr marL="0" indent="0">
              <a:spcBef>
                <a:spcPts val="600"/>
              </a:spcBef>
              <a:spcAft>
                <a:spcPts val="1200"/>
              </a:spcAft>
              <a:buNone/>
            </a:pPr>
            <a:r>
              <a:rPr lang="en-US" sz="2200" dirty="0" smtClean="0">
                <a:latin typeface="Helvetica" pitchFamily="34" charset="0"/>
              </a:rPr>
              <a:t>Examples:</a:t>
            </a:r>
          </a:p>
          <a:p>
            <a:pPr marL="360000" indent="-360000">
              <a:spcBef>
                <a:spcPts val="600"/>
              </a:spcBef>
              <a:spcAft>
                <a:spcPts val="1200"/>
              </a:spcAft>
            </a:pPr>
            <a:r>
              <a:rPr lang="en-US" sz="2200" dirty="0" smtClean="0">
                <a:latin typeface="Helvetica" pitchFamily="34" charset="0"/>
              </a:rPr>
              <a:t>I </a:t>
            </a:r>
            <a:r>
              <a:rPr lang="en-US" sz="2200" b="1" dirty="0" smtClean="0">
                <a:latin typeface="Helvetica" pitchFamily="34" charset="0"/>
              </a:rPr>
              <a:t>always</a:t>
            </a:r>
            <a:r>
              <a:rPr lang="en-US" sz="2200" dirty="0" smtClean="0">
                <a:latin typeface="Helvetica" pitchFamily="34" charset="0"/>
              </a:rPr>
              <a:t> wake up early.</a:t>
            </a:r>
          </a:p>
          <a:p>
            <a:pPr marL="360000" indent="-360000">
              <a:spcBef>
                <a:spcPts val="600"/>
              </a:spcBef>
              <a:spcAft>
                <a:spcPts val="1200"/>
              </a:spcAft>
            </a:pPr>
            <a:r>
              <a:rPr lang="en-US" sz="2200" dirty="0" smtClean="0">
                <a:latin typeface="Helvetica" pitchFamily="34" charset="0"/>
              </a:rPr>
              <a:t>Mike </a:t>
            </a:r>
            <a:r>
              <a:rPr lang="en-US" sz="2200" b="1" dirty="0" smtClean="0">
                <a:latin typeface="Helvetica" pitchFamily="34" charset="0"/>
              </a:rPr>
              <a:t>never</a:t>
            </a:r>
            <a:r>
              <a:rPr lang="en-US" sz="2200" dirty="0" smtClean="0">
                <a:latin typeface="Helvetica" pitchFamily="34" charset="0"/>
              </a:rPr>
              <a:t> wants to play tennis.</a:t>
            </a:r>
          </a:p>
          <a:p>
            <a:pPr marL="360000" indent="-360000">
              <a:spcBef>
                <a:spcPts val="600"/>
              </a:spcBef>
              <a:spcAft>
                <a:spcPts val="1200"/>
              </a:spcAft>
            </a:pPr>
            <a:r>
              <a:rPr lang="en-US" sz="2200" b="1" dirty="0" smtClean="0">
                <a:latin typeface="Helvetica" pitchFamily="34" charset="0"/>
              </a:rPr>
              <a:t>Sometimes</a:t>
            </a:r>
            <a:r>
              <a:rPr lang="en-US" sz="2200" dirty="0" smtClean="0">
                <a:latin typeface="Helvetica" pitchFamily="34" charset="0"/>
              </a:rPr>
              <a:t> I like to go swimming. </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29698" name="Picture 2" descr="C:\Users\Quentin\Desktop\Images\4.1 SuperStock_1829-47666.jpg"/>
          <p:cNvPicPr>
            <a:picLocks noChangeAspect="1" noChangeArrowheads="1"/>
          </p:cNvPicPr>
          <p:nvPr/>
        </p:nvPicPr>
        <p:blipFill>
          <a:blip r:embed="rId3" cstate="print"/>
          <a:srcRect b="37375"/>
          <a:stretch>
            <a:fillRect/>
          </a:stretch>
        </p:blipFill>
        <p:spPr bwMode="auto">
          <a:xfrm>
            <a:off x="5796136" y="4725144"/>
            <a:ext cx="2892896" cy="133028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Describing exceptions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buNone/>
            </a:pPr>
            <a:r>
              <a:rPr lang="en-US" sz="2200" dirty="0" smtClean="0">
                <a:latin typeface="Helvetica" pitchFamily="34" charset="0"/>
              </a:rPr>
              <a:t>Use ‘How often’ to ask about frequency.</a:t>
            </a:r>
          </a:p>
          <a:p>
            <a:pPr marL="360000" indent="-360000">
              <a:spcBef>
                <a:spcPts val="1200"/>
              </a:spcBef>
              <a:spcAft>
                <a:spcPts val="1200"/>
              </a:spcAft>
              <a:buNone/>
            </a:pPr>
            <a:r>
              <a:rPr lang="en-US" sz="2200" dirty="0" smtClean="0">
                <a:latin typeface="Helvetica" pitchFamily="34" charset="0"/>
              </a:rPr>
              <a:t>Examples:</a:t>
            </a:r>
          </a:p>
          <a:p>
            <a:pPr marL="360000" indent="-360000">
              <a:spcBef>
                <a:spcPts val="1200"/>
              </a:spcBef>
              <a:spcAft>
                <a:spcPts val="1200"/>
              </a:spcAft>
            </a:pPr>
            <a:r>
              <a:rPr lang="en-US" sz="2200" b="1" dirty="0" smtClean="0">
                <a:latin typeface="Helvetica" pitchFamily="34" charset="0"/>
              </a:rPr>
              <a:t>How often </a:t>
            </a:r>
            <a:r>
              <a:rPr lang="en-US" sz="2200" dirty="0" smtClean="0">
                <a:latin typeface="Helvetica" pitchFamily="34" charset="0"/>
              </a:rPr>
              <a:t>do you watch movies?</a:t>
            </a:r>
          </a:p>
          <a:p>
            <a:pPr marL="360000" indent="-360000">
              <a:spcBef>
                <a:spcPts val="1200"/>
              </a:spcBef>
              <a:spcAft>
                <a:spcPts val="1200"/>
              </a:spcAft>
            </a:pPr>
            <a:r>
              <a:rPr lang="en-US" sz="2200" b="1" dirty="0" smtClean="0">
                <a:latin typeface="Helvetica" pitchFamily="34" charset="0"/>
              </a:rPr>
              <a:t>How often </a:t>
            </a:r>
            <a:r>
              <a:rPr lang="en-US" sz="2200" dirty="0" smtClean="0">
                <a:latin typeface="Helvetica" pitchFamily="34" charset="0"/>
              </a:rPr>
              <a:t>does he eat apples?</a:t>
            </a:r>
          </a:p>
          <a:p>
            <a:pPr marL="360000" indent="-360000">
              <a:spcBef>
                <a:spcPts val="1200"/>
              </a:spcBef>
              <a:spcAft>
                <a:spcPts val="1200"/>
              </a:spcAft>
            </a:pPr>
            <a:r>
              <a:rPr lang="en-US" sz="2200" b="1" dirty="0" smtClean="0">
                <a:latin typeface="Helvetica" pitchFamily="34" charset="0"/>
              </a:rPr>
              <a:t>How often </a:t>
            </a:r>
            <a:r>
              <a:rPr lang="en-US" sz="2200" dirty="0" smtClean="0">
                <a:latin typeface="Helvetica" pitchFamily="34" charset="0"/>
              </a:rPr>
              <a:t>do you come here?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30722" name="Picture 2" descr="C:\Users\Quentin\Desktop\Images\Where-Is-The-Home-Of-The-Ancient-Olympics.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580112" y="3717032"/>
            <a:ext cx="2980394" cy="2971805"/>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Making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As a member of the service industry you play a role in that growth and improvement. If you have suggestions on ways to improve routine procedures you should share them.</a:t>
            </a:r>
          </a:p>
          <a:p>
            <a:pPr marL="360000" indent="-360000">
              <a:lnSpc>
                <a:spcPct val="120000"/>
              </a:lnSpc>
              <a:spcBef>
                <a:spcPts val="600"/>
              </a:spcBef>
              <a:spcAft>
                <a:spcPts val="1200"/>
              </a:spcAft>
            </a:pPr>
            <a:r>
              <a:rPr lang="en-US" sz="2200" dirty="0" smtClean="0">
                <a:latin typeface="Helvetica" pitchFamily="34" charset="0"/>
              </a:rPr>
              <a:t>What are some problems at your workplace?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31746" name="Picture 2" descr="C:\Users\Quentin\Desktop\Images\4.3 suggestionbox.gif"/>
          <p:cNvPicPr>
            <a:picLocks noChangeAspect="1" noChangeArrowheads="1"/>
          </p:cNvPicPr>
          <p:nvPr/>
        </p:nvPicPr>
        <p:blipFill>
          <a:blip r:embed="rId3" cstate="print"/>
          <a:srcRect/>
          <a:stretch>
            <a:fillRect/>
          </a:stretch>
        </p:blipFill>
        <p:spPr bwMode="auto">
          <a:xfrm>
            <a:off x="5148064" y="3861048"/>
            <a:ext cx="2703746" cy="2532509"/>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Making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order to make suggestions in a professional setting, you must have the language skills to express your ideas without being offensive. Use formal or indirect language to accomplish this. </a:t>
            </a:r>
          </a:p>
          <a:p>
            <a:pPr marL="0" indent="0">
              <a:spcBef>
                <a:spcPts val="600"/>
              </a:spcBef>
              <a:spcAft>
                <a:spcPts val="1200"/>
              </a:spcAft>
              <a:buNone/>
            </a:pPr>
            <a:r>
              <a:rPr lang="en-US" sz="2200" dirty="0" smtClean="0">
                <a:latin typeface="Helvetica" pitchFamily="34" charset="0"/>
              </a:rPr>
              <a:t>Examples:</a:t>
            </a:r>
          </a:p>
          <a:p>
            <a:pPr marL="360000" indent="-360000">
              <a:spcBef>
                <a:spcPts val="600"/>
              </a:spcBef>
              <a:spcAft>
                <a:spcPts val="1200"/>
              </a:spcAft>
            </a:pPr>
            <a:r>
              <a:rPr lang="en-US" sz="2200" dirty="0" smtClean="0">
                <a:latin typeface="Helvetica" pitchFamily="34" charset="0"/>
              </a:rPr>
              <a:t>Why don’t we…?</a:t>
            </a:r>
          </a:p>
          <a:p>
            <a:pPr marL="360000" indent="-360000">
              <a:spcBef>
                <a:spcPts val="600"/>
              </a:spcBef>
              <a:spcAft>
                <a:spcPts val="1200"/>
              </a:spcAft>
            </a:pPr>
            <a:r>
              <a:rPr lang="en-US" sz="2200" dirty="0" smtClean="0">
                <a:latin typeface="Helvetica" pitchFamily="34" charset="0"/>
              </a:rPr>
              <a:t>It might be a good idea to…</a:t>
            </a:r>
          </a:p>
          <a:p>
            <a:pPr marL="360000" indent="-360000">
              <a:spcBef>
                <a:spcPts val="600"/>
              </a:spcBef>
              <a:spcAft>
                <a:spcPts val="1200"/>
              </a:spcAft>
            </a:pPr>
            <a:r>
              <a:rPr lang="en-US" sz="2200" dirty="0" smtClean="0">
                <a:latin typeface="Helvetica" pitchFamily="34" charset="0"/>
              </a:rPr>
              <a:t>We should consider…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32770" name="Picture 2" descr="C:\Users\Quentin\Desktop\Images\4.3 ce32393711c4dc984fc0c3d767f1340-concierge-1.jpg"/>
          <p:cNvPicPr>
            <a:picLocks noChangeAspect="1" noChangeArrowheads="1"/>
          </p:cNvPicPr>
          <p:nvPr/>
        </p:nvPicPr>
        <p:blipFill>
          <a:blip r:embed="rId3" cstate="print"/>
          <a:srcRect/>
          <a:stretch>
            <a:fillRect/>
          </a:stretch>
        </p:blipFill>
        <p:spPr bwMode="auto">
          <a:xfrm>
            <a:off x="5436096" y="4293096"/>
            <a:ext cx="2952328" cy="1643694"/>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8064896" cy="1224136"/>
          </a:xfrm>
        </p:spPr>
        <p:txBody>
          <a:bodyPr>
            <a:noAutofit/>
          </a:bodyPr>
          <a:lstStyle/>
          <a:p>
            <a:r>
              <a:rPr lang="en-US" sz="3400" b="1" dirty="0" smtClean="0">
                <a:solidFill>
                  <a:srgbClr val="FF6600"/>
                </a:solidFill>
                <a:latin typeface="Helvetica" pitchFamily="34" charset="0"/>
              </a:rPr>
              <a:t>Express likes, dislikes and   preferences</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5.1 Talk about likes and dislikes of familiar topics and situations</a:t>
            </a:r>
            <a:endParaRPr lang="en-US" sz="2200" i="1" dirty="0" smtClean="0">
              <a:latin typeface="Helvetica" pitchFamily="34" charset="0"/>
            </a:endParaRPr>
          </a:p>
          <a:p>
            <a:pPr marL="360000" indent="-360000">
              <a:spcBef>
                <a:spcPts val="600"/>
              </a:spcBef>
              <a:spcAft>
                <a:spcPts val="1200"/>
              </a:spcAft>
            </a:pPr>
            <a:r>
              <a:rPr lang="en-US" sz="2200" dirty="0" smtClean="0">
                <a:latin typeface="Helvetica" pitchFamily="34" charset="0"/>
              </a:rPr>
              <a:t>5.2 Discuss preferences and give reasons.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8195" name="Picture 3" descr="C:\Users\Quentin\Desktop\Images\8e-91-ba-8e91ba145a7b422ba0a0e6cc969df1b4-getty_rm_photo_of_baby_eating_from_spoon.jpg"/>
          <p:cNvPicPr>
            <a:picLocks noChangeAspect="1" noChangeArrowheads="1"/>
          </p:cNvPicPr>
          <p:nvPr/>
        </p:nvPicPr>
        <p:blipFill>
          <a:blip r:embed="rId3" cstate="print"/>
          <a:srcRect/>
          <a:stretch>
            <a:fillRect/>
          </a:stretch>
        </p:blipFill>
        <p:spPr bwMode="auto">
          <a:xfrm>
            <a:off x="5292080" y="4293096"/>
            <a:ext cx="2702674" cy="183650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Likes and dislikes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Expressing your opinion is an important language skill, especially in the workplace. Talking about things you like and dislike is the easiest way to make connections with colleagues and customers, which will improve your professional relationships. You will also use this skill to:</a:t>
            </a:r>
          </a:p>
          <a:p>
            <a:pPr marL="360000" indent="-360000">
              <a:spcBef>
                <a:spcPts val="600"/>
              </a:spcBef>
              <a:spcAft>
                <a:spcPts val="1200"/>
              </a:spcAft>
            </a:pPr>
            <a:r>
              <a:rPr lang="en-US" sz="2200" dirty="0" smtClean="0">
                <a:latin typeface="Helvetica" pitchFamily="34" charset="0"/>
              </a:rPr>
              <a:t>help customers</a:t>
            </a:r>
          </a:p>
          <a:p>
            <a:pPr marL="360000" indent="-360000">
              <a:spcBef>
                <a:spcPts val="600"/>
              </a:spcBef>
              <a:spcAft>
                <a:spcPts val="1200"/>
              </a:spcAft>
            </a:pPr>
            <a:r>
              <a:rPr lang="en-US" sz="2200" dirty="0" smtClean="0">
                <a:latin typeface="Helvetica" pitchFamily="34" charset="0"/>
              </a:rPr>
              <a:t>give advice</a:t>
            </a:r>
          </a:p>
          <a:p>
            <a:pPr marL="360000" indent="-360000">
              <a:spcBef>
                <a:spcPts val="600"/>
              </a:spcBef>
              <a:spcAft>
                <a:spcPts val="1200"/>
              </a:spcAft>
            </a:pPr>
            <a:r>
              <a:rPr lang="en-US" sz="2200" dirty="0" smtClean="0">
                <a:latin typeface="Helvetica" pitchFamily="34" charset="0"/>
              </a:rPr>
              <a:t>relay personal experiences</a:t>
            </a:r>
          </a:p>
          <a:p>
            <a:pPr marL="360000" indent="-360000">
              <a:spcBef>
                <a:spcPts val="600"/>
              </a:spcBef>
              <a:spcAft>
                <a:spcPts val="1200"/>
              </a:spcAft>
            </a:pPr>
            <a:r>
              <a:rPr lang="en-US" sz="2200" dirty="0" smtClean="0">
                <a:latin typeface="Helvetica" pitchFamily="34" charset="0"/>
              </a:rPr>
              <a:t>make small talk.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34818" name="Picture 2" descr="http://farm6.staticflickr.com/5035/6951542834_e03485d362.jpg"/>
          <p:cNvPicPr>
            <a:picLocks noChangeAspect="1" noChangeArrowheads="1"/>
          </p:cNvPicPr>
          <p:nvPr/>
        </p:nvPicPr>
        <p:blipFill>
          <a:blip r:embed="rId3" cstate="print"/>
          <a:stretch>
            <a:fillRect/>
          </a:stretch>
        </p:blipFill>
        <p:spPr bwMode="auto">
          <a:xfrm>
            <a:off x="5940152" y="4437112"/>
            <a:ext cx="2304256" cy="172819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Likes and dislikes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Use the present simple tense to talk about the things you                             like, people you like, and activities you enjoy doing. Also use the present simple tense to talk about things or people you don’t like.</a:t>
            </a:r>
          </a:p>
          <a:p>
            <a:pPr marL="0" indent="0">
              <a:spcBef>
                <a:spcPts val="600"/>
              </a:spcBef>
              <a:spcAft>
                <a:spcPts val="1200"/>
              </a:spcAft>
              <a:buNone/>
            </a:pPr>
            <a:r>
              <a:rPr lang="en-US" sz="2200" dirty="0" smtClean="0">
                <a:latin typeface="Helvetica" pitchFamily="34" charset="0"/>
              </a:rPr>
              <a:t>There's a whole range of English expressions you can use to talk about how much you like or dislike something.</a:t>
            </a:r>
          </a:p>
          <a:p>
            <a:pPr marL="360000" indent="-360000">
              <a:spcBef>
                <a:spcPts val="600"/>
              </a:spcBef>
              <a:spcAft>
                <a:spcPts val="1200"/>
              </a:spcAft>
            </a:pPr>
            <a:r>
              <a:rPr lang="en-US" sz="2200" dirty="0" smtClean="0">
                <a:latin typeface="Helvetica" pitchFamily="34" charset="0"/>
              </a:rPr>
              <a:t>Look at p. 52 in your Trainee Manual.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2" descr="C:\Users\Quentin\Desktop\Images\5.1 -Ways-to-Turn-Facebook-Likes-into-Marketing-Results.jpg"/>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5">
                <a:tint val="45000"/>
                <a:satMod val="400000"/>
              </a:schemeClr>
            </a:duotone>
          </a:blip>
          <a:srcRect/>
          <a:stretch>
            <a:fillRect/>
          </a:stretch>
        </p:blipFill>
        <p:spPr bwMode="auto">
          <a:xfrm>
            <a:off x="6372200" y="4653136"/>
            <a:ext cx="1521478" cy="1505166"/>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7467600" cy="1143000"/>
          </a:xfrm>
        </p:spPr>
        <p:txBody>
          <a:bodyPr>
            <a:normAutofit/>
          </a:bodyPr>
          <a:lstStyle/>
          <a:p>
            <a:r>
              <a:rPr lang="en-US" sz="3400" b="1" dirty="0" smtClean="0">
                <a:solidFill>
                  <a:srgbClr val="FF6600"/>
                </a:solidFill>
                <a:latin typeface="Helvetica" pitchFamily="34" charset="0"/>
              </a:rPr>
              <a:t>Likes and dislikes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To talk about your general likes or dislikes, follow this pattern: </a:t>
            </a:r>
            <a:r>
              <a:rPr lang="en-US" sz="2200" i="1" dirty="0" smtClean="0">
                <a:latin typeface="Helvetica" pitchFamily="34" charset="0"/>
              </a:rPr>
              <a:t>like something </a:t>
            </a:r>
            <a:r>
              <a:rPr lang="en-US" sz="2200" dirty="0" smtClean="0">
                <a:latin typeface="Helvetica" pitchFamily="34" charset="0"/>
              </a:rPr>
              <a:t>or </a:t>
            </a:r>
            <a:r>
              <a:rPr lang="en-US" sz="2200" i="1" dirty="0" smtClean="0">
                <a:latin typeface="Helvetica" pitchFamily="34" charset="0"/>
              </a:rPr>
              <a:t>like doing something</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Be careful where you use </a:t>
            </a:r>
            <a:r>
              <a:rPr lang="en-US" sz="2200" b="1" dirty="0" smtClean="0">
                <a:latin typeface="Helvetica" pitchFamily="34" charset="0"/>
              </a:rPr>
              <a:t>very much </a:t>
            </a:r>
            <a:r>
              <a:rPr lang="en-US" sz="2200" dirty="0" smtClean="0">
                <a:latin typeface="Helvetica" pitchFamily="34" charset="0"/>
              </a:rPr>
              <a:t>or </a:t>
            </a:r>
            <a:r>
              <a:rPr lang="en-US" sz="2200" b="1" dirty="0" smtClean="0">
                <a:latin typeface="Helvetica" pitchFamily="34" charset="0"/>
              </a:rPr>
              <a:t>a lot</a:t>
            </a:r>
            <a:r>
              <a:rPr lang="en-US" sz="2200" dirty="0" smtClean="0">
                <a:latin typeface="Helvetica" pitchFamily="34" charset="0"/>
              </a:rPr>
              <a:t>. These words should go after the thing that you like. </a:t>
            </a:r>
          </a:p>
          <a:p>
            <a:pPr marL="360000" indent="-360000">
              <a:spcBef>
                <a:spcPts val="600"/>
              </a:spcBef>
              <a:spcAft>
                <a:spcPts val="1200"/>
              </a:spcAft>
            </a:pPr>
            <a:r>
              <a:rPr lang="en-US" sz="2200" dirty="0" smtClean="0">
                <a:latin typeface="Helvetica" pitchFamily="34" charset="0"/>
              </a:rPr>
              <a:t>When speaking generally, it's best to use </a:t>
            </a:r>
            <a:r>
              <a:rPr lang="en-US" sz="2200" b="1" dirty="0" smtClean="0">
                <a:latin typeface="Helvetica" pitchFamily="34" charset="0"/>
              </a:rPr>
              <a:t>plurals </a:t>
            </a:r>
            <a:r>
              <a:rPr lang="en-US" sz="2200" dirty="0" smtClean="0">
                <a:latin typeface="Helvetica" pitchFamily="34" charset="0"/>
              </a:rPr>
              <a:t>with </a:t>
            </a:r>
            <a:r>
              <a:rPr lang="en-US" sz="2200" b="1" dirty="0" smtClean="0">
                <a:latin typeface="Helvetica" pitchFamily="34" charset="0"/>
              </a:rPr>
              <a:t>countable nouns</a:t>
            </a:r>
            <a:r>
              <a:rPr lang="en-US" sz="2200" dirty="0" smtClean="0">
                <a:latin typeface="Helvetica" pitchFamily="34" charset="0"/>
              </a:rPr>
              <a:t>. </a:t>
            </a:r>
          </a:p>
          <a:p>
            <a:pPr marL="661752" lvl="1" indent="-360000">
              <a:spcBef>
                <a:spcPts val="600"/>
              </a:spcBef>
              <a:spcAft>
                <a:spcPts val="1200"/>
              </a:spcAft>
              <a:buNone/>
            </a:pPr>
            <a:r>
              <a:rPr lang="en-US" sz="2200" dirty="0" smtClean="0">
                <a:latin typeface="Helvetica" pitchFamily="34" charset="0"/>
              </a:rPr>
              <a:t>Examples: </a:t>
            </a:r>
          </a:p>
          <a:p>
            <a:pPr marL="661752" lvl="1" indent="-360000">
              <a:spcBef>
                <a:spcPts val="600"/>
              </a:spcBef>
              <a:spcAft>
                <a:spcPts val="1200"/>
              </a:spcAft>
            </a:pPr>
            <a:r>
              <a:rPr lang="en-US" sz="2200" dirty="0" smtClean="0">
                <a:latin typeface="Helvetica" pitchFamily="34" charset="0"/>
              </a:rPr>
              <a:t>I like eating </a:t>
            </a:r>
            <a:r>
              <a:rPr lang="en-US" sz="2200" b="1" dirty="0" smtClean="0">
                <a:latin typeface="Helvetica" pitchFamily="34" charset="0"/>
              </a:rPr>
              <a:t>apples.</a:t>
            </a:r>
            <a:r>
              <a:rPr lang="en-US" sz="2200" dirty="0" smtClean="0">
                <a:latin typeface="Helvetica" pitchFamily="34" charset="0"/>
              </a:rPr>
              <a:t> </a:t>
            </a:r>
          </a:p>
          <a:p>
            <a:pPr marL="661752" lvl="1" indent="-360000">
              <a:spcBef>
                <a:spcPts val="600"/>
              </a:spcBef>
              <a:spcAft>
                <a:spcPts val="1200"/>
              </a:spcAft>
            </a:pPr>
            <a:r>
              <a:rPr lang="en-US" sz="2200" dirty="0" smtClean="0">
                <a:latin typeface="Helvetica" pitchFamily="34" charset="0"/>
              </a:rPr>
              <a:t>I hate </a:t>
            </a:r>
            <a:r>
              <a:rPr lang="en-US" sz="2200" b="1" dirty="0" smtClean="0">
                <a:latin typeface="Helvetica" pitchFamily="34" charset="0"/>
              </a:rPr>
              <a:t>storms</a:t>
            </a:r>
            <a:r>
              <a:rPr lang="en-US" sz="2200" dirty="0" smtClean="0">
                <a:latin typeface="Helvetica" pitchFamily="34" charset="0"/>
              </a:rPr>
              <a:t>.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34818" name="Picture 2" descr="C:\Users\Quentin\Desktop\Images\5.1 hate my job.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60032" y="4653136"/>
            <a:ext cx="3303167" cy="2204864"/>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60648"/>
            <a:ext cx="7467600" cy="1143000"/>
          </a:xfrm>
        </p:spPr>
        <p:txBody>
          <a:bodyPr>
            <a:normAutofit/>
          </a:bodyPr>
          <a:lstStyle/>
          <a:p>
            <a:r>
              <a:rPr lang="en-US" sz="3400" b="1" dirty="0" smtClean="0">
                <a:solidFill>
                  <a:srgbClr val="FF6600"/>
                </a:solidFill>
                <a:latin typeface="Helvetica" pitchFamily="34" charset="0"/>
              </a:rPr>
              <a:t>Likes and dislikes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776660" y="14678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Find Someone Who…</a:t>
            </a:r>
          </a:p>
          <a:p>
            <a:pPr marL="360000" indent="-360000">
              <a:spcBef>
                <a:spcPts val="600"/>
              </a:spcBef>
              <a:spcAft>
                <a:spcPts val="1200"/>
              </a:spcAft>
              <a:buNone/>
            </a:pPr>
            <a:r>
              <a:rPr lang="en-US" sz="2200" dirty="0" smtClean="0">
                <a:latin typeface="Helvetica" pitchFamily="34" charset="0"/>
              </a:rPr>
              <a:t>Example:</a:t>
            </a:r>
          </a:p>
          <a:p>
            <a:pPr marL="360000" indent="-360000">
              <a:spcBef>
                <a:spcPts val="600"/>
              </a:spcBef>
              <a:spcAft>
                <a:spcPts val="1200"/>
              </a:spcAft>
            </a:pPr>
            <a:r>
              <a:rPr lang="en-US" sz="2200" dirty="0" smtClean="0">
                <a:latin typeface="Helvetica" pitchFamily="34" charset="0"/>
              </a:rPr>
              <a:t>likes fried chicken.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 you like fried chicken?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Yes, I do. / No, I don’t. </a:t>
            </a:r>
          </a:p>
          <a:p>
            <a:pPr marL="720000" indent="-360000">
              <a:spcBef>
                <a:spcPts val="600"/>
              </a:spcBef>
              <a:spcAft>
                <a:spcPts val="1200"/>
              </a:spcAft>
              <a:buClr>
                <a:schemeClr val="accent1">
                  <a:lumMod val="75000"/>
                </a:schemeClr>
              </a:buClr>
              <a:buSzPct val="100000"/>
              <a:buNone/>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1. likes fried chicken. </a:t>
            </a:r>
            <a:r>
              <a:rPr lang="en-US" sz="2200" u="sng" dirty="0" smtClean="0">
                <a:latin typeface="Helvetica" pitchFamily="34" charset="0"/>
              </a:rPr>
              <a:t>    David       </a:t>
            </a:r>
            <a:r>
              <a:rPr lang="en-US" sz="2200" dirty="0" smtClean="0">
                <a:latin typeface="Helvetica" pitchFamily="34" charset="0"/>
              </a:rPr>
              <a: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sp>
        <p:nvSpPr>
          <p:cNvPr id="5" name="Oval 4"/>
          <p:cNvSpPr/>
          <p:nvPr/>
        </p:nvSpPr>
        <p:spPr>
          <a:xfrm>
            <a:off x="1450952" y="3625852"/>
            <a:ext cx="1357322" cy="64294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28674" name="Picture 2" descr="http://farm3.staticflickr.com/2648/3734585380_1e21506d84.jpg"/>
          <p:cNvPicPr>
            <a:picLocks noChangeAspect="1" noChangeArrowheads="1"/>
          </p:cNvPicPr>
          <p:nvPr/>
        </p:nvPicPr>
        <p:blipFill>
          <a:blip r:embed="rId3" cstate="print"/>
          <a:srcRect/>
          <a:stretch>
            <a:fillRect/>
          </a:stretch>
        </p:blipFill>
        <p:spPr bwMode="auto">
          <a:xfrm>
            <a:off x="6084168" y="2132856"/>
            <a:ext cx="1930715" cy="289029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Preferences and reasons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There are many ways to express preference in English. Pay attention to the formality of the situation in order to determine which structure is appropriate. In more formal circumstances, use modal verbs. </a:t>
            </a:r>
          </a:p>
          <a:p>
            <a:pPr marL="0" indent="0">
              <a:spcBef>
                <a:spcPts val="1200"/>
              </a:spcBef>
              <a:spcAft>
                <a:spcPts val="1200"/>
              </a:spcAft>
              <a:buNone/>
            </a:pPr>
            <a:r>
              <a:rPr lang="en-US" sz="2200" dirty="0" smtClean="0">
                <a:latin typeface="Helvetica" pitchFamily="34" charset="0"/>
              </a:rPr>
              <a:t>Examples:</a:t>
            </a:r>
          </a:p>
          <a:p>
            <a:pPr marL="360000" indent="-360000">
              <a:spcBef>
                <a:spcPts val="1200"/>
              </a:spcBef>
              <a:spcAft>
                <a:spcPts val="1200"/>
              </a:spcAft>
            </a:pPr>
            <a:r>
              <a:rPr lang="en-US" sz="2200" dirty="0" smtClean="0">
                <a:latin typeface="Helvetica" pitchFamily="34" charset="0"/>
              </a:rPr>
              <a:t>I </a:t>
            </a:r>
            <a:r>
              <a:rPr lang="en-US" sz="2200" b="1" dirty="0" smtClean="0">
                <a:latin typeface="Helvetica" pitchFamily="34" charset="0"/>
              </a:rPr>
              <a:t>prefer</a:t>
            </a:r>
            <a:r>
              <a:rPr lang="en-US" sz="2200" dirty="0" smtClean="0">
                <a:latin typeface="Helvetica" pitchFamily="34" charset="0"/>
              </a:rPr>
              <a:t> apples.</a:t>
            </a:r>
          </a:p>
          <a:p>
            <a:pPr marL="360000" indent="-360000">
              <a:spcBef>
                <a:spcPts val="1200"/>
              </a:spcBef>
              <a:spcAft>
                <a:spcPts val="1200"/>
              </a:spcAft>
            </a:pPr>
            <a:r>
              <a:rPr lang="en-US" sz="2200" dirty="0" smtClean="0">
                <a:latin typeface="Helvetica" pitchFamily="34" charset="0"/>
              </a:rPr>
              <a:t>I </a:t>
            </a:r>
            <a:r>
              <a:rPr lang="en-US" sz="2200" b="1" dirty="0" smtClean="0">
                <a:latin typeface="Helvetica" pitchFamily="34" charset="0"/>
              </a:rPr>
              <a:t>would prefer </a:t>
            </a:r>
            <a:r>
              <a:rPr lang="en-US" sz="2200" dirty="0" smtClean="0">
                <a:latin typeface="Helvetica" pitchFamily="34" charset="0"/>
              </a:rPr>
              <a:t>apples.</a:t>
            </a:r>
          </a:p>
          <a:p>
            <a:pPr marL="360000" indent="-360000">
              <a:spcBef>
                <a:spcPts val="1200"/>
              </a:spcBef>
              <a:spcAft>
                <a:spcPts val="1200"/>
              </a:spcAft>
            </a:pPr>
            <a:r>
              <a:rPr lang="en-US" sz="2200" dirty="0" smtClean="0">
                <a:latin typeface="Helvetica" pitchFamily="34" charset="0"/>
              </a:rPr>
              <a:t>I </a:t>
            </a:r>
            <a:r>
              <a:rPr lang="en-US" sz="2200" b="1" dirty="0" smtClean="0">
                <a:latin typeface="Helvetica" pitchFamily="34" charset="0"/>
              </a:rPr>
              <a:t>would rather </a:t>
            </a:r>
            <a:r>
              <a:rPr lang="en-US" sz="2200" dirty="0" smtClean="0">
                <a:latin typeface="Helvetica" pitchFamily="34" charset="0"/>
              </a:rPr>
              <a:t>have apples.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35842" name="Picture 2" descr="C:\Users\Quentin\Desktop\Images\5.2 weigh-options.jpg"/>
          <p:cNvPicPr>
            <a:picLocks noChangeAspect="1" noChangeArrowheads="1"/>
          </p:cNvPicPr>
          <p:nvPr/>
        </p:nvPicPr>
        <p:blipFill>
          <a:blip r:embed="rId3" cstate="print">
            <a:clrChange>
              <a:clrFrom>
                <a:srgbClr val="FBFBFB"/>
              </a:clrFrom>
              <a:clrTo>
                <a:srgbClr val="FBFBFB">
                  <a:alpha val="0"/>
                </a:srgbClr>
              </a:clrTo>
            </a:clrChange>
          </a:blip>
          <a:srcRect/>
          <a:stretch>
            <a:fillRect/>
          </a:stretch>
        </p:blipFill>
        <p:spPr bwMode="auto">
          <a:xfrm>
            <a:off x="5580112" y="4437112"/>
            <a:ext cx="2891980" cy="2420888"/>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Preferences and reasons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20000"/>
              </a:lnSpc>
              <a:spcBef>
                <a:spcPts val="600"/>
              </a:spcBef>
              <a:spcAft>
                <a:spcPts val="1200"/>
              </a:spcAft>
              <a:buNone/>
            </a:pPr>
            <a:r>
              <a:rPr lang="en-US" sz="2200" dirty="0" smtClean="0">
                <a:latin typeface="Helvetica" pitchFamily="34" charset="0"/>
              </a:rPr>
              <a:t>After expressing your preferences you must support your statements in a logical, professional manner. A professional opinion without evidence to support it is like a carriage without a horse.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36867" name="Picture 3" descr="C:\Users\Quentin\Desktop\Images\HorseCarriage.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563888" y="3933056"/>
            <a:ext cx="4383660" cy="2153344"/>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848872" cy="1512168"/>
          </a:xfrm>
        </p:spPr>
        <p:txBody>
          <a:bodyPr>
            <a:normAutofit fontScale="90000"/>
          </a:bodyPr>
          <a:lstStyle/>
          <a:p>
            <a:r>
              <a:rPr lang="en-US" sz="3800" b="1" dirty="0" smtClean="0">
                <a:solidFill>
                  <a:srgbClr val="FF6600"/>
                </a:solidFill>
                <a:latin typeface="Helvetica" pitchFamily="34" charset="0"/>
              </a:rPr>
              <a:t>Identify different forms of expression in English</a:t>
            </a:r>
            <a:r>
              <a:rPr lang="en-US" sz="3400" b="1" dirty="0" smtClean="0">
                <a:solidFill>
                  <a:srgbClr val="FF6600"/>
                </a:solidFill>
                <a:latin typeface="Helvetica" pitchFamily="34" charset="0"/>
              </a:rPr>
              <a:t/>
            </a:r>
            <a:br>
              <a:rPr lang="en-US" sz="3400" b="1" dirty="0" smtClean="0">
                <a:solidFill>
                  <a:srgbClr val="FF6600"/>
                </a:solidFill>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Performance Criteria for this Element are:</a:t>
            </a:r>
          </a:p>
          <a:p>
            <a:pPr marL="360000" indent="-360000">
              <a:spcBef>
                <a:spcPts val="1200"/>
              </a:spcBef>
              <a:spcAft>
                <a:spcPts val="1200"/>
              </a:spcAft>
            </a:pPr>
            <a:r>
              <a:rPr lang="en-US" sz="2200" dirty="0" smtClean="0">
                <a:latin typeface="Helvetica" pitchFamily="34" charset="0"/>
              </a:rPr>
              <a:t>6.1 Construct a </a:t>
            </a:r>
            <a:r>
              <a:rPr lang="en-US" sz="2200" i="1" dirty="0" smtClean="0">
                <a:latin typeface="Helvetica" pitchFamily="34" charset="0"/>
              </a:rPr>
              <a:t>formal</a:t>
            </a:r>
            <a:r>
              <a:rPr lang="en-US" sz="2200" dirty="0" smtClean="0">
                <a:latin typeface="Helvetica" pitchFamily="34" charset="0"/>
              </a:rPr>
              <a:t> sentence</a:t>
            </a:r>
            <a:endParaRPr lang="en-US" sz="2200" i="1" dirty="0" smtClean="0">
              <a:latin typeface="Helvetica" pitchFamily="34" charset="0"/>
            </a:endParaRPr>
          </a:p>
          <a:p>
            <a:pPr marL="360000" indent="-360000">
              <a:spcBef>
                <a:spcPts val="1200"/>
              </a:spcBef>
              <a:spcAft>
                <a:spcPts val="1200"/>
              </a:spcAft>
            </a:pPr>
            <a:r>
              <a:rPr lang="en-US" sz="2200" dirty="0" smtClean="0">
                <a:latin typeface="Helvetica" pitchFamily="34" charset="0"/>
              </a:rPr>
              <a:t>6.2 Identify indicators of </a:t>
            </a:r>
            <a:r>
              <a:rPr lang="en-US" sz="2200" i="1" dirty="0" smtClean="0">
                <a:latin typeface="Helvetica" pitchFamily="34" charset="0"/>
              </a:rPr>
              <a:t>informal                          expressions in English</a:t>
            </a:r>
          </a:p>
          <a:p>
            <a:pPr marL="360000" indent="-360000">
              <a:spcBef>
                <a:spcPts val="1200"/>
              </a:spcBef>
              <a:spcAft>
                <a:spcPts val="1200"/>
              </a:spcAft>
            </a:pPr>
            <a:r>
              <a:rPr lang="en-US" sz="2200" dirty="0" smtClean="0">
                <a:latin typeface="Helvetica" pitchFamily="34" charset="0"/>
              </a:rPr>
              <a:t>6.3 Differentiate between </a:t>
            </a:r>
            <a:r>
              <a:rPr lang="en-US" sz="2200" i="1" dirty="0" smtClean="0">
                <a:latin typeface="Helvetica" pitchFamily="34" charset="0"/>
              </a:rPr>
              <a:t>‘open-ended’ </a:t>
            </a:r>
            <a:r>
              <a:rPr lang="en-US" sz="2200" dirty="0" smtClean="0">
                <a:latin typeface="Helvetica" pitchFamily="34" charset="0"/>
              </a:rPr>
              <a:t>and </a:t>
            </a:r>
            <a:r>
              <a:rPr lang="en-US" sz="2200" i="1" dirty="0" smtClean="0">
                <a:latin typeface="Helvetica" pitchFamily="34" charset="0"/>
              </a:rPr>
              <a:t>‘closed’ </a:t>
            </a:r>
            <a:r>
              <a:rPr lang="en-US" sz="2200" dirty="0" smtClean="0">
                <a:latin typeface="Helvetica" pitchFamily="34" charset="0"/>
              </a:rPr>
              <a:t>questions.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9218" name="Picture 2" descr="C:\Users\Quentin\Desktop\Images\6.2 -a-waiter-pours-wine-for-a-couple-having-dinner-at-a-resort-restaurant-on-vacation.jpg"/>
          <p:cNvPicPr>
            <a:picLocks noChangeAspect="1" noChangeArrowheads="1"/>
          </p:cNvPicPr>
          <p:nvPr/>
        </p:nvPicPr>
        <p:blipFill>
          <a:blip r:embed="rId3" cstate="print"/>
          <a:srcRect/>
          <a:stretch>
            <a:fillRect/>
          </a:stretch>
        </p:blipFill>
        <p:spPr bwMode="auto">
          <a:xfrm>
            <a:off x="6012160" y="4725144"/>
            <a:ext cx="2524867" cy="1685349"/>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467600" cy="1143000"/>
          </a:xfrm>
        </p:spPr>
        <p:txBody>
          <a:bodyPr>
            <a:normAutofit/>
          </a:bodyPr>
          <a:lstStyle/>
          <a:p>
            <a:r>
              <a:rPr lang="en-US" sz="3400" b="1" dirty="0" smtClean="0">
                <a:solidFill>
                  <a:srgbClr val="FF6600"/>
                </a:solidFill>
                <a:latin typeface="Helvetica" pitchFamily="34" charset="0"/>
              </a:rPr>
              <a:t>Formal expressions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776864" cy="4968552"/>
          </a:xfrm>
        </p:spPr>
        <p:txBody>
          <a:bodyPr>
            <a:normAutofit/>
          </a:bodyPr>
          <a:lstStyle/>
          <a:p>
            <a:pPr marL="0" indent="0">
              <a:spcBef>
                <a:spcPts val="600"/>
              </a:spcBef>
              <a:spcAft>
                <a:spcPts val="1200"/>
              </a:spcAft>
              <a:buNone/>
            </a:pPr>
            <a:r>
              <a:rPr lang="en-US" sz="2200" dirty="0" smtClean="0">
                <a:latin typeface="Helvetica" pitchFamily="34" charset="0"/>
              </a:rPr>
              <a:t>Formal English is a way of speaking that you use when you don't know the people listening to you very well. You also tend to use it more with people who are higher status and who you want to impress.</a:t>
            </a:r>
          </a:p>
          <a:p>
            <a:pPr marL="0" indent="0">
              <a:spcBef>
                <a:spcPts val="600"/>
              </a:spcBef>
              <a:spcAft>
                <a:spcPts val="1200"/>
              </a:spcAft>
              <a:buNone/>
            </a:pPr>
            <a:r>
              <a:rPr lang="en-US" sz="2200" dirty="0" smtClean="0">
                <a:latin typeface="Helvetica" pitchFamily="34" charset="0"/>
              </a:rPr>
              <a:t>In formal English, people usually: </a:t>
            </a:r>
          </a:p>
          <a:p>
            <a:pPr marL="360000" indent="-360000">
              <a:spcBef>
                <a:spcPts val="600"/>
              </a:spcBef>
              <a:spcAft>
                <a:spcPts val="1200"/>
              </a:spcAft>
            </a:pPr>
            <a:r>
              <a:rPr lang="en-US" sz="2200" dirty="0" smtClean="0">
                <a:latin typeface="Helvetica" pitchFamily="34" charset="0"/>
              </a:rPr>
              <a:t>pronounce words more carefully. For example, in casual speech, people sometimes don't pronounce the "g" sound at the end of words ending in "-</a:t>
            </a:r>
            <a:r>
              <a:rPr lang="en-US" sz="2200" dirty="0" err="1" smtClean="0">
                <a:latin typeface="Helvetica" pitchFamily="34" charset="0"/>
              </a:rPr>
              <a:t>ing</a:t>
            </a:r>
            <a:r>
              <a:rPr lang="en-US" sz="2200" dirty="0" smtClean="0">
                <a:latin typeface="Helvetica" pitchFamily="34" charset="0"/>
              </a:rPr>
              <a:t>". In formal speech, people are more careful to pronounce this</a:t>
            </a:r>
          </a:p>
          <a:p>
            <a:pPr marL="360000" indent="-360000">
              <a:spcBef>
                <a:spcPts val="600"/>
              </a:spcBef>
              <a:spcAft>
                <a:spcPts val="1200"/>
              </a:spcAft>
            </a:pPr>
            <a:r>
              <a:rPr lang="en-US" sz="2200" dirty="0" smtClean="0">
                <a:latin typeface="Helvetica" pitchFamily="34" charset="0"/>
              </a:rPr>
              <a:t>don't use as many contractions (it's, they're, I'm)</a:t>
            </a:r>
          </a:p>
          <a:p>
            <a:pPr marL="360000" indent="-360000">
              <a:spcBef>
                <a:spcPts val="600"/>
              </a:spcBef>
              <a:spcAft>
                <a:spcPts val="1200"/>
              </a:spcAft>
            </a:pPr>
            <a:r>
              <a:rPr lang="en-US" sz="2200" dirty="0" smtClean="0">
                <a:latin typeface="Helvetica" pitchFamily="34" charset="0"/>
              </a:rPr>
              <a:t>use more modal verbs to show formality.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20481" name="Picture 1" descr="C:\Documents and Settings\jirayut\Local Settings\Temporary Internet Files\Content.IE5\L3HMVMNM\MP900414039[1].jpg"/>
          <p:cNvPicPr>
            <a:picLocks noChangeAspect="1" noChangeArrowheads="1"/>
          </p:cNvPicPr>
          <p:nvPr/>
        </p:nvPicPr>
        <p:blipFill>
          <a:blip r:embed="rId3" cstate="print">
            <a:clrChange>
              <a:clrFrom>
                <a:srgbClr val="FAFAFA"/>
              </a:clrFrom>
              <a:clrTo>
                <a:srgbClr val="FAFAFA">
                  <a:alpha val="0"/>
                </a:srgbClr>
              </a:clrTo>
            </a:clrChange>
          </a:blip>
          <a:srcRect/>
          <a:stretch>
            <a:fillRect/>
          </a:stretch>
        </p:blipFill>
        <p:spPr bwMode="auto">
          <a:xfrm>
            <a:off x="7020272" y="5203331"/>
            <a:ext cx="1152128" cy="1654669"/>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Formal expressions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992888" cy="4896544"/>
          </a:xfrm>
        </p:spPr>
        <p:txBody>
          <a:bodyPr>
            <a:normAutofit/>
          </a:bodyPr>
          <a:lstStyle/>
          <a:p>
            <a:pPr marL="0" indent="0">
              <a:spcBef>
                <a:spcPts val="600"/>
              </a:spcBef>
              <a:spcAft>
                <a:spcPts val="1200"/>
              </a:spcAft>
              <a:buNone/>
            </a:pPr>
            <a:r>
              <a:rPr lang="en-US" sz="2200" dirty="0" smtClean="0">
                <a:latin typeface="Helvetica" pitchFamily="34" charset="0"/>
              </a:rPr>
              <a:t>A modal verb is a type of supporting verb that is used to indicate likelihood, ability, permission, and obligation. Modal verbs give more information about the function of the main verb that follows it. </a:t>
            </a:r>
          </a:p>
          <a:p>
            <a:pPr marL="0" indent="0">
              <a:spcBef>
                <a:spcPts val="600"/>
              </a:spcBef>
              <a:spcAft>
                <a:spcPts val="1200"/>
              </a:spcAft>
              <a:buNone/>
            </a:pPr>
            <a:r>
              <a:rPr lang="en-US" sz="2200" b="1" dirty="0" smtClean="0">
                <a:latin typeface="Helvetica" pitchFamily="34" charset="0"/>
              </a:rPr>
              <a:t>Modal verbs are different from normal verbs because:</a:t>
            </a:r>
          </a:p>
          <a:p>
            <a:pPr marL="360000" indent="-360000">
              <a:spcBef>
                <a:spcPts val="600"/>
              </a:spcBef>
              <a:spcAft>
                <a:spcPts val="1200"/>
              </a:spcAft>
            </a:pPr>
            <a:r>
              <a:rPr lang="en-US" sz="2200" dirty="0" smtClean="0">
                <a:latin typeface="Helvetica" pitchFamily="34" charset="0"/>
              </a:rPr>
              <a:t>they don’t use an ‘s’ for the third person singular</a:t>
            </a:r>
          </a:p>
          <a:p>
            <a:pPr marL="360000" indent="-360000">
              <a:spcBef>
                <a:spcPts val="600"/>
              </a:spcBef>
              <a:spcAft>
                <a:spcPts val="1200"/>
              </a:spcAft>
            </a:pPr>
            <a:r>
              <a:rPr lang="en-US" sz="2200" dirty="0" smtClean="0">
                <a:latin typeface="Helvetica" pitchFamily="34" charset="0"/>
              </a:rPr>
              <a:t>they make questions by inversion</a:t>
            </a:r>
          </a:p>
          <a:p>
            <a:pPr marL="360000" indent="-360000">
              <a:spcBef>
                <a:spcPts val="600"/>
              </a:spcBef>
              <a:spcAft>
                <a:spcPts val="1200"/>
              </a:spcAft>
            </a:pPr>
            <a:r>
              <a:rPr lang="en-US" sz="2200" dirty="0" smtClean="0">
                <a:latin typeface="Helvetica" pitchFamily="34" charset="0"/>
              </a:rPr>
              <a:t>they are followed directly by the infinitive of another verb.</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18434" name="Picture 2" descr="C:\Documents and Settings\jirayut\Local Settings\Temporary Internet Files\Content.IE5\733Z9TJI\MP900432807[1].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563888" y="4941168"/>
            <a:ext cx="2522149" cy="191683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Formal expressions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Modal verbs include </a:t>
            </a:r>
            <a:r>
              <a:rPr lang="en-US" sz="2200" b="1" dirty="0" smtClean="0">
                <a:latin typeface="Helvetica" pitchFamily="34" charset="0"/>
              </a:rPr>
              <a:t>can</a:t>
            </a:r>
            <a:r>
              <a:rPr lang="en-US" sz="2200" dirty="0" smtClean="0">
                <a:latin typeface="Helvetica" pitchFamily="34" charset="0"/>
              </a:rPr>
              <a:t>, </a:t>
            </a:r>
            <a:r>
              <a:rPr lang="en-US" sz="2200" b="1" dirty="0" smtClean="0">
                <a:latin typeface="Helvetica" pitchFamily="34" charset="0"/>
              </a:rPr>
              <a:t>could</a:t>
            </a:r>
            <a:r>
              <a:rPr lang="en-US" sz="2200" dirty="0" smtClean="0">
                <a:latin typeface="Helvetica" pitchFamily="34" charset="0"/>
              </a:rPr>
              <a:t>, </a:t>
            </a:r>
            <a:r>
              <a:rPr lang="en-US" sz="2200" b="1" dirty="0" smtClean="0">
                <a:latin typeface="Helvetica" pitchFamily="34" charset="0"/>
              </a:rPr>
              <a:t>will</a:t>
            </a:r>
            <a:r>
              <a:rPr lang="en-US" sz="2200" dirty="0" smtClean="0">
                <a:latin typeface="Helvetica" pitchFamily="34" charset="0"/>
              </a:rPr>
              <a:t>, </a:t>
            </a:r>
            <a:r>
              <a:rPr lang="en-US" sz="2200" b="1" dirty="0" smtClean="0">
                <a:latin typeface="Helvetica" pitchFamily="34" charset="0"/>
              </a:rPr>
              <a:t>would</a:t>
            </a:r>
            <a:r>
              <a:rPr lang="en-US" sz="2200" dirty="0" smtClean="0">
                <a:latin typeface="Helvetica" pitchFamily="34" charset="0"/>
              </a:rPr>
              <a:t>, </a:t>
            </a:r>
            <a:r>
              <a:rPr lang="en-US" sz="2200" b="1" dirty="0" smtClean="0">
                <a:latin typeface="Helvetica" pitchFamily="34" charset="0"/>
              </a:rPr>
              <a:t>may</a:t>
            </a:r>
            <a:r>
              <a:rPr lang="en-US" sz="2200" dirty="0" smtClean="0">
                <a:latin typeface="Helvetica" pitchFamily="34" charset="0"/>
              </a:rPr>
              <a:t>, </a:t>
            </a:r>
            <a:r>
              <a:rPr lang="en-US" sz="2200" b="1" dirty="0" smtClean="0">
                <a:latin typeface="Helvetica" pitchFamily="34" charset="0"/>
              </a:rPr>
              <a:t>might</a:t>
            </a:r>
            <a:r>
              <a:rPr lang="en-US" sz="2200" dirty="0" smtClean="0">
                <a:latin typeface="Helvetica" pitchFamily="34" charset="0"/>
              </a:rPr>
              <a:t>, </a:t>
            </a:r>
            <a:r>
              <a:rPr lang="en-US" sz="2200" b="1" dirty="0" smtClean="0">
                <a:latin typeface="Helvetica" pitchFamily="34" charset="0"/>
              </a:rPr>
              <a:t>must</a:t>
            </a:r>
            <a:r>
              <a:rPr lang="en-US" sz="2200" dirty="0" smtClean="0">
                <a:latin typeface="Helvetica" pitchFamily="34" charset="0"/>
              </a:rPr>
              <a:t>, </a:t>
            </a:r>
            <a:r>
              <a:rPr lang="en-US" sz="2200" b="1" dirty="0" smtClean="0">
                <a:latin typeface="Helvetica" pitchFamily="34" charset="0"/>
              </a:rPr>
              <a:t>shall</a:t>
            </a:r>
            <a:r>
              <a:rPr lang="en-US" sz="2200" dirty="0" smtClean="0">
                <a:latin typeface="Helvetica" pitchFamily="34" charset="0"/>
              </a:rPr>
              <a:t>, </a:t>
            </a:r>
            <a:r>
              <a:rPr lang="en-US" sz="2200" b="1" dirty="0" smtClean="0">
                <a:latin typeface="Helvetica" pitchFamily="34" charset="0"/>
              </a:rPr>
              <a:t>should</a:t>
            </a:r>
            <a:r>
              <a:rPr lang="en-US" sz="2200" dirty="0" smtClean="0">
                <a:latin typeface="Helvetica" pitchFamily="34" charset="0"/>
              </a:rPr>
              <a:t>, </a:t>
            </a:r>
            <a:r>
              <a:rPr lang="en-US" sz="2200" b="1" dirty="0" smtClean="0">
                <a:latin typeface="Helvetica" pitchFamily="34" charset="0"/>
              </a:rPr>
              <a:t>ought to</a:t>
            </a:r>
            <a:r>
              <a:rPr lang="en-US" sz="2200" dirty="0" smtClean="0">
                <a:latin typeface="Helvetica" pitchFamily="34" charset="0"/>
              </a:rPr>
              <a:t>.  </a:t>
            </a:r>
          </a:p>
          <a:p>
            <a:pPr marL="0" indent="0">
              <a:spcBef>
                <a:spcPts val="600"/>
              </a:spcBef>
              <a:spcAft>
                <a:spcPts val="1200"/>
              </a:spcAft>
              <a:buNone/>
            </a:pPr>
            <a:r>
              <a:rPr lang="en-US" sz="2200" dirty="0" smtClean="0">
                <a:latin typeface="Helvetica" pitchFamily="34" charset="0"/>
              </a:rPr>
              <a:t>Modal verbs express:</a:t>
            </a:r>
          </a:p>
          <a:p>
            <a:pPr marL="360000" indent="-360000">
              <a:spcBef>
                <a:spcPts val="600"/>
              </a:spcBef>
              <a:spcAft>
                <a:spcPts val="1200"/>
              </a:spcAft>
            </a:pPr>
            <a:r>
              <a:rPr lang="en-US" sz="2200" dirty="0" smtClean="0">
                <a:latin typeface="Helvetica" pitchFamily="34" charset="0"/>
              </a:rPr>
              <a:t>probability</a:t>
            </a:r>
          </a:p>
          <a:p>
            <a:pPr marL="360000" indent="-360000">
              <a:spcBef>
                <a:spcPts val="600"/>
              </a:spcBef>
              <a:spcAft>
                <a:spcPts val="1200"/>
              </a:spcAft>
            </a:pPr>
            <a:r>
              <a:rPr lang="en-US" sz="2200" dirty="0" smtClean="0">
                <a:latin typeface="Helvetica" pitchFamily="34" charset="0"/>
              </a:rPr>
              <a:t>ability</a:t>
            </a:r>
          </a:p>
          <a:p>
            <a:pPr marL="360000" indent="-360000">
              <a:spcBef>
                <a:spcPts val="600"/>
              </a:spcBef>
              <a:spcAft>
                <a:spcPts val="1200"/>
              </a:spcAft>
            </a:pPr>
            <a:r>
              <a:rPr lang="en-US" sz="2200" dirty="0" smtClean="0">
                <a:latin typeface="Helvetica" pitchFamily="34" charset="0"/>
              </a:rPr>
              <a:t>obligation </a:t>
            </a:r>
          </a:p>
          <a:p>
            <a:pPr marL="360000" indent="-360000">
              <a:spcBef>
                <a:spcPts val="600"/>
              </a:spcBef>
              <a:spcAft>
                <a:spcPts val="1200"/>
              </a:spcAft>
            </a:pPr>
            <a:r>
              <a:rPr lang="en-US" sz="2200" dirty="0" smtClean="0">
                <a:latin typeface="Helvetica" pitchFamily="34" charset="0"/>
              </a:rPr>
              <a:t>advice</a:t>
            </a:r>
          </a:p>
          <a:p>
            <a:pPr marL="360000" indent="-360000">
              <a:spcBef>
                <a:spcPts val="600"/>
              </a:spcBef>
              <a:spcAft>
                <a:spcPts val="1200"/>
              </a:spcAft>
            </a:pPr>
            <a:r>
              <a:rPr lang="en-US" sz="2200" dirty="0" smtClean="0">
                <a:latin typeface="Helvetica" pitchFamily="34" charset="0"/>
              </a:rPr>
              <a:t>permission.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16386" name="Picture 2" descr="I:\Overseas Projects\PHOTOS\Accommodation 2009\walk in.jpg"/>
          <p:cNvPicPr>
            <a:picLocks noChangeAspect="1" noChangeArrowheads="1"/>
          </p:cNvPicPr>
          <p:nvPr/>
        </p:nvPicPr>
        <p:blipFill>
          <a:blip r:embed="rId3" cstate="print"/>
          <a:srcRect/>
          <a:stretch>
            <a:fillRect/>
          </a:stretch>
        </p:blipFill>
        <p:spPr bwMode="auto">
          <a:xfrm>
            <a:off x="4788024" y="3140968"/>
            <a:ext cx="3024336" cy="200510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Informal expressions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20000"/>
              </a:lnSpc>
              <a:spcBef>
                <a:spcPts val="1200"/>
              </a:spcBef>
              <a:spcAft>
                <a:spcPts val="1200"/>
              </a:spcAft>
              <a:buNone/>
            </a:pPr>
            <a:r>
              <a:rPr lang="en-US" sz="2200" b="1" dirty="0" smtClean="0">
                <a:latin typeface="Helvetica" pitchFamily="34" charset="0"/>
              </a:rPr>
              <a:t>When and where are informal                         expressions appropriate? </a:t>
            </a:r>
          </a:p>
          <a:p>
            <a:pPr marL="0" indent="0">
              <a:lnSpc>
                <a:spcPct val="120000"/>
              </a:lnSpc>
              <a:spcBef>
                <a:spcPts val="1200"/>
              </a:spcBef>
              <a:spcAft>
                <a:spcPts val="1200"/>
              </a:spcAft>
              <a:buNone/>
            </a:pPr>
            <a:r>
              <a:rPr lang="en-US" sz="2200" dirty="0" smtClean="0">
                <a:latin typeface="Helvetica" pitchFamily="34" charset="0"/>
              </a:rPr>
              <a:t>There are many situations in everyday life where informal English is allowed, even preferred. Some examples include chatting with a co-worker, talking on the phone to a friend, and watching television with your family.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38914" name="Picture 2" descr="C:\Users\Quentin\Desktop\Images\6.1 Corbis-CRBR003146.jpg"/>
          <p:cNvPicPr>
            <a:picLocks noChangeAspect="1" noChangeArrowheads="1"/>
          </p:cNvPicPr>
          <p:nvPr/>
        </p:nvPicPr>
        <p:blipFill>
          <a:blip r:embed="rId3" cstate="print"/>
          <a:srcRect/>
          <a:stretch>
            <a:fillRect/>
          </a:stretch>
        </p:blipFill>
        <p:spPr bwMode="auto">
          <a:xfrm>
            <a:off x="6444208" y="4437112"/>
            <a:ext cx="1440160" cy="198776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Informal expressions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US" sz="2200" dirty="0" smtClean="0">
                <a:latin typeface="Helvetica" pitchFamily="34" charset="0"/>
              </a:rPr>
              <a:t>Informal greetings and responses often include slang that is indicative of the casual situation in which it is used. These types of phrases should </a:t>
            </a:r>
            <a:r>
              <a:rPr lang="en-US" sz="2200" b="1" dirty="0" smtClean="0">
                <a:latin typeface="Helvetica" pitchFamily="34" charset="0"/>
              </a:rPr>
              <a:t>never be used in a professional setting</a:t>
            </a:r>
            <a:r>
              <a:rPr lang="en-US" sz="2200" dirty="0" smtClean="0">
                <a:latin typeface="Helvetica" pitchFamily="34" charset="0"/>
              </a:rPr>
              <a:t>, but they can be quite useful when speaking to family, close acquaintances or friends.</a:t>
            </a:r>
          </a:p>
          <a:p>
            <a:pPr marL="0" indent="0">
              <a:spcBef>
                <a:spcPts val="600"/>
              </a:spcBef>
              <a:spcAft>
                <a:spcPts val="1200"/>
              </a:spcAft>
              <a:buNone/>
            </a:pPr>
            <a:r>
              <a:rPr lang="en-US" sz="2200" dirty="0" smtClean="0">
                <a:latin typeface="Helvetica" pitchFamily="34" charset="0"/>
              </a:rPr>
              <a:t>Examples: </a:t>
            </a:r>
          </a:p>
          <a:p>
            <a:pPr marL="360000" indent="-360000">
              <a:spcBef>
                <a:spcPts val="600"/>
              </a:spcBef>
              <a:spcAft>
                <a:spcPts val="1200"/>
              </a:spcAft>
            </a:pPr>
            <a:r>
              <a:rPr lang="en-US" sz="2200" dirty="0" smtClean="0">
                <a:latin typeface="Helvetica" pitchFamily="34" charset="0"/>
              </a:rPr>
              <a:t>How’s it going?</a:t>
            </a:r>
          </a:p>
          <a:p>
            <a:pPr marL="360000" indent="-360000">
              <a:spcBef>
                <a:spcPts val="600"/>
              </a:spcBef>
              <a:spcAft>
                <a:spcPts val="1200"/>
              </a:spcAft>
            </a:pPr>
            <a:r>
              <a:rPr lang="en-US" sz="2200" dirty="0" smtClean="0">
                <a:latin typeface="Helvetica" pitchFamily="34" charset="0"/>
              </a:rPr>
              <a:t>You doing OK?</a:t>
            </a:r>
          </a:p>
          <a:p>
            <a:pPr marL="360000" indent="-360000">
              <a:spcBef>
                <a:spcPts val="600"/>
              </a:spcBef>
              <a:spcAft>
                <a:spcPts val="1200"/>
              </a:spcAft>
            </a:pPr>
            <a:r>
              <a:rPr lang="en-US" sz="2200" dirty="0" smtClean="0">
                <a:latin typeface="Helvetica" pitchFamily="34" charset="0"/>
              </a:rPr>
              <a:t>What’s up?</a:t>
            </a:r>
          </a:p>
          <a:p>
            <a:pPr marL="360000" indent="-360000">
              <a:spcBef>
                <a:spcPts val="600"/>
              </a:spcBef>
              <a:spcAft>
                <a:spcPts val="1200"/>
              </a:spcAft>
            </a:pPr>
            <a:r>
              <a:rPr lang="en-US" sz="2200" dirty="0" smtClean="0">
                <a:latin typeface="Helvetica" pitchFamily="34" charset="0"/>
              </a:rPr>
              <a:t>Good for you.</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39939" name="Picture 3" descr="C:\Users\Quentin\Desktop\Images\friends-talking.jpg"/>
          <p:cNvPicPr>
            <a:picLocks noChangeAspect="1" noChangeArrowheads="1"/>
          </p:cNvPicPr>
          <p:nvPr/>
        </p:nvPicPr>
        <p:blipFill>
          <a:blip r:embed="rId3" cstate="print"/>
          <a:srcRect/>
          <a:stretch>
            <a:fillRect/>
          </a:stretch>
        </p:blipFill>
        <p:spPr bwMode="auto">
          <a:xfrm>
            <a:off x="5580112" y="3789040"/>
            <a:ext cx="1979214" cy="200325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467600" cy="1143000"/>
          </a:xfrm>
        </p:spPr>
        <p:txBody>
          <a:bodyPr>
            <a:normAutofit/>
          </a:bodyPr>
          <a:lstStyle/>
          <a:p>
            <a:r>
              <a:rPr lang="en-US" sz="3400" b="1" dirty="0" smtClean="0">
                <a:solidFill>
                  <a:srgbClr val="FF6600"/>
                </a:solidFill>
                <a:latin typeface="Helvetica" pitchFamily="34" charset="0"/>
              </a:rPr>
              <a:t>Open-ended vs. Closed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There are two types of questions in English:</a:t>
            </a:r>
          </a:p>
          <a:p>
            <a:pPr marL="360000" indent="-360000">
              <a:spcBef>
                <a:spcPts val="1200"/>
              </a:spcBef>
              <a:spcAft>
                <a:spcPts val="1200"/>
              </a:spcAft>
            </a:pPr>
            <a:r>
              <a:rPr lang="en-US" sz="2200" dirty="0" smtClean="0">
                <a:latin typeface="Helvetica" pitchFamily="34" charset="0"/>
              </a:rPr>
              <a:t>An </a:t>
            </a:r>
            <a:r>
              <a:rPr lang="en-US" sz="2200" b="1" dirty="0" smtClean="0">
                <a:latin typeface="Helvetica" pitchFamily="34" charset="0"/>
              </a:rPr>
              <a:t>open-ended question </a:t>
            </a:r>
            <a:r>
              <a:rPr lang="en-US" sz="2200" dirty="0" smtClean="0">
                <a:latin typeface="Helvetica" pitchFamily="34" charset="0"/>
              </a:rPr>
              <a:t>requires an answer greater than a single word or two</a:t>
            </a:r>
          </a:p>
          <a:p>
            <a:pPr marL="360000" indent="-360000">
              <a:spcBef>
                <a:spcPts val="1200"/>
              </a:spcBef>
              <a:spcAft>
                <a:spcPts val="1200"/>
              </a:spcAft>
            </a:pPr>
            <a:r>
              <a:rPr lang="en-US" sz="2200" dirty="0" smtClean="0">
                <a:latin typeface="Helvetica" pitchFamily="34" charset="0"/>
              </a:rPr>
              <a:t>A </a:t>
            </a:r>
            <a:r>
              <a:rPr lang="en-US" sz="2200" b="1" dirty="0" smtClean="0">
                <a:latin typeface="Helvetica" pitchFamily="34" charset="0"/>
              </a:rPr>
              <a:t>closed question </a:t>
            </a:r>
            <a:r>
              <a:rPr lang="en-US" sz="2200" dirty="0" smtClean="0">
                <a:latin typeface="Helvetica" pitchFamily="34" charset="0"/>
              </a:rPr>
              <a:t>can be answered with a simple "Yes," "No," or other very simple answer.</a:t>
            </a:r>
          </a:p>
          <a:p>
            <a:pPr marL="0" lvl="0" indent="0">
              <a:spcBef>
                <a:spcPts val="1200"/>
              </a:spcBef>
              <a:spcAft>
                <a:spcPts val="1200"/>
              </a:spcAft>
              <a:buClr>
                <a:srgbClr val="7FD13B"/>
              </a:buClr>
              <a:buNone/>
            </a:pPr>
            <a:r>
              <a:rPr lang="en-US" sz="2200" b="1" dirty="0" smtClean="0">
                <a:solidFill>
                  <a:prstClr val="black"/>
                </a:solidFill>
                <a:latin typeface="Helvetica" pitchFamily="34" charset="0"/>
              </a:rPr>
              <a:t>Understanding what the question calls for can be the difference to having a successful interaction and not.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2" descr="http://farm6.staticflickr.com/5236/5871461310_a1e5a6629d.jpg"/>
          <p:cNvPicPr>
            <a:picLocks noChangeAspect="1" noChangeArrowheads="1"/>
          </p:cNvPicPr>
          <p:nvPr/>
        </p:nvPicPr>
        <p:blipFill>
          <a:blip r:embed="rId3" cstate="print"/>
          <a:srcRect/>
          <a:stretch>
            <a:fillRect/>
          </a:stretch>
        </p:blipFill>
        <p:spPr bwMode="auto">
          <a:xfrm>
            <a:off x="6084168" y="5013176"/>
            <a:ext cx="2088232" cy="1566174"/>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Open-ended vs. Closed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Open-ended questions</a:t>
            </a:r>
            <a:r>
              <a:rPr lang="en-US" sz="2200" dirty="0" smtClean="0">
                <a:latin typeface="Helvetica" pitchFamily="34" charset="0"/>
              </a:rPr>
              <a:t> are those that solicit additional information from the enquirer. By definition, they are broad and require more than one or two word responses.</a:t>
            </a:r>
          </a:p>
          <a:p>
            <a:pPr marL="0" indent="0">
              <a:spcBef>
                <a:spcPts val="600"/>
              </a:spcBef>
              <a:spcAft>
                <a:spcPts val="1200"/>
              </a:spcAft>
              <a:buNone/>
            </a:pPr>
            <a:r>
              <a:rPr lang="en-US" sz="2200" b="1" dirty="0" smtClean="0">
                <a:latin typeface="Helvetica" pitchFamily="34" charset="0"/>
              </a:rPr>
              <a:t>Examples</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How are you today?</a:t>
            </a:r>
          </a:p>
          <a:p>
            <a:pPr marL="360000" indent="-360000">
              <a:spcBef>
                <a:spcPts val="600"/>
              </a:spcBef>
              <a:spcAft>
                <a:spcPts val="1200"/>
              </a:spcAft>
            </a:pPr>
            <a:r>
              <a:rPr lang="en-US" sz="2200" dirty="0" smtClean="0">
                <a:latin typeface="Helvetica" pitchFamily="34" charset="0"/>
              </a:rPr>
              <a:t>How was your stay?</a:t>
            </a:r>
          </a:p>
          <a:p>
            <a:pPr marL="360000" indent="-360000">
              <a:spcBef>
                <a:spcPts val="600"/>
              </a:spcBef>
              <a:spcAft>
                <a:spcPts val="1200"/>
              </a:spcAft>
            </a:pPr>
            <a:r>
              <a:rPr lang="en-US" sz="2200" dirty="0" smtClean="0">
                <a:latin typeface="Helvetica" pitchFamily="34" charset="0"/>
              </a:rPr>
              <a:t>Why did you do this?</a:t>
            </a:r>
          </a:p>
          <a:p>
            <a:pPr marL="360000" indent="-360000">
              <a:spcBef>
                <a:spcPts val="600"/>
              </a:spcBef>
              <a:spcAft>
                <a:spcPts val="1200"/>
              </a:spcAft>
            </a:pPr>
            <a:r>
              <a:rPr lang="en-US" sz="2200" dirty="0" smtClean="0">
                <a:latin typeface="Helvetica" pitchFamily="34" charset="0"/>
              </a:rPr>
              <a:t>What are you looking for?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40962" name="Picture 2" descr="C:\Users\Quentin\Desktop\Images\6.3 design-your-questionnaire.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868144" y="4077072"/>
            <a:ext cx="2995642" cy="2246732"/>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Open-ended vs. Closed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Closed questions </a:t>
            </a:r>
            <a:r>
              <a:rPr lang="en-US" sz="2200" dirty="0" smtClean="0">
                <a:latin typeface="Helvetica" pitchFamily="34" charset="0"/>
              </a:rPr>
              <a:t>are those that can be answered finitely by either “yes” or “no.” Closed-ended questions can include presuming, probing, or leading questions.</a:t>
            </a:r>
          </a:p>
          <a:p>
            <a:pPr marL="0" indent="0">
              <a:spcBef>
                <a:spcPts val="600"/>
              </a:spcBef>
              <a:spcAft>
                <a:spcPts val="1200"/>
              </a:spcAft>
              <a:buNone/>
            </a:pPr>
            <a:r>
              <a:rPr lang="en-US" sz="2200" b="1" dirty="0" smtClean="0">
                <a:latin typeface="Helvetica" pitchFamily="34" charset="0"/>
              </a:rPr>
              <a:t>Examples</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May/Can I help you?</a:t>
            </a:r>
          </a:p>
          <a:p>
            <a:pPr marL="360000" indent="-360000">
              <a:spcBef>
                <a:spcPts val="600"/>
              </a:spcBef>
              <a:spcAft>
                <a:spcPts val="1200"/>
              </a:spcAft>
            </a:pPr>
            <a:r>
              <a:rPr lang="en-US" sz="2200" dirty="0" smtClean="0">
                <a:latin typeface="Helvetica" pitchFamily="34" charset="0"/>
              </a:rPr>
              <a:t>Can I get you something, sir/madam?</a:t>
            </a:r>
          </a:p>
          <a:p>
            <a:pPr marL="360000" indent="-360000">
              <a:spcBef>
                <a:spcPts val="600"/>
              </a:spcBef>
              <a:spcAft>
                <a:spcPts val="1200"/>
              </a:spcAft>
            </a:pPr>
            <a:r>
              <a:rPr lang="en-US" sz="2200" dirty="0" smtClean="0">
                <a:latin typeface="Helvetica" pitchFamily="34" charset="0"/>
              </a:rPr>
              <a:t>Could you help me?</a:t>
            </a:r>
          </a:p>
          <a:p>
            <a:pPr marL="360000" indent="-360000">
              <a:spcBef>
                <a:spcPts val="600"/>
              </a:spcBef>
              <a:spcAft>
                <a:spcPts val="1200"/>
              </a:spcAft>
            </a:pPr>
            <a:r>
              <a:rPr lang="en-US" sz="2200" dirty="0" smtClean="0">
                <a:latin typeface="Helvetica" pitchFamily="34" charset="0"/>
              </a:rPr>
              <a:t>Are you enjoying yourself?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41986" name="Picture 2" descr="C:\Users\Quentin\Desktop\Images\6.3 askopenendedquestions.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796136" y="4437112"/>
            <a:ext cx="2875362" cy="215652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467600" cy="1143000"/>
          </a:xfrm>
        </p:spPr>
        <p:txBody>
          <a:bodyPr>
            <a:normAutofit/>
          </a:bodyPr>
          <a:lstStyle/>
          <a:p>
            <a:r>
              <a:rPr lang="en-US" sz="3400" b="1" dirty="0" smtClean="0">
                <a:solidFill>
                  <a:srgbClr val="FF6600"/>
                </a:solidFill>
                <a:latin typeface="Helvetica" pitchFamily="34" charset="0"/>
              </a:rPr>
              <a:t>Open-ended vs. Closed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Question words can often indicate what information is required. </a:t>
            </a:r>
          </a:p>
          <a:p>
            <a:pPr marL="360000" indent="-360000">
              <a:spcBef>
                <a:spcPts val="600"/>
              </a:spcBef>
              <a:spcAft>
                <a:spcPts val="1200"/>
              </a:spcAft>
            </a:pPr>
            <a:r>
              <a:rPr lang="en-US" sz="2200" dirty="0" smtClean="0">
                <a:latin typeface="Helvetica" pitchFamily="34" charset="0"/>
              </a:rPr>
              <a:t>Open-ended questions often begin with the words </a:t>
            </a:r>
            <a:r>
              <a:rPr lang="en-US" sz="2200" b="1" dirty="0" smtClean="0">
                <a:latin typeface="Helvetica" pitchFamily="34" charset="0"/>
              </a:rPr>
              <a:t>WHAT</a:t>
            </a:r>
            <a:r>
              <a:rPr lang="en-US" sz="2200" dirty="0" smtClean="0">
                <a:latin typeface="Helvetica" pitchFamily="34" charset="0"/>
              </a:rPr>
              <a:t>, </a:t>
            </a:r>
            <a:r>
              <a:rPr lang="en-US" sz="2200" b="1" dirty="0" smtClean="0">
                <a:latin typeface="Helvetica" pitchFamily="34" charset="0"/>
              </a:rPr>
              <a:t>HOW</a:t>
            </a:r>
            <a:r>
              <a:rPr lang="en-US" sz="2200" dirty="0" smtClean="0">
                <a:latin typeface="Helvetica" pitchFamily="34" charset="0"/>
              </a:rPr>
              <a:t>, and </a:t>
            </a:r>
            <a:r>
              <a:rPr lang="en-US" sz="2200" b="1" dirty="0" smtClean="0">
                <a:latin typeface="Helvetica" pitchFamily="34" charset="0"/>
              </a:rPr>
              <a:t>WHY</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Closed questions often begin with the words        </a:t>
            </a:r>
            <a:r>
              <a:rPr lang="en-US" sz="2200" b="1" dirty="0" smtClean="0">
                <a:latin typeface="Helvetica" pitchFamily="34" charset="0"/>
              </a:rPr>
              <a:t>WHEN</a:t>
            </a:r>
            <a:r>
              <a:rPr lang="en-US" sz="2200" dirty="0" smtClean="0">
                <a:latin typeface="Helvetica" pitchFamily="34" charset="0"/>
              </a:rPr>
              <a:t>, </a:t>
            </a:r>
            <a:r>
              <a:rPr lang="en-US" sz="2200" b="1" dirty="0" smtClean="0">
                <a:latin typeface="Helvetica" pitchFamily="34" charset="0"/>
              </a:rPr>
              <a:t>WHERE</a:t>
            </a:r>
            <a:r>
              <a:rPr lang="en-US" sz="2200" dirty="0" smtClean="0">
                <a:latin typeface="Helvetica" pitchFamily="34" charset="0"/>
              </a:rPr>
              <a:t>, and </a:t>
            </a:r>
            <a:r>
              <a:rPr lang="en-US" sz="2200" b="1" dirty="0" smtClean="0">
                <a:latin typeface="Helvetica" pitchFamily="34" charset="0"/>
              </a:rPr>
              <a:t>WHO</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View question chart in Trainee Manual.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4100" name="Picture 4" descr="http://farm4.staticflickr.com/3208/5856515361_3243fe4c86.jpg"/>
          <p:cNvPicPr>
            <a:picLocks noChangeAspect="1" noChangeArrowheads="1"/>
          </p:cNvPicPr>
          <p:nvPr/>
        </p:nvPicPr>
        <p:blipFill>
          <a:blip r:embed="rId3" cstate="print"/>
          <a:srcRect/>
          <a:stretch>
            <a:fillRect/>
          </a:stretch>
        </p:blipFill>
        <p:spPr bwMode="auto">
          <a:xfrm>
            <a:off x="6804248" y="4077072"/>
            <a:ext cx="1567014" cy="220706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692696"/>
            <a:ext cx="3816424" cy="2592288"/>
          </a:xfrm>
        </p:spPr>
        <p:txBody>
          <a:bodyPr>
            <a:normAutofit/>
          </a:bodyPr>
          <a:lstStyle/>
          <a:p>
            <a:pPr>
              <a:lnSpc>
                <a:spcPct val="150000"/>
              </a:lnSpc>
              <a:spcBef>
                <a:spcPts val="600"/>
              </a:spcBef>
              <a:spcAft>
                <a:spcPts val="1200"/>
              </a:spcAft>
            </a:pPr>
            <a:r>
              <a:rPr lang="en-AU" b="1" dirty="0" smtClean="0">
                <a:solidFill>
                  <a:srgbClr val="FF6600"/>
                </a:solidFill>
                <a:latin typeface="Helvetica" pitchFamily="34" charset="0"/>
              </a:rPr>
              <a:t>Finish:</a:t>
            </a:r>
            <a:br>
              <a:rPr lang="en-AU" b="1" dirty="0" smtClean="0">
                <a:solidFill>
                  <a:srgbClr val="FF6600"/>
                </a:solidFill>
                <a:latin typeface="Helvetica" pitchFamily="34" charset="0"/>
              </a:rPr>
            </a:br>
            <a:r>
              <a:rPr lang="en-AU" dirty="0" smtClean="0">
                <a:solidFill>
                  <a:srgbClr val="FF6600"/>
                </a:solidFill>
                <a:latin typeface="Helvetica" pitchFamily="34" charset="0"/>
              </a:rPr>
              <a:t>Thank you!</a:t>
            </a:r>
            <a:endParaRPr lang="en-AU"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64</a:t>
            </a:fld>
            <a:endParaRPr lang="en-US" dirty="0"/>
          </a:p>
        </p:txBody>
      </p:sp>
      <p:pic>
        <p:nvPicPr>
          <p:cNvPr id="1026" name="Picture 2" descr="C:\Documents and Settings\jirayut\Local Settings\Temporary Internet Files\Content.IE5\DL0QWQXO\MP900431741[1].jpg"/>
          <p:cNvPicPr>
            <a:picLocks noChangeAspect="1" noChangeArrowheads="1"/>
          </p:cNvPicPr>
          <p:nvPr/>
        </p:nvPicPr>
        <p:blipFill>
          <a:blip r:embed="rId3" cstate="print"/>
          <a:srcRect/>
          <a:stretch>
            <a:fillRect/>
          </a:stretch>
        </p:blipFill>
        <p:spPr bwMode="auto">
          <a:xfrm>
            <a:off x="4788024" y="2924944"/>
            <a:ext cx="2304256" cy="23042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theme/theme1.xml><?xml version="1.0" encoding="utf-8"?>
<a:theme xmlns:a="http://schemas.openxmlformats.org/drawingml/2006/main" name="Technic">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5222</TotalTime>
  <Words>7972</Words>
  <Application>Microsoft Office PowerPoint</Application>
  <PresentationFormat>On-screen Show (4:3)</PresentationFormat>
  <Paragraphs>978</Paragraphs>
  <Slides>64</Slides>
  <Notes>64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Calibri</vt:lpstr>
      <vt:lpstr>Franklin Gothic Book</vt:lpstr>
      <vt:lpstr>Helvetica</vt:lpstr>
      <vt:lpstr>Wingdings 2</vt:lpstr>
      <vt:lpstr>Technic</vt:lpstr>
      <vt:lpstr>Converse in English at a basic operational level</vt:lpstr>
      <vt:lpstr>Converse in English at a basic operational level</vt:lpstr>
      <vt:lpstr>Assessment</vt:lpstr>
      <vt:lpstr>Participate in simple conversations on familiar topics with work colleagues </vt:lpstr>
      <vt:lpstr>Responding to opening comments</vt:lpstr>
      <vt:lpstr>Responding to opening comments</vt:lpstr>
      <vt:lpstr>Responding to opening comments</vt:lpstr>
      <vt:lpstr>Responding to opening comments</vt:lpstr>
      <vt:lpstr>Responding to opening comments</vt:lpstr>
      <vt:lpstr>Talking about familiar topics</vt:lpstr>
      <vt:lpstr>Talking about familiar topics</vt:lpstr>
      <vt:lpstr>Talking about familiar topics</vt:lpstr>
      <vt:lpstr>Talking about familiar topics</vt:lpstr>
      <vt:lpstr>Talking about familiar topics</vt:lpstr>
      <vt:lpstr>Using the simple past tense</vt:lpstr>
      <vt:lpstr>Using the simple past tense</vt:lpstr>
      <vt:lpstr>Ending the conversation</vt:lpstr>
      <vt:lpstr>Ending the conversation</vt:lpstr>
      <vt:lpstr>Respond to simple verbal instructions or requests </vt:lpstr>
      <vt:lpstr>Confirming that you understand</vt:lpstr>
      <vt:lpstr>Confirming that you understand</vt:lpstr>
      <vt:lpstr>Requesting repetition or clarification</vt:lpstr>
      <vt:lpstr>Requesting repetition or clarification</vt:lpstr>
      <vt:lpstr>Requesting repetition or clarification</vt:lpstr>
      <vt:lpstr>Requesting repetition or clarification</vt:lpstr>
      <vt:lpstr>Requesting repetition or clarification</vt:lpstr>
      <vt:lpstr>Requesting repetition or clarification</vt:lpstr>
      <vt:lpstr>Make simple requests </vt:lpstr>
      <vt:lpstr>Making requests</vt:lpstr>
      <vt:lpstr>Making requests</vt:lpstr>
      <vt:lpstr>Making requests</vt:lpstr>
      <vt:lpstr>Saying ‘Thank You’</vt:lpstr>
      <vt:lpstr>Saying ‘Thank You’</vt:lpstr>
      <vt:lpstr>Saying ‘Thank You’</vt:lpstr>
      <vt:lpstr>Acknowledging all guests</vt:lpstr>
      <vt:lpstr>Acknowledging all guests</vt:lpstr>
      <vt:lpstr>Acknowledging all guests</vt:lpstr>
      <vt:lpstr>Describe routine procedures </vt:lpstr>
      <vt:lpstr>Giving instructions</vt:lpstr>
      <vt:lpstr>Giving instructions</vt:lpstr>
      <vt:lpstr>Describing exceptions</vt:lpstr>
      <vt:lpstr>Describing exceptions</vt:lpstr>
      <vt:lpstr>Describing exceptions</vt:lpstr>
      <vt:lpstr>Describing exceptions</vt:lpstr>
      <vt:lpstr>Making suggestions</vt:lpstr>
      <vt:lpstr>Making suggestions</vt:lpstr>
      <vt:lpstr>Express likes, dislikes and   preferences </vt:lpstr>
      <vt:lpstr>Likes and dislikes</vt:lpstr>
      <vt:lpstr>Likes and dislikes</vt:lpstr>
      <vt:lpstr>Likes and dislikes</vt:lpstr>
      <vt:lpstr>Likes and dislikes </vt:lpstr>
      <vt:lpstr>Preferences and reasons</vt:lpstr>
      <vt:lpstr>Preferences and reasons</vt:lpstr>
      <vt:lpstr>Identify different forms of expression in English </vt:lpstr>
      <vt:lpstr>Formal expressions</vt:lpstr>
      <vt:lpstr>Formal expressions</vt:lpstr>
      <vt:lpstr>Formal expressions</vt:lpstr>
      <vt:lpstr>Informal expressions</vt:lpstr>
      <vt:lpstr>Informal expressions</vt:lpstr>
      <vt:lpstr>Open-ended vs. Closed questions</vt:lpstr>
      <vt:lpstr>Open-ended vs. Closed questions</vt:lpstr>
      <vt:lpstr>Open-ended vs. Closed questions</vt:lpstr>
      <vt:lpstr>Open-ended vs. Closed questions</vt:lpstr>
      <vt:lpstr>Finish: 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Quentin</dc:creator>
  <cp:lastModifiedBy>Carla Angelica Co</cp:lastModifiedBy>
  <cp:revision>369</cp:revision>
  <dcterms:created xsi:type="dcterms:W3CDTF">2010-09-02T07:22:47Z</dcterms:created>
  <dcterms:modified xsi:type="dcterms:W3CDTF">2015-03-13T04:27:14Z</dcterms:modified>
</cp:coreProperties>
</file>