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notesSlides/notesSlide102.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Default Extension="emf" ContentType="image/x-emf"/>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notesSlides/notesSlide99.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5"/>
  </p:notesMasterIdLst>
  <p:handoutMasterIdLst>
    <p:handoutMasterId r:id="rId106"/>
  </p:handoutMasterIdLst>
  <p:sldIdLst>
    <p:sldId id="256" r:id="rId2"/>
    <p:sldId id="257" r:id="rId3"/>
    <p:sldId id="258" r:id="rId4"/>
    <p:sldId id="259" r:id="rId5"/>
    <p:sldId id="260"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266" r:id="rId34"/>
    <p:sldId id="267" r:id="rId35"/>
    <p:sldId id="310" r:id="rId36"/>
    <p:sldId id="311" r:id="rId37"/>
    <p:sldId id="312" r:id="rId38"/>
    <p:sldId id="313" r:id="rId39"/>
    <p:sldId id="314" r:id="rId40"/>
    <p:sldId id="315" r:id="rId41"/>
    <p:sldId id="316" r:id="rId42"/>
    <p:sldId id="317" r:id="rId43"/>
    <p:sldId id="318" r:id="rId44"/>
    <p:sldId id="320" r:id="rId45"/>
    <p:sldId id="321" r:id="rId46"/>
    <p:sldId id="322" r:id="rId47"/>
    <p:sldId id="324" r:id="rId48"/>
    <p:sldId id="325" r:id="rId49"/>
    <p:sldId id="326" r:id="rId50"/>
    <p:sldId id="323" r:id="rId51"/>
    <p:sldId id="327" r:id="rId52"/>
    <p:sldId id="328" r:id="rId53"/>
    <p:sldId id="329" r:id="rId54"/>
    <p:sldId id="330" r:id="rId55"/>
    <p:sldId id="331" r:id="rId56"/>
    <p:sldId id="332" r:id="rId57"/>
    <p:sldId id="333" r:id="rId58"/>
    <p:sldId id="334" r:id="rId59"/>
    <p:sldId id="335" r:id="rId60"/>
    <p:sldId id="336" r:id="rId61"/>
    <p:sldId id="337" r:id="rId62"/>
    <p:sldId id="270" r:id="rId63"/>
    <p:sldId id="271" r:id="rId64"/>
    <p:sldId id="338" r:id="rId65"/>
    <p:sldId id="339"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276" r:id="rId79"/>
    <p:sldId id="277" r:id="rId80"/>
    <p:sldId id="352" r:id="rId81"/>
    <p:sldId id="353" r:id="rId82"/>
    <p:sldId id="354" r:id="rId83"/>
    <p:sldId id="355" r:id="rId84"/>
    <p:sldId id="356" r:id="rId85"/>
    <p:sldId id="357" r:id="rId86"/>
    <p:sldId id="358" r:id="rId87"/>
    <p:sldId id="359" r:id="rId88"/>
    <p:sldId id="364" r:id="rId89"/>
    <p:sldId id="365" r:id="rId90"/>
    <p:sldId id="360" r:id="rId91"/>
    <p:sldId id="363" r:id="rId92"/>
    <p:sldId id="361" r:id="rId93"/>
    <p:sldId id="362" r:id="rId94"/>
    <p:sldId id="366" r:id="rId95"/>
    <p:sldId id="367" r:id="rId96"/>
    <p:sldId id="369" r:id="rId97"/>
    <p:sldId id="368" r:id="rId98"/>
    <p:sldId id="370" r:id="rId99"/>
    <p:sldId id="371" r:id="rId100"/>
    <p:sldId id="372" r:id="rId101"/>
    <p:sldId id="373" r:id="rId102"/>
    <p:sldId id="374" r:id="rId103"/>
    <p:sldId id="375" r:id="rId10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76367" autoAdjust="0"/>
  </p:normalViewPr>
  <p:slideViewPr>
    <p:cSldViewPr>
      <p:cViewPr varScale="1">
        <p:scale>
          <a:sx n="102" d="100"/>
          <a:sy n="102" d="100"/>
        </p:scale>
        <p:origin x="-247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6/19/2013</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6/19/2013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students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 cellar?</a:t>
            </a:r>
          </a:p>
          <a:p>
            <a:pPr>
              <a:buFont typeface="Arial" pitchFamily="34" charset="0"/>
              <a:buChar char="•"/>
            </a:pPr>
            <a:r>
              <a:rPr lang="en-AU" sz="1200" kern="1200" baseline="0" dirty="0" smtClean="0">
                <a:solidFill>
                  <a:schemeClr val="tx1"/>
                </a:solidFill>
                <a:ea typeface="+mn-ea"/>
                <a:cs typeface="+mn-cs"/>
              </a:rPr>
              <a:t>What equipment is associated with a cellar?</a:t>
            </a:r>
          </a:p>
          <a:p>
            <a:pPr>
              <a:buFont typeface="Arial" pitchFamily="34" charset="0"/>
              <a:buChar char="•"/>
            </a:pPr>
            <a:r>
              <a:rPr lang="en-AU" sz="1200" kern="1200" baseline="0" dirty="0" smtClean="0">
                <a:solidFill>
                  <a:schemeClr val="tx1"/>
                </a:solidFill>
                <a:ea typeface="+mn-ea"/>
                <a:cs typeface="+mn-cs"/>
              </a:rPr>
              <a:t>What bulk dispensing systems are used in a bar?</a:t>
            </a: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involved in achieving this purpose?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If you were a bar manager what would be the objectives you would have?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Question and Visit of cellar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Answer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arrange visit of cellar.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Visit of cellar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arrange visit of cellar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purpose of these items as part of cellar visit.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served using </a:t>
            </a:r>
            <a:r>
              <a:rPr lang="en-AU" sz="1200" dirty="0" smtClean="0"/>
              <a:t>bulk dispensing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equipment is used in </a:t>
            </a:r>
            <a:r>
              <a:rPr lang="en-AU" sz="1200" dirty="0" smtClean="0"/>
              <a:t>bulk dispensing systems?</a:t>
            </a:r>
            <a:endParaRPr lang="en-AU" sz="1200" b="0" kern="1200" baseline="0" dirty="0" smtClean="0">
              <a:solidFill>
                <a:schemeClr val="tx1"/>
              </a:solidFill>
              <a:latin typeface="Helvetica" pitchFamily="34" charset="0"/>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benefits and disadvantages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benefits of </a:t>
            </a:r>
            <a:r>
              <a:rPr lang="en-AU" sz="1200" b="0" dirty="0" smtClean="0"/>
              <a:t>bulk dispensing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disadvantages are there of these systems?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different types of systems.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benefit of using kegs?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is beer distributed from kegs to the customer?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benefit of these spirit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difference between bottle and bulk dispensing units?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common measurement dispensed by these units?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benefits and disadvantages of spirit dispensing equipment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benefits of </a:t>
            </a:r>
            <a:r>
              <a:rPr lang="en-AU" sz="1200" b="0" dirty="0" smtClean="0"/>
              <a:t>spirit dispensing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disadvantages are there of these systems?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benefits and disadvantages of spirit dispensing equipment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benefits of </a:t>
            </a:r>
            <a:r>
              <a:rPr lang="en-AU" sz="1200" b="0" dirty="0" smtClean="0"/>
              <a:t>spirit dispensing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disadvantages are there of these systems?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benefits and disadvantages of bulk wine dispensing equipment &amp;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benefits of </a:t>
            </a:r>
            <a:r>
              <a:rPr lang="en-AU" sz="1200" b="0" dirty="0" smtClean="0"/>
              <a:t>bulk wine dispensing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disadvantages are there of these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get audience to research different types of wine dispensing systems and associated costs.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benefits and disadvantages of post mix systems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benefits of </a:t>
            </a:r>
            <a:r>
              <a:rPr lang="en-AU" sz="1200" b="0" dirty="0" smtClean="0"/>
              <a:t>post mix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disadvantages are there of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what these pieces of equipment are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these items and their uses.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role of Cellar Attendant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duties of a cellar attendant.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role of Cellar Attendant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duties of a cellar attendant.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role of Cellar Attendant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duties of a cellar attendant.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role of Cellar Attendant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duties of a cellar attendant.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importance of cellar attendant safety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importance of these safety guidelines.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 importance of cellar attendant safety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importance of these safety guidelines.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This section will explore how to use these systems but is a good introductory discussion to identify current understanding.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how to use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how to use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purpose of each of these components?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of systems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discuss the differences of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how to use post mix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Demonstration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demonstrate/discuss how to clean post mix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are common faults of each dispensing system mentioned?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are possible remedies?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are beer systems popular?</a:t>
            </a:r>
          </a:p>
          <a:p>
            <a:pPr>
              <a:buFont typeface="Arial" pitchFamily="34" charset="0"/>
              <a:buChar char="•"/>
            </a:pPr>
            <a:r>
              <a:rPr lang="en-AU" sz="1200" kern="1200" baseline="0" dirty="0" smtClean="0">
                <a:solidFill>
                  <a:schemeClr val="tx1"/>
                </a:solidFill>
                <a:ea typeface="+mn-ea"/>
                <a:cs typeface="+mn-cs"/>
              </a:rPr>
              <a:t>What are the benefits of these systems?</a:t>
            </a:r>
          </a:p>
          <a:p>
            <a:pPr>
              <a:buFont typeface="Arial" pitchFamily="34" charset="0"/>
              <a:buChar char="•"/>
            </a:pPr>
            <a:r>
              <a:rPr lang="en-AU" sz="1200" kern="1200" baseline="0" dirty="0" smtClean="0">
                <a:solidFill>
                  <a:schemeClr val="tx1"/>
                </a:solidFill>
                <a:ea typeface="+mn-ea"/>
                <a:cs typeface="+mn-cs"/>
              </a:rPr>
              <a:t>What equipment is associated with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purpose of each of these components?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handle, store, use and change gas cylinders?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where appropriate.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handle, store, use and change gas cylinders?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demonstrate where appropriate.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difference between these types of cooling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purpose of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discuss and demonstrate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discuss and demonstrate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discuss and demonstrate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discuss and demonstrate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importance of these handling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keep kegs at the optimum temperature?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benefit of linking kegs into a series?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Show how to connect beer.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should you pour beer?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Show how to pour beer.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clean glasses?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should glasses be stored?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temperatures should glasses be for service?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purpose of these cleaning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purpose of these cleaning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purpose of these cleaning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clean beer lines?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steps.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steps.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checks.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handle, connect and store gas correctly?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can a cellar operator build their knowledge?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Who should perform these tasks?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Why are they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types of refrigeration systems are used in a commercial bar?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difference between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difference between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difference between these systems?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used to test these temperatures?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ideal temperature for refrigerators?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get audience to research different types of thermostats and related equipment that can be used in commercial bar operations.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Trainer to explain difference between these methods to identify fridge temperature.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is the purpose of these components?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clean and maintain them?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other benefits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much money can they systems actually save?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r>
              <a:rPr lang="en-AU" sz="1200" b="1" kern="1200" dirty="0" smtClean="0">
                <a:solidFill>
                  <a:schemeClr val="tx1"/>
                </a:solidFill>
                <a:latin typeface="Helvetica" pitchFamily="34" charset="0"/>
                <a:ea typeface="+mn-ea"/>
                <a:cs typeface="+mn-cs"/>
              </a:rPr>
              <a:t>Types of system products</a:t>
            </a:r>
          </a:p>
          <a:p>
            <a:r>
              <a:rPr lang="en-AU" sz="1200" b="0" kern="1200" dirty="0" smtClean="0">
                <a:solidFill>
                  <a:schemeClr val="tx1"/>
                </a:solidFill>
                <a:latin typeface="Helvetica" pitchFamily="34" charset="0"/>
                <a:ea typeface="+mn-ea"/>
                <a:cs typeface="+mn-cs"/>
              </a:rPr>
              <a:t>Products within these systems include:</a:t>
            </a:r>
            <a:endParaRPr lang="en-AU" sz="1200" b="1" kern="1200" dirty="0" smtClean="0">
              <a:solidFill>
                <a:schemeClr val="tx1"/>
              </a:solidFill>
              <a:latin typeface="Helvetica" pitchFamily="34" charset="0"/>
              <a:ea typeface="+mn-ea"/>
              <a:cs typeface="+mn-cs"/>
            </a:endParaRPr>
          </a:p>
          <a:p>
            <a:pPr lvl="0">
              <a:buFont typeface="Arial" pitchFamily="34" charset="0"/>
              <a:buChar char="•"/>
            </a:pPr>
            <a:r>
              <a:rPr lang="en-AU" sz="1200" b="0" kern="1200" dirty="0" smtClean="0">
                <a:solidFill>
                  <a:schemeClr val="tx1"/>
                </a:solidFill>
                <a:latin typeface="Helvetica" pitchFamily="34" charset="0"/>
                <a:ea typeface="+mn-ea"/>
                <a:cs typeface="+mn-cs"/>
              </a:rPr>
              <a:t>Single and multipoint temperature alarms – this is important as it is vital that temperatures of food and beverage items remain within acceptable temperature ranges</a:t>
            </a:r>
            <a:r>
              <a:rPr lang="en-AU" sz="1200" b="1" kern="1200" dirty="0" smtClean="0">
                <a:solidFill>
                  <a:schemeClr val="tx1"/>
                </a:solidFill>
                <a:latin typeface="Helvetica" pitchFamily="34" charset="0"/>
                <a:ea typeface="+mn-ea"/>
                <a:cs typeface="+mn-cs"/>
              </a:rPr>
              <a:t> </a:t>
            </a:r>
          </a:p>
          <a:p>
            <a:pPr lvl="0">
              <a:buFont typeface="Arial" pitchFamily="34" charset="0"/>
              <a:buChar char="•"/>
            </a:pPr>
            <a:r>
              <a:rPr lang="en-AU" sz="1200" b="0" kern="1200" dirty="0" smtClean="0">
                <a:solidFill>
                  <a:schemeClr val="tx1"/>
                </a:solidFill>
                <a:latin typeface="Helvetica" pitchFamily="34" charset="0"/>
                <a:ea typeface="+mn-ea"/>
                <a:cs typeface="+mn-cs"/>
              </a:rPr>
              <a:t>Web enabled data logging systems – records who enters fridges and at what time</a:t>
            </a:r>
            <a:endParaRPr lang="en-AU" sz="1200" b="1" kern="1200" dirty="0" smtClean="0">
              <a:solidFill>
                <a:schemeClr val="tx1"/>
              </a:solidFill>
              <a:latin typeface="Helvetica" pitchFamily="34" charset="0"/>
              <a:ea typeface="+mn-ea"/>
              <a:cs typeface="+mn-cs"/>
            </a:endParaRPr>
          </a:p>
          <a:p>
            <a:pPr lvl="0">
              <a:buFont typeface="Arial" pitchFamily="34" charset="0"/>
              <a:buChar char="•"/>
            </a:pPr>
            <a:r>
              <a:rPr lang="en-AU" sz="1200" b="0" kern="1200" dirty="0" smtClean="0">
                <a:solidFill>
                  <a:schemeClr val="tx1"/>
                </a:solidFill>
                <a:latin typeface="Helvetica" pitchFamily="34" charset="0"/>
                <a:ea typeface="+mn-ea"/>
                <a:cs typeface="+mn-cs"/>
              </a:rPr>
              <a:t>Door monitor and alarms – notifies when fridge doors are opened</a:t>
            </a:r>
            <a:endParaRPr lang="en-AU" sz="1200" b="1" kern="1200" dirty="0" smtClean="0">
              <a:solidFill>
                <a:schemeClr val="tx1"/>
              </a:solidFill>
              <a:latin typeface="Helvetica" pitchFamily="34" charset="0"/>
              <a:ea typeface="+mn-ea"/>
              <a:cs typeface="+mn-cs"/>
            </a:endParaRPr>
          </a:p>
          <a:p>
            <a:pPr lvl="0">
              <a:buFont typeface="Arial" pitchFamily="34" charset="0"/>
              <a:buChar char="•"/>
            </a:pPr>
            <a:r>
              <a:rPr lang="en-AU" sz="1200" b="0" kern="1200" dirty="0" smtClean="0">
                <a:solidFill>
                  <a:schemeClr val="tx1"/>
                </a:solidFill>
                <a:latin typeface="Helvetica" pitchFamily="34" charset="0"/>
                <a:ea typeface="+mn-ea"/>
                <a:cs typeface="+mn-cs"/>
              </a:rPr>
              <a:t>Panic (entrapment) alarms – commonly found in ‘walk-in’ fridges that notifies the appropriate person when someone has been locked into a unit.</a:t>
            </a:r>
            <a:endParaRPr lang="en-AU" sz="1200" b="1" kern="120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fix these faults?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how to perform these checks.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how to perform these checks.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monitor quality of products?</a:t>
            </a:r>
          </a:p>
          <a:p>
            <a:pPr>
              <a:buFont typeface="Arial" pitchFamily="34" charset="0"/>
              <a:buChar char="•"/>
            </a:pPr>
            <a:r>
              <a:rPr lang="en-AU" sz="1200" kern="1200" baseline="0" dirty="0" smtClean="0">
                <a:solidFill>
                  <a:schemeClr val="tx1"/>
                </a:solidFill>
                <a:ea typeface="+mn-ea"/>
                <a:cs typeface="+mn-cs"/>
              </a:rPr>
              <a:t>Which products should be test?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a:buFont typeface="Arial" pitchFamily="34" charset="0"/>
              <a:buChar char="•"/>
            </a:pPr>
            <a:r>
              <a:rPr lang="en-AU" sz="1200" kern="1200" baseline="0" dirty="0" smtClean="0">
                <a:solidFill>
                  <a:schemeClr val="tx1"/>
                </a:solidFill>
                <a:latin typeface="Helvetica" pitchFamily="34" charset="0"/>
                <a:ea typeface="+mn-ea"/>
                <a:cs typeface="+mn-cs"/>
              </a:rPr>
              <a:t>How can you test these products?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Cloudy beer</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Cleaning pipes every week</a:t>
            </a:r>
          </a:p>
          <a:p>
            <a:pPr lvl="0"/>
            <a:r>
              <a:rPr lang="en-AU" sz="1200" u="none" kern="1200" dirty="0" smtClean="0">
                <a:solidFill>
                  <a:schemeClr val="tx1"/>
                </a:solidFill>
                <a:latin typeface="Helvetica" pitchFamily="34" charset="0"/>
                <a:ea typeface="+mn-ea"/>
                <a:cs typeface="+mn-cs"/>
              </a:rPr>
              <a:t>Ensure key is still within ‘best before date’</a:t>
            </a:r>
          </a:p>
          <a:p>
            <a:pPr lvl="0"/>
            <a:r>
              <a:rPr lang="en-AU" sz="1200" u="none" kern="1200" dirty="0" smtClean="0">
                <a:solidFill>
                  <a:schemeClr val="tx1"/>
                </a:solidFill>
                <a:latin typeface="Helvetica" pitchFamily="34" charset="0"/>
                <a:ea typeface="+mn-ea"/>
                <a:cs typeface="+mn-cs"/>
              </a:rPr>
              <a:t>Flush through lines with water</a:t>
            </a:r>
          </a:p>
          <a:p>
            <a:pPr lvl="0"/>
            <a:r>
              <a:rPr lang="en-AU" sz="1200" u="none" kern="1200" dirty="0" smtClean="0">
                <a:solidFill>
                  <a:schemeClr val="tx1"/>
                </a:solidFill>
                <a:latin typeface="Helvetica" pitchFamily="34" charset="0"/>
                <a:ea typeface="+mn-ea"/>
                <a:cs typeface="+mn-cs"/>
              </a:rPr>
              <a:t>Connect to a new keg.</a:t>
            </a:r>
          </a:p>
          <a:p>
            <a:r>
              <a:rPr lang="en-AU" sz="1200" b="1" u="none" kern="1200" dirty="0" smtClean="0">
                <a:solidFill>
                  <a:schemeClr val="tx1"/>
                </a:solidFill>
                <a:latin typeface="Helvetica" pitchFamily="34" charset="0"/>
                <a:ea typeface="+mn-ea"/>
                <a:cs typeface="+mn-cs"/>
              </a:rPr>
              <a:t/>
            </a:r>
            <a:br>
              <a:rPr lang="en-AU" sz="1200" b="1" u="none" kern="1200" dirty="0" smtClean="0">
                <a:solidFill>
                  <a:schemeClr val="tx1"/>
                </a:solidFill>
                <a:latin typeface="Helvetica" pitchFamily="34" charset="0"/>
                <a:ea typeface="+mn-ea"/>
                <a:cs typeface="+mn-cs"/>
              </a:rPr>
            </a:br>
            <a:r>
              <a:rPr lang="en-AU" sz="1200" b="1" u="none" kern="1200" dirty="0" smtClean="0">
                <a:solidFill>
                  <a:schemeClr val="tx1"/>
                </a:solidFill>
                <a:latin typeface="Helvetica" pitchFamily="34" charset="0"/>
                <a:ea typeface="+mn-ea"/>
                <a:cs typeface="+mn-cs"/>
              </a:rPr>
              <a:t>No head on beer</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Ensure staff are trained in pouring</a:t>
            </a:r>
          </a:p>
          <a:p>
            <a:pPr lvl="0"/>
            <a:r>
              <a:rPr lang="en-AU" sz="1200" u="none" kern="1200" dirty="0" smtClean="0">
                <a:solidFill>
                  <a:schemeClr val="tx1"/>
                </a:solidFill>
                <a:latin typeface="Helvetica" pitchFamily="34" charset="0"/>
                <a:ea typeface="+mn-ea"/>
                <a:cs typeface="+mn-cs"/>
              </a:rPr>
              <a:t>Ensure tap sparkler is in place</a:t>
            </a:r>
          </a:p>
          <a:p>
            <a:pPr lvl="0"/>
            <a:r>
              <a:rPr lang="en-AU" sz="1200" u="none" kern="1200" dirty="0" smtClean="0">
                <a:solidFill>
                  <a:schemeClr val="tx1"/>
                </a:solidFill>
                <a:latin typeface="Helvetica" pitchFamily="34" charset="0"/>
                <a:ea typeface="+mn-ea"/>
                <a:cs typeface="+mn-cs"/>
              </a:rPr>
              <a:t>Ensure beer tap is being used correctly</a:t>
            </a:r>
          </a:p>
          <a:p>
            <a:pPr lvl="0"/>
            <a:r>
              <a:rPr lang="en-AU" sz="1200" u="none" kern="1200" dirty="0" smtClean="0">
                <a:solidFill>
                  <a:schemeClr val="tx1"/>
                </a:solidFill>
                <a:latin typeface="Helvetica" pitchFamily="34" charset="0"/>
                <a:ea typeface="+mn-ea"/>
                <a:cs typeface="+mn-cs"/>
              </a:rPr>
              <a:t>Ensure correct glass cleaning techniques are used.</a:t>
            </a:r>
          </a:p>
          <a:p>
            <a:pPr lvl="0"/>
            <a:endParaRPr lang="en-AU" sz="1200" u="none" kern="120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Beer fobbing in glass</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Ensure beer is poured at correct angle</a:t>
            </a:r>
          </a:p>
          <a:p>
            <a:pPr lvl="0"/>
            <a:r>
              <a:rPr lang="en-AU" sz="1200" u="none" kern="1200" dirty="0" smtClean="0">
                <a:solidFill>
                  <a:schemeClr val="tx1"/>
                </a:solidFill>
                <a:latin typeface="Helvetica" pitchFamily="34" charset="0"/>
                <a:ea typeface="+mn-ea"/>
                <a:cs typeface="+mn-cs"/>
              </a:rPr>
              <a:t>Ensure beer is at correct temperature.</a:t>
            </a:r>
            <a:endParaRPr lang="en-AU" sz="1200" u="none"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Strength of spirit</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At times the amount of spirit being dispensed may be more or less than what is required. Check the equipment.</a:t>
            </a:r>
          </a:p>
          <a:p>
            <a:r>
              <a:rPr lang="en-AU" sz="1200" b="1" u="none" kern="1200" dirty="0" smtClean="0">
                <a:solidFill>
                  <a:schemeClr val="tx1"/>
                </a:solidFill>
                <a:latin typeface="Helvetica" pitchFamily="34" charset="0"/>
                <a:ea typeface="+mn-ea"/>
                <a:cs typeface="+mn-cs"/>
              </a:rPr>
              <a:t>Strange taste</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The dispenser may have been used for another bottle of alcohol. It must be cleaned correctly.</a:t>
            </a:r>
          </a:p>
          <a:p>
            <a:r>
              <a:rPr lang="en-AU" sz="1200" b="1" u="none" kern="1200" dirty="0" smtClean="0">
                <a:solidFill>
                  <a:schemeClr val="tx1"/>
                </a:solidFill>
                <a:latin typeface="Helvetica" pitchFamily="34" charset="0"/>
                <a:ea typeface="+mn-ea"/>
                <a:cs typeface="+mn-cs"/>
              </a:rPr>
              <a:t>Beverage taste soapy</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It is important to ensure that it is cleaned properly.</a:t>
            </a:r>
            <a:endParaRPr lang="en-AU" sz="1200" u="none"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Cloudy or scaly wine</a:t>
            </a:r>
            <a:endParaRPr lang="en-AU" sz="1200" u="none" kern="1200" dirty="0" smtClean="0">
              <a:solidFill>
                <a:schemeClr val="tx1"/>
              </a:solidFill>
              <a:latin typeface="Helvetica" pitchFamily="34" charset="0"/>
              <a:ea typeface="+mn-ea"/>
              <a:cs typeface="+mn-cs"/>
            </a:endParaRPr>
          </a:p>
          <a:p>
            <a:pPr lvl="0"/>
            <a:r>
              <a:rPr lang="en-AU" sz="1200" kern="1200" dirty="0" smtClean="0">
                <a:solidFill>
                  <a:schemeClr val="tx1"/>
                </a:solidFill>
                <a:latin typeface="Helvetica" pitchFamily="34" charset="0"/>
                <a:ea typeface="+mn-ea"/>
                <a:cs typeface="+mn-cs"/>
              </a:rPr>
              <a:t>Cloudy or scaly wine is always a symptom of a dirty system and poor maintenance. Incorrect machine use may also contribute to this condition.</a:t>
            </a:r>
          </a:p>
          <a:p>
            <a:endParaRPr lang="en-AU" sz="1200" b="1" u="none" kern="120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Wine smell or taste bad</a:t>
            </a:r>
            <a:endParaRPr lang="en-AU" sz="1200" u="none" kern="1200" dirty="0" smtClean="0">
              <a:solidFill>
                <a:schemeClr val="tx1"/>
              </a:solidFill>
              <a:latin typeface="Helvetica" pitchFamily="34" charset="0"/>
              <a:ea typeface="+mn-ea"/>
              <a:cs typeface="+mn-cs"/>
            </a:endParaRPr>
          </a:p>
          <a:p>
            <a:pPr lvl="0"/>
            <a:r>
              <a:rPr lang="en-AU" sz="1200" kern="1200" dirty="0" smtClean="0">
                <a:solidFill>
                  <a:schemeClr val="tx1"/>
                </a:solidFill>
                <a:latin typeface="Helvetica" pitchFamily="34" charset="0"/>
                <a:ea typeface="+mn-ea"/>
                <a:cs typeface="+mn-cs"/>
              </a:rPr>
              <a:t>New units may cause some wines to have a slightly different taste or smell. This is normal and will diminish very rapidly. It should disappear completely within 1-3 days.</a:t>
            </a:r>
          </a:p>
          <a:p>
            <a:endParaRPr lang="en-AU" sz="1200" b="1" kern="1200" dirty="0" smtClean="0">
              <a:solidFill>
                <a:schemeClr val="tx1"/>
              </a:solidFill>
              <a:latin typeface="Helvetica" pitchFamily="34" charset="0"/>
              <a:ea typeface="+mn-ea"/>
              <a:cs typeface="+mn-cs"/>
            </a:endParaRPr>
          </a:p>
          <a:p>
            <a:r>
              <a:rPr lang="en-AU" sz="1200" b="1" kern="1200" dirty="0" smtClean="0">
                <a:solidFill>
                  <a:schemeClr val="tx1"/>
                </a:solidFill>
                <a:latin typeface="Helvetica" pitchFamily="34" charset="0"/>
                <a:ea typeface="+mn-ea"/>
                <a:cs typeface="+mn-cs"/>
              </a:rPr>
              <a:t>Wine is going off quickly</a:t>
            </a:r>
            <a:endParaRPr lang="en-AU" sz="1200" kern="1200" dirty="0" smtClean="0">
              <a:solidFill>
                <a:schemeClr val="tx1"/>
              </a:solidFill>
              <a:latin typeface="Helvetica" pitchFamily="34" charset="0"/>
              <a:ea typeface="+mn-ea"/>
              <a:cs typeface="+mn-cs"/>
            </a:endParaRPr>
          </a:p>
          <a:p>
            <a:pPr lvl="0"/>
            <a:r>
              <a:rPr lang="en-AU" sz="1200" kern="1200" dirty="0" smtClean="0">
                <a:solidFill>
                  <a:schemeClr val="tx1"/>
                </a:solidFill>
                <a:latin typeface="Helvetica" pitchFamily="34" charset="0"/>
                <a:ea typeface="+mn-ea"/>
                <a:cs typeface="+mn-cs"/>
              </a:rPr>
              <a:t>Wines are expected to last approximately one to three weeks. Therefore it if the problem occurs before this time it will vary based on a number of factors being temperature, wine age and wine type, and cleanliness of the machine.</a:t>
            </a:r>
            <a:endParaRPr lang="en-AU"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Product is flat</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Check CO2 levels to ensure carbonation is taking place.</a:t>
            </a:r>
          </a:p>
          <a:p>
            <a:pPr lvl="0"/>
            <a:endParaRPr lang="en-AU" sz="1200" u="none" kern="120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Product is warm</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Check refrigeration system.</a:t>
            </a:r>
          </a:p>
          <a:p>
            <a:pPr lvl="0"/>
            <a:endParaRPr lang="en-AU" sz="1200" u="none" kern="120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Product is flavourless</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Ensure they syrup box contains syrup</a:t>
            </a:r>
          </a:p>
          <a:p>
            <a:pPr lvl="0"/>
            <a:r>
              <a:rPr lang="en-AU" sz="1200" u="none" kern="1200" dirty="0" smtClean="0">
                <a:solidFill>
                  <a:schemeClr val="tx1"/>
                </a:solidFill>
                <a:latin typeface="Helvetica" pitchFamily="34" charset="0"/>
                <a:ea typeface="+mn-ea"/>
                <a:cs typeface="+mn-cs"/>
              </a:rPr>
              <a:t>Ensure syrup is going through lines</a:t>
            </a:r>
          </a:p>
          <a:p>
            <a:pPr lvl="0"/>
            <a:r>
              <a:rPr lang="en-AU" sz="1200" u="none" kern="1200" dirty="0" smtClean="0">
                <a:solidFill>
                  <a:schemeClr val="tx1"/>
                </a:solidFill>
                <a:latin typeface="Helvetica" pitchFamily="34" charset="0"/>
                <a:ea typeface="+mn-ea"/>
                <a:cs typeface="+mn-cs"/>
              </a:rPr>
              <a:t>Ensure line connections are sealed</a:t>
            </a:r>
          </a:p>
          <a:p>
            <a:pPr lvl="0"/>
            <a:r>
              <a:rPr lang="en-AU" sz="1200" u="none" kern="1200" dirty="0" smtClean="0">
                <a:solidFill>
                  <a:schemeClr val="tx1"/>
                </a:solidFill>
                <a:latin typeface="Helvetica" pitchFamily="34" charset="0"/>
                <a:ea typeface="+mn-ea"/>
                <a:cs typeface="+mn-cs"/>
              </a:rPr>
              <a:t>Ensure line is connected to syrup box.</a:t>
            </a:r>
          </a:p>
          <a:p>
            <a:pPr lvl="0"/>
            <a:endParaRPr lang="en-AU" sz="1200" u="none" kern="1200" dirty="0" smtClean="0">
              <a:solidFill>
                <a:schemeClr val="tx1"/>
              </a:solidFill>
              <a:latin typeface="Helvetica" pitchFamily="34" charset="0"/>
              <a:ea typeface="+mn-ea"/>
              <a:cs typeface="+mn-cs"/>
            </a:endParaRPr>
          </a:p>
          <a:p>
            <a:r>
              <a:rPr lang="en-AU" sz="1200" b="1" u="none" kern="1200" dirty="0" smtClean="0">
                <a:solidFill>
                  <a:schemeClr val="tx1"/>
                </a:solidFill>
                <a:latin typeface="Helvetica" pitchFamily="34" charset="0"/>
                <a:ea typeface="+mn-ea"/>
                <a:cs typeface="+mn-cs"/>
              </a:rPr>
              <a:t>Wrong product is being dispensed</a:t>
            </a:r>
            <a:endParaRPr lang="en-AU" sz="1200" u="none" kern="1200" dirty="0" smtClean="0">
              <a:solidFill>
                <a:schemeClr val="tx1"/>
              </a:solidFill>
              <a:latin typeface="Helvetica" pitchFamily="34" charset="0"/>
              <a:ea typeface="+mn-ea"/>
              <a:cs typeface="+mn-cs"/>
            </a:endParaRPr>
          </a:p>
          <a:p>
            <a:pPr lvl="0"/>
            <a:r>
              <a:rPr lang="en-AU" sz="1200" u="none" kern="1200" dirty="0" smtClean="0">
                <a:solidFill>
                  <a:schemeClr val="tx1"/>
                </a:solidFill>
                <a:latin typeface="Helvetica" pitchFamily="34" charset="0"/>
                <a:ea typeface="+mn-ea"/>
                <a:cs typeface="+mn-cs"/>
              </a:rPr>
              <a:t>Ensure lines are connected to correct syrup box.</a:t>
            </a:r>
            <a:endParaRPr lang="en-AU" sz="1200" u="none"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ensure glasses are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are these systems used?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can this be achieved?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benefits.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benefits.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keg key systems work?</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bin card systems work?</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operations of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benefits.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health regulations must be followed?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What safety regulations must be followed?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How do you maintain a clean and tidy cellar?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Why is cellar temperature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Helvetica" pitchFamily="34" charset="0"/>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6/19/2013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6/19/2013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6/19/2013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6/19/2013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6/19/2013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6/19/2013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6/19/2013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6/19/2013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6/19/2013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6/19/2013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6/19/2013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6/19/2013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ccs.infospace.com/ClickHandler.ashx?du=http://soda-dispensers.com/Merchant5/graphics/00000001/WunderBarHose.jpg&amp;ru=http://soda-dispensers.com/Merchant5/graphics/00000001/WunderBarHose.jpg&amp;ld=20130607&amp;ap=4&amp;app=1&amp;c=babylon3&amp;s=babylon3&amp;coi=772&amp;cop=main-title&amp;euip=196.215.121.199&amp;npp=4&amp;p=0&amp;pp=0&amp;pvaid=77446654b8a0467b8a8af6e656de86ec&amp;ep=4&amp;mid=9&amp;hash=7BD0FE1AE1D2D48A0632BBDC945DE062"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hyperlink" Target="http://ccs.infospace.com/ClickHandler.ashx?du=http://selahpastime.com/wp-content/uploads/2011/04/beeer-taps-bar.jpg&amp;ru=http://selahpastime.com/wp-content/uploads/2011/04/beeer-taps-bar.jpg&amp;ld=20130607&amp;ap=4&amp;app=1&amp;c=babylon3&amp;s=babylon3&amp;coi=772&amp;cop=main-title&amp;euip=196.215.121.199&amp;npp=4&amp;p=0&amp;pp=0&amp;pvaid=44ef00a6ccf242038b418bb6ef5ec578&amp;ep=4&amp;mid=9&amp;hash=E067BA48CE45D1A4E2995C65C034FF3C"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ccs.infospace.com/ClickHandler.ashx?du=http://www.bracton.com/wp-content/uploads/2012/12/WunderBar_Manifold.jpg&amp;ru=http://www.bracton.com/wp-content/uploads/2012/12/WunderBar_Manifold.jpg&amp;ld=20130607&amp;ap=14&amp;app=1&amp;c=babylon3&amp;s=babylon3&amp;coi=772&amp;cop=main-title&amp;euip=196.215.121.199&amp;npp=14&amp;p=0&amp;pp=0&amp;pvaid=7a1b6bd3de8c40869c935cfd3536c154&amp;ep=14&amp;mid=9&amp;hash=39DEE4398A21FD2760F8D78F819AEECC"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ccs.infospace.com/ClickHandler.ashx?du=http://www.beerandsausage.com/img/beer_taps.jpg&amp;ru=http://www.beerandsausage.com/img/beer_taps.jpg&amp;ld=20130607&amp;ap=20&amp;app=1&amp;c=babylon3&amp;s=babylon3&amp;coi=772&amp;cop=main-title&amp;euip=196.215.121.199&amp;npp=20&amp;p=0&amp;pp=0&amp;pvaid=86136625339d4f2681fc0168f2b4478f&amp;ep=20&amp;mid=9&amp;hash=39E335D72F84B7E775C9F0411E5C340E"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4.xml.rels><?xml version="1.0" encoding="UTF-8" standalone="yes"?>
<Relationships xmlns="http://schemas.openxmlformats.org/package/2006/relationships"><Relationship Id="rId3" Type="http://schemas.openxmlformats.org/officeDocument/2006/relationships/hyperlink" Target="http://ccs.infospace.com/ClickHandler.ashx?du=http://www.acemart.com/graphics/00000001/products/TRUTDD3.jpg&amp;ru=http://www.acemart.com/graphics/00000001/products/TRUTDD3.jpg&amp;ld=20130607&amp;ap=15&amp;app=1&amp;c=babylon3&amp;s=babylon3&amp;coi=772&amp;cop=main-title&amp;euip=196.215.121.199&amp;npp=15&amp;p=0&amp;pp=0&amp;pvaid=e2ae508c3a434f0996f0054faad83055&amp;ep=15&amp;mid=9&amp;hash=0541085E0DD402D5B0B2DC74D6B56C71"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908720"/>
            <a:ext cx="6480048" cy="936104"/>
          </a:xfrm>
        </p:spPr>
        <p:txBody>
          <a:bodyPr>
            <a:normAutofit fontScale="90000"/>
          </a:bodyPr>
          <a:lstStyle/>
          <a:p>
            <a:r>
              <a:rPr lang="en-AU" sz="4000" dirty="0" smtClean="0">
                <a:ln w="5000" cmpd="sng">
                  <a:noFill/>
                  <a:prstDash val="solid"/>
                </a:ln>
                <a:solidFill>
                  <a:srgbClr val="FF6600"/>
                </a:solidFill>
              </a:rPr>
              <a:t>OPERATE A CELLAR SYSTEM</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92080" y="1852234"/>
            <a:ext cx="3117332" cy="648072"/>
          </a:xfrm>
        </p:spPr>
        <p:txBody>
          <a:bodyPr>
            <a:noAutofit/>
          </a:bodyPr>
          <a:lstStyle/>
          <a:p>
            <a:r>
              <a:rPr lang="en-AU" b="1" dirty="0" smtClean="0"/>
              <a:t>D1.HBS.CL5.05</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5" name="Picture 2" descr="C:\Documents and Settings\Godaishu\Desktop\744190_beerkegs.jpg"/>
          <p:cNvPicPr>
            <a:picLocks noChangeAspect="1" noChangeArrowheads="1"/>
          </p:cNvPicPr>
          <p:nvPr/>
        </p:nvPicPr>
        <p:blipFill>
          <a:blip r:embed="rId3" cstate="print"/>
          <a:srcRect/>
          <a:stretch>
            <a:fillRect/>
          </a:stretch>
        </p:blipFill>
        <p:spPr bwMode="auto">
          <a:xfrm>
            <a:off x="3707904" y="2420888"/>
            <a:ext cx="2143125" cy="2857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C:\Documents and Settings\Godaishu\Desktop\862432_bottles_in_the_wine_cellar.jpg"/>
          <p:cNvPicPr>
            <a:picLocks noChangeAspect="1" noChangeArrowheads="1"/>
          </p:cNvPicPr>
          <p:nvPr/>
        </p:nvPicPr>
        <p:blipFill>
          <a:blip r:embed="rId4" cstate="print"/>
          <a:srcRect/>
          <a:stretch>
            <a:fillRect/>
          </a:stretch>
        </p:blipFill>
        <p:spPr bwMode="auto">
          <a:xfrm>
            <a:off x="5796136" y="3068960"/>
            <a:ext cx="2641476" cy="19811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descr="C:\Documents and Settings\Godaishu\Desktop\images-stories-pagepics-digishot101-250x250.jpg"/>
          <p:cNvPicPr>
            <a:picLocks noChangeAspect="1" noChangeArrowheads="1"/>
          </p:cNvPicPr>
          <p:nvPr/>
        </p:nvPicPr>
        <p:blipFill>
          <a:blip r:embed="rId5" cstate="print"/>
          <a:srcRect/>
          <a:stretch>
            <a:fillRect/>
          </a:stretch>
        </p:blipFill>
        <p:spPr bwMode="auto">
          <a:xfrm>
            <a:off x="611560" y="4005064"/>
            <a:ext cx="3175000" cy="180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Ash_Street_Cellar_gallery__600x400-600x400.jpg"/>
          <p:cNvPicPr/>
          <p:nvPr/>
        </p:nvPicPr>
        <p:blipFill>
          <a:blip r:embed="rId6" cstate="print">
            <a:lum contrast="10000"/>
          </a:blip>
          <a:srcRect l="13044" r="37924" b="37008"/>
          <a:stretch>
            <a:fillRect/>
          </a:stretch>
        </p:blipFill>
        <p:spPr>
          <a:xfrm flipH="1">
            <a:off x="1475656" y="2060848"/>
            <a:ext cx="2363620" cy="20422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endParaRPr lang="en-AU" sz="2200" dirty="0" smtClean="0"/>
          </a:p>
          <a:p>
            <a:pPr>
              <a:spcBef>
                <a:spcPts val="600"/>
              </a:spcBef>
              <a:spcAft>
                <a:spcPts val="1200"/>
              </a:spcAft>
            </a:pPr>
            <a:r>
              <a:rPr lang="en-AU" sz="2200" dirty="0" smtClean="0"/>
              <a:t>Operate and maintain bulk dispensing systems</a:t>
            </a:r>
          </a:p>
          <a:p>
            <a:pPr>
              <a:spcBef>
                <a:spcPts val="600"/>
              </a:spcBef>
              <a:spcAft>
                <a:spcPts val="1200"/>
              </a:spcAft>
            </a:pPr>
            <a:r>
              <a:rPr lang="en-AU" sz="2200" dirty="0" smtClean="0"/>
              <a:t>Operate and maintain beer reticulation systems</a:t>
            </a:r>
          </a:p>
          <a:p>
            <a:pPr>
              <a:spcBef>
                <a:spcPts val="600"/>
              </a:spcBef>
              <a:spcAft>
                <a:spcPts val="1200"/>
              </a:spcAft>
            </a:pPr>
            <a:r>
              <a:rPr lang="en-AU" sz="2200" dirty="0" smtClean="0"/>
              <a:t>Use and maintain refrigeration systems</a:t>
            </a:r>
          </a:p>
          <a:p>
            <a:pPr>
              <a:spcBef>
                <a:spcPts val="600"/>
              </a:spcBef>
              <a:spcAft>
                <a:spcPts val="1200"/>
              </a:spcAft>
            </a:pPr>
            <a:r>
              <a:rPr lang="en-AU" sz="2200" dirty="0" smtClean="0"/>
              <a:t>Monitor quality of cellar products </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786578" y="3000372"/>
            <a:ext cx="1614258" cy="161425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86752" y="2143116"/>
            <a:ext cx="2345699" cy="156156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rPr>
              <a:t>Operate and maintain bulk dispensing systems</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Gopher-Kegs-50L-Beer-Keg-For-Rent-Close-Up-Pic2.jpg"/>
          <p:cNvPicPr>
            <a:picLocks noChangeAspect="1"/>
          </p:cNvPicPr>
          <p:nvPr/>
        </p:nvPicPr>
        <p:blipFill>
          <a:blip r:embed="rId3" cstate="print"/>
          <a:stretch>
            <a:fillRect/>
          </a:stretch>
        </p:blipFill>
        <p:spPr>
          <a:xfrm>
            <a:off x="2843808" y="3789040"/>
            <a:ext cx="2765292" cy="2073969"/>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Operate and maintain bulk dispensing systems</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t>Operate bulk dispensing systems in accordance with manufacturer's instructions and safety requirements </a:t>
            </a:r>
          </a:p>
          <a:p>
            <a:pPr>
              <a:spcBef>
                <a:spcPts val="600"/>
              </a:spcBef>
              <a:spcAft>
                <a:spcPts val="1200"/>
              </a:spcAft>
            </a:pPr>
            <a:r>
              <a:rPr lang="en-AU" sz="2200" dirty="0" smtClean="0"/>
              <a:t>Monitor temperature, carbonation and pump pressure</a:t>
            </a:r>
          </a:p>
          <a:p>
            <a:pPr>
              <a:spcBef>
                <a:spcPts val="600"/>
              </a:spcBef>
              <a:spcAft>
                <a:spcPts val="1200"/>
              </a:spcAft>
            </a:pPr>
            <a:r>
              <a:rPr lang="en-AU" sz="2200" dirty="0" smtClean="0"/>
              <a:t>Clean connectors, extractors and heads hygienically</a:t>
            </a:r>
          </a:p>
          <a:p>
            <a:pPr>
              <a:spcBef>
                <a:spcPts val="600"/>
              </a:spcBef>
              <a:spcAft>
                <a:spcPts val="1200"/>
              </a:spcAft>
            </a:pPr>
            <a:r>
              <a:rPr lang="en-AU" sz="2200" dirty="0" smtClean="0"/>
              <a:t>Set up nitrogen and integrated systems safely in accordance with manufacturer's specifications</a:t>
            </a:r>
          </a:p>
          <a:p>
            <a:pPr>
              <a:spcBef>
                <a:spcPts val="600"/>
              </a:spcBef>
              <a:spcAft>
                <a:spcPts val="1200"/>
              </a:spcAft>
            </a:pPr>
            <a:r>
              <a:rPr lang="en-AU" sz="2200" dirty="0" smtClean="0"/>
              <a:t>Identify faulty products and product delivery problems promptly and implement corrective action</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2050"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7643834" y="2420888"/>
            <a:ext cx="341597" cy="451048"/>
          </a:xfrm>
          <a:prstGeom prst="rect">
            <a:avLst/>
          </a:prstGeom>
          <a:noFill/>
        </p:spPr>
      </p:pic>
      <p:pic>
        <p:nvPicPr>
          <p:cNvPr id="7"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7802303" y="3000372"/>
            <a:ext cx="341597" cy="451048"/>
          </a:xfrm>
          <a:prstGeom prst="rect">
            <a:avLst/>
          </a:prstGeom>
          <a:noFill/>
        </p:spPr>
      </p:pic>
      <p:pic>
        <p:nvPicPr>
          <p:cNvPr id="8"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7659427" y="3573016"/>
            <a:ext cx="341597" cy="451048"/>
          </a:xfrm>
          <a:prstGeom prst="rect">
            <a:avLst/>
          </a:prstGeom>
          <a:noFill/>
        </p:spPr>
      </p:pic>
      <p:pic>
        <p:nvPicPr>
          <p:cNvPr id="9"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873609" y="4509120"/>
            <a:ext cx="341597" cy="451048"/>
          </a:xfrm>
          <a:prstGeom prst="rect">
            <a:avLst/>
          </a:prstGeom>
          <a:noFill/>
        </p:spPr>
      </p:pic>
      <p:pic>
        <p:nvPicPr>
          <p:cNvPr id="10"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228184" y="5445224"/>
            <a:ext cx="341597" cy="451048"/>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Purpose of bar operation</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t>It is essential that any bar operation is able to prepare and serve beverages:</a:t>
            </a:r>
            <a:endParaRPr lang="en-AU" sz="2200" b="1" dirty="0" smtClean="0"/>
          </a:p>
          <a:p>
            <a:pPr lvl="0">
              <a:spcBef>
                <a:spcPts val="600"/>
              </a:spcBef>
              <a:spcAft>
                <a:spcPts val="1200"/>
              </a:spcAft>
            </a:pPr>
            <a:r>
              <a:rPr lang="en-AU" sz="2200" dirty="0" smtClean="0"/>
              <a:t>In a desired state </a:t>
            </a:r>
            <a:endParaRPr lang="en-AU" sz="2200" b="1" dirty="0" smtClean="0"/>
          </a:p>
          <a:p>
            <a:pPr lvl="0">
              <a:spcBef>
                <a:spcPts val="600"/>
              </a:spcBef>
              <a:spcAft>
                <a:spcPts val="1200"/>
              </a:spcAft>
            </a:pPr>
            <a:r>
              <a:rPr lang="en-AU" sz="2200" dirty="0" smtClean="0"/>
              <a:t>Consistently</a:t>
            </a:r>
            <a:endParaRPr lang="en-AU" sz="2200" b="1" dirty="0" smtClean="0"/>
          </a:p>
          <a:p>
            <a:pPr lvl="0">
              <a:spcBef>
                <a:spcPts val="600"/>
              </a:spcBef>
              <a:spcAft>
                <a:spcPts val="1200"/>
              </a:spcAft>
            </a:pPr>
            <a:r>
              <a:rPr lang="en-AU" sz="2200" dirty="0" smtClean="0"/>
              <a:t>In a timely manner</a:t>
            </a:r>
            <a:endParaRPr lang="en-AU" sz="2200" b="1" dirty="0" smtClean="0"/>
          </a:p>
          <a:p>
            <a:pPr lvl="0">
              <a:spcBef>
                <a:spcPts val="600"/>
              </a:spcBef>
              <a:spcAft>
                <a:spcPts val="1200"/>
              </a:spcAft>
            </a:pPr>
            <a:r>
              <a:rPr lang="en-AU" sz="2200" dirty="0" smtClean="0"/>
              <a:t>To maximise profits</a:t>
            </a:r>
            <a:endParaRPr lang="en-AU" sz="2200"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MP900443861.JPG"/>
          <p:cNvPicPr>
            <a:picLocks noChangeAspect="1"/>
          </p:cNvPicPr>
          <p:nvPr/>
        </p:nvPicPr>
        <p:blipFill>
          <a:blip r:embed="rId3" cstate="print"/>
          <a:stretch>
            <a:fillRect/>
          </a:stretch>
        </p:blipFill>
        <p:spPr>
          <a:xfrm>
            <a:off x="5508104" y="2276872"/>
            <a:ext cx="1615828" cy="2420888"/>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The cellar area</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Cellar area</a:t>
            </a:r>
          </a:p>
          <a:p>
            <a:pPr marL="0">
              <a:spcBef>
                <a:spcPts val="600"/>
              </a:spcBef>
              <a:spcAft>
                <a:spcPts val="1200"/>
              </a:spcAft>
              <a:buNone/>
            </a:pPr>
            <a:r>
              <a:rPr lang="en-AU" sz="2200" dirty="0" smtClean="0"/>
              <a:t>This is the main area designed to store alcohol that is to be served in a bar operation.</a:t>
            </a:r>
          </a:p>
          <a:p>
            <a:pPr>
              <a:spcBef>
                <a:spcPts val="600"/>
              </a:spcBef>
              <a:spcAft>
                <a:spcPts val="1200"/>
              </a:spcAft>
            </a:pPr>
            <a:r>
              <a:rPr lang="en-AU" sz="2200" dirty="0" smtClean="0"/>
              <a:t>What equipment and items are found in a cellar?</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thCAJDYDVP.jpg"/>
          <p:cNvPicPr>
            <a:picLocks noChangeAspect="1"/>
          </p:cNvPicPr>
          <p:nvPr/>
        </p:nvPicPr>
        <p:blipFill>
          <a:blip r:embed="rId3" cstate="print"/>
          <a:stretch>
            <a:fillRect/>
          </a:stretch>
        </p:blipFill>
        <p:spPr>
          <a:xfrm>
            <a:off x="3563888" y="4077072"/>
            <a:ext cx="1826890" cy="189806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The cellar area</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Items found in cellar area</a:t>
            </a:r>
          </a:p>
          <a:p>
            <a:pPr lvl="0">
              <a:spcBef>
                <a:spcPts val="600"/>
              </a:spcBef>
              <a:spcAft>
                <a:spcPts val="1200"/>
              </a:spcAft>
            </a:pPr>
            <a:r>
              <a:rPr lang="en-AU" sz="2200" dirty="0" smtClean="0"/>
              <a:t>Wine casks, bottles and bulk boxes</a:t>
            </a:r>
          </a:p>
          <a:p>
            <a:pPr lvl="0">
              <a:spcBef>
                <a:spcPts val="600"/>
              </a:spcBef>
              <a:spcAft>
                <a:spcPts val="1200"/>
              </a:spcAft>
            </a:pPr>
            <a:r>
              <a:rPr lang="en-AU" sz="2200" dirty="0" smtClean="0"/>
              <a:t>Beer kegs, bottles, cans and cartons</a:t>
            </a:r>
          </a:p>
          <a:p>
            <a:pPr lvl="0">
              <a:spcBef>
                <a:spcPts val="600"/>
              </a:spcBef>
              <a:spcAft>
                <a:spcPts val="1200"/>
              </a:spcAft>
            </a:pPr>
            <a:r>
              <a:rPr lang="en-AU" sz="2200" dirty="0" smtClean="0"/>
              <a:t>Spirit bottles and bulk containers </a:t>
            </a:r>
          </a:p>
          <a:p>
            <a:pPr lvl="0">
              <a:spcBef>
                <a:spcPts val="600"/>
              </a:spcBef>
              <a:spcAft>
                <a:spcPts val="1200"/>
              </a:spcAft>
            </a:pPr>
            <a:r>
              <a:rPr lang="en-AU" sz="2200" dirty="0" smtClean="0"/>
              <a:t>Soft drink bottles, cans and bulk boxes</a:t>
            </a:r>
          </a:p>
          <a:p>
            <a:pPr lvl="0">
              <a:spcBef>
                <a:spcPts val="600"/>
              </a:spcBef>
              <a:spcAft>
                <a:spcPts val="1200"/>
              </a:spcAft>
            </a:pPr>
            <a:r>
              <a:rPr lang="en-AU" sz="2200" dirty="0" smtClean="0"/>
              <a:t>Juices</a:t>
            </a:r>
          </a:p>
          <a:p>
            <a:pPr lvl="0">
              <a:spcBef>
                <a:spcPts val="600"/>
              </a:spcBef>
              <a:spcAft>
                <a:spcPts val="1200"/>
              </a:spcAft>
            </a:pPr>
            <a:r>
              <a:rPr lang="en-AU" sz="2200" dirty="0" smtClean="0"/>
              <a:t>Milk</a:t>
            </a:r>
          </a:p>
          <a:p>
            <a:pPr lvl="0">
              <a:spcBef>
                <a:spcPts val="600"/>
              </a:spcBef>
              <a:spcAft>
                <a:spcPts val="1200"/>
              </a:spcAft>
            </a:pPr>
            <a:r>
              <a:rPr lang="en-AU" sz="2200" dirty="0" smtClean="0"/>
              <a:t>Snacks</a:t>
            </a:r>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146" name="Picture 2" descr="C:\Documents and Settings\Godaishu\Desktop\921428_vino.jpg"/>
          <p:cNvPicPr>
            <a:picLocks noChangeAspect="1" noChangeArrowheads="1"/>
          </p:cNvPicPr>
          <p:nvPr/>
        </p:nvPicPr>
        <p:blipFill>
          <a:blip r:embed="rId3" cstate="print"/>
          <a:srcRect/>
          <a:stretch>
            <a:fillRect/>
          </a:stretch>
        </p:blipFill>
        <p:spPr bwMode="auto">
          <a:xfrm>
            <a:off x="6372200" y="2132856"/>
            <a:ext cx="1595940" cy="213742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Bulk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Importance of bulk dispensing systems</a:t>
            </a:r>
          </a:p>
          <a:p>
            <a:pPr>
              <a:spcBef>
                <a:spcPts val="600"/>
              </a:spcBef>
              <a:spcAft>
                <a:spcPts val="1200"/>
              </a:spcAft>
            </a:pPr>
            <a:r>
              <a:rPr lang="en-AU" sz="2200" dirty="0" smtClean="0"/>
              <a:t>One of the main components of a cellar operation is the use of bulk dispensing systems</a:t>
            </a:r>
          </a:p>
          <a:p>
            <a:pPr>
              <a:spcBef>
                <a:spcPts val="600"/>
              </a:spcBef>
              <a:spcAft>
                <a:spcPts val="1200"/>
              </a:spcAft>
            </a:pPr>
            <a:r>
              <a:rPr lang="en-AU" sz="2200" dirty="0" smtClean="0"/>
              <a:t>In order to be able to serve large volumes of beverages in an appropriate time, most establishments will use bulk dispensing systems</a:t>
            </a:r>
            <a:endParaRPr lang="en-AU" sz="2200" b="1" dirty="0" smtClean="0"/>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4098" name="Picture 2" descr="http://ts3.mm.bing.net/th?id=H.4884989439246810&amp;pid=15.1">
            <a:hlinkClick r:id="rId3"/>
          </p:cNvPr>
          <p:cNvPicPr>
            <a:picLocks noChangeAspect="1" noChangeArrowheads="1"/>
          </p:cNvPicPr>
          <p:nvPr/>
        </p:nvPicPr>
        <p:blipFill>
          <a:blip r:embed="rId4" cstate="print">
            <a:duotone>
              <a:prstClr val="black"/>
              <a:srgbClr val="D9C3A5">
                <a:tint val="50000"/>
                <a:satMod val="180000"/>
              </a:srgbClr>
            </a:duotone>
          </a:blip>
          <a:srcRect/>
          <a:stretch>
            <a:fillRect/>
          </a:stretch>
        </p:blipFill>
        <p:spPr bwMode="auto">
          <a:xfrm>
            <a:off x="3923928" y="4509120"/>
            <a:ext cx="1576241" cy="1507282"/>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Bulk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Benefits of bulk dispensing systems</a:t>
            </a:r>
          </a:p>
          <a:p>
            <a:pPr lvl="0">
              <a:spcBef>
                <a:spcPts val="600"/>
              </a:spcBef>
              <a:spcAft>
                <a:spcPts val="1200"/>
              </a:spcAft>
            </a:pPr>
            <a:r>
              <a:rPr lang="en-AU" sz="2200" dirty="0" smtClean="0"/>
              <a:t>Provides accurate and consistent drink portion sizes </a:t>
            </a:r>
          </a:p>
          <a:p>
            <a:pPr lvl="0">
              <a:spcBef>
                <a:spcPts val="600"/>
              </a:spcBef>
              <a:spcAft>
                <a:spcPts val="1200"/>
              </a:spcAft>
            </a:pPr>
            <a:r>
              <a:rPr lang="en-AU" sz="2200" dirty="0" smtClean="0"/>
              <a:t>Improves speed of beverage dispensing</a:t>
            </a:r>
          </a:p>
          <a:p>
            <a:pPr lvl="0">
              <a:spcBef>
                <a:spcPts val="600"/>
              </a:spcBef>
              <a:spcAft>
                <a:spcPts val="1200"/>
              </a:spcAft>
            </a:pPr>
            <a:r>
              <a:rPr lang="en-AU" sz="2200" dirty="0" smtClean="0"/>
              <a:t>Increases volume of sales</a:t>
            </a:r>
          </a:p>
          <a:p>
            <a:pPr lvl="0">
              <a:spcBef>
                <a:spcPts val="600"/>
              </a:spcBef>
              <a:spcAft>
                <a:spcPts val="1200"/>
              </a:spcAft>
            </a:pPr>
            <a:r>
              <a:rPr lang="en-AU" sz="2200" dirty="0" smtClean="0"/>
              <a:t>Improves efficiency for staff</a:t>
            </a:r>
          </a:p>
          <a:p>
            <a:pPr lvl="0">
              <a:spcBef>
                <a:spcPts val="600"/>
              </a:spcBef>
              <a:spcAft>
                <a:spcPts val="1200"/>
              </a:spcAft>
            </a:pPr>
            <a:r>
              <a:rPr lang="en-AU" sz="2200" dirty="0" smtClean="0"/>
              <a:t>Reduces waiting time for customers</a:t>
            </a:r>
          </a:p>
          <a:p>
            <a:pPr lvl="0">
              <a:spcBef>
                <a:spcPts val="600"/>
              </a:spcBef>
              <a:spcAft>
                <a:spcPts val="1200"/>
              </a:spcAft>
            </a:pPr>
            <a:r>
              <a:rPr lang="en-AU" sz="2200" dirty="0" smtClean="0"/>
              <a:t>Provides a clear record of drinks poured by station, shift and staff member</a:t>
            </a:r>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http://ts3.mm.bing.net/th?id=H.4983129452249770&amp;pid=15.1&amp;H=92&amp;W=160">
            <a:hlinkClick r:id="rId3"/>
          </p:cNvPr>
          <p:cNvPicPr/>
          <p:nvPr/>
        </p:nvPicPr>
        <p:blipFill>
          <a:blip r:embed="rId4" cstate="print"/>
          <a:srcRect/>
          <a:stretch>
            <a:fillRect/>
          </a:stretch>
        </p:blipFill>
        <p:spPr bwMode="auto">
          <a:xfrm>
            <a:off x="6592186" y="3357562"/>
            <a:ext cx="1664054" cy="11430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Bulk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Types of bulk dispensing systems </a:t>
            </a:r>
            <a:endParaRPr lang="en-AU" sz="2200" dirty="0" smtClean="0"/>
          </a:p>
          <a:p>
            <a:pPr>
              <a:spcBef>
                <a:spcPts val="600"/>
              </a:spcBef>
              <a:spcAft>
                <a:spcPts val="1200"/>
              </a:spcAft>
              <a:buNone/>
            </a:pPr>
            <a:r>
              <a:rPr lang="en-AU" sz="2200" dirty="0" smtClean="0"/>
              <a:t>These may include:</a:t>
            </a:r>
          </a:p>
          <a:p>
            <a:pPr lvl="0">
              <a:spcBef>
                <a:spcPts val="600"/>
              </a:spcBef>
              <a:spcAft>
                <a:spcPts val="1200"/>
              </a:spcAft>
            </a:pPr>
            <a:r>
              <a:rPr lang="en-AU" sz="2200" dirty="0" smtClean="0"/>
              <a:t>Beer</a:t>
            </a:r>
          </a:p>
          <a:p>
            <a:pPr lvl="0">
              <a:spcBef>
                <a:spcPts val="600"/>
              </a:spcBef>
              <a:spcAft>
                <a:spcPts val="1200"/>
              </a:spcAft>
            </a:pPr>
            <a:r>
              <a:rPr lang="en-AU" sz="2200" dirty="0" smtClean="0"/>
              <a:t>Spirits</a:t>
            </a:r>
          </a:p>
          <a:p>
            <a:pPr lvl="0">
              <a:spcBef>
                <a:spcPts val="600"/>
              </a:spcBef>
              <a:spcAft>
                <a:spcPts val="1200"/>
              </a:spcAft>
            </a:pPr>
            <a:r>
              <a:rPr lang="en-AU" sz="2200" dirty="0" smtClean="0"/>
              <a:t>Wine</a:t>
            </a:r>
          </a:p>
          <a:p>
            <a:pPr lvl="0">
              <a:spcBef>
                <a:spcPts val="600"/>
              </a:spcBef>
              <a:spcAft>
                <a:spcPts val="1200"/>
              </a:spcAft>
            </a:pPr>
            <a:r>
              <a:rPr lang="en-AU" sz="2200" dirty="0" smtClean="0"/>
              <a:t>Post-mix syrups</a:t>
            </a:r>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http://ts3.mm.bing.net/th?id=H.4972817224108266&amp;pid=15.1&amp;H=160&amp;W=160"/>
          <p:cNvPicPr/>
          <p:nvPr/>
        </p:nvPicPr>
        <p:blipFill>
          <a:blip r:embed="rId3" cstate="print"/>
          <a:srcRect/>
          <a:stretch>
            <a:fillRect/>
          </a:stretch>
        </p:blipFill>
        <p:spPr bwMode="auto">
          <a:xfrm>
            <a:off x="5508104" y="3212976"/>
            <a:ext cx="1596008" cy="13799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Beer system</a:t>
            </a:r>
            <a:endParaRPr lang="en-AU" sz="2200" dirty="0" smtClean="0"/>
          </a:p>
          <a:p>
            <a:pPr>
              <a:spcBef>
                <a:spcPts val="600"/>
              </a:spcBef>
              <a:spcAft>
                <a:spcPts val="1200"/>
              </a:spcAft>
            </a:pPr>
            <a:r>
              <a:rPr lang="en-AU" sz="2200" dirty="0" smtClean="0"/>
              <a:t>Keg beer is the most common bulk beer dispensing system</a:t>
            </a:r>
          </a:p>
          <a:p>
            <a:pPr>
              <a:spcBef>
                <a:spcPts val="600"/>
              </a:spcBef>
              <a:spcAft>
                <a:spcPts val="1200"/>
              </a:spcAft>
            </a:pPr>
            <a:r>
              <a:rPr lang="en-AU" sz="2200" dirty="0" smtClean="0"/>
              <a:t>Keg beer is a term for beer which is served from a pressurised keg</a:t>
            </a:r>
            <a:endParaRPr lang="en-AU" sz="2400" dirty="0" smtClean="0"/>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http://ts4.mm.bing.net/th?id=H.4738050039808987&amp;pid=15.1&amp;H=160&amp;W=105"/>
          <p:cNvPicPr/>
          <p:nvPr/>
        </p:nvPicPr>
        <p:blipFill>
          <a:blip r:embed="rId3" cstate="print"/>
          <a:srcRect/>
          <a:stretch>
            <a:fillRect/>
          </a:stretch>
        </p:blipFill>
        <p:spPr bwMode="auto">
          <a:xfrm>
            <a:off x="6588224" y="3789040"/>
            <a:ext cx="860103" cy="12961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Spirit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Spirits system</a:t>
            </a:r>
            <a:endParaRPr lang="en-AU" sz="2200" dirty="0" smtClean="0"/>
          </a:p>
          <a:p>
            <a:pPr marL="0">
              <a:spcBef>
                <a:spcPts val="600"/>
              </a:spcBef>
              <a:spcAft>
                <a:spcPts val="1200"/>
              </a:spcAft>
              <a:buNone/>
            </a:pPr>
            <a:r>
              <a:rPr lang="en-AU" sz="2200" dirty="0" smtClean="0"/>
              <a:t>Electronic dispensing units (EDU) are becoming popular as it not only makes the pouring of spirits more consistent and accurate, but an easier process.</a:t>
            </a:r>
          </a:p>
          <a:p>
            <a:pPr>
              <a:spcBef>
                <a:spcPts val="600"/>
              </a:spcBef>
              <a:spcAft>
                <a:spcPts val="1200"/>
              </a:spcAft>
            </a:pPr>
            <a:r>
              <a:rPr lang="en-AU" sz="2200" dirty="0" smtClean="0"/>
              <a:t>Bottle dispensing units</a:t>
            </a:r>
          </a:p>
          <a:p>
            <a:pPr>
              <a:spcBef>
                <a:spcPts val="600"/>
              </a:spcBef>
              <a:spcAft>
                <a:spcPts val="1200"/>
              </a:spcAft>
            </a:pPr>
            <a:r>
              <a:rPr lang="en-AU" sz="2200" dirty="0" smtClean="0"/>
              <a:t>Bulk dispensing units</a:t>
            </a:r>
          </a:p>
          <a:p>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http://ts4.mm.bing.net/th?id=H.4765447629636387&amp;pid=15.1&amp;H=160&amp;W=96"/>
          <p:cNvPicPr/>
          <p:nvPr/>
        </p:nvPicPr>
        <p:blipFill>
          <a:blip r:embed="rId3" cstate="print"/>
          <a:srcRect/>
          <a:stretch>
            <a:fillRect/>
          </a:stretch>
        </p:blipFill>
        <p:spPr bwMode="auto">
          <a:xfrm>
            <a:off x="6732240" y="3140968"/>
            <a:ext cx="1058416" cy="14519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Spirit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Benefits of dispensing units</a:t>
            </a:r>
            <a:endParaRPr lang="en-AU" sz="2200" dirty="0" smtClean="0"/>
          </a:p>
          <a:p>
            <a:pPr marL="0">
              <a:spcBef>
                <a:spcPts val="600"/>
              </a:spcBef>
              <a:spcAft>
                <a:spcPts val="1200"/>
              </a:spcAft>
              <a:buNone/>
            </a:pPr>
            <a:r>
              <a:rPr lang="en-AU" sz="2200" dirty="0" smtClean="0"/>
              <a:t>There are many benefits of using electronic spirit dispensing systems including:</a:t>
            </a:r>
          </a:p>
          <a:p>
            <a:pPr lvl="0">
              <a:spcBef>
                <a:spcPts val="600"/>
              </a:spcBef>
              <a:spcAft>
                <a:spcPts val="1200"/>
              </a:spcAft>
            </a:pPr>
            <a:r>
              <a:rPr lang="en-AU" sz="2200" dirty="0" smtClean="0"/>
              <a:t>Simple bottle loading and replacement </a:t>
            </a:r>
          </a:p>
          <a:p>
            <a:pPr lvl="0">
              <a:spcBef>
                <a:spcPts val="600"/>
              </a:spcBef>
              <a:spcAft>
                <a:spcPts val="1200"/>
              </a:spcAft>
            </a:pPr>
            <a:r>
              <a:rPr lang="en-AU" sz="2200" dirty="0" smtClean="0"/>
              <a:t>Reduced wastage of spirits</a:t>
            </a:r>
          </a:p>
          <a:p>
            <a:pPr lvl="0">
              <a:spcBef>
                <a:spcPts val="600"/>
              </a:spcBef>
              <a:spcAft>
                <a:spcPts val="1200"/>
              </a:spcAft>
            </a:pPr>
            <a:r>
              <a:rPr lang="en-AU" sz="2200" dirty="0" smtClean="0"/>
              <a:t>Easy assembly of minimal parts for quick                      washing and maintenance</a:t>
            </a:r>
          </a:p>
          <a:p>
            <a:pPr lvl="0">
              <a:spcBef>
                <a:spcPts val="600"/>
              </a:spcBef>
              <a:spcAft>
                <a:spcPts val="1200"/>
              </a:spcAft>
            </a:pPr>
            <a:r>
              <a:rPr lang="en-AU" sz="2200" dirty="0" smtClean="0"/>
              <a:t>Factory-set displacement valve and clear                         viewing bowl ensure accurate measures every time</a:t>
            </a:r>
          </a:p>
          <a:p>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http://ts2.mm.bing.net/th?id=H.4653653966391033&amp;pid=15.1&amp;H=160&amp;W=160"/>
          <p:cNvPicPr/>
          <p:nvPr/>
        </p:nvPicPr>
        <p:blipFill>
          <a:blip r:embed="rId3" cstate="print"/>
          <a:srcRect/>
          <a:stretch>
            <a:fillRect/>
          </a:stretch>
        </p:blipFill>
        <p:spPr bwMode="auto">
          <a:xfrm>
            <a:off x="7092280" y="3212976"/>
            <a:ext cx="1152128" cy="11521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Spirit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Benefits of dispensing units</a:t>
            </a:r>
            <a:endParaRPr lang="en-AU" sz="2200" dirty="0" smtClean="0"/>
          </a:p>
          <a:p>
            <a:pPr lvl="0">
              <a:spcBef>
                <a:spcPts val="600"/>
              </a:spcBef>
              <a:spcAft>
                <a:spcPts val="1200"/>
              </a:spcAft>
            </a:pPr>
            <a:r>
              <a:rPr lang="en-AU" sz="2200" dirty="0" smtClean="0"/>
              <a:t>Dispensing indicator lights guarantee a fool-proof system</a:t>
            </a:r>
          </a:p>
          <a:p>
            <a:pPr lvl="0">
              <a:spcBef>
                <a:spcPts val="600"/>
              </a:spcBef>
              <a:spcAft>
                <a:spcPts val="1200"/>
              </a:spcAft>
            </a:pPr>
            <a:r>
              <a:rPr lang="en-AU" sz="2200" dirty="0" smtClean="0"/>
              <a:t>Digital counters record every shot dispensed </a:t>
            </a:r>
            <a:br>
              <a:rPr lang="en-AU" sz="2200" dirty="0" smtClean="0"/>
            </a:br>
            <a:r>
              <a:rPr lang="en-AU" sz="2200" dirty="0" smtClean="0"/>
              <a:t>for accurate assessment checks</a:t>
            </a:r>
          </a:p>
          <a:p>
            <a:pPr lvl="0">
              <a:spcBef>
                <a:spcPts val="600"/>
              </a:spcBef>
              <a:spcAft>
                <a:spcPts val="1200"/>
              </a:spcAft>
            </a:pPr>
            <a:r>
              <a:rPr lang="en-AU" sz="2200" dirty="0" smtClean="0"/>
              <a:t>Low impact, single-touch button makes pouring </a:t>
            </a:r>
            <a:br>
              <a:rPr lang="en-AU" sz="2200" dirty="0" smtClean="0"/>
            </a:br>
            <a:r>
              <a:rPr lang="en-AU" sz="2200" dirty="0" smtClean="0"/>
              <a:t>simple </a:t>
            </a:r>
          </a:p>
          <a:p>
            <a:pPr lvl="0">
              <a:spcBef>
                <a:spcPts val="600"/>
              </a:spcBef>
              <a:spcAft>
                <a:spcPts val="1200"/>
              </a:spcAft>
            </a:pPr>
            <a:r>
              <a:rPr lang="en-AU" sz="2200" dirty="0" smtClean="0"/>
              <a:t>Reliable power supply unit with lockable keys for maximum security</a:t>
            </a:r>
          </a:p>
          <a:p>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http://ts2.explicit.bing.net/th?id=H.5003182631225325&amp;pid=15.1&amp;H=119&amp;W=160"/>
          <p:cNvPicPr/>
          <p:nvPr/>
        </p:nvPicPr>
        <p:blipFill>
          <a:blip r:embed="rId3" cstate="print"/>
          <a:srcRect/>
          <a:stretch>
            <a:fillRect/>
          </a:stretch>
        </p:blipFill>
        <p:spPr bwMode="auto">
          <a:xfrm>
            <a:off x="7164288" y="3140968"/>
            <a:ext cx="1524000" cy="113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Wine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GB" sz="2200" b="1" dirty="0" smtClean="0"/>
              <a:t>Increased trend of bulk wine dispensing systems </a:t>
            </a:r>
          </a:p>
          <a:p>
            <a:pPr marL="0">
              <a:spcBef>
                <a:spcPts val="600"/>
              </a:spcBef>
              <a:spcAft>
                <a:spcPts val="1200"/>
              </a:spcAft>
              <a:buNone/>
            </a:pPr>
            <a:r>
              <a:rPr lang="en-GB" sz="2200" dirty="0" smtClean="0"/>
              <a:t>Bulk wine dispensing systems have become a great revenue earner for many beverage establishments.</a:t>
            </a:r>
            <a:endParaRPr lang="en-AU" sz="2200" dirty="0" smtClean="0"/>
          </a:p>
          <a:p>
            <a:pPr>
              <a:spcBef>
                <a:spcPts val="600"/>
              </a:spcBef>
              <a:spcAft>
                <a:spcPts val="1200"/>
              </a:spcAft>
            </a:pPr>
            <a:r>
              <a:rPr lang="en-AU" sz="2200" dirty="0" smtClean="0"/>
              <a:t>What equipment is used in these systems?</a:t>
            </a:r>
          </a:p>
          <a:p>
            <a:pPr>
              <a:spcBef>
                <a:spcPts val="600"/>
              </a:spcBef>
              <a:spcAft>
                <a:spcPts val="1200"/>
              </a:spcAft>
            </a:pPr>
            <a:r>
              <a:rPr lang="en-AU" sz="2200" dirty="0" smtClean="0"/>
              <a:t>How are they beneficial?</a:t>
            </a:r>
          </a:p>
          <a:p>
            <a:pPr>
              <a:spcBef>
                <a:spcPts val="600"/>
              </a:spcBef>
              <a:spcAft>
                <a:spcPts val="1200"/>
              </a:spcAft>
            </a:pPr>
            <a:r>
              <a:rPr lang="en-AU" sz="2200" dirty="0" smtClean="0"/>
              <a:t>How do they differ from bottled wine?</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Commercial_Wine_Dispensing_Systems__Wholesale.gif"/>
          <p:cNvPicPr/>
          <p:nvPr/>
        </p:nvPicPr>
        <p:blipFill>
          <a:blip r:embed="rId3" cstate="print"/>
          <a:srcRect l="47848"/>
          <a:stretch>
            <a:fillRect/>
          </a:stretch>
        </p:blipFill>
        <p:spPr>
          <a:xfrm>
            <a:off x="6876256" y="3140968"/>
            <a:ext cx="1380356" cy="173925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Soda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Post-mix system </a:t>
            </a:r>
            <a:endParaRPr lang="en-AU" sz="2200" dirty="0" smtClean="0"/>
          </a:p>
          <a:p>
            <a:pPr marL="0">
              <a:spcBef>
                <a:spcPts val="600"/>
              </a:spcBef>
              <a:spcAft>
                <a:spcPts val="1200"/>
              </a:spcAft>
              <a:buNone/>
            </a:pPr>
            <a:r>
              <a:rPr lang="en-AU" sz="2200" dirty="0" smtClean="0"/>
              <a:t>A post mix system is the collective of equipment used to serve high volumes of carbonated beverages.</a:t>
            </a:r>
          </a:p>
          <a:p>
            <a:pPr>
              <a:spcBef>
                <a:spcPts val="600"/>
              </a:spcBef>
              <a:spcAft>
                <a:spcPts val="1200"/>
              </a:spcAft>
            </a:pPr>
            <a:r>
              <a:rPr lang="en-AU" sz="2200" dirty="0" smtClean="0"/>
              <a:t>What equipment is associated with these systems?</a:t>
            </a:r>
            <a:endParaRPr lang="en-US" sz="2200" dirty="0" smtClean="0"/>
          </a:p>
          <a:p>
            <a:pPr>
              <a:spcBef>
                <a:spcPts val="600"/>
              </a:spcBef>
              <a:spcAft>
                <a:spcPts val="1200"/>
              </a:spcAft>
            </a:pPr>
            <a:r>
              <a:rPr lang="en-AU" sz="2200" dirty="0" smtClean="0"/>
              <a:t>What beverages are served using a post-mix system?</a:t>
            </a:r>
          </a:p>
          <a:p>
            <a:pPr>
              <a:spcBef>
                <a:spcPts val="600"/>
              </a:spcBef>
              <a:spcAft>
                <a:spcPts val="1200"/>
              </a:spcAft>
            </a:pPr>
            <a:r>
              <a:rPr lang="en-AU" sz="2200" dirty="0" smtClean="0"/>
              <a:t>What is the difference between ‘pre-mix’ and ‘post-mix’ systems?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http://ts4.mm.bing.net/th?id=H.4861521754915167&amp;pid=15.1&amp;H=159&amp;W=160"/>
          <p:cNvPicPr/>
          <p:nvPr/>
        </p:nvPicPr>
        <p:blipFill>
          <a:blip r:embed="rId3" cstate="print"/>
          <a:srcRect/>
          <a:stretch>
            <a:fillRect/>
          </a:stretch>
        </p:blipFill>
        <p:spPr bwMode="auto">
          <a:xfrm>
            <a:off x="3779912" y="4869160"/>
            <a:ext cx="1524000" cy="1514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Cellar equipment</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600"/>
              </a:spcAft>
              <a:buNone/>
            </a:pPr>
            <a:r>
              <a:rPr lang="en-AU" sz="2200" b="1" dirty="0" smtClean="0"/>
              <a:t>Other components of a cellar</a:t>
            </a:r>
            <a:endParaRPr lang="en-AU" sz="2200" dirty="0" smtClean="0"/>
          </a:p>
          <a:p>
            <a:pPr lvl="0">
              <a:spcBef>
                <a:spcPts val="600"/>
              </a:spcBef>
              <a:spcAft>
                <a:spcPts val="600"/>
              </a:spcAft>
            </a:pPr>
            <a:r>
              <a:rPr lang="en-AU" sz="2200" dirty="0" smtClean="0"/>
              <a:t>Cool room </a:t>
            </a:r>
          </a:p>
          <a:p>
            <a:pPr lvl="0">
              <a:spcBef>
                <a:spcPts val="600"/>
              </a:spcBef>
              <a:spcAft>
                <a:spcPts val="600"/>
              </a:spcAft>
            </a:pPr>
            <a:r>
              <a:rPr lang="en-AU" sz="2200" dirty="0" smtClean="0"/>
              <a:t>Transfer leads </a:t>
            </a:r>
          </a:p>
          <a:p>
            <a:pPr lvl="0">
              <a:spcBef>
                <a:spcPts val="600"/>
              </a:spcBef>
              <a:spcAft>
                <a:spcPts val="600"/>
              </a:spcAft>
            </a:pPr>
            <a:r>
              <a:rPr lang="en-AU" sz="2200" dirty="0" smtClean="0"/>
              <a:t>Couplers </a:t>
            </a:r>
          </a:p>
          <a:p>
            <a:pPr lvl="0">
              <a:spcBef>
                <a:spcPts val="600"/>
              </a:spcBef>
              <a:spcAft>
                <a:spcPts val="600"/>
              </a:spcAft>
            </a:pPr>
            <a:r>
              <a:rPr lang="en-AU" sz="2200" dirty="0" smtClean="0"/>
              <a:t>Connectors </a:t>
            </a:r>
          </a:p>
          <a:p>
            <a:pPr lvl="0">
              <a:spcBef>
                <a:spcPts val="600"/>
              </a:spcBef>
              <a:spcAft>
                <a:spcPts val="600"/>
              </a:spcAft>
            </a:pPr>
            <a:r>
              <a:rPr lang="en-AU" sz="2200" dirty="0" smtClean="0"/>
              <a:t>Gas regulators </a:t>
            </a:r>
          </a:p>
          <a:p>
            <a:pPr lvl="0">
              <a:spcBef>
                <a:spcPts val="600"/>
              </a:spcBef>
              <a:spcAft>
                <a:spcPts val="600"/>
              </a:spcAft>
            </a:pPr>
            <a:r>
              <a:rPr lang="en-AU" sz="2200" dirty="0" smtClean="0"/>
              <a:t>Chemicals, cleaning equipment and procedures </a:t>
            </a:r>
          </a:p>
          <a:p>
            <a:pPr lvl="0">
              <a:spcBef>
                <a:spcPts val="600"/>
              </a:spcBef>
              <a:spcAft>
                <a:spcPts val="600"/>
              </a:spcAft>
            </a:pPr>
            <a:r>
              <a:rPr lang="en-AU" sz="2200" dirty="0" smtClean="0"/>
              <a:t>Safety goggles and gloves </a:t>
            </a:r>
          </a:p>
          <a:p>
            <a:pPr lvl="0">
              <a:spcBef>
                <a:spcPts val="600"/>
              </a:spcBef>
              <a:spcAft>
                <a:spcPts val="600"/>
              </a:spcAft>
            </a:pPr>
            <a:r>
              <a:rPr lang="en-AU" sz="2200" dirty="0" smtClean="0"/>
              <a:t>Approved cleaning keg or dosing unit </a:t>
            </a:r>
          </a:p>
          <a:p>
            <a:pPr>
              <a:spcBef>
                <a:spcPts val="600"/>
              </a:spcBef>
              <a:spcAft>
                <a:spcPts val="600"/>
              </a:spcAft>
            </a:pPr>
            <a:r>
              <a:rPr lang="en-AU" sz="2200" dirty="0" smtClean="0"/>
              <a:t>Appropriate stock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http://ts3.mm.bing.net/th?id=H.4908461469206230&amp;pid=15.1&amp;H=133&amp;W=160"/>
          <p:cNvPicPr/>
          <p:nvPr/>
        </p:nvPicPr>
        <p:blipFill>
          <a:blip r:embed="rId3" cstate="print"/>
          <a:srcRect/>
          <a:stretch>
            <a:fillRect/>
          </a:stretch>
        </p:blipFill>
        <p:spPr bwMode="auto">
          <a:xfrm>
            <a:off x="6228184" y="2420888"/>
            <a:ext cx="1621160" cy="14318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Role of cellar attendant</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Bulk Beverage system</a:t>
            </a:r>
            <a:endParaRPr lang="en-AU" sz="2200" dirty="0" smtClean="0"/>
          </a:p>
          <a:p>
            <a:pPr lvl="0">
              <a:spcBef>
                <a:spcPts val="600"/>
              </a:spcBef>
              <a:spcAft>
                <a:spcPts val="1200"/>
              </a:spcAft>
            </a:pPr>
            <a:r>
              <a:rPr lang="en-AU" sz="2200" dirty="0" smtClean="0"/>
              <a:t>Cleaning and maintaining the </a:t>
            </a:r>
            <a:r>
              <a:rPr lang="en-AU" sz="2200" dirty="0" smtClean="0"/>
              <a:t>draft </a:t>
            </a:r>
            <a:r>
              <a:rPr lang="en-AU" sz="2200" dirty="0" smtClean="0"/>
              <a:t>beer system and keeping records up to date of equipment servicing</a:t>
            </a:r>
          </a:p>
          <a:p>
            <a:pPr lvl="0">
              <a:spcBef>
                <a:spcPts val="600"/>
              </a:spcBef>
              <a:spcAft>
                <a:spcPts val="1200"/>
              </a:spcAft>
            </a:pPr>
            <a:r>
              <a:rPr lang="en-AU" sz="2200" dirty="0" smtClean="0"/>
              <a:t>Monitoring the quality, temperature and service of beer in bars</a:t>
            </a:r>
          </a:p>
          <a:p>
            <a:pPr lvl="0">
              <a:spcBef>
                <a:spcPts val="600"/>
              </a:spcBef>
              <a:spcAft>
                <a:spcPts val="1200"/>
              </a:spcAft>
            </a:pPr>
            <a:r>
              <a:rPr lang="en-AU" sz="2200" dirty="0" smtClean="0"/>
              <a:t>Ability to find and correct faults in the                            </a:t>
            </a:r>
            <a:r>
              <a:rPr lang="en-AU" sz="2200" dirty="0" smtClean="0"/>
              <a:t>draft </a:t>
            </a:r>
            <a:r>
              <a:rPr lang="en-AU" sz="2200" dirty="0" smtClean="0"/>
              <a:t>beer system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IMG_2023.jpg"/>
          <p:cNvPicPr>
            <a:picLocks noChangeAspect="1"/>
          </p:cNvPicPr>
          <p:nvPr/>
        </p:nvPicPr>
        <p:blipFill>
          <a:blip r:embed="rId3" cstate="print"/>
          <a:stretch>
            <a:fillRect/>
          </a:stretch>
        </p:blipFill>
        <p:spPr>
          <a:xfrm>
            <a:off x="6588224" y="3789040"/>
            <a:ext cx="1383618" cy="184482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Role of cellar attendant</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Bulk Beverage system</a:t>
            </a:r>
            <a:endParaRPr lang="en-AU" sz="2200" dirty="0" smtClean="0"/>
          </a:p>
          <a:p>
            <a:pPr lvl="0">
              <a:spcBef>
                <a:spcPts val="600"/>
              </a:spcBef>
              <a:spcAft>
                <a:spcPts val="1200"/>
              </a:spcAft>
            </a:pPr>
            <a:r>
              <a:rPr lang="en-AU" sz="2200" dirty="0" smtClean="0"/>
              <a:t>Monitoring bulk post mix, wine and spirit systems</a:t>
            </a:r>
          </a:p>
          <a:p>
            <a:pPr lvl="0">
              <a:spcBef>
                <a:spcPts val="600"/>
              </a:spcBef>
              <a:spcAft>
                <a:spcPts val="1200"/>
              </a:spcAft>
            </a:pPr>
            <a:r>
              <a:rPr lang="en-AU" sz="2200" dirty="0" smtClean="0"/>
              <a:t>Observing current Standards for occupational health and safety including the safe use of gas and chemicals and the hygienic handling of alcohol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IMG_0081-1-307x230.jpg"/>
          <p:cNvPicPr>
            <a:picLocks noChangeAspect="1"/>
          </p:cNvPicPr>
          <p:nvPr/>
        </p:nvPicPr>
        <p:blipFill>
          <a:blip r:embed="rId3" cstate="print">
            <a:lum contrast="20000"/>
          </a:blip>
          <a:stretch>
            <a:fillRect/>
          </a:stretch>
        </p:blipFill>
        <p:spPr>
          <a:xfrm>
            <a:off x="3419872" y="4149080"/>
            <a:ext cx="2038778" cy="1527423"/>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Role of cellar attendant</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Stock control</a:t>
            </a:r>
            <a:endParaRPr lang="en-AU" sz="2200" dirty="0" smtClean="0"/>
          </a:p>
          <a:p>
            <a:pPr lvl="0">
              <a:spcBef>
                <a:spcPts val="600"/>
              </a:spcBef>
              <a:spcAft>
                <a:spcPts val="1200"/>
              </a:spcAft>
            </a:pPr>
            <a:r>
              <a:rPr lang="en-AU" sz="2200" dirty="0" smtClean="0"/>
              <a:t>Knowledge of all liquor groups and correct storage procedures for stock </a:t>
            </a:r>
          </a:p>
          <a:p>
            <a:pPr lvl="0">
              <a:spcBef>
                <a:spcPts val="600"/>
              </a:spcBef>
              <a:spcAft>
                <a:spcPts val="1200"/>
              </a:spcAft>
            </a:pPr>
            <a:r>
              <a:rPr lang="en-AU" sz="2200" dirty="0" smtClean="0"/>
              <a:t>Ordering stock from suppliers </a:t>
            </a:r>
          </a:p>
          <a:p>
            <a:pPr lvl="0">
              <a:spcBef>
                <a:spcPts val="600"/>
              </a:spcBef>
              <a:spcAft>
                <a:spcPts val="1200"/>
              </a:spcAft>
            </a:pPr>
            <a:r>
              <a:rPr lang="en-AU" sz="2200" dirty="0" smtClean="0"/>
              <a:t>Supplying stock to bars</a:t>
            </a:r>
          </a:p>
          <a:p>
            <a:pPr lvl="0">
              <a:spcBef>
                <a:spcPts val="600"/>
              </a:spcBef>
              <a:spcAft>
                <a:spcPts val="1200"/>
              </a:spcAft>
            </a:pPr>
            <a:r>
              <a:rPr lang="en-AU" sz="2200" dirty="0" smtClean="0"/>
              <a:t>Receiving, checking and storing deliveries, checking invoices and delivery notes and dealing with any discrepancies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undercounter3dr3.jpg"/>
          <p:cNvPicPr>
            <a:picLocks noChangeAspect="1"/>
          </p:cNvPicPr>
          <p:nvPr/>
        </p:nvPicPr>
        <p:blipFill>
          <a:blip r:embed="rId3" cstate="print"/>
          <a:stretch>
            <a:fillRect/>
          </a:stretch>
        </p:blipFill>
        <p:spPr>
          <a:xfrm>
            <a:off x="6588224" y="2708920"/>
            <a:ext cx="1714510" cy="129616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Role of cellar attendant</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Stock control</a:t>
            </a:r>
            <a:endParaRPr lang="en-AU" sz="2200" dirty="0" smtClean="0"/>
          </a:p>
          <a:p>
            <a:pPr lvl="0">
              <a:spcBef>
                <a:spcPts val="600"/>
              </a:spcBef>
              <a:spcAft>
                <a:spcPts val="1200"/>
              </a:spcAft>
            </a:pPr>
            <a:r>
              <a:rPr lang="en-AU" sz="2200" dirty="0" smtClean="0"/>
              <a:t>Maintaining the cellar records of all stock coming in and going out</a:t>
            </a:r>
          </a:p>
          <a:p>
            <a:pPr lvl="0">
              <a:spcBef>
                <a:spcPts val="600"/>
              </a:spcBef>
              <a:spcAft>
                <a:spcPts val="1200"/>
              </a:spcAft>
            </a:pPr>
            <a:r>
              <a:rPr lang="en-AU" sz="2200" dirty="0" smtClean="0"/>
              <a:t>Conducting regular stock takes</a:t>
            </a:r>
          </a:p>
          <a:p>
            <a:pPr lvl="0">
              <a:spcBef>
                <a:spcPts val="600"/>
              </a:spcBef>
              <a:spcAft>
                <a:spcPts val="1200"/>
              </a:spcAft>
            </a:pPr>
            <a:r>
              <a:rPr lang="en-AU" sz="2200" dirty="0" smtClean="0"/>
              <a:t>Keeping all cellar and storage areas </a:t>
            </a:r>
            <a:br>
              <a:rPr lang="en-AU" sz="2200" dirty="0" smtClean="0"/>
            </a:br>
            <a:r>
              <a:rPr lang="en-AU" sz="2200" dirty="0" smtClean="0"/>
              <a:t>locked and controlling access to the keys</a:t>
            </a:r>
          </a:p>
          <a:p>
            <a:pPr lvl="0">
              <a:spcBef>
                <a:spcPts val="600"/>
              </a:spcBef>
              <a:spcAft>
                <a:spcPts val="1200"/>
              </a:spcAft>
            </a:pPr>
            <a:r>
              <a:rPr lang="en-AU" sz="2200" dirty="0" smtClean="0"/>
              <a:t>Rotating and storing stock correctly to avoid deterioration or spoilage</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wine-cellar.jpg"/>
          <p:cNvPicPr>
            <a:picLocks noChangeAspect="1"/>
          </p:cNvPicPr>
          <p:nvPr/>
        </p:nvPicPr>
        <p:blipFill>
          <a:blip r:embed="rId3" cstate="print"/>
          <a:stretch>
            <a:fillRect/>
          </a:stretch>
        </p:blipFill>
        <p:spPr>
          <a:xfrm>
            <a:off x="6588224" y="3140968"/>
            <a:ext cx="1716782" cy="1144521"/>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Cellar attendant safety</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Safety guidelines for the Cellar Attendant: </a:t>
            </a:r>
            <a:endParaRPr lang="en-AU" sz="2200" dirty="0" smtClean="0"/>
          </a:p>
          <a:p>
            <a:pPr lvl="0">
              <a:spcBef>
                <a:spcPts val="600"/>
              </a:spcBef>
              <a:spcAft>
                <a:spcPts val="1200"/>
              </a:spcAft>
            </a:pPr>
            <a:r>
              <a:rPr lang="en-AU" sz="2200" dirty="0" smtClean="0"/>
              <a:t>Wear safety boots</a:t>
            </a:r>
          </a:p>
          <a:p>
            <a:pPr lvl="0">
              <a:spcBef>
                <a:spcPts val="600"/>
              </a:spcBef>
              <a:spcAft>
                <a:spcPts val="1200"/>
              </a:spcAft>
            </a:pPr>
            <a:r>
              <a:rPr lang="en-AU" sz="2200" dirty="0" smtClean="0"/>
              <a:t>Wear Personal Protective Equipment when handling chemicals</a:t>
            </a:r>
          </a:p>
          <a:p>
            <a:pPr lvl="0">
              <a:spcBef>
                <a:spcPts val="600"/>
              </a:spcBef>
              <a:spcAft>
                <a:spcPts val="1200"/>
              </a:spcAft>
            </a:pPr>
            <a:r>
              <a:rPr lang="en-AU" sz="2200" dirty="0" smtClean="0"/>
              <a:t>Beware of CO</a:t>
            </a:r>
            <a:r>
              <a:rPr lang="en-AU" sz="2200" baseline="-25000" dirty="0" smtClean="0"/>
              <a:t>2</a:t>
            </a:r>
            <a:r>
              <a:rPr lang="en-AU" sz="2200" dirty="0" smtClean="0"/>
              <a:t> gas leaks</a:t>
            </a:r>
          </a:p>
          <a:p>
            <a:pPr lvl="0">
              <a:spcBef>
                <a:spcPts val="600"/>
              </a:spcBef>
              <a:spcAft>
                <a:spcPts val="1200"/>
              </a:spcAft>
            </a:pPr>
            <a:r>
              <a:rPr lang="en-AU" sz="2200" dirty="0" smtClean="0"/>
              <a:t>Beware of light fittings in wet conditions</a:t>
            </a:r>
          </a:p>
          <a:p>
            <a:pPr lvl="0">
              <a:spcBef>
                <a:spcPts val="600"/>
              </a:spcBef>
              <a:spcAft>
                <a:spcPts val="1200"/>
              </a:spcAft>
            </a:pPr>
            <a:r>
              <a:rPr lang="en-AU" sz="2200" dirty="0" smtClean="0"/>
              <a:t>Do not lift full kegs, use a trolley, or for short distances, roll keg along on bottom rim. Lift using your legs not your back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Cellar attendant safety</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Safety guidelines for the Cellar Attendant: </a:t>
            </a:r>
            <a:endParaRPr lang="en-AU" sz="2200" dirty="0" smtClean="0"/>
          </a:p>
          <a:p>
            <a:pPr lvl="0">
              <a:spcBef>
                <a:spcPts val="600"/>
              </a:spcBef>
              <a:spcAft>
                <a:spcPts val="1200"/>
              </a:spcAft>
            </a:pPr>
            <a:r>
              <a:rPr lang="en-AU" sz="2200" dirty="0" smtClean="0"/>
              <a:t>Keep the cellar clean, neat and tidy at all times</a:t>
            </a:r>
          </a:p>
          <a:p>
            <a:pPr lvl="0">
              <a:spcBef>
                <a:spcPts val="600"/>
              </a:spcBef>
              <a:spcAft>
                <a:spcPts val="1200"/>
              </a:spcAft>
            </a:pPr>
            <a:r>
              <a:rPr lang="en-AU" sz="2200" dirty="0" smtClean="0"/>
              <a:t>Keep cellar equipment in good repair and take faulty equipment out of service</a:t>
            </a:r>
          </a:p>
          <a:p>
            <a:pPr lvl="0">
              <a:spcBef>
                <a:spcPts val="600"/>
              </a:spcBef>
              <a:spcAft>
                <a:spcPts val="1200"/>
              </a:spcAft>
            </a:pPr>
            <a:r>
              <a:rPr lang="en-AU" sz="2200" dirty="0" smtClean="0"/>
              <a:t>Report unsafe equipment or conditions to management</a:t>
            </a:r>
          </a:p>
          <a:p>
            <a:pPr lvl="0">
              <a:spcBef>
                <a:spcPts val="600"/>
              </a:spcBef>
              <a:spcAft>
                <a:spcPts val="1200"/>
              </a:spcAft>
            </a:pPr>
            <a:r>
              <a:rPr lang="en-AU" sz="2200" dirty="0" smtClean="0"/>
              <a:t>Employ a service technician to repair equipment </a:t>
            </a:r>
          </a:p>
          <a:p>
            <a:pPr lvl="0">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beer-cellar.jpg"/>
          <p:cNvPicPr>
            <a:picLocks noChangeAspect="1"/>
          </p:cNvPicPr>
          <p:nvPr/>
        </p:nvPicPr>
        <p:blipFill>
          <a:blip r:embed="rId3" cstate="print"/>
          <a:stretch>
            <a:fillRect/>
          </a:stretch>
        </p:blipFill>
        <p:spPr>
          <a:xfrm>
            <a:off x="3563888" y="4797152"/>
            <a:ext cx="2326100" cy="1455688"/>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Operating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How to operate dispensing systems</a:t>
            </a:r>
          </a:p>
          <a:p>
            <a:pPr>
              <a:spcBef>
                <a:spcPts val="600"/>
              </a:spcBef>
              <a:spcAft>
                <a:spcPts val="1200"/>
              </a:spcAft>
              <a:buNone/>
            </a:pPr>
            <a:r>
              <a:rPr lang="en-AU" sz="2200" dirty="0" smtClean="0"/>
              <a:t>How do you operate and maintain:</a:t>
            </a:r>
          </a:p>
          <a:p>
            <a:pPr lvl="0">
              <a:spcBef>
                <a:spcPts val="600"/>
              </a:spcBef>
              <a:spcAft>
                <a:spcPts val="1200"/>
              </a:spcAft>
            </a:pPr>
            <a:r>
              <a:rPr lang="en-AU" sz="2200" dirty="0" smtClean="0"/>
              <a:t>Spirit dispensing systems</a:t>
            </a:r>
          </a:p>
          <a:p>
            <a:pPr lvl="0">
              <a:spcBef>
                <a:spcPts val="600"/>
              </a:spcBef>
              <a:spcAft>
                <a:spcPts val="1200"/>
              </a:spcAft>
            </a:pPr>
            <a:r>
              <a:rPr lang="en-AU" sz="2200" dirty="0" smtClean="0"/>
              <a:t>Wine dispensing systems</a:t>
            </a:r>
          </a:p>
          <a:p>
            <a:pPr lvl="0">
              <a:spcBef>
                <a:spcPts val="600"/>
              </a:spcBef>
              <a:spcAft>
                <a:spcPts val="1200"/>
              </a:spcAft>
            </a:pPr>
            <a:r>
              <a:rPr lang="en-AU" sz="2200" dirty="0" smtClean="0"/>
              <a:t>Post mix dispensing systems</a:t>
            </a:r>
          </a:p>
          <a:p>
            <a:pPr lvl="0">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http://ts2.mm.bing.net/th?id=H.4817021601448261&amp;pid=15.1&amp;H=152&amp;W=160"/>
          <p:cNvPicPr/>
          <p:nvPr/>
        </p:nvPicPr>
        <p:blipFill>
          <a:blip r:embed="rId3" cstate="print"/>
          <a:srcRect/>
          <a:stretch>
            <a:fillRect/>
          </a:stretch>
        </p:blipFill>
        <p:spPr bwMode="auto">
          <a:xfrm>
            <a:off x="6084168" y="2780928"/>
            <a:ext cx="1451992" cy="13757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Spirit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Operating spirit dispensing systems</a:t>
            </a:r>
          </a:p>
          <a:p>
            <a:pPr>
              <a:spcBef>
                <a:spcPts val="600"/>
              </a:spcBef>
              <a:spcAft>
                <a:spcPts val="1200"/>
              </a:spcAft>
              <a:buNone/>
            </a:pPr>
            <a:r>
              <a:rPr lang="en-AU" sz="2200" dirty="0" smtClean="0"/>
              <a:t>How do you use the following:</a:t>
            </a:r>
          </a:p>
          <a:p>
            <a:pPr>
              <a:spcBef>
                <a:spcPts val="600"/>
              </a:spcBef>
              <a:spcAft>
                <a:spcPts val="1200"/>
              </a:spcAft>
            </a:pPr>
            <a:r>
              <a:rPr lang="en-AU" sz="2200" dirty="0" smtClean="0"/>
              <a:t>Spirit bottle dispensing units</a:t>
            </a:r>
          </a:p>
          <a:p>
            <a:pPr>
              <a:spcBef>
                <a:spcPts val="600"/>
              </a:spcBef>
              <a:spcAft>
                <a:spcPts val="1200"/>
              </a:spcAft>
            </a:pPr>
            <a:r>
              <a:rPr lang="en-AU" sz="2200" dirty="0" smtClean="0"/>
              <a:t>Bulk spirit dispensing units</a:t>
            </a:r>
          </a:p>
          <a:p>
            <a:pPr>
              <a:spcBef>
                <a:spcPts val="600"/>
              </a:spcBef>
              <a:spcAft>
                <a:spcPts val="1200"/>
              </a:spcAft>
            </a:pPr>
            <a:r>
              <a:rPr lang="en-AU" sz="2200" dirty="0" smtClean="0"/>
              <a:t>Spirit guns</a:t>
            </a:r>
          </a:p>
          <a:p>
            <a:pPr lvl="0">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Bottle Spirit Dispenser"/>
          <p:cNvPicPr/>
          <p:nvPr/>
        </p:nvPicPr>
        <p:blipFill>
          <a:blip r:embed="rId3" cstate="print"/>
          <a:srcRect/>
          <a:stretch>
            <a:fillRect/>
          </a:stretch>
        </p:blipFill>
        <p:spPr bwMode="auto">
          <a:xfrm>
            <a:off x="5940152" y="2708920"/>
            <a:ext cx="2073012" cy="11696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Wine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Operating wine dispensing systems</a:t>
            </a:r>
          </a:p>
          <a:p>
            <a:pPr>
              <a:spcBef>
                <a:spcPts val="600"/>
              </a:spcBef>
              <a:spcAft>
                <a:spcPts val="1200"/>
              </a:spcAft>
              <a:buNone/>
            </a:pPr>
            <a:r>
              <a:rPr lang="en-AU" sz="2200" dirty="0" smtClean="0"/>
              <a:t>How do you use the following:</a:t>
            </a:r>
          </a:p>
          <a:p>
            <a:pPr>
              <a:spcBef>
                <a:spcPts val="600"/>
              </a:spcBef>
              <a:spcAft>
                <a:spcPts val="1200"/>
              </a:spcAft>
            </a:pPr>
            <a:r>
              <a:rPr lang="en-AU" sz="2200" dirty="0" smtClean="0"/>
              <a:t>Spirit wine bottle dispensing units</a:t>
            </a:r>
          </a:p>
          <a:p>
            <a:pPr>
              <a:spcBef>
                <a:spcPts val="600"/>
              </a:spcBef>
              <a:spcAft>
                <a:spcPts val="1200"/>
              </a:spcAft>
            </a:pPr>
            <a:r>
              <a:rPr lang="en-AU" sz="2200" dirty="0" smtClean="0"/>
              <a:t>Bulk wine dispensing units</a:t>
            </a:r>
          </a:p>
          <a:p>
            <a:pPr lvl="0">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Dispensers &amp; Preservation"/>
          <p:cNvPicPr/>
          <p:nvPr/>
        </p:nvPicPr>
        <p:blipFill>
          <a:blip r:embed="rId3" cstate="print"/>
          <a:srcRect/>
          <a:stretch>
            <a:fillRect/>
          </a:stretch>
        </p:blipFill>
        <p:spPr bwMode="auto">
          <a:xfrm>
            <a:off x="6732240" y="1484784"/>
            <a:ext cx="1043682" cy="1512565"/>
          </a:xfrm>
          <a:prstGeom prst="rect">
            <a:avLst/>
          </a:prstGeom>
          <a:noFill/>
          <a:ln w="9525">
            <a:noFill/>
            <a:miter lim="800000"/>
            <a:headEnd/>
            <a:tailEnd/>
          </a:ln>
        </p:spPr>
      </p:pic>
      <p:pic>
        <p:nvPicPr>
          <p:cNvPr id="8" name="image-slider1-image" descr="http://www.vintagecellars.com/images/vintage/products/big/634_big.jpg"/>
          <p:cNvPicPr/>
          <p:nvPr/>
        </p:nvPicPr>
        <p:blipFill>
          <a:blip r:embed="rId4" cstate="print"/>
          <a:srcRect/>
          <a:stretch>
            <a:fillRect/>
          </a:stretch>
        </p:blipFill>
        <p:spPr bwMode="auto">
          <a:xfrm>
            <a:off x="6228184" y="3140968"/>
            <a:ext cx="1978779" cy="13982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Post-mix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Main components of a post mix dispensing system</a:t>
            </a:r>
            <a:endParaRPr lang="en-AU" sz="2200" dirty="0" smtClean="0"/>
          </a:p>
          <a:p>
            <a:pPr>
              <a:spcBef>
                <a:spcPts val="600"/>
              </a:spcBef>
              <a:spcAft>
                <a:spcPts val="1200"/>
              </a:spcAft>
              <a:buNone/>
            </a:pPr>
            <a:r>
              <a:rPr lang="en-AU" sz="2200" dirty="0" smtClean="0"/>
              <a:t>The main components include:</a:t>
            </a:r>
          </a:p>
          <a:p>
            <a:pPr lvl="0">
              <a:spcBef>
                <a:spcPts val="600"/>
              </a:spcBef>
              <a:spcAft>
                <a:spcPts val="1200"/>
              </a:spcAft>
            </a:pPr>
            <a:r>
              <a:rPr lang="en-AU" sz="2200" dirty="0" smtClean="0"/>
              <a:t>Water </a:t>
            </a:r>
          </a:p>
          <a:p>
            <a:pPr lvl="0">
              <a:spcBef>
                <a:spcPts val="600"/>
              </a:spcBef>
              <a:spcAft>
                <a:spcPts val="1200"/>
              </a:spcAft>
            </a:pPr>
            <a:r>
              <a:rPr lang="en-AU" sz="2200" dirty="0" smtClean="0"/>
              <a:t>CO</a:t>
            </a:r>
            <a:r>
              <a:rPr lang="en-AU" sz="2200" baseline="-25000" dirty="0" smtClean="0"/>
              <a:t>2</a:t>
            </a:r>
            <a:r>
              <a:rPr lang="en-AU" sz="2200" dirty="0" smtClean="0"/>
              <a:t> </a:t>
            </a:r>
          </a:p>
          <a:p>
            <a:pPr lvl="0">
              <a:spcBef>
                <a:spcPts val="600"/>
              </a:spcBef>
              <a:spcAft>
                <a:spcPts val="1200"/>
              </a:spcAft>
            </a:pPr>
            <a:r>
              <a:rPr lang="en-AU" sz="2200" dirty="0" smtClean="0"/>
              <a:t>Carbonator</a:t>
            </a:r>
          </a:p>
          <a:p>
            <a:pPr>
              <a:spcBef>
                <a:spcPts val="600"/>
              </a:spcBef>
              <a:spcAft>
                <a:spcPts val="1200"/>
              </a:spcAft>
            </a:pPr>
            <a:r>
              <a:rPr lang="en-AU" sz="2200" dirty="0" smtClean="0"/>
              <a:t>Syrup </a:t>
            </a:r>
            <a:endParaRPr lang="en-US" sz="2200" dirty="0" smtClean="0"/>
          </a:p>
          <a:p>
            <a:pPr>
              <a:spcBef>
                <a:spcPts val="600"/>
              </a:spcBef>
              <a:spcAft>
                <a:spcPts val="1200"/>
              </a:spcAft>
            </a:pPr>
            <a:r>
              <a:rPr lang="en-AU" sz="2200" dirty="0" smtClean="0"/>
              <a:t>Dispenser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IMG_2022.jpg"/>
          <p:cNvPicPr/>
          <p:nvPr/>
        </p:nvPicPr>
        <p:blipFill>
          <a:blip r:embed="rId3" cstate="print">
            <a:lum contrast="20000"/>
          </a:blip>
          <a:stretch>
            <a:fillRect/>
          </a:stretch>
        </p:blipFill>
        <p:spPr>
          <a:xfrm>
            <a:off x="5580112" y="3068960"/>
            <a:ext cx="2246164" cy="164742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Post-mix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Types of systems</a:t>
            </a:r>
            <a:endParaRPr lang="en-AU" sz="2200" dirty="0" smtClean="0"/>
          </a:p>
          <a:p>
            <a:pPr>
              <a:spcBef>
                <a:spcPts val="600"/>
              </a:spcBef>
              <a:spcAft>
                <a:spcPts val="1200"/>
              </a:spcAft>
              <a:buNone/>
            </a:pPr>
            <a:r>
              <a:rPr lang="en-AU" sz="2200" dirty="0" smtClean="0"/>
              <a:t>There are three main systems. These include</a:t>
            </a:r>
            <a:r>
              <a:rPr lang="en-AU" sz="2200" b="1" dirty="0" smtClean="0"/>
              <a:t>:</a:t>
            </a:r>
            <a:endParaRPr lang="en-AU" sz="2200" dirty="0" smtClean="0"/>
          </a:p>
          <a:p>
            <a:pPr>
              <a:spcBef>
                <a:spcPts val="600"/>
              </a:spcBef>
              <a:spcAft>
                <a:spcPts val="1200"/>
              </a:spcAft>
            </a:pPr>
            <a:r>
              <a:rPr lang="en-AU" sz="2200" dirty="0" smtClean="0"/>
              <a:t>Countertop electric refrigeration</a:t>
            </a:r>
          </a:p>
          <a:p>
            <a:pPr>
              <a:spcBef>
                <a:spcPts val="600"/>
              </a:spcBef>
              <a:spcAft>
                <a:spcPts val="1200"/>
              </a:spcAft>
            </a:pPr>
            <a:r>
              <a:rPr lang="en-AU" sz="2200" dirty="0" smtClean="0"/>
              <a:t>Ice cooled system</a:t>
            </a:r>
          </a:p>
          <a:p>
            <a:pPr>
              <a:spcBef>
                <a:spcPts val="600"/>
              </a:spcBef>
              <a:spcAft>
                <a:spcPts val="1200"/>
              </a:spcAft>
            </a:pPr>
            <a:r>
              <a:rPr lang="en-AU" sz="2200" dirty="0" smtClean="0"/>
              <a:t>Remote Refrigeration Cooling</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5" name="Picture 4" descr="IMG_2024.jpg"/>
          <p:cNvPicPr/>
          <p:nvPr/>
        </p:nvPicPr>
        <p:blipFill>
          <a:blip r:embed="rId3" cstate="print">
            <a:lum contrast="20000"/>
          </a:blip>
          <a:stretch>
            <a:fillRect/>
          </a:stretch>
        </p:blipFill>
        <p:spPr>
          <a:xfrm>
            <a:off x="6948264" y="2924944"/>
            <a:ext cx="1097156" cy="153657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Post-mix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Using post mix systems</a:t>
            </a:r>
            <a:endParaRPr lang="en-AU" sz="2200" dirty="0" smtClean="0"/>
          </a:p>
          <a:p>
            <a:pPr>
              <a:spcBef>
                <a:spcPts val="600"/>
              </a:spcBef>
              <a:spcAft>
                <a:spcPts val="1200"/>
              </a:spcAft>
              <a:buNone/>
            </a:pPr>
            <a:r>
              <a:rPr lang="en-AU" sz="2200" dirty="0" smtClean="0"/>
              <a:t>How do you:</a:t>
            </a:r>
          </a:p>
          <a:p>
            <a:pPr>
              <a:spcBef>
                <a:spcPts val="600"/>
              </a:spcBef>
              <a:spcAft>
                <a:spcPts val="1200"/>
              </a:spcAft>
            </a:pPr>
            <a:r>
              <a:rPr lang="en-AU" sz="2200" dirty="0" smtClean="0"/>
              <a:t>Use a post mix system?</a:t>
            </a:r>
          </a:p>
          <a:p>
            <a:pPr>
              <a:spcBef>
                <a:spcPts val="600"/>
              </a:spcBef>
              <a:spcAft>
                <a:spcPts val="1200"/>
              </a:spcAft>
            </a:pPr>
            <a:r>
              <a:rPr lang="en-AU" sz="2200" dirty="0" smtClean="0"/>
              <a:t>Handle, store and change CO</a:t>
            </a:r>
            <a:r>
              <a:rPr lang="en-AU" sz="2200" baseline="-25000" dirty="0" smtClean="0"/>
              <a:t>2</a:t>
            </a:r>
            <a:r>
              <a:rPr lang="en-AU" sz="2200" dirty="0" smtClean="0"/>
              <a:t> cylinders?</a:t>
            </a:r>
          </a:p>
          <a:p>
            <a:pPr>
              <a:spcBef>
                <a:spcPts val="600"/>
              </a:spcBef>
              <a:spcAft>
                <a:spcPts val="1200"/>
              </a:spcAft>
            </a:pPr>
            <a:r>
              <a:rPr lang="en-AU" sz="2200" dirty="0" smtClean="0"/>
              <a:t>Handle and replace box syrup?</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5" descr="http://ts3.mm.bing.net/th?id=H.4999686542132770&amp;pid=15.1&amp;H=148&amp;W=160"/>
          <p:cNvPicPr/>
          <p:nvPr/>
        </p:nvPicPr>
        <p:blipFill>
          <a:blip r:embed="rId3" cstate="print"/>
          <a:srcRect/>
          <a:stretch>
            <a:fillRect/>
          </a:stretch>
        </p:blipFill>
        <p:spPr bwMode="auto">
          <a:xfrm>
            <a:off x="6660232" y="2636912"/>
            <a:ext cx="1554088" cy="17129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Post-mix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Cleaning post mix systems</a:t>
            </a:r>
            <a:endParaRPr lang="en-AU" sz="2200" dirty="0" smtClean="0"/>
          </a:p>
          <a:p>
            <a:pPr>
              <a:spcBef>
                <a:spcPts val="600"/>
              </a:spcBef>
              <a:spcAft>
                <a:spcPts val="1200"/>
              </a:spcAft>
              <a:buNone/>
            </a:pPr>
            <a:r>
              <a:rPr lang="en-AU" sz="2200" dirty="0" smtClean="0"/>
              <a:t>How do you:</a:t>
            </a:r>
          </a:p>
          <a:p>
            <a:pPr>
              <a:spcBef>
                <a:spcPts val="600"/>
              </a:spcBef>
              <a:spcAft>
                <a:spcPts val="1200"/>
              </a:spcAft>
            </a:pPr>
            <a:r>
              <a:rPr lang="en-AU" sz="2200" dirty="0" smtClean="0"/>
              <a:t>Clean a post mix system on a daily, weekly and monthly basis?</a:t>
            </a:r>
          </a:p>
          <a:p>
            <a:pPr>
              <a:spcBef>
                <a:spcPts val="600"/>
              </a:spcBef>
              <a:spcAft>
                <a:spcPts val="1200"/>
              </a:spcAft>
            </a:pPr>
            <a:r>
              <a:rPr lang="en-US" sz="2200" dirty="0" smtClean="0"/>
              <a:t>Clean soda dispensing lines?</a:t>
            </a:r>
            <a:endParaRPr lang="en-AU" sz="2200" dirty="0" smtClean="0"/>
          </a:p>
          <a:p>
            <a:pPr>
              <a:spcBef>
                <a:spcPts val="600"/>
              </a:spcBef>
              <a:spcAft>
                <a:spcPts val="1200"/>
              </a:spcAft>
            </a:pPr>
            <a:r>
              <a:rPr lang="en-US" sz="2200" dirty="0" smtClean="0"/>
              <a:t>Sanitise soda machines?</a:t>
            </a:r>
          </a:p>
          <a:p>
            <a:pPr>
              <a:spcBef>
                <a:spcPts val="600"/>
              </a:spcBef>
              <a:spcAft>
                <a:spcPts val="1200"/>
              </a:spcAft>
            </a:pPr>
            <a:r>
              <a:rPr lang="en-AU" sz="2200" dirty="0" smtClean="0"/>
              <a:t>Clean soda dispensing gun?</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7" name="Picture 6" descr="http://ts3.mm.bing.net/th?id=H.4508716002246906&amp;pid=15.1&amp;H=160&amp;W=111">
            <a:hlinkClick r:id="rId3"/>
          </p:cNvPr>
          <p:cNvPicPr/>
          <p:nvPr/>
        </p:nvPicPr>
        <p:blipFill>
          <a:blip r:embed="rId4" cstate="print"/>
          <a:srcRect/>
          <a:stretch>
            <a:fillRect/>
          </a:stretch>
        </p:blipFill>
        <p:spPr bwMode="auto">
          <a:xfrm>
            <a:off x="7236296" y="3429000"/>
            <a:ext cx="744662" cy="1410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Identifying and resolving faults with dispensing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Common actions to rectify faults</a:t>
            </a:r>
            <a:endParaRPr lang="en-AU" sz="2200" dirty="0" smtClean="0"/>
          </a:p>
          <a:p>
            <a:pPr marL="0">
              <a:spcBef>
                <a:spcPts val="600"/>
              </a:spcBef>
              <a:spcAft>
                <a:spcPts val="1200"/>
              </a:spcAft>
              <a:buNone/>
            </a:pPr>
            <a:r>
              <a:rPr lang="en-AU" sz="2200" dirty="0" smtClean="0"/>
              <a:t>There are a number of common actions that can be used, regardless of system or machine.</a:t>
            </a:r>
          </a:p>
          <a:p>
            <a:pPr>
              <a:spcBef>
                <a:spcPts val="600"/>
              </a:spcBef>
              <a:spcAft>
                <a:spcPts val="1200"/>
              </a:spcAft>
              <a:buNone/>
            </a:pPr>
            <a:r>
              <a:rPr lang="en-AU" sz="2200" dirty="0" smtClean="0"/>
              <a:t>Appropriate action to rectify faults may include:</a:t>
            </a:r>
          </a:p>
          <a:p>
            <a:pPr lvl="0">
              <a:spcBef>
                <a:spcPts val="600"/>
              </a:spcBef>
              <a:spcAft>
                <a:spcPts val="1200"/>
              </a:spcAft>
            </a:pPr>
            <a:r>
              <a:rPr lang="en-AU" sz="2200" dirty="0" smtClean="0"/>
              <a:t>Gas system checking, identification and adjustment</a:t>
            </a:r>
          </a:p>
          <a:p>
            <a:pPr lvl="0">
              <a:spcBef>
                <a:spcPts val="600"/>
              </a:spcBef>
              <a:spcAft>
                <a:spcPts val="1200"/>
              </a:spcAft>
            </a:pPr>
            <a:r>
              <a:rPr lang="en-AU" sz="2200" dirty="0" smtClean="0"/>
              <a:t>Refrigeration system checking, identification and adjustment</a:t>
            </a:r>
          </a:p>
          <a:p>
            <a:pPr lvl="0">
              <a:spcBef>
                <a:spcPts val="600"/>
              </a:spcBef>
              <a:spcAft>
                <a:spcPts val="1200"/>
              </a:spcAft>
            </a:pPr>
            <a:r>
              <a:rPr lang="en-AU" sz="2200" dirty="0" smtClean="0"/>
              <a:t>Housekeeping, cleaning and maintenance</a:t>
            </a:r>
          </a:p>
          <a:p>
            <a:pPr lvl="0">
              <a:spcBef>
                <a:spcPts val="600"/>
              </a:spcBef>
              <a:spcAft>
                <a:spcPts val="1200"/>
              </a:spcAft>
            </a:pPr>
            <a:r>
              <a:rPr lang="en-AU" sz="2200" dirty="0" smtClean="0"/>
              <a:t>Stock control, rotation of stock</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rPr>
              <a:t>Operate and maintain beer reticulation systems</a:t>
            </a:r>
            <a:endParaRPr lang="en-AU" sz="4000" dirty="0" smtClean="0">
              <a:solidFill>
                <a:srgbClr val="FF6600"/>
              </a:solidFill>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descr="MP900444255[1].JPG"/>
          <p:cNvPicPr>
            <a:picLocks noChangeAspect="1"/>
          </p:cNvPicPr>
          <p:nvPr/>
        </p:nvPicPr>
        <p:blipFill>
          <a:blip r:embed="rId3" cstate="print"/>
          <a:stretch>
            <a:fillRect/>
          </a:stretch>
        </p:blipFill>
        <p:spPr>
          <a:xfrm>
            <a:off x="3563888" y="3717032"/>
            <a:ext cx="1800200" cy="241732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Operate and maintain beer reticulation systems</a:t>
            </a:r>
          </a:p>
        </p:txBody>
      </p:sp>
      <p:sp>
        <p:nvSpPr>
          <p:cNvPr id="3" name="Content Placeholder 2"/>
          <p:cNvSpPr>
            <a:spLocks noGrp="1"/>
          </p:cNvSpPr>
          <p:nvPr>
            <p:ph idx="1"/>
          </p:nvPr>
        </p:nvSpPr>
        <p:spPr>
          <a:xfrm>
            <a:off x="611560" y="1675728"/>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t>Operate and clean beer reticulation systems in accordance with manufacturer’s instructions</a:t>
            </a:r>
          </a:p>
          <a:p>
            <a:r>
              <a:rPr lang="en-AU" sz="2200" dirty="0" smtClean="0"/>
              <a:t>Follow safety procedures regarding handling, connecting and storing of gas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643702" y="2549324"/>
            <a:ext cx="341597" cy="451048"/>
          </a:xfrm>
          <a:prstGeom prst="rect">
            <a:avLst/>
          </a:prstGeom>
          <a:noFill/>
        </p:spPr>
      </p:pic>
      <p:pic>
        <p:nvPicPr>
          <p:cNvPr id="7"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4801907" y="3549456"/>
            <a:ext cx="341597" cy="451048"/>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Components of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Main components of a beer dispensing system</a:t>
            </a:r>
            <a:endParaRPr lang="en-AU" sz="2200" dirty="0" smtClean="0"/>
          </a:p>
          <a:p>
            <a:pPr>
              <a:spcBef>
                <a:spcPts val="600"/>
              </a:spcBef>
              <a:spcAft>
                <a:spcPts val="1200"/>
              </a:spcAft>
              <a:buNone/>
            </a:pPr>
            <a:r>
              <a:rPr lang="en-AU" sz="2200" dirty="0" smtClean="0"/>
              <a:t>Three main components of a beer dispensing system are:</a:t>
            </a:r>
          </a:p>
          <a:p>
            <a:pPr lvl="0">
              <a:spcBef>
                <a:spcPts val="600"/>
              </a:spcBef>
              <a:spcAft>
                <a:spcPts val="1200"/>
              </a:spcAft>
            </a:pPr>
            <a:r>
              <a:rPr lang="en-AU" sz="2200" dirty="0" smtClean="0"/>
              <a:t>Gas</a:t>
            </a:r>
          </a:p>
          <a:p>
            <a:pPr lvl="0">
              <a:spcBef>
                <a:spcPts val="600"/>
              </a:spcBef>
              <a:spcAft>
                <a:spcPts val="1200"/>
              </a:spcAft>
            </a:pPr>
            <a:r>
              <a:rPr lang="en-AU" sz="2200" dirty="0" smtClean="0"/>
              <a:t>Beer</a:t>
            </a:r>
          </a:p>
          <a:p>
            <a:pPr lvl="0">
              <a:spcBef>
                <a:spcPts val="600"/>
              </a:spcBef>
              <a:spcAft>
                <a:spcPts val="1200"/>
              </a:spcAft>
            </a:pPr>
            <a:r>
              <a:rPr lang="en-AU" sz="2200" dirty="0" smtClean="0"/>
              <a:t>Cooling</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7" name="Picture 6" descr="thCAJDYDVP.jpg"/>
          <p:cNvPicPr>
            <a:picLocks noChangeAspect="1"/>
          </p:cNvPicPr>
          <p:nvPr/>
        </p:nvPicPr>
        <p:blipFill>
          <a:blip r:embed="rId3" cstate="print"/>
          <a:stretch>
            <a:fillRect/>
          </a:stretch>
        </p:blipFill>
        <p:spPr>
          <a:xfrm>
            <a:off x="6000760" y="3000372"/>
            <a:ext cx="1911656" cy="1986136"/>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Components of beer dispensing system</a:t>
            </a:r>
            <a:endParaRPr lang="en-AU" sz="3400" b="1" dirty="0">
              <a:solidFill>
                <a:srgbClr val="FF6600"/>
              </a:solidFill>
            </a:endParaRPr>
          </a:p>
        </p:txBody>
      </p:sp>
      <p:sp>
        <p:nvSpPr>
          <p:cNvPr id="3" name="Content Placeholder 2"/>
          <p:cNvSpPr>
            <a:spLocks noGrp="1"/>
          </p:cNvSpPr>
          <p:nvPr>
            <p:ph idx="1"/>
          </p:nvPr>
        </p:nvSpPr>
        <p:spPr>
          <a:xfrm>
            <a:off x="611560" y="1604290"/>
            <a:ext cx="7467600" cy="4896544"/>
          </a:xfrm>
        </p:spPr>
        <p:txBody>
          <a:bodyPr>
            <a:normAutofit/>
          </a:bodyPr>
          <a:lstStyle/>
          <a:p>
            <a:pPr>
              <a:spcBef>
                <a:spcPts val="600"/>
              </a:spcBef>
              <a:spcAft>
                <a:spcPts val="1200"/>
              </a:spcAft>
              <a:buNone/>
            </a:pPr>
            <a:r>
              <a:rPr lang="en-AU" sz="2200" b="1" dirty="0" smtClean="0"/>
              <a:t>Gas</a:t>
            </a:r>
            <a:endParaRPr lang="en-AU" sz="2200" dirty="0" smtClean="0"/>
          </a:p>
          <a:p>
            <a:pPr>
              <a:spcBef>
                <a:spcPts val="600"/>
              </a:spcBef>
              <a:spcAft>
                <a:spcPts val="1200"/>
              </a:spcAft>
            </a:pPr>
            <a:r>
              <a:rPr lang="en-AU" sz="2200" dirty="0" smtClean="0"/>
              <a:t>Draft systems use CO</a:t>
            </a:r>
            <a:r>
              <a:rPr lang="en-AU" sz="2200" baseline="-25000" dirty="0" smtClean="0"/>
              <a:t>2</a:t>
            </a:r>
            <a:r>
              <a:rPr lang="en-AU" sz="2200" dirty="0" smtClean="0"/>
              <a:t> alone or mixed with nitrogen</a:t>
            </a:r>
          </a:p>
          <a:p>
            <a:pPr>
              <a:spcBef>
                <a:spcPts val="600"/>
              </a:spcBef>
              <a:spcAft>
                <a:spcPts val="1200"/>
              </a:spcAft>
            </a:pPr>
            <a:r>
              <a:rPr lang="en-AU" sz="2200" dirty="0" smtClean="0"/>
              <a:t>Maintains the correct carbonation in the beer </a:t>
            </a:r>
          </a:p>
          <a:p>
            <a:pPr>
              <a:spcBef>
                <a:spcPts val="600"/>
              </a:spcBef>
              <a:spcAft>
                <a:spcPts val="1200"/>
              </a:spcAft>
            </a:pPr>
            <a:r>
              <a:rPr lang="en-AU" sz="2200" dirty="0" smtClean="0"/>
              <a:t>Helps to preserve its flavour</a:t>
            </a:r>
          </a:p>
          <a:p>
            <a:pPr>
              <a:spcBef>
                <a:spcPts val="600"/>
              </a:spcBef>
              <a:spcAft>
                <a:spcPts val="1200"/>
              </a:spcAft>
            </a:pPr>
            <a:r>
              <a:rPr lang="en-AU" sz="2200" dirty="0" smtClean="0"/>
              <a:t>Propels beer from the keg to the faucet</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6" name="Picture 5" descr="http://ts2.mm.bing.net/th?id=H.4545820191753941&amp;pid=15.1&amp;H=120&amp;W=160"/>
          <p:cNvPicPr/>
          <p:nvPr/>
        </p:nvPicPr>
        <p:blipFill>
          <a:blip r:embed="rId3" cstate="print"/>
          <a:srcRect/>
          <a:stretch>
            <a:fillRect/>
          </a:stretch>
        </p:blipFill>
        <p:spPr bwMode="auto">
          <a:xfrm>
            <a:off x="6429388" y="3357562"/>
            <a:ext cx="1851538" cy="14355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Components of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Beer</a:t>
            </a:r>
            <a:endParaRPr lang="en-AU" sz="2200" dirty="0" smtClean="0"/>
          </a:p>
          <a:p>
            <a:pPr>
              <a:spcBef>
                <a:spcPts val="600"/>
              </a:spcBef>
              <a:spcAft>
                <a:spcPts val="1200"/>
              </a:spcAft>
            </a:pPr>
            <a:r>
              <a:rPr lang="en-AU" sz="2200" dirty="0" smtClean="0"/>
              <a:t>The main component of beer systems</a:t>
            </a:r>
          </a:p>
          <a:p>
            <a:pPr>
              <a:spcBef>
                <a:spcPts val="600"/>
              </a:spcBef>
              <a:spcAft>
                <a:spcPts val="1200"/>
              </a:spcAft>
            </a:pPr>
            <a:r>
              <a:rPr lang="en-AU" sz="2200" dirty="0" smtClean="0"/>
              <a:t>How is beer supplied?</a:t>
            </a:r>
          </a:p>
          <a:p>
            <a:pPr>
              <a:spcBef>
                <a:spcPts val="600"/>
              </a:spcBef>
              <a:spcAft>
                <a:spcPts val="1200"/>
              </a:spcAft>
            </a:pPr>
            <a:r>
              <a:rPr lang="en-AU" sz="2200" dirty="0" smtClean="0"/>
              <a:t>What types of beer use dispensing systems?</a:t>
            </a:r>
          </a:p>
          <a:p>
            <a:pPr>
              <a:spcBef>
                <a:spcPts val="600"/>
              </a:spcBef>
              <a:spcAft>
                <a:spcPts val="1200"/>
              </a:spcAft>
            </a:pPr>
            <a:r>
              <a:rPr lang="en-AU" sz="2200" dirty="0" smtClean="0"/>
              <a:t>How do you get beer to the customer using systems?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7" name="Picture 6" descr="http://ts2.mm.bing.net/th?id=H.4548809511733817&amp;pid=15.1&amp;H=106&amp;W=160"/>
          <p:cNvPicPr/>
          <p:nvPr/>
        </p:nvPicPr>
        <p:blipFill>
          <a:blip r:embed="rId3" cstate="print"/>
          <a:srcRect/>
          <a:stretch>
            <a:fillRect/>
          </a:stretch>
        </p:blipFill>
        <p:spPr bwMode="auto">
          <a:xfrm>
            <a:off x="3779912" y="4509120"/>
            <a:ext cx="2058144" cy="15129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Components of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t>Cooling</a:t>
            </a:r>
            <a:endParaRPr lang="en-AU" sz="2200" dirty="0" smtClean="0"/>
          </a:p>
          <a:p>
            <a:pPr marL="0">
              <a:spcBef>
                <a:spcPts val="600"/>
              </a:spcBef>
              <a:spcAft>
                <a:spcPts val="1200"/>
              </a:spcAft>
              <a:buNone/>
            </a:pPr>
            <a:r>
              <a:rPr lang="en-AU" sz="2200" dirty="0" smtClean="0"/>
              <a:t>The cooling system should hold beer at a constant temperature from keg to glass.</a:t>
            </a:r>
          </a:p>
          <a:p>
            <a:pPr>
              <a:spcBef>
                <a:spcPts val="600"/>
              </a:spcBef>
              <a:spcAft>
                <a:spcPts val="1200"/>
              </a:spcAft>
              <a:buNone/>
            </a:pPr>
            <a:r>
              <a:rPr lang="en-AU" sz="2200" dirty="0" smtClean="0"/>
              <a:t>Types of cooling systems:</a:t>
            </a:r>
          </a:p>
          <a:p>
            <a:pPr>
              <a:spcBef>
                <a:spcPts val="600"/>
              </a:spcBef>
              <a:spcAft>
                <a:spcPts val="1200"/>
              </a:spcAft>
            </a:pPr>
            <a:r>
              <a:rPr lang="en-AU" sz="2200" dirty="0" smtClean="0"/>
              <a:t>Direct-draw system </a:t>
            </a:r>
          </a:p>
          <a:p>
            <a:pPr>
              <a:spcBef>
                <a:spcPts val="600"/>
              </a:spcBef>
              <a:spcAft>
                <a:spcPts val="1200"/>
              </a:spcAft>
            </a:pPr>
            <a:r>
              <a:rPr lang="en-AU" sz="2200" dirty="0" smtClean="0"/>
              <a:t>Long-draw systems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http://ts4.mm.bing.net/th?id=H.5037057038878623&amp;pid=15.1&amp;H=160&amp;W=160"/>
          <p:cNvPicPr/>
          <p:nvPr/>
        </p:nvPicPr>
        <p:blipFill>
          <a:blip r:embed="rId3" cstate="print"/>
          <a:srcRect/>
          <a:stretch>
            <a:fillRect/>
          </a:stretch>
        </p:blipFill>
        <p:spPr bwMode="auto">
          <a:xfrm>
            <a:off x="5868144" y="2996952"/>
            <a:ext cx="1606623" cy="15540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14290"/>
            <a:ext cx="7999040" cy="1143000"/>
          </a:xfrm>
        </p:spPr>
        <p:txBody>
          <a:bodyPr>
            <a:normAutofit/>
          </a:bodyPr>
          <a:lstStyle/>
          <a:p>
            <a:r>
              <a:rPr lang="en-AU" sz="3400" b="1" dirty="0" smtClean="0">
                <a:solidFill>
                  <a:srgbClr val="FF6600"/>
                </a:solidFill>
              </a:rPr>
              <a:t>Beer systems equipment</a:t>
            </a:r>
            <a:endParaRPr lang="en-AU" sz="3400" b="1" dirty="0">
              <a:solidFill>
                <a:srgbClr val="FF6600"/>
              </a:solidFill>
            </a:endParaRPr>
          </a:p>
        </p:txBody>
      </p:sp>
      <p:sp>
        <p:nvSpPr>
          <p:cNvPr id="3" name="Content Placeholder 2"/>
          <p:cNvSpPr>
            <a:spLocks noGrp="1"/>
          </p:cNvSpPr>
          <p:nvPr>
            <p:ph idx="1"/>
          </p:nvPr>
        </p:nvSpPr>
        <p:spPr>
          <a:xfrm>
            <a:off x="539552" y="1214422"/>
            <a:ext cx="7467600" cy="5301208"/>
          </a:xfrm>
        </p:spPr>
        <p:txBody>
          <a:bodyPr>
            <a:noAutofit/>
          </a:bodyPr>
          <a:lstStyle/>
          <a:p>
            <a:pPr>
              <a:spcBef>
                <a:spcPts val="600"/>
              </a:spcBef>
              <a:spcAft>
                <a:spcPts val="600"/>
              </a:spcAft>
              <a:buNone/>
            </a:pPr>
            <a:r>
              <a:rPr lang="en-AU" sz="2000" b="1" dirty="0" smtClean="0"/>
              <a:t>Beer systems equipment</a:t>
            </a:r>
            <a:endParaRPr lang="en-AU" sz="2000" dirty="0" smtClean="0"/>
          </a:p>
          <a:p>
            <a:pPr marL="0">
              <a:spcBef>
                <a:spcPts val="600"/>
              </a:spcBef>
              <a:spcAft>
                <a:spcPts val="600"/>
              </a:spcAft>
              <a:buNone/>
            </a:pPr>
            <a:r>
              <a:rPr lang="en-AU" sz="2000" dirty="0" smtClean="0"/>
              <a:t>Beer dispensing systems normally comprise nine key components:</a:t>
            </a:r>
          </a:p>
          <a:p>
            <a:pPr lvl="0">
              <a:spcBef>
                <a:spcPts val="600"/>
              </a:spcBef>
              <a:spcAft>
                <a:spcPts val="600"/>
              </a:spcAft>
            </a:pPr>
            <a:r>
              <a:rPr lang="en-AU" sz="2000" dirty="0" smtClean="0"/>
              <a:t>Refrigeration/Cooling</a:t>
            </a:r>
          </a:p>
          <a:p>
            <a:pPr lvl="0">
              <a:spcBef>
                <a:spcPts val="600"/>
              </a:spcBef>
              <a:spcAft>
                <a:spcPts val="600"/>
              </a:spcAft>
            </a:pPr>
            <a:r>
              <a:rPr lang="en-AU" sz="2000" dirty="0" smtClean="0"/>
              <a:t>Keg</a:t>
            </a:r>
          </a:p>
          <a:p>
            <a:pPr lvl="0">
              <a:spcBef>
                <a:spcPts val="600"/>
              </a:spcBef>
              <a:spcAft>
                <a:spcPts val="600"/>
              </a:spcAft>
            </a:pPr>
            <a:r>
              <a:rPr lang="en-AU" sz="2000" dirty="0" smtClean="0"/>
              <a:t>Coupler</a:t>
            </a:r>
          </a:p>
          <a:p>
            <a:pPr lvl="0">
              <a:spcBef>
                <a:spcPts val="600"/>
              </a:spcBef>
              <a:spcAft>
                <a:spcPts val="600"/>
              </a:spcAft>
            </a:pPr>
            <a:r>
              <a:rPr lang="en-AU" sz="2000" dirty="0" smtClean="0"/>
              <a:t>Beer Line</a:t>
            </a:r>
          </a:p>
          <a:p>
            <a:pPr lvl="0">
              <a:spcBef>
                <a:spcPts val="600"/>
              </a:spcBef>
              <a:spcAft>
                <a:spcPts val="600"/>
              </a:spcAft>
            </a:pPr>
            <a:r>
              <a:rPr lang="en-AU" sz="2000" dirty="0" smtClean="0"/>
              <a:t>Faucet</a:t>
            </a:r>
          </a:p>
          <a:p>
            <a:pPr lvl="0">
              <a:spcBef>
                <a:spcPts val="600"/>
              </a:spcBef>
              <a:spcAft>
                <a:spcPts val="600"/>
              </a:spcAft>
            </a:pPr>
            <a:r>
              <a:rPr lang="en-AU" sz="2000" dirty="0" smtClean="0"/>
              <a:t>Gas Source</a:t>
            </a:r>
          </a:p>
          <a:p>
            <a:pPr lvl="0">
              <a:spcBef>
                <a:spcPts val="600"/>
              </a:spcBef>
              <a:spcAft>
                <a:spcPts val="600"/>
              </a:spcAft>
            </a:pPr>
            <a:r>
              <a:rPr lang="en-AU" sz="2000" dirty="0" smtClean="0"/>
              <a:t>Regulator</a:t>
            </a:r>
          </a:p>
          <a:p>
            <a:pPr lvl="0">
              <a:spcBef>
                <a:spcPts val="600"/>
              </a:spcBef>
              <a:spcAft>
                <a:spcPts val="600"/>
              </a:spcAft>
            </a:pPr>
            <a:r>
              <a:rPr lang="en-AU" sz="2000" dirty="0" smtClean="0"/>
              <a:t>Gas Line</a:t>
            </a:r>
          </a:p>
          <a:p>
            <a:pPr>
              <a:spcBef>
                <a:spcPts val="600"/>
              </a:spcBef>
              <a:spcAft>
                <a:spcPts val="600"/>
              </a:spcAft>
            </a:pPr>
            <a:r>
              <a:rPr lang="en-AU" sz="2000" dirty="0" smtClean="0"/>
              <a:t>Tailpieces and Connectors</a:t>
            </a: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7" name="Picture 6" descr="http://ts4.mm.bing.net/th?id=H.4970442062890899&amp;pid=15.1&amp;H=129&amp;W=160">
            <a:hlinkClick r:id="rId3"/>
          </p:cNvPr>
          <p:cNvPicPr/>
          <p:nvPr/>
        </p:nvPicPr>
        <p:blipFill>
          <a:blip r:embed="rId4" cstate="print"/>
          <a:srcRect/>
          <a:stretch>
            <a:fillRect/>
          </a:stretch>
        </p:blipFill>
        <p:spPr bwMode="auto">
          <a:xfrm>
            <a:off x="5429256" y="2857496"/>
            <a:ext cx="1698104" cy="14803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systems equipment</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Refrigeration/Cooling</a:t>
            </a:r>
            <a:endParaRPr lang="en-AU" sz="2200" dirty="0" smtClean="0"/>
          </a:p>
          <a:p>
            <a:pPr>
              <a:spcBef>
                <a:spcPts val="600"/>
              </a:spcBef>
              <a:spcAft>
                <a:spcPts val="1200"/>
              </a:spcAft>
            </a:pPr>
            <a:r>
              <a:rPr lang="en-AU" sz="2200" dirty="0" smtClean="0"/>
              <a:t>Consistent and controlled beer dispense requires that the beer travelling from keg to glass be maintained at a temperature of 1.1°  to 3.3°C</a:t>
            </a:r>
          </a:p>
          <a:p>
            <a:pPr>
              <a:spcBef>
                <a:spcPts val="600"/>
              </a:spcBef>
              <a:spcAft>
                <a:spcPts val="1200"/>
              </a:spcAft>
              <a:buNone/>
            </a:pPr>
            <a:r>
              <a:rPr lang="en-AU" sz="2200" b="1" dirty="0" smtClean="0"/>
              <a:t>Kegs</a:t>
            </a:r>
            <a:endParaRPr lang="en-AU" sz="2200" dirty="0" smtClean="0"/>
          </a:p>
          <a:p>
            <a:pPr>
              <a:spcBef>
                <a:spcPts val="600"/>
              </a:spcBef>
              <a:spcAft>
                <a:spcPts val="1200"/>
              </a:spcAft>
            </a:pPr>
            <a:r>
              <a:rPr lang="en-AU" sz="2200" dirty="0" smtClean="0"/>
              <a:t>Kegs enable beer transport and dispense </a:t>
            </a:r>
            <a:br>
              <a:rPr lang="en-AU" sz="2200" dirty="0" smtClean="0"/>
            </a:br>
            <a:r>
              <a:rPr lang="en-AU" sz="2200" dirty="0" smtClean="0"/>
              <a:t>while maintaining its quality and integrity</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122" name="Picture 2" descr="C:\Documents and Settings\Godaishu\Desktop\744190_beerkegs.jpg"/>
          <p:cNvPicPr>
            <a:picLocks noChangeAspect="1" noChangeArrowheads="1"/>
          </p:cNvPicPr>
          <p:nvPr/>
        </p:nvPicPr>
        <p:blipFill>
          <a:blip r:embed="rId3" cstate="print"/>
          <a:srcRect/>
          <a:stretch>
            <a:fillRect/>
          </a:stretch>
        </p:blipFill>
        <p:spPr bwMode="auto">
          <a:xfrm>
            <a:off x="6876256" y="3212976"/>
            <a:ext cx="1423045" cy="1897393"/>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systems equipment</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Coupler</a:t>
            </a:r>
            <a:endParaRPr lang="en-AU" sz="2200" dirty="0" smtClean="0"/>
          </a:p>
          <a:p>
            <a:pPr>
              <a:spcBef>
                <a:spcPts val="600"/>
              </a:spcBef>
              <a:spcAft>
                <a:spcPts val="1200"/>
              </a:spcAft>
            </a:pPr>
            <a:r>
              <a:rPr lang="en-AU" sz="2200" dirty="0" smtClean="0"/>
              <a:t>Gas flows in and beer flows out of a keg                                  through the coupler</a:t>
            </a:r>
          </a:p>
          <a:p>
            <a:pPr>
              <a:spcBef>
                <a:spcPts val="600"/>
              </a:spcBef>
              <a:spcAft>
                <a:spcPts val="1200"/>
              </a:spcAft>
              <a:buNone/>
            </a:pPr>
            <a:r>
              <a:rPr lang="en-AU" sz="2200" b="1" dirty="0" smtClean="0"/>
              <a:t>Line</a:t>
            </a:r>
            <a:endParaRPr lang="en-AU" sz="2200" dirty="0" smtClean="0"/>
          </a:p>
          <a:p>
            <a:pPr>
              <a:spcBef>
                <a:spcPts val="600"/>
              </a:spcBef>
              <a:spcAft>
                <a:spcPts val="1200"/>
              </a:spcAft>
            </a:pPr>
            <a:r>
              <a:rPr lang="en-AU" sz="2200" dirty="0" smtClean="0"/>
              <a:t>Between coupler and faucet, beer                                     travels through beer line selected                                                                  to fit the needs of the specific </a:t>
            </a:r>
            <a:r>
              <a:rPr lang="en-AU" sz="2200" dirty="0" smtClean="0"/>
              <a:t>draft                                 </a:t>
            </a:r>
            <a:r>
              <a:rPr lang="en-AU" sz="2200" dirty="0" smtClean="0"/>
              <a:t>application</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7" name="Picture 6" descr="Beer-Coupler-Keg-Coupler-KTBCA01-.jpg"/>
          <p:cNvPicPr/>
          <p:nvPr/>
        </p:nvPicPr>
        <p:blipFill>
          <a:blip r:embed="rId3" cstate="print"/>
          <a:stretch>
            <a:fillRect/>
          </a:stretch>
        </p:blipFill>
        <p:spPr>
          <a:xfrm>
            <a:off x="6588224" y="1700808"/>
            <a:ext cx="1584176" cy="1357865"/>
          </a:xfrm>
          <a:prstGeom prst="rect">
            <a:avLst/>
          </a:prstGeom>
        </p:spPr>
      </p:pic>
      <p:pic>
        <p:nvPicPr>
          <p:cNvPr id="8" name="Picture 7" descr="http://ts1.mm.bing.net/th?id=H.4930937022777008&amp;pid=15.1&amp;H=160&amp;W=160"/>
          <p:cNvPicPr/>
          <p:nvPr/>
        </p:nvPicPr>
        <p:blipFill>
          <a:blip r:embed="rId4" cstate="print"/>
          <a:srcRect/>
          <a:stretch>
            <a:fillRect/>
          </a:stretch>
        </p:blipFill>
        <p:spPr bwMode="auto">
          <a:xfrm>
            <a:off x="6588224" y="3573016"/>
            <a:ext cx="1316718" cy="11521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systems equipment</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Faucet</a:t>
            </a:r>
            <a:endParaRPr lang="en-AU" sz="2200" dirty="0" smtClean="0"/>
          </a:p>
          <a:p>
            <a:pPr>
              <a:spcBef>
                <a:spcPts val="600"/>
              </a:spcBef>
              <a:spcAft>
                <a:spcPts val="1200"/>
              </a:spcAft>
            </a:pPr>
            <a:r>
              <a:rPr lang="en-AU" sz="2200" dirty="0" smtClean="0"/>
              <a:t>Faucets dispense beer to the glass</a:t>
            </a:r>
          </a:p>
          <a:p>
            <a:pPr>
              <a:spcBef>
                <a:spcPts val="600"/>
              </a:spcBef>
              <a:spcAft>
                <a:spcPts val="1200"/>
              </a:spcAft>
              <a:buNone/>
            </a:pPr>
            <a:r>
              <a:rPr lang="en-AU" sz="2200" b="1" dirty="0" smtClean="0"/>
              <a:t>Gas Source</a:t>
            </a:r>
            <a:endParaRPr lang="en-AU" sz="2200" dirty="0" smtClean="0"/>
          </a:p>
          <a:p>
            <a:pPr>
              <a:spcBef>
                <a:spcPts val="600"/>
              </a:spcBef>
              <a:spcAft>
                <a:spcPts val="1200"/>
              </a:spcAft>
            </a:pPr>
            <a:r>
              <a:rPr lang="en-AU" sz="2200" dirty="0" smtClean="0"/>
              <a:t>Beer systems depend on gas pressure to                             push beer from the keg to the faucet</a:t>
            </a:r>
          </a:p>
          <a:p>
            <a:pPr>
              <a:spcBef>
                <a:spcPts val="600"/>
              </a:spcBef>
              <a:spcAft>
                <a:spcPts val="1200"/>
              </a:spcAft>
              <a:buNone/>
            </a:pPr>
            <a:r>
              <a:rPr lang="en-AU" sz="2200" b="1" dirty="0" smtClean="0"/>
              <a:t>Gas Line</a:t>
            </a:r>
            <a:endParaRPr lang="en-AU" sz="2200" dirty="0" smtClean="0"/>
          </a:p>
          <a:p>
            <a:pPr>
              <a:spcBef>
                <a:spcPts val="600"/>
              </a:spcBef>
              <a:spcAft>
                <a:spcPts val="1200"/>
              </a:spcAft>
            </a:pPr>
            <a:r>
              <a:rPr lang="en-AU" sz="2200" dirty="0" smtClean="0"/>
              <a:t>Gas line should be selected to withstand                             the pressures expected in the </a:t>
            </a:r>
            <a:r>
              <a:rPr lang="en-AU" sz="2200" dirty="0" smtClean="0"/>
              <a:t>draft </a:t>
            </a:r>
            <a:r>
              <a:rPr lang="en-AU" sz="2200" dirty="0" smtClean="0"/>
              <a:t>system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9" name="Picture 8" descr="Beer-Tap-B6-1-.jpg"/>
          <p:cNvPicPr/>
          <p:nvPr/>
        </p:nvPicPr>
        <p:blipFill>
          <a:blip r:embed="rId3" cstate="print"/>
          <a:stretch>
            <a:fillRect/>
          </a:stretch>
        </p:blipFill>
        <p:spPr>
          <a:xfrm>
            <a:off x="6643702" y="1714488"/>
            <a:ext cx="1071935" cy="1126952"/>
          </a:xfrm>
          <a:prstGeom prst="rect">
            <a:avLst/>
          </a:prstGeom>
        </p:spPr>
      </p:pic>
      <p:pic>
        <p:nvPicPr>
          <p:cNvPr id="10" name="Picture 9" descr="IMG_9746_0.jpg"/>
          <p:cNvPicPr/>
          <p:nvPr/>
        </p:nvPicPr>
        <p:blipFill>
          <a:blip r:embed="rId4" cstate="print"/>
          <a:stretch>
            <a:fillRect/>
          </a:stretch>
        </p:blipFill>
        <p:spPr>
          <a:xfrm>
            <a:off x="6715140" y="3143248"/>
            <a:ext cx="1152128" cy="1152128"/>
          </a:xfrm>
          <a:prstGeom prst="rect">
            <a:avLst/>
          </a:prstGeom>
        </p:spPr>
      </p:pic>
      <p:pic>
        <p:nvPicPr>
          <p:cNvPr id="11" name="Picture 10" descr="http://ts4.mm.bing.net/th?id=H.4620230508151163&amp;pid=15.1&amp;H=109&amp;W=160"/>
          <p:cNvPicPr/>
          <p:nvPr/>
        </p:nvPicPr>
        <p:blipFill>
          <a:blip r:embed="rId5" cstate="print"/>
          <a:srcRect/>
          <a:stretch>
            <a:fillRect/>
          </a:stretch>
        </p:blipFill>
        <p:spPr bwMode="auto">
          <a:xfrm>
            <a:off x="6948264" y="4725144"/>
            <a:ext cx="1206901" cy="8222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systems equipment</a:t>
            </a:r>
            <a:endParaRPr lang="en-AU" sz="3400" b="1" dirty="0">
              <a:solidFill>
                <a:srgbClr val="FF6600"/>
              </a:solidFill>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t>Regulator</a:t>
            </a:r>
            <a:endParaRPr lang="en-AU" sz="2200" dirty="0" smtClean="0"/>
          </a:p>
          <a:p>
            <a:pPr marL="421200">
              <a:spcBef>
                <a:spcPts val="600"/>
              </a:spcBef>
              <a:spcAft>
                <a:spcPts val="1200"/>
              </a:spcAft>
            </a:pPr>
            <a:r>
              <a:rPr lang="en-AU" sz="2200" dirty="0" smtClean="0"/>
              <a:t>A regulator adjusts and controls the flow of                                gas from any source</a:t>
            </a:r>
          </a:p>
          <a:p>
            <a:pPr>
              <a:spcBef>
                <a:spcPts val="600"/>
              </a:spcBef>
              <a:spcAft>
                <a:spcPts val="1200"/>
              </a:spcAft>
              <a:buNone/>
            </a:pPr>
            <a:r>
              <a:rPr lang="en-AU" sz="2200" b="1" dirty="0" smtClean="0"/>
              <a:t>Tail Pieces and Connectors</a:t>
            </a:r>
            <a:endParaRPr lang="en-AU" sz="2200" dirty="0" smtClean="0"/>
          </a:p>
          <a:p>
            <a:pPr>
              <a:spcBef>
                <a:spcPts val="600"/>
              </a:spcBef>
              <a:spcAft>
                <a:spcPts val="1200"/>
              </a:spcAft>
            </a:pPr>
            <a:r>
              <a:rPr lang="en-AU" sz="2200" dirty="0" smtClean="0"/>
              <a:t>Tail pieces connect couplers, wall bracket, shanks or any other piece of equipment to vinyl tubing or other types of beer line</a:t>
            </a:r>
          </a:p>
          <a:p>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8" name="Picture 7" descr="CO2-Beer-Pressure-Regulator-CO2-13J03-.jpg"/>
          <p:cNvPicPr/>
          <p:nvPr/>
        </p:nvPicPr>
        <p:blipFill>
          <a:blip r:embed="rId3" cstate="print"/>
          <a:stretch>
            <a:fillRect/>
          </a:stretch>
        </p:blipFill>
        <p:spPr>
          <a:xfrm>
            <a:off x="6660232" y="1340768"/>
            <a:ext cx="1137667" cy="1520949"/>
          </a:xfrm>
          <a:prstGeom prst="rect">
            <a:avLst/>
          </a:prstGeom>
        </p:spPr>
      </p:pic>
      <p:pic>
        <p:nvPicPr>
          <p:cNvPr id="12" name="Picture 11" descr="!BW(9PUg!Wk~$(KGrHgoOKioEjlLmeN7IBK(Jp4HnK!~~_35.jpg"/>
          <p:cNvPicPr/>
          <p:nvPr/>
        </p:nvPicPr>
        <p:blipFill>
          <a:blip r:embed="rId4" cstate="print"/>
          <a:stretch>
            <a:fillRect/>
          </a:stretch>
        </p:blipFill>
        <p:spPr>
          <a:xfrm>
            <a:off x="3786182" y="4572008"/>
            <a:ext cx="1537320" cy="1465312"/>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Handling kegs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handling kegs</a:t>
            </a:r>
          </a:p>
          <a:p>
            <a:pPr marL="0">
              <a:spcBef>
                <a:spcPts val="600"/>
              </a:spcBef>
              <a:spcAft>
                <a:spcPts val="1200"/>
              </a:spcAft>
              <a:buNone/>
            </a:pPr>
            <a:r>
              <a:rPr lang="en-AU" sz="2200" dirty="0" smtClean="0"/>
              <a:t>The correct handling of kegs plays an important role in the ability to serve quality beer.</a:t>
            </a:r>
          </a:p>
          <a:p>
            <a:pPr>
              <a:spcBef>
                <a:spcPts val="600"/>
              </a:spcBef>
              <a:spcAft>
                <a:spcPts val="1200"/>
              </a:spcAft>
              <a:buNone/>
            </a:pPr>
            <a:r>
              <a:rPr lang="en-AU" sz="2200" dirty="0" smtClean="0"/>
              <a:t>This includes the need to:</a:t>
            </a:r>
          </a:p>
          <a:p>
            <a:pPr>
              <a:spcBef>
                <a:spcPts val="600"/>
              </a:spcBef>
              <a:spcAft>
                <a:spcPts val="1200"/>
              </a:spcAft>
            </a:pPr>
            <a:r>
              <a:rPr lang="en-AU" sz="2200" dirty="0" smtClean="0"/>
              <a:t>Chill kegs</a:t>
            </a:r>
          </a:p>
          <a:p>
            <a:pPr>
              <a:spcBef>
                <a:spcPts val="600"/>
              </a:spcBef>
              <a:spcAft>
                <a:spcPts val="1200"/>
              </a:spcAft>
            </a:pPr>
            <a:r>
              <a:rPr lang="en-AU" sz="2200" dirty="0" smtClean="0"/>
              <a:t>Link kegs in a series</a:t>
            </a:r>
          </a:p>
          <a:p>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7" name="Picture 6" descr="http://ts1.mm.bing.net/th?id=H.4541280432751004&amp;pid=15.1&amp;H=160&amp;W=160">
            <a:hlinkClick r:id="rId3"/>
          </p:cNvPr>
          <p:cNvPicPr/>
          <p:nvPr/>
        </p:nvPicPr>
        <p:blipFill>
          <a:blip r:embed="rId4" cstate="print"/>
          <a:srcRect/>
          <a:stretch>
            <a:fillRect/>
          </a:stretch>
        </p:blipFill>
        <p:spPr bwMode="auto">
          <a:xfrm>
            <a:off x="5940152" y="2996952"/>
            <a:ext cx="1626096" cy="15692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Handling kegs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t>Cold Storage and Proper Chilling of Kegs before Serving</a:t>
            </a:r>
            <a:endParaRPr lang="en-AU" sz="2200" dirty="0" smtClean="0"/>
          </a:p>
          <a:p>
            <a:pPr>
              <a:spcBef>
                <a:spcPts val="600"/>
              </a:spcBef>
              <a:spcAft>
                <a:spcPts val="1200"/>
              </a:spcAft>
            </a:pPr>
            <a:r>
              <a:rPr lang="en-AU" sz="2200" dirty="0" smtClean="0"/>
              <a:t>Warm kegs cause more problems at the tap than nearly any other issue</a:t>
            </a:r>
          </a:p>
          <a:p>
            <a:pPr>
              <a:spcBef>
                <a:spcPts val="600"/>
              </a:spcBef>
              <a:spcAft>
                <a:spcPts val="1200"/>
              </a:spcAft>
            </a:pPr>
            <a:r>
              <a:rPr lang="en-AU" sz="2200" dirty="0" smtClean="0"/>
              <a:t>Beer should remain at or slightly below 3.3°C</a:t>
            </a:r>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http://ts2.mm.bing.net/th?id=H.4960756990476549&amp;pid=15.1&amp;H=160&amp;W=149"/>
          <p:cNvPicPr/>
          <p:nvPr/>
        </p:nvPicPr>
        <p:blipFill>
          <a:blip r:embed="rId3" cstate="print"/>
          <a:srcRect/>
          <a:stretch>
            <a:fillRect/>
          </a:stretch>
        </p:blipFill>
        <p:spPr bwMode="auto">
          <a:xfrm>
            <a:off x="3707904" y="4221088"/>
            <a:ext cx="1419225"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Handling kegs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Linking Kegs in Series</a:t>
            </a:r>
            <a:endParaRPr lang="en-AU" sz="2200" dirty="0" smtClean="0"/>
          </a:p>
          <a:p>
            <a:pPr>
              <a:spcBef>
                <a:spcPts val="600"/>
              </a:spcBef>
              <a:spcAft>
                <a:spcPts val="1200"/>
              </a:spcAft>
            </a:pPr>
            <a:r>
              <a:rPr lang="en-AU" sz="2200" dirty="0" smtClean="0"/>
              <a:t>Busy establishments may connect kegs in a series or in a chain to meet peak capacity demands</a:t>
            </a:r>
          </a:p>
          <a:p>
            <a:pPr>
              <a:spcBef>
                <a:spcPts val="600"/>
              </a:spcBef>
              <a:spcAft>
                <a:spcPts val="1200"/>
              </a:spcAft>
            </a:pPr>
            <a:r>
              <a:rPr lang="en-AU" sz="2200" dirty="0" smtClean="0"/>
              <a:t>Chaining two or three kegs of the same product together allows all of the chained kegs to be emptied before beer stops flowing</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7" name="Picture 6"/>
          <p:cNvPicPr/>
          <p:nvPr/>
        </p:nvPicPr>
        <p:blipFill>
          <a:blip r:embed="rId3" cstate="print"/>
          <a:srcRect/>
          <a:stretch>
            <a:fillRect/>
          </a:stretch>
        </p:blipFill>
        <p:spPr bwMode="auto">
          <a:xfrm>
            <a:off x="3347864" y="4365104"/>
            <a:ext cx="2689473" cy="12976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Connecting beer</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Steps to connecting beer</a:t>
            </a:r>
          </a:p>
          <a:p>
            <a:pPr>
              <a:spcBef>
                <a:spcPts val="600"/>
              </a:spcBef>
              <a:spcAft>
                <a:spcPts val="1200"/>
              </a:spcAft>
              <a:buNone/>
            </a:pPr>
            <a:r>
              <a:rPr lang="en-AU" sz="2200" dirty="0" smtClean="0"/>
              <a:t>The first steps when connecting the </a:t>
            </a:r>
            <a:r>
              <a:rPr lang="en-AU" sz="2200" dirty="0" smtClean="0"/>
              <a:t>draft </a:t>
            </a:r>
            <a:r>
              <a:rPr lang="en-AU" sz="2200" dirty="0" smtClean="0"/>
              <a:t>beer are to:</a:t>
            </a:r>
          </a:p>
          <a:p>
            <a:pPr lvl="0">
              <a:spcBef>
                <a:spcPts val="600"/>
              </a:spcBef>
              <a:spcAft>
                <a:spcPts val="1200"/>
              </a:spcAft>
            </a:pPr>
            <a:r>
              <a:rPr lang="en-AU" sz="2200" dirty="0" smtClean="0"/>
              <a:t>Turn on temprites</a:t>
            </a:r>
          </a:p>
          <a:p>
            <a:pPr lvl="0">
              <a:spcBef>
                <a:spcPts val="600"/>
              </a:spcBef>
              <a:spcAft>
                <a:spcPts val="1200"/>
              </a:spcAft>
            </a:pPr>
            <a:r>
              <a:rPr lang="en-AU" sz="2200" dirty="0" smtClean="0"/>
              <a:t>Drawing beer through to taps </a:t>
            </a:r>
          </a:p>
          <a:p>
            <a:pPr lvl="0">
              <a:spcBef>
                <a:spcPts val="600"/>
              </a:spcBef>
              <a:spcAft>
                <a:spcPts val="1200"/>
              </a:spcAft>
            </a:pPr>
            <a:r>
              <a:rPr lang="en-AU" sz="2200" dirty="0" smtClean="0"/>
              <a:t>Test for quality</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descr="http://ts3.mm.bing.net/th?id=H.4959605911128766&amp;pid=15.1&amp;H=160&amp;W=160"/>
          <p:cNvPicPr/>
          <p:nvPr/>
        </p:nvPicPr>
        <p:blipFill>
          <a:blip r:embed="rId3" cstate="print"/>
          <a:srcRect/>
          <a:stretch>
            <a:fillRect/>
          </a:stretch>
        </p:blipFill>
        <p:spPr bwMode="auto">
          <a:xfrm>
            <a:off x="6372200" y="2708920"/>
            <a:ext cx="1626096" cy="1729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Pouring beer</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Pouring </a:t>
            </a:r>
            <a:r>
              <a:rPr lang="en-AU" sz="2200" b="1" dirty="0" smtClean="0"/>
              <a:t>draft </a:t>
            </a:r>
            <a:r>
              <a:rPr lang="en-AU" sz="2200" b="1" dirty="0" smtClean="0"/>
              <a:t>beer</a:t>
            </a:r>
            <a:endParaRPr lang="en-AU" sz="2200" dirty="0" smtClean="0"/>
          </a:p>
          <a:p>
            <a:pPr>
              <a:spcBef>
                <a:spcPts val="600"/>
              </a:spcBef>
              <a:spcAft>
                <a:spcPts val="1200"/>
              </a:spcAft>
            </a:pPr>
            <a:r>
              <a:rPr lang="en-AU" sz="2200" dirty="0" smtClean="0"/>
              <a:t>Proper serving of </a:t>
            </a:r>
            <a:r>
              <a:rPr lang="en-AU" sz="2200" dirty="0" smtClean="0"/>
              <a:t>draft </a:t>
            </a:r>
            <a:r>
              <a:rPr lang="en-AU" sz="2200" dirty="0" smtClean="0"/>
              <a:t>beer is intended to have a “controlled” release of carbonation to give a better tasting and sensory experience</a:t>
            </a:r>
          </a:p>
          <a:p>
            <a:pPr>
              <a:spcBef>
                <a:spcPts val="600"/>
              </a:spcBef>
              <a:spcAft>
                <a:spcPts val="1200"/>
              </a:spcAft>
            </a:pPr>
            <a:r>
              <a:rPr lang="en-AU" sz="2200" dirty="0" smtClean="0"/>
              <a:t>The evolution of CO</a:t>
            </a:r>
            <a:r>
              <a:rPr lang="en-AU" sz="2200" baseline="-25000" dirty="0" smtClean="0"/>
              <a:t>2</a:t>
            </a:r>
            <a:r>
              <a:rPr lang="en-AU" sz="2200" dirty="0" smtClean="0"/>
              <a:t> gas during pouring                           builds the foam head and releases                               desirable flavours and aromas</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4098" name="Picture 2" descr="C:\Documents and Settings\Godaishu\Local Settings\Temporary Internet Files\Content.IE5\VL0QK7PC\MC900151675[1].wmf"/>
          <p:cNvPicPr>
            <a:picLocks noChangeAspect="1" noChangeArrowheads="1"/>
          </p:cNvPicPr>
          <p:nvPr/>
        </p:nvPicPr>
        <p:blipFill>
          <a:blip r:embed="rId3" cstate="print"/>
          <a:srcRect/>
          <a:stretch>
            <a:fillRect/>
          </a:stretch>
        </p:blipFill>
        <p:spPr bwMode="auto">
          <a:xfrm>
            <a:off x="6588224" y="3140968"/>
            <a:ext cx="1656184" cy="1656184"/>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Pouring beer</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Technique</a:t>
            </a:r>
            <a:endParaRPr lang="en-AU" sz="2200" dirty="0" smtClean="0"/>
          </a:p>
          <a:p>
            <a:pPr lvl="0">
              <a:spcBef>
                <a:spcPts val="600"/>
              </a:spcBef>
              <a:spcAft>
                <a:spcPts val="1200"/>
              </a:spcAft>
            </a:pPr>
            <a:r>
              <a:rPr lang="en-AU" sz="2200" dirty="0" smtClean="0"/>
              <a:t>Hold glass at 45º angle, open faucet fully</a:t>
            </a:r>
          </a:p>
          <a:p>
            <a:pPr lvl="0">
              <a:spcBef>
                <a:spcPts val="600"/>
              </a:spcBef>
              <a:spcAft>
                <a:spcPts val="1200"/>
              </a:spcAft>
            </a:pPr>
            <a:r>
              <a:rPr lang="en-AU" sz="2200" dirty="0" smtClean="0"/>
              <a:t>Gradually tilt glass upright once beer has reached about the halfway point in the glass</a:t>
            </a:r>
          </a:p>
          <a:p>
            <a:pPr lvl="0">
              <a:spcBef>
                <a:spcPts val="600"/>
              </a:spcBef>
              <a:spcAft>
                <a:spcPts val="1200"/>
              </a:spcAft>
            </a:pPr>
            <a:r>
              <a:rPr lang="en-AU" sz="2200" dirty="0" smtClean="0"/>
              <a:t>Pour beer straight down into the glass, working </a:t>
            </a:r>
            <a:br>
              <a:rPr lang="en-AU" sz="2200" dirty="0" smtClean="0"/>
            </a:br>
            <a:r>
              <a:rPr lang="en-AU" sz="2200" dirty="0" smtClean="0"/>
              <a:t>the glass to form a one inch collar of foam </a:t>
            </a:r>
            <a:br>
              <a:rPr lang="en-AU" sz="2200" dirty="0" smtClean="0"/>
            </a:br>
            <a:r>
              <a:rPr lang="en-AU" sz="2200" dirty="0" smtClean="0"/>
              <a:t>(“head”). This is for visual appeal as well as carbonation release</a:t>
            </a:r>
          </a:p>
          <a:p>
            <a:pPr lvl="0">
              <a:spcBef>
                <a:spcPts val="600"/>
              </a:spcBef>
              <a:spcAft>
                <a:spcPts val="1200"/>
              </a:spcAft>
            </a:pPr>
            <a:r>
              <a:rPr lang="en-AU" sz="2200" dirty="0" smtClean="0"/>
              <a:t>Close faucet quickly to avoid wasteful overflow</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descr="beerscience.jpg"/>
          <p:cNvPicPr/>
          <p:nvPr/>
        </p:nvPicPr>
        <p:blipFill>
          <a:blip r:embed="rId3" cstate="print"/>
          <a:stretch>
            <a:fillRect/>
          </a:stretch>
        </p:blipFill>
        <p:spPr>
          <a:xfrm>
            <a:off x="7308304" y="3140968"/>
            <a:ext cx="1180465" cy="186690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Handling glassware</a:t>
            </a:r>
            <a:endParaRPr lang="en-AU" sz="3400"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‘clean’ glassware</a:t>
            </a:r>
          </a:p>
          <a:p>
            <a:pPr>
              <a:spcBef>
                <a:spcPts val="600"/>
              </a:spcBef>
              <a:spcAft>
                <a:spcPts val="1200"/>
              </a:spcAft>
            </a:pPr>
            <a:r>
              <a:rPr lang="en-AU" sz="2200" dirty="0" smtClean="0"/>
              <a:t>Properly designed and appropriately operated, your </a:t>
            </a:r>
            <a:r>
              <a:rPr lang="en-AU" sz="2200" dirty="0" smtClean="0"/>
              <a:t>draft </a:t>
            </a:r>
            <a:r>
              <a:rPr lang="en-AU" sz="2200" dirty="0" smtClean="0"/>
              <a:t>system pours perfect </a:t>
            </a:r>
            <a:r>
              <a:rPr lang="en-AU" sz="2200" dirty="0" smtClean="0"/>
              <a:t>draft </a:t>
            </a:r>
            <a:r>
              <a:rPr lang="en-AU" sz="2200" dirty="0" smtClean="0"/>
              <a:t>beer from its faucets</a:t>
            </a:r>
          </a:p>
          <a:p>
            <a:pPr>
              <a:spcBef>
                <a:spcPts val="600"/>
              </a:spcBef>
              <a:spcAft>
                <a:spcPts val="1200"/>
              </a:spcAft>
            </a:pPr>
            <a:r>
              <a:rPr lang="en-AU" sz="2200" dirty="0" smtClean="0"/>
              <a:t>But the consumer’s experience can still be ruined by improper pouring, glass residue and unsanitary practices</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6" name="Picture 5" descr="http://ts4.mm.bing.net/th?id=H.4825336666982395&amp;pid=15.1&amp;H=115&amp;W=160"/>
          <p:cNvPicPr/>
          <p:nvPr/>
        </p:nvPicPr>
        <p:blipFill>
          <a:blip r:embed="rId3" cstate="print"/>
          <a:srcRect/>
          <a:stretch>
            <a:fillRect/>
          </a:stretch>
        </p:blipFill>
        <p:spPr bwMode="auto">
          <a:xfrm>
            <a:off x="3563888" y="4509120"/>
            <a:ext cx="2100064" cy="14554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 maintenance and cleaning</a:t>
            </a:r>
            <a:endParaRPr lang="en-AU" sz="3400" dirty="0">
              <a:solidFill>
                <a:srgbClr val="FF6600"/>
              </a:solidFill>
            </a:endParaRPr>
          </a:p>
        </p:txBody>
      </p:sp>
      <p:sp>
        <p:nvSpPr>
          <p:cNvPr id="3" name="Content Placeholder 2"/>
          <p:cNvSpPr>
            <a:spLocks noGrp="1"/>
          </p:cNvSpPr>
          <p:nvPr>
            <p:ph idx="1"/>
          </p:nvPr>
        </p:nvSpPr>
        <p:spPr>
          <a:xfrm>
            <a:off x="611560" y="1556792"/>
            <a:ext cx="7704856" cy="5301208"/>
          </a:xfrm>
        </p:spPr>
        <p:txBody>
          <a:bodyPr>
            <a:normAutofit/>
          </a:bodyPr>
          <a:lstStyle/>
          <a:p>
            <a:pPr>
              <a:spcBef>
                <a:spcPts val="600"/>
              </a:spcBef>
              <a:spcAft>
                <a:spcPts val="1200"/>
              </a:spcAft>
              <a:buNone/>
            </a:pPr>
            <a:r>
              <a:rPr lang="en-AU" sz="2200" b="1" dirty="0" smtClean="0"/>
              <a:t>Cleaning Frequency and Tasks</a:t>
            </a:r>
            <a:endParaRPr lang="en-AU" sz="2200" dirty="0" smtClean="0"/>
          </a:p>
          <a:p>
            <a:pPr>
              <a:spcBef>
                <a:spcPts val="600"/>
              </a:spcBef>
              <a:spcAft>
                <a:spcPts val="1200"/>
              </a:spcAft>
              <a:buNone/>
            </a:pPr>
            <a:r>
              <a:rPr lang="en-AU" sz="2200" u="sng" dirty="0" smtClean="0"/>
              <a:t>Every two weeks (14 days)</a:t>
            </a:r>
            <a:endParaRPr lang="en-AU" sz="2200" dirty="0" smtClean="0"/>
          </a:p>
          <a:p>
            <a:pPr lvl="0">
              <a:spcBef>
                <a:spcPts val="600"/>
              </a:spcBef>
              <a:spcAft>
                <a:spcPts val="1200"/>
              </a:spcAft>
            </a:pPr>
            <a:r>
              <a:rPr lang="en-AU" sz="2200" dirty="0" smtClean="0"/>
              <a:t>Draft </a:t>
            </a:r>
            <a:r>
              <a:rPr lang="en-AU" sz="2200" dirty="0" smtClean="0"/>
              <a:t>lines should be cleaned </a:t>
            </a:r>
          </a:p>
          <a:p>
            <a:pPr lvl="0">
              <a:spcBef>
                <a:spcPts val="600"/>
              </a:spcBef>
              <a:spcAft>
                <a:spcPts val="1200"/>
              </a:spcAft>
            </a:pPr>
            <a:r>
              <a:rPr lang="en-AU" sz="2200" dirty="0" smtClean="0"/>
              <a:t>All faucets should be completely disassembled and cleaned</a:t>
            </a:r>
          </a:p>
          <a:p>
            <a:pPr lvl="0">
              <a:spcBef>
                <a:spcPts val="600"/>
              </a:spcBef>
              <a:spcAft>
                <a:spcPts val="1200"/>
              </a:spcAft>
            </a:pPr>
            <a:r>
              <a:rPr lang="en-AU" sz="2200" dirty="0" smtClean="0"/>
              <a:t>All keg couplers or tapping devices should be scrubbed clean</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7" name="Picture 6" descr="http://ts1.mm.bing.net/th?id=H.4505804034476584&amp;pid=15.1&amp;H=125&amp;W=160"/>
          <p:cNvPicPr/>
          <p:nvPr/>
        </p:nvPicPr>
        <p:blipFill>
          <a:blip r:embed="rId3" cstate="print"/>
          <a:srcRect/>
          <a:stretch>
            <a:fillRect/>
          </a:stretch>
        </p:blipFill>
        <p:spPr bwMode="auto">
          <a:xfrm>
            <a:off x="3635896" y="4869160"/>
            <a:ext cx="1884040" cy="14786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 maintenance and cleaning</a:t>
            </a:r>
            <a:endParaRPr lang="en-AU" sz="3400"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Cleaning Frequency and Tasks</a:t>
            </a:r>
            <a:endParaRPr lang="en-AU" sz="2200" dirty="0" smtClean="0"/>
          </a:p>
          <a:p>
            <a:pPr>
              <a:spcBef>
                <a:spcPts val="600"/>
              </a:spcBef>
              <a:spcAft>
                <a:spcPts val="1200"/>
              </a:spcAft>
              <a:buNone/>
            </a:pPr>
            <a:r>
              <a:rPr lang="en-AU" sz="2200" u="sng" dirty="0" smtClean="0"/>
              <a:t>Quarterly (every three months)</a:t>
            </a:r>
            <a:endParaRPr lang="en-AU" sz="2200" dirty="0" smtClean="0"/>
          </a:p>
          <a:p>
            <a:pPr lvl="0">
              <a:spcBef>
                <a:spcPts val="600"/>
              </a:spcBef>
              <a:spcAft>
                <a:spcPts val="1200"/>
              </a:spcAft>
            </a:pPr>
            <a:r>
              <a:rPr lang="en-AU" sz="2200" dirty="0" smtClean="0"/>
              <a:t>Draft lines should be de-stoned </a:t>
            </a:r>
          </a:p>
          <a:p>
            <a:pPr lvl="0">
              <a:spcBef>
                <a:spcPts val="600"/>
              </a:spcBef>
              <a:spcAft>
                <a:spcPts val="1200"/>
              </a:spcAft>
            </a:pPr>
            <a:r>
              <a:rPr lang="en-AU" sz="2200" dirty="0" smtClean="0"/>
              <a:t>All FOB-stop devices should be completely disassembled and hand cleaned</a:t>
            </a:r>
          </a:p>
          <a:p>
            <a:pPr lvl="0">
              <a:spcBef>
                <a:spcPts val="600"/>
              </a:spcBef>
              <a:spcAft>
                <a:spcPts val="1200"/>
              </a:spcAft>
            </a:pPr>
            <a:r>
              <a:rPr lang="en-AU" sz="2200" dirty="0" smtClean="0"/>
              <a:t>All couplers should be completely disassembled and detailed</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 name="Picture 4" descr="Beer-Coupler-Keg-Coupler-KTBCA01-.jpg"/>
          <p:cNvPicPr/>
          <p:nvPr/>
        </p:nvPicPr>
        <p:blipFill>
          <a:blip r:embed="rId3" cstate="print"/>
          <a:stretch>
            <a:fillRect/>
          </a:stretch>
        </p:blipFill>
        <p:spPr>
          <a:xfrm>
            <a:off x="6372200" y="1700808"/>
            <a:ext cx="1584176" cy="144016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 maintenance and cleaning</a:t>
            </a:r>
            <a:endParaRPr lang="en-AU" sz="3400"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Cleaning Frequency and Tasks</a:t>
            </a:r>
            <a:endParaRPr lang="en-AU" sz="2200" dirty="0" smtClean="0"/>
          </a:p>
          <a:p>
            <a:pPr>
              <a:spcBef>
                <a:spcPts val="600"/>
              </a:spcBef>
              <a:spcAft>
                <a:spcPts val="1200"/>
              </a:spcAft>
              <a:buNone/>
            </a:pPr>
            <a:r>
              <a:rPr lang="en-AU" sz="2200" u="sng" dirty="0" smtClean="0"/>
              <a:t>Quarterly (every three months)</a:t>
            </a:r>
            <a:endParaRPr lang="en-AU" sz="2200" dirty="0" smtClean="0"/>
          </a:p>
          <a:p>
            <a:pPr lvl="0">
              <a:spcBef>
                <a:spcPts val="600"/>
              </a:spcBef>
              <a:spcAft>
                <a:spcPts val="1200"/>
              </a:spcAft>
            </a:pPr>
            <a:r>
              <a:rPr lang="en-AU" sz="2200" dirty="0" smtClean="0"/>
              <a:t>Draft lines should be de-stoned </a:t>
            </a:r>
          </a:p>
          <a:p>
            <a:pPr lvl="0">
              <a:spcBef>
                <a:spcPts val="600"/>
              </a:spcBef>
              <a:spcAft>
                <a:spcPts val="1200"/>
              </a:spcAft>
            </a:pPr>
            <a:r>
              <a:rPr lang="en-AU" sz="2200" dirty="0" smtClean="0"/>
              <a:t>All FOB-stop devices should be completely disassembled and hand cleaned</a:t>
            </a:r>
          </a:p>
          <a:p>
            <a:pPr lvl="0">
              <a:spcBef>
                <a:spcPts val="600"/>
              </a:spcBef>
              <a:spcAft>
                <a:spcPts val="1200"/>
              </a:spcAft>
            </a:pPr>
            <a:r>
              <a:rPr lang="en-AU" sz="2200" dirty="0" smtClean="0"/>
              <a:t>All couplers should be completely disassembled and detailed</a:t>
            </a:r>
          </a:p>
          <a:p>
            <a:pPr>
              <a:spcBef>
                <a:spcPts val="600"/>
              </a:spcBef>
              <a:spcAft>
                <a:spcPts val="1200"/>
              </a:spcAft>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4" descr="Beer-Coupler-Keg-Coupler-KTBCA01-.jpg"/>
          <p:cNvPicPr/>
          <p:nvPr/>
        </p:nvPicPr>
        <p:blipFill>
          <a:blip r:embed="rId3" cstate="print"/>
          <a:stretch>
            <a:fillRect/>
          </a:stretch>
        </p:blipFill>
        <p:spPr>
          <a:xfrm>
            <a:off x="6516216" y="1714488"/>
            <a:ext cx="1584176" cy="144016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Beer system maintenance and cleaning</a:t>
            </a:r>
            <a:endParaRPr lang="en-AU" sz="3400"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Cleaning beer lines</a:t>
            </a:r>
            <a:endParaRPr lang="en-AU" sz="2200" dirty="0" smtClean="0"/>
          </a:p>
          <a:p>
            <a:pPr>
              <a:spcBef>
                <a:spcPts val="600"/>
              </a:spcBef>
              <a:spcAft>
                <a:spcPts val="1200"/>
              </a:spcAft>
            </a:pPr>
            <a:r>
              <a:rPr lang="en-US" sz="2200" dirty="0" smtClean="0"/>
              <a:t>It is important to clean your machines and system after every batch of beer you use</a:t>
            </a:r>
          </a:p>
          <a:p>
            <a:pPr>
              <a:spcBef>
                <a:spcPts val="600"/>
              </a:spcBef>
              <a:spcAft>
                <a:spcPts val="1200"/>
              </a:spcAft>
            </a:pPr>
            <a:r>
              <a:rPr lang="en-US" sz="2200" dirty="0" smtClean="0"/>
              <a:t>If you don't, you can ruin future batches of beer</a:t>
            </a:r>
            <a:endParaRPr lang="en-AU" sz="2200" b="1" dirty="0" smtClean="0"/>
          </a:p>
          <a:p>
            <a:pPr>
              <a:spcBef>
                <a:spcPts val="600"/>
              </a:spcBef>
              <a:spcAft>
                <a:spcPts val="1200"/>
              </a:spcAft>
            </a:pPr>
            <a:r>
              <a:rPr lang="en-US" sz="2200" dirty="0" smtClean="0"/>
              <a:t>Foamy beer can be caused by the build up of bacteria, yeast or mold within a beer line</a:t>
            </a:r>
          </a:p>
          <a:p>
            <a:pPr>
              <a:spcBef>
                <a:spcPts val="600"/>
              </a:spcBef>
              <a:spcAft>
                <a:spcPts val="1200"/>
              </a:spcAft>
            </a:pPr>
            <a:r>
              <a:rPr lang="en-US" sz="2200" dirty="0" smtClean="0"/>
              <a:t>Dirty beer lines can affect the quality and taste of beer, so it is important to regularly clean beer lines</a:t>
            </a: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Identifying and rectifying problems with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Types of common faults and remedies</a:t>
            </a:r>
          </a:p>
          <a:p>
            <a:pPr>
              <a:spcBef>
                <a:spcPts val="600"/>
              </a:spcBef>
              <a:spcAft>
                <a:spcPts val="1200"/>
              </a:spcAft>
              <a:buNone/>
            </a:pPr>
            <a:r>
              <a:rPr lang="en-AU" sz="2200" u="sng" dirty="0" smtClean="0"/>
              <a:t>Slow dispense at tap</a:t>
            </a:r>
            <a:endParaRPr lang="en-AU" sz="2200" dirty="0" smtClean="0"/>
          </a:p>
          <a:p>
            <a:pPr lvl="0">
              <a:spcBef>
                <a:spcPts val="600"/>
              </a:spcBef>
              <a:spcAft>
                <a:spcPts val="1200"/>
              </a:spcAft>
            </a:pPr>
            <a:r>
              <a:rPr lang="en-AU" sz="2200" dirty="0" smtClean="0"/>
              <a:t>Ensure dispense tap is working properly</a:t>
            </a:r>
          </a:p>
          <a:p>
            <a:pPr lvl="0">
              <a:spcBef>
                <a:spcPts val="600"/>
              </a:spcBef>
              <a:spcAft>
                <a:spcPts val="1200"/>
              </a:spcAft>
            </a:pPr>
            <a:r>
              <a:rPr lang="en-AU" sz="2200" dirty="0" smtClean="0"/>
              <a:t>Ensure sparkler is not too tight or blocked</a:t>
            </a:r>
          </a:p>
          <a:p>
            <a:pPr lvl="0">
              <a:spcBef>
                <a:spcPts val="600"/>
              </a:spcBef>
              <a:spcAft>
                <a:spcPts val="1200"/>
              </a:spcAft>
            </a:pPr>
            <a:r>
              <a:rPr lang="en-AU" sz="2200" dirty="0" smtClean="0"/>
              <a:t>Ensure lines are clean</a:t>
            </a:r>
          </a:p>
          <a:p>
            <a:pPr lvl="0">
              <a:spcBef>
                <a:spcPts val="600"/>
              </a:spcBef>
              <a:spcAft>
                <a:spcPts val="1200"/>
              </a:spcAft>
            </a:pPr>
            <a:r>
              <a:rPr lang="en-AU" sz="2200" dirty="0" smtClean="0"/>
              <a:t>Ensure gas cylinder is not empty</a:t>
            </a:r>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7" name="Picture 6" descr="http://ts3.mm.bing.net/th?id=H.4939879115785338&amp;pid=15.1&amp;H=160&amp;W=123"/>
          <p:cNvPicPr/>
          <p:nvPr/>
        </p:nvPicPr>
        <p:blipFill>
          <a:blip r:embed="rId3" cstate="print"/>
          <a:srcRect/>
          <a:stretch>
            <a:fillRect/>
          </a:stretch>
        </p:blipFill>
        <p:spPr bwMode="auto">
          <a:xfrm>
            <a:off x="7020272" y="2924944"/>
            <a:ext cx="1381643" cy="16260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Identifying and rectifying problems with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t>Types of common faults and remedies</a:t>
            </a:r>
          </a:p>
          <a:p>
            <a:pPr>
              <a:spcBef>
                <a:spcPts val="600"/>
              </a:spcBef>
              <a:spcAft>
                <a:spcPts val="1200"/>
              </a:spcAft>
              <a:buNone/>
            </a:pPr>
            <a:r>
              <a:rPr lang="en-AU" sz="2100" u="sng" dirty="0" smtClean="0"/>
              <a:t>No dispense at tap</a:t>
            </a:r>
            <a:endParaRPr lang="en-AU" sz="2100" dirty="0" smtClean="0"/>
          </a:p>
          <a:p>
            <a:pPr lvl="0">
              <a:spcBef>
                <a:spcPts val="600"/>
              </a:spcBef>
              <a:spcAft>
                <a:spcPts val="1200"/>
              </a:spcAft>
            </a:pPr>
            <a:r>
              <a:rPr lang="en-AU" sz="2100" dirty="0" smtClean="0"/>
              <a:t>Ensure dispense tap is working properly</a:t>
            </a:r>
          </a:p>
          <a:p>
            <a:pPr lvl="0">
              <a:spcBef>
                <a:spcPts val="600"/>
              </a:spcBef>
              <a:spcAft>
                <a:spcPts val="1200"/>
              </a:spcAft>
            </a:pPr>
            <a:r>
              <a:rPr lang="en-AU" sz="2100" dirty="0" smtClean="0"/>
              <a:t>Ensure sparkler is not too tight or blocked</a:t>
            </a:r>
          </a:p>
          <a:p>
            <a:pPr lvl="0">
              <a:spcBef>
                <a:spcPts val="600"/>
              </a:spcBef>
              <a:spcAft>
                <a:spcPts val="1200"/>
              </a:spcAft>
            </a:pPr>
            <a:r>
              <a:rPr lang="en-AU" sz="2100" dirty="0" smtClean="0"/>
              <a:t>Ensure keg is not empty</a:t>
            </a:r>
          </a:p>
          <a:p>
            <a:pPr lvl="0">
              <a:spcBef>
                <a:spcPts val="600"/>
              </a:spcBef>
              <a:spcAft>
                <a:spcPts val="1200"/>
              </a:spcAft>
            </a:pPr>
            <a:r>
              <a:rPr lang="en-AU" sz="2100" dirty="0" smtClean="0"/>
              <a:t>Ensure line primer filled with beer</a:t>
            </a:r>
          </a:p>
          <a:p>
            <a:pPr lvl="0">
              <a:spcBef>
                <a:spcPts val="600"/>
              </a:spcBef>
              <a:spcAft>
                <a:spcPts val="1200"/>
              </a:spcAft>
            </a:pPr>
            <a:r>
              <a:rPr lang="en-AU" sz="2100" dirty="0" smtClean="0"/>
              <a:t>Ensure ball is floating</a:t>
            </a:r>
          </a:p>
          <a:p>
            <a:pPr lvl="0">
              <a:spcBef>
                <a:spcPts val="600"/>
              </a:spcBef>
              <a:spcAft>
                <a:spcPts val="1200"/>
              </a:spcAft>
            </a:pPr>
            <a:r>
              <a:rPr lang="en-AU" sz="2100" dirty="0" smtClean="0"/>
              <a:t>Ensure coupling head is fitted correctly</a:t>
            </a:r>
          </a:p>
          <a:p>
            <a:pPr lvl="0">
              <a:spcBef>
                <a:spcPts val="600"/>
              </a:spcBef>
              <a:spcAft>
                <a:spcPts val="1200"/>
              </a:spcAft>
            </a:pPr>
            <a:r>
              <a:rPr lang="en-AU" sz="2100" dirty="0" smtClean="0"/>
              <a:t>Change the keg</a:t>
            </a:r>
          </a:p>
          <a:p>
            <a:pPr>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http://ts1.mm.bing.net/th?id=H.4505804034476584&amp;pid=15.1&amp;H=125&amp;W=160"/>
          <p:cNvPicPr/>
          <p:nvPr/>
        </p:nvPicPr>
        <p:blipFill>
          <a:blip r:embed="rId3" cstate="print"/>
          <a:srcRect/>
          <a:stretch>
            <a:fillRect/>
          </a:stretch>
        </p:blipFill>
        <p:spPr bwMode="auto">
          <a:xfrm>
            <a:off x="6715140" y="2714620"/>
            <a:ext cx="1685116" cy="13352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Identifying and rectifying problems with beer dispensing system</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t>Common checks</a:t>
            </a:r>
          </a:p>
          <a:p>
            <a:pPr lvl="0">
              <a:spcBef>
                <a:spcPts val="600"/>
              </a:spcBef>
              <a:spcAft>
                <a:spcPts val="600"/>
              </a:spcAft>
            </a:pPr>
            <a:r>
              <a:rPr lang="en-US" sz="2200" dirty="0" smtClean="0"/>
              <a:t>Check the keg first if you notice a problem with the beer as you pour it </a:t>
            </a:r>
            <a:endParaRPr lang="en-AU" sz="2200" dirty="0" smtClean="0"/>
          </a:p>
          <a:p>
            <a:pPr lvl="0">
              <a:spcBef>
                <a:spcPts val="600"/>
              </a:spcBef>
              <a:spcAft>
                <a:spcPts val="600"/>
              </a:spcAft>
            </a:pPr>
            <a:r>
              <a:rPr lang="en-US" sz="2200" dirty="0" smtClean="0"/>
              <a:t>Notice the flow of the beer when you pull </a:t>
            </a:r>
            <a:br>
              <a:rPr lang="en-US" sz="2200" dirty="0" smtClean="0"/>
            </a:br>
            <a:r>
              <a:rPr lang="en-US" sz="2200" dirty="0" smtClean="0"/>
              <a:t>on the tap handle</a:t>
            </a:r>
            <a:endParaRPr lang="en-AU" sz="2200" dirty="0" smtClean="0"/>
          </a:p>
          <a:p>
            <a:pPr lvl="0">
              <a:spcBef>
                <a:spcPts val="600"/>
              </a:spcBef>
              <a:spcAft>
                <a:spcPts val="600"/>
              </a:spcAft>
            </a:pPr>
            <a:r>
              <a:rPr lang="en-US" sz="2200" dirty="0" smtClean="0"/>
              <a:t>Check the gauge on your </a:t>
            </a:r>
            <a:r>
              <a:rPr lang="en-AU" sz="2200" dirty="0" smtClean="0"/>
              <a:t>CO</a:t>
            </a:r>
            <a:r>
              <a:rPr lang="en-AU" sz="2200" baseline="-25000" dirty="0" smtClean="0"/>
              <a:t>2</a:t>
            </a:r>
            <a:r>
              <a:rPr lang="en-US" sz="2200" dirty="0" smtClean="0"/>
              <a:t> tank</a:t>
            </a:r>
            <a:endParaRPr lang="en-AU" sz="2200" dirty="0" smtClean="0"/>
          </a:p>
          <a:p>
            <a:pPr lvl="0">
              <a:spcBef>
                <a:spcPts val="600"/>
              </a:spcBef>
              <a:spcAft>
                <a:spcPts val="600"/>
              </a:spcAft>
            </a:pPr>
            <a:r>
              <a:rPr lang="en-US" sz="2200" dirty="0" smtClean="0"/>
              <a:t>Notice the level of foam pouring out of the tap</a:t>
            </a:r>
            <a:endParaRPr lang="en-AU" sz="2200" dirty="0" smtClean="0"/>
          </a:p>
          <a:p>
            <a:pPr lvl="0">
              <a:spcBef>
                <a:spcPts val="600"/>
              </a:spcBef>
              <a:spcAft>
                <a:spcPts val="600"/>
              </a:spcAft>
            </a:pPr>
            <a:r>
              <a:rPr lang="en-US" sz="2200" dirty="0" smtClean="0"/>
              <a:t>Taste the beer for correct temperature </a:t>
            </a:r>
            <a:endParaRPr lang="en-AU" sz="2200" dirty="0" smtClean="0"/>
          </a:p>
          <a:p>
            <a:pPr lvl="0">
              <a:spcBef>
                <a:spcPts val="600"/>
              </a:spcBef>
              <a:spcAft>
                <a:spcPts val="600"/>
              </a:spcAft>
            </a:pPr>
            <a:r>
              <a:rPr lang="en-US" sz="2200" dirty="0" smtClean="0"/>
              <a:t>Have your draft beer lines cleaned </a:t>
            </a:r>
          </a:p>
          <a:p>
            <a:pPr lvl="0">
              <a:spcBef>
                <a:spcPts val="600"/>
              </a:spcBef>
              <a:spcAft>
                <a:spcPts val="600"/>
              </a:spcAft>
            </a:pPr>
            <a:r>
              <a:rPr lang="en-US" sz="2200" dirty="0" smtClean="0"/>
              <a:t>Have your keg cooler checked for correct temperature </a:t>
            </a: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http://ts3.mm.bing.net/th?id=H.5027827153765630&amp;pid=15.1&amp;H=91&amp;W=160"/>
          <p:cNvPicPr/>
          <p:nvPr/>
        </p:nvPicPr>
        <p:blipFill>
          <a:blip r:embed="rId3" cstate="print"/>
          <a:srcRect/>
          <a:stretch>
            <a:fillRect/>
          </a:stretch>
        </p:blipFill>
        <p:spPr bwMode="auto">
          <a:xfrm>
            <a:off x="6588224" y="2974516"/>
            <a:ext cx="1831060" cy="10305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Handling, connecting and storing gas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handling gas correctly</a:t>
            </a:r>
          </a:p>
          <a:p>
            <a:pPr>
              <a:spcBef>
                <a:spcPts val="600"/>
              </a:spcBef>
              <a:spcAft>
                <a:spcPts val="1200"/>
              </a:spcAft>
            </a:pPr>
            <a:r>
              <a:rPr lang="en-AU" sz="2200" dirty="0" smtClean="0"/>
              <a:t>Gas is a common and essential component of bulk dispensing systems</a:t>
            </a:r>
          </a:p>
          <a:p>
            <a:pPr>
              <a:spcBef>
                <a:spcPts val="600"/>
              </a:spcBef>
              <a:spcAft>
                <a:spcPts val="1200"/>
              </a:spcAft>
            </a:pPr>
            <a:r>
              <a:rPr lang="en-AU" sz="2200" dirty="0" smtClean="0"/>
              <a:t>It is essential that when handling gas it is done so in a manner that is safe for the operator</a:t>
            </a:r>
            <a:endParaRPr lang="en-AU" sz="2200" b="1"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6" name="Picture 5" descr="fotos_transporte.jpg"/>
          <p:cNvPicPr/>
          <p:nvPr/>
        </p:nvPicPr>
        <p:blipFill>
          <a:blip r:embed="rId3" cstate="print"/>
          <a:stretch>
            <a:fillRect/>
          </a:stretch>
        </p:blipFill>
        <p:spPr>
          <a:xfrm>
            <a:off x="3851920" y="4077072"/>
            <a:ext cx="1484362" cy="1695053"/>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Handling, connecting and storing gas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Knowledge of beverage gas system operations</a:t>
            </a:r>
          </a:p>
          <a:p>
            <a:pPr marL="0">
              <a:spcBef>
                <a:spcPts val="600"/>
              </a:spcBef>
              <a:spcAft>
                <a:spcPts val="1200"/>
              </a:spcAft>
              <a:buNone/>
            </a:pPr>
            <a:r>
              <a:rPr lang="en-AU" sz="2200" dirty="0" smtClean="0"/>
              <a:t>Any cellar operator must have an understanding and  working knowledge of not only the key components of beverage dispensing systems, as identified to date, but also of beverage gas system operations.</a:t>
            </a:r>
          </a:p>
          <a:p>
            <a:pPr>
              <a:spcBef>
                <a:spcPts val="600"/>
              </a:spcBef>
              <a:spcAft>
                <a:spcPts val="1200"/>
              </a:spcAft>
            </a:pPr>
            <a:r>
              <a:rPr lang="en-AU" sz="2200" dirty="0" smtClean="0"/>
              <a:t>What should a cellar operator know when it comes to ‘gas knowledge’?</a:t>
            </a:r>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IMG_9746_0.jpg"/>
          <p:cNvPicPr>
            <a:picLocks noChangeAspect="1"/>
          </p:cNvPicPr>
          <p:nvPr/>
        </p:nvPicPr>
        <p:blipFill>
          <a:blip r:embed="rId3" cstate="print"/>
          <a:stretch>
            <a:fillRect/>
          </a:stretch>
        </p:blipFill>
        <p:spPr>
          <a:xfrm>
            <a:off x="3491880" y="4653136"/>
            <a:ext cx="1737742" cy="1737742"/>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Handling, connecting and storing gas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Knowledge of beverage gas system operations</a:t>
            </a:r>
          </a:p>
          <a:p>
            <a:pPr lvl="0">
              <a:spcBef>
                <a:spcPts val="600"/>
              </a:spcBef>
              <a:spcAft>
                <a:spcPts val="1200"/>
              </a:spcAft>
            </a:pPr>
            <a:r>
              <a:rPr lang="en-AU" sz="2200" dirty="0" smtClean="0"/>
              <a:t>How to handle, store, connect and disconnect beverage gas cylinders </a:t>
            </a:r>
          </a:p>
          <a:p>
            <a:pPr lvl="0">
              <a:spcBef>
                <a:spcPts val="600"/>
              </a:spcBef>
              <a:spcAft>
                <a:spcPts val="1200"/>
              </a:spcAft>
            </a:pPr>
            <a:r>
              <a:rPr lang="en-AU" sz="2200" dirty="0" smtClean="0"/>
              <a:t>Inert gas in confined spaces and the potential </a:t>
            </a:r>
            <a:br>
              <a:rPr lang="en-AU" sz="2200" dirty="0" smtClean="0"/>
            </a:br>
            <a:r>
              <a:rPr lang="en-AU" sz="2200" dirty="0" smtClean="0"/>
              <a:t>dangers </a:t>
            </a:r>
          </a:p>
          <a:p>
            <a:pPr lvl="0">
              <a:spcBef>
                <a:spcPts val="600"/>
              </a:spcBef>
              <a:spcAft>
                <a:spcPts val="1200"/>
              </a:spcAft>
            </a:pPr>
            <a:r>
              <a:rPr lang="en-AU" sz="2200" dirty="0" smtClean="0"/>
              <a:t>Particular dangers of carbon dioxide and nitrogen </a:t>
            </a:r>
          </a:p>
          <a:p>
            <a:pPr lvl="0">
              <a:spcBef>
                <a:spcPts val="600"/>
              </a:spcBef>
              <a:spcAft>
                <a:spcPts val="1200"/>
              </a:spcAft>
            </a:pPr>
            <a:r>
              <a:rPr lang="en-AU" sz="2200" dirty="0" smtClean="0"/>
              <a:t>Required fire protection equipment and other emergency and alarm procedures </a:t>
            </a:r>
          </a:p>
          <a:p>
            <a:pPr lvl="0">
              <a:spcBef>
                <a:spcPts val="600"/>
              </a:spcBef>
              <a:spcAft>
                <a:spcPts val="1200"/>
              </a:spcAft>
            </a:pPr>
            <a:r>
              <a:rPr lang="en-AU" sz="2200" dirty="0" smtClean="0"/>
              <a:t>Methods and techniques for undertaking routine checks for leaks</a:t>
            </a:r>
          </a:p>
          <a:p>
            <a:pPr>
              <a:spcBef>
                <a:spcPts val="600"/>
              </a:spcBef>
              <a:spcAft>
                <a:spcPts val="1200"/>
              </a:spcAft>
              <a:buNone/>
            </a:pPr>
            <a:endParaRPr lang="en-AU" sz="2200" b="1"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7" name="Picture 6" descr="fotos_manutencao.jpg"/>
          <p:cNvPicPr/>
          <p:nvPr/>
        </p:nvPicPr>
        <p:blipFill>
          <a:blip r:embed="rId3" cstate="print"/>
          <a:stretch>
            <a:fillRect/>
          </a:stretch>
        </p:blipFill>
        <p:spPr>
          <a:xfrm>
            <a:off x="7092280" y="2492896"/>
            <a:ext cx="1171575" cy="132397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Handling, connecting and storing gas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Gas safety guidelines</a:t>
            </a:r>
          </a:p>
          <a:p>
            <a:pPr>
              <a:spcBef>
                <a:spcPts val="600"/>
              </a:spcBef>
              <a:spcAft>
                <a:spcPts val="1200"/>
              </a:spcAft>
            </a:pPr>
            <a:r>
              <a:rPr lang="en-AU" sz="2200" dirty="0" smtClean="0"/>
              <a:t>Assess your cellar to identify safety hazards</a:t>
            </a:r>
          </a:p>
          <a:p>
            <a:pPr>
              <a:spcBef>
                <a:spcPts val="600"/>
              </a:spcBef>
              <a:spcAft>
                <a:spcPts val="1200"/>
              </a:spcAft>
            </a:pPr>
            <a:r>
              <a:rPr lang="en-AU" sz="2200" dirty="0" smtClean="0"/>
              <a:t>Prevent build up of CO</a:t>
            </a:r>
            <a:r>
              <a:rPr lang="en-AU" sz="2200" baseline="-25000" dirty="0" smtClean="0"/>
              <a:t>2</a:t>
            </a:r>
          </a:p>
          <a:p>
            <a:pPr>
              <a:spcBef>
                <a:spcPts val="600"/>
              </a:spcBef>
              <a:spcAft>
                <a:spcPts val="1200"/>
              </a:spcAft>
            </a:pPr>
            <a:r>
              <a:rPr lang="en-AU" sz="2200" dirty="0" smtClean="0"/>
              <a:t>Never tamper with cylinders</a:t>
            </a:r>
          </a:p>
          <a:p>
            <a:pPr>
              <a:spcBef>
                <a:spcPts val="600"/>
              </a:spcBef>
              <a:spcAft>
                <a:spcPts val="1200"/>
              </a:spcAft>
            </a:pPr>
            <a:r>
              <a:rPr lang="en-AU" sz="2200" dirty="0" smtClean="0"/>
              <a:t>Store cylinders correctly</a:t>
            </a:r>
          </a:p>
          <a:p>
            <a:pPr>
              <a:spcBef>
                <a:spcPts val="600"/>
              </a:spcBef>
              <a:spcAft>
                <a:spcPts val="1200"/>
              </a:spcAft>
            </a:pPr>
            <a:r>
              <a:rPr lang="en-AU" sz="2200" dirty="0" smtClean="0"/>
              <a:t>Handle cylinders correctly</a:t>
            </a:r>
          </a:p>
          <a:p>
            <a:pPr>
              <a:spcBef>
                <a:spcPts val="600"/>
              </a:spcBef>
              <a:spcAft>
                <a:spcPts val="1200"/>
              </a:spcAft>
            </a:pPr>
            <a:r>
              <a:rPr lang="en-AU" sz="2200" dirty="0" smtClean="0"/>
              <a:t>Do not overstock gas supplies</a:t>
            </a:r>
          </a:p>
          <a:p>
            <a:pPr>
              <a:spcBef>
                <a:spcPts val="600"/>
              </a:spcBef>
              <a:spcAft>
                <a:spcPts val="1200"/>
              </a:spcAft>
              <a:buNone/>
            </a:pPr>
            <a:endParaRPr lang="en-AU" sz="2200" b="1" dirty="0" smtClean="0"/>
          </a:p>
          <a:p>
            <a:pPr>
              <a:spcBef>
                <a:spcPts val="600"/>
              </a:spcBef>
              <a:spcAft>
                <a:spcPts val="1200"/>
              </a:spcAft>
              <a:buNone/>
            </a:pPr>
            <a:endParaRPr lang="en-AU" sz="2200" b="1"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IMG_0081-1-307x230.jpg"/>
          <p:cNvPicPr>
            <a:picLocks noChangeAspect="1"/>
          </p:cNvPicPr>
          <p:nvPr/>
        </p:nvPicPr>
        <p:blipFill>
          <a:blip r:embed="rId3" cstate="print">
            <a:lum contrast="20000"/>
          </a:blip>
          <a:stretch>
            <a:fillRect/>
          </a:stretch>
        </p:blipFill>
        <p:spPr>
          <a:xfrm>
            <a:off x="6300192" y="3429000"/>
            <a:ext cx="1750433" cy="1311399"/>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rPr>
              <a:t>Use and maintain refrigeration systems</a:t>
            </a:r>
            <a:endParaRPr lang="en-AU" sz="4000" dirty="0" smtClean="0">
              <a:solidFill>
                <a:srgbClr val="FF6600"/>
              </a:solidFill>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http://ts4.mm.bing.net/th?id=H.4581592996383427&amp;pid=15.1&amp;H=125&amp;W=160"/>
          <p:cNvPicPr/>
          <p:nvPr/>
        </p:nvPicPr>
        <p:blipFill>
          <a:blip r:embed="rId3" cstate="print">
            <a:lum contrast="20000"/>
          </a:blip>
          <a:srcRect/>
          <a:stretch>
            <a:fillRect/>
          </a:stretch>
        </p:blipFill>
        <p:spPr bwMode="auto">
          <a:xfrm>
            <a:off x="3275856" y="3573016"/>
            <a:ext cx="2178862" cy="18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Use and maintain refrigeration systems</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t>Measure refrigerator temperatures accurately and adjust correctly to comply with product requirements</a:t>
            </a:r>
          </a:p>
          <a:p>
            <a:pPr>
              <a:spcBef>
                <a:spcPts val="600"/>
              </a:spcBef>
              <a:spcAft>
                <a:spcPts val="1200"/>
              </a:spcAft>
            </a:pPr>
            <a:r>
              <a:rPr lang="en-AU" sz="2200" dirty="0" smtClean="0"/>
              <a:t>Clean and maintain refrigerator components </a:t>
            </a:r>
          </a:p>
          <a:p>
            <a:pPr>
              <a:spcBef>
                <a:spcPts val="600"/>
              </a:spcBef>
              <a:spcAft>
                <a:spcPts val="1200"/>
              </a:spcAft>
            </a:pPr>
            <a:r>
              <a:rPr lang="en-AU" sz="2200" dirty="0" smtClean="0"/>
              <a:t>Set or re-set walk-in alarms to manufacturer's specifications</a:t>
            </a:r>
          </a:p>
          <a:p>
            <a:pPr>
              <a:spcBef>
                <a:spcPts val="600"/>
              </a:spcBef>
              <a:spcAft>
                <a:spcPts val="1200"/>
              </a:spcAft>
            </a:pPr>
            <a:r>
              <a:rPr lang="en-AU" sz="2200" dirty="0" smtClean="0"/>
              <a:t>Recognise and repair/report basic mechanical                     faults in accordance with enterprise procedures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7659427" y="2357430"/>
            <a:ext cx="341597" cy="451048"/>
          </a:xfrm>
          <a:prstGeom prst="rect">
            <a:avLst/>
          </a:prstGeom>
          <a:noFill/>
        </p:spPr>
      </p:pic>
      <p:pic>
        <p:nvPicPr>
          <p:cNvPr id="7"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659295" y="3000372"/>
            <a:ext cx="341597" cy="451048"/>
          </a:xfrm>
          <a:prstGeom prst="rect">
            <a:avLst/>
          </a:prstGeom>
          <a:noFill/>
        </p:spPr>
      </p:pic>
      <p:pic>
        <p:nvPicPr>
          <p:cNvPr id="8"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2873081" y="3929066"/>
            <a:ext cx="341597" cy="451048"/>
          </a:xfrm>
          <a:prstGeom prst="rect">
            <a:avLst/>
          </a:prstGeom>
          <a:noFill/>
        </p:spPr>
      </p:pic>
      <p:pic>
        <p:nvPicPr>
          <p:cNvPr id="9"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7087923" y="4786322"/>
            <a:ext cx="341597" cy="451048"/>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Types of refrigeration systems</a:t>
            </a:r>
          </a:p>
          <a:p>
            <a:pPr lvl="0">
              <a:spcBef>
                <a:spcPts val="600"/>
              </a:spcBef>
              <a:spcAft>
                <a:spcPts val="1200"/>
              </a:spcAft>
            </a:pPr>
            <a:r>
              <a:rPr lang="en-AU" sz="2200" dirty="0" smtClean="0"/>
              <a:t>Glycol system or refrigerated beer line system </a:t>
            </a:r>
          </a:p>
          <a:p>
            <a:pPr lvl="0">
              <a:spcBef>
                <a:spcPts val="600"/>
              </a:spcBef>
              <a:spcAft>
                <a:spcPts val="1200"/>
              </a:spcAft>
            </a:pPr>
            <a:r>
              <a:rPr lang="en-AU" sz="2200" dirty="0" smtClean="0"/>
              <a:t>Glycol tanks and pumps </a:t>
            </a:r>
          </a:p>
          <a:p>
            <a:pPr lvl="0">
              <a:spcBef>
                <a:spcPts val="600"/>
              </a:spcBef>
              <a:spcAft>
                <a:spcPts val="1200"/>
              </a:spcAft>
            </a:pPr>
            <a:r>
              <a:rPr lang="en-AU" sz="2200" dirty="0" smtClean="0"/>
              <a:t>Compressors</a:t>
            </a:r>
          </a:p>
          <a:p>
            <a:pPr lvl="0">
              <a:spcBef>
                <a:spcPts val="600"/>
              </a:spcBef>
              <a:spcAft>
                <a:spcPts val="1200"/>
              </a:spcAft>
            </a:pPr>
            <a:r>
              <a:rPr lang="en-AU" sz="2200" dirty="0" smtClean="0"/>
              <a:t>Chiller plates</a:t>
            </a:r>
          </a:p>
          <a:p>
            <a:pPr>
              <a:spcBef>
                <a:spcPts val="600"/>
              </a:spcBef>
              <a:spcAft>
                <a:spcPts val="1200"/>
              </a:spcAft>
            </a:pPr>
            <a:r>
              <a:rPr lang="en-AU" sz="2200" dirty="0" smtClean="0"/>
              <a:t>Cold rooms </a:t>
            </a:r>
            <a:endParaRPr lang="en-AU" sz="2200" b="1" dirty="0" smtClean="0"/>
          </a:p>
          <a:p>
            <a:pPr>
              <a:spcBef>
                <a:spcPts val="600"/>
              </a:spcBef>
              <a:spcAft>
                <a:spcPts val="1200"/>
              </a:spcAft>
              <a:buNone/>
            </a:pPr>
            <a:endParaRPr lang="en-AU" sz="2200" b="1"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http://ts4.mm.bing.net/th?id=H.4715892327777823&amp;pid=15.1&amp;H=160&amp;W=118"/>
          <p:cNvPicPr/>
          <p:nvPr/>
        </p:nvPicPr>
        <p:blipFill>
          <a:blip r:embed="rId3" cstate="print"/>
          <a:srcRect/>
          <a:stretch>
            <a:fillRect/>
          </a:stretch>
        </p:blipFill>
        <p:spPr bwMode="auto">
          <a:xfrm>
            <a:off x="6372200" y="2996952"/>
            <a:ext cx="1195958" cy="14519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Types of refrigeration systems</a:t>
            </a:r>
          </a:p>
          <a:p>
            <a:pPr lvl="0">
              <a:spcBef>
                <a:spcPts val="600"/>
              </a:spcBef>
              <a:spcAft>
                <a:spcPts val="1200"/>
              </a:spcAft>
            </a:pPr>
            <a:r>
              <a:rPr lang="en-AU" sz="2200" dirty="0" smtClean="0"/>
              <a:t>Cabinets</a:t>
            </a:r>
          </a:p>
          <a:p>
            <a:pPr lvl="0">
              <a:spcBef>
                <a:spcPts val="600"/>
              </a:spcBef>
              <a:spcAft>
                <a:spcPts val="1200"/>
              </a:spcAft>
            </a:pPr>
            <a:r>
              <a:rPr lang="en-AU" sz="2200" dirty="0" smtClean="0"/>
              <a:t>Instantaneous coolers</a:t>
            </a:r>
          </a:p>
          <a:p>
            <a:pPr lvl="0">
              <a:spcBef>
                <a:spcPts val="600"/>
              </a:spcBef>
              <a:spcAft>
                <a:spcPts val="1200"/>
              </a:spcAft>
            </a:pPr>
            <a:r>
              <a:rPr lang="en-AU" sz="2200" dirty="0" smtClean="0"/>
              <a:t>Portable coolers</a:t>
            </a:r>
            <a:endParaRPr lang="en-AU" sz="2200" b="1" dirty="0" smtClean="0"/>
          </a:p>
          <a:p>
            <a:pPr lvl="0">
              <a:spcBef>
                <a:spcPts val="600"/>
              </a:spcBef>
              <a:spcAft>
                <a:spcPts val="1200"/>
              </a:spcAft>
            </a:pPr>
            <a:r>
              <a:rPr lang="en-AU" sz="2200" dirty="0" smtClean="0"/>
              <a:t>Ice bank or water chilled system </a:t>
            </a:r>
          </a:p>
          <a:p>
            <a:pPr>
              <a:spcBef>
                <a:spcPts val="600"/>
              </a:spcBef>
              <a:spcAft>
                <a:spcPts val="1200"/>
              </a:spcAft>
            </a:pPr>
            <a:r>
              <a:rPr lang="en-AU" sz="2200" dirty="0" smtClean="0"/>
              <a:t>Temprite or instantaneous cooler system</a:t>
            </a:r>
            <a:endParaRPr lang="en-AU" sz="2200" b="1"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IMG_2017.jpg"/>
          <p:cNvPicPr/>
          <p:nvPr/>
        </p:nvPicPr>
        <p:blipFill>
          <a:blip r:embed="rId3" cstate="print"/>
          <a:stretch>
            <a:fillRect/>
          </a:stretch>
        </p:blipFill>
        <p:spPr>
          <a:xfrm>
            <a:off x="6732240" y="2564904"/>
            <a:ext cx="1395983" cy="176212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Commercial bar refrigerators</a:t>
            </a:r>
            <a:endParaRPr lang="en-AU" sz="2200" dirty="0" smtClean="0"/>
          </a:p>
          <a:p>
            <a:pPr>
              <a:spcBef>
                <a:spcPts val="600"/>
              </a:spcBef>
              <a:spcAft>
                <a:spcPts val="1200"/>
              </a:spcAft>
            </a:pPr>
            <a:r>
              <a:rPr lang="en-AU" sz="2200" dirty="0" smtClean="0"/>
              <a:t>Kegerators</a:t>
            </a:r>
          </a:p>
          <a:p>
            <a:pPr>
              <a:spcBef>
                <a:spcPts val="600"/>
              </a:spcBef>
              <a:spcAft>
                <a:spcPts val="1200"/>
              </a:spcAft>
            </a:pPr>
            <a:r>
              <a:rPr lang="en-AU" sz="2200" dirty="0" smtClean="0"/>
              <a:t>Back Bar Refrigerators</a:t>
            </a:r>
          </a:p>
          <a:p>
            <a:pPr>
              <a:spcBef>
                <a:spcPts val="600"/>
              </a:spcBef>
              <a:spcAft>
                <a:spcPts val="1200"/>
              </a:spcAft>
            </a:pPr>
            <a:r>
              <a:rPr lang="en-AU" sz="2200" dirty="0" smtClean="0"/>
              <a:t>Shallow &amp; Deep Well Bottle Coolers</a:t>
            </a:r>
          </a:p>
          <a:p>
            <a:pPr>
              <a:spcBef>
                <a:spcPts val="600"/>
              </a:spcBef>
              <a:spcAft>
                <a:spcPts val="1200"/>
              </a:spcAft>
            </a:pPr>
            <a:r>
              <a:rPr lang="en-AU" sz="2200" dirty="0" smtClean="0"/>
              <a:t>Glass Frosters / Chillers</a:t>
            </a:r>
          </a:p>
          <a:p>
            <a:pPr>
              <a:spcBef>
                <a:spcPts val="600"/>
              </a:spcBef>
              <a:spcAft>
                <a:spcPts val="1200"/>
              </a:spcAft>
            </a:pPr>
            <a:r>
              <a:rPr lang="en-AU" sz="2200" dirty="0" smtClean="0"/>
              <a:t>Merchandise / Display fridges</a:t>
            </a:r>
          </a:p>
          <a:p>
            <a:pPr>
              <a:spcBef>
                <a:spcPts val="600"/>
              </a:spcBef>
              <a:spcAft>
                <a:spcPts val="1200"/>
              </a:spcAft>
            </a:pPr>
            <a:r>
              <a:rPr lang="en-AU" sz="2200" dirty="0" smtClean="0"/>
              <a:t>Walk in Coolers</a:t>
            </a:r>
          </a:p>
          <a:p>
            <a:pPr>
              <a:buNone/>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Bottle Cooler - 50&quot;W, Horizontal Deepwell, Solid Doors on Top"/>
          <p:cNvPicPr/>
          <p:nvPr/>
        </p:nvPicPr>
        <p:blipFill>
          <a:blip r:embed="rId3" cstate="print"/>
          <a:srcRect/>
          <a:stretch>
            <a:fillRect/>
          </a:stretch>
        </p:blipFill>
        <p:spPr bwMode="auto">
          <a:xfrm>
            <a:off x="6516216" y="2996952"/>
            <a:ext cx="1478657" cy="14207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Methods to check refrigeration temperatures</a:t>
            </a:r>
            <a:endParaRPr lang="en-AU" sz="2200" dirty="0" smtClean="0"/>
          </a:p>
          <a:p>
            <a:pPr marL="0">
              <a:spcBef>
                <a:spcPts val="600"/>
              </a:spcBef>
              <a:spcAft>
                <a:spcPts val="1200"/>
              </a:spcAft>
              <a:buNone/>
            </a:pPr>
            <a:r>
              <a:rPr lang="en-US" sz="2200" dirty="0" smtClean="0"/>
              <a:t>There are two ways to check the temperature inside a refrigerator:</a:t>
            </a:r>
            <a:endParaRPr lang="en-AU" sz="2200" dirty="0" smtClean="0"/>
          </a:p>
          <a:p>
            <a:pPr lvl="0">
              <a:spcBef>
                <a:spcPts val="600"/>
              </a:spcBef>
              <a:spcAft>
                <a:spcPts val="1200"/>
              </a:spcAft>
            </a:pPr>
            <a:r>
              <a:rPr lang="en-US" sz="2200" dirty="0" smtClean="0"/>
              <a:t>One way checks the air temperature                                      inside the refrigerator </a:t>
            </a:r>
            <a:endParaRPr lang="en-AU" sz="2200" dirty="0" smtClean="0"/>
          </a:p>
          <a:p>
            <a:pPr lvl="0">
              <a:spcBef>
                <a:spcPts val="600"/>
              </a:spcBef>
              <a:spcAft>
                <a:spcPts val="1200"/>
              </a:spcAft>
            </a:pPr>
            <a:r>
              <a:rPr lang="en-US" sz="2200" dirty="0" smtClean="0"/>
              <a:t>Another way gives the internal temperature                              of something in the refrigerator</a:t>
            </a:r>
            <a:endParaRPr lang="en-AU" sz="2200" dirty="0" smtClean="0"/>
          </a:p>
          <a:p>
            <a:pPr>
              <a:buNone/>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Taylor Additional Wireless Sensor"/>
          <p:cNvPicPr/>
          <p:nvPr/>
        </p:nvPicPr>
        <p:blipFill>
          <a:blip r:embed="rId3" cstate="print"/>
          <a:srcRect/>
          <a:stretch>
            <a:fillRect/>
          </a:stretch>
        </p:blipFill>
        <p:spPr bwMode="auto">
          <a:xfrm>
            <a:off x="6876256" y="3140968"/>
            <a:ext cx="1464940" cy="13929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Types of commercial refrigerator thermostats</a:t>
            </a:r>
            <a:endParaRPr lang="en-AU" sz="2200" dirty="0" smtClean="0"/>
          </a:p>
          <a:p>
            <a:pPr>
              <a:spcBef>
                <a:spcPts val="600"/>
              </a:spcBef>
              <a:spcAft>
                <a:spcPts val="1200"/>
              </a:spcAft>
            </a:pPr>
            <a:r>
              <a:rPr lang="en-US" sz="2200" dirty="0" smtClean="0"/>
              <a:t>Commercial refrigerator thermostats measure and regulate the temperature in large commercial refrigerators</a:t>
            </a:r>
          </a:p>
          <a:p>
            <a:pPr>
              <a:spcBef>
                <a:spcPts val="600"/>
              </a:spcBef>
              <a:spcAft>
                <a:spcPts val="1200"/>
              </a:spcAft>
            </a:pPr>
            <a:r>
              <a:rPr lang="en-US" sz="2200" dirty="0" smtClean="0"/>
              <a:t>They do this by opening and closing an electric current that turns the refrigerator's compressor on and off</a:t>
            </a:r>
            <a:endParaRPr lang="en-AU" sz="2200" dirty="0" smtClean="0"/>
          </a:p>
          <a:p>
            <a:pPr>
              <a:buNone/>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http://ts1.mm.bing.net/th?id=H.4988596958594644&amp;pid=15.1&amp;H=160&amp;W=160"/>
          <p:cNvPicPr/>
          <p:nvPr/>
        </p:nvPicPr>
        <p:blipFill>
          <a:blip r:embed="rId3" cstate="print"/>
          <a:srcRect/>
          <a:stretch>
            <a:fillRect/>
          </a:stretch>
        </p:blipFill>
        <p:spPr bwMode="auto">
          <a:xfrm>
            <a:off x="3563888" y="4293096"/>
            <a:ext cx="1524000"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Types of commercial refrigerator thermostats</a:t>
            </a:r>
            <a:endParaRPr lang="en-AU" sz="2200" dirty="0" smtClean="0"/>
          </a:p>
          <a:p>
            <a:pPr>
              <a:spcBef>
                <a:spcPts val="600"/>
              </a:spcBef>
              <a:spcAft>
                <a:spcPts val="1200"/>
              </a:spcAft>
            </a:pPr>
            <a:r>
              <a:rPr lang="en-US" sz="2200" dirty="0" smtClean="0"/>
              <a:t>Air Sensing</a:t>
            </a:r>
          </a:p>
          <a:p>
            <a:pPr>
              <a:spcBef>
                <a:spcPts val="600"/>
              </a:spcBef>
              <a:spcAft>
                <a:spcPts val="1200"/>
              </a:spcAft>
            </a:pPr>
            <a:r>
              <a:rPr lang="en-US" sz="2200" dirty="0" smtClean="0"/>
              <a:t>Evaporator Coil Sensing</a:t>
            </a:r>
            <a:endParaRPr lang="en-AU" sz="2200" dirty="0" smtClean="0"/>
          </a:p>
          <a:p>
            <a:pPr>
              <a:spcBef>
                <a:spcPts val="600"/>
              </a:spcBef>
              <a:spcAft>
                <a:spcPts val="1200"/>
              </a:spcAft>
            </a:pPr>
            <a:r>
              <a:rPr lang="en-US" sz="2200" dirty="0" smtClean="0"/>
              <a:t>Pressure Sensing</a:t>
            </a:r>
            <a:endParaRPr lang="en-AU" sz="2200" dirty="0" smtClean="0"/>
          </a:p>
          <a:p>
            <a:pPr>
              <a:spcBef>
                <a:spcPts val="600"/>
              </a:spcBef>
              <a:spcAft>
                <a:spcPts val="1200"/>
              </a:spcAft>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http://ts3.mm.bing.net/th?id=H.4871675084080026&amp;pid=15.1&amp;H=160&amp;W=144"/>
          <p:cNvPicPr/>
          <p:nvPr/>
        </p:nvPicPr>
        <p:blipFill>
          <a:blip r:embed="rId3" cstate="print"/>
          <a:srcRect/>
          <a:stretch>
            <a:fillRect/>
          </a:stretch>
        </p:blipFill>
        <p:spPr bwMode="auto">
          <a:xfrm>
            <a:off x="5724128" y="2276872"/>
            <a:ext cx="1224136" cy="1309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components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Refrigerator components </a:t>
            </a:r>
            <a:endParaRPr lang="en-AU" sz="2200" dirty="0" smtClean="0"/>
          </a:p>
          <a:p>
            <a:pPr marL="0">
              <a:spcBef>
                <a:spcPts val="600"/>
              </a:spcBef>
              <a:spcAft>
                <a:spcPts val="1200"/>
              </a:spcAft>
              <a:buNone/>
            </a:pPr>
            <a:r>
              <a:rPr lang="en-AU" sz="2200" dirty="0" smtClean="0"/>
              <a:t>Refrigerator components may need to be cleaned on a regular basis include:</a:t>
            </a:r>
          </a:p>
          <a:p>
            <a:pPr lvl="0">
              <a:spcBef>
                <a:spcPts val="600"/>
              </a:spcBef>
              <a:spcAft>
                <a:spcPts val="1200"/>
              </a:spcAft>
            </a:pPr>
            <a:r>
              <a:rPr lang="en-AU" sz="2200" dirty="0" smtClean="0"/>
              <a:t>Vents</a:t>
            </a:r>
          </a:p>
          <a:p>
            <a:pPr lvl="0">
              <a:spcBef>
                <a:spcPts val="600"/>
              </a:spcBef>
              <a:spcAft>
                <a:spcPts val="1200"/>
              </a:spcAft>
            </a:pPr>
            <a:r>
              <a:rPr lang="en-AU" sz="2200" dirty="0" smtClean="0"/>
              <a:t>Coils</a:t>
            </a:r>
          </a:p>
          <a:p>
            <a:pPr lvl="0">
              <a:spcBef>
                <a:spcPts val="600"/>
              </a:spcBef>
              <a:spcAft>
                <a:spcPts val="1200"/>
              </a:spcAft>
            </a:pPr>
            <a:r>
              <a:rPr lang="en-AU" sz="2200" dirty="0" smtClean="0"/>
              <a:t>Filters</a:t>
            </a:r>
          </a:p>
          <a:p>
            <a:pPr lvl="0">
              <a:spcBef>
                <a:spcPts val="600"/>
              </a:spcBef>
              <a:spcAft>
                <a:spcPts val="1200"/>
              </a:spcAft>
            </a:pPr>
            <a:r>
              <a:rPr lang="en-AU" sz="2200" dirty="0" smtClean="0"/>
              <a:t>Seals</a:t>
            </a:r>
          </a:p>
          <a:p>
            <a:pPr lvl="0">
              <a:spcBef>
                <a:spcPts val="600"/>
              </a:spcBef>
              <a:spcAft>
                <a:spcPts val="1200"/>
              </a:spcAft>
            </a:pPr>
            <a:r>
              <a:rPr lang="en-AU" sz="2200" dirty="0" smtClean="0"/>
              <a:t>Catches</a:t>
            </a:r>
          </a:p>
          <a:p>
            <a:pPr>
              <a:spcBef>
                <a:spcPts val="600"/>
              </a:spcBef>
              <a:spcAft>
                <a:spcPts val="1200"/>
              </a:spcAft>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http://ts3.mm.bing.net/th?id=H.4601487274608322&amp;pid=15.1&amp;H=160&amp;W=160"/>
          <p:cNvPicPr/>
          <p:nvPr/>
        </p:nvPicPr>
        <p:blipFill>
          <a:blip r:embed="rId3" cstate="print"/>
          <a:srcRect/>
          <a:stretch>
            <a:fillRect/>
          </a:stretch>
        </p:blipFill>
        <p:spPr bwMode="auto">
          <a:xfrm>
            <a:off x="5826670" y="3429000"/>
            <a:ext cx="1611060" cy="1512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monitoring and control systems</a:t>
            </a:r>
          </a:p>
          <a:p>
            <a:pPr marL="0">
              <a:spcBef>
                <a:spcPts val="600"/>
              </a:spcBef>
              <a:spcAft>
                <a:spcPts val="1200"/>
              </a:spcAft>
              <a:buNone/>
            </a:pPr>
            <a:r>
              <a:rPr lang="en-AU" sz="2200" dirty="0" smtClean="0"/>
              <a:t>Given the substantial value often associated with bar stock it is not surprising some establishments will have refrigeration monitoring and control systems installed. </a:t>
            </a:r>
          </a:p>
          <a:p>
            <a:pPr>
              <a:spcBef>
                <a:spcPts val="600"/>
              </a:spcBef>
              <a:spcAft>
                <a:spcPts val="1200"/>
              </a:spcAft>
            </a:pPr>
            <a:r>
              <a:rPr lang="en-AU" sz="2200" dirty="0" smtClean="0"/>
              <a:t>What types of systems are used?</a:t>
            </a:r>
          </a:p>
          <a:p>
            <a:pPr>
              <a:spcBef>
                <a:spcPts val="600"/>
              </a:spcBef>
              <a:spcAft>
                <a:spcPts val="1200"/>
              </a:spcAft>
            </a:pPr>
            <a:r>
              <a:rPr lang="en-AU" sz="2200" dirty="0" smtClean="0"/>
              <a:t>What do they ‘monitor’ and ‘control’?</a:t>
            </a:r>
          </a:p>
          <a:p>
            <a:pPr>
              <a:spcBef>
                <a:spcPts val="600"/>
              </a:spcBef>
              <a:spcAft>
                <a:spcPts val="1200"/>
              </a:spcAft>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La Crosse Wireless Temperature &amp; Outdoor Humidity Station"/>
          <p:cNvPicPr/>
          <p:nvPr/>
        </p:nvPicPr>
        <p:blipFill>
          <a:blip r:embed="rId3" cstate="print"/>
          <a:srcRect/>
          <a:stretch>
            <a:fillRect/>
          </a:stretch>
        </p:blipFill>
        <p:spPr bwMode="auto">
          <a:xfrm>
            <a:off x="6804248" y="3645024"/>
            <a:ext cx="1368152" cy="14166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Purpose of system products</a:t>
            </a:r>
          </a:p>
          <a:p>
            <a:pPr>
              <a:spcBef>
                <a:spcPts val="600"/>
              </a:spcBef>
              <a:spcAft>
                <a:spcPts val="1200"/>
              </a:spcAft>
              <a:buNone/>
            </a:pPr>
            <a:r>
              <a:rPr lang="en-AU" sz="2200" dirty="0" smtClean="0"/>
              <a:t>These systems are designed to:</a:t>
            </a:r>
            <a:endParaRPr lang="en-AU" sz="2200" b="1" dirty="0" smtClean="0"/>
          </a:p>
          <a:p>
            <a:pPr lvl="0">
              <a:spcBef>
                <a:spcPts val="600"/>
              </a:spcBef>
              <a:spcAft>
                <a:spcPts val="1200"/>
              </a:spcAft>
            </a:pPr>
            <a:r>
              <a:rPr lang="en-AU" sz="2200" dirty="0" smtClean="0"/>
              <a:t>Protect perishables</a:t>
            </a:r>
            <a:endParaRPr lang="en-AU" sz="2200" b="1" dirty="0" smtClean="0"/>
          </a:p>
          <a:p>
            <a:pPr lvl="0">
              <a:spcBef>
                <a:spcPts val="600"/>
              </a:spcBef>
              <a:spcAft>
                <a:spcPts val="1200"/>
              </a:spcAft>
            </a:pPr>
            <a:r>
              <a:rPr lang="en-AU" sz="2200" dirty="0" smtClean="0"/>
              <a:t>Save energy</a:t>
            </a:r>
            <a:endParaRPr lang="en-AU" sz="2200" b="1" dirty="0" smtClean="0"/>
          </a:p>
          <a:p>
            <a:pPr lvl="0">
              <a:spcBef>
                <a:spcPts val="600"/>
              </a:spcBef>
              <a:spcAft>
                <a:spcPts val="1200"/>
              </a:spcAft>
            </a:pPr>
            <a:r>
              <a:rPr lang="en-AU" sz="2200" dirty="0" smtClean="0"/>
              <a:t>Increase operator safety</a:t>
            </a:r>
            <a:endParaRPr lang="en-AU" sz="2200" b="1" dirty="0" smtClean="0"/>
          </a:p>
          <a:p>
            <a:pPr>
              <a:spcBef>
                <a:spcPts val="600"/>
              </a:spcBef>
              <a:spcAft>
                <a:spcPts val="1200"/>
              </a:spcAft>
            </a:pPr>
            <a:endParaRPr lang="en-AU" sz="24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6" descr="http://ts4.mm.bing.net/th?id=H.4826307316812791&amp;pid=15.1&amp;H=160&amp;W=140"/>
          <p:cNvPicPr/>
          <p:nvPr/>
        </p:nvPicPr>
        <p:blipFill>
          <a:blip r:embed="rId3" cstate="print"/>
          <a:srcRect/>
          <a:stretch>
            <a:fillRect/>
          </a:stretch>
        </p:blipFill>
        <p:spPr bwMode="auto">
          <a:xfrm>
            <a:off x="6012160" y="2636912"/>
            <a:ext cx="1638113" cy="16561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Refrigeration system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Types of system products</a:t>
            </a:r>
          </a:p>
          <a:p>
            <a:pPr>
              <a:spcBef>
                <a:spcPts val="600"/>
              </a:spcBef>
              <a:spcAft>
                <a:spcPts val="1200"/>
              </a:spcAft>
              <a:buNone/>
            </a:pPr>
            <a:r>
              <a:rPr lang="en-AU" sz="2200" dirty="0" smtClean="0"/>
              <a:t>Products within these systems include:</a:t>
            </a:r>
            <a:endParaRPr lang="en-AU" sz="2200" b="1" dirty="0" smtClean="0"/>
          </a:p>
          <a:p>
            <a:pPr lvl="0">
              <a:spcBef>
                <a:spcPts val="600"/>
              </a:spcBef>
              <a:spcAft>
                <a:spcPts val="1200"/>
              </a:spcAft>
            </a:pPr>
            <a:r>
              <a:rPr lang="en-AU" sz="2200" dirty="0" smtClean="0"/>
              <a:t>Single and multipoint temperature alarms </a:t>
            </a:r>
            <a:endParaRPr lang="en-AU" sz="2200" b="1" dirty="0" smtClean="0"/>
          </a:p>
          <a:p>
            <a:pPr lvl="0">
              <a:spcBef>
                <a:spcPts val="600"/>
              </a:spcBef>
              <a:spcAft>
                <a:spcPts val="1200"/>
              </a:spcAft>
            </a:pPr>
            <a:r>
              <a:rPr lang="en-AU" sz="2200" dirty="0" smtClean="0"/>
              <a:t>Web enabled data logging systems </a:t>
            </a:r>
            <a:endParaRPr lang="en-AU" sz="2200" b="1" dirty="0" smtClean="0"/>
          </a:p>
          <a:p>
            <a:pPr lvl="0">
              <a:spcBef>
                <a:spcPts val="600"/>
              </a:spcBef>
              <a:spcAft>
                <a:spcPts val="1200"/>
              </a:spcAft>
            </a:pPr>
            <a:r>
              <a:rPr lang="en-AU" sz="2200" dirty="0" smtClean="0"/>
              <a:t>Door monitor and alarms </a:t>
            </a:r>
            <a:endParaRPr lang="en-AU" sz="2200" b="1" dirty="0" smtClean="0"/>
          </a:p>
          <a:p>
            <a:pPr lvl="0">
              <a:spcBef>
                <a:spcPts val="600"/>
              </a:spcBef>
              <a:spcAft>
                <a:spcPts val="1200"/>
              </a:spcAft>
            </a:pPr>
            <a:r>
              <a:rPr lang="en-AU" sz="2200" dirty="0" smtClean="0"/>
              <a:t>Panic (entrapment) alarms </a:t>
            </a:r>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http://ts2.mm.bing.net/th?id=H.4701624443798185&amp;pid=15.1&amp;H=125&amp;W=160"/>
          <p:cNvPicPr/>
          <p:nvPr/>
        </p:nvPicPr>
        <p:blipFill>
          <a:blip r:embed="rId3" cstate="print"/>
          <a:srcRect/>
          <a:stretch>
            <a:fillRect/>
          </a:stretch>
        </p:blipFill>
        <p:spPr bwMode="auto">
          <a:xfrm>
            <a:off x="6471581" y="2636912"/>
            <a:ext cx="1784659" cy="14401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 refrigeration system faults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Compressor</a:t>
            </a:r>
            <a:endParaRPr lang="en-AU" sz="2200" dirty="0" smtClean="0"/>
          </a:p>
          <a:p>
            <a:pPr marL="0">
              <a:spcBef>
                <a:spcPts val="600"/>
              </a:spcBef>
              <a:spcAft>
                <a:spcPts val="1200"/>
              </a:spcAft>
              <a:buNone/>
            </a:pPr>
            <a:r>
              <a:rPr lang="en-US" sz="2200" dirty="0" smtClean="0"/>
              <a:t>The compressor increases or decreases the temperature and pressure of any air vapor entering the refrigeration unit</a:t>
            </a:r>
          </a:p>
          <a:p>
            <a:pPr>
              <a:spcBef>
                <a:spcPts val="600"/>
              </a:spcBef>
              <a:spcAft>
                <a:spcPts val="1200"/>
              </a:spcAft>
              <a:buNone/>
            </a:pPr>
            <a:r>
              <a:rPr lang="en-US" sz="2200" dirty="0" smtClean="0"/>
              <a:t>Common faults:</a:t>
            </a:r>
          </a:p>
          <a:p>
            <a:pPr>
              <a:spcBef>
                <a:spcPts val="600"/>
              </a:spcBef>
              <a:spcAft>
                <a:spcPts val="1200"/>
              </a:spcAft>
            </a:pPr>
            <a:r>
              <a:rPr lang="en-US" sz="2200" dirty="0" smtClean="0"/>
              <a:t>Items are not remaining cold</a:t>
            </a:r>
          </a:p>
          <a:p>
            <a:pPr>
              <a:spcBef>
                <a:spcPts val="600"/>
              </a:spcBef>
              <a:spcAft>
                <a:spcPts val="1200"/>
              </a:spcAft>
            </a:pPr>
            <a:r>
              <a:rPr lang="en-US" sz="2200" dirty="0" smtClean="0"/>
              <a:t>No ‘motor running sound’</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http://ts1.mm.bing.net/th?id=H.4767758352712576&amp;pid=15.1&amp;H=128&amp;W=160"/>
          <p:cNvPicPr/>
          <p:nvPr/>
        </p:nvPicPr>
        <p:blipFill>
          <a:blip r:embed="rId3" cstate="print"/>
          <a:srcRect/>
          <a:stretch>
            <a:fillRect/>
          </a:stretch>
        </p:blipFill>
        <p:spPr bwMode="auto">
          <a:xfrm>
            <a:off x="6012160" y="3429000"/>
            <a:ext cx="1770112" cy="14041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 refrigeration system faults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Fluctuating Temperature</a:t>
            </a:r>
          </a:p>
          <a:p>
            <a:pPr>
              <a:spcBef>
                <a:spcPts val="600"/>
              </a:spcBef>
              <a:spcAft>
                <a:spcPts val="1200"/>
              </a:spcAft>
              <a:buNone/>
            </a:pPr>
            <a:r>
              <a:rPr lang="en-US" sz="2200" dirty="0" smtClean="0"/>
              <a:t>Possible checks include:</a:t>
            </a:r>
            <a:endParaRPr lang="en-AU" sz="2200" dirty="0" smtClean="0"/>
          </a:p>
          <a:p>
            <a:pPr>
              <a:spcBef>
                <a:spcPts val="600"/>
              </a:spcBef>
              <a:spcAft>
                <a:spcPts val="1200"/>
              </a:spcAft>
            </a:pPr>
            <a:r>
              <a:rPr lang="en-US" sz="2200" dirty="0" smtClean="0"/>
              <a:t>Operation temperatures</a:t>
            </a:r>
          </a:p>
          <a:p>
            <a:pPr>
              <a:spcBef>
                <a:spcPts val="600"/>
              </a:spcBef>
              <a:spcAft>
                <a:spcPts val="1200"/>
              </a:spcAft>
            </a:pPr>
            <a:r>
              <a:rPr lang="en-US" sz="2200" dirty="0" smtClean="0"/>
              <a:t>Subheat and subcooling </a:t>
            </a:r>
            <a:endParaRPr lang="en-AU" sz="2200" dirty="0" smtClean="0"/>
          </a:p>
          <a:p>
            <a:pPr>
              <a:spcBef>
                <a:spcPts val="600"/>
              </a:spcBef>
              <a:spcAft>
                <a:spcPts val="1200"/>
              </a:spcAft>
            </a:pPr>
            <a:r>
              <a:rPr lang="en-US" sz="2200" dirty="0" smtClean="0"/>
              <a:t>Temperature controls are turned down                                 to a cold setting</a:t>
            </a:r>
          </a:p>
          <a:p>
            <a:pPr>
              <a:spcBef>
                <a:spcPts val="600"/>
              </a:spcBef>
              <a:spcAft>
                <a:spcPts val="1200"/>
              </a:spcAft>
            </a:pPr>
            <a:r>
              <a:rPr lang="en-US" sz="2200" dirty="0" smtClean="0"/>
              <a:t>If temperature controls have failed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http://ts3.mm.bing.net/th?id=H.4953799099221010&amp;pid=15.1&amp;H=160&amp;W=160"/>
          <p:cNvPicPr/>
          <p:nvPr/>
        </p:nvPicPr>
        <p:blipFill>
          <a:blip r:embed="rId3" cstate="print"/>
          <a:srcRect/>
          <a:stretch>
            <a:fillRect/>
          </a:stretch>
        </p:blipFill>
        <p:spPr bwMode="auto">
          <a:xfrm>
            <a:off x="6660232" y="2420888"/>
            <a:ext cx="1451992" cy="16849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 refrigeration system faults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Fans</a:t>
            </a:r>
          </a:p>
          <a:p>
            <a:pPr marL="0">
              <a:spcBef>
                <a:spcPts val="600"/>
              </a:spcBef>
              <a:spcAft>
                <a:spcPts val="1200"/>
              </a:spcAft>
              <a:buNone/>
            </a:pPr>
            <a:r>
              <a:rPr lang="en-US" sz="2200" dirty="0" smtClean="0"/>
              <a:t>Fans help regulate the temperature of components inside the refrigerator</a:t>
            </a:r>
          </a:p>
          <a:p>
            <a:pPr>
              <a:spcBef>
                <a:spcPts val="600"/>
              </a:spcBef>
              <a:spcAft>
                <a:spcPts val="1200"/>
              </a:spcAft>
              <a:buNone/>
            </a:pPr>
            <a:r>
              <a:rPr lang="en-US" sz="2200" dirty="0" smtClean="0"/>
              <a:t>Possible checks include making sure:</a:t>
            </a:r>
            <a:endParaRPr lang="en-AU" sz="2200" dirty="0" smtClean="0"/>
          </a:p>
          <a:p>
            <a:pPr>
              <a:spcBef>
                <a:spcPts val="600"/>
              </a:spcBef>
              <a:spcAft>
                <a:spcPts val="1200"/>
              </a:spcAft>
            </a:pPr>
            <a:r>
              <a:rPr lang="en-US" sz="2200" dirty="0" smtClean="0"/>
              <a:t>Fans of the fridge are working</a:t>
            </a:r>
          </a:p>
          <a:p>
            <a:pPr>
              <a:spcBef>
                <a:spcPts val="600"/>
              </a:spcBef>
              <a:spcAft>
                <a:spcPts val="1200"/>
              </a:spcAft>
            </a:pPr>
            <a:r>
              <a:rPr lang="en-US" sz="2200" dirty="0" smtClean="0"/>
              <a:t>Fans are clean and free of debris</a:t>
            </a:r>
          </a:p>
          <a:p>
            <a:pPr>
              <a:spcBef>
                <a:spcPts val="600"/>
              </a:spcBef>
              <a:spcAft>
                <a:spcPts val="1200"/>
              </a:spcAft>
            </a:pPr>
            <a:r>
              <a:rPr lang="en-US" sz="2200" dirty="0" smtClean="0"/>
              <a:t>Wiring going to the fans is in good working order</a:t>
            </a:r>
          </a:p>
          <a:p>
            <a:pPr>
              <a:spcBef>
                <a:spcPts val="600"/>
              </a:spcBef>
              <a:spcAft>
                <a:spcPts val="1200"/>
              </a:spcAft>
            </a:pPr>
            <a:r>
              <a:rPr lang="en-US" sz="2200" dirty="0" smtClean="0"/>
              <a:t>No visible wire damage</a:t>
            </a:r>
          </a:p>
          <a:p>
            <a:pPr>
              <a:spcBef>
                <a:spcPts val="600"/>
              </a:spcBef>
              <a:spcAft>
                <a:spcPts val="1200"/>
              </a:spcAft>
            </a:pPr>
            <a:r>
              <a:rPr lang="en-US" sz="2200" dirty="0" smtClean="0"/>
              <a:t>Fans are receiving power</a:t>
            </a:r>
            <a:endParaRPr lang="en-AU" sz="22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http://ts4.mm.bing.net/th?id=H.4696174108412951&amp;pid=15.1&amp;H=120&amp;W=160"/>
          <p:cNvPicPr/>
          <p:nvPr/>
        </p:nvPicPr>
        <p:blipFill>
          <a:blip r:embed="rId3" cstate="print"/>
          <a:srcRect/>
          <a:stretch>
            <a:fillRect/>
          </a:stretch>
        </p:blipFill>
        <p:spPr bwMode="auto">
          <a:xfrm>
            <a:off x="6444208" y="3212976"/>
            <a:ext cx="1824203" cy="13681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Identify refrigeration system faults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200" b="1" dirty="0" smtClean="0"/>
              <a:t>Reporting basic mechanical faults</a:t>
            </a:r>
            <a:endParaRPr lang="en-AU" sz="2200" dirty="0" smtClean="0"/>
          </a:p>
          <a:p>
            <a:pPr marL="0">
              <a:spcBef>
                <a:spcPts val="600"/>
              </a:spcBef>
              <a:spcAft>
                <a:spcPts val="600"/>
              </a:spcAft>
              <a:buNone/>
            </a:pPr>
            <a:r>
              <a:rPr lang="en-US" sz="2200" dirty="0" smtClean="0"/>
              <a:t>When mechanical faults have been recognized it is essential that they are reported immediately to the most appropriate person.</a:t>
            </a:r>
            <a:endParaRPr lang="en-AU" sz="2200" dirty="0" smtClean="0"/>
          </a:p>
          <a:p>
            <a:pPr>
              <a:spcBef>
                <a:spcPts val="600"/>
              </a:spcBef>
              <a:spcAft>
                <a:spcPts val="600"/>
              </a:spcAft>
            </a:pPr>
            <a:r>
              <a:rPr lang="en-AU" sz="2200" dirty="0" smtClean="0"/>
              <a:t>Why is it important that faults are reported immediately?</a:t>
            </a:r>
          </a:p>
          <a:p>
            <a:pPr>
              <a:spcBef>
                <a:spcPts val="600"/>
              </a:spcBef>
              <a:spcAft>
                <a:spcPts val="600"/>
              </a:spcAft>
            </a:pPr>
            <a:r>
              <a:rPr lang="en-AU" sz="2200" dirty="0" smtClean="0"/>
              <a:t>Who is the appropriate person?</a:t>
            </a:r>
          </a:p>
          <a:p>
            <a:pPr>
              <a:spcBef>
                <a:spcPts val="600"/>
              </a:spcBef>
              <a:spcAft>
                <a:spcPts val="600"/>
              </a:spcAft>
            </a:pPr>
            <a:r>
              <a:rPr lang="en-AU" sz="2200" dirty="0" smtClean="0"/>
              <a:t>What is the best way to communicate faults?</a:t>
            </a:r>
          </a:p>
          <a:p>
            <a:pPr>
              <a:spcBef>
                <a:spcPts val="600"/>
              </a:spcBef>
              <a:spcAft>
                <a:spcPts val="600"/>
              </a:spcAft>
            </a:pPr>
            <a:r>
              <a:rPr lang="en-AU" sz="2200" dirty="0" smtClean="0"/>
              <a:t>What information should be given?</a:t>
            </a:r>
          </a:p>
          <a:p>
            <a:pPr>
              <a:spcBef>
                <a:spcPts val="600"/>
              </a:spcBef>
              <a:spcAft>
                <a:spcPts val="600"/>
              </a:spcAft>
            </a:pPr>
            <a:r>
              <a:rPr lang="en-AU" sz="2200" dirty="0" smtClean="0"/>
              <a:t>What should you do with equipment that                      appears to be faulty?</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00302919.jpg"/>
          <p:cNvPicPr>
            <a:picLocks noChangeAspect="1"/>
          </p:cNvPicPr>
          <p:nvPr/>
        </p:nvPicPr>
        <p:blipFill>
          <a:blip r:embed="rId3" cstate="print"/>
          <a:stretch>
            <a:fillRect/>
          </a:stretch>
        </p:blipFill>
        <p:spPr>
          <a:xfrm>
            <a:off x="7020272" y="3140968"/>
            <a:ext cx="1253178" cy="1756792"/>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4:</a:t>
            </a:r>
          </a:p>
          <a:p>
            <a:pPr marL="0">
              <a:spcBef>
                <a:spcPts val="600"/>
              </a:spcBef>
              <a:spcAft>
                <a:spcPts val="1200"/>
              </a:spcAft>
              <a:buNone/>
            </a:pPr>
            <a:r>
              <a:rPr lang="en-AU" sz="4000" dirty="0" smtClean="0">
                <a:solidFill>
                  <a:srgbClr val="FF6600"/>
                </a:solidFill>
              </a:rPr>
              <a:t>Monitor quality of cellar products </a:t>
            </a:r>
            <a:endParaRPr lang="en-AU" sz="4000" dirty="0" smtClean="0">
              <a:solidFill>
                <a:srgbClr val="FF6600"/>
              </a:solidFill>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5076312359_b9897774cb_m.jpg"/>
          <p:cNvPicPr/>
          <p:nvPr/>
        </p:nvPicPr>
        <p:blipFill>
          <a:blip r:embed="rId3" cstate="print"/>
          <a:stretch>
            <a:fillRect/>
          </a:stretch>
        </p:blipFill>
        <p:spPr>
          <a:xfrm>
            <a:off x="3203848" y="3356992"/>
            <a:ext cx="2016224" cy="252028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rPr>
              <a:t>Monitor quality of cellar products </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t>Test regularly quality of cellar products and identify faults </a:t>
            </a:r>
          </a:p>
          <a:p>
            <a:pPr>
              <a:spcBef>
                <a:spcPts val="600"/>
              </a:spcBef>
              <a:spcAft>
                <a:spcPts val="1200"/>
              </a:spcAft>
            </a:pPr>
            <a:r>
              <a:rPr lang="en-AU" sz="2200" dirty="0" smtClean="0"/>
              <a:t>Make adjustments within scope of individual responsibility or report faults to the appropriate person or people </a:t>
            </a:r>
          </a:p>
          <a:p>
            <a:pPr>
              <a:spcBef>
                <a:spcPts val="600"/>
              </a:spcBef>
              <a:spcAft>
                <a:spcPts val="1200"/>
              </a:spcAft>
            </a:pPr>
            <a:r>
              <a:rPr lang="en-AU" sz="2200" dirty="0" smtClean="0"/>
              <a:t>Use bin and keg card systems to assist in monitoring the quality of products and controlling stock </a:t>
            </a:r>
          </a:p>
          <a:p>
            <a:pPr>
              <a:spcBef>
                <a:spcPts val="600"/>
              </a:spcBef>
              <a:spcAft>
                <a:spcPts val="1200"/>
              </a:spcAft>
            </a:pPr>
            <a:r>
              <a:rPr lang="en-AU" sz="2200" dirty="0" smtClean="0"/>
              <a:t>Keep cellar tidy, clean and free from litter</a:t>
            </a:r>
          </a:p>
          <a:p>
            <a:pPr>
              <a:spcBef>
                <a:spcPts val="600"/>
              </a:spcBef>
              <a:spcAft>
                <a:spcPts val="1200"/>
              </a:spcAft>
            </a:pPr>
            <a:r>
              <a:rPr lang="en-AU" sz="2200" dirty="0" smtClean="0"/>
              <a:t>Monitor cellar temperature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6"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1801511" y="2500306"/>
            <a:ext cx="341597" cy="451048"/>
          </a:xfrm>
          <a:prstGeom prst="rect">
            <a:avLst/>
          </a:prstGeom>
          <a:noFill/>
        </p:spPr>
      </p:pic>
      <p:pic>
        <p:nvPicPr>
          <p:cNvPr id="7"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2357422" y="3763770"/>
            <a:ext cx="341597" cy="451048"/>
          </a:xfrm>
          <a:prstGeom prst="rect">
            <a:avLst/>
          </a:prstGeom>
          <a:noFill/>
        </p:spPr>
      </p:pic>
      <p:pic>
        <p:nvPicPr>
          <p:cNvPr id="8"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516216" y="4581128"/>
            <a:ext cx="341597" cy="451048"/>
          </a:xfrm>
          <a:prstGeom prst="rect">
            <a:avLst/>
          </a:prstGeom>
          <a:noFill/>
        </p:spPr>
      </p:pic>
      <p:pic>
        <p:nvPicPr>
          <p:cNvPr id="9"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4444717" y="5715016"/>
            <a:ext cx="341597" cy="451048"/>
          </a:xfrm>
          <a:prstGeom prst="rect">
            <a:avLst/>
          </a:prstGeom>
          <a:noFill/>
        </p:spPr>
      </p:pic>
      <p:pic>
        <p:nvPicPr>
          <p:cNvPr id="10" name="Picture 2" descr="C:\Documents and Settings\Godaishu\Local Settings\Temporary Internet Files\Content.IE5\YISE4YB4\MC900434663[2].wmf"/>
          <p:cNvPicPr>
            <a:picLocks noChangeAspect="1" noChangeArrowheads="1"/>
          </p:cNvPicPr>
          <p:nvPr/>
        </p:nvPicPr>
        <p:blipFill>
          <a:blip r:embed="rId3" cstate="print"/>
          <a:srcRect/>
          <a:stretch>
            <a:fillRect/>
          </a:stretch>
        </p:blipFill>
        <p:spPr bwMode="auto">
          <a:xfrm>
            <a:off x="6230667" y="5143512"/>
            <a:ext cx="341597" cy="451048"/>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Types of cellar products </a:t>
            </a:r>
          </a:p>
          <a:p>
            <a:pPr lvl="0">
              <a:spcBef>
                <a:spcPts val="600"/>
              </a:spcBef>
              <a:spcAft>
                <a:spcPts val="1200"/>
              </a:spcAft>
            </a:pPr>
            <a:r>
              <a:rPr lang="en-AU" sz="2200" dirty="0" smtClean="0"/>
              <a:t>Beers</a:t>
            </a:r>
          </a:p>
          <a:p>
            <a:pPr lvl="0">
              <a:spcBef>
                <a:spcPts val="600"/>
              </a:spcBef>
              <a:spcAft>
                <a:spcPts val="1200"/>
              </a:spcAft>
            </a:pPr>
            <a:r>
              <a:rPr lang="en-AU" sz="2200" dirty="0" smtClean="0"/>
              <a:t>Spirits</a:t>
            </a:r>
          </a:p>
          <a:p>
            <a:pPr lvl="0">
              <a:spcBef>
                <a:spcPts val="600"/>
              </a:spcBef>
              <a:spcAft>
                <a:spcPts val="1200"/>
              </a:spcAft>
            </a:pPr>
            <a:r>
              <a:rPr lang="en-AU" sz="2200" dirty="0" smtClean="0"/>
              <a:t>Wine</a:t>
            </a:r>
          </a:p>
          <a:p>
            <a:pPr lvl="0">
              <a:spcBef>
                <a:spcPts val="600"/>
              </a:spcBef>
              <a:spcAft>
                <a:spcPts val="1200"/>
              </a:spcAft>
            </a:pPr>
            <a:r>
              <a:rPr lang="en-AU" sz="2200" dirty="0" smtClean="0"/>
              <a:t>Post-mix syrups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7" name="Picture 6" descr="MP900444255[1].JPG"/>
          <p:cNvPicPr/>
          <p:nvPr/>
        </p:nvPicPr>
        <p:blipFill>
          <a:blip r:embed="rId3" cstate="print"/>
          <a:stretch>
            <a:fillRect/>
          </a:stretch>
        </p:blipFill>
        <p:spPr>
          <a:xfrm>
            <a:off x="5724128" y="1916832"/>
            <a:ext cx="1688004" cy="206404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Beer – faults and remedies</a:t>
            </a:r>
          </a:p>
          <a:p>
            <a:pPr>
              <a:spcBef>
                <a:spcPts val="600"/>
              </a:spcBef>
              <a:spcAft>
                <a:spcPts val="1200"/>
              </a:spcAft>
            </a:pPr>
            <a:r>
              <a:rPr lang="en-AU" sz="2200" dirty="0" smtClean="0"/>
              <a:t>Cloudy beer</a:t>
            </a:r>
          </a:p>
          <a:p>
            <a:pPr>
              <a:spcBef>
                <a:spcPts val="600"/>
              </a:spcBef>
              <a:spcAft>
                <a:spcPts val="1200"/>
              </a:spcAft>
            </a:pPr>
            <a:r>
              <a:rPr lang="en-AU" sz="2200" dirty="0" smtClean="0"/>
              <a:t>No head on beer</a:t>
            </a:r>
          </a:p>
          <a:p>
            <a:pPr>
              <a:spcBef>
                <a:spcPts val="600"/>
              </a:spcBef>
              <a:spcAft>
                <a:spcPts val="1200"/>
              </a:spcAft>
            </a:pPr>
            <a:r>
              <a:rPr lang="en-AU" sz="2200" dirty="0" smtClean="0"/>
              <a:t>Beer fobbing in glass</a:t>
            </a:r>
          </a:p>
          <a:p>
            <a:pPr>
              <a:spcBef>
                <a:spcPts val="600"/>
              </a:spcBef>
              <a:spcAft>
                <a:spcPts val="1200"/>
              </a:spcAft>
              <a:buNone/>
            </a:pPr>
            <a:endParaRPr lang="en-AU" sz="2200" dirty="0" smtClean="0"/>
          </a:p>
          <a:p>
            <a:pPr>
              <a:spcBef>
                <a:spcPts val="600"/>
              </a:spcBef>
              <a:spcAft>
                <a:spcPts val="1200"/>
              </a:spcAft>
              <a:buNone/>
            </a:pPr>
            <a:r>
              <a:rPr lang="en-AU" sz="2200" dirty="0" smtClean="0"/>
              <a:t>What are remedies for each of these faults?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http://ts1.mm.bing.net/th?id=H.5033157238655724&amp;pid=15.1&amp;H=160&amp;W=92"/>
          <p:cNvPicPr/>
          <p:nvPr/>
        </p:nvPicPr>
        <p:blipFill>
          <a:blip r:embed="rId3" cstate="print"/>
          <a:srcRect/>
          <a:stretch>
            <a:fillRect/>
          </a:stretch>
        </p:blipFill>
        <p:spPr bwMode="auto">
          <a:xfrm>
            <a:off x="6156176" y="1772816"/>
            <a:ext cx="1302246" cy="2274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Spirits – faults and remedies</a:t>
            </a:r>
            <a:endParaRPr lang="en-AU" sz="2200" dirty="0" smtClean="0"/>
          </a:p>
          <a:p>
            <a:pPr>
              <a:spcBef>
                <a:spcPts val="600"/>
              </a:spcBef>
              <a:spcAft>
                <a:spcPts val="1200"/>
              </a:spcAft>
            </a:pPr>
            <a:r>
              <a:rPr lang="en-AU" sz="2200" dirty="0" smtClean="0"/>
              <a:t>Strength of spirit</a:t>
            </a:r>
          </a:p>
          <a:p>
            <a:pPr>
              <a:spcBef>
                <a:spcPts val="600"/>
              </a:spcBef>
              <a:spcAft>
                <a:spcPts val="1200"/>
              </a:spcAft>
            </a:pPr>
            <a:r>
              <a:rPr lang="en-AU" sz="2200" dirty="0" smtClean="0"/>
              <a:t>Strange taste</a:t>
            </a:r>
          </a:p>
          <a:p>
            <a:pPr>
              <a:spcBef>
                <a:spcPts val="600"/>
              </a:spcBef>
              <a:spcAft>
                <a:spcPts val="1200"/>
              </a:spcAft>
            </a:pPr>
            <a:r>
              <a:rPr lang="en-AU" sz="2200" dirty="0" smtClean="0"/>
              <a:t>Beverage taste soapy</a:t>
            </a:r>
          </a:p>
          <a:p>
            <a:pPr>
              <a:spcBef>
                <a:spcPts val="600"/>
              </a:spcBef>
              <a:spcAft>
                <a:spcPts val="1200"/>
              </a:spcAft>
              <a:buNone/>
            </a:pPr>
            <a:endParaRPr lang="en-AU" sz="2200" dirty="0" smtClean="0"/>
          </a:p>
          <a:p>
            <a:pPr>
              <a:spcBef>
                <a:spcPts val="600"/>
              </a:spcBef>
              <a:spcAft>
                <a:spcPts val="1200"/>
              </a:spcAft>
              <a:buNone/>
            </a:pPr>
            <a:r>
              <a:rPr lang="en-AU" sz="2200" dirty="0" smtClean="0"/>
              <a:t>What are remedies for each of these faults?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7" name="Picture 6" descr="165991755_8c4df680e1_m.jpg"/>
          <p:cNvPicPr/>
          <p:nvPr/>
        </p:nvPicPr>
        <p:blipFill>
          <a:blip r:embed="rId3" cstate="print"/>
          <a:stretch>
            <a:fillRect/>
          </a:stretch>
        </p:blipFill>
        <p:spPr>
          <a:xfrm>
            <a:off x="6300192" y="1844824"/>
            <a:ext cx="1412354" cy="2110532"/>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Wine – faults and remedies</a:t>
            </a:r>
            <a:endParaRPr lang="en-AU" sz="2200" dirty="0" smtClean="0"/>
          </a:p>
          <a:p>
            <a:pPr>
              <a:spcBef>
                <a:spcPts val="600"/>
              </a:spcBef>
              <a:spcAft>
                <a:spcPts val="1200"/>
              </a:spcAft>
            </a:pPr>
            <a:r>
              <a:rPr lang="en-AU" sz="2200" dirty="0" smtClean="0"/>
              <a:t>Cloudy or scaly wine</a:t>
            </a:r>
          </a:p>
          <a:p>
            <a:pPr>
              <a:spcBef>
                <a:spcPts val="600"/>
              </a:spcBef>
              <a:spcAft>
                <a:spcPts val="1200"/>
              </a:spcAft>
            </a:pPr>
            <a:r>
              <a:rPr lang="en-AU" sz="2200" dirty="0" smtClean="0"/>
              <a:t>Wine smell or taste bad</a:t>
            </a:r>
          </a:p>
          <a:p>
            <a:pPr>
              <a:spcBef>
                <a:spcPts val="600"/>
              </a:spcBef>
              <a:spcAft>
                <a:spcPts val="1200"/>
              </a:spcAft>
            </a:pPr>
            <a:r>
              <a:rPr lang="en-AU" sz="2200" dirty="0" smtClean="0"/>
              <a:t>Wine is going off quickly</a:t>
            </a:r>
            <a:endParaRPr lang="en-AU" sz="2400" dirty="0" smtClean="0"/>
          </a:p>
          <a:p>
            <a:pPr>
              <a:spcBef>
                <a:spcPts val="600"/>
              </a:spcBef>
              <a:spcAft>
                <a:spcPts val="1200"/>
              </a:spcAft>
              <a:buNone/>
            </a:pPr>
            <a:endParaRPr lang="en-AU" sz="2200" dirty="0" smtClean="0"/>
          </a:p>
          <a:p>
            <a:pPr>
              <a:spcBef>
                <a:spcPts val="600"/>
              </a:spcBef>
              <a:spcAft>
                <a:spcPts val="1200"/>
              </a:spcAft>
              <a:buNone/>
            </a:pPr>
            <a:r>
              <a:rPr lang="en-AU" sz="2200" dirty="0" smtClean="0"/>
              <a:t>What are remedies for each of these faults?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MP900400579.JPG"/>
          <p:cNvPicPr/>
          <p:nvPr/>
        </p:nvPicPr>
        <p:blipFill>
          <a:blip r:embed="rId3" cstate="print"/>
          <a:stretch>
            <a:fillRect/>
          </a:stretch>
        </p:blipFill>
        <p:spPr>
          <a:xfrm>
            <a:off x="6516216" y="2204864"/>
            <a:ext cx="1555735" cy="1747441"/>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Post mix – faults and remedies</a:t>
            </a:r>
            <a:endParaRPr lang="en-AU" sz="2200" dirty="0" smtClean="0"/>
          </a:p>
          <a:p>
            <a:pPr>
              <a:spcBef>
                <a:spcPts val="600"/>
              </a:spcBef>
              <a:spcAft>
                <a:spcPts val="1200"/>
              </a:spcAft>
            </a:pPr>
            <a:r>
              <a:rPr lang="en-AU" sz="2200" dirty="0" smtClean="0"/>
              <a:t>Product is flat</a:t>
            </a:r>
          </a:p>
          <a:p>
            <a:pPr>
              <a:spcBef>
                <a:spcPts val="600"/>
              </a:spcBef>
              <a:spcAft>
                <a:spcPts val="1200"/>
              </a:spcAft>
            </a:pPr>
            <a:r>
              <a:rPr lang="en-AU" sz="2200" dirty="0" smtClean="0"/>
              <a:t>Product is warm</a:t>
            </a:r>
          </a:p>
          <a:p>
            <a:pPr>
              <a:spcBef>
                <a:spcPts val="600"/>
              </a:spcBef>
              <a:spcAft>
                <a:spcPts val="1200"/>
              </a:spcAft>
            </a:pPr>
            <a:r>
              <a:rPr lang="en-AU" sz="2200" dirty="0" smtClean="0"/>
              <a:t>Product is flavourless</a:t>
            </a:r>
          </a:p>
          <a:p>
            <a:pPr>
              <a:spcBef>
                <a:spcPts val="600"/>
              </a:spcBef>
              <a:spcAft>
                <a:spcPts val="1200"/>
              </a:spcAft>
            </a:pPr>
            <a:r>
              <a:rPr lang="en-AU" sz="2200" dirty="0" smtClean="0"/>
              <a:t>Wrong product is being dispensed</a:t>
            </a:r>
          </a:p>
          <a:p>
            <a:pPr>
              <a:spcBef>
                <a:spcPts val="600"/>
              </a:spcBef>
              <a:spcAft>
                <a:spcPts val="1200"/>
              </a:spcAft>
              <a:buNone/>
            </a:pPr>
            <a:endParaRPr lang="en-AU" sz="2200" dirty="0" smtClean="0"/>
          </a:p>
          <a:p>
            <a:pPr>
              <a:spcBef>
                <a:spcPts val="600"/>
              </a:spcBef>
              <a:spcAft>
                <a:spcPts val="1200"/>
              </a:spcAft>
              <a:buNone/>
            </a:pPr>
            <a:r>
              <a:rPr lang="en-AU" sz="2200" dirty="0" smtClean="0"/>
              <a:t>What are remedies for each of these faults?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3095429323_80ee39cb96_m.jpg"/>
          <p:cNvPicPr/>
          <p:nvPr/>
        </p:nvPicPr>
        <p:blipFill>
          <a:blip r:embed="rId3" cstate="print"/>
          <a:stretch>
            <a:fillRect/>
          </a:stretch>
        </p:blipFill>
        <p:spPr>
          <a:xfrm>
            <a:off x="6372200" y="2492896"/>
            <a:ext cx="2041252" cy="1368922"/>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Test quality of cellar products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glassware</a:t>
            </a:r>
            <a:endParaRPr lang="en-AU" sz="2200" dirty="0" smtClean="0"/>
          </a:p>
          <a:p>
            <a:pPr marL="0">
              <a:spcBef>
                <a:spcPts val="600"/>
              </a:spcBef>
              <a:spcAft>
                <a:spcPts val="1200"/>
              </a:spcAft>
              <a:buNone/>
            </a:pPr>
            <a:r>
              <a:rPr lang="en-AU" sz="2200" dirty="0" smtClean="0"/>
              <a:t>Quite often many problems relating to the appearance and taste of finished products are directly related to the condition and cleaning procedures towards glassware and not the equipment itself.</a:t>
            </a:r>
          </a:p>
          <a:p>
            <a:pPr>
              <a:spcBef>
                <a:spcPts val="600"/>
              </a:spcBef>
              <a:spcAft>
                <a:spcPts val="1200"/>
              </a:spcAft>
            </a:pPr>
            <a:r>
              <a:rPr lang="en-AU" sz="2200" dirty="0" smtClean="0"/>
              <a:t>How can you ensure glasses are ‘clean’?</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6" name="Picture 5" descr="IMG_1978.jpg"/>
          <p:cNvPicPr/>
          <p:nvPr/>
        </p:nvPicPr>
        <p:blipFill>
          <a:blip r:embed="rId3" cstate="print"/>
          <a:stretch>
            <a:fillRect/>
          </a:stretch>
        </p:blipFill>
        <p:spPr>
          <a:xfrm>
            <a:off x="3275856" y="4509120"/>
            <a:ext cx="2304256" cy="1728192"/>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bin and keg key systems</a:t>
            </a:r>
            <a:endParaRPr lang="en-AU" sz="2200" dirty="0" smtClean="0"/>
          </a:p>
          <a:p>
            <a:pPr marL="0">
              <a:spcBef>
                <a:spcPts val="600"/>
              </a:spcBef>
              <a:spcAft>
                <a:spcPts val="1200"/>
              </a:spcAft>
              <a:buNone/>
            </a:pPr>
            <a:r>
              <a:rPr lang="en-AU" sz="2200" dirty="0" smtClean="0"/>
              <a:t>Like in any high volume bar establishment, the enormous volumes of alcohol and the value attached to them is a considerable and important asset that must be monitored and controlled to ensure that the beverage items are correctly:</a:t>
            </a:r>
            <a:endParaRPr lang="en-AU" sz="2200" b="1" dirty="0" smtClean="0"/>
          </a:p>
          <a:p>
            <a:pPr lvl="0">
              <a:spcBef>
                <a:spcPts val="600"/>
              </a:spcBef>
              <a:spcAft>
                <a:spcPts val="1200"/>
              </a:spcAft>
            </a:pPr>
            <a:r>
              <a:rPr lang="en-AU" sz="2200" dirty="0" smtClean="0"/>
              <a:t>Identified</a:t>
            </a:r>
            <a:endParaRPr lang="en-AU" sz="2200" b="1" dirty="0" smtClean="0"/>
          </a:p>
          <a:p>
            <a:pPr lvl="0">
              <a:spcBef>
                <a:spcPts val="600"/>
              </a:spcBef>
              <a:spcAft>
                <a:spcPts val="1200"/>
              </a:spcAft>
            </a:pPr>
            <a:r>
              <a:rPr lang="en-AU" sz="2200" dirty="0" smtClean="0"/>
              <a:t>Stored</a:t>
            </a:r>
            <a:endParaRPr lang="en-AU" sz="2200" b="1" dirty="0" smtClean="0"/>
          </a:p>
          <a:p>
            <a:pPr lvl="0">
              <a:spcBef>
                <a:spcPts val="600"/>
              </a:spcBef>
              <a:spcAft>
                <a:spcPts val="1200"/>
              </a:spcAft>
            </a:pPr>
            <a:r>
              <a:rPr lang="en-AU" sz="2200" dirty="0" smtClean="0"/>
              <a:t>Used before expiry dates</a:t>
            </a:r>
            <a:endParaRPr lang="en-AU" sz="2200" b="1"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Aims of bin and keg key systems</a:t>
            </a:r>
          </a:p>
          <a:p>
            <a:pPr>
              <a:spcBef>
                <a:spcPts val="600"/>
              </a:spcBef>
              <a:spcAft>
                <a:spcPts val="1200"/>
              </a:spcAft>
              <a:buNone/>
            </a:pPr>
            <a:r>
              <a:rPr lang="en-AU" sz="2200" dirty="0" smtClean="0"/>
              <a:t>The overriding aims of bin or keg key systems are to:</a:t>
            </a:r>
          </a:p>
          <a:p>
            <a:pPr>
              <a:spcBef>
                <a:spcPts val="600"/>
              </a:spcBef>
              <a:spcAft>
                <a:spcPts val="1200"/>
              </a:spcAft>
            </a:pPr>
            <a:r>
              <a:rPr lang="en-AU" sz="2200" dirty="0" smtClean="0"/>
              <a:t>Easily identify when an item or collective of items were purchased</a:t>
            </a:r>
          </a:p>
          <a:p>
            <a:pPr>
              <a:spcBef>
                <a:spcPts val="600"/>
              </a:spcBef>
              <a:spcAft>
                <a:spcPts val="1200"/>
              </a:spcAft>
            </a:pPr>
            <a:r>
              <a:rPr lang="en-AU" sz="2200" dirty="0" smtClean="0"/>
              <a:t>To track their usage in an establishment</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6" name="Picture 5" descr="wine_racks_stackers_semi_custom_01_big.jpg"/>
          <p:cNvPicPr/>
          <p:nvPr/>
        </p:nvPicPr>
        <p:blipFill>
          <a:blip r:embed="rId3" cstate="print"/>
          <a:stretch>
            <a:fillRect/>
          </a:stretch>
        </p:blipFill>
        <p:spPr>
          <a:xfrm>
            <a:off x="6444208" y="3212976"/>
            <a:ext cx="1581150" cy="1952625"/>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Benefits of bin and keg key systems</a:t>
            </a:r>
            <a:endParaRPr lang="en-AU" sz="2200" dirty="0" smtClean="0"/>
          </a:p>
          <a:p>
            <a:pPr lvl="0">
              <a:spcBef>
                <a:spcPts val="600"/>
              </a:spcBef>
              <a:spcAft>
                <a:spcPts val="1200"/>
              </a:spcAft>
            </a:pPr>
            <a:r>
              <a:rPr lang="en-AU" sz="2200" dirty="0" smtClean="0"/>
              <a:t>Easier identification of similar bottles, especially those from different vintages</a:t>
            </a:r>
          </a:p>
          <a:p>
            <a:pPr lvl="0">
              <a:spcBef>
                <a:spcPts val="600"/>
              </a:spcBef>
              <a:spcAft>
                <a:spcPts val="1200"/>
              </a:spcAft>
            </a:pPr>
            <a:r>
              <a:rPr lang="en-AU" sz="2200" dirty="0" smtClean="0"/>
              <a:t>Easier to track volume of items</a:t>
            </a:r>
          </a:p>
          <a:p>
            <a:pPr lvl="0">
              <a:spcBef>
                <a:spcPts val="600"/>
              </a:spcBef>
              <a:spcAft>
                <a:spcPts val="1200"/>
              </a:spcAft>
            </a:pPr>
            <a:r>
              <a:rPr lang="en-AU" sz="2200" dirty="0" smtClean="0"/>
              <a:t>Tracks actual consumption</a:t>
            </a:r>
          </a:p>
          <a:p>
            <a:pPr lvl="0">
              <a:spcBef>
                <a:spcPts val="600"/>
              </a:spcBef>
              <a:spcAft>
                <a:spcPts val="1200"/>
              </a:spcAft>
            </a:pPr>
            <a:r>
              <a:rPr lang="en-AU" sz="2200" dirty="0" smtClean="0"/>
              <a:t>Ensures greater control of inventory</a:t>
            </a:r>
          </a:p>
          <a:p>
            <a:pPr lvl="0">
              <a:spcBef>
                <a:spcPts val="600"/>
              </a:spcBef>
              <a:spcAft>
                <a:spcPts val="1200"/>
              </a:spcAft>
            </a:pPr>
            <a:r>
              <a:rPr lang="en-AU" sz="2200" dirty="0" smtClean="0"/>
              <a:t>Ensures appropriate stock location</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7" name="Picture 6" descr="wine-cellar.jpg"/>
          <p:cNvPicPr/>
          <p:nvPr/>
        </p:nvPicPr>
        <p:blipFill>
          <a:blip r:embed="rId3" cstate="print"/>
          <a:stretch>
            <a:fillRect/>
          </a:stretch>
        </p:blipFill>
        <p:spPr>
          <a:xfrm>
            <a:off x="6228184" y="3068960"/>
            <a:ext cx="2175237" cy="1402259"/>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Benefits of bin and keg key systems</a:t>
            </a:r>
            <a:endParaRPr lang="en-AU" sz="2200" dirty="0" smtClean="0"/>
          </a:p>
          <a:p>
            <a:pPr lvl="0">
              <a:spcBef>
                <a:spcPts val="600"/>
              </a:spcBef>
              <a:spcAft>
                <a:spcPts val="1200"/>
              </a:spcAft>
            </a:pPr>
            <a:r>
              <a:rPr lang="en-AU" sz="2200" dirty="0" smtClean="0"/>
              <a:t>Identify how long they have been in stock</a:t>
            </a:r>
          </a:p>
          <a:p>
            <a:pPr lvl="0">
              <a:spcBef>
                <a:spcPts val="600"/>
              </a:spcBef>
              <a:spcAft>
                <a:spcPts val="1200"/>
              </a:spcAft>
            </a:pPr>
            <a:r>
              <a:rPr lang="en-AU" sz="2200" dirty="0" smtClean="0"/>
              <a:t>Identify when they should be used</a:t>
            </a:r>
          </a:p>
          <a:p>
            <a:pPr lvl="0">
              <a:spcBef>
                <a:spcPts val="600"/>
              </a:spcBef>
              <a:spcAft>
                <a:spcPts val="1200"/>
              </a:spcAft>
            </a:pPr>
            <a:r>
              <a:rPr lang="en-AU" sz="2200" dirty="0" smtClean="0"/>
              <a:t>Helps facilitate stocktaking</a:t>
            </a:r>
          </a:p>
          <a:p>
            <a:pPr lvl="0">
              <a:spcBef>
                <a:spcPts val="600"/>
              </a:spcBef>
              <a:spcAft>
                <a:spcPts val="1200"/>
              </a:spcAft>
            </a:pPr>
            <a:r>
              <a:rPr lang="en-AU" sz="2200" dirty="0" smtClean="0"/>
              <a:t>Helps enable accurate accounting records which identifies actual cost of goods sold</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5" name="Picture 4" descr="114456018_dcdf3df28b_m.jpg"/>
          <p:cNvPicPr>
            <a:picLocks noChangeAspect="1"/>
          </p:cNvPicPr>
          <p:nvPr/>
        </p:nvPicPr>
        <p:blipFill>
          <a:blip r:embed="rId3" cstate="print"/>
          <a:stretch>
            <a:fillRect/>
          </a:stretch>
        </p:blipFill>
        <p:spPr>
          <a:xfrm>
            <a:off x="6516216" y="2348880"/>
            <a:ext cx="1978536" cy="1319024"/>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Keg Key Systems</a:t>
            </a:r>
          </a:p>
          <a:p>
            <a:pPr>
              <a:spcBef>
                <a:spcPts val="600"/>
              </a:spcBef>
              <a:spcAft>
                <a:spcPts val="1200"/>
              </a:spcAft>
            </a:pPr>
            <a:r>
              <a:rPr lang="en-AU" sz="2200" dirty="0" smtClean="0"/>
              <a:t>Keg key systems are used to identify and record beer kegs</a:t>
            </a:r>
          </a:p>
          <a:p>
            <a:pPr>
              <a:spcBef>
                <a:spcPts val="600"/>
              </a:spcBef>
              <a:spcAft>
                <a:spcPts val="1200"/>
              </a:spcAft>
            </a:pPr>
            <a:r>
              <a:rPr lang="en-AU" sz="2200" dirty="0" smtClean="0"/>
              <a:t>Given that beer kegs have a limited shelf life, however look the same, there must be a way to identify individual kegs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3074" name="Picture 2" descr="C:\Documents and Settings\Godaishu\Desktop\744190_beerkegs.jpg"/>
          <p:cNvPicPr>
            <a:picLocks noChangeAspect="1" noChangeArrowheads="1"/>
          </p:cNvPicPr>
          <p:nvPr/>
        </p:nvPicPr>
        <p:blipFill>
          <a:blip r:embed="rId3" cstate="print"/>
          <a:srcRect/>
          <a:stretch>
            <a:fillRect/>
          </a:stretch>
        </p:blipFill>
        <p:spPr bwMode="auto">
          <a:xfrm>
            <a:off x="3563888" y="4293096"/>
            <a:ext cx="1584176" cy="2112234"/>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Bin Card Systems</a:t>
            </a:r>
          </a:p>
          <a:p>
            <a:pPr>
              <a:spcBef>
                <a:spcPts val="600"/>
              </a:spcBef>
              <a:spcAft>
                <a:spcPts val="1200"/>
              </a:spcAft>
            </a:pPr>
            <a:r>
              <a:rPr lang="en-AU" sz="2200" dirty="0" smtClean="0"/>
              <a:t>Bin cards are normally associated with individual beverage bottles in storage</a:t>
            </a:r>
          </a:p>
          <a:p>
            <a:pPr>
              <a:spcBef>
                <a:spcPts val="600"/>
              </a:spcBef>
              <a:spcAft>
                <a:spcPts val="1200"/>
              </a:spcAft>
            </a:pPr>
            <a:r>
              <a:rPr lang="en-AU" sz="2200" dirty="0" smtClean="0"/>
              <a:t>The most common type of beverage which </a:t>
            </a:r>
            <a:br>
              <a:rPr lang="en-AU" sz="2200" dirty="0" smtClean="0"/>
            </a:br>
            <a:r>
              <a:rPr lang="en-AU" sz="2200" dirty="0" smtClean="0"/>
              <a:t>uses a bin system is wine</a:t>
            </a:r>
          </a:p>
          <a:p>
            <a:pPr>
              <a:spcBef>
                <a:spcPts val="600"/>
              </a:spcBef>
              <a:spcAft>
                <a:spcPts val="1200"/>
              </a:spcAft>
            </a:pPr>
            <a:r>
              <a:rPr lang="en-AU" sz="2200" dirty="0" smtClean="0"/>
              <a:t>Given the endless makes, styles and vintages of wine, there needs to be a system which can easily identify bottles or batches of wine purchases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descr="wine-cellar.jpg"/>
          <p:cNvPicPr>
            <a:picLocks noChangeAspect="1"/>
          </p:cNvPicPr>
          <p:nvPr/>
        </p:nvPicPr>
        <p:blipFill>
          <a:blip r:embed="rId3" cstate="print"/>
          <a:stretch>
            <a:fillRect/>
          </a:stretch>
        </p:blipFill>
        <p:spPr>
          <a:xfrm>
            <a:off x="6876256" y="2708920"/>
            <a:ext cx="1536762" cy="1024508"/>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Bin Card Systems</a:t>
            </a:r>
          </a:p>
          <a:p>
            <a:pPr>
              <a:spcBef>
                <a:spcPts val="600"/>
              </a:spcBef>
              <a:spcAft>
                <a:spcPts val="1200"/>
              </a:spcAft>
            </a:pPr>
            <a:r>
              <a:rPr lang="en-AU" sz="2200" dirty="0" smtClean="0"/>
              <a:t>Quite often a bin system incorporates inventory software and recording systems and the use of ‘identification’ tags placed around the necks of </a:t>
            </a:r>
            <a:br>
              <a:rPr lang="en-AU" sz="2200" dirty="0" smtClean="0"/>
            </a:br>
            <a:r>
              <a:rPr lang="en-AU" sz="2200" dirty="0" smtClean="0"/>
              <a:t>wine and other beverage bottles or on boxes of </a:t>
            </a:r>
            <a:br>
              <a:rPr lang="en-AU" sz="2200" dirty="0" smtClean="0"/>
            </a:br>
            <a:r>
              <a:rPr lang="en-AU" sz="2200" dirty="0" smtClean="0"/>
              <a:t>product</a:t>
            </a:r>
          </a:p>
          <a:p>
            <a:pPr>
              <a:spcBef>
                <a:spcPts val="600"/>
              </a:spcBef>
              <a:spcAft>
                <a:spcPts val="1200"/>
              </a:spcAft>
            </a:pPr>
            <a:r>
              <a:rPr lang="en-AU" sz="2200" dirty="0" smtClean="0"/>
              <a:t>This ensures each bottle or box is traceable</a:t>
            </a:r>
          </a:p>
          <a:p>
            <a:pPr>
              <a:spcBef>
                <a:spcPts val="600"/>
              </a:spcBef>
              <a:spcAft>
                <a:spcPts val="1200"/>
              </a:spcAft>
            </a:pPr>
            <a:r>
              <a:rPr lang="en-AU" sz="2200" dirty="0" smtClean="0"/>
              <a:t>The unique bin number/s on each bottle neck tag / box allows every bottle or box to be found with ease and removed with accuracy</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4" descr="Wood Tone Bottle Tags (Set of 100)"/>
          <p:cNvPicPr/>
          <p:nvPr/>
        </p:nvPicPr>
        <p:blipFill>
          <a:blip r:embed="rId3" cstate="print"/>
          <a:srcRect/>
          <a:stretch>
            <a:fillRect/>
          </a:stretch>
        </p:blipFill>
        <p:spPr bwMode="auto">
          <a:xfrm>
            <a:off x="7164288" y="3212976"/>
            <a:ext cx="1285875" cy="1285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US" sz="3400" b="1" dirty="0" smtClean="0">
                <a:solidFill>
                  <a:srgbClr val="FF6600"/>
                </a:solidFill>
              </a:rPr>
              <a:t>Bin and keg key systems</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Benefits of wine tagging systems</a:t>
            </a:r>
          </a:p>
          <a:p>
            <a:pPr>
              <a:spcBef>
                <a:spcPts val="600"/>
              </a:spcBef>
              <a:spcAft>
                <a:spcPts val="1200"/>
              </a:spcAft>
            </a:pPr>
            <a:r>
              <a:rPr lang="en-AU" sz="2200" dirty="0" smtClean="0"/>
              <a:t>Identify your wine locations</a:t>
            </a:r>
          </a:p>
          <a:p>
            <a:pPr>
              <a:spcBef>
                <a:spcPts val="600"/>
              </a:spcBef>
              <a:spcAft>
                <a:spcPts val="1200"/>
              </a:spcAft>
            </a:pPr>
            <a:r>
              <a:rPr lang="en-AU" sz="2200" dirty="0" smtClean="0"/>
              <a:t> Place your wines randomly</a:t>
            </a:r>
          </a:p>
          <a:p>
            <a:pPr>
              <a:spcBef>
                <a:spcPts val="600"/>
              </a:spcBef>
              <a:spcAft>
                <a:spcPts val="1200"/>
              </a:spcAft>
            </a:pPr>
            <a:r>
              <a:rPr lang="en-AU" sz="2200" dirty="0" smtClean="0"/>
              <a:t>Reduce the search area</a:t>
            </a:r>
          </a:p>
          <a:p>
            <a:pPr>
              <a:spcBef>
                <a:spcPts val="600"/>
              </a:spcBef>
              <a:spcAft>
                <a:spcPts val="1200"/>
              </a:spcAft>
            </a:pPr>
            <a:r>
              <a:rPr lang="en-AU" sz="2200" dirty="0" smtClean="0"/>
              <a:t>Finding select wine</a:t>
            </a:r>
          </a:p>
          <a:p>
            <a:pPr>
              <a:spcBef>
                <a:spcPts val="600"/>
              </a:spcBef>
              <a:spcAft>
                <a:spcPts val="1200"/>
              </a:spcAft>
            </a:pPr>
            <a:r>
              <a:rPr lang="en-AU" sz="2200" dirty="0" smtClean="0"/>
              <a:t>Maintaining an accurate inventory</a:t>
            </a:r>
          </a:p>
          <a:p>
            <a:pPr>
              <a:spcBef>
                <a:spcPts val="600"/>
              </a:spcBef>
              <a:spcAft>
                <a:spcPts val="1200"/>
              </a:spcAft>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6" name="Picture 5" descr="Commercial Wine Cellar Gallery"/>
          <p:cNvPicPr/>
          <p:nvPr/>
        </p:nvPicPr>
        <p:blipFill>
          <a:blip r:embed="rId3" cstate="print"/>
          <a:srcRect/>
          <a:stretch>
            <a:fillRect/>
          </a:stretch>
        </p:blipFill>
        <p:spPr bwMode="auto">
          <a:xfrm>
            <a:off x="5364088" y="2708920"/>
            <a:ext cx="2959386" cy="15841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Keep cellar tidy and clean </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Importance of keeping cellar tidy and clean</a:t>
            </a:r>
          </a:p>
          <a:p>
            <a:pPr>
              <a:spcBef>
                <a:spcPts val="600"/>
              </a:spcBef>
              <a:spcAft>
                <a:spcPts val="1200"/>
              </a:spcAft>
            </a:pPr>
            <a:r>
              <a:rPr lang="en-AU" sz="2200" dirty="0" smtClean="0"/>
              <a:t>As a cellar contains beverages, it essentially must follow the usual hygiene requirements that apply to any food and beverage establishment or outlet</a:t>
            </a:r>
            <a:endParaRPr lang="en-AU" sz="2200" b="1" dirty="0" smtClean="0"/>
          </a:p>
          <a:p>
            <a:pPr>
              <a:spcBef>
                <a:spcPts val="600"/>
              </a:spcBef>
              <a:spcAft>
                <a:spcPts val="1200"/>
              </a:spcAft>
            </a:pPr>
            <a:r>
              <a:rPr lang="en-GB" sz="2200" dirty="0" smtClean="0"/>
              <a:t>It is essential that the cellar must fulfil modern health and safety regulations</a:t>
            </a:r>
            <a:endParaRPr lang="en-AU" sz="2200" b="1" dirty="0" smtClean="0"/>
          </a:p>
          <a:p>
            <a:pPr>
              <a:spcBef>
                <a:spcPts val="600"/>
              </a:spcBef>
              <a:spcAft>
                <a:spcPts val="1200"/>
              </a:spcAft>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7" name="Picture 6" descr="Gopher-Kegs-50L-Beer-Keg-For-Rent-Close-Up-Pic2.jpg"/>
          <p:cNvPicPr/>
          <p:nvPr/>
        </p:nvPicPr>
        <p:blipFill>
          <a:blip r:embed="rId3" cstate="print"/>
          <a:stretch>
            <a:fillRect/>
          </a:stretch>
        </p:blipFill>
        <p:spPr>
          <a:xfrm>
            <a:off x="3419872" y="4437112"/>
            <a:ext cx="1928148" cy="1440160"/>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Keep cellar tidy and clean </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Cleaning and maintaining cellar area</a:t>
            </a:r>
          </a:p>
          <a:p>
            <a:pPr lvl="0">
              <a:spcBef>
                <a:spcPts val="600"/>
              </a:spcBef>
              <a:spcAft>
                <a:spcPts val="1200"/>
              </a:spcAft>
            </a:pPr>
            <a:r>
              <a:rPr lang="en-AU" sz="2200" dirty="0" smtClean="0"/>
              <a:t>Only keep items that are essential</a:t>
            </a:r>
          </a:p>
          <a:p>
            <a:pPr lvl="0">
              <a:spcBef>
                <a:spcPts val="600"/>
              </a:spcBef>
              <a:spcAft>
                <a:spcPts val="1200"/>
              </a:spcAft>
            </a:pPr>
            <a:r>
              <a:rPr lang="en-AU" sz="2200" dirty="0" smtClean="0"/>
              <a:t>Remove used containers, boxes etc on a regular basis</a:t>
            </a:r>
          </a:p>
          <a:p>
            <a:pPr lvl="0">
              <a:spcBef>
                <a:spcPts val="600"/>
              </a:spcBef>
              <a:spcAft>
                <a:spcPts val="1200"/>
              </a:spcAft>
            </a:pPr>
            <a:r>
              <a:rPr lang="en-AU" sz="2200" dirty="0" smtClean="0"/>
              <a:t>Store items in a logical manner</a:t>
            </a:r>
          </a:p>
          <a:p>
            <a:pPr lvl="0">
              <a:spcBef>
                <a:spcPts val="600"/>
              </a:spcBef>
              <a:spcAft>
                <a:spcPts val="1200"/>
              </a:spcAft>
            </a:pPr>
            <a:r>
              <a:rPr lang="en-AU" sz="2200" dirty="0" smtClean="0"/>
              <a:t>Ensure a clear path to move and transport items</a:t>
            </a:r>
          </a:p>
          <a:p>
            <a:pPr lvl="0">
              <a:spcBef>
                <a:spcPts val="600"/>
              </a:spcBef>
              <a:spcAft>
                <a:spcPts val="1200"/>
              </a:spcAft>
            </a:pPr>
            <a:r>
              <a:rPr lang="en-AU" sz="2200" dirty="0" smtClean="0"/>
              <a:t>Cleaning on a regular basis, especially when spills occur</a:t>
            </a:r>
          </a:p>
          <a:p>
            <a:pPr lvl="0">
              <a:spcBef>
                <a:spcPts val="600"/>
              </a:spcBef>
              <a:spcAft>
                <a:spcPts val="1200"/>
              </a:spcAft>
            </a:pPr>
            <a:r>
              <a:rPr lang="en-AU" sz="2200" dirty="0" smtClean="0"/>
              <a:t>Keep cellar walls and floors clean </a:t>
            </a:r>
          </a:p>
          <a:p>
            <a:pPr>
              <a:spcBef>
                <a:spcPts val="600"/>
              </a:spcBef>
              <a:spcAft>
                <a:spcPts val="1200"/>
              </a:spcAft>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6" name="Picture 5" descr="thCAJDYDVP.jpg"/>
          <p:cNvPicPr/>
          <p:nvPr/>
        </p:nvPicPr>
        <p:blipFill>
          <a:blip r:embed="rId3" cstate="print"/>
          <a:stretch>
            <a:fillRect/>
          </a:stretch>
        </p:blipFill>
        <p:spPr>
          <a:xfrm>
            <a:off x="7164288" y="5013176"/>
            <a:ext cx="1209675" cy="125730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Keep cellar tidy and clean </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1200"/>
              </a:spcAft>
              <a:buNone/>
            </a:pPr>
            <a:r>
              <a:rPr lang="en-AU" sz="2200" b="1" dirty="0" smtClean="0"/>
              <a:t>Cleaning and maintaining cellar area</a:t>
            </a:r>
          </a:p>
          <a:p>
            <a:pPr lvl="0">
              <a:spcBef>
                <a:spcPts val="600"/>
              </a:spcBef>
              <a:spcAft>
                <a:spcPts val="1200"/>
              </a:spcAft>
            </a:pPr>
            <a:r>
              <a:rPr lang="en-AU" sz="2200" dirty="0" smtClean="0"/>
              <a:t>Ensure walls are treated with an anti-fungal paint or cleaner</a:t>
            </a:r>
          </a:p>
          <a:p>
            <a:pPr lvl="0">
              <a:spcBef>
                <a:spcPts val="600"/>
              </a:spcBef>
              <a:spcAft>
                <a:spcPts val="1200"/>
              </a:spcAft>
            </a:pPr>
            <a:r>
              <a:rPr lang="en-AU" sz="2200" dirty="0" smtClean="0"/>
              <a:t>Ensuring suitable lighting</a:t>
            </a:r>
          </a:p>
          <a:p>
            <a:pPr lvl="0">
              <a:spcBef>
                <a:spcPts val="600"/>
              </a:spcBef>
              <a:spcAft>
                <a:spcPts val="1200"/>
              </a:spcAft>
            </a:pPr>
            <a:r>
              <a:rPr lang="en-AU" sz="2200" dirty="0" smtClean="0"/>
              <a:t>Cleaning drains and sumps on a regular </a:t>
            </a:r>
            <a:br>
              <a:rPr lang="en-AU" sz="2200" dirty="0" smtClean="0"/>
            </a:br>
            <a:r>
              <a:rPr lang="en-AU" sz="2200" dirty="0" smtClean="0"/>
              <a:t>basis</a:t>
            </a:r>
          </a:p>
          <a:p>
            <a:pPr lvl="0">
              <a:spcBef>
                <a:spcPts val="600"/>
              </a:spcBef>
              <a:spcAft>
                <a:spcPts val="1200"/>
              </a:spcAft>
            </a:pPr>
            <a:r>
              <a:rPr lang="en-AU" sz="2200" dirty="0" smtClean="0"/>
              <a:t>Ensuring there is hot and cold running                              water access for cleaning</a:t>
            </a:r>
          </a:p>
          <a:p>
            <a:pPr lvl="0">
              <a:spcBef>
                <a:spcPts val="600"/>
              </a:spcBef>
              <a:spcAft>
                <a:spcPts val="1200"/>
              </a:spcAft>
            </a:pPr>
            <a:r>
              <a:rPr lang="en-AU" sz="2200" dirty="0" smtClean="0"/>
              <a:t>Maintain good ventilation to remove stale air                          and build up of CO</a:t>
            </a:r>
            <a:r>
              <a:rPr lang="en-AU" sz="2200" baseline="-25000" dirty="0" smtClean="0"/>
              <a:t>2</a:t>
            </a:r>
            <a:r>
              <a:rPr lang="en-AU" sz="2200" dirty="0" smtClean="0"/>
              <a:t> gas</a:t>
            </a:r>
          </a:p>
          <a:p>
            <a:pPr lvl="0">
              <a:spcBef>
                <a:spcPts val="600"/>
              </a:spcBef>
              <a:spcAft>
                <a:spcPts val="1200"/>
              </a:spcAft>
            </a:pPr>
            <a:r>
              <a:rPr lang="en-AU" sz="2200" dirty="0" smtClean="0"/>
              <a:t>Keep cleaning containers clean</a:t>
            </a:r>
          </a:p>
          <a:p>
            <a:pPr>
              <a:spcBef>
                <a:spcPts val="600"/>
              </a:spcBef>
              <a:spcAft>
                <a:spcPts val="1200"/>
              </a:spcAft>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Residential Wine Cellar Gallery &gt;"/>
          <p:cNvPicPr/>
          <p:nvPr/>
        </p:nvPicPr>
        <p:blipFill>
          <a:blip r:embed="rId3" cstate="print"/>
          <a:srcRect/>
          <a:stretch>
            <a:fillRect/>
          </a:stretch>
        </p:blipFill>
        <p:spPr bwMode="auto">
          <a:xfrm>
            <a:off x="6228184" y="2780928"/>
            <a:ext cx="2348633" cy="10801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Keep cellar tidy and clean </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Cleaning and maintaining cellar area</a:t>
            </a:r>
          </a:p>
          <a:p>
            <a:pPr lvl="0">
              <a:spcBef>
                <a:spcPts val="600"/>
              </a:spcBef>
              <a:spcAft>
                <a:spcPts val="1200"/>
              </a:spcAft>
            </a:pPr>
            <a:r>
              <a:rPr lang="en-AU" sz="2200" dirty="0" smtClean="0"/>
              <a:t>Store cleaning chemicals and equipment in appropriate and secure location</a:t>
            </a:r>
          </a:p>
          <a:p>
            <a:pPr lvl="0">
              <a:spcBef>
                <a:spcPts val="600"/>
              </a:spcBef>
              <a:spcAft>
                <a:spcPts val="1200"/>
              </a:spcAft>
            </a:pPr>
            <a:r>
              <a:rPr lang="en-AU" sz="2200" dirty="0" smtClean="0"/>
              <a:t>Keep water hoses on their reels and secure</a:t>
            </a:r>
          </a:p>
          <a:p>
            <a:pPr lvl="0">
              <a:spcBef>
                <a:spcPts val="600"/>
              </a:spcBef>
              <a:spcAft>
                <a:spcPts val="1200"/>
              </a:spcAft>
            </a:pPr>
            <a:r>
              <a:rPr lang="en-AU" sz="2200" dirty="0" smtClean="0"/>
              <a:t>Ensure all gas cylinders are correctly stored</a:t>
            </a:r>
          </a:p>
          <a:p>
            <a:pPr lvl="0">
              <a:spcBef>
                <a:spcPts val="600"/>
              </a:spcBef>
              <a:spcAft>
                <a:spcPts val="1200"/>
              </a:spcAft>
            </a:pPr>
            <a:r>
              <a:rPr lang="en-AU" sz="2200" dirty="0" smtClean="0"/>
              <a:t>Use all retaining chains to limit movement </a:t>
            </a:r>
            <a:br>
              <a:rPr lang="en-AU" sz="2200" dirty="0" smtClean="0"/>
            </a:br>
            <a:r>
              <a:rPr lang="en-AU" sz="2200" dirty="0" smtClean="0"/>
              <a:t>of gas cylinders</a:t>
            </a:r>
          </a:p>
          <a:p>
            <a:pPr>
              <a:spcBef>
                <a:spcPts val="600"/>
              </a:spcBef>
              <a:spcAft>
                <a:spcPts val="1200"/>
              </a:spcAft>
            </a:pPr>
            <a:r>
              <a:rPr lang="en-AU" sz="2200" dirty="0" smtClean="0"/>
              <a:t>Remove empty kegs, casks and bottles on a                          regular basis</a:t>
            </a:r>
          </a:p>
          <a:p>
            <a:pPr lvl="0">
              <a:spcBef>
                <a:spcPts val="600"/>
              </a:spcBef>
              <a:spcAft>
                <a:spcPts val="1200"/>
              </a:spcAft>
            </a:pPr>
            <a:r>
              <a:rPr lang="en-AU" sz="2200" dirty="0" smtClean="0"/>
              <a:t>Reseal casks when empty</a:t>
            </a:r>
          </a:p>
          <a:p>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7" name="Picture 6" descr="IMG_9746_0.jpg"/>
          <p:cNvPicPr>
            <a:picLocks noChangeAspect="1"/>
          </p:cNvPicPr>
          <p:nvPr/>
        </p:nvPicPr>
        <p:blipFill>
          <a:blip r:embed="rId3" cstate="print"/>
          <a:stretch>
            <a:fillRect/>
          </a:stretch>
        </p:blipFill>
        <p:spPr>
          <a:xfrm>
            <a:off x="6876256" y="2924944"/>
            <a:ext cx="1521718" cy="1521718"/>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GB" sz="2200" dirty="0" smtClean="0"/>
              <a:t>The importance of temperature in all aspects of beverage storing and dispensing is critical in ensuring the finished product is dispensed in its optimal condition</a:t>
            </a:r>
            <a:endParaRPr lang="en-AU" sz="2200" b="1" dirty="0" smtClean="0"/>
          </a:p>
          <a:p>
            <a:pPr>
              <a:spcBef>
                <a:spcPts val="600"/>
              </a:spcBef>
              <a:spcAft>
                <a:spcPts val="1200"/>
              </a:spcAft>
            </a:pPr>
            <a:r>
              <a:rPr lang="en-GB" sz="2200" dirty="0" smtClean="0"/>
              <a:t>Different temperatures have different reactions for different beverages</a:t>
            </a:r>
            <a:endParaRPr lang="en-AU" sz="2200" b="1" dirty="0" smtClean="0"/>
          </a:p>
          <a:p>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8" name="Picture 7" descr="http://ts3.mm.bing.net/th?id=H.4953799099221010&amp;pid=15.1&amp;H=160&amp;W=160"/>
          <p:cNvPicPr/>
          <p:nvPr/>
        </p:nvPicPr>
        <p:blipFill>
          <a:blip r:embed="rId3" cstate="print"/>
          <a:srcRect/>
          <a:stretch>
            <a:fillRect/>
          </a:stretch>
        </p:blipFill>
        <p:spPr bwMode="auto">
          <a:xfrm>
            <a:off x="3563888" y="4077072"/>
            <a:ext cx="1524000" cy="17400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Optimal cellar temperature </a:t>
            </a:r>
            <a:endParaRPr lang="en-AU" sz="2200" dirty="0" smtClean="0"/>
          </a:p>
          <a:p>
            <a:pPr marL="0">
              <a:spcBef>
                <a:spcPts val="600"/>
              </a:spcBef>
              <a:spcAft>
                <a:spcPts val="1200"/>
              </a:spcAft>
              <a:buNone/>
            </a:pPr>
            <a:r>
              <a:rPr lang="en-AU" sz="2200" dirty="0" smtClean="0"/>
              <a:t>Cellar cooling equipment should give a cellar temperature of 10 to 12 degrees centigrade and run for a maximum of 16 hours out of every 24 hours.</a:t>
            </a:r>
          </a:p>
          <a:p>
            <a:pPr>
              <a:spcBef>
                <a:spcPts val="600"/>
              </a:spcBef>
              <a:spcAft>
                <a:spcPts val="1200"/>
              </a:spcAft>
            </a:pPr>
            <a:r>
              <a:rPr lang="en-AU" sz="2200" dirty="0" smtClean="0"/>
              <a:t>How do you monitor cellar temperature accurately?</a:t>
            </a:r>
          </a:p>
          <a:p>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WhisperKOOL Platinum Extreme 8000ti Wine Cellar Cooling Unit Ducted (Max Room Size = 2000 cu ft)"/>
          <p:cNvPicPr/>
          <p:nvPr/>
        </p:nvPicPr>
        <p:blipFill>
          <a:blip r:embed="rId3" cstate="print"/>
          <a:srcRect/>
          <a:stretch>
            <a:fillRect/>
          </a:stretch>
        </p:blipFill>
        <p:spPr bwMode="auto">
          <a:xfrm>
            <a:off x="3419872" y="4149080"/>
            <a:ext cx="1896790" cy="18247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Maintaining cellar cooling equipment</a:t>
            </a:r>
            <a:endParaRPr lang="en-AU" sz="2200" dirty="0" smtClean="0"/>
          </a:p>
          <a:p>
            <a:pPr>
              <a:spcBef>
                <a:spcPts val="600"/>
              </a:spcBef>
              <a:spcAft>
                <a:spcPts val="1200"/>
              </a:spcAft>
            </a:pPr>
            <a:r>
              <a:rPr lang="en-AU" sz="2200" dirty="0" smtClean="0"/>
              <a:t>Ensure any cellar cooling equipment to be working correctly</a:t>
            </a:r>
          </a:p>
          <a:p>
            <a:pPr lvl="0">
              <a:spcBef>
                <a:spcPts val="600"/>
              </a:spcBef>
              <a:spcAft>
                <a:spcPts val="1200"/>
              </a:spcAft>
            </a:pPr>
            <a:r>
              <a:rPr lang="en-AU" sz="2200" dirty="0" smtClean="0"/>
              <a:t>Equipment must be regularly serviced by specialised technicians</a:t>
            </a:r>
          </a:p>
          <a:p>
            <a:pPr>
              <a:spcBef>
                <a:spcPts val="600"/>
              </a:spcBef>
              <a:spcAft>
                <a:spcPts val="1200"/>
              </a:spcAft>
            </a:pPr>
            <a:r>
              <a:rPr lang="en-AU" sz="2200" dirty="0" smtClean="0"/>
              <a:t>Air vents on equipment must be kept clear</a:t>
            </a:r>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7" name="Picture 6" descr="http://ts3.mm.bing.net/th?id=H.4871675084080026&amp;pid=15.1&amp;H=160&amp;W=144"/>
          <p:cNvPicPr/>
          <p:nvPr/>
        </p:nvPicPr>
        <p:blipFill>
          <a:blip r:embed="rId3" cstate="print"/>
          <a:srcRect/>
          <a:stretch>
            <a:fillRect/>
          </a:stretch>
        </p:blipFill>
        <p:spPr bwMode="auto">
          <a:xfrm>
            <a:off x="6876256" y="3501008"/>
            <a:ext cx="1477888" cy="16260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Use and placement of thermometers</a:t>
            </a:r>
            <a:endParaRPr lang="en-AU" sz="2200" dirty="0" smtClean="0"/>
          </a:p>
          <a:p>
            <a:pPr lvl="0">
              <a:spcBef>
                <a:spcPts val="600"/>
              </a:spcBef>
              <a:spcAft>
                <a:spcPts val="1200"/>
              </a:spcAft>
            </a:pPr>
            <a:r>
              <a:rPr lang="en-AU" sz="2200" dirty="0" smtClean="0"/>
              <a:t>There should be two quality thermometers</a:t>
            </a:r>
          </a:p>
          <a:p>
            <a:pPr lvl="0">
              <a:spcBef>
                <a:spcPts val="600"/>
              </a:spcBef>
              <a:spcAft>
                <a:spcPts val="1200"/>
              </a:spcAft>
            </a:pPr>
            <a:r>
              <a:rPr lang="en-AU" sz="2200" dirty="0" smtClean="0"/>
              <a:t>Placed in different parts of the cellar</a:t>
            </a:r>
          </a:p>
          <a:p>
            <a:pPr lvl="0">
              <a:spcBef>
                <a:spcPts val="600"/>
              </a:spcBef>
              <a:spcAft>
                <a:spcPts val="1200"/>
              </a:spcAft>
            </a:pPr>
            <a:r>
              <a:rPr lang="en-AU" sz="2200" dirty="0" smtClean="0"/>
              <a:t>Located at different heights to ensure accurate measurements can be taken</a:t>
            </a:r>
          </a:p>
          <a:p>
            <a:pPr lvl="0">
              <a:spcBef>
                <a:spcPts val="600"/>
              </a:spcBef>
              <a:spcAft>
                <a:spcPts val="1200"/>
              </a:spcAft>
            </a:pPr>
            <a:r>
              <a:rPr lang="en-AU" sz="2200" dirty="0" smtClean="0"/>
              <a:t>Not be placed in direct flow of cooler air or up against walls</a:t>
            </a:r>
          </a:p>
          <a:p>
            <a:pPr>
              <a:spcBef>
                <a:spcPts val="600"/>
              </a:spcBef>
              <a:spcAft>
                <a:spcPts val="1200"/>
              </a:spcAft>
              <a:buNone/>
            </a:pPr>
            <a:endParaRPr lang="en-AU" sz="24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descr="Taylor Additional Wireless Sensor"/>
          <p:cNvPicPr/>
          <p:nvPr/>
        </p:nvPicPr>
        <p:blipFill>
          <a:blip r:embed="rId3" cstate="print"/>
          <a:srcRect/>
          <a:stretch>
            <a:fillRect/>
          </a:stretch>
        </p:blipFill>
        <p:spPr bwMode="auto">
          <a:xfrm>
            <a:off x="6732240" y="1916832"/>
            <a:ext cx="1381125" cy="1381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Importance of cellar temperature for beer</a:t>
            </a:r>
            <a:endParaRPr lang="en-AU" sz="2200" dirty="0" smtClean="0"/>
          </a:p>
          <a:p>
            <a:pPr marL="0">
              <a:spcBef>
                <a:spcPts val="600"/>
              </a:spcBef>
              <a:spcAft>
                <a:spcPts val="1200"/>
              </a:spcAft>
              <a:buNone/>
            </a:pPr>
            <a:r>
              <a:rPr lang="en-US" sz="2200" dirty="0" smtClean="0"/>
              <a:t>Beer be stored and dispensed from a cool room set at                    2 to 10 degrees Celsius. </a:t>
            </a:r>
          </a:p>
          <a:p>
            <a:pPr marL="0">
              <a:spcBef>
                <a:spcPts val="600"/>
              </a:spcBef>
              <a:spcAft>
                <a:spcPts val="1200"/>
              </a:spcAft>
              <a:buNone/>
            </a:pPr>
            <a:r>
              <a:rPr lang="en-US" sz="2200" dirty="0" smtClean="0"/>
              <a:t>Where cool rooms are not available, the following points should be adhered to:</a:t>
            </a:r>
            <a:endParaRPr lang="en-AU" sz="2200" dirty="0" smtClean="0"/>
          </a:p>
          <a:p>
            <a:pPr lvl="0">
              <a:spcBef>
                <a:spcPts val="600"/>
              </a:spcBef>
              <a:spcAft>
                <a:spcPts val="1200"/>
              </a:spcAft>
            </a:pPr>
            <a:r>
              <a:rPr lang="en-US" sz="2200" dirty="0" smtClean="0"/>
              <a:t>Avoid temperatures above 20 degrees Celsius</a:t>
            </a:r>
          </a:p>
          <a:p>
            <a:pPr lvl="0">
              <a:spcBef>
                <a:spcPts val="600"/>
              </a:spcBef>
              <a:spcAft>
                <a:spcPts val="1200"/>
              </a:spcAft>
            </a:pPr>
            <a:r>
              <a:rPr lang="en-US" sz="2200" dirty="0" smtClean="0"/>
              <a:t>Thorough cleaning of all equipment becomes extremely critical</a:t>
            </a:r>
            <a:endParaRPr lang="en-AU" sz="2200" dirty="0" smtClean="0"/>
          </a:p>
          <a:p>
            <a:pPr>
              <a:spcBef>
                <a:spcPts val="600"/>
              </a:spcBef>
              <a:spcAft>
                <a:spcPts val="1200"/>
              </a:spcAft>
            </a:pPr>
            <a:r>
              <a:rPr lang="en-US" sz="2200" dirty="0" smtClean="0"/>
              <a:t>It is important to note that keg beer needs approximately 72 hours to adjust to cellar     temperatures</a:t>
            </a:r>
            <a:endParaRPr lang="en-AU" sz="2200" b="1" dirty="0" smtClean="0"/>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6" name="Picture 5" descr="BrewMometer"/>
          <p:cNvPicPr/>
          <p:nvPr/>
        </p:nvPicPr>
        <p:blipFill>
          <a:blip r:embed="rId3" cstate="print"/>
          <a:srcRect/>
          <a:stretch>
            <a:fillRect/>
          </a:stretch>
        </p:blipFill>
        <p:spPr bwMode="auto">
          <a:xfrm>
            <a:off x="7092280" y="3645024"/>
            <a:ext cx="1660004" cy="11909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rPr>
              <a:t>Monitor cellar temperature</a:t>
            </a:r>
            <a:endParaRPr lang="en-AU" sz="34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t>Importance of cellar temperature for wine</a:t>
            </a:r>
            <a:endParaRPr lang="en-AU" sz="2200" dirty="0" smtClean="0"/>
          </a:p>
          <a:p>
            <a:pPr marL="0">
              <a:spcBef>
                <a:spcPts val="600"/>
              </a:spcBef>
              <a:spcAft>
                <a:spcPts val="1200"/>
              </a:spcAft>
              <a:buNone/>
            </a:pPr>
            <a:r>
              <a:rPr lang="en-AU" sz="2200" dirty="0" smtClean="0"/>
              <a:t>The best temperature to store wine is between 12 to16 degrees Celsius</a:t>
            </a:r>
          </a:p>
          <a:p>
            <a:pPr>
              <a:spcBef>
                <a:spcPts val="600"/>
              </a:spcBef>
              <a:spcAft>
                <a:spcPts val="1200"/>
              </a:spcAft>
            </a:pPr>
            <a:r>
              <a:rPr lang="en-AU" sz="2200" dirty="0" smtClean="0"/>
              <a:t>How can you ensure bottled wine is stored correctly?</a:t>
            </a:r>
          </a:p>
          <a:p>
            <a:pPr>
              <a:spcBef>
                <a:spcPts val="600"/>
              </a:spcBef>
              <a:spcAft>
                <a:spcPts val="1200"/>
              </a:spcAft>
            </a:pPr>
            <a:r>
              <a:rPr lang="en-AU" sz="2200" dirty="0" smtClean="0"/>
              <a:t>What are considerations when storing wine?</a:t>
            </a:r>
          </a:p>
          <a:p>
            <a:pPr>
              <a:spcBef>
                <a:spcPts val="600"/>
              </a:spcBef>
              <a:spcAft>
                <a:spcPts val="1200"/>
              </a:spcAft>
            </a:pPr>
            <a:r>
              <a:rPr lang="en-AU" sz="2200" dirty="0" smtClean="0"/>
              <a:t>How does temperature effect a bottle of wine?</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7" name="Picture 6" descr="wine-cellar.jpg"/>
          <p:cNvPicPr>
            <a:picLocks noChangeAspect="1"/>
          </p:cNvPicPr>
          <p:nvPr/>
        </p:nvPicPr>
        <p:blipFill>
          <a:blip r:embed="rId3" cstate="print"/>
          <a:stretch>
            <a:fillRect/>
          </a:stretch>
        </p:blipFill>
        <p:spPr>
          <a:xfrm>
            <a:off x="3419872" y="4797152"/>
            <a:ext cx="2076822" cy="138454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475</TotalTime>
  <Words>6227</Words>
  <Application>Microsoft Office PowerPoint</Application>
  <PresentationFormat>On-screen Show (4:3)</PresentationFormat>
  <Paragraphs>1226</Paragraphs>
  <Slides>103</Slides>
  <Notes>103</Notes>
  <HiddenSlides>0</HiddenSlides>
  <MMClips>0</MMClips>
  <ScaleCrop>false</ScaleCrop>
  <HeadingPairs>
    <vt:vector size="4" baseType="variant">
      <vt:variant>
        <vt:lpstr>Theme</vt:lpstr>
      </vt:variant>
      <vt:variant>
        <vt:i4>1</vt:i4>
      </vt:variant>
      <vt:variant>
        <vt:lpstr>Slide Titles</vt:lpstr>
      </vt:variant>
      <vt:variant>
        <vt:i4>103</vt:i4>
      </vt:variant>
    </vt:vector>
  </HeadingPairs>
  <TitlesOfParts>
    <vt:vector size="104" baseType="lpstr">
      <vt:lpstr>PPT_Food_&amp;_Bev_template_250612</vt:lpstr>
      <vt:lpstr>OPERATE A CELLAR SYSTEM</vt:lpstr>
      <vt:lpstr>Subject Elements</vt:lpstr>
      <vt:lpstr>Assessment</vt:lpstr>
      <vt:lpstr>Slide 4</vt:lpstr>
      <vt:lpstr>Operate and maintain bulk dispensing systems</vt:lpstr>
      <vt:lpstr>Purpose of bar operation</vt:lpstr>
      <vt:lpstr>The cellar area</vt:lpstr>
      <vt:lpstr>The cellar area</vt:lpstr>
      <vt:lpstr>Bulk dispensing systems</vt:lpstr>
      <vt:lpstr>Bulk dispensing systems</vt:lpstr>
      <vt:lpstr>Bulk dispensing systems</vt:lpstr>
      <vt:lpstr>Beer dispensing systems</vt:lpstr>
      <vt:lpstr>Spirit dispensing systems</vt:lpstr>
      <vt:lpstr>Spirit dispensing systems</vt:lpstr>
      <vt:lpstr>Spirit dispensing systems</vt:lpstr>
      <vt:lpstr>Wine dispensing systems</vt:lpstr>
      <vt:lpstr>Soda dispensing systems</vt:lpstr>
      <vt:lpstr>Cellar equipment</vt:lpstr>
      <vt:lpstr>Role of cellar attendant</vt:lpstr>
      <vt:lpstr>Role of cellar attendant</vt:lpstr>
      <vt:lpstr>Role of cellar attendant</vt:lpstr>
      <vt:lpstr>Role of cellar attendant</vt:lpstr>
      <vt:lpstr>Cellar attendant safety</vt:lpstr>
      <vt:lpstr>Cellar attendant safety</vt:lpstr>
      <vt:lpstr>Operating dispensing systems</vt:lpstr>
      <vt:lpstr>Spirit dispensing systems</vt:lpstr>
      <vt:lpstr>Wine dispensing systems</vt:lpstr>
      <vt:lpstr>Post-mix dispensing systems</vt:lpstr>
      <vt:lpstr>Post-mix dispensing systems</vt:lpstr>
      <vt:lpstr>Post-mix dispensing systems</vt:lpstr>
      <vt:lpstr>Post-mix dispensing systems</vt:lpstr>
      <vt:lpstr>Identifying and resolving faults with dispensing systems</vt:lpstr>
      <vt:lpstr>Slide 33</vt:lpstr>
      <vt:lpstr>Operate and maintain beer reticulation systems</vt:lpstr>
      <vt:lpstr>Components of beer dispensing system</vt:lpstr>
      <vt:lpstr>Components of beer dispensing system</vt:lpstr>
      <vt:lpstr>Components of beer dispensing system</vt:lpstr>
      <vt:lpstr>Components of beer dispensing system</vt:lpstr>
      <vt:lpstr>Beer systems equipment</vt:lpstr>
      <vt:lpstr>Beer systems equipment</vt:lpstr>
      <vt:lpstr>Beer systems equipment</vt:lpstr>
      <vt:lpstr>Beer systems equipment</vt:lpstr>
      <vt:lpstr>Beer systems equipment</vt:lpstr>
      <vt:lpstr>Handling kegs</vt:lpstr>
      <vt:lpstr>Handling kegs</vt:lpstr>
      <vt:lpstr>Handling kegs</vt:lpstr>
      <vt:lpstr>Connecting beer</vt:lpstr>
      <vt:lpstr>Pouring beer</vt:lpstr>
      <vt:lpstr>Pouring beer</vt:lpstr>
      <vt:lpstr>Handling glassware</vt:lpstr>
      <vt:lpstr>Beer system maintenance and cleaning</vt:lpstr>
      <vt:lpstr>Beer system maintenance and cleaning</vt:lpstr>
      <vt:lpstr>Beer system maintenance and cleaning</vt:lpstr>
      <vt:lpstr>Beer system maintenance and cleaning</vt:lpstr>
      <vt:lpstr>Identifying and rectifying problems with beer dispensing system</vt:lpstr>
      <vt:lpstr>Identifying and rectifying problems with beer dispensing system</vt:lpstr>
      <vt:lpstr>Identifying and rectifying problems with beer dispensing system</vt:lpstr>
      <vt:lpstr>Handling, connecting and storing gas</vt:lpstr>
      <vt:lpstr>Handling, connecting and storing gas</vt:lpstr>
      <vt:lpstr>Handling, connecting and storing gas</vt:lpstr>
      <vt:lpstr>Handling, connecting and storing gas</vt:lpstr>
      <vt:lpstr>Slide 62</vt:lpstr>
      <vt:lpstr>Use and maintain refrigeration systems</vt:lpstr>
      <vt:lpstr>Refrigeration systems</vt:lpstr>
      <vt:lpstr>Refrigeration systems</vt:lpstr>
      <vt:lpstr>Refrigeration systems</vt:lpstr>
      <vt:lpstr>Refrigeration system temperature</vt:lpstr>
      <vt:lpstr>Refrigeration system temperature</vt:lpstr>
      <vt:lpstr>Refrigeration system temperature</vt:lpstr>
      <vt:lpstr>Refrigeration system components</vt:lpstr>
      <vt:lpstr>Refrigeration system systems</vt:lpstr>
      <vt:lpstr>Refrigeration system systems</vt:lpstr>
      <vt:lpstr>Refrigeration system systems</vt:lpstr>
      <vt:lpstr>Identify refrigeration system faults</vt:lpstr>
      <vt:lpstr>Identify refrigeration system faults</vt:lpstr>
      <vt:lpstr>Identify refrigeration system faults</vt:lpstr>
      <vt:lpstr>Identify refrigeration system faults</vt:lpstr>
      <vt:lpstr>Slide 78</vt:lpstr>
      <vt:lpstr>Monitor quality of cellar products </vt:lpstr>
      <vt:lpstr>Test quality of cellar products</vt:lpstr>
      <vt:lpstr>Test quality of cellar products</vt:lpstr>
      <vt:lpstr>Test quality of cellar products</vt:lpstr>
      <vt:lpstr>Test quality of cellar products</vt:lpstr>
      <vt:lpstr>Test quality of cellar products</vt:lpstr>
      <vt:lpstr>Test quality of cellar products</vt:lpstr>
      <vt:lpstr>Bin and keg key systems</vt:lpstr>
      <vt:lpstr>Bin and keg key systems</vt:lpstr>
      <vt:lpstr>Bin and keg key systems</vt:lpstr>
      <vt:lpstr>Bin and keg key systems</vt:lpstr>
      <vt:lpstr>Bin and keg key systems</vt:lpstr>
      <vt:lpstr>Bin and keg key systems</vt:lpstr>
      <vt:lpstr>Bin and keg key systems</vt:lpstr>
      <vt:lpstr>Bin and keg key systems</vt:lpstr>
      <vt:lpstr>Keep cellar tidy and clean </vt:lpstr>
      <vt:lpstr>Keep cellar tidy and clean </vt:lpstr>
      <vt:lpstr>Keep cellar tidy and clean </vt:lpstr>
      <vt:lpstr>Keep cellar tidy and clean </vt:lpstr>
      <vt:lpstr>Monitor cellar temperature</vt:lpstr>
      <vt:lpstr>Monitor cellar temperature</vt:lpstr>
      <vt:lpstr>Monitor cellar temperature</vt:lpstr>
      <vt:lpstr>Monitor cellar temperature</vt:lpstr>
      <vt:lpstr>Monitor cellar temperature</vt:lpstr>
      <vt:lpstr>Monitor cellar temperature</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Daniel James Chee</cp:lastModifiedBy>
  <cp:revision>128</cp:revision>
  <dcterms:created xsi:type="dcterms:W3CDTF">2013-02-04T23:50:43Z</dcterms:created>
  <dcterms:modified xsi:type="dcterms:W3CDTF">2013-06-19T02:03:33Z</dcterms:modified>
</cp:coreProperties>
</file>