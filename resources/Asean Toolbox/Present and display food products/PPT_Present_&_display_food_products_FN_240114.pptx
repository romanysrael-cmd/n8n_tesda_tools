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8"/>
  </p:notesMasterIdLst>
  <p:handoutMasterIdLst>
    <p:handoutMasterId r:id="rId5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9" r:id="rId9"/>
    <p:sldId id="296" r:id="rId10"/>
    <p:sldId id="298" r:id="rId11"/>
    <p:sldId id="300" r:id="rId12"/>
    <p:sldId id="301" r:id="rId13"/>
    <p:sldId id="297" r:id="rId14"/>
    <p:sldId id="263" r:id="rId15"/>
    <p:sldId id="302" r:id="rId16"/>
    <p:sldId id="303" r:id="rId17"/>
    <p:sldId id="308" r:id="rId18"/>
    <p:sldId id="309" r:id="rId19"/>
    <p:sldId id="304" r:id="rId20"/>
    <p:sldId id="318" r:id="rId21"/>
    <p:sldId id="317" r:id="rId22"/>
    <p:sldId id="305" r:id="rId23"/>
    <p:sldId id="311" r:id="rId24"/>
    <p:sldId id="314" r:id="rId25"/>
    <p:sldId id="315" r:id="rId26"/>
    <p:sldId id="316" r:id="rId27"/>
    <p:sldId id="306" r:id="rId28"/>
    <p:sldId id="264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265" r:id="rId38"/>
    <p:sldId id="266" r:id="rId39"/>
    <p:sldId id="328" r:id="rId40"/>
    <p:sldId id="267" r:id="rId41"/>
    <p:sldId id="330" r:id="rId42"/>
    <p:sldId id="329" r:id="rId43"/>
    <p:sldId id="331" r:id="rId44"/>
    <p:sldId id="268" r:id="rId45"/>
    <p:sldId id="332" r:id="rId46"/>
    <p:sldId id="333" r:id="rId47"/>
    <p:sldId id="339" r:id="rId48"/>
    <p:sldId id="334" r:id="rId49"/>
    <p:sldId id="270" r:id="rId50"/>
    <p:sldId id="271" r:id="rId51"/>
    <p:sldId id="336" r:id="rId52"/>
    <p:sldId id="335" r:id="rId53"/>
    <p:sldId id="272" r:id="rId54"/>
    <p:sldId id="337" r:id="rId55"/>
    <p:sldId id="273" r:id="rId56"/>
    <p:sldId id="338" r:id="rId57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35" autoAdjust="0"/>
    <p:restoredTop sz="93964" autoAdjust="0"/>
  </p:normalViewPr>
  <p:slideViewPr>
    <p:cSldViewPr>
      <p:cViewPr varScale="1">
        <p:scale>
          <a:sx n="86" d="100"/>
          <a:sy n="86" d="100"/>
        </p:scale>
        <p:origin x="13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1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E6916107-BD3A-45E2-B124-A5ED60630F4B}" type="datetimeFigureOut">
              <a:rPr lang="en-US" smtClean="0"/>
              <a:pPr/>
              <a:t>4/6/2015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5905CC0A-F53C-4267-913E-3202B6ED95E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70146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BC34F173-2430-41D6-9CA5-C9CD3BDF7E96}" type="datetimeFigureOut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59" tIns="47380" rIns="94759" bIns="4738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006CD3C9-0AF2-437D-9D2F-7B6B298CC3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30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Trainer welcomes trainees</a:t>
            </a:r>
            <a:r>
              <a:rPr lang="en-US" baseline="0" dirty="0" smtClean="0"/>
              <a:t> and informs them that the subject matter that will be covered is food presentation and display of food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536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dirty="0" smtClean="0"/>
              <a:t>Trainer advises</a:t>
            </a:r>
            <a:r>
              <a:rPr lang="en-US" baseline="0" dirty="0" smtClean="0"/>
              <a:t> students that this unit comprises 3 elements as listed on slide explaining: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baseline="0" dirty="0" smtClean="0"/>
              <a:t>Each element comprises several performance criteria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baseline="0" dirty="0" smtClean="0"/>
              <a:t>Students can obtain more information from the Trainee Manual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baseline="0" dirty="0" smtClean="0"/>
              <a:t>The course presents advice and information but, where their workplace requirements differ to what is presented, the workplace standards and practices must be observed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562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advises students that assessment for this unit may</a:t>
            </a:r>
            <a:r>
              <a:rPr lang="en-US" baseline="0" dirty="0" smtClean="0"/>
              <a:t> take several forms, all of which are aimed at verifying that they have achieved competency for the unit as required.</a:t>
            </a:r>
          </a:p>
          <a:p>
            <a:pPr>
              <a:buFont typeface="Arial" pitchFamily="34" charset="0"/>
              <a:buChar char="•"/>
            </a:pPr>
            <a:endParaRPr lang="en-US" baseline="0" dirty="0" smtClean="0"/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Trainer indicates to students the methods of assessment that will be applied to them for this particular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525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explains each performance criteria for this element to students as listed 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765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to take students through glossary of terms in Trainee Manual.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Activity</a:t>
            </a:r>
            <a:r>
              <a:rPr lang="en-US" baseline="0" dirty="0" smtClean="0"/>
              <a:t> – Students to highlight any terms that they are familiar with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60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to discuss food presentation and quality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Impact of good/bad presentation on the customer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Basics of food presentation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399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to discuss/define the differences between a ‘garnish’ and an ‘accompaniment’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Trainer may give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16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outlines the various considerations for selecting garnishes and accompaniments for a variety of menu items.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Outlines and defines a ‘standard recipe’, its implications and uses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Discusses compatibility of foods, flavours, colours and textures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717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discusses how some garnishes may not need to be described</a:t>
            </a:r>
            <a:r>
              <a:rPr lang="en-US" baseline="0" dirty="0" smtClean="0"/>
              <a:t> on the menu. Expectation of certain standard garnish or accompanying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287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provides these examples.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Trainer seeks</a:t>
            </a:r>
            <a:r>
              <a:rPr lang="en-US" baseline="0" dirty="0" smtClean="0"/>
              <a:t> feedback from students on other (workplace) examples of garnishes described on menus.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8774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provides these examples.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Trainer seeks</a:t>
            </a:r>
            <a:r>
              <a:rPr lang="en-US" baseline="0" dirty="0" smtClean="0"/>
              <a:t> feedback from students on other (workplace) examples of accompaniments described on menus.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669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outlines and explains each</a:t>
            </a:r>
            <a:r>
              <a:rPr lang="en-US" baseline="0" dirty="0" smtClean="0"/>
              <a:t> point in the slide and describes the importance of each consideration.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Examples may include; rice as an accompaniment to most Asian cuisines, potatoes and pasta to European cuisines.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2674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may explain compatibility/incompatibility of flavours, traditional flavour partners to foods.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Explain that this list is not comprehensive but gives a good indicator of appropriate garnish herbs/spices.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May explain the difference between</a:t>
            </a:r>
            <a:r>
              <a:rPr lang="en-US" baseline="0" dirty="0" smtClean="0"/>
              <a:t> presenting inappropriate items with certain foods (i.e. rosemary with fish or Asian garnish herbs with traditional European cuisine)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1021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defines a ‘garnish’ and its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826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Trainer defines a ‘garnish’ and its uses. (cont)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926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outlines how garnishes are selected</a:t>
            </a:r>
            <a:r>
              <a:rPr lang="en-US" baseline="0" dirty="0" smtClean="0"/>
              <a:t> and consideration for selection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3655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Trainer outlines how garnishes are selected</a:t>
            </a:r>
            <a:r>
              <a:rPr lang="en-US" baseline="0" dirty="0" smtClean="0"/>
              <a:t> and consideration for selection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8349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Trainer outlines how garnishes are prepared to quality standards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7044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gives overview from table defining different garnish items and categories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5428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Trainer describes selection and use of a variety of equipment used to prepare and shape garnishes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9313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Trainer describes the use of each pictured item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580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defines an ‘accompaniment’ from the listed</a:t>
            </a:r>
            <a:r>
              <a:rPr lang="en-US" baseline="0" dirty="0" smtClean="0"/>
              <a:t> 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4614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Trainer defines an ‘accompaniment’ and uses from the listed</a:t>
            </a:r>
            <a:r>
              <a:rPr lang="en-US" baseline="0" dirty="0" smtClean="0"/>
              <a:t> points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1995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Trainer defines prepared accompaniments from the listed</a:t>
            </a:r>
            <a:r>
              <a:rPr lang="en-US" baseline="0" dirty="0" smtClean="0"/>
              <a:t> points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2709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Trainer defines prepared</a:t>
            </a:r>
            <a:r>
              <a:rPr lang="en-US" baseline="0" dirty="0" smtClean="0"/>
              <a:t> </a:t>
            </a:r>
            <a:r>
              <a:rPr lang="en-US" dirty="0" smtClean="0"/>
              <a:t>accompaniments from the listed</a:t>
            </a:r>
            <a:r>
              <a:rPr lang="en-US" baseline="0" dirty="0" smtClean="0"/>
              <a:t> points. May discuss cultural or specific cuisines for accompaniments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937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describes quality points in preparing fresh accompaniments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117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Trainer discusses different cuisines and traditional accompaniments</a:t>
            </a:r>
            <a:r>
              <a:rPr lang="en-US" baseline="0" dirty="0" smtClean="0"/>
              <a:t> using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531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Describe the term ‘service’ and how this relates to overall food presentation. Briefly describe types of menus and service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0853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Describe procedures to ensure that service is carried out to minimise mistakes or problems prior to and during service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3164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 the importance of calculating food quantities required for food service. Elaborate on each point in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3403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Give an overview of the term ‘station’.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Describe the different stations in a kitchen and how they interact.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908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Outline the various considerations for setting up for service using points in slide.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Describes why these points are critical to smooth workflow and minimising errors during service periods.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6323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Define</a:t>
            </a:r>
            <a:r>
              <a:rPr lang="en-US" baseline="0" dirty="0" smtClean="0"/>
              <a:t> the term ‘station’ as it relates to the buffet style of service.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May draw up an outline of a buffet set up showing patron flow and describing its importance.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5624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Give an outline of equipment used</a:t>
            </a:r>
            <a:r>
              <a:rPr lang="en-US" baseline="0" dirty="0" smtClean="0"/>
              <a:t> for the holding and storage of food items during service. 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Define which item would suit each service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6323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From points in slide, define the term ‘back up’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Describe the</a:t>
            </a:r>
            <a:r>
              <a:rPr lang="en-US" baseline="0" dirty="0" smtClean="0"/>
              <a:t> importance in relation to customer service and quality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2341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Read through the points in slide.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Seek feedback/examples from students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0782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Outline to students</a:t>
            </a:r>
            <a:r>
              <a:rPr lang="en-US" baseline="0" dirty="0" smtClean="0"/>
              <a:t> the second element and its performance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4059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Define the terms ‘portion’ and ‘portion control’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Describe the importance of consistency using the points</a:t>
            </a:r>
            <a:r>
              <a:rPr lang="en-US" baseline="0" dirty="0" smtClean="0"/>
              <a:t> in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4053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Describe the impact of portion controlling</a:t>
            </a:r>
            <a:r>
              <a:rPr lang="en-US" baseline="0" dirty="0" smtClean="0"/>
              <a:t> on: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a) customers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b) costs to business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0499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Overview of service equipment and serving platforms/vessels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3949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Describe each piece of equipment and its uses in food service periods.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What types of food would these items be used for when serving?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Seek feedback from students on equipment used in their workplace.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4458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Define the term ‘service platform’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Describe quality points to selecting service platforms using points in slide. Elaborate on these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0225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Describe each item and its particular</a:t>
            </a:r>
            <a:r>
              <a:rPr lang="en-US" baseline="0" dirty="0" smtClean="0"/>
              <a:t> uses.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The type/style of service that each of these items would be used for.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Reiterate quality standards for selection of equipment.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9909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Define each service style</a:t>
            </a:r>
            <a:r>
              <a:rPr lang="en-US" baseline="0" dirty="0" smtClean="0"/>
              <a:t> in the slide points.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Elaborate on each style of service and provide reasons for different service styles (e.g. Banqueting opposed to </a:t>
            </a:r>
            <a:r>
              <a:rPr lang="en-US" i="1" baseline="0" dirty="0" smtClean="0"/>
              <a:t>A la carte </a:t>
            </a:r>
            <a:r>
              <a:rPr lang="en-US" baseline="0" dirty="0" smtClean="0"/>
              <a:t>for large groups dining at same time, the issues that would be faced with using an </a:t>
            </a:r>
            <a:r>
              <a:rPr lang="en-US" i="1" baseline="0" dirty="0" smtClean="0"/>
              <a:t>a la carte </a:t>
            </a:r>
            <a:r>
              <a:rPr lang="en-US" baseline="0" dirty="0" smtClean="0"/>
              <a:t>service style)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65328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Define the importance of ‘neatness’ and ‘attractiveness’, particularly from the customers perspective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Give examples of poor plating and presentation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Describe the impact of untidy or unattractive food presentation on diners and the business reputation.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3017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Define each point in slide.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Give examples of each point and define the importance of all elements being utilised for food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67908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Utilise the picture and seek feedback on all elements being met for presentation of this dish.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58485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Define the points in slide.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Outline the critical aspects of plating food in relation to quality of presentation.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Point out the impact of poorly plated</a:t>
            </a:r>
            <a:r>
              <a:rPr lang="en-US" baseline="0" dirty="0" smtClean="0"/>
              <a:t> or poorly </a:t>
            </a:r>
            <a:r>
              <a:rPr lang="en-US" dirty="0" smtClean="0"/>
              <a:t>presented food on the customer’s opinion of the business standard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Point out the customers expectation</a:t>
            </a:r>
            <a:r>
              <a:rPr lang="en-US" baseline="0" dirty="0" smtClean="0"/>
              <a:t> when paying for an expected high quality meal.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5710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AU" dirty="0" smtClean="0"/>
              <a:t>Introduce the performance</a:t>
            </a:r>
            <a:r>
              <a:rPr lang="en-AU" baseline="0" dirty="0" smtClean="0"/>
              <a:t> criteria to the trainees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42875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AU" dirty="0" smtClean="0"/>
              <a:t>Ask</a:t>
            </a:r>
            <a:r>
              <a:rPr lang="en-AU" baseline="0" dirty="0" smtClean="0"/>
              <a:t> trainees to suggest what methods might be used to avoid some of these problems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96838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Give an</a:t>
            </a:r>
            <a:r>
              <a:rPr lang="en-US" baseline="0" dirty="0" smtClean="0"/>
              <a:t> outline of why correct food storage practices are important in relation to quality and hygiene.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Read through and elaborate on each point in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95545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Briefly describe the 3 main food</a:t>
            </a:r>
            <a:r>
              <a:rPr lang="en-US" baseline="0" dirty="0" smtClean="0"/>
              <a:t> </a:t>
            </a:r>
            <a:r>
              <a:rPr lang="en-US" dirty="0" smtClean="0"/>
              <a:t>storage</a:t>
            </a:r>
            <a:r>
              <a:rPr lang="en-US" baseline="0" dirty="0" smtClean="0"/>
              <a:t> areas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Define foods that may be stored in each area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Give reference to HACCP based food safety programs where storage conditions are outlined.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10649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Give an overview of storage containers used in food businesses.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Read through and elaborate on each point in</a:t>
            </a:r>
            <a:r>
              <a:rPr lang="en-US" baseline="0" dirty="0" smtClean="0"/>
              <a:t> slide.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Describe how correct selection impacts on food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74079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Read through and elaborate on each point in</a:t>
            </a:r>
            <a:r>
              <a:rPr lang="en-US" baseline="0" dirty="0" smtClean="0"/>
              <a:t>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baseline="0" dirty="0" smtClean="0"/>
              <a:t>Outline the term ‘food grade’ and discuss items that may not be suitable for food storage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8354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Outline the requirements for labeling of foods in storage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Read through and elaborate on each point in slide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Give some examples/repercussions</a:t>
            </a:r>
            <a:r>
              <a:rPr lang="en-US" baseline="0" dirty="0" smtClean="0"/>
              <a:t> </a:t>
            </a:r>
            <a:r>
              <a:rPr lang="en-US" dirty="0" smtClean="0"/>
              <a:t>of having unlabeled food in storage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10527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Read through each point in slide.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Give examples of types of labels available for food 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513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 smtClean="0"/>
              <a:t>Click to edit Master subtitle style</a:t>
            </a:r>
            <a:endParaRPr kumimoji="0" lang="en-US" dirty="0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675B-16CB-449C-AA64-20E2E057E166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F223-D3A2-44F5-8051-829B2F23C0D4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3FE7D-417D-483E-A327-7AED21196679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8DDC-366E-4D96-B475-59755FBFA064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5C968-0B16-4ADF-91B3-C8ECABCFDA29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1DEA-061C-49D7-974B-38721BC66A5F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EFC2B-FC2E-46FA-B53A-48A270754B05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3B9F-1886-41EB-8596-DFD2474565B7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A6D77F6-049E-4E03-BBEC-9C9525B9448E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ABC8-BFBF-4030-9C7D-70F812C9AAE4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46A6-0262-42FF-B093-039AED07B7AD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0B9F9CF-7D2C-460C-8F3E-F6213A54EF65}" type="datetime1">
              <a:rPr lang="en-US" smtClean="0"/>
              <a:pPr/>
              <a:t>4/6/2015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image" Target="../media/image45.jpeg"/><Relationship Id="rId7" Type="http://schemas.openxmlformats.org/officeDocument/2006/relationships/image" Target="../media/image49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eg"/><Relationship Id="rId11" Type="http://schemas.openxmlformats.org/officeDocument/2006/relationships/image" Target="../media/image53.jpeg"/><Relationship Id="rId5" Type="http://schemas.openxmlformats.org/officeDocument/2006/relationships/image" Target="../media/image47.jpeg"/><Relationship Id="rId10" Type="http://schemas.openxmlformats.org/officeDocument/2006/relationships/image" Target="../media/image52.jpeg"/><Relationship Id="rId4" Type="http://schemas.openxmlformats.org/officeDocument/2006/relationships/image" Target="../media/image46.jpeg"/><Relationship Id="rId9" Type="http://schemas.openxmlformats.org/officeDocument/2006/relationships/image" Target="../media/image5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jpeg"/><Relationship Id="rId3" Type="http://schemas.openxmlformats.org/officeDocument/2006/relationships/image" Target="../media/image55.jpeg"/><Relationship Id="rId7" Type="http://schemas.openxmlformats.org/officeDocument/2006/relationships/image" Target="../media/image59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jpeg"/><Relationship Id="rId5" Type="http://schemas.openxmlformats.org/officeDocument/2006/relationships/image" Target="../media/image57.jpeg"/><Relationship Id="rId10" Type="http://schemas.openxmlformats.org/officeDocument/2006/relationships/image" Target="../media/image62.jpeg"/><Relationship Id="rId4" Type="http://schemas.openxmlformats.org/officeDocument/2006/relationships/image" Target="../media/image56.jpeg"/><Relationship Id="rId9" Type="http://schemas.openxmlformats.org/officeDocument/2006/relationships/image" Target="../media/image61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7704" y="846972"/>
            <a:ext cx="6480048" cy="1285884"/>
          </a:xfrm>
        </p:spPr>
        <p:txBody>
          <a:bodyPr>
            <a:normAutofit fontScale="90000"/>
          </a:bodyPr>
          <a:lstStyle/>
          <a:p>
            <a:r>
              <a:rPr lang="en-AU" sz="4000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PRESENT AND DISPLAY FOOD PRODUCTS</a:t>
            </a:r>
            <a:endParaRPr lang="en-US" sz="4000" dirty="0">
              <a:ln w="5000" cmpd="sng">
                <a:noFill/>
                <a:prstDash val="solid"/>
              </a:ln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80112" y="2276872"/>
            <a:ext cx="2757292" cy="571504"/>
          </a:xfrm>
        </p:spPr>
        <p:txBody>
          <a:bodyPr>
            <a:normAutofit/>
          </a:bodyPr>
          <a:lstStyle/>
          <a:p>
            <a:r>
              <a:rPr lang="en-AU" sz="2400" b="1" dirty="0" smtClean="0">
                <a:latin typeface="Helvetica" pitchFamily="34" charset="0"/>
              </a:rPr>
              <a:t>D1.HCC.CL2.19</a:t>
            </a:r>
            <a:endParaRPr lang="en-US" sz="2400" b="1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8" name="Picture 7" descr="Fornt Cover - Food Productio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87624" y="2204864"/>
            <a:ext cx="4635120" cy="381171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Present and display food products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96752"/>
            <a:ext cx="7560840" cy="488600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This unit comprises 3 elements: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</a:t>
            </a:fld>
            <a:endParaRPr lang="en-US" dirty="0">
              <a:latin typeface="Helvetica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32488" y="1916832"/>
            <a:ext cx="6963848" cy="2471738"/>
            <a:chOff x="1752600" y="2057400"/>
            <a:chExt cx="6963848" cy="2471738"/>
          </a:xfrm>
        </p:grpSpPr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1752600" y="2057400"/>
              <a:ext cx="762000" cy="665163"/>
              <a:chOff x="1110" y="2656"/>
              <a:chExt cx="1549" cy="1351"/>
            </a:xfrm>
          </p:grpSpPr>
          <p:sp>
            <p:nvSpPr>
              <p:cNvPr id="31" name="AutoShape 5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2" name="AutoShape 6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3" name="AutoShape 7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</p:grp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2362200" y="2667000"/>
              <a:ext cx="5256000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prstDash val="sysDot"/>
              <a:round/>
              <a:headEnd/>
              <a:tailEnd type="oval" w="med" len="med"/>
            </a:ln>
          </p:spPr>
          <p:txBody>
            <a:bodyPr wrap="none" anchor="ctr"/>
            <a:lstStyle/>
            <a:p>
              <a:endParaRPr lang="en-AU" dirty="0"/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2544688" y="2133600"/>
              <a:ext cx="5760640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200" dirty="0" smtClean="0">
                  <a:latin typeface="Helvetica" pitchFamily="34" charset="0"/>
                </a:rPr>
                <a:t>Prepare garnishes and accompaniments</a:t>
              </a:r>
              <a:endParaRPr lang="en-AU" sz="2200" dirty="0">
                <a:solidFill>
                  <a:schemeClr val="bg1"/>
                </a:solidFill>
              </a:endParaRPr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gray">
            <a:xfrm>
              <a:off x="1949450" y="2155825"/>
              <a:ext cx="354013" cy="457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AU" sz="2400" b="1" dirty="0">
                  <a:solidFill>
                    <a:schemeClr val="bg1"/>
                  </a:solidFill>
                </a:rPr>
                <a:t>1</a:t>
              </a:r>
            </a:p>
          </p:txBody>
        </p:sp>
        <p:grpSp>
          <p:nvGrpSpPr>
            <p:cNvPr id="10" name="Group 12"/>
            <p:cNvGrpSpPr>
              <a:grpSpLocks/>
            </p:cNvGrpSpPr>
            <p:nvPr/>
          </p:nvGrpSpPr>
          <p:grpSpPr bwMode="auto">
            <a:xfrm>
              <a:off x="1752600" y="2971800"/>
              <a:ext cx="762000" cy="665163"/>
              <a:chOff x="3174" y="2656"/>
              <a:chExt cx="1549" cy="1351"/>
            </a:xfrm>
          </p:grpSpPr>
          <p:sp>
            <p:nvSpPr>
              <p:cNvPr id="28" name="AutoShape 13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9" name="AutoShape 14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0" name="AutoShape 15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</p:grpSp>
        <p:sp>
          <p:nvSpPr>
            <p:cNvPr id="11" name="Line 16"/>
            <p:cNvSpPr>
              <a:spLocks noChangeShapeType="1"/>
            </p:cNvSpPr>
            <p:nvPr/>
          </p:nvSpPr>
          <p:spPr bwMode="auto">
            <a:xfrm>
              <a:off x="2362200" y="3581400"/>
              <a:ext cx="3168000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prstDash val="sysDot"/>
              <a:round/>
              <a:headEnd/>
              <a:tailEnd type="oval" w="med" len="med"/>
            </a:ln>
          </p:spPr>
          <p:txBody>
            <a:bodyPr wrap="none" anchor="ctr"/>
            <a:lstStyle/>
            <a:p>
              <a:endParaRPr lang="en-AU" dirty="0"/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2544688" y="3048000"/>
              <a:ext cx="4236038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200" dirty="0" smtClean="0">
                  <a:latin typeface="Helvetica" pitchFamily="34" charset="0"/>
                </a:rPr>
                <a:t>Plate and present foods</a:t>
              </a:r>
              <a:endParaRPr lang="en-AU" sz="2200" dirty="0">
                <a:solidFill>
                  <a:schemeClr val="bg1"/>
                </a:solidFill>
              </a:endParaRPr>
            </a:p>
          </p:txBody>
        </p:sp>
        <p:sp>
          <p:nvSpPr>
            <p:cNvPr id="13" name="Text Box 18"/>
            <p:cNvSpPr txBox="1">
              <a:spLocks noChangeArrowheads="1"/>
            </p:cNvSpPr>
            <p:nvPr/>
          </p:nvSpPr>
          <p:spPr bwMode="gray">
            <a:xfrm>
              <a:off x="1949450" y="3070225"/>
              <a:ext cx="354013" cy="457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AU" sz="2400" b="1" dirty="0">
                  <a:solidFill>
                    <a:schemeClr val="bg1"/>
                  </a:solidFill>
                </a:rPr>
                <a:t>2</a:t>
              </a:r>
            </a:p>
          </p:txBody>
        </p:sp>
        <p:grpSp>
          <p:nvGrpSpPr>
            <p:cNvPr id="14" name="Group 20"/>
            <p:cNvGrpSpPr>
              <a:grpSpLocks/>
            </p:cNvGrpSpPr>
            <p:nvPr/>
          </p:nvGrpSpPr>
          <p:grpSpPr bwMode="auto">
            <a:xfrm>
              <a:off x="1752600" y="3863975"/>
              <a:ext cx="762000" cy="665163"/>
              <a:chOff x="1110" y="2656"/>
              <a:chExt cx="1549" cy="1351"/>
            </a:xfrm>
          </p:grpSpPr>
          <p:sp>
            <p:nvSpPr>
              <p:cNvPr id="25" name="AutoShape 21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6" name="AutoShape 22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7" name="AutoShape 23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</p:grpSp>
        <p:sp>
          <p:nvSpPr>
            <p:cNvPr id="15" name="Line 24"/>
            <p:cNvSpPr>
              <a:spLocks noChangeShapeType="1"/>
            </p:cNvSpPr>
            <p:nvPr/>
          </p:nvSpPr>
          <p:spPr bwMode="auto">
            <a:xfrm>
              <a:off x="2362200" y="4473575"/>
              <a:ext cx="4932000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prstDash val="sysDot"/>
              <a:round/>
              <a:headEnd/>
              <a:tailEnd type="oval" w="med" len="med"/>
            </a:ln>
          </p:spPr>
          <p:txBody>
            <a:bodyPr wrap="none" anchor="ctr"/>
            <a:lstStyle/>
            <a:p>
              <a:endParaRPr lang="en-AU" dirty="0"/>
            </a:p>
          </p:txBody>
        </p:sp>
        <p:sp>
          <p:nvSpPr>
            <p:cNvPr id="16" name="Text Box 25"/>
            <p:cNvSpPr txBox="1">
              <a:spLocks noChangeArrowheads="1"/>
            </p:cNvSpPr>
            <p:nvPr/>
          </p:nvSpPr>
          <p:spPr bwMode="auto">
            <a:xfrm>
              <a:off x="2544688" y="3940175"/>
              <a:ext cx="6171760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200" dirty="0" smtClean="0">
                  <a:latin typeface="Helvetica" pitchFamily="34" charset="0"/>
                </a:rPr>
                <a:t>Store garnishes and accompaniments</a:t>
              </a:r>
              <a:endParaRPr lang="en-AU" sz="220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 Box 26"/>
            <p:cNvSpPr txBox="1">
              <a:spLocks noChangeArrowheads="1"/>
            </p:cNvSpPr>
            <p:nvPr/>
          </p:nvSpPr>
          <p:spPr bwMode="gray">
            <a:xfrm>
              <a:off x="1949450" y="3962400"/>
              <a:ext cx="354013" cy="457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AU" sz="24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Assessments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96752"/>
            <a:ext cx="7467600" cy="488600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Assessments for this unit may include: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Oral questions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Written questions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Work projects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Workplace observation of practical skills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Practical exercises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Formal report from employer or supervisor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MC900440428.W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32240" y="3429000"/>
            <a:ext cx="1531577" cy="161277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136904" cy="648072"/>
          </a:xfrm>
        </p:spPr>
        <p:txBody>
          <a:bodyPr>
            <a:normAutofit/>
          </a:bodyPr>
          <a:lstStyle/>
          <a:p>
            <a:pPr marL="542925" indent="-542925"/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1.	Prepare garnishes &amp; accompaniments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96752"/>
            <a:ext cx="7467600" cy="488600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Performance criteria:</a:t>
            </a:r>
          </a:p>
          <a:p>
            <a:pPr marL="714375" indent="-714375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1.1	Identify menu items that require garnishes and/or accompaniments</a:t>
            </a:r>
          </a:p>
          <a:p>
            <a:pPr marL="714375" indent="-714375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1.2	Prepare various garnish and/or accompaniments</a:t>
            </a:r>
          </a:p>
          <a:p>
            <a:pPr marL="714375" indent="-714375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1.3	Set up for service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4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5085184"/>
            <a:ext cx="1142608" cy="8640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4509120"/>
            <a:ext cx="1208534" cy="1208534"/>
          </a:xfrm>
          <a:prstGeom prst="rect">
            <a:avLst/>
          </a:prstGeom>
        </p:spPr>
      </p:pic>
      <p:pic>
        <p:nvPicPr>
          <p:cNvPr id="7" name="Picture 6" descr="Chilli and mints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516216" y="3717032"/>
            <a:ext cx="1776120" cy="130722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Present and display food products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Terminology: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Read through the glossary of terms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Which terms are you familiar with?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Highlight these terms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5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MC900437990.W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60232" y="3501008"/>
            <a:ext cx="1589374" cy="151435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Food presentation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Why is food presentation important?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Considerations for business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C</a:t>
            </a:r>
            <a:r>
              <a:rPr lang="en-AU" sz="2200" dirty="0" smtClean="0">
                <a:latin typeface="Helvetica" pitchFamily="34" charset="0"/>
              </a:rPr>
              <a:t>ritical </a:t>
            </a:r>
            <a:r>
              <a:rPr lang="en-AU" sz="2200" dirty="0">
                <a:latin typeface="Helvetica" pitchFamily="34" charset="0"/>
              </a:rPr>
              <a:t>aspect of the customers dining experience </a:t>
            </a:r>
            <a:endParaRPr lang="en-AU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Correct </a:t>
            </a:r>
            <a:r>
              <a:rPr lang="en-AU" sz="2200" dirty="0">
                <a:latin typeface="Helvetica" pitchFamily="34" charset="0"/>
              </a:rPr>
              <a:t>presentation techniques allow the food to be displayed to its best potential</a:t>
            </a: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6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6" name="Picture 5" descr="Lamb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04248" y="4077072"/>
            <a:ext cx="1573136" cy="108012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Menu items that require garnishes or accompaniments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824536"/>
          </a:xfrm>
        </p:spPr>
        <p:txBody>
          <a:bodyPr>
            <a:normAutofit/>
          </a:bodyPr>
          <a:lstStyle/>
          <a:p>
            <a:pPr marL="36576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Garnish: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>
                <a:latin typeface="Helvetica" pitchFamily="34" charset="0"/>
              </a:rPr>
              <a:t>An edible </a:t>
            </a:r>
            <a:r>
              <a:rPr lang="en-AU" sz="2200" dirty="0">
                <a:latin typeface="Helvetica" pitchFamily="34" charset="0"/>
              </a:rPr>
              <a:t>food </a:t>
            </a:r>
            <a:r>
              <a:rPr lang="en-AU" sz="2200" dirty="0" smtClean="0">
                <a:latin typeface="Helvetica" pitchFamily="34" charset="0"/>
              </a:rPr>
              <a:t>item </a:t>
            </a:r>
            <a:r>
              <a:rPr lang="en-AU" sz="2200" dirty="0">
                <a:latin typeface="Helvetica" pitchFamily="34" charset="0"/>
              </a:rPr>
              <a:t>used to make the dish look more </a:t>
            </a:r>
            <a:r>
              <a:rPr lang="en-AU" sz="2200" dirty="0" smtClean="0">
                <a:latin typeface="Helvetica" pitchFamily="34" charset="0"/>
              </a:rPr>
              <a:t>attractive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>
                <a:latin typeface="Helvetica" pitchFamily="34" charset="0"/>
              </a:rPr>
              <a:t>Served </a:t>
            </a:r>
            <a:r>
              <a:rPr lang="en-AU" sz="2200" i="1" dirty="0" smtClean="0">
                <a:latin typeface="Helvetica" pitchFamily="34" charset="0"/>
              </a:rPr>
              <a:t>on</a:t>
            </a:r>
            <a:r>
              <a:rPr lang="en-AU" sz="2200" dirty="0" smtClean="0">
                <a:latin typeface="Helvetica" pitchFamily="34" charset="0"/>
              </a:rPr>
              <a:t> or </a:t>
            </a:r>
            <a:r>
              <a:rPr lang="en-AU" sz="2200" i="1" dirty="0" smtClean="0">
                <a:latin typeface="Helvetica" pitchFamily="34" charset="0"/>
              </a:rPr>
              <a:t>in </a:t>
            </a:r>
            <a:r>
              <a:rPr lang="en-AU" sz="2200" dirty="0" smtClean="0">
                <a:latin typeface="Helvetica" pitchFamily="34" charset="0"/>
              </a:rPr>
              <a:t>the actual dish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>
                <a:latin typeface="Helvetica" pitchFamily="34" charset="0"/>
              </a:rPr>
              <a:t>May be integral to the dish or simply used as a decoration</a:t>
            </a:r>
          </a:p>
          <a:p>
            <a:pPr marL="36576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Accompaniment: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>
                <a:latin typeface="Helvetica" pitchFamily="34" charset="0"/>
              </a:rPr>
              <a:t> A food item used to </a:t>
            </a:r>
            <a:r>
              <a:rPr lang="en-AU" sz="2200" dirty="0">
                <a:latin typeface="Helvetica" pitchFamily="34" charset="0"/>
              </a:rPr>
              <a:t>compliment the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flavour </a:t>
            </a:r>
            <a:r>
              <a:rPr lang="en-AU" sz="2200" dirty="0">
                <a:latin typeface="Helvetica" pitchFamily="34" charset="0"/>
              </a:rPr>
              <a:t>or to add texture to a menu </a:t>
            </a:r>
            <a:r>
              <a:rPr lang="en-AU" sz="2200" dirty="0" smtClean="0">
                <a:latin typeface="Helvetica" pitchFamily="34" charset="0"/>
              </a:rPr>
              <a:t>item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>
                <a:latin typeface="Helvetica" pitchFamily="34" charset="0"/>
              </a:rPr>
              <a:t>Served </a:t>
            </a:r>
            <a:r>
              <a:rPr lang="en-AU" sz="2200" i="1" dirty="0" smtClean="0">
                <a:latin typeface="Helvetica" pitchFamily="34" charset="0"/>
              </a:rPr>
              <a:t>aside</a:t>
            </a:r>
            <a:r>
              <a:rPr lang="en-AU" sz="2200" dirty="0" smtClean="0">
                <a:latin typeface="Helvetica" pitchFamily="34" charset="0"/>
              </a:rPr>
              <a:t> from the main component</a:t>
            </a: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7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Present food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16216" y="4005064"/>
            <a:ext cx="1895872" cy="126454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Menu items that require garnishes or accompaniments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28800"/>
            <a:ext cx="7467600" cy="4453955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Study </a:t>
            </a:r>
            <a:r>
              <a:rPr lang="en-AU" sz="2200" dirty="0">
                <a:latin typeface="Helvetica" pitchFamily="34" charset="0"/>
              </a:rPr>
              <a:t>the menu and recipe </a:t>
            </a:r>
            <a:r>
              <a:rPr lang="en-AU" sz="2200" dirty="0" smtClean="0">
                <a:latin typeface="Helvetica" pitchFamily="34" charset="0"/>
              </a:rPr>
              <a:t>requirements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A </a:t>
            </a:r>
            <a:r>
              <a:rPr lang="en-AU" sz="2200" dirty="0">
                <a:latin typeface="Helvetica" pitchFamily="34" charset="0"/>
              </a:rPr>
              <a:t>menu </a:t>
            </a:r>
            <a:r>
              <a:rPr lang="en-AU" sz="2200" dirty="0" smtClean="0">
                <a:latin typeface="Helvetica" pitchFamily="34" charset="0"/>
              </a:rPr>
              <a:t>or </a:t>
            </a:r>
            <a:r>
              <a:rPr lang="en-AU" sz="2200" b="1" i="1" dirty="0" smtClean="0">
                <a:latin typeface="Helvetica" pitchFamily="34" charset="0"/>
              </a:rPr>
              <a:t>standard recipe </a:t>
            </a:r>
            <a:r>
              <a:rPr lang="en-AU" sz="2200" dirty="0" smtClean="0">
                <a:latin typeface="Helvetica" pitchFamily="34" charset="0"/>
              </a:rPr>
              <a:t>will </a:t>
            </a:r>
            <a:r>
              <a:rPr lang="en-AU" sz="2200" dirty="0">
                <a:latin typeface="Helvetica" pitchFamily="34" charset="0"/>
              </a:rPr>
              <a:t>often describe the type of garnish required for each </a:t>
            </a:r>
            <a:r>
              <a:rPr lang="en-AU" sz="2200" dirty="0" smtClean="0">
                <a:latin typeface="Helvetica" pitchFamily="34" charset="0"/>
              </a:rPr>
              <a:t>item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Consider </a:t>
            </a:r>
            <a:r>
              <a:rPr lang="en-AU" sz="2200" dirty="0">
                <a:latin typeface="Helvetica" pitchFamily="34" charset="0"/>
              </a:rPr>
              <a:t>the compatibility </a:t>
            </a:r>
            <a:r>
              <a:rPr lang="en-AU" sz="2200" dirty="0" smtClean="0">
                <a:latin typeface="Helvetica" pitchFamily="34" charset="0"/>
              </a:rPr>
              <a:t>of garnishes or accompaniments with </a:t>
            </a:r>
            <a:r>
              <a:rPr lang="en-AU" sz="2200" dirty="0">
                <a:latin typeface="Helvetica" pitchFamily="34" charset="0"/>
              </a:rPr>
              <a:t>the main component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of </a:t>
            </a:r>
            <a:r>
              <a:rPr lang="en-AU" sz="2200" dirty="0">
                <a:latin typeface="Helvetica" pitchFamily="34" charset="0"/>
              </a:rPr>
              <a:t>the </a:t>
            </a:r>
            <a:r>
              <a:rPr lang="en-AU" sz="2200" dirty="0" smtClean="0">
                <a:latin typeface="Helvetica" pitchFamily="34" charset="0"/>
              </a:rPr>
              <a:t>dish</a:t>
            </a:r>
            <a:endParaRPr lang="en-AU" sz="2200" dirty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Discuss presentation requirements with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your Chef</a:t>
            </a: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8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1105301_3310865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92280" y="3429000"/>
            <a:ext cx="1318577" cy="183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72798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Menu items that require garnishes or accompaniments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Some garnishes or accompaniments may not be described </a:t>
            </a:r>
            <a:r>
              <a:rPr lang="en-AU" sz="2200" dirty="0">
                <a:latin typeface="Helvetica" pitchFamily="34" charset="0"/>
              </a:rPr>
              <a:t>on the menu or in the </a:t>
            </a:r>
            <a:r>
              <a:rPr lang="en-AU" sz="2200" dirty="0" smtClean="0">
                <a:latin typeface="Helvetica" pitchFamily="34" charset="0"/>
              </a:rPr>
              <a:t>recipe 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These may be placed </a:t>
            </a:r>
            <a:r>
              <a:rPr lang="en-AU" sz="2200" dirty="0">
                <a:latin typeface="Helvetica" pitchFamily="34" charset="0"/>
              </a:rPr>
              <a:t>(at the </a:t>
            </a:r>
            <a:r>
              <a:rPr lang="en-AU" sz="2200" dirty="0" smtClean="0">
                <a:latin typeface="Helvetica" pitchFamily="34" charset="0"/>
              </a:rPr>
              <a:t>Chef’s </a:t>
            </a:r>
            <a:r>
              <a:rPr lang="en-AU" sz="2200" dirty="0">
                <a:latin typeface="Helvetica" pitchFamily="34" charset="0"/>
              </a:rPr>
              <a:t>discretion) as a decoration to enhance the presentation of the </a:t>
            </a:r>
            <a:r>
              <a:rPr lang="en-AU" sz="2200" dirty="0" smtClean="0">
                <a:latin typeface="Helvetica" pitchFamily="34" charset="0"/>
              </a:rPr>
              <a:t>dish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This may include items such as picked herbs, lemon wedges, or fruit garnishes for desserts</a:t>
            </a: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9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1105301_3310865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60232" y="4005064"/>
            <a:ext cx="1775245" cy="118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1795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Menu items that require garnishes or accompaniments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Examples </a:t>
            </a:r>
            <a:r>
              <a:rPr lang="en-AU" sz="2200" dirty="0">
                <a:latin typeface="Helvetica" pitchFamily="34" charset="0"/>
              </a:rPr>
              <a:t>of garnish descriptions on the menu include</a:t>
            </a:r>
            <a:r>
              <a:rPr lang="en-AU" sz="2200" dirty="0" smtClean="0">
                <a:latin typeface="Helvetica" pitchFamily="34" charset="0"/>
              </a:rPr>
              <a:t>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Onion soup </a:t>
            </a:r>
            <a:r>
              <a:rPr lang="en-AU" sz="2200" dirty="0">
                <a:latin typeface="Helvetica" pitchFamily="34" charset="0"/>
              </a:rPr>
              <a:t>served with </a:t>
            </a:r>
            <a:r>
              <a:rPr lang="en-AU" sz="2200" i="1" dirty="0" smtClean="0">
                <a:solidFill>
                  <a:srgbClr val="FF6600"/>
                </a:solidFill>
                <a:latin typeface="Helvetica" pitchFamily="34" charset="0"/>
              </a:rPr>
              <a:t>cheese crouton</a:t>
            </a:r>
            <a:r>
              <a:rPr lang="en-AU" sz="2200" dirty="0" smtClean="0">
                <a:solidFill>
                  <a:srgbClr val="FF6600"/>
                </a:solidFill>
                <a:latin typeface="Helvetica" pitchFamily="34" charset="0"/>
              </a:rPr>
              <a:t> </a:t>
            </a:r>
            <a:r>
              <a:rPr lang="en-AU" sz="2200" i="1" dirty="0">
                <a:solidFill>
                  <a:srgbClr val="FF6600"/>
                </a:solidFill>
                <a:latin typeface="Helvetica" pitchFamily="34" charset="0"/>
              </a:rPr>
              <a:t>(garnish)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Steamed fish garnished with </a:t>
            </a:r>
            <a:r>
              <a:rPr lang="en-AU" sz="2200" i="1" dirty="0">
                <a:solidFill>
                  <a:srgbClr val="FF6600"/>
                </a:solidFill>
                <a:latin typeface="Helvetica" pitchFamily="34" charset="0"/>
              </a:rPr>
              <a:t>julienne of root vegetables (garnish)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Mushroom risotto topped with </a:t>
            </a:r>
            <a:r>
              <a:rPr lang="en-AU" sz="2200" i="1" dirty="0">
                <a:solidFill>
                  <a:srgbClr val="FF6600"/>
                </a:solidFill>
                <a:latin typeface="Helvetica" pitchFamily="34" charset="0"/>
              </a:rPr>
              <a:t>shaved </a:t>
            </a:r>
            <a:r>
              <a:rPr lang="en-AU" sz="2200" i="1" dirty="0" smtClean="0">
                <a:solidFill>
                  <a:srgbClr val="FF6600"/>
                </a:solidFill>
                <a:latin typeface="Helvetica" pitchFamily="34" charset="0"/>
              </a:rPr>
              <a:t/>
            </a:r>
            <a:br>
              <a:rPr lang="en-AU" sz="2200" i="1" dirty="0" smtClean="0">
                <a:solidFill>
                  <a:srgbClr val="FF6600"/>
                </a:solidFill>
                <a:latin typeface="Helvetica" pitchFamily="34" charset="0"/>
              </a:rPr>
            </a:br>
            <a:r>
              <a:rPr lang="en-AU" sz="2200" i="1" dirty="0" smtClean="0">
                <a:solidFill>
                  <a:srgbClr val="FF6600"/>
                </a:solidFill>
                <a:latin typeface="Helvetica" pitchFamily="34" charset="0"/>
              </a:rPr>
              <a:t>Pecorino </a:t>
            </a:r>
            <a:r>
              <a:rPr lang="en-AU" sz="2200" i="1" dirty="0">
                <a:solidFill>
                  <a:srgbClr val="FF6600"/>
                </a:solidFill>
                <a:latin typeface="Helvetica" pitchFamily="34" charset="0"/>
              </a:rPr>
              <a:t>cheese (garnish)</a:t>
            </a:r>
            <a:r>
              <a:rPr lang="en-AU" sz="2200" dirty="0">
                <a:solidFill>
                  <a:srgbClr val="FF6600"/>
                </a:solidFill>
                <a:latin typeface="Helvetica" pitchFamily="34" charset="0"/>
              </a:rPr>
              <a:t> 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10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shutterstock_9770415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32240" y="4005064"/>
            <a:ext cx="1524000" cy="100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24302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Menu items that require garnishes or accompaniments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28800"/>
            <a:ext cx="7848872" cy="4453955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Examples </a:t>
            </a:r>
            <a:r>
              <a:rPr lang="en-AU" sz="2200" dirty="0">
                <a:latin typeface="Helvetica" pitchFamily="34" charset="0"/>
              </a:rPr>
              <a:t>of </a:t>
            </a:r>
            <a:r>
              <a:rPr lang="en-AU" sz="2200" dirty="0" smtClean="0">
                <a:latin typeface="Helvetica" pitchFamily="34" charset="0"/>
              </a:rPr>
              <a:t>accompaniment descriptions </a:t>
            </a:r>
            <a:r>
              <a:rPr lang="en-AU" sz="2200" dirty="0">
                <a:latin typeface="Helvetica" pitchFamily="34" charset="0"/>
              </a:rPr>
              <a:t>on the menu include</a:t>
            </a:r>
            <a:r>
              <a:rPr lang="en-AU" sz="2200" dirty="0" smtClean="0">
                <a:latin typeface="Helvetica" pitchFamily="34" charset="0"/>
              </a:rPr>
              <a:t>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Carrot soup </a:t>
            </a:r>
            <a:r>
              <a:rPr lang="en-AU" sz="2200" dirty="0">
                <a:latin typeface="Helvetica" pitchFamily="34" charset="0"/>
              </a:rPr>
              <a:t>served with </a:t>
            </a:r>
            <a:r>
              <a:rPr lang="en-AU" sz="2200" i="1" dirty="0" smtClean="0">
                <a:solidFill>
                  <a:srgbClr val="FF6600"/>
                </a:solidFill>
                <a:latin typeface="Helvetica" pitchFamily="34" charset="0"/>
              </a:rPr>
              <a:t>sippets (accompaniment)</a:t>
            </a:r>
            <a:endParaRPr lang="en-AU" sz="2200" i="1" dirty="0">
              <a:solidFill>
                <a:srgbClr val="FF6600"/>
              </a:solidFill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Curries with mixed </a:t>
            </a:r>
            <a:r>
              <a:rPr lang="en-AU" sz="2200" i="1" dirty="0" smtClean="0">
                <a:solidFill>
                  <a:srgbClr val="FF6600"/>
                </a:solidFill>
                <a:latin typeface="Helvetica" pitchFamily="34" charset="0"/>
              </a:rPr>
              <a:t>sambal</a:t>
            </a:r>
            <a:r>
              <a:rPr lang="en-AU" sz="2200" i="1" dirty="0" smtClean="0">
                <a:latin typeface="Helvetica" pitchFamily="34" charset="0"/>
              </a:rPr>
              <a:t> </a:t>
            </a:r>
            <a:r>
              <a:rPr lang="en-AU" sz="2200" i="1" dirty="0">
                <a:solidFill>
                  <a:srgbClr val="FF6600"/>
                </a:solidFill>
                <a:latin typeface="Helvetica" pitchFamily="34" charset="0"/>
              </a:rPr>
              <a:t>(accompaniment)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Roast beef with </a:t>
            </a:r>
            <a:r>
              <a:rPr lang="en-AU" sz="2200" i="1" dirty="0" smtClean="0">
                <a:solidFill>
                  <a:srgbClr val="FF6600"/>
                </a:solidFill>
                <a:latin typeface="Helvetica" pitchFamily="34" charset="0"/>
              </a:rPr>
              <a:t>horseradish relish (accompaniment</a:t>
            </a:r>
            <a:r>
              <a:rPr lang="en-AU" sz="2200" i="1" dirty="0">
                <a:solidFill>
                  <a:srgbClr val="FF6600"/>
                </a:solidFill>
                <a:latin typeface="Helvetica" pitchFamily="34" charset="0"/>
              </a:rPr>
              <a:t>)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11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freeimage-614807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15816" y="4509120"/>
            <a:ext cx="2051720" cy="136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0995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Menu items that require garnishes or accompaniments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848872" cy="4525963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Other considerations when selecting garnishes or accompaniments include: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i="1" dirty="0" smtClean="0">
                <a:latin typeface="Helvetica" pitchFamily="34" charset="0"/>
              </a:rPr>
              <a:t>Type of cuisine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i="1" dirty="0" smtClean="0">
                <a:latin typeface="Helvetica" pitchFamily="34" charset="0"/>
              </a:rPr>
              <a:t>Cultural theme and compatibility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i="1" dirty="0" smtClean="0">
                <a:latin typeface="Helvetica" pitchFamily="34" charset="0"/>
              </a:rPr>
              <a:t>Traditional/classical style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i="1" dirty="0" smtClean="0">
                <a:latin typeface="Helvetica" pitchFamily="34" charset="0"/>
              </a:rPr>
              <a:t>Style of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12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7" name="Picture 6" descr="Chilli and mint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32040" y="4437112"/>
            <a:ext cx="1668016" cy="1227660"/>
          </a:xfrm>
          <a:prstGeom prst="rect">
            <a:avLst/>
          </a:prstGeom>
        </p:spPr>
      </p:pic>
      <p:pic>
        <p:nvPicPr>
          <p:cNvPr id="8" name="Picture 7" descr="Lentils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04248" y="3429000"/>
            <a:ext cx="1524000" cy="1524000"/>
          </a:xfrm>
          <a:prstGeom prst="rect">
            <a:avLst/>
          </a:prstGeom>
        </p:spPr>
      </p:pic>
      <p:pic>
        <p:nvPicPr>
          <p:cNvPr id="9" name="Picture 8" descr="Gherkin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131840" y="4797152"/>
            <a:ext cx="1235968" cy="123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9276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Menu items that require garnishes or accompaniments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AU" sz="2400" dirty="0" smtClean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13</a:t>
            </a:fld>
            <a:endParaRPr lang="en-US" dirty="0">
              <a:latin typeface="Helvetica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145334"/>
              </p:ext>
            </p:extLst>
          </p:nvPr>
        </p:nvGraphicFramePr>
        <p:xfrm>
          <a:off x="611560" y="1700808"/>
          <a:ext cx="7344816" cy="3168352"/>
        </p:xfrm>
        <a:graphic>
          <a:graphicData uri="http://schemas.openxmlformats.org/drawingml/2006/table">
            <a:tbl>
              <a:tblPr firstRow="1" firstCol="1" bandRow="1">
                <a:tableStyleId>{46F890A9-2807-4EBB-B81D-B2AA78EC7F39}</a:tableStyleId>
              </a:tblPr>
              <a:tblGrid>
                <a:gridCol w="2323360"/>
                <a:gridCol w="5021456"/>
              </a:tblGrid>
              <a:tr h="396044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Menu item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Garnish herbs or spices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44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Fish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D</a:t>
                      </a:r>
                      <a:r>
                        <a:rPr lang="en-AU" sz="1600" dirty="0" smtClean="0">
                          <a:effectLst/>
                          <a:latin typeface="Helvetica" pitchFamily="34" charset="0"/>
                        </a:rPr>
                        <a:t>ill</a:t>
                      </a: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, parsley, chives, cilantro (coriander), spring onion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44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Beef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Parsley, chervil, thyme, oregano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44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Lamb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Rosemary, mint, parsley, chervil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44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Chicken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Tarragon, basil, fennel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44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Desserts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Mint leaves, berries, cinnamon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44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Soups and stews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Parsley, chervil, chives, cilantro, thyme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44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Cakes and pastries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Mint leaves, berries, cinnamon, nutmeg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72233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Preparing garnishes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96752"/>
            <a:ext cx="7467600" cy="4886003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Garnish: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Refers </a:t>
            </a:r>
            <a:r>
              <a:rPr lang="en-AU" sz="2200" dirty="0">
                <a:latin typeface="Helvetica" pitchFamily="34" charset="0"/>
              </a:rPr>
              <a:t>to a food item that is used to enhance the overall presentation of the menu </a:t>
            </a:r>
            <a:r>
              <a:rPr lang="en-AU" sz="2200" dirty="0" smtClean="0">
                <a:latin typeface="Helvetica" pitchFamily="34" charset="0"/>
              </a:rPr>
              <a:t>item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Adds </a:t>
            </a:r>
            <a:r>
              <a:rPr lang="en-AU" sz="2200" dirty="0">
                <a:latin typeface="Helvetica" pitchFamily="34" charset="0"/>
              </a:rPr>
              <a:t>colour and texture to the menu </a:t>
            </a:r>
            <a:r>
              <a:rPr lang="en-AU" sz="2200" dirty="0" smtClean="0">
                <a:latin typeface="Helvetica" pitchFamily="34" charset="0"/>
              </a:rPr>
              <a:t>item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Makes </a:t>
            </a:r>
            <a:r>
              <a:rPr lang="en-AU" sz="2200" dirty="0">
                <a:latin typeface="Helvetica" pitchFamily="34" charset="0"/>
              </a:rPr>
              <a:t>the dish more visually appealing to the </a:t>
            </a:r>
            <a:r>
              <a:rPr lang="en-AU" sz="2200" dirty="0" smtClean="0">
                <a:latin typeface="Helvetica" pitchFamily="34" charset="0"/>
              </a:rPr>
              <a:t>customer</a:t>
            </a: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14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variety of canapes 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74241" y="3861048"/>
            <a:ext cx="1907813" cy="131257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Preparing garnishes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Garnish: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May </a:t>
            </a:r>
            <a:r>
              <a:rPr lang="en-AU" sz="2200" dirty="0">
                <a:latin typeface="Helvetica" pitchFamily="34" charset="0"/>
              </a:rPr>
              <a:t>range from </a:t>
            </a:r>
            <a:r>
              <a:rPr lang="en-AU" sz="2200" dirty="0" smtClean="0">
                <a:latin typeface="Helvetica" pitchFamily="34" charset="0"/>
              </a:rPr>
              <a:t>simple food </a:t>
            </a:r>
            <a:r>
              <a:rPr lang="en-AU" sz="2200" dirty="0">
                <a:latin typeface="Helvetica" pitchFamily="34" charset="0"/>
              </a:rPr>
              <a:t>items to quite elaborate </a:t>
            </a:r>
            <a:r>
              <a:rPr lang="en-AU" sz="2200" dirty="0" smtClean="0">
                <a:latin typeface="Helvetica" pitchFamily="34" charset="0"/>
              </a:rPr>
              <a:t>artistic creations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May </a:t>
            </a:r>
            <a:r>
              <a:rPr lang="en-AU" sz="2200" dirty="0">
                <a:latin typeface="Helvetica" pitchFamily="34" charset="0"/>
              </a:rPr>
              <a:t>be required for presentation on a plate or for display on a buffet </a:t>
            </a:r>
            <a:r>
              <a:rPr lang="en-AU" sz="2200" dirty="0" smtClean="0">
                <a:latin typeface="Helvetica" pitchFamily="34" charset="0"/>
              </a:rPr>
              <a:t>service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Plate </a:t>
            </a:r>
            <a:r>
              <a:rPr lang="en-AU" sz="2200" dirty="0">
                <a:latin typeface="Helvetica" pitchFamily="34" charset="0"/>
              </a:rPr>
              <a:t>garnishes should be fresh, edible and must compliment the menu item being </a:t>
            </a:r>
            <a:r>
              <a:rPr lang="en-AU" sz="2200" dirty="0" smtClean="0">
                <a:latin typeface="Helvetica" pitchFamily="34" charset="0"/>
              </a:rPr>
              <a:t>prepared</a:t>
            </a: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15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Sandwiches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16216" y="4077072"/>
            <a:ext cx="1895872" cy="125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0568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Preparing garnishes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96752"/>
            <a:ext cx="7467600" cy="5256584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Considerations for </a:t>
            </a:r>
            <a:r>
              <a:rPr lang="en-AU" sz="2200" b="1" i="1" dirty="0" smtClean="0">
                <a:latin typeface="Helvetica" pitchFamily="34" charset="0"/>
              </a:rPr>
              <a:t>selection </a:t>
            </a:r>
            <a:r>
              <a:rPr lang="en-AU" sz="2200" b="1" dirty="0" smtClean="0">
                <a:latin typeface="Helvetica" pitchFamily="34" charset="0"/>
              </a:rPr>
              <a:t>of garnishes: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The </a:t>
            </a:r>
            <a:r>
              <a:rPr lang="en-AU" sz="2200" dirty="0">
                <a:latin typeface="Helvetica" pitchFamily="34" charset="0"/>
              </a:rPr>
              <a:t>menu item, style and cuisine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The cost and selling price of the menu item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Availability, cost and freshness of </a:t>
            </a:r>
            <a:r>
              <a:rPr lang="en-AU" sz="2200" dirty="0">
                <a:latin typeface="Helvetica" pitchFamily="34" charset="0"/>
              </a:rPr>
              <a:t>products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used </a:t>
            </a:r>
            <a:r>
              <a:rPr lang="en-AU" sz="2200" dirty="0">
                <a:latin typeface="Helvetica" pitchFamily="34" charset="0"/>
              </a:rPr>
              <a:t>for garnishes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Equipment </a:t>
            </a:r>
            <a:r>
              <a:rPr lang="en-AU" sz="2200" dirty="0">
                <a:latin typeface="Helvetica" pitchFamily="34" charset="0"/>
              </a:rPr>
              <a:t>required for preparing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garnish </a:t>
            </a:r>
            <a:r>
              <a:rPr lang="en-AU" sz="2200" dirty="0">
                <a:latin typeface="Helvetica" pitchFamily="34" charset="0"/>
              </a:rPr>
              <a:t>items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Standard recipe requirements</a:t>
            </a: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16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1154395_salad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76256" y="4149080"/>
            <a:ext cx="1512168" cy="100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34632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Preparing garnishes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5328592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Considerations for </a:t>
            </a:r>
            <a:r>
              <a:rPr lang="en-AU" sz="2200" b="1" i="1" dirty="0" smtClean="0">
                <a:latin typeface="Helvetica" pitchFamily="34" charset="0"/>
              </a:rPr>
              <a:t>preparation</a:t>
            </a:r>
            <a:r>
              <a:rPr lang="en-AU" sz="2200" b="1" dirty="0" smtClean="0">
                <a:latin typeface="Helvetica" pitchFamily="34" charset="0"/>
              </a:rPr>
              <a:t> of garnishes: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Select </a:t>
            </a:r>
            <a:r>
              <a:rPr lang="en-AU" sz="2200" dirty="0">
                <a:latin typeface="Helvetica" pitchFamily="34" charset="0"/>
              </a:rPr>
              <a:t>fresh looking herbs, leafy greens, fruits or </a:t>
            </a:r>
            <a:r>
              <a:rPr lang="en-AU" sz="2200" dirty="0" smtClean="0">
                <a:latin typeface="Helvetica" pitchFamily="34" charset="0"/>
              </a:rPr>
              <a:t>vegetables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Thoroughly </a:t>
            </a:r>
            <a:r>
              <a:rPr lang="en-AU" sz="2200" dirty="0">
                <a:latin typeface="Helvetica" pitchFamily="34" charset="0"/>
              </a:rPr>
              <a:t>wash any herbs, fruits or vegetables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that </a:t>
            </a:r>
            <a:r>
              <a:rPr lang="en-AU" sz="2200" dirty="0">
                <a:latin typeface="Helvetica" pitchFamily="34" charset="0"/>
              </a:rPr>
              <a:t>are to be </a:t>
            </a:r>
            <a:r>
              <a:rPr lang="en-AU" sz="2200" dirty="0" smtClean="0">
                <a:latin typeface="Helvetica" pitchFamily="34" charset="0"/>
              </a:rPr>
              <a:t>used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Remove </a:t>
            </a:r>
            <a:r>
              <a:rPr lang="en-AU" sz="2200" dirty="0">
                <a:latin typeface="Helvetica" pitchFamily="34" charset="0"/>
              </a:rPr>
              <a:t>any leaves that are dead, withered </a:t>
            </a:r>
            <a:endParaRPr lang="en-AU" sz="2200" dirty="0" smtClean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Beware </a:t>
            </a:r>
            <a:r>
              <a:rPr lang="en-AU" sz="2200" dirty="0">
                <a:latin typeface="Helvetica" pitchFamily="34" charset="0"/>
              </a:rPr>
              <a:t>of items that may have been chewed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by </a:t>
            </a:r>
            <a:r>
              <a:rPr lang="en-AU" sz="2200" dirty="0">
                <a:latin typeface="Helvetica" pitchFamily="34" charset="0"/>
              </a:rPr>
              <a:t>insects or show signs of insect </a:t>
            </a:r>
            <a:r>
              <a:rPr lang="en-AU" sz="2200" dirty="0" smtClean="0">
                <a:latin typeface="Helvetica" pitchFamily="34" charset="0"/>
              </a:rPr>
              <a:t>activity</a:t>
            </a: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17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1154395_salad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20272" y="3212976"/>
            <a:ext cx="1374072" cy="205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94277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Preparing garnishes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5328592"/>
          </a:xfrm>
        </p:spPr>
        <p:txBody>
          <a:bodyPr>
            <a:normAutofit/>
          </a:bodyPr>
          <a:lstStyle/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Pick </a:t>
            </a:r>
            <a:r>
              <a:rPr lang="en-AU" sz="2200" dirty="0">
                <a:latin typeface="Helvetica" pitchFamily="34" charset="0"/>
              </a:rPr>
              <a:t>herb sprigs of appropriate size so as not to overwhelm the main </a:t>
            </a:r>
            <a:r>
              <a:rPr lang="en-AU" sz="2200" dirty="0" smtClean="0">
                <a:latin typeface="Helvetica" pitchFamily="34" charset="0"/>
              </a:rPr>
              <a:t>ingredient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Peel </a:t>
            </a:r>
            <a:r>
              <a:rPr lang="en-AU" sz="2200" dirty="0">
                <a:latin typeface="Helvetica" pitchFamily="34" charset="0"/>
              </a:rPr>
              <a:t>and trim fruits and vegetables neatly and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remove </a:t>
            </a:r>
            <a:r>
              <a:rPr lang="en-AU" sz="2200" dirty="0">
                <a:latin typeface="Helvetica" pitchFamily="34" charset="0"/>
              </a:rPr>
              <a:t>any </a:t>
            </a:r>
            <a:r>
              <a:rPr lang="en-AU" sz="2200" dirty="0" smtClean="0">
                <a:latin typeface="Helvetica" pitchFamily="34" charset="0"/>
              </a:rPr>
              <a:t>pips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Cut </a:t>
            </a:r>
            <a:r>
              <a:rPr lang="en-AU" sz="2200" dirty="0">
                <a:latin typeface="Helvetica" pitchFamily="34" charset="0"/>
              </a:rPr>
              <a:t>fruits and vegetables evenly and uniform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in </a:t>
            </a:r>
            <a:r>
              <a:rPr lang="en-AU" sz="2200" dirty="0">
                <a:latin typeface="Helvetica" pitchFamily="34" charset="0"/>
              </a:rPr>
              <a:t>shape and </a:t>
            </a:r>
            <a:r>
              <a:rPr lang="en-AU" sz="2200" dirty="0" smtClean="0">
                <a:latin typeface="Helvetica" pitchFamily="34" charset="0"/>
              </a:rPr>
              <a:t>size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Ensure </a:t>
            </a:r>
            <a:r>
              <a:rPr lang="en-AU" sz="2200" dirty="0">
                <a:latin typeface="Helvetica" pitchFamily="34" charset="0"/>
              </a:rPr>
              <a:t>that the garnish is edible – some fruits,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berries</a:t>
            </a:r>
            <a:r>
              <a:rPr lang="en-AU" sz="2200" dirty="0">
                <a:latin typeface="Helvetica" pitchFamily="34" charset="0"/>
              </a:rPr>
              <a:t>, plants and leaves can be bitter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or </a:t>
            </a:r>
            <a:r>
              <a:rPr lang="en-AU" sz="2200" dirty="0">
                <a:latin typeface="Helvetica" pitchFamily="34" charset="0"/>
              </a:rPr>
              <a:t>poisonous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18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350227_4487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20272" y="3212976"/>
            <a:ext cx="1344181" cy="202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968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Preparing garnishes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825480"/>
              </p:ext>
            </p:extLst>
          </p:nvPr>
        </p:nvGraphicFramePr>
        <p:xfrm>
          <a:off x="611560" y="1052736"/>
          <a:ext cx="7704856" cy="5279148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2261976"/>
                <a:gridCol w="5442880"/>
              </a:tblGrid>
              <a:tr h="344102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100" dirty="0">
                          <a:effectLst/>
                          <a:latin typeface="Helvetica" pitchFamily="34" charset="0"/>
                        </a:rPr>
                        <a:t>Garnish </a:t>
                      </a:r>
                      <a:r>
                        <a:rPr lang="en-AU" sz="1100" dirty="0" smtClean="0">
                          <a:effectLst/>
                          <a:latin typeface="Helvetica" pitchFamily="34" charset="0"/>
                        </a:rPr>
                        <a:t>ingredient</a:t>
                      </a:r>
                      <a:endParaRPr lang="en-AU" sz="11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100" dirty="0">
                          <a:effectLst/>
                          <a:latin typeface="Helvetica" pitchFamily="34" charset="0"/>
                        </a:rPr>
                        <a:t>Examples</a:t>
                      </a:r>
                      <a:endParaRPr lang="en-AU" sz="11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Fresh herbs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 smtClean="0">
                          <a:effectLst/>
                          <a:latin typeface="Helvetica" pitchFamily="34" charset="0"/>
                        </a:rPr>
                        <a:t>Parsley</a:t>
                      </a: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, chives, chervil, cilantro, dill, basil, mint, 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Woody herbs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Fried sage, thyme, rosemary (these are bitter and require cooking)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Edible flowers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N</a:t>
                      </a:r>
                      <a:r>
                        <a:rPr lang="en-AU" sz="1000" dirty="0" smtClean="0">
                          <a:effectLst/>
                          <a:latin typeface="Helvetica" pitchFamily="34" charset="0"/>
                        </a:rPr>
                        <a:t>asturtium</a:t>
                      </a: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, dandelion, zucchini, caper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Edible leaves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Lettuce, spinach, endive, </a:t>
                      </a:r>
                      <a:r>
                        <a:rPr lang="en-AU" sz="1000" noProof="0" dirty="0">
                          <a:effectLst/>
                          <a:latin typeface="Helvetica" pitchFamily="34" charset="0"/>
                        </a:rPr>
                        <a:t>roquette</a:t>
                      </a: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, 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Shoots and sprouts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Pea shoots, bean shoots, lotus root, 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087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Vegetables - raw or cooked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Cuts including julienne, brunoise, paysanne, jardinière, </a:t>
                      </a:r>
                      <a:r>
                        <a:rPr lang="en-AU" sz="1000" dirty="0" smtClean="0">
                          <a:effectLst/>
                          <a:latin typeface="Helvetica" pitchFamily="34" charset="0"/>
                        </a:rPr>
                        <a:t>noisettes,</a:t>
                      </a:r>
                      <a:r>
                        <a:rPr lang="en-AU" sz="1000" baseline="0" dirty="0" smtClean="0">
                          <a:effectLst/>
                          <a:latin typeface="Helvetica" pitchFamily="34" charset="0"/>
                        </a:rPr>
                        <a:t> f</a:t>
                      </a:r>
                      <a:r>
                        <a:rPr lang="en-AU" sz="1000" dirty="0" smtClean="0">
                          <a:effectLst/>
                          <a:latin typeface="Helvetica" pitchFamily="34" charset="0"/>
                        </a:rPr>
                        <a:t>ried </a:t>
                      </a: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shallots, roasted garlic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Fruits 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Segmented citrus, diced, dried, candied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Pastry – short or puff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F</a:t>
                      </a:r>
                      <a:r>
                        <a:rPr lang="en-AU" sz="1000" dirty="0" smtClean="0">
                          <a:effectLst/>
                          <a:latin typeface="Helvetica" pitchFamily="34" charset="0"/>
                        </a:rPr>
                        <a:t>leurons</a:t>
                      </a: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, cases, toppings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Bread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Croutons, sippets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Eggs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Omelette, royale, whole poached or fried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284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Nuts – whole, toasted, crushed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Coconut, peanuts, walnuts, hazel nuts, almonds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Edible seeds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Poppy, sesame, pumpkin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Chocolate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Shaved, piped filigree, baskets, powder/cocoa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Sugar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Pulled, candy, toffee, praline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Biscuits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000" dirty="0">
                          <a:effectLst/>
                          <a:latin typeface="Helvetica" pitchFamily="34" charset="0"/>
                        </a:rPr>
                        <a:t>Tuille, shortbreads, macaroons </a:t>
                      </a:r>
                      <a:endParaRPr lang="en-AU" sz="10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19</a:t>
            </a:fld>
            <a:endParaRPr lang="en-US" dirty="0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91933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>
            <a:normAutofit/>
          </a:bodyPr>
          <a:lstStyle/>
          <a:p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Preparing </a:t>
            </a:r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garnishes</a:t>
            </a:r>
            <a:endParaRPr lang="en-AU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7467600" cy="5328592"/>
          </a:xfrm>
        </p:spPr>
        <p:txBody>
          <a:bodyPr>
            <a:no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Some specialist equipment for preparing and presenting garnishes or accompaniments include: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Shape/pastry cutters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Parisienne cutters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Zester/channel cutter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Peeler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Mandoline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Piping bags and nozzles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Paring and turning knives</a:t>
            </a:r>
          </a:p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>
              <a:latin typeface="Helvetica" pitchFamily="34" charset="0"/>
            </a:endParaRPr>
          </a:p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 smtClean="0">
              <a:latin typeface="Helvetica" pitchFamily="34" charset="0"/>
            </a:endParaRPr>
          </a:p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>
                <a:latin typeface="Helvetica" pitchFamily="34" charset="0"/>
              </a:rPr>
              <a:t> </a:t>
            </a:r>
            <a:r>
              <a:rPr lang="en-AU" sz="2200" dirty="0" smtClean="0">
                <a:latin typeface="Helvetica" pitchFamily="34" charset="0"/>
              </a:rPr>
              <a:t>                 </a:t>
            </a:r>
          </a:p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         </a:t>
            </a:r>
            <a:endParaRPr lang="en-AU" sz="2200" dirty="0">
              <a:latin typeface="Helvetica" pitchFamily="34" charset="0"/>
            </a:endParaRPr>
          </a:p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 smtClean="0">
              <a:latin typeface="Helvetica" pitchFamily="34" charset="0"/>
            </a:endParaRPr>
          </a:p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6" descr="MC900290438.W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76256" y="4165603"/>
            <a:ext cx="1481264" cy="99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331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6646"/>
            <a:ext cx="7467600" cy="706090"/>
          </a:xfrm>
        </p:spPr>
        <p:txBody>
          <a:bodyPr>
            <a:normAutofit/>
          </a:bodyPr>
          <a:lstStyle/>
          <a:p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Preparing </a:t>
            </a:r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garnishes</a:t>
            </a:r>
            <a:endParaRPr lang="en-AU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7467600" cy="4929411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AU" sz="2200" dirty="0" smtClean="0">
                <a:latin typeface="Helvetica" pitchFamily="34" charset="0"/>
              </a:rPr>
              <a:t>Equipment for preparing garnishes:</a:t>
            </a:r>
          </a:p>
          <a:p>
            <a:pPr marL="36576" indent="0">
              <a:buNone/>
            </a:pPr>
            <a:endParaRPr lang="en-AU" sz="2200" dirty="0" smtClean="0">
              <a:latin typeface="Helvetica" pitchFamily="34" charset="0"/>
            </a:endParaRPr>
          </a:p>
          <a:p>
            <a:pPr marL="36576" indent="0">
              <a:buNone/>
            </a:pPr>
            <a:endParaRPr lang="en-AU" sz="2200" dirty="0">
              <a:latin typeface="Helvetica" pitchFamily="34" charset="0"/>
            </a:endParaRPr>
          </a:p>
          <a:p>
            <a:pPr marL="36576" indent="0">
              <a:buNone/>
            </a:pPr>
            <a:endParaRPr lang="en-AU" sz="2200" dirty="0" smtClean="0">
              <a:latin typeface="Helvetica" pitchFamily="34" charset="0"/>
            </a:endParaRPr>
          </a:p>
          <a:p>
            <a:pPr marL="36576" indent="0">
              <a:buNone/>
            </a:pPr>
            <a:endParaRPr lang="en-AU" sz="2200" dirty="0">
              <a:latin typeface="Helvetica" pitchFamily="34" charset="0"/>
            </a:endParaRPr>
          </a:p>
          <a:p>
            <a:pPr marL="36576" indent="0">
              <a:buNone/>
            </a:pPr>
            <a:endParaRPr lang="en-AU" sz="2200" dirty="0" smtClean="0">
              <a:latin typeface="Helvetica" pitchFamily="34" charset="0"/>
            </a:endParaRPr>
          </a:p>
          <a:p>
            <a:pPr marL="36576" indent="0">
              <a:buNone/>
            </a:pPr>
            <a:r>
              <a:rPr lang="en-AU" sz="2200" dirty="0">
                <a:latin typeface="Helvetica" pitchFamily="34" charset="0"/>
              </a:rPr>
              <a:t> </a:t>
            </a:r>
            <a:r>
              <a:rPr lang="en-AU" sz="2200" dirty="0" smtClean="0">
                <a:latin typeface="Helvetica" pitchFamily="34" charset="0"/>
              </a:rPr>
              <a:t>                 </a:t>
            </a:r>
          </a:p>
          <a:p>
            <a:pPr marL="36576" indent="0">
              <a:buNone/>
            </a:pPr>
            <a:r>
              <a:rPr lang="en-AU" sz="2200" dirty="0" smtClean="0">
                <a:latin typeface="Helvetica" pitchFamily="34" charset="0"/>
              </a:rPr>
              <a:t>         </a:t>
            </a:r>
            <a:endParaRPr lang="en-AU" sz="2200" dirty="0">
              <a:latin typeface="Helvetica" pitchFamily="34" charset="0"/>
            </a:endParaRPr>
          </a:p>
          <a:p>
            <a:pPr marL="36576" indent="0">
              <a:buNone/>
            </a:pPr>
            <a:endParaRPr lang="en-AU" sz="2200" dirty="0" smtClean="0">
              <a:latin typeface="Helvetica" pitchFamily="34" charset="0"/>
            </a:endParaRPr>
          </a:p>
          <a:p>
            <a:pPr marL="36576" indent="0">
              <a:buNone/>
            </a:pP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1560" y="1916832"/>
          <a:ext cx="5256584" cy="334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042"/>
                <a:gridCol w="1804500"/>
                <a:gridCol w="1726042"/>
              </a:tblGrid>
              <a:tr h="131192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400" b="1" dirty="0" smtClean="0">
                          <a:solidFill>
                            <a:schemeClr val="bg1"/>
                          </a:solidFill>
                          <a:latin typeface="Helvetica" pitchFamily="34" charset="0"/>
                        </a:rPr>
                        <a:t>Shape cutters </a:t>
                      </a:r>
                      <a:endParaRPr lang="en-AU" sz="1400" b="1" dirty="0">
                        <a:solidFill>
                          <a:schemeClr val="bg1"/>
                        </a:solidFill>
                        <a:latin typeface="Helvetic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 dirty="0" smtClean="0">
                          <a:solidFill>
                            <a:schemeClr val="bg1"/>
                          </a:solidFill>
                          <a:latin typeface="Helvetica" pitchFamily="34" charset="0"/>
                        </a:rPr>
                        <a:t>Pastry cutters</a:t>
                      </a:r>
                      <a:endParaRPr lang="en-AU" sz="1400" b="1" dirty="0">
                        <a:solidFill>
                          <a:schemeClr val="bg1"/>
                        </a:solidFill>
                        <a:latin typeface="Helvetic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 dirty="0" smtClean="0">
                          <a:solidFill>
                            <a:schemeClr val="bg1"/>
                          </a:solidFill>
                          <a:latin typeface="Helvetica" pitchFamily="34" charset="0"/>
                        </a:rPr>
                        <a:t>Parisienne cutter</a:t>
                      </a:r>
                      <a:endParaRPr lang="en-AU" sz="1400" b="1" dirty="0">
                        <a:solidFill>
                          <a:schemeClr val="bg1"/>
                        </a:solidFill>
                        <a:latin typeface="Helvetic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  <a:tr h="128836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400" b="1" dirty="0" smtClean="0">
                          <a:solidFill>
                            <a:schemeClr val="bg1"/>
                          </a:solidFill>
                          <a:latin typeface="Helvetica" pitchFamily="34" charset="0"/>
                        </a:rPr>
                        <a:t>Zester</a:t>
                      </a:r>
                      <a:endParaRPr lang="en-AU" sz="1400" b="1" dirty="0">
                        <a:solidFill>
                          <a:schemeClr val="bg1"/>
                        </a:solidFill>
                        <a:latin typeface="Helvetic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 dirty="0" smtClean="0">
                          <a:solidFill>
                            <a:schemeClr val="bg1"/>
                          </a:solidFill>
                          <a:latin typeface="Helvetica" pitchFamily="34" charset="0"/>
                        </a:rPr>
                        <a:t>Peeler </a:t>
                      </a:r>
                      <a:endParaRPr lang="en-AU" sz="1400" b="1" dirty="0">
                        <a:solidFill>
                          <a:schemeClr val="bg1"/>
                        </a:solidFill>
                        <a:latin typeface="Helvetic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 dirty="0" smtClean="0">
                          <a:solidFill>
                            <a:schemeClr val="bg1"/>
                          </a:solidFill>
                          <a:latin typeface="Helvetica" pitchFamily="34" charset="0"/>
                        </a:rPr>
                        <a:t>Mandoline</a:t>
                      </a:r>
                      <a:endParaRPr lang="en-AU" sz="1400" b="1" dirty="0">
                        <a:solidFill>
                          <a:schemeClr val="bg1"/>
                        </a:solidFill>
                        <a:latin typeface="Helvetic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899592" y="2060848"/>
            <a:ext cx="4824536" cy="2728603"/>
            <a:chOff x="1835696" y="1556792"/>
            <a:chExt cx="4824536" cy="2728603"/>
          </a:xfrm>
        </p:grpSpPr>
        <p:pic>
          <p:nvPicPr>
            <p:cNvPr id="18" name="Picture 17"/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9037" b="-2424"/>
            <a:stretch>
              <a:fillRect/>
            </a:stretch>
          </p:blipFill>
          <p:spPr>
            <a:xfrm>
              <a:off x="1835696" y="1556792"/>
              <a:ext cx="1224136" cy="1080120"/>
            </a:xfrm>
            <a:prstGeom prst="rect">
              <a:avLst/>
            </a:prstGeom>
          </p:spPr>
        </p:pic>
        <p:pic>
          <p:nvPicPr>
            <p:cNvPr id="19" name="Picture 18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00" t="12684" b="16645"/>
            <a:stretch>
              <a:fillRect/>
            </a:stretch>
          </p:blipFill>
          <p:spPr>
            <a:xfrm>
              <a:off x="3563888" y="1628800"/>
              <a:ext cx="1296144" cy="936104"/>
            </a:xfrm>
            <a:prstGeom prst="rect">
              <a:avLst/>
            </a:prstGeom>
          </p:spPr>
        </p:pic>
        <p:pic>
          <p:nvPicPr>
            <p:cNvPr id="20" name="Picture 19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82" b="5882"/>
            <a:stretch>
              <a:fillRect/>
            </a:stretch>
          </p:blipFill>
          <p:spPr>
            <a:xfrm>
              <a:off x="5364088" y="1556792"/>
              <a:ext cx="1224136" cy="1080120"/>
            </a:xfrm>
            <a:prstGeom prst="rect">
              <a:avLst/>
            </a:prstGeom>
          </p:spPr>
        </p:pic>
        <p:pic>
          <p:nvPicPr>
            <p:cNvPr id="21" name="Picture 20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7704" y="3212976"/>
              <a:ext cx="1008112" cy="1008112"/>
            </a:xfrm>
            <a:prstGeom prst="rect">
              <a:avLst/>
            </a:prstGeom>
          </p:spPr>
        </p:pic>
        <p:pic>
          <p:nvPicPr>
            <p:cNvPr id="22" name="Picture 21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3" t="21600" b="20801"/>
            <a:stretch>
              <a:fillRect/>
            </a:stretch>
          </p:blipFill>
          <p:spPr>
            <a:xfrm>
              <a:off x="3491880" y="3356992"/>
              <a:ext cx="1296144" cy="72008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9155" y="3212976"/>
              <a:ext cx="1411077" cy="10724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973950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Preparing accompaniments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5112568"/>
          </a:xfrm>
        </p:spPr>
        <p:txBody>
          <a:bodyPr>
            <a:normAutofit/>
          </a:bodyPr>
          <a:lstStyle/>
          <a:p>
            <a:pPr marL="361950" indent="-36195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000" b="1" dirty="0" smtClean="0">
                <a:latin typeface="Helvetica" pitchFamily="34" charset="0"/>
              </a:rPr>
              <a:t>Accompaniments</a:t>
            </a:r>
            <a:endParaRPr lang="en-AU" sz="2000" dirty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000" dirty="0" smtClean="0">
                <a:latin typeface="Helvetica" pitchFamily="34" charset="0"/>
              </a:rPr>
              <a:t>An </a:t>
            </a:r>
            <a:r>
              <a:rPr lang="en-AU" sz="2000" dirty="0">
                <a:latin typeface="Helvetica" pitchFamily="34" charset="0"/>
              </a:rPr>
              <a:t>accompaniment is used to add to the texture </a:t>
            </a:r>
            <a:r>
              <a:rPr lang="en-AU" sz="2000" dirty="0" smtClean="0">
                <a:latin typeface="Helvetica" pitchFamily="34" charset="0"/>
              </a:rPr>
              <a:t/>
            </a:r>
            <a:br>
              <a:rPr lang="en-AU" sz="2000" dirty="0" smtClean="0">
                <a:latin typeface="Helvetica" pitchFamily="34" charset="0"/>
              </a:rPr>
            </a:br>
            <a:r>
              <a:rPr lang="en-AU" sz="2000" dirty="0" smtClean="0">
                <a:latin typeface="Helvetica" pitchFamily="34" charset="0"/>
              </a:rPr>
              <a:t>and </a:t>
            </a:r>
            <a:r>
              <a:rPr lang="en-AU" sz="2000" dirty="0">
                <a:latin typeface="Helvetica" pitchFamily="34" charset="0"/>
              </a:rPr>
              <a:t>taste to a menu </a:t>
            </a:r>
            <a:r>
              <a:rPr lang="en-AU" sz="2000" dirty="0" smtClean="0">
                <a:latin typeface="Helvetica" pitchFamily="34" charset="0"/>
              </a:rPr>
              <a:t>item:</a:t>
            </a:r>
          </a:p>
          <a:p>
            <a:pPr marL="361950" indent="-361950">
              <a:spcBef>
                <a:spcPts val="600"/>
              </a:spcBef>
              <a:spcAft>
                <a:spcPts val="1200"/>
              </a:spcAft>
            </a:pPr>
            <a:r>
              <a:rPr lang="en-AU" sz="2000" dirty="0" smtClean="0">
                <a:latin typeface="Helvetica" pitchFamily="34" charset="0"/>
              </a:rPr>
              <a:t>Accompaniments </a:t>
            </a:r>
            <a:r>
              <a:rPr lang="en-AU" sz="2000" dirty="0">
                <a:latin typeface="Helvetica" pitchFamily="34" charset="0"/>
              </a:rPr>
              <a:t>should be appropriate and </a:t>
            </a:r>
            <a:r>
              <a:rPr lang="en-AU" sz="2000" dirty="0" smtClean="0">
                <a:latin typeface="Helvetica" pitchFamily="34" charset="0"/>
              </a:rPr>
              <a:t/>
            </a:r>
            <a:br>
              <a:rPr lang="en-AU" sz="2000" dirty="0" smtClean="0">
                <a:latin typeface="Helvetica" pitchFamily="34" charset="0"/>
              </a:rPr>
            </a:br>
            <a:r>
              <a:rPr lang="en-AU" sz="2000" dirty="0" smtClean="0">
                <a:latin typeface="Helvetica" pitchFamily="34" charset="0"/>
              </a:rPr>
              <a:t>compliment the </a:t>
            </a:r>
            <a:r>
              <a:rPr lang="en-AU" sz="2000" dirty="0">
                <a:latin typeface="Helvetica" pitchFamily="34" charset="0"/>
              </a:rPr>
              <a:t>main food </a:t>
            </a:r>
            <a:r>
              <a:rPr lang="en-AU" sz="2000" dirty="0" smtClean="0">
                <a:latin typeface="Helvetica" pitchFamily="34" charset="0"/>
              </a:rPr>
              <a:t>item</a:t>
            </a:r>
          </a:p>
          <a:p>
            <a:pPr marL="361950" indent="-361950">
              <a:spcBef>
                <a:spcPts val="600"/>
              </a:spcBef>
              <a:spcAft>
                <a:spcPts val="1200"/>
              </a:spcAft>
            </a:pPr>
            <a:r>
              <a:rPr lang="en-AU" sz="2000" dirty="0" smtClean="0">
                <a:latin typeface="Helvetica" pitchFamily="34" charset="0"/>
              </a:rPr>
              <a:t>Many </a:t>
            </a:r>
            <a:r>
              <a:rPr lang="en-AU" sz="2000" dirty="0">
                <a:latin typeface="Helvetica" pitchFamily="34" charset="0"/>
              </a:rPr>
              <a:t>accompaniments are traditional to </a:t>
            </a:r>
            <a:r>
              <a:rPr lang="en-AU" sz="2000" dirty="0" smtClean="0">
                <a:latin typeface="Helvetica" pitchFamily="34" charset="0"/>
              </a:rPr>
              <a:t/>
            </a:r>
            <a:br>
              <a:rPr lang="en-AU" sz="2000" dirty="0" smtClean="0">
                <a:latin typeface="Helvetica" pitchFamily="34" charset="0"/>
              </a:rPr>
            </a:br>
            <a:r>
              <a:rPr lang="en-AU" sz="2000" dirty="0" smtClean="0">
                <a:latin typeface="Helvetica" pitchFamily="34" charset="0"/>
              </a:rPr>
              <a:t>certain </a:t>
            </a:r>
            <a:r>
              <a:rPr lang="en-AU" sz="2000" dirty="0">
                <a:latin typeface="Helvetica" pitchFamily="34" charset="0"/>
              </a:rPr>
              <a:t>styles of </a:t>
            </a:r>
            <a:r>
              <a:rPr lang="en-AU" sz="2000" dirty="0" smtClean="0">
                <a:latin typeface="Helvetica" pitchFamily="34" charset="0"/>
              </a:rPr>
              <a:t>cuisine</a:t>
            </a:r>
          </a:p>
          <a:p>
            <a:pPr marL="361950" indent="-361950">
              <a:spcBef>
                <a:spcPts val="600"/>
              </a:spcBef>
              <a:spcAft>
                <a:spcPts val="1200"/>
              </a:spcAft>
            </a:pPr>
            <a:r>
              <a:rPr lang="en-AU" sz="2000" dirty="0">
                <a:latin typeface="Helvetica" pitchFamily="34" charset="0"/>
              </a:rPr>
              <a:t>Accompaniments </a:t>
            </a:r>
            <a:r>
              <a:rPr lang="en-AU" sz="2000" dirty="0" smtClean="0">
                <a:latin typeface="Helvetica" pitchFamily="34" charset="0"/>
              </a:rPr>
              <a:t>may </a:t>
            </a:r>
            <a:r>
              <a:rPr lang="en-AU" sz="2000" dirty="0">
                <a:latin typeface="Helvetica" pitchFamily="34" charset="0"/>
              </a:rPr>
              <a:t>have some cultural </a:t>
            </a:r>
            <a:r>
              <a:rPr lang="en-AU" sz="2000" dirty="0" smtClean="0">
                <a:latin typeface="Helvetica" pitchFamily="34" charset="0"/>
              </a:rPr>
              <a:t/>
            </a:r>
            <a:br>
              <a:rPr lang="en-AU" sz="2000" dirty="0" smtClean="0">
                <a:latin typeface="Helvetica" pitchFamily="34" charset="0"/>
              </a:rPr>
            </a:br>
            <a:r>
              <a:rPr lang="en-AU" sz="2000" dirty="0" smtClean="0">
                <a:latin typeface="Helvetica" pitchFamily="34" charset="0"/>
              </a:rPr>
              <a:t>significance </a:t>
            </a:r>
            <a:r>
              <a:rPr lang="en-AU" sz="2000" dirty="0">
                <a:latin typeface="Helvetica" pitchFamily="34" charset="0"/>
              </a:rPr>
              <a:t>or may simply have developed </a:t>
            </a:r>
            <a:r>
              <a:rPr lang="en-AU" sz="2000" dirty="0" smtClean="0">
                <a:latin typeface="Helvetica" pitchFamily="34" charset="0"/>
              </a:rPr>
              <a:t/>
            </a:r>
            <a:br>
              <a:rPr lang="en-AU" sz="2000" dirty="0" smtClean="0">
                <a:latin typeface="Helvetica" pitchFamily="34" charset="0"/>
              </a:rPr>
            </a:br>
            <a:r>
              <a:rPr lang="en-AU" sz="2000" dirty="0" smtClean="0">
                <a:latin typeface="Helvetica" pitchFamily="34" charset="0"/>
              </a:rPr>
              <a:t>as </a:t>
            </a:r>
            <a:r>
              <a:rPr lang="en-AU" sz="2000" dirty="0">
                <a:latin typeface="Helvetica" pitchFamily="34" charset="0"/>
              </a:rPr>
              <a:t>a common, complimentary ‘partner’ to </a:t>
            </a:r>
            <a:r>
              <a:rPr lang="en-AU" sz="2000" dirty="0" smtClean="0">
                <a:latin typeface="Helvetica" pitchFamily="34" charset="0"/>
              </a:rPr>
              <a:t/>
            </a:r>
            <a:br>
              <a:rPr lang="en-AU" sz="2000" dirty="0" smtClean="0">
                <a:latin typeface="Helvetica" pitchFamily="34" charset="0"/>
              </a:rPr>
            </a:br>
            <a:r>
              <a:rPr lang="en-AU" sz="2000" dirty="0" smtClean="0">
                <a:latin typeface="Helvetica" pitchFamily="34" charset="0"/>
              </a:rPr>
              <a:t>some foods</a:t>
            </a:r>
            <a:endParaRPr lang="en-AU" sz="20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22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Present food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08388" y="3861048"/>
            <a:ext cx="2004067" cy="133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7636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Preparing accompaniments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96752"/>
            <a:ext cx="7467600" cy="488600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Some </a:t>
            </a:r>
            <a:r>
              <a:rPr lang="en-AU" sz="2200" dirty="0">
                <a:latin typeface="Helvetica" pitchFamily="34" charset="0"/>
              </a:rPr>
              <a:t>garnishes </a:t>
            </a:r>
            <a:r>
              <a:rPr lang="en-AU" sz="2200" dirty="0" smtClean="0">
                <a:latin typeface="Helvetica" pitchFamily="34" charset="0"/>
              </a:rPr>
              <a:t>and accompaniments require </a:t>
            </a:r>
            <a:r>
              <a:rPr lang="en-AU" sz="2200" dirty="0">
                <a:latin typeface="Helvetica" pitchFamily="34" charset="0"/>
              </a:rPr>
              <a:t>preparation following a </a:t>
            </a:r>
            <a:r>
              <a:rPr lang="en-AU" sz="2200" dirty="0" smtClean="0">
                <a:latin typeface="Helvetica" pitchFamily="34" charset="0"/>
              </a:rPr>
              <a:t>standard recipe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These </a:t>
            </a:r>
            <a:r>
              <a:rPr lang="en-AU" sz="2200" dirty="0">
                <a:latin typeface="Helvetica" pitchFamily="34" charset="0"/>
              </a:rPr>
              <a:t>may include items such as biscuits or </a:t>
            </a:r>
            <a:r>
              <a:rPr lang="en-AU" sz="2200" dirty="0" smtClean="0">
                <a:latin typeface="Helvetica" pitchFamily="34" charset="0"/>
              </a:rPr>
              <a:t>pastry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These </a:t>
            </a:r>
            <a:r>
              <a:rPr lang="en-AU" sz="2200" dirty="0">
                <a:latin typeface="Helvetica" pitchFamily="34" charset="0"/>
              </a:rPr>
              <a:t>items must also be of good quality and </a:t>
            </a:r>
            <a:r>
              <a:rPr lang="en-AU" sz="2200" dirty="0" smtClean="0">
                <a:latin typeface="Helvetica" pitchFamily="34" charset="0"/>
              </a:rPr>
              <a:t>appearance – therefore </a:t>
            </a:r>
            <a:r>
              <a:rPr lang="en-AU" sz="2200" dirty="0">
                <a:latin typeface="Helvetica" pitchFamily="34" charset="0"/>
              </a:rPr>
              <a:t>you must follow the recipe </a:t>
            </a:r>
            <a:r>
              <a:rPr lang="en-AU" sz="2200" dirty="0" smtClean="0">
                <a:latin typeface="Helvetica" pitchFamily="34" charset="0"/>
              </a:rPr>
              <a:t>precisely </a:t>
            </a: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23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6" name="Picture 5" descr="freeimage-2237507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20272" y="3501008"/>
            <a:ext cx="1361820" cy="170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736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Preparing accompaniments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Many </a:t>
            </a:r>
            <a:r>
              <a:rPr lang="en-AU" sz="2200" dirty="0">
                <a:latin typeface="Helvetica" pitchFamily="34" charset="0"/>
              </a:rPr>
              <a:t>accompaniments can be purchased </a:t>
            </a:r>
            <a:r>
              <a:rPr lang="en-AU" sz="2200" dirty="0" smtClean="0">
                <a:latin typeface="Helvetica" pitchFamily="34" charset="0"/>
              </a:rPr>
              <a:t>pre- </a:t>
            </a:r>
            <a:r>
              <a:rPr lang="en-AU" sz="2200" dirty="0">
                <a:latin typeface="Helvetica" pitchFamily="34" charset="0"/>
              </a:rPr>
              <a:t>prepared. These include items such as</a:t>
            </a:r>
            <a:r>
              <a:rPr lang="en-AU" sz="2200" dirty="0" smtClean="0">
                <a:latin typeface="Helvetica" pitchFamily="34" charset="0"/>
              </a:rPr>
              <a:t>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Soy </a:t>
            </a:r>
            <a:r>
              <a:rPr lang="en-AU" sz="2200" dirty="0">
                <a:latin typeface="Helvetica" pitchFamily="34" charset="0"/>
              </a:rPr>
              <a:t>sauce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Wasabi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Mustard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Ketchup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Mayonnaise</a:t>
            </a:r>
          </a:p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24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7" name="Picture 6" descr="freeimage-518746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76256" y="4149080"/>
            <a:ext cx="1529603" cy="105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5800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Preparing accompaniments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5256584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Other accompaniments may </a:t>
            </a:r>
            <a:r>
              <a:rPr lang="en-AU" sz="2200" dirty="0">
                <a:latin typeface="Helvetica" pitchFamily="34" charset="0"/>
              </a:rPr>
              <a:t>be partially prepared and only require some basic preparation, heating or cooking.</a:t>
            </a:r>
          </a:p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>
                <a:latin typeface="Helvetica" pitchFamily="34" charset="0"/>
              </a:rPr>
              <a:t>These include items such as</a:t>
            </a:r>
            <a:r>
              <a:rPr lang="en-AU" sz="2200" dirty="0" smtClean="0">
                <a:latin typeface="Helvetica" pitchFamily="34" charset="0"/>
              </a:rPr>
              <a:t>:</a:t>
            </a:r>
            <a:endParaRPr lang="en-AU" sz="2200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Fried shallots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Toasted nuts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Chopped chillies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Sambals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Specialty </a:t>
            </a:r>
            <a:r>
              <a:rPr lang="en-AU" sz="2200" dirty="0">
                <a:latin typeface="Helvetica" pitchFamily="34" charset="0"/>
              </a:rPr>
              <a:t>breads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Chocolate and sugar decorations</a:t>
            </a:r>
          </a:p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25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Soup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56694" y="3429000"/>
            <a:ext cx="2331730" cy="174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5108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Preparing accompaniments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Accompaniments </a:t>
            </a:r>
            <a:r>
              <a:rPr lang="en-AU" sz="2200" dirty="0">
                <a:latin typeface="Helvetica" pitchFamily="34" charset="0"/>
              </a:rPr>
              <a:t>that require preparation should be made as close to serving time as possible </a:t>
            </a:r>
            <a:endParaRPr lang="en-AU" sz="2200" dirty="0" smtClean="0">
              <a:latin typeface="Helvetica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Dressings </a:t>
            </a:r>
            <a:r>
              <a:rPr lang="en-AU" sz="2200" dirty="0">
                <a:latin typeface="Helvetica" pitchFamily="34" charset="0"/>
              </a:rPr>
              <a:t>and sauces may be made in advance to allow the combination of flavours to </a:t>
            </a:r>
            <a:r>
              <a:rPr lang="en-AU" sz="2200" dirty="0" smtClean="0">
                <a:latin typeface="Helvetica" pitchFamily="34" charset="0"/>
              </a:rPr>
              <a:t>develop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As </a:t>
            </a:r>
            <a:r>
              <a:rPr lang="en-AU" sz="2200" dirty="0">
                <a:latin typeface="Helvetica" pitchFamily="34" charset="0"/>
              </a:rPr>
              <a:t>with garnishes, food items used for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preparing </a:t>
            </a:r>
            <a:r>
              <a:rPr lang="en-AU" sz="2200" dirty="0">
                <a:latin typeface="Helvetica" pitchFamily="34" charset="0"/>
              </a:rPr>
              <a:t>accompaniments must be fresh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and </a:t>
            </a:r>
            <a:r>
              <a:rPr lang="en-AU" sz="2200" dirty="0">
                <a:latin typeface="Helvetica" pitchFamily="34" charset="0"/>
              </a:rPr>
              <a:t>of good </a:t>
            </a:r>
            <a:r>
              <a:rPr lang="en-AU" sz="2200" dirty="0" smtClean="0">
                <a:latin typeface="Helvetica" pitchFamily="34" charset="0"/>
              </a:rPr>
              <a:t>quality</a:t>
            </a:r>
            <a:endParaRPr lang="en-AU" sz="2200" dirty="0">
              <a:latin typeface="Helvetica" pitchFamily="34" charset="0"/>
            </a:endParaRPr>
          </a:p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26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Prepare cookin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64288" y="3284984"/>
            <a:ext cx="1264547" cy="189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230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Preparing accompaniments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36576" indent="0">
              <a:buNone/>
            </a:pPr>
            <a:r>
              <a:rPr lang="en-AU" sz="2200" b="1" dirty="0" smtClean="0">
                <a:latin typeface="Helvetica" pitchFamily="34" charset="0"/>
              </a:rPr>
              <a:t>Examples of accompaniments to cuisines:</a:t>
            </a:r>
          </a:p>
          <a:p>
            <a:pPr marL="36576" indent="0">
              <a:buNone/>
            </a:pPr>
            <a:endParaRPr lang="en-AU" sz="2200" b="1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27</a:t>
            </a:fld>
            <a:endParaRPr lang="en-US" dirty="0">
              <a:latin typeface="Helvetica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142989"/>
              </p:ext>
            </p:extLst>
          </p:nvPr>
        </p:nvGraphicFramePr>
        <p:xfrm>
          <a:off x="755576" y="1700808"/>
          <a:ext cx="7200800" cy="3096345"/>
        </p:xfrm>
        <a:graphic>
          <a:graphicData uri="http://schemas.openxmlformats.org/drawingml/2006/table">
            <a:tbl>
              <a:tblPr firstRow="1" firstCol="1" bandRow="1">
                <a:tableStyleId>{46F890A9-2807-4EBB-B81D-B2AA78EC7F39}</a:tableStyleId>
              </a:tblPr>
              <a:tblGrid>
                <a:gridCol w="1728192"/>
                <a:gridCol w="5472608"/>
              </a:tblGrid>
              <a:tr h="44233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Cuisine type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Common accompaniments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/>
                </a:tc>
              </a:tr>
              <a:tr h="44233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Japanese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S</a:t>
                      </a:r>
                      <a:r>
                        <a:rPr lang="en-AU" sz="1600" dirty="0" smtClean="0">
                          <a:effectLst/>
                          <a:latin typeface="Helvetica" pitchFamily="34" charset="0"/>
                        </a:rPr>
                        <a:t>oy </a:t>
                      </a: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sauce, pickled ginger and wasabi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/>
                </a:tc>
              </a:tr>
              <a:tr h="44233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Italian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P</a:t>
                      </a:r>
                      <a:r>
                        <a:rPr lang="en-AU" sz="1600" dirty="0" smtClean="0">
                          <a:effectLst/>
                          <a:latin typeface="Helvetica" pitchFamily="34" charset="0"/>
                        </a:rPr>
                        <a:t>armesan </a:t>
                      </a: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cheese, vegetable and herb pesto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/>
                </a:tc>
              </a:tr>
              <a:tr h="44233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Indian 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S</a:t>
                      </a:r>
                      <a:r>
                        <a:rPr lang="en-AU" sz="1600" dirty="0" smtClean="0">
                          <a:effectLst/>
                          <a:latin typeface="Helvetica" pitchFamily="34" charset="0"/>
                        </a:rPr>
                        <a:t>ambals</a:t>
                      </a: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, naan breads, dhal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/>
                </a:tc>
              </a:tr>
              <a:tr h="44233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 smtClean="0">
                          <a:effectLst/>
                          <a:latin typeface="Helvetica" pitchFamily="34" charset="0"/>
                        </a:rPr>
                        <a:t>Mexican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Salsa, guacamole, tortilla, sour cream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/>
                </a:tc>
              </a:tr>
              <a:tr h="44233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Cantonese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Shrimp paste, char siu sauce, 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/>
                </a:tc>
              </a:tr>
              <a:tr h="442335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Vietnamese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AU" sz="1600" dirty="0">
                          <a:effectLst/>
                          <a:latin typeface="Helvetica" pitchFamily="34" charset="0"/>
                        </a:rPr>
                        <a:t>Nuoc Mam, green banana, bean sprouts</a:t>
                      </a:r>
                      <a:endParaRPr lang="en-AU" sz="1600" dirty="0">
                        <a:effectLst/>
                        <a:latin typeface="Helvetica" pitchFamily="34" charset="0"/>
                        <a:ea typeface="Calibri"/>
                        <a:cs typeface="Calibri"/>
                      </a:endParaRPr>
                    </a:p>
                  </a:txBody>
                  <a:tcPr marL="68580" marR="68580" marT="72000" marB="720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48429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Setting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up for service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The </a:t>
            </a:r>
            <a:r>
              <a:rPr lang="en-AU" sz="2200" dirty="0">
                <a:latin typeface="Helvetica" pitchFamily="34" charset="0"/>
              </a:rPr>
              <a:t>term ‘Service’ relates to the period of time in which customers will select, order and consume their </a:t>
            </a:r>
            <a:r>
              <a:rPr lang="en-AU" sz="2200" dirty="0" smtClean="0">
                <a:latin typeface="Helvetica" pitchFamily="34" charset="0"/>
              </a:rPr>
              <a:t>meals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Set </a:t>
            </a:r>
            <a:r>
              <a:rPr lang="en-AU" sz="2200" dirty="0">
                <a:latin typeface="Helvetica" pitchFamily="34" charset="0"/>
              </a:rPr>
              <a:t>up procedures will depend upon the type of menu and service style of the </a:t>
            </a:r>
            <a:r>
              <a:rPr lang="en-AU" sz="2200" dirty="0" smtClean="0">
                <a:latin typeface="Helvetica" pitchFamily="34" charset="0"/>
              </a:rPr>
              <a:t>business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If correctly </a:t>
            </a:r>
            <a:r>
              <a:rPr lang="en-AU" sz="2200" dirty="0">
                <a:latin typeface="Helvetica" pitchFamily="34" charset="0"/>
              </a:rPr>
              <a:t>laid out and ‘mise en place’ has been properly carried out, the kitchen should function smoothly during the service </a:t>
            </a:r>
            <a:r>
              <a:rPr lang="en-AU" sz="2200" dirty="0" smtClean="0">
                <a:latin typeface="Helvetica" pitchFamily="34" charset="0"/>
              </a:rPr>
              <a:t>period </a:t>
            </a:r>
            <a:endParaRPr lang="en-AU" sz="2200" dirty="0">
              <a:latin typeface="Helvetica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28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Chef cooking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55776" y="4149080"/>
            <a:ext cx="2903984" cy="192534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Setting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up for service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Some </a:t>
            </a:r>
            <a:r>
              <a:rPr lang="en-AU" sz="2200" dirty="0">
                <a:latin typeface="Helvetica" pitchFamily="34" charset="0"/>
              </a:rPr>
              <a:t>good practices to follow to help ensure that service is carried out smoothly include</a:t>
            </a:r>
            <a:r>
              <a:rPr lang="en-AU" sz="2200" dirty="0" smtClean="0">
                <a:latin typeface="Helvetica" pitchFamily="34" charset="0"/>
              </a:rPr>
              <a:t>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Familiarise </a:t>
            </a:r>
            <a:r>
              <a:rPr lang="en-AU" sz="2200" dirty="0">
                <a:latin typeface="Helvetica" pitchFamily="34" charset="0"/>
              </a:rPr>
              <a:t>yourself with menu items and their components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Have checklists to follow during preparation and leading up to service </a:t>
            </a:r>
            <a:r>
              <a:rPr lang="en-AU" sz="2200" dirty="0" smtClean="0">
                <a:latin typeface="Helvetica" pitchFamily="34" charset="0"/>
              </a:rPr>
              <a:t>periods</a:t>
            </a:r>
            <a:endParaRPr lang="en-AU" sz="2200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Report any </a:t>
            </a:r>
            <a:r>
              <a:rPr lang="en-AU" sz="2200" dirty="0" smtClean="0">
                <a:latin typeface="Helvetica" pitchFamily="34" charset="0"/>
              </a:rPr>
              <a:t>potential problems as </a:t>
            </a:r>
            <a:r>
              <a:rPr lang="en-AU" sz="2200" dirty="0">
                <a:latin typeface="Helvetica" pitchFamily="34" charset="0"/>
              </a:rPr>
              <a:t>soon as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you </a:t>
            </a:r>
            <a:r>
              <a:rPr lang="en-AU" sz="2200" dirty="0">
                <a:latin typeface="Helvetica" pitchFamily="34" charset="0"/>
              </a:rPr>
              <a:t>notice </a:t>
            </a:r>
            <a:r>
              <a:rPr lang="en-AU" sz="2200" dirty="0" smtClean="0">
                <a:latin typeface="Helvetica" pitchFamily="34" charset="0"/>
              </a:rPr>
              <a:t>them</a:t>
            </a:r>
            <a:endParaRPr lang="en-AU" sz="2200" dirty="0">
              <a:latin typeface="Helvetica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Participate in kitchen briefings prior to service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29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freeimage-703262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64288" y="3356992"/>
            <a:ext cx="1224136" cy="183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902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Setting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up for service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Calculating </a:t>
            </a:r>
            <a:r>
              <a:rPr lang="en-AU" sz="2200" dirty="0">
                <a:latin typeface="Helvetica" pitchFamily="34" charset="0"/>
              </a:rPr>
              <a:t>quantities of food required for the service </a:t>
            </a:r>
            <a:r>
              <a:rPr lang="en-AU" sz="2200" dirty="0" smtClean="0">
                <a:latin typeface="Helvetica" pitchFamily="34" charset="0"/>
              </a:rPr>
              <a:t>period: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Reviewing </a:t>
            </a:r>
            <a:r>
              <a:rPr lang="en-AU" sz="2200" dirty="0">
                <a:latin typeface="Helvetica" pitchFamily="34" charset="0"/>
              </a:rPr>
              <a:t>guest bookings</a:t>
            </a:r>
            <a:endParaRPr lang="en-AU" sz="2200" b="1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Reviewing historical sales data</a:t>
            </a:r>
            <a:endParaRPr lang="en-AU" sz="2200" b="1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Historical popularity of certain menu items</a:t>
            </a:r>
            <a:endParaRPr lang="en-AU" sz="2200" b="1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Observing current trends in food and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cuisine </a:t>
            </a:r>
            <a:r>
              <a:rPr lang="en-AU" sz="2200" dirty="0">
                <a:latin typeface="Helvetica" pitchFamily="34" charset="0"/>
              </a:rPr>
              <a:t>styles</a:t>
            </a:r>
            <a:endParaRPr lang="en-AU" sz="2200" b="1" dirty="0">
              <a:latin typeface="Helvetica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Seasonal availability of food products</a:t>
            </a:r>
            <a:endParaRPr lang="en-AU" sz="2200" b="1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30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freeimage-636463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92280" y="3284984"/>
            <a:ext cx="1277888" cy="191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12145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Setting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up for service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Setting </a:t>
            </a:r>
            <a:r>
              <a:rPr lang="en-AU" sz="2200" dirty="0">
                <a:latin typeface="Helvetica" pitchFamily="34" charset="0"/>
              </a:rPr>
              <a:t>up stations for food </a:t>
            </a:r>
            <a:r>
              <a:rPr lang="en-AU" sz="2200" dirty="0" smtClean="0">
                <a:latin typeface="Helvetica" pitchFamily="34" charset="0"/>
              </a:rPr>
              <a:t>service: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A </a:t>
            </a:r>
            <a:r>
              <a:rPr lang="en-AU" sz="2200" dirty="0">
                <a:latin typeface="Helvetica" pitchFamily="34" charset="0"/>
              </a:rPr>
              <a:t>‘station’ is a section of the kitchen which may service a particular menu course or specific food items</a:t>
            </a:r>
            <a:r>
              <a:rPr lang="en-AU" sz="2200" dirty="0" smtClean="0">
                <a:latin typeface="Helvetica" pitchFamily="34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A </a:t>
            </a:r>
            <a:r>
              <a:rPr lang="en-AU" sz="2200" dirty="0">
                <a:latin typeface="Helvetica" pitchFamily="34" charset="0"/>
              </a:rPr>
              <a:t>section will require </a:t>
            </a:r>
            <a:r>
              <a:rPr lang="en-AU" sz="2200" dirty="0" smtClean="0">
                <a:latin typeface="Helvetica" pitchFamily="34" charset="0"/>
              </a:rPr>
              <a:t>various items/equipment to </a:t>
            </a:r>
            <a:r>
              <a:rPr lang="en-AU" sz="2200" dirty="0">
                <a:latin typeface="Helvetica" pitchFamily="34" charset="0"/>
              </a:rPr>
              <a:t>be available and at hand </a:t>
            </a:r>
            <a:endParaRPr lang="en-AU" sz="2200" dirty="0" smtClean="0">
              <a:latin typeface="Helvetica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This is to meet </a:t>
            </a:r>
            <a:r>
              <a:rPr lang="en-AU" sz="2200" dirty="0">
                <a:latin typeface="Helvetica" pitchFamily="34" charset="0"/>
              </a:rPr>
              <a:t>the need of the particular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service </a:t>
            </a:r>
            <a:r>
              <a:rPr lang="en-AU" sz="2200" dirty="0">
                <a:latin typeface="Helvetica" pitchFamily="34" charset="0"/>
              </a:rPr>
              <a:t>period and expected number of </a:t>
            </a:r>
            <a:r>
              <a:rPr lang="en-AU" sz="2200" dirty="0" smtClean="0">
                <a:latin typeface="Helvetica" pitchFamily="34" charset="0"/>
              </a:rPr>
              <a:t>diners</a:t>
            </a:r>
            <a:endParaRPr lang="en-AU" sz="2200" b="1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31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cook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71800" y="4509120"/>
            <a:ext cx="2119416" cy="140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677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Setting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up for service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052736"/>
            <a:ext cx="7467600" cy="5030019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Items required for service include: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Cooking </a:t>
            </a:r>
            <a:r>
              <a:rPr lang="en-AU" sz="2200" dirty="0">
                <a:latin typeface="Helvetica" pitchFamily="34" charset="0"/>
              </a:rPr>
              <a:t>vessels such as pots and pans </a:t>
            </a:r>
            <a:endParaRPr lang="en-AU" sz="2200" b="1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Serving equipment such as tongs, spatulas, ladles, trays</a:t>
            </a:r>
            <a:endParaRPr lang="en-AU" sz="2200" b="1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Serving platforms including plates, bowl,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trays </a:t>
            </a:r>
            <a:r>
              <a:rPr lang="en-AU" sz="2200" dirty="0">
                <a:latin typeface="Helvetica" pitchFamily="34" charset="0"/>
              </a:rPr>
              <a:t>and platters </a:t>
            </a:r>
            <a:endParaRPr lang="en-AU" sz="2200" b="1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Prepared food items such as steaks, fish,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poultry</a:t>
            </a:r>
            <a:r>
              <a:rPr lang="en-AU" sz="2200" dirty="0">
                <a:latin typeface="Helvetica" pitchFamily="34" charset="0"/>
              </a:rPr>
              <a:t>, vegetables</a:t>
            </a:r>
            <a:endParaRPr lang="en-AU" sz="2200" b="1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Accompaniments and garnishes </a:t>
            </a:r>
            <a:endParaRPr lang="en-AU" sz="2200" b="1" dirty="0">
              <a:latin typeface="Helvetica" pitchFamily="34" charset="0"/>
            </a:endParaRPr>
          </a:p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b="1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32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freeimage-636463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07138" y="3356992"/>
            <a:ext cx="1277888" cy="191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1481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Setting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up for service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052736"/>
            <a:ext cx="7467600" cy="5030019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The </a:t>
            </a:r>
            <a:r>
              <a:rPr lang="en-AU" sz="2200" dirty="0">
                <a:latin typeface="Helvetica" pitchFamily="34" charset="0"/>
              </a:rPr>
              <a:t>term ‘station’ may also refer to sections of a </a:t>
            </a:r>
            <a:r>
              <a:rPr lang="en-AU" sz="2200" b="1" i="1" dirty="0">
                <a:latin typeface="Helvetica" pitchFamily="34" charset="0"/>
              </a:rPr>
              <a:t>buffet</a:t>
            </a:r>
            <a:r>
              <a:rPr lang="en-AU" sz="2200" dirty="0">
                <a:latin typeface="Helvetica" pitchFamily="34" charset="0"/>
              </a:rPr>
              <a:t> where particular food items are presented and displayed </a:t>
            </a:r>
            <a:r>
              <a:rPr lang="en-AU" sz="2200" dirty="0" smtClean="0">
                <a:latin typeface="Helvetica" pitchFamily="34" charset="0"/>
              </a:rPr>
              <a:t>including: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Soups </a:t>
            </a:r>
            <a:endParaRPr lang="en-AU" sz="2200" b="1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Appetisers and </a:t>
            </a:r>
            <a:r>
              <a:rPr lang="en-AU" sz="2200" dirty="0" smtClean="0">
                <a:latin typeface="Helvetica" pitchFamily="34" charset="0"/>
              </a:rPr>
              <a:t>entrees</a:t>
            </a:r>
            <a:r>
              <a:rPr lang="en-AU" sz="2200" b="1" dirty="0">
                <a:latin typeface="Helvetica" pitchFamily="34" charset="0"/>
              </a:rPr>
              <a:t> </a:t>
            </a:r>
            <a:r>
              <a:rPr lang="en-AU" sz="2200" dirty="0" smtClean="0">
                <a:latin typeface="Helvetica" pitchFamily="34" charset="0"/>
              </a:rPr>
              <a:t>and</a:t>
            </a:r>
            <a:r>
              <a:rPr lang="en-AU" sz="2200" b="1" dirty="0" smtClean="0">
                <a:latin typeface="Helvetica" pitchFamily="34" charset="0"/>
              </a:rPr>
              <a:t> </a:t>
            </a:r>
            <a:r>
              <a:rPr lang="en-AU" sz="2200" dirty="0">
                <a:latin typeface="Helvetica" pitchFamily="34" charset="0"/>
              </a:rPr>
              <a:t>s</a:t>
            </a:r>
            <a:r>
              <a:rPr lang="en-AU" sz="2200" dirty="0" smtClean="0">
                <a:latin typeface="Helvetica" pitchFamily="34" charset="0"/>
              </a:rPr>
              <a:t>alads</a:t>
            </a:r>
            <a:endParaRPr lang="en-AU" sz="2200" b="1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Carvery for roast meats</a:t>
            </a:r>
            <a:endParaRPr lang="en-AU" sz="2200" b="1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Main course wet or dry dishes</a:t>
            </a:r>
            <a:endParaRPr lang="en-AU" sz="2200" b="1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Vegetable dishes</a:t>
            </a:r>
            <a:endParaRPr lang="en-AU" sz="2200" b="1" dirty="0">
              <a:latin typeface="Helvetica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Desserts including pastries and </a:t>
            </a:r>
            <a:r>
              <a:rPr lang="en-AU" sz="2200" dirty="0" smtClean="0">
                <a:latin typeface="Helvetica" pitchFamily="34" charset="0"/>
              </a:rPr>
              <a:t>cakes</a:t>
            </a:r>
            <a:endParaRPr lang="en-AU" sz="2200" b="1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33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Salad ba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60232" y="4077072"/>
            <a:ext cx="1752504" cy="116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4440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Setting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up for service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052736"/>
            <a:ext cx="7467600" cy="5328592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Equipment </a:t>
            </a:r>
            <a:r>
              <a:rPr lang="en-AU" sz="2200" dirty="0">
                <a:latin typeface="Helvetica" pitchFamily="34" charset="0"/>
              </a:rPr>
              <a:t>required for </a:t>
            </a:r>
            <a:r>
              <a:rPr lang="en-AU" sz="2200" dirty="0" smtClean="0">
                <a:latin typeface="Helvetica" pitchFamily="34" charset="0"/>
              </a:rPr>
              <a:t>holding and storage during service periods: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Bains-marie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Chafing dishes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Plate warmers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Hot boxes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Cool rooms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Cold display units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Soup tureens</a:t>
            </a: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34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6" name="Picture 5" descr="Buffet tray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92640" y="3212976"/>
            <a:ext cx="1312576" cy="196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8942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Setting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up for service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052736"/>
            <a:ext cx="7467600" cy="5030019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Back </a:t>
            </a:r>
            <a:r>
              <a:rPr lang="en-AU" sz="2200" dirty="0">
                <a:latin typeface="Helvetica" pitchFamily="34" charset="0"/>
              </a:rPr>
              <a:t>up food items for service </a:t>
            </a:r>
            <a:r>
              <a:rPr lang="en-AU" sz="2200" dirty="0" smtClean="0">
                <a:latin typeface="Helvetica" pitchFamily="34" charset="0"/>
              </a:rPr>
              <a:t>periods:</a:t>
            </a:r>
            <a:endParaRPr lang="en-AU" sz="2200" dirty="0">
              <a:latin typeface="Helvetica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Having </a:t>
            </a:r>
            <a:r>
              <a:rPr lang="en-AU" sz="2200" dirty="0">
                <a:latin typeface="Helvetica" pitchFamily="34" charset="0"/>
              </a:rPr>
              <a:t>back up food items prepared is an important consideration for any service </a:t>
            </a:r>
            <a:r>
              <a:rPr lang="en-AU" sz="2200" dirty="0" smtClean="0">
                <a:latin typeface="Helvetica" pitchFamily="34" charset="0"/>
              </a:rPr>
              <a:t>period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This is </a:t>
            </a:r>
            <a:r>
              <a:rPr lang="en-AU" sz="2200" dirty="0">
                <a:latin typeface="Helvetica" pitchFamily="34" charset="0"/>
              </a:rPr>
              <a:t>a common aspect of mise en </a:t>
            </a:r>
            <a:r>
              <a:rPr lang="en-AU" sz="2200" dirty="0" smtClean="0">
                <a:latin typeface="Helvetica" pitchFamily="34" charset="0"/>
              </a:rPr>
              <a:t>place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Ensures </a:t>
            </a:r>
            <a:r>
              <a:rPr lang="en-AU" sz="2200" dirty="0">
                <a:latin typeface="Helvetica" pitchFamily="34" charset="0"/>
              </a:rPr>
              <a:t>that food items will not run </a:t>
            </a:r>
            <a:r>
              <a:rPr lang="en-AU" sz="2200" dirty="0" smtClean="0">
                <a:latin typeface="Helvetica" pitchFamily="34" charset="0"/>
              </a:rPr>
              <a:t>out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Ensures that </a:t>
            </a:r>
            <a:r>
              <a:rPr lang="en-AU" sz="2200" dirty="0">
                <a:latin typeface="Helvetica" pitchFamily="34" charset="0"/>
              </a:rPr>
              <a:t>customers will not be waiting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for </a:t>
            </a:r>
            <a:r>
              <a:rPr lang="en-AU" sz="2200" dirty="0">
                <a:latin typeface="Helvetica" pitchFamily="34" charset="0"/>
              </a:rPr>
              <a:t>long periods for items to be </a:t>
            </a:r>
            <a:r>
              <a:rPr lang="en-AU" sz="2200" dirty="0" smtClean="0">
                <a:latin typeface="Helvetica" pitchFamily="34" charset="0"/>
              </a:rPr>
              <a:t>prepared</a:t>
            </a:r>
            <a:endParaRPr lang="en-AU" sz="2200" b="1" dirty="0">
              <a:latin typeface="Helvetica" pitchFamily="34" charset="0"/>
            </a:endParaRPr>
          </a:p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35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MP90040962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59624" y="3528392"/>
            <a:ext cx="1484784" cy="148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9068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576064"/>
          </a:xfrm>
        </p:spPr>
        <p:txBody>
          <a:bodyPr>
            <a:no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Setting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up for service</a:t>
            </a:r>
            <a:endParaRPr lang="en-US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052736"/>
            <a:ext cx="7467600" cy="5328592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Examples </a:t>
            </a:r>
            <a:r>
              <a:rPr lang="en-AU" sz="2200" b="1" dirty="0">
                <a:latin typeface="Helvetica" pitchFamily="34" charset="0"/>
              </a:rPr>
              <a:t>of backing </a:t>
            </a:r>
            <a:r>
              <a:rPr lang="en-AU" sz="2200" b="1" dirty="0" smtClean="0">
                <a:latin typeface="Helvetica" pitchFamily="34" charset="0"/>
              </a:rPr>
              <a:t>up </a:t>
            </a:r>
            <a:r>
              <a:rPr lang="en-AU" sz="2200" b="1" dirty="0">
                <a:latin typeface="Helvetica" pitchFamily="34" charset="0"/>
              </a:rPr>
              <a:t>menu items include:</a:t>
            </a:r>
          </a:p>
          <a:p>
            <a:pPr marL="361950" indent="-361950">
              <a:spcBef>
                <a:spcPts val="600"/>
              </a:spcBef>
              <a:spcAft>
                <a:spcPts val="1200"/>
              </a:spcAft>
            </a:pPr>
            <a:r>
              <a:rPr lang="en-AU" sz="2200" b="1" dirty="0">
                <a:latin typeface="Helvetica" pitchFamily="34" charset="0"/>
              </a:rPr>
              <a:t> </a:t>
            </a:r>
            <a:r>
              <a:rPr lang="en-AU" sz="2200" dirty="0" smtClean="0">
                <a:latin typeface="Helvetica" pitchFamily="34" charset="0"/>
              </a:rPr>
              <a:t>Meats </a:t>
            </a:r>
            <a:r>
              <a:rPr lang="en-AU" sz="2200" dirty="0">
                <a:latin typeface="Helvetica" pitchFamily="34" charset="0"/>
              </a:rPr>
              <a:t>such as steaks are cut and </a:t>
            </a:r>
            <a:r>
              <a:rPr lang="en-AU" sz="2200" dirty="0" smtClean="0">
                <a:latin typeface="Helvetica" pitchFamily="34" charset="0"/>
              </a:rPr>
              <a:t>portioned:</a:t>
            </a:r>
            <a:endParaRPr lang="en-AU" sz="2200" b="1" dirty="0">
              <a:latin typeface="Helvetica" pitchFamily="34" charset="0"/>
            </a:endParaRPr>
          </a:p>
          <a:p>
            <a:pPr marL="714375" indent="-36195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AU" sz="2200" dirty="0">
                <a:latin typeface="Helvetica" pitchFamily="34" charset="0"/>
              </a:rPr>
              <a:t>Processed food items such as crumbed foods are prepared</a:t>
            </a:r>
            <a:endParaRPr lang="en-AU" sz="2200" b="1" dirty="0">
              <a:latin typeface="Helvetica" pitchFamily="34" charset="0"/>
            </a:endParaRPr>
          </a:p>
          <a:p>
            <a:pPr marL="714375" indent="-36195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AU" sz="2200" dirty="0" smtClean="0">
                <a:latin typeface="Helvetica" pitchFamily="34" charset="0"/>
              </a:rPr>
              <a:t>Processed </a:t>
            </a:r>
            <a:r>
              <a:rPr lang="en-AU" sz="2200" dirty="0">
                <a:latin typeface="Helvetica" pitchFamily="34" charset="0"/>
              </a:rPr>
              <a:t>meat, poultry and seafood items are available </a:t>
            </a:r>
            <a:endParaRPr lang="en-AU" sz="2200" b="1" dirty="0">
              <a:latin typeface="Helvetica" pitchFamily="34" charset="0"/>
            </a:endParaRPr>
          </a:p>
          <a:p>
            <a:pPr marL="714375" indent="-36195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AU" sz="2200" dirty="0">
                <a:latin typeface="Helvetica" pitchFamily="34" charset="0"/>
              </a:rPr>
              <a:t>Extra vegetables and other accompaniments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such </a:t>
            </a:r>
            <a:r>
              <a:rPr lang="en-AU" sz="2200" dirty="0">
                <a:latin typeface="Helvetica" pitchFamily="34" charset="0"/>
              </a:rPr>
              <a:t>as rice or pasta are par </a:t>
            </a:r>
            <a:r>
              <a:rPr lang="en-AU" sz="2200" dirty="0" smtClean="0">
                <a:latin typeface="Helvetica" pitchFamily="34" charset="0"/>
              </a:rPr>
              <a:t>cooked</a:t>
            </a:r>
          </a:p>
          <a:p>
            <a:pPr marL="714375" indent="-36195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AU" sz="2200" dirty="0" smtClean="0">
                <a:latin typeface="Helvetica" pitchFamily="34" charset="0"/>
              </a:rPr>
              <a:t>Additional sauces, accompaniments </a:t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and garnishes</a:t>
            </a:r>
            <a:endParaRPr lang="en-AU" sz="2200" dirty="0">
              <a:latin typeface="Helvetica" pitchFamily="34" charset="0"/>
            </a:endParaRPr>
          </a:p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36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1078600_meat_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16216" y="4509120"/>
            <a:ext cx="1849388" cy="123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5460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pPr marL="542925" indent="-542925"/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2.	Plate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and present foods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400" b="1" dirty="0">
                <a:latin typeface="Helvetica" pitchFamily="34" charset="0"/>
                <a:cs typeface="Helvetica" pitchFamily="34" charset="0"/>
              </a:rPr>
              <a:t>Performance </a:t>
            </a:r>
            <a:r>
              <a:rPr lang="en-AU" sz="2400" b="1" dirty="0" smtClean="0">
                <a:latin typeface="Helvetica" pitchFamily="34" charset="0"/>
                <a:cs typeface="Helvetica" pitchFamily="34" charset="0"/>
              </a:rPr>
              <a:t>Criteria:</a:t>
            </a:r>
          </a:p>
          <a:p>
            <a:pPr marL="714375" indent="-714375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400" dirty="0" smtClean="0">
                <a:latin typeface="Helvetica" pitchFamily="34" charset="0"/>
                <a:cs typeface="Helvetica" pitchFamily="34" charset="0"/>
              </a:rPr>
              <a:t>2.1</a:t>
            </a:r>
            <a:r>
              <a:rPr lang="en-AU" sz="2400" dirty="0">
                <a:latin typeface="Helvetica" pitchFamily="34" charset="0"/>
                <a:cs typeface="Helvetica" pitchFamily="34" charset="0"/>
              </a:rPr>
              <a:t>	Portion food items to enterprise standards</a:t>
            </a:r>
          </a:p>
          <a:p>
            <a:pPr marL="714375" indent="-714375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400" dirty="0">
                <a:latin typeface="Helvetica" pitchFamily="34" charset="0"/>
                <a:cs typeface="Helvetica" pitchFamily="34" charset="0"/>
              </a:rPr>
              <a:t>2.2	Provide sufficient and appropriate service equipment and service platforms</a:t>
            </a:r>
          </a:p>
          <a:p>
            <a:pPr marL="714375" indent="-714375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400" dirty="0">
                <a:latin typeface="Helvetica" pitchFamily="34" charset="0"/>
                <a:cs typeface="Helvetica" pitchFamily="34" charset="0"/>
              </a:rPr>
              <a:t>2.3	Plate and display food items to </a:t>
            </a:r>
            <a:r>
              <a:rPr lang="en-AU" sz="2400" dirty="0" smtClean="0">
                <a:latin typeface="Helvetica" pitchFamily="34" charset="0"/>
                <a:cs typeface="Helvetica" pitchFamily="34" charset="0"/>
              </a:rPr>
              <a:t/>
            </a:r>
            <a:br>
              <a:rPr lang="en-AU" sz="2400" dirty="0" smtClean="0">
                <a:latin typeface="Helvetica" pitchFamily="34" charset="0"/>
                <a:cs typeface="Helvetica" pitchFamily="34" charset="0"/>
              </a:rPr>
            </a:br>
            <a:r>
              <a:rPr lang="en-AU" sz="2400" dirty="0" smtClean="0">
                <a:latin typeface="Helvetica" pitchFamily="34" charset="0"/>
                <a:cs typeface="Helvetica" pitchFamily="34" charset="0"/>
              </a:rPr>
              <a:t>menu </a:t>
            </a:r>
            <a:r>
              <a:rPr lang="en-AU" sz="2400" dirty="0">
                <a:latin typeface="Helvetica" pitchFamily="34" charset="0"/>
                <a:cs typeface="Helvetica" pitchFamily="34" charset="0"/>
              </a:rPr>
              <a:t>style</a:t>
            </a:r>
          </a:p>
          <a:p>
            <a:pPr marL="714375" indent="-714375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400" dirty="0">
                <a:latin typeface="Helvetica" pitchFamily="34" charset="0"/>
                <a:cs typeface="Helvetica" pitchFamily="34" charset="0"/>
              </a:rPr>
              <a:t>2.4	Present food neatly and attractively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37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6" name="Picture 5" descr="Present food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76256" y="3068960"/>
            <a:ext cx="1463544" cy="211189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Portioning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food items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Portioning </a:t>
            </a:r>
            <a:r>
              <a:rPr lang="en-AU" sz="2200" dirty="0">
                <a:latin typeface="Helvetica" pitchFamily="34" charset="0"/>
              </a:rPr>
              <a:t>and portion control are important aspects of food </a:t>
            </a:r>
            <a:r>
              <a:rPr lang="en-AU" sz="2200" dirty="0" smtClean="0">
                <a:latin typeface="Helvetica" pitchFamily="34" charset="0"/>
              </a:rPr>
              <a:t>presentation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Presentation must </a:t>
            </a:r>
            <a:r>
              <a:rPr lang="en-AU" sz="2200" dirty="0">
                <a:latin typeface="Helvetica" pitchFamily="34" charset="0"/>
              </a:rPr>
              <a:t>be consistent in quantity and </a:t>
            </a:r>
            <a:r>
              <a:rPr lang="en-AU" sz="2200" dirty="0" smtClean="0">
                <a:latin typeface="Helvetica" pitchFamily="34" charset="0"/>
              </a:rPr>
              <a:t>size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Menu items must be uniform </a:t>
            </a:r>
            <a:r>
              <a:rPr lang="en-AU" sz="2200" dirty="0">
                <a:latin typeface="Helvetica" pitchFamily="34" charset="0"/>
              </a:rPr>
              <a:t>in shape and </a:t>
            </a:r>
            <a:r>
              <a:rPr lang="en-AU" sz="2200" dirty="0" smtClean="0">
                <a:latin typeface="Helvetica" pitchFamily="34" charset="0"/>
              </a:rPr>
              <a:t>appearance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Portion </a:t>
            </a:r>
            <a:r>
              <a:rPr lang="en-AU" sz="2200" dirty="0">
                <a:latin typeface="Helvetica" pitchFamily="34" charset="0"/>
              </a:rPr>
              <a:t>sizes or quantities should always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be </a:t>
            </a:r>
            <a:r>
              <a:rPr lang="en-AU" sz="2200" dirty="0">
                <a:latin typeface="Helvetica" pitchFamily="34" charset="0"/>
              </a:rPr>
              <a:t>in line with the business policy or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standard recipes</a:t>
            </a: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38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6" name="Picture 5" descr="Bruschetta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88224" y="3933056"/>
            <a:ext cx="1838203" cy="122608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Portioning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food items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Portioning </a:t>
            </a:r>
            <a:r>
              <a:rPr lang="en-AU" sz="2200" dirty="0">
                <a:latin typeface="Helvetica" pitchFamily="34" charset="0"/>
              </a:rPr>
              <a:t>refers to the amount of food allocated to a particular menu </a:t>
            </a:r>
            <a:r>
              <a:rPr lang="en-AU" sz="2200" dirty="0" smtClean="0">
                <a:latin typeface="Helvetica" pitchFamily="34" charset="0"/>
              </a:rPr>
              <a:t>item 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This </a:t>
            </a:r>
            <a:r>
              <a:rPr lang="en-AU" sz="2200" dirty="0">
                <a:latin typeface="Helvetica" pitchFamily="34" charset="0"/>
              </a:rPr>
              <a:t>may include several components to a dish or a single serve </a:t>
            </a:r>
            <a:r>
              <a:rPr lang="en-AU" sz="2200" dirty="0" smtClean="0">
                <a:latin typeface="Helvetica" pitchFamily="34" charset="0"/>
              </a:rPr>
              <a:t>item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All </a:t>
            </a:r>
            <a:r>
              <a:rPr lang="en-AU" sz="2200" dirty="0">
                <a:latin typeface="Helvetica" pitchFamily="34" charset="0"/>
              </a:rPr>
              <a:t>dishes of the same type must look the </a:t>
            </a:r>
            <a:r>
              <a:rPr lang="en-AU" sz="2200" dirty="0" smtClean="0">
                <a:latin typeface="Helvetica" pitchFamily="34" charset="0"/>
              </a:rPr>
              <a:t>same 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The </a:t>
            </a:r>
            <a:r>
              <a:rPr lang="en-AU" sz="2200" dirty="0">
                <a:latin typeface="Helvetica" pitchFamily="34" charset="0"/>
              </a:rPr>
              <a:t>position of the food components should be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the same </a:t>
            </a:r>
            <a:r>
              <a:rPr lang="en-AU" sz="2200" dirty="0">
                <a:latin typeface="Helvetica" pitchFamily="34" charset="0"/>
              </a:rPr>
              <a:t>on </a:t>
            </a:r>
            <a:r>
              <a:rPr lang="en-AU" sz="2200" dirty="0" smtClean="0">
                <a:latin typeface="Helvetica" pitchFamily="34" charset="0"/>
              </a:rPr>
              <a:t>all plates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Good </a:t>
            </a:r>
            <a:r>
              <a:rPr lang="en-AU" sz="2200" dirty="0">
                <a:latin typeface="Helvetica" pitchFamily="34" charset="0"/>
              </a:rPr>
              <a:t>portion control practices allow the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kitchen </a:t>
            </a:r>
            <a:r>
              <a:rPr lang="en-AU" sz="2200" dirty="0">
                <a:latin typeface="Helvetica" pitchFamily="34" charset="0"/>
              </a:rPr>
              <a:t>to control its </a:t>
            </a:r>
            <a:r>
              <a:rPr lang="en-AU" sz="2200" dirty="0" smtClean="0">
                <a:latin typeface="Helvetica" pitchFamily="34" charset="0"/>
              </a:rPr>
              <a:t>costs</a:t>
            </a:r>
            <a:endParaRPr lang="en-AU" sz="2200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39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1dsc_005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88224" y="4005064"/>
            <a:ext cx="1839077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5590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Service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equipment and </a:t>
            </a:r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platforms</a:t>
            </a:r>
            <a:endParaRPr lang="en-AU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These are items </a:t>
            </a:r>
            <a:r>
              <a:rPr lang="en-AU" sz="2200" dirty="0">
                <a:latin typeface="Helvetica" pitchFamily="34" charset="0"/>
              </a:rPr>
              <a:t>that are used in </a:t>
            </a:r>
            <a:r>
              <a:rPr lang="en-AU" sz="2200" dirty="0" smtClean="0">
                <a:latin typeface="Helvetica" pitchFamily="34" charset="0"/>
              </a:rPr>
              <a:t>the handling, </a:t>
            </a:r>
            <a:r>
              <a:rPr lang="en-AU" sz="2200" dirty="0">
                <a:latin typeface="Helvetica" pitchFamily="34" charset="0"/>
              </a:rPr>
              <a:t>plating, decorating and display of food </a:t>
            </a:r>
            <a:r>
              <a:rPr lang="en-AU" sz="2200" dirty="0" smtClean="0">
                <a:latin typeface="Helvetica" pitchFamily="34" charset="0"/>
              </a:rPr>
              <a:t>items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This includes </a:t>
            </a:r>
            <a:r>
              <a:rPr lang="en-AU" sz="2200" dirty="0">
                <a:latin typeface="Helvetica" pitchFamily="34" charset="0"/>
              </a:rPr>
              <a:t>items </a:t>
            </a:r>
            <a:r>
              <a:rPr lang="en-AU" sz="2200" dirty="0" smtClean="0">
                <a:latin typeface="Helvetica" pitchFamily="34" charset="0"/>
              </a:rPr>
              <a:t>used for </a:t>
            </a:r>
            <a:r>
              <a:rPr lang="en-AU" sz="2200" dirty="0">
                <a:latin typeface="Helvetica" pitchFamily="34" charset="0"/>
              </a:rPr>
              <a:t>individual plating and larger items for displaying food on </a:t>
            </a:r>
            <a:r>
              <a:rPr lang="en-AU" sz="2200" dirty="0" smtClean="0">
                <a:latin typeface="Helvetica" pitchFamily="34" charset="0"/>
              </a:rPr>
              <a:t>buffets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Correct service equipment selection can assist with portion control</a:t>
            </a: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40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KitchenCCDerectphot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28184" y="3749768"/>
            <a:ext cx="2194560" cy="146157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Service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equipment and </a:t>
            </a:r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platforms</a:t>
            </a:r>
            <a:endParaRPr lang="en-AU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36576" lvl="0" indent="0">
              <a:buNone/>
            </a:pPr>
            <a:r>
              <a:rPr lang="en-AU" sz="2400" dirty="0" smtClean="0"/>
              <a:t>Examples of service equipment: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41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2204864"/>
            <a:ext cx="1266056" cy="706562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1844824"/>
            <a:ext cx="1104900" cy="152400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988840"/>
            <a:ext cx="1323975" cy="1323975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3429000"/>
            <a:ext cx="1524000" cy="1114425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4005064"/>
            <a:ext cx="1419225" cy="1085850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3933056"/>
            <a:ext cx="1524000" cy="990600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4365104"/>
            <a:ext cx="1956048" cy="1319192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4797152"/>
            <a:ext cx="1390650" cy="1129665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132856"/>
            <a:ext cx="1117079" cy="150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33256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Service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equipment and </a:t>
            </a:r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platforms</a:t>
            </a:r>
            <a:endParaRPr lang="en-AU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400" dirty="0" smtClean="0"/>
              <a:t>Service </a:t>
            </a:r>
            <a:r>
              <a:rPr lang="en-AU" sz="2400" dirty="0"/>
              <a:t>platforms are items used as a base for food </a:t>
            </a:r>
            <a:r>
              <a:rPr lang="en-AU" sz="2400" dirty="0" smtClean="0"/>
              <a:t>presentation </a:t>
            </a:r>
            <a:endParaRPr lang="en-AU" sz="2400" dirty="0"/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400" dirty="0" smtClean="0"/>
              <a:t>Should </a:t>
            </a:r>
            <a:r>
              <a:rPr lang="en-AU" sz="2400" dirty="0"/>
              <a:t>be in a clean and sanitary </a:t>
            </a:r>
            <a:r>
              <a:rPr lang="en-AU" sz="2400" dirty="0" smtClean="0"/>
              <a:t>condition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400" dirty="0" smtClean="0"/>
              <a:t>Free </a:t>
            </a:r>
            <a:r>
              <a:rPr lang="en-AU" sz="2400" dirty="0"/>
              <a:t>of cracks, scratches and </a:t>
            </a:r>
            <a:r>
              <a:rPr lang="en-AU" sz="2400" dirty="0" smtClean="0"/>
              <a:t>chipping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400" dirty="0" smtClean="0"/>
              <a:t>Must </a:t>
            </a:r>
            <a:r>
              <a:rPr lang="en-AU" sz="2400" dirty="0"/>
              <a:t>be ‘food grade</a:t>
            </a:r>
            <a:r>
              <a:rPr lang="en-AU" sz="2400" dirty="0" smtClean="0"/>
              <a:t>’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400" dirty="0" smtClean="0"/>
              <a:t>Should not have colours </a:t>
            </a:r>
            <a:r>
              <a:rPr lang="en-AU" sz="2400" dirty="0"/>
              <a:t>or </a:t>
            </a:r>
            <a:r>
              <a:rPr lang="en-AU" sz="2400" dirty="0" smtClean="0"/>
              <a:t>designs</a:t>
            </a:r>
            <a:br>
              <a:rPr lang="en-AU" sz="2400" dirty="0" smtClean="0"/>
            </a:br>
            <a:r>
              <a:rPr lang="en-AU" sz="2400" dirty="0" smtClean="0"/>
              <a:t> </a:t>
            </a:r>
            <a:r>
              <a:rPr lang="en-AU" sz="2400" dirty="0"/>
              <a:t>that are ‘busy’ or have intricate design </a:t>
            </a: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>patterns</a:t>
            </a:r>
            <a:endParaRPr lang="en-AU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42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Commercial kitchen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76256" y="3140968"/>
            <a:ext cx="1538490" cy="214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2499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Service </a:t>
            </a:r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equipment and </a:t>
            </a:r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platforms</a:t>
            </a:r>
            <a:endParaRPr lang="en-AU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5112568"/>
          </a:xfrm>
        </p:spPr>
        <p:txBody>
          <a:bodyPr>
            <a:normAutofit/>
          </a:bodyPr>
          <a:lstStyle/>
          <a:p>
            <a:pPr marL="36576" lvl="0" indent="0">
              <a:buNone/>
            </a:pPr>
            <a:r>
              <a:rPr lang="en-AU" sz="2200" dirty="0" smtClean="0">
                <a:latin typeface="Helvetica" pitchFamily="34" charset="0"/>
              </a:rPr>
              <a:t>Examples of service platforms:</a:t>
            </a:r>
          </a:p>
          <a:p>
            <a:pPr marL="36576" lvl="0" indent="0">
              <a:buNone/>
            </a:pPr>
            <a:endParaRPr lang="en-AU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43</a:t>
            </a:fld>
            <a:endParaRPr lang="en-US" dirty="0">
              <a:latin typeface="Helvetica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3568" y="1772816"/>
          <a:ext cx="6912768" cy="3816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235"/>
                <a:gridCol w="1781641"/>
                <a:gridCol w="890821"/>
                <a:gridCol w="890821"/>
                <a:gridCol w="1140250"/>
              </a:tblGrid>
              <a:tr h="1152128">
                <a:tc>
                  <a:txBody>
                    <a:bodyPr/>
                    <a:lstStyle/>
                    <a:p>
                      <a:r>
                        <a:rPr lang="en-AU" sz="1800" b="1" dirty="0" smtClean="0">
                          <a:solidFill>
                            <a:schemeClr val="bg1"/>
                          </a:solidFill>
                          <a:latin typeface="Helvetica" pitchFamily="34" charset="0"/>
                        </a:rPr>
                        <a:t>Plates and bowls</a:t>
                      </a:r>
                      <a:endParaRPr lang="en-AU" b="1" dirty="0">
                        <a:solidFill>
                          <a:schemeClr val="bg1"/>
                        </a:solidFill>
                        <a:latin typeface="Helvetic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22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 smtClean="0">
                          <a:solidFill>
                            <a:schemeClr val="bg1"/>
                          </a:solidFill>
                          <a:latin typeface="Helvetica" pitchFamily="34" charset="0"/>
                        </a:rPr>
                        <a:t>Platters</a:t>
                      </a:r>
                      <a:endParaRPr lang="en-AU" b="1" dirty="0">
                        <a:solidFill>
                          <a:schemeClr val="bg1"/>
                        </a:solidFill>
                        <a:latin typeface="Helvetic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541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 smtClean="0">
                          <a:solidFill>
                            <a:schemeClr val="bg1"/>
                          </a:solidFill>
                          <a:latin typeface="Helvetica" pitchFamily="34" charset="0"/>
                        </a:rPr>
                        <a:t>Stands</a:t>
                      </a:r>
                      <a:endParaRPr lang="en-AU" b="1" dirty="0">
                        <a:solidFill>
                          <a:schemeClr val="bg1"/>
                        </a:solidFill>
                        <a:latin typeface="Helvetic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2987824" y="1844824"/>
            <a:ext cx="4454227" cy="3684240"/>
            <a:chOff x="2987824" y="1844824"/>
            <a:chExt cx="4454227" cy="3684240"/>
          </a:xfrm>
        </p:grpSpPr>
        <p:pic>
          <p:nvPicPr>
            <p:cNvPr id="15" name="Picture 14"/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7824" y="2060848"/>
              <a:ext cx="1368152" cy="720080"/>
            </a:xfrm>
            <a:prstGeom prst="rect">
              <a:avLst/>
            </a:prstGeom>
          </p:spPr>
        </p:pic>
        <p:pic>
          <p:nvPicPr>
            <p:cNvPr id="16" name="Picture 15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8024" y="1844824"/>
              <a:ext cx="1284734" cy="1056134"/>
            </a:xfrm>
            <a:prstGeom prst="rect">
              <a:avLst/>
            </a:prstGeom>
          </p:spPr>
        </p:pic>
        <p:pic>
          <p:nvPicPr>
            <p:cNvPr id="17" name="Picture 16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3939" y="2060848"/>
              <a:ext cx="790575" cy="605790"/>
            </a:xfrm>
            <a:prstGeom prst="rect">
              <a:avLst/>
            </a:prstGeom>
          </p:spPr>
        </p:pic>
        <p:pic>
          <p:nvPicPr>
            <p:cNvPr id="18" name="Picture 17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7824" y="3212976"/>
              <a:ext cx="1524000" cy="590550"/>
            </a:xfrm>
            <a:prstGeom prst="rect">
              <a:avLst/>
            </a:prstGeom>
          </p:spPr>
        </p:pic>
        <p:pic>
          <p:nvPicPr>
            <p:cNvPr id="19" name="Picture 18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9992" y="3212976"/>
              <a:ext cx="1628775" cy="590550"/>
            </a:xfrm>
            <a:prstGeom prst="rect">
              <a:avLst/>
            </a:prstGeom>
          </p:spPr>
        </p:pic>
        <p:pic>
          <p:nvPicPr>
            <p:cNvPr id="20" name="Picture 19"/>
            <p:cNvPicPr/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6176" y="3140968"/>
              <a:ext cx="1285875" cy="771525"/>
            </a:xfrm>
            <a:prstGeom prst="rect">
              <a:avLst/>
            </a:prstGeom>
          </p:spPr>
        </p:pic>
        <p:pic>
          <p:nvPicPr>
            <p:cNvPr id="21" name="Picture 20"/>
            <p:cNvPicPr/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840" y="4149080"/>
              <a:ext cx="1307976" cy="1379984"/>
            </a:xfrm>
            <a:prstGeom prst="rect">
              <a:avLst/>
            </a:prstGeom>
          </p:spPr>
        </p:pic>
        <p:pic>
          <p:nvPicPr>
            <p:cNvPr id="22" name="Picture 21"/>
            <p:cNvPicPr/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0032" y="4365104"/>
              <a:ext cx="1524000" cy="95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654778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Menu styles and plating</a:t>
            </a:r>
            <a:endParaRPr lang="en-AU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36576" lv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Different </a:t>
            </a:r>
            <a:r>
              <a:rPr lang="en-AU" sz="2200" dirty="0">
                <a:latin typeface="Helvetica" pitchFamily="34" charset="0"/>
              </a:rPr>
              <a:t>service styles </a:t>
            </a:r>
            <a:r>
              <a:rPr lang="en-AU" sz="2200" dirty="0" smtClean="0">
                <a:latin typeface="Helvetica" pitchFamily="34" charset="0"/>
              </a:rPr>
              <a:t>will </a:t>
            </a:r>
            <a:r>
              <a:rPr lang="en-AU" sz="2200" dirty="0">
                <a:latin typeface="Helvetica" pitchFamily="34" charset="0"/>
              </a:rPr>
              <a:t>usually reflect in how menu items are presented to the </a:t>
            </a:r>
            <a:r>
              <a:rPr lang="en-AU" sz="2200" dirty="0" smtClean="0">
                <a:latin typeface="Helvetica" pitchFamily="34" charset="0"/>
              </a:rPr>
              <a:t>customer: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solidFill>
                  <a:srgbClr val="C00000"/>
                </a:solidFill>
                <a:latin typeface="Helvetica" pitchFamily="34" charset="0"/>
              </a:rPr>
              <a:t>A </a:t>
            </a:r>
            <a:r>
              <a:rPr lang="en-AU" sz="2200" dirty="0">
                <a:solidFill>
                  <a:srgbClr val="C00000"/>
                </a:solidFill>
                <a:latin typeface="Helvetica" pitchFamily="34" charset="0"/>
              </a:rPr>
              <a:t>la carte </a:t>
            </a:r>
            <a:r>
              <a:rPr lang="en-AU" sz="2200" dirty="0">
                <a:latin typeface="Helvetica" pitchFamily="34" charset="0"/>
              </a:rPr>
              <a:t>service involves </a:t>
            </a:r>
            <a:r>
              <a:rPr lang="en-AU" sz="2200" dirty="0" smtClean="0">
                <a:latin typeface="Helvetica" pitchFamily="34" charset="0"/>
              </a:rPr>
              <a:t>foods being cooked and plated to order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solidFill>
                  <a:srgbClr val="C00000"/>
                </a:solidFill>
                <a:latin typeface="Helvetica" pitchFamily="34" charset="0"/>
              </a:rPr>
              <a:t>Banqueting</a:t>
            </a:r>
            <a:r>
              <a:rPr lang="en-AU" sz="2200" dirty="0" smtClean="0">
                <a:latin typeface="Helvetica" pitchFamily="34" charset="0"/>
              </a:rPr>
              <a:t> involves pre-cooked foods being plated </a:t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and served at the same time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solidFill>
                  <a:srgbClr val="C00000"/>
                </a:solidFill>
                <a:latin typeface="Helvetica" pitchFamily="34" charset="0"/>
              </a:rPr>
              <a:t>Buffet </a:t>
            </a:r>
            <a:r>
              <a:rPr lang="en-AU" sz="2200" dirty="0">
                <a:solidFill>
                  <a:srgbClr val="C00000"/>
                </a:solidFill>
                <a:latin typeface="Helvetica" pitchFamily="34" charset="0"/>
              </a:rPr>
              <a:t>service </a:t>
            </a:r>
            <a:r>
              <a:rPr lang="en-AU" sz="2200" dirty="0">
                <a:latin typeface="Helvetica" pitchFamily="34" charset="0"/>
              </a:rPr>
              <a:t>entails the layout and display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of cooked or prepared </a:t>
            </a:r>
            <a:r>
              <a:rPr lang="en-AU" sz="2200" dirty="0">
                <a:latin typeface="Helvetica" pitchFamily="34" charset="0"/>
              </a:rPr>
              <a:t>food </a:t>
            </a:r>
            <a:r>
              <a:rPr lang="en-AU" sz="2200" dirty="0" smtClean="0">
                <a:latin typeface="Helvetica" pitchFamily="34" charset="0"/>
              </a:rPr>
              <a:t>items</a:t>
            </a:r>
            <a:endParaRPr lang="en-AU" sz="2200" dirty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44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28393_10150217886620457_646255456_12850501_8223973_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88224" y="3861048"/>
            <a:ext cx="1843179" cy="138238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Neat and attractive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Care </a:t>
            </a:r>
            <a:r>
              <a:rPr lang="en-AU" sz="2200" dirty="0">
                <a:latin typeface="Helvetica" pitchFamily="34" charset="0"/>
              </a:rPr>
              <a:t>and attention must be paid </a:t>
            </a:r>
            <a:r>
              <a:rPr lang="en-AU" sz="2200" dirty="0" smtClean="0">
                <a:latin typeface="Helvetica" pitchFamily="34" charset="0"/>
              </a:rPr>
              <a:t>when plating to </a:t>
            </a:r>
            <a:r>
              <a:rPr lang="en-AU" sz="2200" dirty="0">
                <a:latin typeface="Helvetica" pitchFamily="34" charset="0"/>
              </a:rPr>
              <a:t>ensure </a:t>
            </a:r>
            <a:r>
              <a:rPr lang="en-AU" sz="2200" dirty="0" smtClean="0">
                <a:latin typeface="Helvetica" pitchFamily="34" charset="0"/>
              </a:rPr>
              <a:t>neat </a:t>
            </a:r>
            <a:r>
              <a:rPr lang="en-AU" sz="2200" dirty="0">
                <a:latin typeface="Helvetica" pitchFamily="34" charset="0"/>
              </a:rPr>
              <a:t>and </a:t>
            </a:r>
            <a:r>
              <a:rPr lang="en-AU" sz="2200" dirty="0" smtClean="0">
                <a:latin typeface="Helvetica" pitchFamily="34" charset="0"/>
              </a:rPr>
              <a:t>attractive presentation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During a service period, </a:t>
            </a:r>
            <a:r>
              <a:rPr lang="en-AU" sz="2200" dirty="0" smtClean="0">
                <a:latin typeface="Helvetica" pitchFamily="34" charset="0"/>
              </a:rPr>
              <a:t>a senior Chef </a:t>
            </a:r>
            <a:r>
              <a:rPr lang="en-AU" sz="2200" dirty="0">
                <a:latin typeface="Helvetica" pitchFamily="34" charset="0"/>
              </a:rPr>
              <a:t>will usually quality check each and every </a:t>
            </a:r>
            <a:r>
              <a:rPr lang="en-AU" sz="2200" dirty="0" smtClean="0">
                <a:latin typeface="Helvetica" pitchFamily="34" charset="0"/>
              </a:rPr>
              <a:t>dish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 Cultural style may impact on how food items </a:t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are presented</a:t>
            </a: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45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1105301_3310865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48264" y="2996952"/>
            <a:ext cx="1465065" cy="219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4909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Neat and attractive presentation</a:t>
            </a:r>
            <a:endParaRPr lang="en-AU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>
                <a:latin typeface="Helvetica" pitchFamily="34" charset="0"/>
              </a:rPr>
              <a:t>Plating considerations include: 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Eye </a:t>
            </a:r>
            <a:r>
              <a:rPr lang="en-AU" sz="2200" dirty="0">
                <a:latin typeface="Helvetica" pitchFamily="34" charset="0"/>
              </a:rPr>
              <a:t>appeal 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Colour </a:t>
            </a:r>
            <a:r>
              <a:rPr lang="en-AU" sz="2200" dirty="0">
                <a:latin typeface="Helvetica" pitchFamily="34" charset="0"/>
              </a:rPr>
              <a:t>and contrast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Height </a:t>
            </a:r>
            <a:r>
              <a:rPr lang="en-AU" sz="2200" dirty="0">
                <a:latin typeface="Helvetica" pitchFamily="34" charset="0"/>
              </a:rPr>
              <a:t>and depth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Temperature </a:t>
            </a:r>
            <a:r>
              <a:rPr lang="en-AU" sz="2200" dirty="0">
                <a:latin typeface="Helvetica" pitchFamily="34" charset="0"/>
              </a:rPr>
              <a:t>of food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Service </a:t>
            </a:r>
            <a:r>
              <a:rPr lang="en-AU" sz="2200" dirty="0">
                <a:latin typeface="Helvetica" pitchFamily="34" charset="0"/>
              </a:rPr>
              <a:t>and cuisine style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Classical </a:t>
            </a:r>
            <a:r>
              <a:rPr lang="en-AU" sz="2200" dirty="0">
                <a:latin typeface="Helvetica" pitchFamily="34" charset="0"/>
              </a:rPr>
              <a:t>and innovative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arrangement </a:t>
            </a:r>
            <a:r>
              <a:rPr lang="en-AU" sz="2200" dirty="0">
                <a:latin typeface="Helvetica" pitchFamily="34" charset="0"/>
              </a:rPr>
              <a:t>styles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46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7" name="Picture 6" descr="822697_8245861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28184" y="3573016"/>
            <a:ext cx="2171733" cy="16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75046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Neat and attractive presentation</a:t>
            </a:r>
            <a:endParaRPr lang="en-AU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339752" y="1916832"/>
            <a:ext cx="3075686" cy="2111774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47</a:t>
            </a:fld>
            <a:endParaRPr lang="en-US" dirty="0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7581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Neat and attractive presentation</a:t>
            </a:r>
            <a:endParaRPr lang="en-AU" sz="32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96752"/>
            <a:ext cx="7467600" cy="488600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Drips and spills must be wiped clean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Attention must be paid to placement of food items and garnishes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Poorly plated dishes should be re-plated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Food handlers gloves should be worn to avoid leaving print marks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48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87824" y="4005064"/>
            <a:ext cx="2233935" cy="210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9397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560840" cy="648072"/>
          </a:xfrm>
        </p:spPr>
        <p:txBody>
          <a:bodyPr>
            <a:normAutofit fontScale="90000"/>
          </a:bodyPr>
          <a:lstStyle/>
          <a:p>
            <a:pPr marL="542925" indent="-542925"/>
            <a:r>
              <a:rPr lang="en-AU" sz="36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3.	Store </a:t>
            </a:r>
            <a:r>
              <a:rPr lang="en-AU" sz="3600" b="1" dirty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garnishes </a:t>
            </a:r>
            <a:r>
              <a:rPr lang="en-AU" sz="3600" b="1" dirty="0" smtClean="0">
                <a:solidFill>
                  <a:srgbClr val="FF6600"/>
                </a:solidFill>
                <a:latin typeface="Helvetica" pitchFamily="34" charset="0"/>
                <a:cs typeface="Helvetica" pitchFamily="34" charset="0"/>
              </a:rPr>
              <a:t>&amp; accompaniments</a:t>
            </a:r>
            <a:endParaRPr lang="en-AU" sz="3600" b="1" dirty="0">
              <a:solidFill>
                <a:srgbClr val="FF6600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>
                <a:latin typeface="Helvetica" pitchFamily="34" charset="0"/>
              </a:rPr>
              <a:t>Performance </a:t>
            </a:r>
            <a:r>
              <a:rPr lang="en-AU" sz="2200" b="1" dirty="0" smtClean="0">
                <a:latin typeface="Helvetica" pitchFamily="34" charset="0"/>
              </a:rPr>
              <a:t>Criteria:</a:t>
            </a:r>
          </a:p>
          <a:p>
            <a:pPr marL="714375" indent="-677863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3.1</a:t>
            </a:r>
            <a:r>
              <a:rPr lang="en-AU" sz="2200" dirty="0">
                <a:latin typeface="Helvetica" pitchFamily="34" charset="0"/>
              </a:rPr>
              <a:t>	Store items correctly</a:t>
            </a:r>
          </a:p>
          <a:p>
            <a:pPr marL="714375" indent="-677863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>
                <a:latin typeface="Helvetica" pitchFamily="34" charset="0"/>
              </a:rPr>
              <a:t>3.2	Store products appropriately in correct containers</a:t>
            </a:r>
          </a:p>
          <a:p>
            <a:pPr marL="714375" indent="-677863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>
                <a:latin typeface="Helvetica" pitchFamily="34" charset="0"/>
              </a:rPr>
              <a:t>3.3	Label products correctly</a:t>
            </a:r>
          </a:p>
          <a:p>
            <a:pPr marL="714375" indent="-677863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>
                <a:latin typeface="Helvetica" pitchFamily="34" charset="0"/>
              </a:rPr>
              <a:t>3.4	Store items in correct conditions to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maintain </a:t>
            </a:r>
            <a:r>
              <a:rPr lang="en-AU" sz="2200" dirty="0">
                <a:latin typeface="Helvetica" pitchFamily="34" charset="0"/>
              </a:rPr>
              <a:t>freshness and 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49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Refridgerator 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04248" y="3429000"/>
            <a:ext cx="1553796" cy="180673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Correct storage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Prepared </a:t>
            </a:r>
            <a:r>
              <a:rPr lang="en-AU" sz="2200" dirty="0">
                <a:latin typeface="Helvetica" pitchFamily="34" charset="0"/>
              </a:rPr>
              <a:t>foods must be stored in an appropriate vessel and at the correct </a:t>
            </a:r>
            <a:r>
              <a:rPr lang="en-AU" sz="2200" dirty="0" smtClean="0">
                <a:latin typeface="Helvetica" pitchFamily="34" charset="0"/>
              </a:rPr>
              <a:t>temperature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Factors </a:t>
            </a:r>
            <a:r>
              <a:rPr lang="en-AU" sz="2200" dirty="0">
                <a:latin typeface="Helvetica" pitchFamily="34" charset="0"/>
              </a:rPr>
              <a:t>that can affect food quality during storage </a:t>
            </a:r>
            <a:r>
              <a:rPr lang="en-AU" sz="2200" dirty="0" smtClean="0">
                <a:latin typeface="Helvetica" pitchFamily="34" charset="0"/>
              </a:rPr>
              <a:t>include: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AU" sz="2200" dirty="0" smtClean="0">
                <a:latin typeface="Helvetica" pitchFamily="34" charset="0"/>
              </a:rPr>
              <a:t>Strong </a:t>
            </a:r>
            <a:r>
              <a:rPr lang="en-AU" sz="2200" dirty="0">
                <a:latin typeface="Helvetica" pitchFamily="34" charset="0"/>
              </a:rPr>
              <a:t>odours from other </a:t>
            </a:r>
            <a:r>
              <a:rPr lang="en-AU" sz="2200" dirty="0" smtClean="0">
                <a:latin typeface="Helvetica" pitchFamily="34" charset="0"/>
              </a:rPr>
              <a:t>foods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AU" sz="2200" dirty="0">
                <a:latin typeface="Helvetica" pitchFamily="34" charset="0"/>
              </a:rPr>
              <a:t>H</a:t>
            </a:r>
            <a:r>
              <a:rPr lang="en-AU" sz="2200" dirty="0" smtClean="0">
                <a:latin typeface="Helvetica" pitchFamily="34" charset="0"/>
              </a:rPr>
              <a:t>umidity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AU" sz="2200" dirty="0">
                <a:latin typeface="Helvetica" pitchFamily="34" charset="0"/>
              </a:rPr>
              <a:t>E</a:t>
            </a:r>
            <a:r>
              <a:rPr lang="en-AU" sz="2200" dirty="0" smtClean="0">
                <a:latin typeface="Helvetica" pitchFamily="34" charset="0"/>
              </a:rPr>
              <a:t>xcess </a:t>
            </a:r>
            <a:r>
              <a:rPr lang="en-AU" sz="2200" dirty="0">
                <a:latin typeface="Helvetica" pitchFamily="34" charset="0"/>
              </a:rPr>
              <a:t>heat, air</a:t>
            </a:r>
          </a:p>
          <a:p>
            <a:pPr marL="36576" lvl="0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b="1" dirty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50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3717032"/>
            <a:ext cx="1524000" cy="11620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576064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Correct storage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052736"/>
            <a:ext cx="7467600" cy="5030019"/>
          </a:xfrm>
        </p:spPr>
        <p:txBody>
          <a:bodyPr>
            <a:normAutofit/>
          </a:bodyPr>
          <a:lstStyle/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Prepared </a:t>
            </a:r>
            <a:r>
              <a:rPr lang="en-AU" sz="2200" dirty="0">
                <a:latin typeface="Helvetica" pitchFamily="34" charset="0"/>
              </a:rPr>
              <a:t>foods should be well covered or </a:t>
            </a:r>
            <a:r>
              <a:rPr lang="en-AU" sz="2200" dirty="0" smtClean="0">
                <a:latin typeface="Helvetica" pitchFamily="34" charset="0"/>
              </a:rPr>
              <a:t>wrapped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Prepared </a:t>
            </a:r>
            <a:r>
              <a:rPr lang="en-AU" sz="2200" dirty="0">
                <a:latin typeface="Helvetica" pitchFamily="34" charset="0"/>
              </a:rPr>
              <a:t>food should always be stored above raw foods and away from strong smelling </a:t>
            </a:r>
            <a:r>
              <a:rPr lang="en-AU" sz="2200" dirty="0" smtClean="0">
                <a:latin typeface="Helvetica" pitchFamily="34" charset="0"/>
              </a:rPr>
              <a:t>foods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Ideally</a:t>
            </a:r>
            <a:r>
              <a:rPr lang="en-AU" sz="2200" dirty="0">
                <a:latin typeface="Helvetica" pitchFamily="34" charset="0"/>
              </a:rPr>
              <a:t>, prepared foods should be stored for no longer than 24 </a:t>
            </a:r>
            <a:r>
              <a:rPr lang="en-AU" sz="2200" dirty="0" smtClean="0">
                <a:latin typeface="Helvetica" pitchFamily="34" charset="0"/>
              </a:rPr>
              <a:t>hours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Excessive </a:t>
            </a:r>
            <a:r>
              <a:rPr lang="en-AU" sz="2200" dirty="0">
                <a:latin typeface="Helvetica" pitchFamily="34" charset="0"/>
              </a:rPr>
              <a:t>storage time will affect the quality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of </a:t>
            </a:r>
            <a:r>
              <a:rPr lang="en-AU" sz="2200" dirty="0">
                <a:latin typeface="Helvetica" pitchFamily="34" charset="0"/>
              </a:rPr>
              <a:t>prepared food </a:t>
            </a:r>
            <a:r>
              <a:rPr lang="en-AU" sz="2200" dirty="0" smtClean="0">
                <a:latin typeface="Helvetica" pitchFamily="34" charset="0"/>
              </a:rPr>
              <a:t>items</a:t>
            </a:r>
            <a:endParaRPr lang="en-AU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51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6" name="Picture 5" descr="Refridgerator 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76256" y="3212976"/>
            <a:ext cx="1553796" cy="210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19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Correct storage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052736"/>
            <a:ext cx="7272808" cy="5544616"/>
          </a:xfrm>
        </p:spPr>
        <p:txBody>
          <a:bodyPr>
            <a:normAutofit/>
          </a:bodyPr>
          <a:lstStyle/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Refrigerated </a:t>
            </a:r>
            <a:r>
              <a:rPr lang="en-AU" sz="2200" dirty="0">
                <a:latin typeface="Helvetica" pitchFamily="34" charset="0"/>
              </a:rPr>
              <a:t>foods should be subject to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low </a:t>
            </a:r>
            <a:r>
              <a:rPr lang="en-AU" sz="2200" dirty="0">
                <a:latin typeface="Helvetica" pitchFamily="34" charset="0"/>
              </a:rPr>
              <a:t>humidity and a temperature of between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+</a:t>
            </a:r>
            <a:r>
              <a:rPr lang="en-AU" sz="2200" dirty="0">
                <a:latin typeface="Helvetica" pitchFamily="34" charset="0"/>
              </a:rPr>
              <a:t>1</a:t>
            </a:r>
            <a:r>
              <a:rPr lang="en-AU" sz="2200" dirty="0">
                <a:latin typeface="Helvetica" pitchFamily="34" charset="0"/>
                <a:sym typeface="Symbol"/>
              </a:rPr>
              <a:t></a:t>
            </a:r>
            <a:r>
              <a:rPr lang="en-AU" sz="2200" dirty="0">
                <a:latin typeface="Helvetica" pitchFamily="34" charset="0"/>
              </a:rPr>
              <a:t>C to +5</a:t>
            </a:r>
            <a:r>
              <a:rPr lang="en-AU" sz="2200" dirty="0">
                <a:latin typeface="Helvetica" pitchFamily="34" charset="0"/>
                <a:sym typeface="Symbol"/>
              </a:rPr>
              <a:t></a:t>
            </a:r>
            <a:r>
              <a:rPr lang="en-AU" sz="2200" dirty="0">
                <a:latin typeface="Helvetica" pitchFamily="34" charset="0"/>
              </a:rPr>
              <a:t> </a:t>
            </a:r>
            <a:r>
              <a:rPr lang="en-AU" sz="2200" dirty="0" smtClean="0">
                <a:latin typeface="Helvetica" pitchFamily="34" charset="0"/>
              </a:rPr>
              <a:t>C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Ideal </a:t>
            </a:r>
            <a:r>
              <a:rPr lang="en-AU" sz="2200" dirty="0">
                <a:latin typeface="Helvetica" pitchFamily="34" charset="0"/>
              </a:rPr>
              <a:t>freezing temperatures are </a:t>
            </a:r>
            <a:r>
              <a:rPr lang="en-AU" sz="2200" dirty="0" smtClean="0">
                <a:latin typeface="Helvetica" pitchFamily="34" charset="0"/>
              </a:rPr>
              <a:t>between</a:t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 -15</a:t>
            </a:r>
            <a:r>
              <a:rPr lang="en-AU" sz="2200" dirty="0">
                <a:latin typeface="Helvetica" pitchFamily="34" charset="0"/>
                <a:sym typeface="Symbol"/>
              </a:rPr>
              <a:t></a:t>
            </a:r>
            <a:r>
              <a:rPr lang="en-AU" sz="2200" dirty="0">
                <a:latin typeface="Helvetica" pitchFamily="34" charset="0"/>
              </a:rPr>
              <a:t>C to -18</a:t>
            </a:r>
            <a:r>
              <a:rPr lang="en-AU" sz="2200" dirty="0">
                <a:latin typeface="Helvetica" pitchFamily="34" charset="0"/>
                <a:sym typeface="Symbol"/>
              </a:rPr>
              <a:t></a:t>
            </a:r>
            <a:r>
              <a:rPr lang="en-AU" sz="2200" dirty="0" smtClean="0">
                <a:latin typeface="Helvetica" pitchFamily="34" charset="0"/>
              </a:rPr>
              <a:t>C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Dry </a:t>
            </a:r>
            <a:r>
              <a:rPr lang="en-AU" sz="2200" dirty="0">
                <a:latin typeface="Helvetica" pitchFamily="34" charset="0"/>
              </a:rPr>
              <a:t>food storage requires foods to be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stored </a:t>
            </a:r>
            <a:r>
              <a:rPr lang="en-AU" sz="2200" dirty="0">
                <a:latin typeface="Helvetica" pitchFamily="34" charset="0"/>
              </a:rPr>
              <a:t>in a </a:t>
            </a:r>
            <a:r>
              <a:rPr lang="en-AU" sz="2200" dirty="0" smtClean="0">
                <a:latin typeface="Helvetica" pitchFamily="34" charset="0"/>
              </a:rPr>
              <a:t>cool dry area </a:t>
            </a:r>
            <a:r>
              <a:rPr lang="en-AU" sz="2200" dirty="0">
                <a:latin typeface="Helvetica" pitchFamily="34" charset="0"/>
              </a:rPr>
              <a:t>between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+</a:t>
            </a:r>
            <a:r>
              <a:rPr lang="en-AU" sz="2200" dirty="0">
                <a:latin typeface="Helvetica" pitchFamily="34" charset="0"/>
              </a:rPr>
              <a:t>18</a:t>
            </a:r>
            <a:r>
              <a:rPr lang="en-AU" sz="2200" dirty="0">
                <a:latin typeface="Helvetica" pitchFamily="34" charset="0"/>
                <a:sym typeface="Symbol"/>
              </a:rPr>
              <a:t></a:t>
            </a:r>
            <a:r>
              <a:rPr lang="en-AU" sz="2200" dirty="0">
                <a:latin typeface="Helvetica" pitchFamily="34" charset="0"/>
              </a:rPr>
              <a:t>C to +24</a:t>
            </a:r>
            <a:r>
              <a:rPr lang="en-AU" sz="2200" dirty="0">
                <a:latin typeface="Helvetica" pitchFamily="34" charset="0"/>
                <a:sym typeface="Symbol"/>
              </a:rPr>
              <a:t></a:t>
            </a:r>
            <a:r>
              <a:rPr lang="en-AU" sz="2200" dirty="0" smtClean="0">
                <a:latin typeface="Helvetica" pitchFamily="34" charset="0"/>
              </a:rPr>
              <a:t>C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Excess humidity can lead to softening </a:t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of food texture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Excessive dryness in storage can lead</a:t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to staling</a:t>
            </a: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52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coldFoodStorageGuidelines.jpg"/>
          <p:cNvPicPr>
            <a:picLocks noChangeAspect="1"/>
          </p:cNvPicPr>
          <p:nvPr/>
        </p:nvPicPr>
        <p:blipFill>
          <a:blip r:embed="rId3" cstate="print"/>
          <a:srcRect l="8880" t="8338" r="13419" b="4945"/>
          <a:stretch>
            <a:fillRect/>
          </a:stretch>
        </p:blipFill>
        <p:spPr>
          <a:xfrm>
            <a:off x="6160330" y="1916832"/>
            <a:ext cx="2084078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0934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4807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Storage containers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052736"/>
            <a:ext cx="7467600" cy="5472608"/>
          </a:xfrm>
        </p:spPr>
        <p:txBody>
          <a:bodyPr>
            <a:normAutofit/>
          </a:bodyPr>
          <a:lstStyle/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Consider </a:t>
            </a:r>
            <a:r>
              <a:rPr lang="en-AU" sz="2200" dirty="0">
                <a:latin typeface="Helvetica" pitchFamily="34" charset="0"/>
              </a:rPr>
              <a:t>the type of container or packaging medium that is to be </a:t>
            </a:r>
            <a:r>
              <a:rPr lang="en-AU" sz="2200" dirty="0" smtClean="0">
                <a:latin typeface="Helvetica" pitchFamily="34" charset="0"/>
              </a:rPr>
              <a:t>used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Containers</a:t>
            </a:r>
            <a:r>
              <a:rPr lang="en-AU" sz="2200" dirty="0">
                <a:latin typeface="Helvetica" pitchFamily="34" charset="0"/>
              </a:rPr>
              <a:t>, packaging and wrapping materials must be suitable and appropriate to the food item to be </a:t>
            </a:r>
            <a:r>
              <a:rPr lang="en-AU" sz="2200" dirty="0" smtClean="0">
                <a:latin typeface="Helvetica" pitchFamily="34" charset="0"/>
              </a:rPr>
              <a:t>stored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Stainless </a:t>
            </a:r>
            <a:r>
              <a:rPr lang="en-AU" sz="2200" dirty="0">
                <a:latin typeface="Helvetica" pitchFamily="34" charset="0"/>
              </a:rPr>
              <a:t>steel and hard plastics are most commonly used as food storage </a:t>
            </a:r>
            <a:r>
              <a:rPr lang="en-AU" sz="2200" dirty="0" smtClean="0">
                <a:latin typeface="Helvetica" pitchFamily="34" charset="0"/>
              </a:rPr>
              <a:t>vessels</a:t>
            </a:r>
            <a:endParaRPr lang="en-AU" sz="2200" b="1" dirty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53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1097510833_4240353410_thumbnail.jpg"/>
          <p:cNvPicPr>
            <a:picLocks noChangeAspect="1"/>
          </p:cNvPicPr>
          <p:nvPr/>
        </p:nvPicPr>
        <p:blipFill>
          <a:blip r:embed="rId3" cstate="print"/>
          <a:srcRect l="3201" t="21200" r="1401" b="19400"/>
          <a:stretch>
            <a:fillRect/>
          </a:stretch>
        </p:blipFill>
        <p:spPr>
          <a:xfrm>
            <a:off x="2411760" y="3789040"/>
            <a:ext cx="3469476" cy="21602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lastic container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59832" y="4509120"/>
            <a:ext cx="2376501" cy="14401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Storage containers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5400600"/>
          </a:xfrm>
        </p:spPr>
        <p:txBody>
          <a:bodyPr>
            <a:normAutofit/>
          </a:bodyPr>
          <a:lstStyle/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Glass containers are not recommended for food storage due to the chance of breakage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Other </a:t>
            </a:r>
            <a:r>
              <a:rPr lang="en-AU" sz="2200" dirty="0">
                <a:latin typeface="Helvetica" pitchFamily="34" charset="0"/>
              </a:rPr>
              <a:t>items used for storage and wrapping of food include; plastic cling film/wrap, aluminium foil and silicon </a:t>
            </a:r>
            <a:r>
              <a:rPr lang="en-AU" sz="2200" dirty="0" smtClean="0">
                <a:latin typeface="Helvetica" pitchFamily="34" charset="0"/>
              </a:rPr>
              <a:t>paper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All </a:t>
            </a:r>
            <a:r>
              <a:rPr lang="en-AU" sz="2200" dirty="0">
                <a:latin typeface="Helvetica" pitchFamily="34" charset="0"/>
              </a:rPr>
              <a:t>storage vessels or items must be ‘food grade</a:t>
            </a:r>
            <a:r>
              <a:rPr lang="en-AU" sz="2200" dirty="0" smtClean="0">
                <a:latin typeface="Helvetica" pitchFamily="34" charset="0"/>
              </a:rPr>
              <a:t>’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Storage vessels must be clean, sanitised </a:t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and in good condition</a:t>
            </a: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54</a:t>
            </a:fld>
            <a:endParaRPr lang="en-US" dirty="0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74107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Labeling food items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All </a:t>
            </a:r>
            <a:r>
              <a:rPr lang="en-AU" sz="2200" dirty="0">
                <a:latin typeface="Helvetica" pitchFamily="34" charset="0"/>
              </a:rPr>
              <a:t>prepared foods should be clearly labelled prior to storage</a:t>
            </a:r>
            <a:r>
              <a:rPr lang="en-AU" sz="2200" dirty="0" smtClean="0">
                <a:latin typeface="Helvetica" pitchFamily="34" charset="0"/>
              </a:rPr>
              <a:t>.</a:t>
            </a:r>
          </a:p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This practice will assist to: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Identify potentially contaminated food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Indicate poor or low quality food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Identify freshness of prepared food </a:t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items in storage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55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7" name="Picture 6" descr="Expiry dat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28184" y="2996952"/>
            <a:ext cx="2039888" cy="203988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ackaging label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44208" y="3789040"/>
            <a:ext cx="1881449" cy="12775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2008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6600"/>
                </a:solidFill>
                <a:latin typeface="Helvetica" pitchFamily="34" charset="0"/>
              </a:rPr>
              <a:t>Labeling food items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467600" cy="4958011"/>
          </a:xfrm>
        </p:spPr>
        <p:txBody>
          <a:bodyPr>
            <a:normAutofit/>
          </a:bodyPr>
          <a:lstStyle/>
          <a:p>
            <a:pPr marL="36576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Label </a:t>
            </a:r>
            <a:r>
              <a:rPr lang="en-AU" sz="2200" dirty="0">
                <a:latin typeface="Helvetica" pitchFamily="34" charset="0"/>
              </a:rPr>
              <a:t>information should include</a:t>
            </a:r>
            <a:r>
              <a:rPr lang="en-AU" sz="2200" dirty="0" smtClean="0">
                <a:latin typeface="Helvetica" pitchFamily="34" charset="0"/>
              </a:rPr>
              <a:t>: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Name </a:t>
            </a:r>
            <a:r>
              <a:rPr lang="en-AU" sz="2200" dirty="0">
                <a:latin typeface="Helvetica" pitchFamily="34" charset="0"/>
              </a:rPr>
              <a:t>of the item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Date the item was first stored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Time </a:t>
            </a:r>
            <a:r>
              <a:rPr lang="en-AU" sz="2200" dirty="0" smtClean="0">
                <a:latin typeface="Helvetica" pitchFamily="34" charset="0"/>
              </a:rPr>
              <a:t>the </a:t>
            </a:r>
            <a:r>
              <a:rPr lang="en-AU" sz="2200" dirty="0">
                <a:latin typeface="Helvetica" pitchFamily="34" charset="0"/>
              </a:rPr>
              <a:t>item was first stored</a:t>
            </a: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Temperature – if being </a:t>
            </a:r>
            <a:r>
              <a:rPr lang="en-AU" sz="2200" dirty="0" smtClean="0">
                <a:latin typeface="Helvetica" pitchFamily="34" charset="0"/>
              </a:rPr>
              <a:t>process-tested</a:t>
            </a:r>
            <a:endParaRPr lang="en-AU" sz="2200" dirty="0">
              <a:latin typeface="Helvetica" pitchFamily="34" charset="0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Type of storage – chilled, frozen, thawing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>
                <a:latin typeface="Helvetica" pitchFamily="34" charset="0"/>
              </a:rPr>
              <a:t>Writing must be legible and the label must </a:t>
            </a:r>
            <a:r>
              <a:rPr lang="en-AU" sz="2200" dirty="0" smtClean="0">
                <a:latin typeface="Helvetica" pitchFamily="34" charset="0"/>
              </a:rPr>
              <a:t/>
            </a:r>
            <a:br>
              <a:rPr lang="en-AU" sz="2200" dirty="0" smtClean="0">
                <a:latin typeface="Helvetica" pitchFamily="34" charset="0"/>
              </a:rPr>
            </a:br>
            <a:r>
              <a:rPr lang="en-AU" sz="2200" dirty="0" smtClean="0">
                <a:latin typeface="Helvetica" pitchFamily="34" charset="0"/>
              </a:rPr>
              <a:t>be some fixed </a:t>
            </a:r>
            <a:r>
              <a:rPr lang="en-AU" sz="2200" dirty="0">
                <a:latin typeface="Helvetica" pitchFamily="34" charset="0"/>
              </a:rPr>
              <a:t>to the </a:t>
            </a:r>
            <a:r>
              <a:rPr lang="en-AU" sz="2200" dirty="0" smtClean="0">
                <a:latin typeface="Helvetica" pitchFamily="34" charset="0"/>
              </a:rPr>
              <a:t>container in some way</a:t>
            </a:r>
            <a:endParaRPr lang="en-AU" sz="2200" dirty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56</a:t>
            </a:fld>
            <a:endParaRPr lang="en-US" dirty="0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47422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SEAN PPT Template 010611 MV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ASEAN PPT Template 010611 MV</Template>
  <TotalTime>7523</TotalTime>
  <Words>3554</Words>
  <Application>Microsoft Office PowerPoint</Application>
  <PresentationFormat>On-screen Show (4:3)</PresentationFormat>
  <Paragraphs>595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Arial</vt:lpstr>
      <vt:lpstr>Calibri</vt:lpstr>
      <vt:lpstr>Franklin Gothic Book</vt:lpstr>
      <vt:lpstr>Helvetica</vt:lpstr>
      <vt:lpstr>Symbol</vt:lpstr>
      <vt:lpstr>Wingdings</vt:lpstr>
      <vt:lpstr>Wingdings 2</vt:lpstr>
      <vt:lpstr>ASEAN PPT Template 010611 MV</vt:lpstr>
      <vt:lpstr>PRESENT AND DISPLAY FOOD PRODUCTS</vt:lpstr>
      <vt:lpstr>Present and display food products</vt:lpstr>
      <vt:lpstr>Assessments</vt:lpstr>
      <vt:lpstr>1. Prepare garnishes &amp; accompaniments</vt:lpstr>
      <vt:lpstr>Present and display food products</vt:lpstr>
      <vt:lpstr>Food presentation</vt:lpstr>
      <vt:lpstr>Menu items that require garnishes or accompaniments</vt:lpstr>
      <vt:lpstr>Menu items that require garnishes or accompaniments</vt:lpstr>
      <vt:lpstr>Menu items that require garnishes or accompaniments</vt:lpstr>
      <vt:lpstr>Menu items that require garnishes or accompaniments</vt:lpstr>
      <vt:lpstr>Menu items that require garnishes or accompaniments</vt:lpstr>
      <vt:lpstr>Menu items that require garnishes or accompaniments</vt:lpstr>
      <vt:lpstr>Menu items that require garnishes or accompaniments</vt:lpstr>
      <vt:lpstr>Preparing garnishes</vt:lpstr>
      <vt:lpstr>Preparing garnishes</vt:lpstr>
      <vt:lpstr>Preparing garnishes</vt:lpstr>
      <vt:lpstr>Preparing garnishes</vt:lpstr>
      <vt:lpstr>Preparing garnishes</vt:lpstr>
      <vt:lpstr>Preparing garnishes</vt:lpstr>
      <vt:lpstr>Preparing garnishes</vt:lpstr>
      <vt:lpstr>Preparing garnishes</vt:lpstr>
      <vt:lpstr>Preparing accompaniments</vt:lpstr>
      <vt:lpstr>Preparing accompaniments</vt:lpstr>
      <vt:lpstr>Preparing accompaniments</vt:lpstr>
      <vt:lpstr>Preparing accompaniments</vt:lpstr>
      <vt:lpstr>Preparing accompaniments</vt:lpstr>
      <vt:lpstr>Preparing accompaniments</vt:lpstr>
      <vt:lpstr>Setting up for service</vt:lpstr>
      <vt:lpstr>Setting up for service</vt:lpstr>
      <vt:lpstr>Setting up for service</vt:lpstr>
      <vt:lpstr>Setting up for service</vt:lpstr>
      <vt:lpstr>Setting up for service</vt:lpstr>
      <vt:lpstr>Setting up for service</vt:lpstr>
      <vt:lpstr>Setting up for service</vt:lpstr>
      <vt:lpstr>Setting up for service</vt:lpstr>
      <vt:lpstr>Setting up for service</vt:lpstr>
      <vt:lpstr>2. Plate and present foods</vt:lpstr>
      <vt:lpstr>Portioning food items</vt:lpstr>
      <vt:lpstr>Portioning food items</vt:lpstr>
      <vt:lpstr>Service equipment and platforms</vt:lpstr>
      <vt:lpstr>Service equipment and platforms</vt:lpstr>
      <vt:lpstr>Service equipment and platforms</vt:lpstr>
      <vt:lpstr>Service equipment and platforms</vt:lpstr>
      <vt:lpstr>Menu styles and plating</vt:lpstr>
      <vt:lpstr>Neat and attractive presentation</vt:lpstr>
      <vt:lpstr>Neat and attractive presentation</vt:lpstr>
      <vt:lpstr>Neat and attractive presentation</vt:lpstr>
      <vt:lpstr>Neat and attractive presentation</vt:lpstr>
      <vt:lpstr>3. Store garnishes &amp; accompaniments</vt:lpstr>
      <vt:lpstr>Correct storage</vt:lpstr>
      <vt:lpstr>Correct storage</vt:lpstr>
      <vt:lpstr>Correct storage</vt:lpstr>
      <vt:lpstr>Storage containers</vt:lpstr>
      <vt:lpstr>Storage containers</vt:lpstr>
      <vt:lpstr>Labeling food items</vt:lpstr>
      <vt:lpstr>Labeling food items</vt:lpstr>
    </vt:vector>
  </TitlesOfParts>
  <Company>William Angliss Institute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 AND DISPLAY FOOD PRODUCTS</dc:title>
  <dc:creator>Administrator</dc:creator>
  <cp:lastModifiedBy>Carla Angelica Co</cp:lastModifiedBy>
  <cp:revision>79</cp:revision>
  <dcterms:created xsi:type="dcterms:W3CDTF">2012-03-28T02:01:42Z</dcterms:created>
  <dcterms:modified xsi:type="dcterms:W3CDTF">2015-04-06T06:29:39Z</dcterms:modified>
</cp:coreProperties>
</file>